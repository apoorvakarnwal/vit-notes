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2" r:id="rId3"/>
    <p:sldId id="263" r:id="rId4"/>
    <p:sldId id="264" r:id="rId5"/>
    <p:sldId id="277" r:id="rId6"/>
    <p:sldId id="292" r:id="rId7"/>
    <p:sldId id="284" r:id="rId8"/>
    <p:sldId id="285" r:id="rId9"/>
    <p:sldId id="286" r:id="rId10"/>
    <p:sldId id="293" r:id="rId11"/>
    <p:sldId id="258" r:id="rId12"/>
    <p:sldId id="259" r:id="rId13"/>
    <p:sldId id="268" r:id="rId14"/>
    <p:sldId id="265" r:id="rId15"/>
    <p:sldId id="266" r:id="rId16"/>
    <p:sldId id="274" r:id="rId17"/>
    <p:sldId id="275" r:id="rId18"/>
    <p:sldId id="273" r:id="rId19"/>
    <p:sldId id="269" r:id="rId20"/>
    <p:sldId id="272" r:id="rId21"/>
    <p:sldId id="270" r:id="rId22"/>
    <p:sldId id="271" r:id="rId23"/>
    <p:sldId id="276" r:id="rId24"/>
    <p:sldId id="260" r:id="rId25"/>
    <p:sldId id="261" r:id="rId26"/>
    <p:sldId id="288" r:id="rId27"/>
    <p:sldId id="290" r:id="rId28"/>
    <p:sldId id="298" r:id="rId29"/>
    <p:sldId id="299" r:id="rId30"/>
    <p:sldId id="300" r:id="rId31"/>
    <p:sldId id="302" r:id="rId32"/>
    <p:sldId id="289" r:id="rId33"/>
    <p:sldId id="278" r:id="rId34"/>
    <p:sldId id="294" r:id="rId35"/>
    <p:sldId id="279" r:id="rId36"/>
    <p:sldId id="295" r:id="rId37"/>
    <p:sldId id="280" r:id="rId38"/>
    <p:sldId id="29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3" autoAdjust="0"/>
    <p:restoredTop sz="94660"/>
  </p:normalViewPr>
  <p:slideViewPr>
    <p:cSldViewPr snapToGrid="0">
      <p:cViewPr varScale="1">
        <p:scale>
          <a:sx n="121" d="100"/>
          <a:sy n="121" d="100"/>
        </p:scale>
        <p:origin x="176" y="3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388912-A885-40B8-9AF2-B272ECED6810}" type="doc">
      <dgm:prSet loTypeId="urn:microsoft.com/office/officeart/2005/8/layout/vList3" loCatId="list" qsTypeId="urn:microsoft.com/office/officeart/2005/8/quickstyle/simple1" qsCatId="simple" csTypeId="urn:microsoft.com/office/officeart/2005/8/colors/accent1_2" csCatId="accent1" phldr="1"/>
      <dgm:spPr/>
    </dgm:pt>
    <dgm:pt modelId="{2F144AE7-4896-4042-8AC2-A98271E15A5A}">
      <dgm:prSet phldrT="[Text]"/>
      <dgm:spPr/>
      <dgm:t>
        <a:bodyPr/>
        <a:lstStyle/>
        <a:p>
          <a:r>
            <a:rPr lang="en-US" dirty="0"/>
            <a:t>1. Non recursive or iterative</a:t>
          </a:r>
          <a:endParaRPr lang="en-IN" dirty="0"/>
        </a:p>
      </dgm:t>
    </dgm:pt>
    <dgm:pt modelId="{2F7AA959-4707-4596-B799-EBB1CDC556F7}" type="parTrans" cxnId="{46FC37B1-5C06-4FB8-841E-C0B6526C8EB2}">
      <dgm:prSet/>
      <dgm:spPr/>
      <dgm:t>
        <a:bodyPr/>
        <a:lstStyle/>
        <a:p>
          <a:endParaRPr lang="en-IN"/>
        </a:p>
      </dgm:t>
    </dgm:pt>
    <dgm:pt modelId="{02519B90-7C80-4D39-8C16-F8EB25F028B5}" type="sibTrans" cxnId="{46FC37B1-5C06-4FB8-841E-C0B6526C8EB2}">
      <dgm:prSet/>
      <dgm:spPr/>
      <dgm:t>
        <a:bodyPr/>
        <a:lstStyle/>
        <a:p>
          <a:endParaRPr lang="en-IN"/>
        </a:p>
      </dgm:t>
    </dgm:pt>
    <dgm:pt modelId="{D3B0B2B7-7F6A-4CEE-B52F-E4BAC514EA57}">
      <dgm:prSet phldrT="[Text]"/>
      <dgm:spPr/>
      <dgm:t>
        <a:bodyPr/>
        <a:lstStyle/>
        <a:p>
          <a:r>
            <a:rPr lang="en-US" dirty="0"/>
            <a:t>2. recursive</a:t>
          </a:r>
          <a:endParaRPr lang="en-IN" dirty="0"/>
        </a:p>
      </dgm:t>
    </dgm:pt>
    <dgm:pt modelId="{3C89BF61-8051-46DE-860A-1AF15BB3BB54}" type="parTrans" cxnId="{AAF4CB88-AC81-4728-9EC1-D5CB8FAF9908}">
      <dgm:prSet/>
      <dgm:spPr/>
      <dgm:t>
        <a:bodyPr/>
        <a:lstStyle/>
        <a:p>
          <a:endParaRPr lang="en-IN"/>
        </a:p>
      </dgm:t>
    </dgm:pt>
    <dgm:pt modelId="{42CF4D3B-2ECC-4570-AE25-0A55942F01C8}" type="sibTrans" cxnId="{AAF4CB88-AC81-4728-9EC1-D5CB8FAF9908}">
      <dgm:prSet/>
      <dgm:spPr/>
      <dgm:t>
        <a:bodyPr/>
        <a:lstStyle/>
        <a:p>
          <a:endParaRPr lang="en-IN"/>
        </a:p>
      </dgm:t>
    </dgm:pt>
    <dgm:pt modelId="{C2543DF2-36E5-4D94-BD01-A70C585392C0}" type="pres">
      <dgm:prSet presAssocID="{F5388912-A885-40B8-9AF2-B272ECED6810}" presName="linearFlow" presStyleCnt="0">
        <dgm:presLayoutVars>
          <dgm:dir/>
          <dgm:resizeHandles val="exact"/>
        </dgm:presLayoutVars>
      </dgm:prSet>
      <dgm:spPr/>
    </dgm:pt>
    <dgm:pt modelId="{384813BB-B608-45A2-9859-D927A3631508}" type="pres">
      <dgm:prSet presAssocID="{2F144AE7-4896-4042-8AC2-A98271E15A5A}" presName="composite" presStyleCnt="0"/>
      <dgm:spPr/>
    </dgm:pt>
    <dgm:pt modelId="{55026459-C42B-47C4-9DF2-18BD57E55CA0}" type="pres">
      <dgm:prSet presAssocID="{2F144AE7-4896-4042-8AC2-A98271E15A5A}" presName="imgShp" presStyleLbl="fgImgPlace1" presStyleIdx="0" presStyleCnt="2"/>
      <dgm:spPr/>
    </dgm:pt>
    <dgm:pt modelId="{50550883-8FC7-4A78-9605-DD7DC5275017}" type="pres">
      <dgm:prSet presAssocID="{2F144AE7-4896-4042-8AC2-A98271E15A5A}" presName="txShp" presStyleLbl="node1" presStyleIdx="0" presStyleCnt="2">
        <dgm:presLayoutVars>
          <dgm:bulletEnabled val="1"/>
        </dgm:presLayoutVars>
      </dgm:prSet>
      <dgm:spPr/>
    </dgm:pt>
    <dgm:pt modelId="{FAEE6426-DF03-4F1E-B91E-EEF99FE8F259}" type="pres">
      <dgm:prSet presAssocID="{02519B90-7C80-4D39-8C16-F8EB25F028B5}" presName="spacing" presStyleCnt="0"/>
      <dgm:spPr/>
    </dgm:pt>
    <dgm:pt modelId="{0729A308-06FB-45D4-94DA-B414350CD4F5}" type="pres">
      <dgm:prSet presAssocID="{D3B0B2B7-7F6A-4CEE-B52F-E4BAC514EA57}" presName="composite" presStyleCnt="0"/>
      <dgm:spPr/>
    </dgm:pt>
    <dgm:pt modelId="{E381E7BC-88DE-4C5B-BC55-6ECFC4E79DBC}" type="pres">
      <dgm:prSet presAssocID="{D3B0B2B7-7F6A-4CEE-B52F-E4BAC514EA57}" presName="imgShp" presStyleLbl="fgImgPlace1" presStyleIdx="1" presStyleCnt="2"/>
      <dgm:spPr/>
    </dgm:pt>
    <dgm:pt modelId="{B0ACAF0F-3D48-4A32-9EC8-BA2361183BD5}" type="pres">
      <dgm:prSet presAssocID="{D3B0B2B7-7F6A-4CEE-B52F-E4BAC514EA57}" presName="txShp" presStyleLbl="node1" presStyleIdx="1" presStyleCnt="2">
        <dgm:presLayoutVars>
          <dgm:bulletEnabled val="1"/>
        </dgm:presLayoutVars>
      </dgm:prSet>
      <dgm:spPr/>
    </dgm:pt>
  </dgm:ptLst>
  <dgm:cxnLst>
    <dgm:cxn modelId="{E24FF545-3374-4AEC-8737-DC3533DB6999}" type="presOf" srcId="{F5388912-A885-40B8-9AF2-B272ECED6810}" destId="{C2543DF2-36E5-4D94-BD01-A70C585392C0}" srcOrd="0" destOrd="0" presId="urn:microsoft.com/office/officeart/2005/8/layout/vList3"/>
    <dgm:cxn modelId="{966AA875-2ED2-4CA6-8FA4-F3CA879955AF}" type="presOf" srcId="{D3B0B2B7-7F6A-4CEE-B52F-E4BAC514EA57}" destId="{B0ACAF0F-3D48-4A32-9EC8-BA2361183BD5}" srcOrd="0" destOrd="0" presId="urn:microsoft.com/office/officeart/2005/8/layout/vList3"/>
    <dgm:cxn modelId="{C082EA79-DDA9-4893-B2B0-E75C36B139F8}" type="presOf" srcId="{2F144AE7-4896-4042-8AC2-A98271E15A5A}" destId="{50550883-8FC7-4A78-9605-DD7DC5275017}" srcOrd="0" destOrd="0" presId="urn:microsoft.com/office/officeart/2005/8/layout/vList3"/>
    <dgm:cxn modelId="{AAF4CB88-AC81-4728-9EC1-D5CB8FAF9908}" srcId="{F5388912-A885-40B8-9AF2-B272ECED6810}" destId="{D3B0B2B7-7F6A-4CEE-B52F-E4BAC514EA57}" srcOrd="1" destOrd="0" parTransId="{3C89BF61-8051-46DE-860A-1AF15BB3BB54}" sibTransId="{42CF4D3B-2ECC-4570-AE25-0A55942F01C8}"/>
    <dgm:cxn modelId="{46FC37B1-5C06-4FB8-841E-C0B6526C8EB2}" srcId="{F5388912-A885-40B8-9AF2-B272ECED6810}" destId="{2F144AE7-4896-4042-8AC2-A98271E15A5A}" srcOrd="0" destOrd="0" parTransId="{2F7AA959-4707-4596-B799-EBB1CDC556F7}" sibTransId="{02519B90-7C80-4D39-8C16-F8EB25F028B5}"/>
    <dgm:cxn modelId="{228F20E6-D7E0-4C20-A957-E2A76957327E}" type="presParOf" srcId="{C2543DF2-36E5-4D94-BD01-A70C585392C0}" destId="{384813BB-B608-45A2-9859-D927A3631508}" srcOrd="0" destOrd="0" presId="urn:microsoft.com/office/officeart/2005/8/layout/vList3"/>
    <dgm:cxn modelId="{A4F549F7-9B0D-4003-B976-B72E7787E529}" type="presParOf" srcId="{384813BB-B608-45A2-9859-D927A3631508}" destId="{55026459-C42B-47C4-9DF2-18BD57E55CA0}" srcOrd="0" destOrd="0" presId="urn:microsoft.com/office/officeart/2005/8/layout/vList3"/>
    <dgm:cxn modelId="{4E0D536E-FACF-4EC8-B95E-10FFF5BBDFDE}" type="presParOf" srcId="{384813BB-B608-45A2-9859-D927A3631508}" destId="{50550883-8FC7-4A78-9605-DD7DC5275017}" srcOrd="1" destOrd="0" presId="urn:microsoft.com/office/officeart/2005/8/layout/vList3"/>
    <dgm:cxn modelId="{50AD13E2-06C1-4820-96AF-7C21E6677866}" type="presParOf" srcId="{C2543DF2-36E5-4D94-BD01-A70C585392C0}" destId="{FAEE6426-DF03-4F1E-B91E-EEF99FE8F259}" srcOrd="1" destOrd="0" presId="urn:microsoft.com/office/officeart/2005/8/layout/vList3"/>
    <dgm:cxn modelId="{9F5AB2D0-85C5-484D-B18C-51EBC5D7BEFD}" type="presParOf" srcId="{C2543DF2-36E5-4D94-BD01-A70C585392C0}" destId="{0729A308-06FB-45D4-94DA-B414350CD4F5}" srcOrd="2" destOrd="0" presId="urn:microsoft.com/office/officeart/2005/8/layout/vList3"/>
    <dgm:cxn modelId="{44652B02-F1EE-4E1B-BB52-1C5D2C8B2EC2}" type="presParOf" srcId="{0729A308-06FB-45D4-94DA-B414350CD4F5}" destId="{E381E7BC-88DE-4C5B-BC55-6ECFC4E79DBC}" srcOrd="0" destOrd="0" presId="urn:microsoft.com/office/officeart/2005/8/layout/vList3"/>
    <dgm:cxn modelId="{C6A4333B-E31C-4CFB-B82C-2B0D31B57BF2}" type="presParOf" srcId="{0729A308-06FB-45D4-94DA-B414350CD4F5}" destId="{B0ACAF0F-3D48-4A32-9EC8-BA2361183BD5}"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03EC26-73E9-4714-B896-63897A53A769}"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IN"/>
        </a:p>
      </dgm:t>
    </dgm:pt>
    <dgm:pt modelId="{C945DBE4-8C78-4B43-89AE-149B235AC8EF}">
      <dgm:prSet phldrT="[Text]"/>
      <dgm:spPr/>
      <dgm:t>
        <a:bodyPr/>
        <a:lstStyle/>
        <a:p>
          <a:r>
            <a:rPr lang="en-US" dirty="0"/>
            <a:t>Analysis of Algorithms</a:t>
          </a:r>
          <a:endParaRPr lang="en-IN" dirty="0"/>
        </a:p>
      </dgm:t>
    </dgm:pt>
    <dgm:pt modelId="{B37BC8AA-B46D-4DB4-A63E-2E49BDD9E80A}" type="parTrans" cxnId="{139675EA-2391-4B62-BD8F-A2D2853F1BDA}">
      <dgm:prSet/>
      <dgm:spPr/>
      <dgm:t>
        <a:bodyPr/>
        <a:lstStyle/>
        <a:p>
          <a:endParaRPr lang="en-IN"/>
        </a:p>
      </dgm:t>
    </dgm:pt>
    <dgm:pt modelId="{0E61AF89-EDDE-409B-A823-037521B1AA88}" type="sibTrans" cxnId="{139675EA-2391-4B62-BD8F-A2D2853F1BDA}">
      <dgm:prSet/>
      <dgm:spPr/>
      <dgm:t>
        <a:bodyPr/>
        <a:lstStyle/>
        <a:p>
          <a:endParaRPr lang="en-IN"/>
        </a:p>
      </dgm:t>
    </dgm:pt>
    <dgm:pt modelId="{52A5BFCE-617E-48CB-9E26-32F89DF7EC60}">
      <dgm:prSet phldrT="[Text]"/>
      <dgm:spPr/>
      <dgm:t>
        <a:bodyPr/>
        <a:lstStyle/>
        <a:p>
          <a:r>
            <a:rPr lang="en-US" dirty="0"/>
            <a:t>Analysis of Recursive algorithms</a:t>
          </a:r>
          <a:endParaRPr lang="en-IN" dirty="0"/>
        </a:p>
      </dgm:t>
    </dgm:pt>
    <dgm:pt modelId="{34FFACFB-74CD-4A24-A980-FD8D0890269A}" type="parTrans" cxnId="{5C733489-0152-4FD7-89F2-A12E1D185AC9}">
      <dgm:prSet/>
      <dgm:spPr/>
      <dgm:t>
        <a:bodyPr/>
        <a:lstStyle/>
        <a:p>
          <a:endParaRPr lang="en-IN"/>
        </a:p>
      </dgm:t>
    </dgm:pt>
    <dgm:pt modelId="{DE470648-1853-4244-A004-3ED1795AA833}" type="sibTrans" cxnId="{5C733489-0152-4FD7-89F2-A12E1D185AC9}">
      <dgm:prSet/>
      <dgm:spPr/>
      <dgm:t>
        <a:bodyPr/>
        <a:lstStyle/>
        <a:p>
          <a:endParaRPr lang="en-IN"/>
        </a:p>
      </dgm:t>
    </dgm:pt>
    <dgm:pt modelId="{E8F93265-4D81-4CF1-AB5E-55545A9223F8}">
      <dgm:prSet phldrT="[Text]"/>
      <dgm:spPr/>
      <dgm:t>
        <a:bodyPr/>
        <a:lstStyle/>
        <a:p>
          <a:r>
            <a:rPr lang="en-US" dirty="0"/>
            <a:t>Substitution</a:t>
          </a:r>
        </a:p>
        <a:p>
          <a:r>
            <a:rPr lang="en-US" dirty="0"/>
            <a:t>method</a:t>
          </a:r>
          <a:endParaRPr lang="en-IN" dirty="0"/>
        </a:p>
      </dgm:t>
    </dgm:pt>
    <dgm:pt modelId="{77D06C0C-89AB-44CF-8359-DDDD986B52E0}" type="parTrans" cxnId="{8DE2AAF6-30E3-4F30-8BFB-7C58B4CB073C}">
      <dgm:prSet/>
      <dgm:spPr/>
      <dgm:t>
        <a:bodyPr/>
        <a:lstStyle/>
        <a:p>
          <a:endParaRPr lang="en-IN"/>
        </a:p>
      </dgm:t>
    </dgm:pt>
    <dgm:pt modelId="{67F55680-3336-460D-912E-BE4AE262DA76}" type="sibTrans" cxnId="{8DE2AAF6-30E3-4F30-8BFB-7C58B4CB073C}">
      <dgm:prSet/>
      <dgm:spPr/>
      <dgm:t>
        <a:bodyPr/>
        <a:lstStyle/>
        <a:p>
          <a:endParaRPr lang="en-IN"/>
        </a:p>
      </dgm:t>
    </dgm:pt>
    <dgm:pt modelId="{3F02ABF6-767F-4CF1-A43E-7E8025B118F5}">
      <dgm:prSet phldrT="[Text]"/>
      <dgm:spPr/>
      <dgm:t>
        <a:bodyPr/>
        <a:lstStyle/>
        <a:p>
          <a:r>
            <a:rPr lang="en-US" dirty="0"/>
            <a:t>Recursive tree method</a:t>
          </a:r>
          <a:endParaRPr lang="en-IN" dirty="0"/>
        </a:p>
      </dgm:t>
    </dgm:pt>
    <dgm:pt modelId="{80CF6F6A-3A02-46A7-BE2F-66BDFBB206A1}" type="parTrans" cxnId="{099EFB5D-BAF0-4E65-9E00-EF7F4870CB93}">
      <dgm:prSet/>
      <dgm:spPr/>
      <dgm:t>
        <a:bodyPr/>
        <a:lstStyle/>
        <a:p>
          <a:endParaRPr lang="en-IN"/>
        </a:p>
      </dgm:t>
    </dgm:pt>
    <dgm:pt modelId="{D7366DCC-21D1-4270-ADDE-264FF18DE736}" type="sibTrans" cxnId="{099EFB5D-BAF0-4E65-9E00-EF7F4870CB93}">
      <dgm:prSet/>
      <dgm:spPr/>
      <dgm:t>
        <a:bodyPr/>
        <a:lstStyle/>
        <a:p>
          <a:endParaRPr lang="en-IN"/>
        </a:p>
      </dgm:t>
    </dgm:pt>
    <dgm:pt modelId="{2EA6872B-49DF-4BC4-B688-030013C2B976}">
      <dgm:prSet phldrT="[Text]"/>
      <dgm:spPr/>
      <dgm:t>
        <a:bodyPr/>
        <a:lstStyle/>
        <a:p>
          <a:r>
            <a:rPr lang="en-US" dirty="0"/>
            <a:t>Using Master theorem</a:t>
          </a:r>
          <a:endParaRPr lang="en-IN" dirty="0"/>
        </a:p>
      </dgm:t>
    </dgm:pt>
    <dgm:pt modelId="{7E2A294F-D53B-46C9-9B1B-00F33A2560FA}" type="parTrans" cxnId="{103790D7-8F13-420C-99CE-5E664CEEBE59}">
      <dgm:prSet/>
      <dgm:spPr/>
      <dgm:t>
        <a:bodyPr/>
        <a:lstStyle/>
        <a:p>
          <a:endParaRPr lang="en-IN"/>
        </a:p>
      </dgm:t>
    </dgm:pt>
    <dgm:pt modelId="{B86311D7-FC4F-47F1-9C04-5A8AC12F17DC}" type="sibTrans" cxnId="{103790D7-8F13-420C-99CE-5E664CEEBE59}">
      <dgm:prSet/>
      <dgm:spPr/>
      <dgm:t>
        <a:bodyPr/>
        <a:lstStyle/>
        <a:p>
          <a:endParaRPr lang="en-IN"/>
        </a:p>
      </dgm:t>
    </dgm:pt>
    <dgm:pt modelId="{2F67B4C4-991A-496C-917C-F0939A7BFCA5}">
      <dgm:prSet phldrT="[Text]"/>
      <dgm:spPr/>
      <dgm:t>
        <a:bodyPr/>
        <a:lstStyle/>
        <a:p>
          <a:r>
            <a:rPr lang="en-US" dirty="0"/>
            <a:t>Analysis of Non recursive algorithms</a:t>
          </a:r>
          <a:endParaRPr lang="en-IN" dirty="0"/>
        </a:p>
      </dgm:t>
    </dgm:pt>
    <dgm:pt modelId="{32E1A330-0B2A-45F1-91A7-0E42CADCA106}" type="sibTrans" cxnId="{8AA8D7EF-A661-434E-8EF6-8ABD90B5C2E4}">
      <dgm:prSet/>
      <dgm:spPr/>
      <dgm:t>
        <a:bodyPr/>
        <a:lstStyle/>
        <a:p>
          <a:endParaRPr lang="en-IN"/>
        </a:p>
      </dgm:t>
    </dgm:pt>
    <dgm:pt modelId="{B951CF8B-4F04-4236-A280-E1A22B946B38}" type="parTrans" cxnId="{8AA8D7EF-A661-434E-8EF6-8ABD90B5C2E4}">
      <dgm:prSet/>
      <dgm:spPr/>
      <dgm:t>
        <a:bodyPr/>
        <a:lstStyle/>
        <a:p>
          <a:endParaRPr lang="en-IN"/>
        </a:p>
      </dgm:t>
    </dgm:pt>
    <dgm:pt modelId="{B70B6FB4-40BB-4538-BFC9-98377A89AA05}" type="pres">
      <dgm:prSet presAssocID="{4D03EC26-73E9-4714-B896-63897A53A769}" presName="diagram" presStyleCnt="0">
        <dgm:presLayoutVars>
          <dgm:chPref val="1"/>
          <dgm:dir/>
          <dgm:animOne val="branch"/>
          <dgm:animLvl val="lvl"/>
          <dgm:resizeHandles val="exact"/>
        </dgm:presLayoutVars>
      </dgm:prSet>
      <dgm:spPr/>
    </dgm:pt>
    <dgm:pt modelId="{EA1A8D25-64BE-4BD3-A926-B248C51F69D9}" type="pres">
      <dgm:prSet presAssocID="{C945DBE4-8C78-4B43-89AE-149B235AC8EF}" presName="root1" presStyleCnt="0"/>
      <dgm:spPr/>
    </dgm:pt>
    <dgm:pt modelId="{BB3BB917-3840-414F-BD42-F1FB3C287DB9}" type="pres">
      <dgm:prSet presAssocID="{C945DBE4-8C78-4B43-89AE-149B235AC8EF}" presName="LevelOneTextNode" presStyleLbl="node0" presStyleIdx="0" presStyleCnt="1">
        <dgm:presLayoutVars>
          <dgm:chPref val="3"/>
        </dgm:presLayoutVars>
      </dgm:prSet>
      <dgm:spPr/>
    </dgm:pt>
    <dgm:pt modelId="{61A3531F-979C-4CD5-9DA4-6E89C49E67E9}" type="pres">
      <dgm:prSet presAssocID="{C945DBE4-8C78-4B43-89AE-149B235AC8EF}" presName="level2hierChild" presStyleCnt="0"/>
      <dgm:spPr/>
    </dgm:pt>
    <dgm:pt modelId="{A852E020-B74D-4AE1-B363-842C0C13B8A9}" type="pres">
      <dgm:prSet presAssocID="{34FFACFB-74CD-4A24-A980-FD8D0890269A}" presName="conn2-1" presStyleLbl="parChTrans1D2" presStyleIdx="0" presStyleCnt="2"/>
      <dgm:spPr/>
    </dgm:pt>
    <dgm:pt modelId="{18CA719B-E875-41E5-BC96-D99F8245C700}" type="pres">
      <dgm:prSet presAssocID="{34FFACFB-74CD-4A24-A980-FD8D0890269A}" presName="connTx" presStyleLbl="parChTrans1D2" presStyleIdx="0" presStyleCnt="2"/>
      <dgm:spPr/>
    </dgm:pt>
    <dgm:pt modelId="{87E07497-E51B-4E62-9083-A21A38E5145B}" type="pres">
      <dgm:prSet presAssocID="{52A5BFCE-617E-48CB-9E26-32F89DF7EC60}" presName="root2" presStyleCnt="0"/>
      <dgm:spPr/>
    </dgm:pt>
    <dgm:pt modelId="{A54D4F6A-5BFD-4E20-AA11-8E0CA030B873}" type="pres">
      <dgm:prSet presAssocID="{52A5BFCE-617E-48CB-9E26-32F89DF7EC60}" presName="LevelTwoTextNode" presStyleLbl="node2" presStyleIdx="0" presStyleCnt="2">
        <dgm:presLayoutVars>
          <dgm:chPref val="3"/>
        </dgm:presLayoutVars>
      </dgm:prSet>
      <dgm:spPr/>
    </dgm:pt>
    <dgm:pt modelId="{FACDD1E2-CAAB-406C-9BD2-8C8674BB7C56}" type="pres">
      <dgm:prSet presAssocID="{52A5BFCE-617E-48CB-9E26-32F89DF7EC60}" presName="level3hierChild" presStyleCnt="0"/>
      <dgm:spPr/>
    </dgm:pt>
    <dgm:pt modelId="{325548B9-B396-45AC-AB68-FF33E8D36A16}" type="pres">
      <dgm:prSet presAssocID="{77D06C0C-89AB-44CF-8359-DDDD986B52E0}" presName="conn2-1" presStyleLbl="parChTrans1D3" presStyleIdx="0" presStyleCnt="3"/>
      <dgm:spPr/>
    </dgm:pt>
    <dgm:pt modelId="{D0941396-5F4F-4085-8264-CE9C51DB7E92}" type="pres">
      <dgm:prSet presAssocID="{77D06C0C-89AB-44CF-8359-DDDD986B52E0}" presName="connTx" presStyleLbl="parChTrans1D3" presStyleIdx="0" presStyleCnt="3"/>
      <dgm:spPr/>
    </dgm:pt>
    <dgm:pt modelId="{C22B31B9-2066-4F5C-A929-A7C2F2D55AB0}" type="pres">
      <dgm:prSet presAssocID="{E8F93265-4D81-4CF1-AB5E-55545A9223F8}" presName="root2" presStyleCnt="0"/>
      <dgm:spPr/>
    </dgm:pt>
    <dgm:pt modelId="{CFF6A456-2126-42F9-BD7B-C7B9E3FC66C4}" type="pres">
      <dgm:prSet presAssocID="{E8F93265-4D81-4CF1-AB5E-55545A9223F8}" presName="LevelTwoTextNode" presStyleLbl="node3" presStyleIdx="0" presStyleCnt="3">
        <dgm:presLayoutVars>
          <dgm:chPref val="3"/>
        </dgm:presLayoutVars>
      </dgm:prSet>
      <dgm:spPr/>
    </dgm:pt>
    <dgm:pt modelId="{F8A226D2-A654-42F1-AFA6-5D9751A0BDF0}" type="pres">
      <dgm:prSet presAssocID="{E8F93265-4D81-4CF1-AB5E-55545A9223F8}" presName="level3hierChild" presStyleCnt="0"/>
      <dgm:spPr/>
    </dgm:pt>
    <dgm:pt modelId="{52ECB6CC-73BE-43E9-81EE-BC76DD8CCEF3}" type="pres">
      <dgm:prSet presAssocID="{80CF6F6A-3A02-46A7-BE2F-66BDFBB206A1}" presName="conn2-1" presStyleLbl="parChTrans1D3" presStyleIdx="1" presStyleCnt="3"/>
      <dgm:spPr/>
    </dgm:pt>
    <dgm:pt modelId="{D74F2C5E-C623-4B19-B6E4-3A3261587B8A}" type="pres">
      <dgm:prSet presAssocID="{80CF6F6A-3A02-46A7-BE2F-66BDFBB206A1}" presName="connTx" presStyleLbl="parChTrans1D3" presStyleIdx="1" presStyleCnt="3"/>
      <dgm:spPr/>
    </dgm:pt>
    <dgm:pt modelId="{0E686EFA-6AA4-4ECA-B7F6-B248F7AE7B3D}" type="pres">
      <dgm:prSet presAssocID="{3F02ABF6-767F-4CF1-A43E-7E8025B118F5}" presName="root2" presStyleCnt="0"/>
      <dgm:spPr/>
    </dgm:pt>
    <dgm:pt modelId="{41E8684C-5C31-402F-9C47-705C6AC8B6C1}" type="pres">
      <dgm:prSet presAssocID="{3F02ABF6-767F-4CF1-A43E-7E8025B118F5}" presName="LevelTwoTextNode" presStyleLbl="node3" presStyleIdx="1" presStyleCnt="3">
        <dgm:presLayoutVars>
          <dgm:chPref val="3"/>
        </dgm:presLayoutVars>
      </dgm:prSet>
      <dgm:spPr/>
    </dgm:pt>
    <dgm:pt modelId="{B73EE46E-50D5-462D-BC49-308F890E3B41}" type="pres">
      <dgm:prSet presAssocID="{3F02ABF6-767F-4CF1-A43E-7E8025B118F5}" presName="level3hierChild" presStyleCnt="0"/>
      <dgm:spPr/>
    </dgm:pt>
    <dgm:pt modelId="{08498A1A-1C12-43A0-8E6A-BBAC8B03A8B6}" type="pres">
      <dgm:prSet presAssocID="{7E2A294F-D53B-46C9-9B1B-00F33A2560FA}" presName="conn2-1" presStyleLbl="parChTrans1D3" presStyleIdx="2" presStyleCnt="3"/>
      <dgm:spPr/>
    </dgm:pt>
    <dgm:pt modelId="{7A988CBC-82C3-4044-BDA1-62C2214C2F89}" type="pres">
      <dgm:prSet presAssocID="{7E2A294F-D53B-46C9-9B1B-00F33A2560FA}" presName="connTx" presStyleLbl="parChTrans1D3" presStyleIdx="2" presStyleCnt="3"/>
      <dgm:spPr/>
    </dgm:pt>
    <dgm:pt modelId="{129437C9-3E11-4BE9-903D-A095CA35A83D}" type="pres">
      <dgm:prSet presAssocID="{2EA6872B-49DF-4BC4-B688-030013C2B976}" presName="root2" presStyleCnt="0"/>
      <dgm:spPr/>
    </dgm:pt>
    <dgm:pt modelId="{EDC6F790-6275-4860-A661-C8348FAF993B}" type="pres">
      <dgm:prSet presAssocID="{2EA6872B-49DF-4BC4-B688-030013C2B976}" presName="LevelTwoTextNode" presStyleLbl="node3" presStyleIdx="2" presStyleCnt="3" custLinFactNeighborX="251">
        <dgm:presLayoutVars>
          <dgm:chPref val="3"/>
        </dgm:presLayoutVars>
      </dgm:prSet>
      <dgm:spPr/>
    </dgm:pt>
    <dgm:pt modelId="{EA0730D9-C1D1-466B-9724-1DCABF2C69FE}" type="pres">
      <dgm:prSet presAssocID="{2EA6872B-49DF-4BC4-B688-030013C2B976}" presName="level3hierChild" presStyleCnt="0"/>
      <dgm:spPr/>
    </dgm:pt>
    <dgm:pt modelId="{62D955AC-87CE-4D2C-9E05-2CE3361FA50E}" type="pres">
      <dgm:prSet presAssocID="{B951CF8B-4F04-4236-A280-E1A22B946B38}" presName="conn2-1" presStyleLbl="parChTrans1D2" presStyleIdx="1" presStyleCnt="2"/>
      <dgm:spPr/>
    </dgm:pt>
    <dgm:pt modelId="{1CBB527F-DBEB-49A0-9965-08DDF2E4401A}" type="pres">
      <dgm:prSet presAssocID="{B951CF8B-4F04-4236-A280-E1A22B946B38}" presName="connTx" presStyleLbl="parChTrans1D2" presStyleIdx="1" presStyleCnt="2"/>
      <dgm:spPr/>
    </dgm:pt>
    <dgm:pt modelId="{40A3F464-3E91-42AC-A7F3-96F6297530C3}" type="pres">
      <dgm:prSet presAssocID="{2F67B4C4-991A-496C-917C-F0939A7BFCA5}" presName="root2" presStyleCnt="0"/>
      <dgm:spPr/>
    </dgm:pt>
    <dgm:pt modelId="{C3060C68-812B-4481-A61B-C6C528C8A390}" type="pres">
      <dgm:prSet presAssocID="{2F67B4C4-991A-496C-917C-F0939A7BFCA5}" presName="LevelTwoTextNode" presStyleLbl="node2" presStyleIdx="1" presStyleCnt="2" custLinFactNeighborX="-16">
        <dgm:presLayoutVars>
          <dgm:chPref val="3"/>
        </dgm:presLayoutVars>
      </dgm:prSet>
      <dgm:spPr/>
    </dgm:pt>
    <dgm:pt modelId="{04AB8D3D-358E-41DB-900C-807F58308616}" type="pres">
      <dgm:prSet presAssocID="{2F67B4C4-991A-496C-917C-F0939A7BFCA5}" presName="level3hierChild" presStyleCnt="0"/>
      <dgm:spPr/>
    </dgm:pt>
  </dgm:ptLst>
  <dgm:cxnLst>
    <dgm:cxn modelId="{3F697D2C-5B84-403F-BFEB-5C48AE8016B8}" type="presOf" srcId="{7E2A294F-D53B-46C9-9B1B-00F33A2560FA}" destId="{7A988CBC-82C3-4044-BDA1-62C2214C2F89}" srcOrd="1" destOrd="0" presId="urn:microsoft.com/office/officeart/2005/8/layout/hierarchy2"/>
    <dgm:cxn modelId="{43787533-B524-492A-9756-24E3827813C4}" type="presOf" srcId="{2EA6872B-49DF-4BC4-B688-030013C2B976}" destId="{EDC6F790-6275-4860-A661-C8348FAF993B}" srcOrd="0" destOrd="0" presId="urn:microsoft.com/office/officeart/2005/8/layout/hierarchy2"/>
    <dgm:cxn modelId="{C670FD3B-68AA-43F1-9979-1D952C31FE79}" type="presOf" srcId="{34FFACFB-74CD-4A24-A980-FD8D0890269A}" destId="{18CA719B-E875-41E5-BC96-D99F8245C700}" srcOrd="1" destOrd="0" presId="urn:microsoft.com/office/officeart/2005/8/layout/hierarchy2"/>
    <dgm:cxn modelId="{099EFB5D-BAF0-4E65-9E00-EF7F4870CB93}" srcId="{52A5BFCE-617E-48CB-9E26-32F89DF7EC60}" destId="{3F02ABF6-767F-4CF1-A43E-7E8025B118F5}" srcOrd="1" destOrd="0" parTransId="{80CF6F6A-3A02-46A7-BE2F-66BDFBB206A1}" sibTransId="{D7366DCC-21D1-4270-ADDE-264FF18DE736}"/>
    <dgm:cxn modelId="{EFB71F66-D9FD-4CD1-A1FB-848DFA319EEE}" type="presOf" srcId="{34FFACFB-74CD-4A24-A980-FD8D0890269A}" destId="{A852E020-B74D-4AE1-B363-842C0C13B8A9}" srcOrd="0" destOrd="0" presId="urn:microsoft.com/office/officeart/2005/8/layout/hierarchy2"/>
    <dgm:cxn modelId="{D67DAC81-CA2E-47D5-A0C9-D2078DCB5AFF}" type="presOf" srcId="{77D06C0C-89AB-44CF-8359-DDDD986B52E0}" destId="{D0941396-5F4F-4085-8264-CE9C51DB7E92}" srcOrd="1" destOrd="0" presId="urn:microsoft.com/office/officeart/2005/8/layout/hierarchy2"/>
    <dgm:cxn modelId="{5C733489-0152-4FD7-89F2-A12E1D185AC9}" srcId="{C945DBE4-8C78-4B43-89AE-149B235AC8EF}" destId="{52A5BFCE-617E-48CB-9E26-32F89DF7EC60}" srcOrd="0" destOrd="0" parTransId="{34FFACFB-74CD-4A24-A980-FD8D0890269A}" sibTransId="{DE470648-1853-4244-A004-3ED1795AA833}"/>
    <dgm:cxn modelId="{7BC68B99-C032-4A44-ABC8-A5ED792F8814}" type="presOf" srcId="{4D03EC26-73E9-4714-B896-63897A53A769}" destId="{B70B6FB4-40BB-4538-BFC9-98377A89AA05}" srcOrd="0" destOrd="0" presId="urn:microsoft.com/office/officeart/2005/8/layout/hierarchy2"/>
    <dgm:cxn modelId="{576A2A9C-93F0-4D45-BD80-E19E6724CE6F}" type="presOf" srcId="{B951CF8B-4F04-4236-A280-E1A22B946B38}" destId="{62D955AC-87CE-4D2C-9E05-2CE3361FA50E}" srcOrd="0" destOrd="0" presId="urn:microsoft.com/office/officeart/2005/8/layout/hierarchy2"/>
    <dgm:cxn modelId="{DB04BEA2-F481-4796-80F4-2A5EAFDA64BB}" type="presOf" srcId="{B951CF8B-4F04-4236-A280-E1A22B946B38}" destId="{1CBB527F-DBEB-49A0-9965-08DDF2E4401A}" srcOrd="1" destOrd="0" presId="urn:microsoft.com/office/officeart/2005/8/layout/hierarchy2"/>
    <dgm:cxn modelId="{798C52AF-4136-4D3F-AD12-EBA0DA1BAB17}" type="presOf" srcId="{52A5BFCE-617E-48CB-9E26-32F89DF7EC60}" destId="{A54D4F6A-5BFD-4E20-AA11-8E0CA030B873}" srcOrd="0" destOrd="0" presId="urn:microsoft.com/office/officeart/2005/8/layout/hierarchy2"/>
    <dgm:cxn modelId="{1685ABBE-ED7B-4D6F-A87A-AE6A56953C32}" type="presOf" srcId="{2F67B4C4-991A-496C-917C-F0939A7BFCA5}" destId="{C3060C68-812B-4481-A61B-C6C528C8A390}" srcOrd="0" destOrd="0" presId="urn:microsoft.com/office/officeart/2005/8/layout/hierarchy2"/>
    <dgm:cxn modelId="{4F942EC6-E68E-48D6-BAE9-594B69EF9342}" type="presOf" srcId="{3F02ABF6-767F-4CF1-A43E-7E8025B118F5}" destId="{41E8684C-5C31-402F-9C47-705C6AC8B6C1}" srcOrd="0" destOrd="0" presId="urn:microsoft.com/office/officeart/2005/8/layout/hierarchy2"/>
    <dgm:cxn modelId="{7E0548D7-BA5E-46DA-A403-337F30A0D7F8}" type="presOf" srcId="{77D06C0C-89AB-44CF-8359-DDDD986B52E0}" destId="{325548B9-B396-45AC-AB68-FF33E8D36A16}" srcOrd="0" destOrd="0" presId="urn:microsoft.com/office/officeart/2005/8/layout/hierarchy2"/>
    <dgm:cxn modelId="{103790D7-8F13-420C-99CE-5E664CEEBE59}" srcId="{52A5BFCE-617E-48CB-9E26-32F89DF7EC60}" destId="{2EA6872B-49DF-4BC4-B688-030013C2B976}" srcOrd="2" destOrd="0" parTransId="{7E2A294F-D53B-46C9-9B1B-00F33A2560FA}" sibTransId="{B86311D7-FC4F-47F1-9C04-5A8AC12F17DC}"/>
    <dgm:cxn modelId="{F60A59DD-042D-46CC-859E-EBB022215C79}" type="presOf" srcId="{C945DBE4-8C78-4B43-89AE-149B235AC8EF}" destId="{BB3BB917-3840-414F-BD42-F1FB3C287DB9}" srcOrd="0" destOrd="0" presId="urn:microsoft.com/office/officeart/2005/8/layout/hierarchy2"/>
    <dgm:cxn modelId="{BFE30DE4-9E99-416C-9CA9-0E35B6115FBD}" type="presOf" srcId="{E8F93265-4D81-4CF1-AB5E-55545A9223F8}" destId="{CFF6A456-2126-42F9-BD7B-C7B9E3FC66C4}" srcOrd="0" destOrd="0" presId="urn:microsoft.com/office/officeart/2005/8/layout/hierarchy2"/>
    <dgm:cxn modelId="{139675EA-2391-4B62-BD8F-A2D2853F1BDA}" srcId="{4D03EC26-73E9-4714-B896-63897A53A769}" destId="{C945DBE4-8C78-4B43-89AE-149B235AC8EF}" srcOrd="0" destOrd="0" parTransId="{B37BC8AA-B46D-4DB4-A63E-2E49BDD9E80A}" sibTransId="{0E61AF89-EDDE-409B-A823-037521B1AA88}"/>
    <dgm:cxn modelId="{8AA8D7EF-A661-434E-8EF6-8ABD90B5C2E4}" srcId="{C945DBE4-8C78-4B43-89AE-149B235AC8EF}" destId="{2F67B4C4-991A-496C-917C-F0939A7BFCA5}" srcOrd="1" destOrd="0" parTransId="{B951CF8B-4F04-4236-A280-E1A22B946B38}" sibTransId="{32E1A330-0B2A-45F1-91A7-0E42CADCA106}"/>
    <dgm:cxn modelId="{636C77F1-24D2-463D-B7AD-A2F4CCE2C046}" type="presOf" srcId="{7E2A294F-D53B-46C9-9B1B-00F33A2560FA}" destId="{08498A1A-1C12-43A0-8E6A-BBAC8B03A8B6}" srcOrd="0" destOrd="0" presId="urn:microsoft.com/office/officeart/2005/8/layout/hierarchy2"/>
    <dgm:cxn modelId="{46A98EF2-D802-47F5-9019-947A92F563DB}" type="presOf" srcId="{80CF6F6A-3A02-46A7-BE2F-66BDFBB206A1}" destId="{52ECB6CC-73BE-43E9-81EE-BC76DD8CCEF3}" srcOrd="0" destOrd="0" presId="urn:microsoft.com/office/officeart/2005/8/layout/hierarchy2"/>
    <dgm:cxn modelId="{8DE2AAF6-30E3-4F30-8BFB-7C58B4CB073C}" srcId="{52A5BFCE-617E-48CB-9E26-32F89DF7EC60}" destId="{E8F93265-4D81-4CF1-AB5E-55545A9223F8}" srcOrd="0" destOrd="0" parTransId="{77D06C0C-89AB-44CF-8359-DDDD986B52E0}" sibTransId="{67F55680-3336-460D-912E-BE4AE262DA76}"/>
    <dgm:cxn modelId="{FE4C85F8-30D0-4411-BEA4-99DE25FFA700}" type="presOf" srcId="{80CF6F6A-3A02-46A7-BE2F-66BDFBB206A1}" destId="{D74F2C5E-C623-4B19-B6E4-3A3261587B8A}" srcOrd="1" destOrd="0" presId="urn:microsoft.com/office/officeart/2005/8/layout/hierarchy2"/>
    <dgm:cxn modelId="{52986C68-0086-48B0-9EE6-B7AA863FC4DD}" type="presParOf" srcId="{B70B6FB4-40BB-4538-BFC9-98377A89AA05}" destId="{EA1A8D25-64BE-4BD3-A926-B248C51F69D9}" srcOrd="0" destOrd="0" presId="urn:microsoft.com/office/officeart/2005/8/layout/hierarchy2"/>
    <dgm:cxn modelId="{1E6CE1F5-EBDE-46A4-9BB9-CAFA3B5C0B4F}" type="presParOf" srcId="{EA1A8D25-64BE-4BD3-A926-B248C51F69D9}" destId="{BB3BB917-3840-414F-BD42-F1FB3C287DB9}" srcOrd="0" destOrd="0" presId="urn:microsoft.com/office/officeart/2005/8/layout/hierarchy2"/>
    <dgm:cxn modelId="{5779C7DF-4F2D-4EC0-BA7B-A04952B8F454}" type="presParOf" srcId="{EA1A8D25-64BE-4BD3-A926-B248C51F69D9}" destId="{61A3531F-979C-4CD5-9DA4-6E89C49E67E9}" srcOrd="1" destOrd="0" presId="urn:microsoft.com/office/officeart/2005/8/layout/hierarchy2"/>
    <dgm:cxn modelId="{BBEA9415-18A2-4906-B6EF-F7F731A39BA8}" type="presParOf" srcId="{61A3531F-979C-4CD5-9DA4-6E89C49E67E9}" destId="{A852E020-B74D-4AE1-B363-842C0C13B8A9}" srcOrd="0" destOrd="0" presId="urn:microsoft.com/office/officeart/2005/8/layout/hierarchy2"/>
    <dgm:cxn modelId="{FFFAD431-92E8-4FA5-973C-557831B1C360}" type="presParOf" srcId="{A852E020-B74D-4AE1-B363-842C0C13B8A9}" destId="{18CA719B-E875-41E5-BC96-D99F8245C700}" srcOrd="0" destOrd="0" presId="urn:microsoft.com/office/officeart/2005/8/layout/hierarchy2"/>
    <dgm:cxn modelId="{42C2D4B3-34A9-4AB7-B132-4E00D75F4A01}" type="presParOf" srcId="{61A3531F-979C-4CD5-9DA4-6E89C49E67E9}" destId="{87E07497-E51B-4E62-9083-A21A38E5145B}" srcOrd="1" destOrd="0" presId="urn:microsoft.com/office/officeart/2005/8/layout/hierarchy2"/>
    <dgm:cxn modelId="{7BC60C99-41F2-44FB-B220-BC4C4244CE30}" type="presParOf" srcId="{87E07497-E51B-4E62-9083-A21A38E5145B}" destId="{A54D4F6A-5BFD-4E20-AA11-8E0CA030B873}" srcOrd="0" destOrd="0" presId="urn:microsoft.com/office/officeart/2005/8/layout/hierarchy2"/>
    <dgm:cxn modelId="{CC9471F2-2E18-4E79-A67C-52C0D925A8BE}" type="presParOf" srcId="{87E07497-E51B-4E62-9083-A21A38E5145B}" destId="{FACDD1E2-CAAB-406C-9BD2-8C8674BB7C56}" srcOrd="1" destOrd="0" presId="urn:microsoft.com/office/officeart/2005/8/layout/hierarchy2"/>
    <dgm:cxn modelId="{274F2EB4-18B6-4327-BEAC-40FA5A7A23A0}" type="presParOf" srcId="{FACDD1E2-CAAB-406C-9BD2-8C8674BB7C56}" destId="{325548B9-B396-45AC-AB68-FF33E8D36A16}" srcOrd="0" destOrd="0" presId="urn:microsoft.com/office/officeart/2005/8/layout/hierarchy2"/>
    <dgm:cxn modelId="{4ABEE21B-B4A8-4082-BCAF-DB95F61722EF}" type="presParOf" srcId="{325548B9-B396-45AC-AB68-FF33E8D36A16}" destId="{D0941396-5F4F-4085-8264-CE9C51DB7E92}" srcOrd="0" destOrd="0" presId="urn:microsoft.com/office/officeart/2005/8/layout/hierarchy2"/>
    <dgm:cxn modelId="{09C1C2E9-D2E8-4F47-B848-A5B0EF3C5416}" type="presParOf" srcId="{FACDD1E2-CAAB-406C-9BD2-8C8674BB7C56}" destId="{C22B31B9-2066-4F5C-A929-A7C2F2D55AB0}" srcOrd="1" destOrd="0" presId="urn:microsoft.com/office/officeart/2005/8/layout/hierarchy2"/>
    <dgm:cxn modelId="{27D90FC0-2CF6-41B6-AD07-4186E5AA5364}" type="presParOf" srcId="{C22B31B9-2066-4F5C-A929-A7C2F2D55AB0}" destId="{CFF6A456-2126-42F9-BD7B-C7B9E3FC66C4}" srcOrd="0" destOrd="0" presId="urn:microsoft.com/office/officeart/2005/8/layout/hierarchy2"/>
    <dgm:cxn modelId="{EF852088-BA77-4EAF-839B-5A1C2BDA0C2C}" type="presParOf" srcId="{C22B31B9-2066-4F5C-A929-A7C2F2D55AB0}" destId="{F8A226D2-A654-42F1-AFA6-5D9751A0BDF0}" srcOrd="1" destOrd="0" presId="urn:microsoft.com/office/officeart/2005/8/layout/hierarchy2"/>
    <dgm:cxn modelId="{826D350F-8ECF-4C50-ADEF-162C6DFEF40D}" type="presParOf" srcId="{FACDD1E2-CAAB-406C-9BD2-8C8674BB7C56}" destId="{52ECB6CC-73BE-43E9-81EE-BC76DD8CCEF3}" srcOrd="2" destOrd="0" presId="urn:microsoft.com/office/officeart/2005/8/layout/hierarchy2"/>
    <dgm:cxn modelId="{69034EA7-B0F6-4CC0-AAE3-A15654DCACE5}" type="presParOf" srcId="{52ECB6CC-73BE-43E9-81EE-BC76DD8CCEF3}" destId="{D74F2C5E-C623-4B19-B6E4-3A3261587B8A}" srcOrd="0" destOrd="0" presId="urn:microsoft.com/office/officeart/2005/8/layout/hierarchy2"/>
    <dgm:cxn modelId="{01CA32FA-493D-487A-9525-0CF3BB83166A}" type="presParOf" srcId="{FACDD1E2-CAAB-406C-9BD2-8C8674BB7C56}" destId="{0E686EFA-6AA4-4ECA-B7F6-B248F7AE7B3D}" srcOrd="3" destOrd="0" presId="urn:microsoft.com/office/officeart/2005/8/layout/hierarchy2"/>
    <dgm:cxn modelId="{7C11156F-CD65-405E-93BF-12ADD168B471}" type="presParOf" srcId="{0E686EFA-6AA4-4ECA-B7F6-B248F7AE7B3D}" destId="{41E8684C-5C31-402F-9C47-705C6AC8B6C1}" srcOrd="0" destOrd="0" presId="urn:microsoft.com/office/officeart/2005/8/layout/hierarchy2"/>
    <dgm:cxn modelId="{8D73B81C-E491-4050-97C7-9E94DCF0541C}" type="presParOf" srcId="{0E686EFA-6AA4-4ECA-B7F6-B248F7AE7B3D}" destId="{B73EE46E-50D5-462D-BC49-308F890E3B41}" srcOrd="1" destOrd="0" presId="urn:microsoft.com/office/officeart/2005/8/layout/hierarchy2"/>
    <dgm:cxn modelId="{BE6D8CD7-E4C0-41B5-A459-273EB30CC119}" type="presParOf" srcId="{FACDD1E2-CAAB-406C-9BD2-8C8674BB7C56}" destId="{08498A1A-1C12-43A0-8E6A-BBAC8B03A8B6}" srcOrd="4" destOrd="0" presId="urn:microsoft.com/office/officeart/2005/8/layout/hierarchy2"/>
    <dgm:cxn modelId="{AA78E449-51BE-4746-957C-F72384609D28}" type="presParOf" srcId="{08498A1A-1C12-43A0-8E6A-BBAC8B03A8B6}" destId="{7A988CBC-82C3-4044-BDA1-62C2214C2F89}" srcOrd="0" destOrd="0" presId="urn:microsoft.com/office/officeart/2005/8/layout/hierarchy2"/>
    <dgm:cxn modelId="{D9302A32-9A1E-4B36-B806-283C8AC1735F}" type="presParOf" srcId="{FACDD1E2-CAAB-406C-9BD2-8C8674BB7C56}" destId="{129437C9-3E11-4BE9-903D-A095CA35A83D}" srcOrd="5" destOrd="0" presId="urn:microsoft.com/office/officeart/2005/8/layout/hierarchy2"/>
    <dgm:cxn modelId="{AA4F37C5-CF3E-4DAA-9C57-47F9187E9AEB}" type="presParOf" srcId="{129437C9-3E11-4BE9-903D-A095CA35A83D}" destId="{EDC6F790-6275-4860-A661-C8348FAF993B}" srcOrd="0" destOrd="0" presId="urn:microsoft.com/office/officeart/2005/8/layout/hierarchy2"/>
    <dgm:cxn modelId="{D3FC4ECC-4E5D-4E41-873D-96C26AEE44E5}" type="presParOf" srcId="{129437C9-3E11-4BE9-903D-A095CA35A83D}" destId="{EA0730D9-C1D1-466B-9724-1DCABF2C69FE}" srcOrd="1" destOrd="0" presId="urn:microsoft.com/office/officeart/2005/8/layout/hierarchy2"/>
    <dgm:cxn modelId="{9155195A-BD72-45FE-B104-D255B8CB2287}" type="presParOf" srcId="{61A3531F-979C-4CD5-9DA4-6E89C49E67E9}" destId="{62D955AC-87CE-4D2C-9E05-2CE3361FA50E}" srcOrd="2" destOrd="0" presId="urn:microsoft.com/office/officeart/2005/8/layout/hierarchy2"/>
    <dgm:cxn modelId="{44EE61B2-10C9-42D5-A278-1ACB5FC2D8C4}" type="presParOf" srcId="{62D955AC-87CE-4D2C-9E05-2CE3361FA50E}" destId="{1CBB527F-DBEB-49A0-9965-08DDF2E4401A}" srcOrd="0" destOrd="0" presId="urn:microsoft.com/office/officeart/2005/8/layout/hierarchy2"/>
    <dgm:cxn modelId="{B2CBF5BB-76AB-4650-89CD-063FE69AB5C1}" type="presParOf" srcId="{61A3531F-979C-4CD5-9DA4-6E89C49E67E9}" destId="{40A3F464-3E91-42AC-A7F3-96F6297530C3}" srcOrd="3" destOrd="0" presId="urn:microsoft.com/office/officeart/2005/8/layout/hierarchy2"/>
    <dgm:cxn modelId="{AC352DB9-F322-4317-96AA-39E1F10794EC}" type="presParOf" srcId="{40A3F464-3E91-42AC-A7F3-96F6297530C3}" destId="{C3060C68-812B-4481-A61B-C6C528C8A390}" srcOrd="0" destOrd="0" presId="urn:microsoft.com/office/officeart/2005/8/layout/hierarchy2"/>
    <dgm:cxn modelId="{A19FF5B2-77D8-4F1E-A840-13BDA90ADB59}" type="presParOf" srcId="{40A3F464-3E91-42AC-A7F3-96F6297530C3}" destId="{04AB8D3D-358E-41DB-900C-807F58308616}"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550883-8FC7-4A78-9605-DD7DC5275017}">
      <dsp:nvSpPr>
        <dsp:cNvPr id="0" name=""/>
        <dsp:cNvSpPr/>
      </dsp:nvSpPr>
      <dsp:spPr>
        <a:xfrm rot="10800000">
          <a:off x="1835082" y="163"/>
          <a:ext cx="5716784" cy="1580561"/>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6984" tIns="167640" rIns="312928" bIns="167640" numCol="1" spcCol="1270" anchor="ctr" anchorCtr="0">
          <a:noAutofit/>
        </a:bodyPr>
        <a:lstStyle/>
        <a:p>
          <a:pPr marL="0" lvl="0" indent="0" algn="ctr" defTabSz="1955800">
            <a:lnSpc>
              <a:spcPct val="90000"/>
            </a:lnSpc>
            <a:spcBef>
              <a:spcPct val="0"/>
            </a:spcBef>
            <a:spcAft>
              <a:spcPct val="35000"/>
            </a:spcAft>
            <a:buNone/>
          </a:pPr>
          <a:r>
            <a:rPr lang="en-US" sz="4400" kern="1200" dirty="0"/>
            <a:t>1. Non recursive or iterative</a:t>
          </a:r>
          <a:endParaRPr lang="en-IN" sz="4400" kern="1200" dirty="0"/>
        </a:p>
      </dsp:txBody>
      <dsp:txXfrm rot="10800000">
        <a:off x="2230222" y="163"/>
        <a:ext cx="5321644" cy="1580561"/>
      </dsp:txXfrm>
    </dsp:sp>
    <dsp:sp modelId="{55026459-C42B-47C4-9DF2-18BD57E55CA0}">
      <dsp:nvSpPr>
        <dsp:cNvPr id="0" name=""/>
        <dsp:cNvSpPr/>
      </dsp:nvSpPr>
      <dsp:spPr>
        <a:xfrm>
          <a:off x="1044801" y="163"/>
          <a:ext cx="1580561" cy="1580561"/>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0ACAF0F-3D48-4A32-9EC8-BA2361183BD5}">
      <dsp:nvSpPr>
        <dsp:cNvPr id="0" name=""/>
        <dsp:cNvSpPr/>
      </dsp:nvSpPr>
      <dsp:spPr>
        <a:xfrm rot="10800000">
          <a:off x="1835082" y="2052533"/>
          <a:ext cx="5716784" cy="1580561"/>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6984" tIns="167640" rIns="312928" bIns="167640" numCol="1" spcCol="1270" anchor="ctr" anchorCtr="0">
          <a:noAutofit/>
        </a:bodyPr>
        <a:lstStyle/>
        <a:p>
          <a:pPr marL="0" lvl="0" indent="0" algn="ctr" defTabSz="1955800">
            <a:lnSpc>
              <a:spcPct val="90000"/>
            </a:lnSpc>
            <a:spcBef>
              <a:spcPct val="0"/>
            </a:spcBef>
            <a:spcAft>
              <a:spcPct val="35000"/>
            </a:spcAft>
            <a:buNone/>
          </a:pPr>
          <a:r>
            <a:rPr lang="en-US" sz="4400" kern="1200" dirty="0"/>
            <a:t>2. recursive</a:t>
          </a:r>
          <a:endParaRPr lang="en-IN" sz="4400" kern="1200" dirty="0"/>
        </a:p>
      </dsp:txBody>
      <dsp:txXfrm rot="10800000">
        <a:off x="2230222" y="2052533"/>
        <a:ext cx="5321644" cy="1580561"/>
      </dsp:txXfrm>
    </dsp:sp>
    <dsp:sp modelId="{E381E7BC-88DE-4C5B-BC55-6ECFC4E79DBC}">
      <dsp:nvSpPr>
        <dsp:cNvPr id="0" name=""/>
        <dsp:cNvSpPr/>
      </dsp:nvSpPr>
      <dsp:spPr>
        <a:xfrm>
          <a:off x="1044801" y="2052533"/>
          <a:ext cx="1580561" cy="1580561"/>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3BB917-3840-414F-BD42-F1FB3C287DB9}">
      <dsp:nvSpPr>
        <dsp:cNvPr id="0" name=""/>
        <dsp:cNvSpPr/>
      </dsp:nvSpPr>
      <dsp:spPr>
        <a:xfrm>
          <a:off x="5832" y="2025435"/>
          <a:ext cx="2259117" cy="11295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Analysis of Algorithms</a:t>
          </a:r>
          <a:endParaRPr lang="en-IN" sz="2400" kern="1200" dirty="0"/>
        </a:p>
      </dsp:txBody>
      <dsp:txXfrm>
        <a:off x="38916" y="2058519"/>
        <a:ext cx="2192949" cy="1063390"/>
      </dsp:txXfrm>
    </dsp:sp>
    <dsp:sp modelId="{A852E020-B74D-4AE1-B363-842C0C13B8A9}">
      <dsp:nvSpPr>
        <dsp:cNvPr id="0" name=""/>
        <dsp:cNvSpPr/>
      </dsp:nvSpPr>
      <dsp:spPr>
        <a:xfrm rot="19457599">
          <a:off x="2160351" y="2239275"/>
          <a:ext cx="1112844" cy="52382"/>
        </a:xfrm>
        <a:custGeom>
          <a:avLst/>
          <a:gdLst/>
          <a:ahLst/>
          <a:cxnLst/>
          <a:rect l="0" t="0" r="0" b="0"/>
          <a:pathLst>
            <a:path>
              <a:moveTo>
                <a:pt x="0" y="26191"/>
              </a:moveTo>
              <a:lnTo>
                <a:pt x="1112844" y="261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688952" y="2237645"/>
        <a:ext cx="55642" cy="55642"/>
      </dsp:txXfrm>
    </dsp:sp>
    <dsp:sp modelId="{A54D4F6A-5BFD-4E20-AA11-8E0CA030B873}">
      <dsp:nvSpPr>
        <dsp:cNvPr id="0" name=""/>
        <dsp:cNvSpPr/>
      </dsp:nvSpPr>
      <dsp:spPr>
        <a:xfrm>
          <a:off x="3168597" y="1375939"/>
          <a:ext cx="2259117" cy="11295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Analysis of Recursive algorithms</a:t>
          </a:r>
          <a:endParaRPr lang="en-IN" sz="2400" kern="1200" dirty="0"/>
        </a:p>
      </dsp:txBody>
      <dsp:txXfrm>
        <a:off x="3201681" y="1409023"/>
        <a:ext cx="2192949" cy="1063390"/>
      </dsp:txXfrm>
    </dsp:sp>
    <dsp:sp modelId="{325548B9-B396-45AC-AB68-FF33E8D36A16}">
      <dsp:nvSpPr>
        <dsp:cNvPr id="0" name=""/>
        <dsp:cNvSpPr/>
      </dsp:nvSpPr>
      <dsp:spPr>
        <a:xfrm rot="18289469">
          <a:off x="5088343" y="1265030"/>
          <a:ext cx="1582390" cy="52382"/>
        </a:xfrm>
        <a:custGeom>
          <a:avLst/>
          <a:gdLst/>
          <a:ahLst/>
          <a:cxnLst/>
          <a:rect l="0" t="0" r="0" b="0"/>
          <a:pathLst>
            <a:path>
              <a:moveTo>
                <a:pt x="0" y="26191"/>
              </a:moveTo>
              <a:lnTo>
                <a:pt x="1582390" y="26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839978" y="1251662"/>
        <a:ext cx="79119" cy="79119"/>
      </dsp:txXfrm>
    </dsp:sp>
    <dsp:sp modelId="{CFF6A456-2126-42F9-BD7B-C7B9E3FC66C4}">
      <dsp:nvSpPr>
        <dsp:cNvPr id="0" name=""/>
        <dsp:cNvSpPr/>
      </dsp:nvSpPr>
      <dsp:spPr>
        <a:xfrm>
          <a:off x="6331361" y="76946"/>
          <a:ext cx="2259117" cy="11295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Substitution</a:t>
          </a:r>
        </a:p>
        <a:p>
          <a:pPr marL="0" lvl="0" indent="0" algn="ctr" defTabSz="1066800">
            <a:lnSpc>
              <a:spcPct val="90000"/>
            </a:lnSpc>
            <a:spcBef>
              <a:spcPct val="0"/>
            </a:spcBef>
            <a:spcAft>
              <a:spcPct val="35000"/>
            </a:spcAft>
            <a:buNone/>
          </a:pPr>
          <a:r>
            <a:rPr lang="en-US" sz="2400" kern="1200" dirty="0"/>
            <a:t>method</a:t>
          </a:r>
          <a:endParaRPr lang="en-IN" sz="2400" kern="1200" dirty="0"/>
        </a:p>
      </dsp:txBody>
      <dsp:txXfrm>
        <a:off x="6364445" y="110030"/>
        <a:ext cx="2192949" cy="1063390"/>
      </dsp:txXfrm>
    </dsp:sp>
    <dsp:sp modelId="{52ECB6CC-73BE-43E9-81EE-BC76DD8CCEF3}">
      <dsp:nvSpPr>
        <dsp:cNvPr id="0" name=""/>
        <dsp:cNvSpPr/>
      </dsp:nvSpPr>
      <dsp:spPr>
        <a:xfrm>
          <a:off x="5427714" y="1914527"/>
          <a:ext cx="903647" cy="52382"/>
        </a:xfrm>
        <a:custGeom>
          <a:avLst/>
          <a:gdLst/>
          <a:ahLst/>
          <a:cxnLst/>
          <a:rect l="0" t="0" r="0" b="0"/>
          <a:pathLst>
            <a:path>
              <a:moveTo>
                <a:pt x="0" y="26191"/>
              </a:moveTo>
              <a:lnTo>
                <a:pt x="903647" y="26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856947" y="1918127"/>
        <a:ext cx="45182" cy="45182"/>
      </dsp:txXfrm>
    </dsp:sp>
    <dsp:sp modelId="{41E8684C-5C31-402F-9C47-705C6AC8B6C1}">
      <dsp:nvSpPr>
        <dsp:cNvPr id="0" name=""/>
        <dsp:cNvSpPr/>
      </dsp:nvSpPr>
      <dsp:spPr>
        <a:xfrm>
          <a:off x="6331361" y="1375939"/>
          <a:ext cx="2259117" cy="11295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Recursive tree method</a:t>
          </a:r>
          <a:endParaRPr lang="en-IN" sz="2400" kern="1200" dirty="0"/>
        </a:p>
      </dsp:txBody>
      <dsp:txXfrm>
        <a:off x="6364445" y="1409023"/>
        <a:ext cx="2192949" cy="1063390"/>
      </dsp:txXfrm>
    </dsp:sp>
    <dsp:sp modelId="{08498A1A-1C12-43A0-8E6A-BBAC8B03A8B6}">
      <dsp:nvSpPr>
        <dsp:cNvPr id="0" name=""/>
        <dsp:cNvSpPr/>
      </dsp:nvSpPr>
      <dsp:spPr>
        <a:xfrm rot="3300439">
          <a:off x="5089555" y="2564023"/>
          <a:ext cx="1585635" cy="52382"/>
        </a:xfrm>
        <a:custGeom>
          <a:avLst/>
          <a:gdLst/>
          <a:ahLst/>
          <a:cxnLst/>
          <a:rect l="0" t="0" r="0" b="0"/>
          <a:pathLst>
            <a:path>
              <a:moveTo>
                <a:pt x="0" y="26191"/>
              </a:moveTo>
              <a:lnTo>
                <a:pt x="1585635" y="26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842732" y="2550573"/>
        <a:ext cx="79281" cy="79281"/>
      </dsp:txXfrm>
    </dsp:sp>
    <dsp:sp modelId="{EDC6F790-6275-4860-A661-C8348FAF993B}">
      <dsp:nvSpPr>
        <dsp:cNvPr id="0" name=""/>
        <dsp:cNvSpPr/>
      </dsp:nvSpPr>
      <dsp:spPr>
        <a:xfrm>
          <a:off x="6337032" y="2674931"/>
          <a:ext cx="2259117" cy="11295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Using Master theorem</a:t>
          </a:r>
          <a:endParaRPr lang="en-IN" sz="2400" kern="1200" dirty="0"/>
        </a:p>
      </dsp:txBody>
      <dsp:txXfrm>
        <a:off x="6370116" y="2708015"/>
        <a:ext cx="2192949" cy="1063390"/>
      </dsp:txXfrm>
    </dsp:sp>
    <dsp:sp modelId="{62D955AC-87CE-4D2C-9E05-2CE3361FA50E}">
      <dsp:nvSpPr>
        <dsp:cNvPr id="0" name=""/>
        <dsp:cNvSpPr/>
      </dsp:nvSpPr>
      <dsp:spPr>
        <a:xfrm rot="2143053">
          <a:off x="2160317" y="2888771"/>
          <a:ext cx="1112551" cy="52382"/>
        </a:xfrm>
        <a:custGeom>
          <a:avLst/>
          <a:gdLst/>
          <a:ahLst/>
          <a:cxnLst/>
          <a:rect l="0" t="0" r="0" b="0"/>
          <a:pathLst>
            <a:path>
              <a:moveTo>
                <a:pt x="0" y="26191"/>
              </a:moveTo>
              <a:lnTo>
                <a:pt x="1112551" y="261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688779" y="2887149"/>
        <a:ext cx="55627" cy="55627"/>
      </dsp:txXfrm>
    </dsp:sp>
    <dsp:sp modelId="{C3060C68-812B-4481-A61B-C6C528C8A390}">
      <dsp:nvSpPr>
        <dsp:cNvPr id="0" name=""/>
        <dsp:cNvSpPr/>
      </dsp:nvSpPr>
      <dsp:spPr>
        <a:xfrm>
          <a:off x="3168235" y="2674931"/>
          <a:ext cx="2259117" cy="11295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Analysis of Non recursive algorithms</a:t>
          </a:r>
          <a:endParaRPr lang="en-IN" sz="2400" kern="1200" dirty="0"/>
        </a:p>
      </dsp:txBody>
      <dsp:txXfrm>
        <a:off x="3201319" y="2708015"/>
        <a:ext cx="2192949" cy="1063390"/>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E430A-2196-499D-B556-3A7D3D00E2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EA4C4AF-74E3-4B17-8A0F-B24DA7286A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731016A-2D10-4FBD-9413-1F7AE8686B7E}"/>
              </a:ext>
            </a:extLst>
          </p:cNvPr>
          <p:cNvSpPr>
            <a:spLocks noGrp="1"/>
          </p:cNvSpPr>
          <p:nvPr>
            <p:ph type="dt" sz="half" idx="10"/>
          </p:nvPr>
        </p:nvSpPr>
        <p:spPr/>
        <p:txBody>
          <a:bodyPr/>
          <a:lstStyle/>
          <a:p>
            <a:fld id="{C7DB268E-2318-44FB-A827-7ACDA3E712FD}" type="datetimeFigureOut">
              <a:rPr lang="en-IN" smtClean="0"/>
              <a:t>30/01/24</a:t>
            </a:fld>
            <a:endParaRPr lang="en-IN"/>
          </a:p>
        </p:txBody>
      </p:sp>
      <p:sp>
        <p:nvSpPr>
          <p:cNvPr id="5" name="Footer Placeholder 4">
            <a:extLst>
              <a:ext uri="{FF2B5EF4-FFF2-40B4-BE49-F238E27FC236}">
                <a16:creationId xmlns:a16="http://schemas.microsoft.com/office/drawing/2014/main" id="{FD1EDF7C-0A5B-4979-AF5D-191388430C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1862E9-D839-491B-ADF2-FB0816B1B2A1}"/>
              </a:ext>
            </a:extLst>
          </p:cNvPr>
          <p:cNvSpPr>
            <a:spLocks noGrp="1"/>
          </p:cNvSpPr>
          <p:nvPr>
            <p:ph type="sldNum" sz="quarter" idx="12"/>
          </p:nvPr>
        </p:nvSpPr>
        <p:spPr/>
        <p:txBody>
          <a:bodyPr/>
          <a:lstStyle/>
          <a:p>
            <a:fld id="{3AA29442-8676-46AB-B1C1-92D5640F0881}" type="slidenum">
              <a:rPr lang="en-IN" smtClean="0"/>
              <a:t>‹#›</a:t>
            </a:fld>
            <a:endParaRPr lang="en-IN"/>
          </a:p>
        </p:txBody>
      </p:sp>
    </p:spTree>
    <p:extLst>
      <p:ext uri="{BB962C8B-B14F-4D97-AF65-F5344CB8AC3E}">
        <p14:creationId xmlns:p14="http://schemas.microsoft.com/office/powerpoint/2010/main" val="2171865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1C684-AB67-45C5-AF2A-7BD11A1A49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1EC2BEF-CC90-4ECB-9660-2356EA4421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D15964-E3DF-449C-84E5-CA031FAC5675}"/>
              </a:ext>
            </a:extLst>
          </p:cNvPr>
          <p:cNvSpPr>
            <a:spLocks noGrp="1"/>
          </p:cNvSpPr>
          <p:nvPr>
            <p:ph type="dt" sz="half" idx="10"/>
          </p:nvPr>
        </p:nvSpPr>
        <p:spPr/>
        <p:txBody>
          <a:bodyPr/>
          <a:lstStyle/>
          <a:p>
            <a:fld id="{C7DB268E-2318-44FB-A827-7ACDA3E712FD}" type="datetimeFigureOut">
              <a:rPr lang="en-IN" smtClean="0"/>
              <a:t>30/01/24</a:t>
            </a:fld>
            <a:endParaRPr lang="en-IN"/>
          </a:p>
        </p:txBody>
      </p:sp>
      <p:sp>
        <p:nvSpPr>
          <p:cNvPr id="5" name="Footer Placeholder 4">
            <a:extLst>
              <a:ext uri="{FF2B5EF4-FFF2-40B4-BE49-F238E27FC236}">
                <a16:creationId xmlns:a16="http://schemas.microsoft.com/office/drawing/2014/main" id="{8E75FF98-14BC-4FAD-9BFC-8D9DEBACD7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A2F763-723E-42BF-96D9-E0C97378F7F8}"/>
              </a:ext>
            </a:extLst>
          </p:cNvPr>
          <p:cNvSpPr>
            <a:spLocks noGrp="1"/>
          </p:cNvSpPr>
          <p:nvPr>
            <p:ph type="sldNum" sz="quarter" idx="12"/>
          </p:nvPr>
        </p:nvSpPr>
        <p:spPr/>
        <p:txBody>
          <a:bodyPr/>
          <a:lstStyle/>
          <a:p>
            <a:fld id="{3AA29442-8676-46AB-B1C1-92D5640F0881}" type="slidenum">
              <a:rPr lang="en-IN" smtClean="0"/>
              <a:t>‹#›</a:t>
            </a:fld>
            <a:endParaRPr lang="en-IN"/>
          </a:p>
        </p:txBody>
      </p:sp>
    </p:spTree>
    <p:extLst>
      <p:ext uri="{BB962C8B-B14F-4D97-AF65-F5344CB8AC3E}">
        <p14:creationId xmlns:p14="http://schemas.microsoft.com/office/powerpoint/2010/main" val="2000629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B377A-56D8-4475-AAA4-BE980E3950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5BEB3A0-9E71-4736-B63E-D862D486A3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0F5948-71D3-4242-B7A2-F6831940CF9C}"/>
              </a:ext>
            </a:extLst>
          </p:cNvPr>
          <p:cNvSpPr>
            <a:spLocks noGrp="1"/>
          </p:cNvSpPr>
          <p:nvPr>
            <p:ph type="dt" sz="half" idx="10"/>
          </p:nvPr>
        </p:nvSpPr>
        <p:spPr/>
        <p:txBody>
          <a:bodyPr/>
          <a:lstStyle/>
          <a:p>
            <a:fld id="{C7DB268E-2318-44FB-A827-7ACDA3E712FD}" type="datetimeFigureOut">
              <a:rPr lang="en-IN" smtClean="0"/>
              <a:t>30/01/24</a:t>
            </a:fld>
            <a:endParaRPr lang="en-IN"/>
          </a:p>
        </p:txBody>
      </p:sp>
      <p:sp>
        <p:nvSpPr>
          <p:cNvPr id="5" name="Footer Placeholder 4">
            <a:extLst>
              <a:ext uri="{FF2B5EF4-FFF2-40B4-BE49-F238E27FC236}">
                <a16:creationId xmlns:a16="http://schemas.microsoft.com/office/drawing/2014/main" id="{3860E1D1-D3A9-4A12-B580-F828B552E6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B48FAC-9B90-4301-8B93-8DF723F63696}"/>
              </a:ext>
            </a:extLst>
          </p:cNvPr>
          <p:cNvSpPr>
            <a:spLocks noGrp="1"/>
          </p:cNvSpPr>
          <p:nvPr>
            <p:ph type="sldNum" sz="quarter" idx="12"/>
          </p:nvPr>
        </p:nvSpPr>
        <p:spPr/>
        <p:txBody>
          <a:bodyPr/>
          <a:lstStyle/>
          <a:p>
            <a:fld id="{3AA29442-8676-46AB-B1C1-92D5640F0881}" type="slidenum">
              <a:rPr lang="en-IN" smtClean="0"/>
              <a:t>‹#›</a:t>
            </a:fld>
            <a:endParaRPr lang="en-IN"/>
          </a:p>
        </p:txBody>
      </p:sp>
    </p:spTree>
    <p:extLst>
      <p:ext uri="{BB962C8B-B14F-4D97-AF65-F5344CB8AC3E}">
        <p14:creationId xmlns:p14="http://schemas.microsoft.com/office/powerpoint/2010/main" val="3734932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A320E-FEB1-4378-BE8B-0B040C4AEC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F01787-52FD-44C6-8EF1-106A8D67EA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27ED2EE-F654-4624-8A80-4FCC398FA0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73C0389-A74E-42B5-9DC4-B36422487B3D}"/>
              </a:ext>
            </a:extLst>
          </p:cNvPr>
          <p:cNvSpPr>
            <a:spLocks noGrp="1"/>
          </p:cNvSpPr>
          <p:nvPr>
            <p:ph type="dt" sz="half" idx="10"/>
          </p:nvPr>
        </p:nvSpPr>
        <p:spPr/>
        <p:txBody>
          <a:bodyPr/>
          <a:lstStyle/>
          <a:p>
            <a:fld id="{C7DB268E-2318-44FB-A827-7ACDA3E712FD}" type="datetimeFigureOut">
              <a:rPr lang="en-IN" smtClean="0"/>
              <a:t>30/01/24</a:t>
            </a:fld>
            <a:endParaRPr lang="en-IN"/>
          </a:p>
        </p:txBody>
      </p:sp>
      <p:sp>
        <p:nvSpPr>
          <p:cNvPr id="6" name="Footer Placeholder 5">
            <a:extLst>
              <a:ext uri="{FF2B5EF4-FFF2-40B4-BE49-F238E27FC236}">
                <a16:creationId xmlns:a16="http://schemas.microsoft.com/office/drawing/2014/main" id="{AABED983-F493-49F4-91DF-477F3D8B9F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97810F-B688-464F-B9BA-E73BB7FD3FB5}"/>
              </a:ext>
            </a:extLst>
          </p:cNvPr>
          <p:cNvSpPr>
            <a:spLocks noGrp="1"/>
          </p:cNvSpPr>
          <p:nvPr>
            <p:ph type="sldNum" sz="quarter" idx="12"/>
          </p:nvPr>
        </p:nvSpPr>
        <p:spPr/>
        <p:txBody>
          <a:bodyPr/>
          <a:lstStyle/>
          <a:p>
            <a:fld id="{3AA29442-8676-46AB-B1C1-92D5640F0881}" type="slidenum">
              <a:rPr lang="en-IN" smtClean="0"/>
              <a:t>‹#›</a:t>
            </a:fld>
            <a:endParaRPr lang="en-IN"/>
          </a:p>
        </p:txBody>
      </p:sp>
    </p:spTree>
    <p:extLst>
      <p:ext uri="{BB962C8B-B14F-4D97-AF65-F5344CB8AC3E}">
        <p14:creationId xmlns:p14="http://schemas.microsoft.com/office/powerpoint/2010/main" val="853004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B2152-56D1-46FE-9C74-E9DD8AEF1E7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0AA2E6-638B-4983-9CF4-1596739E57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D2FF55-E00A-4FE0-BA81-C20D6D0D5D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84C4FE0-9D9D-481E-9C68-712D1CB630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7DA11F-7F24-47FF-A3A3-B3B86F5FC5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B8C4EE6-F09C-4DAF-A6ED-0395ACE71109}"/>
              </a:ext>
            </a:extLst>
          </p:cNvPr>
          <p:cNvSpPr>
            <a:spLocks noGrp="1"/>
          </p:cNvSpPr>
          <p:nvPr>
            <p:ph type="dt" sz="half" idx="10"/>
          </p:nvPr>
        </p:nvSpPr>
        <p:spPr/>
        <p:txBody>
          <a:bodyPr/>
          <a:lstStyle/>
          <a:p>
            <a:fld id="{C7DB268E-2318-44FB-A827-7ACDA3E712FD}" type="datetimeFigureOut">
              <a:rPr lang="en-IN" smtClean="0"/>
              <a:t>30/01/24</a:t>
            </a:fld>
            <a:endParaRPr lang="en-IN"/>
          </a:p>
        </p:txBody>
      </p:sp>
      <p:sp>
        <p:nvSpPr>
          <p:cNvPr id="8" name="Footer Placeholder 7">
            <a:extLst>
              <a:ext uri="{FF2B5EF4-FFF2-40B4-BE49-F238E27FC236}">
                <a16:creationId xmlns:a16="http://schemas.microsoft.com/office/drawing/2014/main" id="{DC03CB94-7AEE-4E9C-B5B5-51F065ABDF5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0A8ACA0-6770-4BB5-80A2-6DF2818F923D}"/>
              </a:ext>
            </a:extLst>
          </p:cNvPr>
          <p:cNvSpPr>
            <a:spLocks noGrp="1"/>
          </p:cNvSpPr>
          <p:nvPr>
            <p:ph type="sldNum" sz="quarter" idx="12"/>
          </p:nvPr>
        </p:nvSpPr>
        <p:spPr/>
        <p:txBody>
          <a:bodyPr/>
          <a:lstStyle/>
          <a:p>
            <a:fld id="{3AA29442-8676-46AB-B1C1-92D5640F0881}" type="slidenum">
              <a:rPr lang="en-IN" smtClean="0"/>
              <a:t>‹#›</a:t>
            </a:fld>
            <a:endParaRPr lang="en-IN"/>
          </a:p>
        </p:txBody>
      </p:sp>
    </p:spTree>
    <p:extLst>
      <p:ext uri="{BB962C8B-B14F-4D97-AF65-F5344CB8AC3E}">
        <p14:creationId xmlns:p14="http://schemas.microsoft.com/office/powerpoint/2010/main" val="3751905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3E59D-7C43-4576-BD4F-5E90EED4E07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E497D09-6276-47A7-A681-548DEA9AA061}"/>
              </a:ext>
            </a:extLst>
          </p:cNvPr>
          <p:cNvSpPr>
            <a:spLocks noGrp="1"/>
          </p:cNvSpPr>
          <p:nvPr>
            <p:ph type="dt" sz="half" idx="10"/>
          </p:nvPr>
        </p:nvSpPr>
        <p:spPr/>
        <p:txBody>
          <a:bodyPr/>
          <a:lstStyle/>
          <a:p>
            <a:fld id="{C7DB268E-2318-44FB-A827-7ACDA3E712FD}" type="datetimeFigureOut">
              <a:rPr lang="en-IN" smtClean="0"/>
              <a:t>30/01/24</a:t>
            </a:fld>
            <a:endParaRPr lang="en-IN"/>
          </a:p>
        </p:txBody>
      </p:sp>
      <p:sp>
        <p:nvSpPr>
          <p:cNvPr id="4" name="Footer Placeholder 3">
            <a:extLst>
              <a:ext uri="{FF2B5EF4-FFF2-40B4-BE49-F238E27FC236}">
                <a16:creationId xmlns:a16="http://schemas.microsoft.com/office/drawing/2014/main" id="{105304B7-CEEB-4B6D-8CE9-E06EEE43EB3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E96C09E-D7A2-49DC-9D1D-7013EA695A4B}"/>
              </a:ext>
            </a:extLst>
          </p:cNvPr>
          <p:cNvSpPr>
            <a:spLocks noGrp="1"/>
          </p:cNvSpPr>
          <p:nvPr>
            <p:ph type="sldNum" sz="quarter" idx="12"/>
          </p:nvPr>
        </p:nvSpPr>
        <p:spPr/>
        <p:txBody>
          <a:bodyPr/>
          <a:lstStyle/>
          <a:p>
            <a:fld id="{3AA29442-8676-46AB-B1C1-92D5640F0881}" type="slidenum">
              <a:rPr lang="en-IN" smtClean="0"/>
              <a:t>‹#›</a:t>
            </a:fld>
            <a:endParaRPr lang="en-IN"/>
          </a:p>
        </p:txBody>
      </p:sp>
    </p:spTree>
    <p:extLst>
      <p:ext uri="{BB962C8B-B14F-4D97-AF65-F5344CB8AC3E}">
        <p14:creationId xmlns:p14="http://schemas.microsoft.com/office/powerpoint/2010/main" val="1567522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37ABA3-EA88-4D66-9201-3A73691E5DF9}"/>
              </a:ext>
            </a:extLst>
          </p:cNvPr>
          <p:cNvSpPr>
            <a:spLocks noGrp="1"/>
          </p:cNvSpPr>
          <p:nvPr>
            <p:ph type="dt" sz="half" idx="10"/>
          </p:nvPr>
        </p:nvSpPr>
        <p:spPr/>
        <p:txBody>
          <a:bodyPr/>
          <a:lstStyle/>
          <a:p>
            <a:fld id="{C7DB268E-2318-44FB-A827-7ACDA3E712FD}" type="datetimeFigureOut">
              <a:rPr lang="en-IN" smtClean="0"/>
              <a:t>30/01/24</a:t>
            </a:fld>
            <a:endParaRPr lang="en-IN"/>
          </a:p>
        </p:txBody>
      </p:sp>
      <p:sp>
        <p:nvSpPr>
          <p:cNvPr id="3" name="Footer Placeholder 2">
            <a:extLst>
              <a:ext uri="{FF2B5EF4-FFF2-40B4-BE49-F238E27FC236}">
                <a16:creationId xmlns:a16="http://schemas.microsoft.com/office/drawing/2014/main" id="{371BC127-8A68-420E-AD93-24456B27E44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F5E3F87-E365-4AFF-898F-42DBF9E0AC94}"/>
              </a:ext>
            </a:extLst>
          </p:cNvPr>
          <p:cNvSpPr>
            <a:spLocks noGrp="1"/>
          </p:cNvSpPr>
          <p:nvPr>
            <p:ph type="sldNum" sz="quarter" idx="12"/>
          </p:nvPr>
        </p:nvSpPr>
        <p:spPr/>
        <p:txBody>
          <a:bodyPr/>
          <a:lstStyle/>
          <a:p>
            <a:fld id="{3AA29442-8676-46AB-B1C1-92D5640F0881}" type="slidenum">
              <a:rPr lang="en-IN" smtClean="0"/>
              <a:t>‹#›</a:t>
            </a:fld>
            <a:endParaRPr lang="en-IN"/>
          </a:p>
        </p:txBody>
      </p:sp>
    </p:spTree>
    <p:extLst>
      <p:ext uri="{BB962C8B-B14F-4D97-AF65-F5344CB8AC3E}">
        <p14:creationId xmlns:p14="http://schemas.microsoft.com/office/powerpoint/2010/main" val="834235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F8CCA-515B-4D4C-9497-F9C4919459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E390C2F-ED88-49C1-96D8-DB99008A81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954A0D-27C6-4DDF-8B27-78C2D7D489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363090-A79F-462B-983A-D8FCAFEC6F5F}"/>
              </a:ext>
            </a:extLst>
          </p:cNvPr>
          <p:cNvSpPr>
            <a:spLocks noGrp="1"/>
          </p:cNvSpPr>
          <p:nvPr>
            <p:ph type="dt" sz="half" idx="10"/>
          </p:nvPr>
        </p:nvSpPr>
        <p:spPr/>
        <p:txBody>
          <a:bodyPr/>
          <a:lstStyle/>
          <a:p>
            <a:fld id="{C7DB268E-2318-44FB-A827-7ACDA3E712FD}" type="datetimeFigureOut">
              <a:rPr lang="en-IN" smtClean="0"/>
              <a:t>30/01/24</a:t>
            </a:fld>
            <a:endParaRPr lang="en-IN"/>
          </a:p>
        </p:txBody>
      </p:sp>
      <p:sp>
        <p:nvSpPr>
          <p:cNvPr id="6" name="Footer Placeholder 5">
            <a:extLst>
              <a:ext uri="{FF2B5EF4-FFF2-40B4-BE49-F238E27FC236}">
                <a16:creationId xmlns:a16="http://schemas.microsoft.com/office/drawing/2014/main" id="{F6B00C28-4D81-44E4-9F3D-CBDD6919D4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CA1B9D-7186-4AD7-BA04-22E2F2861740}"/>
              </a:ext>
            </a:extLst>
          </p:cNvPr>
          <p:cNvSpPr>
            <a:spLocks noGrp="1"/>
          </p:cNvSpPr>
          <p:nvPr>
            <p:ph type="sldNum" sz="quarter" idx="12"/>
          </p:nvPr>
        </p:nvSpPr>
        <p:spPr/>
        <p:txBody>
          <a:bodyPr/>
          <a:lstStyle/>
          <a:p>
            <a:fld id="{3AA29442-8676-46AB-B1C1-92D5640F0881}" type="slidenum">
              <a:rPr lang="en-IN" smtClean="0"/>
              <a:t>‹#›</a:t>
            </a:fld>
            <a:endParaRPr lang="en-IN"/>
          </a:p>
        </p:txBody>
      </p:sp>
    </p:spTree>
    <p:extLst>
      <p:ext uri="{BB962C8B-B14F-4D97-AF65-F5344CB8AC3E}">
        <p14:creationId xmlns:p14="http://schemas.microsoft.com/office/powerpoint/2010/main" val="130783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9B393-83D7-4DDF-AF91-CC32D78907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B56DFD6-7A8B-49C1-A5ED-F43AA46608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E548027-B229-4BCA-930E-25AD8BEE0C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B3B929-A30C-441C-948B-8AE06C8FB3D1}"/>
              </a:ext>
            </a:extLst>
          </p:cNvPr>
          <p:cNvSpPr>
            <a:spLocks noGrp="1"/>
          </p:cNvSpPr>
          <p:nvPr>
            <p:ph type="dt" sz="half" idx="10"/>
          </p:nvPr>
        </p:nvSpPr>
        <p:spPr/>
        <p:txBody>
          <a:bodyPr/>
          <a:lstStyle/>
          <a:p>
            <a:fld id="{C7DB268E-2318-44FB-A827-7ACDA3E712FD}" type="datetimeFigureOut">
              <a:rPr lang="en-IN" smtClean="0"/>
              <a:t>30/01/24</a:t>
            </a:fld>
            <a:endParaRPr lang="en-IN"/>
          </a:p>
        </p:txBody>
      </p:sp>
      <p:sp>
        <p:nvSpPr>
          <p:cNvPr id="6" name="Footer Placeholder 5">
            <a:extLst>
              <a:ext uri="{FF2B5EF4-FFF2-40B4-BE49-F238E27FC236}">
                <a16:creationId xmlns:a16="http://schemas.microsoft.com/office/drawing/2014/main" id="{0D0FA375-114E-4D3D-9AB8-8C095C0815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EC8154-94A4-4001-AD46-DD26BC82FA70}"/>
              </a:ext>
            </a:extLst>
          </p:cNvPr>
          <p:cNvSpPr>
            <a:spLocks noGrp="1"/>
          </p:cNvSpPr>
          <p:nvPr>
            <p:ph type="sldNum" sz="quarter" idx="12"/>
          </p:nvPr>
        </p:nvSpPr>
        <p:spPr/>
        <p:txBody>
          <a:bodyPr/>
          <a:lstStyle/>
          <a:p>
            <a:fld id="{3AA29442-8676-46AB-B1C1-92D5640F0881}" type="slidenum">
              <a:rPr lang="en-IN" smtClean="0"/>
              <a:t>‹#›</a:t>
            </a:fld>
            <a:endParaRPr lang="en-IN"/>
          </a:p>
        </p:txBody>
      </p:sp>
    </p:spTree>
    <p:extLst>
      <p:ext uri="{BB962C8B-B14F-4D97-AF65-F5344CB8AC3E}">
        <p14:creationId xmlns:p14="http://schemas.microsoft.com/office/powerpoint/2010/main" val="3081476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08FD2-2DB0-44F7-8449-AB3F900053F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4C8F6F2-DE13-4EA9-91A4-37418CBAEB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D3B39D-D94F-4822-9632-70EEABEC7BD2}"/>
              </a:ext>
            </a:extLst>
          </p:cNvPr>
          <p:cNvSpPr>
            <a:spLocks noGrp="1"/>
          </p:cNvSpPr>
          <p:nvPr>
            <p:ph type="dt" sz="half" idx="10"/>
          </p:nvPr>
        </p:nvSpPr>
        <p:spPr/>
        <p:txBody>
          <a:bodyPr/>
          <a:lstStyle/>
          <a:p>
            <a:fld id="{C7DB268E-2318-44FB-A827-7ACDA3E712FD}" type="datetimeFigureOut">
              <a:rPr lang="en-IN" smtClean="0"/>
              <a:t>30/01/24</a:t>
            </a:fld>
            <a:endParaRPr lang="en-IN"/>
          </a:p>
        </p:txBody>
      </p:sp>
      <p:sp>
        <p:nvSpPr>
          <p:cNvPr id="5" name="Footer Placeholder 4">
            <a:extLst>
              <a:ext uri="{FF2B5EF4-FFF2-40B4-BE49-F238E27FC236}">
                <a16:creationId xmlns:a16="http://schemas.microsoft.com/office/drawing/2014/main" id="{0CD860DE-7204-44C0-B2E0-4F2CF4F7A2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A116B9-50CF-4FDD-B744-CA3742F81808}"/>
              </a:ext>
            </a:extLst>
          </p:cNvPr>
          <p:cNvSpPr>
            <a:spLocks noGrp="1"/>
          </p:cNvSpPr>
          <p:nvPr>
            <p:ph type="sldNum" sz="quarter" idx="12"/>
          </p:nvPr>
        </p:nvSpPr>
        <p:spPr/>
        <p:txBody>
          <a:bodyPr/>
          <a:lstStyle/>
          <a:p>
            <a:fld id="{3AA29442-8676-46AB-B1C1-92D5640F0881}" type="slidenum">
              <a:rPr lang="en-IN" smtClean="0"/>
              <a:t>‹#›</a:t>
            </a:fld>
            <a:endParaRPr lang="en-IN"/>
          </a:p>
        </p:txBody>
      </p:sp>
    </p:spTree>
    <p:extLst>
      <p:ext uri="{BB962C8B-B14F-4D97-AF65-F5344CB8AC3E}">
        <p14:creationId xmlns:p14="http://schemas.microsoft.com/office/powerpoint/2010/main" val="3816132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99B731-221F-4B78-B4D6-33282DCD710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7258A2-847A-45E4-92D0-B86E6B0A00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9E9EDA-C87C-4507-8F3B-3FB734A5C589}"/>
              </a:ext>
            </a:extLst>
          </p:cNvPr>
          <p:cNvSpPr>
            <a:spLocks noGrp="1"/>
          </p:cNvSpPr>
          <p:nvPr>
            <p:ph type="dt" sz="half" idx="10"/>
          </p:nvPr>
        </p:nvSpPr>
        <p:spPr/>
        <p:txBody>
          <a:bodyPr/>
          <a:lstStyle/>
          <a:p>
            <a:fld id="{C7DB268E-2318-44FB-A827-7ACDA3E712FD}" type="datetimeFigureOut">
              <a:rPr lang="en-IN" smtClean="0"/>
              <a:t>30/01/24</a:t>
            </a:fld>
            <a:endParaRPr lang="en-IN"/>
          </a:p>
        </p:txBody>
      </p:sp>
      <p:sp>
        <p:nvSpPr>
          <p:cNvPr id="5" name="Footer Placeholder 4">
            <a:extLst>
              <a:ext uri="{FF2B5EF4-FFF2-40B4-BE49-F238E27FC236}">
                <a16:creationId xmlns:a16="http://schemas.microsoft.com/office/drawing/2014/main" id="{E0EE47B2-580B-4F27-BDEB-ADF60D1CD8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4D1D21-D9DD-4E0A-B622-85626606903E}"/>
              </a:ext>
            </a:extLst>
          </p:cNvPr>
          <p:cNvSpPr>
            <a:spLocks noGrp="1"/>
          </p:cNvSpPr>
          <p:nvPr>
            <p:ph type="sldNum" sz="quarter" idx="12"/>
          </p:nvPr>
        </p:nvSpPr>
        <p:spPr/>
        <p:txBody>
          <a:bodyPr/>
          <a:lstStyle/>
          <a:p>
            <a:fld id="{3AA29442-8676-46AB-B1C1-92D5640F0881}" type="slidenum">
              <a:rPr lang="en-IN" smtClean="0"/>
              <a:t>‹#›</a:t>
            </a:fld>
            <a:endParaRPr lang="en-IN"/>
          </a:p>
        </p:txBody>
      </p:sp>
    </p:spTree>
    <p:extLst>
      <p:ext uri="{BB962C8B-B14F-4D97-AF65-F5344CB8AC3E}">
        <p14:creationId xmlns:p14="http://schemas.microsoft.com/office/powerpoint/2010/main" val="2287759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C34343-E7FC-4635-AFD4-365144A2B7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B18C89-0731-4C31-9E65-36A16095BD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6BBCDB-A58B-4D3E-A80B-31B0621122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DB268E-2318-44FB-A827-7ACDA3E712FD}" type="datetimeFigureOut">
              <a:rPr lang="en-IN" smtClean="0"/>
              <a:t>30/01/24</a:t>
            </a:fld>
            <a:endParaRPr lang="en-IN"/>
          </a:p>
        </p:txBody>
      </p:sp>
      <p:sp>
        <p:nvSpPr>
          <p:cNvPr id="5" name="Footer Placeholder 4">
            <a:extLst>
              <a:ext uri="{FF2B5EF4-FFF2-40B4-BE49-F238E27FC236}">
                <a16:creationId xmlns:a16="http://schemas.microsoft.com/office/drawing/2014/main" id="{D34B2D77-55E2-4F3B-91D3-7B3570A23E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B285ADD-AD78-427E-A812-C1E40EDBA6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A29442-8676-46AB-B1C1-92D5640F0881}" type="slidenum">
              <a:rPr lang="en-IN" smtClean="0"/>
              <a:t>‹#›</a:t>
            </a:fld>
            <a:endParaRPr lang="en-IN"/>
          </a:p>
        </p:txBody>
      </p:sp>
    </p:spTree>
    <p:extLst>
      <p:ext uri="{BB962C8B-B14F-4D97-AF65-F5344CB8AC3E}">
        <p14:creationId xmlns:p14="http://schemas.microsoft.com/office/powerpoint/2010/main" val="1169807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44DFD7-E78E-42DA-A1FE-100828ADBD14}"/>
              </a:ext>
            </a:extLst>
          </p:cNvPr>
          <p:cNvSpPr>
            <a:spLocks noGrp="1"/>
          </p:cNvSpPr>
          <p:nvPr>
            <p:ph type="ctrTitle"/>
          </p:nvPr>
        </p:nvSpPr>
        <p:spPr>
          <a:xfrm>
            <a:off x="1297517" y="1566334"/>
            <a:ext cx="7766936" cy="1646302"/>
          </a:xfrm>
        </p:spPr>
        <p:txBody>
          <a:bodyPr>
            <a:normAutofit/>
          </a:bodyPr>
          <a:lstStyle/>
          <a:p>
            <a:r>
              <a:rPr lang="en-US" sz="3100" dirty="0"/>
              <a:t>Module -1 (Overview of algorithms)</a:t>
            </a:r>
            <a:br>
              <a:rPr lang="en-US" sz="3100" dirty="0"/>
            </a:br>
            <a:br>
              <a:rPr lang="en-US" sz="2800" dirty="0"/>
            </a:br>
            <a:endParaRPr lang="en-IN" sz="2800" dirty="0"/>
          </a:p>
        </p:txBody>
      </p:sp>
      <p:sp>
        <p:nvSpPr>
          <p:cNvPr id="5" name="Subtitle 4">
            <a:extLst>
              <a:ext uri="{FF2B5EF4-FFF2-40B4-BE49-F238E27FC236}">
                <a16:creationId xmlns:a16="http://schemas.microsoft.com/office/drawing/2014/main" id="{D718CEE2-5954-4609-826A-7625020AF266}"/>
              </a:ext>
            </a:extLst>
          </p:cNvPr>
          <p:cNvSpPr>
            <a:spLocks noGrp="1"/>
          </p:cNvSpPr>
          <p:nvPr>
            <p:ph type="subTitle" idx="1"/>
          </p:nvPr>
        </p:nvSpPr>
        <p:spPr/>
        <p:txBody>
          <a:bodyPr>
            <a:noAutofit/>
          </a:bodyPr>
          <a:lstStyle/>
          <a:p>
            <a:r>
              <a:rPr lang="en-US" sz="2400" dirty="0">
                <a:solidFill>
                  <a:schemeClr val="tx1"/>
                </a:solidFill>
              </a:rPr>
              <a:t>Prepared by</a:t>
            </a:r>
          </a:p>
          <a:p>
            <a:r>
              <a:rPr lang="en-US" sz="2400" dirty="0" err="1">
                <a:solidFill>
                  <a:schemeClr val="tx1"/>
                </a:solidFill>
              </a:rPr>
              <a:t>Dr.S.Jenicka</a:t>
            </a:r>
            <a:endParaRPr lang="en-US" sz="2400" dirty="0">
              <a:solidFill>
                <a:schemeClr val="tx1"/>
              </a:solidFill>
            </a:endParaRPr>
          </a:p>
          <a:p>
            <a:r>
              <a:rPr lang="en-US" sz="2400" dirty="0">
                <a:solidFill>
                  <a:schemeClr val="tx1"/>
                </a:solidFill>
              </a:rPr>
              <a:t>Associate professor grade </a:t>
            </a:r>
            <a:r>
              <a:rPr lang="en-US" dirty="0"/>
              <a:t>1</a:t>
            </a:r>
            <a:endParaRPr lang="en-US" sz="2400" dirty="0">
              <a:solidFill>
                <a:schemeClr val="tx1"/>
              </a:solidFill>
            </a:endParaRPr>
          </a:p>
          <a:p>
            <a:r>
              <a:rPr lang="en-US" sz="2400" dirty="0">
                <a:solidFill>
                  <a:schemeClr val="tx1"/>
                </a:solidFill>
              </a:rPr>
              <a:t>SCOPE-Analytics</a:t>
            </a:r>
          </a:p>
          <a:p>
            <a:r>
              <a:rPr lang="en-US" sz="2400" dirty="0">
                <a:solidFill>
                  <a:schemeClr val="tx1"/>
                </a:solidFill>
              </a:rPr>
              <a:t>VIT Vellore</a:t>
            </a:r>
            <a:endParaRPr lang="en-IN" sz="2400" dirty="0">
              <a:solidFill>
                <a:schemeClr val="tx1"/>
              </a:solidFill>
            </a:endParaRPr>
          </a:p>
        </p:txBody>
      </p:sp>
    </p:spTree>
    <p:extLst>
      <p:ext uri="{BB962C8B-B14F-4D97-AF65-F5344CB8AC3E}">
        <p14:creationId xmlns:p14="http://schemas.microsoft.com/office/powerpoint/2010/main" val="1604498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8CA28-D3E9-4633-9ACE-C856A73B1F0A}"/>
              </a:ext>
            </a:extLst>
          </p:cNvPr>
          <p:cNvSpPr>
            <a:spLocks noGrp="1"/>
          </p:cNvSpPr>
          <p:nvPr>
            <p:ph type="title"/>
          </p:nvPr>
        </p:nvSpPr>
        <p:spPr/>
        <p:txBody>
          <a:bodyPr/>
          <a:lstStyle/>
          <a:p>
            <a:r>
              <a:rPr lang="en-US" dirty="0"/>
              <a:t>Problem solving</a:t>
            </a:r>
            <a:endParaRPr lang="en-IN" dirty="0"/>
          </a:p>
        </p:txBody>
      </p:sp>
      <p:sp>
        <p:nvSpPr>
          <p:cNvPr id="4" name="TextBox 3">
            <a:extLst>
              <a:ext uri="{FF2B5EF4-FFF2-40B4-BE49-F238E27FC236}">
                <a16:creationId xmlns:a16="http://schemas.microsoft.com/office/drawing/2014/main" id="{54087325-DE45-44DB-BBFC-BEDBEFB68F24}"/>
              </a:ext>
            </a:extLst>
          </p:cNvPr>
          <p:cNvSpPr txBox="1"/>
          <p:nvPr/>
        </p:nvSpPr>
        <p:spPr>
          <a:xfrm>
            <a:off x="376237" y="1690688"/>
            <a:ext cx="11439525" cy="3600986"/>
          </a:xfrm>
          <a:prstGeom prst="rect">
            <a:avLst/>
          </a:prstGeom>
          <a:noFill/>
        </p:spPr>
        <p:txBody>
          <a:bodyPr wrap="square">
            <a:spAutoFit/>
          </a:bodyPr>
          <a:lstStyle/>
          <a:p>
            <a:pPr marL="342900" indent="-342900" algn="l">
              <a:buFont typeface="+mj-lt"/>
              <a:buAutoNum type="arabicPeriod"/>
            </a:pPr>
            <a:r>
              <a:rPr lang="en-US" sz="3200" b="0" i="0" dirty="0">
                <a:solidFill>
                  <a:srgbClr val="202124"/>
                </a:solidFill>
                <a:effectLst/>
              </a:rPr>
              <a:t>Identify and define the problem. </a:t>
            </a:r>
            <a:endParaRPr lang="en-US" sz="3200" dirty="0">
              <a:solidFill>
                <a:srgbClr val="202124"/>
              </a:solidFill>
            </a:endParaRPr>
          </a:p>
          <a:p>
            <a:pPr marL="342900" indent="-342900" algn="l">
              <a:buFont typeface="+mj-lt"/>
              <a:buAutoNum type="arabicPeriod"/>
            </a:pPr>
            <a:r>
              <a:rPr lang="en-US" sz="3200" b="0" i="0" dirty="0">
                <a:solidFill>
                  <a:srgbClr val="202124"/>
                </a:solidFill>
                <a:effectLst/>
              </a:rPr>
              <a:t>Generate possible solutions. </a:t>
            </a:r>
          </a:p>
          <a:p>
            <a:pPr marL="342900" indent="-342900" algn="l">
              <a:buFont typeface="+mj-lt"/>
              <a:buAutoNum type="arabicPeriod"/>
            </a:pPr>
            <a:r>
              <a:rPr lang="en-US" sz="3200" b="0" i="0" dirty="0">
                <a:solidFill>
                  <a:srgbClr val="202124"/>
                </a:solidFill>
                <a:effectLst/>
              </a:rPr>
              <a:t>Evaluate alternatives. </a:t>
            </a:r>
          </a:p>
          <a:p>
            <a:pPr marL="342900" indent="-342900" algn="l">
              <a:buFont typeface="+mj-lt"/>
              <a:buAutoNum type="arabicPeriod"/>
            </a:pPr>
            <a:r>
              <a:rPr lang="en-US" sz="3200" b="0" i="0" dirty="0">
                <a:solidFill>
                  <a:srgbClr val="202124"/>
                </a:solidFill>
                <a:effectLst/>
              </a:rPr>
              <a:t>Decide on a solution. </a:t>
            </a:r>
          </a:p>
          <a:p>
            <a:pPr marL="342900" indent="-342900" algn="l">
              <a:buFont typeface="+mj-lt"/>
              <a:buAutoNum type="arabicPeriod"/>
            </a:pPr>
            <a:r>
              <a:rPr lang="en-US" sz="3200" b="0" i="0" dirty="0">
                <a:solidFill>
                  <a:srgbClr val="202124"/>
                </a:solidFill>
                <a:effectLst/>
              </a:rPr>
              <a:t>Implement the solution. </a:t>
            </a:r>
          </a:p>
          <a:p>
            <a:pPr marL="342900" indent="-342900" algn="l">
              <a:buFont typeface="+mj-lt"/>
              <a:buAutoNum type="arabicPeriod"/>
            </a:pPr>
            <a:r>
              <a:rPr lang="en-US" sz="3200" b="0" i="0" dirty="0">
                <a:solidFill>
                  <a:srgbClr val="202124"/>
                </a:solidFill>
                <a:effectLst/>
              </a:rPr>
              <a:t>Evaluate the outcome.</a:t>
            </a:r>
          </a:p>
          <a:p>
            <a:br>
              <a:rPr lang="en-US" b="0" i="0" dirty="0">
                <a:solidFill>
                  <a:srgbClr val="202124"/>
                </a:solidFill>
                <a:effectLst/>
              </a:rPr>
            </a:br>
            <a:endParaRPr lang="en-IN" dirty="0"/>
          </a:p>
        </p:txBody>
      </p:sp>
    </p:spTree>
    <p:extLst>
      <p:ext uri="{BB962C8B-B14F-4D97-AF65-F5344CB8AC3E}">
        <p14:creationId xmlns:p14="http://schemas.microsoft.com/office/powerpoint/2010/main" val="3023806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0B9B2-4413-4FFA-B32D-9A28DA978FB2}"/>
              </a:ext>
            </a:extLst>
          </p:cNvPr>
          <p:cNvSpPr>
            <a:spLocks noGrp="1"/>
          </p:cNvSpPr>
          <p:nvPr>
            <p:ph type="title"/>
          </p:nvPr>
        </p:nvSpPr>
        <p:spPr/>
        <p:txBody>
          <a:bodyPr/>
          <a:lstStyle/>
          <a:p>
            <a:r>
              <a:rPr lang="en-US" dirty="0"/>
              <a:t>What are problem solving tools?</a:t>
            </a:r>
            <a:endParaRPr lang="en-IN" dirty="0"/>
          </a:p>
        </p:txBody>
      </p:sp>
      <p:pic>
        <p:nvPicPr>
          <p:cNvPr id="6" name="Google Shape;171;p25">
            <a:extLst>
              <a:ext uri="{FF2B5EF4-FFF2-40B4-BE49-F238E27FC236}">
                <a16:creationId xmlns:a16="http://schemas.microsoft.com/office/drawing/2014/main" id="{E3F0F5B8-0304-435D-8879-1F144EEFAD74}"/>
              </a:ext>
            </a:extLst>
          </p:cNvPr>
          <p:cNvPicPr preferRelativeResize="0"/>
          <p:nvPr/>
        </p:nvPicPr>
        <p:blipFill rotWithShape="1">
          <a:blip r:embed="rId2">
            <a:alphaModFix/>
          </a:blip>
          <a:srcRect/>
          <a:stretch/>
        </p:blipFill>
        <p:spPr>
          <a:xfrm>
            <a:off x="1243112" y="1519808"/>
            <a:ext cx="4418226" cy="4353039"/>
          </a:xfrm>
          <a:prstGeom prst="rect">
            <a:avLst/>
          </a:prstGeom>
          <a:noFill/>
          <a:ln>
            <a:noFill/>
          </a:ln>
        </p:spPr>
      </p:pic>
      <p:sp>
        <p:nvSpPr>
          <p:cNvPr id="7" name="TextBox 6">
            <a:extLst>
              <a:ext uri="{FF2B5EF4-FFF2-40B4-BE49-F238E27FC236}">
                <a16:creationId xmlns:a16="http://schemas.microsoft.com/office/drawing/2014/main" id="{7CFA92CD-8237-477C-B37F-593C7741BA3F}"/>
              </a:ext>
            </a:extLst>
          </p:cNvPr>
          <p:cNvSpPr txBox="1"/>
          <p:nvPr/>
        </p:nvSpPr>
        <p:spPr>
          <a:xfrm>
            <a:off x="1939176" y="5892055"/>
            <a:ext cx="1385050" cy="369332"/>
          </a:xfrm>
          <a:prstGeom prst="rect">
            <a:avLst/>
          </a:prstGeom>
          <a:noFill/>
        </p:spPr>
        <p:txBody>
          <a:bodyPr wrap="square">
            <a:spAutoFit/>
          </a:bodyPr>
          <a:lstStyle/>
          <a:p>
            <a:r>
              <a:rPr lang="en-US" sz="1800" dirty="0"/>
              <a:t>4. Program</a:t>
            </a:r>
            <a:endParaRPr lang="en-IN" sz="1800" dirty="0"/>
          </a:p>
        </p:txBody>
      </p:sp>
      <p:sp>
        <p:nvSpPr>
          <p:cNvPr id="9" name="TextBox 8">
            <a:extLst>
              <a:ext uri="{FF2B5EF4-FFF2-40B4-BE49-F238E27FC236}">
                <a16:creationId xmlns:a16="http://schemas.microsoft.com/office/drawing/2014/main" id="{36C5A5D0-1716-412E-852F-13644C8B6E39}"/>
              </a:ext>
            </a:extLst>
          </p:cNvPr>
          <p:cNvSpPr txBox="1"/>
          <p:nvPr/>
        </p:nvSpPr>
        <p:spPr>
          <a:xfrm>
            <a:off x="4735795" y="3836005"/>
            <a:ext cx="1851086" cy="369332"/>
          </a:xfrm>
          <a:prstGeom prst="rect">
            <a:avLst/>
          </a:prstGeom>
          <a:noFill/>
        </p:spPr>
        <p:txBody>
          <a:bodyPr wrap="square">
            <a:spAutoFit/>
          </a:bodyPr>
          <a:lstStyle/>
          <a:p>
            <a:pPr marL="342900" indent="-342900">
              <a:buAutoNum type="arabicPeriod"/>
            </a:pPr>
            <a:r>
              <a:rPr lang="en-US" sz="1800" dirty="0"/>
              <a:t>Flow chart</a:t>
            </a:r>
          </a:p>
        </p:txBody>
      </p:sp>
      <p:sp>
        <p:nvSpPr>
          <p:cNvPr id="11" name="TextBox 10">
            <a:extLst>
              <a:ext uri="{FF2B5EF4-FFF2-40B4-BE49-F238E27FC236}">
                <a16:creationId xmlns:a16="http://schemas.microsoft.com/office/drawing/2014/main" id="{E6CDEA3F-3720-47F6-BA34-2DEDB8CB917A}"/>
              </a:ext>
            </a:extLst>
          </p:cNvPr>
          <p:cNvSpPr txBox="1"/>
          <p:nvPr/>
        </p:nvSpPr>
        <p:spPr>
          <a:xfrm>
            <a:off x="3939057" y="4601433"/>
            <a:ext cx="1593476" cy="369332"/>
          </a:xfrm>
          <a:prstGeom prst="rect">
            <a:avLst/>
          </a:prstGeom>
          <a:noFill/>
        </p:spPr>
        <p:txBody>
          <a:bodyPr wrap="square">
            <a:spAutoFit/>
          </a:bodyPr>
          <a:lstStyle/>
          <a:p>
            <a:r>
              <a:rPr lang="en-US" sz="1800" dirty="0"/>
              <a:t>2. Algorithm</a:t>
            </a:r>
          </a:p>
        </p:txBody>
      </p:sp>
      <p:sp>
        <p:nvSpPr>
          <p:cNvPr id="13" name="TextBox 12">
            <a:extLst>
              <a:ext uri="{FF2B5EF4-FFF2-40B4-BE49-F238E27FC236}">
                <a16:creationId xmlns:a16="http://schemas.microsoft.com/office/drawing/2014/main" id="{3A30B98A-732B-4CC6-9B6A-398A8DAD5193}"/>
              </a:ext>
            </a:extLst>
          </p:cNvPr>
          <p:cNvSpPr txBox="1"/>
          <p:nvPr/>
        </p:nvSpPr>
        <p:spPr>
          <a:xfrm>
            <a:off x="2763371" y="5339077"/>
            <a:ext cx="1851086" cy="369332"/>
          </a:xfrm>
          <a:prstGeom prst="rect">
            <a:avLst/>
          </a:prstGeom>
          <a:noFill/>
        </p:spPr>
        <p:txBody>
          <a:bodyPr wrap="square">
            <a:spAutoFit/>
          </a:bodyPr>
          <a:lstStyle/>
          <a:p>
            <a:r>
              <a:rPr lang="en-US" sz="1800" dirty="0"/>
              <a:t>3. Pseudocode</a:t>
            </a:r>
          </a:p>
        </p:txBody>
      </p:sp>
    </p:spTree>
    <p:extLst>
      <p:ext uri="{BB962C8B-B14F-4D97-AF65-F5344CB8AC3E}">
        <p14:creationId xmlns:p14="http://schemas.microsoft.com/office/powerpoint/2010/main" val="3887480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8381E-11E1-48B5-A262-049EB6EF2426}"/>
              </a:ext>
            </a:extLst>
          </p:cNvPr>
          <p:cNvSpPr>
            <a:spLocks noGrp="1"/>
          </p:cNvSpPr>
          <p:nvPr>
            <p:ph type="title"/>
          </p:nvPr>
        </p:nvSpPr>
        <p:spPr/>
        <p:txBody>
          <a:bodyPr/>
          <a:lstStyle/>
          <a:p>
            <a:r>
              <a:rPr lang="en-US" dirty="0"/>
              <a:t>Algorithm</a:t>
            </a:r>
            <a:endParaRPr lang="en-IN" dirty="0"/>
          </a:p>
        </p:txBody>
      </p:sp>
      <p:sp>
        <p:nvSpPr>
          <p:cNvPr id="4" name="TextBox 3">
            <a:extLst>
              <a:ext uri="{FF2B5EF4-FFF2-40B4-BE49-F238E27FC236}">
                <a16:creationId xmlns:a16="http://schemas.microsoft.com/office/drawing/2014/main" id="{B9964D55-2095-4FF6-A7C7-395C59FEA471}"/>
              </a:ext>
            </a:extLst>
          </p:cNvPr>
          <p:cNvSpPr txBox="1"/>
          <p:nvPr/>
        </p:nvSpPr>
        <p:spPr>
          <a:xfrm>
            <a:off x="176981" y="1322874"/>
            <a:ext cx="11462569" cy="3671646"/>
          </a:xfrm>
          <a:prstGeom prst="rect">
            <a:avLst/>
          </a:prstGeom>
          <a:noFill/>
        </p:spPr>
        <p:txBody>
          <a:bodyPr wrap="square">
            <a:spAutoFit/>
          </a:bodyPr>
          <a:lstStyle/>
          <a:p>
            <a:pPr algn="just">
              <a:lnSpc>
                <a:spcPct val="200000"/>
              </a:lnSpc>
            </a:pPr>
            <a:r>
              <a:rPr lang="en-US" sz="2400" dirty="0"/>
              <a:t>An algorithm is a sequence of unambiguous </a:t>
            </a:r>
          </a:p>
          <a:p>
            <a:pPr algn="just">
              <a:lnSpc>
                <a:spcPct val="200000"/>
              </a:lnSpc>
            </a:pPr>
            <a:r>
              <a:rPr lang="en-US" sz="2400" dirty="0"/>
              <a:t>instructions for solving a problem, i.e., for obtaining a required output for any legitimate input in a finite amount of time.</a:t>
            </a:r>
          </a:p>
          <a:p>
            <a:pPr algn="just">
              <a:lnSpc>
                <a:spcPct val="200000"/>
              </a:lnSpc>
            </a:pPr>
            <a:r>
              <a:rPr lang="en-US" sz="2400" dirty="0"/>
              <a:t>An algorithm is a sequence of computational steps ( a well defined computational procedure) that transform the input to output.</a:t>
            </a:r>
            <a:endParaRPr lang="en-IN" sz="2400" dirty="0"/>
          </a:p>
        </p:txBody>
      </p:sp>
    </p:spTree>
    <p:extLst>
      <p:ext uri="{BB962C8B-B14F-4D97-AF65-F5344CB8AC3E}">
        <p14:creationId xmlns:p14="http://schemas.microsoft.com/office/powerpoint/2010/main" val="4114861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AB13D-A558-42FE-9598-B4A83596DB74}"/>
              </a:ext>
            </a:extLst>
          </p:cNvPr>
          <p:cNvSpPr>
            <a:spLocks noGrp="1"/>
          </p:cNvSpPr>
          <p:nvPr>
            <p:ph type="title"/>
          </p:nvPr>
        </p:nvSpPr>
        <p:spPr>
          <a:xfrm>
            <a:off x="470806" y="179343"/>
            <a:ext cx="10515600" cy="1325563"/>
          </a:xfrm>
        </p:spPr>
        <p:txBody>
          <a:bodyPr/>
          <a:lstStyle/>
          <a:p>
            <a:r>
              <a:rPr lang="en-US" dirty="0"/>
              <a:t>Algorithm -</a:t>
            </a:r>
            <a:r>
              <a:rPr lang="en-US" dirty="0" err="1"/>
              <a:t>contd</a:t>
            </a:r>
            <a:endParaRPr lang="en-IN" dirty="0"/>
          </a:p>
        </p:txBody>
      </p:sp>
      <p:sp>
        <p:nvSpPr>
          <p:cNvPr id="3" name="TextBox 2">
            <a:extLst>
              <a:ext uri="{FF2B5EF4-FFF2-40B4-BE49-F238E27FC236}">
                <a16:creationId xmlns:a16="http://schemas.microsoft.com/office/drawing/2014/main" id="{B952AB8A-A4F4-4730-94CF-CD70D0AF2D8A}"/>
              </a:ext>
            </a:extLst>
          </p:cNvPr>
          <p:cNvSpPr txBox="1"/>
          <p:nvPr/>
        </p:nvSpPr>
        <p:spPr>
          <a:xfrm flipH="1">
            <a:off x="470806" y="1201452"/>
            <a:ext cx="11250387" cy="2932982"/>
          </a:xfrm>
          <a:prstGeom prst="rect">
            <a:avLst/>
          </a:prstGeom>
          <a:noFill/>
        </p:spPr>
        <p:txBody>
          <a:bodyPr wrap="square" rtlCol="0">
            <a:spAutoFit/>
          </a:bodyPr>
          <a:lstStyle/>
          <a:p>
            <a:pPr>
              <a:lnSpc>
                <a:spcPct val="200000"/>
              </a:lnSpc>
            </a:pPr>
            <a:r>
              <a:rPr lang="en-US" sz="2400" b="1" dirty="0"/>
              <a:t>Sorting algorithm</a:t>
            </a:r>
          </a:p>
          <a:p>
            <a:pPr>
              <a:lnSpc>
                <a:spcPct val="200000"/>
              </a:lnSpc>
            </a:pPr>
            <a:r>
              <a:rPr lang="en-US" sz="2400" b="1" dirty="0"/>
              <a:t>Input: </a:t>
            </a:r>
            <a:r>
              <a:rPr lang="en-US" sz="2400" dirty="0"/>
              <a:t>A sequence of numbers (56,47,23,89,90)</a:t>
            </a:r>
          </a:p>
          <a:p>
            <a:pPr>
              <a:lnSpc>
                <a:spcPct val="200000"/>
              </a:lnSpc>
            </a:pPr>
            <a:r>
              <a:rPr lang="en-US" sz="2400" b="1" dirty="0"/>
              <a:t>Output: </a:t>
            </a:r>
            <a:r>
              <a:rPr lang="en-US" sz="2400" dirty="0"/>
              <a:t>A sorted list (23,47,56,89,90)</a:t>
            </a:r>
          </a:p>
          <a:p>
            <a:pPr>
              <a:lnSpc>
                <a:spcPct val="200000"/>
              </a:lnSpc>
            </a:pPr>
            <a:r>
              <a:rPr lang="en-US" sz="2400" b="1" dirty="0"/>
              <a:t>Instance of a problem</a:t>
            </a:r>
            <a:r>
              <a:rPr lang="en-US" sz="2400" dirty="0"/>
              <a:t>: It consists of the input sequence to the sorting problem</a:t>
            </a:r>
            <a:endParaRPr lang="en-IN" sz="2400" dirty="0"/>
          </a:p>
        </p:txBody>
      </p:sp>
    </p:spTree>
    <p:extLst>
      <p:ext uri="{BB962C8B-B14F-4D97-AF65-F5344CB8AC3E}">
        <p14:creationId xmlns:p14="http://schemas.microsoft.com/office/powerpoint/2010/main" val="542705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7130F-5AB5-4A01-8514-1F71AF05DA07}"/>
              </a:ext>
            </a:extLst>
          </p:cNvPr>
          <p:cNvSpPr>
            <a:spLocks noGrp="1"/>
          </p:cNvSpPr>
          <p:nvPr>
            <p:ph type="title"/>
          </p:nvPr>
        </p:nvSpPr>
        <p:spPr/>
        <p:txBody>
          <a:bodyPr/>
          <a:lstStyle/>
          <a:p>
            <a:r>
              <a:rPr lang="en-US" dirty="0"/>
              <a:t>Types of algorithms</a:t>
            </a:r>
            <a:endParaRPr lang="en-IN" dirty="0"/>
          </a:p>
        </p:txBody>
      </p:sp>
      <p:graphicFrame>
        <p:nvGraphicFramePr>
          <p:cNvPr id="3" name="Diagram 2">
            <a:extLst>
              <a:ext uri="{FF2B5EF4-FFF2-40B4-BE49-F238E27FC236}">
                <a16:creationId xmlns:a16="http://schemas.microsoft.com/office/drawing/2014/main" id="{341EDEEC-D3B2-43FB-B050-A7678846F927}"/>
              </a:ext>
            </a:extLst>
          </p:cNvPr>
          <p:cNvGraphicFramePr/>
          <p:nvPr/>
        </p:nvGraphicFramePr>
        <p:xfrm>
          <a:off x="1118832" y="1562100"/>
          <a:ext cx="8596668" cy="36332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18150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C4100-68E1-4D17-ABA3-06B7846C2033}"/>
              </a:ext>
            </a:extLst>
          </p:cNvPr>
          <p:cNvSpPr>
            <a:spLocks noGrp="1"/>
          </p:cNvSpPr>
          <p:nvPr>
            <p:ph type="title"/>
          </p:nvPr>
        </p:nvSpPr>
        <p:spPr/>
        <p:txBody>
          <a:bodyPr>
            <a:normAutofit/>
          </a:bodyPr>
          <a:lstStyle/>
          <a:p>
            <a:r>
              <a:rPr lang="en-US" dirty="0"/>
              <a:t>Euclid’s algorithm for finding GCD of 2 numbers (non recursive or iterative)</a:t>
            </a:r>
            <a:endParaRPr lang="en-IN" dirty="0"/>
          </a:p>
        </p:txBody>
      </p:sp>
      <p:sp>
        <p:nvSpPr>
          <p:cNvPr id="3" name="Content Placeholder 2">
            <a:extLst>
              <a:ext uri="{FF2B5EF4-FFF2-40B4-BE49-F238E27FC236}">
                <a16:creationId xmlns:a16="http://schemas.microsoft.com/office/drawing/2014/main" id="{08620B86-942B-484D-927E-0CDBECCC0717}"/>
              </a:ext>
            </a:extLst>
          </p:cNvPr>
          <p:cNvSpPr>
            <a:spLocks noGrp="1"/>
          </p:cNvSpPr>
          <p:nvPr>
            <p:ph sz="half" idx="1"/>
          </p:nvPr>
        </p:nvSpPr>
        <p:spPr>
          <a:xfrm>
            <a:off x="838201" y="1697037"/>
            <a:ext cx="5181600" cy="5051003"/>
          </a:xfrm>
        </p:spPr>
        <p:txBody>
          <a:bodyPr>
            <a:normAutofit fontScale="85000" lnSpcReduction="20000"/>
          </a:bodyPr>
          <a:lstStyle/>
          <a:p>
            <a:pPr marL="0" indent="0">
              <a:buNone/>
            </a:pPr>
            <a:r>
              <a:rPr lang="en-US" sz="2900" b="1" dirty="0"/>
              <a:t>Non recursive:</a:t>
            </a:r>
          </a:p>
          <a:p>
            <a:pPr marL="0" indent="0">
              <a:buNone/>
            </a:pPr>
            <a:r>
              <a:rPr lang="en-US" sz="2900" dirty="0" err="1"/>
              <a:t>FindGCD</a:t>
            </a:r>
            <a:r>
              <a:rPr lang="en-US" sz="2900" dirty="0"/>
              <a:t>(int </a:t>
            </a:r>
            <a:r>
              <a:rPr lang="en-US" sz="2900" dirty="0" err="1"/>
              <a:t>m,int</a:t>
            </a:r>
            <a:r>
              <a:rPr lang="en-US" sz="2900" dirty="0"/>
              <a:t> n)</a:t>
            </a:r>
          </a:p>
          <a:p>
            <a:pPr marL="0" indent="0">
              <a:buNone/>
            </a:pPr>
            <a:r>
              <a:rPr lang="en-US" sz="2900" dirty="0"/>
              <a:t>{</a:t>
            </a:r>
            <a:endParaRPr lang="en-IN" sz="2900" dirty="0"/>
          </a:p>
          <a:p>
            <a:pPr marL="0" indent="0">
              <a:buNone/>
            </a:pPr>
            <a:r>
              <a:rPr lang="en-IN" sz="2900" dirty="0"/>
              <a:t>int r;</a:t>
            </a:r>
          </a:p>
          <a:p>
            <a:pPr marL="0" indent="0">
              <a:buNone/>
            </a:pPr>
            <a:r>
              <a:rPr lang="en-IN" sz="2900" dirty="0"/>
              <a:t>	while(n!=0)</a:t>
            </a:r>
          </a:p>
          <a:p>
            <a:pPr marL="0" indent="0">
              <a:buNone/>
            </a:pPr>
            <a:r>
              <a:rPr lang="en-IN" sz="2900" dirty="0"/>
              <a:t>	{</a:t>
            </a:r>
          </a:p>
          <a:p>
            <a:pPr marL="0" indent="0">
              <a:buNone/>
            </a:pPr>
            <a:r>
              <a:rPr lang="en-IN" sz="2900" dirty="0"/>
              <a:t>	r=</a:t>
            </a:r>
            <a:r>
              <a:rPr lang="en-IN" sz="2900" dirty="0" err="1"/>
              <a:t>m%n</a:t>
            </a:r>
            <a:r>
              <a:rPr lang="en-IN" sz="2900" dirty="0"/>
              <a:t>;</a:t>
            </a:r>
          </a:p>
          <a:p>
            <a:pPr marL="0" indent="0">
              <a:buNone/>
            </a:pPr>
            <a:r>
              <a:rPr lang="en-IN" sz="2900" dirty="0"/>
              <a:t>	m=n;</a:t>
            </a:r>
            <a:endParaRPr lang="en-US" sz="2900" dirty="0"/>
          </a:p>
          <a:p>
            <a:pPr marL="0" indent="0">
              <a:buNone/>
            </a:pPr>
            <a:r>
              <a:rPr lang="en-US" sz="2900" dirty="0"/>
              <a:t>	n=r;</a:t>
            </a:r>
          </a:p>
          <a:p>
            <a:pPr marL="0" indent="0">
              <a:buNone/>
            </a:pPr>
            <a:r>
              <a:rPr lang="en-US" sz="2900" dirty="0"/>
              <a:t>	}</a:t>
            </a:r>
          </a:p>
          <a:p>
            <a:pPr marL="0" indent="0">
              <a:buNone/>
            </a:pPr>
            <a:r>
              <a:rPr lang="en-US" sz="2900" dirty="0"/>
              <a:t>return m;</a:t>
            </a:r>
          </a:p>
          <a:p>
            <a:pPr marL="0" indent="0">
              <a:buNone/>
            </a:pPr>
            <a:r>
              <a:rPr lang="en-US" sz="2900" dirty="0"/>
              <a:t>}</a:t>
            </a:r>
          </a:p>
          <a:p>
            <a:pPr marL="0" indent="0">
              <a:buNone/>
            </a:pPr>
            <a:endParaRPr lang="en-IN" dirty="0"/>
          </a:p>
        </p:txBody>
      </p:sp>
      <p:sp>
        <p:nvSpPr>
          <p:cNvPr id="4" name="Content Placeholder 3">
            <a:extLst>
              <a:ext uri="{FF2B5EF4-FFF2-40B4-BE49-F238E27FC236}">
                <a16:creationId xmlns:a16="http://schemas.microsoft.com/office/drawing/2014/main" id="{7D3AFA83-ED7D-4ACB-9241-08D8550A6842}"/>
              </a:ext>
            </a:extLst>
          </p:cNvPr>
          <p:cNvSpPr>
            <a:spLocks noGrp="1"/>
          </p:cNvSpPr>
          <p:nvPr>
            <p:ph sz="half" idx="2"/>
          </p:nvPr>
        </p:nvSpPr>
        <p:spPr>
          <a:xfrm>
            <a:off x="5089970" y="1697037"/>
            <a:ext cx="4184034" cy="779945"/>
          </a:xfrm>
        </p:spPr>
        <p:txBody>
          <a:bodyPr>
            <a:normAutofit fontScale="85000" lnSpcReduction="20000"/>
          </a:bodyPr>
          <a:lstStyle/>
          <a:p>
            <a:pPr marL="0" indent="0">
              <a:buNone/>
            </a:pPr>
            <a:r>
              <a:rPr lang="en-US" sz="2800" b="1" dirty="0"/>
              <a:t>Tracing</a:t>
            </a:r>
          </a:p>
          <a:p>
            <a:pPr marL="0" indent="0">
              <a:buNone/>
            </a:pPr>
            <a:endParaRPr lang="en-IN" dirty="0"/>
          </a:p>
        </p:txBody>
      </p:sp>
      <p:graphicFrame>
        <p:nvGraphicFramePr>
          <p:cNvPr id="6" name="Table 6">
            <a:extLst>
              <a:ext uri="{FF2B5EF4-FFF2-40B4-BE49-F238E27FC236}">
                <a16:creationId xmlns:a16="http://schemas.microsoft.com/office/drawing/2014/main" id="{CEC1EB9C-CFCB-4F26-BE10-AFF4B4F82C93}"/>
              </a:ext>
            </a:extLst>
          </p:cNvPr>
          <p:cNvGraphicFramePr>
            <a:graphicFrameLocks noGrp="1"/>
          </p:cNvGraphicFramePr>
          <p:nvPr/>
        </p:nvGraphicFramePr>
        <p:xfrm>
          <a:off x="5089970" y="2711291"/>
          <a:ext cx="3912233" cy="1107440"/>
        </p:xfrm>
        <a:graphic>
          <a:graphicData uri="http://schemas.openxmlformats.org/drawingml/2006/table">
            <a:tbl>
              <a:tblPr firstRow="1" bandRow="1">
                <a:tableStyleId>{5C22544A-7EE6-4342-B048-85BDC9FD1C3A}</a:tableStyleId>
              </a:tblPr>
              <a:tblGrid>
                <a:gridCol w="1237574">
                  <a:extLst>
                    <a:ext uri="{9D8B030D-6E8A-4147-A177-3AD203B41FA5}">
                      <a16:colId xmlns:a16="http://schemas.microsoft.com/office/drawing/2014/main" val="3975784804"/>
                    </a:ext>
                  </a:extLst>
                </a:gridCol>
                <a:gridCol w="718543">
                  <a:extLst>
                    <a:ext uri="{9D8B030D-6E8A-4147-A177-3AD203B41FA5}">
                      <a16:colId xmlns:a16="http://schemas.microsoft.com/office/drawing/2014/main" val="3765902615"/>
                    </a:ext>
                  </a:extLst>
                </a:gridCol>
                <a:gridCol w="978058">
                  <a:extLst>
                    <a:ext uri="{9D8B030D-6E8A-4147-A177-3AD203B41FA5}">
                      <a16:colId xmlns:a16="http://schemas.microsoft.com/office/drawing/2014/main" val="2807032552"/>
                    </a:ext>
                  </a:extLst>
                </a:gridCol>
                <a:gridCol w="978058">
                  <a:extLst>
                    <a:ext uri="{9D8B030D-6E8A-4147-A177-3AD203B41FA5}">
                      <a16:colId xmlns:a16="http://schemas.microsoft.com/office/drawing/2014/main" val="3320672075"/>
                    </a:ext>
                  </a:extLst>
                </a:gridCol>
              </a:tblGrid>
              <a:tr h="0">
                <a:tc>
                  <a:txBody>
                    <a:bodyPr/>
                    <a:lstStyle/>
                    <a:p>
                      <a:r>
                        <a:rPr lang="en-US" dirty="0"/>
                        <a:t>iteration</a:t>
                      </a:r>
                      <a:endParaRPr lang="en-IN" dirty="0"/>
                    </a:p>
                  </a:txBody>
                  <a:tcPr/>
                </a:tc>
                <a:tc>
                  <a:txBody>
                    <a:bodyPr/>
                    <a:lstStyle/>
                    <a:p>
                      <a:r>
                        <a:rPr lang="en-US" dirty="0"/>
                        <a:t>m</a:t>
                      </a:r>
                      <a:endParaRPr lang="en-IN" dirty="0"/>
                    </a:p>
                  </a:txBody>
                  <a:tcPr/>
                </a:tc>
                <a:tc>
                  <a:txBody>
                    <a:bodyPr/>
                    <a:lstStyle/>
                    <a:p>
                      <a:r>
                        <a:rPr lang="en-US" dirty="0"/>
                        <a:t>n</a:t>
                      </a:r>
                      <a:endParaRPr lang="en-IN" dirty="0"/>
                    </a:p>
                  </a:txBody>
                  <a:tcPr/>
                </a:tc>
                <a:tc>
                  <a:txBody>
                    <a:bodyPr/>
                    <a:lstStyle/>
                    <a:p>
                      <a:r>
                        <a:rPr lang="en-US" dirty="0"/>
                        <a:t>r</a:t>
                      </a:r>
                      <a:endParaRPr lang="en-IN" dirty="0"/>
                    </a:p>
                  </a:txBody>
                  <a:tcPr/>
                </a:tc>
                <a:extLst>
                  <a:ext uri="{0D108BD9-81ED-4DB2-BD59-A6C34878D82A}">
                    <a16:rowId xmlns:a16="http://schemas.microsoft.com/office/drawing/2014/main" val="2538734503"/>
                  </a:ext>
                </a:extLst>
              </a:tr>
              <a:tr h="370840">
                <a:tc>
                  <a:txBody>
                    <a:bodyPr/>
                    <a:lstStyle/>
                    <a:p>
                      <a:endParaRPr lang="en-IN" dirty="0"/>
                    </a:p>
                  </a:txBody>
                  <a:tcPr/>
                </a:tc>
                <a:tc>
                  <a:txBody>
                    <a:bodyPr/>
                    <a:lstStyle/>
                    <a:p>
                      <a:r>
                        <a:rPr lang="en-US" dirty="0"/>
                        <a:t>8</a:t>
                      </a:r>
                      <a:endParaRPr lang="en-IN" dirty="0"/>
                    </a:p>
                  </a:txBody>
                  <a:tcPr/>
                </a:tc>
                <a:tc>
                  <a:txBody>
                    <a:bodyPr/>
                    <a:lstStyle/>
                    <a:p>
                      <a:r>
                        <a:rPr lang="en-US" dirty="0"/>
                        <a:t>4</a:t>
                      </a:r>
                      <a:endParaRPr lang="en-IN" dirty="0"/>
                    </a:p>
                  </a:txBody>
                  <a:tcPr/>
                </a:tc>
                <a:tc>
                  <a:txBody>
                    <a:bodyPr/>
                    <a:lstStyle/>
                    <a:p>
                      <a:endParaRPr lang="en-IN" dirty="0"/>
                    </a:p>
                  </a:txBody>
                  <a:tcPr/>
                </a:tc>
                <a:extLst>
                  <a:ext uri="{0D108BD9-81ED-4DB2-BD59-A6C34878D82A}">
                    <a16:rowId xmlns:a16="http://schemas.microsoft.com/office/drawing/2014/main" val="358457868"/>
                  </a:ext>
                </a:extLst>
              </a:tr>
              <a:tr h="370840">
                <a:tc>
                  <a:txBody>
                    <a:bodyPr/>
                    <a:lstStyle/>
                    <a:p>
                      <a:r>
                        <a:rPr lang="en-US" dirty="0"/>
                        <a:t>1</a:t>
                      </a:r>
                      <a:endParaRPr lang="en-IN" dirty="0"/>
                    </a:p>
                  </a:txBody>
                  <a:tcPr/>
                </a:tc>
                <a:tc>
                  <a:txBody>
                    <a:bodyPr/>
                    <a:lstStyle/>
                    <a:p>
                      <a:r>
                        <a:rPr lang="en-US" dirty="0"/>
                        <a:t>4</a:t>
                      </a:r>
                      <a:endParaRPr lang="en-IN" dirty="0"/>
                    </a:p>
                  </a:txBody>
                  <a:tcPr/>
                </a:tc>
                <a:tc>
                  <a:txBody>
                    <a:bodyPr/>
                    <a:lstStyle/>
                    <a:p>
                      <a:r>
                        <a:rPr lang="en-US" dirty="0"/>
                        <a:t>0</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3394910842"/>
                  </a:ext>
                </a:extLst>
              </a:tr>
            </a:tbl>
          </a:graphicData>
        </a:graphic>
      </p:graphicFrame>
      <p:sp>
        <p:nvSpPr>
          <p:cNvPr id="7" name="TextBox 6">
            <a:extLst>
              <a:ext uri="{FF2B5EF4-FFF2-40B4-BE49-F238E27FC236}">
                <a16:creationId xmlns:a16="http://schemas.microsoft.com/office/drawing/2014/main" id="{92C64C3F-E32F-492F-A4F4-F01A99C475DE}"/>
              </a:ext>
            </a:extLst>
          </p:cNvPr>
          <p:cNvSpPr txBox="1"/>
          <p:nvPr/>
        </p:nvSpPr>
        <p:spPr>
          <a:xfrm>
            <a:off x="5168481" y="4338568"/>
            <a:ext cx="2647950" cy="646331"/>
          </a:xfrm>
          <a:prstGeom prst="rect">
            <a:avLst/>
          </a:prstGeom>
          <a:noFill/>
        </p:spPr>
        <p:txBody>
          <a:bodyPr wrap="square" rtlCol="0">
            <a:spAutoFit/>
          </a:bodyPr>
          <a:lstStyle/>
          <a:p>
            <a:r>
              <a:rPr lang="en-US" dirty="0"/>
              <a:t>Output:</a:t>
            </a:r>
          </a:p>
          <a:p>
            <a:r>
              <a:rPr lang="en-US" dirty="0"/>
              <a:t>4</a:t>
            </a:r>
            <a:endParaRPr lang="en-IN" dirty="0"/>
          </a:p>
        </p:txBody>
      </p:sp>
    </p:spTree>
    <p:extLst>
      <p:ext uri="{BB962C8B-B14F-4D97-AF65-F5344CB8AC3E}">
        <p14:creationId xmlns:p14="http://schemas.microsoft.com/office/powerpoint/2010/main" val="1729509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8A69F-7A8F-4506-8491-2FE1517F8BC3}"/>
              </a:ext>
            </a:extLst>
          </p:cNvPr>
          <p:cNvSpPr>
            <a:spLocks noGrp="1"/>
          </p:cNvSpPr>
          <p:nvPr>
            <p:ph type="title"/>
          </p:nvPr>
        </p:nvSpPr>
        <p:spPr/>
        <p:txBody>
          <a:bodyPr/>
          <a:lstStyle/>
          <a:p>
            <a:r>
              <a:rPr lang="en-US" dirty="0"/>
              <a:t>Recursive algorithm</a:t>
            </a:r>
            <a:endParaRPr lang="en-IN" dirty="0"/>
          </a:p>
        </p:txBody>
      </p:sp>
      <p:sp>
        <p:nvSpPr>
          <p:cNvPr id="4" name="TextBox 3">
            <a:extLst>
              <a:ext uri="{FF2B5EF4-FFF2-40B4-BE49-F238E27FC236}">
                <a16:creationId xmlns:a16="http://schemas.microsoft.com/office/drawing/2014/main" id="{F7873DE1-228E-44D2-B3AE-058FB24D170C}"/>
              </a:ext>
            </a:extLst>
          </p:cNvPr>
          <p:cNvSpPr txBox="1"/>
          <p:nvPr/>
        </p:nvSpPr>
        <p:spPr>
          <a:xfrm>
            <a:off x="723900" y="1690688"/>
            <a:ext cx="10096500" cy="584775"/>
          </a:xfrm>
          <a:prstGeom prst="rect">
            <a:avLst/>
          </a:prstGeom>
          <a:noFill/>
        </p:spPr>
        <p:txBody>
          <a:bodyPr wrap="square">
            <a:spAutoFit/>
          </a:bodyPr>
          <a:lstStyle/>
          <a:p>
            <a:r>
              <a:rPr lang="en-US" sz="3200" dirty="0"/>
              <a:t>A recursive algorithm is an algorithm that calls itself.</a:t>
            </a:r>
            <a:endParaRPr lang="en-IN" sz="3200" dirty="0"/>
          </a:p>
        </p:txBody>
      </p:sp>
    </p:spTree>
    <p:extLst>
      <p:ext uri="{BB962C8B-B14F-4D97-AF65-F5344CB8AC3E}">
        <p14:creationId xmlns:p14="http://schemas.microsoft.com/office/powerpoint/2010/main" val="1711075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A6AAA-029D-4E2A-AF1A-D756BD0384DE}"/>
              </a:ext>
            </a:extLst>
          </p:cNvPr>
          <p:cNvSpPr>
            <a:spLocks noGrp="1"/>
          </p:cNvSpPr>
          <p:nvPr>
            <p:ph type="title"/>
          </p:nvPr>
        </p:nvSpPr>
        <p:spPr>
          <a:xfrm>
            <a:off x="677334" y="609600"/>
            <a:ext cx="8596668" cy="1320800"/>
          </a:xfrm>
        </p:spPr>
        <p:txBody>
          <a:bodyPr/>
          <a:lstStyle/>
          <a:p>
            <a:r>
              <a:rPr lang="en-US" dirty="0"/>
              <a:t>Euclid’s algorithm for finding GCD of 2 numbers (recursive)</a:t>
            </a:r>
            <a:endParaRPr lang="en-IN" dirty="0"/>
          </a:p>
        </p:txBody>
      </p:sp>
      <p:sp>
        <p:nvSpPr>
          <p:cNvPr id="3" name="Text Placeholder 2">
            <a:extLst>
              <a:ext uri="{FF2B5EF4-FFF2-40B4-BE49-F238E27FC236}">
                <a16:creationId xmlns:a16="http://schemas.microsoft.com/office/drawing/2014/main" id="{070AC522-B98A-4E9B-89B5-4E434505E524}"/>
              </a:ext>
            </a:extLst>
          </p:cNvPr>
          <p:cNvSpPr>
            <a:spLocks noGrp="1"/>
          </p:cNvSpPr>
          <p:nvPr>
            <p:ph type="body" idx="1"/>
          </p:nvPr>
        </p:nvSpPr>
        <p:spPr>
          <a:xfrm>
            <a:off x="839788" y="1886226"/>
            <a:ext cx="2522537" cy="567373"/>
          </a:xfrm>
        </p:spPr>
        <p:txBody>
          <a:bodyPr>
            <a:normAutofit fontScale="25000" lnSpcReduction="20000"/>
          </a:bodyPr>
          <a:lstStyle/>
          <a:p>
            <a:endParaRPr lang="en-US" b="1" dirty="0"/>
          </a:p>
          <a:p>
            <a:endParaRPr lang="en-US" dirty="0"/>
          </a:p>
          <a:p>
            <a:endParaRPr lang="en-US" dirty="0"/>
          </a:p>
          <a:p>
            <a:endParaRPr lang="en-US" dirty="0"/>
          </a:p>
          <a:p>
            <a:r>
              <a:rPr lang="en-US" sz="9600" dirty="0"/>
              <a:t>R</a:t>
            </a:r>
            <a:r>
              <a:rPr lang="en-US" sz="9600" b="1" dirty="0"/>
              <a:t>ecursive:</a:t>
            </a:r>
          </a:p>
          <a:p>
            <a:endParaRPr lang="en-IN" dirty="0"/>
          </a:p>
        </p:txBody>
      </p:sp>
      <p:sp>
        <p:nvSpPr>
          <p:cNvPr id="4" name="Content Placeholder 3">
            <a:extLst>
              <a:ext uri="{FF2B5EF4-FFF2-40B4-BE49-F238E27FC236}">
                <a16:creationId xmlns:a16="http://schemas.microsoft.com/office/drawing/2014/main" id="{C46F12AB-EA7A-4D1B-9E44-DE5DAF60A8B2}"/>
              </a:ext>
            </a:extLst>
          </p:cNvPr>
          <p:cNvSpPr>
            <a:spLocks noGrp="1"/>
          </p:cNvSpPr>
          <p:nvPr>
            <p:ph sz="half" idx="2"/>
          </p:nvPr>
        </p:nvSpPr>
        <p:spPr>
          <a:xfrm>
            <a:off x="839788" y="2505074"/>
            <a:ext cx="5157787" cy="4086225"/>
          </a:xfrm>
        </p:spPr>
        <p:txBody>
          <a:bodyPr>
            <a:normAutofit/>
          </a:bodyPr>
          <a:lstStyle/>
          <a:p>
            <a:pPr marL="0" indent="0">
              <a:buNone/>
            </a:pPr>
            <a:r>
              <a:rPr lang="en-US" sz="2400" dirty="0" err="1"/>
              <a:t>FindGCD</a:t>
            </a:r>
            <a:r>
              <a:rPr lang="en-US" sz="2400" dirty="0"/>
              <a:t>(int m, int n)</a:t>
            </a:r>
          </a:p>
          <a:p>
            <a:pPr marL="0" indent="0">
              <a:buNone/>
            </a:pPr>
            <a:r>
              <a:rPr lang="en-US" sz="2400" dirty="0"/>
              <a:t>{</a:t>
            </a:r>
            <a:endParaRPr lang="en-IN" sz="2400" dirty="0"/>
          </a:p>
          <a:p>
            <a:pPr marL="0" indent="0">
              <a:buNone/>
            </a:pPr>
            <a:r>
              <a:rPr lang="en-IN" sz="2400" dirty="0"/>
              <a:t>int r;</a:t>
            </a:r>
          </a:p>
          <a:p>
            <a:pPr marL="0" indent="0">
              <a:buNone/>
            </a:pPr>
            <a:r>
              <a:rPr lang="en-IN" sz="2400" dirty="0"/>
              <a:t>	r=</a:t>
            </a:r>
            <a:r>
              <a:rPr lang="en-IN" sz="2400" dirty="0" err="1"/>
              <a:t>m%n</a:t>
            </a:r>
            <a:r>
              <a:rPr lang="en-IN" sz="2400" dirty="0"/>
              <a:t>;</a:t>
            </a:r>
          </a:p>
          <a:p>
            <a:pPr marL="0" indent="0">
              <a:buNone/>
            </a:pPr>
            <a:r>
              <a:rPr lang="en-IN" sz="2400" dirty="0"/>
              <a:t>	</a:t>
            </a:r>
            <a:r>
              <a:rPr lang="en-US" sz="2400" dirty="0"/>
              <a:t>if (r==0) return n;</a:t>
            </a:r>
          </a:p>
          <a:p>
            <a:pPr marL="0" indent="0">
              <a:buNone/>
            </a:pPr>
            <a:r>
              <a:rPr lang="en-US" sz="2400" dirty="0"/>
              <a:t>	else return </a:t>
            </a:r>
            <a:r>
              <a:rPr lang="en-US" sz="2400" dirty="0" err="1"/>
              <a:t>FindGCD</a:t>
            </a:r>
            <a:r>
              <a:rPr lang="en-US" sz="2400" dirty="0"/>
              <a:t>(</a:t>
            </a:r>
            <a:r>
              <a:rPr lang="en-US" sz="2400" dirty="0" err="1"/>
              <a:t>n,r</a:t>
            </a:r>
            <a:r>
              <a:rPr lang="en-US" sz="2400" dirty="0"/>
              <a:t>)</a:t>
            </a:r>
          </a:p>
          <a:p>
            <a:pPr marL="0" indent="0">
              <a:buNone/>
            </a:pPr>
            <a:r>
              <a:rPr lang="en-US" sz="2400" dirty="0"/>
              <a:t>}</a:t>
            </a:r>
          </a:p>
          <a:p>
            <a:endParaRPr lang="en-IN" dirty="0"/>
          </a:p>
        </p:txBody>
      </p:sp>
      <p:sp>
        <p:nvSpPr>
          <p:cNvPr id="5" name="Text Placeholder 4">
            <a:extLst>
              <a:ext uri="{FF2B5EF4-FFF2-40B4-BE49-F238E27FC236}">
                <a16:creationId xmlns:a16="http://schemas.microsoft.com/office/drawing/2014/main" id="{DE89B3B1-6216-487D-A9AC-2E82FA8DF554}"/>
              </a:ext>
            </a:extLst>
          </p:cNvPr>
          <p:cNvSpPr>
            <a:spLocks noGrp="1"/>
          </p:cNvSpPr>
          <p:nvPr>
            <p:ph type="body" sz="quarter" idx="3"/>
          </p:nvPr>
        </p:nvSpPr>
        <p:spPr>
          <a:xfrm>
            <a:off x="4533899" y="1745455"/>
            <a:ext cx="1795465" cy="491727"/>
          </a:xfrm>
        </p:spPr>
        <p:txBody>
          <a:bodyPr>
            <a:normAutofit/>
          </a:bodyPr>
          <a:lstStyle/>
          <a:p>
            <a:r>
              <a:rPr lang="en-US" dirty="0"/>
              <a:t>Tracing </a:t>
            </a:r>
            <a:endParaRPr lang="en-IN" dirty="0"/>
          </a:p>
        </p:txBody>
      </p:sp>
      <p:graphicFrame>
        <p:nvGraphicFramePr>
          <p:cNvPr id="9" name="Table 9">
            <a:extLst>
              <a:ext uri="{FF2B5EF4-FFF2-40B4-BE49-F238E27FC236}">
                <a16:creationId xmlns:a16="http://schemas.microsoft.com/office/drawing/2014/main" id="{1FCDD021-F07C-42BD-95AE-16C165986611}"/>
              </a:ext>
            </a:extLst>
          </p:cNvPr>
          <p:cNvGraphicFramePr>
            <a:graphicFrameLocks noGrp="1"/>
          </p:cNvGraphicFramePr>
          <p:nvPr>
            <p:ph sz="quarter" idx="4"/>
          </p:nvPr>
        </p:nvGraphicFramePr>
        <p:xfrm>
          <a:off x="4533899" y="2683669"/>
          <a:ext cx="5514976" cy="1490661"/>
        </p:xfrm>
        <a:graphic>
          <a:graphicData uri="http://schemas.openxmlformats.org/drawingml/2006/table">
            <a:tbl>
              <a:tblPr firstRow="1" bandRow="1">
                <a:tableStyleId>{5C22544A-7EE6-4342-B048-85BDC9FD1C3A}</a:tableStyleId>
              </a:tblPr>
              <a:tblGrid>
                <a:gridCol w="1847851">
                  <a:extLst>
                    <a:ext uri="{9D8B030D-6E8A-4147-A177-3AD203B41FA5}">
                      <a16:colId xmlns:a16="http://schemas.microsoft.com/office/drawing/2014/main" val="1381288024"/>
                    </a:ext>
                  </a:extLst>
                </a:gridCol>
                <a:gridCol w="909637">
                  <a:extLst>
                    <a:ext uri="{9D8B030D-6E8A-4147-A177-3AD203B41FA5}">
                      <a16:colId xmlns:a16="http://schemas.microsoft.com/office/drawing/2014/main" val="1498827326"/>
                    </a:ext>
                  </a:extLst>
                </a:gridCol>
                <a:gridCol w="1378744">
                  <a:extLst>
                    <a:ext uri="{9D8B030D-6E8A-4147-A177-3AD203B41FA5}">
                      <a16:colId xmlns:a16="http://schemas.microsoft.com/office/drawing/2014/main" val="3543620640"/>
                    </a:ext>
                  </a:extLst>
                </a:gridCol>
                <a:gridCol w="1378744">
                  <a:extLst>
                    <a:ext uri="{9D8B030D-6E8A-4147-A177-3AD203B41FA5}">
                      <a16:colId xmlns:a16="http://schemas.microsoft.com/office/drawing/2014/main" val="801448299"/>
                    </a:ext>
                  </a:extLst>
                </a:gridCol>
              </a:tblGrid>
              <a:tr h="378141">
                <a:tc>
                  <a:txBody>
                    <a:bodyPr/>
                    <a:lstStyle/>
                    <a:p>
                      <a:r>
                        <a:rPr lang="en-US" dirty="0"/>
                        <a:t>Call</a:t>
                      </a:r>
                      <a:endParaRPr lang="en-IN" dirty="0"/>
                    </a:p>
                  </a:txBody>
                  <a:tcPr/>
                </a:tc>
                <a:tc>
                  <a:txBody>
                    <a:bodyPr/>
                    <a:lstStyle/>
                    <a:p>
                      <a:r>
                        <a:rPr lang="en-US" dirty="0"/>
                        <a:t>m</a:t>
                      </a:r>
                      <a:endParaRPr lang="en-IN" dirty="0"/>
                    </a:p>
                  </a:txBody>
                  <a:tcPr/>
                </a:tc>
                <a:tc>
                  <a:txBody>
                    <a:bodyPr/>
                    <a:lstStyle/>
                    <a:p>
                      <a:r>
                        <a:rPr lang="en-US" dirty="0"/>
                        <a:t>n</a:t>
                      </a:r>
                      <a:endParaRPr lang="en-IN" dirty="0"/>
                    </a:p>
                  </a:txBody>
                  <a:tcPr/>
                </a:tc>
                <a:tc>
                  <a:txBody>
                    <a:bodyPr/>
                    <a:lstStyle/>
                    <a:p>
                      <a:r>
                        <a:rPr lang="en-US" dirty="0"/>
                        <a:t>r</a:t>
                      </a:r>
                      <a:endParaRPr lang="en-IN" dirty="0"/>
                    </a:p>
                  </a:txBody>
                  <a:tcPr/>
                </a:tc>
                <a:extLst>
                  <a:ext uri="{0D108BD9-81ED-4DB2-BD59-A6C34878D82A}">
                    <a16:rowId xmlns:a16="http://schemas.microsoft.com/office/drawing/2014/main" val="2480491976"/>
                  </a:ext>
                </a:extLst>
              </a:tr>
              <a:tr h="370840">
                <a:tc>
                  <a:txBody>
                    <a:bodyPr/>
                    <a:lstStyle/>
                    <a:p>
                      <a:r>
                        <a:rPr lang="en-US" dirty="0" err="1"/>
                        <a:t>FindGCD</a:t>
                      </a:r>
                      <a:r>
                        <a:rPr lang="en-US" dirty="0"/>
                        <a:t>(21,12)</a:t>
                      </a:r>
                      <a:endParaRPr lang="en-IN" dirty="0"/>
                    </a:p>
                  </a:txBody>
                  <a:tcPr/>
                </a:tc>
                <a:tc>
                  <a:txBody>
                    <a:bodyPr/>
                    <a:lstStyle/>
                    <a:p>
                      <a:r>
                        <a:rPr lang="en-US" dirty="0"/>
                        <a:t>21</a:t>
                      </a:r>
                      <a:endParaRPr lang="en-IN" dirty="0"/>
                    </a:p>
                  </a:txBody>
                  <a:tcPr/>
                </a:tc>
                <a:tc>
                  <a:txBody>
                    <a:bodyPr/>
                    <a:lstStyle/>
                    <a:p>
                      <a:r>
                        <a:rPr lang="en-US" dirty="0"/>
                        <a:t>12</a:t>
                      </a:r>
                      <a:endParaRPr lang="en-IN" dirty="0"/>
                    </a:p>
                  </a:txBody>
                  <a:tcPr/>
                </a:tc>
                <a:tc>
                  <a:txBody>
                    <a:bodyPr/>
                    <a:lstStyle/>
                    <a:p>
                      <a:r>
                        <a:rPr lang="en-US" dirty="0"/>
                        <a:t>9</a:t>
                      </a:r>
                      <a:endParaRPr lang="en-IN" dirty="0"/>
                    </a:p>
                  </a:txBody>
                  <a:tcPr/>
                </a:tc>
                <a:extLst>
                  <a:ext uri="{0D108BD9-81ED-4DB2-BD59-A6C34878D82A}">
                    <a16:rowId xmlns:a16="http://schemas.microsoft.com/office/drawing/2014/main" val="1691343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FindGCD</a:t>
                      </a:r>
                      <a:r>
                        <a:rPr lang="en-US" dirty="0"/>
                        <a:t>(12,9)</a:t>
                      </a:r>
                      <a:endParaRPr lang="en-IN" dirty="0"/>
                    </a:p>
                  </a:txBody>
                  <a:tcPr/>
                </a:tc>
                <a:tc>
                  <a:txBody>
                    <a:bodyPr/>
                    <a:lstStyle/>
                    <a:p>
                      <a:r>
                        <a:rPr lang="en-US" dirty="0"/>
                        <a:t>12</a:t>
                      </a:r>
                      <a:endParaRPr lang="en-IN" dirty="0"/>
                    </a:p>
                  </a:txBody>
                  <a:tcPr/>
                </a:tc>
                <a:tc>
                  <a:txBody>
                    <a:bodyPr/>
                    <a:lstStyle/>
                    <a:p>
                      <a:r>
                        <a:rPr lang="en-US" dirty="0"/>
                        <a:t>9</a:t>
                      </a:r>
                      <a:endParaRPr lang="en-IN" dirty="0"/>
                    </a:p>
                  </a:txBody>
                  <a:tcPr/>
                </a:tc>
                <a:tc>
                  <a:txBody>
                    <a:bodyPr/>
                    <a:lstStyle/>
                    <a:p>
                      <a:r>
                        <a:rPr lang="en-US" dirty="0"/>
                        <a:t>3</a:t>
                      </a:r>
                      <a:endParaRPr lang="en-IN" dirty="0"/>
                    </a:p>
                  </a:txBody>
                  <a:tcPr/>
                </a:tc>
                <a:extLst>
                  <a:ext uri="{0D108BD9-81ED-4DB2-BD59-A6C34878D82A}">
                    <a16:rowId xmlns:a16="http://schemas.microsoft.com/office/drawing/2014/main" val="57421457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FindGCD</a:t>
                      </a:r>
                      <a:r>
                        <a:rPr lang="en-US" dirty="0"/>
                        <a:t>(9,3)</a:t>
                      </a:r>
                      <a:endParaRPr lang="en-IN" dirty="0"/>
                    </a:p>
                  </a:txBody>
                  <a:tcPr/>
                </a:tc>
                <a:tc>
                  <a:txBody>
                    <a:bodyPr/>
                    <a:lstStyle/>
                    <a:p>
                      <a:r>
                        <a:rPr lang="en-US" dirty="0"/>
                        <a:t>9</a:t>
                      </a:r>
                      <a:endParaRPr lang="en-IN" dirty="0"/>
                    </a:p>
                  </a:txBody>
                  <a:tcPr/>
                </a:tc>
                <a:tc>
                  <a:txBody>
                    <a:bodyPr/>
                    <a:lstStyle/>
                    <a:p>
                      <a:r>
                        <a:rPr lang="en-US" dirty="0"/>
                        <a:t>3</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929970158"/>
                  </a:ext>
                </a:extLst>
              </a:tr>
            </a:tbl>
          </a:graphicData>
        </a:graphic>
      </p:graphicFrame>
      <p:sp>
        <p:nvSpPr>
          <p:cNvPr id="13" name="TextBox 12">
            <a:extLst>
              <a:ext uri="{FF2B5EF4-FFF2-40B4-BE49-F238E27FC236}">
                <a16:creationId xmlns:a16="http://schemas.microsoft.com/office/drawing/2014/main" id="{63C4CFC4-3FC2-495E-B218-951BEAFFCDB3}"/>
              </a:ext>
            </a:extLst>
          </p:cNvPr>
          <p:cNvSpPr txBox="1"/>
          <p:nvPr/>
        </p:nvSpPr>
        <p:spPr>
          <a:xfrm>
            <a:off x="6381750" y="4933949"/>
            <a:ext cx="2671762" cy="646331"/>
          </a:xfrm>
          <a:prstGeom prst="rect">
            <a:avLst/>
          </a:prstGeom>
          <a:noFill/>
        </p:spPr>
        <p:txBody>
          <a:bodyPr wrap="square" rtlCol="0">
            <a:spAutoFit/>
          </a:bodyPr>
          <a:lstStyle/>
          <a:p>
            <a:r>
              <a:rPr lang="en-US" dirty="0"/>
              <a:t>Output:</a:t>
            </a:r>
          </a:p>
          <a:p>
            <a:r>
              <a:rPr lang="en-US" dirty="0"/>
              <a:t>3</a:t>
            </a:r>
            <a:endParaRPr lang="en-IN" dirty="0"/>
          </a:p>
        </p:txBody>
      </p:sp>
    </p:spTree>
    <p:extLst>
      <p:ext uri="{BB962C8B-B14F-4D97-AF65-F5344CB8AC3E}">
        <p14:creationId xmlns:p14="http://schemas.microsoft.com/office/powerpoint/2010/main" val="2162306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225FC1B-96B2-4E32-882F-8A9E022E0179}"/>
              </a:ext>
            </a:extLst>
          </p:cNvPr>
          <p:cNvSpPr>
            <a:spLocks noGrp="1"/>
          </p:cNvSpPr>
          <p:nvPr>
            <p:ph type="title"/>
          </p:nvPr>
        </p:nvSpPr>
        <p:spPr/>
        <p:txBody>
          <a:bodyPr>
            <a:normAutofit fontScale="90000"/>
          </a:bodyPr>
          <a:lstStyle/>
          <a:p>
            <a:r>
              <a:rPr lang="en-US" sz="4400" dirty="0"/>
              <a:t>Stages of algorithm development for solving a problem:</a:t>
            </a:r>
            <a:br>
              <a:rPr lang="en-US" sz="4400" dirty="0"/>
            </a:br>
            <a:endParaRPr lang="en-IN" dirty="0"/>
          </a:p>
        </p:txBody>
      </p:sp>
      <p:pic>
        <p:nvPicPr>
          <p:cNvPr id="5" name="Picture 4">
            <a:extLst>
              <a:ext uri="{FF2B5EF4-FFF2-40B4-BE49-F238E27FC236}">
                <a16:creationId xmlns:a16="http://schemas.microsoft.com/office/drawing/2014/main" id="{00A99BF3-8556-45C0-9C71-601842BFD0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1776" y="1270000"/>
            <a:ext cx="6067424" cy="5368579"/>
          </a:xfrm>
          <a:prstGeom prst="rect">
            <a:avLst/>
          </a:prstGeom>
        </p:spPr>
      </p:pic>
    </p:spTree>
    <p:extLst>
      <p:ext uri="{BB962C8B-B14F-4D97-AF65-F5344CB8AC3E}">
        <p14:creationId xmlns:p14="http://schemas.microsoft.com/office/powerpoint/2010/main" val="838534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F2212C2-25C3-423F-91C7-7EDCD4999DC8}"/>
              </a:ext>
            </a:extLst>
          </p:cNvPr>
          <p:cNvSpPr>
            <a:spLocks noGrp="1"/>
          </p:cNvSpPr>
          <p:nvPr>
            <p:ph type="title"/>
          </p:nvPr>
        </p:nvSpPr>
        <p:spPr>
          <a:xfrm>
            <a:off x="351527" y="660819"/>
            <a:ext cx="8596668" cy="1320800"/>
          </a:xfrm>
        </p:spPr>
        <p:txBody>
          <a:bodyPr/>
          <a:lstStyle/>
          <a:p>
            <a:r>
              <a:rPr lang="en-US" dirty="0"/>
              <a:t>Understanding the problem: </a:t>
            </a:r>
            <a:br>
              <a:rPr kumimoji="0" lang="en-IN" sz="4400" b="0" i="0" u="none" strike="noStrike" kern="1200" cap="none" spc="0" normalizeH="0" baseline="0" noProof="0" dirty="0">
                <a:ln>
                  <a:noFill/>
                </a:ln>
                <a:solidFill>
                  <a:prstClr val="black"/>
                </a:solidFill>
                <a:effectLst/>
                <a:uLnTx/>
                <a:uFillTx/>
                <a:latin typeface="Calibri" panose="020F0502020204030204"/>
                <a:ea typeface="+mn-ea"/>
                <a:cs typeface="+mn-cs"/>
              </a:rPr>
            </a:br>
            <a:endParaRPr lang="en-IN" dirty="0"/>
          </a:p>
        </p:txBody>
      </p:sp>
      <p:sp>
        <p:nvSpPr>
          <p:cNvPr id="4" name="TextBox 3">
            <a:extLst>
              <a:ext uri="{FF2B5EF4-FFF2-40B4-BE49-F238E27FC236}">
                <a16:creationId xmlns:a16="http://schemas.microsoft.com/office/drawing/2014/main" id="{1217BE51-716D-48E0-833E-1AFCDA5F22E1}"/>
              </a:ext>
            </a:extLst>
          </p:cNvPr>
          <p:cNvSpPr txBox="1"/>
          <p:nvPr/>
        </p:nvSpPr>
        <p:spPr>
          <a:xfrm>
            <a:off x="1053885" y="1451390"/>
            <a:ext cx="8899901" cy="4369209"/>
          </a:xfrm>
          <a:prstGeom prst="rect">
            <a:avLst/>
          </a:prstGeom>
          <a:noFill/>
        </p:spPr>
        <p:txBody>
          <a:bodyPr wrap="square">
            <a:spAutoFit/>
          </a:bodyPr>
          <a:lstStyle/>
          <a:p>
            <a:pPr algn="just">
              <a:lnSpc>
                <a:spcPct val="200000"/>
              </a:lnSpc>
            </a:pPr>
            <a:r>
              <a:rPr lang="en-US" sz="3600" dirty="0"/>
              <a:t>Read the problem’s description carefully and ask questions if you have any doubts about the problem. An input to an algorithm specifies an instance of the problem the algorithm solves.</a:t>
            </a:r>
            <a:endParaRPr lang="en-IN" sz="3600" dirty="0"/>
          </a:p>
        </p:txBody>
      </p:sp>
      <p:grpSp>
        <p:nvGrpSpPr>
          <p:cNvPr id="5" name="Google Shape;181;p25">
            <a:extLst>
              <a:ext uri="{FF2B5EF4-FFF2-40B4-BE49-F238E27FC236}">
                <a16:creationId xmlns:a16="http://schemas.microsoft.com/office/drawing/2014/main" id="{D3EFBCF2-2EE6-4AD8-BF6A-9AEF492F8E1A}"/>
              </a:ext>
            </a:extLst>
          </p:cNvPr>
          <p:cNvGrpSpPr/>
          <p:nvPr/>
        </p:nvGrpSpPr>
        <p:grpSpPr>
          <a:xfrm>
            <a:off x="8893879" y="394957"/>
            <a:ext cx="1319607" cy="1466264"/>
            <a:chOff x="1937772" y="1600603"/>
            <a:chExt cx="3088439" cy="3431676"/>
          </a:xfrm>
        </p:grpSpPr>
        <p:grpSp>
          <p:nvGrpSpPr>
            <p:cNvPr id="7" name="Google Shape;182;p25">
              <a:extLst>
                <a:ext uri="{FF2B5EF4-FFF2-40B4-BE49-F238E27FC236}">
                  <a16:creationId xmlns:a16="http://schemas.microsoft.com/office/drawing/2014/main" id="{089B3416-CE2D-4F25-804C-8268307D18C9}"/>
                </a:ext>
              </a:extLst>
            </p:cNvPr>
            <p:cNvGrpSpPr/>
            <p:nvPr/>
          </p:nvGrpSpPr>
          <p:grpSpPr>
            <a:xfrm rot="10800000">
              <a:off x="2654236" y="2231046"/>
              <a:ext cx="1641920" cy="2801233"/>
              <a:chOff x="8323516" y="1636395"/>
              <a:chExt cx="2070734" cy="3532822"/>
            </a:xfrm>
          </p:grpSpPr>
          <p:sp>
            <p:nvSpPr>
              <p:cNvPr id="17" name="Google Shape;183;p25">
                <a:extLst>
                  <a:ext uri="{FF2B5EF4-FFF2-40B4-BE49-F238E27FC236}">
                    <a16:creationId xmlns:a16="http://schemas.microsoft.com/office/drawing/2014/main" id="{BA5527F0-B534-4505-82D5-C92C26BB7BCF}"/>
                  </a:ext>
                </a:extLst>
              </p:cNvPr>
              <p:cNvSpPr/>
              <p:nvPr/>
            </p:nvSpPr>
            <p:spPr>
              <a:xfrm>
                <a:off x="8323516" y="2619375"/>
                <a:ext cx="2070734" cy="2540317"/>
              </a:xfrm>
              <a:custGeom>
                <a:avLst/>
                <a:gdLst/>
                <a:ahLst/>
                <a:cxnLst/>
                <a:rect l="l" t="t" r="r" b="b"/>
                <a:pathLst>
                  <a:path w="2070734" h="2540317" extrusionOk="0">
                    <a:moveTo>
                      <a:pt x="1035368" y="2540318"/>
                    </a:moveTo>
                    <a:cubicBezTo>
                      <a:pt x="1606868" y="2540318"/>
                      <a:pt x="2070735" y="2076450"/>
                      <a:pt x="2070735" y="1504950"/>
                    </a:cubicBezTo>
                    <a:cubicBezTo>
                      <a:pt x="2070735" y="1214438"/>
                      <a:pt x="1950720" y="952500"/>
                      <a:pt x="1758315" y="763905"/>
                    </a:cubicBezTo>
                    <a:cubicBezTo>
                      <a:pt x="1668780" y="669607"/>
                      <a:pt x="1580197" y="561022"/>
                      <a:pt x="1566862" y="347663"/>
                    </a:cubicBezTo>
                    <a:cubicBezTo>
                      <a:pt x="1555433" y="158115"/>
                      <a:pt x="1565910" y="52388"/>
                      <a:pt x="1450658" y="0"/>
                    </a:cubicBezTo>
                    <a:lnTo>
                      <a:pt x="620078" y="0"/>
                    </a:lnTo>
                    <a:cubicBezTo>
                      <a:pt x="505778" y="52388"/>
                      <a:pt x="515303" y="158115"/>
                      <a:pt x="504825" y="347663"/>
                    </a:cubicBezTo>
                    <a:cubicBezTo>
                      <a:pt x="493395" y="548640"/>
                      <a:pt x="407670" y="661035"/>
                      <a:pt x="325755" y="750570"/>
                    </a:cubicBezTo>
                    <a:cubicBezTo>
                      <a:pt x="125730" y="939165"/>
                      <a:pt x="0" y="1206818"/>
                      <a:pt x="0" y="1503998"/>
                    </a:cubicBezTo>
                    <a:cubicBezTo>
                      <a:pt x="0" y="2076450"/>
                      <a:pt x="463868" y="2540318"/>
                      <a:pt x="1035368" y="2540318"/>
                    </a:cubicBez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4;p25">
                <a:extLst>
                  <a:ext uri="{FF2B5EF4-FFF2-40B4-BE49-F238E27FC236}">
                    <a16:creationId xmlns:a16="http://schemas.microsoft.com/office/drawing/2014/main" id="{FCFD45E3-8083-4C07-9B95-C28A034E3A08}"/>
                  </a:ext>
                </a:extLst>
              </p:cNvPr>
              <p:cNvSpPr/>
              <p:nvPr/>
            </p:nvSpPr>
            <p:spPr>
              <a:xfrm>
                <a:off x="8880728" y="2304097"/>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3"/>
                      <a:pt x="902970" y="54293"/>
                    </a:cubicBezTo>
                    <a:lnTo>
                      <a:pt x="26670" y="105728"/>
                    </a:lnTo>
                    <a:cubicBezTo>
                      <a:pt x="11430" y="105728"/>
                      <a:pt x="0" y="93345"/>
                      <a:pt x="0" y="79058"/>
                    </a:cubicBezTo>
                    <a:lnTo>
                      <a:pt x="0" y="78105"/>
                    </a:lnTo>
                    <a:close/>
                  </a:path>
                </a:pathLst>
              </a:custGeom>
              <a:solidFill>
                <a:srgbClr val="9E9E9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85;p25">
                <a:extLst>
                  <a:ext uri="{FF2B5EF4-FFF2-40B4-BE49-F238E27FC236}">
                    <a16:creationId xmlns:a16="http://schemas.microsoft.com/office/drawing/2014/main" id="{967722C5-E580-4E8A-9907-C0CE1F52638A}"/>
                  </a:ext>
                </a:extLst>
              </p:cNvPr>
              <p:cNvSpPr/>
              <p:nvPr/>
            </p:nvSpPr>
            <p:spPr>
              <a:xfrm>
                <a:off x="8884538" y="2357437"/>
                <a:ext cx="931545" cy="105727"/>
              </a:xfrm>
              <a:custGeom>
                <a:avLst/>
                <a:gdLst/>
                <a:ahLst/>
                <a:cxnLst/>
                <a:rect l="l" t="t" r="r" b="b"/>
                <a:pathLst>
                  <a:path w="931545" h="105727" extrusionOk="0">
                    <a:moveTo>
                      <a:pt x="0" y="78105"/>
                    </a:moveTo>
                    <a:cubicBezTo>
                      <a:pt x="0" y="62865"/>
                      <a:pt x="9525" y="51435"/>
                      <a:pt x="24765" y="51435"/>
                    </a:cubicBezTo>
                    <a:lnTo>
                      <a:pt x="902970" y="0"/>
                    </a:lnTo>
                    <a:cubicBezTo>
                      <a:pt x="918210" y="0"/>
                      <a:pt x="931545" y="12383"/>
                      <a:pt x="931545" y="26670"/>
                    </a:cubicBezTo>
                    <a:lnTo>
                      <a:pt x="931545" y="27622"/>
                    </a:lnTo>
                    <a:cubicBezTo>
                      <a:pt x="931545" y="42863"/>
                      <a:pt x="917258" y="54292"/>
                      <a:pt x="902018" y="54292"/>
                    </a:cubicBezTo>
                    <a:lnTo>
                      <a:pt x="26670" y="105728"/>
                    </a:lnTo>
                    <a:cubicBezTo>
                      <a:pt x="11430" y="105728"/>
                      <a:pt x="952" y="93345"/>
                      <a:pt x="952" y="79058"/>
                    </a:cubicBezTo>
                    <a:lnTo>
                      <a:pt x="952" y="78105"/>
                    </a:ln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 name="Google Shape;186;p25">
                <a:extLst>
                  <a:ext uri="{FF2B5EF4-FFF2-40B4-BE49-F238E27FC236}">
                    <a16:creationId xmlns:a16="http://schemas.microsoft.com/office/drawing/2014/main" id="{14FFA37C-2CCA-47AB-894F-8CFB9A22EA02}"/>
                  </a:ext>
                </a:extLst>
              </p:cNvPr>
              <p:cNvSpPr/>
              <p:nvPr/>
            </p:nvSpPr>
            <p:spPr>
              <a:xfrm>
                <a:off x="8862312" y="1789747"/>
                <a:ext cx="968633" cy="351613"/>
              </a:xfrm>
              <a:custGeom>
                <a:avLst/>
                <a:gdLst/>
                <a:ahLst/>
                <a:cxnLst/>
                <a:rect l="l" t="t" r="r" b="b"/>
                <a:pathLst>
                  <a:path w="968633" h="351613" extrusionOk="0">
                    <a:moveTo>
                      <a:pt x="240348" y="0"/>
                    </a:moveTo>
                    <a:lnTo>
                      <a:pt x="739458" y="0"/>
                    </a:lnTo>
                    <a:cubicBezTo>
                      <a:pt x="950913" y="162878"/>
                      <a:pt x="967106" y="248603"/>
                      <a:pt x="967106" y="248603"/>
                    </a:cubicBezTo>
                    <a:cubicBezTo>
                      <a:pt x="975678" y="281940"/>
                      <a:pt x="947103" y="303848"/>
                      <a:pt x="908051" y="301943"/>
                    </a:cubicBezTo>
                    <a:lnTo>
                      <a:pt x="65088" y="351473"/>
                    </a:lnTo>
                    <a:cubicBezTo>
                      <a:pt x="26036" y="354330"/>
                      <a:pt x="-15874" y="313373"/>
                      <a:pt x="6033" y="247650"/>
                    </a:cubicBezTo>
                    <a:cubicBezTo>
                      <a:pt x="6986" y="248603"/>
                      <a:pt x="36513" y="143828"/>
                      <a:pt x="240348" y="0"/>
                    </a:cubicBez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 name="Google Shape;187;p25">
                <a:extLst>
                  <a:ext uri="{FF2B5EF4-FFF2-40B4-BE49-F238E27FC236}">
                    <a16:creationId xmlns:a16="http://schemas.microsoft.com/office/drawing/2014/main" id="{9AEC6C86-9FB7-4A78-9FAA-270E40B6766C}"/>
                  </a:ext>
                </a:extLst>
              </p:cNvPr>
              <p:cNvSpPr/>
              <p:nvPr/>
            </p:nvSpPr>
            <p:spPr>
              <a:xfrm>
                <a:off x="8882633" y="2410777"/>
                <a:ext cx="931544" cy="105727"/>
              </a:xfrm>
              <a:custGeom>
                <a:avLst/>
                <a:gdLst/>
                <a:ahLst/>
                <a:cxnLst/>
                <a:rect l="l" t="t" r="r" b="b"/>
                <a:pathLst>
                  <a:path w="931544" h="105727" extrusionOk="0">
                    <a:moveTo>
                      <a:pt x="0" y="78105"/>
                    </a:moveTo>
                    <a:cubicBezTo>
                      <a:pt x="0" y="62865"/>
                      <a:pt x="10477" y="51435"/>
                      <a:pt x="25717" y="51435"/>
                    </a:cubicBezTo>
                    <a:lnTo>
                      <a:pt x="903922" y="0"/>
                    </a:lnTo>
                    <a:cubicBezTo>
                      <a:pt x="919163" y="0"/>
                      <a:pt x="931545" y="12382"/>
                      <a:pt x="931545" y="26670"/>
                    </a:cubicBezTo>
                    <a:lnTo>
                      <a:pt x="931545" y="27622"/>
                    </a:lnTo>
                    <a:cubicBezTo>
                      <a:pt x="931545" y="42863"/>
                      <a:pt x="918210" y="54292"/>
                      <a:pt x="902970" y="54292"/>
                    </a:cubicBezTo>
                    <a:lnTo>
                      <a:pt x="26670" y="105728"/>
                    </a:lnTo>
                    <a:cubicBezTo>
                      <a:pt x="11430" y="105728"/>
                      <a:pt x="952" y="93345"/>
                      <a:pt x="952" y="79057"/>
                    </a:cubicBezTo>
                    <a:lnTo>
                      <a:pt x="952" y="78105"/>
                    </a:lnTo>
                    <a:close/>
                  </a:path>
                </a:pathLst>
              </a:custGeom>
              <a:solidFill>
                <a:srgbClr val="9E9E9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2" name="Google Shape;188;p25">
                <a:extLst>
                  <a:ext uri="{FF2B5EF4-FFF2-40B4-BE49-F238E27FC236}">
                    <a16:creationId xmlns:a16="http://schemas.microsoft.com/office/drawing/2014/main" id="{818D3C50-DE51-48C2-A39B-F1F4C285A74A}"/>
                  </a:ext>
                </a:extLst>
              </p:cNvPr>
              <p:cNvSpPr/>
              <p:nvPr/>
            </p:nvSpPr>
            <p:spPr>
              <a:xfrm>
                <a:off x="8880728" y="2249804"/>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2"/>
                      <a:pt x="902970" y="54292"/>
                    </a:cubicBezTo>
                    <a:lnTo>
                      <a:pt x="26670" y="105728"/>
                    </a:lnTo>
                    <a:cubicBezTo>
                      <a:pt x="11430" y="105728"/>
                      <a:pt x="0" y="93345"/>
                      <a:pt x="0" y="79058"/>
                    </a:cubicBezTo>
                    <a:lnTo>
                      <a:pt x="0" y="78105"/>
                    </a:ln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 name="Google Shape;189;p25">
                <a:extLst>
                  <a:ext uri="{FF2B5EF4-FFF2-40B4-BE49-F238E27FC236}">
                    <a16:creationId xmlns:a16="http://schemas.microsoft.com/office/drawing/2014/main" id="{C2B25E74-5D0C-44DD-80F2-8A9B0C58204A}"/>
                  </a:ext>
                </a:extLst>
              </p:cNvPr>
              <p:cNvSpPr/>
              <p:nvPr/>
            </p:nvSpPr>
            <p:spPr>
              <a:xfrm>
                <a:off x="8880728" y="2194559"/>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3"/>
                      <a:pt x="902970" y="54293"/>
                    </a:cubicBezTo>
                    <a:lnTo>
                      <a:pt x="26670" y="105728"/>
                    </a:lnTo>
                    <a:cubicBezTo>
                      <a:pt x="11430" y="105728"/>
                      <a:pt x="0" y="93345"/>
                      <a:pt x="0" y="79058"/>
                    </a:cubicBezTo>
                    <a:lnTo>
                      <a:pt x="0" y="78105"/>
                    </a:lnTo>
                    <a:close/>
                  </a:path>
                </a:pathLst>
              </a:custGeom>
              <a:solidFill>
                <a:srgbClr val="9E9E9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4" name="Google Shape;190;p25">
                <a:extLst>
                  <a:ext uri="{FF2B5EF4-FFF2-40B4-BE49-F238E27FC236}">
                    <a16:creationId xmlns:a16="http://schemas.microsoft.com/office/drawing/2014/main" id="{94A86CA4-2D3C-4C63-BF8D-E9977D859B31}"/>
                  </a:ext>
                </a:extLst>
              </p:cNvPr>
              <p:cNvSpPr/>
              <p:nvPr/>
            </p:nvSpPr>
            <p:spPr>
              <a:xfrm>
                <a:off x="8880728" y="2142172"/>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3"/>
                      <a:pt x="902970" y="54293"/>
                    </a:cubicBezTo>
                    <a:lnTo>
                      <a:pt x="26670" y="105728"/>
                    </a:lnTo>
                    <a:cubicBezTo>
                      <a:pt x="11430" y="105728"/>
                      <a:pt x="0" y="93345"/>
                      <a:pt x="0" y="79058"/>
                    </a:cubicBezTo>
                    <a:lnTo>
                      <a:pt x="0" y="78105"/>
                    </a:ln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5" name="Google Shape;191;p25">
                <a:extLst>
                  <a:ext uri="{FF2B5EF4-FFF2-40B4-BE49-F238E27FC236}">
                    <a16:creationId xmlns:a16="http://schemas.microsoft.com/office/drawing/2014/main" id="{F88869D0-163C-4769-8627-895BA4788873}"/>
                  </a:ext>
                </a:extLst>
              </p:cNvPr>
              <p:cNvSpPr/>
              <p:nvPr/>
            </p:nvSpPr>
            <p:spPr>
              <a:xfrm>
                <a:off x="8880728" y="2089784"/>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3"/>
                      <a:pt x="902970" y="54293"/>
                    </a:cubicBezTo>
                    <a:lnTo>
                      <a:pt x="26670" y="105728"/>
                    </a:lnTo>
                    <a:cubicBezTo>
                      <a:pt x="11430" y="105728"/>
                      <a:pt x="0" y="93345"/>
                      <a:pt x="0" y="79058"/>
                    </a:cubicBezTo>
                    <a:lnTo>
                      <a:pt x="0" y="78105"/>
                    </a:lnTo>
                    <a:close/>
                  </a:path>
                </a:pathLst>
              </a:custGeom>
              <a:solidFill>
                <a:srgbClr val="9E9E9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6" name="Google Shape;192;p25">
                <a:extLst>
                  <a:ext uri="{FF2B5EF4-FFF2-40B4-BE49-F238E27FC236}">
                    <a16:creationId xmlns:a16="http://schemas.microsoft.com/office/drawing/2014/main" id="{F5522179-99FC-43F6-A563-E4162F676DA1}"/>
                  </a:ext>
                </a:extLst>
              </p:cNvPr>
              <p:cNvSpPr/>
              <p:nvPr/>
            </p:nvSpPr>
            <p:spPr>
              <a:xfrm>
                <a:off x="9103613" y="1636395"/>
                <a:ext cx="497204" cy="159565"/>
              </a:xfrm>
              <a:custGeom>
                <a:avLst/>
                <a:gdLst/>
                <a:ahLst/>
                <a:cxnLst/>
                <a:rect l="l" t="t" r="r" b="b"/>
                <a:pathLst>
                  <a:path w="497204" h="159565" extrusionOk="0">
                    <a:moveTo>
                      <a:pt x="0" y="150495"/>
                    </a:moveTo>
                    <a:cubicBezTo>
                      <a:pt x="0" y="117158"/>
                      <a:pt x="111442" y="0"/>
                      <a:pt x="248602" y="0"/>
                    </a:cubicBezTo>
                    <a:cubicBezTo>
                      <a:pt x="385763" y="0"/>
                      <a:pt x="497205" y="117158"/>
                      <a:pt x="497205" y="150495"/>
                    </a:cubicBezTo>
                    <a:cubicBezTo>
                      <a:pt x="497205" y="165735"/>
                      <a:pt x="384810" y="157163"/>
                      <a:pt x="246697" y="157163"/>
                    </a:cubicBezTo>
                    <a:cubicBezTo>
                      <a:pt x="110490" y="158115"/>
                      <a:pt x="0" y="164783"/>
                      <a:pt x="0" y="150495"/>
                    </a:cubicBezTo>
                    <a:close/>
                  </a:path>
                </a:pathLst>
              </a:custGeom>
              <a:solidFill>
                <a:srgbClr val="54545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 name="Google Shape;193;p25">
                <a:extLst>
                  <a:ext uri="{FF2B5EF4-FFF2-40B4-BE49-F238E27FC236}">
                    <a16:creationId xmlns:a16="http://schemas.microsoft.com/office/drawing/2014/main" id="{BFDAE67A-A0DB-4A9F-B846-AD7C74B15E3B}"/>
                  </a:ext>
                </a:extLst>
              </p:cNvPr>
              <p:cNvSpPr/>
              <p:nvPr/>
            </p:nvSpPr>
            <p:spPr>
              <a:xfrm>
                <a:off x="8879776" y="2440227"/>
                <a:ext cx="960120" cy="188672"/>
              </a:xfrm>
              <a:custGeom>
                <a:avLst/>
                <a:gdLst/>
                <a:ahLst/>
                <a:cxnLst/>
                <a:rect l="l" t="t" r="r" b="b"/>
                <a:pathLst>
                  <a:path w="960120" h="188672" extrusionOk="0">
                    <a:moveTo>
                      <a:pt x="0" y="112473"/>
                    </a:moveTo>
                    <a:cubicBezTo>
                      <a:pt x="0" y="83898"/>
                      <a:pt x="5715" y="77230"/>
                      <a:pt x="25717" y="74373"/>
                    </a:cubicBezTo>
                    <a:lnTo>
                      <a:pt x="899160" y="78"/>
                    </a:lnTo>
                    <a:cubicBezTo>
                      <a:pt x="941070" y="-1827"/>
                      <a:pt x="957262" y="31510"/>
                      <a:pt x="957262" y="60085"/>
                    </a:cubicBezTo>
                    <a:lnTo>
                      <a:pt x="960120" y="137238"/>
                    </a:lnTo>
                    <a:cubicBezTo>
                      <a:pt x="960120" y="165813"/>
                      <a:pt x="933450" y="188673"/>
                      <a:pt x="901065" y="188673"/>
                    </a:cubicBezTo>
                    <a:lnTo>
                      <a:pt x="320040" y="188673"/>
                    </a:lnTo>
                    <a:lnTo>
                      <a:pt x="59055" y="188673"/>
                    </a:lnTo>
                    <a:cubicBezTo>
                      <a:pt x="26670" y="188673"/>
                      <a:pt x="0" y="165813"/>
                      <a:pt x="0" y="137238"/>
                    </a:cubicBezTo>
                    <a:lnTo>
                      <a:pt x="0" y="112473"/>
                    </a:ln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8" name="Google Shape;194;p25">
                <a:extLst>
                  <a:ext uri="{FF2B5EF4-FFF2-40B4-BE49-F238E27FC236}">
                    <a16:creationId xmlns:a16="http://schemas.microsoft.com/office/drawing/2014/main" id="{C46EBA67-D2EC-4088-9273-C910CA546FE1}"/>
                  </a:ext>
                </a:extLst>
              </p:cNvPr>
              <p:cNvSpPr/>
              <p:nvPr/>
            </p:nvSpPr>
            <p:spPr>
              <a:xfrm>
                <a:off x="8323516" y="2627947"/>
                <a:ext cx="2070734" cy="2541270"/>
              </a:xfrm>
              <a:custGeom>
                <a:avLst/>
                <a:gdLst/>
                <a:ahLst/>
                <a:cxnLst/>
                <a:rect l="l" t="t" r="r" b="b"/>
                <a:pathLst>
                  <a:path w="2070734" h="2541270" extrusionOk="0">
                    <a:moveTo>
                      <a:pt x="1035368" y="2541270"/>
                    </a:moveTo>
                    <a:cubicBezTo>
                      <a:pt x="1606868" y="2541270"/>
                      <a:pt x="2070735" y="2077403"/>
                      <a:pt x="2070735" y="1505903"/>
                    </a:cubicBezTo>
                    <a:cubicBezTo>
                      <a:pt x="2070735" y="1215390"/>
                      <a:pt x="1950720" y="953453"/>
                      <a:pt x="1758315" y="764858"/>
                    </a:cubicBezTo>
                    <a:cubicBezTo>
                      <a:pt x="1668780" y="670560"/>
                      <a:pt x="1580197" y="561022"/>
                      <a:pt x="1566862" y="348615"/>
                    </a:cubicBezTo>
                    <a:cubicBezTo>
                      <a:pt x="1555433" y="159068"/>
                      <a:pt x="1565910" y="55245"/>
                      <a:pt x="1450658" y="0"/>
                    </a:cubicBezTo>
                    <a:lnTo>
                      <a:pt x="620078" y="0"/>
                    </a:lnTo>
                    <a:cubicBezTo>
                      <a:pt x="505778" y="55245"/>
                      <a:pt x="515303" y="159068"/>
                      <a:pt x="504825" y="348615"/>
                    </a:cubicBezTo>
                    <a:cubicBezTo>
                      <a:pt x="493395" y="549593"/>
                      <a:pt x="407670" y="661988"/>
                      <a:pt x="325755" y="752475"/>
                    </a:cubicBezTo>
                    <a:cubicBezTo>
                      <a:pt x="125730" y="941070"/>
                      <a:pt x="0" y="1209675"/>
                      <a:pt x="0" y="1505903"/>
                    </a:cubicBezTo>
                    <a:cubicBezTo>
                      <a:pt x="0" y="2077403"/>
                      <a:pt x="463868" y="2541270"/>
                      <a:pt x="1035368" y="2541270"/>
                    </a:cubicBezTo>
                    <a:close/>
                    <a:moveTo>
                      <a:pt x="331470" y="755333"/>
                    </a:moveTo>
                    <a:cubicBezTo>
                      <a:pt x="412432" y="665797"/>
                      <a:pt x="498157" y="554355"/>
                      <a:pt x="509587" y="355283"/>
                    </a:cubicBezTo>
                    <a:cubicBezTo>
                      <a:pt x="521018" y="167640"/>
                      <a:pt x="510540" y="61913"/>
                      <a:pt x="624840" y="10478"/>
                    </a:cubicBezTo>
                    <a:lnTo>
                      <a:pt x="1450658" y="10478"/>
                    </a:lnTo>
                    <a:cubicBezTo>
                      <a:pt x="1564958" y="61913"/>
                      <a:pt x="1554480" y="167640"/>
                      <a:pt x="1565910" y="355283"/>
                    </a:cubicBezTo>
                    <a:cubicBezTo>
                      <a:pt x="1578293" y="566738"/>
                      <a:pt x="1666875" y="674370"/>
                      <a:pt x="1755458" y="768668"/>
                    </a:cubicBezTo>
                    <a:cubicBezTo>
                      <a:pt x="1946910" y="955358"/>
                      <a:pt x="2065972" y="1216343"/>
                      <a:pt x="2065972" y="1504950"/>
                    </a:cubicBezTo>
                    <a:cubicBezTo>
                      <a:pt x="2065972" y="2073593"/>
                      <a:pt x="1604010" y="2536508"/>
                      <a:pt x="1035368" y="2536508"/>
                    </a:cubicBezTo>
                    <a:cubicBezTo>
                      <a:pt x="466725" y="2536508"/>
                      <a:pt x="8573" y="2073593"/>
                      <a:pt x="8573" y="1504950"/>
                    </a:cubicBezTo>
                    <a:cubicBezTo>
                      <a:pt x="7620" y="1209675"/>
                      <a:pt x="132398" y="942975"/>
                      <a:pt x="331470" y="755333"/>
                    </a:cubicBezTo>
                    <a:close/>
                  </a:path>
                </a:pathLst>
              </a:custGeom>
              <a:solidFill>
                <a:srgbClr val="303035">
                  <a:alpha val="22745"/>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195;p25">
                <a:extLst>
                  <a:ext uri="{FF2B5EF4-FFF2-40B4-BE49-F238E27FC236}">
                    <a16:creationId xmlns:a16="http://schemas.microsoft.com/office/drawing/2014/main" id="{3B370D45-7590-4005-B850-000F7A76D0B4}"/>
                  </a:ext>
                </a:extLst>
              </p:cNvPr>
              <p:cNvSpPr/>
              <p:nvPr/>
            </p:nvSpPr>
            <p:spPr>
              <a:xfrm>
                <a:off x="8323516" y="2628900"/>
                <a:ext cx="1373505" cy="2540317"/>
              </a:xfrm>
              <a:custGeom>
                <a:avLst/>
                <a:gdLst/>
                <a:ahLst/>
                <a:cxnLst/>
                <a:rect l="l" t="t" r="r" b="b"/>
                <a:pathLst>
                  <a:path w="1373505" h="2540317" extrusionOk="0">
                    <a:moveTo>
                      <a:pt x="1035368" y="2540318"/>
                    </a:moveTo>
                    <a:cubicBezTo>
                      <a:pt x="1153478" y="2540318"/>
                      <a:pt x="1267778" y="2520315"/>
                      <a:pt x="1373505" y="2484120"/>
                    </a:cubicBezTo>
                    <a:cubicBezTo>
                      <a:pt x="1273493" y="2516505"/>
                      <a:pt x="1165860" y="2537460"/>
                      <a:pt x="1054418" y="2537460"/>
                    </a:cubicBezTo>
                    <a:cubicBezTo>
                      <a:pt x="482918" y="2537460"/>
                      <a:pt x="8573" y="2071688"/>
                      <a:pt x="8573" y="1500188"/>
                    </a:cubicBezTo>
                    <a:cubicBezTo>
                      <a:pt x="8573" y="1203007"/>
                      <a:pt x="141923" y="934403"/>
                      <a:pt x="341948" y="745807"/>
                    </a:cubicBezTo>
                    <a:cubicBezTo>
                      <a:pt x="423862" y="655320"/>
                      <a:pt x="499110" y="540068"/>
                      <a:pt x="510540" y="339090"/>
                    </a:cubicBezTo>
                    <a:cubicBezTo>
                      <a:pt x="521018" y="157163"/>
                      <a:pt x="508635" y="52388"/>
                      <a:pt x="626745" y="0"/>
                    </a:cubicBezTo>
                    <a:lnTo>
                      <a:pt x="620078" y="0"/>
                    </a:lnTo>
                    <a:cubicBezTo>
                      <a:pt x="505778" y="55245"/>
                      <a:pt x="515303" y="159068"/>
                      <a:pt x="504825" y="348615"/>
                    </a:cubicBezTo>
                    <a:cubicBezTo>
                      <a:pt x="493395" y="549593"/>
                      <a:pt x="407670" y="661988"/>
                      <a:pt x="325755" y="752475"/>
                    </a:cubicBezTo>
                    <a:cubicBezTo>
                      <a:pt x="125730" y="941070"/>
                      <a:pt x="0" y="1209675"/>
                      <a:pt x="0" y="1505903"/>
                    </a:cubicBezTo>
                    <a:cubicBezTo>
                      <a:pt x="0" y="2076450"/>
                      <a:pt x="463868" y="2540318"/>
                      <a:pt x="1035368" y="2540318"/>
                    </a:cubicBezTo>
                    <a:close/>
                  </a:path>
                </a:pathLst>
              </a:custGeom>
              <a:solidFill>
                <a:srgbClr val="FFFFFF">
                  <a:alpha val="27843"/>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0" name="Google Shape;196;p25">
                <a:extLst>
                  <a:ext uri="{FF2B5EF4-FFF2-40B4-BE49-F238E27FC236}">
                    <a16:creationId xmlns:a16="http://schemas.microsoft.com/office/drawing/2014/main" id="{A91F1317-3DA3-4DCA-A1A3-11D3937F04A5}"/>
                  </a:ext>
                </a:extLst>
              </p:cNvPr>
              <p:cNvSpPr/>
              <p:nvPr/>
            </p:nvSpPr>
            <p:spPr>
              <a:xfrm>
                <a:off x="8943593" y="2627947"/>
                <a:ext cx="831532" cy="3809"/>
              </a:xfrm>
              <a:custGeom>
                <a:avLst/>
                <a:gdLst/>
                <a:ahLst/>
                <a:cxnLst/>
                <a:rect l="l" t="t" r="r" b="b"/>
                <a:pathLst>
                  <a:path w="831532" h="3809" extrusionOk="0">
                    <a:moveTo>
                      <a:pt x="831532" y="953"/>
                    </a:moveTo>
                    <a:lnTo>
                      <a:pt x="727710" y="1905"/>
                    </a:lnTo>
                    <a:lnTo>
                      <a:pt x="623888" y="2858"/>
                    </a:lnTo>
                    <a:cubicBezTo>
                      <a:pt x="554355" y="3810"/>
                      <a:pt x="484822" y="3810"/>
                      <a:pt x="416242" y="3810"/>
                    </a:cubicBezTo>
                    <a:lnTo>
                      <a:pt x="312420" y="3810"/>
                    </a:lnTo>
                    <a:lnTo>
                      <a:pt x="260033" y="3810"/>
                    </a:lnTo>
                    <a:lnTo>
                      <a:pt x="207645" y="3810"/>
                    </a:lnTo>
                    <a:lnTo>
                      <a:pt x="103822" y="1905"/>
                    </a:lnTo>
                    <a:lnTo>
                      <a:pt x="0" y="0"/>
                    </a:lnTo>
                    <a:lnTo>
                      <a:pt x="103822" y="0"/>
                    </a:lnTo>
                    <a:lnTo>
                      <a:pt x="207645" y="0"/>
                    </a:lnTo>
                    <a:lnTo>
                      <a:pt x="260033" y="0"/>
                    </a:lnTo>
                    <a:lnTo>
                      <a:pt x="312420" y="0"/>
                    </a:lnTo>
                    <a:lnTo>
                      <a:pt x="416242" y="0"/>
                    </a:lnTo>
                    <a:cubicBezTo>
                      <a:pt x="485775" y="0"/>
                      <a:pt x="554355" y="0"/>
                      <a:pt x="623888" y="0"/>
                    </a:cubicBezTo>
                    <a:lnTo>
                      <a:pt x="727710" y="0"/>
                    </a:lnTo>
                    <a:lnTo>
                      <a:pt x="831532" y="953"/>
                    </a:lnTo>
                    <a:close/>
                  </a:path>
                </a:pathLst>
              </a:custGeom>
              <a:solidFill>
                <a:srgbClr val="38383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8" name="Google Shape;197;p25">
              <a:extLst>
                <a:ext uri="{FF2B5EF4-FFF2-40B4-BE49-F238E27FC236}">
                  <a16:creationId xmlns:a16="http://schemas.microsoft.com/office/drawing/2014/main" id="{7B0B4322-7B99-46F2-B088-86590586F821}"/>
                </a:ext>
              </a:extLst>
            </p:cNvPr>
            <p:cNvGrpSpPr/>
            <p:nvPr/>
          </p:nvGrpSpPr>
          <p:grpSpPr>
            <a:xfrm rot="10800000">
              <a:off x="1937772" y="1600603"/>
              <a:ext cx="3088439" cy="2173756"/>
              <a:chOff x="7214791" y="3217331"/>
              <a:chExt cx="4182101" cy="2943516"/>
            </a:xfrm>
          </p:grpSpPr>
          <p:sp>
            <p:nvSpPr>
              <p:cNvPr id="9" name="Google Shape;198;p25">
                <a:extLst>
                  <a:ext uri="{FF2B5EF4-FFF2-40B4-BE49-F238E27FC236}">
                    <a16:creationId xmlns:a16="http://schemas.microsoft.com/office/drawing/2014/main" id="{41751D32-4F59-4BE5-B293-99F709061770}"/>
                  </a:ext>
                </a:extLst>
              </p:cNvPr>
              <p:cNvSpPr/>
              <p:nvPr/>
            </p:nvSpPr>
            <p:spPr>
              <a:xfrm>
                <a:off x="10620372" y="3217331"/>
                <a:ext cx="663554" cy="422383"/>
              </a:xfrm>
              <a:custGeom>
                <a:avLst/>
                <a:gdLst/>
                <a:ahLst/>
                <a:cxnLst/>
                <a:rect l="l" t="t" r="r" b="b"/>
                <a:pathLst>
                  <a:path w="663554" h="422383" extrusionOk="0">
                    <a:moveTo>
                      <a:pt x="652084" y="51648"/>
                    </a:moveTo>
                    <a:cubicBezTo>
                      <a:pt x="673039" y="92606"/>
                      <a:pt x="664466" y="138325"/>
                      <a:pt x="633034" y="153565"/>
                    </a:cubicBezTo>
                    <a:lnTo>
                      <a:pt x="103444" y="417408"/>
                    </a:lnTo>
                    <a:cubicBezTo>
                      <a:pt x="72964" y="432648"/>
                      <a:pt x="31054" y="411693"/>
                      <a:pt x="11051" y="370736"/>
                    </a:cubicBezTo>
                    <a:lnTo>
                      <a:pt x="11051" y="370736"/>
                    </a:lnTo>
                    <a:cubicBezTo>
                      <a:pt x="-8951" y="329778"/>
                      <a:pt x="-1331" y="284058"/>
                      <a:pt x="30101" y="268818"/>
                    </a:cubicBezTo>
                    <a:lnTo>
                      <a:pt x="559691" y="4975"/>
                    </a:lnTo>
                    <a:cubicBezTo>
                      <a:pt x="590171" y="-10264"/>
                      <a:pt x="631129" y="10690"/>
                      <a:pt x="652084" y="51648"/>
                    </a:cubicBezTo>
                    <a:lnTo>
                      <a:pt x="652084" y="51648"/>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0" name="Google Shape;199;p25">
                <a:extLst>
                  <a:ext uri="{FF2B5EF4-FFF2-40B4-BE49-F238E27FC236}">
                    <a16:creationId xmlns:a16="http://schemas.microsoft.com/office/drawing/2014/main" id="{FD187587-F6F7-49A4-AB2E-1B25DB0C015E}"/>
                  </a:ext>
                </a:extLst>
              </p:cNvPr>
              <p:cNvSpPr/>
              <p:nvPr/>
            </p:nvSpPr>
            <p:spPr>
              <a:xfrm>
                <a:off x="10689511" y="4134883"/>
                <a:ext cx="707381" cy="267489"/>
              </a:xfrm>
              <a:custGeom>
                <a:avLst/>
                <a:gdLst/>
                <a:ahLst/>
                <a:cxnLst/>
                <a:rect l="l" t="t" r="r" b="b"/>
                <a:pathLst>
                  <a:path w="707381" h="267489" extrusionOk="0">
                    <a:moveTo>
                      <a:pt x="705817" y="196134"/>
                    </a:moveTo>
                    <a:cubicBezTo>
                      <a:pt x="698197" y="240901"/>
                      <a:pt x="663907" y="273286"/>
                      <a:pt x="630569" y="266619"/>
                    </a:cubicBezTo>
                    <a:lnTo>
                      <a:pt x="48592" y="163748"/>
                    </a:lnTo>
                    <a:cubicBezTo>
                      <a:pt x="14302" y="158034"/>
                      <a:pt x="-6653" y="116123"/>
                      <a:pt x="1919" y="71356"/>
                    </a:cubicBezTo>
                    <a:lnTo>
                      <a:pt x="1919" y="71356"/>
                    </a:lnTo>
                    <a:cubicBezTo>
                      <a:pt x="9539" y="26588"/>
                      <a:pt x="43829" y="-5796"/>
                      <a:pt x="77167" y="871"/>
                    </a:cubicBezTo>
                    <a:lnTo>
                      <a:pt x="659144" y="103741"/>
                    </a:lnTo>
                    <a:cubicBezTo>
                      <a:pt x="692482" y="109456"/>
                      <a:pt x="713437" y="151366"/>
                      <a:pt x="705817" y="196134"/>
                    </a:cubicBezTo>
                    <a:lnTo>
                      <a:pt x="705817" y="196134"/>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 name="Google Shape;200;p25">
                <a:extLst>
                  <a:ext uri="{FF2B5EF4-FFF2-40B4-BE49-F238E27FC236}">
                    <a16:creationId xmlns:a16="http://schemas.microsoft.com/office/drawing/2014/main" id="{D8D2DFEE-CB37-4C11-ABC0-2F221BCFF296}"/>
                  </a:ext>
                </a:extLst>
              </p:cNvPr>
              <p:cNvSpPr/>
              <p:nvPr/>
            </p:nvSpPr>
            <p:spPr>
              <a:xfrm>
                <a:off x="10420804" y="4997866"/>
                <a:ext cx="571039" cy="558919"/>
              </a:xfrm>
              <a:custGeom>
                <a:avLst/>
                <a:gdLst/>
                <a:ahLst/>
                <a:cxnLst/>
                <a:rect l="l" t="t" r="r" b="b"/>
                <a:pathLst>
                  <a:path w="571039" h="558919" extrusionOk="0">
                    <a:moveTo>
                      <a:pt x="543042" y="528538"/>
                    </a:moveTo>
                    <a:cubicBezTo>
                      <a:pt x="510657" y="561876"/>
                      <a:pt x="464937" y="568544"/>
                      <a:pt x="440172" y="544731"/>
                    </a:cubicBezTo>
                    <a:lnTo>
                      <a:pt x="15357" y="133251"/>
                    </a:lnTo>
                    <a:cubicBezTo>
                      <a:pt x="-9408" y="109438"/>
                      <a:pt x="-3693" y="63719"/>
                      <a:pt x="28692" y="30381"/>
                    </a:cubicBezTo>
                    <a:lnTo>
                      <a:pt x="28692" y="30381"/>
                    </a:lnTo>
                    <a:cubicBezTo>
                      <a:pt x="60124" y="-2956"/>
                      <a:pt x="106797" y="-9624"/>
                      <a:pt x="131562" y="14188"/>
                    </a:cubicBezTo>
                    <a:lnTo>
                      <a:pt x="556377" y="425669"/>
                    </a:lnTo>
                    <a:cubicBezTo>
                      <a:pt x="580189" y="449481"/>
                      <a:pt x="574474" y="495201"/>
                      <a:pt x="543042" y="528538"/>
                    </a:cubicBezTo>
                    <a:lnTo>
                      <a:pt x="543042" y="528538"/>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2" name="Google Shape;201;p25">
                <a:extLst>
                  <a:ext uri="{FF2B5EF4-FFF2-40B4-BE49-F238E27FC236}">
                    <a16:creationId xmlns:a16="http://schemas.microsoft.com/office/drawing/2014/main" id="{CA7E9C1D-E563-400F-B52E-534E4593BECE}"/>
                  </a:ext>
                </a:extLst>
              </p:cNvPr>
              <p:cNvSpPr/>
              <p:nvPr/>
            </p:nvSpPr>
            <p:spPr>
              <a:xfrm>
                <a:off x="7327579" y="3217331"/>
                <a:ext cx="663135" cy="422383"/>
              </a:xfrm>
              <a:custGeom>
                <a:avLst/>
                <a:gdLst/>
                <a:ahLst/>
                <a:cxnLst/>
                <a:rect l="l" t="t" r="r" b="b"/>
                <a:pathLst>
                  <a:path w="663135" h="422383" extrusionOk="0">
                    <a:moveTo>
                      <a:pt x="11051" y="51648"/>
                    </a:moveTo>
                    <a:cubicBezTo>
                      <a:pt x="-8951" y="92606"/>
                      <a:pt x="-1331" y="138325"/>
                      <a:pt x="30101" y="153565"/>
                    </a:cubicBezTo>
                    <a:lnTo>
                      <a:pt x="559691" y="417408"/>
                    </a:lnTo>
                    <a:cubicBezTo>
                      <a:pt x="590171" y="432648"/>
                      <a:pt x="632081" y="411693"/>
                      <a:pt x="652084" y="370736"/>
                    </a:cubicBezTo>
                    <a:lnTo>
                      <a:pt x="652084" y="370736"/>
                    </a:lnTo>
                    <a:cubicBezTo>
                      <a:pt x="672086" y="329778"/>
                      <a:pt x="664466" y="284058"/>
                      <a:pt x="633034" y="268818"/>
                    </a:cubicBezTo>
                    <a:lnTo>
                      <a:pt x="103444" y="4975"/>
                    </a:lnTo>
                    <a:cubicBezTo>
                      <a:pt x="72964" y="-10264"/>
                      <a:pt x="32006" y="10690"/>
                      <a:pt x="11051" y="51648"/>
                    </a:cubicBezTo>
                    <a:lnTo>
                      <a:pt x="11051" y="51648"/>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 name="Google Shape;202;p25">
                <a:extLst>
                  <a:ext uri="{FF2B5EF4-FFF2-40B4-BE49-F238E27FC236}">
                    <a16:creationId xmlns:a16="http://schemas.microsoft.com/office/drawing/2014/main" id="{3807A8DC-E85C-4602-ADD5-F292E22DC0B1}"/>
                  </a:ext>
                </a:extLst>
              </p:cNvPr>
              <p:cNvSpPr/>
              <p:nvPr/>
            </p:nvSpPr>
            <p:spPr>
              <a:xfrm>
                <a:off x="7214791" y="4134883"/>
                <a:ext cx="707681" cy="267489"/>
              </a:xfrm>
              <a:custGeom>
                <a:avLst/>
                <a:gdLst/>
                <a:ahLst/>
                <a:cxnLst/>
                <a:rect l="l" t="t" r="r" b="b"/>
                <a:pathLst>
                  <a:path w="707681" h="267489" extrusionOk="0">
                    <a:moveTo>
                      <a:pt x="1919" y="196134"/>
                    </a:moveTo>
                    <a:cubicBezTo>
                      <a:pt x="9539" y="240901"/>
                      <a:pt x="43829" y="273286"/>
                      <a:pt x="77167" y="266619"/>
                    </a:cubicBezTo>
                    <a:lnTo>
                      <a:pt x="659144" y="163748"/>
                    </a:lnTo>
                    <a:cubicBezTo>
                      <a:pt x="692482" y="158034"/>
                      <a:pt x="714389" y="116123"/>
                      <a:pt x="705817" y="71356"/>
                    </a:cubicBezTo>
                    <a:lnTo>
                      <a:pt x="705817" y="71356"/>
                    </a:lnTo>
                    <a:cubicBezTo>
                      <a:pt x="698197" y="26588"/>
                      <a:pt x="663907" y="-5796"/>
                      <a:pt x="630569" y="871"/>
                    </a:cubicBezTo>
                    <a:lnTo>
                      <a:pt x="48592" y="103741"/>
                    </a:lnTo>
                    <a:cubicBezTo>
                      <a:pt x="14302" y="109456"/>
                      <a:pt x="-6653" y="151366"/>
                      <a:pt x="1919" y="196134"/>
                    </a:cubicBezTo>
                    <a:lnTo>
                      <a:pt x="1919" y="196134"/>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4" name="Google Shape;203;p25">
                <a:extLst>
                  <a:ext uri="{FF2B5EF4-FFF2-40B4-BE49-F238E27FC236}">
                    <a16:creationId xmlns:a16="http://schemas.microsoft.com/office/drawing/2014/main" id="{CBE08911-6D23-4C61-9077-BBE71EDCF0B9}"/>
                  </a:ext>
                </a:extLst>
              </p:cNvPr>
              <p:cNvSpPr/>
              <p:nvPr/>
            </p:nvSpPr>
            <p:spPr>
              <a:xfrm>
                <a:off x="7529014" y="4868326"/>
                <a:ext cx="571733" cy="558919"/>
              </a:xfrm>
              <a:custGeom>
                <a:avLst/>
                <a:gdLst/>
                <a:ahLst/>
                <a:cxnLst/>
                <a:rect l="l" t="t" r="r" b="b"/>
                <a:pathLst>
                  <a:path w="571733" h="558919" extrusionOk="0">
                    <a:moveTo>
                      <a:pt x="28692" y="528538"/>
                    </a:moveTo>
                    <a:cubicBezTo>
                      <a:pt x="61077" y="561876"/>
                      <a:pt x="106797" y="568543"/>
                      <a:pt x="131562" y="544731"/>
                    </a:cubicBezTo>
                    <a:lnTo>
                      <a:pt x="556377" y="133251"/>
                    </a:lnTo>
                    <a:cubicBezTo>
                      <a:pt x="581142" y="109438"/>
                      <a:pt x="575427" y="63718"/>
                      <a:pt x="543042" y="30381"/>
                    </a:cubicBezTo>
                    <a:lnTo>
                      <a:pt x="543042" y="30381"/>
                    </a:lnTo>
                    <a:cubicBezTo>
                      <a:pt x="510657" y="-2957"/>
                      <a:pt x="464937" y="-9624"/>
                      <a:pt x="440172" y="14188"/>
                    </a:cubicBezTo>
                    <a:lnTo>
                      <a:pt x="15357" y="425668"/>
                    </a:lnTo>
                    <a:cubicBezTo>
                      <a:pt x="-9408" y="449481"/>
                      <a:pt x="-3693" y="496154"/>
                      <a:pt x="28692" y="528538"/>
                    </a:cubicBezTo>
                    <a:lnTo>
                      <a:pt x="28692" y="528538"/>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 name="Google Shape;204;p25">
                <a:extLst>
                  <a:ext uri="{FF2B5EF4-FFF2-40B4-BE49-F238E27FC236}">
                    <a16:creationId xmlns:a16="http://schemas.microsoft.com/office/drawing/2014/main" id="{B6E9EAD4-BDB3-43F5-87B2-D6ED4FD6330E}"/>
                  </a:ext>
                </a:extLst>
              </p:cNvPr>
              <p:cNvSpPr/>
              <p:nvPr/>
            </p:nvSpPr>
            <p:spPr>
              <a:xfrm>
                <a:off x="8540712" y="5433152"/>
                <a:ext cx="331417" cy="696093"/>
              </a:xfrm>
              <a:custGeom>
                <a:avLst/>
                <a:gdLst/>
                <a:ahLst/>
                <a:cxnLst/>
                <a:rect l="l" t="t" r="r" b="b"/>
                <a:pathLst>
                  <a:path w="331417" h="696093" extrusionOk="0">
                    <a:moveTo>
                      <a:pt x="63791" y="691423"/>
                    </a:moveTo>
                    <a:cubicBezTo>
                      <a:pt x="107606" y="704758"/>
                      <a:pt x="151421" y="688565"/>
                      <a:pt x="160946" y="655228"/>
                    </a:cubicBezTo>
                    <a:lnTo>
                      <a:pt x="329539" y="88490"/>
                    </a:lnTo>
                    <a:cubicBezTo>
                      <a:pt x="339064" y="55153"/>
                      <a:pt x="311441" y="18005"/>
                      <a:pt x="267626" y="4671"/>
                    </a:cubicBezTo>
                    <a:lnTo>
                      <a:pt x="267626" y="4671"/>
                    </a:lnTo>
                    <a:cubicBezTo>
                      <a:pt x="223811" y="-8665"/>
                      <a:pt x="179996" y="7528"/>
                      <a:pt x="170471" y="40865"/>
                    </a:cubicBezTo>
                    <a:lnTo>
                      <a:pt x="1878" y="607603"/>
                    </a:lnTo>
                    <a:cubicBezTo>
                      <a:pt x="-7647" y="640940"/>
                      <a:pt x="19976" y="678088"/>
                      <a:pt x="63791" y="691423"/>
                    </a:cubicBezTo>
                    <a:lnTo>
                      <a:pt x="63791" y="691423"/>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6" name="Google Shape;205;p25">
                <a:extLst>
                  <a:ext uri="{FF2B5EF4-FFF2-40B4-BE49-F238E27FC236}">
                    <a16:creationId xmlns:a16="http://schemas.microsoft.com/office/drawing/2014/main" id="{BBAC5D9C-41C9-4A43-8D32-BEE9EB945B5A}"/>
                  </a:ext>
                </a:extLst>
              </p:cNvPr>
              <p:cNvSpPr/>
              <p:nvPr/>
            </p:nvSpPr>
            <p:spPr>
              <a:xfrm>
                <a:off x="9782806" y="5454565"/>
                <a:ext cx="278009" cy="706282"/>
              </a:xfrm>
              <a:custGeom>
                <a:avLst/>
                <a:gdLst/>
                <a:ahLst/>
                <a:cxnLst/>
                <a:rect l="l" t="t" r="r" b="b"/>
                <a:pathLst>
                  <a:path w="278009" h="706282" extrusionOk="0">
                    <a:moveTo>
                      <a:pt x="207585" y="704299"/>
                    </a:moveTo>
                    <a:cubicBezTo>
                      <a:pt x="252352" y="695727"/>
                      <a:pt x="283785" y="661436"/>
                      <a:pt x="277117" y="627147"/>
                    </a:cubicBezTo>
                    <a:lnTo>
                      <a:pt x="163770" y="47074"/>
                    </a:lnTo>
                    <a:cubicBezTo>
                      <a:pt x="157102" y="13736"/>
                      <a:pt x="115192" y="-7218"/>
                      <a:pt x="70425" y="2307"/>
                    </a:cubicBezTo>
                    <a:lnTo>
                      <a:pt x="70425" y="2307"/>
                    </a:lnTo>
                    <a:cubicBezTo>
                      <a:pt x="25657" y="10879"/>
                      <a:pt x="-5775" y="45169"/>
                      <a:pt x="892" y="79459"/>
                    </a:cubicBezTo>
                    <a:lnTo>
                      <a:pt x="114240" y="659532"/>
                    </a:lnTo>
                    <a:cubicBezTo>
                      <a:pt x="120907" y="692869"/>
                      <a:pt x="162817" y="712872"/>
                      <a:pt x="207585" y="704299"/>
                    </a:cubicBezTo>
                    <a:lnTo>
                      <a:pt x="207585" y="704299"/>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spTree>
    <p:extLst>
      <p:ext uri="{BB962C8B-B14F-4D97-AF65-F5344CB8AC3E}">
        <p14:creationId xmlns:p14="http://schemas.microsoft.com/office/powerpoint/2010/main" val="3146366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3DA5AA-7486-4871-9B99-1F155BEC0810}"/>
              </a:ext>
            </a:extLst>
          </p:cNvPr>
          <p:cNvSpPr txBox="1"/>
          <p:nvPr/>
        </p:nvSpPr>
        <p:spPr>
          <a:xfrm>
            <a:off x="632809" y="2443163"/>
            <a:ext cx="10011981" cy="225106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1. We must know about the  machine -its speed and memory</a:t>
            </a:r>
          </a:p>
          <a:p>
            <a:pPr marL="0" marR="0" lvl="0" indent="0" algn="just" defTabSz="914400" rtl="0" eaLnBrk="1" fontAlgn="auto" latinLnBrk="0" hangingPunct="1">
              <a:lnSpc>
                <a:spcPct val="150000"/>
              </a:lnSpc>
              <a:spcBef>
                <a:spcPts val="0"/>
              </a:spcBef>
              <a:spcAft>
                <a:spcPts val="0"/>
              </a:spcAft>
              <a:buClrTx/>
              <a:buSzTx/>
              <a:buFontTx/>
              <a:buNone/>
              <a:tabLst/>
              <a:defRPr/>
            </a:pPr>
            <a:r>
              <a:rPr lang="en-US" sz="2400" dirty="0">
                <a:solidFill>
                  <a:prstClr val="black"/>
                </a:solidFill>
                <a:latin typeface="Calibri" panose="020F0502020204030204"/>
              </a:rPr>
              <a:t>2. We must know whether we develop sequential or parallel algorithms</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3. For some algorithms involving huge data, execution time and storage requirement are critical </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BFEA3C7B-1349-4FF1-8ADB-7D3EDB6D8C36}"/>
              </a:ext>
            </a:extLst>
          </p:cNvPr>
          <p:cNvSpPr>
            <a:spLocks noGrp="1"/>
          </p:cNvSpPr>
          <p:nvPr>
            <p:ph type="title"/>
          </p:nvPr>
        </p:nvSpPr>
        <p:spPr/>
        <p:txBody>
          <a:bodyPr/>
          <a:lstStyle/>
          <a:p>
            <a:r>
              <a:rPr lang="en-US" dirty="0"/>
              <a:t>Ascertaining the capabilities of computational device  </a:t>
            </a:r>
            <a:endParaRPr lang="en-IN" dirty="0"/>
          </a:p>
        </p:txBody>
      </p:sp>
      <p:pic>
        <p:nvPicPr>
          <p:cNvPr id="5" name="Google Shape;249;p25" descr="Right pointing backhand index">
            <a:extLst>
              <a:ext uri="{FF2B5EF4-FFF2-40B4-BE49-F238E27FC236}">
                <a16:creationId xmlns:a16="http://schemas.microsoft.com/office/drawing/2014/main" id="{1DBE4C7D-9907-4712-8FDB-5A36206F9742}"/>
              </a:ext>
            </a:extLst>
          </p:cNvPr>
          <p:cNvPicPr preferRelativeResize="0"/>
          <p:nvPr/>
        </p:nvPicPr>
        <p:blipFill rotWithShape="1">
          <a:blip r:embed="rId2">
            <a:alphaModFix/>
          </a:blip>
          <a:srcRect/>
          <a:stretch/>
        </p:blipFill>
        <p:spPr>
          <a:xfrm>
            <a:off x="5638800" y="943805"/>
            <a:ext cx="914400" cy="914400"/>
          </a:xfrm>
          <a:prstGeom prst="rect">
            <a:avLst/>
          </a:prstGeom>
          <a:noFill/>
          <a:ln>
            <a:noFill/>
          </a:ln>
        </p:spPr>
      </p:pic>
    </p:spTree>
    <p:extLst>
      <p:ext uri="{BB962C8B-B14F-4D97-AF65-F5344CB8AC3E}">
        <p14:creationId xmlns:p14="http://schemas.microsoft.com/office/powerpoint/2010/main" val="1883717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C2DDF-0CC0-4334-9549-9D811B4A66E5}"/>
              </a:ext>
            </a:extLst>
          </p:cNvPr>
          <p:cNvSpPr>
            <a:spLocks noGrp="1"/>
          </p:cNvSpPr>
          <p:nvPr>
            <p:ph type="title"/>
          </p:nvPr>
        </p:nvSpPr>
        <p:spPr/>
        <p:txBody>
          <a:bodyPr/>
          <a:lstStyle/>
          <a:p>
            <a:r>
              <a:rPr lang="en-US" dirty="0"/>
              <a:t>Choosing between exact and </a:t>
            </a:r>
            <a:br>
              <a:rPr lang="en-US" dirty="0"/>
            </a:br>
            <a:r>
              <a:rPr lang="en-US" dirty="0"/>
              <a:t>approximate problem solving</a:t>
            </a:r>
            <a:endParaRPr lang="en-IN" dirty="0"/>
          </a:p>
        </p:txBody>
      </p:sp>
      <p:sp>
        <p:nvSpPr>
          <p:cNvPr id="4" name="TextBox 3">
            <a:extLst>
              <a:ext uri="{FF2B5EF4-FFF2-40B4-BE49-F238E27FC236}">
                <a16:creationId xmlns:a16="http://schemas.microsoft.com/office/drawing/2014/main" id="{0CA04C15-9938-406C-AA73-4F9798FE5177}"/>
              </a:ext>
            </a:extLst>
          </p:cNvPr>
          <p:cNvSpPr txBox="1"/>
          <p:nvPr/>
        </p:nvSpPr>
        <p:spPr>
          <a:xfrm>
            <a:off x="550768" y="1914458"/>
            <a:ext cx="9851785" cy="4456476"/>
          </a:xfrm>
          <a:prstGeom prst="rect">
            <a:avLst/>
          </a:prstGeom>
          <a:noFill/>
        </p:spPr>
        <p:txBody>
          <a:bodyPr wrap="square">
            <a:spAutoFit/>
          </a:bodyPr>
          <a:lstStyle/>
          <a:p>
            <a:pPr algn="just">
              <a:lnSpc>
                <a:spcPct val="150000"/>
              </a:lnSpc>
            </a:pPr>
            <a:r>
              <a:rPr lang="en-US" sz="2400" dirty="0"/>
              <a:t>We must choose between solving the problem exactly called as </a:t>
            </a:r>
            <a:r>
              <a:rPr lang="en-US" sz="2400" b="1" dirty="0"/>
              <a:t>exact algorithm </a:t>
            </a:r>
            <a:r>
              <a:rPr lang="en-US" sz="2400" dirty="0"/>
              <a:t>or solving it approximately called as </a:t>
            </a:r>
            <a:r>
              <a:rPr lang="en-US" sz="2400" b="1" dirty="0"/>
              <a:t>approximation</a:t>
            </a:r>
            <a:r>
              <a:rPr lang="en-US" sz="2400" dirty="0"/>
              <a:t> </a:t>
            </a:r>
            <a:r>
              <a:rPr lang="en-US" sz="2400" b="1" dirty="0"/>
              <a:t>algorithm</a:t>
            </a:r>
            <a:r>
              <a:rPr lang="en-US" sz="2400" dirty="0"/>
              <a:t>. </a:t>
            </a:r>
          </a:p>
          <a:p>
            <a:pPr algn="just">
              <a:lnSpc>
                <a:spcPct val="150000"/>
              </a:lnSpc>
            </a:pPr>
            <a:r>
              <a:rPr lang="en-US" sz="2400" b="1" dirty="0"/>
              <a:t>Why would one need approximation algorithm? </a:t>
            </a:r>
          </a:p>
          <a:p>
            <a:pPr algn="just">
              <a:lnSpc>
                <a:spcPct val="150000"/>
              </a:lnSpc>
            </a:pPr>
            <a:r>
              <a:rPr lang="en-US" sz="2400" dirty="0"/>
              <a:t>For example extracting square roots, solving nonlinear equations, and evaluating definite integrals cannot be solved. Second, available algorithms for solving a problem exactly can be unacceptably slow because of the problem’s intrinsic complexity.</a:t>
            </a:r>
            <a:endParaRPr lang="en-IN" sz="2400" dirty="0"/>
          </a:p>
        </p:txBody>
      </p:sp>
    </p:spTree>
    <p:extLst>
      <p:ext uri="{BB962C8B-B14F-4D97-AF65-F5344CB8AC3E}">
        <p14:creationId xmlns:p14="http://schemas.microsoft.com/office/powerpoint/2010/main" val="3813021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BF9142-A586-4B3E-BA53-BB2B60059AE5}"/>
              </a:ext>
            </a:extLst>
          </p:cNvPr>
          <p:cNvSpPr>
            <a:spLocks noGrp="1"/>
          </p:cNvSpPr>
          <p:nvPr>
            <p:ph type="title"/>
          </p:nvPr>
        </p:nvSpPr>
        <p:spPr/>
        <p:txBody>
          <a:bodyPr/>
          <a:lstStyle/>
          <a:p>
            <a:r>
              <a:rPr lang="en-US" dirty="0"/>
              <a:t>Identifying a suitable technique:</a:t>
            </a:r>
            <a:endParaRPr lang="en-IN" dirty="0"/>
          </a:p>
        </p:txBody>
      </p:sp>
      <p:sp>
        <p:nvSpPr>
          <p:cNvPr id="5" name="TextBox 4">
            <a:extLst>
              <a:ext uri="{FF2B5EF4-FFF2-40B4-BE49-F238E27FC236}">
                <a16:creationId xmlns:a16="http://schemas.microsoft.com/office/drawing/2014/main" id="{116B57E9-FB49-4307-8BD0-59F1D28C0999}"/>
              </a:ext>
            </a:extLst>
          </p:cNvPr>
          <p:cNvSpPr txBox="1"/>
          <p:nvPr/>
        </p:nvSpPr>
        <p:spPr>
          <a:xfrm>
            <a:off x="514350" y="1523911"/>
            <a:ext cx="8759652" cy="2932982"/>
          </a:xfrm>
          <a:prstGeom prst="rect">
            <a:avLst/>
          </a:prstGeom>
          <a:noFill/>
        </p:spPr>
        <p:txBody>
          <a:bodyPr wrap="square">
            <a:spAutoFit/>
          </a:bodyPr>
          <a:lstStyle/>
          <a:p>
            <a:pPr algn="just">
              <a:lnSpc>
                <a:spcPct val="200000"/>
              </a:lnSpc>
            </a:pPr>
            <a:r>
              <a:rPr lang="en-US" sz="2400" dirty="0"/>
              <a:t>An algorithm design technique (or “strategy” or “paradigm”) is a general approach to solving problems algorithmically that is applicable to a variety of problems from different areas of computing.</a:t>
            </a:r>
            <a:endParaRPr lang="en-IN" sz="2400" dirty="0"/>
          </a:p>
        </p:txBody>
      </p:sp>
    </p:spTree>
    <p:extLst>
      <p:ext uri="{BB962C8B-B14F-4D97-AF65-F5344CB8AC3E}">
        <p14:creationId xmlns:p14="http://schemas.microsoft.com/office/powerpoint/2010/main" val="1601726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8B2D9-5024-40CA-82CC-0E60DBF8CBA7}"/>
              </a:ext>
            </a:extLst>
          </p:cNvPr>
          <p:cNvSpPr>
            <a:spLocks noGrp="1"/>
          </p:cNvSpPr>
          <p:nvPr>
            <p:ph type="title"/>
          </p:nvPr>
        </p:nvSpPr>
        <p:spPr/>
        <p:txBody>
          <a:bodyPr/>
          <a:lstStyle/>
          <a:p>
            <a:r>
              <a:rPr lang="en-US" dirty="0"/>
              <a:t>Algorithm design techniques</a:t>
            </a:r>
            <a:endParaRPr lang="en-IN" dirty="0"/>
          </a:p>
        </p:txBody>
      </p:sp>
      <p:sp>
        <p:nvSpPr>
          <p:cNvPr id="3" name="TextBox 2">
            <a:extLst>
              <a:ext uri="{FF2B5EF4-FFF2-40B4-BE49-F238E27FC236}">
                <a16:creationId xmlns:a16="http://schemas.microsoft.com/office/drawing/2014/main" id="{354A8D5D-F97F-437F-B827-2AA537FE234C}"/>
              </a:ext>
            </a:extLst>
          </p:cNvPr>
          <p:cNvSpPr txBox="1"/>
          <p:nvPr/>
        </p:nvSpPr>
        <p:spPr>
          <a:xfrm>
            <a:off x="3231741" y="1420147"/>
            <a:ext cx="8372475" cy="5186676"/>
          </a:xfrm>
          <a:prstGeom prst="rect">
            <a:avLst/>
          </a:prstGeom>
          <a:noFill/>
        </p:spPr>
        <p:txBody>
          <a:bodyPr wrap="square" rtlCol="0">
            <a:spAutoFit/>
          </a:bodyPr>
          <a:lstStyle/>
          <a:p>
            <a:pPr marL="342900" indent="-342900">
              <a:lnSpc>
                <a:spcPct val="150000"/>
              </a:lnSpc>
              <a:buAutoNum type="arabicPeriod"/>
            </a:pPr>
            <a:r>
              <a:rPr lang="en-US" sz="3200" dirty="0"/>
              <a:t>Brute force</a:t>
            </a:r>
          </a:p>
          <a:p>
            <a:pPr marL="342900" indent="-342900">
              <a:lnSpc>
                <a:spcPct val="150000"/>
              </a:lnSpc>
              <a:buAutoNum type="arabicPeriod"/>
            </a:pPr>
            <a:r>
              <a:rPr lang="en-US" sz="3200" dirty="0"/>
              <a:t>Divide and conquer</a:t>
            </a:r>
          </a:p>
          <a:p>
            <a:pPr marL="342900" indent="-342900">
              <a:lnSpc>
                <a:spcPct val="150000"/>
              </a:lnSpc>
              <a:buAutoNum type="arabicPeriod"/>
            </a:pPr>
            <a:r>
              <a:rPr lang="en-US" sz="3200" dirty="0"/>
              <a:t>Decrease and conquer</a:t>
            </a:r>
          </a:p>
          <a:p>
            <a:pPr marL="342900" indent="-342900">
              <a:lnSpc>
                <a:spcPct val="150000"/>
              </a:lnSpc>
              <a:buAutoNum type="arabicPeriod"/>
            </a:pPr>
            <a:r>
              <a:rPr lang="en-US" sz="3200" dirty="0"/>
              <a:t>Dynamic programming</a:t>
            </a:r>
          </a:p>
          <a:p>
            <a:pPr marL="342900" indent="-342900">
              <a:lnSpc>
                <a:spcPct val="150000"/>
              </a:lnSpc>
              <a:buAutoNum type="arabicPeriod"/>
            </a:pPr>
            <a:r>
              <a:rPr lang="en-US" sz="3200" dirty="0"/>
              <a:t>Greedy approach</a:t>
            </a:r>
          </a:p>
          <a:p>
            <a:pPr marL="342900" indent="-342900">
              <a:lnSpc>
                <a:spcPct val="150000"/>
              </a:lnSpc>
              <a:buAutoNum type="arabicPeriod"/>
            </a:pPr>
            <a:r>
              <a:rPr lang="en-US" sz="3200" dirty="0"/>
              <a:t>Backtracking algorithm</a:t>
            </a:r>
          </a:p>
          <a:p>
            <a:pPr marL="342900" indent="-342900">
              <a:lnSpc>
                <a:spcPct val="150000"/>
              </a:lnSpc>
              <a:buAutoNum type="arabicPeriod"/>
            </a:pPr>
            <a:r>
              <a:rPr lang="en-US" sz="3200" dirty="0"/>
              <a:t>Branch and bound algorithm </a:t>
            </a:r>
            <a:endParaRPr lang="en-IN" sz="3200" dirty="0"/>
          </a:p>
        </p:txBody>
      </p:sp>
    </p:spTree>
    <p:extLst>
      <p:ext uri="{BB962C8B-B14F-4D97-AF65-F5344CB8AC3E}">
        <p14:creationId xmlns:p14="http://schemas.microsoft.com/office/powerpoint/2010/main" val="4234738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384572-696C-4B6A-BDFC-C772B2792903}"/>
              </a:ext>
            </a:extLst>
          </p:cNvPr>
          <p:cNvSpPr>
            <a:spLocks noGrp="1"/>
          </p:cNvSpPr>
          <p:nvPr>
            <p:ph type="title"/>
          </p:nvPr>
        </p:nvSpPr>
        <p:spPr/>
        <p:txBody>
          <a:bodyPr/>
          <a:lstStyle/>
          <a:p>
            <a:r>
              <a:rPr lang="en-US" dirty="0"/>
              <a:t>Brute force </a:t>
            </a:r>
            <a:endParaRPr lang="en-IN" dirty="0"/>
          </a:p>
        </p:txBody>
      </p:sp>
      <p:sp>
        <p:nvSpPr>
          <p:cNvPr id="5" name="TextBox 4">
            <a:extLst>
              <a:ext uri="{FF2B5EF4-FFF2-40B4-BE49-F238E27FC236}">
                <a16:creationId xmlns:a16="http://schemas.microsoft.com/office/drawing/2014/main" id="{85B39A72-B39A-4C90-A24F-F1673712CE4A}"/>
              </a:ext>
            </a:extLst>
          </p:cNvPr>
          <p:cNvSpPr txBox="1"/>
          <p:nvPr/>
        </p:nvSpPr>
        <p:spPr>
          <a:xfrm>
            <a:off x="838200" y="2145774"/>
            <a:ext cx="10711070" cy="2556982"/>
          </a:xfrm>
          <a:prstGeom prst="rect">
            <a:avLst/>
          </a:prstGeom>
          <a:noFill/>
        </p:spPr>
        <p:txBody>
          <a:bodyPr wrap="square">
            <a:spAutoFit/>
          </a:bodyPr>
          <a:lstStyle/>
          <a:p>
            <a:pPr algn="just">
              <a:lnSpc>
                <a:spcPct val="200000"/>
              </a:lnSpc>
            </a:pPr>
            <a:r>
              <a:rPr lang="en-US" sz="2800" b="1" dirty="0"/>
              <a:t>Brute force </a:t>
            </a:r>
            <a:r>
              <a:rPr lang="en-US" sz="2800" dirty="0"/>
              <a:t>is a straightforward approach to solving a problem, usually directly based on the problem statement and definitions of the concepts involved.</a:t>
            </a:r>
          </a:p>
        </p:txBody>
      </p:sp>
    </p:spTree>
    <p:extLst>
      <p:ext uri="{BB962C8B-B14F-4D97-AF65-F5344CB8AC3E}">
        <p14:creationId xmlns:p14="http://schemas.microsoft.com/office/powerpoint/2010/main" val="1630921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7D3DC-4F0F-4B71-8C01-D7C04EEEEB0F}"/>
              </a:ext>
            </a:extLst>
          </p:cNvPr>
          <p:cNvSpPr>
            <a:spLocks noGrp="1"/>
          </p:cNvSpPr>
          <p:nvPr>
            <p:ph type="title"/>
          </p:nvPr>
        </p:nvSpPr>
        <p:spPr/>
        <p:txBody>
          <a:bodyPr/>
          <a:lstStyle/>
          <a:p>
            <a:r>
              <a:rPr lang="en-US" dirty="0"/>
              <a:t>Divide and conquer </a:t>
            </a:r>
            <a:endParaRPr lang="en-IN" dirty="0"/>
          </a:p>
        </p:txBody>
      </p:sp>
      <p:sp>
        <p:nvSpPr>
          <p:cNvPr id="4" name="TextBox 3">
            <a:extLst>
              <a:ext uri="{FF2B5EF4-FFF2-40B4-BE49-F238E27FC236}">
                <a16:creationId xmlns:a16="http://schemas.microsoft.com/office/drawing/2014/main" id="{2B4E2695-BF1D-4D51-8D2C-EEC1EFAB86B6}"/>
              </a:ext>
            </a:extLst>
          </p:cNvPr>
          <p:cNvSpPr txBox="1"/>
          <p:nvPr/>
        </p:nvSpPr>
        <p:spPr>
          <a:xfrm>
            <a:off x="219075" y="1333321"/>
            <a:ext cx="11658599" cy="5159554"/>
          </a:xfrm>
          <a:prstGeom prst="rect">
            <a:avLst/>
          </a:prstGeom>
          <a:noFill/>
        </p:spPr>
        <p:txBody>
          <a:bodyPr wrap="square">
            <a:spAutoFit/>
          </a:bodyPr>
          <a:lstStyle/>
          <a:p>
            <a:pPr algn="just">
              <a:lnSpc>
                <a:spcPct val="200000"/>
              </a:lnSpc>
            </a:pPr>
            <a:r>
              <a:rPr lang="en-US" sz="2400" dirty="0"/>
              <a:t>Divide-and-conquer algorithms work according to the following general plan: </a:t>
            </a:r>
          </a:p>
          <a:p>
            <a:pPr marL="457200" indent="-457200" algn="just">
              <a:lnSpc>
                <a:spcPct val="200000"/>
              </a:lnSpc>
              <a:buAutoNum type="arabicPeriod"/>
            </a:pPr>
            <a:r>
              <a:rPr lang="en-US" sz="2400" dirty="0"/>
              <a:t>A problem is divided into several subproblems of the same type, ideally of about equal size. </a:t>
            </a:r>
          </a:p>
          <a:p>
            <a:pPr marL="457200" indent="-457200" algn="just">
              <a:lnSpc>
                <a:spcPct val="200000"/>
              </a:lnSpc>
              <a:buAutoNum type="arabicPeriod"/>
            </a:pPr>
            <a:r>
              <a:rPr lang="en-US" sz="2400" dirty="0"/>
              <a:t>The subproblems are solved (typically recursively, though sometimes a different algorithm is employed, especially when subproblems become small enough). </a:t>
            </a:r>
          </a:p>
          <a:p>
            <a:pPr marL="457200" indent="-457200" algn="just">
              <a:lnSpc>
                <a:spcPct val="200000"/>
              </a:lnSpc>
              <a:buAutoNum type="arabicPeriod"/>
            </a:pPr>
            <a:r>
              <a:rPr lang="en-US" sz="2400" dirty="0"/>
              <a:t>If necessary, the solutions to the subproblems are combined to get a solution to the original problem. </a:t>
            </a:r>
          </a:p>
        </p:txBody>
      </p:sp>
    </p:spTree>
    <p:extLst>
      <p:ext uri="{BB962C8B-B14F-4D97-AF65-F5344CB8AC3E}">
        <p14:creationId xmlns:p14="http://schemas.microsoft.com/office/powerpoint/2010/main" val="3373095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5057D5-0489-4DDE-BACF-04F99A8FF759}"/>
              </a:ext>
            </a:extLst>
          </p:cNvPr>
          <p:cNvPicPr>
            <a:picLocks noChangeAspect="1"/>
          </p:cNvPicPr>
          <p:nvPr/>
        </p:nvPicPr>
        <p:blipFill>
          <a:blip r:embed="rId2"/>
          <a:stretch>
            <a:fillRect/>
          </a:stretch>
        </p:blipFill>
        <p:spPr>
          <a:xfrm>
            <a:off x="7329487" y="609601"/>
            <a:ext cx="3629025" cy="5751870"/>
          </a:xfrm>
          <a:prstGeom prst="rect">
            <a:avLst/>
          </a:prstGeom>
        </p:spPr>
      </p:pic>
      <p:sp>
        <p:nvSpPr>
          <p:cNvPr id="4" name="Title 3">
            <a:extLst>
              <a:ext uri="{FF2B5EF4-FFF2-40B4-BE49-F238E27FC236}">
                <a16:creationId xmlns:a16="http://schemas.microsoft.com/office/drawing/2014/main" id="{66E150DA-D1EE-4291-BFEC-CA2553016676}"/>
              </a:ext>
            </a:extLst>
          </p:cNvPr>
          <p:cNvSpPr>
            <a:spLocks noGrp="1"/>
          </p:cNvSpPr>
          <p:nvPr>
            <p:ph type="title"/>
          </p:nvPr>
        </p:nvSpPr>
        <p:spPr/>
        <p:txBody>
          <a:bodyPr/>
          <a:lstStyle/>
          <a:p>
            <a:r>
              <a:rPr lang="en-US" dirty="0"/>
              <a:t>Decrease and conquer</a:t>
            </a:r>
            <a:endParaRPr lang="en-IN" dirty="0"/>
          </a:p>
        </p:txBody>
      </p:sp>
      <p:sp>
        <p:nvSpPr>
          <p:cNvPr id="6" name="TextBox 5">
            <a:extLst>
              <a:ext uri="{FF2B5EF4-FFF2-40B4-BE49-F238E27FC236}">
                <a16:creationId xmlns:a16="http://schemas.microsoft.com/office/drawing/2014/main" id="{9B70D85E-155B-467E-B967-2E553D612E27}"/>
              </a:ext>
            </a:extLst>
          </p:cNvPr>
          <p:cNvSpPr txBox="1"/>
          <p:nvPr/>
        </p:nvSpPr>
        <p:spPr>
          <a:xfrm>
            <a:off x="838199" y="1690688"/>
            <a:ext cx="6096000" cy="3682226"/>
          </a:xfrm>
          <a:prstGeom prst="rect">
            <a:avLst/>
          </a:prstGeom>
          <a:noFill/>
        </p:spPr>
        <p:txBody>
          <a:bodyPr wrap="square">
            <a:spAutoFit/>
          </a:bodyPr>
          <a:lstStyle/>
          <a:p>
            <a:pPr algn="just">
              <a:lnSpc>
                <a:spcPct val="200000"/>
              </a:lnSpc>
            </a:pPr>
            <a:r>
              <a:rPr lang="en-US" sz="2400" dirty="0"/>
              <a:t>The </a:t>
            </a:r>
            <a:r>
              <a:rPr lang="en-US" sz="2400" b="1" dirty="0"/>
              <a:t>decrease-and-conquer</a:t>
            </a:r>
            <a:r>
              <a:rPr lang="en-US" sz="2400" dirty="0"/>
              <a:t> technique is based on exploiting the relationship between a solution to a given instance of a problem and a solution to its smaller instance.  (</a:t>
            </a:r>
            <a:r>
              <a:rPr lang="en-US" sz="2400" dirty="0" err="1"/>
              <a:t>eg.</a:t>
            </a:r>
            <a:r>
              <a:rPr lang="en-US" sz="2400" dirty="0"/>
              <a:t> Non recursive Binary search algorithm)</a:t>
            </a:r>
          </a:p>
        </p:txBody>
      </p:sp>
    </p:spTree>
    <p:extLst>
      <p:ext uri="{BB962C8B-B14F-4D97-AF65-F5344CB8AC3E}">
        <p14:creationId xmlns:p14="http://schemas.microsoft.com/office/powerpoint/2010/main" val="3591122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9E9B2-F749-4A6A-B31D-65183D901FDC}"/>
              </a:ext>
            </a:extLst>
          </p:cNvPr>
          <p:cNvSpPr>
            <a:spLocks noGrp="1"/>
          </p:cNvSpPr>
          <p:nvPr>
            <p:ph type="title"/>
          </p:nvPr>
        </p:nvSpPr>
        <p:spPr/>
        <p:txBody>
          <a:bodyPr/>
          <a:lstStyle/>
          <a:p>
            <a:r>
              <a:rPr lang="en-US" dirty="0"/>
              <a:t>Dynamic programming</a:t>
            </a:r>
            <a:endParaRPr lang="en-IN" dirty="0"/>
          </a:p>
        </p:txBody>
      </p:sp>
      <p:sp>
        <p:nvSpPr>
          <p:cNvPr id="4" name="TextBox 3">
            <a:extLst>
              <a:ext uri="{FF2B5EF4-FFF2-40B4-BE49-F238E27FC236}">
                <a16:creationId xmlns:a16="http://schemas.microsoft.com/office/drawing/2014/main" id="{5028CF99-36D7-4773-A637-F712FD662B75}"/>
              </a:ext>
            </a:extLst>
          </p:cNvPr>
          <p:cNvSpPr txBox="1"/>
          <p:nvPr/>
        </p:nvSpPr>
        <p:spPr>
          <a:xfrm>
            <a:off x="512988" y="1128713"/>
            <a:ext cx="11355162" cy="5159554"/>
          </a:xfrm>
          <a:prstGeom prst="rect">
            <a:avLst/>
          </a:prstGeom>
          <a:noFill/>
        </p:spPr>
        <p:txBody>
          <a:bodyPr wrap="square">
            <a:spAutoFit/>
          </a:bodyPr>
          <a:lstStyle/>
          <a:p>
            <a:pPr marL="342900" indent="-342900" algn="just">
              <a:lnSpc>
                <a:spcPct val="200000"/>
              </a:lnSpc>
              <a:buFont typeface="Arial" panose="020B0604020202020204" pitchFamily="34" charset="0"/>
              <a:buChar char="•"/>
            </a:pPr>
            <a:r>
              <a:rPr lang="en-US" sz="2400" b="1" dirty="0"/>
              <a:t>Dynamic programming</a:t>
            </a:r>
            <a:r>
              <a:rPr lang="en-US" sz="2400" dirty="0"/>
              <a:t> is a technique for solving problems with overlapping subproblems. </a:t>
            </a:r>
          </a:p>
          <a:p>
            <a:pPr marL="342900" indent="-342900" algn="just">
              <a:lnSpc>
                <a:spcPct val="200000"/>
              </a:lnSpc>
              <a:buFont typeface="Arial" panose="020B0604020202020204" pitchFamily="34" charset="0"/>
              <a:buChar char="•"/>
            </a:pPr>
            <a:r>
              <a:rPr lang="en-US" sz="2400" dirty="0"/>
              <a:t>Typically, these subproblems arise from a recurrence relating a given problem’s solution to solutions of its smaller subproblems. </a:t>
            </a:r>
          </a:p>
          <a:p>
            <a:pPr marL="342900" indent="-342900" algn="just">
              <a:lnSpc>
                <a:spcPct val="200000"/>
              </a:lnSpc>
              <a:buFont typeface="Arial" panose="020B0604020202020204" pitchFamily="34" charset="0"/>
              <a:buChar char="•"/>
            </a:pPr>
            <a:r>
              <a:rPr lang="en-US" sz="2400" dirty="0"/>
              <a:t>Rather than solving overlapping subproblems again and again, dynamic programming suggests solving each of the smaller subproblems only once and recording the results in a table from which a solution to the original problem can then be obtained.</a:t>
            </a:r>
          </a:p>
        </p:txBody>
      </p:sp>
    </p:spTree>
    <p:extLst>
      <p:ext uri="{BB962C8B-B14F-4D97-AF65-F5344CB8AC3E}">
        <p14:creationId xmlns:p14="http://schemas.microsoft.com/office/powerpoint/2010/main" val="20263401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0E2EA-BBBB-4079-8CF2-570A91957B37}"/>
              </a:ext>
            </a:extLst>
          </p:cNvPr>
          <p:cNvSpPr>
            <a:spLocks noGrp="1"/>
          </p:cNvSpPr>
          <p:nvPr>
            <p:ph type="title"/>
          </p:nvPr>
        </p:nvSpPr>
        <p:spPr/>
        <p:txBody>
          <a:bodyPr/>
          <a:lstStyle/>
          <a:p>
            <a:r>
              <a:rPr lang="en-US" dirty="0"/>
              <a:t>Greedy</a:t>
            </a:r>
            <a:endParaRPr lang="en-IN" dirty="0"/>
          </a:p>
        </p:txBody>
      </p:sp>
      <p:sp>
        <p:nvSpPr>
          <p:cNvPr id="4" name="TextBox 3">
            <a:extLst>
              <a:ext uri="{FF2B5EF4-FFF2-40B4-BE49-F238E27FC236}">
                <a16:creationId xmlns:a16="http://schemas.microsoft.com/office/drawing/2014/main" id="{E5144F38-2372-4D6E-BCE0-09D8612D45D5}"/>
              </a:ext>
            </a:extLst>
          </p:cNvPr>
          <p:cNvSpPr txBox="1"/>
          <p:nvPr/>
        </p:nvSpPr>
        <p:spPr>
          <a:xfrm>
            <a:off x="719137" y="1307664"/>
            <a:ext cx="10753725" cy="5159554"/>
          </a:xfrm>
          <a:prstGeom prst="rect">
            <a:avLst/>
          </a:prstGeom>
          <a:noFill/>
        </p:spPr>
        <p:txBody>
          <a:bodyPr wrap="square">
            <a:spAutoFit/>
          </a:bodyPr>
          <a:lstStyle/>
          <a:p>
            <a:pPr marL="342900" indent="-342900" algn="just">
              <a:lnSpc>
                <a:spcPct val="200000"/>
              </a:lnSpc>
              <a:buFont typeface="Arial" panose="020B0604020202020204" pitchFamily="34" charset="0"/>
              <a:buChar char="•"/>
            </a:pPr>
            <a:r>
              <a:rPr lang="en-US" sz="2400" dirty="0"/>
              <a:t>The </a:t>
            </a:r>
            <a:r>
              <a:rPr lang="en-US" sz="2400" b="1" dirty="0"/>
              <a:t>greedy approach </a:t>
            </a:r>
            <a:r>
              <a:rPr lang="en-US" sz="2400" dirty="0"/>
              <a:t>suggests constructing a solution through a sequence of steps, each expanding a partially constructed solution obtained so far, until a complete solution to the problem is reached. </a:t>
            </a:r>
          </a:p>
          <a:p>
            <a:pPr marL="342900" indent="-342900" algn="just">
              <a:lnSpc>
                <a:spcPct val="200000"/>
              </a:lnSpc>
              <a:buFont typeface="Arial" panose="020B0604020202020204" pitchFamily="34" charset="0"/>
              <a:buChar char="•"/>
            </a:pPr>
            <a:r>
              <a:rPr lang="en-US" sz="2400" dirty="0"/>
              <a:t>On each step the choice made must be: </a:t>
            </a:r>
            <a:r>
              <a:rPr lang="en-US" sz="2400" b="1" dirty="0"/>
              <a:t>feasible,</a:t>
            </a:r>
            <a:r>
              <a:rPr lang="en-US" sz="2400" dirty="0"/>
              <a:t> i.e., it has to satisfy the problem’s constraints locally optimal, i.e., it has to be the </a:t>
            </a:r>
            <a:r>
              <a:rPr lang="en-US" sz="2400" b="1" dirty="0"/>
              <a:t>best local choice </a:t>
            </a:r>
            <a:r>
              <a:rPr lang="en-US" sz="2400" dirty="0"/>
              <a:t>among all feasible choices available on that step and </a:t>
            </a:r>
            <a:r>
              <a:rPr lang="en-US" sz="2400" b="1" dirty="0"/>
              <a:t>irrevocable</a:t>
            </a:r>
            <a:r>
              <a:rPr lang="en-US" sz="2400" dirty="0"/>
              <a:t>, i.e., once made, it cannot be changed on subsequent steps of the algorithm</a:t>
            </a:r>
          </a:p>
        </p:txBody>
      </p:sp>
    </p:spTree>
    <p:extLst>
      <p:ext uri="{BB962C8B-B14F-4D97-AF65-F5344CB8AC3E}">
        <p14:creationId xmlns:p14="http://schemas.microsoft.com/office/powerpoint/2010/main" val="2245618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2B8C6-1DA3-484E-9E2F-76FC73D7EC4D}"/>
              </a:ext>
            </a:extLst>
          </p:cNvPr>
          <p:cNvSpPr>
            <a:spLocks noGrp="1"/>
          </p:cNvSpPr>
          <p:nvPr>
            <p:ph type="title"/>
          </p:nvPr>
        </p:nvSpPr>
        <p:spPr>
          <a:xfrm>
            <a:off x="838200" y="155575"/>
            <a:ext cx="10515600" cy="748993"/>
          </a:xfrm>
        </p:spPr>
        <p:txBody>
          <a:bodyPr/>
          <a:lstStyle/>
          <a:p>
            <a:r>
              <a:rPr lang="en-US" dirty="0"/>
              <a:t>Backtracking </a:t>
            </a:r>
            <a:endParaRPr lang="en-IN" dirty="0"/>
          </a:p>
        </p:txBody>
      </p:sp>
      <p:sp>
        <p:nvSpPr>
          <p:cNvPr id="4" name="TextBox 3">
            <a:extLst>
              <a:ext uri="{FF2B5EF4-FFF2-40B4-BE49-F238E27FC236}">
                <a16:creationId xmlns:a16="http://schemas.microsoft.com/office/drawing/2014/main" id="{6BA56178-843F-4543-BAA0-D2195C2AD7C2}"/>
              </a:ext>
            </a:extLst>
          </p:cNvPr>
          <p:cNvSpPr txBox="1"/>
          <p:nvPr/>
        </p:nvSpPr>
        <p:spPr>
          <a:xfrm>
            <a:off x="76200" y="849223"/>
            <a:ext cx="12115800" cy="5898218"/>
          </a:xfrm>
          <a:prstGeom prst="rect">
            <a:avLst/>
          </a:prstGeom>
          <a:noFill/>
        </p:spPr>
        <p:txBody>
          <a:bodyPr wrap="square">
            <a:spAutoFit/>
          </a:bodyPr>
          <a:lstStyle/>
          <a:p>
            <a:pPr marL="342900" indent="-342900" algn="just">
              <a:lnSpc>
                <a:spcPct val="200000"/>
              </a:lnSpc>
              <a:buFont typeface="Arial" panose="020B0604020202020204" pitchFamily="34" charset="0"/>
              <a:buChar char="•"/>
            </a:pPr>
            <a:r>
              <a:rPr lang="en-US" sz="2400" b="1" dirty="0"/>
              <a:t>Backtracking</a:t>
            </a:r>
            <a:r>
              <a:rPr lang="en-US" sz="2400" dirty="0"/>
              <a:t> is a more intelligent variation of this approach. The principal idea is to construct solutions one component at a time and evaluate such partially constructed candidates as follows. </a:t>
            </a:r>
          </a:p>
          <a:p>
            <a:pPr marL="342900" indent="-342900" algn="just">
              <a:lnSpc>
                <a:spcPct val="200000"/>
              </a:lnSpc>
              <a:buFont typeface="Arial" panose="020B0604020202020204" pitchFamily="34" charset="0"/>
              <a:buChar char="•"/>
            </a:pPr>
            <a:r>
              <a:rPr lang="en-US" sz="2400" dirty="0"/>
              <a:t>If a partially constructed solution can be developed further without violating the problem’s constraints, it is done by taking the first remaining legitimate option for the next component. </a:t>
            </a:r>
          </a:p>
          <a:p>
            <a:pPr marL="342900" indent="-342900" algn="just">
              <a:lnSpc>
                <a:spcPct val="200000"/>
              </a:lnSpc>
              <a:buFont typeface="Arial" panose="020B0604020202020204" pitchFamily="34" charset="0"/>
              <a:buChar char="•"/>
            </a:pPr>
            <a:r>
              <a:rPr lang="en-US" sz="2400" dirty="0"/>
              <a:t>If there is no legitimate option for the next component, no alternatives for any remaining component need to be considered. In this case, the algorithm backtracks to replace the last component of the partially constructed solution with its next option.</a:t>
            </a:r>
          </a:p>
        </p:txBody>
      </p:sp>
    </p:spTree>
    <p:extLst>
      <p:ext uri="{BB962C8B-B14F-4D97-AF65-F5344CB8AC3E}">
        <p14:creationId xmlns:p14="http://schemas.microsoft.com/office/powerpoint/2010/main" val="112341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5E8E4-4A1D-45C9-A56D-D2807D9FF27A}"/>
              </a:ext>
            </a:extLst>
          </p:cNvPr>
          <p:cNvSpPr>
            <a:spLocks noGrp="1"/>
          </p:cNvSpPr>
          <p:nvPr>
            <p:ph type="title"/>
          </p:nvPr>
        </p:nvSpPr>
        <p:spPr/>
        <p:txBody>
          <a:bodyPr/>
          <a:lstStyle/>
          <a:p>
            <a:r>
              <a:rPr lang="en-US" dirty="0"/>
              <a:t>Branch and bound</a:t>
            </a:r>
            <a:endParaRPr lang="en-IN" dirty="0"/>
          </a:p>
        </p:txBody>
      </p:sp>
      <p:sp>
        <p:nvSpPr>
          <p:cNvPr id="4" name="TextBox 3">
            <a:extLst>
              <a:ext uri="{FF2B5EF4-FFF2-40B4-BE49-F238E27FC236}">
                <a16:creationId xmlns:a16="http://schemas.microsoft.com/office/drawing/2014/main" id="{BCDBF688-78DE-4AA3-98FC-3A3DB591F65C}"/>
              </a:ext>
            </a:extLst>
          </p:cNvPr>
          <p:cNvSpPr txBox="1"/>
          <p:nvPr/>
        </p:nvSpPr>
        <p:spPr>
          <a:xfrm>
            <a:off x="277906" y="1229114"/>
            <a:ext cx="9512480" cy="5575822"/>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dirty="0"/>
              <a:t>The central idea of backtracking, can be strengthened with an </a:t>
            </a:r>
            <a:r>
              <a:rPr lang="en-US" sz="2000" b="1" dirty="0"/>
              <a:t>optimization problem</a:t>
            </a:r>
            <a:r>
              <a:rPr lang="en-US" sz="2000" dirty="0"/>
              <a:t>. </a:t>
            </a:r>
          </a:p>
          <a:p>
            <a:pPr marL="342900" indent="-342900" algn="just">
              <a:lnSpc>
                <a:spcPct val="150000"/>
              </a:lnSpc>
              <a:buFont typeface="Arial" panose="020B0604020202020204" pitchFamily="34" charset="0"/>
              <a:buChar char="•"/>
            </a:pPr>
            <a:r>
              <a:rPr lang="en-US" sz="2000" dirty="0"/>
              <a:t>An </a:t>
            </a:r>
            <a:r>
              <a:rPr lang="en-US" sz="2000" b="1" dirty="0"/>
              <a:t>optimization problem </a:t>
            </a:r>
            <a:r>
              <a:rPr lang="en-US" sz="2000" dirty="0"/>
              <a:t>seeks to </a:t>
            </a:r>
            <a:r>
              <a:rPr lang="en-US" sz="2000" b="1" dirty="0"/>
              <a:t>minimize or maximize some objective function </a:t>
            </a:r>
            <a:r>
              <a:rPr lang="en-US" sz="2000" dirty="0"/>
              <a:t>(a tour length, the value of items selected, the cost of an assignment, and the like), </a:t>
            </a:r>
            <a:r>
              <a:rPr lang="en-US" sz="2000" b="1" dirty="0"/>
              <a:t>usually subject to some constraints</a:t>
            </a:r>
            <a:r>
              <a:rPr lang="en-US" sz="2000" dirty="0"/>
              <a:t>. </a:t>
            </a:r>
          </a:p>
          <a:p>
            <a:pPr marL="342900" indent="-342900" algn="just">
              <a:lnSpc>
                <a:spcPct val="150000"/>
              </a:lnSpc>
              <a:buFont typeface="Arial" panose="020B0604020202020204" pitchFamily="34" charset="0"/>
              <a:buChar char="•"/>
            </a:pPr>
            <a:r>
              <a:rPr lang="en-US" sz="2000" dirty="0"/>
              <a:t>In optimization problems, a </a:t>
            </a:r>
            <a:r>
              <a:rPr lang="en-US" sz="2000" b="1" dirty="0"/>
              <a:t>feasible solution</a:t>
            </a:r>
            <a:r>
              <a:rPr lang="en-US" sz="2000" dirty="0"/>
              <a:t> is a point in the problem’s search space that satisfies all the problem’s constraints (e.g., a Hamiltonian circuit in the traveling salesman problem or a subset of items whose total weight does not exceed the knapsack’s capacity in the knapsack problem), whereas an </a:t>
            </a:r>
            <a:r>
              <a:rPr lang="en-US" sz="2000" b="1" dirty="0"/>
              <a:t>optimal solution </a:t>
            </a:r>
            <a:r>
              <a:rPr lang="en-US" sz="2000" dirty="0"/>
              <a:t>is a feasible solution with the best value of the objective function (e.g., the shortest Hamiltonian circuit or the most valuable subset of items that fit the knapsack). </a:t>
            </a:r>
            <a:endParaRPr lang="en-IN" sz="2000" dirty="0"/>
          </a:p>
        </p:txBody>
      </p:sp>
    </p:spTree>
    <p:extLst>
      <p:ext uri="{BB962C8B-B14F-4D97-AF65-F5344CB8AC3E}">
        <p14:creationId xmlns:p14="http://schemas.microsoft.com/office/powerpoint/2010/main" val="2574668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6BC55-DDD6-43D7-BF18-B944D3FF02AE}"/>
              </a:ext>
            </a:extLst>
          </p:cNvPr>
          <p:cNvSpPr>
            <a:spLocks noGrp="1"/>
          </p:cNvSpPr>
          <p:nvPr>
            <p:ph type="title"/>
          </p:nvPr>
        </p:nvSpPr>
        <p:spPr/>
        <p:txBody>
          <a:bodyPr/>
          <a:lstStyle/>
          <a:p>
            <a:r>
              <a:rPr lang="en-US" dirty="0"/>
              <a:t>Branch and bound -</a:t>
            </a:r>
            <a:r>
              <a:rPr lang="en-US" dirty="0" err="1"/>
              <a:t>Contd</a:t>
            </a:r>
            <a:endParaRPr lang="en-IN" dirty="0"/>
          </a:p>
        </p:txBody>
      </p:sp>
      <p:sp>
        <p:nvSpPr>
          <p:cNvPr id="4" name="TextBox 3">
            <a:extLst>
              <a:ext uri="{FF2B5EF4-FFF2-40B4-BE49-F238E27FC236}">
                <a16:creationId xmlns:a16="http://schemas.microsoft.com/office/drawing/2014/main" id="{54B1D33C-8299-47EB-A805-0D9F8B762D7C}"/>
              </a:ext>
            </a:extLst>
          </p:cNvPr>
          <p:cNvSpPr txBox="1"/>
          <p:nvPr/>
        </p:nvSpPr>
        <p:spPr>
          <a:xfrm>
            <a:off x="269298" y="2031472"/>
            <a:ext cx="11410950" cy="3682226"/>
          </a:xfrm>
          <a:prstGeom prst="rect">
            <a:avLst/>
          </a:prstGeom>
          <a:noFill/>
        </p:spPr>
        <p:txBody>
          <a:bodyPr wrap="square">
            <a:spAutoFit/>
          </a:bodyPr>
          <a:lstStyle/>
          <a:p>
            <a:pPr algn="just">
              <a:lnSpc>
                <a:spcPct val="200000"/>
              </a:lnSpc>
            </a:pPr>
            <a:r>
              <a:rPr lang="en-US" sz="2400" dirty="0"/>
              <a:t>Compared to backtracking, </a:t>
            </a:r>
            <a:r>
              <a:rPr lang="en-US" sz="2400" b="1" dirty="0"/>
              <a:t>branch-and-bound requires two additional items</a:t>
            </a:r>
            <a:r>
              <a:rPr lang="en-US" sz="2400" dirty="0"/>
              <a:t>: </a:t>
            </a:r>
          </a:p>
          <a:p>
            <a:pPr marL="342900" indent="-342900" algn="just">
              <a:lnSpc>
                <a:spcPct val="200000"/>
              </a:lnSpc>
              <a:buFont typeface="Arial" panose="020B0604020202020204" pitchFamily="34" charset="0"/>
              <a:buChar char="•"/>
            </a:pPr>
            <a:r>
              <a:rPr lang="en-US" sz="2400" b="1" dirty="0"/>
              <a:t>a way </a:t>
            </a:r>
            <a:r>
              <a:rPr lang="en-US" sz="2400" dirty="0"/>
              <a:t>to provide, for every node of a state-space tree, </a:t>
            </a:r>
          </a:p>
          <a:p>
            <a:pPr marL="342900" indent="-342900" algn="just">
              <a:lnSpc>
                <a:spcPct val="200000"/>
              </a:lnSpc>
              <a:buFont typeface="Arial" panose="020B0604020202020204" pitchFamily="34" charset="0"/>
              <a:buChar char="•"/>
            </a:pPr>
            <a:r>
              <a:rPr lang="en-US" sz="2400" b="1" dirty="0"/>
              <a:t>a bound on the best value of the objective function</a:t>
            </a:r>
            <a:r>
              <a:rPr lang="en-US" sz="2400" dirty="0"/>
              <a:t> on any solution that can be obtained by adding further components to the partially constructed solution represented by the node the value of the best solution seen so far.</a:t>
            </a:r>
            <a:endParaRPr lang="en-IN" sz="2400" dirty="0"/>
          </a:p>
        </p:txBody>
      </p:sp>
    </p:spTree>
    <p:extLst>
      <p:ext uri="{BB962C8B-B14F-4D97-AF65-F5344CB8AC3E}">
        <p14:creationId xmlns:p14="http://schemas.microsoft.com/office/powerpoint/2010/main" val="1551976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7CF161-0819-43A6-A90E-94527702370A}"/>
              </a:ext>
            </a:extLst>
          </p:cNvPr>
          <p:cNvSpPr>
            <a:spLocks noGrp="1"/>
          </p:cNvSpPr>
          <p:nvPr>
            <p:ph type="title"/>
          </p:nvPr>
        </p:nvSpPr>
        <p:spPr>
          <a:xfrm>
            <a:off x="474059" y="52141"/>
            <a:ext cx="8596668" cy="1320800"/>
          </a:xfrm>
        </p:spPr>
        <p:txBody>
          <a:bodyPr/>
          <a:lstStyle/>
          <a:p>
            <a:r>
              <a:rPr lang="en-US" dirty="0"/>
              <a:t>Design of an algorithm:</a:t>
            </a:r>
            <a:endParaRPr lang="en-IN" dirty="0"/>
          </a:p>
        </p:txBody>
      </p:sp>
      <p:sp>
        <p:nvSpPr>
          <p:cNvPr id="6" name="TextBox 5">
            <a:extLst>
              <a:ext uri="{FF2B5EF4-FFF2-40B4-BE49-F238E27FC236}">
                <a16:creationId xmlns:a16="http://schemas.microsoft.com/office/drawing/2014/main" id="{7947EECB-7FB5-43B5-926B-7A4AB8498E74}"/>
              </a:ext>
            </a:extLst>
          </p:cNvPr>
          <p:cNvSpPr txBox="1"/>
          <p:nvPr/>
        </p:nvSpPr>
        <p:spPr>
          <a:xfrm>
            <a:off x="482600" y="1204993"/>
            <a:ext cx="11709400" cy="4448013"/>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Tx/>
              <a:buAutoNum type="arabicPeriod"/>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Some design techniques can be simply </a:t>
            </a:r>
            <a:r>
              <a:rPr kumimoji="0" lang="en-US" sz="3200" i="0" u="none" strike="noStrike" kern="1200" cap="none" spc="0" normalizeH="0" baseline="0" noProof="0" dirty="0">
                <a:ln>
                  <a:noFill/>
                </a:ln>
                <a:solidFill>
                  <a:prstClr val="black"/>
                </a:solidFill>
                <a:effectLst/>
                <a:uLnTx/>
                <a:uFillTx/>
                <a:latin typeface="Calibri" panose="020F0502020204030204"/>
                <a:ea typeface="+mn-ea"/>
                <a:cs typeface="+mn-cs"/>
              </a:rPr>
              <a:t>inapplicable</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to the problem in question. </a:t>
            </a:r>
          </a:p>
          <a:p>
            <a:pPr marL="342900" marR="0" lvl="0" indent="-342900" algn="l" defTabSz="914400" rtl="0" eaLnBrk="1" fontAlgn="auto" latinLnBrk="0" hangingPunct="1">
              <a:lnSpc>
                <a:spcPct val="150000"/>
              </a:lnSpc>
              <a:spcBef>
                <a:spcPts val="0"/>
              </a:spcBef>
              <a:spcAft>
                <a:spcPts val="0"/>
              </a:spcAft>
              <a:buClrTx/>
              <a:buSzTx/>
              <a:buFontTx/>
              <a:buAutoNum type="arabicPeriod"/>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Sometimes, several techniques need to be combined</a:t>
            </a:r>
          </a:p>
          <a:p>
            <a:pPr marL="342900" marR="0" lvl="0" indent="-342900" algn="l" defTabSz="914400" rtl="0" eaLnBrk="1" fontAlgn="auto" latinLnBrk="0" hangingPunct="1">
              <a:lnSpc>
                <a:spcPct val="150000"/>
              </a:lnSpc>
              <a:spcBef>
                <a:spcPts val="0"/>
              </a:spcBef>
              <a:spcAft>
                <a:spcPts val="0"/>
              </a:spcAft>
              <a:buClrTx/>
              <a:buSzTx/>
              <a:buFontTx/>
              <a:buAutoNum type="arabicPeriod"/>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Even when a particular design technique is applicable, getting an algorithm often requires a nontrivial ingenuity on the part of the algorithm designer. </a:t>
            </a:r>
            <a:endParaRPr kumimoji="0" lang="en-IN"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 name="Google Shape;181;p25">
            <a:extLst>
              <a:ext uri="{FF2B5EF4-FFF2-40B4-BE49-F238E27FC236}">
                <a16:creationId xmlns:a16="http://schemas.microsoft.com/office/drawing/2014/main" id="{52F2943D-5281-4EEB-89A2-E5B3218C0F51}"/>
              </a:ext>
            </a:extLst>
          </p:cNvPr>
          <p:cNvGrpSpPr/>
          <p:nvPr/>
        </p:nvGrpSpPr>
        <p:grpSpPr>
          <a:xfrm>
            <a:off x="9494514" y="51927"/>
            <a:ext cx="1319607" cy="1466264"/>
            <a:chOff x="1937772" y="1600603"/>
            <a:chExt cx="3088439" cy="3431676"/>
          </a:xfrm>
        </p:grpSpPr>
        <p:grpSp>
          <p:nvGrpSpPr>
            <p:cNvPr id="7" name="Google Shape;182;p25">
              <a:extLst>
                <a:ext uri="{FF2B5EF4-FFF2-40B4-BE49-F238E27FC236}">
                  <a16:creationId xmlns:a16="http://schemas.microsoft.com/office/drawing/2014/main" id="{481021B9-2D14-4613-A3C1-40E1F4FB9708}"/>
                </a:ext>
              </a:extLst>
            </p:cNvPr>
            <p:cNvGrpSpPr/>
            <p:nvPr/>
          </p:nvGrpSpPr>
          <p:grpSpPr>
            <a:xfrm rot="10800000">
              <a:off x="2654236" y="2231046"/>
              <a:ext cx="1641920" cy="2801233"/>
              <a:chOff x="8323516" y="1636395"/>
              <a:chExt cx="2070734" cy="3532822"/>
            </a:xfrm>
          </p:grpSpPr>
          <p:sp>
            <p:nvSpPr>
              <p:cNvPr id="17" name="Google Shape;183;p25">
                <a:extLst>
                  <a:ext uri="{FF2B5EF4-FFF2-40B4-BE49-F238E27FC236}">
                    <a16:creationId xmlns:a16="http://schemas.microsoft.com/office/drawing/2014/main" id="{CF813AA7-F7FA-4C76-93FF-BED7F2EA919C}"/>
                  </a:ext>
                </a:extLst>
              </p:cNvPr>
              <p:cNvSpPr/>
              <p:nvPr/>
            </p:nvSpPr>
            <p:spPr>
              <a:xfrm>
                <a:off x="8323516" y="2619375"/>
                <a:ext cx="2070734" cy="2540317"/>
              </a:xfrm>
              <a:custGeom>
                <a:avLst/>
                <a:gdLst/>
                <a:ahLst/>
                <a:cxnLst/>
                <a:rect l="l" t="t" r="r" b="b"/>
                <a:pathLst>
                  <a:path w="2070734" h="2540317" extrusionOk="0">
                    <a:moveTo>
                      <a:pt x="1035368" y="2540318"/>
                    </a:moveTo>
                    <a:cubicBezTo>
                      <a:pt x="1606868" y="2540318"/>
                      <a:pt x="2070735" y="2076450"/>
                      <a:pt x="2070735" y="1504950"/>
                    </a:cubicBezTo>
                    <a:cubicBezTo>
                      <a:pt x="2070735" y="1214438"/>
                      <a:pt x="1950720" y="952500"/>
                      <a:pt x="1758315" y="763905"/>
                    </a:cubicBezTo>
                    <a:cubicBezTo>
                      <a:pt x="1668780" y="669607"/>
                      <a:pt x="1580197" y="561022"/>
                      <a:pt x="1566862" y="347663"/>
                    </a:cubicBezTo>
                    <a:cubicBezTo>
                      <a:pt x="1555433" y="158115"/>
                      <a:pt x="1565910" y="52388"/>
                      <a:pt x="1450658" y="0"/>
                    </a:cubicBezTo>
                    <a:lnTo>
                      <a:pt x="620078" y="0"/>
                    </a:lnTo>
                    <a:cubicBezTo>
                      <a:pt x="505778" y="52388"/>
                      <a:pt x="515303" y="158115"/>
                      <a:pt x="504825" y="347663"/>
                    </a:cubicBezTo>
                    <a:cubicBezTo>
                      <a:pt x="493395" y="548640"/>
                      <a:pt x="407670" y="661035"/>
                      <a:pt x="325755" y="750570"/>
                    </a:cubicBezTo>
                    <a:cubicBezTo>
                      <a:pt x="125730" y="939165"/>
                      <a:pt x="0" y="1206818"/>
                      <a:pt x="0" y="1503998"/>
                    </a:cubicBezTo>
                    <a:cubicBezTo>
                      <a:pt x="0" y="2076450"/>
                      <a:pt x="463868" y="2540318"/>
                      <a:pt x="1035368" y="2540318"/>
                    </a:cubicBez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 name="Google Shape;184;p25">
                <a:extLst>
                  <a:ext uri="{FF2B5EF4-FFF2-40B4-BE49-F238E27FC236}">
                    <a16:creationId xmlns:a16="http://schemas.microsoft.com/office/drawing/2014/main" id="{4449D00C-DED6-43AF-B6B7-7644B37B946D}"/>
                  </a:ext>
                </a:extLst>
              </p:cNvPr>
              <p:cNvSpPr/>
              <p:nvPr/>
            </p:nvSpPr>
            <p:spPr>
              <a:xfrm>
                <a:off x="8880728" y="2304097"/>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3"/>
                      <a:pt x="902970" y="54293"/>
                    </a:cubicBezTo>
                    <a:lnTo>
                      <a:pt x="26670" y="105728"/>
                    </a:lnTo>
                    <a:cubicBezTo>
                      <a:pt x="11430" y="105728"/>
                      <a:pt x="0" y="93345"/>
                      <a:pt x="0" y="79058"/>
                    </a:cubicBezTo>
                    <a:lnTo>
                      <a:pt x="0" y="78105"/>
                    </a:lnTo>
                    <a:close/>
                  </a:path>
                </a:pathLst>
              </a:custGeom>
              <a:solidFill>
                <a:srgbClr val="9E9E9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 name="Google Shape;185;p25">
                <a:extLst>
                  <a:ext uri="{FF2B5EF4-FFF2-40B4-BE49-F238E27FC236}">
                    <a16:creationId xmlns:a16="http://schemas.microsoft.com/office/drawing/2014/main" id="{D49CBB07-07ED-4E0E-AE26-036457A7C69B}"/>
                  </a:ext>
                </a:extLst>
              </p:cNvPr>
              <p:cNvSpPr/>
              <p:nvPr/>
            </p:nvSpPr>
            <p:spPr>
              <a:xfrm>
                <a:off x="8884538" y="2357437"/>
                <a:ext cx="931545" cy="105727"/>
              </a:xfrm>
              <a:custGeom>
                <a:avLst/>
                <a:gdLst/>
                <a:ahLst/>
                <a:cxnLst/>
                <a:rect l="l" t="t" r="r" b="b"/>
                <a:pathLst>
                  <a:path w="931545" h="105727" extrusionOk="0">
                    <a:moveTo>
                      <a:pt x="0" y="78105"/>
                    </a:moveTo>
                    <a:cubicBezTo>
                      <a:pt x="0" y="62865"/>
                      <a:pt x="9525" y="51435"/>
                      <a:pt x="24765" y="51435"/>
                    </a:cubicBezTo>
                    <a:lnTo>
                      <a:pt x="902970" y="0"/>
                    </a:lnTo>
                    <a:cubicBezTo>
                      <a:pt x="918210" y="0"/>
                      <a:pt x="931545" y="12383"/>
                      <a:pt x="931545" y="26670"/>
                    </a:cubicBezTo>
                    <a:lnTo>
                      <a:pt x="931545" y="27622"/>
                    </a:lnTo>
                    <a:cubicBezTo>
                      <a:pt x="931545" y="42863"/>
                      <a:pt x="917258" y="54292"/>
                      <a:pt x="902018" y="54292"/>
                    </a:cubicBezTo>
                    <a:lnTo>
                      <a:pt x="26670" y="105728"/>
                    </a:lnTo>
                    <a:cubicBezTo>
                      <a:pt x="11430" y="105728"/>
                      <a:pt x="952" y="93345"/>
                      <a:pt x="952" y="79058"/>
                    </a:cubicBezTo>
                    <a:lnTo>
                      <a:pt x="952" y="78105"/>
                    </a:ln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 name="Google Shape;186;p25">
                <a:extLst>
                  <a:ext uri="{FF2B5EF4-FFF2-40B4-BE49-F238E27FC236}">
                    <a16:creationId xmlns:a16="http://schemas.microsoft.com/office/drawing/2014/main" id="{F7943CF9-8659-4993-A263-DB0FBEE5DA33}"/>
                  </a:ext>
                </a:extLst>
              </p:cNvPr>
              <p:cNvSpPr/>
              <p:nvPr/>
            </p:nvSpPr>
            <p:spPr>
              <a:xfrm>
                <a:off x="8862312" y="1789747"/>
                <a:ext cx="968633" cy="351613"/>
              </a:xfrm>
              <a:custGeom>
                <a:avLst/>
                <a:gdLst/>
                <a:ahLst/>
                <a:cxnLst/>
                <a:rect l="l" t="t" r="r" b="b"/>
                <a:pathLst>
                  <a:path w="968633" h="351613" extrusionOk="0">
                    <a:moveTo>
                      <a:pt x="240348" y="0"/>
                    </a:moveTo>
                    <a:lnTo>
                      <a:pt x="739458" y="0"/>
                    </a:lnTo>
                    <a:cubicBezTo>
                      <a:pt x="950913" y="162878"/>
                      <a:pt x="967106" y="248603"/>
                      <a:pt x="967106" y="248603"/>
                    </a:cubicBezTo>
                    <a:cubicBezTo>
                      <a:pt x="975678" y="281940"/>
                      <a:pt x="947103" y="303848"/>
                      <a:pt x="908051" y="301943"/>
                    </a:cubicBezTo>
                    <a:lnTo>
                      <a:pt x="65088" y="351473"/>
                    </a:lnTo>
                    <a:cubicBezTo>
                      <a:pt x="26036" y="354330"/>
                      <a:pt x="-15874" y="313373"/>
                      <a:pt x="6033" y="247650"/>
                    </a:cubicBezTo>
                    <a:cubicBezTo>
                      <a:pt x="6986" y="248603"/>
                      <a:pt x="36513" y="143828"/>
                      <a:pt x="240348" y="0"/>
                    </a:cubicBez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 name="Google Shape;187;p25">
                <a:extLst>
                  <a:ext uri="{FF2B5EF4-FFF2-40B4-BE49-F238E27FC236}">
                    <a16:creationId xmlns:a16="http://schemas.microsoft.com/office/drawing/2014/main" id="{6A38111D-DF73-4503-B629-DD510B73AC57}"/>
                  </a:ext>
                </a:extLst>
              </p:cNvPr>
              <p:cNvSpPr/>
              <p:nvPr/>
            </p:nvSpPr>
            <p:spPr>
              <a:xfrm>
                <a:off x="8882633" y="2410777"/>
                <a:ext cx="931544" cy="105727"/>
              </a:xfrm>
              <a:custGeom>
                <a:avLst/>
                <a:gdLst/>
                <a:ahLst/>
                <a:cxnLst/>
                <a:rect l="l" t="t" r="r" b="b"/>
                <a:pathLst>
                  <a:path w="931544" h="105727" extrusionOk="0">
                    <a:moveTo>
                      <a:pt x="0" y="78105"/>
                    </a:moveTo>
                    <a:cubicBezTo>
                      <a:pt x="0" y="62865"/>
                      <a:pt x="10477" y="51435"/>
                      <a:pt x="25717" y="51435"/>
                    </a:cubicBezTo>
                    <a:lnTo>
                      <a:pt x="903922" y="0"/>
                    </a:lnTo>
                    <a:cubicBezTo>
                      <a:pt x="919163" y="0"/>
                      <a:pt x="931545" y="12382"/>
                      <a:pt x="931545" y="26670"/>
                    </a:cubicBezTo>
                    <a:lnTo>
                      <a:pt x="931545" y="27622"/>
                    </a:lnTo>
                    <a:cubicBezTo>
                      <a:pt x="931545" y="42863"/>
                      <a:pt x="918210" y="54292"/>
                      <a:pt x="902970" y="54292"/>
                    </a:cubicBezTo>
                    <a:lnTo>
                      <a:pt x="26670" y="105728"/>
                    </a:lnTo>
                    <a:cubicBezTo>
                      <a:pt x="11430" y="105728"/>
                      <a:pt x="952" y="93345"/>
                      <a:pt x="952" y="79057"/>
                    </a:cubicBezTo>
                    <a:lnTo>
                      <a:pt x="952" y="78105"/>
                    </a:lnTo>
                    <a:close/>
                  </a:path>
                </a:pathLst>
              </a:custGeom>
              <a:solidFill>
                <a:srgbClr val="9E9E9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2" name="Google Shape;188;p25">
                <a:extLst>
                  <a:ext uri="{FF2B5EF4-FFF2-40B4-BE49-F238E27FC236}">
                    <a16:creationId xmlns:a16="http://schemas.microsoft.com/office/drawing/2014/main" id="{56954FC7-3A52-4D5C-B449-A94167BDEDE5}"/>
                  </a:ext>
                </a:extLst>
              </p:cNvPr>
              <p:cNvSpPr/>
              <p:nvPr/>
            </p:nvSpPr>
            <p:spPr>
              <a:xfrm>
                <a:off x="8880728" y="2249804"/>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2"/>
                      <a:pt x="902970" y="54292"/>
                    </a:cubicBezTo>
                    <a:lnTo>
                      <a:pt x="26670" y="105728"/>
                    </a:lnTo>
                    <a:cubicBezTo>
                      <a:pt x="11430" y="105728"/>
                      <a:pt x="0" y="93345"/>
                      <a:pt x="0" y="79058"/>
                    </a:cubicBezTo>
                    <a:lnTo>
                      <a:pt x="0" y="78105"/>
                    </a:ln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 name="Google Shape;189;p25">
                <a:extLst>
                  <a:ext uri="{FF2B5EF4-FFF2-40B4-BE49-F238E27FC236}">
                    <a16:creationId xmlns:a16="http://schemas.microsoft.com/office/drawing/2014/main" id="{E11C4AE3-814A-42FD-BFEA-240EB3D701A8}"/>
                  </a:ext>
                </a:extLst>
              </p:cNvPr>
              <p:cNvSpPr/>
              <p:nvPr/>
            </p:nvSpPr>
            <p:spPr>
              <a:xfrm>
                <a:off x="8880728" y="2194559"/>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3"/>
                      <a:pt x="902970" y="54293"/>
                    </a:cubicBezTo>
                    <a:lnTo>
                      <a:pt x="26670" y="105728"/>
                    </a:lnTo>
                    <a:cubicBezTo>
                      <a:pt x="11430" y="105728"/>
                      <a:pt x="0" y="93345"/>
                      <a:pt x="0" y="79058"/>
                    </a:cubicBezTo>
                    <a:lnTo>
                      <a:pt x="0" y="78105"/>
                    </a:lnTo>
                    <a:close/>
                  </a:path>
                </a:pathLst>
              </a:custGeom>
              <a:solidFill>
                <a:srgbClr val="9E9E9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4" name="Google Shape;190;p25">
                <a:extLst>
                  <a:ext uri="{FF2B5EF4-FFF2-40B4-BE49-F238E27FC236}">
                    <a16:creationId xmlns:a16="http://schemas.microsoft.com/office/drawing/2014/main" id="{F6BBAADE-44E2-4E5D-8C30-3D492620261B}"/>
                  </a:ext>
                </a:extLst>
              </p:cNvPr>
              <p:cNvSpPr/>
              <p:nvPr/>
            </p:nvSpPr>
            <p:spPr>
              <a:xfrm>
                <a:off x="8880728" y="2142172"/>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3"/>
                      <a:pt x="902970" y="54293"/>
                    </a:cubicBezTo>
                    <a:lnTo>
                      <a:pt x="26670" y="105728"/>
                    </a:lnTo>
                    <a:cubicBezTo>
                      <a:pt x="11430" y="105728"/>
                      <a:pt x="0" y="93345"/>
                      <a:pt x="0" y="79058"/>
                    </a:cubicBezTo>
                    <a:lnTo>
                      <a:pt x="0" y="78105"/>
                    </a:ln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5" name="Google Shape;191;p25">
                <a:extLst>
                  <a:ext uri="{FF2B5EF4-FFF2-40B4-BE49-F238E27FC236}">
                    <a16:creationId xmlns:a16="http://schemas.microsoft.com/office/drawing/2014/main" id="{8129F87F-3998-477D-B557-9CB3EE034FFF}"/>
                  </a:ext>
                </a:extLst>
              </p:cNvPr>
              <p:cNvSpPr/>
              <p:nvPr/>
            </p:nvSpPr>
            <p:spPr>
              <a:xfrm>
                <a:off x="8880728" y="2089784"/>
                <a:ext cx="930592" cy="105727"/>
              </a:xfrm>
              <a:custGeom>
                <a:avLst/>
                <a:gdLst/>
                <a:ahLst/>
                <a:cxnLst/>
                <a:rect l="l" t="t" r="r" b="b"/>
                <a:pathLst>
                  <a:path w="930592" h="105727" extrusionOk="0">
                    <a:moveTo>
                      <a:pt x="0" y="78105"/>
                    </a:moveTo>
                    <a:cubicBezTo>
                      <a:pt x="0" y="62865"/>
                      <a:pt x="11430" y="51435"/>
                      <a:pt x="25718" y="51435"/>
                    </a:cubicBezTo>
                    <a:lnTo>
                      <a:pt x="902970" y="0"/>
                    </a:lnTo>
                    <a:cubicBezTo>
                      <a:pt x="918210" y="0"/>
                      <a:pt x="930593" y="12383"/>
                      <a:pt x="930593" y="26670"/>
                    </a:cubicBezTo>
                    <a:lnTo>
                      <a:pt x="930593" y="27623"/>
                    </a:lnTo>
                    <a:cubicBezTo>
                      <a:pt x="930593" y="42863"/>
                      <a:pt x="917258" y="54293"/>
                      <a:pt x="902970" y="54293"/>
                    </a:cubicBezTo>
                    <a:lnTo>
                      <a:pt x="26670" y="105728"/>
                    </a:lnTo>
                    <a:cubicBezTo>
                      <a:pt x="11430" y="105728"/>
                      <a:pt x="0" y="93345"/>
                      <a:pt x="0" y="79058"/>
                    </a:cubicBezTo>
                    <a:lnTo>
                      <a:pt x="0" y="78105"/>
                    </a:lnTo>
                    <a:close/>
                  </a:path>
                </a:pathLst>
              </a:custGeom>
              <a:solidFill>
                <a:srgbClr val="9E9E9E"/>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6" name="Google Shape;192;p25">
                <a:extLst>
                  <a:ext uri="{FF2B5EF4-FFF2-40B4-BE49-F238E27FC236}">
                    <a16:creationId xmlns:a16="http://schemas.microsoft.com/office/drawing/2014/main" id="{DC3A1B2D-66B6-46D8-9164-765D09BA2E85}"/>
                  </a:ext>
                </a:extLst>
              </p:cNvPr>
              <p:cNvSpPr/>
              <p:nvPr/>
            </p:nvSpPr>
            <p:spPr>
              <a:xfrm>
                <a:off x="9103613" y="1636395"/>
                <a:ext cx="497204" cy="159565"/>
              </a:xfrm>
              <a:custGeom>
                <a:avLst/>
                <a:gdLst/>
                <a:ahLst/>
                <a:cxnLst/>
                <a:rect l="l" t="t" r="r" b="b"/>
                <a:pathLst>
                  <a:path w="497204" h="159565" extrusionOk="0">
                    <a:moveTo>
                      <a:pt x="0" y="150495"/>
                    </a:moveTo>
                    <a:cubicBezTo>
                      <a:pt x="0" y="117158"/>
                      <a:pt x="111442" y="0"/>
                      <a:pt x="248602" y="0"/>
                    </a:cubicBezTo>
                    <a:cubicBezTo>
                      <a:pt x="385763" y="0"/>
                      <a:pt x="497205" y="117158"/>
                      <a:pt x="497205" y="150495"/>
                    </a:cubicBezTo>
                    <a:cubicBezTo>
                      <a:pt x="497205" y="165735"/>
                      <a:pt x="384810" y="157163"/>
                      <a:pt x="246697" y="157163"/>
                    </a:cubicBezTo>
                    <a:cubicBezTo>
                      <a:pt x="110490" y="158115"/>
                      <a:pt x="0" y="164783"/>
                      <a:pt x="0" y="150495"/>
                    </a:cubicBezTo>
                    <a:close/>
                  </a:path>
                </a:pathLst>
              </a:custGeom>
              <a:solidFill>
                <a:srgbClr val="54545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 name="Google Shape;193;p25">
                <a:extLst>
                  <a:ext uri="{FF2B5EF4-FFF2-40B4-BE49-F238E27FC236}">
                    <a16:creationId xmlns:a16="http://schemas.microsoft.com/office/drawing/2014/main" id="{8424FA22-A5E4-42F5-B03F-2B6AB4726AF0}"/>
                  </a:ext>
                </a:extLst>
              </p:cNvPr>
              <p:cNvSpPr/>
              <p:nvPr/>
            </p:nvSpPr>
            <p:spPr>
              <a:xfrm>
                <a:off x="8879776" y="2440227"/>
                <a:ext cx="960120" cy="188672"/>
              </a:xfrm>
              <a:custGeom>
                <a:avLst/>
                <a:gdLst/>
                <a:ahLst/>
                <a:cxnLst/>
                <a:rect l="l" t="t" r="r" b="b"/>
                <a:pathLst>
                  <a:path w="960120" h="188672" extrusionOk="0">
                    <a:moveTo>
                      <a:pt x="0" y="112473"/>
                    </a:moveTo>
                    <a:cubicBezTo>
                      <a:pt x="0" y="83898"/>
                      <a:pt x="5715" y="77230"/>
                      <a:pt x="25717" y="74373"/>
                    </a:cubicBezTo>
                    <a:lnTo>
                      <a:pt x="899160" y="78"/>
                    </a:lnTo>
                    <a:cubicBezTo>
                      <a:pt x="941070" y="-1827"/>
                      <a:pt x="957262" y="31510"/>
                      <a:pt x="957262" y="60085"/>
                    </a:cubicBezTo>
                    <a:lnTo>
                      <a:pt x="960120" y="137238"/>
                    </a:lnTo>
                    <a:cubicBezTo>
                      <a:pt x="960120" y="165813"/>
                      <a:pt x="933450" y="188673"/>
                      <a:pt x="901065" y="188673"/>
                    </a:cubicBezTo>
                    <a:lnTo>
                      <a:pt x="320040" y="188673"/>
                    </a:lnTo>
                    <a:lnTo>
                      <a:pt x="59055" y="188673"/>
                    </a:lnTo>
                    <a:cubicBezTo>
                      <a:pt x="26670" y="188673"/>
                      <a:pt x="0" y="165813"/>
                      <a:pt x="0" y="137238"/>
                    </a:cubicBezTo>
                    <a:lnTo>
                      <a:pt x="0" y="112473"/>
                    </a:lnTo>
                    <a:close/>
                  </a:path>
                </a:pathLst>
              </a:custGeom>
              <a:solidFill>
                <a:srgbClr val="CCCCCC"/>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8" name="Google Shape;194;p25">
                <a:extLst>
                  <a:ext uri="{FF2B5EF4-FFF2-40B4-BE49-F238E27FC236}">
                    <a16:creationId xmlns:a16="http://schemas.microsoft.com/office/drawing/2014/main" id="{169C2B95-808F-4F28-9666-0159FA32FAC5}"/>
                  </a:ext>
                </a:extLst>
              </p:cNvPr>
              <p:cNvSpPr/>
              <p:nvPr/>
            </p:nvSpPr>
            <p:spPr>
              <a:xfrm>
                <a:off x="8323516" y="2627947"/>
                <a:ext cx="2070734" cy="2541270"/>
              </a:xfrm>
              <a:custGeom>
                <a:avLst/>
                <a:gdLst/>
                <a:ahLst/>
                <a:cxnLst/>
                <a:rect l="l" t="t" r="r" b="b"/>
                <a:pathLst>
                  <a:path w="2070734" h="2541270" extrusionOk="0">
                    <a:moveTo>
                      <a:pt x="1035368" y="2541270"/>
                    </a:moveTo>
                    <a:cubicBezTo>
                      <a:pt x="1606868" y="2541270"/>
                      <a:pt x="2070735" y="2077403"/>
                      <a:pt x="2070735" y="1505903"/>
                    </a:cubicBezTo>
                    <a:cubicBezTo>
                      <a:pt x="2070735" y="1215390"/>
                      <a:pt x="1950720" y="953453"/>
                      <a:pt x="1758315" y="764858"/>
                    </a:cubicBezTo>
                    <a:cubicBezTo>
                      <a:pt x="1668780" y="670560"/>
                      <a:pt x="1580197" y="561022"/>
                      <a:pt x="1566862" y="348615"/>
                    </a:cubicBezTo>
                    <a:cubicBezTo>
                      <a:pt x="1555433" y="159068"/>
                      <a:pt x="1565910" y="55245"/>
                      <a:pt x="1450658" y="0"/>
                    </a:cubicBezTo>
                    <a:lnTo>
                      <a:pt x="620078" y="0"/>
                    </a:lnTo>
                    <a:cubicBezTo>
                      <a:pt x="505778" y="55245"/>
                      <a:pt x="515303" y="159068"/>
                      <a:pt x="504825" y="348615"/>
                    </a:cubicBezTo>
                    <a:cubicBezTo>
                      <a:pt x="493395" y="549593"/>
                      <a:pt x="407670" y="661988"/>
                      <a:pt x="325755" y="752475"/>
                    </a:cubicBezTo>
                    <a:cubicBezTo>
                      <a:pt x="125730" y="941070"/>
                      <a:pt x="0" y="1209675"/>
                      <a:pt x="0" y="1505903"/>
                    </a:cubicBezTo>
                    <a:cubicBezTo>
                      <a:pt x="0" y="2077403"/>
                      <a:pt x="463868" y="2541270"/>
                      <a:pt x="1035368" y="2541270"/>
                    </a:cubicBezTo>
                    <a:close/>
                    <a:moveTo>
                      <a:pt x="331470" y="755333"/>
                    </a:moveTo>
                    <a:cubicBezTo>
                      <a:pt x="412432" y="665797"/>
                      <a:pt x="498157" y="554355"/>
                      <a:pt x="509587" y="355283"/>
                    </a:cubicBezTo>
                    <a:cubicBezTo>
                      <a:pt x="521018" y="167640"/>
                      <a:pt x="510540" y="61913"/>
                      <a:pt x="624840" y="10478"/>
                    </a:cubicBezTo>
                    <a:lnTo>
                      <a:pt x="1450658" y="10478"/>
                    </a:lnTo>
                    <a:cubicBezTo>
                      <a:pt x="1564958" y="61913"/>
                      <a:pt x="1554480" y="167640"/>
                      <a:pt x="1565910" y="355283"/>
                    </a:cubicBezTo>
                    <a:cubicBezTo>
                      <a:pt x="1578293" y="566738"/>
                      <a:pt x="1666875" y="674370"/>
                      <a:pt x="1755458" y="768668"/>
                    </a:cubicBezTo>
                    <a:cubicBezTo>
                      <a:pt x="1946910" y="955358"/>
                      <a:pt x="2065972" y="1216343"/>
                      <a:pt x="2065972" y="1504950"/>
                    </a:cubicBezTo>
                    <a:cubicBezTo>
                      <a:pt x="2065972" y="2073593"/>
                      <a:pt x="1604010" y="2536508"/>
                      <a:pt x="1035368" y="2536508"/>
                    </a:cubicBezTo>
                    <a:cubicBezTo>
                      <a:pt x="466725" y="2536508"/>
                      <a:pt x="8573" y="2073593"/>
                      <a:pt x="8573" y="1504950"/>
                    </a:cubicBezTo>
                    <a:cubicBezTo>
                      <a:pt x="7620" y="1209675"/>
                      <a:pt x="132398" y="942975"/>
                      <a:pt x="331470" y="755333"/>
                    </a:cubicBezTo>
                    <a:close/>
                  </a:path>
                </a:pathLst>
              </a:custGeom>
              <a:solidFill>
                <a:srgbClr val="303035">
                  <a:alpha val="22745"/>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9" name="Google Shape;195;p25">
                <a:extLst>
                  <a:ext uri="{FF2B5EF4-FFF2-40B4-BE49-F238E27FC236}">
                    <a16:creationId xmlns:a16="http://schemas.microsoft.com/office/drawing/2014/main" id="{BD8ACEA2-249C-4551-8C6C-A270AE36B065}"/>
                  </a:ext>
                </a:extLst>
              </p:cNvPr>
              <p:cNvSpPr/>
              <p:nvPr/>
            </p:nvSpPr>
            <p:spPr>
              <a:xfrm>
                <a:off x="8323516" y="2628900"/>
                <a:ext cx="1373505" cy="2540317"/>
              </a:xfrm>
              <a:custGeom>
                <a:avLst/>
                <a:gdLst/>
                <a:ahLst/>
                <a:cxnLst/>
                <a:rect l="l" t="t" r="r" b="b"/>
                <a:pathLst>
                  <a:path w="1373505" h="2540317" extrusionOk="0">
                    <a:moveTo>
                      <a:pt x="1035368" y="2540318"/>
                    </a:moveTo>
                    <a:cubicBezTo>
                      <a:pt x="1153478" y="2540318"/>
                      <a:pt x="1267778" y="2520315"/>
                      <a:pt x="1373505" y="2484120"/>
                    </a:cubicBezTo>
                    <a:cubicBezTo>
                      <a:pt x="1273493" y="2516505"/>
                      <a:pt x="1165860" y="2537460"/>
                      <a:pt x="1054418" y="2537460"/>
                    </a:cubicBezTo>
                    <a:cubicBezTo>
                      <a:pt x="482918" y="2537460"/>
                      <a:pt x="8573" y="2071688"/>
                      <a:pt x="8573" y="1500188"/>
                    </a:cubicBezTo>
                    <a:cubicBezTo>
                      <a:pt x="8573" y="1203007"/>
                      <a:pt x="141923" y="934403"/>
                      <a:pt x="341948" y="745807"/>
                    </a:cubicBezTo>
                    <a:cubicBezTo>
                      <a:pt x="423862" y="655320"/>
                      <a:pt x="499110" y="540068"/>
                      <a:pt x="510540" y="339090"/>
                    </a:cubicBezTo>
                    <a:cubicBezTo>
                      <a:pt x="521018" y="157163"/>
                      <a:pt x="508635" y="52388"/>
                      <a:pt x="626745" y="0"/>
                    </a:cubicBezTo>
                    <a:lnTo>
                      <a:pt x="620078" y="0"/>
                    </a:lnTo>
                    <a:cubicBezTo>
                      <a:pt x="505778" y="55245"/>
                      <a:pt x="515303" y="159068"/>
                      <a:pt x="504825" y="348615"/>
                    </a:cubicBezTo>
                    <a:cubicBezTo>
                      <a:pt x="493395" y="549593"/>
                      <a:pt x="407670" y="661988"/>
                      <a:pt x="325755" y="752475"/>
                    </a:cubicBezTo>
                    <a:cubicBezTo>
                      <a:pt x="125730" y="941070"/>
                      <a:pt x="0" y="1209675"/>
                      <a:pt x="0" y="1505903"/>
                    </a:cubicBezTo>
                    <a:cubicBezTo>
                      <a:pt x="0" y="2076450"/>
                      <a:pt x="463868" y="2540318"/>
                      <a:pt x="1035368" y="2540318"/>
                    </a:cubicBezTo>
                    <a:close/>
                  </a:path>
                </a:pathLst>
              </a:custGeom>
              <a:solidFill>
                <a:srgbClr val="FFFFFF">
                  <a:alpha val="27843"/>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0" name="Google Shape;196;p25">
                <a:extLst>
                  <a:ext uri="{FF2B5EF4-FFF2-40B4-BE49-F238E27FC236}">
                    <a16:creationId xmlns:a16="http://schemas.microsoft.com/office/drawing/2014/main" id="{8E26EF4F-7556-402C-8940-8E9040F38E9F}"/>
                  </a:ext>
                </a:extLst>
              </p:cNvPr>
              <p:cNvSpPr/>
              <p:nvPr/>
            </p:nvSpPr>
            <p:spPr>
              <a:xfrm>
                <a:off x="8943593" y="2627947"/>
                <a:ext cx="831532" cy="3809"/>
              </a:xfrm>
              <a:custGeom>
                <a:avLst/>
                <a:gdLst/>
                <a:ahLst/>
                <a:cxnLst/>
                <a:rect l="l" t="t" r="r" b="b"/>
                <a:pathLst>
                  <a:path w="831532" h="3809" extrusionOk="0">
                    <a:moveTo>
                      <a:pt x="831532" y="953"/>
                    </a:moveTo>
                    <a:lnTo>
                      <a:pt x="727710" y="1905"/>
                    </a:lnTo>
                    <a:lnTo>
                      <a:pt x="623888" y="2858"/>
                    </a:lnTo>
                    <a:cubicBezTo>
                      <a:pt x="554355" y="3810"/>
                      <a:pt x="484822" y="3810"/>
                      <a:pt x="416242" y="3810"/>
                    </a:cubicBezTo>
                    <a:lnTo>
                      <a:pt x="312420" y="3810"/>
                    </a:lnTo>
                    <a:lnTo>
                      <a:pt x="260033" y="3810"/>
                    </a:lnTo>
                    <a:lnTo>
                      <a:pt x="207645" y="3810"/>
                    </a:lnTo>
                    <a:lnTo>
                      <a:pt x="103822" y="1905"/>
                    </a:lnTo>
                    <a:lnTo>
                      <a:pt x="0" y="0"/>
                    </a:lnTo>
                    <a:lnTo>
                      <a:pt x="103822" y="0"/>
                    </a:lnTo>
                    <a:lnTo>
                      <a:pt x="207645" y="0"/>
                    </a:lnTo>
                    <a:lnTo>
                      <a:pt x="260033" y="0"/>
                    </a:lnTo>
                    <a:lnTo>
                      <a:pt x="312420" y="0"/>
                    </a:lnTo>
                    <a:lnTo>
                      <a:pt x="416242" y="0"/>
                    </a:lnTo>
                    <a:cubicBezTo>
                      <a:pt x="485775" y="0"/>
                      <a:pt x="554355" y="0"/>
                      <a:pt x="623888" y="0"/>
                    </a:cubicBezTo>
                    <a:lnTo>
                      <a:pt x="727710" y="0"/>
                    </a:lnTo>
                    <a:lnTo>
                      <a:pt x="831532" y="953"/>
                    </a:lnTo>
                    <a:close/>
                  </a:path>
                </a:pathLst>
              </a:custGeom>
              <a:solidFill>
                <a:srgbClr val="38383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8" name="Google Shape;197;p25">
              <a:extLst>
                <a:ext uri="{FF2B5EF4-FFF2-40B4-BE49-F238E27FC236}">
                  <a16:creationId xmlns:a16="http://schemas.microsoft.com/office/drawing/2014/main" id="{D888F7BB-7240-4478-BAAA-B24A32FCD138}"/>
                </a:ext>
              </a:extLst>
            </p:cNvPr>
            <p:cNvGrpSpPr/>
            <p:nvPr/>
          </p:nvGrpSpPr>
          <p:grpSpPr>
            <a:xfrm rot="10800000">
              <a:off x="1937772" y="1600603"/>
              <a:ext cx="3088439" cy="2173756"/>
              <a:chOff x="7214791" y="3217331"/>
              <a:chExt cx="4182101" cy="2943516"/>
            </a:xfrm>
          </p:grpSpPr>
          <p:sp>
            <p:nvSpPr>
              <p:cNvPr id="9" name="Google Shape;198;p25">
                <a:extLst>
                  <a:ext uri="{FF2B5EF4-FFF2-40B4-BE49-F238E27FC236}">
                    <a16:creationId xmlns:a16="http://schemas.microsoft.com/office/drawing/2014/main" id="{B28FAF73-91DD-4AA2-97F7-3F993AFBEB18}"/>
                  </a:ext>
                </a:extLst>
              </p:cNvPr>
              <p:cNvSpPr/>
              <p:nvPr/>
            </p:nvSpPr>
            <p:spPr>
              <a:xfrm>
                <a:off x="10620372" y="3217331"/>
                <a:ext cx="663554" cy="422383"/>
              </a:xfrm>
              <a:custGeom>
                <a:avLst/>
                <a:gdLst/>
                <a:ahLst/>
                <a:cxnLst/>
                <a:rect l="l" t="t" r="r" b="b"/>
                <a:pathLst>
                  <a:path w="663554" h="422383" extrusionOk="0">
                    <a:moveTo>
                      <a:pt x="652084" y="51648"/>
                    </a:moveTo>
                    <a:cubicBezTo>
                      <a:pt x="673039" y="92606"/>
                      <a:pt x="664466" y="138325"/>
                      <a:pt x="633034" y="153565"/>
                    </a:cubicBezTo>
                    <a:lnTo>
                      <a:pt x="103444" y="417408"/>
                    </a:lnTo>
                    <a:cubicBezTo>
                      <a:pt x="72964" y="432648"/>
                      <a:pt x="31054" y="411693"/>
                      <a:pt x="11051" y="370736"/>
                    </a:cubicBezTo>
                    <a:lnTo>
                      <a:pt x="11051" y="370736"/>
                    </a:lnTo>
                    <a:cubicBezTo>
                      <a:pt x="-8951" y="329778"/>
                      <a:pt x="-1331" y="284058"/>
                      <a:pt x="30101" y="268818"/>
                    </a:cubicBezTo>
                    <a:lnTo>
                      <a:pt x="559691" y="4975"/>
                    </a:lnTo>
                    <a:cubicBezTo>
                      <a:pt x="590171" y="-10264"/>
                      <a:pt x="631129" y="10690"/>
                      <a:pt x="652084" y="51648"/>
                    </a:cubicBezTo>
                    <a:lnTo>
                      <a:pt x="652084" y="51648"/>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0" name="Google Shape;199;p25">
                <a:extLst>
                  <a:ext uri="{FF2B5EF4-FFF2-40B4-BE49-F238E27FC236}">
                    <a16:creationId xmlns:a16="http://schemas.microsoft.com/office/drawing/2014/main" id="{C422F3EB-20BC-4D86-A108-5D7BF6D5EAE9}"/>
                  </a:ext>
                </a:extLst>
              </p:cNvPr>
              <p:cNvSpPr/>
              <p:nvPr/>
            </p:nvSpPr>
            <p:spPr>
              <a:xfrm>
                <a:off x="10689511" y="4134883"/>
                <a:ext cx="707381" cy="267489"/>
              </a:xfrm>
              <a:custGeom>
                <a:avLst/>
                <a:gdLst/>
                <a:ahLst/>
                <a:cxnLst/>
                <a:rect l="l" t="t" r="r" b="b"/>
                <a:pathLst>
                  <a:path w="707381" h="267489" extrusionOk="0">
                    <a:moveTo>
                      <a:pt x="705817" y="196134"/>
                    </a:moveTo>
                    <a:cubicBezTo>
                      <a:pt x="698197" y="240901"/>
                      <a:pt x="663907" y="273286"/>
                      <a:pt x="630569" y="266619"/>
                    </a:cubicBezTo>
                    <a:lnTo>
                      <a:pt x="48592" y="163748"/>
                    </a:lnTo>
                    <a:cubicBezTo>
                      <a:pt x="14302" y="158034"/>
                      <a:pt x="-6653" y="116123"/>
                      <a:pt x="1919" y="71356"/>
                    </a:cubicBezTo>
                    <a:lnTo>
                      <a:pt x="1919" y="71356"/>
                    </a:lnTo>
                    <a:cubicBezTo>
                      <a:pt x="9539" y="26588"/>
                      <a:pt x="43829" y="-5796"/>
                      <a:pt x="77167" y="871"/>
                    </a:cubicBezTo>
                    <a:lnTo>
                      <a:pt x="659144" y="103741"/>
                    </a:lnTo>
                    <a:cubicBezTo>
                      <a:pt x="692482" y="109456"/>
                      <a:pt x="713437" y="151366"/>
                      <a:pt x="705817" y="196134"/>
                    </a:cubicBezTo>
                    <a:lnTo>
                      <a:pt x="705817" y="196134"/>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 name="Google Shape;200;p25">
                <a:extLst>
                  <a:ext uri="{FF2B5EF4-FFF2-40B4-BE49-F238E27FC236}">
                    <a16:creationId xmlns:a16="http://schemas.microsoft.com/office/drawing/2014/main" id="{4FC5718B-ADBD-4EEA-874F-67E0F201F68C}"/>
                  </a:ext>
                </a:extLst>
              </p:cNvPr>
              <p:cNvSpPr/>
              <p:nvPr/>
            </p:nvSpPr>
            <p:spPr>
              <a:xfrm>
                <a:off x="10420804" y="4997866"/>
                <a:ext cx="571039" cy="558919"/>
              </a:xfrm>
              <a:custGeom>
                <a:avLst/>
                <a:gdLst/>
                <a:ahLst/>
                <a:cxnLst/>
                <a:rect l="l" t="t" r="r" b="b"/>
                <a:pathLst>
                  <a:path w="571039" h="558919" extrusionOk="0">
                    <a:moveTo>
                      <a:pt x="543042" y="528538"/>
                    </a:moveTo>
                    <a:cubicBezTo>
                      <a:pt x="510657" y="561876"/>
                      <a:pt x="464937" y="568544"/>
                      <a:pt x="440172" y="544731"/>
                    </a:cubicBezTo>
                    <a:lnTo>
                      <a:pt x="15357" y="133251"/>
                    </a:lnTo>
                    <a:cubicBezTo>
                      <a:pt x="-9408" y="109438"/>
                      <a:pt x="-3693" y="63719"/>
                      <a:pt x="28692" y="30381"/>
                    </a:cubicBezTo>
                    <a:lnTo>
                      <a:pt x="28692" y="30381"/>
                    </a:lnTo>
                    <a:cubicBezTo>
                      <a:pt x="60124" y="-2956"/>
                      <a:pt x="106797" y="-9624"/>
                      <a:pt x="131562" y="14188"/>
                    </a:cubicBezTo>
                    <a:lnTo>
                      <a:pt x="556377" y="425669"/>
                    </a:lnTo>
                    <a:cubicBezTo>
                      <a:pt x="580189" y="449481"/>
                      <a:pt x="574474" y="495201"/>
                      <a:pt x="543042" y="528538"/>
                    </a:cubicBezTo>
                    <a:lnTo>
                      <a:pt x="543042" y="528538"/>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2" name="Google Shape;201;p25">
                <a:extLst>
                  <a:ext uri="{FF2B5EF4-FFF2-40B4-BE49-F238E27FC236}">
                    <a16:creationId xmlns:a16="http://schemas.microsoft.com/office/drawing/2014/main" id="{A10E372B-F8CF-40AA-853B-9F160204C14D}"/>
                  </a:ext>
                </a:extLst>
              </p:cNvPr>
              <p:cNvSpPr/>
              <p:nvPr/>
            </p:nvSpPr>
            <p:spPr>
              <a:xfrm>
                <a:off x="7327579" y="3217331"/>
                <a:ext cx="663135" cy="422383"/>
              </a:xfrm>
              <a:custGeom>
                <a:avLst/>
                <a:gdLst/>
                <a:ahLst/>
                <a:cxnLst/>
                <a:rect l="l" t="t" r="r" b="b"/>
                <a:pathLst>
                  <a:path w="663135" h="422383" extrusionOk="0">
                    <a:moveTo>
                      <a:pt x="11051" y="51648"/>
                    </a:moveTo>
                    <a:cubicBezTo>
                      <a:pt x="-8951" y="92606"/>
                      <a:pt x="-1331" y="138325"/>
                      <a:pt x="30101" y="153565"/>
                    </a:cubicBezTo>
                    <a:lnTo>
                      <a:pt x="559691" y="417408"/>
                    </a:lnTo>
                    <a:cubicBezTo>
                      <a:pt x="590171" y="432648"/>
                      <a:pt x="632081" y="411693"/>
                      <a:pt x="652084" y="370736"/>
                    </a:cubicBezTo>
                    <a:lnTo>
                      <a:pt x="652084" y="370736"/>
                    </a:lnTo>
                    <a:cubicBezTo>
                      <a:pt x="672086" y="329778"/>
                      <a:pt x="664466" y="284058"/>
                      <a:pt x="633034" y="268818"/>
                    </a:cubicBezTo>
                    <a:lnTo>
                      <a:pt x="103444" y="4975"/>
                    </a:lnTo>
                    <a:cubicBezTo>
                      <a:pt x="72964" y="-10264"/>
                      <a:pt x="32006" y="10690"/>
                      <a:pt x="11051" y="51648"/>
                    </a:cubicBezTo>
                    <a:lnTo>
                      <a:pt x="11051" y="51648"/>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 name="Google Shape;202;p25">
                <a:extLst>
                  <a:ext uri="{FF2B5EF4-FFF2-40B4-BE49-F238E27FC236}">
                    <a16:creationId xmlns:a16="http://schemas.microsoft.com/office/drawing/2014/main" id="{272CCFB5-422F-4D37-912C-6B2F77FA1E27}"/>
                  </a:ext>
                </a:extLst>
              </p:cNvPr>
              <p:cNvSpPr/>
              <p:nvPr/>
            </p:nvSpPr>
            <p:spPr>
              <a:xfrm>
                <a:off x="7214791" y="4134883"/>
                <a:ext cx="707681" cy="267489"/>
              </a:xfrm>
              <a:custGeom>
                <a:avLst/>
                <a:gdLst/>
                <a:ahLst/>
                <a:cxnLst/>
                <a:rect l="l" t="t" r="r" b="b"/>
                <a:pathLst>
                  <a:path w="707681" h="267489" extrusionOk="0">
                    <a:moveTo>
                      <a:pt x="1919" y="196134"/>
                    </a:moveTo>
                    <a:cubicBezTo>
                      <a:pt x="9539" y="240901"/>
                      <a:pt x="43829" y="273286"/>
                      <a:pt x="77167" y="266619"/>
                    </a:cubicBezTo>
                    <a:lnTo>
                      <a:pt x="659144" y="163748"/>
                    </a:lnTo>
                    <a:cubicBezTo>
                      <a:pt x="692482" y="158034"/>
                      <a:pt x="714389" y="116123"/>
                      <a:pt x="705817" y="71356"/>
                    </a:cubicBezTo>
                    <a:lnTo>
                      <a:pt x="705817" y="71356"/>
                    </a:lnTo>
                    <a:cubicBezTo>
                      <a:pt x="698197" y="26588"/>
                      <a:pt x="663907" y="-5796"/>
                      <a:pt x="630569" y="871"/>
                    </a:cubicBezTo>
                    <a:lnTo>
                      <a:pt x="48592" y="103741"/>
                    </a:lnTo>
                    <a:cubicBezTo>
                      <a:pt x="14302" y="109456"/>
                      <a:pt x="-6653" y="151366"/>
                      <a:pt x="1919" y="196134"/>
                    </a:cubicBezTo>
                    <a:lnTo>
                      <a:pt x="1919" y="196134"/>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4" name="Google Shape;203;p25">
                <a:extLst>
                  <a:ext uri="{FF2B5EF4-FFF2-40B4-BE49-F238E27FC236}">
                    <a16:creationId xmlns:a16="http://schemas.microsoft.com/office/drawing/2014/main" id="{EC7FD71B-56E3-496A-BF19-9869228FB05C}"/>
                  </a:ext>
                </a:extLst>
              </p:cNvPr>
              <p:cNvSpPr/>
              <p:nvPr/>
            </p:nvSpPr>
            <p:spPr>
              <a:xfrm>
                <a:off x="7529014" y="4868326"/>
                <a:ext cx="571733" cy="558919"/>
              </a:xfrm>
              <a:custGeom>
                <a:avLst/>
                <a:gdLst/>
                <a:ahLst/>
                <a:cxnLst/>
                <a:rect l="l" t="t" r="r" b="b"/>
                <a:pathLst>
                  <a:path w="571733" h="558919" extrusionOk="0">
                    <a:moveTo>
                      <a:pt x="28692" y="528538"/>
                    </a:moveTo>
                    <a:cubicBezTo>
                      <a:pt x="61077" y="561876"/>
                      <a:pt x="106797" y="568543"/>
                      <a:pt x="131562" y="544731"/>
                    </a:cubicBezTo>
                    <a:lnTo>
                      <a:pt x="556377" y="133251"/>
                    </a:lnTo>
                    <a:cubicBezTo>
                      <a:pt x="581142" y="109438"/>
                      <a:pt x="575427" y="63718"/>
                      <a:pt x="543042" y="30381"/>
                    </a:cubicBezTo>
                    <a:lnTo>
                      <a:pt x="543042" y="30381"/>
                    </a:lnTo>
                    <a:cubicBezTo>
                      <a:pt x="510657" y="-2957"/>
                      <a:pt x="464937" y="-9624"/>
                      <a:pt x="440172" y="14188"/>
                    </a:cubicBezTo>
                    <a:lnTo>
                      <a:pt x="15357" y="425668"/>
                    </a:lnTo>
                    <a:cubicBezTo>
                      <a:pt x="-9408" y="449481"/>
                      <a:pt x="-3693" y="496154"/>
                      <a:pt x="28692" y="528538"/>
                    </a:cubicBezTo>
                    <a:lnTo>
                      <a:pt x="28692" y="528538"/>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 name="Google Shape;204;p25">
                <a:extLst>
                  <a:ext uri="{FF2B5EF4-FFF2-40B4-BE49-F238E27FC236}">
                    <a16:creationId xmlns:a16="http://schemas.microsoft.com/office/drawing/2014/main" id="{B52F3921-1345-4D81-8A5A-7FFD1AB30EAD}"/>
                  </a:ext>
                </a:extLst>
              </p:cNvPr>
              <p:cNvSpPr/>
              <p:nvPr/>
            </p:nvSpPr>
            <p:spPr>
              <a:xfrm>
                <a:off x="8540712" y="5433152"/>
                <a:ext cx="331417" cy="696093"/>
              </a:xfrm>
              <a:custGeom>
                <a:avLst/>
                <a:gdLst/>
                <a:ahLst/>
                <a:cxnLst/>
                <a:rect l="l" t="t" r="r" b="b"/>
                <a:pathLst>
                  <a:path w="331417" h="696093" extrusionOk="0">
                    <a:moveTo>
                      <a:pt x="63791" y="691423"/>
                    </a:moveTo>
                    <a:cubicBezTo>
                      <a:pt x="107606" y="704758"/>
                      <a:pt x="151421" y="688565"/>
                      <a:pt x="160946" y="655228"/>
                    </a:cubicBezTo>
                    <a:lnTo>
                      <a:pt x="329539" y="88490"/>
                    </a:lnTo>
                    <a:cubicBezTo>
                      <a:pt x="339064" y="55153"/>
                      <a:pt x="311441" y="18005"/>
                      <a:pt x="267626" y="4671"/>
                    </a:cubicBezTo>
                    <a:lnTo>
                      <a:pt x="267626" y="4671"/>
                    </a:lnTo>
                    <a:cubicBezTo>
                      <a:pt x="223811" y="-8665"/>
                      <a:pt x="179996" y="7528"/>
                      <a:pt x="170471" y="40865"/>
                    </a:cubicBezTo>
                    <a:lnTo>
                      <a:pt x="1878" y="607603"/>
                    </a:lnTo>
                    <a:cubicBezTo>
                      <a:pt x="-7647" y="640940"/>
                      <a:pt x="19976" y="678088"/>
                      <a:pt x="63791" y="691423"/>
                    </a:cubicBezTo>
                    <a:lnTo>
                      <a:pt x="63791" y="691423"/>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6" name="Google Shape;205;p25">
                <a:extLst>
                  <a:ext uri="{FF2B5EF4-FFF2-40B4-BE49-F238E27FC236}">
                    <a16:creationId xmlns:a16="http://schemas.microsoft.com/office/drawing/2014/main" id="{CEAC8FD1-C143-4A01-B791-E0B502A4A4D0}"/>
                  </a:ext>
                </a:extLst>
              </p:cNvPr>
              <p:cNvSpPr/>
              <p:nvPr/>
            </p:nvSpPr>
            <p:spPr>
              <a:xfrm>
                <a:off x="9782806" y="5454565"/>
                <a:ext cx="278009" cy="706282"/>
              </a:xfrm>
              <a:custGeom>
                <a:avLst/>
                <a:gdLst/>
                <a:ahLst/>
                <a:cxnLst/>
                <a:rect l="l" t="t" r="r" b="b"/>
                <a:pathLst>
                  <a:path w="278009" h="706282" extrusionOk="0">
                    <a:moveTo>
                      <a:pt x="207585" y="704299"/>
                    </a:moveTo>
                    <a:cubicBezTo>
                      <a:pt x="252352" y="695727"/>
                      <a:pt x="283785" y="661436"/>
                      <a:pt x="277117" y="627147"/>
                    </a:cubicBezTo>
                    <a:lnTo>
                      <a:pt x="163770" y="47074"/>
                    </a:lnTo>
                    <a:cubicBezTo>
                      <a:pt x="157102" y="13736"/>
                      <a:pt x="115192" y="-7218"/>
                      <a:pt x="70425" y="2307"/>
                    </a:cubicBezTo>
                    <a:lnTo>
                      <a:pt x="70425" y="2307"/>
                    </a:lnTo>
                    <a:cubicBezTo>
                      <a:pt x="25657" y="10879"/>
                      <a:pt x="-5775" y="45169"/>
                      <a:pt x="892" y="79459"/>
                    </a:cubicBezTo>
                    <a:lnTo>
                      <a:pt x="114240" y="659532"/>
                    </a:lnTo>
                    <a:cubicBezTo>
                      <a:pt x="120907" y="692869"/>
                      <a:pt x="162817" y="712872"/>
                      <a:pt x="207585" y="704299"/>
                    </a:cubicBezTo>
                    <a:lnTo>
                      <a:pt x="207585" y="704299"/>
                    </a:lnTo>
                    <a:close/>
                  </a:path>
                </a:pathLst>
              </a:custGeom>
              <a:solidFill>
                <a:srgbClr val="FFC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spTree>
    <p:extLst>
      <p:ext uri="{BB962C8B-B14F-4D97-AF65-F5344CB8AC3E}">
        <p14:creationId xmlns:p14="http://schemas.microsoft.com/office/powerpoint/2010/main" val="1181359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1B58DE-C18D-43CC-90BD-E12B79F4EC1A}"/>
              </a:ext>
            </a:extLst>
          </p:cNvPr>
          <p:cNvSpPr>
            <a:spLocks noGrp="1"/>
          </p:cNvSpPr>
          <p:nvPr>
            <p:ph type="title"/>
          </p:nvPr>
        </p:nvSpPr>
        <p:spPr/>
        <p:txBody>
          <a:bodyPr>
            <a:normAutofit/>
          </a:bodyPr>
          <a:lstStyle/>
          <a:p>
            <a:r>
              <a:rPr lang="en-US" dirty="0"/>
              <a:t>Proof of Correctness of the algorithm:</a:t>
            </a:r>
            <a:br>
              <a:rPr lang="en-IN" dirty="0"/>
            </a:br>
            <a:endParaRPr lang="en-IN" dirty="0"/>
          </a:p>
        </p:txBody>
      </p:sp>
      <p:sp>
        <p:nvSpPr>
          <p:cNvPr id="5" name="TextBox 4">
            <a:extLst>
              <a:ext uri="{FF2B5EF4-FFF2-40B4-BE49-F238E27FC236}">
                <a16:creationId xmlns:a16="http://schemas.microsoft.com/office/drawing/2014/main" id="{E8C088B2-3856-4F68-B5B3-F22789B9E0D6}"/>
              </a:ext>
            </a:extLst>
          </p:cNvPr>
          <p:cNvSpPr txBox="1"/>
          <p:nvPr/>
        </p:nvSpPr>
        <p:spPr>
          <a:xfrm>
            <a:off x="355709" y="1270000"/>
            <a:ext cx="9016891" cy="3406445"/>
          </a:xfrm>
          <a:prstGeom prst="rect">
            <a:avLst/>
          </a:prstGeom>
          <a:noFill/>
        </p:spPr>
        <p:txBody>
          <a:bodyPr wrap="square">
            <a:spAutoFit/>
          </a:bodyPr>
          <a:lstStyle/>
          <a:p>
            <a:pPr algn="just">
              <a:lnSpc>
                <a:spcPct val="200000"/>
              </a:lnSpc>
            </a:pPr>
            <a:r>
              <a:rPr lang="en-US" sz="2800" dirty="0"/>
              <a:t>Once an algorithm has been specified, you have to prove its correctness. That is, you have to prove that the algorithm yields a required result for every legitimate input in a finite amount of time.</a:t>
            </a:r>
            <a:endParaRPr lang="en-IN" sz="2800" dirty="0"/>
          </a:p>
        </p:txBody>
      </p:sp>
    </p:spTree>
    <p:extLst>
      <p:ext uri="{BB962C8B-B14F-4D97-AF65-F5344CB8AC3E}">
        <p14:creationId xmlns:p14="http://schemas.microsoft.com/office/powerpoint/2010/main" val="3528192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03E87-4B0C-4F16-AC56-BB2275DB4472}"/>
              </a:ext>
            </a:extLst>
          </p:cNvPr>
          <p:cNvSpPr>
            <a:spLocks noGrp="1"/>
          </p:cNvSpPr>
          <p:nvPr>
            <p:ph type="title"/>
          </p:nvPr>
        </p:nvSpPr>
        <p:spPr>
          <a:xfrm>
            <a:off x="677334" y="324930"/>
            <a:ext cx="8596668" cy="1320800"/>
          </a:xfrm>
        </p:spPr>
        <p:txBody>
          <a:bodyPr/>
          <a:lstStyle/>
          <a:p>
            <a:r>
              <a:rPr lang="en-US" dirty="0"/>
              <a:t>Example for checking correctness of an algorithm</a:t>
            </a:r>
            <a:endParaRPr lang="en-IN" dirty="0"/>
          </a:p>
        </p:txBody>
      </p:sp>
      <p:sp>
        <p:nvSpPr>
          <p:cNvPr id="3" name="Text Placeholder 2">
            <a:extLst>
              <a:ext uri="{FF2B5EF4-FFF2-40B4-BE49-F238E27FC236}">
                <a16:creationId xmlns:a16="http://schemas.microsoft.com/office/drawing/2014/main" id="{C125BE4C-C140-47C0-99E7-FA4F949534A7}"/>
              </a:ext>
            </a:extLst>
          </p:cNvPr>
          <p:cNvSpPr>
            <a:spLocks noGrp="1"/>
          </p:cNvSpPr>
          <p:nvPr>
            <p:ph type="body" idx="1"/>
          </p:nvPr>
        </p:nvSpPr>
        <p:spPr/>
        <p:txBody>
          <a:bodyPr>
            <a:normAutofit fontScale="62500" lnSpcReduction="20000"/>
          </a:bodyPr>
          <a:lstStyle/>
          <a:p>
            <a:r>
              <a:rPr lang="en-US" dirty="0"/>
              <a:t>Finding maximum from a list of elements</a:t>
            </a:r>
            <a:endParaRPr lang="en-IN" dirty="0"/>
          </a:p>
        </p:txBody>
      </p:sp>
      <p:sp>
        <p:nvSpPr>
          <p:cNvPr id="4" name="Content Placeholder 3">
            <a:extLst>
              <a:ext uri="{FF2B5EF4-FFF2-40B4-BE49-F238E27FC236}">
                <a16:creationId xmlns:a16="http://schemas.microsoft.com/office/drawing/2014/main" id="{3FD469E9-C793-4A62-8753-541149CA968E}"/>
              </a:ext>
            </a:extLst>
          </p:cNvPr>
          <p:cNvSpPr>
            <a:spLocks noGrp="1"/>
          </p:cNvSpPr>
          <p:nvPr>
            <p:ph sz="half" idx="2"/>
          </p:nvPr>
        </p:nvSpPr>
        <p:spPr/>
        <p:txBody>
          <a:bodyPr/>
          <a:lstStyle/>
          <a:p>
            <a:pPr marL="0" indent="0">
              <a:buNone/>
            </a:pPr>
            <a:r>
              <a:rPr lang="en-US" sz="1800" dirty="0"/>
              <a:t>int </a:t>
            </a:r>
            <a:r>
              <a:rPr lang="en-US" sz="1800" dirty="0" err="1"/>
              <a:t>findMaximum</a:t>
            </a:r>
            <a:r>
              <a:rPr lang="en-US" sz="1800" dirty="0"/>
              <a:t>(int a[],int n)</a:t>
            </a:r>
          </a:p>
          <a:p>
            <a:pPr marL="0" indent="0">
              <a:buNone/>
            </a:pPr>
            <a:r>
              <a:rPr lang="en-US" sz="1800" dirty="0"/>
              <a:t>{</a:t>
            </a:r>
          </a:p>
          <a:p>
            <a:pPr marL="0" indent="0">
              <a:buNone/>
            </a:pPr>
            <a:r>
              <a:rPr lang="en-US" sz="1800" dirty="0"/>
              <a:t>max=0;</a:t>
            </a:r>
          </a:p>
          <a:p>
            <a:pPr marL="0" indent="0">
              <a:buNone/>
            </a:pPr>
            <a:r>
              <a:rPr lang="en-US" sz="1800" dirty="0"/>
              <a:t>for(</a:t>
            </a:r>
            <a:r>
              <a:rPr lang="en-US" sz="1800" dirty="0" err="1"/>
              <a:t>i</a:t>
            </a:r>
            <a:r>
              <a:rPr lang="en-US" sz="1800" dirty="0"/>
              <a:t>=1;i&lt;=</a:t>
            </a:r>
            <a:r>
              <a:rPr lang="en-US" sz="1800" dirty="0" err="1"/>
              <a:t>n;i</a:t>
            </a:r>
            <a:r>
              <a:rPr lang="en-US" sz="1800" dirty="0"/>
              <a:t>++)</a:t>
            </a:r>
          </a:p>
          <a:p>
            <a:pPr marL="0" indent="0">
              <a:buNone/>
            </a:pPr>
            <a:r>
              <a:rPr lang="en-US" sz="1800" dirty="0"/>
              <a:t>	if (a[</a:t>
            </a:r>
            <a:r>
              <a:rPr lang="en-US" sz="1800" dirty="0" err="1"/>
              <a:t>i</a:t>
            </a:r>
            <a:r>
              <a:rPr lang="en-US" sz="1800" dirty="0"/>
              <a:t>]&gt;max)</a:t>
            </a:r>
          </a:p>
          <a:p>
            <a:pPr marL="0" indent="0">
              <a:buNone/>
            </a:pPr>
            <a:r>
              <a:rPr lang="en-US" dirty="0"/>
              <a:t>		max=a[</a:t>
            </a:r>
            <a:r>
              <a:rPr lang="en-US" dirty="0" err="1"/>
              <a:t>i</a:t>
            </a:r>
            <a:r>
              <a:rPr lang="en-US" dirty="0"/>
              <a:t>];</a:t>
            </a:r>
            <a:endParaRPr lang="en-US" sz="1800" dirty="0"/>
          </a:p>
          <a:p>
            <a:pPr marL="0" indent="0">
              <a:buNone/>
            </a:pPr>
            <a:r>
              <a:rPr lang="en-US" sz="1800" dirty="0"/>
              <a:t>return max</a:t>
            </a:r>
          </a:p>
          <a:p>
            <a:pPr marL="0" indent="0">
              <a:buNone/>
            </a:pPr>
            <a:r>
              <a:rPr lang="en-US" sz="1800" dirty="0"/>
              <a:t>}</a:t>
            </a:r>
          </a:p>
          <a:p>
            <a:endParaRPr lang="en-IN" dirty="0"/>
          </a:p>
        </p:txBody>
      </p:sp>
      <p:sp>
        <p:nvSpPr>
          <p:cNvPr id="5" name="Text Placeholder 4">
            <a:extLst>
              <a:ext uri="{FF2B5EF4-FFF2-40B4-BE49-F238E27FC236}">
                <a16:creationId xmlns:a16="http://schemas.microsoft.com/office/drawing/2014/main" id="{9BB425A6-F0B7-4020-B36D-F96DCE1B4835}"/>
              </a:ext>
            </a:extLst>
          </p:cNvPr>
          <p:cNvSpPr>
            <a:spLocks noGrp="1"/>
          </p:cNvSpPr>
          <p:nvPr>
            <p:ph type="body" sz="quarter" idx="3"/>
          </p:nvPr>
        </p:nvSpPr>
        <p:spPr>
          <a:xfrm>
            <a:off x="5088383" y="928306"/>
            <a:ext cx="4185618" cy="279392"/>
          </a:xfrm>
        </p:spPr>
        <p:txBody>
          <a:bodyPr>
            <a:normAutofit fontScale="62500" lnSpcReduction="20000"/>
          </a:bodyPr>
          <a:lstStyle/>
          <a:p>
            <a:r>
              <a:rPr lang="en-US" dirty="0"/>
              <a:t>Checking correctness</a:t>
            </a:r>
            <a:endParaRPr lang="en-IN" dirty="0"/>
          </a:p>
        </p:txBody>
      </p:sp>
      <p:sp>
        <p:nvSpPr>
          <p:cNvPr id="6" name="Content Placeholder 5">
            <a:extLst>
              <a:ext uri="{FF2B5EF4-FFF2-40B4-BE49-F238E27FC236}">
                <a16:creationId xmlns:a16="http://schemas.microsoft.com/office/drawing/2014/main" id="{A7EA6DA5-EBD5-45E9-A5CF-2E361D741711}"/>
              </a:ext>
            </a:extLst>
          </p:cNvPr>
          <p:cNvSpPr>
            <a:spLocks noGrp="1"/>
          </p:cNvSpPr>
          <p:nvPr>
            <p:ph sz="quarter" idx="4"/>
          </p:nvPr>
        </p:nvSpPr>
        <p:spPr>
          <a:xfrm>
            <a:off x="5088384" y="2737246"/>
            <a:ext cx="4185617" cy="1849120"/>
          </a:xfrm>
        </p:spPr>
        <p:txBody>
          <a:bodyPr/>
          <a:lstStyle/>
          <a:p>
            <a:pPr marL="0" indent="0">
              <a:buNone/>
            </a:pPr>
            <a:endParaRPr lang="en-US" dirty="0"/>
          </a:p>
          <a:p>
            <a:pPr marL="0" indent="0">
              <a:buNone/>
            </a:pPr>
            <a:endParaRPr lang="en-IN" dirty="0"/>
          </a:p>
        </p:txBody>
      </p:sp>
      <p:graphicFrame>
        <p:nvGraphicFramePr>
          <p:cNvPr id="7" name="Table 6">
            <a:extLst>
              <a:ext uri="{FF2B5EF4-FFF2-40B4-BE49-F238E27FC236}">
                <a16:creationId xmlns:a16="http://schemas.microsoft.com/office/drawing/2014/main" id="{16377055-0075-4AAE-B20C-C8C33DDF6F30}"/>
              </a:ext>
            </a:extLst>
          </p:cNvPr>
          <p:cNvGraphicFramePr>
            <a:graphicFrameLocks noGrp="1"/>
          </p:cNvGraphicFramePr>
          <p:nvPr/>
        </p:nvGraphicFramePr>
        <p:xfrm>
          <a:off x="4979473" y="1720090"/>
          <a:ext cx="3912233" cy="2220936"/>
        </p:xfrm>
        <a:graphic>
          <a:graphicData uri="http://schemas.openxmlformats.org/drawingml/2006/table">
            <a:tbl>
              <a:tblPr firstRow="1" bandRow="1">
                <a:tableStyleId>{5C22544A-7EE6-4342-B048-85BDC9FD1C3A}</a:tableStyleId>
              </a:tblPr>
              <a:tblGrid>
                <a:gridCol w="1237574">
                  <a:extLst>
                    <a:ext uri="{9D8B030D-6E8A-4147-A177-3AD203B41FA5}">
                      <a16:colId xmlns:a16="http://schemas.microsoft.com/office/drawing/2014/main" val="3975784804"/>
                    </a:ext>
                  </a:extLst>
                </a:gridCol>
                <a:gridCol w="718543">
                  <a:extLst>
                    <a:ext uri="{9D8B030D-6E8A-4147-A177-3AD203B41FA5}">
                      <a16:colId xmlns:a16="http://schemas.microsoft.com/office/drawing/2014/main" val="3765902615"/>
                    </a:ext>
                  </a:extLst>
                </a:gridCol>
                <a:gridCol w="978058">
                  <a:extLst>
                    <a:ext uri="{9D8B030D-6E8A-4147-A177-3AD203B41FA5}">
                      <a16:colId xmlns:a16="http://schemas.microsoft.com/office/drawing/2014/main" val="2807032552"/>
                    </a:ext>
                  </a:extLst>
                </a:gridCol>
                <a:gridCol w="978058">
                  <a:extLst>
                    <a:ext uri="{9D8B030D-6E8A-4147-A177-3AD203B41FA5}">
                      <a16:colId xmlns:a16="http://schemas.microsoft.com/office/drawing/2014/main" val="3320672075"/>
                    </a:ext>
                  </a:extLst>
                </a:gridCol>
              </a:tblGrid>
              <a:tr h="366736">
                <a:tc>
                  <a:txBody>
                    <a:bodyPr/>
                    <a:lstStyle/>
                    <a:p>
                      <a:r>
                        <a:rPr lang="en-US" dirty="0"/>
                        <a:t>iteration</a:t>
                      </a:r>
                      <a:endParaRPr lang="en-IN" dirty="0"/>
                    </a:p>
                  </a:txBody>
                  <a:tcPr/>
                </a:tc>
                <a:tc>
                  <a:txBody>
                    <a:bodyPr/>
                    <a:lstStyle/>
                    <a:p>
                      <a:r>
                        <a:rPr lang="en-US" dirty="0" err="1"/>
                        <a:t>i</a:t>
                      </a:r>
                      <a:endParaRPr lang="en-IN" dirty="0"/>
                    </a:p>
                  </a:txBody>
                  <a:tcPr/>
                </a:tc>
                <a:tc>
                  <a:txBody>
                    <a:bodyPr/>
                    <a:lstStyle/>
                    <a:p>
                      <a:r>
                        <a:rPr lang="en-US" dirty="0"/>
                        <a:t>max</a:t>
                      </a:r>
                      <a:endParaRPr lang="en-IN" dirty="0"/>
                    </a:p>
                  </a:txBody>
                  <a:tcPr/>
                </a:tc>
                <a:tc>
                  <a:txBody>
                    <a:bodyPr/>
                    <a:lstStyle/>
                    <a:p>
                      <a:r>
                        <a:rPr lang="en-US" dirty="0"/>
                        <a:t>a[</a:t>
                      </a:r>
                      <a:r>
                        <a:rPr lang="en-US" dirty="0" err="1"/>
                        <a:t>i</a:t>
                      </a:r>
                      <a:r>
                        <a:rPr lang="en-US" dirty="0"/>
                        <a:t>]</a:t>
                      </a:r>
                      <a:endParaRPr lang="en-IN" dirty="0"/>
                    </a:p>
                  </a:txBody>
                  <a:tcPr/>
                </a:tc>
                <a:extLst>
                  <a:ext uri="{0D108BD9-81ED-4DB2-BD59-A6C34878D82A}">
                    <a16:rowId xmlns:a16="http://schemas.microsoft.com/office/drawing/2014/main" val="2538734503"/>
                  </a:ext>
                </a:extLst>
              </a:tr>
              <a:tr h="370840">
                <a:tc>
                  <a:txBody>
                    <a:bodyPr/>
                    <a:lstStyle/>
                    <a:p>
                      <a:r>
                        <a:rPr lang="en-US" dirty="0"/>
                        <a:t>0</a:t>
                      </a:r>
                      <a:endParaRPr lang="en-IN" dirty="0"/>
                    </a:p>
                  </a:txBody>
                  <a:tcPr/>
                </a:tc>
                <a:tc>
                  <a:txBody>
                    <a:bodyPr/>
                    <a:lstStyle/>
                    <a:p>
                      <a:endParaRPr lang="en-IN" dirty="0"/>
                    </a:p>
                  </a:txBody>
                  <a:tcPr/>
                </a:tc>
                <a:tc>
                  <a:txBody>
                    <a:bodyPr/>
                    <a:lstStyle/>
                    <a:p>
                      <a:r>
                        <a:rPr lang="en-US" dirty="0"/>
                        <a:t>0</a:t>
                      </a:r>
                      <a:endParaRPr lang="en-IN" dirty="0"/>
                    </a:p>
                  </a:txBody>
                  <a:tcPr/>
                </a:tc>
                <a:tc>
                  <a:txBody>
                    <a:bodyPr/>
                    <a:lstStyle/>
                    <a:p>
                      <a:endParaRPr lang="en-IN" dirty="0"/>
                    </a:p>
                  </a:txBody>
                  <a:tcPr/>
                </a:tc>
                <a:extLst>
                  <a:ext uri="{0D108BD9-81ED-4DB2-BD59-A6C34878D82A}">
                    <a16:rowId xmlns:a16="http://schemas.microsoft.com/office/drawing/2014/main" val="2163080968"/>
                  </a:ext>
                </a:extLst>
              </a:tr>
              <a:tr h="370840">
                <a:tc>
                  <a:txBody>
                    <a:bodyPr/>
                    <a:lstStyle/>
                    <a:p>
                      <a:r>
                        <a:rPr lang="en-US" dirty="0"/>
                        <a:t>1</a:t>
                      </a:r>
                      <a:endParaRPr lang="en-IN" dirty="0"/>
                    </a:p>
                  </a:txBody>
                  <a:tcPr/>
                </a:tc>
                <a:tc>
                  <a:txBody>
                    <a:bodyPr/>
                    <a:lstStyle/>
                    <a:p>
                      <a:r>
                        <a:rPr lang="en-US" dirty="0"/>
                        <a:t>1</a:t>
                      </a:r>
                      <a:endParaRPr lang="en-IN" dirty="0"/>
                    </a:p>
                  </a:txBody>
                  <a:tcPr/>
                </a:tc>
                <a:tc>
                  <a:txBody>
                    <a:bodyPr/>
                    <a:lstStyle/>
                    <a:p>
                      <a:r>
                        <a:rPr lang="en-US" dirty="0"/>
                        <a:t>45</a:t>
                      </a:r>
                      <a:endParaRPr lang="en-IN" dirty="0"/>
                    </a:p>
                  </a:txBody>
                  <a:tcPr/>
                </a:tc>
                <a:tc>
                  <a:txBody>
                    <a:bodyPr/>
                    <a:lstStyle/>
                    <a:p>
                      <a:r>
                        <a:rPr lang="en-US" dirty="0"/>
                        <a:t>45</a:t>
                      </a:r>
                      <a:endParaRPr lang="en-IN" dirty="0"/>
                    </a:p>
                  </a:txBody>
                  <a:tcPr/>
                </a:tc>
                <a:extLst>
                  <a:ext uri="{0D108BD9-81ED-4DB2-BD59-A6C34878D82A}">
                    <a16:rowId xmlns:a16="http://schemas.microsoft.com/office/drawing/2014/main" val="358457868"/>
                  </a:ext>
                </a:extLst>
              </a:tr>
              <a:tr h="370840">
                <a:tc>
                  <a:txBody>
                    <a:bodyPr/>
                    <a:lstStyle/>
                    <a:p>
                      <a:r>
                        <a:rPr lang="en-US" dirty="0"/>
                        <a:t>2</a:t>
                      </a:r>
                      <a:endParaRPr lang="en-IN" dirty="0"/>
                    </a:p>
                  </a:txBody>
                  <a:tcPr/>
                </a:tc>
                <a:tc>
                  <a:txBody>
                    <a:bodyPr/>
                    <a:lstStyle/>
                    <a:p>
                      <a:r>
                        <a:rPr lang="en-US" dirty="0"/>
                        <a:t>2</a:t>
                      </a:r>
                      <a:endParaRPr lang="en-IN" dirty="0"/>
                    </a:p>
                  </a:txBody>
                  <a:tcPr/>
                </a:tc>
                <a:tc>
                  <a:txBody>
                    <a:bodyPr/>
                    <a:lstStyle/>
                    <a:p>
                      <a:r>
                        <a:rPr lang="en-US" dirty="0"/>
                        <a:t>45</a:t>
                      </a:r>
                      <a:endParaRPr lang="en-IN" dirty="0"/>
                    </a:p>
                  </a:txBody>
                  <a:tcPr/>
                </a:tc>
                <a:tc>
                  <a:txBody>
                    <a:bodyPr/>
                    <a:lstStyle/>
                    <a:p>
                      <a:r>
                        <a:rPr lang="en-US" dirty="0"/>
                        <a:t>23</a:t>
                      </a:r>
                      <a:endParaRPr lang="en-IN" dirty="0"/>
                    </a:p>
                  </a:txBody>
                  <a:tcPr/>
                </a:tc>
                <a:extLst>
                  <a:ext uri="{0D108BD9-81ED-4DB2-BD59-A6C34878D82A}">
                    <a16:rowId xmlns:a16="http://schemas.microsoft.com/office/drawing/2014/main" val="3394910842"/>
                  </a:ext>
                </a:extLst>
              </a:tr>
              <a:tr h="370840">
                <a:tc>
                  <a:txBody>
                    <a:bodyPr/>
                    <a:lstStyle/>
                    <a:p>
                      <a:r>
                        <a:rPr lang="en-US" dirty="0"/>
                        <a:t>3</a:t>
                      </a:r>
                      <a:endParaRPr lang="en-IN" dirty="0"/>
                    </a:p>
                  </a:txBody>
                  <a:tcPr/>
                </a:tc>
                <a:tc>
                  <a:txBody>
                    <a:bodyPr/>
                    <a:lstStyle/>
                    <a:p>
                      <a:r>
                        <a:rPr lang="en-US" dirty="0"/>
                        <a:t>3</a:t>
                      </a:r>
                      <a:endParaRPr lang="en-IN" dirty="0"/>
                    </a:p>
                  </a:txBody>
                  <a:tcPr/>
                </a:tc>
                <a:tc>
                  <a:txBody>
                    <a:bodyPr/>
                    <a:lstStyle/>
                    <a:p>
                      <a:r>
                        <a:rPr lang="en-US" dirty="0"/>
                        <a:t>67</a:t>
                      </a:r>
                      <a:endParaRPr lang="en-IN" dirty="0"/>
                    </a:p>
                  </a:txBody>
                  <a:tcPr/>
                </a:tc>
                <a:tc>
                  <a:txBody>
                    <a:bodyPr/>
                    <a:lstStyle/>
                    <a:p>
                      <a:r>
                        <a:rPr lang="en-US" dirty="0"/>
                        <a:t>67</a:t>
                      </a:r>
                      <a:endParaRPr lang="en-IN" dirty="0"/>
                    </a:p>
                  </a:txBody>
                  <a:tcPr/>
                </a:tc>
                <a:extLst>
                  <a:ext uri="{0D108BD9-81ED-4DB2-BD59-A6C34878D82A}">
                    <a16:rowId xmlns:a16="http://schemas.microsoft.com/office/drawing/2014/main" val="4108350249"/>
                  </a:ext>
                </a:extLst>
              </a:tr>
              <a:tr h="370840">
                <a:tc>
                  <a:txBody>
                    <a:bodyPr/>
                    <a:lstStyle/>
                    <a:p>
                      <a:r>
                        <a:rPr lang="en-US" dirty="0"/>
                        <a:t>4</a:t>
                      </a:r>
                      <a:endParaRPr lang="en-IN" dirty="0"/>
                    </a:p>
                  </a:txBody>
                  <a:tcPr/>
                </a:tc>
                <a:tc>
                  <a:txBody>
                    <a:bodyPr/>
                    <a:lstStyle/>
                    <a:p>
                      <a:r>
                        <a:rPr lang="en-US" dirty="0"/>
                        <a:t>4</a:t>
                      </a:r>
                      <a:endParaRPr lang="en-IN" dirty="0"/>
                    </a:p>
                  </a:txBody>
                  <a:tcPr/>
                </a:tc>
                <a:tc>
                  <a:txBody>
                    <a:bodyPr/>
                    <a:lstStyle/>
                    <a:p>
                      <a:r>
                        <a:rPr lang="en-US" dirty="0"/>
                        <a:t>67</a:t>
                      </a:r>
                      <a:endParaRPr lang="en-IN" dirty="0"/>
                    </a:p>
                  </a:txBody>
                  <a:tcPr/>
                </a:tc>
                <a:tc>
                  <a:txBody>
                    <a:bodyPr/>
                    <a:lstStyle/>
                    <a:p>
                      <a:r>
                        <a:rPr lang="en-US" dirty="0"/>
                        <a:t>2</a:t>
                      </a:r>
                      <a:endParaRPr lang="en-IN" dirty="0"/>
                    </a:p>
                  </a:txBody>
                  <a:tcPr/>
                </a:tc>
                <a:extLst>
                  <a:ext uri="{0D108BD9-81ED-4DB2-BD59-A6C34878D82A}">
                    <a16:rowId xmlns:a16="http://schemas.microsoft.com/office/drawing/2014/main" val="2228834100"/>
                  </a:ext>
                </a:extLst>
              </a:tr>
            </a:tbl>
          </a:graphicData>
        </a:graphic>
      </p:graphicFrame>
      <p:sp>
        <p:nvSpPr>
          <p:cNvPr id="9" name="TextBox 8">
            <a:extLst>
              <a:ext uri="{FF2B5EF4-FFF2-40B4-BE49-F238E27FC236}">
                <a16:creationId xmlns:a16="http://schemas.microsoft.com/office/drawing/2014/main" id="{1961C997-9752-4F53-BAA4-C451D6CE85FC}"/>
              </a:ext>
            </a:extLst>
          </p:cNvPr>
          <p:cNvSpPr txBox="1"/>
          <p:nvPr/>
        </p:nvSpPr>
        <p:spPr>
          <a:xfrm>
            <a:off x="4390845" y="1139179"/>
            <a:ext cx="7496355" cy="923330"/>
          </a:xfrm>
          <a:prstGeom prst="rect">
            <a:avLst/>
          </a:prstGeom>
          <a:noFill/>
        </p:spPr>
        <p:txBody>
          <a:bodyPr wrap="square">
            <a:spAutoFit/>
          </a:bodyPr>
          <a:lstStyle/>
          <a:p>
            <a:pPr marL="0" indent="0">
              <a:buNone/>
            </a:pPr>
            <a:r>
              <a:rPr lang="en-US" dirty="0"/>
              <a:t>a[]= {45,23,67,2}, n=4</a:t>
            </a:r>
          </a:p>
          <a:p>
            <a:r>
              <a:rPr lang="en-US" dirty="0"/>
              <a:t>Output : 67 (The algorithm works correctly for the given set of input)</a:t>
            </a:r>
          </a:p>
          <a:p>
            <a:pPr marL="0" indent="0">
              <a:buNone/>
            </a:pPr>
            <a:endParaRPr lang="en-US" dirty="0"/>
          </a:p>
        </p:txBody>
      </p:sp>
      <p:sp>
        <p:nvSpPr>
          <p:cNvPr id="14" name="TextBox 13">
            <a:extLst>
              <a:ext uri="{FF2B5EF4-FFF2-40B4-BE49-F238E27FC236}">
                <a16:creationId xmlns:a16="http://schemas.microsoft.com/office/drawing/2014/main" id="{8C063548-A058-4A7E-8553-028116AE69C0}"/>
              </a:ext>
            </a:extLst>
          </p:cNvPr>
          <p:cNvSpPr txBox="1"/>
          <p:nvPr/>
        </p:nvSpPr>
        <p:spPr>
          <a:xfrm>
            <a:off x="4459854" y="3977327"/>
            <a:ext cx="7668874" cy="646331"/>
          </a:xfrm>
          <a:prstGeom prst="rect">
            <a:avLst/>
          </a:prstGeom>
          <a:noFill/>
        </p:spPr>
        <p:txBody>
          <a:bodyPr wrap="square" rtlCol="0">
            <a:spAutoFit/>
          </a:bodyPr>
          <a:lstStyle/>
          <a:p>
            <a:r>
              <a:rPr lang="en-US" dirty="0"/>
              <a:t>a[]= { -17, -10, -4}, n=3</a:t>
            </a:r>
          </a:p>
          <a:p>
            <a:r>
              <a:rPr lang="en-US" dirty="0"/>
              <a:t>Output: 0 (The algorithm works incorrectly for the given set of input)</a:t>
            </a:r>
            <a:endParaRPr lang="en-IN" dirty="0"/>
          </a:p>
        </p:txBody>
      </p:sp>
      <p:graphicFrame>
        <p:nvGraphicFramePr>
          <p:cNvPr id="15" name="Table 14">
            <a:extLst>
              <a:ext uri="{FF2B5EF4-FFF2-40B4-BE49-F238E27FC236}">
                <a16:creationId xmlns:a16="http://schemas.microsoft.com/office/drawing/2014/main" id="{281FF576-C760-4C7B-B194-0C8716260775}"/>
              </a:ext>
            </a:extLst>
          </p:cNvPr>
          <p:cNvGraphicFramePr>
            <a:graphicFrameLocks noGrp="1"/>
          </p:cNvGraphicFramePr>
          <p:nvPr/>
        </p:nvGraphicFramePr>
        <p:xfrm>
          <a:off x="4861368" y="4704847"/>
          <a:ext cx="3912233" cy="1849120"/>
        </p:xfrm>
        <a:graphic>
          <a:graphicData uri="http://schemas.openxmlformats.org/drawingml/2006/table">
            <a:tbl>
              <a:tblPr firstRow="1" bandRow="1">
                <a:tableStyleId>{5C22544A-7EE6-4342-B048-85BDC9FD1C3A}</a:tableStyleId>
              </a:tblPr>
              <a:tblGrid>
                <a:gridCol w="1237574">
                  <a:extLst>
                    <a:ext uri="{9D8B030D-6E8A-4147-A177-3AD203B41FA5}">
                      <a16:colId xmlns:a16="http://schemas.microsoft.com/office/drawing/2014/main" val="3975784804"/>
                    </a:ext>
                  </a:extLst>
                </a:gridCol>
                <a:gridCol w="718543">
                  <a:extLst>
                    <a:ext uri="{9D8B030D-6E8A-4147-A177-3AD203B41FA5}">
                      <a16:colId xmlns:a16="http://schemas.microsoft.com/office/drawing/2014/main" val="3765902615"/>
                    </a:ext>
                  </a:extLst>
                </a:gridCol>
                <a:gridCol w="978058">
                  <a:extLst>
                    <a:ext uri="{9D8B030D-6E8A-4147-A177-3AD203B41FA5}">
                      <a16:colId xmlns:a16="http://schemas.microsoft.com/office/drawing/2014/main" val="2807032552"/>
                    </a:ext>
                  </a:extLst>
                </a:gridCol>
                <a:gridCol w="978058">
                  <a:extLst>
                    <a:ext uri="{9D8B030D-6E8A-4147-A177-3AD203B41FA5}">
                      <a16:colId xmlns:a16="http://schemas.microsoft.com/office/drawing/2014/main" val="3320672075"/>
                    </a:ext>
                  </a:extLst>
                </a:gridCol>
              </a:tblGrid>
              <a:tr h="235412">
                <a:tc>
                  <a:txBody>
                    <a:bodyPr/>
                    <a:lstStyle/>
                    <a:p>
                      <a:r>
                        <a:rPr lang="en-US" dirty="0"/>
                        <a:t>iteration</a:t>
                      </a:r>
                      <a:endParaRPr lang="en-IN" dirty="0"/>
                    </a:p>
                  </a:txBody>
                  <a:tcPr/>
                </a:tc>
                <a:tc>
                  <a:txBody>
                    <a:bodyPr/>
                    <a:lstStyle/>
                    <a:p>
                      <a:r>
                        <a:rPr lang="en-US" dirty="0" err="1"/>
                        <a:t>i</a:t>
                      </a:r>
                      <a:endParaRPr lang="en-IN" dirty="0"/>
                    </a:p>
                  </a:txBody>
                  <a:tcPr/>
                </a:tc>
                <a:tc>
                  <a:txBody>
                    <a:bodyPr/>
                    <a:lstStyle/>
                    <a:p>
                      <a:r>
                        <a:rPr lang="en-US" dirty="0"/>
                        <a:t>max</a:t>
                      </a:r>
                      <a:endParaRPr lang="en-IN" dirty="0"/>
                    </a:p>
                  </a:txBody>
                  <a:tcPr/>
                </a:tc>
                <a:tc>
                  <a:txBody>
                    <a:bodyPr/>
                    <a:lstStyle/>
                    <a:p>
                      <a:r>
                        <a:rPr lang="en-US" dirty="0"/>
                        <a:t>a[</a:t>
                      </a:r>
                      <a:r>
                        <a:rPr lang="en-US" dirty="0" err="1"/>
                        <a:t>i</a:t>
                      </a:r>
                      <a:r>
                        <a:rPr lang="en-US" dirty="0"/>
                        <a:t>]</a:t>
                      </a:r>
                      <a:endParaRPr lang="en-IN" dirty="0"/>
                    </a:p>
                  </a:txBody>
                  <a:tcPr/>
                </a:tc>
                <a:extLst>
                  <a:ext uri="{0D108BD9-81ED-4DB2-BD59-A6C34878D82A}">
                    <a16:rowId xmlns:a16="http://schemas.microsoft.com/office/drawing/2014/main" val="2538734503"/>
                  </a:ext>
                </a:extLst>
              </a:tr>
              <a:tr h="370840">
                <a:tc>
                  <a:txBody>
                    <a:bodyPr/>
                    <a:lstStyle/>
                    <a:p>
                      <a:r>
                        <a:rPr lang="en-US" dirty="0"/>
                        <a:t>0</a:t>
                      </a:r>
                      <a:endParaRPr lang="en-IN" dirty="0"/>
                    </a:p>
                  </a:txBody>
                  <a:tcPr/>
                </a:tc>
                <a:tc>
                  <a:txBody>
                    <a:bodyPr/>
                    <a:lstStyle/>
                    <a:p>
                      <a:endParaRPr lang="en-IN" dirty="0"/>
                    </a:p>
                  </a:txBody>
                  <a:tcPr/>
                </a:tc>
                <a:tc>
                  <a:txBody>
                    <a:bodyPr/>
                    <a:lstStyle/>
                    <a:p>
                      <a:r>
                        <a:rPr lang="en-US" dirty="0"/>
                        <a:t>0</a:t>
                      </a:r>
                      <a:endParaRPr lang="en-IN" dirty="0"/>
                    </a:p>
                  </a:txBody>
                  <a:tcPr/>
                </a:tc>
                <a:tc>
                  <a:txBody>
                    <a:bodyPr/>
                    <a:lstStyle/>
                    <a:p>
                      <a:endParaRPr lang="en-IN" dirty="0"/>
                    </a:p>
                  </a:txBody>
                  <a:tcPr/>
                </a:tc>
                <a:extLst>
                  <a:ext uri="{0D108BD9-81ED-4DB2-BD59-A6C34878D82A}">
                    <a16:rowId xmlns:a16="http://schemas.microsoft.com/office/drawing/2014/main" val="3973217043"/>
                  </a:ext>
                </a:extLst>
              </a:tr>
              <a:tr h="370840">
                <a:tc>
                  <a:txBody>
                    <a:bodyPr/>
                    <a:lstStyle/>
                    <a:p>
                      <a:r>
                        <a:rPr lang="en-US" dirty="0"/>
                        <a:t>1</a:t>
                      </a:r>
                      <a:endParaRPr lang="en-IN" dirty="0"/>
                    </a:p>
                  </a:txBody>
                  <a:tcPr/>
                </a:tc>
                <a:tc>
                  <a:txBody>
                    <a:bodyPr/>
                    <a:lstStyle/>
                    <a:p>
                      <a:r>
                        <a:rPr lang="en-US" dirty="0"/>
                        <a:t>1</a:t>
                      </a:r>
                      <a:endParaRPr lang="en-IN" dirty="0"/>
                    </a:p>
                  </a:txBody>
                  <a:tcPr/>
                </a:tc>
                <a:tc>
                  <a:txBody>
                    <a:bodyPr/>
                    <a:lstStyle/>
                    <a:p>
                      <a:r>
                        <a:rPr lang="en-US" dirty="0"/>
                        <a:t>0</a:t>
                      </a:r>
                      <a:endParaRPr lang="en-IN" dirty="0"/>
                    </a:p>
                  </a:txBody>
                  <a:tcPr/>
                </a:tc>
                <a:tc>
                  <a:txBody>
                    <a:bodyPr/>
                    <a:lstStyle/>
                    <a:p>
                      <a:r>
                        <a:rPr lang="en-US" dirty="0"/>
                        <a:t>-17</a:t>
                      </a:r>
                      <a:endParaRPr lang="en-IN" dirty="0"/>
                    </a:p>
                  </a:txBody>
                  <a:tcPr/>
                </a:tc>
                <a:extLst>
                  <a:ext uri="{0D108BD9-81ED-4DB2-BD59-A6C34878D82A}">
                    <a16:rowId xmlns:a16="http://schemas.microsoft.com/office/drawing/2014/main" val="358457868"/>
                  </a:ext>
                </a:extLst>
              </a:tr>
              <a:tr h="370840">
                <a:tc>
                  <a:txBody>
                    <a:bodyPr/>
                    <a:lstStyle/>
                    <a:p>
                      <a:r>
                        <a:rPr lang="en-US" dirty="0"/>
                        <a:t>2</a:t>
                      </a:r>
                      <a:endParaRPr lang="en-IN" dirty="0"/>
                    </a:p>
                  </a:txBody>
                  <a:tcPr/>
                </a:tc>
                <a:tc>
                  <a:txBody>
                    <a:bodyPr/>
                    <a:lstStyle/>
                    <a:p>
                      <a:r>
                        <a:rPr lang="en-US" dirty="0"/>
                        <a:t>2</a:t>
                      </a:r>
                      <a:endParaRPr lang="en-IN" dirty="0"/>
                    </a:p>
                  </a:txBody>
                  <a:tcPr/>
                </a:tc>
                <a:tc>
                  <a:txBody>
                    <a:bodyPr/>
                    <a:lstStyle/>
                    <a:p>
                      <a:r>
                        <a:rPr lang="en-US" dirty="0"/>
                        <a:t>0</a:t>
                      </a:r>
                      <a:endParaRPr lang="en-IN" dirty="0"/>
                    </a:p>
                  </a:txBody>
                  <a:tcPr/>
                </a:tc>
                <a:tc>
                  <a:txBody>
                    <a:bodyPr/>
                    <a:lstStyle/>
                    <a:p>
                      <a:r>
                        <a:rPr lang="en-US" dirty="0"/>
                        <a:t>-10</a:t>
                      </a:r>
                      <a:endParaRPr lang="en-IN" dirty="0"/>
                    </a:p>
                  </a:txBody>
                  <a:tcPr/>
                </a:tc>
                <a:extLst>
                  <a:ext uri="{0D108BD9-81ED-4DB2-BD59-A6C34878D82A}">
                    <a16:rowId xmlns:a16="http://schemas.microsoft.com/office/drawing/2014/main" val="3394910842"/>
                  </a:ext>
                </a:extLst>
              </a:tr>
              <a:tr h="370840">
                <a:tc>
                  <a:txBody>
                    <a:bodyPr/>
                    <a:lstStyle/>
                    <a:p>
                      <a:r>
                        <a:rPr lang="en-US" dirty="0"/>
                        <a:t>3</a:t>
                      </a:r>
                      <a:endParaRPr lang="en-IN" dirty="0"/>
                    </a:p>
                  </a:txBody>
                  <a:tcPr/>
                </a:tc>
                <a:tc>
                  <a:txBody>
                    <a:bodyPr/>
                    <a:lstStyle/>
                    <a:p>
                      <a:r>
                        <a:rPr lang="en-US" dirty="0"/>
                        <a:t>3</a:t>
                      </a:r>
                      <a:endParaRPr lang="en-IN" dirty="0"/>
                    </a:p>
                  </a:txBody>
                  <a:tcPr/>
                </a:tc>
                <a:tc>
                  <a:txBody>
                    <a:bodyPr/>
                    <a:lstStyle/>
                    <a:p>
                      <a:r>
                        <a:rPr lang="en-US" dirty="0"/>
                        <a:t>0</a:t>
                      </a:r>
                      <a:endParaRPr lang="en-IN" dirty="0"/>
                    </a:p>
                  </a:txBody>
                  <a:tcPr/>
                </a:tc>
                <a:tc>
                  <a:txBody>
                    <a:bodyPr/>
                    <a:lstStyle/>
                    <a:p>
                      <a:r>
                        <a:rPr lang="en-US" dirty="0"/>
                        <a:t>-4</a:t>
                      </a:r>
                      <a:endParaRPr lang="en-IN" dirty="0"/>
                    </a:p>
                  </a:txBody>
                  <a:tcPr/>
                </a:tc>
                <a:extLst>
                  <a:ext uri="{0D108BD9-81ED-4DB2-BD59-A6C34878D82A}">
                    <a16:rowId xmlns:a16="http://schemas.microsoft.com/office/drawing/2014/main" val="4108350249"/>
                  </a:ext>
                </a:extLst>
              </a:tr>
            </a:tbl>
          </a:graphicData>
        </a:graphic>
      </p:graphicFrame>
    </p:spTree>
    <p:extLst>
      <p:ext uri="{BB962C8B-B14F-4D97-AF65-F5344CB8AC3E}">
        <p14:creationId xmlns:p14="http://schemas.microsoft.com/office/powerpoint/2010/main" val="427651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03E87-4B0C-4F16-AC56-BB2275DB4472}"/>
              </a:ext>
            </a:extLst>
          </p:cNvPr>
          <p:cNvSpPr>
            <a:spLocks noGrp="1"/>
          </p:cNvSpPr>
          <p:nvPr>
            <p:ph type="title"/>
          </p:nvPr>
        </p:nvSpPr>
        <p:spPr/>
        <p:txBody>
          <a:bodyPr/>
          <a:lstStyle/>
          <a:p>
            <a:r>
              <a:rPr lang="en-US" dirty="0"/>
              <a:t>Example for checking correctness of an algorithm- </a:t>
            </a:r>
            <a:r>
              <a:rPr lang="en-US" dirty="0" err="1"/>
              <a:t>contd</a:t>
            </a:r>
            <a:endParaRPr lang="en-IN" dirty="0"/>
          </a:p>
        </p:txBody>
      </p:sp>
      <p:sp>
        <p:nvSpPr>
          <p:cNvPr id="3" name="Text Placeholder 2">
            <a:extLst>
              <a:ext uri="{FF2B5EF4-FFF2-40B4-BE49-F238E27FC236}">
                <a16:creationId xmlns:a16="http://schemas.microsoft.com/office/drawing/2014/main" id="{C125BE4C-C140-47C0-99E7-FA4F949534A7}"/>
              </a:ext>
            </a:extLst>
          </p:cNvPr>
          <p:cNvSpPr>
            <a:spLocks noGrp="1"/>
          </p:cNvSpPr>
          <p:nvPr>
            <p:ph type="body" idx="1"/>
          </p:nvPr>
        </p:nvSpPr>
        <p:spPr>
          <a:xfrm>
            <a:off x="168943" y="1757561"/>
            <a:ext cx="4775104" cy="576262"/>
          </a:xfrm>
        </p:spPr>
        <p:txBody>
          <a:bodyPr/>
          <a:lstStyle/>
          <a:p>
            <a:r>
              <a:rPr lang="en-US" dirty="0"/>
              <a:t>So we initialize max as follows</a:t>
            </a:r>
            <a:endParaRPr lang="en-IN" dirty="0"/>
          </a:p>
        </p:txBody>
      </p:sp>
      <p:sp>
        <p:nvSpPr>
          <p:cNvPr id="4" name="Content Placeholder 3">
            <a:extLst>
              <a:ext uri="{FF2B5EF4-FFF2-40B4-BE49-F238E27FC236}">
                <a16:creationId xmlns:a16="http://schemas.microsoft.com/office/drawing/2014/main" id="{3FD469E9-C793-4A62-8753-541149CA968E}"/>
              </a:ext>
            </a:extLst>
          </p:cNvPr>
          <p:cNvSpPr>
            <a:spLocks noGrp="1"/>
          </p:cNvSpPr>
          <p:nvPr>
            <p:ph sz="half" idx="2"/>
          </p:nvPr>
        </p:nvSpPr>
        <p:spPr>
          <a:xfrm>
            <a:off x="677334" y="2737246"/>
            <a:ext cx="4185623" cy="3304117"/>
          </a:xfrm>
        </p:spPr>
        <p:txBody>
          <a:bodyPr/>
          <a:lstStyle/>
          <a:p>
            <a:pPr marL="0" indent="0">
              <a:buNone/>
            </a:pPr>
            <a:r>
              <a:rPr lang="en-US" sz="1800" dirty="0"/>
              <a:t>int </a:t>
            </a:r>
            <a:r>
              <a:rPr lang="en-US" sz="1800" dirty="0" err="1"/>
              <a:t>findMaximum</a:t>
            </a:r>
            <a:r>
              <a:rPr lang="en-US" sz="1800" dirty="0"/>
              <a:t>(int a[],int n)</a:t>
            </a:r>
          </a:p>
          <a:p>
            <a:pPr marL="0" indent="0">
              <a:buNone/>
            </a:pPr>
            <a:r>
              <a:rPr lang="en-US" sz="1800" dirty="0"/>
              <a:t>{</a:t>
            </a:r>
          </a:p>
          <a:p>
            <a:pPr marL="0" indent="0">
              <a:buNone/>
            </a:pPr>
            <a:r>
              <a:rPr lang="en-US" sz="1800" dirty="0"/>
              <a:t>max=a[1];</a:t>
            </a:r>
          </a:p>
          <a:p>
            <a:pPr marL="0" indent="0">
              <a:buNone/>
            </a:pPr>
            <a:r>
              <a:rPr lang="en-US" sz="1800" dirty="0"/>
              <a:t>for(</a:t>
            </a:r>
            <a:r>
              <a:rPr lang="en-US" sz="1800" dirty="0" err="1"/>
              <a:t>i</a:t>
            </a:r>
            <a:r>
              <a:rPr lang="en-US" sz="1800" dirty="0"/>
              <a:t>=2;i&lt;=</a:t>
            </a:r>
            <a:r>
              <a:rPr lang="en-US" sz="1800" dirty="0" err="1"/>
              <a:t>n;i</a:t>
            </a:r>
            <a:r>
              <a:rPr lang="en-US" sz="1800" dirty="0"/>
              <a:t>++)</a:t>
            </a:r>
          </a:p>
          <a:p>
            <a:pPr marL="0" indent="0">
              <a:buNone/>
            </a:pPr>
            <a:r>
              <a:rPr lang="en-US" sz="1800" dirty="0"/>
              <a:t>	if (a[</a:t>
            </a:r>
            <a:r>
              <a:rPr lang="en-US" sz="1800" dirty="0" err="1"/>
              <a:t>i</a:t>
            </a:r>
            <a:r>
              <a:rPr lang="en-US" sz="1800" dirty="0"/>
              <a:t>]&gt;max)</a:t>
            </a:r>
          </a:p>
          <a:p>
            <a:pPr marL="0" indent="0">
              <a:buNone/>
            </a:pPr>
            <a:r>
              <a:rPr lang="en-US" dirty="0"/>
              <a:t>		max=a[</a:t>
            </a:r>
            <a:r>
              <a:rPr lang="en-US" dirty="0" err="1"/>
              <a:t>i</a:t>
            </a:r>
            <a:r>
              <a:rPr lang="en-US" dirty="0"/>
              <a:t>];</a:t>
            </a:r>
            <a:endParaRPr lang="en-US" sz="1800" dirty="0"/>
          </a:p>
          <a:p>
            <a:pPr marL="0" indent="0">
              <a:buNone/>
            </a:pPr>
            <a:r>
              <a:rPr lang="en-US" sz="1800" dirty="0"/>
              <a:t>return max</a:t>
            </a:r>
          </a:p>
          <a:p>
            <a:pPr marL="0" indent="0">
              <a:buNone/>
            </a:pPr>
            <a:r>
              <a:rPr lang="en-US" sz="1800" dirty="0"/>
              <a:t>}</a:t>
            </a:r>
          </a:p>
          <a:p>
            <a:endParaRPr lang="en-IN" dirty="0"/>
          </a:p>
        </p:txBody>
      </p:sp>
      <p:sp>
        <p:nvSpPr>
          <p:cNvPr id="5" name="Text Placeholder 4">
            <a:extLst>
              <a:ext uri="{FF2B5EF4-FFF2-40B4-BE49-F238E27FC236}">
                <a16:creationId xmlns:a16="http://schemas.microsoft.com/office/drawing/2014/main" id="{9BB425A6-F0B7-4020-B36D-F96DCE1B4835}"/>
              </a:ext>
            </a:extLst>
          </p:cNvPr>
          <p:cNvSpPr>
            <a:spLocks noGrp="1"/>
          </p:cNvSpPr>
          <p:nvPr>
            <p:ph type="body" sz="quarter" idx="3"/>
          </p:nvPr>
        </p:nvSpPr>
        <p:spPr>
          <a:xfrm>
            <a:off x="5088383" y="1469430"/>
            <a:ext cx="4185618" cy="576262"/>
          </a:xfrm>
        </p:spPr>
        <p:txBody>
          <a:bodyPr/>
          <a:lstStyle/>
          <a:p>
            <a:r>
              <a:rPr lang="en-US" dirty="0"/>
              <a:t>Checking correctness</a:t>
            </a:r>
            <a:endParaRPr lang="en-IN" dirty="0"/>
          </a:p>
        </p:txBody>
      </p:sp>
      <p:sp>
        <p:nvSpPr>
          <p:cNvPr id="6" name="Content Placeholder 5">
            <a:extLst>
              <a:ext uri="{FF2B5EF4-FFF2-40B4-BE49-F238E27FC236}">
                <a16:creationId xmlns:a16="http://schemas.microsoft.com/office/drawing/2014/main" id="{A7EA6DA5-EBD5-45E9-A5CF-2E361D741711}"/>
              </a:ext>
            </a:extLst>
          </p:cNvPr>
          <p:cNvSpPr>
            <a:spLocks noGrp="1"/>
          </p:cNvSpPr>
          <p:nvPr>
            <p:ph sz="quarter" idx="4"/>
          </p:nvPr>
        </p:nvSpPr>
        <p:spPr>
          <a:xfrm>
            <a:off x="5088384" y="2737246"/>
            <a:ext cx="4185617" cy="1849120"/>
          </a:xfrm>
        </p:spPr>
        <p:txBody>
          <a:bodyPr/>
          <a:lstStyle/>
          <a:p>
            <a:pPr marL="0" indent="0">
              <a:buNone/>
            </a:pPr>
            <a:endParaRPr lang="en-US" dirty="0"/>
          </a:p>
          <a:p>
            <a:pPr marL="0" indent="0">
              <a:buNone/>
            </a:pPr>
            <a:endParaRPr lang="en-IN" dirty="0"/>
          </a:p>
        </p:txBody>
      </p:sp>
      <p:graphicFrame>
        <p:nvGraphicFramePr>
          <p:cNvPr id="7" name="Table 6">
            <a:extLst>
              <a:ext uri="{FF2B5EF4-FFF2-40B4-BE49-F238E27FC236}">
                <a16:creationId xmlns:a16="http://schemas.microsoft.com/office/drawing/2014/main" id="{16377055-0075-4AAE-B20C-C8C33DDF6F30}"/>
              </a:ext>
            </a:extLst>
          </p:cNvPr>
          <p:cNvGraphicFramePr>
            <a:graphicFrameLocks noGrp="1"/>
          </p:cNvGraphicFramePr>
          <p:nvPr/>
        </p:nvGraphicFramePr>
        <p:xfrm>
          <a:off x="4975668" y="2551826"/>
          <a:ext cx="3912233" cy="1478280"/>
        </p:xfrm>
        <a:graphic>
          <a:graphicData uri="http://schemas.openxmlformats.org/drawingml/2006/table">
            <a:tbl>
              <a:tblPr firstRow="1" bandRow="1">
                <a:tableStyleId>{5C22544A-7EE6-4342-B048-85BDC9FD1C3A}</a:tableStyleId>
              </a:tblPr>
              <a:tblGrid>
                <a:gridCol w="1237574">
                  <a:extLst>
                    <a:ext uri="{9D8B030D-6E8A-4147-A177-3AD203B41FA5}">
                      <a16:colId xmlns:a16="http://schemas.microsoft.com/office/drawing/2014/main" val="3975784804"/>
                    </a:ext>
                  </a:extLst>
                </a:gridCol>
                <a:gridCol w="718543">
                  <a:extLst>
                    <a:ext uri="{9D8B030D-6E8A-4147-A177-3AD203B41FA5}">
                      <a16:colId xmlns:a16="http://schemas.microsoft.com/office/drawing/2014/main" val="3765902615"/>
                    </a:ext>
                  </a:extLst>
                </a:gridCol>
                <a:gridCol w="978058">
                  <a:extLst>
                    <a:ext uri="{9D8B030D-6E8A-4147-A177-3AD203B41FA5}">
                      <a16:colId xmlns:a16="http://schemas.microsoft.com/office/drawing/2014/main" val="2807032552"/>
                    </a:ext>
                  </a:extLst>
                </a:gridCol>
                <a:gridCol w="978058">
                  <a:extLst>
                    <a:ext uri="{9D8B030D-6E8A-4147-A177-3AD203B41FA5}">
                      <a16:colId xmlns:a16="http://schemas.microsoft.com/office/drawing/2014/main" val="3320672075"/>
                    </a:ext>
                  </a:extLst>
                </a:gridCol>
              </a:tblGrid>
              <a:tr h="0">
                <a:tc>
                  <a:txBody>
                    <a:bodyPr/>
                    <a:lstStyle/>
                    <a:p>
                      <a:r>
                        <a:rPr lang="en-US" dirty="0"/>
                        <a:t>iteration</a:t>
                      </a:r>
                      <a:endParaRPr lang="en-IN" dirty="0"/>
                    </a:p>
                  </a:txBody>
                  <a:tcPr/>
                </a:tc>
                <a:tc>
                  <a:txBody>
                    <a:bodyPr/>
                    <a:lstStyle/>
                    <a:p>
                      <a:r>
                        <a:rPr lang="en-US" dirty="0" err="1"/>
                        <a:t>i</a:t>
                      </a:r>
                      <a:endParaRPr lang="en-IN" dirty="0"/>
                    </a:p>
                  </a:txBody>
                  <a:tcPr/>
                </a:tc>
                <a:tc>
                  <a:txBody>
                    <a:bodyPr/>
                    <a:lstStyle/>
                    <a:p>
                      <a:r>
                        <a:rPr lang="en-US" dirty="0"/>
                        <a:t>max</a:t>
                      </a:r>
                      <a:endParaRPr lang="en-IN" dirty="0"/>
                    </a:p>
                  </a:txBody>
                  <a:tcPr/>
                </a:tc>
                <a:tc>
                  <a:txBody>
                    <a:bodyPr/>
                    <a:lstStyle/>
                    <a:p>
                      <a:r>
                        <a:rPr lang="en-US" dirty="0"/>
                        <a:t>a[</a:t>
                      </a:r>
                      <a:r>
                        <a:rPr lang="en-US" dirty="0" err="1"/>
                        <a:t>i</a:t>
                      </a:r>
                      <a:r>
                        <a:rPr lang="en-US" dirty="0"/>
                        <a:t>]</a:t>
                      </a:r>
                      <a:endParaRPr lang="en-IN" dirty="0"/>
                    </a:p>
                  </a:txBody>
                  <a:tcPr/>
                </a:tc>
                <a:extLst>
                  <a:ext uri="{0D108BD9-81ED-4DB2-BD59-A6C34878D82A}">
                    <a16:rowId xmlns:a16="http://schemas.microsoft.com/office/drawing/2014/main" val="2538734503"/>
                  </a:ext>
                </a:extLst>
              </a:tr>
              <a:tr h="370840">
                <a:tc>
                  <a:txBody>
                    <a:bodyPr/>
                    <a:lstStyle/>
                    <a:p>
                      <a:r>
                        <a:rPr lang="en-US" dirty="0"/>
                        <a:t>0</a:t>
                      </a:r>
                      <a:endParaRPr lang="en-IN" dirty="0"/>
                    </a:p>
                  </a:txBody>
                  <a:tcPr/>
                </a:tc>
                <a:tc>
                  <a:txBody>
                    <a:bodyPr/>
                    <a:lstStyle/>
                    <a:p>
                      <a:endParaRPr lang="en-IN" dirty="0"/>
                    </a:p>
                  </a:txBody>
                  <a:tcPr/>
                </a:tc>
                <a:tc>
                  <a:txBody>
                    <a:bodyPr/>
                    <a:lstStyle/>
                    <a:p>
                      <a:r>
                        <a:rPr lang="en-US" dirty="0"/>
                        <a:t>-17</a:t>
                      </a:r>
                      <a:endParaRPr lang="en-IN" dirty="0"/>
                    </a:p>
                  </a:txBody>
                  <a:tcPr/>
                </a:tc>
                <a:tc>
                  <a:txBody>
                    <a:bodyPr/>
                    <a:lstStyle/>
                    <a:p>
                      <a:endParaRPr lang="en-IN" dirty="0"/>
                    </a:p>
                  </a:txBody>
                  <a:tcPr/>
                </a:tc>
                <a:extLst>
                  <a:ext uri="{0D108BD9-81ED-4DB2-BD59-A6C34878D82A}">
                    <a16:rowId xmlns:a16="http://schemas.microsoft.com/office/drawing/2014/main" val="2163080968"/>
                  </a:ext>
                </a:extLst>
              </a:tr>
              <a:tr h="370840">
                <a:tc>
                  <a:txBody>
                    <a:bodyPr/>
                    <a:lstStyle/>
                    <a:p>
                      <a:r>
                        <a:rPr lang="en-US" dirty="0"/>
                        <a:t>1</a:t>
                      </a:r>
                      <a:endParaRPr lang="en-IN" dirty="0"/>
                    </a:p>
                  </a:txBody>
                  <a:tcPr/>
                </a:tc>
                <a:tc>
                  <a:txBody>
                    <a:bodyPr/>
                    <a:lstStyle/>
                    <a:p>
                      <a:r>
                        <a:rPr lang="en-US" dirty="0"/>
                        <a:t>1</a:t>
                      </a:r>
                      <a:endParaRPr lang="en-IN" dirty="0"/>
                    </a:p>
                  </a:txBody>
                  <a:tcPr/>
                </a:tc>
                <a:tc>
                  <a:txBody>
                    <a:bodyPr/>
                    <a:lstStyle/>
                    <a:p>
                      <a:r>
                        <a:rPr lang="en-US" dirty="0"/>
                        <a:t>-10</a:t>
                      </a:r>
                      <a:endParaRPr lang="en-IN" dirty="0"/>
                    </a:p>
                  </a:txBody>
                  <a:tcPr/>
                </a:tc>
                <a:tc>
                  <a:txBody>
                    <a:bodyPr/>
                    <a:lstStyle/>
                    <a:p>
                      <a:r>
                        <a:rPr lang="en-US" dirty="0"/>
                        <a:t>-10</a:t>
                      </a:r>
                      <a:endParaRPr lang="en-IN" dirty="0"/>
                    </a:p>
                  </a:txBody>
                  <a:tcPr/>
                </a:tc>
                <a:extLst>
                  <a:ext uri="{0D108BD9-81ED-4DB2-BD59-A6C34878D82A}">
                    <a16:rowId xmlns:a16="http://schemas.microsoft.com/office/drawing/2014/main" val="358457868"/>
                  </a:ext>
                </a:extLst>
              </a:tr>
              <a:tr h="370840">
                <a:tc>
                  <a:txBody>
                    <a:bodyPr/>
                    <a:lstStyle/>
                    <a:p>
                      <a:r>
                        <a:rPr lang="en-US" dirty="0"/>
                        <a:t>2</a:t>
                      </a:r>
                      <a:endParaRPr lang="en-IN" dirty="0"/>
                    </a:p>
                  </a:txBody>
                  <a:tcPr/>
                </a:tc>
                <a:tc>
                  <a:txBody>
                    <a:bodyPr/>
                    <a:lstStyle/>
                    <a:p>
                      <a:r>
                        <a:rPr lang="en-US" dirty="0"/>
                        <a:t>2</a:t>
                      </a:r>
                      <a:endParaRPr lang="en-IN" dirty="0"/>
                    </a:p>
                  </a:txBody>
                  <a:tcPr/>
                </a:tc>
                <a:tc>
                  <a:txBody>
                    <a:bodyPr/>
                    <a:lstStyle/>
                    <a:p>
                      <a:r>
                        <a:rPr lang="en-US" dirty="0"/>
                        <a:t>-4</a:t>
                      </a:r>
                      <a:endParaRPr lang="en-IN" dirty="0"/>
                    </a:p>
                  </a:txBody>
                  <a:tcPr/>
                </a:tc>
                <a:tc>
                  <a:txBody>
                    <a:bodyPr/>
                    <a:lstStyle/>
                    <a:p>
                      <a:r>
                        <a:rPr lang="en-US" dirty="0"/>
                        <a:t>-4</a:t>
                      </a:r>
                      <a:endParaRPr lang="en-IN" dirty="0"/>
                    </a:p>
                  </a:txBody>
                  <a:tcPr/>
                </a:tc>
                <a:extLst>
                  <a:ext uri="{0D108BD9-81ED-4DB2-BD59-A6C34878D82A}">
                    <a16:rowId xmlns:a16="http://schemas.microsoft.com/office/drawing/2014/main" val="3394910842"/>
                  </a:ext>
                </a:extLst>
              </a:tr>
            </a:tbl>
          </a:graphicData>
        </a:graphic>
      </p:graphicFrame>
      <p:sp>
        <p:nvSpPr>
          <p:cNvPr id="9" name="TextBox 8">
            <a:extLst>
              <a:ext uri="{FF2B5EF4-FFF2-40B4-BE49-F238E27FC236}">
                <a16:creationId xmlns:a16="http://schemas.microsoft.com/office/drawing/2014/main" id="{1961C997-9752-4F53-BAA4-C451D6CE85FC}"/>
              </a:ext>
            </a:extLst>
          </p:cNvPr>
          <p:cNvSpPr txBox="1"/>
          <p:nvPr/>
        </p:nvSpPr>
        <p:spPr>
          <a:xfrm>
            <a:off x="5225451" y="2039039"/>
            <a:ext cx="2581455" cy="369332"/>
          </a:xfrm>
          <a:prstGeom prst="rect">
            <a:avLst/>
          </a:prstGeom>
          <a:noFill/>
        </p:spPr>
        <p:txBody>
          <a:bodyPr wrap="square">
            <a:spAutoFit/>
          </a:bodyPr>
          <a:lstStyle/>
          <a:p>
            <a:pPr marL="0" indent="0">
              <a:buNone/>
            </a:pPr>
            <a:r>
              <a:rPr lang="en-US" dirty="0"/>
              <a:t>a[]= { -17, -10, -4}, n=3</a:t>
            </a:r>
          </a:p>
        </p:txBody>
      </p:sp>
      <p:sp>
        <p:nvSpPr>
          <p:cNvPr id="14" name="TextBox 13">
            <a:extLst>
              <a:ext uri="{FF2B5EF4-FFF2-40B4-BE49-F238E27FC236}">
                <a16:creationId xmlns:a16="http://schemas.microsoft.com/office/drawing/2014/main" id="{8C063548-A058-4A7E-8553-028116AE69C0}"/>
              </a:ext>
            </a:extLst>
          </p:cNvPr>
          <p:cNvSpPr txBox="1"/>
          <p:nvPr/>
        </p:nvSpPr>
        <p:spPr>
          <a:xfrm>
            <a:off x="5088383" y="5043564"/>
            <a:ext cx="3589791" cy="1200329"/>
          </a:xfrm>
          <a:prstGeom prst="rect">
            <a:avLst/>
          </a:prstGeom>
          <a:noFill/>
        </p:spPr>
        <p:txBody>
          <a:bodyPr wrap="square" rtlCol="0">
            <a:spAutoFit/>
          </a:bodyPr>
          <a:lstStyle/>
          <a:p>
            <a:r>
              <a:rPr lang="en-US" dirty="0"/>
              <a:t>Output</a:t>
            </a:r>
          </a:p>
          <a:p>
            <a:r>
              <a:rPr lang="en-US" dirty="0"/>
              <a:t>-4</a:t>
            </a:r>
          </a:p>
          <a:p>
            <a:r>
              <a:rPr lang="en-US" dirty="0"/>
              <a:t>This algorithm works correctly for the given set of input</a:t>
            </a:r>
            <a:endParaRPr lang="en-IN" dirty="0"/>
          </a:p>
        </p:txBody>
      </p:sp>
    </p:spTree>
    <p:extLst>
      <p:ext uri="{BB962C8B-B14F-4D97-AF65-F5344CB8AC3E}">
        <p14:creationId xmlns:p14="http://schemas.microsoft.com/office/powerpoint/2010/main" val="41614581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3ED9D-8786-8ACC-AE02-8D4A43F0034F}"/>
              </a:ext>
            </a:extLst>
          </p:cNvPr>
          <p:cNvSpPr>
            <a:spLocks noGrp="1"/>
          </p:cNvSpPr>
          <p:nvPr>
            <p:ph type="title"/>
          </p:nvPr>
        </p:nvSpPr>
        <p:spPr>
          <a:xfrm>
            <a:off x="838200" y="147334"/>
            <a:ext cx="10515600" cy="1325563"/>
          </a:xfrm>
        </p:spPr>
        <p:txBody>
          <a:bodyPr/>
          <a:lstStyle/>
          <a:p>
            <a:r>
              <a:rPr lang="en-IN" dirty="0" err="1"/>
              <a:t>Algm</a:t>
            </a:r>
            <a:r>
              <a:rPr lang="en-IN" dirty="0"/>
              <a:t> Correctness Proof –By Contradiction</a:t>
            </a:r>
          </a:p>
        </p:txBody>
      </p:sp>
      <p:pic>
        <p:nvPicPr>
          <p:cNvPr id="3" name="Picture 2">
            <a:extLst>
              <a:ext uri="{FF2B5EF4-FFF2-40B4-BE49-F238E27FC236}">
                <a16:creationId xmlns:a16="http://schemas.microsoft.com/office/drawing/2014/main" id="{EA2F2931-F2CF-C8FF-7201-AE131E1E812F}"/>
              </a:ext>
            </a:extLst>
          </p:cNvPr>
          <p:cNvPicPr>
            <a:picLocks noChangeAspect="1" noChangeArrowheads="1"/>
          </p:cNvPicPr>
          <p:nvPr/>
        </p:nvPicPr>
        <p:blipFill>
          <a:blip r:embed="rId2"/>
          <a:srcRect/>
          <a:stretch>
            <a:fillRect/>
          </a:stretch>
        </p:blipFill>
        <p:spPr bwMode="auto">
          <a:xfrm>
            <a:off x="4456446" y="1392449"/>
            <a:ext cx="2733675" cy="1495425"/>
          </a:xfrm>
          <a:prstGeom prst="rect">
            <a:avLst/>
          </a:prstGeom>
          <a:noFill/>
          <a:ln w="9525">
            <a:noFill/>
            <a:miter lim="800000"/>
            <a:headEnd/>
            <a:tailEnd/>
          </a:ln>
          <a:effectLst/>
        </p:spPr>
      </p:pic>
      <p:sp>
        <p:nvSpPr>
          <p:cNvPr id="5" name="内容占位符 1">
            <a:extLst>
              <a:ext uri="{FF2B5EF4-FFF2-40B4-BE49-F238E27FC236}">
                <a16:creationId xmlns:a16="http://schemas.microsoft.com/office/drawing/2014/main" id="{324635D5-C8A1-1BA8-0EF2-8B7F6F81EEC7}"/>
              </a:ext>
            </a:extLst>
          </p:cNvPr>
          <p:cNvSpPr txBox="1">
            <a:spLocks/>
          </p:cNvSpPr>
          <p:nvPr/>
        </p:nvSpPr>
        <p:spPr>
          <a:xfrm>
            <a:off x="1679880" y="3176632"/>
            <a:ext cx="8286808" cy="35719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altLang="zh-CN" sz="1800" dirty="0"/>
              <a:t>Prove that for any valid Input, the output of Find-max satisfies the output condition. </a:t>
            </a:r>
          </a:p>
          <a:p>
            <a:r>
              <a:rPr lang="en-CA" altLang="zh-CN" sz="1800" b="1" dirty="0"/>
              <a:t>Proof by contradiction: </a:t>
            </a:r>
          </a:p>
          <a:p>
            <a:pPr lvl="1"/>
            <a:r>
              <a:rPr lang="en-CA" altLang="zh-CN" sz="1800" b="1" dirty="0"/>
              <a:t>Suppose the algorithm is incorrect.</a:t>
            </a:r>
          </a:p>
          <a:p>
            <a:pPr lvl="1"/>
            <a:r>
              <a:rPr lang="en-CA" altLang="zh-CN" sz="1800" dirty="0"/>
              <a:t>Then for some input A, </a:t>
            </a:r>
          </a:p>
          <a:p>
            <a:pPr lvl="2"/>
            <a:r>
              <a:rPr lang="en-CA" altLang="zh-CN" sz="1800" b="1" dirty="0"/>
              <a:t>Case 1: max is not an element of A. </a:t>
            </a:r>
            <a:r>
              <a:rPr lang="en-CA" altLang="zh-CN" sz="1800" dirty="0"/>
              <a:t>max is initialized to and assigned to elements of A – which  is impossible. </a:t>
            </a:r>
          </a:p>
          <a:p>
            <a:pPr lvl="2"/>
            <a:r>
              <a:rPr lang="en-CA" altLang="zh-CN" sz="1800" b="1" dirty="0"/>
              <a:t>Case 2: (∃ j | max &lt; A[j]). </a:t>
            </a:r>
          </a:p>
          <a:p>
            <a:pPr lvl="2">
              <a:buFont typeface="Arial" panose="020B0604020202020204" pitchFamily="34" charset="0"/>
              <a:buNone/>
            </a:pPr>
            <a:r>
              <a:rPr lang="en-CA" altLang="zh-CN" sz="1800" dirty="0"/>
              <a:t>		After the </a:t>
            </a:r>
            <a:r>
              <a:rPr lang="en-CA" altLang="zh-CN" sz="1800" dirty="0" err="1"/>
              <a:t>jth</a:t>
            </a:r>
            <a:r>
              <a:rPr lang="en-CA" altLang="zh-CN" sz="1800" dirty="0"/>
              <a:t> iteration of the for-loop (lines 2 – 4), </a:t>
            </a:r>
            <a:r>
              <a:rPr lang="en-CA" altLang="zh-CN" sz="1800" dirty="0">
                <a:solidFill>
                  <a:srgbClr val="006600"/>
                </a:solidFill>
              </a:rPr>
              <a:t>max ≥ A[j]. </a:t>
            </a:r>
            <a:r>
              <a:rPr lang="en-CA" altLang="zh-CN" sz="1800" dirty="0"/>
              <a:t>From lines 3,4, max only increases.</a:t>
            </a:r>
          </a:p>
          <a:p>
            <a:pPr lvl="1"/>
            <a:r>
              <a:rPr lang="en-CA" altLang="zh-CN" sz="1800" dirty="0"/>
              <a:t>Therefore, upon termination, max ≥ A[j], which contradicts our assumption that  max&lt;A[j]</a:t>
            </a:r>
            <a:endParaRPr lang="zh-CN" altLang="en-US" sz="1800" dirty="0"/>
          </a:p>
        </p:txBody>
      </p:sp>
    </p:spTree>
    <p:extLst>
      <p:ext uri="{BB962C8B-B14F-4D97-AF65-F5344CB8AC3E}">
        <p14:creationId xmlns:p14="http://schemas.microsoft.com/office/powerpoint/2010/main" val="19206898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FD5A7-DE53-38D5-153F-C5FFCDCBE0B0}"/>
              </a:ext>
            </a:extLst>
          </p:cNvPr>
          <p:cNvSpPr>
            <a:spLocks noGrp="1"/>
          </p:cNvSpPr>
          <p:nvPr>
            <p:ph type="title"/>
          </p:nvPr>
        </p:nvSpPr>
        <p:spPr>
          <a:xfrm>
            <a:off x="2128445" y="432502"/>
            <a:ext cx="8821093" cy="1325563"/>
          </a:xfrm>
        </p:spPr>
        <p:txBody>
          <a:bodyPr/>
          <a:lstStyle/>
          <a:p>
            <a:r>
              <a:rPr lang="en-IN" dirty="0"/>
              <a:t>Loop invariance –Correctness proof</a:t>
            </a:r>
          </a:p>
        </p:txBody>
      </p:sp>
      <p:sp>
        <p:nvSpPr>
          <p:cNvPr id="3" name="内容占位符 1">
            <a:extLst>
              <a:ext uri="{FF2B5EF4-FFF2-40B4-BE49-F238E27FC236}">
                <a16:creationId xmlns:a16="http://schemas.microsoft.com/office/drawing/2014/main" id="{944623F2-828F-6C36-40F4-D6F93E78C35E}"/>
              </a:ext>
            </a:extLst>
          </p:cNvPr>
          <p:cNvSpPr txBox="1">
            <a:spLocks/>
          </p:cNvSpPr>
          <p:nvPr/>
        </p:nvSpPr>
        <p:spPr>
          <a:xfrm>
            <a:off x="1739516" y="2567521"/>
            <a:ext cx="8712968" cy="282631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en-CA" altLang="zh-CN" b="1" dirty="0"/>
              <a:t>Show the 3 things about a loop invariance: </a:t>
            </a:r>
          </a:p>
          <a:p>
            <a:pPr marL="971550" lvl="1" indent="-514350">
              <a:buFont typeface="Arial" panose="020B0604020202020204" pitchFamily="34" charset="0"/>
              <a:buAutoNum type="romanUcPeriod"/>
            </a:pPr>
            <a:r>
              <a:rPr lang="en-CA" altLang="zh-CN" b="1" dirty="0"/>
              <a:t>Initialization: It is true prior to the first iteration of the loop.</a:t>
            </a:r>
          </a:p>
          <a:p>
            <a:pPr marL="971550" lvl="1" indent="-514350">
              <a:buFont typeface="Arial" panose="020B0604020202020204" pitchFamily="34" charset="0"/>
              <a:buAutoNum type="romanUcPeriod"/>
            </a:pPr>
            <a:r>
              <a:rPr lang="en-CA" altLang="zh-CN" b="1" dirty="0"/>
              <a:t>Maintenance: If it is true before an iteration of the loop, it remains true before the next iteration. </a:t>
            </a:r>
          </a:p>
          <a:p>
            <a:pPr marL="971550" lvl="1" indent="-514350">
              <a:buFont typeface="Arial" panose="020B0604020202020204" pitchFamily="34" charset="0"/>
              <a:buAutoNum type="romanUcPeriod"/>
            </a:pPr>
            <a:r>
              <a:rPr lang="en-CA" altLang="zh-CN" b="1" dirty="0"/>
              <a:t>Termination: When the loop terminates, the invariant gives us a useful property that helps us to show that the algo is correct.</a:t>
            </a:r>
          </a:p>
          <a:p>
            <a:pPr marL="857250" lvl="1" indent="-400050">
              <a:buFont typeface="Arial" panose="020B0604020202020204" pitchFamily="34" charset="0"/>
              <a:buAutoNum type="romanUcPeriod"/>
            </a:pPr>
            <a:endParaRPr lang="en-CA" altLang="zh-CN" sz="1800" dirty="0"/>
          </a:p>
          <a:p>
            <a:pPr lvl="1"/>
            <a:endParaRPr lang="en-CA" altLang="zh-CN" dirty="0"/>
          </a:p>
        </p:txBody>
      </p:sp>
    </p:spTree>
    <p:extLst>
      <p:ext uri="{BB962C8B-B14F-4D97-AF65-F5344CB8AC3E}">
        <p14:creationId xmlns:p14="http://schemas.microsoft.com/office/powerpoint/2010/main" val="38422784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8DDE1-4B63-1642-0AF4-E5D999900E9B}"/>
              </a:ext>
            </a:extLst>
          </p:cNvPr>
          <p:cNvSpPr>
            <a:spLocks noGrp="1"/>
          </p:cNvSpPr>
          <p:nvPr>
            <p:ph type="title"/>
          </p:nvPr>
        </p:nvSpPr>
        <p:spPr>
          <a:xfrm>
            <a:off x="1945105" y="279771"/>
            <a:ext cx="9791459" cy="1325563"/>
          </a:xfrm>
        </p:spPr>
        <p:txBody>
          <a:bodyPr/>
          <a:lstStyle/>
          <a:p>
            <a:r>
              <a:rPr lang="en-IN" dirty="0"/>
              <a:t>Loop invariance proof –Max </a:t>
            </a:r>
            <a:r>
              <a:rPr lang="en-IN" dirty="0" err="1"/>
              <a:t>algm</a:t>
            </a:r>
            <a:endParaRPr lang="en-IN" dirty="0"/>
          </a:p>
        </p:txBody>
      </p:sp>
      <p:pic>
        <p:nvPicPr>
          <p:cNvPr id="3" name="Picture 2">
            <a:extLst>
              <a:ext uri="{FF2B5EF4-FFF2-40B4-BE49-F238E27FC236}">
                <a16:creationId xmlns:a16="http://schemas.microsoft.com/office/drawing/2014/main" id="{1BAC8154-78B2-20C2-7A7E-14F888347A56}"/>
              </a:ext>
            </a:extLst>
          </p:cNvPr>
          <p:cNvPicPr>
            <a:picLocks noChangeAspect="1" noChangeArrowheads="1"/>
          </p:cNvPicPr>
          <p:nvPr/>
        </p:nvPicPr>
        <p:blipFill>
          <a:blip r:embed="rId2"/>
          <a:srcRect/>
          <a:stretch>
            <a:fillRect/>
          </a:stretch>
        </p:blipFill>
        <p:spPr bwMode="auto">
          <a:xfrm>
            <a:off x="4729162" y="1605334"/>
            <a:ext cx="2733675" cy="1495425"/>
          </a:xfrm>
          <a:prstGeom prst="rect">
            <a:avLst/>
          </a:prstGeom>
          <a:noFill/>
          <a:ln w="9525">
            <a:noFill/>
            <a:miter lim="800000"/>
            <a:headEnd/>
            <a:tailEnd/>
          </a:ln>
          <a:effectLst/>
        </p:spPr>
      </p:pic>
      <p:sp>
        <p:nvSpPr>
          <p:cNvPr id="4" name="内容占位符 1">
            <a:extLst>
              <a:ext uri="{FF2B5EF4-FFF2-40B4-BE49-F238E27FC236}">
                <a16:creationId xmlns:a16="http://schemas.microsoft.com/office/drawing/2014/main" id="{78F19060-9324-0F92-DFE0-8B51F0EC76B7}"/>
              </a:ext>
            </a:extLst>
          </p:cNvPr>
          <p:cNvSpPr txBox="1">
            <a:spLocks/>
          </p:cNvSpPr>
          <p:nvPr/>
        </p:nvSpPr>
        <p:spPr>
          <a:xfrm>
            <a:off x="2093767" y="3100759"/>
            <a:ext cx="8535892" cy="355992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altLang="zh-CN" sz="2400" b="1" dirty="0"/>
              <a:t>Prove that for any valid Input, the output of Find-max satisfies the output condition. </a:t>
            </a:r>
          </a:p>
          <a:p>
            <a:r>
              <a:rPr lang="en-CA" altLang="zh-CN" sz="2400" b="1" dirty="0"/>
              <a:t>Proof by </a:t>
            </a:r>
            <a:r>
              <a:rPr lang="en-CA" altLang="zh-CN" sz="2400" b="1" dirty="0">
                <a:solidFill>
                  <a:srgbClr val="FF0000"/>
                </a:solidFill>
              </a:rPr>
              <a:t>loop invariants</a:t>
            </a:r>
            <a:r>
              <a:rPr lang="en-CA" altLang="zh-CN" sz="2400" b="1" dirty="0"/>
              <a:t>: </a:t>
            </a:r>
          </a:p>
          <a:p>
            <a:pPr lvl="1"/>
            <a:r>
              <a:rPr lang="en-CA" altLang="zh-CN" b="1" dirty="0"/>
              <a:t>Loop invariant: I(j): At the beginning of iteration j of the loop, max contains the maximum of A[1,..,j-1].</a:t>
            </a:r>
          </a:p>
          <a:p>
            <a:pPr lvl="1"/>
            <a:r>
              <a:rPr lang="en-CA" altLang="zh-CN" b="1" dirty="0"/>
              <a:t>Proof: </a:t>
            </a:r>
          </a:p>
          <a:p>
            <a:pPr lvl="2"/>
            <a:r>
              <a:rPr lang="en-CA" altLang="zh-CN" b="1" dirty="0"/>
              <a:t>True for j=2. </a:t>
            </a:r>
          </a:p>
          <a:p>
            <a:pPr lvl="2"/>
            <a:r>
              <a:rPr lang="en-CA" altLang="zh-CN" b="1" dirty="0"/>
              <a:t>Assume that the loop invariant holds for the j iteration, </a:t>
            </a:r>
          </a:p>
          <a:p>
            <a:pPr lvl="2">
              <a:buFont typeface="Arial" panose="020B0604020202020204" pitchFamily="34" charset="0"/>
              <a:buNone/>
            </a:pPr>
            <a:r>
              <a:rPr lang="en-CA" altLang="zh-CN" b="1" dirty="0"/>
              <a:t>	So at the beginning of iteration k, max = maximum of A[1,..,j-1].</a:t>
            </a:r>
            <a:endParaRPr lang="zh-CN" altLang="en-US" b="1" dirty="0"/>
          </a:p>
          <a:p>
            <a:pPr lvl="1"/>
            <a:endParaRPr lang="en-CA" altLang="zh-CN" sz="1800" dirty="0"/>
          </a:p>
          <a:p>
            <a:pPr lvl="1"/>
            <a:endParaRPr lang="en-CA" altLang="zh-CN" dirty="0"/>
          </a:p>
        </p:txBody>
      </p:sp>
    </p:spTree>
    <p:extLst>
      <p:ext uri="{BB962C8B-B14F-4D97-AF65-F5344CB8AC3E}">
        <p14:creationId xmlns:p14="http://schemas.microsoft.com/office/powerpoint/2010/main" val="20443557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952596" y="2714620"/>
            <a:ext cx="8286808" cy="3571900"/>
          </a:xfrm>
        </p:spPr>
        <p:txBody>
          <a:bodyPr>
            <a:normAutofit/>
          </a:bodyPr>
          <a:lstStyle/>
          <a:p>
            <a:pPr lvl="1"/>
            <a:r>
              <a:rPr lang="en-CA" altLang="zh-CN" dirty="0"/>
              <a:t>For the (j+1)</a:t>
            </a:r>
            <a:r>
              <a:rPr lang="en-CA" altLang="zh-CN" dirty="0" err="1"/>
              <a:t>th</a:t>
            </a:r>
            <a:r>
              <a:rPr lang="en-CA" altLang="zh-CN" dirty="0"/>
              <a:t> iteration</a:t>
            </a:r>
          </a:p>
          <a:p>
            <a:pPr lvl="2"/>
            <a:r>
              <a:rPr lang="en-CA" altLang="zh-CN" sz="2800" dirty="0">
                <a:solidFill>
                  <a:srgbClr val="FF0000"/>
                </a:solidFill>
              </a:rPr>
              <a:t>Case 1: </a:t>
            </a:r>
            <a:r>
              <a:rPr lang="en-CA" altLang="zh-CN" sz="2800" dirty="0"/>
              <a:t>A[j] is the maximum of A[1,…,j]. In lines 3, 4, max is set to A[j].</a:t>
            </a:r>
          </a:p>
          <a:p>
            <a:pPr lvl="2"/>
            <a:r>
              <a:rPr lang="en-CA" altLang="zh-CN" sz="2800" dirty="0">
                <a:solidFill>
                  <a:srgbClr val="FF0000"/>
                </a:solidFill>
              </a:rPr>
              <a:t>Case 2:</a:t>
            </a:r>
            <a:r>
              <a:rPr lang="en-CA" altLang="zh-CN" sz="2800" dirty="0"/>
              <a:t> A[j] is not the maximum of A[1,…,j]. So the maximum of A[1,…, j] is in A[1,…,j-1]. By our assumption max already has this value and by lines 3-4 max is unchanged in this iteration.</a:t>
            </a:r>
          </a:p>
          <a:p>
            <a:pPr lvl="2"/>
            <a:endParaRPr lang="en-CA" altLang="zh-CN" sz="2800" dirty="0"/>
          </a:p>
          <a:p>
            <a:pPr lvl="1"/>
            <a:endParaRPr lang="en-CA" altLang="zh-CN" dirty="0"/>
          </a:p>
        </p:txBody>
      </p:sp>
      <p:sp>
        <p:nvSpPr>
          <p:cNvPr id="3" name="标题 2"/>
          <p:cNvSpPr>
            <a:spLocks noGrp="1"/>
          </p:cNvSpPr>
          <p:nvPr>
            <p:ph type="title"/>
          </p:nvPr>
        </p:nvSpPr>
        <p:spPr/>
        <p:txBody>
          <a:bodyPr>
            <a:normAutofit/>
          </a:bodyPr>
          <a:lstStyle/>
          <a:p>
            <a:r>
              <a:rPr lang="en-CA" altLang="zh-CN" dirty="0"/>
              <a:t>Loop invariant proof for max</a:t>
            </a:r>
            <a:endParaRPr lang="zh-CN" altLang="en-US" dirty="0"/>
          </a:p>
        </p:txBody>
      </p:sp>
      <p:sp>
        <p:nvSpPr>
          <p:cNvPr id="4" name="灯片编号占位符 3"/>
          <p:cNvSpPr>
            <a:spLocks noGrp="1"/>
          </p:cNvSpPr>
          <p:nvPr>
            <p:ph type="sldNum" sz="quarter" idx="12"/>
          </p:nvPr>
        </p:nvSpPr>
        <p:spPr/>
        <p:txBody>
          <a:bodyPr/>
          <a:lstStyle/>
          <a:p>
            <a:pPr>
              <a:defRPr/>
            </a:pPr>
            <a:fld id="{F89D6C2E-2986-4E9E-9AEF-174E657C0996}" type="slidenum">
              <a:rPr lang="en-US" altLang="zh-CN" smtClean="0"/>
              <a:pPr>
                <a:defRPr/>
              </a:pPr>
              <a:t>31</a:t>
            </a:fld>
            <a:endParaRPr lang="en-US" altLang="zh-CN"/>
          </a:p>
        </p:txBody>
      </p:sp>
      <p:pic>
        <p:nvPicPr>
          <p:cNvPr id="174082" name="Picture 2"/>
          <p:cNvPicPr>
            <a:picLocks noChangeAspect="1" noChangeArrowheads="1"/>
          </p:cNvPicPr>
          <p:nvPr/>
        </p:nvPicPr>
        <p:blipFill>
          <a:blip r:embed="rId2"/>
          <a:srcRect/>
          <a:stretch>
            <a:fillRect/>
          </a:stretch>
        </p:blipFill>
        <p:spPr bwMode="auto">
          <a:xfrm>
            <a:off x="4539536" y="1214422"/>
            <a:ext cx="2733675" cy="1495425"/>
          </a:xfrm>
          <a:prstGeom prst="rect">
            <a:avLst/>
          </a:prstGeom>
          <a:noFill/>
          <a:ln w="9525">
            <a:noFill/>
            <a:miter lim="800000"/>
            <a:headEnd/>
            <a:tailEnd/>
          </a:ln>
          <a:effectLst/>
        </p:spPr>
      </p:pic>
    </p:spTree>
    <p:extLst>
      <p:ext uri="{BB962C8B-B14F-4D97-AF65-F5344CB8AC3E}">
        <p14:creationId xmlns:p14="http://schemas.microsoft.com/office/powerpoint/2010/main" val="30233476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CA" altLang="zh-CN" dirty="0"/>
              <a:t>STRATEGY: We proved that the invariant holds at the beginning of iteration j for each j used by Find-max.</a:t>
            </a:r>
          </a:p>
          <a:p>
            <a:endParaRPr lang="en-CA" altLang="zh-CN" dirty="0"/>
          </a:p>
          <a:p>
            <a:pPr lvl="1"/>
            <a:r>
              <a:rPr lang="en-CA" altLang="zh-CN" dirty="0"/>
              <a:t>Upon termination, j = length(A)+1. (WHY?)</a:t>
            </a:r>
          </a:p>
          <a:p>
            <a:pPr lvl="1"/>
            <a:endParaRPr lang="en-CA" altLang="zh-CN" dirty="0"/>
          </a:p>
          <a:p>
            <a:pPr lvl="1"/>
            <a:r>
              <a:rPr lang="en-CA" altLang="zh-CN" dirty="0"/>
              <a:t>The invariant holds, and so max contains the maximum of A[1..n]</a:t>
            </a:r>
          </a:p>
        </p:txBody>
      </p:sp>
      <p:sp>
        <p:nvSpPr>
          <p:cNvPr id="3" name="标题 2"/>
          <p:cNvSpPr>
            <a:spLocks noGrp="1"/>
          </p:cNvSpPr>
          <p:nvPr>
            <p:ph type="title"/>
          </p:nvPr>
        </p:nvSpPr>
        <p:spPr/>
        <p:txBody>
          <a:bodyPr/>
          <a:lstStyle/>
          <a:p>
            <a:r>
              <a:rPr lang="en-CA" altLang="zh-CN" dirty="0"/>
              <a:t>Loop invariant proofs</a:t>
            </a:r>
            <a:endParaRPr lang="zh-CN" altLang="en-US" dirty="0"/>
          </a:p>
        </p:txBody>
      </p:sp>
      <p:sp>
        <p:nvSpPr>
          <p:cNvPr id="4" name="灯片编号占位符 3"/>
          <p:cNvSpPr>
            <a:spLocks noGrp="1"/>
          </p:cNvSpPr>
          <p:nvPr>
            <p:ph type="sldNum" sz="quarter" idx="12"/>
          </p:nvPr>
        </p:nvSpPr>
        <p:spPr/>
        <p:txBody>
          <a:bodyPr/>
          <a:lstStyle/>
          <a:p>
            <a:pPr>
              <a:defRPr/>
            </a:pPr>
            <a:fld id="{F89D6C2E-2986-4E9E-9AEF-174E657C0996}" type="slidenum">
              <a:rPr lang="en-US" altLang="zh-CN" smtClean="0"/>
              <a:pPr>
                <a:defRPr/>
              </a:pPr>
              <a:t>32</a:t>
            </a:fld>
            <a:endParaRPr lang="en-US" altLang="zh-CN"/>
          </a:p>
        </p:txBody>
      </p:sp>
    </p:spTree>
    <p:extLst>
      <p:ext uri="{BB962C8B-B14F-4D97-AF65-F5344CB8AC3E}">
        <p14:creationId xmlns:p14="http://schemas.microsoft.com/office/powerpoint/2010/main" val="1721959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22295-AF0A-4F06-8DEF-97A700EA1B7D}"/>
              </a:ext>
            </a:extLst>
          </p:cNvPr>
          <p:cNvSpPr>
            <a:spLocks noGrp="1"/>
          </p:cNvSpPr>
          <p:nvPr>
            <p:ph type="title"/>
          </p:nvPr>
        </p:nvSpPr>
        <p:spPr/>
        <p:txBody>
          <a:bodyPr/>
          <a:lstStyle/>
          <a:p>
            <a:r>
              <a:rPr lang="en-US" dirty="0"/>
              <a:t>Analyzing an algorithm</a:t>
            </a:r>
            <a:endParaRPr lang="en-IN" dirty="0"/>
          </a:p>
        </p:txBody>
      </p:sp>
      <p:sp>
        <p:nvSpPr>
          <p:cNvPr id="4" name="TextBox 3">
            <a:extLst>
              <a:ext uri="{FF2B5EF4-FFF2-40B4-BE49-F238E27FC236}">
                <a16:creationId xmlns:a16="http://schemas.microsoft.com/office/drawing/2014/main" id="{FC288433-7939-40F3-923D-1CB3661C7990}"/>
              </a:ext>
            </a:extLst>
          </p:cNvPr>
          <p:cNvSpPr txBox="1"/>
          <p:nvPr/>
        </p:nvSpPr>
        <p:spPr>
          <a:xfrm>
            <a:off x="1113183" y="2319130"/>
            <a:ext cx="8596668" cy="1479251"/>
          </a:xfrm>
          <a:prstGeom prst="rect">
            <a:avLst/>
          </a:prstGeom>
          <a:noFill/>
        </p:spPr>
        <p:txBody>
          <a:bodyPr wrap="square" rtlCol="0">
            <a:spAutoFit/>
          </a:bodyPr>
          <a:lstStyle/>
          <a:p>
            <a:pPr>
              <a:lnSpc>
                <a:spcPct val="150000"/>
              </a:lnSpc>
            </a:pPr>
            <a:r>
              <a:rPr lang="en-US" sz="3200" dirty="0"/>
              <a:t>Analyzing an algorithm implies predicting the resources the algorithm requires.</a:t>
            </a:r>
            <a:endParaRPr lang="en-IN" sz="3200" dirty="0"/>
          </a:p>
        </p:txBody>
      </p:sp>
    </p:spTree>
    <p:extLst>
      <p:ext uri="{BB962C8B-B14F-4D97-AF65-F5344CB8AC3E}">
        <p14:creationId xmlns:p14="http://schemas.microsoft.com/office/powerpoint/2010/main" val="9066227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2E81C-3B9C-413E-9126-296ED91F90CF}"/>
              </a:ext>
            </a:extLst>
          </p:cNvPr>
          <p:cNvSpPr>
            <a:spLocks noGrp="1"/>
          </p:cNvSpPr>
          <p:nvPr>
            <p:ph type="title"/>
          </p:nvPr>
        </p:nvSpPr>
        <p:spPr/>
        <p:txBody>
          <a:bodyPr/>
          <a:lstStyle/>
          <a:p>
            <a:r>
              <a:rPr lang="en-US" dirty="0"/>
              <a:t>Analysis of algorithms</a:t>
            </a:r>
            <a:endParaRPr lang="en-IN" dirty="0"/>
          </a:p>
        </p:txBody>
      </p:sp>
      <p:graphicFrame>
        <p:nvGraphicFramePr>
          <p:cNvPr id="13" name="Content Placeholder 12">
            <a:extLst>
              <a:ext uri="{FF2B5EF4-FFF2-40B4-BE49-F238E27FC236}">
                <a16:creationId xmlns:a16="http://schemas.microsoft.com/office/drawing/2014/main" id="{0C24060E-FF7E-49FB-AA0C-A9EDB995DD1B}"/>
              </a:ext>
            </a:extLst>
          </p:cNvPr>
          <p:cNvGraphicFramePr>
            <a:graphicFrameLocks noGrp="1"/>
          </p:cNvGraphicFramePr>
          <p:nvPr>
            <p:ph idx="1"/>
            <p:extLst>
              <p:ext uri="{D42A27DB-BD31-4B8C-83A1-F6EECF244321}">
                <p14:modId xmlns:p14="http://schemas.microsoft.com/office/powerpoint/2010/main" val="2679239068"/>
              </p:ext>
            </p:extLst>
          </p:nvPr>
        </p:nvGraphicFramePr>
        <p:xfrm>
          <a:off x="677863" y="1493838"/>
          <a:ext cx="8596312"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441293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959AF-BB8F-414D-95EB-15FC9C42627F}"/>
              </a:ext>
            </a:extLst>
          </p:cNvPr>
          <p:cNvSpPr>
            <a:spLocks noGrp="1"/>
          </p:cNvSpPr>
          <p:nvPr>
            <p:ph type="title"/>
          </p:nvPr>
        </p:nvSpPr>
        <p:spPr/>
        <p:txBody>
          <a:bodyPr/>
          <a:lstStyle/>
          <a:p>
            <a:r>
              <a:rPr lang="en-US" dirty="0"/>
              <a:t>Algorithm time efficiency or time complexity</a:t>
            </a:r>
            <a:endParaRPr lang="en-IN" dirty="0"/>
          </a:p>
        </p:txBody>
      </p:sp>
      <p:sp>
        <p:nvSpPr>
          <p:cNvPr id="3" name="TextBox 2">
            <a:extLst>
              <a:ext uri="{FF2B5EF4-FFF2-40B4-BE49-F238E27FC236}">
                <a16:creationId xmlns:a16="http://schemas.microsoft.com/office/drawing/2014/main" id="{F7AE3B22-5229-4A6D-9401-908454FEB52A}"/>
              </a:ext>
            </a:extLst>
          </p:cNvPr>
          <p:cNvSpPr txBox="1"/>
          <p:nvPr/>
        </p:nvSpPr>
        <p:spPr>
          <a:xfrm>
            <a:off x="299001" y="1762952"/>
            <a:ext cx="10515599" cy="3539430"/>
          </a:xfrm>
          <a:prstGeom prst="rect">
            <a:avLst/>
          </a:prstGeom>
          <a:noFill/>
        </p:spPr>
        <p:txBody>
          <a:bodyPr wrap="square" rtlCol="0">
            <a:spAutoFit/>
          </a:bodyPr>
          <a:lstStyle/>
          <a:p>
            <a:r>
              <a:rPr lang="en-US" sz="2800" dirty="0"/>
              <a:t>Running time of an algorithm on a particular input is the number of primitive operations or steps executed. It is done in two steps.</a:t>
            </a:r>
          </a:p>
          <a:p>
            <a:pPr marL="514350" indent="-514350">
              <a:buAutoNum type="arabicPeriod"/>
            </a:pPr>
            <a:r>
              <a:rPr lang="en-US" sz="2800" dirty="0"/>
              <a:t>Identify the basic operation</a:t>
            </a:r>
          </a:p>
          <a:p>
            <a:pPr marL="514350" indent="-514350">
              <a:buAutoNum type="arabicPeriod"/>
            </a:pPr>
            <a:r>
              <a:rPr lang="en-US" sz="2800" dirty="0"/>
              <a:t>Find how many times it is executed</a:t>
            </a:r>
          </a:p>
          <a:p>
            <a:r>
              <a:rPr lang="en-US" sz="2800" b="1" dirty="0"/>
              <a:t>T(n)=C</a:t>
            </a:r>
            <a:r>
              <a:rPr lang="en-US" sz="2800" b="1" baseline="-25000" dirty="0"/>
              <a:t>op </a:t>
            </a:r>
            <a:r>
              <a:rPr lang="en-US" sz="2800" b="1" dirty="0"/>
              <a:t>C(n) </a:t>
            </a:r>
            <a:r>
              <a:rPr lang="en-US" sz="2800" dirty="0"/>
              <a:t>where ‘n’ is the input size</a:t>
            </a:r>
          </a:p>
          <a:p>
            <a:r>
              <a:rPr lang="en-US" sz="2800" b="1" dirty="0"/>
              <a:t>C</a:t>
            </a:r>
            <a:r>
              <a:rPr lang="en-US" sz="2800" b="1" baseline="-25000" dirty="0"/>
              <a:t>op</a:t>
            </a:r>
            <a:r>
              <a:rPr lang="en-US" sz="2800" baseline="-25000" dirty="0"/>
              <a:t> </a:t>
            </a:r>
            <a:r>
              <a:rPr lang="en-US" sz="2800" dirty="0"/>
              <a:t>is the execution time taken by basic operation</a:t>
            </a:r>
          </a:p>
          <a:p>
            <a:r>
              <a:rPr lang="en-US" sz="2800" b="1" dirty="0"/>
              <a:t>C(n)</a:t>
            </a:r>
            <a:r>
              <a:rPr lang="en-US" sz="2800" dirty="0"/>
              <a:t> is the number of times it is executed.</a:t>
            </a:r>
          </a:p>
        </p:txBody>
      </p:sp>
    </p:spTree>
    <p:extLst>
      <p:ext uri="{BB962C8B-B14F-4D97-AF65-F5344CB8AC3E}">
        <p14:creationId xmlns:p14="http://schemas.microsoft.com/office/powerpoint/2010/main" val="606239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67D98-739A-479B-A3D7-FF0D6D1BCE81}"/>
              </a:ext>
            </a:extLst>
          </p:cNvPr>
          <p:cNvSpPr>
            <a:spLocks noGrp="1"/>
          </p:cNvSpPr>
          <p:nvPr>
            <p:ph type="title"/>
          </p:nvPr>
        </p:nvSpPr>
        <p:spPr/>
        <p:txBody>
          <a:bodyPr/>
          <a:lstStyle/>
          <a:p>
            <a:r>
              <a:rPr lang="en-US" dirty="0"/>
              <a:t>Steps involved in algorithm analysis of non-recursive algorithms</a:t>
            </a:r>
            <a:endParaRPr lang="en-IN" dirty="0"/>
          </a:p>
        </p:txBody>
      </p:sp>
      <p:sp>
        <p:nvSpPr>
          <p:cNvPr id="3" name="Content Placeholder 2">
            <a:extLst>
              <a:ext uri="{FF2B5EF4-FFF2-40B4-BE49-F238E27FC236}">
                <a16:creationId xmlns:a16="http://schemas.microsoft.com/office/drawing/2014/main" id="{884781F2-1262-4E84-8D42-1DFE8E0DC7C1}"/>
              </a:ext>
            </a:extLst>
          </p:cNvPr>
          <p:cNvSpPr>
            <a:spLocks noGrp="1"/>
          </p:cNvSpPr>
          <p:nvPr>
            <p:ph idx="1"/>
          </p:nvPr>
        </p:nvSpPr>
        <p:spPr>
          <a:xfrm>
            <a:off x="677334" y="1760539"/>
            <a:ext cx="9247716" cy="3880773"/>
          </a:xfrm>
        </p:spPr>
        <p:txBody>
          <a:bodyPr>
            <a:noAutofit/>
          </a:bodyPr>
          <a:lstStyle/>
          <a:p>
            <a:pPr marL="457200" indent="-457200" algn="just">
              <a:buFont typeface="+mj-lt"/>
              <a:buAutoNum type="arabicPeriod"/>
            </a:pPr>
            <a:r>
              <a:rPr lang="en-US" sz="2400" b="0" i="0" u="none" strike="noStrike" baseline="0" dirty="0">
                <a:latin typeface="Calibri" panose="020F0502020204030204" pitchFamily="34" charset="0"/>
                <a:cs typeface="Calibri" panose="020F0502020204030204" pitchFamily="34" charset="0"/>
              </a:rPr>
              <a:t>Decide on a parameter (or parameters) indicating an input’s size.</a:t>
            </a:r>
            <a:endParaRPr lang="en-US" sz="2400" dirty="0">
              <a:latin typeface="Calibri" panose="020F0502020204030204" pitchFamily="34" charset="0"/>
              <a:cs typeface="Calibri" panose="020F0502020204030204" pitchFamily="34" charset="0"/>
            </a:endParaRPr>
          </a:p>
          <a:p>
            <a:pPr marL="457200" indent="-457200" algn="just">
              <a:buFont typeface="+mj-lt"/>
              <a:buAutoNum type="arabicPeriod"/>
            </a:pPr>
            <a:r>
              <a:rPr lang="en-US" sz="2400" b="0" i="0" u="none" strike="noStrike" baseline="0" dirty="0">
                <a:latin typeface="Calibri" panose="020F0502020204030204" pitchFamily="34" charset="0"/>
                <a:cs typeface="Calibri" panose="020F0502020204030204" pitchFamily="34" charset="0"/>
              </a:rPr>
              <a:t>Identify the algorithm’s basic operation. (As a rule, it is located in the innermost </a:t>
            </a:r>
            <a:r>
              <a:rPr lang="en-IN" sz="2400" b="0" i="0" u="none" strike="noStrike" baseline="0" dirty="0">
                <a:latin typeface="Calibri" panose="020F0502020204030204" pitchFamily="34" charset="0"/>
                <a:cs typeface="Calibri" panose="020F0502020204030204" pitchFamily="34" charset="0"/>
              </a:rPr>
              <a:t>loop.)</a:t>
            </a:r>
          </a:p>
          <a:p>
            <a:pPr marL="457200" indent="-457200" algn="just">
              <a:buFont typeface="+mj-lt"/>
              <a:buAutoNum type="arabicPeriod"/>
            </a:pPr>
            <a:r>
              <a:rPr lang="en-US" sz="2400" b="0" i="0" u="none" strike="noStrike" baseline="0" dirty="0">
                <a:latin typeface="Calibri" panose="020F0502020204030204" pitchFamily="34" charset="0"/>
                <a:cs typeface="Calibri" panose="020F0502020204030204" pitchFamily="34" charset="0"/>
              </a:rPr>
              <a:t>Check whether the number of times the basic operation is executed depends only on the size of an input. If it also depends on some additional property, the worst-case, average-case, and, if necessary, best-case efficiencies have to </a:t>
            </a:r>
            <a:r>
              <a:rPr lang="en-IN" sz="2400" b="0" i="0" u="none" strike="noStrike" baseline="0" dirty="0">
                <a:latin typeface="Calibri" panose="020F0502020204030204" pitchFamily="34" charset="0"/>
                <a:cs typeface="Calibri" panose="020F0502020204030204" pitchFamily="34" charset="0"/>
              </a:rPr>
              <a:t>be investigated separately.</a:t>
            </a:r>
          </a:p>
          <a:p>
            <a:pPr marL="457200" indent="-457200" algn="just">
              <a:buFont typeface="+mj-lt"/>
              <a:buAutoNum type="arabicPeriod"/>
            </a:pPr>
            <a:r>
              <a:rPr lang="en-US" sz="2400" b="0" i="0" u="none" strike="noStrike" baseline="0" dirty="0">
                <a:latin typeface="Calibri" panose="020F0502020204030204" pitchFamily="34" charset="0"/>
                <a:cs typeface="Calibri" panose="020F0502020204030204" pitchFamily="34" charset="0"/>
              </a:rPr>
              <a:t>Set up a sum expressing the number of times the algorithm’s basic operation </a:t>
            </a:r>
            <a:r>
              <a:rPr lang="en-IN" sz="2400" b="0" i="0" u="none" strike="noStrike" baseline="0" dirty="0">
                <a:latin typeface="Calibri" panose="020F0502020204030204" pitchFamily="34" charset="0"/>
                <a:cs typeface="Calibri" panose="020F0502020204030204" pitchFamily="34" charset="0"/>
              </a:rPr>
              <a:t>is executed.</a:t>
            </a:r>
          </a:p>
          <a:p>
            <a:pPr marL="457200" indent="-457200" algn="just">
              <a:buFont typeface="+mj-lt"/>
              <a:buAutoNum type="arabicPeriod"/>
            </a:pPr>
            <a:r>
              <a:rPr lang="en-US" sz="2400" b="0" i="0" u="none" strike="noStrike" baseline="0" dirty="0">
                <a:latin typeface="Calibri" panose="020F0502020204030204" pitchFamily="34" charset="0"/>
                <a:cs typeface="Calibri" panose="020F0502020204030204" pitchFamily="34" charset="0"/>
              </a:rPr>
              <a:t>Using standard formulas and rules of sum manipulation, either find a closed form formula for the count or, at the very least</a:t>
            </a:r>
            <a:r>
              <a:rPr lang="en-US" sz="2000" b="0" i="0" u="none" strike="noStrike" baseline="0" dirty="0">
                <a:latin typeface="Calibri" panose="020F0502020204030204" pitchFamily="34" charset="0"/>
                <a:cs typeface="Calibri" panose="020F0502020204030204" pitchFamily="34" charset="0"/>
              </a:rPr>
              <a:t>, establish its order of growth.</a:t>
            </a:r>
            <a:endParaRPr lang="en-IN"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2980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BF3C-E9CA-405D-8464-F9F4615D46EB}"/>
              </a:ext>
            </a:extLst>
          </p:cNvPr>
          <p:cNvSpPr>
            <a:spLocks noGrp="1"/>
          </p:cNvSpPr>
          <p:nvPr>
            <p:ph type="title"/>
          </p:nvPr>
        </p:nvSpPr>
        <p:spPr>
          <a:xfrm>
            <a:off x="-123825" y="5952"/>
            <a:ext cx="10515600" cy="1325563"/>
          </a:xfrm>
        </p:spPr>
        <p:txBody>
          <a:bodyPr/>
          <a:lstStyle/>
          <a:p>
            <a:pPr algn="ctr"/>
            <a:r>
              <a:rPr lang="en-US" b="1" dirty="0"/>
              <a:t>Analysis of non recursive algorithms – </a:t>
            </a:r>
            <a:br>
              <a:rPr lang="en-US" b="1" dirty="0"/>
            </a:br>
            <a:r>
              <a:rPr lang="en-US" b="1" dirty="0"/>
              <a:t>Finding Runtime complexity (T(n))</a:t>
            </a:r>
            <a:endParaRPr lang="en-IN" b="1" dirty="0"/>
          </a:p>
        </p:txBody>
      </p:sp>
      <p:sp>
        <p:nvSpPr>
          <p:cNvPr id="3" name="Content Placeholder 2">
            <a:extLst>
              <a:ext uri="{FF2B5EF4-FFF2-40B4-BE49-F238E27FC236}">
                <a16:creationId xmlns:a16="http://schemas.microsoft.com/office/drawing/2014/main" id="{A44062D5-3E1C-446F-9C99-7D52E5440828}"/>
              </a:ext>
            </a:extLst>
          </p:cNvPr>
          <p:cNvSpPr>
            <a:spLocks noGrp="1"/>
          </p:cNvSpPr>
          <p:nvPr>
            <p:ph sz="half" idx="1"/>
          </p:nvPr>
        </p:nvSpPr>
        <p:spPr>
          <a:xfrm>
            <a:off x="752475" y="1426765"/>
            <a:ext cx="4184035" cy="3880772"/>
          </a:xfrm>
        </p:spPr>
        <p:txBody>
          <a:bodyPr>
            <a:noAutofit/>
          </a:bodyPr>
          <a:lstStyle/>
          <a:p>
            <a:pPr marL="0" indent="0">
              <a:buNone/>
            </a:pPr>
            <a:r>
              <a:rPr lang="en-US" sz="2400" dirty="0"/>
              <a:t>for (</a:t>
            </a:r>
            <a:r>
              <a:rPr lang="en-US" sz="2400" dirty="0" err="1"/>
              <a:t>i</a:t>
            </a:r>
            <a:r>
              <a:rPr lang="en-US" sz="2400" dirty="0"/>
              <a:t>=0;i&lt;</a:t>
            </a:r>
            <a:r>
              <a:rPr lang="en-US" sz="2400" dirty="0" err="1"/>
              <a:t>n;i</a:t>
            </a:r>
            <a:r>
              <a:rPr lang="en-US" sz="2400" dirty="0"/>
              <a:t>++)</a:t>
            </a:r>
          </a:p>
          <a:p>
            <a:pPr marL="0" indent="0">
              <a:buNone/>
            </a:pPr>
            <a:r>
              <a:rPr lang="en-US" sz="2400" dirty="0"/>
              <a:t>	sum=</a:t>
            </a:r>
            <a:r>
              <a:rPr lang="en-US" sz="2400" dirty="0" err="1"/>
              <a:t>sum+i</a:t>
            </a:r>
            <a:r>
              <a:rPr lang="en-US" sz="2400" dirty="0"/>
              <a:t>;</a:t>
            </a:r>
          </a:p>
          <a:p>
            <a:pPr marL="0" indent="0">
              <a:buNone/>
            </a:pPr>
            <a:endParaRPr lang="en-US" sz="2400" dirty="0"/>
          </a:p>
          <a:p>
            <a:pPr marL="0" indent="0">
              <a:buNone/>
            </a:pPr>
            <a:r>
              <a:rPr lang="en-US" sz="2400" dirty="0" err="1"/>
              <a:t>i</a:t>
            </a:r>
            <a:r>
              <a:rPr lang="en-US" sz="2400" dirty="0"/>
              <a:t>=0; is executed once</a:t>
            </a:r>
          </a:p>
          <a:p>
            <a:pPr marL="0" indent="0">
              <a:buNone/>
            </a:pPr>
            <a:r>
              <a:rPr lang="en-US" sz="2400" dirty="0" err="1"/>
              <a:t>i</a:t>
            </a:r>
            <a:r>
              <a:rPr lang="en-US" sz="2400" dirty="0"/>
              <a:t>&lt;n; is executed (n+1) times</a:t>
            </a:r>
          </a:p>
          <a:p>
            <a:pPr marL="0" indent="0">
              <a:buNone/>
            </a:pPr>
            <a:r>
              <a:rPr lang="en-US" sz="2400" dirty="0" err="1"/>
              <a:t>i</a:t>
            </a:r>
            <a:r>
              <a:rPr lang="en-US" sz="2400" dirty="0"/>
              <a:t>++ ; is executed n times</a:t>
            </a:r>
          </a:p>
          <a:p>
            <a:pPr marL="0" indent="0">
              <a:buNone/>
            </a:pPr>
            <a:r>
              <a:rPr lang="en-US" sz="2400" dirty="0"/>
              <a:t>Sum=</a:t>
            </a:r>
            <a:r>
              <a:rPr lang="en-US" sz="2400" dirty="0" err="1"/>
              <a:t>sum+i</a:t>
            </a:r>
            <a:r>
              <a:rPr lang="en-US" sz="2400" dirty="0"/>
              <a:t>; is executed n times</a:t>
            </a:r>
          </a:p>
          <a:p>
            <a:pPr marL="0" indent="0">
              <a:buNone/>
            </a:pPr>
            <a:r>
              <a:rPr lang="en-US" sz="2400" b="1" dirty="0"/>
              <a:t>T(n)= 1+(n+1)+</a:t>
            </a:r>
            <a:r>
              <a:rPr lang="en-US" sz="2400" b="1" dirty="0" err="1"/>
              <a:t>n+n</a:t>
            </a:r>
            <a:r>
              <a:rPr lang="en-US" sz="2400" b="1" dirty="0"/>
              <a:t>=3n+2</a:t>
            </a:r>
            <a:endParaRPr lang="en-IN" sz="2400" b="1" dirty="0"/>
          </a:p>
        </p:txBody>
      </p:sp>
      <p:sp>
        <p:nvSpPr>
          <p:cNvPr id="4" name="Content Placeholder 3">
            <a:extLst>
              <a:ext uri="{FF2B5EF4-FFF2-40B4-BE49-F238E27FC236}">
                <a16:creationId xmlns:a16="http://schemas.microsoft.com/office/drawing/2014/main" id="{BB9636AA-DABD-4594-AA9A-879EF77DCC57}"/>
              </a:ext>
            </a:extLst>
          </p:cNvPr>
          <p:cNvSpPr>
            <a:spLocks noGrp="1"/>
          </p:cNvSpPr>
          <p:nvPr>
            <p:ph sz="half" idx="2"/>
          </p:nvPr>
        </p:nvSpPr>
        <p:spPr>
          <a:xfrm>
            <a:off x="5695950" y="1331515"/>
            <a:ext cx="5743575" cy="5567104"/>
          </a:xfrm>
        </p:spPr>
        <p:txBody>
          <a:bodyPr>
            <a:normAutofit/>
          </a:bodyPr>
          <a:lstStyle/>
          <a:p>
            <a:pPr marL="0" indent="0">
              <a:buNone/>
            </a:pPr>
            <a:r>
              <a:rPr lang="en-US" sz="2400" dirty="0"/>
              <a:t>for (</a:t>
            </a:r>
            <a:r>
              <a:rPr lang="en-US" sz="2400" dirty="0" err="1"/>
              <a:t>i</a:t>
            </a:r>
            <a:r>
              <a:rPr lang="en-US" sz="2400" dirty="0"/>
              <a:t>=0;i&lt;</a:t>
            </a:r>
            <a:r>
              <a:rPr lang="en-US" sz="2400" dirty="0" err="1"/>
              <a:t>n;i</a:t>
            </a:r>
            <a:r>
              <a:rPr lang="en-US" sz="2400" dirty="0"/>
              <a:t>++)</a:t>
            </a:r>
          </a:p>
          <a:p>
            <a:pPr marL="0" indent="0">
              <a:buNone/>
            </a:pPr>
            <a:r>
              <a:rPr lang="en-US" sz="2400" dirty="0"/>
              <a:t>	for(j=0;j&lt;</a:t>
            </a:r>
            <a:r>
              <a:rPr lang="en-US" sz="2400" dirty="0" err="1"/>
              <a:t>n;j</a:t>
            </a:r>
            <a:r>
              <a:rPr lang="en-US" sz="2400" dirty="0"/>
              <a:t>++)</a:t>
            </a:r>
          </a:p>
          <a:p>
            <a:pPr marL="0" indent="0">
              <a:buNone/>
            </a:pPr>
            <a:r>
              <a:rPr lang="en-US" sz="2400" dirty="0"/>
              <a:t>		sum=</a:t>
            </a:r>
            <a:r>
              <a:rPr lang="en-US" sz="2400" dirty="0" err="1"/>
              <a:t>sum+i</a:t>
            </a:r>
            <a:r>
              <a:rPr lang="en-US" sz="2400" dirty="0"/>
              <a:t>;</a:t>
            </a:r>
          </a:p>
          <a:p>
            <a:pPr marL="0" indent="0">
              <a:buNone/>
            </a:pPr>
            <a:r>
              <a:rPr lang="en-US" sz="2400" dirty="0"/>
              <a:t>i=0; is executed once</a:t>
            </a:r>
          </a:p>
          <a:p>
            <a:pPr marL="0" indent="0">
              <a:buNone/>
            </a:pPr>
            <a:r>
              <a:rPr lang="en-US" sz="2400" dirty="0"/>
              <a:t>i&lt;n; is executed (n+1) times</a:t>
            </a:r>
          </a:p>
          <a:p>
            <a:pPr marL="0" indent="0">
              <a:buNone/>
            </a:pPr>
            <a:r>
              <a:rPr lang="en-US" sz="2400" dirty="0"/>
              <a:t>i++ ; is executed n times</a:t>
            </a:r>
          </a:p>
          <a:p>
            <a:pPr marL="0" indent="0">
              <a:buNone/>
            </a:pPr>
            <a:r>
              <a:rPr lang="en-US" sz="2400" dirty="0"/>
              <a:t>j=0; is executed n*1 times</a:t>
            </a:r>
          </a:p>
          <a:p>
            <a:pPr marL="0" indent="0">
              <a:buNone/>
            </a:pPr>
            <a:r>
              <a:rPr lang="en-US" sz="2400" dirty="0"/>
              <a:t>j&lt;n; is executed n*(n+1) times</a:t>
            </a:r>
          </a:p>
          <a:p>
            <a:pPr marL="0" indent="0">
              <a:buNone/>
            </a:pPr>
            <a:r>
              <a:rPr lang="en-US" sz="2400" dirty="0" err="1"/>
              <a:t>j++</a:t>
            </a:r>
            <a:r>
              <a:rPr lang="en-US" sz="2400" dirty="0"/>
              <a:t> ; is executed n*n times</a:t>
            </a:r>
          </a:p>
          <a:p>
            <a:pPr marL="0" indent="0">
              <a:buNone/>
            </a:pPr>
            <a:r>
              <a:rPr lang="en-US" sz="2400" dirty="0"/>
              <a:t>Sum=</a:t>
            </a:r>
            <a:r>
              <a:rPr lang="en-US" sz="2400" dirty="0" err="1"/>
              <a:t>sum+i</a:t>
            </a:r>
            <a:r>
              <a:rPr lang="en-US" sz="2400" dirty="0"/>
              <a:t>; is executed n*n times</a:t>
            </a:r>
          </a:p>
          <a:p>
            <a:pPr marL="0" indent="0">
              <a:buNone/>
            </a:pPr>
            <a:r>
              <a:rPr lang="en-US" sz="2400" dirty="0"/>
              <a:t>T(n)=1+(n+1)+</a:t>
            </a:r>
            <a:r>
              <a:rPr lang="en-US" sz="2400" dirty="0" err="1"/>
              <a:t>n+n+n</a:t>
            </a:r>
            <a:r>
              <a:rPr lang="en-US" sz="2400" dirty="0"/>
              <a:t>(n+1)+n</a:t>
            </a:r>
            <a:r>
              <a:rPr lang="en-US" sz="2400" baseline="30000" dirty="0"/>
              <a:t>2</a:t>
            </a:r>
            <a:r>
              <a:rPr lang="en-US" sz="2400" dirty="0"/>
              <a:t>+n</a:t>
            </a:r>
            <a:r>
              <a:rPr lang="en-US" sz="2400" baseline="30000" dirty="0"/>
              <a:t>2</a:t>
            </a:r>
          </a:p>
          <a:p>
            <a:pPr marL="0" indent="0">
              <a:buNone/>
            </a:pPr>
            <a:r>
              <a:rPr lang="en-US" sz="2400" b="1" dirty="0"/>
              <a:t>T(n)=3 n</a:t>
            </a:r>
            <a:r>
              <a:rPr lang="en-US" sz="2400" b="1" baseline="30000" dirty="0"/>
              <a:t>2</a:t>
            </a:r>
            <a:r>
              <a:rPr lang="en-US" sz="2400" b="1" dirty="0"/>
              <a:t>+4n+2</a:t>
            </a:r>
            <a:endParaRPr lang="en-US" dirty="0"/>
          </a:p>
          <a:p>
            <a:endParaRPr lang="en-IN" dirty="0"/>
          </a:p>
          <a:p>
            <a:endParaRPr lang="en-IN" dirty="0"/>
          </a:p>
        </p:txBody>
      </p:sp>
    </p:spTree>
    <p:extLst>
      <p:ext uri="{BB962C8B-B14F-4D97-AF65-F5344CB8AC3E}">
        <p14:creationId xmlns:p14="http://schemas.microsoft.com/office/powerpoint/2010/main" val="41166653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84111-2427-458E-AB56-40EDD6EC95D9}"/>
              </a:ext>
            </a:extLst>
          </p:cNvPr>
          <p:cNvSpPr>
            <a:spLocks noGrp="1"/>
          </p:cNvSpPr>
          <p:nvPr>
            <p:ph type="title"/>
          </p:nvPr>
        </p:nvSpPr>
        <p:spPr>
          <a:xfrm>
            <a:off x="677336" y="0"/>
            <a:ext cx="8596668" cy="1320800"/>
          </a:xfrm>
        </p:spPr>
        <p:txBody>
          <a:bodyPr/>
          <a:lstStyle/>
          <a:p>
            <a:r>
              <a:rPr lang="en-US" dirty="0"/>
              <a:t>Element uniqueness problem –Non recursive algorithm</a:t>
            </a:r>
            <a:endParaRPr lang="en-IN" dirty="0"/>
          </a:p>
        </p:txBody>
      </p:sp>
      <p:sp>
        <p:nvSpPr>
          <p:cNvPr id="8" name="Content Placeholder 3">
            <a:extLst>
              <a:ext uri="{FF2B5EF4-FFF2-40B4-BE49-F238E27FC236}">
                <a16:creationId xmlns:a16="http://schemas.microsoft.com/office/drawing/2014/main" id="{2C39112A-5CE7-4A0D-9FE1-98F9E5C3AC83}"/>
              </a:ext>
            </a:extLst>
          </p:cNvPr>
          <p:cNvSpPr>
            <a:spLocks noGrp="1"/>
          </p:cNvSpPr>
          <p:nvPr>
            <p:ph sz="half" idx="1"/>
          </p:nvPr>
        </p:nvSpPr>
        <p:spPr>
          <a:xfrm>
            <a:off x="677334" y="1320800"/>
            <a:ext cx="4183062" cy="5299075"/>
          </a:xfrm>
        </p:spPr>
        <p:txBody>
          <a:bodyPr>
            <a:normAutofit fontScale="85000" lnSpcReduction="20000"/>
          </a:bodyPr>
          <a:lstStyle/>
          <a:p>
            <a:pPr marL="0" indent="0">
              <a:buNone/>
            </a:pPr>
            <a:r>
              <a:rPr lang="en-US" sz="2300" dirty="0"/>
              <a:t>Algorithm </a:t>
            </a:r>
            <a:r>
              <a:rPr lang="en-US" sz="2300" dirty="0" err="1"/>
              <a:t>findUnique</a:t>
            </a:r>
            <a:r>
              <a:rPr lang="en-US" sz="2300" dirty="0"/>
              <a:t>(int a[0---n-1])</a:t>
            </a:r>
          </a:p>
          <a:p>
            <a:pPr marL="0" indent="0">
              <a:buNone/>
            </a:pPr>
            <a:r>
              <a:rPr lang="en-US" sz="2300" b="1" dirty="0"/>
              <a:t>Input: </a:t>
            </a:r>
            <a:r>
              <a:rPr lang="en-US" sz="2300" dirty="0"/>
              <a:t>an array of n elements in a[0--n-1]</a:t>
            </a:r>
          </a:p>
          <a:p>
            <a:pPr marL="0" indent="0">
              <a:buNone/>
            </a:pPr>
            <a:r>
              <a:rPr lang="en-US" sz="2300" dirty="0"/>
              <a:t>Output: The program returns true if all array elements are distinct, otherwise it returns false</a:t>
            </a:r>
          </a:p>
          <a:p>
            <a:pPr marL="0" indent="0">
              <a:buNone/>
            </a:pPr>
            <a:r>
              <a:rPr lang="en-US" sz="2300" dirty="0"/>
              <a:t>for(</a:t>
            </a:r>
            <a:r>
              <a:rPr lang="en-US" sz="2300" dirty="0" err="1"/>
              <a:t>i</a:t>
            </a:r>
            <a:r>
              <a:rPr lang="en-US" sz="2300" dirty="0"/>
              <a:t>=0;i&lt;=n-2;i++)</a:t>
            </a:r>
          </a:p>
          <a:p>
            <a:pPr marL="0" indent="0">
              <a:buNone/>
            </a:pPr>
            <a:r>
              <a:rPr lang="en-US" sz="2300" dirty="0"/>
              <a:t>{</a:t>
            </a:r>
          </a:p>
          <a:p>
            <a:pPr marL="0" indent="0">
              <a:buNone/>
            </a:pPr>
            <a:r>
              <a:rPr lang="en-US" sz="2300" dirty="0"/>
              <a:t>	for(j=i+1;j&lt;=n-1;j++)</a:t>
            </a:r>
          </a:p>
          <a:p>
            <a:pPr marL="0" indent="0">
              <a:buNone/>
            </a:pPr>
            <a:r>
              <a:rPr lang="en-US" sz="2300" dirty="0"/>
              <a:t>	{</a:t>
            </a:r>
          </a:p>
          <a:p>
            <a:pPr marL="0" indent="0">
              <a:buNone/>
            </a:pPr>
            <a:r>
              <a:rPr lang="en-US" sz="2300" dirty="0"/>
              <a:t>	if (a[</a:t>
            </a:r>
            <a:r>
              <a:rPr lang="en-US" sz="2300" dirty="0" err="1"/>
              <a:t>i</a:t>
            </a:r>
            <a:r>
              <a:rPr lang="en-US" sz="2300" dirty="0"/>
              <a:t>]==a[j])</a:t>
            </a:r>
          </a:p>
          <a:p>
            <a:pPr marL="0" indent="0">
              <a:buNone/>
            </a:pPr>
            <a:r>
              <a:rPr lang="en-US" sz="2300" dirty="0"/>
              <a:t>		return false;</a:t>
            </a:r>
          </a:p>
          <a:p>
            <a:pPr marL="0" indent="0">
              <a:buNone/>
            </a:pPr>
            <a:r>
              <a:rPr lang="en-US" sz="2300" dirty="0"/>
              <a:t>	}</a:t>
            </a:r>
          </a:p>
          <a:p>
            <a:pPr marL="0" indent="0">
              <a:buNone/>
            </a:pPr>
            <a:r>
              <a:rPr lang="en-US" sz="2300" dirty="0"/>
              <a:t>}</a:t>
            </a:r>
          </a:p>
          <a:p>
            <a:pPr marL="0" indent="0">
              <a:buNone/>
            </a:pPr>
            <a:r>
              <a:rPr lang="en-US" sz="2300" dirty="0"/>
              <a:t>return true;</a:t>
            </a:r>
          </a:p>
          <a:p>
            <a:pPr marL="0" indent="0">
              <a:buNone/>
            </a:pPr>
            <a:r>
              <a:rPr lang="en-US" sz="2300" dirty="0"/>
              <a:t>}</a:t>
            </a:r>
          </a:p>
          <a:p>
            <a:endParaRPr lang="en-IN" dirty="0"/>
          </a:p>
        </p:txBody>
      </p:sp>
    </p:spTree>
    <p:extLst>
      <p:ext uri="{BB962C8B-B14F-4D97-AF65-F5344CB8AC3E}">
        <p14:creationId xmlns:p14="http://schemas.microsoft.com/office/powerpoint/2010/main" val="40523461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2607</Words>
  <Application>Microsoft Macintosh PowerPoint</Application>
  <PresentationFormat>Widescreen</PresentationFormat>
  <Paragraphs>322</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Calibri Light</vt:lpstr>
      <vt:lpstr>Office Theme</vt:lpstr>
      <vt:lpstr>Module -1 (Overview of algorithms)  </vt:lpstr>
      <vt:lpstr>Problem solving</vt:lpstr>
      <vt:lpstr>What are problem solving tools?</vt:lpstr>
      <vt:lpstr>Algorithm</vt:lpstr>
      <vt:lpstr>Algorithm -contd</vt:lpstr>
      <vt:lpstr>Types of algorithms</vt:lpstr>
      <vt:lpstr>Euclid’s algorithm for finding GCD of 2 numbers (non recursive or iterative)</vt:lpstr>
      <vt:lpstr>Recursive algorithm</vt:lpstr>
      <vt:lpstr>Euclid’s algorithm for finding GCD of 2 numbers (recursive)</vt:lpstr>
      <vt:lpstr>Stages of algorithm development for solving a problem: </vt:lpstr>
      <vt:lpstr>Understanding the problem:  </vt:lpstr>
      <vt:lpstr>Ascertaining the capabilities of computational device  </vt:lpstr>
      <vt:lpstr>Choosing between exact and  approximate problem solving</vt:lpstr>
      <vt:lpstr>Identifying a suitable technique:</vt:lpstr>
      <vt:lpstr>Algorithm design techniques</vt:lpstr>
      <vt:lpstr>Brute force </vt:lpstr>
      <vt:lpstr>Divide and conquer </vt:lpstr>
      <vt:lpstr>Decrease and conquer</vt:lpstr>
      <vt:lpstr>Dynamic programming</vt:lpstr>
      <vt:lpstr>Greedy</vt:lpstr>
      <vt:lpstr>Backtracking </vt:lpstr>
      <vt:lpstr>Branch and bound</vt:lpstr>
      <vt:lpstr>Branch and bound -Contd</vt:lpstr>
      <vt:lpstr>Design of an algorithm:</vt:lpstr>
      <vt:lpstr>Proof of Correctness of the algorithm: </vt:lpstr>
      <vt:lpstr>Example for checking correctness of an algorithm</vt:lpstr>
      <vt:lpstr>Example for checking correctness of an algorithm- contd</vt:lpstr>
      <vt:lpstr>Algm Correctness Proof –By Contradiction</vt:lpstr>
      <vt:lpstr>Loop invariance –Correctness proof</vt:lpstr>
      <vt:lpstr>Loop invariance proof –Max algm</vt:lpstr>
      <vt:lpstr>Loop invariant proof for max</vt:lpstr>
      <vt:lpstr>Loop invariant proofs</vt:lpstr>
      <vt:lpstr>Analyzing an algorithm</vt:lpstr>
      <vt:lpstr>Analysis of algorithms</vt:lpstr>
      <vt:lpstr>Algorithm time efficiency or time complexity</vt:lpstr>
      <vt:lpstr>Steps involved in algorithm analysis of non-recursive algorithms</vt:lpstr>
      <vt:lpstr>Analysis of non recursive algorithms –  Finding Runtime complexity (T(n))</vt:lpstr>
      <vt:lpstr>Element uniqueness problem –Non recursive 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analysis of algorithms (CSE 2012)  Module -1 (Algorithm development)</dc:title>
  <dc:creator>S.Jenicka</dc:creator>
  <cp:lastModifiedBy>Apoorva Karnwal</cp:lastModifiedBy>
  <cp:revision>6</cp:revision>
  <dcterms:created xsi:type="dcterms:W3CDTF">2021-08-06T12:53:12Z</dcterms:created>
  <dcterms:modified xsi:type="dcterms:W3CDTF">2024-01-30T09:05:42Z</dcterms:modified>
</cp:coreProperties>
</file>