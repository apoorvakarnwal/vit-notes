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76" r:id="rId3"/>
    <p:sldId id="277" r:id="rId4"/>
    <p:sldId id="280" r:id="rId5"/>
    <p:sldId id="278" r:id="rId6"/>
    <p:sldId id="281" r:id="rId7"/>
    <p:sldId id="282" r:id="rId8"/>
    <p:sldId id="283" r:id="rId9"/>
    <p:sldId id="257" r:id="rId10"/>
    <p:sldId id="270" r:id="rId11"/>
    <p:sldId id="260" r:id="rId12"/>
    <p:sldId id="258" r:id="rId13"/>
    <p:sldId id="262" r:id="rId14"/>
    <p:sldId id="263" r:id="rId15"/>
    <p:sldId id="273" r:id="rId16"/>
    <p:sldId id="274" r:id="rId17"/>
    <p:sldId id="275" r:id="rId18"/>
    <p:sldId id="267" r:id="rId19"/>
    <p:sldId id="265" r:id="rId20"/>
    <p:sldId id="272" r:id="rId21"/>
    <p:sldId id="266" r:id="rId22"/>
    <p:sldId id="268" r:id="rId23"/>
    <p:sldId id="269" r:id="rId24"/>
    <p:sldId id="271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019D3-C6CB-413D-8D83-F0EC32931633}" type="datetimeFigureOut">
              <a:rPr lang="en-US" smtClean="0"/>
              <a:pPr/>
              <a:t>9/27/2022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C42C1-ECA7-4A5C-9FB7-A622B47E58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4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D8FCCD-F9C3-4F79-A249-DAC47E2C34E2}" type="slidenum">
              <a:rPr lang="ar-SA"/>
              <a:pPr/>
              <a:t>10</a:t>
            </a:fld>
            <a:endParaRPr lang="en-US"/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72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4D6E1F-B9C4-4333-8C11-14EE62AC5F8F}" type="datetimeFigureOut">
              <a:rPr lang="en-US" smtClean="0"/>
              <a:pPr/>
              <a:t>9/27/2022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FADAF2-58BD-426D-85E6-33201B0F26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4D6E1F-B9C4-4333-8C11-14EE62AC5F8F}" type="datetimeFigureOut">
              <a:rPr lang="en-US" smtClean="0"/>
              <a:pPr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FADAF2-58BD-426D-85E6-33201B0F26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4D6E1F-B9C4-4333-8C11-14EE62AC5F8F}" type="datetimeFigureOut">
              <a:rPr lang="en-US" smtClean="0"/>
              <a:pPr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FADAF2-58BD-426D-85E6-33201B0F26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4D6E1F-B9C4-4333-8C11-14EE62AC5F8F}" type="datetimeFigureOut">
              <a:rPr lang="en-US" smtClean="0"/>
              <a:pPr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FADAF2-58BD-426D-85E6-33201B0F26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4D6E1F-B9C4-4333-8C11-14EE62AC5F8F}" type="datetimeFigureOut">
              <a:rPr lang="en-US" smtClean="0"/>
              <a:pPr/>
              <a:t>9/27/2022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FADAF2-58BD-426D-85E6-33201B0F26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4D6E1F-B9C4-4333-8C11-14EE62AC5F8F}" type="datetimeFigureOut">
              <a:rPr lang="en-US" smtClean="0"/>
              <a:pPr/>
              <a:t>9/27/2022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FADAF2-58BD-426D-85E6-33201B0F26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4D6E1F-B9C4-4333-8C11-14EE62AC5F8F}" type="datetimeFigureOut">
              <a:rPr lang="en-US" smtClean="0"/>
              <a:pPr/>
              <a:t>9/27/2022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FADAF2-58BD-426D-85E6-33201B0F26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4D6E1F-B9C4-4333-8C11-14EE62AC5F8F}" type="datetimeFigureOut">
              <a:rPr lang="en-US" smtClean="0"/>
              <a:pPr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FADAF2-58BD-426D-85E6-33201B0F26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AC4D6E1F-B9C4-4333-8C11-14EE62AC5F8F}" type="datetimeFigureOut">
              <a:rPr lang="en-US" smtClean="0"/>
              <a:pPr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D9FADAF2-58BD-426D-85E6-33201B0F26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4D6E1F-B9C4-4333-8C11-14EE62AC5F8F}" type="datetimeFigureOut">
              <a:rPr lang="en-US" smtClean="0"/>
              <a:pPr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FADAF2-58BD-426D-85E6-33201B0F26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C4D6E1F-B9C4-4333-8C11-14EE62AC5F8F}" type="datetimeFigureOut">
              <a:rPr lang="en-US" smtClean="0"/>
              <a:pPr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FADAF2-58BD-426D-85E6-33201B0F26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AC4D6E1F-B9C4-4333-8C11-14EE62AC5F8F}" type="datetimeFigureOut">
              <a:rPr lang="en-US" smtClean="0"/>
              <a:pPr/>
              <a:t>9/27/2022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D9FADAF2-58BD-426D-85E6-33201B0F266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travelling-salesman-problem-set-1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i="1" dirty="0" smtClean="0">
                <a:solidFill>
                  <a:srgbClr val="FFFF00"/>
                </a:solidFill>
              </a:rPr>
              <a:t>Approximation Algorithm</a:t>
            </a:r>
            <a:endParaRPr lang="en-US" sz="4400" i="1" dirty="0">
              <a:solidFill>
                <a:srgbClr val="FF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i="1" dirty="0"/>
              <a:t>Travelling salesman problem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686800" cy="6126960"/>
          </a:xfrm>
        </p:spPr>
        <p:txBody>
          <a:bodyPr>
            <a:normAutofit fontScale="92500" lnSpcReduction="20000"/>
          </a:bodyPr>
          <a:lstStyle/>
          <a:p>
            <a:pPr marL="68580" indent="0" algn="just" fontAlgn="base">
              <a:buNone/>
            </a:pPr>
            <a:r>
              <a:rPr lang="en-US" u="sng" dirty="0" smtClean="0">
                <a:hlinkClick r:id="rId2"/>
              </a:rPr>
              <a:t>Travelling </a:t>
            </a:r>
            <a:r>
              <a:rPr lang="en-US" u="sng" dirty="0">
                <a:hlinkClick r:id="rId2"/>
              </a:rPr>
              <a:t>Salesman Problem</a:t>
            </a:r>
            <a:r>
              <a:rPr lang="en-US" dirty="0"/>
              <a:t> </a:t>
            </a:r>
            <a:r>
              <a:rPr lang="en-US" dirty="0" smtClean="0"/>
              <a:t>solved  using Naive approach and </a:t>
            </a:r>
            <a:r>
              <a:rPr lang="en-US" dirty="0"/>
              <a:t>Dynamic Programming </a:t>
            </a:r>
            <a:endParaRPr lang="en-US" dirty="0" smtClean="0"/>
          </a:p>
          <a:p>
            <a:pPr algn="just" fontAlgn="base"/>
            <a:r>
              <a:rPr lang="en-US" dirty="0" smtClean="0"/>
              <a:t>Both </a:t>
            </a:r>
            <a:r>
              <a:rPr lang="en-US" dirty="0"/>
              <a:t>of the solutions are infeasible. In fact, there is no polynomial time solution available for this problem as the problem is a known NP-Hard problem. </a:t>
            </a:r>
            <a:endParaRPr lang="en-US" dirty="0" smtClean="0"/>
          </a:p>
          <a:p>
            <a:pPr algn="just" fontAlgn="base"/>
            <a:r>
              <a:rPr lang="en-US" dirty="0" smtClean="0"/>
              <a:t>There </a:t>
            </a:r>
            <a:r>
              <a:rPr lang="en-US" dirty="0"/>
              <a:t>are approximate algorithms to solve the problem though. </a:t>
            </a:r>
            <a:endParaRPr lang="en-US" dirty="0" smtClean="0"/>
          </a:p>
          <a:p>
            <a:pPr algn="just" fontAlgn="base"/>
            <a:r>
              <a:rPr lang="en-US" dirty="0" smtClean="0">
                <a:solidFill>
                  <a:srgbClr val="FFC000"/>
                </a:solidFill>
              </a:rPr>
              <a:t>The </a:t>
            </a:r>
            <a:r>
              <a:rPr lang="en-US" dirty="0">
                <a:solidFill>
                  <a:srgbClr val="FFC000"/>
                </a:solidFill>
              </a:rPr>
              <a:t>approximate algorithms work only if the problem instance satisfies Triangle-Inequality. </a:t>
            </a:r>
          </a:p>
          <a:p>
            <a:pPr marL="68580" indent="0" algn="just" fontAlgn="base">
              <a:buNone/>
            </a:pPr>
            <a:r>
              <a:rPr lang="en-US" b="1" i="1" dirty="0">
                <a:solidFill>
                  <a:srgbClr val="FFC000"/>
                </a:solidFill>
              </a:rPr>
              <a:t>Triangle-Inequality: </a:t>
            </a:r>
            <a:endParaRPr lang="en-US" b="1" i="1" dirty="0" smtClean="0">
              <a:solidFill>
                <a:srgbClr val="FFC000"/>
              </a:solidFill>
            </a:endParaRPr>
          </a:p>
          <a:p>
            <a:pPr algn="just" fontAlgn="base"/>
            <a:r>
              <a:rPr lang="en-US" dirty="0" smtClean="0"/>
              <a:t>The </a:t>
            </a:r>
            <a:r>
              <a:rPr lang="en-US" dirty="0"/>
              <a:t>least distant path to reach a vertex j from </a:t>
            </a:r>
            <a:r>
              <a:rPr lang="en-US" dirty="0" err="1"/>
              <a:t>i</a:t>
            </a:r>
            <a:r>
              <a:rPr lang="en-US" dirty="0"/>
              <a:t> is always to reach j directly from </a:t>
            </a:r>
            <a:r>
              <a:rPr lang="en-US" dirty="0" err="1"/>
              <a:t>i</a:t>
            </a:r>
            <a:r>
              <a:rPr lang="en-US" dirty="0"/>
              <a:t>, rather than through some other vertex k (or vertices</a:t>
            </a:r>
            <a:r>
              <a:rPr lang="en-US" dirty="0" smtClean="0"/>
              <a:t>),</a:t>
            </a:r>
          </a:p>
          <a:p>
            <a:pPr marL="68580" indent="0" algn="just" fontAlgn="base">
              <a:buNone/>
            </a:pPr>
            <a:r>
              <a:rPr lang="en-US" dirty="0" smtClean="0"/>
              <a:t> </a:t>
            </a:r>
            <a:r>
              <a:rPr lang="en-US" dirty="0"/>
              <a:t>i.e., </a:t>
            </a:r>
            <a:r>
              <a:rPr lang="en-US" b="1" dirty="0">
                <a:solidFill>
                  <a:srgbClr val="FFC000"/>
                </a:solidFill>
              </a:rPr>
              <a:t>dis(</a:t>
            </a:r>
            <a:r>
              <a:rPr lang="en-US" b="1" dirty="0" err="1">
                <a:solidFill>
                  <a:srgbClr val="FFC000"/>
                </a:solidFill>
              </a:rPr>
              <a:t>i</a:t>
            </a:r>
            <a:r>
              <a:rPr lang="en-US" b="1" dirty="0">
                <a:solidFill>
                  <a:srgbClr val="FFC000"/>
                </a:solidFill>
              </a:rPr>
              <a:t>, j) is always less than or equal to dis(</a:t>
            </a:r>
            <a:r>
              <a:rPr lang="en-US" b="1" dirty="0" err="1">
                <a:solidFill>
                  <a:srgbClr val="FFC000"/>
                </a:solidFill>
              </a:rPr>
              <a:t>i</a:t>
            </a:r>
            <a:r>
              <a:rPr lang="en-US" b="1" dirty="0">
                <a:solidFill>
                  <a:srgbClr val="FFC000"/>
                </a:solidFill>
              </a:rPr>
              <a:t>, k) + </a:t>
            </a:r>
            <a:r>
              <a:rPr lang="en-US" b="1" dirty="0" err="1">
                <a:solidFill>
                  <a:srgbClr val="FFC000"/>
                </a:solidFill>
              </a:rPr>
              <a:t>dist</a:t>
            </a:r>
            <a:r>
              <a:rPr lang="en-US" b="1" dirty="0">
                <a:solidFill>
                  <a:srgbClr val="FFC000"/>
                </a:solidFill>
              </a:rPr>
              <a:t>(k, </a:t>
            </a:r>
            <a:r>
              <a:rPr lang="en-US" dirty="0"/>
              <a:t>j). The Triangle-Inequality holds in many practical situations. </a:t>
            </a:r>
          </a:p>
        </p:txBody>
      </p:sp>
    </p:spTree>
    <p:extLst>
      <p:ext uri="{BB962C8B-B14F-4D97-AF65-F5344CB8AC3E}">
        <p14:creationId xmlns:p14="http://schemas.microsoft.com/office/powerpoint/2010/main" val="1361843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0"/>
            <a:ext cx="8763000" cy="6858000"/>
          </a:xfrm>
        </p:spPr>
        <p:txBody>
          <a:bodyPr/>
          <a:lstStyle/>
          <a:p>
            <a:pPr algn="just"/>
            <a:r>
              <a:rPr lang="en-US" dirty="0"/>
              <a:t>When the cost function satisfies the triangle inequality, we can design an approximate algorithm for TSP that returns a tour whose cost is never more than twice the cost of an optimal tour.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idea is to use </a:t>
            </a:r>
            <a:r>
              <a:rPr lang="en-US" b="1" dirty="0"/>
              <a:t>M</a:t>
            </a:r>
            <a:r>
              <a:rPr lang="en-US" dirty="0"/>
              <a:t>inimum </a:t>
            </a:r>
            <a:r>
              <a:rPr lang="en-US" b="1" dirty="0"/>
              <a:t>S</a:t>
            </a:r>
            <a:r>
              <a:rPr lang="en-US" dirty="0"/>
              <a:t>panning </a:t>
            </a:r>
            <a:r>
              <a:rPr lang="en-US" b="1" dirty="0"/>
              <a:t>T</a:t>
            </a:r>
            <a:r>
              <a:rPr lang="en-US" dirty="0"/>
              <a:t>ree (MST). Following is the MST based </a:t>
            </a:r>
            <a:r>
              <a:rPr lang="en-US" dirty="0" smtClean="0"/>
              <a:t>algorithm.</a:t>
            </a:r>
            <a:r>
              <a:rPr lang="en-US" dirty="0"/>
              <a:t> </a:t>
            </a:r>
            <a:endParaRPr lang="en-US" dirty="0" smtClean="0"/>
          </a:p>
          <a:p>
            <a:pPr marL="68580" indent="0" algn="just">
              <a:buNone/>
            </a:pPr>
            <a:r>
              <a:rPr lang="en-US" b="1" dirty="0">
                <a:solidFill>
                  <a:srgbClr val="FFC000"/>
                </a:solidFill>
              </a:rPr>
              <a:t>Algorithm:</a:t>
            </a:r>
            <a:r>
              <a:rPr lang="en-US" dirty="0">
                <a:solidFill>
                  <a:srgbClr val="FFC000"/>
                </a:solidFill>
              </a:rPr>
              <a:t> </a:t>
            </a:r>
            <a:endParaRPr lang="en-US" dirty="0" smtClean="0">
              <a:solidFill>
                <a:srgbClr val="FFC000"/>
              </a:solidFill>
            </a:endParaRPr>
          </a:p>
          <a:p>
            <a:pPr algn="just" fontAlgn="base"/>
            <a:r>
              <a:rPr lang="en-US" dirty="0"/>
              <a:t>Let </a:t>
            </a:r>
            <a:r>
              <a:rPr lang="en-US" b="1" i="1" dirty="0">
                <a:solidFill>
                  <a:srgbClr val="FFC000"/>
                </a:solidFill>
              </a:rPr>
              <a:t>1</a:t>
            </a:r>
            <a:r>
              <a:rPr lang="en-US" dirty="0"/>
              <a:t> be the starting and ending point for salesman. </a:t>
            </a:r>
          </a:p>
          <a:p>
            <a:pPr algn="just" fontAlgn="base"/>
            <a:r>
              <a:rPr lang="en-US" dirty="0"/>
              <a:t>Construct MST from with 1 as root using </a:t>
            </a:r>
            <a:r>
              <a:rPr lang="en-US" u="sng" dirty="0"/>
              <a:t>Prim’s Algorithm</a:t>
            </a:r>
            <a:r>
              <a:rPr lang="en-US" dirty="0"/>
              <a:t>.</a:t>
            </a:r>
          </a:p>
          <a:p>
            <a:pPr algn="just" fontAlgn="base"/>
            <a:r>
              <a:rPr lang="en-US" dirty="0"/>
              <a:t>List vertices visited in preorder walk of the constructed MST and add </a:t>
            </a:r>
            <a:r>
              <a:rPr lang="en-US" b="1" i="1" dirty="0">
                <a:solidFill>
                  <a:srgbClr val="FFC000"/>
                </a:solidFill>
              </a:rPr>
              <a:t>1</a:t>
            </a:r>
            <a:r>
              <a:rPr lang="en-US" dirty="0"/>
              <a:t> at the end.</a:t>
            </a:r>
          </a:p>
          <a:p>
            <a:pPr marL="68580" indent="0" algn="just">
              <a:buNone/>
            </a:pP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088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153400" cy="1197864"/>
          </a:xfrm>
        </p:spPr>
        <p:txBody>
          <a:bodyPr/>
          <a:lstStyle/>
          <a:p>
            <a:r>
              <a:rPr lang="en-US" dirty="0"/>
              <a:t>What is a Minimum Spanning Tree?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153400" cy="506016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minimum spanning tree is a special kind of tree that minimizes the lengths (or “weights”) of the edges of the tree. An example is a cable company wanting to lay line to multiple neighborhoods; by minimizing the amount of cable laid, the cable company will save money.</a:t>
            </a:r>
          </a:p>
          <a:p>
            <a:pPr algn="just"/>
            <a:r>
              <a:rPr lang="en-US" dirty="0"/>
              <a:t>A </a:t>
            </a:r>
            <a:r>
              <a:rPr lang="en-US" b="1" dirty="0"/>
              <a:t>tree </a:t>
            </a:r>
            <a:r>
              <a:rPr lang="en-US" dirty="0"/>
              <a:t>has one path joins any two vertices. A </a:t>
            </a:r>
            <a:r>
              <a:rPr lang="en-US" b="1" dirty="0"/>
              <a:t>spanning tree </a:t>
            </a:r>
            <a:r>
              <a:rPr lang="en-US" dirty="0"/>
              <a:t>of a graph is a tree that</a:t>
            </a:r>
            <a:r>
              <a:rPr lang="en-US" dirty="0" smtClean="0"/>
              <a:t>:</a:t>
            </a:r>
          </a:p>
          <a:p>
            <a:pPr marL="68580" indent="0" algn="just">
              <a:buNone/>
            </a:pPr>
            <a:r>
              <a:rPr lang="en-US" dirty="0" smtClean="0"/>
              <a:t>            -Contains </a:t>
            </a:r>
            <a:r>
              <a:rPr lang="en-US" dirty="0"/>
              <a:t>all the original graph’s vertices.</a:t>
            </a:r>
          </a:p>
          <a:p>
            <a:pPr marL="68580" indent="0" algn="just">
              <a:buNone/>
            </a:pPr>
            <a:r>
              <a:rPr lang="en-US" dirty="0" smtClean="0"/>
              <a:t>          -  Reaches </a:t>
            </a:r>
            <a:r>
              <a:rPr lang="en-US" dirty="0"/>
              <a:t>out to (spans) all vertices.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75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686800" cy="6781800"/>
          </a:xfrm>
        </p:spPr>
        <p:txBody>
          <a:bodyPr/>
          <a:lstStyle/>
          <a:p>
            <a:r>
              <a:rPr lang="en-US" dirty="0"/>
              <a:t>Let us consider the following example. </a:t>
            </a:r>
            <a:r>
              <a:rPr lang="en-US" dirty="0">
                <a:solidFill>
                  <a:srgbClr val="FFC000"/>
                </a:solidFill>
              </a:rPr>
              <a:t>The first diagram is the given graph. The second diagram shows MST constructed with </a:t>
            </a:r>
            <a:r>
              <a:rPr lang="en-US" dirty="0"/>
              <a:t>1 as root. The preorder traversal of MST is 1-2-4-3. Adding 1 at the end gives 1-2-4-3-1 which is the output of this algorithm.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48" y="2834043"/>
            <a:ext cx="4101152" cy="39477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34043"/>
            <a:ext cx="4419600" cy="394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79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610600" cy="6858000"/>
          </a:xfrm>
        </p:spPr>
        <p:txBody>
          <a:bodyPr/>
          <a:lstStyle/>
          <a:p>
            <a:pPr fontAlgn="base"/>
            <a:r>
              <a:rPr lang="en-US" dirty="0"/>
              <a:t>In this case, the </a:t>
            </a:r>
            <a:r>
              <a:rPr lang="en-US" dirty="0">
                <a:solidFill>
                  <a:srgbClr val="FFC000"/>
                </a:solidFill>
              </a:rPr>
              <a:t>approximate algorithm produces the optimal tour, but it may not produce optimal tour in all cases. </a:t>
            </a:r>
          </a:p>
          <a:p>
            <a:pPr marL="68580" indent="0" fontAlgn="base">
              <a:buNone/>
            </a:pPr>
            <a:r>
              <a:rPr lang="en-US" b="1" i="1" dirty="0">
                <a:solidFill>
                  <a:srgbClr val="FFC000"/>
                </a:solidFill>
              </a:rPr>
              <a:t>How is this algorithm 2-approximate? </a:t>
            </a:r>
          </a:p>
          <a:p>
            <a:pPr fontAlgn="base"/>
            <a:r>
              <a:rPr lang="en-US" dirty="0"/>
              <a:t>The cost of the output produced by the above algorithm is </a:t>
            </a:r>
            <a:r>
              <a:rPr lang="en-US" dirty="0">
                <a:solidFill>
                  <a:srgbClr val="FFC000"/>
                </a:solidFill>
              </a:rPr>
              <a:t>never more than twice the cost of best possible output</a:t>
            </a:r>
            <a:r>
              <a:rPr lang="en-US" dirty="0"/>
              <a:t>. Let us see how is this guaranteed by the above algorithm. </a:t>
            </a:r>
          </a:p>
          <a:p>
            <a:pPr fontAlgn="base"/>
            <a:r>
              <a:rPr lang="en-US" dirty="0"/>
              <a:t>Let us define </a:t>
            </a:r>
            <a:r>
              <a:rPr lang="en-US" dirty="0">
                <a:solidFill>
                  <a:srgbClr val="FFC000"/>
                </a:solidFill>
              </a:rPr>
              <a:t>a term </a:t>
            </a:r>
            <a:r>
              <a:rPr lang="en-US" b="1" i="1" dirty="0">
                <a:solidFill>
                  <a:srgbClr val="FFC000"/>
                </a:solidFill>
              </a:rPr>
              <a:t>full walk</a:t>
            </a:r>
            <a:r>
              <a:rPr lang="en-US" dirty="0"/>
              <a:t> to understand this. A full walk is lists all vertices when they are first visited in preorder, it also </a:t>
            </a:r>
            <a:r>
              <a:rPr lang="en-US" dirty="0" smtClean="0"/>
              <a:t>visit </a:t>
            </a:r>
            <a:r>
              <a:rPr lang="en-US" dirty="0"/>
              <a:t>vertices when they are </a:t>
            </a:r>
            <a:r>
              <a:rPr lang="en-US" dirty="0" smtClean="0"/>
              <a:t>returning  </a:t>
            </a:r>
            <a:r>
              <a:rPr lang="en-US" dirty="0"/>
              <a:t>after a subtree is visited in preorder. The full walk of above tree would be 1-2-1-4-1-3-1.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826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"/>
            <a:ext cx="8686800" cy="6781800"/>
          </a:xfrm>
        </p:spPr>
        <p:txBody>
          <a:bodyPr>
            <a:normAutofit fontScale="92500" lnSpcReduction="10000"/>
          </a:bodyPr>
          <a:lstStyle/>
          <a:p>
            <a:pPr marL="68580" indent="0" fontAlgn="base">
              <a:buNone/>
            </a:pPr>
            <a:r>
              <a:rPr lang="en-US" dirty="0">
                <a:solidFill>
                  <a:srgbClr val="FFC000"/>
                </a:solidFill>
              </a:rPr>
              <a:t>Following are some important facts that prove the 2-approximateness</a:t>
            </a:r>
            <a:r>
              <a:rPr lang="en-US" dirty="0"/>
              <a:t>. </a:t>
            </a:r>
          </a:p>
          <a:p>
            <a:pPr fontAlgn="base"/>
            <a:r>
              <a:rPr lang="en-US" dirty="0"/>
              <a:t>The cost of best possible Travelling Salesman tour is never less than the cost of MST. (The definition of </a:t>
            </a:r>
            <a:r>
              <a:rPr lang="en-US" u="sng" dirty="0"/>
              <a:t>MST </a:t>
            </a:r>
            <a:r>
              <a:rPr lang="en-US" dirty="0"/>
              <a:t>says, it is a minimum cost tree that connects all vertices). </a:t>
            </a:r>
          </a:p>
          <a:p>
            <a:pPr fontAlgn="base"/>
            <a:r>
              <a:rPr lang="en-US" dirty="0"/>
              <a:t>The total cost of full walk is at most twice the cost of MST (Every edge of MST is visited at-most twice) </a:t>
            </a:r>
          </a:p>
          <a:p>
            <a:pPr fontAlgn="base"/>
            <a:r>
              <a:rPr lang="en-US" dirty="0"/>
              <a:t>The output of the above algorithm is less than the cost of full walk. </a:t>
            </a:r>
            <a:endParaRPr lang="en-US" dirty="0" smtClean="0"/>
          </a:p>
          <a:p>
            <a:pPr fontAlgn="base"/>
            <a:r>
              <a:rPr lang="en-US" dirty="0" smtClean="0"/>
              <a:t>In </a:t>
            </a:r>
            <a:r>
              <a:rPr lang="en-US" dirty="0"/>
              <a:t>above algorithm, we print preorder walk as output. In preorder walk, two or more edges of full walk are replaced with a single edge. For example, 2-1 and 1-4 are replaced by 1 edge 2-4. So if the graph follows triangle inequality, then this is always true.</a:t>
            </a:r>
          </a:p>
        </p:txBody>
      </p:sp>
    </p:spTree>
    <p:extLst>
      <p:ext uri="{BB962C8B-B14F-4D97-AF65-F5344CB8AC3E}">
        <p14:creationId xmlns:p14="http://schemas.microsoft.com/office/powerpoint/2010/main" val="815265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0"/>
            <a:ext cx="8763000" cy="6858000"/>
          </a:xfrm>
        </p:spPr>
        <p:txBody>
          <a:bodyPr/>
          <a:lstStyle/>
          <a:p>
            <a:pPr fontAlgn="base"/>
            <a:r>
              <a:rPr lang="en-US" dirty="0"/>
              <a:t>From the above three statements, we can conclude that the cost of output produced by the approximate algorithm is never more than twice the cost of best possible solution. </a:t>
            </a:r>
          </a:p>
          <a:p>
            <a:pPr fontAlgn="base"/>
            <a:r>
              <a:rPr lang="en-US" dirty="0"/>
              <a:t>We have discussed a very simple 2-approximate algorithm for the travelling salesman problem. There are other better approximate algorithms for the problem. For example </a:t>
            </a:r>
            <a:r>
              <a:rPr lang="en-US" u="sng" dirty="0" smtClean="0"/>
              <a:t>Christof ides </a:t>
            </a:r>
            <a:r>
              <a:rPr lang="en-US" u="sng" dirty="0"/>
              <a:t>algorithm</a:t>
            </a:r>
            <a:r>
              <a:rPr lang="en-US" dirty="0"/>
              <a:t> is </a:t>
            </a:r>
            <a:r>
              <a:rPr lang="en-US" dirty="0">
                <a:solidFill>
                  <a:srgbClr val="FFC000"/>
                </a:solidFill>
              </a:rPr>
              <a:t>1.5 approximate algorithm.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718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Travelling Salesman Problem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82000" cy="5029200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dirty="0" smtClean="0"/>
                  <a:t>Definition :</a:t>
                </a:r>
              </a:p>
              <a:p>
                <a:r>
                  <a:rPr lang="en-US" dirty="0" smtClean="0"/>
                  <a:t>Given a complete undirected graph  G=(V,E) that has a </a:t>
                </a:r>
                <a:r>
                  <a:rPr lang="en-US" b="1" i="1" dirty="0" smtClean="0">
                    <a:solidFill>
                      <a:srgbClr val="FFC000"/>
                    </a:solidFill>
                  </a:rPr>
                  <a:t>non negative integer cost </a:t>
                </a:r>
                <a:r>
                  <a:rPr lang="en-US" dirty="0" smtClean="0">
                    <a:solidFill>
                      <a:srgbClr val="FFC000"/>
                    </a:solidFill>
                  </a:rPr>
                  <a:t>c(</a:t>
                </a:r>
                <a:r>
                  <a:rPr lang="en-US" dirty="0" err="1" smtClean="0">
                    <a:solidFill>
                      <a:srgbClr val="FFC000"/>
                    </a:solidFill>
                  </a:rPr>
                  <a:t>u,v</a:t>
                </a:r>
                <a:r>
                  <a:rPr lang="en-US" dirty="0" smtClean="0">
                    <a:solidFill>
                      <a:srgbClr val="FFC000"/>
                    </a:solidFill>
                  </a:rPr>
                  <a:t>)associated with each edge (</a:t>
                </a:r>
                <a:r>
                  <a:rPr lang="en-US" dirty="0" err="1" smtClean="0">
                    <a:solidFill>
                      <a:srgbClr val="FFC000"/>
                    </a:solidFill>
                  </a:rPr>
                  <a:t>u,v</a:t>
                </a:r>
                <a:r>
                  <a:rPr lang="en-US" dirty="0" smtClean="0">
                    <a:solidFill>
                      <a:srgbClr val="FFC000"/>
                    </a:solidFill>
                  </a:rPr>
                  <a:t>) </a:t>
                </a:r>
                <a:r>
                  <a:rPr lang="el-GR" dirty="0" smtClean="0">
                    <a:solidFill>
                      <a:srgbClr val="FFC000"/>
                    </a:solidFill>
                  </a:rPr>
                  <a:t>ϵ</a:t>
                </a:r>
                <a:r>
                  <a:rPr lang="en-US" dirty="0" smtClean="0">
                    <a:solidFill>
                      <a:srgbClr val="FFC000"/>
                    </a:solidFill>
                  </a:rPr>
                  <a:t> E</a:t>
                </a:r>
                <a:r>
                  <a:rPr lang="en-US" dirty="0" smtClean="0"/>
                  <a:t>, and we must  find a Hamiltonian  cycle (a tour) of G with minimum cost.</a:t>
                </a:r>
              </a:p>
              <a:p>
                <a:r>
                  <a:rPr lang="en-US" dirty="0" smtClean="0"/>
                  <a:t>Let </a:t>
                </a:r>
                <a:r>
                  <a:rPr lang="en-US" b="1" i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c(A) denotes the total cost of the edges</a:t>
                </a:r>
                <a:r>
                  <a:rPr lang="en-US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in the subset A of E.(A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/>
                        <a:ea typeface="Cambria Math"/>
                      </a:rPr>
                      <m:t>⊆</m:t>
                    </m:r>
                  </m:oMath>
                </a14:m>
                <a:r>
                  <a:rPr lang="en-US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E)</a:t>
                </a:r>
              </a:p>
              <a:p>
                <a:pPr>
                  <a:buNone/>
                </a:pPr>
                <a:r>
                  <a:rPr lang="en-US" dirty="0" err="1" smtClean="0"/>
                  <a:t>i.e</a:t>
                </a:r>
                <a:r>
                  <a:rPr lang="en-US" dirty="0" smtClean="0"/>
                  <a:t>, </a:t>
                </a:r>
                <a:r>
                  <a:rPr lang="en-US" b="1" i="1" dirty="0" smtClean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c(A) =  </a:t>
                </a:r>
                <a:r>
                  <a:rPr lang="el-GR" b="1" i="1" dirty="0" smtClean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Σ</a:t>
                </a:r>
                <a:r>
                  <a:rPr lang="en-US" b="1" i="1" dirty="0" smtClean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 c(</a:t>
                </a:r>
                <a:r>
                  <a:rPr lang="en-US" b="1" i="1" dirty="0" err="1" smtClean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u,v</a:t>
                </a:r>
                <a:r>
                  <a:rPr lang="en-US" b="1" i="1" dirty="0" smtClean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),  for (</a:t>
                </a:r>
                <a:r>
                  <a:rPr lang="en-US" b="1" i="1" dirty="0" err="1" smtClean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u,v</a:t>
                </a:r>
                <a:r>
                  <a:rPr lang="en-US" b="1" i="1" dirty="0" smtClean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)</a:t>
                </a:r>
                <a:r>
                  <a:rPr lang="el-GR" b="1" i="1" dirty="0" smtClean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 ϵ</a:t>
                </a:r>
                <a:r>
                  <a:rPr lang="en-US" b="1" i="1" dirty="0" smtClean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 A</a:t>
                </a:r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82000" cy="5029200"/>
              </a:xfrm>
              <a:blipFill rotWithShape="0">
                <a:blip r:embed="rId2"/>
                <a:stretch>
                  <a:fillRect l="-873" t="-1455" r="-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229600" cy="620713"/>
          </a:xfrm>
        </p:spPr>
        <p:txBody>
          <a:bodyPr/>
          <a:lstStyle/>
          <a:p>
            <a:pPr rtl="0"/>
            <a:r>
              <a:rPr lang="en-US" sz="3000">
                <a:solidFill>
                  <a:srgbClr val="FF0000"/>
                </a:solidFill>
              </a:rPr>
              <a:t>What is a Minimum Spanning Tree?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692150"/>
            <a:ext cx="8496300" cy="5976938"/>
          </a:xfrm>
        </p:spPr>
        <p:txBody>
          <a:bodyPr>
            <a:normAutofit/>
          </a:bodyPr>
          <a:lstStyle/>
          <a:p>
            <a:pPr algn="l" rtl="0"/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Let G = (V, E) be a simple, connected, undirected graph that is not edge-weighted.</a:t>
            </a:r>
          </a:p>
          <a:p>
            <a:pPr algn="l" rtl="0"/>
            <a:r>
              <a:rPr lang="en-US" sz="2400" b="1" dirty="0" smtClean="0">
                <a:solidFill>
                  <a:srgbClr val="FFFF00"/>
                </a:solidFill>
              </a:rPr>
              <a:t>A </a:t>
            </a:r>
            <a:r>
              <a:rPr lang="en-US" sz="2400" b="1" dirty="0">
                <a:solidFill>
                  <a:srgbClr val="FFFF00"/>
                </a:solidFill>
              </a:rPr>
              <a:t>spanning tree of G is a free tree (i.e., a tree with no root) </a:t>
            </a:r>
            <a:r>
              <a:rPr lang="en-US" sz="2400" b="1" u="sng" dirty="0">
                <a:solidFill>
                  <a:srgbClr val="FFFF00"/>
                </a:solidFill>
              </a:rPr>
              <a:t>with | V | </a:t>
            </a:r>
            <a:r>
              <a:rPr lang="en-US" sz="2400" b="1" u="sng" dirty="0" smtClean="0">
                <a:solidFill>
                  <a:srgbClr val="FFFF00"/>
                </a:solidFill>
              </a:rPr>
              <a:t>-1  </a:t>
            </a:r>
            <a:r>
              <a:rPr lang="en-US" sz="2400" b="1" dirty="0">
                <a:solidFill>
                  <a:srgbClr val="FFFF00"/>
                </a:solidFill>
              </a:rPr>
              <a:t>edges that connects all the vertices of the graph</a:t>
            </a:r>
            <a:r>
              <a:rPr lang="en-US" sz="2400" b="1" dirty="0" smtClean="0">
                <a:solidFill>
                  <a:srgbClr val="FFFF00"/>
                </a:solidFill>
              </a:rPr>
              <a:t>.</a:t>
            </a:r>
            <a:endParaRPr lang="en-US" sz="2400" b="1" dirty="0">
              <a:solidFill>
                <a:srgbClr val="FFFF00"/>
              </a:solidFill>
            </a:endParaRPr>
          </a:p>
          <a:p>
            <a:pPr algn="l" rtl="0"/>
            <a:r>
              <a:rPr lang="en-US" sz="2000" b="1" dirty="0" smtClean="0">
                <a:solidFill>
                  <a:schemeClr val="tx1">
                    <a:lumMod val="95000"/>
                  </a:schemeClr>
                </a:solidFill>
              </a:rPr>
              <a:t>Thus </a:t>
            </a:r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a minimum spanning tree T = (V’, E’) for G is a </a:t>
            </a:r>
            <a:r>
              <a:rPr lang="en-US" sz="2000" b="1" dirty="0" err="1">
                <a:solidFill>
                  <a:schemeClr val="tx1">
                    <a:lumMod val="95000"/>
                  </a:schemeClr>
                </a:solidFill>
              </a:rPr>
              <a:t>subgraph</a:t>
            </a:r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 of G with the following properties:</a:t>
            </a:r>
          </a:p>
          <a:p>
            <a:pPr lvl="1" algn="l" rtl="0"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V’ = V</a:t>
            </a:r>
          </a:p>
          <a:p>
            <a:pPr lvl="1" algn="l" rtl="0"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T is connected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T is acyclic   ( </a:t>
            </a:r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sym typeface="Wingdings" pitchFamily="2" charset="2"/>
              </a:rPr>
              <a:t> |E’| = |V| - 1</a:t>
            </a:r>
            <a:r>
              <a:rPr lang="en-US" sz="2000" b="1" dirty="0" smtClean="0">
                <a:solidFill>
                  <a:schemeClr val="tx1">
                    <a:lumMod val="95000"/>
                  </a:schemeClr>
                </a:solidFill>
                <a:sym typeface="Wingdings" pitchFamily="2" charset="2"/>
              </a:rPr>
              <a:t>)  {</a:t>
            </a:r>
            <a:r>
              <a:rPr lang="en-US" sz="2000" dirty="0"/>
              <a:t>An </a:t>
            </a:r>
            <a:r>
              <a:rPr lang="en-US" sz="2000" b="1" dirty="0"/>
              <a:t>acyclic graph</a:t>
            </a:r>
            <a:r>
              <a:rPr lang="en-US" sz="2000" dirty="0"/>
              <a:t> is a graph having no graph cycles. </a:t>
            </a:r>
            <a:r>
              <a:rPr lang="en-US" sz="2000" dirty="0" smtClean="0"/>
              <a:t> </a:t>
            </a:r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 connected acyclic graph is known as a tree</a:t>
            </a:r>
            <a:r>
              <a:rPr lang="en-US" sz="2000" dirty="0"/>
              <a:t>, and </a:t>
            </a:r>
            <a:r>
              <a:rPr lang="en-US" sz="2000" dirty="0" smtClean="0"/>
              <a:t> </a:t>
            </a:r>
            <a:r>
              <a:rPr lang="en-US" sz="2000" dirty="0"/>
              <a:t>possibly disconnected </a:t>
            </a:r>
            <a:r>
              <a:rPr lang="en-US" sz="2000" dirty="0" smtClean="0"/>
              <a:t>}</a:t>
            </a:r>
            <a:endParaRPr lang="en-US" sz="2000" b="1" dirty="0">
              <a:solidFill>
                <a:schemeClr val="tx1">
                  <a:lumMod val="95000"/>
                </a:schemeClr>
              </a:solidFill>
            </a:endParaRPr>
          </a:p>
          <a:p>
            <a:pPr algn="l" rtl="0"/>
            <a:r>
              <a:rPr lang="en-US" sz="2400" b="1" dirty="0" smtClean="0">
                <a:solidFill>
                  <a:srgbClr val="FFFF00"/>
                </a:solidFill>
              </a:rPr>
              <a:t>A </a:t>
            </a:r>
            <a:r>
              <a:rPr lang="en-US" sz="2400" b="1" dirty="0">
                <a:solidFill>
                  <a:srgbClr val="FFFF00"/>
                </a:solidFill>
              </a:rPr>
              <a:t>spanning tree is called </a:t>
            </a:r>
            <a:r>
              <a:rPr lang="en-US" sz="2400" b="1" i="1" dirty="0">
                <a:solidFill>
                  <a:srgbClr val="FFFF00"/>
                </a:solidFill>
              </a:rPr>
              <a:t>a </a:t>
            </a:r>
            <a:r>
              <a:rPr lang="en-US" sz="2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tree because every acyclic undirected graph can be viewed as a general, </a:t>
            </a:r>
            <a:r>
              <a:rPr lang="en-US" sz="2400" b="1" i="1" dirty="0">
                <a:solidFill>
                  <a:srgbClr val="FFC000"/>
                </a:solidFill>
              </a:rPr>
              <a:t>unordered tree</a:t>
            </a:r>
            <a:r>
              <a:rPr lang="en-US" sz="2400" b="1" i="1" dirty="0">
                <a:solidFill>
                  <a:srgbClr val="FFFF00"/>
                </a:solidFill>
              </a:rPr>
              <a:t>.</a:t>
            </a:r>
            <a:r>
              <a:rPr lang="en-US" sz="2400" b="1" dirty="0">
                <a:solidFill>
                  <a:srgbClr val="FFFF00"/>
                </a:solidFill>
              </a:rPr>
              <a:t> </a:t>
            </a:r>
            <a:endParaRPr lang="en-US" sz="2400" b="1" dirty="0" smtClean="0">
              <a:solidFill>
                <a:srgbClr val="FFFF00"/>
              </a:solidFill>
            </a:endParaRPr>
          </a:p>
          <a:p>
            <a:pPr marL="68580" indent="0" algn="l" rtl="0">
              <a:buNone/>
            </a:pPr>
            <a:r>
              <a:rPr lang="en-US" sz="2400" b="1" dirty="0">
                <a:solidFill>
                  <a:srgbClr val="FFFF00"/>
                </a:solidFill>
              </a:rPr>
              <a:t> </a:t>
            </a:r>
            <a:r>
              <a:rPr lang="en-US" sz="2400" b="1" dirty="0" smtClean="0">
                <a:solidFill>
                  <a:srgbClr val="FFFF00"/>
                </a:solidFill>
              </a:rPr>
              <a:t>          Because </a:t>
            </a:r>
            <a:r>
              <a:rPr lang="en-US" sz="2400" b="1" dirty="0">
                <a:solidFill>
                  <a:srgbClr val="FFFF00"/>
                </a:solidFill>
              </a:rPr>
              <a:t>the </a:t>
            </a:r>
            <a:r>
              <a:rPr lang="en-US" sz="2400" b="1" u="sng" dirty="0">
                <a:solidFill>
                  <a:srgbClr val="FFFF00"/>
                </a:solidFill>
              </a:rPr>
              <a:t>e</a:t>
            </a:r>
            <a:r>
              <a:rPr lang="en-US" sz="2400" b="1" i="1" u="sng" dirty="0">
                <a:solidFill>
                  <a:srgbClr val="FFFF00"/>
                </a:solidFill>
              </a:rPr>
              <a:t>dges are undirected</a:t>
            </a:r>
            <a:r>
              <a:rPr lang="en-US" sz="2400" b="1" dirty="0">
                <a:solidFill>
                  <a:srgbClr val="FFFF00"/>
                </a:solidFill>
              </a:rPr>
              <a:t>, </a:t>
            </a:r>
            <a:r>
              <a:rPr lang="en-US" sz="2400" b="1" i="1" u="sng" dirty="0">
                <a:solidFill>
                  <a:srgbClr val="FFFF00"/>
                </a:solidFill>
              </a:rPr>
              <a:t>any vertex may be chosen to serve </a:t>
            </a:r>
            <a:r>
              <a:rPr lang="en-US" sz="2400" b="1" u="sng" dirty="0">
                <a:solidFill>
                  <a:srgbClr val="FFFF00"/>
                </a:solidFill>
              </a:rPr>
              <a:t>as the root </a:t>
            </a:r>
            <a:r>
              <a:rPr lang="en-US" sz="2400" b="1" dirty="0">
                <a:solidFill>
                  <a:srgbClr val="FFFF00"/>
                </a:solidFill>
              </a:rPr>
              <a:t>of the tree.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dirty="0" smtClean="0"/>
              <a:t>TSP</a:t>
            </a:r>
          </a:p>
        </p:txBody>
      </p:sp>
      <p:sp>
        <p:nvSpPr>
          <p:cNvPr id="34820" name="Rectangle 1027"/>
          <p:cNvSpPr>
            <a:spLocks noGrp="1" noChangeArrowheads="1"/>
          </p:cNvSpPr>
          <p:nvPr>
            <p:ph idx="1"/>
          </p:nvPr>
        </p:nvSpPr>
        <p:spPr>
          <a:xfrm>
            <a:off x="571500" y="1201388"/>
            <a:ext cx="8001000" cy="1981200"/>
          </a:xfrm>
        </p:spPr>
        <p:txBody>
          <a:bodyPr/>
          <a:lstStyle/>
          <a:p>
            <a:r>
              <a:rPr lang="en-US" altLang="he-IL" sz="2800" dirty="0" smtClean="0">
                <a:solidFill>
                  <a:schemeClr val="hlink"/>
                </a:solidFill>
              </a:rPr>
              <a:t>Instance:</a:t>
            </a:r>
            <a:r>
              <a:rPr lang="en-US" altLang="he-IL" sz="2800" dirty="0" smtClean="0"/>
              <a:t> a complete weighted undirected graph </a:t>
            </a:r>
            <a:r>
              <a:rPr lang="en-US" altLang="he-IL" sz="2800" dirty="0" smtClean="0">
                <a:solidFill>
                  <a:schemeClr val="accent1"/>
                </a:solidFill>
              </a:rPr>
              <a:t>G=(V,E)</a:t>
            </a:r>
            <a:r>
              <a:rPr lang="en-US" altLang="he-IL" sz="2800" dirty="0" smtClean="0"/>
              <a:t> (all weights are non-negative).</a:t>
            </a:r>
          </a:p>
          <a:p>
            <a:r>
              <a:rPr lang="en-US" altLang="he-IL" sz="2800" dirty="0" smtClean="0">
                <a:solidFill>
                  <a:schemeClr val="hlink"/>
                </a:solidFill>
              </a:rPr>
              <a:t>Problem:</a:t>
            </a:r>
            <a:r>
              <a:rPr lang="en-US" altLang="he-IL" sz="2800" dirty="0" smtClean="0"/>
              <a:t> to find a Hamiltonian cycle of minimal cost.</a:t>
            </a:r>
          </a:p>
        </p:txBody>
      </p:sp>
      <p:sp>
        <p:nvSpPr>
          <p:cNvPr id="348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BB48D73-491F-4330-90AB-969D62292558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34821" name="Oval 1028"/>
          <p:cNvSpPr>
            <a:spLocks noChangeArrowheads="1"/>
          </p:cNvSpPr>
          <p:nvPr/>
        </p:nvSpPr>
        <p:spPr bwMode="auto">
          <a:xfrm>
            <a:off x="2895600" y="4114800"/>
            <a:ext cx="457200" cy="381000"/>
          </a:xfrm>
          <a:prstGeom prst="ellipse">
            <a:avLst/>
          </a:prstGeom>
          <a:solidFill>
            <a:srgbClr val="66FFCC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4822" name="Oval 1029"/>
          <p:cNvSpPr>
            <a:spLocks noChangeArrowheads="1"/>
          </p:cNvSpPr>
          <p:nvPr/>
        </p:nvSpPr>
        <p:spPr bwMode="auto">
          <a:xfrm>
            <a:off x="5867400" y="4114800"/>
            <a:ext cx="457200" cy="381000"/>
          </a:xfrm>
          <a:prstGeom prst="ellipse">
            <a:avLst/>
          </a:prstGeom>
          <a:solidFill>
            <a:srgbClr val="66FFCC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4823" name="Oval 1030"/>
          <p:cNvSpPr>
            <a:spLocks noChangeArrowheads="1"/>
          </p:cNvSpPr>
          <p:nvPr/>
        </p:nvSpPr>
        <p:spPr bwMode="auto">
          <a:xfrm>
            <a:off x="2895600" y="5562600"/>
            <a:ext cx="457200" cy="381000"/>
          </a:xfrm>
          <a:prstGeom prst="ellipse">
            <a:avLst/>
          </a:prstGeom>
          <a:solidFill>
            <a:srgbClr val="66FFCC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4824" name="Oval 1031"/>
          <p:cNvSpPr>
            <a:spLocks noChangeArrowheads="1"/>
          </p:cNvSpPr>
          <p:nvPr/>
        </p:nvSpPr>
        <p:spPr bwMode="auto">
          <a:xfrm>
            <a:off x="5867400" y="5562600"/>
            <a:ext cx="457200" cy="381000"/>
          </a:xfrm>
          <a:prstGeom prst="ellipse">
            <a:avLst/>
          </a:prstGeom>
          <a:solidFill>
            <a:srgbClr val="66FFCC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cxnSp>
        <p:nvCxnSpPr>
          <p:cNvPr id="34825" name="AutoShape 1032"/>
          <p:cNvCxnSpPr>
            <a:cxnSpLocks noChangeShapeType="1"/>
            <a:stCxn id="34821" idx="4"/>
            <a:endCxn id="34823" idx="0"/>
          </p:cNvCxnSpPr>
          <p:nvPr/>
        </p:nvCxnSpPr>
        <p:spPr bwMode="auto">
          <a:xfrm>
            <a:off x="3124200" y="4505325"/>
            <a:ext cx="0" cy="1047750"/>
          </a:xfrm>
          <a:prstGeom prst="straightConnector1">
            <a:avLst/>
          </a:prstGeom>
          <a:noFill/>
          <a:ln w="38100">
            <a:solidFill>
              <a:srgbClr val="9999FF"/>
            </a:solidFill>
            <a:round/>
            <a:headEnd/>
            <a:tailEnd/>
          </a:ln>
        </p:spPr>
      </p:cxnSp>
      <p:cxnSp>
        <p:nvCxnSpPr>
          <p:cNvPr id="34826" name="AutoShape 1033"/>
          <p:cNvCxnSpPr>
            <a:cxnSpLocks noChangeShapeType="1"/>
            <a:stCxn id="34821" idx="6"/>
            <a:endCxn id="34822" idx="2"/>
          </p:cNvCxnSpPr>
          <p:nvPr/>
        </p:nvCxnSpPr>
        <p:spPr bwMode="auto">
          <a:xfrm>
            <a:off x="3362325" y="4305300"/>
            <a:ext cx="2495550" cy="0"/>
          </a:xfrm>
          <a:prstGeom prst="straightConnector1">
            <a:avLst/>
          </a:prstGeom>
          <a:noFill/>
          <a:ln w="38100">
            <a:solidFill>
              <a:srgbClr val="9999FF"/>
            </a:solidFill>
            <a:round/>
            <a:headEnd/>
            <a:tailEnd/>
          </a:ln>
        </p:spPr>
      </p:cxnSp>
      <p:cxnSp>
        <p:nvCxnSpPr>
          <p:cNvPr id="34827" name="AutoShape 1034"/>
          <p:cNvCxnSpPr>
            <a:cxnSpLocks noChangeShapeType="1"/>
            <a:stCxn id="34824" idx="2"/>
            <a:endCxn id="34823" idx="6"/>
          </p:cNvCxnSpPr>
          <p:nvPr/>
        </p:nvCxnSpPr>
        <p:spPr bwMode="auto">
          <a:xfrm flipH="1">
            <a:off x="3362325" y="5753100"/>
            <a:ext cx="2495550" cy="0"/>
          </a:xfrm>
          <a:prstGeom prst="straightConnector1">
            <a:avLst/>
          </a:prstGeom>
          <a:noFill/>
          <a:ln w="38100">
            <a:solidFill>
              <a:srgbClr val="9999FF"/>
            </a:solidFill>
            <a:round/>
            <a:headEnd/>
            <a:tailEnd/>
          </a:ln>
        </p:spPr>
      </p:cxnSp>
      <p:cxnSp>
        <p:nvCxnSpPr>
          <p:cNvPr id="34828" name="AutoShape 1035"/>
          <p:cNvCxnSpPr>
            <a:cxnSpLocks noChangeShapeType="1"/>
            <a:stCxn id="34824" idx="0"/>
            <a:endCxn id="34822" idx="4"/>
          </p:cNvCxnSpPr>
          <p:nvPr/>
        </p:nvCxnSpPr>
        <p:spPr bwMode="auto">
          <a:xfrm flipV="1">
            <a:off x="6096000" y="4505325"/>
            <a:ext cx="0" cy="1047750"/>
          </a:xfrm>
          <a:prstGeom prst="straightConnector1">
            <a:avLst/>
          </a:prstGeom>
          <a:noFill/>
          <a:ln w="38100">
            <a:solidFill>
              <a:srgbClr val="9999FF"/>
            </a:solidFill>
            <a:round/>
            <a:headEnd/>
            <a:tailEnd/>
          </a:ln>
        </p:spPr>
      </p:cxnSp>
      <p:cxnSp>
        <p:nvCxnSpPr>
          <p:cNvPr id="34829" name="AutoShape 1036"/>
          <p:cNvCxnSpPr>
            <a:cxnSpLocks noChangeShapeType="1"/>
            <a:stCxn id="34821" idx="5"/>
            <a:endCxn id="34824" idx="1"/>
          </p:cNvCxnSpPr>
          <p:nvPr/>
        </p:nvCxnSpPr>
        <p:spPr bwMode="auto">
          <a:xfrm>
            <a:off x="3286125" y="4449763"/>
            <a:ext cx="2647950" cy="1158875"/>
          </a:xfrm>
          <a:prstGeom prst="straightConnector1">
            <a:avLst/>
          </a:prstGeom>
          <a:noFill/>
          <a:ln w="38100">
            <a:solidFill>
              <a:srgbClr val="9999FF"/>
            </a:solidFill>
            <a:round/>
            <a:headEnd/>
            <a:tailEnd/>
          </a:ln>
        </p:spPr>
      </p:cxnSp>
      <p:cxnSp>
        <p:nvCxnSpPr>
          <p:cNvPr id="34830" name="AutoShape 1037"/>
          <p:cNvCxnSpPr>
            <a:cxnSpLocks noChangeShapeType="1"/>
            <a:stCxn id="34822" idx="3"/>
            <a:endCxn id="34823" idx="7"/>
          </p:cNvCxnSpPr>
          <p:nvPr/>
        </p:nvCxnSpPr>
        <p:spPr bwMode="auto">
          <a:xfrm flipH="1">
            <a:off x="3286125" y="4449763"/>
            <a:ext cx="2647950" cy="1158875"/>
          </a:xfrm>
          <a:prstGeom prst="straightConnector1">
            <a:avLst/>
          </a:prstGeom>
          <a:noFill/>
          <a:ln w="38100">
            <a:solidFill>
              <a:srgbClr val="9999FF"/>
            </a:solidFill>
            <a:round/>
            <a:headEnd/>
            <a:tailEnd/>
          </a:ln>
        </p:spPr>
      </p:cxnSp>
      <p:sp>
        <p:nvSpPr>
          <p:cNvPr id="34831" name="Text Box 1038"/>
          <p:cNvSpPr txBox="1">
            <a:spLocks noChangeArrowheads="1"/>
          </p:cNvSpPr>
          <p:nvPr/>
        </p:nvSpPr>
        <p:spPr bwMode="auto">
          <a:xfrm>
            <a:off x="4267200" y="3810000"/>
            <a:ext cx="609600" cy="369332"/>
          </a:xfrm>
          <a:prstGeom prst="rect">
            <a:avLst/>
          </a:prstGeom>
          <a:noFill/>
          <a:ln w="38100">
            <a:noFill/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en-US" dirty="0">
                <a:solidFill>
                  <a:srgbClr val="FFFF00"/>
                </a:solidFill>
                <a:cs typeface="Times New Roman (Hebrew)" pitchFamily="26" charset="-79"/>
              </a:rPr>
              <a:t>3</a:t>
            </a:r>
          </a:p>
        </p:txBody>
      </p:sp>
      <p:sp>
        <p:nvSpPr>
          <p:cNvPr id="34832" name="Text Box 1039"/>
          <p:cNvSpPr txBox="1">
            <a:spLocks noChangeArrowheads="1"/>
          </p:cNvSpPr>
          <p:nvPr/>
        </p:nvSpPr>
        <p:spPr bwMode="auto">
          <a:xfrm>
            <a:off x="5181600" y="4953000"/>
            <a:ext cx="609600" cy="369332"/>
          </a:xfrm>
          <a:prstGeom prst="rect">
            <a:avLst/>
          </a:prstGeom>
          <a:noFill/>
          <a:ln w="38100">
            <a:noFill/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en-US" dirty="0">
                <a:solidFill>
                  <a:srgbClr val="FFFF00"/>
                </a:solidFill>
                <a:cs typeface="Times New Roman (Hebrew)" pitchFamily="26" charset="-79"/>
              </a:rPr>
              <a:t>4</a:t>
            </a:r>
          </a:p>
        </p:txBody>
      </p:sp>
      <p:sp>
        <p:nvSpPr>
          <p:cNvPr id="34833" name="Text Box 1040"/>
          <p:cNvSpPr txBox="1">
            <a:spLocks noChangeArrowheads="1"/>
          </p:cNvSpPr>
          <p:nvPr/>
        </p:nvSpPr>
        <p:spPr bwMode="auto">
          <a:xfrm>
            <a:off x="3352800" y="4953000"/>
            <a:ext cx="609600" cy="369332"/>
          </a:xfrm>
          <a:prstGeom prst="rect">
            <a:avLst/>
          </a:prstGeom>
          <a:noFill/>
          <a:ln w="38100">
            <a:noFill/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en-US" dirty="0">
                <a:solidFill>
                  <a:srgbClr val="FFFF00"/>
                </a:solidFill>
                <a:cs typeface="Times New Roman (Hebrew)" pitchFamily="26" charset="-79"/>
              </a:rPr>
              <a:t>3</a:t>
            </a:r>
          </a:p>
        </p:txBody>
      </p:sp>
      <p:sp>
        <p:nvSpPr>
          <p:cNvPr id="34834" name="Text Box 1041"/>
          <p:cNvSpPr txBox="1">
            <a:spLocks noChangeArrowheads="1"/>
          </p:cNvSpPr>
          <p:nvPr/>
        </p:nvSpPr>
        <p:spPr bwMode="auto">
          <a:xfrm>
            <a:off x="6086474" y="4662488"/>
            <a:ext cx="609600" cy="369332"/>
          </a:xfrm>
          <a:prstGeom prst="rect">
            <a:avLst/>
          </a:prstGeom>
          <a:noFill/>
          <a:ln w="38100">
            <a:noFill/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en-US" dirty="0">
                <a:solidFill>
                  <a:srgbClr val="FFFF00"/>
                </a:solidFill>
                <a:cs typeface="Times New Roman (Hebrew)" pitchFamily="26" charset="-79"/>
              </a:rPr>
              <a:t>2</a:t>
            </a:r>
          </a:p>
        </p:txBody>
      </p:sp>
      <p:sp>
        <p:nvSpPr>
          <p:cNvPr id="34835" name="Text Box 1042"/>
          <p:cNvSpPr txBox="1">
            <a:spLocks noChangeArrowheads="1"/>
          </p:cNvSpPr>
          <p:nvPr/>
        </p:nvSpPr>
        <p:spPr bwMode="auto">
          <a:xfrm>
            <a:off x="4343400" y="5791200"/>
            <a:ext cx="609600" cy="369332"/>
          </a:xfrm>
          <a:prstGeom prst="rect">
            <a:avLst/>
          </a:prstGeom>
          <a:noFill/>
          <a:ln w="38100">
            <a:noFill/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en-US" dirty="0">
                <a:solidFill>
                  <a:srgbClr val="FFFF00"/>
                </a:solidFill>
                <a:cs typeface="Times New Roman (Hebrew)" pitchFamily="26" charset="-79"/>
              </a:rPr>
              <a:t>5</a:t>
            </a:r>
          </a:p>
        </p:txBody>
      </p:sp>
      <p:sp>
        <p:nvSpPr>
          <p:cNvPr id="34836" name="Text Box 1043"/>
          <p:cNvSpPr txBox="1">
            <a:spLocks noChangeArrowheads="1"/>
          </p:cNvSpPr>
          <p:nvPr/>
        </p:nvSpPr>
        <p:spPr bwMode="auto">
          <a:xfrm>
            <a:off x="2514600" y="4724400"/>
            <a:ext cx="609600" cy="369332"/>
          </a:xfrm>
          <a:prstGeom prst="rect">
            <a:avLst/>
          </a:prstGeom>
          <a:noFill/>
          <a:ln w="38100">
            <a:noFill/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en-US" dirty="0">
                <a:solidFill>
                  <a:srgbClr val="FFFF00"/>
                </a:solidFill>
                <a:cs typeface="Times New Roman (Hebrew)" pitchFamily="26" charset="-79"/>
              </a:rPr>
              <a:t>1</a:t>
            </a:r>
          </a:p>
        </p:txBody>
      </p:sp>
      <p:cxnSp>
        <p:nvCxnSpPr>
          <p:cNvPr id="141332" name="AutoShape 1044"/>
          <p:cNvCxnSpPr>
            <a:cxnSpLocks noChangeShapeType="1"/>
            <a:stCxn id="34824" idx="0"/>
            <a:endCxn id="34822" idx="4"/>
          </p:cNvCxnSpPr>
          <p:nvPr/>
        </p:nvCxnSpPr>
        <p:spPr bwMode="auto">
          <a:xfrm flipV="1">
            <a:off x="6096000" y="4505325"/>
            <a:ext cx="0" cy="1047750"/>
          </a:xfrm>
          <a:prstGeom prst="straightConnector1">
            <a:avLst/>
          </a:prstGeom>
          <a:noFill/>
          <a:ln w="57150">
            <a:solidFill>
              <a:srgbClr val="FF3399"/>
            </a:solidFill>
            <a:round/>
            <a:headEnd/>
            <a:tailEnd/>
          </a:ln>
        </p:spPr>
      </p:cxnSp>
      <p:cxnSp>
        <p:nvCxnSpPr>
          <p:cNvPr id="141333" name="AutoShape 1045"/>
          <p:cNvCxnSpPr>
            <a:cxnSpLocks noChangeShapeType="1"/>
            <a:stCxn id="34821" idx="5"/>
            <a:endCxn id="34824" idx="1"/>
          </p:cNvCxnSpPr>
          <p:nvPr/>
        </p:nvCxnSpPr>
        <p:spPr bwMode="auto">
          <a:xfrm>
            <a:off x="3286125" y="4449763"/>
            <a:ext cx="2647950" cy="1158875"/>
          </a:xfrm>
          <a:prstGeom prst="straightConnector1">
            <a:avLst/>
          </a:prstGeom>
          <a:noFill/>
          <a:ln w="57150">
            <a:solidFill>
              <a:srgbClr val="FF3399"/>
            </a:solidFill>
            <a:round/>
            <a:headEnd/>
            <a:tailEnd/>
          </a:ln>
        </p:spPr>
      </p:cxnSp>
      <p:cxnSp>
        <p:nvCxnSpPr>
          <p:cNvPr id="141334" name="AutoShape 1046"/>
          <p:cNvCxnSpPr>
            <a:cxnSpLocks noChangeShapeType="1"/>
            <a:stCxn id="34821" idx="4"/>
            <a:endCxn id="34823" idx="0"/>
          </p:cNvCxnSpPr>
          <p:nvPr/>
        </p:nvCxnSpPr>
        <p:spPr bwMode="auto">
          <a:xfrm>
            <a:off x="3124200" y="4505325"/>
            <a:ext cx="0" cy="1047750"/>
          </a:xfrm>
          <a:prstGeom prst="straightConnector1">
            <a:avLst/>
          </a:prstGeom>
          <a:noFill/>
          <a:ln w="57150">
            <a:solidFill>
              <a:srgbClr val="FF3399"/>
            </a:solidFill>
            <a:round/>
            <a:headEnd/>
            <a:tailEnd/>
          </a:ln>
        </p:spPr>
      </p:cxnSp>
      <p:cxnSp>
        <p:nvCxnSpPr>
          <p:cNvPr id="141335" name="AutoShape 1047"/>
          <p:cNvCxnSpPr>
            <a:cxnSpLocks noChangeShapeType="1"/>
            <a:stCxn id="34822" idx="3"/>
            <a:endCxn id="34823" idx="7"/>
          </p:cNvCxnSpPr>
          <p:nvPr/>
        </p:nvCxnSpPr>
        <p:spPr bwMode="auto">
          <a:xfrm flipH="1">
            <a:off x="3286125" y="4449763"/>
            <a:ext cx="2647950" cy="1158875"/>
          </a:xfrm>
          <a:prstGeom prst="straightConnector1">
            <a:avLst/>
          </a:prstGeom>
          <a:noFill/>
          <a:ln w="57150">
            <a:solidFill>
              <a:srgbClr val="FF3399"/>
            </a:solidFill>
            <a:round/>
            <a:headEnd/>
            <a:tailEnd/>
          </a:ln>
        </p:spPr>
      </p:cxnSp>
      <p:sp>
        <p:nvSpPr>
          <p:cNvPr id="141336" name="Text Box 1048"/>
          <p:cNvSpPr txBox="1">
            <a:spLocks noChangeArrowheads="1"/>
          </p:cNvSpPr>
          <p:nvPr/>
        </p:nvSpPr>
        <p:spPr bwMode="auto">
          <a:xfrm>
            <a:off x="6858000" y="4662488"/>
            <a:ext cx="1066800" cy="579437"/>
          </a:xfrm>
          <a:prstGeom prst="rect">
            <a:avLst/>
          </a:prstGeom>
          <a:noFill/>
          <a:ln w="38100">
            <a:noFill/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en-US" sz="3200" dirty="0">
                <a:solidFill>
                  <a:srgbClr val="FF3399"/>
                </a:solidFill>
                <a:cs typeface="Times New Roman (Hebrew)" pitchFamily="26" charset="-79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1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1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3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TSP- TRIANGULAR INEQUALITY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839200" cy="5060160"/>
          </a:xfrm>
        </p:spPr>
        <p:txBody>
          <a:bodyPr>
            <a:normAutofit lnSpcReduction="10000"/>
          </a:bodyPr>
          <a:lstStyle/>
          <a:p>
            <a:r>
              <a:rPr lang="en-US" i="1" dirty="0" smtClean="0">
                <a:solidFill>
                  <a:srgbClr val="FFFF00"/>
                </a:solidFill>
              </a:rPr>
              <a:t>Cutting out an intermediate stop never increases the cost</a:t>
            </a:r>
            <a:r>
              <a:rPr lang="en-US" dirty="0" smtClean="0">
                <a:solidFill>
                  <a:srgbClr val="FFFF00"/>
                </a:solidFill>
              </a:rPr>
              <a:t>.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This notion by saying the cost function </a:t>
            </a:r>
            <a:r>
              <a:rPr lang="en-US" b="1" i="1" dirty="0" smtClean="0">
                <a:solidFill>
                  <a:srgbClr val="FFFF00"/>
                </a:solidFill>
              </a:rPr>
              <a:t>c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satisfies the triangular inequality if for all vertices </a:t>
            </a:r>
            <a:r>
              <a:rPr lang="en-US" dirty="0" err="1" smtClean="0"/>
              <a:t>u,v,w</a:t>
            </a:r>
            <a:r>
              <a:rPr lang="en-US" dirty="0" smtClean="0"/>
              <a:t> </a:t>
            </a:r>
            <a:r>
              <a:rPr lang="el-GR" dirty="0" smtClean="0"/>
              <a:t>ϵ</a:t>
            </a:r>
            <a:r>
              <a:rPr lang="en-US" dirty="0" smtClean="0"/>
              <a:t> V,</a:t>
            </a:r>
          </a:p>
          <a:p>
            <a:pPr algn="ctr">
              <a:buNone/>
            </a:pPr>
            <a:r>
              <a:rPr lang="en-US" sz="3600" b="1" u="sng" dirty="0">
                <a:solidFill>
                  <a:srgbClr val="FFFF00"/>
                </a:solidFill>
              </a:rPr>
              <a:t> </a:t>
            </a:r>
            <a:r>
              <a:rPr lang="en-US" sz="3600" b="1" u="sng" dirty="0" smtClean="0">
                <a:solidFill>
                  <a:srgbClr val="FFFF00"/>
                </a:solidFill>
              </a:rPr>
              <a:t>     </a:t>
            </a:r>
            <a:r>
              <a:rPr lang="en-US" sz="3600" b="1" i="1" u="sng" dirty="0" smtClean="0">
                <a:solidFill>
                  <a:srgbClr val="FFFF00"/>
                </a:solidFill>
              </a:rPr>
              <a:t>c(</a:t>
            </a:r>
            <a:r>
              <a:rPr lang="en-US" sz="3600" b="1" i="1" u="sng" dirty="0" err="1" smtClean="0">
                <a:solidFill>
                  <a:srgbClr val="FFFF00"/>
                </a:solidFill>
              </a:rPr>
              <a:t>u,w</a:t>
            </a:r>
            <a:r>
              <a:rPr lang="en-US" sz="3600" b="1" i="1" u="sng" dirty="0" smtClean="0">
                <a:solidFill>
                  <a:srgbClr val="FFFF00"/>
                </a:solidFill>
              </a:rPr>
              <a:t>) &lt;= c(</a:t>
            </a:r>
            <a:r>
              <a:rPr lang="en-US" sz="3600" b="1" i="1" u="sng" dirty="0" err="1" smtClean="0">
                <a:solidFill>
                  <a:srgbClr val="FFFF00"/>
                </a:solidFill>
              </a:rPr>
              <a:t>u,v</a:t>
            </a:r>
            <a:r>
              <a:rPr lang="en-US" sz="3600" b="1" i="1" u="sng" dirty="0" smtClean="0">
                <a:solidFill>
                  <a:srgbClr val="FFFF00"/>
                </a:solidFill>
              </a:rPr>
              <a:t>)+ c(</a:t>
            </a:r>
            <a:r>
              <a:rPr lang="en-US" sz="3600" b="1" i="1" u="sng" dirty="0" err="1" smtClean="0">
                <a:solidFill>
                  <a:srgbClr val="FFFF00"/>
                </a:solidFill>
              </a:rPr>
              <a:t>v,w</a:t>
            </a:r>
            <a:r>
              <a:rPr lang="en-US" b="1" i="1" u="sng" dirty="0" smtClean="0">
                <a:solidFill>
                  <a:srgbClr val="FF0000"/>
                </a:solidFill>
              </a:rPr>
              <a:t>) </a:t>
            </a:r>
          </a:p>
          <a:p>
            <a:r>
              <a:rPr lang="en-US" dirty="0" smtClean="0">
                <a:solidFill>
                  <a:srgbClr val="FFC000"/>
                </a:solidFill>
              </a:rPr>
              <a:t>E.g.:</a:t>
            </a:r>
          </a:p>
          <a:p>
            <a:pPr lvl="1"/>
            <a:r>
              <a:rPr lang="en-US" dirty="0" smtClean="0"/>
              <a:t>If all the </a:t>
            </a:r>
            <a:r>
              <a:rPr lang="en-US" dirty="0" smtClean="0">
                <a:solidFill>
                  <a:srgbClr val="FFFF00"/>
                </a:solidFill>
              </a:rPr>
              <a:t>edges are defined as the distance on a 2D map</a:t>
            </a:r>
            <a:r>
              <a:rPr lang="en-US" dirty="0" smtClean="0"/>
              <a:t>, the triangle inequality is true</a:t>
            </a:r>
          </a:p>
          <a:p>
            <a:r>
              <a:rPr lang="en-US" dirty="0" smtClean="0"/>
              <a:t>For the TSPs where the triangle inequality is true:</a:t>
            </a:r>
          </a:p>
          <a:p>
            <a:pPr lvl="1"/>
            <a:r>
              <a:rPr lang="en-US" dirty="0" smtClean="0"/>
              <a:t>There is a 2-approximation polynomial time algorithm</a:t>
            </a:r>
          </a:p>
          <a:p>
            <a:pPr>
              <a:buNone/>
            </a:pPr>
            <a:endParaRPr lang="en-US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10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Triangle Inequality</a:t>
            </a:r>
            <a:endParaRPr lang="en-US" altLang="he-IL" smtClean="0"/>
          </a:p>
        </p:txBody>
      </p:sp>
      <p:sp>
        <p:nvSpPr>
          <p:cNvPr id="39941" name="Rectangle 1028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1828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he-IL" dirty="0" smtClean="0">
                <a:solidFill>
                  <a:schemeClr val="hlink"/>
                </a:solidFill>
              </a:rPr>
              <a:t>Definition:</a:t>
            </a:r>
            <a:r>
              <a:rPr lang="en-US" altLang="he-IL" dirty="0" smtClean="0"/>
              <a:t> We’ll say the cost function </a:t>
            </a:r>
            <a:r>
              <a:rPr lang="en-US" altLang="he-IL" b="1" i="1" dirty="0" smtClean="0">
                <a:solidFill>
                  <a:srgbClr val="FFFF00"/>
                </a:solidFill>
              </a:rPr>
              <a:t>c</a:t>
            </a:r>
            <a:r>
              <a:rPr lang="en-US" altLang="he-IL" dirty="0" smtClean="0"/>
              <a:t> satisfies the triangle inequality, if</a:t>
            </a:r>
          </a:p>
          <a:p>
            <a:pPr algn="ctr">
              <a:buFontTx/>
              <a:buNone/>
            </a:pPr>
            <a:r>
              <a:rPr lang="en-US" altLang="he-IL" dirty="0" smtClean="0">
                <a:solidFill>
                  <a:schemeClr val="accent1"/>
                </a:solidFill>
                <a:sym typeface="Symbol" pitchFamily="18" charset="2"/>
              </a:rPr>
              <a:t></a:t>
            </a:r>
            <a:r>
              <a:rPr lang="en-US" altLang="he-IL" dirty="0" err="1" smtClean="0">
                <a:solidFill>
                  <a:schemeClr val="accent1"/>
                </a:solidFill>
                <a:sym typeface="Symbol" pitchFamily="18" charset="2"/>
              </a:rPr>
              <a:t>u,v,wV</a:t>
            </a:r>
            <a:r>
              <a:rPr lang="en-US" altLang="he-IL" dirty="0" smtClean="0">
                <a:solidFill>
                  <a:schemeClr val="accent1"/>
                </a:solidFill>
                <a:sym typeface="Symbol" pitchFamily="18" charset="2"/>
              </a:rPr>
              <a:t> : c(</a:t>
            </a:r>
            <a:r>
              <a:rPr lang="en-US" altLang="he-IL" dirty="0" err="1" smtClean="0">
                <a:solidFill>
                  <a:schemeClr val="accent1"/>
                </a:solidFill>
                <a:sym typeface="Symbol" pitchFamily="18" charset="2"/>
              </a:rPr>
              <a:t>u,v</a:t>
            </a:r>
            <a:r>
              <a:rPr lang="en-US" altLang="he-IL" dirty="0" smtClean="0">
                <a:solidFill>
                  <a:schemeClr val="accent1"/>
                </a:solidFill>
                <a:sym typeface="Symbol" pitchFamily="18" charset="2"/>
              </a:rPr>
              <a:t>)+c(</a:t>
            </a:r>
            <a:r>
              <a:rPr lang="en-US" altLang="he-IL" dirty="0" err="1" smtClean="0">
                <a:solidFill>
                  <a:schemeClr val="accent1"/>
                </a:solidFill>
                <a:sym typeface="Symbol" pitchFamily="18" charset="2"/>
              </a:rPr>
              <a:t>v,w</a:t>
            </a:r>
            <a:r>
              <a:rPr lang="en-US" altLang="he-IL" dirty="0" smtClean="0">
                <a:solidFill>
                  <a:schemeClr val="accent1"/>
                </a:solidFill>
                <a:sym typeface="Symbol" pitchFamily="18" charset="2"/>
              </a:rPr>
              <a:t>)c(</a:t>
            </a:r>
            <a:r>
              <a:rPr lang="en-US" altLang="he-IL" dirty="0" err="1" smtClean="0">
                <a:solidFill>
                  <a:schemeClr val="accent1"/>
                </a:solidFill>
                <a:sym typeface="Symbol" pitchFamily="18" charset="2"/>
              </a:rPr>
              <a:t>u,w</a:t>
            </a:r>
            <a:r>
              <a:rPr lang="en-US" altLang="he-IL" dirty="0" smtClean="0">
                <a:solidFill>
                  <a:schemeClr val="accent1"/>
                </a:solidFill>
                <a:sym typeface="Symbol" pitchFamily="18" charset="2"/>
              </a:rPr>
              <a:t>)</a:t>
            </a:r>
            <a:endParaRPr lang="en-US" altLang="he-IL" dirty="0" smtClean="0"/>
          </a:p>
        </p:txBody>
      </p:sp>
      <p:sp>
        <p:nvSpPr>
          <p:cNvPr id="3993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1D7962C-1186-4D22-81B5-D774D1266ECC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39939" name="AutoShape 1026"/>
          <p:cNvSpPr>
            <a:spLocks noChangeArrowheads="1"/>
          </p:cNvSpPr>
          <p:nvPr/>
        </p:nvSpPr>
        <p:spPr bwMode="auto">
          <a:xfrm>
            <a:off x="2667000" y="4038600"/>
            <a:ext cx="4343400" cy="1905000"/>
          </a:xfrm>
          <a:prstGeom prst="rtTriangle">
            <a:avLst/>
          </a:prstGeom>
          <a:solidFill>
            <a:srgbClr val="FF7C80"/>
          </a:solidFill>
          <a:ln w="38100">
            <a:noFill/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Travelling sales man problem is NP Complete (using  cost function to show that triangular inequality satisfies). </a:t>
            </a:r>
          </a:p>
          <a:p>
            <a:r>
              <a:rPr lang="en-US" dirty="0" smtClean="0"/>
              <a:t>But it is </a:t>
            </a:r>
            <a:r>
              <a:rPr lang="en-US" i="1" dirty="0" smtClean="0">
                <a:solidFill>
                  <a:srgbClr val="FF0000"/>
                </a:solidFill>
              </a:rPr>
              <a:t>unlikely </a:t>
            </a:r>
            <a:r>
              <a:rPr lang="en-US" dirty="0" smtClean="0"/>
              <a:t>that we </a:t>
            </a:r>
            <a:r>
              <a:rPr lang="en-US" i="1" dirty="0" smtClean="0">
                <a:solidFill>
                  <a:srgbClr val="FF0000"/>
                </a:solidFill>
              </a:rPr>
              <a:t>find a polynomial time algorithm</a:t>
            </a:r>
            <a:r>
              <a:rPr lang="en-US" dirty="0" smtClean="0"/>
              <a:t> for solving this problem exactly. So we look </a:t>
            </a:r>
            <a:r>
              <a:rPr lang="en-US" i="1" dirty="0" smtClean="0">
                <a:solidFill>
                  <a:srgbClr val="FF0000"/>
                </a:solidFill>
              </a:rPr>
              <a:t>for good approximation algorithm .</a:t>
            </a:r>
          </a:p>
          <a:p>
            <a:r>
              <a:rPr lang="en-US" i="1" dirty="0" smtClean="0">
                <a:solidFill>
                  <a:srgbClr val="FF0000"/>
                </a:solidFill>
              </a:rPr>
              <a:t>We go for a 2 – approximation algorithm with triangular inequality.</a:t>
            </a:r>
          </a:p>
          <a:p>
            <a:r>
              <a:rPr lang="en-US" b="1" i="1" u="sng" dirty="0" smtClean="0">
                <a:solidFill>
                  <a:srgbClr val="FF0000"/>
                </a:solidFill>
              </a:rPr>
              <a:t>NOTE: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smtClean="0"/>
              <a:t>If triangular inequality is not used , then a </a:t>
            </a:r>
            <a:r>
              <a:rPr lang="en-US" i="1" dirty="0" smtClean="0">
                <a:solidFill>
                  <a:srgbClr val="00B0F0"/>
                </a:solidFill>
              </a:rPr>
              <a:t>constant  approx/ algorithm does not exist unless     P=NP </a:t>
            </a:r>
          </a:p>
          <a:p>
            <a:endParaRPr lang="en-US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153400" cy="1197864"/>
          </a:xfrm>
        </p:spPr>
        <p:txBody>
          <a:bodyPr/>
          <a:lstStyle/>
          <a:p>
            <a:r>
              <a:rPr lang="en-US" dirty="0"/>
              <a:t>What is a Minimum Spanning Tree?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153400" cy="50601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minimum spanning tree is a special kind of tree that minimizes the lengths (or “weights”) of the edges of the tree. </a:t>
            </a:r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example is a cable company wanting to lay line to multiple neighborhoods; by minimizing the amount of cable laid, the cable company will save money.</a:t>
            </a:r>
          </a:p>
          <a:p>
            <a:r>
              <a:rPr lang="en-US" dirty="0"/>
              <a:t>A </a:t>
            </a:r>
            <a:r>
              <a:rPr lang="en-US" b="1" dirty="0"/>
              <a:t>tree </a:t>
            </a:r>
            <a:r>
              <a:rPr lang="en-US" dirty="0"/>
              <a:t>has one path joins any two vertices. A </a:t>
            </a:r>
            <a:r>
              <a:rPr lang="en-US" b="1" dirty="0"/>
              <a:t>spanning tree </a:t>
            </a:r>
            <a:r>
              <a:rPr lang="en-US" dirty="0"/>
              <a:t>of a graph is a tree that</a:t>
            </a:r>
            <a:r>
              <a:rPr lang="en-US" dirty="0" smtClean="0"/>
              <a:t>:</a:t>
            </a:r>
          </a:p>
          <a:p>
            <a:pPr marL="68580" indent="0">
              <a:buNone/>
            </a:pPr>
            <a:r>
              <a:rPr lang="en-US" dirty="0" smtClean="0"/>
              <a:t>            -Contains </a:t>
            </a:r>
            <a:r>
              <a:rPr lang="en-US" dirty="0"/>
              <a:t>all the original graph’s vertices.</a:t>
            </a:r>
          </a:p>
          <a:p>
            <a:pPr marL="68580" indent="0">
              <a:buNone/>
            </a:pPr>
            <a:r>
              <a:rPr lang="en-US" dirty="0" smtClean="0"/>
              <a:t>          -  Reaches </a:t>
            </a:r>
            <a:r>
              <a:rPr lang="en-US" dirty="0"/>
              <a:t>out to (spans) all vertices.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46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610600" cy="6705600"/>
          </a:xfrm>
        </p:spPr>
        <p:txBody>
          <a:bodyPr/>
          <a:lstStyle/>
          <a:p>
            <a:r>
              <a:rPr lang="en-US" dirty="0"/>
              <a:t>Is </a:t>
            </a:r>
            <a:r>
              <a:rPr lang="en-US" dirty="0">
                <a:solidFill>
                  <a:srgbClr val="FFFF00"/>
                </a:solidFill>
              </a:rPr>
              <a:t>acyclic.</a:t>
            </a:r>
            <a:r>
              <a:rPr lang="en-US" dirty="0"/>
              <a:t> In other words, the graph doesn’t have any nodes which loop back to itself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800224"/>
            <a:ext cx="723900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78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686800" cy="6858000"/>
          </a:xfrm>
        </p:spPr>
        <p:txBody>
          <a:bodyPr/>
          <a:lstStyle/>
          <a:p>
            <a:r>
              <a:rPr lang="en-US" dirty="0"/>
              <a:t>Even the simplest of graphs can contain many spanning trees. For example, the following graph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has many possibilities for spanning trees, including: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19200"/>
            <a:ext cx="1676400" cy="1428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340" y="3296503"/>
            <a:ext cx="336232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28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STEPS: </a:t>
            </a:r>
          </a:p>
          <a:p>
            <a:r>
              <a:rPr lang="en-US" dirty="0" smtClean="0"/>
              <a:t>Compute a </a:t>
            </a:r>
            <a:r>
              <a:rPr lang="en-US" dirty="0" smtClean="0">
                <a:solidFill>
                  <a:srgbClr val="FF0000"/>
                </a:solidFill>
              </a:rPr>
              <a:t>MINIMUMSPANNING TREE  T</a:t>
            </a:r>
            <a:r>
              <a:rPr lang="en-US" dirty="0" smtClean="0"/>
              <a:t>, whose weight is </a:t>
            </a:r>
            <a:r>
              <a:rPr lang="en-US" dirty="0" smtClean="0">
                <a:solidFill>
                  <a:srgbClr val="FFFF00"/>
                </a:solidFill>
              </a:rPr>
              <a:t>lower bound </a:t>
            </a:r>
            <a:r>
              <a:rPr lang="en-US" dirty="0" smtClean="0"/>
              <a:t>on the length of optimal travelling salesman tour(H</a:t>
            </a:r>
            <a:r>
              <a:rPr lang="en-US" baseline="30000" dirty="0" smtClean="0"/>
              <a:t>*</a:t>
            </a:r>
            <a:r>
              <a:rPr lang="en-US" dirty="0" smtClean="0"/>
              <a:t>).(</a:t>
            </a:r>
            <a:r>
              <a:rPr lang="en-US" dirty="0" err="1" smtClean="0"/>
              <a:t>i.e</a:t>
            </a:r>
            <a:r>
              <a:rPr lang="en-US" dirty="0" smtClean="0"/>
              <a:t>, </a:t>
            </a:r>
            <a:r>
              <a:rPr lang="en-US" b="1" i="1" dirty="0" smtClean="0"/>
              <a:t>c(T) &lt;= c(H</a:t>
            </a:r>
            <a:r>
              <a:rPr lang="en-US" b="1" i="1" baseline="30000" dirty="0" smtClean="0"/>
              <a:t>*</a:t>
            </a:r>
            <a:r>
              <a:rPr lang="en-US" b="1" i="1" dirty="0" smtClean="0"/>
              <a:t>).) </a:t>
            </a:r>
            <a:endParaRPr lang="en-US" dirty="0" smtClean="0"/>
          </a:p>
          <a:p>
            <a:pPr algn="just"/>
            <a:r>
              <a:rPr lang="en-US" dirty="0" smtClean="0">
                <a:solidFill>
                  <a:srgbClr val="FFC000"/>
                </a:solidFill>
              </a:rPr>
              <a:t>Use the </a:t>
            </a:r>
            <a:r>
              <a:rPr lang="en-US" dirty="0" smtClean="0">
                <a:solidFill>
                  <a:srgbClr val="00B050"/>
                </a:solidFill>
              </a:rPr>
              <a:t>MST to create a tour </a:t>
            </a:r>
            <a:r>
              <a:rPr lang="en-US" dirty="0" smtClean="0">
                <a:solidFill>
                  <a:srgbClr val="FFC000"/>
                </a:solidFill>
              </a:rPr>
              <a:t>whose cost no more than twice that of minimum spanning tree’s weight ,as long as the cost function satisfies the triangular inequality.</a:t>
            </a:r>
          </a:p>
          <a:p>
            <a:r>
              <a:rPr lang="en-US" dirty="0" smtClean="0"/>
              <a:t>The following algorithm implements this approach , calling the MST-PRIM as subroutine.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TSP with Triangle Inequality</a:t>
            </a:r>
          </a:p>
        </p:txBody>
      </p:sp>
      <p:pic>
        <p:nvPicPr>
          <p:cNvPr id="5124" name="Picture 1028" descr="Ch37_p1028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0288" y="1385888"/>
            <a:ext cx="5559425" cy="153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1029" descr="ch37_1029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47294" y="3081338"/>
            <a:ext cx="5565775" cy="360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9174" name="Text Box 1030"/>
          <p:cNvSpPr txBox="1">
            <a:spLocks noChangeArrowheads="1"/>
          </p:cNvSpPr>
          <p:nvPr/>
        </p:nvSpPr>
        <p:spPr bwMode="auto">
          <a:xfrm>
            <a:off x="5324475" y="6542088"/>
            <a:ext cx="38131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600" i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source: 91.503 textbook Cormen et al.</a:t>
            </a:r>
          </a:p>
        </p:txBody>
      </p:sp>
      <p:grpSp>
        <p:nvGrpSpPr>
          <p:cNvPr id="2" name="Group 1047"/>
          <p:cNvGrpSpPr>
            <a:grpSpLocks/>
          </p:cNvGrpSpPr>
          <p:nvPr/>
        </p:nvGrpSpPr>
        <p:grpSpPr bwMode="auto">
          <a:xfrm>
            <a:off x="0" y="2081213"/>
            <a:ext cx="3563938" cy="4391025"/>
            <a:chOff x="0" y="1311"/>
            <a:chExt cx="2245" cy="2766"/>
          </a:xfrm>
        </p:grpSpPr>
        <p:sp>
          <p:nvSpPr>
            <p:cNvPr id="519184" name="Rectangle 1040"/>
            <p:cNvSpPr>
              <a:spLocks noChangeArrowheads="1"/>
            </p:cNvSpPr>
            <p:nvPr/>
          </p:nvSpPr>
          <p:spPr bwMode="auto">
            <a:xfrm>
              <a:off x="0" y="1311"/>
              <a:ext cx="2245" cy="276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pic>
          <p:nvPicPr>
            <p:cNvPr id="5132" name="Picture 1032" descr="503_959 1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23" y="1439"/>
              <a:ext cx="1365" cy="12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9177" name="Oval 1033"/>
            <p:cNvSpPr>
              <a:spLocks noChangeArrowheads="1"/>
            </p:cNvSpPr>
            <p:nvPr/>
          </p:nvSpPr>
          <p:spPr bwMode="auto">
            <a:xfrm>
              <a:off x="502" y="1543"/>
              <a:ext cx="242" cy="2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defRPr/>
              </a:pPr>
              <a:r>
                <a:rPr lang="en-US" sz="1400" b="1" i="1">
                  <a:solidFill>
                    <a:schemeClr val="bg2"/>
                  </a:solidFill>
                  <a:effectLst/>
                  <a:latin typeface="Arial" pitchFamily="34" charset="0"/>
                </a:rPr>
                <a:t>u</a:t>
              </a:r>
              <a:endParaRPr lang="en-US"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endParaRPr>
            </a:p>
          </p:txBody>
        </p:sp>
        <p:sp>
          <p:nvSpPr>
            <p:cNvPr id="519178" name="Oval 1034"/>
            <p:cNvSpPr>
              <a:spLocks noChangeArrowheads="1"/>
            </p:cNvSpPr>
            <p:nvPr/>
          </p:nvSpPr>
          <p:spPr bwMode="auto">
            <a:xfrm>
              <a:off x="1306" y="1543"/>
              <a:ext cx="242" cy="2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defRPr/>
              </a:pPr>
              <a:r>
                <a:rPr lang="en-US" sz="1400" b="1" i="1">
                  <a:solidFill>
                    <a:schemeClr val="bg2"/>
                  </a:solidFill>
                  <a:effectLst/>
                  <a:latin typeface="Arial" pitchFamily="34" charset="0"/>
                </a:rPr>
                <a:t>v</a:t>
              </a:r>
              <a:endParaRPr lang="en-US"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endParaRPr>
            </a:p>
          </p:txBody>
        </p:sp>
        <p:sp>
          <p:nvSpPr>
            <p:cNvPr id="519179" name="Oval 1035"/>
            <p:cNvSpPr>
              <a:spLocks noChangeArrowheads="1"/>
            </p:cNvSpPr>
            <p:nvPr/>
          </p:nvSpPr>
          <p:spPr bwMode="auto">
            <a:xfrm>
              <a:off x="508" y="2335"/>
              <a:ext cx="242" cy="2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defRPr/>
              </a:pPr>
              <a:r>
                <a:rPr lang="en-US" sz="1400" b="1" i="1">
                  <a:solidFill>
                    <a:schemeClr val="bg2"/>
                  </a:solidFill>
                  <a:effectLst/>
                  <a:latin typeface="Arial" pitchFamily="34" charset="0"/>
                </a:rPr>
                <a:t>x</a:t>
              </a:r>
              <a:endParaRPr lang="en-US"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endParaRPr>
            </a:p>
          </p:txBody>
        </p:sp>
        <p:sp>
          <p:nvSpPr>
            <p:cNvPr id="519180" name="Oval 1036"/>
            <p:cNvSpPr>
              <a:spLocks noChangeArrowheads="1"/>
            </p:cNvSpPr>
            <p:nvPr/>
          </p:nvSpPr>
          <p:spPr bwMode="auto">
            <a:xfrm>
              <a:off x="1324" y="2335"/>
              <a:ext cx="260" cy="2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defRPr/>
              </a:pPr>
              <a:r>
                <a:rPr lang="en-US" sz="1400" b="1" i="1">
                  <a:solidFill>
                    <a:schemeClr val="bg2"/>
                  </a:solidFill>
                  <a:effectLst/>
                  <a:latin typeface="Arial" pitchFamily="34" charset="0"/>
                </a:rPr>
                <a:t>w</a:t>
              </a:r>
              <a:endParaRPr lang="en-US"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endParaRPr>
            </a:p>
          </p:txBody>
        </p:sp>
        <p:graphicFrame>
          <p:nvGraphicFramePr>
            <p:cNvPr id="5122" name="Object 1037"/>
            <p:cNvGraphicFramePr>
              <a:graphicFrameLocks noChangeAspect="1"/>
            </p:cNvGraphicFramePr>
            <p:nvPr/>
          </p:nvGraphicFramePr>
          <p:xfrm>
            <a:off x="90" y="3381"/>
            <a:ext cx="2102" cy="5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4" name="Equation" r:id="rId6" imgW="1523880" imgH="431640" progId="Equation.3">
                    <p:embed/>
                  </p:oleObj>
                </mc:Choice>
                <mc:Fallback>
                  <p:oleObj name="Equation" r:id="rId6" imgW="1523880" imgH="431640" progId="Equation.3">
                    <p:embed/>
                    <p:pic>
                      <p:nvPicPr>
                        <p:cNvPr id="0" name="Object 10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" y="3381"/>
                          <a:ext cx="2102" cy="593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9182" name="Text Box 1038"/>
            <p:cNvSpPr txBox="1">
              <a:spLocks noChangeArrowheads="1"/>
            </p:cNvSpPr>
            <p:nvPr/>
          </p:nvSpPr>
          <p:spPr bwMode="auto">
            <a:xfrm>
              <a:off x="222" y="3008"/>
              <a:ext cx="169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</a:rPr>
                <a:t>Triangle Inequality</a:t>
              </a:r>
            </a:p>
          </p:txBody>
        </p:sp>
        <p:sp>
          <p:nvSpPr>
            <p:cNvPr id="519183" name="Text Box 1039"/>
            <p:cNvSpPr txBox="1">
              <a:spLocks noChangeArrowheads="1"/>
            </p:cNvSpPr>
            <p:nvPr/>
          </p:nvSpPr>
          <p:spPr bwMode="auto">
            <a:xfrm>
              <a:off x="262" y="2793"/>
              <a:ext cx="192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</a:rPr>
                <a:t>Cost Function Satisfies</a:t>
              </a:r>
            </a:p>
          </p:txBody>
        </p:sp>
        <p:sp>
          <p:nvSpPr>
            <p:cNvPr id="5139" name="Text Box 1041"/>
            <p:cNvSpPr txBox="1">
              <a:spLocks noChangeArrowheads="1"/>
            </p:cNvSpPr>
            <p:nvPr/>
          </p:nvSpPr>
          <p:spPr bwMode="auto">
            <a:xfrm>
              <a:off x="414" y="1953"/>
              <a:ext cx="16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  <a:effectLst/>
                </a:rPr>
                <a:t>3</a:t>
              </a:r>
            </a:p>
          </p:txBody>
        </p:sp>
        <p:sp>
          <p:nvSpPr>
            <p:cNvPr id="5140" name="Text Box 1043"/>
            <p:cNvSpPr txBox="1">
              <a:spLocks noChangeArrowheads="1"/>
            </p:cNvSpPr>
            <p:nvPr/>
          </p:nvSpPr>
          <p:spPr bwMode="auto">
            <a:xfrm>
              <a:off x="1455" y="1941"/>
              <a:ext cx="16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  <a:effectLst/>
                </a:rPr>
                <a:t>3</a:t>
              </a:r>
            </a:p>
          </p:txBody>
        </p:sp>
        <p:sp>
          <p:nvSpPr>
            <p:cNvPr id="5141" name="Text Box 1044"/>
            <p:cNvSpPr txBox="1">
              <a:spLocks noChangeArrowheads="1"/>
            </p:cNvSpPr>
            <p:nvPr/>
          </p:nvSpPr>
          <p:spPr bwMode="auto">
            <a:xfrm>
              <a:off x="966" y="2469"/>
              <a:ext cx="16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  <a:effectLst/>
                </a:rPr>
                <a:t>4</a:t>
              </a:r>
            </a:p>
          </p:txBody>
        </p:sp>
        <p:sp>
          <p:nvSpPr>
            <p:cNvPr id="5142" name="Text Box 1045"/>
            <p:cNvSpPr txBox="1">
              <a:spLocks noChangeArrowheads="1"/>
            </p:cNvSpPr>
            <p:nvPr/>
          </p:nvSpPr>
          <p:spPr bwMode="auto">
            <a:xfrm>
              <a:off x="909" y="1710"/>
              <a:ext cx="16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  <a:effectLst/>
                </a:rPr>
                <a:t>5</a:t>
              </a:r>
            </a:p>
          </p:txBody>
        </p:sp>
        <p:sp>
          <p:nvSpPr>
            <p:cNvPr id="5143" name="Text Box 1046"/>
            <p:cNvSpPr txBox="1">
              <a:spLocks noChangeArrowheads="1"/>
            </p:cNvSpPr>
            <p:nvPr/>
          </p:nvSpPr>
          <p:spPr bwMode="auto">
            <a:xfrm>
              <a:off x="897" y="2238"/>
              <a:ext cx="16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  <a:effectLst/>
                </a:rPr>
                <a:t>5</a:t>
              </a:r>
            </a:p>
          </p:txBody>
        </p:sp>
      </p:grpSp>
      <p:sp>
        <p:nvSpPr>
          <p:cNvPr id="519192" name="Text Box 1048"/>
          <p:cNvSpPr txBox="1">
            <a:spLocks noChangeArrowheads="1"/>
          </p:cNvSpPr>
          <p:nvPr/>
        </p:nvSpPr>
        <p:spPr bwMode="auto">
          <a:xfrm>
            <a:off x="3552825" y="6289675"/>
            <a:ext cx="2257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6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final approximate tour</a:t>
            </a:r>
          </a:p>
        </p:txBody>
      </p:sp>
      <p:sp>
        <p:nvSpPr>
          <p:cNvPr id="519193" name="Text Box 1049"/>
          <p:cNvSpPr txBox="1">
            <a:spLocks noChangeArrowheads="1"/>
          </p:cNvSpPr>
          <p:nvPr/>
        </p:nvSpPr>
        <p:spPr bwMode="auto">
          <a:xfrm>
            <a:off x="5810250" y="6280150"/>
            <a:ext cx="2257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6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optimal tour</a:t>
            </a:r>
          </a:p>
        </p:txBody>
      </p:sp>
      <p:sp>
        <p:nvSpPr>
          <p:cNvPr id="519194" name="Text Box 1050"/>
          <p:cNvSpPr txBox="1">
            <a:spLocks noChangeArrowheads="1"/>
          </p:cNvSpPr>
          <p:nvPr/>
        </p:nvSpPr>
        <p:spPr bwMode="auto">
          <a:xfrm>
            <a:off x="6286500" y="4537075"/>
            <a:ext cx="3009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“full walk” = </a:t>
            </a:r>
            <a:r>
              <a:rPr lang="en-US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abcbhbadefegeda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1029" descr="ch37_1029 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" y="1001518"/>
            <a:ext cx="8686800" cy="5624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029" descr="ch37_1029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69" y="990600"/>
            <a:ext cx="8939031" cy="5787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59504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operation of TSP_TOUR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54864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400" dirty="0" smtClean="0"/>
              <a:t>a) </a:t>
            </a:r>
            <a:r>
              <a:rPr lang="en-US" sz="2400" b="1" dirty="0" smtClean="0"/>
              <a:t>The given set of points , which lie on  vertices of an integer grid. –(Euclidean distance is used as the cost function between two points</a:t>
            </a:r>
            <a:r>
              <a:rPr lang="en-US" sz="24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).(</a:t>
            </a:r>
            <a:r>
              <a:rPr lang="en-US" sz="2400" b="1" i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fig-a)</a:t>
            </a:r>
          </a:p>
          <a:p>
            <a:pPr>
              <a:buNone/>
            </a:pPr>
            <a:r>
              <a:rPr lang="en-US" sz="2400" b="1" dirty="0" smtClean="0"/>
              <a:t>b) A MST ‘T’ of those points as computed by </a:t>
            </a:r>
            <a:r>
              <a:rPr lang="en-US" sz="2400" b="1" i="1" dirty="0" smtClean="0">
                <a:solidFill>
                  <a:srgbClr val="FF0000"/>
                </a:solidFill>
              </a:rPr>
              <a:t>MST_PRIM ,with vertex ‘a’ as the root . </a:t>
            </a:r>
            <a:r>
              <a:rPr lang="en-US" sz="2400" b="1" dirty="0" smtClean="0"/>
              <a:t>The vertices happen to be labeled in such a way that they are added to the main tree by MST_PRIM in alphabetical order</a:t>
            </a:r>
            <a:r>
              <a:rPr lang="en-US" sz="2400" b="1" dirty="0" smtClean="0"/>
              <a:t>. (</a:t>
            </a:r>
            <a:r>
              <a:rPr lang="en-US" sz="2400" b="1" i="1" dirty="0" smtClean="0">
                <a:solidFill>
                  <a:srgbClr val="00B0F0"/>
                </a:solidFill>
              </a:rPr>
              <a:t>f</a:t>
            </a:r>
            <a:r>
              <a:rPr lang="en-US" sz="2400" b="1" i="1" dirty="0" smtClean="0">
                <a:solidFill>
                  <a:srgbClr val="00B0F0"/>
                </a:solidFill>
              </a:rPr>
              <a:t>ig b)</a:t>
            </a:r>
            <a:endParaRPr lang="en-US" sz="2400" b="1" i="1" dirty="0" smtClean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2400" b="1" dirty="0" smtClean="0"/>
              <a:t>c) </a:t>
            </a:r>
            <a:r>
              <a:rPr lang="en-US" sz="2400" b="1" dirty="0" smtClean="0">
                <a:solidFill>
                  <a:srgbClr val="FFFF00"/>
                </a:solidFill>
              </a:rPr>
              <a:t>A walk of T</a:t>
            </a:r>
            <a:r>
              <a:rPr lang="en-US" sz="2400" b="1" dirty="0" smtClean="0"/>
              <a:t>, starting at </a:t>
            </a:r>
            <a:r>
              <a:rPr lang="en-US" sz="2400" b="1" i="1" dirty="0" smtClean="0">
                <a:solidFill>
                  <a:srgbClr val="FFFF00"/>
                </a:solidFill>
              </a:rPr>
              <a:t>a</a:t>
            </a:r>
            <a:r>
              <a:rPr lang="en-US" sz="2400" b="1" dirty="0" smtClean="0"/>
              <a:t> . </a:t>
            </a:r>
            <a:r>
              <a:rPr lang="en-US" sz="2400" b="1" i="1" dirty="0" smtClean="0">
                <a:solidFill>
                  <a:srgbClr val="FF0000"/>
                </a:solidFill>
              </a:rPr>
              <a:t>A  full walk </a:t>
            </a:r>
            <a:r>
              <a:rPr lang="en-US" sz="2400" b="1" dirty="0" smtClean="0">
                <a:solidFill>
                  <a:srgbClr val="FF0000"/>
                </a:solidFill>
              </a:rPr>
              <a:t>of the tree visits </a:t>
            </a:r>
            <a:r>
              <a:rPr lang="en-US" sz="2400" b="1" dirty="0" smtClean="0"/>
              <a:t>the vertex in the order </a:t>
            </a:r>
            <a:r>
              <a:rPr lang="en-US" sz="2400" b="1" i="1" dirty="0" err="1" smtClean="0">
                <a:solidFill>
                  <a:srgbClr val="FFFF00"/>
                </a:solidFill>
              </a:rPr>
              <a:t>a,b,c,b,h,b,a,d,e,f,e,g,e,d,a</a:t>
            </a:r>
            <a:r>
              <a:rPr lang="en-US" sz="2400" b="1" i="1" u="sng" dirty="0" smtClean="0">
                <a:solidFill>
                  <a:srgbClr val="FFFF00"/>
                </a:solidFill>
              </a:rPr>
              <a:t>.</a:t>
            </a:r>
            <a:r>
              <a:rPr lang="en-US" sz="2400" b="1" i="1" u="sng" dirty="0" smtClean="0">
                <a:solidFill>
                  <a:srgbClr val="FF0000"/>
                </a:solidFill>
              </a:rPr>
              <a:t> ( In Full walk every  edge  of E is traversed Twice)</a:t>
            </a:r>
          </a:p>
          <a:p>
            <a:pPr>
              <a:buNone/>
            </a:pPr>
            <a:r>
              <a:rPr lang="en-US" sz="2400" b="1" i="1" dirty="0" smtClean="0">
                <a:solidFill>
                  <a:srgbClr val="FF0000"/>
                </a:solidFill>
              </a:rPr>
              <a:t>      A PRE order walk  </a:t>
            </a:r>
            <a:r>
              <a:rPr lang="en-US" sz="2400" b="1" dirty="0" smtClean="0"/>
              <a:t>of T lists a  vertex just  when it is first encountered , </a:t>
            </a:r>
            <a:r>
              <a:rPr lang="en-US" sz="2400" b="1" dirty="0" err="1" smtClean="0"/>
              <a:t>i.e</a:t>
            </a:r>
            <a:r>
              <a:rPr lang="en-US" sz="2400" b="1" dirty="0" smtClean="0"/>
              <a:t>, </a:t>
            </a:r>
            <a:r>
              <a:rPr lang="en-US" sz="2400" b="1" dirty="0" err="1" smtClean="0">
                <a:solidFill>
                  <a:srgbClr val="FF0000"/>
                </a:solidFill>
              </a:rPr>
              <a:t>a,b,c,h,d,e,f,g</a:t>
            </a:r>
            <a:r>
              <a:rPr lang="en-US" sz="2400" b="1" i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.(fig-c</a:t>
            </a:r>
            <a:r>
              <a:rPr lang="en-US" sz="24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buNone/>
            </a:pPr>
            <a:r>
              <a:rPr lang="en-US" sz="2400" b="1" dirty="0" smtClean="0"/>
              <a:t>d) A  tour  of the vertices obtained by visiting the vertices in the order given by the preorder walk. This </a:t>
            </a:r>
            <a:r>
              <a:rPr lang="en-US" sz="2400" b="1" i="1" dirty="0" smtClean="0"/>
              <a:t>the tour </a:t>
            </a:r>
            <a:r>
              <a:rPr lang="en-US" sz="2400" b="1" i="1" dirty="0" smtClean="0">
                <a:solidFill>
                  <a:srgbClr val="FFFF00"/>
                </a:solidFill>
              </a:rPr>
              <a:t>H </a:t>
            </a:r>
            <a:r>
              <a:rPr lang="en-US" sz="2400" b="1" i="1" dirty="0" smtClean="0"/>
              <a:t>returned by APPROX_TSP_TOUR. </a:t>
            </a:r>
            <a:r>
              <a:rPr lang="en-US" sz="2400" b="1" i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(fig-d</a:t>
            </a:r>
            <a:r>
              <a:rPr lang="en-US" sz="2400" b="1" i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buNone/>
            </a:pPr>
            <a:r>
              <a:rPr lang="en-US" sz="2400" b="1" dirty="0" smtClean="0"/>
              <a:t>e) An </a:t>
            </a:r>
            <a:r>
              <a:rPr lang="en-US" sz="2400" b="1" i="1" dirty="0" smtClean="0"/>
              <a:t>optimal tour  </a:t>
            </a:r>
            <a:r>
              <a:rPr lang="en-US" sz="2400" b="1" i="1" dirty="0" smtClean="0">
                <a:solidFill>
                  <a:srgbClr val="FFFF00"/>
                </a:solidFill>
              </a:rPr>
              <a:t>H</a:t>
            </a:r>
            <a:r>
              <a:rPr lang="en-US" sz="2400" b="1" i="1" baseline="30000" dirty="0" smtClean="0">
                <a:solidFill>
                  <a:srgbClr val="FFFF00"/>
                </a:solidFill>
              </a:rPr>
              <a:t>*</a:t>
            </a:r>
            <a:r>
              <a:rPr lang="en-US" sz="2400" b="1" i="1" dirty="0" smtClean="0"/>
              <a:t> </a:t>
            </a:r>
            <a:r>
              <a:rPr lang="en-US" sz="2400" b="1" dirty="0" smtClean="0"/>
              <a:t>for the given set of vertices . </a:t>
            </a:r>
            <a:r>
              <a:rPr lang="en-US" sz="2400" b="1" i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(fig-e</a:t>
            </a:r>
            <a:r>
              <a:rPr lang="en-US" sz="24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400" b="1" i="1" dirty="0" smtClean="0">
                <a:solidFill>
                  <a:schemeClr val="tx1">
                    <a:lumMod val="95000"/>
                  </a:schemeClr>
                </a:solidFill>
              </a:rPr>
              <a:t>Running time of the APPROX_TSP_TOUR is O(V</a:t>
            </a:r>
            <a:r>
              <a:rPr lang="en-US" sz="2400" b="1" i="1" baseline="30000" dirty="0" smtClean="0">
                <a:solidFill>
                  <a:schemeClr val="tx1">
                    <a:lumMod val="95000"/>
                  </a:schemeClr>
                </a:solidFill>
              </a:rPr>
              <a:t>2</a:t>
            </a:r>
            <a:r>
              <a:rPr lang="en-US" sz="2400" b="1" i="1" dirty="0" smtClean="0">
                <a:solidFill>
                  <a:schemeClr val="tx1">
                    <a:lumMod val="95000"/>
                  </a:schemeClr>
                </a:solidFill>
              </a:rPr>
              <a:t>).</a:t>
            </a:r>
          </a:p>
          <a:p>
            <a:endParaRPr lang="en-US" sz="2400" b="1" i="1" dirty="0" smtClean="0">
              <a:solidFill>
                <a:schemeClr val="tx1">
                  <a:lumMod val="95000"/>
                </a:schemeClr>
              </a:solidFill>
            </a:endParaRPr>
          </a:p>
          <a:p>
            <a:pPr>
              <a:buNone/>
            </a:pPr>
            <a:endParaRPr lang="en-US" sz="2400" dirty="0" smtClean="0">
              <a:solidFill>
                <a:srgbClr val="FF0000"/>
              </a:solidFill>
            </a:endParaRPr>
          </a:p>
          <a:p>
            <a:endParaRPr lang="en-US" sz="3000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8001000" cy="5212560"/>
          </a:xfrm>
        </p:spPr>
        <p:txBody>
          <a:bodyPr/>
          <a:lstStyle/>
          <a:p>
            <a:r>
              <a:rPr lang="en-US" dirty="0" smtClean="0"/>
              <a:t>NOW  “</a:t>
            </a:r>
            <a:r>
              <a:rPr lang="en-US" b="1" dirty="0" smtClean="0"/>
              <a:t>To show that </a:t>
            </a:r>
            <a:r>
              <a:rPr lang="en-US" sz="3200" b="1" dirty="0" smtClean="0"/>
              <a:t>if the cost function for an instance of the travelling salesman problem satisfies the triangular inequality, </a:t>
            </a:r>
            <a:r>
              <a:rPr lang="en-US" sz="3200" b="1" i="1" u="sng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then APPROX_TSP_TOUR returns a tour H  whose cost is not more than twice the cost of an optimal tour</a:t>
            </a:r>
            <a:r>
              <a:rPr lang="en-US" b="1" i="1" u="sng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i.e,</a:t>
            </a:r>
            <a:r>
              <a:rPr lang="en-US" b="1" i="1" u="sng" dirty="0" smtClean="0">
                <a:solidFill>
                  <a:schemeClr val="accent4">
                    <a:lumMod val="60000"/>
                    <a:lumOff val="40000"/>
                  </a:schemeClr>
                </a:solidFill>
                <a:sym typeface="Wingdings" pitchFamily="2" charset="2"/>
              </a:rPr>
              <a:t>2</a:t>
            </a:r>
            <a:r>
              <a:rPr lang="en-US" b="1" i="1" u="sng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c(H</a:t>
            </a:r>
            <a:r>
              <a:rPr lang="en-US" b="1" i="1" u="sng" baseline="30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*</a:t>
            </a:r>
            <a:r>
              <a:rPr lang="en-US" b="1" i="1" u="sng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).</a:t>
            </a:r>
          </a:p>
          <a:p>
            <a:pPr>
              <a:buNone/>
            </a:pPr>
            <a:r>
              <a:rPr lang="en-US" dirty="0" smtClean="0">
                <a:solidFill>
                  <a:srgbClr val="FFFF00"/>
                </a:solidFill>
              </a:rPr>
              <a:t>To Prove: </a:t>
            </a:r>
          </a:p>
          <a:p>
            <a:pPr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i.e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b="1" i="1" dirty="0" smtClean="0">
                <a:sym typeface="Wingdings" pitchFamily="2" charset="2"/>
              </a:rPr>
              <a:t>c(H) &lt;= 2</a:t>
            </a:r>
            <a:r>
              <a:rPr lang="en-US" b="1" i="1" dirty="0" smtClean="0"/>
              <a:t> c(H</a:t>
            </a:r>
            <a:r>
              <a:rPr lang="en-US" b="1" i="1" baseline="30000" dirty="0" smtClean="0"/>
              <a:t>*</a:t>
            </a:r>
            <a:r>
              <a:rPr lang="en-US" b="1" i="1" dirty="0" smtClean="0"/>
              <a:t>).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26464"/>
          </a:xfrm>
        </p:spPr>
        <p:txBody>
          <a:bodyPr>
            <a:noAutofit/>
          </a:bodyPr>
          <a:lstStyle/>
          <a:p>
            <a:pPr algn="l"/>
            <a:r>
              <a:rPr lang="en-US" sz="2400" b="1" u="sng" dirty="0" smtClean="0">
                <a:solidFill>
                  <a:srgbClr val="FFFF00"/>
                </a:solidFill>
              </a:rPr>
              <a:t>THEOREM  - 35.2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b="1" dirty="0" smtClean="0">
                <a:solidFill>
                  <a:srgbClr val="00B0F0"/>
                </a:solidFill>
              </a:rPr>
              <a:t>APPROX_TSP_TOUR is polynomial time 2 approximation algorithm for the  TSP with triangular inequality</a:t>
            </a:r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763000" cy="5486400"/>
          </a:xfrm>
        </p:spPr>
        <p:txBody>
          <a:bodyPr>
            <a:noAutofit/>
          </a:bodyPr>
          <a:lstStyle/>
          <a:p>
            <a:r>
              <a:rPr lang="en-US" sz="2800" b="1" i="1" u="sng" dirty="0" smtClean="0"/>
              <a:t>Proof :</a:t>
            </a:r>
            <a:r>
              <a:rPr lang="en-US" sz="2800" b="1" dirty="0" smtClean="0"/>
              <a:t> </a:t>
            </a:r>
            <a:r>
              <a:rPr lang="en-US" sz="2000" b="1" dirty="0" smtClean="0"/>
              <a:t>APPROX_TSP_TOUR runs in polynomial time (proved)</a:t>
            </a:r>
          </a:p>
          <a:p>
            <a:pPr>
              <a:buNone/>
            </a:pPr>
            <a:endParaRPr lang="en-US" sz="2000" b="1" dirty="0" smtClean="0"/>
          </a:p>
          <a:p>
            <a:r>
              <a:rPr lang="en-US" sz="2000" b="1" dirty="0" smtClean="0"/>
              <a:t>Let </a:t>
            </a:r>
            <a:r>
              <a:rPr lang="en-US" sz="2000" b="1" i="1" dirty="0" smtClean="0">
                <a:solidFill>
                  <a:srgbClr val="FFFF00"/>
                </a:solidFill>
              </a:rPr>
              <a:t>H</a:t>
            </a:r>
            <a:r>
              <a:rPr lang="en-US" sz="2000" b="1" i="1" baseline="30000" dirty="0" smtClean="0">
                <a:solidFill>
                  <a:srgbClr val="FFFF00"/>
                </a:solidFill>
              </a:rPr>
              <a:t>* </a:t>
            </a:r>
            <a:r>
              <a:rPr lang="en-US" sz="2000" b="1" i="1" dirty="0" smtClean="0">
                <a:solidFill>
                  <a:srgbClr val="FFFF00"/>
                </a:solidFill>
              </a:rPr>
              <a:t> </a:t>
            </a:r>
            <a:r>
              <a:rPr lang="en-US" sz="2000" b="1" dirty="0" smtClean="0"/>
              <a:t>denote</a:t>
            </a:r>
            <a:r>
              <a:rPr lang="en-US" sz="2000" b="1" i="1" dirty="0" smtClean="0">
                <a:solidFill>
                  <a:srgbClr val="FF0000"/>
                </a:solidFill>
              </a:rPr>
              <a:t>  </a:t>
            </a:r>
            <a:r>
              <a:rPr lang="en-US" sz="2000" b="1" dirty="0" smtClean="0"/>
              <a:t>an optimal tour for the given set of vertices..</a:t>
            </a:r>
          </a:p>
          <a:p>
            <a:r>
              <a:rPr lang="en-US" sz="2000" b="1" dirty="0" smtClean="0"/>
              <a:t>Since  we obtain a spanning tree by deleting any edge  from a tour, </a:t>
            </a:r>
            <a:r>
              <a:rPr lang="en-US" sz="2000" b="1" dirty="0" smtClean="0">
                <a:solidFill>
                  <a:srgbClr val="FF0000"/>
                </a:solidFill>
              </a:rPr>
              <a:t>the weight of the </a:t>
            </a:r>
            <a:r>
              <a:rPr lang="en-US" sz="2000" b="1" dirty="0" smtClean="0">
                <a:solidFill>
                  <a:srgbClr val="FFFF00"/>
                </a:solidFill>
              </a:rPr>
              <a:t>minimum spanning tree  T</a:t>
            </a:r>
            <a:r>
              <a:rPr lang="en-US" sz="2000" b="1" dirty="0" smtClean="0">
                <a:solidFill>
                  <a:srgbClr val="FF0000"/>
                </a:solidFill>
              </a:rPr>
              <a:t> is lower bound </a:t>
            </a:r>
            <a:r>
              <a:rPr lang="en-US" sz="2000" b="1" dirty="0" smtClean="0"/>
              <a:t>on the cost of an optimal tour , that is</a:t>
            </a:r>
          </a:p>
          <a:p>
            <a:pPr>
              <a:buNone/>
            </a:pPr>
            <a:r>
              <a:rPr lang="en-US" sz="2000" b="1" dirty="0"/>
              <a:t> </a:t>
            </a:r>
            <a:r>
              <a:rPr lang="en-US" sz="2000" b="1" dirty="0" smtClean="0"/>
              <a:t>                      </a:t>
            </a:r>
            <a:r>
              <a:rPr lang="en-US" sz="2000" b="1" i="1" dirty="0" smtClean="0"/>
              <a:t>c(T) &lt;= c(H</a:t>
            </a:r>
            <a:r>
              <a:rPr lang="en-US" sz="2000" b="1" i="1" baseline="30000" dirty="0" smtClean="0"/>
              <a:t>*</a:t>
            </a:r>
            <a:r>
              <a:rPr lang="en-US" sz="2000" b="1" i="1" dirty="0" smtClean="0"/>
              <a:t>). -------------------------------</a:t>
            </a:r>
            <a:r>
              <a:rPr lang="en-US" sz="2000" b="1" i="1" dirty="0" smtClean="0">
                <a:sym typeface="Wingdings" pitchFamily="2" charset="2"/>
              </a:rPr>
              <a:t>   (1) </a:t>
            </a:r>
          </a:p>
          <a:p>
            <a:r>
              <a:rPr lang="en-US" sz="2000" b="1" i="1" dirty="0" smtClean="0"/>
              <a:t> </a:t>
            </a:r>
            <a:r>
              <a:rPr lang="en-US" sz="2000" b="1" dirty="0" smtClean="0"/>
              <a:t>A </a:t>
            </a:r>
            <a:r>
              <a:rPr lang="en-US" sz="2000" b="1" i="1" dirty="0" smtClean="0">
                <a:solidFill>
                  <a:srgbClr val="FF0000"/>
                </a:solidFill>
              </a:rPr>
              <a:t>full walk of T lists the vertices  </a:t>
            </a:r>
            <a:r>
              <a:rPr lang="en-US" sz="2000" b="1" dirty="0" smtClean="0"/>
              <a:t>when they are first visited and  also whenever they are returned to after a visit to a </a:t>
            </a:r>
            <a:r>
              <a:rPr lang="en-US" sz="2000" b="1" dirty="0" err="1" smtClean="0"/>
              <a:t>subtree</a:t>
            </a:r>
            <a:r>
              <a:rPr lang="en-US" sz="2000" b="1" dirty="0" smtClean="0"/>
              <a:t> .  </a:t>
            </a:r>
            <a:r>
              <a:rPr lang="en-US" sz="2000" b="1" dirty="0" smtClean="0">
                <a:solidFill>
                  <a:srgbClr val="FF0000"/>
                </a:solidFill>
              </a:rPr>
              <a:t>Let us call this walk as W (</a:t>
            </a:r>
            <a:r>
              <a:rPr lang="en-US" sz="2000" b="1" dirty="0" smtClean="0"/>
              <a:t>order </a:t>
            </a:r>
            <a:r>
              <a:rPr lang="en-US" sz="2000" b="1" i="1" dirty="0" err="1" smtClean="0">
                <a:solidFill>
                  <a:srgbClr val="FF0000"/>
                </a:solidFill>
              </a:rPr>
              <a:t>a,b,c,b,h,b,a,d,e,f,e,g,e,d,a</a:t>
            </a:r>
            <a:r>
              <a:rPr lang="en-US" sz="2000" b="1" i="1" dirty="0" smtClean="0">
                <a:solidFill>
                  <a:srgbClr val="FF0000"/>
                </a:solidFill>
              </a:rPr>
              <a:t>. by example )</a:t>
            </a:r>
          </a:p>
          <a:p>
            <a:r>
              <a:rPr lang="en-US" sz="2000" b="1" i="1" dirty="0" smtClean="0"/>
              <a:t>Since the </a:t>
            </a:r>
            <a:r>
              <a:rPr lang="en-US" sz="2000" b="1" i="1" u="sng" dirty="0" smtClean="0">
                <a:solidFill>
                  <a:srgbClr val="FFC000"/>
                </a:solidFill>
              </a:rPr>
              <a:t>full walk traverse every edge of T exactly </a:t>
            </a:r>
            <a:r>
              <a:rPr lang="en-US" sz="2000" b="1" i="1" u="sng" dirty="0" err="1" smtClean="0">
                <a:solidFill>
                  <a:srgbClr val="FFC000"/>
                </a:solidFill>
              </a:rPr>
              <a:t>twice</a:t>
            </a:r>
            <a:r>
              <a:rPr lang="en-US" sz="2000" b="1" i="1" dirty="0" err="1" smtClean="0">
                <a:solidFill>
                  <a:srgbClr val="FFC000"/>
                </a:solidFill>
              </a:rPr>
              <a:t>,</a:t>
            </a:r>
            <a:r>
              <a:rPr lang="en-US" sz="2000" b="1" i="1" dirty="0" err="1" smtClean="0"/>
              <a:t>we</a:t>
            </a:r>
            <a:r>
              <a:rPr lang="en-US" sz="2000" b="1" i="1" dirty="0" smtClean="0"/>
              <a:t> have </a:t>
            </a:r>
          </a:p>
          <a:p>
            <a:pPr>
              <a:buNone/>
            </a:pPr>
            <a:r>
              <a:rPr lang="en-US" sz="2000" b="1" i="1" dirty="0" smtClean="0"/>
              <a:t>                     c(W) = 2c(T).--------------------------------</a:t>
            </a:r>
            <a:r>
              <a:rPr lang="en-US" sz="2000" b="1" i="1" dirty="0" smtClean="0">
                <a:sym typeface="Wingdings" pitchFamily="2" charset="2"/>
              </a:rPr>
              <a:t>    (2)</a:t>
            </a:r>
          </a:p>
          <a:p>
            <a:pPr>
              <a:buNone/>
            </a:pPr>
            <a:r>
              <a:rPr lang="en-US" sz="2000" b="1" i="1" dirty="0" smtClean="0">
                <a:sym typeface="Wingdings" pitchFamily="2" charset="2"/>
              </a:rPr>
              <a:t>From (1) and  (2) ,we’ve,  c(W) &lt;=2</a:t>
            </a:r>
            <a:r>
              <a:rPr lang="en-US" sz="2000" b="1" i="1" dirty="0" smtClean="0"/>
              <a:t> c(H</a:t>
            </a:r>
            <a:r>
              <a:rPr lang="en-US" sz="2000" b="1" i="1" baseline="30000" dirty="0" smtClean="0"/>
              <a:t>*</a:t>
            </a:r>
            <a:r>
              <a:rPr lang="en-US" sz="2000" b="1" i="1" dirty="0" smtClean="0"/>
              <a:t>).-------------------</a:t>
            </a:r>
            <a:r>
              <a:rPr lang="en-US" sz="2000" b="1" i="1" dirty="0" smtClean="0">
                <a:sym typeface="Wingdings" pitchFamily="2" charset="2"/>
              </a:rPr>
              <a:t>(3)</a:t>
            </a:r>
            <a:r>
              <a:rPr lang="en-US" sz="2000" b="1" i="1" dirty="0" smtClean="0"/>
              <a:t> </a:t>
            </a:r>
          </a:p>
          <a:p>
            <a:pPr>
              <a:buNone/>
            </a:pPr>
            <a:r>
              <a:rPr lang="en-US" sz="2000" b="1" i="1" dirty="0"/>
              <a:t> </a:t>
            </a:r>
            <a:r>
              <a:rPr lang="en-US" sz="2000" b="1" i="1" dirty="0" smtClean="0"/>
              <a:t>    So the cost  </a:t>
            </a:r>
            <a:r>
              <a:rPr lang="en-US" sz="2000" b="1" i="1" dirty="0" smtClean="0"/>
              <a:t>of W is </a:t>
            </a:r>
            <a:r>
              <a:rPr lang="en-US" sz="2000" b="1" i="1" dirty="0" smtClean="0"/>
              <a:t>within a factor of the cost of an optimal tour. BUT </a:t>
            </a:r>
            <a:r>
              <a:rPr lang="en-US" sz="2000" b="1" i="1" dirty="0" smtClean="0"/>
              <a:t> W </a:t>
            </a:r>
            <a:r>
              <a:rPr lang="en-US" sz="2000" b="1" i="1" dirty="0" smtClean="0"/>
              <a:t>is not a tour, since it visits some vertices more than once. </a:t>
            </a:r>
          </a:p>
          <a:p>
            <a:pPr>
              <a:buNone/>
            </a:pPr>
            <a:endParaRPr lang="en-US" sz="2000" b="1" i="1" dirty="0"/>
          </a:p>
          <a:p>
            <a:endParaRPr lang="en-US" sz="2000" dirty="0" smtClean="0"/>
          </a:p>
          <a:p>
            <a:r>
              <a:rPr lang="en-US" sz="2000" dirty="0" smtClean="0"/>
              <a:t> </a:t>
            </a:r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04800"/>
            <a:ext cx="7772400" cy="457200"/>
          </a:xfrm>
        </p:spPr>
        <p:txBody>
          <a:bodyPr/>
          <a:lstStyle/>
          <a:p>
            <a:r>
              <a:rPr lang="en-US" dirty="0" err="1" smtClean="0"/>
              <a:t>Contnd</a:t>
            </a:r>
            <a:r>
              <a:rPr lang="en-US" dirty="0" smtClean="0"/>
              <a:t>……………………….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 fontScale="70000" lnSpcReduction="20000"/>
          </a:bodyPr>
          <a:lstStyle/>
          <a:p>
            <a:r>
              <a:rPr lang="en-US" b="1" i="1" dirty="0" smtClean="0">
                <a:solidFill>
                  <a:srgbClr val="FFFF00"/>
                </a:solidFill>
              </a:rPr>
              <a:t>W is not </a:t>
            </a:r>
            <a:r>
              <a:rPr lang="en-US" b="1" i="1" dirty="0" err="1" smtClean="0">
                <a:solidFill>
                  <a:srgbClr val="FFFF00"/>
                </a:solidFill>
              </a:rPr>
              <a:t>atour,since</a:t>
            </a:r>
            <a:r>
              <a:rPr lang="en-US" b="1" i="1" dirty="0" smtClean="0">
                <a:solidFill>
                  <a:srgbClr val="FFFF00"/>
                </a:solidFill>
              </a:rPr>
              <a:t> it visits vertices more than once.</a:t>
            </a:r>
          </a:p>
          <a:p>
            <a:r>
              <a:rPr lang="en-US" b="1" i="1" dirty="0" smtClean="0">
                <a:solidFill>
                  <a:srgbClr val="00B0F0"/>
                </a:solidFill>
              </a:rPr>
              <a:t>By </a:t>
            </a:r>
            <a:r>
              <a:rPr lang="en-US" b="1" i="1" dirty="0" smtClean="0">
                <a:solidFill>
                  <a:srgbClr val="00B0F0"/>
                </a:solidFill>
              </a:rPr>
              <a:t>the triangular inequality</a:t>
            </a:r>
            <a:r>
              <a:rPr lang="en-US" b="1" i="1" dirty="0" smtClean="0">
                <a:solidFill>
                  <a:srgbClr val="FFFF00"/>
                </a:solidFill>
              </a:rPr>
              <a:t>, we can </a:t>
            </a:r>
            <a:r>
              <a:rPr lang="en-US" b="1" i="1" dirty="0" smtClean="0">
                <a:solidFill>
                  <a:srgbClr val="00B0F0"/>
                </a:solidFill>
              </a:rPr>
              <a:t>delete a visit to any vertex   </a:t>
            </a:r>
            <a:r>
              <a:rPr lang="en-US" b="1" i="1" dirty="0" smtClean="0">
                <a:solidFill>
                  <a:srgbClr val="FFFF00"/>
                </a:solidFill>
              </a:rPr>
              <a:t>from W and the  cost does not increase.</a:t>
            </a:r>
          </a:p>
          <a:p>
            <a:pPr>
              <a:buNone/>
            </a:pPr>
            <a:r>
              <a:rPr lang="en-US" b="1" i="1" dirty="0" smtClean="0"/>
              <a:t>         </a:t>
            </a:r>
            <a:r>
              <a:rPr lang="en-US" b="1" i="1" dirty="0" err="1" smtClean="0"/>
              <a:t>ie</a:t>
            </a:r>
            <a:r>
              <a:rPr lang="en-US" b="1" i="1" dirty="0" smtClean="0"/>
              <a:t>., if vertex  </a:t>
            </a:r>
            <a:r>
              <a:rPr lang="en-US" b="1" i="1" dirty="0" smtClean="0"/>
              <a:t>v deleted </a:t>
            </a:r>
            <a:r>
              <a:rPr lang="en-US" b="1" i="1" dirty="0" smtClean="0"/>
              <a:t>from  </a:t>
            </a:r>
            <a:r>
              <a:rPr lang="en-US" b="1" i="1" dirty="0" smtClean="0"/>
              <a:t>W between visits u </a:t>
            </a:r>
            <a:r>
              <a:rPr lang="en-US" b="1" i="1" dirty="0" err="1" smtClean="0"/>
              <a:t>to,w</a:t>
            </a:r>
            <a:r>
              <a:rPr lang="en-US" b="1" i="1" dirty="0" smtClean="0"/>
              <a:t> </a:t>
            </a:r>
            <a:r>
              <a:rPr lang="en-US" b="1" i="1" dirty="0" smtClean="0"/>
              <a:t>, the resulting ordering specifies going directly from u to w .</a:t>
            </a:r>
          </a:p>
          <a:p>
            <a:r>
              <a:rPr lang="en-US" b="1" i="1" dirty="0" smtClean="0"/>
              <a:t>By repeatedly applying  this operation , we remove  from W all but the first visit to each vertex. (</a:t>
            </a:r>
            <a:r>
              <a:rPr lang="en-US" b="1" dirty="0" err="1" smtClean="0">
                <a:solidFill>
                  <a:srgbClr val="FF0000"/>
                </a:solidFill>
              </a:rPr>
              <a:t>a,b,c,h,d,e,f,g</a:t>
            </a:r>
            <a:r>
              <a:rPr lang="en-US" b="1" dirty="0" smtClean="0">
                <a:solidFill>
                  <a:srgbClr val="FF0000"/>
                </a:solidFill>
              </a:rPr>
              <a:t> – pre order walk  by example) </a:t>
            </a:r>
          </a:p>
          <a:p>
            <a:r>
              <a:rPr lang="en-US" b="1" dirty="0" smtClean="0"/>
              <a:t>Now Let  </a:t>
            </a:r>
            <a:r>
              <a:rPr lang="en-US" b="1" dirty="0" smtClean="0">
                <a:solidFill>
                  <a:srgbClr val="FF0000"/>
                </a:solidFill>
              </a:rPr>
              <a:t>H</a:t>
            </a:r>
            <a:r>
              <a:rPr lang="en-US" b="1" dirty="0" smtClean="0"/>
              <a:t> be the cycle  corresponding to this preorder walk .</a:t>
            </a:r>
          </a:p>
          <a:p>
            <a:pPr>
              <a:buNone/>
            </a:pPr>
            <a:r>
              <a:rPr lang="en-US" b="1" dirty="0" smtClean="0"/>
              <a:t>        It is a Hamiltonian cycle ,since every vertex is visited exactly once and it is the cycle computed by APPRX_TSP_TOUR. </a:t>
            </a:r>
          </a:p>
          <a:p>
            <a:pPr>
              <a:buNone/>
            </a:pPr>
            <a:r>
              <a:rPr lang="en-US" b="1" dirty="0" smtClean="0"/>
              <a:t>        </a:t>
            </a:r>
            <a:r>
              <a:rPr lang="en-US" b="1" i="1" dirty="0" smtClean="0"/>
              <a:t>Since H </a:t>
            </a:r>
            <a:r>
              <a:rPr lang="en-US" b="1" dirty="0" smtClean="0"/>
              <a:t>is obtained by deleting  vertices from the FULL WAILK  </a:t>
            </a:r>
            <a:r>
              <a:rPr lang="en-US" b="1" i="1" dirty="0" smtClean="0"/>
              <a:t>W,</a:t>
            </a:r>
            <a:r>
              <a:rPr lang="en-US" b="1" dirty="0" smtClean="0"/>
              <a:t> we ‘</a:t>
            </a:r>
            <a:r>
              <a:rPr lang="en-US" b="1" dirty="0" err="1" smtClean="0"/>
              <a:t>ve</a:t>
            </a:r>
            <a:r>
              <a:rPr lang="en-US" b="1" dirty="0" smtClean="0"/>
              <a:t> ,</a:t>
            </a:r>
          </a:p>
          <a:p>
            <a:pPr>
              <a:buNone/>
            </a:pPr>
            <a:r>
              <a:rPr lang="en-US" b="1" i="1" dirty="0" smtClean="0"/>
              <a:t>                  c(H)&lt;= c(W) --------------------------------</a:t>
            </a:r>
            <a:r>
              <a:rPr lang="en-US" b="1" i="1" dirty="0" smtClean="0">
                <a:sym typeface="Wingdings" pitchFamily="2" charset="2"/>
              </a:rPr>
              <a:t> (4)</a:t>
            </a:r>
          </a:p>
          <a:p>
            <a:pPr>
              <a:buNone/>
            </a:pPr>
            <a:r>
              <a:rPr lang="en-US" b="1" i="1" dirty="0" smtClean="0">
                <a:sym typeface="Wingdings" pitchFamily="2" charset="2"/>
              </a:rPr>
              <a:t> From (3) and (4)  , it shows that </a:t>
            </a:r>
          </a:p>
          <a:p>
            <a:pPr>
              <a:buNone/>
            </a:pPr>
            <a:r>
              <a:rPr lang="en-US" b="1" i="1" dirty="0" smtClean="0">
                <a:sym typeface="Wingdings" pitchFamily="2" charset="2"/>
              </a:rPr>
              <a:t>                 c(H) &lt;= 2</a:t>
            </a:r>
            <a:r>
              <a:rPr lang="en-US" b="1" i="1" dirty="0" smtClean="0"/>
              <a:t> c(H</a:t>
            </a:r>
            <a:r>
              <a:rPr lang="en-US" b="1" i="1" baseline="30000" dirty="0" smtClean="0"/>
              <a:t>*</a:t>
            </a:r>
            <a:r>
              <a:rPr lang="en-US" b="1" i="1" dirty="0" smtClean="0"/>
              <a:t>). </a:t>
            </a:r>
          </a:p>
          <a:p>
            <a:pPr>
              <a:buNone/>
            </a:pPr>
            <a:r>
              <a:rPr lang="en-US" b="1" dirty="0" smtClean="0"/>
              <a:t>        Which completes the proof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889</TotalTime>
  <Words>1473</Words>
  <Application>Microsoft Office PowerPoint</Application>
  <PresentationFormat>On-screen Show (4:3)</PresentationFormat>
  <Paragraphs>152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Arial</vt:lpstr>
      <vt:lpstr>Calibri</vt:lpstr>
      <vt:lpstr>Cambria Math</vt:lpstr>
      <vt:lpstr>Consolas</vt:lpstr>
      <vt:lpstr>Corbel</vt:lpstr>
      <vt:lpstr>Levenim MT</vt:lpstr>
      <vt:lpstr>Miriam</vt:lpstr>
      <vt:lpstr>Symbol</vt:lpstr>
      <vt:lpstr>Times New Roman (Hebrew)</vt:lpstr>
      <vt:lpstr>Wingdings</vt:lpstr>
      <vt:lpstr>Wingdings 2</vt:lpstr>
      <vt:lpstr>Wingdings 3</vt:lpstr>
      <vt:lpstr>Metro</vt:lpstr>
      <vt:lpstr>Equation</vt:lpstr>
      <vt:lpstr>Approximation Algorithm</vt:lpstr>
      <vt:lpstr>PowerPoint Presentation</vt:lpstr>
      <vt:lpstr>PowerPoint Presentation</vt:lpstr>
      <vt:lpstr>What is a Minimum Spanning Tree? </vt:lpstr>
      <vt:lpstr>PowerPoint Presentation</vt:lpstr>
      <vt:lpstr>PowerPoint Presentation</vt:lpstr>
      <vt:lpstr>PowerPoint Presentation</vt:lpstr>
      <vt:lpstr>PowerPoint Presentation</vt:lpstr>
      <vt:lpstr>Travelling Salesman Problem</vt:lpstr>
      <vt:lpstr>What is a Minimum Spanning Tree?</vt:lpstr>
      <vt:lpstr>TSP</vt:lpstr>
      <vt:lpstr>TSP- TRIANGULAR INEQUALITY</vt:lpstr>
      <vt:lpstr>The Triangle Inequality</vt:lpstr>
      <vt:lpstr>TSP</vt:lpstr>
      <vt:lpstr>What is a Minimum Spanning Tree? </vt:lpstr>
      <vt:lpstr>PowerPoint Presentation</vt:lpstr>
      <vt:lpstr>PowerPoint Presentation</vt:lpstr>
      <vt:lpstr>TSP</vt:lpstr>
      <vt:lpstr>TSP with Triangle Inequality</vt:lpstr>
      <vt:lpstr>PowerPoint Presentation</vt:lpstr>
      <vt:lpstr>The operation of TSP_TOUR</vt:lpstr>
      <vt:lpstr>TSP</vt:lpstr>
      <vt:lpstr>THEOREM  - 35.2  APPROX_TSP_TOUR is polynomial time 2 approximation algorithm for the  TSP with triangular inequality</vt:lpstr>
      <vt:lpstr>Contnd……………………….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Travelling salesman problem  </dc:title>
  <dc:creator>VIT-Laptop</dc:creator>
  <cp:lastModifiedBy>lenovo</cp:lastModifiedBy>
  <cp:revision>38</cp:revision>
  <dcterms:created xsi:type="dcterms:W3CDTF">2014-04-20T22:55:15Z</dcterms:created>
  <dcterms:modified xsi:type="dcterms:W3CDTF">2022-09-27T09:43:31Z</dcterms:modified>
</cp:coreProperties>
</file>