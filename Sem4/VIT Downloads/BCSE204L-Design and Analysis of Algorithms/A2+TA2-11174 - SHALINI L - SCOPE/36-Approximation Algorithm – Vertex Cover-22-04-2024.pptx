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9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5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3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4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3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2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90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9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5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D91A1-7045-4B1C-92DD-19ECC04C4711}" type="datetimeFigureOut">
              <a:rPr lang="en-US" smtClean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B6B09-3E41-4CBE-962E-F8AEADBCB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4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Approximation Algorithm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Vertex Cover is 2 Approximation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960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/>
              <a:t>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 smtClean="0"/>
              <a:t>Vertex </a:t>
            </a:r>
            <a:r>
              <a:rPr lang="en-US" dirty="0"/>
              <a:t>cover of an undirected graph is </a:t>
            </a:r>
            <a:r>
              <a:rPr lang="en-US" b="1" dirty="0"/>
              <a:t>a subset of its vertices such that for every edge (u, v) of the graph, either 'u' or 'v' is in the vertex cover</a:t>
            </a:r>
            <a:r>
              <a:rPr lang="en-US" dirty="0"/>
              <a:t>. Although the name is Vertex Cover, the set covers all edges of the given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5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2003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12C413-F330-4E46-A5E7-7D934F623801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/>
              <a:t>The vertex-cover problem	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7772400" cy="441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 vertex-cover of an undirected graph G is a subset of its vertices such that it </a:t>
            </a:r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includes at least one end of each edge</a:t>
            </a:r>
            <a:r>
              <a:rPr lang="en-US" dirty="0"/>
              <a:t>.</a:t>
            </a:r>
          </a:p>
          <a:p>
            <a:pPr eaLnBrk="1" hangingPunct="1">
              <a:defRPr/>
            </a:pPr>
            <a:r>
              <a:rPr lang="en-US" dirty="0"/>
              <a:t>The problem is </a:t>
            </a:r>
            <a:r>
              <a:rPr lang="en-US" i="1" dirty="0">
                <a:solidFill>
                  <a:schemeClr val="tx1">
                    <a:lumMod val="10000"/>
                  </a:schemeClr>
                </a:solidFill>
              </a:rPr>
              <a:t>to f</a:t>
            </a:r>
            <a:r>
              <a:rPr lang="en-US" i="1" dirty="0">
                <a:solidFill>
                  <a:srgbClr val="FF0000"/>
                </a:solidFill>
              </a:rPr>
              <a:t>ind minimum size of vertex-cover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the given graph.</a:t>
            </a:r>
          </a:p>
          <a:p>
            <a:pPr eaLnBrk="1" hangingPunct="1">
              <a:defRPr/>
            </a:pPr>
            <a:r>
              <a:rPr lang="en-US" dirty="0"/>
              <a:t>This problem is an NP-Complete problem.</a:t>
            </a:r>
          </a:p>
        </p:txBody>
      </p:sp>
    </p:spTree>
    <p:extLst>
      <p:ext uri="{BB962C8B-B14F-4D97-AF65-F5344CB8AC3E}">
        <p14:creationId xmlns:p14="http://schemas.microsoft.com/office/powerpoint/2010/main" val="772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2003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E41A27-A504-4003-9F1F-E8E4465E43EB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/>
              <a:t>The vertex-cover problem	 …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7772400" cy="441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Finding the optimal solution is hard (its NP!) but finding a near-optimal solution is easy.</a:t>
            </a:r>
          </a:p>
          <a:p>
            <a:pPr eaLnBrk="1" hangingPunct="1">
              <a:defRPr/>
            </a:pPr>
            <a:r>
              <a:rPr lang="en-US" dirty="0"/>
              <a:t>There is an 2-approximation algorithm:</a:t>
            </a:r>
          </a:p>
          <a:p>
            <a:pPr lvl="1" eaLnBrk="1" hangingPunct="1">
              <a:defRPr/>
            </a:pPr>
            <a:r>
              <a:rPr lang="en-US" dirty="0"/>
              <a:t>It returns a </a:t>
            </a:r>
            <a:r>
              <a:rPr lang="en-US" b="1" i="1" u="sng" dirty="0">
                <a:solidFill>
                  <a:schemeClr val="tx1">
                    <a:lumMod val="10000"/>
                  </a:schemeClr>
                </a:solidFill>
              </a:rPr>
              <a:t>vertex-cover</a:t>
            </a:r>
            <a:r>
              <a:rPr lang="en-US" dirty="0"/>
              <a:t> </a:t>
            </a:r>
            <a:r>
              <a:rPr lang="en-US" b="1" i="1" dirty="0">
                <a:solidFill>
                  <a:schemeClr val="tx1">
                    <a:lumMod val="10000"/>
                  </a:schemeClr>
                </a:solidFill>
              </a:rPr>
              <a:t>not more than </a:t>
            </a:r>
            <a:r>
              <a:rPr lang="en-US" b="1" i="1" u="sng" dirty="0">
                <a:solidFill>
                  <a:schemeClr val="tx1">
                    <a:lumMod val="10000"/>
                  </a:schemeClr>
                </a:solidFill>
              </a:rPr>
              <a:t>twice</a:t>
            </a:r>
            <a:r>
              <a:rPr lang="en-US" b="1" i="1" dirty="0">
                <a:solidFill>
                  <a:schemeClr val="tx1">
                    <a:lumMod val="10000"/>
                  </a:schemeClr>
                </a:solidFill>
              </a:rPr>
              <a:t> of the </a:t>
            </a:r>
            <a:r>
              <a:rPr lang="en-US" b="1" i="1" u="sng" dirty="0">
                <a:solidFill>
                  <a:schemeClr val="tx1">
                    <a:lumMod val="10000"/>
                  </a:schemeClr>
                </a:solidFill>
              </a:rPr>
              <a:t>size optimal solution.</a:t>
            </a:r>
          </a:p>
          <a:p>
            <a:pPr eaLnBrk="1" hangingPunct="1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73797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2003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F8AE03-8B60-4AAA-9A82-E9D1B8FB42B4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/>
              <a:t>The vertex-cover problem	 …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8077200" cy="441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000" b="1" dirty="0"/>
              <a:t>APPROX-VERTEX-COVER(G)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1 	C ← 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2 	E′ ← E[G]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3 	while E′ ≠ Ø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4 	  do let (u, v) be an arbitrary edge of E′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5 		C ← C U {u, v}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6 		remove every edge in E′ incident on u   or v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b="1" dirty="0"/>
              <a:t>7 return C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eaLnBrk="1" hangingPunct="1">
              <a:lnSpc>
                <a:spcPct val="80000"/>
              </a:lnSpc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4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2003</a:t>
            </a:r>
          </a:p>
        </p:txBody>
      </p:sp>
      <p:sp>
        <p:nvSpPr>
          <p:cNvPr id="1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1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AC6621-BEAB-4081-8B10-6B6185DA6AD1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/>
              <a:t>The vertex-cover problem	 …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1600" y="1371600"/>
            <a:ext cx="1219200" cy="228600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grpSp>
        <p:nvGrpSpPr>
          <p:cNvPr id="40967" name="Group 40"/>
          <p:cNvGrpSpPr>
            <a:grpSpLocks/>
          </p:cNvGrpSpPr>
          <p:nvPr/>
        </p:nvGrpSpPr>
        <p:grpSpPr bwMode="auto">
          <a:xfrm>
            <a:off x="2286000" y="2133600"/>
            <a:ext cx="2286000" cy="1066800"/>
            <a:chOff x="768" y="1344"/>
            <a:chExt cx="1440" cy="672"/>
          </a:xfrm>
        </p:grpSpPr>
        <p:sp>
          <p:nvSpPr>
            <p:cNvPr id="41050" name="AutoShape 17"/>
            <p:cNvSpPr>
              <a:spLocks noChangeArrowheads="1"/>
            </p:cNvSpPr>
            <p:nvPr/>
          </p:nvSpPr>
          <p:spPr bwMode="auto">
            <a:xfrm>
              <a:off x="768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1" name="AutoShape 23"/>
            <p:cNvSpPr>
              <a:spLocks noChangeArrowheads="1"/>
            </p:cNvSpPr>
            <p:nvPr/>
          </p:nvSpPr>
          <p:spPr bwMode="auto">
            <a:xfrm>
              <a:off x="1200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2" name="AutoShape 27"/>
            <p:cNvSpPr>
              <a:spLocks noChangeArrowheads="1"/>
            </p:cNvSpPr>
            <p:nvPr/>
          </p:nvSpPr>
          <p:spPr bwMode="auto">
            <a:xfrm>
              <a:off x="1632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3" name="AutoShape 28"/>
            <p:cNvSpPr>
              <a:spLocks noChangeArrowheads="1"/>
            </p:cNvSpPr>
            <p:nvPr/>
          </p:nvSpPr>
          <p:spPr bwMode="auto">
            <a:xfrm>
              <a:off x="2016" y="15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4" name="AutoShape 29"/>
            <p:cNvSpPr>
              <a:spLocks noChangeArrowheads="1"/>
            </p:cNvSpPr>
            <p:nvPr/>
          </p:nvSpPr>
          <p:spPr bwMode="auto">
            <a:xfrm>
              <a:off x="768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5" name="AutoShape 30"/>
            <p:cNvSpPr>
              <a:spLocks noChangeArrowheads="1"/>
            </p:cNvSpPr>
            <p:nvPr/>
          </p:nvSpPr>
          <p:spPr bwMode="auto">
            <a:xfrm>
              <a:off x="1200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6" name="AutoShape 31"/>
            <p:cNvSpPr>
              <a:spLocks noChangeArrowheads="1"/>
            </p:cNvSpPr>
            <p:nvPr/>
          </p:nvSpPr>
          <p:spPr bwMode="auto">
            <a:xfrm>
              <a:off x="1632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57" name="Line 32"/>
            <p:cNvSpPr>
              <a:spLocks noChangeShapeType="1"/>
            </p:cNvSpPr>
            <p:nvPr/>
          </p:nvSpPr>
          <p:spPr bwMode="auto">
            <a:xfrm>
              <a:off x="960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8" name="Line 33"/>
            <p:cNvSpPr>
              <a:spLocks noChangeShapeType="1"/>
            </p:cNvSpPr>
            <p:nvPr/>
          </p:nvSpPr>
          <p:spPr bwMode="auto">
            <a:xfrm>
              <a:off x="1392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9" name="Line 34"/>
            <p:cNvSpPr>
              <a:spLocks noChangeShapeType="1"/>
            </p:cNvSpPr>
            <p:nvPr/>
          </p:nvSpPr>
          <p:spPr bwMode="auto">
            <a:xfrm>
              <a:off x="1392" y="19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0" name="Line 35"/>
            <p:cNvSpPr>
              <a:spLocks noChangeShapeType="1"/>
            </p:cNvSpPr>
            <p:nvPr/>
          </p:nvSpPr>
          <p:spPr bwMode="auto">
            <a:xfrm>
              <a:off x="864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1" name="Line 36"/>
            <p:cNvSpPr>
              <a:spLocks noChangeShapeType="1"/>
            </p:cNvSpPr>
            <p:nvPr/>
          </p:nvSpPr>
          <p:spPr bwMode="auto">
            <a:xfrm>
              <a:off x="1296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2" name="Line 37"/>
            <p:cNvSpPr>
              <a:spLocks noChangeShapeType="1"/>
            </p:cNvSpPr>
            <p:nvPr/>
          </p:nvSpPr>
          <p:spPr bwMode="auto">
            <a:xfrm>
              <a:off x="1728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3" name="Line 38"/>
            <p:cNvSpPr>
              <a:spLocks noChangeShapeType="1"/>
            </p:cNvSpPr>
            <p:nvPr/>
          </p:nvSpPr>
          <p:spPr bwMode="auto">
            <a:xfrm flipH="1">
              <a:off x="1344" y="14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4" name="Line 39"/>
            <p:cNvSpPr>
              <a:spLocks noChangeShapeType="1"/>
            </p:cNvSpPr>
            <p:nvPr/>
          </p:nvSpPr>
          <p:spPr bwMode="auto">
            <a:xfrm>
              <a:off x="1824" y="14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129" name="Group 121"/>
          <p:cNvGrpSpPr>
            <a:grpSpLocks/>
          </p:cNvGrpSpPr>
          <p:nvPr/>
        </p:nvGrpSpPr>
        <p:grpSpPr bwMode="auto">
          <a:xfrm>
            <a:off x="5105400" y="2133600"/>
            <a:ext cx="2286000" cy="1066800"/>
            <a:chOff x="2256" y="1344"/>
            <a:chExt cx="1440" cy="672"/>
          </a:xfrm>
        </p:grpSpPr>
        <p:sp>
          <p:nvSpPr>
            <p:cNvPr id="41035" name="AutoShape 42"/>
            <p:cNvSpPr>
              <a:spLocks noChangeArrowheads="1"/>
            </p:cNvSpPr>
            <p:nvPr/>
          </p:nvSpPr>
          <p:spPr bwMode="auto">
            <a:xfrm>
              <a:off x="2256" y="13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36" name="AutoShape 43"/>
            <p:cNvSpPr>
              <a:spLocks noChangeArrowheads="1"/>
            </p:cNvSpPr>
            <p:nvPr/>
          </p:nvSpPr>
          <p:spPr bwMode="auto">
            <a:xfrm>
              <a:off x="2688" y="13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37" name="AutoShape 44"/>
            <p:cNvSpPr>
              <a:spLocks noChangeArrowheads="1"/>
            </p:cNvSpPr>
            <p:nvPr/>
          </p:nvSpPr>
          <p:spPr bwMode="auto">
            <a:xfrm>
              <a:off x="3120" y="13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38" name="AutoShape 45"/>
            <p:cNvSpPr>
              <a:spLocks noChangeArrowheads="1"/>
            </p:cNvSpPr>
            <p:nvPr/>
          </p:nvSpPr>
          <p:spPr bwMode="auto">
            <a:xfrm>
              <a:off x="3504" y="15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39" name="AutoShape 46"/>
            <p:cNvSpPr>
              <a:spLocks noChangeArrowheads="1"/>
            </p:cNvSpPr>
            <p:nvPr/>
          </p:nvSpPr>
          <p:spPr bwMode="auto">
            <a:xfrm>
              <a:off x="2256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40" name="AutoShape 47"/>
            <p:cNvSpPr>
              <a:spLocks noChangeArrowheads="1"/>
            </p:cNvSpPr>
            <p:nvPr/>
          </p:nvSpPr>
          <p:spPr bwMode="auto">
            <a:xfrm>
              <a:off x="2688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41" name="AutoShape 48"/>
            <p:cNvSpPr>
              <a:spLocks noChangeArrowheads="1"/>
            </p:cNvSpPr>
            <p:nvPr/>
          </p:nvSpPr>
          <p:spPr bwMode="auto">
            <a:xfrm>
              <a:off x="3120" y="18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42" name="Line 49"/>
            <p:cNvSpPr>
              <a:spLocks noChangeShapeType="1"/>
            </p:cNvSpPr>
            <p:nvPr/>
          </p:nvSpPr>
          <p:spPr bwMode="auto">
            <a:xfrm>
              <a:off x="2448" y="144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3" name="Line 50"/>
            <p:cNvSpPr>
              <a:spLocks noChangeShapeType="1"/>
            </p:cNvSpPr>
            <p:nvPr/>
          </p:nvSpPr>
          <p:spPr bwMode="auto">
            <a:xfrm>
              <a:off x="2880" y="14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4" name="Line 51"/>
            <p:cNvSpPr>
              <a:spLocks noChangeShapeType="1"/>
            </p:cNvSpPr>
            <p:nvPr/>
          </p:nvSpPr>
          <p:spPr bwMode="auto">
            <a:xfrm>
              <a:off x="2880" y="19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5" name="Line 52"/>
            <p:cNvSpPr>
              <a:spLocks noChangeShapeType="1"/>
            </p:cNvSpPr>
            <p:nvPr/>
          </p:nvSpPr>
          <p:spPr bwMode="auto">
            <a:xfrm>
              <a:off x="2352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Line 53"/>
            <p:cNvSpPr>
              <a:spLocks noChangeShapeType="1"/>
            </p:cNvSpPr>
            <p:nvPr/>
          </p:nvSpPr>
          <p:spPr bwMode="auto">
            <a:xfrm>
              <a:off x="2784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7" name="Line 54"/>
            <p:cNvSpPr>
              <a:spLocks noChangeShapeType="1"/>
            </p:cNvSpPr>
            <p:nvPr/>
          </p:nvSpPr>
          <p:spPr bwMode="auto">
            <a:xfrm>
              <a:off x="3216" y="15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8" name="Line 55"/>
            <p:cNvSpPr>
              <a:spLocks noChangeShapeType="1"/>
            </p:cNvSpPr>
            <p:nvPr/>
          </p:nvSpPr>
          <p:spPr bwMode="auto">
            <a:xfrm flipH="1">
              <a:off x="2832" y="14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9" name="Line 56"/>
            <p:cNvSpPr>
              <a:spLocks noChangeShapeType="1"/>
            </p:cNvSpPr>
            <p:nvPr/>
          </p:nvSpPr>
          <p:spPr bwMode="auto">
            <a:xfrm>
              <a:off x="3312" y="14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134" name="Group 126"/>
          <p:cNvGrpSpPr>
            <a:grpSpLocks/>
          </p:cNvGrpSpPr>
          <p:nvPr/>
        </p:nvGrpSpPr>
        <p:grpSpPr bwMode="auto">
          <a:xfrm>
            <a:off x="2286000" y="4038600"/>
            <a:ext cx="2286000" cy="1066800"/>
            <a:chOff x="480" y="2544"/>
            <a:chExt cx="1440" cy="672"/>
          </a:xfrm>
        </p:grpSpPr>
        <p:sp>
          <p:nvSpPr>
            <p:cNvPr id="41020" name="AutoShape 58"/>
            <p:cNvSpPr>
              <a:spLocks noChangeArrowheads="1"/>
            </p:cNvSpPr>
            <p:nvPr/>
          </p:nvSpPr>
          <p:spPr bwMode="auto">
            <a:xfrm>
              <a:off x="480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1" name="AutoShape 59"/>
            <p:cNvSpPr>
              <a:spLocks noChangeArrowheads="1"/>
            </p:cNvSpPr>
            <p:nvPr/>
          </p:nvSpPr>
          <p:spPr bwMode="auto">
            <a:xfrm>
              <a:off x="912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2" name="AutoShape 60"/>
            <p:cNvSpPr>
              <a:spLocks noChangeArrowheads="1"/>
            </p:cNvSpPr>
            <p:nvPr/>
          </p:nvSpPr>
          <p:spPr bwMode="auto">
            <a:xfrm>
              <a:off x="1344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3" name="AutoShape 61"/>
            <p:cNvSpPr>
              <a:spLocks noChangeArrowheads="1"/>
            </p:cNvSpPr>
            <p:nvPr/>
          </p:nvSpPr>
          <p:spPr bwMode="auto">
            <a:xfrm>
              <a:off x="1728" y="278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4" name="AutoShape 62"/>
            <p:cNvSpPr>
              <a:spLocks noChangeArrowheads="1"/>
            </p:cNvSpPr>
            <p:nvPr/>
          </p:nvSpPr>
          <p:spPr bwMode="auto">
            <a:xfrm>
              <a:off x="480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5" name="AutoShape 63"/>
            <p:cNvSpPr>
              <a:spLocks noChangeArrowheads="1"/>
            </p:cNvSpPr>
            <p:nvPr/>
          </p:nvSpPr>
          <p:spPr bwMode="auto">
            <a:xfrm>
              <a:off x="912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6" name="AutoShape 64"/>
            <p:cNvSpPr>
              <a:spLocks noChangeArrowheads="1"/>
            </p:cNvSpPr>
            <p:nvPr/>
          </p:nvSpPr>
          <p:spPr bwMode="auto">
            <a:xfrm>
              <a:off x="1344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27" name="Line 65"/>
            <p:cNvSpPr>
              <a:spLocks noChangeShapeType="1"/>
            </p:cNvSpPr>
            <p:nvPr/>
          </p:nvSpPr>
          <p:spPr bwMode="auto">
            <a:xfrm>
              <a:off x="672" y="264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8" name="Line 66"/>
            <p:cNvSpPr>
              <a:spLocks noChangeShapeType="1"/>
            </p:cNvSpPr>
            <p:nvPr/>
          </p:nvSpPr>
          <p:spPr bwMode="auto">
            <a:xfrm>
              <a:off x="1104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Line 67"/>
            <p:cNvSpPr>
              <a:spLocks noChangeShapeType="1"/>
            </p:cNvSpPr>
            <p:nvPr/>
          </p:nvSpPr>
          <p:spPr bwMode="auto">
            <a:xfrm>
              <a:off x="1104" y="3120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Line 68"/>
            <p:cNvSpPr>
              <a:spLocks noChangeShapeType="1"/>
            </p:cNvSpPr>
            <p:nvPr/>
          </p:nvSpPr>
          <p:spPr bwMode="auto">
            <a:xfrm>
              <a:off x="576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Line 69"/>
            <p:cNvSpPr>
              <a:spLocks noChangeShapeType="1"/>
            </p:cNvSpPr>
            <p:nvPr/>
          </p:nvSpPr>
          <p:spPr bwMode="auto">
            <a:xfrm>
              <a:off x="1008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2" name="Line 70"/>
            <p:cNvSpPr>
              <a:spLocks noChangeShapeType="1"/>
            </p:cNvSpPr>
            <p:nvPr/>
          </p:nvSpPr>
          <p:spPr bwMode="auto">
            <a:xfrm>
              <a:off x="1440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3" name="Line 71"/>
            <p:cNvSpPr>
              <a:spLocks noChangeShapeType="1"/>
            </p:cNvSpPr>
            <p:nvPr/>
          </p:nvSpPr>
          <p:spPr bwMode="auto">
            <a:xfrm flipH="1">
              <a:off x="1056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4" name="Line 72"/>
            <p:cNvSpPr>
              <a:spLocks noChangeShapeType="1"/>
            </p:cNvSpPr>
            <p:nvPr/>
          </p:nvSpPr>
          <p:spPr bwMode="auto">
            <a:xfrm>
              <a:off x="1536" y="2688"/>
              <a:ext cx="192" cy="1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133" name="Group 125"/>
          <p:cNvGrpSpPr>
            <a:grpSpLocks/>
          </p:cNvGrpSpPr>
          <p:nvPr/>
        </p:nvGrpSpPr>
        <p:grpSpPr bwMode="auto">
          <a:xfrm>
            <a:off x="7924800" y="2209800"/>
            <a:ext cx="2286000" cy="1066800"/>
            <a:chOff x="4032" y="1392"/>
            <a:chExt cx="1440" cy="672"/>
          </a:xfrm>
        </p:grpSpPr>
        <p:sp>
          <p:nvSpPr>
            <p:cNvPr id="41005" name="AutoShape 74"/>
            <p:cNvSpPr>
              <a:spLocks noChangeArrowheads="1"/>
            </p:cNvSpPr>
            <p:nvPr/>
          </p:nvSpPr>
          <p:spPr bwMode="auto">
            <a:xfrm>
              <a:off x="4032" y="139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06" name="AutoShape 75"/>
            <p:cNvSpPr>
              <a:spLocks noChangeArrowheads="1"/>
            </p:cNvSpPr>
            <p:nvPr/>
          </p:nvSpPr>
          <p:spPr bwMode="auto">
            <a:xfrm>
              <a:off x="4464" y="139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07" name="AutoShape 76"/>
            <p:cNvSpPr>
              <a:spLocks noChangeArrowheads="1"/>
            </p:cNvSpPr>
            <p:nvPr/>
          </p:nvSpPr>
          <p:spPr bwMode="auto">
            <a:xfrm>
              <a:off x="4896" y="139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08" name="AutoShape 77"/>
            <p:cNvSpPr>
              <a:spLocks noChangeArrowheads="1"/>
            </p:cNvSpPr>
            <p:nvPr/>
          </p:nvSpPr>
          <p:spPr bwMode="auto">
            <a:xfrm>
              <a:off x="5280" y="163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09" name="AutoShape 78"/>
            <p:cNvSpPr>
              <a:spLocks noChangeArrowheads="1"/>
            </p:cNvSpPr>
            <p:nvPr/>
          </p:nvSpPr>
          <p:spPr bwMode="auto">
            <a:xfrm>
              <a:off x="4032" y="1872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10" name="AutoShape 79"/>
            <p:cNvSpPr>
              <a:spLocks noChangeArrowheads="1"/>
            </p:cNvSpPr>
            <p:nvPr/>
          </p:nvSpPr>
          <p:spPr bwMode="auto">
            <a:xfrm>
              <a:off x="4464" y="187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11" name="AutoShape 80"/>
            <p:cNvSpPr>
              <a:spLocks noChangeArrowheads="1"/>
            </p:cNvSpPr>
            <p:nvPr/>
          </p:nvSpPr>
          <p:spPr bwMode="auto">
            <a:xfrm>
              <a:off x="4896" y="1872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1012" name="Line 81"/>
            <p:cNvSpPr>
              <a:spLocks noChangeShapeType="1"/>
            </p:cNvSpPr>
            <p:nvPr/>
          </p:nvSpPr>
          <p:spPr bwMode="auto">
            <a:xfrm>
              <a:off x="4224" y="1488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Line 82"/>
            <p:cNvSpPr>
              <a:spLocks noChangeShapeType="1"/>
            </p:cNvSpPr>
            <p:nvPr/>
          </p:nvSpPr>
          <p:spPr bwMode="auto">
            <a:xfrm>
              <a:off x="4656" y="1488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4" name="Line 83"/>
            <p:cNvSpPr>
              <a:spLocks noChangeShapeType="1"/>
            </p:cNvSpPr>
            <p:nvPr/>
          </p:nvSpPr>
          <p:spPr bwMode="auto">
            <a:xfrm>
              <a:off x="4656" y="1968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5" name="Line 84"/>
            <p:cNvSpPr>
              <a:spLocks noChangeShapeType="1"/>
            </p:cNvSpPr>
            <p:nvPr/>
          </p:nvSpPr>
          <p:spPr bwMode="auto">
            <a:xfrm>
              <a:off x="4128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Line 85"/>
            <p:cNvSpPr>
              <a:spLocks noChangeShapeType="1"/>
            </p:cNvSpPr>
            <p:nvPr/>
          </p:nvSpPr>
          <p:spPr bwMode="auto">
            <a:xfrm>
              <a:off x="4560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Line 86"/>
            <p:cNvSpPr>
              <a:spLocks noChangeShapeType="1"/>
            </p:cNvSpPr>
            <p:nvPr/>
          </p:nvSpPr>
          <p:spPr bwMode="auto">
            <a:xfrm>
              <a:off x="4992" y="1584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8" name="Line 87"/>
            <p:cNvSpPr>
              <a:spLocks noChangeShapeType="1"/>
            </p:cNvSpPr>
            <p:nvPr/>
          </p:nvSpPr>
          <p:spPr bwMode="auto">
            <a:xfrm flipH="1">
              <a:off x="4608" y="1536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9" name="Line 88"/>
            <p:cNvSpPr>
              <a:spLocks noChangeShapeType="1"/>
            </p:cNvSpPr>
            <p:nvPr/>
          </p:nvSpPr>
          <p:spPr bwMode="auto">
            <a:xfrm>
              <a:off x="5088" y="1536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132" name="Group 124"/>
          <p:cNvGrpSpPr>
            <a:grpSpLocks/>
          </p:cNvGrpSpPr>
          <p:nvPr/>
        </p:nvGrpSpPr>
        <p:grpSpPr bwMode="auto">
          <a:xfrm>
            <a:off x="7315200" y="4038600"/>
            <a:ext cx="2895600" cy="2057400"/>
            <a:chOff x="3648" y="2544"/>
            <a:chExt cx="1824" cy="1296"/>
          </a:xfrm>
        </p:grpSpPr>
        <p:sp>
          <p:nvSpPr>
            <p:cNvPr id="40989" name="Line 119"/>
            <p:cNvSpPr>
              <a:spLocks noChangeShapeType="1"/>
            </p:cNvSpPr>
            <p:nvPr/>
          </p:nvSpPr>
          <p:spPr bwMode="auto">
            <a:xfrm flipH="1">
              <a:off x="4608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AutoShape 106"/>
            <p:cNvSpPr>
              <a:spLocks noChangeArrowheads="1"/>
            </p:cNvSpPr>
            <p:nvPr/>
          </p:nvSpPr>
          <p:spPr bwMode="auto">
            <a:xfrm>
              <a:off x="4032" y="254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1" name="AutoShape 107"/>
            <p:cNvSpPr>
              <a:spLocks noChangeArrowheads="1"/>
            </p:cNvSpPr>
            <p:nvPr/>
          </p:nvSpPr>
          <p:spPr bwMode="auto">
            <a:xfrm>
              <a:off x="4464" y="254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2" name="AutoShape 108"/>
            <p:cNvSpPr>
              <a:spLocks noChangeArrowheads="1"/>
            </p:cNvSpPr>
            <p:nvPr/>
          </p:nvSpPr>
          <p:spPr bwMode="auto">
            <a:xfrm>
              <a:off x="4896" y="254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3" name="AutoShape 109"/>
            <p:cNvSpPr>
              <a:spLocks noChangeArrowheads="1"/>
            </p:cNvSpPr>
            <p:nvPr/>
          </p:nvSpPr>
          <p:spPr bwMode="auto">
            <a:xfrm>
              <a:off x="5280" y="278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4" name="AutoShape 110"/>
            <p:cNvSpPr>
              <a:spLocks noChangeArrowheads="1"/>
            </p:cNvSpPr>
            <p:nvPr/>
          </p:nvSpPr>
          <p:spPr bwMode="auto">
            <a:xfrm>
              <a:off x="4032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5" name="AutoShape 111"/>
            <p:cNvSpPr>
              <a:spLocks noChangeArrowheads="1"/>
            </p:cNvSpPr>
            <p:nvPr/>
          </p:nvSpPr>
          <p:spPr bwMode="auto">
            <a:xfrm>
              <a:off x="4464" y="3024"/>
              <a:ext cx="192" cy="192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6" name="AutoShape 112"/>
            <p:cNvSpPr>
              <a:spLocks noChangeArrowheads="1"/>
            </p:cNvSpPr>
            <p:nvPr/>
          </p:nvSpPr>
          <p:spPr bwMode="auto">
            <a:xfrm>
              <a:off x="4896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97" name="Line 113"/>
            <p:cNvSpPr>
              <a:spLocks noChangeShapeType="1"/>
            </p:cNvSpPr>
            <p:nvPr/>
          </p:nvSpPr>
          <p:spPr bwMode="auto">
            <a:xfrm>
              <a:off x="4224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114"/>
            <p:cNvSpPr>
              <a:spLocks noChangeShapeType="1"/>
            </p:cNvSpPr>
            <p:nvPr/>
          </p:nvSpPr>
          <p:spPr bwMode="auto">
            <a:xfrm>
              <a:off x="4656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Line 115"/>
            <p:cNvSpPr>
              <a:spLocks noChangeShapeType="1"/>
            </p:cNvSpPr>
            <p:nvPr/>
          </p:nvSpPr>
          <p:spPr bwMode="auto">
            <a:xfrm>
              <a:off x="4656" y="31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Line 116"/>
            <p:cNvSpPr>
              <a:spLocks noChangeShapeType="1"/>
            </p:cNvSpPr>
            <p:nvPr/>
          </p:nvSpPr>
          <p:spPr bwMode="auto">
            <a:xfrm>
              <a:off x="4128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Line 117"/>
            <p:cNvSpPr>
              <a:spLocks noChangeShapeType="1"/>
            </p:cNvSpPr>
            <p:nvPr/>
          </p:nvSpPr>
          <p:spPr bwMode="auto">
            <a:xfrm>
              <a:off x="4560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Line 118"/>
            <p:cNvSpPr>
              <a:spLocks noChangeShapeType="1"/>
            </p:cNvSpPr>
            <p:nvPr/>
          </p:nvSpPr>
          <p:spPr bwMode="auto">
            <a:xfrm>
              <a:off x="4992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3" name="Line 120"/>
            <p:cNvSpPr>
              <a:spLocks noChangeShapeType="1"/>
            </p:cNvSpPr>
            <p:nvPr/>
          </p:nvSpPr>
          <p:spPr bwMode="auto">
            <a:xfrm>
              <a:off x="5088" y="26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4" name="AutoShape 122"/>
            <p:cNvSpPr>
              <a:spLocks noChangeArrowheads="1"/>
            </p:cNvSpPr>
            <p:nvPr/>
          </p:nvSpPr>
          <p:spPr bwMode="auto">
            <a:xfrm>
              <a:off x="3648" y="3360"/>
              <a:ext cx="816" cy="480"/>
            </a:xfrm>
            <a:prstGeom prst="wedgeRectCallout">
              <a:avLst>
                <a:gd name="adj1" fmla="val 49264"/>
                <a:gd name="adj2" fmla="val -70000"/>
              </a:avLst>
            </a:prstGeom>
            <a:solidFill>
              <a:schemeClr val="tx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Optimal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Size=3</a:t>
              </a:r>
            </a:p>
          </p:txBody>
        </p:sp>
      </p:grpSp>
      <p:grpSp>
        <p:nvGrpSpPr>
          <p:cNvPr id="43135" name="Group 127"/>
          <p:cNvGrpSpPr>
            <a:grpSpLocks/>
          </p:cNvGrpSpPr>
          <p:nvPr/>
        </p:nvGrpSpPr>
        <p:grpSpPr bwMode="auto">
          <a:xfrm>
            <a:off x="4191000" y="4038600"/>
            <a:ext cx="3200400" cy="2057400"/>
            <a:chOff x="1680" y="2544"/>
            <a:chExt cx="2016" cy="1296"/>
          </a:xfrm>
        </p:grpSpPr>
        <p:sp>
          <p:nvSpPr>
            <p:cNvPr id="40973" name="Line 103"/>
            <p:cNvSpPr>
              <a:spLocks noChangeShapeType="1"/>
            </p:cNvSpPr>
            <p:nvPr/>
          </p:nvSpPr>
          <p:spPr bwMode="auto">
            <a:xfrm flipH="1">
              <a:off x="2832" y="2688"/>
              <a:ext cx="336" cy="38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AutoShape 90"/>
            <p:cNvSpPr>
              <a:spLocks noChangeArrowheads="1"/>
            </p:cNvSpPr>
            <p:nvPr/>
          </p:nvSpPr>
          <p:spPr bwMode="auto">
            <a:xfrm>
              <a:off x="2256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75" name="AutoShape 91"/>
            <p:cNvSpPr>
              <a:spLocks noChangeArrowheads="1"/>
            </p:cNvSpPr>
            <p:nvPr/>
          </p:nvSpPr>
          <p:spPr bwMode="auto">
            <a:xfrm>
              <a:off x="2688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76" name="AutoShape 92"/>
            <p:cNvSpPr>
              <a:spLocks noChangeArrowheads="1"/>
            </p:cNvSpPr>
            <p:nvPr/>
          </p:nvSpPr>
          <p:spPr bwMode="auto">
            <a:xfrm>
              <a:off x="3120" y="254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77" name="AutoShape 93"/>
            <p:cNvSpPr>
              <a:spLocks noChangeArrowheads="1"/>
            </p:cNvSpPr>
            <p:nvPr/>
          </p:nvSpPr>
          <p:spPr bwMode="auto">
            <a:xfrm>
              <a:off x="3504" y="278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78" name="AutoShape 94"/>
            <p:cNvSpPr>
              <a:spLocks noChangeArrowheads="1"/>
            </p:cNvSpPr>
            <p:nvPr/>
          </p:nvSpPr>
          <p:spPr bwMode="auto">
            <a:xfrm>
              <a:off x="2256" y="3024"/>
              <a:ext cx="192" cy="192"/>
            </a:xfrm>
            <a:prstGeom prst="flowChartConnector">
              <a:avLst/>
            </a:prstGeom>
            <a:solidFill>
              <a:srgbClr val="2ED479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79" name="AutoShape 95"/>
            <p:cNvSpPr>
              <a:spLocks noChangeArrowheads="1"/>
            </p:cNvSpPr>
            <p:nvPr/>
          </p:nvSpPr>
          <p:spPr bwMode="auto">
            <a:xfrm>
              <a:off x="2688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80" name="AutoShape 96"/>
            <p:cNvSpPr>
              <a:spLocks noChangeArrowheads="1"/>
            </p:cNvSpPr>
            <p:nvPr/>
          </p:nvSpPr>
          <p:spPr bwMode="auto">
            <a:xfrm>
              <a:off x="3120" y="3024"/>
              <a:ext cx="192" cy="192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0981" name="Line 97"/>
            <p:cNvSpPr>
              <a:spLocks noChangeShapeType="1"/>
            </p:cNvSpPr>
            <p:nvPr/>
          </p:nvSpPr>
          <p:spPr bwMode="auto">
            <a:xfrm>
              <a:off x="2448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Line 98"/>
            <p:cNvSpPr>
              <a:spLocks noChangeShapeType="1"/>
            </p:cNvSpPr>
            <p:nvPr/>
          </p:nvSpPr>
          <p:spPr bwMode="auto">
            <a:xfrm>
              <a:off x="2880" y="264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99"/>
            <p:cNvSpPr>
              <a:spLocks noChangeShapeType="1"/>
            </p:cNvSpPr>
            <p:nvPr/>
          </p:nvSpPr>
          <p:spPr bwMode="auto">
            <a:xfrm>
              <a:off x="2880" y="3120"/>
              <a:ext cx="240" cy="0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100"/>
            <p:cNvSpPr>
              <a:spLocks noChangeShapeType="1"/>
            </p:cNvSpPr>
            <p:nvPr/>
          </p:nvSpPr>
          <p:spPr bwMode="auto">
            <a:xfrm>
              <a:off x="2352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5" name="Line 101"/>
            <p:cNvSpPr>
              <a:spLocks noChangeShapeType="1"/>
            </p:cNvSpPr>
            <p:nvPr/>
          </p:nvSpPr>
          <p:spPr bwMode="auto">
            <a:xfrm>
              <a:off x="2784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Line 102"/>
            <p:cNvSpPr>
              <a:spLocks noChangeShapeType="1"/>
            </p:cNvSpPr>
            <p:nvPr/>
          </p:nvSpPr>
          <p:spPr bwMode="auto">
            <a:xfrm>
              <a:off x="3216" y="2736"/>
              <a:ext cx="0" cy="288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Line 104"/>
            <p:cNvSpPr>
              <a:spLocks noChangeShapeType="1"/>
            </p:cNvSpPr>
            <p:nvPr/>
          </p:nvSpPr>
          <p:spPr bwMode="auto">
            <a:xfrm>
              <a:off x="3312" y="2688"/>
              <a:ext cx="192" cy="144"/>
            </a:xfrm>
            <a:prstGeom prst="line">
              <a:avLst/>
            </a:prstGeom>
            <a:noFill/>
            <a:ln w="28575">
              <a:solidFill>
                <a:srgbClr val="2ED47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AutoShape 123"/>
            <p:cNvSpPr>
              <a:spLocks noChangeArrowheads="1"/>
            </p:cNvSpPr>
            <p:nvPr/>
          </p:nvSpPr>
          <p:spPr bwMode="auto">
            <a:xfrm>
              <a:off x="1680" y="3408"/>
              <a:ext cx="1344" cy="432"/>
            </a:xfrm>
            <a:prstGeom prst="wedgeRectCallout">
              <a:avLst>
                <a:gd name="adj1" fmla="val 29315"/>
                <a:gd name="adj2" fmla="val -94907"/>
              </a:avLst>
            </a:prstGeom>
            <a:solidFill>
              <a:schemeClr val="tx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Near Optimal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bg1"/>
                  </a:solidFill>
                </a:rPr>
                <a:t>size=6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240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83CA87-7E79-47F4-8CA6-54FC62EE8D68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mtClean="0"/>
              <a:t>Demo</a:t>
            </a:r>
          </a:p>
        </p:txBody>
      </p:sp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4419600" y="38664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2" name="Oval 4"/>
          <p:cNvSpPr>
            <a:spLocks noChangeArrowheads="1"/>
          </p:cNvSpPr>
          <p:nvPr/>
        </p:nvSpPr>
        <p:spPr bwMode="auto">
          <a:xfrm>
            <a:off x="5791200" y="32568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3" name="Oval 5"/>
          <p:cNvSpPr>
            <a:spLocks noChangeArrowheads="1"/>
          </p:cNvSpPr>
          <p:nvPr/>
        </p:nvSpPr>
        <p:spPr bwMode="auto">
          <a:xfrm>
            <a:off x="6172200" y="45522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4" name="Oval 6"/>
          <p:cNvSpPr>
            <a:spLocks noChangeArrowheads="1"/>
          </p:cNvSpPr>
          <p:nvPr/>
        </p:nvSpPr>
        <p:spPr bwMode="auto">
          <a:xfrm>
            <a:off x="7239000" y="34854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6858000" y="26472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5257800" y="24186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4419600" y="3104406"/>
            <a:ext cx="457200" cy="649188"/>
          </a:xfrm>
          <a:prstGeom prst="ellipse">
            <a:avLst/>
          </a:prstGeom>
          <a:solidFill>
            <a:srgbClr val="0099CC"/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cxnSp>
        <p:nvCxnSpPr>
          <p:cNvPr id="41995" name="AutoShape 10"/>
          <p:cNvCxnSpPr>
            <a:cxnSpLocks noChangeShapeType="1"/>
            <a:stCxn id="130051" idx="5"/>
            <a:endCxn id="130053" idx="2"/>
          </p:cNvCxnSpPr>
          <p:nvPr/>
        </p:nvCxnSpPr>
        <p:spPr bwMode="auto">
          <a:xfrm>
            <a:off x="4809846" y="4420524"/>
            <a:ext cx="1362355" cy="4562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6" name="AutoShape 11"/>
          <p:cNvCxnSpPr>
            <a:cxnSpLocks noChangeShapeType="1"/>
            <a:stCxn id="130051" idx="0"/>
            <a:endCxn id="130057" idx="4"/>
          </p:cNvCxnSpPr>
          <p:nvPr/>
        </p:nvCxnSpPr>
        <p:spPr bwMode="auto">
          <a:xfrm flipV="1">
            <a:off x="4648200" y="3753594"/>
            <a:ext cx="0" cy="112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2"/>
          <p:cNvCxnSpPr>
            <a:cxnSpLocks noChangeShapeType="1"/>
            <a:stCxn id="130057" idx="6"/>
            <a:endCxn id="130052" idx="2"/>
          </p:cNvCxnSpPr>
          <p:nvPr/>
        </p:nvCxnSpPr>
        <p:spPr bwMode="auto">
          <a:xfrm>
            <a:off x="4876800" y="3429000"/>
            <a:ext cx="9144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3"/>
          <p:cNvCxnSpPr>
            <a:cxnSpLocks noChangeShapeType="1"/>
            <a:stCxn id="130052" idx="0"/>
            <a:endCxn id="130056" idx="5"/>
          </p:cNvCxnSpPr>
          <p:nvPr/>
        </p:nvCxnSpPr>
        <p:spPr bwMode="auto">
          <a:xfrm flipH="1" flipV="1">
            <a:off x="5648046" y="2972724"/>
            <a:ext cx="371755" cy="2840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4"/>
          <p:cNvCxnSpPr>
            <a:cxnSpLocks noChangeShapeType="1"/>
            <a:stCxn id="130052" idx="5"/>
            <a:endCxn id="130053" idx="0"/>
          </p:cNvCxnSpPr>
          <p:nvPr/>
        </p:nvCxnSpPr>
        <p:spPr bwMode="auto">
          <a:xfrm>
            <a:off x="6181446" y="3810924"/>
            <a:ext cx="219355" cy="7412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15"/>
          <p:cNvCxnSpPr>
            <a:cxnSpLocks noChangeShapeType="1"/>
            <a:stCxn id="130056" idx="6"/>
            <a:endCxn id="130055" idx="2"/>
          </p:cNvCxnSpPr>
          <p:nvPr/>
        </p:nvCxnSpPr>
        <p:spPr bwMode="auto">
          <a:xfrm>
            <a:off x="5715000" y="2743200"/>
            <a:ext cx="11430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6"/>
          <p:cNvCxnSpPr>
            <a:cxnSpLocks noChangeShapeType="1"/>
            <a:stCxn id="130055" idx="4"/>
            <a:endCxn id="130054" idx="0"/>
          </p:cNvCxnSpPr>
          <p:nvPr/>
        </p:nvCxnSpPr>
        <p:spPr bwMode="auto">
          <a:xfrm>
            <a:off x="7086600" y="3296394"/>
            <a:ext cx="381000" cy="189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7"/>
          <p:cNvCxnSpPr>
            <a:cxnSpLocks noChangeShapeType="1"/>
            <a:stCxn id="130054" idx="2"/>
            <a:endCxn id="130052" idx="6"/>
          </p:cNvCxnSpPr>
          <p:nvPr/>
        </p:nvCxnSpPr>
        <p:spPr bwMode="auto">
          <a:xfrm flipH="1" flipV="1">
            <a:off x="6248400" y="3581400"/>
            <a:ext cx="990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18"/>
          <p:cNvCxnSpPr>
            <a:cxnSpLocks noChangeShapeType="1"/>
            <a:stCxn id="130054" idx="3"/>
            <a:endCxn id="130053" idx="6"/>
          </p:cNvCxnSpPr>
          <p:nvPr/>
        </p:nvCxnSpPr>
        <p:spPr bwMode="auto">
          <a:xfrm flipH="1">
            <a:off x="6629401" y="4039524"/>
            <a:ext cx="676555" cy="83727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19"/>
          <p:cNvCxnSpPr>
            <a:cxnSpLocks noChangeShapeType="1"/>
            <a:stCxn id="130057" idx="5"/>
            <a:endCxn id="130053" idx="1"/>
          </p:cNvCxnSpPr>
          <p:nvPr/>
        </p:nvCxnSpPr>
        <p:spPr bwMode="auto">
          <a:xfrm>
            <a:off x="4809845" y="3658523"/>
            <a:ext cx="1429310" cy="9887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0068" name="AutoShape 20"/>
          <p:cNvCxnSpPr>
            <a:cxnSpLocks noChangeShapeType="1"/>
            <a:stCxn id="130057" idx="5"/>
            <a:endCxn id="130053" idx="1"/>
          </p:cNvCxnSpPr>
          <p:nvPr/>
        </p:nvCxnSpPr>
        <p:spPr bwMode="auto">
          <a:xfrm>
            <a:off x="4809845" y="3658523"/>
            <a:ext cx="1429310" cy="988754"/>
          </a:xfrm>
          <a:prstGeom prst="straightConnector1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343400" y="3105151"/>
            <a:ext cx="2362200" cy="2097088"/>
            <a:chOff x="1776" y="1956"/>
            <a:chExt cx="1488" cy="1321"/>
          </a:xfrm>
        </p:grpSpPr>
        <p:sp>
          <p:nvSpPr>
            <p:cNvPr id="130070" name="Oval 22"/>
            <p:cNvSpPr>
              <a:spLocks noChangeArrowheads="1"/>
            </p:cNvSpPr>
            <p:nvPr/>
          </p:nvSpPr>
          <p:spPr bwMode="auto">
            <a:xfrm>
              <a:off x="1776" y="1956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130071" name="Oval 23"/>
            <p:cNvSpPr>
              <a:spLocks noChangeArrowheads="1"/>
            </p:cNvSpPr>
            <p:nvPr/>
          </p:nvSpPr>
          <p:spPr bwMode="auto">
            <a:xfrm>
              <a:off x="2880" y="2868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</p:grpSp>
      <p:sp>
        <p:nvSpPr>
          <p:cNvPr id="130072" name="Line 24"/>
          <p:cNvSpPr>
            <a:spLocks noChangeShapeType="1"/>
          </p:cNvSpPr>
          <p:nvPr/>
        </p:nvSpPr>
        <p:spPr bwMode="auto">
          <a:xfrm flipH="1">
            <a:off x="5181600" y="4419600"/>
            <a:ext cx="152400" cy="2286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73" name="Line 25"/>
          <p:cNvSpPr>
            <a:spLocks noChangeShapeType="1"/>
          </p:cNvSpPr>
          <p:nvPr/>
        </p:nvSpPr>
        <p:spPr bwMode="auto">
          <a:xfrm flipH="1">
            <a:off x="6096000" y="4114800"/>
            <a:ext cx="304800" cy="762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 flipH="1" flipV="1">
            <a:off x="6858000" y="4343400"/>
            <a:ext cx="304800" cy="762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 flipH="1">
            <a:off x="4495800" y="3886200"/>
            <a:ext cx="304800" cy="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 flipH="1">
            <a:off x="5181600" y="3352800"/>
            <a:ext cx="152400" cy="2286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cxnSp>
        <p:nvCxnSpPr>
          <p:cNvPr id="130077" name="AutoShape 29"/>
          <p:cNvCxnSpPr>
            <a:cxnSpLocks noChangeShapeType="1"/>
            <a:stCxn id="130055" idx="4"/>
            <a:endCxn id="130054" idx="0"/>
          </p:cNvCxnSpPr>
          <p:nvPr/>
        </p:nvCxnSpPr>
        <p:spPr bwMode="auto">
          <a:xfrm>
            <a:off x="7086600" y="3296394"/>
            <a:ext cx="381000" cy="189012"/>
          </a:xfrm>
          <a:prstGeom prst="straightConnector1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6781800" y="2647951"/>
            <a:ext cx="990600" cy="1487488"/>
            <a:chOff x="3312" y="1668"/>
            <a:chExt cx="624" cy="937"/>
          </a:xfrm>
        </p:grpSpPr>
        <p:sp>
          <p:nvSpPr>
            <p:cNvPr id="130079" name="Oval 31"/>
            <p:cNvSpPr>
              <a:spLocks noChangeArrowheads="1"/>
            </p:cNvSpPr>
            <p:nvPr/>
          </p:nvSpPr>
          <p:spPr bwMode="auto">
            <a:xfrm>
              <a:off x="3552" y="2196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130080" name="Oval 32"/>
            <p:cNvSpPr>
              <a:spLocks noChangeArrowheads="1"/>
            </p:cNvSpPr>
            <p:nvPr/>
          </p:nvSpPr>
          <p:spPr bwMode="auto">
            <a:xfrm>
              <a:off x="3312" y="1668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</p:grpSp>
      <p:sp>
        <p:nvSpPr>
          <p:cNvPr id="130081" name="Line 33"/>
          <p:cNvSpPr>
            <a:spLocks noChangeShapeType="1"/>
          </p:cNvSpPr>
          <p:nvPr/>
        </p:nvSpPr>
        <p:spPr bwMode="auto">
          <a:xfrm flipV="1">
            <a:off x="6629400" y="3505200"/>
            <a:ext cx="76200" cy="3048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sp>
        <p:nvSpPr>
          <p:cNvPr id="130082" name="Line 34"/>
          <p:cNvSpPr>
            <a:spLocks noChangeShapeType="1"/>
          </p:cNvSpPr>
          <p:nvPr/>
        </p:nvSpPr>
        <p:spPr bwMode="auto">
          <a:xfrm flipV="1">
            <a:off x="6400800" y="2743200"/>
            <a:ext cx="76200" cy="304800"/>
          </a:xfrm>
          <a:prstGeom prst="line">
            <a:avLst/>
          </a:prstGeom>
          <a:noFill/>
          <a:ln w="76200" cmpd="tri">
            <a:solidFill>
              <a:srgbClr val="FF505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sz="2400">
              <a:solidFill>
                <a:srgbClr val="3333CC"/>
              </a:solidFill>
              <a:latin typeface="Comic Sans MS" pitchFamily="66" charset="0"/>
            </a:endParaRPr>
          </a:p>
        </p:txBody>
      </p:sp>
      <p:cxnSp>
        <p:nvCxnSpPr>
          <p:cNvPr id="130083" name="AutoShape 35"/>
          <p:cNvCxnSpPr>
            <a:cxnSpLocks noChangeShapeType="1"/>
            <a:stCxn id="130052" idx="0"/>
            <a:endCxn id="130056" idx="5"/>
          </p:cNvCxnSpPr>
          <p:nvPr/>
        </p:nvCxnSpPr>
        <p:spPr bwMode="auto">
          <a:xfrm flipH="1" flipV="1">
            <a:off x="5648046" y="2972724"/>
            <a:ext cx="371755" cy="284083"/>
          </a:xfrm>
          <a:prstGeom prst="straightConnector1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5181600" y="2419351"/>
            <a:ext cx="1143000" cy="1487488"/>
            <a:chOff x="2304" y="1524"/>
            <a:chExt cx="720" cy="937"/>
          </a:xfrm>
        </p:grpSpPr>
        <p:sp>
          <p:nvSpPr>
            <p:cNvPr id="130085" name="Oval 37"/>
            <p:cNvSpPr>
              <a:spLocks noChangeArrowheads="1"/>
            </p:cNvSpPr>
            <p:nvPr/>
          </p:nvSpPr>
          <p:spPr bwMode="auto">
            <a:xfrm>
              <a:off x="2304" y="1524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130086" name="Oval 38"/>
            <p:cNvSpPr>
              <a:spLocks noChangeArrowheads="1"/>
            </p:cNvSpPr>
            <p:nvPr/>
          </p:nvSpPr>
          <p:spPr bwMode="auto">
            <a:xfrm>
              <a:off x="2640" y="2052"/>
              <a:ext cx="384" cy="409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</p:grpSp>
      <p:sp>
        <p:nvSpPr>
          <p:cNvPr id="130087" name="Rectangle 39"/>
          <p:cNvSpPr>
            <a:spLocks noChangeArrowheads="1"/>
          </p:cNvSpPr>
          <p:nvPr/>
        </p:nvSpPr>
        <p:spPr bwMode="auto">
          <a:xfrm>
            <a:off x="6248400" y="6026150"/>
            <a:ext cx="4419600" cy="831850"/>
          </a:xfrm>
          <a:prstGeom prst="rect">
            <a:avLst/>
          </a:prstGeom>
          <a:solidFill>
            <a:srgbClr val="00000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2400">
                <a:solidFill>
                  <a:srgbClr val="FFFFFF"/>
                </a:solidFill>
                <a:latin typeface="Comic Sans MS" pitchFamily="66" charset="0"/>
              </a:rPr>
              <a:t>Compare this cover to the</a:t>
            </a:r>
            <a:r>
              <a:rPr lang="en-US" altLang="en-US" sz="2400">
                <a:solidFill>
                  <a:srgbClr val="3333CC"/>
                </a:solidFill>
                <a:latin typeface="Comic Sans MS" pitchFamily="66" charset="0"/>
              </a:rPr>
              <a:t> </a:t>
            </a:r>
            <a:r>
              <a:rPr lang="en-US" altLang="en-US" sz="2400">
                <a:solidFill>
                  <a:srgbClr val="3333CC"/>
                </a:solidFill>
                <a:latin typeface="Comic Sans MS" pitchFamily="66" charset="0"/>
                <a:hlinkClick r:id="rId2" action="ppaction://hlinksldjump"/>
              </a:rPr>
              <a:t>one from the example</a:t>
            </a:r>
            <a:endParaRPr lang="en-US" altLang="he-IL" sz="2400">
              <a:solidFill>
                <a:srgbClr val="3333CC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2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8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619556-CB32-46E6-808B-2F0378DB5649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mtClean="0"/>
              <a:t>Polynomial Time</a:t>
            </a:r>
          </a:p>
        </p:txBody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590800" y="2133601"/>
            <a:ext cx="7239000" cy="3656013"/>
          </a:xfrm>
          <a:noFill/>
          <a:ln>
            <a:solidFill>
              <a:srgbClr val="0099CC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solidFill>
                  <a:schemeClr val="accent1"/>
                </a:solidFill>
              </a:rPr>
              <a:t>C </a:t>
            </a:r>
            <a:r>
              <a:rPr lang="en-US" altLang="en-US">
                <a:solidFill>
                  <a:schemeClr val="accent1"/>
                </a:solidFill>
                <a:sym typeface="Symbol" panose="05050102010706020507" pitchFamily="18" charset="2"/>
              </a:rPr>
              <a:t> </a:t>
            </a:r>
            <a:endParaRPr lang="en-US" altLang="en-US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chemeClr val="accent1"/>
                </a:solidFill>
                <a:sym typeface="Symbol" panose="05050102010706020507" pitchFamily="18" charset="2"/>
              </a:rPr>
              <a:t>E’  E</a:t>
            </a:r>
            <a:endParaRPr lang="en-US" altLang="en-US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en-US" b="1">
                <a:sym typeface="Symbol" panose="05050102010706020507" pitchFamily="18" charset="2"/>
              </a:rPr>
              <a:t>while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accent1"/>
                </a:solidFill>
                <a:sym typeface="Symbol" panose="05050102010706020507" pitchFamily="18" charset="2"/>
              </a:rPr>
              <a:t>E’  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he-IL" b="1" smtClean="0">
                <a:sym typeface="Symbol" panose="05050102010706020507" pitchFamily="18" charset="2"/>
              </a:rPr>
              <a:t>do</a:t>
            </a:r>
            <a:r>
              <a:rPr lang="en-US" altLang="he-IL" smtClean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ct val="0"/>
              </a:spcBef>
            </a:pPr>
            <a:r>
              <a:rPr lang="en-US" altLang="he-IL" smtClean="0">
                <a:sym typeface="Symbol" panose="05050102010706020507" pitchFamily="18" charset="2"/>
              </a:rPr>
              <a:t>let </a:t>
            </a:r>
            <a:r>
              <a:rPr lang="en-US" altLang="he-IL" smtClean="0">
                <a:solidFill>
                  <a:schemeClr val="accent1"/>
                </a:solidFill>
                <a:sym typeface="Symbol" panose="05050102010706020507" pitchFamily="18" charset="2"/>
              </a:rPr>
              <a:t>(u,v)</a:t>
            </a:r>
            <a:r>
              <a:rPr lang="en-US" altLang="he-IL" smtClean="0">
                <a:sym typeface="Symbol" panose="05050102010706020507" pitchFamily="18" charset="2"/>
              </a:rPr>
              <a:t> be an arbitrary edge of </a:t>
            </a:r>
            <a:r>
              <a:rPr lang="en-US" altLang="he-IL" smtClean="0">
                <a:solidFill>
                  <a:schemeClr val="accent1"/>
                </a:solidFill>
                <a:sym typeface="Symbol" panose="05050102010706020507" pitchFamily="18" charset="2"/>
              </a:rPr>
              <a:t>E’</a:t>
            </a:r>
          </a:p>
          <a:p>
            <a:pPr lvl="1">
              <a:spcBef>
                <a:spcPct val="0"/>
              </a:spcBef>
            </a:pPr>
            <a:r>
              <a:rPr lang="en-US" altLang="he-IL" smtClean="0">
                <a:solidFill>
                  <a:schemeClr val="accent1"/>
                </a:solidFill>
                <a:sym typeface="Symbol" panose="05050102010706020507" pitchFamily="18" charset="2"/>
              </a:rPr>
              <a:t>C </a:t>
            </a:r>
            <a:r>
              <a:rPr lang="en-US" altLang="en-US" smtClean="0">
                <a:solidFill>
                  <a:schemeClr val="accent1"/>
                </a:solidFill>
                <a:sym typeface="Symbol" panose="05050102010706020507" pitchFamily="18" charset="2"/>
              </a:rPr>
              <a:t> C  {u,v}</a:t>
            </a:r>
          </a:p>
          <a:p>
            <a:pPr lvl="1">
              <a:spcBef>
                <a:spcPct val="0"/>
              </a:spcBef>
            </a:pPr>
            <a:r>
              <a:rPr lang="en-US" altLang="en-US" smtClean="0">
                <a:sym typeface="Symbol" panose="05050102010706020507" pitchFamily="18" charset="2"/>
              </a:rPr>
              <a:t>remove from </a:t>
            </a:r>
            <a:r>
              <a:rPr lang="en-US" altLang="en-US" smtClean="0">
                <a:solidFill>
                  <a:schemeClr val="accent1"/>
                </a:solidFill>
                <a:sym typeface="Symbol" panose="05050102010706020507" pitchFamily="18" charset="2"/>
              </a:rPr>
              <a:t>E’</a:t>
            </a:r>
            <a:r>
              <a:rPr lang="en-US" altLang="en-US" smtClean="0">
                <a:sym typeface="Symbol" panose="05050102010706020507" pitchFamily="18" charset="2"/>
              </a:rPr>
              <a:t> every edge incident to either </a:t>
            </a:r>
            <a:r>
              <a:rPr lang="en-US" altLang="en-US" smtClean="0">
                <a:solidFill>
                  <a:schemeClr val="accent1"/>
                </a:solidFill>
                <a:sym typeface="Symbol" panose="05050102010706020507" pitchFamily="18" charset="2"/>
              </a:rPr>
              <a:t>u</a:t>
            </a:r>
            <a:r>
              <a:rPr lang="en-US" altLang="en-US" smtClean="0">
                <a:sym typeface="Symbol" panose="05050102010706020507" pitchFamily="18" charset="2"/>
              </a:rPr>
              <a:t> or </a:t>
            </a:r>
            <a:r>
              <a:rPr lang="en-US" altLang="en-US" smtClean="0">
                <a:solidFill>
                  <a:schemeClr val="accent1"/>
                </a:solidFill>
                <a:sym typeface="Symbol" panose="05050102010706020507" pitchFamily="18" charset="2"/>
              </a:rPr>
              <a:t>v</a:t>
            </a:r>
            <a:endParaRPr lang="en-US" altLang="en-US" smtClean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</a:pPr>
            <a:r>
              <a:rPr lang="en-US" altLang="he-IL">
                <a:sym typeface="Symbol" panose="05050102010706020507" pitchFamily="18" charset="2"/>
              </a:rPr>
              <a:t>return </a:t>
            </a:r>
            <a:r>
              <a:rPr lang="en-US" altLang="he-IL">
                <a:solidFill>
                  <a:schemeClr val="accent1"/>
                </a:solidFill>
                <a:sym typeface="Symbol" panose="05050102010706020507" pitchFamily="18" charset="2"/>
              </a:rPr>
              <a:t>C</a:t>
            </a:r>
            <a:endParaRPr lang="en-US" altLang="he-IL">
              <a:sym typeface="Symbol" panose="05050102010706020507" pitchFamily="18" charset="2"/>
            </a:endParaRP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1768475" y="4191005"/>
            <a:ext cx="1117600" cy="538163"/>
            <a:chOff x="112" y="2567"/>
            <a:chExt cx="704" cy="339"/>
          </a:xfrm>
        </p:grpSpPr>
        <p:sp>
          <p:nvSpPr>
            <p:cNvPr id="31759" name="AutoShape 1029"/>
            <p:cNvSpPr>
              <a:spLocks/>
            </p:cNvSpPr>
            <p:nvPr/>
          </p:nvSpPr>
          <p:spPr bwMode="auto">
            <a:xfrm>
              <a:off x="672" y="2567"/>
              <a:ext cx="144" cy="339"/>
            </a:xfrm>
            <a:prstGeom prst="leftBrace">
              <a:avLst>
                <a:gd name="adj1" fmla="val 61111"/>
                <a:gd name="adj2" fmla="val 50000"/>
              </a:avLst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31760" name="Text Box 1030"/>
            <p:cNvSpPr txBox="1">
              <a:spLocks noChangeArrowheads="1"/>
            </p:cNvSpPr>
            <p:nvPr/>
          </p:nvSpPr>
          <p:spPr bwMode="auto">
            <a:xfrm>
              <a:off x="112" y="2592"/>
              <a:ext cx="588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he-IL">
                  <a:solidFill>
                    <a:srgbClr val="FF6699"/>
                  </a:solidFill>
                  <a:sym typeface="Symbol" pitchFamily="18" charset="2"/>
                </a:rPr>
                <a:t>O(n</a:t>
              </a:r>
              <a:r>
                <a:rPr lang="en-US" altLang="he-IL" baseline="30000">
                  <a:solidFill>
                    <a:srgbClr val="FF6699"/>
                  </a:solidFill>
                  <a:sym typeface="Symbol" pitchFamily="18" charset="2"/>
                </a:rPr>
                <a:t>2</a:t>
              </a:r>
              <a:r>
                <a:rPr lang="en-US" altLang="he-IL">
                  <a:solidFill>
                    <a:srgbClr val="FF6699"/>
                  </a:solidFill>
                  <a:sym typeface="Symbol" pitchFamily="18" charset="2"/>
                </a:rPr>
                <a:t>)</a:t>
              </a:r>
              <a:endParaRPr lang="en-US" altLang="he-IL">
                <a:solidFill>
                  <a:srgbClr val="FF6699"/>
                </a:solidFill>
              </a:endParaRPr>
            </a:p>
          </p:txBody>
        </p:sp>
      </p:grpSp>
      <p:grpSp>
        <p:nvGrpSpPr>
          <p:cNvPr id="3" name="Group 1031"/>
          <p:cNvGrpSpPr>
            <a:grpSpLocks/>
          </p:cNvGrpSpPr>
          <p:nvPr/>
        </p:nvGrpSpPr>
        <p:grpSpPr bwMode="auto">
          <a:xfrm>
            <a:off x="9677404" y="3636966"/>
            <a:ext cx="992188" cy="496888"/>
            <a:chOff x="5136" y="2291"/>
            <a:chExt cx="625" cy="313"/>
          </a:xfrm>
        </p:grpSpPr>
        <p:sp>
          <p:nvSpPr>
            <p:cNvPr id="31757" name="AutoShape 1032"/>
            <p:cNvSpPr>
              <a:spLocks/>
            </p:cNvSpPr>
            <p:nvPr/>
          </p:nvSpPr>
          <p:spPr bwMode="auto">
            <a:xfrm>
              <a:off x="5136" y="2291"/>
              <a:ext cx="96" cy="313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31758" name="Text Box 1033"/>
            <p:cNvSpPr txBox="1">
              <a:spLocks noChangeArrowheads="1"/>
            </p:cNvSpPr>
            <p:nvPr/>
          </p:nvSpPr>
          <p:spPr bwMode="auto">
            <a:xfrm>
              <a:off x="5262" y="2303"/>
              <a:ext cx="499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he-IL">
                  <a:solidFill>
                    <a:srgbClr val="FF6699"/>
                  </a:solidFill>
                </a:rPr>
                <a:t>O(1)</a:t>
              </a:r>
            </a:p>
          </p:txBody>
        </p:sp>
      </p:grpSp>
      <p:grpSp>
        <p:nvGrpSpPr>
          <p:cNvPr id="4" name="Group 1034"/>
          <p:cNvGrpSpPr>
            <a:grpSpLocks/>
          </p:cNvGrpSpPr>
          <p:nvPr/>
        </p:nvGrpSpPr>
        <p:grpSpPr bwMode="auto">
          <a:xfrm>
            <a:off x="9677400" y="4551367"/>
            <a:ext cx="990600" cy="496888"/>
            <a:chOff x="5136" y="2867"/>
            <a:chExt cx="624" cy="313"/>
          </a:xfrm>
        </p:grpSpPr>
        <p:sp>
          <p:nvSpPr>
            <p:cNvPr id="31755" name="AutoShape 1035"/>
            <p:cNvSpPr>
              <a:spLocks/>
            </p:cNvSpPr>
            <p:nvPr/>
          </p:nvSpPr>
          <p:spPr bwMode="auto">
            <a:xfrm>
              <a:off x="5136" y="2867"/>
              <a:ext cx="96" cy="313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31756" name="Text Box 1036"/>
            <p:cNvSpPr txBox="1">
              <a:spLocks noChangeArrowheads="1"/>
            </p:cNvSpPr>
            <p:nvPr/>
          </p:nvSpPr>
          <p:spPr bwMode="auto">
            <a:xfrm>
              <a:off x="5192" y="2880"/>
              <a:ext cx="56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he-IL">
                  <a:solidFill>
                    <a:srgbClr val="FF6699"/>
                  </a:solidFill>
                </a:rPr>
                <a:t>O(n)</a:t>
              </a:r>
            </a:p>
          </p:txBody>
        </p:sp>
      </p:grpSp>
      <p:grpSp>
        <p:nvGrpSpPr>
          <p:cNvPr id="5" name="Group 1037"/>
          <p:cNvGrpSpPr>
            <a:grpSpLocks/>
          </p:cNvGrpSpPr>
          <p:nvPr/>
        </p:nvGrpSpPr>
        <p:grpSpPr bwMode="auto">
          <a:xfrm>
            <a:off x="4137025" y="2613029"/>
            <a:ext cx="1219200" cy="474663"/>
            <a:chOff x="1776" y="1626"/>
            <a:chExt cx="768" cy="299"/>
          </a:xfrm>
        </p:grpSpPr>
        <p:sp>
          <p:nvSpPr>
            <p:cNvPr id="31753" name="AutoShape 1038"/>
            <p:cNvSpPr>
              <a:spLocks/>
            </p:cNvSpPr>
            <p:nvPr/>
          </p:nvSpPr>
          <p:spPr bwMode="auto">
            <a:xfrm>
              <a:off x="1776" y="1626"/>
              <a:ext cx="96" cy="299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rgbClr val="FF66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endParaRPr lang="en-US" sz="2400">
                <a:solidFill>
                  <a:srgbClr val="3333CC"/>
                </a:solidFill>
                <a:latin typeface="Comic Sans MS" pitchFamily="66" charset="0"/>
              </a:endParaRPr>
            </a:p>
          </p:txBody>
        </p:sp>
        <p:sp>
          <p:nvSpPr>
            <p:cNvPr id="31754" name="Text Box 1039"/>
            <p:cNvSpPr txBox="1">
              <a:spLocks noChangeArrowheads="1"/>
            </p:cNvSpPr>
            <p:nvPr/>
          </p:nvSpPr>
          <p:spPr bwMode="auto">
            <a:xfrm>
              <a:off x="1832" y="1632"/>
              <a:ext cx="7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1pPr>
              <a:lvl2pPr marL="742950" indent="-28575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2pPr>
              <a:lvl3pPr marL="11430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3pPr>
              <a:lvl4pPr marL="16002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4pPr>
              <a:lvl5pPr marL="2057400" indent="-228600"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50000"/>
                </a:spcBef>
                <a:defRPr/>
              </a:pPr>
              <a:r>
                <a:rPr lang="en-US" altLang="he-IL">
                  <a:solidFill>
                    <a:srgbClr val="FF6699"/>
                  </a:solidFill>
                </a:rPr>
                <a:t>O(n</a:t>
              </a:r>
              <a:r>
                <a:rPr lang="en-US" altLang="he-IL" baseline="30000">
                  <a:solidFill>
                    <a:srgbClr val="FF6699"/>
                  </a:solidFill>
                </a:rPr>
                <a:t>2</a:t>
              </a:r>
              <a:r>
                <a:rPr lang="en-US" altLang="he-IL">
                  <a:solidFill>
                    <a:srgbClr val="FF6699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631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9ED766-C788-48D6-B8B6-EDE3F9CA835F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Correctness</a:t>
            </a:r>
            <a:endParaRPr lang="en-US" altLang="he-IL" smtClean="0"/>
          </a:p>
        </p:txBody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1524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/>
              <a:t>The set of vertices our algorithm returns is clearly a vertex-cover, since we iterate until every edge is covered.</a:t>
            </a:r>
          </a:p>
        </p:txBody>
      </p:sp>
      <p:graphicFrame>
        <p:nvGraphicFramePr>
          <p:cNvPr id="44037" name="Object 1024"/>
          <p:cNvGraphicFramePr>
            <a:graphicFrameLocks noChangeAspect="1"/>
          </p:cNvGraphicFramePr>
          <p:nvPr/>
        </p:nvGraphicFramePr>
        <p:xfrm>
          <a:off x="6629400" y="3048001"/>
          <a:ext cx="2247900" cy="330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lip" r:id="rId3" imgW="2247900" imgH="3306763" progId="MS_ClipArt_Gallery.2">
                  <p:embed/>
                </p:oleObj>
              </mc:Choice>
              <mc:Fallback>
                <p:oleObj name="Clip" r:id="rId3" imgW="2247900" imgH="330676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048001"/>
                        <a:ext cx="2247900" cy="330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rgbClr val="000000">
                            <a:alpha val="50000"/>
                          </a:srgbClr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3855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815" t="-207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3678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4a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1b1b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3d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6f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5e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g7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No. why?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Edges (5, 6), (3, 6) and (3, 7) are not covered by it</a:t>
            </a:r>
          </a:p>
        </p:txBody>
      </p:sp>
    </p:spTree>
    <p:extLst>
      <p:ext uri="{BB962C8B-B14F-4D97-AF65-F5344CB8AC3E}">
        <p14:creationId xmlns:p14="http://schemas.microsoft.com/office/powerpoint/2010/main" val="282033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No. why?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Edge (3, 7) is not covered by it</a:t>
            </a:r>
          </a:p>
        </p:txBody>
      </p:sp>
    </p:spTree>
    <p:extLst>
      <p:ext uri="{BB962C8B-B14F-4D97-AF65-F5344CB8AC3E}">
        <p14:creationId xmlns:p14="http://schemas.microsoft.com/office/powerpoint/2010/main" val="260643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388" y="64008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196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388" y="64008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02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388" y="64008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614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3800" y="48006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35388" y="5334000"/>
            <a:ext cx="3810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5388" y="5867400"/>
            <a:ext cx="52562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5388" y="6400800"/>
            <a:ext cx="60801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676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/>
              <a:t>Vertex-cover problem</a:t>
            </a:r>
          </a:p>
          <a:p>
            <a:pPr lvl="1" eaLnBrk="1" hangingPunct="1">
              <a:defRPr/>
            </a:pPr>
            <a:r>
              <a:rPr lang="en-US" dirty="0"/>
              <a:t>Given a undirected graph, find a vertex cover with minimum size. </a:t>
            </a:r>
          </a:p>
        </p:txBody>
      </p:sp>
    </p:spTree>
    <p:extLst>
      <p:ext uri="{BB962C8B-B14F-4D97-AF65-F5344CB8AC3E}">
        <p14:creationId xmlns:p14="http://schemas.microsoft.com/office/powerpoint/2010/main" val="327375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4036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340360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8950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575425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575425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488950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805180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36703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393700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5422901" y="24765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515620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7031038" y="2665414"/>
            <a:ext cx="1287462" cy="1144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6842125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5422901" y="4076700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5181600"/>
            <a:ext cx="27432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A minimum vertex-cover</a:t>
            </a:r>
          </a:p>
        </p:txBody>
      </p:sp>
    </p:spTree>
    <p:extLst>
      <p:ext uri="{BB962C8B-B14F-4D97-AF65-F5344CB8AC3E}">
        <p14:creationId xmlns:p14="http://schemas.microsoft.com/office/powerpoint/2010/main" val="216605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444" t="-3407" r="-1704" b="-163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82943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2784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278438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4338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450263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450263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7643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99266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55451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5811838" y="3236913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7297739" y="32369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70310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8904288" y="3425825"/>
            <a:ext cx="1289050" cy="1144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8716963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7297739" y="48371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00200" y="1539681"/>
            <a:ext cx="3429000" cy="3416320"/>
          </a:xfrm>
          <a:prstGeom prst="rect">
            <a:avLst/>
          </a:prstGeom>
          <a:blipFill rotWithShape="1">
            <a:blip r:embed="rId2"/>
            <a:stretch>
              <a:fillRect l="-1601" t="-893" r="-1068" b="-1964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  <a:cs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0840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278438" y="45704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278438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4338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450263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450263" y="45704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764338" y="45704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99266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55451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5811838" y="3236913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7297739" y="32369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70310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8904288" y="3425825"/>
            <a:ext cx="1289050" cy="1144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8716963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7297739" y="48371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181600" y="5410200"/>
            <a:ext cx="3048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It is then a vertex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2575" y="5859464"/>
            <a:ext cx="79533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1613" y="5870575"/>
            <a:ext cx="9144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Size?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8438" y="6324600"/>
            <a:ext cx="30273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How far from optimal 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5926" y="6324600"/>
            <a:ext cx="24796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Max(6/3, 3/6) = 2</a:t>
            </a:r>
          </a:p>
        </p:txBody>
      </p:sp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05000" y="1529382"/>
            <a:ext cx="3048000" cy="3416320"/>
          </a:xfrm>
          <a:prstGeom prst="rect">
            <a:avLst/>
          </a:prstGeom>
          <a:blipFill rotWithShape="1">
            <a:blip r:embed="rId2"/>
            <a:stretch>
              <a:fillRect l="-1800" t="-893" r="-2400" b="-1964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  <a:cs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7195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2784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278438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4338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450263" y="29702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450263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7643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99266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55451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5811838" y="3236913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7297739" y="32369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70310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8904288" y="3425825"/>
            <a:ext cx="1289050" cy="1144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8716963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7297739" y="48371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05000" y="1529382"/>
            <a:ext cx="3048000" cy="3416320"/>
          </a:xfrm>
          <a:prstGeom prst="rect">
            <a:avLst/>
          </a:prstGeom>
          <a:blipFill rotWithShape="1">
            <a:blip r:embed="rId2"/>
            <a:stretch>
              <a:fillRect l="-1800" t="-893" r="-2400" b="-1964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  <a:cs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1107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2784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278438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4338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450263" y="29702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8450263" y="4570413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7643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9926638" y="457041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55451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5811838" y="3236913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7297739" y="32369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7031038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8904288" y="3425825"/>
            <a:ext cx="1289050" cy="1144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8716963" y="3503613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7297739" y="4837113"/>
            <a:ext cx="1152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181600" y="5410200"/>
            <a:ext cx="3048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It is then a vertex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2575" y="5859464"/>
            <a:ext cx="79533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1613" y="5870575"/>
            <a:ext cx="9144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Size?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8438" y="6324600"/>
            <a:ext cx="30273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How far from optimal 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5926" y="6324600"/>
            <a:ext cx="247967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Max(4/3, 3/4) = 1.33</a:t>
            </a:r>
          </a:p>
        </p:txBody>
      </p:sp>
      <p:sp>
        <p:nvSpPr>
          <p:cNvPr id="24" name="Rectangle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05000" y="1529382"/>
            <a:ext cx="3048000" cy="3416320"/>
          </a:xfrm>
          <a:prstGeom prst="rect">
            <a:avLst/>
          </a:prstGeom>
          <a:blipFill rotWithShape="1">
            <a:blip r:embed="rId2"/>
            <a:stretch>
              <a:fillRect l="-1800" t="-893" r="-2400" b="-1964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  <a:cs typeface="Arial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5968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Vertex-cover problem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i="1" u="sng" dirty="0"/>
              <a:t>THEOREM:35.1</a:t>
            </a:r>
          </a:p>
          <a:p>
            <a:pPr eaLnBrk="1" hangingPunct="1">
              <a:defRPr/>
            </a:pPr>
            <a:r>
              <a:rPr lang="en-US" b="1" dirty="0"/>
              <a:t>APPROX-VERTEX-COVER</a:t>
            </a:r>
            <a:r>
              <a:rPr lang="en-US" dirty="0"/>
              <a:t>(G) is a 2-approximation algorithm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  <a:r>
              <a:rPr lang="en-US" i="1" u="sng" dirty="0"/>
              <a:t>AIM:</a:t>
            </a:r>
          </a:p>
          <a:p>
            <a:pPr eaLnBrk="1" hangingPunct="1">
              <a:defRPr/>
            </a:pPr>
            <a:r>
              <a:rPr lang="en-US" dirty="0"/>
              <a:t>When the size of </a:t>
            </a:r>
            <a:r>
              <a:rPr lang="en-US" dirty="0">
                <a:solidFill>
                  <a:srgbClr val="FF0000"/>
                </a:solidFill>
              </a:rPr>
              <a:t>minimum vertex-cover </a:t>
            </a:r>
            <a:r>
              <a:rPr lang="en-US" dirty="0"/>
              <a:t>is </a:t>
            </a:r>
            <a:r>
              <a:rPr lang="en-US" b="1" i="1" dirty="0">
                <a:solidFill>
                  <a:srgbClr val="FF0000"/>
                </a:solidFill>
              </a:rPr>
              <a:t>s</a:t>
            </a:r>
          </a:p>
          <a:p>
            <a:pPr eaLnBrk="1" hangingPunct="1">
              <a:defRPr/>
            </a:pPr>
            <a:r>
              <a:rPr lang="en-US" dirty="0"/>
              <a:t>The vertex-cover produced by </a:t>
            </a:r>
            <a:r>
              <a:rPr lang="en-US" b="1" dirty="0"/>
              <a:t>APPROX-VERTEX-COVER </a:t>
            </a:r>
            <a:r>
              <a:rPr lang="en-US" dirty="0"/>
              <a:t>is at most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i="1" dirty="0">
                <a:solidFill>
                  <a:srgbClr val="FF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11022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10" y="339143"/>
            <a:ext cx="11706896" cy="638233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Proof : </a:t>
            </a:r>
          </a:p>
          <a:p>
            <a:pPr>
              <a:defRPr/>
            </a:pPr>
            <a:r>
              <a:rPr lang="en-US" b="1" dirty="0"/>
              <a:t>APPROX-VERTEX-COVER(G) runs in Polynomial time.</a:t>
            </a:r>
          </a:p>
          <a:p>
            <a:pPr>
              <a:defRPr/>
            </a:pPr>
            <a:r>
              <a:rPr lang="en-US" b="1" dirty="0"/>
              <a:t>Let ‘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A’ denote the  set of edges that were picked in line -4 of Algorithm.</a:t>
            </a:r>
          </a:p>
          <a:p>
            <a:pPr>
              <a:defRPr/>
            </a:pPr>
            <a:r>
              <a:rPr lang="en-US" b="1" dirty="0"/>
              <a:t>In order to cover the edges in A, an optimal cover C*(U* denoted in proof) must include at least one end point of each edge in A.(By example C* includes </a:t>
            </a:r>
            <a:r>
              <a:rPr lang="en-US" b="1" dirty="0" err="1"/>
              <a:t>b,e,d</a:t>
            </a:r>
            <a:r>
              <a:rPr lang="en-US" b="1" dirty="0"/>
              <a:t>)</a:t>
            </a:r>
          </a:p>
          <a:p>
            <a:pPr>
              <a:defRPr/>
            </a:pPr>
            <a:r>
              <a:rPr lang="en-US" b="1" dirty="0">
                <a:solidFill>
                  <a:schemeClr val="tx1">
                    <a:lumMod val="10000"/>
                  </a:schemeClr>
                </a:solidFill>
              </a:rPr>
              <a:t>No two edges in A share an END </a:t>
            </a:r>
            <a:r>
              <a:rPr lang="en-US" b="1" dirty="0" err="1">
                <a:solidFill>
                  <a:schemeClr val="tx1">
                    <a:lumMod val="10000"/>
                  </a:schemeClr>
                </a:solidFill>
              </a:rPr>
              <a:t>POINTS,since</a:t>
            </a:r>
            <a:r>
              <a:rPr lang="en-US" b="1" dirty="0">
                <a:solidFill>
                  <a:schemeClr val="tx1">
                    <a:lumMod val="10000"/>
                  </a:schemeClr>
                </a:solidFill>
              </a:rPr>
              <a:t> once an edge is picked </a:t>
            </a:r>
            <a:r>
              <a:rPr lang="en-US" b="1" dirty="0"/>
              <a:t>, all the edges incident on it are deleted from E‘.(By example –A ={ (</a:t>
            </a:r>
            <a:r>
              <a:rPr lang="en-US" b="1" dirty="0" err="1"/>
              <a:t>b,c</a:t>
            </a:r>
            <a:r>
              <a:rPr lang="en-US" b="1" dirty="0"/>
              <a:t>),(</a:t>
            </a:r>
            <a:r>
              <a:rPr lang="en-US" b="1" dirty="0" err="1"/>
              <a:t>e,f</a:t>
            </a:r>
            <a:r>
              <a:rPr lang="en-US" b="1" dirty="0"/>
              <a:t>), (</a:t>
            </a:r>
            <a:r>
              <a:rPr lang="en-US" b="1" dirty="0" err="1"/>
              <a:t>d,g</a:t>
            </a:r>
            <a:r>
              <a:rPr lang="en-US" b="1" dirty="0"/>
              <a:t>)} )</a:t>
            </a:r>
          </a:p>
          <a:p>
            <a:pPr marL="0" indent="0">
              <a:buNone/>
              <a:defRPr/>
            </a:pPr>
            <a:r>
              <a:rPr lang="en-US" b="1" dirty="0"/>
              <a:t>   </a:t>
            </a:r>
            <a:r>
              <a:rPr lang="en-US" b="1" dirty="0">
                <a:solidFill>
                  <a:schemeClr val="tx1">
                    <a:lumMod val="10000"/>
                  </a:schemeClr>
                </a:solidFill>
              </a:rPr>
              <a:t>Thus no two edges in A are covered by the same vertex from C* and we have the lower bound. 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980397-7246-4E4B-9248-9B499D44692E}" type="slidenum">
              <a:rPr lang="en-US" altLang="en-US" sz="1400">
                <a:solidFill>
                  <a:srgbClr val="FFFFCC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>
              <a:solidFill>
                <a:srgbClr val="FFFFC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32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820" y="128789"/>
            <a:ext cx="11121980" cy="6048174"/>
          </a:xfrm>
        </p:spPr>
        <p:txBody>
          <a:bodyPr>
            <a:normAutofit/>
          </a:bodyPr>
          <a:lstStyle/>
          <a:p>
            <a:pPr marL="0" lvl="2" indent="0">
              <a:buNone/>
              <a:defRPr/>
            </a:pPr>
            <a:r>
              <a:rPr lang="en-US" sz="4400" b="1" dirty="0"/>
              <a:t>NOTE: </a:t>
            </a:r>
          </a:p>
          <a:p>
            <a:pPr marL="342900" lvl="2" indent="-342900">
              <a:defRPr/>
            </a:pPr>
            <a:r>
              <a:rPr lang="en-US" sz="4400" b="1" dirty="0"/>
              <a:t>To </a:t>
            </a:r>
            <a:r>
              <a:rPr lang="en-US" sz="4400" b="1" dirty="0">
                <a:solidFill>
                  <a:schemeClr val="tx1">
                    <a:lumMod val="75000"/>
                  </a:schemeClr>
                </a:solidFill>
              </a:rPr>
              <a:t>decide the size of the optimal cover </a:t>
            </a:r>
            <a:r>
              <a:rPr lang="en-US" sz="4400" b="1" dirty="0"/>
              <a:t>we utilize the </a:t>
            </a:r>
            <a:r>
              <a:rPr lang="en-US" sz="4400" b="1" dirty="0">
                <a:solidFill>
                  <a:schemeClr val="tx1">
                    <a:lumMod val="75000"/>
                  </a:schemeClr>
                </a:solidFill>
              </a:rPr>
              <a:t>lower bound </a:t>
            </a:r>
            <a:r>
              <a:rPr lang="en-US" sz="4400" b="1" dirty="0"/>
              <a:t>on the optimal cover .</a:t>
            </a:r>
          </a:p>
          <a:p>
            <a:pPr marL="342900" lvl="2" indent="-342900">
              <a:defRPr/>
            </a:pPr>
            <a:r>
              <a:rPr lang="en-US" sz="4400" b="1" dirty="0"/>
              <a:t>By relating the size of the solution returned to the lower bound , </a:t>
            </a:r>
            <a:r>
              <a:rPr lang="en-US" sz="4400" b="1" dirty="0">
                <a:solidFill>
                  <a:schemeClr val="tx1">
                    <a:lumMod val="75000"/>
                  </a:schemeClr>
                </a:solidFill>
              </a:rPr>
              <a:t>we obtain our approximation ratio.</a:t>
            </a:r>
          </a:p>
          <a:p>
            <a:pPr>
              <a:defRPr/>
            </a:pPr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Approximation Algorithmes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4420EC-1A64-4BEA-8946-647E0EA165F5}" type="slidenum">
              <a:rPr lang="en-US" altLang="en-US" sz="1400">
                <a:solidFill>
                  <a:srgbClr val="FFFFCC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>
              <a:solidFill>
                <a:srgbClr val="FFFFC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8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974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333" t="-2695"/>
            </a:stretch>
          </a:blipFill>
          <a:ln>
            <a:solidFill>
              <a:schemeClr val="accent6">
                <a:lumMod val="50000"/>
              </a:schemeClr>
            </a:solidFill>
          </a:ln>
        </p:spPr>
        <p:txBody>
          <a:bodyPr/>
          <a:lstStyle/>
          <a:p>
            <a:pPr lvl="2" eaLnBrk="1" hangingPunct="1">
              <a:buFont typeface="Wingdings" panose="05000000000000000000" pitchFamily="2" charset="2"/>
              <a:buNone/>
              <a:defRPr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944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706</Words>
  <Application>Microsoft Office PowerPoint</Application>
  <PresentationFormat>Widescreen</PresentationFormat>
  <Paragraphs>211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Comic Sans MS</vt:lpstr>
      <vt:lpstr>Symbol</vt:lpstr>
      <vt:lpstr>Tahoma</vt:lpstr>
      <vt:lpstr>Times New Roman</vt:lpstr>
      <vt:lpstr>Wingdings</vt:lpstr>
      <vt:lpstr>Office Theme</vt:lpstr>
      <vt:lpstr>Clip</vt:lpstr>
      <vt:lpstr>Approximation Algorithm</vt:lpstr>
      <vt:lpstr>Vertex cover</vt:lpstr>
      <vt:lpstr>The vertex-cover problem </vt:lpstr>
      <vt:lpstr>The vertex-cover problem  …</vt:lpstr>
      <vt:lpstr>The vertex-cover problem  …</vt:lpstr>
      <vt:lpstr>The vertex-cover problem  …</vt:lpstr>
      <vt:lpstr>Demo</vt:lpstr>
      <vt:lpstr>Polynomial Time</vt:lpstr>
      <vt:lpstr>Correctness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PowerPoint Presentation</vt:lpstr>
      <vt:lpstr>PowerPoint Presentation</vt:lpstr>
      <vt:lpstr>Vertex-cover problem  and a 2-approximation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Approximation Algorithm</dc:title>
  <dc:creator>lenovo</dc:creator>
  <cp:lastModifiedBy>lenovo</cp:lastModifiedBy>
  <cp:revision>3</cp:revision>
  <dcterms:created xsi:type="dcterms:W3CDTF">2022-09-27T10:05:12Z</dcterms:created>
  <dcterms:modified xsi:type="dcterms:W3CDTF">2022-09-28T01:33:19Z</dcterms:modified>
</cp:coreProperties>
</file>