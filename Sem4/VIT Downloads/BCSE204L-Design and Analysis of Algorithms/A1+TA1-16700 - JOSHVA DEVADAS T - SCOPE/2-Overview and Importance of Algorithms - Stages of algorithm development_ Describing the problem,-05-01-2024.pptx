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278" r:id="rId3"/>
    <p:sldId id="287" r:id="rId4"/>
    <p:sldId id="294" r:id="rId5"/>
    <p:sldId id="295" r:id="rId6"/>
    <p:sldId id="296" r:id="rId7"/>
    <p:sldId id="297" r:id="rId8"/>
    <p:sldId id="303" r:id="rId9"/>
    <p:sldId id="299" r:id="rId10"/>
    <p:sldId id="300" r:id="rId11"/>
    <p:sldId id="301" r:id="rId12"/>
    <p:sldId id="302" r:id="rId13"/>
    <p:sldId id="258" r:id="rId14"/>
    <p:sldId id="259" r:id="rId15"/>
    <p:sldId id="261" r:id="rId16"/>
    <p:sldId id="262" r:id="rId17"/>
    <p:sldId id="260" r:id="rId18"/>
    <p:sldId id="257" r:id="rId19"/>
    <p:sldId id="263" r:id="rId20"/>
    <p:sldId id="306" r:id="rId21"/>
    <p:sldId id="279" r:id="rId22"/>
    <p:sldId id="280" r:id="rId23"/>
    <p:sldId id="281" r:id="rId24"/>
    <p:sldId id="282" r:id="rId25"/>
    <p:sldId id="283" r:id="rId26"/>
    <p:sldId id="264" r:id="rId27"/>
    <p:sldId id="265" r:id="rId28"/>
    <p:sldId id="288" r:id="rId29"/>
    <p:sldId id="270" r:id="rId30"/>
    <p:sldId id="277" r:id="rId31"/>
    <p:sldId id="268" r:id="rId32"/>
    <p:sldId id="289" r:id="rId33"/>
    <p:sldId id="269" r:id="rId34"/>
    <p:sldId id="273" r:id="rId35"/>
    <p:sldId id="290" r:id="rId36"/>
    <p:sldId id="266" r:id="rId37"/>
    <p:sldId id="271" r:id="rId38"/>
    <p:sldId id="305" r:id="rId39"/>
    <p:sldId id="291" r:id="rId40"/>
    <p:sldId id="272" r:id="rId41"/>
    <p:sldId id="274" r:id="rId42"/>
    <p:sldId id="276" r:id="rId43"/>
    <p:sldId id="292" r:id="rId44"/>
    <p:sldId id="285" r:id="rId45"/>
    <p:sldId id="284"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569" autoAdjust="0"/>
  </p:normalViewPr>
  <p:slideViewPr>
    <p:cSldViewPr>
      <p:cViewPr varScale="1">
        <p:scale>
          <a:sx n="62" d="100"/>
          <a:sy n="62" d="100"/>
        </p:scale>
        <p:origin x="-1512"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F86C60-4DA3-440B-BCC7-076890B4D38D}" type="datetimeFigureOut">
              <a:rPr lang="en-IN" smtClean="0"/>
              <a:t>05-01-2024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C4B4E0C-A3C4-4B24-B2AD-7E851A74D5A3}" type="slidenum">
              <a:rPr lang="en-IN" smtClean="0"/>
              <a:t>‹#›</a:t>
            </a:fld>
            <a:endParaRPr lang="en-IN"/>
          </a:p>
        </p:txBody>
      </p:sp>
    </p:spTree>
    <p:extLst>
      <p:ext uri="{BB962C8B-B14F-4D97-AF65-F5344CB8AC3E}">
        <p14:creationId xmlns:p14="http://schemas.microsoft.com/office/powerpoint/2010/main" val="618455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179260BD-3A53-4A83-8E12-05F3D9DFBD4E}" type="slidenum">
              <a:rPr lang="en-US" altLang="en-US"/>
              <a:pPr>
                <a:spcBef>
                  <a:spcPct val="0"/>
                </a:spcBef>
              </a:pPr>
              <a:t>5</a:t>
            </a:fld>
            <a:endParaRPr lang="en-US" altLang="en-US"/>
          </a:p>
        </p:txBody>
      </p:sp>
      <p:sp>
        <p:nvSpPr>
          <p:cNvPr id="6147" name="Rectangle 2"/>
          <p:cNvSpPr>
            <a:spLocks noGrp="1" noRot="1" noChangeAspect="1" noChangeArrowheads="1" noTextEdit="1"/>
          </p:cNvSpPr>
          <p:nvPr>
            <p:ph type="sldImg"/>
          </p:nvPr>
        </p:nvSpPr>
        <p:spPr bwMode="auto">
          <a:xfrm>
            <a:off x="1149350" y="688975"/>
            <a:ext cx="4557713" cy="341947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119" tIns="46841" rIns="92119" bIns="46841"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284842DF-B32D-424A-8BCE-ADC608A52CF4}" type="slidenum">
              <a:rPr lang="en-US" altLang="en-US"/>
              <a:pPr>
                <a:spcBef>
                  <a:spcPct val="0"/>
                </a:spcBef>
              </a:pPr>
              <a:t>6</a:t>
            </a:fld>
            <a:endParaRPr lang="en-US" altLang="en-US"/>
          </a:p>
        </p:txBody>
      </p:sp>
      <p:sp>
        <p:nvSpPr>
          <p:cNvPr id="8195" name="Rectangle 2"/>
          <p:cNvSpPr>
            <a:spLocks noGrp="1" noRot="1" noChangeAspect="1" noChangeArrowheads="1" noTextEdit="1"/>
          </p:cNvSpPr>
          <p:nvPr>
            <p:ph type="sldImg"/>
          </p:nvPr>
        </p:nvSpPr>
        <p:spPr bwMode="auto">
          <a:xfrm>
            <a:off x="1149350" y="688975"/>
            <a:ext cx="4557713" cy="341947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8196" name="Rectangle 3"/>
          <p:cNvSpPr>
            <a:spLocks noGrp="1" noChangeArrowheads="1"/>
          </p:cNvSpPr>
          <p:nvPr>
            <p:ph type="body" idx="1"/>
          </p:nvPr>
        </p:nvSpPr>
        <p:spPr bwMode="auto">
          <a:xfrm>
            <a:off x="915988" y="4343400"/>
            <a:ext cx="5026025" cy="41163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119" tIns="46841" rIns="92119" bIns="46841"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4B406788-AB22-40A2-A862-0600171B1209}" type="slidenum">
              <a:rPr lang="en-US" altLang="en-US"/>
              <a:pPr>
                <a:spcBef>
                  <a:spcPct val="0"/>
                </a:spcBef>
              </a:pPr>
              <a:t>9</a:t>
            </a:fld>
            <a:endParaRPr lang="en-US" altLang="en-US"/>
          </a:p>
        </p:txBody>
      </p:sp>
      <p:sp>
        <p:nvSpPr>
          <p:cNvPr id="1229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smtClean="0"/>
              <a:t>Euclid’s algorithm is good for introducing the notion of an algorithm because it </a:t>
            </a:r>
          </a:p>
          <a:p>
            <a:pPr eaLnBrk="1" hangingPunct="1">
              <a:spcBef>
                <a:spcPct val="0"/>
              </a:spcBef>
            </a:pPr>
            <a:r>
              <a:rPr lang="en-US" altLang="en-US" dirty="0" smtClean="0"/>
              <a:t>makes a clear separation from a program that implements the algorithm.</a:t>
            </a:r>
          </a:p>
          <a:p>
            <a:pPr eaLnBrk="1" hangingPunct="1">
              <a:spcBef>
                <a:spcPct val="0"/>
              </a:spcBef>
            </a:pPr>
            <a:r>
              <a:rPr lang="en-US" altLang="en-US" dirty="0" smtClean="0"/>
              <a:t>It is also one that is familiar to most students.</a:t>
            </a:r>
          </a:p>
          <a:p>
            <a:pPr eaLnBrk="1" hangingPunct="1">
              <a:spcBef>
                <a:spcPct val="0"/>
              </a:spcBef>
            </a:pPr>
            <a:endParaRPr lang="en-US" altLang="en-US" dirty="0" smtClean="0"/>
          </a:p>
          <a:p>
            <a:pPr eaLnBrk="1" hangingPunct="1">
              <a:spcBef>
                <a:spcPct val="0"/>
              </a:spcBef>
            </a:pPr>
            <a:r>
              <a:rPr lang="en-US" altLang="en-US" dirty="0" smtClean="0"/>
              <a:t>Al </a:t>
            </a:r>
            <a:r>
              <a:rPr lang="en-US" altLang="en-US" dirty="0" err="1" smtClean="0"/>
              <a:t>Khowarizmi</a:t>
            </a:r>
            <a:r>
              <a:rPr lang="en-US" altLang="en-US" dirty="0" smtClean="0"/>
              <a:t> (many spellings possible...) – “algorism” (originally) and then</a:t>
            </a:r>
          </a:p>
          <a:p>
            <a:pPr eaLnBrk="1" hangingPunct="1">
              <a:spcBef>
                <a:spcPct val="0"/>
              </a:spcBef>
            </a:pPr>
            <a:r>
              <a:rPr lang="en-US" altLang="en-US" dirty="0" smtClean="0"/>
              <a:t> later “algorithm” come from his name.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F533C033-23EF-4BD9-96AE-417D9D9224AF}" type="slidenum">
              <a:rPr lang="en-US" altLang="en-US"/>
              <a:pPr>
                <a:spcBef>
                  <a:spcPct val="0"/>
                </a:spcBef>
              </a:pPr>
              <a:t>10</a:t>
            </a:fld>
            <a:endParaRPr lang="en-US" altLang="en-US"/>
          </a:p>
        </p:txBody>
      </p:sp>
      <p:sp>
        <p:nvSpPr>
          <p:cNvPr id="1433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6B16ABC0-4637-4765-9C7D-6135AD4AA5F9}" type="slidenum">
              <a:rPr lang="en-US" altLang="en-US"/>
              <a:pPr>
                <a:spcBef>
                  <a:spcPct val="0"/>
                </a:spcBef>
              </a:pPr>
              <a:t>11</a:t>
            </a:fld>
            <a:endParaRPr lang="en-US" altLang="en-US"/>
          </a:p>
        </p:txBody>
      </p:sp>
      <p:sp>
        <p:nvSpPr>
          <p:cNvPr id="1638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E12FD465-E718-456A-97D1-651E2646B752}" type="slidenum">
              <a:rPr lang="en-US" altLang="en-US"/>
              <a:pPr>
                <a:spcBef>
                  <a:spcPct val="0"/>
                </a:spcBef>
              </a:pPr>
              <a:t>12</a:t>
            </a:fld>
            <a:endParaRPr lang="en-US" altLang="en-US"/>
          </a:p>
        </p:txBody>
      </p:sp>
      <p:sp>
        <p:nvSpPr>
          <p:cNvPr id="1843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BE111B97-4F7B-432C-8C57-A5F2EE8A9A9F}" type="datetime1">
              <a:rPr lang="en-IN" smtClean="0"/>
              <a:t>05-01-2024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B0BF6E-FAFB-46B7-AEE3-3DAA4B58C0A6}" type="slidenum">
              <a:rPr lang="en-IN" smtClean="0"/>
              <a:t>‹#›</a:t>
            </a:fld>
            <a:endParaRPr lang="en-IN"/>
          </a:p>
        </p:txBody>
      </p:sp>
    </p:spTree>
    <p:extLst>
      <p:ext uri="{BB962C8B-B14F-4D97-AF65-F5344CB8AC3E}">
        <p14:creationId xmlns:p14="http://schemas.microsoft.com/office/powerpoint/2010/main" val="1446663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0833C77-73EB-4BD8-A745-9F1616F715A5}" type="datetime1">
              <a:rPr lang="en-IN" smtClean="0"/>
              <a:t>05-01-2024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B0BF6E-FAFB-46B7-AEE3-3DAA4B58C0A6}" type="slidenum">
              <a:rPr lang="en-IN" smtClean="0"/>
              <a:t>‹#›</a:t>
            </a:fld>
            <a:endParaRPr lang="en-IN"/>
          </a:p>
        </p:txBody>
      </p:sp>
    </p:spTree>
    <p:extLst>
      <p:ext uri="{BB962C8B-B14F-4D97-AF65-F5344CB8AC3E}">
        <p14:creationId xmlns:p14="http://schemas.microsoft.com/office/powerpoint/2010/main" val="855445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A5D9E9E-BB45-4A9F-B90F-E7CFCB532FAD}" type="datetime1">
              <a:rPr lang="en-IN" smtClean="0"/>
              <a:t>05-01-2024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B0BF6E-FAFB-46B7-AEE3-3DAA4B58C0A6}" type="slidenum">
              <a:rPr lang="en-IN" smtClean="0"/>
              <a:t>‹#›</a:t>
            </a:fld>
            <a:endParaRPr lang="en-IN"/>
          </a:p>
        </p:txBody>
      </p:sp>
    </p:spTree>
    <p:extLst>
      <p:ext uri="{BB962C8B-B14F-4D97-AF65-F5344CB8AC3E}">
        <p14:creationId xmlns:p14="http://schemas.microsoft.com/office/powerpoint/2010/main" val="2521434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2CC5B5D8-B723-4FB1-8191-FF40462B4C42}" type="datetime1">
              <a:rPr lang="en-IN" smtClean="0"/>
              <a:t>05-01-2024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FB0BF6E-FAFB-46B7-AEE3-3DAA4B58C0A6}" type="slidenum">
              <a:rPr lang="en-IN" smtClean="0"/>
              <a:t>‹#›</a:t>
            </a:fld>
            <a:endParaRPr lang="en-IN"/>
          </a:p>
        </p:txBody>
      </p:sp>
    </p:spTree>
    <p:extLst>
      <p:ext uri="{BB962C8B-B14F-4D97-AF65-F5344CB8AC3E}">
        <p14:creationId xmlns:p14="http://schemas.microsoft.com/office/powerpoint/2010/main" val="228659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5740BEE-2FA5-4237-8050-636A05B33AB4}" type="datetime1">
              <a:rPr lang="en-IN" smtClean="0"/>
              <a:t>05-01-2024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FB0BF6E-FAFB-46B7-AEE3-3DAA4B58C0A6}" type="slidenum">
              <a:rPr lang="en-IN" smtClean="0"/>
              <a:t>‹#›</a:t>
            </a:fld>
            <a:endParaRPr lang="en-IN"/>
          </a:p>
        </p:txBody>
      </p:sp>
    </p:spTree>
    <p:extLst>
      <p:ext uri="{BB962C8B-B14F-4D97-AF65-F5344CB8AC3E}">
        <p14:creationId xmlns:p14="http://schemas.microsoft.com/office/powerpoint/2010/main" val="868034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D5C1912D-FB79-4EDD-8B79-213CD2973040}" type="datetime1">
              <a:rPr lang="en-IN" smtClean="0"/>
              <a:t>05-01-2024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FB0BF6E-FAFB-46B7-AEE3-3DAA4B58C0A6}" type="slidenum">
              <a:rPr lang="en-IN" smtClean="0"/>
              <a:t>‹#›</a:t>
            </a:fld>
            <a:endParaRPr lang="en-IN"/>
          </a:p>
        </p:txBody>
      </p:sp>
    </p:spTree>
    <p:extLst>
      <p:ext uri="{BB962C8B-B14F-4D97-AF65-F5344CB8AC3E}">
        <p14:creationId xmlns:p14="http://schemas.microsoft.com/office/powerpoint/2010/main" val="763868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FDA213-B0AA-4001-B9B2-CF34C1077E18}" type="datetime1">
              <a:rPr lang="en-IN" smtClean="0"/>
              <a:t>05-01-2024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FB0BF6E-FAFB-46B7-AEE3-3DAA4B58C0A6}" type="slidenum">
              <a:rPr lang="en-IN" smtClean="0"/>
              <a:t>‹#›</a:t>
            </a:fld>
            <a:endParaRPr lang="en-IN"/>
          </a:p>
        </p:txBody>
      </p:sp>
    </p:spTree>
    <p:extLst>
      <p:ext uri="{BB962C8B-B14F-4D97-AF65-F5344CB8AC3E}">
        <p14:creationId xmlns:p14="http://schemas.microsoft.com/office/powerpoint/2010/main" val="2404686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BF02761-875C-4843-A10D-79D4CA8C4BB4}" type="datetime1">
              <a:rPr lang="en-IN" smtClean="0"/>
              <a:t>05-01-2024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FB0BF6E-FAFB-46B7-AEE3-3DAA4B58C0A6}" type="slidenum">
              <a:rPr lang="en-IN" smtClean="0"/>
              <a:t>‹#›</a:t>
            </a:fld>
            <a:endParaRPr lang="en-IN"/>
          </a:p>
        </p:txBody>
      </p:sp>
    </p:spTree>
    <p:extLst>
      <p:ext uri="{BB962C8B-B14F-4D97-AF65-F5344CB8AC3E}">
        <p14:creationId xmlns:p14="http://schemas.microsoft.com/office/powerpoint/2010/main" val="1724628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D01DFF-308F-4EA9-B47A-6ED1B22F527D}" type="datetime1">
              <a:rPr lang="en-IN" smtClean="0"/>
              <a:t>05-01-2024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FB0BF6E-FAFB-46B7-AEE3-3DAA4B58C0A6}" type="slidenum">
              <a:rPr lang="en-IN" smtClean="0"/>
              <a:t>‹#›</a:t>
            </a:fld>
            <a:endParaRPr lang="en-IN"/>
          </a:p>
        </p:txBody>
      </p:sp>
    </p:spTree>
    <p:extLst>
      <p:ext uri="{BB962C8B-B14F-4D97-AF65-F5344CB8AC3E}">
        <p14:creationId xmlns:p14="http://schemas.microsoft.com/office/powerpoint/2010/main" val="2010510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B570F32-07AC-4F10-863C-596EA0159D8C}" type="datetime1">
              <a:rPr lang="en-IN" smtClean="0"/>
              <a:t>05-01-2024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B0BF6E-FAFB-46B7-AEE3-3DAA4B58C0A6}" type="slidenum">
              <a:rPr lang="en-IN" smtClean="0"/>
              <a:t>‹#›</a:t>
            </a:fld>
            <a:endParaRPr lang="en-IN"/>
          </a:p>
        </p:txBody>
      </p:sp>
    </p:spTree>
    <p:extLst>
      <p:ext uri="{BB962C8B-B14F-4D97-AF65-F5344CB8AC3E}">
        <p14:creationId xmlns:p14="http://schemas.microsoft.com/office/powerpoint/2010/main" val="2134134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11EC610-C22E-451F-913C-ADB1AE889193}" type="datetime1">
              <a:rPr lang="en-IN" smtClean="0"/>
              <a:t>05-01-2024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B0BF6E-FAFB-46B7-AEE3-3DAA4B58C0A6}" type="slidenum">
              <a:rPr lang="en-IN" smtClean="0"/>
              <a:t>‹#›</a:t>
            </a:fld>
            <a:endParaRPr lang="en-IN"/>
          </a:p>
        </p:txBody>
      </p:sp>
    </p:spTree>
    <p:extLst>
      <p:ext uri="{BB962C8B-B14F-4D97-AF65-F5344CB8AC3E}">
        <p14:creationId xmlns:p14="http://schemas.microsoft.com/office/powerpoint/2010/main" val="1801917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9AF8FC-BA24-4B17-BF56-AE2046DDE767}" type="datetime1">
              <a:rPr lang="en-IN" smtClean="0"/>
              <a:t>05-01-2024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B0BF6E-FAFB-46B7-AEE3-3DAA4B58C0A6}" type="slidenum">
              <a:rPr lang="en-IN" smtClean="0"/>
              <a:t>‹#›</a:t>
            </a:fld>
            <a:endParaRPr lang="en-IN"/>
          </a:p>
        </p:txBody>
      </p:sp>
    </p:spTree>
    <p:extLst>
      <p:ext uri="{BB962C8B-B14F-4D97-AF65-F5344CB8AC3E}">
        <p14:creationId xmlns:p14="http://schemas.microsoft.com/office/powerpoint/2010/main" val="3255318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smtClean="0">
                <a:solidFill>
                  <a:srgbClr val="0033CC"/>
                </a:solidFill>
              </a:rPr>
              <a:t>Introduction to Design and Analysis of Algorithms</a:t>
            </a:r>
            <a:endParaRPr lang="en-IN" b="1" dirty="0">
              <a:solidFill>
                <a:srgbClr val="0033CC"/>
              </a:solidFill>
            </a:endParaRPr>
          </a:p>
        </p:txBody>
      </p:sp>
      <p:sp>
        <p:nvSpPr>
          <p:cNvPr id="3" name="Subtitle 2"/>
          <p:cNvSpPr>
            <a:spLocks noGrp="1"/>
          </p:cNvSpPr>
          <p:nvPr>
            <p:ph type="subTitle" idx="1"/>
          </p:nvPr>
        </p:nvSpPr>
        <p:spPr/>
        <p:txBody>
          <a:bodyPr/>
          <a:lstStyle/>
          <a:p>
            <a:endParaRPr lang="en-IN" dirty="0"/>
          </a:p>
        </p:txBody>
      </p:sp>
      <p:sp>
        <p:nvSpPr>
          <p:cNvPr id="4" name="Slide Number Placeholder 3"/>
          <p:cNvSpPr>
            <a:spLocks noGrp="1"/>
          </p:cNvSpPr>
          <p:nvPr>
            <p:ph type="sldNum" sz="quarter" idx="12"/>
          </p:nvPr>
        </p:nvSpPr>
        <p:spPr/>
        <p:txBody>
          <a:bodyPr/>
          <a:lstStyle/>
          <a:p>
            <a:fld id="{9FB0BF6E-FAFB-46B7-AEE3-3DAA4B58C0A6}" type="slidenum">
              <a:rPr lang="en-IN" smtClean="0"/>
              <a:t>1</a:t>
            </a:fld>
            <a:endParaRPr lang="en-IN"/>
          </a:p>
        </p:txBody>
      </p:sp>
    </p:spTree>
    <p:extLst>
      <p:ext uri="{BB962C8B-B14F-4D97-AF65-F5344CB8AC3E}">
        <p14:creationId xmlns:p14="http://schemas.microsoft.com/office/powerpoint/2010/main" val="552586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are problem solving tools?</a:t>
            </a:r>
            <a:endParaRPr lang="en-IN" dirty="0"/>
          </a:p>
        </p:txBody>
      </p:sp>
      <p:sp>
        <p:nvSpPr>
          <p:cNvPr id="4" name="Slide Number Placeholder 3"/>
          <p:cNvSpPr>
            <a:spLocks noGrp="1"/>
          </p:cNvSpPr>
          <p:nvPr>
            <p:ph type="sldNum" sz="quarter" idx="12"/>
          </p:nvPr>
        </p:nvSpPr>
        <p:spPr/>
        <p:txBody>
          <a:bodyPr/>
          <a:lstStyle/>
          <a:p>
            <a:fld id="{9FB0BF6E-FAFB-46B7-AEE3-3DAA4B58C0A6}" type="slidenum">
              <a:rPr lang="en-IN" smtClean="0"/>
              <a:t>2</a:t>
            </a:fld>
            <a:endParaRPr lang="en-IN"/>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64886" y="1806747"/>
            <a:ext cx="4419983" cy="4352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 xmlns:a16="http://schemas.microsoft.com/office/drawing/2014/main" id="{7CFA92CD-8237-477C-B37F-593C7741BA3F}"/>
              </a:ext>
            </a:extLst>
          </p:cNvPr>
          <p:cNvSpPr txBox="1"/>
          <p:nvPr/>
        </p:nvSpPr>
        <p:spPr>
          <a:xfrm>
            <a:off x="5633439" y="4077072"/>
            <a:ext cx="1385050" cy="369332"/>
          </a:xfrm>
          <a:prstGeom prst="rect">
            <a:avLst/>
          </a:prstGeom>
          <a:noFill/>
        </p:spPr>
        <p:txBody>
          <a:bodyPr wrap="square">
            <a:spAutoFit/>
          </a:bodyPr>
          <a:lstStyle/>
          <a:p>
            <a:r>
              <a:rPr lang="en-US" sz="1800" dirty="0"/>
              <a:t>4. Program</a:t>
            </a:r>
            <a:endParaRPr lang="en-IN" sz="1800" dirty="0"/>
          </a:p>
        </p:txBody>
      </p:sp>
      <p:sp>
        <p:nvSpPr>
          <p:cNvPr id="7" name="TextBox 6">
            <a:extLst>
              <a:ext uri="{FF2B5EF4-FFF2-40B4-BE49-F238E27FC236}">
                <a16:creationId xmlns="" xmlns:a16="http://schemas.microsoft.com/office/drawing/2014/main" id="{36C5A5D0-1716-412E-852F-13644C8B6E39}"/>
              </a:ext>
            </a:extLst>
          </p:cNvPr>
          <p:cNvSpPr txBox="1"/>
          <p:nvPr/>
        </p:nvSpPr>
        <p:spPr>
          <a:xfrm>
            <a:off x="2051720" y="6173772"/>
            <a:ext cx="1851086" cy="369332"/>
          </a:xfrm>
          <a:prstGeom prst="rect">
            <a:avLst/>
          </a:prstGeom>
          <a:noFill/>
        </p:spPr>
        <p:txBody>
          <a:bodyPr wrap="square">
            <a:spAutoFit/>
          </a:bodyPr>
          <a:lstStyle/>
          <a:p>
            <a:pPr marL="342900" indent="-342900">
              <a:buAutoNum type="arabicPeriod"/>
            </a:pPr>
            <a:r>
              <a:rPr lang="en-US" sz="1800" dirty="0"/>
              <a:t>Flow chart</a:t>
            </a:r>
          </a:p>
        </p:txBody>
      </p:sp>
      <p:sp>
        <p:nvSpPr>
          <p:cNvPr id="8" name="TextBox 7">
            <a:extLst>
              <a:ext uri="{FF2B5EF4-FFF2-40B4-BE49-F238E27FC236}">
                <a16:creationId xmlns="" xmlns:a16="http://schemas.microsoft.com/office/drawing/2014/main" id="{E6CDEA3F-3720-47F6-BA34-2DEDB8CB917A}"/>
              </a:ext>
            </a:extLst>
          </p:cNvPr>
          <p:cNvSpPr txBox="1"/>
          <p:nvPr/>
        </p:nvSpPr>
        <p:spPr>
          <a:xfrm>
            <a:off x="3491880" y="5445224"/>
            <a:ext cx="1593476" cy="369332"/>
          </a:xfrm>
          <a:prstGeom prst="rect">
            <a:avLst/>
          </a:prstGeom>
          <a:noFill/>
        </p:spPr>
        <p:txBody>
          <a:bodyPr wrap="square">
            <a:spAutoFit/>
          </a:bodyPr>
          <a:lstStyle/>
          <a:p>
            <a:r>
              <a:rPr lang="en-US" sz="1800" dirty="0"/>
              <a:t>2. Algorithm</a:t>
            </a:r>
          </a:p>
        </p:txBody>
      </p:sp>
      <p:sp>
        <p:nvSpPr>
          <p:cNvPr id="9" name="TextBox 8">
            <a:extLst>
              <a:ext uri="{FF2B5EF4-FFF2-40B4-BE49-F238E27FC236}">
                <a16:creationId xmlns="" xmlns:a16="http://schemas.microsoft.com/office/drawing/2014/main" id="{3A30B98A-732B-4CC6-9B6A-398A8DAD5193}"/>
              </a:ext>
            </a:extLst>
          </p:cNvPr>
          <p:cNvSpPr txBox="1"/>
          <p:nvPr/>
        </p:nvSpPr>
        <p:spPr>
          <a:xfrm>
            <a:off x="4474878" y="4735314"/>
            <a:ext cx="1851086" cy="369332"/>
          </a:xfrm>
          <a:prstGeom prst="rect">
            <a:avLst/>
          </a:prstGeom>
          <a:noFill/>
        </p:spPr>
        <p:txBody>
          <a:bodyPr wrap="square">
            <a:spAutoFit/>
          </a:bodyPr>
          <a:lstStyle/>
          <a:p>
            <a:r>
              <a:rPr lang="en-US" sz="1800" dirty="0"/>
              <a:t>3. Pseudocode</a:t>
            </a:r>
          </a:p>
        </p:txBody>
      </p:sp>
    </p:spTree>
    <p:extLst>
      <p:ext uri="{BB962C8B-B14F-4D97-AF65-F5344CB8AC3E}">
        <p14:creationId xmlns:p14="http://schemas.microsoft.com/office/powerpoint/2010/main" val="36315433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0033CC"/>
                </a:solidFill>
              </a:rPr>
              <a:t>Overview and Importance of Algorithms</a:t>
            </a:r>
            <a:endParaRPr lang="en-IN" b="1" dirty="0">
              <a:solidFill>
                <a:srgbClr val="0033CC"/>
              </a:solidFill>
            </a:endParaRPr>
          </a:p>
        </p:txBody>
      </p:sp>
      <p:sp>
        <p:nvSpPr>
          <p:cNvPr id="3" name="Subtitle 2"/>
          <p:cNvSpPr>
            <a:spLocks noGrp="1"/>
          </p:cNvSpPr>
          <p:nvPr>
            <p:ph type="subTitle" idx="1"/>
          </p:nvPr>
        </p:nvSpPr>
        <p:spPr/>
        <p:txBody>
          <a:bodyPr/>
          <a:lstStyle/>
          <a:p>
            <a:endParaRPr lang="en-IN"/>
          </a:p>
        </p:txBody>
      </p:sp>
      <p:sp>
        <p:nvSpPr>
          <p:cNvPr id="4" name="Slide Number Placeholder 3"/>
          <p:cNvSpPr>
            <a:spLocks noGrp="1"/>
          </p:cNvSpPr>
          <p:nvPr>
            <p:ph type="sldNum" sz="quarter" idx="12"/>
          </p:nvPr>
        </p:nvSpPr>
        <p:spPr/>
        <p:txBody>
          <a:bodyPr/>
          <a:lstStyle/>
          <a:p>
            <a:fld id="{9FB0BF6E-FAFB-46B7-AEE3-3DAA4B58C0A6}" type="slidenum">
              <a:rPr lang="en-IN" smtClean="0"/>
              <a:t>3</a:t>
            </a:fld>
            <a:endParaRPr lang="en-IN"/>
          </a:p>
        </p:txBody>
      </p:sp>
    </p:spTree>
    <p:extLst>
      <p:ext uri="{BB962C8B-B14F-4D97-AF65-F5344CB8AC3E}">
        <p14:creationId xmlns:p14="http://schemas.microsoft.com/office/powerpoint/2010/main" val="2516463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altLang="en-US" b="1" smtClean="0">
                <a:solidFill>
                  <a:srgbClr val="660066"/>
                </a:solidFill>
                <a:latin typeface="Tahoma" pitchFamily="34" charset="0"/>
              </a:rPr>
              <a:t>ALGORITHM</a:t>
            </a:r>
            <a:endParaRPr lang="en-US" altLang="en-US" smtClean="0"/>
          </a:p>
        </p:txBody>
      </p:sp>
      <p:sp>
        <p:nvSpPr>
          <p:cNvPr id="4099" name="Content Placeholder 2"/>
          <p:cNvSpPr>
            <a:spLocks noGrp="1"/>
          </p:cNvSpPr>
          <p:nvPr>
            <p:ph idx="1"/>
          </p:nvPr>
        </p:nvSpPr>
        <p:spPr/>
        <p:txBody>
          <a:bodyPr/>
          <a:lstStyle/>
          <a:p>
            <a:pPr algn="just" eaLnBrk="1" hangingPunct="1">
              <a:lnSpc>
                <a:spcPct val="125000"/>
              </a:lnSpc>
            </a:pPr>
            <a:r>
              <a:rPr lang="en-US" altLang="en-US" b="1" dirty="0" smtClean="0">
                <a:latin typeface="Tahoma" pitchFamily="34" charset="0"/>
              </a:rPr>
              <a:t>A </a:t>
            </a:r>
            <a:r>
              <a:rPr lang="en-US" altLang="en-US" b="1" dirty="0" smtClean="0">
                <a:solidFill>
                  <a:srgbClr val="CC3300"/>
                </a:solidFill>
                <a:latin typeface="Tahoma" pitchFamily="34" charset="0"/>
              </a:rPr>
              <a:t>sequence</a:t>
            </a:r>
            <a:r>
              <a:rPr lang="en-US" altLang="en-US" b="1" dirty="0" smtClean="0">
                <a:latin typeface="Tahoma" pitchFamily="34" charset="0"/>
              </a:rPr>
              <a:t> of </a:t>
            </a:r>
            <a:r>
              <a:rPr lang="en-US" altLang="en-US" b="1" dirty="0" smtClean="0">
                <a:solidFill>
                  <a:srgbClr val="CC3300"/>
                </a:solidFill>
                <a:latin typeface="Tahoma" pitchFamily="34" charset="0"/>
              </a:rPr>
              <a:t>unambiguous</a:t>
            </a:r>
            <a:r>
              <a:rPr lang="en-US" altLang="en-US" b="1" dirty="0" smtClean="0">
                <a:latin typeface="Tahoma" pitchFamily="34" charset="0"/>
              </a:rPr>
              <a:t> instructions for solving a problem, i.e. for obtaining the </a:t>
            </a:r>
            <a:r>
              <a:rPr lang="en-US" altLang="en-US" b="1" dirty="0" smtClean="0">
                <a:solidFill>
                  <a:srgbClr val="CC3300"/>
                </a:solidFill>
                <a:latin typeface="Tahoma" pitchFamily="34" charset="0"/>
              </a:rPr>
              <a:t>required output</a:t>
            </a:r>
            <a:r>
              <a:rPr lang="en-US" altLang="en-US" b="1" dirty="0" smtClean="0">
                <a:latin typeface="Tahoma" pitchFamily="34" charset="0"/>
              </a:rPr>
              <a:t> for any </a:t>
            </a:r>
            <a:r>
              <a:rPr lang="en-US" altLang="en-US" b="1" dirty="0" smtClean="0">
                <a:solidFill>
                  <a:srgbClr val="CC3300"/>
                </a:solidFill>
                <a:latin typeface="Tahoma" pitchFamily="34" charset="0"/>
              </a:rPr>
              <a:t>legitimate input</a:t>
            </a:r>
            <a:r>
              <a:rPr lang="en-US" altLang="en-US" b="1" dirty="0" smtClean="0">
                <a:latin typeface="Tahoma" pitchFamily="34" charset="0"/>
              </a:rPr>
              <a:t> in  a </a:t>
            </a:r>
            <a:r>
              <a:rPr lang="en-US" altLang="en-US" b="1" dirty="0" smtClean="0">
                <a:solidFill>
                  <a:srgbClr val="CC3300"/>
                </a:solidFill>
                <a:latin typeface="Tahoma" pitchFamily="34" charset="0"/>
              </a:rPr>
              <a:t>finite</a:t>
            </a:r>
            <a:r>
              <a:rPr lang="en-US" altLang="en-US" b="1" dirty="0" smtClean="0">
                <a:latin typeface="Tahoma" pitchFamily="34" charset="0"/>
              </a:rPr>
              <a:t> amount of time</a:t>
            </a:r>
            <a:r>
              <a:rPr lang="en-US" altLang="en-US" b="1" dirty="0" smtClean="0"/>
              <a:t> </a:t>
            </a:r>
          </a:p>
          <a:p>
            <a:pPr eaLnBrk="1" hangingPunct="1"/>
            <a:endParaRPr lang="en-US" altLang="en-US" dirty="0" smtClean="0"/>
          </a:p>
        </p:txBody>
      </p:sp>
    </p:spTree>
    <p:extLst>
      <p:ext uri="{BB962C8B-B14F-4D97-AF65-F5344CB8AC3E}">
        <p14:creationId xmlns:p14="http://schemas.microsoft.com/office/powerpoint/2010/main" val="30048201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lIns="92075" tIns="46038" rIns="92075" bIns="46038"/>
          <a:lstStyle/>
          <a:p>
            <a:pPr eaLnBrk="1" hangingPunct="1"/>
            <a:r>
              <a:rPr lang="en-US" altLang="en-US" smtClean="0"/>
              <a:t>What is an algorithm?</a:t>
            </a:r>
          </a:p>
        </p:txBody>
      </p:sp>
      <p:sp>
        <p:nvSpPr>
          <p:cNvPr id="5123" name="Rectangle 3"/>
          <p:cNvSpPr>
            <a:spLocks noGrp="1" noChangeArrowheads="1"/>
          </p:cNvSpPr>
          <p:nvPr>
            <p:ph type="body" idx="1"/>
          </p:nvPr>
        </p:nvSpPr>
        <p:spPr>
          <a:xfrm>
            <a:off x="457200" y="1219200"/>
            <a:ext cx="8686800" cy="5133975"/>
          </a:xfrm>
        </p:spPr>
        <p:txBody>
          <a:bodyPr lIns="92075" tIns="46038" rIns="92075" bIns="46038"/>
          <a:lstStyle/>
          <a:p>
            <a:pPr eaLnBrk="1" hangingPunct="1">
              <a:buFont typeface="Monotype Sorts"/>
              <a:buNone/>
            </a:pPr>
            <a:r>
              <a:rPr lang="en-US" altLang="en-US" sz="2800" smtClean="0"/>
              <a:t>An </a:t>
            </a:r>
            <a:r>
              <a:rPr lang="en-US" altLang="en-US" sz="2800" i="1" u="sng" smtClean="0"/>
              <a:t>algorithm</a:t>
            </a:r>
            <a:r>
              <a:rPr lang="en-US" altLang="en-US" sz="2800" smtClean="0"/>
              <a:t> is a sequence of unambiguous instructions for solving a problem, i.e., for obtaining a required output for any legitimate input in a finite amount of time.</a:t>
            </a:r>
            <a:br>
              <a:rPr lang="en-US" altLang="en-US" sz="2800" smtClean="0"/>
            </a:br>
            <a:r>
              <a:rPr lang="en-US" altLang="en-US" sz="2800" smtClean="0"/>
              <a:t/>
            </a:r>
            <a:br>
              <a:rPr lang="en-US" altLang="en-US" sz="2800" smtClean="0"/>
            </a:br>
            <a:endParaRPr lang="en-US" altLang="en-US" sz="2800" smtClean="0"/>
          </a:p>
          <a:p>
            <a:pPr eaLnBrk="1" hangingPunct="1">
              <a:buFont typeface="Monotype Sorts"/>
              <a:buNone/>
            </a:pPr>
            <a:endParaRPr lang="en-US" altLang="en-US" sz="2800" smtClean="0"/>
          </a:p>
        </p:txBody>
      </p:sp>
      <p:sp>
        <p:nvSpPr>
          <p:cNvPr id="5124" name="Rectangle 12"/>
          <p:cNvSpPr>
            <a:spLocks noChangeArrowheads="1"/>
          </p:cNvSpPr>
          <p:nvPr/>
        </p:nvSpPr>
        <p:spPr bwMode="auto">
          <a:xfrm>
            <a:off x="3286125" y="5334000"/>
            <a:ext cx="2743200" cy="762000"/>
          </a:xfrm>
          <a:prstGeom prst="rect">
            <a:avLst/>
          </a:prstGeom>
          <a:solidFill>
            <a:schemeClr val="accent1"/>
          </a:solidFill>
          <a:ln w="12700">
            <a:solidFill>
              <a:srgbClr val="FF0000"/>
            </a:solidFill>
            <a:miter lim="800000"/>
            <a:headEnd type="none" w="sm" len="sm"/>
            <a:tailEnd type="none" w="sm" len="sm"/>
          </a:ln>
        </p:spPr>
        <p:txBody>
          <a:bodyPr wrap="none" anchor="ctr"/>
          <a:lstStyle>
            <a:lvl1pPr>
              <a:spcBef>
                <a:spcPct val="20000"/>
              </a:spcBef>
              <a:buFont typeface="Arial" pitchFamily="34" charset="0"/>
              <a:buChar char="•"/>
              <a:defRPr sz="3200">
                <a:solidFill>
                  <a:schemeClr val="tx1"/>
                </a:solidFill>
                <a:latin typeface="Calibri" pitchFamily="34" charset="0"/>
              </a:defRPr>
            </a:lvl1pPr>
            <a:lvl2pPr marL="742950" indent="-285750">
              <a:spcBef>
                <a:spcPct val="20000"/>
              </a:spcBef>
              <a:buFont typeface="Arial" pitchFamily="34" charset="0"/>
              <a:buChar char="–"/>
              <a:defRPr sz="2800">
                <a:solidFill>
                  <a:schemeClr val="tx1"/>
                </a:solidFill>
                <a:latin typeface="Calibri" pitchFamily="34" charset="0"/>
              </a:defRPr>
            </a:lvl2pPr>
            <a:lvl3pPr marL="1143000" indent="-228600">
              <a:spcBef>
                <a:spcPct val="20000"/>
              </a:spcBef>
              <a:buFont typeface="Arial" pitchFamily="34" charset="0"/>
              <a:buChar char="•"/>
              <a:defRPr sz="2400">
                <a:solidFill>
                  <a:schemeClr val="tx1"/>
                </a:solidFill>
                <a:latin typeface="Calibri" pitchFamily="34" charset="0"/>
              </a:defRPr>
            </a:lvl3pPr>
            <a:lvl4pPr marL="1600200" indent="-228600">
              <a:spcBef>
                <a:spcPct val="20000"/>
              </a:spcBef>
              <a:buFont typeface="Arial" pitchFamily="34" charset="0"/>
              <a:buChar char="–"/>
              <a:defRPr sz="2000">
                <a:solidFill>
                  <a:schemeClr val="tx1"/>
                </a:solidFill>
                <a:latin typeface="Calibri" pitchFamily="34" charset="0"/>
              </a:defRPr>
            </a:lvl4pPr>
            <a:lvl5pPr marL="2057400" indent="-22860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0"/>
              </a:spcBef>
              <a:buFontTx/>
              <a:buNone/>
            </a:pPr>
            <a:r>
              <a:rPr lang="en-US" altLang="en-US" sz="1800"/>
              <a:t>“computer” </a:t>
            </a:r>
          </a:p>
        </p:txBody>
      </p:sp>
      <p:sp>
        <p:nvSpPr>
          <p:cNvPr id="5125" name="Line 13"/>
          <p:cNvSpPr>
            <a:spLocks noChangeShapeType="1"/>
          </p:cNvSpPr>
          <p:nvPr/>
        </p:nvSpPr>
        <p:spPr bwMode="auto">
          <a:xfrm>
            <a:off x="4581525" y="3657600"/>
            <a:ext cx="0" cy="609600"/>
          </a:xfrm>
          <a:prstGeom prst="line">
            <a:avLst/>
          </a:prstGeom>
          <a:noFill/>
          <a:ln w="28575">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5126" name="Line 14"/>
          <p:cNvSpPr>
            <a:spLocks noChangeShapeType="1"/>
          </p:cNvSpPr>
          <p:nvPr/>
        </p:nvSpPr>
        <p:spPr bwMode="auto">
          <a:xfrm>
            <a:off x="4581525" y="4876800"/>
            <a:ext cx="0" cy="457200"/>
          </a:xfrm>
          <a:prstGeom prst="line">
            <a:avLst/>
          </a:prstGeom>
          <a:noFill/>
          <a:ln w="28575">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5127" name="Text Box 15"/>
          <p:cNvSpPr txBox="1">
            <a:spLocks noChangeArrowheads="1"/>
          </p:cNvSpPr>
          <p:nvPr/>
        </p:nvSpPr>
        <p:spPr bwMode="auto">
          <a:xfrm>
            <a:off x="3973513" y="3124200"/>
            <a:ext cx="1284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Font typeface="Arial" pitchFamily="34" charset="0"/>
              <a:buChar char="•"/>
              <a:defRPr sz="3200">
                <a:solidFill>
                  <a:schemeClr val="tx1"/>
                </a:solidFill>
                <a:latin typeface="Calibri" pitchFamily="34" charset="0"/>
              </a:defRPr>
            </a:lvl1pPr>
            <a:lvl2pPr marL="742950" indent="-285750">
              <a:spcBef>
                <a:spcPct val="20000"/>
              </a:spcBef>
              <a:buFont typeface="Arial" pitchFamily="34" charset="0"/>
              <a:buChar char="–"/>
              <a:defRPr sz="2800">
                <a:solidFill>
                  <a:schemeClr val="tx1"/>
                </a:solidFill>
                <a:latin typeface="Calibri" pitchFamily="34" charset="0"/>
              </a:defRPr>
            </a:lvl2pPr>
            <a:lvl3pPr marL="1143000" indent="-228600">
              <a:spcBef>
                <a:spcPct val="20000"/>
              </a:spcBef>
              <a:buFont typeface="Arial" pitchFamily="34" charset="0"/>
              <a:buChar char="•"/>
              <a:defRPr sz="2400">
                <a:solidFill>
                  <a:schemeClr val="tx1"/>
                </a:solidFill>
                <a:latin typeface="Calibri" pitchFamily="34" charset="0"/>
              </a:defRPr>
            </a:lvl3pPr>
            <a:lvl4pPr marL="1600200" indent="-228600">
              <a:spcBef>
                <a:spcPct val="20000"/>
              </a:spcBef>
              <a:buFont typeface="Arial" pitchFamily="34" charset="0"/>
              <a:buChar char="–"/>
              <a:defRPr sz="2000">
                <a:solidFill>
                  <a:schemeClr val="tx1"/>
                </a:solidFill>
                <a:latin typeface="Calibri" pitchFamily="34" charset="0"/>
              </a:defRPr>
            </a:lvl4pPr>
            <a:lvl5pPr marL="2057400" indent="-22860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0"/>
              </a:spcBef>
              <a:buFontTx/>
              <a:buNone/>
            </a:pPr>
            <a:r>
              <a:rPr lang="en-US" altLang="en-US" sz="1800"/>
              <a:t>problem</a:t>
            </a:r>
          </a:p>
        </p:txBody>
      </p:sp>
      <p:sp>
        <p:nvSpPr>
          <p:cNvPr id="5128" name="Text Box 16"/>
          <p:cNvSpPr txBox="1">
            <a:spLocks noChangeArrowheads="1"/>
          </p:cNvSpPr>
          <p:nvPr/>
        </p:nvSpPr>
        <p:spPr bwMode="auto">
          <a:xfrm>
            <a:off x="3965575" y="4267200"/>
            <a:ext cx="10937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Font typeface="Arial" pitchFamily="34" charset="0"/>
              <a:buChar char="•"/>
              <a:defRPr sz="3200">
                <a:solidFill>
                  <a:schemeClr val="tx1"/>
                </a:solidFill>
                <a:latin typeface="Calibri" pitchFamily="34" charset="0"/>
              </a:defRPr>
            </a:lvl1pPr>
            <a:lvl2pPr marL="742950" indent="-285750">
              <a:spcBef>
                <a:spcPct val="20000"/>
              </a:spcBef>
              <a:buFont typeface="Arial" pitchFamily="34" charset="0"/>
              <a:buChar char="–"/>
              <a:defRPr sz="2800">
                <a:solidFill>
                  <a:schemeClr val="tx1"/>
                </a:solidFill>
                <a:latin typeface="Calibri" pitchFamily="34" charset="0"/>
              </a:defRPr>
            </a:lvl2pPr>
            <a:lvl3pPr marL="1143000" indent="-228600">
              <a:spcBef>
                <a:spcPct val="20000"/>
              </a:spcBef>
              <a:buFont typeface="Arial" pitchFamily="34" charset="0"/>
              <a:buChar char="•"/>
              <a:defRPr sz="2400">
                <a:solidFill>
                  <a:schemeClr val="tx1"/>
                </a:solidFill>
                <a:latin typeface="Calibri" pitchFamily="34" charset="0"/>
              </a:defRPr>
            </a:lvl3pPr>
            <a:lvl4pPr marL="1600200" indent="-228600">
              <a:spcBef>
                <a:spcPct val="20000"/>
              </a:spcBef>
              <a:buFont typeface="Arial" pitchFamily="34" charset="0"/>
              <a:buChar char="–"/>
              <a:defRPr sz="2000">
                <a:solidFill>
                  <a:schemeClr val="tx1"/>
                </a:solidFill>
                <a:latin typeface="Calibri" pitchFamily="34" charset="0"/>
              </a:defRPr>
            </a:lvl4pPr>
            <a:lvl5pPr marL="2057400" indent="-22860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0"/>
              </a:spcBef>
              <a:buFontTx/>
              <a:buNone/>
            </a:pPr>
            <a:r>
              <a:rPr lang="en-US" altLang="en-US" sz="1800"/>
              <a:t>algorithm</a:t>
            </a:r>
          </a:p>
        </p:txBody>
      </p:sp>
      <p:sp>
        <p:nvSpPr>
          <p:cNvPr id="5129" name="Text Box 17"/>
          <p:cNvSpPr txBox="1">
            <a:spLocks noChangeArrowheads="1"/>
          </p:cNvSpPr>
          <p:nvPr/>
        </p:nvSpPr>
        <p:spPr bwMode="auto">
          <a:xfrm>
            <a:off x="914400" y="5486400"/>
            <a:ext cx="1198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Font typeface="Arial" pitchFamily="34" charset="0"/>
              <a:buChar char="•"/>
              <a:defRPr sz="3200">
                <a:solidFill>
                  <a:schemeClr val="tx1"/>
                </a:solidFill>
                <a:latin typeface="Calibri" pitchFamily="34" charset="0"/>
              </a:defRPr>
            </a:lvl1pPr>
            <a:lvl2pPr marL="742950" indent="-285750">
              <a:spcBef>
                <a:spcPct val="20000"/>
              </a:spcBef>
              <a:buFont typeface="Arial" pitchFamily="34" charset="0"/>
              <a:buChar char="–"/>
              <a:defRPr sz="2800">
                <a:solidFill>
                  <a:schemeClr val="tx1"/>
                </a:solidFill>
                <a:latin typeface="Calibri" pitchFamily="34" charset="0"/>
              </a:defRPr>
            </a:lvl2pPr>
            <a:lvl3pPr marL="1143000" indent="-228600">
              <a:spcBef>
                <a:spcPct val="20000"/>
              </a:spcBef>
              <a:buFont typeface="Arial" pitchFamily="34" charset="0"/>
              <a:buChar char="•"/>
              <a:defRPr sz="2400">
                <a:solidFill>
                  <a:schemeClr val="tx1"/>
                </a:solidFill>
                <a:latin typeface="Calibri" pitchFamily="34" charset="0"/>
              </a:defRPr>
            </a:lvl3pPr>
            <a:lvl4pPr marL="1600200" indent="-228600">
              <a:spcBef>
                <a:spcPct val="20000"/>
              </a:spcBef>
              <a:buFont typeface="Arial" pitchFamily="34" charset="0"/>
              <a:buChar char="–"/>
              <a:defRPr sz="2000">
                <a:solidFill>
                  <a:schemeClr val="tx1"/>
                </a:solidFill>
                <a:latin typeface="Calibri" pitchFamily="34" charset="0"/>
              </a:defRPr>
            </a:lvl4pPr>
            <a:lvl5pPr marL="2057400" indent="-22860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0"/>
              </a:spcBef>
              <a:buFontTx/>
              <a:buNone/>
            </a:pPr>
            <a:r>
              <a:rPr lang="en-US" altLang="en-US" sz="1800"/>
              <a:t>input</a:t>
            </a:r>
          </a:p>
        </p:txBody>
      </p:sp>
      <p:sp>
        <p:nvSpPr>
          <p:cNvPr id="5130" name="Text Box 18"/>
          <p:cNvSpPr txBox="1">
            <a:spLocks noChangeArrowheads="1"/>
          </p:cNvSpPr>
          <p:nvPr/>
        </p:nvSpPr>
        <p:spPr bwMode="auto">
          <a:xfrm>
            <a:off x="7010400" y="5486400"/>
            <a:ext cx="1198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Font typeface="Arial" pitchFamily="34" charset="0"/>
              <a:buChar char="•"/>
              <a:defRPr sz="3200">
                <a:solidFill>
                  <a:schemeClr val="tx1"/>
                </a:solidFill>
                <a:latin typeface="Calibri" pitchFamily="34" charset="0"/>
              </a:defRPr>
            </a:lvl1pPr>
            <a:lvl2pPr marL="742950" indent="-285750">
              <a:spcBef>
                <a:spcPct val="20000"/>
              </a:spcBef>
              <a:buFont typeface="Arial" pitchFamily="34" charset="0"/>
              <a:buChar char="–"/>
              <a:defRPr sz="2800">
                <a:solidFill>
                  <a:schemeClr val="tx1"/>
                </a:solidFill>
                <a:latin typeface="Calibri" pitchFamily="34" charset="0"/>
              </a:defRPr>
            </a:lvl2pPr>
            <a:lvl3pPr marL="1143000" indent="-228600">
              <a:spcBef>
                <a:spcPct val="20000"/>
              </a:spcBef>
              <a:buFont typeface="Arial" pitchFamily="34" charset="0"/>
              <a:buChar char="•"/>
              <a:defRPr sz="2400">
                <a:solidFill>
                  <a:schemeClr val="tx1"/>
                </a:solidFill>
                <a:latin typeface="Calibri" pitchFamily="34" charset="0"/>
              </a:defRPr>
            </a:lvl3pPr>
            <a:lvl4pPr marL="1600200" indent="-228600">
              <a:spcBef>
                <a:spcPct val="20000"/>
              </a:spcBef>
              <a:buFont typeface="Arial" pitchFamily="34" charset="0"/>
              <a:buChar char="–"/>
              <a:defRPr sz="2000">
                <a:solidFill>
                  <a:schemeClr val="tx1"/>
                </a:solidFill>
                <a:latin typeface="Calibri" pitchFamily="34" charset="0"/>
              </a:defRPr>
            </a:lvl4pPr>
            <a:lvl5pPr marL="2057400" indent="-22860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0"/>
              </a:spcBef>
              <a:buFontTx/>
              <a:buNone/>
            </a:pPr>
            <a:r>
              <a:rPr lang="en-US" altLang="en-US" sz="1800"/>
              <a:t>output</a:t>
            </a:r>
          </a:p>
        </p:txBody>
      </p:sp>
      <p:sp>
        <p:nvSpPr>
          <p:cNvPr id="5131" name="Line 19"/>
          <p:cNvSpPr>
            <a:spLocks noChangeShapeType="1"/>
          </p:cNvSpPr>
          <p:nvPr/>
        </p:nvSpPr>
        <p:spPr bwMode="auto">
          <a:xfrm>
            <a:off x="2057400" y="5791200"/>
            <a:ext cx="1219200" cy="0"/>
          </a:xfrm>
          <a:prstGeom prst="line">
            <a:avLst/>
          </a:prstGeom>
          <a:noFill/>
          <a:ln w="28575">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5132" name="Line 20"/>
          <p:cNvSpPr>
            <a:spLocks noChangeShapeType="1"/>
          </p:cNvSpPr>
          <p:nvPr/>
        </p:nvSpPr>
        <p:spPr bwMode="auto">
          <a:xfrm>
            <a:off x="6019800" y="5791200"/>
            <a:ext cx="1143000" cy="0"/>
          </a:xfrm>
          <a:prstGeom prst="line">
            <a:avLst/>
          </a:prstGeom>
          <a:noFill/>
          <a:ln w="28575">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Tree>
    <p:extLst>
      <p:ext uri="{BB962C8B-B14F-4D97-AF65-F5344CB8AC3E}">
        <p14:creationId xmlns:p14="http://schemas.microsoft.com/office/powerpoint/2010/main" val="15545885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lIns="92075" tIns="46038" rIns="92075" bIns="46038"/>
          <a:lstStyle/>
          <a:p>
            <a:pPr eaLnBrk="1" hangingPunct="1"/>
            <a:r>
              <a:rPr lang="en-US" altLang="en-US" smtClean="0"/>
              <a:t>Algorithm</a:t>
            </a:r>
          </a:p>
        </p:txBody>
      </p:sp>
      <p:sp>
        <p:nvSpPr>
          <p:cNvPr id="7171" name="Rectangle 3"/>
          <p:cNvSpPr>
            <a:spLocks noGrp="1" noChangeArrowheads="1"/>
          </p:cNvSpPr>
          <p:nvPr>
            <p:ph type="body" idx="1"/>
          </p:nvPr>
        </p:nvSpPr>
        <p:spPr>
          <a:xfrm>
            <a:off x="533400" y="1447800"/>
            <a:ext cx="8305800" cy="4905375"/>
          </a:xfrm>
        </p:spPr>
        <p:txBody>
          <a:bodyPr lIns="92075" tIns="46038" rIns="92075" bIns="46038"/>
          <a:lstStyle/>
          <a:p>
            <a:pPr eaLnBrk="1" hangingPunct="1"/>
            <a:r>
              <a:rPr lang="en-US" altLang="en-US" sz="2800" smtClean="0"/>
              <a:t>Characteristics of good algorithm</a:t>
            </a:r>
          </a:p>
        </p:txBody>
      </p:sp>
      <p:sp>
        <p:nvSpPr>
          <p:cNvPr id="7172" name="Rectangle 4"/>
          <p:cNvSpPr>
            <a:spLocks noChangeArrowheads="1"/>
          </p:cNvSpPr>
          <p:nvPr/>
        </p:nvSpPr>
        <p:spPr bwMode="auto">
          <a:xfrm>
            <a:off x="8723313" y="6218238"/>
            <a:ext cx="18415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Font typeface="Arial" pitchFamily="34" charset="0"/>
              <a:buChar char="•"/>
              <a:defRPr sz="3200">
                <a:solidFill>
                  <a:schemeClr val="tx1"/>
                </a:solidFill>
                <a:latin typeface="Calibri" pitchFamily="34" charset="0"/>
              </a:defRPr>
            </a:lvl1pPr>
            <a:lvl2pPr marL="742950" indent="-285750">
              <a:spcBef>
                <a:spcPct val="20000"/>
              </a:spcBef>
              <a:buFont typeface="Arial" pitchFamily="34" charset="0"/>
              <a:buChar char="–"/>
              <a:defRPr sz="2800">
                <a:solidFill>
                  <a:schemeClr val="tx1"/>
                </a:solidFill>
                <a:latin typeface="Calibri" pitchFamily="34" charset="0"/>
              </a:defRPr>
            </a:lvl2pPr>
            <a:lvl3pPr marL="1143000" indent="-228600">
              <a:spcBef>
                <a:spcPct val="20000"/>
              </a:spcBef>
              <a:buFont typeface="Arial" pitchFamily="34" charset="0"/>
              <a:buChar char="•"/>
              <a:defRPr sz="2400">
                <a:solidFill>
                  <a:schemeClr val="tx1"/>
                </a:solidFill>
                <a:latin typeface="Calibri" pitchFamily="34" charset="0"/>
              </a:defRPr>
            </a:lvl3pPr>
            <a:lvl4pPr marL="1600200" indent="-228600">
              <a:spcBef>
                <a:spcPct val="20000"/>
              </a:spcBef>
              <a:buFont typeface="Arial" pitchFamily="34" charset="0"/>
              <a:buChar char="–"/>
              <a:defRPr sz="2000">
                <a:solidFill>
                  <a:schemeClr val="tx1"/>
                </a:solidFill>
                <a:latin typeface="Calibri" pitchFamily="34" charset="0"/>
              </a:defRPr>
            </a:lvl4pPr>
            <a:lvl5pPr marL="2057400" indent="-22860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0"/>
              </a:spcBef>
              <a:buFontTx/>
              <a:buNone/>
            </a:pPr>
            <a:endParaRPr lang="en-US" altLang="en-US" sz="1800"/>
          </a:p>
        </p:txBody>
      </p:sp>
      <p:sp>
        <p:nvSpPr>
          <p:cNvPr id="7173" name="Text Box 5"/>
          <p:cNvSpPr txBox="1">
            <a:spLocks noChangeArrowheads="1"/>
          </p:cNvSpPr>
          <p:nvPr/>
        </p:nvSpPr>
        <p:spPr bwMode="auto">
          <a:xfrm>
            <a:off x="1447800" y="2362200"/>
            <a:ext cx="678180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Font typeface="Arial" pitchFamily="34" charset="0"/>
              <a:buChar char="•"/>
              <a:defRPr sz="3200">
                <a:solidFill>
                  <a:schemeClr val="tx1"/>
                </a:solidFill>
                <a:latin typeface="Calibri" pitchFamily="34" charset="0"/>
              </a:defRPr>
            </a:lvl1pPr>
            <a:lvl2pPr marL="742950" indent="-285750">
              <a:spcBef>
                <a:spcPct val="20000"/>
              </a:spcBef>
              <a:buFont typeface="Arial" pitchFamily="34" charset="0"/>
              <a:buChar char="–"/>
              <a:defRPr sz="2800">
                <a:solidFill>
                  <a:schemeClr val="tx1"/>
                </a:solidFill>
                <a:latin typeface="Calibri" pitchFamily="34" charset="0"/>
              </a:defRPr>
            </a:lvl2pPr>
            <a:lvl3pPr marL="1143000" indent="-228600">
              <a:spcBef>
                <a:spcPct val="20000"/>
              </a:spcBef>
              <a:buFont typeface="Arial" pitchFamily="34" charset="0"/>
              <a:buChar char="•"/>
              <a:defRPr sz="2400">
                <a:solidFill>
                  <a:schemeClr val="tx1"/>
                </a:solidFill>
                <a:latin typeface="Calibri" pitchFamily="34" charset="0"/>
              </a:defRPr>
            </a:lvl3pPr>
            <a:lvl4pPr marL="1600200" indent="-228600">
              <a:spcBef>
                <a:spcPct val="20000"/>
              </a:spcBef>
              <a:buFont typeface="Arial" pitchFamily="34" charset="0"/>
              <a:buChar char="–"/>
              <a:defRPr sz="2000">
                <a:solidFill>
                  <a:schemeClr val="tx1"/>
                </a:solidFill>
                <a:latin typeface="Calibri" pitchFamily="34" charset="0"/>
              </a:defRPr>
            </a:lvl4pPr>
            <a:lvl5pPr marL="2057400" indent="-22860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50000"/>
              </a:spcBef>
              <a:buFontTx/>
              <a:buChar char="•"/>
            </a:pPr>
            <a:r>
              <a:rPr lang="en-US" altLang="en-US" sz="1800" dirty="0"/>
              <a:t> </a:t>
            </a:r>
            <a:r>
              <a:rPr lang="en-US" altLang="en-US" sz="2400" dirty="0"/>
              <a:t>Can be represented various forms</a:t>
            </a:r>
          </a:p>
          <a:p>
            <a:pPr eaLnBrk="1" hangingPunct="1">
              <a:spcBef>
                <a:spcPct val="50000"/>
              </a:spcBef>
              <a:buFontTx/>
              <a:buChar char="•"/>
            </a:pPr>
            <a:r>
              <a:rPr lang="en-US" altLang="en-US" sz="2400" dirty="0"/>
              <a:t> Unambiguity/clearness</a:t>
            </a:r>
          </a:p>
          <a:p>
            <a:pPr eaLnBrk="1" hangingPunct="1">
              <a:spcBef>
                <a:spcPct val="50000"/>
              </a:spcBef>
              <a:buFontTx/>
              <a:buChar char="•"/>
            </a:pPr>
            <a:r>
              <a:rPr lang="en-US" altLang="en-US" sz="2400" dirty="0" smtClean="0"/>
              <a:t> Precise</a:t>
            </a:r>
            <a:endParaRPr lang="en-US" altLang="en-US" sz="2400" dirty="0"/>
          </a:p>
          <a:p>
            <a:pPr eaLnBrk="1" hangingPunct="1">
              <a:spcBef>
                <a:spcPct val="50000"/>
              </a:spcBef>
              <a:buFontTx/>
              <a:buChar char="•"/>
            </a:pPr>
            <a:r>
              <a:rPr lang="en-US" altLang="en-US" sz="2400" dirty="0" smtClean="0"/>
              <a:t> Uniqueness</a:t>
            </a:r>
            <a:endParaRPr lang="en-US" altLang="en-US" sz="2400" dirty="0"/>
          </a:p>
          <a:p>
            <a:pPr eaLnBrk="1" hangingPunct="1">
              <a:spcBef>
                <a:spcPct val="50000"/>
              </a:spcBef>
              <a:buFontTx/>
              <a:buChar char="•"/>
            </a:pPr>
            <a:r>
              <a:rPr lang="en-US" altLang="en-US" sz="2400" dirty="0"/>
              <a:t> Effectiveness</a:t>
            </a:r>
          </a:p>
          <a:p>
            <a:pPr eaLnBrk="1" hangingPunct="1">
              <a:spcBef>
                <a:spcPct val="50000"/>
              </a:spcBef>
              <a:buFontTx/>
              <a:buChar char="•"/>
            </a:pPr>
            <a:r>
              <a:rPr lang="en-US" altLang="en-US" sz="2400" dirty="0"/>
              <a:t> Finiteness/termination</a:t>
            </a:r>
          </a:p>
          <a:p>
            <a:pPr eaLnBrk="1" hangingPunct="1">
              <a:spcBef>
                <a:spcPct val="50000"/>
              </a:spcBef>
              <a:buFontTx/>
              <a:buChar char="•"/>
            </a:pPr>
            <a:r>
              <a:rPr lang="en-US" altLang="en-US" sz="2400" dirty="0"/>
              <a:t> Correctness</a:t>
            </a:r>
          </a:p>
        </p:txBody>
      </p:sp>
    </p:spTree>
    <p:extLst>
      <p:ext uri="{BB962C8B-B14F-4D97-AF65-F5344CB8AC3E}">
        <p14:creationId xmlns:p14="http://schemas.microsoft.com/office/powerpoint/2010/main" val="21140609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smtClean="0"/>
              <a:t>Notion of algorithm and problem</a:t>
            </a:r>
          </a:p>
        </p:txBody>
      </p:sp>
      <p:sp>
        <p:nvSpPr>
          <p:cNvPr id="9219" name="Rectangle 3"/>
          <p:cNvSpPr>
            <a:spLocks noChangeArrowheads="1"/>
          </p:cNvSpPr>
          <p:nvPr/>
        </p:nvSpPr>
        <p:spPr bwMode="auto">
          <a:xfrm>
            <a:off x="3203848" y="4035152"/>
            <a:ext cx="2743200" cy="762000"/>
          </a:xfrm>
          <a:prstGeom prst="rect">
            <a:avLst/>
          </a:prstGeom>
          <a:solidFill>
            <a:schemeClr val="accent1"/>
          </a:solidFill>
          <a:ln w="12700">
            <a:solidFill>
              <a:srgbClr val="FF0000"/>
            </a:solidFill>
            <a:miter lim="800000"/>
            <a:headEnd type="none" w="sm" len="sm"/>
            <a:tailEnd type="none" w="sm" len="sm"/>
          </a:ln>
        </p:spPr>
        <p:txBody>
          <a:bodyPr wrap="none" anchor="ctr"/>
          <a:lstStyle>
            <a:lvl1pPr>
              <a:spcBef>
                <a:spcPct val="20000"/>
              </a:spcBef>
              <a:buFont typeface="Arial" pitchFamily="34" charset="0"/>
              <a:buChar char="•"/>
              <a:defRPr sz="3200">
                <a:solidFill>
                  <a:schemeClr val="tx1"/>
                </a:solidFill>
                <a:latin typeface="Calibri" pitchFamily="34" charset="0"/>
              </a:defRPr>
            </a:lvl1pPr>
            <a:lvl2pPr marL="742950" indent="-285750">
              <a:spcBef>
                <a:spcPct val="20000"/>
              </a:spcBef>
              <a:buFont typeface="Arial" pitchFamily="34" charset="0"/>
              <a:buChar char="–"/>
              <a:defRPr sz="2800">
                <a:solidFill>
                  <a:schemeClr val="tx1"/>
                </a:solidFill>
                <a:latin typeface="Calibri" pitchFamily="34" charset="0"/>
              </a:defRPr>
            </a:lvl2pPr>
            <a:lvl3pPr marL="1143000" indent="-228600">
              <a:spcBef>
                <a:spcPct val="20000"/>
              </a:spcBef>
              <a:buFont typeface="Arial" pitchFamily="34" charset="0"/>
              <a:buChar char="•"/>
              <a:defRPr sz="2400">
                <a:solidFill>
                  <a:schemeClr val="tx1"/>
                </a:solidFill>
                <a:latin typeface="Calibri" pitchFamily="34" charset="0"/>
              </a:defRPr>
            </a:lvl3pPr>
            <a:lvl4pPr marL="1600200" indent="-228600">
              <a:spcBef>
                <a:spcPct val="20000"/>
              </a:spcBef>
              <a:buFont typeface="Arial" pitchFamily="34" charset="0"/>
              <a:buChar char="–"/>
              <a:defRPr sz="2000">
                <a:solidFill>
                  <a:schemeClr val="tx1"/>
                </a:solidFill>
                <a:latin typeface="Calibri" pitchFamily="34" charset="0"/>
              </a:defRPr>
            </a:lvl4pPr>
            <a:lvl5pPr marL="2057400" indent="-22860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algn="ctr" eaLnBrk="1" hangingPunct="1">
              <a:spcBef>
                <a:spcPct val="0"/>
              </a:spcBef>
              <a:buFontTx/>
              <a:buNone/>
            </a:pPr>
            <a:r>
              <a:rPr lang="en-US" altLang="en-US" sz="1800" dirty="0"/>
              <a:t>“</a:t>
            </a:r>
            <a:r>
              <a:rPr lang="en-US" altLang="en-US" sz="1800" dirty="0" smtClean="0">
                <a:solidFill>
                  <a:schemeClr val="bg1"/>
                </a:solidFill>
              </a:rPr>
              <a:t>computer</a:t>
            </a:r>
            <a:r>
              <a:rPr lang="en-US" altLang="en-US" sz="1800" dirty="0"/>
              <a:t>” </a:t>
            </a:r>
          </a:p>
        </p:txBody>
      </p:sp>
      <p:sp>
        <p:nvSpPr>
          <p:cNvPr id="9220" name="Text Box 4"/>
          <p:cNvSpPr txBox="1">
            <a:spLocks noChangeArrowheads="1"/>
          </p:cNvSpPr>
          <p:nvPr/>
        </p:nvSpPr>
        <p:spPr bwMode="auto">
          <a:xfrm>
            <a:off x="2708275" y="5603875"/>
            <a:ext cx="38830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Font typeface="Arial" pitchFamily="34" charset="0"/>
              <a:buChar char="•"/>
              <a:defRPr sz="3200">
                <a:solidFill>
                  <a:schemeClr val="tx1"/>
                </a:solidFill>
                <a:latin typeface="Calibri" pitchFamily="34" charset="0"/>
              </a:defRPr>
            </a:lvl1pPr>
            <a:lvl2pPr marL="742950" indent="-285750">
              <a:spcBef>
                <a:spcPct val="20000"/>
              </a:spcBef>
              <a:buFont typeface="Arial" pitchFamily="34" charset="0"/>
              <a:buChar char="–"/>
              <a:defRPr sz="2800">
                <a:solidFill>
                  <a:schemeClr val="tx1"/>
                </a:solidFill>
                <a:latin typeface="Calibri" pitchFamily="34" charset="0"/>
              </a:defRPr>
            </a:lvl2pPr>
            <a:lvl3pPr marL="1143000" indent="-228600">
              <a:spcBef>
                <a:spcPct val="20000"/>
              </a:spcBef>
              <a:buFont typeface="Arial" pitchFamily="34" charset="0"/>
              <a:buChar char="•"/>
              <a:defRPr sz="2400">
                <a:solidFill>
                  <a:schemeClr val="tx1"/>
                </a:solidFill>
                <a:latin typeface="Calibri" pitchFamily="34" charset="0"/>
              </a:defRPr>
            </a:lvl3pPr>
            <a:lvl4pPr marL="1600200" indent="-228600">
              <a:spcBef>
                <a:spcPct val="20000"/>
              </a:spcBef>
              <a:buFont typeface="Arial" pitchFamily="34" charset="0"/>
              <a:buChar char="–"/>
              <a:defRPr sz="2000">
                <a:solidFill>
                  <a:schemeClr val="tx1"/>
                </a:solidFill>
                <a:latin typeface="Calibri" pitchFamily="34" charset="0"/>
              </a:defRPr>
            </a:lvl4pPr>
            <a:lvl5pPr marL="2057400" indent="-22860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algn="ctr" eaLnBrk="1" hangingPunct="1">
              <a:spcBef>
                <a:spcPct val="0"/>
              </a:spcBef>
              <a:buFontTx/>
              <a:buNone/>
            </a:pPr>
            <a:r>
              <a:rPr lang="en-US" altLang="en-US" sz="1800" dirty="0"/>
              <a:t>algorithmic solution</a:t>
            </a:r>
          </a:p>
          <a:p>
            <a:pPr algn="ctr" eaLnBrk="1" hangingPunct="1">
              <a:spcBef>
                <a:spcPct val="0"/>
              </a:spcBef>
              <a:buFontTx/>
              <a:buNone/>
            </a:pPr>
            <a:r>
              <a:rPr lang="en-US" altLang="en-US" sz="1800" dirty="0"/>
              <a:t>(different from a conventional solution)</a:t>
            </a:r>
          </a:p>
        </p:txBody>
      </p:sp>
      <p:sp>
        <p:nvSpPr>
          <p:cNvPr id="9221" name="Line 5"/>
          <p:cNvSpPr>
            <a:spLocks noChangeShapeType="1"/>
          </p:cNvSpPr>
          <p:nvPr/>
        </p:nvSpPr>
        <p:spPr bwMode="auto">
          <a:xfrm>
            <a:off x="4581525" y="2286000"/>
            <a:ext cx="0" cy="609600"/>
          </a:xfrm>
          <a:prstGeom prst="line">
            <a:avLst/>
          </a:prstGeom>
          <a:noFill/>
          <a:ln w="28575">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9222" name="Line 6"/>
          <p:cNvSpPr>
            <a:spLocks noChangeShapeType="1"/>
          </p:cNvSpPr>
          <p:nvPr/>
        </p:nvSpPr>
        <p:spPr bwMode="auto">
          <a:xfrm>
            <a:off x="4581525" y="3505200"/>
            <a:ext cx="0" cy="457200"/>
          </a:xfrm>
          <a:prstGeom prst="line">
            <a:avLst/>
          </a:prstGeom>
          <a:noFill/>
          <a:ln w="28575">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9223" name="Text Box 7"/>
          <p:cNvSpPr txBox="1">
            <a:spLocks noChangeArrowheads="1"/>
          </p:cNvSpPr>
          <p:nvPr/>
        </p:nvSpPr>
        <p:spPr bwMode="auto">
          <a:xfrm>
            <a:off x="3886200" y="1752600"/>
            <a:ext cx="1371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Font typeface="Arial" pitchFamily="34" charset="0"/>
              <a:buChar char="•"/>
              <a:defRPr sz="3200">
                <a:solidFill>
                  <a:schemeClr val="tx1"/>
                </a:solidFill>
                <a:latin typeface="Calibri" pitchFamily="34" charset="0"/>
              </a:defRPr>
            </a:lvl1pPr>
            <a:lvl2pPr marL="742950" indent="-285750">
              <a:spcBef>
                <a:spcPct val="20000"/>
              </a:spcBef>
              <a:buFont typeface="Arial" pitchFamily="34" charset="0"/>
              <a:buChar char="–"/>
              <a:defRPr sz="2800">
                <a:solidFill>
                  <a:schemeClr val="tx1"/>
                </a:solidFill>
                <a:latin typeface="Calibri" pitchFamily="34" charset="0"/>
              </a:defRPr>
            </a:lvl2pPr>
            <a:lvl3pPr marL="1143000" indent="-228600">
              <a:spcBef>
                <a:spcPct val="20000"/>
              </a:spcBef>
              <a:buFont typeface="Arial" pitchFamily="34" charset="0"/>
              <a:buChar char="•"/>
              <a:defRPr sz="2400">
                <a:solidFill>
                  <a:schemeClr val="tx1"/>
                </a:solidFill>
                <a:latin typeface="Calibri" pitchFamily="34" charset="0"/>
              </a:defRPr>
            </a:lvl3pPr>
            <a:lvl4pPr marL="1600200" indent="-228600">
              <a:spcBef>
                <a:spcPct val="20000"/>
              </a:spcBef>
              <a:buFont typeface="Arial" pitchFamily="34" charset="0"/>
              <a:buChar char="–"/>
              <a:defRPr sz="2000">
                <a:solidFill>
                  <a:schemeClr val="tx1"/>
                </a:solidFill>
                <a:latin typeface="Calibri" pitchFamily="34" charset="0"/>
              </a:defRPr>
            </a:lvl4pPr>
            <a:lvl5pPr marL="2057400" indent="-22860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0"/>
              </a:spcBef>
              <a:buFontTx/>
              <a:buNone/>
            </a:pPr>
            <a:r>
              <a:rPr lang="en-US" altLang="en-US" sz="1800"/>
              <a:t>problem</a:t>
            </a:r>
          </a:p>
        </p:txBody>
      </p:sp>
      <p:sp>
        <p:nvSpPr>
          <p:cNvPr id="9224" name="Text Box 8"/>
          <p:cNvSpPr txBox="1">
            <a:spLocks noChangeArrowheads="1"/>
          </p:cNvSpPr>
          <p:nvPr/>
        </p:nvSpPr>
        <p:spPr bwMode="auto">
          <a:xfrm>
            <a:off x="3967163" y="2895600"/>
            <a:ext cx="10937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Font typeface="Arial" pitchFamily="34" charset="0"/>
              <a:buChar char="•"/>
              <a:defRPr sz="3200">
                <a:solidFill>
                  <a:schemeClr val="tx1"/>
                </a:solidFill>
                <a:latin typeface="Calibri" pitchFamily="34" charset="0"/>
              </a:defRPr>
            </a:lvl1pPr>
            <a:lvl2pPr marL="742950" indent="-285750">
              <a:spcBef>
                <a:spcPct val="20000"/>
              </a:spcBef>
              <a:buFont typeface="Arial" pitchFamily="34" charset="0"/>
              <a:buChar char="–"/>
              <a:defRPr sz="2800">
                <a:solidFill>
                  <a:schemeClr val="tx1"/>
                </a:solidFill>
                <a:latin typeface="Calibri" pitchFamily="34" charset="0"/>
              </a:defRPr>
            </a:lvl2pPr>
            <a:lvl3pPr marL="1143000" indent="-228600">
              <a:spcBef>
                <a:spcPct val="20000"/>
              </a:spcBef>
              <a:buFont typeface="Arial" pitchFamily="34" charset="0"/>
              <a:buChar char="•"/>
              <a:defRPr sz="2400">
                <a:solidFill>
                  <a:schemeClr val="tx1"/>
                </a:solidFill>
                <a:latin typeface="Calibri" pitchFamily="34" charset="0"/>
              </a:defRPr>
            </a:lvl3pPr>
            <a:lvl4pPr marL="1600200" indent="-228600">
              <a:spcBef>
                <a:spcPct val="20000"/>
              </a:spcBef>
              <a:buFont typeface="Arial" pitchFamily="34" charset="0"/>
              <a:buChar char="–"/>
              <a:defRPr sz="2000">
                <a:solidFill>
                  <a:schemeClr val="tx1"/>
                </a:solidFill>
                <a:latin typeface="Calibri" pitchFamily="34" charset="0"/>
              </a:defRPr>
            </a:lvl4pPr>
            <a:lvl5pPr marL="2057400" indent="-22860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0"/>
              </a:spcBef>
              <a:buFontTx/>
              <a:buNone/>
            </a:pPr>
            <a:r>
              <a:rPr lang="en-US" altLang="en-US" sz="1800"/>
              <a:t>algorithm</a:t>
            </a:r>
          </a:p>
        </p:txBody>
      </p:sp>
      <p:sp>
        <p:nvSpPr>
          <p:cNvPr id="9225" name="Text Box 9"/>
          <p:cNvSpPr txBox="1">
            <a:spLocks noChangeArrowheads="1"/>
          </p:cNvSpPr>
          <p:nvPr/>
        </p:nvSpPr>
        <p:spPr bwMode="auto">
          <a:xfrm>
            <a:off x="533400" y="4114800"/>
            <a:ext cx="1752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Font typeface="Arial" pitchFamily="34" charset="0"/>
              <a:buChar char="•"/>
              <a:defRPr sz="3200">
                <a:solidFill>
                  <a:schemeClr val="tx1"/>
                </a:solidFill>
                <a:latin typeface="Calibri" pitchFamily="34" charset="0"/>
              </a:defRPr>
            </a:lvl1pPr>
            <a:lvl2pPr marL="742950" indent="-285750">
              <a:spcBef>
                <a:spcPct val="20000"/>
              </a:spcBef>
              <a:buFont typeface="Arial" pitchFamily="34" charset="0"/>
              <a:buChar char="–"/>
              <a:defRPr sz="2800">
                <a:solidFill>
                  <a:schemeClr val="tx1"/>
                </a:solidFill>
                <a:latin typeface="Calibri" pitchFamily="34" charset="0"/>
              </a:defRPr>
            </a:lvl2pPr>
            <a:lvl3pPr marL="1143000" indent="-228600">
              <a:spcBef>
                <a:spcPct val="20000"/>
              </a:spcBef>
              <a:buFont typeface="Arial" pitchFamily="34" charset="0"/>
              <a:buChar char="•"/>
              <a:defRPr sz="2400">
                <a:solidFill>
                  <a:schemeClr val="tx1"/>
                </a:solidFill>
                <a:latin typeface="Calibri" pitchFamily="34" charset="0"/>
              </a:defRPr>
            </a:lvl3pPr>
            <a:lvl4pPr marL="1600200" indent="-228600">
              <a:spcBef>
                <a:spcPct val="20000"/>
              </a:spcBef>
              <a:buFont typeface="Arial" pitchFamily="34" charset="0"/>
              <a:buChar char="–"/>
              <a:defRPr sz="2000">
                <a:solidFill>
                  <a:schemeClr val="tx1"/>
                </a:solidFill>
                <a:latin typeface="Calibri" pitchFamily="34" charset="0"/>
              </a:defRPr>
            </a:lvl4pPr>
            <a:lvl5pPr marL="2057400" indent="-22860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0"/>
              </a:spcBef>
              <a:buFontTx/>
              <a:buNone/>
            </a:pPr>
            <a:r>
              <a:rPr lang="en-US" altLang="en-US" sz="1800"/>
              <a:t>input</a:t>
            </a:r>
          </a:p>
          <a:p>
            <a:pPr eaLnBrk="1" hangingPunct="1">
              <a:spcBef>
                <a:spcPct val="0"/>
              </a:spcBef>
              <a:buFontTx/>
              <a:buNone/>
            </a:pPr>
            <a:r>
              <a:rPr lang="en-US" altLang="en-US" sz="1800"/>
              <a:t>(or instance)</a:t>
            </a:r>
          </a:p>
        </p:txBody>
      </p:sp>
      <p:sp>
        <p:nvSpPr>
          <p:cNvPr id="9226" name="Text Box 10"/>
          <p:cNvSpPr txBox="1">
            <a:spLocks noChangeArrowheads="1"/>
          </p:cNvSpPr>
          <p:nvPr/>
        </p:nvSpPr>
        <p:spPr bwMode="auto">
          <a:xfrm>
            <a:off x="7162800" y="4234656"/>
            <a:ext cx="1198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Font typeface="Arial" pitchFamily="34" charset="0"/>
              <a:buChar char="•"/>
              <a:defRPr sz="3200">
                <a:solidFill>
                  <a:schemeClr val="tx1"/>
                </a:solidFill>
                <a:latin typeface="Calibri" pitchFamily="34" charset="0"/>
              </a:defRPr>
            </a:lvl1pPr>
            <a:lvl2pPr marL="742950" indent="-285750">
              <a:spcBef>
                <a:spcPct val="20000"/>
              </a:spcBef>
              <a:buFont typeface="Arial" pitchFamily="34" charset="0"/>
              <a:buChar char="–"/>
              <a:defRPr sz="2800">
                <a:solidFill>
                  <a:schemeClr val="tx1"/>
                </a:solidFill>
                <a:latin typeface="Calibri" pitchFamily="34" charset="0"/>
              </a:defRPr>
            </a:lvl2pPr>
            <a:lvl3pPr marL="1143000" indent="-228600">
              <a:spcBef>
                <a:spcPct val="20000"/>
              </a:spcBef>
              <a:buFont typeface="Arial" pitchFamily="34" charset="0"/>
              <a:buChar char="•"/>
              <a:defRPr sz="2400">
                <a:solidFill>
                  <a:schemeClr val="tx1"/>
                </a:solidFill>
                <a:latin typeface="Calibri" pitchFamily="34" charset="0"/>
              </a:defRPr>
            </a:lvl3pPr>
            <a:lvl4pPr marL="1600200" indent="-228600">
              <a:spcBef>
                <a:spcPct val="20000"/>
              </a:spcBef>
              <a:buFont typeface="Arial" pitchFamily="34" charset="0"/>
              <a:buChar char="–"/>
              <a:defRPr sz="2000">
                <a:solidFill>
                  <a:schemeClr val="tx1"/>
                </a:solidFill>
                <a:latin typeface="Calibri" pitchFamily="34" charset="0"/>
              </a:defRPr>
            </a:lvl4pPr>
            <a:lvl5pPr marL="2057400" indent="-22860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0"/>
              </a:spcBef>
              <a:buFontTx/>
              <a:buNone/>
            </a:pPr>
            <a:r>
              <a:rPr lang="en-US" altLang="en-US" sz="1800" dirty="0"/>
              <a:t>output</a:t>
            </a:r>
          </a:p>
        </p:txBody>
      </p:sp>
      <p:sp>
        <p:nvSpPr>
          <p:cNvPr id="9227" name="Line 11"/>
          <p:cNvSpPr>
            <a:spLocks noChangeShapeType="1"/>
          </p:cNvSpPr>
          <p:nvPr/>
        </p:nvSpPr>
        <p:spPr bwMode="auto">
          <a:xfrm>
            <a:off x="2057400" y="4419600"/>
            <a:ext cx="1219200" cy="0"/>
          </a:xfrm>
          <a:prstGeom prst="line">
            <a:avLst/>
          </a:prstGeom>
          <a:noFill/>
          <a:ln w="28575">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9228" name="Line 12"/>
          <p:cNvSpPr>
            <a:spLocks noChangeShapeType="1"/>
          </p:cNvSpPr>
          <p:nvPr/>
        </p:nvSpPr>
        <p:spPr bwMode="auto">
          <a:xfrm>
            <a:off x="6019800" y="4419600"/>
            <a:ext cx="1143000" cy="0"/>
          </a:xfrm>
          <a:prstGeom prst="line">
            <a:avLst/>
          </a:prstGeom>
          <a:noFill/>
          <a:ln w="28575">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Tree>
    <p:extLst>
      <p:ext uri="{BB962C8B-B14F-4D97-AF65-F5344CB8AC3E}">
        <p14:creationId xmlns:p14="http://schemas.microsoft.com/office/powerpoint/2010/main" val="29442427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852936"/>
            <a:ext cx="8229600" cy="1143000"/>
          </a:xfrm>
        </p:spPr>
        <p:txBody>
          <a:bodyPr>
            <a:normAutofit fontScale="90000"/>
          </a:bodyPr>
          <a:lstStyle/>
          <a:p>
            <a:r>
              <a:rPr lang="en-US" dirty="0" smtClean="0"/>
              <a:t>Compute the GCD for the given two numbers</a:t>
            </a:r>
            <a:endParaRPr lang="en-IN" dirty="0"/>
          </a:p>
        </p:txBody>
      </p:sp>
      <p:sp>
        <p:nvSpPr>
          <p:cNvPr id="3" name="Slide Number Placeholder 2"/>
          <p:cNvSpPr>
            <a:spLocks noGrp="1"/>
          </p:cNvSpPr>
          <p:nvPr>
            <p:ph type="sldNum" sz="quarter" idx="12"/>
          </p:nvPr>
        </p:nvSpPr>
        <p:spPr/>
        <p:txBody>
          <a:bodyPr/>
          <a:lstStyle/>
          <a:p>
            <a:fld id="{9FB0BF6E-FAFB-46B7-AEE3-3DAA4B58C0A6}" type="slidenum">
              <a:rPr lang="en-IN" smtClean="0"/>
              <a:t>8</a:t>
            </a:fld>
            <a:endParaRPr lang="en-IN"/>
          </a:p>
        </p:txBody>
      </p:sp>
    </p:spTree>
    <p:extLst>
      <p:ext uri="{BB962C8B-B14F-4D97-AF65-F5344CB8AC3E}">
        <p14:creationId xmlns:p14="http://schemas.microsoft.com/office/powerpoint/2010/main" val="285346603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smtClean="0"/>
              <a:t>Euclid’s Algorithm</a:t>
            </a:r>
          </a:p>
        </p:txBody>
      </p:sp>
      <p:sp>
        <p:nvSpPr>
          <p:cNvPr id="157699" name="Rectangle 3"/>
          <p:cNvSpPr>
            <a:spLocks noGrp="1" noChangeArrowheads="1"/>
          </p:cNvSpPr>
          <p:nvPr>
            <p:ph type="body" idx="1"/>
          </p:nvPr>
        </p:nvSpPr>
        <p:spPr>
          <a:xfrm>
            <a:off x="609600" y="1266825"/>
            <a:ext cx="8426896" cy="5286375"/>
          </a:xfrm>
        </p:spPr>
        <p:txBody>
          <a:bodyPr rtlCol="0">
            <a:normAutofit fontScale="85000" lnSpcReduction="10000"/>
          </a:bodyPr>
          <a:lstStyle/>
          <a:p>
            <a:pPr eaLnBrk="1" fontAlgn="auto" hangingPunct="1">
              <a:spcAft>
                <a:spcPts val="0"/>
              </a:spcAft>
              <a:buFont typeface="Monotype Sorts" pitchFamily="2" charset="2"/>
              <a:buNone/>
              <a:defRPr/>
            </a:pPr>
            <a:r>
              <a:rPr lang="en-US" dirty="0"/>
              <a:t>Problem: Find </a:t>
            </a:r>
            <a:r>
              <a:rPr lang="en-US" dirty="0" err="1">
                <a:solidFill>
                  <a:srgbClr val="FF0000"/>
                </a:solidFill>
              </a:rPr>
              <a:t>gcd</a:t>
            </a:r>
            <a:r>
              <a:rPr lang="en-US" dirty="0">
                <a:solidFill>
                  <a:srgbClr val="FF0000"/>
                </a:solidFill>
              </a:rPr>
              <a:t>(</a:t>
            </a:r>
            <a:r>
              <a:rPr lang="en-US" i="1" dirty="0" err="1">
                <a:solidFill>
                  <a:srgbClr val="FF0000"/>
                </a:solidFill>
              </a:rPr>
              <a:t>m,n</a:t>
            </a:r>
            <a:r>
              <a:rPr lang="en-US" dirty="0">
                <a:solidFill>
                  <a:srgbClr val="FF0000"/>
                </a:solidFill>
              </a:rPr>
              <a:t>)</a:t>
            </a:r>
            <a:r>
              <a:rPr lang="en-US" dirty="0"/>
              <a:t>, the greatest common divisor of two nonnegative, not both zero integers </a:t>
            </a:r>
            <a:r>
              <a:rPr lang="en-US" i="1" dirty="0"/>
              <a:t>m </a:t>
            </a:r>
            <a:r>
              <a:rPr lang="en-US" dirty="0"/>
              <a:t>and </a:t>
            </a:r>
            <a:r>
              <a:rPr lang="en-US" i="1" dirty="0"/>
              <a:t>n</a:t>
            </a:r>
          </a:p>
          <a:p>
            <a:pPr eaLnBrk="1" fontAlgn="auto" hangingPunct="1">
              <a:spcAft>
                <a:spcPts val="0"/>
              </a:spcAft>
              <a:buFont typeface="Monotype Sorts" pitchFamily="2" charset="2"/>
              <a:buNone/>
              <a:defRPr/>
            </a:pPr>
            <a:endParaRPr lang="en-US" dirty="0"/>
          </a:p>
          <a:p>
            <a:pPr eaLnBrk="1" fontAlgn="auto" hangingPunct="1">
              <a:spcAft>
                <a:spcPts val="0"/>
              </a:spcAft>
              <a:buFont typeface="Monotype Sorts" pitchFamily="2" charset="2"/>
              <a:buNone/>
              <a:defRPr/>
            </a:pPr>
            <a:r>
              <a:rPr lang="en-US" dirty="0"/>
              <a:t>Examples:  </a:t>
            </a:r>
            <a:r>
              <a:rPr lang="en-US" dirty="0" err="1"/>
              <a:t>gcd</a:t>
            </a:r>
            <a:r>
              <a:rPr lang="en-US" dirty="0"/>
              <a:t>(60,24) = 12,    </a:t>
            </a:r>
            <a:r>
              <a:rPr lang="en-US" dirty="0" err="1"/>
              <a:t>gcd</a:t>
            </a:r>
            <a:r>
              <a:rPr lang="en-US" dirty="0"/>
              <a:t>(60,0) = 60,    </a:t>
            </a:r>
            <a:r>
              <a:rPr lang="en-US" dirty="0" err="1"/>
              <a:t>gcd</a:t>
            </a:r>
            <a:r>
              <a:rPr lang="en-US" dirty="0"/>
              <a:t>(0,0) = ? </a:t>
            </a:r>
          </a:p>
          <a:p>
            <a:pPr eaLnBrk="1" fontAlgn="auto" hangingPunct="1">
              <a:spcAft>
                <a:spcPts val="0"/>
              </a:spcAft>
              <a:buFont typeface="Monotype Sorts" pitchFamily="2" charset="2"/>
              <a:buNone/>
              <a:defRPr/>
            </a:pPr>
            <a:endParaRPr lang="en-US" dirty="0"/>
          </a:p>
          <a:p>
            <a:pPr eaLnBrk="1" fontAlgn="auto" hangingPunct="1">
              <a:spcAft>
                <a:spcPts val="0"/>
              </a:spcAft>
              <a:buFont typeface="Monotype Sorts" pitchFamily="2" charset="2"/>
              <a:buNone/>
              <a:defRPr/>
            </a:pPr>
            <a:r>
              <a:rPr lang="en-US" dirty="0"/>
              <a:t>Euclid’s algorithm is based on repeated application of equality</a:t>
            </a:r>
          </a:p>
          <a:p>
            <a:pPr algn="ctr" eaLnBrk="1" fontAlgn="auto" hangingPunct="1">
              <a:spcAft>
                <a:spcPts val="0"/>
              </a:spcAft>
              <a:buFont typeface="Monotype Sorts" pitchFamily="2" charset="2"/>
              <a:buNone/>
              <a:defRPr/>
            </a:pPr>
            <a:r>
              <a:rPr lang="en-US" dirty="0" err="1"/>
              <a:t>gcd</a:t>
            </a:r>
            <a:r>
              <a:rPr lang="en-US" dirty="0"/>
              <a:t>(</a:t>
            </a:r>
            <a:r>
              <a:rPr lang="en-US" i="1" dirty="0" err="1"/>
              <a:t>m,n</a:t>
            </a:r>
            <a:r>
              <a:rPr lang="en-US" dirty="0"/>
              <a:t>) = </a:t>
            </a:r>
            <a:r>
              <a:rPr lang="en-US" dirty="0" err="1"/>
              <a:t>gcd</a:t>
            </a:r>
            <a:r>
              <a:rPr lang="en-US" dirty="0"/>
              <a:t>(</a:t>
            </a:r>
            <a:r>
              <a:rPr lang="en-US" i="1" dirty="0"/>
              <a:t>n, m </a:t>
            </a:r>
            <a:r>
              <a:rPr lang="en-US" dirty="0"/>
              <a:t>mod </a:t>
            </a:r>
            <a:r>
              <a:rPr lang="en-US" i="1" dirty="0"/>
              <a:t>n</a:t>
            </a:r>
            <a:r>
              <a:rPr lang="en-US" dirty="0"/>
              <a:t>)</a:t>
            </a:r>
          </a:p>
          <a:p>
            <a:pPr eaLnBrk="1" fontAlgn="auto" hangingPunct="1">
              <a:spcAft>
                <a:spcPts val="0"/>
              </a:spcAft>
              <a:buFont typeface="Monotype Sorts" pitchFamily="2" charset="2"/>
              <a:buNone/>
              <a:defRPr/>
            </a:pPr>
            <a:r>
              <a:rPr lang="en-US" dirty="0"/>
              <a:t>until the second number becomes 0, which makes the </a:t>
            </a:r>
            <a:r>
              <a:rPr lang="en-US" dirty="0" smtClean="0"/>
              <a:t>problem trivial</a:t>
            </a:r>
            <a:r>
              <a:rPr lang="en-US" dirty="0"/>
              <a:t>.</a:t>
            </a:r>
          </a:p>
          <a:p>
            <a:pPr eaLnBrk="1" fontAlgn="auto" hangingPunct="1">
              <a:spcAft>
                <a:spcPts val="0"/>
              </a:spcAft>
              <a:buFont typeface="Monotype Sorts" pitchFamily="2" charset="2"/>
              <a:buNone/>
              <a:defRPr/>
            </a:pPr>
            <a:endParaRPr lang="en-US" dirty="0"/>
          </a:p>
          <a:p>
            <a:pPr eaLnBrk="1" fontAlgn="auto" hangingPunct="1">
              <a:spcAft>
                <a:spcPts val="0"/>
              </a:spcAft>
              <a:buFont typeface="Monotype Sorts" pitchFamily="2" charset="2"/>
              <a:buNone/>
              <a:defRPr/>
            </a:pPr>
            <a:r>
              <a:rPr lang="en-US" dirty="0"/>
              <a:t>Example: </a:t>
            </a:r>
            <a:r>
              <a:rPr lang="en-US" dirty="0" err="1"/>
              <a:t>gcd</a:t>
            </a:r>
            <a:r>
              <a:rPr lang="en-US" dirty="0"/>
              <a:t>(60,24) = </a:t>
            </a:r>
            <a:r>
              <a:rPr lang="en-US" dirty="0" err="1"/>
              <a:t>gcd</a:t>
            </a:r>
            <a:r>
              <a:rPr lang="en-US" dirty="0"/>
              <a:t>(24,12) = </a:t>
            </a:r>
            <a:r>
              <a:rPr lang="en-US" dirty="0" err="1"/>
              <a:t>gcd</a:t>
            </a:r>
            <a:r>
              <a:rPr lang="en-US" dirty="0"/>
              <a:t>(12,0) = 12</a:t>
            </a:r>
          </a:p>
        </p:txBody>
      </p:sp>
    </p:spTree>
    <p:extLst>
      <p:ext uri="{BB962C8B-B14F-4D97-AF65-F5344CB8AC3E}">
        <p14:creationId xmlns:p14="http://schemas.microsoft.com/office/powerpoint/2010/main" val="4398125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sz="3200" dirty="0" smtClean="0">
                <a:solidFill>
                  <a:srgbClr val="FF0000"/>
                </a:solidFill>
              </a:rPr>
              <a:t>Two descriptions of Euclid’s algorithm</a:t>
            </a:r>
          </a:p>
        </p:txBody>
      </p:sp>
      <p:sp>
        <p:nvSpPr>
          <p:cNvPr id="206851" name="Rectangle 3"/>
          <p:cNvSpPr>
            <a:spLocks noGrp="1" noChangeArrowheads="1"/>
          </p:cNvSpPr>
          <p:nvPr>
            <p:ph type="body" idx="1"/>
          </p:nvPr>
        </p:nvSpPr>
        <p:spPr>
          <a:xfrm>
            <a:off x="467544" y="1266825"/>
            <a:ext cx="8208912" cy="5286375"/>
          </a:xfrm>
        </p:spPr>
        <p:txBody>
          <a:bodyPr rtlCol="0">
            <a:normAutofit fontScale="85000" lnSpcReduction="10000"/>
          </a:bodyPr>
          <a:lstStyle/>
          <a:p>
            <a:pPr eaLnBrk="1" fontAlgn="auto" hangingPunct="1">
              <a:spcAft>
                <a:spcPts val="0"/>
              </a:spcAft>
              <a:buFont typeface="Monotype Sorts" pitchFamily="2" charset="2"/>
              <a:buNone/>
              <a:defRPr/>
            </a:pPr>
            <a:r>
              <a:rPr lang="en-US" dirty="0"/>
              <a:t>Step 1  If </a:t>
            </a:r>
            <a:r>
              <a:rPr lang="pt-BR" i="1" dirty="0"/>
              <a:t>n</a:t>
            </a:r>
            <a:r>
              <a:rPr lang="pt-BR" dirty="0"/>
              <a:t> = 0, return </a:t>
            </a:r>
            <a:r>
              <a:rPr lang="pt-BR" i="1" dirty="0"/>
              <a:t>m</a:t>
            </a:r>
            <a:r>
              <a:rPr lang="pt-BR" dirty="0"/>
              <a:t> and stop; otherwise go to Step </a:t>
            </a:r>
            <a:r>
              <a:rPr lang="pt-BR" dirty="0" smtClean="0"/>
              <a:t>2</a:t>
            </a:r>
            <a:endParaRPr lang="pt-BR" dirty="0"/>
          </a:p>
          <a:p>
            <a:pPr eaLnBrk="1" fontAlgn="auto" hangingPunct="1">
              <a:spcAft>
                <a:spcPts val="0"/>
              </a:spcAft>
              <a:buFont typeface="Monotype Sorts" pitchFamily="2" charset="2"/>
              <a:buNone/>
              <a:defRPr/>
            </a:pPr>
            <a:r>
              <a:rPr lang="en-US" dirty="0"/>
              <a:t>Step 2 </a:t>
            </a:r>
            <a:r>
              <a:rPr lang="pt-BR" dirty="0"/>
              <a:t> Divide </a:t>
            </a:r>
            <a:r>
              <a:rPr lang="pt-BR" i="1" dirty="0"/>
              <a:t>m</a:t>
            </a:r>
            <a:r>
              <a:rPr lang="pt-BR" dirty="0"/>
              <a:t> by </a:t>
            </a:r>
            <a:r>
              <a:rPr lang="pt-BR" i="1" dirty="0"/>
              <a:t>n </a:t>
            </a:r>
            <a:r>
              <a:rPr lang="pt-BR" dirty="0"/>
              <a:t>and assign the value of the </a:t>
            </a:r>
            <a:r>
              <a:rPr lang="pt-BR" dirty="0" smtClean="0"/>
              <a:t>              remainder </a:t>
            </a:r>
            <a:r>
              <a:rPr lang="pt-BR" dirty="0"/>
              <a:t>to</a:t>
            </a:r>
            <a:r>
              <a:rPr lang="pt-BR" i="1" dirty="0"/>
              <a:t> r</a:t>
            </a:r>
          </a:p>
          <a:p>
            <a:pPr eaLnBrk="1" fontAlgn="auto" hangingPunct="1">
              <a:spcAft>
                <a:spcPts val="0"/>
              </a:spcAft>
              <a:buFont typeface="Monotype Sorts" pitchFamily="2" charset="2"/>
              <a:buNone/>
              <a:defRPr/>
            </a:pPr>
            <a:r>
              <a:rPr lang="en-US" dirty="0"/>
              <a:t>Step 3  Assign the value of </a:t>
            </a:r>
            <a:r>
              <a:rPr lang="en-US" i="1" dirty="0"/>
              <a:t>n </a:t>
            </a:r>
            <a:r>
              <a:rPr lang="en-US" dirty="0"/>
              <a:t>to </a:t>
            </a:r>
            <a:r>
              <a:rPr lang="en-US" i="1" dirty="0"/>
              <a:t>m</a:t>
            </a:r>
            <a:r>
              <a:rPr lang="en-US" dirty="0"/>
              <a:t> and the value of </a:t>
            </a:r>
            <a:r>
              <a:rPr lang="en-US" i="1" dirty="0"/>
              <a:t>r</a:t>
            </a:r>
            <a:r>
              <a:rPr lang="en-US" dirty="0"/>
              <a:t> to </a:t>
            </a:r>
            <a:r>
              <a:rPr lang="en-US" i="1" dirty="0"/>
              <a:t>n.  </a:t>
            </a:r>
            <a:r>
              <a:rPr lang="en-US" dirty="0"/>
              <a:t>Go </a:t>
            </a:r>
            <a:r>
              <a:rPr lang="en-US" dirty="0" smtClean="0"/>
              <a:t>to Step </a:t>
            </a:r>
            <a:r>
              <a:rPr lang="en-US" dirty="0"/>
              <a:t>1.</a:t>
            </a:r>
            <a:br>
              <a:rPr lang="en-US" dirty="0"/>
            </a:br>
            <a:endParaRPr lang="en-US" dirty="0"/>
          </a:p>
          <a:p>
            <a:pPr eaLnBrk="1" fontAlgn="auto" hangingPunct="1">
              <a:spcAft>
                <a:spcPts val="0"/>
              </a:spcAft>
              <a:buFont typeface="Monotype Sorts" pitchFamily="2" charset="2"/>
              <a:buNone/>
              <a:defRPr/>
            </a:pPr>
            <a:r>
              <a:rPr lang="en-US" dirty="0"/>
              <a:t>	   </a:t>
            </a:r>
          </a:p>
          <a:p>
            <a:pPr eaLnBrk="1" fontAlgn="auto" hangingPunct="1">
              <a:spcAft>
                <a:spcPts val="0"/>
              </a:spcAft>
              <a:buFont typeface="Monotype Sorts" pitchFamily="2" charset="2"/>
              <a:buNone/>
              <a:defRPr/>
            </a:pPr>
            <a:r>
              <a:rPr lang="pt-BR" dirty="0"/>
              <a:t>while</a:t>
            </a:r>
            <a:r>
              <a:rPr lang="pt-BR" i="1" dirty="0"/>
              <a:t> n</a:t>
            </a:r>
            <a:r>
              <a:rPr lang="pt-BR" dirty="0"/>
              <a:t> ≠ 0 do</a:t>
            </a:r>
            <a:r>
              <a:rPr lang="pt-BR" i="1" dirty="0"/>
              <a:t>            </a:t>
            </a:r>
          </a:p>
          <a:p>
            <a:pPr eaLnBrk="1" fontAlgn="auto" hangingPunct="1">
              <a:spcAft>
                <a:spcPts val="0"/>
              </a:spcAft>
              <a:buFont typeface="Monotype Sorts" pitchFamily="2" charset="2"/>
              <a:buNone/>
              <a:defRPr/>
            </a:pPr>
            <a:r>
              <a:rPr lang="pt-BR" i="1" dirty="0"/>
              <a:t>	r ← m </a:t>
            </a:r>
            <a:r>
              <a:rPr lang="pt-BR" dirty="0"/>
              <a:t>mod </a:t>
            </a:r>
            <a:r>
              <a:rPr lang="pt-BR" i="1" dirty="0"/>
              <a:t>n</a:t>
            </a:r>
          </a:p>
          <a:p>
            <a:pPr eaLnBrk="1" fontAlgn="auto" hangingPunct="1">
              <a:spcAft>
                <a:spcPts val="0"/>
              </a:spcAft>
              <a:buFont typeface="Monotype Sorts" pitchFamily="2" charset="2"/>
              <a:buNone/>
              <a:defRPr/>
            </a:pPr>
            <a:r>
              <a:rPr lang="pt-BR" i="1" dirty="0"/>
              <a:t>    m← n   </a:t>
            </a:r>
          </a:p>
          <a:p>
            <a:pPr eaLnBrk="1" fontAlgn="auto" hangingPunct="1">
              <a:spcAft>
                <a:spcPts val="0"/>
              </a:spcAft>
              <a:buFont typeface="Monotype Sorts" pitchFamily="2" charset="2"/>
              <a:buNone/>
              <a:defRPr/>
            </a:pPr>
            <a:r>
              <a:rPr lang="pt-BR" i="1" dirty="0"/>
              <a:t>    n ← r    </a:t>
            </a:r>
          </a:p>
          <a:p>
            <a:pPr eaLnBrk="1" fontAlgn="auto" hangingPunct="1">
              <a:spcAft>
                <a:spcPts val="0"/>
              </a:spcAft>
              <a:buFont typeface="Monotype Sorts" pitchFamily="2" charset="2"/>
              <a:buNone/>
              <a:defRPr/>
            </a:pPr>
            <a:r>
              <a:rPr lang="pt-BR" dirty="0"/>
              <a:t>return</a:t>
            </a:r>
            <a:r>
              <a:rPr lang="pt-BR" i="1" dirty="0"/>
              <a:t> m</a:t>
            </a:r>
            <a:endParaRPr lang="en-US" i="1" dirty="0"/>
          </a:p>
        </p:txBody>
      </p:sp>
    </p:spTree>
    <p:extLst>
      <p:ext uri="{BB962C8B-B14F-4D97-AF65-F5344CB8AC3E}">
        <p14:creationId xmlns:p14="http://schemas.microsoft.com/office/powerpoint/2010/main" val="27374882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a:xfrm>
            <a:off x="533400" y="152400"/>
            <a:ext cx="8382000" cy="685800"/>
          </a:xfrm>
        </p:spPr>
        <p:txBody>
          <a:bodyPr rtlCol="0">
            <a:normAutofit fontScale="90000"/>
          </a:bodyPr>
          <a:lstStyle/>
          <a:p>
            <a:pPr eaLnBrk="1" fontAlgn="auto" hangingPunct="1">
              <a:spcAft>
                <a:spcPts val="0"/>
              </a:spcAft>
              <a:defRPr/>
            </a:pPr>
            <a:r>
              <a:rPr lang="en-US"/>
              <a:t>Other methods for computing gcd(</a:t>
            </a:r>
            <a:r>
              <a:rPr lang="en-US" i="1"/>
              <a:t>m,n</a:t>
            </a:r>
            <a:r>
              <a:rPr lang="en-US"/>
              <a:t>)</a:t>
            </a:r>
          </a:p>
        </p:txBody>
      </p:sp>
      <p:sp>
        <p:nvSpPr>
          <p:cNvPr id="15363" name="Rectangle 3"/>
          <p:cNvSpPr>
            <a:spLocks noGrp="1" noChangeArrowheads="1"/>
          </p:cNvSpPr>
          <p:nvPr>
            <p:ph type="body" idx="1"/>
          </p:nvPr>
        </p:nvSpPr>
        <p:spPr>
          <a:xfrm>
            <a:off x="533400" y="1219200"/>
            <a:ext cx="8382000" cy="5334000"/>
          </a:xfrm>
        </p:spPr>
        <p:txBody>
          <a:bodyPr/>
          <a:lstStyle/>
          <a:p>
            <a:pPr eaLnBrk="1" hangingPunct="1">
              <a:buFont typeface="Monotype Sorts"/>
              <a:buNone/>
            </a:pPr>
            <a:r>
              <a:rPr lang="en-US" altLang="en-US" sz="2800" dirty="0" smtClean="0"/>
              <a:t>Consecutive integer checking algorithm</a:t>
            </a:r>
          </a:p>
          <a:p>
            <a:pPr eaLnBrk="1" hangingPunct="1">
              <a:buFont typeface="Monotype Sorts"/>
              <a:buNone/>
            </a:pPr>
            <a:r>
              <a:rPr lang="en-US" altLang="en-US" dirty="0" smtClean="0">
                <a:solidFill>
                  <a:srgbClr val="FF0000"/>
                </a:solidFill>
              </a:rPr>
              <a:t>Step 1  </a:t>
            </a:r>
            <a:r>
              <a:rPr lang="en-US" altLang="en-US" dirty="0" smtClean="0"/>
              <a:t>Assign the value of min{</a:t>
            </a:r>
            <a:r>
              <a:rPr lang="en-US" altLang="en-US" i="1" dirty="0" err="1" smtClean="0"/>
              <a:t>m,n</a:t>
            </a:r>
            <a:r>
              <a:rPr lang="en-US" altLang="en-US" dirty="0" smtClean="0"/>
              <a:t>} to </a:t>
            </a:r>
            <a:r>
              <a:rPr lang="en-US" altLang="en-US" i="1" dirty="0" smtClean="0"/>
              <a:t>t</a:t>
            </a:r>
            <a:endParaRPr lang="pt-BR" altLang="en-US" dirty="0" smtClean="0"/>
          </a:p>
          <a:p>
            <a:pPr eaLnBrk="1" hangingPunct="1">
              <a:buFont typeface="Monotype Sorts"/>
              <a:buNone/>
            </a:pPr>
            <a:r>
              <a:rPr lang="en-US" altLang="en-US" dirty="0" smtClean="0">
                <a:solidFill>
                  <a:srgbClr val="FF0000"/>
                </a:solidFill>
              </a:rPr>
              <a:t>Step 2  </a:t>
            </a:r>
            <a:r>
              <a:rPr lang="pt-BR" altLang="en-US" dirty="0" smtClean="0"/>
              <a:t>Divide </a:t>
            </a:r>
            <a:r>
              <a:rPr lang="pt-BR" altLang="en-US" i="1" dirty="0" smtClean="0"/>
              <a:t>m</a:t>
            </a:r>
            <a:r>
              <a:rPr lang="pt-BR" altLang="en-US" dirty="0" smtClean="0"/>
              <a:t> by </a:t>
            </a:r>
            <a:r>
              <a:rPr lang="pt-BR" altLang="en-US" i="1" dirty="0" smtClean="0"/>
              <a:t>t.  </a:t>
            </a:r>
            <a:r>
              <a:rPr lang="pt-BR" altLang="en-US" dirty="0" smtClean="0"/>
              <a:t>If the remainder is 0, go to    	    Step 3; otherwise, go to Step 4</a:t>
            </a:r>
            <a:endParaRPr lang="pt-BR" altLang="en-US" i="1" dirty="0" smtClean="0"/>
          </a:p>
          <a:p>
            <a:pPr eaLnBrk="1" hangingPunct="1">
              <a:buFont typeface="Monotype Sorts"/>
              <a:buNone/>
            </a:pPr>
            <a:r>
              <a:rPr lang="en-US" altLang="en-US" dirty="0" smtClean="0">
                <a:solidFill>
                  <a:srgbClr val="FF0000"/>
                </a:solidFill>
              </a:rPr>
              <a:t>Step 3  </a:t>
            </a:r>
            <a:r>
              <a:rPr lang="pt-BR" altLang="en-US" dirty="0" smtClean="0"/>
              <a:t>Divide </a:t>
            </a:r>
            <a:r>
              <a:rPr lang="pt-BR" altLang="en-US" i="1" dirty="0" smtClean="0"/>
              <a:t>n</a:t>
            </a:r>
            <a:r>
              <a:rPr lang="pt-BR" altLang="en-US" dirty="0" smtClean="0"/>
              <a:t> by </a:t>
            </a:r>
            <a:r>
              <a:rPr lang="pt-BR" altLang="en-US" i="1" dirty="0" smtClean="0"/>
              <a:t>t.  </a:t>
            </a:r>
            <a:r>
              <a:rPr lang="pt-BR" altLang="en-US" dirty="0" smtClean="0"/>
              <a:t>If the remainder is 0, return 	    </a:t>
            </a:r>
            <a:r>
              <a:rPr lang="pt-BR" altLang="en-US" i="1" dirty="0" smtClean="0"/>
              <a:t>t</a:t>
            </a:r>
            <a:r>
              <a:rPr lang="pt-BR" altLang="en-US" dirty="0" smtClean="0"/>
              <a:t> and stop; otherwise, go to Step 4</a:t>
            </a:r>
            <a:endParaRPr lang="pt-BR" altLang="en-US" i="1" dirty="0" smtClean="0"/>
          </a:p>
          <a:p>
            <a:pPr eaLnBrk="1" hangingPunct="1">
              <a:buFont typeface="Monotype Sorts"/>
              <a:buNone/>
            </a:pPr>
            <a:r>
              <a:rPr lang="en-US" altLang="en-US" dirty="0" smtClean="0">
                <a:solidFill>
                  <a:srgbClr val="FF0000"/>
                </a:solidFill>
              </a:rPr>
              <a:t>Step 4  </a:t>
            </a:r>
            <a:r>
              <a:rPr lang="en-US" altLang="en-US" dirty="0" smtClean="0"/>
              <a:t>Decrease </a:t>
            </a:r>
            <a:r>
              <a:rPr lang="en-US" altLang="en-US" i="1" dirty="0" smtClean="0"/>
              <a:t>t </a:t>
            </a:r>
            <a:r>
              <a:rPr lang="en-US" altLang="en-US" dirty="0" smtClean="0"/>
              <a:t>by 1 and go to Step 2</a:t>
            </a:r>
          </a:p>
          <a:p>
            <a:pPr eaLnBrk="1" hangingPunct="1"/>
            <a:endParaRPr lang="en-US" altLang="en-US" dirty="0" smtClean="0"/>
          </a:p>
          <a:p>
            <a:pPr lvl="1" eaLnBrk="1" hangingPunct="1"/>
            <a:endParaRPr lang="en-US" altLang="en-US" dirty="0" smtClean="0"/>
          </a:p>
        </p:txBody>
      </p:sp>
      <p:sp>
        <p:nvSpPr>
          <p:cNvPr id="163844" name="Text Box 4"/>
          <p:cNvSpPr txBox="1">
            <a:spLocks noChangeArrowheads="1"/>
          </p:cNvSpPr>
          <p:nvPr/>
        </p:nvSpPr>
        <p:spPr bwMode="auto">
          <a:xfrm>
            <a:off x="228600" y="5373216"/>
            <a:ext cx="5334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Font typeface="Arial" pitchFamily="34" charset="0"/>
              <a:buChar char="•"/>
              <a:defRPr sz="3200">
                <a:solidFill>
                  <a:schemeClr val="tx1"/>
                </a:solidFill>
                <a:latin typeface="Calibri" pitchFamily="34" charset="0"/>
              </a:defRPr>
            </a:lvl1pPr>
            <a:lvl2pPr marL="742950" indent="-285750">
              <a:spcBef>
                <a:spcPct val="20000"/>
              </a:spcBef>
              <a:buFont typeface="Arial" pitchFamily="34" charset="0"/>
              <a:buChar char="–"/>
              <a:defRPr sz="2800">
                <a:solidFill>
                  <a:schemeClr val="tx1"/>
                </a:solidFill>
                <a:latin typeface="Calibri" pitchFamily="34" charset="0"/>
              </a:defRPr>
            </a:lvl2pPr>
            <a:lvl3pPr marL="1143000" indent="-228600">
              <a:spcBef>
                <a:spcPct val="20000"/>
              </a:spcBef>
              <a:buFont typeface="Arial" pitchFamily="34" charset="0"/>
              <a:buChar char="•"/>
              <a:defRPr sz="2400">
                <a:solidFill>
                  <a:schemeClr val="tx1"/>
                </a:solidFill>
                <a:latin typeface="Calibri" pitchFamily="34" charset="0"/>
              </a:defRPr>
            </a:lvl3pPr>
            <a:lvl4pPr marL="1600200" indent="-228600">
              <a:spcBef>
                <a:spcPct val="20000"/>
              </a:spcBef>
              <a:buFont typeface="Arial" pitchFamily="34" charset="0"/>
              <a:buChar char="–"/>
              <a:defRPr sz="2000">
                <a:solidFill>
                  <a:schemeClr val="tx1"/>
                </a:solidFill>
                <a:latin typeface="Calibri" pitchFamily="34" charset="0"/>
              </a:defRPr>
            </a:lvl4pPr>
            <a:lvl5pPr marL="2057400" indent="-22860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0"/>
              </a:spcBef>
              <a:buFontTx/>
              <a:buNone/>
            </a:pPr>
            <a:r>
              <a:rPr lang="en-US" altLang="en-US" sz="2400" dirty="0"/>
              <a:t>Is this slower than Euclid’s algorithm? How much slower? </a:t>
            </a:r>
          </a:p>
        </p:txBody>
      </p:sp>
      <p:sp>
        <p:nvSpPr>
          <p:cNvPr id="163845" name="Text Box 5"/>
          <p:cNvSpPr txBox="1">
            <a:spLocks noChangeArrowheads="1"/>
          </p:cNvSpPr>
          <p:nvPr/>
        </p:nvSpPr>
        <p:spPr bwMode="auto">
          <a:xfrm>
            <a:off x="3563888" y="5977462"/>
            <a:ext cx="4648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Font typeface="Arial" pitchFamily="34" charset="0"/>
              <a:buChar char="•"/>
              <a:defRPr sz="3200">
                <a:solidFill>
                  <a:schemeClr val="tx1"/>
                </a:solidFill>
                <a:latin typeface="Calibri" pitchFamily="34" charset="0"/>
              </a:defRPr>
            </a:lvl1pPr>
            <a:lvl2pPr marL="742950" indent="-285750">
              <a:spcBef>
                <a:spcPct val="20000"/>
              </a:spcBef>
              <a:buFont typeface="Arial" pitchFamily="34" charset="0"/>
              <a:buChar char="–"/>
              <a:defRPr sz="2800">
                <a:solidFill>
                  <a:schemeClr val="tx1"/>
                </a:solidFill>
                <a:latin typeface="Calibri" pitchFamily="34" charset="0"/>
              </a:defRPr>
            </a:lvl2pPr>
            <a:lvl3pPr marL="1143000" indent="-228600">
              <a:spcBef>
                <a:spcPct val="20000"/>
              </a:spcBef>
              <a:buFont typeface="Arial" pitchFamily="34" charset="0"/>
              <a:buChar char="•"/>
              <a:defRPr sz="2400">
                <a:solidFill>
                  <a:schemeClr val="tx1"/>
                </a:solidFill>
                <a:latin typeface="Calibri" pitchFamily="34" charset="0"/>
              </a:defRPr>
            </a:lvl3pPr>
            <a:lvl4pPr marL="1600200" indent="-228600">
              <a:spcBef>
                <a:spcPct val="20000"/>
              </a:spcBef>
              <a:buFont typeface="Arial" pitchFamily="34" charset="0"/>
              <a:buChar char="–"/>
              <a:defRPr sz="2000">
                <a:solidFill>
                  <a:schemeClr val="tx1"/>
                </a:solidFill>
                <a:latin typeface="Calibri" pitchFamily="34" charset="0"/>
              </a:defRPr>
            </a:lvl4pPr>
            <a:lvl5pPr marL="2057400" indent="-22860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50000"/>
              </a:spcBef>
              <a:buFontTx/>
              <a:buNone/>
            </a:pPr>
            <a:r>
              <a:rPr lang="en-US" altLang="en-US" sz="2400" dirty="0">
                <a:solidFill>
                  <a:srgbClr val="FF0000"/>
                </a:solidFill>
              </a:rPr>
              <a:t>O(n)</a:t>
            </a:r>
            <a:r>
              <a:rPr lang="en-US" altLang="en-US" sz="2400" dirty="0">
                <a:solidFill>
                  <a:srgbClr val="FF9933"/>
                </a:solidFill>
              </a:rPr>
              <a:t>,</a:t>
            </a:r>
            <a:r>
              <a:rPr lang="en-US" altLang="en-US" sz="2400" dirty="0"/>
              <a:t> if n &lt;= m , </a:t>
            </a:r>
            <a:r>
              <a:rPr lang="en-US" altLang="en-US" sz="2400" dirty="0" smtClean="0"/>
              <a:t>Vs </a:t>
            </a:r>
            <a:r>
              <a:rPr lang="en-US" altLang="en-US" sz="2400" dirty="0">
                <a:solidFill>
                  <a:srgbClr val="FF0000"/>
                </a:solidFill>
              </a:rPr>
              <a:t>O(log n)</a:t>
            </a:r>
          </a:p>
        </p:txBody>
      </p:sp>
    </p:spTree>
    <p:extLst>
      <p:ext uri="{BB962C8B-B14F-4D97-AF65-F5344CB8AC3E}">
        <p14:creationId xmlns:p14="http://schemas.microsoft.com/office/powerpoint/2010/main" val="28961929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3844"/>
                                        </p:tgtEl>
                                        <p:attrNameLst>
                                          <p:attrName>style.visibility</p:attrName>
                                        </p:attrNameLst>
                                      </p:cBhvr>
                                      <p:to>
                                        <p:strVal val="visible"/>
                                      </p:to>
                                    </p:set>
                                    <p:anim calcmode="lin" valueType="num">
                                      <p:cBhvr additive="base">
                                        <p:cTn id="7" dur="500" fill="hold"/>
                                        <p:tgtEl>
                                          <p:spTgt spid="163844"/>
                                        </p:tgtEl>
                                        <p:attrNameLst>
                                          <p:attrName>ppt_x</p:attrName>
                                        </p:attrNameLst>
                                      </p:cBhvr>
                                      <p:tavLst>
                                        <p:tav tm="0">
                                          <p:val>
                                            <p:strVal val="1+#ppt_w/2"/>
                                          </p:val>
                                        </p:tav>
                                        <p:tav tm="100000">
                                          <p:val>
                                            <p:strVal val="#ppt_x"/>
                                          </p:val>
                                        </p:tav>
                                      </p:tavLst>
                                    </p:anim>
                                    <p:anim calcmode="lin" valueType="num">
                                      <p:cBhvr additive="base">
                                        <p:cTn id="8" dur="500" fill="hold"/>
                                        <p:tgtEl>
                                          <p:spTgt spid="16384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3845"/>
                                        </p:tgtEl>
                                        <p:attrNameLst>
                                          <p:attrName>style.visibility</p:attrName>
                                        </p:attrNameLst>
                                      </p:cBhvr>
                                      <p:to>
                                        <p:strVal val="visible"/>
                                      </p:to>
                                    </p:set>
                                    <p:anim calcmode="lin" valueType="num">
                                      <p:cBhvr additive="base">
                                        <p:cTn id="13" dur="500" fill="hold"/>
                                        <p:tgtEl>
                                          <p:spTgt spid="163845"/>
                                        </p:tgtEl>
                                        <p:attrNameLst>
                                          <p:attrName>ppt_x</p:attrName>
                                        </p:attrNameLst>
                                      </p:cBhvr>
                                      <p:tavLst>
                                        <p:tav tm="0">
                                          <p:val>
                                            <p:strVal val="1+#ppt_w/2"/>
                                          </p:val>
                                        </p:tav>
                                        <p:tav tm="100000">
                                          <p:val>
                                            <p:strVal val="#ppt_x"/>
                                          </p:val>
                                        </p:tav>
                                      </p:tavLst>
                                    </p:anim>
                                    <p:anim calcmode="lin" valueType="num">
                                      <p:cBhvr additive="base">
                                        <p:cTn id="14" dur="500" fill="hold"/>
                                        <p:tgtEl>
                                          <p:spTgt spid="1638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4" grpId="0"/>
      <p:bldP spid="16384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533400" y="152400"/>
            <a:ext cx="8382000" cy="685800"/>
          </a:xfrm>
        </p:spPr>
        <p:txBody>
          <a:bodyPr rtlCol="0">
            <a:normAutofit fontScale="90000"/>
          </a:bodyPr>
          <a:lstStyle/>
          <a:p>
            <a:pPr eaLnBrk="1" fontAlgn="auto" hangingPunct="1">
              <a:spcAft>
                <a:spcPts val="0"/>
              </a:spcAft>
              <a:defRPr/>
            </a:pPr>
            <a:r>
              <a:rPr lang="en-US"/>
              <a:t>Other methods for gcd(</a:t>
            </a:r>
            <a:r>
              <a:rPr lang="en-US" i="1"/>
              <a:t>m,n</a:t>
            </a:r>
            <a:r>
              <a:rPr lang="en-US"/>
              <a:t>) [cont.]</a:t>
            </a:r>
          </a:p>
        </p:txBody>
      </p:sp>
      <p:sp>
        <p:nvSpPr>
          <p:cNvPr id="208899" name="Rectangle 3"/>
          <p:cNvSpPr>
            <a:spLocks noGrp="1" noChangeArrowheads="1"/>
          </p:cNvSpPr>
          <p:nvPr>
            <p:ph type="body" idx="1"/>
          </p:nvPr>
        </p:nvSpPr>
        <p:spPr>
          <a:xfrm>
            <a:off x="533400" y="1219200"/>
            <a:ext cx="8382000" cy="5334000"/>
          </a:xfrm>
        </p:spPr>
        <p:txBody>
          <a:bodyPr rtlCol="0">
            <a:normAutofit lnSpcReduction="10000"/>
          </a:bodyPr>
          <a:lstStyle/>
          <a:p>
            <a:pPr eaLnBrk="1" fontAlgn="auto" hangingPunct="1">
              <a:spcAft>
                <a:spcPts val="0"/>
              </a:spcAft>
              <a:buFont typeface="Monotype Sorts" pitchFamily="2" charset="2"/>
              <a:buNone/>
              <a:defRPr/>
            </a:pPr>
            <a:r>
              <a:rPr lang="en-US" sz="2800" b="1" dirty="0">
                <a:solidFill>
                  <a:srgbClr val="FF0000"/>
                </a:solidFill>
              </a:rPr>
              <a:t>Middle-school procedure</a:t>
            </a:r>
          </a:p>
          <a:p>
            <a:pPr eaLnBrk="1" fontAlgn="auto" hangingPunct="1">
              <a:spcAft>
                <a:spcPts val="0"/>
              </a:spcAft>
              <a:buFont typeface="Monotype Sorts" pitchFamily="2" charset="2"/>
              <a:buNone/>
              <a:defRPr/>
            </a:pPr>
            <a:r>
              <a:rPr lang="en-US" dirty="0"/>
              <a:t>Step 1  Find the prime factorization of </a:t>
            </a:r>
            <a:r>
              <a:rPr lang="en-US" i="1" dirty="0"/>
              <a:t>m</a:t>
            </a:r>
            <a:endParaRPr lang="pt-BR" dirty="0"/>
          </a:p>
          <a:p>
            <a:pPr eaLnBrk="1" fontAlgn="auto" hangingPunct="1">
              <a:spcAft>
                <a:spcPts val="0"/>
              </a:spcAft>
              <a:buFont typeface="Monotype Sorts" pitchFamily="2" charset="2"/>
              <a:buNone/>
              <a:defRPr/>
            </a:pPr>
            <a:r>
              <a:rPr lang="en-US" dirty="0"/>
              <a:t>Step 2  Find the prime factorization of </a:t>
            </a:r>
            <a:r>
              <a:rPr lang="en-US" i="1" dirty="0"/>
              <a:t>n</a:t>
            </a:r>
            <a:endParaRPr lang="pt-BR" i="1" dirty="0"/>
          </a:p>
          <a:p>
            <a:pPr eaLnBrk="1" fontAlgn="auto" hangingPunct="1">
              <a:spcAft>
                <a:spcPts val="0"/>
              </a:spcAft>
              <a:buFont typeface="Monotype Sorts" pitchFamily="2" charset="2"/>
              <a:buNone/>
              <a:defRPr/>
            </a:pPr>
            <a:r>
              <a:rPr lang="en-US" dirty="0"/>
              <a:t>Step 3  Find all the common prime factors</a:t>
            </a:r>
            <a:endParaRPr lang="pt-BR" i="1" dirty="0"/>
          </a:p>
          <a:p>
            <a:pPr eaLnBrk="1" fontAlgn="auto" hangingPunct="1">
              <a:spcAft>
                <a:spcPts val="0"/>
              </a:spcAft>
              <a:buFont typeface="Monotype Sorts" pitchFamily="2" charset="2"/>
              <a:buNone/>
              <a:defRPr/>
            </a:pPr>
            <a:r>
              <a:rPr lang="en-US" dirty="0"/>
              <a:t>Step 4  Compute the product of all the  common prime </a:t>
            </a:r>
            <a:r>
              <a:rPr lang="en-US" dirty="0" smtClean="0"/>
              <a:t>factors and </a:t>
            </a:r>
            <a:r>
              <a:rPr lang="en-US" dirty="0"/>
              <a:t>return it as </a:t>
            </a:r>
            <a:r>
              <a:rPr lang="en-US" dirty="0" err="1"/>
              <a:t>gcd</a:t>
            </a:r>
            <a:r>
              <a:rPr lang="en-US" i="1" dirty="0"/>
              <a:t>(</a:t>
            </a:r>
            <a:r>
              <a:rPr lang="en-US" i="1" dirty="0" err="1"/>
              <a:t>m,n</a:t>
            </a:r>
            <a:r>
              <a:rPr lang="en-US" dirty="0"/>
              <a:t>)</a:t>
            </a:r>
            <a:endParaRPr lang="en-US" i="1" dirty="0"/>
          </a:p>
          <a:p>
            <a:pPr eaLnBrk="1" fontAlgn="auto" hangingPunct="1">
              <a:spcAft>
                <a:spcPts val="0"/>
              </a:spcAft>
              <a:buFont typeface="Monotype Sorts" pitchFamily="2" charset="2"/>
              <a:buNone/>
              <a:defRPr/>
            </a:pPr>
            <a:endParaRPr lang="en-US" dirty="0"/>
          </a:p>
          <a:p>
            <a:pPr eaLnBrk="1" fontAlgn="auto" hangingPunct="1">
              <a:spcAft>
                <a:spcPts val="0"/>
              </a:spcAft>
              <a:buFont typeface="Monotype Sorts" pitchFamily="2" charset="2"/>
              <a:buNone/>
              <a:defRPr/>
            </a:pPr>
            <a:r>
              <a:rPr lang="en-US" dirty="0"/>
              <a:t>Is this an algorithm?</a:t>
            </a:r>
          </a:p>
          <a:p>
            <a:pPr eaLnBrk="1" fontAlgn="auto" hangingPunct="1">
              <a:spcAft>
                <a:spcPts val="0"/>
              </a:spcAft>
              <a:buFont typeface="Monotype Sorts" pitchFamily="2" charset="2"/>
              <a:buNone/>
              <a:defRPr/>
            </a:pPr>
            <a:endParaRPr lang="en-US" dirty="0"/>
          </a:p>
          <a:p>
            <a:pPr eaLnBrk="1" fontAlgn="auto" hangingPunct="1">
              <a:spcAft>
                <a:spcPts val="0"/>
              </a:spcAft>
              <a:buFont typeface="Monotype Sorts" pitchFamily="2" charset="2"/>
              <a:buNone/>
              <a:defRPr/>
            </a:pPr>
            <a:r>
              <a:rPr lang="en-US" dirty="0"/>
              <a:t>How efficient is it?</a:t>
            </a:r>
          </a:p>
          <a:p>
            <a:pPr eaLnBrk="1" fontAlgn="auto" hangingPunct="1">
              <a:spcAft>
                <a:spcPts val="0"/>
              </a:spcAft>
              <a:buFont typeface="Monotype Sorts" pitchFamily="2" charset="2"/>
              <a:buNone/>
              <a:defRPr/>
            </a:pPr>
            <a:endParaRPr lang="en-US" dirty="0"/>
          </a:p>
          <a:p>
            <a:pPr eaLnBrk="1" fontAlgn="auto" hangingPunct="1">
              <a:spcAft>
                <a:spcPts val="0"/>
              </a:spcAft>
              <a:defRPr/>
            </a:pPr>
            <a:endParaRPr lang="en-US" dirty="0"/>
          </a:p>
          <a:p>
            <a:pPr lvl="1" eaLnBrk="1" fontAlgn="auto" hangingPunct="1">
              <a:spcAft>
                <a:spcPts val="0"/>
              </a:spcAft>
              <a:defRPr/>
            </a:pPr>
            <a:endParaRPr lang="en-US" dirty="0"/>
          </a:p>
        </p:txBody>
      </p:sp>
      <p:sp>
        <p:nvSpPr>
          <p:cNvPr id="208900" name="Text Box 4"/>
          <p:cNvSpPr txBox="1">
            <a:spLocks noChangeArrowheads="1"/>
          </p:cNvSpPr>
          <p:nvPr/>
        </p:nvSpPr>
        <p:spPr bwMode="auto">
          <a:xfrm>
            <a:off x="3505200" y="6248400"/>
            <a:ext cx="538728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Font typeface="Arial" pitchFamily="34" charset="0"/>
              <a:buChar char="•"/>
              <a:defRPr sz="3200">
                <a:solidFill>
                  <a:schemeClr val="tx1"/>
                </a:solidFill>
                <a:latin typeface="Calibri" pitchFamily="34" charset="0"/>
              </a:defRPr>
            </a:lvl1pPr>
            <a:lvl2pPr marL="742950" indent="-285750">
              <a:spcBef>
                <a:spcPct val="20000"/>
              </a:spcBef>
              <a:buFont typeface="Arial" pitchFamily="34" charset="0"/>
              <a:buChar char="–"/>
              <a:defRPr sz="2800">
                <a:solidFill>
                  <a:schemeClr val="tx1"/>
                </a:solidFill>
                <a:latin typeface="Calibri" pitchFamily="34" charset="0"/>
              </a:defRPr>
            </a:lvl2pPr>
            <a:lvl3pPr marL="1143000" indent="-228600">
              <a:spcBef>
                <a:spcPct val="20000"/>
              </a:spcBef>
              <a:buFont typeface="Arial" pitchFamily="34" charset="0"/>
              <a:buChar char="•"/>
              <a:defRPr sz="2400">
                <a:solidFill>
                  <a:schemeClr val="tx1"/>
                </a:solidFill>
                <a:latin typeface="Calibri" pitchFamily="34" charset="0"/>
              </a:defRPr>
            </a:lvl3pPr>
            <a:lvl4pPr marL="1600200" indent="-228600">
              <a:spcBef>
                <a:spcPct val="20000"/>
              </a:spcBef>
              <a:buFont typeface="Arial" pitchFamily="34" charset="0"/>
              <a:buChar char="–"/>
              <a:defRPr sz="2000">
                <a:solidFill>
                  <a:schemeClr val="tx1"/>
                </a:solidFill>
                <a:latin typeface="Calibri" pitchFamily="34" charset="0"/>
              </a:defRPr>
            </a:lvl4pPr>
            <a:lvl5pPr marL="2057400" indent="-22860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50000"/>
              </a:spcBef>
              <a:buFontTx/>
              <a:buNone/>
            </a:pPr>
            <a:r>
              <a:rPr lang="en-US" altLang="en-US" sz="2800" dirty="0">
                <a:solidFill>
                  <a:srgbClr val="FF0000"/>
                </a:solidFill>
              </a:rPr>
              <a:t>Time complexity: O(</a:t>
            </a:r>
            <a:r>
              <a:rPr lang="en-US" altLang="en-US" sz="2800" dirty="0" err="1">
                <a:solidFill>
                  <a:srgbClr val="FF0000"/>
                </a:solidFill>
              </a:rPr>
              <a:t>sqrt</a:t>
            </a:r>
            <a:r>
              <a:rPr lang="en-US" altLang="en-US" sz="2800" dirty="0">
                <a:solidFill>
                  <a:srgbClr val="FF0000"/>
                </a:solidFill>
              </a:rPr>
              <a:t>(n))</a:t>
            </a:r>
          </a:p>
        </p:txBody>
      </p:sp>
    </p:spTree>
    <p:extLst>
      <p:ext uri="{BB962C8B-B14F-4D97-AF65-F5344CB8AC3E}">
        <p14:creationId xmlns:p14="http://schemas.microsoft.com/office/powerpoint/2010/main" val="16348744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08900"/>
                                        </p:tgtEl>
                                        <p:attrNameLst>
                                          <p:attrName>style.visibility</p:attrName>
                                        </p:attrNameLst>
                                      </p:cBhvr>
                                      <p:to>
                                        <p:strVal val="visible"/>
                                      </p:to>
                                    </p:set>
                                    <p:anim calcmode="lin" valueType="num">
                                      <p:cBhvr additive="base">
                                        <p:cTn id="7" dur="1000" fill="hold"/>
                                        <p:tgtEl>
                                          <p:spTgt spid="208900"/>
                                        </p:tgtEl>
                                        <p:attrNameLst>
                                          <p:attrName>ppt_x</p:attrName>
                                        </p:attrNameLst>
                                      </p:cBhvr>
                                      <p:tavLst>
                                        <p:tav tm="0">
                                          <p:val>
                                            <p:strVal val="1+#ppt_w/2"/>
                                          </p:val>
                                        </p:tav>
                                        <p:tav tm="100000">
                                          <p:val>
                                            <p:strVal val="#ppt_x"/>
                                          </p:val>
                                        </p:tav>
                                      </p:tavLst>
                                    </p:anim>
                                    <p:anim calcmode="lin" valueType="num">
                                      <p:cBhvr additive="base">
                                        <p:cTn id="8" dur="1000" fill="hold"/>
                                        <p:tgtEl>
                                          <p:spTgt spid="2089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0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Importance of algorithm</a:t>
            </a:r>
            <a:endParaRPr lang="en-IN" dirty="0"/>
          </a:p>
        </p:txBody>
      </p:sp>
      <p:sp>
        <p:nvSpPr>
          <p:cNvPr id="3" name="Content Placeholder 2"/>
          <p:cNvSpPr>
            <a:spLocks noGrp="1"/>
          </p:cNvSpPr>
          <p:nvPr>
            <p:ph idx="1"/>
          </p:nvPr>
        </p:nvSpPr>
        <p:spPr/>
        <p:txBody>
          <a:bodyPr/>
          <a:lstStyle/>
          <a:p>
            <a:r>
              <a:rPr lang="en-US" dirty="0" smtClean="0"/>
              <a:t>Data structure is an orderly arrangement of data in computers to use it in a more efficient manner.  </a:t>
            </a:r>
          </a:p>
          <a:p>
            <a:pPr marL="0" indent="0">
              <a:buNone/>
            </a:pPr>
            <a:endParaRPr lang="en-US" dirty="0" smtClean="0"/>
          </a:p>
          <a:p>
            <a:r>
              <a:rPr lang="en-US" dirty="0" smtClean="0"/>
              <a:t>It’s a collection of data objects that allows storing, organizing, and retrieving data on systems</a:t>
            </a:r>
          </a:p>
          <a:p>
            <a:endParaRPr lang="en-IN" dirty="0"/>
          </a:p>
        </p:txBody>
      </p:sp>
      <p:sp>
        <p:nvSpPr>
          <p:cNvPr id="4" name="Slide Number Placeholder 3"/>
          <p:cNvSpPr>
            <a:spLocks noGrp="1"/>
          </p:cNvSpPr>
          <p:nvPr>
            <p:ph type="sldNum" sz="quarter" idx="12"/>
          </p:nvPr>
        </p:nvSpPr>
        <p:spPr/>
        <p:txBody>
          <a:bodyPr/>
          <a:lstStyle/>
          <a:p>
            <a:fld id="{9FB0BF6E-FAFB-46B7-AEE3-3DAA4B58C0A6}" type="slidenum">
              <a:rPr lang="en-IN" smtClean="0"/>
              <a:t>13</a:t>
            </a:fld>
            <a:endParaRPr lang="en-IN"/>
          </a:p>
        </p:txBody>
      </p:sp>
    </p:spTree>
    <p:extLst>
      <p:ext uri="{BB962C8B-B14F-4D97-AF65-F5344CB8AC3E}">
        <p14:creationId xmlns:p14="http://schemas.microsoft.com/office/powerpoint/2010/main" val="1766809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Relationship between Data Structure and Algorithm</a:t>
            </a:r>
            <a:endParaRPr lang="en-IN" dirty="0"/>
          </a:p>
        </p:txBody>
      </p:sp>
      <p:sp>
        <p:nvSpPr>
          <p:cNvPr id="3" name="Content Placeholder 2"/>
          <p:cNvSpPr>
            <a:spLocks noGrp="1"/>
          </p:cNvSpPr>
          <p:nvPr>
            <p:ph idx="1"/>
          </p:nvPr>
        </p:nvSpPr>
        <p:spPr/>
        <p:txBody>
          <a:bodyPr>
            <a:normAutofit fontScale="92500" lnSpcReduction="20000"/>
          </a:bodyPr>
          <a:lstStyle/>
          <a:p>
            <a:r>
              <a:rPr lang="en-US" dirty="0" smtClean="0"/>
              <a:t>Both are interrelated components</a:t>
            </a:r>
          </a:p>
          <a:p>
            <a:pPr algn="just"/>
            <a:r>
              <a:rPr lang="en-US" dirty="0" smtClean="0"/>
              <a:t>An algorithm appliers to a particular data structure, while the </a:t>
            </a:r>
            <a:r>
              <a:rPr lang="en-US" dirty="0" smtClean="0">
                <a:solidFill>
                  <a:srgbClr val="FF0000"/>
                </a:solidFill>
              </a:rPr>
              <a:t>right data structure </a:t>
            </a:r>
            <a:r>
              <a:rPr lang="en-US" dirty="0" smtClean="0"/>
              <a:t>helps to drastically improve the performance of the algorithm</a:t>
            </a:r>
          </a:p>
          <a:p>
            <a:pPr marL="0" indent="0">
              <a:buNone/>
            </a:pPr>
            <a:r>
              <a:rPr lang="en-US" dirty="0" smtClean="0"/>
              <a:t>Major categories of algorithms in relation to DS</a:t>
            </a:r>
          </a:p>
          <a:p>
            <a:pPr lvl="1"/>
            <a:r>
              <a:rPr lang="en-US" dirty="0" smtClean="0"/>
              <a:t>Search</a:t>
            </a:r>
          </a:p>
          <a:p>
            <a:pPr lvl="1"/>
            <a:r>
              <a:rPr lang="en-US" dirty="0" smtClean="0"/>
              <a:t>Insert</a:t>
            </a:r>
          </a:p>
          <a:p>
            <a:pPr lvl="1"/>
            <a:r>
              <a:rPr lang="en-US" dirty="0" smtClean="0"/>
              <a:t>Sort </a:t>
            </a:r>
          </a:p>
          <a:p>
            <a:pPr lvl="1"/>
            <a:r>
              <a:rPr lang="en-US" dirty="0" smtClean="0"/>
              <a:t>Update </a:t>
            </a:r>
          </a:p>
          <a:p>
            <a:pPr lvl="1"/>
            <a:r>
              <a:rPr lang="en-US" dirty="0" smtClean="0"/>
              <a:t>Delete</a:t>
            </a:r>
            <a:endParaRPr lang="en-IN" dirty="0"/>
          </a:p>
        </p:txBody>
      </p:sp>
      <p:sp>
        <p:nvSpPr>
          <p:cNvPr id="4" name="Slide Number Placeholder 3"/>
          <p:cNvSpPr>
            <a:spLocks noGrp="1"/>
          </p:cNvSpPr>
          <p:nvPr>
            <p:ph type="sldNum" sz="quarter" idx="12"/>
          </p:nvPr>
        </p:nvSpPr>
        <p:spPr/>
        <p:txBody>
          <a:bodyPr/>
          <a:lstStyle/>
          <a:p>
            <a:fld id="{9FB0BF6E-FAFB-46B7-AEE3-3DAA4B58C0A6}" type="slidenum">
              <a:rPr lang="en-IN" smtClean="0"/>
              <a:t>14</a:t>
            </a:fld>
            <a:endParaRPr lang="en-IN"/>
          </a:p>
        </p:txBody>
      </p:sp>
    </p:spTree>
    <p:extLst>
      <p:ext uri="{BB962C8B-B14F-4D97-AF65-F5344CB8AC3E}">
        <p14:creationId xmlns:p14="http://schemas.microsoft.com/office/powerpoint/2010/main" val="25592072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a:bodyPr>
          <a:lstStyle/>
          <a:p>
            <a:pPr algn="just"/>
            <a:r>
              <a:rPr lang="en-US" dirty="0"/>
              <a:t>In layman’s language, an algorithm can be defined as a </a:t>
            </a:r>
            <a:r>
              <a:rPr lang="en-US" u="sng" dirty="0"/>
              <a:t>step-by-step procedure </a:t>
            </a:r>
            <a:r>
              <a:rPr lang="en-US" dirty="0"/>
              <a:t>for accomplishing a task. </a:t>
            </a:r>
            <a:endParaRPr lang="en-US" dirty="0" smtClean="0"/>
          </a:p>
          <a:p>
            <a:pPr algn="just"/>
            <a:r>
              <a:rPr lang="en-US" dirty="0" smtClean="0"/>
              <a:t>In </a:t>
            </a:r>
            <a:r>
              <a:rPr lang="en-US" dirty="0"/>
              <a:t>the world of programming, an algorithm is a well-structured computational procedure that takes some values as </a:t>
            </a:r>
            <a:r>
              <a:rPr lang="en-US" u="sng" dirty="0"/>
              <a:t>input</a:t>
            </a:r>
            <a:r>
              <a:rPr lang="en-US" dirty="0"/>
              <a:t> and some values as </a:t>
            </a:r>
            <a:r>
              <a:rPr lang="en-US" u="sng" dirty="0"/>
              <a:t>output</a:t>
            </a:r>
            <a:r>
              <a:rPr lang="en-US" dirty="0"/>
              <a:t>.</a:t>
            </a:r>
          </a:p>
          <a:p>
            <a:pPr algn="just"/>
            <a:r>
              <a:rPr lang="en-US" dirty="0"/>
              <a:t>Algorithms give us the most ideal option for </a:t>
            </a:r>
            <a:r>
              <a:rPr lang="en-US" u="sng" dirty="0"/>
              <a:t>accomplishing a task</a:t>
            </a:r>
            <a:r>
              <a:rPr lang="en-US" dirty="0"/>
              <a:t>. </a:t>
            </a:r>
            <a:endParaRPr lang="en-US" dirty="0" smtClean="0"/>
          </a:p>
        </p:txBody>
      </p:sp>
      <p:sp>
        <p:nvSpPr>
          <p:cNvPr id="2" name="Slide Number Placeholder 1"/>
          <p:cNvSpPr>
            <a:spLocks noGrp="1"/>
          </p:cNvSpPr>
          <p:nvPr>
            <p:ph type="sldNum" sz="quarter" idx="12"/>
          </p:nvPr>
        </p:nvSpPr>
        <p:spPr/>
        <p:txBody>
          <a:bodyPr/>
          <a:lstStyle/>
          <a:p>
            <a:fld id="{9FB0BF6E-FAFB-46B7-AEE3-3DAA4B58C0A6}" type="slidenum">
              <a:rPr lang="en-IN" smtClean="0"/>
              <a:t>15</a:t>
            </a:fld>
            <a:endParaRPr lang="en-IN"/>
          </a:p>
        </p:txBody>
      </p:sp>
    </p:spTree>
    <p:extLst>
      <p:ext uri="{BB962C8B-B14F-4D97-AF65-F5344CB8AC3E}">
        <p14:creationId xmlns:p14="http://schemas.microsoft.com/office/powerpoint/2010/main" val="19064784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6048672"/>
          </a:xfrm>
        </p:spPr>
        <p:txBody>
          <a:bodyPr>
            <a:normAutofit fontScale="92500" lnSpcReduction="20000"/>
          </a:bodyPr>
          <a:lstStyle/>
          <a:p>
            <a:pPr algn="just"/>
            <a:r>
              <a:rPr lang="en-US" dirty="0"/>
              <a:t>The best chosen algorithm makes sure computer will do the given task at </a:t>
            </a:r>
            <a:r>
              <a:rPr lang="en-US" dirty="0">
                <a:solidFill>
                  <a:srgbClr val="FF0000"/>
                </a:solidFill>
              </a:rPr>
              <a:t>best possible manner</a:t>
            </a:r>
            <a:r>
              <a:rPr lang="en-US" dirty="0"/>
              <a:t>. </a:t>
            </a:r>
            <a:endParaRPr lang="en-US" dirty="0" smtClean="0"/>
          </a:p>
          <a:p>
            <a:pPr algn="just"/>
            <a:r>
              <a:rPr lang="en-US" dirty="0" smtClean="0"/>
              <a:t>In </a:t>
            </a:r>
            <a:r>
              <a:rPr lang="en-US" dirty="0"/>
              <a:t>cases </a:t>
            </a:r>
            <a:r>
              <a:rPr lang="en-US" dirty="0">
                <a:solidFill>
                  <a:srgbClr val="FF0000"/>
                </a:solidFill>
              </a:rPr>
              <a:t>where efficiency matter </a:t>
            </a:r>
            <a:r>
              <a:rPr lang="en-US" dirty="0"/>
              <a:t>a proper algorithm is really vital to be used. </a:t>
            </a:r>
            <a:endParaRPr lang="en-US" dirty="0" smtClean="0"/>
          </a:p>
          <a:p>
            <a:pPr algn="just"/>
            <a:r>
              <a:rPr lang="en-US" dirty="0" smtClean="0"/>
              <a:t>An </a:t>
            </a:r>
            <a:r>
              <a:rPr lang="en-US" dirty="0"/>
              <a:t>algorithm is important in </a:t>
            </a:r>
            <a:r>
              <a:rPr lang="en-US" dirty="0">
                <a:solidFill>
                  <a:srgbClr val="FF0000"/>
                </a:solidFill>
              </a:rPr>
              <a:t>optimizing</a:t>
            </a:r>
            <a:r>
              <a:rPr lang="en-US" dirty="0"/>
              <a:t> a computer program according to the available resources. </a:t>
            </a:r>
            <a:endParaRPr lang="en-US" dirty="0" smtClean="0"/>
          </a:p>
          <a:p>
            <a:pPr algn="just"/>
            <a:r>
              <a:rPr lang="en-US" dirty="0"/>
              <a:t>Ultimately when anyone decide to solve a problem through better algorithms then searching for  the </a:t>
            </a:r>
            <a:r>
              <a:rPr lang="en-US" dirty="0">
                <a:solidFill>
                  <a:srgbClr val="FF0000"/>
                </a:solidFill>
              </a:rPr>
              <a:t>best combination of program speed and least amount of memory consumption is desired. </a:t>
            </a:r>
            <a:endParaRPr lang="en-US" dirty="0" smtClean="0">
              <a:solidFill>
                <a:srgbClr val="FF0000"/>
              </a:solidFill>
            </a:endParaRPr>
          </a:p>
          <a:p>
            <a:pPr algn="just"/>
            <a:r>
              <a:rPr lang="en-US" dirty="0" smtClean="0"/>
              <a:t>Here </a:t>
            </a:r>
            <a:r>
              <a:rPr lang="en-US" dirty="0"/>
              <a:t>is some importance of algorithms in computer programming.</a:t>
            </a:r>
          </a:p>
          <a:p>
            <a:endParaRPr lang="en-IN" dirty="0"/>
          </a:p>
        </p:txBody>
      </p:sp>
      <p:sp>
        <p:nvSpPr>
          <p:cNvPr id="2" name="Slide Number Placeholder 1"/>
          <p:cNvSpPr>
            <a:spLocks noGrp="1"/>
          </p:cNvSpPr>
          <p:nvPr>
            <p:ph type="sldNum" sz="quarter" idx="12"/>
          </p:nvPr>
        </p:nvSpPr>
        <p:spPr/>
        <p:txBody>
          <a:bodyPr/>
          <a:lstStyle/>
          <a:p>
            <a:fld id="{9FB0BF6E-FAFB-46B7-AEE3-3DAA4B58C0A6}" type="slidenum">
              <a:rPr lang="en-IN" smtClean="0"/>
              <a:t>16</a:t>
            </a:fld>
            <a:endParaRPr lang="en-IN"/>
          </a:p>
        </p:txBody>
      </p:sp>
    </p:spTree>
    <p:extLst>
      <p:ext uri="{BB962C8B-B14F-4D97-AF65-F5344CB8AC3E}">
        <p14:creationId xmlns:p14="http://schemas.microsoft.com/office/powerpoint/2010/main" val="20678978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Importance of Learning DS and Algorithm</a:t>
            </a:r>
            <a:endParaRPr lang="en-IN" b="1" dirty="0">
              <a:solidFill>
                <a:srgbClr val="FF0000"/>
              </a:solidFill>
            </a:endParaRPr>
          </a:p>
        </p:txBody>
      </p:sp>
      <p:sp>
        <p:nvSpPr>
          <p:cNvPr id="3" name="Content Placeholder 2"/>
          <p:cNvSpPr>
            <a:spLocks noGrp="1"/>
          </p:cNvSpPr>
          <p:nvPr>
            <p:ph idx="1"/>
          </p:nvPr>
        </p:nvSpPr>
        <p:spPr>
          <a:xfrm>
            <a:off x="467544" y="1700809"/>
            <a:ext cx="8229600" cy="3816424"/>
          </a:xfrm>
        </p:spPr>
        <p:txBody>
          <a:bodyPr>
            <a:normAutofit fontScale="92500"/>
          </a:bodyPr>
          <a:lstStyle/>
          <a:p>
            <a:r>
              <a:rPr lang="en-US" dirty="0" smtClean="0"/>
              <a:t>Most pivotal topics for programmers and computer science graduates.</a:t>
            </a:r>
          </a:p>
          <a:p>
            <a:r>
              <a:rPr lang="en-US" dirty="0" smtClean="0">
                <a:solidFill>
                  <a:srgbClr val="FF0000"/>
                </a:solidFill>
              </a:rPr>
              <a:t>Reduces</a:t>
            </a:r>
            <a:r>
              <a:rPr lang="en-US" dirty="0" smtClean="0"/>
              <a:t> coding cost &amp; </a:t>
            </a:r>
            <a:r>
              <a:rPr lang="en-US" dirty="0" smtClean="0">
                <a:solidFill>
                  <a:srgbClr val="FF0000"/>
                </a:solidFill>
              </a:rPr>
              <a:t>Enhances</a:t>
            </a:r>
            <a:r>
              <a:rPr lang="en-US" dirty="0" smtClean="0"/>
              <a:t> </a:t>
            </a:r>
            <a:r>
              <a:rPr lang="en-US" dirty="0" smtClean="0"/>
              <a:t>data accuracy</a:t>
            </a:r>
          </a:p>
          <a:p>
            <a:r>
              <a:rPr lang="en-US" dirty="0" smtClean="0">
                <a:solidFill>
                  <a:srgbClr val="FF0000"/>
                </a:solidFill>
              </a:rPr>
              <a:t>Improve</a:t>
            </a:r>
            <a:r>
              <a:rPr lang="en-US" dirty="0" smtClean="0"/>
              <a:t> problem solving abilities </a:t>
            </a:r>
          </a:p>
          <a:p>
            <a:r>
              <a:rPr lang="en-US" dirty="0" smtClean="0">
                <a:solidFill>
                  <a:srgbClr val="FF0000"/>
                </a:solidFill>
              </a:rPr>
              <a:t>Expose </a:t>
            </a:r>
            <a:r>
              <a:rPr lang="en-US" dirty="0" smtClean="0"/>
              <a:t>to different problem-solving techniques</a:t>
            </a:r>
          </a:p>
          <a:p>
            <a:r>
              <a:rPr lang="en-US" dirty="0" smtClean="0"/>
              <a:t>Competent in DS can resolve tasks related to </a:t>
            </a:r>
            <a:r>
              <a:rPr lang="en-US" dirty="0" smtClean="0">
                <a:solidFill>
                  <a:srgbClr val="FF0000"/>
                </a:solidFill>
              </a:rPr>
              <a:t>data processing, automated reasoning or calculations</a:t>
            </a:r>
            <a:r>
              <a:rPr lang="en-US" dirty="0" smtClean="0"/>
              <a:t> </a:t>
            </a:r>
            <a:endParaRPr lang="en-IN" dirty="0"/>
          </a:p>
        </p:txBody>
      </p:sp>
      <p:sp>
        <p:nvSpPr>
          <p:cNvPr id="4" name="Slide Number Placeholder 3"/>
          <p:cNvSpPr>
            <a:spLocks noGrp="1"/>
          </p:cNvSpPr>
          <p:nvPr>
            <p:ph type="sldNum" sz="quarter" idx="12"/>
          </p:nvPr>
        </p:nvSpPr>
        <p:spPr/>
        <p:txBody>
          <a:bodyPr/>
          <a:lstStyle/>
          <a:p>
            <a:fld id="{9FB0BF6E-FAFB-46B7-AEE3-3DAA4B58C0A6}" type="slidenum">
              <a:rPr lang="en-IN" smtClean="0"/>
              <a:t>17</a:t>
            </a:fld>
            <a:endParaRPr lang="en-IN"/>
          </a:p>
        </p:txBody>
      </p:sp>
    </p:spTree>
    <p:extLst>
      <p:ext uri="{BB962C8B-B14F-4D97-AF65-F5344CB8AC3E}">
        <p14:creationId xmlns:p14="http://schemas.microsoft.com/office/powerpoint/2010/main" val="7551256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V</a:t>
            </a:r>
            <a:r>
              <a:rPr lang="en-US" dirty="0" smtClean="0"/>
              <a:t>arious stages of algorithm development for solving a problem</a:t>
            </a:r>
            <a:r>
              <a:rPr lang="en-IN" dirty="0" smtClean="0"/>
              <a:t/>
            </a:r>
            <a:br>
              <a:rPr lang="en-IN" dirty="0" smtClean="0"/>
            </a:br>
            <a:endParaRPr lang="en-IN" dirty="0"/>
          </a:p>
        </p:txBody>
      </p:sp>
      <p:sp>
        <p:nvSpPr>
          <p:cNvPr id="3" name="Content Placeholder 2"/>
          <p:cNvSpPr>
            <a:spLocks noGrp="1"/>
          </p:cNvSpPr>
          <p:nvPr>
            <p:ph idx="1"/>
          </p:nvPr>
        </p:nvSpPr>
        <p:spPr>
          <a:xfrm>
            <a:off x="457200" y="1124744"/>
            <a:ext cx="8229600" cy="5544616"/>
          </a:xfrm>
        </p:spPr>
        <p:txBody>
          <a:bodyPr>
            <a:normAutofit fontScale="77500" lnSpcReduction="20000"/>
          </a:bodyPr>
          <a:lstStyle/>
          <a:p>
            <a:endParaRPr lang="en-IN" dirty="0"/>
          </a:p>
          <a:p>
            <a:r>
              <a:rPr lang="en-US" dirty="0"/>
              <a:t> The Four Major Stages of Algorithm Analysis and Design </a:t>
            </a:r>
          </a:p>
          <a:p>
            <a:r>
              <a:rPr lang="en-US" b="1" dirty="0" smtClean="0">
                <a:solidFill>
                  <a:srgbClr val="FF0000"/>
                </a:solidFill>
              </a:rPr>
              <a:t>Design: </a:t>
            </a:r>
            <a:r>
              <a:rPr lang="en-US" dirty="0"/>
              <a:t>The first stage is to identify the problem and thoroughly understand it. </a:t>
            </a:r>
          </a:p>
          <a:p>
            <a:r>
              <a:rPr lang="en-US" b="1" dirty="0">
                <a:solidFill>
                  <a:srgbClr val="FF0000"/>
                </a:solidFill>
              </a:rPr>
              <a:t>Analyze : </a:t>
            </a:r>
            <a:r>
              <a:rPr lang="en-US" dirty="0"/>
              <a:t>Once you have the basic framework of the algorithm it's time to start </a:t>
            </a:r>
            <a:r>
              <a:rPr lang="en-US" dirty="0" smtClean="0"/>
              <a:t>analyzing </a:t>
            </a:r>
            <a:r>
              <a:rPr lang="en-US" dirty="0"/>
              <a:t>how efficient the code is in solving the problem. </a:t>
            </a:r>
          </a:p>
          <a:p>
            <a:r>
              <a:rPr lang="en-US" b="1" dirty="0">
                <a:solidFill>
                  <a:srgbClr val="FF0000"/>
                </a:solidFill>
              </a:rPr>
              <a:t>Implement : </a:t>
            </a:r>
            <a:r>
              <a:rPr lang="en-US" dirty="0"/>
              <a:t>Writing and coding the algorithm is the next step in the process. To write the algorithm efficiently you have to know exactly what each line of code is going to accomplish when the program is executed. </a:t>
            </a:r>
            <a:endParaRPr lang="en-US" dirty="0" smtClean="0"/>
          </a:p>
          <a:p>
            <a:r>
              <a:rPr lang="en-US" b="1" dirty="0">
                <a:solidFill>
                  <a:srgbClr val="FF0000"/>
                </a:solidFill>
              </a:rPr>
              <a:t>Experiment: </a:t>
            </a:r>
            <a:r>
              <a:rPr lang="en-US" dirty="0"/>
              <a:t>Once the algorithm is designed and coded go back and experiment with different variables in the algorithm. Try with different data to ensure correctness and efficiency of the algorithm. </a:t>
            </a:r>
            <a:endParaRPr lang="en-IN" dirty="0"/>
          </a:p>
        </p:txBody>
      </p:sp>
      <p:sp>
        <p:nvSpPr>
          <p:cNvPr id="4" name="Slide Number Placeholder 3"/>
          <p:cNvSpPr>
            <a:spLocks noGrp="1"/>
          </p:cNvSpPr>
          <p:nvPr>
            <p:ph type="sldNum" sz="quarter" idx="12"/>
          </p:nvPr>
        </p:nvSpPr>
        <p:spPr/>
        <p:txBody>
          <a:bodyPr/>
          <a:lstStyle/>
          <a:p>
            <a:fld id="{9FB0BF6E-FAFB-46B7-AEE3-3DAA4B58C0A6}" type="slidenum">
              <a:rPr lang="en-IN" smtClean="0"/>
              <a:t>18</a:t>
            </a:fld>
            <a:endParaRPr lang="en-IN"/>
          </a:p>
        </p:txBody>
      </p:sp>
    </p:spTree>
    <p:extLst>
      <p:ext uri="{BB962C8B-B14F-4D97-AF65-F5344CB8AC3E}">
        <p14:creationId xmlns:p14="http://schemas.microsoft.com/office/powerpoint/2010/main" val="16437593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332656"/>
            <a:ext cx="8686800" cy="5793507"/>
          </a:xfrm>
        </p:spPr>
        <p:txBody>
          <a:bodyPr>
            <a:normAutofit/>
          </a:bodyPr>
          <a:lstStyle/>
          <a:p>
            <a:r>
              <a:rPr lang="en-US" b="1" dirty="0"/>
              <a:t>An Algorithm Development Process</a:t>
            </a:r>
            <a:endParaRPr lang="en-US" dirty="0"/>
          </a:p>
          <a:p>
            <a:r>
              <a:rPr lang="en-US" dirty="0"/>
              <a:t>Step 1: Obtain a </a:t>
            </a:r>
            <a:r>
              <a:rPr lang="en-US" dirty="0">
                <a:solidFill>
                  <a:srgbClr val="FF0000"/>
                </a:solidFill>
              </a:rPr>
              <a:t>description</a:t>
            </a:r>
            <a:r>
              <a:rPr lang="en-US" dirty="0"/>
              <a:t> of the problem. This step is much more difficult than it appears</a:t>
            </a:r>
            <a:r>
              <a:rPr lang="en-US" dirty="0" smtClean="0"/>
              <a:t>.</a:t>
            </a:r>
            <a:endParaRPr lang="en-US" dirty="0"/>
          </a:p>
          <a:p>
            <a:r>
              <a:rPr lang="en-US" dirty="0"/>
              <a:t>Step 2:</a:t>
            </a:r>
            <a:r>
              <a:rPr lang="en-US" dirty="0">
                <a:solidFill>
                  <a:srgbClr val="FF0000"/>
                </a:solidFill>
              </a:rPr>
              <a:t> Analyze </a:t>
            </a:r>
            <a:r>
              <a:rPr lang="en-US" dirty="0"/>
              <a:t>the problem. </a:t>
            </a:r>
          </a:p>
          <a:p>
            <a:r>
              <a:rPr lang="en-US" dirty="0"/>
              <a:t>Step 3:</a:t>
            </a:r>
            <a:r>
              <a:rPr lang="en-US" dirty="0">
                <a:solidFill>
                  <a:srgbClr val="FF0000"/>
                </a:solidFill>
              </a:rPr>
              <a:t> Develop </a:t>
            </a:r>
            <a:r>
              <a:rPr lang="en-US" dirty="0"/>
              <a:t>a high-level algorithm</a:t>
            </a:r>
            <a:r>
              <a:rPr lang="en-US" dirty="0" smtClean="0"/>
              <a:t>.</a:t>
            </a:r>
            <a:endParaRPr lang="en-US" dirty="0"/>
          </a:p>
          <a:p>
            <a:r>
              <a:rPr lang="en-US" dirty="0"/>
              <a:t>Step 4: </a:t>
            </a:r>
            <a:r>
              <a:rPr lang="en-US" dirty="0">
                <a:solidFill>
                  <a:srgbClr val="FF0000"/>
                </a:solidFill>
              </a:rPr>
              <a:t>Refine</a:t>
            </a:r>
            <a:r>
              <a:rPr lang="en-US" dirty="0"/>
              <a:t> the algorithm by adding more detail. </a:t>
            </a:r>
          </a:p>
          <a:p>
            <a:r>
              <a:rPr lang="en-US" dirty="0"/>
              <a:t>Step 5: </a:t>
            </a:r>
            <a:r>
              <a:rPr lang="en-US" dirty="0">
                <a:solidFill>
                  <a:srgbClr val="FF0000"/>
                </a:solidFill>
              </a:rPr>
              <a:t>Review</a:t>
            </a:r>
            <a:r>
              <a:rPr lang="en-US" dirty="0"/>
              <a:t> the algorithm.</a:t>
            </a:r>
          </a:p>
          <a:p>
            <a:endParaRPr lang="en-IN" dirty="0"/>
          </a:p>
        </p:txBody>
      </p:sp>
      <p:sp>
        <p:nvSpPr>
          <p:cNvPr id="2" name="Slide Number Placeholder 1"/>
          <p:cNvSpPr>
            <a:spLocks noGrp="1"/>
          </p:cNvSpPr>
          <p:nvPr>
            <p:ph type="sldNum" sz="quarter" idx="12"/>
          </p:nvPr>
        </p:nvSpPr>
        <p:spPr/>
        <p:txBody>
          <a:bodyPr/>
          <a:lstStyle/>
          <a:p>
            <a:fld id="{9FB0BF6E-FAFB-46B7-AEE3-3DAA4B58C0A6}" type="slidenum">
              <a:rPr lang="en-IN" smtClean="0"/>
              <a:t>19</a:t>
            </a:fld>
            <a:endParaRPr lang="en-IN"/>
          </a:p>
        </p:txBody>
      </p:sp>
    </p:spTree>
    <p:extLst>
      <p:ext uri="{BB962C8B-B14F-4D97-AF65-F5344CB8AC3E}">
        <p14:creationId xmlns:p14="http://schemas.microsoft.com/office/powerpoint/2010/main" val="20904560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FB0BF6E-FAFB-46B7-AEE3-3DAA4B58C0A6}" type="slidenum">
              <a:rPr lang="en-IN" smtClean="0"/>
              <a:t>20</a:t>
            </a:fld>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28650"/>
            <a:ext cx="9036496" cy="5600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637387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8058"/>
          </a:xfrm>
        </p:spPr>
        <p:txBody>
          <a:bodyPr>
            <a:normAutofit fontScale="90000"/>
          </a:bodyPr>
          <a:lstStyle/>
          <a:p>
            <a:r>
              <a:rPr lang="en-US" dirty="0" smtClean="0"/>
              <a:t>Stages of Algorithm development</a:t>
            </a:r>
            <a:endParaRPr lang="en-IN" dirty="0"/>
          </a:p>
        </p:txBody>
      </p:sp>
      <p:sp>
        <p:nvSpPr>
          <p:cNvPr id="4" name="Slide Number Placeholder 3"/>
          <p:cNvSpPr>
            <a:spLocks noGrp="1"/>
          </p:cNvSpPr>
          <p:nvPr>
            <p:ph type="sldNum" sz="quarter" idx="12"/>
          </p:nvPr>
        </p:nvSpPr>
        <p:spPr/>
        <p:txBody>
          <a:bodyPr/>
          <a:lstStyle/>
          <a:p>
            <a:fld id="{9FB0BF6E-FAFB-46B7-AEE3-3DAA4B58C0A6}" type="slidenum">
              <a:rPr lang="en-IN" smtClean="0"/>
              <a:t>21</a:t>
            </a:fld>
            <a:endParaRPr lang="en-IN"/>
          </a:p>
        </p:txBody>
      </p:sp>
      <p:pic>
        <p:nvPicPr>
          <p:cNvPr id="5" name="Content Placeholder 4">
            <a:extLst>
              <a:ext uri="{FF2B5EF4-FFF2-40B4-BE49-F238E27FC236}">
                <a16:creationId xmlns="" xmlns:a16="http://schemas.microsoft.com/office/drawing/2014/main" id="{00A99BF3-8556-45C0-9C71-601842BFD01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03648" y="747486"/>
            <a:ext cx="6048672" cy="6110514"/>
          </a:xfrm>
          <a:prstGeom prst="rect">
            <a:avLst/>
          </a:prstGeom>
        </p:spPr>
      </p:pic>
    </p:spTree>
    <p:extLst>
      <p:ext uri="{BB962C8B-B14F-4D97-AF65-F5344CB8AC3E}">
        <p14:creationId xmlns:p14="http://schemas.microsoft.com/office/powerpoint/2010/main" val="256773912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6F2212C2-25C3-423F-91C7-7EDCD4999DC8}"/>
              </a:ext>
            </a:extLst>
          </p:cNvPr>
          <p:cNvSpPr>
            <a:spLocks noGrp="1"/>
          </p:cNvSpPr>
          <p:nvPr>
            <p:ph type="title"/>
          </p:nvPr>
        </p:nvSpPr>
        <p:spPr>
          <a:xfrm>
            <a:off x="19950" y="101521"/>
            <a:ext cx="6447501" cy="1320800"/>
          </a:xfrm>
        </p:spPr>
        <p:txBody>
          <a:bodyPr>
            <a:normAutofit fontScale="90000"/>
          </a:bodyPr>
          <a:lstStyle/>
          <a:p>
            <a:r>
              <a:rPr lang="en-US" dirty="0">
                <a:solidFill>
                  <a:srgbClr val="FF0000"/>
                </a:solidFill>
              </a:rPr>
              <a:t>Understanding the problem: </a:t>
            </a:r>
            <a:r>
              <a:rPr kumimoji="0" lang="en-IN" sz="4400" b="0" i="0" u="none" strike="noStrike" kern="1200" cap="none" spc="0" normalizeH="0" baseline="0" noProof="0" dirty="0">
                <a:ln>
                  <a:noFill/>
                </a:ln>
                <a:solidFill>
                  <a:srgbClr val="FF0000"/>
                </a:solidFill>
                <a:effectLst/>
                <a:uLnTx/>
                <a:uFillTx/>
                <a:latin typeface="Calibri" panose="020F0502020204030204"/>
                <a:ea typeface="+mn-ea"/>
                <a:cs typeface="+mn-cs"/>
              </a:rPr>
              <a:t/>
            </a:r>
            <a:br>
              <a:rPr kumimoji="0" lang="en-IN" sz="4400" b="0" i="0" u="none" strike="noStrike" kern="1200" cap="none" spc="0" normalizeH="0" baseline="0" noProof="0" dirty="0">
                <a:ln>
                  <a:noFill/>
                </a:ln>
                <a:solidFill>
                  <a:srgbClr val="FF0000"/>
                </a:solidFill>
                <a:effectLst/>
                <a:uLnTx/>
                <a:uFillTx/>
                <a:latin typeface="Calibri" panose="020F0502020204030204"/>
                <a:ea typeface="+mn-ea"/>
                <a:cs typeface="+mn-cs"/>
              </a:rPr>
            </a:br>
            <a:endParaRPr lang="en-IN" dirty="0">
              <a:solidFill>
                <a:srgbClr val="FF0000"/>
              </a:solidFill>
            </a:endParaRPr>
          </a:p>
        </p:txBody>
      </p:sp>
      <p:sp>
        <p:nvSpPr>
          <p:cNvPr id="4" name="TextBox 3">
            <a:extLst>
              <a:ext uri="{FF2B5EF4-FFF2-40B4-BE49-F238E27FC236}">
                <a16:creationId xmlns="" xmlns:a16="http://schemas.microsoft.com/office/drawing/2014/main" id="{1217BE51-716D-48E0-833E-1AFCDA5F22E1}"/>
              </a:ext>
            </a:extLst>
          </p:cNvPr>
          <p:cNvSpPr txBox="1"/>
          <p:nvPr/>
        </p:nvSpPr>
        <p:spPr>
          <a:xfrm>
            <a:off x="251520" y="983322"/>
            <a:ext cx="8712968" cy="5632311"/>
          </a:xfrm>
          <a:prstGeom prst="rect">
            <a:avLst/>
          </a:prstGeom>
          <a:noFill/>
        </p:spPr>
        <p:txBody>
          <a:bodyPr wrap="square">
            <a:spAutoFit/>
          </a:bodyPr>
          <a:lstStyle/>
          <a:p>
            <a:pPr algn="just">
              <a:lnSpc>
                <a:spcPct val="200000"/>
              </a:lnSpc>
            </a:pPr>
            <a:r>
              <a:rPr lang="en-US" sz="3600" dirty="0"/>
              <a:t>Read the problem’s description carefully and ask questions if you have any doubts about the problem. An input to an algorithm specifies an instance of the problem the algorithm solves.</a:t>
            </a:r>
            <a:endParaRPr lang="en-IN" sz="3600" dirty="0"/>
          </a:p>
        </p:txBody>
      </p:sp>
      <p:grpSp>
        <p:nvGrpSpPr>
          <p:cNvPr id="5" name="Google Shape;181;p25">
            <a:extLst>
              <a:ext uri="{FF2B5EF4-FFF2-40B4-BE49-F238E27FC236}">
                <a16:creationId xmlns="" xmlns:a16="http://schemas.microsoft.com/office/drawing/2014/main" id="{D3EFBCF2-2EE6-4AD8-BF6A-9AEF492F8E1A}"/>
              </a:ext>
            </a:extLst>
          </p:cNvPr>
          <p:cNvGrpSpPr/>
          <p:nvPr/>
        </p:nvGrpSpPr>
        <p:grpSpPr>
          <a:xfrm>
            <a:off x="6670410" y="394957"/>
            <a:ext cx="989705" cy="1466264"/>
            <a:chOff x="1937772" y="1600603"/>
            <a:chExt cx="3088439" cy="3431676"/>
          </a:xfrm>
        </p:grpSpPr>
        <p:grpSp>
          <p:nvGrpSpPr>
            <p:cNvPr id="7" name="Google Shape;182;p25">
              <a:extLst>
                <a:ext uri="{FF2B5EF4-FFF2-40B4-BE49-F238E27FC236}">
                  <a16:creationId xmlns="" xmlns:a16="http://schemas.microsoft.com/office/drawing/2014/main" id="{089B3416-CE2D-4F25-804C-8268307D18C9}"/>
                </a:ext>
              </a:extLst>
            </p:cNvPr>
            <p:cNvGrpSpPr/>
            <p:nvPr/>
          </p:nvGrpSpPr>
          <p:grpSpPr>
            <a:xfrm rot="10800000">
              <a:off x="2654236" y="2231046"/>
              <a:ext cx="1641920" cy="2801233"/>
              <a:chOff x="8323516" y="1636395"/>
              <a:chExt cx="2070734" cy="3532822"/>
            </a:xfrm>
          </p:grpSpPr>
          <p:sp>
            <p:nvSpPr>
              <p:cNvPr id="17" name="Google Shape;183;p25">
                <a:extLst>
                  <a:ext uri="{FF2B5EF4-FFF2-40B4-BE49-F238E27FC236}">
                    <a16:creationId xmlns="" xmlns:a16="http://schemas.microsoft.com/office/drawing/2014/main" id="{BA5527F0-B534-4505-82D5-C92C26BB7BCF}"/>
                  </a:ext>
                </a:extLst>
              </p:cNvPr>
              <p:cNvSpPr/>
              <p:nvPr/>
            </p:nvSpPr>
            <p:spPr>
              <a:xfrm>
                <a:off x="8323516" y="2619375"/>
                <a:ext cx="2070734" cy="2540317"/>
              </a:xfrm>
              <a:custGeom>
                <a:avLst/>
                <a:gdLst/>
                <a:ahLst/>
                <a:cxnLst/>
                <a:rect l="l" t="t" r="r" b="b"/>
                <a:pathLst>
                  <a:path w="2070734" h="2540317" extrusionOk="0">
                    <a:moveTo>
                      <a:pt x="1035368" y="2540318"/>
                    </a:moveTo>
                    <a:cubicBezTo>
                      <a:pt x="1606868" y="2540318"/>
                      <a:pt x="2070735" y="2076450"/>
                      <a:pt x="2070735" y="1504950"/>
                    </a:cubicBezTo>
                    <a:cubicBezTo>
                      <a:pt x="2070735" y="1214438"/>
                      <a:pt x="1950720" y="952500"/>
                      <a:pt x="1758315" y="763905"/>
                    </a:cubicBezTo>
                    <a:cubicBezTo>
                      <a:pt x="1668780" y="669607"/>
                      <a:pt x="1580197" y="561022"/>
                      <a:pt x="1566862" y="347663"/>
                    </a:cubicBezTo>
                    <a:cubicBezTo>
                      <a:pt x="1555433" y="158115"/>
                      <a:pt x="1565910" y="52388"/>
                      <a:pt x="1450658" y="0"/>
                    </a:cubicBezTo>
                    <a:lnTo>
                      <a:pt x="620078" y="0"/>
                    </a:lnTo>
                    <a:cubicBezTo>
                      <a:pt x="505778" y="52388"/>
                      <a:pt x="515303" y="158115"/>
                      <a:pt x="504825" y="347663"/>
                    </a:cubicBezTo>
                    <a:cubicBezTo>
                      <a:pt x="493395" y="548640"/>
                      <a:pt x="407670" y="661035"/>
                      <a:pt x="325755" y="750570"/>
                    </a:cubicBezTo>
                    <a:cubicBezTo>
                      <a:pt x="125730" y="939165"/>
                      <a:pt x="0" y="1206818"/>
                      <a:pt x="0" y="1503998"/>
                    </a:cubicBezTo>
                    <a:cubicBezTo>
                      <a:pt x="0" y="2076450"/>
                      <a:pt x="463868" y="2540318"/>
                      <a:pt x="1035368" y="2540318"/>
                    </a:cubicBez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 name="Google Shape;184;p25">
                <a:extLst>
                  <a:ext uri="{FF2B5EF4-FFF2-40B4-BE49-F238E27FC236}">
                    <a16:creationId xmlns="" xmlns:a16="http://schemas.microsoft.com/office/drawing/2014/main" id="{FCFD45E3-8083-4C07-9B95-C28A034E3A08}"/>
                  </a:ext>
                </a:extLst>
              </p:cNvPr>
              <p:cNvSpPr/>
              <p:nvPr/>
            </p:nvSpPr>
            <p:spPr>
              <a:xfrm>
                <a:off x="8880728" y="2304097"/>
                <a:ext cx="930592" cy="105727"/>
              </a:xfrm>
              <a:custGeom>
                <a:avLst/>
                <a:gdLst/>
                <a:ahLst/>
                <a:cxnLst/>
                <a:rect l="l" t="t" r="r" b="b"/>
                <a:pathLst>
                  <a:path w="930592" h="105727" extrusionOk="0">
                    <a:moveTo>
                      <a:pt x="0" y="78105"/>
                    </a:moveTo>
                    <a:cubicBezTo>
                      <a:pt x="0" y="62865"/>
                      <a:pt x="11430" y="51435"/>
                      <a:pt x="25718" y="51435"/>
                    </a:cubicBezTo>
                    <a:lnTo>
                      <a:pt x="902970" y="0"/>
                    </a:lnTo>
                    <a:cubicBezTo>
                      <a:pt x="918210" y="0"/>
                      <a:pt x="930593" y="12383"/>
                      <a:pt x="930593" y="26670"/>
                    </a:cubicBezTo>
                    <a:lnTo>
                      <a:pt x="930593" y="27623"/>
                    </a:lnTo>
                    <a:cubicBezTo>
                      <a:pt x="930593" y="42863"/>
                      <a:pt x="917258" y="54293"/>
                      <a:pt x="902970" y="54293"/>
                    </a:cubicBezTo>
                    <a:lnTo>
                      <a:pt x="26670" y="105728"/>
                    </a:lnTo>
                    <a:cubicBezTo>
                      <a:pt x="11430" y="105728"/>
                      <a:pt x="0" y="93345"/>
                      <a:pt x="0" y="79058"/>
                    </a:cubicBezTo>
                    <a:lnTo>
                      <a:pt x="0" y="78105"/>
                    </a:lnTo>
                    <a:close/>
                  </a:path>
                </a:pathLst>
              </a:custGeom>
              <a:solidFill>
                <a:srgbClr val="9E9E9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 name="Google Shape;185;p25">
                <a:extLst>
                  <a:ext uri="{FF2B5EF4-FFF2-40B4-BE49-F238E27FC236}">
                    <a16:creationId xmlns="" xmlns:a16="http://schemas.microsoft.com/office/drawing/2014/main" id="{967722C5-E580-4E8A-9907-C0CE1F52638A}"/>
                  </a:ext>
                </a:extLst>
              </p:cNvPr>
              <p:cNvSpPr/>
              <p:nvPr/>
            </p:nvSpPr>
            <p:spPr>
              <a:xfrm>
                <a:off x="8884538" y="2357437"/>
                <a:ext cx="931545" cy="105727"/>
              </a:xfrm>
              <a:custGeom>
                <a:avLst/>
                <a:gdLst/>
                <a:ahLst/>
                <a:cxnLst/>
                <a:rect l="l" t="t" r="r" b="b"/>
                <a:pathLst>
                  <a:path w="931545" h="105727" extrusionOk="0">
                    <a:moveTo>
                      <a:pt x="0" y="78105"/>
                    </a:moveTo>
                    <a:cubicBezTo>
                      <a:pt x="0" y="62865"/>
                      <a:pt x="9525" y="51435"/>
                      <a:pt x="24765" y="51435"/>
                    </a:cubicBezTo>
                    <a:lnTo>
                      <a:pt x="902970" y="0"/>
                    </a:lnTo>
                    <a:cubicBezTo>
                      <a:pt x="918210" y="0"/>
                      <a:pt x="931545" y="12383"/>
                      <a:pt x="931545" y="26670"/>
                    </a:cubicBezTo>
                    <a:lnTo>
                      <a:pt x="931545" y="27622"/>
                    </a:lnTo>
                    <a:cubicBezTo>
                      <a:pt x="931545" y="42863"/>
                      <a:pt x="917258" y="54292"/>
                      <a:pt x="902018" y="54292"/>
                    </a:cubicBezTo>
                    <a:lnTo>
                      <a:pt x="26670" y="105728"/>
                    </a:lnTo>
                    <a:cubicBezTo>
                      <a:pt x="11430" y="105728"/>
                      <a:pt x="952" y="93345"/>
                      <a:pt x="952" y="79058"/>
                    </a:cubicBezTo>
                    <a:lnTo>
                      <a:pt x="952" y="78105"/>
                    </a:lnTo>
                    <a:close/>
                  </a:path>
                </a:pathLst>
              </a:custGeom>
              <a:solidFill>
                <a:srgbClr val="CC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 name="Google Shape;186;p25">
                <a:extLst>
                  <a:ext uri="{FF2B5EF4-FFF2-40B4-BE49-F238E27FC236}">
                    <a16:creationId xmlns="" xmlns:a16="http://schemas.microsoft.com/office/drawing/2014/main" id="{14FFA37C-2CCA-47AB-894F-8CFB9A22EA02}"/>
                  </a:ext>
                </a:extLst>
              </p:cNvPr>
              <p:cNvSpPr/>
              <p:nvPr/>
            </p:nvSpPr>
            <p:spPr>
              <a:xfrm>
                <a:off x="8862312" y="1789747"/>
                <a:ext cx="968633" cy="351613"/>
              </a:xfrm>
              <a:custGeom>
                <a:avLst/>
                <a:gdLst/>
                <a:ahLst/>
                <a:cxnLst/>
                <a:rect l="l" t="t" r="r" b="b"/>
                <a:pathLst>
                  <a:path w="968633" h="351613" extrusionOk="0">
                    <a:moveTo>
                      <a:pt x="240348" y="0"/>
                    </a:moveTo>
                    <a:lnTo>
                      <a:pt x="739458" y="0"/>
                    </a:lnTo>
                    <a:cubicBezTo>
                      <a:pt x="950913" y="162878"/>
                      <a:pt x="967106" y="248603"/>
                      <a:pt x="967106" y="248603"/>
                    </a:cubicBezTo>
                    <a:cubicBezTo>
                      <a:pt x="975678" y="281940"/>
                      <a:pt x="947103" y="303848"/>
                      <a:pt x="908051" y="301943"/>
                    </a:cubicBezTo>
                    <a:lnTo>
                      <a:pt x="65088" y="351473"/>
                    </a:lnTo>
                    <a:cubicBezTo>
                      <a:pt x="26036" y="354330"/>
                      <a:pt x="-15874" y="313373"/>
                      <a:pt x="6033" y="247650"/>
                    </a:cubicBezTo>
                    <a:cubicBezTo>
                      <a:pt x="6986" y="248603"/>
                      <a:pt x="36513" y="143828"/>
                      <a:pt x="240348" y="0"/>
                    </a:cubicBezTo>
                    <a:close/>
                  </a:path>
                </a:pathLst>
              </a:custGeom>
              <a:solidFill>
                <a:srgbClr val="CC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1" name="Google Shape;187;p25">
                <a:extLst>
                  <a:ext uri="{FF2B5EF4-FFF2-40B4-BE49-F238E27FC236}">
                    <a16:creationId xmlns="" xmlns:a16="http://schemas.microsoft.com/office/drawing/2014/main" id="{9AEC6C86-9FB7-4A78-9FAA-270E40B6766C}"/>
                  </a:ext>
                </a:extLst>
              </p:cNvPr>
              <p:cNvSpPr/>
              <p:nvPr/>
            </p:nvSpPr>
            <p:spPr>
              <a:xfrm>
                <a:off x="8882633" y="2410777"/>
                <a:ext cx="931544" cy="105727"/>
              </a:xfrm>
              <a:custGeom>
                <a:avLst/>
                <a:gdLst/>
                <a:ahLst/>
                <a:cxnLst/>
                <a:rect l="l" t="t" r="r" b="b"/>
                <a:pathLst>
                  <a:path w="931544" h="105727" extrusionOk="0">
                    <a:moveTo>
                      <a:pt x="0" y="78105"/>
                    </a:moveTo>
                    <a:cubicBezTo>
                      <a:pt x="0" y="62865"/>
                      <a:pt x="10477" y="51435"/>
                      <a:pt x="25717" y="51435"/>
                    </a:cubicBezTo>
                    <a:lnTo>
                      <a:pt x="903922" y="0"/>
                    </a:lnTo>
                    <a:cubicBezTo>
                      <a:pt x="919163" y="0"/>
                      <a:pt x="931545" y="12382"/>
                      <a:pt x="931545" y="26670"/>
                    </a:cubicBezTo>
                    <a:lnTo>
                      <a:pt x="931545" y="27622"/>
                    </a:lnTo>
                    <a:cubicBezTo>
                      <a:pt x="931545" y="42863"/>
                      <a:pt x="918210" y="54292"/>
                      <a:pt x="902970" y="54292"/>
                    </a:cubicBezTo>
                    <a:lnTo>
                      <a:pt x="26670" y="105728"/>
                    </a:lnTo>
                    <a:cubicBezTo>
                      <a:pt x="11430" y="105728"/>
                      <a:pt x="952" y="93345"/>
                      <a:pt x="952" y="79057"/>
                    </a:cubicBezTo>
                    <a:lnTo>
                      <a:pt x="952" y="78105"/>
                    </a:lnTo>
                    <a:close/>
                  </a:path>
                </a:pathLst>
              </a:custGeom>
              <a:solidFill>
                <a:srgbClr val="9E9E9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2" name="Google Shape;188;p25">
                <a:extLst>
                  <a:ext uri="{FF2B5EF4-FFF2-40B4-BE49-F238E27FC236}">
                    <a16:creationId xmlns="" xmlns:a16="http://schemas.microsoft.com/office/drawing/2014/main" id="{818D3C50-DE51-48C2-A39B-F1F4C285A74A}"/>
                  </a:ext>
                </a:extLst>
              </p:cNvPr>
              <p:cNvSpPr/>
              <p:nvPr/>
            </p:nvSpPr>
            <p:spPr>
              <a:xfrm>
                <a:off x="8880728" y="2249804"/>
                <a:ext cx="930592" cy="105727"/>
              </a:xfrm>
              <a:custGeom>
                <a:avLst/>
                <a:gdLst/>
                <a:ahLst/>
                <a:cxnLst/>
                <a:rect l="l" t="t" r="r" b="b"/>
                <a:pathLst>
                  <a:path w="930592" h="105727" extrusionOk="0">
                    <a:moveTo>
                      <a:pt x="0" y="78105"/>
                    </a:moveTo>
                    <a:cubicBezTo>
                      <a:pt x="0" y="62865"/>
                      <a:pt x="11430" y="51435"/>
                      <a:pt x="25718" y="51435"/>
                    </a:cubicBezTo>
                    <a:lnTo>
                      <a:pt x="902970" y="0"/>
                    </a:lnTo>
                    <a:cubicBezTo>
                      <a:pt x="918210" y="0"/>
                      <a:pt x="930593" y="12383"/>
                      <a:pt x="930593" y="26670"/>
                    </a:cubicBezTo>
                    <a:lnTo>
                      <a:pt x="930593" y="27623"/>
                    </a:lnTo>
                    <a:cubicBezTo>
                      <a:pt x="930593" y="42863"/>
                      <a:pt x="917258" y="54292"/>
                      <a:pt x="902970" y="54292"/>
                    </a:cubicBezTo>
                    <a:lnTo>
                      <a:pt x="26670" y="105728"/>
                    </a:lnTo>
                    <a:cubicBezTo>
                      <a:pt x="11430" y="105728"/>
                      <a:pt x="0" y="93345"/>
                      <a:pt x="0" y="79058"/>
                    </a:cubicBezTo>
                    <a:lnTo>
                      <a:pt x="0" y="78105"/>
                    </a:lnTo>
                    <a:close/>
                  </a:path>
                </a:pathLst>
              </a:custGeom>
              <a:solidFill>
                <a:srgbClr val="CC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 name="Google Shape;189;p25">
                <a:extLst>
                  <a:ext uri="{FF2B5EF4-FFF2-40B4-BE49-F238E27FC236}">
                    <a16:creationId xmlns="" xmlns:a16="http://schemas.microsoft.com/office/drawing/2014/main" id="{C2B25E74-5D0C-44DD-80F2-8A9B0C58204A}"/>
                  </a:ext>
                </a:extLst>
              </p:cNvPr>
              <p:cNvSpPr/>
              <p:nvPr/>
            </p:nvSpPr>
            <p:spPr>
              <a:xfrm>
                <a:off x="8880728" y="2194559"/>
                <a:ext cx="930592" cy="105727"/>
              </a:xfrm>
              <a:custGeom>
                <a:avLst/>
                <a:gdLst/>
                <a:ahLst/>
                <a:cxnLst/>
                <a:rect l="l" t="t" r="r" b="b"/>
                <a:pathLst>
                  <a:path w="930592" h="105727" extrusionOk="0">
                    <a:moveTo>
                      <a:pt x="0" y="78105"/>
                    </a:moveTo>
                    <a:cubicBezTo>
                      <a:pt x="0" y="62865"/>
                      <a:pt x="11430" y="51435"/>
                      <a:pt x="25718" y="51435"/>
                    </a:cubicBezTo>
                    <a:lnTo>
                      <a:pt x="902970" y="0"/>
                    </a:lnTo>
                    <a:cubicBezTo>
                      <a:pt x="918210" y="0"/>
                      <a:pt x="930593" y="12383"/>
                      <a:pt x="930593" y="26670"/>
                    </a:cubicBezTo>
                    <a:lnTo>
                      <a:pt x="930593" y="27623"/>
                    </a:lnTo>
                    <a:cubicBezTo>
                      <a:pt x="930593" y="42863"/>
                      <a:pt x="917258" y="54293"/>
                      <a:pt x="902970" y="54293"/>
                    </a:cubicBezTo>
                    <a:lnTo>
                      <a:pt x="26670" y="105728"/>
                    </a:lnTo>
                    <a:cubicBezTo>
                      <a:pt x="11430" y="105728"/>
                      <a:pt x="0" y="93345"/>
                      <a:pt x="0" y="79058"/>
                    </a:cubicBezTo>
                    <a:lnTo>
                      <a:pt x="0" y="78105"/>
                    </a:lnTo>
                    <a:close/>
                  </a:path>
                </a:pathLst>
              </a:custGeom>
              <a:solidFill>
                <a:srgbClr val="9E9E9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4" name="Google Shape;190;p25">
                <a:extLst>
                  <a:ext uri="{FF2B5EF4-FFF2-40B4-BE49-F238E27FC236}">
                    <a16:creationId xmlns="" xmlns:a16="http://schemas.microsoft.com/office/drawing/2014/main" id="{94A86CA4-2D3C-4C63-BF8D-E9977D859B31}"/>
                  </a:ext>
                </a:extLst>
              </p:cNvPr>
              <p:cNvSpPr/>
              <p:nvPr/>
            </p:nvSpPr>
            <p:spPr>
              <a:xfrm>
                <a:off x="8880728" y="2142172"/>
                <a:ext cx="930592" cy="105727"/>
              </a:xfrm>
              <a:custGeom>
                <a:avLst/>
                <a:gdLst/>
                <a:ahLst/>
                <a:cxnLst/>
                <a:rect l="l" t="t" r="r" b="b"/>
                <a:pathLst>
                  <a:path w="930592" h="105727" extrusionOk="0">
                    <a:moveTo>
                      <a:pt x="0" y="78105"/>
                    </a:moveTo>
                    <a:cubicBezTo>
                      <a:pt x="0" y="62865"/>
                      <a:pt x="11430" y="51435"/>
                      <a:pt x="25718" y="51435"/>
                    </a:cubicBezTo>
                    <a:lnTo>
                      <a:pt x="902970" y="0"/>
                    </a:lnTo>
                    <a:cubicBezTo>
                      <a:pt x="918210" y="0"/>
                      <a:pt x="930593" y="12383"/>
                      <a:pt x="930593" y="26670"/>
                    </a:cubicBezTo>
                    <a:lnTo>
                      <a:pt x="930593" y="27623"/>
                    </a:lnTo>
                    <a:cubicBezTo>
                      <a:pt x="930593" y="42863"/>
                      <a:pt x="917258" y="54293"/>
                      <a:pt x="902970" y="54293"/>
                    </a:cubicBezTo>
                    <a:lnTo>
                      <a:pt x="26670" y="105728"/>
                    </a:lnTo>
                    <a:cubicBezTo>
                      <a:pt x="11430" y="105728"/>
                      <a:pt x="0" y="93345"/>
                      <a:pt x="0" y="79058"/>
                    </a:cubicBezTo>
                    <a:lnTo>
                      <a:pt x="0" y="78105"/>
                    </a:lnTo>
                    <a:close/>
                  </a:path>
                </a:pathLst>
              </a:custGeom>
              <a:solidFill>
                <a:srgbClr val="CC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5" name="Google Shape;191;p25">
                <a:extLst>
                  <a:ext uri="{FF2B5EF4-FFF2-40B4-BE49-F238E27FC236}">
                    <a16:creationId xmlns="" xmlns:a16="http://schemas.microsoft.com/office/drawing/2014/main" id="{F88869D0-163C-4769-8627-895BA4788873}"/>
                  </a:ext>
                </a:extLst>
              </p:cNvPr>
              <p:cNvSpPr/>
              <p:nvPr/>
            </p:nvSpPr>
            <p:spPr>
              <a:xfrm>
                <a:off x="8880728" y="2089784"/>
                <a:ext cx="930592" cy="105727"/>
              </a:xfrm>
              <a:custGeom>
                <a:avLst/>
                <a:gdLst/>
                <a:ahLst/>
                <a:cxnLst/>
                <a:rect l="l" t="t" r="r" b="b"/>
                <a:pathLst>
                  <a:path w="930592" h="105727" extrusionOk="0">
                    <a:moveTo>
                      <a:pt x="0" y="78105"/>
                    </a:moveTo>
                    <a:cubicBezTo>
                      <a:pt x="0" y="62865"/>
                      <a:pt x="11430" y="51435"/>
                      <a:pt x="25718" y="51435"/>
                    </a:cubicBezTo>
                    <a:lnTo>
                      <a:pt x="902970" y="0"/>
                    </a:lnTo>
                    <a:cubicBezTo>
                      <a:pt x="918210" y="0"/>
                      <a:pt x="930593" y="12383"/>
                      <a:pt x="930593" y="26670"/>
                    </a:cubicBezTo>
                    <a:lnTo>
                      <a:pt x="930593" y="27623"/>
                    </a:lnTo>
                    <a:cubicBezTo>
                      <a:pt x="930593" y="42863"/>
                      <a:pt x="917258" y="54293"/>
                      <a:pt x="902970" y="54293"/>
                    </a:cubicBezTo>
                    <a:lnTo>
                      <a:pt x="26670" y="105728"/>
                    </a:lnTo>
                    <a:cubicBezTo>
                      <a:pt x="11430" y="105728"/>
                      <a:pt x="0" y="93345"/>
                      <a:pt x="0" y="79058"/>
                    </a:cubicBezTo>
                    <a:lnTo>
                      <a:pt x="0" y="78105"/>
                    </a:lnTo>
                    <a:close/>
                  </a:path>
                </a:pathLst>
              </a:custGeom>
              <a:solidFill>
                <a:srgbClr val="9E9E9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6" name="Google Shape;192;p25">
                <a:extLst>
                  <a:ext uri="{FF2B5EF4-FFF2-40B4-BE49-F238E27FC236}">
                    <a16:creationId xmlns="" xmlns:a16="http://schemas.microsoft.com/office/drawing/2014/main" id="{F5522179-99FC-43F6-A563-E4162F676DA1}"/>
                  </a:ext>
                </a:extLst>
              </p:cNvPr>
              <p:cNvSpPr/>
              <p:nvPr/>
            </p:nvSpPr>
            <p:spPr>
              <a:xfrm>
                <a:off x="9103613" y="1636395"/>
                <a:ext cx="497204" cy="159565"/>
              </a:xfrm>
              <a:custGeom>
                <a:avLst/>
                <a:gdLst/>
                <a:ahLst/>
                <a:cxnLst/>
                <a:rect l="l" t="t" r="r" b="b"/>
                <a:pathLst>
                  <a:path w="497204" h="159565" extrusionOk="0">
                    <a:moveTo>
                      <a:pt x="0" y="150495"/>
                    </a:moveTo>
                    <a:cubicBezTo>
                      <a:pt x="0" y="117158"/>
                      <a:pt x="111442" y="0"/>
                      <a:pt x="248602" y="0"/>
                    </a:cubicBezTo>
                    <a:cubicBezTo>
                      <a:pt x="385763" y="0"/>
                      <a:pt x="497205" y="117158"/>
                      <a:pt x="497205" y="150495"/>
                    </a:cubicBezTo>
                    <a:cubicBezTo>
                      <a:pt x="497205" y="165735"/>
                      <a:pt x="384810" y="157163"/>
                      <a:pt x="246697" y="157163"/>
                    </a:cubicBezTo>
                    <a:cubicBezTo>
                      <a:pt x="110490" y="158115"/>
                      <a:pt x="0" y="164783"/>
                      <a:pt x="0" y="150495"/>
                    </a:cubicBezTo>
                    <a:close/>
                  </a:path>
                </a:pathLst>
              </a:custGeom>
              <a:solidFill>
                <a:srgbClr val="54545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7" name="Google Shape;193;p25">
                <a:extLst>
                  <a:ext uri="{FF2B5EF4-FFF2-40B4-BE49-F238E27FC236}">
                    <a16:creationId xmlns="" xmlns:a16="http://schemas.microsoft.com/office/drawing/2014/main" id="{BFDAE67A-A0DB-4A9F-B846-AD7C74B15E3B}"/>
                  </a:ext>
                </a:extLst>
              </p:cNvPr>
              <p:cNvSpPr/>
              <p:nvPr/>
            </p:nvSpPr>
            <p:spPr>
              <a:xfrm>
                <a:off x="8879776" y="2440227"/>
                <a:ext cx="960120" cy="188672"/>
              </a:xfrm>
              <a:custGeom>
                <a:avLst/>
                <a:gdLst/>
                <a:ahLst/>
                <a:cxnLst/>
                <a:rect l="l" t="t" r="r" b="b"/>
                <a:pathLst>
                  <a:path w="960120" h="188672" extrusionOk="0">
                    <a:moveTo>
                      <a:pt x="0" y="112473"/>
                    </a:moveTo>
                    <a:cubicBezTo>
                      <a:pt x="0" y="83898"/>
                      <a:pt x="5715" y="77230"/>
                      <a:pt x="25717" y="74373"/>
                    </a:cubicBezTo>
                    <a:lnTo>
                      <a:pt x="899160" y="78"/>
                    </a:lnTo>
                    <a:cubicBezTo>
                      <a:pt x="941070" y="-1827"/>
                      <a:pt x="957262" y="31510"/>
                      <a:pt x="957262" y="60085"/>
                    </a:cubicBezTo>
                    <a:lnTo>
                      <a:pt x="960120" y="137238"/>
                    </a:lnTo>
                    <a:cubicBezTo>
                      <a:pt x="960120" y="165813"/>
                      <a:pt x="933450" y="188673"/>
                      <a:pt x="901065" y="188673"/>
                    </a:cubicBezTo>
                    <a:lnTo>
                      <a:pt x="320040" y="188673"/>
                    </a:lnTo>
                    <a:lnTo>
                      <a:pt x="59055" y="188673"/>
                    </a:lnTo>
                    <a:cubicBezTo>
                      <a:pt x="26670" y="188673"/>
                      <a:pt x="0" y="165813"/>
                      <a:pt x="0" y="137238"/>
                    </a:cubicBezTo>
                    <a:lnTo>
                      <a:pt x="0" y="112473"/>
                    </a:lnTo>
                    <a:close/>
                  </a:path>
                </a:pathLst>
              </a:custGeom>
              <a:solidFill>
                <a:srgbClr val="CC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8" name="Google Shape;194;p25">
                <a:extLst>
                  <a:ext uri="{FF2B5EF4-FFF2-40B4-BE49-F238E27FC236}">
                    <a16:creationId xmlns="" xmlns:a16="http://schemas.microsoft.com/office/drawing/2014/main" id="{C46EBA67-D2EC-4088-9273-C910CA546FE1}"/>
                  </a:ext>
                </a:extLst>
              </p:cNvPr>
              <p:cNvSpPr/>
              <p:nvPr/>
            </p:nvSpPr>
            <p:spPr>
              <a:xfrm>
                <a:off x="8323516" y="2627947"/>
                <a:ext cx="2070734" cy="2541270"/>
              </a:xfrm>
              <a:custGeom>
                <a:avLst/>
                <a:gdLst/>
                <a:ahLst/>
                <a:cxnLst/>
                <a:rect l="l" t="t" r="r" b="b"/>
                <a:pathLst>
                  <a:path w="2070734" h="2541270" extrusionOk="0">
                    <a:moveTo>
                      <a:pt x="1035368" y="2541270"/>
                    </a:moveTo>
                    <a:cubicBezTo>
                      <a:pt x="1606868" y="2541270"/>
                      <a:pt x="2070735" y="2077403"/>
                      <a:pt x="2070735" y="1505903"/>
                    </a:cubicBezTo>
                    <a:cubicBezTo>
                      <a:pt x="2070735" y="1215390"/>
                      <a:pt x="1950720" y="953453"/>
                      <a:pt x="1758315" y="764858"/>
                    </a:cubicBezTo>
                    <a:cubicBezTo>
                      <a:pt x="1668780" y="670560"/>
                      <a:pt x="1580197" y="561022"/>
                      <a:pt x="1566862" y="348615"/>
                    </a:cubicBezTo>
                    <a:cubicBezTo>
                      <a:pt x="1555433" y="159068"/>
                      <a:pt x="1565910" y="55245"/>
                      <a:pt x="1450658" y="0"/>
                    </a:cubicBezTo>
                    <a:lnTo>
                      <a:pt x="620078" y="0"/>
                    </a:lnTo>
                    <a:cubicBezTo>
                      <a:pt x="505778" y="55245"/>
                      <a:pt x="515303" y="159068"/>
                      <a:pt x="504825" y="348615"/>
                    </a:cubicBezTo>
                    <a:cubicBezTo>
                      <a:pt x="493395" y="549593"/>
                      <a:pt x="407670" y="661988"/>
                      <a:pt x="325755" y="752475"/>
                    </a:cubicBezTo>
                    <a:cubicBezTo>
                      <a:pt x="125730" y="941070"/>
                      <a:pt x="0" y="1209675"/>
                      <a:pt x="0" y="1505903"/>
                    </a:cubicBezTo>
                    <a:cubicBezTo>
                      <a:pt x="0" y="2077403"/>
                      <a:pt x="463868" y="2541270"/>
                      <a:pt x="1035368" y="2541270"/>
                    </a:cubicBezTo>
                    <a:close/>
                    <a:moveTo>
                      <a:pt x="331470" y="755333"/>
                    </a:moveTo>
                    <a:cubicBezTo>
                      <a:pt x="412432" y="665797"/>
                      <a:pt x="498157" y="554355"/>
                      <a:pt x="509587" y="355283"/>
                    </a:cubicBezTo>
                    <a:cubicBezTo>
                      <a:pt x="521018" y="167640"/>
                      <a:pt x="510540" y="61913"/>
                      <a:pt x="624840" y="10478"/>
                    </a:cubicBezTo>
                    <a:lnTo>
                      <a:pt x="1450658" y="10478"/>
                    </a:lnTo>
                    <a:cubicBezTo>
                      <a:pt x="1564958" y="61913"/>
                      <a:pt x="1554480" y="167640"/>
                      <a:pt x="1565910" y="355283"/>
                    </a:cubicBezTo>
                    <a:cubicBezTo>
                      <a:pt x="1578293" y="566738"/>
                      <a:pt x="1666875" y="674370"/>
                      <a:pt x="1755458" y="768668"/>
                    </a:cubicBezTo>
                    <a:cubicBezTo>
                      <a:pt x="1946910" y="955358"/>
                      <a:pt x="2065972" y="1216343"/>
                      <a:pt x="2065972" y="1504950"/>
                    </a:cubicBezTo>
                    <a:cubicBezTo>
                      <a:pt x="2065972" y="2073593"/>
                      <a:pt x="1604010" y="2536508"/>
                      <a:pt x="1035368" y="2536508"/>
                    </a:cubicBezTo>
                    <a:cubicBezTo>
                      <a:pt x="466725" y="2536508"/>
                      <a:pt x="8573" y="2073593"/>
                      <a:pt x="8573" y="1504950"/>
                    </a:cubicBezTo>
                    <a:cubicBezTo>
                      <a:pt x="7620" y="1209675"/>
                      <a:pt x="132398" y="942975"/>
                      <a:pt x="331470" y="755333"/>
                    </a:cubicBezTo>
                    <a:close/>
                  </a:path>
                </a:pathLst>
              </a:custGeom>
              <a:solidFill>
                <a:srgbClr val="303035">
                  <a:alpha val="22745"/>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9" name="Google Shape;195;p25">
                <a:extLst>
                  <a:ext uri="{FF2B5EF4-FFF2-40B4-BE49-F238E27FC236}">
                    <a16:creationId xmlns="" xmlns:a16="http://schemas.microsoft.com/office/drawing/2014/main" id="{3B370D45-7590-4005-B850-000F7A76D0B4}"/>
                  </a:ext>
                </a:extLst>
              </p:cNvPr>
              <p:cNvSpPr/>
              <p:nvPr/>
            </p:nvSpPr>
            <p:spPr>
              <a:xfrm>
                <a:off x="8323516" y="2628900"/>
                <a:ext cx="1373505" cy="2540317"/>
              </a:xfrm>
              <a:custGeom>
                <a:avLst/>
                <a:gdLst/>
                <a:ahLst/>
                <a:cxnLst/>
                <a:rect l="l" t="t" r="r" b="b"/>
                <a:pathLst>
                  <a:path w="1373505" h="2540317" extrusionOk="0">
                    <a:moveTo>
                      <a:pt x="1035368" y="2540318"/>
                    </a:moveTo>
                    <a:cubicBezTo>
                      <a:pt x="1153478" y="2540318"/>
                      <a:pt x="1267778" y="2520315"/>
                      <a:pt x="1373505" y="2484120"/>
                    </a:cubicBezTo>
                    <a:cubicBezTo>
                      <a:pt x="1273493" y="2516505"/>
                      <a:pt x="1165860" y="2537460"/>
                      <a:pt x="1054418" y="2537460"/>
                    </a:cubicBezTo>
                    <a:cubicBezTo>
                      <a:pt x="482918" y="2537460"/>
                      <a:pt x="8573" y="2071688"/>
                      <a:pt x="8573" y="1500188"/>
                    </a:cubicBezTo>
                    <a:cubicBezTo>
                      <a:pt x="8573" y="1203007"/>
                      <a:pt x="141923" y="934403"/>
                      <a:pt x="341948" y="745807"/>
                    </a:cubicBezTo>
                    <a:cubicBezTo>
                      <a:pt x="423862" y="655320"/>
                      <a:pt x="499110" y="540068"/>
                      <a:pt x="510540" y="339090"/>
                    </a:cubicBezTo>
                    <a:cubicBezTo>
                      <a:pt x="521018" y="157163"/>
                      <a:pt x="508635" y="52388"/>
                      <a:pt x="626745" y="0"/>
                    </a:cubicBezTo>
                    <a:lnTo>
                      <a:pt x="620078" y="0"/>
                    </a:lnTo>
                    <a:cubicBezTo>
                      <a:pt x="505778" y="55245"/>
                      <a:pt x="515303" y="159068"/>
                      <a:pt x="504825" y="348615"/>
                    </a:cubicBezTo>
                    <a:cubicBezTo>
                      <a:pt x="493395" y="549593"/>
                      <a:pt x="407670" y="661988"/>
                      <a:pt x="325755" y="752475"/>
                    </a:cubicBezTo>
                    <a:cubicBezTo>
                      <a:pt x="125730" y="941070"/>
                      <a:pt x="0" y="1209675"/>
                      <a:pt x="0" y="1505903"/>
                    </a:cubicBezTo>
                    <a:cubicBezTo>
                      <a:pt x="0" y="2076450"/>
                      <a:pt x="463868" y="2540318"/>
                      <a:pt x="1035368" y="2540318"/>
                    </a:cubicBezTo>
                    <a:close/>
                  </a:path>
                </a:pathLst>
              </a:custGeom>
              <a:solidFill>
                <a:srgbClr val="FFFFFF">
                  <a:alpha val="27843"/>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0" name="Google Shape;196;p25">
                <a:extLst>
                  <a:ext uri="{FF2B5EF4-FFF2-40B4-BE49-F238E27FC236}">
                    <a16:creationId xmlns="" xmlns:a16="http://schemas.microsoft.com/office/drawing/2014/main" id="{A91F1317-3DA3-4DCA-A1A3-11D3937F04A5}"/>
                  </a:ext>
                </a:extLst>
              </p:cNvPr>
              <p:cNvSpPr/>
              <p:nvPr/>
            </p:nvSpPr>
            <p:spPr>
              <a:xfrm>
                <a:off x="8943593" y="2627947"/>
                <a:ext cx="831532" cy="3809"/>
              </a:xfrm>
              <a:custGeom>
                <a:avLst/>
                <a:gdLst/>
                <a:ahLst/>
                <a:cxnLst/>
                <a:rect l="l" t="t" r="r" b="b"/>
                <a:pathLst>
                  <a:path w="831532" h="3809" extrusionOk="0">
                    <a:moveTo>
                      <a:pt x="831532" y="953"/>
                    </a:moveTo>
                    <a:lnTo>
                      <a:pt x="727710" y="1905"/>
                    </a:lnTo>
                    <a:lnTo>
                      <a:pt x="623888" y="2858"/>
                    </a:lnTo>
                    <a:cubicBezTo>
                      <a:pt x="554355" y="3810"/>
                      <a:pt x="484822" y="3810"/>
                      <a:pt x="416242" y="3810"/>
                    </a:cubicBezTo>
                    <a:lnTo>
                      <a:pt x="312420" y="3810"/>
                    </a:lnTo>
                    <a:lnTo>
                      <a:pt x="260033" y="3810"/>
                    </a:lnTo>
                    <a:lnTo>
                      <a:pt x="207645" y="3810"/>
                    </a:lnTo>
                    <a:lnTo>
                      <a:pt x="103822" y="1905"/>
                    </a:lnTo>
                    <a:lnTo>
                      <a:pt x="0" y="0"/>
                    </a:lnTo>
                    <a:lnTo>
                      <a:pt x="103822" y="0"/>
                    </a:lnTo>
                    <a:lnTo>
                      <a:pt x="207645" y="0"/>
                    </a:lnTo>
                    <a:lnTo>
                      <a:pt x="260033" y="0"/>
                    </a:lnTo>
                    <a:lnTo>
                      <a:pt x="312420" y="0"/>
                    </a:lnTo>
                    <a:lnTo>
                      <a:pt x="416242" y="0"/>
                    </a:lnTo>
                    <a:cubicBezTo>
                      <a:pt x="485775" y="0"/>
                      <a:pt x="554355" y="0"/>
                      <a:pt x="623888" y="0"/>
                    </a:cubicBezTo>
                    <a:lnTo>
                      <a:pt x="727710" y="0"/>
                    </a:lnTo>
                    <a:lnTo>
                      <a:pt x="831532" y="953"/>
                    </a:lnTo>
                    <a:close/>
                  </a:path>
                </a:pathLst>
              </a:custGeom>
              <a:solidFill>
                <a:srgbClr val="38383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8" name="Google Shape;197;p25">
              <a:extLst>
                <a:ext uri="{FF2B5EF4-FFF2-40B4-BE49-F238E27FC236}">
                  <a16:creationId xmlns="" xmlns:a16="http://schemas.microsoft.com/office/drawing/2014/main" id="{7B0B4322-7B99-46F2-B088-86590586F821}"/>
                </a:ext>
              </a:extLst>
            </p:cNvPr>
            <p:cNvGrpSpPr/>
            <p:nvPr/>
          </p:nvGrpSpPr>
          <p:grpSpPr>
            <a:xfrm rot="10800000">
              <a:off x="1937772" y="1600603"/>
              <a:ext cx="3088439" cy="2173756"/>
              <a:chOff x="7214791" y="3217331"/>
              <a:chExt cx="4182101" cy="2943516"/>
            </a:xfrm>
          </p:grpSpPr>
          <p:sp>
            <p:nvSpPr>
              <p:cNvPr id="9" name="Google Shape;198;p25">
                <a:extLst>
                  <a:ext uri="{FF2B5EF4-FFF2-40B4-BE49-F238E27FC236}">
                    <a16:creationId xmlns="" xmlns:a16="http://schemas.microsoft.com/office/drawing/2014/main" id="{41751D32-4F59-4BE5-B293-99F709061770}"/>
                  </a:ext>
                </a:extLst>
              </p:cNvPr>
              <p:cNvSpPr/>
              <p:nvPr/>
            </p:nvSpPr>
            <p:spPr>
              <a:xfrm>
                <a:off x="10620372" y="3217331"/>
                <a:ext cx="663554" cy="422383"/>
              </a:xfrm>
              <a:custGeom>
                <a:avLst/>
                <a:gdLst/>
                <a:ahLst/>
                <a:cxnLst/>
                <a:rect l="l" t="t" r="r" b="b"/>
                <a:pathLst>
                  <a:path w="663554" h="422383" extrusionOk="0">
                    <a:moveTo>
                      <a:pt x="652084" y="51648"/>
                    </a:moveTo>
                    <a:cubicBezTo>
                      <a:pt x="673039" y="92606"/>
                      <a:pt x="664466" y="138325"/>
                      <a:pt x="633034" y="153565"/>
                    </a:cubicBezTo>
                    <a:lnTo>
                      <a:pt x="103444" y="417408"/>
                    </a:lnTo>
                    <a:cubicBezTo>
                      <a:pt x="72964" y="432648"/>
                      <a:pt x="31054" y="411693"/>
                      <a:pt x="11051" y="370736"/>
                    </a:cubicBezTo>
                    <a:lnTo>
                      <a:pt x="11051" y="370736"/>
                    </a:lnTo>
                    <a:cubicBezTo>
                      <a:pt x="-8951" y="329778"/>
                      <a:pt x="-1331" y="284058"/>
                      <a:pt x="30101" y="268818"/>
                    </a:cubicBezTo>
                    <a:lnTo>
                      <a:pt x="559691" y="4975"/>
                    </a:lnTo>
                    <a:cubicBezTo>
                      <a:pt x="590171" y="-10264"/>
                      <a:pt x="631129" y="10690"/>
                      <a:pt x="652084" y="51648"/>
                    </a:cubicBezTo>
                    <a:lnTo>
                      <a:pt x="652084" y="51648"/>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0" name="Google Shape;199;p25">
                <a:extLst>
                  <a:ext uri="{FF2B5EF4-FFF2-40B4-BE49-F238E27FC236}">
                    <a16:creationId xmlns="" xmlns:a16="http://schemas.microsoft.com/office/drawing/2014/main" id="{FD187587-F6F7-49A4-AB2E-1B25DB0C015E}"/>
                  </a:ext>
                </a:extLst>
              </p:cNvPr>
              <p:cNvSpPr/>
              <p:nvPr/>
            </p:nvSpPr>
            <p:spPr>
              <a:xfrm>
                <a:off x="10689511" y="4134883"/>
                <a:ext cx="707381" cy="267489"/>
              </a:xfrm>
              <a:custGeom>
                <a:avLst/>
                <a:gdLst/>
                <a:ahLst/>
                <a:cxnLst/>
                <a:rect l="l" t="t" r="r" b="b"/>
                <a:pathLst>
                  <a:path w="707381" h="267489" extrusionOk="0">
                    <a:moveTo>
                      <a:pt x="705817" y="196134"/>
                    </a:moveTo>
                    <a:cubicBezTo>
                      <a:pt x="698197" y="240901"/>
                      <a:pt x="663907" y="273286"/>
                      <a:pt x="630569" y="266619"/>
                    </a:cubicBezTo>
                    <a:lnTo>
                      <a:pt x="48592" y="163748"/>
                    </a:lnTo>
                    <a:cubicBezTo>
                      <a:pt x="14302" y="158034"/>
                      <a:pt x="-6653" y="116123"/>
                      <a:pt x="1919" y="71356"/>
                    </a:cubicBezTo>
                    <a:lnTo>
                      <a:pt x="1919" y="71356"/>
                    </a:lnTo>
                    <a:cubicBezTo>
                      <a:pt x="9539" y="26588"/>
                      <a:pt x="43829" y="-5796"/>
                      <a:pt x="77167" y="871"/>
                    </a:cubicBezTo>
                    <a:lnTo>
                      <a:pt x="659144" y="103741"/>
                    </a:lnTo>
                    <a:cubicBezTo>
                      <a:pt x="692482" y="109456"/>
                      <a:pt x="713437" y="151366"/>
                      <a:pt x="705817" y="196134"/>
                    </a:cubicBezTo>
                    <a:lnTo>
                      <a:pt x="705817" y="196134"/>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 name="Google Shape;200;p25">
                <a:extLst>
                  <a:ext uri="{FF2B5EF4-FFF2-40B4-BE49-F238E27FC236}">
                    <a16:creationId xmlns="" xmlns:a16="http://schemas.microsoft.com/office/drawing/2014/main" id="{D8D2DFEE-CB37-4C11-ABC0-2F221BCFF296}"/>
                  </a:ext>
                </a:extLst>
              </p:cNvPr>
              <p:cNvSpPr/>
              <p:nvPr/>
            </p:nvSpPr>
            <p:spPr>
              <a:xfrm>
                <a:off x="10420804" y="4997866"/>
                <a:ext cx="571039" cy="558919"/>
              </a:xfrm>
              <a:custGeom>
                <a:avLst/>
                <a:gdLst/>
                <a:ahLst/>
                <a:cxnLst/>
                <a:rect l="l" t="t" r="r" b="b"/>
                <a:pathLst>
                  <a:path w="571039" h="558919" extrusionOk="0">
                    <a:moveTo>
                      <a:pt x="543042" y="528538"/>
                    </a:moveTo>
                    <a:cubicBezTo>
                      <a:pt x="510657" y="561876"/>
                      <a:pt x="464937" y="568544"/>
                      <a:pt x="440172" y="544731"/>
                    </a:cubicBezTo>
                    <a:lnTo>
                      <a:pt x="15357" y="133251"/>
                    </a:lnTo>
                    <a:cubicBezTo>
                      <a:pt x="-9408" y="109438"/>
                      <a:pt x="-3693" y="63719"/>
                      <a:pt x="28692" y="30381"/>
                    </a:cubicBezTo>
                    <a:lnTo>
                      <a:pt x="28692" y="30381"/>
                    </a:lnTo>
                    <a:cubicBezTo>
                      <a:pt x="60124" y="-2956"/>
                      <a:pt x="106797" y="-9624"/>
                      <a:pt x="131562" y="14188"/>
                    </a:cubicBezTo>
                    <a:lnTo>
                      <a:pt x="556377" y="425669"/>
                    </a:lnTo>
                    <a:cubicBezTo>
                      <a:pt x="580189" y="449481"/>
                      <a:pt x="574474" y="495201"/>
                      <a:pt x="543042" y="528538"/>
                    </a:cubicBezTo>
                    <a:lnTo>
                      <a:pt x="543042" y="528538"/>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2" name="Google Shape;201;p25">
                <a:extLst>
                  <a:ext uri="{FF2B5EF4-FFF2-40B4-BE49-F238E27FC236}">
                    <a16:creationId xmlns="" xmlns:a16="http://schemas.microsoft.com/office/drawing/2014/main" id="{CA7E9C1D-E563-400F-B52E-534E4593BECE}"/>
                  </a:ext>
                </a:extLst>
              </p:cNvPr>
              <p:cNvSpPr/>
              <p:nvPr/>
            </p:nvSpPr>
            <p:spPr>
              <a:xfrm>
                <a:off x="7327579" y="3217331"/>
                <a:ext cx="663135" cy="422383"/>
              </a:xfrm>
              <a:custGeom>
                <a:avLst/>
                <a:gdLst/>
                <a:ahLst/>
                <a:cxnLst/>
                <a:rect l="l" t="t" r="r" b="b"/>
                <a:pathLst>
                  <a:path w="663135" h="422383" extrusionOk="0">
                    <a:moveTo>
                      <a:pt x="11051" y="51648"/>
                    </a:moveTo>
                    <a:cubicBezTo>
                      <a:pt x="-8951" y="92606"/>
                      <a:pt x="-1331" y="138325"/>
                      <a:pt x="30101" y="153565"/>
                    </a:cubicBezTo>
                    <a:lnTo>
                      <a:pt x="559691" y="417408"/>
                    </a:lnTo>
                    <a:cubicBezTo>
                      <a:pt x="590171" y="432648"/>
                      <a:pt x="632081" y="411693"/>
                      <a:pt x="652084" y="370736"/>
                    </a:cubicBezTo>
                    <a:lnTo>
                      <a:pt x="652084" y="370736"/>
                    </a:lnTo>
                    <a:cubicBezTo>
                      <a:pt x="672086" y="329778"/>
                      <a:pt x="664466" y="284058"/>
                      <a:pt x="633034" y="268818"/>
                    </a:cubicBezTo>
                    <a:lnTo>
                      <a:pt x="103444" y="4975"/>
                    </a:lnTo>
                    <a:cubicBezTo>
                      <a:pt x="72964" y="-10264"/>
                      <a:pt x="32006" y="10690"/>
                      <a:pt x="11051" y="51648"/>
                    </a:cubicBezTo>
                    <a:lnTo>
                      <a:pt x="11051" y="51648"/>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 name="Google Shape;202;p25">
                <a:extLst>
                  <a:ext uri="{FF2B5EF4-FFF2-40B4-BE49-F238E27FC236}">
                    <a16:creationId xmlns="" xmlns:a16="http://schemas.microsoft.com/office/drawing/2014/main" id="{3807A8DC-E85C-4602-ADD5-F292E22DC0B1}"/>
                  </a:ext>
                </a:extLst>
              </p:cNvPr>
              <p:cNvSpPr/>
              <p:nvPr/>
            </p:nvSpPr>
            <p:spPr>
              <a:xfrm>
                <a:off x="7214791" y="4134883"/>
                <a:ext cx="707681" cy="267489"/>
              </a:xfrm>
              <a:custGeom>
                <a:avLst/>
                <a:gdLst/>
                <a:ahLst/>
                <a:cxnLst/>
                <a:rect l="l" t="t" r="r" b="b"/>
                <a:pathLst>
                  <a:path w="707681" h="267489" extrusionOk="0">
                    <a:moveTo>
                      <a:pt x="1919" y="196134"/>
                    </a:moveTo>
                    <a:cubicBezTo>
                      <a:pt x="9539" y="240901"/>
                      <a:pt x="43829" y="273286"/>
                      <a:pt x="77167" y="266619"/>
                    </a:cubicBezTo>
                    <a:lnTo>
                      <a:pt x="659144" y="163748"/>
                    </a:lnTo>
                    <a:cubicBezTo>
                      <a:pt x="692482" y="158034"/>
                      <a:pt x="714389" y="116123"/>
                      <a:pt x="705817" y="71356"/>
                    </a:cubicBezTo>
                    <a:lnTo>
                      <a:pt x="705817" y="71356"/>
                    </a:lnTo>
                    <a:cubicBezTo>
                      <a:pt x="698197" y="26588"/>
                      <a:pt x="663907" y="-5796"/>
                      <a:pt x="630569" y="871"/>
                    </a:cubicBezTo>
                    <a:lnTo>
                      <a:pt x="48592" y="103741"/>
                    </a:lnTo>
                    <a:cubicBezTo>
                      <a:pt x="14302" y="109456"/>
                      <a:pt x="-6653" y="151366"/>
                      <a:pt x="1919" y="196134"/>
                    </a:cubicBezTo>
                    <a:lnTo>
                      <a:pt x="1919" y="196134"/>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4" name="Google Shape;203;p25">
                <a:extLst>
                  <a:ext uri="{FF2B5EF4-FFF2-40B4-BE49-F238E27FC236}">
                    <a16:creationId xmlns="" xmlns:a16="http://schemas.microsoft.com/office/drawing/2014/main" id="{CBE08911-6D23-4C61-9077-BBE71EDCF0B9}"/>
                  </a:ext>
                </a:extLst>
              </p:cNvPr>
              <p:cNvSpPr/>
              <p:nvPr/>
            </p:nvSpPr>
            <p:spPr>
              <a:xfrm>
                <a:off x="7529014" y="4868326"/>
                <a:ext cx="571733" cy="558919"/>
              </a:xfrm>
              <a:custGeom>
                <a:avLst/>
                <a:gdLst/>
                <a:ahLst/>
                <a:cxnLst/>
                <a:rect l="l" t="t" r="r" b="b"/>
                <a:pathLst>
                  <a:path w="571733" h="558919" extrusionOk="0">
                    <a:moveTo>
                      <a:pt x="28692" y="528538"/>
                    </a:moveTo>
                    <a:cubicBezTo>
                      <a:pt x="61077" y="561876"/>
                      <a:pt x="106797" y="568543"/>
                      <a:pt x="131562" y="544731"/>
                    </a:cubicBezTo>
                    <a:lnTo>
                      <a:pt x="556377" y="133251"/>
                    </a:lnTo>
                    <a:cubicBezTo>
                      <a:pt x="581142" y="109438"/>
                      <a:pt x="575427" y="63718"/>
                      <a:pt x="543042" y="30381"/>
                    </a:cubicBezTo>
                    <a:lnTo>
                      <a:pt x="543042" y="30381"/>
                    </a:lnTo>
                    <a:cubicBezTo>
                      <a:pt x="510657" y="-2957"/>
                      <a:pt x="464937" y="-9624"/>
                      <a:pt x="440172" y="14188"/>
                    </a:cubicBezTo>
                    <a:lnTo>
                      <a:pt x="15357" y="425668"/>
                    </a:lnTo>
                    <a:cubicBezTo>
                      <a:pt x="-9408" y="449481"/>
                      <a:pt x="-3693" y="496154"/>
                      <a:pt x="28692" y="528538"/>
                    </a:cubicBezTo>
                    <a:lnTo>
                      <a:pt x="28692" y="528538"/>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 name="Google Shape;204;p25">
                <a:extLst>
                  <a:ext uri="{FF2B5EF4-FFF2-40B4-BE49-F238E27FC236}">
                    <a16:creationId xmlns="" xmlns:a16="http://schemas.microsoft.com/office/drawing/2014/main" id="{B6E9EAD4-BDB3-43F5-87B2-D6ED4FD6330E}"/>
                  </a:ext>
                </a:extLst>
              </p:cNvPr>
              <p:cNvSpPr/>
              <p:nvPr/>
            </p:nvSpPr>
            <p:spPr>
              <a:xfrm>
                <a:off x="8540712" y="5433152"/>
                <a:ext cx="331417" cy="696093"/>
              </a:xfrm>
              <a:custGeom>
                <a:avLst/>
                <a:gdLst/>
                <a:ahLst/>
                <a:cxnLst/>
                <a:rect l="l" t="t" r="r" b="b"/>
                <a:pathLst>
                  <a:path w="331417" h="696093" extrusionOk="0">
                    <a:moveTo>
                      <a:pt x="63791" y="691423"/>
                    </a:moveTo>
                    <a:cubicBezTo>
                      <a:pt x="107606" y="704758"/>
                      <a:pt x="151421" y="688565"/>
                      <a:pt x="160946" y="655228"/>
                    </a:cubicBezTo>
                    <a:lnTo>
                      <a:pt x="329539" y="88490"/>
                    </a:lnTo>
                    <a:cubicBezTo>
                      <a:pt x="339064" y="55153"/>
                      <a:pt x="311441" y="18005"/>
                      <a:pt x="267626" y="4671"/>
                    </a:cubicBezTo>
                    <a:lnTo>
                      <a:pt x="267626" y="4671"/>
                    </a:lnTo>
                    <a:cubicBezTo>
                      <a:pt x="223811" y="-8665"/>
                      <a:pt x="179996" y="7528"/>
                      <a:pt x="170471" y="40865"/>
                    </a:cubicBezTo>
                    <a:lnTo>
                      <a:pt x="1878" y="607603"/>
                    </a:lnTo>
                    <a:cubicBezTo>
                      <a:pt x="-7647" y="640940"/>
                      <a:pt x="19976" y="678088"/>
                      <a:pt x="63791" y="691423"/>
                    </a:cubicBezTo>
                    <a:lnTo>
                      <a:pt x="63791" y="691423"/>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6" name="Google Shape;205;p25">
                <a:extLst>
                  <a:ext uri="{FF2B5EF4-FFF2-40B4-BE49-F238E27FC236}">
                    <a16:creationId xmlns="" xmlns:a16="http://schemas.microsoft.com/office/drawing/2014/main" id="{BBAC5D9C-41C9-4A43-8D32-BEE9EB945B5A}"/>
                  </a:ext>
                </a:extLst>
              </p:cNvPr>
              <p:cNvSpPr/>
              <p:nvPr/>
            </p:nvSpPr>
            <p:spPr>
              <a:xfrm>
                <a:off x="9782806" y="5454565"/>
                <a:ext cx="278009" cy="706282"/>
              </a:xfrm>
              <a:custGeom>
                <a:avLst/>
                <a:gdLst/>
                <a:ahLst/>
                <a:cxnLst/>
                <a:rect l="l" t="t" r="r" b="b"/>
                <a:pathLst>
                  <a:path w="278009" h="706282" extrusionOk="0">
                    <a:moveTo>
                      <a:pt x="207585" y="704299"/>
                    </a:moveTo>
                    <a:cubicBezTo>
                      <a:pt x="252352" y="695727"/>
                      <a:pt x="283785" y="661436"/>
                      <a:pt x="277117" y="627147"/>
                    </a:cubicBezTo>
                    <a:lnTo>
                      <a:pt x="163770" y="47074"/>
                    </a:lnTo>
                    <a:cubicBezTo>
                      <a:pt x="157102" y="13736"/>
                      <a:pt x="115192" y="-7218"/>
                      <a:pt x="70425" y="2307"/>
                    </a:cubicBezTo>
                    <a:lnTo>
                      <a:pt x="70425" y="2307"/>
                    </a:lnTo>
                    <a:cubicBezTo>
                      <a:pt x="25657" y="10879"/>
                      <a:pt x="-5775" y="45169"/>
                      <a:pt x="892" y="79459"/>
                    </a:cubicBezTo>
                    <a:lnTo>
                      <a:pt x="114240" y="659532"/>
                    </a:lnTo>
                    <a:cubicBezTo>
                      <a:pt x="120907" y="692869"/>
                      <a:pt x="162817" y="712872"/>
                      <a:pt x="207585" y="704299"/>
                    </a:cubicBezTo>
                    <a:lnTo>
                      <a:pt x="207585" y="704299"/>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spTree>
    <p:extLst>
      <p:ext uri="{BB962C8B-B14F-4D97-AF65-F5344CB8AC3E}">
        <p14:creationId xmlns:p14="http://schemas.microsoft.com/office/powerpoint/2010/main" val="50533925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AD3DA5AA-7486-4871-9B99-1F155BEC0810}"/>
              </a:ext>
            </a:extLst>
          </p:cNvPr>
          <p:cNvSpPr txBox="1"/>
          <p:nvPr/>
        </p:nvSpPr>
        <p:spPr>
          <a:xfrm>
            <a:off x="1417712" y="1772816"/>
            <a:ext cx="7508986" cy="4549835"/>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rPr>
              <a:t> 1. We must know about the  machine -its speed and memory</a:t>
            </a:r>
          </a:p>
          <a:p>
            <a:pPr marL="0" marR="0" lvl="0" indent="0" algn="just" defTabSz="914400" rtl="0" eaLnBrk="1" fontAlgn="auto" latinLnBrk="0" hangingPunct="1">
              <a:lnSpc>
                <a:spcPct val="150000"/>
              </a:lnSpc>
              <a:spcBef>
                <a:spcPts val="0"/>
              </a:spcBef>
              <a:spcAft>
                <a:spcPts val="0"/>
              </a:spcAft>
              <a:buClrTx/>
              <a:buSzTx/>
              <a:buFontTx/>
              <a:buNone/>
              <a:tabLst/>
              <a:defRPr/>
            </a:pPr>
            <a:r>
              <a:rPr lang="en-US" sz="2800" dirty="0">
                <a:solidFill>
                  <a:prstClr val="black"/>
                </a:solidFill>
                <a:latin typeface="Calibri" panose="020F0502020204030204"/>
              </a:rPr>
              <a:t>2. We must know whether we develop sequential or parallel algorithms</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rPr>
              <a:t>3. For some algorithms involving huge data, execution time and storage requirement are critical </a:t>
            </a:r>
            <a:endParaRPr kumimoji="0" lang="en-IN" sz="2800" b="0" i="0" u="none" strike="noStrike" kern="1200" cap="none" spc="0" normalizeH="0" baseline="0" noProof="0" dirty="0">
              <a:ln>
                <a:noFill/>
              </a:ln>
              <a:solidFill>
                <a:prstClr val="black"/>
              </a:solidFill>
              <a:effectLst/>
              <a:uLnTx/>
              <a:uFillTx/>
              <a:latin typeface="Calibri" panose="020F0502020204030204"/>
            </a:endParaRPr>
          </a:p>
        </p:txBody>
      </p:sp>
      <p:sp>
        <p:nvSpPr>
          <p:cNvPr id="4" name="Title 3">
            <a:extLst>
              <a:ext uri="{FF2B5EF4-FFF2-40B4-BE49-F238E27FC236}">
                <a16:creationId xmlns="" xmlns:a16="http://schemas.microsoft.com/office/drawing/2014/main" id="{BFEA3C7B-1349-4FF1-8ADB-7D3EDB6D8C36}"/>
              </a:ext>
            </a:extLst>
          </p:cNvPr>
          <p:cNvSpPr>
            <a:spLocks noGrp="1"/>
          </p:cNvSpPr>
          <p:nvPr>
            <p:ph type="title"/>
          </p:nvPr>
        </p:nvSpPr>
        <p:spPr>
          <a:xfrm>
            <a:off x="251520" y="260648"/>
            <a:ext cx="8229600" cy="1143000"/>
          </a:xfrm>
        </p:spPr>
        <p:txBody>
          <a:bodyPr>
            <a:normAutofit fontScale="90000"/>
          </a:bodyPr>
          <a:lstStyle/>
          <a:p>
            <a:r>
              <a:rPr lang="en-US" dirty="0"/>
              <a:t>Ascertaining the capabilities of computational device  </a:t>
            </a:r>
            <a:endParaRPr lang="en-IN" dirty="0"/>
          </a:p>
        </p:txBody>
      </p:sp>
      <p:pic>
        <p:nvPicPr>
          <p:cNvPr id="5" name="Google Shape;249;p25" descr="Right pointing backhand index">
            <a:extLst>
              <a:ext uri="{FF2B5EF4-FFF2-40B4-BE49-F238E27FC236}">
                <a16:creationId xmlns="" xmlns:a16="http://schemas.microsoft.com/office/drawing/2014/main" id="{1DBE4C7D-9907-4712-8FDB-5A36206F9742}"/>
              </a:ext>
            </a:extLst>
          </p:cNvPr>
          <p:cNvPicPr preferRelativeResize="0"/>
          <p:nvPr/>
        </p:nvPicPr>
        <p:blipFill rotWithShape="1">
          <a:blip r:embed="rId2">
            <a:alphaModFix/>
          </a:blip>
          <a:srcRect/>
          <a:stretch/>
        </p:blipFill>
        <p:spPr>
          <a:xfrm>
            <a:off x="342900" y="1772816"/>
            <a:ext cx="685800" cy="914400"/>
          </a:xfrm>
          <a:prstGeom prst="rect">
            <a:avLst/>
          </a:prstGeom>
          <a:noFill/>
          <a:ln>
            <a:noFill/>
          </a:ln>
        </p:spPr>
      </p:pic>
    </p:spTree>
    <p:extLst>
      <p:ext uri="{BB962C8B-B14F-4D97-AF65-F5344CB8AC3E}">
        <p14:creationId xmlns:p14="http://schemas.microsoft.com/office/powerpoint/2010/main" val="26519397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F3C2DDF-0CC0-4334-9549-9D811B4A66E5}"/>
              </a:ext>
            </a:extLst>
          </p:cNvPr>
          <p:cNvSpPr>
            <a:spLocks noGrp="1"/>
          </p:cNvSpPr>
          <p:nvPr>
            <p:ph type="title"/>
          </p:nvPr>
        </p:nvSpPr>
        <p:spPr>
          <a:xfrm>
            <a:off x="-1016" y="260648"/>
            <a:ext cx="9145016" cy="1143000"/>
          </a:xfrm>
        </p:spPr>
        <p:txBody>
          <a:bodyPr>
            <a:normAutofit fontScale="90000"/>
          </a:bodyPr>
          <a:lstStyle/>
          <a:p>
            <a:r>
              <a:rPr lang="en-US" dirty="0"/>
              <a:t>Choosing between exact and </a:t>
            </a:r>
            <a:r>
              <a:rPr lang="en-US" dirty="0" smtClean="0"/>
              <a:t>approximate </a:t>
            </a:r>
            <a:r>
              <a:rPr lang="en-US" dirty="0"/>
              <a:t>problem solving</a:t>
            </a:r>
            <a:endParaRPr lang="en-IN" dirty="0"/>
          </a:p>
        </p:txBody>
      </p:sp>
      <p:sp>
        <p:nvSpPr>
          <p:cNvPr id="4" name="TextBox 3">
            <a:extLst>
              <a:ext uri="{FF2B5EF4-FFF2-40B4-BE49-F238E27FC236}">
                <a16:creationId xmlns="" xmlns:a16="http://schemas.microsoft.com/office/drawing/2014/main" id="{0CA04C15-9938-406C-AA73-4F9798FE5177}"/>
              </a:ext>
            </a:extLst>
          </p:cNvPr>
          <p:cNvSpPr txBox="1"/>
          <p:nvPr/>
        </p:nvSpPr>
        <p:spPr>
          <a:xfrm>
            <a:off x="413076" y="1628800"/>
            <a:ext cx="8407396" cy="4524315"/>
          </a:xfrm>
          <a:prstGeom prst="rect">
            <a:avLst/>
          </a:prstGeom>
          <a:noFill/>
        </p:spPr>
        <p:txBody>
          <a:bodyPr wrap="square">
            <a:spAutoFit/>
          </a:bodyPr>
          <a:lstStyle/>
          <a:p>
            <a:pPr algn="just">
              <a:lnSpc>
                <a:spcPct val="150000"/>
              </a:lnSpc>
            </a:pPr>
            <a:r>
              <a:rPr lang="en-US" sz="2400" dirty="0"/>
              <a:t>We must choose between solving the problem exactly called as </a:t>
            </a:r>
            <a:r>
              <a:rPr lang="en-US" sz="2400" b="1" dirty="0"/>
              <a:t>exact algorithm </a:t>
            </a:r>
            <a:r>
              <a:rPr lang="en-US" sz="2400" dirty="0"/>
              <a:t>or solving it approximately called as </a:t>
            </a:r>
            <a:r>
              <a:rPr lang="en-US" sz="2400" b="1" dirty="0"/>
              <a:t>approximation</a:t>
            </a:r>
            <a:r>
              <a:rPr lang="en-US" sz="2400" dirty="0"/>
              <a:t> </a:t>
            </a:r>
            <a:r>
              <a:rPr lang="en-US" sz="2400" b="1" dirty="0"/>
              <a:t>algorithm</a:t>
            </a:r>
            <a:r>
              <a:rPr lang="en-US" sz="2400" dirty="0"/>
              <a:t>. </a:t>
            </a:r>
          </a:p>
          <a:p>
            <a:pPr algn="just">
              <a:lnSpc>
                <a:spcPct val="150000"/>
              </a:lnSpc>
            </a:pPr>
            <a:r>
              <a:rPr lang="en-US" sz="2400" b="1" dirty="0"/>
              <a:t>Why would one need approximation algorithm? </a:t>
            </a:r>
          </a:p>
          <a:p>
            <a:pPr algn="just">
              <a:lnSpc>
                <a:spcPct val="150000"/>
              </a:lnSpc>
            </a:pPr>
            <a:r>
              <a:rPr lang="en-US" sz="2400" dirty="0"/>
              <a:t>For example extracting square roots, solving nonlinear equations, and evaluating definite integrals cannot be solved. Second, available algorithms for solving a </a:t>
            </a:r>
            <a:r>
              <a:rPr lang="en-US" sz="2400" dirty="0" smtClean="0"/>
              <a:t>problem </a:t>
            </a:r>
            <a:r>
              <a:rPr lang="en-US" sz="2400" dirty="0"/>
              <a:t>exactly can be unacceptably slow because of the problem’s intrinsic complexity.</a:t>
            </a:r>
            <a:endParaRPr lang="en-IN" sz="2400" dirty="0"/>
          </a:p>
        </p:txBody>
      </p:sp>
    </p:spTree>
    <p:extLst>
      <p:ext uri="{BB962C8B-B14F-4D97-AF65-F5344CB8AC3E}">
        <p14:creationId xmlns:p14="http://schemas.microsoft.com/office/powerpoint/2010/main" val="412760445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29BF9142-A586-4B3E-BA53-BB2B60059AE5}"/>
              </a:ext>
            </a:extLst>
          </p:cNvPr>
          <p:cNvSpPr>
            <a:spLocks noGrp="1"/>
          </p:cNvSpPr>
          <p:nvPr>
            <p:ph type="title"/>
          </p:nvPr>
        </p:nvSpPr>
        <p:spPr/>
        <p:txBody>
          <a:bodyPr/>
          <a:lstStyle/>
          <a:p>
            <a:r>
              <a:rPr lang="en-US" b="1" dirty="0">
                <a:solidFill>
                  <a:srgbClr val="FF0000"/>
                </a:solidFill>
              </a:rPr>
              <a:t>Identifying a suitable technique:</a:t>
            </a:r>
            <a:endParaRPr lang="en-IN" b="1" dirty="0">
              <a:solidFill>
                <a:srgbClr val="FF0000"/>
              </a:solidFill>
            </a:endParaRPr>
          </a:p>
        </p:txBody>
      </p:sp>
      <p:sp>
        <p:nvSpPr>
          <p:cNvPr id="5" name="TextBox 4">
            <a:extLst>
              <a:ext uri="{FF2B5EF4-FFF2-40B4-BE49-F238E27FC236}">
                <a16:creationId xmlns="" xmlns:a16="http://schemas.microsoft.com/office/drawing/2014/main" id="{116B57E9-FB49-4307-8BD0-59F1D28C0999}"/>
              </a:ext>
            </a:extLst>
          </p:cNvPr>
          <p:cNvSpPr txBox="1"/>
          <p:nvPr/>
        </p:nvSpPr>
        <p:spPr>
          <a:xfrm>
            <a:off x="385763" y="2132856"/>
            <a:ext cx="8362701" cy="3046988"/>
          </a:xfrm>
          <a:prstGeom prst="rect">
            <a:avLst/>
          </a:prstGeom>
          <a:noFill/>
        </p:spPr>
        <p:txBody>
          <a:bodyPr wrap="square">
            <a:spAutoFit/>
          </a:bodyPr>
          <a:lstStyle/>
          <a:p>
            <a:pPr algn="just">
              <a:lnSpc>
                <a:spcPct val="200000"/>
              </a:lnSpc>
            </a:pPr>
            <a:r>
              <a:rPr lang="en-US" sz="2400" dirty="0"/>
              <a:t>An algorithm design technique (or “strategy” or “paradigm”) is a general approach to solving problems algorithmically that is applicable to a variety of problems from different areas of computing.</a:t>
            </a:r>
            <a:endParaRPr lang="en-IN" sz="2400" dirty="0"/>
          </a:p>
        </p:txBody>
      </p:sp>
    </p:spTree>
    <p:extLst>
      <p:ext uri="{BB962C8B-B14F-4D97-AF65-F5344CB8AC3E}">
        <p14:creationId xmlns:p14="http://schemas.microsoft.com/office/powerpoint/2010/main" val="151299224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0000"/>
                </a:solidFill>
              </a:rPr>
              <a:t>Identifying a suitable technique</a:t>
            </a:r>
          </a:p>
        </p:txBody>
      </p:sp>
      <p:sp>
        <p:nvSpPr>
          <p:cNvPr id="3" name="Content Placeholder 2"/>
          <p:cNvSpPr>
            <a:spLocks noGrp="1"/>
          </p:cNvSpPr>
          <p:nvPr>
            <p:ph idx="1"/>
          </p:nvPr>
        </p:nvSpPr>
        <p:spPr>
          <a:xfrm>
            <a:off x="457200" y="1412776"/>
            <a:ext cx="8229600" cy="4713387"/>
          </a:xfrm>
        </p:spPr>
        <p:txBody>
          <a:bodyPr>
            <a:normAutofit/>
          </a:bodyPr>
          <a:lstStyle/>
          <a:p>
            <a:r>
              <a:rPr lang="en-US" dirty="0" smtClean="0"/>
              <a:t>Divide and conquer</a:t>
            </a:r>
          </a:p>
          <a:p>
            <a:r>
              <a:rPr lang="en-US" dirty="0" smtClean="0"/>
              <a:t>Greedy method</a:t>
            </a:r>
          </a:p>
          <a:p>
            <a:r>
              <a:rPr lang="en-US" dirty="0" smtClean="0"/>
              <a:t>Dynamic Programming</a:t>
            </a:r>
          </a:p>
          <a:p>
            <a:r>
              <a:rPr lang="en-US" dirty="0" smtClean="0"/>
              <a:t>Backtracking</a:t>
            </a:r>
          </a:p>
          <a:p>
            <a:r>
              <a:rPr lang="en-US" dirty="0" smtClean="0"/>
              <a:t>Branch and Bound</a:t>
            </a:r>
          </a:p>
          <a:p>
            <a:r>
              <a:rPr lang="en-US" dirty="0" smtClean="0"/>
              <a:t>Brute force</a:t>
            </a:r>
          </a:p>
          <a:p>
            <a:r>
              <a:rPr lang="en-US" dirty="0" smtClean="0"/>
              <a:t>Randomized algorithm</a:t>
            </a:r>
          </a:p>
          <a:p>
            <a:r>
              <a:rPr lang="en-US" dirty="0" smtClean="0"/>
              <a:t>Decrease and Conquer</a:t>
            </a:r>
            <a:endParaRPr lang="en-IN" dirty="0"/>
          </a:p>
        </p:txBody>
      </p:sp>
      <p:sp>
        <p:nvSpPr>
          <p:cNvPr id="4" name="Slide Number Placeholder 3"/>
          <p:cNvSpPr>
            <a:spLocks noGrp="1"/>
          </p:cNvSpPr>
          <p:nvPr>
            <p:ph type="sldNum" sz="quarter" idx="12"/>
          </p:nvPr>
        </p:nvSpPr>
        <p:spPr/>
        <p:txBody>
          <a:bodyPr/>
          <a:lstStyle/>
          <a:p>
            <a:fld id="{9FB0BF6E-FAFB-46B7-AEE3-3DAA4B58C0A6}" type="slidenum">
              <a:rPr lang="en-IN" smtClean="0"/>
              <a:t>26</a:t>
            </a:fld>
            <a:endParaRPr lang="en-IN"/>
          </a:p>
        </p:txBody>
      </p:sp>
    </p:spTree>
    <p:extLst>
      <p:ext uri="{BB962C8B-B14F-4D97-AF65-F5344CB8AC3E}">
        <p14:creationId xmlns:p14="http://schemas.microsoft.com/office/powerpoint/2010/main" val="273285042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507288" cy="6597352"/>
          </a:xfrm>
        </p:spPr>
        <p:txBody>
          <a:bodyPr>
            <a:normAutofit lnSpcReduction="10000"/>
          </a:bodyPr>
          <a:lstStyle/>
          <a:p>
            <a:r>
              <a:rPr lang="en-US" b="1" dirty="0" smtClean="0">
                <a:solidFill>
                  <a:srgbClr val="FF0000"/>
                </a:solidFill>
              </a:rPr>
              <a:t>Divide </a:t>
            </a:r>
            <a:r>
              <a:rPr lang="en-US" b="1" dirty="0">
                <a:solidFill>
                  <a:srgbClr val="FF0000"/>
                </a:solidFill>
              </a:rPr>
              <a:t>and Conquer</a:t>
            </a:r>
            <a:r>
              <a:rPr lang="en-US" dirty="0"/>
              <a:t>: </a:t>
            </a:r>
            <a:endParaRPr lang="en-US" dirty="0" smtClean="0"/>
          </a:p>
          <a:p>
            <a:pPr lvl="1"/>
            <a:r>
              <a:rPr lang="en-US" dirty="0" smtClean="0"/>
              <a:t>The </a:t>
            </a:r>
            <a:r>
              <a:rPr lang="en-US" dirty="0"/>
              <a:t>Divide and Conquer strategy involves dividing the problem into sub-problem, recursively solving them, and then recombining them for the final answer. </a:t>
            </a:r>
          </a:p>
          <a:p>
            <a:pPr lvl="1"/>
            <a:r>
              <a:rPr lang="en-US" dirty="0"/>
              <a:t> It is a top-down approach. The algorithms which follow the divide &amp; conquer techniques involve three steps:</a:t>
            </a:r>
          </a:p>
          <a:p>
            <a:pPr lvl="1"/>
            <a:r>
              <a:rPr lang="en-US" dirty="0"/>
              <a:t>Divide the original problem into a set of </a:t>
            </a:r>
            <a:r>
              <a:rPr lang="en-US" dirty="0" smtClean="0"/>
              <a:t>sub problems</a:t>
            </a:r>
            <a:r>
              <a:rPr lang="en-US" dirty="0"/>
              <a:t>.</a:t>
            </a:r>
          </a:p>
          <a:p>
            <a:pPr lvl="1"/>
            <a:r>
              <a:rPr lang="en-US" dirty="0"/>
              <a:t>Solve every </a:t>
            </a:r>
            <a:r>
              <a:rPr lang="en-US" dirty="0" smtClean="0"/>
              <a:t>sub problem </a:t>
            </a:r>
            <a:r>
              <a:rPr lang="en-US" dirty="0"/>
              <a:t>individually, recursively.</a:t>
            </a:r>
          </a:p>
          <a:p>
            <a:pPr lvl="1"/>
            <a:r>
              <a:rPr lang="en-US" dirty="0"/>
              <a:t>Combine the solution of the </a:t>
            </a:r>
            <a:r>
              <a:rPr lang="en-US" dirty="0" smtClean="0"/>
              <a:t>sub problems </a:t>
            </a:r>
            <a:r>
              <a:rPr lang="en-US" dirty="0"/>
              <a:t>(top level) into a solution of the whole original problem</a:t>
            </a:r>
            <a:r>
              <a:rPr lang="en-US" dirty="0" smtClean="0"/>
              <a:t>.</a:t>
            </a:r>
          </a:p>
          <a:p>
            <a:pPr lvl="1"/>
            <a:r>
              <a:rPr lang="en-US" dirty="0"/>
              <a:t>Example: Merge sort, Quicksort.</a:t>
            </a:r>
          </a:p>
          <a:p>
            <a:pPr lvl="1"/>
            <a:endParaRPr lang="en-US" dirty="0"/>
          </a:p>
          <a:p>
            <a:pPr lvl="1"/>
            <a:endParaRPr lang="en-US" dirty="0" smtClean="0"/>
          </a:p>
          <a:p>
            <a:endParaRPr lang="en-US" dirty="0"/>
          </a:p>
        </p:txBody>
      </p:sp>
      <p:sp>
        <p:nvSpPr>
          <p:cNvPr id="2" name="Slide Number Placeholder 1"/>
          <p:cNvSpPr>
            <a:spLocks noGrp="1"/>
          </p:cNvSpPr>
          <p:nvPr>
            <p:ph type="sldNum" sz="quarter" idx="12"/>
          </p:nvPr>
        </p:nvSpPr>
        <p:spPr/>
        <p:txBody>
          <a:bodyPr/>
          <a:lstStyle/>
          <a:p>
            <a:fld id="{9FB0BF6E-FAFB-46B7-AEE3-3DAA4B58C0A6}" type="slidenum">
              <a:rPr lang="en-IN" smtClean="0"/>
              <a:t>27</a:t>
            </a:fld>
            <a:endParaRPr lang="en-IN"/>
          </a:p>
        </p:txBody>
      </p:sp>
    </p:spTree>
    <p:extLst>
      <p:ext uri="{BB962C8B-B14F-4D97-AF65-F5344CB8AC3E}">
        <p14:creationId xmlns:p14="http://schemas.microsoft.com/office/powerpoint/2010/main" val="20296126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Examples</a:t>
            </a:r>
          </a:p>
          <a:p>
            <a:pPr lvl="1"/>
            <a:r>
              <a:rPr lang="en-US" dirty="0" smtClean="0"/>
              <a:t>Binary Search</a:t>
            </a:r>
          </a:p>
          <a:p>
            <a:pPr lvl="1"/>
            <a:r>
              <a:rPr lang="en-US" dirty="0" smtClean="0"/>
              <a:t>Merge Sort</a:t>
            </a:r>
          </a:p>
          <a:p>
            <a:pPr lvl="1"/>
            <a:r>
              <a:rPr lang="en-US" dirty="0" smtClean="0"/>
              <a:t>Quick Sort</a:t>
            </a:r>
          </a:p>
          <a:p>
            <a:pPr lvl="1"/>
            <a:r>
              <a:rPr lang="en-US" dirty="0" smtClean="0"/>
              <a:t>Strassen’s Matrix Multiplication</a:t>
            </a:r>
          </a:p>
          <a:p>
            <a:pPr lvl="1"/>
            <a:r>
              <a:rPr lang="en-US" dirty="0" smtClean="0"/>
              <a:t>Convex Hull</a:t>
            </a:r>
            <a:endParaRPr lang="en-IN" dirty="0"/>
          </a:p>
        </p:txBody>
      </p:sp>
      <p:sp>
        <p:nvSpPr>
          <p:cNvPr id="4" name="Slide Number Placeholder 3"/>
          <p:cNvSpPr>
            <a:spLocks noGrp="1"/>
          </p:cNvSpPr>
          <p:nvPr>
            <p:ph type="sldNum" sz="quarter" idx="12"/>
          </p:nvPr>
        </p:nvSpPr>
        <p:spPr/>
        <p:txBody>
          <a:bodyPr/>
          <a:lstStyle/>
          <a:p>
            <a:fld id="{9FB0BF6E-FAFB-46B7-AEE3-3DAA4B58C0A6}" type="slidenum">
              <a:rPr lang="en-IN" smtClean="0"/>
              <a:t>28</a:t>
            </a:fld>
            <a:endParaRPr lang="en-IN"/>
          </a:p>
        </p:txBody>
      </p:sp>
    </p:spTree>
    <p:extLst>
      <p:ext uri="{BB962C8B-B14F-4D97-AF65-F5344CB8AC3E}">
        <p14:creationId xmlns:p14="http://schemas.microsoft.com/office/powerpoint/2010/main" val="31824254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332656"/>
            <a:ext cx="8424936" cy="6408712"/>
          </a:xfrm>
        </p:spPr>
        <p:txBody>
          <a:bodyPr>
            <a:normAutofit fontScale="85000" lnSpcReduction="20000"/>
          </a:bodyPr>
          <a:lstStyle/>
          <a:p>
            <a:r>
              <a:rPr lang="en-US" b="1" dirty="0">
                <a:solidFill>
                  <a:srgbClr val="FF0000"/>
                </a:solidFill>
              </a:rPr>
              <a:t>Greedy Method</a:t>
            </a:r>
            <a:r>
              <a:rPr lang="en-US" dirty="0"/>
              <a:t>: </a:t>
            </a:r>
          </a:p>
          <a:p>
            <a:pPr lvl="1" algn="just"/>
            <a:r>
              <a:rPr lang="en-US" sz="3300" dirty="0"/>
              <a:t>In the greedy method, at each step, a decision is made to choose the </a:t>
            </a:r>
            <a:r>
              <a:rPr lang="en-US" sz="3300" dirty="0">
                <a:solidFill>
                  <a:srgbClr val="FF0000"/>
                </a:solidFill>
              </a:rPr>
              <a:t>local </a:t>
            </a:r>
            <a:r>
              <a:rPr lang="en-US" sz="3300" dirty="0" smtClean="0">
                <a:solidFill>
                  <a:srgbClr val="FF0000"/>
                </a:solidFill>
              </a:rPr>
              <a:t>optimum</a:t>
            </a:r>
            <a:r>
              <a:rPr lang="en-US" sz="3300" dirty="0" smtClean="0">
                <a:solidFill>
                  <a:srgbClr val="FF0000"/>
                </a:solidFill>
              </a:rPr>
              <a:t>, without </a:t>
            </a:r>
            <a:r>
              <a:rPr lang="en-US" sz="3300" dirty="0">
                <a:solidFill>
                  <a:srgbClr val="FF0000"/>
                </a:solidFill>
              </a:rPr>
              <a:t>thinking about the future consequences</a:t>
            </a:r>
            <a:r>
              <a:rPr lang="en-US" sz="3300" dirty="0"/>
              <a:t>. </a:t>
            </a:r>
          </a:p>
          <a:p>
            <a:pPr lvl="1"/>
            <a:r>
              <a:rPr lang="en-US" sz="3300" dirty="0"/>
              <a:t>Greedy method is used to solve the optimization problem. </a:t>
            </a:r>
            <a:endParaRPr lang="en-US" sz="3300" dirty="0" smtClean="0"/>
          </a:p>
          <a:p>
            <a:pPr lvl="1"/>
            <a:r>
              <a:rPr lang="en-US" sz="3300" dirty="0" smtClean="0"/>
              <a:t>An </a:t>
            </a:r>
            <a:r>
              <a:rPr lang="en-US" sz="3300" dirty="0"/>
              <a:t>optimization problem is one in which we are given a set of input values, which are required either to be </a:t>
            </a:r>
            <a:r>
              <a:rPr lang="en-US" sz="3300" dirty="0">
                <a:solidFill>
                  <a:srgbClr val="FF0000"/>
                </a:solidFill>
              </a:rPr>
              <a:t>maximized or minimized </a:t>
            </a:r>
            <a:r>
              <a:rPr lang="en-US" sz="3300" dirty="0"/>
              <a:t>(known as objective), i.e. some constraints or conditions.</a:t>
            </a:r>
          </a:p>
          <a:p>
            <a:pPr lvl="1"/>
            <a:r>
              <a:rPr lang="en-US" sz="3300" dirty="0"/>
              <a:t>Greedy Algorithm always makes the choice (greedy criteria) looks best at the moment, to </a:t>
            </a:r>
            <a:r>
              <a:rPr lang="en-US" sz="3300" dirty="0">
                <a:solidFill>
                  <a:srgbClr val="FF0000"/>
                </a:solidFill>
              </a:rPr>
              <a:t>optimize a given objective.</a:t>
            </a:r>
          </a:p>
          <a:p>
            <a:pPr lvl="1"/>
            <a:r>
              <a:rPr lang="en-US" sz="3300" dirty="0"/>
              <a:t>The greedy algorithm </a:t>
            </a:r>
            <a:r>
              <a:rPr lang="en-US" sz="3300" dirty="0">
                <a:solidFill>
                  <a:srgbClr val="FF0000"/>
                </a:solidFill>
              </a:rPr>
              <a:t>doesn't always guarantee </a:t>
            </a:r>
            <a:r>
              <a:rPr lang="en-US" sz="3300" dirty="0"/>
              <a:t>the optimal solution however it generally produces a solution that is </a:t>
            </a:r>
            <a:r>
              <a:rPr lang="en-US" sz="3300" dirty="0">
                <a:solidFill>
                  <a:srgbClr val="FF0000"/>
                </a:solidFill>
              </a:rPr>
              <a:t>very close in value to the optimal</a:t>
            </a:r>
            <a:r>
              <a:rPr lang="en-US" sz="3300" dirty="0"/>
              <a:t>.</a:t>
            </a:r>
          </a:p>
          <a:p>
            <a:pPr lvl="1"/>
            <a:r>
              <a:rPr lang="en-US" sz="3300" dirty="0" smtClean="0"/>
              <a:t>Example</a:t>
            </a:r>
            <a:r>
              <a:rPr lang="en-US" sz="3300" dirty="0"/>
              <a:t>: Fractional Knapsack, Activity Selection.</a:t>
            </a:r>
          </a:p>
          <a:p>
            <a:endParaRPr lang="en-IN" sz="3300" dirty="0"/>
          </a:p>
        </p:txBody>
      </p:sp>
      <p:sp>
        <p:nvSpPr>
          <p:cNvPr id="2" name="Slide Number Placeholder 1"/>
          <p:cNvSpPr>
            <a:spLocks noGrp="1"/>
          </p:cNvSpPr>
          <p:nvPr>
            <p:ph type="sldNum" sz="quarter" idx="12"/>
          </p:nvPr>
        </p:nvSpPr>
        <p:spPr/>
        <p:txBody>
          <a:bodyPr/>
          <a:lstStyle/>
          <a:p>
            <a:fld id="{9FB0BF6E-FAFB-46B7-AEE3-3DAA4B58C0A6}" type="slidenum">
              <a:rPr lang="en-IN" smtClean="0"/>
              <a:t>29</a:t>
            </a:fld>
            <a:endParaRPr lang="en-IN"/>
          </a:p>
        </p:txBody>
      </p:sp>
    </p:spTree>
    <p:extLst>
      <p:ext uri="{BB962C8B-B14F-4D97-AF65-F5344CB8AC3E}">
        <p14:creationId xmlns:p14="http://schemas.microsoft.com/office/powerpoint/2010/main" val="15701438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Example of Greedy Algorithms</a:t>
            </a:r>
            <a:endParaRPr lang="en-IN" dirty="0"/>
          </a:p>
          <a:p>
            <a:pPr lvl="1"/>
            <a:r>
              <a:rPr lang="en-IN" dirty="0" smtClean="0"/>
              <a:t>Machine </a:t>
            </a:r>
            <a:r>
              <a:rPr lang="en-IN" dirty="0"/>
              <a:t>scheduling</a:t>
            </a:r>
          </a:p>
          <a:p>
            <a:pPr lvl="1"/>
            <a:r>
              <a:rPr lang="en-IN" dirty="0"/>
              <a:t>Fractional Knapsack Problem</a:t>
            </a:r>
          </a:p>
          <a:p>
            <a:pPr lvl="1"/>
            <a:r>
              <a:rPr lang="en-IN" dirty="0"/>
              <a:t>Minimum Spanning Tree</a:t>
            </a:r>
          </a:p>
          <a:p>
            <a:pPr lvl="1"/>
            <a:r>
              <a:rPr lang="en-IN" dirty="0"/>
              <a:t>Huffman Code</a:t>
            </a:r>
          </a:p>
          <a:p>
            <a:pPr lvl="1"/>
            <a:r>
              <a:rPr lang="en-IN" dirty="0"/>
              <a:t>Job Sequencing</a:t>
            </a:r>
          </a:p>
          <a:p>
            <a:pPr lvl="1"/>
            <a:r>
              <a:rPr lang="en-IN" dirty="0"/>
              <a:t>Activity Selection Problem</a:t>
            </a:r>
          </a:p>
          <a:p>
            <a:endParaRPr lang="en-IN" dirty="0"/>
          </a:p>
        </p:txBody>
      </p:sp>
      <p:sp>
        <p:nvSpPr>
          <p:cNvPr id="4" name="Slide Number Placeholder 3"/>
          <p:cNvSpPr>
            <a:spLocks noGrp="1"/>
          </p:cNvSpPr>
          <p:nvPr>
            <p:ph type="sldNum" sz="quarter" idx="12"/>
          </p:nvPr>
        </p:nvSpPr>
        <p:spPr/>
        <p:txBody>
          <a:bodyPr/>
          <a:lstStyle/>
          <a:p>
            <a:fld id="{9FB0BF6E-FAFB-46B7-AEE3-3DAA4B58C0A6}" type="slidenum">
              <a:rPr lang="en-IN" smtClean="0"/>
              <a:t>30</a:t>
            </a:fld>
            <a:endParaRPr lang="en-IN"/>
          </a:p>
        </p:txBody>
      </p:sp>
    </p:spTree>
    <p:extLst>
      <p:ext uri="{BB962C8B-B14F-4D97-AF65-F5344CB8AC3E}">
        <p14:creationId xmlns:p14="http://schemas.microsoft.com/office/powerpoint/2010/main" val="34481866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88640"/>
            <a:ext cx="8856984" cy="6408712"/>
          </a:xfrm>
        </p:spPr>
        <p:txBody>
          <a:bodyPr>
            <a:normAutofit fontScale="92500" lnSpcReduction="10000"/>
          </a:bodyPr>
          <a:lstStyle/>
          <a:p>
            <a:r>
              <a:rPr lang="en-US" b="1" dirty="0">
                <a:solidFill>
                  <a:srgbClr val="FF0000"/>
                </a:solidFill>
              </a:rPr>
              <a:t>Dynamic Programming</a:t>
            </a:r>
            <a:r>
              <a:rPr lang="en-US" dirty="0"/>
              <a:t>: </a:t>
            </a:r>
          </a:p>
          <a:p>
            <a:pPr lvl="1"/>
            <a:r>
              <a:rPr lang="en-US" dirty="0"/>
              <a:t>The approach of Dynamic programming is similar to divide and conquer. </a:t>
            </a:r>
          </a:p>
          <a:p>
            <a:pPr lvl="1"/>
            <a:r>
              <a:rPr lang="en-US" dirty="0"/>
              <a:t>The difference is that whenever we have recursive function calls with the same result, instead of calling them again we try to store the result in a data structure in the form of a table and retrieve the results from the table. </a:t>
            </a:r>
          </a:p>
          <a:p>
            <a:pPr lvl="1"/>
            <a:r>
              <a:rPr lang="en-US" dirty="0"/>
              <a:t>Thus, the overall time complexity is reduced. “Dynamic” means we </a:t>
            </a:r>
            <a:r>
              <a:rPr lang="en-US" dirty="0">
                <a:solidFill>
                  <a:srgbClr val="FF0000"/>
                </a:solidFill>
              </a:rPr>
              <a:t>dynamically decide, whether to call a function or retrieve values from the table</a:t>
            </a:r>
            <a:r>
              <a:rPr lang="en-US" dirty="0"/>
              <a:t>. </a:t>
            </a:r>
            <a:endParaRPr lang="en-US" dirty="0" smtClean="0"/>
          </a:p>
          <a:p>
            <a:pPr lvl="1"/>
            <a:r>
              <a:rPr lang="en-US" dirty="0"/>
              <a:t> Dynamic Programming is a bottom-up approach we solve all possible small problems and then combine them to obtain solutions for bigger problems</a:t>
            </a:r>
            <a:r>
              <a:rPr lang="en-US" dirty="0" smtClean="0"/>
              <a:t>.</a:t>
            </a:r>
          </a:p>
          <a:p>
            <a:pPr lvl="1"/>
            <a:r>
              <a:rPr lang="en-US" dirty="0"/>
              <a:t>Dynamic Programming is frequently related to </a:t>
            </a:r>
            <a:r>
              <a:rPr lang="en-US" b="1" dirty="0"/>
              <a:t>Optimization Problems</a:t>
            </a:r>
            <a:r>
              <a:rPr lang="en-US" dirty="0"/>
              <a:t>.</a:t>
            </a:r>
          </a:p>
          <a:p>
            <a:pPr lvl="1"/>
            <a:r>
              <a:rPr lang="en-US" dirty="0"/>
              <a:t>Example: 0-1 Knapsack, subset-sum problem.</a:t>
            </a:r>
          </a:p>
          <a:p>
            <a:endParaRPr lang="en-IN" dirty="0"/>
          </a:p>
        </p:txBody>
      </p:sp>
      <p:sp>
        <p:nvSpPr>
          <p:cNvPr id="2" name="Slide Number Placeholder 1"/>
          <p:cNvSpPr>
            <a:spLocks noGrp="1"/>
          </p:cNvSpPr>
          <p:nvPr>
            <p:ph type="sldNum" sz="quarter" idx="12"/>
          </p:nvPr>
        </p:nvSpPr>
        <p:spPr/>
        <p:txBody>
          <a:bodyPr/>
          <a:lstStyle/>
          <a:p>
            <a:fld id="{9FB0BF6E-FAFB-46B7-AEE3-3DAA4B58C0A6}" type="slidenum">
              <a:rPr lang="en-IN" smtClean="0"/>
              <a:t>31</a:t>
            </a:fld>
            <a:endParaRPr lang="en-IN"/>
          </a:p>
        </p:txBody>
      </p:sp>
    </p:spTree>
    <p:extLst>
      <p:ext uri="{BB962C8B-B14F-4D97-AF65-F5344CB8AC3E}">
        <p14:creationId xmlns:p14="http://schemas.microsoft.com/office/powerpoint/2010/main" val="427607542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Examples</a:t>
            </a:r>
          </a:p>
          <a:p>
            <a:pPr lvl="1"/>
            <a:r>
              <a:rPr lang="en-US" dirty="0" smtClean="0"/>
              <a:t>Multistage Graphs</a:t>
            </a:r>
          </a:p>
          <a:p>
            <a:pPr lvl="1"/>
            <a:r>
              <a:rPr lang="en-US" dirty="0" smtClean="0"/>
              <a:t>All Pairs Shortest Path</a:t>
            </a:r>
          </a:p>
          <a:p>
            <a:pPr lvl="1"/>
            <a:r>
              <a:rPr lang="en-US" dirty="0" smtClean="0"/>
              <a:t>Single source shortest Path</a:t>
            </a:r>
          </a:p>
          <a:p>
            <a:pPr lvl="1"/>
            <a:r>
              <a:rPr lang="en-US" dirty="0" smtClean="0"/>
              <a:t>0/1 knapsack</a:t>
            </a:r>
          </a:p>
          <a:p>
            <a:pPr lvl="1"/>
            <a:r>
              <a:rPr lang="en-US" dirty="0" smtClean="0"/>
              <a:t>Travelling Salesman Problem</a:t>
            </a:r>
          </a:p>
          <a:p>
            <a:pPr lvl="1"/>
            <a:r>
              <a:rPr lang="en-US" dirty="0" smtClean="0"/>
              <a:t>Flow shop scheduling</a:t>
            </a:r>
            <a:endParaRPr lang="en-IN" dirty="0"/>
          </a:p>
        </p:txBody>
      </p:sp>
      <p:sp>
        <p:nvSpPr>
          <p:cNvPr id="4" name="Slide Number Placeholder 3"/>
          <p:cNvSpPr>
            <a:spLocks noGrp="1"/>
          </p:cNvSpPr>
          <p:nvPr>
            <p:ph type="sldNum" sz="quarter" idx="12"/>
          </p:nvPr>
        </p:nvSpPr>
        <p:spPr/>
        <p:txBody>
          <a:bodyPr/>
          <a:lstStyle/>
          <a:p>
            <a:fld id="{9FB0BF6E-FAFB-46B7-AEE3-3DAA4B58C0A6}" type="slidenum">
              <a:rPr lang="en-IN" smtClean="0"/>
              <a:t>32</a:t>
            </a:fld>
            <a:endParaRPr lang="en-IN"/>
          </a:p>
        </p:txBody>
      </p:sp>
    </p:spTree>
    <p:extLst>
      <p:ext uri="{BB962C8B-B14F-4D97-AF65-F5344CB8AC3E}">
        <p14:creationId xmlns:p14="http://schemas.microsoft.com/office/powerpoint/2010/main" val="374811414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16632"/>
            <a:ext cx="8496944" cy="6624736"/>
          </a:xfrm>
        </p:spPr>
        <p:txBody>
          <a:bodyPr>
            <a:noAutofit/>
          </a:bodyPr>
          <a:lstStyle/>
          <a:p>
            <a:r>
              <a:rPr lang="en-US" sz="3600" b="1" dirty="0">
                <a:solidFill>
                  <a:srgbClr val="FF0000"/>
                </a:solidFill>
              </a:rPr>
              <a:t>Backtracking: </a:t>
            </a:r>
          </a:p>
          <a:p>
            <a:r>
              <a:rPr lang="en-US" sz="2800" dirty="0"/>
              <a:t>Backtracking Algorithm tries each possibility until they find the right one</a:t>
            </a:r>
            <a:r>
              <a:rPr lang="en-US" sz="2800" dirty="0" smtClean="0"/>
              <a:t>.</a:t>
            </a:r>
          </a:p>
          <a:p>
            <a:r>
              <a:rPr lang="en-US" sz="2800" dirty="0" smtClean="0"/>
              <a:t>It </a:t>
            </a:r>
            <a:r>
              <a:rPr lang="en-US" sz="2800" dirty="0"/>
              <a:t>is a depth-first search of the set of possible solution. During the search, if an alternative doesn't work, then backtrack to the choice point, the place which presented different alternatives, and tries the next alternative.</a:t>
            </a:r>
          </a:p>
          <a:p>
            <a:r>
              <a:rPr lang="en-US" sz="2800" dirty="0" smtClean="0"/>
              <a:t>This </a:t>
            </a:r>
            <a:r>
              <a:rPr lang="en-US" sz="2800" dirty="0"/>
              <a:t>technique is very useful in </a:t>
            </a:r>
            <a:r>
              <a:rPr lang="en-US" sz="2800" dirty="0">
                <a:solidFill>
                  <a:srgbClr val="FF0000"/>
                </a:solidFill>
              </a:rPr>
              <a:t>solving combinatorial problems</a:t>
            </a:r>
            <a:r>
              <a:rPr lang="en-US" sz="2800" dirty="0"/>
              <a:t> that have a single unique solution. </a:t>
            </a:r>
          </a:p>
          <a:p>
            <a:r>
              <a:rPr lang="en-US" sz="2800" dirty="0"/>
              <a:t>Where we have to find the correct combination of steps that lead to fulfillment of the task.  </a:t>
            </a:r>
            <a:endParaRPr lang="en-US" sz="2800" dirty="0" smtClean="0"/>
          </a:p>
          <a:p>
            <a:r>
              <a:rPr lang="en-US" sz="2800" dirty="0" smtClean="0"/>
              <a:t>Backtracking is </a:t>
            </a:r>
            <a:r>
              <a:rPr lang="en-US" sz="2800" dirty="0" smtClean="0">
                <a:solidFill>
                  <a:srgbClr val="FF0000"/>
                </a:solidFill>
              </a:rPr>
              <a:t>not an </a:t>
            </a:r>
            <a:r>
              <a:rPr lang="en-US" sz="2800" dirty="0">
                <a:solidFill>
                  <a:srgbClr val="FF0000"/>
                </a:solidFill>
              </a:rPr>
              <a:t>optimization problem </a:t>
            </a:r>
            <a:r>
              <a:rPr lang="en-US" sz="2800" dirty="0" smtClean="0"/>
              <a:t>instead it is deciding the solution using </a:t>
            </a:r>
            <a:r>
              <a:rPr lang="en-US" sz="2800" dirty="0" smtClean="0">
                <a:solidFill>
                  <a:srgbClr val="FF0000"/>
                </a:solidFill>
              </a:rPr>
              <a:t>multiple options</a:t>
            </a:r>
            <a:endParaRPr lang="en-US" sz="2800" dirty="0">
              <a:solidFill>
                <a:srgbClr val="FF0000"/>
              </a:solidFill>
            </a:endParaRPr>
          </a:p>
        </p:txBody>
      </p:sp>
      <p:sp>
        <p:nvSpPr>
          <p:cNvPr id="2" name="Slide Number Placeholder 1"/>
          <p:cNvSpPr>
            <a:spLocks noGrp="1"/>
          </p:cNvSpPr>
          <p:nvPr>
            <p:ph type="sldNum" sz="quarter" idx="12"/>
          </p:nvPr>
        </p:nvSpPr>
        <p:spPr/>
        <p:txBody>
          <a:bodyPr/>
          <a:lstStyle/>
          <a:p>
            <a:fld id="{9FB0BF6E-FAFB-46B7-AEE3-3DAA4B58C0A6}" type="slidenum">
              <a:rPr lang="en-IN" smtClean="0"/>
              <a:t>33</a:t>
            </a:fld>
            <a:endParaRPr lang="en-IN"/>
          </a:p>
        </p:txBody>
      </p:sp>
    </p:spTree>
    <p:extLst>
      <p:ext uri="{BB962C8B-B14F-4D97-AF65-F5344CB8AC3E}">
        <p14:creationId xmlns:p14="http://schemas.microsoft.com/office/powerpoint/2010/main" val="387364903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40"/>
            <a:ext cx="8229600" cy="5937523"/>
          </a:xfrm>
        </p:spPr>
        <p:txBody>
          <a:bodyPr>
            <a:normAutofit lnSpcReduction="10000"/>
          </a:bodyPr>
          <a:lstStyle/>
          <a:p>
            <a:pPr algn="just"/>
            <a:r>
              <a:rPr lang="en-US" dirty="0"/>
              <a:t>Such problems have </a:t>
            </a:r>
            <a:r>
              <a:rPr lang="en-US" dirty="0">
                <a:solidFill>
                  <a:srgbClr val="FF0000"/>
                </a:solidFill>
              </a:rPr>
              <a:t>multiple stages and there are multiple options at each stage</a:t>
            </a:r>
            <a:r>
              <a:rPr lang="en-US" dirty="0"/>
              <a:t>. </a:t>
            </a:r>
            <a:endParaRPr lang="en-US" dirty="0" smtClean="0"/>
          </a:p>
          <a:p>
            <a:pPr algn="just"/>
            <a:r>
              <a:rPr lang="en-US" dirty="0" smtClean="0"/>
              <a:t>This </a:t>
            </a:r>
            <a:r>
              <a:rPr lang="en-US" dirty="0"/>
              <a:t>approach is based on </a:t>
            </a:r>
            <a:r>
              <a:rPr lang="en-US" dirty="0">
                <a:solidFill>
                  <a:srgbClr val="FF0000"/>
                </a:solidFill>
              </a:rPr>
              <a:t>exploring each available option at every stage one-by-one</a:t>
            </a:r>
            <a:r>
              <a:rPr lang="en-US" dirty="0"/>
              <a:t>. </a:t>
            </a:r>
          </a:p>
          <a:p>
            <a:pPr algn="just"/>
            <a:r>
              <a:rPr lang="en-US" dirty="0"/>
              <a:t>While exploring an option if a point is reached that doesn’t seem to lead to the solution, the program control </a:t>
            </a:r>
            <a:r>
              <a:rPr lang="en-US" dirty="0">
                <a:solidFill>
                  <a:srgbClr val="FF0000"/>
                </a:solidFill>
              </a:rPr>
              <a:t>backtracks one step</a:t>
            </a:r>
            <a:r>
              <a:rPr lang="en-US" dirty="0"/>
              <a:t>, and starts exploring the next option.</a:t>
            </a:r>
          </a:p>
          <a:p>
            <a:pPr algn="just"/>
            <a:r>
              <a:rPr lang="en-US" dirty="0"/>
              <a:t> In this way, the program explores all possible course of actions and </a:t>
            </a:r>
            <a:r>
              <a:rPr lang="en-US" dirty="0">
                <a:solidFill>
                  <a:srgbClr val="FF0000"/>
                </a:solidFill>
              </a:rPr>
              <a:t>finds the route that leads to the solution.  </a:t>
            </a:r>
          </a:p>
          <a:p>
            <a:r>
              <a:rPr lang="en-US" dirty="0"/>
              <a:t>Example: N-queen problem, maize problem. </a:t>
            </a:r>
            <a:endParaRPr lang="en-IN" dirty="0"/>
          </a:p>
          <a:p>
            <a:endParaRPr lang="en-IN" dirty="0"/>
          </a:p>
        </p:txBody>
      </p:sp>
      <p:sp>
        <p:nvSpPr>
          <p:cNvPr id="2" name="Slide Number Placeholder 1"/>
          <p:cNvSpPr>
            <a:spLocks noGrp="1"/>
          </p:cNvSpPr>
          <p:nvPr>
            <p:ph type="sldNum" sz="quarter" idx="12"/>
          </p:nvPr>
        </p:nvSpPr>
        <p:spPr/>
        <p:txBody>
          <a:bodyPr/>
          <a:lstStyle/>
          <a:p>
            <a:fld id="{9FB0BF6E-FAFB-46B7-AEE3-3DAA4B58C0A6}" type="slidenum">
              <a:rPr lang="en-IN" smtClean="0"/>
              <a:t>34</a:t>
            </a:fld>
            <a:endParaRPr lang="en-IN"/>
          </a:p>
        </p:txBody>
      </p:sp>
    </p:spTree>
    <p:extLst>
      <p:ext uri="{BB962C8B-B14F-4D97-AF65-F5344CB8AC3E}">
        <p14:creationId xmlns:p14="http://schemas.microsoft.com/office/powerpoint/2010/main" val="387068990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Examples</a:t>
            </a:r>
          </a:p>
          <a:p>
            <a:pPr lvl="1"/>
            <a:r>
              <a:rPr lang="en-US" dirty="0" smtClean="0"/>
              <a:t>8 Queen Problem</a:t>
            </a:r>
          </a:p>
          <a:p>
            <a:pPr lvl="1"/>
            <a:r>
              <a:rPr lang="en-US" dirty="0" smtClean="0"/>
              <a:t>Sum of Subsets</a:t>
            </a:r>
          </a:p>
          <a:p>
            <a:pPr lvl="1"/>
            <a:r>
              <a:rPr lang="en-US" dirty="0" smtClean="0"/>
              <a:t>Graph Coloring</a:t>
            </a:r>
          </a:p>
          <a:p>
            <a:pPr lvl="1"/>
            <a:r>
              <a:rPr lang="en-US" dirty="0" smtClean="0"/>
              <a:t>Hamiltonian Cycles</a:t>
            </a:r>
          </a:p>
          <a:p>
            <a:pPr lvl="1"/>
            <a:r>
              <a:rPr lang="en-US" dirty="0" smtClean="0"/>
              <a:t>Knapsack Problem</a:t>
            </a:r>
            <a:endParaRPr lang="en-IN" dirty="0"/>
          </a:p>
        </p:txBody>
      </p:sp>
      <p:sp>
        <p:nvSpPr>
          <p:cNvPr id="4" name="Slide Number Placeholder 3"/>
          <p:cNvSpPr>
            <a:spLocks noGrp="1"/>
          </p:cNvSpPr>
          <p:nvPr>
            <p:ph type="sldNum" sz="quarter" idx="12"/>
          </p:nvPr>
        </p:nvSpPr>
        <p:spPr/>
        <p:txBody>
          <a:bodyPr/>
          <a:lstStyle/>
          <a:p>
            <a:fld id="{9FB0BF6E-FAFB-46B7-AEE3-3DAA4B58C0A6}" type="slidenum">
              <a:rPr lang="en-IN" smtClean="0"/>
              <a:t>35</a:t>
            </a:fld>
            <a:endParaRPr lang="en-IN"/>
          </a:p>
        </p:txBody>
      </p:sp>
    </p:spTree>
    <p:extLst>
      <p:ext uri="{BB962C8B-B14F-4D97-AF65-F5344CB8AC3E}">
        <p14:creationId xmlns:p14="http://schemas.microsoft.com/office/powerpoint/2010/main" val="213300617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88640"/>
            <a:ext cx="8229600" cy="6192688"/>
          </a:xfrm>
        </p:spPr>
        <p:txBody>
          <a:bodyPr>
            <a:noAutofit/>
          </a:bodyPr>
          <a:lstStyle/>
          <a:p>
            <a:pPr marL="0" indent="0" algn="just">
              <a:buNone/>
            </a:pPr>
            <a:r>
              <a:rPr lang="en-US" sz="4000" b="1" dirty="0">
                <a:solidFill>
                  <a:srgbClr val="FF0000"/>
                </a:solidFill>
              </a:rPr>
              <a:t>Branch and Bound: </a:t>
            </a:r>
          </a:p>
          <a:p>
            <a:pPr algn="just"/>
            <a:r>
              <a:rPr lang="en-US" sz="2700" dirty="0" smtClean="0"/>
              <a:t>In </a:t>
            </a:r>
            <a:r>
              <a:rPr lang="en-US" sz="2700" dirty="0"/>
              <a:t>Branch &amp; Bound algorithm a given </a:t>
            </a:r>
            <a:r>
              <a:rPr lang="en-US" sz="2700" dirty="0" smtClean="0"/>
              <a:t>sub problem</a:t>
            </a:r>
            <a:r>
              <a:rPr lang="en-US" sz="2700" dirty="0"/>
              <a:t>, which cannot be bounded, has to be divided into at least two new restricted </a:t>
            </a:r>
            <a:r>
              <a:rPr lang="en-US" sz="2700" dirty="0" smtClean="0"/>
              <a:t>sub problems</a:t>
            </a:r>
            <a:r>
              <a:rPr lang="en-US" sz="2700" dirty="0"/>
              <a:t>. </a:t>
            </a:r>
            <a:endParaRPr lang="en-US" sz="2700" dirty="0" smtClean="0"/>
          </a:p>
          <a:p>
            <a:pPr algn="just"/>
            <a:r>
              <a:rPr lang="en-US" sz="2700" dirty="0"/>
              <a:t>Consist of a systematic enumeration of candidate solutions by means of </a:t>
            </a:r>
            <a:r>
              <a:rPr lang="en-US" sz="2700" dirty="0">
                <a:solidFill>
                  <a:srgbClr val="FF0000"/>
                </a:solidFill>
              </a:rPr>
              <a:t>state space search </a:t>
            </a:r>
          </a:p>
          <a:p>
            <a:pPr algn="just"/>
            <a:r>
              <a:rPr lang="en-US" sz="2700" dirty="0" smtClean="0"/>
              <a:t>Branch </a:t>
            </a:r>
            <a:r>
              <a:rPr lang="en-US" sz="2700" dirty="0"/>
              <a:t>and Bound algorithm are methods for </a:t>
            </a:r>
            <a:r>
              <a:rPr lang="en-US" sz="2700" dirty="0">
                <a:solidFill>
                  <a:srgbClr val="FF0000"/>
                </a:solidFill>
              </a:rPr>
              <a:t>global optimization </a:t>
            </a:r>
            <a:r>
              <a:rPr lang="en-US" sz="2700" dirty="0"/>
              <a:t>in non-convex problems. </a:t>
            </a:r>
            <a:endParaRPr lang="en-US" sz="2700" dirty="0" smtClean="0"/>
          </a:p>
          <a:p>
            <a:pPr algn="just"/>
            <a:r>
              <a:rPr lang="en-US" sz="2700" dirty="0" smtClean="0"/>
              <a:t>Branch </a:t>
            </a:r>
            <a:r>
              <a:rPr lang="en-US" sz="2700" dirty="0"/>
              <a:t>and Bound algorithms can be slow, however in the worst case they require effort that grows exponentially with problem size, but in some cases we are lucky, and the method coverage with much less effort</a:t>
            </a:r>
            <a:r>
              <a:rPr lang="en-US" sz="2700" dirty="0" smtClean="0"/>
              <a:t>. </a:t>
            </a:r>
          </a:p>
        </p:txBody>
      </p:sp>
      <p:sp>
        <p:nvSpPr>
          <p:cNvPr id="2" name="Slide Number Placeholder 1"/>
          <p:cNvSpPr>
            <a:spLocks noGrp="1"/>
          </p:cNvSpPr>
          <p:nvPr>
            <p:ph type="sldNum" sz="quarter" idx="12"/>
          </p:nvPr>
        </p:nvSpPr>
        <p:spPr/>
        <p:txBody>
          <a:bodyPr/>
          <a:lstStyle/>
          <a:p>
            <a:fld id="{9FB0BF6E-FAFB-46B7-AEE3-3DAA4B58C0A6}" type="slidenum">
              <a:rPr lang="en-IN" smtClean="0"/>
              <a:t>36</a:t>
            </a:fld>
            <a:endParaRPr lang="en-IN"/>
          </a:p>
        </p:txBody>
      </p:sp>
    </p:spTree>
    <p:extLst>
      <p:ext uri="{BB962C8B-B14F-4D97-AF65-F5344CB8AC3E}">
        <p14:creationId xmlns:p14="http://schemas.microsoft.com/office/powerpoint/2010/main" val="7875526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6632"/>
            <a:ext cx="8229600" cy="6480720"/>
          </a:xfrm>
        </p:spPr>
        <p:txBody>
          <a:bodyPr>
            <a:normAutofit fontScale="85000" lnSpcReduction="10000"/>
          </a:bodyPr>
          <a:lstStyle/>
          <a:p>
            <a:pPr algn="just"/>
            <a:r>
              <a:rPr lang="en-US" dirty="0"/>
              <a:t>This technique is very useful in solving </a:t>
            </a:r>
            <a:r>
              <a:rPr lang="en-US" dirty="0">
                <a:solidFill>
                  <a:srgbClr val="FF0000"/>
                </a:solidFill>
              </a:rPr>
              <a:t>combinatorial optimization problem </a:t>
            </a:r>
            <a:r>
              <a:rPr lang="en-US" dirty="0"/>
              <a:t>that have multiple </a:t>
            </a:r>
            <a:r>
              <a:rPr lang="en-US" dirty="0">
                <a:solidFill>
                  <a:srgbClr val="FF0000"/>
                </a:solidFill>
              </a:rPr>
              <a:t>solutions</a:t>
            </a:r>
            <a:r>
              <a:rPr lang="en-US" dirty="0"/>
              <a:t> and we are interested in find the </a:t>
            </a:r>
            <a:r>
              <a:rPr lang="en-US" dirty="0">
                <a:solidFill>
                  <a:srgbClr val="FF0000"/>
                </a:solidFill>
              </a:rPr>
              <a:t>most optimum </a:t>
            </a:r>
            <a:r>
              <a:rPr lang="en-US" dirty="0" smtClean="0">
                <a:solidFill>
                  <a:srgbClr val="FF0000"/>
                </a:solidFill>
              </a:rPr>
              <a:t>solution</a:t>
            </a:r>
            <a:r>
              <a:rPr lang="en-US" dirty="0"/>
              <a:t> </a:t>
            </a:r>
            <a:r>
              <a:rPr lang="en-US" dirty="0" smtClean="0"/>
              <a:t>by considering the </a:t>
            </a:r>
            <a:r>
              <a:rPr lang="en-US" u="sng" dirty="0" smtClean="0">
                <a:solidFill>
                  <a:srgbClr val="FF0000"/>
                </a:solidFill>
              </a:rPr>
              <a:t>minimization</a:t>
            </a:r>
            <a:r>
              <a:rPr lang="en-US" dirty="0" smtClean="0">
                <a:solidFill>
                  <a:srgbClr val="FF0000"/>
                </a:solidFill>
              </a:rPr>
              <a:t> approach</a:t>
            </a:r>
          </a:p>
          <a:p>
            <a:pPr algn="just"/>
            <a:endParaRPr lang="en-US" dirty="0"/>
          </a:p>
          <a:p>
            <a:pPr algn="just"/>
            <a:r>
              <a:rPr lang="en-US" dirty="0" smtClean="0"/>
              <a:t>In </a:t>
            </a:r>
            <a:r>
              <a:rPr lang="en-US" dirty="0"/>
              <a:t>this approach, </a:t>
            </a:r>
            <a:r>
              <a:rPr lang="en-US" dirty="0">
                <a:solidFill>
                  <a:srgbClr val="FF0000"/>
                </a:solidFill>
              </a:rPr>
              <a:t>the entire solution space is represented in the form of a state space tree</a:t>
            </a:r>
            <a:r>
              <a:rPr lang="en-US" dirty="0"/>
              <a:t>. </a:t>
            </a:r>
            <a:endParaRPr lang="en-US" dirty="0" smtClean="0"/>
          </a:p>
          <a:p>
            <a:pPr algn="just"/>
            <a:endParaRPr lang="en-US" dirty="0"/>
          </a:p>
          <a:p>
            <a:pPr algn="just"/>
            <a:r>
              <a:rPr lang="en-US" dirty="0"/>
              <a:t>As the program progresses each state combination is explored, and the previous solution is replaced by new one if it is not the optimal than the current solution. </a:t>
            </a:r>
            <a:endParaRPr lang="en-US" dirty="0" smtClean="0"/>
          </a:p>
          <a:p>
            <a:pPr marL="0" indent="0" algn="just">
              <a:buNone/>
            </a:pPr>
            <a:endParaRPr lang="en-US" dirty="0"/>
          </a:p>
          <a:p>
            <a:pPr algn="just"/>
            <a:r>
              <a:rPr lang="en-US" dirty="0" smtClean="0"/>
              <a:t>Example</a:t>
            </a:r>
            <a:r>
              <a:rPr lang="en-US" dirty="0"/>
              <a:t>: Job sequencing, Travelling salesman problem</a:t>
            </a:r>
            <a:endParaRPr lang="en-IN" dirty="0"/>
          </a:p>
        </p:txBody>
      </p:sp>
      <p:sp>
        <p:nvSpPr>
          <p:cNvPr id="2" name="Slide Number Placeholder 1"/>
          <p:cNvSpPr>
            <a:spLocks noGrp="1"/>
          </p:cNvSpPr>
          <p:nvPr>
            <p:ph type="sldNum" sz="quarter" idx="12"/>
          </p:nvPr>
        </p:nvSpPr>
        <p:spPr/>
        <p:txBody>
          <a:bodyPr/>
          <a:lstStyle/>
          <a:p>
            <a:fld id="{9FB0BF6E-FAFB-46B7-AEE3-3DAA4B58C0A6}" type="slidenum">
              <a:rPr lang="en-IN" smtClean="0"/>
              <a:t>37</a:t>
            </a:fld>
            <a:endParaRPr lang="en-IN"/>
          </a:p>
        </p:txBody>
      </p:sp>
    </p:spTree>
    <p:extLst>
      <p:ext uri="{BB962C8B-B14F-4D97-AF65-F5344CB8AC3E}">
        <p14:creationId xmlns:p14="http://schemas.microsoft.com/office/powerpoint/2010/main" val="345688799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FB0BF6E-FAFB-46B7-AEE3-3DAA4B58C0A6}" type="slidenum">
              <a:rPr lang="en-IN" smtClean="0"/>
              <a:t>38</a:t>
            </a:fld>
            <a:endParaRPr lang="en-I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0688"/>
            <a:ext cx="9144000" cy="55446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3059832" y="116632"/>
            <a:ext cx="3456384" cy="369332"/>
          </a:xfrm>
          <a:prstGeom prst="rect">
            <a:avLst/>
          </a:prstGeom>
          <a:noFill/>
        </p:spPr>
        <p:txBody>
          <a:bodyPr wrap="square" rtlCol="0">
            <a:spAutoFit/>
          </a:bodyPr>
          <a:lstStyle/>
          <a:p>
            <a:pPr algn="ctr"/>
            <a:r>
              <a:rPr lang="en-US" dirty="0" smtClean="0"/>
              <a:t>Branch and Bound</a:t>
            </a:r>
            <a:endParaRPr lang="en-IN" dirty="0"/>
          </a:p>
        </p:txBody>
      </p:sp>
    </p:spTree>
    <p:extLst>
      <p:ext uri="{BB962C8B-B14F-4D97-AF65-F5344CB8AC3E}">
        <p14:creationId xmlns:p14="http://schemas.microsoft.com/office/powerpoint/2010/main" val="233083989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Example</a:t>
            </a:r>
          </a:p>
          <a:p>
            <a:pPr lvl="1"/>
            <a:r>
              <a:rPr lang="en-US" dirty="0" smtClean="0"/>
              <a:t>0/1 Knapsack problem</a:t>
            </a:r>
          </a:p>
          <a:p>
            <a:pPr lvl="1"/>
            <a:r>
              <a:rPr lang="en-US" dirty="0" smtClean="0"/>
              <a:t>FIFO BB</a:t>
            </a:r>
          </a:p>
          <a:p>
            <a:pPr lvl="1"/>
            <a:r>
              <a:rPr lang="en-US" dirty="0" smtClean="0"/>
              <a:t>LIFO BB</a:t>
            </a:r>
          </a:p>
          <a:p>
            <a:pPr lvl="1"/>
            <a:r>
              <a:rPr lang="en-US" dirty="0" smtClean="0"/>
              <a:t>Travelling Salesman Problem</a:t>
            </a:r>
          </a:p>
          <a:p>
            <a:pPr lvl="1"/>
            <a:endParaRPr lang="en-IN" dirty="0"/>
          </a:p>
        </p:txBody>
      </p:sp>
      <p:sp>
        <p:nvSpPr>
          <p:cNvPr id="4" name="Slide Number Placeholder 3"/>
          <p:cNvSpPr>
            <a:spLocks noGrp="1"/>
          </p:cNvSpPr>
          <p:nvPr>
            <p:ph type="sldNum" sz="quarter" idx="12"/>
          </p:nvPr>
        </p:nvSpPr>
        <p:spPr/>
        <p:txBody>
          <a:bodyPr/>
          <a:lstStyle/>
          <a:p>
            <a:fld id="{9FB0BF6E-FAFB-46B7-AEE3-3DAA4B58C0A6}" type="slidenum">
              <a:rPr lang="en-IN" smtClean="0"/>
              <a:t>39</a:t>
            </a:fld>
            <a:endParaRPr lang="en-IN"/>
          </a:p>
        </p:txBody>
      </p:sp>
    </p:spTree>
    <p:extLst>
      <p:ext uri="{BB962C8B-B14F-4D97-AF65-F5344CB8AC3E}">
        <p14:creationId xmlns:p14="http://schemas.microsoft.com/office/powerpoint/2010/main" val="56502307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40"/>
            <a:ext cx="8229600" cy="5937523"/>
          </a:xfrm>
        </p:spPr>
        <p:txBody>
          <a:bodyPr>
            <a:normAutofit fontScale="92500" lnSpcReduction="10000"/>
          </a:bodyPr>
          <a:lstStyle/>
          <a:p>
            <a:r>
              <a:rPr lang="en-US" b="1" dirty="0">
                <a:solidFill>
                  <a:srgbClr val="FF0000"/>
                </a:solidFill>
              </a:rPr>
              <a:t>Randomized Algorithms:</a:t>
            </a:r>
            <a:r>
              <a:rPr lang="en-US" dirty="0">
                <a:solidFill>
                  <a:srgbClr val="FF0000"/>
                </a:solidFill>
              </a:rPr>
              <a:t> </a:t>
            </a:r>
            <a:endParaRPr lang="en-US" dirty="0" smtClean="0">
              <a:solidFill>
                <a:srgbClr val="FF0000"/>
              </a:solidFill>
            </a:endParaRPr>
          </a:p>
          <a:p>
            <a:pPr algn="just"/>
            <a:r>
              <a:rPr lang="en-US" dirty="0" smtClean="0"/>
              <a:t>A </a:t>
            </a:r>
            <a:r>
              <a:rPr lang="en-US" dirty="0"/>
              <a:t>randomized algorithm is defined as an algorithm that is allowed to </a:t>
            </a:r>
            <a:r>
              <a:rPr lang="en-US" dirty="0">
                <a:solidFill>
                  <a:srgbClr val="FF0000"/>
                </a:solidFill>
              </a:rPr>
              <a:t>access a source of independent, unbiased random bits</a:t>
            </a:r>
            <a:r>
              <a:rPr lang="en-US" dirty="0"/>
              <a:t>, and it is then allowed to </a:t>
            </a:r>
            <a:r>
              <a:rPr lang="en-US" dirty="0">
                <a:solidFill>
                  <a:srgbClr val="FF0000"/>
                </a:solidFill>
              </a:rPr>
              <a:t>use these random bits to influence its computation</a:t>
            </a:r>
            <a:r>
              <a:rPr lang="en-US" dirty="0"/>
              <a:t>.</a:t>
            </a:r>
          </a:p>
          <a:p>
            <a:pPr algn="just"/>
            <a:r>
              <a:rPr lang="en-US" dirty="0"/>
              <a:t>A randomized algorithm uses a random number at least once during the computation make a decision.</a:t>
            </a:r>
          </a:p>
          <a:p>
            <a:r>
              <a:rPr lang="en-US" b="1" dirty="0"/>
              <a:t>Example 1:</a:t>
            </a:r>
            <a:r>
              <a:rPr lang="en-US" dirty="0"/>
              <a:t> In Quick Sort, using a random number to choose a pivot.</a:t>
            </a:r>
          </a:p>
          <a:p>
            <a:pPr algn="just"/>
            <a:r>
              <a:rPr lang="en-US" b="1" dirty="0"/>
              <a:t>Example 2:</a:t>
            </a:r>
            <a:r>
              <a:rPr lang="en-US" dirty="0"/>
              <a:t> Trying to factor a large number by choosing a random number as possible divisors</a:t>
            </a:r>
            <a:r>
              <a:rPr lang="en-US" dirty="0" smtClean="0"/>
              <a:t>. </a:t>
            </a:r>
            <a:endParaRPr lang="en-IN" dirty="0"/>
          </a:p>
        </p:txBody>
      </p:sp>
      <p:sp>
        <p:nvSpPr>
          <p:cNvPr id="2" name="Slide Number Placeholder 1"/>
          <p:cNvSpPr>
            <a:spLocks noGrp="1"/>
          </p:cNvSpPr>
          <p:nvPr>
            <p:ph type="sldNum" sz="quarter" idx="12"/>
          </p:nvPr>
        </p:nvSpPr>
        <p:spPr/>
        <p:txBody>
          <a:bodyPr/>
          <a:lstStyle/>
          <a:p>
            <a:fld id="{9FB0BF6E-FAFB-46B7-AEE3-3DAA4B58C0A6}" type="slidenum">
              <a:rPr lang="en-IN" smtClean="0"/>
              <a:t>40</a:t>
            </a:fld>
            <a:endParaRPr lang="en-IN"/>
          </a:p>
        </p:txBody>
      </p:sp>
    </p:spTree>
    <p:extLst>
      <p:ext uri="{BB962C8B-B14F-4D97-AF65-F5344CB8AC3E}">
        <p14:creationId xmlns:p14="http://schemas.microsoft.com/office/powerpoint/2010/main" val="422552213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32656"/>
            <a:ext cx="9073008" cy="6292080"/>
          </a:xfrm>
        </p:spPr>
        <p:txBody>
          <a:bodyPr>
            <a:normAutofit fontScale="25000" lnSpcReduction="20000"/>
          </a:bodyPr>
          <a:lstStyle/>
          <a:p>
            <a:r>
              <a:rPr lang="en-US" sz="11200" b="1" dirty="0" smtClean="0">
                <a:solidFill>
                  <a:srgbClr val="FF0000"/>
                </a:solidFill>
              </a:rPr>
              <a:t>Brute force :</a:t>
            </a:r>
          </a:p>
          <a:p>
            <a:pPr marL="0" indent="0">
              <a:buNone/>
            </a:pPr>
            <a:endParaRPr lang="en-US" sz="11200" b="1" dirty="0" smtClean="0">
              <a:solidFill>
                <a:srgbClr val="FF0000"/>
              </a:solidFill>
            </a:endParaRPr>
          </a:p>
          <a:p>
            <a:pPr lvl="1" algn="just"/>
            <a:r>
              <a:rPr lang="en-US" sz="12000" dirty="0"/>
              <a:t>A brute force approach is an approach that </a:t>
            </a:r>
            <a:r>
              <a:rPr lang="en-US" sz="12000" dirty="0">
                <a:solidFill>
                  <a:srgbClr val="FF0000"/>
                </a:solidFill>
              </a:rPr>
              <a:t>finds all the possible solutions</a:t>
            </a:r>
            <a:r>
              <a:rPr lang="en-US" sz="12000" dirty="0"/>
              <a:t> to find a satisfactory solution to a given problem. </a:t>
            </a:r>
          </a:p>
          <a:p>
            <a:pPr lvl="1" algn="just"/>
            <a:r>
              <a:rPr lang="en-US" sz="12000" dirty="0"/>
              <a:t>The brute force algorithm tries out all the possibilities </a:t>
            </a:r>
            <a:r>
              <a:rPr lang="en-US" sz="12000" dirty="0">
                <a:solidFill>
                  <a:srgbClr val="FF0000"/>
                </a:solidFill>
              </a:rPr>
              <a:t>till a satisfactory solution is found</a:t>
            </a:r>
            <a:r>
              <a:rPr lang="en-US" sz="12000" dirty="0"/>
              <a:t>.</a:t>
            </a:r>
          </a:p>
          <a:p>
            <a:pPr lvl="1" algn="just"/>
            <a:r>
              <a:rPr lang="en-US" sz="12000" dirty="0"/>
              <a:t>Such an algorithm can be of two types ( </a:t>
            </a:r>
            <a:r>
              <a:rPr lang="en-US" sz="12000" dirty="0">
                <a:solidFill>
                  <a:srgbClr val="FF0000"/>
                </a:solidFill>
              </a:rPr>
              <a:t>Optimizing</a:t>
            </a:r>
            <a:r>
              <a:rPr lang="en-US" sz="12000" dirty="0"/>
              <a:t> and </a:t>
            </a:r>
            <a:r>
              <a:rPr lang="en-US" sz="12000" dirty="0">
                <a:solidFill>
                  <a:srgbClr val="FF0000"/>
                </a:solidFill>
              </a:rPr>
              <a:t>satisfying</a:t>
            </a:r>
            <a:r>
              <a:rPr lang="en-US" sz="12000" dirty="0"/>
              <a:t> ):</a:t>
            </a:r>
          </a:p>
          <a:p>
            <a:pPr lvl="1" algn="just"/>
            <a:r>
              <a:rPr lang="en-US" sz="12000" b="1" dirty="0">
                <a:solidFill>
                  <a:srgbClr val="FF0000"/>
                </a:solidFill>
              </a:rPr>
              <a:t>Optimizing</a:t>
            </a:r>
            <a:r>
              <a:rPr lang="en-US" sz="12000" dirty="0"/>
              <a:t>: In this case, the best solution is found. </a:t>
            </a:r>
          </a:p>
          <a:p>
            <a:pPr lvl="1" algn="just"/>
            <a:r>
              <a:rPr lang="en-US" sz="12000" dirty="0"/>
              <a:t>To find the best solution, it may either find all the possible solutions to find the best solution or if the value of the best solution is known, it stops finding when the best solution is found. EX : TSP – Best path is found</a:t>
            </a:r>
          </a:p>
        </p:txBody>
      </p:sp>
      <p:sp>
        <p:nvSpPr>
          <p:cNvPr id="2" name="Slide Number Placeholder 1"/>
          <p:cNvSpPr>
            <a:spLocks noGrp="1"/>
          </p:cNvSpPr>
          <p:nvPr>
            <p:ph type="sldNum" sz="quarter" idx="12"/>
          </p:nvPr>
        </p:nvSpPr>
        <p:spPr/>
        <p:txBody>
          <a:bodyPr/>
          <a:lstStyle/>
          <a:p>
            <a:fld id="{9FB0BF6E-FAFB-46B7-AEE3-3DAA4B58C0A6}" type="slidenum">
              <a:rPr lang="en-IN" smtClean="0"/>
              <a:t>41</a:t>
            </a:fld>
            <a:endParaRPr lang="en-IN"/>
          </a:p>
        </p:txBody>
      </p:sp>
    </p:spTree>
    <p:extLst>
      <p:ext uri="{BB962C8B-B14F-4D97-AF65-F5344CB8AC3E}">
        <p14:creationId xmlns:p14="http://schemas.microsoft.com/office/powerpoint/2010/main" val="90556228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476672"/>
            <a:ext cx="8517632" cy="2980928"/>
          </a:xfrm>
        </p:spPr>
        <p:txBody>
          <a:bodyPr>
            <a:noAutofit/>
          </a:bodyPr>
          <a:lstStyle/>
          <a:p>
            <a:pPr marL="365125" lvl="1" indent="92075"/>
            <a:r>
              <a:rPr lang="en-US" b="1" dirty="0">
                <a:solidFill>
                  <a:srgbClr val="FF0000"/>
                </a:solidFill>
              </a:rPr>
              <a:t>Satisficing</a:t>
            </a:r>
            <a:r>
              <a:rPr lang="en-US" b="1" dirty="0"/>
              <a:t>:</a:t>
            </a:r>
            <a:r>
              <a:rPr lang="en-US" dirty="0"/>
              <a:t> </a:t>
            </a:r>
            <a:r>
              <a:rPr lang="en-US" sz="3000" dirty="0"/>
              <a:t>It stops finding the solution as soon as the satisfactory solution is found. Or example, finding the travelling salesman path which is within 10% of optimal.</a:t>
            </a:r>
          </a:p>
          <a:p>
            <a:pPr marL="361950" lvl="1"/>
            <a:r>
              <a:rPr lang="en-US" sz="3000" dirty="0"/>
              <a:t>Often Brute force algorithms require exponential time. Various heuristics and optimization can be used:</a:t>
            </a:r>
          </a:p>
          <a:p>
            <a:pPr marL="533400" lvl="1" indent="-457200"/>
            <a:r>
              <a:rPr lang="en-US" b="1" dirty="0">
                <a:solidFill>
                  <a:srgbClr val="FF0000"/>
                </a:solidFill>
              </a:rPr>
              <a:t>Heuristic</a:t>
            </a:r>
            <a:r>
              <a:rPr lang="en-US" b="1" dirty="0"/>
              <a:t>:</a:t>
            </a:r>
            <a:r>
              <a:rPr lang="en-US" dirty="0"/>
              <a:t> </a:t>
            </a:r>
            <a:r>
              <a:rPr lang="en-US" sz="3000" dirty="0"/>
              <a:t>A rule of thumb that helps you to </a:t>
            </a:r>
            <a:r>
              <a:rPr lang="en-US" sz="3000" dirty="0">
                <a:solidFill>
                  <a:srgbClr val="FF0000"/>
                </a:solidFill>
              </a:rPr>
              <a:t>decide which possibilities </a:t>
            </a:r>
          </a:p>
          <a:p>
            <a:pPr marL="533400" lvl="1" indent="-457200"/>
            <a:r>
              <a:rPr lang="en-US" b="1" dirty="0" smtClean="0">
                <a:solidFill>
                  <a:srgbClr val="FF0000"/>
                </a:solidFill>
              </a:rPr>
              <a:t>Optimization</a:t>
            </a:r>
            <a:r>
              <a:rPr lang="en-US" b="1" dirty="0"/>
              <a:t>:</a:t>
            </a:r>
            <a:r>
              <a:rPr lang="en-US" dirty="0"/>
              <a:t> </a:t>
            </a:r>
            <a:r>
              <a:rPr lang="en-US" sz="3000" dirty="0"/>
              <a:t>A </a:t>
            </a:r>
            <a:r>
              <a:rPr lang="en-US" sz="3000" dirty="0">
                <a:solidFill>
                  <a:srgbClr val="FF0000"/>
                </a:solidFill>
              </a:rPr>
              <a:t>certain possibilities are eliminated </a:t>
            </a:r>
            <a:r>
              <a:rPr lang="en-US" sz="3000" dirty="0"/>
              <a:t>without exploring all of them. </a:t>
            </a:r>
            <a:endParaRPr lang="en-IN" sz="3000" dirty="0"/>
          </a:p>
          <a:p>
            <a:pPr marL="533400" lvl="1" indent="-457200"/>
            <a:endParaRPr lang="en-IN" sz="3000" dirty="0"/>
          </a:p>
        </p:txBody>
      </p:sp>
      <p:sp>
        <p:nvSpPr>
          <p:cNvPr id="4" name="Slide Number Placeholder 3"/>
          <p:cNvSpPr>
            <a:spLocks noGrp="1"/>
          </p:cNvSpPr>
          <p:nvPr>
            <p:ph type="sldNum" sz="quarter" idx="12"/>
          </p:nvPr>
        </p:nvSpPr>
        <p:spPr/>
        <p:txBody>
          <a:bodyPr/>
          <a:lstStyle/>
          <a:p>
            <a:fld id="{9FB0BF6E-FAFB-46B7-AEE3-3DAA4B58C0A6}" type="slidenum">
              <a:rPr lang="en-IN" smtClean="0"/>
              <a:t>42</a:t>
            </a:fld>
            <a:endParaRPr lang="en-IN"/>
          </a:p>
        </p:txBody>
      </p:sp>
    </p:spTree>
    <p:extLst>
      <p:ext uri="{BB962C8B-B14F-4D97-AF65-F5344CB8AC3E}">
        <p14:creationId xmlns:p14="http://schemas.microsoft.com/office/powerpoint/2010/main" val="303906236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US" dirty="0" smtClean="0"/>
              <a:t>Examples</a:t>
            </a:r>
          </a:p>
          <a:p>
            <a:pPr lvl="1"/>
            <a:r>
              <a:rPr lang="en-US" dirty="0" smtClean="0"/>
              <a:t>Linked Lists/Doubly </a:t>
            </a:r>
            <a:r>
              <a:rPr lang="en-US" dirty="0"/>
              <a:t>Linked </a:t>
            </a:r>
            <a:r>
              <a:rPr lang="en-US" dirty="0" smtClean="0"/>
              <a:t>Lists</a:t>
            </a:r>
            <a:endParaRPr lang="en-US" dirty="0"/>
          </a:p>
          <a:p>
            <a:pPr lvl="1"/>
            <a:r>
              <a:rPr lang="en-US" dirty="0" smtClean="0"/>
              <a:t>Queues/ Stacks</a:t>
            </a:r>
            <a:endParaRPr lang="en-US" dirty="0"/>
          </a:p>
          <a:p>
            <a:pPr lvl="1"/>
            <a:r>
              <a:rPr lang="en-US" dirty="0"/>
              <a:t>Hash </a:t>
            </a:r>
            <a:r>
              <a:rPr lang="en-US" dirty="0" smtClean="0"/>
              <a:t>Maps</a:t>
            </a:r>
            <a:endParaRPr lang="en-US" dirty="0"/>
          </a:p>
          <a:p>
            <a:pPr lvl="1"/>
            <a:r>
              <a:rPr lang="en-US" dirty="0" smtClean="0"/>
              <a:t>Recursion</a:t>
            </a:r>
          </a:p>
          <a:p>
            <a:pPr lvl="1" fontAlgn="base"/>
            <a:r>
              <a:rPr lang="en-US" dirty="0"/>
              <a:t>Sequential search</a:t>
            </a:r>
          </a:p>
          <a:p>
            <a:pPr lvl="1" fontAlgn="base"/>
            <a:r>
              <a:rPr lang="en-US" dirty="0"/>
              <a:t>String matching algorithm</a:t>
            </a:r>
          </a:p>
          <a:p>
            <a:pPr lvl="1" fontAlgn="base"/>
            <a:r>
              <a:rPr lang="en-US" dirty="0" smtClean="0"/>
              <a:t>Travelling </a:t>
            </a:r>
            <a:r>
              <a:rPr lang="en-US" dirty="0"/>
              <a:t>sales man problem</a:t>
            </a:r>
          </a:p>
          <a:p>
            <a:pPr lvl="1" fontAlgn="base"/>
            <a:r>
              <a:rPr lang="en-US" dirty="0"/>
              <a:t>Knapsack problem</a:t>
            </a:r>
          </a:p>
          <a:p>
            <a:pPr lvl="1"/>
            <a:endParaRPr lang="en-US" dirty="0"/>
          </a:p>
          <a:p>
            <a:pPr lvl="1"/>
            <a:endParaRPr lang="en-IN" dirty="0"/>
          </a:p>
        </p:txBody>
      </p:sp>
      <p:sp>
        <p:nvSpPr>
          <p:cNvPr id="4" name="Slide Number Placeholder 3"/>
          <p:cNvSpPr>
            <a:spLocks noGrp="1"/>
          </p:cNvSpPr>
          <p:nvPr>
            <p:ph type="sldNum" sz="quarter" idx="12"/>
          </p:nvPr>
        </p:nvSpPr>
        <p:spPr/>
        <p:txBody>
          <a:bodyPr/>
          <a:lstStyle/>
          <a:p>
            <a:fld id="{9FB0BF6E-FAFB-46B7-AEE3-3DAA4B58C0A6}" type="slidenum">
              <a:rPr lang="en-IN" smtClean="0"/>
              <a:t>43</a:t>
            </a:fld>
            <a:endParaRPr lang="en-IN"/>
          </a:p>
        </p:txBody>
      </p:sp>
    </p:spTree>
    <p:extLst>
      <p:ext uri="{BB962C8B-B14F-4D97-AF65-F5344CB8AC3E}">
        <p14:creationId xmlns:p14="http://schemas.microsoft.com/office/powerpoint/2010/main" val="428898240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AB5057D5-0489-4DDE-BACF-04F99A8FF759}"/>
              </a:ext>
            </a:extLst>
          </p:cNvPr>
          <p:cNvPicPr>
            <a:picLocks noChangeAspect="1"/>
          </p:cNvPicPr>
          <p:nvPr/>
        </p:nvPicPr>
        <p:blipFill>
          <a:blip r:embed="rId2"/>
          <a:stretch>
            <a:fillRect/>
          </a:stretch>
        </p:blipFill>
        <p:spPr>
          <a:xfrm>
            <a:off x="6162839" y="548680"/>
            <a:ext cx="2721769" cy="5751870"/>
          </a:xfrm>
          <a:prstGeom prst="rect">
            <a:avLst/>
          </a:prstGeom>
        </p:spPr>
      </p:pic>
      <p:sp>
        <p:nvSpPr>
          <p:cNvPr id="4" name="Title 3">
            <a:extLst>
              <a:ext uri="{FF2B5EF4-FFF2-40B4-BE49-F238E27FC236}">
                <a16:creationId xmlns="" xmlns:a16="http://schemas.microsoft.com/office/drawing/2014/main" id="{66E150DA-D1EE-4291-BFEC-CA2553016676}"/>
              </a:ext>
            </a:extLst>
          </p:cNvPr>
          <p:cNvSpPr>
            <a:spLocks noGrp="1"/>
          </p:cNvSpPr>
          <p:nvPr>
            <p:ph type="title"/>
          </p:nvPr>
        </p:nvSpPr>
        <p:spPr>
          <a:xfrm>
            <a:off x="395536" y="-19571"/>
            <a:ext cx="8229600" cy="1143000"/>
          </a:xfrm>
        </p:spPr>
        <p:txBody>
          <a:bodyPr>
            <a:normAutofit/>
          </a:bodyPr>
          <a:lstStyle/>
          <a:p>
            <a:pPr algn="l"/>
            <a:r>
              <a:rPr lang="en-US" sz="3200" b="1" dirty="0">
                <a:solidFill>
                  <a:srgbClr val="FF0000"/>
                </a:solidFill>
              </a:rPr>
              <a:t>Decrease and conquer</a:t>
            </a:r>
            <a:endParaRPr lang="en-IN" sz="3200" b="1" dirty="0">
              <a:solidFill>
                <a:srgbClr val="FF0000"/>
              </a:solidFill>
            </a:endParaRPr>
          </a:p>
        </p:txBody>
      </p:sp>
      <p:sp>
        <p:nvSpPr>
          <p:cNvPr id="6" name="TextBox 5">
            <a:extLst>
              <a:ext uri="{FF2B5EF4-FFF2-40B4-BE49-F238E27FC236}">
                <a16:creationId xmlns="" xmlns:a16="http://schemas.microsoft.com/office/drawing/2014/main" id="{9B70D85E-155B-467E-B967-2E553D612E27}"/>
              </a:ext>
            </a:extLst>
          </p:cNvPr>
          <p:cNvSpPr txBox="1"/>
          <p:nvPr/>
        </p:nvSpPr>
        <p:spPr>
          <a:xfrm>
            <a:off x="251520" y="1014968"/>
            <a:ext cx="5167487" cy="3359061"/>
          </a:xfrm>
          <a:prstGeom prst="rect">
            <a:avLst/>
          </a:prstGeom>
          <a:noFill/>
        </p:spPr>
        <p:txBody>
          <a:bodyPr wrap="square">
            <a:spAutoFit/>
          </a:bodyPr>
          <a:lstStyle/>
          <a:p>
            <a:pPr algn="just">
              <a:lnSpc>
                <a:spcPct val="150000"/>
              </a:lnSpc>
            </a:pPr>
            <a:r>
              <a:rPr lang="en-US" sz="2400" dirty="0"/>
              <a:t>The </a:t>
            </a:r>
            <a:r>
              <a:rPr lang="en-US" sz="2400" b="1" dirty="0"/>
              <a:t>decrease-and-conquer</a:t>
            </a:r>
            <a:r>
              <a:rPr lang="en-US" sz="2400" dirty="0"/>
              <a:t> technique is based on exploiting the relationship between a solution to a given instance of a problem and a solution to its smaller instance.  (</a:t>
            </a:r>
            <a:r>
              <a:rPr lang="en-US" sz="2400" dirty="0" err="1"/>
              <a:t>eg.</a:t>
            </a:r>
            <a:r>
              <a:rPr lang="en-US" sz="2400" dirty="0"/>
              <a:t> Non recursive Binary search algorithm)</a:t>
            </a:r>
          </a:p>
        </p:txBody>
      </p:sp>
    </p:spTree>
    <p:extLst>
      <p:ext uri="{BB962C8B-B14F-4D97-AF65-F5344CB8AC3E}">
        <p14:creationId xmlns:p14="http://schemas.microsoft.com/office/powerpoint/2010/main" val="102878546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F77CF161-0819-43A6-A90E-94527702370A}"/>
              </a:ext>
            </a:extLst>
          </p:cNvPr>
          <p:cNvSpPr>
            <a:spLocks noGrp="1"/>
          </p:cNvSpPr>
          <p:nvPr>
            <p:ph type="title"/>
          </p:nvPr>
        </p:nvSpPr>
        <p:spPr>
          <a:xfrm>
            <a:off x="355544" y="52141"/>
            <a:ext cx="6447501" cy="1320800"/>
          </a:xfrm>
        </p:spPr>
        <p:txBody>
          <a:bodyPr/>
          <a:lstStyle/>
          <a:p>
            <a:r>
              <a:rPr lang="en-US" dirty="0"/>
              <a:t>Design of an algorithm:</a:t>
            </a:r>
            <a:endParaRPr lang="en-IN" dirty="0"/>
          </a:p>
        </p:txBody>
      </p:sp>
      <p:sp>
        <p:nvSpPr>
          <p:cNvPr id="6" name="TextBox 5">
            <a:extLst>
              <a:ext uri="{FF2B5EF4-FFF2-40B4-BE49-F238E27FC236}">
                <a16:creationId xmlns="" xmlns:a16="http://schemas.microsoft.com/office/drawing/2014/main" id="{7947EECB-7FB5-43B5-926B-7A4AB8498E74}"/>
              </a:ext>
            </a:extLst>
          </p:cNvPr>
          <p:cNvSpPr txBox="1"/>
          <p:nvPr/>
        </p:nvSpPr>
        <p:spPr>
          <a:xfrm>
            <a:off x="343714" y="1844824"/>
            <a:ext cx="8620774" cy="4031873"/>
          </a:xfrm>
          <a:prstGeom prst="rect">
            <a:avLst/>
          </a:prstGeom>
          <a:noFill/>
        </p:spPr>
        <p:txBody>
          <a:bodyPr wrap="square">
            <a:spAutoFit/>
          </a:bodyPr>
          <a:lstStyle/>
          <a:p>
            <a:pPr marL="342900" marR="0" lvl="0" indent="-342900" algn="just" defTabSz="914400" rtl="0" eaLnBrk="1" fontAlgn="auto" latinLnBrk="0" hangingPunct="1">
              <a:spcBef>
                <a:spcPts val="0"/>
              </a:spcBef>
              <a:spcAft>
                <a:spcPts val="0"/>
              </a:spcAft>
              <a:buClrTx/>
              <a:buSzTx/>
              <a:buFontTx/>
              <a:buAutoNum type="arabicPeriod"/>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Some design techniques can be simply </a:t>
            </a:r>
            <a:r>
              <a:rPr kumimoji="0" lang="en-US" sz="3200" i="0" u="none" strike="noStrike" kern="1200" cap="none" spc="0" normalizeH="0" baseline="0" noProof="0" dirty="0">
                <a:ln>
                  <a:noFill/>
                </a:ln>
                <a:solidFill>
                  <a:srgbClr val="FF0000"/>
                </a:solidFill>
                <a:effectLst/>
                <a:uLnTx/>
                <a:uFillTx/>
                <a:latin typeface="Calibri" panose="020F0502020204030204"/>
                <a:ea typeface="+mn-ea"/>
                <a:cs typeface="+mn-cs"/>
              </a:rPr>
              <a:t>inapplicable</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to the problem in question. </a:t>
            </a:r>
          </a:p>
          <a:p>
            <a:pPr marL="342900" marR="0" lvl="0" indent="-342900" algn="just" defTabSz="914400" rtl="0" eaLnBrk="1" fontAlgn="auto" latinLnBrk="0" hangingPunct="1">
              <a:spcBef>
                <a:spcPts val="0"/>
              </a:spcBef>
              <a:spcAft>
                <a:spcPts val="0"/>
              </a:spcAft>
              <a:buClrTx/>
              <a:buSzTx/>
              <a:buFontTx/>
              <a:buAutoNum type="arabicPeriod"/>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Sometimes, several techniques </a:t>
            </a:r>
            <a:r>
              <a:rPr kumimoji="0" lang="en-US" sz="3200" b="0" i="0" u="none" strike="noStrike" kern="1200" cap="none" spc="0" normalizeH="0" baseline="0" noProof="0" dirty="0">
                <a:ln>
                  <a:noFill/>
                </a:ln>
                <a:solidFill>
                  <a:srgbClr val="FF0000"/>
                </a:solidFill>
                <a:effectLst/>
                <a:uLnTx/>
                <a:uFillTx/>
                <a:latin typeface="Calibri" panose="020F0502020204030204"/>
                <a:ea typeface="+mn-ea"/>
                <a:cs typeface="+mn-cs"/>
              </a:rPr>
              <a:t>need to be combined</a:t>
            </a:r>
          </a:p>
          <a:p>
            <a:pPr marL="342900" marR="0" lvl="0" indent="-342900" algn="just" defTabSz="914400" rtl="0" eaLnBrk="1" fontAlgn="auto" latinLnBrk="0" hangingPunct="1">
              <a:spcBef>
                <a:spcPts val="0"/>
              </a:spcBef>
              <a:spcAft>
                <a:spcPts val="0"/>
              </a:spcAft>
              <a:buClrTx/>
              <a:buSzTx/>
              <a:buFontTx/>
              <a:buAutoNum type="arabicPeriod"/>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Even when a particular design technique is applicable, getting an algorithm often requires a nontrivial ingenuity </a:t>
            </a:r>
            <a:r>
              <a:rPr kumimoji="0" lang="en-US" sz="3200" b="0" i="0" u="none" strike="noStrike" kern="1200" cap="none" spc="0" normalizeH="0" baseline="0" noProof="0" dirty="0" smtClean="0">
                <a:ln>
                  <a:noFill/>
                </a:ln>
                <a:solidFill>
                  <a:prstClr val="black"/>
                </a:solidFill>
                <a:effectLst/>
                <a:uLnTx/>
                <a:uFillTx/>
                <a:latin typeface="Calibri" panose="020F0502020204030204"/>
                <a:ea typeface="+mn-ea"/>
                <a:cs typeface="+mn-cs"/>
              </a:rPr>
              <a:t>(imagination)</a:t>
            </a:r>
            <a:r>
              <a:rPr kumimoji="0" lang="en-US" sz="3200" b="0" i="0" u="none" strike="noStrike" kern="1200" cap="none" spc="0" normalizeH="0" noProof="0" dirty="0" smtClean="0">
                <a:ln>
                  <a:noFill/>
                </a:ln>
                <a:solidFill>
                  <a:prstClr val="black"/>
                </a:solidFill>
                <a:effectLst/>
                <a:uLnTx/>
                <a:uFillTx/>
                <a:latin typeface="Calibri" panose="020F0502020204030204"/>
                <a:ea typeface="+mn-ea"/>
                <a:cs typeface="+mn-cs"/>
              </a:rPr>
              <a:t> </a:t>
            </a:r>
            <a:r>
              <a:rPr kumimoji="0" lang="en-US" sz="3200" b="0" i="0" u="none" strike="noStrike" kern="1200" cap="none" spc="0" normalizeH="0" baseline="0" noProof="0" dirty="0" smtClean="0">
                <a:ln>
                  <a:noFill/>
                </a:ln>
                <a:solidFill>
                  <a:prstClr val="black"/>
                </a:solidFill>
                <a:effectLst/>
                <a:uLnTx/>
                <a:uFillTx/>
                <a:latin typeface="Calibri" panose="020F0502020204030204"/>
                <a:ea typeface="+mn-ea"/>
                <a:cs typeface="+mn-cs"/>
              </a:rPr>
              <a:t>on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the part of the algorithm designer. </a:t>
            </a:r>
            <a:endParaRPr kumimoji="0" lang="en-IN"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 name="Google Shape;181;p25">
            <a:extLst>
              <a:ext uri="{FF2B5EF4-FFF2-40B4-BE49-F238E27FC236}">
                <a16:creationId xmlns="" xmlns:a16="http://schemas.microsoft.com/office/drawing/2014/main" id="{52F2943D-5281-4EEB-89A2-E5B3218C0F51}"/>
              </a:ext>
            </a:extLst>
          </p:cNvPr>
          <p:cNvGrpSpPr/>
          <p:nvPr/>
        </p:nvGrpSpPr>
        <p:grpSpPr>
          <a:xfrm>
            <a:off x="7120886" y="51927"/>
            <a:ext cx="989705" cy="1466264"/>
            <a:chOff x="1937772" y="1600603"/>
            <a:chExt cx="3088439" cy="3431676"/>
          </a:xfrm>
        </p:grpSpPr>
        <p:grpSp>
          <p:nvGrpSpPr>
            <p:cNvPr id="7" name="Google Shape;182;p25">
              <a:extLst>
                <a:ext uri="{FF2B5EF4-FFF2-40B4-BE49-F238E27FC236}">
                  <a16:creationId xmlns="" xmlns:a16="http://schemas.microsoft.com/office/drawing/2014/main" id="{481021B9-2D14-4613-A3C1-40E1F4FB9708}"/>
                </a:ext>
              </a:extLst>
            </p:cNvPr>
            <p:cNvGrpSpPr/>
            <p:nvPr/>
          </p:nvGrpSpPr>
          <p:grpSpPr>
            <a:xfrm rot="10800000">
              <a:off x="2654236" y="2231046"/>
              <a:ext cx="1641920" cy="2801233"/>
              <a:chOff x="8323516" y="1636395"/>
              <a:chExt cx="2070734" cy="3532822"/>
            </a:xfrm>
          </p:grpSpPr>
          <p:sp>
            <p:nvSpPr>
              <p:cNvPr id="17" name="Google Shape;183;p25">
                <a:extLst>
                  <a:ext uri="{FF2B5EF4-FFF2-40B4-BE49-F238E27FC236}">
                    <a16:creationId xmlns="" xmlns:a16="http://schemas.microsoft.com/office/drawing/2014/main" id="{CF813AA7-F7FA-4C76-93FF-BED7F2EA919C}"/>
                  </a:ext>
                </a:extLst>
              </p:cNvPr>
              <p:cNvSpPr/>
              <p:nvPr/>
            </p:nvSpPr>
            <p:spPr>
              <a:xfrm>
                <a:off x="8323516" y="2619375"/>
                <a:ext cx="2070734" cy="2540317"/>
              </a:xfrm>
              <a:custGeom>
                <a:avLst/>
                <a:gdLst/>
                <a:ahLst/>
                <a:cxnLst/>
                <a:rect l="l" t="t" r="r" b="b"/>
                <a:pathLst>
                  <a:path w="2070734" h="2540317" extrusionOk="0">
                    <a:moveTo>
                      <a:pt x="1035368" y="2540318"/>
                    </a:moveTo>
                    <a:cubicBezTo>
                      <a:pt x="1606868" y="2540318"/>
                      <a:pt x="2070735" y="2076450"/>
                      <a:pt x="2070735" y="1504950"/>
                    </a:cubicBezTo>
                    <a:cubicBezTo>
                      <a:pt x="2070735" y="1214438"/>
                      <a:pt x="1950720" y="952500"/>
                      <a:pt x="1758315" y="763905"/>
                    </a:cubicBezTo>
                    <a:cubicBezTo>
                      <a:pt x="1668780" y="669607"/>
                      <a:pt x="1580197" y="561022"/>
                      <a:pt x="1566862" y="347663"/>
                    </a:cubicBezTo>
                    <a:cubicBezTo>
                      <a:pt x="1555433" y="158115"/>
                      <a:pt x="1565910" y="52388"/>
                      <a:pt x="1450658" y="0"/>
                    </a:cubicBezTo>
                    <a:lnTo>
                      <a:pt x="620078" y="0"/>
                    </a:lnTo>
                    <a:cubicBezTo>
                      <a:pt x="505778" y="52388"/>
                      <a:pt x="515303" y="158115"/>
                      <a:pt x="504825" y="347663"/>
                    </a:cubicBezTo>
                    <a:cubicBezTo>
                      <a:pt x="493395" y="548640"/>
                      <a:pt x="407670" y="661035"/>
                      <a:pt x="325755" y="750570"/>
                    </a:cubicBezTo>
                    <a:cubicBezTo>
                      <a:pt x="125730" y="939165"/>
                      <a:pt x="0" y="1206818"/>
                      <a:pt x="0" y="1503998"/>
                    </a:cubicBezTo>
                    <a:cubicBezTo>
                      <a:pt x="0" y="2076450"/>
                      <a:pt x="463868" y="2540318"/>
                      <a:pt x="1035368" y="2540318"/>
                    </a:cubicBez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 name="Google Shape;184;p25">
                <a:extLst>
                  <a:ext uri="{FF2B5EF4-FFF2-40B4-BE49-F238E27FC236}">
                    <a16:creationId xmlns="" xmlns:a16="http://schemas.microsoft.com/office/drawing/2014/main" id="{4449D00C-DED6-43AF-B6B7-7644B37B946D}"/>
                  </a:ext>
                </a:extLst>
              </p:cNvPr>
              <p:cNvSpPr/>
              <p:nvPr/>
            </p:nvSpPr>
            <p:spPr>
              <a:xfrm>
                <a:off x="8880728" y="2304097"/>
                <a:ext cx="930592" cy="105727"/>
              </a:xfrm>
              <a:custGeom>
                <a:avLst/>
                <a:gdLst/>
                <a:ahLst/>
                <a:cxnLst/>
                <a:rect l="l" t="t" r="r" b="b"/>
                <a:pathLst>
                  <a:path w="930592" h="105727" extrusionOk="0">
                    <a:moveTo>
                      <a:pt x="0" y="78105"/>
                    </a:moveTo>
                    <a:cubicBezTo>
                      <a:pt x="0" y="62865"/>
                      <a:pt x="11430" y="51435"/>
                      <a:pt x="25718" y="51435"/>
                    </a:cubicBezTo>
                    <a:lnTo>
                      <a:pt x="902970" y="0"/>
                    </a:lnTo>
                    <a:cubicBezTo>
                      <a:pt x="918210" y="0"/>
                      <a:pt x="930593" y="12383"/>
                      <a:pt x="930593" y="26670"/>
                    </a:cubicBezTo>
                    <a:lnTo>
                      <a:pt x="930593" y="27623"/>
                    </a:lnTo>
                    <a:cubicBezTo>
                      <a:pt x="930593" y="42863"/>
                      <a:pt x="917258" y="54293"/>
                      <a:pt x="902970" y="54293"/>
                    </a:cubicBezTo>
                    <a:lnTo>
                      <a:pt x="26670" y="105728"/>
                    </a:lnTo>
                    <a:cubicBezTo>
                      <a:pt x="11430" y="105728"/>
                      <a:pt x="0" y="93345"/>
                      <a:pt x="0" y="79058"/>
                    </a:cubicBezTo>
                    <a:lnTo>
                      <a:pt x="0" y="78105"/>
                    </a:lnTo>
                    <a:close/>
                  </a:path>
                </a:pathLst>
              </a:custGeom>
              <a:solidFill>
                <a:srgbClr val="9E9E9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 name="Google Shape;185;p25">
                <a:extLst>
                  <a:ext uri="{FF2B5EF4-FFF2-40B4-BE49-F238E27FC236}">
                    <a16:creationId xmlns="" xmlns:a16="http://schemas.microsoft.com/office/drawing/2014/main" id="{D49CBB07-07ED-4E0E-AE26-036457A7C69B}"/>
                  </a:ext>
                </a:extLst>
              </p:cNvPr>
              <p:cNvSpPr/>
              <p:nvPr/>
            </p:nvSpPr>
            <p:spPr>
              <a:xfrm>
                <a:off x="8884538" y="2357437"/>
                <a:ext cx="931545" cy="105727"/>
              </a:xfrm>
              <a:custGeom>
                <a:avLst/>
                <a:gdLst/>
                <a:ahLst/>
                <a:cxnLst/>
                <a:rect l="l" t="t" r="r" b="b"/>
                <a:pathLst>
                  <a:path w="931545" h="105727" extrusionOk="0">
                    <a:moveTo>
                      <a:pt x="0" y="78105"/>
                    </a:moveTo>
                    <a:cubicBezTo>
                      <a:pt x="0" y="62865"/>
                      <a:pt x="9525" y="51435"/>
                      <a:pt x="24765" y="51435"/>
                    </a:cubicBezTo>
                    <a:lnTo>
                      <a:pt x="902970" y="0"/>
                    </a:lnTo>
                    <a:cubicBezTo>
                      <a:pt x="918210" y="0"/>
                      <a:pt x="931545" y="12383"/>
                      <a:pt x="931545" y="26670"/>
                    </a:cubicBezTo>
                    <a:lnTo>
                      <a:pt x="931545" y="27622"/>
                    </a:lnTo>
                    <a:cubicBezTo>
                      <a:pt x="931545" y="42863"/>
                      <a:pt x="917258" y="54292"/>
                      <a:pt x="902018" y="54292"/>
                    </a:cubicBezTo>
                    <a:lnTo>
                      <a:pt x="26670" y="105728"/>
                    </a:lnTo>
                    <a:cubicBezTo>
                      <a:pt x="11430" y="105728"/>
                      <a:pt x="952" y="93345"/>
                      <a:pt x="952" y="79058"/>
                    </a:cubicBezTo>
                    <a:lnTo>
                      <a:pt x="952" y="78105"/>
                    </a:lnTo>
                    <a:close/>
                  </a:path>
                </a:pathLst>
              </a:custGeom>
              <a:solidFill>
                <a:srgbClr val="CC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 name="Google Shape;186;p25">
                <a:extLst>
                  <a:ext uri="{FF2B5EF4-FFF2-40B4-BE49-F238E27FC236}">
                    <a16:creationId xmlns="" xmlns:a16="http://schemas.microsoft.com/office/drawing/2014/main" id="{F7943CF9-8659-4993-A263-DB0FBEE5DA33}"/>
                  </a:ext>
                </a:extLst>
              </p:cNvPr>
              <p:cNvSpPr/>
              <p:nvPr/>
            </p:nvSpPr>
            <p:spPr>
              <a:xfrm>
                <a:off x="8862312" y="1789747"/>
                <a:ext cx="968633" cy="351613"/>
              </a:xfrm>
              <a:custGeom>
                <a:avLst/>
                <a:gdLst/>
                <a:ahLst/>
                <a:cxnLst/>
                <a:rect l="l" t="t" r="r" b="b"/>
                <a:pathLst>
                  <a:path w="968633" h="351613" extrusionOk="0">
                    <a:moveTo>
                      <a:pt x="240348" y="0"/>
                    </a:moveTo>
                    <a:lnTo>
                      <a:pt x="739458" y="0"/>
                    </a:lnTo>
                    <a:cubicBezTo>
                      <a:pt x="950913" y="162878"/>
                      <a:pt x="967106" y="248603"/>
                      <a:pt x="967106" y="248603"/>
                    </a:cubicBezTo>
                    <a:cubicBezTo>
                      <a:pt x="975678" y="281940"/>
                      <a:pt x="947103" y="303848"/>
                      <a:pt x="908051" y="301943"/>
                    </a:cubicBezTo>
                    <a:lnTo>
                      <a:pt x="65088" y="351473"/>
                    </a:lnTo>
                    <a:cubicBezTo>
                      <a:pt x="26036" y="354330"/>
                      <a:pt x="-15874" y="313373"/>
                      <a:pt x="6033" y="247650"/>
                    </a:cubicBezTo>
                    <a:cubicBezTo>
                      <a:pt x="6986" y="248603"/>
                      <a:pt x="36513" y="143828"/>
                      <a:pt x="240348" y="0"/>
                    </a:cubicBezTo>
                    <a:close/>
                  </a:path>
                </a:pathLst>
              </a:custGeom>
              <a:solidFill>
                <a:srgbClr val="CC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1" name="Google Shape;187;p25">
                <a:extLst>
                  <a:ext uri="{FF2B5EF4-FFF2-40B4-BE49-F238E27FC236}">
                    <a16:creationId xmlns="" xmlns:a16="http://schemas.microsoft.com/office/drawing/2014/main" id="{6A38111D-DF73-4503-B629-DD510B73AC57}"/>
                  </a:ext>
                </a:extLst>
              </p:cNvPr>
              <p:cNvSpPr/>
              <p:nvPr/>
            </p:nvSpPr>
            <p:spPr>
              <a:xfrm>
                <a:off x="8882633" y="2410777"/>
                <a:ext cx="931544" cy="105727"/>
              </a:xfrm>
              <a:custGeom>
                <a:avLst/>
                <a:gdLst/>
                <a:ahLst/>
                <a:cxnLst/>
                <a:rect l="l" t="t" r="r" b="b"/>
                <a:pathLst>
                  <a:path w="931544" h="105727" extrusionOk="0">
                    <a:moveTo>
                      <a:pt x="0" y="78105"/>
                    </a:moveTo>
                    <a:cubicBezTo>
                      <a:pt x="0" y="62865"/>
                      <a:pt x="10477" y="51435"/>
                      <a:pt x="25717" y="51435"/>
                    </a:cubicBezTo>
                    <a:lnTo>
                      <a:pt x="903922" y="0"/>
                    </a:lnTo>
                    <a:cubicBezTo>
                      <a:pt x="919163" y="0"/>
                      <a:pt x="931545" y="12382"/>
                      <a:pt x="931545" y="26670"/>
                    </a:cubicBezTo>
                    <a:lnTo>
                      <a:pt x="931545" y="27622"/>
                    </a:lnTo>
                    <a:cubicBezTo>
                      <a:pt x="931545" y="42863"/>
                      <a:pt x="918210" y="54292"/>
                      <a:pt x="902970" y="54292"/>
                    </a:cubicBezTo>
                    <a:lnTo>
                      <a:pt x="26670" y="105728"/>
                    </a:lnTo>
                    <a:cubicBezTo>
                      <a:pt x="11430" y="105728"/>
                      <a:pt x="952" y="93345"/>
                      <a:pt x="952" y="79057"/>
                    </a:cubicBezTo>
                    <a:lnTo>
                      <a:pt x="952" y="78105"/>
                    </a:lnTo>
                    <a:close/>
                  </a:path>
                </a:pathLst>
              </a:custGeom>
              <a:solidFill>
                <a:srgbClr val="9E9E9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2" name="Google Shape;188;p25">
                <a:extLst>
                  <a:ext uri="{FF2B5EF4-FFF2-40B4-BE49-F238E27FC236}">
                    <a16:creationId xmlns="" xmlns:a16="http://schemas.microsoft.com/office/drawing/2014/main" id="{56954FC7-3A52-4D5C-B449-A94167BDEDE5}"/>
                  </a:ext>
                </a:extLst>
              </p:cNvPr>
              <p:cNvSpPr/>
              <p:nvPr/>
            </p:nvSpPr>
            <p:spPr>
              <a:xfrm>
                <a:off x="8880728" y="2249804"/>
                <a:ext cx="930592" cy="105727"/>
              </a:xfrm>
              <a:custGeom>
                <a:avLst/>
                <a:gdLst/>
                <a:ahLst/>
                <a:cxnLst/>
                <a:rect l="l" t="t" r="r" b="b"/>
                <a:pathLst>
                  <a:path w="930592" h="105727" extrusionOk="0">
                    <a:moveTo>
                      <a:pt x="0" y="78105"/>
                    </a:moveTo>
                    <a:cubicBezTo>
                      <a:pt x="0" y="62865"/>
                      <a:pt x="11430" y="51435"/>
                      <a:pt x="25718" y="51435"/>
                    </a:cubicBezTo>
                    <a:lnTo>
                      <a:pt x="902970" y="0"/>
                    </a:lnTo>
                    <a:cubicBezTo>
                      <a:pt x="918210" y="0"/>
                      <a:pt x="930593" y="12383"/>
                      <a:pt x="930593" y="26670"/>
                    </a:cubicBezTo>
                    <a:lnTo>
                      <a:pt x="930593" y="27623"/>
                    </a:lnTo>
                    <a:cubicBezTo>
                      <a:pt x="930593" y="42863"/>
                      <a:pt x="917258" y="54292"/>
                      <a:pt x="902970" y="54292"/>
                    </a:cubicBezTo>
                    <a:lnTo>
                      <a:pt x="26670" y="105728"/>
                    </a:lnTo>
                    <a:cubicBezTo>
                      <a:pt x="11430" y="105728"/>
                      <a:pt x="0" y="93345"/>
                      <a:pt x="0" y="79058"/>
                    </a:cubicBezTo>
                    <a:lnTo>
                      <a:pt x="0" y="78105"/>
                    </a:lnTo>
                    <a:close/>
                  </a:path>
                </a:pathLst>
              </a:custGeom>
              <a:solidFill>
                <a:srgbClr val="CC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 name="Google Shape;189;p25">
                <a:extLst>
                  <a:ext uri="{FF2B5EF4-FFF2-40B4-BE49-F238E27FC236}">
                    <a16:creationId xmlns="" xmlns:a16="http://schemas.microsoft.com/office/drawing/2014/main" id="{E11C4AE3-814A-42FD-BFEA-240EB3D701A8}"/>
                  </a:ext>
                </a:extLst>
              </p:cNvPr>
              <p:cNvSpPr/>
              <p:nvPr/>
            </p:nvSpPr>
            <p:spPr>
              <a:xfrm>
                <a:off x="8880728" y="2194559"/>
                <a:ext cx="930592" cy="105727"/>
              </a:xfrm>
              <a:custGeom>
                <a:avLst/>
                <a:gdLst/>
                <a:ahLst/>
                <a:cxnLst/>
                <a:rect l="l" t="t" r="r" b="b"/>
                <a:pathLst>
                  <a:path w="930592" h="105727" extrusionOk="0">
                    <a:moveTo>
                      <a:pt x="0" y="78105"/>
                    </a:moveTo>
                    <a:cubicBezTo>
                      <a:pt x="0" y="62865"/>
                      <a:pt x="11430" y="51435"/>
                      <a:pt x="25718" y="51435"/>
                    </a:cubicBezTo>
                    <a:lnTo>
                      <a:pt x="902970" y="0"/>
                    </a:lnTo>
                    <a:cubicBezTo>
                      <a:pt x="918210" y="0"/>
                      <a:pt x="930593" y="12383"/>
                      <a:pt x="930593" y="26670"/>
                    </a:cubicBezTo>
                    <a:lnTo>
                      <a:pt x="930593" y="27623"/>
                    </a:lnTo>
                    <a:cubicBezTo>
                      <a:pt x="930593" y="42863"/>
                      <a:pt x="917258" y="54293"/>
                      <a:pt x="902970" y="54293"/>
                    </a:cubicBezTo>
                    <a:lnTo>
                      <a:pt x="26670" y="105728"/>
                    </a:lnTo>
                    <a:cubicBezTo>
                      <a:pt x="11430" y="105728"/>
                      <a:pt x="0" y="93345"/>
                      <a:pt x="0" y="79058"/>
                    </a:cubicBezTo>
                    <a:lnTo>
                      <a:pt x="0" y="78105"/>
                    </a:lnTo>
                    <a:close/>
                  </a:path>
                </a:pathLst>
              </a:custGeom>
              <a:solidFill>
                <a:srgbClr val="9E9E9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4" name="Google Shape;190;p25">
                <a:extLst>
                  <a:ext uri="{FF2B5EF4-FFF2-40B4-BE49-F238E27FC236}">
                    <a16:creationId xmlns="" xmlns:a16="http://schemas.microsoft.com/office/drawing/2014/main" id="{F6BBAADE-44E2-4E5D-8C30-3D492620261B}"/>
                  </a:ext>
                </a:extLst>
              </p:cNvPr>
              <p:cNvSpPr/>
              <p:nvPr/>
            </p:nvSpPr>
            <p:spPr>
              <a:xfrm>
                <a:off x="8880728" y="2142172"/>
                <a:ext cx="930592" cy="105727"/>
              </a:xfrm>
              <a:custGeom>
                <a:avLst/>
                <a:gdLst/>
                <a:ahLst/>
                <a:cxnLst/>
                <a:rect l="l" t="t" r="r" b="b"/>
                <a:pathLst>
                  <a:path w="930592" h="105727" extrusionOk="0">
                    <a:moveTo>
                      <a:pt x="0" y="78105"/>
                    </a:moveTo>
                    <a:cubicBezTo>
                      <a:pt x="0" y="62865"/>
                      <a:pt x="11430" y="51435"/>
                      <a:pt x="25718" y="51435"/>
                    </a:cubicBezTo>
                    <a:lnTo>
                      <a:pt x="902970" y="0"/>
                    </a:lnTo>
                    <a:cubicBezTo>
                      <a:pt x="918210" y="0"/>
                      <a:pt x="930593" y="12383"/>
                      <a:pt x="930593" y="26670"/>
                    </a:cubicBezTo>
                    <a:lnTo>
                      <a:pt x="930593" y="27623"/>
                    </a:lnTo>
                    <a:cubicBezTo>
                      <a:pt x="930593" y="42863"/>
                      <a:pt x="917258" y="54293"/>
                      <a:pt x="902970" y="54293"/>
                    </a:cubicBezTo>
                    <a:lnTo>
                      <a:pt x="26670" y="105728"/>
                    </a:lnTo>
                    <a:cubicBezTo>
                      <a:pt x="11430" y="105728"/>
                      <a:pt x="0" y="93345"/>
                      <a:pt x="0" y="79058"/>
                    </a:cubicBezTo>
                    <a:lnTo>
                      <a:pt x="0" y="78105"/>
                    </a:lnTo>
                    <a:close/>
                  </a:path>
                </a:pathLst>
              </a:custGeom>
              <a:solidFill>
                <a:srgbClr val="CC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5" name="Google Shape;191;p25">
                <a:extLst>
                  <a:ext uri="{FF2B5EF4-FFF2-40B4-BE49-F238E27FC236}">
                    <a16:creationId xmlns="" xmlns:a16="http://schemas.microsoft.com/office/drawing/2014/main" id="{8129F87F-3998-477D-B557-9CB3EE034FFF}"/>
                  </a:ext>
                </a:extLst>
              </p:cNvPr>
              <p:cNvSpPr/>
              <p:nvPr/>
            </p:nvSpPr>
            <p:spPr>
              <a:xfrm>
                <a:off x="8880728" y="2089784"/>
                <a:ext cx="930592" cy="105727"/>
              </a:xfrm>
              <a:custGeom>
                <a:avLst/>
                <a:gdLst/>
                <a:ahLst/>
                <a:cxnLst/>
                <a:rect l="l" t="t" r="r" b="b"/>
                <a:pathLst>
                  <a:path w="930592" h="105727" extrusionOk="0">
                    <a:moveTo>
                      <a:pt x="0" y="78105"/>
                    </a:moveTo>
                    <a:cubicBezTo>
                      <a:pt x="0" y="62865"/>
                      <a:pt x="11430" y="51435"/>
                      <a:pt x="25718" y="51435"/>
                    </a:cubicBezTo>
                    <a:lnTo>
                      <a:pt x="902970" y="0"/>
                    </a:lnTo>
                    <a:cubicBezTo>
                      <a:pt x="918210" y="0"/>
                      <a:pt x="930593" y="12383"/>
                      <a:pt x="930593" y="26670"/>
                    </a:cubicBezTo>
                    <a:lnTo>
                      <a:pt x="930593" y="27623"/>
                    </a:lnTo>
                    <a:cubicBezTo>
                      <a:pt x="930593" y="42863"/>
                      <a:pt x="917258" y="54293"/>
                      <a:pt x="902970" y="54293"/>
                    </a:cubicBezTo>
                    <a:lnTo>
                      <a:pt x="26670" y="105728"/>
                    </a:lnTo>
                    <a:cubicBezTo>
                      <a:pt x="11430" y="105728"/>
                      <a:pt x="0" y="93345"/>
                      <a:pt x="0" y="79058"/>
                    </a:cubicBezTo>
                    <a:lnTo>
                      <a:pt x="0" y="78105"/>
                    </a:lnTo>
                    <a:close/>
                  </a:path>
                </a:pathLst>
              </a:custGeom>
              <a:solidFill>
                <a:srgbClr val="9E9E9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6" name="Google Shape;192;p25">
                <a:extLst>
                  <a:ext uri="{FF2B5EF4-FFF2-40B4-BE49-F238E27FC236}">
                    <a16:creationId xmlns="" xmlns:a16="http://schemas.microsoft.com/office/drawing/2014/main" id="{DC3A1B2D-66B6-46D8-9164-765D09BA2E85}"/>
                  </a:ext>
                </a:extLst>
              </p:cNvPr>
              <p:cNvSpPr/>
              <p:nvPr/>
            </p:nvSpPr>
            <p:spPr>
              <a:xfrm>
                <a:off x="9103613" y="1636395"/>
                <a:ext cx="497204" cy="159565"/>
              </a:xfrm>
              <a:custGeom>
                <a:avLst/>
                <a:gdLst/>
                <a:ahLst/>
                <a:cxnLst/>
                <a:rect l="l" t="t" r="r" b="b"/>
                <a:pathLst>
                  <a:path w="497204" h="159565" extrusionOk="0">
                    <a:moveTo>
                      <a:pt x="0" y="150495"/>
                    </a:moveTo>
                    <a:cubicBezTo>
                      <a:pt x="0" y="117158"/>
                      <a:pt x="111442" y="0"/>
                      <a:pt x="248602" y="0"/>
                    </a:cubicBezTo>
                    <a:cubicBezTo>
                      <a:pt x="385763" y="0"/>
                      <a:pt x="497205" y="117158"/>
                      <a:pt x="497205" y="150495"/>
                    </a:cubicBezTo>
                    <a:cubicBezTo>
                      <a:pt x="497205" y="165735"/>
                      <a:pt x="384810" y="157163"/>
                      <a:pt x="246697" y="157163"/>
                    </a:cubicBezTo>
                    <a:cubicBezTo>
                      <a:pt x="110490" y="158115"/>
                      <a:pt x="0" y="164783"/>
                      <a:pt x="0" y="150495"/>
                    </a:cubicBezTo>
                    <a:close/>
                  </a:path>
                </a:pathLst>
              </a:custGeom>
              <a:solidFill>
                <a:srgbClr val="54545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7" name="Google Shape;193;p25">
                <a:extLst>
                  <a:ext uri="{FF2B5EF4-FFF2-40B4-BE49-F238E27FC236}">
                    <a16:creationId xmlns="" xmlns:a16="http://schemas.microsoft.com/office/drawing/2014/main" id="{8424FA22-A5E4-42F5-B03F-2B6AB4726AF0}"/>
                  </a:ext>
                </a:extLst>
              </p:cNvPr>
              <p:cNvSpPr/>
              <p:nvPr/>
            </p:nvSpPr>
            <p:spPr>
              <a:xfrm>
                <a:off x="8879776" y="2440227"/>
                <a:ext cx="960120" cy="188672"/>
              </a:xfrm>
              <a:custGeom>
                <a:avLst/>
                <a:gdLst/>
                <a:ahLst/>
                <a:cxnLst/>
                <a:rect l="l" t="t" r="r" b="b"/>
                <a:pathLst>
                  <a:path w="960120" h="188672" extrusionOk="0">
                    <a:moveTo>
                      <a:pt x="0" y="112473"/>
                    </a:moveTo>
                    <a:cubicBezTo>
                      <a:pt x="0" y="83898"/>
                      <a:pt x="5715" y="77230"/>
                      <a:pt x="25717" y="74373"/>
                    </a:cubicBezTo>
                    <a:lnTo>
                      <a:pt x="899160" y="78"/>
                    </a:lnTo>
                    <a:cubicBezTo>
                      <a:pt x="941070" y="-1827"/>
                      <a:pt x="957262" y="31510"/>
                      <a:pt x="957262" y="60085"/>
                    </a:cubicBezTo>
                    <a:lnTo>
                      <a:pt x="960120" y="137238"/>
                    </a:lnTo>
                    <a:cubicBezTo>
                      <a:pt x="960120" y="165813"/>
                      <a:pt x="933450" y="188673"/>
                      <a:pt x="901065" y="188673"/>
                    </a:cubicBezTo>
                    <a:lnTo>
                      <a:pt x="320040" y="188673"/>
                    </a:lnTo>
                    <a:lnTo>
                      <a:pt x="59055" y="188673"/>
                    </a:lnTo>
                    <a:cubicBezTo>
                      <a:pt x="26670" y="188673"/>
                      <a:pt x="0" y="165813"/>
                      <a:pt x="0" y="137238"/>
                    </a:cubicBezTo>
                    <a:lnTo>
                      <a:pt x="0" y="112473"/>
                    </a:lnTo>
                    <a:close/>
                  </a:path>
                </a:pathLst>
              </a:custGeom>
              <a:solidFill>
                <a:srgbClr val="CC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8" name="Google Shape;194;p25">
                <a:extLst>
                  <a:ext uri="{FF2B5EF4-FFF2-40B4-BE49-F238E27FC236}">
                    <a16:creationId xmlns="" xmlns:a16="http://schemas.microsoft.com/office/drawing/2014/main" id="{169C2B95-808F-4F28-9666-0159FA32FAC5}"/>
                  </a:ext>
                </a:extLst>
              </p:cNvPr>
              <p:cNvSpPr/>
              <p:nvPr/>
            </p:nvSpPr>
            <p:spPr>
              <a:xfrm>
                <a:off x="8323516" y="2627947"/>
                <a:ext cx="2070734" cy="2541270"/>
              </a:xfrm>
              <a:custGeom>
                <a:avLst/>
                <a:gdLst/>
                <a:ahLst/>
                <a:cxnLst/>
                <a:rect l="l" t="t" r="r" b="b"/>
                <a:pathLst>
                  <a:path w="2070734" h="2541270" extrusionOk="0">
                    <a:moveTo>
                      <a:pt x="1035368" y="2541270"/>
                    </a:moveTo>
                    <a:cubicBezTo>
                      <a:pt x="1606868" y="2541270"/>
                      <a:pt x="2070735" y="2077403"/>
                      <a:pt x="2070735" y="1505903"/>
                    </a:cubicBezTo>
                    <a:cubicBezTo>
                      <a:pt x="2070735" y="1215390"/>
                      <a:pt x="1950720" y="953453"/>
                      <a:pt x="1758315" y="764858"/>
                    </a:cubicBezTo>
                    <a:cubicBezTo>
                      <a:pt x="1668780" y="670560"/>
                      <a:pt x="1580197" y="561022"/>
                      <a:pt x="1566862" y="348615"/>
                    </a:cubicBezTo>
                    <a:cubicBezTo>
                      <a:pt x="1555433" y="159068"/>
                      <a:pt x="1565910" y="55245"/>
                      <a:pt x="1450658" y="0"/>
                    </a:cubicBezTo>
                    <a:lnTo>
                      <a:pt x="620078" y="0"/>
                    </a:lnTo>
                    <a:cubicBezTo>
                      <a:pt x="505778" y="55245"/>
                      <a:pt x="515303" y="159068"/>
                      <a:pt x="504825" y="348615"/>
                    </a:cubicBezTo>
                    <a:cubicBezTo>
                      <a:pt x="493395" y="549593"/>
                      <a:pt x="407670" y="661988"/>
                      <a:pt x="325755" y="752475"/>
                    </a:cubicBezTo>
                    <a:cubicBezTo>
                      <a:pt x="125730" y="941070"/>
                      <a:pt x="0" y="1209675"/>
                      <a:pt x="0" y="1505903"/>
                    </a:cubicBezTo>
                    <a:cubicBezTo>
                      <a:pt x="0" y="2077403"/>
                      <a:pt x="463868" y="2541270"/>
                      <a:pt x="1035368" y="2541270"/>
                    </a:cubicBezTo>
                    <a:close/>
                    <a:moveTo>
                      <a:pt x="331470" y="755333"/>
                    </a:moveTo>
                    <a:cubicBezTo>
                      <a:pt x="412432" y="665797"/>
                      <a:pt x="498157" y="554355"/>
                      <a:pt x="509587" y="355283"/>
                    </a:cubicBezTo>
                    <a:cubicBezTo>
                      <a:pt x="521018" y="167640"/>
                      <a:pt x="510540" y="61913"/>
                      <a:pt x="624840" y="10478"/>
                    </a:cubicBezTo>
                    <a:lnTo>
                      <a:pt x="1450658" y="10478"/>
                    </a:lnTo>
                    <a:cubicBezTo>
                      <a:pt x="1564958" y="61913"/>
                      <a:pt x="1554480" y="167640"/>
                      <a:pt x="1565910" y="355283"/>
                    </a:cubicBezTo>
                    <a:cubicBezTo>
                      <a:pt x="1578293" y="566738"/>
                      <a:pt x="1666875" y="674370"/>
                      <a:pt x="1755458" y="768668"/>
                    </a:cubicBezTo>
                    <a:cubicBezTo>
                      <a:pt x="1946910" y="955358"/>
                      <a:pt x="2065972" y="1216343"/>
                      <a:pt x="2065972" y="1504950"/>
                    </a:cubicBezTo>
                    <a:cubicBezTo>
                      <a:pt x="2065972" y="2073593"/>
                      <a:pt x="1604010" y="2536508"/>
                      <a:pt x="1035368" y="2536508"/>
                    </a:cubicBezTo>
                    <a:cubicBezTo>
                      <a:pt x="466725" y="2536508"/>
                      <a:pt x="8573" y="2073593"/>
                      <a:pt x="8573" y="1504950"/>
                    </a:cubicBezTo>
                    <a:cubicBezTo>
                      <a:pt x="7620" y="1209675"/>
                      <a:pt x="132398" y="942975"/>
                      <a:pt x="331470" y="755333"/>
                    </a:cubicBezTo>
                    <a:close/>
                  </a:path>
                </a:pathLst>
              </a:custGeom>
              <a:solidFill>
                <a:srgbClr val="303035">
                  <a:alpha val="22745"/>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9" name="Google Shape;195;p25">
                <a:extLst>
                  <a:ext uri="{FF2B5EF4-FFF2-40B4-BE49-F238E27FC236}">
                    <a16:creationId xmlns="" xmlns:a16="http://schemas.microsoft.com/office/drawing/2014/main" id="{BD8ACEA2-249C-4551-8C6C-A270AE36B065}"/>
                  </a:ext>
                </a:extLst>
              </p:cNvPr>
              <p:cNvSpPr/>
              <p:nvPr/>
            </p:nvSpPr>
            <p:spPr>
              <a:xfrm>
                <a:off x="8323516" y="2628900"/>
                <a:ext cx="1373505" cy="2540317"/>
              </a:xfrm>
              <a:custGeom>
                <a:avLst/>
                <a:gdLst/>
                <a:ahLst/>
                <a:cxnLst/>
                <a:rect l="l" t="t" r="r" b="b"/>
                <a:pathLst>
                  <a:path w="1373505" h="2540317" extrusionOk="0">
                    <a:moveTo>
                      <a:pt x="1035368" y="2540318"/>
                    </a:moveTo>
                    <a:cubicBezTo>
                      <a:pt x="1153478" y="2540318"/>
                      <a:pt x="1267778" y="2520315"/>
                      <a:pt x="1373505" y="2484120"/>
                    </a:cubicBezTo>
                    <a:cubicBezTo>
                      <a:pt x="1273493" y="2516505"/>
                      <a:pt x="1165860" y="2537460"/>
                      <a:pt x="1054418" y="2537460"/>
                    </a:cubicBezTo>
                    <a:cubicBezTo>
                      <a:pt x="482918" y="2537460"/>
                      <a:pt x="8573" y="2071688"/>
                      <a:pt x="8573" y="1500188"/>
                    </a:cubicBezTo>
                    <a:cubicBezTo>
                      <a:pt x="8573" y="1203007"/>
                      <a:pt x="141923" y="934403"/>
                      <a:pt x="341948" y="745807"/>
                    </a:cubicBezTo>
                    <a:cubicBezTo>
                      <a:pt x="423862" y="655320"/>
                      <a:pt x="499110" y="540068"/>
                      <a:pt x="510540" y="339090"/>
                    </a:cubicBezTo>
                    <a:cubicBezTo>
                      <a:pt x="521018" y="157163"/>
                      <a:pt x="508635" y="52388"/>
                      <a:pt x="626745" y="0"/>
                    </a:cubicBezTo>
                    <a:lnTo>
                      <a:pt x="620078" y="0"/>
                    </a:lnTo>
                    <a:cubicBezTo>
                      <a:pt x="505778" y="55245"/>
                      <a:pt x="515303" y="159068"/>
                      <a:pt x="504825" y="348615"/>
                    </a:cubicBezTo>
                    <a:cubicBezTo>
                      <a:pt x="493395" y="549593"/>
                      <a:pt x="407670" y="661988"/>
                      <a:pt x="325755" y="752475"/>
                    </a:cubicBezTo>
                    <a:cubicBezTo>
                      <a:pt x="125730" y="941070"/>
                      <a:pt x="0" y="1209675"/>
                      <a:pt x="0" y="1505903"/>
                    </a:cubicBezTo>
                    <a:cubicBezTo>
                      <a:pt x="0" y="2076450"/>
                      <a:pt x="463868" y="2540318"/>
                      <a:pt x="1035368" y="2540318"/>
                    </a:cubicBezTo>
                    <a:close/>
                  </a:path>
                </a:pathLst>
              </a:custGeom>
              <a:solidFill>
                <a:srgbClr val="FFFFFF">
                  <a:alpha val="27843"/>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0" name="Google Shape;196;p25">
                <a:extLst>
                  <a:ext uri="{FF2B5EF4-FFF2-40B4-BE49-F238E27FC236}">
                    <a16:creationId xmlns="" xmlns:a16="http://schemas.microsoft.com/office/drawing/2014/main" id="{8E26EF4F-7556-402C-8940-8E9040F38E9F}"/>
                  </a:ext>
                </a:extLst>
              </p:cNvPr>
              <p:cNvSpPr/>
              <p:nvPr/>
            </p:nvSpPr>
            <p:spPr>
              <a:xfrm>
                <a:off x="8943593" y="2627947"/>
                <a:ext cx="831532" cy="3809"/>
              </a:xfrm>
              <a:custGeom>
                <a:avLst/>
                <a:gdLst/>
                <a:ahLst/>
                <a:cxnLst/>
                <a:rect l="l" t="t" r="r" b="b"/>
                <a:pathLst>
                  <a:path w="831532" h="3809" extrusionOk="0">
                    <a:moveTo>
                      <a:pt x="831532" y="953"/>
                    </a:moveTo>
                    <a:lnTo>
                      <a:pt x="727710" y="1905"/>
                    </a:lnTo>
                    <a:lnTo>
                      <a:pt x="623888" y="2858"/>
                    </a:lnTo>
                    <a:cubicBezTo>
                      <a:pt x="554355" y="3810"/>
                      <a:pt x="484822" y="3810"/>
                      <a:pt x="416242" y="3810"/>
                    </a:cubicBezTo>
                    <a:lnTo>
                      <a:pt x="312420" y="3810"/>
                    </a:lnTo>
                    <a:lnTo>
                      <a:pt x="260033" y="3810"/>
                    </a:lnTo>
                    <a:lnTo>
                      <a:pt x="207645" y="3810"/>
                    </a:lnTo>
                    <a:lnTo>
                      <a:pt x="103822" y="1905"/>
                    </a:lnTo>
                    <a:lnTo>
                      <a:pt x="0" y="0"/>
                    </a:lnTo>
                    <a:lnTo>
                      <a:pt x="103822" y="0"/>
                    </a:lnTo>
                    <a:lnTo>
                      <a:pt x="207645" y="0"/>
                    </a:lnTo>
                    <a:lnTo>
                      <a:pt x="260033" y="0"/>
                    </a:lnTo>
                    <a:lnTo>
                      <a:pt x="312420" y="0"/>
                    </a:lnTo>
                    <a:lnTo>
                      <a:pt x="416242" y="0"/>
                    </a:lnTo>
                    <a:cubicBezTo>
                      <a:pt x="485775" y="0"/>
                      <a:pt x="554355" y="0"/>
                      <a:pt x="623888" y="0"/>
                    </a:cubicBezTo>
                    <a:lnTo>
                      <a:pt x="727710" y="0"/>
                    </a:lnTo>
                    <a:lnTo>
                      <a:pt x="831532" y="953"/>
                    </a:lnTo>
                    <a:close/>
                  </a:path>
                </a:pathLst>
              </a:custGeom>
              <a:solidFill>
                <a:srgbClr val="38383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8" name="Google Shape;197;p25">
              <a:extLst>
                <a:ext uri="{FF2B5EF4-FFF2-40B4-BE49-F238E27FC236}">
                  <a16:creationId xmlns="" xmlns:a16="http://schemas.microsoft.com/office/drawing/2014/main" id="{D888F7BB-7240-4478-BAAA-B24A32FCD138}"/>
                </a:ext>
              </a:extLst>
            </p:cNvPr>
            <p:cNvGrpSpPr/>
            <p:nvPr/>
          </p:nvGrpSpPr>
          <p:grpSpPr>
            <a:xfrm rot="10800000">
              <a:off x="1937772" y="1600603"/>
              <a:ext cx="3088439" cy="2173756"/>
              <a:chOff x="7214791" y="3217331"/>
              <a:chExt cx="4182101" cy="2943516"/>
            </a:xfrm>
          </p:grpSpPr>
          <p:sp>
            <p:nvSpPr>
              <p:cNvPr id="9" name="Google Shape;198;p25">
                <a:extLst>
                  <a:ext uri="{FF2B5EF4-FFF2-40B4-BE49-F238E27FC236}">
                    <a16:creationId xmlns="" xmlns:a16="http://schemas.microsoft.com/office/drawing/2014/main" id="{B28FAF73-91DD-4AA2-97F7-3F993AFBEB18}"/>
                  </a:ext>
                </a:extLst>
              </p:cNvPr>
              <p:cNvSpPr/>
              <p:nvPr/>
            </p:nvSpPr>
            <p:spPr>
              <a:xfrm>
                <a:off x="10620372" y="3217331"/>
                <a:ext cx="663554" cy="422383"/>
              </a:xfrm>
              <a:custGeom>
                <a:avLst/>
                <a:gdLst/>
                <a:ahLst/>
                <a:cxnLst/>
                <a:rect l="l" t="t" r="r" b="b"/>
                <a:pathLst>
                  <a:path w="663554" h="422383" extrusionOk="0">
                    <a:moveTo>
                      <a:pt x="652084" y="51648"/>
                    </a:moveTo>
                    <a:cubicBezTo>
                      <a:pt x="673039" y="92606"/>
                      <a:pt x="664466" y="138325"/>
                      <a:pt x="633034" y="153565"/>
                    </a:cubicBezTo>
                    <a:lnTo>
                      <a:pt x="103444" y="417408"/>
                    </a:lnTo>
                    <a:cubicBezTo>
                      <a:pt x="72964" y="432648"/>
                      <a:pt x="31054" y="411693"/>
                      <a:pt x="11051" y="370736"/>
                    </a:cubicBezTo>
                    <a:lnTo>
                      <a:pt x="11051" y="370736"/>
                    </a:lnTo>
                    <a:cubicBezTo>
                      <a:pt x="-8951" y="329778"/>
                      <a:pt x="-1331" y="284058"/>
                      <a:pt x="30101" y="268818"/>
                    </a:cubicBezTo>
                    <a:lnTo>
                      <a:pt x="559691" y="4975"/>
                    </a:lnTo>
                    <a:cubicBezTo>
                      <a:pt x="590171" y="-10264"/>
                      <a:pt x="631129" y="10690"/>
                      <a:pt x="652084" y="51648"/>
                    </a:cubicBezTo>
                    <a:lnTo>
                      <a:pt x="652084" y="51648"/>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0" name="Google Shape;199;p25">
                <a:extLst>
                  <a:ext uri="{FF2B5EF4-FFF2-40B4-BE49-F238E27FC236}">
                    <a16:creationId xmlns="" xmlns:a16="http://schemas.microsoft.com/office/drawing/2014/main" id="{C422F3EB-20BC-4D86-A108-5D7BF6D5EAE9}"/>
                  </a:ext>
                </a:extLst>
              </p:cNvPr>
              <p:cNvSpPr/>
              <p:nvPr/>
            </p:nvSpPr>
            <p:spPr>
              <a:xfrm>
                <a:off x="10689511" y="4134883"/>
                <a:ext cx="707381" cy="267489"/>
              </a:xfrm>
              <a:custGeom>
                <a:avLst/>
                <a:gdLst/>
                <a:ahLst/>
                <a:cxnLst/>
                <a:rect l="l" t="t" r="r" b="b"/>
                <a:pathLst>
                  <a:path w="707381" h="267489" extrusionOk="0">
                    <a:moveTo>
                      <a:pt x="705817" y="196134"/>
                    </a:moveTo>
                    <a:cubicBezTo>
                      <a:pt x="698197" y="240901"/>
                      <a:pt x="663907" y="273286"/>
                      <a:pt x="630569" y="266619"/>
                    </a:cubicBezTo>
                    <a:lnTo>
                      <a:pt x="48592" y="163748"/>
                    </a:lnTo>
                    <a:cubicBezTo>
                      <a:pt x="14302" y="158034"/>
                      <a:pt x="-6653" y="116123"/>
                      <a:pt x="1919" y="71356"/>
                    </a:cubicBezTo>
                    <a:lnTo>
                      <a:pt x="1919" y="71356"/>
                    </a:lnTo>
                    <a:cubicBezTo>
                      <a:pt x="9539" y="26588"/>
                      <a:pt x="43829" y="-5796"/>
                      <a:pt x="77167" y="871"/>
                    </a:cubicBezTo>
                    <a:lnTo>
                      <a:pt x="659144" y="103741"/>
                    </a:lnTo>
                    <a:cubicBezTo>
                      <a:pt x="692482" y="109456"/>
                      <a:pt x="713437" y="151366"/>
                      <a:pt x="705817" y="196134"/>
                    </a:cubicBezTo>
                    <a:lnTo>
                      <a:pt x="705817" y="196134"/>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 name="Google Shape;200;p25">
                <a:extLst>
                  <a:ext uri="{FF2B5EF4-FFF2-40B4-BE49-F238E27FC236}">
                    <a16:creationId xmlns="" xmlns:a16="http://schemas.microsoft.com/office/drawing/2014/main" id="{4FC5718B-ADBD-4EEA-874F-67E0F201F68C}"/>
                  </a:ext>
                </a:extLst>
              </p:cNvPr>
              <p:cNvSpPr/>
              <p:nvPr/>
            </p:nvSpPr>
            <p:spPr>
              <a:xfrm>
                <a:off x="10420804" y="4997866"/>
                <a:ext cx="571039" cy="558919"/>
              </a:xfrm>
              <a:custGeom>
                <a:avLst/>
                <a:gdLst/>
                <a:ahLst/>
                <a:cxnLst/>
                <a:rect l="l" t="t" r="r" b="b"/>
                <a:pathLst>
                  <a:path w="571039" h="558919" extrusionOk="0">
                    <a:moveTo>
                      <a:pt x="543042" y="528538"/>
                    </a:moveTo>
                    <a:cubicBezTo>
                      <a:pt x="510657" y="561876"/>
                      <a:pt x="464937" y="568544"/>
                      <a:pt x="440172" y="544731"/>
                    </a:cubicBezTo>
                    <a:lnTo>
                      <a:pt x="15357" y="133251"/>
                    </a:lnTo>
                    <a:cubicBezTo>
                      <a:pt x="-9408" y="109438"/>
                      <a:pt x="-3693" y="63719"/>
                      <a:pt x="28692" y="30381"/>
                    </a:cubicBezTo>
                    <a:lnTo>
                      <a:pt x="28692" y="30381"/>
                    </a:lnTo>
                    <a:cubicBezTo>
                      <a:pt x="60124" y="-2956"/>
                      <a:pt x="106797" y="-9624"/>
                      <a:pt x="131562" y="14188"/>
                    </a:cubicBezTo>
                    <a:lnTo>
                      <a:pt x="556377" y="425669"/>
                    </a:lnTo>
                    <a:cubicBezTo>
                      <a:pt x="580189" y="449481"/>
                      <a:pt x="574474" y="495201"/>
                      <a:pt x="543042" y="528538"/>
                    </a:cubicBezTo>
                    <a:lnTo>
                      <a:pt x="543042" y="528538"/>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2" name="Google Shape;201;p25">
                <a:extLst>
                  <a:ext uri="{FF2B5EF4-FFF2-40B4-BE49-F238E27FC236}">
                    <a16:creationId xmlns="" xmlns:a16="http://schemas.microsoft.com/office/drawing/2014/main" id="{A10E372B-F8CF-40AA-853B-9F160204C14D}"/>
                  </a:ext>
                </a:extLst>
              </p:cNvPr>
              <p:cNvSpPr/>
              <p:nvPr/>
            </p:nvSpPr>
            <p:spPr>
              <a:xfrm>
                <a:off x="7327579" y="3217331"/>
                <a:ext cx="663135" cy="422383"/>
              </a:xfrm>
              <a:custGeom>
                <a:avLst/>
                <a:gdLst/>
                <a:ahLst/>
                <a:cxnLst/>
                <a:rect l="l" t="t" r="r" b="b"/>
                <a:pathLst>
                  <a:path w="663135" h="422383" extrusionOk="0">
                    <a:moveTo>
                      <a:pt x="11051" y="51648"/>
                    </a:moveTo>
                    <a:cubicBezTo>
                      <a:pt x="-8951" y="92606"/>
                      <a:pt x="-1331" y="138325"/>
                      <a:pt x="30101" y="153565"/>
                    </a:cubicBezTo>
                    <a:lnTo>
                      <a:pt x="559691" y="417408"/>
                    </a:lnTo>
                    <a:cubicBezTo>
                      <a:pt x="590171" y="432648"/>
                      <a:pt x="632081" y="411693"/>
                      <a:pt x="652084" y="370736"/>
                    </a:cubicBezTo>
                    <a:lnTo>
                      <a:pt x="652084" y="370736"/>
                    </a:lnTo>
                    <a:cubicBezTo>
                      <a:pt x="672086" y="329778"/>
                      <a:pt x="664466" y="284058"/>
                      <a:pt x="633034" y="268818"/>
                    </a:cubicBezTo>
                    <a:lnTo>
                      <a:pt x="103444" y="4975"/>
                    </a:lnTo>
                    <a:cubicBezTo>
                      <a:pt x="72964" y="-10264"/>
                      <a:pt x="32006" y="10690"/>
                      <a:pt x="11051" y="51648"/>
                    </a:cubicBezTo>
                    <a:lnTo>
                      <a:pt x="11051" y="51648"/>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 name="Google Shape;202;p25">
                <a:extLst>
                  <a:ext uri="{FF2B5EF4-FFF2-40B4-BE49-F238E27FC236}">
                    <a16:creationId xmlns="" xmlns:a16="http://schemas.microsoft.com/office/drawing/2014/main" id="{272CCFB5-422F-4D37-912C-6B2F77FA1E27}"/>
                  </a:ext>
                </a:extLst>
              </p:cNvPr>
              <p:cNvSpPr/>
              <p:nvPr/>
            </p:nvSpPr>
            <p:spPr>
              <a:xfrm>
                <a:off x="7214791" y="4134883"/>
                <a:ext cx="707681" cy="267489"/>
              </a:xfrm>
              <a:custGeom>
                <a:avLst/>
                <a:gdLst/>
                <a:ahLst/>
                <a:cxnLst/>
                <a:rect l="l" t="t" r="r" b="b"/>
                <a:pathLst>
                  <a:path w="707681" h="267489" extrusionOk="0">
                    <a:moveTo>
                      <a:pt x="1919" y="196134"/>
                    </a:moveTo>
                    <a:cubicBezTo>
                      <a:pt x="9539" y="240901"/>
                      <a:pt x="43829" y="273286"/>
                      <a:pt x="77167" y="266619"/>
                    </a:cubicBezTo>
                    <a:lnTo>
                      <a:pt x="659144" y="163748"/>
                    </a:lnTo>
                    <a:cubicBezTo>
                      <a:pt x="692482" y="158034"/>
                      <a:pt x="714389" y="116123"/>
                      <a:pt x="705817" y="71356"/>
                    </a:cubicBezTo>
                    <a:lnTo>
                      <a:pt x="705817" y="71356"/>
                    </a:lnTo>
                    <a:cubicBezTo>
                      <a:pt x="698197" y="26588"/>
                      <a:pt x="663907" y="-5796"/>
                      <a:pt x="630569" y="871"/>
                    </a:cubicBezTo>
                    <a:lnTo>
                      <a:pt x="48592" y="103741"/>
                    </a:lnTo>
                    <a:cubicBezTo>
                      <a:pt x="14302" y="109456"/>
                      <a:pt x="-6653" y="151366"/>
                      <a:pt x="1919" y="196134"/>
                    </a:cubicBezTo>
                    <a:lnTo>
                      <a:pt x="1919" y="196134"/>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4" name="Google Shape;203;p25">
                <a:extLst>
                  <a:ext uri="{FF2B5EF4-FFF2-40B4-BE49-F238E27FC236}">
                    <a16:creationId xmlns="" xmlns:a16="http://schemas.microsoft.com/office/drawing/2014/main" id="{EC7FD71B-56E3-496A-BF19-9869228FB05C}"/>
                  </a:ext>
                </a:extLst>
              </p:cNvPr>
              <p:cNvSpPr/>
              <p:nvPr/>
            </p:nvSpPr>
            <p:spPr>
              <a:xfrm>
                <a:off x="7529014" y="4868326"/>
                <a:ext cx="571733" cy="558919"/>
              </a:xfrm>
              <a:custGeom>
                <a:avLst/>
                <a:gdLst/>
                <a:ahLst/>
                <a:cxnLst/>
                <a:rect l="l" t="t" r="r" b="b"/>
                <a:pathLst>
                  <a:path w="571733" h="558919" extrusionOk="0">
                    <a:moveTo>
                      <a:pt x="28692" y="528538"/>
                    </a:moveTo>
                    <a:cubicBezTo>
                      <a:pt x="61077" y="561876"/>
                      <a:pt x="106797" y="568543"/>
                      <a:pt x="131562" y="544731"/>
                    </a:cubicBezTo>
                    <a:lnTo>
                      <a:pt x="556377" y="133251"/>
                    </a:lnTo>
                    <a:cubicBezTo>
                      <a:pt x="581142" y="109438"/>
                      <a:pt x="575427" y="63718"/>
                      <a:pt x="543042" y="30381"/>
                    </a:cubicBezTo>
                    <a:lnTo>
                      <a:pt x="543042" y="30381"/>
                    </a:lnTo>
                    <a:cubicBezTo>
                      <a:pt x="510657" y="-2957"/>
                      <a:pt x="464937" y="-9624"/>
                      <a:pt x="440172" y="14188"/>
                    </a:cubicBezTo>
                    <a:lnTo>
                      <a:pt x="15357" y="425668"/>
                    </a:lnTo>
                    <a:cubicBezTo>
                      <a:pt x="-9408" y="449481"/>
                      <a:pt x="-3693" y="496154"/>
                      <a:pt x="28692" y="528538"/>
                    </a:cubicBezTo>
                    <a:lnTo>
                      <a:pt x="28692" y="528538"/>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 name="Google Shape;204;p25">
                <a:extLst>
                  <a:ext uri="{FF2B5EF4-FFF2-40B4-BE49-F238E27FC236}">
                    <a16:creationId xmlns="" xmlns:a16="http://schemas.microsoft.com/office/drawing/2014/main" id="{B52F3921-1345-4D81-8A5A-7FFD1AB30EAD}"/>
                  </a:ext>
                </a:extLst>
              </p:cNvPr>
              <p:cNvSpPr/>
              <p:nvPr/>
            </p:nvSpPr>
            <p:spPr>
              <a:xfrm>
                <a:off x="8540712" y="5433152"/>
                <a:ext cx="331417" cy="696093"/>
              </a:xfrm>
              <a:custGeom>
                <a:avLst/>
                <a:gdLst/>
                <a:ahLst/>
                <a:cxnLst/>
                <a:rect l="l" t="t" r="r" b="b"/>
                <a:pathLst>
                  <a:path w="331417" h="696093" extrusionOk="0">
                    <a:moveTo>
                      <a:pt x="63791" y="691423"/>
                    </a:moveTo>
                    <a:cubicBezTo>
                      <a:pt x="107606" y="704758"/>
                      <a:pt x="151421" y="688565"/>
                      <a:pt x="160946" y="655228"/>
                    </a:cubicBezTo>
                    <a:lnTo>
                      <a:pt x="329539" y="88490"/>
                    </a:lnTo>
                    <a:cubicBezTo>
                      <a:pt x="339064" y="55153"/>
                      <a:pt x="311441" y="18005"/>
                      <a:pt x="267626" y="4671"/>
                    </a:cubicBezTo>
                    <a:lnTo>
                      <a:pt x="267626" y="4671"/>
                    </a:lnTo>
                    <a:cubicBezTo>
                      <a:pt x="223811" y="-8665"/>
                      <a:pt x="179996" y="7528"/>
                      <a:pt x="170471" y="40865"/>
                    </a:cubicBezTo>
                    <a:lnTo>
                      <a:pt x="1878" y="607603"/>
                    </a:lnTo>
                    <a:cubicBezTo>
                      <a:pt x="-7647" y="640940"/>
                      <a:pt x="19976" y="678088"/>
                      <a:pt x="63791" y="691423"/>
                    </a:cubicBezTo>
                    <a:lnTo>
                      <a:pt x="63791" y="691423"/>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6" name="Google Shape;205;p25">
                <a:extLst>
                  <a:ext uri="{FF2B5EF4-FFF2-40B4-BE49-F238E27FC236}">
                    <a16:creationId xmlns="" xmlns:a16="http://schemas.microsoft.com/office/drawing/2014/main" id="{CEAC8FD1-C143-4A01-B791-E0B502A4A4D0}"/>
                  </a:ext>
                </a:extLst>
              </p:cNvPr>
              <p:cNvSpPr/>
              <p:nvPr/>
            </p:nvSpPr>
            <p:spPr>
              <a:xfrm>
                <a:off x="9782806" y="5454565"/>
                <a:ext cx="278009" cy="706282"/>
              </a:xfrm>
              <a:custGeom>
                <a:avLst/>
                <a:gdLst/>
                <a:ahLst/>
                <a:cxnLst/>
                <a:rect l="l" t="t" r="r" b="b"/>
                <a:pathLst>
                  <a:path w="278009" h="706282" extrusionOk="0">
                    <a:moveTo>
                      <a:pt x="207585" y="704299"/>
                    </a:moveTo>
                    <a:cubicBezTo>
                      <a:pt x="252352" y="695727"/>
                      <a:pt x="283785" y="661436"/>
                      <a:pt x="277117" y="627147"/>
                    </a:cubicBezTo>
                    <a:lnTo>
                      <a:pt x="163770" y="47074"/>
                    </a:lnTo>
                    <a:cubicBezTo>
                      <a:pt x="157102" y="13736"/>
                      <a:pt x="115192" y="-7218"/>
                      <a:pt x="70425" y="2307"/>
                    </a:cubicBezTo>
                    <a:lnTo>
                      <a:pt x="70425" y="2307"/>
                    </a:lnTo>
                    <a:cubicBezTo>
                      <a:pt x="25657" y="10879"/>
                      <a:pt x="-5775" y="45169"/>
                      <a:pt x="892" y="79459"/>
                    </a:cubicBezTo>
                    <a:lnTo>
                      <a:pt x="114240" y="659532"/>
                    </a:lnTo>
                    <a:cubicBezTo>
                      <a:pt x="120907" y="692869"/>
                      <a:pt x="162817" y="712872"/>
                      <a:pt x="207585" y="704299"/>
                    </a:cubicBezTo>
                    <a:lnTo>
                      <a:pt x="207585" y="704299"/>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spTree>
    <p:extLst>
      <p:ext uri="{BB962C8B-B14F-4D97-AF65-F5344CB8AC3E}">
        <p14:creationId xmlns:p14="http://schemas.microsoft.com/office/powerpoint/2010/main" val="348446832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1425</TotalTime>
  <Words>2048</Words>
  <Application>Microsoft Office PowerPoint</Application>
  <PresentationFormat>On-screen Show (4:3)</PresentationFormat>
  <Paragraphs>288</Paragraphs>
  <Slides>45</Slides>
  <Notes>6</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Office Theme</vt:lpstr>
      <vt:lpstr>Introduction to Design and Analysis of Algorithms</vt:lpstr>
      <vt:lpstr>What are problem solving tools?</vt:lpstr>
      <vt:lpstr>Overview and Importance of Algorithms</vt:lpstr>
      <vt:lpstr>ALGORITHM</vt:lpstr>
      <vt:lpstr>What is an algorithm?</vt:lpstr>
      <vt:lpstr>Algorithm</vt:lpstr>
      <vt:lpstr>Notion of algorithm and problem</vt:lpstr>
      <vt:lpstr>Compute the GCD for the given two numbers</vt:lpstr>
      <vt:lpstr>Euclid’s Algorithm</vt:lpstr>
      <vt:lpstr>Two descriptions of Euclid’s algorithm</vt:lpstr>
      <vt:lpstr>Other methods for computing gcd(m,n)</vt:lpstr>
      <vt:lpstr>Other methods for gcd(m,n) [cont.]</vt:lpstr>
      <vt:lpstr>Importance of algorithm</vt:lpstr>
      <vt:lpstr>Relationship between Data Structure and Algorithm</vt:lpstr>
      <vt:lpstr>PowerPoint Presentation</vt:lpstr>
      <vt:lpstr>PowerPoint Presentation</vt:lpstr>
      <vt:lpstr>Importance of Learning DS and Algorithm</vt:lpstr>
      <vt:lpstr>Various stages of algorithm development for solving a problem </vt:lpstr>
      <vt:lpstr>PowerPoint Presentation</vt:lpstr>
      <vt:lpstr>PowerPoint Presentation</vt:lpstr>
      <vt:lpstr>Stages of Algorithm development</vt:lpstr>
      <vt:lpstr>Understanding the problem:  </vt:lpstr>
      <vt:lpstr>Ascertaining the capabilities of computational device  </vt:lpstr>
      <vt:lpstr>Choosing between exact and approximate problem solving</vt:lpstr>
      <vt:lpstr>Identifying a suitable technique:</vt:lpstr>
      <vt:lpstr>Identifying a suitable technique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Decrease and conquer</vt:lpstr>
      <vt:lpstr>Design of an algorithm:</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Algorithms</dc:title>
  <dc:creator>Admin</dc:creator>
  <cp:lastModifiedBy>HP</cp:lastModifiedBy>
  <cp:revision>57</cp:revision>
  <dcterms:created xsi:type="dcterms:W3CDTF">2021-03-16T09:58:30Z</dcterms:created>
  <dcterms:modified xsi:type="dcterms:W3CDTF">2024-01-05T11:21:30Z</dcterms:modified>
</cp:coreProperties>
</file>