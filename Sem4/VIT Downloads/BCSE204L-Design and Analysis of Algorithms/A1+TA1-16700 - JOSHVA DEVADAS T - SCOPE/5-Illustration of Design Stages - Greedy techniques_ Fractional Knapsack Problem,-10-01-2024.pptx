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73" r:id="rId14"/>
    <p:sldId id="271" r:id="rId15"/>
    <p:sldId id="272" r:id="rId16"/>
    <p:sldId id="297" r:id="rId17"/>
    <p:sldId id="296" r:id="rId18"/>
    <p:sldId id="269" r:id="rId19"/>
    <p:sldId id="274" r:id="rId20"/>
    <p:sldId id="275" r:id="rId21"/>
    <p:sldId id="276" r:id="rId22"/>
    <p:sldId id="277" r:id="rId23"/>
    <p:sldId id="278" r:id="rId24"/>
    <p:sldId id="279" r:id="rId25"/>
    <p:sldId id="280" r:id="rId26"/>
    <p:sldId id="281" r:id="rId27"/>
    <p:sldId id="282" r:id="rId28"/>
    <p:sldId id="283" r:id="rId29"/>
    <p:sldId id="292" r:id="rId30"/>
    <p:sldId id="293" r:id="rId31"/>
    <p:sldId id="294" r:id="rId32"/>
    <p:sldId id="295" r:id="rId33"/>
    <p:sldId id="285" r:id="rId34"/>
    <p:sldId id="284" r:id="rId35"/>
    <p:sldId id="287" r:id="rId36"/>
    <p:sldId id="288" r:id="rId37"/>
    <p:sldId id="289" r:id="rId38"/>
    <p:sldId id="290" r:id="rId39"/>
    <p:sldId id="291"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452"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A0FF2B2-FECC-4201-81F6-FF4DEA5F2716}" type="datetimeFigureOut">
              <a:rPr lang="en-IN" smtClean="0"/>
              <a:t>08-01-2024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FA0B812-8668-41F7-A82A-DBE23475360F}" type="slidenum">
              <a:rPr lang="en-IN" smtClean="0"/>
              <a:t>‹#›</a:t>
            </a:fld>
            <a:endParaRPr lang="en-IN"/>
          </a:p>
        </p:txBody>
      </p:sp>
    </p:spTree>
    <p:extLst>
      <p:ext uri="{BB962C8B-B14F-4D97-AF65-F5344CB8AC3E}">
        <p14:creationId xmlns:p14="http://schemas.microsoft.com/office/powerpoint/2010/main" val="15977190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character Frequency c 12 d 13 Internal Node 14 e 16 f 45</a:t>
            </a:r>
            <a:endParaRPr lang="en-IN" dirty="0"/>
          </a:p>
        </p:txBody>
      </p:sp>
      <p:sp>
        <p:nvSpPr>
          <p:cNvPr id="4" name="Slide Number Placeholder 3"/>
          <p:cNvSpPr>
            <a:spLocks noGrp="1"/>
          </p:cNvSpPr>
          <p:nvPr>
            <p:ph type="sldNum" sz="quarter" idx="10"/>
          </p:nvPr>
        </p:nvSpPr>
        <p:spPr/>
        <p:txBody>
          <a:bodyPr/>
          <a:lstStyle/>
          <a:p>
            <a:fld id="{0FA0B812-8668-41F7-A82A-DBE23475360F}" type="slidenum">
              <a:rPr lang="en-IN" smtClean="0"/>
              <a:t>22</a:t>
            </a:fld>
            <a:endParaRPr lang="en-IN"/>
          </a:p>
        </p:txBody>
      </p:sp>
    </p:spTree>
    <p:extLst>
      <p:ext uri="{BB962C8B-B14F-4D97-AF65-F5344CB8AC3E}">
        <p14:creationId xmlns:p14="http://schemas.microsoft.com/office/powerpoint/2010/main" val="5225092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0FA0B812-8668-41F7-A82A-DBE23475360F}" type="slidenum">
              <a:rPr lang="en-IN" smtClean="0"/>
              <a:t>24</a:t>
            </a:fld>
            <a:endParaRPr lang="en-IN"/>
          </a:p>
        </p:txBody>
      </p:sp>
    </p:spTree>
    <p:extLst>
      <p:ext uri="{BB962C8B-B14F-4D97-AF65-F5344CB8AC3E}">
        <p14:creationId xmlns:p14="http://schemas.microsoft.com/office/powerpoint/2010/main" val="2279734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FDA68C4-8BD3-4D5E-947A-BFC0125252CB}" type="datetimeFigureOut">
              <a:rPr lang="en-IN" smtClean="0"/>
              <a:t>08-01-2024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E7752D-18B7-4B55-8CF3-C34F072D243B}" type="slidenum">
              <a:rPr lang="en-IN" smtClean="0"/>
              <a:t>‹#›</a:t>
            </a:fld>
            <a:endParaRPr lang="en-IN"/>
          </a:p>
        </p:txBody>
      </p:sp>
    </p:spTree>
    <p:extLst>
      <p:ext uri="{BB962C8B-B14F-4D97-AF65-F5344CB8AC3E}">
        <p14:creationId xmlns:p14="http://schemas.microsoft.com/office/powerpoint/2010/main" val="3407745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FDA68C4-8BD3-4D5E-947A-BFC0125252CB}" type="datetimeFigureOut">
              <a:rPr lang="en-IN" smtClean="0"/>
              <a:t>08-01-2024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E7752D-18B7-4B55-8CF3-C34F072D243B}" type="slidenum">
              <a:rPr lang="en-IN" smtClean="0"/>
              <a:t>‹#›</a:t>
            </a:fld>
            <a:endParaRPr lang="en-IN"/>
          </a:p>
        </p:txBody>
      </p:sp>
    </p:spTree>
    <p:extLst>
      <p:ext uri="{BB962C8B-B14F-4D97-AF65-F5344CB8AC3E}">
        <p14:creationId xmlns:p14="http://schemas.microsoft.com/office/powerpoint/2010/main" val="3725698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FDA68C4-8BD3-4D5E-947A-BFC0125252CB}" type="datetimeFigureOut">
              <a:rPr lang="en-IN" smtClean="0"/>
              <a:t>08-01-2024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E7752D-18B7-4B55-8CF3-C34F072D243B}" type="slidenum">
              <a:rPr lang="en-IN" smtClean="0"/>
              <a:t>‹#›</a:t>
            </a:fld>
            <a:endParaRPr lang="en-IN"/>
          </a:p>
        </p:txBody>
      </p:sp>
    </p:spTree>
    <p:extLst>
      <p:ext uri="{BB962C8B-B14F-4D97-AF65-F5344CB8AC3E}">
        <p14:creationId xmlns:p14="http://schemas.microsoft.com/office/powerpoint/2010/main" val="3073080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FDA68C4-8BD3-4D5E-947A-BFC0125252CB}" type="datetimeFigureOut">
              <a:rPr lang="en-IN" smtClean="0"/>
              <a:t>08-01-2024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5E7752D-18B7-4B55-8CF3-C34F072D243B}" type="slidenum">
              <a:rPr lang="en-IN" smtClean="0"/>
              <a:t>‹#›</a:t>
            </a:fld>
            <a:endParaRPr lang="en-IN"/>
          </a:p>
        </p:txBody>
      </p:sp>
    </p:spTree>
    <p:extLst>
      <p:ext uri="{BB962C8B-B14F-4D97-AF65-F5344CB8AC3E}">
        <p14:creationId xmlns:p14="http://schemas.microsoft.com/office/powerpoint/2010/main" val="28465167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FDA68C4-8BD3-4D5E-947A-BFC0125252CB}" type="datetimeFigureOut">
              <a:rPr lang="en-IN" smtClean="0"/>
              <a:t>08-01-2024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5E7752D-18B7-4B55-8CF3-C34F072D243B}" type="slidenum">
              <a:rPr lang="en-IN" smtClean="0"/>
              <a:t>‹#›</a:t>
            </a:fld>
            <a:endParaRPr lang="en-IN"/>
          </a:p>
        </p:txBody>
      </p:sp>
    </p:spTree>
    <p:extLst>
      <p:ext uri="{BB962C8B-B14F-4D97-AF65-F5344CB8AC3E}">
        <p14:creationId xmlns:p14="http://schemas.microsoft.com/office/powerpoint/2010/main" val="2223051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FDA68C4-8BD3-4D5E-947A-BFC0125252CB}" type="datetimeFigureOut">
              <a:rPr lang="en-IN" smtClean="0"/>
              <a:t>08-01-2024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5E7752D-18B7-4B55-8CF3-C34F072D243B}" type="slidenum">
              <a:rPr lang="en-IN" smtClean="0"/>
              <a:t>‹#›</a:t>
            </a:fld>
            <a:endParaRPr lang="en-IN"/>
          </a:p>
        </p:txBody>
      </p:sp>
    </p:spTree>
    <p:extLst>
      <p:ext uri="{BB962C8B-B14F-4D97-AF65-F5344CB8AC3E}">
        <p14:creationId xmlns:p14="http://schemas.microsoft.com/office/powerpoint/2010/main" val="4586196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DA68C4-8BD3-4D5E-947A-BFC0125252CB}" type="datetimeFigureOut">
              <a:rPr lang="en-IN" smtClean="0"/>
              <a:t>08-01-2024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5E7752D-18B7-4B55-8CF3-C34F072D243B}" type="slidenum">
              <a:rPr lang="en-IN" smtClean="0"/>
              <a:t>‹#›</a:t>
            </a:fld>
            <a:endParaRPr lang="en-IN"/>
          </a:p>
        </p:txBody>
      </p:sp>
    </p:spTree>
    <p:extLst>
      <p:ext uri="{BB962C8B-B14F-4D97-AF65-F5344CB8AC3E}">
        <p14:creationId xmlns:p14="http://schemas.microsoft.com/office/powerpoint/2010/main" val="3155454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FDA68C4-8BD3-4D5E-947A-BFC0125252CB}" type="datetimeFigureOut">
              <a:rPr lang="en-IN" smtClean="0"/>
              <a:t>08-01-2024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5E7752D-18B7-4B55-8CF3-C34F072D243B}" type="slidenum">
              <a:rPr lang="en-IN" smtClean="0"/>
              <a:t>‹#›</a:t>
            </a:fld>
            <a:endParaRPr lang="en-IN"/>
          </a:p>
        </p:txBody>
      </p:sp>
    </p:spTree>
    <p:extLst>
      <p:ext uri="{BB962C8B-B14F-4D97-AF65-F5344CB8AC3E}">
        <p14:creationId xmlns:p14="http://schemas.microsoft.com/office/powerpoint/2010/main" val="911366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FDA68C4-8BD3-4D5E-947A-BFC0125252CB}" type="datetimeFigureOut">
              <a:rPr lang="en-IN" smtClean="0"/>
              <a:t>08-01-2024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5E7752D-18B7-4B55-8CF3-C34F072D243B}" type="slidenum">
              <a:rPr lang="en-IN" smtClean="0"/>
              <a:t>‹#›</a:t>
            </a:fld>
            <a:endParaRPr lang="en-IN"/>
          </a:p>
        </p:txBody>
      </p:sp>
    </p:spTree>
    <p:extLst>
      <p:ext uri="{BB962C8B-B14F-4D97-AF65-F5344CB8AC3E}">
        <p14:creationId xmlns:p14="http://schemas.microsoft.com/office/powerpoint/2010/main" val="7411202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FDA68C4-8BD3-4D5E-947A-BFC0125252CB}" type="datetimeFigureOut">
              <a:rPr lang="en-IN" smtClean="0"/>
              <a:t>08-01-2024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E7752D-18B7-4B55-8CF3-C34F072D243B}" type="slidenum">
              <a:rPr lang="en-IN" smtClean="0"/>
              <a:t>‹#›</a:t>
            </a:fld>
            <a:endParaRPr lang="en-IN"/>
          </a:p>
        </p:txBody>
      </p:sp>
    </p:spTree>
    <p:extLst>
      <p:ext uri="{BB962C8B-B14F-4D97-AF65-F5344CB8AC3E}">
        <p14:creationId xmlns:p14="http://schemas.microsoft.com/office/powerpoint/2010/main" val="11415588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FDA68C4-8BD3-4D5E-947A-BFC0125252CB}" type="datetimeFigureOut">
              <a:rPr lang="en-IN" smtClean="0"/>
              <a:t>08-01-2024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E7752D-18B7-4B55-8CF3-C34F072D243B}" type="slidenum">
              <a:rPr lang="en-IN" smtClean="0"/>
              <a:t>‹#›</a:t>
            </a:fld>
            <a:endParaRPr lang="en-IN"/>
          </a:p>
        </p:txBody>
      </p:sp>
    </p:spTree>
    <p:extLst>
      <p:ext uri="{BB962C8B-B14F-4D97-AF65-F5344CB8AC3E}">
        <p14:creationId xmlns:p14="http://schemas.microsoft.com/office/powerpoint/2010/main" val="1580323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DA68C4-8BD3-4D5E-947A-BFC0125252CB}" type="datetimeFigureOut">
              <a:rPr lang="en-IN" smtClean="0"/>
              <a:t>08-01-2024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E7752D-18B7-4B55-8CF3-C34F072D243B}" type="slidenum">
              <a:rPr lang="en-IN" smtClean="0"/>
              <a:t>‹#›</a:t>
            </a:fld>
            <a:endParaRPr lang="en-IN"/>
          </a:p>
        </p:txBody>
      </p:sp>
    </p:spTree>
    <p:extLst>
      <p:ext uri="{BB962C8B-B14F-4D97-AF65-F5344CB8AC3E}">
        <p14:creationId xmlns:p14="http://schemas.microsoft.com/office/powerpoint/2010/main" val="40449916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en.wikipedia.org/wiki/Prefix_code"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1484784"/>
            <a:ext cx="7772400" cy="1470025"/>
          </a:xfrm>
        </p:spPr>
        <p:txBody>
          <a:bodyPr>
            <a:normAutofit/>
          </a:bodyPr>
          <a:lstStyle/>
          <a:p>
            <a:r>
              <a:rPr lang="en-US" b="1" dirty="0" smtClean="0">
                <a:solidFill>
                  <a:srgbClr val="FF0000"/>
                </a:solidFill>
              </a:rPr>
              <a:t>GREEDY TECHNIQUES</a:t>
            </a:r>
            <a:endParaRPr lang="en-IN" b="1" dirty="0">
              <a:solidFill>
                <a:srgbClr val="FF0000"/>
              </a:solidFill>
            </a:endParaRPr>
          </a:p>
        </p:txBody>
      </p:sp>
      <p:sp>
        <p:nvSpPr>
          <p:cNvPr id="4" name="Subtitle 3"/>
          <p:cNvSpPr>
            <a:spLocks noGrp="1"/>
          </p:cNvSpPr>
          <p:nvPr>
            <p:ph type="subTitle" idx="1"/>
          </p:nvPr>
        </p:nvSpPr>
        <p:spPr>
          <a:xfrm>
            <a:off x="1475656" y="3356992"/>
            <a:ext cx="6400800" cy="1752600"/>
          </a:xfrm>
        </p:spPr>
        <p:txBody>
          <a:bodyPr/>
          <a:lstStyle/>
          <a:p>
            <a:r>
              <a:rPr lang="en-US" dirty="0" smtClean="0"/>
              <a:t>Fractional Knapsack</a:t>
            </a:r>
          </a:p>
          <a:p>
            <a:r>
              <a:rPr lang="en-US" dirty="0" smtClean="0"/>
              <a:t>Huffman Coding</a:t>
            </a:r>
            <a:endParaRPr lang="en-IN" dirty="0"/>
          </a:p>
        </p:txBody>
      </p:sp>
    </p:spTree>
    <p:extLst>
      <p:ext uri="{BB962C8B-B14F-4D97-AF65-F5344CB8AC3E}">
        <p14:creationId xmlns:p14="http://schemas.microsoft.com/office/powerpoint/2010/main" val="277183807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0648"/>
            <a:ext cx="8229600" cy="5865515"/>
          </a:xfrm>
        </p:spPr>
        <p:txBody>
          <a:bodyPr>
            <a:normAutofit fontScale="85000" lnSpcReduction="20000"/>
          </a:bodyPr>
          <a:lstStyle/>
          <a:p>
            <a:pPr algn="just"/>
            <a:r>
              <a:rPr lang="en-US" dirty="0" smtClean="0"/>
              <a:t>In greedy approach, the </a:t>
            </a:r>
            <a:r>
              <a:rPr lang="en-US" dirty="0" smtClean="0">
                <a:solidFill>
                  <a:srgbClr val="FF0000"/>
                </a:solidFill>
              </a:rPr>
              <a:t>decision is taken on the basis of current available information </a:t>
            </a:r>
            <a:r>
              <a:rPr lang="en-US" dirty="0" smtClean="0"/>
              <a:t>without worrying about the effect of the current decision in future.</a:t>
            </a:r>
          </a:p>
          <a:p>
            <a:pPr algn="just"/>
            <a:r>
              <a:rPr lang="en-US" dirty="0" smtClean="0"/>
              <a:t>Greedy algorithms </a:t>
            </a:r>
            <a:r>
              <a:rPr lang="en-US" dirty="0" smtClean="0">
                <a:solidFill>
                  <a:srgbClr val="FF0000"/>
                </a:solidFill>
              </a:rPr>
              <a:t>build a solution part by part</a:t>
            </a:r>
            <a:r>
              <a:rPr lang="en-US" dirty="0" smtClean="0"/>
              <a:t>, choosing the next part in such a way, that it gives an immediate benefit. </a:t>
            </a:r>
          </a:p>
          <a:p>
            <a:pPr algn="just"/>
            <a:r>
              <a:rPr lang="en-US" dirty="0" smtClean="0"/>
              <a:t>This approach </a:t>
            </a:r>
            <a:r>
              <a:rPr lang="en-US" dirty="0" smtClean="0">
                <a:solidFill>
                  <a:srgbClr val="FF0000"/>
                </a:solidFill>
              </a:rPr>
              <a:t>never reconsiders </a:t>
            </a:r>
            <a:r>
              <a:rPr lang="en-US" dirty="0" smtClean="0"/>
              <a:t>the choices taken previously.</a:t>
            </a:r>
          </a:p>
          <a:p>
            <a:pPr algn="just"/>
            <a:r>
              <a:rPr lang="en-US" dirty="0" smtClean="0"/>
              <a:t> This approach is mainly used to </a:t>
            </a:r>
            <a:r>
              <a:rPr lang="en-US" dirty="0" smtClean="0">
                <a:solidFill>
                  <a:srgbClr val="FF0000"/>
                </a:solidFill>
              </a:rPr>
              <a:t>solve optimization problems.</a:t>
            </a:r>
          </a:p>
          <a:p>
            <a:pPr algn="just"/>
            <a:r>
              <a:rPr lang="en-US" dirty="0" smtClean="0"/>
              <a:t> Greedy method is </a:t>
            </a:r>
            <a:r>
              <a:rPr lang="en-US" dirty="0" smtClean="0">
                <a:solidFill>
                  <a:srgbClr val="FF0000"/>
                </a:solidFill>
              </a:rPr>
              <a:t>easy to implement and quite efficient</a:t>
            </a:r>
            <a:r>
              <a:rPr lang="en-US" dirty="0" smtClean="0"/>
              <a:t> in most of the cases. </a:t>
            </a:r>
          </a:p>
          <a:p>
            <a:pPr algn="just"/>
            <a:r>
              <a:rPr lang="en-US" dirty="0" smtClean="0"/>
              <a:t>Hence, we can say that Greedy algorithm is an algorithmic paradigm based on heuristic that follows </a:t>
            </a:r>
            <a:r>
              <a:rPr lang="en-US" dirty="0" smtClean="0">
                <a:solidFill>
                  <a:srgbClr val="FF0000"/>
                </a:solidFill>
              </a:rPr>
              <a:t>local optimal choice at each step with the hope of finding global optimal solution</a:t>
            </a:r>
            <a:r>
              <a:rPr lang="en-US" dirty="0" smtClean="0"/>
              <a:t>.</a:t>
            </a:r>
          </a:p>
          <a:p>
            <a:endParaRPr lang="en-IN" dirty="0"/>
          </a:p>
        </p:txBody>
      </p:sp>
    </p:spTree>
    <p:extLst>
      <p:ext uri="{BB962C8B-B14F-4D97-AF65-F5344CB8AC3E}">
        <p14:creationId xmlns:p14="http://schemas.microsoft.com/office/powerpoint/2010/main" val="3388263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32656"/>
            <a:ext cx="8229600" cy="5793507"/>
          </a:xfrm>
        </p:spPr>
        <p:txBody>
          <a:bodyPr>
            <a:normAutofit fontScale="92500" lnSpcReduction="10000"/>
          </a:bodyPr>
          <a:lstStyle/>
          <a:p>
            <a:pPr algn="just"/>
            <a:r>
              <a:rPr lang="en-IN" dirty="0"/>
              <a:t>In many problems, </a:t>
            </a:r>
            <a:r>
              <a:rPr lang="en-IN" dirty="0" smtClean="0">
                <a:solidFill>
                  <a:srgbClr val="FF0000"/>
                </a:solidFill>
              </a:rPr>
              <a:t>it does </a:t>
            </a:r>
            <a:r>
              <a:rPr lang="en-IN" dirty="0">
                <a:solidFill>
                  <a:srgbClr val="FF0000"/>
                </a:solidFill>
              </a:rPr>
              <a:t>not produce an optimal solution</a:t>
            </a:r>
            <a:r>
              <a:rPr lang="en-IN" dirty="0"/>
              <a:t> </a:t>
            </a:r>
            <a:r>
              <a:rPr lang="en-IN" dirty="0" smtClean="0"/>
              <a:t>though </a:t>
            </a:r>
            <a:r>
              <a:rPr lang="en-IN" dirty="0"/>
              <a:t>it gives an approximate (near optimal) solution in a reasonable time.</a:t>
            </a:r>
          </a:p>
          <a:p>
            <a:pPr algn="just"/>
            <a:r>
              <a:rPr lang="en-IN" dirty="0"/>
              <a:t>Greedy Method </a:t>
            </a:r>
            <a:r>
              <a:rPr lang="en-IN" dirty="0">
                <a:solidFill>
                  <a:srgbClr val="FF0000"/>
                </a:solidFill>
              </a:rPr>
              <a:t>finds out of many options, but you have to choose the best option</a:t>
            </a:r>
            <a:r>
              <a:rPr lang="en-IN" dirty="0"/>
              <a:t>."</a:t>
            </a:r>
          </a:p>
          <a:p>
            <a:pPr algn="just"/>
            <a:r>
              <a:rPr lang="en-IN" dirty="0"/>
              <a:t>In this method, we have to find out the best method/option out of many present ways.</a:t>
            </a:r>
          </a:p>
          <a:p>
            <a:pPr algn="just"/>
            <a:r>
              <a:rPr lang="en-IN" dirty="0"/>
              <a:t>In this approach/method we </a:t>
            </a:r>
            <a:r>
              <a:rPr lang="en-IN" dirty="0">
                <a:solidFill>
                  <a:srgbClr val="FF0000"/>
                </a:solidFill>
              </a:rPr>
              <a:t>focus on the first stage and decide the output, don't think about the future.</a:t>
            </a:r>
          </a:p>
          <a:p>
            <a:pPr algn="just"/>
            <a:r>
              <a:rPr lang="en-IN" dirty="0"/>
              <a:t>This method may or may not give the best output.</a:t>
            </a:r>
          </a:p>
          <a:p>
            <a:endParaRPr lang="en-IN" dirty="0"/>
          </a:p>
        </p:txBody>
      </p:sp>
    </p:spTree>
    <p:extLst>
      <p:ext uri="{BB962C8B-B14F-4D97-AF65-F5344CB8AC3E}">
        <p14:creationId xmlns:p14="http://schemas.microsoft.com/office/powerpoint/2010/main" val="144681311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0648"/>
            <a:ext cx="8229600" cy="5865515"/>
          </a:xfrm>
        </p:spPr>
        <p:txBody>
          <a:bodyPr>
            <a:normAutofit fontScale="85000" lnSpcReduction="20000"/>
          </a:bodyPr>
          <a:lstStyle/>
          <a:p>
            <a:pPr algn="just"/>
            <a:r>
              <a:rPr lang="en-IN" dirty="0"/>
              <a:t>Greedy Algorithm solves problems by </a:t>
            </a:r>
            <a:r>
              <a:rPr lang="en-IN" dirty="0">
                <a:solidFill>
                  <a:srgbClr val="FF0000"/>
                </a:solidFill>
              </a:rPr>
              <a:t>making the best choice</a:t>
            </a:r>
            <a:r>
              <a:rPr lang="en-IN" dirty="0"/>
              <a:t> that seems best at the particular moment. </a:t>
            </a:r>
            <a:endParaRPr lang="en-IN" dirty="0" smtClean="0"/>
          </a:p>
          <a:p>
            <a:pPr algn="just"/>
            <a:r>
              <a:rPr lang="en-IN" dirty="0" smtClean="0"/>
              <a:t>Many </a:t>
            </a:r>
            <a:r>
              <a:rPr lang="en-IN" dirty="0"/>
              <a:t>optimization problems can be determined using a greedy algorithm. </a:t>
            </a:r>
            <a:endParaRPr lang="en-IN" dirty="0" smtClean="0"/>
          </a:p>
          <a:p>
            <a:pPr algn="just"/>
            <a:r>
              <a:rPr lang="en-IN" dirty="0" smtClean="0"/>
              <a:t>Some </a:t>
            </a:r>
            <a:r>
              <a:rPr lang="en-IN" dirty="0"/>
              <a:t>issues have no efficient solution, but a greedy algorithm may provide a solution that is </a:t>
            </a:r>
            <a:r>
              <a:rPr lang="en-IN" dirty="0">
                <a:solidFill>
                  <a:srgbClr val="FF0000"/>
                </a:solidFill>
              </a:rPr>
              <a:t>close to optimal. </a:t>
            </a:r>
            <a:endParaRPr lang="en-IN" dirty="0" smtClean="0">
              <a:solidFill>
                <a:srgbClr val="FF0000"/>
              </a:solidFill>
            </a:endParaRPr>
          </a:p>
          <a:p>
            <a:pPr algn="just"/>
            <a:r>
              <a:rPr lang="en-IN" dirty="0" smtClean="0"/>
              <a:t>A </a:t>
            </a:r>
            <a:r>
              <a:rPr lang="en-IN" dirty="0"/>
              <a:t>greedy algorithm works if a problem exhibits the following two properties:</a:t>
            </a:r>
          </a:p>
          <a:p>
            <a:pPr lvl="0" algn="just"/>
            <a:r>
              <a:rPr lang="en-IN" b="1" dirty="0">
                <a:solidFill>
                  <a:srgbClr val="FF0000"/>
                </a:solidFill>
              </a:rPr>
              <a:t>Greedy Choice Property</a:t>
            </a:r>
            <a:r>
              <a:rPr lang="en-IN" b="1" dirty="0"/>
              <a:t>:</a:t>
            </a:r>
            <a:r>
              <a:rPr lang="en-IN" dirty="0"/>
              <a:t> A globally optimal solution can be reached at by </a:t>
            </a:r>
            <a:r>
              <a:rPr lang="en-IN" dirty="0">
                <a:solidFill>
                  <a:srgbClr val="FF0000"/>
                </a:solidFill>
              </a:rPr>
              <a:t>creating a locally optimal solution</a:t>
            </a:r>
            <a:r>
              <a:rPr lang="en-IN" dirty="0"/>
              <a:t>. In other words, an </a:t>
            </a:r>
            <a:r>
              <a:rPr lang="en-IN" dirty="0">
                <a:solidFill>
                  <a:srgbClr val="FF0000"/>
                </a:solidFill>
              </a:rPr>
              <a:t>optimal solution can be obtained by creating "greedy" choices</a:t>
            </a:r>
            <a:r>
              <a:rPr lang="en-IN" dirty="0"/>
              <a:t>.</a:t>
            </a:r>
          </a:p>
          <a:p>
            <a:pPr algn="just"/>
            <a:r>
              <a:rPr lang="en-IN" b="1" dirty="0">
                <a:solidFill>
                  <a:srgbClr val="FF0000"/>
                </a:solidFill>
              </a:rPr>
              <a:t>Optimal substructure</a:t>
            </a:r>
            <a:r>
              <a:rPr lang="en-IN" b="1" dirty="0"/>
              <a:t>:</a:t>
            </a:r>
            <a:r>
              <a:rPr lang="en-IN" dirty="0"/>
              <a:t> Optimal solutions contain optimal </a:t>
            </a:r>
            <a:r>
              <a:rPr lang="en-IN" dirty="0" smtClean="0"/>
              <a:t>sub solutions</a:t>
            </a:r>
            <a:r>
              <a:rPr lang="en-IN" dirty="0"/>
              <a:t>. In other words, </a:t>
            </a:r>
            <a:r>
              <a:rPr lang="en-IN" dirty="0">
                <a:solidFill>
                  <a:srgbClr val="FF0000"/>
                </a:solidFill>
              </a:rPr>
              <a:t>answers to </a:t>
            </a:r>
            <a:r>
              <a:rPr lang="en-IN" dirty="0" smtClean="0">
                <a:solidFill>
                  <a:srgbClr val="FF0000"/>
                </a:solidFill>
              </a:rPr>
              <a:t>sub problems </a:t>
            </a:r>
            <a:r>
              <a:rPr lang="en-IN" dirty="0">
                <a:solidFill>
                  <a:srgbClr val="FF0000"/>
                </a:solidFill>
              </a:rPr>
              <a:t>of an optimal solution are optimal</a:t>
            </a:r>
          </a:p>
        </p:txBody>
      </p:sp>
    </p:spTree>
    <p:extLst>
      <p:ext uri="{BB962C8B-B14F-4D97-AF65-F5344CB8AC3E}">
        <p14:creationId xmlns:p14="http://schemas.microsoft.com/office/powerpoint/2010/main" val="122105935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b="1" dirty="0">
                <a:solidFill>
                  <a:srgbClr val="FF0000"/>
                </a:solidFill>
              </a:rPr>
              <a:t>Example:</a:t>
            </a:r>
          </a:p>
          <a:p>
            <a:pPr lvl="1"/>
            <a:r>
              <a:rPr lang="en-IN" dirty="0"/>
              <a:t>machine scheduling</a:t>
            </a:r>
          </a:p>
          <a:p>
            <a:pPr lvl="1"/>
            <a:r>
              <a:rPr lang="en-IN" dirty="0"/>
              <a:t>Fractional Knapsack Problem</a:t>
            </a:r>
          </a:p>
          <a:p>
            <a:pPr lvl="1"/>
            <a:r>
              <a:rPr lang="en-IN" dirty="0"/>
              <a:t>Minimum Spanning Tree</a:t>
            </a:r>
          </a:p>
          <a:p>
            <a:pPr lvl="1"/>
            <a:r>
              <a:rPr lang="en-IN" dirty="0"/>
              <a:t>Huffman Code</a:t>
            </a:r>
          </a:p>
          <a:p>
            <a:pPr lvl="1"/>
            <a:r>
              <a:rPr lang="en-IN" dirty="0"/>
              <a:t>Job Sequencing</a:t>
            </a:r>
          </a:p>
          <a:p>
            <a:pPr lvl="1"/>
            <a:r>
              <a:rPr lang="en-IN" dirty="0"/>
              <a:t>Activity Selection Problem</a:t>
            </a:r>
          </a:p>
          <a:p>
            <a:endParaRPr lang="en-IN" dirty="0"/>
          </a:p>
        </p:txBody>
      </p:sp>
    </p:spTree>
    <p:extLst>
      <p:ext uri="{BB962C8B-B14F-4D97-AF65-F5344CB8AC3E}">
        <p14:creationId xmlns:p14="http://schemas.microsoft.com/office/powerpoint/2010/main" val="80951920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04664"/>
            <a:ext cx="8229600" cy="5721499"/>
          </a:xfrm>
        </p:spPr>
        <p:txBody>
          <a:bodyPr>
            <a:normAutofit/>
          </a:bodyPr>
          <a:lstStyle/>
          <a:p>
            <a:r>
              <a:rPr lang="en-IN" dirty="0"/>
              <a:t>Steps for achieving a Greedy Algorithm are:</a:t>
            </a:r>
          </a:p>
          <a:p>
            <a:pPr lvl="0"/>
            <a:r>
              <a:rPr lang="en-IN" b="1" dirty="0"/>
              <a:t>Feasible:</a:t>
            </a:r>
            <a:r>
              <a:rPr lang="en-IN" dirty="0"/>
              <a:t> Here we check whether it </a:t>
            </a:r>
            <a:r>
              <a:rPr lang="en-IN" dirty="0">
                <a:solidFill>
                  <a:srgbClr val="FF0000"/>
                </a:solidFill>
              </a:rPr>
              <a:t>satisfies all possible constraints or not</a:t>
            </a:r>
            <a:r>
              <a:rPr lang="en-IN" dirty="0"/>
              <a:t>, </a:t>
            </a:r>
            <a:r>
              <a:rPr lang="en-IN" dirty="0">
                <a:solidFill>
                  <a:srgbClr val="FF0000"/>
                </a:solidFill>
              </a:rPr>
              <a:t>to obtain at least one solution </a:t>
            </a:r>
            <a:r>
              <a:rPr lang="en-IN" dirty="0"/>
              <a:t>to our problems.</a:t>
            </a:r>
          </a:p>
          <a:p>
            <a:pPr lvl="0"/>
            <a:r>
              <a:rPr lang="en-IN" b="1" dirty="0"/>
              <a:t>Local Optimal Choice:</a:t>
            </a:r>
            <a:r>
              <a:rPr lang="en-IN" dirty="0"/>
              <a:t> In this, the choice should be the optimum which is </a:t>
            </a:r>
            <a:r>
              <a:rPr lang="en-IN" dirty="0">
                <a:solidFill>
                  <a:srgbClr val="FF0000"/>
                </a:solidFill>
              </a:rPr>
              <a:t>selected from the currently available</a:t>
            </a:r>
          </a:p>
          <a:p>
            <a:pPr lvl="0"/>
            <a:r>
              <a:rPr lang="en-IN" b="1" dirty="0"/>
              <a:t>Unalterable:</a:t>
            </a:r>
            <a:r>
              <a:rPr lang="en-IN" dirty="0"/>
              <a:t> Once the decision is made, at any subsequence step that </a:t>
            </a:r>
            <a:r>
              <a:rPr lang="en-IN" dirty="0">
                <a:solidFill>
                  <a:srgbClr val="FF0000"/>
                </a:solidFill>
              </a:rPr>
              <a:t>option is not altered.</a:t>
            </a:r>
          </a:p>
          <a:p>
            <a:endParaRPr lang="en-IN" dirty="0"/>
          </a:p>
        </p:txBody>
      </p:sp>
    </p:spTree>
    <p:extLst>
      <p:ext uri="{BB962C8B-B14F-4D97-AF65-F5344CB8AC3E}">
        <p14:creationId xmlns:p14="http://schemas.microsoft.com/office/powerpoint/2010/main" val="160754394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Statement</a:t>
            </a:r>
            <a:endParaRPr lang="en-IN" dirty="0"/>
          </a:p>
        </p:txBody>
      </p:sp>
      <p:sp>
        <p:nvSpPr>
          <p:cNvPr id="3" name="Content Placeholder 2"/>
          <p:cNvSpPr>
            <a:spLocks noGrp="1"/>
          </p:cNvSpPr>
          <p:nvPr>
            <p:ph idx="1"/>
          </p:nvPr>
        </p:nvSpPr>
        <p:spPr/>
        <p:txBody>
          <a:bodyPr>
            <a:normAutofit fontScale="85000" lnSpcReduction="20000"/>
          </a:bodyPr>
          <a:lstStyle/>
          <a:p>
            <a:pPr algn="just"/>
            <a:r>
              <a:rPr lang="en-IN" dirty="0"/>
              <a:t>A thief is robbing a store and can carry a maximal weight of </a:t>
            </a:r>
            <a:r>
              <a:rPr lang="en-IN" b="1" i="1" dirty="0"/>
              <a:t>W</a:t>
            </a:r>
            <a:r>
              <a:rPr lang="en-IN" dirty="0"/>
              <a:t> into his knapsack. There are n items available in the store and weight of </a:t>
            </a:r>
            <a:r>
              <a:rPr lang="en-IN" b="1" i="1" dirty="0" err="1"/>
              <a:t>i</a:t>
            </a:r>
            <a:r>
              <a:rPr lang="en-IN" b="1" i="1" baseline="30000" dirty="0" err="1"/>
              <a:t>th</a:t>
            </a:r>
            <a:r>
              <a:rPr lang="en-IN" dirty="0"/>
              <a:t> item is </a:t>
            </a:r>
            <a:r>
              <a:rPr lang="en-IN" b="1" i="1" dirty="0" err="1"/>
              <a:t>w</a:t>
            </a:r>
            <a:r>
              <a:rPr lang="en-IN" b="1" i="1" baseline="-25000" dirty="0" err="1"/>
              <a:t>i</a:t>
            </a:r>
            <a:r>
              <a:rPr lang="en-IN" dirty="0"/>
              <a:t> and its profit is </a:t>
            </a:r>
            <a:r>
              <a:rPr lang="en-IN" b="1" i="1" dirty="0"/>
              <a:t>p</a:t>
            </a:r>
            <a:r>
              <a:rPr lang="en-IN" b="1" i="1" baseline="-25000" dirty="0"/>
              <a:t>i</a:t>
            </a:r>
            <a:r>
              <a:rPr lang="en-IN" dirty="0"/>
              <a:t>. What items should the thief take?</a:t>
            </a:r>
          </a:p>
          <a:p>
            <a:pPr algn="just"/>
            <a:r>
              <a:rPr lang="en-IN" dirty="0"/>
              <a:t>In this context, the items should be selected in such a way that the thief will carry those items for which he will gain maximum profit. Hence, the objective of the thief is to maximize the profit.</a:t>
            </a:r>
          </a:p>
          <a:p>
            <a:pPr algn="just"/>
            <a:r>
              <a:rPr lang="en-IN" dirty="0"/>
              <a:t>Based on the nature of the items, Knapsack problems are categorized as</a:t>
            </a:r>
          </a:p>
          <a:p>
            <a:pPr lvl="1" algn="just"/>
            <a:r>
              <a:rPr lang="en-IN" b="1" dirty="0"/>
              <a:t>Fractional Knapsack</a:t>
            </a:r>
          </a:p>
          <a:p>
            <a:pPr lvl="1" algn="just"/>
            <a:r>
              <a:rPr lang="en-IN" b="1" dirty="0"/>
              <a:t>Knapsack</a:t>
            </a:r>
          </a:p>
          <a:p>
            <a:endParaRPr lang="en-IN" dirty="0"/>
          </a:p>
        </p:txBody>
      </p:sp>
    </p:spTree>
    <p:extLst>
      <p:ext uri="{BB962C8B-B14F-4D97-AF65-F5344CB8AC3E}">
        <p14:creationId xmlns:p14="http://schemas.microsoft.com/office/powerpoint/2010/main" val="268167833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Fractional Knapsack</a:t>
            </a:r>
            <a:endParaRPr lang="en-IN" dirty="0"/>
          </a:p>
        </p:txBody>
      </p:sp>
      <p:sp>
        <p:nvSpPr>
          <p:cNvPr id="3" name="Content Placeholder 2"/>
          <p:cNvSpPr>
            <a:spLocks noGrp="1"/>
          </p:cNvSpPr>
          <p:nvPr>
            <p:ph idx="1"/>
          </p:nvPr>
        </p:nvSpPr>
        <p:spPr/>
        <p:txBody>
          <a:bodyPr>
            <a:normAutofit fontScale="70000" lnSpcReduction="20000"/>
          </a:bodyPr>
          <a:lstStyle/>
          <a:p>
            <a:r>
              <a:rPr lang="en-US" dirty="0" smtClean="0"/>
              <a:t>In this case, items can be broken into smaller pieces, hence the thief can select fractions of items.</a:t>
            </a:r>
          </a:p>
          <a:p>
            <a:pPr marL="0" indent="0">
              <a:buNone/>
            </a:pPr>
            <a:r>
              <a:rPr lang="en-US" dirty="0" smtClean="0">
                <a:solidFill>
                  <a:srgbClr val="FF0000"/>
                </a:solidFill>
              </a:rPr>
              <a:t>According to the problem statement,</a:t>
            </a:r>
          </a:p>
          <a:p>
            <a:r>
              <a:rPr lang="en-US" dirty="0" smtClean="0"/>
              <a:t>There are n items in the store</a:t>
            </a:r>
          </a:p>
          <a:p>
            <a:r>
              <a:rPr lang="en-US" dirty="0" smtClean="0"/>
              <a:t>Weight of </a:t>
            </a:r>
            <a:r>
              <a:rPr lang="en-US" dirty="0" err="1" smtClean="0"/>
              <a:t>ith</a:t>
            </a:r>
            <a:r>
              <a:rPr lang="en-US" dirty="0" smtClean="0"/>
              <a:t> item </a:t>
            </a:r>
            <a:r>
              <a:rPr lang="en-US" dirty="0" err="1" smtClean="0"/>
              <a:t>wi</a:t>
            </a:r>
            <a:r>
              <a:rPr lang="en-US" dirty="0" smtClean="0"/>
              <a:t>&gt;0</a:t>
            </a:r>
          </a:p>
          <a:p>
            <a:r>
              <a:rPr lang="en-US" dirty="0" smtClean="0"/>
              <a:t>Profit for </a:t>
            </a:r>
            <a:r>
              <a:rPr lang="en-US" dirty="0" err="1" smtClean="0"/>
              <a:t>ith</a:t>
            </a:r>
            <a:r>
              <a:rPr lang="en-US" dirty="0" smtClean="0"/>
              <a:t> item pi&gt;0 and</a:t>
            </a:r>
          </a:p>
          <a:p>
            <a:r>
              <a:rPr lang="en-US" dirty="0" smtClean="0"/>
              <a:t>Capacity of the Knapsack is W</a:t>
            </a:r>
          </a:p>
          <a:p>
            <a:pPr marL="0" indent="0">
              <a:buNone/>
            </a:pPr>
            <a:endParaRPr lang="en-US" dirty="0" smtClean="0"/>
          </a:p>
          <a:p>
            <a:r>
              <a:rPr lang="en-US" dirty="0" smtClean="0"/>
              <a:t>In this version of Knapsack problem, items can be broken into smaller pieces. So, the thief may take only a fraction x</a:t>
            </a:r>
            <a:r>
              <a:rPr lang="en-US" baseline="-25000" dirty="0" smtClean="0"/>
              <a:t>i</a:t>
            </a:r>
            <a:r>
              <a:rPr lang="en-US" dirty="0" smtClean="0"/>
              <a:t> of </a:t>
            </a:r>
            <a:r>
              <a:rPr lang="en-US" dirty="0" err="1" smtClean="0"/>
              <a:t>i</a:t>
            </a:r>
            <a:r>
              <a:rPr lang="en-US" baseline="30000" dirty="0" err="1" smtClean="0"/>
              <a:t>th</a:t>
            </a:r>
            <a:r>
              <a:rPr lang="en-US" dirty="0" smtClean="0"/>
              <a:t> item.</a:t>
            </a:r>
          </a:p>
          <a:p>
            <a:r>
              <a:rPr lang="en-US" dirty="0" smtClean="0"/>
              <a:t>0⩽xi⩽1</a:t>
            </a:r>
          </a:p>
          <a:p>
            <a:r>
              <a:rPr lang="en-US" dirty="0" smtClean="0"/>
              <a:t>The </a:t>
            </a:r>
            <a:r>
              <a:rPr lang="en-US" dirty="0" err="1" smtClean="0"/>
              <a:t>i</a:t>
            </a:r>
            <a:r>
              <a:rPr lang="en-US" baseline="30000" dirty="0" err="1" smtClean="0"/>
              <a:t>th</a:t>
            </a:r>
            <a:r>
              <a:rPr lang="en-US" dirty="0" smtClean="0"/>
              <a:t> item contributes the weight </a:t>
            </a:r>
            <a:r>
              <a:rPr lang="en-US" dirty="0" err="1" smtClean="0"/>
              <a:t>x</a:t>
            </a:r>
            <a:r>
              <a:rPr lang="en-US" baseline="-25000" dirty="0" err="1" smtClean="0"/>
              <a:t>i</a:t>
            </a:r>
            <a:r>
              <a:rPr lang="en-US" dirty="0" err="1" smtClean="0"/>
              <a:t>.w</a:t>
            </a:r>
            <a:r>
              <a:rPr lang="en-US" baseline="-25000" dirty="0" err="1" smtClean="0"/>
              <a:t>i</a:t>
            </a:r>
            <a:r>
              <a:rPr lang="en-US" baseline="-25000" dirty="0" smtClean="0"/>
              <a:t> </a:t>
            </a:r>
            <a:r>
              <a:rPr lang="en-US" dirty="0" smtClean="0"/>
              <a:t>to the total weight in the knapsack and profit </a:t>
            </a:r>
            <a:r>
              <a:rPr lang="en-US" dirty="0" err="1" smtClean="0"/>
              <a:t>xi.pi</a:t>
            </a:r>
            <a:r>
              <a:rPr lang="en-US" dirty="0" smtClean="0"/>
              <a:t> to the total profit.</a:t>
            </a:r>
          </a:p>
          <a:p>
            <a:endParaRPr lang="en-US" dirty="0" smtClean="0"/>
          </a:p>
          <a:p>
            <a:endParaRPr lang="en-IN" dirty="0"/>
          </a:p>
        </p:txBody>
      </p:sp>
    </p:spTree>
    <p:extLst>
      <p:ext uri="{BB962C8B-B14F-4D97-AF65-F5344CB8AC3E}">
        <p14:creationId xmlns:p14="http://schemas.microsoft.com/office/powerpoint/2010/main" val="99782415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t>Example</a:t>
            </a:r>
            <a:endParaRPr lang="en-IN" dirty="0"/>
          </a:p>
        </p:txBody>
      </p:sp>
      <p:sp>
        <p:nvSpPr>
          <p:cNvPr id="3" name="Content Placeholder 2"/>
          <p:cNvSpPr>
            <a:spLocks noGrp="1"/>
          </p:cNvSpPr>
          <p:nvPr>
            <p:ph idx="1"/>
          </p:nvPr>
        </p:nvSpPr>
        <p:spPr/>
        <p:txBody>
          <a:bodyPr/>
          <a:lstStyle/>
          <a:p>
            <a:r>
              <a:rPr lang="en-IN" dirty="0" smtClean="0"/>
              <a:t>Let </a:t>
            </a:r>
            <a:r>
              <a:rPr lang="en-IN" dirty="0"/>
              <a:t>us consider that the capacity of the knapsack </a:t>
            </a:r>
            <a:r>
              <a:rPr lang="en-IN" b="1" i="1" dirty="0"/>
              <a:t>W</a:t>
            </a:r>
            <a:r>
              <a:rPr lang="en-IN" b="1" dirty="0"/>
              <a:t> = 60</a:t>
            </a:r>
            <a:r>
              <a:rPr lang="en-IN" dirty="0"/>
              <a:t> and the list of provided items are shown in the following table −</a:t>
            </a:r>
          </a:p>
          <a:p>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3039269588"/>
              </p:ext>
            </p:extLst>
          </p:nvPr>
        </p:nvGraphicFramePr>
        <p:xfrm>
          <a:off x="611558" y="3356992"/>
          <a:ext cx="7920880" cy="2592288"/>
        </p:xfrm>
        <a:graphic>
          <a:graphicData uri="http://schemas.openxmlformats.org/drawingml/2006/table">
            <a:tbl>
              <a:tblPr firstRow="1" firstCol="1" bandRow="1"/>
              <a:tblGrid>
                <a:gridCol w="2088234"/>
                <a:gridCol w="1080118"/>
                <a:gridCol w="1584176"/>
                <a:gridCol w="1584176"/>
                <a:gridCol w="1584176"/>
              </a:tblGrid>
              <a:tr h="648072">
                <a:tc>
                  <a:txBody>
                    <a:bodyPr/>
                    <a:lstStyle/>
                    <a:p>
                      <a:pPr algn="ctr">
                        <a:lnSpc>
                          <a:spcPct val="107000"/>
                        </a:lnSpc>
                        <a:spcAft>
                          <a:spcPts val="1500"/>
                        </a:spcAft>
                      </a:pPr>
                      <a:r>
                        <a:rPr lang="en-IN" sz="2800" b="1" dirty="0">
                          <a:effectLst/>
                          <a:latin typeface="Times New Roman"/>
                          <a:ea typeface="Calibri"/>
                        </a:rPr>
                        <a:t>Item</a:t>
                      </a:r>
                      <a:endParaRPr lang="en-IN" sz="2800" dirty="0">
                        <a:effectLst/>
                        <a:latin typeface="Times New Roman"/>
                        <a:ea typeface="Calibri"/>
                      </a:endParaRP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EEEEE"/>
                    </a:solidFill>
                  </a:tcPr>
                </a:tc>
                <a:tc>
                  <a:txBody>
                    <a:bodyPr/>
                    <a:lstStyle/>
                    <a:p>
                      <a:pPr algn="ctr">
                        <a:lnSpc>
                          <a:spcPct val="107000"/>
                        </a:lnSpc>
                        <a:spcAft>
                          <a:spcPts val="1500"/>
                        </a:spcAft>
                      </a:pPr>
                      <a:r>
                        <a:rPr lang="en-IN" sz="2800" b="1" dirty="0">
                          <a:effectLst/>
                          <a:latin typeface="Times New Roman"/>
                          <a:ea typeface="Calibri"/>
                        </a:rPr>
                        <a:t>A</a:t>
                      </a:r>
                      <a:endParaRPr lang="en-IN" sz="2800" dirty="0">
                        <a:effectLst/>
                        <a:latin typeface="Times New Roman"/>
                        <a:ea typeface="Calibri"/>
                      </a:endParaRP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EEEEE"/>
                    </a:solidFill>
                  </a:tcPr>
                </a:tc>
                <a:tc>
                  <a:txBody>
                    <a:bodyPr/>
                    <a:lstStyle/>
                    <a:p>
                      <a:pPr algn="ctr">
                        <a:lnSpc>
                          <a:spcPct val="107000"/>
                        </a:lnSpc>
                        <a:spcAft>
                          <a:spcPts val="1500"/>
                        </a:spcAft>
                      </a:pPr>
                      <a:r>
                        <a:rPr lang="en-IN" sz="2800" b="1">
                          <a:effectLst/>
                          <a:latin typeface="Times New Roman"/>
                          <a:ea typeface="Calibri"/>
                        </a:rPr>
                        <a:t>B</a:t>
                      </a:r>
                      <a:endParaRPr lang="en-IN" sz="2800">
                        <a:effectLst/>
                        <a:latin typeface="Times New Roman"/>
                        <a:ea typeface="Calibri"/>
                      </a:endParaRP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EEEEE"/>
                    </a:solidFill>
                  </a:tcPr>
                </a:tc>
                <a:tc>
                  <a:txBody>
                    <a:bodyPr/>
                    <a:lstStyle/>
                    <a:p>
                      <a:pPr algn="ctr">
                        <a:lnSpc>
                          <a:spcPct val="107000"/>
                        </a:lnSpc>
                        <a:spcAft>
                          <a:spcPts val="1500"/>
                        </a:spcAft>
                      </a:pPr>
                      <a:r>
                        <a:rPr lang="en-IN" sz="2800" b="1">
                          <a:effectLst/>
                          <a:latin typeface="Times New Roman"/>
                          <a:ea typeface="Calibri"/>
                        </a:rPr>
                        <a:t>C</a:t>
                      </a:r>
                      <a:endParaRPr lang="en-IN" sz="2800">
                        <a:effectLst/>
                        <a:latin typeface="Times New Roman"/>
                        <a:ea typeface="Calibri"/>
                      </a:endParaRP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EEEEE"/>
                    </a:solidFill>
                  </a:tcPr>
                </a:tc>
                <a:tc>
                  <a:txBody>
                    <a:bodyPr/>
                    <a:lstStyle/>
                    <a:p>
                      <a:pPr algn="ctr">
                        <a:lnSpc>
                          <a:spcPct val="107000"/>
                        </a:lnSpc>
                        <a:spcAft>
                          <a:spcPts val="1500"/>
                        </a:spcAft>
                      </a:pPr>
                      <a:r>
                        <a:rPr lang="en-IN" sz="2800" b="1">
                          <a:effectLst/>
                          <a:latin typeface="Times New Roman"/>
                          <a:ea typeface="Calibri"/>
                        </a:rPr>
                        <a:t>D</a:t>
                      </a:r>
                      <a:endParaRPr lang="en-IN" sz="2800">
                        <a:effectLst/>
                        <a:latin typeface="Times New Roman"/>
                        <a:ea typeface="Calibri"/>
                      </a:endParaRP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EEEEE"/>
                    </a:solidFill>
                  </a:tcPr>
                </a:tc>
              </a:tr>
              <a:tr h="648072">
                <a:tc>
                  <a:txBody>
                    <a:bodyPr/>
                    <a:lstStyle/>
                    <a:p>
                      <a:pPr algn="ctr">
                        <a:lnSpc>
                          <a:spcPct val="107000"/>
                        </a:lnSpc>
                        <a:spcAft>
                          <a:spcPts val="1500"/>
                        </a:spcAft>
                      </a:pPr>
                      <a:r>
                        <a:rPr lang="en-IN" sz="2800">
                          <a:effectLst/>
                          <a:latin typeface="Times New Roman"/>
                          <a:ea typeface="Calibri"/>
                        </a:rPr>
                        <a:t>Profit</a:t>
                      </a: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a:lnSpc>
                          <a:spcPct val="107000"/>
                        </a:lnSpc>
                        <a:spcAft>
                          <a:spcPts val="1500"/>
                        </a:spcAft>
                      </a:pPr>
                      <a:r>
                        <a:rPr lang="en-IN" sz="2800" dirty="0">
                          <a:effectLst/>
                          <a:latin typeface="Times New Roman"/>
                          <a:ea typeface="Calibri"/>
                        </a:rPr>
                        <a:t>280</a:t>
                      </a: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a:lnSpc>
                          <a:spcPct val="107000"/>
                        </a:lnSpc>
                        <a:spcAft>
                          <a:spcPts val="1500"/>
                        </a:spcAft>
                      </a:pPr>
                      <a:r>
                        <a:rPr lang="en-IN" sz="2800" dirty="0">
                          <a:effectLst/>
                          <a:latin typeface="Times New Roman"/>
                          <a:ea typeface="Calibri"/>
                        </a:rPr>
                        <a:t>100</a:t>
                      </a: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a:lnSpc>
                          <a:spcPct val="107000"/>
                        </a:lnSpc>
                        <a:spcAft>
                          <a:spcPts val="1500"/>
                        </a:spcAft>
                      </a:pPr>
                      <a:r>
                        <a:rPr lang="en-IN" sz="2800" dirty="0">
                          <a:effectLst/>
                          <a:latin typeface="Times New Roman"/>
                          <a:ea typeface="Calibri"/>
                        </a:rPr>
                        <a:t>120</a:t>
                      </a: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a:lnSpc>
                          <a:spcPct val="107000"/>
                        </a:lnSpc>
                        <a:spcAft>
                          <a:spcPts val="1500"/>
                        </a:spcAft>
                      </a:pPr>
                      <a:r>
                        <a:rPr lang="en-IN" sz="2800">
                          <a:effectLst/>
                          <a:latin typeface="Times New Roman"/>
                          <a:ea typeface="Calibri"/>
                        </a:rPr>
                        <a:t>120</a:t>
                      </a: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648072">
                <a:tc>
                  <a:txBody>
                    <a:bodyPr/>
                    <a:lstStyle/>
                    <a:p>
                      <a:pPr algn="ctr">
                        <a:lnSpc>
                          <a:spcPct val="107000"/>
                        </a:lnSpc>
                        <a:spcAft>
                          <a:spcPts val="1500"/>
                        </a:spcAft>
                      </a:pPr>
                      <a:r>
                        <a:rPr lang="en-IN" sz="2800">
                          <a:effectLst/>
                          <a:latin typeface="Times New Roman"/>
                          <a:ea typeface="Calibri"/>
                        </a:rPr>
                        <a:t>Weight</a:t>
                      </a: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a:lnSpc>
                          <a:spcPct val="107000"/>
                        </a:lnSpc>
                        <a:spcAft>
                          <a:spcPts val="1500"/>
                        </a:spcAft>
                      </a:pPr>
                      <a:r>
                        <a:rPr lang="en-IN" sz="2800">
                          <a:effectLst/>
                          <a:latin typeface="Times New Roman"/>
                          <a:ea typeface="Calibri"/>
                        </a:rPr>
                        <a:t>40</a:t>
                      </a: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a:lnSpc>
                          <a:spcPct val="107000"/>
                        </a:lnSpc>
                        <a:spcAft>
                          <a:spcPts val="1500"/>
                        </a:spcAft>
                      </a:pPr>
                      <a:r>
                        <a:rPr lang="en-IN" sz="2800">
                          <a:effectLst/>
                          <a:latin typeface="Times New Roman"/>
                          <a:ea typeface="Calibri"/>
                        </a:rPr>
                        <a:t>10</a:t>
                      </a: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a:lnSpc>
                          <a:spcPct val="107000"/>
                        </a:lnSpc>
                        <a:spcAft>
                          <a:spcPts val="1500"/>
                        </a:spcAft>
                      </a:pPr>
                      <a:r>
                        <a:rPr lang="en-IN" sz="2800" dirty="0">
                          <a:effectLst/>
                          <a:latin typeface="Times New Roman"/>
                          <a:ea typeface="Calibri"/>
                        </a:rPr>
                        <a:t>20</a:t>
                      </a: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a:lnSpc>
                          <a:spcPct val="107000"/>
                        </a:lnSpc>
                        <a:spcAft>
                          <a:spcPts val="1500"/>
                        </a:spcAft>
                      </a:pPr>
                      <a:r>
                        <a:rPr lang="en-IN" sz="2800">
                          <a:effectLst/>
                          <a:latin typeface="Times New Roman"/>
                          <a:ea typeface="Calibri"/>
                        </a:rPr>
                        <a:t>24</a:t>
                      </a: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648072">
                <a:tc>
                  <a:txBody>
                    <a:bodyPr/>
                    <a:lstStyle/>
                    <a:p>
                      <a:pPr algn="ctr">
                        <a:lnSpc>
                          <a:spcPct val="107000"/>
                        </a:lnSpc>
                        <a:spcAft>
                          <a:spcPts val="0"/>
                        </a:spcAft>
                      </a:pPr>
                      <a:r>
                        <a:rPr lang="en-IN" sz="2800">
                          <a:effectLst/>
                          <a:latin typeface="Times New Roman"/>
                          <a:ea typeface="Calibri"/>
                        </a:rPr>
                        <a:t>Ratio (pi/wi)</a:t>
                      </a: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a:lnSpc>
                          <a:spcPct val="107000"/>
                        </a:lnSpc>
                        <a:spcAft>
                          <a:spcPts val="800"/>
                        </a:spcAft>
                      </a:pPr>
                      <a:r>
                        <a:rPr lang="en-IN" sz="2800">
                          <a:effectLst/>
                          <a:latin typeface="Times New Roman"/>
                          <a:ea typeface="Calibri"/>
                        </a:rPr>
                        <a:t>7</a:t>
                      </a:r>
                    </a:p>
                  </a:txBody>
                  <a:tcPr marL="76200" marR="762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a:lnSpc>
                          <a:spcPct val="107000"/>
                        </a:lnSpc>
                        <a:spcAft>
                          <a:spcPts val="800"/>
                        </a:spcAft>
                      </a:pPr>
                      <a:r>
                        <a:rPr lang="en-IN" sz="2800">
                          <a:effectLst/>
                          <a:latin typeface="Times New Roman"/>
                          <a:ea typeface="Calibri"/>
                        </a:rPr>
                        <a:t>10</a:t>
                      </a:r>
                    </a:p>
                  </a:txBody>
                  <a:tcPr marL="76200" marR="762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a:lnSpc>
                          <a:spcPct val="107000"/>
                        </a:lnSpc>
                        <a:spcAft>
                          <a:spcPts val="800"/>
                        </a:spcAft>
                      </a:pPr>
                      <a:r>
                        <a:rPr lang="en-IN" sz="2800" dirty="0">
                          <a:effectLst/>
                          <a:latin typeface="Times New Roman"/>
                          <a:ea typeface="Calibri"/>
                        </a:rPr>
                        <a:t>6</a:t>
                      </a:r>
                    </a:p>
                  </a:txBody>
                  <a:tcPr marL="76200" marR="762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a:lnSpc>
                          <a:spcPct val="107000"/>
                        </a:lnSpc>
                        <a:spcAft>
                          <a:spcPts val="800"/>
                        </a:spcAft>
                      </a:pPr>
                      <a:r>
                        <a:rPr lang="en-IN" sz="2800" dirty="0">
                          <a:effectLst/>
                          <a:latin typeface="Times New Roman"/>
                          <a:ea typeface="Calibri"/>
                        </a:rPr>
                        <a:t>5</a:t>
                      </a:r>
                    </a:p>
                  </a:txBody>
                  <a:tcPr marL="76200" marR="762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20063447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2" y="764704"/>
            <a:ext cx="8229600" cy="4525963"/>
          </a:xfrm>
        </p:spPr>
        <p:txBody>
          <a:bodyPr/>
          <a:lstStyle/>
          <a:p>
            <a:r>
              <a:rPr lang="en-IN" dirty="0"/>
              <a:t>As the provided items are not sorted based on </a:t>
            </a:r>
            <a:r>
              <a:rPr lang="en-IN" dirty="0" smtClean="0"/>
              <a:t>(pi/</a:t>
            </a:r>
            <a:r>
              <a:rPr lang="en-IN" dirty="0" err="1" smtClean="0"/>
              <a:t>wi</a:t>
            </a:r>
            <a:r>
              <a:rPr lang="en-IN" dirty="0" smtClean="0"/>
              <a:t>). </a:t>
            </a:r>
            <a:r>
              <a:rPr lang="en-IN" dirty="0">
                <a:solidFill>
                  <a:srgbClr val="FF0000"/>
                </a:solidFill>
              </a:rPr>
              <a:t>After sorting</a:t>
            </a:r>
            <a:r>
              <a:rPr lang="en-IN" dirty="0"/>
              <a:t>, the items are as shown in the following </a:t>
            </a:r>
            <a:r>
              <a:rPr lang="en-IN" dirty="0" smtClean="0"/>
              <a:t>table</a:t>
            </a:r>
          </a:p>
          <a:p>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3685139402"/>
              </p:ext>
            </p:extLst>
          </p:nvPr>
        </p:nvGraphicFramePr>
        <p:xfrm>
          <a:off x="683568" y="2636912"/>
          <a:ext cx="8136905" cy="3032638"/>
        </p:xfrm>
        <a:graphic>
          <a:graphicData uri="http://schemas.openxmlformats.org/drawingml/2006/table">
            <a:tbl>
              <a:tblPr firstRow="1" firstCol="1" bandRow="1"/>
              <a:tblGrid>
                <a:gridCol w="2304256"/>
                <a:gridCol w="1296144"/>
                <a:gridCol w="1281743"/>
                <a:gridCol w="1627381"/>
                <a:gridCol w="1627381"/>
              </a:tblGrid>
              <a:tr h="670092">
                <a:tc>
                  <a:txBody>
                    <a:bodyPr/>
                    <a:lstStyle/>
                    <a:p>
                      <a:pPr algn="ctr">
                        <a:lnSpc>
                          <a:spcPct val="107000"/>
                        </a:lnSpc>
                        <a:spcAft>
                          <a:spcPts val="1500"/>
                        </a:spcAft>
                      </a:pPr>
                      <a:r>
                        <a:rPr lang="en-IN" sz="3200" b="1" dirty="0">
                          <a:effectLst/>
                          <a:latin typeface="Times New Roman"/>
                          <a:ea typeface="Calibri"/>
                        </a:rPr>
                        <a:t>Item</a:t>
                      </a:r>
                      <a:endParaRPr lang="en-IN" sz="3200" dirty="0">
                        <a:effectLst/>
                        <a:latin typeface="Times New Roman"/>
                        <a:ea typeface="Calibri"/>
                      </a:endParaRP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EEEEE"/>
                    </a:solidFill>
                  </a:tcPr>
                </a:tc>
                <a:tc>
                  <a:txBody>
                    <a:bodyPr/>
                    <a:lstStyle/>
                    <a:p>
                      <a:pPr algn="ctr">
                        <a:lnSpc>
                          <a:spcPct val="107000"/>
                        </a:lnSpc>
                        <a:spcAft>
                          <a:spcPts val="1500"/>
                        </a:spcAft>
                      </a:pPr>
                      <a:r>
                        <a:rPr lang="en-IN" sz="3200" b="1">
                          <a:effectLst/>
                          <a:latin typeface="Times New Roman"/>
                          <a:ea typeface="Calibri"/>
                        </a:rPr>
                        <a:t>B</a:t>
                      </a:r>
                      <a:endParaRPr lang="en-IN" sz="3200">
                        <a:effectLst/>
                        <a:latin typeface="Times New Roman"/>
                        <a:ea typeface="Calibri"/>
                      </a:endParaRP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EEEEE"/>
                    </a:solidFill>
                  </a:tcPr>
                </a:tc>
                <a:tc>
                  <a:txBody>
                    <a:bodyPr/>
                    <a:lstStyle/>
                    <a:p>
                      <a:pPr algn="ctr">
                        <a:lnSpc>
                          <a:spcPct val="107000"/>
                        </a:lnSpc>
                        <a:spcAft>
                          <a:spcPts val="1500"/>
                        </a:spcAft>
                      </a:pPr>
                      <a:r>
                        <a:rPr lang="en-IN" sz="3200" b="1">
                          <a:effectLst/>
                          <a:latin typeface="Times New Roman"/>
                          <a:ea typeface="Calibri"/>
                        </a:rPr>
                        <a:t>A</a:t>
                      </a:r>
                      <a:endParaRPr lang="en-IN" sz="3200">
                        <a:effectLst/>
                        <a:latin typeface="Times New Roman"/>
                        <a:ea typeface="Calibri"/>
                      </a:endParaRP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EEEEE"/>
                    </a:solidFill>
                  </a:tcPr>
                </a:tc>
                <a:tc>
                  <a:txBody>
                    <a:bodyPr/>
                    <a:lstStyle/>
                    <a:p>
                      <a:pPr algn="ctr">
                        <a:lnSpc>
                          <a:spcPct val="107000"/>
                        </a:lnSpc>
                        <a:spcAft>
                          <a:spcPts val="1500"/>
                        </a:spcAft>
                      </a:pPr>
                      <a:r>
                        <a:rPr lang="en-IN" sz="3200" b="1">
                          <a:effectLst/>
                          <a:latin typeface="Times New Roman"/>
                          <a:ea typeface="Calibri"/>
                        </a:rPr>
                        <a:t>C</a:t>
                      </a:r>
                      <a:endParaRPr lang="en-IN" sz="3200">
                        <a:effectLst/>
                        <a:latin typeface="Times New Roman"/>
                        <a:ea typeface="Calibri"/>
                      </a:endParaRP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EEEEE"/>
                    </a:solidFill>
                  </a:tcPr>
                </a:tc>
                <a:tc>
                  <a:txBody>
                    <a:bodyPr/>
                    <a:lstStyle/>
                    <a:p>
                      <a:pPr algn="ctr">
                        <a:lnSpc>
                          <a:spcPct val="107000"/>
                        </a:lnSpc>
                        <a:spcAft>
                          <a:spcPts val="1500"/>
                        </a:spcAft>
                      </a:pPr>
                      <a:r>
                        <a:rPr lang="en-IN" sz="3200" b="1">
                          <a:effectLst/>
                          <a:latin typeface="Times New Roman"/>
                          <a:ea typeface="Calibri"/>
                        </a:rPr>
                        <a:t>D</a:t>
                      </a:r>
                      <a:endParaRPr lang="en-IN" sz="3200">
                        <a:effectLst/>
                        <a:latin typeface="Times New Roman"/>
                        <a:ea typeface="Calibri"/>
                      </a:endParaRP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EEEEE"/>
                    </a:solidFill>
                  </a:tcPr>
                </a:tc>
              </a:tr>
              <a:tr h="670092">
                <a:tc>
                  <a:txBody>
                    <a:bodyPr/>
                    <a:lstStyle/>
                    <a:p>
                      <a:pPr algn="ctr">
                        <a:lnSpc>
                          <a:spcPct val="107000"/>
                        </a:lnSpc>
                        <a:spcAft>
                          <a:spcPts val="1500"/>
                        </a:spcAft>
                      </a:pPr>
                      <a:r>
                        <a:rPr lang="en-IN" sz="3200" dirty="0">
                          <a:effectLst/>
                          <a:latin typeface="Times New Roman"/>
                          <a:ea typeface="Calibri"/>
                        </a:rPr>
                        <a:t>Profit</a:t>
                      </a: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a:lnSpc>
                          <a:spcPct val="107000"/>
                        </a:lnSpc>
                        <a:spcAft>
                          <a:spcPts val="1500"/>
                        </a:spcAft>
                      </a:pPr>
                      <a:r>
                        <a:rPr lang="en-IN" sz="3200" dirty="0">
                          <a:effectLst/>
                          <a:latin typeface="Times New Roman"/>
                          <a:ea typeface="Calibri"/>
                        </a:rPr>
                        <a:t>100</a:t>
                      </a: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a:lnSpc>
                          <a:spcPct val="107000"/>
                        </a:lnSpc>
                        <a:spcAft>
                          <a:spcPts val="1500"/>
                        </a:spcAft>
                      </a:pPr>
                      <a:r>
                        <a:rPr lang="en-IN" sz="3200">
                          <a:effectLst/>
                          <a:latin typeface="Times New Roman"/>
                          <a:ea typeface="Calibri"/>
                        </a:rPr>
                        <a:t>280</a:t>
                      </a: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a:lnSpc>
                          <a:spcPct val="107000"/>
                        </a:lnSpc>
                        <a:spcAft>
                          <a:spcPts val="1500"/>
                        </a:spcAft>
                      </a:pPr>
                      <a:r>
                        <a:rPr lang="en-IN" sz="3200">
                          <a:effectLst/>
                          <a:latin typeface="Times New Roman"/>
                          <a:ea typeface="Calibri"/>
                        </a:rPr>
                        <a:t>120</a:t>
                      </a: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a:lnSpc>
                          <a:spcPct val="107000"/>
                        </a:lnSpc>
                        <a:spcAft>
                          <a:spcPts val="1500"/>
                        </a:spcAft>
                      </a:pPr>
                      <a:r>
                        <a:rPr lang="en-IN" sz="3200">
                          <a:effectLst/>
                          <a:latin typeface="Times New Roman"/>
                          <a:ea typeface="Calibri"/>
                        </a:rPr>
                        <a:t>120</a:t>
                      </a: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748048">
                <a:tc>
                  <a:txBody>
                    <a:bodyPr/>
                    <a:lstStyle/>
                    <a:p>
                      <a:pPr algn="ctr">
                        <a:lnSpc>
                          <a:spcPct val="107000"/>
                        </a:lnSpc>
                        <a:spcAft>
                          <a:spcPts val="1500"/>
                        </a:spcAft>
                      </a:pPr>
                      <a:r>
                        <a:rPr lang="en-IN" sz="3200">
                          <a:effectLst/>
                          <a:latin typeface="Times New Roman"/>
                          <a:ea typeface="Calibri"/>
                        </a:rPr>
                        <a:t>Weight</a:t>
                      </a: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a:lnSpc>
                          <a:spcPct val="107000"/>
                        </a:lnSpc>
                        <a:spcAft>
                          <a:spcPts val="1500"/>
                        </a:spcAft>
                      </a:pPr>
                      <a:r>
                        <a:rPr lang="en-IN" sz="3200" dirty="0">
                          <a:effectLst/>
                          <a:latin typeface="Times New Roman"/>
                          <a:ea typeface="Calibri"/>
                        </a:rPr>
                        <a:t>10</a:t>
                      </a: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a:lnSpc>
                          <a:spcPct val="107000"/>
                        </a:lnSpc>
                        <a:spcAft>
                          <a:spcPts val="1500"/>
                        </a:spcAft>
                      </a:pPr>
                      <a:r>
                        <a:rPr lang="en-IN" sz="3200">
                          <a:effectLst/>
                          <a:latin typeface="Times New Roman"/>
                          <a:ea typeface="Calibri"/>
                        </a:rPr>
                        <a:t>40</a:t>
                      </a: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a:lnSpc>
                          <a:spcPct val="107000"/>
                        </a:lnSpc>
                        <a:spcAft>
                          <a:spcPts val="1500"/>
                        </a:spcAft>
                      </a:pPr>
                      <a:r>
                        <a:rPr lang="en-IN" sz="3200">
                          <a:effectLst/>
                          <a:latin typeface="Times New Roman"/>
                          <a:ea typeface="Calibri"/>
                        </a:rPr>
                        <a:t>20</a:t>
                      </a: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a:lnSpc>
                          <a:spcPct val="107000"/>
                        </a:lnSpc>
                        <a:spcAft>
                          <a:spcPts val="1500"/>
                        </a:spcAft>
                      </a:pPr>
                      <a:r>
                        <a:rPr lang="en-IN" sz="3200">
                          <a:effectLst/>
                          <a:latin typeface="Times New Roman"/>
                          <a:ea typeface="Calibri"/>
                        </a:rPr>
                        <a:t>24</a:t>
                      </a: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936104">
                <a:tc>
                  <a:txBody>
                    <a:bodyPr/>
                    <a:lstStyle/>
                    <a:p>
                      <a:pPr algn="ctr">
                        <a:lnSpc>
                          <a:spcPct val="107000"/>
                        </a:lnSpc>
                        <a:spcAft>
                          <a:spcPts val="0"/>
                        </a:spcAft>
                      </a:pPr>
                      <a:r>
                        <a:rPr lang="en-IN" sz="3200">
                          <a:effectLst/>
                          <a:latin typeface="Times New Roman"/>
                          <a:ea typeface="Calibri"/>
                        </a:rPr>
                        <a:t>Ratio (pi/wi)</a:t>
                      </a:r>
                    </a:p>
                  </a:txBody>
                  <a:tcPr marL="76200" marR="76200" marT="76200" marB="7620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a:lnSpc>
                          <a:spcPct val="107000"/>
                        </a:lnSpc>
                        <a:spcAft>
                          <a:spcPts val="800"/>
                        </a:spcAft>
                      </a:pPr>
                      <a:r>
                        <a:rPr lang="en-IN" sz="3200" dirty="0">
                          <a:effectLst/>
                          <a:latin typeface="Times New Roman"/>
                          <a:ea typeface="Calibri"/>
                        </a:rPr>
                        <a:t>10</a:t>
                      </a:r>
                    </a:p>
                  </a:txBody>
                  <a:tcPr marL="76200" marR="762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a:lnSpc>
                          <a:spcPct val="107000"/>
                        </a:lnSpc>
                        <a:spcAft>
                          <a:spcPts val="800"/>
                        </a:spcAft>
                      </a:pPr>
                      <a:r>
                        <a:rPr lang="en-IN" sz="3200" dirty="0">
                          <a:effectLst/>
                          <a:latin typeface="Times New Roman"/>
                          <a:ea typeface="Calibri"/>
                        </a:rPr>
                        <a:t>7</a:t>
                      </a:r>
                    </a:p>
                  </a:txBody>
                  <a:tcPr marL="76200" marR="762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a:lnSpc>
                          <a:spcPct val="107000"/>
                        </a:lnSpc>
                        <a:spcAft>
                          <a:spcPts val="800"/>
                        </a:spcAft>
                      </a:pPr>
                      <a:r>
                        <a:rPr lang="en-IN" sz="3200" dirty="0">
                          <a:effectLst/>
                          <a:latin typeface="Times New Roman"/>
                          <a:ea typeface="Calibri"/>
                        </a:rPr>
                        <a:t>6</a:t>
                      </a:r>
                    </a:p>
                  </a:txBody>
                  <a:tcPr marL="76200" marR="762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algn="ctr">
                        <a:lnSpc>
                          <a:spcPct val="107000"/>
                        </a:lnSpc>
                        <a:spcAft>
                          <a:spcPts val="800"/>
                        </a:spcAft>
                      </a:pPr>
                      <a:r>
                        <a:rPr lang="en-IN" sz="3200" dirty="0">
                          <a:effectLst/>
                          <a:latin typeface="Times New Roman"/>
                          <a:ea typeface="Calibri"/>
                        </a:rPr>
                        <a:t>5</a:t>
                      </a:r>
                    </a:p>
                  </a:txBody>
                  <a:tcPr marL="76200" marR="762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68495858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fontScale="90000"/>
          </a:bodyPr>
          <a:lstStyle/>
          <a:p>
            <a:r>
              <a:rPr lang="en-IN" b="1" dirty="0" smtClean="0"/>
              <a:t>Solution</a:t>
            </a:r>
            <a:endParaRPr lang="en-IN" dirty="0"/>
          </a:p>
        </p:txBody>
      </p:sp>
      <p:sp>
        <p:nvSpPr>
          <p:cNvPr id="3" name="Content Placeholder 2"/>
          <p:cNvSpPr>
            <a:spLocks noGrp="1"/>
          </p:cNvSpPr>
          <p:nvPr>
            <p:ph idx="1"/>
          </p:nvPr>
        </p:nvSpPr>
        <p:spPr>
          <a:xfrm>
            <a:off x="457200" y="1052736"/>
            <a:ext cx="8229600" cy="5073427"/>
          </a:xfrm>
        </p:spPr>
        <p:txBody>
          <a:bodyPr>
            <a:normAutofit fontScale="70000" lnSpcReduction="20000"/>
          </a:bodyPr>
          <a:lstStyle/>
          <a:p>
            <a:r>
              <a:rPr lang="en-IN" dirty="0" smtClean="0"/>
              <a:t>After </a:t>
            </a:r>
            <a:r>
              <a:rPr lang="en-IN" dirty="0"/>
              <a:t>sorting all the items according to pi/</a:t>
            </a:r>
            <a:r>
              <a:rPr lang="en-IN" dirty="0" err="1"/>
              <a:t>wi</a:t>
            </a:r>
            <a:r>
              <a:rPr lang="en-IN" dirty="0"/>
              <a:t>. First all of </a:t>
            </a:r>
            <a:r>
              <a:rPr lang="en-IN" b="1" i="1" dirty="0"/>
              <a:t>B</a:t>
            </a:r>
            <a:r>
              <a:rPr lang="en-IN" dirty="0"/>
              <a:t> is chosen as weight of </a:t>
            </a:r>
            <a:r>
              <a:rPr lang="en-IN" b="1" i="1" dirty="0"/>
              <a:t>B</a:t>
            </a:r>
            <a:r>
              <a:rPr lang="en-IN" dirty="0"/>
              <a:t> is less than the capacity of the knapsack. Next, item </a:t>
            </a:r>
            <a:r>
              <a:rPr lang="en-IN" b="1" i="1" dirty="0"/>
              <a:t>A</a:t>
            </a:r>
            <a:r>
              <a:rPr lang="en-IN" dirty="0"/>
              <a:t> is chosen, as the available capacity of the knapsack is greater than the weight of </a:t>
            </a:r>
            <a:r>
              <a:rPr lang="en-IN" b="1" i="1" dirty="0"/>
              <a:t>A</a:t>
            </a:r>
            <a:r>
              <a:rPr lang="en-IN" dirty="0"/>
              <a:t>. Now, </a:t>
            </a:r>
            <a:r>
              <a:rPr lang="en-IN" b="1" i="1" dirty="0"/>
              <a:t>C</a:t>
            </a:r>
            <a:r>
              <a:rPr lang="en-IN" dirty="0"/>
              <a:t> is chosen as the next item. However, the whole item cannot be chosen as the remaining capacity of the knapsack is less than the weight of </a:t>
            </a:r>
            <a:r>
              <a:rPr lang="en-IN" b="1" i="1" dirty="0"/>
              <a:t>C</a:t>
            </a:r>
            <a:r>
              <a:rPr lang="en-IN" dirty="0" smtClean="0"/>
              <a:t>.</a:t>
            </a:r>
          </a:p>
          <a:p>
            <a:endParaRPr lang="en-IN" dirty="0"/>
          </a:p>
          <a:p>
            <a:r>
              <a:rPr lang="en-IN" dirty="0"/>
              <a:t>Hence, fraction of </a:t>
            </a:r>
            <a:r>
              <a:rPr lang="en-IN" b="1" i="1" dirty="0"/>
              <a:t>C</a:t>
            </a:r>
            <a:r>
              <a:rPr lang="en-IN" dirty="0"/>
              <a:t> (i.e. (60 − 50)/20) is chosen.</a:t>
            </a:r>
          </a:p>
          <a:p>
            <a:endParaRPr lang="en-IN" dirty="0" smtClean="0"/>
          </a:p>
          <a:p>
            <a:r>
              <a:rPr lang="en-IN" dirty="0" smtClean="0"/>
              <a:t>Now</a:t>
            </a:r>
            <a:r>
              <a:rPr lang="en-IN" dirty="0"/>
              <a:t>, the capacity of the Knapsack is equal to the selected items. Hence, no more item can be selected.</a:t>
            </a:r>
          </a:p>
          <a:p>
            <a:endParaRPr lang="en-IN" dirty="0" smtClean="0"/>
          </a:p>
          <a:p>
            <a:r>
              <a:rPr lang="en-IN" dirty="0" smtClean="0"/>
              <a:t>The </a:t>
            </a:r>
            <a:r>
              <a:rPr lang="en-IN" dirty="0"/>
              <a:t>total weight of the selected items is </a:t>
            </a:r>
            <a:r>
              <a:rPr lang="en-IN" b="1" dirty="0"/>
              <a:t>10 + 40 + 20 * (10/20) = 60</a:t>
            </a:r>
            <a:endParaRPr lang="en-IN" dirty="0"/>
          </a:p>
          <a:p>
            <a:pPr marL="0" indent="0">
              <a:buNone/>
            </a:pPr>
            <a:r>
              <a:rPr lang="en-IN" dirty="0"/>
              <a:t> </a:t>
            </a:r>
            <a:r>
              <a:rPr lang="en-IN" dirty="0" smtClean="0"/>
              <a:t>     And </a:t>
            </a:r>
            <a:r>
              <a:rPr lang="en-IN" dirty="0"/>
              <a:t>the total profit is </a:t>
            </a:r>
            <a:r>
              <a:rPr lang="en-IN" b="1" dirty="0"/>
              <a:t>100 + 280 + 120 * (10/20) = 380 + 60 = 440</a:t>
            </a:r>
            <a:endParaRPr lang="en-IN" dirty="0"/>
          </a:p>
          <a:p>
            <a:pPr marL="0" indent="0">
              <a:buNone/>
            </a:pPr>
            <a:r>
              <a:rPr lang="en-IN" dirty="0"/>
              <a:t> </a:t>
            </a:r>
            <a:r>
              <a:rPr lang="en-IN" dirty="0" smtClean="0"/>
              <a:t>     This </a:t>
            </a:r>
            <a:r>
              <a:rPr lang="en-IN" dirty="0"/>
              <a:t>is the optimal solution. We cannot gain more profit selecting </a:t>
            </a:r>
            <a:r>
              <a:rPr lang="en-IN" dirty="0" smtClean="0"/>
              <a:t>  </a:t>
            </a:r>
          </a:p>
          <a:p>
            <a:pPr marL="0" indent="0">
              <a:buNone/>
            </a:pPr>
            <a:r>
              <a:rPr lang="en-IN" dirty="0"/>
              <a:t> </a:t>
            </a:r>
            <a:r>
              <a:rPr lang="en-IN" dirty="0" smtClean="0"/>
              <a:t>     any </a:t>
            </a:r>
            <a:r>
              <a:rPr lang="en-IN" dirty="0"/>
              <a:t>different combination of items.</a:t>
            </a:r>
          </a:p>
          <a:p>
            <a:endParaRPr lang="en-IN" dirty="0"/>
          </a:p>
        </p:txBody>
      </p:sp>
    </p:spTree>
    <p:extLst>
      <p:ext uri="{BB962C8B-B14F-4D97-AF65-F5344CB8AC3E}">
        <p14:creationId xmlns:p14="http://schemas.microsoft.com/office/powerpoint/2010/main" val="331479374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Algorithm</a:t>
            </a:r>
            <a:endParaRPr lang="en-IN" dirty="0"/>
          </a:p>
        </p:txBody>
      </p:sp>
      <p:sp>
        <p:nvSpPr>
          <p:cNvPr id="3" name="Content Placeholder 2"/>
          <p:cNvSpPr>
            <a:spLocks noGrp="1"/>
          </p:cNvSpPr>
          <p:nvPr>
            <p:ph idx="1"/>
          </p:nvPr>
        </p:nvSpPr>
        <p:spPr/>
        <p:txBody>
          <a:bodyPr>
            <a:normAutofit fontScale="70000" lnSpcReduction="20000"/>
          </a:bodyPr>
          <a:lstStyle/>
          <a:p>
            <a:pPr marL="0" indent="0">
              <a:buNone/>
            </a:pPr>
            <a:r>
              <a:rPr lang="en-IN" b="1" dirty="0" smtClean="0">
                <a:solidFill>
                  <a:srgbClr val="FF0000"/>
                </a:solidFill>
              </a:rPr>
              <a:t>Algorithm: Greedy-Fractional-Knapsack (w[1..n], p[1..n], W) </a:t>
            </a:r>
          </a:p>
          <a:p>
            <a:pPr marL="0" indent="0">
              <a:buNone/>
            </a:pPr>
            <a:r>
              <a:rPr lang="en-IN" dirty="0" smtClean="0"/>
              <a:t>for </a:t>
            </a:r>
            <a:r>
              <a:rPr lang="en-IN" dirty="0" err="1" smtClean="0"/>
              <a:t>i</a:t>
            </a:r>
            <a:r>
              <a:rPr lang="en-IN" dirty="0" smtClean="0"/>
              <a:t> = 1 to n </a:t>
            </a:r>
          </a:p>
          <a:p>
            <a:pPr marL="0" indent="0">
              <a:buNone/>
            </a:pPr>
            <a:r>
              <a:rPr lang="en-IN" dirty="0" smtClean="0"/>
              <a:t>   do x[</a:t>
            </a:r>
            <a:r>
              <a:rPr lang="en-IN" dirty="0" err="1" smtClean="0"/>
              <a:t>i</a:t>
            </a:r>
            <a:r>
              <a:rPr lang="en-IN" dirty="0" smtClean="0"/>
              <a:t>] = 0 </a:t>
            </a:r>
          </a:p>
          <a:p>
            <a:pPr marL="0" indent="0">
              <a:buNone/>
            </a:pPr>
            <a:r>
              <a:rPr lang="en-IN" dirty="0" smtClean="0"/>
              <a:t>weight = 0 </a:t>
            </a:r>
          </a:p>
          <a:p>
            <a:pPr marL="0" indent="0">
              <a:buNone/>
            </a:pPr>
            <a:r>
              <a:rPr lang="en-IN" dirty="0" smtClean="0"/>
              <a:t>for </a:t>
            </a:r>
            <a:r>
              <a:rPr lang="en-IN" dirty="0" err="1" smtClean="0"/>
              <a:t>i</a:t>
            </a:r>
            <a:r>
              <a:rPr lang="en-IN" dirty="0" smtClean="0"/>
              <a:t> = 1 to n </a:t>
            </a:r>
          </a:p>
          <a:p>
            <a:pPr marL="0" indent="0">
              <a:buNone/>
            </a:pPr>
            <a:r>
              <a:rPr lang="en-IN" dirty="0" smtClean="0"/>
              <a:t>   if weight + w[</a:t>
            </a:r>
            <a:r>
              <a:rPr lang="en-IN" dirty="0" err="1" smtClean="0"/>
              <a:t>i</a:t>
            </a:r>
            <a:r>
              <a:rPr lang="en-IN" dirty="0" smtClean="0"/>
              <a:t>] ≤ W then  </a:t>
            </a:r>
          </a:p>
          <a:p>
            <a:pPr marL="0" indent="0">
              <a:buNone/>
            </a:pPr>
            <a:r>
              <a:rPr lang="en-IN" dirty="0" smtClean="0"/>
              <a:t>      x[</a:t>
            </a:r>
            <a:r>
              <a:rPr lang="en-IN" dirty="0" err="1" smtClean="0"/>
              <a:t>i</a:t>
            </a:r>
            <a:r>
              <a:rPr lang="en-IN" dirty="0" smtClean="0"/>
              <a:t>] = 1 </a:t>
            </a:r>
          </a:p>
          <a:p>
            <a:pPr marL="0" indent="0">
              <a:buNone/>
            </a:pPr>
            <a:r>
              <a:rPr lang="en-IN" dirty="0" smtClean="0"/>
              <a:t>      weight = weight + w[</a:t>
            </a:r>
            <a:r>
              <a:rPr lang="en-IN" dirty="0" err="1" smtClean="0"/>
              <a:t>i</a:t>
            </a:r>
            <a:r>
              <a:rPr lang="en-IN" dirty="0" smtClean="0"/>
              <a:t>] </a:t>
            </a:r>
          </a:p>
          <a:p>
            <a:pPr marL="0" indent="0">
              <a:buNone/>
            </a:pPr>
            <a:r>
              <a:rPr lang="en-IN" dirty="0" smtClean="0"/>
              <a:t>   else </a:t>
            </a:r>
          </a:p>
          <a:p>
            <a:pPr marL="0" indent="0">
              <a:buNone/>
            </a:pPr>
            <a:r>
              <a:rPr lang="en-IN" dirty="0" smtClean="0"/>
              <a:t>      x[</a:t>
            </a:r>
            <a:r>
              <a:rPr lang="en-IN" dirty="0" err="1" smtClean="0"/>
              <a:t>i</a:t>
            </a:r>
            <a:r>
              <a:rPr lang="en-IN" dirty="0" smtClean="0"/>
              <a:t>] = (W - weight) / w[</a:t>
            </a:r>
            <a:r>
              <a:rPr lang="en-IN" dirty="0" err="1" smtClean="0"/>
              <a:t>i</a:t>
            </a:r>
            <a:r>
              <a:rPr lang="en-IN" dirty="0" smtClean="0"/>
              <a:t>] //fraction</a:t>
            </a:r>
          </a:p>
          <a:p>
            <a:pPr marL="0" indent="0">
              <a:buNone/>
            </a:pPr>
            <a:r>
              <a:rPr lang="en-IN" dirty="0" smtClean="0"/>
              <a:t>      weight = W </a:t>
            </a:r>
          </a:p>
          <a:p>
            <a:pPr marL="0" indent="0">
              <a:buNone/>
            </a:pPr>
            <a:r>
              <a:rPr lang="en-IN" dirty="0" smtClean="0"/>
              <a:t>      break </a:t>
            </a:r>
          </a:p>
          <a:p>
            <a:pPr marL="0" indent="0">
              <a:buNone/>
            </a:pPr>
            <a:r>
              <a:rPr lang="en-IN" dirty="0" smtClean="0"/>
              <a:t>return x</a:t>
            </a:r>
          </a:p>
          <a:p>
            <a:pPr marL="0" indent="0">
              <a:buNone/>
            </a:pPr>
            <a:endParaRPr lang="en-IN" dirty="0"/>
          </a:p>
        </p:txBody>
      </p:sp>
    </p:spTree>
    <p:extLst>
      <p:ext uri="{BB962C8B-B14F-4D97-AF65-F5344CB8AC3E}">
        <p14:creationId xmlns:p14="http://schemas.microsoft.com/office/powerpoint/2010/main" val="92634264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32656"/>
            <a:ext cx="7620000" cy="56182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02902" y="3334668"/>
            <a:ext cx="3200400" cy="261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54230" y="5877464"/>
            <a:ext cx="4676775" cy="76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9678810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EXAMPLE-2</a:t>
            </a:r>
            <a:endParaRPr lang="en-IN" b="1" dirty="0">
              <a:solidFill>
                <a:srgbClr val="FF0000"/>
              </a:solidFill>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964842440"/>
              </p:ext>
            </p:extLst>
          </p:nvPr>
        </p:nvGraphicFramePr>
        <p:xfrm>
          <a:off x="1115614" y="2276872"/>
          <a:ext cx="6735522" cy="3240360"/>
        </p:xfrm>
        <a:graphic>
          <a:graphicData uri="http://schemas.openxmlformats.org/drawingml/2006/table">
            <a:tbl>
              <a:tblPr firstRow="1" bandRow="1">
                <a:tableStyleId>{5C22544A-7EE6-4342-B048-85BDC9FD1C3A}</a:tableStyleId>
              </a:tblPr>
              <a:tblGrid>
                <a:gridCol w="1584178">
                  <a:extLst>
                    <a:ext uri="{9D8B030D-6E8A-4147-A177-3AD203B41FA5}">
                      <a16:colId xmlns:a16="http://schemas.microsoft.com/office/drawing/2014/main" xmlns="" val="2753123831"/>
                    </a:ext>
                  </a:extLst>
                </a:gridCol>
                <a:gridCol w="660996">
                  <a:extLst>
                    <a:ext uri="{9D8B030D-6E8A-4147-A177-3AD203B41FA5}">
                      <a16:colId xmlns:a16="http://schemas.microsoft.com/office/drawing/2014/main" xmlns="" val="839694622"/>
                    </a:ext>
                  </a:extLst>
                </a:gridCol>
                <a:gridCol w="1122587">
                  <a:extLst>
                    <a:ext uri="{9D8B030D-6E8A-4147-A177-3AD203B41FA5}">
                      <a16:colId xmlns:a16="http://schemas.microsoft.com/office/drawing/2014/main" xmlns="" val="3877770247"/>
                    </a:ext>
                  </a:extLst>
                </a:gridCol>
                <a:gridCol w="1122587">
                  <a:extLst>
                    <a:ext uri="{9D8B030D-6E8A-4147-A177-3AD203B41FA5}">
                      <a16:colId xmlns:a16="http://schemas.microsoft.com/office/drawing/2014/main" xmlns="" val="954085825"/>
                    </a:ext>
                  </a:extLst>
                </a:gridCol>
                <a:gridCol w="1122587">
                  <a:extLst>
                    <a:ext uri="{9D8B030D-6E8A-4147-A177-3AD203B41FA5}">
                      <a16:colId xmlns:a16="http://schemas.microsoft.com/office/drawing/2014/main" xmlns="" val="1036433717"/>
                    </a:ext>
                  </a:extLst>
                </a:gridCol>
                <a:gridCol w="1122587">
                  <a:extLst>
                    <a:ext uri="{9D8B030D-6E8A-4147-A177-3AD203B41FA5}">
                      <a16:colId xmlns:a16="http://schemas.microsoft.com/office/drawing/2014/main" xmlns="" val="3160115851"/>
                    </a:ext>
                  </a:extLst>
                </a:gridCol>
              </a:tblGrid>
              <a:tr h="1080120">
                <a:tc>
                  <a:txBody>
                    <a:bodyPr/>
                    <a:lstStyle/>
                    <a:p>
                      <a:r>
                        <a:rPr lang="en-US" sz="3200" dirty="0" smtClean="0"/>
                        <a:t>OBJECT</a:t>
                      </a:r>
                      <a:endParaRPr lang="en-IN" sz="3200" dirty="0"/>
                    </a:p>
                  </a:txBody>
                  <a:tcPr marL="68580" marR="68580"/>
                </a:tc>
                <a:tc>
                  <a:txBody>
                    <a:bodyPr/>
                    <a:lstStyle/>
                    <a:p>
                      <a:pPr algn="ctr"/>
                      <a:r>
                        <a:rPr lang="en-US" sz="3200" dirty="0" smtClean="0"/>
                        <a:t>1</a:t>
                      </a:r>
                      <a:endParaRPr lang="en-IN" sz="3200" dirty="0"/>
                    </a:p>
                  </a:txBody>
                  <a:tcPr marL="68580" marR="68580"/>
                </a:tc>
                <a:tc>
                  <a:txBody>
                    <a:bodyPr/>
                    <a:lstStyle/>
                    <a:p>
                      <a:pPr algn="ctr"/>
                      <a:r>
                        <a:rPr lang="en-US" sz="3200" dirty="0" smtClean="0"/>
                        <a:t>2</a:t>
                      </a:r>
                      <a:endParaRPr lang="en-IN" sz="3200" dirty="0"/>
                    </a:p>
                  </a:txBody>
                  <a:tcPr marL="68580" marR="68580"/>
                </a:tc>
                <a:tc>
                  <a:txBody>
                    <a:bodyPr/>
                    <a:lstStyle/>
                    <a:p>
                      <a:pPr algn="ctr"/>
                      <a:r>
                        <a:rPr lang="en-US" sz="3200" dirty="0" smtClean="0"/>
                        <a:t>3</a:t>
                      </a:r>
                      <a:endParaRPr lang="en-IN" sz="3200" dirty="0"/>
                    </a:p>
                  </a:txBody>
                  <a:tcPr marL="68580" marR="68580"/>
                </a:tc>
                <a:tc>
                  <a:txBody>
                    <a:bodyPr/>
                    <a:lstStyle/>
                    <a:p>
                      <a:pPr algn="ctr"/>
                      <a:r>
                        <a:rPr lang="en-US" sz="3200" dirty="0" smtClean="0"/>
                        <a:t>4</a:t>
                      </a:r>
                      <a:endParaRPr lang="en-IN" sz="3200" dirty="0"/>
                    </a:p>
                  </a:txBody>
                  <a:tcPr marL="68580" marR="68580"/>
                </a:tc>
                <a:tc>
                  <a:txBody>
                    <a:bodyPr/>
                    <a:lstStyle/>
                    <a:p>
                      <a:pPr algn="ctr"/>
                      <a:r>
                        <a:rPr lang="en-US" sz="3200" dirty="0" smtClean="0"/>
                        <a:t>5</a:t>
                      </a:r>
                      <a:endParaRPr lang="en-IN" sz="3200" dirty="0"/>
                    </a:p>
                  </a:txBody>
                  <a:tcPr marL="68580" marR="68580"/>
                </a:tc>
                <a:extLst>
                  <a:ext uri="{0D108BD9-81ED-4DB2-BD59-A6C34878D82A}">
                    <a16:rowId xmlns:a16="http://schemas.microsoft.com/office/drawing/2014/main" xmlns="" val="4111567684"/>
                  </a:ext>
                </a:extLst>
              </a:tr>
              <a:tr h="1080120">
                <a:tc>
                  <a:txBody>
                    <a:bodyPr/>
                    <a:lstStyle/>
                    <a:p>
                      <a:r>
                        <a:rPr lang="en-US" sz="3200" dirty="0" smtClean="0"/>
                        <a:t>PROFIT</a:t>
                      </a:r>
                      <a:endParaRPr lang="en-IN" sz="3200" dirty="0"/>
                    </a:p>
                  </a:txBody>
                  <a:tcPr marL="68580" marR="68580"/>
                </a:tc>
                <a:tc>
                  <a:txBody>
                    <a:bodyPr/>
                    <a:lstStyle/>
                    <a:p>
                      <a:pPr algn="ctr"/>
                      <a:r>
                        <a:rPr lang="en-US" sz="3200" dirty="0" smtClean="0"/>
                        <a:t>2</a:t>
                      </a:r>
                      <a:endParaRPr lang="en-IN" sz="3200" dirty="0"/>
                    </a:p>
                  </a:txBody>
                  <a:tcPr marL="68580" marR="68580"/>
                </a:tc>
                <a:tc>
                  <a:txBody>
                    <a:bodyPr/>
                    <a:lstStyle/>
                    <a:p>
                      <a:pPr algn="ctr"/>
                      <a:r>
                        <a:rPr lang="en-US" sz="3200" dirty="0" smtClean="0"/>
                        <a:t>28</a:t>
                      </a:r>
                      <a:endParaRPr lang="en-IN" sz="3200" dirty="0"/>
                    </a:p>
                  </a:txBody>
                  <a:tcPr marL="68580" marR="68580"/>
                </a:tc>
                <a:tc>
                  <a:txBody>
                    <a:bodyPr/>
                    <a:lstStyle/>
                    <a:p>
                      <a:pPr algn="ctr"/>
                      <a:r>
                        <a:rPr lang="en-US" sz="3200" dirty="0" smtClean="0"/>
                        <a:t>25</a:t>
                      </a:r>
                      <a:endParaRPr lang="en-IN" sz="3200" dirty="0"/>
                    </a:p>
                  </a:txBody>
                  <a:tcPr marL="68580" marR="68580"/>
                </a:tc>
                <a:tc>
                  <a:txBody>
                    <a:bodyPr/>
                    <a:lstStyle/>
                    <a:p>
                      <a:pPr algn="ctr"/>
                      <a:r>
                        <a:rPr lang="en-US" sz="3200" dirty="0" smtClean="0"/>
                        <a:t>18</a:t>
                      </a:r>
                      <a:endParaRPr lang="en-IN" sz="3200" dirty="0"/>
                    </a:p>
                  </a:txBody>
                  <a:tcPr marL="68580" marR="68580"/>
                </a:tc>
                <a:tc>
                  <a:txBody>
                    <a:bodyPr/>
                    <a:lstStyle/>
                    <a:p>
                      <a:pPr algn="ctr"/>
                      <a:r>
                        <a:rPr lang="en-US" sz="3200" dirty="0" smtClean="0"/>
                        <a:t>9</a:t>
                      </a:r>
                      <a:endParaRPr lang="en-IN" sz="3200" dirty="0"/>
                    </a:p>
                  </a:txBody>
                  <a:tcPr marL="68580" marR="68580"/>
                </a:tc>
                <a:extLst>
                  <a:ext uri="{0D108BD9-81ED-4DB2-BD59-A6C34878D82A}">
                    <a16:rowId xmlns:a16="http://schemas.microsoft.com/office/drawing/2014/main" xmlns="" val="895545565"/>
                  </a:ext>
                </a:extLst>
              </a:tr>
              <a:tr h="1080120">
                <a:tc>
                  <a:txBody>
                    <a:bodyPr/>
                    <a:lstStyle/>
                    <a:p>
                      <a:r>
                        <a:rPr lang="en-US" sz="3200" dirty="0" smtClean="0"/>
                        <a:t>WEIGHT</a:t>
                      </a:r>
                      <a:endParaRPr lang="en-IN" sz="3200" dirty="0"/>
                    </a:p>
                  </a:txBody>
                  <a:tcPr marL="68580" marR="68580"/>
                </a:tc>
                <a:tc>
                  <a:txBody>
                    <a:bodyPr/>
                    <a:lstStyle/>
                    <a:p>
                      <a:pPr algn="ctr"/>
                      <a:r>
                        <a:rPr lang="en-US" sz="3200" dirty="0" smtClean="0"/>
                        <a:t>1</a:t>
                      </a:r>
                      <a:endParaRPr lang="en-IN" sz="3200" dirty="0"/>
                    </a:p>
                  </a:txBody>
                  <a:tcPr marL="68580" marR="68580"/>
                </a:tc>
                <a:tc>
                  <a:txBody>
                    <a:bodyPr/>
                    <a:lstStyle/>
                    <a:p>
                      <a:pPr algn="ctr"/>
                      <a:r>
                        <a:rPr lang="en-US" sz="3200" dirty="0" smtClean="0"/>
                        <a:t>4</a:t>
                      </a:r>
                      <a:endParaRPr lang="en-IN" sz="3200" dirty="0"/>
                    </a:p>
                  </a:txBody>
                  <a:tcPr marL="68580" marR="68580"/>
                </a:tc>
                <a:tc>
                  <a:txBody>
                    <a:bodyPr/>
                    <a:lstStyle/>
                    <a:p>
                      <a:pPr algn="ctr"/>
                      <a:r>
                        <a:rPr lang="en-US" sz="3200" dirty="0" smtClean="0"/>
                        <a:t>5</a:t>
                      </a:r>
                      <a:endParaRPr lang="en-IN" sz="3200" dirty="0"/>
                    </a:p>
                  </a:txBody>
                  <a:tcPr marL="68580" marR="68580"/>
                </a:tc>
                <a:tc>
                  <a:txBody>
                    <a:bodyPr/>
                    <a:lstStyle/>
                    <a:p>
                      <a:pPr algn="ctr"/>
                      <a:r>
                        <a:rPr lang="en-US" sz="3200" dirty="0" smtClean="0"/>
                        <a:t>3</a:t>
                      </a:r>
                      <a:endParaRPr lang="en-IN" sz="3200" dirty="0"/>
                    </a:p>
                  </a:txBody>
                  <a:tcPr marL="68580" marR="68580"/>
                </a:tc>
                <a:tc>
                  <a:txBody>
                    <a:bodyPr/>
                    <a:lstStyle/>
                    <a:p>
                      <a:pPr algn="ctr"/>
                      <a:r>
                        <a:rPr lang="en-US" sz="3200" dirty="0" smtClean="0"/>
                        <a:t>3</a:t>
                      </a:r>
                      <a:endParaRPr lang="en-IN" sz="3200" dirty="0"/>
                    </a:p>
                  </a:txBody>
                  <a:tcPr marL="68580" marR="68580"/>
                </a:tc>
                <a:extLst>
                  <a:ext uri="{0D108BD9-81ED-4DB2-BD59-A6C34878D82A}">
                    <a16:rowId xmlns:a16="http://schemas.microsoft.com/office/drawing/2014/main" xmlns="" val="57051456"/>
                  </a:ext>
                </a:extLst>
              </a:tr>
            </a:tbl>
          </a:graphicData>
        </a:graphic>
      </p:graphicFrame>
      <p:sp>
        <p:nvSpPr>
          <p:cNvPr id="5" name="TextBox 4"/>
          <p:cNvSpPr txBox="1"/>
          <p:nvPr/>
        </p:nvSpPr>
        <p:spPr>
          <a:xfrm flipH="1">
            <a:off x="3135835" y="1204160"/>
            <a:ext cx="3648024" cy="646331"/>
          </a:xfrm>
          <a:prstGeom prst="rect">
            <a:avLst/>
          </a:prstGeom>
          <a:noFill/>
        </p:spPr>
        <p:txBody>
          <a:bodyPr wrap="square" rtlCol="0">
            <a:spAutoFit/>
          </a:bodyPr>
          <a:lstStyle/>
          <a:p>
            <a:r>
              <a:rPr lang="en-US" sz="3600" dirty="0" smtClean="0"/>
              <a:t>M= 15             N=5</a:t>
            </a:r>
            <a:endParaRPr lang="en-IN" sz="3600" dirty="0"/>
          </a:p>
        </p:txBody>
      </p:sp>
    </p:spTree>
    <p:extLst>
      <p:ext uri="{BB962C8B-B14F-4D97-AF65-F5344CB8AC3E}">
        <p14:creationId xmlns:p14="http://schemas.microsoft.com/office/powerpoint/2010/main" val="301335941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EXAMPLE-3</a:t>
            </a:r>
            <a:endParaRPr lang="en-IN" b="1" dirty="0">
              <a:solidFill>
                <a:srgbClr val="FF0000"/>
              </a:solidFill>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410274921"/>
              </p:ext>
            </p:extLst>
          </p:nvPr>
        </p:nvGraphicFramePr>
        <p:xfrm>
          <a:off x="-2" y="1825625"/>
          <a:ext cx="9036497" cy="4051646"/>
        </p:xfrm>
        <a:graphic>
          <a:graphicData uri="http://schemas.openxmlformats.org/drawingml/2006/table">
            <a:tbl>
              <a:tblPr firstRow="1" bandRow="1">
                <a:tableStyleId>{5C22544A-7EE6-4342-B048-85BDC9FD1C3A}</a:tableStyleId>
              </a:tblPr>
              <a:tblGrid>
                <a:gridCol w="2051722">
                  <a:extLst>
                    <a:ext uri="{9D8B030D-6E8A-4147-A177-3AD203B41FA5}">
                      <a16:colId xmlns:a16="http://schemas.microsoft.com/office/drawing/2014/main" xmlns="" val="2753123831"/>
                    </a:ext>
                  </a:extLst>
                </a:gridCol>
                <a:gridCol w="864096">
                  <a:extLst>
                    <a:ext uri="{9D8B030D-6E8A-4147-A177-3AD203B41FA5}">
                      <a16:colId xmlns:a16="http://schemas.microsoft.com/office/drawing/2014/main" xmlns="" val="839694622"/>
                    </a:ext>
                  </a:extLst>
                </a:gridCol>
                <a:gridCol w="830892">
                  <a:extLst>
                    <a:ext uri="{9D8B030D-6E8A-4147-A177-3AD203B41FA5}">
                      <a16:colId xmlns:a16="http://schemas.microsoft.com/office/drawing/2014/main" xmlns="" val="3877770247"/>
                    </a:ext>
                  </a:extLst>
                </a:gridCol>
                <a:gridCol w="1043057">
                  <a:extLst>
                    <a:ext uri="{9D8B030D-6E8A-4147-A177-3AD203B41FA5}">
                      <a16:colId xmlns:a16="http://schemas.microsoft.com/office/drawing/2014/main" xmlns="" val="954085825"/>
                    </a:ext>
                  </a:extLst>
                </a:gridCol>
                <a:gridCol w="858044">
                  <a:extLst>
                    <a:ext uri="{9D8B030D-6E8A-4147-A177-3AD203B41FA5}">
                      <a16:colId xmlns:a16="http://schemas.microsoft.com/office/drawing/2014/main" xmlns="" val="1036433717"/>
                    </a:ext>
                  </a:extLst>
                </a:gridCol>
                <a:gridCol w="1129562">
                  <a:extLst>
                    <a:ext uri="{9D8B030D-6E8A-4147-A177-3AD203B41FA5}">
                      <a16:colId xmlns:a16="http://schemas.microsoft.com/office/drawing/2014/main" xmlns="" val="3160115851"/>
                    </a:ext>
                  </a:extLst>
                </a:gridCol>
                <a:gridCol w="1129562">
                  <a:extLst>
                    <a:ext uri="{9D8B030D-6E8A-4147-A177-3AD203B41FA5}">
                      <a16:colId xmlns:a16="http://schemas.microsoft.com/office/drawing/2014/main" xmlns="" val="2265653997"/>
                    </a:ext>
                  </a:extLst>
                </a:gridCol>
                <a:gridCol w="1129562">
                  <a:extLst>
                    <a:ext uri="{9D8B030D-6E8A-4147-A177-3AD203B41FA5}">
                      <a16:colId xmlns:a16="http://schemas.microsoft.com/office/drawing/2014/main" xmlns="" val="144829562"/>
                    </a:ext>
                  </a:extLst>
                </a:gridCol>
              </a:tblGrid>
              <a:tr h="1091671">
                <a:tc>
                  <a:txBody>
                    <a:bodyPr/>
                    <a:lstStyle/>
                    <a:p>
                      <a:r>
                        <a:rPr lang="en-US" sz="3200" dirty="0" smtClean="0"/>
                        <a:t>OBJECT</a:t>
                      </a:r>
                      <a:endParaRPr lang="en-IN" sz="3200" dirty="0"/>
                    </a:p>
                  </a:txBody>
                  <a:tcPr marL="68580" marR="68580"/>
                </a:tc>
                <a:tc>
                  <a:txBody>
                    <a:bodyPr/>
                    <a:lstStyle/>
                    <a:p>
                      <a:pPr algn="ctr"/>
                      <a:r>
                        <a:rPr lang="en-US" sz="3200" dirty="0" smtClean="0"/>
                        <a:t>1</a:t>
                      </a:r>
                      <a:endParaRPr lang="en-IN" sz="3200" dirty="0"/>
                    </a:p>
                  </a:txBody>
                  <a:tcPr marL="68580" marR="68580"/>
                </a:tc>
                <a:tc>
                  <a:txBody>
                    <a:bodyPr/>
                    <a:lstStyle/>
                    <a:p>
                      <a:pPr algn="ctr"/>
                      <a:r>
                        <a:rPr lang="en-US" sz="3200" dirty="0" smtClean="0"/>
                        <a:t>2</a:t>
                      </a:r>
                      <a:endParaRPr lang="en-IN" sz="3200" dirty="0"/>
                    </a:p>
                  </a:txBody>
                  <a:tcPr marL="68580" marR="68580"/>
                </a:tc>
                <a:tc>
                  <a:txBody>
                    <a:bodyPr/>
                    <a:lstStyle/>
                    <a:p>
                      <a:pPr algn="ctr"/>
                      <a:r>
                        <a:rPr lang="en-US" sz="3200" dirty="0" smtClean="0"/>
                        <a:t>3</a:t>
                      </a:r>
                      <a:endParaRPr lang="en-IN" sz="3200" dirty="0"/>
                    </a:p>
                  </a:txBody>
                  <a:tcPr marL="68580" marR="68580"/>
                </a:tc>
                <a:tc>
                  <a:txBody>
                    <a:bodyPr/>
                    <a:lstStyle/>
                    <a:p>
                      <a:pPr algn="ctr"/>
                      <a:r>
                        <a:rPr lang="en-US" sz="3200" dirty="0" smtClean="0"/>
                        <a:t>4</a:t>
                      </a:r>
                      <a:endParaRPr lang="en-IN" sz="3200" dirty="0"/>
                    </a:p>
                  </a:txBody>
                  <a:tcPr marL="68580" marR="68580"/>
                </a:tc>
                <a:tc>
                  <a:txBody>
                    <a:bodyPr/>
                    <a:lstStyle/>
                    <a:p>
                      <a:pPr algn="ctr"/>
                      <a:r>
                        <a:rPr lang="en-US" sz="3200" dirty="0" smtClean="0"/>
                        <a:t>5</a:t>
                      </a:r>
                      <a:endParaRPr lang="en-IN" sz="3200" dirty="0"/>
                    </a:p>
                  </a:txBody>
                  <a:tcPr marL="68580" marR="68580"/>
                </a:tc>
                <a:tc>
                  <a:txBody>
                    <a:bodyPr/>
                    <a:lstStyle/>
                    <a:p>
                      <a:pPr algn="ctr"/>
                      <a:r>
                        <a:rPr lang="en-US" sz="3200" dirty="0" smtClean="0"/>
                        <a:t>6</a:t>
                      </a:r>
                      <a:endParaRPr lang="en-IN" sz="3200" dirty="0"/>
                    </a:p>
                  </a:txBody>
                  <a:tcPr marL="68580" marR="68580"/>
                </a:tc>
                <a:tc>
                  <a:txBody>
                    <a:bodyPr/>
                    <a:lstStyle/>
                    <a:p>
                      <a:pPr algn="ctr"/>
                      <a:r>
                        <a:rPr lang="en-US" sz="3200" dirty="0" smtClean="0"/>
                        <a:t>7</a:t>
                      </a:r>
                      <a:endParaRPr lang="en-IN" sz="3200" dirty="0"/>
                    </a:p>
                  </a:txBody>
                  <a:tcPr marL="68580" marR="68580"/>
                </a:tc>
                <a:extLst>
                  <a:ext uri="{0D108BD9-81ED-4DB2-BD59-A6C34878D82A}">
                    <a16:rowId xmlns:a16="http://schemas.microsoft.com/office/drawing/2014/main" xmlns="" val="4111567684"/>
                  </a:ext>
                </a:extLst>
              </a:tr>
              <a:tr h="1091671">
                <a:tc>
                  <a:txBody>
                    <a:bodyPr/>
                    <a:lstStyle/>
                    <a:p>
                      <a:r>
                        <a:rPr lang="en-US" sz="3200" dirty="0" smtClean="0"/>
                        <a:t>PROFIT</a:t>
                      </a:r>
                      <a:endParaRPr lang="en-IN" sz="3200" dirty="0"/>
                    </a:p>
                  </a:txBody>
                  <a:tcPr marL="68580" marR="68580"/>
                </a:tc>
                <a:tc>
                  <a:txBody>
                    <a:bodyPr/>
                    <a:lstStyle/>
                    <a:p>
                      <a:pPr algn="ctr"/>
                      <a:r>
                        <a:rPr lang="en-US" sz="3200" dirty="0" smtClean="0"/>
                        <a:t>10</a:t>
                      </a:r>
                      <a:endParaRPr lang="en-IN" sz="3200" dirty="0"/>
                    </a:p>
                  </a:txBody>
                  <a:tcPr marL="68580" marR="68580"/>
                </a:tc>
                <a:tc>
                  <a:txBody>
                    <a:bodyPr/>
                    <a:lstStyle/>
                    <a:p>
                      <a:pPr algn="ctr"/>
                      <a:r>
                        <a:rPr lang="en-US" sz="3200" dirty="0" smtClean="0"/>
                        <a:t>5</a:t>
                      </a:r>
                      <a:endParaRPr lang="en-IN" sz="3200" dirty="0"/>
                    </a:p>
                  </a:txBody>
                  <a:tcPr marL="68580" marR="68580"/>
                </a:tc>
                <a:tc>
                  <a:txBody>
                    <a:bodyPr/>
                    <a:lstStyle/>
                    <a:p>
                      <a:pPr algn="ctr"/>
                      <a:r>
                        <a:rPr lang="en-US" sz="3200" dirty="0" smtClean="0"/>
                        <a:t>15</a:t>
                      </a:r>
                      <a:endParaRPr lang="en-IN" sz="3200" dirty="0"/>
                    </a:p>
                  </a:txBody>
                  <a:tcPr marL="68580" marR="68580"/>
                </a:tc>
                <a:tc>
                  <a:txBody>
                    <a:bodyPr/>
                    <a:lstStyle/>
                    <a:p>
                      <a:pPr algn="ctr"/>
                      <a:r>
                        <a:rPr lang="en-US" sz="3200" dirty="0" smtClean="0"/>
                        <a:t>7</a:t>
                      </a:r>
                      <a:endParaRPr lang="en-IN" sz="3200" dirty="0"/>
                    </a:p>
                  </a:txBody>
                  <a:tcPr marL="68580" marR="68580"/>
                </a:tc>
                <a:tc>
                  <a:txBody>
                    <a:bodyPr/>
                    <a:lstStyle/>
                    <a:p>
                      <a:pPr algn="ctr"/>
                      <a:r>
                        <a:rPr lang="en-US" sz="3200" dirty="0" smtClean="0"/>
                        <a:t>6</a:t>
                      </a:r>
                      <a:endParaRPr lang="en-IN" sz="3200" dirty="0"/>
                    </a:p>
                  </a:txBody>
                  <a:tcPr marL="68580" marR="68580"/>
                </a:tc>
                <a:tc>
                  <a:txBody>
                    <a:bodyPr/>
                    <a:lstStyle/>
                    <a:p>
                      <a:pPr algn="ctr"/>
                      <a:r>
                        <a:rPr lang="en-US" sz="3200" dirty="0" smtClean="0"/>
                        <a:t>18</a:t>
                      </a:r>
                      <a:endParaRPr lang="en-IN" sz="3200" dirty="0"/>
                    </a:p>
                  </a:txBody>
                  <a:tcPr marL="68580" marR="68580"/>
                </a:tc>
                <a:tc>
                  <a:txBody>
                    <a:bodyPr/>
                    <a:lstStyle/>
                    <a:p>
                      <a:pPr algn="ctr"/>
                      <a:r>
                        <a:rPr lang="en-US" sz="3200" dirty="0" smtClean="0"/>
                        <a:t>3</a:t>
                      </a:r>
                      <a:endParaRPr lang="en-IN" sz="3200" dirty="0"/>
                    </a:p>
                  </a:txBody>
                  <a:tcPr marL="68580" marR="68580"/>
                </a:tc>
                <a:extLst>
                  <a:ext uri="{0D108BD9-81ED-4DB2-BD59-A6C34878D82A}">
                    <a16:rowId xmlns:a16="http://schemas.microsoft.com/office/drawing/2014/main" xmlns="" val="895545565"/>
                  </a:ext>
                </a:extLst>
              </a:tr>
              <a:tr h="1091671">
                <a:tc>
                  <a:txBody>
                    <a:bodyPr/>
                    <a:lstStyle/>
                    <a:p>
                      <a:r>
                        <a:rPr lang="en-US" sz="3200" dirty="0" smtClean="0"/>
                        <a:t>WEIGHT</a:t>
                      </a:r>
                      <a:endParaRPr lang="en-IN" sz="3200" dirty="0"/>
                    </a:p>
                  </a:txBody>
                  <a:tcPr marL="68580" marR="68580"/>
                </a:tc>
                <a:tc>
                  <a:txBody>
                    <a:bodyPr/>
                    <a:lstStyle/>
                    <a:p>
                      <a:pPr algn="ctr"/>
                      <a:r>
                        <a:rPr lang="en-US" sz="3200" dirty="0" smtClean="0"/>
                        <a:t>2</a:t>
                      </a:r>
                      <a:endParaRPr lang="en-IN" sz="3200" dirty="0"/>
                    </a:p>
                  </a:txBody>
                  <a:tcPr marL="68580" marR="68580"/>
                </a:tc>
                <a:tc>
                  <a:txBody>
                    <a:bodyPr/>
                    <a:lstStyle/>
                    <a:p>
                      <a:pPr algn="ctr"/>
                      <a:r>
                        <a:rPr lang="en-US" sz="3200" dirty="0" smtClean="0"/>
                        <a:t>3</a:t>
                      </a:r>
                      <a:endParaRPr lang="en-IN" sz="3200" dirty="0"/>
                    </a:p>
                  </a:txBody>
                  <a:tcPr marL="68580" marR="68580"/>
                </a:tc>
                <a:tc>
                  <a:txBody>
                    <a:bodyPr/>
                    <a:lstStyle/>
                    <a:p>
                      <a:pPr algn="ctr"/>
                      <a:r>
                        <a:rPr lang="en-US" sz="3200" dirty="0" smtClean="0"/>
                        <a:t>5</a:t>
                      </a:r>
                      <a:endParaRPr lang="en-IN" sz="3200" dirty="0"/>
                    </a:p>
                  </a:txBody>
                  <a:tcPr marL="68580" marR="68580"/>
                </a:tc>
                <a:tc>
                  <a:txBody>
                    <a:bodyPr/>
                    <a:lstStyle/>
                    <a:p>
                      <a:pPr algn="ctr"/>
                      <a:r>
                        <a:rPr lang="en-US" sz="3200" dirty="0" smtClean="0"/>
                        <a:t>7</a:t>
                      </a:r>
                      <a:endParaRPr lang="en-IN" sz="3200" dirty="0"/>
                    </a:p>
                  </a:txBody>
                  <a:tcPr marL="68580" marR="68580"/>
                </a:tc>
                <a:tc>
                  <a:txBody>
                    <a:bodyPr/>
                    <a:lstStyle/>
                    <a:p>
                      <a:pPr algn="ctr"/>
                      <a:r>
                        <a:rPr lang="en-US" sz="3200" dirty="0" smtClean="0"/>
                        <a:t>1</a:t>
                      </a:r>
                      <a:endParaRPr lang="en-IN" sz="3200" dirty="0"/>
                    </a:p>
                  </a:txBody>
                  <a:tcPr marL="68580" marR="68580"/>
                </a:tc>
                <a:tc>
                  <a:txBody>
                    <a:bodyPr/>
                    <a:lstStyle/>
                    <a:p>
                      <a:pPr algn="ctr"/>
                      <a:r>
                        <a:rPr lang="en-US" sz="3200" dirty="0" smtClean="0"/>
                        <a:t>4</a:t>
                      </a:r>
                      <a:endParaRPr lang="en-IN" sz="3200" dirty="0"/>
                    </a:p>
                  </a:txBody>
                  <a:tcPr marL="68580" marR="68580"/>
                </a:tc>
                <a:tc>
                  <a:txBody>
                    <a:bodyPr/>
                    <a:lstStyle/>
                    <a:p>
                      <a:pPr algn="ctr"/>
                      <a:r>
                        <a:rPr lang="en-US" sz="3200" dirty="0" smtClean="0"/>
                        <a:t>1</a:t>
                      </a:r>
                      <a:endParaRPr lang="en-IN" sz="3200" dirty="0"/>
                    </a:p>
                  </a:txBody>
                  <a:tcPr marL="68580" marR="68580"/>
                </a:tc>
                <a:extLst>
                  <a:ext uri="{0D108BD9-81ED-4DB2-BD59-A6C34878D82A}">
                    <a16:rowId xmlns:a16="http://schemas.microsoft.com/office/drawing/2014/main" xmlns="" val="57051456"/>
                  </a:ext>
                </a:extLst>
              </a:tr>
              <a:tr h="776633">
                <a:tc>
                  <a:txBody>
                    <a:bodyPr/>
                    <a:lstStyle/>
                    <a:p>
                      <a:r>
                        <a:rPr lang="en-US" sz="3200" dirty="0" smtClean="0">
                          <a:solidFill>
                            <a:srgbClr val="00B050"/>
                          </a:solidFill>
                        </a:rPr>
                        <a:t>COST(p/w)</a:t>
                      </a:r>
                      <a:endParaRPr lang="en-IN" sz="3200" dirty="0">
                        <a:solidFill>
                          <a:srgbClr val="00B050"/>
                        </a:solidFill>
                      </a:endParaRPr>
                    </a:p>
                  </a:txBody>
                  <a:tcPr marL="68580" marR="68580"/>
                </a:tc>
                <a:tc>
                  <a:txBody>
                    <a:bodyPr/>
                    <a:lstStyle/>
                    <a:p>
                      <a:pPr algn="ctr"/>
                      <a:r>
                        <a:rPr lang="en-US" sz="3200" dirty="0" smtClean="0">
                          <a:solidFill>
                            <a:srgbClr val="00B050"/>
                          </a:solidFill>
                        </a:rPr>
                        <a:t>5</a:t>
                      </a:r>
                      <a:endParaRPr lang="en-IN" sz="3200" dirty="0">
                        <a:solidFill>
                          <a:srgbClr val="00B050"/>
                        </a:solidFill>
                      </a:endParaRPr>
                    </a:p>
                  </a:txBody>
                  <a:tcPr marL="68580" marR="68580"/>
                </a:tc>
                <a:tc>
                  <a:txBody>
                    <a:bodyPr/>
                    <a:lstStyle/>
                    <a:p>
                      <a:pPr algn="ctr"/>
                      <a:r>
                        <a:rPr lang="en-US" sz="3200" dirty="0" smtClean="0">
                          <a:solidFill>
                            <a:srgbClr val="00B050"/>
                          </a:solidFill>
                        </a:rPr>
                        <a:t>1.6</a:t>
                      </a:r>
                      <a:endParaRPr lang="en-IN" sz="3200" dirty="0">
                        <a:solidFill>
                          <a:srgbClr val="00B050"/>
                        </a:solidFill>
                      </a:endParaRPr>
                    </a:p>
                  </a:txBody>
                  <a:tcPr marL="68580" marR="68580"/>
                </a:tc>
                <a:tc>
                  <a:txBody>
                    <a:bodyPr/>
                    <a:lstStyle/>
                    <a:p>
                      <a:pPr algn="ctr"/>
                      <a:r>
                        <a:rPr lang="en-US" sz="3200" dirty="0" smtClean="0">
                          <a:solidFill>
                            <a:srgbClr val="00B050"/>
                          </a:solidFill>
                        </a:rPr>
                        <a:t>3</a:t>
                      </a:r>
                      <a:endParaRPr lang="en-IN" sz="3200" dirty="0">
                        <a:solidFill>
                          <a:srgbClr val="00B050"/>
                        </a:solidFill>
                      </a:endParaRPr>
                    </a:p>
                  </a:txBody>
                  <a:tcPr marL="68580" marR="68580"/>
                </a:tc>
                <a:tc>
                  <a:txBody>
                    <a:bodyPr/>
                    <a:lstStyle/>
                    <a:p>
                      <a:pPr algn="ctr"/>
                      <a:r>
                        <a:rPr lang="en-US" sz="3200" dirty="0" smtClean="0">
                          <a:solidFill>
                            <a:srgbClr val="00B050"/>
                          </a:solidFill>
                        </a:rPr>
                        <a:t>1</a:t>
                      </a:r>
                      <a:endParaRPr lang="en-IN" sz="3200" dirty="0">
                        <a:solidFill>
                          <a:srgbClr val="00B050"/>
                        </a:solidFill>
                      </a:endParaRPr>
                    </a:p>
                  </a:txBody>
                  <a:tcPr marL="68580" marR="68580"/>
                </a:tc>
                <a:tc>
                  <a:txBody>
                    <a:bodyPr/>
                    <a:lstStyle/>
                    <a:p>
                      <a:pPr algn="ctr"/>
                      <a:r>
                        <a:rPr lang="en-US" sz="3200" dirty="0" smtClean="0">
                          <a:solidFill>
                            <a:srgbClr val="00B050"/>
                          </a:solidFill>
                        </a:rPr>
                        <a:t>6</a:t>
                      </a:r>
                      <a:endParaRPr lang="en-IN" sz="3200" dirty="0">
                        <a:solidFill>
                          <a:srgbClr val="00B050"/>
                        </a:solidFill>
                      </a:endParaRPr>
                    </a:p>
                  </a:txBody>
                  <a:tcPr marL="68580" marR="68580"/>
                </a:tc>
                <a:tc>
                  <a:txBody>
                    <a:bodyPr/>
                    <a:lstStyle/>
                    <a:p>
                      <a:pPr algn="ctr"/>
                      <a:r>
                        <a:rPr lang="en-US" sz="3200" dirty="0" smtClean="0">
                          <a:solidFill>
                            <a:srgbClr val="00B050"/>
                          </a:solidFill>
                        </a:rPr>
                        <a:t>4.5</a:t>
                      </a:r>
                      <a:endParaRPr lang="en-IN" sz="3200" dirty="0">
                        <a:solidFill>
                          <a:srgbClr val="00B050"/>
                        </a:solidFill>
                      </a:endParaRPr>
                    </a:p>
                  </a:txBody>
                  <a:tcPr marL="68580" marR="68580"/>
                </a:tc>
                <a:tc>
                  <a:txBody>
                    <a:bodyPr/>
                    <a:lstStyle/>
                    <a:p>
                      <a:pPr algn="ctr"/>
                      <a:r>
                        <a:rPr lang="en-US" sz="3200" dirty="0" smtClean="0">
                          <a:solidFill>
                            <a:srgbClr val="00B050"/>
                          </a:solidFill>
                        </a:rPr>
                        <a:t>3</a:t>
                      </a:r>
                      <a:endParaRPr lang="en-IN" sz="3200" dirty="0">
                        <a:solidFill>
                          <a:srgbClr val="00B050"/>
                        </a:solidFill>
                      </a:endParaRPr>
                    </a:p>
                  </a:txBody>
                  <a:tcPr marL="68580" marR="68580"/>
                </a:tc>
                <a:extLst>
                  <a:ext uri="{0D108BD9-81ED-4DB2-BD59-A6C34878D82A}">
                    <a16:rowId xmlns:a16="http://schemas.microsoft.com/office/drawing/2014/main" xmlns="" val="3747321464"/>
                  </a:ext>
                </a:extLst>
              </a:tr>
            </a:tbl>
          </a:graphicData>
        </a:graphic>
      </p:graphicFrame>
      <p:sp>
        <p:nvSpPr>
          <p:cNvPr id="5" name="TextBox 4"/>
          <p:cNvSpPr txBox="1"/>
          <p:nvPr/>
        </p:nvSpPr>
        <p:spPr>
          <a:xfrm flipH="1">
            <a:off x="3135835" y="1204160"/>
            <a:ext cx="3648024" cy="646331"/>
          </a:xfrm>
          <a:prstGeom prst="rect">
            <a:avLst/>
          </a:prstGeom>
          <a:noFill/>
        </p:spPr>
        <p:txBody>
          <a:bodyPr wrap="square" rtlCol="0">
            <a:spAutoFit/>
          </a:bodyPr>
          <a:lstStyle/>
          <a:p>
            <a:r>
              <a:rPr lang="en-US" sz="3600" dirty="0" smtClean="0"/>
              <a:t>M= 15             N=7</a:t>
            </a:r>
            <a:endParaRPr lang="en-IN" sz="3600" dirty="0"/>
          </a:p>
        </p:txBody>
      </p:sp>
    </p:spTree>
    <p:extLst>
      <p:ext uri="{BB962C8B-B14F-4D97-AF65-F5344CB8AC3E}">
        <p14:creationId xmlns:p14="http://schemas.microsoft.com/office/powerpoint/2010/main" val="139337837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EXAMPLE-3</a:t>
            </a:r>
            <a:endParaRPr lang="en-IN" b="1" dirty="0">
              <a:solidFill>
                <a:srgbClr val="FF0000"/>
              </a:solidFill>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382410869"/>
              </p:ext>
            </p:extLst>
          </p:nvPr>
        </p:nvGraphicFramePr>
        <p:xfrm>
          <a:off x="-2" y="1825625"/>
          <a:ext cx="9036497" cy="4051646"/>
        </p:xfrm>
        <a:graphic>
          <a:graphicData uri="http://schemas.openxmlformats.org/drawingml/2006/table">
            <a:tbl>
              <a:tblPr firstRow="1" bandRow="1">
                <a:tableStyleId>{5C22544A-7EE6-4342-B048-85BDC9FD1C3A}</a:tableStyleId>
              </a:tblPr>
              <a:tblGrid>
                <a:gridCol w="2051722">
                  <a:extLst>
                    <a:ext uri="{9D8B030D-6E8A-4147-A177-3AD203B41FA5}">
                      <a16:colId xmlns:a16="http://schemas.microsoft.com/office/drawing/2014/main" xmlns="" val="2753123831"/>
                    </a:ext>
                  </a:extLst>
                </a:gridCol>
                <a:gridCol w="864096">
                  <a:extLst>
                    <a:ext uri="{9D8B030D-6E8A-4147-A177-3AD203B41FA5}">
                      <a16:colId xmlns:a16="http://schemas.microsoft.com/office/drawing/2014/main" xmlns="" val="839694622"/>
                    </a:ext>
                  </a:extLst>
                </a:gridCol>
                <a:gridCol w="830892">
                  <a:extLst>
                    <a:ext uri="{9D8B030D-6E8A-4147-A177-3AD203B41FA5}">
                      <a16:colId xmlns:a16="http://schemas.microsoft.com/office/drawing/2014/main" xmlns="" val="3877770247"/>
                    </a:ext>
                  </a:extLst>
                </a:gridCol>
                <a:gridCol w="1043057">
                  <a:extLst>
                    <a:ext uri="{9D8B030D-6E8A-4147-A177-3AD203B41FA5}">
                      <a16:colId xmlns:a16="http://schemas.microsoft.com/office/drawing/2014/main" xmlns="" val="954085825"/>
                    </a:ext>
                  </a:extLst>
                </a:gridCol>
                <a:gridCol w="858044">
                  <a:extLst>
                    <a:ext uri="{9D8B030D-6E8A-4147-A177-3AD203B41FA5}">
                      <a16:colId xmlns:a16="http://schemas.microsoft.com/office/drawing/2014/main" xmlns="" val="1036433717"/>
                    </a:ext>
                  </a:extLst>
                </a:gridCol>
                <a:gridCol w="1129562">
                  <a:extLst>
                    <a:ext uri="{9D8B030D-6E8A-4147-A177-3AD203B41FA5}">
                      <a16:colId xmlns:a16="http://schemas.microsoft.com/office/drawing/2014/main" xmlns="" val="3160115851"/>
                    </a:ext>
                  </a:extLst>
                </a:gridCol>
                <a:gridCol w="1129562">
                  <a:extLst>
                    <a:ext uri="{9D8B030D-6E8A-4147-A177-3AD203B41FA5}">
                      <a16:colId xmlns:a16="http://schemas.microsoft.com/office/drawing/2014/main" xmlns="" val="2265653997"/>
                    </a:ext>
                  </a:extLst>
                </a:gridCol>
                <a:gridCol w="1129562">
                  <a:extLst>
                    <a:ext uri="{9D8B030D-6E8A-4147-A177-3AD203B41FA5}">
                      <a16:colId xmlns:a16="http://schemas.microsoft.com/office/drawing/2014/main" xmlns="" val="144829562"/>
                    </a:ext>
                  </a:extLst>
                </a:gridCol>
              </a:tblGrid>
              <a:tr h="1091671">
                <a:tc>
                  <a:txBody>
                    <a:bodyPr/>
                    <a:lstStyle/>
                    <a:p>
                      <a:r>
                        <a:rPr lang="en-US" sz="3200" dirty="0" smtClean="0"/>
                        <a:t>OBJECT</a:t>
                      </a:r>
                      <a:endParaRPr lang="en-IN" sz="3200" dirty="0"/>
                    </a:p>
                  </a:txBody>
                  <a:tcPr marL="68580" marR="68580"/>
                </a:tc>
                <a:tc>
                  <a:txBody>
                    <a:bodyPr/>
                    <a:lstStyle/>
                    <a:p>
                      <a:pPr algn="ctr"/>
                      <a:r>
                        <a:rPr lang="en-US" sz="3200" dirty="0" smtClean="0"/>
                        <a:t>1</a:t>
                      </a:r>
                      <a:endParaRPr lang="en-IN" sz="3200" dirty="0"/>
                    </a:p>
                  </a:txBody>
                  <a:tcPr marL="68580" marR="68580"/>
                </a:tc>
                <a:tc>
                  <a:txBody>
                    <a:bodyPr/>
                    <a:lstStyle/>
                    <a:p>
                      <a:pPr algn="ctr"/>
                      <a:r>
                        <a:rPr lang="en-US" sz="3200" dirty="0" smtClean="0"/>
                        <a:t>2</a:t>
                      </a:r>
                      <a:endParaRPr lang="en-IN" sz="3200" dirty="0"/>
                    </a:p>
                  </a:txBody>
                  <a:tcPr marL="68580" marR="68580"/>
                </a:tc>
                <a:tc>
                  <a:txBody>
                    <a:bodyPr/>
                    <a:lstStyle/>
                    <a:p>
                      <a:pPr algn="ctr"/>
                      <a:r>
                        <a:rPr lang="en-US" sz="3200" dirty="0" smtClean="0"/>
                        <a:t>3</a:t>
                      </a:r>
                      <a:endParaRPr lang="en-IN" sz="3200" dirty="0"/>
                    </a:p>
                  </a:txBody>
                  <a:tcPr marL="68580" marR="68580"/>
                </a:tc>
                <a:tc>
                  <a:txBody>
                    <a:bodyPr/>
                    <a:lstStyle/>
                    <a:p>
                      <a:pPr algn="ctr"/>
                      <a:r>
                        <a:rPr lang="en-US" sz="3200" dirty="0" smtClean="0"/>
                        <a:t>4</a:t>
                      </a:r>
                      <a:endParaRPr lang="en-IN" sz="3200" dirty="0"/>
                    </a:p>
                  </a:txBody>
                  <a:tcPr marL="68580" marR="68580"/>
                </a:tc>
                <a:tc>
                  <a:txBody>
                    <a:bodyPr/>
                    <a:lstStyle/>
                    <a:p>
                      <a:pPr algn="ctr"/>
                      <a:r>
                        <a:rPr lang="en-US" sz="3200" dirty="0" smtClean="0"/>
                        <a:t>5</a:t>
                      </a:r>
                      <a:endParaRPr lang="en-IN" sz="3200" dirty="0"/>
                    </a:p>
                  </a:txBody>
                  <a:tcPr marL="68580" marR="68580"/>
                </a:tc>
                <a:tc>
                  <a:txBody>
                    <a:bodyPr/>
                    <a:lstStyle/>
                    <a:p>
                      <a:pPr algn="ctr"/>
                      <a:r>
                        <a:rPr lang="en-US" sz="3200" dirty="0" smtClean="0"/>
                        <a:t>6</a:t>
                      </a:r>
                      <a:endParaRPr lang="en-IN" sz="3200" dirty="0"/>
                    </a:p>
                  </a:txBody>
                  <a:tcPr marL="68580" marR="68580"/>
                </a:tc>
                <a:tc>
                  <a:txBody>
                    <a:bodyPr/>
                    <a:lstStyle/>
                    <a:p>
                      <a:pPr algn="ctr"/>
                      <a:r>
                        <a:rPr lang="en-US" sz="3200" dirty="0" smtClean="0"/>
                        <a:t>7</a:t>
                      </a:r>
                      <a:endParaRPr lang="en-IN" sz="3200" dirty="0"/>
                    </a:p>
                  </a:txBody>
                  <a:tcPr marL="68580" marR="68580"/>
                </a:tc>
                <a:extLst>
                  <a:ext uri="{0D108BD9-81ED-4DB2-BD59-A6C34878D82A}">
                    <a16:rowId xmlns:a16="http://schemas.microsoft.com/office/drawing/2014/main" xmlns="" val="4111567684"/>
                  </a:ext>
                </a:extLst>
              </a:tr>
              <a:tr h="1091671">
                <a:tc>
                  <a:txBody>
                    <a:bodyPr/>
                    <a:lstStyle/>
                    <a:p>
                      <a:r>
                        <a:rPr lang="en-US" sz="3200" dirty="0" smtClean="0"/>
                        <a:t>PROFIT</a:t>
                      </a:r>
                      <a:endParaRPr lang="en-IN" sz="3200" dirty="0"/>
                    </a:p>
                  </a:txBody>
                  <a:tcPr marL="68580" marR="68580"/>
                </a:tc>
                <a:tc>
                  <a:txBody>
                    <a:bodyPr/>
                    <a:lstStyle/>
                    <a:p>
                      <a:pPr algn="ctr"/>
                      <a:r>
                        <a:rPr lang="en-US" sz="3200" dirty="0" smtClean="0"/>
                        <a:t>6</a:t>
                      </a:r>
                      <a:endParaRPr lang="en-IN" sz="3200" dirty="0"/>
                    </a:p>
                  </a:txBody>
                  <a:tcPr marL="68580" marR="68580"/>
                </a:tc>
                <a:tc>
                  <a:txBody>
                    <a:bodyPr/>
                    <a:lstStyle/>
                    <a:p>
                      <a:pPr algn="ctr"/>
                      <a:r>
                        <a:rPr lang="en-US" sz="3200" dirty="0" smtClean="0"/>
                        <a:t>10</a:t>
                      </a:r>
                      <a:endParaRPr lang="en-IN" sz="3200" dirty="0"/>
                    </a:p>
                  </a:txBody>
                  <a:tcPr marL="68580" marR="68580"/>
                </a:tc>
                <a:tc>
                  <a:txBody>
                    <a:bodyPr/>
                    <a:lstStyle/>
                    <a:p>
                      <a:pPr algn="ctr"/>
                      <a:r>
                        <a:rPr lang="en-US" sz="3200" dirty="0" smtClean="0"/>
                        <a:t>18</a:t>
                      </a:r>
                      <a:endParaRPr lang="en-IN" sz="3200" dirty="0"/>
                    </a:p>
                  </a:txBody>
                  <a:tcPr marL="68580" marR="68580"/>
                </a:tc>
                <a:tc>
                  <a:txBody>
                    <a:bodyPr/>
                    <a:lstStyle/>
                    <a:p>
                      <a:pPr algn="ctr"/>
                      <a:r>
                        <a:rPr lang="en-US" sz="3200" dirty="0" smtClean="0"/>
                        <a:t>15</a:t>
                      </a:r>
                      <a:endParaRPr lang="en-IN" sz="3200" dirty="0"/>
                    </a:p>
                  </a:txBody>
                  <a:tcPr marL="68580" marR="68580"/>
                </a:tc>
                <a:tc>
                  <a:txBody>
                    <a:bodyPr/>
                    <a:lstStyle/>
                    <a:p>
                      <a:pPr algn="ctr"/>
                      <a:r>
                        <a:rPr lang="en-US" sz="3200" dirty="0" smtClean="0"/>
                        <a:t>3</a:t>
                      </a:r>
                      <a:endParaRPr lang="en-IN" sz="3200" dirty="0"/>
                    </a:p>
                  </a:txBody>
                  <a:tcPr marL="68580" marR="68580"/>
                </a:tc>
                <a:tc>
                  <a:txBody>
                    <a:bodyPr/>
                    <a:lstStyle/>
                    <a:p>
                      <a:pPr algn="ctr"/>
                      <a:r>
                        <a:rPr lang="en-US" sz="3200" dirty="0" smtClean="0"/>
                        <a:t>5</a:t>
                      </a:r>
                      <a:endParaRPr lang="en-IN" sz="3200" dirty="0"/>
                    </a:p>
                  </a:txBody>
                  <a:tcPr marL="68580" marR="68580"/>
                </a:tc>
                <a:tc>
                  <a:txBody>
                    <a:bodyPr/>
                    <a:lstStyle/>
                    <a:p>
                      <a:pPr algn="ctr"/>
                      <a:r>
                        <a:rPr lang="en-US" sz="3200" dirty="0" smtClean="0"/>
                        <a:t>7</a:t>
                      </a:r>
                      <a:endParaRPr lang="en-IN" sz="3200" dirty="0"/>
                    </a:p>
                  </a:txBody>
                  <a:tcPr marL="68580" marR="68580"/>
                </a:tc>
                <a:extLst>
                  <a:ext uri="{0D108BD9-81ED-4DB2-BD59-A6C34878D82A}">
                    <a16:rowId xmlns:a16="http://schemas.microsoft.com/office/drawing/2014/main" xmlns="" val="895545565"/>
                  </a:ext>
                </a:extLst>
              </a:tr>
              <a:tr h="1091671">
                <a:tc>
                  <a:txBody>
                    <a:bodyPr/>
                    <a:lstStyle/>
                    <a:p>
                      <a:r>
                        <a:rPr lang="en-US" sz="3200" dirty="0" smtClean="0"/>
                        <a:t>WEIGHT</a:t>
                      </a:r>
                      <a:endParaRPr lang="en-IN" sz="3200" dirty="0"/>
                    </a:p>
                  </a:txBody>
                  <a:tcPr marL="68580" marR="68580"/>
                </a:tc>
                <a:tc>
                  <a:txBody>
                    <a:bodyPr/>
                    <a:lstStyle/>
                    <a:p>
                      <a:pPr algn="ctr"/>
                      <a:r>
                        <a:rPr lang="en-US" sz="3200" dirty="0" smtClean="0"/>
                        <a:t>1</a:t>
                      </a:r>
                      <a:endParaRPr lang="en-IN" sz="3200" dirty="0"/>
                    </a:p>
                  </a:txBody>
                  <a:tcPr marL="68580" marR="68580"/>
                </a:tc>
                <a:tc>
                  <a:txBody>
                    <a:bodyPr/>
                    <a:lstStyle/>
                    <a:p>
                      <a:pPr algn="ctr"/>
                      <a:r>
                        <a:rPr lang="en-US" sz="3200" dirty="0" smtClean="0"/>
                        <a:t>2</a:t>
                      </a:r>
                      <a:endParaRPr lang="en-IN" sz="3200" dirty="0"/>
                    </a:p>
                  </a:txBody>
                  <a:tcPr marL="68580" marR="68580"/>
                </a:tc>
                <a:tc>
                  <a:txBody>
                    <a:bodyPr/>
                    <a:lstStyle/>
                    <a:p>
                      <a:pPr algn="ctr"/>
                      <a:r>
                        <a:rPr lang="en-US" sz="3200" dirty="0" smtClean="0"/>
                        <a:t>4</a:t>
                      </a:r>
                      <a:endParaRPr lang="en-IN" sz="3200" dirty="0"/>
                    </a:p>
                  </a:txBody>
                  <a:tcPr marL="68580" marR="68580"/>
                </a:tc>
                <a:tc>
                  <a:txBody>
                    <a:bodyPr/>
                    <a:lstStyle/>
                    <a:p>
                      <a:pPr algn="ctr"/>
                      <a:r>
                        <a:rPr lang="en-US" sz="3200" dirty="0" smtClean="0"/>
                        <a:t>5</a:t>
                      </a:r>
                      <a:endParaRPr lang="en-IN" sz="3200" dirty="0"/>
                    </a:p>
                  </a:txBody>
                  <a:tcPr marL="68580" marR="68580"/>
                </a:tc>
                <a:tc>
                  <a:txBody>
                    <a:bodyPr/>
                    <a:lstStyle/>
                    <a:p>
                      <a:pPr algn="ctr"/>
                      <a:r>
                        <a:rPr lang="en-US" sz="3200" dirty="0" smtClean="0"/>
                        <a:t>1</a:t>
                      </a:r>
                      <a:endParaRPr lang="en-IN" sz="3200" dirty="0"/>
                    </a:p>
                  </a:txBody>
                  <a:tcPr marL="68580" marR="68580"/>
                </a:tc>
                <a:tc>
                  <a:txBody>
                    <a:bodyPr/>
                    <a:lstStyle/>
                    <a:p>
                      <a:pPr algn="ctr"/>
                      <a:r>
                        <a:rPr lang="en-US" sz="3200" dirty="0" smtClean="0"/>
                        <a:t>3</a:t>
                      </a:r>
                      <a:endParaRPr lang="en-IN" sz="3200" dirty="0"/>
                    </a:p>
                  </a:txBody>
                  <a:tcPr marL="68580" marR="68580"/>
                </a:tc>
                <a:tc>
                  <a:txBody>
                    <a:bodyPr/>
                    <a:lstStyle/>
                    <a:p>
                      <a:pPr algn="ctr"/>
                      <a:r>
                        <a:rPr lang="en-US" sz="3200" dirty="0" smtClean="0"/>
                        <a:t>7</a:t>
                      </a:r>
                      <a:endParaRPr lang="en-IN" sz="3200" dirty="0"/>
                    </a:p>
                  </a:txBody>
                  <a:tcPr marL="68580" marR="68580"/>
                </a:tc>
                <a:extLst>
                  <a:ext uri="{0D108BD9-81ED-4DB2-BD59-A6C34878D82A}">
                    <a16:rowId xmlns:a16="http://schemas.microsoft.com/office/drawing/2014/main" xmlns="" val="57051456"/>
                  </a:ext>
                </a:extLst>
              </a:tr>
              <a:tr h="776633">
                <a:tc>
                  <a:txBody>
                    <a:bodyPr/>
                    <a:lstStyle/>
                    <a:p>
                      <a:r>
                        <a:rPr lang="en-US" sz="3200" dirty="0" smtClean="0">
                          <a:solidFill>
                            <a:srgbClr val="00B050"/>
                          </a:solidFill>
                        </a:rPr>
                        <a:t>COST(p/w)</a:t>
                      </a:r>
                      <a:endParaRPr lang="en-IN" sz="3200" dirty="0">
                        <a:solidFill>
                          <a:srgbClr val="00B050"/>
                        </a:solidFill>
                      </a:endParaRPr>
                    </a:p>
                  </a:txBody>
                  <a:tcPr marL="68580" marR="68580"/>
                </a:tc>
                <a:tc>
                  <a:txBody>
                    <a:bodyPr/>
                    <a:lstStyle/>
                    <a:p>
                      <a:pPr algn="ctr"/>
                      <a:r>
                        <a:rPr lang="en-US" sz="3200" dirty="0" smtClean="0">
                          <a:solidFill>
                            <a:srgbClr val="00B050"/>
                          </a:solidFill>
                        </a:rPr>
                        <a:t>6</a:t>
                      </a:r>
                      <a:endParaRPr lang="en-IN" sz="3200" dirty="0">
                        <a:solidFill>
                          <a:srgbClr val="00B050"/>
                        </a:solidFill>
                      </a:endParaRPr>
                    </a:p>
                  </a:txBody>
                  <a:tcPr marL="68580" marR="68580"/>
                </a:tc>
                <a:tc>
                  <a:txBody>
                    <a:bodyPr/>
                    <a:lstStyle/>
                    <a:p>
                      <a:pPr algn="ctr"/>
                      <a:r>
                        <a:rPr lang="en-US" sz="3200" dirty="0" smtClean="0">
                          <a:solidFill>
                            <a:srgbClr val="00B050"/>
                          </a:solidFill>
                        </a:rPr>
                        <a:t>5</a:t>
                      </a:r>
                      <a:endParaRPr lang="en-IN" sz="3200" dirty="0">
                        <a:solidFill>
                          <a:srgbClr val="00B050"/>
                        </a:solidFill>
                      </a:endParaRPr>
                    </a:p>
                  </a:txBody>
                  <a:tcPr marL="68580" marR="68580"/>
                </a:tc>
                <a:tc>
                  <a:txBody>
                    <a:bodyPr/>
                    <a:lstStyle/>
                    <a:p>
                      <a:pPr algn="ctr"/>
                      <a:r>
                        <a:rPr lang="en-US" sz="3200" dirty="0" smtClean="0">
                          <a:solidFill>
                            <a:srgbClr val="00B050"/>
                          </a:solidFill>
                        </a:rPr>
                        <a:t>4.5</a:t>
                      </a:r>
                      <a:endParaRPr lang="en-IN" sz="3200" dirty="0">
                        <a:solidFill>
                          <a:srgbClr val="00B050"/>
                        </a:solidFill>
                      </a:endParaRPr>
                    </a:p>
                  </a:txBody>
                  <a:tcPr marL="68580" marR="68580"/>
                </a:tc>
                <a:tc>
                  <a:txBody>
                    <a:bodyPr/>
                    <a:lstStyle/>
                    <a:p>
                      <a:pPr algn="ctr"/>
                      <a:r>
                        <a:rPr lang="en-US" sz="3200" dirty="0" smtClean="0">
                          <a:solidFill>
                            <a:srgbClr val="00B050"/>
                          </a:solidFill>
                        </a:rPr>
                        <a:t>3</a:t>
                      </a:r>
                      <a:endParaRPr lang="en-IN" sz="3200" dirty="0">
                        <a:solidFill>
                          <a:srgbClr val="00B050"/>
                        </a:solidFill>
                      </a:endParaRPr>
                    </a:p>
                  </a:txBody>
                  <a:tcPr marL="68580" marR="68580"/>
                </a:tc>
                <a:tc>
                  <a:txBody>
                    <a:bodyPr/>
                    <a:lstStyle/>
                    <a:p>
                      <a:pPr algn="ctr"/>
                      <a:r>
                        <a:rPr lang="en-US" sz="3200" dirty="0" smtClean="0">
                          <a:solidFill>
                            <a:srgbClr val="00B050"/>
                          </a:solidFill>
                        </a:rPr>
                        <a:t>3</a:t>
                      </a:r>
                      <a:endParaRPr lang="en-IN" sz="3200" dirty="0">
                        <a:solidFill>
                          <a:srgbClr val="00B050"/>
                        </a:solidFill>
                      </a:endParaRPr>
                    </a:p>
                  </a:txBody>
                  <a:tcPr marL="68580" marR="68580"/>
                </a:tc>
                <a:tc>
                  <a:txBody>
                    <a:bodyPr/>
                    <a:lstStyle/>
                    <a:p>
                      <a:pPr algn="ctr"/>
                      <a:r>
                        <a:rPr lang="en-US" sz="3200" dirty="0" smtClean="0">
                          <a:solidFill>
                            <a:srgbClr val="00B050"/>
                          </a:solidFill>
                        </a:rPr>
                        <a:t>1.6</a:t>
                      </a:r>
                      <a:endParaRPr lang="en-IN" sz="3200" dirty="0">
                        <a:solidFill>
                          <a:srgbClr val="00B050"/>
                        </a:solidFill>
                      </a:endParaRPr>
                    </a:p>
                  </a:txBody>
                  <a:tcPr marL="68580" marR="68580"/>
                </a:tc>
                <a:tc>
                  <a:txBody>
                    <a:bodyPr/>
                    <a:lstStyle/>
                    <a:p>
                      <a:pPr algn="ctr"/>
                      <a:r>
                        <a:rPr lang="en-US" sz="3200" dirty="0" smtClean="0">
                          <a:solidFill>
                            <a:srgbClr val="00B050"/>
                          </a:solidFill>
                        </a:rPr>
                        <a:t>1</a:t>
                      </a:r>
                      <a:endParaRPr lang="en-IN" sz="3200" dirty="0">
                        <a:solidFill>
                          <a:srgbClr val="00B050"/>
                        </a:solidFill>
                      </a:endParaRPr>
                    </a:p>
                  </a:txBody>
                  <a:tcPr marL="68580" marR="68580"/>
                </a:tc>
                <a:extLst>
                  <a:ext uri="{0D108BD9-81ED-4DB2-BD59-A6C34878D82A}">
                    <a16:rowId xmlns:a16="http://schemas.microsoft.com/office/drawing/2014/main" xmlns="" val="3747321464"/>
                  </a:ext>
                </a:extLst>
              </a:tr>
            </a:tbl>
          </a:graphicData>
        </a:graphic>
      </p:graphicFrame>
      <p:sp>
        <p:nvSpPr>
          <p:cNvPr id="5" name="TextBox 4"/>
          <p:cNvSpPr txBox="1"/>
          <p:nvPr/>
        </p:nvSpPr>
        <p:spPr>
          <a:xfrm flipH="1">
            <a:off x="3135835" y="1204160"/>
            <a:ext cx="3648024" cy="646331"/>
          </a:xfrm>
          <a:prstGeom prst="rect">
            <a:avLst/>
          </a:prstGeom>
          <a:noFill/>
        </p:spPr>
        <p:txBody>
          <a:bodyPr wrap="square" rtlCol="0">
            <a:spAutoFit/>
          </a:bodyPr>
          <a:lstStyle/>
          <a:p>
            <a:r>
              <a:rPr lang="en-US" sz="3600" dirty="0" smtClean="0"/>
              <a:t>M= 15             N=7</a:t>
            </a:r>
            <a:endParaRPr lang="en-IN" sz="3600" dirty="0"/>
          </a:p>
        </p:txBody>
      </p:sp>
    </p:spTree>
    <p:extLst>
      <p:ext uri="{BB962C8B-B14F-4D97-AF65-F5344CB8AC3E}">
        <p14:creationId xmlns:p14="http://schemas.microsoft.com/office/powerpoint/2010/main" val="221145722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2852936"/>
            <a:ext cx="8229600" cy="1143000"/>
          </a:xfrm>
        </p:spPr>
        <p:txBody>
          <a:bodyPr/>
          <a:lstStyle/>
          <a:p>
            <a:r>
              <a:rPr lang="en-US" b="1" dirty="0" smtClean="0">
                <a:solidFill>
                  <a:srgbClr val="FF0000"/>
                </a:solidFill>
              </a:rPr>
              <a:t>Huffman code</a:t>
            </a:r>
            <a:endParaRPr lang="en-IN" b="1" dirty="0">
              <a:solidFill>
                <a:srgbClr val="FF0000"/>
              </a:solidFill>
            </a:endParaRPr>
          </a:p>
        </p:txBody>
      </p:sp>
    </p:spTree>
    <p:extLst>
      <p:ext uri="{BB962C8B-B14F-4D97-AF65-F5344CB8AC3E}">
        <p14:creationId xmlns:p14="http://schemas.microsoft.com/office/powerpoint/2010/main" val="366890464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Huffman code</a:t>
            </a:r>
            <a:endParaRPr lang="en-IN" b="1" dirty="0">
              <a:solidFill>
                <a:srgbClr val="FF0000"/>
              </a:solidFill>
            </a:endParaRPr>
          </a:p>
        </p:txBody>
      </p:sp>
      <p:sp>
        <p:nvSpPr>
          <p:cNvPr id="3" name="Content Placeholder 2"/>
          <p:cNvSpPr>
            <a:spLocks noGrp="1"/>
          </p:cNvSpPr>
          <p:nvPr>
            <p:ph idx="1"/>
          </p:nvPr>
        </p:nvSpPr>
        <p:spPr>
          <a:xfrm>
            <a:off x="457200" y="1124744"/>
            <a:ext cx="8229600" cy="5616624"/>
          </a:xfrm>
        </p:spPr>
        <p:txBody>
          <a:bodyPr>
            <a:normAutofit fontScale="85000" lnSpcReduction="20000"/>
          </a:bodyPr>
          <a:lstStyle/>
          <a:p>
            <a:pPr algn="just" fontAlgn="base"/>
            <a:r>
              <a:rPr lang="en-US" dirty="0"/>
              <a:t>Huffman coding is a </a:t>
            </a:r>
            <a:r>
              <a:rPr lang="en-US" dirty="0">
                <a:solidFill>
                  <a:srgbClr val="FF0000"/>
                </a:solidFill>
              </a:rPr>
              <a:t>lossless data compression algorithm</a:t>
            </a:r>
            <a:r>
              <a:rPr lang="en-US" dirty="0" smtClean="0">
                <a:solidFill>
                  <a:srgbClr val="FF0000"/>
                </a:solidFill>
              </a:rPr>
              <a:t>.</a:t>
            </a:r>
          </a:p>
          <a:p>
            <a:pPr algn="just" fontAlgn="base"/>
            <a:r>
              <a:rPr lang="en-US" dirty="0" smtClean="0"/>
              <a:t> </a:t>
            </a:r>
            <a:r>
              <a:rPr lang="en-US" dirty="0"/>
              <a:t>The idea is to assign </a:t>
            </a:r>
            <a:r>
              <a:rPr lang="en-US" dirty="0">
                <a:solidFill>
                  <a:srgbClr val="FF0000"/>
                </a:solidFill>
              </a:rPr>
              <a:t>variable-length codes </a:t>
            </a:r>
            <a:r>
              <a:rPr lang="en-US" dirty="0"/>
              <a:t>to input characters, lengths of the assigned codes are based on the frequencies of corresponding characters. </a:t>
            </a:r>
            <a:endParaRPr lang="en-US" dirty="0" smtClean="0"/>
          </a:p>
          <a:p>
            <a:pPr algn="just" fontAlgn="base"/>
            <a:r>
              <a:rPr lang="en-US" dirty="0" smtClean="0"/>
              <a:t>The </a:t>
            </a:r>
            <a:r>
              <a:rPr lang="en-US" dirty="0">
                <a:solidFill>
                  <a:srgbClr val="FF0000"/>
                </a:solidFill>
              </a:rPr>
              <a:t>most frequent character gets the smallest code </a:t>
            </a:r>
            <a:r>
              <a:rPr lang="en-US" dirty="0"/>
              <a:t>and the least frequent character gets the largest code</a:t>
            </a:r>
            <a:r>
              <a:rPr lang="en-US" dirty="0" smtClean="0"/>
              <a:t>.</a:t>
            </a:r>
          </a:p>
          <a:p>
            <a:pPr algn="just" fontAlgn="base"/>
            <a:r>
              <a:rPr lang="en-US" dirty="0" smtClean="0"/>
              <a:t>The </a:t>
            </a:r>
            <a:r>
              <a:rPr lang="en-US" dirty="0"/>
              <a:t>variable-length codes assigned to input characters are </a:t>
            </a:r>
            <a:r>
              <a:rPr lang="en-US" u="sng" dirty="0">
                <a:solidFill>
                  <a:srgbClr val="FF0000"/>
                </a:solidFill>
                <a:hlinkClick r:id="rId2"/>
              </a:rPr>
              <a:t>Prefix Codes</a:t>
            </a:r>
            <a:r>
              <a:rPr lang="en-US" dirty="0"/>
              <a:t>, means the codes (bit sequences) are assigned in such a way that the code assigned to one character is not the prefix of code assigned to any other character. </a:t>
            </a:r>
            <a:endParaRPr lang="en-US" dirty="0" smtClean="0"/>
          </a:p>
          <a:p>
            <a:pPr algn="just" fontAlgn="base"/>
            <a:r>
              <a:rPr lang="en-US" dirty="0" smtClean="0"/>
              <a:t>This </a:t>
            </a:r>
            <a:r>
              <a:rPr lang="en-US" dirty="0"/>
              <a:t>is how Huffman Coding makes sure that there is no ambiguity when decoding the generated </a:t>
            </a:r>
            <a:r>
              <a:rPr lang="en-US" dirty="0" err="1"/>
              <a:t>bitstream</a:t>
            </a:r>
            <a:r>
              <a:rPr lang="en-US" dirty="0"/>
              <a:t>. </a:t>
            </a:r>
            <a:br>
              <a:rPr lang="en-US" dirty="0"/>
            </a:br>
            <a:endParaRPr lang="en-IN" dirty="0"/>
          </a:p>
        </p:txBody>
      </p:sp>
    </p:spTree>
    <p:extLst>
      <p:ext uri="{BB962C8B-B14F-4D97-AF65-F5344CB8AC3E}">
        <p14:creationId xmlns:p14="http://schemas.microsoft.com/office/powerpoint/2010/main" val="237978288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692696"/>
            <a:ext cx="8229600" cy="5688632"/>
          </a:xfrm>
        </p:spPr>
        <p:txBody>
          <a:bodyPr>
            <a:normAutofit/>
          </a:bodyPr>
          <a:lstStyle/>
          <a:p>
            <a:pPr algn="just" fontAlgn="base"/>
            <a:r>
              <a:rPr lang="en-US" sz="2600" dirty="0"/>
              <a:t>Let us understand prefix codes with a counter example</a:t>
            </a:r>
            <a:r>
              <a:rPr lang="en-US" sz="2600" dirty="0" smtClean="0"/>
              <a:t>.</a:t>
            </a:r>
          </a:p>
          <a:p>
            <a:pPr algn="just" fontAlgn="base"/>
            <a:r>
              <a:rPr lang="en-US" sz="2600" dirty="0" smtClean="0"/>
              <a:t> </a:t>
            </a:r>
            <a:r>
              <a:rPr lang="en-US" sz="2600" dirty="0"/>
              <a:t>Let there be four characters a, b, c and d, and their corresponding variable length codes be 00, 01, 0 and 1</a:t>
            </a:r>
            <a:r>
              <a:rPr lang="en-US" sz="2600" dirty="0" smtClean="0"/>
              <a:t>.</a:t>
            </a:r>
          </a:p>
          <a:p>
            <a:pPr algn="just" fontAlgn="base"/>
            <a:r>
              <a:rPr lang="en-US" sz="2600" dirty="0" smtClean="0"/>
              <a:t> </a:t>
            </a:r>
            <a:r>
              <a:rPr lang="en-US" sz="2600" dirty="0"/>
              <a:t>This coding leads to ambiguity because code assigned to c is the prefix of codes assigned to a and b. </a:t>
            </a:r>
            <a:endParaRPr lang="en-US" sz="2600" dirty="0" smtClean="0"/>
          </a:p>
          <a:p>
            <a:pPr algn="just" fontAlgn="base"/>
            <a:r>
              <a:rPr lang="en-US" sz="2600" dirty="0" smtClean="0"/>
              <a:t>If </a:t>
            </a:r>
            <a:r>
              <a:rPr lang="en-US" sz="2600" dirty="0"/>
              <a:t>the compressed bit stream is 0001, the de-compressed output may be “</a:t>
            </a:r>
            <a:r>
              <a:rPr lang="en-US" sz="2600" dirty="0" err="1"/>
              <a:t>cccd</a:t>
            </a:r>
            <a:r>
              <a:rPr lang="en-US" sz="2600" dirty="0"/>
              <a:t>” or “</a:t>
            </a:r>
            <a:r>
              <a:rPr lang="en-US" sz="2600" dirty="0" err="1"/>
              <a:t>ccb</a:t>
            </a:r>
            <a:r>
              <a:rPr lang="en-US" sz="2600" dirty="0"/>
              <a:t>” or “</a:t>
            </a:r>
            <a:r>
              <a:rPr lang="en-US" sz="2600" dirty="0" err="1"/>
              <a:t>acd</a:t>
            </a:r>
            <a:r>
              <a:rPr lang="en-US" sz="2600" dirty="0"/>
              <a:t>” or “ab</a:t>
            </a:r>
            <a:r>
              <a:rPr lang="en-US" sz="2600" dirty="0" smtClean="0"/>
              <a:t>”.</a:t>
            </a:r>
          </a:p>
          <a:p>
            <a:pPr algn="just" fontAlgn="base"/>
            <a:r>
              <a:rPr lang="en-US" sz="2600" dirty="0" smtClean="0"/>
              <a:t>There </a:t>
            </a:r>
            <a:r>
              <a:rPr lang="en-US" sz="2600" dirty="0"/>
              <a:t>are mainly two major parts in Huffman Coding</a:t>
            </a:r>
          </a:p>
          <a:p>
            <a:pPr lvl="1" algn="just" fontAlgn="base"/>
            <a:r>
              <a:rPr lang="en-US" sz="2600" dirty="0"/>
              <a:t>Build a Huffman Tree from input characters.</a:t>
            </a:r>
          </a:p>
          <a:p>
            <a:pPr lvl="1" algn="just" fontAlgn="base"/>
            <a:r>
              <a:rPr lang="en-US" sz="2600" dirty="0"/>
              <a:t>Traverse the Huffman Tree and assign codes to characters.</a:t>
            </a:r>
          </a:p>
          <a:p>
            <a:pPr marL="0" indent="0" algn="just">
              <a:buNone/>
            </a:pPr>
            <a:endParaRPr lang="en-IN" sz="2600" dirty="0"/>
          </a:p>
        </p:txBody>
      </p:sp>
    </p:spTree>
    <p:extLst>
      <p:ext uri="{BB962C8B-B14F-4D97-AF65-F5344CB8AC3E}">
        <p14:creationId xmlns:p14="http://schemas.microsoft.com/office/powerpoint/2010/main" val="364690032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0648"/>
            <a:ext cx="8229600" cy="5904656"/>
          </a:xfrm>
        </p:spPr>
        <p:txBody>
          <a:bodyPr>
            <a:normAutofit fontScale="70000" lnSpcReduction="20000"/>
          </a:bodyPr>
          <a:lstStyle/>
          <a:p>
            <a:pPr marL="0" indent="0" fontAlgn="base">
              <a:buNone/>
            </a:pPr>
            <a:r>
              <a:rPr lang="en-US" b="1" i="1" dirty="0"/>
              <a:t>Steps to build Huffman </a:t>
            </a:r>
            <a:r>
              <a:rPr lang="en-US" b="1" i="1" dirty="0" smtClean="0"/>
              <a:t>Tree</a:t>
            </a:r>
          </a:p>
          <a:p>
            <a:pPr marL="0" indent="0" fontAlgn="base">
              <a:buNone/>
            </a:pPr>
            <a:endParaRPr lang="en-US" b="1" i="1" dirty="0" smtClean="0"/>
          </a:p>
          <a:p>
            <a:pPr fontAlgn="base"/>
            <a:r>
              <a:rPr lang="en-US" dirty="0" smtClean="0"/>
              <a:t>Input </a:t>
            </a:r>
            <a:r>
              <a:rPr lang="en-US" dirty="0"/>
              <a:t>is an array of unique characters along with their frequency of occurrences and output is Huffman Tree. </a:t>
            </a:r>
          </a:p>
          <a:p>
            <a:pPr fontAlgn="base"/>
            <a:endParaRPr lang="en-US" dirty="0" smtClean="0"/>
          </a:p>
          <a:p>
            <a:pPr fontAlgn="base"/>
            <a:r>
              <a:rPr lang="en-US" dirty="0" smtClean="0"/>
              <a:t>Create </a:t>
            </a:r>
            <a:r>
              <a:rPr lang="en-US" dirty="0"/>
              <a:t>a leaf node for each unique character and build a min heap of all leaf nodes (Min Heap is used as a priority queue. The value of frequency field is used to compare two nodes in min heap. Initially, the least frequent character is at root)</a:t>
            </a:r>
          </a:p>
          <a:p>
            <a:pPr fontAlgn="base"/>
            <a:endParaRPr lang="en-US" dirty="0" smtClean="0"/>
          </a:p>
          <a:p>
            <a:pPr fontAlgn="base"/>
            <a:r>
              <a:rPr lang="en-US" dirty="0" smtClean="0"/>
              <a:t>Extract </a:t>
            </a:r>
            <a:r>
              <a:rPr lang="en-US" dirty="0"/>
              <a:t>two nodes with the minimum frequency from the min heap.</a:t>
            </a:r>
            <a:br>
              <a:rPr lang="en-US" dirty="0"/>
            </a:br>
            <a:r>
              <a:rPr lang="en-US" dirty="0"/>
              <a:t> </a:t>
            </a:r>
          </a:p>
          <a:p>
            <a:pPr fontAlgn="base"/>
            <a:r>
              <a:rPr lang="en-US" dirty="0"/>
              <a:t>Create a new internal node with a frequency equal to the sum of the two nodes frequencies. Make the first extracted node as its left child and the other extracted node as its right child. Add this node to the min heap</a:t>
            </a:r>
            <a:r>
              <a:rPr lang="en-US" dirty="0" smtClean="0"/>
              <a:t>.</a:t>
            </a:r>
          </a:p>
          <a:p>
            <a:pPr fontAlgn="base"/>
            <a:endParaRPr lang="en-US" dirty="0"/>
          </a:p>
          <a:p>
            <a:pPr fontAlgn="base"/>
            <a:r>
              <a:rPr lang="en-US" dirty="0"/>
              <a:t>Repeat steps#2 and #3 until the heap contains only one node. The remaining node is the root node and the tree is complete</a:t>
            </a:r>
            <a:r>
              <a:rPr lang="en-US" dirty="0" smtClean="0"/>
              <a:t>.</a:t>
            </a:r>
            <a:endParaRPr lang="en-IN" dirty="0"/>
          </a:p>
        </p:txBody>
      </p:sp>
    </p:spTree>
    <p:extLst>
      <p:ext uri="{BB962C8B-B14F-4D97-AF65-F5344CB8AC3E}">
        <p14:creationId xmlns:p14="http://schemas.microsoft.com/office/powerpoint/2010/main" val="203975194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0648"/>
            <a:ext cx="8229600" cy="5865515"/>
          </a:xfrm>
        </p:spPr>
        <p:txBody>
          <a:bodyPr>
            <a:normAutofit fontScale="85000" lnSpcReduction="10000"/>
          </a:bodyPr>
          <a:lstStyle/>
          <a:p>
            <a:pPr marL="0" indent="0">
              <a:buNone/>
            </a:pPr>
            <a:r>
              <a:rPr lang="en-US" dirty="0"/>
              <a:t>Let us understand the algorithm with an example</a:t>
            </a:r>
            <a:r>
              <a:rPr lang="en-US" dirty="0" smtClean="0"/>
              <a:t>:</a:t>
            </a:r>
          </a:p>
          <a:p>
            <a:pPr marL="0" indent="0">
              <a:buNone/>
            </a:pPr>
            <a:r>
              <a:rPr lang="en-US" dirty="0" smtClean="0">
                <a:solidFill>
                  <a:srgbClr val="FF0000"/>
                </a:solidFill>
              </a:rPr>
              <a:t>    character 	     Frequency </a:t>
            </a:r>
          </a:p>
          <a:p>
            <a:pPr marL="0" indent="0">
              <a:buNone/>
            </a:pPr>
            <a:r>
              <a:rPr lang="en-US" dirty="0" smtClean="0"/>
              <a:t>	a 		5 </a:t>
            </a:r>
          </a:p>
          <a:p>
            <a:pPr marL="0" indent="0">
              <a:buNone/>
            </a:pPr>
            <a:r>
              <a:rPr lang="en-US" dirty="0" smtClean="0"/>
              <a:t>	b 		9 </a:t>
            </a:r>
          </a:p>
          <a:p>
            <a:pPr marL="0" indent="0">
              <a:buNone/>
            </a:pPr>
            <a:r>
              <a:rPr lang="en-US" dirty="0" smtClean="0"/>
              <a:t>	c 		12 </a:t>
            </a:r>
          </a:p>
          <a:p>
            <a:pPr marL="0" indent="0">
              <a:buNone/>
            </a:pPr>
            <a:r>
              <a:rPr lang="en-US" dirty="0" smtClean="0"/>
              <a:t>	d 		13 </a:t>
            </a:r>
          </a:p>
          <a:p>
            <a:pPr marL="0" indent="0">
              <a:buNone/>
            </a:pPr>
            <a:r>
              <a:rPr lang="en-US" dirty="0" smtClean="0"/>
              <a:t>	e 		16 </a:t>
            </a:r>
          </a:p>
          <a:p>
            <a:pPr marL="0" indent="0">
              <a:buNone/>
            </a:pPr>
            <a:r>
              <a:rPr lang="en-US" dirty="0" smtClean="0"/>
              <a:t>	f 		45</a:t>
            </a:r>
          </a:p>
          <a:p>
            <a:r>
              <a:rPr lang="en-US" b="1" dirty="0" smtClean="0"/>
              <a:t>Step </a:t>
            </a:r>
            <a:r>
              <a:rPr lang="en-US" b="1" dirty="0"/>
              <a:t>1.</a:t>
            </a:r>
            <a:r>
              <a:rPr lang="en-US" dirty="0"/>
              <a:t> Build a min heap that contains 6 nodes where each node represents root of a tree with single node.</a:t>
            </a:r>
            <a:br>
              <a:rPr lang="en-US" dirty="0"/>
            </a:br>
            <a:r>
              <a:rPr lang="en-US" b="1" dirty="0"/>
              <a:t>Step 2</a:t>
            </a:r>
            <a:r>
              <a:rPr lang="en-US" dirty="0"/>
              <a:t> Extract two minimum frequency nodes from min heap. Add a new internal node with </a:t>
            </a:r>
            <a:r>
              <a:rPr lang="en-US" dirty="0" smtClean="0"/>
              <a:t>frequency        </a:t>
            </a:r>
            <a:r>
              <a:rPr lang="en-US" dirty="0"/>
              <a:t>5 + 9 = 14. </a:t>
            </a:r>
          </a:p>
          <a:p>
            <a:endParaRPr lang="en-IN"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1880" y="5315669"/>
            <a:ext cx="3045718" cy="15228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3725349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57200" y="260648"/>
            <a:ext cx="8229600" cy="5865515"/>
          </a:xfrm>
        </p:spPr>
        <p:txBody>
          <a:bodyPr>
            <a:normAutofit lnSpcReduction="10000"/>
          </a:bodyPr>
          <a:lstStyle/>
          <a:p>
            <a:pPr fontAlgn="base"/>
            <a:r>
              <a:rPr lang="en-US" dirty="0"/>
              <a:t>Now min heap contains 5 nodes where 4 nodes are roots of trees with single element each, and one heap node is root of tree with 3 elements</a:t>
            </a:r>
          </a:p>
          <a:p>
            <a:pPr marL="0" indent="0">
              <a:buNone/>
            </a:pPr>
            <a:r>
              <a:rPr lang="en-US" dirty="0" smtClean="0"/>
              <a:t>  </a:t>
            </a:r>
            <a:r>
              <a:rPr lang="en-US" dirty="0" smtClean="0">
                <a:solidFill>
                  <a:srgbClr val="FF0000"/>
                </a:solidFill>
              </a:rPr>
              <a:t> character           </a:t>
            </a:r>
            <a:r>
              <a:rPr lang="en-US" dirty="0">
                <a:solidFill>
                  <a:srgbClr val="FF0000"/>
                </a:solidFill>
              </a:rPr>
              <a:t>Frequency</a:t>
            </a:r>
          </a:p>
          <a:p>
            <a:pPr marL="0" indent="0">
              <a:buNone/>
            </a:pPr>
            <a:r>
              <a:rPr lang="en-US" dirty="0"/>
              <a:t>     </a:t>
            </a:r>
            <a:r>
              <a:rPr lang="en-US" dirty="0" smtClean="0"/>
              <a:t>      c	               </a:t>
            </a:r>
            <a:r>
              <a:rPr lang="en-US" dirty="0"/>
              <a:t>12</a:t>
            </a:r>
          </a:p>
          <a:p>
            <a:pPr marL="0" indent="0">
              <a:buNone/>
            </a:pPr>
            <a:r>
              <a:rPr lang="en-US" dirty="0"/>
              <a:t>      </a:t>
            </a:r>
            <a:r>
              <a:rPr lang="en-US" dirty="0" smtClean="0"/>
              <a:t>     d       	     </a:t>
            </a:r>
            <a:r>
              <a:rPr lang="en-US" dirty="0"/>
              <a:t>13</a:t>
            </a:r>
          </a:p>
          <a:p>
            <a:pPr marL="0" indent="0">
              <a:buNone/>
            </a:pPr>
            <a:r>
              <a:rPr lang="en-US" dirty="0"/>
              <a:t> Internal Node         14</a:t>
            </a:r>
          </a:p>
          <a:p>
            <a:pPr marL="0" indent="0">
              <a:buNone/>
            </a:pPr>
            <a:r>
              <a:rPr lang="en-US" dirty="0"/>
              <a:t>       </a:t>
            </a:r>
            <a:r>
              <a:rPr lang="en-US" dirty="0" smtClean="0"/>
              <a:t>    e               	     16</a:t>
            </a:r>
            <a:endParaRPr lang="en-US" dirty="0"/>
          </a:p>
          <a:p>
            <a:pPr marL="0" indent="0">
              <a:buNone/>
            </a:pPr>
            <a:r>
              <a:rPr lang="en-US" dirty="0"/>
              <a:t>       </a:t>
            </a:r>
            <a:r>
              <a:rPr lang="en-US" dirty="0" smtClean="0"/>
              <a:t>    f                       45</a:t>
            </a:r>
            <a:r>
              <a:rPr lang="en-US" dirty="0"/>
              <a:t/>
            </a:r>
            <a:br>
              <a:rPr lang="en-US" dirty="0"/>
            </a:br>
            <a:endParaRPr lang="en-IN" dirty="0"/>
          </a:p>
        </p:txBody>
      </p:sp>
    </p:spTree>
    <p:extLst>
      <p:ext uri="{BB962C8B-B14F-4D97-AF65-F5344CB8AC3E}">
        <p14:creationId xmlns:p14="http://schemas.microsoft.com/office/powerpoint/2010/main" val="166585668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332656"/>
            <a:ext cx="8208912" cy="6124754"/>
          </a:xfrm>
          <a:prstGeom prst="rect">
            <a:avLst/>
          </a:prstGeom>
        </p:spPr>
        <p:txBody>
          <a:bodyPr wrap="square">
            <a:spAutoFit/>
          </a:bodyPr>
          <a:lstStyle/>
          <a:p>
            <a:pPr algn="just"/>
            <a:r>
              <a:rPr lang="en-US" sz="2800" b="1" dirty="0"/>
              <a:t>Step 3:</a:t>
            </a:r>
            <a:r>
              <a:rPr lang="en-US" sz="2800" dirty="0"/>
              <a:t> Extract two minimum frequency nodes from heap. Add a new internal node with frequency 12 + 13 = </a:t>
            </a:r>
            <a:r>
              <a:rPr lang="en-US" sz="2800" dirty="0" smtClean="0"/>
              <a:t>25</a:t>
            </a:r>
          </a:p>
          <a:p>
            <a:pPr algn="just"/>
            <a:endParaRPr lang="en-US" sz="2800" dirty="0"/>
          </a:p>
          <a:p>
            <a:pPr fontAlgn="base"/>
            <a:endParaRPr lang="en-US" sz="2800" dirty="0" smtClean="0"/>
          </a:p>
          <a:p>
            <a:pPr fontAlgn="base"/>
            <a:endParaRPr lang="en-US" sz="2800" dirty="0" smtClean="0"/>
          </a:p>
          <a:p>
            <a:pPr fontAlgn="base"/>
            <a:r>
              <a:rPr lang="en-US" sz="2800" dirty="0" smtClean="0"/>
              <a:t>Now </a:t>
            </a:r>
            <a:r>
              <a:rPr lang="en-US" sz="2800" dirty="0"/>
              <a:t>min heap contains 4 nodes where 2 nodes are roots of trees with single element each, and two heap nodes are root of tree with more than one nodes</a:t>
            </a:r>
          </a:p>
          <a:p>
            <a:r>
              <a:rPr lang="en-US" sz="2800" dirty="0">
                <a:solidFill>
                  <a:srgbClr val="FF0000"/>
                </a:solidFill>
              </a:rPr>
              <a:t>character </a:t>
            </a:r>
            <a:r>
              <a:rPr lang="en-US" sz="2800" dirty="0" smtClean="0">
                <a:solidFill>
                  <a:srgbClr val="FF0000"/>
                </a:solidFill>
              </a:rPr>
              <a:t>		Frequency </a:t>
            </a:r>
          </a:p>
          <a:p>
            <a:r>
              <a:rPr lang="en-US" sz="2800" dirty="0" smtClean="0"/>
              <a:t>Internal </a:t>
            </a:r>
            <a:r>
              <a:rPr lang="en-US" sz="2800" dirty="0"/>
              <a:t>Node </a:t>
            </a:r>
            <a:r>
              <a:rPr lang="en-US" sz="2800" dirty="0" smtClean="0"/>
              <a:t>	     14 </a:t>
            </a:r>
          </a:p>
          <a:p>
            <a:r>
              <a:rPr lang="en-US" sz="2800" dirty="0" smtClean="0"/>
              <a:t>	e 		     16 </a:t>
            </a:r>
          </a:p>
          <a:p>
            <a:r>
              <a:rPr lang="en-US" sz="2800" dirty="0" smtClean="0"/>
              <a:t>Internal </a:t>
            </a:r>
            <a:r>
              <a:rPr lang="en-US" sz="2800" dirty="0"/>
              <a:t>Node </a:t>
            </a:r>
            <a:r>
              <a:rPr lang="en-US" sz="2800" dirty="0" smtClean="0"/>
              <a:t>	     25 </a:t>
            </a:r>
          </a:p>
          <a:p>
            <a:r>
              <a:rPr lang="en-US" sz="2800" dirty="0" smtClean="0"/>
              <a:t>	f 		     45</a:t>
            </a:r>
            <a:endParaRPr lang="en-IN" sz="32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22751" y="1137400"/>
            <a:ext cx="3117726" cy="1558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520932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536" y="188640"/>
            <a:ext cx="8424936" cy="6555641"/>
          </a:xfrm>
          <a:prstGeom prst="rect">
            <a:avLst/>
          </a:prstGeom>
        </p:spPr>
        <p:txBody>
          <a:bodyPr wrap="square">
            <a:spAutoFit/>
          </a:bodyPr>
          <a:lstStyle/>
          <a:p>
            <a:r>
              <a:rPr lang="en-US" sz="2800" b="1" dirty="0"/>
              <a:t>Step 4:</a:t>
            </a:r>
            <a:r>
              <a:rPr lang="en-US" sz="2800" dirty="0"/>
              <a:t> Extract two minimum frequency nodes. Add a new internal node with frequency 14 + 16 = </a:t>
            </a:r>
            <a:r>
              <a:rPr lang="en-US" sz="2800" dirty="0" smtClean="0"/>
              <a:t>30</a:t>
            </a:r>
          </a:p>
          <a:p>
            <a:endParaRPr lang="en-US" sz="2800" dirty="0" smtClean="0"/>
          </a:p>
          <a:p>
            <a:endParaRPr lang="en-US" sz="2800" dirty="0"/>
          </a:p>
          <a:p>
            <a:endParaRPr lang="en-US" sz="2800" dirty="0" smtClean="0"/>
          </a:p>
          <a:p>
            <a:endParaRPr lang="en-US" sz="2800" dirty="0"/>
          </a:p>
          <a:p>
            <a:endParaRPr lang="en-US" sz="2800" dirty="0" smtClean="0"/>
          </a:p>
          <a:p>
            <a:endParaRPr lang="en-US" sz="2800" dirty="0"/>
          </a:p>
          <a:p>
            <a:endParaRPr lang="en-US" sz="2800" dirty="0" smtClean="0"/>
          </a:p>
          <a:p>
            <a:pPr fontAlgn="base"/>
            <a:r>
              <a:rPr lang="en-US" sz="2800" dirty="0"/>
              <a:t>Now min heap contains 3 nodes.</a:t>
            </a:r>
          </a:p>
          <a:p>
            <a:r>
              <a:rPr lang="en-US" sz="2800" dirty="0" smtClean="0">
                <a:solidFill>
                  <a:srgbClr val="FF0000"/>
                </a:solidFill>
              </a:rPr>
              <a:t>      character         Frequency </a:t>
            </a:r>
          </a:p>
          <a:p>
            <a:r>
              <a:rPr lang="en-US" sz="2800" dirty="0" smtClean="0"/>
              <a:t>Internal </a:t>
            </a:r>
            <a:r>
              <a:rPr lang="en-US" sz="2800" dirty="0"/>
              <a:t>Node </a:t>
            </a:r>
            <a:r>
              <a:rPr lang="en-US" sz="2800" dirty="0" smtClean="0"/>
              <a:t>             25 </a:t>
            </a:r>
          </a:p>
          <a:p>
            <a:r>
              <a:rPr lang="en-US" sz="2800" dirty="0" smtClean="0"/>
              <a:t>Internal </a:t>
            </a:r>
            <a:r>
              <a:rPr lang="en-US" sz="2800" dirty="0"/>
              <a:t>Node </a:t>
            </a:r>
            <a:r>
              <a:rPr lang="en-US" sz="2800" dirty="0" smtClean="0"/>
              <a:t>             30 </a:t>
            </a:r>
          </a:p>
          <a:p>
            <a:r>
              <a:rPr lang="en-US" sz="2800" dirty="0"/>
              <a:t> </a:t>
            </a:r>
            <a:r>
              <a:rPr lang="en-US" sz="2800" dirty="0" smtClean="0"/>
              <a:t>           f 		     45 </a:t>
            </a:r>
            <a:r>
              <a:rPr lang="en-US" sz="2800" dirty="0"/>
              <a:t/>
            </a:r>
            <a:br>
              <a:rPr lang="en-US" sz="2800" dirty="0"/>
            </a:br>
            <a:endParaRPr lang="en-IN" sz="2800"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696" y="1196752"/>
            <a:ext cx="5184576" cy="259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6642652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11560" y="332656"/>
            <a:ext cx="8280920" cy="6124754"/>
          </a:xfrm>
          <a:prstGeom prst="rect">
            <a:avLst/>
          </a:prstGeom>
        </p:spPr>
        <p:txBody>
          <a:bodyPr wrap="square">
            <a:spAutoFit/>
          </a:bodyPr>
          <a:lstStyle/>
          <a:p>
            <a:r>
              <a:rPr lang="en-US" sz="2800" b="1" dirty="0"/>
              <a:t>Step 5:</a:t>
            </a:r>
            <a:r>
              <a:rPr lang="en-US" sz="2800" dirty="0"/>
              <a:t> Extract two minimum frequency nodes. Add a new internal node with frequency 25 + 30 = </a:t>
            </a:r>
            <a:r>
              <a:rPr lang="en-US" sz="2800" dirty="0" smtClean="0"/>
              <a:t>55</a:t>
            </a:r>
          </a:p>
          <a:p>
            <a:endParaRPr lang="en-US" sz="2800" dirty="0"/>
          </a:p>
          <a:p>
            <a:endParaRPr lang="en-US" sz="2800" dirty="0" smtClean="0"/>
          </a:p>
          <a:p>
            <a:endParaRPr lang="en-US" sz="2800" dirty="0"/>
          </a:p>
          <a:p>
            <a:endParaRPr lang="en-US" sz="2800" b="1" dirty="0" smtClean="0"/>
          </a:p>
          <a:p>
            <a:endParaRPr lang="en-US" sz="2800" dirty="0"/>
          </a:p>
          <a:p>
            <a:endParaRPr lang="en-US" sz="2800" dirty="0" smtClean="0"/>
          </a:p>
          <a:p>
            <a:endParaRPr lang="en-US" sz="2800" dirty="0"/>
          </a:p>
          <a:p>
            <a:pPr fontAlgn="base"/>
            <a:r>
              <a:rPr lang="en-US" sz="2800" dirty="0"/>
              <a:t>Now min heap contains 2 nodes.</a:t>
            </a:r>
          </a:p>
          <a:p>
            <a:r>
              <a:rPr lang="en-US" sz="2800" dirty="0" smtClean="0">
                <a:solidFill>
                  <a:srgbClr val="FF0000"/>
                </a:solidFill>
              </a:rPr>
              <a:t>    character           Frequency </a:t>
            </a:r>
          </a:p>
          <a:p>
            <a:r>
              <a:rPr lang="en-US" sz="2800" dirty="0"/>
              <a:t> </a:t>
            </a:r>
            <a:r>
              <a:rPr lang="en-US" sz="2800" dirty="0" smtClean="0"/>
              <a:t>          f                         45 </a:t>
            </a:r>
          </a:p>
          <a:p>
            <a:r>
              <a:rPr lang="en-US" sz="2800" dirty="0"/>
              <a:t> </a:t>
            </a:r>
            <a:r>
              <a:rPr lang="en-US" sz="2800" dirty="0" smtClean="0"/>
              <a:t>  Internal </a:t>
            </a:r>
            <a:r>
              <a:rPr lang="en-US" sz="2800" dirty="0"/>
              <a:t>Node </a:t>
            </a:r>
            <a:r>
              <a:rPr lang="en-US" sz="2800" dirty="0" smtClean="0"/>
              <a:t>         55</a:t>
            </a:r>
          </a:p>
          <a:p>
            <a:endParaRPr lang="en-IN" sz="28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1268760"/>
            <a:ext cx="7067550" cy="2914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0015136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9552" y="188640"/>
            <a:ext cx="8352928" cy="6555641"/>
          </a:xfrm>
          <a:prstGeom prst="rect">
            <a:avLst/>
          </a:prstGeom>
        </p:spPr>
        <p:txBody>
          <a:bodyPr wrap="square">
            <a:spAutoFit/>
          </a:bodyPr>
          <a:lstStyle/>
          <a:p>
            <a:r>
              <a:rPr lang="en-US" sz="2800" b="1" dirty="0"/>
              <a:t>Step 6:</a:t>
            </a:r>
            <a:r>
              <a:rPr lang="en-US" sz="2800" dirty="0"/>
              <a:t> Extract two minimum frequency nodes. Add a new internal node with frequency 45 + 55 = </a:t>
            </a:r>
            <a:r>
              <a:rPr lang="en-US" sz="2800" dirty="0" smtClean="0"/>
              <a:t>100</a:t>
            </a:r>
          </a:p>
          <a:p>
            <a:endParaRPr lang="en-US" sz="2800" dirty="0"/>
          </a:p>
          <a:p>
            <a:endParaRPr lang="en-US" sz="2800" dirty="0" smtClean="0"/>
          </a:p>
          <a:p>
            <a:endParaRPr lang="en-US" sz="2800" dirty="0"/>
          </a:p>
          <a:p>
            <a:endParaRPr lang="en-US" sz="2800" dirty="0" smtClean="0"/>
          </a:p>
          <a:p>
            <a:endParaRPr lang="en-US" sz="2800" dirty="0"/>
          </a:p>
          <a:p>
            <a:endParaRPr lang="en-US" sz="2800" dirty="0" smtClean="0"/>
          </a:p>
          <a:p>
            <a:endParaRPr lang="en-US" sz="2800" dirty="0"/>
          </a:p>
          <a:p>
            <a:endParaRPr lang="en-US" sz="2800" dirty="0" smtClean="0"/>
          </a:p>
          <a:p>
            <a:pPr fontAlgn="base"/>
            <a:r>
              <a:rPr lang="en-US" sz="2800" dirty="0" smtClean="0"/>
              <a:t>Now </a:t>
            </a:r>
            <a:r>
              <a:rPr lang="en-US" sz="2800" dirty="0"/>
              <a:t>min heap contains only one node.</a:t>
            </a:r>
          </a:p>
          <a:p>
            <a:pPr fontAlgn="base"/>
            <a:r>
              <a:rPr lang="en-US" sz="2800" dirty="0">
                <a:solidFill>
                  <a:srgbClr val="FF0000"/>
                </a:solidFill>
              </a:rPr>
              <a:t>character </a:t>
            </a:r>
            <a:r>
              <a:rPr lang="en-US" sz="2800" dirty="0" smtClean="0">
                <a:solidFill>
                  <a:srgbClr val="FF0000"/>
                </a:solidFill>
              </a:rPr>
              <a:t>          Frequency </a:t>
            </a:r>
          </a:p>
          <a:p>
            <a:pPr fontAlgn="base"/>
            <a:r>
              <a:rPr lang="en-US" sz="2800" dirty="0" smtClean="0"/>
              <a:t>Internal </a:t>
            </a:r>
            <a:r>
              <a:rPr lang="en-US" sz="2800" dirty="0"/>
              <a:t>Node </a:t>
            </a:r>
            <a:r>
              <a:rPr lang="en-US" sz="2800" dirty="0" smtClean="0"/>
              <a:t>       100</a:t>
            </a:r>
          </a:p>
          <a:p>
            <a:pPr fontAlgn="base"/>
            <a:r>
              <a:rPr lang="en-US" sz="2800" dirty="0" smtClean="0"/>
              <a:t>Since </a:t>
            </a:r>
            <a:r>
              <a:rPr lang="en-US" sz="2800" dirty="0"/>
              <a:t>the heap contains only one node, the algorithm stops here</a:t>
            </a:r>
            <a:r>
              <a:rPr lang="en-US" sz="2800" dirty="0" smtClean="0"/>
              <a:t>.</a:t>
            </a:r>
            <a:endParaRPr lang="en-IN" sz="2800"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1052736"/>
            <a:ext cx="7354788" cy="3312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8617349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382013"/>
            <a:ext cx="8640960" cy="2246769"/>
          </a:xfrm>
          <a:prstGeom prst="rect">
            <a:avLst/>
          </a:prstGeom>
        </p:spPr>
        <p:txBody>
          <a:bodyPr wrap="square">
            <a:spAutoFit/>
          </a:bodyPr>
          <a:lstStyle/>
          <a:p>
            <a:r>
              <a:rPr lang="en-US" sz="2800" b="1" i="1" dirty="0"/>
              <a:t>Steps to print codes from Huffman Tree:</a:t>
            </a:r>
            <a:r>
              <a:rPr lang="en-US" sz="2800" dirty="0"/>
              <a:t/>
            </a:r>
            <a:br>
              <a:rPr lang="en-US" sz="2800" dirty="0"/>
            </a:br>
            <a:r>
              <a:rPr lang="en-US" sz="2800" dirty="0"/>
              <a:t>Traverse the tree formed starting from the root. Maintain an auxiliary array. While moving to the left child, write 0 to the array. While moving to the right child, write 1 to the array. Print the array when a leaf node is encountered.</a:t>
            </a:r>
            <a:endParaRPr lang="en-IN" sz="2800"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2628782"/>
            <a:ext cx="7138764" cy="3747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6138132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691680" y="1556792"/>
            <a:ext cx="4572000" cy="3970318"/>
          </a:xfrm>
          <a:prstGeom prst="rect">
            <a:avLst/>
          </a:prstGeom>
        </p:spPr>
        <p:txBody>
          <a:bodyPr>
            <a:spAutoFit/>
          </a:bodyPr>
          <a:lstStyle/>
          <a:p>
            <a:r>
              <a:rPr lang="en-US" sz="2800" dirty="0"/>
              <a:t>The codes are as follows:</a:t>
            </a:r>
          </a:p>
          <a:p>
            <a:endParaRPr lang="en-US" sz="2800" dirty="0"/>
          </a:p>
          <a:p>
            <a:r>
              <a:rPr lang="en-US" sz="2800" dirty="0"/>
              <a:t>character   code-word</a:t>
            </a:r>
          </a:p>
          <a:p>
            <a:r>
              <a:rPr lang="en-US" sz="2800" dirty="0"/>
              <a:t>    f          0</a:t>
            </a:r>
          </a:p>
          <a:p>
            <a:r>
              <a:rPr lang="en-US" sz="2800" dirty="0"/>
              <a:t>    c          100</a:t>
            </a:r>
          </a:p>
          <a:p>
            <a:r>
              <a:rPr lang="en-US" sz="2800" dirty="0"/>
              <a:t>    d          101</a:t>
            </a:r>
          </a:p>
          <a:p>
            <a:r>
              <a:rPr lang="en-US" sz="2800" dirty="0"/>
              <a:t>    a          1100</a:t>
            </a:r>
          </a:p>
          <a:p>
            <a:r>
              <a:rPr lang="en-US" sz="2800" dirty="0"/>
              <a:t>    b          1101</a:t>
            </a:r>
          </a:p>
          <a:p>
            <a:r>
              <a:rPr lang="en-US" sz="2800" dirty="0"/>
              <a:t>    e          111</a:t>
            </a:r>
            <a:endParaRPr lang="en-IN" sz="2800" dirty="0"/>
          </a:p>
        </p:txBody>
      </p:sp>
    </p:spTree>
    <p:extLst>
      <p:ext uri="{BB962C8B-B14F-4D97-AF65-F5344CB8AC3E}">
        <p14:creationId xmlns:p14="http://schemas.microsoft.com/office/powerpoint/2010/main" val="115028503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5125" y="1319646"/>
            <a:ext cx="4429125" cy="666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616661" y="50582"/>
            <a:ext cx="7704856" cy="1138773"/>
          </a:xfrm>
          <a:prstGeom prst="rect">
            <a:avLst/>
          </a:prstGeom>
          <a:noFill/>
        </p:spPr>
        <p:txBody>
          <a:bodyPr wrap="square" rtlCol="0">
            <a:spAutoFit/>
          </a:bodyPr>
          <a:lstStyle/>
          <a:p>
            <a:r>
              <a:rPr lang="en-US" sz="3200" b="1" dirty="0" smtClean="0">
                <a:solidFill>
                  <a:srgbClr val="FF0000"/>
                </a:solidFill>
              </a:rPr>
              <a:t>Example 2:</a:t>
            </a:r>
          </a:p>
          <a:p>
            <a:endParaRPr lang="en-US" dirty="0"/>
          </a:p>
          <a:p>
            <a:r>
              <a:rPr lang="en-US" dirty="0" smtClean="0"/>
              <a:t>Suppose the string given below is to be sent over a network</a:t>
            </a:r>
            <a:endParaRPr lang="en-IN" dirty="0"/>
          </a:p>
        </p:txBody>
      </p:sp>
      <p:sp>
        <p:nvSpPr>
          <p:cNvPr id="3" name="Rectangle 2"/>
          <p:cNvSpPr/>
          <p:nvPr/>
        </p:nvSpPr>
        <p:spPr>
          <a:xfrm>
            <a:off x="683568" y="2264297"/>
            <a:ext cx="7344816" cy="923330"/>
          </a:xfrm>
          <a:prstGeom prst="rect">
            <a:avLst/>
          </a:prstGeom>
        </p:spPr>
        <p:txBody>
          <a:bodyPr wrap="square">
            <a:spAutoFit/>
          </a:bodyPr>
          <a:lstStyle/>
          <a:p>
            <a:r>
              <a:rPr lang="en-US" dirty="0"/>
              <a:t>Huffman coding is done with the help of the following steps.</a:t>
            </a:r>
          </a:p>
          <a:p>
            <a:endParaRPr lang="en-US" dirty="0"/>
          </a:p>
          <a:p>
            <a:r>
              <a:rPr lang="en-US" dirty="0" smtClean="0"/>
              <a:t>1. Calculate </a:t>
            </a:r>
            <a:r>
              <a:rPr lang="en-US" dirty="0"/>
              <a:t>the frequency of each character in the string</a:t>
            </a:r>
            <a:endParaRPr lang="en-IN" dirty="0"/>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54882" y="3212976"/>
            <a:ext cx="2644504" cy="11521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679183" y="4501737"/>
            <a:ext cx="7704856" cy="646331"/>
          </a:xfrm>
          <a:prstGeom prst="rect">
            <a:avLst/>
          </a:prstGeom>
        </p:spPr>
        <p:txBody>
          <a:bodyPr wrap="square">
            <a:spAutoFit/>
          </a:bodyPr>
          <a:lstStyle/>
          <a:p>
            <a:r>
              <a:rPr lang="en-US" dirty="0" smtClean="0"/>
              <a:t>2. Sort </a:t>
            </a:r>
            <a:r>
              <a:rPr lang="en-US" dirty="0"/>
              <a:t>the characters in increasing order of the frequency. These are stored in a priority queue Q.</a:t>
            </a:r>
          </a:p>
        </p:txBody>
      </p:sp>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0474" y="4824902"/>
            <a:ext cx="2638425" cy="13613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6247705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3568" y="260648"/>
            <a:ext cx="7992888" cy="1477328"/>
          </a:xfrm>
          <a:prstGeom prst="rect">
            <a:avLst/>
          </a:prstGeom>
        </p:spPr>
        <p:txBody>
          <a:bodyPr wrap="square">
            <a:spAutoFit/>
          </a:bodyPr>
          <a:lstStyle/>
          <a:p>
            <a:r>
              <a:rPr lang="en-US" dirty="0" smtClean="0"/>
              <a:t>3. Make </a:t>
            </a:r>
            <a:r>
              <a:rPr lang="en-US" dirty="0"/>
              <a:t>each unique character as a leaf node</a:t>
            </a:r>
            <a:r>
              <a:rPr lang="en-US" dirty="0" smtClean="0"/>
              <a:t>.</a:t>
            </a:r>
          </a:p>
          <a:p>
            <a:endParaRPr lang="en-US" dirty="0"/>
          </a:p>
          <a:p>
            <a:r>
              <a:rPr lang="en-US" dirty="0" smtClean="0"/>
              <a:t>4. Create </a:t>
            </a:r>
            <a:r>
              <a:rPr lang="en-US" dirty="0"/>
              <a:t>an empty node z. Assign the minimum frequency to the left child of z and assign the second minimum frequency to the right child of z. Set the value of the z as the sum of the above two minimum frequencies.</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38513" y="1764443"/>
            <a:ext cx="2889671" cy="2905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678326" y="4801078"/>
            <a:ext cx="7704856" cy="1754326"/>
          </a:xfrm>
          <a:prstGeom prst="rect">
            <a:avLst/>
          </a:prstGeom>
        </p:spPr>
        <p:txBody>
          <a:bodyPr wrap="square">
            <a:spAutoFit/>
          </a:bodyPr>
          <a:lstStyle/>
          <a:p>
            <a:r>
              <a:rPr lang="en-US" dirty="0" smtClean="0"/>
              <a:t>5. Remove </a:t>
            </a:r>
            <a:r>
              <a:rPr lang="en-US" dirty="0"/>
              <a:t>these two minimum frequencies from Q and add the sum into the list of frequencies (* denote the internal nodes in the figure above</a:t>
            </a:r>
            <a:r>
              <a:rPr lang="en-US" dirty="0" smtClean="0"/>
              <a:t>).</a:t>
            </a:r>
          </a:p>
          <a:p>
            <a:endParaRPr lang="en-US" dirty="0"/>
          </a:p>
          <a:p>
            <a:r>
              <a:rPr lang="en-US" dirty="0" smtClean="0"/>
              <a:t>6. Insert </a:t>
            </a:r>
            <a:r>
              <a:rPr lang="en-US" dirty="0"/>
              <a:t>node z into the tree.</a:t>
            </a:r>
          </a:p>
          <a:p>
            <a:endParaRPr lang="en-US" dirty="0" smtClean="0"/>
          </a:p>
          <a:p>
            <a:r>
              <a:rPr lang="en-US" dirty="0" smtClean="0"/>
              <a:t>7. Repeat </a:t>
            </a:r>
            <a:r>
              <a:rPr lang="en-US" dirty="0"/>
              <a:t>steps 3 to 5 for all the characters.</a:t>
            </a:r>
            <a:endParaRPr lang="en-IN" dirty="0"/>
          </a:p>
        </p:txBody>
      </p:sp>
    </p:spTree>
    <p:extLst>
      <p:ext uri="{BB962C8B-B14F-4D97-AF65-F5344CB8AC3E}">
        <p14:creationId xmlns:p14="http://schemas.microsoft.com/office/powerpoint/2010/main" val="114979368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478" y="587498"/>
            <a:ext cx="4013678" cy="50179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6016" y="587498"/>
            <a:ext cx="4104456" cy="50179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3810767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5576" y="383798"/>
            <a:ext cx="8208912" cy="369332"/>
          </a:xfrm>
          <a:prstGeom prst="rect">
            <a:avLst/>
          </a:prstGeom>
        </p:spPr>
        <p:txBody>
          <a:bodyPr wrap="square">
            <a:spAutoFit/>
          </a:bodyPr>
          <a:lstStyle/>
          <a:p>
            <a:r>
              <a:rPr lang="en-US" dirty="0" smtClean="0"/>
              <a:t>8. For </a:t>
            </a:r>
            <a:r>
              <a:rPr lang="en-US" dirty="0"/>
              <a:t>each non-leaf node, assign 0 to the left edge and 1 to the right edge.</a:t>
            </a:r>
            <a:endParaRPr lang="en-IN"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712" y="1172037"/>
            <a:ext cx="5256584" cy="4778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445566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30384" y="476672"/>
            <a:ext cx="8784976" cy="4493538"/>
          </a:xfrm>
          <a:prstGeom prst="rect">
            <a:avLst/>
          </a:prstGeom>
        </p:spPr>
        <p:txBody>
          <a:bodyPr wrap="square">
            <a:spAutoFit/>
          </a:bodyPr>
          <a:lstStyle/>
          <a:p>
            <a:r>
              <a:rPr lang="en-US" sz="2800" b="1" dirty="0">
                <a:solidFill>
                  <a:srgbClr val="FF0000"/>
                </a:solidFill>
              </a:rPr>
              <a:t>Huffman Coding </a:t>
            </a:r>
            <a:r>
              <a:rPr lang="en-US" sz="2800" b="1" dirty="0" smtClean="0">
                <a:solidFill>
                  <a:srgbClr val="FF0000"/>
                </a:solidFill>
              </a:rPr>
              <a:t>Algorithm:</a:t>
            </a:r>
          </a:p>
          <a:p>
            <a:endParaRPr lang="en-US" sz="2800" b="1" dirty="0">
              <a:solidFill>
                <a:srgbClr val="FF0000"/>
              </a:solidFill>
            </a:endParaRPr>
          </a:p>
          <a:p>
            <a:r>
              <a:rPr lang="en-US" sz="2300" dirty="0"/>
              <a:t>create a priority queue Q consisting of each unique character.</a:t>
            </a:r>
          </a:p>
          <a:p>
            <a:r>
              <a:rPr lang="en-US" sz="2300" dirty="0"/>
              <a:t>sort then in ascending order of their frequencies.</a:t>
            </a:r>
          </a:p>
          <a:p>
            <a:r>
              <a:rPr lang="en-US" sz="2300" dirty="0"/>
              <a:t>for all the unique characters:</a:t>
            </a:r>
          </a:p>
          <a:p>
            <a:r>
              <a:rPr lang="en-US" sz="2300" dirty="0"/>
              <a:t>    create a </a:t>
            </a:r>
            <a:r>
              <a:rPr lang="en-US" sz="2300" dirty="0" err="1"/>
              <a:t>newNode</a:t>
            </a:r>
            <a:endParaRPr lang="en-US" sz="2300" dirty="0"/>
          </a:p>
          <a:p>
            <a:r>
              <a:rPr lang="en-US" sz="2300" dirty="0"/>
              <a:t>    extract minimum value from Q and assign it to </a:t>
            </a:r>
            <a:r>
              <a:rPr lang="en-US" sz="2300" dirty="0" err="1"/>
              <a:t>leftChild</a:t>
            </a:r>
            <a:r>
              <a:rPr lang="en-US" sz="2300" dirty="0"/>
              <a:t> of </a:t>
            </a:r>
            <a:r>
              <a:rPr lang="en-US" sz="2300" dirty="0" err="1"/>
              <a:t>newNode</a:t>
            </a:r>
            <a:endParaRPr lang="en-US" sz="2300" dirty="0"/>
          </a:p>
          <a:p>
            <a:r>
              <a:rPr lang="en-US" sz="2300" dirty="0"/>
              <a:t>    extract minimum value from Q and assign it to </a:t>
            </a:r>
            <a:r>
              <a:rPr lang="en-US" sz="2300" dirty="0" err="1"/>
              <a:t>rightChild</a:t>
            </a:r>
            <a:r>
              <a:rPr lang="en-US" sz="2300" dirty="0"/>
              <a:t> of </a:t>
            </a:r>
            <a:r>
              <a:rPr lang="en-US" sz="2300" dirty="0" err="1"/>
              <a:t>newNode</a:t>
            </a:r>
            <a:endParaRPr lang="en-US" sz="2300" dirty="0"/>
          </a:p>
          <a:p>
            <a:r>
              <a:rPr lang="en-US" sz="2300" dirty="0"/>
              <a:t>    calculate the sum of these two minimum values and assign it to the </a:t>
            </a:r>
            <a:r>
              <a:rPr lang="en-US" sz="2300" dirty="0" smtClean="0"/>
              <a:t>  </a:t>
            </a:r>
          </a:p>
          <a:p>
            <a:r>
              <a:rPr lang="en-US" sz="2300" dirty="0"/>
              <a:t> </a:t>
            </a:r>
            <a:r>
              <a:rPr lang="en-US" sz="2300" dirty="0" smtClean="0"/>
              <a:t>                                                                                     value </a:t>
            </a:r>
            <a:r>
              <a:rPr lang="en-US" sz="2300" dirty="0"/>
              <a:t>of </a:t>
            </a:r>
            <a:r>
              <a:rPr lang="en-US" sz="2300" dirty="0" err="1"/>
              <a:t>newNode</a:t>
            </a:r>
            <a:endParaRPr lang="en-US" sz="2300" dirty="0"/>
          </a:p>
          <a:p>
            <a:r>
              <a:rPr lang="en-US" sz="2300" dirty="0"/>
              <a:t>    insert this </a:t>
            </a:r>
            <a:r>
              <a:rPr lang="en-US" sz="2300" dirty="0" err="1"/>
              <a:t>newNode</a:t>
            </a:r>
            <a:r>
              <a:rPr lang="en-US" sz="2300" dirty="0"/>
              <a:t> into the tree</a:t>
            </a:r>
          </a:p>
          <a:p>
            <a:r>
              <a:rPr lang="en-US" sz="2300" dirty="0"/>
              <a:t>return </a:t>
            </a:r>
            <a:r>
              <a:rPr lang="en-US" sz="2300" dirty="0" err="1"/>
              <a:t>rootNode</a:t>
            </a:r>
            <a:endParaRPr lang="en-IN" sz="2300" dirty="0"/>
          </a:p>
        </p:txBody>
      </p:sp>
    </p:spTree>
    <p:extLst>
      <p:ext uri="{BB962C8B-B14F-4D97-AF65-F5344CB8AC3E}">
        <p14:creationId xmlns:p14="http://schemas.microsoft.com/office/powerpoint/2010/main" val="257116149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0718" y="260648"/>
            <a:ext cx="8280920" cy="6001643"/>
          </a:xfrm>
          <a:prstGeom prst="rect">
            <a:avLst/>
          </a:prstGeom>
        </p:spPr>
        <p:txBody>
          <a:bodyPr wrap="square">
            <a:spAutoFit/>
          </a:bodyPr>
          <a:lstStyle/>
          <a:p>
            <a:r>
              <a:rPr lang="en-US" sz="2400" dirty="0">
                <a:solidFill>
                  <a:srgbClr val="FF0000"/>
                </a:solidFill>
              </a:rPr>
              <a:t>Time complexity: </a:t>
            </a:r>
            <a:r>
              <a:rPr lang="en-US" sz="2400" dirty="0"/>
              <a:t>O(</a:t>
            </a:r>
            <a:r>
              <a:rPr lang="en-US" sz="2400" dirty="0" err="1"/>
              <a:t>nlogn</a:t>
            </a:r>
            <a:r>
              <a:rPr lang="en-US" sz="2400" dirty="0"/>
              <a:t>) where n is the number of unique characters. If there are n nodes, </a:t>
            </a:r>
            <a:r>
              <a:rPr lang="en-US" sz="2400" dirty="0" err="1"/>
              <a:t>extractMin</a:t>
            </a:r>
            <a:r>
              <a:rPr lang="en-US" sz="2400" dirty="0"/>
              <a:t>() is called 2*(n – 1) times. </a:t>
            </a:r>
            <a:r>
              <a:rPr lang="en-US" sz="2400" dirty="0" err="1"/>
              <a:t>extractMin</a:t>
            </a:r>
            <a:r>
              <a:rPr lang="en-US" sz="2400" dirty="0"/>
              <a:t>() takes O(</a:t>
            </a:r>
            <a:r>
              <a:rPr lang="en-US" sz="2400" dirty="0" err="1"/>
              <a:t>logn</a:t>
            </a:r>
            <a:r>
              <a:rPr lang="en-US" sz="2400" dirty="0"/>
              <a:t>) time as it calls </a:t>
            </a:r>
            <a:r>
              <a:rPr lang="en-US" sz="2400" dirty="0" err="1"/>
              <a:t>minHeapify</a:t>
            </a:r>
            <a:r>
              <a:rPr lang="en-US" sz="2400" dirty="0"/>
              <a:t>(). So, overall complexity is O(</a:t>
            </a:r>
            <a:r>
              <a:rPr lang="en-US" sz="2400" dirty="0" err="1"/>
              <a:t>nlogn</a:t>
            </a:r>
            <a:r>
              <a:rPr lang="en-US" sz="2400" dirty="0" smtClean="0"/>
              <a:t>).</a:t>
            </a:r>
          </a:p>
          <a:p>
            <a:endParaRPr lang="en-US" sz="2400" dirty="0"/>
          </a:p>
          <a:p>
            <a:r>
              <a:rPr lang="en-US" sz="2400" dirty="0"/>
              <a:t>If the input array is sorted, there exists a linear time algorithm. We will soon be discussing in our next post.</a:t>
            </a:r>
          </a:p>
          <a:p>
            <a:endParaRPr lang="en-US" sz="2400" dirty="0"/>
          </a:p>
          <a:p>
            <a:r>
              <a:rPr lang="en-US" sz="2400" dirty="0">
                <a:solidFill>
                  <a:srgbClr val="FF0000"/>
                </a:solidFill>
              </a:rPr>
              <a:t>Applications of Huffman Coding:</a:t>
            </a:r>
          </a:p>
          <a:p>
            <a:pPr marL="457200" indent="-457200">
              <a:buFont typeface="Arial" panose="020B0604020202020204" pitchFamily="34" charset="0"/>
              <a:buChar char="•"/>
            </a:pPr>
            <a:r>
              <a:rPr lang="en-US" sz="2400" dirty="0"/>
              <a:t>They are used for transmitting fax and text.</a:t>
            </a:r>
          </a:p>
          <a:p>
            <a:pPr marL="457200" indent="-457200">
              <a:buFont typeface="Arial" panose="020B0604020202020204" pitchFamily="34" charset="0"/>
              <a:buChar char="•"/>
            </a:pPr>
            <a:r>
              <a:rPr lang="en-US" sz="2400" dirty="0"/>
              <a:t>They are used by conventional compression formats like PKZIP, GZIP, etc.</a:t>
            </a:r>
          </a:p>
          <a:p>
            <a:pPr marL="457200" indent="-457200">
              <a:buFont typeface="Arial" panose="020B0604020202020204" pitchFamily="34" charset="0"/>
              <a:buChar char="•"/>
            </a:pPr>
            <a:r>
              <a:rPr lang="en-US" sz="2400" dirty="0"/>
              <a:t>Multimedia codecs like JPEG, PNG, and MP3 use Huffman encoding(to be more precise the prefix codes).</a:t>
            </a:r>
          </a:p>
          <a:p>
            <a:pPr marL="457200" indent="-457200">
              <a:buFont typeface="Arial" panose="020B0604020202020204" pitchFamily="34" charset="0"/>
              <a:buChar char="•"/>
            </a:pPr>
            <a:r>
              <a:rPr lang="en-US" sz="2400" dirty="0"/>
              <a:t> It is useful in cases where there is a series of frequently occurring characters.</a:t>
            </a:r>
            <a:endParaRPr lang="en-IN" sz="2400" dirty="0"/>
          </a:p>
        </p:txBody>
      </p:sp>
    </p:spTree>
    <p:extLst>
      <p:ext uri="{BB962C8B-B14F-4D97-AF65-F5344CB8AC3E}">
        <p14:creationId xmlns:p14="http://schemas.microsoft.com/office/powerpoint/2010/main" val="88811659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332656"/>
            <a:ext cx="3024336" cy="5355312"/>
          </a:xfrm>
          <a:prstGeom prst="rect">
            <a:avLst/>
          </a:prstGeom>
        </p:spPr>
        <p:txBody>
          <a:bodyPr wrap="square">
            <a:spAutoFit/>
          </a:bodyPr>
          <a:lstStyle/>
          <a:p>
            <a:r>
              <a:rPr lang="en-IN" dirty="0"/>
              <a:t>// Huffman Coding in C</a:t>
            </a:r>
          </a:p>
          <a:p>
            <a:endParaRPr lang="en-IN" dirty="0"/>
          </a:p>
          <a:p>
            <a:r>
              <a:rPr lang="en-IN" dirty="0"/>
              <a:t>#include &lt;</a:t>
            </a:r>
            <a:r>
              <a:rPr lang="en-IN" dirty="0" err="1"/>
              <a:t>stdio.h</a:t>
            </a:r>
            <a:r>
              <a:rPr lang="en-IN" dirty="0"/>
              <a:t>&gt;</a:t>
            </a:r>
          </a:p>
          <a:p>
            <a:r>
              <a:rPr lang="en-IN" dirty="0"/>
              <a:t>#include &lt;</a:t>
            </a:r>
            <a:r>
              <a:rPr lang="en-IN" dirty="0" err="1"/>
              <a:t>stdlib.h</a:t>
            </a:r>
            <a:r>
              <a:rPr lang="en-IN" dirty="0"/>
              <a:t>&gt;</a:t>
            </a:r>
          </a:p>
          <a:p>
            <a:endParaRPr lang="en-IN" dirty="0"/>
          </a:p>
          <a:p>
            <a:r>
              <a:rPr lang="en-IN" dirty="0"/>
              <a:t>#define MAX_TREE_HT 50</a:t>
            </a:r>
          </a:p>
          <a:p>
            <a:endParaRPr lang="en-IN" dirty="0"/>
          </a:p>
          <a:p>
            <a:r>
              <a:rPr lang="en-IN" dirty="0" err="1"/>
              <a:t>struct</a:t>
            </a:r>
            <a:r>
              <a:rPr lang="en-IN" dirty="0"/>
              <a:t> </a:t>
            </a:r>
            <a:r>
              <a:rPr lang="en-IN" dirty="0" err="1"/>
              <a:t>MinHNode</a:t>
            </a:r>
            <a:r>
              <a:rPr lang="en-IN" dirty="0"/>
              <a:t> {</a:t>
            </a:r>
          </a:p>
          <a:p>
            <a:r>
              <a:rPr lang="en-IN" dirty="0"/>
              <a:t>  char item;</a:t>
            </a:r>
          </a:p>
          <a:p>
            <a:r>
              <a:rPr lang="en-IN" dirty="0"/>
              <a:t>  unsigned </a:t>
            </a:r>
            <a:r>
              <a:rPr lang="en-IN" dirty="0" err="1"/>
              <a:t>freq</a:t>
            </a:r>
            <a:r>
              <a:rPr lang="en-IN" dirty="0"/>
              <a:t>;</a:t>
            </a:r>
          </a:p>
          <a:p>
            <a:r>
              <a:rPr lang="en-IN" dirty="0"/>
              <a:t>  </a:t>
            </a:r>
            <a:r>
              <a:rPr lang="en-IN" dirty="0" err="1"/>
              <a:t>struct</a:t>
            </a:r>
            <a:r>
              <a:rPr lang="en-IN" dirty="0"/>
              <a:t> </a:t>
            </a:r>
            <a:r>
              <a:rPr lang="en-IN" dirty="0" err="1"/>
              <a:t>MinHNode</a:t>
            </a:r>
            <a:r>
              <a:rPr lang="en-IN" dirty="0"/>
              <a:t> *left, *right;</a:t>
            </a:r>
          </a:p>
          <a:p>
            <a:r>
              <a:rPr lang="en-IN" dirty="0"/>
              <a:t>};</a:t>
            </a:r>
          </a:p>
          <a:p>
            <a:endParaRPr lang="en-IN" dirty="0"/>
          </a:p>
          <a:p>
            <a:r>
              <a:rPr lang="en-IN" dirty="0" err="1"/>
              <a:t>struct</a:t>
            </a:r>
            <a:r>
              <a:rPr lang="en-IN" dirty="0"/>
              <a:t> </a:t>
            </a:r>
            <a:r>
              <a:rPr lang="en-IN" dirty="0" err="1"/>
              <a:t>MinHeap</a:t>
            </a:r>
            <a:r>
              <a:rPr lang="en-IN" dirty="0"/>
              <a:t> {</a:t>
            </a:r>
          </a:p>
          <a:p>
            <a:r>
              <a:rPr lang="en-IN" dirty="0"/>
              <a:t>  unsigned size;</a:t>
            </a:r>
          </a:p>
          <a:p>
            <a:r>
              <a:rPr lang="en-IN" dirty="0"/>
              <a:t>  unsigned capacity;</a:t>
            </a:r>
          </a:p>
          <a:p>
            <a:r>
              <a:rPr lang="en-IN" dirty="0"/>
              <a:t>  </a:t>
            </a:r>
            <a:r>
              <a:rPr lang="en-IN" dirty="0" err="1"/>
              <a:t>struct</a:t>
            </a:r>
            <a:r>
              <a:rPr lang="en-IN" dirty="0"/>
              <a:t> </a:t>
            </a:r>
            <a:r>
              <a:rPr lang="en-IN" dirty="0" err="1"/>
              <a:t>MinHNode</a:t>
            </a:r>
            <a:r>
              <a:rPr lang="en-IN" dirty="0"/>
              <a:t> **array;</a:t>
            </a:r>
          </a:p>
          <a:p>
            <a:r>
              <a:rPr lang="en-IN" dirty="0"/>
              <a:t>};</a:t>
            </a:r>
          </a:p>
        </p:txBody>
      </p:sp>
      <p:sp>
        <p:nvSpPr>
          <p:cNvPr id="3" name="Rectangle 2"/>
          <p:cNvSpPr/>
          <p:nvPr/>
        </p:nvSpPr>
        <p:spPr>
          <a:xfrm>
            <a:off x="3347864" y="188640"/>
            <a:ext cx="5542882" cy="6463308"/>
          </a:xfrm>
          <a:prstGeom prst="rect">
            <a:avLst/>
          </a:prstGeom>
        </p:spPr>
        <p:txBody>
          <a:bodyPr wrap="square">
            <a:spAutoFit/>
          </a:bodyPr>
          <a:lstStyle/>
          <a:p>
            <a:r>
              <a:rPr lang="en-IN" dirty="0"/>
              <a:t>// Create nodes</a:t>
            </a:r>
          </a:p>
          <a:p>
            <a:r>
              <a:rPr lang="en-IN" dirty="0" err="1"/>
              <a:t>struct</a:t>
            </a:r>
            <a:r>
              <a:rPr lang="en-IN" dirty="0"/>
              <a:t> </a:t>
            </a:r>
            <a:r>
              <a:rPr lang="en-IN" dirty="0" err="1"/>
              <a:t>MinHNode</a:t>
            </a:r>
            <a:r>
              <a:rPr lang="en-IN" dirty="0"/>
              <a:t> *</a:t>
            </a:r>
            <a:r>
              <a:rPr lang="en-IN" dirty="0" err="1"/>
              <a:t>newNode</a:t>
            </a:r>
            <a:r>
              <a:rPr lang="en-IN" dirty="0"/>
              <a:t>(char item, unsigned </a:t>
            </a:r>
            <a:r>
              <a:rPr lang="en-IN" dirty="0" err="1"/>
              <a:t>freq</a:t>
            </a:r>
            <a:r>
              <a:rPr lang="en-IN" dirty="0"/>
              <a:t>) {</a:t>
            </a:r>
          </a:p>
          <a:p>
            <a:r>
              <a:rPr lang="en-IN" dirty="0"/>
              <a:t>  </a:t>
            </a:r>
            <a:r>
              <a:rPr lang="en-IN" dirty="0" err="1"/>
              <a:t>struct</a:t>
            </a:r>
            <a:r>
              <a:rPr lang="en-IN" dirty="0"/>
              <a:t> </a:t>
            </a:r>
            <a:r>
              <a:rPr lang="en-IN" dirty="0" err="1"/>
              <a:t>MinHNode</a:t>
            </a:r>
            <a:r>
              <a:rPr lang="en-IN" dirty="0"/>
              <a:t> *temp = (</a:t>
            </a:r>
            <a:r>
              <a:rPr lang="en-IN" dirty="0" err="1"/>
              <a:t>struct</a:t>
            </a:r>
            <a:r>
              <a:rPr lang="en-IN" dirty="0"/>
              <a:t> </a:t>
            </a:r>
            <a:r>
              <a:rPr lang="en-IN" dirty="0" err="1"/>
              <a:t>MinHNode</a:t>
            </a:r>
            <a:r>
              <a:rPr lang="en-IN" dirty="0"/>
              <a:t> *)</a:t>
            </a:r>
            <a:r>
              <a:rPr lang="en-IN" dirty="0" err="1"/>
              <a:t>malloc</a:t>
            </a:r>
            <a:r>
              <a:rPr lang="en-IN" dirty="0"/>
              <a:t>(</a:t>
            </a:r>
            <a:r>
              <a:rPr lang="en-IN" dirty="0" err="1"/>
              <a:t>sizeof</a:t>
            </a:r>
            <a:r>
              <a:rPr lang="en-IN" dirty="0"/>
              <a:t>(</a:t>
            </a:r>
            <a:r>
              <a:rPr lang="en-IN" dirty="0" err="1"/>
              <a:t>struct</a:t>
            </a:r>
            <a:r>
              <a:rPr lang="en-IN" dirty="0"/>
              <a:t> </a:t>
            </a:r>
            <a:r>
              <a:rPr lang="en-IN" dirty="0" err="1"/>
              <a:t>MinHNode</a:t>
            </a:r>
            <a:r>
              <a:rPr lang="en-IN" dirty="0"/>
              <a:t>));</a:t>
            </a:r>
          </a:p>
          <a:p>
            <a:r>
              <a:rPr lang="en-IN" dirty="0" smtClean="0"/>
              <a:t>  </a:t>
            </a:r>
            <a:r>
              <a:rPr lang="en-IN" dirty="0"/>
              <a:t>temp-&gt;left = temp-&gt;right = NULL;</a:t>
            </a:r>
          </a:p>
          <a:p>
            <a:r>
              <a:rPr lang="en-IN" dirty="0"/>
              <a:t>  temp-&gt;item = item;</a:t>
            </a:r>
          </a:p>
          <a:p>
            <a:r>
              <a:rPr lang="en-IN" dirty="0"/>
              <a:t>  temp-&gt;</a:t>
            </a:r>
            <a:r>
              <a:rPr lang="en-IN" dirty="0" err="1"/>
              <a:t>freq</a:t>
            </a:r>
            <a:r>
              <a:rPr lang="en-IN" dirty="0"/>
              <a:t> = </a:t>
            </a:r>
            <a:r>
              <a:rPr lang="en-IN" dirty="0" err="1"/>
              <a:t>freq</a:t>
            </a:r>
            <a:r>
              <a:rPr lang="en-IN" dirty="0"/>
              <a:t>;</a:t>
            </a:r>
          </a:p>
          <a:p>
            <a:r>
              <a:rPr lang="en-IN" dirty="0" smtClean="0"/>
              <a:t>  </a:t>
            </a:r>
            <a:r>
              <a:rPr lang="en-IN" dirty="0"/>
              <a:t>return temp;</a:t>
            </a:r>
          </a:p>
          <a:p>
            <a:r>
              <a:rPr lang="en-IN" dirty="0"/>
              <a:t>}</a:t>
            </a:r>
          </a:p>
          <a:p>
            <a:r>
              <a:rPr lang="en-IN" dirty="0" smtClean="0"/>
              <a:t>// </a:t>
            </a:r>
            <a:r>
              <a:rPr lang="en-IN" dirty="0"/>
              <a:t>Create min heap</a:t>
            </a:r>
          </a:p>
          <a:p>
            <a:r>
              <a:rPr lang="en-IN" dirty="0" err="1"/>
              <a:t>struct</a:t>
            </a:r>
            <a:r>
              <a:rPr lang="en-IN" dirty="0"/>
              <a:t> </a:t>
            </a:r>
            <a:r>
              <a:rPr lang="en-IN" dirty="0" err="1"/>
              <a:t>MinHeap</a:t>
            </a:r>
            <a:r>
              <a:rPr lang="en-IN" dirty="0"/>
              <a:t> *</a:t>
            </a:r>
            <a:r>
              <a:rPr lang="en-IN" dirty="0" err="1"/>
              <a:t>createMinH</a:t>
            </a:r>
            <a:r>
              <a:rPr lang="en-IN" dirty="0"/>
              <a:t>(unsigned capacity) {</a:t>
            </a:r>
          </a:p>
          <a:p>
            <a:r>
              <a:rPr lang="en-IN" dirty="0"/>
              <a:t>  </a:t>
            </a:r>
            <a:r>
              <a:rPr lang="en-IN" dirty="0" err="1"/>
              <a:t>struct</a:t>
            </a:r>
            <a:r>
              <a:rPr lang="en-IN" dirty="0"/>
              <a:t> </a:t>
            </a:r>
            <a:r>
              <a:rPr lang="en-IN" dirty="0" err="1"/>
              <a:t>MinHeap</a:t>
            </a:r>
            <a:r>
              <a:rPr lang="en-IN" dirty="0"/>
              <a:t> *</a:t>
            </a:r>
            <a:r>
              <a:rPr lang="en-IN" dirty="0" err="1"/>
              <a:t>minHeap</a:t>
            </a:r>
            <a:r>
              <a:rPr lang="en-IN" dirty="0"/>
              <a:t> = (</a:t>
            </a:r>
            <a:r>
              <a:rPr lang="en-IN" dirty="0" err="1"/>
              <a:t>struct</a:t>
            </a:r>
            <a:r>
              <a:rPr lang="en-IN" dirty="0"/>
              <a:t> </a:t>
            </a:r>
            <a:r>
              <a:rPr lang="en-IN" dirty="0" err="1"/>
              <a:t>MinHeap</a:t>
            </a:r>
            <a:r>
              <a:rPr lang="en-IN" dirty="0"/>
              <a:t> *)</a:t>
            </a:r>
            <a:r>
              <a:rPr lang="en-IN" dirty="0" err="1"/>
              <a:t>malloc</a:t>
            </a:r>
            <a:r>
              <a:rPr lang="en-IN" dirty="0"/>
              <a:t>(</a:t>
            </a:r>
            <a:r>
              <a:rPr lang="en-IN" dirty="0" err="1"/>
              <a:t>sizeof</a:t>
            </a:r>
            <a:r>
              <a:rPr lang="en-IN" dirty="0"/>
              <a:t>(</a:t>
            </a:r>
            <a:r>
              <a:rPr lang="en-IN" dirty="0" err="1"/>
              <a:t>struct</a:t>
            </a:r>
            <a:r>
              <a:rPr lang="en-IN" dirty="0"/>
              <a:t> </a:t>
            </a:r>
            <a:r>
              <a:rPr lang="en-IN" dirty="0" err="1"/>
              <a:t>MinHeap</a:t>
            </a:r>
            <a:r>
              <a:rPr lang="en-IN" dirty="0"/>
              <a:t>));</a:t>
            </a:r>
          </a:p>
          <a:p>
            <a:endParaRPr lang="en-IN" dirty="0"/>
          </a:p>
          <a:p>
            <a:r>
              <a:rPr lang="en-IN" dirty="0"/>
              <a:t>  </a:t>
            </a:r>
            <a:r>
              <a:rPr lang="en-IN" dirty="0" err="1"/>
              <a:t>minHeap</a:t>
            </a:r>
            <a:r>
              <a:rPr lang="en-IN" dirty="0"/>
              <a:t>-&gt;size = 0;</a:t>
            </a:r>
          </a:p>
          <a:p>
            <a:endParaRPr lang="en-IN" dirty="0"/>
          </a:p>
          <a:p>
            <a:r>
              <a:rPr lang="en-IN" dirty="0"/>
              <a:t>  </a:t>
            </a:r>
            <a:r>
              <a:rPr lang="en-IN" dirty="0" err="1"/>
              <a:t>minHeap</a:t>
            </a:r>
            <a:r>
              <a:rPr lang="en-IN" dirty="0"/>
              <a:t>-&gt;capacity = capacity;</a:t>
            </a:r>
          </a:p>
          <a:p>
            <a:endParaRPr lang="en-IN" dirty="0"/>
          </a:p>
          <a:p>
            <a:r>
              <a:rPr lang="en-IN" dirty="0"/>
              <a:t>  </a:t>
            </a:r>
            <a:r>
              <a:rPr lang="en-IN" dirty="0" err="1"/>
              <a:t>minHeap</a:t>
            </a:r>
            <a:r>
              <a:rPr lang="en-IN" dirty="0"/>
              <a:t>-&gt;array = (</a:t>
            </a:r>
            <a:r>
              <a:rPr lang="en-IN" dirty="0" err="1"/>
              <a:t>struct</a:t>
            </a:r>
            <a:r>
              <a:rPr lang="en-IN" dirty="0"/>
              <a:t> </a:t>
            </a:r>
            <a:r>
              <a:rPr lang="en-IN" dirty="0" err="1"/>
              <a:t>MinHNode</a:t>
            </a:r>
            <a:r>
              <a:rPr lang="en-IN" dirty="0"/>
              <a:t> **)</a:t>
            </a:r>
            <a:r>
              <a:rPr lang="en-IN" dirty="0" err="1"/>
              <a:t>malloc</a:t>
            </a:r>
            <a:r>
              <a:rPr lang="en-IN" dirty="0"/>
              <a:t>(</a:t>
            </a:r>
            <a:r>
              <a:rPr lang="en-IN" dirty="0" err="1"/>
              <a:t>minHeap</a:t>
            </a:r>
            <a:r>
              <a:rPr lang="en-IN" dirty="0"/>
              <a:t>-&gt;capacity * </a:t>
            </a:r>
            <a:r>
              <a:rPr lang="en-IN" dirty="0" err="1"/>
              <a:t>sizeof</a:t>
            </a:r>
            <a:r>
              <a:rPr lang="en-IN" dirty="0"/>
              <a:t>(</a:t>
            </a:r>
            <a:r>
              <a:rPr lang="en-IN" dirty="0" err="1"/>
              <a:t>struct</a:t>
            </a:r>
            <a:r>
              <a:rPr lang="en-IN" dirty="0"/>
              <a:t> </a:t>
            </a:r>
            <a:r>
              <a:rPr lang="en-IN" dirty="0" err="1"/>
              <a:t>MinHNode</a:t>
            </a:r>
            <a:r>
              <a:rPr lang="en-IN" dirty="0"/>
              <a:t> *));</a:t>
            </a:r>
          </a:p>
          <a:p>
            <a:r>
              <a:rPr lang="en-IN" dirty="0"/>
              <a:t>  return </a:t>
            </a:r>
            <a:r>
              <a:rPr lang="en-IN" dirty="0" err="1"/>
              <a:t>minHeap</a:t>
            </a:r>
            <a:r>
              <a:rPr lang="en-IN" dirty="0"/>
              <a:t>;</a:t>
            </a:r>
          </a:p>
          <a:p>
            <a:r>
              <a:rPr lang="en-IN" dirty="0"/>
              <a:t>}</a:t>
            </a:r>
          </a:p>
        </p:txBody>
      </p:sp>
    </p:spTree>
    <p:extLst>
      <p:ext uri="{BB962C8B-B14F-4D97-AF65-F5344CB8AC3E}">
        <p14:creationId xmlns:p14="http://schemas.microsoft.com/office/powerpoint/2010/main" val="347542612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260648"/>
            <a:ext cx="8820472" cy="6186309"/>
          </a:xfrm>
          <a:prstGeom prst="rect">
            <a:avLst/>
          </a:prstGeom>
        </p:spPr>
        <p:txBody>
          <a:bodyPr wrap="square">
            <a:spAutoFit/>
          </a:bodyPr>
          <a:lstStyle/>
          <a:p>
            <a:r>
              <a:rPr lang="en-IN" dirty="0" smtClean="0"/>
              <a:t>// </a:t>
            </a:r>
            <a:r>
              <a:rPr lang="en-IN" dirty="0"/>
              <a:t>Function to swap</a:t>
            </a:r>
          </a:p>
          <a:p>
            <a:r>
              <a:rPr lang="en-IN" dirty="0"/>
              <a:t>void </a:t>
            </a:r>
            <a:r>
              <a:rPr lang="en-IN" dirty="0" err="1"/>
              <a:t>swapMinHNode</a:t>
            </a:r>
            <a:r>
              <a:rPr lang="en-IN" dirty="0"/>
              <a:t>(</a:t>
            </a:r>
            <a:r>
              <a:rPr lang="en-IN" dirty="0" err="1"/>
              <a:t>struct</a:t>
            </a:r>
            <a:r>
              <a:rPr lang="en-IN" dirty="0"/>
              <a:t> </a:t>
            </a:r>
            <a:r>
              <a:rPr lang="en-IN" dirty="0" err="1"/>
              <a:t>MinHNode</a:t>
            </a:r>
            <a:r>
              <a:rPr lang="en-IN" dirty="0"/>
              <a:t> **a, </a:t>
            </a:r>
            <a:r>
              <a:rPr lang="en-IN" dirty="0" err="1"/>
              <a:t>struct</a:t>
            </a:r>
            <a:r>
              <a:rPr lang="en-IN" dirty="0"/>
              <a:t> </a:t>
            </a:r>
            <a:r>
              <a:rPr lang="en-IN" dirty="0" err="1"/>
              <a:t>MinHNode</a:t>
            </a:r>
            <a:r>
              <a:rPr lang="en-IN" dirty="0"/>
              <a:t> **b) {</a:t>
            </a:r>
          </a:p>
          <a:p>
            <a:r>
              <a:rPr lang="en-IN" dirty="0"/>
              <a:t>  </a:t>
            </a:r>
            <a:r>
              <a:rPr lang="en-IN" dirty="0" err="1"/>
              <a:t>struct</a:t>
            </a:r>
            <a:r>
              <a:rPr lang="en-IN" dirty="0"/>
              <a:t> </a:t>
            </a:r>
            <a:r>
              <a:rPr lang="en-IN" dirty="0" err="1"/>
              <a:t>MinHNode</a:t>
            </a:r>
            <a:r>
              <a:rPr lang="en-IN" dirty="0"/>
              <a:t> *t = *a;</a:t>
            </a:r>
          </a:p>
          <a:p>
            <a:r>
              <a:rPr lang="en-IN" dirty="0"/>
              <a:t>  *a = *b;</a:t>
            </a:r>
          </a:p>
          <a:p>
            <a:r>
              <a:rPr lang="en-IN" dirty="0"/>
              <a:t>  *b = t;</a:t>
            </a:r>
          </a:p>
          <a:p>
            <a:r>
              <a:rPr lang="en-IN" dirty="0"/>
              <a:t>}</a:t>
            </a:r>
          </a:p>
          <a:p>
            <a:r>
              <a:rPr lang="en-IN" dirty="0" smtClean="0"/>
              <a:t>// </a:t>
            </a:r>
            <a:r>
              <a:rPr lang="en-IN" dirty="0" err="1"/>
              <a:t>Heapify</a:t>
            </a:r>
            <a:endParaRPr lang="en-IN" dirty="0"/>
          </a:p>
          <a:p>
            <a:r>
              <a:rPr lang="en-IN" dirty="0"/>
              <a:t>void </a:t>
            </a:r>
            <a:r>
              <a:rPr lang="en-IN" dirty="0" err="1"/>
              <a:t>minHeapify</a:t>
            </a:r>
            <a:r>
              <a:rPr lang="en-IN" dirty="0"/>
              <a:t>(</a:t>
            </a:r>
            <a:r>
              <a:rPr lang="en-IN" dirty="0" err="1"/>
              <a:t>struct</a:t>
            </a:r>
            <a:r>
              <a:rPr lang="en-IN" dirty="0"/>
              <a:t> </a:t>
            </a:r>
            <a:r>
              <a:rPr lang="en-IN" dirty="0" err="1"/>
              <a:t>MinHeap</a:t>
            </a:r>
            <a:r>
              <a:rPr lang="en-IN" dirty="0"/>
              <a:t> *</a:t>
            </a:r>
            <a:r>
              <a:rPr lang="en-IN" dirty="0" err="1"/>
              <a:t>minHeap</a:t>
            </a:r>
            <a:r>
              <a:rPr lang="en-IN" dirty="0"/>
              <a:t>, </a:t>
            </a:r>
            <a:r>
              <a:rPr lang="en-IN" dirty="0" err="1"/>
              <a:t>int</a:t>
            </a:r>
            <a:r>
              <a:rPr lang="en-IN" dirty="0"/>
              <a:t> </a:t>
            </a:r>
            <a:r>
              <a:rPr lang="en-IN" dirty="0" err="1"/>
              <a:t>idx</a:t>
            </a:r>
            <a:r>
              <a:rPr lang="en-IN" dirty="0"/>
              <a:t>) {</a:t>
            </a:r>
          </a:p>
          <a:p>
            <a:r>
              <a:rPr lang="en-IN" dirty="0"/>
              <a:t>  </a:t>
            </a:r>
            <a:r>
              <a:rPr lang="en-IN" dirty="0" err="1"/>
              <a:t>int</a:t>
            </a:r>
            <a:r>
              <a:rPr lang="en-IN" dirty="0"/>
              <a:t> smallest = </a:t>
            </a:r>
            <a:r>
              <a:rPr lang="en-IN" dirty="0" err="1"/>
              <a:t>idx</a:t>
            </a:r>
            <a:r>
              <a:rPr lang="en-IN" dirty="0"/>
              <a:t>;</a:t>
            </a:r>
          </a:p>
          <a:p>
            <a:r>
              <a:rPr lang="en-IN" dirty="0"/>
              <a:t>  </a:t>
            </a:r>
            <a:r>
              <a:rPr lang="en-IN" dirty="0" err="1"/>
              <a:t>int</a:t>
            </a:r>
            <a:r>
              <a:rPr lang="en-IN" dirty="0"/>
              <a:t> left = 2 * </a:t>
            </a:r>
            <a:r>
              <a:rPr lang="en-IN" dirty="0" err="1"/>
              <a:t>idx</a:t>
            </a:r>
            <a:r>
              <a:rPr lang="en-IN" dirty="0"/>
              <a:t> + 1;</a:t>
            </a:r>
          </a:p>
          <a:p>
            <a:r>
              <a:rPr lang="en-IN" dirty="0"/>
              <a:t>  </a:t>
            </a:r>
            <a:r>
              <a:rPr lang="en-IN" dirty="0" err="1"/>
              <a:t>int</a:t>
            </a:r>
            <a:r>
              <a:rPr lang="en-IN" dirty="0"/>
              <a:t> right = 2 * </a:t>
            </a:r>
            <a:r>
              <a:rPr lang="en-IN" dirty="0" err="1"/>
              <a:t>idx</a:t>
            </a:r>
            <a:r>
              <a:rPr lang="en-IN" dirty="0"/>
              <a:t> + 2;</a:t>
            </a:r>
          </a:p>
          <a:p>
            <a:r>
              <a:rPr lang="en-IN" dirty="0" smtClean="0"/>
              <a:t>  </a:t>
            </a:r>
            <a:r>
              <a:rPr lang="en-IN" dirty="0"/>
              <a:t>if (left &lt; </a:t>
            </a:r>
            <a:r>
              <a:rPr lang="en-IN" dirty="0" err="1"/>
              <a:t>minHeap</a:t>
            </a:r>
            <a:r>
              <a:rPr lang="en-IN" dirty="0"/>
              <a:t>-&gt;size &amp;&amp; </a:t>
            </a:r>
            <a:r>
              <a:rPr lang="en-IN" dirty="0" err="1"/>
              <a:t>minHeap</a:t>
            </a:r>
            <a:r>
              <a:rPr lang="en-IN" dirty="0"/>
              <a:t>-&gt;array[left]-&gt;</a:t>
            </a:r>
            <a:r>
              <a:rPr lang="en-IN" dirty="0" err="1"/>
              <a:t>freq</a:t>
            </a:r>
            <a:r>
              <a:rPr lang="en-IN" dirty="0"/>
              <a:t> &lt; </a:t>
            </a:r>
            <a:r>
              <a:rPr lang="en-IN" dirty="0" err="1"/>
              <a:t>minHeap</a:t>
            </a:r>
            <a:r>
              <a:rPr lang="en-IN" dirty="0"/>
              <a:t>-&gt;array[smallest]-&gt;</a:t>
            </a:r>
            <a:r>
              <a:rPr lang="en-IN" dirty="0" err="1"/>
              <a:t>freq</a:t>
            </a:r>
            <a:r>
              <a:rPr lang="en-IN" dirty="0"/>
              <a:t>)</a:t>
            </a:r>
          </a:p>
          <a:p>
            <a:r>
              <a:rPr lang="en-IN" dirty="0"/>
              <a:t>    smallest = left;</a:t>
            </a:r>
          </a:p>
          <a:p>
            <a:r>
              <a:rPr lang="en-IN" dirty="0" smtClean="0"/>
              <a:t>  </a:t>
            </a:r>
            <a:r>
              <a:rPr lang="en-IN" dirty="0"/>
              <a:t>if (right &lt; </a:t>
            </a:r>
            <a:r>
              <a:rPr lang="en-IN" dirty="0" err="1"/>
              <a:t>minHeap</a:t>
            </a:r>
            <a:r>
              <a:rPr lang="en-IN" dirty="0"/>
              <a:t>-&gt;size &amp;&amp; </a:t>
            </a:r>
            <a:r>
              <a:rPr lang="en-IN" dirty="0" err="1"/>
              <a:t>minHeap</a:t>
            </a:r>
            <a:r>
              <a:rPr lang="en-IN" dirty="0"/>
              <a:t>-&gt;array[right]-&gt;</a:t>
            </a:r>
            <a:r>
              <a:rPr lang="en-IN" dirty="0" err="1"/>
              <a:t>freq</a:t>
            </a:r>
            <a:r>
              <a:rPr lang="en-IN" dirty="0"/>
              <a:t> &lt; </a:t>
            </a:r>
            <a:r>
              <a:rPr lang="en-IN" dirty="0" err="1"/>
              <a:t>minHeap</a:t>
            </a:r>
            <a:r>
              <a:rPr lang="en-IN" dirty="0"/>
              <a:t>-&gt;array[smallest]-&gt;</a:t>
            </a:r>
            <a:r>
              <a:rPr lang="en-IN" dirty="0" err="1"/>
              <a:t>freq</a:t>
            </a:r>
            <a:r>
              <a:rPr lang="en-IN" dirty="0"/>
              <a:t>)</a:t>
            </a:r>
          </a:p>
          <a:p>
            <a:r>
              <a:rPr lang="en-IN" dirty="0"/>
              <a:t>    smallest = right;</a:t>
            </a:r>
          </a:p>
          <a:p>
            <a:endParaRPr lang="en-IN" dirty="0"/>
          </a:p>
          <a:p>
            <a:r>
              <a:rPr lang="en-IN" dirty="0"/>
              <a:t>  if (smallest != </a:t>
            </a:r>
            <a:r>
              <a:rPr lang="en-IN" dirty="0" err="1"/>
              <a:t>idx</a:t>
            </a:r>
            <a:r>
              <a:rPr lang="en-IN" dirty="0"/>
              <a:t>) {</a:t>
            </a:r>
          </a:p>
          <a:p>
            <a:r>
              <a:rPr lang="en-IN" dirty="0"/>
              <a:t>    </a:t>
            </a:r>
            <a:r>
              <a:rPr lang="en-IN" dirty="0" err="1"/>
              <a:t>swapMinHNode</a:t>
            </a:r>
            <a:r>
              <a:rPr lang="en-IN" dirty="0"/>
              <a:t>(&amp;</a:t>
            </a:r>
            <a:r>
              <a:rPr lang="en-IN" dirty="0" err="1"/>
              <a:t>minHeap</a:t>
            </a:r>
            <a:r>
              <a:rPr lang="en-IN" dirty="0"/>
              <a:t>-&gt;array[smallest], &amp;</a:t>
            </a:r>
            <a:r>
              <a:rPr lang="en-IN" dirty="0" err="1"/>
              <a:t>minHeap</a:t>
            </a:r>
            <a:r>
              <a:rPr lang="en-IN" dirty="0"/>
              <a:t>-&gt;array[</a:t>
            </a:r>
            <a:r>
              <a:rPr lang="en-IN" dirty="0" err="1"/>
              <a:t>idx</a:t>
            </a:r>
            <a:r>
              <a:rPr lang="en-IN" dirty="0"/>
              <a:t>]);</a:t>
            </a:r>
          </a:p>
          <a:p>
            <a:r>
              <a:rPr lang="en-IN" dirty="0"/>
              <a:t>    </a:t>
            </a:r>
            <a:r>
              <a:rPr lang="en-IN" dirty="0" err="1"/>
              <a:t>minHeapify</a:t>
            </a:r>
            <a:r>
              <a:rPr lang="en-IN" dirty="0"/>
              <a:t>(</a:t>
            </a:r>
            <a:r>
              <a:rPr lang="en-IN" dirty="0" err="1"/>
              <a:t>minHeap</a:t>
            </a:r>
            <a:r>
              <a:rPr lang="en-IN" dirty="0"/>
              <a:t>, smallest);</a:t>
            </a:r>
          </a:p>
          <a:p>
            <a:r>
              <a:rPr lang="en-IN" dirty="0"/>
              <a:t>  }</a:t>
            </a:r>
          </a:p>
          <a:p>
            <a:r>
              <a:rPr lang="en-IN" dirty="0"/>
              <a:t>}</a:t>
            </a:r>
          </a:p>
        </p:txBody>
      </p:sp>
    </p:spTree>
    <p:extLst>
      <p:ext uri="{BB962C8B-B14F-4D97-AF65-F5344CB8AC3E}">
        <p14:creationId xmlns:p14="http://schemas.microsoft.com/office/powerpoint/2010/main" val="281318786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188640"/>
            <a:ext cx="7920880" cy="6463308"/>
          </a:xfrm>
          <a:prstGeom prst="rect">
            <a:avLst/>
          </a:prstGeom>
        </p:spPr>
        <p:txBody>
          <a:bodyPr wrap="square">
            <a:spAutoFit/>
          </a:bodyPr>
          <a:lstStyle/>
          <a:p>
            <a:r>
              <a:rPr lang="en-IN" dirty="0"/>
              <a:t>// Check if size if 1</a:t>
            </a:r>
          </a:p>
          <a:p>
            <a:r>
              <a:rPr lang="en-IN" dirty="0" err="1"/>
              <a:t>int</a:t>
            </a:r>
            <a:r>
              <a:rPr lang="en-IN" dirty="0"/>
              <a:t> </a:t>
            </a:r>
            <a:r>
              <a:rPr lang="en-IN" dirty="0" err="1"/>
              <a:t>checkSizeOne</a:t>
            </a:r>
            <a:r>
              <a:rPr lang="en-IN" dirty="0"/>
              <a:t>(</a:t>
            </a:r>
            <a:r>
              <a:rPr lang="en-IN" dirty="0" err="1"/>
              <a:t>struct</a:t>
            </a:r>
            <a:r>
              <a:rPr lang="en-IN" dirty="0"/>
              <a:t> </a:t>
            </a:r>
            <a:r>
              <a:rPr lang="en-IN" dirty="0" err="1"/>
              <a:t>MinHeap</a:t>
            </a:r>
            <a:r>
              <a:rPr lang="en-IN" dirty="0"/>
              <a:t> *</a:t>
            </a:r>
            <a:r>
              <a:rPr lang="en-IN" dirty="0" err="1"/>
              <a:t>minHeap</a:t>
            </a:r>
            <a:r>
              <a:rPr lang="en-IN" dirty="0"/>
              <a:t>) {</a:t>
            </a:r>
          </a:p>
          <a:p>
            <a:r>
              <a:rPr lang="en-IN" dirty="0"/>
              <a:t>  return (</a:t>
            </a:r>
            <a:r>
              <a:rPr lang="en-IN" dirty="0" err="1"/>
              <a:t>minHeap</a:t>
            </a:r>
            <a:r>
              <a:rPr lang="en-IN" dirty="0"/>
              <a:t>-&gt;size == 1);</a:t>
            </a:r>
          </a:p>
          <a:p>
            <a:r>
              <a:rPr lang="en-IN" dirty="0"/>
              <a:t>}</a:t>
            </a:r>
          </a:p>
          <a:p>
            <a:r>
              <a:rPr lang="en-IN" dirty="0" smtClean="0"/>
              <a:t>// </a:t>
            </a:r>
            <a:r>
              <a:rPr lang="en-IN" dirty="0"/>
              <a:t>Extract min</a:t>
            </a:r>
          </a:p>
          <a:p>
            <a:r>
              <a:rPr lang="en-IN" dirty="0" err="1"/>
              <a:t>struct</a:t>
            </a:r>
            <a:r>
              <a:rPr lang="en-IN" dirty="0"/>
              <a:t> </a:t>
            </a:r>
            <a:r>
              <a:rPr lang="en-IN" dirty="0" err="1"/>
              <a:t>MinHNode</a:t>
            </a:r>
            <a:r>
              <a:rPr lang="en-IN" dirty="0"/>
              <a:t> *</a:t>
            </a:r>
            <a:r>
              <a:rPr lang="en-IN" dirty="0" err="1"/>
              <a:t>extractMin</a:t>
            </a:r>
            <a:r>
              <a:rPr lang="en-IN" dirty="0"/>
              <a:t>(</a:t>
            </a:r>
            <a:r>
              <a:rPr lang="en-IN" dirty="0" err="1"/>
              <a:t>struct</a:t>
            </a:r>
            <a:r>
              <a:rPr lang="en-IN" dirty="0"/>
              <a:t> </a:t>
            </a:r>
            <a:r>
              <a:rPr lang="en-IN" dirty="0" err="1"/>
              <a:t>MinHeap</a:t>
            </a:r>
            <a:r>
              <a:rPr lang="en-IN" dirty="0"/>
              <a:t> *</a:t>
            </a:r>
            <a:r>
              <a:rPr lang="en-IN" dirty="0" err="1"/>
              <a:t>minHeap</a:t>
            </a:r>
            <a:r>
              <a:rPr lang="en-IN" dirty="0"/>
              <a:t>) {</a:t>
            </a:r>
          </a:p>
          <a:p>
            <a:r>
              <a:rPr lang="en-IN" dirty="0"/>
              <a:t>  </a:t>
            </a:r>
            <a:r>
              <a:rPr lang="en-IN" dirty="0" err="1"/>
              <a:t>struct</a:t>
            </a:r>
            <a:r>
              <a:rPr lang="en-IN" dirty="0"/>
              <a:t> </a:t>
            </a:r>
            <a:r>
              <a:rPr lang="en-IN" dirty="0" err="1"/>
              <a:t>MinHNode</a:t>
            </a:r>
            <a:r>
              <a:rPr lang="en-IN" dirty="0"/>
              <a:t> *temp = </a:t>
            </a:r>
            <a:r>
              <a:rPr lang="en-IN" dirty="0" err="1"/>
              <a:t>minHeap</a:t>
            </a:r>
            <a:r>
              <a:rPr lang="en-IN" dirty="0"/>
              <a:t>-&gt;array[0];</a:t>
            </a:r>
          </a:p>
          <a:p>
            <a:r>
              <a:rPr lang="en-IN" dirty="0"/>
              <a:t>  </a:t>
            </a:r>
            <a:r>
              <a:rPr lang="en-IN" dirty="0" err="1"/>
              <a:t>minHeap</a:t>
            </a:r>
            <a:r>
              <a:rPr lang="en-IN" dirty="0"/>
              <a:t>-&gt;array[0] = </a:t>
            </a:r>
            <a:r>
              <a:rPr lang="en-IN" dirty="0" err="1"/>
              <a:t>minHeap</a:t>
            </a:r>
            <a:r>
              <a:rPr lang="en-IN" dirty="0"/>
              <a:t>-&gt;array[</a:t>
            </a:r>
            <a:r>
              <a:rPr lang="en-IN" dirty="0" err="1"/>
              <a:t>minHeap</a:t>
            </a:r>
            <a:r>
              <a:rPr lang="en-IN" dirty="0"/>
              <a:t>-&gt;size - 1];</a:t>
            </a:r>
          </a:p>
          <a:p>
            <a:r>
              <a:rPr lang="en-IN" dirty="0" smtClean="0"/>
              <a:t>  </a:t>
            </a:r>
            <a:r>
              <a:rPr lang="en-IN" dirty="0"/>
              <a:t>--</a:t>
            </a:r>
            <a:r>
              <a:rPr lang="en-IN" dirty="0" err="1"/>
              <a:t>minHeap</a:t>
            </a:r>
            <a:r>
              <a:rPr lang="en-IN" dirty="0"/>
              <a:t>-&gt;size;</a:t>
            </a:r>
          </a:p>
          <a:p>
            <a:r>
              <a:rPr lang="en-IN" dirty="0"/>
              <a:t>  </a:t>
            </a:r>
            <a:r>
              <a:rPr lang="en-IN" dirty="0" err="1"/>
              <a:t>minHeapify</a:t>
            </a:r>
            <a:r>
              <a:rPr lang="en-IN" dirty="0"/>
              <a:t>(</a:t>
            </a:r>
            <a:r>
              <a:rPr lang="en-IN" dirty="0" err="1"/>
              <a:t>minHeap</a:t>
            </a:r>
            <a:r>
              <a:rPr lang="en-IN" dirty="0"/>
              <a:t>, 0);</a:t>
            </a:r>
          </a:p>
          <a:p>
            <a:r>
              <a:rPr lang="en-IN" dirty="0" smtClean="0"/>
              <a:t>  </a:t>
            </a:r>
            <a:r>
              <a:rPr lang="en-IN" dirty="0"/>
              <a:t>return temp;</a:t>
            </a:r>
          </a:p>
          <a:p>
            <a:r>
              <a:rPr lang="en-IN" dirty="0"/>
              <a:t>}</a:t>
            </a:r>
          </a:p>
          <a:p>
            <a:r>
              <a:rPr lang="en-IN" dirty="0" smtClean="0"/>
              <a:t>// </a:t>
            </a:r>
            <a:r>
              <a:rPr lang="en-IN" dirty="0"/>
              <a:t>Insertion function</a:t>
            </a:r>
          </a:p>
          <a:p>
            <a:r>
              <a:rPr lang="en-IN" dirty="0"/>
              <a:t>void </a:t>
            </a:r>
            <a:r>
              <a:rPr lang="en-IN" dirty="0" err="1"/>
              <a:t>insertMinHeap</a:t>
            </a:r>
            <a:r>
              <a:rPr lang="en-IN" dirty="0"/>
              <a:t>(</a:t>
            </a:r>
            <a:r>
              <a:rPr lang="en-IN" dirty="0" err="1"/>
              <a:t>struct</a:t>
            </a:r>
            <a:r>
              <a:rPr lang="en-IN" dirty="0"/>
              <a:t> </a:t>
            </a:r>
            <a:r>
              <a:rPr lang="en-IN" dirty="0" err="1"/>
              <a:t>MinHeap</a:t>
            </a:r>
            <a:r>
              <a:rPr lang="en-IN" dirty="0"/>
              <a:t> *</a:t>
            </a:r>
            <a:r>
              <a:rPr lang="en-IN" dirty="0" err="1"/>
              <a:t>minHeap</a:t>
            </a:r>
            <a:r>
              <a:rPr lang="en-IN" dirty="0"/>
              <a:t>, </a:t>
            </a:r>
            <a:r>
              <a:rPr lang="en-IN" dirty="0" err="1"/>
              <a:t>struct</a:t>
            </a:r>
            <a:r>
              <a:rPr lang="en-IN" dirty="0"/>
              <a:t> </a:t>
            </a:r>
            <a:r>
              <a:rPr lang="en-IN" dirty="0" err="1"/>
              <a:t>MinHNode</a:t>
            </a:r>
            <a:r>
              <a:rPr lang="en-IN" dirty="0"/>
              <a:t> *</a:t>
            </a:r>
            <a:r>
              <a:rPr lang="en-IN" dirty="0" err="1"/>
              <a:t>minHeapNode</a:t>
            </a:r>
            <a:r>
              <a:rPr lang="en-IN" dirty="0"/>
              <a:t>) {</a:t>
            </a:r>
          </a:p>
          <a:p>
            <a:r>
              <a:rPr lang="en-IN" dirty="0"/>
              <a:t>  ++</a:t>
            </a:r>
            <a:r>
              <a:rPr lang="en-IN" dirty="0" err="1"/>
              <a:t>minHeap</a:t>
            </a:r>
            <a:r>
              <a:rPr lang="en-IN" dirty="0"/>
              <a:t>-&gt;size;</a:t>
            </a:r>
          </a:p>
          <a:p>
            <a:r>
              <a:rPr lang="en-IN" dirty="0"/>
              <a:t>  </a:t>
            </a:r>
            <a:r>
              <a:rPr lang="en-IN" dirty="0" err="1"/>
              <a:t>int</a:t>
            </a:r>
            <a:r>
              <a:rPr lang="en-IN" dirty="0"/>
              <a:t> </a:t>
            </a:r>
            <a:r>
              <a:rPr lang="en-IN" dirty="0" err="1"/>
              <a:t>i</a:t>
            </a:r>
            <a:r>
              <a:rPr lang="en-IN" dirty="0"/>
              <a:t> = </a:t>
            </a:r>
            <a:r>
              <a:rPr lang="en-IN" dirty="0" err="1"/>
              <a:t>minHeap</a:t>
            </a:r>
            <a:r>
              <a:rPr lang="en-IN" dirty="0"/>
              <a:t>-&gt;size - 1;</a:t>
            </a:r>
          </a:p>
          <a:p>
            <a:r>
              <a:rPr lang="en-IN" dirty="0" smtClean="0"/>
              <a:t>  </a:t>
            </a:r>
            <a:r>
              <a:rPr lang="en-IN" dirty="0"/>
              <a:t>while (</a:t>
            </a:r>
            <a:r>
              <a:rPr lang="en-IN" dirty="0" err="1"/>
              <a:t>i</a:t>
            </a:r>
            <a:r>
              <a:rPr lang="en-IN" dirty="0"/>
              <a:t> &amp;&amp; </a:t>
            </a:r>
            <a:r>
              <a:rPr lang="en-IN" dirty="0" err="1"/>
              <a:t>minHeapNode</a:t>
            </a:r>
            <a:r>
              <a:rPr lang="en-IN" dirty="0"/>
              <a:t>-&gt;</a:t>
            </a:r>
            <a:r>
              <a:rPr lang="en-IN" dirty="0" err="1"/>
              <a:t>freq</a:t>
            </a:r>
            <a:r>
              <a:rPr lang="en-IN" dirty="0"/>
              <a:t> &lt; </a:t>
            </a:r>
            <a:r>
              <a:rPr lang="en-IN" dirty="0" err="1"/>
              <a:t>minHeap</a:t>
            </a:r>
            <a:r>
              <a:rPr lang="en-IN" dirty="0"/>
              <a:t>-&gt;array[(</a:t>
            </a:r>
            <a:r>
              <a:rPr lang="en-IN" dirty="0" err="1"/>
              <a:t>i</a:t>
            </a:r>
            <a:r>
              <a:rPr lang="en-IN" dirty="0"/>
              <a:t> - 1) / 2]-&gt;</a:t>
            </a:r>
            <a:r>
              <a:rPr lang="en-IN" dirty="0" err="1"/>
              <a:t>freq</a:t>
            </a:r>
            <a:r>
              <a:rPr lang="en-IN" dirty="0"/>
              <a:t>) {</a:t>
            </a:r>
          </a:p>
          <a:p>
            <a:r>
              <a:rPr lang="en-IN" dirty="0"/>
              <a:t>    </a:t>
            </a:r>
            <a:r>
              <a:rPr lang="en-IN" dirty="0" err="1"/>
              <a:t>minHeap</a:t>
            </a:r>
            <a:r>
              <a:rPr lang="en-IN" dirty="0"/>
              <a:t>-&gt;array[</a:t>
            </a:r>
            <a:r>
              <a:rPr lang="en-IN" dirty="0" err="1"/>
              <a:t>i</a:t>
            </a:r>
            <a:r>
              <a:rPr lang="en-IN" dirty="0"/>
              <a:t>] = </a:t>
            </a:r>
            <a:r>
              <a:rPr lang="en-IN" dirty="0" err="1"/>
              <a:t>minHeap</a:t>
            </a:r>
            <a:r>
              <a:rPr lang="en-IN" dirty="0"/>
              <a:t>-&gt;array[(</a:t>
            </a:r>
            <a:r>
              <a:rPr lang="en-IN" dirty="0" err="1"/>
              <a:t>i</a:t>
            </a:r>
            <a:r>
              <a:rPr lang="en-IN" dirty="0"/>
              <a:t> - 1) / 2];</a:t>
            </a:r>
          </a:p>
          <a:p>
            <a:r>
              <a:rPr lang="en-IN" dirty="0"/>
              <a:t>    </a:t>
            </a:r>
            <a:r>
              <a:rPr lang="en-IN" dirty="0" err="1"/>
              <a:t>i</a:t>
            </a:r>
            <a:r>
              <a:rPr lang="en-IN" dirty="0"/>
              <a:t> = (</a:t>
            </a:r>
            <a:r>
              <a:rPr lang="en-IN" dirty="0" err="1"/>
              <a:t>i</a:t>
            </a:r>
            <a:r>
              <a:rPr lang="en-IN" dirty="0"/>
              <a:t> - 1) / 2;</a:t>
            </a:r>
          </a:p>
          <a:p>
            <a:r>
              <a:rPr lang="en-IN" dirty="0"/>
              <a:t>  }</a:t>
            </a:r>
          </a:p>
          <a:p>
            <a:r>
              <a:rPr lang="en-IN" dirty="0"/>
              <a:t>  </a:t>
            </a:r>
            <a:r>
              <a:rPr lang="en-IN" dirty="0" err="1"/>
              <a:t>minHeap</a:t>
            </a:r>
            <a:r>
              <a:rPr lang="en-IN" dirty="0"/>
              <a:t>-&gt;array[</a:t>
            </a:r>
            <a:r>
              <a:rPr lang="en-IN" dirty="0" err="1"/>
              <a:t>i</a:t>
            </a:r>
            <a:r>
              <a:rPr lang="en-IN" dirty="0"/>
              <a:t>] = </a:t>
            </a:r>
            <a:r>
              <a:rPr lang="en-IN" dirty="0" err="1"/>
              <a:t>minHeapNode</a:t>
            </a:r>
            <a:r>
              <a:rPr lang="en-IN" dirty="0"/>
              <a:t>;</a:t>
            </a:r>
          </a:p>
          <a:p>
            <a:r>
              <a:rPr lang="en-IN" dirty="0"/>
              <a:t>}</a:t>
            </a:r>
          </a:p>
        </p:txBody>
      </p:sp>
    </p:spTree>
    <p:extLst>
      <p:ext uri="{BB962C8B-B14F-4D97-AF65-F5344CB8AC3E}">
        <p14:creationId xmlns:p14="http://schemas.microsoft.com/office/powerpoint/2010/main" val="5659678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910" y="116632"/>
            <a:ext cx="4572000" cy="7294305"/>
          </a:xfrm>
          <a:prstGeom prst="rect">
            <a:avLst/>
          </a:prstGeom>
        </p:spPr>
        <p:txBody>
          <a:bodyPr>
            <a:spAutoFit/>
          </a:bodyPr>
          <a:lstStyle/>
          <a:p>
            <a:r>
              <a:rPr lang="en-IN" dirty="0"/>
              <a:t>void </a:t>
            </a:r>
            <a:r>
              <a:rPr lang="en-IN" dirty="0" err="1"/>
              <a:t>buildMinHeap</a:t>
            </a:r>
            <a:r>
              <a:rPr lang="en-IN" dirty="0"/>
              <a:t>(</a:t>
            </a:r>
            <a:r>
              <a:rPr lang="en-IN" dirty="0" err="1"/>
              <a:t>struct</a:t>
            </a:r>
            <a:r>
              <a:rPr lang="en-IN" dirty="0"/>
              <a:t> </a:t>
            </a:r>
            <a:r>
              <a:rPr lang="en-IN" dirty="0" err="1"/>
              <a:t>MinHeap</a:t>
            </a:r>
            <a:r>
              <a:rPr lang="en-IN" dirty="0"/>
              <a:t> *</a:t>
            </a:r>
            <a:r>
              <a:rPr lang="en-IN" dirty="0" err="1"/>
              <a:t>minHeap</a:t>
            </a:r>
            <a:r>
              <a:rPr lang="en-IN" dirty="0"/>
              <a:t>) </a:t>
            </a:r>
            <a:r>
              <a:rPr lang="en-IN" dirty="0" smtClean="0"/>
              <a:t>{  </a:t>
            </a:r>
            <a:r>
              <a:rPr lang="en-IN" dirty="0" err="1"/>
              <a:t>int</a:t>
            </a:r>
            <a:r>
              <a:rPr lang="en-IN" dirty="0"/>
              <a:t> n = </a:t>
            </a:r>
            <a:r>
              <a:rPr lang="en-IN" dirty="0" err="1"/>
              <a:t>minHeap</a:t>
            </a:r>
            <a:r>
              <a:rPr lang="en-IN" dirty="0"/>
              <a:t>-&gt;size - 1;</a:t>
            </a:r>
          </a:p>
          <a:p>
            <a:r>
              <a:rPr lang="en-IN" dirty="0"/>
              <a:t>  </a:t>
            </a:r>
            <a:r>
              <a:rPr lang="en-IN" dirty="0" err="1"/>
              <a:t>int</a:t>
            </a:r>
            <a:r>
              <a:rPr lang="en-IN" dirty="0"/>
              <a:t> </a:t>
            </a:r>
            <a:r>
              <a:rPr lang="en-IN" dirty="0" err="1"/>
              <a:t>i</a:t>
            </a:r>
            <a:r>
              <a:rPr lang="en-IN" dirty="0"/>
              <a:t>;</a:t>
            </a:r>
          </a:p>
          <a:p>
            <a:r>
              <a:rPr lang="en-IN" dirty="0" smtClean="0"/>
              <a:t>  </a:t>
            </a:r>
            <a:r>
              <a:rPr lang="en-IN" dirty="0"/>
              <a:t>for (</a:t>
            </a:r>
            <a:r>
              <a:rPr lang="en-IN" dirty="0" err="1"/>
              <a:t>i</a:t>
            </a:r>
            <a:r>
              <a:rPr lang="en-IN" dirty="0"/>
              <a:t> = (n - 1) / 2; </a:t>
            </a:r>
            <a:r>
              <a:rPr lang="en-IN" dirty="0" err="1"/>
              <a:t>i</a:t>
            </a:r>
            <a:r>
              <a:rPr lang="en-IN" dirty="0"/>
              <a:t> &gt;= 0; --</a:t>
            </a:r>
            <a:r>
              <a:rPr lang="en-IN" dirty="0" err="1"/>
              <a:t>i</a:t>
            </a:r>
            <a:r>
              <a:rPr lang="en-IN" dirty="0"/>
              <a:t>)</a:t>
            </a:r>
          </a:p>
          <a:p>
            <a:r>
              <a:rPr lang="en-IN" dirty="0"/>
              <a:t>    </a:t>
            </a:r>
            <a:r>
              <a:rPr lang="en-IN" dirty="0" err="1"/>
              <a:t>minHeapify</a:t>
            </a:r>
            <a:r>
              <a:rPr lang="en-IN" dirty="0"/>
              <a:t>(</a:t>
            </a:r>
            <a:r>
              <a:rPr lang="en-IN" dirty="0" err="1"/>
              <a:t>minHeap</a:t>
            </a:r>
            <a:r>
              <a:rPr lang="en-IN" dirty="0"/>
              <a:t>, </a:t>
            </a:r>
            <a:r>
              <a:rPr lang="en-IN" dirty="0" err="1"/>
              <a:t>i</a:t>
            </a:r>
            <a:r>
              <a:rPr lang="en-IN" dirty="0"/>
              <a:t>);</a:t>
            </a:r>
          </a:p>
          <a:p>
            <a:r>
              <a:rPr lang="en-IN" dirty="0"/>
              <a:t>}</a:t>
            </a:r>
          </a:p>
          <a:p>
            <a:endParaRPr lang="en-IN" dirty="0"/>
          </a:p>
          <a:p>
            <a:r>
              <a:rPr lang="en-IN" dirty="0" err="1"/>
              <a:t>int</a:t>
            </a:r>
            <a:r>
              <a:rPr lang="en-IN" dirty="0"/>
              <a:t> </a:t>
            </a:r>
            <a:r>
              <a:rPr lang="en-IN" dirty="0" err="1"/>
              <a:t>isLeaf</a:t>
            </a:r>
            <a:r>
              <a:rPr lang="en-IN" dirty="0"/>
              <a:t>(</a:t>
            </a:r>
            <a:r>
              <a:rPr lang="en-IN" dirty="0" err="1"/>
              <a:t>struct</a:t>
            </a:r>
            <a:r>
              <a:rPr lang="en-IN" dirty="0"/>
              <a:t> </a:t>
            </a:r>
            <a:r>
              <a:rPr lang="en-IN" dirty="0" err="1"/>
              <a:t>MinHNode</a:t>
            </a:r>
            <a:r>
              <a:rPr lang="en-IN" dirty="0"/>
              <a:t> *root) {</a:t>
            </a:r>
          </a:p>
          <a:p>
            <a:r>
              <a:rPr lang="en-IN" dirty="0"/>
              <a:t>  return !(root-&gt;left) &amp;&amp; !(root-&gt;right);</a:t>
            </a:r>
          </a:p>
          <a:p>
            <a:r>
              <a:rPr lang="en-IN" dirty="0"/>
              <a:t>}</a:t>
            </a:r>
          </a:p>
          <a:p>
            <a:r>
              <a:rPr lang="en-IN" dirty="0" err="1" smtClean="0"/>
              <a:t>struct</a:t>
            </a:r>
            <a:r>
              <a:rPr lang="en-IN" dirty="0" smtClean="0"/>
              <a:t> </a:t>
            </a:r>
            <a:r>
              <a:rPr lang="en-IN" dirty="0" err="1"/>
              <a:t>MinHeap</a:t>
            </a:r>
            <a:r>
              <a:rPr lang="en-IN" dirty="0"/>
              <a:t> *</a:t>
            </a:r>
            <a:r>
              <a:rPr lang="en-IN" dirty="0" err="1"/>
              <a:t>createAndBuildMinHeap</a:t>
            </a:r>
            <a:r>
              <a:rPr lang="en-IN" dirty="0"/>
              <a:t>(char item[], </a:t>
            </a:r>
            <a:r>
              <a:rPr lang="en-IN" dirty="0" err="1"/>
              <a:t>int</a:t>
            </a:r>
            <a:r>
              <a:rPr lang="en-IN" dirty="0"/>
              <a:t> </a:t>
            </a:r>
            <a:r>
              <a:rPr lang="en-IN" dirty="0" err="1"/>
              <a:t>freq</a:t>
            </a:r>
            <a:r>
              <a:rPr lang="en-IN" dirty="0"/>
              <a:t>[], </a:t>
            </a:r>
            <a:r>
              <a:rPr lang="en-IN" dirty="0" err="1"/>
              <a:t>int</a:t>
            </a:r>
            <a:r>
              <a:rPr lang="en-IN" dirty="0"/>
              <a:t> size) {</a:t>
            </a:r>
          </a:p>
          <a:p>
            <a:r>
              <a:rPr lang="en-IN" dirty="0"/>
              <a:t>  </a:t>
            </a:r>
            <a:r>
              <a:rPr lang="en-IN" dirty="0" err="1"/>
              <a:t>struct</a:t>
            </a:r>
            <a:r>
              <a:rPr lang="en-IN" dirty="0"/>
              <a:t> </a:t>
            </a:r>
            <a:r>
              <a:rPr lang="en-IN" dirty="0" err="1"/>
              <a:t>MinHeap</a:t>
            </a:r>
            <a:r>
              <a:rPr lang="en-IN" dirty="0"/>
              <a:t> *</a:t>
            </a:r>
            <a:r>
              <a:rPr lang="en-IN" dirty="0" err="1"/>
              <a:t>minHeap</a:t>
            </a:r>
            <a:r>
              <a:rPr lang="en-IN" dirty="0"/>
              <a:t> = </a:t>
            </a:r>
            <a:r>
              <a:rPr lang="en-IN" dirty="0" err="1"/>
              <a:t>createMinH</a:t>
            </a:r>
            <a:r>
              <a:rPr lang="en-IN" dirty="0"/>
              <a:t>(size);</a:t>
            </a:r>
          </a:p>
          <a:p>
            <a:endParaRPr lang="en-IN" dirty="0"/>
          </a:p>
          <a:p>
            <a:r>
              <a:rPr lang="en-IN" dirty="0"/>
              <a:t>  for (</a:t>
            </a:r>
            <a:r>
              <a:rPr lang="en-IN" dirty="0" err="1"/>
              <a:t>int</a:t>
            </a:r>
            <a:r>
              <a:rPr lang="en-IN" dirty="0"/>
              <a:t> </a:t>
            </a:r>
            <a:r>
              <a:rPr lang="en-IN" dirty="0" err="1"/>
              <a:t>i</a:t>
            </a:r>
            <a:r>
              <a:rPr lang="en-IN" dirty="0"/>
              <a:t> = 0; </a:t>
            </a:r>
            <a:r>
              <a:rPr lang="en-IN" dirty="0" err="1"/>
              <a:t>i</a:t>
            </a:r>
            <a:r>
              <a:rPr lang="en-IN" dirty="0"/>
              <a:t> &lt; size; ++</a:t>
            </a:r>
            <a:r>
              <a:rPr lang="en-IN" dirty="0" err="1"/>
              <a:t>i</a:t>
            </a:r>
            <a:r>
              <a:rPr lang="en-IN" dirty="0"/>
              <a:t>)</a:t>
            </a:r>
          </a:p>
          <a:p>
            <a:r>
              <a:rPr lang="en-IN" dirty="0"/>
              <a:t>    </a:t>
            </a:r>
            <a:r>
              <a:rPr lang="en-IN" dirty="0" err="1"/>
              <a:t>minHeap</a:t>
            </a:r>
            <a:r>
              <a:rPr lang="en-IN" dirty="0"/>
              <a:t>-&gt;array[</a:t>
            </a:r>
            <a:r>
              <a:rPr lang="en-IN" dirty="0" err="1"/>
              <a:t>i</a:t>
            </a:r>
            <a:r>
              <a:rPr lang="en-IN" dirty="0"/>
              <a:t>] = </a:t>
            </a:r>
            <a:r>
              <a:rPr lang="en-IN" dirty="0" err="1"/>
              <a:t>newNode</a:t>
            </a:r>
            <a:r>
              <a:rPr lang="en-IN" dirty="0"/>
              <a:t>(item[</a:t>
            </a:r>
            <a:r>
              <a:rPr lang="en-IN" dirty="0" err="1"/>
              <a:t>i</a:t>
            </a:r>
            <a:r>
              <a:rPr lang="en-IN" dirty="0"/>
              <a:t>], </a:t>
            </a:r>
            <a:r>
              <a:rPr lang="en-IN" dirty="0" err="1"/>
              <a:t>freq</a:t>
            </a:r>
            <a:r>
              <a:rPr lang="en-IN" dirty="0"/>
              <a:t>[</a:t>
            </a:r>
            <a:r>
              <a:rPr lang="en-IN" dirty="0" err="1"/>
              <a:t>i</a:t>
            </a:r>
            <a:r>
              <a:rPr lang="en-IN" dirty="0"/>
              <a:t>]);</a:t>
            </a:r>
          </a:p>
          <a:p>
            <a:endParaRPr lang="en-IN" dirty="0"/>
          </a:p>
          <a:p>
            <a:r>
              <a:rPr lang="en-IN" dirty="0"/>
              <a:t>  </a:t>
            </a:r>
            <a:r>
              <a:rPr lang="en-IN" dirty="0" err="1"/>
              <a:t>minHeap</a:t>
            </a:r>
            <a:r>
              <a:rPr lang="en-IN" dirty="0"/>
              <a:t>-&gt;size = size;</a:t>
            </a:r>
          </a:p>
          <a:p>
            <a:r>
              <a:rPr lang="en-IN" dirty="0"/>
              <a:t>  </a:t>
            </a:r>
            <a:r>
              <a:rPr lang="en-IN" dirty="0" err="1"/>
              <a:t>buildMinHeap</a:t>
            </a:r>
            <a:r>
              <a:rPr lang="en-IN" dirty="0"/>
              <a:t>(</a:t>
            </a:r>
            <a:r>
              <a:rPr lang="en-IN" dirty="0" err="1"/>
              <a:t>minHeap</a:t>
            </a:r>
            <a:r>
              <a:rPr lang="en-IN" dirty="0"/>
              <a:t>);</a:t>
            </a:r>
          </a:p>
          <a:p>
            <a:endParaRPr lang="en-IN" dirty="0"/>
          </a:p>
          <a:p>
            <a:r>
              <a:rPr lang="en-IN" dirty="0"/>
              <a:t>  return </a:t>
            </a:r>
            <a:r>
              <a:rPr lang="en-IN" dirty="0" err="1"/>
              <a:t>minHeap</a:t>
            </a:r>
            <a:r>
              <a:rPr lang="en-IN" dirty="0"/>
              <a:t>;</a:t>
            </a:r>
          </a:p>
          <a:p>
            <a:r>
              <a:rPr lang="en-IN" dirty="0"/>
              <a:t>}</a:t>
            </a:r>
          </a:p>
          <a:p>
            <a:endParaRPr lang="en-IN" dirty="0"/>
          </a:p>
        </p:txBody>
      </p:sp>
      <p:sp>
        <p:nvSpPr>
          <p:cNvPr id="3" name="Rectangle 2"/>
          <p:cNvSpPr/>
          <p:nvPr/>
        </p:nvSpPr>
        <p:spPr>
          <a:xfrm>
            <a:off x="4623161" y="149118"/>
            <a:ext cx="4572000" cy="5355312"/>
          </a:xfrm>
          <a:prstGeom prst="rect">
            <a:avLst/>
          </a:prstGeom>
        </p:spPr>
        <p:txBody>
          <a:bodyPr>
            <a:spAutoFit/>
          </a:bodyPr>
          <a:lstStyle/>
          <a:p>
            <a:r>
              <a:rPr lang="en-IN" dirty="0" err="1"/>
              <a:t>struct</a:t>
            </a:r>
            <a:r>
              <a:rPr lang="en-IN" dirty="0"/>
              <a:t> </a:t>
            </a:r>
            <a:r>
              <a:rPr lang="en-IN" dirty="0" err="1"/>
              <a:t>MinHNode</a:t>
            </a:r>
            <a:r>
              <a:rPr lang="en-IN" dirty="0"/>
              <a:t> *</a:t>
            </a:r>
            <a:r>
              <a:rPr lang="en-IN" dirty="0" err="1"/>
              <a:t>buildHuffmanTree</a:t>
            </a:r>
            <a:r>
              <a:rPr lang="en-IN" dirty="0"/>
              <a:t>(char item[], </a:t>
            </a:r>
            <a:r>
              <a:rPr lang="en-IN" dirty="0" err="1"/>
              <a:t>int</a:t>
            </a:r>
            <a:r>
              <a:rPr lang="en-IN" dirty="0"/>
              <a:t> </a:t>
            </a:r>
            <a:r>
              <a:rPr lang="en-IN" dirty="0" err="1"/>
              <a:t>freq</a:t>
            </a:r>
            <a:r>
              <a:rPr lang="en-IN" dirty="0"/>
              <a:t>[], </a:t>
            </a:r>
            <a:r>
              <a:rPr lang="en-IN" dirty="0" err="1"/>
              <a:t>int</a:t>
            </a:r>
            <a:r>
              <a:rPr lang="en-IN" dirty="0"/>
              <a:t> size) {</a:t>
            </a:r>
          </a:p>
          <a:p>
            <a:r>
              <a:rPr lang="en-IN" dirty="0"/>
              <a:t>  </a:t>
            </a:r>
            <a:r>
              <a:rPr lang="en-IN" dirty="0" err="1"/>
              <a:t>struct</a:t>
            </a:r>
            <a:r>
              <a:rPr lang="en-IN" dirty="0"/>
              <a:t> </a:t>
            </a:r>
            <a:r>
              <a:rPr lang="en-IN" dirty="0" err="1"/>
              <a:t>MinHNode</a:t>
            </a:r>
            <a:r>
              <a:rPr lang="en-IN" dirty="0"/>
              <a:t> *left, *right, *top;</a:t>
            </a:r>
          </a:p>
          <a:p>
            <a:r>
              <a:rPr lang="en-IN" dirty="0"/>
              <a:t>  </a:t>
            </a:r>
            <a:r>
              <a:rPr lang="en-IN" dirty="0" err="1"/>
              <a:t>struct</a:t>
            </a:r>
            <a:r>
              <a:rPr lang="en-IN" dirty="0"/>
              <a:t> </a:t>
            </a:r>
            <a:r>
              <a:rPr lang="en-IN" dirty="0" err="1"/>
              <a:t>MinHeap</a:t>
            </a:r>
            <a:r>
              <a:rPr lang="en-IN" dirty="0"/>
              <a:t> *</a:t>
            </a:r>
            <a:r>
              <a:rPr lang="en-IN" dirty="0" err="1"/>
              <a:t>minHeap</a:t>
            </a:r>
            <a:r>
              <a:rPr lang="en-IN" dirty="0"/>
              <a:t> = </a:t>
            </a:r>
            <a:r>
              <a:rPr lang="en-IN" dirty="0" err="1"/>
              <a:t>createAndBuildMinHeap</a:t>
            </a:r>
            <a:r>
              <a:rPr lang="en-IN" dirty="0"/>
              <a:t>(item, </a:t>
            </a:r>
            <a:r>
              <a:rPr lang="en-IN" dirty="0" err="1"/>
              <a:t>freq</a:t>
            </a:r>
            <a:r>
              <a:rPr lang="en-IN" dirty="0"/>
              <a:t>, size);</a:t>
            </a:r>
          </a:p>
          <a:p>
            <a:endParaRPr lang="en-IN" dirty="0"/>
          </a:p>
          <a:p>
            <a:r>
              <a:rPr lang="en-IN" dirty="0"/>
              <a:t>  while (!</a:t>
            </a:r>
            <a:r>
              <a:rPr lang="en-IN" dirty="0" err="1"/>
              <a:t>checkSizeOne</a:t>
            </a:r>
            <a:r>
              <a:rPr lang="en-IN" dirty="0"/>
              <a:t>(</a:t>
            </a:r>
            <a:r>
              <a:rPr lang="en-IN" dirty="0" err="1"/>
              <a:t>minHeap</a:t>
            </a:r>
            <a:r>
              <a:rPr lang="en-IN" dirty="0"/>
              <a:t>)) {</a:t>
            </a:r>
          </a:p>
          <a:p>
            <a:r>
              <a:rPr lang="en-IN" dirty="0"/>
              <a:t>    left = </a:t>
            </a:r>
            <a:r>
              <a:rPr lang="en-IN" dirty="0" err="1"/>
              <a:t>extractMin</a:t>
            </a:r>
            <a:r>
              <a:rPr lang="en-IN" dirty="0"/>
              <a:t>(</a:t>
            </a:r>
            <a:r>
              <a:rPr lang="en-IN" dirty="0" err="1"/>
              <a:t>minHeap</a:t>
            </a:r>
            <a:r>
              <a:rPr lang="en-IN" dirty="0"/>
              <a:t>);</a:t>
            </a:r>
          </a:p>
          <a:p>
            <a:r>
              <a:rPr lang="en-IN" dirty="0"/>
              <a:t>    right = </a:t>
            </a:r>
            <a:r>
              <a:rPr lang="en-IN" dirty="0" err="1"/>
              <a:t>extractMin</a:t>
            </a:r>
            <a:r>
              <a:rPr lang="en-IN" dirty="0"/>
              <a:t>(</a:t>
            </a:r>
            <a:r>
              <a:rPr lang="en-IN" dirty="0" err="1"/>
              <a:t>minHeap</a:t>
            </a:r>
            <a:r>
              <a:rPr lang="en-IN" dirty="0"/>
              <a:t>);</a:t>
            </a:r>
          </a:p>
          <a:p>
            <a:endParaRPr lang="en-IN" dirty="0"/>
          </a:p>
          <a:p>
            <a:r>
              <a:rPr lang="en-IN" dirty="0"/>
              <a:t>    top = </a:t>
            </a:r>
            <a:r>
              <a:rPr lang="en-IN" dirty="0" err="1"/>
              <a:t>newNode</a:t>
            </a:r>
            <a:r>
              <a:rPr lang="en-IN" dirty="0"/>
              <a:t>('$', left-&gt;</a:t>
            </a:r>
            <a:r>
              <a:rPr lang="en-IN" dirty="0" err="1"/>
              <a:t>freq</a:t>
            </a:r>
            <a:r>
              <a:rPr lang="en-IN" dirty="0"/>
              <a:t> + right-&gt;</a:t>
            </a:r>
            <a:r>
              <a:rPr lang="en-IN" dirty="0" err="1"/>
              <a:t>freq</a:t>
            </a:r>
            <a:r>
              <a:rPr lang="en-IN" dirty="0"/>
              <a:t>);</a:t>
            </a:r>
          </a:p>
          <a:p>
            <a:endParaRPr lang="en-IN" dirty="0"/>
          </a:p>
          <a:p>
            <a:r>
              <a:rPr lang="en-IN" dirty="0"/>
              <a:t>    top-&gt;left = left;</a:t>
            </a:r>
          </a:p>
          <a:p>
            <a:r>
              <a:rPr lang="en-IN" dirty="0"/>
              <a:t>    top-&gt;right = right;</a:t>
            </a:r>
          </a:p>
          <a:p>
            <a:endParaRPr lang="en-IN" dirty="0"/>
          </a:p>
          <a:p>
            <a:r>
              <a:rPr lang="en-IN" dirty="0"/>
              <a:t>    </a:t>
            </a:r>
            <a:r>
              <a:rPr lang="en-IN" dirty="0" err="1"/>
              <a:t>insertMinHeap</a:t>
            </a:r>
            <a:r>
              <a:rPr lang="en-IN" dirty="0"/>
              <a:t>(</a:t>
            </a:r>
            <a:r>
              <a:rPr lang="en-IN" dirty="0" err="1"/>
              <a:t>minHeap</a:t>
            </a:r>
            <a:r>
              <a:rPr lang="en-IN" dirty="0"/>
              <a:t>, top);</a:t>
            </a:r>
          </a:p>
          <a:p>
            <a:r>
              <a:rPr lang="en-IN" dirty="0"/>
              <a:t>  }</a:t>
            </a:r>
          </a:p>
          <a:p>
            <a:r>
              <a:rPr lang="en-IN" dirty="0"/>
              <a:t>  return </a:t>
            </a:r>
            <a:r>
              <a:rPr lang="en-IN" dirty="0" err="1"/>
              <a:t>extractMin</a:t>
            </a:r>
            <a:r>
              <a:rPr lang="en-IN" dirty="0"/>
              <a:t>(</a:t>
            </a:r>
            <a:r>
              <a:rPr lang="en-IN" dirty="0" err="1"/>
              <a:t>minHeap</a:t>
            </a:r>
            <a:r>
              <a:rPr lang="en-IN" dirty="0"/>
              <a:t>);</a:t>
            </a:r>
          </a:p>
          <a:p>
            <a:r>
              <a:rPr lang="en-IN" dirty="0"/>
              <a:t>}</a:t>
            </a:r>
          </a:p>
        </p:txBody>
      </p:sp>
    </p:spTree>
    <p:extLst>
      <p:ext uri="{BB962C8B-B14F-4D97-AF65-F5344CB8AC3E}">
        <p14:creationId xmlns:p14="http://schemas.microsoft.com/office/powerpoint/2010/main" val="213854173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1" y="34220"/>
            <a:ext cx="5240121" cy="6740307"/>
          </a:xfrm>
          <a:prstGeom prst="rect">
            <a:avLst/>
          </a:prstGeom>
        </p:spPr>
        <p:txBody>
          <a:bodyPr wrap="square">
            <a:spAutoFit/>
          </a:bodyPr>
          <a:lstStyle/>
          <a:p>
            <a:r>
              <a:rPr lang="en-IN" dirty="0"/>
              <a:t>void </a:t>
            </a:r>
            <a:r>
              <a:rPr lang="en-IN" dirty="0" err="1"/>
              <a:t>printHCodes</a:t>
            </a:r>
            <a:r>
              <a:rPr lang="en-IN" dirty="0"/>
              <a:t>(</a:t>
            </a:r>
            <a:r>
              <a:rPr lang="en-IN" dirty="0" err="1"/>
              <a:t>struct</a:t>
            </a:r>
            <a:r>
              <a:rPr lang="en-IN" dirty="0"/>
              <a:t> </a:t>
            </a:r>
            <a:r>
              <a:rPr lang="en-IN" dirty="0" err="1"/>
              <a:t>MinHNode</a:t>
            </a:r>
            <a:r>
              <a:rPr lang="en-IN" dirty="0"/>
              <a:t> *root, </a:t>
            </a:r>
            <a:r>
              <a:rPr lang="en-IN" dirty="0" err="1"/>
              <a:t>int</a:t>
            </a:r>
            <a:r>
              <a:rPr lang="en-IN" dirty="0"/>
              <a:t> </a:t>
            </a:r>
            <a:r>
              <a:rPr lang="en-IN" dirty="0" err="1"/>
              <a:t>arr</a:t>
            </a:r>
            <a:r>
              <a:rPr lang="en-IN" dirty="0"/>
              <a:t>[], </a:t>
            </a:r>
            <a:r>
              <a:rPr lang="en-IN" dirty="0" err="1"/>
              <a:t>int</a:t>
            </a:r>
            <a:r>
              <a:rPr lang="en-IN" dirty="0"/>
              <a:t> top) {</a:t>
            </a:r>
          </a:p>
          <a:p>
            <a:r>
              <a:rPr lang="en-IN" dirty="0"/>
              <a:t>  if (root-&gt;left) {</a:t>
            </a:r>
          </a:p>
          <a:p>
            <a:r>
              <a:rPr lang="en-IN" dirty="0"/>
              <a:t>    </a:t>
            </a:r>
            <a:r>
              <a:rPr lang="en-IN" dirty="0" err="1"/>
              <a:t>arr</a:t>
            </a:r>
            <a:r>
              <a:rPr lang="en-IN" dirty="0"/>
              <a:t>[top] = 0;</a:t>
            </a:r>
          </a:p>
          <a:p>
            <a:r>
              <a:rPr lang="en-IN" dirty="0"/>
              <a:t>    </a:t>
            </a:r>
            <a:r>
              <a:rPr lang="en-IN" dirty="0" err="1"/>
              <a:t>printHCodes</a:t>
            </a:r>
            <a:r>
              <a:rPr lang="en-IN" dirty="0"/>
              <a:t>(root-&gt;left, </a:t>
            </a:r>
            <a:r>
              <a:rPr lang="en-IN" dirty="0" err="1"/>
              <a:t>arr</a:t>
            </a:r>
            <a:r>
              <a:rPr lang="en-IN" dirty="0"/>
              <a:t>, top + 1);</a:t>
            </a:r>
          </a:p>
          <a:p>
            <a:r>
              <a:rPr lang="en-IN" dirty="0"/>
              <a:t>  }</a:t>
            </a:r>
          </a:p>
          <a:p>
            <a:r>
              <a:rPr lang="en-IN" dirty="0"/>
              <a:t>  if (root-&gt;right) {</a:t>
            </a:r>
          </a:p>
          <a:p>
            <a:r>
              <a:rPr lang="en-IN" dirty="0"/>
              <a:t>    </a:t>
            </a:r>
            <a:r>
              <a:rPr lang="en-IN" dirty="0" err="1"/>
              <a:t>arr</a:t>
            </a:r>
            <a:r>
              <a:rPr lang="en-IN" dirty="0"/>
              <a:t>[top] = 1;</a:t>
            </a:r>
          </a:p>
          <a:p>
            <a:r>
              <a:rPr lang="en-IN" dirty="0"/>
              <a:t>    </a:t>
            </a:r>
            <a:r>
              <a:rPr lang="en-IN" dirty="0" err="1"/>
              <a:t>printHCodes</a:t>
            </a:r>
            <a:r>
              <a:rPr lang="en-IN" dirty="0"/>
              <a:t>(root-&gt;right, </a:t>
            </a:r>
            <a:r>
              <a:rPr lang="en-IN" dirty="0" err="1"/>
              <a:t>arr</a:t>
            </a:r>
            <a:r>
              <a:rPr lang="en-IN" dirty="0"/>
              <a:t>, top + 1);</a:t>
            </a:r>
          </a:p>
          <a:p>
            <a:r>
              <a:rPr lang="en-IN" dirty="0"/>
              <a:t>  }</a:t>
            </a:r>
          </a:p>
          <a:p>
            <a:r>
              <a:rPr lang="en-IN" dirty="0"/>
              <a:t>  if (</a:t>
            </a:r>
            <a:r>
              <a:rPr lang="en-IN" dirty="0" err="1"/>
              <a:t>isLeaf</a:t>
            </a:r>
            <a:r>
              <a:rPr lang="en-IN" dirty="0"/>
              <a:t>(root)) {</a:t>
            </a:r>
          </a:p>
          <a:p>
            <a:r>
              <a:rPr lang="en-IN" dirty="0"/>
              <a:t>    </a:t>
            </a:r>
            <a:r>
              <a:rPr lang="en-IN" dirty="0" err="1"/>
              <a:t>printf</a:t>
            </a:r>
            <a:r>
              <a:rPr lang="en-IN" dirty="0"/>
              <a:t>("  %c   | ", root-&gt;item);</a:t>
            </a:r>
          </a:p>
          <a:p>
            <a:r>
              <a:rPr lang="en-IN" dirty="0"/>
              <a:t>    </a:t>
            </a:r>
            <a:r>
              <a:rPr lang="en-IN" dirty="0" err="1"/>
              <a:t>printArray</a:t>
            </a:r>
            <a:r>
              <a:rPr lang="en-IN" dirty="0"/>
              <a:t>(</a:t>
            </a:r>
            <a:r>
              <a:rPr lang="en-IN" dirty="0" err="1"/>
              <a:t>arr</a:t>
            </a:r>
            <a:r>
              <a:rPr lang="en-IN" dirty="0"/>
              <a:t>, top);</a:t>
            </a:r>
          </a:p>
          <a:p>
            <a:r>
              <a:rPr lang="en-IN" dirty="0"/>
              <a:t>  }</a:t>
            </a:r>
          </a:p>
          <a:p>
            <a:r>
              <a:rPr lang="en-IN" dirty="0"/>
              <a:t>}</a:t>
            </a:r>
          </a:p>
          <a:p>
            <a:r>
              <a:rPr lang="en-IN" dirty="0" smtClean="0"/>
              <a:t>// </a:t>
            </a:r>
            <a:r>
              <a:rPr lang="en-IN" dirty="0"/>
              <a:t>Wrapper function</a:t>
            </a:r>
          </a:p>
          <a:p>
            <a:r>
              <a:rPr lang="en-IN" dirty="0"/>
              <a:t>void </a:t>
            </a:r>
            <a:r>
              <a:rPr lang="en-IN" dirty="0" err="1"/>
              <a:t>HuffmanCodes</a:t>
            </a:r>
            <a:r>
              <a:rPr lang="en-IN" dirty="0"/>
              <a:t>(char item[], </a:t>
            </a:r>
            <a:r>
              <a:rPr lang="en-IN" dirty="0" err="1"/>
              <a:t>int</a:t>
            </a:r>
            <a:r>
              <a:rPr lang="en-IN" dirty="0"/>
              <a:t> </a:t>
            </a:r>
            <a:r>
              <a:rPr lang="en-IN" dirty="0" err="1"/>
              <a:t>freq</a:t>
            </a:r>
            <a:r>
              <a:rPr lang="en-IN" dirty="0"/>
              <a:t>[], </a:t>
            </a:r>
            <a:r>
              <a:rPr lang="en-IN" dirty="0" err="1"/>
              <a:t>int</a:t>
            </a:r>
            <a:r>
              <a:rPr lang="en-IN" dirty="0"/>
              <a:t> size) {</a:t>
            </a:r>
          </a:p>
          <a:p>
            <a:r>
              <a:rPr lang="en-IN" dirty="0"/>
              <a:t>  </a:t>
            </a:r>
            <a:r>
              <a:rPr lang="en-IN" dirty="0" err="1"/>
              <a:t>struct</a:t>
            </a:r>
            <a:r>
              <a:rPr lang="en-IN" dirty="0"/>
              <a:t> </a:t>
            </a:r>
            <a:r>
              <a:rPr lang="en-IN" dirty="0" err="1"/>
              <a:t>MinHNode</a:t>
            </a:r>
            <a:r>
              <a:rPr lang="en-IN" dirty="0"/>
              <a:t> *root = </a:t>
            </a:r>
            <a:r>
              <a:rPr lang="en-IN" dirty="0" err="1"/>
              <a:t>buildHuffmanTree</a:t>
            </a:r>
            <a:r>
              <a:rPr lang="en-IN" dirty="0"/>
              <a:t>(item, </a:t>
            </a:r>
            <a:r>
              <a:rPr lang="en-IN" dirty="0" err="1"/>
              <a:t>freq</a:t>
            </a:r>
            <a:r>
              <a:rPr lang="en-IN" dirty="0"/>
              <a:t>, size);</a:t>
            </a:r>
          </a:p>
          <a:p>
            <a:endParaRPr lang="en-IN" dirty="0"/>
          </a:p>
          <a:p>
            <a:r>
              <a:rPr lang="en-IN" dirty="0"/>
              <a:t>  </a:t>
            </a:r>
            <a:r>
              <a:rPr lang="en-IN" dirty="0" err="1"/>
              <a:t>int</a:t>
            </a:r>
            <a:r>
              <a:rPr lang="en-IN" dirty="0"/>
              <a:t> </a:t>
            </a:r>
            <a:r>
              <a:rPr lang="en-IN" dirty="0" err="1"/>
              <a:t>arr</a:t>
            </a:r>
            <a:r>
              <a:rPr lang="en-IN" dirty="0"/>
              <a:t>[MAX_TREE_HT], top = 0;</a:t>
            </a:r>
          </a:p>
          <a:p>
            <a:endParaRPr lang="en-IN" dirty="0"/>
          </a:p>
          <a:p>
            <a:r>
              <a:rPr lang="en-IN" dirty="0"/>
              <a:t>  </a:t>
            </a:r>
            <a:r>
              <a:rPr lang="en-IN" dirty="0" err="1"/>
              <a:t>printHCodes</a:t>
            </a:r>
            <a:r>
              <a:rPr lang="en-IN" dirty="0"/>
              <a:t>(root, </a:t>
            </a:r>
            <a:r>
              <a:rPr lang="en-IN" dirty="0" err="1"/>
              <a:t>arr</a:t>
            </a:r>
            <a:r>
              <a:rPr lang="en-IN" dirty="0"/>
              <a:t>, top);</a:t>
            </a:r>
          </a:p>
          <a:p>
            <a:r>
              <a:rPr lang="en-IN" dirty="0" smtClean="0"/>
              <a:t>}</a:t>
            </a:r>
            <a:endParaRPr lang="en-IN" dirty="0"/>
          </a:p>
        </p:txBody>
      </p:sp>
      <p:sp>
        <p:nvSpPr>
          <p:cNvPr id="3" name="Rectangle 2"/>
          <p:cNvSpPr/>
          <p:nvPr/>
        </p:nvSpPr>
        <p:spPr>
          <a:xfrm>
            <a:off x="5419633" y="66113"/>
            <a:ext cx="3708801" cy="5909310"/>
          </a:xfrm>
          <a:prstGeom prst="rect">
            <a:avLst/>
          </a:prstGeom>
        </p:spPr>
        <p:txBody>
          <a:bodyPr wrap="square">
            <a:spAutoFit/>
          </a:bodyPr>
          <a:lstStyle/>
          <a:p>
            <a:endParaRPr lang="en-IN" dirty="0"/>
          </a:p>
          <a:p>
            <a:r>
              <a:rPr lang="en-IN" dirty="0"/>
              <a:t>// Print the array</a:t>
            </a:r>
          </a:p>
          <a:p>
            <a:r>
              <a:rPr lang="en-IN" dirty="0"/>
              <a:t>void </a:t>
            </a:r>
            <a:r>
              <a:rPr lang="en-IN" dirty="0" err="1"/>
              <a:t>printArray</a:t>
            </a:r>
            <a:r>
              <a:rPr lang="en-IN" dirty="0"/>
              <a:t>(</a:t>
            </a:r>
            <a:r>
              <a:rPr lang="en-IN" dirty="0" err="1"/>
              <a:t>int</a:t>
            </a:r>
            <a:r>
              <a:rPr lang="en-IN" dirty="0"/>
              <a:t> </a:t>
            </a:r>
            <a:r>
              <a:rPr lang="en-IN" dirty="0" err="1"/>
              <a:t>arr</a:t>
            </a:r>
            <a:r>
              <a:rPr lang="en-IN" dirty="0"/>
              <a:t>[], </a:t>
            </a:r>
            <a:r>
              <a:rPr lang="en-IN" dirty="0" err="1"/>
              <a:t>int</a:t>
            </a:r>
            <a:r>
              <a:rPr lang="en-IN" dirty="0"/>
              <a:t> n) {</a:t>
            </a:r>
          </a:p>
          <a:p>
            <a:r>
              <a:rPr lang="en-IN" dirty="0"/>
              <a:t>  </a:t>
            </a:r>
            <a:r>
              <a:rPr lang="en-IN" dirty="0" err="1"/>
              <a:t>int</a:t>
            </a:r>
            <a:r>
              <a:rPr lang="en-IN" dirty="0"/>
              <a:t> </a:t>
            </a:r>
            <a:r>
              <a:rPr lang="en-IN" dirty="0" err="1"/>
              <a:t>i</a:t>
            </a:r>
            <a:r>
              <a:rPr lang="en-IN" dirty="0"/>
              <a:t>;</a:t>
            </a:r>
          </a:p>
          <a:p>
            <a:r>
              <a:rPr lang="en-IN" dirty="0"/>
              <a:t>  for (</a:t>
            </a:r>
            <a:r>
              <a:rPr lang="en-IN" dirty="0" err="1"/>
              <a:t>i</a:t>
            </a:r>
            <a:r>
              <a:rPr lang="en-IN" dirty="0"/>
              <a:t> = 0; </a:t>
            </a:r>
            <a:r>
              <a:rPr lang="en-IN" dirty="0" err="1"/>
              <a:t>i</a:t>
            </a:r>
            <a:r>
              <a:rPr lang="en-IN" dirty="0"/>
              <a:t> &lt; n; ++</a:t>
            </a:r>
            <a:r>
              <a:rPr lang="en-IN" dirty="0" err="1"/>
              <a:t>i</a:t>
            </a:r>
            <a:r>
              <a:rPr lang="en-IN" dirty="0"/>
              <a:t>)</a:t>
            </a:r>
          </a:p>
          <a:p>
            <a:r>
              <a:rPr lang="en-IN" dirty="0"/>
              <a:t>    </a:t>
            </a:r>
            <a:r>
              <a:rPr lang="en-IN" dirty="0" err="1"/>
              <a:t>printf</a:t>
            </a:r>
            <a:r>
              <a:rPr lang="en-IN" dirty="0"/>
              <a:t>("%d", </a:t>
            </a:r>
            <a:r>
              <a:rPr lang="en-IN" dirty="0" err="1"/>
              <a:t>arr</a:t>
            </a:r>
            <a:r>
              <a:rPr lang="en-IN" dirty="0"/>
              <a:t>[</a:t>
            </a:r>
            <a:r>
              <a:rPr lang="en-IN" dirty="0" err="1"/>
              <a:t>i</a:t>
            </a:r>
            <a:r>
              <a:rPr lang="en-IN" dirty="0"/>
              <a:t>]);</a:t>
            </a:r>
          </a:p>
          <a:p>
            <a:endParaRPr lang="en-IN" dirty="0"/>
          </a:p>
          <a:p>
            <a:r>
              <a:rPr lang="en-IN" dirty="0"/>
              <a:t>  </a:t>
            </a:r>
            <a:r>
              <a:rPr lang="en-IN" dirty="0" err="1"/>
              <a:t>printf</a:t>
            </a:r>
            <a:r>
              <a:rPr lang="en-IN" dirty="0"/>
              <a:t>("\n");</a:t>
            </a:r>
          </a:p>
          <a:p>
            <a:r>
              <a:rPr lang="en-IN" dirty="0"/>
              <a:t>}</a:t>
            </a:r>
          </a:p>
          <a:p>
            <a:endParaRPr lang="en-IN" dirty="0"/>
          </a:p>
          <a:p>
            <a:r>
              <a:rPr lang="en-IN" dirty="0" err="1"/>
              <a:t>int</a:t>
            </a:r>
            <a:r>
              <a:rPr lang="en-IN" dirty="0"/>
              <a:t> main() {</a:t>
            </a:r>
          </a:p>
          <a:p>
            <a:r>
              <a:rPr lang="en-IN" dirty="0"/>
              <a:t>  char </a:t>
            </a:r>
            <a:r>
              <a:rPr lang="en-IN" dirty="0" err="1"/>
              <a:t>arr</a:t>
            </a:r>
            <a:r>
              <a:rPr lang="en-IN" dirty="0"/>
              <a:t>[] = {'A', 'B', 'C', 'D'};</a:t>
            </a:r>
          </a:p>
          <a:p>
            <a:r>
              <a:rPr lang="en-IN" dirty="0"/>
              <a:t>  </a:t>
            </a:r>
            <a:r>
              <a:rPr lang="en-IN" dirty="0" err="1"/>
              <a:t>int</a:t>
            </a:r>
            <a:r>
              <a:rPr lang="en-IN" dirty="0"/>
              <a:t> </a:t>
            </a:r>
            <a:r>
              <a:rPr lang="en-IN" dirty="0" err="1"/>
              <a:t>freq</a:t>
            </a:r>
            <a:r>
              <a:rPr lang="en-IN" dirty="0"/>
              <a:t>[] = {5, 1, 6, 3};</a:t>
            </a:r>
          </a:p>
          <a:p>
            <a:endParaRPr lang="en-IN" dirty="0"/>
          </a:p>
          <a:p>
            <a:r>
              <a:rPr lang="en-IN" dirty="0"/>
              <a:t>  </a:t>
            </a:r>
            <a:r>
              <a:rPr lang="en-IN" dirty="0" err="1"/>
              <a:t>int</a:t>
            </a:r>
            <a:r>
              <a:rPr lang="en-IN" dirty="0"/>
              <a:t> size = </a:t>
            </a:r>
            <a:r>
              <a:rPr lang="en-IN" dirty="0" err="1"/>
              <a:t>sizeof</a:t>
            </a:r>
            <a:r>
              <a:rPr lang="en-IN" dirty="0"/>
              <a:t>(</a:t>
            </a:r>
            <a:r>
              <a:rPr lang="en-IN" dirty="0" err="1"/>
              <a:t>arr</a:t>
            </a:r>
            <a:r>
              <a:rPr lang="en-IN" dirty="0"/>
              <a:t>) / </a:t>
            </a:r>
            <a:r>
              <a:rPr lang="en-IN" dirty="0" err="1"/>
              <a:t>sizeof</a:t>
            </a:r>
            <a:r>
              <a:rPr lang="en-IN" dirty="0"/>
              <a:t>(</a:t>
            </a:r>
            <a:r>
              <a:rPr lang="en-IN" dirty="0" err="1"/>
              <a:t>arr</a:t>
            </a:r>
            <a:r>
              <a:rPr lang="en-IN" dirty="0"/>
              <a:t>[0]);</a:t>
            </a:r>
          </a:p>
          <a:p>
            <a:endParaRPr lang="en-IN" dirty="0"/>
          </a:p>
          <a:p>
            <a:r>
              <a:rPr lang="en-IN" dirty="0"/>
              <a:t>  </a:t>
            </a:r>
            <a:r>
              <a:rPr lang="en-IN" dirty="0" err="1"/>
              <a:t>printf</a:t>
            </a:r>
            <a:r>
              <a:rPr lang="en-IN" dirty="0"/>
              <a:t>(" Char | Huffman code ");</a:t>
            </a:r>
          </a:p>
          <a:p>
            <a:r>
              <a:rPr lang="en-IN" dirty="0"/>
              <a:t>  </a:t>
            </a:r>
            <a:r>
              <a:rPr lang="en-IN" dirty="0" err="1"/>
              <a:t>printf</a:t>
            </a:r>
            <a:r>
              <a:rPr lang="en-IN" dirty="0"/>
              <a:t>("\n--------------------\n");</a:t>
            </a:r>
          </a:p>
          <a:p>
            <a:endParaRPr lang="en-IN" dirty="0"/>
          </a:p>
          <a:p>
            <a:r>
              <a:rPr lang="en-IN" dirty="0"/>
              <a:t>  </a:t>
            </a:r>
            <a:r>
              <a:rPr lang="en-IN" dirty="0" err="1"/>
              <a:t>HuffmanCodes</a:t>
            </a:r>
            <a:r>
              <a:rPr lang="en-IN" dirty="0"/>
              <a:t>(</a:t>
            </a:r>
            <a:r>
              <a:rPr lang="en-IN" dirty="0" err="1"/>
              <a:t>arr</a:t>
            </a:r>
            <a:r>
              <a:rPr lang="en-IN" dirty="0"/>
              <a:t>, </a:t>
            </a:r>
            <a:r>
              <a:rPr lang="en-IN" dirty="0" err="1"/>
              <a:t>freq</a:t>
            </a:r>
            <a:r>
              <a:rPr lang="en-IN" dirty="0"/>
              <a:t>, size);</a:t>
            </a:r>
          </a:p>
          <a:p>
            <a:r>
              <a:rPr lang="en-IN" dirty="0"/>
              <a:t>}</a:t>
            </a:r>
          </a:p>
        </p:txBody>
      </p:sp>
    </p:spTree>
    <p:extLst>
      <p:ext uri="{BB962C8B-B14F-4D97-AF65-F5344CB8AC3E}">
        <p14:creationId xmlns:p14="http://schemas.microsoft.com/office/powerpoint/2010/main" val="5852992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1529</TotalTime>
  <Words>2321</Words>
  <Application>Microsoft Office PowerPoint</Application>
  <PresentationFormat>On-screen Show (4:3)</PresentationFormat>
  <Paragraphs>502</Paragraphs>
  <Slides>39</Slides>
  <Notes>2</Notes>
  <HiddenSlides>0</HiddenSlides>
  <MMClips>0</MMClip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Office Theme</vt:lpstr>
      <vt:lpstr>GREEDY TECHNIQUES</vt:lpstr>
      <vt:lpstr>PowerPoint Presentation</vt:lpstr>
      <vt:lpstr>PowerPoint Presentation</vt:lpstr>
      <vt:lpstr>PowerPoint Presentation</vt:lpstr>
      <vt:lpstr>PowerPoint Presentation</vt:lpstr>
      <vt:lpstr>PowerPoint Presentation</vt:lpstr>
      <vt:lpstr>Problem Statement</vt:lpstr>
      <vt:lpstr>Fractional Knapsack</vt:lpstr>
      <vt:lpstr>Example</vt:lpstr>
      <vt:lpstr>PowerPoint Presentation</vt:lpstr>
      <vt:lpstr>Solution</vt:lpstr>
      <vt:lpstr>Algorithm</vt:lpstr>
      <vt:lpstr>PowerPoint Presentation</vt:lpstr>
      <vt:lpstr>EXAMPLE-2</vt:lpstr>
      <vt:lpstr>EXAMPLE-3</vt:lpstr>
      <vt:lpstr>EXAMPLE-3</vt:lpstr>
      <vt:lpstr>Huffman code</vt:lpstr>
      <vt:lpstr>Huffman code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GREEDY TECHNIQUES</dc:title>
  <dc:creator>HP</dc:creator>
  <cp:lastModifiedBy>HP</cp:lastModifiedBy>
  <cp:revision>27</cp:revision>
  <dcterms:created xsi:type="dcterms:W3CDTF">2022-12-19T17:46:19Z</dcterms:created>
  <dcterms:modified xsi:type="dcterms:W3CDTF">2024-01-08T01:42:51Z</dcterms:modified>
</cp:coreProperties>
</file>