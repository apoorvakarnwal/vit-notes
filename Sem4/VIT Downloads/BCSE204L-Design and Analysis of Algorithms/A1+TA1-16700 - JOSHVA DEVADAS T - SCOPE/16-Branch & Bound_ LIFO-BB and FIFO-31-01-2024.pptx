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5" r:id="rId4"/>
    <p:sldId id="288" r:id="rId5"/>
    <p:sldId id="287" r:id="rId6"/>
    <p:sldId id="289" r:id="rId7"/>
    <p:sldId id="290"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6" r:id="rId21"/>
    <p:sldId id="271" r:id="rId22"/>
    <p:sldId id="272" r:id="rId23"/>
    <p:sldId id="273" r:id="rId24"/>
    <p:sldId id="274" r:id="rId25"/>
    <p:sldId id="275" r:id="rId26"/>
    <p:sldId id="277" r:id="rId27"/>
    <p:sldId id="278" r:id="rId28"/>
    <p:sldId id="279" r:id="rId29"/>
    <p:sldId id="280" r:id="rId30"/>
    <p:sldId id="281" r:id="rId31"/>
    <p:sldId id="282" r:id="rId32"/>
    <p:sldId id="283" r:id="rId33"/>
    <p:sldId id="284"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452"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E6614795-2FFC-429E-A427-DF8C99F4A6C0}" type="datetimeFigureOut">
              <a:rPr lang="en-IN" smtClean="0"/>
              <a:t>24-01-2024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B3961A-04A5-4CA9-94D3-70351860ADD4}" type="slidenum">
              <a:rPr lang="en-IN" smtClean="0"/>
              <a:t>‹#›</a:t>
            </a:fld>
            <a:endParaRPr lang="en-IN"/>
          </a:p>
        </p:txBody>
      </p:sp>
    </p:spTree>
    <p:extLst>
      <p:ext uri="{BB962C8B-B14F-4D97-AF65-F5344CB8AC3E}">
        <p14:creationId xmlns:p14="http://schemas.microsoft.com/office/powerpoint/2010/main" val="32184921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6614795-2FFC-429E-A427-DF8C99F4A6C0}" type="datetimeFigureOut">
              <a:rPr lang="en-IN" smtClean="0"/>
              <a:t>24-01-2024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B3961A-04A5-4CA9-94D3-70351860ADD4}" type="slidenum">
              <a:rPr lang="en-IN" smtClean="0"/>
              <a:t>‹#›</a:t>
            </a:fld>
            <a:endParaRPr lang="en-IN"/>
          </a:p>
        </p:txBody>
      </p:sp>
    </p:spTree>
    <p:extLst>
      <p:ext uri="{BB962C8B-B14F-4D97-AF65-F5344CB8AC3E}">
        <p14:creationId xmlns:p14="http://schemas.microsoft.com/office/powerpoint/2010/main" val="2502786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6614795-2FFC-429E-A427-DF8C99F4A6C0}" type="datetimeFigureOut">
              <a:rPr lang="en-IN" smtClean="0"/>
              <a:t>24-01-2024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B3961A-04A5-4CA9-94D3-70351860ADD4}" type="slidenum">
              <a:rPr lang="en-IN" smtClean="0"/>
              <a:t>‹#›</a:t>
            </a:fld>
            <a:endParaRPr lang="en-IN"/>
          </a:p>
        </p:txBody>
      </p:sp>
    </p:spTree>
    <p:extLst>
      <p:ext uri="{BB962C8B-B14F-4D97-AF65-F5344CB8AC3E}">
        <p14:creationId xmlns:p14="http://schemas.microsoft.com/office/powerpoint/2010/main" val="1080380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E6614795-2FFC-429E-A427-DF8C99F4A6C0}" type="datetimeFigureOut">
              <a:rPr lang="en-IN" smtClean="0"/>
              <a:t>24-01-2024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FB3961A-04A5-4CA9-94D3-70351860ADD4}" type="slidenum">
              <a:rPr lang="en-IN" smtClean="0"/>
              <a:t>‹#›</a:t>
            </a:fld>
            <a:endParaRPr lang="en-IN"/>
          </a:p>
        </p:txBody>
      </p:sp>
    </p:spTree>
    <p:extLst>
      <p:ext uri="{BB962C8B-B14F-4D97-AF65-F5344CB8AC3E}">
        <p14:creationId xmlns:p14="http://schemas.microsoft.com/office/powerpoint/2010/main" val="1647460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E6614795-2FFC-429E-A427-DF8C99F4A6C0}" type="datetimeFigureOut">
              <a:rPr lang="en-IN" smtClean="0"/>
              <a:t>24-01-2024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FB3961A-04A5-4CA9-94D3-70351860ADD4}" type="slidenum">
              <a:rPr lang="en-IN" smtClean="0"/>
              <a:t>‹#›</a:t>
            </a:fld>
            <a:endParaRPr lang="en-IN"/>
          </a:p>
        </p:txBody>
      </p:sp>
    </p:spTree>
    <p:extLst>
      <p:ext uri="{BB962C8B-B14F-4D97-AF65-F5344CB8AC3E}">
        <p14:creationId xmlns:p14="http://schemas.microsoft.com/office/powerpoint/2010/main" val="285476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E6614795-2FFC-429E-A427-DF8C99F4A6C0}" type="datetimeFigureOut">
              <a:rPr lang="en-IN" smtClean="0"/>
              <a:t>24-01-2024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FB3961A-04A5-4CA9-94D3-70351860ADD4}" type="slidenum">
              <a:rPr lang="en-IN" smtClean="0"/>
              <a:t>‹#›</a:t>
            </a:fld>
            <a:endParaRPr lang="en-IN"/>
          </a:p>
        </p:txBody>
      </p:sp>
    </p:spTree>
    <p:extLst>
      <p:ext uri="{BB962C8B-B14F-4D97-AF65-F5344CB8AC3E}">
        <p14:creationId xmlns:p14="http://schemas.microsoft.com/office/powerpoint/2010/main" val="2563846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614795-2FFC-429E-A427-DF8C99F4A6C0}" type="datetimeFigureOut">
              <a:rPr lang="en-IN" smtClean="0"/>
              <a:t>24-01-2024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FB3961A-04A5-4CA9-94D3-70351860ADD4}" type="slidenum">
              <a:rPr lang="en-IN" smtClean="0"/>
              <a:t>‹#›</a:t>
            </a:fld>
            <a:endParaRPr lang="en-IN"/>
          </a:p>
        </p:txBody>
      </p:sp>
    </p:spTree>
    <p:extLst>
      <p:ext uri="{BB962C8B-B14F-4D97-AF65-F5344CB8AC3E}">
        <p14:creationId xmlns:p14="http://schemas.microsoft.com/office/powerpoint/2010/main" val="3808994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6614795-2FFC-429E-A427-DF8C99F4A6C0}" type="datetimeFigureOut">
              <a:rPr lang="en-IN" smtClean="0"/>
              <a:t>24-01-2024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FB3961A-04A5-4CA9-94D3-70351860ADD4}" type="slidenum">
              <a:rPr lang="en-IN" smtClean="0"/>
              <a:t>‹#›</a:t>
            </a:fld>
            <a:endParaRPr lang="en-IN"/>
          </a:p>
        </p:txBody>
      </p:sp>
    </p:spTree>
    <p:extLst>
      <p:ext uri="{BB962C8B-B14F-4D97-AF65-F5344CB8AC3E}">
        <p14:creationId xmlns:p14="http://schemas.microsoft.com/office/powerpoint/2010/main" val="86356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6614795-2FFC-429E-A427-DF8C99F4A6C0}" type="datetimeFigureOut">
              <a:rPr lang="en-IN" smtClean="0"/>
              <a:t>24-01-2024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FB3961A-04A5-4CA9-94D3-70351860ADD4}" type="slidenum">
              <a:rPr lang="en-IN" smtClean="0"/>
              <a:t>‹#›</a:t>
            </a:fld>
            <a:endParaRPr lang="en-IN"/>
          </a:p>
        </p:txBody>
      </p:sp>
    </p:spTree>
    <p:extLst>
      <p:ext uri="{BB962C8B-B14F-4D97-AF65-F5344CB8AC3E}">
        <p14:creationId xmlns:p14="http://schemas.microsoft.com/office/powerpoint/2010/main" val="8882574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6614795-2FFC-429E-A427-DF8C99F4A6C0}" type="datetimeFigureOut">
              <a:rPr lang="en-IN" smtClean="0"/>
              <a:t>24-01-2024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B3961A-04A5-4CA9-94D3-70351860ADD4}" type="slidenum">
              <a:rPr lang="en-IN" smtClean="0"/>
              <a:t>‹#›</a:t>
            </a:fld>
            <a:endParaRPr lang="en-IN"/>
          </a:p>
        </p:txBody>
      </p:sp>
    </p:spTree>
    <p:extLst>
      <p:ext uri="{BB962C8B-B14F-4D97-AF65-F5344CB8AC3E}">
        <p14:creationId xmlns:p14="http://schemas.microsoft.com/office/powerpoint/2010/main" val="1524943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6614795-2FFC-429E-A427-DF8C99F4A6C0}" type="datetimeFigureOut">
              <a:rPr lang="en-IN" smtClean="0"/>
              <a:t>24-01-2024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B3961A-04A5-4CA9-94D3-70351860ADD4}" type="slidenum">
              <a:rPr lang="en-IN" smtClean="0"/>
              <a:t>‹#›</a:t>
            </a:fld>
            <a:endParaRPr lang="en-IN"/>
          </a:p>
        </p:txBody>
      </p:sp>
    </p:spTree>
    <p:extLst>
      <p:ext uri="{BB962C8B-B14F-4D97-AF65-F5344CB8AC3E}">
        <p14:creationId xmlns:p14="http://schemas.microsoft.com/office/powerpoint/2010/main" val="2174800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614795-2FFC-429E-A427-DF8C99F4A6C0}" type="datetimeFigureOut">
              <a:rPr lang="en-IN" smtClean="0"/>
              <a:t>24-01-2024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B3961A-04A5-4CA9-94D3-70351860ADD4}" type="slidenum">
              <a:rPr lang="en-IN" smtClean="0"/>
              <a:t>‹#›</a:t>
            </a:fld>
            <a:endParaRPr lang="en-IN"/>
          </a:p>
        </p:txBody>
      </p:sp>
    </p:spTree>
    <p:extLst>
      <p:ext uri="{BB962C8B-B14F-4D97-AF65-F5344CB8AC3E}">
        <p14:creationId xmlns:p14="http://schemas.microsoft.com/office/powerpoint/2010/main" val="7218703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Branch and Bound</a:t>
            </a:r>
            <a:endParaRPr lang="en-IN" dirty="0"/>
          </a:p>
        </p:txBody>
      </p:sp>
      <p:sp>
        <p:nvSpPr>
          <p:cNvPr id="3" name="Subtitle 2"/>
          <p:cNvSpPr>
            <a:spLocks noGrp="1"/>
          </p:cNvSpPr>
          <p:nvPr>
            <p:ph type="subTitle" idx="1"/>
          </p:nvPr>
        </p:nvSpPr>
        <p:spPr/>
        <p:txBody>
          <a:bodyPr/>
          <a:lstStyle/>
          <a:p>
            <a:r>
              <a:rPr lang="en-US" dirty="0" smtClean="0">
                <a:solidFill>
                  <a:srgbClr val="FF0000"/>
                </a:solidFill>
              </a:rPr>
              <a:t>LIFO-BB and FIFO-BB</a:t>
            </a:r>
            <a:endParaRPr lang="en-IN" dirty="0">
              <a:solidFill>
                <a:srgbClr val="FF0000"/>
              </a:solidFill>
            </a:endParaRPr>
          </a:p>
        </p:txBody>
      </p:sp>
    </p:spTree>
    <p:extLst>
      <p:ext uri="{BB962C8B-B14F-4D97-AF65-F5344CB8AC3E}">
        <p14:creationId xmlns:p14="http://schemas.microsoft.com/office/powerpoint/2010/main" val="34886289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908720"/>
            <a:ext cx="8229600" cy="47771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08140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6672"/>
            <a:ext cx="8229600" cy="5649491"/>
          </a:xfrm>
        </p:spPr>
        <p:txBody>
          <a:bodyPr>
            <a:normAutofit fontScale="92500"/>
          </a:bodyPr>
          <a:lstStyle/>
          <a:p>
            <a:r>
              <a:rPr lang="en-US" dirty="0"/>
              <a:t>These problems are typically exponential in terms of time complexity and may </a:t>
            </a:r>
            <a:r>
              <a:rPr lang="en-US" dirty="0">
                <a:solidFill>
                  <a:srgbClr val="FF0000"/>
                </a:solidFill>
              </a:rPr>
              <a:t>require exploring all possible permutations </a:t>
            </a:r>
            <a:r>
              <a:rPr lang="en-US" dirty="0"/>
              <a:t>in worst </a:t>
            </a:r>
            <a:r>
              <a:rPr lang="en-US" dirty="0" smtClean="0"/>
              <a:t>case</a:t>
            </a:r>
          </a:p>
          <a:p>
            <a:r>
              <a:rPr lang="en-US" dirty="0"/>
              <a:t>In backtracking, the state space tree is </a:t>
            </a:r>
            <a:r>
              <a:rPr lang="en-US" dirty="0">
                <a:solidFill>
                  <a:srgbClr val="FF0000"/>
                </a:solidFill>
              </a:rPr>
              <a:t>searched until the solution is obtained. </a:t>
            </a:r>
            <a:endParaRPr lang="en-US" dirty="0" smtClean="0">
              <a:solidFill>
                <a:srgbClr val="FF0000"/>
              </a:solidFill>
            </a:endParaRPr>
          </a:p>
          <a:p>
            <a:r>
              <a:rPr lang="en-US" dirty="0" smtClean="0"/>
              <a:t>In </a:t>
            </a:r>
            <a:r>
              <a:rPr lang="en-US" dirty="0"/>
              <a:t>Branch-and-Bound as the optimum solution may be present any where in the state space tree, so the tree need to be </a:t>
            </a:r>
            <a:r>
              <a:rPr lang="en-US" dirty="0">
                <a:solidFill>
                  <a:srgbClr val="FF0000"/>
                </a:solidFill>
              </a:rPr>
              <a:t>searched </a:t>
            </a:r>
            <a:r>
              <a:rPr lang="en-US" dirty="0" smtClean="0">
                <a:solidFill>
                  <a:srgbClr val="FF0000"/>
                </a:solidFill>
              </a:rPr>
              <a:t> Completely</a:t>
            </a:r>
            <a:r>
              <a:rPr lang="en-US" dirty="0"/>
              <a:t>. </a:t>
            </a:r>
            <a:endParaRPr lang="en-US" dirty="0" smtClean="0"/>
          </a:p>
          <a:p>
            <a:r>
              <a:rPr lang="en-US" b="1" dirty="0" smtClean="0">
                <a:solidFill>
                  <a:srgbClr val="FF0000"/>
                </a:solidFill>
              </a:rPr>
              <a:t>Backtracking </a:t>
            </a:r>
            <a:r>
              <a:rPr lang="en-US" b="1" dirty="0">
                <a:solidFill>
                  <a:srgbClr val="FF0000"/>
                </a:solidFill>
              </a:rPr>
              <a:t>is more efficient.</a:t>
            </a:r>
            <a:r>
              <a:rPr lang="en-US" dirty="0">
                <a:solidFill>
                  <a:srgbClr val="FF0000"/>
                </a:solidFill>
              </a:rPr>
              <a:t> </a:t>
            </a:r>
            <a:r>
              <a:rPr lang="en-US" b="1" dirty="0">
                <a:solidFill>
                  <a:srgbClr val="FF0000"/>
                </a:solidFill>
              </a:rPr>
              <a:t>Branch-and-Bound is less efficient</a:t>
            </a:r>
            <a:r>
              <a:rPr lang="en-US" dirty="0"/>
              <a:t>.</a:t>
            </a:r>
            <a:endParaRPr lang="en-IN" dirty="0"/>
          </a:p>
        </p:txBody>
      </p:sp>
    </p:spTree>
    <p:extLst>
      <p:ext uri="{BB962C8B-B14F-4D97-AF65-F5344CB8AC3E}">
        <p14:creationId xmlns:p14="http://schemas.microsoft.com/office/powerpoint/2010/main" val="819742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9600" cy="6408712"/>
          </a:xfrm>
        </p:spPr>
        <p:txBody>
          <a:bodyPr>
            <a:normAutofit lnSpcReduction="10000"/>
          </a:bodyPr>
          <a:lstStyle/>
          <a:p>
            <a:pPr algn="just"/>
            <a:r>
              <a:rPr lang="en-US" dirty="0"/>
              <a:t>The Branch and Bound Technique is a problem solving strategy, which is most commonly used in </a:t>
            </a:r>
            <a:r>
              <a:rPr lang="en-US" dirty="0">
                <a:solidFill>
                  <a:srgbClr val="FF0000"/>
                </a:solidFill>
              </a:rPr>
              <a:t>optimization problems</a:t>
            </a:r>
            <a:r>
              <a:rPr lang="en-US" dirty="0"/>
              <a:t>, where the goal is to </a:t>
            </a:r>
            <a:r>
              <a:rPr lang="en-US" dirty="0">
                <a:solidFill>
                  <a:srgbClr val="FF0000"/>
                </a:solidFill>
              </a:rPr>
              <a:t>minimize a certain value</a:t>
            </a:r>
            <a:r>
              <a:rPr lang="en-US" dirty="0" smtClean="0"/>
              <a:t>.</a:t>
            </a:r>
          </a:p>
          <a:p>
            <a:pPr algn="just"/>
            <a:r>
              <a:rPr lang="en-US" dirty="0" smtClean="0"/>
              <a:t> </a:t>
            </a:r>
            <a:r>
              <a:rPr lang="en-US" dirty="0"/>
              <a:t>The optimized solution is obtained by means of a </a:t>
            </a:r>
            <a:r>
              <a:rPr lang="en-US" dirty="0">
                <a:solidFill>
                  <a:srgbClr val="FF0000"/>
                </a:solidFill>
              </a:rPr>
              <a:t>state space tree </a:t>
            </a:r>
            <a:r>
              <a:rPr lang="en-US" dirty="0"/>
              <a:t>(A state space tree is a tree where the solution is constructed by adding elements one by one, starting from the root. </a:t>
            </a:r>
            <a:r>
              <a:rPr lang="en-US" dirty="0" smtClean="0"/>
              <a:t>Note </a:t>
            </a:r>
            <a:r>
              <a:rPr lang="en-US" dirty="0"/>
              <a:t>that the root contains no element). </a:t>
            </a:r>
            <a:endParaRPr lang="en-US" dirty="0" smtClean="0"/>
          </a:p>
          <a:p>
            <a:pPr algn="just"/>
            <a:r>
              <a:rPr lang="en-US" dirty="0" smtClean="0"/>
              <a:t>This </a:t>
            </a:r>
            <a:r>
              <a:rPr lang="en-US" dirty="0"/>
              <a:t>method is best when used for combinatorial problems with exponential time complexity, since it provides a more efficient solution to such problems.</a:t>
            </a:r>
            <a:endParaRPr lang="en-IN" dirty="0"/>
          </a:p>
        </p:txBody>
      </p:sp>
    </p:spTree>
    <p:extLst>
      <p:ext uri="{BB962C8B-B14F-4D97-AF65-F5344CB8AC3E}">
        <p14:creationId xmlns:p14="http://schemas.microsoft.com/office/powerpoint/2010/main" val="5412532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27584" y="476672"/>
            <a:ext cx="7632848" cy="5737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8262760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16632"/>
            <a:ext cx="8928992" cy="6009531"/>
          </a:xfrm>
        </p:spPr>
        <p:txBody>
          <a:bodyPr>
            <a:noAutofit/>
          </a:bodyPr>
          <a:lstStyle/>
          <a:p>
            <a:pPr fontAlgn="base"/>
            <a:r>
              <a:rPr lang="en-US" sz="2800" b="1" dirty="0"/>
              <a:t>The Algorithm: Branch and Bound Technique</a:t>
            </a:r>
          </a:p>
          <a:p>
            <a:pPr algn="just" fontAlgn="base"/>
            <a:r>
              <a:rPr lang="en-US" sz="2800" dirty="0"/>
              <a:t>In this technique, the first step is to create a function </a:t>
            </a:r>
            <a:r>
              <a:rPr lang="en-US" sz="2800" i="1" dirty="0"/>
              <a:t>U</a:t>
            </a:r>
            <a:r>
              <a:rPr lang="en-US" sz="2800" dirty="0"/>
              <a:t> </a:t>
            </a:r>
            <a:r>
              <a:rPr lang="en-US" sz="2800" dirty="0" smtClean="0"/>
              <a:t> (</a:t>
            </a:r>
            <a:r>
              <a:rPr lang="en-US" sz="2800" dirty="0"/>
              <a:t>which represents an upper bound to the value that node and its children shall achieve), that we intend to minimize. </a:t>
            </a:r>
            <a:endParaRPr lang="en-US" sz="2800" dirty="0" smtClean="0"/>
          </a:p>
          <a:p>
            <a:pPr algn="just" fontAlgn="base"/>
            <a:r>
              <a:rPr lang="en-US" sz="2800" dirty="0" smtClean="0"/>
              <a:t>We </a:t>
            </a:r>
            <a:r>
              <a:rPr lang="en-US" sz="2800" dirty="0"/>
              <a:t>call this function the </a:t>
            </a:r>
            <a:r>
              <a:rPr lang="en-US" sz="2800" dirty="0">
                <a:solidFill>
                  <a:srgbClr val="FF0000"/>
                </a:solidFill>
              </a:rPr>
              <a:t>objective function</a:t>
            </a:r>
            <a:r>
              <a:rPr lang="en-US" sz="2800" dirty="0"/>
              <a:t>. Note that the branch and bound technique </a:t>
            </a:r>
            <a:r>
              <a:rPr lang="en-US" sz="2800" dirty="0">
                <a:solidFill>
                  <a:srgbClr val="FF0000"/>
                </a:solidFill>
              </a:rPr>
              <a:t>can also be used for maximization problems,</a:t>
            </a:r>
            <a:r>
              <a:rPr lang="en-US" sz="2800" dirty="0"/>
              <a:t> since multiplying the objective function by -1 coverts the problem to a minimization problem. </a:t>
            </a:r>
            <a:endParaRPr lang="en-US" sz="2800" dirty="0" smtClean="0"/>
          </a:p>
          <a:p>
            <a:pPr algn="just" fontAlgn="base"/>
            <a:r>
              <a:rPr lang="en-US" sz="2800" dirty="0" smtClean="0"/>
              <a:t>Let </a:t>
            </a:r>
            <a:r>
              <a:rPr lang="en-US" sz="2800" dirty="0"/>
              <a:t>this function have an initial maximum value, according to the conditions of the given problem. Also, let </a:t>
            </a:r>
            <a:r>
              <a:rPr lang="en-US" sz="2800" i="1" dirty="0"/>
              <a:t>U</a:t>
            </a:r>
            <a:r>
              <a:rPr lang="en-US" sz="2800" i="1" baseline="-25000" dirty="0"/>
              <a:t>0</a:t>
            </a:r>
            <a:r>
              <a:rPr lang="en-US" sz="2800" dirty="0"/>
              <a:t> be the initial value of </a:t>
            </a:r>
            <a:r>
              <a:rPr lang="en-US" sz="2800" i="1" dirty="0"/>
              <a:t>U</a:t>
            </a:r>
            <a:r>
              <a:rPr lang="en-US" sz="2800" dirty="0"/>
              <a:t>. We also calculate a </a:t>
            </a:r>
            <a:r>
              <a:rPr lang="en-US" sz="2800" dirty="0" smtClean="0"/>
              <a:t>cost function C which will </a:t>
            </a:r>
            <a:r>
              <a:rPr lang="en-US" sz="2800" dirty="0"/>
              <a:t>give us the exact value that the particular node shall achieve.</a:t>
            </a:r>
          </a:p>
          <a:p>
            <a:pPr marL="0" indent="0">
              <a:buNone/>
            </a:pPr>
            <a:r>
              <a:rPr lang="en-US" sz="2800" dirty="0"/>
              <a:t/>
            </a:r>
            <a:br>
              <a:rPr lang="en-US" sz="2800" dirty="0"/>
            </a:br>
            <a:endParaRPr lang="en-IN" sz="2800" dirty="0"/>
          </a:p>
        </p:txBody>
      </p:sp>
    </p:spTree>
    <p:extLst>
      <p:ext uri="{BB962C8B-B14F-4D97-AF65-F5344CB8AC3E}">
        <p14:creationId xmlns:p14="http://schemas.microsoft.com/office/powerpoint/2010/main" val="169265136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dirty="0"/>
              <a:t>The next question is the order in which the tree is to be searched. For this, there exist multiple types of branch and bound, which we shall discuss in detail later. </a:t>
            </a:r>
            <a:endParaRPr lang="en-US" dirty="0" smtClean="0"/>
          </a:p>
          <a:p>
            <a:pPr algn="just"/>
            <a:r>
              <a:rPr lang="en-US" dirty="0" smtClean="0"/>
              <a:t>For </a:t>
            </a:r>
            <a:r>
              <a:rPr lang="en-US" dirty="0"/>
              <a:t>now, let us assume that there is a set </a:t>
            </a:r>
            <a:r>
              <a:rPr lang="en-US" i="1" dirty="0"/>
              <a:t>S</a:t>
            </a:r>
            <a:r>
              <a:rPr lang="en-US" dirty="0"/>
              <a:t> consisting of subsets of the given set of values in the order in which they need to be searched.</a:t>
            </a:r>
          </a:p>
          <a:p>
            <a:endParaRPr lang="en-IN" dirty="0"/>
          </a:p>
        </p:txBody>
      </p:sp>
    </p:spTree>
    <p:extLst>
      <p:ext uri="{BB962C8B-B14F-4D97-AF65-F5344CB8AC3E}">
        <p14:creationId xmlns:p14="http://schemas.microsoft.com/office/powerpoint/2010/main" val="39394202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474345"/>
            <a:ext cx="8424936" cy="5632311"/>
          </a:xfrm>
          <a:prstGeom prst="rect">
            <a:avLst/>
          </a:prstGeom>
        </p:spPr>
        <p:txBody>
          <a:bodyPr wrap="square">
            <a:spAutoFit/>
          </a:bodyPr>
          <a:lstStyle/>
          <a:p>
            <a:pPr fontAlgn="base"/>
            <a:r>
              <a:rPr lang="en-US" sz="2400" b="1" dirty="0"/>
              <a:t>When to apply Branch and Bound Algorithm?</a:t>
            </a:r>
          </a:p>
          <a:p>
            <a:pPr marL="285750" indent="-285750" algn="just" fontAlgn="base">
              <a:buFont typeface="Arial" panose="020B0604020202020204" pitchFamily="34" charset="0"/>
              <a:buChar char="•"/>
            </a:pPr>
            <a:r>
              <a:rPr lang="en-US" sz="2400" dirty="0"/>
              <a:t>Branch and bound is an effective solution to some problems, which we have already discussed. We’ll discuss all such cases where branching and binding are </a:t>
            </a:r>
            <a:r>
              <a:rPr lang="en-US" sz="2400" dirty="0" smtClean="0"/>
              <a:t>appropriate.</a:t>
            </a:r>
            <a:endParaRPr lang="en-US" sz="2400" dirty="0"/>
          </a:p>
          <a:p>
            <a:pPr marL="285750" indent="-285750" algn="just" fontAlgn="base">
              <a:buFont typeface="Arial" panose="020B0604020202020204" pitchFamily="34" charset="0"/>
              <a:buChar char="•"/>
            </a:pPr>
            <a:r>
              <a:rPr lang="en-US" sz="2400" dirty="0"/>
              <a:t>It is appropriate to use a branch and bound approach if the given problem is </a:t>
            </a:r>
            <a:r>
              <a:rPr lang="en-US" sz="2400" dirty="0">
                <a:solidFill>
                  <a:srgbClr val="FF0000"/>
                </a:solidFill>
              </a:rPr>
              <a:t>discrete optimization</a:t>
            </a:r>
            <a:r>
              <a:rPr lang="en-US" sz="2400" dirty="0"/>
              <a:t>. </a:t>
            </a:r>
            <a:endParaRPr lang="en-US" sz="2400" dirty="0" smtClean="0"/>
          </a:p>
          <a:p>
            <a:pPr marL="285750" indent="-285750" algn="just" fontAlgn="base">
              <a:buFont typeface="Arial" panose="020B0604020202020204" pitchFamily="34" charset="0"/>
              <a:buChar char="•"/>
            </a:pPr>
            <a:r>
              <a:rPr lang="en-US" sz="2400" dirty="0" smtClean="0"/>
              <a:t>Discrete </a:t>
            </a:r>
            <a:r>
              <a:rPr lang="en-US" sz="2400" dirty="0"/>
              <a:t>optimization refers to problems in which the variables belong to the discrete set</a:t>
            </a:r>
            <a:r>
              <a:rPr lang="en-US" sz="2400" dirty="0">
                <a:solidFill>
                  <a:srgbClr val="FF0000"/>
                </a:solidFill>
              </a:rPr>
              <a:t>. </a:t>
            </a:r>
            <a:endParaRPr lang="en-US" sz="2400" dirty="0" smtClean="0">
              <a:solidFill>
                <a:srgbClr val="FF0000"/>
              </a:solidFill>
            </a:endParaRPr>
          </a:p>
          <a:p>
            <a:pPr marL="285750" indent="-285750" algn="just" fontAlgn="base">
              <a:buFont typeface="Arial" panose="020B0604020202020204" pitchFamily="34" charset="0"/>
              <a:buChar char="•"/>
            </a:pPr>
            <a:r>
              <a:rPr lang="en-US" sz="2400" dirty="0" smtClean="0"/>
              <a:t>When </a:t>
            </a:r>
            <a:r>
              <a:rPr lang="en-US" sz="2400" dirty="0"/>
              <a:t>it comes </a:t>
            </a:r>
            <a:r>
              <a:rPr lang="en-US" sz="2400" dirty="0">
                <a:solidFill>
                  <a:srgbClr val="FF0000"/>
                </a:solidFill>
              </a:rPr>
              <a:t>to combinatory optimization </a:t>
            </a:r>
            <a:r>
              <a:rPr lang="en-US" sz="2400" dirty="0"/>
              <a:t>problems, branch and bound work well</a:t>
            </a:r>
            <a:r>
              <a:rPr lang="en-US" sz="2400" dirty="0" smtClean="0"/>
              <a:t>.</a:t>
            </a:r>
          </a:p>
          <a:p>
            <a:pPr marL="285750" indent="-285750" algn="just" fontAlgn="base">
              <a:buFont typeface="Arial" panose="020B0604020202020204" pitchFamily="34" charset="0"/>
              <a:buChar char="•"/>
            </a:pPr>
            <a:r>
              <a:rPr lang="en-US" sz="2400" dirty="0" smtClean="0"/>
              <a:t> </a:t>
            </a:r>
            <a:r>
              <a:rPr lang="en-US" sz="2400" dirty="0"/>
              <a:t>An optimization problem is optimized by combinatory optimization by finding </a:t>
            </a:r>
            <a:r>
              <a:rPr lang="en-US" sz="2400" dirty="0">
                <a:solidFill>
                  <a:srgbClr val="FF0000"/>
                </a:solidFill>
              </a:rPr>
              <a:t>its maximum or minimum </a:t>
            </a:r>
            <a:r>
              <a:rPr lang="en-US" sz="2400" dirty="0"/>
              <a:t>based on its objective function. </a:t>
            </a:r>
            <a:endParaRPr lang="en-US" sz="2400" dirty="0" smtClean="0"/>
          </a:p>
          <a:p>
            <a:pPr marL="285750" indent="-285750" algn="just" fontAlgn="base">
              <a:buFont typeface="Arial" panose="020B0604020202020204" pitchFamily="34" charset="0"/>
              <a:buChar char="•"/>
            </a:pPr>
            <a:r>
              <a:rPr lang="en-US" sz="2400" dirty="0" smtClean="0"/>
              <a:t>The </a:t>
            </a:r>
            <a:r>
              <a:rPr lang="en-US" sz="2400" dirty="0"/>
              <a:t>combinatory optimization problems include </a:t>
            </a:r>
            <a:r>
              <a:rPr lang="en-US" sz="2400" dirty="0">
                <a:solidFill>
                  <a:srgbClr val="FF0000"/>
                </a:solidFill>
              </a:rPr>
              <a:t>Boolean Satisfiability and Integer Linear Programming.</a:t>
            </a:r>
          </a:p>
        </p:txBody>
      </p:sp>
    </p:spTree>
    <p:extLst>
      <p:ext uri="{BB962C8B-B14F-4D97-AF65-F5344CB8AC3E}">
        <p14:creationId xmlns:p14="http://schemas.microsoft.com/office/powerpoint/2010/main" val="29540279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332656"/>
            <a:ext cx="8424936" cy="6370975"/>
          </a:xfrm>
          <a:prstGeom prst="rect">
            <a:avLst/>
          </a:prstGeom>
        </p:spPr>
        <p:txBody>
          <a:bodyPr wrap="square">
            <a:spAutoFit/>
          </a:bodyPr>
          <a:lstStyle/>
          <a:p>
            <a:pPr fontAlgn="base"/>
            <a:r>
              <a:rPr lang="en-US" sz="2400" b="1" dirty="0"/>
              <a:t>Types of Branch and Bound Solutions:</a:t>
            </a:r>
          </a:p>
          <a:p>
            <a:pPr fontAlgn="base"/>
            <a:r>
              <a:rPr lang="en-US" sz="2400" dirty="0"/>
              <a:t>The solution of the Branch and the bound problem can be represented in two ways:</a:t>
            </a:r>
          </a:p>
          <a:p>
            <a:pPr fontAlgn="base"/>
            <a:r>
              <a:rPr lang="en-US" sz="2400" b="1" dirty="0">
                <a:solidFill>
                  <a:srgbClr val="FF0000"/>
                </a:solidFill>
              </a:rPr>
              <a:t>Variable size solution: </a:t>
            </a:r>
            <a:endParaRPr lang="en-US" sz="2400" b="1" dirty="0" smtClean="0">
              <a:solidFill>
                <a:srgbClr val="FF0000"/>
              </a:solidFill>
            </a:endParaRPr>
          </a:p>
          <a:p>
            <a:pPr marL="342900" indent="-342900" fontAlgn="base">
              <a:buFont typeface="Arial" panose="020B0604020202020204" pitchFamily="34" charset="0"/>
              <a:buChar char="•"/>
            </a:pPr>
            <a:r>
              <a:rPr lang="en-US" sz="2400" dirty="0" smtClean="0"/>
              <a:t>Using </a:t>
            </a:r>
            <a:r>
              <a:rPr lang="en-US" sz="2400" dirty="0"/>
              <a:t>this solution, we can find the subset of the given set that gives the optimized solution to the given problem. </a:t>
            </a:r>
            <a:endParaRPr lang="en-US" sz="2400" dirty="0" smtClean="0"/>
          </a:p>
          <a:p>
            <a:pPr marL="342900" indent="-342900" fontAlgn="base">
              <a:buFont typeface="Arial" panose="020B0604020202020204" pitchFamily="34" charset="0"/>
              <a:buChar char="•"/>
            </a:pPr>
            <a:r>
              <a:rPr lang="en-US" sz="2400" dirty="0" smtClean="0"/>
              <a:t>For </a:t>
            </a:r>
            <a:r>
              <a:rPr lang="en-US" sz="2400" dirty="0"/>
              <a:t>example, if we have to select a combination of elements from </a:t>
            </a:r>
            <a:r>
              <a:rPr lang="en-US" sz="2400" dirty="0">
                <a:solidFill>
                  <a:srgbClr val="FF0000"/>
                </a:solidFill>
              </a:rPr>
              <a:t>{A, B, C, D} </a:t>
            </a:r>
            <a:r>
              <a:rPr lang="en-US" sz="2400" dirty="0"/>
              <a:t>that optimizes the given problem, and it is found that A and B together give the best solution, then the solution will be </a:t>
            </a:r>
            <a:r>
              <a:rPr lang="en-US" sz="2400" dirty="0">
                <a:solidFill>
                  <a:srgbClr val="FF0000"/>
                </a:solidFill>
              </a:rPr>
              <a:t>{A, B}.</a:t>
            </a:r>
          </a:p>
          <a:p>
            <a:pPr fontAlgn="base"/>
            <a:r>
              <a:rPr lang="en-US" sz="2400" b="1" dirty="0">
                <a:solidFill>
                  <a:srgbClr val="FF0000"/>
                </a:solidFill>
              </a:rPr>
              <a:t>Fixed-size solution:</a:t>
            </a:r>
            <a:r>
              <a:rPr lang="en-US" sz="2400" b="1" dirty="0"/>
              <a:t> </a:t>
            </a:r>
            <a:endParaRPr lang="en-US" sz="2400" b="1" dirty="0" smtClean="0"/>
          </a:p>
          <a:p>
            <a:pPr marL="342900" indent="-342900" fontAlgn="base">
              <a:buFont typeface="Arial" panose="020B0604020202020204" pitchFamily="34" charset="0"/>
              <a:buChar char="•"/>
            </a:pPr>
            <a:r>
              <a:rPr lang="en-US" sz="2400" dirty="0" smtClean="0"/>
              <a:t>There </a:t>
            </a:r>
            <a:r>
              <a:rPr lang="en-US" sz="2400" dirty="0"/>
              <a:t>are </a:t>
            </a:r>
            <a:r>
              <a:rPr lang="en-US" sz="2400" dirty="0">
                <a:solidFill>
                  <a:srgbClr val="FF0000"/>
                </a:solidFill>
              </a:rPr>
              <a:t>0s and 1s </a:t>
            </a:r>
            <a:r>
              <a:rPr lang="en-US" sz="2400" dirty="0"/>
              <a:t>in this solution, with the digit at the </a:t>
            </a:r>
            <a:r>
              <a:rPr lang="en-US" sz="2400" dirty="0" err="1"/>
              <a:t>ith</a:t>
            </a:r>
            <a:r>
              <a:rPr lang="en-US" sz="2400" dirty="0"/>
              <a:t> position indicating whether the </a:t>
            </a:r>
            <a:r>
              <a:rPr lang="en-US" sz="2400" dirty="0" err="1"/>
              <a:t>ith</a:t>
            </a:r>
            <a:r>
              <a:rPr lang="en-US" sz="2400" dirty="0"/>
              <a:t> element should be included, </a:t>
            </a:r>
            <a:endParaRPr lang="en-US" sz="2400" dirty="0" smtClean="0"/>
          </a:p>
          <a:p>
            <a:pPr marL="342900" indent="-342900" fontAlgn="base">
              <a:buFont typeface="Arial" panose="020B0604020202020204" pitchFamily="34" charset="0"/>
              <a:buChar char="•"/>
            </a:pPr>
            <a:r>
              <a:rPr lang="en-US" sz="2400" dirty="0" smtClean="0"/>
              <a:t>for </a:t>
            </a:r>
            <a:r>
              <a:rPr lang="en-US" sz="2400" dirty="0"/>
              <a:t>the above example, the solution will be given by </a:t>
            </a:r>
            <a:r>
              <a:rPr lang="en-US" sz="2400" dirty="0">
                <a:solidFill>
                  <a:srgbClr val="FF0000"/>
                </a:solidFill>
              </a:rPr>
              <a:t>{1, 1, 0, 0}, </a:t>
            </a:r>
            <a:r>
              <a:rPr lang="en-US" sz="2400" dirty="0"/>
              <a:t>here 1 represent that we have select the element which at </a:t>
            </a:r>
            <a:r>
              <a:rPr lang="en-US" sz="2400" dirty="0" err="1"/>
              <a:t>ith</a:t>
            </a:r>
            <a:r>
              <a:rPr lang="en-US" sz="2400" dirty="0"/>
              <a:t> position and 0 represent we don’t select the element at </a:t>
            </a:r>
            <a:r>
              <a:rPr lang="en-US" sz="2400" dirty="0" err="1"/>
              <a:t>ith</a:t>
            </a:r>
            <a:r>
              <a:rPr lang="en-US" sz="2400" dirty="0"/>
              <a:t> position.</a:t>
            </a:r>
          </a:p>
        </p:txBody>
      </p:sp>
    </p:spTree>
    <p:extLst>
      <p:ext uri="{BB962C8B-B14F-4D97-AF65-F5344CB8AC3E}">
        <p14:creationId xmlns:p14="http://schemas.microsoft.com/office/powerpoint/2010/main" val="266457090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7544" y="260648"/>
            <a:ext cx="8280920" cy="4893647"/>
          </a:xfrm>
          <a:prstGeom prst="rect">
            <a:avLst/>
          </a:prstGeom>
        </p:spPr>
        <p:txBody>
          <a:bodyPr wrap="square">
            <a:spAutoFit/>
          </a:bodyPr>
          <a:lstStyle/>
          <a:p>
            <a:pPr fontAlgn="base"/>
            <a:r>
              <a:rPr lang="en-US" sz="2400" b="1" dirty="0"/>
              <a:t>Classification of Branch and Bound Problems</a:t>
            </a:r>
            <a:r>
              <a:rPr lang="en-US" sz="2400" b="1" dirty="0" smtClean="0"/>
              <a:t>:</a:t>
            </a:r>
          </a:p>
          <a:p>
            <a:pPr fontAlgn="base"/>
            <a:endParaRPr lang="en-US" sz="2400" b="1" dirty="0"/>
          </a:p>
          <a:p>
            <a:pPr fontAlgn="base"/>
            <a:r>
              <a:rPr lang="en-US" sz="2400" dirty="0"/>
              <a:t>The Branch and Bound method can be classified into three types based on the order in which the state space tree is searched. </a:t>
            </a:r>
            <a:endParaRPr lang="en-US" sz="2400" dirty="0" smtClean="0"/>
          </a:p>
          <a:p>
            <a:pPr fontAlgn="base"/>
            <a:endParaRPr lang="en-US" sz="2400" dirty="0" smtClean="0"/>
          </a:p>
          <a:p>
            <a:pPr marL="1257300" lvl="2" indent="-342900" fontAlgn="base">
              <a:buFont typeface="Arial" panose="020B0604020202020204" pitchFamily="34" charset="0"/>
              <a:buChar char="•"/>
            </a:pPr>
            <a:r>
              <a:rPr lang="en-US" sz="2400" b="1" dirty="0">
                <a:solidFill>
                  <a:srgbClr val="FF0000"/>
                </a:solidFill>
              </a:rPr>
              <a:t>FIFO Branch and Bound</a:t>
            </a:r>
          </a:p>
          <a:p>
            <a:pPr marL="1257300" lvl="2" indent="-342900" fontAlgn="base">
              <a:buFont typeface="Arial" panose="020B0604020202020204" pitchFamily="34" charset="0"/>
              <a:buChar char="•"/>
            </a:pPr>
            <a:r>
              <a:rPr lang="en-US" sz="2400" b="1" dirty="0">
                <a:solidFill>
                  <a:srgbClr val="FF0000"/>
                </a:solidFill>
              </a:rPr>
              <a:t>LIFO Branch and Bound</a:t>
            </a:r>
          </a:p>
          <a:p>
            <a:pPr marL="1257300" lvl="2" indent="-342900" fontAlgn="base">
              <a:buFont typeface="Arial" panose="020B0604020202020204" pitchFamily="34" charset="0"/>
              <a:buChar char="•"/>
            </a:pPr>
            <a:r>
              <a:rPr lang="en-US" sz="2400" b="1" dirty="0">
                <a:solidFill>
                  <a:srgbClr val="FF0000"/>
                </a:solidFill>
              </a:rPr>
              <a:t>Least Cost-Branch and </a:t>
            </a:r>
            <a:r>
              <a:rPr lang="en-US" sz="2400" b="1" dirty="0" smtClean="0">
                <a:solidFill>
                  <a:srgbClr val="FF0000"/>
                </a:solidFill>
              </a:rPr>
              <a:t>Bound</a:t>
            </a:r>
          </a:p>
          <a:p>
            <a:pPr lvl="2" fontAlgn="base"/>
            <a:endParaRPr lang="en-US" sz="2400" dirty="0"/>
          </a:p>
          <a:p>
            <a:pPr fontAlgn="base"/>
            <a:r>
              <a:rPr lang="en-US" sz="2400" dirty="0"/>
              <a:t>We will now discuss each of these methods in more detail. To denote the solutions in these methods, we will use the variable solution method.</a:t>
            </a:r>
          </a:p>
          <a:p>
            <a:pPr fontAlgn="base"/>
            <a:endParaRPr lang="en-US" sz="2400" dirty="0"/>
          </a:p>
        </p:txBody>
      </p:sp>
    </p:spTree>
    <p:extLst>
      <p:ext uri="{BB962C8B-B14F-4D97-AF65-F5344CB8AC3E}">
        <p14:creationId xmlns:p14="http://schemas.microsoft.com/office/powerpoint/2010/main" val="368952373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50" y="0"/>
            <a:ext cx="8807821" cy="4154984"/>
          </a:xfrm>
          <a:prstGeom prst="rect">
            <a:avLst/>
          </a:prstGeom>
        </p:spPr>
        <p:txBody>
          <a:bodyPr wrap="square">
            <a:spAutoFit/>
          </a:bodyPr>
          <a:lstStyle/>
          <a:p>
            <a:pPr marL="342900" indent="-342900" fontAlgn="base">
              <a:buAutoNum type="arabicPeriod"/>
            </a:pPr>
            <a:r>
              <a:rPr lang="en-US" sz="2400" b="1" dirty="0" smtClean="0">
                <a:solidFill>
                  <a:srgbClr val="FF0000"/>
                </a:solidFill>
              </a:rPr>
              <a:t>FIFO </a:t>
            </a:r>
            <a:r>
              <a:rPr lang="en-US" sz="2400" b="1" dirty="0">
                <a:solidFill>
                  <a:srgbClr val="FF0000"/>
                </a:solidFill>
              </a:rPr>
              <a:t>Branch and </a:t>
            </a:r>
            <a:r>
              <a:rPr lang="en-US" sz="2400" b="1" dirty="0" smtClean="0">
                <a:solidFill>
                  <a:srgbClr val="FF0000"/>
                </a:solidFill>
              </a:rPr>
              <a:t>Bound</a:t>
            </a:r>
          </a:p>
          <a:p>
            <a:pPr marL="285750" indent="-285750" fontAlgn="base">
              <a:buFont typeface="Arial" panose="020B0604020202020204" pitchFamily="34" charset="0"/>
              <a:buChar char="•"/>
            </a:pPr>
            <a:r>
              <a:rPr lang="en-US" sz="2400" dirty="0" smtClean="0"/>
              <a:t>First-In-First-Out </a:t>
            </a:r>
            <a:r>
              <a:rPr lang="en-US" sz="2400" dirty="0"/>
              <a:t>is an approach to the branch and bound problem that </a:t>
            </a:r>
            <a:r>
              <a:rPr lang="en-US" sz="2400" dirty="0">
                <a:solidFill>
                  <a:srgbClr val="FF0000"/>
                </a:solidFill>
              </a:rPr>
              <a:t>uses the queue </a:t>
            </a:r>
            <a:r>
              <a:rPr lang="en-US" sz="2400" dirty="0"/>
              <a:t>approach to create a state-space tree. </a:t>
            </a:r>
            <a:endParaRPr lang="en-US" sz="2400" dirty="0" smtClean="0"/>
          </a:p>
          <a:p>
            <a:pPr marL="285750" indent="-285750" algn="just" fontAlgn="base">
              <a:buFont typeface="Arial" panose="020B0604020202020204" pitchFamily="34" charset="0"/>
              <a:buChar char="•"/>
            </a:pPr>
            <a:r>
              <a:rPr lang="en-US" sz="2400" dirty="0" smtClean="0"/>
              <a:t>In </a:t>
            </a:r>
            <a:r>
              <a:rPr lang="en-US" sz="2400" dirty="0"/>
              <a:t>this case, the </a:t>
            </a:r>
            <a:r>
              <a:rPr lang="en-US" sz="2400" dirty="0">
                <a:solidFill>
                  <a:srgbClr val="FF0000"/>
                </a:solidFill>
              </a:rPr>
              <a:t>breadth-first search </a:t>
            </a:r>
            <a:r>
              <a:rPr lang="en-US" sz="2400" dirty="0"/>
              <a:t>is performed, that is, the elements at a certain level are all searched, and then the elements at the next level are searched, starting with the first child of the first node at the previous level</a:t>
            </a:r>
            <a:r>
              <a:rPr lang="en-US" sz="2400" dirty="0" smtClean="0"/>
              <a:t>.</a:t>
            </a:r>
          </a:p>
          <a:p>
            <a:pPr marL="285750" indent="-285750" fontAlgn="base">
              <a:buFont typeface="Arial" panose="020B0604020202020204" pitchFamily="34" charset="0"/>
              <a:buChar char="•"/>
            </a:pPr>
            <a:r>
              <a:rPr lang="en-US" sz="2400" dirty="0" smtClean="0"/>
              <a:t>For </a:t>
            </a:r>
            <a:r>
              <a:rPr lang="en-US" sz="2400" dirty="0"/>
              <a:t>a given set {A, B, C, D}, the state space tree will be constructed as follows :</a:t>
            </a:r>
          </a:p>
          <a:p>
            <a:r>
              <a:rPr lang="en-US" sz="2400" dirty="0" smtClean="0"/>
              <a:t/>
            </a:r>
            <a:br>
              <a:rPr lang="en-US" sz="2400" dirty="0" smtClean="0"/>
            </a:br>
            <a:endParaRPr lang="en-IN" sz="24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71" y="3469556"/>
            <a:ext cx="4250938" cy="3388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4460111" y="3753036"/>
            <a:ext cx="4572000" cy="2308324"/>
          </a:xfrm>
          <a:prstGeom prst="rect">
            <a:avLst/>
          </a:prstGeom>
        </p:spPr>
        <p:txBody>
          <a:bodyPr>
            <a:spAutoFit/>
          </a:bodyPr>
          <a:lstStyle/>
          <a:p>
            <a:pPr algn="just"/>
            <a:r>
              <a:rPr lang="en-US" sz="2400" dirty="0" smtClean="0"/>
              <a:t>The diagram shows that we first consider element A, then element B, then element C and finally we’ll consider the last element which is D. We are performing BFS while exploring the nodes.</a:t>
            </a:r>
            <a:endParaRPr lang="en-US" sz="2400" dirty="0"/>
          </a:p>
        </p:txBody>
      </p:sp>
    </p:spTree>
    <p:extLst>
      <p:ext uri="{BB962C8B-B14F-4D97-AF65-F5344CB8AC3E}">
        <p14:creationId xmlns:p14="http://schemas.microsoft.com/office/powerpoint/2010/main" val="278941808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88640"/>
            <a:ext cx="8712968" cy="3539430"/>
          </a:xfrm>
          <a:prstGeom prst="rect">
            <a:avLst/>
          </a:prstGeom>
        </p:spPr>
        <p:txBody>
          <a:bodyPr wrap="square">
            <a:spAutoFit/>
          </a:bodyPr>
          <a:lstStyle/>
          <a:p>
            <a:pPr marL="342900" indent="-342900" algn="just" fontAlgn="base">
              <a:buFont typeface="Arial" panose="020B0604020202020204" pitchFamily="34" charset="0"/>
              <a:buChar char="•"/>
            </a:pPr>
            <a:r>
              <a:rPr lang="en-US" sz="2800" dirty="0" smtClean="0"/>
              <a:t>So</a:t>
            </a:r>
            <a:r>
              <a:rPr lang="en-US" sz="2800" dirty="0"/>
              <a:t>, once the first level is completed. We’ll consider the first element, then we can consider either B, C, or D. </a:t>
            </a:r>
            <a:endParaRPr lang="en-US" sz="2800" dirty="0" smtClean="0"/>
          </a:p>
          <a:p>
            <a:pPr marL="342900" indent="-342900" algn="just" fontAlgn="base">
              <a:buFont typeface="Arial" panose="020B0604020202020204" pitchFamily="34" charset="0"/>
              <a:buChar char="•"/>
            </a:pPr>
            <a:r>
              <a:rPr lang="en-US" sz="2800" dirty="0" smtClean="0"/>
              <a:t>If </a:t>
            </a:r>
            <a:r>
              <a:rPr lang="en-US" sz="2800" dirty="0"/>
              <a:t>we follow the route then it says that we are doing elements A and D so we will not consider elements B and C. </a:t>
            </a:r>
            <a:endParaRPr lang="en-US" sz="2800" dirty="0" smtClean="0"/>
          </a:p>
          <a:p>
            <a:pPr marL="342900" indent="-342900" algn="just" fontAlgn="base">
              <a:buFont typeface="Arial" panose="020B0604020202020204" pitchFamily="34" charset="0"/>
              <a:buChar char="•"/>
            </a:pPr>
            <a:r>
              <a:rPr lang="en-US" sz="2800" dirty="0" smtClean="0"/>
              <a:t>If </a:t>
            </a:r>
            <a:r>
              <a:rPr lang="en-US" sz="2800" dirty="0"/>
              <a:t>we select the elements A and D only, then it says that we are selecting elements A and D and we are not considering elements B and C.</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1920" y="3718494"/>
            <a:ext cx="4796829" cy="293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19140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7544" y="260648"/>
            <a:ext cx="8136904" cy="2677656"/>
          </a:xfrm>
          <a:prstGeom prst="rect">
            <a:avLst/>
          </a:prstGeom>
        </p:spPr>
        <p:txBody>
          <a:bodyPr wrap="square">
            <a:spAutoFit/>
          </a:bodyPr>
          <a:lstStyle/>
          <a:p>
            <a:r>
              <a:rPr lang="en-US" sz="2800" dirty="0" smtClean="0"/>
              <a:t>Now, we will expand node 3, as we have considered element B and not considered element A, so, we have two options to explore that is elements C and D. Let’s create nodes 9 and 10 for elements C and D respectively.</a:t>
            </a:r>
          </a:p>
          <a:p>
            <a:endParaRPr lang="en-US" sz="2800"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3544" y="2199421"/>
            <a:ext cx="5495106" cy="37156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0277861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188640"/>
            <a:ext cx="8784976" cy="1200329"/>
          </a:xfrm>
          <a:prstGeom prst="rect">
            <a:avLst/>
          </a:prstGeom>
        </p:spPr>
        <p:txBody>
          <a:bodyPr wrap="square">
            <a:spAutoFit/>
          </a:bodyPr>
          <a:lstStyle/>
          <a:p>
            <a:pPr algn="just"/>
            <a:r>
              <a:rPr lang="en-US" sz="2400" dirty="0" smtClean="0"/>
              <a:t>Now, we will expand node 4 as we have only considered elements C and not considered elements A and B, so, we have only one option to explore which is element  D. Let’s create node 11 for D.</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1270437"/>
            <a:ext cx="7362825" cy="498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1089523" y="5940369"/>
            <a:ext cx="6750496" cy="369332"/>
          </a:xfrm>
          <a:prstGeom prst="rect">
            <a:avLst/>
          </a:prstGeom>
        </p:spPr>
        <p:txBody>
          <a:bodyPr wrap="square">
            <a:spAutoFit/>
          </a:bodyPr>
          <a:lstStyle/>
          <a:p>
            <a:pPr algn="ctr"/>
            <a:r>
              <a:rPr lang="en-US" i="1" dirty="0"/>
              <a:t>Considered elements C and not considered elements A and B</a:t>
            </a:r>
            <a:endParaRPr lang="en-IN" dirty="0"/>
          </a:p>
        </p:txBody>
      </p:sp>
    </p:spTree>
    <p:extLst>
      <p:ext uri="{BB962C8B-B14F-4D97-AF65-F5344CB8AC3E}">
        <p14:creationId xmlns:p14="http://schemas.microsoft.com/office/powerpoint/2010/main" val="265931992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116632"/>
            <a:ext cx="8712968" cy="2308324"/>
          </a:xfrm>
          <a:prstGeom prst="rect">
            <a:avLst/>
          </a:prstGeom>
        </p:spPr>
        <p:txBody>
          <a:bodyPr wrap="square">
            <a:spAutoFit/>
          </a:bodyPr>
          <a:lstStyle/>
          <a:p>
            <a:r>
              <a:rPr lang="en-US" sz="2400" dirty="0" smtClean="0"/>
              <a:t>Till node 5, we have only considered elements D, and not selected elements A, B, and C. So, We have no more elements to explore, Therefore on node 5, there won’t be any expansion.</a:t>
            </a:r>
          </a:p>
          <a:p>
            <a:r>
              <a:rPr lang="en-US" sz="2400" dirty="0" smtClean="0"/>
              <a:t>Now, we will expand node 6 as we have considered elements A and B, so, we have only two option to explore that is element C and D. Let’s create node 12 and 13 for C and D respectively.</a:t>
            </a:r>
            <a:endParaRPr lang="en-IN" sz="2400"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769" y="2424956"/>
            <a:ext cx="5404470" cy="394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310239" y="4869160"/>
            <a:ext cx="1576072" cy="369332"/>
          </a:xfrm>
          <a:prstGeom prst="rect">
            <a:avLst/>
          </a:prstGeom>
        </p:spPr>
        <p:txBody>
          <a:bodyPr wrap="none">
            <a:spAutoFit/>
          </a:bodyPr>
          <a:lstStyle/>
          <a:p>
            <a:r>
              <a:rPr lang="en-IN" dirty="0" smtClean="0"/>
              <a:t>Expand node 6</a:t>
            </a:r>
            <a:endParaRPr lang="en-IN" dirty="0"/>
          </a:p>
        </p:txBody>
      </p:sp>
    </p:spTree>
    <p:extLst>
      <p:ext uri="{BB962C8B-B14F-4D97-AF65-F5344CB8AC3E}">
        <p14:creationId xmlns:p14="http://schemas.microsoft.com/office/powerpoint/2010/main" val="68945766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116632"/>
            <a:ext cx="8568952" cy="1200329"/>
          </a:xfrm>
          <a:prstGeom prst="rect">
            <a:avLst/>
          </a:prstGeom>
        </p:spPr>
        <p:txBody>
          <a:bodyPr wrap="square">
            <a:spAutoFit/>
          </a:bodyPr>
          <a:lstStyle/>
          <a:p>
            <a:pPr algn="just" fontAlgn="base"/>
            <a:r>
              <a:rPr lang="en-US" sz="2400" dirty="0"/>
              <a:t>Now, we will expand node 7 as we have considered elements A and C and not consider element B, so, we have only one option to explore which is element  D. Let’s create node 14 for D</a:t>
            </a:r>
            <a:r>
              <a:rPr lang="en-US" sz="2400" dirty="0" smtClean="0"/>
              <a:t>.</a:t>
            </a:r>
            <a:endParaRPr lang="en-US" sz="2400"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1316960"/>
            <a:ext cx="6847526" cy="4992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6638646" y="5301208"/>
            <a:ext cx="1965802" cy="369332"/>
          </a:xfrm>
          <a:prstGeom prst="rect">
            <a:avLst/>
          </a:prstGeom>
        </p:spPr>
        <p:txBody>
          <a:bodyPr wrap="square">
            <a:spAutoFit/>
          </a:bodyPr>
          <a:lstStyle/>
          <a:p>
            <a:r>
              <a:rPr lang="en-IN" i="1" dirty="0"/>
              <a:t>Expand node 7</a:t>
            </a:r>
            <a:endParaRPr lang="en-IN" dirty="0"/>
          </a:p>
        </p:txBody>
      </p:sp>
    </p:spTree>
    <p:extLst>
      <p:ext uri="{BB962C8B-B14F-4D97-AF65-F5344CB8AC3E}">
        <p14:creationId xmlns:p14="http://schemas.microsoft.com/office/powerpoint/2010/main" val="140474858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16632"/>
            <a:ext cx="8856984" cy="2308324"/>
          </a:xfrm>
          <a:prstGeom prst="rect">
            <a:avLst/>
          </a:prstGeom>
        </p:spPr>
        <p:txBody>
          <a:bodyPr wrap="square">
            <a:spAutoFit/>
          </a:bodyPr>
          <a:lstStyle/>
          <a:p>
            <a:pPr fontAlgn="base"/>
            <a:r>
              <a:rPr lang="en-US" sz="2400" dirty="0"/>
              <a:t>ill node 8, we have considered elements A and D, and not selected elements B and C, So, We have no more elements to explore, Therefore on node 8, there won’t be any expansion.</a:t>
            </a:r>
          </a:p>
          <a:p>
            <a:pPr fontAlgn="base"/>
            <a:r>
              <a:rPr lang="en-US" sz="2400" dirty="0"/>
              <a:t>Now, we will expand node 9 as we have considered elements B and C and not considered element A, so, we have only one option to explore which is element  D. Let’s create node 15 for D</a:t>
            </a:r>
            <a:r>
              <a:rPr lang="en-US" sz="2400" dirty="0" smtClean="0"/>
              <a:t>.</a:t>
            </a:r>
            <a:endParaRPr lang="en-IN" sz="2400"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2424956"/>
            <a:ext cx="6340574" cy="4032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6948264" y="5733256"/>
            <a:ext cx="1848074" cy="369332"/>
          </a:xfrm>
          <a:prstGeom prst="rect">
            <a:avLst/>
          </a:prstGeom>
        </p:spPr>
        <p:txBody>
          <a:bodyPr wrap="square">
            <a:spAutoFit/>
          </a:bodyPr>
          <a:lstStyle/>
          <a:p>
            <a:r>
              <a:rPr lang="en-IN" i="1" dirty="0"/>
              <a:t>Expand node 9</a:t>
            </a:r>
            <a:endParaRPr lang="en-IN" dirty="0"/>
          </a:p>
        </p:txBody>
      </p:sp>
    </p:spTree>
    <p:extLst>
      <p:ext uri="{BB962C8B-B14F-4D97-AF65-F5344CB8AC3E}">
        <p14:creationId xmlns:p14="http://schemas.microsoft.com/office/powerpoint/2010/main" val="318852745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36" y="190063"/>
            <a:ext cx="8712968" cy="3046988"/>
          </a:xfrm>
          <a:prstGeom prst="rect">
            <a:avLst/>
          </a:prstGeom>
        </p:spPr>
        <p:txBody>
          <a:bodyPr wrap="square">
            <a:spAutoFit/>
          </a:bodyPr>
          <a:lstStyle/>
          <a:p>
            <a:pPr fontAlgn="base"/>
            <a:r>
              <a:rPr lang="en-US" sz="2400" b="1" dirty="0">
                <a:solidFill>
                  <a:srgbClr val="FF0000"/>
                </a:solidFill>
              </a:rPr>
              <a:t>2. LIFO Branch and Bound</a:t>
            </a:r>
          </a:p>
          <a:p>
            <a:pPr marL="342900" indent="-342900" fontAlgn="base">
              <a:buFont typeface="Arial" panose="020B0604020202020204" pitchFamily="34" charset="0"/>
              <a:buChar char="•"/>
            </a:pPr>
            <a:r>
              <a:rPr lang="en-US" sz="2400" dirty="0"/>
              <a:t>The Last-In-First-Out approach for this problem </a:t>
            </a:r>
            <a:r>
              <a:rPr lang="en-US" sz="2400" dirty="0">
                <a:solidFill>
                  <a:srgbClr val="FF0000"/>
                </a:solidFill>
              </a:rPr>
              <a:t>uses stack </a:t>
            </a:r>
            <a:r>
              <a:rPr lang="en-US" sz="2400" dirty="0"/>
              <a:t>in creating the state space tree. When nodes are added to a state space tree, they are added to a stack. </a:t>
            </a:r>
            <a:endParaRPr lang="en-US" sz="2400" dirty="0" smtClean="0"/>
          </a:p>
          <a:p>
            <a:pPr marL="342900" indent="-342900" fontAlgn="base">
              <a:buFont typeface="Arial" panose="020B0604020202020204" pitchFamily="34" charset="0"/>
              <a:buChar char="•"/>
            </a:pPr>
            <a:r>
              <a:rPr lang="en-US" sz="2400" dirty="0" smtClean="0"/>
              <a:t>After </a:t>
            </a:r>
            <a:r>
              <a:rPr lang="en-US" sz="2400" dirty="0"/>
              <a:t>all nodes of a level have been added, we </a:t>
            </a:r>
            <a:r>
              <a:rPr lang="en-US" sz="2400" dirty="0">
                <a:solidFill>
                  <a:srgbClr val="FF0000"/>
                </a:solidFill>
              </a:rPr>
              <a:t>pop</a:t>
            </a:r>
            <a:r>
              <a:rPr lang="en-US" sz="2400" dirty="0"/>
              <a:t> the topmost element from the stack and </a:t>
            </a:r>
            <a:r>
              <a:rPr lang="en-US" sz="2400" dirty="0">
                <a:solidFill>
                  <a:srgbClr val="FF0000"/>
                </a:solidFill>
              </a:rPr>
              <a:t>explore it</a:t>
            </a:r>
            <a:r>
              <a:rPr lang="en-US" sz="2400" dirty="0"/>
              <a:t>.</a:t>
            </a:r>
          </a:p>
          <a:p>
            <a:pPr marL="342900" indent="-342900" fontAlgn="base">
              <a:buFont typeface="Arial" panose="020B0604020202020204" pitchFamily="34" charset="0"/>
              <a:buChar char="•"/>
            </a:pPr>
            <a:r>
              <a:rPr lang="en-US" sz="2400" dirty="0"/>
              <a:t>For a given set {A, B, C, D}, the state space tree will be constructed as follows </a:t>
            </a:r>
            <a:r>
              <a:rPr lang="en-US" sz="2400" dirty="0" smtClean="0"/>
              <a:t>:</a:t>
            </a:r>
            <a:endParaRPr lang="en-US" sz="2400"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999" y="3178827"/>
            <a:ext cx="7496175" cy="316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1187624" y="6156461"/>
            <a:ext cx="3859967" cy="369332"/>
          </a:xfrm>
          <a:prstGeom prst="rect">
            <a:avLst/>
          </a:prstGeom>
        </p:spPr>
        <p:txBody>
          <a:bodyPr wrap="none">
            <a:spAutoFit/>
          </a:bodyPr>
          <a:lstStyle/>
          <a:p>
            <a:r>
              <a:rPr lang="en-US" i="1" dirty="0"/>
              <a:t>State space tree for element {A, B, C, D}</a:t>
            </a:r>
            <a:endParaRPr lang="en-IN" dirty="0"/>
          </a:p>
        </p:txBody>
      </p:sp>
    </p:spTree>
    <p:extLst>
      <p:ext uri="{BB962C8B-B14F-4D97-AF65-F5344CB8AC3E}">
        <p14:creationId xmlns:p14="http://schemas.microsoft.com/office/powerpoint/2010/main" val="259509389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620688"/>
            <a:ext cx="8712968" cy="5262979"/>
          </a:xfrm>
          <a:prstGeom prst="rect">
            <a:avLst/>
          </a:prstGeom>
        </p:spPr>
        <p:txBody>
          <a:bodyPr wrap="square">
            <a:spAutoFit/>
          </a:bodyPr>
          <a:lstStyle/>
          <a:p>
            <a:pPr marL="342900" indent="-342900" fontAlgn="base">
              <a:buFont typeface="Arial" panose="020B0604020202020204" pitchFamily="34" charset="0"/>
              <a:buChar char="•"/>
            </a:pPr>
            <a:r>
              <a:rPr lang="en-US" sz="2400" dirty="0"/>
              <a:t>Now the expansion would be based on the node that appears on the top of the stack. </a:t>
            </a:r>
            <a:endParaRPr lang="en-US" sz="2400" dirty="0" smtClean="0"/>
          </a:p>
          <a:p>
            <a:pPr fontAlgn="base"/>
            <a:endParaRPr lang="en-US" sz="2400" dirty="0" smtClean="0"/>
          </a:p>
          <a:p>
            <a:pPr marL="342900" indent="-342900" fontAlgn="base">
              <a:buFont typeface="Arial" panose="020B0604020202020204" pitchFamily="34" charset="0"/>
              <a:buChar char="•"/>
            </a:pPr>
            <a:r>
              <a:rPr lang="en-US" sz="2400" dirty="0" smtClean="0"/>
              <a:t>Since </a:t>
            </a:r>
            <a:r>
              <a:rPr lang="en-US" sz="2400" dirty="0"/>
              <a:t>node 5 appears on the top of the stack, so we will expand node 5. </a:t>
            </a:r>
            <a:endParaRPr lang="en-US" sz="2400" dirty="0" smtClean="0"/>
          </a:p>
          <a:p>
            <a:pPr marL="342900" indent="-342900" fontAlgn="base">
              <a:buFont typeface="Arial" panose="020B0604020202020204" pitchFamily="34" charset="0"/>
              <a:buChar char="•"/>
            </a:pPr>
            <a:endParaRPr lang="en-US" sz="2400" dirty="0" smtClean="0"/>
          </a:p>
          <a:p>
            <a:pPr marL="342900" indent="-342900" fontAlgn="base">
              <a:buFont typeface="Arial" panose="020B0604020202020204" pitchFamily="34" charset="0"/>
              <a:buChar char="•"/>
            </a:pPr>
            <a:r>
              <a:rPr lang="en-US" sz="2400" dirty="0" smtClean="0"/>
              <a:t>We </a:t>
            </a:r>
            <a:r>
              <a:rPr lang="en-US" sz="2400" dirty="0"/>
              <a:t>will pop out node 5 from the stack. Since node 5 is in the last element, i.e., D so there is no further scope for expansion.</a:t>
            </a:r>
          </a:p>
          <a:p>
            <a:pPr marL="342900" indent="-342900" fontAlgn="base">
              <a:buFont typeface="Arial" panose="020B0604020202020204" pitchFamily="34" charset="0"/>
              <a:buChar char="•"/>
            </a:pPr>
            <a:endParaRPr lang="en-US" sz="2400" dirty="0" smtClean="0"/>
          </a:p>
          <a:p>
            <a:pPr marL="342900" indent="-342900" fontAlgn="base">
              <a:buFont typeface="Arial" panose="020B0604020202020204" pitchFamily="34" charset="0"/>
              <a:buChar char="•"/>
            </a:pPr>
            <a:r>
              <a:rPr lang="en-US" sz="2400" dirty="0" smtClean="0"/>
              <a:t>The </a:t>
            </a:r>
            <a:r>
              <a:rPr lang="en-US" sz="2400" dirty="0"/>
              <a:t>next node that appears on the top of the stack is node 4. Pop-out node 4 and expand. </a:t>
            </a:r>
            <a:endParaRPr lang="en-US" sz="2400" dirty="0" smtClean="0"/>
          </a:p>
          <a:p>
            <a:pPr marL="342900" indent="-342900" fontAlgn="base">
              <a:buFont typeface="Arial" panose="020B0604020202020204" pitchFamily="34" charset="0"/>
              <a:buChar char="•"/>
            </a:pPr>
            <a:endParaRPr lang="en-US" sz="2400" dirty="0" smtClean="0"/>
          </a:p>
          <a:p>
            <a:pPr marL="342900" indent="-342900" fontAlgn="base">
              <a:buFont typeface="Arial" panose="020B0604020202020204" pitchFamily="34" charset="0"/>
              <a:buChar char="•"/>
            </a:pPr>
            <a:r>
              <a:rPr lang="en-US" sz="2400" dirty="0" smtClean="0"/>
              <a:t>On </a:t>
            </a:r>
            <a:r>
              <a:rPr lang="en-US" sz="2400" dirty="0"/>
              <a:t>expansion, element D will be considered and node 6 will be added to the stack shown below:</a:t>
            </a:r>
          </a:p>
        </p:txBody>
      </p:sp>
    </p:spTree>
    <p:extLst>
      <p:ext uri="{BB962C8B-B14F-4D97-AF65-F5344CB8AC3E}">
        <p14:creationId xmlns:p14="http://schemas.microsoft.com/office/powerpoint/2010/main" val="37646658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764704"/>
            <a:ext cx="8048651" cy="4968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3635896" y="5795972"/>
            <a:ext cx="1576072" cy="369332"/>
          </a:xfrm>
          <a:prstGeom prst="rect">
            <a:avLst/>
          </a:prstGeom>
        </p:spPr>
        <p:txBody>
          <a:bodyPr wrap="none">
            <a:spAutoFit/>
          </a:bodyPr>
          <a:lstStyle/>
          <a:p>
            <a:r>
              <a:rPr lang="en-IN" dirty="0" smtClean="0"/>
              <a:t>Expand node 4</a:t>
            </a:r>
            <a:endParaRPr lang="en-IN" dirty="0"/>
          </a:p>
        </p:txBody>
      </p:sp>
    </p:spTree>
    <p:extLst>
      <p:ext uri="{BB962C8B-B14F-4D97-AF65-F5344CB8AC3E}">
        <p14:creationId xmlns:p14="http://schemas.microsoft.com/office/powerpoint/2010/main" val="332448056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7016" y="692696"/>
            <a:ext cx="8856984" cy="5693866"/>
          </a:xfrm>
          <a:prstGeom prst="rect">
            <a:avLst/>
          </a:prstGeom>
        </p:spPr>
        <p:txBody>
          <a:bodyPr wrap="square">
            <a:spAutoFit/>
          </a:bodyPr>
          <a:lstStyle/>
          <a:p>
            <a:pPr marL="342900" indent="-342900" fontAlgn="base">
              <a:buFont typeface="Arial" panose="020B0604020202020204" pitchFamily="34" charset="0"/>
              <a:buChar char="•"/>
            </a:pPr>
            <a:r>
              <a:rPr lang="en-US" sz="2800" dirty="0"/>
              <a:t>The next node is 6 which is to be expanded. Pop-out node 6 and expand. </a:t>
            </a:r>
            <a:endParaRPr lang="en-US" sz="2800" dirty="0" smtClean="0"/>
          </a:p>
          <a:p>
            <a:pPr marL="342900" indent="-342900" fontAlgn="base">
              <a:buFont typeface="Arial" panose="020B0604020202020204" pitchFamily="34" charset="0"/>
              <a:buChar char="•"/>
            </a:pPr>
            <a:r>
              <a:rPr lang="en-US" sz="2800" dirty="0" smtClean="0"/>
              <a:t>Since </a:t>
            </a:r>
            <a:r>
              <a:rPr lang="en-US" sz="2800" dirty="0"/>
              <a:t>node 6 is in the last element, i.e., D so there is no further scope for expansion.</a:t>
            </a:r>
          </a:p>
          <a:p>
            <a:pPr marL="342900" indent="-342900" fontAlgn="base">
              <a:buFont typeface="Arial" panose="020B0604020202020204" pitchFamily="34" charset="0"/>
              <a:buChar char="•"/>
            </a:pPr>
            <a:r>
              <a:rPr lang="en-US" sz="2800" dirty="0"/>
              <a:t>The next node to be expanded is </a:t>
            </a:r>
            <a:r>
              <a:rPr lang="en-US" sz="2800" dirty="0">
                <a:solidFill>
                  <a:srgbClr val="FF0000"/>
                </a:solidFill>
              </a:rPr>
              <a:t>node 3.</a:t>
            </a:r>
            <a:r>
              <a:rPr lang="en-US" sz="2800" dirty="0"/>
              <a:t> Since node 3 works on element B so node 3 will be expanded to two nodes, i.e., 7 and 8 working on </a:t>
            </a:r>
            <a:r>
              <a:rPr lang="en-US" sz="2800" dirty="0">
                <a:solidFill>
                  <a:srgbClr val="FF0000"/>
                </a:solidFill>
              </a:rPr>
              <a:t>elements C and D</a:t>
            </a:r>
            <a:r>
              <a:rPr lang="en-US" sz="2800" dirty="0"/>
              <a:t> respectively. </a:t>
            </a:r>
            <a:endParaRPr lang="en-US" sz="2800" dirty="0" smtClean="0"/>
          </a:p>
          <a:p>
            <a:pPr marL="342900" indent="-342900" fontAlgn="base">
              <a:buFont typeface="Arial" panose="020B0604020202020204" pitchFamily="34" charset="0"/>
              <a:buChar char="•"/>
            </a:pPr>
            <a:r>
              <a:rPr lang="en-US" sz="2800" dirty="0" smtClean="0"/>
              <a:t>Nodes </a:t>
            </a:r>
            <a:r>
              <a:rPr lang="en-US" sz="2800" dirty="0"/>
              <a:t>7 and 8 will be pushed into the stack.</a:t>
            </a:r>
          </a:p>
          <a:p>
            <a:pPr marL="342900" indent="-342900" fontAlgn="base">
              <a:buFont typeface="Arial" panose="020B0604020202020204" pitchFamily="34" charset="0"/>
              <a:buChar char="•"/>
            </a:pPr>
            <a:r>
              <a:rPr lang="en-US" sz="2800" dirty="0"/>
              <a:t>The next node that appears on the top of the stack is node 8. Pop-out node 8 and expand. </a:t>
            </a:r>
            <a:endParaRPr lang="en-US" sz="2800" dirty="0" smtClean="0"/>
          </a:p>
          <a:p>
            <a:pPr marL="342900" indent="-342900" fontAlgn="base">
              <a:buFont typeface="Arial" panose="020B0604020202020204" pitchFamily="34" charset="0"/>
              <a:buChar char="•"/>
            </a:pPr>
            <a:r>
              <a:rPr lang="en-US" sz="2800" dirty="0" smtClean="0"/>
              <a:t>Since </a:t>
            </a:r>
            <a:r>
              <a:rPr lang="en-US" sz="2800" dirty="0">
                <a:solidFill>
                  <a:srgbClr val="FF0000"/>
                </a:solidFill>
              </a:rPr>
              <a:t>node 8</a:t>
            </a:r>
            <a:r>
              <a:rPr lang="en-US" sz="2800" dirty="0"/>
              <a:t> works on </a:t>
            </a:r>
            <a:r>
              <a:rPr lang="en-US" sz="2800" dirty="0">
                <a:solidFill>
                  <a:srgbClr val="FF0000"/>
                </a:solidFill>
              </a:rPr>
              <a:t>element D</a:t>
            </a:r>
            <a:r>
              <a:rPr lang="en-US" sz="2800" dirty="0"/>
              <a:t> so there is no further scope for the </a:t>
            </a:r>
            <a:r>
              <a:rPr lang="en-US" sz="2800" dirty="0">
                <a:solidFill>
                  <a:srgbClr val="FF0000"/>
                </a:solidFill>
              </a:rPr>
              <a:t>expansion</a:t>
            </a:r>
            <a:r>
              <a:rPr lang="en-US" sz="2800" dirty="0" smtClean="0">
                <a:solidFill>
                  <a:srgbClr val="FF0000"/>
                </a:solidFill>
              </a:rPr>
              <a:t>.</a:t>
            </a:r>
            <a:endParaRPr lang="en-US" sz="2800" dirty="0">
              <a:solidFill>
                <a:srgbClr val="FF0000"/>
              </a:solidFill>
            </a:endParaRPr>
          </a:p>
        </p:txBody>
      </p:sp>
    </p:spTree>
    <p:extLst>
      <p:ext uri="{BB962C8B-B14F-4D97-AF65-F5344CB8AC3E}">
        <p14:creationId xmlns:p14="http://schemas.microsoft.com/office/powerpoint/2010/main" val="108261272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5" y="548680"/>
            <a:ext cx="8496944" cy="54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411760" y="6133946"/>
            <a:ext cx="2088232" cy="369332"/>
          </a:xfrm>
          <a:prstGeom prst="rect">
            <a:avLst/>
          </a:prstGeom>
        </p:spPr>
        <p:txBody>
          <a:bodyPr wrap="square">
            <a:spAutoFit/>
          </a:bodyPr>
          <a:lstStyle/>
          <a:p>
            <a:r>
              <a:rPr lang="en-IN" dirty="0" smtClean="0"/>
              <a:t>Expand node 3</a:t>
            </a:r>
            <a:endParaRPr lang="en-IN" dirty="0"/>
          </a:p>
        </p:txBody>
      </p:sp>
    </p:spTree>
    <p:extLst>
      <p:ext uri="{BB962C8B-B14F-4D97-AF65-F5344CB8AC3E}">
        <p14:creationId xmlns:p14="http://schemas.microsoft.com/office/powerpoint/2010/main" val="82772676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7544" y="836712"/>
            <a:ext cx="8136904" cy="3539430"/>
          </a:xfrm>
          <a:prstGeom prst="rect">
            <a:avLst/>
          </a:prstGeom>
        </p:spPr>
        <p:txBody>
          <a:bodyPr wrap="square">
            <a:spAutoFit/>
          </a:bodyPr>
          <a:lstStyle/>
          <a:p>
            <a:pPr marL="457200" indent="-457200" fontAlgn="base">
              <a:buFont typeface="Arial" panose="020B0604020202020204" pitchFamily="34" charset="0"/>
              <a:buChar char="•"/>
            </a:pPr>
            <a:r>
              <a:rPr lang="en-US" sz="2800" dirty="0"/>
              <a:t>The next node that appears on the top of the stack is node 7. Pop-out node 7 and expand. </a:t>
            </a:r>
            <a:endParaRPr lang="en-US" sz="2800" dirty="0" smtClean="0"/>
          </a:p>
          <a:p>
            <a:pPr marL="457200" indent="-457200" fontAlgn="base">
              <a:buFont typeface="Arial" panose="020B0604020202020204" pitchFamily="34" charset="0"/>
              <a:buChar char="•"/>
            </a:pPr>
            <a:endParaRPr lang="en-US" sz="2800" dirty="0"/>
          </a:p>
          <a:p>
            <a:pPr marL="457200" indent="-457200" fontAlgn="base">
              <a:buFont typeface="Arial" panose="020B0604020202020204" pitchFamily="34" charset="0"/>
              <a:buChar char="•"/>
            </a:pPr>
            <a:r>
              <a:rPr lang="en-US" sz="2800" dirty="0" smtClean="0"/>
              <a:t>Since </a:t>
            </a:r>
            <a:r>
              <a:rPr lang="en-US" sz="2800" dirty="0">
                <a:solidFill>
                  <a:srgbClr val="FF0000"/>
                </a:solidFill>
              </a:rPr>
              <a:t>node 7 </a:t>
            </a:r>
            <a:r>
              <a:rPr lang="en-US" sz="2800" dirty="0"/>
              <a:t>works on </a:t>
            </a:r>
            <a:r>
              <a:rPr lang="en-US" sz="2800" dirty="0">
                <a:solidFill>
                  <a:srgbClr val="FF0000"/>
                </a:solidFill>
              </a:rPr>
              <a:t>element C</a:t>
            </a:r>
            <a:r>
              <a:rPr lang="en-US" sz="2800" dirty="0"/>
              <a:t> so node 7 will be further expanded to node 9 which works on </a:t>
            </a:r>
            <a:r>
              <a:rPr lang="en-US" sz="2800" dirty="0">
                <a:solidFill>
                  <a:srgbClr val="FF0000"/>
                </a:solidFill>
              </a:rPr>
              <a:t>element D </a:t>
            </a:r>
            <a:r>
              <a:rPr lang="en-US" sz="2800" dirty="0"/>
              <a:t>and </a:t>
            </a:r>
            <a:r>
              <a:rPr lang="en-US" sz="2800" dirty="0">
                <a:solidFill>
                  <a:srgbClr val="FF0000"/>
                </a:solidFill>
              </a:rPr>
              <a:t>node 9</a:t>
            </a:r>
            <a:r>
              <a:rPr lang="en-US" sz="2800" dirty="0"/>
              <a:t> will be pushed into the stack</a:t>
            </a:r>
            <a:r>
              <a:rPr lang="en-US" sz="2800" dirty="0" smtClean="0"/>
              <a:t>.</a:t>
            </a:r>
          </a:p>
          <a:p>
            <a:pPr marL="457200" indent="-457200" fontAlgn="base">
              <a:buFont typeface="Arial" panose="020B0604020202020204" pitchFamily="34" charset="0"/>
              <a:buChar char="•"/>
            </a:pPr>
            <a:endParaRPr lang="en-US" sz="2800" dirty="0"/>
          </a:p>
          <a:p>
            <a:endParaRPr lang="en-IN" sz="2800" dirty="0"/>
          </a:p>
        </p:txBody>
      </p:sp>
    </p:spTree>
    <p:extLst>
      <p:ext uri="{BB962C8B-B14F-4D97-AF65-F5344CB8AC3E}">
        <p14:creationId xmlns:p14="http://schemas.microsoft.com/office/powerpoint/2010/main" val="48594560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525" y="271463"/>
            <a:ext cx="7600950" cy="6315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3047533" y="5589240"/>
            <a:ext cx="1560042" cy="369332"/>
          </a:xfrm>
          <a:prstGeom prst="rect">
            <a:avLst/>
          </a:prstGeom>
        </p:spPr>
        <p:txBody>
          <a:bodyPr wrap="none">
            <a:spAutoFit/>
          </a:bodyPr>
          <a:lstStyle/>
          <a:p>
            <a:r>
              <a:rPr lang="en-IN" i="1" dirty="0"/>
              <a:t>Expand node 7</a:t>
            </a:r>
            <a:endParaRPr lang="en-IN" dirty="0"/>
          </a:p>
        </p:txBody>
      </p:sp>
    </p:spTree>
    <p:extLst>
      <p:ext uri="{BB962C8B-B14F-4D97-AF65-F5344CB8AC3E}">
        <p14:creationId xmlns:p14="http://schemas.microsoft.com/office/powerpoint/2010/main" val="7719777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7544" y="260648"/>
            <a:ext cx="8424936" cy="5262979"/>
          </a:xfrm>
          <a:prstGeom prst="rect">
            <a:avLst/>
          </a:prstGeom>
        </p:spPr>
        <p:txBody>
          <a:bodyPr wrap="square">
            <a:spAutoFit/>
          </a:bodyPr>
          <a:lstStyle/>
          <a:p>
            <a:pPr marL="457200" indent="-457200" fontAlgn="base">
              <a:buFont typeface="Arial" panose="020B0604020202020204" pitchFamily="34" charset="0"/>
              <a:buChar char="•"/>
            </a:pPr>
            <a:r>
              <a:rPr lang="en-US" sz="2800" dirty="0"/>
              <a:t>The next node that appears on the top of the stack is node 9. </a:t>
            </a:r>
            <a:endParaRPr lang="en-US" sz="2800" dirty="0" smtClean="0"/>
          </a:p>
          <a:p>
            <a:pPr marL="457200" indent="-457200" fontAlgn="base">
              <a:buFont typeface="Arial" panose="020B0604020202020204" pitchFamily="34" charset="0"/>
              <a:buChar char="•"/>
            </a:pPr>
            <a:r>
              <a:rPr lang="en-US" sz="2800" dirty="0" smtClean="0"/>
              <a:t>Since </a:t>
            </a:r>
            <a:r>
              <a:rPr lang="en-US" sz="2800" dirty="0">
                <a:solidFill>
                  <a:srgbClr val="FF0000"/>
                </a:solidFill>
              </a:rPr>
              <a:t>node 9 </a:t>
            </a:r>
            <a:r>
              <a:rPr lang="en-US" sz="2800" dirty="0"/>
              <a:t>works on </a:t>
            </a:r>
            <a:r>
              <a:rPr lang="en-US" sz="2800" dirty="0">
                <a:solidFill>
                  <a:srgbClr val="FF0000"/>
                </a:solidFill>
              </a:rPr>
              <a:t>element D</a:t>
            </a:r>
            <a:r>
              <a:rPr lang="en-US" sz="2800" dirty="0"/>
              <a:t>, there is no further scope for expansion.</a:t>
            </a:r>
          </a:p>
          <a:p>
            <a:pPr marL="457200" indent="-457200" fontAlgn="base">
              <a:buFont typeface="Arial" panose="020B0604020202020204" pitchFamily="34" charset="0"/>
              <a:buChar char="•"/>
            </a:pPr>
            <a:r>
              <a:rPr lang="en-US" sz="2800" dirty="0"/>
              <a:t>The next node that appears on the top of the stack is node 2. </a:t>
            </a:r>
            <a:endParaRPr lang="en-US" sz="2800" dirty="0" smtClean="0"/>
          </a:p>
          <a:p>
            <a:pPr marL="457200" indent="-457200" fontAlgn="base">
              <a:buFont typeface="Arial" panose="020B0604020202020204" pitchFamily="34" charset="0"/>
              <a:buChar char="•"/>
            </a:pPr>
            <a:r>
              <a:rPr lang="en-US" sz="2800" dirty="0" smtClean="0"/>
              <a:t>Since </a:t>
            </a:r>
            <a:r>
              <a:rPr lang="en-US" sz="2800" dirty="0"/>
              <a:t>node 2 works on the element A so it means that </a:t>
            </a:r>
            <a:r>
              <a:rPr lang="en-US" sz="2800" dirty="0">
                <a:solidFill>
                  <a:srgbClr val="FF0000"/>
                </a:solidFill>
              </a:rPr>
              <a:t>node 2</a:t>
            </a:r>
            <a:r>
              <a:rPr lang="en-US" sz="2800" dirty="0"/>
              <a:t> can be further expanded. </a:t>
            </a:r>
            <a:endParaRPr lang="en-US" sz="2800" dirty="0" smtClean="0"/>
          </a:p>
          <a:p>
            <a:pPr marL="457200" indent="-457200" fontAlgn="base">
              <a:buFont typeface="Arial" panose="020B0604020202020204" pitchFamily="34" charset="0"/>
              <a:buChar char="•"/>
            </a:pPr>
            <a:r>
              <a:rPr lang="en-US" sz="2800" dirty="0" smtClean="0"/>
              <a:t>It </a:t>
            </a:r>
            <a:r>
              <a:rPr lang="en-US" sz="2800" dirty="0"/>
              <a:t>can be expanded up to three nodes named 10, 11, 12 working on </a:t>
            </a:r>
            <a:r>
              <a:rPr lang="en-US" sz="2800" dirty="0">
                <a:solidFill>
                  <a:srgbClr val="FF0000"/>
                </a:solidFill>
              </a:rPr>
              <a:t>elements B, C, and D </a:t>
            </a:r>
            <a:r>
              <a:rPr lang="en-US" sz="2800" dirty="0"/>
              <a:t>respectively</a:t>
            </a:r>
            <a:r>
              <a:rPr lang="en-US" sz="2800" dirty="0" smtClean="0"/>
              <a:t>.</a:t>
            </a:r>
          </a:p>
          <a:p>
            <a:pPr marL="457200" indent="-457200" fontAlgn="base">
              <a:buFont typeface="Arial" panose="020B0604020202020204" pitchFamily="34" charset="0"/>
              <a:buChar char="•"/>
            </a:pPr>
            <a:r>
              <a:rPr lang="en-US" sz="2800" dirty="0" smtClean="0"/>
              <a:t>There </a:t>
            </a:r>
            <a:r>
              <a:rPr lang="en-US" sz="2800" dirty="0"/>
              <a:t>new nodes will be pushed into the stack shown as below</a:t>
            </a:r>
            <a:r>
              <a:rPr lang="en-US" sz="2800" dirty="0" smtClean="0"/>
              <a:t>:</a:t>
            </a:r>
            <a:endParaRPr lang="en-US" sz="2800" dirty="0"/>
          </a:p>
        </p:txBody>
      </p:sp>
    </p:spTree>
    <p:extLst>
      <p:ext uri="{BB962C8B-B14F-4D97-AF65-F5344CB8AC3E}">
        <p14:creationId xmlns:p14="http://schemas.microsoft.com/office/powerpoint/2010/main" val="273414795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376" y="0"/>
            <a:ext cx="8417768" cy="5760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547664" y="6052646"/>
            <a:ext cx="2232248" cy="369332"/>
          </a:xfrm>
          <a:prstGeom prst="rect">
            <a:avLst/>
          </a:prstGeom>
        </p:spPr>
        <p:txBody>
          <a:bodyPr wrap="square">
            <a:spAutoFit/>
          </a:bodyPr>
          <a:lstStyle/>
          <a:p>
            <a:pPr algn="ctr"/>
            <a:r>
              <a:rPr lang="en-IN" i="1" dirty="0"/>
              <a:t>Expand node 2</a:t>
            </a:r>
            <a:endParaRPr lang="en-IN" dirty="0"/>
          </a:p>
        </p:txBody>
      </p:sp>
      <p:sp>
        <p:nvSpPr>
          <p:cNvPr id="3" name="Rectangle 2"/>
          <p:cNvSpPr/>
          <p:nvPr/>
        </p:nvSpPr>
        <p:spPr>
          <a:xfrm>
            <a:off x="4119400" y="4608364"/>
            <a:ext cx="4845087" cy="1815882"/>
          </a:xfrm>
          <a:prstGeom prst="rect">
            <a:avLst/>
          </a:prstGeom>
        </p:spPr>
        <p:txBody>
          <a:bodyPr wrap="square">
            <a:spAutoFit/>
          </a:bodyPr>
          <a:lstStyle/>
          <a:p>
            <a:pPr algn="just"/>
            <a:r>
              <a:rPr lang="en-US" sz="2800" dirty="0"/>
              <a:t>In the above method, we explored all the nodes using the stack that follows the LIFO principle.</a:t>
            </a:r>
            <a:endParaRPr lang="en-IN" sz="2800" dirty="0"/>
          </a:p>
        </p:txBody>
      </p:sp>
    </p:spTree>
    <p:extLst>
      <p:ext uri="{BB962C8B-B14F-4D97-AF65-F5344CB8AC3E}">
        <p14:creationId xmlns:p14="http://schemas.microsoft.com/office/powerpoint/2010/main" val="77384174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548680"/>
            <a:ext cx="8928992" cy="6124754"/>
          </a:xfrm>
          <a:prstGeom prst="rect">
            <a:avLst/>
          </a:prstGeom>
        </p:spPr>
        <p:txBody>
          <a:bodyPr wrap="square">
            <a:spAutoFit/>
          </a:bodyPr>
          <a:lstStyle/>
          <a:p>
            <a:pPr fontAlgn="base"/>
            <a:r>
              <a:rPr lang="en-US" sz="2800" b="1" dirty="0" smtClean="0">
                <a:solidFill>
                  <a:srgbClr val="FF0000"/>
                </a:solidFill>
              </a:rPr>
              <a:t>3. Least Cost-Branch and Bound</a:t>
            </a:r>
          </a:p>
          <a:p>
            <a:pPr fontAlgn="base"/>
            <a:endParaRPr lang="en-US" sz="2800" b="1" dirty="0"/>
          </a:p>
          <a:p>
            <a:pPr fontAlgn="base"/>
            <a:r>
              <a:rPr lang="en-US" sz="2800" dirty="0"/>
              <a:t>To explore the state space tree, this method uses the cost function. </a:t>
            </a:r>
            <a:endParaRPr lang="en-US" sz="2800" dirty="0" smtClean="0"/>
          </a:p>
          <a:p>
            <a:pPr fontAlgn="base"/>
            <a:r>
              <a:rPr lang="en-US" sz="2800" dirty="0" smtClean="0"/>
              <a:t>The </a:t>
            </a:r>
            <a:r>
              <a:rPr lang="en-US" sz="2800" dirty="0"/>
              <a:t>previous two methods also calculate the cost function at each node but the cost is not been used for further exploration.</a:t>
            </a:r>
          </a:p>
          <a:p>
            <a:pPr fontAlgn="base"/>
            <a:r>
              <a:rPr lang="en-US" sz="2800" dirty="0"/>
              <a:t>In this technique, </a:t>
            </a:r>
            <a:r>
              <a:rPr lang="en-US" sz="2800" dirty="0">
                <a:solidFill>
                  <a:srgbClr val="FF0000"/>
                </a:solidFill>
              </a:rPr>
              <a:t>nodes are explored based on their costs</a:t>
            </a:r>
            <a:r>
              <a:rPr lang="en-US" sz="2800" dirty="0"/>
              <a:t>, the cost of the node can be defined using the problem and with the help of the given problem, we can define the cost function. </a:t>
            </a:r>
            <a:endParaRPr lang="en-US" sz="2800" dirty="0" smtClean="0"/>
          </a:p>
          <a:p>
            <a:pPr fontAlgn="base"/>
            <a:r>
              <a:rPr lang="en-US" sz="2800" dirty="0" smtClean="0">
                <a:solidFill>
                  <a:srgbClr val="FF0000"/>
                </a:solidFill>
              </a:rPr>
              <a:t>Once </a:t>
            </a:r>
            <a:r>
              <a:rPr lang="en-US" sz="2800" dirty="0">
                <a:solidFill>
                  <a:srgbClr val="FF0000"/>
                </a:solidFill>
              </a:rPr>
              <a:t>the cost function is defined, we can define the cost of the node.</a:t>
            </a:r>
            <a:br>
              <a:rPr lang="en-US" sz="2800" dirty="0">
                <a:solidFill>
                  <a:srgbClr val="FF0000"/>
                </a:solidFill>
              </a:rPr>
            </a:br>
            <a:endParaRPr lang="en-US" sz="2800" dirty="0">
              <a:solidFill>
                <a:srgbClr val="FF0000"/>
              </a:solidFill>
            </a:endParaRPr>
          </a:p>
        </p:txBody>
      </p:sp>
    </p:spTree>
    <p:extLst>
      <p:ext uri="{BB962C8B-B14F-4D97-AF65-F5344CB8AC3E}">
        <p14:creationId xmlns:p14="http://schemas.microsoft.com/office/powerpoint/2010/main" val="87023909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141" y="1052736"/>
            <a:ext cx="8496944" cy="3539430"/>
          </a:xfrm>
          <a:prstGeom prst="rect">
            <a:avLst/>
          </a:prstGeom>
        </p:spPr>
        <p:txBody>
          <a:bodyPr wrap="square">
            <a:spAutoFit/>
          </a:bodyPr>
          <a:lstStyle/>
          <a:p>
            <a:pPr marL="457200" indent="-457200" algn="just" fontAlgn="base">
              <a:buFont typeface="Arial" panose="020B0604020202020204" pitchFamily="34" charset="0"/>
              <a:buChar char="•"/>
            </a:pPr>
            <a:r>
              <a:rPr lang="en-US" sz="2800" dirty="0" smtClean="0"/>
              <a:t>Now, Consider a node whose cost has been determined. If this value is greater than U</a:t>
            </a:r>
            <a:r>
              <a:rPr lang="en-US" sz="2800" baseline="-25000" dirty="0" smtClean="0"/>
              <a:t>0</a:t>
            </a:r>
            <a:r>
              <a:rPr lang="en-US" sz="2800" dirty="0" smtClean="0"/>
              <a:t>, this node or its children will not be able to give a solution. </a:t>
            </a:r>
          </a:p>
          <a:p>
            <a:pPr marL="457200" indent="-457200" algn="just" fontAlgn="base">
              <a:buFont typeface="Arial" panose="020B0604020202020204" pitchFamily="34" charset="0"/>
              <a:buChar char="•"/>
            </a:pPr>
            <a:r>
              <a:rPr lang="en-US" sz="2800" dirty="0" smtClean="0"/>
              <a:t>As a result, we can kill this node and not explore its further branches. </a:t>
            </a:r>
          </a:p>
          <a:p>
            <a:pPr marL="457200" indent="-457200" algn="just" fontAlgn="base">
              <a:buFont typeface="Arial" panose="020B0604020202020204" pitchFamily="34" charset="0"/>
              <a:buChar char="•"/>
            </a:pPr>
            <a:r>
              <a:rPr lang="en-US" sz="2800" dirty="0" smtClean="0"/>
              <a:t>As a result, this method prevents us from exploring cases that are not worth it, which makes it more efficient for us. </a:t>
            </a:r>
            <a:endParaRPr lang="en-US" sz="2800" dirty="0"/>
          </a:p>
        </p:txBody>
      </p:sp>
    </p:spTree>
    <p:extLst>
      <p:ext uri="{BB962C8B-B14F-4D97-AF65-F5344CB8AC3E}">
        <p14:creationId xmlns:p14="http://schemas.microsoft.com/office/powerpoint/2010/main" val="56298261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44611"/>
            <a:ext cx="8568952" cy="1815882"/>
          </a:xfrm>
          <a:prstGeom prst="rect">
            <a:avLst/>
          </a:prstGeom>
        </p:spPr>
        <p:txBody>
          <a:bodyPr wrap="square">
            <a:spAutoFit/>
          </a:bodyPr>
          <a:lstStyle/>
          <a:p>
            <a:pPr fontAlgn="base"/>
            <a:r>
              <a:rPr lang="en-US" sz="2800" dirty="0"/>
              <a:t>Let’s first consider node 1 having cost infinity shown below:</a:t>
            </a:r>
          </a:p>
          <a:p>
            <a:pPr fontAlgn="base"/>
            <a:r>
              <a:rPr lang="en-US" sz="2800" dirty="0"/>
              <a:t>In the following diagram, node 1 is expanded into four nodes named 2, 3, 4, and 5</a:t>
            </a:r>
            <a:r>
              <a:rPr lang="en-US" sz="2800" dirty="0" smtClean="0"/>
              <a:t>.</a:t>
            </a:r>
            <a:endParaRPr lang="en-US" sz="2800" dirty="0"/>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8947" y="1899979"/>
            <a:ext cx="6714098" cy="3960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1866137" y="5890394"/>
            <a:ext cx="5607045" cy="369332"/>
          </a:xfrm>
          <a:prstGeom prst="rect">
            <a:avLst/>
          </a:prstGeom>
        </p:spPr>
        <p:txBody>
          <a:bodyPr wrap="square">
            <a:spAutoFit/>
          </a:bodyPr>
          <a:lstStyle/>
          <a:p>
            <a:r>
              <a:rPr lang="en-US" i="1" dirty="0"/>
              <a:t>Node 1 is expanded into four nodes named 2, 3, 4, and 5</a:t>
            </a:r>
            <a:endParaRPr lang="en-IN" dirty="0"/>
          </a:p>
        </p:txBody>
      </p:sp>
    </p:spTree>
    <p:extLst>
      <p:ext uri="{BB962C8B-B14F-4D97-AF65-F5344CB8AC3E}">
        <p14:creationId xmlns:p14="http://schemas.microsoft.com/office/powerpoint/2010/main" val="14375607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179249"/>
            <a:ext cx="8892480" cy="6678751"/>
          </a:xfrm>
          <a:prstGeom prst="rect">
            <a:avLst/>
          </a:prstGeom>
        </p:spPr>
        <p:txBody>
          <a:bodyPr wrap="square">
            <a:spAutoFit/>
          </a:bodyPr>
          <a:lstStyle/>
          <a:p>
            <a:pPr marL="342900" indent="-342900" fontAlgn="base">
              <a:buFont typeface="Arial" panose="020B0604020202020204" pitchFamily="34" charset="0"/>
              <a:buChar char="•"/>
            </a:pPr>
            <a:r>
              <a:rPr lang="en-US" sz="2800" dirty="0"/>
              <a:t>Assume that cost of the nodes 2, 3, 4, and 5 are 12, 16, 10, and </a:t>
            </a:r>
            <a:r>
              <a:rPr lang="en-US" sz="2800" dirty="0" smtClean="0"/>
              <a:t>115 </a:t>
            </a:r>
            <a:r>
              <a:rPr lang="en-US" sz="2800" dirty="0"/>
              <a:t>respectively</a:t>
            </a:r>
            <a:r>
              <a:rPr lang="en-US" sz="2800" dirty="0" smtClean="0"/>
              <a:t>.</a:t>
            </a:r>
          </a:p>
          <a:p>
            <a:pPr fontAlgn="base"/>
            <a:endParaRPr lang="en-US" sz="1600" dirty="0" smtClean="0"/>
          </a:p>
          <a:p>
            <a:pPr marL="342900" indent="-342900" fontAlgn="base">
              <a:buFont typeface="Arial" panose="020B0604020202020204" pitchFamily="34" charset="0"/>
              <a:buChar char="•"/>
            </a:pPr>
            <a:r>
              <a:rPr lang="en-US" sz="2800" dirty="0" smtClean="0"/>
              <a:t>In </a:t>
            </a:r>
            <a:r>
              <a:rPr lang="en-US" sz="2800" dirty="0"/>
              <a:t>this method, we will explore the node which is having the least cost</a:t>
            </a:r>
            <a:r>
              <a:rPr lang="en-US" sz="2800" dirty="0" smtClean="0"/>
              <a:t>.</a:t>
            </a:r>
          </a:p>
          <a:p>
            <a:pPr marL="342900" indent="-342900" fontAlgn="base">
              <a:buFont typeface="Arial" panose="020B0604020202020204" pitchFamily="34" charset="0"/>
              <a:buChar char="•"/>
            </a:pPr>
            <a:endParaRPr lang="en-US" sz="1600" dirty="0" smtClean="0"/>
          </a:p>
          <a:p>
            <a:pPr marL="342900" indent="-342900" fontAlgn="base">
              <a:buFont typeface="Arial" panose="020B0604020202020204" pitchFamily="34" charset="0"/>
              <a:buChar char="•"/>
            </a:pPr>
            <a:r>
              <a:rPr lang="en-US" sz="2800" dirty="0" smtClean="0"/>
              <a:t>In </a:t>
            </a:r>
            <a:r>
              <a:rPr lang="en-US" sz="2800" dirty="0"/>
              <a:t>the above figure, we can observe that the node with a minimum cost is </a:t>
            </a:r>
            <a:r>
              <a:rPr lang="en-US" sz="2800" dirty="0">
                <a:solidFill>
                  <a:srgbClr val="FF0000"/>
                </a:solidFill>
              </a:rPr>
              <a:t>node 4</a:t>
            </a:r>
            <a:r>
              <a:rPr lang="en-US" sz="2800" dirty="0"/>
              <a:t>. So, we will explore node 4 </a:t>
            </a:r>
            <a:r>
              <a:rPr lang="en-US" sz="2800" dirty="0">
                <a:solidFill>
                  <a:srgbClr val="FF0000"/>
                </a:solidFill>
              </a:rPr>
              <a:t>having a cost of 10</a:t>
            </a:r>
            <a:r>
              <a:rPr lang="en-US" sz="2800" dirty="0"/>
              <a:t>.</a:t>
            </a:r>
          </a:p>
          <a:p>
            <a:pPr marL="342900" indent="-342900" fontAlgn="base">
              <a:buFont typeface="Arial" panose="020B0604020202020204" pitchFamily="34" charset="0"/>
              <a:buChar char="•"/>
            </a:pPr>
            <a:endParaRPr lang="en-US" sz="1600" dirty="0" smtClean="0"/>
          </a:p>
          <a:p>
            <a:pPr marL="342900" indent="-342900" fontAlgn="base">
              <a:buFont typeface="Arial" panose="020B0604020202020204" pitchFamily="34" charset="0"/>
              <a:buChar char="•"/>
            </a:pPr>
            <a:r>
              <a:rPr lang="en-US" sz="2800" dirty="0" smtClean="0"/>
              <a:t>During </a:t>
            </a:r>
            <a:r>
              <a:rPr lang="en-US" sz="2800" dirty="0"/>
              <a:t>exploring node 4 which is element C, we can notice that there is only one possible element that remains unexplored which is D (</a:t>
            </a:r>
            <a:r>
              <a:rPr lang="en-US" sz="2800" dirty="0" err="1"/>
              <a:t>i.e</a:t>
            </a:r>
            <a:r>
              <a:rPr lang="en-US" sz="2800" dirty="0"/>
              <a:t>, we already decided not to select elements A, and B). </a:t>
            </a:r>
            <a:endParaRPr lang="en-US" sz="2800" dirty="0" smtClean="0"/>
          </a:p>
          <a:p>
            <a:pPr fontAlgn="base"/>
            <a:endParaRPr lang="en-US" sz="1600" dirty="0" smtClean="0"/>
          </a:p>
          <a:p>
            <a:pPr marL="342900" indent="-342900" fontAlgn="base">
              <a:buFont typeface="Arial" panose="020B0604020202020204" pitchFamily="34" charset="0"/>
              <a:buChar char="•"/>
            </a:pPr>
            <a:r>
              <a:rPr lang="en-US" sz="2800" dirty="0" smtClean="0"/>
              <a:t>So</a:t>
            </a:r>
            <a:r>
              <a:rPr lang="en-US" sz="2800" dirty="0"/>
              <a:t>, it will get expanded to one single element D, let’s say this node number is 6.</a:t>
            </a:r>
          </a:p>
        </p:txBody>
      </p:sp>
    </p:spTree>
    <p:extLst>
      <p:ext uri="{BB962C8B-B14F-4D97-AF65-F5344CB8AC3E}">
        <p14:creationId xmlns:p14="http://schemas.microsoft.com/office/powerpoint/2010/main" val="16372906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38" y="116633"/>
            <a:ext cx="7272808" cy="60248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766920" y="6141469"/>
            <a:ext cx="3577711" cy="369332"/>
          </a:xfrm>
          <a:prstGeom prst="rect">
            <a:avLst/>
          </a:prstGeom>
        </p:spPr>
        <p:txBody>
          <a:bodyPr wrap="none">
            <a:spAutoFit/>
          </a:bodyPr>
          <a:lstStyle/>
          <a:p>
            <a:r>
              <a:rPr lang="en-US" dirty="0" smtClean="0"/>
              <a:t>Exploring node 4 which is element C</a:t>
            </a:r>
            <a:endParaRPr lang="en-IN" dirty="0"/>
          </a:p>
        </p:txBody>
      </p:sp>
      <p:sp>
        <p:nvSpPr>
          <p:cNvPr id="3" name="Rectangle 2"/>
          <p:cNvSpPr/>
          <p:nvPr/>
        </p:nvSpPr>
        <p:spPr>
          <a:xfrm>
            <a:off x="4998946" y="4149080"/>
            <a:ext cx="3965542" cy="2308324"/>
          </a:xfrm>
          <a:prstGeom prst="rect">
            <a:avLst/>
          </a:prstGeom>
        </p:spPr>
        <p:txBody>
          <a:bodyPr wrap="square">
            <a:spAutoFit/>
          </a:bodyPr>
          <a:lstStyle/>
          <a:p>
            <a:pPr algn="just"/>
            <a:r>
              <a:rPr lang="en-US" sz="2400" dirty="0"/>
              <a:t>Now, Node 6 has no element left to explore. So, there is no further scope for expansion. Hence the element {C, D} is the optimal way to choose for the least cost.</a:t>
            </a:r>
            <a:endParaRPr lang="en-IN" sz="2400" dirty="0"/>
          </a:p>
        </p:txBody>
      </p:sp>
    </p:spTree>
    <p:extLst>
      <p:ext uri="{BB962C8B-B14F-4D97-AF65-F5344CB8AC3E}">
        <p14:creationId xmlns:p14="http://schemas.microsoft.com/office/powerpoint/2010/main" val="33371947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1560" y="476672"/>
            <a:ext cx="8208912" cy="5693866"/>
          </a:xfrm>
          <a:prstGeom prst="rect">
            <a:avLst/>
          </a:prstGeom>
        </p:spPr>
        <p:txBody>
          <a:bodyPr wrap="square">
            <a:spAutoFit/>
          </a:bodyPr>
          <a:lstStyle/>
          <a:p>
            <a:pPr fontAlgn="base"/>
            <a:r>
              <a:rPr lang="en-US" sz="2800" b="1" dirty="0"/>
              <a:t>Advantages of Branch and Bound Algorithm</a:t>
            </a:r>
            <a:r>
              <a:rPr lang="en-US" sz="2800" b="1" dirty="0" smtClean="0"/>
              <a:t>:</a:t>
            </a:r>
          </a:p>
          <a:p>
            <a:pPr fontAlgn="base"/>
            <a:endParaRPr lang="en-US" sz="2800" b="1" dirty="0"/>
          </a:p>
          <a:p>
            <a:pPr marL="457200" indent="-457200" fontAlgn="base">
              <a:buFont typeface="Arial" panose="020B0604020202020204" pitchFamily="34" charset="0"/>
              <a:buChar char="•"/>
            </a:pPr>
            <a:r>
              <a:rPr lang="en-US" sz="2800" dirty="0"/>
              <a:t>We don’t explore all the nodes in a branch and bound algorithm. </a:t>
            </a:r>
            <a:endParaRPr lang="en-US" sz="2800" dirty="0" smtClean="0"/>
          </a:p>
          <a:p>
            <a:pPr marL="457200" indent="-457200" fontAlgn="base">
              <a:buFont typeface="Arial" panose="020B0604020202020204" pitchFamily="34" charset="0"/>
              <a:buChar char="•"/>
            </a:pPr>
            <a:r>
              <a:rPr lang="en-US" sz="2800" dirty="0" smtClean="0"/>
              <a:t>Due </a:t>
            </a:r>
            <a:r>
              <a:rPr lang="en-US" sz="2800" dirty="0"/>
              <a:t>to this, the branch and the bound algorithm have a lower time complexity than other </a:t>
            </a:r>
            <a:r>
              <a:rPr lang="en-US" sz="2800" dirty="0" smtClean="0"/>
              <a:t>algorithms.</a:t>
            </a:r>
          </a:p>
          <a:p>
            <a:pPr marL="457200" indent="-457200" fontAlgn="base">
              <a:buFont typeface="Arial" panose="020B0604020202020204" pitchFamily="34" charset="0"/>
              <a:buChar char="•"/>
            </a:pPr>
            <a:r>
              <a:rPr lang="en-US" sz="2800" dirty="0" smtClean="0"/>
              <a:t>Whenever </a:t>
            </a:r>
            <a:r>
              <a:rPr lang="en-US" sz="2800" dirty="0"/>
              <a:t>the problem is small and the branching can be completed in a reasonable amount of time, the algorithm finds an optimal </a:t>
            </a:r>
            <a:r>
              <a:rPr lang="en-US" sz="2800" dirty="0" smtClean="0"/>
              <a:t>solution.</a:t>
            </a:r>
          </a:p>
          <a:p>
            <a:pPr marL="457200" indent="-457200" fontAlgn="base">
              <a:buFont typeface="Arial" panose="020B0604020202020204" pitchFamily="34" charset="0"/>
              <a:buChar char="•"/>
            </a:pPr>
            <a:r>
              <a:rPr lang="en-US" sz="2800" dirty="0" smtClean="0"/>
              <a:t>By </a:t>
            </a:r>
            <a:r>
              <a:rPr lang="en-US" sz="2800" dirty="0"/>
              <a:t>using the branch and bound algorithm, the optimal solution is reached in a minimal amount of time. </a:t>
            </a:r>
            <a:endParaRPr lang="en-US" sz="2800" dirty="0" smtClean="0"/>
          </a:p>
          <a:p>
            <a:pPr marL="457200" indent="-457200" fontAlgn="base">
              <a:buFont typeface="Arial" panose="020B0604020202020204" pitchFamily="34" charset="0"/>
              <a:buChar char="•"/>
            </a:pPr>
            <a:r>
              <a:rPr lang="en-US" sz="2800" dirty="0" smtClean="0"/>
              <a:t>When </a:t>
            </a:r>
            <a:r>
              <a:rPr lang="en-US" sz="2800" dirty="0"/>
              <a:t>exploring a tree, it does not repeat nodes.</a:t>
            </a:r>
          </a:p>
        </p:txBody>
      </p:sp>
    </p:spTree>
    <p:extLst>
      <p:ext uri="{BB962C8B-B14F-4D97-AF65-F5344CB8AC3E}">
        <p14:creationId xmlns:p14="http://schemas.microsoft.com/office/powerpoint/2010/main" val="20142431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5576" y="764704"/>
            <a:ext cx="7920880" cy="3108543"/>
          </a:xfrm>
          <a:prstGeom prst="rect">
            <a:avLst/>
          </a:prstGeom>
        </p:spPr>
        <p:txBody>
          <a:bodyPr wrap="square">
            <a:spAutoFit/>
          </a:bodyPr>
          <a:lstStyle/>
          <a:p>
            <a:pPr fontAlgn="base"/>
            <a:r>
              <a:rPr lang="en-US" sz="2800" b="1" dirty="0"/>
              <a:t>Disadvantages of Branch and Bound Algorithm</a:t>
            </a:r>
            <a:r>
              <a:rPr lang="en-US" sz="2800" b="1" dirty="0" smtClean="0"/>
              <a:t>:</a:t>
            </a:r>
          </a:p>
          <a:p>
            <a:pPr fontAlgn="base"/>
            <a:endParaRPr lang="en-US" sz="2800" b="1" dirty="0"/>
          </a:p>
          <a:p>
            <a:pPr marL="457200" indent="-457200" fontAlgn="base">
              <a:buFont typeface="Arial" panose="020B0604020202020204" pitchFamily="34" charset="0"/>
              <a:buChar char="•"/>
            </a:pPr>
            <a:r>
              <a:rPr lang="en-US" sz="2800" dirty="0"/>
              <a:t>It takes a long time to run the branch and bound algorithm. </a:t>
            </a:r>
          </a:p>
          <a:p>
            <a:pPr marL="457200" indent="-457200" fontAlgn="base">
              <a:buFont typeface="Arial" panose="020B0604020202020204" pitchFamily="34" charset="0"/>
              <a:buChar char="•"/>
            </a:pPr>
            <a:r>
              <a:rPr lang="en-US" sz="2800" dirty="0"/>
              <a:t>In the worst-case scenario, the number of nodes in the tree may be too large based on the size of the problem.</a:t>
            </a:r>
          </a:p>
        </p:txBody>
      </p:sp>
    </p:spTree>
    <p:extLst>
      <p:ext uri="{BB962C8B-B14F-4D97-AF65-F5344CB8AC3E}">
        <p14:creationId xmlns:p14="http://schemas.microsoft.com/office/powerpoint/2010/main" val="19643247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448</TotalTime>
  <Words>1964</Words>
  <Application>Microsoft Office PowerPoint</Application>
  <PresentationFormat>On-screen Show (4:3)</PresentationFormat>
  <Paragraphs>128</Paragraphs>
  <Slides>33</Slides>
  <Notes>0</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Branch and Bound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Branch and Bound</dc:title>
  <dc:creator>HP</dc:creator>
  <cp:lastModifiedBy>HP</cp:lastModifiedBy>
  <cp:revision>20</cp:revision>
  <dcterms:created xsi:type="dcterms:W3CDTF">2023-02-01T13:48:19Z</dcterms:created>
  <dcterms:modified xsi:type="dcterms:W3CDTF">2024-01-24T02:37:25Z</dcterms:modified>
</cp:coreProperties>
</file>