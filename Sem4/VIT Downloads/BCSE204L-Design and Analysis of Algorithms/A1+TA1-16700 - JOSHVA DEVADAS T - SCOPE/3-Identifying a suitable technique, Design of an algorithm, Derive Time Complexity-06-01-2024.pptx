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332" r:id="rId23"/>
    <p:sldId id="359" r:id="rId24"/>
    <p:sldId id="333" r:id="rId25"/>
    <p:sldId id="334" r:id="rId26"/>
    <p:sldId id="360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61" r:id="rId75"/>
    <p:sldId id="326" r:id="rId76"/>
    <p:sldId id="327" r:id="rId77"/>
    <p:sldId id="328" r:id="rId78"/>
    <p:sldId id="329" r:id="rId79"/>
    <p:sldId id="330" r:id="rId80"/>
    <p:sldId id="331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56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4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47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43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17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33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2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21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1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46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07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DC38-43BD-4007-A426-97B572CE5C4C}" type="datetimeFigureOut">
              <a:rPr lang="en-IN" smtClean="0"/>
              <a:t>20-12-2022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745DE-FBBE-4D94-B104-7A3A84F34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30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Deriving Time Complexity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03F6219-A2CB-76A0-8291-16B63F2F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81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Algorithms for computing the</a:t>
            </a:r>
            <a:br>
              <a:rPr lang="en-IN" dirty="0"/>
            </a:br>
            <a:r>
              <a:rPr lang="en-IN" dirty="0"/>
              <a:t>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32856"/>
            <a:ext cx="41764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 &lt;= 1)</a:t>
            </a:r>
          </a:p>
          <a:p>
            <a:r>
              <a:rPr lang="en-IN" dirty="0"/>
              <a:t>	     return 1;</a:t>
            </a:r>
          </a:p>
          <a:p>
            <a:r>
              <a:rPr lang="en-IN" dirty="0"/>
              <a:t>	else</a:t>
            </a:r>
          </a:p>
          <a:p>
            <a:r>
              <a:rPr lang="en-IN" dirty="0"/>
              <a:t>	      return n *factorial(n-1);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3928" y="1717357"/>
            <a:ext cx="4896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(n&lt;=1)</a:t>
            </a:r>
          </a:p>
          <a:p>
            <a:r>
              <a:rPr lang="en-IN" dirty="0"/>
              <a:t>		return 1;</a:t>
            </a:r>
          </a:p>
          <a:p>
            <a:r>
              <a:rPr lang="en-IN" dirty="0"/>
              <a:t>	else {</a:t>
            </a:r>
          </a:p>
          <a:p>
            <a:r>
              <a:rPr lang="en-IN" dirty="0"/>
              <a:t>		fact = 1;</a:t>
            </a:r>
          </a:p>
          <a:p>
            <a:r>
              <a:rPr lang="nn-NO" dirty="0"/>
              <a:t>		for (k=2; k&lt;=n; k++)</a:t>
            </a:r>
          </a:p>
          <a:p>
            <a:r>
              <a:rPr lang="en-IN" dirty="0"/>
              <a:t>		fact *= k;</a:t>
            </a:r>
          </a:p>
          <a:p>
            <a:r>
              <a:rPr lang="en-IN" dirty="0"/>
              <a:t>		return fact;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A7D8D28-9916-1EF9-B71F-9421D1B9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65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39552" y="2132856"/>
            <a:ext cx="28083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   </a:t>
            </a:r>
            <a:r>
              <a:rPr lang="en-IN" dirty="0" err="1"/>
              <a:t>int</a:t>
            </a:r>
            <a:r>
              <a:rPr lang="en-IN" dirty="0"/>
              <a:t> I;</a:t>
            </a:r>
          </a:p>
          <a:p>
            <a:r>
              <a:rPr lang="en-IN" dirty="0"/>
              <a:t>         for(</a:t>
            </a:r>
            <a:r>
              <a:rPr lang="en-IN" dirty="0" err="1"/>
              <a:t>i</a:t>
            </a:r>
            <a:r>
              <a:rPr lang="en-IN" dirty="0"/>
              <a:t>=1 to n)</a:t>
            </a:r>
          </a:p>
          <a:p>
            <a:r>
              <a:rPr lang="en-IN" dirty="0"/>
              <a:t>            print(“Hello”);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3848" y="2132855"/>
            <a:ext cx="2808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</a:t>
            </a:r>
            <a:r>
              <a:rPr lang="en-IN" dirty="0"/>
              <a:t>;</a:t>
            </a:r>
          </a:p>
          <a:p>
            <a:r>
              <a:rPr lang="en-IN" dirty="0"/>
              <a:t>      for(</a:t>
            </a:r>
            <a:r>
              <a:rPr lang="en-IN" dirty="0" err="1"/>
              <a:t>i</a:t>
            </a:r>
            <a:r>
              <a:rPr lang="en-IN" dirty="0"/>
              <a:t>=1 to n)</a:t>
            </a:r>
          </a:p>
          <a:p>
            <a:r>
              <a:rPr lang="en-IN" dirty="0"/>
              <a:t>      for(j=1 to n)</a:t>
            </a:r>
          </a:p>
          <a:p>
            <a:r>
              <a:rPr lang="en-IN" dirty="0"/>
              <a:t>           print(“Hello”);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112" y="1994356"/>
            <a:ext cx="28083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r>
              <a:rPr lang="en-IN" dirty="0"/>
              <a:t>      for(</a:t>
            </a:r>
            <a:r>
              <a:rPr lang="en-IN" dirty="0" err="1"/>
              <a:t>i</a:t>
            </a:r>
            <a:r>
              <a:rPr lang="en-IN" dirty="0"/>
              <a:t>=1 to n)</a:t>
            </a:r>
          </a:p>
          <a:p>
            <a:r>
              <a:rPr lang="en-IN" dirty="0"/>
              <a:t>      for(j=1 to n)</a:t>
            </a:r>
          </a:p>
          <a:p>
            <a:r>
              <a:rPr lang="en-IN" dirty="0"/>
              <a:t>      for(k=1 to n)</a:t>
            </a:r>
          </a:p>
          <a:p>
            <a:r>
              <a:rPr lang="en-IN" dirty="0"/>
              <a:t>           print(“Hello”);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4653136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O(n)  		                 O(n</a:t>
            </a:r>
            <a:r>
              <a:rPr lang="en-IN" baseline="30000" dirty="0"/>
              <a:t>2</a:t>
            </a:r>
            <a:r>
              <a:rPr lang="en-IN" dirty="0"/>
              <a:t>)		        O(n</a:t>
            </a:r>
            <a:r>
              <a:rPr lang="en-IN" baseline="30000" dirty="0"/>
              <a:t>3</a:t>
            </a:r>
            <a:r>
              <a:rPr lang="en-IN" dirty="0"/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A25E6BF-6159-DE66-A4D1-96ADBB67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31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/>
              <a:t>	while(s&lt;=</a:t>
            </a:r>
            <a:r>
              <a:rPr lang="en-IN" dirty="0"/>
              <a:t>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</a:t>
            </a:r>
          </a:p>
          <a:p>
            <a:pPr marL="0" indent="0">
              <a:buNone/>
            </a:pPr>
            <a:r>
              <a:rPr lang="en-IN" dirty="0"/>
              <a:t>i	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1AE5E3D-F8E8-F638-7517-409C5D8E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40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</a:t>
            </a:r>
          </a:p>
          <a:p>
            <a:pPr marL="0" indent="0">
              <a:buNone/>
            </a:pPr>
            <a:r>
              <a:rPr lang="en-IN" dirty="0"/>
              <a:t>i	1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AC1CDCA-157C-3BCB-BC2D-2367C947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5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</a:t>
            </a:r>
          </a:p>
          <a:p>
            <a:pPr marL="0" indent="0">
              <a:buNone/>
            </a:pPr>
            <a:r>
              <a:rPr lang="en-IN" dirty="0"/>
              <a:t>i	1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A2A9939-3A9D-22AE-2271-1B918CA8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80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</a:t>
            </a:r>
          </a:p>
          <a:p>
            <a:pPr marL="0" indent="0">
              <a:buNone/>
            </a:pPr>
            <a:r>
              <a:rPr lang="en-IN" dirty="0"/>
              <a:t>i	1	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B30431E-D801-7C1D-1644-2BE90B4D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0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</a:t>
            </a:r>
          </a:p>
          <a:p>
            <a:pPr marL="0" indent="0">
              <a:buNone/>
            </a:pPr>
            <a:r>
              <a:rPr lang="en-IN" dirty="0"/>
              <a:t>i	1	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B2E273A-2C31-DCBD-54CB-A3BE3291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68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</a:t>
            </a:r>
          </a:p>
          <a:p>
            <a:pPr marL="0" indent="0">
              <a:buNone/>
            </a:pPr>
            <a:r>
              <a:rPr lang="en-IN" dirty="0"/>
              <a:t>i	1	2	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A511CF1-0B56-36D3-068B-F187FB82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7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</a:t>
            </a:r>
          </a:p>
          <a:p>
            <a:pPr marL="0" indent="0">
              <a:buNone/>
            </a:pPr>
            <a:r>
              <a:rPr lang="en-IN" dirty="0"/>
              <a:t>i	1	2	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97C62B1-D971-7AFF-DBB9-AE1089F4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7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EDDBD6-388E-6E41-9D56-0B5FE97F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10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CB1E256-B735-5018-1D9A-BEF83B60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20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FAF192-9909-AB1A-E5CB-63F4FD30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5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297CA88-1E56-C4A1-1582-8C25B007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52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</a:t>
            </a:r>
          </a:p>
          <a:p>
            <a:pPr marL="0" indent="0">
              <a:buNone/>
            </a:pPr>
            <a:r>
              <a:rPr lang="en-IN" dirty="0"/>
              <a:t>i	1	2	3	4	5	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44662C0-8D8E-1C20-C5A9-D6A3EC96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29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	21</a:t>
            </a:r>
          </a:p>
          <a:p>
            <a:pPr marL="0" indent="0">
              <a:buNone/>
            </a:pPr>
            <a:r>
              <a:rPr lang="en-IN" dirty="0"/>
              <a:t>i	1	2	3	4	5	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75C6DA-F606-5B86-305D-71B44707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91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	21</a:t>
            </a:r>
          </a:p>
          <a:p>
            <a:pPr marL="0" indent="0">
              <a:buNone/>
            </a:pPr>
            <a:r>
              <a:rPr lang="en-IN" dirty="0"/>
              <a:t>i	1	2	3	4	5	6.........n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3268702-9070-59EE-3B45-03D85B77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56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while(s&lt;=</a:t>
            </a:r>
            <a:r>
              <a:rPr lang="en-IN" dirty="0"/>
              <a:t>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	21……n(n+1)/2</a:t>
            </a:r>
          </a:p>
          <a:p>
            <a:pPr marL="0" indent="0">
              <a:buNone/>
            </a:pPr>
            <a:r>
              <a:rPr lang="en-IN" dirty="0"/>
              <a:t>i	1	2	3	4	5	6.........n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1377231-AEEA-092C-1EAB-4ECF2396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02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i=1, s=1;</a:t>
                </a:r>
              </a:p>
              <a:p>
                <a:pPr marL="0" indent="0">
                  <a:buNone/>
                </a:pPr>
                <a:r>
                  <a:rPr lang="en-IN" dirty="0"/>
                  <a:t>	while(s&lt;=n)</a:t>
                </a:r>
              </a:p>
              <a:p>
                <a:pPr marL="0" indent="0">
                  <a:buNone/>
                </a:pPr>
                <a:r>
                  <a:rPr lang="en-IN" dirty="0"/>
                  <a:t>	{</a:t>
                </a:r>
              </a:p>
              <a:p>
                <a:pPr marL="0" indent="0">
                  <a:buNone/>
                </a:pPr>
                <a:r>
                  <a:rPr lang="en-IN" dirty="0"/>
                  <a:t>		i++;</a:t>
                </a:r>
              </a:p>
              <a:p>
                <a:pPr marL="0" indent="0">
                  <a:buNone/>
                </a:pPr>
                <a:r>
                  <a:rPr lang="en-IN" dirty="0"/>
                  <a:t>		s=</a:t>
                </a:r>
                <a:r>
                  <a:rPr lang="en-IN" dirty="0" err="1"/>
                  <a:t>s+i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:r>
                  <a:rPr lang="en-IN" dirty="0" err="1"/>
                  <a:t>printf</a:t>
                </a:r>
                <a:r>
                  <a:rPr lang="en-IN" dirty="0"/>
                  <a:t>(“hello”)</a:t>
                </a:r>
              </a:p>
              <a:p>
                <a:pPr marL="0" indent="0">
                  <a:buNone/>
                </a:pPr>
                <a:r>
                  <a:rPr lang="en-IN" dirty="0"/>
                  <a:t>	}</a:t>
                </a:r>
              </a:p>
              <a:p>
                <a:pPr marL="0" indent="0">
                  <a:buNone/>
                </a:pPr>
                <a:r>
                  <a:rPr lang="en-IN" dirty="0"/>
                  <a:t>}</a:t>
                </a:r>
              </a:p>
              <a:p>
                <a:pPr marL="0" indent="0">
                  <a:buNone/>
                </a:pPr>
                <a:r>
                  <a:rPr lang="en-IN" dirty="0"/>
                  <a:t>S	1	3	6	10	15	21……n(n+1)/2</a:t>
                </a:r>
              </a:p>
              <a:p>
                <a:pPr marL="0" indent="0">
                  <a:buNone/>
                </a:pPr>
                <a:r>
                  <a:rPr lang="en-IN" dirty="0"/>
                  <a:t>i	1	2	3	4	5	6.........k</a:t>
                </a:r>
              </a:p>
              <a:p>
                <a:pPr marL="0" indent="0">
                  <a:buNone/>
                </a:pPr>
                <a:r>
                  <a:rPr lang="en-IN" dirty="0"/>
                  <a:t>K(K+1)/2 &gt;=n</a:t>
                </a:r>
              </a:p>
              <a:p>
                <a:pPr marL="0" indent="0">
                  <a:buNone/>
                </a:pPr>
                <a:r>
                  <a:rPr lang="en-IN" dirty="0"/>
                  <a:t>(K</a:t>
                </a:r>
                <a:r>
                  <a:rPr lang="en-IN" baseline="30000" dirty="0"/>
                  <a:t>2</a:t>
                </a:r>
                <a:r>
                  <a:rPr lang="en-IN" dirty="0"/>
                  <a:t>+k)/2&gt;=n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Which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	        k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/>
                  <a:t>                       </a:t>
                </a:r>
                <a:r>
                  <a:rPr lang="en-IN" dirty="0" err="1"/>
                  <a:t>ie</a:t>
                </a:r>
                <a:r>
                  <a:rPr lang="en-IN" dirty="0"/>
                  <a:t>  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1DDAEB8-8DEC-4ADA-B498-AE5658D3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1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i=1;</a:t>
            </a:r>
          </a:p>
          <a:p>
            <a:pPr marL="0" indent="0">
              <a:buNone/>
            </a:pPr>
            <a:r>
              <a:rPr lang="en-IN" dirty="0"/>
              <a:t>	for(</a:t>
            </a:r>
            <a:r>
              <a:rPr lang="en-IN" dirty="0" err="1"/>
              <a:t>i</a:t>
            </a:r>
            <a:r>
              <a:rPr lang="en-IN" dirty="0"/>
              <a:t>=1;i</a:t>
            </a:r>
            <a:r>
              <a:rPr lang="en-IN" baseline="30000" dirty="0"/>
              <a:t>2</a:t>
            </a:r>
            <a:r>
              <a:rPr lang="en-IN" dirty="0"/>
              <a:t>&lt;=</a:t>
            </a:r>
            <a:r>
              <a:rPr lang="en-IN" dirty="0" err="1"/>
              <a:t>n;i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3771607-C75C-E309-E37C-40B60DE3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67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i=1;</a:t>
                </a:r>
              </a:p>
              <a:p>
                <a:pPr marL="0" indent="0">
                  <a:buNone/>
                </a:pPr>
                <a:r>
                  <a:rPr lang="en-IN" dirty="0"/>
                  <a:t>	for(</a:t>
                </a:r>
                <a:r>
                  <a:rPr lang="en-IN" dirty="0" err="1"/>
                  <a:t>i</a:t>
                </a:r>
                <a:r>
                  <a:rPr lang="en-IN" dirty="0"/>
                  <a:t>=1;i</a:t>
                </a:r>
                <a:r>
                  <a:rPr lang="en-IN" baseline="30000" dirty="0"/>
                  <a:t>2</a:t>
                </a:r>
                <a:r>
                  <a:rPr lang="en-IN" dirty="0"/>
                  <a:t>&lt;=</a:t>
                </a:r>
                <a:r>
                  <a:rPr lang="en-IN" dirty="0" err="1"/>
                  <a:t>n;i</a:t>
                </a:r>
                <a:r>
                  <a:rPr lang="en-IN" dirty="0"/>
                  <a:t>++)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}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IN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/>
                        </a:rPr>
                        <m:t>≤</m:t>
                      </m:r>
                      <m:r>
                        <a:rPr lang="en-IN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/>
                      </a:rPr>
                      <m:t>                                   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i</m:t>
                    </m:r>
                    <m:r>
                      <a:rPr lang="en-IN" b="0" i="0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IN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endParaRPr lang="en-IN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3771607-C75C-E309-E37C-40B60DE3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40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5954"/>
            <a:ext cx="8229600" cy="64533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P=0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 P&lt;</a:t>
            </a:r>
            <a:r>
              <a:rPr lang="en-US" dirty="0" err="1" smtClean="0"/>
              <a:t>n;i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P=</a:t>
            </a:r>
            <a:r>
              <a:rPr lang="en-US" dirty="0" err="1"/>
              <a:t>P</a:t>
            </a:r>
            <a:r>
              <a:rPr lang="en-US" dirty="0" err="1" smtClean="0"/>
              <a:t>+i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Assume </a:t>
            </a:r>
            <a:r>
              <a:rPr lang="en-US" dirty="0" smtClean="0"/>
              <a:t>P&gt;n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922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35954"/>
                <a:ext cx="8229600" cy="64533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P=0</a:t>
                </a:r>
              </a:p>
              <a:p>
                <a:pPr marL="0" indent="0">
                  <a:buNone/>
                </a:pPr>
                <a:r>
                  <a:rPr lang="en-US" dirty="0" smtClean="0"/>
                  <a:t>For(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=0; P&lt;</a:t>
                </a:r>
                <a:r>
                  <a:rPr lang="en-US" dirty="0" err="1" smtClean="0"/>
                  <a:t>n;i</a:t>
                </a:r>
                <a:r>
                  <a:rPr lang="en-US" dirty="0" smtClean="0"/>
                  <a:t>++)</a:t>
                </a:r>
              </a:p>
              <a:p>
                <a:pPr marL="0" indent="0">
                  <a:buNone/>
                </a:pPr>
                <a:r>
                  <a:rPr lang="en-US" dirty="0" smtClean="0"/>
                  <a:t>P=</a:t>
                </a:r>
                <a:r>
                  <a:rPr lang="en-US" dirty="0" err="1"/>
                  <a:t>P</a:t>
                </a:r>
                <a:r>
                  <a:rPr lang="en-US" dirty="0" err="1" smtClean="0"/>
                  <a:t>+i</a:t>
                </a:r>
                <a:r>
                  <a:rPr lang="en-US" dirty="0" smtClean="0"/>
                  <a:t>;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Assume p&gt;n</a:t>
                </a:r>
              </a:p>
              <a:p>
                <a:pPr marL="0" indent="0">
                  <a:buNone/>
                </a:pPr>
                <a:r>
                  <a:rPr lang="en-US" dirty="0" err="1" smtClean="0"/>
                  <a:t>i</a:t>
                </a:r>
                <a:r>
                  <a:rPr lang="en-US" dirty="0" smtClean="0"/>
                  <a:t> :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0    1       2         3            4                    k</a:t>
                </a:r>
              </a:p>
              <a:p>
                <a:pPr marL="0" indent="0">
                  <a:buNone/>
                </a:pPr>
                <a:r>
                  <a:rPr lang="en-US" dirty="0" smtClean="0"/>
                  <a:t>P :  0  0+1 1+2  1+2+3 1+2+3+4      1+2+…+k</a:t>
                </a:r>
              </a:p>
              <a:p>
                <a:pPr marL="0" indent="0">
                  <a:buNone/>
                </a:pPr>
                <a:r>
                  <a:rPr lang="en-US" dirty="0" smtClean="0"/>
                  <a:t>K(k+1)/2 &gt; n</a:t>
                </a:r>
              </a:p>
              <a:p>
                <a:pPr marL="0" indent="0">
                  <a:buNone/>
                </a:pPr>
                <a:r>
                  <a:rPr lang="en-US" dirty="0" smtClean="0"/>
                  <a:t>K</a:t>
                </a:r>
                <a:r>
                  <a:rPr lang="en-US" baseline="30000" dirty="0" smtClean="0"/>
                  <a:t>2 </a:t>
                </a:r>
                <a:r>
                  <a:rPr lang="en-US" dirty="0" smtClean="0"/>
                  <a:t>&gt; n</a:t>
                </a:r>
              </a:p>
              <a:p>
                <a:pPr marL="0" indent="0">
                  <a:buNone/>
                </a:pPr>
                <a:r>
                  <a:rPr lang="en-US" dirty="0" smtClean="0"/>
                  <a:t>K&gt;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i="1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 smtClean="0"/>
                  <a:t>                     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i="1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 smtClean="0"/>
                  <a:t>)</a:t>
                </a: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35954"/>
                <a:ext cx="8229600" cy="6453336"/>
              </a:xfrm>
              <a:blipFill rotWithShape="1">
                <a:blip r:embed="rId2"/>
                <a:stretch>
                  <a:fillRect l="-1926" t="-12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21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=0;i&lt;</a:t>
            </a:r>
            <a:r>
              <a:rPr lang="en-US" dirty="0" err="1" smtClean="0"/>
              <a:t>n;i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For(j=0; j&lt;</a:t>
            </a:r>
            <a:r>
              <a:rPr lang="en-US" dirty="0" err="1"/>
              <a:t>i</a:t>
            </a:r>
            <a:r>
              <a:rPr lang="en-US" dirty="0" err="1" smtClean="0"/>
              <a:t>;j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{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statement1;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97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56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=0;i&lt;</a:t>
            </a:r>
            <a:r>
              <a:rPr lang="en-US" dirty="0" err="1" smtClean="0"/>
              <a:t>n;i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For(j=0; j&lt;</a:t>
            </a:r>
            <a:r>
              <a:rPr lang="en-US" dirty="0" err="1" smtClean="0"/>
              <a:t>i;j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{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statement1;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85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56886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=0;i&lt;</a:t>
            </a:r>
            <a:r>
              <a:rPr lang="en-US" dirty="0" err="1" smtClean="0"/>
              <a:t>n;i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For(j=0; j&lt;</a:t>
            </a:r>
            <a:r>
              <a:rPr lang="en-US" dirty="0" err="1" smtClean="0"/>
              <a:t>i;j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{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statement1;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008000"/>
                </a:solidFill>
              </a:rPr>
              <a:t>I                      0   1     2     3      ………….  n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J                      0  0   0..1  0..2                0..n-1</a:t>
            </a:r>
          </a:p>
          <a:p>
            <a:pPr marL="0" indent="0">
              <a:buNone/>
            </a:pPr>
            <a:r>
              <a:rPr lang="en-US" dirty="0" err="1" smtClean="0"/>
              <a:t>No.of</a:t>
            </a:r>
            <a:r>
              <a:rPr lang="en-US" dirty="0" smtClean="0"/>
              <a:t> times :</a:t>
            </a:r>
            <a:r>
              <a:rPr lang="en-US" dirty="0" smtClean="0">
                <a:solidFill>
                  <a:srgbClr val="00B0F0"/>
                </a:solidFill>
              </a:rPr>
              <a:t>0  1     2       3                   n</a:t>
            </a:r>
          </a:p>
          <a:p>
            <a:pPr marL="0" indent="0">
              <a:buNone/>
            </a:pPr>
            <a:r>
              <a:rPr lang="en-US" dirty="0" smtClean="0"/>
              <a:t>N(n+1)/2 = O(n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35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3265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</a:t>
            </a:r>
          </a:p>
          <a:p>
            <a:pPr marL="0" indent="0">
              <a:buNone/>
            </a:pPr>
            <a:r>
              <a:rPr lang="en-IN" dirty="0"/>
              <a:t>J</a:t>
            </a:r>
          </a:p>
          <a:p>
            <a:pPr marL="0" indent="0">
              <a:buNone/>
            </a:pPr>
            <a:r>
              <a:rPr lang="en-IN" dirty="0"/>
              <a:t>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2520A7-4AD8-BD8D-1F4F-F47464DA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03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</a:t>
            </a:r>
          </a:p>
          <a:p>
            <a:pPr marL="0" indent="0">
              <a:buNone/>
            </a:pPr>
            <a:r>
              <a:rPr lang="en-IN" dirty="0"/>
              <a:t>J</a:t>
            </a:r>
          </a:p>
          <a:p>
            <a:pPr marL="0" indent="0">
              <a:buNone/>
            </a:pPr>
            <a:r>
              <a:rPr lang="en-IN" dirty="0"/>
              <a:t>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CFEDBA3-5AC3-EE27-DABD-80EF774B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37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</a:t>
            </a:r>
          </a:p>
          <a:p>
            <a:pPr marL="0" indent="0">
              <a:buNone/>
            </a:pPr>
            <a:r>
              <a:rPr lang="en-IN" dirty="0"/>
              <a:t>J	1</a:t>
            </a:r>
          </a:p>
          <a:p>
            <a:pPr marL="0" indent="0">
              <a:buNone/>
            </a:pPr>
            <a:r>
              <a:rPr lang="en-IN" dirty="0"/>
              <a:t>K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ECC54A9-A049-795C-E6F6-4895B9E1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36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</a:t>
            </a:r>
          </a:p>
          <a:p>
            <a:pPr marL="0" indent="0">
              <a:buNone/>
            </a:pPr>
            <a:r>
              <a:rPr lang="en-IN" dirty="0"/>
              <a:t>J	1</a:t>
            </a:r>
          </a:p>
          <a:p>
            <a:pPr marL="0" indent="0">
              <a:buNone/>
            </a:pPr>
            <a:r>
              <a:rPr lang="en-IN" dirty="0"/>
              <a:t>K	1*100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F5E547B-1826-FCA9-6B6E-5C4588A7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75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</a:t>
            </a:r>
          </a:p>
          <a:p>
            <a:pPr marL="0" indent="0">
              <a:buNone/>
            </a:pPr>
            <a:r>
              <a:rPr lang="en-IN" dirty="0"/>
              <a:t>J	1	</a:t>
            </a:r>
          </a:p>
          <a:p>
            <a:pPr marL="0" indent="0">
              <a:buNone/>
            </a:pPr>
            <a:r>
              <a:rPr lang="en-IN" dirty="0"/>
              <a:t>K	1*100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B0B56B-13D2-B678-71B8-05906681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99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</a:t>
            </a:r>
          </a:p>
          <a:p>
            <a:pPr marL="0" indent="0">
              <a:buNone/>
            </a:pPr>
            <a:r>
              <a:rPr lang="en-IN" dirty="0"/>
              <a:t>J	1	2</a:t>
            </a:r>
          </a:p>
          <a:p>
            <a:pPr marL="0" indent="0">
              <a:buNone/>
            </a:pPr>
            <a:r>
              <a:rPr lang="en-IN" dirty="0"/>
              <a:t>K	1*100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86FDA22-0897-526F-03F7-D7B04906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4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</a:t>
            </a:r>
          </a:p>
          <a:p>
            <a:pPr marL="0" indent="0">
              <a:buNone/>
            </a:pPr>
            <a:r>
              <a:rPr lang="en-IN" dirty="0"/>
              <a:t>J	1	2</a:t>
            </a:r>
          </a:p>
          <a:p>
            <a:pPr marL="0" indent="0">
              <a:buNone/>
            </a:pPr>
            <a:r>
              <a:rPr lang="en-IN" dirty="0"/>
              <a:t>K	1*100	2*100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ED0A21D-E181-312B-463E-C9E5D19E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8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</a:t>
            </a:r>
          </a:p>
          <a:p>
            <a:pPr marL="0" indent="0">
              <a:buNone/>
            </a:pPr>
            <a:r>
              <a:rPr lang="en-IN" dirty="0"/>
              <a:t>J	1	2</a:t>
            </a:r>
          </a:p>
          <a:p>
            <a:pPr marL="0" indent="0">
              <a:buNone/>
            </a:pPr>
            <a:r>
              <a:rPr lang="en-IN" dirty="0"/>
              <a:t>K	1*100	2*100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93C2669-1D54-0B0F-E5B1-A4F80BB0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75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</a:t>
            </a:r>
          </a:p>
          <a:p>
            <a:pPr marL="0" indent="0">
              <a:buNone/>
            </a:pPr>
            <a:r>
              <a:rPr lang="en-IN" dirty="0"/>
              <a:t>J	1	2	3</a:t>
            </a:r>
          </a:p>
          <a:p>
            <a:pPr marL="0" indent="0">
              <a:buNone/>
            </a:pPr>
            <a:r>
              <a:rPr lang="en-IN" dirty="0"/>
              <a:t>K	1*100	2*100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29C5C8D-CC05-F7DA-3595-8F7B012C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68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</a:t>
            </a:r>
          </a:p>
          <a:p>
            <a:pPr marL="0" indent="0">
              <a:buNone/>
            </a:pPr>
            <a:r>
              <a:rPr lang="en-IN" dirty="0"/>
              <a:t>J	1	2	3</a:t>
            </a:r>
          </a:p>
          <a:p>
            <a:pPr marL="0" indent="0">
              <a:buNone/>
            </a:pPr>
            <a:r>
              <a:rPr lang="en-IN" dirty="0"/>
              <a:t>K	1*100	2*100	3*100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2BD9BD6-D502-1667-DD34-38D3C35E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98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  <a:p>
            <a:pPr marL="0" indent="0">
              <a:buNone/>
            </a:pPr>
            <a:r>
              <a:rPr lang="en-IN" dirty="0"/>
              <a:t>J	1	2	3</a:t>
            </a:r>
          </a:p>
          <a:p>
            <a:pPr marL="0" indent="0">
              <a:buNone/>
            </a:pPr>
            <a:r>
              <a:rPr lang="en-IN" dirty="0"/>
              <a:t>K	1*100	2*100	3*100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E32BDD7-F627-18A7-891D-E76EA332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56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  <a:p>
            <a:pPr marL="0" indent="0">
              <a:buNone/>
            </a:pPr>
            <a:r>
              <a:rPr lang="en-IN" dirty="0"/>
              <a:t>J	1	2	3	4</a:t>
            </a:r>
          </a:p>
          <a:p>
            <a:pPr marL="0" indent="0">
              <a:buNone/>
            </a:pPr>
            <a:r>
              <a:rPr lang="en-IN" dirty="0"/>
              <a:t>K	1*100	2*100	3*100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CA943DA-D9F7-F8B7-A3FE-091AFF63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47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  <a:p>
            <a:pPr marL="0" indent="0">
              <a:buNone/>
            </a:pPr>
            <a:r>
              <a:rPr lang="en-IN" dirty="0"/>
              <a:t>J	1	2	3	4</a:t>
            </a:r>
          </a:p>
          <a:p>
            <a:pPr marL="0" indent="0">
              <a:buNone/>
            </a:pPr>
            <a:r>
              <a:rPr lang="en-IN" dirty="0"/>
              <a:t>K	1*100	2*100	3*100	4*100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893F211-A4DF-D0D0-9123-21416418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06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  <a:p>
            <a:pPr marL="0" indent="0">
              <a:buNone/>
            </a:pPr>
            <a:r>
              <a:rPr lang="en-IN" dirty="0"/>
              <a:t>J	1	2	3	4</a:t>
            </a:r>
          </a:p>
          <a:p>
            <a:pPr marL="0" indent="0">
              <a:buNone/>
            </a:pPr>
            <a:r>
              <a:rPr lang="en-IN" dirty="0"/>
              <a:t>K	1*100	2*100	3*100	4*100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13B21DC-7E1B-F238-4B1A-5F59B802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38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  <a:p>
            <a:pPr marL="0" indent="0">
              <a:buNone/>
            </a:pPr>
            <a:r>
              <a:rPr lang="en-IN" dirty="0"/>
              <a:t>J	1	2	3	4	5</a:t>
            </a:r>
          </a:p>
          <a:p>
            <a:pPr marL="0" indent="0">
              <a:buNone/>
            </a:pPr>
            <a:r>
              <a:rPr lang="en-IN" dirty="0"/>
              <a:t>K	1*100	2*100	3*100	4*100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B8AEAA3-B677-F723-2B2D-1CC4EB32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13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  <a:p>
            <a:pPr marL="0" indent="0">
              <a:buNone/>
            </a:pPr>
            <a:r>
              <a:rPr lang="en-IN" dirty="0"/>
              <a:t>J	1	2	3	4	5</a:t>
            </a:r>
          </a:p>
          <a:p>
            <a:pPr marL="0" indent="0">
              <a:buNone/>
            </a:pPr>
            <a:r>
              <a:rPr lang="en-IN" dirty="0"/>
              <a:t>K	1*100	2*100	3*100	4*100	5*100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2E52140-D7D4-932A-4251-878300CC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56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</a:t>
            </a:r>
          </a:p>
          <a:p>
            <a:pPr marL="0" indent="0">
              <a:buNone/>
            </a:pPr>
            <a:r>
              <a:rPr lang="en-IN" dirty="0"/>
              <a:t>K	1*100	2*100	3*100	4*100	5*100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86673E-76A3-B51F-DBEB-CF0F5373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16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304CCE4-0117-FE60-CF98-625B850E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87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F19F326-FB24-B59A-1F0B-E48E7D63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9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1*100+2*100+3*100+4*100+……n*100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A7A127A-9E03-DF1B-9EBD-C57DCDF3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1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1*100+2*100+3*100+4*100+……n*100</a:t>
            </a:r>
          </a:p>
          <a:p>
            <a:pPr marL="0" indent="0">
              <a:buNone/>
            </a:pPr>
            <a:r>
              <a:rPr lang="en-IN" dirty="0"/>
              <a:t>100(1+2+3+4+……………n)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B65C6D-21EA-08CF-4E7A-87739A3C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6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 * 100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1*100+2*100+3*100+4*100+……n*100</a:t>
            </a:r>
          </a:p>
          <a:p>
            <a:pPr marL="0" indent="0">
              <a:buNone/>
            </a:pPr>
            <a:r>
              <a:rPr lang="en-IN" dirty="0"/>
              <a:t>100(1+2+3+4+……………n)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644008" y="4509120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n(n+1)/2 </a:t>
            </a:r>
            <a:r>
              <a:rPr lang="en-IN" dirty="0" err="1"/>
              <a:t>ie</a:t>
            </a:r>
            <a:r>
              <a:rPr lang="en-IN" dirty="0"/>
              <a:t> O(n</a:t>
            </a:r>
            <a:r>
              <a:rPr lang="en-IN" baseline="30000" dirty="0"/>
              <a:t>2</a:t>
            </a:r>
            <a:r>
              <a:rPr lang="en-IN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A8CEBCF-F742-F611-83D7-8C9D3442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5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2296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800" dirty="0"/>
                  <a:t>Function(){</a:t>
                </a:r>
              </a:p>
              <a:p>
                <a:pPr marL="0" indent="0">
                  <a:buNone/>
                </a:pPr>
                <a:r>
                  <a:rPr lang="en-IN" sz="2800" dirty="0"/>
                  <a:t>	</a:t>
                </a:r>
                <a:r>
                  <a:rPr lang="en-IN" sz="2800" dirty="0" err="1"/>
                  <a:t>int</a:t>
                </a:r>
                <a:r>
                  <a:rPr lang="en-IN" sz="2800" dirty="0"/>
                  <a:t> </a:t>
                </a:r>
                <a:r>
                  <a:rPr lang="en-IN" sz="2800" dirty="0" err="1"/>
                  <a:t>I,j,k,n</a:t>
                </a:r>
                <a:r>
                  <a:rPr lang="en-IN" sz="2800" dirty="0"/>
                  <a:t>;</a:t>
                </a:r>
              </a:p>
              <a:p>
                <a:pPr marL="0" indent="0">
                  <a:buNone/>
                </a:pPr>
                <a:r>
                  <a:rPr lang="en-IN" sz="2800" dirty="0"/>
                  <a:t>	for(i=1;i&lt;=</a:t>
                </a:r>
                <a:r>
                  <a:rPr lang="en-IN" sz="2800" dirty="0" err="1"/>
                  <a:t>n;i</a:t>
                </a:r>
                <a:r>
                  <a:rPr lang="en-IN" sz="2800" dirty="0"/>
                  <a:t>++){</a:t>
                </a:r>
              </a:p>
              <a:p>
                <a:pPr marL="0" indent="0">
                  <a:buNone/>
                </a:pPr>
                <a:r>
                  <a:rPr lang="en-IN" sz="2800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800" dirty="0"/>
                  <a:t>;j++){</a:t>
                </a:r>
              </a:p>
              <a:p>
                <a:pPr marL="0" indent="0">
                  <a:buNone/>
                </a:pPr>
                <a:r>
                  <a:rPr lang="en-IN" sz="2800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sz="2800" dirty="0"/>
                  <a:t>				</a:t>
                </a:r>
                <a:r>
                  <a:rPr lang="en-IN" sz="2800" dirty="0" err="1"/>
                  <a:t>printf</a:t>
                </a:r>
                <a:r>
                  <a:rPr lang="en-IN" sz="2800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sz="2800" dirty="0"/>
                  <a:t>					}</a:t>
                </a:r>
              </a:p>
              <a:p>
                <a:pPr marL="0" indent="0">
                  <a:buNone/>
                </a:pPr>
                <a:r>
                  <a:rPr lang="en-IN" sz="2800" dirty="0"/>
                  <a:t>				}</a:t>
                </a:r>
              </a:p>
              <a:p>
                <a:pPr marL="0" indent="0">
                  <a:buNone/>
                </a:pPr>
                <a:r>
                  <a:rPr lang="en-IN" sz="2800" dirty="0"/>
                  <a:t>			}</a:t>
                </a:r>
              </a:p>
              <a:p>
                <a:pPr marL="0" indent="0">
                  <a:buNone/>
                </a:pPr>
                <a:r>
                  <a:rPr lang="en-IN" sz="2800" dirty="0"/>
                  <a:t>		}</a:t>
                </a:r>
              </a:p>
              <a:p>
                <a:pPr marL="0" indent="0">
                  <a:buNone/>
                </a:pPr>
                <a:r>
                  <a:rPr lang="en-IN" sz="2800" dirty="0"/>
                  <a:t>i</a:t>
                </a:r>
              </a:p>
              <a:p>
                <a:pPr marL="0" indent="0">
                  <a:buNone/>
                </a:pPr>
                <a:r>
                  <a:rPr lang="en-IN" sz="2800" dirty="0"/>
                  <a:t>J</a:t>
                </a:r>
              </a:p>
              <a:p>
                <a:pPr marL="0" indent="0">
                  <a:buNone/>
                </a:pPr>
                <a:r>
                  <a:rPr lang="en-IN" sz="2800" dirty="0"/>
                  <a:t>K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229600" cy="4525963"/>
              </a:xfrm>
              <a:blipFill rotWithShape="1">
                <a:blip r:embed="rId2"/>
                <a:stretch>
                  <a:fillRect l="-1481" t="-1213" b="-5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842EA8A-03EE-BA47-75E0-5A032B7C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60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</a:t>
                </a:r>
              </a:p>
              <a:p>
                <a:pPr marL="0" indent="0">
                  <a:buNone/>
                </a:pPr>
                <a:r>
                  <a:rPr lang="en-IN" dirty="0"/>
                  <a:t>J</a:t>
                </a:r>
              </a:p>
              <a:p>
                <a:pPr marL="0" indent="0">
                  <a:buNone/>
                </a:pPr>
                <a:r>
                  <a:rPr lang="en-IN" dirty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8049BB-DBA2-CA82-8657-91181829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</a:t>
                </a:r>
              </a:p>
              <a:p>
                <a:pPr marL="0" indent="0">
                  <a:buNone/>
                </a:pPr>
                <a:r>
                  <a:rPr lang="en-IN" dirty="0"/>
                  <a:t>J	1</a:t>
                </a:r>
              </a:p>
              <a:p>
                <a:pPr marL="0" indent="0">
                  <a:buNone/>
                </a:pPr>
                <a:r>
                  <a:rPr lang="en-IN" dirty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618A31B-2432-4FE2-3478-CB90B1AE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33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</a:t>
                </a:r>
              </a:p>
              <a:p>
                <a:pPr marL="0" indent="0">
                  <a:buNone/>
                </a:pPr>
                <a:r>
                  <a:rPr lang="en-IN" dirty="0"/>
                  <a:t>J	1</a:t>
                </a:r>
              </a:p>
              <a:p>
                <a:pPr marL="0" indent="0">
                  <a:buNone/>
                </a:pPr>
                <a:r>
                  <a:rPr lang="en-IN" dirty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5E494B-1FFC-6669-C7F0-4390035E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5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</a:t>
                </a:r>
              </a:p>
              <a:p>
                <a:pPr marL="0" indent="0">
                  <a:buNone/>
                </a:pPr>
                <a:r>
                  <a:rPr lang="en-IN" dirty="0"/>
                  <a:t>J	1</a:t>
                </a:r>
              </a:p>
              <a:p>
                <a:pPr marL="0" indent="0">
                  <a:buNone/>
                </a:pPr>
                <a:r>
                  <a:rPr lang="en-IN" dirty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3FFBD27-3739-AFF7-19FE-E46770F9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4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</a:t>
                </a:r>
              </a:p>
              <a:p>
                <a:pPr marL="0" indent="0">
                  <a:buNone/>
                </a:pPr>
                <a:r>
                  <a:rPr lang="en-IN" dirty="0"/>
                  <a:t>J	1	4</a:t>
                </a:r>
              </a:p>
              <a:p>
                <a:pPr marL="0" indent="0">
                  <a:buNone/>
                </a:pPr>
                <a:r>
                  <a:rPr lang="en-IN" dirty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189E756-3EB7-2B59-C26E-060706AB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6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</a:t>
                </a:r>
              </a:p>
              <a:p>
                <a:pPr marL="0" indent="0">
                  <a:buNone/>
                </a:pPr>
                <a:r>
                  <a:rPr lang="en-IN" dirty="0"/>
                  <a:t>J	1	4</a:t>
                </a:r>
              </a:p>
              <a:p>
                <a:pPr marL="0" indent="0">
                  <a:buNone/>
                </a:pPr>
                <a:r>
                  <a:rPr lang="en-IN" dirty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C791A78-AC39-BDD3-7B54-79B2AF28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36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</a:t>
                </a:r>
              </a:p>
              <a:p>
                <a:pPr marL="0" indent="0">
                  <a:buNone/>
                </a:pPr>
                <a:r>
                  <a:rPr lang="en-IN" dirty="0"/>
                  <a:t>J	1	4</a:t>
                </a:r>
              </a:p>
              <a:p>
                <a:pPr marL="0" indent="0">
                  <a:buNone/>
                </a:pPr>
                <a:r>
                  <a:rPr lang="en-IN" dirty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A2B543C-31A1-F66E-9F59-E31EA9E8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4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</a:t>
                </a:r>
              </a:p>
              <a:p>
                <a:pPr marL="0" indent="0">
                  <a:buNone/>
                </a:pPr>
                <a:r>
                  <a:rPr lang="en-IN" dirty="0"/>
                  <a:t>J	1	4	9</a:t>
                </a:r>
              </a:p>
              <a:p>
                <a:pPr marL="0" indent="0">
                  <a:buNone/>
                </a:pPr>
                <a:r>
                  <a:rPr lang="en-IN" dirty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02E3FE3-A4C7-9E67-CBF8-D5E91968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</a:t>
                </a:r>
              </a:p>
              <a:p>
                <a:pPr marL="0" indent="0">
                  <a:buNone/>
                </a:pPr>
                <a:r>
                  <a:rPr lang="en-IN" dirty="0"/>
                  <a:t>J	1	4	9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17EEE0-C3C9-BD87-F851-16CD2FAE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03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</a:t>
                </a:r>
              </a:p>
              <a:p>
                <a:pPr marL="0" indent="0">
                  <a:buNone/>
                </a:pPr>
                <a:r>
                  <a:rPr lang="en-IN" dirty="0"/>
                  <a:t>J	1	4	9	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923898E-3BC0-AAA7-271C-221F495F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44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</a:t>
                </a:r>
              </a:p>
              <a:p>
                <a:pPr marL="0" indent="0">
                  <a:buNone/>
                </a:pPr>
                <a:r>
                  <a:rPr lang="en-IN" dirty="0"/>
                  <a:t>J	1	4	9	16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9D9BBB-0DB5-8F8B-1411-734028EE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22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</a:t>
                </a:r>
              </a:p>
              <a:p>
                <a:pPr marL="0" indent="0">
                  <a:buNone/>
                </a:pPr>
                <a:r>
                  <a:rPr lang="en-IN" dirty="0"/>
                  <a:t>J	1	4	9	16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4BB19EE-239A-4B6F-5EB7-FF4BF9EA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68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/>
                  <a:t>J	1	4	9	16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B7D601-50A7-1D41-B79C-E4829CE2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63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C9E710-F75B-3946-DB9E-897F7FE6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08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813258E-16CF-3453-53FB-ABB43325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8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EF9BAE5-CC82-7BCD-745B-21F04059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71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25…………………..n</a:t>
                </a:r>
                <a:r>
                  <a:rPr lang="en-IN" baseline="30000" dirty="0"/>
                  <a:t>2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1F18129-63F0-A59A-7965-CF5E5923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25…………………..n</a:t>
                </a:r>
                <a:r>
                  <a:rPr lang="en-IN" baseline="30000" dirty="0"/>
                  <a:t>2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25*n/2…………..n</a:t>
                </a:r>
                <a:r>
                  <a:rPr lang="en-IN" baseline="30000" dirty="0"/>
                  <a:t>2</a:t>
                </a:r>
                <a:r>
                  <a:rPr lang="en-IN" dirty="0"/>
                  <a:t>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7602B85-6331-7872-65D6-2A32FBA6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87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88640"/>
                <a:ext cx="82296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25…………………..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K	1*n/2	4*n/2	9*n/2	16*n/2	25*n/2…………..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88640"/>
                <a:ext cx="8229600" cy="4525963"/>
              </a:xfrm>
              <a:blipFill rotWithShape="1">
                <a:blip r:embed="rId2"/>
                <a:stretch>
                  <a:fillRect l="-963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96500" y="4653136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1*n/2	4*n/2	9*n/2	16*n/2	25*n/2…………..n</a:t>
            </a:r>
            <a:r>
              <a:rPr lang="en-IN" baseline="30000" dirty="0"/>
              <a:t>2</a:t>
            </a:r>
            <a:r>
              <a:rPr lang="en-IN" dirty="0"/>
              <a:t>*n/2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25456" y="5025824"/>
                <a:ext cx="68580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n/2(1+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+…..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6" y="5025824"/>
                <a:ext cx="68580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11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5456" y="5661248"/>
                <a:ext cx="72869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/>
                  <a:t>n/2[(n(n+1)(2n+1)/6]                 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IN" sz="2800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sz="2800" b="0" i="1" dirty="0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6" y="5661248"/>
                <a:ext cx="7286904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67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317D1AC-0BF8-7B7B-EF48-3CE7DE6A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38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for(i=1;i&lt;</a:t>
            </a:r>
            <a:r>
              <a:rPr lang="en-IN" dirty="0" err="1"/>
              <a:t>n;i</a:t>
            </a:r>
            <a:r>
              <a:rPr lang="en-IN" dirty="0"/>
              <a:t>=i*</a:t>
            </a:r>
            <a:r>
              <a:rPr lang="en-IN" dirty="0">
                <a:solidFill>
                  <a:srgbClr val="FF0000"/>
                </a:solidFill>
              </a:rPr>
              <a:t>2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1DB7B6-F349-10DF-5001-75A4BBD1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22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for(i=1;i&lt;</a:t>
                </a:r>
                <a:r>
                  <a:rPr lang="en-IN" dirty="0" err="1"/>
                  <a:t>n;i</a:t>
                </a:r>
                <a:r>
                  <a:rPr lang="en-IN" dirty="0"/>
                  <a:t>=i*</a:t>
                </a:r>
                <a:r>
                  <a:rPr lang="en-IN" dirty="0">
                    <a:solidFill>
                      <a:srgbClr val="FF0000"/>
                    </a:solidFill>
                  </a:rPr>
                  <a:t>2</a:t>
                </a:r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}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IN" dirty="0" err="1"/>
                  <a:t>i</a:t>
                </a:r>
                <a:r>
                  <a:rPr lang="en-IN" dirty="0"/>
                  <a:t>=1	2	4	8	16	n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IN" dirty="0"/>
                  <a:t>=n</a:t>
                </a:r>
              </a:p>
              <a:p>
                <a:pPr marL="0" indent="0">
                  <a:buNone/>
                </a:pPr>
                <a:r>
                  <a:rPr lang="en-IN" dirty="0"/>
                  <a:t>K=log(n)        O(log</a:t>
                </a:r>
                <a:r>
                  <a:rPr lang="en-IN" baseline="-25000" dirty="0"/>
                  <a:t>2</a:t>
                </a:r>
                <a:r>
                  <a:rPr lang="en-IN" dirty="0"/>
                  <a:t>n)……. O(log</a:t>
                </a:r>
                <a:r>
                  <a:rPr lang="en-IN" baseline="-25000" dirty="0"/>
                  <a:t>3</a:t>
                </a:r>
                <a:r>
                  <a:rPr lang="en-IN" dirty="0"/>
                  <a:t>n)….. O(log</a:t>
                </a:r>
                <a:r>
                  <a:rPr lang="en-IN" baseline="-25000" dirty="0"/>
                  <a:t>10</a:t>
                </a:r>
                <a:r>
                  <a:rPr lang="en-IN" dirty="0"/>
                  <a:t>n)</a:t>
                </a:r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1DB7B6-F349-10DF-5001-75A4BBD1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 			for(j=1;j&lt;=n/2;j++) 		      			for(k=1;k&lt;=</a:t>
            </a:r>
            <a:r>
              <a:rPr lang="en-IN" dirty="0" err="1"/>
              <a:t>n;k</a:t>
            </a:r>
            <a:r>
              <a:rPr lang="en-IN" dirty="0"/>
              <a:t>=k*2) 		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65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                       …n/2</a:t>
            </a:r>
          </a:p>
          <a:p>
            <a:pPr marL="0" indent="0">
              <a:buNone/>
            </a:pPr>
            <a:r>
              <a:rPr lang="en-IN" dirty="0"/>
              <a:t>		  for(j=1;j&lt;=n/2;j++)                      …n/2</a:t>
            </a:r>
          </a:p>
          <a:p>
            <a:pPr marL="0" indent="0">
              <a:buNone/>
            </a:pPr>
            <a:r>
              <a:rPr lang="en-IN" dirty="0"/>
              <a:t>		      for(k=1;k&lt;=</a:t>
            </a:r>
            <a:r>
              <a:rPr lang="en-IN" dirty="0" err="1"/>
              <a:t>n;k</a:t>
            </a:r>
            <a:r>
              <a:rPr lang="en-IN" dirty="0"/>
              <a:t>=k*2)            ... log</a:t>
            </a:r>
            <a:r>
              <a:rPr lang="en-IN" baseline="-25000" dirty="0"/>
              <a:t>2</a:t>
            </a: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	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n/2 * n/2 * log</a:t>
            </a:r>
            <a:r>
              <a:rPr lang="en-IN" baseline="-25000" dirty="0"/>
              <a:t>2</a:t>
            </a:r>
            <a:r>
              <a:rPr lang="en-IN" dirty="0"/>
              <a:t>n  = O(n</a:t>
            </a:r>
            <a:r>
              <a:rPr lang="en-IN" baseline="30000" dirty="0"/>
              <a:t>2</a:t>
            </a:r>
            <a:r>
              <a:rPr lang="en-IN" dirty="0"/>
              <a:t> log</a:t>
            </a:r>
            <a:r>
              <a:rPr lang="en-IN" baseline="-25000" dirty="0"/>
              <a:t>2</a:t>
            </a:r>
            <a:r>
              <a:rPr lang="en-IN" dirty="0"/>
              <a:t>n)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98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			for(j=1;j&lt;=</a:t>
            </a:r>
            <a:r>
              <a:rPr lang="en-IN" dirty="0" err="1"/>
              <a:t>n;j</a:t>
            </a:r>
            <a:r>
              <a:rPr lang="en-IN" dirty="0"/>
              <a:t>=2*j)</a:t>
            </a:r>
          </a:p>
          <a:p>
            <a:pPr marL="0" indent="0">
              <a:buNone/>
            </a:pPr>
            <a:r>
              <a:rPr lang="en-IN" dirty="0"/>
              <a:t>		for(k=1;k&lt;=</a:t>
            </a:r>
            <a:r>
              <a:rPr lang="en-IN" dirty="0" err="1"/>
              <a:t>n;k</a:t>
            </a:r>
            <a:r>
              <a:rPr lang="en-IN" dirty="0"/>
              <a:t>=k*2)</a:t>
            </a:r>
          </a:p>
          <a:p>
            <a:pPr marL="0" indent="0">
              <a:buNone/>
            </a:pPr>
            <a:r>
              <a:rPr lang="en-IN" dirty="0"/>
              <a:t>		    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57059F-1603-0502-7223-6992CC9E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5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			for(j=1;j&lt;=</a:t>
            </a:r>
            <a:r>
              <a:rPr lang="en-IN" dirty="0" err="1"/>
              <a:t>n;j</a:t>
            </a:r>
            <a:r>
              <a:rPr lang="en-IN" dirty="0"/>
              <a:t>=2*j)</a:t>
            </a:r>
          </a:p>
          <a:p>
            <a:pPr marL="0" indent="0">
              <a:buNone/>
            </a:pPr>
            <a:r>
              <a:rPr lang="en-IN" dirty="0"/>
              <a:t>		for(k=1;k&lt;=</a:t>
            </a:r>
            <a:r>
              <a:rPr lang="en-IN" dirty="0" err="1"/>
              <a:t>n;k</a:t>
            </a:r>
            <a:r>
              <a:rPr lang="en-IN" dirty="0"/>
              <a:t>=k*2)</a:t>
            </a:r>
          </a:p>
          <a:p>
            <a:pPr marL="0" indent="0">
              <a:buNone/>
            </a:pPr>
            <a:r>
              <a:rPr lang="en-IN" dirty="0"/>
              <a:t>		    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= </a:t>
            </a:r>
            <a:r>
              <a:rPr lang="en-IN" dirty="0" smtClean="0"/>
              <a:t>O(nlog</a:t>
            </a:r>
            <a:r>
              <a:rPr lang="en-IN" baseline="30000" dirty="0" smtClean="0"/>
              <a:t>2</a:t>
            </a:r>
            <a:r>
              <a:rPr lang="en-IN" dirty="0" smtClean="0"/>
              <a:t>n</a:t>
            </a:r>
            <a:r>
              <a:rPr lang="en-IN" dirty="0"/>
              <a:t>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57059F-1603-0502-7223-6992CC9E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94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                       …n/2</a:t>
            </a:r>
          </a:p>
          <a:p>
            <a:pPr marL="0" indent="0">
              <a:buNone/>
            </a:pPr>
            <a:r>
              <a:rPr lang="en-IN" dirty="0"/>
              <a:t>		  for(j=1;j&lt;=n/2;j++)                      …n/2</a:t>
            </a:r>
          </a:p>
          <a:p>
            <a:pPr marL="0" indent="0">
              <a:buNone/>
            </a:pPr>
            <a:r>
              <a:rPr lang="en-IN" dirty="0"/>
              <a:t>		      for(k=1;k&lt;=</a:t>
            </a:r>
            <a:r>
              <a:rPr lang="en-IN" dirty="0" err="1"/>
              <a:t>n;k</a:t>
            </a:r>
            <a:r>
              <a:rPr lang="en-IN" dirty="0"/>
              <a:t>=k*2)            ... log</a:t>
            </a:r>
            <a:r>
              <a:rPr lang="en-IN" baseline="-25000" dirty="0"/>
              <a:t>2</a:t>
            </a: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	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n/2 * n/2 * log</a:t>
            </a:r>
            <a:r>
              <a:rPr lang="en-IN" baseline="-25000" dirty="0"/>
              <a:t>2</a:t>
            </a:r>
            <a:r>
              <a:rPr lang="en-IN" dirty="0"/>
              <a:t>n  = O(n</a:t>
            </a:r>
            <a:r>
              <a:rPr lang="en-IN" baseline="30000" dirty="0"/>
              <a:t>2</a:t>
            </a:r>
            <a:r>
              <a:rPr lang="en-IN" dirty="0"/>
              <a:t> log</a:t>
            </a:r>
            <a:r>
              <a:rPr lang="en-IN" baseline="-25000" dirty="0"/>
              <a:t>2</a:t>
            </a:r>
            <a:r>
              <a:rPr lang="en-IN" dirty="0"/>
              <a:t>n)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28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for(i=1;i&lt;=</a:t>
            </a:r>
            <a:r>
              <a:rPr lang="en-IN" dirty="0" err="1"/>
              <a:t>n,i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		for(j=</a:t>
            </a:r>
            <a:r>
              <a:rPr lang="en-IN" dirty="0" err="1"/>
              <a:t>i;j</a:t>
            </a:r>
            <a:r>
              <a:rPr lang="en-IN" dirty="0"/>
              <a:t>&lt;=</a:t>
            </a:r>
            <a:r>
              <a:rPr lang="en-IN" dirty="0" err="1"/>
              <a:t>n;j</a:t>
            </a:r>
            <a:r>
              <a:rPr lang="en-IN" dirty="0"/>
              <a:t>=</a:t>
            </a:r>
            <a:r>
              <a:rPr lang="en-IN" dirty="0" err="1"/>
              <a:t>j+i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</a:t>
            </a:r>
          </a:p>
          <a:p>
            <a:pPr marL="0" indent="0">
              <a:buNone/>
            </a:pPr>
            <a:r>
              <a:rPr lang="en-IN" dirty="0"/>
              <a:t>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F97E9AD-09C2-01EF-DEC3-2461665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2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for(i=1;i&lt;=</a:t>
            </a:r>
            <a:r>
              <a:rPr lang="en-IN" dirty="0" err="1"/>
              <a:t>n,i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		for(j=</a:t>
            </a:r>
            <a:r>
              <a:rPr lang="en-IN" dirty="0" err="1"/>
              <a:t>I;j</a:t>
            </a:r>
            <a:r>
              <a:rPr lang="en-IN" dirty="0"/>
              <a:t>&lt;=</a:t>
            </a:r>
            <a:r>
              <a:rPr lang="en-IN" dirty="0" err="1"/>
              <a:t>n;j</a:t>
            </a:r>
            <a:r>
              <a:rPr lang="en-IN" dirty="0"/>
              <a:t>=</a:t>
            </a:r>
            <a:r>
              <a:rPr lang="en-IN" dirty="0" err="1"/>
              <a:t>j+i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i=1	2	3	4</a:t>
            </a:r>
          </a:p>
          <a:p>
            <a:pPr marL="0" indent="0">
              <a:buNone/>
            </a:pPr>
            <a:r>
              <a:rPr lang="en-IN" dirty="0"/>
              <a:t>J=n	n/2	n/3	n/4</a:t>
            </a:r>
          </a:p>
          <a:p>
            <a:pPr marL="0" indent="0">
              <a:buNone/>
            </a:pPr>
            <a:r>
              <a:rPr lang="en-IN" dirty="0" err="1"/>
              <a:t>n+n</a:t>
            </a:r>
            <a:r>
              <a:rPr lang="en-IN" dirty="0"/>
              <a:t>/2+n/3+……n/n)</a:t>
            </a:r>
          </a:p>
          <a:p>
            <a:pPr marL="0" indent="0">
              <a:buNone/>
            </a:pPr>
            <a:r>
              <a:rPr lang="en-IN" dirty="0"/>
              <a:t>n(1+1/2+1/3+1/4+……..1/n)</a:t>
            </a:r>
          </a:p>
          <a:p>
            <a:pPr marL="0" indent="0">
              <a:buNone/>
            </a:pPr>
            <a:r>
              <a:rPr lang="en-IN" dirty="0"/>
              <a:t>n(</a:t>
            </a:r>
            <a:r>
              <a:rPr lang="en-IN" dirty="0" err="1"/>
              <a:t>logn</a:t>
            </a:r>
            <a:r>
              <a:rPr lang="en-IN" dirty="0"/>
              <a:t>)   =&gt;  O(n 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6A8BDE-4908-805B-643E-24EB0784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5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602632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Function()</a:t>
            </a:r>
          </a:p>
          <a:p>
            <a:pPr marL="0" indent="0">
              <a:buNone/>
            </a:pPr>
            <a:r>
              <a:rPr lang="en-IN" dirty="0"/>
              <a:t>{ while(n&gt;1)</a:t>
            </a:r>
          </a:p>
          <a:p>
            <a:pPr marL="0" indent="0">
              <a:buNone/>
            </a:pPr>
            <a:r>
              <a:rPr lang="en-IN" dirty="0"/>
              <a:t>  { n=n/2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FA58C29-57F8-FFC6-399B-F62DCE5F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7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602632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Function()</a:t>
            </a:r>
          </a:p>
          <a:p>
            <a:pPr marL="0" indent="0">
              <a:buNone/>
            </a:pPr>
            <a:r>
              <a:rPr lang="en-IN" dirty="0"/>
              <a:t>{ while(n&gt;1)</a:t>
            </a:r>
          </a:p>
          <a:p>
            <a:pPr marL="0" indent="0">
              <a:buNone/>
            </a:pPr>
            <a:r>
              <a:rPr lang="en-IN" dirty="0"/>
              <a:t>  { n=n/2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12232" y="1628800"/>
            <a:ext cx="49601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N" dirty="0"/>
              <a:t>Assume n&gt;=2</a:t>
            </a:r>
          </a:p>
          <a:p>
            <a:pPr marL="0" indent="0">
              <a:buFont typeface="Arial" pitchFamily="34" charset="0"/>
              <a:buNone/>
            </a:pPr>
            <a:r>
              <a:rPr lang="en-IN" dirty="0"/>
              <a:t>  n=2</a:t>
            </a:r>
            <a:r>
              <a:rPr lang="en-IN" baseline="30000" dirty="0"/>
              <a:t>1                  </a:t>
            </a:r>
            <a:r>
              <a:rPr lang="en-IN" dirty="0"/>
              <a:t>– 1 time </a:t>
            </a:r>
          </a:p>
          <a:p>
            <a:pPr marL="0" indent="0">
              <a:buNone/>
            </a:pPr>
            <a:r>
              <a:rPr lang="en-IN" dirty="0"/>
              <a:t> n=2</a:t>
            </a:r>
            <a:r>
              <a:rPr lang="en-IN" baseline="30000" dirty="0"/>
              <a:t>2                  </a:t>
            </a:r>
            <a:r>
              <a:rPr lang="en-IN" dirty="0"/>
              <a:t>– 2 times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n=2</a:t>
            </a:r>
            <a:r>
              <a:rPr lang="en-IN" baseline="30000" dirty="0"/>
              <a:t>k                  </a:t>
            </a:r>
            <a:r>
              <a:rPr lang="en-IN" dirty="0"/>
              <a:t>– k times</a:t>
            </a:r>
          </a:p>
          <a:p>
            <a:pPr marL="0" indent="0">
              <a:buNone/>
            </a:pPr>
            <a:r>
              <a:rPr lang="en-IN" dirty="0"/>
              <a:t>K=log</a:t>
            </a:r>
            <a:r>
              <a:rPr lang="en-IN" baseline="-25000" dirty="0"/>
              <a:t>2</a:t>
            </a:r>
            <a:r>
              <a:rPr lang="en-IN" dirty="0"/>
              <a:t>n </a:t>
            </a:r>
          </a:p>
          <a:p>
            <a:pPr marL="0" indent="0">
              <a:buNone/>
            </a:pPr>
            <a:r>
              <a:rPr lang="en-IN" dirty="0"/>
              <a:t>O(log</a:t>
            </a:r>
            <a:r>
              <a:rPr lang="en-IN" baseline="-25000" dirty="0"/>
              <a:t>2</a:t>
            </a:r>
            <a:r>
              <a:rPr lang="en-IN" dirty="0"/>
              <a:t>n)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FA58C29-57F8-FFC6-399B-F62DCE5F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40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3672408" cy="59046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Function()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n=2</a:t>
            </a:r>
            <a:r>
              <a:rPr lang="en-IN" baseline="30000" dirty="0"/>
              <a:t>2</a:t>
            </a:r>
            <a:r>
              <a:rPr lang="en-IN" baseline="66000" dirty="0"/>
              <a:t>k</a:t>
            </a:r>
          </a:p>
          <a:p>
            <a:pPr marL="0" indent="0">
              <a:buNone/>
            </a:pP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=1;i&lt;=</a:t>
            </a:r>
            <a:r>
              <a:rPr lang="en-IN" dirty="0" err="1"/>
              <a:t>n;i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j=2;</a:t>
            </a:r>
          </a:p>
          <a:p>
            <a:pPr marL="0" indent="0">
              <a:buNone/>
            </a:pPr>
            <a:r>
              <a:rPr lang="en-IN" dirty="0"/>
              <a:t>   while(j&lt;=n)</a:t>
            </a:r>
          </a:p>
          <a:p>
            <a:pPr marL="0" indent="0">
              <a:buNone/>
            </a:pPr>
            <a:r>
              <a:rPr lang="en-IN" dirty="0"/>
              <a:t>{   j=j</a:t>
            </a:r>
            <a:r>
              <a:rPr lang="en-IN" baseline="30000" dirty="0"/>
              <a:t>2</a:t>
            </a:r>
            <a:r>
              <a:rPr lang="en-IN" dirty="0"/>
              <a:t> </a:t>
            </a:r>
            <a:endParaRPr lang="en-IN" baseline="30000" dirty="0"/>
          </a:p>
          <a:p>
            <a:pPr marL="0" indent="0">
              <a:buNone/>
            </a:pPr>
            <a:r>
              <a:rPr lang="en-IN" dirty="0"/>
              <a:t>    print (“Hello”)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499992" y="1124744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81E4FEF-C5C0-DDF4-5787-E6D9E3CD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18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1916832"/>
            <a:ext cx="5616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Recursive Algorithms Analysis</a:t>
            </a:r>
            <a:endParaRPr lang="en-IN" sz="4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EC12656-90D2-BDA6-C7F2-C06F604B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61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</a:t>
            </a:r>
          </a:p>
          <a:p>
            <a:pPr marL="0" indent="0">
              <a:buNone/>
            </a:pPr>
            <a:r>
              <a:rPr lang="en-IN" dirty="0"/>
              <a:t>	return(function(n-1))		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A2AA512-DF95-BC96-1286-0F962C6D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7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19A62A3-46A5-C4A3-BED9-40542821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33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AC69357-36EE-5C91-27C6-5E5794F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3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C3D772F-2273-5284-B89F-7DA6CB30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49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CD92ADB-159C-CE63-888A-46C35EAE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2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61C8871-A073-A938-D014-9D675F45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2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21F2920-8C2D-1F3F-578A-5092A102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47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3BCC94E-A18A-E2CC-4306-95D250FC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7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9906F8B-C3C4-DDFB-15F4-6FE0D2B1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34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712968" cy="64087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3D0248E-3440-D405-4D26-733B92A7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81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A6E1C21-6572-0DE7-3B9C-D234634A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3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				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0335C84-49D8-56FA-4EE4-AFC70043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58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				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D09D7827-F596-74C6-62AC-1F363678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80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n-1+T[n-[n-1]]]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061C25D-E7F8-0B22-3E12-4C3B2367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52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n-1+T[n-[n-1]]]</a:t>
            </a:r>
          </a:p>
          <a:p>
            <a:pPr marL="0" indent="0">
              <a:buNone/>
            </a:pPr>
            <a:r>
              <a:rPr lang="en-IN" dirty="0"/>
              <a:t>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A75694E-B28D-7FAF-B697-8471B567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81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n-1+T[n-[n-1]]]</a:t>
            </a:r>
          </a:p>
          <a:p>
            <a:pPr marL="0" indent="0">
              <a:buNone/>
            </a:pP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O(n)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9DEDEB3-53D3-C737-8861-A930B67B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4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T(n)=</a:t>
            </a:r>
            <a:r>
              <a:rPr lang="en-IN" dirty="0" err="1"/>
              <a:t>n+T</a:t>
            </a:r>
            <a:r>
              <a:rPr lang="en-IN" dirty="0"/>
              <a:t>(n-1)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33855BF-E539-E5FC-4FD3-66D7D698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71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Algorithms for computing the</a:t>
            </a:r>
            <a:br>
              <a:rPr lang="en-IN" dirty="0"/>
            </a:br>
            <a:r>
              <a:rPr lang="en-IN" dirty="0"/>
              <a:t>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32856"/>
            <a:ext cx="59401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 &lt;= 1)</a:t>
            </a:r>
          </a:p>
          <a:p>
            <a:r>
              <a:rPr lang="en-IN" dirty="0"/>
              <a:t>		return 1;</a:t>
            </a:r>
          </a:p>
          <a:p>
            <a:r>
              <a:rPr lang="en-IN" dirty="0"/>
              <a:t>	else</a:t>
            </a:r>
          </a:p>
          <a:p>
            <a:r>
              <a:rPr lang="en-IN" dirty="0"/>
              <a:t>		return n * factorial(n-1);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7456" y="1717357"/>
            <a:ext cx="4896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(n&lt;=1)</a:t>
            </a:r>
          </a:p>
          <a:p>
            <a:r>
              <a:rPr lang="en-IN" dirty="0"/>
              <a:t>		return 1;</a:t>
            </a:r>
          </a:p>
          <a:p>
            <a:r>
              <a:rPr lang="en-IN" dirty="0"/>
              <a:t>	else {</a:t>
            </a:r>
          </a:p>
          <a:p>
            <a:r>
              <a:rPr lang="en-IN" dirty="0"/>
              <a:t>		fact = 1;</a:t>
            </a:r>
          </a:p>
          <a:p>
            <a:r>
              <a:rPr lang="nn-NO" dirty="0"/>
              <a:t>		for (k=2; k&lt;=n; k++)</a:t>
            </a:r>
          </a:p>
          <a:p>
            <a:r>
              <a:rPr lang="en-IN" dirty="0"/>
              <a:t>		fact =fact* k;</a:t>
            </a:r>
          </a:p>
          <a:p>
            <a:r>
              <a:rPr lang="en-IN" dirty="0"/>
              <a:t>		return fact;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	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946A631-C3A5-C930-3594-93D8C5D1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37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</a:t>
            </a:r>
          </a:p>
        </p:txBody>
      </p:sp>
      <p:sp>
        <p:nvSpPr>
          <p:cNvPr id="10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Let T(n) be </a:t>
            </a:r>
            <a:r>
              <a:rPr lang="en-US" sz="2800" u="sng" dirty="0"/>
              <a:t>a monotonically increasing</a:t>
            </a:r>
            <a:r>
              <a:rPr lang="en-US" sz="2800" dirty="0"/>
              <a:t> function that satisfies</a:t>
            </a:r>
          </a:p>
          <a:p>
            <a:pPr>
              <a:buFont typeface="Arial" charset="0"/>
              <a:buNone/>
            </a:pPr>
            <a:r>
              <a:rPr lang="en-US" sz="2800" dirty="0"/>
              <a:t>                    T(n) = a T(n/b) + f(n)</a:t>
            </a:r>
          </a:p>
          <a:p>
            <a:pPr>
              <a:buFont typeface="Arial" charset="0"/>
              <a:buNone/>
            </a:pPr>
            <a:r>
              <a:rPr lang="en-US" sz="2800" dirty="0"/>
              <a:t>                    T(1) = c</a:t>
            </a:r>
          </a:p>
          <a:p>
            <a:pPr>
              <a:buFont typeface="Arial" charset="0"/>
              <a:buNone/>
            </a:pPr>
            <a:r>
              <a:rPr lang="en-US" sz="2800" dirty="0"/>
              <a:t>	where a </a:t>
            </a:r>
            <a:r>
              <a:rPr lang="en-US" sz="2800" dirty="0">
                <a:sym typeface="Symbol" pitchFamily="18" charset="2"/>
              </a:rPr>
              <a:t> </a:t>
            </a:r>
            <a:r>
              <a:rPr lang="en-US" sz="2800" dirty="0"/>
              <a:t>1, b</a:t>
            </a:r>
            <a:r>
              <a:rPr lang="en-US" sz="2800" dirty="0">
                <a:sym typeface="Symbol" pitchFamily="18" charset="2"/>
              </a:rPr>
              <a:t>  </a:t>
            </a:r>
            <a:r>
              <a:rPr lang="en-US" sz="2800" dirty="0"/>
              <a:t>2, c&gt;0.  If f(n) is </a:t>
            </a:r>
            <a:r>
              <a:rPr lang="en-US" sz="2800" dirty="0">
                <a:sym typeface="Symbol" pitchFamily="18" charset="2"/>
              </a:rPr>
              <a:t></a:t>
            </a:r>
            <a:r>
              <a:rPr lang="en-US" sz="2800" dirty="0"/>
              <a:t>(</a:t>
            </a:r>
            <a:r>
              <a:rPr lang="en-US" sz="2800" dirty="0" err="1"/>
              <a:t>n</a:t>
            </a:r>
            <a:r>
              <a:rPr lang="en-US" sz="2800" baseline="30000" dirty="0" err="1"/>
              <a:t>d</a:t>
            </a:r>
            <a:r>
              <a:rPr lang="en-US" sz="2800" dirty="0"/>
              <a:t>) where d</a:t>
            </a:r>
            <a:r>
              <a:rPr lang="en-US" sz="2800" dirty="0">
                <a:sym typeface="Symbol" pitchFamily="18" charset="2"/>
              </a:rPr>
              <a:t>  </a:t>
            </a:r>
            <a:r>
              <a:rPr lang="en-US" sz="2800" dirty="0"/>
              <a:t>0 then</a:t>
            </a:r>
          </a:p>
          <a:p>
            <a:pPr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4763" y="4572000"/>
          <a:ext cx="67262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26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53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8097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if a &lt;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2400" b="0" baseline="30000" dirty="0" err="1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4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T(n)</a:t>
                      </a:r>
                      <a:r>
                        <a:rPr lang="en-US" sz="2400" dirty="0"/>
                        <a:t> =</a:t>
                      </a: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If a =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2400" b="0" baseline="30000" dirty="0" err="1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4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if 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a &gt;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b</a:t>
                      </a:r>
                      <a:r>
                        <a:rPr kumimoji="0" lang="en-US" sz="24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d</a:t>
                      </a:r>
                      <a:endParaRPr lang="en-US" sz="24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3733800" y="4572000"/>
            <a:ext cx="381000" cy="12192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26" name="Object 26"/>
          <p:cNvGraphicFramePr>
            <a:graphicFrameLocks noChangeAspect="1"/>
          </p:cNvGraphicFramePr>
          <p:nvPr/>
        </p:nvGraphicFramePr>
        <p:xfrm>
          <a:off x="4419600" y="5562600"/>
          <a:ext cx="11414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Formula" r:id="rId3" imgW="576720" imgH="196920" progId="Equation.Ribbit">
                  <p:embed/>
                </p:oleObj>
              </mc:Choice>
              <mc:Fallback>
                <p:oleObj name="Formula" r:id="rId3" imgW="57672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562600"/>
                        <a:ext cx="114141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7"/>
          <p:cNvGraphicFramePr>
            <a:graphicFrameLocks noChangeAspect="1"/>
          </p:cNvGraphicFramePr>
          <p:nvPr/>
        </p:nvGraphicFramePr>
        <p:xfrm>
          <a:off x="4400550" y="5029200"/>
          <a:ext cx="13906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Formula" r:id="rId5" imgW="702360" imgH="196920" progId="Equation.Ribbit">
                  <p:embed/>
                </p:oleObj>
              </mc:Choice>
              <mc:Fallback>
                <p:oleObj name="Formula" r:id="rId5" imgW="70236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5029200"/>
                        <a:ext cx="13906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28"/>
          <p:cNvGraphicFramePr>
            <a:graphicFrameLocks noChangeAspect="1"/>
          </p:cNvGraphicFramePr>
          <p:nvPr/>
        </p:nvGraphicFramePr>
        <p:xfrm>
          <a:off x="4368800" y="4487863"/>
          <a:ext cx="7366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Formula" r:id="rId7" imgW="371160" imgH="196920" progId="Equation.Ribbit">
                  <p:embed/>
                </p:oleObj>
              </mc:Choice>
              <mc:Fallback>
                <p:oleObj name="Formula" r:id="rId7" imgW="37116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4487863"/>
                        <a:ext cx="7366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B20CE1B-A0D0-70E2-D30B-E0B8EBCB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Analysis of Merge Sort</a:t>
            </a:r>
          </a:p>
        </p:txBody>
      </p:sp>
      <p:sp>
        <p:nvSpPr>
          <p:cNvPr id="73933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r>
              <a:rPr lang="en-US" u="sng"/>
              <a:t>Statement			Effort</a:t>
            </a: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r>
              <a:rPr lang="en-US" sz="2800"/>
              <a:t>So T(n) = 	</a:t>
            </a:r>
            <a:r>
              <a:rPr lang="en-US" sz="2800">
                <a:sym typeface="Symbol" pitchFamily="18" charset="2"/>
              </a:rPr>
              <a:t>(1) when n = 1, and 	             	</a:t>
            </a:r>
            <a:r>
              <a:rPr lang="en-US" sz="2800"/>
              <a:t>2T(n/2) + </a:t>
            </a:r>
            <a:r>
              <a:rPr lang="en-US" sz="2800">
                <a:sym typeface="Symbol" pitchFamily="18" charset="2"/>
              </a:rPr>
              <a:t>(n) when n &gt; 1</a:t>
            </a:r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r>
              <a:rPr lang="en-US" sz="2800">
                <a:sym typeface="Symbol" pitchFamily="18" charset="2"/>
              </a:rPr>
              <a:t>This expression is a </a:t>
            </a:r>
            <a:r>
              <a:rPr lang="en-US" sz="2800" i="1">
                <a:solidFill>
                  <a:schemeClr val="tx2"/>
                </a:solidFill>
                <a:sym typeface="Symbol" pitchFamily="18" charset="2"/>
              </a:rPr>
              <a:t>recurrence</a:t>
            </a:r>
            <a:endParaRPr lang="en-US" sz="2800">
              <a:solidFill>
                <a:schemeClr val="tx2"/>
              </a:solidFill>
              <a:sym typeface="Symbol" pitchFamily="18" charset="2"/>
            </a:endParaRPr>
          </a:p>
        </p:txBody>
      </p:sp>
      <p:sp>
        <p:nvSpPr>
          <p:cNvPr id="739332" name="Rectangle 1028"/>
          <p:cNvSpPr>
            <a:spLocks noChangeArrowheads="1"/>
          </p:cNvSpPr>
          <p:nvPr/>
        </p:nvSpPr>
        <p:spPr bwMode="auto">
          <a:xfrm>
            <a:off x="457200" y="2117725"/>
            <a:ext cx="82296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MergeSort(A, left, right) {	T(n)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if (left &lt; right) {	</a:t>
            </a:r>
            <a:r>
              <a:rPr lang="en-US" b="1" i="0">
                <a:latin typeface="Courier New" pitchFamily="49" charset="0"/>
                <a:sym typeface="Symbol" pitchFamily="18" charset="2"/>
              </a:rPr>
              <a:t>(1)</a:t>
            </a:r>
            <a:endParaRPr lang="en-US" b="1" i="0">
              <a:latin typeface="Courier New" pitchFamily="49" charset="0"/>
            </a:endParaRP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mid = floor((left + right) / 2);	   </a:t>
            </a:r>
            <a:r>
              <a:rPr lang="en-US" b="1" i="0">
                <a:latin typeface="Courier New" pitchFamily="49" charset="0"/>
                <a:sym typeface="Symbol" pitchFamily="18" charset="2"/>
              </a:rPr>
              <a:t>(1)</a:t>
            </a:r>
            <a:endParaRPr lang="en-US" b="1" i="0">
              <a:latin typeface="Courier New" pitchFamily="49" charset="0"/>
            </a:endParaRP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MergeSort(A, left, mid);	   T(n/2)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MergeSort(A, mid+1, right);	   T(n/2)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Merge(A, left, mid, right);	   </a:t>
            </a:r>
            <a:r>
              <a:rPr lang="en-US" b="1" i="0">
                <a:latin typeface="Courier New" pitchFamily="49" charset="0"/>
                <a:sym typeface="Symbol" pitchFamily="18" charset="2"/>
              </a:rPr>
              <a:t>(n)</a:t>
            </a:r>
            <a:endParaRPr lang="en-US" b="1" i="0">
              <a:latin typeface="Courier New" pitchFamily="49" charset="0"/>
            </a:endParaRP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}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7A67B83-09F7-9C75-7F23-532F5BAE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25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Theorem: Example 1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4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Let T(n) = T(n/2) + ½ n</a:t>
            </a:r>
            <a:r>
              <a:rPr lang="en-US" sz="2000" baseline="30000" dirty="0"/>
              <a:t>2</a:t>
            </a:r>
            <a:r>
              <a:rPr lang="en-US" sz="2000" dirty="0"/>
              <a:t> + n.  What are the parameters?</a:t>
            </a:r>
          </a:p>
          <a:p>
            <a:pPr>
              <a:buFont typeface="Arial" charset="0"/>
              <a:buNone/>
            </a:pPr>
            <a:r>
              <a:rPr lang="en-US" sz="2000" dirty="0"/>
              <a:t>	          a =</a:t>
            </a:r>
          </a:p>
          <a:p>
            <a:pPr>
              <a:buFont typeface="Arial" charset="0"/>
              <a:buNone/>
            </a:pPr>
            <a:r>
              <a:rPr lang="en-US" sz="2000" dirty="0"/>
              <a:t>	          b =</a:t>
            </a:r>
          </a:p>
          <a:p>
            <a:pPr>
              <a:buFont typeface="Arial" charset="0"/>
              <a:buNone/>
            </a:pPr>
            <a:r>
              <a:rPr lang="en-US" sz="2000" dirty="0"/>
              <a:t>	          d =</a:t>
            </a:r>
          </a:p>
          <a:p>
            <a:pPr>
              <a:buFont typeface="Arial" charset="0"/>
              <a:buNone/>
            </a:pPr>
            <a:r>
              <a:rPr lang="en-US" sz="2000" dirty="0"/>
              <a:t>	Therefore, which condition applies?</a:t>
            </a:r>
            <a:r>
              <a:rPr lang="en-US" dirty="0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905000" y="19812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05000" y="2286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00" y="2667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657600"/>
            <a:ext cx="640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 &lt; 2</a:t>
            </a:r>
            <a:r>
              <a:rPr lang="en-US" sz="2000" baseline="30000" dirty="0">
                <a:latin typeface="+mn-lt"/>
                <a:cs typeface="+mn-cs"/>
              </a:rPr>
              <a:t>2</a:t>
            </a:r>
            <a:r>
              <a:rPr lang="en-US" sz="2000" dirty="0">
                <a:latin typeface="+mn-lt"/>
                <a:cs typeface="+mn-cs"/>
              </a:rPr>
              <a:t>, case 1 applies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1910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We conclude that</a:t>
            </a:r>
          </a:p>
          <a:p>
            <a:pPr marL="342900" indent="-342900" algn="ctr" eaLnBrk="0" hangingPunct="0">
              <a:spcBef>
                <a:spcPct val="20000"/>
              </a:spcBef>
              <a:defRPr/>
            </a:pPr>
            <a:r>
              <a:rPr lang="en-US" sz="2800" dirty="0">
                <a:latin typeface="+mn-lt"/>
                <a:cs typeface="+mn-cs"/>
              </a:rPr>
              <a:t>T(n) </a:t>
            </a:r>
            <a:r>
              <a:rPr lang="en-US" sz="2800" dirty="0">
                <a:latin typeface="+mn-lt"/>
                <a:cs typeface="+mn-cs"/>
                <a:sym typeface="Symbol"/>
              </a:rPr>
              <a:t> </a:t>
            </a:r>
            <a:r>
              <a:rPr lang="en-US" sz="2800" dirty="0">
                <a:latin typeface="+mn-lt"/>
                <a:cs typeface="+mn-cs"/>
              </a:rPr>
              <a:t>(</a:t>
            </a:r>
            <a:r>
              <a:rPr lang="en-US" sz="2800" dirty="0" err="1">
                <a:latin typeface="+mn-lt"/>
                <a:cs typeface="+mn-cs"/>
              </a:rPr>
              <a:t>n</a:t>
            </a:r>
            <a:r>
              <a:rPr lang="en-US" sz="2800" baseline="30000" dirty="0" err="1">
                <a:latin typeface="+mn-lt"/>
                <a:cs typeface="+mn-cs"/>
              </a:rPr>
              <a:t>d</a:t>
            </a:r>
            <a:r>
              <a:rPr lang="en-US" sz="2800" dirty="0">
                <a:latin typeface="+mn-lt"/>
                <a:cs typeface="+mn-cs"/>
              </a:rPr>
              <a:t>) = </a:t>
            </a:r>
            <a:r>
              <a:rPr lang="en-US" sz="2800" dirty="0">
                <a:latin typeface="+mn-lt"/>
                <a:sym typeface="Symbol"/>
              </a:rPr>
              <a:t> </a:t>
            </a:r>
            <a:r>
              <a:rPr lang="en-US" sz="2800" dirty="0">
                <a:latin typeface="+mn-lt"/>
                <a:cs typeface="+mn-cs"/>
              </a:rPr>
              <a:t>(n</a:t>
            </a:r>
            <a:r>
              <a:rPr lang="en-US" sz="2800" baseline="30000" dirty="0">
                <a:latin typeface="+mn-lt"/>
                <a:cs typeface="+mn-cs"/>
              </a:rPr>
              <a:t>2</a:t>
            </a:r>
            <a:r>
              <a:rPr lang="en-US" sz="2800" dirty="0">
                <a:latin typeface="+mn-lt"/>
                <a:cs typeface="+mn-cs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68134BC-2A4E-00A4-4084-76217157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4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Theorem: Example 2</a:t>
            </a:r>
          </a:p>
        </p:txBody>
      </p:sp>
      <p:sp>
        <p:nvSpPr>
          <p:cNvPr id="307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400"/>
          </a:xfrm>
        </p:spPr>
        <p:txBody>
          <a:bodyPr>
            <a:normAutofit lnSpcReduction="10000"/>
          </a:bodyPr>
          <a:lstStyle/>
          <a:p>
            <a:r>
              <a:rPr lang="en-US" sz="2000"/>
              <a:t>Let T(n)= 2 T(n/4) + </a:t>
            </a:r>
            <a:r>
              <a:rPr lang="en-US" sz="2000">
                <a:sym typeface="Symbol" pitchFamily="18" charset="2"/>
              </a:rPr>
              <a:t></a:t>
            </a:r>
            <a:r>
              <a:rPr lang="en-US" sz="2000"/>
              <a:t>n + 42.  What are the parameters?</a:t>
            </a:r>
          </a:p>
          <a:p>
            <a:pPr>
              <a:buFont typeface="Arial" charset="0"/>
              <a:buNone/>
            </a:pPr>
            <a:r>
              <a:rPr lang="en-US" sz="2000"/>
              <a:t>	          a =</a:t>
            </a:r>
          </a:p>
          <a:p>
            <a:pPr>
              <a:buFont typeface="Arial" charset="0"/>
              <a:buNone/>
            </a:pPr>
            <a:r>
              <a:rPr lang="en-US" sz="2000"/>
              <a:t>	          b =</a:t>
            </a:r>
          </a:p>
          <a:p>
            <a:pPr>
              <a:buFont typeface="Arial" charset="0"/>
              <a:buNone/>
            </a:pPr>
            <a:r>
              <a:rPr lang="en-US" sz="2000"/>
              <a:t>	          d =</a:t>
            </a:r>
          </a:p>
          <a:p>
            <a:pPr>
              <a:buFont typeface="Arial" charset="0"/>
              <a:buNone/>
            </a:pPr>
            <a:r>
              <a:rPr lang="en-US" sz="2000"/>
              <a:t>	Therefore, which condition applies?</a:t>
            </a:r>
            <a:r>
              <a:rPr lang="en-US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905000" y="19812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05000" y="2286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4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00" y="26670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1/2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657600"/>
            <a:ext cx="640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 = 4</a:t>
            </a:r>
            <a:r>
              <a:rPr lang="en-US" sz="2000" baseline="30000" dirty="0">
                <a:latin typeface="+mn-lt"/>
                <a:cs typeface="+mn-cs"/>
              </a:rPr>
              <a:t>1/2</a:t>
            </a:r>
            <a:r>
              <a:rPr lang="en-US" sz="2000" dirty="0">
                <a:latin typeface="+mn-lt"/>
                <a:cs typeface="+mn-cs"/>
              </a:rPr>
              <a:t>, case 2 applies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1910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We conclude that</a:t>
            </a: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/>
        </p:nvGraphicFramePr>
        <p:xfrm>
          <a:off x="2578100" y="4724400"/>
          <a:ext cx="3975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Formula" r:id="rId3" imgW="2005560" imgH="190800" progId="Equation.Ribbit">
                  <p:embed/>
                </p:oleObj>
              </mc:Choice>
              <mc:Fallback>
                <p:oleObj name="Formula" r:id="rId3" imgW="2005560" imgH="19080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724400"/>
                        <a:ext cx="39751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0BD6AAC-5CA3-C414-770B-40332FB5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33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Theorem: Example 3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400"/>
          </a:xfrm>
        </p:spPr>
        <p:txBody>
          <a:bodyPr>
            <a:normAutofit lnSpcReduction="10000"/>
          </a:bodyPr>
          <a:lstStyle/>
          <a:p>
            <a:r>
              <a:rPr lang="en-US" sz="2000"/>
              <a:t>Let T(n)= 3 T(n/2) + </a:t>
            </a:r>
            <a:r>
              <a:rPr lang="en-US" sz="2000">
                <a:sym typeface="Symbol" pitchFamily="18" charset="2"/>
              </a:rPr>
              <a:t>3/4</a:t>
            </a:r>
            <a:r>
              <a:rPr lang="en-US" sz="2000"/>
              <a:t>n + 1.  What are the parameters?</a:t>
            </a:r>
          </a:p>
          <a:p>
            <a:pPr>
              <a:buFont typeface="Arial" charset="0"/>
              <a:buNone/>
            </a:pPr>
            <a:r>
              <a:rPr lang="en-US" sz="2000"/>
              <a:t>	          a =</a:t>
            </a:r>
          </a:p>
          <a:p>
            <a:pPr>
              <a:buFont typeface="Arial" charset="0"/>
              <a:buNone/>
            </a:pPr>
            <a:r>
              <a:rPr lang="en-US" sz="2000"/>
              <a:t>	          b =</a:t>
            </a:r>
          </a:p>
          <a:p>
            <a:pPr>
              <a:buFont typeface="Arial" charset="0"/>
              <a:buNone/>
            </a:pPr>
            <a:r>
              <a:rPr lang="en-US" sz="2000"/>
              <a:t>	          d =</a:t>
            </a:r>
          </a:p>
          <a:p>
            <a:pPr>
              <a:buFont typeface="Arial" charset="0"/>
              <a:buNone/>
            </a:pPr>
            <a:r>
              <a:rPr lang="en-US" sz="2000"/>
              <a:t>	Therefore, which condition applies?</a:t>
            </a:r>
            <a:r>
              <a:rPr lang="en-US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905000" y="19812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3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05000" y="2286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00" y="26670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657600"/>
            <a:ext cx="640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3 &gt; 2</a:t>
            </a:r>
            <a:r>
              <a:rPr lang="en-US" sz="2000" baseline="30000" dirty="0">
                <a:latin typeface="+mn-lt"/>
                <a:cs typeface="+mn-cs"/>
              </a:rPr>
              <a:t>1</a:t>
            </a:r>
            <a:r>
              <a:rPr lang="en-US" sz="2000" dirty="0">
                <a:latin typeface="+mn-lt"/>
                <a:cs typeface="+mn-cs"/>
              </a:rPr>
              <a:t>, case 3 applies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1910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We conclude that</a:t>
            </a:r>
          </a:p>
        </p:txBody>
      </p:sp>
      <p:graphicFrame>
        <p:nvGraphicFramePr>
          <p:cNvPr id="4098" name="Object 11"/>
          <p:cNvGraphicFramePr>
            <a:graphicFrameLocks noChangeAspect="1"/>
          </p:cNvGraphicFramePr>
          <p:nvPr/>
        </p:nvGraphicFramePr>
        <p:xfrm>
          <a:off x="2895600" y="4572000"/>
          <a:ext cx="35179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Formula" r:id="rId3" imgW="1774440" imgH="190800" progId="Equation.Ribbit">
                  <p:embed/>
                </p:oleObj>
              </mc:Choice>
              <mc:Fallback>
                <p:oleObj name="Formula" r:id="rId3" imgW="1774440" imgH="19080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2000"/>
                        <a:ext cx="35179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DFED830-E235-70BF-56B3-58294228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65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794</Words>
  <Application>Microsoft Office PowerPoint</Application>
  <PresentationFormat>On-screen Show (4:3)</PresentationFormat>
  <Paragraphs>1310</Paragraphs>
  <Slides>104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6" baseType="lpstr">
      <vt:lpstr>Office Theme</vt:lpstr>
      <vt:lpstr>Formula</vt:lpstr>
      <vt:lpstr>Deriving Time Complexity</vt:lpstr>
      <vt:lpstr>Algorithms for computing the Factorial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Algorithms for computing the Factorial</vt:lpstr>
      <vt:lpstr>Master Theorem</vt:lpstr>
      <vt:lpstr>Review: Analysis of Merge Sort</vt:lpstr>
      <vt:lpstr>Master Theorem: Example 1</vt:lpstr>
      <vt:lpstr>Master Theorem: Example 2</vt:lpstr>
      <vt:lpstr>Master Theorem: Example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12</cp:revision>
  <dcterms:created xsi:type="dcterms:W3CDTF">2022-12-19T05:58:44Z</dcterms:created>
  <dcterms:modified xsi:type="dcterms:W3CDTF">2022-12-20T07:00:29Z</dcterms:modified>
</cp:coreProperties>
</file>