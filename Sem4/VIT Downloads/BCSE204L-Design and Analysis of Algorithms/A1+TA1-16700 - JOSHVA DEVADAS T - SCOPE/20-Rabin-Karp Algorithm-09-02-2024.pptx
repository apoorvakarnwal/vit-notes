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326" r:id="rId3"/>
    <p:sldId id="294" r:id="rId4"/>
    <p:sldId id="295" r:id="rId5"/>
    <p:sldId id="296" r:id="rId6"/>
    <p:sldId id="297" r:id="rId7"/>
    <p:sldId id="298" r:id="rId8"/>
    <p:sldId id="299" r:id="rId9"/>
    <p:sldId id="300" r:id="rId10"/>
    <p:sldId id="301" r:id="rId11"/>
    <p:sldId id="302" r:id="rId12"/>
    <p:sldId id="305" r:id="rId13"/>
    <p:sldId id="306" r:id="rId14"/>
    <p:sldId id="307" r:id="rId15"/>
    <p:sldId id="308" r:id="rId16"/>
    <p:sldId id="309" r:id="rId17"/>
    <p:sldId id="310" r:id="rId18"/>
    <p:sldId id="311" r:id="rId19"/>
    <p:sldId id="313" r:id="rId20"/>
    <p:sldId id="314" r:id="rId21"/>
    <p:sldId id="315" r:id="rId22"/>
    <p:sldId id="31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66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0B694D3-3492-4C52-A047-D56125F058F1}" type="datetimeFigureOut">
              <a:rPr lang="en-US" smtClean="0"/>
              <a:t>3/25/2023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17872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599" y="156579"/>
            <a:ext cx="11754853" cy="485106"/>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228599" y="802105"/>
            <a:ext cx="11754853" cy="5919370"/>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0B694D3-3492-4C52-A047-D56125F058F1}" type="datetimeFigureOut">
              <a:rPr lang="en-US" smtClean="0"/>
              <a:t>3/25/2023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251824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B694D3-3492-4C52-A047-D56125F058F1}" type="datetimeFigureOut">
              <a:rPr lang="en-US" smtClean="0"/>
              <a:t>3/25/2023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3121204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0B694D3-3492-4C52-A047-D56125F058F1}" type="datetimeFigureOut">
              <a:rPr lang="en-US" smtClean="0"/>
              <a:t>3/25/2023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2113814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B694D3-3492-4C52-A047-D56125F058F1}" type="datetimeFigureOut">
              <a:rPr lang="en-US" smtClean="0"/>
              <a:t>3/25/2023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738859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0B694D3-3492-4C52-A047-D56125F058F1}" type="datetimeFigureOut">
              <a:rPr lang="en-US" smtClean="0"/>
              <a:t>3/25/2023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1632989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B694D3-3492-4C52-A047-D56125F058F1}" type="datetimeFigureOut">
              <a:rPr lang="en-US" smtClean="0"/>
              <a:t>3/25/2023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1133306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B694D3-3492-4C52-A047-D56125F058F1}" type="datetimeFigureOut">
              <a:rPr lang="en-US" smtClean="0"/>
              <a:t>3/25/2023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2198725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B694D3-3492-4C52-A047-D56125F058F1}" type="datetimeFigureOut">
              <a:rPr lang="en-US" smtClean="0"/>
              <a:t>3/25/2023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1766647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B694D3-3492-4C52-A047-D56125F058F1}" type="datetimeFigureOut">
              <a:rPr lang="en-US" smtClean="0"/>
              <a:t>3/25/2023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2126952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B694D3-3492-4C52-A047-D56125F058F1}" type="datetimeFigureOut">
              <a:rPr lang="en-US" smtClean="0"/>
              <a:t>3/25/2023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5C0DA-9C2F-42E5-85BD-333016487A01}" type="slidenum">
              <a:rPr lang="en-US" smtClean="0"/>
              <a:t>‹#›</a:t>
            </a:fld>
            <a:endParaRPr lang="en-US"/>
          </a:p>
        </p:txBody>
      </p:sp>
    </p:spTree>
    <p:extLst>
      <p:ext uri="{BB962C8B-B14F-4D97-AF65-F5344CB8AC3E}">
        <p14:creationId xmlns:p14="http://schemas.microsoft.com/office/powerpoint/2010/main" val="4186872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xmlns="" id="{F0C7CF9C-036B-891C-2BBB-034DE873F49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2F9F5593-3252-9108-1216-75176C932E6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FA2DCDF9-0692-D7FA-D584-DDB9F2823731}"/>
              </a:ext>
            </a:extLst>
          </p:cNvPr>
          <p:cNvSpPr>
            <a:spLocks noGrp="1" noChangeArrowheads="1"/>
          </p:cNvSpPr>
          <p:nvPr>
            <p:ph type="sldNum" sz="quarter" idx="12"/>
          </p:nvPr>
        </p:nvSpPr>
        <p:spPr>
          <a:ln/>
        </p:spPr>
        <p:txBody>
          <a:bodyPr/>
          <a:lstStyle>
            <a:lvl1pPr>
              <a:defRPr/>
            </a:lvl1pPr>
          </a:lstStyle>
          <a:p>
            <a:fld id="{CEDA2EDF-3085-4CF0-971B-6ED9C928D01F}" type="slidenum">
              <a:rPr lang="en-US" altLang="en-US"/>
              <a:pPr/>
              <a:t>‹#›</a:t>
            </a:fld>
            <a:endParaRPr lang="en-US" altLang="en-US"/>
          </a:p>
        </p:txBody>
      </p:sp>
    </p:spTree>
    <p:extLst>
      <p:ext uri="{BB962C8B-B14F-4D97-AF65-F5344CB8AC3E}">
        <p14:creationId xmlns:p14="http://schemas.microsoft.com/office/powerpoint/2010/main" val="3778942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18ED2F62-4E70-F29C-3BE3-9E4DD23D74F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4D3B3559-77FD-9DF0-AD4F-168AB0CD60E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25A70D4C-D9DF-ADA1-A559-A6403B55A242}"/>
              </a:ext>
            </a:extLst>
          </p:cNvPr>
          <p:cNvSpPr>
            <a:spLocks noGrp="1" noChangeArrowheads="1"/>
          </p:cNvSpPr>
          <p:nvPr>
            <p:ph type="sldNum" sz="quarter" idx="12"/>
          </p:nvPr>
        </p:nvSpPr>
        <p:spPr>
          <a:ln/>
        </p:spPr>
        <p:txBody>
          <a:bodyPr/>
          <a:lstStyle>
            <a:lvl1pPr>
              <a:defRPr/>
            </a:lvl1pPr>
          </a:lstStyle>
          <a:p>
            <a:fld id="{6336B38E-A4FD-4DC6-A435-D88E9A327681}" type="slidenum">
              <a:rPr lang="en-US" altLang="en-US"/>
              <a:pPr/>
              <a:t>‹#›</a:t>
            </a:fld>
            <a:endParaRPr lang="en-US" altLang="en-US"/>
          </a:p>
        </p:txBody>
      </p:sp>
    </p:spTree>
    <p:extLst>
      <p:ext uri="{BB962C8B-B14F-4D97-AF65-F5344CB8AC3E}">
        <p14:creationId xmlns:p14="http://schemas.microsoft.com/office/powerpoint/2010/main" val="906822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xmlns="" id="{64007B79-7A31-6712-906D-BA03242C541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7E0F0D6F-C98E-AA0B-F387-905A292426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49413579-FC9B-7431-D723-985D417E95E3}"/>
              </a:ext>
            </a:extLst>
          </p:cNvPr>
          <p:cNvSpPr>
            <a:spLocks noGrp="1" noChangeArrowheads="1"/>
          </p:cNvSpPr>
          <p:nvPr>
            <p:ph type="sldNum" sz="quarter" idx="12"/>
          </p:nvPr>
        </p:nvSpPr>
        <p:spPr>
          <a:ln/>
        </p:spPr>
        <p:txBody>
          <a:bodyPr/>
          <a:lstStyle>
            <a:lvl1pPr>
              <a:defRPr/>
            </a:lvl1pPr>
          </a:lstStyle>
          <a:p>
            <a:fld id="{92F5B450-DE2F-43A6-B62E-120BB392315B}" type="slidenum">
              <a:rPr lang="en-US" altLang="en-US"/>
              <a:pPr/>
              <a:t>‹#›</a:t>
            </a:fld>
            <a:endParaRPr lang="en-US" altLang="en-US"/>
          </a:p>
        </p:txBody>
      </p:sp>
    </p:spTree>
    <p:extLst>
      <p:ext uri="{BB962C8B-B14F-4D97-AF65-F5344CB8AC3E}">
        <p14:creationId xmlns:p14="http://schemas.microsoft.com/office/powerpoint/2010/main" val="1514823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xmlns="" id="{F652E399-9847-D2C7-33D3-67CB407FDCB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xmlns="" id="{3DD7268F-3839-1A2E-EF68-2D79EE02ED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xmlns="" id="{0F2ED0C9-92D6-E6AD-870E-E6D4BBC07239}"/>
              </a:ext>
            </a:extLst>
          </p:cNvPr>
          <p:cNvSpPr>
            <a:spLocks noGrp="1" noChangeArrowheads="1"/>
          </p:cNvSpPr>
          <p:nvPr>
            <p:ph type="sldNum" sz="quarter" idx="12"/>
          </p:nvPr>
        </p:nvSpPr>
        <p:spPr>
          <a:ln/>
        </p:spPr>
        <p:txBody>
          <a:bodyPr/>
          <a:lstStyle>
            <a:lvl1pPr>
              <a:defRPr/>
            </a:lvl1pPr>
          </a:lstStyle>
          <a:p>
            <a:fld id="{C88BE528-352B-4929-A4CD-794355B96C52}" type="slidenum">
              <a:rPr lang="en-US" altLang="en-US"/>
              <a:pPr/>
              <a:t>‹#›</a:t>
            </a:fld>
            <a:endParaRPr lang="en-US" altLang="en-US"/>
          </a:p>
        </p:txBody>
      </p:sp>
    </p:spTree>
    <p:extLst>
      <p:ext uri="{BB962C8B-B14F-4D97-AF65-F5344CB8AC3E}">
        <p14:creationId xmlns:p14="http://schemas.microsoft.com/office/powerpoint/2010/main" val="2829019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xmlns="" id="{FB03C178-13E6-FA0C-E39B-CB56DE8CC20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xmlns="" id="{6F7AB091-A1A4-5DC8-FA8D-383EBDEB1DA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xmlns="" id="{F6887458-0BD3-8498-7886-080E88B50798}"/>
              </a:ext>
            </a:extLst>
          </p:cNvPr>
          <p:cNvSpPr>
            <a:spLocks noGrp="1" noChangeArrowheads="1"/>
          </p:cNvSpPr>
          <p:nvPr>
            <p:ph type="sldNum" sz="quarter" idx="12"/>
          </p:nvPr>
        </p:nvSpPr>
        <p:spPr>
          <a:ln/>
        </p:spPr>
        <p:txBody>
          <a:bodyPr/>
          <a:lstStyle>
            <a:lvl1pPr>
              <a:defRPr/>
            </a:lvl1pPr>
          </a:lstStyle>
          <a:p>
            <a:fld id="{60645A7A-8178-4CEF-BA8D-F68BE549A144}" type="slidenum">
              <a:rPr lang="en-US" altLang="en-US"/>
              <a:pPr/>
              <a:t>‹#›</a:t>
            </a:fld>
            <a:endParaRPr lang="en-US" altLang="en-US"/>
          </a:p>
        </p:txBody>
      </p:sp>
    </p:spTree>
    <p:extLst>
      <p:ext uri="{BB962C8B-B14F-4D97-AF65-F5344CB8AC3E}">
        <p14:creationId xmlns:p14="http://schemas.microsoft.com/office/powerpoint/2010/main" val="3980145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xmlns="" id="{20A3EFCE-C1F3-2964-F552-F1A67EE7447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xmlns="" id="{74A10300-F908-A2F1-F1B9-966D7FB1A40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xmlns="" id="{E1903952-5287-62A2-7333-CAB711ACB6A3}"/>
              </a:ext>
            </a:extLst>
          </p:cNvPr>
          <p:cNvSpPr>
            <a:spLocks noGrp="1" noChangeArrowheads="1"/>
          </p:cNvSpPr>
          <p:nvPr>
            <p:ph type="sldNum" sz="quarter" idx="12"/>
          </p:nvPr>
        </p:nvSpPr>
        <p:spPr>
          <a:ln/>
        </p:spPr>
        <p:txBody>
          <a:bodyPr/>
          <a:lstStyle>
            <a:lvl1pPr>
              <a:defRPr/>
            </a:lvl1pPr>
          </a:lstStyle>
          <a:p>
            <a:fld id="{FBAC36AA-2230-46FF-8D95-61F4C08C43B9}" type="slidenum">
              <a:rPr lang="en-US" altLang="en-US"/>
              <a:pPr/>
              <a:t>‹#›</a:t>
            </a:fld>
            <a:endParaRPr lang="en-US" altLang="en-US"/>
          </a:p>
        </p:txBody>
      </p:sp>
    </p:spTree>
    <p:extLst>
      <p:ext uri="{BB962C8B-B14F-4D97-AF65-F5344CB8AC3E}">
        <p14:creationId xmlns:p14="http://schemas.microsoft.com/office/powerpoint/2010/main" val="3130285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xmlns="" id="{C2B03FC2-E5E0-C7E8-40C2-38594B06140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xmlns="" id="{0354404C-CC5A-F8CF-826A-FB69006F9C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xmlns="" id="{46D50C21-91CA-A2E5-7DA4-74B7E593A22C}"/>
              </a:ext>
            </a:extLst>
          </p:cNvPr>
          <p:cNvSpPr>
            <a:spLocks noGrp="1" noChangeArrowheads="1"/>
          </p:cNvSpPr>
          <p:nvPr>
            <p:ph type="sldNum" sz="quarter" idx="12"/>
          </p:nvPr>
        </p:nvSpPr>
        <p:spPr>
          <a:ln/>
        </p:spPr>
        <p:txBody>
          <a:bodyPr/>
          <a:lstStyle>
            <a:lvl1pPr>
              <a:defRPr/>
            </a:lvl1pPr>
          </a:lstStyle>
          <a:p>
            <a:fld id="{4B7737D4-CB98-4432-9849-EC4A7067EBFA}" type="slidenum">
              <a:rPr lang="en-US" altLang="en-US"/>
              <a:pPr/>
              <a:t>‹#›</a:t>
            </a:fld>
            <a:endParaRPr lang="en-US" altLang="en-US"/>
          </a:p>
        </p:txBody>
      </p:sp>
    </p:spTree>
    <p:extLst>
      <p:ext uri="{BB962C8B-B14F-4D97-AF65-F5344CB8AC3E}">
        <p14:creationId xmlns:p14="http://schemas.microsoft.com/office/powerpoint/2010/main" val="13883019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xmlns="" id="{67963676-01BC-5450-F9EC-85FC7B6E773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xmlns="" id="{4CA12FB4-CA28-5720-6060-63EAC5DB4E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xmlns="" id="{A7907835-79FB-D08D-C68D-B1276F94444A}"/>
              </a:ext>
            </a:extLst>
          </p:cNvPr>
          <p:cNvSpPr>
            <a:spLocks noGrp="1" noChangeArrowheads="1"/>
          </p:cNvSpPr>
          <p:nvPr>
            <p:ph type="sldNum" sz="quarter" idx="12"/>
          </p:nvPr>
        </p:nvSpPr>
        <p:spPr>
          <a:ln/>
        </p:spPr>
        <p:txBody>
          <a:bodyPr/>
          <a:lstStyle>
            <a:lvl1pPr>
              <a:defRPr/>
            </a:lvl1pPr>
          </a:lstStyle>
          <a:p>
            <a:fld id="{551DA93F-E198-4098-A8FE-1B6D0F49C940}" type="slidenum">
              <a:rPr lang="en-US" altLang="en-US"/>
              <a:pPr/>
              <a:t>‹#›</a:t>
            </a:fld>
            <a:endParaRPr lang="en-US" altLang="en-US"/>
          </a:p>
        </p:txBody>
      </p:sp>
    </p:spTree>
    <p:extLst>
      <p:ext uri="{BB962C8B-B14F-4D97-AF65-F5344CB8AC3E}">
        <p14:creationId xmlns:p14="http://schemas.microsoft.com/office/powerpoint/2010/main" val="1736742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xmlns="" id="{171E9EE9-980D-D658-0ADC-CCA1660BA9E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xmlns="" id="{D89EEAE7-22D6-6FAE-256D-9E318D9E03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xmlns="" id="{BC7DCB6B-11BE-8547-4572-6FC30C47E43D}"/>
              </a:ext>
            </a:extLst>
          </p:cNvPr>
          <p:cNvSpPr>
            <a:spLocks noGrp="1" noChangeArrowheads="1"/>
          </p:cNvSpPr>
          <p:nvPr>
            <p:ph type="sldNum" sz="quarter" idx="12"/>
          </p:nvPr>
        </p:nvSpPr>
        <p:spPr>
          <a:ln/>
        </p:spPr>
        <p:txBody>
          <a:bodyPr/>
          <a:lstStyle>
            <a:lvl1pPr>
              <a:defRPr/>
            </a:lvl1pPr>
          </a:lstStyle>
          <a:p>
            <a:fld id="{D0949DA3-B566-4DB6-BC34-DF7D63B0DD61}" type="slidenum">
              <a:rPr lang="en-US" altLang="en-US"/>
              <a:pPr/>
              <a:t>‹#›</a:t>
            </a:fld>
            <a:endParaRPr lang="en-US" altLang="en-US"/>
          </a:p>
        </p:txBody>
      </p:sp>
    </p:spTree>
    <p:extLst>
      <p:ext uri="{BB962C8B-B14F-4D97-AF65-F5344CB8AC3E}">
        <p14:creationId xmlns:p14="http://schemas.microsoft.com/office/powerpoint/2010/main" val="2344635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02A8886F-067D-A1D7-FE69-98B1429EE01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36F1E118-611C-3BE5-0B3C-627BF6D3EE3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907D42A2-7D1B-5BF2-0E8B-60EB27A20789}"/>
              </a:ext>
            </a:extLst>
          </p:cNvPr>
          <p:cNvSpPr>
            <a:spLocks noGrp="1" noChangeArrowheads="1"/>
          </p:cNvSpPr>
          <p:nvPr>
            <p:ph type="sldNum" sz="quarter" idx="12"/>
          </p:nvPr>
        </p:nvSpPr>
        <p:spPr>
          <a:ln/>
        </p:spPr>
        <p:txBody>
          <a:bodyPr/>
          <a:lstStyle>
            <a:lvl1pPr>
              <a:defRPr/>
            </a:lvl1pPr>
          </a:lstStyle>
          <a:p>
            <a:fld id="{26C2C7AE-8831-4BA1-9E40-26EF1550B5AA}" type="slidenum">
              <a:rPr lang="en-US" altLang="en-US"/>
              <a:pPr/>
              <a:t>‹#›</a:t>
            </a:fld>
            <a:endParaRPr lang="en-US" altLang="en-US"/>
          </a:p>
        </p:txBody>
      </p:sp>
    </p:spTree>
    <p:extLst>
      <p:ext uri="{BB962C8B-B14F-4D97-AF65-F5344CB8AC3E}">
        <p14:creationId xmlns:p14="http://schemas.microsoft.com/office/powerpoint/2010/main" val="26616173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A9C5A1EA-FD31-82F9-A392-0183C3FC277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F9D166C3-1A31-F18D-0AB9-FA22CBCDC4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4333A687-BF80-768E-A072-F087963D73E4}"/>
              </a:ext>
            </a:extLst>
          </p:cNvPr>
          <p:cNvSpPr>
            <a:spLocks noGrp="1" noChangeArrowheads="1"/>
          </p:cNvSpPr>
          <p:nvPr>
            <p:ph type="sldNum" sz="quarter" idx="12"/>
          </p:nvPr>
        </p:nvSpPr>
        <p:spPr>
          <a:ln/>
        </p:spPr>
        <p:txBody>
          <a:bodyPr/>
          <a:lstStyle>
            <a:lvl1pPr>
              <a:defRPr/>
            </a:lvl1pPr>
          </a:lstStyle>
          <a:p>
            <a:fld id="{BADE6A8A-EE31-4B7D-8134-C392EEB85C6C}" type="slidenum">
              <a:rPr lang="en-US" altLang="en-US"/>
              <a:pPr/>
              <a:t>‹#›</a:t>
            </a:fld>
            <a:endParaRPr lang="en-US" altLang="en-US"/>
          </a:p>
        </p:txBody>
      </p:sp>
    </p:spTree>
    <p:extLst>
      <p:ext uri="{BB962C8B-B14F-4D97-AF65-F5344CB8AC3E}">
        <p14:creationId xmlns:p14="http://schemas.microsoft.com/office/powerpoint/2010/main" val="4038864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B694D3-3492-4C52-A047-D56125F058F1}" type="datetimeFigureOut">
              <a:rPr lang="en-US" smtClean="0"/>
              <a:t>3/25/2023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A5C0DA-9C2F-42E5-85BD-333016487A01}" type="slidenum">
              <a:rPr lang="en-US" smtClean="0"/>
              <a:t>‹#›</a:t>
            </a:fld>
            <a:endParaRPr lang="en-US"/>
          </a:p>
        </p:txBody>
      </p:sp>
    </p:spTree>
    <p:extLst>
      <p:ext uri="{BB962C8B-B14F-4D97-AF65-F5344CB8AC3E}">
        <p14:creationId xmlns:p14="http://schemas.microsoft.com/office/powerpoint/2010/main" val="27675036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0B843820-3E49-7D3C-6C5B-A1636A0DEEE1}"/>
              </a:ext>
            </a:extLst>
          </p:cNvPr>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0FA616CD-1D26-569E-B514-AA9F66097136}"/>
              </a:ext>
            </a:extLst>
          </p:cNvPr>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xmlns="" id="{ACD4E393-1054-905A-EE96-D0A8A2D1D5BD}"/>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01" charset="0"/>
                <a:ea typeface="+mn-ea"/>
              </a:defRPr>
            </a:lvl1pPr>
          </a:lstStyle>
          <a:p>
            <a:pPr>
              <a:defRPr/>
            </a:pPr>
            <a:endParaRPr lang="en-US"/>
          </a:p>
        </p:txBody>
      </p:sp>
      <p:sp>
        <p:nvSpPr>
          <p:cNvPr id="1029" name="Rectangle 5">
            <a:extLst>
              <a:ext uri="{FF2B5EF4-FFF2-40B4-BE49-F238E27FC236}">
                <a16:creationId xmlns:a16="http://schemas.microsoft.com/office/drawing/2014/main" xmlns="" id="{C05170AC-C70F-664D-1192-F18208C25F99}"/>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01" charset="0"/>
                <a:ea typeface="+mn-ea"/>
              </a:defRPr>
            </a:lvl1pPr>
          </a:lstStyle>
          <a:p>
            <a:pPr>
              <a:defRPr/>
            </a:pPr>
            <a:endParaRPr lang="en-US"/>
          </a:p>
        </p:txBody>
      </p:sp>
      <p:sp>
        <p:nvSpPr>
          <p:cNvPr id="1030" name="Rectangle 6">
            <a:extLst>
              <a:ext uri="{FF2B5EF4-FFF2-40B4-BE49-F238E27FC236}">
                <a16:creationId xmlns:a16="http://schemas.microsoft.com/office/drawing/2014/main" xmlns="" id="{3DCC8D07-3F55-2E6F-E0F0-10D693098188}"/>
              </a:ext>
            </a:extLst>
          </p:cNvPr>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B6F463E-DB70-4CE5-9B64-510081105E47}" type="slidenum">
              <a:rPr lang="en-US" altLang="en-US"/>
              <a:pPr/>
              <a:t>‹#›</a:t>
            </a:fld>
            <a:endParaRPr lang="en-US" altLang="en-US"/>
          </a:p>
        </p:txBody>
      </p:sp>
    </p:spTree>
    <p:extLst>
      <p:ext uri="{BB962C8B-B14F-4D97-AF65-F5344CB8AC3E}">
        <p14:creationId xmlns:p14="http://schemas.microsoft.com/office/powerpoint/2010/main" val="24337298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eaLnBrk="0" fontAlgn="base" hangingPunct="0">
        <a:spcBef>
          <a:spcPct val="0"/>
        </a:spcBef>
        <a:spcAft>
          <a:spcPct val="0"/>
        </a:spcAft>
        <a:defRPr sz="4400">
          <a:solidFill>
            <a:schemeClr val="tx2"/>
          </a:solidFill>
          <a:latin typeface="+mj-lt"/>
          <a:ea typeface="ＭＳ Ｐゴシック" pitchFamily="-101" charset="-128"/>
          <a:cs typeface="ＭＳ Ｐゴシック" pitchFamily="-101" charset="-128"/>
        </a:defRPr>
      </a:lvl1pPr>
      <a:lvl2pPr algn="ctr" rtl="0" eaLnBrk="0" fontAlgn="base" hangingPunct="0">
        <a:spcBef>
          <a:spcPct val="0"/>
        </a:spcBef>
        <a:spcAft>
          <a:spcPct val="0"/>
        </a:spcAft>
        <a:defRPr sz="4400">
          <a:solidFill>
            <a:schemeClr val="tx2"/>
          </a:solidFill>
          <a:latin typeface="Times" pitchFamily="-101" charset="0"/>
          <a:ea typeface="ＭＳ Ｐゴシック" pitchFamily="-101" charset="-128"/>
          <a:cs typeface="ＭＳ Ｐゴシック" pitchFamily="-101" charset="-128"/>
        </a:defRPr>
      </a:lvl2pPr>
      <a:lvl3pPr algn="ctr" rtl="0" eaLnBrk="0" fontAlgn="base" hangingPunct="0">
        <a:spcBef>
          <a:spcPct val="0"/>
        </a:spcBef>
        <a:spcAft>
          <a:spcPct val="0"/>
        </a:spcAft>
        <a:defRPr sz="4400">
          <a:solidFill>
            <a:schemeClr val="tx2"/>
          </a:solidFill>
          <a:latin typeface="Times" pitchFamily="-101" charset="0"/>
          <a:ea typeface="ＭＳ Ｐゴシック" pitchFamily="-101" charset="-128"/>
          <a:cs typeface="ＭＳ Ｐゴシック" pitchFamily="-101" charset="-128"/>
        </a:defRPr>
      </a:lvl3pPr>
      <a:lvl4pPr algn="ctr" rtl="0" eaLnBrk="0" fontAlgn="base" hangingPunct="0">
        <a:spcBef>
          <a:spcPct val="0"/>
        </a:spcBef>
        <a:spcAft>
          <a:spcPct val="0"/>
        </a:spcAft>
        <a:defRPr sz="4400">
          <a:solidFill>
            <a:schemeClr val="tx2"/>
          </a:solidFill>
          <a:latin typeface="Times" pitchFamily="-101" charset="0"/>
          <a:ea typeface="ＭＳ Ｐゴシック" pitchFamily="-101" charset="-128"/>
          <a:cs typeface="ＭＳ Ｐゴシック" pitchFamily="-101" charset="-128"/>
        </a:defRPr>
      </a:lvl4pPr>
      <a:lvl5pPr algn="ctr" rtl="0" eaLnBrk="0" fontAlgn="base" hangingPunct="0">
        <a:spcBef>
          <a:spcPct val="0"/>
        </a:spcBef>
        <a:spcAft>
          <a:spcPct val="0"/>
        </a:spcAft>
        <a:defRPr sz="4400">
          <a:solidFill>
            <a:schemeClr val="tx2"/>
          </a:solidFill>
          <a:latin typeface="Times" pitchFamily="-101" charset="0"/>
          <a:ea typeface="ＭＳ Ｐゴシック" pitchFamily="-101" charset="-128"/>
          <a:cs typeface="ＭＳ Ｐゴシック" pitchFamily="-101" charset="-128"/>
        </a:defRPr>
      </a:lvl5pPr>
      <a:lvl6pPr marL="457200" algn="ctr" rtl="0" fontAlgn="base">
        <a:spcBef>
          <a:spcPct val="0"/>
        </a:spcBef>
        <a:spcAft>
          <a:spcPct val="0"/>
        </a:spcAft>
        <a:defRPr sz="4400">
          <a:solidFill>
            <a:schemeClr val="tx2"/>
          </a:solidFill>
          <a:latin typeface="Times" pitchFamily="-101" charset="0"/>
        </a:defRPr>
      </a:lvl6pPr>
      <a:lvl7pPr marL="914400" algn="ctr" rtl="0" fontAlgn="base">
        <a:spcBef>
          <a:spcPct val="0"/>
        </a:spcBef>
        <a:spcAft>
          <a:spcPct val="0"/>
        </a:spcAft>
        <a:defRPr sz="4400">
          <a:solidFill>
            <a:schemeClr val="tx2"/>
          </a:solidFill>
          <a:latin typeface="Times" pitchFamily="-101" charset="0"/>
        </a:defRPr>
      </a:lvl7pPr>
      <a:lvl8pPr marL="1371600" algn="ctr" rtl="0" fontAlgn="base">
        <a:spcBef>
          <a:spcPct val="0"/>
        </a:spcBef>
        <a:spcAft>
          <a:spcPct val="0"/>
        </a:spcAft>
        <a:defRPr sz="4400">
          <a:solidFill>
            <a:schemeClr val="tx2"/>
          </a:solidFill>
          <a:latin typeface="Times" pitchFamily="-101" charset="0"/>
        </a:defRPr>
      </a:lvl8pPr>
      <a:lvl9pPr marL="1828800" algn="ctr" rtl="0" fontAlgn="base">
        <a:spcBef>
          <a:spcPct val="0"/>
        </a:spcBef>
        <a:spcAft>
          <a:spcPct val="0"/>
        </a:spcAft>
        <a:defRPr sz="4400">
          <a:solidFill>
            <a:schemeClr val="tx2"/>
          </a:solidFill>
          <a:latin typeface="Times" pitchFamily="-101"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itchFamily="-101" charset="-128"/>
          <a:cs typeface="ＭＳ Ｐゴシック" pitchFamily="-101"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1"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1"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1"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1"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1"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1"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1"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String Matching </a:t>
            </a:r>
            <a:r>
              <a:rPr lang="en-US" dirty="0" smtClean="0"/>
              <a:t>Algorithm</a:t>
            </a:r>
            <a:r>
              <a:rPr lang="en-IN" dirty="0"/>
              <a:t/>
            </a:r>
            <a:br>
              <a:rPr lang="en-IN" dirty="0"/>
            </a:br>
            <a:endParaRPr lang="en-IN" dirty="0"/>
          </a:p>
        </p:txBody>
      </p:sp>
      <p:sp>
        <p:nvSpPr>
          <p:cNvPr id="3" name="Subtitle 2"/>
          <p:cNvSpPr>
            <a:spLocks noGrp="1"/>
          </p:cNvSpPr>
          <p:nvPr>
            <p:ph type="subTitle" idx="1"/>
          </p:nvPr>
        </p:nvSpPr>
        <p:spPr/>
        <p:txBody>
          <a:bodyPr/>
          <a:lstStyle/>
          <a:p>
            <a:r>
              <a:rPr lang="en-US" dirty="0">
                <a:solidFill>
                  <a:srgbClr val="FF0000"/>
                </a:solidFill>
              </a:rPr>
              <a:t>Rabin Karp Algorithm</a:t>
            </a:r>
            <a:endParaRPr lang="en-IN" b="1" dirty="0">
              <a:solidFill>
                <a:srgbClr val="FF0000"/>
              </a:solidFill>
            </a:endParaRPr>
          </a:p>
        </p:txBody>
      </p:sp>
      <p:sp>
        <p:nvSpPr>
          <p:cNvPr id="4" name="Slide Number Placeholder 3"/>
          <p:cNvSpPr>
            <a:spLocks noGrp="1"/>
          </p:cNvSpPr>
          <p:nvPr>
            <p:ph type="sldNum" sz="quarter" idx="12"/>
          </p:nvPr>
        </p:nvSpPr>
        <p:spPr/>
        <p:txBody>
          <a:bodyPr/>
          <a:lstStyle/>
          <a:p>
            <a:fld id="{CEDA2EDF-3085-4CF0-971B-6ED9C928D01F}" type="slidenum">
              <a:rPr lang="en-US" altLang="en-US" smtClean="0"/>
              <a:pPr/>
              <a:t>1</a:t>
            </a:fld>
            <a:endParaRPr lang="en-US" altLang="en-US"/>
          </a:p>
        </p:txBody>
      </p:sp>
    </p:spTree>
    <p:extLst>
      <p:ext uri="{BB962C8B-B14F-4D97-AF65-F5344CB8AC3E}">
        <p14:creationId xmlns:p14="http://schemas.microsoft.com/office/powerpoint/2010/main" val="20353215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1996E84-DA46-E8BF-4D08-8237077DF8A5}"/>
              </a:ext>
            </a:extLst>
          </p:cNvPr>
          <p:cNvSpPr>
            <a:spLocks noGrp="1"/>
          </p:cNvSpPr>
          <p:nvPr>
            <p:ph idx="1"/>
          </p:nvPr>
        </p:nvSpPr>
        <p:spPr>
          <a:xfrm>
            <a:off x="228599" y="782051"/>
            <a:ext cx="11754853" cy="5919370"/>
          </a:xfrm>
        </p:spPr>
        <p:txBody>
          <a:bodyPr/>
          <a:lstStyle/>
          <a:p>
            <a:pPr marL="0" indent="0">
              <a:buNone/>
            </a:pPr>
            <a:r>
              <a:rPr lang="en-US" b="1" dirty="0"/>
              <a:t>What Rabin Karp Algorithm is?</a:t>
            </a:r>
          </a:p>
          <a:p>
            <a:r>
              <a:rPr lang="en-US" dirty="0"/>
              <a:t>It is String matching algorithm</a:t>
            </a:r>
          </a:p>
          <a:p>
            <a:r>
              <a:rPr lang="en-US" dirty="0"/>
              <a:t>It is another application of Hashing</a:t>
            </a:r>
          </a:p>
          <a:p>
            <a:r>
              <a:rPr lang="en-US" dirty="0"/>
              <a:t>It is widely used for multiple pattern search.</a:t>
            </a:r>
          </a:p>
          <a:p>
            <a:endParaRPr lang="en-US" dirty="0"/>
          </a:p>
        </p:txBody>
      </p:sp>
    </p:spTree>
    <p:extLst>
      <p:ext uri="{BB962C8B-B14F-4D97-AF65-F5344CB8AC3E}">
        <p14:creationId xmlns:p14="http://schemas.microsoft.com/office/powerpoint/2010/main" val="30624528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602CA6C-8CC5-9469-A4C2-A03895F7A544}"/>
              </a:ext>
            </a:extLst>
          </p:cNvPr>
          <p:cNvSpPr>
            <a:spLocks noGrp="1"/>
          </p:cNvSpPr>
          <p:nvPr>
            <p:ph idx="1"/>
          </p:nvPr>
        </p:nvSpPr>
        <p:spPr/>
        <p:txBody>
          <a:bodyPr/>
          <a:lstStyle/>
          <a:p>
            <a:pPr marL="0" indent="0">
              <a:buNone/>
            </a:pPr>
            <a:r>
              <a:rPr lang="en-US" b="1" dirty="0"/>
              <a:t>Concept of Rabin Karp Algorithm</a:t>
            </a:r>
          </a:p>
          <a:p>
            <a:r>
              <a:rPr lang="en-US" dirty="0"/>
              <a:t>The Rabin-Karp string searching algorithm calculates a hash value for the pattern, and for each </a:t>
            </a:r>
            <a:r>
              <a:rPr lang="en-US" dirty="0">
                <a:solidFill>
                  <a:srgbClr val="FF0000"/>
                </a:solidFill>
              </a:rPr>
              <a:t>M-character</a:t>
            </a:r>
            <a:r>
              <a:rPr lang="en-US" dirty="0"/>
              <a:t> subsequence of text to be compared</a:t>
            </a:r>
          </a:p>
          <a:p>
            <a:r>
              <a:rPr lang="en-US" dirty="0"/>
              <a:t>If the hash values are </a:t>
            </a:r>
            <a:r>
              <a:rPr lang="en-US" dirty="0">
                <a:solidFill>
                  <a:srgbClr val="FF0000"/>
                </a:solidFill>
              </a:rPr>
              <a:t>unequal</a:t>
            </a:r>
            <a:r>
              <a:rPr lang="en-US" dirty="0"/>
              <a:t>, the algorithm will calculate the hash value for </a:t>
            </a:r>
            <a:r>
              <a:rPr lang="en-US" dirty="0">
                <a:solidFill>
                  <a:srgbClr val="FF0000"/>
                </a:solidFill>
              </a:rPr>
              <a:t>next M-character sequence</a:t>
            </a:r>
          </a:p>
          <a:p>
            <a:r>
              <a:rPr lang="en-US" dirty="0"/>
              <a:t>If the hash values are </a:t>
            </a:r>
            <a:r>
              <a:rPr lang="en-US" dirty="0">
                <a:solidFill>
                  <a:srgbClr val="FF0000"/>
                </a:solidFill>
              </a:rPr>
              <a:t>equal</a:t>
            </a:r>
            <a:r>
              <a:rPr lang="en-US" dirty="0"/>
              <a:t>, the algorithm will </a:t>
            </a:r>
            <a:r>
              <a:rPr lang="en-US" dirty="0">
                <a:solidFill>
                  <a:srgbClr val="FF0000"/>
                </a:solidFill>
              </a:rPr>
              <a:t>compare the pattern and the M-character sequence</a:t>
            </a:r>
          </a:p>
          <a:p>
            <a:r>
              <a:rPr lang="en-US" dirty="0"/>
              <a:t>In this way, there is only one comparison per text subsequence, and character matching is only needed when hash values match</a:t>
            </a:r>
          </a:p>
        </p:txBody>
      </p:sp>
    </p:spTree>
    <p:extLst>
      <p:ext uri="{BB962C8B-B14F-4D97-AF65-F5344CB8AC3E}">
        <p14:creationId xmlns:p14="http://schemas.microsoft.com/office/powerpoint/2010/main" val="40268569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6A3C589-E5EF-FE15-48B2-A79D692E1372}"/>
              </a:ext>
            </a:extLst>
          </p:cNvPr>
          <p:cNvSpPr>
            <a:spLocks noGrp="1"/>
          </p:cNvSpPr>
          <p:nvPr>
            <p:ph idx="1"/>
          </p:nvPr>
        </p:nvSpPr>
        <p:spPr/>
        <p:txBody>
          <a:bodyPr>
            <a:normAutofit/>
          </a:bodyPr>
          <a:lstStyle/>
          <a:p>
            <a:r>
              <a:rPr lang="en-US" dirty="0"/>
              <a:t>Consider an M-character sequence as an M-digit number in base b, where b is the number of letters in the alphabet</a:t>
            </a:r>
          </a:p>
          <a:p>
            <a:r>
              <a:rPr lang="en-US" dirty="0"/>
              <a:t>The text subsequence t[</a:t>
            </a:r>
            <a:r>
              <a:rPr lang="en-US" dirty="0" err="1"/>
              <a:t>i</a:t>
            </a:r>
            <a:r>
              <a:rPr lang="en-US" dirty="0"/>
              <a:t> .. i+M-1] is mapped to the number</a:t>
            </a:r>
          </a:p>
          <a:p>
            <a:r>
              <a:rPr lang="en-US" dirty="0"/>
              <a:t>x(</a:t>
            </a:r>
            <a:r>
              <a:rPr lang="en-US" dirty="0" err="1"/>
              <a:t>i</a:t>
            </a:r>
            <a:r>
              <a:rPr lang="en-US" dirty="0"/>
              <a:t>) = t[</a:t>
            </a:r>
            <a:r>
              <a:rPr lang="en-US" dirty="0" err="1"/>
              <a:t>i</a:t>
            </a:r>
            <a:r>
              <a:rPr lang="en-US" dirty="0"/>
              <a:t>]*b^M-1+ t[i+1]*b^M-2+...+ t[i+M-1]</a:t>
            </a:r>
          </a:p>
          <a:p>
            <a:r>
              <a:rPr lang="en-US" dirty="0"/>
              <a:t> Furthermore, given x(</a:t>
            </a:r>
            <a:r>
              <a:rPr lang="en-US" dirty="0" err="1"/>
              <a:t>i</a:t>
            </a:r>
            <a:r>
              <a:rPr lang="en-US" dirty="0"/>
              <a:t>) we can compute x(i+1) for the next subsequence t[i+1 .. </a:t>
            </a:r>
            <a:r>
              <a:rPr lang="en-US" dirty="0" err="1"/>
              <a:t>i+M</a:t>
            </a:r>
            <a:r>
              <a:rPr lang="en-US" dirty="0"/>
              <a:t>] in constant time, as follows:</a:t>
            </a:r>
          </a:p>
          <a:p>
            <a:r>
              <a:rPr lang="en-US" dirty="0"/>
              <a:t>x(i+1) = t[i+1]∗b^M-1+ t[i+2]*b^M-2+...+ t[</a:t>
            </a:r>
            <a:r>
              <a:rPr lang="en-US" dirty="0" err="1"/>
              <a:t>i+M</a:t>
            </a:r>
            <a:r>
              <a:rPr lang="en-US" dirty="0"/>
              <a:t>]</a:t>
            </a:r>
          </a:p>
          <a:p>
            <a:r>
              <a:rPr lang="en-US" dirty="0"/>
              <a:t>x(i+1) = x(</a:t>
            </a:r>
            <a:r>
              <a:rPr lang="en-US" dirty="0" err="1"/>
              <a:t>i</a:t>
            </a:r>
            <a:r>
              <a:rPr lang="en-US" dirty="0"/>
              <a:t>)*b (Shift left one digit)</a:t>
            </a:r>
          </a:p>
          <a:p>
            <a:r>
              <a:rPr lang="en-US" dirty="0"/>
              <a:t>- t[</a:t>
            </a:r>
            <a:r>
              <a:rPr lang="en-US" dirty="0" err="1"/>
              <a:t>i</a:t>
            </a:r>
            <a:r>
              <a:rPr lang="en-US" dirty="0"/>
              <a:t>]*</a:t>
            </a:r>
            <a:r>
              <a:rPr lang="en-US" dirty="0" err="1"/>
              <a:t>b^M</a:t>
            </a:r>
            <a:r>
              <a:rPr lang="en-US" dirty="0"/>
              <a:t> (Subtract leftmost digit) + t[</a:t>
            </a:r>
            <a:r>
              <a:rPr lang="en-US" dirty="0" err="1"/>
              <a:t>i+M</a:t>
            </a:r>
            <a:r>
              <a:rPr lang="en-US" dirty="0"/>
              <a:t>]Add new rightmost digit</a:t>
            </a:r>
          </a:p>
          <a:p>
            <a:r>
              <a:rPr lang="en-US" dirty="0"/>
              <a:t>In this way, we never explicitly compute a new value</a:t>
            </a:r>
          </a:p>
          <a:p>
            <a:r>
              <a:rPr lang="en-US" dirty="0"/>
              <a:t>We simply adjust the existing value as we move over one character.</a:t>
            </a:r>
          </a:p>
          <a:p>
            <a:r>
              <a:rPr lang="en-US" dirty="0"/>
              <a:t>If M is large, then the resulting value (</a:t>
            </a:r>
            <a:r>
              <a:rPr lang="en-US" dirty="0" err="1"/>
              <a:t>b^M</a:t>
            </a:r>
            <a:r>
              <a:rPr lang="en-US" dirty="0"/>
              <a:t>) will be enormous. For this reason, we hash the value by taking it mod a prime number q</a:t>
            </a:r>
          </a:p>
        </p:txBody>
      </p:sp>
    </p:spTree>
    <p:extLst>
      <p:ext uri="{BB962C8B-B14F-4D97-AF65-F5344CB8AC3E}">
        <p14:creationId xmlns:p14="http://schemas.microsoft.com/office/powerpoint/2010/main" val="16613476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95061A2-A5EF-B7B2-490F-F658FD4B03F6}"/>
              </a:ext>
            </a:extLst>
          </p:cNvPr>
          <p:cNvSpPr>
            <a:spLocks noGrp="1"/>
          </p:cNvSpPr>
          <p:nvPr>
            <p:ph idx="1"/>
          </p:nvPr>
        </p:nvSpPr>
        <p:spPr/>
        <p:txBody>
          <a:bodyPr/>
          <a:lstStyle/>
          <a:p>
            <a:pPr marL="0" indent="0">
              <a:buNone/>
            </a:pPr>
            <a:r>
              <a:rPr lang="en-US" b="1" dirty="0"/>
              <a:t>Rabin Karp Algorithm</a:t>
            </a:r>
          </a:p>
          <a:p>
            <a:pPr marL="457200" lvl="1" indent="0">
              <a:buNone/>
            </a:pPr>
            <a:r>
              <a:rPr lang="en-US" dirty="0"/>
              <a:t>1. n = Length[T],m = Length[P]</a:t>
            </a:r>
          </a:p>
          <a:p>
            <a:pPr marL="457200" lvl="1" indent="0">
              <a:buNone/>
            </a:pPr>
            <a:r>
              <a:rPr lang="en-US" dirty="0"/>
              <a:t>2. h = d^m-1 mod q</a:t>
            </a:r>
          </a:p>
          <a:p>
            <a:pPr marL="457200" lvl="1" indent="0">
              <a:buNone/>
            </a:pPr>
            <a:r>
              <a:rPr lang="en-US" dirty="0"/>
              <a:t>3. p = 0,to = 0</a:t>
            </a:r>
          </a:p>
          <a:p>
            <a:pPr marL="457200" lvl="1" indent="0">
              <a:buNone/>
            </a:pPr>
            <a:r>
              <a:rPr lang="en-US" dirty="0"/>
              <a:t>4. for </a:t>
            </a:r>
            <a:r>
              <a:rPr lang="en-US" dirty="0" err="1"/>
              <a:t>i</a:t>
            </a:r>
            <a:r>
              <a:rPr lang="en-US" dirty="0"/>
              <a:t>= 0 to m</a:t>
            </a:r>
          </a:p>
          <a:p>
            <a:pPr marL="457200" lvl="1" indent="0">
              <a:buNone/>
            </a:pPr>
            <a:r>
              <a:rPr lang="en-US" dirty="0"/>
              <a:t>5. do p = (d*p + P[</a:t>
            </a:r>
            <a:r>
              <a:rPr lang="en-US" dirty="0" err="1"/>
              <a:t>i</a:t>
            </a:r>
            <a:r>
              <a:rPr lang="en-US" dirty="0"/>
              <a:t>]) mod q</a:t>
            </a:r>
          </a:p>
          <a:p>
            <a:pPr marL="457200" lvl="1" indent="0">
              <a:buNone/>
            </a:pPr>
            <a:r>
              <a:rPr lang="en-US" dirty="0"/>
              <a:t>6. to = (d*to + T[</a:t>
            </a:r>
            <a:r>
              <a:rPr lang="en-US" dirty="0" err="1"/>
              <a:t>i</a:t>
            </a:r>
            <a:r>
              <a:rPr lang="en-US" dirty="0"/>
              <a:t>]) mod q</a:t>
            </a:r>
          </a:p>
          <a:p>
            <a:pPr marL="457200" lvl="1" indent="0">
              <a:buNone/>
            </a:pPr>
            <a:r>
              <a:rPr lang="en-US" dirty="0"/>
              <a:t>7. For s =0 to n-m</a:t>
            </a:r>
          </a:p>
          <a:p>
            <a:pPr marL="457200" lvl="1" indent="0">
              <a:buNone/>
            </a:pPr>
            <a:r>
              <a:rPr lang="en-US" dirty="0"/>
              <a:t>8. do if p=</a:t>
            </a:r>
            <a:r>
              <a:rPr lang="en-US" dirty="0" err="1"/>
              <a:t>ts</a:t>
            </a:r>
            <a:endParaRPr lang="en-US" dirty="0"/>
          </a:p>
          <a:p>
            <a:pPr marL="457200" lvl="1" indent="0">
              <a:buNone/>
            </a:pPr>
            <a:r>
              <a:rPr lang="en-US" dirty="0"/>
              <a:t>9. then if P[1..m] ==T[s+1..s+m]</a:t>
            </a:r>
          </a:p>
          <a:p>
            <a:pPr marL="457200" lvl="1" indent="0">
              <a:buNone/>
            </a:pPr>
            <a:r>
              <a:rPr lang="en-US" dirty="0"/>
              <a:t>10. then “Pattern founds at shift “ s</a:t>
            </a:r>
          </a:p>
          <a:p>
            <a:pPr marL="457200" lvl="1" indent="0">
              <a:buNone/>
            </a:pPr>
            <a:r>
              <a:rPr lang="en-US" dirty="0"/>
              <a:t>11. if s&lt;n-m</a:t>
            </a:r>
          </a:p>
          <a:p>
            <a:pPr marL="457200" lvl="1" indent="0">
              <a:buNone/>
            </a:pPr>
            <a:r>
              <a:rPr lang="en-US" dirty="0"/>
              <a:t>12. then ts+1=(d(</a:t>
            </a:r>
            <a:r>
              <a:rPr lang="en-US" dirty="0" err="1"/>
              <a:t>ts</a:t>
            </a:r>
            <a:r>
              <a:rPr lang="en-US" dirty="0"/>
              <a:t>-T[s+1])</a:t>
            </a:r>
            <a:r>
              <a:rPr lang="en-US" dirty="0" err="1"/>
              <a:t>h+T</a:t>
            </a:r>
            <a:r>
              <a:rPr lang="en-US" dirty="0"/>
              <a:t>[s+m+1]</a:t>
            </a:r>
          </a:p>
          <a:p>
            <a:pPr marL="457200" lvl="1" indent="0">
              <a:buNone/>
            </a:pPr>
            <a:endParaRPr lang="en-US" dirty="0"/>
          </a:p>
        </p:txBody>
      </p:sp>
    </p:spTree>
    <p:extLst>
      <p:ext uri="{BB962C8B-B14F-4D97-AF65-F5344CB8AC3E}">
        <p14:creationId xmlns:p14="http://schemas.microsoft.com/office/powerpoint/2010/main" val="27600359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0DA9770-913F-86AD-8BCF-636678F610E3}"/>
              </a:ext>
            </a:extLst>
          </p:cNvPr>
          <p:cNvSpPr>
            <a:spLocks noGrp="1"/>
          </p:cNvSpPr>
          <p:nvPr>
            <p:ph idx="1"/>
          </p:nvPr>
        </p:nvSpPr>
        <p:spPr/>
        <p:txBody>
          <a:bodyPr/>
          <a:lstStyle/>
          <a:p>
            <a:pPr marL="0" indent="0">
              <a:buNone/>
            </a:pPr>
            <a:r>
              <a:rPr lang="en-US" b="1" dirty="0"/>
              <a:t>Running Time Of R.K. Algorithm</a:t>
            </a:r>
          </a:p>
          <a:p>
            <a:r>
              <a:rPr lang="en-US" dirty="0"/>
              <a:t> Running time for Rabin Karp algorithm is O((n-m+1)m) in the worst case, since the Rabin Karp algorithm explicitly verifies every valid shift</a:t>
            </a:r>
          </a:p>
          <a:p>
            <a:pPr marL="0" indent="0">
              <a:buNone/>
            </a:pPr>
            <a:endParaRPr lang="en-US" b="1" dirty="0"/>
          </a:p>
          <a:p>
            <a:pPr marL="0" indent="0">
              <a:buNone/>
            </a:pPr>
            <a:r>
              <a:rPr lang="en-US" b="1" dirty="0"/>
              <a:t>Applications</a:t>
            </a:r>
          </a:p>
          <a:p>
            <a:r>
              <a:rPr lang="en-US" dirty="0"/>
              <a:t>Text processing</a:t>
            </a:r>
          </a:p>
          <a:p>
            <a:r>
              <a:rPr lang="en-US" dirty="0"/>
              <a:t>Bioinformatics</a:t>
            </a:r>
          </a:p>
          <a:p>
            <a:r>
              <a:rPr lang="en-US" dirty="0"/>
              <a:t>Compression</a:t>
            </a:r>
          </a:p>
        </p:txBody>
      </p:sp>
    </p:spTree>
    <p:extLst>
      <p:ext uri="{BB962C8B-B14F-4D97-AF65-F5344CB8AC3E}">
        <p14:creationId xmlns:p14="http://schemas.microsoft.com/office/powerpoint/2010/main" val="1221018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2EC9E2F-4349-1E15-3806-C2BC880C8F69}"/>
              </a:ext>
            </a:extLst>
          </p:cNvPr>
          <p:cNvSpPr>
            <a:spLocks noGrp="1"/>
          </p:cNvSpPr>
          <p:nvPr>
            <p:ph idx="1"/>
          </p:nvPr>
        </p:nvSpPr>
        <p:spPr/>
        <p:txBody>
          <a:bodyPr>
            <a:normAutofit/>
          </a:bodyPr>
          <a:lstStyle/>
          <a:p>
            <a:r>
              <a:rPr lang="en-US" dirty="0"/>
              <a:t>Like the Naive Algorithm, the Rabin-Karp algorithm also slides the pattern one by one</a:t>
            </a:r>
          </a:p>
          <a:p>
            <a:r>
              <a:rPr lang="en-US" dirty="0"/>
              <a:t>But unlike the Naive algorithm, the Rabin Karp algorithm matches the hash value of the pattern with the hash value of the current substring of text, and if the hash values match then only it starts matching individual characters</a:t>
            </a:r>
          </a:p>
          <a:p>
            <a:r>
              <a:rPr lang="en-US" dirty="0"/>
              <a:t>So, Rabin Karp algorithm needs to calculate hash values for the following strings</a:t>
            </a:r>
          </a:p>
          <a:p>
            <a:r>
              <a:rPr lang="en-US" dirty="0"/>
              <a:t>Pattern itself</a:t>
            </a:r>
          </a:p>
          <a:p>
            <a:r>
              <a:rPr lang="en-US" dirty="0"/>
              <a:t>All the substrings of the text of length m</a:t>
            </a:r>
          </a:p>
          <a:p>
            <a:r>
              <a:rPr lang="en-US" b="1" dirty="0"/>
              <a:t>Since we need to efficiently calculate hash values for all the substrings of size m of text, we must have a hash function that has the following property:</a:t>
            </a:r>
            <a:endParaRPr lang="en-US" dirty="0"/>
          </a:p>
          <a:p>
            <a:r>
              <a:rPr lang="en-US" dirty="0"/>
              <a:t>Hash at the next shift must be efficiently computable from the current hash value and next character in text or we can say hash(txt[s+1 .. </a:t>
            </a:r>
            <a:r>
              <a:rPr lang="en-US" dirty="0" err="1"/>
              <a:t>s+m</a:t>
            </a:r>
            <a:r>
              <a:rPr lang="en-US" dirty="0"/>
              <a:t>]) must be efficiently computable from hash(txt[s .. s+m-1]) and txt[</a:t>
            </a:r>
            <a:r>
              <a:rPr lang="en-US" dirty="0" err="1"/>
              <a:t>s+m</a:t>
            </a:r>
            <a:r>
              <a:rPr lang="en-US" dirty="0"/>
              <a:t>] i.e., hash(txt[s+1 .. </a:t>
            </a:r>
            <a:r>
              <a:rPr lang="en-US" dirty="0" err="1"/>
              <a:t>s+m</a:t>
            </a:r>
            <a:r>
              <a:rPr lang="en-US" dirty="0"/>
              <a:t>]) = rehash(txt[</a:t>
            </a:r>
            <a:r>
              <a:rPr lang="en-US" dirty="0" err="1"/>
              <a:t>s+m</a:t>
            </a:r>
            <a:r>
              <a:rPr lang="en-US" dirty="0"/>
              <a:t>], hash(txt[s .. s+m-1])) and</a:t>
            </a:r>
          </a:p>
          <a:p>
            <a:r>
              <a:rPr lang="en-US" dirty="0"/>
              <a:t>Rehash must be O(1) operation.</a:t>
            </a:r>
          </a:p>
        </p:txBody>
      </p:sp>
    </p:spTree>
    <p:extLst>
      <p:ext uri="{BB962C8B-B14F-4D97-AF65-F5344CB8AC3E}">
        <p14:creationId xmlns:p14="http://schemas.microsoft.com/office/powerpoint/2010/main" val="39847221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C34C51C-0480-C239-A26E-DA6D111F6C6B}"/>
              </a:ext>
            </a:extLst>
          </p:cNvPr>
          <p:cNvSpPr>
            <a:spLocks noGrp="1"/>
          </p:cNvSpPr>
          <p:nvPr>
            <p:ph idx="1"/>
          </p:nvPr>
        </p:nvSpPr>
        <p:spPr/>
        <p:txBody>
          <a:bodyPr>
            <a:normAutofit/>
          </a:bodyPr>
          <a:lstStyle/>
          <a:p>
            <a:r>
              <a:rPr lang="en-US" dirty="0"/>
              <a:t> The hash function suggested by Rabin and Karp calculates an integer value. The integer value for a string is the numeric value of a string. </a:t>
            </a:r>
          </a:p>
          <a:p>
            <a:r>
              <a:rPr lang="en-US" dirty="0"/>
              <a:t>For example, If all possible characters are from 1 to 10, the numeric value of “122” will be 122. </a:t>
            </a:r>
          </a:p>
          <a:p>
            <a:r>
              <a:rPr lang="en-US" dirty="0"/>
              <a:t>The number of possible characters is higher than 10 (256 in general) and the pattern length can be large</a:t>
            </a:r>
          </a:p>
          <a:p>
            <a:r>
              <a:rPr lang="en-US" dirty="0"/>
              <a:t>So the numeric values cannot be practically stored as an integer</a:t>
            </a:r>
          </a:p>
          <a:p>
            <a:r>
              <a:rPr lang="en-US" dirty="0"/>
              <a:t>Therefore, the numeric value is calculated using modular arithmetic to make sure that the hash values can be stored in an integer variable (can fit in memory words)</a:t>
            </a:r>
          </a:p>
          <a:p>
            <a:r>
              <a:rPr lang="en-US" dirty="0"/>
              <a:t>To do rehashing, we need to take off the most significant digit and add the new least significant digit for in hash value</a:t>
            </a:r>
          </a:p>
        </p:txBody>
      </p:sp>
    </p:spTree>
    <p:extLst>
      <p:ext uri="{BB962C8B-B14F-4D97-AF65-F5344CB8AC3E}">
        <p14:creationId xmlns:p14="http://schemas.microsoft.com/office/powerpoint/2010/main" val="18771634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D0473C7-F4EE-CFD4-2FD7-4E6FB99E4F0E}"/>
              </a:ext>
            </a:extLst>
          </p:cNvPr>
          <p:cNvSpPr>
            <a:spLocks noGrp="1"/>
          </p:cNvSpPr>
          <p:nvPr>
            <p:ph idx="1"/>
          </p:nvPr>
        </p:nvSpPr>
        <p:spPr/>
        <p:txBody>
          <a:bodyPr/>
          <a:lstStyle/>
          <a:p>
            <a:pPr marL="0" indent="0">
              <a:buNone/>
            </a:pPr>
            <a:r>
              <a:rPr lang="en-US" dirty="0"/>
              <a:t>Rehashing is done using the following formula:</a:t>
            </a:r>
          </a:p>
          <a:p>
            <a:r>
              <a:rPr lang="en-US" dirty="0"/>
              <a:t>hash( txt[s+1 .. </a:t>
            </a:r>
            <a:r>
              <a:rPr lang="en-US" dirty="0" err="1"/>
              <a:t>s+m</a:t>
            </a:r>
            <a:r>
              <a:rPr lang="en-US" dirty="0"/>
              <a:t>] ) = ( d ( hash( txt[s .. s+m-1]) – txt[s]*h ) + txt[s + m] ) mod q</a:t>
            </a:r>
          </a:p>
          <a:p>
            <a:r>
              <a:rPr lang="en-US" dirty="0"/>
              <a:t>hash( txt[s .. s+m-1] ) : Hash value at shift s</a:t>
            </a:r>
          </a:p>
          <a:p>
            <a:r>
              <a:rPr lang="en-US" dirty="0"/>
              <a:t>hash( txt[s+1 .. </a:t>
            </a:r>
            <a:r>
              <a:rPr lang="en-US" dirty="0" err="1"/>
              <a:t>s+m</a:t>
            </a:r>
            <a:r>
              <a:rPr lang="en-US" dirty="0"/>
              <a:t>] ) : Hash value at next shift (or shift s+1) </a:t>
            </a:r>
          </a:p>
          <a:p>
            <a:r>
              <a:rPr lang="en-US" dirty="0"/>
              <a:t>d: Number of characters in the alphabet </a:t>
            </a:r>
          </a:p>
          <a:p>
            <a:r>
              <a:rPr lang="en-US" dirty="0"/>
              <a:t>q: A prime number </a:t>
            </a:r>
          </a:p>
          <a:p>
            <a:r>
              <a:rPr lang="en-US" dirty="0"/>
              <a:t>h: d(m-1)</a:t>
            </a:r>
          </a:p>
          <a:p>
            <a:endParaRPr lang="en-US" b="1" dirty="0"/>
          </a:p>
        </p:txBody>
      </p:sp>
    </p:spTree>
    <p:extLst>
      <p:ext uri="{BB962C8B-B14F-4D97-AF65-F5344CB8AC3E}">
        <p14:creationId xmlns:p14="http://schemas.microsoft.com/office/powerpoint/2010/main" val="21366629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7AF2CB8-3DC0-8ADF-3AEF-E50C9A5BDA0E}"/>
              </a:ext>
            </a:extLst>
          </p:cNvPr>
          <p:cNvSpPr>
            <a:spLocks noGrp="1"/>
          </p:cNvSpPr>
          <p:nvPr>
            <p:ph idx="1"/>
          </p:nvPr>
        </p:nvSpPr>
        <p:spPr/>
        <p:txBody>
          <a:bodyPr>
            <a:normAutofit/>
          </a:bodyPr>
          <a:lstStyle/>
          <a:p>
            <a:r>
              <a:rPr lang="en-US" dirty="0"/>
              <a:t>Example: pattern length is 3 and string is “23456” </a:t>
            </a:r>
          </a:p>
          <a:p>
            <a:r>
              <a:rPr lang="en-US" dirty="0"/>
              <a:t>You compute the value of the first window (which is “234”) as 234. </a:t>
            </a:r>
          </a:p>
          <a:p>
            <a:r>
              <a:rPr lang="en-US" dirty="0"/>
              <a:t>How will you compute the value of the next window “345”? You will do (234 – 2*100)*10 + 5 and get 345</a:t>
            </a:r>
          </a:p>
          <a:p>
            <a:pPr marL="0" indent="0">
              <a:buNone/>
            </a:pPr>
            <a:r>
              <a:rPr lang="en-US" b="1" dirty="0"/>
              <a:t>Follow the steps mentioned here to implement the idea:</a:t>
            </a:r>
          </a:p>
          <a:p>
            <a:r>
              <a:rPr lang="en-US" dirty="0"/>
              <a:t>Initially calculate the hash value of the pattern.</a:t>
            </a:r>
          </a:p>
          <a:p>
            <a:r>
              <a:rPr lang="en-US" dirty="0"/>
              <a:t>Start iterating from the starting of the string:</a:t>
            </a:r>
          </a:p>
          <a:p>
            <a:pPr lvl="1"/>
            <a:r>
              <a:rPr lang="en-US" dirty="0"/>
              <a:t>Calculate the hash value of the current substring having length m.</a:t>
            </a:r>
          </a:p>
          <a:p>
            <a:pPr lvl="1"/>
            <a:r>
              <a:rPr lang="en-US" dirty="0"/>
              <a:t>If the hash value of the current substring and the pattern are same check if the substring is same as the pattern.</a:t>
            </a:r>
          </a:p>
          <a:p>
            <a:pPr lvl="1"/>
            <a:r>
              <a:rPr lang="en-US" dirty="0"/>
              <a:t>If they are same, store the starting index as a valid answer. Otherwise, continue for the next substrings.</a:t>
            </a:r>
          </a:p>
          <a:p>
            <a:r>
              <a:rPr lang="en-US" dirty="0"/>
              <a:t>Return the starting indices as the required answer.</a:t>
            </a:r>
          </a:p>
        </p:txBody>
      </p:sp>
    </p:spTree>
    <p:extLst>
      <p:ext uri="{BB962C8B-B14F-4D97-AF65-F5344CB8AC3E}">
        <p14:creationId xmlns:p14="http://schemas.microsoft.com/office/powerpoint/2010/main" val="21335265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xmlns="" id="{27C9F426-C11A-36FC-F796-9844E5B9B0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3960382-088D-4AEC-A7AE-263A3D2994BB}"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16387" name="Rectangle 2">
            <a:extLst>
              <a:ext uri="{FF2B5EF4-FFF2-40B4-BE49-F238E27FC236}">
                <a16:creationId xmlns:a16="http://schemas.microsoft.com/office/drawing/2014/main" xmlns="" id="{3B09E3B6-1266-3338-5B6F-07D4AA9DF486}"/>
              </a:ext>
            </a:extLst>
          </p:cNvPr>
          <p:cNvSpPr>
            <a:spLocks noGrp="1" noChangeArrowheads="1"/>
          </p:cNvSpPr>
          <p:nvPr>
            <p:ph type="title"/>
          </p:nvPr>
        </p:nvSpPr>
        <p:spPr>
          <a:xfrm>
            <a:off x="1905000" y="685800"/>
            <a:ext cx="7772400" cy="1143000"/>
          </a:xfrm>
        </p:spPr>
        <p:txBody>
          <a:bodyPr/>
          <a:lstStyle/>
          <a:p>
            <a:pPr eaLnBrk="1" hangingPunct="1"/>
            <a:r>
              <a:rPr lang="en-US" altLang="en-US" b="1">
                <a:ea typeface="ＭＳ Ｐゴシック" panose="020B0600070205080204" pitchFamily="34" charset="-128"/>
              </a:rPr>
              <a:t>Brute Force Pseudo-Code</a:t>
            </a:r>
            <a:endParaRPr lang="en-US" altLang="en-US">
              <a:ea typeface="ＭＳ Ｐゴシック" panose="020B0600070205080204" pitchFamily="34" charset="-128"/>
            </a:endParaRPr>
          </a:p>
        </p:txBody>
      </p:sp>
      <p:sp>
        <p:nvSpPr>
          <p:cNvPr id="6147" name="Rectangle 3">
            <a:extLst>
              <a:ext uri="{FF2B5EF4-FFF2-40B4-BE49-F238E27FC236}">
                <a16:creationId xmlns:a16="http://schemas.microsoft.com/office/drawing/2014/main" xmlns="" id="{328C17E9-C206-1668-0199-01F3DB9B0906}"/>
              </a:ext>
            </a:extLst>
          </p:cNvPr>
          <p:cNvSpPr>
            <a:spLocks noGrp="1" noChangeArrowheads="1"/>
          </p:cNvSpPr>
          <p:nvPr>
            <p:ph type="body" idx="1"/>
          </p:nvPr>
        </p:nvSpPr>
        <p:spPr>
          <a:xfrm>
            <a:off x="1524000" y="1752600"/>
            <a:ext cx="8305800" cy="2286000"/>
          </a:xfrm>
        </p:spPr>
        <p:txBody>
          <a:bodyPr/>
          <a:lstStyle/>
          <a:p>
            <a:pPr eaLnBrk="1" hangingPunct="1">
              <a:lnSpc>
                <a:spcPct val="90000"/>
              </a:lnSpc>
            </a:pPr>
            <a:r>
              <a:rPr lang="en-US" altLang="en-US" sz="2800">
                <a:ea typeface="ＭＳ Ｐゴシック" panose="020B0600070205080204" pitchFamily="34" charset="-128"/>
              </a:rPr>
              <a:t>Here’s the pseudo-code</a:t>
            </a:r>
          </a:p>
          <a:p>
            <a:pPr eaLnBrk="1" hangingPunct="1">
              <a:lnSpc>
                <a:spcPct val="90000"/>
              </a:lnSpc>
              <a:buFontTx/>
              <a:buNone/>
            </a:pPr>
            <a:r>
              <a:rPr lang="en-US" altLang="en-US" sz="2400" b="1">
                <a:solidFill>
                  <a:schemeClr val="accent2"/>
                </a:solidFill>
                <a:ea typeface="ＭＳ Ｐゴシック" panose="020B0600070205080204" pitchFamily="34" charset="-128"/>
              </a:rPr>
              <a:t>do if</a:t>
            </a:r>
            <a:r>
              <a:rPr lang="en-US" altLang="en-US" sz="2400">
                <a:solidFill>
                  <a:schemeClr val="accent2"/>
                </a:solidFill>
                <a:ea typeface="ＭＳ Ｐゴシック" panose="020B0600070205080204" pitchFamily="34" charset="-128"/>
              </a:rPr>
              <a:t> (text letter == pattern letter) </a:t>
            </a:r>
          </a:p>
          <a:p>
            <a:pPr eaLnBrk="1" hangingPunct="1">
              <a:lnSpc>
                <a:spcPct val="90000"/>
              </a:lnSpc>
              <a:buFontTx/>
              <a:buNone/>
            </a:pPr>
            <a:r>
              <a:rPr lang="en-US" altLang="en-US" sz="2400">
                <a:solidFill>
                  <a:schemeClr val="accent2"/>
                </a:solidFill>
                <a:ea typeface="ＭＳ Ｐゴシック" panose="020B0600070205080204" pitchFamily="34" charset="-128"/>
              </a:rPr>
              <a:t>		compare next letter of pattern to next</a:t>
            </a:r>
          </a:p>
          <a:p>
            <a:pPr eaLnBrk="1" hangingPunct="1">
              <a:lnSpc>
                <a:spcPct val="90000"/>
              </a:lnSpc>
              <a:buFontTx/>
              <a:buNone/>
            </a:pPr>
            <a:r>
              <a:rPr lang="en-US" altLang="en-US" sz="2400">
                <a:solidFill>
                  <a:schemeClr val="accent2"/>
                </a:solidFill>
                <a:ea typeface="ＭＳ Ｐゴシック" panose="020B0600070205080204" pitchFamily="34" charset="-128"/>
              </a:rPr>
              <a:t>		letter of text</a:t>
            </a:r>
          </a:p>
          <a:p>
            <a:pPr eaLnBrk="1" hangingPunct="1">
              <a:lnSpc>
                <a:spcPct val="90000"/>
              </a:lnSpc>
              <a:buFontTx/>
              <a:buNone/>
            </a:pPr>
            <a:r>
              <a:rPr lang="en-US" altLang="en-US" sz="2400" b="1">
                <a:solidFill>
                  <a:schemeClr val="accent2"/>
                </a:solidFill>
                <a:ea typeface="ＭＳ Ｐゴシック" panose="020B0600070205080204" pitchFamily="34" charset="-128"/>
              </a:rPr>
              <a:t>	else </a:t>
            </a:r>
            <a:r>
              <a:rPr lang="en-US" altLang="en-US" sz="2400">
                <a:solidFill>
                  <a:schemeClr val="accent2"/>
                </a:solidFill>
                <a:ea typeface="ＭＳ Ｐゴシック" panose="020B0600070205080204" pitchFamily="34" charset="-128"/>
              </a:rPr>
              <a:t>move pattern down text by one letter</a:t>
            </a:r>
          </a:p>
          <a:p>
            <a:pPr eaLnBrk="1" hangingPunct="1">
              <a:lnSpc>
                <a:spcPct val="90000"/>
              </a:lnSpc>
              <a:buFontTx/>
              <a:buNone/>
            </a:pPr>
            <a:r>
              <a:rPr lang="en-US" altLang="en-US" sz="2400" b="1">
                <a:solidFill>
                  <a:schemeClr val="accent2"/>
                </a:solidFill>
                <a:ea typeface="ＭＳ Ｐゴシック" panose="020B0600070205080204" pitchFamily="34" charset="-128"/>
              </a:rPr>
              <a:t> while</a:t>
            </a:r>
            <a:r>
              <a:rPr lang="en-US" altLang="en-US" sz="2400">
                <a:solidFill>
                  <a:schemeClr val="accent2"/>
                </a:solidFill>
                <a:ea typeface="ＭＳ Ｐゴシック" panose="020B0600070205080204" pitchFamily="34" charset="-128"/>
              </a:rPr>
              <a:t> (entire pattern found or end of text)</a:t>
            </a:r>
            <a:endParaRPr lang="en-US" altLang="en-US" sz="2800">
              <a:solidFill>
                <a:schemeClr val="accent2"/>
              </a:solidFill>
              <a:ea typeface="ＭＳ Ｐゴシック" panose="020B0600070205080204" pitchFamily="34" charset="-128"/>
            </a:endParaRPr>
          </a:p>
        </p:txBody>
      </p:sp>
      <p:pic>
        <p:nvPicPr>
          <p:cNvPr id="6148" name="Picture 4">
            <a:extLst>
              <a:ext uri="{FF2B5EF4-FFF2-40B4-BE49-F238E27FC236}">
                <a16:creationId xmlns:a16="http://schemas.microsoft.com/office/drawing/2014/main" xmlns="" id="{C6758A04-C2D6-3600-BECC-68E784ACC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4167188"/>
            <a:ext cx="5105400"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dissolve">
                                      <p:cBhvr>
                                        <p:cTn id="7" dur="500"/>
                                        <p:tgtEl>
                                          <p:spTgt spid="61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dissolve">
                                      <p:cBhvr>
                                        <p:cTn id="1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xmlns="" id="{CA6A54B6-7D94-F23D-DDE2-F5E8D7C154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CC4402E-EC00-4E10-ACE8-77EA42805136}"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17411" name="Rectangle 2">
            <a:extLst>
              <a:ext uri="{FF2B5EF4-FFF2-40B4-BE49-F238E27FC236}">
                <a16:creationId xmlns:a16="http://schemas.microsoft.com/office/drawing/2014/main" xmlns="" id="{571A5FD8-7A7A-17B4-ED98-7A3F65CAF052}"/>
              </a:ext>
            </a:extLst>
          </p:cNvPr>
          <p:cNvSpPr>
            <a:spLocks noGrp="1" noChangeArrowheads="1"/>
          </p:cNvSpPr>
          <p:nvPr>
            <p:ph type="title"/>
          </p:nvPr>
        </p:nvSpPr>
        <p:spPr>
          <a:xfrm>
            <a:off x="2286000" y="-76200"/>
            <a:ext cx="7772400" cy="1143000"/>
          </a:xfrm>
        </p:spPr>
        <p:txBody>
          <a:bodyPr/>
          <a:lstStyle/>
          <a:p>
            <a:pPr eaLnBrk="1" hangingPunct="1"/>
            <a:r>
              <a:rPr lang="en-US" altLang="en-US" b="1">
                <a:ea typeface="ＭＳ Ｐゴシック" panose="020B0600070205080204" pitchFamily="34" charset="-128"/>
              </a:rPr>
              <a:t>Brute Force-Complexity</a:t>
            </a:r>
            <a:endParaRPr lang="en-US" altLang="en-US">
              <a:ea typeface="ＭＳ Ｐゴシック" panose="020B0600070205080204" pitchFamily="34" charset="-128"/>
            </a:endParaRPr>
          </a:p>
        </p:txBody>
      </p:sp>
      <p:sp>
        <p:nvSpPr>
          <p:cNvPr id="7171" name="Rectangle 3">
            <a:extLst>
              <a:ext uri="{FF2B5EF4-FFF2-40B4-BE49-F238E27FC236}">
                <a16:creationId xmlns:a16="http://schemas.microsoft.com/office/drawing/2014/main" xmlns="" id="{CBCE603F-DED9-AFAE-613E-E2246B0A9262}"/>
              </a:ext>
            </a:extLst>
          </p:cNvPr>
          <p:cNvSpPr>
            <a:spLocks noGrp="1" noChangeArrowheads="1"/>
          </p:cNvSpPr>
          <p:nvPr>
            <p:ph type="body" idx="1"/>
          </p:nvPr>
        </p:nvSpPr>
        <p:spPr>
          <a:xfrm>
            <a:off x="1524000" y="1066800"/>
            <a:ext cx="9144000" cy="2057400"/>
          </a:xfrm>
        </p:spPr>
        <p:txBody>
          <a:bodyPr/>
          <a:lstStyle/>
          <a:p>
            <a:pPr eaLnBrk="1" hangingPunct="1">
              <a:lnSpc>
                <a:spcPct val="90000"/>
              </a:lnSpc>
            </a:pPr>
            <a:r>
              <a:rPr lang="en-US" altLang="en-US" sz="2400">
                <a:ea typeface="ＭＳ Ｐゴシック" panose="020B0600070205080204" pitchFamily="34" charset="-128"/>
              </a:rPr>
              <a:t>Given a pattern M characters in length, and a text N characters in length...</a:t>
            </a:r>
          </a:p>
          <a:p>
            <a:pPr eaLnBrk="1" hangingPunct="1">
              <a:lnSpc>
                <a:spcPct val="90000"/>
              </a:lnSpc>
            </a:pPr>
            <a:r>
              <a:rPr lang="en-US" altLang="en-US" sz="2400">
                <a:ea typeface="ＭＳ Ｐゴシック" panose="020B0600070205080204" pitchFamily="34" charset="-128"/>
              </a:rPr>
              <a:t>Worst case:  compares pattern to each substring of text of length M.  For example, M=5.</a:t>
            </a:r>
          </a:p>
          <a:p>
            <a:pPr eaLnBrk="1" hangingPunct="1">
              <a:lnSpc>
                <a:spcPct val="90000"/>
              </a:lnSpc>
            </a:pPr>
            <a:r>
              <a:rPr lang="en-US" altLang="en-US" sz="2400">
                <a:ea typeface="ＭＳ Ｐゴシック" panose="020B0600070205080204" pitchFamily="34" charset="-128"/>
              </a:rPr>
              <a:t>This kind of case can occur for image data.</a:t>
            </a:r>
            <a:endParaRPr lang="en-US" altLang="en-US" sz="2800">
              <a:ea typeface="ＭＳ Ｐゴシック" panose="020B0600070205080204" pitchFamily="34" charset="-128"/>
            </a:endParaRPr>
          </a:p>
        </p:txBody>
      </p:sp>
      <p:pic>
        <p:nvPicPr>
          <p:cNvPr id="7172" name="Picture 4">
            <a:extLst>
              <a:ext uri="{FF2B5EF4-FFF2-40B4-BE49-F238E27FC236}">
                <a16:creationId xmlns:a16="http://schemas.microsoft.com/office/drawing/2014/main" xmlns="" id="{8BA1D4E1-6E20-3CB3-4FBF-E3008B9B6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971800"/>
            <a:ext cx="4343400"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5">
            <a:extLst>
              <a:ext uri="{FF2B5EF4-FFF2-40B4-BE49-F238E27FC236}">
                <a16:creationId xmlns:a16="http://schemas.microsoft.com/office/drawing/2014/main" xmlns="" id="{A7B71FA1-9B3D-FFBE-0B94-C74426BA8838}"/>
              </a:ext>
            </a:extLst>
          </p:cNvPr>
          <p:cNvSpPr>
            <a:spLocks noChangeArrowheads="1"/>
          </p:cNvSpPr>
          <p:nvPr/>
        </p:nvSpPr>
        <p:spPr bwMode="auto">
          <a:xfrm>
            <a:off x="1905000" y="6035676"/>
            <a:ext cx="7086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Total number of comparisons: M (N-M+1)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Worst case time complexity: O(MN)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dissolve">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dissolve">
                                      <p:cBhvr>
                                        <p:cTn id="12" dur="500"/>
                                        <p:tgtEl>
                                          <p:spTgt spid="7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dissolve">
                                      <p:cBhvr>
                                        <p:cTn id="17" dur="500"/>
                                        <p:tgtEl>
                                          <p:spTgt spid="71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172"/>
                                        </p:tgtEl>
                                        <p:attrNameLst>
                                          <p:attrName>style.visibility</p:attrName>
                                        </p:attrNameLst>
                                      </p:cBhvr>
                                      <p:to>
                                        <p:strVal val="visible"/>
                                      </p:to>
                                    </p:set>
                                    <p:animEffect transition="in" filter="dissolve">
                                      <p:cBhvr>
                                        <p:cTn id="22" dur="500"/>
                                        <p:tgtEl>
                                          <p:spTgt spid="71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173">
                                            <p:txEl>
                                              <p:pRg st="0" end="0"/>
                                            </p:txEl>
                                          </p:spTgt>
                                        </p:tgtEl>
                                        <p:attrNameLst>
                                          <p:attrName>style.visibility</p:attrName>
                                        </p:attrNameLst>
                                      </p:cBhvr>
                                      <p:to>
                                        <p:strVal val="visible"/>
                                      </p:to>
                                    </p:set>
                                    <p:animEffect transition="in" filter="dissolve">
                                      <p:cBhvr>
                                        <p:cTn id="27" dur="500"/>
                                        <p:tgtEl>
                                          <p:spTgt spid="7173">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7173">
                                            <p:txEl>
                                              <p:pRg st="1" end="1"/>
                                            </p:txEl>
                                          </p:spTgt>
                                        </p:tgtEl>
                                        <p:attrNameLst>
                                          <p:attrName>style.visibility</p:attrName>
                                        </p:attrNameLst>
                                      </p:cBhvr>
                                      <p:to>
                                        <p:strVal val="visible"/>
                                      </p:to>
                                    </p:set>
                                    <p:animEffect transition="in" filter="dissolve">
                                      <p:cBhvr>
                                        <p:cTn id="32" dur="500"/>
                                        <p:tgtEl>
                                          <p:spTgt spid="717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P spid="717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xmlns="" id="{3A8DFB45-4737-6934-7F5F-2D9F15E0A4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BC17DDF-7D62-4132-87DE-557B4F467918}"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18435" name="Rectangle 2">
            <a:extLst>
              <a:ext uri="{FF2B5EF4-FFF2-40B4-BE49-F238E27FC236}">
                <a16:creationId xmlns:a16="http://schemas.microsoft.com/office/drawing/2014/main" xmlns="" id="{E916AB73-C013-F94D-AE8A-D392F4FB7FC1}"/>
              </a:ext>
            </a:extLst>
          </p:cNvPr>
          <p:cNvSpPr>
            <a:spLocks noGrp="1" noChangeArrowheads="1"/>
          </p:cNvSpPr>
          <p:nvPr>
            <p:ph type="title"/>
          </p:nvPr>
        </p:nvSpPr>
        <p:spPr>
          <a:xfrm>
            <a:off x="2133600" y="609600"/>
            <a:ext cx="7772400" cy="1066800"/>
          </a:xfrm>
        </p:spPr>
        <p:txBody>
          <a:bodyPr/>
          <a:lstStyle/>
          <a:p>
            <a:pPr eaLnBrk="1" hangingPunct="1"/>
            <a:r>
              <a:rPr lang="en-US" altLang="en-US" b="1">
                <a:ea typeface="ＭＳ Ｐゴシック" panose="020B0600070205080204" pitchFamily="34" charset="-128"/>
              </a:rPr>
              <a:t>Brute Force-Complexity(cont.)</a:t>
            </a:r>
            <a:endParaRPr lang="en-US" altLang="en-US">
              <a:ea typeface="ＭＳ Ｐゴシック" panose="020B0600070205080204" pitchFamily="34" charset="-128"/>
            </a:endParaRPr>
          </a:p>
        </p:txBody>
      </p:sp>
      <p:sp>
        <p:nvSpPr>
          <p:cNvPr id="8195" name="Rectangle 3">
            <a:extLst>
              <a:ext uri="{FF2B5EF4-FFF2-40B4-BE49-F238E27FC236}">
                <a16:creationId xmlns:a16="http://schemas.microsoft.com/office/drawing/2014/main" xmlns="" id="{57BAEE38-CA3F-8ABE-6632-DB18E4F8536F}"/>
              </a:ext>
            </a:extLst>
          </p:cNvPr>
          <p:cNvSpPr>
            <a:spLocks noGrp="1" noChangeArrowheads="1"/>
          </p:cNvSpPr>
          <p:nvPr>
            <p:ph type="body" idx="1"/>
          </p:nvPr>
        </p:nvSpPr>
        <p:spPr>
          <a:xfrm>
            <a:off x="1524000" y="2057400"/>
            <a:ext cx="9144000" cy="1981200"/>
          </a:xfrm>
        </p:spPr>
        <p:txBody>
          <a:bodyPr/>
          <a:lstStyle/>
          <a:p>
            <a:pPr eaLnBrk="1" hangingPunct="1"/>
            <a:r>
              <a:rPr lang="en-US" altLang="en-US" sz="2400">
                <a:ea typeface="ＭＳ Ｐゴシック" panose="020B0600070205080204" pitchFamily="34" charset="-128"/>
              </a:rPr>
              <a:t>Given a pattern M characters in length, and a text N characters in length...</a:t>
            </a:r>
          </a:p>
          <a:p>
            <a:pPr eaLnBrk="1" hangingPunct="1"/>
            <a:r>
              <a:rPr lang="en-US" altLang="en-US" sz="2400">
                <a:ea typeface="ＭＳ Ｐゴシック" panose="020B0600070205080204" pitchFamily="34" charset="-128"/>
              </a:rPr>
              <a:t>Best case if pattern found: Finds pattern in first M positions of text.  For example, M=5.</a:t>
            </a:r>
            <a:endParaRPr lang="en-US" altLang="en-US">
              <a:ea typeface="ＭＳ Ｐゴシック" panose="020B0600070205080204" pitchFamily="34" charset="-128"/>
            </a:endParaRPr>
          </a:p>
        </p:txBody>
      </p:sp>
      <p:pic>
        <p:nvPicPr>
          <p:cNvPr id="8196" name="Picture 4">
            <a:extLst>
              <a:ext uri="{FF2B5EF4-FFF2-40B4-BE49-F238E27FC236}">
                <a16:creationId xmlns:a16="http://schemas.microsoft.com/office/drawing/2014/main" xmlns="" id="{113FC130-C362-104D-845C-AB954F1F2E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4191000"/>
            <a:ext cx="64389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5">
            <a:extLst>
              <a:ext uri="{FF2B5EF4-FFF2-40B4-BE49-F238E27FC236}">
                <a16:creationId xmlns:a16="http://schemas.microsoft.com/office/drawing/2014/main" xmlns="" id="{AF01D845-3758-D987-2676-930E1BCC7F49}"/>
              </a:ext>
            </a:extLst>
          </p:cNvPr>
          <p:cNvSpPr>
            <a:spLocks noChangeArrowheads="1"/>
          </p:cNvSpPr>
          <p:nvPr/>
        </p:nvSpPr>
        <p:spPr bwMode="auto">
          <a:xfrm>
            <a:off x="1524000" y="5410201"/>
            <a:ext cx="7543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Total number of comparisons: 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Best case time complexity: 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dissolve">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dissolve">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dissolve">
                                      <p:cBhvr>
                                        <p:cTn id="17" dur="500"/>
                                        <p:tgtEl>
                                          <p:spTgt spid="8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197">
                                            <p:txEl>
                                              <p:pRg st="1" end="1"/>
                                            </p:txEl>
                                          </p:spTgt>
                                        </p:tgtEl>
                                        <p:attrNameLst>
                                          <p:attrName>style.visibility</p:attrName>
                                        </p:attrNameLst>
                                      </p:cBhvr>
                                      <p:to>
                                        <p:strVal val="visible"/>
                                      </p:to>
                                    </p:set>
                                    <p:animEffect transition="in" filter="dissolve">
                                      <p:cBhvr>
                                        <p:cTn id="22" dur="500"/>
                                        <p:tgtEl>
                                          <p:spTgt spid="819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197">
                                            <p:txEl>
                                              <p:pRg st="2" end="2"/>
                                            </p:txEl>
                                          </p:spTgt>
                                        </p:tgtEl>
                                        <p:attrNameLst>
                                          <p:attrName>style.visibility</p:attrName>
                                        </p:attrNameLst>
                                      </p:cBhvr>
                                      <p:to>
                                        <p:strVal val="visible"/>
                                      </p:to>
                                    </p:set>
                                    <p:animEffect transition="in" filter="dissolve">
                                      <p:cBhvr>
                                        <p:cTn id="27" dur="500"/>
                                        <p:tgtEl>
                                          <p:spTgt spid="81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P spid="8197"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xmlns="" id="{1BFC96E4-DEAB-CB95-D572-1FBF367292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A7F4C1B-245A-43FC-AC7D-2FA1F406F87C}"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19459" name="Rectangle 2">
            <a:extLst>
              <a:ext uri="{FF2B5EF4-FFF2-40B4-BE49-F238E27FC236}">
                <a16:creationId xmlns:a16="http://schemas.microsoft.com/office/drawing/2014/main" xmlns="" id="{32CFCB19-C83C-AA29-5060-B5150EE736A1}"/>
              </a:ext>
            </a:extLst>
          </p:cNvPr>
          <p:cNvSpPr>
            <a:spLocks noGrp="1" noChangeArrowheads="1"/>
          </p:cNvSpPr>
          <p:nvPr>
            <p:ph type="title"/>
          </p:nvPr>
        </p:nvSpPr>
        <p:spPr>
          <a:xfrm>
            <a:off x="2057400" y="457200"/>
            <a:ext cx="7772400" cy="1143000"/>
          </a:xfrm>
        </p:spPr>
        <p:txBody>
          <a:bodyPr/>
          <a:lstStyle/>
          <a:p>
            <a:pPr eaLnBrk="1" hangingPunct="1"/>
            <a:r>
              <a:rPr lang="en-US" altLang="en-US" b="1">
                <a:ea typeface="ＭＳ Ｐゴシック" panose="020B0600070205080204" pitchFamily="34" charset="-128"/>
              </a:rPr>
              <a:t>Brute Force-Complexity(cont.)</a:t>
            </a:r>
            <a:endParaRPr lang="en-US" altLang="en-US">
              <a:ea typeface="ＭＳ Ｐゴシック" panose="020B0600070205080204" pitchFamily="34" charset="-128"/>
            </a:endParaRPr>
          </a:p>
        </p:txBody>
      </p:sp>
      <p:sp>
        <p:nvSpPr>
          <p:cNvPr id="9219" name="Rectangle 3">
            <a:extLst>
              <a:ext uri="{FF2B5EF4-FFF2-40B4-BE49-F238E27FC236}">
                <a16:creationId xmlns:a16="http://schemas.microsoft.com/office/drawing/2014/main" xmlns="" id="{F5EBCABB-623F-8C84-4A27-95DF48827B92}"/>
              </a:ext>
            </a:extLst>
          </p:cNvPr>
          <p:cNvSpPr>
            <a:spLocks noGrp="1" noChangeArrowheads="1"/>
          </p:cNvSpPr>
          <p:nvPr>
            <p:ph type="body" idx="1"/>
          </p:nvPr>
        </p:nvSpPr>
        <p:spPr>
          <a:xfrm>
            <a:off x="1524000" y="1752600"/>
            <a:ext cx="9144000" cy="1219200"/>
          </a:xfrm>
        </p:spPr>
        <p:txBody>
          <a:bodyPr/>
          <a:lstStyle/>
          <a:p>
            <a:pPr eaLnBrk="1" hangingPunct="1">
              <a:lnSpc>
                <a:spcPct val="90000"/>
              </a:lnSpc>
            </a:pPr>
            <a:r>
              <a:rPr lang="en-US" altLang="en-US" sz="2400">
                <a:ea typeface="ＭＳ Ｐゴシック" panose="020B0600070205080204" pitchFamily="34" charset="-128"/>
              </a:rPr>
              <a:t>Given a pattern M characters in length, and a text N characters in length...</a:t>
            </a:r>
          </a:p>
          <a:p>
            <a:pPr eaLnBrk="1" hangingPunct="1">
              <a:lnSpc>
                <a:spcPct val="90000"/>
              </a:lnSpc>
            </a:pPr>
            <a:r>
              <a:rPr lang="en-US" altLang="en-US" sz="2400">
                <a:ea typeface="ＭＳ Ｐゴシック" panose="020B0600070205080204" pitchFamily="34" charset="-128"/>
              </a:rPr>
              <a:t>Best case if pattern not found: Always mismatch on first character.  For example, M=5.</a:t>
            </a:r>
            <a:endParaRPr lang="en-US" altLang="en-US" sz="2800">
              <a:ea typeface="ＭＳ Ｐゴシック" panose="020B0600070205080204" pitchFamily="34" charset="-128"/>
            </a:endParaRPr>
          </a:p>
        </p:txBody>
      </p:sp>
      <p:sp>
        <p:nvSpPr>
          <p:cNvPr id="9220" name="Rectangle 4">
            <a:extLst>
              <a:ext uri="{FF2B5EF4-FFF2-40B4-BE49-F238E27FC236}">
                <a16:creationId xmlns:a16="http://schemas.microsoft.com/office/drawing/2014/main" xmlns="" id="{38952F1E-96B7-2F1C-A1F9-67AAA9CA61BC}"/>
              </a:ext>
            </a:extLst>
          </p:cNvPr>
          <p:cNvSpPr>
            <a:spLocks noChangeArrowheads="1"/>
          </p:cNvSpPr>
          <p:nvPr/>
        </p:nvSpPr>
        <p:spPr bwMode="auto">
          <a:xfrm>
            <a:off x="1752600" y="6035676"/>
            <a:ext cx="6096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Total number of comparisons: 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Best case time complexity: O(N)</a:t>
            </a:r>
          </a:p>
        </p:txBody>
      </p:sp>
      <p:pic>
        <p:nvPicPr>
          <p:cNvPr id="9222" name="Picture 6">
            <a:extLst>
              <a:ext uri="{FF2B5EF4-FFF2-40B4-BE49-F238E27FC236}">
                <a16:creationId xmlns:a16="http://schemas.microsoft.com/office/drawing/2014/main" xmlns="" id="{0AA24EFF-1E52-160B-A03F-35F75331E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200401"/>
            <a:ext cx="4876800"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dissolve">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dissolve">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dissolve">
                                      <p:cBhvr>
                                        <p:cTn id="17" dur="500"/>
                                        <p:tgtEl>
                                          <p:spTgt spid="92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220"/>
                                        </p:tgtEl>
                                        <p:attrNameLst>
                                          <p:attrName>style.visibility</p:attrName>
                                        </p:attrNameLst>
                                      </p:cBhvr>
                                      <p:to>
                                        <p:strVal val="visible"/>
                                      </p:to>
                                    </p:set>
                                    <p:animEffect transition="in" filter="dissolve">
                                      <p:cBhvr>
                                        <p:cTn id="22"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P spid="922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xmlns="" id="{49E4D39C-AD31-308D-06EE-3EE687FB26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8DCBE6F-5B04-466B-AC2D-F162DDEF4356}"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20483" name="Rectangle 2">
            <a:extLst>
              <a:ext uri="{FF2B5EF4-FFF2-40B4-BE49-F238E27FC236}">
                <a16:creationId xmlns:a16="http://schemas.microsoft.com/office/drawing/2014/main" xmlns="" id="{076824D4-022F-8204-8FEF-7AC6EA44E207}"/>
              </a:ext>
            </a:extLst>
          </p:cNvPr>
          <p:cNvSpPr>
            <a:spLocks noGrp="1" noChangeArrowheads="1"/>
          </p:cNvSpPr>
          <p:nvPr>
            <p:ph type="title"/>
          </p:nvPr>
        </p:nvSpPr>
        <p:spPr>
          <a:xfrm>
            <a:off x="2133600" y="304800"/>
            <a:ext cx="7772400" cy="1143000"/>
          </a:xfrm>
        </p:spPr>
        <p:txBody>
          <a:bodyPr/>
          <a:lstStyle/>
          <a:p>
            <a:pPr eaLnBrk="1" hangingPunct="1"/>
            <a:r>
              <a:rPr lang="en-US" altLang="en-US" b="1">
                <a:ea typeface="ＭＳ Ｐゴシック" panose="020B0600070205080204" pitchFamily="34" charset="-128"/>
              </a:rPr>
              <a:t>Rabin-Karp</a:t>
            </a:r>
            <a:endParaRPr lang="en-US" altLang="en-US">
              <a:ea typeface="ＭＳ Ｐゴシック" panose="020B0600070205080204" pitchFamily="34" charset="-128"/>
            </a:endParaRPr>
          </a:p>
        </p:txBody>
      </p:sp>
      <p:sp>
        <p:nvSpPr>
          <p:cNvPr id="10243" name="Rectangle 3">
            <a:extLst>
              <a:ext uri="{FF2B5EF4-FFF2-40B4-BE49-F238E27FC236}">
                <a16:creationId xmlns:a16="http://schemas.microsoft.com/office/drawing/2014/main" xmlns="" id="{DA44735A-4234-A036-9247-BCC510B1BBBB}"/>
              </a:ext>
            </a:extLst>
          </p:cNvPr>
          <p:cNvSpPr>
            <a:spLocks noGrp="1" noChangeArrowheads="1"/>
          </p:cNvSpPr>
          <p:nvPr>
            <p:ph type="body" idx="1"/>
          </p:nvPr>
        </p:nvSpPr>
        <p:spPr>
          <a:xfrm>
            <a:off x="1524000" y="1905000"/>
            <a:ext cx="9144000" cy="4343400"/>
          </a:xfrm>
        </p:spPr>
        <p:txBody>
          <a:bodyPr/>
          <a:lstStyle/>
          <a:p>
            <a:pPr eaLnBrk="1" hangingPunct="1"/>
            <a:r>
              <a:rPr lang="en-US" altLang="en-US" sz="2400">
                <a:ea typeface="ＭＳ Ｐゴシック" panose="020B0600070205080204" pitchFamily="34" charset="-128"/>
              </a:rPr>
              <a:t>The Rabin-Karp string searching algorithm calculates a </a:t>
            </a:r>
            <a:r>
              <a:rPr lang="en-US" altLang="en-US" sz="2400" b="1">
                <a:ea typeface="ＭＳ Ｐゴシック" panose="020B0600070205080204" pitchFamily="34" charset="-128"/>
              </a:rPr>
              <a:t>hash value</a:t>
            </a:r>
            <a:r>
              <a:rPr lang="en-US" altLang="en-US" sz="2400">
                <a:ea typeface="ＭＳ Ｐゴシック" panose="020B0600070205080204" pitchFamily="34" charset="-128"/>
              </a:rPr>
              <a:t> for the pattern, and for each M-character subsequence of text to be compared.</a:t>
            </a:r>
          </a:p>
          <a:p>
            <a:pPr eaLnBrk="1" hangingPunct="1"/>
            <a:r>
              <a:rPr lang="en-US" altLang="en-US" sz="2400">
                <a:ea typeface="ＭＳ Ｐゴシック" panose="020B0600070205080204" pitchFamily="34" charset="-128"/>
              </a:rPr>
              <a:t>If the hash values are unequal, the algorithm will calculate the hash value for next M-character sequence.</a:t>
            </a:r>
          </a:p>
          <a:p>
            <a:pPr eaLnBrk="1" hangingPunct="1"/>
            <a:r>
              <a:rPr lang="en-US" altLang="en-US" sz="2400">
                <a:ea typeface="ＭＳ Ｐゴシック" panose="020B0600070205080204" pitchFamily="34" charset="-128"/>
              </a:rPr>
              <a:t>If the hash values are equal, the algorithm will do a </a:t>
            </a:r>
            <a:r>
              <a:rPr lang="en-US" altLang="en-US" sz="2400">
                <a:solidFill>
                  <a:schemeClr val="accent2"/>
                </a:solidFill>
                <a:ea typeface="ＭＳ Ｐゴシック" panose="020B0600070205080204" pitchFamily="34" charset="-128"/>
              </a:rPr>
              <a:t>Brute Force</a:t>
            </a:r>
            <a:r>
              <a:rPr lang="en-US" altLang="en-US" sz="2400">
                <a:ea typeface="ＭＳ Ｐゴシック" panose="020B0600070205080204" pitchFamily="34" charset="-128"/>
              </a:rPr>
              <a:t> comparison between the pattern and the M-character sequence.</a:t>
            </a:r>
          </a:p>
          <a:p>
            <a:pPr eaLnBrk="1" hangingPunct="1"/>
            <a:r>
              <a:rPr lang="en-US" altLang="en-US" sz="2400">
                <a:ea typeface="ＭＳ Ｐゴシック" panose="020B0600070205080204" pitchFamily="34" charset="-128"/>
              </a:rPr>
              <a:t>In this way, there is only one comparison per text subsequence, and Brute Force is only needed when hash values match.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dissolve">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dissolve">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dissolve">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dissolve">
                                      <p:cBhvr>
                                        <p:cTn id="22"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xmlns="" id="{A2E54C61-AA78-FD88-3029-00E91EC106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9E406B8-5841-4C5C-8B41-B083C062FE02}"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21507" name="Rectangle 2">
            <a:extLst>
              <a:ext uri="{FF2B5EF4-FFF2-40B4-BE49-F238E27FC236}">
                <a16:creationId xmlns:a16="http://schemas.microsoft.com/office/drawing/2014/main" xmlns="" id="{863D28BF-3A49-1C2B-9B61-53631A043BA3}"/>
              </a:ext>
            </a:extLst>
          </p:cNvPr>
          <p:cNvSpPr>
            <a:spLocks noGrp="1" noChangeArrowheads="1"/>
          </p:cNvSpPr>
          <p:nvPr>
            <p:ph type="title"/>
          </p:nvPr>
        </p:nvSpPr>
        <p:spPr>
          <a:xfrm>
            <a:off x="2133600" y="533400"/>
            <a:ext cx="7772400" cy="1143000"/>
          </a:xfrm>
        </p:spPr>
        <p:txBody>
          <a:bodyPr/>
          <a:lstStyle/>
          <a:p>
            <a:pPr eaLnBrk="1" hangingPunct="1"/>
            <a:r>
              <a:rPr lang="en-US" altLang="en-US" b="1">
                <a:ea typeface="ＭＳ Ｐゴシック" panose="020B0600070205080204" pitchFamily="34" charset="-128"/>
              </a:rPr>
              <a:t>Rabin-Karp Example</a:t>
            </a:r>
            <a:endParaRPr lang="en-US" altLang="en-US">
              <a:ea typeface="ＭＳ Ｐゴシック" panose="020B0600070205080204" pitchFamily="34" charset="-128"/>
            </a:endParaRPr>
          </a:p>
        </p:txBody>
      </p:sp>
      <p:sp>
        <p:nvSpPr>
          <p:cNvPr id="11267" name="Rectangle 3">
            <a:extLst>
              <a:ext uri="{FF2B5EF4-FFF2-40B4-BE49-F238E27FC236}">
                <a16:creationId xmlns:a16="http://schemas.microsoft.com/office/drawing/2014/main" xmlns="" id="{02109DAF-7E15-EA7A-42DE-626FC2AC5BE4}"/>
              </a:ext>
            </a:extLst>
          </p:cNvPr>
          <p:cNvSpPr>
            <a:spLocks noGrp="1" noChangeArrowheads="1"/>
          </p:cNvSpPr>
          <p:nvPr>
            <p:ph type="body" idx="1"/>
          </p:nvPr>
        </p:nvSpPr>
        <p:spPr>
          <a:xfrm>
            <a:off x="1524000" y="1447800"/>
            <a:ext cx="7772400" cy="990600"/>
          </a:xfrm>
        </p:spPr>
        <p:txBody>
          <a:bodyPr/>
          <a:lstStyle/>
          <a:p>
            <a:pPr eaLnBrk="1" hangingPunct="1"/>
            <a:r>
              <a:rPr lang="en-US" altLang="en-US" sz="2400">
                <a:ea typeface="ＭＳ Ｐゴシック" panose="020B0600070205080204" pitchFamily="34" charset="-128"/>
              </a:rPr>
              <a:t>Hash value of “AAAAA” is 37</a:t>
            </a:r>
          </a:p>
          <a:p>
            <a:pPr eaLnBrk="1" hangingPunct="1"/>
            <a:r>
              <a:rPr lang="en-US" altLang="en-US" sz="2400">
                <a:ea typeface="ＭＳ Ｐゴシック" panose="020B0600070205080204" pitchFamily="34" charset="-128"/>
              </a:rPr>
              <a:t>Hash value of “AAAAH” is 100</a:t>
            </a:r>
            <a:endParaRPr lang="en-US" altLang="en-US">
              <a:ea typeface="ＭＳ Ｐゴシック" panose="020B0600070205080204" pitchFamily="34" charset="-128"/>
            </a:endParaRPr>
          </a:p>
        </p:txBody>
      </p:sp>
      <p:pic>
        <p:nvPicPr>
          <p:cNvPr id="11268" name="Picture 4">
            <a:extLst>
              <a:ext uri="{FF2B5EF4-FFF2-40B4-BE49-F238E27FC236}">
                <a16:creationId xmlns:a16="http://schemas.microsoft.com/office/drawing/2014/main" xmlns="" id="{FA231A95-E5FC-90F2-4D31-0DD9876D10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1" y="2486026"/>
            <a:ext cx="4962525"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dissolve">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dissolve">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1268"/>
                                        </p:tgtEl>
                                        <p:attrNameLst>
                                          <p:attrName>style.visibility</p:attrName>
                                        </p:attrNameLst>
                                      </p:cBhvr>
                                      <p:to>
                                        <p:strVal val="visible"/>
                                      </p:to>
                                    </p:set>
                                    <p:animEffect transition="in" filter="dissolve">
                                      <p:cBhvr>
                                        <p:cTn id="17"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xmlns="" id="{C4966AD6-1778-B033-8B4B-B455B69099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CABD633-10E6-4CCF-A384-BFFE3F93788B}"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22531" name="Rectangle 2">
            <a:extLst>
              <a:ext uri="{FF2B5EF4-FFF2-40B4-BE49-F238E27FC236}">
                <a16:creationId xmlns:a16="http://schemas.microsoft.com/office/drawing/2014/main" xmlns="" id="{A5EBF80E-2A78-2A92-A3EA-713A9C4C4DF2}"/>
              </a:ext>
            </a:extLst>
          </p:cNvPr>
          <p:cNvSpPr>
            <a:spLocks noGrp="1" noChangeArrowheads="1"/>
          </p:cNvSpPr>
          <p:nvPr>
            <p:ph type="title"/>
          </p:nvPr>
        </p:nvSpPr>
        <p:spPr>
          <a:xfrm>
            <a:off x="2133600" y="533400"/>
            <a:ext cx="7772400" cy="1143000"/>
          </a:xfrm>
        </p:spPr>
        <p:txBody>
          <a:bodyPr/>
          <a:lstStyle/>
          <a:p>
            <a:pPr eaLnBrk="1" hangingPunct="1"/>
            <a:r>
              <a:rPr lang="en-US" altLang="en-US" b="1">
                <a:ea typeface="ＭＳ Ｐゴシック" panose="020B0600070205080204" pitchFamily="34" charset="-128"/>
              </a:rPr>
              <a:t>Rabin-Karp Algorithm</a:t>
            </a:r>
            <a:endParaRPr lang="en-US" altLang="en-US">
              <a:ea typeface="ＭＳ Ｐゴシック" panose="020B0600070205080204" pitchFamily="34" charset="-128"/>
            </a:endParaRPr>
          </a:p>
        </p:txBody>
      </p:sp>
      <p:sp>
        <p:nvSpPr>
          <p:cNvPr id="12291" name="Rectangle 3">
            <a:extLst>
              <a:ext uri="{FF2B5EF4-FFF2-40B4-BE49-F238E27FC236}">
                <a16:creationId xmlns:a16="http://schemas.microsoft.com/office/drawing/2014/main" xmlns="" id="{B8EF49FC-CB86-B80A-3F3C-819D3FD50FF6}"/>
              </a:ext>
            </a:extLst>
          </p:cNvPr>
          <p:cNvSpPr>
            <a:spLocks noGrp="1" noChangeArrowheads="1"/>
          </p:cNvSpPr>
          <p:nvPr>
            <p:ph type="body" idx="1"/>
          </p:nvPr>
        </p:nvSpPr>
        <p:spPr>
          <a:xfrm>
            <a:off x="1905000" y="2057400"/>
            <a:ext cx="8763000" cy="4114800"/>
          </a:xfrm>
        </p:spPr>
        <p:txBody>
          <a:bodyPr/>
          <a:lstStyle/>
          <a:p>
            <a:pPr eaLnBrk="1" hangingPunct="1">
              <a:lnSpc>
                <a:spcPct val="90000"/>
              </a:lnSpc>
              <a:buFontTx/>
              <a:buNone/>
            </a:pPr>
            <a:r>
              <a:rPr lang="en-US" altLang="en-US" sz="2400" i="1">
                <a:ea typeface="ＭＳ Ｐゴシック" panose="020B0600070205080204" pitchFamily="34" charset="-128"/>
              </a:rPr>
              <a:t>pattern is M characters long</a:t>
            </a:r>
            <a:r>
              <a:rPr lang="en-US" altLang="en-US" sz="2400">
                <a:ea typeface="ＭＳ Ｐゴシック" panose="020B0600070205080204" pitchFamily="34" charset="-128"/>
              </a:rPr>
              <a:t> </a:t>
            </a:r>
          </a:p>
          <a:p>
            <a:pPr eaLnBrk="1" hangingPunct="1">
              <a:lnSpc>
                <a:spcPct val="90000"/>
              </a:lnSpc>
              <a:buFontTx/>
              <a:buNone/>
            </a:pPr>
            <a:r>
              <a:rPr lang="en-US" altLang="en-US" sz="2400">
                <a:solidFill>
                  <a:srgbClr val="5D994E"/>
                </a:solidFill>
                <a:ea typeface="ＭＳ Ｐゴシック" panose="020B0600070205080204" pitchFamily="34" charset="-128"/>
              </a:rPr>
              <a:t>hash_p</a:t>
            </a:r>
            <a:r>
              <a:rPr lang="en-US" altLang="en-US" sz="2400">
                <a:ea typeface="ＭＳ Ｐゴシック" panose="020B0600070205080204" pitchFamily="34" charset="-128"/>
              </a:rPr>
              <a:t>=hash value of pattern</a:t>
            </a:r>
          </a:p>
          <a:p>
            <a:pPr eaLnBrk="1" hangingPunct="1">
              <a:lnSpc>
                <a:spcPct val="90000"/>
              </a:lnSpc>
              <a:buFontTx/>
              <a:buNone/>
            </a:pPr>
            <a:r>
              <a:rPr lang="en-US" altLang="en-US" sz="2400">
                <a:solidFill>
                  <a:srgbClr val="DC303B"/>
                </a:solidFill>
                <a:ea typeface="ＭＳ Ｐゴシック" panose="020B0600070205080204" pitchFamily="34" charset="-128"/>
              </a:rPr>
              <a:t>hash_t</a:t>
            </a:r>
            <a:r>
              <a:rPr lang="en-US" altLang="en-US" sz="2400">
                <a:ea typeface="ＭＳ Ｐゴシック" panose="020B0600070205080204" pitchFamily="34" charset="-128"/>
              </a:rPr>
              <a:t>=hash value of first M letters in body of text</a:t>
            </a:r>
          </a:p>
          <a:p>
            <a:pPr eaLnBrk="1" hangingPunct="1">
              <a:lnSpc>
                <a:spcPct val="90000"/>
              </a:lnSpc>
              <a:buFontTx/>
              <a:buNone/>
            </a:pPr>
            <a:r>
              <a:rPr lang="en-US" altLang="en-US" sz="2400" b="1">
                <a:solidFill>
                  <a:schemeClr val="accent2"/>
                </a:solidFill>
                <a:ea typeface="ＭＳ Ｐゴシック" panose="020B0600070205080204" pitchFamily="34" charset="-128"/>
              </a:rPr>
              <a:t>do</a:t>
            </a:r>
          </a:p>
          <a:p>
            <a:pPr eaLnBrk="1" hangingPunct="1">
              <a:lnSpc>
                <a:spcPct val="90000"/>
              </a:lnSpc>
              <a:buFontTx/>
              <a:buNone/>
            </a:pPr>
            <a:r>
              <a:rPr lang="en-US" altLang="en-US" sz="2400" b="1">
                <a:solidFill>
                  <a:schemeClr val="accent2"/>
                </a:solidFill>
                <a:ea typeface="ＭＳ Ｐゴシック" panose="020B0600070205080204" pitchFamily="34" charset="-128"/>
              </a:rPr>
              <a:t>	if</a:t>
            </a:r>
            <a:r>
              <a:rPr lang="en-US" altLang="en-US" sz="2400">
                <a:solidFill>
                  <a:schemeClr val="accent2"/>
                </a:solidFill>
                <a:ea typeface="ＭＳ Ｐゴシック" panose="020B0600070205080204" pitchFamily="34" charset="-128"/>
              </a:rPr>
              <a:t> (</a:t>
            </a:r>
            <a:r>
              <a:rPr lang="en-US" altLang="en-US" sz="2400">
                <a:solidFill>
                  <a:srgbClr val="5D994E"/>
                </a:solidFill>
                <a:ea typeface="ＭＳ Ｐゴシック" panose="020B0600070205080204" pitchFamily="34" charset="-128"/>
              </a:rPr>
              <a:t>hash_p</a:t>
            </a:r>
            <a:r>
              <a:rPr lang="en-US" altLang="en-US" sz="2400">
                <a:solidFill>
                  <a:schemeClr val="accent2"/>
                </a:solidFill>
                <a:ea typeface="ＭＳ Ｐゴシック" panose="020B0600070205080204" pitchFamily="34" charset="-128"/>
              </a:rPr>
              <a:t> == </a:t>
            </a:r>
            <a:r>
              <a:rPr lang="en-US" altLang="en-US" sz="2400">
                <a:solidFill>
                  <a:srgbClr val="DC303B"/>
                </a:solidFill>
                <a:ea typeface="ＭＳ Ｐゴシック" panose="020B0600070205080204" pitchFamily="34" charset="-128"/>
              </a:rPr>
              <a:t>hash_t</a:t>
            </a:r>
            <a:r>
              <a:rPr lang="en-US" altLang="en-US" sz="2400">
                <a:solidFill>
                  <a:schemeClr val="accent2"/>
                </a:solidFill>
                <a:ea typeface="ＭＳ Ｐゴシック" panose="020B0600070205080204" pitchFamily="34" charset="-128"/>
              </a:rPr>
              <a:t>) </a:t>
            </a:r>
          </a:p>
          <a:p>
            <a:pPr eaLnBrk="1" hangingPunct="1">
              <a:lnSpc>
                <a:spcPct val="90000"/>
              </a:lnSpc>
              <a:buFontTx/>
              <a:buNone/>
            </a:pPr>
            <a:r>
              <a:rPr lang="en-US" altLang="en-US" sz="2400">
                <a:solidFill>
                  <a:schemeClr val="accent2"/>
                </a:solidFill>
                <a:ea typeface="ＭＳ Ｐゴシック" panose="020B0600070205080204" pitchFamily="34" charset="-128"/>
              </a:rPr>
              <a:t>		brute force comparison of pattern and selected section of text</a:t>
            </a:r>
          </a:p>
          <a:p>
            <a:pPr eaLnBrk="1" hangingPunct="1">
              <a:lnSpc>
                <a:spcPct val="90000"/>
              </a:lnSpc>
              <a:buFontTx/>
              <a:buNone/>
            </a:pPr>
            <a:r>
              <a:rPr lang="en-US" altLang="en-US" sz="2400">
                <a:solidFill>
                  <a:schemeClr val="accent2"/>
                </a:solidFill>
                <a:ea typeface="ＭＳ Ｐゴシック" panose="020B0600070205080204" pitchFamily="34" charset="-128"/>
              </a:rPr>
              <a:t>	       </a:t>
            </a:r>
            <a:r>
              <a:rPr lang="en-US" altLang="en-US" sz="2400">
                <a:solidFill>
                  <a:srgbClr val="DC303B"/>
                </a:solidFill>
                <a:ea typeface="ＭＳ Ｐゴシック" panose="020B0600070205080204" pitchFamily="34" charset="-128"/>
              </a:rPr>
              <a:t>hash_t</a:t>
            </a:r>
            <a:r>
              <a:rPr lang="en-US" altLang="en-US" sz="2400">
                <a:solidFill>
                  <a:schemeClr val="accent2"/>
                </a:solidFill>
                <a:ea typeface="ＭＳ Ｐゴシック" panose="020B0600070205080204" pitchFamily="34" charset="-128"/>
              </a:rPr>
              <a:t>= hash value of next section of text, one character over</a:t>
            </a:r>
          </a:p>
          <a:p>
            <a:pPr eaLnBrk="1" hangingPunct="1">
              <a:lnSpc>
                <a:spcPct val="90000"/>
              </a:lnSpc>
              <a:buFontTx/>
              <a:buNone/>
            </a:pPr>
            <a:r>
              <a:rPr lang="en-US" altLang="en-US" sz="2400" b="1">
                <a:solidFill>
                  <a:schemeClr val="accent2"/>
                </a:solidFill>
                <a:ea typeface="ＭＳ Ｐゴシック" panose="020B0600070205080204" pitchFamily="34" charset="-128"/>
              </a:rPr>
              <a:t>while</a:t>
            </a:r>
            <a:r>
              <a:rPr lang="en-US" altLang="en-US" sz="2400">
                <a:solidFill>
                  <a:schemeClr val="accent2"/>
                </a:solidFill>
                <a:ea typeface="ＭＳ Ｐゴシック" panose="020B0600070205080204" pitchFamily="34" charset="-128"/>
              </a:rPr>
              <a:t> (end of text)</a:t>
            </a:r>
            <a:endParaRPr lang="en-US" altLang="en-US" sz="2400">
              <a:ea typeface="ＭＳ Ｐゴシック"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dissolv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dissolve">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dissolve">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dissolve">
                                      <p:cBhvr>
                                        <p:cTn id="22" dur="500"/>
                                        <p:tgtEl>
                                          <p:spTgt spid="12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dissolve">
                                      <p:cBhvr>
                                        <p:cTn id="27" dur="500"/>
                                        <p:tgtEl>
                                          <p:spTgt spid="12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dissolve">
                                      <p:cBhvr>
                                        <p:cTn id="32" dur="500"/>
                                        <p:tgtEl>
                                          <p:spTgt spid="12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dissolve">
                                      <p:cBhvr>
                                        <p:cTn id="37" dur="500"/>
                                        <p:tgtEl>
                                          <p:spTgt spid="12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2291">
                                            <p:txEl>
                                              <p:pRg st="7" end="7"/>
                                            </p:txEl>
                                          </p:spTgt>
                                        </p:tgtEl>
                                        <p:attrNameLst>
                                          <p:attrName>style.visibility</p:attrName>
                                        </p:attrNameLst>
                                      </p:cBhvr>
                                      <p:to>
                                        <p:strVal val="visible"/>
                                      </p:to>
                                    </p:set>
                                    <p:animEffect transition="in" filter="dissolve">
                                      <p:cBhvr>
                                        <p:cTn id="42" dur="500"/>
                                        <p:tgtEl>
                                          <p:spTgt spid="12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xmlns="" id="{439C85D6-542A-9608-5522-0B7D1B1469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A65F998-9597-452F-9665-5E120E2ECCFD}"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24579" name="Rectangle 2">
            <a:extLst>
              <a:ext uri="{FF2B5EF4-FFF2-40B4-BE49-F238E27FC236}">
                <a16:creationId xmlns:a16="http://schemas.microsoft.com/office/drawing/2014/main" xmlns="" id="{60658CBF-DC70-1DCE-9E52-5ED13097A31E}"/>
              </a:ext>
            </a:extLst>
          </p:cNvPr>
          <p:cNvSpPr>
            <a:spLocks noGrp="1" noChangeArrowheads="1"/>
          </p:cNvSpPr>
          <p:nvPr>
            <p:ph type="title"/>
          </p:nvPr>
        </p:nvSpPr>
        <p:spPr>
          <a:xfrm>
            <a:off x="2286000" y="152400"/>
            <a:ext cx="7772400" cy="1143000"/>
          </a:xfrm>
        </p:spPr>
        <p:txBody>
          <a:bodyPr/>
          <a:lstStyle/>
          <a:p>
            <a:pPr eaLnBrk="1" hangingPunct="1"/>
            <a:r>
              <a:rPr lang="en-US" altLang="en-US" b="1">
                <a:ea typeface="ＭＳ Ｐゴシック" panose="020B0600070205080204" pitchFamily="34" charset="-128"/>
              </a:rPr>
              <a:t>Hash Function</a:t>
            </a:r>
            <a:endParaRPr lang="en-US" altLang="en-US">
              <a:ea typeface="ＭＳ Ｐゴシック" panose="020B0600070205080204" pitchFamily="34" charset="-128"/>
            </a:endParaRPr>
          </a:p>
        </p:txBody>
      </p:sp>
      <p:sp>
        <p:nvSpPr>
          <p:cNvPr id="14339" name="Rectangle 3">
            <a:extLst>
              <a:ext uri="{FF2B5EF4-FFF2-40B4-BE49-F238E27FC236}">
                <a16:creationId xmlns:a16="http://schemas.microsoft.com/office/drawing/2014/main" xmlns="" id="{EB146246-1F50-4505-7423-3437F0D59013}"/>
              </a:ext>
            </a:extLst>
          </p:cNvPr>
          <p:cNvSpPr>
            <a:spLocks noGrp="1" noChangeArrowheads="1"/>
          </p:cNvSpPr>
          <p:nvPr>
            <p:ph type="body" idx="1"/>
          </p:nvPr>
        </p:nvSpPr>
        <p:spPr>
          <a:xfrm>
            <a:off x="1524000" y="1143000"/>
            <a:ext cx="9144000" cy="990600"/>
          </a:xfrm>
        </p:spPr>
        <p:txBody>
          <a:bodyPr/>
          <a:lstStyle/>
          <a:p>
            <a:pPr eaLnBrk="1" hangingPunct="1">
              <a:lnSpc>
                <a:spcPct val="90000"/>
              </a:lnSpc>
              <a:buFontTx/>
              <a:buNone/>
            </a:pPr>
            <a:endParaRPr lang="en-US" altLang="en-US" sz="2400">
              <a:ea typeface="ＭＳ Ｐゴシック" panose="020B0600070205080204" pitchFamily="34" charset="-128"/>
            </a:endParaRPr>
          </a:p>
          <a:p>
            <a:pPr eaLnBrk="1" hangingPunct="1">
              <a:lnSpc>
                <a:spcPct val="90000"/>
              </a:lnSpc>
            </a:pPr>
            <a:r>
              <a:rPr lang="en-US" altLang="en-US" sz="2400">
                <a:ea typeface="ＭＳ Ｐゴシック" panose="020B0600070205080204" pitchFamily="34" charset="-128"/>
              </a:rPr>
              <a:t>Let b be the number of letters in the alphabet.  The text subsequence t[i .. i+M-1] is mapped to the number</a:t>
            </a:r>
            <a:endParaRPr lang="en-US" altLang="en-US" sz="2800">
              <a:ea typeface="ＭＳ Ｐゴシック" panose="020B0600070205080204" pitchFamily="34" charset="-128"/>
            </a:endParaRPr>
          </a:p>
        </p:txBody>
      </p:sp>
      <p:sp>
        <p:nvSpPr>
          <p:cNvPr id="14340" name="Rectangle 4">
            <a:extLst>
              <a:ext uri="{FF2B5EF4-FFF2-40B4-BE49-F238E27FC236}">
                <a16:creationId xmlns:a16="http://schemas.microsoft.com/office/drawing/2014/main" xmlns="" id="{D2EC8D54-D59F-F5E2-47C2-9717F82F6F80}"/>
              </a:ext>
            </a:extLst>
          </p:cNvPr>
          <p:cNvSpPr>
            <a:spLocks noChangeArrowheads="1"/>
          </p:cNvSpPr>
          <p:nvPr/>
        </p:nvSpPr>
        <p:spPr bwMode="auto">
          <a:xfrm>
            <a:off x="1524000" y="3063876"/>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Times" panose="02020603050405020304" pitchFamily="18" charset="0"/>
              <a:buChar char="•"/>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  Furthermore, given x(i) we can compute x(i+1) for the next subsequence t[i+1 .. i+M] in constant time, as follows:</a:t>
            </a:r>
            <a:endParaRPr kumimoji="0" lang="en-US" altLang="en-US" sz="28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14341" name="Rectangle 5">
            <a:extLst>
              <a:ext uri="{FF2B5EF4-FFF2-40B4-BE49-F238E27FC236}">
                <a16:creationId xmlns:a16="http://schemas.microsoft.com/office/drawing/2014/main" xmlns="" id="{7F86FC3A-6427-BFC1-710B-F488E75AEBD7}"/>
              </a:ext>
            </a:extLst>
          </p:cNvPr>
          <p:cNvSpPr>
            <a:spLocks noChangeArrowheads="1"/>
          </p:cNvSpPr>
          <p:nvPr/>
        </p:nvSpPr>
        <p:spPr bwMode="auto">
          <a:xfrm>
            <a:off x="1524000" y="5670551"/>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Times" panose="02020603050405020304" pitchFamily="18" charset="0"/>
              <a:buChar char="•"/>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   In this way, we never explicitly compute a new value.  We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    simply adjust the existing value as we move over one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t>    character.</a:t>
            </a:r>
          </a:p>
        </p:txBody>
      </p:sp>
      <p:pic>
        <p:nvPicPr>
          <p:cNvPr id="14342" name="Picture 6">
            <a:extLst>
              <a:ext uri="{FF2B5EF4-FFF2-40B4-BE49-F238E27FC236}">
                <a16:creationId xmlns:a16="http://schemas.microsoft.com/office/drawing/2014/main" xmlns="" id="{075F7703-32C5-968B-F09C-B4F9F1982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667000"/>
            <a:ext cx="5372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7">
            <a:extLst>
              <a:ext uri="{FF2B5EF4-FFF2-40B4-BE49-F238E27FC236}">
                <a16:creationId xmlns:a16="http://schemas.microsoft.com/office/drawing/2014/main" xmlns="" id="{6AA92C62-615E-9232-5702-BC594F656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4114800"/>
            <a:ext cx="624840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dissolve">
                                      <p:cBhvr>
                                        <p:cTn id="7" dur="500"/>
                                        <p:tgtEl>
                                          <p:spTgt spid="143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342"/>
                                        </p:tgtEl>
                                        <p:attrNameLst>
                                          <p:attrName>style.visibility</p:attrName>
                                        </p:attrNameLst>
                                      </p:cBhvr>
                                      <p:to>
                                        <p:strVal val="visible"/>
                                      </p:to>
                                    </p:set>
                                    <p:animEffect transition="in" filter="dissolve">
                                      <p:cBhvr>
                                        <p:cTn id="12" dur="500"/>
                                        <p:tgtEl>
                                          <p:spTgt spid="143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340"/>
                                        </p:tgtEl>
                                        <p:attrNameLst>
                                          <p:attrName>style.visibility</p:attrName>
                                        </p:attrNameLst>
                                      </p:cBhvr>
                                      <p:to>
                                        <p:strVal val="visible"/>
                                      </p:to>
                                    </p:set>
                                    <p:animEffect transition="in" filter="dissolve">
                                      <p:cBhvr>
                                        <p:cTn id="17" dur="500"/>
                                        <p:tgtEl>
                                          <p:spTgt spid="143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343"/>
                                        </p:tgtEl>
                                        <p:attrNameLst>
                                          <p:attrName>style.visibility</p:attrName>
                                        </p:attrNameLst>
                                      </p:cBhvr>
                                      <p:to>
                                        <p:strVal val="visible"/>
                                      </p:to>
                                    </p:set>
                                    <p:animEffect transition="in" filter="dissolve">
                                      <p:cBhvr>
                                        <p:cTn id="22" dur="500"/>
                                        <p:tgtEl>
                                          <p:spTgt spid="143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4341"/>
                                        </p:tgtEl>
                                        <p:attrNameLst>
                                          <p:attrName>style.visibility</p:attrName>
                                        </p:attrNameLst>
                                      </p:cBhvr>
                                      <p:to>
                                        <p:strVal val="visible"/>
                                      </p:to>
                                    </p:set>
                                    <p:animEffect transition="in" filter="dissolve">
                                      <p:cBhvr>
                                        <p:cTn id="27"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P spid="14340" grpId="0" autoUpdateAnimBg="0"/>
      <p:bldP spid="1434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xmlns="" id="{BB63AFED-7170-A244-17D2-D93F4C2C55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682B737-1B04-401A-B714-5BD9B312EE55}"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25603" name="Rectangle 2">
            <a:extLst>
              <a:ext uri="{FF2B5EF4-FFF2-40B4-BE49-F238E27FC236}">
                <a16:creationId xmlns:a16="http://schemas.microsoft.com/office/drawing/2014/main" xmlns="" id="{34DF3D2B-CFE9-177A-D452-FA1DB44029DB}"/>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Rabin-Karp Math Example	</a:t>
            </a:r>
            <a:r>
              <a:rPr lang="en-US" altLang="en-US">
                <a:ea typeface="ＭＳ Ｐゴシック" panose="020B0600070205080204" pitchFamily="34" charset="-128"/>
              </a:rPr>
              <a:t>	</a:t>
            </a:r>
          </a:p>
        </p:txBody>
      </p:sp>
      <p:sp>
        <p:nvSpPr>
          <p:cNvPr id="15363" name="Rectangle 3">
            <a:extLst>
              <a:ext uri="{FF2B5EF4-FFF2-40B4-BE49-F238E27FC236}">
                <a16:creationId xmlns:a16="http://schemas.microsoft.com/office/drawing/2014/main" xmlns="" id="{D1685A40-3D49-AD05-9B47-5D0162A32254}"/>
              </a:ext>
            </a:extLst>
          </p:cNvPr>
          <p:cNvSpPr>
            <a:spLocks noGrp="1" noChangeArrowheads="1"/>
          </p:cNvSpPr>
          <p:nvPr>
            <p:ph type="body" idx="1"/>
          </p:nvPr>
        </p:nvSpPr>
        <p:spPr>
          <a:xfrm>
            <a:off x="1524000" y="2743200"/>
            <a:ext cx="8534400" cy="4114800"/>
          </a:xfrm>
        </p:spPr>
        <p:txBody>
          <a:bodyPr/>
          <a:lstStyle/>
          <a:p>
            <a:pPr eaLnBrk="1" hangingPunct="1"/>
            <a:r>
              <a:rPr lang="en-US" altLang="en-US" sz="2400">
                <a:ea typeface="ＭＳ Ｐゴシック" panose="020B0600070205080204" pitchFamily="34" charset="-128"/>
              </a:rPr>
              <a:t>Let’s say that our alphabet consists of 10 letters.</a:t>
            </a:r>
          </a:p>
          <a:p>
            <a:pPr eaLnBrk="1" hangingPunct="1"/>
            <a:r>
              <a:rPr lang="en-US" altLang="en-US" sz="2400">
                <a:ea typeface="ＭＳ Ｐゴシック" panose="020B0600070205080204" pitchFamily="34" charset="-128"/>
              </a:rPr>
              <a:t>our alphabet = a, b, c, d, e, f, g, h, i, j</a:t>
            </a:r>
          </a:p>
          <a:p>
            <a:pPr eaLnBrk="1" hangingPunct="1"/>
            <a:r>
              <a:rPr lang="en-US" altLang="en-US" sz="2400">
                <a:ea typeface="ＭＳ Ｐゴシック" panose="020B0600070205080204" pitchFamily="34" charset="-128"/>
              </a:rPr>
              <a:t>Let’s say that “a” corresponds to 1, “b” corresponds to 2 and so on.</a:t>
            </a:r>
          </a:p>
          <a:p>
            <a:pPr eaLnBrk="1" hangingPunct="1">
              <a:buFontTx/>
              <a:buNone/>
            </a:pPr>
            <a:r>
              <a:rPr lang="en-US" altLang="en-US" sz="2400">
                <a:ea typeface="ＭＳ Ｐゴシック" panose="020B0600070205080204" pitchFamily="34" charset="-128"/>
              </a:rPr>
              <a:t>   The hash value for string “cah” would be ...</a:t>
            </a:r>
          </a:p>
          <a:p>
            <a:pPr eaLnBrk="1" hangingPunct="1"/>
            <a:endParaRPr lang="en-US" altLang="en-US" sz="2400">
              <a:ea typeface="ＭＳ Ｐゴシック" panose="020B0600070205080204" pitchFamily="34" charset="-128"/>
            </a:endParaRPr>
          </a:p>
          <a:p>
            <a:pPr eaLnBrk="1" hangingPunct="1">
              <a:buFontTx/>
              <a:buNone/>
            </a:pPr>
            <a:r>
              <a:rPr lang="en-US" altLang="en-US" sz="2400">
                <a:ea typeface="ＭＳ Ｐゴシック" panose="020B0600070205080204" pitchFamily="34" charset="-128"/>
              </a:rPr>
              <a:t>              3*100 + 1*10 + 8*1 = 318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dissolve">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dissolve">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dissolve">
                                      <p:cBhvr>
                                        <p:cTn id="17" dur="500"/>
                                        <p:tgtEl>
                                          <p:spTgt spid="15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dissolve">
                                      <p:cBhvr>
                                        <p:cTn id="22" dur="500"/>
                                        <p:tgtEl>
                                          <p:spTgt spid="153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5363">
                                            <p:txEl>
                                              <p:pRg st="5" end="5"/>
                                            </p:txEl>
                                          </p:spTgt>
                                        </p:tgtEl>
                                        <p:attrNameLst>
                                          <p:attrName>style.visibility</p:attrName>
                                        </p:attrNameLst>
                                      </p:cBhvr>
                                      <p:to>
                                        <p:strVal val="visible"/>
                                      </p:to>
                                    </p:set>
                                    <p:animEffect transition="in" filter="dissolve">
                                      <p:cBhvr>
                                        <p:cTn id="27"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xmlns="" id="{8144CB95-EF36-DD20-ED2A-38D1207ACB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B979EB3-A925-4AF5-B45A-0F1058C78A75}"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26627" name="Rectangle 2">
            <a:extLst>
              <a:ext uri="{FF2B5EF4-FFF2-40B4-BE49-F238E27FC236}">
                <a16:creationId xmlns:a16="http://schemas.microsoft.com/office/drawing/2014/main" xmlns="" id="{8A9D0CD9-218B-7E52-1CAB-D4E1E7AE69A5}"/>
              </a:ext>
            </a:extLst>
          </p:cNvPr>
          <p:cNvSpPr>
            <a:spLocks noGrp="1" noChangeArrowheads="1"/>
          </p:cNvSpPr>
          <p:nvPr>
            <p:ph type="title"/>
          </p:nvPr>
        </p:nvSpPr>
        <p:spPr>
          <a:xfrm>
            <a:off x="2057400" y="-152400"/>
            <a:ext cx="7772400" cy="1143000"/>
          </a:xfrm>
        </p:spPr>
        <p:txBody>
          <a:bodyPr/>
          <a:lstStyle/>
          <a:p>
            <a:pPr eaLnBrk="1" hangingPunct="1"/>
            <a:r>
              <a:rPr lang="en-US" altLang="en-US" b="1">
                <a:ea typeface="ＭＳ Ｐゴシック" panose="020B0600070205080204" pitchFamily="34" charset="-128"/>
              </a:rPr>
              <a:t>Rabin-Karp Mods</a:t>
            </a:r>
            <a:endParaRPr lang="en-US" altLang="en-US">
              <a:ea typeface="ＭＳ Ｐゴシック" panose="020B0600070205080204" pitchFamily="34" charset="-128"/>
            </a:endParaRPr>
          </a:p>
        </p:txBody>
      </p:sp>
      <p:sp>
        <p:nvSpPr>
          <p:cNvPr id="16387" name="Rectangle 3">
            <a:extLst>
              <a:ext uri="{FF2B5EF4-FFF2-40B4-BE49-F238E27FC236}">
                <a16:creationId xmlns:a16="http://schemas.microsoft.com/office/drawing/2014/main" xmlns="" id="{5219D8AB-179B-592C-772B-A05E7147F892}"/>
              </a:ext>
            </a:extLst>
          </p:cNvPr>
          <p:cNvSpPr>
            <a:spLocks noGrp="1" noChangeArrowheads="1"/>
          </p:cNvSpPr>
          <p:nvPr>
            <p:ph type="body" idx="1"/>
          </p:nvPr>
        </p:nvSpPr>
        <p:spPr>
          <a:xfrm>
            <a:off x="873457" y="968991"/>
            <a:ext cx="10631606" cy="5355609"/>
          </a:xfrm>
        </p:spPr>
        <p:txBody>
          <a:bodyPr/>
          <a:lstStyle/>
          <a:p>
            <a:pPr eaLnBrk="1" hangingPunct="1">
              <a:lnSpc>
                <a:spcPct val="90000"/>
              </a:lnSpc>
            </a:pPr>
            <a:r>
              <a:rPr lang="en-US" altLang="en-US" sz="2200" dirty="0">
                <a:ea typeface="ＭＳ Ｐゴシック" panose="020B0600070205080204" pitchFamily="34" charset="-128"/>
              </a:rPr>
              <a:t>If M is large, then the resulting value (~</a:t>
            </a:r>
            <a:r>
              <a:rPr lang="en-US" altLang="en-US" sz="2200" dirty="0" err="1">
                <a:ea typeface="ＭＳ Ｐゴシック" panose="020B0600070205080204" pitchFamily="34" charset="-128"/>
              </a:rPr>
              <a:t>b</a:t>
            </a:r>
            <a:r>
              <a:rPr lang="en-US" altLang="en-US" sz="2200" baseline="30000" dirty="0" err="1">
                <a:ea typeface="ＭＳ Ｐゴシック" panose="020B0600070205080204" pitchFamily="34" charset="-128"/>
              </a:rPr>
              <a:t>M</a:t>
            </a:r>
            <a:r>
              <a:rPr lang="en-US" altLang="en-US" sz="2200" dirty="0">
                <a:ea typeface="ＭＳ Ｐゴシック" panose="020B0600070205080204" pitchFamily="34" charset="-128"/>
              </a:rPr>
              <a:t>) will be enormous.  For this reason, we hash the value by taking it </a:t>
            </a:r>
            <a:r>
              <a:rPr lang="en-US" altLang="en-US" sz="2200" b="1" dirty="0">
                <a:solidFill>
                  <a:schemeClr val="accent2"/>
                </a:solidFill>
                <a:ea typeface="ＭＳ Ｐゴシック" panose="020B0600070205080204" pitchFamily="34" charset="-128"/>
              </a:rPr>
              <a:t>mod</a:t>
            </a:r>
            <a:r>
              <a:rPr lang="en-US" altLang="en-US" sz="2200" dirty="0">
                <a:ea typeface="ＭＳ Ｐゴシック" panose="020B0600070205080204" pitchFamily="34" charset="-128"/>
              </a:rPr>
              <a:t> a </a:t>
            </a:r>
            <a:r>
              <a:rPr lang="en-US" altLang="en-US" sz="2200" dirty="0">
                <a:solidFill>
                  <a:schemeClr val="accent2"/>
                </a:solidFill>
                <a:ea typeface="ＭＳ Ｐゴシック" panose="020B0600070205080204" pitchFamily="34" charset="-128"/>
              </a:rPr>
              <a:t>prime number </a:t>
            </a:r>
            <a:r>
              <a:rPr lang="en-US" altLang="en-US" sz="2200" b="1" dirty="0">
                <a:solidFill>
                  <a:schemeClr val="accent2"/>
                </a:solidFill>
                <a:ea typeface="ＭＳ Ｐゴシック" panose="020B0600070205080204" pitchFamily="34" charset="-128"/>
              </a:rPr>
              <a:t>q</a:t>
            </a:r>
            <a:r>
              <a:rPr lang="en-US" altLang="en-US" sz="2200" dirty="0">
                <a:ea typeface="ＭＳ Ｐゴシック" panose="020B0600070205080204" pitchFamily="34" charset="-128"/>
              </a:rPr>
              <a:t>.</a:t>
            </a:r>
          </a:p>
          <a:p>
            <a:pPr eaLnBrk="1" hangingPunct="1">
              <a:lnSpc>
                <a:spcPct val="90000"/>
              </a:lnSpc>
            </a:pPr>
            <a:r>
              <a:rPr lang="en-US" altLang="en-US" sz="2200" dirty="0">
                <a:ea typeface="ＭＳ Ｐゴシック" panose="020B0600070205080204" pitchFamily="34" charset="-128"/>
              </a:rPr>
              <a:t>The </a:t>
            </a:r>
            <a:r>
              <a:rPr lang="en-US" altLang="en-US" sz="2200" b="1" dirty="0">
                <a:solidFill>
                  <a:schemeClr val="accent2"/>
                </a:solidFill>
                <a:ea typeface="ＭＳ Ｐゴシック" panose="020B0600070205080204" pitchFamily="34" charset="-128"/>
              </a:rPr>
              <a:t>mod</a:t>
            </a:r>
            <a:r>
              <a:rPr lang="en-US" altLang="en-US" sz="2200" dirty="0">
                <a:ea typeface="ＭＳ Ｐゴシック" panose="020B0600070205080204" pitchFamily="34" charset="-128"/>
              </a:rPr>
              <a:t> function is particularly useful in this case due to several of its inherent properties:</a:t>
            </a:r>
          </a:p>
          <a:p>
            <a:pPr eaLnBrk="1" hangingPunct="1">
              <a:lnSpc>
                <a:spcPct val="90000"/>
              </a:lnSpc>
              <a:buFontTx/>
              <a:buNone/>
            </a:pPr>
            <a:r>
              <a:rPr lang="en-US" altLang="en-US" sz="2200" dirty="0">
                <a:ea typeface="ＭＳ Ｐゴシック" panose="020B0600070205080204" pitchFamily="34" charset="-128"/>
              </a:rPr>
              <a:t>	</a:t>
            </a:r>
            <a:r>
              <a:rPr lang="en-US" altLang="en-US" sz="2200" dirty="0">
                <a:solidFill>
                  <a:srgbClr val="DC303B"/>
                </a:solidFill>
                <a:ea typeface="ＭＳ Ｐゴシック" panose="020B0600070205080204" pitchFamily="34" charset="-128"/>
              </a:rPr>
              <a:t>[(x mod q) + (y mod q)] mod q = (</a:t>
            </a:r>
            <a:r>
              <a:rPr lang="en-US" altLang="en-US" sz="2200" dirty="0" err="1">
                <a:solidFill>
                  <a:srgbClr val="DC303B"/>
                </a:solidFill>
                <a:ea typeface="ＭＳ Ｐゴシック" panose="020B0600070205080204" pitchFamily="34" charset="-128"/>
              </a:rPr>
              <a:t>x+y</a:t>
            </a:r>
            <a:r>
              <a:rPr lang="en-US" altLang="en-US" sz="2200" dirty="0">
                <a:solidFill>
                  <a:srgbClr val="DC303B"/>
                </a:solidFill>
                <a:ea typeface="ＭＳ Ｐゴシック" panose="020B0600070205080204" pitchFamily="34" charset="-128"/>
              </a:rPr>
              <a:t>) mod q</a:t>
            </a:r>
          </a:p>
          <a:p>
            <a:pPr eaLnBrk="1" hangingPunct="1">
              <a:lnSpc>
                <a:spcPct val="90000"/>
              </a:lnSpc>
              <a:buFontTx/>
              <a:buNone/>
            </a:pPr>
            <a:r>
              <a:rPr lang="en-US" altLang="en-US" sz="2200" dirty="0">
                <a:solidFill>
                  <a:srgbClr val="DC303B"/>
                </a:solidFill>
                <a:ea typeface="ＭＳ Ｐゴシック" panose="020B0600070205080204" pitchFamily="34" charset="-128"/>
              </a:rPr>
              <a:t>	(x mod q) mod q = x mod q</a:t>
            </a:r>
            <a:endParaRPr lang="en-US" altLang="en-US" sz="2200" dirty="0">
              <a:ea typeface="ＭＳ Ｐゴシック" panose="020B0600070205080204" pitchFamily="34" charset="-128"/>
            </a:endParaRPr>
          </a:p>
          <a:p>
            <a:pPr eaLnBrk="1" hangingPunct="1">
              <a:lnSpc>
                <a:spcPct val="90000"/>
              </a:lnSpc>
            </a:pPr>
            <a:r>
              <a:rPr lang="en-US" altLang="en-US" sz="2200" dirty="0">
                <a:ea typeface="ＭＳ Ｐゴシック" panose="020B0600070205080204" pitchFamily="34" charset="-128"/>
              </a:rPr>
              <a:t>For these reasons:</a:t>
            </a:r>
          </a:p>
          <a:p>
            <a:pPr eaLnBrk="1" hangingPunct="1">
              <a:lnSpc>
                <a:spcPct val="90000"/>
              </a:lnSpc>
              <a:buFontTx/>
              <a:buNone/>
            </a:pPr>
            <a:r>
              <a:rPr lang="en-US" altLang="en-US" sz="2200" dirty="0">
                <a:solidFill>
                  <a:schemeClr val="accent2"/>
                </a:solidFill>
                <a:ea typeface="ＭＳ Ｐゴシック" panose="020B0600070205080204" pitchFamily="34" charset="-128"/>
              </a:rPr>
              <a:t>  h(</a:t>
            </a:r>
            <a:r>
              <a:rPr lang="en-US" altLang="en-US" sz="2200" dirty="0" err="1">
                <a:solidFill>
                  <a:schemeClr val="accent2"/>
                </a:solidFill>
                <a:ea typeface="ＭＳ Ｐゴシック" panose="020B0600070205080204" pitchFamily="34" charset="-128"/>
              </a:rPr>
              <a:t>i</a:t>
            </a:r>
            <a:r>
              <a:rPr lang="en-US" altLang="en-US" sz="2200" dirty="0">
                <a:solidFill>
                  <a:schemeClr val="accent2"/>
                </a:solidFill>
                <a:ea typeface="ＭＳ Ｐゴシック" panose="020B0600070205080204" pitchFamily="34" charset="-128"/>
              </a:rPr>
              <a:t>)=((t[</a:t>
            </a:r>
            <a:r>
              <a:rPr lang="en-US" altLang="en-US" sz="2200" dirty="0" err="1">
                <a:solidFill>
                  <a:schemeClr val="accent2"/>
                </a:solidFill>
                <a:ea typeface="ＭＳ Ｐゴシック" panose="020B0600070205080204" pitchFamily="34" charset="-128"/>
              </a:rPr>
              <a:t>i</a:t>
            </a:r>
            <a:r>
              <a:rPr lang="en-US" altLang="en-US" sz="2200" dirty="0">
                <a:solidFill>
                  <a:schemeClr val="accent2"/>
                </a:solidFill>
                <a:ea typeface="ＭＳ Ｐゴシック" panose="020B0600070205080204" pitchFamily="34" charset="-128"/>
              </a:rPr>
              <a:t>] b</a:t>
            </a:r>
            <a:r>
              <a:rPr lang="en-US" altLang="en-US" sz="2200" baseline="30000" dirty="0">
                <a:solidFill>
                  <a:schemeClr val="accent2"/>
                </a:solidFill>
                <a:ea typeface="ＭＳ Ｐゴシック" panose="020B0600070205080204" pitchFamily="34" charset="-128"/>
              </a:rPr>
              <a:t>M-1</a:t>
            </a:r>
            <a:r>
              <a:rPr lang="en-US" altLang="en-US" sz="2200" dirty="0">
                <a:solidFill>
                  <a:schemeClr val="accent2"/>
                </a:solidFill>
                <a:ea typeface="ＭＳ Ｐゴシック" panose="020B0600070205080204" pitchFamily="34" charset="-128"/>
              </a:rPr>
              <a:t> mod q) +(t[i+1] b</a:t>
            </a:r>
            <a:r>
              <a:rPr lang="en-US" altLang="en-US" sz="2200" baseline="30000" dirty="0">
                <a:solidFill>
                  <a:schemeClr val="accent2"/>
                </a:solidFill>
                <a:ea typeface="ＭＳ Ｐゴシック" panose="020B0600070205080204" pitchFamily="34" charset="-128"/>
              </a:rPr>
              <a:t>M-2</a:t>
            </a:r>
            <a:r>
              <a:rPr lang="en-US" altLang="en-US" sz="2200" dirty="0">
                <a:solidFill>
                  <a:schemeClr val="accent2"/>
                </a:solidFill>
                <a:ea typeface="ＭＳ Ｐゴシック" panose="020B0600070205080204" pitchFamily="34" charset="-128"/>
              </a:rPr>
              <a:t> mod q) + … +(t[i+M-1] mod q))mod q</a:t>
            </a:r>
          </a:p>
          <a:p>
            <a:pPr eaLnBrk="1" hangingPunct="1">
              <a:lnSpc>
                <a:spcPct val="90000"/>
              </a:lnSpc>
              <a:buFontTx/>
              <a:buNone/>
            </a:pPr>
            <a:r>
              <a:rPr lang="en-US" altLang="en-US" sz="2200" dirty="0">
                <a:solidFill>
                  <a:schemeClr val="accent2"/>
                </a:solidFill>
                <a:ea typeface="ＭＳ Ｐゴシック" panose="020B0600070205080204" pitchFamily="34" charset="-128"/>
              </a:rPr>
              <a:t>  h(i+1) =( h(</a:t>
            </a:r>
            <a:r>
              <a:rPr lang="en-US" altLang="en-US" sz="2200" dirty="0" err="1">
                <a:solidFill>
                  <a:schemeClr val="accent2"/>
                </a:solidFill>
                <a:ea typeface="ＭＳ Ｐゴシック" panose="020B0600070205080204" pitchFamily="34" charset="-128"/>
              </a:rPr>
              <a:t>i</a:t>
            </a:r>
            <a:r>
              <a:rPr lang="en-US" altLang="en-US" sz="2200" dirty="0">
                <a:solidFill>
                  <a:schemeClr val="accent2"/>
                </a:solidFill>
                <a:ea typeface="ＭＳ Ｐゴシック" panose="020B0600070205080204" pitchFamily="34" charset="-128"/>
              </a:rPr>
              <a:t>) b  mod q</a:t>
            </a:r>
            <a:endParaRPr lang="en-US" altLang="en-US" sz="2200" dirty="0">
              <a:ea typeface="ＭＳ Ｐゴシック" panose="020B0600070205080204" pitchFamily="34" charset="-128"/>
            </a:endParaRPr>
          </a:p>
          <a:p>
            <a:pPr eaLnBrk="1" hangingPunct="1">
              <a:lnSpc>
                <a:spcPct val="90000"/>
              </a:lnSpc>
              <a:buFontTx/>
              <a:buNone/>
            </a:pPr>
            <a:r>
              <a:rPr lang="en-US" altLang="en-US" sz="2200" dirty="0">
                <a:ea typeface="ＭＳ Ｐゴシック" panose="020B0600070205080204" pitchFamily="34" charset="-128"/>
              </a:rPr>
              <a:t>			Shift left one digit	</a:t>
            </a:r>
          </a:p>
          <a:p>
            <a:pPr eaLnBrk="1" hangingPunct="1">
              <a:lnSpc>
                <a:spcPct val="90000"/>
              </a:lnSpc>
              <a:buFontTx/>
              <a:buNone/>
            </a:pPr>
            <a:r>
              <a:rPr lang="en-US" altLang="en-US" sz="2200" dirty="0">
                <a:ea typeface="ＭＳ Ｐゴシック" panose="020B0600070205080204" pitchFamily="34" charset="-128"/>
              </a:rPr>
              <a:t>	          </a:t>
            </a:r>
            <a:r>
              <a:rPr lang="en-US" altLang="en-US" sz="2200" dirty="0">
                <a:solidFill>
                  <a:schemeClr val="accent2"/>
                </a:solidFill>
                <a:ea typeface="ＭＳ Ｐゴシック" panose="020B0600070205080204" pitchFamily="34" charset="-128"/>
              </a:rPr>
              <a:t>-t[</a:t>
            </a:r>
            <a:r>
              <a:rPr lang="en-US" altLang="en-US" sz="2200" dirty="0" err="1">
                <a:solidFill>
                  <a:schemeClr val="accent2"/>
                </a:solidFill>
                <a:ea typeface="ＭＳ Ｐゴシック" panose="020B0600070205080204" pitchFamily="34" charset="-128"/>
              </a:rPr>
              <a:t>i</a:t>
            </a:r>
            <a:r>
              <a:rPr lang="en-US" altLang="en-US" sz="2200" dirty="0">
                <a:solidFill>
                  <a:schemeClr val="accent2"/>
                </a:solidFill>
                <a:ea typeface="ＭＳ Ｐゴシック" panose="020B0600070205080204" pitchFamily="34" charset="-128"/>
              </a:rPr>
              <a:t>] </a:t>
            </a:r>
            <a:r>
              <a:rPr lang="en-US" altLang="en-US" sz="2200" dirty="0" err="1">
                <a:solidFill>
                  <a:schemeClr val="accent2"/>
                </a:solidFill>
                <a:ea typeface="ＭＳ Ｐゴシック" panose="020B0600070205080204" pitchFamily="34" charset="-128"/>
              </a:rPr>
              <a:t>b</a:t>
            </a:r>
            <a:r>
              <a:rPr lang="en-US" altLang="en-US" sz="2200" baseline="30000" dirty="0" err="1">
                <a:solidFill>
                  <a:schemeClr val="accent2"/>
                </a:solidFill>
                <a:ea typeface="ＭＳ Ｐゴシック" panose="020B0600070205080204" pitchFamily="34" charset="-128"/>
              </a:rPr>
              <a:t>M</a:t>
            </a:r>
            <a:r>
              <a:rPr lang="en-US" altLang="en-US" sz="2200" dirty="0">
                <a:solidFill>
                  <a:schemeClr val="accent2"/>
                </a:solidFill>
                <a:ea typeface="ＭＳ Ｐゴシック" panose="020B0600070205080204" pitchFamily="34" charset="-128"/>
              </a:rPr>
              <a:t> mod q</a:t>
            </a:r>
          </a:p>
          <a:p>
            <a:pPr eaLnBrk="1" hangingPunct="1">
              <a:lnSpc>
                <a:spcPct val="90000"/>
              </a:lnSpc>
              <a:buFontTx/>
              <a:buNone/>
            </a:pPr>
            <a:r>
              <a:rPr lang="en-US" altLang="en-US" sz="2200" dirty="0">
                <a:ea typeface="ＭＳ Ｐゴシック" panose="020B0600070205080204" pitchFamily="34" charset="-128"/>
              </a:rPr>
              <a:t>			Subtract leftmost digit	</a:t>
            </a:r>
          </a:p>
          <a:p>
            <a:pPr eaLnBrk="1" hangingPunct="1">
              <a:lnSpc>
                <a:spcPct val="90000"/>
              </a:lnSpc>
              <a:buFontTx/>
              <a:buNone/>
            </a:pPr>
            <a:r>
              <a:rPr lang="en-US" altLang="en-US" sz="2200" dirty="0">
                <a:ea typeface="ＭＳ Ｐゴシック" panose="020B0600070205080204" pitchFamily="34" charset="-128"/>
              </a:rPr>
              <a:t>		   </a:t>
            </a:r>
            <a:r>
              <a:rPr lang="en-US" altLang="en-US" sz="2200" dirty="0">
                <a:solidFill>
                  <a:schemeClr val="accent2"/>
                </a:solidFill>
                <a:ea typeface="ＭＳ Ｐゴシック" panose="020B0600070205080204" pitchFamily="34" charset="-128"/>
              </a:rPr>
              <a:t>+t[</a:t>
            </a:r>
            <a:r>
              <a:rPr lang="en-US" altLang="en-US" sz="2200" dirty="0" err="1">
                <a:solidFill>
                  <a:schemeClr val="accent2"/>
                </a:solidFill>
                <a:ea typeface="ＭＳ Ｐゴシック" panose="020B0600070205080204" pitchFamily="34" charset="-128"/>
              </a:rPr>
              <a:t>i+M</a:t>
            </a:r>
            <a:r>
              <a:rPr lang="en-US" altLang="en-US" sz="2200" dirty="0">
                <a:solidFill>
                  <a:schemeClr val="accent2"/>
                </a:solidFill>
                <a:ea typeface="ＭＳ Ｐゴシック" panose="020B0600070205080204" pitchFamily="34" charset="-128"/>
              </a:rPr>
              <a:t>] mod q )</a:t>
            </a:r>
            <a:endParaRPr lang="en-US" altLang="en-US" sz="2200" dirty="0">
              <a:ea typeface="ＭＳ Ｐゴシック" panose="020B0600070205080204" pitchFamily="34" charset="-128"/>
            </a:endParaRPr>
          </a:p>
          <a:p>
            <a:pPr eaLnBrk="1" hangingPunct="1">
              <a:lnSpc>
                <a:spcPct val="90000"/>
              </a:lnSpc>
              <a:buFontTx/>
              <a:buNone/>
            </a:pPr>
            <a:r>
              <a:rPr lang="en-US" altLang="en-US" sz="2200" dirty="0">
                <a:ea typeface="ＭＳ Ｐゴシック" panose="020B0600070205080204" pitchFamily="34" charset="-128"/>
              </a:rPr>
              <a:t>			Add new rightmost digit</a:t>
            </a:r>
          </a:p>
          <a:p>
            <a:pPr eaLnBrk="1" hangingPunct="1">
              <a:lnSpc>
                <a:spcPct val="90000"/>
              </a:lnSpc>
              <a:buFontTx/>
              <a:buNone/>
            </a:pPr>
            <a:r>
              <a:rPr lang="en-US" altLang="en-US" sz="2200" dirty="0">
                <a:ea typeface="ＭＳ Ｐゴシック" panose="020B0600070205080204" pitchFamily="34" charset="-128"/>
              </a:rPr>
              <a:t>		   </a:t>
            </a:r>
            <a:r>
              <a:rPr lang="en-US" altLang="en-US" sz="2200" dirty="0">
                <a:solidFill>
                  <a:schemeClr val="accent2"/>
                </a:solidFill>
                <a:ea typeface="ＭＳ Ｐゴシック" panose="020B0600070205080204" pitchFamily="34" charset="-128"/>
              </a:rPr>
              <a:t>mod q</a:t>
            </a:r>
            <a:endParaRPr lang="en-US" altLang="en-US" sz="2200" dirty="0">
              <a:ea typeface="ＭＳ Ｐゴシック"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dissolve">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dissolve">
                                      <p:cBhvr>
                                        <p:cTn id="12" dur="500"/>
                                        <p:tgtEl>
                                          <p:spTgt spid="16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dissolve">
                                      <p:cBhvr>
                                        <p:cTn id="17" dur="500"/>
                                        <p:tgtEl>
                                          <p:spTgt spid="16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dissolve">
                                      <p:cBhvr>
                                        <p:cTn id="22" dur="500"/>
                                        <p:tgtEl>
                                          <p:spTgt spid="163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6387">
                                            <p:txEl>
                                              <p:pRg st="4" end="4"/>
                                            </p:txEl>
                                          </p:spTgt>
                                        </p:tgtEl>
                                        <p:attrNameLst>
                                          <p:attrName>style.visibility</p:attrName>
                                        </p:attrNameLst>
                                      </p:cBhvr>
                                      <p:to>
                                        <p:strVal val="visible"/>
                                      </p:to>
                                    </p:set>
                                    <p:animEffect transition="in" filter="dissolve">
                                      <p:cBhvr>
                                        <p:cTn id="27" dur="500"/>
                                        <p:tgtEl>
                                          <p:spTgt spid="163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6387">
                                            <p:txEl>
                                              <p:pRg st="5" end="5"/>
                                            </p:txEl>
                                          </p:spTgt>
                                        </p:tgtEl>
                                        <p:attrNameLst>
                                          <p:attrName>style.visibility</p:attrName>
                                        </p:attrNameLst>
                                      </p:cBhvr>
                                      <p:to>
                                        <p:strVal val="visible"/>
                                      </p:to>
                                    </p:set>
                                    <p:animEffect transition="in" filter="dissolve">
                                      <p:cBhvr>
                                        <p:cTn id="32" dur="500"/>
                                        <p:tgtEl>
                                          <p:spTgt spid="1638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6387">
                                            <p:txEl>
                                              <p:pRg st="6" end="6"/>
                                            </p:txEl>
                                          </p:spTgt>
                                        </p:tgtEl>
                                        <p:attrNameLst>
                                          <p:attrName>style.visibility</p:attrName>
                                        </p:attrNameLst>
                                      </p:cBhvr>
                                      <p:to>
                                        <p:strVal val="visible"/>
                                      </p:to>
                                    </p:set>
                                    <p:animEffect transition="in" filter="dissolve">
                                      <p:cBhvr>
                                        <p:cTn id="37" dur="500"/>
                                        <p:tgtEl>
                                          <p:spTgt spid="1638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6387">
                                            <p:txEl>
                                              <p:pRg st="7" end="7"/>
                                            </p:txEl>
                                          </p:spTgt>
                                        </p:tgtEl>
                                        <p:attrNameLst>
                                          <p:attrName>style.visibility</p:attrName>
                                        </p:attrNameLst>
                                      </p:cBhvr>
                                      <p:to>
                                        <p:strVal val="visible"/>
                                      </p:to>
                                    </p:set>
                                    <p:animEffect transition="in" filter="dissolve">
                                      <p:cBhvr>
                                        <p:cTn id="42" dur="500"/>
                                        <p:tgtEl>
                                          <p:spTgt spid="1638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16387">
                                            <p:txEl>
                                              <p:pRg st="8" end="8"/>
                                            </p:txEl>
                                          </p:spTgt>
                                        </p:tgtEl>
                                        <p:attrNameLst>
                                          <p:attrName>style.visibility</p:attrName>
                                        </p:attrNameLst>
                                      </p:cBhvr>
                                      <p:to>
                                        <p:strVal val="visible"/>
                                      </p:to>
                                    </p:set>
                                    <p:animEffect transition="in" filter="dissolve">
                                      <p:cBhvr>
                                        <p:cTn id="47" dur="500"/>
                                        <p:tgtEl>
                                          <p:spTgt spid="16387">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16387">
                                            <p:txEl>
                                              <p:pRg st="9" end="9"/>
                                            </p:txEl>
                                          </p:spTgt>
                                        </p:tgtEl>
                                        <p:attrNameLst>
                                          <p:attrName>style.visibility</p:attrName>
                                        </p:attrNameLst>
                                      </p:cBhvr>
                                      <p:to>
                                        <p:strVal val="visible"/>
                                      </p:to>
                                    </p:set>
                                    <p:animEffect transition="in" filter="dissolve">
                                      <p:cBhvr>
                                        <p:cTn id="52" dur="500"/>
                                        <p:tgtEl>
                                          <p:spTgt spid="16387">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16387">
                                            <p:txEl>
                                              <p:pRg st="10" end="10"/>
                                            </p:txEl>
                                          </p:spTgt>
                                        </p:tgtEl>
                                        <p:attrNameLst>
                                          <p:attrName>style.visibility</p:attrName>
                                        </p:attrNameLst>
                                      </p:cBhvr>
                                      <p:to>
                                        <p:strVal val="visible"/>
                                      </p:to>
                                    </p:set>
                                    <p:animEffect transition="in" filter="dissolve">
                                      <p:cBhvr>
                                        <p:cTn id="57" dur="500"/>
                                        <p:tgtEl>
                                          <p:spTgt spid="16387">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16387">
                                            <p:txEl>
                                              <p:pRg st="11" end="11"/>
                                            </p:txEl>
                                          </p:spTgt>
                                        </p:tgtEl>
                                        <p:attrNameLst>
                                          <p:attrName>style.visibility</p:attrName>
                                        </p:attrNameLst>
                                      </p:cBhvr>
                                      <p:to>
                                        <p:strVal val="visible"/>
                                      </p:to>
                                    </p:set>
                                    <p:animEffect transition="in" filter="dissolve">
                                      <p:cBhvr>
                                        <p:cTn id="62" dur="500"/>
                                        <p:tgtEl>
                                          <p:spTgt spid="16387">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16387">
                                            <p:txEl>
                                              <p:pRg st="12" end="12"/>
                                            </p:txEl>
                                          </p:spTgt>
                                        </p:tgtEl>
                                        <p:attrNameLst>
                                          <p:attrName>style.visibility</p:attrName>
                                        </p:attrNameLst>
                                      </p:cBhvr>
                                      <p:to>
                                        <p:strVal val="visible"/>
                                      </p:to>
                                    </p:set>
                                    <p:animEffect transition="in" filter="dissolve">
                                      <p:cBhvr>
                                        <p:cTn id="67" dur="500"/>
                                        <p:tgtEl>
                                          <p:spTgt spid="1638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xmlns="" id="{0D6CC6B1-4098-EDD9-1385-34A6AC2A1B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a:defRPr sz="2400">
                <a:solidFill>
                  <a:schemeClr val="tx1"/>
                </a:solidFill>
                <a:latin typeface="Times" panose="02020603050405020304" pitchFamily="18" charset="0"/>
                <a:ea typeface="ＭＳ Ｐゴシック" panose="020B0600070205080204" pitchFamily="34" charset="-128"/>
              </a:defRPr>
            </a:lvl3pPr>
            <a:lvl4pPr>
              <a:defRPr sz="2400">
                <a:solidFill>
                  <a:schemeClr val="tx1"/>
                </a:solidFill>
                <a:latin typeface="Times" panose="02020603050405020304" pitchFamily="18" charset="0"/>
                <a:ea typeface="ＭＳ Ｐゴシック" panose="020B0600070205080204" pitchFamily="34" charset="-128"/>
              </a:defRPr>
            </a:lvl4pPr>
            <a:lvl5pPr>
              <a:defRPr sz="2400">
                <a:solidFill>
                  <a:schemeClr val="tx1"/>
                </a:solidFill>
                <a:latin typeface="Times"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DB69A62-9AAB-4FF4-8D01-41863904F583}" type="slidenum">
              <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altLang="en-US" sz="1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27651" name="Rectangle 2">
            <a:extLst>
              <a:ext uri="{FF2B5EF4-FFF2-40B4-BE49-F238E27FC236}">
                <a16:creationId xmlns:a16="http://schemas.microsoft.com/office/drawing/2014/main" xmlns="" id="{EAE901CF-0DDE-CB88-70C3-519B91D68ED2}"/>
              </a:ext>
            </a:extLst>
          </p:cNvPr>
          <p:cNvSpPr>
            <a:spLocks noGrp="1" noChangeArrowheads="1"/>
          </p:cNvSpPr>
          <p:nvPr>
            <p:ph type="title"/>
          </p:nvPr>
        </p:nvSpPr>
        <p:spPr>
          <a:xfrm>
            <a:off x="2133600" y="457200"/>
            <a:ext cx="7772400" cy="1143000"/>
          </a:xfrm>
        </p:spPr>
        <p:txBody>
          <a:bodyPr/>
          <a:lstStyle/>
          <a:p>
            <a:pPr eaLnBrk="1" hangingPunct="1"/>
            <a:r>
              <a:rPr lang="en-US" altLang="en-US" b="1">
                <a:ea typeface="ＭＳ Ｐゴシック" panose="020B0600070205080204" pitchFamily="34" charset="-128"/>
              </a:rPr>
              <a:t>Rabin-Karp Complexity</a:t>
            </a:r>
            <a:endParaRPr lang="en-US" altLang="en-US">
              <a:ea typeface="ＭＳ Ｐゴシック" panose="020B0600070205080204" pitchFamily="34" charset="-128"/>
            </a:endParaRPr>
          </a:p>
        </p:txBody>
      </p:sp>
      <p:sp>
        <p:nvSpPr>
          <p:cNvPr id="17411" name="Rectangle 3">
            <a:extLst>
              <a:ext uri="{FF2B5EF4-FFF2-40B4-BE49-F238E27FC236}">
                <a16:creationId xmlns:a16="http://schemas.microsoft.com/office/drawing/2014/main" xmlns="" id="{17344A57-C4F2-4B67-FFD6-ADB98D718863}"/>
              </a:ext>
            </a:extLst>
          </p:cNvPr>
          <p:cNvSpPr>
            <a:spLocks noGrp="1" noChangeArrowheads="1"/>
          </p:cNvSpPr>
          <p:nvPr>
            <p:ph type="body" idx="1"/>
          </p:nvPr>
        </p:nvSpPr>
        <p:spPr>
          <a:xfrm>
            <a:off x="1524000" y="1828800"/>
            <a:ext cx="8763000" cy="4114800"/>
          </a:xfrm>
        </p:spPr>
        <p:txBody>
          <a:bodyPr/>
          <a:lstStyle/>
          <a:p>
            <a:pPr eaLnBrk="1" hangingPunct="1"/>
            <a:r>
              <a:rPr lang="en-US" altLang="en-US" sz="2400">
                <a:ea typeface="ＭＳ Ｐゴシック" panose="020B0600070205080204" pitchFamily="34" charset="-128"/>
              </a:rPr>
              <a:t>If a sufficiently large prime number is used for the </a:t>
            </a:r>
            <a:r>
              <a:rPr lang="en-US" altLang="en-US" sz="2400" i="1">
                <a:ea typeface="ＭＳ Ｐゴシック" panose="020B0600070205080204" pitchFamily="34" charset="-128"/>
              </a:rPr>
              <a:t>hash function</a:t>
            </a:r>
            <a:r>
              <a:rPr lang="en-US" altLang="en-US" sz="2400">
                <a:ea typeface="ＭＳ Ｐゴシック" panose="020B0600070205080204" pitchFamily="34" charset="-128"/>
              </a:rPr>
              <a:t>, the hashed values of two different patterns will usually be distinct.</a:t>
            </a:r>
          </a:p>
          <a:p>
            <a:pPr eaLnBrk="1" hangingPunct="1"/>
            <a:r>
              <a:rPr lang="en-US" altLang="en-US" sz="2400">
                <a:ea typeface="ＭＳ Ｐゴシック" panose="020B0600070205080204" pitchFamily="34" charset="-128"/>
              </a:rPr>
              <a:t>If this is the case, searching takes </a:t>
            </a:r>
            <a:r>
              <a:rPr lang="en-US" altLang="en-US" sz="2400">
                <a:solidFill>
                  <a:schemeClr val="accent2"/>
                </a:solidFill>
                <a:ea typeface="ＭＳ Ｐゴシック" panose="020B0600070205080204" pitchFamily="34" charset="-128"/>
              </a:rPr>
              <a:t>O(N)</a:t>
            </a:r>
            <a:r>
              <a:rPr lang="en-US" altLang="en-US" sz="2400">
                <a:ea typeface="ＭＳ Ｐゴシック" panose="020B0600070205080204" pitchFamily="34" charset="-128"/>
              </a:rPr>
              <a:t> time, where N is the number of characters in the larger body of text.</a:t>
            </a:r>
          </a:p>
          <a:p>
            <a:pPr eaLnBrk="1" hangingPunct="1"/>
            <a:r>
              <a:rPr lang="en-US" altLang="en-US" sz="2400">
                <a:ea typeface="ＭＳ Ｐゴシック" panose="020B0600070205080204" pitchFamily="34" charset="-128"/>
              </a:rPr>
              <a:t>It is always possible to construct a scenario with a worst case complexity of </a:t>
            </a:r>
            <a:r>
              <a:rPr lang="en-US" altLang="en-US" sz="2400">
                <a:solidFill>
                  <a:schemeClr val="accent2"/>
                </a:solidFill>
                <a:ea typeface="ＭＳ Ｐゴシック" panose="020B0600070205080204" pitchFamily="34" charset="-128"/>
              </a:rPr>
              <a:t>O(MN).</a:t>
            </a:r>
            <a:r>
              <a:rPr lang="en-US" altLang="en-US" sz="2400">
                <a:ea typeface="ＭＳ Ｐゴシック" panose="020B0600070205080204" pitchFamily="34" charset="-128"/>
              </a:rPr>
              <a:t>  This, however, is likely to happen only if the prime number used for hashing is small.</a:t>
            </a:r>
            <a:endParaRPr lang="en-US" altLang="en-US">
              <a:ea typeface="ＭＳ Ｐゴシック"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dissolve">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dissolve">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dissolve">
                                      <p:cBhvr>
                                        <p:cTn id="17"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0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01"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453</TotalTime>
  <Words>1596</Words>
  <Application>Microsoft Office PowerPoint</Application>
  <PresentationFormat>Custom</PresentationFormat>
  <Paragraphs>157</Paragraphs>
  <Slides>21</Slides>
  <Notes>0</Notes>
  <HiddenSlides>0</HiddenSlides>
  <MMClips>0</MMClip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1_Office Theme</vt:lpstr>
      <vt:lpstr>Blank</vt:lpstr>
      <vt:lpstr>String Matching 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Brute Force Pseudo-Code</vt:lpstr>
      <vt:lpstr>Brute Force-Complexity</vt:lpstr>
      <vt:lpstr>Brute Force-Complexity(cont.)</vt:lpstr>
      <vt:lpstr>Brute Force-Complexity(cont.)</vt:lpstr>
      <vt:lpstr>Rabin-Karp</vt:lpstr>
      <vt:lpstr>Rabin-Karp Example</vt:lpstr>
      <vt:lpstr>Rabin-Karp Algorithm</vt:lpstr>
      <vt:lpstr>Hash Function</vt:lpstr>
      <vt:lpstr>Rabin-Karp Math Example  </vt:lpstr>
      <vt:lpstr>Rabin-Karp Mods</vt:lpstr>
      <vt:lpstr>Rabin-Karp Complexity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Cont’d-KMP algorithm</dc:title>
  <dc:creator>Malini S</dc:creator>
  <cp:lastModifiedBy>HP</cp:lastModifiedBy>
  <cp:revision>16</cp:revision>
  <dcterms:created xsi:type="dcterms:W3CDTF">2023-01-31T13:26:10Z</dcterms:created>
  <dcterms:modified xsi:type="dcterms:W3CDTF">2023-03-25T04:56:38Z</dcterms:modified>
</cp:coreProperties>
</file>