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0" r:id="rId20"/>
    <p:sldId id="274" r:id="rId21"/>
    <p:sldId id="278" r:id="rId22"/>
    <p:sldId id="279" r:id="rId23"/>
    <p:sldId id="281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E67-703E-4BDE-A032-106D6C3028BD}" type="datetimeFigureOut">
              <a:rPr lang="en-IN" smtClean="0"/>
              <a:t>06-02-2024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CE3A-DA9A-4CE1-B1ED-D2894B3FE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477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E67-703E-4BDE-A032-106D6C3028BD}" type="datetimeFigureOut">
              <a:rPr lang="en-IN" smtClean="0"/>
              <a:t>06-02-2024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CE3A-DA9A-4CE1-B1ED-D2894B3FE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660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E67-703E-4BDE-A032-106D6C3028BD}" type="datetimeFigureOut">
              <a:rPr lang="en-IN" smtClean="0"/>
              <a:t>06-02-2024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CE3A-DA9A-4CE1-B1ED-D2894B3FE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711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E67-703E-4BDE-A032-106D6C3028BD}" type="datetimeFigureOut">
              <a:rPr lang="en-IN" smtClean="0"/>
              <a:t>06-02-2024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CE3A-DA9A-4CE1-B1ED-D2894B3FE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646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E67-703E-4BDE-A032-106D6C3028BD}" type="datetimeFigureOut">
              <a:rPr lang="en-IN" smtClean="0"/>
              <a:t>06-02-2024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CE3A-DA9A-4CE1-B1ED-D2894B3FE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201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E67-703E-4BDE-A032-106D6C3028BD}" type="datetimeFigureOut">
              <a:rPr lang="en-IN" smtClean="0"/>
              <a:t>06-02-2024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CE3A-DA9A-4CE1-B1ED-D2894B3FE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784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E67-703E-4BDE-A032-106D6C3028BD}" type="datetimeFigureOut">
              <a:rPr lang="en-IN" smtClean="0"/>
              <a:t>06-02-2024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CE3A-DA9A-4CE1-B1ED-D2894B3FE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316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E67-703E-4BDE-A032-106D6C3028BD}" type="datetimeFigureOut">
              <a:rPr lang="en-IN" smtClean="0"/>
              <a:t>06-02-2024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CE3A-DA9A-4CE1-B1ED-D2894B3FE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689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E67-703E-4BDE-A032-106D6C3028BD}" type="datetimeFigureOut">
              <a:rPr lang="en-IN" smtClean="0"/>
              <a:t>06-02-2024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CE3A-DA9A-4CE1-B1ED-D2894B3FE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07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E67-703E-4BDE-A032-106D6C3028BD}" type="datetimeFigureOut">
              <a:rPr lang="en-IN" smtClean="0"/>
              <a:t>06-02-2024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CE3A-DA9A-4CE1-B1ED-D2894B3FE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768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F3E67-703E-4BDE-A032-106D6C3028BD}" type="datetimeFigureOut">
              <a:rPr lang="en-IN" smtClean="0"/>
              <a:t>06-02-2024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0CE3A-DA9A-4CE1-B1ED-D2894B3FE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658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F3E67-703E-4BDE-A032-106D6C3028BD}" type="datetimeFigureOut">
              <a:rPr lang="en-IN" smtClean="0"/>
              <a:t>06-02-2024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0CE3A-DA9A-4CE1-B1ED-D2894B3FE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7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Dynamic Programming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Assembly Line Scheduling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1887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4674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>Assembly Line Scheduling Problem</a:t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95606"/>
            <a:ext cx="8229600" cy="5976664"/>
          </a:xfrm>
        </p:spPr>
        <p:txBody>
          <a:bodyPr>
            <a:normAutofit fontScale="92500" lnSpcReduction="20000"/>
          </a:bodyPr>
          <a:lstStyle/>
          <a:p>
            <a:pPr algn="just" fontAlgn="base"/>
            <a:r>
              <a:rPr lang="en-US" dirty="0" smtClean="0"/>
              <a:t>Assembly </a:t>
            </a:r>
            <a:r>
              <a:rPr lang="en-US" dirty="0"/>
              <a:t>line scheduling is a </a:t>
            </a:r>
            <a:r>
              <a:rPr lang="en-US" dirty="0">
                <a:solidFill>
                  <a:srgbClr val="FF0000"/>
                </a:solidFill>
              </a:rPr>
              <a:t>manufacturing problem. </a:t>
            </a:r>
            <a:endParaRPr lang="en-US" dirty="0" smtClean="0">
              <a:solidFill>
                <a:srgbClr val="FF0000"/>
              </a:solidFill>
            </a:endParaRPr>
          </a:p>
          <a:p>
            <a:pPr algn="just" fontAlgn="base"/>
            <a:r>
              <a:rPr lang="en-US" dirty="0" smtClean="0"/>
              <a:t>In </a:t>
            </a:r>
            <a:r>
              <a:rPr lang="en-US" dirty="0"/>
              <a:t>automobile industries, assembly lines are used to </a:t>
            </a:r>
            <a:r>
              <a:rPr lang="en-US" dirty="0">
                <a:solidFill>
                  <a:srgbClr val="FF0000"/>
                </a:solidFill>
              </a:rPr>
              <a:t>transfer parts</a:t>
            </a:r>
            <a:r>
              <a:rPr lang="en-US" dirty="0"/>
              <a:t> from one station to another.</a:t>
            </a:r>
          </a:p>
          <a:p>
            <a:pPr algn="just" fontAlgn="base"/>
            <a:r>
              <a:rPr lang="en-US" dirty="0"/>
              <a:t>Manufacturing of large items like car, trucks etc. generally undergoes through </a:t>
            </a:r>
            <a:r>
              <a:rPr lang="en-US" dirty="0">
                <a:solidFill>
                  <a:srgbClr val="FF0000"/>
                </a:solidFill>
              </a:rPr>
              <a:t>multiple station</a:t>
            </a:r>
            <a:r>
              <a:rPr lang="en-US" dirty="0"/>
              <a:t>, where each station is </a:t>
            </a:r>
            <a:r>
              <a:rPr lang="en-US" dirty="0">
                <a:solidFill>
                  <a:srgbClr val="FF0000"/>
                </a:solidFill>
              </a:rPr>
              <a:t>responsible for assembling particular part only. </a:t>
            </a:r>
            <a:endParaRPr lang="en-US" dirty="0" smtClean="0">
              <a:solidFill>
                <a:srgbClr val="FF0000"/>
              </a:solidFill>
            </a:endParaRPr>
          </a:p>
          <a:p>
            <a:pPr algn="just" fontAlgn="base"/>
            <a:r>
              <a:rPr lang="en-US" dirty="0" smtClean="0"/>
              <a:t>Entire </a:t>
            </a:r>
            <a:r>
              <a:rPr lang="en-US" dirty="0"/>
              <a:t>product will be ready after it goes through </a:t>
            </a:r>
            <a:r>
              <a:rPr lang="en-US" dirty="0">
                <a:solidFill>
                  <a:srgbClr val="FF0000"/>
                </a:solidFill>
              </a:rPr>
              <a:t>predefined n stations in sequence</a:t>
            </a:r>
            <a:r>
              <a:rPr lang="en-US" dirty="0"/>
              <a:t>.</a:t>
            </a:r>
          </a:p>
          <a:p>
            <a:pPr algn="just" fontAlgn="base"/>
            <a:r>
              <a:rPr lang="en-US" dirty="0"/>
              <a:t>For example, manufacturing of car may be done in several stages like engine fitting, coloring, light fitting, fixing of controlling system, gates, seats and many other things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543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480720"/>
          </a:xfrm>
        </p:spPr>
        <p:txBody>
          <a:bodyPr>
            <a:normAutofit fontScale="85000" lnSpcReduction="10000"/>
          </a:bodyPr>
          <a:lstStyle/>
          <a:p>
            <a:pPr algn="just" fontAlgn="base"/>
            <a:r>
              <a:rPr lang="en-US" dirty="0" smtClean="0"/>
              <a:t>Particular task is carried out at the </a:t>
            </a:r>
            <a:r>
              <a:rPr lang="en-US" dirty="0" smtClean="0">
                <a:solidFill>
                  <a:srgbClr val="FF0000"/>
                </a:solidFill>
              </a:rPr>
              <a:t>station dedicated for that task only.</a:t>
            </a:r>
          </a:p>
          <a:p>
            <a:pPr algn="just" fontAlgn="base"/>
            <a:r>
              <a:rPr lang="en-US" dirty="0" smtClean="0"/>
              <a:t>Based on requirement, there may be more than one assembly line.</a:t>
            </a:r>
          </a:p>
          <a:p>
            <a:pPr algn="just" fontAlgn="base"/>
            <a:r>
              <a:rPr lang="en-US" dirty="0" smtClean="0"/>
              <a:t>In case of two assembly lines, if load at station j of assembly line 1 is </a:t>
            </a:r>
            <a:r>
              <a:rPr lang="en-US" dirty="0" smtClean="0">
                <a:solidFill>
                  <a:srgbClr val="FF0000"/>
                </a:solidFill>
              </a:rPr>
              <a:t>very high</a:t>
            </a:r>
            <a:r>
              <a:rPr lang="en-US" dirty="0" smtClean="0"/>
              <a:t>, then components are </a:t>
            </a:r>
            <a:r>
              <a:rPr lang="en-US" dirty="0" smtClean="0">
                <a:solidFill>
                  <a:srgbClr val="FF0000"/>
                </a:solidFill>
              </a:rPr>
              <a:t>transferred</a:t>
            </a:r>
            <a:r>
              <a:rPr lang="en-US" dirty="0" smtClean="0"/>
              <a:t> to station j of assembly line 2, converse is also true. This helps to speed up the manufacturing process.</a:t>
            </a:r>
          </a:p>
          <a:p>
            <a:pPr algn="just" fontAlgn="base"/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time to transfer partial product from one station to next station on same assembly line is negligible</a:t>
            </a:r>
            <a:r>
              <a:rPr lang="en-US" dirty="0" smtClean="0"/>
              <a:t>. </a:t>
            </a:r>
          </a:p>
          <a:p>
            <a:pPr algn="just" fontAlgn="base"/>
            <a:r>
              <a:rPr lang="en-US" dirty="0" smtClean="0"/>
              <a:t>During rush, factory manager may transfer </a:t>
            </a:r>
            <a:r>
              <a:rPr lang="en-US" dirty="0" smtClean="0">
                <a:solidFill>
                  <a:srgbClr val="FF0000"/>
                </a:solidFill>
              </a:rPr>
              <a:t>partially completed auto from one assembly line to another</a:t>
            </a:r>
            <a:r>
              <a:rPr lang="en-US" dirty="0" smtClean="0"/>
              <a:t>, to complete the manufacturing as quick as possible. </a:t>
            </a:r>
          </a:p>
          <a:p>
            <a:pPr algn="just" fontAlgn="base"/>
            <a:r>
              <a:rPr lang="en-US" dirty="0" smtClean="0"/>
              <a:t>Some </a:t>
            </a:r>
            <a:r>
              <a:rPr lang="en-US" dirty="0" smtClean="0">
                <a:solidFill>
                  <a:srgbClr val="FF0000"/>
                </a:solidFill>
              </a:rPr>
              <a:t>penalty of time t occur</a:t>
            </a:r>
            <a:r>
              <a:rPr lang="en-US" dirty="0" smtClean="0"/>
              <a:t>s when product is transferred from assembly 1 to 2 or 2 to 1.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7743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Assembly Line Scheduling Problem</a:t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6048672"/>
          </a:xfrm>
        </p:spPr>
        <p:txBody>
          <a:bodyPr>
            <a:normAutofit lnSpcReduction="10000"/>
          </a:bodyPr>
          <a:lstStyle/>
          <a:p>
            <a:pPr algn="just" fontAlgn="base"/>
            <a:r>
              <a:rPr lang="en-US" dirty="0" smtClean="0"/>
              <a:t>Determine </a:t>
            </a:r>
            <a:r>
              <a:rPr lang="en-US" dirty="0"/>
              <a:t>which station should be selected from assembly line 1 and which to choose from assembly line 2 in order to </a:t>
            </a:r>
            <a:r>
              <a:rPr lang="en-US" dirty="0">
                <a:solidFill>
                  <a:srgbClr val="FF0000"/>
                </a:solidFill>
              </a:rPr>
              <a:t>minimize the total time to build </a:t>
            </a:r>
            <a:r>
              <a:rPr lang="en-US" dirty="0"/>
              <a:t>the entire product.</a:t>
            </a:r>
          </a:p>
          <a:p>
            <a:pPr algn="just" fontAlgn="base"/>
            <a:r>
              <a:rPr lang="en-US" dirty="0"/>
              <a:t>Selecting stations by </a:t>
            </a:r>
            <a:r>
              <a:rPr lang="en-US" dirty="0">
                <a:solidFill>
                  <a:srgbClr val="FF0000"/>
                </a:solidFill>
              </a:rPr>
              <a:t>brute force attack </a:t>
            </a:r>
            <a:r>
              <a:rPr lang="en-US" dirty="0"/>
              <a:t>is quite infeasible. </a:t>
            </a:r>
            <a:endParaRPr lang="en-US" dirty="0" smtClean="0"/>
          </a:p>
          <a:p>
            <a:pPr algn="just" fontAlgn="base"/>
            <a:r>
              <a:rPr lang="en-US" dirty="0" smtClean="0"/>
              <a:t>If </a:t>
            </a:r>
            <a:r>
              <a:rPr lang="en-US" dirty="0"/>
              <a:t>there are </a:t>
            </a:r>
            <a:r>
              <a:rPr lang="en-US" dirty="0">
                <a:solidFill>
                  <a:srgbClr val="FF0000"/>
                </a:solidFill>
              </a:rPr>
              <a:t>n stations</a:t>
            </a:r>
            <a:r>
              <a:rPr lang="en-US" dirty="0"/>
              <a:t>, unfortunately there are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n</a:t>
            </a:r>
            <a:r>
              <a:rPr lang="en-US" dirty="0">
                <a:solidFill>
                  <a:srgbClr val="FF0000"/>
                </a:solidFill>
              </a:rPr>
              <a:t> possible </a:t>
            </a:r>
            <a:r>
              <a:rPr lang="en-US" dirty="0"/>
              <a:t>ways to choose stations. </a:t>
            </a:r>
            <a:endParaRPr lang="en-US" dirty="0" smtClean="0"/>
          </a:p>
          <a:p>
            <a:pPr algn="just" fontAlgn="base"/>
            <a:r>
              <a:rPr lang="en-US" dirty="0" smtClean="0"/>
              <a:t>Brute </a:t>
            </a:r>
            <a:r>
              <a:rPr lang="en-US" dirty="0"/>
              <a:t>force attack takes O(2</a:t>
            </a:r>
            <a:r>
              <a:rPr lang="en-US" baseline="30000" dirty="0"/>
              <a:t>n</a:t>
            </a:r>
            <a:r>
              <a:rPr lang="en-US" dirty="0"/>
              <a:t>) time, it is not acceptable when n is large.</a:t>
            </a:r>
          </a:p>
          <a:p>
            <a:pPr algn="just" fontAlgn="base"/>
            <a:r>
              <a:rPr lang="en-US" dirty="0"/>
              <a:t>General architecture of two assembly lines with n stations is shown in following </a:t>
            </a:r>
            <a:r>
              <a:rPr lang="en-US" dirty="0" smtClean="0"/>
              <a:t>figure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3741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6632"/>
            <a:ext cx="8077200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9512" y="3573016"/>
            <a:ext cx="896448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Terminologies are explained here :</a:t>
            </a:r>
          </a:p>
          <a:p>
            <a:r>
              <a:rPr lang="en-US" sz="2400" dirty="0" err="1" smtClean="0"/>
              <a:t>Sij</a:t>
            </a:r>
            <a:r>
              <a:rPr lang="en-US" sz="2400" dirty="0" smtClean="0"/>
              <a:t> = Station j on assembly line </a:t>
            </a:r>
            <a:r>
              <a:rPr lang="en-US" sz="2400" dirty="0" err="1" smtClean="0"/>
              <a:t>i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aij</a:t>
            </a:r>
            <a:r>
              <a:rPr lang="en-US" sz="2400" dirty="0" smtClean="0"/>
              <a:t> = Time needed to assemble the partial component at station j on assembly line </a:t>
            </a:r>
            <a:r>
              <a:rPr lang="en-US" sz="2400" dirty="0" err="1" smtClean="0"/>
              <a:t>i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tij</a:t>
            </a:r>
            <a:r>
              <a:rPr lang="en-US" sz="2400" dirty="0" smtClean="0"/>
              <a:t>  = Time required to transfer component from one assembly to other from station j to (j + 1).</a:t>
            </a:r>
          </a:p>
          <a:p>
            <a:r>
              <a:rPr lang="en-US" sz="2400" dirty="0" err="1" smtClean="0"/>
              <a:t>ei</a:t>
            </a:r>
            <a:r>
              <a:rPr lang="en-US" sz="2400" dirty="0" smtClean="0"/>
              <a:t> = Entry time on assembly line </a:t>
            </a:r>
            <a:r>
              <a:rPr lang="en-US" sz="2400" dirty="0" err="1" smtClean="0"/>
              <a:t>i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xi = Exit time from assembly line </a:t>
            </a:r>
            <a:r>
              <a:rPr lang="en-US" sz="2400" dirty="0" err="1" smtClean="0"/>
              <a:t>i</a:t>
            </a:r>
            <a:r>
              <a:rPr lang="en-US" sz="2400" dirty="0" smtClean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33252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88640"/>
            <a:ext cx="8964488" cy="5937523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/>
              <a:t>Mathematical formulation</a:t>
            </a:r>
          </a:p>
          <a:p>
            <a:pPr fontAlgn="base"/>
            <a:r>
              <a:rPr lang="en-US" b="1" i="1" dirty="0"/>
              <a:t> </a:t>
            </a:r>
            <a:r>
              <a:rPr lang="en-US" dirty="0"/>
              <a:t>Time required to build component on first station of both line is </a:t>
            </a:r>
            <a:r>
              <a:rPr lang="en-US" dirty="0">
                <a:solidFill>
                  <a:srgbClr val="FF0000"/>
                </a:solidFill>
              </a:rPr>
              <a:t>summation of entry time for particular assembly line and assembly time on first station of particular line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f</a:t>
            </a:r>
            <a:r>
              <a:rPr lang="en-US" baseline="-25000" dirty="0"/>
              <a:t>i</a:t>
            </a:r>
            <a:r>
              <a:rPr lang="en-US" dirty="0"/>
              <a:t> [j]    =   </a:t>
            </a:r>
            <a:r>
              <a:rPr lang="en-US" dirty="0" err="1"/>
              <a:t>e</a:t>
            </a:r>
            <a:r>
              <a:rPr lang="en-US" baseline="-25000" dirty="0" err="1"/>
              <a:t>i</a:t>
            </a:r>
            <a:r>
              <a:rPr lang="en-US" dirty="0"/>
              <a:t> + a</a:t>
            </a:r>
            <a:r>
              <a:rPr lang="en-US" baseline="-25000" dirty="0"/>
              <a:t>i1 </a:t>
            </a:r>
            <a:r>
              <a:rPr lang="en-US" dirty="0"/>
              <a:t>; Initial condition (if j == 1), </a:t>
            </a:r>
            <a:r>
              <a:rPr lang="en-US" dirty="0" err="1"/>
              <a:t>i</a:t>
            </a:r>
            <a:r>
              <a:rPr lang="en-US" dirty="0"/>
              <a:t> = 1, 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3305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solidFill>
                  <a:srgbClr val="FF0000"/>
                </a:solidFill>
              </a:rPr>
              <a:t>Minimum time required </a:t>
            </a:r>
            <a:r>
              <a:rPr lang="en-US" dirty="0"/>
              <a:t>to put the partially assembled product out of any station j on line 1 is minimum of :</a:t>
            </a:r>
          </a:p>
          <a:p>
            <a:pPr fontAlgn="base"/>
            <a:r>
              <a:rPr lang="en-US" dirty="0"/>
              <a:t>(Minimum time taken up to station j – 1 on same assembly line 1) + (assembly time on station j of same assembly line)</a:t>
            </a:r>
          </a:p>
          <a:p>
            <a:pPr fontAlgn="base"/>
            <a:r>
              <a:rPr lang="en-US" dirty="0"/>
              <a:t>(Minimum time taken up to station j – 1 on assembly line 2) + (</a:t>
            </a:r>
            <a:r>
              <a:rPr lang="en-US" dirty="0">
                <a:solidFill>
                  <a:srgbClr val="FF0000"/>
                </a:solidFill>
              </a:rPr>
              <a:t>assembly line transfer time</a:t>
            </a:r>
            <a:r>
              <a:rPr lang="en-US" dirty="0"/>
              <a:t>) + (assembly time on station j of assembly line 2)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276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>
            <a:normAutofit fontScale="85000" lnSpcReduction="10000"/>
          </a:bodyPr>
          <a:lstStyle/>
          <a:p>
            <a:pPr fontAlgn="base"/>
            <a:r>
              <a:rPr lang="en-US" b="0" i="0" dirty="0" smtClean="0">
                <a:solidFill>
                  <a:srgbClr val="666666"/>
                </a:solidFill>
                <a:effectLst/>
                <a:latin typeface="Roboto Condensed"/>
              </a:rPr>
              <a:t>We can derive the conclusion for assembly line 2 in similar way. So mathematically we can formulate the problem as :</a:t>
            </a: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666666"/>
                </a:solidFill>
                <a:effectLst/>
                <a:latin typeface="Roboto Condensed"/>
              </a:rPr>
              <a:t>For j &gt; 1 :</a:t>
            </a:r>
          </a:p>
          <a:p>
            <a:pPr marL="0" indent="0" fontAlgn="base">
              <a:buNone/>
            </a:pPr>
            <a:r>
              <a:rPr lang="en-US" b="1" i="0" dirty="0" smtClean="0">
                <a:solidFill>
                  <a:srgbClr val="FF0000"/>
                </a:solidFill>
                <a:effectLst/>
                <a:latin typeface="Roboto Condensed"/>
              </a:rPr>
              <a:t>f</a:t>
            </a:r>
            <a:r>
              <a:rPr lang="en-US" b="1" i="0" baseline="-25000" dirty="0" smtClean="0">
                <a:solidFill>
                  <a:srgbClr val="FF0000"/>
                </a:solidFill>
                <a:effectLst/>
                <a:latin typeface="inherit"/>
              </a:rPr>
              <a:t>1[j]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Roboto Condensed"/>
              </a:rPr>
              <a:t> = min (f</a:t>
            </a:r>
            <a:r>
              <a:rPr lang="en-US" b="1" i="0" baseline="-25000" dirty="0" smtClean="0">
                <a:solidFill>
                  <a:srgbClr val="FF0000"/>
                </a:solidFill>
                <a:effectLst/>
                <a:latin typeface="inherit"/>
              </a:rPr>
              <a:t>1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Roboto Condensed"/>
              </a:rPr>
              <a:t> [ j – 1] + a</a:t>
            </a:r>
            <a:r>
              <a:rPr lang="en-US" b="1" i="0" baseline="-25000" dirty="0" smtClean="0">
                <a:solidFill>
                  <a:srgbClr val="FF0000"/>
                </a:solidFill>
                <a:effectLst/>
                <a:latin typeface="inherit"/>
              </a:rPr>
              <a:t>1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Roboto Condensed"/>
              </a:rPr>
              <a:t>, f</a:t>
            </a:r>
            <a:r>
              <a:rPr lang="en-US" b="1" i="0" baseline="-25000" dirty="0" smtClean="0">
                <a:solidFill>
                  <a:srgbClr val="FF0000"/>
                </a:solidFill>
                <a:effectLst/>
                <a:latin typeface="inherit"/>
              </a:rPr>
              <a:t>2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Roboto Condensed"/>
              </a:rPr>
              <a:t> [</a:t>
            </a:r>
            <a:r>
              <a:rPr lang="en-US" b="1" dirty="0">
                <a:solidFill>
                  <a:srgbClr val="FF0000"/>
                </a:solidFill>
                <a:latin typeface="Roboto Condensed"/>
              </a:rPr>
              <a:t> 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Roboto Condensed"/>
              </a:rPr>
              <a:t>j – 1] + t</a:t>
            </a:r>
            <a:r>
              <a:rPr lang="en-US" b="1" i="0" baseline="-25000" dirty="0" smtClean="0">
                <a:solidFill>
                  <a:srgbClr val="FF0000"/>
                </a:solidFill>
                <a:effectLst/>
                <a:latin typeface="inherit"/>
              </a:rPr>
              <a:t>2 j – 1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Roboto Condensed"/>
              </a:rPr>
              <a:t> + a</a:t>
            </a:r>
            <a:r>
              <a:rPr lang="en-US" b="1" i="0" baseline="-25000" dirty="0" smtClean="0">
                <a:solidFill>
                  <a:srgbClr val="FF0000"/>
                </a:solidFill>
                <a:effectLst/>
                <a:latin typeface="inherit"/>
              </a:rPr>
              <a:t>1j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Roboto Condensed"/>
              </a:rPr>
              <a:t> )</a:t>
            </a:r>
          </a:p>
          <a:p>
            <a:pPr marL="0" indent="0" fontAlgn="base">
              <a:buNone/>
            </a:pPr>
            <a:r>
              <a:rPr lang="en-US" b="1" i="0" dirty="0" smtClean="0">
                <a:solidFill>
                  <a:srgbClr val="FF0000"/>
                </a:solidFill>
                <a:effectLst/>
                <a:latin typeface="Roboto Condensed"/>
              </a:rPr>
              <a:t>f</a:t>
            </a:r>
            <a:r>
              <a:rPr lang="en-US" b="1" i="0" baseline="-25000" dirty="0" smtClean="0">
                <a:solidFill>
                  <a:srgbClr val="FF0000"/>
                </a:solidFill>
                <a:effectLst/>
                <a:latin typeface="inherit"/>
              </a:rPr>
              <a:t>2[j]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Roboto Condensed"/>
              </a:rPr>
              <a:t> = min (f</a:t>
            </a:r>
            <a:r>
              <a:rPr lang="en-US" b="1" i="0" baseline="-25000" dirty="0" smtClean="0">
                <a:solidFill>
                  <a:srgbClr val="FF0000"/>
                </a:solidFill>
                <a:effectLst/>
                <a:latin typeface="inherit"/>
              </a:rPr>
              <a:t>1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Roboto Condensed"/>
              </a:rPr>
              <a:t> [ j – 1] + t</a:t>
            </a:r>
            <a:r>
              <a:rPr lang="en-US" b="1" i="0" baseline="-25000" dirty="0" smtClean="0">
                <a:solidFill>
                  <a:srgbClr val="FF0000"/>
                </a:solidFill>
                <a:effectLst/>
                <a:latin typeface="inherit"/>
              </a:rPr>
              <a:t>1 j – 1 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Roboto Condensed"/>
              </a:rPr>
              <a:t>+ a</a:t>
            </a:r>
            <a:r>
              <a:rPr lang="en-US" b="1" i="0" baseline="-25000" dirty="0" smtClean="0">
                <a:solidFill>
                  <a:srgbClr val="FF0000"/>
                </a:solidFill>
                <a:effectLst/>
                <a:latin typeface="inherit"/>
              </a:rPr>
              <a:t>2j, 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Roboto Condensed"/>
              </a:rPr>
              <a:t>f</a:t>
            </a:r>
            <a:r>
              <a:rPr lang="en-US" b="1" i="0" baseline="-25000" dirty="0" smtClean="0">
                <a:solidFill>
                  <a:srgbClr val="FF0000"/>
                </a:solidFill>
                <a:effectLst/>
                <a:latin typeface="inherit"/>
              </a:rPr>
              <a:t>2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Roboto Condensed"/>
              </a:rPr>
              <a:t> [ j – 1] + a</a:t>
            </a:r>
            <a:r>
              <a:rPr lang="en-US" b="1" i="0" baseline="-25000" dirty="0" smtClean="0">
                <a:solidFill>
                  <a:srgbClr val="FF0000"/>
                </a:solidFill>
                <a:effectLst/>
                <a:latin typeface="inherit"/>
              </a:rPr>
              <a:t>2j </a:t>
            </a:r>
            <a:r>
              <a:rPr lang="en-US" b="1" i="0" dirty="0" smtClean="0">
                <a:solidFill>
                  <a:srgbClr val="FF0000"/>
                </a:solidFill>
                <a:effectLst/>
                <a:latin typeface="Roboto Condensed"/>
              </a:rPr>
              <a:t>)</a:t>
            </a:r>
          </a:p>
          <a:p>
            <a:pPr marL="0" indent="0" fontAlgn="base">
              <a:buNone/>
            </a:pPr>
            <a:endParaRPr lang="en-US" b="0" i="0" dirty="0" smtClean="0">
              <a:solidFill>
                <a:srgbClr val="666666"/>
              </a:solidFill>
              <a:effectLst/>
              <a:latin typeface="Roboto Condensed"/>
            </a:endParaRPr>
          </a:p>
          <a:p>
            <a:pPr marL="0" indent="0" fontAlgn="base">
              <a:buNone/>
            </a:pPr>
            <a:r>
              <a:rPr lang="en-US" b="0" i="0" dirty="0" smtClean="0">
                <a:solidFill>
                  <a:srgbClr val="666666"/>
                </a:solidFill>
                <a:effectLst/>
                <a:latin typeface="Roboto Condensed"/>
              </a:rPr>
              <a:t>Exit time from assembly line 1 and 2 are x</a:t>
            </a:r>
            <a:r>
              <a:rPr lang="en-US" b="0" i="0" baseline="-25000" dirty="0" smtClean="0">
                <a:solidFill>
                  <a:srgbClr val="666666"/>
                </a:solidFill>
                <a:effectLst/>
                <a:latin typeface="inherit"/>
              </a:rPr>
              <a:t>1</a:t>
            </a:r>
            <a:r>
              <a:rPr lang="en-US" b="0" i="0" dirty="0" smtClean="0">
                <a:solidFill>
                  <a:srgbClr val="666666"/>
                </a:solidFill>
                <a:effectLst/>
                <a:latin typeface="Roboto Condensed"/>
              </a:rPr>
              <a:t> and x</a:t>
            </a:r>
            <a:r>
              <a:rPr lang="en-US" b="0" i="0" baseline="-25000" dirty="0" smtClean="0">
                <a:solidFill>
                  <a:srgbClr val="666666"/>
                </a:solidFill>
                <a:effectLst/>
                <a:latin typeface="inherit"/>
              </a:rPr>
              <a:t>2</a:t>
            </a:r>
            <a:r>
              <a:rPr lang="en-US" b="0" i="0" dirty="0" smtClean="0">
                <a:solidFill>
                  <a:srgbClr val="666666"/>
                </a:solidFill>
                <a:effectLst/>
                <a:latin typeface="Roboto Condensed"/>
              </a:rPr>
              <a:t> respectively. Thus, minimum time to take away the product from assembly line is :</a:t>
            </a:r>
          </a:p>
          <a:p>
            <a:pPr marL="0" indent="0" algn="ctr" fontAlgn="base">
              <a:buNone/>
            </a:pPr>
            <a:r>
              <a:rPr lang="en-US" b="0" i="0" dirty="0" smtClean="0">
                <a:solidFill>
                  <a:srgbClr val="666666"/>
                </a:solidFill>
                <a:effectLst/>
                <a:latin typeface="Roboto Condensed"/>
              </a:rPr>
              <a:t>f*    =   min (f</a:t>
            </a:r>
            <a:r>
              <a:rPr lang="en-US" b="0" i="0" baseline="-25000" dirty="0" smtClean="0">
                <a:solidFill>
                  <a:srgbClr val="666666"/>
                </a:solidFill>
                <a:effectLst/>
                <a:latin typeface="inherit"/>
              </a:rPr>
              <a:t>1</a:t>
            </a:r>
            <a:r>
              <a:rPr lang="en-US" b="0" i="0" dirty="0" smtClean="0">
                <a:solidFill>
                  <a:srgbClr val="666666"/>
                </a:solidFill>
                <a:effectLst/>
                <a:latin typeface="Roboto Condensed"/>
              </a:rPr>
              <a:t> [n] + x</a:t>
            </a:r>
            <a:r>
              <a:rPr lang="en-US" b="0" i="0" baseline="-25000" dirty="0" smtClean="0">
                <a:solidFill>
                  <a:srgbClr val="666666"/>
                </a:solidFill>
                <a:effectLst/>
                <a:latin typeface="inherit"/>
              </a:rPr>
              <a:t>1</a:t>
            </a:r>
            <a:r>
              <a:rPr lang="en-US" b="0" i="0" dirty="0" smtClean="0">
                <a:solidFill>
                  <a:srgbClr val="666666"/>
                </a:solidFill>
                <a:effectLst/>
                <a:latin typeface="Roboto Condensed"/>
              </a:rPr>
              <a:t>, f</a:t>
            </a:r>
            <a:r>
              <a:rPr lang="en-US" b="0" i="0" baseline="-25000" dirty="0" smtClean="0">
                <a:solidFill>
                  <a:srgbClr val="666666"/>
                </a:solidFill>
                <a:effectLst/>
                <a:latin typeface="inherit"/>
              </a:rPr>
              <a:t>2</a:t>
            </a:r>
            <a:r>
              <a:rPr lang="en-US" b="0" i="0" dirty="0" smtClean="0">
                <a:solidFill>
                  <a:srgbClr val="666666"/>
                </a:solidFill>
                <a:effectLst/>
                <a:latin typeface="Roboto Condensed"/>
              </a:rPr>
              <a:t> [n] + x</a:t>
            </a:r>
            <a:r>
              <a:rPr lang="en-US" b="0" i="0" baseline="-25000" dirty="0" smtClean="0">
                <a:solidFill>
                  <a:srgbClr val="666666"/>
                </a:solidFill>
                <a:effectLst/>
                <a:latin typeface="inherit"/>
              </a:rPr>
              <a:t>2</a:t>
            </a:r>
            <a:r>
              <a:rPr lang="en-US" b="0" i="0" dirty="0" smtClean="0">
                <a:solidFill>
                  <a:srgbClr val="666666"/>
                </a:solidFill>
                <a:effectLst/>
                <a:latin typeface="Roboto Condensed"/>
              </a:rPr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0651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765" y="274638"/>
            <a:ext cx="8571035" cy="56207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Algorithm for Assembly Line Scheduling</a:t>
            </a:r>
            <a:br>
              <a:rPr lang="en-US" b="1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04" y="836712"/>
            <a:ext cx="4427984" cy="496855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ASSEMBLY_LINE_SCHEDULING         (n, e, a, t, x)  </a:t>
            </a:r>
          </a:p>
          <a:p>
            <a:pPr marL="0" indent="0">
              <a:buNone/>
            </a:pPr>
            <a:r>
              <a:rPr lang="en-US" dirty="0" smtClean="0"/>
              <a:t>f1[1] ← e1 + a1,1</a:t>
            </a:r>
          </a:p>
          <a:p>
            <a:pPr marL="0" indent="0">
              <a:buNone/>
            </a:pPr>
            <a:r>
              <a:rPr lang="en-US" dirty="0" smtClean="0"/>
              <a:t>f2[1] ← e2 + a2,1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for j ← 2 to n do</a:t>
            </a:r>
          </a:p>
          <a:p>
            <a:pPr marL="0" indent="0">
              <a:buNone/>
            </a:pPr>
            <a:r>
              <a:rPr lang="en-US" dirty="0" smtClean="0"/>
              <a:t>   if f1[j - 1] + a1, j  ≤ f2[j – 1] + t[j – 1] + t + a2, j then</a:t>
            </a:r>
          </a:p>
          <a:p>
            <a:pPr marL="0" indent="0">
              <a:buNone/>
            </a:pPr>
            <a:r>
              <a:rPr lang="en-US" dirty="0" smtClean="0"/>
              <a:t>      f1[j] ← f1[j – 1] + a1, j</a:t>
            </a:r>
          </a:p>
          <a:p>
            <a:pPr marL="0" indent="0">
              <a:buNone/>
            </a:pPr>
            <a:r>
              <a:rPr lang="en-US" dirty="0" smtClean="0"/>
              <a:t>      L1[j] ← 1</a:t>
            </a:r>
          </a:p>
          <a:p>
            <a:pPr marL="0" indent="0">
              <a:buNone/>
            </a:pPr>
            <a:r>
              <a:rPr lang="en-US" dirty="0" smtClean="0"/>
              <a:t>   else</a:t>
            </a:r>
          </a:p>
          <a:p>
            <a:pPr marL="0" indent="0">
              <a:buNone/>
            </a:pPr>
            <a:r>
              <a:rPr lang="en-US" dirty="0" smtClean="0"/>
              <a:t>      f1[j] ← f2[j – 1] + t2,j – 1+ a1, j</a:t>
            </a:r>
          </a:p>
          <a:p>
            <a:pPr marL="0" indent="0">
              <a:buNone/>
            </a:pPr>
            <a:r>
              <a:rPr lang="en-US" dirty="0" smtClean="0"/>
              <a:t>      L1[j] ← 2</a:t>
            </a:r>
          </a:p>
          <a:p>
            <a:pPr marL="0" indent="0">
              <a:buNone/>
            </a:pPr>
            <a:r>
              <a:rPr lang="en-US" dirty="0" smtClean="0"/>
              <a:t>   end</a:t>
            </a:r>
          </a:p>
          <a:p>
            <a:pPr marL="0" indent="0">
              <a:buNone/>
            </a:pPr>
            <a:endParaRPr lang="en-IN" dirty="0" smtClean="0"/>
          </a:p>
        </p:txBody>
      </p:sp>
      <p:sp>
        <p:nvSpPr>
          <p:cNvPr id="4" name="Rectangle 3"/>
          <p:cNvSpPr/>
          <p:nvPr/>
        </p:nvSpPr>
        <p:spPr>
          <a:xfrm>
            <a:off x="4370744" y="909257"/>
            <a:ext cx="468052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 if f2[j – 1] + a2, j ≤ f1[j – 1] + t1, j – 1 + a2, j then</a:t>
            </a:r>
          </a:p>
          <a:p>
            <a:r>
              <a:rPr lang="en-IN" dirty="0" smtClean="0"/>
              <a:t>      f2[j] ← f2[j – 1] + a2, j</a:t>
            </a:r>
          </a:p>
          <a:p>
            <a:r>
              <a:rPr lang="en-IN" dirty="0" smtClean="0"/>
              <a:t>      L2[j] ← 2</a:t>
            </a:r>
          </a:p>
          <a:p>
            <a:r>
              <a:rPr lang="en-IN" dirty="0" smtClean="0"/>
              <a:t>   else</a:t>
            </a:r>
          </a:p>
          <a:p>
            <a:r>
              <a:rPr lang="en-IN" dirty="0" smtClean="0"/>
              <a:t>      f2[j] ← f1[j – 1] + t1, j – 1 + a2, j</a:t>
            </a:r>
          </a:p>
          <a:p>
            <a:r>
              <a:rPr lang="en-IN" dirty="0" smtClean="0"/>
              <a:t>      L2[j] ← 1</a:t>
            </a:r>
          </a:p>
          <a:p>
            <a:r>
              <a:rPr lang="en-IN" dirty="0" smtClean="0"/>
              <a:t>   end</a:t>
            </a:r>
          </a:p>
          <a:p>
            <a:endParaRPr lang="en-IN" dirty="0" smtClean="0"/>
          </a:p>
          <a:p>
            <a:r>
              <a:rPr lang="en-IN" dirty="0" smtClean="0"/>
              <a:t>   if f1[n] + x1  ≤ f2[n] + x2 then</a:t>
            </a:r>
          </a:p>
          <a:p>
            <a:r>
              <a:rPr lang="en-IN" dirty="0" smtClean="0"/>
              <a:t>      F* ← f1[n] + x1</a:t>
            </a:r>
          </a:p>
          <a:p>
            <a:r>
              <a:rPr lang="en-IN" dirty="0" smtClean="0"/>
              <a:t>      L* ← 1</a:t>
            </a:r>
          </a:p>
          <a:p>
            <a:r>
              <a:rPr lang="en-IN" dirty="0" smtClean="0"/>
              <a:t>   else</a:t>
            </a:r>
          </a:p>
          <a:p>
            <a:r>
              <a:rPr lang="en-IN" dirty="0" smtClean="0"/>
              <a:t>      F* ← f2[n] + x2</a:t>
            </a:r>
          </a:p>
          <a:p>
            <a:r>
              <a:rPr lang="en-IN" dirty="0" smtClean="0"/>
              <a:t>      L* ← 2</a:t>
            </a:r>
          </a:p>
          <a:p>
            <a:r>
              <a:rPr lang="en-IN" dirty="0" smtClean="0"/>
              <a:t>   end</a:t>
            </a:r>
          </a:p>
          <a:p>
            <a:r>
              <a:rPr lang="en-IN" dirty="0" smtClean="0"/>
              <a:t>end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0404" y="5433572"/>
            <a:ext cx="9115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// n is number of stations on both assembly       // e is array of entry time on assembly</a:t>
            </a:r>
          </a:p>
          <a:p>
            <a:r>
              <a:rPr lang="en-US" dirty="0" smtClean="0"/>
              <a:t>// a is array of assembly time on given station   // t is array of the time required to change assembly line //x is array of exit time from assembly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54749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above algorithm will just tell us the minimum time required to take away the product from station n.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does not tell anything about the sequence of stations on assembly</a:t>
            </a:r>
            <a:r>
              <a:rPr lang="en-US" dirty="0" smtClean="0"/>
              <a:t>.</a:t>
            </a:r>
          </a:p>
          <a:p>
            <a:r>
              <a:rPr lang="en-US" dirty="0" smtClean="0"/>
              <a:t>We </a:t>
            </a:r>
            <a:r>
              <a:rPr lang="en-US" dirty="0"/>
              <a:t>can find the station sequence by tracing the solution using the following algorithm</a:t>
            </a:r>
            <a:r>
              <a:rPr lang="en-US" dirty="0" smtClean="0"/>
              <a:t>.</a:t>
            </a:r>
          </a:p>
          <a:p>
            <a:r>
              <a:rPr lang="en-IN" dirty="0" smtClean="0"/>
              <a:t>Algorithm  PRINT_STATIONS(l, n)</a:t>
            </a:r>
          </a:p>
          <a:p>
            <a:pPr marL="400050" lvl="1" indent="0">
              <a:buNone/>
            </a:pPr>
            <a:r>
              <a:rPr lang="en-IN" dirty="0" err="1" smtClean="0"/>
              <a:t>i</a:t>
            </a:r>
            <a:r>
              <a:rPr lang="en-IN" dirty="0" smtClean="0"/>
              <a:t> ← 1*</a:t>
            </a:r>
          </a:p>
          <a:p>
            <a:pPr marL="400050" lvl="1" indent="0">
              <a:buNone/>
            </a:pPr>
            <a:r>
              <a:rPr lang="en-IN" dirty="0" smtClean="0"/>
              <a:t>print "line " </a:t>
            </a:r>
            <a:r>
              <a:rPr lang="en-IN" dirty="0" err="1" smtClean="0"/>
              <a:t>i</a:t>
            </a:r>
            <a:r>
              <a:rPr lang="en-IN" dirty="0" smtClean="0"/>
              <a:t> ", station " n</a:t>
            </a:r>
          </a:p>
          <a:p>
            <a:pPr marL="400050" lvl="1" indent="0">
              <a:buNone/>
            </a:pPr>
            <a:r>
              <a:rPr lang="en-IN" dirty="0" smtClean="0"/>
              <a:t>for j ← n </a:t>
            </a:r>
            <a:r>
              <a:rPr lang="en-IN" dirty="0" err="1" smtClean="0"/>
              <a:t>downto</a:t>
            </a:r>
            <a:r>
              <a:rPr lang="en-IN" dirty="0" smtClean="0"/>
              <a:t> 2 do</a:t>
            </a:r>
          </a:p>
          <a:p>
            <a:pPr marL="400050" lvl="1" indent="0">
              <a:buNone/>
            </a:pPr>
            <a:r>
              <a:rPr lang="en-IN" dirty="0" smtClean="0"/>
              <a:t>    </a:t>
            </a:r>
            <a:r>
              <a:rPr lang="en-IN" dirty="0" err="1" smtClean="0"/>
              <a:t>i</a:t>
            </a:r>
            <a:r>
              <a:rPr lang="en-IN" dirty="0" smtClean="0"/>
              <a:t> ← Li[ j ]</a:t>
            </a:r>
          </a:p>
          <a:p>
            <a:pPr marL="400050" lvl="1" indent="0">
              <a:buNone/>
            </a:pPr>
            <a:r>
              <a:rPr lang="en-IN" dirty="0" smtClean="0"/>
              <a:t>    print "line " </a:t>
            </a:r>
            <a:r>
              <a:rPr lang="en-IN" dirty="0" err="1" smtClean="0"/>
              <a:t>i</a:t>
            </a:r>
            <a:r>
              <a:rPr lang="en-IN" dirty="0" smtClean="0"/>
              <a:t> ",station " j – 1</a:t>
            </a:r>
          </a:p>
          <a:p>
            <a:pPr marL="400050" lvl="1" indent="0">
              <a:buNone/>
            </a:pPr>
            <a:r>
              <a:rPr lang="en-IN" dirty="0" smtClean="0"/>
              <a:t>end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3914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Find optimal assembly line schedule for given data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11560" y="260648"/>
            <a:ext cx="22430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b="1" dirty="0" smtClean="0">
                <a:solidFill>
                  <a:srgbClr val="FF0000"/>
                </a:solidFill>
              </a:rPr>
              <a:t>Problem :</a:t>
            </a:r>
            <a:endParaRPr lang="en-IN" sz="4000" b="1" dirty="0">
              <a:solidFill>
                <a:srgbClr val="FF0000"/>
              </a:solidFill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591" y="2492896"/>
            <a:ext cx="8172450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7126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504" y="31131"/>
            <a:ext cx="7180792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sz="2600" b="1" dirty="0">
                <a:solidFill>
                  <a:srgbClr val="FF0000"/>
                </a:solidFill>
              </a:rPr>
              <a:t>Solution:</a:t>
            </a:r>
            <a:endParaRPr lang="en-IN" sz="2600" dirty="0">
              <a:solidFill>
                <a:srgbClr val="FF0000"/>
              </a:solidFill>
            </a:endParaRPr>
          </a:p>
          <a:p>
            <a:pPr fontAlgn="base"/>
            <a:r>
              <a:rPr lang="en-IN" sz="2600" dirty="0"/>
              <a:t>f</a:t>
            </a:r>
            <a:r>
              <a:rPr lang="en-IN" sz="2600" baseline="-25000" dirty="0"/>
              <a:t>i</a:t>
            </a:r>
            <a:r>
              <a:rPr lang="en-IN" sz="2600" dirty="0"/>
              <a:t> [j] = </a:t>
            </a:r>
            <a:r>
              <a:rPr lang="en-IN" sz="2600" dirty="0" err="1"/>
              <a:t>e</a:t>
            </a:r>
            <a:r>
              <a:rPr lang="en-IN" sz="2600" baseline="-25000" dirty="0" err="1"/>
              <a:t>i</a:t>
            </a:r>
            <a:r>
              <a:rPr lang="en-IN" sz="2600" dirty="0"/>
              <a:t> + a</a:t>
            </a:r>
            <a:r>
              <a:rPr lang="en-IN" sz="2600" baseline="-25000" dirty="0"/>
              <a:t>i</a:t>
            </a:r>
            <a:r>
              <a:rPr lang="en-IN" sz="2600" dirty="0"/>
              <a:t>,</a:t>
            </a:r>
            <a:r>
              <a:rPr lang="en-IN" sz="2600" baseline="-25000" dirty="0"/>
              <a:t>1</a:t>
            </a:r>
            <a:r>
              <a:rPr lang="en-IN" sz="2600" dirty="0"/>
              <a:t>; Initial condition (j = 1, </a:t>
            </a:r>
            <a:r>
              <a:rPr lang="en-IN" sz="2600" dirty="0" err="1"/>
              <a:t>i</a:t>
            </a:r>
            <a:r>
              <a:rPr lang="en-IN" sz="2600" dirty="0"/>
              <a:t>=1, 2)</a:t>
            </a:r>
          </a:p>
          <a:p>
            <a:pPr fontAlgn="base"/>
            <a:r>
              <a:rPr lang="en-IN" sz="2600" dirty="0"/>
              <a:t>f</a:t>
            </a:r>
            <a:r>
              <a:rPr lang="en-IN" sz="2600" baseline="-25000" dirty="0"/>
              <a:t>1 </a:t>
            </a:r>
            <a:r>
              <a:rPr lang="en-IN" sz="2600" dirty="0"/>
              <a:t>[j] = min (f</a:t>
            </a:r>
            <a:r>
              <a:rPr lang="en-IN" sz="2600" baseline="-25000" dirty="0"/>
              <a:t>1</a:t>
            </a:r>
            <a:r>
              <a:rPr lang="en-IN" sz="2600" dirty="0"/>
              <a:t> [j – 1] + a</a:t>
            </a:r>
            <a:r>
              <a:rPr lang="en-IN" sz="2600" baseline="-25000" dirty="0"/>
              <a:t>1j</a:t>
            </a:r>
            <a:r>
              <a:rPr lang="en-IN" sz="2600" dirty="0"/>
              <a:t>, f</a:t>
            </a:r>
            <a:r>
              <a:rPr lang="en-IN" sz="2600" baseline="-25000" dirty="0"/>
              <a:t>2</a:t>
            </a:r>
            <a:r>
              <a:rPr lang="en-IN" sz="2600" dirty="0"/>
              <a:t> [j – 1] + t</a:t>
            </a:r>
            <a:r>
              <a:rPr lang="en-IN" sz="2600" baseline="-25000" dirty="0"/>
              <a:t>2 j – 1</a:t>
            </a:r>
            <a:r>
              <a:rPr lang="en-IN" sz="2600" dirty="0"/>
              <a:t>) + a</a:t>
            </a:r>
            <a:r>
              <a:rPr lang="en-IN" sz="2600" baseline="-25000" dirty="0"/>
              <a:t>1j</a:t>
            </a:r>
            <a:r>
              <a:rPr lang="en-IN" sz="2600" dirty="0" smtClean="0"/>
              <a:t>)</a:t>
            </a:r>
          </a:p>
          <a:p>
            <a:pPr fontAlgn="base"/>
            <a:r>
              <a:rPr lang="en-IN" sz="2600" dirty="0"/>
              <a:t>f</a:t>
            </a:r>
            <a:r>
              <a:rPr lang="en-IN" sz="2600" baseline="-25000" dirty="0"/>
              <a:t>2 </a:t>
            </a:r>
            <a:r>
              <a:rPr lang="en-IN" sz="2600" dirty="0"/>
              <a:t>[j] = min (f</a:t>
            </a:r>
            <a:r>
              <a:rPr lang="en-IN" sz="2600" baseline="-25000" dirty="0"/>
              <a:t>1</a:t>
            </a:r>
            <a:r>
              <a:rPr lang="en-IN" sz="2600" dirty="0"/>
              <a:t> [j – 1] + t</a:t>
            </a:r>
            <a:r>
              <a:rPr lang="en-IN" sz="2600" baseline="-25000" dirty="0"/>
              <a:t>1</a:t>
            </a:r>
            <a:r>
              <a:rPr lang="en-IN" sz="2600" dirty="0"/>
              <a:t> </a:t>
            </a:r>
            <a:r>
              <a:rPr lang="en-IN" sz="2600" baseline="-25000" dirty="0"/>
              <a:t>j – 1</a:t>
            </a:r>
            <a:r>
              <a:rPr lang="en-IN" sz="2600" dirty="0"/>
              <a:t>) + a</a:t>
            </a:r>
            <a:r>
              <a:rPr lang="en-IN" sz="2600" baseline="-25000" dirty="0"/>
              <a:t>2j</a:t>
            </a:r>
            <a:r>
              <a:rPr lang="en-IN" sz="2600" dirty="0"/>
              <a:t>, f</a:t>
            </a:r>
            <a:r>
              <a:rPr lang="en-IN" sz="2600" baseline="-25000" dirty="0"/>
              <a:t>2</a:t>
            </a:r>
            <a:r>
              <a:rPr lang="en-IN" sz="2600" dirty="0"/>
              <a:t> [j – 1] + a</a:t>
            </a:r>
            <a:r>
              <a:rPr lang="en-IN" sz="2600" baseline="-25000" dirty="0"/>
              <a:t>2j</a:t>
            </a:r>
            <a:r>
              <a:rPr lang="en-IN" sz="2600" dirty="0"/>
              <a:t> )</a:t>
            </a:r>
          </a:p>
          <a:p>
            <a:pPr fontAlgn="base"/>
            <a:r>
              <a:rPr lang="en-IN" sz="2600" dirty="0"/>
              <a:t>f*  = min (f</a:t>
            </a:r>
            <a:r>
              <a:rPr lang="en-IN" sz="2600" baseline="-25000" dirty="0"/>
              <a:t>1</a:t>
            </a:r>
            <a:r>
              <a:rPr lang="en-IN" sz="2600" dirty="0"/>
              <a:t> [n] + x</a:t>
            </a:r>
            <a:r>
              <a:rPr lang="en-IN" sz="2600" baseline="-25000" dirty="0"/>
              <a:t>1</a:t>
            </a:r>
            <a:r>
              <a:rPr lang="en-IN" sz="2600" dirty="0"/>
              <a:t>, f</a:t>
            </a:r>
            <a:r>
              <a:rPr lang="en-IN" sz="2600" baseline="-25000" dirty="0"/>
              <a:t>2</a:t>
            </a:r>
            <a:r>
              <a:rPr lang="en-IN" sz="2600" dirty="0"/>
              <a:t> [n]+x</a:t>
            </a:r>
            <a:r>
              <a:rPr lang="en-IN" sz="2600" baseline="-25000" dirty="0"/>
              <a:t>2</a:t>
            </a:r>
            <a:r>
              <a:rPr lang="en-IN" sz="2600" dirty="0"/>
              <a:t> )</a:t>
            </a:r>
          </a:p>
          <a:p>
            <a:pPr fontAlgn="base"/>
            <a:r>
              <a:rPr lang="en-IN" sz="2600" dirty="0"/>
              <a:t>f</a:t>
            </a:r>
            <a:r>
              <a:rPr lang="en-IN" sz="2600" baseline="-25000" dirty="0"/>
              <a:t>1 </a:t>
            </a:r>
            <a:r>
              <a:rPr lang="en-IN" sz="2600" dirty="0"/>
              <a:t>[1] = e</a:t>
            </a:r>
            <a:r>
              <a:rPr lang="en-IN" sz="2600" baseline="-25000" dirty="0"/>
              <a:t>1 </a:t>
            </a:r>
            <a:r>
              <a:rPr lang="en-IN" sz="2600" dirty="0"/>
              <a:t>+ a</a:t>
            </a:r>
            <a:r>
              <a:rPr lang="en-IN" sz="2600" baseline="-25000" dirty="0"/>
              <a:t>11</a:t>
            </a:r>
            <a:endParaRPr lang="en-IN" sz="2600" dirty="0"/>
          </a:p>
          <a:p>
            <a:pPr fontAlgn="base"/>
            <a:r>
              <a:rPr lang="en-IN" sz="2600" dirty="0"/>
              <a:t>= 4 + 2</a:t>
            </a:r>
          </a:p>
          <a:p>
            <a:pPr fontAlgn="base"/>
            <a:r>
              <a:rPr lang="en-IN" sz="2600" dirty="0"/>
              <a:t>= 6</a:t>
            </a:r>
          </a:p>
          <a:p>
            <a:pPr fontAlgn="base"/>
            <a:r>
              <a:rPr lang="en-IN" sz="2600" dirty="0"/>
              <a:t>f</a:t>
            </a:r>
            <a:r>
              <a:rPr lang="en-IN" sz="2600" baseline="-25000" dirty="0"/>
              <a:t>2 </a:t>
            </a:r>
            <a:r>
              <a:rPr lang="en-IN" sz="2600" dirty="0"/>
              <a:t>[1]  = e</a:t>
            </a:r>
            <a:r>
              <a:rPr lang="en-IN" sz="2600" baseline="-25000" dirty="0"/>
              <a:t>2 </a:t>
            </a:r>
            <a:r>
              <a:rPr lang="en-IN" sz="2600" dirty="0"/>
              <a:t>+ a</a:t>
            </a:r>
            <a:r>
              <a:rPr lang="en-IN" sz="2600" baseline="-25000" dirty="0"/>
              <a:t>21</a:t>
            </a:r>
            <a:endParaRPr lang="en-IN" sz="2600" dirty="0"/>
          </a:p>
          <a:p>
            <a:pPr fontAlgn="base"/>
            <a:r>
              <a:rPr lang="en-IN" sz="2600" dirty="0"/>
              <a:t>= 2 + 6 </a:t>
            </a:r>
          </a:p>
          <a:p>
            <a:pPr fontAlgn="base"/>
            <a:r>
              <a:rPr lang="en-IN" sz="2600" dirty="0"/>
              <a:t>= 8</a:t>
            </a:r>
          </a:p>
          <a:p>
            <a:pPr fontAlgn="base"/>
            <a:endParaRPr lang="en-IN" sz="2600" dirty="0"/>
          </a:p>
        </p:txBody>
      </p:sp>
      <p:sp>
        <p:nvSpPr>
          <p:cNvPr id="3" name="Rectangle 2"/>
          <p:cNvSpPr/>
          <p:nvPr/>
        </p:nvSpPr>
        <p:spPr>
          <a:xfrm>
            <a:off x="2771800" y="2348880"/>
            <a:ext cx="6804247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sz="2600" dirty="0" smtClean="0"/>
              <a:t>f</a:t>
            </a:r>
            <a:r>
              <a:rPr lang="en-IN" sz="2600" baseline="-25000" dirty="0" smtClean="0"/>
              <a:t>1 </a:t>
            </a:r>
            <a:r>
              <a:rPr lang="en-IN" sz="2600" dirty="0" smtClean="0"/>
              <a:t>[2] = min (f</a:t>
            </a:r>
            <a:r>
              <a:rPr lang="en-IN" sz="2600" baseline="-25000" dirty="0" smtClean="0"/>
              <a:t>1</a:t>
            </a:r>
            <a:r>
              <a:rPr lang="en-IN" sz="2600" dirty="0" smtClean="0"/>
              <a:t>[j – 1] + a</a:t>
            </a:r>
            <a:r>
              <a:rPr lang="en-IN" sz="2600" baseline="-25000" dirty="0" smtClean="0"/>
              <a:t>1j</a:t>
            </a:r>
            <a:r>
              <a:rPr lang="en-IN" sz="2600" dirty="0" smtClean="0"/>
              <a:t>, f</a:t>
            </a:r>
            <a:r>
              <a:rPr lang="en-IN" sz="2600" baseline="-25000" dirty="0" smtClean="0"/>
              <a:t>2</a:t>
            </a:r>
            <a:r>
              <a:rPr lang="en-IN" sz="2600" dirty="0" smtClean="0"/>
              <a:t> [j – 1] + t</a:t>
            </a:r>
            <a:r>
              <a:rPr lang="en-IN" sz="2600" baseline="-25000" dirty="0" smtClean="0"/>
              <a:t>2j – 1</a:t>
            </a:r>
            <a:r>
              <a:rPr lang="en-IN" sz="2600" dirty="0" smtClean="0"/>
              <a:t>+ a</a:t>
            </a:r>
            <a:r>
              <a:rPr lang="en-IN" sz="2600" baseline="-25000" dirty="0" smtClean="0"/>
              <a:t>1j</a:t>
            </a:r>
            <a:r>
              <a:rPr lang="en-IN" sz="2600" dirty="0" smtClean="0"/>
              <a:t> )</a:t>
            </a:r>
          </a:p>
          <a:p>
            <a:pPr fontAlgn="base"/>
            <a:r>
              <a:rPr lang="en-IN" sz="2600" dirty="0" smtClean="0"/>
              <a:t>= min (f</a:t>
            </a:r>
            <a:r>
              <a:rPr lang="en-IN" sz="2600" baseline="-25000" dirty="0" smtClean="0"/>
              <a:t>1 </a:t>
            </a:r>
            <a:r>
              <a:rPr lang="en-IN" sz="2600" dirty="0" smtClean="0"/>
              <a:t>[1] + a</a:t>
            </a:r>
            <a:r>
              <a:rPr lang="en-IN" sz="2600" baseline="-25000" dirty="0" smtClean="0"/>
              <a:t>12</a:t>
            </a:r>
            <a:r>
              <a:rPr lang="en-IN" sz="2600" dirty="0" smtClean="0"/>
              <a:t>, f</a:t>
            </a:r>
            <a:r>
              <a:rPr lang="en-IN" sz="2600" baseline="-25000" dirty="0" smtClean="0"/>
              <a:t>2</a:t>
            </a:r>
            <a:r>
              <a:rPr lang="en-IN" sz="2600" dirty="0" smtClean="0"/>
              <a:t> [1] + t</a:t>
            </a:r>
            <a:r>
              <a:rPr lang="en-IN" sz="2600" baseline="-25000" dirty="0" smtClean="0"/>
              <a:t>21</a:t>
            </a:r>
            <a:r>
              <a:rPr lang="en-IN" sz="2600" dirty="0" smtClean="0"/>
              <a:t> + a</a:t>
            </a:r>
            <a:r>
              <a:rPr lang="en-IN" sz="2600" baseline="-25000" dirty="0" smtClean="0"/>
              <a:t>12</a:t>
            </a:r>
            <a:r>
              <a:rPr lang="en-IN" sz="2600" dirty="0" smtClean="0"/>
              <a:t>) </a:t>
            </a:r>
          </a:p>
          <a:p>
            <a:pPr fontAlgn="base"/>
            <a:r>
              <a:rPr lang="en-IN" sz="2600" dirty="0" smtClean="0"/>
              <a:t>=  min (6 + 8, 8 + 3 + 8)</a:t>
            </a:r>
          </a:p>
          <a:p>
            <a:pPr fontAlgn="base"/>
            <a:r>
              <a:rPr lang="en-IN" sz="2600" dirty="0" smtClean="0"/>
              <a:t>= min (14, 19) </a:t>
            </a:r>
          </a:p>
          <a:p>
            <a:pPr fontAlgn="base"/>
            <a:r>
              <a:rPr lang="en-IN" sz="2600" dirty="0" smtClean="0"/>
              <a:t>= 14</a:t>
            </a:r>
          </a:p>
          <a:p>
            <a:pPr fontAlgn="base"/>
            <a:r>
              <a:rPr lang="en-IN" sz="2600" dirty="0" smtClean="0"/>
              <a:t>f</a:t>
            </a:r>
            <a:r>
              <a:rPr lang="en-IN" sz="2600" baseline="-25000" dirty="0" smtClean="0"/>
              <a:t>2 </a:t>
            </a:r>
            <a:r>
              <a:rPr lang="en-IN" sz="2600" dirty="0" smtClean="0"/>
              <a:t>[2] = min (f</a:t>
            </a:r>
            <a:r>
              <a:rPr lang="en-IN" sz="2600" baseline="-25000" dirty="0" smtClean="0"/>
              <a:t>1 </a:t>
            </a:r>
            <a:r>
              <a:rPr lang="en-IN" sz="2600" dirty="0" smtClean="0"/>
              <a:t>[j – 1]  + </a:t>
            </a:r>
            <a:r>
              <a:rPr lang="en-IN" sz="2600" dirty="0" err="1" smtClean="0"/>
              <a:t>t</a:t>
            </a:r>
            <a:r>
              <a:rPr lang="en-IN" sz="2600" baseline="-25000" dirty="0" err="1" smtClean="0"/>
              <a:t>j</a:t>
            </a:r>
            <a:r>
              <a:rPr lang="en-IN" sz="2600" baseline="-25000" dirty="0" smtClean="0"/>
              <a:t> – 1 </a:t>
            </a:r>
            <a:r>
              <a:rPr lang="en-IN" sz="2600" dirty="0" smtClean="0"/>
              <a:t>+ a</a:t>
            </a:r>
            <a:r>
              <a:rPr lang="en-IN" sz="2600" baseline="-25000" dirty="0" smtClean="0"/>
              <a:t>2j</a:t>
            </a:r>
            <a:r>
              <a:rPr lang="en-IN" sz="2600" dirty="0" smtClean="0"/>
              <a:t>, f</a:t>
            </a:r>
            <a:r>
              <a:rPr lang="en-IN" sz="2600" baseline="-25000" dirty="0" smtClean="0"/>
              <a:t>2 </a:t>
            </a:r>
            <a:r>
              <a:rPr lang="en-IN" sz="2600" dirty="0" smtClean="0"/>
              <a:t>[j – 1] + a</a:t>
            </a:r>
            <a:r>
              <a:rPr lang="en-IN" sz="2600" baseline="-25000" dirty="0" smtClean="0"/>
              <a:t>2j</a:t>
            </a:r>
            <a:r>
              <a:rPr lang="en-IN" sz="2600" dirty="0" smtClean="0"/>
              <a:t>)</a:t>
            </a:r>
          </a:p>
          <a:p>
            <a:pPr fontAlgn="base"/>
            <a:r>
              <a:rPr lang="en-IN" sz="2600" dirty="0" smtClean="0"/>
              <a:t>= min (f</a:t>
            </a:r>
            <a:r>
              <a:rPr lang="en-IN" sz="2600" baseline="-25000" dirty="0" smtClean="0"/>
              <a:t>1</a:t>
            </a:r>
            <a:r>
              <a:rPr lang="en-IN" sz="2600" dirty="0" smtClean="0"/>
              <a:t>[1]  + t</a:t>
            </a:r>
            <a:r>
              <a:rPr lang="en-IN" sz="2600" baseline="-25000" dirty="0" smtClean="0"/>
              <a:t>11</a:t>
            </a:r>
            <a:r>
              <a:rPr lang="en-IN" sz="2600" dirty="0" smtClean="0"/>
              <a:t> + a</a:t>
            </a:r>
            <a:r>
              <a:rPr lang="en-IN" sz="2600" baseline="-25000" dirty="0" smtClean="0"/>
              <a:t>22</a:t>
            </a:r>
            <a:r>
              <a:rPr lang="en-IN" sz="2600" dirty="0" smtClean="0"/>
              <a:t>, f</a:t>
            </a:r>
            <a:r>
              <a:rPr lang="en-IN" sz="2600" baseline="-25000" dirty="0" smtClean="0"/>
              <a:t>2</a:t>
            </a:r>
            <a:r>
              <a:rPr lang="en-IN" sz="2600" dirty="0" smtClean="0"/>
              <a:t> [1] + a</a:t>
            </a:r>
            <a:r>
              <a:rPr lang="en-IN" sz="2600" baseline="-25000" dirty="0" smtClean="0"/>
              <a:t>22</a:t>
            </a:r>
            <a:r>
              <a:rPr lang="en-IN" sz="2600" dirty="0" smtClean="0"/>
              <a:t> )</a:t>
            </a:r>
          </a:p>
          <a:p>
            <a:pPr fontAlgn="base"/>
            <a:r>
              <a:rPr lang="en-IN" sz="2600" dirty="0" smtClean="0"/>
              <a:t>=  min (6 + 3 + 11, 8 + 11)</a:t>
            </a:r>
          </a:p>
          <a:p>
            <a:pPr fontAlgn="base"/>
            <a:r>
              <a:rPr lang="en-IN" sz="2600" dirty="0" smtClean="0"/>
              <a:t>= min(20, 19)</a:t>
            </a:r>
          </a:p>
          <a:p>
            <a:pPr fontAlgn="base"/>
            <a:r>
              <a:rPr lang="en-IN" sz="2600" dirty="0" smtClean="0"/>
              <a:t>= 19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745517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116632"/>
            <a:ext cx="756084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sz="2600" dirty="0"/>
              <a:t>f</a:t>
            </a:r>
            <a:r>
              <a:rPr lang="en-IN" sz="2600" baseline="-25000" dirty="0"/>
              <a:t>1 </a:t>
            </a:r>
            <a:r>
              <a:rPr lang="en-IN" sz="2600" dirty="0"/>
              <a:t>[3] = min (f</a:t>
            </a:r>
            <a:r>
              <a:rPr lang="en-IN" sz="2600" baseline="-25000" dirty="0"/>
              <a:t>1</a:t>
            </a:r>
            <a:r>
              <a:rPr lang="en-IN" sz="2600" dirty="0"/>
              <a:t>[j – 1] + a</a:t>
            </a:r>
            <a:r>
              <a:rPr lang="en-IN" sz="2600" baseline="-25000" dirty="0"/>
              <a:t>1j</a:t>
            </a:r>
            <a:r>
              <a:rPr lang="en-IN" sz="2600" dirty="0"/>
              <a:t>, f</a:t>
            </a:r>
            <a:r>
              <a:rPr lang="en-IN" sz="2600" baseline="-25000" dirty="0"/>
              <a:t>2</a:t>
            </a:r>
            <a:r>
              <a:rPr lang="en-IN" sz="2600" dirty="0"/>
              <a:t> [j – 1] + t</a:t>
            </a:r>
            <a:r>
              <a:rPr lang="en-IN" sz="2600" baseline="-25000" dirty="0"/>
              <a:t>2j – 1</a:t>
            </a:r>
            <a:r>
              <a:rPr lang="en-IN" sz="2600" dirty="0"/>
              <a:t>) + a</a:t>
            </a:r>
            <a:r>
              <a:rPr lang="en-IN" sz="2600" baseline="-25000" dirty="0"/>
              <a:t>1j</a:t>
            </a:r>
            <a:r>
              <a:rPr lang="en-IN" sz="2600" dirty="0"/>
              <a:t> )</a:t>
            </a:r>
          </a:p>
          <a:p>
            <a:pPr fontAlgn="base"/>
            <a:r>
              <a:rPr lang="en-IN" sz="2600" dirty="0"/>
              <a:t>= min (f</a:t>
            </a:r>
            <a:r>
              <a:rPr lang="en-IN" sz="2600" baseline="-25000" dirty="0"/>
              <a:t>1</a:t>
            </a:r>
            <a:r>
              <a:rPr lang="en-IN" sz="2600" dirty="0"/>
              <a:t>[2] + a</a:t>
            </a:r>
            <a:r>
              <a:rPr lang="en-IN" sz="2600" baseline="-25000" dirty="0"/>
              <a:t>13</a:t>
            </a:r>
            <a:r>
              <a:rPr lang="en-IN" sz="2600" dirty="0"/>
              <a:t>, f</a:t>
            </a:r>
            <a:r>
              <a:rPr lang="en-IN" sz="2600" baseline="-25000" dirty="0"/>
              <a:t>2</a:t>
            </a:r>
            <a:r>
              <a:rPr lang="en-IN" sz="2600" dirty="0"/>
              <a:t> [2] + t</a:t>
            </a:r>
            <a:r>
              <a:rPr lang="en-IN" sz="2600" baseline="-25000" dirty="0"/>
              <a:t>22 </a:t>
            </a:r>
            <a:r>
              <a:rPr lang="en-IN" sz="2600" dirty="0"/>
              <a:t>+ a</a:t>
            </a:r>
            <a:r>
              <a:rPr lang="en-IN" sz="2600" baseline="-25000" dirty="0"/>
              <a:t>13</a:t>
            </a:r>
            <a:r>
              <a:rPr lang="en-IN" sz="2600" dirty="0"/>
              <a:t> )</a:t>
            </a:r>
          </a:p>
          <a:p>
            <a:pPr fontAlgn="base"/>
            <a:r>
              <a:rPr lang="en-IN" sz="2600" dirty="0"/>
              <a:t>= min (14 + 9, 19 + 4 + 9)</a:t>
            </a:r>
          </a:p>
          <a:p>
            <a:pPr fontAlgn="base"/>
            <a:r>
              <a:rPr lang="en-IN" sz="2600" dirty="0"/>
              <a:t>= min (23, 32</a:t>
            </a:r>
            <a:r>
              <a:rPr lang="en-IN" sz="2600" dirty="0" smtClean="0"/>
              <a:t>) = </a:t>
            </a:r>
            <a:r>
              <a:rPr lang="en-IN" sz="2600" dirty="0"/>
              <a:t>23</a:t>
            </a:r>
          </a:p>
          <a:p>
            <a:pPr fontAlgn="base"/>
            <a:r>
              <a:rPr lang="en-IN" sz="2600" dirty="0"/>
              <a:t>f</a:t>
            </a:r>
            <a:r>
              <a:rPr lang="en-IN" sz="2600" baseline="-25000" dirty="0"/>
              <a:t>2 </a:t>
            </a:r>
            <a:r>
              <a:rPr lang="en-IN" sz="2600" dirty="0"/>
              <a:t>[3] = min (f</a:t>
            </a:r>
            <a:r>
              <a:rPr lang="en-IN" sz="2600" baseline="-25000" dirty="0"/>
              <a:t>1</a:t>
            </a:r>
            <a:r>
              <a:rPr lang="en-IN" sz="2600" dirty="0"/>
              <a:t>[j – 1] + </a:t>
            </a:r>
            <a:r>
              <a:rPr lang="en-IN" sz="2600" dirty="0" err="1"/>
              <a:t>t</a:t>
            </a:r>
            <a:r>
              <a:rPr lang="en-IN" sz="2600" baseline="-25000" dirty="0" err="1"/>
              <a:t>j</a:t>
            </a:r>
            <a:r>
              <a:rPr lang="en-IN" sz="2600" baseline="-25000" dirty="0"/>
              <a:t> – 1</a:t>
            </a:r>
            <a:r>
              <a:rPr lang="en-IN" sz="2600" dirty="0"/>
              <a:t> + a</a:t>
            </a:r>
            <a:r>
              <a:rPr lang="en-IN" sz="2600" baseline="-25000" dirty="0"/>
              <a:t>2j</a:t>
            </a:r>
            <a:r>
              <a:rPr lang="en-IN" sz="2600" dirty="0"/>
              <a:t>, f</a:t>
            </a:r>
            <a:r>
              <a:rPr lang="en-IN" sz="2600" baseline="-25000" dirty="0"/>
              <a:t>2 </a:t>
            </a:r>
            <a:r>
              <a:rPr lang="en-IN" sz="2600" dirty="0"/>
              <a:t>[j – 1] + a</a:t>
            </a:r>
            <a:r>
              <a:rPr lang="en-IN" sz="2600" baseline="-25000" dirty="0"/>
              <a:t>2j</a:t>
            </a:r>
            <a:r>
              <a:rPr lang="en-IN" sz="2600" dirty="0"/>
              <a:t> )</a:t>
            </a:r>
          </a:p>
          <a:p>
            <a:pPr fontAlgn="base"/>
            <a:r>
              <a:rPr lang="en-IN" sz="2600" dirty="0"/>
              <a:t>= min (f</a:t>
            </a:r>
            <a:r>
              <a:rPr lang="en-IN" sz="2600" baseline="-25000" dirty="0"/>
              <a:t>1</a:t>
            </a:r>
            <a:r>
              <a:rPr lang="en-IN" sz="2600" dirty="0"/>
              <a:t>[2] + t</a:t>
            </a:r>
            <a:r>
              <a:rPr lang="en-IN" sz="2600" baseline="-25000" dirty="0"/>
              <a:t>12 </a:t>
            </a:r>
            <a:r>
              <a:rPr lang="en-IN" sz="2600" dirty="0"/>
              <a:t>+ a</a:t>
            </a:r>
            <a:r>
              <a:rPr lang="en-IN" sz="2600" baseline="-25000" dirty="0"/>
              <a:t>23</a:t>
            </a:r>
            <a:r>
              <a:rPr lang="en-IN" sz="2600" dirty="0"/>
              <a:t>, f</a:t>
            </a:r>
            <a:r>
              <a:rPr lang="en-IN" sz="2600" baseline="-25000" dirty="0"/>
              <a:t>2</a:t>
            </a:r>
            <a:r>
              <a:rPr lang="en-IN" sz="2600" dirty="0"/>
              <a:t> [2] + a</a:t>
            </a:r>
            <a:r>
              <a:rPr lang="en-IN" sz="2600" baseline="-25000" dirty="0"/>
              <a:t>23</a:t>
            </a:r>
            <a:r>
              <a:rPr lang="en-IN" sz="2600" dirty="0"/>
              <a:t>)</a:t>
            </a:r>
          </a:p>
          <a:p>
            <a:pPr fontAlgn="base"/>
            <a:r>
              <a:rPr lang="en-IN" sz="2600" dirty="0"/>
              <a:t>= min (14 + 1 + 2, 19 + 2)</a:t>
            </a:r>
          </a:p>
          <a:p>
            <a:pPr fontAlgn="base"/>
            <a:r>
              <a:rPr lang="en-IN" sz="2600" dirty="0"/>
              <a:t>= min (17, 21)</a:t>
            </a:r>
          </a:p>
          <a:p>
            <a:pPr fontAlgn="base"/>
            <a:r>
              <a:rPr lang="en-IN" sz="2600" dirty="0"/>
              <a:t>= 17</a:t>
            </a:r>
          </a:p>
        </p:txBody>
      </p:sp>
      <p:sp>
        <p:nvSpPr>
          <p:cNvPr id="3" name="Rectangle 2"/>
          <p:cNvSpPr/>
          <p:nvPr/>
        </p:nvSpPr>
        <p:spPr>
          <a:xfrm>
            <a:off x="2663280" y="3366099"/>
            <a:ext cx="648072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sz="2600" dirty="0"/>
              <a:t>f</a:t>
            </a:r>
            <a:r>
              <a:rPr lang="en-IN" sz="2600" baseline="-25000" dirty="0"/>
              <a:t>1 </a:t>
            </a:r>
            <a:r>
              <a:rPr lang="en-IN" sz="2600" dirty="0"/>
              <a:t>[4] = min (f</a:t>
            </a:r>
            <a:r>
              <a:rPr lang="en-IN" sz="2600" baseline="-25000" dirty="0"/>
              <a:t>1 </a:t>
            </a:r>
            <a:r>
              <a:rPr lang="en-IN" sz="2600" dirty="0"/>
              <a:t>[j – 1] + a</a:t>
            </a:r>
            <a:r>
              <a:rPr lang="en-IN" sz="2600" baseline="-25000" dirty="0"/>
              <a:t>1j</a:t>
            </a:r>
            <a:r>
              <a:rPr lang="en-IN" sz="2600" dirty="0"/>
              <a:t>, f</a:t>
            </a:r>
            <a:r>
              <a:rPr lang="en-IN" sz="2600" baseline="-25000" dirty="0"/>
              <a:t>2</a:t>
            </a:r>
            <a:r>
              <a:rPr lang="en-IN" sz="2600" dirty="0"/>
              <a:t> [j – 1] + t</a:t>
            </a:r>
            <a:r>
              <a:rPr lang="en-IN" sz="2600" baseline="-25000" dirty="0"/>
              <a:t>2j – 1</a:t>
            </a:r>
            <a:r>
              <a:rPr lang="en-IN" sz="2600" dirty="0"/>
              <a:t> + a</a:t>
            </a:r>
            <a:r>
              <a:rPr lang="en-IN" sz="2600" baseline="-25000" dirty="0"/>
              <a:t>1j</a:t>
            </a:r>
            <a:r>
              <a:rPr lang="en-IN" sz="2600" dirty="0"/>
              <a:t> )</a:t>
            </a:r>
          </a:p>
          <a:p>
            <a:pPr fontAlgn="base"/>
            <a:r>
              <a:rPr lang="en-IN" sz="2600" dirty="0"/>
              <a:t>= min (f</a:t>
            </a:r>
            <a:r>
              <a:rPr lang="en-IN" sz="2600" baseline="-25000" dirty="0"/>
              <a:t>1 </a:t>
            </a:r>
            <a:r>
              <a:rPr lang="en-IN" sz="2600" dirty="0"/>
              <a:t>[3] + a</a:t>
            </a:r>
            <a:r>
              <a:rPr lang="en-IN" sz="2600" baseline="-25000" dirty="0"/>
              <a:t>14</a:t>
            </a:r>
            <a:r>
              <a:rPr lang="en-IN" sz="2600" dirty="0"/>
              <a:t>, f</a:t>
            </a:r>
            <a:r>
              <a:rPr lang="en-IN" sz="2600" baseline="-25000" dirty="0"/>
              <a:t>2</a:t>
            </a:r>
            <a:r>
              <a:rPr lang="en-IN" sz="2600" dirty="0"/>
              <a:t> [3] + t</a:t>
            </a:r>
            <a:r>
              <a:rPr lang="en-IN" sz="2600" baseline="-25000" dirty="0"/>
              <a:t>23</a:t>
            </a:r>
            <a:r>
              <a:rPr lang="en-IN" sz="2600" dirty="0"/>
              <a:t> + a</a:t>
            </a:r>
            <a:r>
              <a:rPr lang="en-IN" sz="2600" baseline="-25000" dirty="0"/>
              <a:t>14</a:t>
            </a:r>
            <a:r>
              <a:rPr lang="en-IN" sz="2600" dirty="0"/>
              <a:t>)</a:t>
            </a:r>
          </a:p>
          <a:p>
            <a:pPr fontAlgn="base"/>
            <a:r>
              <a:rPr lang="en-IN" sz="2600" dirty="0"/>
              <a:t>= min (23 + 3 , 17 + 1 + 3)</a:t>
            </a:r>
          </a:p>
          <a:p>
            <a:pPr fontAlgn="base"/>
            <a:r>
              <a:rPr lang="en-IN" sz="2600" dirty="0"/>
              <a:t>= min (26, 21</a:t>
            </a:r>
            <a:r>
              <a:rPr lang="en-IN" sz="2600" dirty="0" smtClean="0"/>
              <a:t>)  = </a:t>
            </a:r>
            <a:r>
              <a:rPr lang="en-IN" sz="2600" dirty="0"/>
              <a:t>21</a:t>
            </a:r>
          </a:p>
          <a:p>
            <a:pPr fontAlgn="base"/>
            <a:r>
              <a:rPr lang="en-IN" sz="2600" dirty="0"/>
              <a:t>f</a:t>
            </a:r>
            <a:r>
              <a:rPr lang="en-IN" sz="2600" baseline="-25000" dirty="0"/>
              <a:t>2 </a:t>
            </a:r>
            <a:r>
              <a:rPr lang="en-IN" sz="2600" dirty="0"/>
              <a:t>[4] = min (f</a:t>
            </a:r>
            <a:r>
              <a:rPr lang="en-IN" sz="2600" baseline="-25000" dirty="0"/>
              <a:t>1 </a:t>
            </a:r>
            <a:r>
              <a:rPr lang="en-IN" sz="2600" dirty="0"/>
              <a:t>[j – 1] + </a:t>
            </a:r>
            <a:r>
              <a:rPr lang="en-IN" sz="2600" dirty="0" err="1"/>
              <a:t>t</a:t>
            </a:r>
            <a:r>
              <a:rPr lang="en-IN" sz="2600" baseline="-25000" dirty="0" err="1"/>
              <a:t>j</a:t>
            </a:r>
            <a:r>
              <a:rPr lang="en-IN" sz="2600" baseline="-25000" dirty="0"/>
              <a:t> – 1</a:t>
            </a:r>
            <a:r>
              <a:rPr lang="en-IN" sz="2600" dirty="0"/>
              <a:t> + a</a:t>
            </a:r>
            <a:r>
              <a:rPr lang="en-IN" sz="2600" baseline="-25000" dirty="0"/>
              <a:t>2j</a:t>
            </a:r>
            <a:r>
              <a:rPr lang="en-IN" sz="2600" dirty="0"/>
              <a:t>, f</a:t>
            </a:r>
            <a:r>
              <a:rPr lang="en-IN" sz="2600" baseline="-25000" dirty="0"/>
              <a:t>2</a:t>
            </a:r>
            <a:r>
              <a:rPr lang="en-IN" sz="2600" dirty="0"/>
              <a:t> [j – 1] + a</a:t>
            </a:r>
            <a:r>
              <a:rPr lang="en-IN" sz="2600" baseline="-25000" dirty="0"/>
              <a:t>2j</a:t>
            </a:r>
            <a:r>
              <a:rPr lang="en-IN" sz="2600" dirty="0"/>
              <a:t>)</a:t>
            </a:r>
          </a:p>
          <a:p>
            <a:pPr fontAlgn="base"/>
            <a:r>
              <a:rPr lang="en-IN" sz="2600" dirty="0"/>
              <a:t>= min(f</a:t>
            </a:r>
            <a:r>
              <a:rPr lang="en-IN" sz="2600" baseline="-25000" dirty="0"/>
              <a:t>1 </a:t>
            </a:r>
            <a:r>
              <a:rPr lang="en-IN" sz="2600" dirty="0"/>
              <a:t>[3] + t</a:t>
            </a:r>
            <a:r>
              <a:rPr lang="en-IN" sz="2600" baseline="-25000" dirty="0"/>
              <a:t>13</a:t>
            </a:r>
            <a:r>
              <a:rPr lang="en-IN" sz="2600" dirty="0"/>
              <a:t> + a</a:t>
            </a:r>
            <a:r>
              <a:rPr lang="en-IN" sz="2600" baseline="-25000" dirty="0"/>
              <a:t>24</a:t>
            </a:r>
            <a:r>
              <a:rPr lang="en-IN" sz="2600" dirty="0"/>
              <a:t>, f</a:t>
            </a:r>
            <a:r>
              <a:rPr lang="en-IN" sz="2600" baseline="-25000" dirty="0"/>
              <a:t>2</a:t>
            </a:r>
            <a:r>
              <a:rPr lang="en-IN" sz="2600" dirty="0"/>
              <a:t> [3] + a</a:t>
            </a:r>
            <a:r>
              <a:rPr lang="en-IN" sz="2600" baseline="-25000" dirty="0"/>
              <a:t>24</a:t>
            </a:r>
            <a:r>
              <a:rPr lang="en-IN" sz="2600" dirty="0"/>
              <a:t>)</a:t>
            </a:r>
          </a:p>
          <a:p>
            <a:pPr fontAlgn="base"/>
            <a:r>
              <a:rPr lang="en-IN" sz="2600" dirty="0"/>
              <a:t>= min (23 + 2 + 2, 17 + 2)</a:t>
            </a:r>
          </a:p>
          <a:p>
            <a:pPr fontAlgn="base"/>
            <a:r>
              <a:rPr lang="en-IN" sz="2600" dirty="0"/>
              <a:t>= min(27, 19</a:t>
            </a:r>
            <a:r>
              <a:rPr lang="en-IN" sz="2600" dirty="0" smtClean="0"/>
              <a:t>) = </a:t>
            </a:r>
            <a:r>
              <a:rPr lang="en-IN" sz="2600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069240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577024"/>
              </p:ext>
            </p:extLst>
          </p:nvPr>
        </p:nvGraphicFramePr>
        <p:xfrm>
          <a:off x="827584" y="908720"/>
          <a:ext cx="7848869" cy="1872208"/>
        </p:xfrm>
        <a:graphic>
          <a:graphicData uri="http://schemas.openxmlformats.org/drawingml/2006/table">
            <a:tbl>
              <a:tblPr/>
              <a:tblGrid>
                <a:gridCol w="1121267"/>
                <a:gridCol w="1121267"/>
                <a:gridCol w="1121267"/>
                <a:gridCol w="1121267"/>
                <a:gridCol w="1121267"/>
                <a:gridCol w="1121267"/>
                <a:gridCol w="1121267"/>
              </a:tblGrid>
              <a:tr h="871634"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/>
                      </a:r>
                      <a:br>
                        <a:rPr lang="en-IN">
                          <a:effectLst/>
                        </a:rPr>
                      </a:br>
                      <a:r>
                        <a:rPr lang="en-IN">
                          <a:effectLst/>
                        </a:rPr>
                        <a:t> 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602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j = 1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0D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j = 2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29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j= 3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0D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j = 4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60D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j = 5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60D1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j = 6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0D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500287"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f</a:t>
                      </a:r>
                      <a:r>
                        <a:rPr lang="en-IN" baseline="-25000">
                          <a:effectLst/>
                          <a:latin typeface="inherit"/>
                        </a:rPr>
                        <a:t>1</a:t>
                      </a:r>
                      <a:r>
                        <a:rPr lang="en-IN">
                          <a:effectLst/>
                        </a:rPr>
                        <a:t>[j]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6027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2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6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0D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DC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14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29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D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23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0D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57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21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60D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D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24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60D1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D1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25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0D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D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</a:tr>
              <a:tr h="500287"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f</a:t>
                      </a:r>
                      <a:r>
                        <a:rPr lang="en-IN" baseline="-25000">
                          <a:effectLst/>
                          <a:latin typeface="inherit"/>
                        </a:rPr>
                        <a:t>2</a:t>
                      </a:r>
                      <a:r>
                        <a:rPr lang="en-IN">
                          <a:effectLst/>
                        </a:rPr>
                        <a:t>[j]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02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8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20DC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D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17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60DB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19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057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D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26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60D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0D8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>
                          <a:effectLst/>
                        </a:rPr>
                        <a:t>29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60D1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0D9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dirty="0">
                          <a:effectLst/>
                        </a:rPr>
                        <a:t>29</a:t>
                      </a:r>
                    </a:p>
                  </a:txBody>
                  <a:tcPr marL="47625" marR="47625" marT="47625" marB="47625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0DD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2D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51520" y="376590"/>
            <a:ext cx="6796732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Roboto Condensed"/>
                <a:cs typeface="Arial" pitchFamily="34" charset="0"/>
              </a:rPr>
              <a:t>Hence we can summarize f</a:t>
            </a:r>
            <a:r>
              <a:rPr kumimoji="0" lang="en-US" altLang="en-US" sz="2400" b="0" i="0" u="none" strike="noStrike" cap="none" normalizeH="0" baseline="-30000" dirty="0" smtClean="0">
                <a:ln>
                  <a:noFill/>
                </a:ln>
                <a:solidFill>
                  <a:srgbClr val="666666"/>
                </a:solidFill>
                <a:effectLst/>
                <a:latin typeface="inherit"/>
                <a:cs typeface="Arial" pitchFamily="34" charset="0"/>
              </a:rPr>
              <a:t>1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Roboto Condensed"/>
                <a:cs typeface="Arial" pitchFamily="34" charset="0"/>
              </a:rPr>
              <a:t>[j] and f</a:t>
            </a:r>
            <a:r>
              <a:rPr kumimoji="0" lang="en-US" altLang="en-US" sz="2400" b="0" i="0" u="none" strike="noStrike" cap="none" normalizeH="0" baseline="-30000" dirty="0" smtClean="0">
                <a:ln>
                  <a:noFill/>
                </a:ln>
                <a:solidFill>
                  <a:srgbClr val="666666"/>
                </a:solidFill>
                <a:effectLst/>
                <a:latin typeface="inherit"/>
                <a:cs typeface="Arial" pitchFamily="34" charset="0"/>
              </a:rPr>
              <a:t>2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666666"/>
                </a:solidFill>
                <a:effectLst/>
                <a:latin typeface="Roboto Condensed"/>
                <a:cs typeface="Arial" pitchFamily="34" charset="0"/>
              </a:rPr>
              <a:t>[j] as follows 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95736" y="3789040"/>
            <a:ext cx="4572000" cy="169277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IN" sz="2600" dirty="0"/>
              <a:t>f*    =   min (f</a:t>
            </a:r>
            <a:r>
              <a:rPr lang="en-IN" sz="2600" baseline="-25000" dirty="0"/>
              <a:t>1</a:t>
            </a:r>
            <a:r>
              <a:rPr lang="en-IN" sz="2600" dirty="0"/>
              <a:t> [n] + x</a:t>
            </a:r>
            <a:r>
              <a:rPr lang="en-IN" sz="2600" baseline="-25000" dirty="0"/>
              <a:t>1</a:t>
            </a:r>
            <a:r>
              <a:rPr lang="en-IN" sz="2600" dirty="0"/>
              <a:t>, f</a:t>
            </a:r>
            <a:r>
              <a:rPr lang="en-IN" sz="2600" baseline="-25000" dirty="0"/>
              <a:t>2</a:t>
            </a:r>
            <a:r>
              <a:rPr lang="en-IN" sz="2600" dirty="0"/>
              <a:t> [n] + x</a:t>
            </a:r>
            <a:r>
              <a:rPr lang="en-IN" sz="2600" baseline="-25000" dirty="0"/>
              <a:t>2</a:t>
            </a:r>
            <a:r>
              <a:rPr lang="en-IN" sz="2600" dirty="0"/>
              <a:t>)</a:t>
            </a:r>
          </a:p>
          <a:p>
            <a:pPr fontAlgn="base"/>
            <a:r>
              <a:rPr lang="en-IN" sz="2600" dirty="0"/>
              <a:t>f*    =   min (25 + 3, 29 + 7)</a:t>
            </a:r>
          </a:p>
          <a:p>
            <a:pPr fontAlgn="base"/>
            <a:r>
              <a:rPr lang="en-IN" sz="2600" dirty="0"/>
              <a:t>= min (28, 36)</a:t>
            </a:r>
          </a:p>
          <a:p>
            <a:pPr fontAlgn="base"/>
            <a:r>
              <a:rPr lang="en-IN" sz="2600" dirty="0"/>
              <a:t>= 28</a:t>
            </a:r>
          </a:p>
        </p:txBody>
      </p:sp>
    </p:spTree>
    <p:extLst>
      <p:ext uri="{BB962C8B-B14F-4D97-AF65-F5344CB8AC3E}">
        <p14:creationId xmlns:p14="http://schemas.microsoft.com/office/powerpoint/2010/main" val="374564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182909"/>
            <a:ext cx="8712968" cy="670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Compute fastest path 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2600" dirty="0" smtClean="0"/>
              <a:t>Trace back the path :</a:t>
            </a:r>
          </a:p>
          <a:p>
            <a:endParaRPr lang="en-US" sz="2600" dirty="0" smtClean="0"/>
          </a:p>
          <a:p>
            <a:r>
              <a:rPr lang="en-US" sz="2600" dirty="0" smtClean="0"/>
              <a:t>l* = 1, so we have to select last station S1,6 on line 1. Now we will look at l1[6], which is 1, so we will select previous station on line 1 that is station S1, 5.</a:t>
            </a:r>
          </a:p>
          <a:p>
            <a:r>
              <a:rPr lang="en-US" sz="2600" dirty="0" smtClean="0"/>
              <a:t>Now we will look at l1, 5 which is 2 so we will change line to 2 and previous station that is S2, 4.  </a:t>
            </a:r>
          </a:p>
          <a:p>
            <a:r>
              <a:rPr lang="en-US" sz="2600" dirty="0" smtClean="0"/>
              <a:t>Next observe l2[4], its 2 so we have to remain on same line and select station S2, 3. Now observe l2[3], which is 1, so move on station S1,2 on line 1. Now observe l1[3], which is 1, so remain on same line.</a:t>
            </a:r>
            <a:endParaRPr lang="en-IN" sz="2600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705" y="692696"/>
            <a:ext cx="3733800" cy="145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3503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3643" y="692696"/>
            <a:ext cx="537416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2600" dirty="0"/>
              <a:t>Final path is shown in following figure: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581150"/>
            <a:ext cx="8153400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9219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552" y="225514"/>
            <a:ext cx="81369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Find optimal solution for given assembly line configuration</a:t>
            </a: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20" y="1340768"/>
            <a:ext cx="8077200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1337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7584" y="980727"/>
            <a:ext cx="777686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dirty="0" smtClean="0"/>
              <a:t>fi[1] = </a:t>
            </a:r>
            <a:r>
              <a:rPr lang="en-IN" sz="2600" dirty="0" err="1" smtClean="0"/>
              <a:t>ei</a:t>
            </a:r>
            <a:r>
              <a:rPr lang="en-IN" sz="2600" dirty="0" smtClean="0"/>
              <a:t> + ai1 ,      for </a:t>
            </a:r>
            <a:r>
              <a:rPr lang="en-IN" sz="2600" dirty="0" err="1" smtClean="0"/>
              <a:t>i</a:t>
            </a:r>
            <a:r>
              <a:rPr lang="en-IN" sz="2600" dirty="0" smtClean="0"/>
              <a:t> = 1, 2</a:t>
            </a:r>
          </a:p>
          <a:p>
            <a:endParaRPr lang="en-IN" sz="2600" dirty="0" smtClean="0"/>
          </a:p>
          <a:p>
            <a:r>
              <a:rPr lang="en-IN" sz="2600" dirty="0" smtClean="0"/>
              <a:t>Here, </a:t>
            </a:r>
            <a:r>
              <a:rPr lang="en-IN" sz="2600" dirty="0" err="1" smtClean="0"/>
              <a:t>i</a:t>
            </a:r>
            <a:r>
              <a:rPr lang="en-IN" sz="2600" dirty="0" smtClean="0"/>
              <a:t> indicates assembly line, i.e. 1 or 2,</a:t>
            </a:r>
          </a:p>
          <a:p>
            <a:r>
              <a:rPr lang="en-IN" sz="2600" dirty="0" smtClean="0"/>
              <a:t>f1 [1] = e1 + a11 </a:t>
            </a:r>
          </a:p>
          <a:p>
            <a:r>
              <a:rPr lang="en-IN" sz="2600" dirty="0" smtClean="0"/>
              <a:t>=  2 + 7</a:t>
            </a:r>
          </a:p>
          <a:p>
            <a:r>
              <a:rPr lang="en-IN" sz="2600" dirty="0" smtClean="0"/>
              <a:t>= 9</a:t>
            </a:r>
          </a:p>
          <a:p>
            <a:r>
              <a:rPr lang="en-IN" sz="2600" dirty="0" smtClean="0"/>
              <a:t>f2 [1] = e2 + a21 </a:t>
            </a:r>
          </a:p>
          <a:p>
            <a:r>
              <a:rPr lang="en-IN" sz="2600" dirty="0" smtClean="0"/>
              <a:t>= 4 + 8</a:t>
            </a:r>
          </a:p>
          <a:p>
            <a:r>
              <a:rPr lang="en-IN" sz="2600" dirty="0" smtClean="0"/>
              <a:t>= 12</a:t>
            </a:r>
          </a:p>
          <a:p>
            <a:r>
              <a:rPr lang="en-IN" sz="2600" dirty="0" smtClean="0"/>
              <a:t>For j &gt; 1, where j indicates station numbers.</a:t>
            </a:r>
          </a:p>
          <a:p>
            <a:r>
              <a:rPr lang="en-IN" sz="2600" dirty="0" smtClean="0"/>
              <a:t>f1 [j] = min (f1 [j – 1] + a1j, f2 [j – 1] + t2, j – 1 + a1j )</a:t>
            </a:r>
          </a:p>
          <a:p>
            <a:r>
              <a:rPr lang="en-IN" sz="2600" dirty="0" smtClean="0"/>
              <a:t>f2 [1] = min (f1 [j – 1] + t1, j – 1   + a2j , f2[j – 1] + a2j )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573245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03648" y="764704"/>
            <a:ext cx="6624736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rgbClr val="FF0000"/>
                </a:solidFill>
              </a:rPr>
              <a:t>For j = 2 :</a:t>
            </a:r>
          </a:p>
          <a:p>
            <a:r>
              <a:rPr lang="en-IN" sz="2600" dirty="0" smtClean="0"/>
              <a:t>f1 [2] = min (f1 [1] + a12, f2 [1] + t21 + a12)</a:t>
            </a:r>
          </a:p>
          <a:p>
            <a:r>
              <a:rPr lang="en-IN" sz="2600" dirty="0" smtClean="0"/>
              <a:t>= min (9 + 9, 12 + 2 + 9)</a:t>
            </a:r>
          </a:p>
          <a:p>
            <a:r>
              <a:rPr lang="en-IN" sz="2600" dirty="0" smtClean="0"/>
              <a:t>= 18</a:t>
            </a:r>
          </a:p>
          <a:p>
            <a:r>
              <a:rPr lang="en-IN" sz="2600" dirty="0" smtClean="0"/>
              <a:t>f2 [2] = min (f1  [1]  + t11 + a22 , f2 [1] +  a22)</a:t>
            </a:r>
          </a:p>
          <a:p>
            <a:r>
              <a:rPr lang="en-IN" sz="2600" dirty="0" smtClean="0"/>
              <a:t>= min (9 + 2 + 5, 12 + 5)= 16</a:t>
            </a:r>
          </a:p>
          <a:p>
            <a:r>
              <a:rPr lang="en-IN" sz="2600" b="1" dirty="0" smtClean="0">
                <a:solidFill>
                  <a:srgbClr val="FF0000"/>
                </a:solidFill>
              </a:rPr>
              <a:t>For j = 3 :</a:t>
            </a:r>
          </a:p>
          <a:p>
            <a:endParaRPr lang="en-IN" sz="2600" dirty="0" smtClean="0"/>
          </a:p>
          <a:p>
            <a:r>
              <a:rPr lang="en-IN" sz="2600" dirty="0" smtClean="0"/>
              <a:t>f1 [3]   =  min (f1 [2] + a13 , f2[2] + t22 + a13)</a:t>
            </a:r>
          </a:p>
          <a:p>
            <a:r>
              <a:rPr lang="en-IN" sz="2600" dirty="0" smtClean="0"/>
              <a:t>= min (18 + 3, 16 + 1 + 3)= 20</a:t>
            </a:r>
          </a:p>
          <a:p>
            <a:r>
              <a:rPr lang="en-IN" sz="2600" dirty="0" smtClean="0"/>
              <a:t>f2 [3]   =  min (f1 [2] + t12 + a23  , f2 [2] + a23)</a:t>
            </a:r>
          </a:p>
          <a:p>
            <a:r>
              <a:rPr lang="en-IN" sz="2600" dirty="0" smtClean="0"/>
              <a:t>= min (18 + 3 + 6,  16 + 6)</a:t>
            </a:r>
          </a:p>
          <a:p>
            <a:r>
              <a:rPr lang="en-IN" sz="2600" dirty="0" smtClean="0"/>
              <a:t>= 22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87448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3608" y="548680"/>
            <a:ext cx="655272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sz="2600" b="1" dirty="0">
                <a:solidFill>
                  <a:srgbClr val="FF0000"/>
                </a:solidFill>
              </a:rPr>
              <a:t>For j = 4 :</a:t>
            </a:r>
            <a:endParaRPr lang="en-IN" sz="2600" dirty="0">
              <a:solidFill>
                <a:srgbClr val="FF0000"/>
              </a:solidFill>
            </a:endParaRPr>
          </a:p>
          <a:p>
            <a:pPr fontAlgn="base"/>
            <a:r>
              <a:rPr lang="en-IN" sz="2600" dirty="0"/>
              <a:t>f</a:t>
            </a:r>
            <a:r>
              <a:rPr lang="en-IN" sz="2600" baseline="-25000" dirty="0"/>
              <a:t>1</a:t>
            </a:r>
            <a:r>
              <a:rPr lang="en-IN" sz="2600" dirty="0"/>
              <a:t> (4) = min (f</a:t>
            </a:r>
            <a:r>
              <a:rPr lang="en-IN" sz="2600" baseline="-25000" dirty="0"/>
              <a:t>1</a:t>
            </a:r>
            <a:r>
              <a:rPr lang="en-IN" sz="2600" dirty="0"/>
              <a:t> [3] + a</a:t>
            </a:r>
            <a:r>
              <a:rPr lang="en-IN" sz="2600" baseline="-25000" dirty="0"/>
              <a:t>14</a:t>
            </a:r>
            <a:r>
              <a:rPr lang="en-IN" sz="2600" dirty="0"/>
              <a:t>, f</a:t>
            </a:r>
            <a:r>
              <a:rPr lang="en-IN" sz="2600" baseline="-25000" dirty="0"/>
              <a:t>2</a:t>
            </a:r>
            <a:r>
              <a:rPr lang="en-IN" sz="2600" dirty="0"/>
              <a:t> [3] + t</a:t>
            </a:r>
            <a:r>
              <a:rPr lang="en-IN" sz="2600" baseline="-25000" dirty="0"/>
              <a:t>23</a:t>
            </a:r>
            <a:r>
              <a:rPr lang="en-IN" sz="2600" dirty="0"/>
              <a:t> + a</a:t>
            </a:r>
            <a:r>
              <a:rPr lang="en-IN" sz="2600" baseline="-25000" dirty="0"/>
              <a:t>14</a:t>
            </a:r>
            <a:r>
              <a:rPr lang="en-IN" sz="2600" dirty="0"/>
              <a:t>)</a:t>
            </a:r>
          </a:p>
          <a:p>
            <a:pPr fontAlgn="base"/>
            <a:r>
              <a:rPr lang="en-IN" sz="2600" dirty="0"/>
              <a:t>= min (20 + 4, 22 + 2 + 4)</a:t>
            </a:r>
          </a:p>
          <a:p>
            <a:pPr fontAlgn="base"/>
            <a:r>
              <a:rPr lang="en-IN" sz="2600" dirty="0"/>
              <a:t>= 24</a:t>
            </a:r>
          </a:p>
          <a:p>
            <a:pPr fontAlgn="base"/>
            <a:r>
              <a:rPr lang="en-IN" sz="2600" dirty="0"/>
              <a:t>f</a:t>
            </a:r>
            <a:r>
              <a:rPr lang="en-IN" sz="2600" baseline="-25000" dirty="0"/>
              <a:t>2</a:t>
            </a:r>
            <a:r>
              <a:rPr lang="en-IN" sz="2600" dirty="0"/>
              <a:t> (4) = min (f</a:t>
            </a:r>
            <a:r>
              <a:rPr lang="en-IN" sz="2600" baseline="-25000" dirty="0"/>
              <a:t>1</a:t>
            </a:r>
            <a:r>
              <a:rPr lang="en-IN" sz="2600" dirty="0"/>
              <a:t> [3] + t</a:t>
            </a:r>
            <a:r>
              <a:rPr lang="en-IN" sz="2600" baseline="-25000" dirty="0"/>
              <a:t>13</a:t>
            </a:r>
            <a:r>
              <a:rPr lang="en-IN" sz="2600" dirty="0"/>
              <a:t> + a</a:t>
            </a:r>
            <a:r>
              <a:rPr lang="en-IN" sz="2600" baseline="-25000" dirty="0"/>
              <a:t>24</a:t>
            </a:r>
            <a:r>
              <a:rPr lang="en-IN" sz="2600" dirty="0"/>
              <a:t>, f</a:t>
            </a:r>
            <a:r>
              <a:rPr lang="en-IN" sz="2600" baseline="-25000" dirty="0"/>
              <a:t>2</a:t>
            </a:r>
            <a:r>
              <a:rPr lang="en-IN" sz="2600" dirty="0"/>
              <a:t> [3] + a</a:t>
            </a:r>
            <a:r>
              <a:rPr lang="en-IN" sz="2600" baseline="-25000" dirty="0"/>
              <a:t>24</a:t>
            </a:r>
            <a:r>
              <a:rPr lang="en-IN" sz="2600" dirty="0"/>
              <a:t>)</a:t>
            </a:r>
          </a:p>
          <a:p>
            <a:pPr fontAlgn="base"/>
            <a:r>
              <a:rPr lang="en-IN" sz="2600" dirty="0"/>
              <a:t>= min (20 + 1 + 4, 22 + 4)</a:t>
            </a:r>
          </a:p>
          <a:p>
            <a:pPr fontAlgn="base"/>
            <a:r>
              <a:rPr lang="en-IN" sz="2600" dirty="0"/>
              <a:t>= 25</a:t>
            </a:r>
          </a:p>
          <a:p>
            <a:pPr fontAlgn="base"/>
            <a:r>
              <a:rPr lang="en-IN" sz="2600" b="1" dirty="0">
                <a:solidFill>
                  <a:srgbClr val="FF0000"/>
                </a:solidFill>
              </a:rPr>
              <a:t>For j = 5 :</a:t>
            </a:r>
            <a:endParaRPr lang="en-IN" sz="2600" dirty="0">
              <a:solidFill>
                <a:srgbClr val="FF0000"/>
              </a:solidFill>
            </a:endParaRPr>
          </a:p>
          <a:p>
            <a:pPr fontAlgn="base"/>
            <a:r>
              <a:rPr lang="en-IN" sz="2600" dirty="0"/>
              <a:t>f</a:t>
            </a:r>
            <a:r>
              <a:rPr lang="en-IN" sz="2600" baseline="-25000" dirty="0"/>
              <a:t>1</a:t>
            </a:r>
            <a:r>
              <a:rPr lang="en-IN" sz="2600" dirty="0"/>
              <a:t> (5) = min (f</a:t>
            </a:r>
            <a:r>
              <a:rPr lang="en-IN" sz="2600" baseline="-25000" dirty="0"/>
              <a:t>1</a:t>
            </a:r>
            <a:r>
              <a:rPr lang="en-IN" sz="2600" dirty="0"/>
              <a:t> [4] + a</a:t>
            </a:r>
            <a:r>
              <a:rPr lang="en-IN" sz="2600" baseline="-25000" dirty="0"/>
              <a:t>15</a:t>
            </a:r>
            <a:r>
              <a:rPr lang="en-IN" sz="2600" dirty="0"/>
              <a:t>, f</a:t>
            </a:r>
            <a:r>
              <a:rPr lang="en-IN" sz="2600" baseline="-25000" dirty="0"/>
              <a:t>2</a:t>
            </a:r>
            <a:r>
              <a:rPr lang="en-IN" sz="2600" dirty="0"/>
              <a:t> [4] + t</a:t>
            </a:r>
            <a:r>
              <a:rPr lang="en-IN" sz="2600" baseline="-25000" dirty="0"/>
              <a:t>24</a:t>
            </a:r>
            <a:r>
              <a:rPr lang="en-IN" sz="2600" dirty="0"/>
              <a:t> + a</a:t>
            </a:r>
            <a:r>
              <a:rPr lang="en-IN" sz="2600" baseline="-25000" dirty="0"/>
              <a:t>15</a:t>
            </a:r>
            <a:r>
              <a:rPr lang="en-IN" sz="2600" dirty="0"/>
              <a:t>)</a:t>
            </a:r>
          </a:p>
          <a:p>
            <a:pPr fontAlgn="base"/>
            <a:r>
              <a:rPr lang="en-IN" sz="2600" dirty="0"/>
              <a:t>= min (24 + 8, 25 + 2 + 8)</a:t>
            </a:r>
          </a:p>
          <a:p>
            <a:pPr fontAlgn="base"/>
            <a:r>
              <a:rPr lang="en-IN" sz="2600" dirty="0"/>
              <a:t>= 32</a:t>
            </a:r>
          </a:p>
          <a:p>
            <a:pPr fontAlgn="base"/>
            <a:r>
              <a:rPr lang="en-IN" sz="2600" dirty="0"/>
              <a:t>f</a:t>
            </a:r>
            <a:r>
              <a:rPr lang="en-IN" sz="2600" baseline="-25000" dirty="0"/>
              <a:t>2</a:t>
            </a:r>
            <a:r>
              <a:rPr lang="en-IN" sz="2600" dirty="0"/>
              <a:t> (5) = min (f</a:t>
            </a:r>
            <a:r>
              <a:rPr lang="en-IN" sz="2600" baseline="-25000" dirty="0"/>
              <a:t>1</a:t>
            </a:r>
            <a:r>
              <a:rPr lang="en-IN" sz="2600" dirty="0"/>
              <a:t> [4] + t</a:t>
            </a:r>
            <a:r>
              <a:rPr lang="en-IN" sz="2600" baseline="-25000" dirty="0"/>
              <a:t>14</a:t>
            </a:r>
            <a:r>
              <a:rPr lang="en-IN" sz="2600" dirty="0"/>
              <a:t> + a</a:t>
            </a:r>
            <a:r>
              <a:rPr lang="en-IN" sz="2600" baseline="-25000" dirty="0"/>
              <a:t>25</a:t>
            </a:r>
            <a:r>
              <a:rPr lang="en-IN" sz="2600" dirty="0"/>
              <a:t>, f</a:t>
            </a:r>
            <a:r>
              <a:rPr lang="en-IN" sz="2600" baseline="-25000" dirty="0"/>
              <a:t>2</a:t>
            </a:r>
            <a:r>
              <a:rPr lang="en-IN" sz="2600" dirty="0"/>
              <a:t> [4] + a</a:t>
            </a:r>
            <a:r>
              <a:rPr lang="en-IN" sz="2600" baseline="-25000" dirty="0"/>
              <a:t>25</a:t>
            </a:r>
            <a:r>
              <a:rPr lang="en-IN" sz="2600" dirty="0"/>
              <a:t>)</a:t>
            </a:r>
          </a:p>
          <a:p>
            <a:pPr fontAlgn="base"/>
            <a:r>
              <a:rPr lang="en-IN" sz="2600" dirty="0"/>
              <a:t>= min (24 + 3 + 5, 25 + 5)</a:t>
            </a:r>
          </a:p>
          <a:p>
            <a:pPr fontAlgn="base"/>
            <a:r>
              <a:rPr lang="en-IN" sz="2600" dirty="0"/>
              <a:t>= 30</a:t>
            </a:r>
          </a:p>
        </p:txBody>
      </p:sp>
    </p:spTree>
    <p:extLst>
      <p:ext uri="{BB962C8B-B14F-4D97-AF65-F5344CB8AC3E}">
        <p14:creationId xmlns:p14="http://schemas.microsoft.com/office/powerpoint/2010/main" val="1181975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5576" y="188640"/>
            <a:ext cx="7704856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 smtClean="0">
                <a:solidFill>
                  <a:srgbClr val="FF0000"/>
                </a:solidFill>
              </a:rPr>
              <a:t>For j = 6 :</a:t>
            </a:r>
          </a:p>
          <a:p>
            <a:r>
              <a:rPr lang="en-US" sz="2600" dirty="0" smtClean="0"/>
              <a:t>f1 (6) = min (f1 [5] + a16, f2 [5] + t25 + a16)</a:t>
            </a:r>
          </a:p>
          <a:p>
            <a:r>
              <a:rPr lang="en-US" sz="2600" dirty="0" smtClean="0"/>
              <a:t>= min (32 + 4, 30 + 1 + 4)</a:t>
            </a:r>
          </a:p>
          <a:p>
            <a:r>
              <a:rPr lang="en-US" sz="2600" dirty="0" smtClean="0"/>
              <a:t>= 35</a:t>
            </a:r>
          </a:p>
          <a:p>
            <a:r>
              <a:rPr lang="en-US" sz="2600" dirty="0" smtClean="0"/>
              <a:t>f2 (6) = min (f1 [5] + t15 + a26, f2 [5] + a26)</a:t>
            </a:r>
          </a:p>
          <a:p>
            <a:r>
              <a:rPr lang="en-US" sz="2600" dirty="0" smtClean="0"/>
              <a:t>= min (32 + 4 + 7, 30 + 7)</a:t>
            </a:r>
          </a:p>
          <a:p>
            <a:r>
              <a:rPr lang="en-US" sz="2600" dirty="0" smtClean="0"/>
              <a:t>= 37</a:t>
            </a:r>
          </a:p>
          <a:p>
            <a:r>
              <a:rPr lang="en-US" sz="2600" dirty="0" smtClean="0"/>
              <a:t>f* =  min (f1 (n) + x1, f2 (n) + x2)</a:t>
            </a:r>
          </a:p>
          <a:p>
            <a:r>
              <a:rPr lang="en-US" sz="2600" dirty="0" smtClean="0"/>
              <a:t>where n = number of stations  =  6</a:t>
            </a:r>
          </a:p>
          <a:p>
            <a:r>
              <a:rPr lang="en-US" sz="2600" dirty="0" smtClean="0"/>
              <a:t>x1 and x2 are exit time from line 1 and line 2 respectively.</a:t>
            </a:r>
          </a:p>
          <a:p>
            <a:r>
              <a:rPr lang="en-US" sz="2600" dirty="0" smtClean="0"/>
              <a:t>x1 = 3,</a:t>
            </a:r>
          </a:p>
          <a:p>
            <a:r>
              <a:rPr lang="en-US" sz="2600" dirty="0" smtClean="0"/>
              <a:t>x2 = 2</a:t>
            </a:r>
          </a:p>
          <a:p>
            <a:r>
              <a:rPr lang="en-US" sz="2600" dirty="0" smtClean="0"/>
              <a:t>f* = min (f1 [6] + x1, f2 [6] + x2)</a:t>
            </a:r>
          </a:p>
          <a:p>
            <a:r>
              <a:rPr lang="en-US" sz="2600" dirty="0" smtClean="0"/>
              <a:t>= min (35 + 3, 37 + 2)</a:t>
            </a:r>
          </a:p>
          <a:p>
            <a:r>
              <a:rPr lang="en-US" sz="2600" dirty="0" smtClean="0"/>
              <a:t>= 38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338917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36" y="980728"/>
            <a:ext cx="8371953" cy="2427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727485"/>
            <a:ext cx="6324374" cy="2047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6606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1528763"/>
            <a:ext cx="8543925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686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1491</Words>
  <Application>Microsoft Office PowerPoint</Application>
  <PresentationFormat>On-screen Show (4:3)</PresentationFormat>
  <Paragraphs>215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Dynamic Programming</vt:lpstr>
      <vt:lpstr> Assembly Line Scheduling Problem </vt:lpstr>
      <vt:lpstr>PowerPoint Presentation</vt:lpstr>
      <vt:lpstr>Assembly Line Scheduling Problem </vt:lpstr>
      <vt:lpstr>PowerPoint Presentation</vt:lpstr>
      <vt:lpstr>PowerPoint Presentation</vt:lpstr>
      <vt:lpstr>PowerPoint Presentation</vt:lpstr>
      <vt:lpstr>PowerPoint Presentation</vt:lpstr>
      <vt:lpstr>Algorithm for Assembly Line Scheduling </vt:lpstr>
      <vt:lpstr>PowerPoint Presentation</vt:lpstr>
      <vt:lpstr> Find optimal assembly line schedule for given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Programming</dc:title>
  <dc:creator>HP</dc:creator>
  <cp:lastModifiedBy>HP</cp:lastModifiedBy>
  <cp:revision>20</cp:revision>
  <dcterms:created xsi:type="dcterms:W3CDTF">2023-01-06T03:46:25Z</dcterms:created>
  <dcterms:modified xsi:type="dcterms:W3CDTF">2024-02-06T13:33:53Z</dcterms:modified>
</cp:coreProperties>
</file>