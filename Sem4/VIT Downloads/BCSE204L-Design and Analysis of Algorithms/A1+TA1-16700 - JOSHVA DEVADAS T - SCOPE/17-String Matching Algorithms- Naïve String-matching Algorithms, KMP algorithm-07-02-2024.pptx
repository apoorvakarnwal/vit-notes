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5" r:id="rId17"/>
    <p:sldId id="276" r:id="rId18"/>
    <p:sldId id="277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-378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110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" y="156579"/>
            <a:ext cx="11754853" cy="48510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99" y="802105"/>
            <a:ext cx="11754853" cy="5919370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92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66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50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7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39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14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84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18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694D3-3492-4C52-A047-D56125F058F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760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694D3-3492-4C52-A047-D56125F058F1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5C0DA-9C2F-42E5-85BD-333016487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46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48929"/>
            <a:ext cx="9144000" cy="211322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Matching Algorithms</a:t>
            </a:r>
          </a:p>
        </p:txBody>
      </p:sp>
    </p:spTree>
    <p:extLst>
      <p:ext uri="{BB962C8B-B14F-4D97-AF65-F5344CB8AC3E}">
        <p14:creationId xmlns:p14="http://schemas.microsoft.com/office/powerpoint/2010/main" val="2498017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Topics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Module:3 String Matching </a:t>
            </a:r>
            <a:r>
              <a:rPr lang="en-US" sz="3200" b="1" dirty="0" smtClean="0"/>
              <a:t>Algorithms</a:t>
            </a:r>
            <a:endParaRPr lang="en-US" sz="3200" dirty="0" smtClean="0"/>
          </a:p>
          <a:p>
            <a:pPr lvl="2"/>
            <a:endParaRPr lang="en-US" dirty="0"/>
          </a:p>
          <a:p>
            <a:pPr lvl="2">
              <a:lnSpc>
                <a:spcPct val="200000"/>
              </a:lnSpc>
            </a:pPr>
            <a:r>
              <a:rPr lang="en-US" b="1" dirty="0" smtClean="0"/>
              <a:t>Naïve </a:t>
            </a:r>
            <a:r>
              <a:rPr lang="en-US" b="1" dirty="0"/>
              <a:t>String-matching </a:t>
            </a:r>
            <a:r>
              <a:rPr lang="en-US" b="1" dirty="0" smtClean="0"/>
              <a:t>Algorithms</a:t>
            </a:r>
          </a:p>
          <a:p>
            <a:pPr lvl="2">
              <a:lnSpc>
                <a:spcPct val="200000"/>
              </a:lnSpc>
            </a:pPr>
            <a:r>
              <a:rPr lang="en-US" b="1" dirty="0" smtClean="0"/>
              <a:t>KMP algorithm</a:t>
            </a:r>
          </a:p>
          <a:p>
            <a:pPr lvl="2">
              <a:lnSpc>
                <a:spcPct val="200000"/>
              </a:lnSpc>
            </a:pPr>
            <a:r>
              <a:rPr lang="en-US" b="1" dirty="0" smtClean="0"/>
              <a:t>Rabin-Karp Algorithm</a:t>
            </a:r>
          </a:p>
          <a:p>
            <a:pPr lvl="2">
              <a:lnSpc>
                <a:spcPct val="200000"/>
              </a:lnSpc>
            </a:pPr>
            <a:r>
              <a:rPr lang="en-US" b="1" dirty="0" smtClean="0"/>
              <a:t>Suffix </a:t>
            </a:r>
            <a:r>
              <a:rPr lang="en-US" b="1" dirty="0"/>
              <a:t>Trees.</a:t>
            </a:r>
          </a:p>
        </p:txBody>
      </p:sp>
    </p:spTree>
    <p:extLst>
      <p:ext uri="{BB962C8B-B14F-4D97-AF65-F5344CB8AC3E}">
        <p14:creationId xmlns:p14="http://schemas.microsoft.com/office/powerpoint/2010/main" val="258513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String </a:t>
            </a:r>
            <a:r>
              <a:rPr lang="en-US" dirty="0" smtClean="0"/>
              <a:t>Matching </a:t>
            </a:r>
            <a:r>
              <a:rPr lang="en-US" dirty="0"/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problem states that we are given a text string (let's say text) having the length </a:t>
            </a:r>
            <a:r>
              <a:rPr lang="en-US" i="1" dirty="0"/>
              <a:t>n</a:t>
            </a:r>
            <a:r>
              <a:rPr lang="en-US" dirty="0"/>
              <a:t> and a pattern string (let's say pattern) having the length </a:t>
            </a:r>
            <a:r>
              <a:rPr lang="en-US" i="1" dirty="0"/>
              <a:t>m</a:t>
            </a:r>
            <a:endParaRPr lang="en-US" dirty="0"/>
          </a:p>
          <a:p>
            <a:r>
              <a:rPr lang="en-US" dirty="0"/>
              <a:t>We need to write a function that takes these two strings (pattern, and text) and prints all the occurrences of the pattern string in the text string</a:t>
            </a:r>
          </a:p>
          <a:p>
            <a:r>
              <a:rPr lang="en-US" dirty="0"/>
              <a:t>We can assume that the value of m will always be less than the value of n.</a:t>
            </a:r>
          </a:p>
          <a:p>
            <a:r>
              <a:rPr lang="en-US" dirty="0"/>
              <a:t>We can assume 0-based indexing.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668" y="3352576"/>
            <a:ext cx="7316221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053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5242" y="875722"/>
            <a:ext cx="8529187" cy="505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95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99" y="333632"/>
            <a:ext cx="11754853" cy="6387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STRING: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 string is an immutable data type that is used to store the sequence of characters</a:t>
            </a:r>
          </a:p>
          <a:p>
            <a:pPr lvl="1"/>
            <a:r>
              <a:rPr lang="en-US" dirty="0"/>
              <a:t>Strings are one of the most widely used data types of any programming language</a:t>
            </a:r>
          </a:p>
          <a:p>
            <a:pPr lvl="1"/>
            <a:r>
              <a:rPr lang="en-US" dirty="0"/>
              <a:t>A string can be easily created using quotes (either single quotes or double quotes)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Naive string matching algorithm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In the example above, the </a:t>
            </a:r>
            <a:r>
              <a:rPr lang="en-US" dirty="0">
                <a:solidFill>
                  <a:srgbClr val="FF0000"/>
                </a:solidFill>
              </a:rPr>
              <a:t>input string is "Hello World</a:t>
            </a:r>
            <a:r>
              <a:rPr lang="en-US" dirty="0"/>
              <a:t>! and the </a:t>
            </a:r>
            <a:r>
              <a:rPr lang="en-US" dirty="0">
                <a:solidFill>
                  <a:srgbClr val="FF0000"/>
                </a:solidFill>
              </a:rPr>
              <a:t>pattern</a:t>
            </a:r>
            <a:r>
              <a:rPr lang="en-US" dirty="0"/>
              <a:t> that needs to be searched is "</a:t>
            </a:r>
            <a:r>
              <a:rPr lang="en-US" dirty="0">
                <a:solidFill>
                  <a:srgbClr val="FF0000"/>
                </a:solidFill>
              </a:rPr>
              <a:t>World!</a:t>
            </a:r>
            <a:r>
              <a:rPr lang="en-US" dirty="0"/>
              <a:t>“</a:t>
            </a:r>
          </a:p>
          <a:p>
            <a:r>
              <a:rPr lang="en-US" dirty="0"/>
              <a:t>We can see that the size of the pattern is 6 </a:t>
            </a:r>
            <a:r>
              <a:rPr lang="en-US" dirty="0" smtClean="0"/>
              <a:t>(say, </a:t>
            </a:r>
            <a:r>
              <a:rPr lang="en-US" dirty="0"/>
              <a:t>m) and the size of the input text is 12 </a:t>
            </a:r>
            <a:r>
              <a:rPr lang="en-US" dirty="0" smtClean="0"/>
              <a:t>(say, </a:t>
            </a:r>
            <a:r>
              <a:rPr lang="en-US" dirty="0"/>
              <a:t>n)</a:t>
            </a:r>
          </a:p>
          <a:p>
            <a:r>
              <a:rPr lang="en-US" dirty="0"/>
              <a:t>We can start searching for the pattern in the input text </a:t>
            </a:r>
            <a:r>
              <a:rPr lang="en-US" dirty="0">
                <a:solidFill>
                  <a:srgbClr val="FF0000"/>
                </a:solidFill>
              </a:rPr>
              <a:t>by sliding the pattern over the text </a:t>
            </a:r>
            <a:r>
              <a:rPr lang="en-US" dirty="0"/>
              <a:t>one by one and checking for a match.</a:t>
            </a:r>
          </a:p>
          <a:p>
            <a:r>
              <a:rPr lang="en-US" dirty="0"/>
              <a:t>So, we would start searching from the first index and slowly move our pattern window from index-0 to index-6</a:t>
            </a:r>
          </a:p>
          <a:p>
            <a:r>
              <a:rPr lang="en-US" dirty="0"/>
              <a:t>At index-6, we can see that both the W's are matching. So, we will search the entire pattern in the window starting with index-6.</a:t>
            </a:r>
          </a:p>
        </p:txBody>
      </p:sp>
    </p:spTree>
    <p:extLst>
      <p:ext uri="{BB962C8B-B14F-4D97-AF65-F5344CB8AC3E}">
        <p14:creationId xmlns:p14="http://schemas.microsoft.com/office/powerpoint/2010/main" val="3731666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Hence, we will find a match and return the starting index of the pattern as the answer</a:t>
            </a:r>
          </a:p>
          <a:p>
            <a:r>
              <a:rPr lang="en-US" dirty="0"/>
              <a:t>For better clarity of the window search, please refer to the image provided below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232" y="1846413"/>
            <a:ext cx="6026108" cy="357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506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99" y="383059"/>
            <a:ext cx="11754853" cy="633841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Best Case</a:t>
            </a:r>
          </a:p>
          <a:p>
            <a:r>
              <a:rPr lang="en-US" dirty="0"/>
              <a:t>The best case in the naive string-matching algorithm is when the required pattern is found in the first searching window only</a:t>
            </a:r>
          </a:p>
          <a:p>
            <a:r>
              <a:rPr lang="en-US" dirty="0"/>
              <a:t>For example, the </a:t>
            </a:r>
            <a:r>
              <a:rPr lang="en-US" dirty="0">
                <a:solidFill>
                  <a:srgbClr val="FF0000"/>
                </a:solidFill>
              </a:rPr>
              <a:t>input string is: "Scaler Topics</a:t>
            </a:r>
            <a:r>
              <a:rPr lang="en-US" dirty="0"/>
              <a:t>" and the </a:t>
            </a:r>
            <a:r>
              <a:rPr lang="en-US" dirty="0">
                <a:solidFill>
                  <a:srgbClr val="FF0000"/>
                </a:solidFill>
              </a:rPr>
              <a:t>input pattern is "Scaler</a:t>
            </a:r>
          </a:p>
          <a:p>
            <a:r>
              <a:rPr lang="en-US" dirty="0"/>
              <a:t>We can see that if we start searching from the very first index, we will get the matching pattern from </a:t>
            </a:r>
            <a:r>
              <a:rPr lang="en-US" dirty="0">
                <a:solidFill>
                  <a:srgbClr val="FF0000"/>
                </a:solidFill>
              </a:rPr>
              <a:t>index-0 to index-5</a:t>
            </a:r>
            <a:r>
              <a:rPr lang="en-US" dirty="0"/>
              <a:t>. So, we would </a:t>
            </a:r>
            <a:r>
              <a:rPr lang="en-US" dirty="0">
                <a:solidFill>
                  <a:srgbClr val="FF0000"/>
                </a:solidFill>
              </a:rPr>
              <a:t>return 0</a:t>
            </a:r>
            <a:r>
              <a:rPr lang="en-US" dirty="0"/>
              <a:t> as the answer.</a:t>
            </a:r>
          </a:p>
          <a:p>
            <a:r>
              <a:rPr lang="en-US" dirty="0"/>
              <a:t>In the best-case scenarios, we have only searched a smaller section of the entire string</a:t>
            </a:r>
          </a:p>
          <a:p>
            <a:r>
              <a:rPr lang="en-US" dirty="0"/>
              <a:t>We need not traverse the entire input string.</a:t>
            </a:r>
          </a:p>
          <a:p>
            <a:r>
              <a:rPr lang="en-US" dirty="0"/>
              <a:t>In the best case, we need to perform the O(1 + m)a number of comparisons, </a:t>
            </a:r>
            <a:r>
              <a:rPr lang="en-US" i="1" dirty="0"/>
              <a:t>m</a:t>
            </a:r>
            <a:r>
              <a:rPr lang="en-US" dirty="0"/>
              <a:t> for comparing the pattern string in the window and 11 comparison for the first character of the input string text with the pattern string's first character</a:t>
            </a:r>
          </a:p>
          <a:p>
            <a:r>
              <a:rPr lang="en-US" dirty="0"/>
              <a:t>Here, m is the size of the input pattern string.</a:t>
            </a:r>
          </a:p>
        </p:txBody>
      </p:sp>
    </p:spTree>
    <p:extLst>
      <p:ext uri="{BB962C8B-B14F-4D97-AF65-F5344CB8AC3E}">
        <p14:creationId xmlns:p14="http://schemas.microsoft.com/office/powerpoint/2010/main" val="2368201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Worst Case</a:t>
            </a:r>
          </a:p>
          <a:p>
            <a:r>
              <a:rPr lang="en-US" dirty="0"/>
              <a:t>The worst case in the naive string-matching algorithm is when the required pattern cannot be found in the entire input string.</a:t>
            </a:r>
          </a:p>
          <a:p>
            <a:r>
              <a:rPr lang="en-US" dirty="0"/>
              <a:t>For example, the </a:t>
            </a:r>
            <a:r>
              <a:rPr lang="en-US" dirty="0">
                <a:solidFill>
                  <a:srgbClr val="FF0000"/>
                </a:solidFill>
              </a:rPr>
              <a:t>input string is: "Scaler Topics"</a:t>
            </a:r>
            <a:r>
              <a:rPr lang="en-US" dirty="0"/>
              <a:t> and the </a:t>
            </a:r>
            <a:r>
              <a:rPr lang="en-US" dirty="0">
                <a:solidFill>
                  <a:srgbClr val="FF0000"/>
                </a:solidFill>
              </a:rPr>
              <a:t>input pattern is "Interview Bit”</a:t>
            </a:r>
          </a:p>
          <a:p>
            <a:r>
              <a:rPr lang="en-US" dirty="0"/>
              <a:t>We can see that if we start searching from the very first index and traverse the entire input string but we cannot find any matching.</a:t>
            </a:r>
          </a:p>
          <a:p>
            <a:r>
              <a:rPr lang="en-US" dirty="0"/>
              <a:t>In the worst-case scenario, we need to traverse the entire input string.</a:t>
            </a:r>
          </a:p>
          <a:p>
            <a:r>
              <a:rPr lang="en-US" dirty="0"/>
              <a:t>In the worst case, we need to perform the </a:t>
            </a:r>
            <a:r>
              <a:rPr lang="en-US" b="1" dirty="0">
                <a:solidFill>
                  <a:srgbClr val="FF0000"/>
                </a:solidFill>
              </a:rPr>
              <a:t>O(m*(n-m+1)) </a:t>
            </a:r>
            <a:r>
              <a:rPr lang="en-US" dirty="0"/>
              <a:t>number of comparisons, where n is the size of the input string and m is the size of the input pattern string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72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Naive Pattern </a:t>
            </a:r>
            <a:r>
              <a:rPr lang="en-US" b="1" dirty="0" smtClean="0">
                <a:solidFill>
                  <a:srgbClr val="FF0000"/>
                </a:solidFill>
              </a:rPr>
              <a:t>Searching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One approach to search a certain pattern in the input string can be using two loops (nested loops)</a:t>
            </a:r>
          </a:p>
          <a:p>
            <a:r>
              <a:rPr lang="en-US" dirty="0"/>
              <a:t>We will use all the possible placements of the pattern string in the input text and check whether the current positioning matches the input pattern or not</a:t>
            </a:r>
          </a:p>
          <a:p>
            <a:r>
              <a:rPr lang="en-US" dirty="0"/>
              <a:t>If the current positioning matches with the input pattern, then we would return the first index of the matching window (of input text)</a:t>
            </a:r>
          </a:p>
          <a:p>
            <a:r>
              <a:rPr lang="en-US" dirty="0"/>
              <a:t>If all the possible positioning does not match with the input string, then we would return -1−1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5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simple and efficient brute force approach</a:t>
            </a:r>
          </a:p>
          <a:p>
            <a:r>
              <a:rPr lang="en-US" dirty="0"/>
              <a:t>It compares the first character of pattern with searchable text</a:t>
            </a:r>
          </a:p>
          <a:p>
            <a:r>
              <a:rPr lang="en-US" dirty="0">
                <a:solidFill>
                  <a:srgbClr val="FF0000"/>
                </a:solidFill>
              </a:rPr>
              <a:t>If a match is found</a:t>
            </a:r>
            <a:r>
              <a:rPr lang="en-US" dirty="0"/>
              <a:t>, pointers in </a:t>
            </a:r>
            <a:r>
              <a:rPr lang="en-US" dirty="0">
                <a:solidFill>
                  <a:srgbClr val="FF0000"/>
                </a:solidFill>
              </a:rPr>
              <a:t>both strings are advanced</a:t>
            </a:r>
          </a:p>
          <a:p>
            <a:r>
              <a:rPr lang="en-US" dirty="0"/>
              <a:t>If a match is </a:t>
            </a:r>
            <a:r>
              <a:rPr lang="en-US" dirty="0">
                <a:solidFill>
                  <a:srgbClr val="FF0000"/>
                </a:solidFill>
              </a:rPr>
              <a:t>not found</a:t>
            </a:r>
            <a:r>
              <a:rPr lang="en-US" dirty="0"/>
              <a:t>, the </a:t>
            </a:r>
            <a:r>
              <a:rPr lang="en-US" dirty="0">
                <a:solidFill>
                  <a:srgbClr val="FF0000"/>
                </a:solidFill>
              </a:rPr>
              <a:t>pointer to text is incremented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pointer of the pattern is reset</a:t>
            </a:r>
            <a:r>
              <a:rPr lang="en-US" dirty="0"/>
              <a:t>. </a:t>
            </a:r>
          </a:p>
          <a:p>
            <a:r>
              <a:rPr lang="en-US" dirty="0"/>
              <a:t>This process is repeated till the end of the text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naïve approach does not require any pre-processing</a:t>
            </a:r>
          </a:p>
          <a:p>
            <a:r>
              <a:rPr lang="en-US" dirty="0"/>
              <a:t>Given text T and pattern P, it directly starts comparing both strings character by character.</a:t>
            </a:r>
          </a:p>
          <a:p>
            <a:r>
              <a:rPr lang="en-US" dirty="0"/>
              <a:t>After each comparison, it shifts pattern string one position to the right.</a:t>
            </a:r>
          </a:p>
          <a:p>
            <a:r>
              <a:rPr lang="en-US" dirty="0"/>
              <a:t>Following example illustrates the working of naïve string-matching algorithm. Here,</a:t>
            </a:r>
          </a:p>
          <a:p>
            <a:r>
              <a:rPr lang="en-US" b="1" dirty="0">
                <a:solidFill>
                  <a:srgbClr val="FF0000"/>
                </a:solidFill>
              </a:rPr>
              <a:t>T = PLANINGANDANALYASIS </a:t>
            </a:r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</a:rPr>
              <a:t>P = AND</a:t>
            </a:r>
          </a:p>
          <a:p>
            <a:r>
              <a:rPr lang="en-US" dirty="0"/>
              <a:t>Here, 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US" dirty="0"/>
              <a:t> and </a:t>
            </a:r>
            <a:r>
              <a:rPr lang="en-US" dirty="0" err="1"/>
              <a:t>p</a:t>
            </a:r>
            <a:r>
              <a:rPr lang="en-US" baseline="-25000" dirty="0" err="1"/>
              <a:t>j</a:t>
            </a:r>
            <a:r>
              <a:rPr lang="en-US" dirty="0"/>
              <a:t> are indices of text and pattern respectively.</a:t>
            </a:r>
          </a:p>
        </p:txBody>
      </p:sp>
    </p:spTree>
    <p:extLst>
      <p:ext uri="{BB962C8B-B14F-4D97-AF65-F5344CB8AC3E}">
        <p14:creationId xmlns:p14="http://schemas.microsoft.com/office/powerpoint/2010/main" val="254994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2126" y="936194"/>
            <a:ext cx="9817769" cy="544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601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Cont’d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9621" y="743565"/>
            <a:ext cx="9801726" cy="571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519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Cont’d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5242" y="1097000"/>
            <a:ext cx="9496925" cy="525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729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Cont’d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3158" y="679222"/>
            <a:ext cx="10555705" cy="576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019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Cont’d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0253" y="1032669"/>
            <a:ext cx="9176084" cy="555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80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 :2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025" y="900113"/>
            <a:ext cx="7219950" cy="505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7464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075" y="785813"/>
            <a:ext cx="7181850" cy="528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4457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1585913"/>
            <a:ext cx="7239000" cy="368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6682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naïve approach tests all the possible placement of </a:t>
            </a:r>
            <a:r>
              <a:rPr lang="en-US" b="1" dirty="0"/>
              <a:t>Pattern P [1.......m] relative to text T [1......n]</a:t>
            </a:r>
            <a:r>
              <a:rPr lang="en-US" dirty="0"/>
              <a:t>. We try shift s = 0, 1.......n-m, successively and for each shift s. Compare T [s+1.......</a:t>
            </a:r>
            <a:r>
              <a:rPr lang="en-US" dirty="0" err="1"/>
              <a:t>s+m</a:t>
            </a:r>
            <a:r>
              <a:rPr lang="en-US" dirty="0"/>
              <a:t>] to P [1......m].</a:t>
            </a:r>
          </a:p>
          <a:p>
            <a:endParaRPr lang="en-US" dirty="0"/>
          </a:p>
          <a:p>
            <a:r>
              <a:rPr lang="en-US" dirty="0"/>
              <a:t>The naïve algorithm </a:t>
            </a:r>
            <a:r>
              <a:rPr lang="en-US" b="1" dirty="0"/>
              <a:t>finds all valid shifts </a:t>
            </a:r>
            <a:r>
              <a:rPr lang="en-US" dirty="0"/>
              <a:t>using a loop that checks the condition P [1.......m] = T [s+1.......</a:t>
            </a:r>
            <a:r>
              <a:rPr lang="en-US" dirty="0" err="1"/>
              <a:t>s+m</a:t>
            </a:r>
            <a:r>
              <a:rPr lang="en-US" dirty="0"/>
              <a:t>] for each of the n - m +1 possible value of s.</a:t>
            </a:r>
            <a:endParaRPr lang="en-IN" dirty="0"/>
          </a:p>
          <a:p>
            <a:endParaRPr lang="en-IN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</a:t>
            </a:r>
            <a:r>
              <a:rPr lang="en-US" dirty="0"/>
              <a:t>Naive String Matching </a:t>
            </a:r>
            <a:r>
              <a:rPr lang="en-US" dirty="0" smtClean="0"/>
              <a:t>Algorithm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177" y="3123342"/>
            <a:ext cx="7675563" cy="2474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355345" y="5562705"/>
            <a:ext cx="114206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333333"/>
                </a:solidFill>
                <a:latin typeface="inter-bold"/>
              </a:rPr>
              <a:t>Analysis: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 This for loop from 3 to 5 executes for n-m + 1(we need at least m characters at the end) times and in iteration we are doing m comparisons. So the total complexity is O </a:t>
            </a:r>
            <a:r>
              <a:rPr lang="en-US" dirty="0" smtClean="0">
                <a:solidFill>
                  <a:srgbClr val="333333"/>
                </a:solidFill>
                <a:latin typeface="inter-regular"/>
              </a:rPr>
              <a:t>[(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n-m+1</a:t>
            </a:r>
            <a:r>
              <a:rPr lang="en-US" dirty="0" smtClean="0">
                <a:solidFill>
                  <a:srgbClr val="333333"/>
                </a:solidFill>
                <a:latin typeface="inter-regular"/>
              </a:rPr>
              <a:t>)*m] </a:t>
            </a:r>
            <a:r>
              <a:rPr lang="en-US" dirty="0" smtClean="0">
                <a:solidFill>
                  <a:srgbClr val="333333"/>
                </a:solidFill>
                <a:latin typeface="inter-regular"/>
                <a:sym typeface="Wingdings" panose="05000000000000000000" pitchFamily="2" charset="2"/>
              </a:rPr>
              <a:t> </a:t>
            </a:r>
            <a:r>
              <a:rPr lang="en-US" b="1" dirty="0" smtClean="0">
                <a:solidFill>
                  <a:srgbClr val="333333"/>
                </a:solidFill>
                <a:latin typeface="inter-regular"/>
                <a:sym typeface="Wingdings" panose="05000000000000000000" pitchFamily="2" charset="2"/>
              </a:rPr>
              <a:t>O(nm)</a:t>
            </a:r>
            <a:r>
              <a:rPr lang="en-US" dirty="0" smtClean="0">
                <a:solidFill>
                  <a:srgbClr val="333333"/>
                </a:solidFill>
                <a:latin typeface="inter-regular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54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5032" y="641684"/>
            <a:ext cx="9577135" cy="621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069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Advantages:</a:t>
            </a:r>
          </a:p>
          <a:p>
            <a:endParaRPr lang="en-US" dirty="0" smtClean="0"/>
          </a:p>
          <a:p>
            <a:r>
              <a:rPr lang="en-US" dirty="0" smtClean="0"/>
              <a:t>No </a:t>
            </a:r>
            <a:r>
              <a:rPr lang="en-US" dirty="0"/>
              <a:t>Pre-processing phase required because the running time of Naive-String-Matcher is equal to its matching time.</a:t>
            </a:r>
          </a:p>
          <a:p>
            <a:r>
              <a:rPr lang="en-US" dirty="0"/>
              <a:t>No extra space are needed.</a:t>
            </a:r>
          </a:p>
          <a:p>
            <a:r>
              <a:rPr lang="en-US" dirty="0"/>
              <a:t>Also, the comparisons can be done in any order.</a:t>
            </a:r>
          </a:p>
          <a:p>
            <a:pPr marL="0" indent="0">
              <a:buNone/>
            </a:pPr>
            <a:endParaRPr lang="en-US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Disadvantage</a:t>
            </a:r>
            <a:r>
              <a:rPr lang="en-US" b="1" dirty="0">
                <a:solidFill>
                  <a:srgbClr val="FF0000"/>
                </a:solidFill>
              </a:rPr>
              <a:t>: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Naive method is inefficient because information from a shift is not used again.</a:t>
            </a:r>
          </a:p>
        </p:txBody>
      </p:sp>
    </p:spTree>
    <p:extLst>
      <p:ext uri="{BB962C8B-B14F-4D97-AF65-F5344CB8AC3E}">
        <p14:creationId xmlns:p14="http://schemas.microsoft.com/office/powerpoint/2010/main" val="2150673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998</Words>
  <Application>Microsoft Office PowerPoint</Application>
  <PresentationFormat>Custom</PresentationFormat>
  <Paragraphs>76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1_Office Theme</vt:lpstr>
      <vt:lpstr>Module 3 String Matching Algorithms</vt:lpstr>
      <vt:lpstr>Topics</vt:lpstr>
      <vt:lpstr>String Matching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Cont’d</vt:lpstr>
      <vt:lpstr>Cont’d</vt:lpstr>
      <vt:lpstr>Cont’d</vt:lpstr>
      <vt:lpstr>Cont’d</vt:lpstr>
      <vt:lpstr>Ex :2</vt:lpstr>
      <vt:lpstr>PowerPoint Presentation</vt:lpstr>
      <vt:lpstr>PowerPoint Presentation</vt:lpstr>
      <vt:lpstr>The Naive String Matching Algorithm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Malini S</dc:creator>
  <cp:lastModifiedBy>HP</cp:lastModifiedBy>
  <cp:revision>10</cp:revision>
  <dcterms:created xsi:type="dcterms:W3CDTF">2023-01-31T13:25:34Z</dcterms:created>
  <dcterms:modified xsi:type="dcterms:W3CDTF">2024-02-07T02:26:48Z</dcterms:modified>
</cp:coreProperties>
</file>