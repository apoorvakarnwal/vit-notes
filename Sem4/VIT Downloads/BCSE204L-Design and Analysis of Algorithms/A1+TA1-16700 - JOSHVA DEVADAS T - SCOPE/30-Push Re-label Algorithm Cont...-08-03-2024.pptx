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7" r:id="rId20"/>
    <p:sldId id="285" r:id="rId21"/>
    <p:sldId id="286" r:id="rId22"/>
    <p:sldId id="288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65" r:id="rId33"/>
    <p:sldId id="266" r:id="rId34"/>
    <p:sldId id="267" r:id="rId35"/>
    <p:sldId id="275" r:id="rId36"/>
    <p:sldId id="268" r:id="rId37"/>
    <p:sldId id="269" r:id="rId38"/>
    <p:sldId id="270" r:id="rId39"/>
    <p:sldId id="271" r:id="rId40"/>
    <p:sldId id="272" r:id="rId41"/>
    <p:sldId id="273" r:id="rId42"/>
    <p:sldId id="274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28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55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29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62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32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45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73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6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7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87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1F38A-3638-4EAC-9CB2-C0B2DB5007A2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9BA9D-CC6C-4D90-B0B9-A14CA0F6C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60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Max Flow Networks	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Push Re Label Algorithm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11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435280" cy="590465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Push-relabel algorithm is described by </a:t>
            </a:r>
            <a:r>
              <a:rPr lang="en-US" b="1" dirty="0" err="1" smtClean="0">
                <a:solidFill>
                  <a:srgbClr val="FF0000"/>
                </a:solidFill>
              </a:rPr>
              <a:t>Dr.Andrew</a:t>
            </a:r>
            <a:r>
              <a:rPr lang="en-US" b="1" dirty="0" smtClean="0">
                <a:solidFill>
                  <a:srgbClr val="FF0000"/>
                </a:solidFill>
              </a:rPr>
              <a:t> Goldberg </a:t>
            </a:r>
            <a:r>
              <a:rPr lang="en-US" dirty="0" smtClean="0"/>
              <a:t>and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Rober</a:t>
            </a:r>
            <a:r>
              <a:rPr lang="en-US" b="1" dirty="0" smtClean="0">
                <a:solidFill>
                  <a:srgbClr val="FF0000"/>
                </a:solidFill>
              </a:rPr>
              <a:t> E </a:t>
            </a:r>
            <a:r>
              <a:rPr lang="en-US" b="1" dirty="0" err="1" smtClean="0">
                <a:solidFill>
                  <a:srgbClr val="FF0000"/>
                </a:solidFill>
              </a:rPr>
              <a:t>Tarjan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Leads to better running time</a:t>
            </a:r>
          </a:p>
          <a:p>
            <a:r>
              <a:rPr lang="en-US" dirty="0" smtClean="0"/>
              <a:t>All previous Network Flow related algorithms are related to augmentation</a:t>
            </a:r>
          </a:p>
          <a:p>
            <a:r>
              <a:rPr lang="en-US" dirty="0" smtClean="0"/>
              <a:t>A draw back of </a:t>
            </a:r>
            <a:r>
              <a:rPr lang="en-US" dirty="0" err="1" smtClean="0"/>
              <a:t>aug</a:t>
            </a:r>
            <a:r>
              <a:rPr lang="en-US" dirty="0" smtClean="0"/>
              <a:t>-based schemes :</a:t>
            </a:r>
          </a:p>
          <a:p>
            <a:pPr lvl="1"/>
            <a:r>
              <a:rPr lang="en-US" dirty="0" smtClean="0"/>
              <a:t>Each augmentation takes O(n) time</a:t>
            </a:r>
          </a:p>
          <a:p>
            <a:pPr lvl="1"/>
            <a:r>
              <a:rPr lang="en-US" dirty="0" smtClean="0"/>
              <a:t>Multiple augmentation may partially share paths, but it’s not exploited by algorithms</a:t>
            </a:r>
            <a:endParaRPr lang="en-IN" dirty="0" smtClean="0"/>
          </a:p>
          <a:p>
            <a:pPr marL="530225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Not very hard to code</a:t>
            </a:r>
          </a:p>
          <a:p>
            <a:pPr marL="530225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Considered as Fastest Maximum-flow algorithm</a:t>
            </a:r>
          </a:p>
        </p:txBody>
      </p:sp>
    </p:spTree>
    <p:extLst>
      <p:ext uri="{BB962C8B-B14F-4D97-AF65-F5344CB8AC3E}">
        <p14:creationId xmlns:p14="http://schemas.microsoft.com/office/powerpoint/2010/main" val="103372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Push Relabel Maximum Flow Algorithm is an algorithm used for finding the maximum flows in a flow network. </a:t>
            </a:r>
          </a:p>
          <a:p>
            <a:r>
              <a:rPr lang="en-IN" dirty="0" smtClean="0"/>
              <a:t>Push Relabel Maximum Flow Algorithm is more efficient in comparison to the Ford-Fulkerson algorithm. </a:t>
            </a:r>
          </a:p>
          <a:p>
            <a:r>
              <a:rPr lang="en-IN" dirty="0" smtClean="0"/>
              <a:t>Push Relabel Maximum Flow Algorithm and Ford-Fulkerson both use residual graphs of flow networks.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62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Push Relabel Maximum Flow Algorithm is an algorithm used for calculating the flow network maximum flows.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uses a residual graph of the flow network.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is a flow network shown in the below-given graph in which all edges have a capacity.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graph, there are two vertices source 's' and 't' as a sink. Using the below-defined constraints, determine the maximum possible flow from s to t: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capacity of the given edge must be greater than the flow of the edge.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Except for s and t, the incoming and outgoing flow of every edge in the graph should be equal. Below is an example of a graph (taken from the CLRS book)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64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517232"/>
            <a:ext cx="3429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19399"/>
            <a:ext cx="7928000" cy="3576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792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9552" y="476672"/>
            <a:ext cx="806489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Push-Relabel Algorithm:</a:t>
            </a:r>
          </a:p>
          <a:p>
            <a:endParaRPr lang="en-US" sz="2800" dirty="0" smtClean="0"/>
          </a:p>
          <a:p>
            <a:r>
              <a:rPr lang="en-US" sz="2800" dirty="0" smtClean="0"/>
              <a:t>1. </a:t>
            </a:r>
            <a:r>
              <a:rPr lang="en-US" sz="2800" dirty="0" err="1" smtClean="0"/>
              <a:t>PreFlow</a:t>
            </a:r>
            <a:r>
              <a:rPr lang="en-US" sz="2800" dirty="0" smtClean="0"/>
              <a:t> Initialization: Initialization of heights and Flows.</a:t>
            </a:r>
          </a:p>
          <a:p>
            <a:r>
              <a:rPr lang="en-US" sz="2800" dirty="0" smtClean="0"/>
              <a:t>2. While performing relabel() and push() on the vertex is possible.</a:t>
            </a:r>
          </a:p>
          <a:p>
            <a:r>
              <a:rPr lang="en-US" sz="2800" dirty="0" smtClean="0"/>
              <a:t>//Or while there exists a vertex with the excess flow.</a:t>
            </a:r>
          </a:p>
          <a:p>
            <a:r>
              <a:rPr lang="en-US" sz="2800" dirty="0" smtClean="0"/>
              <a:t>              Do Relabel() or Push()</a:t>
            </a:r>
          </a:p>
          <a:p>
            <a:r>
              <a:rPr lang="en-US" sz="2800" dirty="0" smtClean="0"/>
              <a:t>//Now all vertices except the source and sink vertex have the value of Excess Flow as 0.</a:t>
            </a:r>
          </a:p>
          <a:p>
            <a:r>
              <a:rPr lang="en-US" sz="2800" dirty="0" smtClean="0"/>
              <a:t>3. Return the flow.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5405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2443986"/>
            <a:ext cx="86409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Pre flow() </a:t>
            </a:r>
          </a:p>
          <a:p>
            <a:r>
              <a:rPr lang="en-US" sz="2800" dirty="0" smtClean="0"/>
              <a:t>1) Initialization of </a:t>
            </a:r>
            <a:r>
              <a:rPr lang="en-US" sz="2800" dirty="0" smtClean="0">
                <a:solidFill>
                  <a:srgbClr val="FF0000"/>
                </a:solidFill>
              </a:rPr>
              <a:t>every vertices </a:t>
            </a:r>
            <a:r>
              <a:rPr lang="en-US" sz="2800" dirty="0" smtClean="0"/>
              <a:t>flow and height with 0.</a:t>
            </a:r>
          </a:p>
          <a:p>
            <a:r>
              <a:rPr lang="en-US" sz="2800" dirty="0" smtClean="0"/>
              <a:t>2) Height of the </a:t>
            </a:r>
            <a:r>
              <a:rPr lang="en-US" sz="2800" dirty="0" smtClean="0">
                <a:solidFill>
                  <a:srgbClr val="FF0000"/>
                </a:solidFill>
              </a:rPr>
              <a:t>source vertex </a:t>
            </a:r>
            <a:r>
              <a:rPr lang="en-US" sz="2800" dirty="0" smtClean="0"/>
              <a:t>is initialized with the total vertices in the graph.</a:t>
            </a:r>
          </a:p>
          <a:p>
            <a:r>
              <a:rPr lang="en-US" sz="2800" dirty="0" smtClean="0"/>
              <a:t>3) Every edge flow is initialized with the value 0.</a:t>
            </a:r>
          </a:p>
          <a:p>
            <a:r>
              <a:rPr lang="en-US" sz="2800" dirty="0" smtClean="0"/>
              <a:t>4) Initially the value of </a:t>
            </a:r>
            <a:r>
              <a:rPr lang="en-US" sz="2800" dirty="0" smtClean="0">
                <a:solidFill>
                  <a:srgbClr val="FF0000"/>
                </a:solidFill>
              </a:rPr>
              <a:t>flow and excess flow </a:t>
            </a:r>
            <a:r>
              <a:rPr lang="en-US" sz="2800" dirty="0" smtClean="0"/>
              <a:t>of all the vertices that are </a:t>
            </a:r>
            <a:r>
              <a:rPr lang="en-US" sz="2800" dirty="0" smtClean="0">
                <a:solidFill>
                  <a:srgbClr val="FF0000"/>
                </a:solidFill>
              </a:rPr>
              <a:t>adjacent to the source s is equivalent to the capacity.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520" y="116632"/>
            <a:ext cx="88924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Mainly there are </a:t>
            </a:r>
            <a:r>
              <a:rPr lang="en-US" sz="2800" dirty="0" smtClean="0">
                <a:solidFill>
                  <a:srgbClr val="FF0000"/>
                </a:solidFill>
              </a:rPr>
              <a:t>3 operations </a:t>
            </a:r>
            <a:r>
              <a:rPr lang="en-US" sz="2800" dirty="0" smtClean="0"/>
              <a:t>in the Push Relabel Maximum Flow Algorithm:</a:t>
            </a:r>
          </a:p>
          <a:p>
            <a:endParaRPr lang="en-US" sz="2800" dirty="0" smtClean="0"/>
          </a:p>
          <a:p>
            <a:r>
              <a:rPr lang="en-US" sz="2800" b="1" dirty="0" err="1" smtClean="0">
                <a:solidFill>
                  <a:srgbClr val="FF0000"/>
                </a:solidFill>
              </a:rPr>
              <a:t>PreFlow</a:t>
            </a:r>
            <a:r>
              <a:rPr lang="en-US" sz="2800" b="1" dirty="0" smtClean="0">
                <a:solidFill>
                  <a:srgbClr val="FF0000"/>
                </a:solidFill>
              </a:rPr>
              <a:t>() </a:t>
            </a:r>
            <a:r>
              <a:rPr lang="en-US" sz="2800" dirty="0" smtClean="0"/>
              <a:t>Initialization Flows and heights of all the vertices are initialized by it.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1110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332656"/>
            <a:ext cx="842493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Push()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For creating the flow from the node having excess flow, the push() operation is used.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Suppose in a residual graph, a condition occurs when there is </a:t>
            </a:r>
            <a:r>
              <a:rPr lang="en-US" sz="2800" dirty="0" smtClean="0">
                <a:solidFill>
                  <a:srgbClr val="FF0000"/>
                </a:solidFill>
              </a:rPr>
              <a:t>excessive flow in a vertex </a:t>
            </a:r>
            <a:r>
              <a:rPr lang="en-US" sz="2800" dirty="0" smtClean="0"/>
              <a:t>and an </a:t>
            </a:r>
            <a:r>
              <a:rPr lang="en-US" sz="2800" dirty="0" smtClean="0">
                <a:solidFill>
                  <a:srgbClr val="FF0000"/>
                </a:solidFill>
              </a:rPr>
              <a:t>adjacent of smaller height</a:t>
            </a:r>
            <a:r>
              <a:rPr lang="en-US" sz="2800" dirty="0" smtClean="0"/>
              <a:t> is there, then the </a:t>
            </a:r>
            <a:r>
              <a:rPr lang="en-US" sz="2800" dirty="0" smtClean="0">
                <a:solidFill>
                  <a:srgbClr val="FF0000"/>
                </a:solidFill>
              </a:rPr>
              <a:t>push() operation is used to push the flow from the vertex to the adjacent having lower height</a:t>
            </a:r>
            <a:r>
              <a:rPr lang="en-US" sz="2800" dirty="0" smtClean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And the </a:t>
            </a:r>
            <a:r>
              <a:rPr lang="en-US" sz="2800" dirty="0" smtClean="0">
                <a:solidFill>
                  <a:srgbClr val="FF0000"/>
                </a:solidFill>
              </a:rPr>
              <a:t>value of the pushed</a:t>
            </a:r>
            <a:r>
              <a:rPr lang="en-US" sz="2800" dirty="0" smtClean="0"/>
              <a:t> flowing from the pipe (edge) is equivalent to the </a:t>
            </a:r>
            <a:r>
              <a:rPr lang="en-US" sz="2800" dirty="0" smtClean="0">
                <a:solidFill>
                  <a:srgbClr val="FF0000"/>
                </a:solidFill>
              </a:rPr>
              <a:t>minimum of two values i.e. a minimum of capacity and excess flow of the edge</a:t>
            </a:r>
            <a:r>
              <a:rPr lang="en-US" sz="2800" dirty="0" smtClean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5739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566678"/>
            <a:ext cx="83529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Relabel()</a:t>
            </a:r>
            <a:r>
              <a:rPr lang="en-US" sz="2800" dirty="0"/>
              <a:t> 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When </a:t>
            </a:r>
            <a:r>
              <a:rPr lang="en-US" sz="2800" dirty="0">
                <a:solidFill>
                  <a:srgbClr val="FF0000"/>
                </a:solidFill>
              </a:rPr>
              <a:t>there is excess flow </a:t>
            </a:r>
            <a:r>
              <a:rPr lang="en-US" sz="2800" dirty="0"/>
              <a:t>in the vertex and </a:t>
            </a:r>
            <a:r>
              <a:rPr lang="en-US" sz="2800" dirty="0">
                <a:solidFill>
                  <a:srgbClr val="FF0000"/>
                </a:solidFill>
              </a:rPr>
              <a:t>there is no adjacent at the lower height</a:t>
            </a:r>
            <a:r>
              <a:rPr lang="en-US" sz="2800" dirty="0"/>
              <a:t>, then in this condition relabel() operation is used.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For </a:t>
            </a:r>
            <a:r>
              <a:rPr lang="en-US" sz="2800" dirty="0"/>
              <a:t>performing push(), we generally </a:t>
            </a:r>
            <a:r>
              <a:rPr lang="en-US" sz="2800" dirty="0">
                <a:solidFill>
                  <a:srgbClr val="FF0000"/>
                </a:solidFill>
              </a:rPr>
              <a:t>increase the height of the vertex. </a:t>
            </a:r>
            <a:endParaRPr lang="en-US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So </a:t>
            </a:r>
            <a:r>
              <a:rPr lang="en-US" sz="2800" dirty="0"/>
              <a:t>for increasing the height of the vertex, we need to </a:t>
            </a:r>
            <a:r>
              <a:rPr lang="en-US" sz="2800" dirty="0">
                <a:solidFill>
                  <a:srgbClr val="FF0000"/>
                </a:solidFill>
              </a:rPr>
              <a:t>choose the adjacent in the residual graph having minimum height. </a:t>
            </a:r>
            <a:r>
              <a:rPr lang="en-US" sz="2800" dirty="0"/>
              <a:t>And after this, we add 1 to this particular adjacent.</a:t>
            </a:r>
          </a:p>
        </p:txBody>
      </p:sp>
    </p:spTree>
    <p:extLst>
      <p:ext uri="{BB962C8B-B14F-4D97-AF65-F5344CB8AC3E}">
        <p14:creationId xmlns:p14="http://schemas.microsoft.com/office/powerpoint/2010/main" val="242008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332656"/>
            <a:ext cx="864096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Step-wise </a:t>
            </a:r>
            <a:r>
              <a:rPr lang="en-US" b="1" dirty="0" smtClean="0"/>
              <a:t>Example</a:t>
            </a:r>
          </a:p>
          <a:p>
            <a:endParaRPr lang="en-US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Generally, residual graphs are not similar to normal graphs, they both are different. </a:t>
            </a:r>
            <a:endParaRPr lang="en-US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So </a:t>
            </a:r>
            <a:r>
              <a:rPr lang="en-US" sz="2800" dirty="0"/>
              <a:t>first before proceeding with the example of the Push Relabel Maximum Flow Algorithm, we will learn about the residual graph</a:t>
            </a:r>
            <a:r>
              <a:rPr lang="en-US" sz="280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Additional </a:t>
            </a:r>
            <a:r>
              <a:rPr lang="en-US" sz="2800" dirty="0"/>
              <a:t>possible flow is indicated by the </a:t>
            </a:r>
            <a:r>
              <a:rPr lang="en-US" sz="2800" b="1" dirty="0">
                <a:solidFill>
                  <a:srgbClr val="FF0000"/>
                </a:solidFill>
              </a:rPr>
              <a:t>residual graph</a:t>
            </a:r>
            <a:r>
              <a:rPr lang="en-US" sz="2800" dirty="0"/>
              <a:t> of the flow network. </a:t>
            </a:r>
            <a:endParaRPr lang="en-US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a residual graph adding flow is possible if there exists a path from source to sink</a:t>
            </a:r>
            <a:r>
              <a:rPr lang="en-US" sz="280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800" dirty="0"/>
              <a:t>In the residual graph, every edge is associated with the value called </a:t>
            </a:r>
            <a:r>
              <a:rPr lang="en-US" sz="2800" dirty="0">
                <a:solidFill>
                  <a:srgbClr val="FF0000"/>
                </a:solidFill>
              </a:rPr>
              <a:t>residual capacity and its value is equal to the difference between the current flow and original capacity</a:t>
            </a:r>
            <a:r>
              <a:rPr lang="en-US" sz="2800" dirty="0" smtClean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525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1340768"/>
            <a:ext cx="84969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Residual </a:t>
            </a:r>
            <a:r>
              <a:rPr lang="en-US" sz="2800" dirty="0"/>
              <a:t>capacity is generally represented by the edge's current capacity.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We need to do the following updates if we add or push flow from vertex u to v: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find the difference of flow and the capacity of the edge from u to v. And if the edge capacity is zero, then the particular edge is not allowed to stay in the residual graph, it will no longer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Addition of flow capacity of the edge from v to u.</a:t>
            </a:r>
          </a:p>
        </p:txBody>
      </p:sp>
    </p:spTree>
    <p:extLst>
      <p:ext uri="{BB962C8B-B14F-4D97-AF65-F5344CB8AC3E}">
        <p14:creationId xmlns:p14="http://schemas.microsoft.com/office/powerpoint/2010/main" val="320133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548680"/>
            <a:ext cx="8490066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1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81"/>
            <a:ext cx="9096839" cy="541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5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22" y="232756"/>
            <a:ext cx="8732520" cy="662524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operation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vertex is also assigned another variable excess flow. When a vertex has an excess flow, it pushes it to a lower height vertex. The amount of flow pushed is equal to the minimum of excess flow of vertex and capacity of connecting edge.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at a vertex V is defined by: Total flow received by V - Total flow going out of V.</a:t>
            </a:r>
          </a:p>
          <a:p>
            <a:pPr marL="0" indent="0"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Relabel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height of a vertex is low and the water is overflowing in that vertex,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water gets locally trapped, then it's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relabeled.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relabel operation, the height of the vertex is increased.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326" y="2564904"/>
            <a:ext cx="5010409" cy="237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7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Steps: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98764" y="1512916"/>
            <a:ext cx="826700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graph with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preflow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labelling functions with each edge outgoing from s with its maximal capacity and all other edges with zero.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Push()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 push as much excess flow from one Vertex u to a neighboring vertex v.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Relabel()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 will increase the Vertex's height when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push the excess to any adjacent vertex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Also, we can expand it by as much as possible while still maintaining the validity of the labeling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end all the vertices should have 0 excess flow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maximum 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55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 rotWithShape="1">
          <a:blip r:embed="rId2"/>
          <a:srcRect l="15470" t="23381" r="46920" b="31120"/>
          <a:stretch/>
        </p:blipFill>
        <p:spPr>
          <a:xfrm>
            <a:off x="1419919" y="481505"/>
            <a:ext cx="6304162" cy="571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8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0" y="-124095"/>
            <a:ext cx="9020175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82" y="3428730"/>
            <a:ext cx="8915400" cy="346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65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95" y="1124744"/>
            <a:ext cx="8798899" cy="371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41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02017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" y="3717925"/>
            <a:ext cx="8888413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15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38" y="-279122"/>
            <a:ext cx="918210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28790"/>
            <a:ext cx="9119662" cy="332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250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2" y="3573016"/>
            <a:ext cx="9136760" cy="3301026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2" y="10666"/>
            <a:ext cx="913676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63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899592" y="404664"/>
            <a:ext cx="6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 : 1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304925"/>
            <a:ext cx="66294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736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128F1B80-1294-2743-9964-07DECDA08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04" y="260649"/>
            <a:ext cx="8229600" cy="1656184"/>
          </a:xfrm>
        </p:spPr>
        <p:txBody>
          <a:bodyPr/>
          <a:lstStyle/>
          <a:p>
            <a:r>
              <a:rPr lang="en-US" b="0" i="0" dirty="0" smtClean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Initialize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residual graph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by setting the </a:t>
            </a:r>
            <a:r>
              <a:rPr lang="en-US" b="0" i="0" dirty="0" smtClean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pre flow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 values 0 and </a:t>
            </a:r>
            <a:r>
              <a:rPr lang="en-US" b="0" i="0" dirty="0" smtClean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initializing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labeling.</a:t>
            </a:r>
            <a:endParaRPr lang="en-IN" dirty="0"/>
          </a:p>
          <a:p>
            <a:endParaRPr lang="en-IN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xmlns="" id="{D796C8B5-29C5-8CBC-12D3-155D1657D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916832"/>
            <a:ext cx="5544616" cy="475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5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9178FD82-C076-AEC0-605A-2E54A9E0E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634" y="404664"/>
            <a:ext cx="8376846" cy="1224136"/>
          </a:xfrm>
        </p:spPr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Initial saturating push is performed across all </a:t>
            </a:r>
            <a:r>
              <a:rPr lang="en-US" b="0" i="0" dirty="0" smtClean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pre flow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arcs out of the source, </a:t>
            </a:r>
            <a:r>
              <a:rPr lang="en-US" b="0" i="1" dirty="0">
                <a:solidFill>
                  <a:srgbClr val="202122"/>
                </a:solidFill>
                <a:effectLst/>
                <a:latin typeface="Nimbus Roman No9 L"/>
              </a:rPr>
              <a:t>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  <a:p>
            <a:endParaRPr lang="en-IN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xmlns="" id="{30F2CADF-FC98-7562-134E-F02E1727D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033543"/>
            <a:ext cx="5400600" cy="468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2DAFFDDE-319C-E476-3733-570BA736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482" y="260648"/>
            <a:ext cx="7886700" cy="2664296"/>
          </a:xfrm>
        </p:spPr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Node </a:t>
            </a:r>
            <a:r>
              <a:rPr lang="en-US" b="0" i="1" dirty="0">
                <a:solidFill>
                  <a:srgbClr val="202122"/>
                </a:solidFill>
                <a:effectLst/>
                <a:latin typeface="Nimbus Roman No9 L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relabeled in order to push its excess flow towards the sink, </a:t>
            </a:r>
            <a:r>
              <a:rPr lang="en-US" b="0" i="1" dirty="0">
                <a:solidFill>
                  <a:srgbClr val="202122"/>
                </a:solidFill>
                <a:effectLst/>
                <a:latin typeface="Nimbus Roman No9 L"/>
              </a:rPr>
              <a:t>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excess at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a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is then pushed to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b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then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d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 two subsequent saturating pushes; which still leaves </a:t>
            </a:r>
            <a:r>
              <a:rPr lang="en-US" b="0" i="1" dirty="0">
                <a:solidFill>
                  <a:srgbClr val="202122"/>
                </a:solidFill>
                <a:effectLst/>
                <a:latin typeface="Nimbus Roman No9 L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with some excess.</a:t>
            </a:r>
          </a:p>
          <a:p>
            <a:endParaRPr lang="en-IN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xmlns="" id="{A671ABE5-D5AC-0AE1-ECC8-BA16F64FD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780927"/>
            <a:ext cx="5328592" cy="39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9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513ED510-FDEF-C61D-13B1-B3520E387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88640"/>
            <a:ext cx="7886700" cy="4351338"/>
          </a:xfrm>
        </p:spPr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Once again,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a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is relabeled in order to push its excess along its last remaining positive residual (i.e. push the excess back to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).The node </a:t>
            </a:r>
            <a:r>
              <a:rPr lang="en-US" b="0" i="1" dirty="0">
                <a:solidFill>
                  <a:srgbClr val="202122"/>
                </a:solidFill>
                <a:effectLst/>
                <a:latin typeface="Nimbus Roman No9 L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then removed from the set of active nodes.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xmlns="" id="{CF73D0A1-7A7A-058C-83ED-027586E9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708920"/>
            <a:ext cx="4752528" cy="414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6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8E0A559E-2D66-6FD5-742D-64A06703E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88" y="116632"/>
            <a:ext cx="7886700" cy="4351338"/>
          </a:xfrm>
        </p:spPr>
        <p:txBody>
          <a:bodyPr/>
          <a:lstStyle/>
          <a:p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Relabel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b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and then push its excess to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t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c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xmlns="" id="{663F5B28-35A5-8900-896F-3C6662B09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214443"/>
            <a:ext cx="5976664" cy="52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1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A4664B-F602-3399-CA13-F9D583EE1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2657"/>
            <a:ext cx="8229600" cy="864096"/>
          </a:xfrm>
        </p:spPr>
        <p:txBody>
          <a:bodyPr/>
          <a:lstStyle/>
          <a:p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Relabel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c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and then push its excess to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d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3846BCF-4192-F3F6-6C1F-C006912D9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340768"/>
            <a:ext cx="6048672" cy="523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2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08745B-BCA6-29C3-E2B4-91BE20AFB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86496"/>
            <a:ext cx="8229600" cy="4525963"/>
          </a:xfrm>
        </p:spPr>
        <p:txBody>
          <a:bodyPr/>
          <a:lstStyle/>
          <a:p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Relabel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d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and then push its excess to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t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C71B416-FBFE-FAD9-6E64-82CF33EBC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196752"/>
            <a:ext cx="6048672" cy="530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0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8DF53A-BF85-FE8E-18BC-AE3B41146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"/>
            <a:ext cx="8229600" cy="2924944"/>
          </a:xfrm>
        </p:spPr>
        <p:txBody>
          <a:bodyPr/>
          <a:lstStyle/>
          <a:p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leaves the node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b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as the only remaining active node, but it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cannot push its excess flow towards the sink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 Relabel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b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 and then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push its excess towards the source, </a:t>
            </a:r>
            <a:r>
              <a:rPr lang="en-US" b="0" i="1" dirty="0">
                <a:solidFill>
                  <a:srgbClr val="FF0000"/>
                </a:solidFill>
                <a:effectLst/>
                <a:latin typeface="Nimbus Roman No9 L"/>
              </a:rPr>
              <a:t>s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via the node </a:t>
            </a:r>
            <a:r>
              <a:rPr lang="en-US" b="0" i="1" dirty="0">
                <a:solidFill>
                  <a:schemeClr val="accent2">
                    <a:lumMod val="75000"/>
                  </a:schemeClr>
                </a:solidFill>
                <a:effectLst/>
                <a:latin typeface="Nimbus Roman No9 L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188FF55-A052-CB40-3C1F-1EC2BEDA2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2780928"/>
            <a:ext cx="4968552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0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8965CA-6C88-237C-4A62-27520952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640"/>
            <a:ext cx="8229600" cy="4525963"/>
          </a:xfrm>
        </p:spPr>
        <p:txBody>
          <a:bodyPr/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Push the last bit of excess at </a:t>
            </a:r>
            <a:r>
              <a:rPr lang="en-US" b="0" i="1" dirty="0">
                <a:solidFill>
                  <a:srgbClr val="FF0000"/>
                </a:solidFill>
                <a:effectLst/>
                <a:latin typeface="Nimbus Roman No9 L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back to the source, </a:t>
            </a:r>
            <a:r>
              <a:rPr lang="en-US" b="0" i="1" dirty="0">
                <a:solidFill>
                  <a:srgbClr val="FF0000"/>
                </a:solidFill>
                <a:effectLst/>
                <a:latin typeface="Nimbus Roman No9 L"/>
              </a:rPr>
              <a:t>s</a:t>
            </a:r>
            <a:r>
              <a:rPr lang="en-US" b="0" i="0" dirty="0" smtClean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There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are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 remaining active nodes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 algorithm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terminates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and returns the maximum flow of the graph (as seen above).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5B9E2EC-6EE2-735D-91B3-7547B6093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708920"/>
            <a:ext cx="4680520" cy="414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2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3214" y="188640"/>
            <a:ext cx="82809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Let us take an example, suppose there are two vertices x and y. And in the original graph 3/10 x ---------&gt; y current flow from x to y is 3 and edge capacity from x to y is 10.</a:t>
            </a:r>
          </a:p>
          <a:p>
            <a:r>
              <a:rPr lang="en-US" sz="2400" dirty="0"/>
              <a:t>And there are two edges in the residual graph for the above-shown edge. 7 x ---------&gt; y 3 x &lt;--------- y</a:t>
            </a:r>
          </a:p>
          <a:p>
            <a:r>
              <a:rPr lang="en-US" sz="2400" dirty="0"/>
              <a:t>The flow graph needs to be initialized.</a:t>
            </a:r>
          </a:p>
          <a:p>
            <a:r>
              <a:rPr lang="en-US" sz="2400" dirty="0"/>
              <a:t>Refer to the below for step1 of the example</a:t>
            </a:r>
            <a:r>
              <a:rPr lang="en-US" sz="2400" dirty="0" smtClean="0"/>
              <a:t>. </a:t>
            </a:r>
            <a:endParaRPr lang="en-IN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14" y="3068960"/>
            <a:ext cx="8280920" cy="357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388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544" y="332656"/>
            <a:ext cx="82089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There is a formation of an edge having capacity 3 from A to S and there is no edge from S to A after performing the </a:t>
            </a:r>
            <a:r>
              <a:rPr lang="en-US" sz="2800" dirty="0" err="1" smtClean="0"/>
              <a:t>PreFlow</a:t>
            </a:r>
            <a:r>
              <a:rPr lang="en-US" sz="2800" dirty="0" smtClean="0"/>
              <a:t> operation in the given residual graph.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348880"/>
            <a:ext cx="8208912" cy="387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82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36712"/>
            <a:ext cx="896448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Relabel the vertex that is highlighted (now length becomes 1) as there is an excess flow and no adjacent of smaller height.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Now </a:t>
            </a:r>
            <a:r>
              <a:rPr lang="en-US" sz="2800" dirty="0"/>
              <a:t>the new value of the height is equal to the minimum heights of residual + 1.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Vertex </a:t>
            </a:r>
            <a:r>
              <a:rPr lang="en-US" sz="2800" dirty="0"/>
              <a:t>S and B are two adjacent vertices for A in the residual graph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800" dirty="0"/>
              <a:t>And if we compare the height of both and then we get the minimum height of B i.e. 0 as the height of S is 4 and the height of B is 0. So we take 0 and add </a:t>
            </a:r>
            <a:r>
              <a:rPr lang="en-US" sz="2800" dirty="0" smtClean="0"/>
              <a:t>1 </a:t>
            </a:r>
            <a:r>
              <a:rPr lang="en-US" sz="2800" dirty="0"/>
              <a:t>into it and it becomes 1.</a:t>
            </a:r>
          </a:p>
        </p:txBody>
      </p:sp>
    </p:spTree>
    <p:extLst>
      <p:ext uri="{BB962C8B-B14F-4D97-AF65-F5344CB8AC3E}">
        <p14:creationId xmlns:p14="http://schemas.microsoft.com/office/powerpoint/2010/main" val="20170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18" y="1196752"/>
            <a:ext cx="8424936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831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88640"/>
            <a:ext cx="85689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</a:rPr>
              <a:t>Push() </a:t>
            </a:r>
            <a:r>
              <a:rPr lang="en-US" sz="2800" dirty="0" smtClean="0"/>
              <a:t>operation takes place as there is an excessive flow in the highlighted vertex and there is an adjacent having a lower height.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At vertex A, the excess flow is 2 and there is an edge (A, B) with a capacity of 1.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2 is the minimum of two values and that is the amount of flow that is pushed.</a:t>
            </a:r>
            <a:endParaRPr lang="en-IN" sz="2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97183"/>
            <a:ext cx="7632848" cy="325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991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969" y="116632"/>
            <a:ext cx="83529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</a:t>
            </a:r>
            <a:r>
              <a:rPr lang="en-US" sz="2800" dirty="0"/>
              <a:t>highlighted vertex is relabeled (height becomes 1) as it has excess flow and there is no adjacent with smaller height. 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16832"/>
            <a:ext cx="7452828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647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662" y="57548"/>
            <a:ext cx="87028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Flow ()</a:t>
            </a:r>
            <a:r>
              <a:rPr lang="en-US" sz="2800" dirty="0"/>
              <a:t> operation from B to T takes place as there is an excess flow in the highlighted vertex and an adjacent having a lower height is there. </a:t>
            </a:r>
            <a:endParaRPr lang="en-US" sz="2800" dirty="0" smtClean="0"/>
          </a:p>
          <a:p>
            <a:r>
              <a:rPr lang="en-US" sz="2800" dirty="0"/>
              <a:t>The highlighted vertex has excess flow and there is an adjacent with lower height, so flow() is pushed from B to T. </a:t>
            </a:r>
            <a:endParaRPr lang="en-US" sz="2800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2735204"/>
            <a:ext cx="8004785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98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1" y="0"/>
            <a:ext cx="85566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</a:t>
            </a:r>
            <a:r>
              <a:rPr lang="en-US" sz="2800" dirty="0"/>
              <a:t>highlighted vertex is relabeled (height becomes 5) as it has excess flow and there is no adjacent with smaller height.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0" y="1988840"/>
            <a:ext cx="8196589" cy="36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153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260648"/>
            <a:ext cx="84969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</a:t>
            </a:r>
            <a:r>
              <a:rPr lang="en-US" sz="2800" dirty="0"/>
              <a:t>highlighted vertex has excess flow and there is an adjacent with lower height, so push() happens.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8"/>
            <a:ext cx="7789002" cy="4280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25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8167" y="73740"/>
            <a:ext cx="878497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</a:t>
            </a:r>
            <a:r>
              <a:rPr lang="en-US" sz="2800" dirty="0"/>
              <a:t>highlighted vertex is relabeled (height is increased by 1) as it has excess flow and there is no adjacent with smaller height. </a:t>
            </a:r>
          </a:p>
          <a:p>
            <a:endParaRPr lang="en-US" sz="2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66752"/>
            <a:ext cx="8208912" cy="3446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901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260648"/>
            <a:ext cx="889248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Push Relabel Maximum Flow Algorithm is an algorithm used for calculating the flow network maximum 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It is more efficient in comparison to the Ford-Fulkerson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Push Relabel Maximum Flow Algorithm and Ford-Fulkerson both use residual graphs of flow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For finding an augmenting path this works on one vertex at a time instead of examining the whole residual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Additional possible flow is indicated by the residual graph of the flow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/>
              <a:t>preFlow</a:t>
            </a:r>
            <a:r>
              <a:rPr lang="en-US" sz="2800" dirty="0" smtClean="0"/>
              <a:t>(), push(), and relabel() are the three main operations of the Push Relabel Maximum Flow Algorithm.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5856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1415</Words>
  <Application>Microsoft Office PowerPoint</Application>
  <PresentationFormat>On-screen Show (4:3)</PresentationFormat>
  <Paragraphs>110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Max Flow Networks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Flow Networks </dc:title>
  <dc:creator>HP</dc:creator>
  <cp:lastModifiedBy>HP</cp:lastModifiedBy>
  <cp:revision>31</cp:revision>
  <dcterms:created xsi:type="dcterms:W3CDTF">2023-02-27T10:41:25Z</dcterms:created>
  <dcterms:modified xsi:type="dcterms:W3CDTF">2024-02-27T18:38:21Z</dcterms:modified>
</cp:coreProperties>
</file>