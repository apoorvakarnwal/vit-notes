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1" r:id="rId6"/>
    <p:sldId id="273" r:id="rId7"/>
    <p:sldId id="272" r:id="rId8"/>
    <p:sldId id="260" r:id="rId9"/>
    <p:sldId id="261" r:id="rId10"/>
    <p:sldId id="262" r:id="rId11"/>
    <p:sldId id="263" r:id="rId12"/>
    <p:sldId id="264" r:id="rId13"/>
    <p:sldId id="266" r:id="rId14"/>
    <p:sldId id="267" r:id="rId15"/>
    <p:sldId id="268" r:id="rId16"/>
    <p:sldId id="269" r:id="rId17"/>
    <p:sldId id="270"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878E7CB-2002-412D-A90E-C5120D09669F}" type="datetimeFigureOut">
              <a:rPr lang="en-IN" smtClean="0"/>
              <a:t>09-02-2023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1AD92A-FF81-4931-BB62-F4136C51E66C}" type="slidenum">
              <a:rPr lang="en-IN" smtClean="0"/>
              <a:t>‹#›</a:t>
            </a:fld>
            <a:endParaRPr lang="en-IN"/>
          </a:p>
        </p:txBody>
      </p:sp>
    </p:spTree>
    <p:extLst>
      <p:ext uri="{BB962C8B-B14F-4D97-AF65-F5344CB8AC3E}">
        <p14:creationId xmlns:p14="http://schemas.microsoft.com/office/powerpoint/2010/main" val="3671663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878E7CB-2002-412D-A90E-C5120D09669F}" type="datetimeFigureOut">
              <a:rPr lang="en-IN" smtClean="0"/>
              <a:t>09-02-2023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1AD92A-FF81-4931-BB62-F4136C51E66C}" type="slidenum">
              <a:rPr lang="en-IN" smtClean="0"/>
              <a:t>‹#›</a:t>
            </a:fld>
            <a:endParaRPr lang="en-IN"/>
          </a:p>
        </p:txBody>
      </p:sp>
    </p:spTree>
    <p:extLst>
      <p:ext uri="{BB962C8B-B14F-4D97-AF65-F5344CB8AC3E}">
        <p14:creationId xmlns:p14="http://schemas.microsoft.com/office/powerpoint/2010/main" val="1779395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878E7CB-2002-412D-A90E-C5120D09669F}" type="datetimeFigureOut">
              <a:rPr lang="en-IN" smtClean="0"/>
              <a:t>09-02-2023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1AD92A-FF81-4931-BB62-F4136C51E66C}" type="slidenum">
              <a:rPr lang="en-IN" smtClean="0"/>
              <a:t>‹#›</a:t>
            </a:fld>
            <a:endParaRPr lang="en-IN"/>
          </a:p>
        </p:txBody>
      </p:sp>
    </p:spTree>
    <p:extLst>
      <p:ext uri="{BB962C8B-B14F-4D97-AF65-F5344CB8AC3E}">
        <p14:creationId xmlns:p14="http://schemas.microsoft.com/office/powerpoint/2010/main" val="3370722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878E7CB-2002-412D-A90E-C5120D09669F}" type="datetimeFigureOut">
              <a:rPr lang="en-IN" smtClean="0"/>
              <a:t>09-02-2023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1AD92A-FF81-4931-BB62-F4136C51E66C}" type="slidenum">
              <a:rPr lang="en-IN" smtClean="0"/>
              <a:t>‹#›</a:t>
            </a:fld>
            <a:endParaRPr lang="en-IN"/>
          </a:p>
        </p:txBody>
      </p:sp>
    </p:spTree>
    <p:extLst>
      <p:ext uri="{BB962C8B-B14F-4D97-AF65-F5344CB8AC3E}">
        <p14:creationId xmlns:p14="http://schemas.microsoft.com/office/powerpoint/2010/main" val="173535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878E7CB-2002-412D-A90E-C5120D09669F}" type="datetimeFigureOut">
              <a:rPr lang="en-IN" smtClean="0"/>
              <a:t>09-02-2023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D1AD92A-FF81-4931-BB62-F4136C51E66C}" type="slidenum">
              <a:rPr lang="en-IN" smtClean="0"/>
              <a:t>‹#›</a:t>
            </a:fld>
            <a:endParaRPr lang="en-IN"/>
          </a:p>
        </p:txBody>
      </p:sp>
    </p:spTree>
    <p:extLst>
      <p:ext uri="{BB962C8B-B14F-4D97-AF65-F5344CB8AC3E}">
        <p14:creationId xmlns:p14="http://schemas.microsoft.com/office/powerpoint/2010/main" val="3763768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878E7CB-2002-412D-A90E-C5120D09669F}" type="datetimeFigureOut">
              <a:rPr lang="en-IN" smtClean="0"/>
              <a:t>09-02-2023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D1AD92A-FF81-4931-BB62-F4136C51E66C}" type="slidenum">
              <a:rPr lang="en-IN" smtClean="0"/>
              <a:t>‹#›</a:t>
            </a:fld>
            <a:endParaRPr lang="en-IN"/>
          </a:p>
        </p:txBody>
      </p:sp>
    </p:spTree>
    <p:extLst>
      <p:ext uri="{BB962C8B-B14F-4D97-AF65-F5344CB8AC3E}">
        <p14:creationId xmlns:p14="http://schemas.microsoft.com/office/powerpoint/2010/main" val="4100961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8E7CB-2002-412D-A90E-C5120D09669F}" type="datetimeFigureOut">
              <a:rPr lang="en-IN" smtClean="0"/>
              <a:t>09-02-2023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D1AD92A-FF81-4931-BB62-F4136C51E66C}" type="slidenum">
              <a:rPr lang="en-IN" smtClean="0"/>
              <a:t>‹#›</a:t>
            </a:fld>
            <a:endParaRPr lang="en-IN"/>
          </a:p>
        </p:txBody>
      </p:sp>
    </p:spTree>
    <p:extLst>
      <p:ext uri="{BB962C8B-B14F-4D97-AF65-F5344CB8AC3E}">
        <p14:creationId xmlns:p14="http://schemas.microsoft.com/office/powerpoint/2010/main" val="219270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878E7CB-2002-412D-A90E-C5120D09669F}" type="datetimeFigureOut">
              <a:rPr lang="en-IN" smtClean="0"/>
              <a:t>09-02-2023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1AD92A-FF81-4931-BB62-F4136C51E66C}" type="slidenum">
              <a:rPr lang="en-IN" smtClean="0"/>
              <a:t>‹#›</a:t>
            </a:fld>
            <a:endParaRPr lang="en-IN"/>
          </a:p>
        </p:txBody>
      </p:sp>
    </p:spTree>
    <p:extLst>
      <p:ext uri="{BB962C8B-B14F-4D97-AF65-F5344CB8AC3E}">
        <p14:creationId xmlns:p14="http://schemas.microsoft.com/office/powerpoint/2010/main" val="641753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878E7CB-2002-412D-A90E-C5120D09669F}" type="datetimeFigureOut">
              <a:rPr lang="en-IN" smtClean="0"/>
              <a:t>09-02-2023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1AD92A-FF81-4931-BB62-F4136C51E66C}" type="slidenum">
              <a:rPr lang="en-IN" smtClean="0"/>
              <a:t>‹#›</a:t>
            </a:fld>
            <a:endParaRPr lang="en-IN"/>
          </a:p>
        </p:txBody>
      </p:sp>
    </p:spTree>
    <p:extLst>
      <p:ext uri="{BB962C8B-B14F-4D97-AF65-F5344CB8AC3E}">
        <p14:creationId xmlns:p14="http://schemas.microsoft.com/office/powerpoint/2010/main" val="1926805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878E7CB-2002-412D-A90E-C5120D09669F}" type="datetimeFigureOut">
              <a:rPr lang="en-IN" smtClean="0"/>
              <a:t>09-02-2023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1AD92A-FF81-4931-BB62-F4136C51E66C}" type="slidenum">
              <a:rPr lang="en-IN" smtClean="0"/>
              <a:t>‹#›</a:t>
            </a:fld>
            <a:endParaRPr lang="en-IN"/>
          </a:p>
        </p:txBody>
      </p:sp>
    </p:spTree>
    <p:extLst>
      <p:ext uri="{BB962C8B-B14F-4D97-AF65-F5344CB8AC3E}">
        <p14:creationId xmlns:p14="http://schemas.microsoft.com/office/powerpoint/2010/main" val="4197677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878E7CB-2002-412D-A90E-C5120D09669F}" type="datetimeFigureOut">
              <a:rPr lang="en-IN" smtClean="0"/>
              <a:t>09-02-2023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1AD92A-FF81-4931-BB62-F4136C51E66C}" type="slidenum">
              <a:rPr lang="en-IN" smtClean="0"/>
              <a:t>‹#›</a:t>
            </a:fld>
            <a:endParaRPr lang="en-IN"/>
          </a:p>
        </p:txBody>
      </p:sp>
    </p:spTree>
    <p:extLst>
      <p:ext uri="{BB962C8B-B14F-4D97-AF65-F5344CB8AC3E}">
        <p14:creationId xmlns:p14="http://schemas.microsoft.com/office/powerpoint/2010/main" val="271460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78E7CB-2002-412D-A90E-C5120D09669F}" type="datetimeFigureOut">
              <a:rPr lang="en-IN" smtClean="0"/>
              <a:t>09-02-2023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1AD92A-FF81-4931-BB62-F4136C51E66C}" type="slidenum">
              <a:rPr lang="en-IN" smtClean="0"/>
              <a:t>‹#›</a:t>
            </a:fld>
            <a:endParaRPr lang="en-IN"/>
          </a:p>
        </p:txBody>
      </p:sp>
    </p:spTree>
    <p:extLst>
      <p:ext uri="{BB962C8B-B14F-4D97-AF65-F5344CB8AC3E}">
        <p14:creationId xmlns:p14="http://schemas.microsoft.com/office/powerpoint/2010/main" val="845627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Graph Algorithms</a:t>
            </a:r>
            <a:endParaRPr lang="en-IN" dirty="0"/>
          </a:p>
        </p:txBody>
      </p:sp>
      <p:sp>
        <p:nvSpPr>
          <p:cNvPr id="3" name="Subtitle 2"/>
          <p:cNvSpPr>
            <a:spLocks noGrp="1"/>
          </p:cNvSpPr>
          <p:nvPr>
            <p:ph type="subTitle" idx="1"/>
          </p:nvPr>
        </p:nvSpPr>
        <p:spPr/>
        <p:txBody>
          <a:bodyPr/>
          <a:lstStyle/>
          <a:p>
            <a:r>
              <a:rPr lang="en-US" b="1" dirty="0" smtClean="0">
                <a:solidFill>
                  <a:srgbClr val="FF0000"/>
                </a:solidFill>
              </a:rPr>
              <a:t>Bellman Ford Algorithm</a:t>
            </a:r>
            <a:endParaRPr lang="en-IN" b="1" dirty="0">
              <a:solidFill>
                <a:srgbClr val="FF0000"/>
              </a:solidFill>
            </a:endParaRPr>
          </a:p>
        </p:txBody>
      </p:sp>
    </p:spTree>
    <p:extLst>
      <p:ext uri="{BB962C8B-B14F-4D97-AF65-F5344CB8AC3E}">
        <p14:creationId xmlns:p14="http://schemas.microsoft.com/office/powerpoint/2010/main" val="7533222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85000" lnSpcReduction="10000"/>
          </a:bodyPr>
          <a:lstStyle/>
          <a:p>
            <a:r>
              <a:rPr lang="en-US" dirty="0" smtClean="0"/>
              <a:t>Given a graph and a source vertex </a:t>
            </a:r>
            <a:r>
              <a:rPr lang="en-US" dirty="0" err="1" smtClean="0"/>
              <a:t>src</a:t>
            </a:r>
            <a:r>
              <a:rPr lang="en-US" dirty="0" smtClean="0"/>
              <a:t> in the graph, find the shortest paths from </a:t>
            </a:r>
            <a:r>
              <a:rPr lang="en-US" dirty="0" err="1" smtClean="0"/>
              <a:t>src</a:t>
            </a:r>
            <a:r>
              <a:rPr lang="en-US" dirty="0" smtClean="0"/>
              <a:t> to all vertices in the given graph. The graph may contain negative weight edges. </a:t>
            </a:r>
          </a:p>
          <a:p>
            <a:r>
              <a:rPr lang="en-US" dirty="0" smtClean="0"/>
              <a:t>We have discussed Dijkstra’s algorithm for this problem. </a:t>
            </a:r>
          </a:p>
          <a:p>
            <a:r>
              <a:rPr lang="en-US" dirty="0" smtClean="0"/>
              <a:t>Dijkstra’s algorithm is a Greedy algorithm and the time complexity is O((V+E)</a:t>
            </a:r>
            <a:r>
              <a:rPr lang="en-US" dirty="0" err="1" smtClean="0"/>
              <a:t>LogV</a:t>
            </a:r>
            <a:r>
              <a:rPr lang="en-US" dirty="0" smtClean="0"/>
              <a:t>) (with the use of the Fibonacci heap).</a:t>
            </a:r>
          </a:p>
          <a:p>
            <a:r>
              <a:rPr lang="en-US" dirty="0" smtClean="0"/>
              <a:t> Dijkstra doesn’t work for Graphs with negative weights, Bellman-Ford works for such graphs. </a:t>
            </a:r>
          </a:p>
          <a:p>
            <a:r>
              <a:rPr lang="en-US" dirty="0" smtClean="0"/>
              <a:t>Bellman-Ford is also simpler than Dijkstra and suites well for distributed systems. But time complexity of Bellman-Ford is O(V * E), which is more than Dijkstra. </a:t>
            </a:r>
            <a:endParaRPr lang="en-IN" dirty="0"/>
          </a:p>
        </p:txBody>
      </p:sp>
    </p:spTree>
    <p:extLst>
      <p:ext uri="{BB962C8B-B14F-4D97-AF65-F5344CB8AC3E}">
        <p14:creationId xmlns:p14="http://schemas.microsoft.com/office/powerpoint/2010/main" val="20289049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88640"/>
            <a:ext cx="8568952" cy="830997"/>
          </a:xfrm>
          <a:prstGeom prst="rect">
            <a:avLst/>
          </a:prstGeom>
        </p:spPr>
        <p:txBody>
          <a:bodyPr wrap="square">
            <a:spAutoFit/>
          </a:bodyPr>
          <a:lstStyle/>
          <a:p>
            <a:pPr fontAlgn="base"/>
            <a:r>
              <a:rPr lang="en-US" sz="2400" b="1" dirty="0"/>
              <a:t>Steps for finding the shortest distance to all vertices from the source</a:t>
            </a:r>
            <a:r>
              <a:rPr lang="en-US" sz="2400" b="1" i="1" dirty="0"/>
              <a:t> </a:t>
            </a:r>
            <a:r>
              <a:rPr lang="en-US" sz="2400" b="1" dirty="0"/>
              <a:t>using the Bellman-Ford algorithm:</a:t>
            </a:r>
          </a:p>
        </p:txBody>
      </p:sp>
      <p:sp>
        <p:nvSpPr>
          <p:cNvPr id="3" name="Rectangle 2"/>
          <p:cNvSpPr/>
          <p:nvPr/>
        </p:nvSpPr>
        <p:spPr>
          <a:xfrm>
            <a:off x="323528" y="1019637"/>
            <a:ext cx="8424936" cy="5632311"/>
          </a:xfrm>
          <a:prstGeom prst="rect">
            <a:avLst/>
          </a:prstGeom>
        </p:spPr>
        <p:txBody>
          <a:bodyPr wrap="square">
            <a:spAutoFit/>
          </a:bodyPr>
          <a:lstStyle/>
          <a:p>
            <a:pPr marL="342900" indent="-342900">
              <a:buFont typeface="Arial" panose="020B0604020202020204" pitchFamily="34" charset="0"/>
              <a:buChar char="•"/>
            </a:pPr>
            <a:r>
              <a:rPr lang="en-US" sz="2400" dirty="0" smtClean="0"/>
              <a:t>This step initializes distances from the source to all vertices as infinite and distance to the source itself as 0. </a:t>
            </a:r>
          </a:p>
          <a:p>
            <a:pPr marL="342900" indent="-342900">
              <a:buFont typeface="Arial" panose="020B0604020202020204" pitchFamily="34" charset="0"/>
              <a:buChar char="•"/>
            </a:pPr>
            <a:r>
              <a:rPr lang="en-US" sz="2400" dirty="0" smtClean="0"/>
              <a:t>Create an array </a:t>
            </a:r>
            <a:r>
              <a:rPr lang="en-US" sz="2400" dirty="0" err="1" smtClean="0"/>
              <a:t>dist</a:t>
            </a:r>
            <a:r>
              <a:rPr lang="en-US" sz="2400" dirty="0" smtClean="0"/>
              <a:t>[] of size |V| with all values as infinite except </a:t>
            </a:r>
            <a:r>
              <a:rPr lang="en-US" sz="2400" dirty="0" err="1" smtClean="0"/>
              <a:t>dist</a:t>
            </a:r>
            <a:r>
              <a:rPr lang="en-US" sz="2400" dirty="0" smtClean="0"/>
              <a:t>[</a:t>
            </a:r>
            <a:r>
              <a:rPr lang="en-US" sz="2400" dirty="0" err="1" smtClean="0"/>
              <a:t>src</a:t>
            </a:r>
            <a:r>
              <a:rPr lang="en-US" sz="2400" dirty="0" smtClean="0"/>
              <a:t>] where </a:t>
            </a:r>
            <a:r>
              <a:rPr lang="en-US" sz="2400" dirty="0" err="1" smtClean="0"/>
              <a:t>src</a:t>
            </a:r>
            <a:r>
              <a:rPr lang="en-US" sz="2400" dirty="0" smtClean="0"/>
              <a:t> is source vertex.</a:t>
            </a:r>
          </a:p>
          <a:p>
            <a:pPr marL="342900" indent="-342900">
              <a:buFont typeface="Arial" panose="020B0604020202020204" pitchFamily="34" charset="0"/>
              <a:buChar char="•"/>
            </a:pPr>
            <a:r>
              <a:rPr lang="en-US" sz="2400" dirty="0" smtClean="0"/>
              <a:t>This step calculates shortest distances. Do following |V|-1 times where |V| is the number of vertices in given graph. Do following for each edge u-v </a:t>
            </a:r>
          </a:p>
          <a:p>
            <a:endParaRPr lang="en-US" sz="2400" dirty="0" smtClean="0"/>
          </a:p>
          <a:p>
            <a:r>
              <a:rPr lang="en-US" sz="2400" dirty="0" smtClean="0"/>
              <a:t>	If </a:t>
            </a:r>
            <a:r>
              <a:rPr lang="en-US" sz="2400" dirty="0" err="1" smtClean="0"/>
              <a:t>dist</a:t>
            </a:r>
            <a:r>
              <a:rPr lang="en-US" sz="2400" dirty="0" smtClean="0"/>
              <a:t>[v] &gt; </a:t>
            </a:r>
            <a:r>
              <a:rPr lang="en-US" sz="2400" dirty="0" err="1" smtClean="0"/>
              <a:t>dist</a:t>
            </a:r>
            <a:r>
              <a:rPr lang="en-US" sz="2400" dirty="0" smtClean="0"/>
              <a:t>[u] + weight of edge </a:t>
            </a:r>
            <a:r>
              <a:rPr lang="en-US" sz="2400" dirty="0" err="1" smtClean="0"/>
              <a:t>uv</a:t>
            </a:r>
            <a:r>
              <a:rPr lang="en-US" sz="2400" dirty="0" smtClean="0"/>
              <a:t>, then update </a:t>
            </a:r>
            <a:r>
              <a:rPr lang="en-US" sz="2400" dirty="0" err="1" smtClean="0"/>
              <a:t>dist</a:t>
            </a:r>
            <a:r>
              <a:rPr lang="en-US" sz="2400" dirty="0" smtClean="0"/>
              <a:t>[v] 	to</a:t>
            </a:r>
          </a:p>
          <a:p>
            <a:r>
              <a:rPr lang="en-US" sz="2400" dirty="0" smtClean="0"/>
              <a:t>	</a:t>
            </a:r>
            <a:r>
              <a:rPr lang="en-US" sz="2400" dirty="0" err="1" smtClean="0"/>
              <a:t>dist</a:t>
            </a:r>
            <a:r>
              <a:rPr lang="en-US" sz="2400" dirty="0" smtClean="0"/>
              <a:t>[v] = </a:t>
            </a:r>
            <a:r>
              <a:rPr lang="en-US" sz="2400" dirty="0" err="1" smtClean="0"/>
              <a:t>dist</a:t>
            </a:r>
            <a:r>
              <a:rPr lang="en-US" sz="2400" dirty="0" smtClean="0"/>
              <a:t>[u] + weight of edge </a:t>
            </a:r>
            <a:r>
              <a:rPr lang="en-US" sz="2400" dirty="0" err="1" smtClean="0"/>
              <a:t>uv</a:t>
            </a:r>
            <a:endParaRPr lang="en-US" sz="2400" dirty="0" smtClean="0"/>
          </a:p>
          <a:p>
            <a:endParaRPr lang="en-US" sz="2400" dirty="0"/>
          </a:p>
          <a:p>
            <a:r>
              <a:rPr lang="en-US" sz="2400" dirty="0" smtClean="0"/>
              <a:t>This step reports if there is a negative weight cycle in the graph. </a:t>
            </a:r>
          </a:p>
          <a:p>
            <a:r>
              <a:rPr lang="en-US" sz="2400" dirty="0" smtClean="0"/>
              <a:t>Again traverse every edge and do following for each edge u-v </a:t>
            </a:r>
          </a:p>
          <a:p>
            <a:endParaRPr lang="en-US" sz="2400" dirty="0" smtClean="0"/>
          </a:p>
        </p:txBody>
      </p:sp>
    </p:spTree>
    <p:extLst>
      <p:ext uri="{BB962C8B-B14F-4D97-AF65-F5344CB8AC3E}">
        <p14:creationId xmlns:p14="http://schemas.microsoft.com/office/powerpoint/2010/main" val="2665305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582341"/>
            <a:ext cx="8424936" cy="3416320"/>
          </a:xfrm>
          <a:prstGeom prst="rect">
            <a:avLst/>
          </a:prstGeom>
        </p:spPr>
        <p:txBody>
          <a:bodyPr wrap="square">
            <a:spAutoFit/>
          </a:bodyPr>
          <a:lstStyle/>
          <a:p>
            <a:endParaRPr lang="en-US" sz="2400" dirty="0" smtClean="0"/>
          </a:p>
          <a:p>
            <a:r>
              <a:rPr lang="en-US" sz="2400" dirty="0" smtClean="0"/>
              <a:t>……If </a:t>
            </a:r>
            <a:r>
              <a:rPr lang="en-US" sz="2400" dirty="0" err="1" smtClean="0"/>
              <a:t>dist</a:t>
            </a:r>
            <a:r>
              <a:rPr lang="en-US" sz="2400" dirty="0" smtClean="0"/>
              <a:t>[v] &gt; </a:t>
            </a:r>
            <a:r>
              <a:rPr lang="en-US" sz="2400" dirty="0" err="1" smtClean="0"/>
              <a:t>dist</a:t>
            </a:r>
            <a:r>
              <a:rPr lang="en-US" sz="2400" dirty="0" smtClean="0"/>
              <a:t>[u] + weight of edge </a:t>
            </a:r>
            <a:r>
              <a:rPr lang="en-US" sz="2400" dirty="0" err="1" smtClean="0"/>
              <a:t>uv</a:t>
            </a:r>
            <a:r>
              <a:rPr lang="en-US" sz="2400" dirty="0" smtClean="0"/>
              <a:t>, then “Graph contains negative weight cycle” </a:t>
            </a:r>
          </a:p>
          <a:p>
            <a:endParaRPr lang="en-US" sz="2400" dirty="0" smtClean="0"/>
          </a:p>
          <a:p>
            <a:r>
              <a:rPr lang="en-US" sz="2400" dirty="0" smtClean="0"/>
              <a:t>The idea of step 3 is, step 2 guarantees the shortest distances if the graph doesn’t contain a negative weight cycle.</a:t>
            </a:r>
          </a:p>
          <a:p>
            <a:endParaRPr lang="en-US" sz="2400" dirty="0"/>
          </a:p>
          <a:p>
            <a:r>
              <a:rPr lang="en-US" sz="2400" dirty="0" smtClean="0"/>
              <a:t> If we iterate through all edges one more time and get a shorter path for any vertex, then there is a negative weight cycle.</a:t>
            </a:r>
            <a:endParaRPr lang="en-IN" sz="2400" dirty="0"/>
          </a:p>
        </p:txBody>
      </p:sp>
    </p:spTree>
    <p:extLst>
      <p:ext uri="{BB962C8B-B14F-4D97-AF65-F5344CB8AC3E}">
        <p14:creationId xmlns:p14="http://schemas.microsoft.com/office/powerpoint/2010/main" val="17588985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424936" cy="1569660"/>
          </a:xfrm>
          <a:prstGeom prst="rect">
            <a:avLst/>
          </a:prstGeom>
        </p:spPr>
        <p:txBody>
          <a:bodyPr wrap="square">
            <a:spAutoFit/>
          </a:bodyPr>
          <a:lstStyle/>
          <a:p>
            <a:pPr algn="just"/>
            <a:r>
              <a:rPr lang="en-US" sz="2400" b="1" dirty="0" smtClean="0">
                <a:solidFill>
                  <a:srgbClr val="FF0000"/>
                </a:solidFill>
              </a:rPr>
              <a:t>Why do we need to be careful with negative weights?</a:t>
            </a:r>
          </a:p>
          <a:p>
            <a:pPr algn="just"/>
            <a:r>
              <a:rPr lang="en-US" sz="2400" dirty="0" smtClean="0"/>
              <a:t>Negative weight edges can create negative weight cycles i.e. a cycle that will reduce the total path distance by coming back to the same point.</a:t>
            </a:r>
            <a:endParaRPr lang="en-IN" sz="2400" dirty="0"/>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8338" y="1957388"/>
            <a:ext cx="5267325" cy="2943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683568" y="5157192"/>
            <a:ext cx="7920880" cy="830997"/>
          </a:xfrm>
          <a:prstGeom prst="rect">
            <a:avLst/>
          </a:prstGeom>
        </p:spPr>
        <p:txBody>
          <a:bodyPr wrap="square">
            <a:spAutoFit/>
          </a:bodyPr>
          <a:lstStyle/>
          <a:p>
            <a:pPr algn="just"/>
            <a:r>
              <a:rPr lang="en-US" sz="2400" dirty="0" smtClean="0"/>
              <a:t>Negative weight cycles can give an incorrect result when trying to find out the shortest path</a:t>
            </a:r>
            <a:endParaRPr lang="en-IN" sz="2400" dirty="0"/>
          </a:p>
        </p:txBody>
      </p:sp>
    </p:spTree>
    <p:extLst>
      <p:ext uri="{BB962C8B-B14F-4D97-AF65-F5344CB8AC3E}">
        <p14:creationId xmlns:p14="http://schemas.microsoft.com/office/powerpoint/2010/main" val="17581937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908720"/>
            <a:ext cx="5544616" cy="5355312"/>
          </a:xfrm>
          <a:prstGeom prst="rect">
            <a:avLst/>
          </a:prstGeom>
        </p:spPr>
        <p:txBody>
          <a:bodyPr wrap="square">
            <a:spAutoFit/>
          </a:bodyPr>
          <a:lstStyle/>
          <a:p>
            <a:r>
              <a:rPr lang="en-IN" dirty="0" smtClean="0"/>
              <a:t>function </a:t>
            </a:r>
            <a:r>
              <a:rPr lang="en-IN" dirty="0" err="1" smtClean="0"/>
              <a:t>bellmanFord</a:t>
            </a:r>
            <a:r>
              <a:rPr lang="en-IN" dirty="0" smtClean="0"/>
              <a:t>(G, S)</a:t>
            </a:r>
          </a:p>
          <a:p>
            <a:r>
              <a:rPr lang="en-IN" dirty="0" smtClean="0"/>
              <a:t>  for each vertex V in G</a:t>
            </a:r>
          </a:p>
          <a:p>
            <a:r>
              <a:rPr lang="en-IN" dirty="0" smtClean="0"/>
              <a:t>    distance[V] &lt;- infinite</a:t>
            </a:r>
          </a:p>
          <a:p>
            <a:r>
              <a:rPr lang="en-IN" dirty="0" smtClean="0"/>
              <a:t>      previous[V] &lt;- NULL</a:t>
            </a:r>
          </a:p>
          <a:p>
            <a:r>
              <a:rPr lang="en-IN" dirty="0" smtClean="0"/>
              <a:t>  distance[S] &lt;- 0</a:t>
            </a:r>
          </a:p>
          <a:p>
            <a:endParaRPr lang="en-IN" dirty="0" smtClean="0"/>
          </a:p>
          <a:p>
            <a:r>
              <a:rPr lang="en-IN" dirty="0" smtClean="0"/>
              <a:t>  for each vertex V in G				</a:t>
            </a:r>
          </a:p>
          <a:p>
            <a:r>
              <a:rPr lang="en-IN" dirty="0" smtClean="0"/>
              <a:t>    for each edge (U,V) in G</a:t>
            </a:r>
          </a:p>
          <a:p>
            <a:r>
              <a:rPr lang="en-IN" dirty="0" smtClean="0"/>
              <a:t>      </a:t>
            </a:r>
            <a:r>
              <a:rPr lang="en-IN" dirty="0" err="1" smtClean="0"/>
              <a:t>tempDistance</a:t>
            </a:r>
            <a:r>
              <a:rPr lang="en-IN" dirty="0" smtClean="0"/>
              <a:t> &lt;- distance[U] + </a:t>
            </a:r>
            <a:r>
              <a:rPr lang="en-IN" dirty="0" err="1" smtClean="0"/>
              <a:t>edge_weight</a:t>
            </a:r>
            <a:r>
              <a:rPr lang="en-IN" dirty="0" smtClean="0"/>
              <a:t>(U, V)</a:t>
            </a:r>
          </a:p>
          <a:p>
            <a:r>
              <a:rPr lang="en-IN" dirty="0" smtClean="0"/>
              <a:t>      if </a:t>
            </a:r>
            <a:r>
              <a:rPr lang="en-IN" dirty="0" err="1" smtClean="0"/>
              <a:t>tempDistance</a:t>
            </a:r>
            <a:r>
              <a:rPr lang="en-IN" dirty="0" smtClean="0"/>
              <a:t> &lt; distance[V]</a:t>
            </a:r>
          </a:p>
          <a:p>
            <a:r>
              <a:rPr lang="en-IN" dirty="0" smtClean="0"/>
              <a:t>        distance[V] &lt;- </a:t>
            </a:r>
            <a:r>
              <a:rPr lang="en-IN" dirty="0" err="1" smtClean="0"/>
              <a:t>tempDistance</a:t>
            </a:r>
            <a:endParaRPr lang="en-IN" dirty="0" smtClean="0"/>
          </a:p>
          <a:p>
            <a:r>
              <a:rPr lang="en-IN" dirty="0" smtClean="0"/>
              <a:t>        previous[V] &lt;- U</a:t>
            </a:r>
          </a:p>
          <a:p>
            <a:endParaRPr lang="en-IN" dirty="0" smtClean="0"/>
          </a:p>
          <a:p>
            <a:r>
              <a:rPr lang="en-IN" dirty="0" smtClean="0"/>
              <a:t>  for each edge (U,V) in G</a:t>
            </a:r>
          </a:p>
          <a:p>
            <a:r>
              <a:rPr lang="en-IN" dirty="0" smtClean="0"/>
              <a:t>    If distance[U] + </a:t>
            </a:r>
            <a:r>
              <a:rPr lang="en-IN" dirty="0" err="1" smtClean="0"/>
              <a:t>edge_weight</a:t>
            </a:r>
            <a:r>
              <a:rPr lang="en-IN" dirty="0" smtClean="0"/>
              <a:t>(U, V) &lt; distance[V}</a:t>
            </a:r>
          </a:p>
          <a:p>
            <a:r>
              <a:rPr lang="en-IN" dirty="0" smtClean="0"/>
              <a:t>      Error: Negative Cycle Exists</a:t>
            </a:r>
          </a:p>
          <a:p>
            <a:endParaRPr lang="en-IN" dirty="0" smtClean="0"/>
          </a:p>
          <a:p>
            <a:r>
              <a:rPr lang="en-IN" dirty="0" smtClean="0"/>
              <a:t>  return distance[], previous[]</a:t>
            </a:r>
            <a:endParaRPr lang="en-IN" dirty="0"/>
          </a:p>
        </p:txBody>
      </p:sp>
      <p:sp>
        <p:nvSpPr>
          <p:cNvPr id="3" name="Rectangle 2"/>
          <p:cNvSpPr/>
          <p:nvPr/>
        </p:nvSpPr>
        <p:spPr>
          <a:xfrm>
            <a:off x="3131840" y="360033"/>
            <a:ext cx="2656818" cy="369332"/>
          </a:xfrm>
          <a:prstGeom prst="rect">
            <a:avLst/>
          </a:prstGeom>
        </p:spPr>
        <p:txBody>
          <a:bodyPr wrap="none">
            <a:spAutoFit/>
          </a:bodyPr>
          <a:lstStyle/>
          <a:p>
            <a:r>
              <a:rPr lang="en-IN" b="1" dirty="0"/>
              <a:t>Bellman Ford Pseudocode</a:t>
            </a:r>
          </a:p>
        </p:txBody>
      </p:sp>
    </p:spTree>
    <p:extLst>
      <p:ext uri="{BB962C8B-B14F-4D97-AF65-F5344CB8AC3E}">
        <p14:creationId xmlns:p14="http://schemas.microsoft.com/office/powerpoint/2010/main" val="16416753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620688"/>
            <a:ext cx="6480720" cy="58386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483175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88640"/>
            <a:ext cx="3573029" cy="369332"/>
          </a:xfrm>
          <a:prstGeom prst="rect">
            <a:avLst/>
          </a:prstGeom>
        </p:spPr>
        <p:txBody>
          <a:bodyPr wrap="none">
            <a:spAutoFit/>
          </a:bodyPr>
          <a:lstStyle/>
          <a:p>
            <a:pPr fontAlgn="base"/>
            <a:r>
              <a:rPr lang="en-US" b="1" dirty="0"/>
              <a:t> illustration of the above algorithm:</a:t>
            </a:r>
          </a:p>
        </p:txBody>
      </p:sp>
      <p:sp>
        <p:nvSpPr>
          <p:cNvPr id="3" name="Rectangle 2"/>
          <p:cNvSpPr/>
          <p:nvPr/>
        </p:nvSpPr>
        <p:spPr>
          <a:xfrm>
            <a:off x="611560" y="583523"/>
            <a:ext cx="8208912" cy="1754326"/>
          </a:xfrm>
          <a:prstGeom prst="rect">
            <a:avLst/>
          </a:prstGeom>
        </p:spPr>
        <p:txBody>
          <a:bodyPr wrap="square">
            <a:spAutoFit/>
          </a:bodyPr>
          <a:lstStyle/>
          <a:p>
            <a:r>
              <a:rPr lang="en-US" sz="2400" dirty="0" smtClean="0">
                <a:solidFill>
                  <a:srgbClr val="FF0000"/>
                </a:solidFill>
              </a:rPr>
              <a:t>Step 1:</a:t>
            </a:r>
            <a:r>
              <a:rPr lang="en-US" sz="2400" dirty="0" smtClean="0"/>
              <a:t> Let the given source vertex be 0. Initialize all distances as infinite, except the distance to the source itself. Total number of vertices in the graph is 5, so all edges must be processed 4 times.</a:t>
            </a:r>
          </a:p>
          <a:p>
            <a:endParaRPr lang="en-US" dirty="0"/>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988840"/>
            <a:ext cx="7704856" cy="45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43258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16632"/>
            <a:ext cx="8856984" cy="2677656"/>
          </a:xfrm>
          <a:prstGeom prst="rect">
            <a:avLst/>
          </a:prstGeom>
        </p:spPr>
        <p:txBody>
          <a:bodyPr wrap="square">
            <a:spAutoFit/>
          </a:bodyPr>
          <a:lstStyle/>
          <a:p>
            <a:pPr algn="just"/>
            <a:r>
              <a:rPr lang="en-US" sz="2400" b="1" dirty="0">
                <a:solidFill>
                  <a:srgbClr val="FF0000"/>
                </a:solidFill>
              </a:rPr>
              <a:t>Step 2:</a:t>
            </a:r>
            <a:r>
              <a:rPr lang="en-US" sz="2400" dirty="0"/>
              <a:t> Let all edges are processed in the following order: (B, E), (D, B), (B, D), (A, B), (A, C), (D, C), (B, C), (E, D). We get the following distances when all edges are processed the first time. The first row shows initial distances. The second row shows distances when edges (B, E), (D, B), (B, D) and (A, B) are processed. The third row shows distances when (A, C) is processed. The fourth row shows when (D, C), (B, C) and (E, D) are processed. </a:t>
            </a:r>
            <a:endParaRPr lang="en-IN"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420888"/>
            <a:ext cx="6768752"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78336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88640"/>
            <a:ext cx="8712968" cy="1200329"/>
          </a:xfrm>
          <a:prstGeom prst="rect">
            <a:avLst/>
          </a:prstGeom>
        </p:spPr>
        <p:txBody>
          <a:bodyPr wrap="square">
            <a:spAutoFit/>
          </a:bodyPr>
          <a:lstStyle/>
          <a:p>
            <a:pPr algn="just"/>
            <a:r>
              <a:rPr lang="en-US" sz="2400" b="1" i="1" dirty="0">
                <a:solidFill>
                  <a:srgbClr val="FF0000"/>
                </a:solidFill>
              </a:rPr>
              <a:t>Step 3: </a:t>
            </a:r>
            <a:r>
              <a:rPr lang="en-US" sz="2400" i="1" dirty="0"/>
              <a:t>The first iteration guarantees to give all shortest paths which are at most 1 edge long. We get the following distances when all edges are processed second time (The last row shows final values). </a:t>
            </a:r>
            <a:endParaRPr lang="en-IN"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258" y="1556792"/>
            <a:ext cx="8496944" cy="4920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08009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88640"/>
            <a:ext cx="8424936" cy="1569660"/>
          </a:xfrm>
          <a:prstGeom prst="rect">
            <a:avLst/>
          </a:prstGeom>
        </p:spPr>
        <p:txBody>
          <a:bodyPr wrap="square">
            <a:spAutoFit/>
          </a:bodyPr>
          <a:lstStyle/>
          <a:p>
            <a:pPr algn="just"/>
            <a:r>
              <a:rPr lang="en-US" sz="2400" b="1" i="1" dirty="0" smtClean="0"/>
              <a:t>Step </a:t>
            </a:r>
            <a:r>
              <a:rPr lang="en-US" sz="2400" b="1" i="1" dirty="0"/>
              <a:t>4: </a:t>
            </a:r>
            <a:r>
              <a:rPr lang="en-US" sz="2400" i="1" dirty="0"/>
              <a:t>The second iteration guarantees to give all shortest paths which are at most 2 edges long. The algorithm processes all edges 2 more times. The distances are minimized after the second iteration, so third and fourth iterations don’t update the distances.</a:t>
            </a:r>
            <a:endParaRPr lang="en-IN" sz="2400" dirty="0"/>
          </a:p>
        </p:txBody>
      </p:sp>
    </p:spTree>
    <p:extLst>
      <p:ext uri="{BB962C8B-B14F-4D97-AF65-F5344CB8AC3E}">
        <p14:creationId xmlns:p14="http://schemas.microsoft.com/office/powerpoint/2010/main" val="34196494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247581"/>
            <a:ext cx="8640960" cy="2677656"/>
          </a:xfrm>
          <a:prstGeom prst="rect">
            <a:avLst/>
          </a:prstGeom>
        </p:spPr>
        <p:txBody>
          <a:bodyPr wrap="square">
            <a:spAutoFit/>
          </a:bodyPr>
          <a:lstStyle/>
          <a:p>
            <a:pPr algn="just"/>
            <a:r>
              <a:rPr lang="en-US" sz="2400" dirty="0" smtClean="0">
                <a:solidFill>
                  <a:srgbClr val="FF0000"/>
                </a:solidFill>
              </a:rPr>
              <a:t>Bellman Ford algorithm works by overestimating the length of the path from the starting vertex to all other vertices. Then it iteratively relaxes those estimates by finding new paths that are shorter than the previously overestimated paths.</a:t>
            </a:r>
          </a:p>
          <a:p>
            <a:endParaRPr lang="en-US" sz="2400" dirty="0"/>
          </a:p>
          <a:p>
            <a:r>
              <a:rPr lang="en-US" sz="2400" dirty="0"/>
              <a:t>By doing this repeatedly for all vertices, we can guarantee that the result is optimized.</a:t>
            </a:r>
            <a:endParaRPr lang="en-IN" sz="2400" dirty="0"/>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950827"/>
            <a:ext cx="4512997" cy="37185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61343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712228"/>
            <a:ext cx="8034035" cy="5112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98322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620688"/>
            <a:ext cx="8288719" cy="5256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31632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332656"/>
            <a:ext cx="8251574" cy="58326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64400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113" y="671513"/>
            <a:ext cx="8105775" cy="5514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73434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575" y="828675"/>
            <a:ext cx="6800850" cy="5200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41256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477</Words>
  <Application>Microsoft Office PowerPoint</Application>
  <PresentationFormat>On-screen Show (4:3)</PresentationFormat>
  <Paragraphs>53</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Graph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Algorithms</dc:title>
  <dc:creator>HP</dc:creator>
  <cp:lastModifiedBy>HP</cp:lastModifiedBy>
  <cp:revision>10</cp:revision>
  <dcterms:created xsi:type="dcterms:W3CDTF">2023-02-08T16:14:44Z</dcterms:created>
  <dcterms:modified xsi:type="dcterms:W3CDTF">2023-02-09T10:19:25Z</dcterms:modified>
</cp:coreProperties>
</file>