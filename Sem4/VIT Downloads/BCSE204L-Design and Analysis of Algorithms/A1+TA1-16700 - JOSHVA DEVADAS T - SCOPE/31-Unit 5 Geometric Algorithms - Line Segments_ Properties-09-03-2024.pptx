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57" r:id="rId10"/>
    <p:sldId id="290" r:id="rId11"/>
    <p:sldId id="291" r:id="rId12"/>
    <p:sldId id="259" r:id="rId13"/>
    <p:sldId id="260" r:id="rId14"/>
    <p:sldId id="263" r:id="rId15"/>
    <p:sldId id="292" r:id="rId16"/>
    <p:sldId id="265" r:id="rId17"/>
    <p:sldId id="293" r:id="rId18"/>
    <p:sldId id="294" r:id="rId19"/>
    <p:sldId id="295" r:id="rId20"/>
    <p:sldId id="296" r:id="rId21"/>
    <p:sldId id="301" r:id="rId22"/>
    <p:sldId id="297" r:id="rId23"/>
    <p:sldId id="298" r:id="rId24"/>
    <p:sldId id="29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18BB9-2CE3-4A93-8484-BD94DDE0399F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62EA5-8125-49ED-A090-9C6CBD280D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959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18BB9-2CE3-4A93-8484-BD94DDE0399F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62EA5-8125-49ED-A090-9C6CBD280D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282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18BB9-2CE3-4A93-8484-BD94DDE0399F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62EA5-8125-49ED-A090-9C6CBD280D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965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18BB9-2CE3-4A93-8484-BD94DDE0399F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62EA5-8125-49ED-A090-9C6CBD280D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993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18BB9-2CE3-4A93-8484-BD94DDE0399F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62EA5-8125-49ED-A090-9C6CBD280D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158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18BB9-2CE3-4A93-8484-BD94DDE0399F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62EA5-8125-49ED-A090-9C6CBD280D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394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18BB9-2CE3-4A93-8484-BD94DDE0399F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62EA5-8125-49ED-A090-9C6CBD280D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644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18BB9-2CE3-4A93-8484-BD94DDE0399F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62EA5-8125-49ED-A090-9C6CBD280D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358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18BB9-2CE3-4A93-8484-BD94DDE0399F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62EA5-8125-49ED-A090-9C6CBD280D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184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18BB9-2CE3-4A93-8484-BD94DDE0399F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62EA5-8125-49ED-A090-9C6CBD280D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007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18BB9-2CE3-4A93-8484-BD94DDE0399F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62EA5-8125-49ED-A090-9C6CBD280D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532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18BB9-2CE3-4A93-8484-BD94DDE0399F}" type="datetimeFigureOut">
              <a:rPr lang="en-IN" smtClean="0"/>
              <a:t>10-03-2024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62EA5-8125-49ED-A090-9C6CBD280D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571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Geometric Algorithms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Line Segment Properties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76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Geometric Algorithms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Line Segments – properties, intersection, Sweeping Lines, Convex Hull finding algorithms- Graham’s Scan, Jarvis’s March Algorithm.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25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803269"/>
            <a:ext cx="8641206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937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508" y="188640"/>
            <a:ext cx="7992888" cy="6454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1335">
              <a:spcBef>
                <a:spcPts val="830"/>
              </a:spcBef>
              <a:spcAft>
                <a:spcPts val="0"/>
              </a:spcAft>
            </a:pPr>
            <a:r>
              <a:rPr lang="en-US" sz="2800" b="1" dirty="0">
                <a:latin typeface="Cambria"/>
                <a:ea typeface="Cambria"/>
                <a:cs typeface="Cambria"/>
              </a:rPr>
              <a:t>Applications</a:t>
            </a:r>
            <a:endParaRPr lang="en-IN" sz="2800" b="1" dirty="0">
              <a:latin typeface="Cambria"/>
              <a:ea typeface="Cambria"/>
              <a:cs typeface="Cambria"/>
            </a:endParaRPr>
          </a:p>
          <a:p>
            <a:pPr marL="342900" marR="603250" lvl="0" indent="-342900">
              <a:lnSpc>
                <a:spcPct val="102000"/>
              </a:lnSpc>
              <a:spcBef>
                <a:spcPts val="1225"/>
              </a:spcBef>
              <a:spcAft>
                <a:spcPts val="0"/>
              </a:spcAft>
              <a:buFont typeface="Wingdings"/>
              <a:buChar char=""/>
              <a:tabLst>
                <a:tab pos="520700" algn="l"/>
                <a:tab pos="521335" algn="l"/>
              </a:tabLst>
            </a:pP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Convex</a:t>
            </a:r>
            <a:r>
              <a:rPr lang="en-US" b="1" spc="-30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hull:</a:t>
            </a:r>
            <a:r>
              <a:rPr lang="en-US" b="1" spc="-25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Given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a</a:t>
            </a:r>
            <a:r>
              <a:rPr lang="en-US" spc="-3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set</a:t>
            </a:r>
            <a:r>
              <a:rPr lang="en-US" spc="-1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of points,</a:t>
            </a:r>
            <a:r>
              <a:rPr lang="en-US" spc="-1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find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the</a:t>
            </a:r>
            <a:r>
              <a:rPr lang="en-US" spc="-3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smallest</a:t>
            </a:r>
            <a:r>
              <a:rPr lang="en-US" spc="-1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convex</a:t>
            </a:r>
            <a:r>
              <a:rPr lang="en-US" spc="-1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polyhedron/polygon</a:t>
            </a:r>
            <a:r>
              <a:rPr lang="en-US" spc="-28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containing all the</a:t>
            </a:r>
            <a:r>
              <a:rPr lang="en-US" spc="-2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points.</a:t>
            </a:r>
            <a:endParaRPr lang="en-IN" sz="2000" dirty="0">
              <a:latin typeface="Cambria"/>
              <a:ea typeface="Cambria"/>
              <a:cs typeface="Cambria"/>
            </a:endParaRPr>
          </a:p>
          <a:p>
            <a:pPr marL="342900" lvl="0" indent="-342900">
              <a:spcBef>
                <a:spcPts val="550"/>
              </a:spcBef>
              <a:spcAft>
                <a:spcPts val="0"/>
              </a:spcAft>
              <a:buFont typeface="Wingdings"/>
              <a:buChar char=""/>
              <a:tabLst>
                <a:tab pos="520700" algn="l"/>
                <a:tab pos="521335" algn="l"/>
              </a:tabLst>
            </a:pP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Line</a:t>
            </a:r>
            <a:r>
              <a:rPr lang="en-US" b="1" spc="-20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segment intersection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:</a:t>
            </a:r>
            <a:r>
              <a:rPr lang="en-US" spc="-1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Find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the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intersections</a:t>
            </a:r>
            <a:r>
              <a:rPr lang="en-US" spc="-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between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a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given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set</a:t>
            </a:r>
            <a:r>
              <a:rPr lang="en-US" spc="-1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of</a:t>
            </a:r>
            <a:r>
              <a:rPr lang="en-US" spc="1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line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segments.</a:t>
            </a:r>
            <a:endParaRPr lang="en-IN" sz="2000" dirty="0">
              <a:latin typeface="Cambria"/>
              <a:ea typeface="Cambria"/>
              <a:cs typeface="Cambria"/>
            </a:endParaRPr>
          </a:p>
          <a:p>
            <a:pPr marL="342900" marR="305435" lvl="0" indent="-342900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Font typeface="Wingdings"/>
              <a:buChar char=""/>
              <a:tabLst>
                <a:tab pos="520700" algn="l"/>
                <a:tab pos="521335" algn="l"/>
              </a:tabLst>
            </a:pPr>
            <a:r>
              <a:rPr lang="en-US" b="1" dirty="0" err="1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Voronoi</a:t>
            </a:r>
            <a:r>
              <a:rPr lang="en-US" b="1" spc="-15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diagram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:</a:t>
            </a:r>
            <a:r>
              <a:rPr lang="en-US" spc="-1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Given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a</a:t>
            </a:r>
            <a:r>
              <a:rPr lang="en-US" spc="-2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set</a:t>
            </a:r>
            <a:r>
              <a:rPr lang="en-US" spc="-1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of</a:t>
            </a:r>
            <a:r>
              <a:rPr lang="en-US" spc="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points,</a:t>
            </a:r>
            <a:r>
              <a:rPr lang="en-US" spc="-1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partition</a:t>
            </a:r>
            <a:r>
              <a:rPr lang="en-US" spc="-2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the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space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according</a:t>
            </a:r>
            <a:r>
              <a:rPr lang="en-US" spc="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to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which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points</a:t>
            </a:r>
            <a:r>
              <a:rPr lang="en-US" spc="-27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are</a:t>
            </a:r>
            <a:r>
              <a:rPr lang="en-US" spc="-2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closest</a:t>
            </a:r>
            <a:r>
              <a:rPr lang="en-US" spc="-1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to</a:t>
            </a:r>
            <a:r>
              <a:rPr lang="en-US" spc="-2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the</a:t>
            </a:r>
            <a:r>
              <a:rPr lang="en-US" spc="-2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given</a:t>
            </a:r>
            <a:r>
              <a:rPr lang="en-US" spc="-2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points.</a:t>
            </a:r>
            <a:endParaRPr lang="en-IN" sz="2000" dirty="0">
              <a:latin typeface="Cambria"/>
              <a:ea typeface="Cambria"/>
              <a:cs typeface="Cambria"/>
            </a:endParaRPr>
          </a:p>
          <a:p>
            <a:pPr marL="342900" lvl="0" indent="-342900">
              <a:spcBef>
                <a:spcPts val="580"/>
              </a:spcBef>
              <a:spcAft>
                <a:spcPts val="0"/>
              </a:spcAft>
              <a:buFont typeface="Wingdings"/>
              <a:buChar char=""/>
              <a:tabLst>
                <a:tab pos="520700" algn="l"/>
                <a:tab pos="521335" algn="l"/>
              </a:tabLst>
            </a:pP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Linear</a:t>
            </a:r>
            <a:r>
              <a:rPr lang="en-US" b="1" spc="-15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programming</a:t>
            </a:r>
            <a:endParaRPr lang="en-IN" sz="2000" dirty="0">
              <a:latin typeface="Cambria"/>
              <a:ea typeface="Cambria"/>
              <a:cs typeface="Cambria"/>
            </a:endParaRPr>
          </a:p>
          <a:p>
            <a:pPr marL="342900" marR="380365" lvl="0" indent="-342900">
              <a:lnSpc>
                <a:spcPct val="102000"/>
              </a:lnSpc>
              <a:spcBef>
                <a:spcPts val="610"/>
              </a:spcBef>
              <a:spcAft>
                <a:spcPts val="0"/>
              </a:spcAft>
              <a:buFont typeface="Wingdings"/>
              <a:buChar char=""/>
              <a:tabLst>
                <a:tab pos="520700" algn="l"/>
                <a:tab pos="521335" algn="l"/>
              </a:tabLst>
            </a:pP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Closest</a:t>
            </a:r>
            <a:r>
              <a:rPr lang="en-US" b="1" spc="-5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pair</a:t>
            </a:r>
            <a:r>
              <a:rPr lang="en-US" b="1" spc="-10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of</a:t>
            </a:r>
            <a:r>
              <a:rPr lang="en-US" b="1" spc="5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points:</a:t>
            </a:r>
            <a:r>
              <a:rPr lang="en-US" b="1" spc="-20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Given</a:t>
            </a:r>
            <a:r>
              <a:rPr lang="en-US" spc="-2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a</a:t>
            </a:r>
            <a:r>
              <a:rPr lang="en-US" spc="-2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set</a:t>
            </a:r>
            <a:r>
              <a:rPr lang="en-US" spc="-1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of</a:t>
            </a:r>
            <a:r>
              <a:rPr lang="en-US" spc="1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points,</a:t>
            </a:r>
            <a:r>
              <a:rPr lang="en-US" spc="-1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find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the</a:t>
            </a:r>
            <a:r>
              <a:rPr lang="en-US" spc="-2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two</a:t>
            </a:r>
            <a:r>
              <a:rPr lang="en-US" spc="-4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with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the</a:t>
            </a:r>
            <a:r>
              <a:rPr lang="en-US" spc="-2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smallest</a:t>
            </a:r>
            <a:r>
              <a:rPr lang="en-US" spc="-1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distance</a:t>
            </a:r>
            <a:r>
              <a:rPr lang="en-US" spc="-28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from</a:t>
            </a:r>
            <a:r>
              <a:rPr lang="en-US" spc="2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each</a:t>
            </a:r>
            <a:r>
              <a:rPr lang="en-US" spc="-2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other.</a:t>
            </a:r>
            <a:endParaRPr lang="en-IN" sz="2000" dirty="0">
              <a:latin typeface="Cambria"/>
              <a:ea typeface="Cambria"/>
              <a:cs typeface="Cambria"/>
            </a:endParaRPr>
          </a:p>
          <a:p>
            <a:pPr marL="342900" lvl="0" indent="-342900">
              <a:spcBef>
                <a:spcPts val="555"/>
              </a:spcBef>
              <a:spcAft>
                <a:spcPts val="0"/>
              </a:spcAft>
              <a:buFont typeface="Wingdings"/>
              <a:buChar char=""/>
              <a:tabLst>
                <a:tab pos="520700" algn="l"/>
                <a:tab pos="521335" algn="l"/>
              </a:tabLst>
            </a:pP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Farthest</a:t>
            </a:r>
            <a:r>
              <a:rPr lang="en-US" b="1" spc="-10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pair</a:t>
            </a:r>
            <a:r>
              <a:rPr lang="en-US" b="1" spc="-15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of points</a:t>
            </a:r>
            <a:endParaRPr lang="en-IN" sz="2000" dirty="0">
              <a:latin typeface="Cambria"/>
              <a:ea typeface="Cambria"/>
              <a:cs typeface="Cambria"/>
            </a:endParaRPr>
          </a:p>
          <a:p>
            <a:pPr marL="342900" marR="192405" lvl="0" indent="-342900">
              <a:spcBef>
                <a:spcPts val="610"/>
              </a:spcBef>
              <a:spcAft>
                <a:spcPts val="0"/>
              </a:spcAft>
              <a:buFont typeface="Wingdings"/>
              <a:buChar char=""/>
              <a:tabLst>
                <a:tab pos="520700" algn="l"/>
                <a:tab pos="521335" algn="l"/>
              </a:tabLst>
            </a:pP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Largest</a:t>
            </a:r>
            <a:r>
              <a:rPr lang="en-US" b="1" spc="-10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empty</a:t>
            </a:r>
            <a:r>
              <a:rPr lang="en-US" b="1" spc="-25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circle:</a:t>
            </a:r>
            <a:r>
              <a:rPr lang="en-US" b="1" spc="-25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Given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a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set of</a:t>
            </a:r>
            <a:r>
              <a:rPr lang="en-US" spc="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points,</a:t>
            </a:r>
            <a:r>
              <a:rPr lang="en-US" spc="-1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find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a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largest</a:t>
            </a:r>
            <a:r>
              <a:rPr lang="en-US" spc="-2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circle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with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its</a:t>
            </a:r>
            <a:r>
              <a:rPr lang="en-US" spc="-1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center</a:t>
            </a:r>
            <a:r>
              <a:rPr lang="en-US" spc="-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inside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of</a:t>
            </a:r>
            <a:r>
              <a:rPr lang="en-US" spc="-28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their</a:t>
            </a:r>
            <a:r>
              <a:rPr lang="en-US" spc="-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convex</a:t>
            </a:r>
            <a:r>
              <a:rPr lang="en-US" spc="-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hull and enclosing</a:t>
            </a:r>
            <a:r>
              <a:rPr lang="en-US" spc="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none</a:t>
            </a:r>
            <a:r>
              <a:rPr lang="en-US" spc="-2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of</a:t>
            </a:r>
            <a:r>
              <a:rPr lang="en-US" spc="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them.</a:t>
            </a:r>
            <a:endParaRPr lang="en-IN" sz="2000" dirty="0">
              <a:latin typeface="Cambria"/>
              <a:ea typeface="Cambria"/>
              <a:cs typeface="Cambria"/>
            </a:endParaRPr>
          </a:p>
          <a:p>
            <a:pPr marL="342900" marR="388620" lvl="0" indent="-342900">
              <a:spcBef>
                <a:spcPts val="600"/>
              </a:spcBef>
              <a:spcAft>
                <a:spcPts val="0"/>
              </a:spcAft>
              <a:buFont typeface="Wingdings"/>
              <a:buChar char=""/>
              <a:tabLst>
                <a:tab pos="520700" algn="l"/>
                <a:tab pos="521335" algn="l"/>
              </a:tabLst>
            </a:pP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Euclidean</a:t>
            </a:r>
            <a:r>
              <a:rPr lang="en-US" b="1" spc="-10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shortest</a:t>
            </a:r>
            <a:r>
              <a:rPr lang="en-US" b="1" spc="-10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path:</a:t>
            </a:r>
            <a:r>
              <a:rPr lang="en-US" b="1" spc="-25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Connect two</a:t>
            </a:r>
            <a:r>
              <a:rPr lang="en-US" spc="-3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points</a:t>
            </a:r>
            <a:r>
              <a:rPr lang="en-US" spc="-1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in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a</a:t>
            </a:r>
            <a:r>
              <a:rPr lang="en-US" spc="-3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Euclidean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space</a:t>
            </a:r>
            <a:r>
              <a:rPr lang="en-US" spc="-3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(with</a:t>
            </a:r>
            <a:r>
              <a:rPr lang="en-US" spc="-2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polyhedral</a:t>
            </a:r>
            <a:r>
              <a:rPr lang="en-US" spc="-28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obstacles)</a:t>
            </a:r>
            <a:r>
              <a:rPr lang="en-US" spc="-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by</a:t>
            </a:r>
            <a:r>
              <a:rPr lang="en-US" spc="-3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a</a:t>
            </a:r>
            <a:r>
              <a:rPr lang="en-US" spc="-2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shortest</a:t>
            </a:r>
            <a:r>
              <a:rPr lang="en-US" spc="-1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path.</a:t>
            </a:r>
            <a:endParaRPr lang="en-IN" sz="2000" dirty="0">
              <a:latin typeface="Cambria"/>
              <a:ea typeface="Cambria"/>
              <a:cs typeface="Cambria"/>
            </a:endParaRPr>
          </a:p>
          <a:p>
            <a:pPr marL="342900" lvl="0" indent="-342900">
              <a:spcBef>
                <a:spcPts val="630"/>
              </a:spcBef>
              <a:spcAft>
                <a:spcPts val="0"/>
              </a:spcAft>
              <a:buFont typeface="Wingdings"/>
              <a:buChar char=""/>
              <a:tabLst>
                <a:tab pos="520700" algn="l"/>
                <a:tab pos="521335" algn="l"/>
              </a:tabLst>
            </a:pP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Polygon</a:t>
            </a:r>
            <a:r>
              <a:rPr lang="en-US" b="1" spc="-10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triangulation:</a:t>
            </a:r>
            <a:r>
              <a:rPr lang="en-US" b="1" spc="-30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Given</a:t>
            </a:r>
            <a:r>
              <a:rPr lang="en-US" spc="-3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a</a:t>
            </a:r>
            <a:r>
              <a:rPr lang="en-US" spc="-3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polygon,</a:t>
            </a:r>
            <a:r>
              <a:rPr lang="en-US" spc="-2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partition</a:t>
            </a:r>
            <a:r>
              <a:rPr lang="en-US" spc="-3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its</a:t>
            </a:r>
            <a:r>
              <a:rPr lang="en-US" spc="-15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interior</a:t>
            </a:r>
            <a:r>
              <a:rPr lang="en-US" spc="-1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into</a:t>
            </a:r>
            <a:r>
              <a:rPr lang="en-US" spc="-30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Arial MT"/>
                <a:ea typeface="Cambria"/>
                <a:cs typeface="Cambria"/>
              </a:rPr>
              <a:t>triangles</a:t>
            </a:r>
            <a:endParaRPr lang="en-IN" sz="2000" dirty="0">
              <a:latin typeface="Cambria"/>
              <a:ea typeface="Cambria"/>
              <a:cs typeface="Cambria"/>
            </a:endParaRPr>
          </a:p>
          <a:p>
            <a:pPr marL="342900" lvl="0" indent="-342900">
              <a:spcBef>
                <a:spcPts val="610"/>
              </a:spcBef>
              <a:spcAft>
                <a:spcPts val="0"/>
              </a:spcAft>
              <a:buFont typeface="Wingdings"/>
              <a:buChar char=""/>
              <a:tabLst>
                <a:tab pos="520700" algn="l"/>
                <a:tab pos="521335" algn="l"/>
              </a:tabLst>
            </a:pP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Mesh</a:t>
            </a:r>
            <a:r>
              <a:rPr lang="en-US" b="1" spc="-15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generation</a:t>
            </a:r>
            <a:endParaRPr lang="en-IN" sz="2000" dirty="0">
              <a:latin typeface="Cambria"/>
              <a:ea typeface="Cambria"/>
              <a:cs typeface="Cambria"/>
            </a:endParaRPr>
          </a:p>
          <a:p>
            <a:pPr marL="342900" lvl="0" indent="-342900">
              <a:spcBef>
                <a:spcPts val="610"/>
              </a:spcBef>
              <a:spcAft>
                <a:spcPts val="0"/>
              </a:spcAft>
              <a:buFont typeface="Wingdings"/>
              <a:buChar char=""/>
              <a:tabLst>
                <a:tab pos="520700" algn="l"/>
                <a:tab pos="521335" algn="l"/>
              </a:tabLst>
            </a:pP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Boolean</a:t>
            </a:r>
            <a:r>
              <a:rPr lang="en-US" b="1" spc="-10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operations</a:t>
            </a:r>
            <a:r>
              <a:rPr lang="en-US" b="1" spc="-25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on</a:t>
            </a:r>
            <a:r>
              <a:rPr lang="en-US" b="1" spc="-5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1F2021"/>
                </a:solidFill>
                <a:latin typeface="Arial"/>
                <a:ea typeface="Cambria"/>
                <a:cs typeface="Cambria"/>
              </a:rPr>
              <a:t>polygons</a:t>
            </a:r>
            <a:endParaRPr lang="en-IN" sz="2000" dirty="0">
              <a:effectLst/>
              <a:latin typeface="Cambria"/>
              <a:ea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90255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1560" y="260648"/>
            <a:ext cx="799288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2390">
              <a:spcBef>
                <a:spcPts val="495"/>
              </a:spcBef>
              <a:spcAft>
                <a:spcPts val="0"/>
              </a:spcAft>
            </a:pPr>
            <a:r>
              <a:rPr lang="en-US" b="1" dirty="0">
                <a:latin typeface="Cambria"/>
                <a:ea typeface="Cambria"/>
                <a:cs typeface="Cambria"/>
              </a:rPr>
              <a:t>Convex</a:t>
            </a:r>
            <a:r>
              <a:rPr lang="en-US" b="1" spc="-35" dirty="0"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latin typeface="Cambria"/>
                <a:ea typeface="Cambria"/>
                <a:cs typeface="Cambria"/>
              </a:rPr>
              <a:t>Hull</a:t>
            </a:r>
            <a:endParaRPr lang="en-IN" b="1" dirty="0">
              <a:latin typeface="Cambria"/>
              <a:ea typeface="Cambria"/>
              <a:cs typeface="Cambria"/>
            </a:endParaRPr>
          </a:p>
          <a:p>
            <a:pPr marL="342900" marR="74295" lvl="0" indent="-342900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Font typeface="Wingdings"/>
              <a:buChar char=""/>
              <a:tabLst>
                <a:tab pos="520700" algn="l"/>
                <a:tab pos="521335" algn="l"/>
                <a:tab pos="1728470" algn="l"/>
                <a:tab pos="2834640" algn="l"/>
                <a:tab pos="4227830" algn="l"/>
              </a:tabLst>
            </a:pPr>
            <a:r>
              <a:rPr lang="en-US" dirty="0">
                <a:solidFill>
                  <a:srgbClr val="1F2021"/>
                </a:solidFill>
                <a:latin typeface="Cambria"/>
                <a:ea typeface="Cambria"/>
                <a:cs typeface="Cambria"/>
              </a:rPr>
              <a:t>In</a:t>
            </a:r>
            <a:r>
              <a:rPr lang="en-US" spc="-20" dirty="0">
                <a:solidFill>
                  <a:srgbClr val="1F2021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dirty="0">
                <a:latin typeface="Cambria"/>
                <a:ea typeface="Cambria"/>
                <a:cs typeface="Cambria"/>
              </a:rPr>
              <a:t>geometry</a:t>
            </a:r>
            <a:r>
              <a:rPr lang="en-US" dirty="0">
                <a:solidFill>
                  <a:srgbClr val="1F2021"/>
                </a:solidFill>
                <a:latin typeface="Cambria"/>
                <a:ea typeface="Cambria"/>
                <a:cs typeface="Cambria"/>
              </a:rPr>
              <a:t>,	the</a:t>
            </a:r>
            <a:r>
              <a:rPr lang="en-US" spc="-5" dirty="0">
                <a:solidFill>
                  <a:srgbClr val="1F2021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convex	hull</a:t>
            </a:r>
            <a:r>
              <a:rPr lang="en-US" b="1" spc="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Cambria"/>
                <a:ea typeface="Cambria"/>
                <a:cs typeface="Cambria"/>
              </a:rPr>
              <a:t>or</a:t>
            </a:r>
            <a:r>
              <a:rPr lang="en-US" spc="5" dirty="0">
                <a:solidFill>
                  <a:srgbClr val="1F2021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convex	envelope </a:t>
            </a:r>
            <a:r>
              <a:rPr lang="en-US" dirty="0">
                <a:solidFill>
                  <a:srgbClr val="1F2021"/>
                </a:solidFill>
                <a:latin typeface="Cambria"/>
                <a:ea typeface="Cambria"/>
                <a:cs typeface="Cambria"/>
              </a:rPr>
              <a:t>or </a:t>
            </a:r>
            <a:r>
              <a:rPr lang="en-US" b="1" dirty="0">
                <a:solidFill>
                  <a:srgbClr val="1F2021"/>
                </a:solidFill>
                <a:latin typeface="Cambria"/>
                <a:ea typeface="Cambria"/>
                <a:cs typeface="Cambria"/>
              </a:rPr>
              <a:t>convex</a:t>
            </a:r>
            <a:r>
              <a:rPr lang="en-US" b="1" spc="-295" dirty="0">
                <a:solidFill>
                  <a:srgbClr val="1F2021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spc="-295" dirty="0" smtClean="0">
                <a:solidFill>
                  <a:srgbClr val="1F2021"/>
                </a:solidFill>
                <a:latin typeface="Cambria"/>
                <a:ea typeface="Cambria"/>
                <a:cs typeface="Cambria"/>
              </a:rPr>
              <a:t>  </a:t>
            </a:r>
            <a:r>
              <a:rPr lang="en-US" b="1" dirty="0" smtClean="0">
                <a:solidFill>
                  <a:srgbClr val="1F2021"/>
                </a:solidFill>
                <a:latin typeface="Cambria"/>
                <a:ea typeface="Cambria"/>
                <a:cs typeface="Cambria"/>
              </a:rPr>
              <a:t>closure</a:t>
            </a:r>
            <a:r>
              <a:rPr lang="en-US" b="1" spc="-5" dirty="0" smtClean="0">
                <a:solidFill>
                  <a:srgbClr val="1F2021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Cambria"/>
                <a:ea typeface="Cambria"/>
                <a:cs typeface="Cambria"/>
              </a:rPr>
              <a:t>of a</a:t>
            </a:r>
            <a:r>
              <a:rPr lang="en-US" spc="-15" dirty="0">
                <a:solidFill>
                  <a:srgbClr val="1F2021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Cambria"/>
                <a:ea typeface="Cambria"/>
                <a:cs typeface="Cambria"/>
              </a:rPr>
              <a:t>shape</a:t>
            </a:r>
            <a:r>
              <a:rPr lang="en-US" spc="-15" dirty="0">
                <a:solidFill>
                  <a:srgbClr val="1F2021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1F2021"/>
                </a:solidFill>
                <a:latin typeface="Cambria"/>
                <a:ea typeface="Cambria"/>
                <a:cs typeface="Cambria"/>
              </a:rPr>
              <a:t>is</a:t>
            </a:r>
            <a:r>
              <a:rPr lang="en-US" spc="5" dirty="0">
                <a:solidFill>
                  <a:srgbClr val="1F2021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the</a:t>
            </a:r>
            <a:r>
              <a:rPr lang="en-US" b="1" spc="-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smallest</a:t>
            </a:r>
            <a:r>
              <a:rPr lang="en-US" b="1" spc="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convex</a:t>
            </a:r>
            <a:r>
              <a:rPr lang="en-US" b="1" spc="-20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set</a:t>
            </a:r>
            <a:r>
              <a:rPr lang="en-US" b="1" spc="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that</a:t>
            </a:r>
            <a:r>
              <a:rPr lang="en-US" b="1" spc="-1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contains it</a:t>
            </a:r>
            <a:r>
              <a:rPr lang="en-US" dirty="0">
                <a:solidFill>
                  <a:srgbClr val="1F2021"/>
                </a:solidFill>
                <a:latin typeface="Cambria"/>
                <a:ea typeface="Cambria"/>
                <a:cs typeface="Cambria"/>
              </a:rPr>
              <a:t>.</a:t>
            </a:r>
            <a:endParaRPr lang="en-IN" sz="1400" dirty="0">
              <a:latin typeface="Cambria"/>
              <a:ea typeface="Cambria"/>
              <a:cs typeface="Cambria"/>
            </a:endParaRPr>
          </a:p>
          <a:p>
            <a:pPr marL="342900" marR="81280" lvl="0" indent="-342900">
              <a:lnSpc>
                <a:spcPct val="100000"/>
              </a:lnSpc>
              <a:spcBef>
                <a:spcPts val="760"/>
              </a:spcBef>
              <a:spcAft>
                <a:spcPts val="0"/>
              </a:spcAft>
              <a:buFont typeface="Wingdings"/>
              <a:buChar char=""/>
              <a:tabLst>
                <a:tab pos="520700" algn="l"/>
                <a:tab pos="521335" algn="l"/>
              </a:tabLst>
            </a:pPr>
            <a:r>
              <a:rPr lang="en-US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Given</a:t>
            </a:r>
            <a:r>
              <a:rPr lang="en-US" spc="120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a</a:t>
            </a:r>
            <a:r>
              <a:rPr lang="en-US" spc="95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set</a:t>
            </a:r>
            <a:r>
              <a:rPr lang="en-US" spc="90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of</a:t>
            </a:r>
            <a:r>
              <a:rPr lang="en-US" spc="140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points</a:t>
            </a:r>
            <a:r>
              <a:rPr lang="en-US" spc="105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in</a:t>
            </a:r>
            <a:r>
              <a:rPr lang="en-US" spc="95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the</a:t>
            </a:r>
            <a:r>
              <a:rPr lang="en-US" spc="120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plane</a:t>
            </a:r>
            <a:r>
              <a:rPr lang="en-US" b="1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,</a:t>
            </a:r>
            <a:r>
              <a:rPr lang="en-US" b="1" spc="95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the</a:t>
            </a:r>
            <a:r>
              <a:rPr lang="en-US" b="1" spc="13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convex</a:t>
            </a:r>
            <a:r>
              <a:rPr lang="en-US" b="1" spc="9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hull</a:t>
            </a:r>
            <a:r>
              <a:rPr lang="en-US" b="1" spc="110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of</a:t>
            </a:r>
            <a:r>
              <a:rPr lang="en-US" b="1" spc="10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the</a:t>
            </a:r>
            <a:r>
              <a:rPr lang="en-US" b="1" spc="110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set</a:t>
            </a:r>
            <a:r>
              <a:rPr lang="en-US" b="1" spc="100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is</a:t>
            </a:r>
            <a:r>
              <a:rPr lang="en-US" b="1" spc="11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the</a:t>
            </a:r>
            <a:r>
              <a:rPr lang="en-US" b="1" spc="-29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smallest</a:t>
            </a:r>
            <a:r>
              <a:rPr lang="en-US" b="1" spc="30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convex</a:t>
            </a:r>
            <a:r>
              <a:rPr lang="en-US" b="1" spc="20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polygon</a:t>
            </a:r>
            <a:r>
              <a:rPr lang="en-US" b="1" spc="30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that</a:t>
            </a:r>
            <a:r>
              <a:rPr lang="en-US" b="1" spc="3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contains</a:t>
            </a:r>
            <a:r>
              <a:rPr lang="en-US" b="1" spc="20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all</a:t>
            </a:r>
            <a:r>
              <a:rPr lang="en-US" b="1" spc="3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the</a:t>
            </a:r>
            <a:r>
              <a:rPr lang="en-US" b="1" spc="4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points</a:t>
            </a:r>
            <a:r>
              <a:rPr lang="en-US" b="1" spc="3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of</a:t>
            </a:r>
            <a:r>
              <a:rPr lang="en-US" b="1" spc="3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it.</a:t>
            </a:r>
            <a:endParaRPr lang="en-IN" sz="1400" dirty="0">
              <a:solidFill>
                <a:srgbClr val="FF0000"/>
              </a:solidFill>
              <a:latin typeface="Cambria"/>
              <a:ea typeface="Cambria"/>
              <a:cs typeface="Cambria"/>
            </a:endParaRPr>
          </a:p>
          <a:p>
            <a:pPr marL="342900" marR="73025" lvl="0" indent="-342900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Font typeface="Wingdings"/>
              <a:buChar char=""/>
              <a:tabLst>
                <a:tab pos="520700" algn="l"/>
                <a:tab pos="521335" algn="l"/>
              </a:tabLst>
            </a:pP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Convex</a:t>
            </a:r>
            <a:r>
              <a:rPr lang="en-US" b="1" spc="160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means</a:t>
            </a:r>
            <a:r>
              <a:rPr lang="en-US" b="1" spc="190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that</a:t>
            </a:r>
            <a:r>
              <a:rPr lang="en-US" b="1" spc="160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the</a:t>
            </a:r>
            <a:r>
              <a:rPr lang="en-US" b="1" spc="150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polygon</a:t>
            </a:r>
            <a:r>
              <a:rPr lang="en-US" b="1" spc="16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has</a:t>
            </a:r>
            <a:r>
              <a:rPr lang="en-US" b="1" spc="17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no</a:t>
            </a:r>
            <a:r>
              <a:rPr lang="en-US" b="1" spc="170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corner</a:t>
            </a:r>
            <a:r>
              <a:rPr lang="en-US" b="1" spc="17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that</a:t>
            </a:r>
            <a:r>
              <a:rPr lang="en-US" b="1" spc="16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is</a:t>
            </a:r>
            <a:r>
              <a:rPr lang="en-US" b="1" spc="17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bent</a:t>
            </a:r>
            <a:r>
              <a:rPr lang="en-US" b="1" spc="-29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b="1" spc="-295" dirty="0" smtClean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 </a:t>
            </a:r>
            <a:r>
              <a:rPr lang="en-US" b="1" dirty="0" smtClean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inwards</a:t>
            </a:r>
            <a:r>
              <a:rPr lang="en-US" b="1" dirty="0">
                <a:solidFill>
                  <a:srgbClr val="292929"/>
                </a:solidFill>
                <a:latin typeface="Cambria"/>
                <a:ea typeface="Cambria"/>
                <a:cs typeface="Cambria"/>
              </a:rPr>
              <a:t>.</a:t>
            </a:r>
            <a:endParaRPr lang="en-IN" b="1" dirty="0">
              <a:effectLst/>
              <a:latin typeface="Cambria"/>
              <a:ea typeface="Cambria"/>
              <a:cs typeface="Cambria"/>
            </a:endParaRPr>
          </a:p>
        </p:txBody>
      </p:sp>
      <p:pic>
        <p:nvPicPr>
          <p:cNvPr id="3" name="image1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624" y="2708920"/>
            <a:ext cx="7272808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3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5576" y="620688"/>
            <a:ext cx="7488832" cy="1302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2390">
              <a:spcBef>
                <a:spcPts val="49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Rubber</a:t>
            </a:r>
            <a:r>
              <a:rPr lang="en-US" sz="2400" b="1" spc="40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sz="2400" b="1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band</a:t>
            </a:r>
            <a:r>
              <a:rPr lang="en-US" sz="2400" b="1" spc="40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sz="2400" b="1" dirty="0">
                <a:solidFill>
                  <a:srgbClr val="273139"/>
                </a:solidFill>
                <a:latin typeface="Cambria"/>
                <a:ea typeface="Cambria"/>
                <a:cs typeface="Cambria"/>
              </a:rPr>
              <a:t>Analogy</a:t>
            </a:r>
            <a:endParaRPr lang="en-IN" sz="2400" dirty="0">
              <a:latin typeface="Cambria"/>
              <a:ea typeface="Cambria"/>
              <a:cs typeface="Cambria"/>
            </a:endParaRPr>
          </a:p>
          <a:p>
            <a:pPr marL="63500" marR="69215" indent="8890">
              <a:spcBef>
                <a:spcPts val="790"/>
              </a:spcBef>
              <a:spcAft>
                <a:spcPts val="0"/>
              </a:spcAft>
            </a:pPr>
            <a:r>
              <a:rPr lang="en-US" sz="2400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A</a:t>
            </a:r>
            <a:r>
              <a:rPr lang="en-US" sz="2400" spc="330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 </a:t>
            </a:r>
            <a:r>
              <a:rPr lang="en-US" sz="2400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useful</a:t>
            </a:r>
            <a:r>
              <a:rPr lang="en-US" sz="2400" spc="340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 </a:t>
            </a:r>
            <a:r>
              <a:rPr lang="en-US" sz="2400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way</a:t>
            </a:r>
            <a:r>
              <a:rPr lang="en-US" sz="2400" spc="335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 </a:t>
            </a:r>
            <a:r>
              <a:rPr lang="en-US" sz="2400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to</a:t>
            </a:r>
            <a:r>
              <a:rPr lang="en-US" sz="2400" spc="345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 </a:t>
            </a:r>
            <a:r>
              <a:rPr lang="en-US" sz="2400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think</a:t>
            </a:r>
            <a:r>
              <a:rPr lang="en-US" sz="2400" spc="325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 </a:t>
            </a:r>
            <a:r>
              <a:rPr lang="en-US" sz="2400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about</a:t>
            </a:r>
            <a:r>
              <a:rPr lang="en-US" sz="2400" spc="315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 </a:t>
            </a:r>
            <a:r>
              <a:rPr lang="en-US" sz="2400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the</a:t>
            </a:r>
            <a:r>
              <a:rPr lang="en-US" sz="2400" spc="305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 </a:t>
            </a:r>
            <a:r>
              <a:rPr lang="en-US" sz="2400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convex</a:t>
            </a:r>
            <a:r>
              <a:rPr lang="en-US" sz="2400" spc="345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 </a:t>
            </a:r>
            <a:r>
              <a:rPr lang="en-US" sz="2400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hull</a:t>
            </a:r>
            <a:r>
              <a:rPr lang="en-US" sz="2400" spc="335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 </a:t>
            </a:r>
            <a:r>
              <a:rPr lang="en-US" sz="2400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is</a:t>
            </a:r>
            <a:r>
              <a:rPr lang="en-US" sz="2400" spc="335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 </a:t>
            </a:r>
            <a:r>
              <a:rPr lang="en-US" sz="2400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the</a:t>
            </a:r>
            <a:r>
              <a:rPr lang="en-US" sz="2400" spc="305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 </a:t>
            </a:r>
            <a:r>
              <a:rPr lang="en-US" sz="2400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rubber</a:t>
            </a:r>
            <a:r>
              <a:rPr lang="en-US" sz="2400" spc="345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 </a:t>
            </a:r>
            <a:r>
              <a:rPr lang="en-US" sz="2400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band</a:t>
            </a:r>
            <a:r>
              <a:rPr lang="en-US" sz="2400" spc="-345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 </a:t>
            </a:r>
            <a:r>
              <a:rPr lang="en-US" sz="2400" dirty="0">
                <a:solidFill>
                  <a:srgbClr val="292929"/>
                </a:solidFill>
                <a:latin typeface="Georgia"/>
                <a:ea typeface="Cambria"/>
                <a:cs typeface="Cambria"/>
              </a:rPr>
              <a:t>analogy.</a:t>
            </a:r>
            <a:endParaRPr lang="en-IN" sz="2400" dirty="0">
              <a:effectLst/>
              <a:latin typeface="Cambria"/>
              <a:ea typeface="Cambria"/>
              <a:cs typeface="Cambria"/>
            </a:endParaRPr>
          </a:p>
        </p:txBody>
      </p:sp>
      <p:pic>
        <p:nvPicPr>
          <p:cNvPr id="3" name="image2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1760" y="2204862"/>
            <a:ext cx="5040560" cy="396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041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1560" y="404664"/>
            <a:ext cx="770485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Convex hulls </a:t>
            </a:r>
            <a:r>
              <a:rPr lang="en-US" sz="2800" b="1" dirty="0"/>
              <a:t>find their application in collision detection and avoidance, Shape analysis, smallest enclosing box, etc</a:t>
            </a:r>
            <a:r>
              <a:rPr lang="en-US" sz="2800" dirty="0"/>
              <a:t>.</a:t>
            </a:r>
            <a:endParaRPr lang="en-IN" sz="2800" dirty="0"/>
          </a:p>
        </p:txBody>
      </p:sp>
      <p:pic>
        <p:nvPicPr>
          <p:cNvPr id="3" name="image3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625" y="2060848"/>
            <a:ext cx="6912768" cy="374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86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2996952"/>
            <a:ext cx="5832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</a:rPr>
              <a:t>Line Segment Properties</a:t>
            </a:r>
            <a:endParaRPr lang="en-IN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61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433467"/>
          </a:xfrm>
        </p:spPr>
        <p:txBody>
          <a:bodyPr/>
          <a:lstStyle/>
          <a:p>
            <a:r>
              <a:rPr lang="en-US" dirty="0" smtClean="0"/>
              <a:t>Line Segment </a:t>
            </a:r>
          </a:p>
          <a:p>
            <a:pPr lvl="1"/>
            <a:r>
              <a:rPr lang="en-US" dirty="0"/>
              <a:t>In geometry, a line segment </a:t>
            </a:r>
            <a:r>
              <a:rPr lang="en-US" b="1" dirty="0"/>
              <a:t>is bounded by two distinct points on a line</a:t>
            </a:r>
            <a:r>
              <a:rPr lang="en-US" dirty="0"/>
              <a:t>. Or we can say a line segment is part of the line that connects two points</a:t>
            </a:r>
            <a:r>
              <a:rPr lang="en-US" dirty="0" smtClean="0"/>
              <a:t>.</a:t>
            </a:r>
          </a:p>
          <a:p>
            <a:pPr lvl="1"/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994" y="3501008"/>
            <a:ext cx="4823463" cy="1885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9123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4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45" y="241854"/>
            <a:ext cx="5360774" cy="648072"/>
          </a:xfrm>
          <a:prstGeom prst="rect">
            <a:avLst/>
          </a:prstGeom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405019" y="996932"/>
            <a:ext cx="228780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mbria" pitchFamily="18" charset="0"/>
                <a:cs typeface="Cambria" pitchFamily="18" charset="0"/>
              </a:rPr>
              <a:t>Cross product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049" name="image5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622" y="1412431"/>
            <a:ext cx="3632874" cy="1311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mbria" pitchFamily="18" charset="0"/>
                <a:cs typeface="Cambria" pitchFamily="18" charset="0"/>
              </a:rPr>
              <a:t/>
            </a:r>
            <a:br>
              <a:rPr kumimoji="0" lang="en-US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mbria" pitchFamily="18" charset="0"/>
                <a:cs typeface="Cambria" pitchFamily="18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1926" y="1001572"/>
            <a:ext cx="492613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800" dirty="0" smtClean="0"/>
              <a:t>Computing cross products can be interpreted as the signed area of parallelogram formed by the points(0,0),𝑝</a:t>
            </a:r>
            <a:r>
              <a:rPr lang="en-IN" sz="2800" dirty="0"/>
              <a:t>1</a:t>
            </a:r>
            <a:r>
              <a:rPr lang="en-IN" sz="2800" dirty="0" smtClean="0"/>
              <a:t>,𝑝2,and</a:t>
            </a:r>
          </a:p>
          <a:p>
            <a:r>
              <a:rPr lang="en-IN" sz="2800" dirty="0" smtClean="0"/>
              <a:t>𝑝</a:t>
            </a:r>
            <a:r>
              <a:rPr lang="en-IN" sz="2800" dirty="0"/>
              <a:t>1</a:t>
            </a:r>
            <a:r>
              <a:rPr lang="en-IN" sz="2800" dirty="0" smtClean="0"/>
              <a:t>+𝑝</a:t>
            </a:r>
            <a:r>
              <a:rPr lang="en-IN" sz="2800" dirty="0"/>
              <a:t>2</a:t>
            </a:r>
            <a:r>
              <a:rPr lang="en-IN" sz="2800" dirty="0" smtClean="0"/>
              <a:t>=(𝑥</a:t>
            </a:r>
            <a:r>
              <a:rPr lang="en-IN" sz="2800" dirty="0"/>
              <a:t>1</a:t>
            </a:r>
            <a:r>
              <a:rPr lang="en-IN" sz="2800" dirty="0" smtClean="0"/>
              <a:t>+𝑥</a:t>
            </a:r>
            <a:r>
              <a:rPr lang="en-IN" sz="2800" dirty="0"/>
              <a:t>2</a:t>
            </a:r>
            <a:r>
              <a:rPr lang="en-IN" sz="2800" dirty="0" smtClean="0"/>
              <a:t>,𝑦</a:t>
            </a:r>
            <a:r>
              <a:rPr lang="en-IN" sz="2800" dirty="0"/>
              <a:t>1</a:t>
            </a:r>
            <a:r>
              <a:rPr lang="en-IN" sz="2800" dirty="0" smtClean="0"/>
              <a:t>+𝑦</a:t>
            </a:r>
            <a:r>
              <a:rPr lang="en-IN" sz="2800" dirty="0"/>
              <a:t>2).</a:t>
            </a: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245" y="5639786"/>
            <a:ext cx="4400550" cy="109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785398"/>
            <a:ext cx="3619500" cy="811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94" y="3217317"/>
            <a:ext cx="3054786" cy="2568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653" y="2996951"/>
            <a:ext cx="2784755" cy="2642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985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260648"/>
            <a:ext cx="8409231" cy="5837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74295" lvl="0" indent="-342900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Font typeface="Wingdings"/>
              <a:buChar char=""/>
              <a:tabLst>
                <a:tab pos="520700" algn="l"/>
                <a:tab pos="521335" algn="l"/>
              </a:tabLst>
            </a:pPr>
            <a:r>
              <a:rPr lang="en-US" sz="3600" b="1" dirty="0">
                <a:latin typeface="Cambria"/>
                <a:ea typeface="Cambria"/>
                <a:cs typeface="Cambria"/>
              </a:rPr>
              <a:t>If</a:t>
            </a:r>
            <a:r>
              <a:rPr lang="en-US" sz="3600" b="1" spc="-15" dirty="0"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latin typeface="Cambria"/>
                <a:ea typeface="Cambria"/>
                <a:cs typeface="Cambria"/>
              </a:rPr>
              <a:t>p1x</a:t>
            </a:r>
            <a:r>
              <a:rPr lang="en-US" sz="3600" b="1" spc="-20" dirty="0"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latin typeface="Cambria"/>
                <a:ea typeface="Cambria"/>
                <a:cs typeface="Cambria"/>
              </a:rPr>
              <a:t>p2</a:t>
            </a:r>
            <a:r>
              <a:rPr lang="en-US" sz="3600" b="1" spc="5" dirty="0"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latin typeface="Cambria"/>
                <a:ea typeface="Cambria"/>
                <a:cs typeface="Cambria"/>
              </a:rPr>
              <a:t>is positive, </a:t>
            </a:r>
            <a:r>
              <a:rPr lang="en-US" sz="3600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then</a:t>
            </a:r>
            <a:r>
              <a:rPr lang="en-US" sz="3600" b="1" spc="-10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p1 is clockwise</a:t>
            </a:r>
            <a:r>
              <a:rPr lang="en-US" sz="3600" b="1" spc="-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from p2</a:t>
            </a:r>
            <a:r>
              <a:rPr lang="en-US" sz="3600" b="1" spc="40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latin typeface="Cambria"/>
                <a:ea typeface="Cambria"/>
                <a:cs typeface="Cambria"/>
              </a:rPr>
              <a:t>with</a:t>
            </a:r>
            <a:r>
              <a:rPr lang="en-US" sz="3600" b="1" spc="-10" dirty="0"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latin typeface="Cambria"/>
                <a:ea typeface="Cambria"/>
                <a:cs typeface="Cambria"/>
              </a:rPr>
              <a:t>respect</a:t>
            </a:r>
            <a:r>
              <a:rPr lang="en-US" sz="3600" b="1" spc="25" dirty="0"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latin typeface="Cambria"/>
                <a:ea typeface="Cambria"/>
                <a:cs typeface="Cambria"/>
              </a:rPr>
              <a:t>to</a:t>
            </a:r>
            <a:r>
              <a:rPr lang="en-US" sz="3600" b="1" spc="-295" dirty="0"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latin typeface="Cambria"/>
                <a:ea typeface="Cambria"/>
                <a:cs typeface="Cambria"/>
              </a:rPr>
              <a:t>the origin</a:t>
            </a:r>
            <a:r>
              <a:rPr lang="en-US" sz="3600" b="1" spc="10" dirty="0"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latin typeface="Cambria"/>
                <a:ea typeface="Cambria"/>
                <a:cs typeface="Cambria"/>
              </a:rPr>
              <a:t>(0,0</a:t>
            </a:r>
            <a:r>
              <a:rPr lang="en-US" sz="3600" b="1" dirty="0" smtClean="0">
                <a:latin typeface="Cambria"/>
                <a:ea typeface="Cambria"/>
                <a:cs typeface="Cambria"/>
              </a:rPr>
              <a:t>);</a:t>
            </a:r>
          </a:p>
          <a:p>
            <a:pPr marL="342900" marR="76200" lvl="0" indent="-342900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Font typeface="Wingdings"/>
              <a:buChar char=""/>
              <a:tabLst>
                <a:tab pos="520700" algn="l"/>
                <a:tab pos="521335" algn="l"/>
              </a:tabLst>
            </a:pPr>
            <a:r>
              <a:rPr lang="en-US" sz="3600" b="1" dirty="0" smtClean="0">
                <a:latin typeface="Cambria"/>
                <a:ea typeface="Cambria"/>
                <a:cs typeface="Cambria"/>
              </a:rPr>
              <a:t>if</a:t>
            </a:r>
            <a:r>
              <a:rPr lang="en-US" sz="3600" b="1" spc="260" dirty="0" smtClean="0"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latin typeface="Cambria"/>
                <a:ea typeface="Cambria"/>
                <a:cs typeface="Cambria"/>
              </a:rPr>
              <a:t>this</a:t>
            </a:r>
            <a:r>
              <a:rPr lang="en-US" sz="3600" b="1" spc="275" dirty="0"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latin typeface="Cambria"/>
                <a:ea typeface="Cambria"/>
                <a:cs typeface="Cambria"/>
              </a:rPr>
              <a:t>cross</a:t>
            </a:r>
            <a:r>
              <a:rPr lang="en-US" sz="3600" b="1" spc="270" dirty="0"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latin typeface="Cambria"/>
                <a:ea typeface="Cambria"/>
                <a:cs typeface="Cambria"/>
              </a:rPr>
              <a:t>product</a:t>
            </a:r>
            <a:r>
              <a:rPr lang="en-US" sz="3600" b="1" spc="260" dirty="0"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latin typeface="Cambria"/>
                <a:ea typeface="Cambria"/>
                <a:cs typeface="Cambria"/>
              </a:rPr>
              <a:t>is</a:t>
            </a:r>
            <a:r>
              <a:rPr lang="en-US" sz="3600" b="1" spc="245" dirty="0"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latin typeface="Cambria"/>
                <a:ea typeface="Cambria"/>
                <a:cs typeface="Cambria"/>
              </a:rPr>
              <a:t>negative,</a:t>
            </a:r>
            <a:r>
              <a:rPr lang="en-US" sz="3600" b="1" spc="285" dirty="0"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then</a:t>
            </a:r>
            <a:r>
              <a:rPr lang="en-US" sz="3600" b="1" spc="260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p1</a:t>
            </a:r>
            <a:r>
              <a:rPr lang="en-US" sz="3600" b="1" spc="25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is</a:t>
            </a:r>
            <a:r>
              <a:rPr lang="en-US" sz="3600" b="1" spc="270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counter-clockwise</a:t>
            </a:r>
            <a:r>
              <a:rPr lang="en-US" sz="3600" b="1" spc="-290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from</a:t>
            </a:r>
            <a:r>
              <a:rPr lang="en-US" sz="3600" b="1" spc="5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p2</a:t>
            </a:r>
            <a:r>
              <a:rPr lang="en-US" sz="3600" b="1" dirty="0" smtClean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.</a:t>
            </a:r>
          </a:p>
          <a:p>
            <a:pPr marL="342900" marR="76200" lvl="0" indent="-342900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Font typeface="Wingdings"/>
              <a:buChar char=""/>
              <a:tabLst>
                <a:tab pos="520700" algn="l"/>
                <a:tab pos="521335" algn="l"/>
              </a:tabLst>
            </a:pPr>
            <a:r>
              <a:rPr lang="en-US" sz="3600" b="1" dirty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sz="3600" b="1" dirty="0" smtClean="0">
                <a:solidFill>
                  <a:srgbClr val="FF0000"/>
                </a:solidFill>
                <a:latin typeface="Cambria"/>
                <a:ea typeface="Cambria"/>
                <a:cs typeface="Cambria"/>
              </a:rPr>
              <a:t>Boundary</a:t>
            </a:r>
            <a:r>
              <a:rPr lang="en-IN" sz="3600" dirty="0" smtClean="0"/>
              <a:t>condition arises if the </a:t>
            </a:r>
            <a:r>
              <a:rPr lang="en-IN" sz="3600" b="1" dirty="0" smtClean="0">
                <a:solidFill>
                  <a:srgbClr val="FF0000"/>
                </a:solidFill>
              </a:rPr>
              <a:t>cross product is zero</a:t>
            </a:r>
            <a:r>
              <a:rPr lang="en-IN" sz="3600" dirty="0" smtClean="0"/>
              <a:t>; in this case, the vectors are </a:t>
            </a:r>
            <a:r>
              <a:rPr lang="en-IN" sz="3600" b="1" i="1" dirty="0" smtClean="0">
                <a:solidFill>
                  <a:srgbClr val="FF0000"/>
                </a:solidFill>
              </a:rPr>
              <a:t>collinear</a:t>
            </a:r>
            <a:r>
              <a:rPr lang="en-IN" sz="3600" dirty="0" smtClean="0"/>
              <a:t>, pointing in either the same or opposite directions. </a:t>
            </a:r>
            <a:endParaRPr lang="en-IN" sz="3600" dirty="0">
              <a:effectLst/>
              <a:latin typeface="Cambria"/>
              <a:ea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015598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548680"/>
            <a:ext cx="8964488" cy="5577483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/>
              <a:t>Given two distinct points </a:t>
            </a:r>
            <a:r>
              <a:rPr lang="en-IN" i="1" dirty="0"/>
              <a:t>p</a:t>
            </a:r>
            <a:r>
              <a:rPr lang="en-IN" baseline="-25000" dirty="0"/>
              <a:t>1</a:t>
            </a:r>
            <a:r>
              <a:rPr lang="en-IN" dirty="0"/>
              <a:t> and </a:t>
            </a:r>
            <a:r>
              <a:rPr lang="en-IN" i="1" dirty="0"/>
              <a:t>p</a:t>
            </a:r>
            <a:r>
              <a:rPr lang="en-IN" dirty="0"/>
              <a:t>2, the </a:t>
            </a:r>
            <a:r>
              <a:rPr lang="en-IN" b="1" i="1" dirty="0"/>
              <a:t>line segment</a:t>
            </a:r>
            <a:r>
              <a:rPr lang="en-IN" dirty="0"/>
              <a:t>   </a:t>
            </a:r>
            <a:r>
              <a:rPr lang="en-IN" dirty="0" smtClean="0"/>
              <a:t>        is </a:t>
            </a:r>
            <a:r>
              <a:rPr lang="en-IN" dirty="0"/>
              <a:t>the set of convex combinations of </a:t>
            </a:r>
            <a:r>
              <a:rPr lang="en-IN" i="1" dirty="0"/>
              <a:t>p</a:t>
            </a:r>
            <a:r>
              <a:rPr lang="en-IN" baseline="-25000" dirty="0"/>
              <a:t>1</a:t>
            </a:r>
            <a:r>
              <a:rPr lang="en-IN" dirty="0"/>
              <a:t> and </a:t>
            </a:r>
            <a:r>
              <a:rPr lang="en-IN" i="1" dirty="0"/>
              <a:t>p</a:t>
            </a:r>
            <a:r>
              <a:rPr lang="en-IN" baseline="-25000" dirty="0"/>
              <a:t>2</a:t>
            </a:r>
            <a:r>
              <a:rPr lang="en-IN" dirty="0"/>
              <a:t>. </a:t>
            </a:r>
            <a:endParaRPr lang="en-IN" dirty="0" smtClean="0"/>
          </a:p>
          <a:p>
            <a:pPr algn="just"/>
            <a:endParaRPr lang="en-IN" dirty="0" smtClean="0"/>
          </a:p>
          <a:p>
            <a:r>
              <a:rPr lang="en-IN" dirty="0" smtClean="0"/>
              <a:t>We call</a:t>
            </a:r>
            <a:r>
              <a:rPr lang="en-IN" dirty="0"/>
              <a:t> </a:t>
            </a:r>
            <a:r>
              <a:rPr lang="en-IN" i="1" dirty="0"/>
              <a:t>p</a:t>
            </a:r>
            <a:r>
              <a:rPr lang="en-IN" baseline="-25000" dirty="0"/>
              <a:t>1</a:t>
            </a:r>
            <a:r>
              <a:rPr lang="en-IN" dirty="0"/>
              <a:t> and </a:t>
            </a:r>
            <a:r>
              <a:rPr lang="en-IN" i="1" dirty="0"/>
              <a:t>p</a:t>
            </a:r>
            <a:r>
              <a:rPr lang="en-IN" baseline="-25000" dirty="0"/>
              <a:t>2</a:t>
            </a:r>
            <a:r>
              <a:rPr lang="en-IN" dirty="0"/>
              <a:t> the </a:t>
            </a:r>
            <a:r>
              <a:rPr lang="en-IN" b="1" i="1" dirty="0"/>
              <a:t>endpoints</a:t>
            </a:r>
            <a:r>
              <a:rPr lang="en-IN" dirty="0"/>
              <a:t> </a:t>
            </a:r>
            <a:r>
              <a:rPr lang="en-IN" dirty="0" smtClean="0"/>
              <a:t>of Segment</a:t>
            </a:r>
            <a:r>
              <a:rPr lang="en-IN" dirty="0"/>
              <a:t> </a:t>
            </a:r>
            <a:r>
              <a:rPr lang="en-IN" dirty="0" smtClean="0"/>
              <a:t>          .</a:t>
            </a:r>
          </a:p>
          <a:p>
            <a:endParaRPr lang="en-IN" dirty="0" smtClean="0"/>
          </a:p>
          <a:p>
            <a:r>
              <a:rPr lang="en-IN" dirty="0" smtClean="0"/>
              <a:t> </a:t>
            </a:r>
            <a:r>
              <a:rPr lang="en-IN" dirty="0"/>
              <a:t>Sometimes the ordering of </a:t>
            </a:r>
            <a:r>
              <a:rPr lang="en-IN" i="1" dirty="0"/>
              <a:t>p</a:t>
            </a:r>
            <a:r>
              <a:rPr lang="en-IN" baseline="-25000" dirty="0"/>
              <a:t>1</a:t>
            </a:r>
            <a:r>
              <a:rPr lang="en-IN" dirty="0"/>
              <a:t> and </a:t>
            </a:r>
            <a:r>
              <a:rPr lang="en-IN" i="1" dirty="0"/>
              <a:t>p</a:t>
            </a:r>
            <a:r>
              <a:rPr lang="en-IN" baseline="-25000" dirty="0"/>
              <a:t>2</a:t>
            </a:r>
            <a:r>
              <a:rPr lang="en-IN" dirty="0"/>
              <a:t> matters, and we speak of the </a:t>
            </a:r>
            <a:r>
              <a:rPr lang="en-IN" b="1" i="1" dirty="0"/>
              <a:t>directed </a:t>
            </a:r>
            <a:r>
              <a:rPr lang="en-IN" b="1" i="1" dirty="0" smtClean="0"/>
              <a:t>segment            </a:t>
            </a:r>
            <a:r>
              <a:rPr lang="en-IN" dirty="0"/>
              <a:t> </a:t>
            </a:r>
            <a:r>
              <a:rPr lang="en-IN" dirty="0" smtClean="0"/>
              <a:t>.</a:t>
            </a:r>
          </a:p>
          <a:p>
            <a:endParaRPr lang="en-IN" dirty="0" smtClean="0"/>
          </a:p>
          <a:p>
            <a:r>
              <a:rPr lang="en-IN" dirty="0" smtClean="0"/>
              <a:t> </a:t>
            </a:r>
            <a:r>
              <a:rPr lang="en-IN" dirty="0"/>
              <a:t>If p</a:t>
            </a:r>
            <a:r>
              <a:rPr lang="en-IN" baseline="-25000" dirty="0"/>
              <a:t>1</a:t>
            </a:r>
            <a:r>
              <a:rPr lang="en-IN" dirty="0"/>
              <a:t> is the </a:t>
            </a:r>
            <a:r>
              <a:rPr lang="en-IN" b="1" i="1" dirty="0"/>
              <a:t>origin</a:t>
            </a:r>
            <a:r>
              <a:rPr lang="en-IN" dirty="0"/>
              <a:t> (0, 0), then we can treat the directed </a:t>
            </a:r>
            <a:r>
              <a:rPr lang="en-IN" dirty="0" smtClean="0"/>
              <a:t>segment      </a:t>
            </a:r>
            <a:r>
              <a:rPr lang="en-IN" dirty="0"/>
              <a:t>   </a:t>
            </a:r>
            <a:r>
              <a:rPr lang="en-IN" dirty="0" smtClean="0"/>
              <a:t>   as </a:t>
            </a:r>
            <a:r>
              <a:rPr lang="en-IN" dirty="0"/>
              <a:t>the </a:t>
            </a:r>
            <a:r>
              <a:rPr lang="en-IN" b="1" i="1" dirty="0"/>
              <a:t>vector</a:t>
            </a:r>
            <a:r>
              <a:rPr lang="en-IN" dirty="0"/>
              <a:t> </a:t>
            </a:r>
            <a:r>
              <a:rPr lang="en-IN" i="1" dirty="0"/>
              <a:t>p</a:t>
            </a:r>
            <a:r>
              <a:rPr lang="en-IN" baseline="-25000" dirty="0"/>
              <a:t>2</a:t>
            </a:r>
            <a:r>
              <a:rPr lang="en-IN" dirty="0"/>
              <a:t>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124745"/>
            <a:ext cx="936104" cy="453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2464536"/>
            <a:ext cx="1041896" cy="504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1578" y="4118306"/>
            <a:ext cx="1041896" cy="612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 descr="http://staff.ustc.edu.cn/~csli/graduate/algorithms/book6/887_c.gif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5517232"/>
            <a:ext cx="896293" cy="6480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34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908720"/>
            <a:ext cx="8229600" cy="4525963"/>
          </a:xfrm>
        </p:spPr>
        <p:txBody>
          <a:bodyPr/>
          <a:lstStyle/>
          <a:p>
            <a:r>
              <a:rPr lang="en-IN" dirty="0"/>
              <a:t>we shall explore the following questions: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365998" y="1844824"/>
            <a:ext cx="87780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Q1 :Given two directed segments           and             ,  </a:t>
            </a:r>
            <a:r>
              <a:rPr lang="en-US" sz="3200" b="1" dirty="0"/>
              <a:t>I</a:t>
            </a:r>
            <a:r>
              <a:rPr lang="en-US" sz="3200" b="1" dirty="0" smtClean="0"/>
              <a:t>s                clockwise from             with respect to their common end point </a:t>
            </a:r>
          </a:p>
          <a:p>
            <a:endParaRPr lang="en-US" sz="3200" dirty="0" smtClean="0"/>
          </a:p>
          <a:p>
            <a:r>
              <a:rPr lang="en-US" sz="3200" dirty="0" smtClean="0"/>
              <a:t>Q2 : </a:t>
            </a:r>
            <a:r>
              <a:rPr lang="en-US" sz="3200" b="1" dirty="0" smtClean="0"/>
              <a:t>How consecutive line segments turn at a common point ?</a:t>
            </a:r>
          </a:p>
          <a:p>
            <a:endParaRPr lang="en-US" sz="3200" dirty="0"/>
          </a:p>
          <a:p>
            <a:pPr lvl="0"/>
            <a:r>
              <a:rPr lang="en-US" sz="3200" dirty="0" smtClean="0"/>
              <a:t>Q3: </a:t>
            </a:r>
            <a:r>
              <a:rPr lang="en-US" sz="3200" b="1" dirty="0"/>
              <a:t>Determining whether two line segments </a:t>
            </a:r>
            <a:r>
              <a:rPr lang="en-US" sz="3200" b="1" dirty="0" smtClean="0"/>
              <a:t>intersect </a:t>
            </a:r>
            <a:r>
              <a:rPr lang="en-US" sz="3200" dirty="0" smtClean="0"/>
              <a:t>?</a:t>
            </a:r>
            <a:endParaRPr lang="en-IN" sz="32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1787292"/>
            <a:ext cx="1008112" cy="53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847226"/>
            <a:ext cx="1017641" cy="50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318594"/>
            <a:ext cx="1152128" cy="607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7213" y="2869206"/>
            <a:ext cx="388843" cy="486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424143"/>
            <a:ext cx="1017641" cy="50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610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7" y="510912"/>
            <a:ext cx="9108504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11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7624" y="2919324"/>
            <a:ext cx="6768752" cy="281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9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2243" y="584684"/>
            <a:ext cx="6336704" cy="6480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6198" y="1412776"/>
            <a:ext cx="827780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If the calculated value of the cross product is 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•</a:t>
            </a:r>
            <a:r>
              <a:rPr lang="en-US" sz="2400" b="1" dirty="0"/>
              <a:t>	</a:t>
            </a:r>
            <a:r>
              <a:rPr lang="en-US" sz="2400" b="1" dirty="0" smtClean="0"/>
              <a:t>Positive  --- Clockwise</a:t>
            </a:r>
          </a:p>
          <a:p>
            <a:r>
              <a:rPr lang="en-US" sz="2400" b="1" dirty="0" smtClean="0"/>
              <a:t>•</a:t>
            </a:r>
            <a:r>
              <a:rPr lang="en-US" sz="2400" b="1" dirty="0"/>
              <a:t>	Negative </a:t>
            </a:r>
            <a:r>
              <a:rPr lang="en-US" sz="2400" b="1" dirty="0" smtClean="0"/>
              <a:t>-- Counter </a:t>
            </a:r>
            <a:r>
              <a:rPr lang="en-US" sz="2400" b="1" dirty="0"/>
              <a:t>clockwise</a:t>
            </a:r>
          </a:p>
          <a:p>
            <a:r>
              <a:rPr lang="en-US" sz="2400" b="1" dirty="0" smtClean="0"/>
              <a:t>•</a:t>
            </a:r>
            <a:r>
              <a:rPr lang="en-US" sz="2400" b="1" dirty="0"/>
              <a:t>	</a:t>
            </a:r>
            <a:r>
              <a:rPr lang="en-US" sz="2400" b="1" dirty="0" smtClean="0"/>
              <a:t>Zero - Collinear , they </a:t>
            </a:r>
            <a:r>
              <a:rPr lang="en-US" sz="2400" b="1" dirty="0"/>
              <a:t>are pointing in same or opposite </a:t>
            </a:r>
            <a:r>
              <a:rPr lang="en-US" sz="2400" b="1" dirty="0" smtClean="0"/>
              <a:t>                </a:t>
            </a:r>
          </a:p>
          <a:p>
            <a:r>
              <a:rPr lang="en-US" sz="2400" b="1" dirty="0"/>
              <a:t> </a:t>
            </a:r>
            <a:r>
              <a:rPr lang="en-US" sz="2400" b="1" dirty="0" smtClean="0"/>
              <a:t>                        direction</a:t>
            </a:r>
            <a:endParaRPr lang="en-US" sz="2400" b="1" dirty="0"/>
          </a:p>
        </p:txBody>
      </p:sp>
      <p:pic>
        <p:nvPicPr>
          <p:cNvPr id="7" name="image11.jpe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7624" y="3948157"/>
            <a:ext cx="6768752" cy="281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00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76672"/>
            <a:ext cx="7560840" cy="1140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331640" y="1916832"/>
            <a:ext cx="590465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b="1" dirty="0" smtClean="0"/>
              <a:t>If the calculated value of the cross product is </a:t>
            </a:r>
          </a:p>
          <a:p>
            <a:pPr lvl="1"/>
            <a:endParaRPr lang="en-US" b="1" dirty="0"/>
          </a:p>
          <a:p>
            <a:pPr marL="800100" lvl="1" indent="-342900">
              <a:buAutoNum type="alphaLcParenR"/>
            </a:pPr>
            <a:r>
              <a:rPr lang="en-US" b="1" dirty="0" smtClean="0"/>
              <a:t>Positive   -  Turn right   ( Clockwise )</a:t>
            </a:r>
          </a:p>
          <a:p>
            <a:pPr marL="800100" lvl="1" indent="-342900">
              <a:buAutoNum type="alphaLcParenR"/>
            </a:pPr>
            <a:endParaRPr lang="en-US" b="1" dirty="0"/>
          </a:p>
          <a:p>
            <a:pPr marL="800100" lvl="1" indent="-342900">
              <a:buAutoNum type="alphaLcParenR"/>
            </a:pPr>
            <a:r>
              <a:rPr lang="en-US" b="1" dirty="0" smtClean="0"/>
              <a:t>Negative  -  Turn Left   ( Counter Clockwise )</a:t>
            </a:r>
          </a:p>
          <a:p>
            <a:pPr lvl="1"/>
            <a:endParaRPr lang="en-US" b="1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30" y="3671158"/>
            <a:ext cx="265747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085" y="3618770"/>
            <a:ext cx="285750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8304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620688"/>
            <a:ext cx="7272808" cy="1111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539552" y="1916832"/>
            <a:ext cx="828092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Two line segments intersect </a:t>
            </a:r>
            <a:r>
              <a:rPr lang="en-US" sz="3200" dirty="0"/>
              <a:t>if and only if either (or both) of the following conditions holds:</a:t>
            </a:r>
            <a:endParaRPr lang="en-IN" sz="3200" dirty="0"/>
          </a:p>
          <a:p>
            <a:pPr lvl="0"/>
            <a:r>
              <a:rPr lang="en-US" sz="3200" dirty="0"/>
              <a:t>Each segment </a:t>
            </a:r>
            <a:r>
              <a:rPr lang="en-US" sz="3200" b="1" dirty="0">
                <a:solidFill>
                  <a:srgbClr val="FF0000"/>
                </a:solidFill>
              </a:rPr>
              <a:t>straddles </a:t>
            </a:r>
            <a:r>
              <a:rPr lang="en-US" sz="3200" dirty="0"/>
              <a:t>the line containing the other.</a:t>
            </a:r>
            <a:endParaRPr lang="en-IN" sz="3200" dirty="0"/>
          </a:p>
          <a:p>
            <a:pPr lvl="0"/>
            <a:r>
              <a:rPr lang="en-US" sz="3200" dirty="0"/>
              <a:t>An endpoint of </a:t>
            </a:r>
            <a:r>
              <a:rPr lang="en-US" sz="3200" b="1" dirty="0">
                <a:solidFill>
                  <a:srgbClr val="FF0000"/>
                </a:solidFill>
              </a:rPr>
              <a:t>one segment lies on the other segment</a:t>
            </a:r>
            <a:r>
              <a:rPr lang="en-US" sz="3200" dirty="0"/>
              <a:t>. (This condition comes from the boundary case.)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28011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2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560" y="620688"/>
            <a:ext cx="7632848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61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3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536" y="1340768"/>
            <a:ext cx="8280920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44214"/>
            <a:ext cx="7073701" cy="3875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643436"/>
            <a:ext cx="7848872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7536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3608" y="4221088"/>
            <a:ext cx="756084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 smtClean="0"/>
              <a:t>If it does not straddle, then the signs of the cross products are the same</a:t>
            </a:r>
            <a:r>
              <a:rPr lang="en-IN" sz="3200" dirty="0"/>
              <a:t>.</a:t>
            </a:r>
          </a:p>
          <a:p>
            <a:endParaRPr lang="en-IN" sz="32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620688"/>
            <a:ext cx="5819881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73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70638"/>
            <a:ext cx="5472608" cy="3762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556" y="4221088"/>
            <a:ext cx="7558730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629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6" y="116632"/>
            <a:ext cx="3685909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941" y="1052736"/>
            <a:ext cx="4733925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6" y="3102346"/>
            <a:ext cx="8948902" cy="2486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5536" y="5733256"/>
            <a:ext cx="77768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 smtClean="0"/>
              <a:t>Boundary cases in </a:t>
            </a:r>
            <a:r>
              <a:rPr lang="en-IN" sz="2800" b="1" dirty="0" smtClean="0">
                <a:solidFill>
                  <a:srgbClr val="FF0000"/>
                </a:solidFill>
              </a:rPr>
              <a:t>which at least one of the cross products is zero</a:t>
            </a:r>
            <a:r>
              <a:rPr lang="en-IN" sz="2800" dirty="0" smtClean="0"/>
              <a:t> and the segment straddles.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3034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88640"/>
            <a:ext cx="3384376" cy="269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20" y="2630183"/>
            <a:ext cx="7745296" cy="1327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829483"/>
            <a:ext cx="3816424" cy="3028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235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509</Words>
  <Application>Microsoft Office PowerPoint</Application>
  <PresentationFormat>On-screen Show (4:3)</PresentationFormat>
  <Paragraphs>62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Introduction to Geometric Algorithms</vt:lpstr>
      <vt:lpstr>Geometric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Geometric Algorithms</dc:title>
  <dc:creator>HP</dc:creator>
  <cp:lastModifiedBy>HP</cp:lastModifiedBy>
  <cp:revision>52</cp:revision>
  <dcterms:created xsi:type="dcterms:W3CDTF">2023-03-08T14:16:45Z</dcterms:created>
  <dcterms:modified xsi:type="dcterms:W3CDTF">2024-03-10T15:14:25Z</dcterms:modified>
</cp:coreProperties>
</file>