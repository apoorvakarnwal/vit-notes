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60" r:id="rId8"/>
    <p:sldId id="261" r:id="rId9"/>
    <p:sldId id="262" r:id="rId10"/>
    <p:sldId id="263" r:id="rId11"/>
    <p:sldId id="264" r:id="rId12"/>
    <p:sldId id="278" r:id="rId13"/>
    <p:sldId id="275" r:id="rId14"/>
    <p:sldId id="277" r:id="rId15"/>
    <p:sldId id="265" r:id="rId16"/>
    <p:sldId id="266" r:id="rId17"/>
    <p:sldId id="267" r:id="rId18"/>
    <p:sldId id="268" r:id="rId19"/>
    <p:sldId id="269" r:id="rId20"/>
    <p:sldId id="27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58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627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9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264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57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46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111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6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0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02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347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7DE24-3E88-4CA4-BF46-85083FE18CBA}" type="datetimeFigureOut">
              <a:rPr lang="en-IN" smtClean="0"/>
              <a:t>24-01-2024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E3F47-2F80-4293-92D3-57787FA09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6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decrucks.com/binary-knapsack-problem-using-greedy-algorith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crucks.com/backtracking-what-why-and-how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Backtracking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Sum of Subsets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42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7"/>
            <a:ext cx="8507288" cy="4968552"/>
          </a:xfrm>
        </p:spPr>
        <p:txBody>
          <a:bodyPr>
            <a:normAutofit fontScale="77500" lnSpcReduction="20000"/>
          </a:bodyPr>
          <a:lstStyle/>
          <a:p>
            <a:pPr algn="just" fontAlgn="base"/>
            <a:r>
              <a:rPr lang="en-US" b="1" dirty="0"/>
              <a:t>Sum of Subsets Problem: </a:t>
            </a:r>
            <a:r>
              <a:rPr lang="en-US" dirty="0"/>
              <a:t>Given a set of positive integers, find the combination of numbers that sum to given value M.</a:t>
            </a:r>
          </a:p>
          <a:p>
            <a:pPr algn="just" fontAlgn="base"/>
            <a:r>
              <a:rPr lang="en-US" dirty="0"/>
              <a:t>Sum of subsets problem is analogous to the </a:t>
            </a:r>
            <a:r>
              <a:rPr lang="en-US" dirty="0">
                <a:hlinkClick r:id="rId2"/>
              </a:rPr>
              <a:t>knapsack problem</a:t>
            </a:r>
            <a:r>
              <a:rPr lang="en-US" dirty="0"/>
              <a:t>. </a:t>
            </a:r>
            <a:endParaRPr lang="en-US" dirty="0" smtClean="0"/>
          </a:p>
          <a:p>
            <a:pPr algn="just" fontAlgn="base"/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Knapsack Problem </a:t>
            </a:r>
            <a:r>
              <a:rPr lang="en-US" dirty="0"/>
              <a:t>tries to fill the knapsack using a given set of items to </a:t>
            </a:r>
            <a:r>
              <a:rPr lang="en-US" dirty="0">
                <a:solidFill>
                  <a:srgbClr val="FF0000"/>
                </a:solidFill>
              </a:rPr>
              <a:t>maximize the profit</a:t>
            </a:r>
            <a:r>
              <a:rPr lang="en-US" dirty="0" smtClean="0"/>
              <a:t>.</a:t>
            </a:r>
          </a:p>
          <a:p>
            <a:pPr algn="just" fontAlgn="base"/>
            <a:r>
              <a:rPr lang="en-US" dirty="0" smtClean="0"/>
              <a:t>Items </a:t>
            </a:r>
            <a:r>
              <a:rPr lang="en-US" dirty="0"/>
              <a:t>are selected in such a way that the total weight in the knapsack does not exceed the capacity of the knapsack. </a:t>
            </a:r>
            <a:endParaRPr lang="en-US" dirty="0" smtClean="0"/>
          </a:p>
          <a:p>
            <a:pPr algn="just" fontAlgn="base"/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inequality condition in the knapsack problem is replaced by equality in the sum of subsets problem.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 fontAlgn="base"/>
            <a:r>
              <a:rPr lang="en-US" dirty="0" smtClean="0"/>
              <a:t>Given </a:t>
            </a:r>
            <a:r>
              <a:rPr lang="en-US" dirty="0"/>
              <a:t>the set of n positive integers, W = {w1, w2, …, </a:t>
            </a:r>
            <a:r>
              <a:rPr lang="en-US" dirty="0" err="1"/>
              <a:t>wn</a:t>
            </a:r>
            <a:r>
              <a:rPr lang="en-US" dirty="0"/>
              <a:t>}, and given a positive integer M, the sum of the subset problem can be formulated as follows (where </a:t>
            </a:r>
            <a:r>
              <a:rPr lang="en-US" dirty="0" err="1"/>
              <a:t>wi</a:t>
            </a:r>
            <a:r>
              <a:rPr lang="en-US" dirty="0"/>
              <a:t> and M correspond to item weights and knapsack capacity in the knapsack problem):</a:t>
            </a:r>
          </a:p>
          <a:p>
            <a:pPr algn="just"/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5143433"/>
            <a:ext cx="3672408" cy="101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156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197" y="980728"/>
            <a:ext cx="878497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Numbers are sorted in ascending order, such that </a:t>
            </a:r>
            <a:r>
              <a:rPr lang="en-US" sz="2400" dirty="0" smtClean="0"/>
              <a:t>                        w</a:t>
            </a:r>
            <a:r>
              <a:rPr lang="en-US" sz="2400" baseline="-25000" dirty="0" smtClean="0"/>
              <a:t>1</a:t>
            </a:r>
            <a:r>
              <a:rPr lang="en-US" sz="2400" dirty="0"/>
              <a:t> &lt; w</a:t>
            </a:r>
            <a:r>
              <a:rPr lang="en-US" sz="2400" baseline="-25000" dirty="0"/>
              <a:t>2</a:t>
            </a:r>
            <a:r>
              <a:rPr lang="en-US" sz="2400" dirty="0"/>
              <a:t> &lt; w</a:t>
            </a:r>
            <a:r>
              <a:rPr lang="en-US" sz="2400" baseline="-25000" dirty="0"/>
              <a:t>3</a:t>
            </a:r>
            <a:r>
              <a:rPr lang="en-US" sz="2400" dirty="0"/>
              <a:t> &lt; …. &lt; </a:t>
            </a:r>
            <a:r>
              <a:rPr lang="en-US" sz="2400" dirty="0" err="1"/>
              <a:t>w</a:t>
            </a:r>
            <a:r>
              <a:rPr lang="en-US" sz="2400" baseline="-25000" dirty="0" err="1"/>
              <a:t>n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The </a:t>
            </a:r>
            <a:r>
              <a:rPr lang="en-US" sz="2400" dirty="0"/>
              <a:t>solution is often represented using the solution vector X. If the </a:t>
            </a:r>
            <a:r>
              <a:rPr lang="en-US" sz="2400" dirty="0" err="1"/>
              <a:t>ith</a:t>
            </a:r>
            <a:r>
              <a:rPr lang="en-US" sz="2400" dirty="0"/>
              <a:t> item is included, set xi to 1 else set it to 0. </a:t>
            </a:r>
            <a:endParaRPr lang="en-US" sz="2400" dirty="0" smtClean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In </a:t>
            </a:r>
            <a:r>
              <a:rPr lang="en-US" sz="2400" dirty="0"/>
              <a:t>each iteration, one item is tested. If </a:t>
            </a:r>
            <a:r>
              <a:rPr lang="en-US" sz="2400" dirty="0">
                <a:solidFill>
                  <a:srgbClr val="FF0000"/>
                </a:solidFill>
              </a:rPr>
              <a:t>the inclusion of an item does not violet the constraint of the problem, </a:t>
            </a:r>
            <a:r>
              <a:rPr lang="en-US" sz="2400" b="1" dirty="0">
                <a:solidFill>
                  <a:srgbClr val="FF0000"/>
                </a:solidFill>
              </a:rPr>
              <a:t>add it</a:t>
            </a:r>
            <a:r>
              <a:rPr lang="en-US" sz="2400" dirty="0"/>
              <a:t>. Otherwise, </a:t>
            </a:r>
            <a:r>
              <a:rPr lang="en-US" sz="2400" dirty="0">
                <a:solidFill>
                  <a:srgbClr val="FF0000"/>
                </a:solidFill>
              </a:rPr>
              <a:t>backtrack, </a:t>
            </a:r>
            <a:r>
              <a:rPr lang="en-US" sz="2400" b="1" dirty="0">
                <a:solidFill>
                  <a:srgbClr val="FF0000"/>
                </a:solidFill>
              </a:rPr>
              <a:t>remove the previously added item</a:t>
            </a:r>
            <a:r>
              <a:rPr lang="en-US" sz="2400" dirty="0">
                <a:solidFill>
                  <a:srgbClr val="FF0000"/>
                </a:solidFill>
              </a:rPr>
              <a:t>, and continue the same procedure for all remaining items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The </a:t>
            </a:r>
            <a:r>
              <a:rPr lang="en-US" sz="2400" dirty="0"/>
              <a:t>solution is easily described by the state space tree. </a:t>
            </a:r>
            <a:endParaRPr lang="en-US" sz="2400" dirty="0" smtClean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Each </a:t>
            </a:r>
            <a:r>
              <a:rPr lang="en-US" sz="2400" b="1" dirty="0">
                <a:solidFill>
                  <a:srgbClr val="FF0000"/>
                </a:solidFill>
              </a:rPr>
              <a:t>left edge denotes the inclusion of </a:t>
            </a:r>
            <a:r>
              <a:rPr lang="en-US" sz="2400" b="1" dirty="0" err="1">
                <a:solidFill>
                  <a:srgbClr val="FF0000"/>
                </a:solidFill>
              </a:rPr>
              <a:t>wi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and the </a:t>
            </a:r>
            <a:r>
              <a:rPr lang="en-US" sz="2400" b="1" dirty="0">
                <a:solidFill>
                  <a:srgbClr val="FF0000"/>
                </a:solidFill>
              </a:rPr>
              <a:t>right edge denotes the exclusion of </a:t>
            </a:r>
            <a:r>
              <a:rPr lang="en-US" sz="2400" b="1" dirty="0" err="1">
                <a:solidFill>
                  <a:srgbClr val="FF0000"/>
                </a:solidFill>
              </a:rPr>
              <a:t>w</a:t>
            </a:r>
            <a:r>
              <a:rPr lang="en-US" sz="2400" b="1" baseline="-25000" dirty="0" err="1">
                <a:solidFill>
                  <a:srgbClr val="FF0000"/>
                </a:solidFill>
              </a:rPr>
              <a:t>i</a:t>
            </a:r>
            <a:r>
              <a:rPr lang="en-US" sz="2400" b="1" dirty="0">
                <a:solidFill>
                  <a:srgbClr val="FF0000"/>
                </a:solidFill>
              </a:rPr>
              <a:t>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Any </a:t>
            </a:r>
            <a:r>
              <a:rPr lang="en-US" sz="2400" dirty="0"/>
              <a:t>path from the </a:t>
            </a:r>
            <a:r>
              <a:rPr lang="en-US" sz="2400" b="1" dirty="0">
                <a:solidFill>
                  <a:srgbClr val="FF0000"/>
                </a:solidFill>
              </a:rPr>
              <a:t>root to the leaf forms a subset</a:t>
            </a:r>
            <a:r>
              <a:rPr lang="en-US" sz="2400" dirty="0"/>
              <a:t>. A state-space tree for n = 3 is demonstrated in Fig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384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692696"/>
            <a:ext cx="6461053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938027" y="5733256"/>
            <a:ext cx="3798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Fig: </a:t>
            </a:r>
            <a:r>
              <a:rPr lang="en-US" sz="2400" dirty="0"/>
              <a:t>State space tree for n = 3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6758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878497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2800" b="1" dirty="0" smtClean="0">
                <a:solidFill>
                  <a:srgbClr val="FF0000"/>
                </a:solidFill>
              </a:rPr>
              <a:t>Backtracking</a:t>
            </a:r>
          </a:p>
          <a:p>
            <a:pPr algn="just" fontAlgn="base"/>
            <a:endParaRPr lang="en-US" sz="1100" b="1" dirty="0">
              <a:solidFill>
                <a:srgbClr val="FF0000"/>
              </a:solidFill>
            </a:endParaRP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2800" dirty="0"/>
              <a:t>In Backtracking algorithm as we go down along depth of tree we </a:t>
            </a:r>
            <a:r>
              <a:rPr lang="en-US" sz="2800" dirty="0">
                <a:solidFill>
                  <a:srgbClr val="FF0000"/>
                </a:solidFill>
              </a:rPr>
              <a:t>add</a:t>
            </a:r>
            <a:r>
              <a:rPr lang="en-US" sz="2800" dirty="0"/>
              <a:t> elements so far, and if the added sum is satisfying explicit constraints, we will continue to generate child nodes further. </a:t>
            </a:r>
            <a:endParaRPr lang="en-US" sz="28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2800" dirty="0" smtClean="0"/>
              <a:t>Whenever </a:t>
            </a:r>
            <a:r>
              <a:rPr lang="en-US" sz="2800" dirty="0"/>
              <a:t>the constraints are not met, we </a:t>
            </a:r>
            <a:r>
              <a:rPr lang="en-US" sz="2800" dirty="0">
                <a:solidFill>
                  <a:srgbClr val="FF0000"/>
                </a:solidFill>
              </a:rPr>
              <a:t>stop </a:t>
            </a:r>
            <a:r>
              <a:rPr lang="en-US" sz="2800" dirty="0"/>
              <a:t>further generation of sub-trees of that node, and </a:t>
            </a:r>
            <a:r>
              <a:rPr lang="en-US" sz="2800" dirty="0">
                <a:solidFill>
                  <a:srgbClr val="FF0000"/>
                </a:solidFill>
              </a:rPr>
              <a:t>backtrack </a:t>
            </a:r>
            <a:r>
              <a:rPr lang="en-US" sz="2800" dirty="0"/>
              <a:t>to previous node to explore the nodes not yet explored</a:t>
            </a:r>
            <a:r>
              <a:rPr lang="en-US" sz="2800" dirty="0" smtClean="0"/>
              <a:t>.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2800" dirty="0" smtClean="0"/>
              <a:t>We </a:t>
            </a:r>
            <a:r>
              <a:rPr lang="en-US" sz="2800" dirty="0"/>
              <a:t>need to explore the nodes along the </a:t>
            </a:r>
            <a:r>
              <a:rPr lang="en-US" sz="2800" dirty="0">
                <a:solidFill>
                  <a:srgbClr val="FF0000"/>
                </a:solidFill>
              </a:rPr>
              <a:t>breadth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depth</a:t>
            </a:r>
            <a:r>
              <a:rPr lang="en-US" sz="2800" dirty="0"/>
              <a:t> of the tree. </a:t>
            </a:r>
            <a:endParaRPr lang="en-US" sz="28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2800" dirty="0" smtClean="0"/>
              <a:t>Generating </a:t>
            </a:r>
            <a:r>
              <a:rPr lang="en-US" sz="2800" dirty="0"/>
              <a:t>nodes along </a:t>
            </a:r>
            <a:r>
              <a:rPr lang="en-US" sz="2800" dirty="0">
                <a:solidFill>
                  <a:srgbClr val="FF0000"/>
                </a:solidFill>
              </a:rPr>
              <a:t>breadth is controlled by loop </a:t>
            </a:r>
            <a:r>
              <a:rPr lang="en-US" sz="2800" dirty="0"/>
              <a:t>and nodes along the </a:t>
            </a:r>
            <a:r>
              <a:rPr lang="en-US" sz="2800" dirty="0">
                <a:solidFill>
                  <a:srgbClr val="FF0000"/>
                </a:solidFill>
              </a:rPr>
              <a:t>depth are generated using recursion </a:t>
            </a:r>
            <a:r>
              <a:rPr lang="en-US" sz="2800" dirty="0"/>
              <a:t>(post order traversal</a:t>
            </a:r>
            <a:r>
              <a:rPr lang="en-US" sz="2800" dirty="0" smtClean="0"/>
              <a:t>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4377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88640"/>
            <a:ext cx="878497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2800" b="1" dirty="0" smtClean="0">
                <a:solidFill>
                  <a:srgbClr val="FF0000"/>
                </a:solidFill>
              </a:rPr>
              <a:t>Algorithm :</a:t>
            </a:r>
          </a:p>
          <a:p>
            <a:pPr algn="just" fontAlgn="base"/>
            <a:endParaRPr lang="en-US" sz="2800" b="1" dirty="0" smtClean="0">
              <a:solidFill>
                <a:srgbClr val="FF0000"/>
              </a:solidFill>
            </a:endParaRP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sz="2800" dirty="0" smtClean="0"/>
              <a:t>Start </a:t>
            </a:r>
            <a:r>
              <a:rPr lang="en-US" sz="2800" dirty="0"/>
              <a:t>with an </a:t>
            </a:r>
            <a:r>
              <a:rPr lang="en-US" sz="2800" dirty="0">
                <a:solidFill>
                  <a:srgbClr val="FF0000"/>
                </a:solidFill>
              </a:rPr>
              <a:t>empty set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Add</a:t>
            </a:r>
            <a:r>
              <a:rPr lang="en-US" sz="2800" dirty="0"/>
              <a:t> the next element from the list to the set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sz="2800" dirty="0"/>
              <a:t>If the subset is </a:t>
            </a:r>
            <a:r>
              <a:rPr lang="en-US" sz="2800" dirty="0" smtClean="0"/>
              <a:t>equal to </a:t>
            </a:r>
            <a:r>
              <a:rPr lang="en-US" sz="2800" dirty="0"/>
              <a:t>sum M, then stop with that subset as solution.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sz="2800" dirty="0"/>
              <a:t>If the subset is </a:t>
            </a:r>
            <a:r>
              <a:rPr lang="en-US" sz="2800" dirty="0">
                <a:solidFill>
                  <a:srgbClr val="FF0000"/>
                </a:solidFill>
              </a:rPr>
              <a:t>not feasible </a:t>
            </a:r>
            <a:r>
              <a:rPr lang="en-US" sz="2800" dirty="0"/>
              <a:t>or if we have reached the </a:t>
            </a:r>
            <a:r>
              <a:rPr lang="en-US" sz="2800" dirty="0">
                <a:solidFill>
                  <a:srgbClr val="FF0000"/>
                </a:solidFill>
              </a:rPr>
              <a:t>end of the set</a:t>
            </a:r>
            <a:r>
              <a:rPr lang="en-US" sz="2800" dirty="0"/>
              <a:t>, then </a:t>
            </a:r>
            <a:r>
              <a:rPr lang="en-US" sz="2800" dirty="0">
                <a:solidFill>
                  <a:srgbClr val="FF0000"/>
                </a:solidFill>
              </a:rPr>
              <a:t>backtrack</a:t>
            </a:r>
            <a:r>
              <a:rPr lang="en-US" sz="2800" dirty="0"/>
              <a:t> through the subset until we find the most suitable value.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sz="2800" dirty="0"/>
              <a:t>If the subset is </a:t>
            </a:r>
            <a:r>
              <a:rPr lang="en-US" sz="2800" dirty="0">
                <a:solidFill>
                  <a:srgbClr val="FF0000"/>
                </a:solidFill>
              </a:rPr>
              <a:t>feasible (sum of </a:t>
            </a:r>
            <a:r>
              <a:rPr lang="en-US" sz="2800" dirty="0" smtClean="0">
                <a:solidFill>
                  <a:srgbClr val="FF0000"/>
                </a:solidFill>
              </a:rPr>
              <a:t>subset </a:t>
            </a:r>
            <a:r>
              <a:rPr lang="en-US" sz="2800" dirty="0">
                <a:solidFill>
                  <a:srgbClr val="FF0000"/>
                </a:solidFill>
              </a:rPr>
              <a:t>&lt; M) </a:t>
            </a:r>
            <a:r>
              <a:rPr lang="en-US" sz="2800" dirty="0"/>
              <a:t>then go to step 2.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en-US" sz="2800" dirty="0"/>
              <a:t>If we have visited all the elements without finding a suitable subset and </a:t>
            </a:r>
            <a:r>
              <a:rPr lang="en-US" sz="2800" dirty="0">
                <a:solidFill>
                  <a:srgbClr val="FF0000"/>
                </a:solidFill>
              </a:rPr>
              <a:t>if no backtracking is possible then stop </a:t>
            </a:r>
            <a:r>
              <a:rPr lang="en-US" sz="2800" dirty="0"/>
              <a:t>without solution.</a:t>
            </a:r>
          </a:p>
        </p:txBody>
      </p:sp>
    </p:spTree>
    <p:extLst>
      <p:ext uri="{BB962C8B-B14F-4D97-AF65-F5344CB8AC3E}">
        <p14:creationId xmlns:p14="http://schemas.microsoft.com/office/powerpoint/2010/main" val="158312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6567" y="63717"/>
            <a:ext cx="8136904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2400" b="1" dirty="0"/>
              <a:t>Problem: Consider the sum-of-subset problem, n = 4, Sum = 13, and w</a:t>
            </a:r>
            <a:r>
              <a:rPr lang="en-US" sz="2400" b="1" baseline="-25000" dirty="0"/>
              <a:t>1</a:t>
            </a:r>
            <a:r>
              <a:rPr lang="en-US" sz="2400" b="1" dirty="0"/>
              <a:t> = 3, w</a:t>
            </a:r>
            <a:r>
              <a:rPr lang="en-US" sz="2400" b="1" baseline="-25000" dirty="0"/>
              <a:t>2</a:t>
            </a:r>
            <a:r>
              <a:rPr lang="en-US" sz="2400" b="1" dirty="0"/>
              <a:t> = 4, w</a:t>
            </a:r>
            <a:r>
              <a:rPr lang="en-US" sz="2400" b="1" baseline="-25000" dirty="0"/>
              <a:t>3</a:t>
            </a:r>
            <a:r>
              <a:rPr lang="en-US" sz="2400" b="1" dirty="0"/>
              <a:t> = 5 and w</a:t>
            </a:r>
            <a:r>
              <a:rPr lang="en-US" sz="2400" b="1" baseline="-25000" dirty="0"/>
              <a:t>4</a:t>
            </a:r>
            <a:r>
              <a:rPr lang="en-US" sz="2400" b="1" dirty="0"/>
              <a:t> = 6. Find a solution to the problem using backtracking. Show the state-space tree leading to the solution. Also, number the nodes in the tree in the order of recursion calls</a:t>
            </a:r>
            <a:r>
              <a:rPr lang="en-US" sz="2400" b="1" dirty="0" smtClean="0"/>
              <a:t>.</a:t>
            </a:r>
          </a:p>
          <a:p>
            <a:pPr algn="just" fontAlgn="base"/>
            <a:r>
              <a:rPr lang="en-US" sz="2400" b="1" dirty="0" smtClean="0"/>
              <a:t>Solution:</a:t>
            </a:r>
          </a:p>
          <a:p>
            <a:pPr algn="just" fontAlgn="base"/>
            <a:endParaRPr lang="en-US" sz="2400" dirty="0"/>
          </a:p>
          <a:p>
            <a:pPr algn="just" fontAlgn="base"/>
            <a:r>
              <a:rPr lang="en-US" sz="2400" dirty="0"/>
              <a:t>The correct combination to get the sum of M = 13 for given W = {3, 4, 5, 6} is [3, 4, 6]. </a:t>
            </a:r>
            <a:endParaRPr lang="en-US" sz="2400" dirty="0" smtClean="0"/>
          </a:p>
          <a:p>
            <a:pPr algn="just" fontAlgn="base"/>
            <a:endParaRPr lang="en-US" sz="2400" dirty="0"/>
          </a:p>
          <a:p>
            <a:pPr algn="just" fontAlgn="base"/>
            <a:r>
              <a:rPr lang="en-US" sz="2400" dirty="0" smtClean="0"/>
              <a:t>The </a:t>
            </a:r>
            <a:r>
              <a:rPr lang="en-US" sz="2400" dirty="0"/>
              <a:t>solution vector for [3, 4, 6] would be X = [1, 1, 0, 1] because element 5 is not chosen, so X[3] = 0. </a:t>
            </a:r>
            <a:endParaRPr lang="en-US" sz="2400" dirty="0" smtClean="0"/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Let’s </a:t>
            </a:r>
            <a:r>
              <a:rPr lang="en-US" sz="2400" dirty="0"/>
              <a:t>derive the solution using </a:t>
            </a:r>
            <a:r>
              <a:rPr lang="en-US" sz="2400" dirty="0">
                <a:hlinkClick r:id="rId2"/>
              </a:rPr>
              <a:t>backtracking</a:t>
            </a:r>
            <a:r>
              <a:rPr lang="en-US" sz="2400" dirty="0"/>
              <a:t>. The numbers in W are already sorted</a:t>
            </a:r>
            <a:r>
              <a:rPr lang="en-US" sz="2400" dirty="0" smtClean="0"/>
              <a:t>.  </a:t>
            </a:r>
            <a:endParaRPr lang="en-US" sz="2400" dirty="0"/>
          </a:p>
          <a:p>
            <a:pPr algn="just" fontAlgn="base"/>
            <a:r>
              <a:rPr lang="en-US" sz="2400" dirty="0"/>
              <a:t>Set X    =   [0, 0, 0, 0</a:t>
            </a:r>
            <a:r>
              <a:rPr lang="en-US" sz="2400" dirty="0" smtClean="0"/>
              <a:t>]   ;   Set </a:t>
            </a:r>
            <a:r>
              <a:rPr lang="en-US" sz="2400" dirty="0"/>
              <a:t>Sum = 0. Sum indicates summation of selected numbers from W.</a:t>
            </a:r>
          </a:p>
        </p:txBody>
      </p:sp>
    </p:spTree>
    <p:extLst>
      <p:ext uri="{BB962C8B-B14F-4D97-AF65-F5344CB8AC3E}">
        <p14:creationId xmlns:p14="http://schemas.microsoft.com/office/powerpoint/2010/main" val="119569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9622" y="1412776"/>
            <a:ext cx="743679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800" b="1" dirty="0"/>
              <a:t>Step 1 :</a:t>
            </a:r>
            <a:r>
              <a:rPr lang="en-IN" sz="2800" dirty="0"/>
              <a:t>     </a:t>
            </a:r>
            <a:r>
              <a:rPr lang="en-IN" sz="2800" dirty="0" err="1"/>
              <a:t>i</a:t>
            </a:r>
            <a:r>
              <a:rPr lang="en-IN" sz="2800" dirty="0"/>
              <a:t> = 1, Adding item </a:t>
            </a:r>
            <a:r>
              <a:rPr lang="en-IN" sz="2800" dirty="0" err="1"/>
              <a:t>w</a:t>
            </a:r>
            <a:r>
              <a:rPr lang="en-IN" sz="2800" baseline="-25000" dirty="0" err="1"/>
              <a:t>i</a:t>
            </a:r>
            <a:endParaRPr lang="en-IN" sz="2800" dirty="0"/>
          </a:p>
          <a:p>
            <a:pPr fontAlgn="base"/>
            <a:r>
              <a:rPr lang="en-IN" sz="2800" dirty="0"/>
              <a:t>Sum = Sum + </a:t>
            </a:r>
            <a:r>
              <a:rPr lang="en-IN" sz="2800" dirty="0" err="1"/>
              <a:t>w</a:t>
            </a:r>
            <a:r>
              <a:rPr lang="en-IN" sz="2800" baseline="-25000" dirty="0" err="1"/>
              <a:t>i</a:t>
            </a:r>
            <a:r>
              <a:rPr lang="en-IN" sz="2800" dirty="0"/>
              <a:t> = Sum + w</a:t>
            </a:r>
            <a:r>
              <a:rPr lang="en-IN" sz="2800" baseline="-25000" dirty="0"/>
              <a:t>1</a:t>
            </a:r>
            <a:r>
              <a:rPr lang="en-IN" sz="2800" dirty="0"/>
              <a:t> = 0 + 3 = 3</a:t>
            </a:r>
          </a:p>
          <a:p>
            <a:pPr fontAlgn="base"/>
            <a:r>
              <a:rPr lang="en-IN" sz="2800" dirty="0"/>
              <a:t>Sum ≤ </a:t>
            </a:r>
            <a:r>
              <a:rPr lang="en-IN" sz="2800" dirty="0" smtClean="0"/>
              <a:t>M</a:t>
            </a:r>
            <a:r>
              <a:rPr lang="en-IN" sz="2800" dirty="0" smtClean="0">
                <a:solidFill>
                  <a:srgbClr val="FF0000"/>
                </a:solidFill>
              </a:rPr>
              <a:t>(13)</a:t>
            </a:r>
            <a:r>
              <a:rPr lang="en-IN" sz="2800" dirty="0" smtClean="0"/>
              <a:t>, </a:t>
            </a:r>
            <a:r>
              <a:rPr lang="en-IN" sz="2800" dirty="0"/>
              <a:t>so add item </a:t>
            </a:r>
            <a:r>
              <a:rPr lang="en-IN" sz="2800" dirty="0" err="1"/>
              <a:t>i</a:t>
            </a:r>
            <a:r>
              <a:rPr lang="en-IN" sz="2800" dirty="0"/>
              <a:t> to solution set.</a:t>
            </a:r>
          </a:p>
          <a:p>
            <a:pPr fontAlgn="base"/>
            <a:r>
              <a:rPr lang="en-IN" sz="2800" dirty="0"/>
              <a:t>X[</a:t>
            </a:r>
            <a:r>
              <a:rPr lang="en-IN" sz="2800" dirty="0" err="1"/>
              <a:t>i</a:t>
            </a:r>
            <a:r>
              <a:rPr lang="en-IN" sz="2800" dirty="0"/>
              <a:t>] = X[1] = 1 ⇒ X =[1, 0, 0, 0</a:t>
            </a:r>
            <a:r>
              <a:rPr lang="en-IN" sz="2800" dirty="0" smtClean="0"/>
              <a:t>]</a:t>
            </a:r>
          </a:p>
          <a:p>
            <a:pPr fontAlgn="base"/>
            <a:endParaRPr lang="en-IN" sz="2800" dirty="0"/>
          </a:p>
          <a:p>
            <a:pPr fontAlgn="base"/>
            <a:r>
              <a:rPr lang="en-IN" sz="2800" b="1" dirty="0"/>
              <a:t>Step 2 :</a:t>
            </a:r>
            <a:r>
              <a:rPr lang="en-IN" sz="2800" dirty="0"/>
              <a:t>     </a:t>
            </a:r>
            <a:r>
              <a:rPr lang="en-IN" sz="2800" dirty="0" err="1"/>
              <a:t>i</a:t>
            </a:r>
            <a:r>
              <a:rPr lang="en-IN" sz="2800" dirty="0"/>
              <a:t> = 2, Adding item w</a:t>
            </a:r>
            <a:r>
              <a:rPr lang="en-IN" sz="2800" baseline="-25000" dirty="0"/>
              <a:t>2</a:t>
            </a:r>
            <a:endParaRPr lang="en-IN" sz="2800" dirty="0"/>
          </a:p>
          <a:p>
            <a:pPr fontAlgn="base"/>
            <a:r>
              <a:rPr lang="en-IN" sz="2800" dirty="0"/>
              <a:t>Sum = Sum + </a:t>
            </a:r>
            <a:r>
              <a:rPr lang="en-IN" sz="2800" dirty="0" err="1"/>
              <a:t>w</a:t>
            </a:r>
            <a:r>
              <a:rPr lang="en-IN" sz="2800" baseline="-25000" dirty="0" err="1"/>
              <a:t>i</a:t>
            </a:r>
            <a:r>
              <a:rPr lang="en-IN" sz="2800" dirty="0"/>
              <a:t> = Sum + w</a:t>
            </a:r>
            <a:r>
              <a:rPr lang="en-IN" sz="2800" baseline="-25000" dirty="0"/>
              <a:t>2</a:t>
            </a:r>
            <a:r>
              <a:rPr lang="en-IN" sz="2800" dirty="0"/>
              <a:t> = 3 + 4 = 7</a:t>
            </a:r>
          </a:p>
          <a:p>
            <a:pPr fontAlgn="base"/>
            <a:r>
              <a:rPr lang="en-IN" sz="2800" dirty="0"/>
              <a:t>Sum ≤ </a:t>
            </a:r>
            <a:r>
              <a:rPr lang="en-IN" sz="2800" dirty="0" smtClean="0"/>
              <a:t>M</a:t>
            </a:r>
            <a:r>
              <a:rPr lang="en-IN" sz="2800" dirty="0">
                <a:solidFill>
                  <a:srgbClr val="FF0000"/>
                </a:solidFill>
              </a:rPr>
              <a:t>(13)</a:t>
            </a:r>
            <a:r>
              <a:rPr lang="en-IN" sz="2800" dirty="0" smtClean="0"/>
              <a:t>, </a:t>
            </a:r>
            <a:r>
              <a:rPr lang="en-IN" sz="2800" dirty="0"/>
              <a:t>so add item </a:t>
            </a:r>
            <a:r>
              <a:rPr lang="en-IN" sz="2800" dirty="0" err="1"/>
              <a:t>i</a:t>
            </a:r>
            <a:r>
              <a:rPr lang="en-IN" sz="2800" dirty="0"/>
              <a:t> to solution set.</a:t>
            </a:r>
          </a:p>
          <a:p>
            <a:pPr fontAlgn="base"/>
            <a:r>
              <a:rPr lang="en-IN" sz="2800" dirty="0"/>
              <a:t>X[</a:t>
            </a:r>
            <a:r>
              <a:rPr lang="en-IN" sz="2800" dirty="0" err="1"/>
              <a:t>i</a:t>
            </a:r>
            <a:r>
              <a:rPr lang="en-IN" sz="2800" dirty="0"/>
              <a:t>] = X[2] = 1 ⇒ X =[1, 1, 0, 0]</a:t>
            </a:r>
          </a:p>
        </p:txBody>
      </p:sp>
    </p:spTree>
    <p:extLst>
      <p:ext uri="{BB962C8B-B14F-4D97-AF65-F5344CB8AC3E}">
        <p14:creationId xmlns:p14="http://schemas.microsoft.com/office/powerpoint/2010/main" val="325491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052736"/>
            <a:ext cx="88924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800" b="1" dirty="0"/>
              <a:t>Step 3 :</a:t>
            </a:r>
            <a:r>
              <a:rPr lang="en-IN" sz="2800" dirty="0"/>
              <a:t>     </a:t>
            </a:r>
            <a:r>
              <a:rPr lang="en-IN" sz="2800" dirty="0" err="1"/>
              <a:t>i</a:t>
            </a:r>
            <a:r>
              <a:rPr lang="en-IN" sz="2800" dirty="0"/>
              <a:t> = 3, Adding item w</a:t>
            </a:r>
            <a:r>
              <a:rPr lang="en-IN" sz="2800" baseline="-25000" dirty="0"/>
              <a:t>3</a:t>
            </a:r>
            <a:endParaRPr lang="en-IN" sz="2800" dirty="0"/>
          </a:p>
          <a:p>
            <a:pPr fontAlgn="base"/>
            <a:r>
              <a:rPr lang="en-IN" sz="2800" dirty="0"/>
              <a:t>Sum = Sum + </a:t>
            </a:r>
            <a:r>
              <a:rPr lang="en-IN" sz="2800" dirty="0" err="1"/>
              <a:t>w</a:t>
            </a:r>
            <a:r>
              <a:rPr lang="en-IN" sz="2800" baseline="-25000" dirty="0" err="1"/>
              <a:t>i</a:t>
            </a:r>
            <a:r>
              <a:rPr lang="en-IN" sz="2800" dirty="0"/>
              <a:t> = Sum + w</a:t>
            </a:r>
            <a:r>
              <a:rPr lang="en-IN" sz="2800" baseline="-25000" dirty="0"/>
              <a:t>3</a:t>
            </a:r>
            <a:r>
              <a:rPr lang="en-IN" sz="2800" dirty="0"/>
              <a:t> = 7 + 5 = 12</a:t>
            </a:r>
          </a:p>
          <a:p>
            <a:pPr fontAlgn="base"/>
            <a:r>
              <a:rPr lang="en-IN" sz="2800" dirty="0"/>
              <a:t>Sum ≤ </a:t>
            </a:r>
            <a:r>
              <a:rPr lang="en-IN" sz="2800" dirty="0" smtClean="0"/>
              <a:t>M</a:t>
            </a:r>
            <a:r>
              <a:rPr lang="en-IN" sz="2800" dirty="0">
                <a:solidFill>
                  <a:srgbClr val="FF0000"/>
                </a:solidFill>
              </a:rPr>
              <a:t>(13)</a:t>
            </a:r>
            <a:r>
              <a:rPr lang="en-IN" sz="2800" dirty="0" smtClean="0"/>
              <a:t>, </a:t>
            </a:r>
            <a:r>
              <a:rPr lang="en-IN" sz="2800" dirty="0"/>
              <a:t>so add item </a:t>
            </a:r>
            <a:r>
              <a:rPr lang="en-IN" sz="2800" dirty="0" err="1"/>
              <a:t>i</a:t>
            </a:r>
            <a:r>
              <a:rPr lang="en-IN" sz="2800" dirty="0"/>
              <a:t> to solution set.</a:t>
            </a:r>
          </a:p>
          <a:p>
            <a:pPr fontAlgn="base"/>
            <a:r>
              <a:rPr lang="en-IN" sz="2800" dirty="0"/>
              <a:t>X[</a:t>
            </a:r>
            <a:r>
              <a:rPr lang="en-IN" sz="2800" dirty="0" err="1"/>
              <a:t>i</a:t>
            </a:r>
            <a:r>
              <a:rPr lang="en-IN" sz="2800" dirty="0"/>
              <a:t>] = X[3] = 1 ⇒ X =[1, 1, 1, 0]</a:t>
            </a:r>
          </a:p>
          <a:p>
            <a:pPr fontAlgn="base"/>
            <a:r>
              <a:rPr lang="en-IN" sz="2800" b="1" dirty="0"/>
              <a:t>Step 4 :</a:t>
            </a:r>
            <a:r>
              <a:rPr lang="en-IN" sz="2800" dirty="0"/>
              <a:t>     </a:t>
            </a:r>
            <a:r>
              <a:rPr lang="en-IN" sz="2800" dirty="0" err="1"/>
              <a:t>i</a:t>
            </a:r>
            <a:r>
              <a:rPr lang="en-IN" sz="2800" dirty="0"/>
              <a:t> = 4, Adding item w</a:t>
            </a:r>
            <a:r>
              <a:rPr lang="en-IN" sz="2800" baseline="-25000" dirty="0"/>
              <a:t>4</a:t>
            </a:r>
            <a:endParaRPr lang="en-IN" sz="2800" dirty="0"/>
          </a:p>
          <a:p>
            <a:pPr fontAlgn="base"/>
            <a:r>
              <a:rPr lang="en-IN" sz="2800" dirty="0"/>
              <a:t>Sum = Sum + </a:t>
            </a:r>
            <a:r>
              <a:rPr lang="en-IN" sz="2800" dirty="0" err="1"/>
              <a:t>w</a:t>
            </a:r>
            <a:r>
              <a:rPr lang="en-IN" sz="2800" baseline="-25000" dirty="0" err="1"/>
              <a:t>i</a:t>
            </a:r>
            <a:r>
              <a:rPr lang="en-IN" sz="2800" dirty="0"/>
              <a:t> = Sum + w</a:t>
            </a:r>
            <a:r>
              <a:rPr lang="en-IN" sz="2800" baseline="-25000" dirty="0"/>
              <a:t>4</a:t>
            </a:r>
            <a:r>
              <a:rPr lang="en-IN" sz="2800" dirty="0"/>
              <a:t> = 12 + 6 = 18</a:t>
            </a:r>
          </a:p>
          <a:p>
            <a:pPr fontAlgn="base"/>
            <a:r>
              <a:rPr lang="en-IN" sz="2800" dirty="0"/>
              <a:t>Sum &gt; </a:t>
            </a:r>
            <a:r>
              <a:rPr lang="en-IN" sz="2800" dirty="0" smtClean="0"/>
              <a:t>M</a:t>
            </a:r>
            <a:r>
              <a:rPr lang="en-IN" sz="2800" dirty="0">
                <a:solidFill>
                  <a:srgbClr val="FF0000"/>
                </a:solidFill>
              </a:rPr>
              <a:t>(13)</a:t>
            </a:r>
            <a:r>
              <a:rPr lang="en-IN" sz="2800" dirty="0" smtClean="0"/>
              <a:t>, </a:t>
            </a:r>
            <a:r>
              <a:rPr lang="en-IN" sz="2800" dirty="0"/>
              <a:t>so backtrack and remove the previously added item from the solution set.</a:t>
            </a:r>
          </a:p>
          <a:p>
            <a:pPr fontAlgn="base"/>
            <a:r>
              <a:rPr lang="en-IN" sz="2800" dirty="0"/>
              <a:t>X[</a:t>
            </a:r>
            <a:r>
              <a:rPr lang="en-IN" sz="2800" dirty="0" err="1"/>
              <a:t>i</a:t>
            </a:r>
            <a:r>
              <a:rPr lang="en-IN" sz="2800" dirty="0"/>
              <a:t>] = X[3] = 0 ⇒ X =[1, 1, 0, 0].</a:t>
            </a:r>
          </a:p>
          <a:p>
            <a:pPr fontAlgn="base"/>
            <a:r>
              <a:rPr lang="en-IN" sz="2800" dirty="0"/>
              <a:t>Update Sum accordingly. So, Sum = Sum – w</a:t>
            </a:r>
            <a:r>
              <a:rPr lang="en-IN" sz="2800" baseline="-25000" dirty="0"/>
              <a:t>3</a:t>
            </a:r>
            <a:r>
              <a:rPr lang="en-IN" sz="2800" dirty="0"/>
              <a:t> = 12 – 5 = 7</a:t>
            </a:r>
          </a:p>
          <a:p>
            <a:pPr fontAlgn="base"/>
            <a:r>
              <a:rPr lang="en-IN" sz="2800" dirty="0"/>
              <a:t>And don’t increment </a:t>
            </a:r>
            <a:r>
              <a:rPr lang="en-IN" sz="2800" dirty="0" err="1"/>
              <a:t>i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129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1556792"/>
            <a:ext cx="73448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dirty="0"/>
              <a:t>Step 5 :</a:t>
            </a:r>
            <a:r>
              <a:rPr lang="en-US" sz="2800" dirty="0"/>
              <a:t>     </a:t>
            </a:r>
            <a:r>
              <a:rPr lang="en-US" sz="2800" dirty="0" err="1"/>
              <a:t>i</a:t>
            </a:r>
            <a:r>
              <a:rPr lang="en-US" sz="2800" dirty="0"/>
              <a:t> = 4, Adding item w</a:t>
            </a:r>
            <a:r>
              <a:rPr lang="en-US" sz="2800" baseline="-25000" dirty="0"/>
              <a:t>4</a:t>
            </a:r>
            <a:endParaRPr lang="en-US" sz="2800" dirty="0"/>
          </a:p>
          <a:p>
            <a:pPr fontAlgn="base"/>
            <a:r>
              <a:rPr lang="en-US" sz="2800" dirty="0"/>
              <a:t>Sum = Sum + </a:t>
            </a:r>
            <a:r>
              <a:rPr lang="en-US" sz="2800" dirty="0" err="1"/>
              <a:t>w</a:t>
            </a:r>
            <a:r>
              <a:rPr lang="en-US" sz="2800" baseline="-25000" dirty="0" err="1"/>
              <a:t>i</a:t>
            </a:r>
            <a:r>
              <a:rPr lang="en-US" sz="2800" dirty="0"/>
              <a:t> = Sum + w</a:t>
            </a:r>
            <a:r>
              <a:rPr lang="en-US" sz="2800" baseline="-25000" dirty="0"/>
              <a:t>4</a:t>
            </a:r>
            <a:r>
              <a:rPr lang="en-US" sz="2800" dirty="0"/>
              <a:t> = 7 + 6 = 13</a:t>
            </a:r>
          </a:p>
          <a:p>
            <a:pPr fontAlgn="base"/>
            <a:r>
              <a:rPr lang="en-US" sz="2800" dirty="0"/>
              <a:t>Sum = </a:t>
            </a:r>
            <a:r>
              <a:rPr lang="en-US" sz="2800" dirty="0" smtClean="0"/>
              <a:t>M</a:t>
            </a:r>
            <a:r>
              <a:rPr lang="en-IN" sz="2800" dirty="0">
                <a:solidFill>
                  <a:srgbClr val="FF0000"/>
                </a:solidFill>
              </a:rPr>
              <a:t>(13)</a:t>
            </a:r>
            <a:r>
              <a:rPr lang="en-US" sz="2800" dirty="0" smtClean="0"/>
              <a:t>, </a:t>
            </a:r>
            <a:r>
              <a:rPr lang="en-US" sz="2800" dirty="0"/>
              <a:t>so </a:t>
            </a:r>
            <a:r>
              <a:rPr lang="en-US" sz="2800" dirty="0">
                <a:solidFill>
                  <a:srgbClr val="FF0000"/>
                </a:solidFill>
              </a:rPr>
              <a:t>solution is found </a:t>
            </a:r>
            <a:r>
              <a:rPr lang="en-US" sz="2800" dirty="0"/>
              <a:t>and add item </a:t>
            </a:r>
            <a:r>
              <a:rPr lang="en-US" sz="2800" dirty="0" err="1"/>
              <a:t>i</a:t>
            </a:r>
            <a:r>
              <a:rPr lang="en-US" sz="2800" dirty="0"/>
              <a:t> to solution set.</a:t>
            </a:r>
          </a:p>
          <a:p>
            <a:pPr fontAlgn="base"/>
            <a:r>
              <a:rPr lang="en-US" sz="2800" dirty="0"/>
              <a:t>X[</a:t>
            </a:r>
            <a:r>
              <a:rPr lang="en-US" sz="2800" dirty="0" err="1"/>
              <a:t>i</a:t>
            </a:r>
            <a:r>
              <a:rPr lang="en-US" sz="2800" dirty="0"/>
              <a:t>] = X[4] = 1 ⇒ X =[1, 1, 0, 1] A complete state space tree for given data is shown in Fig</a:t>
            </a:r>
          </a:p>
        </p:txBody>
      </p:sp>
    </p:spTree>
    <p:extLst>
      <p:ext uri="{BB962C8B-B14F-4D97-AF65-F5344CB8AC3E}">
        <p14:creationId xmlns:p14="http://schemas.microsoft.com/office/powerpoint/2010/main" val="81320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538163"/>
            <a:ext cx="9029700" cy="578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474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5576" y="1628800"/>
            <a:ext cx="7992888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Complexity Analysis</a:t>
            </a:r>
          </a:p>
          <a:p>
            <a:r>
              <a:rPr lang="en-IN" sz="3200" dirty="0"/>
              <a:t>It is intuitive to derive the complexity of sum of the subset problem. In the state-space tree, at level </a:t>
            </a:r>
            <a:r>
              <a:rPr lang="en-IN" sz="3200" dirty="0" err="1"/>
              <a:t>i</a:t>
            </a:r>
            <a:r>
              <a:rPr lang="en-IN" sz="3200" dirty="0"/>
              <a:t>, the tree has 2i nodes. So, given n items, the total number of nodes in the tree would be 1 + 2 + 2</a:t>
            </a:r>
            <a:r>
              <a:rPr lang="en-IN" sz="3200" baseline="30000" dirty="0"/>
              <a:t>2</a:t>
            </a:r>
            <a:r>
              <a:rPr lang="en-IN" sz="3200" dirty="0"/>
              <a:t> + 2</a:t>
            </a:r>
            <a:r>
              <a:rPr lang="en-IN" sz="3200" baseline="30000" dirty="0"/>
              <a:t>3</a:t>
            </a:r>
            <a:r>
              <a:rPr lang="en-IN" sz="3200" dirty="0"/>
              <a:t> + .. 2</a:t>
            </a:r>
            <a:r>
              <a:rPr lang="en-IN" sz="3200" baseline="30000" dirty="0"/>
              <a:t>n</a:t>
            </a:r>
            <a:r>
              <a:rPr lang="en-IN" sz="3200" dirty="0"/>
              <a:t>.</a:t>
            </a:r>
          </a:p>
          <a:p>
            <a:r>
              <a:rPr lang="en-IN" sz="3200" dirty="0"/>
              <a:t>T(n)    =   1 + 2 + 2</a:t>
            </a:r>
            <a:r>
              <a:rPr lang="en-IN" sz="3200" baseline="30000" dirty="0"/>
              <a:t>2</a:t>
            </a:r>
            <a:r>
              <a:rPr lang="en-IN" sz="3200" dirty="0"/>
              <a:t> + 2</a:t>
            </a:r>
            <a:r>
              <a:rPr lang="en-IN" sz="3200" baseline="30000" dirty="0"/>
              <a:t>3</a:t>
            </a:r>
            <a:r>
              <a:rPr lang="en-IN" sz="3200" dirty="0"/>
              <a:t> + .. 2</a:t>
            </a:r>
            <a:r>
              <a:rPr lang="en-IN" sz="3200" baseline="30000" dirty="0"/>
              <a:t>n</a:t>
            </a:r>
            <a:r>
              <a:rPr lang="en-IN" sz="3200" dirty="0"/>
              <a:t> = 2</a:t>
            </a:r>
            <a:r>
              <a:rPr lang="en-IN" sz="3200" baseline="30000" dirty="0"/>
              <a:t>n+1</a:t>
            </a:r>
            <a:r>
              <a:rPr lang="en-IN" sz="3200" dirty="0"/>
              <a:t> – 1 = O(2</a:t>
            </a:r>
            <a:r>
              <a:rPr lang="en-IN" sz="3200" baseline="30000" dirty="0"/>
              <a:t>n</a:t>
            </a:r>
            <a:r>
              <a:rPr lang="en-I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88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1871171"/>
            <a:ext cx="85689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dirty="0"/>
              <a:t>Example:</a:t>
            </a:r>
            <a:endParaRPr lang="en-US" sz="2800" dirty="0"/>
          </a:p>
          <a:p>
            <a:pPr fontAlgn="base"/>
            <a:r>
              <a:rPr lang="en-US" sz="2800" b="1" dirty="0"/>
              <a:t>Analyze sum of subsets algorithm on data :</a:t>
            </a:r>
            <a:endParaRPr lang="en-US" sz="2800" dirty="0"/>
          </a:p>
          <a:p>
            <a:pPr fontAlgn="base"/>
            <a:r>
              <a:rPr lang="en-US" sz="2800" b="1" dirty="0"/>
              <a:t>M = 35 and</a:t>
            </a:r>
            <a:endParaRPr lang="en-US" sz="2800" dirty="0"/>
          </a:p>
          <a:p>
            <a:pPr fontAlgn="base"/>
            <a:r>
              <a:rPr lang="en-US" sz="2800" b="1" dirty="0"/>
              <a:t>  w = {5, 7, 10, 12, 15, 18, 20}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9903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36" y="255047"/>
            <a:ext cx="8754080" cy="63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146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42393"/>
            <a:ext cx="85689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dirty="0"/>
              <a:t>Example:</a:t>
            </a:r>
            <a:endParaRPr lang="en-US" sz="2800" dirty="0"/>
          </a:p>
          <a:p>
            <a:pPr fontAlgn="base"/>
            <a:r>
              <a:rPr lang="en-US" sz="2800" b="1" dirty="0"/>
              <a:t>Analyze sum of subsets algorithm on data :</a:t>
            </a:r>
            <a:endParaRPr lang="en-US" sz="2800" dirty="0"/>
          </a:p>
          <a:p>
            <a:pPr fontAlgn="base"/>
            <a:r>
              <a:rPr lang="en-US" sz="2800" b="1" dirty="0"/>
              <a:t>M = 35 and</a:t>
            </a:r>
            <a:endParaRPr lang="en-US" sz="2800" dirty="0"/>
          </a:p>
          <a:p>
            <a:pPr fontAlgn="base"/>
            <a:r>
              <a:rPr lang="en-US" sz="2800" b="1" dirty="0"/>
              <a:t>  w = {5, 7, 10, 12, 15, 18, 20}</a:t>
            </a:r>
            <a:endParaRPr lang="en-US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492792"/>
              </p:ext>
            </p:extLst>
          </p:nvPr>
        </p:nvGraphicFramePr>
        <p:xfrm>
          <a:off x="1187624" y="3212976"/>
          <a:ext cx="6768753" cy="3314700"/>
        </p:xfrm>
        <a:graphic>
          <a:graphicData uri="http://schemas.openxmlformats.org/drawingml/2006/table">
            <a:tbl>
              <a:tblPr/>
              <a:tblGrid>
                <a:gridCol w="2256251"/>
                <a:gridCol w="2256251"/>
                <a:gridCol w="2256251"/>
              </a:tblGrid>
              <a:tr h="361282"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>
                          <a:effectLst/>
                          <a:latin typeface="inherit"/>
                        </a:rPr>
                        <a:t>Items in sub set</a:t>
                      </a:r>
                      <a:endParaRPr lang="en-IN" dirty="0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>
                          <a:effectLst/>
                          <a:latin typeface="inherit"/>
                        </a:rPr>
                        <a:t>Condition</a:t>
                      </a:r>
                      <a:endParaRPr lang="en-IN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>
                          <a:effectLst/>
                          <a:latin typeface="inherit"/>
                        </a:rPr>
                        <a:t>Comment</a:t>
                      </a:r>
                      <a:endParaRPr lang="en-IN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282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{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Initial condition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629449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{ 5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5 &lt; 35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Select 5 and Add next element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449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{ 5, 7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</a:rPr>
                        <a:t>12 &lt; 35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Select 7 and Add next element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629449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{ 5, 7, 10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22 &lt; 35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Select 20 and Add next element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449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{ 5, 7, 10, 12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34 &lt; 35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Select 12 and Add next element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3528" y="1845906"/>
            <a:ext cx="6397585" cy="12926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Solution: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Roboto Condensed"/>
                <a:cs typeface="Arial" pitchFamily="34" charset="0"/>
              </a:rPr>
              <a:t>Let us run the algorithm on first instance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Roboto Condensed"/>
                <a:cs typeface="Arial" pitchFamily="34" charset="0"/>
              </a:rPr>
              <a:t> w = {5, 7, 10, 12, 15, 18, 20}.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19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690496"/>
              </p:ext>
            </p:extLst>
          </p:nvPr>
        </p:nvGraphicFramePr>
        <p:xfrm>
          <a:off x="0" y="247931"/>
          <a:ext cx="9036496" cy="6303271"/>
        </p:xfrm>
        <a:graphic>
          <a:graphicData uri="http://schemas.openxmlformats.org/drawingml/2006/table">
            <a:tbl>
              <a:tblPr/>
              <a:tblGrid>
                <a:gridCol w="2334427"/>
                <a:gridCol w="1506083"/>
                <a:gridCol w="5195986"/>
              </a:tblGrid>
              <a:tr h="57606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dirty="0">
                          <a:effectLst/>
                        </a:rPr>
                        <a:t>{ 5, 7, 10, 12, 15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49 &gt;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dirty="0">
                          <a:effectLst/>
                        </a:rPr>
                        <a:t>Sum exceeds M, so backtrack and remove 12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4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7, 10, 15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dirty="0">
                          <a:effectLst/>
                        </a:rPr>
                        <a:t>37 &gt;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>
                          <a:effectLst/>
                        </a:rPr>
                        <a:t>Sum exceeds M, so backtrack and remove 15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856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7, 12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24 &lt;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Add next element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96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7, 12, 15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39 &gt;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dirty="0">
                          <a:effectLst/>
                        </a:rPr>
                        <a:t>Sub set sum exceeds, so backtrack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856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10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15 &lt;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Add next element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49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10, 12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27 &lt;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>
                          <a:effectLst/>
                        </a:rPr>
                        <a:t>Sub set sum exceeds, so backtrack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7114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10, 12, 15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dirty="0">
                          <a:effectLst/>
                        </a:rPr>
                        <a:t>42 &gt;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>
                          <a:effectLst/>
                        </a:rPr>
                        <a:t>Sub set sum exceeds, so backtrack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6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10, 15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30 &lt;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Add next element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7114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10, 15, 18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48 &gt;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>
                          <a:effectLst/>
                        </a:rPr>
                        <a:t>Sub set sum exceeds, so backtrack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6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10, 18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33 &lt;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Add next element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7114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10, 18, 20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53 &gt; 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>
                          <a:effectLst/>
                        </a:rPr>
                        <a:t>Sub set sum exceeds, so backtrack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6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{ 5, 10, 20 }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>
                          <a:effectLst/>
                        </a:rPr>
                        <a:t>35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dirty="0">
                          <a:effectLst/>
                        </a:rPr>
                        <a:t>Solution Found</a:t>
                      </a:r>
                    </a:p>
                  </a:txBody>
                  <a:tcPr marL="26047" marR="26047" marT="26047" marB="2604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30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5576" y="836712"/>
            <a:ext cx="756084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There may be multiple solutions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dirty="0"/>
              <a:t>A state-space tree for the above sequence is shown here: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number in the leftmost column shows the element under consideration.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left and right branches in the tree indicate inclusion and exclusion of the corresponding element at that level, respectively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9094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36" y="255047"/>
            <a:ext cx="8754080" cy="63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682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260648"/>
            <a:ext cx="849694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dirty="0"/>
              <a:t>We get the four solutions:</a:t>
            </a:r>
          </a:p>
          <a:p>
            <a:pPr fontAlgn="base"/>
            <a:r>
              <a:rPr lang="en-US" sz="2800" dirty="0" smtClean="0"/>
              <a:t>		{</a:t>
            </a:r>
            <a:r>
              <a:rPr lang="en-US" sz="2800" dirty="0"/>
              <a:t>5, 10, 20}</a:t>
            </a:r>
          </a:p>
          <a:p>
            <a:pPr fontAlgn="base"/>
            <a:r>
              <a:rPr lang="en-US" sz="2800" dirty="0" smtClean="0"/>
              <a:t>		{</a:t>
            </a:r>
            <a:r>
              <a:rPr lang="en-US" sz="2800" dirty="0"/>
              <a:t>5, 12, 18}</a:t>
            </a:r>
          </a:p>
          <a:p>
            <a:pPr fontAlgn="base"/>
            <a:r>
              <a:rPr lang="en-US" sz="2800" dirty="0" smtClean="0"/>
              <a:t>		{</a:t>
            </a:r>
            <a:r>
              <a:rPr lang="en-US" sz="2800" dirty="0"/>
              <a:t>7, 10, 18}</a:t>
            </a:r>
          </a:p>
          <a:p>
            <a:pPr fontAlgn="base"/>
            <a:r>
              <a:rPr lang="en-US" sz="2800" dirty="0" smtClean="0"/>
              <a:t>		{</a:t>
            </a:r>
            <a:r>
              <a:rPr lang="en-US" sz="2800" dirty="0"/>
              <a:t>15, 20</a:t>
            </a:r>
            <a:r>
              <a:rPr lang="en-US" sz="2800" dirty="0" smtClean="0"/>
              <a:t>}</a:t>
            </a:r>
          </a:p>
          <a:p>
            <a:pPr fontAlgn="base"/>
            <a:endParaRPr lang="en-US" sz="2800" dirty="0"/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en-US" sz="2800" dirty="0"/>
              <a:t>For efficient execution of the subset sum problems, input elements should be sorted in non-decreasing order. </a:t>
            </a:r>
            <a:endParaRPr lang="en-US" sz="2800" dirty="0" smtClean="0"/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FF0000"/>
                </a:solidFill>
              </a:rPr>
              <a:t>If </a:t>
            </a:r>
            <a:r>
              <a:rPr lang="en-US" sz="2800" b="1" dirty="0">
                <a:solidFill>
                  <a:srgbClr val="FF0000"/>
                </a:solidFill>
              </a:rPr>
              <a:t>elements are not in non-decreasing order, the algorithm does more backtracking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en-US" sz="2800" dirty="0" smtClean="0"/>
              <a:t>So </a:t>
            </a:r>
            <a:r>
              <a:rPr lang="en-US" sz="2800" dirty="0"/>
              <a:t>second and third sequences would take more time for execution and may not find as many solutions as we get in the first sequence.</a:t>
            </a:r>
          </a:p>
        </p:txBody>
      </p:sp>
    </p:spTree>
    <p:extLst>
      <p:ext uri="{BB962C8B-B14F-4D97-AF65-F5344CB8AC3E}">
        <p14:creationId xmlns:p14="http://schemas.microsoft.com/office/powerpoint/2010/main" val="410277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335846"/>
            <a:ext cx="8568952" cy="6540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Pseudocode:</a:t>
            </a:r>
          </a:p>
          <a:p>
            <a:r>
              <a:rPr lang="en-IN" sz="2300" dirty="0"/>
              <a:t>void </a:t>
            </a:r>
            <a:r>
              <a:rPr lang="en-IN" sz="2300" dirty="0" err="1"/>
              <a:t>subset_sum</a:t>
            </a:r>
            <a:r>
              <a:rPr lang="en-IN" sz="2300" dirty="0"/>
              <a:t>(</a:t>
            </a:r>
            <a:r>
              <a:rPr lang="en-IN" sz="2300" dirty="0" err="1"/>
              <a:t>int</a:t>
            </a:r>
            <a:r>
              <a:rPr lang="en-IN" sz="2300" dirty="0"/>
              <a:t> list[], </a:t>
            </a:r>
            <a:r>
              <a:rPr lang="en-IN" sz="2300" dirty="0" err="1"/>
              <a:t>int</a:t>
            </a:r>
            <a:r>
              <a:rPr lang="en-IN" sz="2300" dirty="0"/>
              <a:t> sum, </a:t>
            </a:r>
            <a:r>
              <a:rPr lang="en-IN" sz="2300" dirty="0" err="1"/>
              <a:t>int</a:t>
            </a:r>
            <a:r>
              <a:rPr lang="en-IN" sz="2300" dirty="0"/>
              <a:t> </a:t>
            </a:r>
            <a:r>
              <a:rPr lang="en-IN" sz="2300" dirty="0" err="1"/>
              <a:t>starting_index</a:t>
            </a:r>
            <a:r>
              <a:rPr lang="en-IN" sz="2300" dirty="0"/>
              <a:t>, </a:t>
            </a:r>
            <a:r>
              <a:rPr lang="en-IN" sz="2300" dirty="0" err="1"/>
              <a:t>int</a:t>
            </a:r>
            <a:r>
              <a:rPr lang="en-IN" sz="2300" dirty="0"/>
              <a:t> </a:t>
            </a:r>
            <a:r>
              <a:rPr lang="en-IN" sz="2300" dirty="0" err="1"/>
              <a:t>target_sum</a:t>
            </a:r>
            <a:r>
              <a:rPr lang="en-IN" sz="2300" dirty="0"/>
              <a:t>) </a:t>
            </a:r>
          </a:p>
          <a:p>
            <a:r>
              <a:rPr lang="en-IN" sz="2300" dirty="0"/>
              <a:t>{ </a:t>
            </a:r>
          </a:p>
          <a:p>
            <a:r>
              <a:rPr lang="en-IN" sz="2300" dirty="0"/>
              <a:t>        if( </a:t>
            </a:r>
            <a:r>
              <a:rPr lang="en-IN" sz="2300" dirty="0" err="1"/>
              <a:t>target_sum</a:t>
            </a:r>
            <a:r>
              <a:rPr lang="en-IN" sz="2300" dirty="0"/>
              <a:t> == sum ) </a:t>
            </a:r>
          </a:p>
          <a:p>
            <a:r>
              <a:rPr lang="en-IN" sz="2300" dirty="0"/>
              <a:t>        { </a:t>
            </a:r>
          </a:p>
          <a:p>
            <a:r>
              <a:rPr lang="en-IN" sz="2300" dirty="0"/>
              <a:t>            </a:t>
            </a:r>
            <a:r>
              <a:rPr lang="en-IN" sz="2300" dirty="0" err="1"/>
              <a:t>subset_count</a:t>
            </a:r>
            <a:r>
              <a:rPr lang="en-IN" sz="2300" dirty="0"/>
              <a:t>++; </a:t>
            </a:r>
          </a:p>
          <a:p>
            <a:r>
              <a:rPr lang="en-IN" sz="2300" dirty="0"/>
              <a:t>            if(</a:t>
            </a:r>
            <a:r>
              <a:rPr lang="en-IN" sz="2300" dirty="0" err="1"/>
              <a:t>starting_index</a:t>
            </a:r>
            <a:r>
              <a:rPr lang="en-IN" sz="2300" dirty="0"/>
              <a:t> &lt; </a:t>
            </a:r>
            <a:r>
              <a:rPr lang="en-IN" sz="2300" dirty="0" err="1"/>
              <a:t>list.length</a:t>
            </a:r>
            <a:r>
              <a:rPr lang="en-IN" sz="2300" dirty="0"/>
              <a:t>)</a:t>
            </a:r>
          </a:p>
          <a:p>
            <a:r>
              <a:rPr lang="en-IN" sz="2300" dirty="0"/>
              <a:t>                </a:t>
            </a:r>
            <a:r>
              <a:rPr lang="en-IN" sz="2300" dirty="0" err="1"/>
              <a:t>subset_sum</a:t>
            </a:r>
            <a:r>
              <a:rPr lang="en-IN" sz="2300" dirty="0"/>
              <a:t>(list, sum - list[starting_index-1], </a:t>
            </a:r>
            <a:r>
              <a:rPr lang="en-IN" sz="2300" dirty="0" err="1"/>
              <a:t>starting_index</a:t>
            </a:r>
            <a:r>
              <a:rPr lang="en-IN" sz="2300" dirty="0"/>
              <a:t>, </a:t>
            </a:r>
            <a:r>
              <a:rPr lang="en-IN" sz="2300" dirty="0" err="1"/>
              <a:t>target_sum</a:t>
            </a:r>
            <a:r>
              <a:rPr lang="en-IN" sz="2300" dirty="0"/>
              <a:t>); </a:t>
            </a:r>
          </a:p>
          <a:p>
            <a:r>
              <a:rPr lang="en-IN" sz="2300" dirty="0"/>
              <a:t>        } </a:t>
            </a:r>
          </a:p>
          <a:p>
            <a:r>
              <a:rPr lang="en-IN" sz="2300" dirty="0"/>
              <a:t>        else</a:t>
            </a:r>
          </a:p>
          <a:p>
            <a:r>
              <a:rPr lang="en-IN" sz="2300" dirty="0"/>
              <a:t>        { </a:t>
            </a:r>
          </a:p>
          <a:p>
            <a:r>
              <a:rPr lang="en-IN" sz="2300" dirty="0"/>
              <a:t>            for( </a:t>
            </a:r>
            <a:r>
              <a:rPr lang="en-IN" sz="2300" dirty="0" err="1"/>
              <a:t>int</a:t>
            </a:r>
            <a:r>
              <a:rPr lang="en-IN" sz="2300" dirty="0"/>
              <a:t> </a:t>
            </a:r>
            <a:r>
              <a:rPr lang="en-IN" sz="2300" dirty="0" err="1"/>
              <a:t>i</a:t>
            </a:r>
            <a:r>
              <a:rPr lang="en-IN" sz="2300" dirty="0"/>
              <a:t> = </a:t>
            </a:r>
            <a:r>
              <a:rPr lang="en-IN" sz="2300" dirty="0" err="1"/>
              <a:t>starting_index</a:t>
            </a:r>
            <a:r>
              <a:rPr lang="en-IN" sz="2300" dirty="0"/>
              <a:t>; </a:t>
            </a:r>
            <a:r>
              <a:rPr lang="en-IN" sz="2300" dirty="0" err="1"/>
              <a:t>i</a:t>
            </a:r>
            <a:r>
              <a:rPr lang="en-IN" sz="2300" dirty="0"/>
              <a:t> &lt; </a:t>
            </a:r>
            <a:r>
              <a:rPr lang="en-IN" sz="2300" dirty="0" err="1"/>
              <a:t>list.length</a:t>
            </a:r>
            <a:r>
              <a:rPr lang="en-IN" sz="2300" dirty="0"/>
              <a:t>; </a:t>
            </a:r>
            <a:r>
              <a:rPr lang="en-IN" sz="2300" dirty="0" err="1"/>
              <a:t>i</a:t>
            </a:r>
            <a:r>
              <a:rPr lang="en-IN" sz="2300" dirty="0"/>
              <a:t>++ ) </a:t>
            </a:r>
          </a:p>
          <a:p>
            <a:r>
              <a:rPr lang="en-IN" sz="2300" dirty="0"/>
              <a:t>            { </a:t>
            </a:r>
          </a:p>
          <a:p>
            <a:r>
              <a:rPr lang="en-IN" sz="2300" dirty="0"/>
              <a:t>                </a:t>
            </a:r>
            <a:r>
              <a:rPr lang="en-IN" sz="2300" dirty="0" err="1"/>
              <a:t>subset_sum</a:t>
            </a:r>
            <a:r>
              <a:rPr lang="en-IN" sz="2300" dirty="0"/>
              <a:t>(list, sum + list[</a:t>
            </a:r>
            <a:r>
              <a:rPr lang="en-IN" sz="2300" dirty="0" err="1"/>
              <a:t>i</a:t>
            </a:r>
            <a:r>
              <a:rPr lang="en-IN" sz="2300" dirty="0"/>
              <a:t>], </a:t>
            </a:r>
            <a:r>
              <a:rPr lang="en-IN" sz="2300" dirty="0" err="1"/>
              <a:t>i</a:t>
            </a:r>
            <a:r>
              <a:rPr lang="en-IN" sz="2300" dirty="0"/>
              <a:t> + 1, </a:t>
            </a:r>
            <a:r>
              <a:rPr lang="en-IN" sz="2300" dirty="0" err="1"/>
              <a:t>target_sum</a:t>
            </a:r>
            <a:r>
              <a:rPr lang="en-IN" sz="2300" dirty="0"/>
              <a:t>); </a:t>
            </a:r>
          </a:p>
          <a:p>
            <a:r>
              <a:rPr lang="en-IN" sz="2300" dirty="0"/>
              <a:t>            } </a:t>
            </a:r>
          </a:p>
          <a:p>
            <a:r>
              <a:rPr lang="en-IN" sz="2300" dirty="0"/>
              <a:t>        } </a:t>
            </a:r>
          </a:p>
          <a:p>
            <a:r>
              <a:rPr lang="en-IN" sz="23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3033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310524"/>
              </p:ext>
            </p:extLst>
          </p:nvPr>
        </p:nvGraphicFramePr>
        <p:xfrm>
          <a:off x="395536" y="2564904"/>
          <a:ext cx="8280921" cy="3960442"/>
        </p:xfrm>
        <a:graphic>
          <a:graphicData uri="http://schemas.openxmlformats.org/drawingml/2006/table">
            <a:tbl>
              <a:tblPr/>
              <a:tblGrid>
                <a:gridCol w="2760307"/>
                <a:gridCol w="2760307"/>
                <a:gridCol w="2760307"/>
              </a:tblGrid>
              <a:tr h="58298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dirty="0">
                          <a:effectLst/>
                          <a:latin typeface="inherit"/>
                        </a:rPr>
                        <a:t>Items in sub set</a:t>
                      </a:r>
                      <a:endParaRPr lang="en-IN" sz="2400" dirty="0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80A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>
                          <a:effectLst/>
                          <a:latin typeface="inherit"/>
                        </a:rPr>
                        <a:t>Condition</a:t>
                      </a:r>
                      <a:endParaRPr lang="en-IN" sz="2400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0A1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>
                          <a:effectLst/>
                          <a:latin typeface="inherit"/>
                        </a:rPr>
                        <a:t>Comment</a:t>
                      </a:r>
                      <a:endParaRPr lang="en-IN" sz="2400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8298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{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A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2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0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0A1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B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Initial condition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0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2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58298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{ 11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2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2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11 &lt; 31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0B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6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Add next element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2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A3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8298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{ 11, 13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2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7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24 &lt; 31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067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Add next element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0A3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D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10455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{ 11, 13, 24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07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B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48 &lt; 31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1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>
                          <a:effectLst/>
                        </a:rPr>
                        <a:t>Sub set sum exceeds, so backtrack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D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8298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{ 11, 13, 7 }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0B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7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>
                          <a:effectLst/>
                        </a:rPr>
                        <a:t>31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0A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D3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Solution Found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0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2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51519" y="147990"/>
            <a:ext cx="8164029" cy="22159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Roboto Condensed"/>
                <a:cs typeface="Arial" pitchFamily="34" charset="0"/>
              </a:rPr>
              <a:t>Example: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Solve the sum of subset problems using backtracking algorithmic strategy for the following data:                       n = 4 W =(w</a:t>
            </a:r>
            <a:r>
              <a:rPr kumimoji="0" lang="en-US" altLang="en-US" sz="2400" b="1" i="0" u="none" strike="noStrike" cap="none" normalizeH="0" baseline="-3000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1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, w</a:t>
            </a:r>
            <a:r>
              <a:rPr kumimoji="0" lang="en-US" altLang="en-US" sz="2400" b="1" i="0" u="none" strike="noStrike" cap="none" normalizeH="0" baseline="-3000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2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, w</a:t>
            </a:r>
            <a:r>
              <a:rPr kumimoji="0" lang="en-US" altLang="en-US" sz="2400" b="1" i="0" u="none" strike="noStrike" cap="none" normalizeH="0" baseline="-3000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3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, w</a:t>
            </a:r>
            <a:r>
              <a:rPr kumimoji="0" lang="en-US" altLang="en-US" sz="2400" b="1" i="0" u="none" strike="noStrike" cap="none" normalizeH="0" baseline="-3000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4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) = (11, 13, 24, 7) and M = 31.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Solution: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69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116632"/>
            <a:ext cx="6552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/>
              <a:t>State-space tree for a given problem is shown here</a:t>
            </a:r>
            <a:r>
              <a:rPr lang="en-US" sz="2400" dirty="0" smtClean="0"/>
              <a:t>:</a:t>
            </a:r>
            <a:endParaRPr lang="en-IN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81075"/>
            <a:ext cx="807720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047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548680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/>
              <a:t>In the above graph, the black circle shows the correct result. </a:t>
            </a:r>
            <a:endParaRPr lang="en-US" sz="2800" dirty="0" smtClean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gray node shows where the algorithm backtracks. </a:t>
            </a:r>
            <a:endParaRPr lang="en-US" sz="2800" dirty="0" smtClean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 smtClean="0"/>
              <a:t>Numbers </a:t>
            </a:r>
            <a:r>
              <a:rPr lang="en-US" sz="2800" dirty="0"/>
              <a:t>in the leftmost column indicate elements under consideration at that level. </a:t>
            </a:r>
            <a:endParaRPr lang="en-US" sz="2800" dirty="0" smtClean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left and right branches represent the inclusion and exclusion of that element, respectively.</a:t>
            </a:r>
          </a:p>
          <a:p>
            <a:pPr fontAlgn="base"/>
            <a:endParaRPr lang="en-US" sz="2800" dirty="0" smtClean="0"/>
          </a:p>
          <a:p>
            <a:pPr fontAlgn="base"/>
            <a:r>
              <a:rPr lang="en-US" sz="2800" dirty="0" smtClean="0"/>
              <a:t>We </a:t>
            </a:r>
            <a:r>
              <a:rPr lang="en-US" sz="2800" dirty="0"/>
              <a:t>get two solutions:</a:t>
            </a:r>
          </a:p>
          <a:p>
            <a:pPr fontAlgn="base"/>
            <a:r>
              <a:rPr lang="en-US" sz="2800" dirty="0" smtClean="0"/>
              <a:t>		{</a:t>
            </a:r>
            <a:r>
              <a:rPr lang="en-US" sz="2800" dirty="0"/>
              <a:t>11, 13, 7}</a:t>
            </a:r>
          </a:p>
          <a:p>
            <a:pPr fontAlgn="base"/>
            <a:r>
              <a:rPr lang="en-US" sz="2800" dirty="0" smtClean="0"/>
              <a:t>		{</a:t>
            </a:r>
            <a:r>
              <a:rPr lang="en-US" sz="2800" dirty="0"/>
              <a:t>24, 7}</a:t>
            </a:r>
          </a:p>
        </p:txBody>
      </p:sp>
    </p:spTree>
    <p:extLst>
      <p:ext uri="{BB962C8B-B14F-4D97-AF65-F5344CB8AC3E}">
        <p14:creationId xmlns:p14="http://schemas.microsoft.com/office/powerpoint/2010/main" val="176347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953</Words>
  <Application>Microsoft Office PowerPoint</Application>
  <PresentationFormat>On-screen Show (4:3)</PresentationFormat>
  <Paragraphs>196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Backtracking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Backtracking</dc:title>
  <dc:creator>HP</dc:creator>
  <cp:lastModifiedBy>HP</cp:lastModifiedBy>
  <cp:revision>26</cp:revision>
  <dcterms:created xsi:type="dcterms:W3CDTF">2023-01-11T17:28:07Z</dcterms:created>
  <dcterms:modified xsi:type="dcterms:W3CDTF">2024-01-24T06:31:29Z</dcterms:modified>
</cp:coreProperties>
</file>