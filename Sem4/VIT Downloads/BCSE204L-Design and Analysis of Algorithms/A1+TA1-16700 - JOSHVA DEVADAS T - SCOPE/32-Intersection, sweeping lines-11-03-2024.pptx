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1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72" r:id="rId12"/>
    <p:sldId id="267" r:id="rId13"/>
    <p:sldId id="268" r:id="rId14"/>
    <p:sldId id="269" r:id="rId15"/>
    <p:sldId id="270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1452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957F9-FA3B-4EA4-8118-95379CFBA29A}" type="datetimeFigureOut">
              <a:rPr lang="en-IN" smtClean="0"/>
              <a:t>11-03-2024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829F0-3458-4CD1-9CFB-A5CB09BA36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5194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957F9-FA3B-4EA4-8118-95379CFBA29A}" type="datetimeFigureOut">
              <a:rPr lang="en-IN" smtClean="0"/>
              <a:t>11-03-2024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829F0-3458-4CD1-9CFB-A5CB09BA36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15192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957F9-FA3B-4EA4-8118-95379CFBA29A}" type="datetimeFigureOut">
              <a:rPr lang="en-IN" smtClean="0"/>
              <a:t>11-03-2024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829F0-3458-4CD1-9CFB-A5CB09BA36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54748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957F9-FA3B-4EA4-8118-95379CFBA29A}" type="datetimeFigureOut">
              <a:rPr lang="en-IN" smtClean="0"/>
              <a:t>11-03-2024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829F0-3458-4CD1-9CFB-A5CB09BA36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72391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957F9-FA3B-4EA4-8118-95379CFBA29A}" type="datetimeFigureOut">
              <a:rPr lang="en-IN" smtClean="0"/>
              <a:t>11-03-2024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829F0-3458-4CD1-9CFB-A5CB09BA36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2388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957F9-FA3B-4EA4-8118-95379CFBA29A}" type="datetimeFigureOut">
              <a:rPr lang="en-IN" smtClean="0"/>
              <a:t>11-03-2024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829F0-3458-4CD1-9CFB-A5CB09BA36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29255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957F9-FA3B-4EA4-8118-95379CFBA29A}" type="datetimeFigureOut">
              <a:rPr lang="en-IN" smtClean="0"/>
              <a:t>11-03-2024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829F0-3458-4CD1-9CFB-A5CB09BA36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70211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957F9-FA3B-4EA4-8118-95379CFBA29A}" type="datetimeFigureOut">
              <a:rPr lang="en-IN" smtClean="0"/>
              <a:t>11-03-2024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829F0-3458-4CD1-9CFB-A5CB09BA36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64196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957F9-FA3B-4EA4-8118-95379CFBA29A}" type="datetimeFigureOut">
              <a:rPr lang="en-IN" smtClean="0"/>
              <a:t>11-03-2024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829F0-3458-4CD1-9CFB-A5CB09BA36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02847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957F9-FA3B-4EA4-8118-95379CFBA29A}" type="datetimeFigureOut">
              <a:rPr lang="en-IN" smtClean="0"/>
              <a:t>11-03-2024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829F0-3458-4CD1-9CFB-A5CB09BA36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48086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957F9-FA3B-4EA4-8118-95379CFBA29A}" type="datetimeFigureOut">
              <a:rPr lang="en-IN" smtClean="0"/>
              <a:t>11-03-2024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829F0-3458-4CD1-9CFB-A5CB09BA36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46471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7957F9-FA3B-4EA4-8118-95379CFBA29A}" type="datetimeFigureOut">
              <a:rPr lang="en-IN" smtClean="0"/>
              <a:t>11-03-2024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829F0-3458-4CD1-9CFB-A5CB09BA36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67622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SWEEPING LINES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Dr. T </a:t>
            </a:r>
            <a:r>
              <a:rPr lang="en-US" dirty="0" err="1" smtClean="0"/>
              <a:t>Joshva</a:t>
            </a:r>
            <a:r>
              <a:rPr lang="en-US" dirty="0" smtClean="0"/>
              <a:t> </a:t>
            </a:r>
            <a:r>
              <a:rPr lang="en-US" dirty="0" err="1" smtClean="0"/>
              <a:t>Devadas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493686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Sweeping lines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95536" y="2060848"/>
            <a:ext cx="8352928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800" dirty="0"/>
              <a:t>Determining whether any pair of segments intersects </a:t>
            </a:r>
            <a:r>
              <a:rPr lang="en-US" sz="2800" b="1" dirty="0"/>
              <a:t>in a given set of line segments</a:t>
            </a:r>
            <a:r>
              <a:rPr lang="en-US" sz="2800" dirty="0"/>
              <a:t>, called as </a:t>
            </a:r>
            <a:r>
              <a:rPr lang="en-US" sz="2800" b="1" dirty="0"/>
              <a:t>Sweeping algorithm </a:t>
            </a:r>
            <a:endParaRPr lang="en-US" sz="2800" b="1" dirty="0" smtClean="0"/>
          </a:p>
          <a:p>
            <a:pPr algn="just"/>
            <a:endParaRPr lang="en-US" sz="2800" dirty="0"/>
          </a:p>
          <a:p>
            <a:pPr algn="just"/>
            <a:r>
              <a:rPr lang="en-US" sz="2800" dirty="0"/>
              <a:t>The </a:t>
            </a:r>
            <a:r>
              <a:rPr lang="en-US" sz="2800" b="1" dirty="0"/>
              <a:t>algorithm runs in O(n </a:t>
            </a:r>
            <a:r>
              <a:rPr lang="en-US" sz="2800" b="1" dirty="0" err="1"/>
              <a:t>lg</a:t>
            </a:r>
            <a:r>
              <a:rPr lang="en-US" sz="2800" b="1" dirty="0"/>
              <a:t> n)time</a:t>
            </a:r>
            <a:r>
              <a:rPr lang="en-US" sz="2800" dirty="0"/>
              <a:t>, where n is the number of segments we are given. It determines only whether or not any intersection exists; it does not print all the intersections 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8111221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67544" y="836712"/>
            <a:ext cx="8229600" cy="5649491"/>
          </a:xfrm>
        </p:spPr>
        <p:txBody>
          <a:bodyPr>
            <a:noAutofit/>
          </a:bodyPr>
          <a:lstStyle/>
          <a:p>
            <a:pPr algn="just"/>
            <a:r>
              <a:rPr lang="en-US" sz="2800" dirty="0" smtClean="0"/>
              <a:t>In </a:t>
            </a:r>
            <a:r>
              <a:rPr lang="en-US" sz="2800" dirty="0"/>
              <a:t>sweeping, </a:t>
            </a:r>
            <a:r>
              <a:rPr lang="en-US" sz="2800" b="1" dirty="0"/>
              <a:t>an </a:t>
            </a:r>
            <a:r>
              <a:rPr lang="en-US" sz="2800" b="1" dirty="0">
                <a:solidFill>
                  <a:srgbClr val="FF0000"/>
                </a:solidFill>
              </a:rPr>
              <a:t>imaginary vertical sweep line</a:t>
            </a:r>
            <a:r>
              <a:rPr lang="en-US" sz="2800" b="1" dirty="0"/>
              <a:t> passes through the </a:t>
            </a:r>
            <a:r>
              <a:rPr lang="en-US" sz="2800" b="1" dirty="0" smtClean="0"/>
              <a:t>given </a:t>
            </a:r>
            <a:r>
              <a:rPr lang="en-US" sz="2800" b="1" dirty="0"/>
              <a:t>set of geometric objects, usually from left to right </a:t>
            </a:r>
            <a:r>
              <a:rPr lang="en-US" sz="2800" dirty="0" smtClean="0"/>
              <a:t>the </a:t>
            </a:r>
            <a:r>
              <a:rPr lang="en-US" sz="2800" dirty="0"/>
              <a:t>sweep line moves across, in this case the x-dimension, as a dimension of time. </a:t>
            </a:r>
          </a:p>
          <a:p>
            <a:pPr algn="just"/>
            <a:r>
              <a:rPr lang="en-US" sz="2800" dirty="0" smtClean="0"/>
              <a:t>Sweeping </a:t>
            </a:r>
            <a:r>
              <a:rPr lang="en-US" sz="2800" b="1" dirty="0"/>
              <a:t>provides a method for </a:t>
            </a:r>
            <a:r>
              <a:rPr lang="en-US" sz="2800" b="1" dirty="0">
                <a:solidFill>
                  <a:srgbClr val="FF0000"/>
                </a:solidFill>
              </a:rPr>
              <a:t>ordering geometric objects</a:t>
            </a:r>
            <a:r>
              <a:rPr lang="en-US" sz="2800" dirty="0"/>
              <a:t>, usually by placing them into a dynamic data structure, and for taking advantage of relationships among them. </a:t>
            </a:r>
          </a:p>
          <a:p>
            <a:pPr algn="just"/>
            <a:r>
              <a:rPr lang="en-US" sz="2800" dirty="0" smtClean="0"/>
              <a:t>The </a:t>
            </a:r>
            <a:r>
              <a:rPr lang="en-US" sz="2800" dirty="0"/>
              <a:t>line-segment-intersection algorithm considers </a:t>
            </a:r>
            <a:r>
              <a:rPr lang="en-US" sz="2800" b="1" dirty="0">
                <a:solidFill>
                  <a:srgbClr val="FF0000"/>
                </a:solidFill>
              </a:rPr>
              <a:t>all the line-segment endpoints in left-to-right order </a:t>
            </a:r>
            <a:r>
              <a:rPr lang="en-US" sz="2800" b="1" dirty="0"/>
              <a:t>and checks for </a:t>
            </a:r>
            <a:r>
              <a:rPr lang="en-US" sz="2800" b="1" dirty="0">
                <a:solidFill>
                  <a:srgbClr val="FF0000"/>
                </a:solidFill>
              </a:rPr>
              <a:t>an intersection each time it encounters an endpoint </a:t>
            </a:r>
            <a:endParaRPr lang="en-US" sz="2800" dirty="0">
              <a:solidFill>
                <a:srgbClr val="FF0000"/>
              </a:solidFill>
            </a:endParaRPr>
          </a:p>
          <a:p>
            <a:pPr algn="just"/>
            <a:endParaRPr lang="en-IN" sz="2800" dirty="0"/>
          </a:p>
        </p:txBody>
      </p:sp>
      <p:sp>
        <p:nvSpPr>
          <p:cNvPr id="3" name="TextBox 2"/>
          <p:cNvSpPr txBox="1"/>
          <p:nvPr/>
        </p:nvSpPr>
        <p:spPr>
          <a:xfrm>
            <a:off x="2555776" y="0"/>
            <a:ext cx="44644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 smtClean="0">
                <a:solidFill>
                  <a:srgbClr val="FF0000"/>
                </a:solidFill>
              </a:rPr>
              <a:t>Sweeping lines</a:t>
            </a:r>
            <a:endParaRPr lang="en-IN" sz="36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31476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79911" y="404664"/>
            <a:ext cx="8424936" cy="56938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rgbClr val="FF0000"/>
                </a:solidFill>
              </a:rPr>
              <a:t>Assumptions: </a:t>
            </a:r>
            <a:endParaRPr lang="en-IN" sz="2800" b="1" dirty="0" smtClean="0">
              <a:solidFill>
                <a:srgbClr val="FF0000"/>
              </a:solidFill>
            </a:endParaRPr>
          </a:p>
          <a:p>
            <a:endParaRPr lang="en-IN" sz="2800" dirty="0"/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dirty="0" smtClean="0"/>
              <a:t>No </a:t>
            </a:r>
            <a:r>
              <a:rPr lang="en-US" sz="2800" dirty="0"/>
              <a:t>input segment is vertical. 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dirty="0" smtClean="0"/>
              <a:t>No </a:t>
            </a:r>
            <a:r>
              <a:rPr lang="en-US" sz="2800" dirty="0"/>
              <a:t>three input segments intersect at a single point. E </a:t>
            </a:r>
          </a:p>
          <a:p>
            <a:endParaRPr lang="en-IN" sz="2800" dirty="0"/>
          </a:p>
          <a:p>
            <a:r>
              <a:rPr lang="en-IN" sz="2800" b="1" dirty="0">
                <a:solidFill>
                  <a:srgbClr val="FF0000"/>
                </a:solidFill>
              </a:rPr>
              <a:t>Ordering segments </a:t>
            </a:r>
            <a:endParaRPr lang="en-IN" sz="2800" b="1" dirty="0" smtClean="0">
              <a:solidFill>
                <a:srgbClr val="FF0000"/>
              </a:solidFill>
            </a:endParaRPr>
          </a:p>
          <a:p>
            <a:endParaRPr lang="en-IN" sz="2800" dirty="0"/>
          </a:p>
          <a:p>
            <a:pPr marL="457200" indent="-457200" algn="just">
              <a:buFont typeface="Wingdings" panose="05000000000000000000" pitchFamily="2" charset="2"/>
              <a:buChar char="q"/>
            </a:pPr>
            <a:r>
              <a:rPr lang="en-US" sz="2800" dirty="0" smtClean="0"/>
              <a:t>As </a:t>
            </a:r>
            <a:r>
              <a:rPr lang="en-US" sz="2800" dirty="0"/>
              <a:t>there is no vertical segment, any input segment intersecting a given vertical sweep line intersects it at a single point. </a:t>
            </a:r>
          </a:p>
          <a:p>
            <a:pPr marL="457200" indent="-457200" algn="just">
              <a:buFont typeface="Wingdings" panose="05000000000000000000" pitchFamily="2" charset="2"/>
              <a:buChar char="q"/>
            </a:pPr>
            <a:r>
              <a:rPr lang="en-US" sz="2800" dirty="0" smtClean="0"/>
              <a:t>Thus</a:t>
            </a:r>
            <a:r>
              <a:rPr lang="en-US" sz="2800" dirty="0"/>
              <a:t>, we can order the segments that intersect a vertical sweep line according to the </a:t>
            </a:r>
            <a:r>
              <a:rPr lang="en-US" sz="2800" b="1" dirty="0">
                <a:solidFill>
                  <a:srgbClr val="FF0000"/>
                </a:solidFill>
              </a:rPr>
              <a:t>y-coordinates</a:t>
            </a:r>
            <a:r>
              <a:rPr lang="en-US" sz="2800" dirty="0"/>
              <a:t> of the points of intersection. </a:t>
            </a:r>
          </a:p>
        </p:txBody>
      </p:sp>
    </p:spTree>
    <p:extLst>
      <p:ext uri="{BB962C8B-B14F-4D97-AF65-F5344CB8AC3E}">
        <p14:creationId xmlns:p14="http://schemas.microsoft.com/office/powerpoint/2010/main" val="24083768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404664"/>
            <a:ext cx="8229600" cy="5721499"/>
          </a:xfrm>
        </p:spPr>
        <p:txBody>
          <a:bodyPr>
            <a:normAutofit fontScale="85000" lnSpcReduction="10000"/>
          </a:bodyPr>
          <a:lstStyle/>
          <a:p>
            <a:r>
              <a:rPr lang="en-US" dirty="0" smtClean="0"/>
              <a:t>Consider the line segments s1 and s2.  we say that these segments are </a:t>
            </a:r>
            <a:r>
              <a:rPr lang="en-US" b="1" dirty="0" smtClean="0">
                <a:solidFill>
                  <a:srgbClr val="FF0000"/>
                </a:solidFill>
              </a:rPr>
              <a:t>Comparable</a:t>
            </a:r>
            <a:r>
              <a:rPr lang="en-US" dirty="0" smtClean="0"/>
              <a:t> at x if the vertical sweep line with x-coordinate x  intersects both of them. </a:t>
            </a:r>
          </a:p>
          <a:p>
            <a:r>
              <a:rPr lang="en-US" dirty="0" smtClean="0"/>
              <a:t>We say that s1 is </a:t>
            </a:r>
            <a:r>
              <a:rPr lang="en-US" b="1" dirty="0" smtClean="0">
                <a:solidFill>
                  <a:srgbClr val="FF0000"/>
                </a:solidFill>
              </a:rPr>
              <a:t>ABOVE</a:t>
            </a:r>
            <a:r>
              <a:rPr lang="en-US" dirty="0" smtClean="0"/>
              <a:t> s2 at x and written as</a:t>
            </a:r>
          </a:p>
          <a:p>
            <a:pPr marL="0" indent="0">
              <a:buNone/>
            </a:pPr>
            <a:r>
              <a:rPr lang="en-US" dirty="0" smtClean="0"/>
              <a:t> </a:t>
            </a:r>
          </a:p>
          <a:p>
            <a:pPr marL="0" indent="0">
              <a:buNone/>
            </a:pPr>
            <a:endParaRPr lang="en-US" dirty="0" smtClean="0"/>
          </a:p>
          <a:p>
            <a:r>
              <a:rPr lang="en-US" dirty="0" smtClean="0"/>
              <a:t>If s1 and s2 are comparable at x and the intersection of s1 with the sweep line at x is higher than the intersection of s2 with the same sweep line, or if s1 and s2 intersect at the sweep line.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 </a:t>
            </a:r>
            <a:endParaRPr lang="en-IN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1880" y="2559331"/>
            <a:ext cx="2112945" cy="6536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33126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476672"/>
            <a:ext cx="8208912" cy="60486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368964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9752" y="251627"/>
            <a:ext cx="4087117" cy="28173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327016" y="2901201"/>
            <a:ext cx="870948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When  segments e and f intersect, they reverse their order :</a:t>
            </a:r>
          </a:p>
          <a:p>
            <a:r>
              <a:rPr lang="en-US" sz="2400" dirty="0" smtClean="0"/>
              <a:t>We have                                        .  Any sweep line ( such as Z ) that passes through the shaded region has e and f consecutive in the ordering </a:t>
            </a:r>
            <a:r>
              <a:rPr lang="en-US" sz="2400" dirty="0" smtClean="0"/>
              <a:t>given </a:t>
            </a:r>
            <a:r>
              <a:rPr lang="en-US" sz="2400" dirty="0" smtClean="0"/>
              <a:t>by the relation </a:t>
            </a:r>
            <a:endParaRPr lang="en-IN" sz="2400" dirty="0"/>
          </a:p>
        </p:txBody>
      </p:sp>
      <p:pic>
        <p:nvPicPr>
          <p:cNvPr id="5125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1680" y="3356992"/>
            <a:ext cx="2514600" cy="352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/>
          <p:cNvSpPr/>
          <p:nvPr/>
        </p:nvSpPr>
        <p:spPr>
          <a:xfrm>
            <a:off x="251520" y="4581128"/>
            <a:ext cx="8891702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dirty="0"/>
              <a:t>A segment </a:t>
            </a:r>
            <a:r>
              <a:rPr lang="en-US" sz="2400" dirty="0">
                <a:solidFill>
                  <a:srgbClr val="FF0000"/>
                </a:solidFill>
              </a:rPr>
              <a:t>enters the ordering when its left endpoint is encountered by the sweep, and it leaves the ordering when its right endpoint is encountered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dirty="0"/>
              <a:t>when the sweep line passes through the intersection of two segments the segments reverse their positions in the total preorder. 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2255701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683568" y="404664"/>
            <a:ext cx="7992888" cy="53860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3200" b="1" dirty="0">
                <a:solidFill>
                  <a:srgbClr val="FF0000"/>
                </a:solidFill>
              </a:rPr>
              <a:t>Moving the sweep line </a:t>
            </a:r>
            <a:endParaRPr lang="en-IN" sz="3200" b="1" dirty="0" smtClean="0">
              <a:solidFill>
                <a:srgbClr val="FF0000"/>
              </a:solidFill>
            </a:endParaRPr>
          </a:p>
          <a:p>
            <a:endParaRPr lang="en-IN" sz="2400" dirty="0">
              <a:solidFill>
                <a:srgbClr val="FF0000"/>
              </a:solidFill>
            </a:endParaRPr>
          </a:p>
          <a:p>
            <a:r>
              <a:rPr lang="en-US" sz="2400" dirty="0"/>
              <a:t>Sweeping algorithms typically manage two sets of data: </a:t>
            </a:r>
          </a:p>
          <a:p>
            <a:endParaRPr lang="en-US" sz="2400" dirty="0" smtClean="0"/>
          </a:p>
          <a:p>
            <a:pPr algn="just"/>
            <a:r>
              <a:rPr lang="en-US" sz="2400" dirty="0" smtClean="0"/>
              <a:t>1</a:t>
            </a:r>
            <a:r>
              <a:rPr lang="en-US" sz="2400" dirty="0"/>
              <a:t>. </a:t>
            </a:r>
            <a:r>
              <a:rPr lang="en-US" sz="2400" b="1" dirty="0">
                <a:solidFill>
                  <a:srgbClr val="FF0000"/>
                </a:solidFill>
              </a:rPr>
              <a:t>The sweep-line status </a:t>
            </a:r>
            <a:r>
              <a:rPr lang="en-US" sz="2400" b="1" dirty="0" smtClean="0">
                <a:solidFill>
                  <a:srgbClr val="FF0000"/>
                </a:solidFill>
              </a:rPr>
              <a:t>(</a:t>
            </a:r>
            <a:r>
              <a:rPr lang="en-US" sz="2400" b="1" dirty="0" err="1" smtClean="0">
                <a:solidFill>
                  <a:srgbClr val="FF0000"/>
                </a:solidFill>
              </a:rPr>
              <a:t>ie</a:t>
            </a:r>
            <a:r>
              <a:rPr lang="en-US" sz="2400" b="1" dirty="0" smtClean="0">
                <a:solidFill>
                  <a:srgbClr val="FF0000"/>
                </a:solidFill>
              </a:rPr>
              <a:t>.) </a:t>
            </a:r>
            <a:r>
              <a:rPr lang="en-US" sz="2400" b="1" dirty="0">
                <a:solidFill>
                  <a:srgbClr val="FF0000"/>
                </a:solidFill>
              </a:rPr>
              <a:t>Total Preorder List </a:t>
            </a:r>
            <a:r>
              <a:rPr lang="en-US" sz="2400" dirty="0"/>
              <a:t>gives the relationships among the objects that the sweep line intersects. </a:t>
            </a:r>
          </a:p>
          <a:p>
            <a:pPr algn="just"/>
            <a:endParaRPr lang="en-US" sz="2400" dirty="0" smtClean="0"/>
          </a:p>
          <a:p>
            <a:pPr algn="just"/>
            <a:r>
              <a:rPr lang="en-US" sz="2400" dirty="0" smtClean="0"/>
              <a:t>2</a:t>
            </a:r>
            <a:r>
              <a:rPr lang="en-US" sz="2400" dirty="0"/>
              <a:t>. </a:t>
            </a:r>
            <a:r>
              <a:rPr lang="en-US" sz="2400" b="1" dirty="0">
                <a:solidFill>
                  <a:srgbClr val="FF0000"/>
                </a:solidFill>
              </a:rPr>
              <a:t>The event-point schedule </a:t>
            </a:r>
            <a:r>
              <a:rPr lang="en-US" sz="2400" dirty="0"/>
              <a:t>is a sequence of points, </a:t>
            </a:r>
            <a:r>
              <a:rPr lang="en-US" sz="2400" b="1" dirty="0">
                <a:solidFill>
                  <a:srgbClr val="FF0000"/>
                </a:solidFill>
              </a:rPr>
              <a:t>called event points</a:t>
            </a:r>
            <a:r>
              <a:rPr lang="en-US" sz="2400" dirty="0"/>
              <a:t>, which we order from left to right according to their x-coordinates. </a:t>
            </a:r>
            <a:endParaRPr lang="en-US" sz="2400" dirty="0" smtClean="0"/>
          </a:p>
          <a:p>
            <a:pPr algn="just"/>
            <a:r>
              <a:rPr lang="en-US" sz="2400" dirty="0" smtClean="0"/>
              <a:t>As </a:t>
            </a:r>
            <a:r>
              <a:rPr lang="en-US" sz="2400" dirty="0"/>
              <a:t>the sweep progresses from left to right, whenever the sweep line reaches the </a:t>
            </a:r>
            <a:r>
              <a:rPr lang="en-US" sz="2400" dirty="0" smtClean="0"/>
              <a:t>x-coordinate </a:t>
            </a:r>
            <a:r>
              <a:rPr lang="en-US" sz="2400" dirty="0"/>
              <a:t>of an event point, the sweep halts, processes the event point, and then resumes. Changes to the sweep-line status occur only at event points. 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4374714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7504" y="692696"/>
            <a:ext cx="8640960" cy="56938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buFont typeface="Wingdings" panose="05000000000000000000" pitchFamily="2" charset="2"/>
              <a:buChar char="v"/>
            </a:pPr>
            <a:endParaRPr lang="en-IN" sz="2800" dirty="0"/>
          </a:p>
          <a:p>
            <a:pPr marL="457200" indent="-457200" algn="just">
              <a:buFont typeface="Wingdings" panose="05000000000000000000" pitchFamily="2" charset="2"/>
              <a:buChar char="v"/>
            </a:pPr>
            <a:r>
              <a:rPr lang="en-US" sz="2800" dirty="0" smtClean="0"/>
              <a:t>In </a:t>
            </a:r>
            <a:r>
              <a:rPr lang="en-US" sz="2800" dirty="0"/>
              <a:t>particular, </a:t>
            </a:r>
            <a:r>
              <a:rPr lang="en-US" sz="2800" dirty="0">
                <a:solidFill>
                  <a:srgbClr val="FF0000"/>
                </a:solidFill>
              </a:rPr>
              <a:t>each segment endpoint is an event point</a:t>
            </a:r>
            <a:r>
              <a:rPr lang="en-US" sz="2800" dirty="0"/>
              <a:t>. </a:t>
            </a:r>
            <a:endParaRPr lang="en-US" sz="2800" dirty="0" smtClean="0"/>
          </a:p>
          <a:p>
            <a:pPr marL="457200" indent="-457200" algn="just">
              <a:buFont typeface="Wingdings" panose="05000000000000000000" pitchFamily="2" charset="2"/>
              <a:buChar char="v"/>
            </a:pPr>
            <a:endParaRPr lang="en-US" sz="2800" dirty="0"/>
          </a:p>
          <a:p>
            <a:pPr marL="457200" indent="-457200" algn="just">
              <a:buFont typeface="Wingdings" panose="05000000000000000000" pitchFamily="2" charset="2"/>
              <a:buChar char="v"/>
            </a:pPr>
            <a:r>
              <a:rPr lang="en-US" sz="2800" dirty="0" smtClean="0"/>
              <a:t>We </a:t>
            </a:r>
            <a:r>
              <a:rPr lang="en-US" sz="2800" dirty="0">
                <a:solidFill>
                  <a:srgbClr val="FF0000"/>
                </a:solidFill>
              </a:rPr>
              <a:t>sort the segment endpoints by increasing x-coordinate</a:t>
            </a:r>
            <a:r>
              <a:rPr lang="en-US" sz="2800" dirty="0"/>
              <a:t> and proceed from left to right. </a:t>
            </a:r>
            <a:endParaRPr lang="en-US" sz="2800" dirty="0" smtClean="0"/>
          </a:p>
          <a:p>
            <a:pPr marL="457200" indent="-457200" algn="just">
              <a:buFont typeface="Wingdings" panose="05000000000000000000" pitchFamily="2" charset="2"/>
              <a:buChar char="v"/>
            </a:pPr>
            <a:endParaRPr lang="en-US" sz="2800" dirty="0"/>
          </a:p>
          <a:p>
            <a:pPr marL="457200" indent="-457200" algn="just">
              <a:buFont typeface="Wingdings" panose="05000000000000000000" pitchFamily="2" charset="2"/>
              <a:buChar char="v"/>
            </a:pPr>
            <a:r>
              <a:rPr lang="en-US" sz="2800" dirty="0" smtClean="0"/>
              <a:t>When </a:t>
            </a:r>
            <a:r>
              <a:rPr lang="en-US" sz="2800" dirty="0"/>
              <a:t>we encounter a segment’s left endpoint, we </a:t>
            </a:r>
            <a:r>
              <a:rPr lang="en-US" sz="2800" dirty="0">
                <a:solidFill>
                  <a:srgbClr val="FF0000"/>
                </a:solidFill>
              </a:rPr>
              <a:t>insert the segment </a:t>
            </a:r>
            <a:r>
              <a:rPr lang="en-US" sz="2800" dirty="0"/>
              <a:t>into the sweep-line status, and we </a:t>
            </a:r>
            <a:r>
              <a:rPr lang="en-US" sz="2800" dirty="0">
                <a:solidFill>
                  <a:srgbClr val="FF0000"/>
                </a:solidFill>
              </a:rPr>
              <a:t>delete the segment </a:t>
            </a:r>
            <a:r>
              <a:rPr lang="en-US" sz="2800" dirty="0"/>
              <a:t>from the sweep-line status upon encountering its right endpoint. </a:t>
            </a:r>
            <a:endParaRPr lang="en-US" sz="2800" dirty="0" smtClean="0"/>
          </a:p>
          <a:p>
            <a:pPr marL="457200" indent="-457200" algn="just">
              <a:buFont typeface="Wingdings" panose="05000000000000000000" pitchFamily="2" charset="2"/>
              <a:buChar char="v"/>
            </a:pPr>
            <a:endParaRPr lang="en-US" sz="2800" dirty="0"/>
          </a:p>
          <a:p>
            <a:pPr marL="457200" indent="-457200" algn="just">
              <a:buFont typeface="Wingdings" panose="05000000000000000000" pitchFamily="2" charset="2"/>
              <a:buChar char="v"/>
            </a:pPr>
            <a:r>
              <a:rPr lang="en-US" sz="2800" dirty="0" smtClean="0"/>
              <a:t>Whenever </a:t>
            </a:r>
            <a:r>
              <a:rPr lang="en-US" sz="2800" dirty="0"/>
              <a:t>two segments first become </a:t>
            </a:r>
            <a:r>
              <a:rPr lang="en-US" sz="2800" dirty="0">
                <a:solidFill>
                  <a:srgbClr val="FF0000"/>
                </a:solidFill>
              </a:rPr>
              <a:t>consecutive in the total preorder, we check whether they intersect</a:t>
            </a:r>
            <a:r>
              <a:rPr lang="en-US" sz="28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072533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260648"/>
            <a:ext cx="8714500" cy="61206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196342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950" y="1033463"/>
            <a:ext cx="7658100" cy="4791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83975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1772816"/>
            <a:ext cx="6912768" cy="49685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323528" y="50703"/>
            <a:ext cx="81369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rgbClr val="FF0000"/>
                </a:solidFill>
              </a:rPr>
              <a:t>Segment Intersection Pseudo code</a:t>
            </a:r>
            <a:endParaRPr lang="en-IN" sz="3200" b="1" dirty="0">
              <a:solidFill>
                <a:srgbClr val="FF000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23528" y="635478"/>
            <a:ext cx="856895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The following algorithm takes a set S of n line segments, returning the </a:t>
            </a:r>
            <a:r>
              <a:rPr lang="en-US" sz="2400" dirty="0" smtClean="0"/>
              <a:t>Boolean </a:t>
            </a:r>
            <a:r>
              <a:rPr lang="en-US" sz="2400" dirty="0" smtClean="0"/>
              <a:t>value TRUE if any pair of segments in S intersects , FALSE otherwise.  </a:t>
            </a:r>
            <a:r>
              <a:rPr lang="en-US" sz="2400" b="1" dirty="0" smtClean="0"/>
              <a:t>A red-black tree </a:t>
            </a:r>
            <a:r>
              <a:rPr lang="en-US" sz="2400" dirty="0" smtClean="0"/>
              <a:t>maintains the </a:t>
            </a:r>
            <a:r>
              <a:rPr lang="en-US" sz="2400" b="1" dirty="0" smtClean="0"/>
              <a:t>total pre-order.</a:t>
            </a:r>
            <a:endParaRPr lang="en-IN" sz="2400" b="1" dirty="0"/>
          </a:p>
        </p:txBody>
      </p:sp>
      <p:sp>
        <p:nvSpPr>
          <p:cNvPr id="4" name="TextBox 3"/>
          <p:cNvSpPr txBox="1"/>
          <p:nvPr/>
        </p:nvSpPr>
        <p:spPr>
          <a:xfrm>
            <a:off x="6948264" y="3140968"/>
            <a:ext cx="207007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>
                <a:solidFill>
                  <a:srgbClr val="FF0000"/>
                </a:solidFill>
              </a:rPr>
              <a:t>The algorithm uses a </a:t>
            </a:r>
            <a:r>
              <a:rPr lang="en-US" b="1" dirty="0" smtClean="0">
                <a:solidFill>
                  <a:srgbClr val="FF0000"/>
                </a:solidFill>
              </a:rPr>
              <a:t>Red-Black tree     (Balanced BST)</a:t>
            </a:r>
            <a:r>
              <a:rPr lang="en-US" dirty="0">
                <a:solidFill>
                  <a:srgbClr val="FF0000"/>
                </a:solidFill>
              </a:rPr>
              <a:t> to maintain intervals created at each event so that efficient search, insertion, and deletion can be done.</a:t>
            </a:r>
            <a:endParaRPr lang="en-I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26879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51520" y="612845"/>
            <a:ext cx="8784976" cy="60016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sz="2400" dirty="0" smtClean="0"/>
              <a:t>Line </a:t>
            </a:r>
            <a:r>
              <a:rPr lang="en-US" sz="2400" dirty="0"/>
              <a:t>1 initializes the total preorder to be empty </a:t>
            </a:r>
            <a:endParaRPr lang="en-US" sz="2400" dirty="0" smtClean="0"/>
          </a:p>
          <a:p>
            <a:pPr marL="285750" indent="-285750" algn="just">
              <a:buFont typeface="Wingdings" panose="05000000000000000000" pitchFamily="2" charset="2"/>
              <a:buChar char="v"/>
            </a:pPr>
            <a:endParaRPr lang="en-US" sz="2400" dirty="0"/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sz="2400" dirty="0" smtClean="0"/>
              <a:t>line </a:t>
            </a:r>
            <a:r>
              <a:rPr lang="en-US" sz="2400" dirty="0"/>
              <a:t>2 is by lexicographically sorting the endpoints on (</a:t>
            </a:r>
            <a:r>
              <a:rPr lang="en-US" sz="2400" dirty="0" err="1"/>
              <a:t>x,e,y</a:t>
            </a:r>
            <a:r>
              <a:rPr lang="en-US" sz="2400" dirty="0"/>
              <a:t>), where x and y are the usual coordinates, e = 0 for a left endpoint, and e = 1 for a right endpoint </a:t>
            </a:r>
          </a:p>
          <a:p>
            <a:pPr marL="285750" indent="-285750" algn="just">
              <a:buFont typeface="Wingdings" panose="05000000000000000000" pitchFamily="2" charset="2"/>
              <a:buChar char="v"/>
            </a:pPr>
            <a:endParaRPr lang="en-US" sz="2400" dirty="0" smtClean="0"/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sz="2400" dirty="0" smtClean="0"/>
              <a:t>Each </a:t>
            </a:r>
            <a:r>
              <a:rPr lang="en-US" sz="2400" dirty="0"/>
              <a:t>iteration of the for loop of lines 3–11 processes one event point p. If p is the left endpoint of a segment s, line 5 adds s to the total preorder, and lines 6–7 return TRUE if s intersects either of the segments it is consecutive with in the total preorder defined by the sweep line passing through p </a:t>
            </a:r>
          </a:p>
          <a:p>
            <a:pPr marL="285750" indent="-285750" algn="just">
              <a:buFont typeface="Wingdings" panose="05000000000000000000" pitchFamily="2" charset="2"/>
              <a:buChar char="v"/>
            </a:pPr>
            <a:endParaRPr lang="en-US" sz="2400" dirty="0" smtClean="0"/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sz="2400" dirty="0" smtClean="0"/>
              <a:t>If </a:t>
            </a:r>
            <a:r>
              <a:rPr lang="en-US" sz="2400" dirty="0"/>
              <a:t>p is the right endpoint of a segment s, then we need to delete s from the total preorder. But first, lines 9–10 return TRUE if there is an intersection between the segments surrounding s in the total preorder defined by the sweep line passing through p </a:t>
            </a:r>
          </a:p>
        </p:txBody>
      </p:sp>
    </p:spTree>
    <p:extLst>
      <p:ext uri="{BB962C8B-B14F-4D97-AF65-F5344CB8AC3E}">
        <p14:creationId xmlns:p14="http://schemas.microsoft.com/office/powerpoint/2010/main" val="13217750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9112" y="260648"/>
            <a:ext cx="8105775" cy="3971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250108" y="4077072"/>
            <a:ext cx="8642372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The execution of ANY-SEGMENTS-INTERSECT.   </a:t>
            </a:r>
          </a:p>
          <a:p>
            <a:endParaRPr lang="en-US" sz="2400" dirty="0" smtClean="0"/>
          </a:p>
          <a:p>
            <a:pPr algn="just"/>
            <a:r>
              <a:rPr lang="en-US" sz="2400" dirty="0" smtClean="0"/>
              <a:t>Each dashed line is the sweep line at an </a:t>
            </a:r>
            <a:r>
              <a:rPr lang="en-US" sz="2400" dirty="0" smtClean="0"/>
              <a:t>event </a:t>
            </a:r>
            <a:r>
              <a:rPr lang="en-US" sz="2400" dirty="0" smtClean="0"/>
              <a:t>point.  Except for the rightmost sweep line, the ordering of segments names below each sweep line corresponds to the total preorder T at the </a:t>
            </a:r>
            <a:r>
              <a:rPr lang="en-US" sz="2400" dirty="0" smtClean="0"/>
              <a:t>end </a:t>
            </a:r>
            <a:r>
              <a:rPr lang="en-US" sz="2400" dirty="0" smtClean="0"/>
              <a:t>of the for loop processing the corresponding event point.  The right most sweep line occurs when processing the right endpoint of segment c; 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8841885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23528" y="476672"/>
            <a:ext cx="8352928" cy="58169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3200" b="1" dirty="0">
                <a:solidFill>
                  <a:srgbClr val="FF0000"/>
                </a:solidFill>
              </a:rPr>
              <a:t>Running time </a:t>
            </a:r>
            <a:endParaRPr lang="en-IN" sz="3200" b="1" dirty="0" smtClean="0">
              <a:solidFill>
                <a:srgbClr val="FF0000"/>
              </a:solidFill>
            </a:endParaRPr>
          </a:p>
          <a:p>
            <a:endParaRPr lang="en-IN" sz="3200" b="1" dirty="0">
              <a:solidFill>
                <a:srgbClr val="FF0000"/>
              </a:solidFill>
            </a:endParaRPr>
          </a:p>
          <a:p>
            <a:pPr marL="457200" indent="-457200" algn="just">
              <a:buFont typeface="Wingdings" panose="05000000000000000000" pitchFamily="2" charset="2"/>
              <a:buChar char="q"/>
            </a:pPr>
            <a:r>
              <a:rPr lang="en-US" sz="2800" dirty="0" smtClean="0"/>
              <a:t>If </a:t>
            </a:r>
            <a:r>
              <a:rPr lang="en-US" sz="2800" dirty="0"/>
              <a:t>set S contains n segments, then ANY-SEGMENTS-INTERSECT runs </a:t>
            </a:r>
            <a:r>
              <a:rPr lang="en-US" sz="2800" dirty="0">
                <a:solidFill>
                  <a:srgbClr val="FF0000"/>
                </a:solidFill>
              </a:rPr>
              <a:t>in </a:t>
            </a:r>
            <a:r>
              <a:rPr lang="en-US" sz="2800" b="1" dirty="0">
                <a:solidFill>
                  <a:srgbClr val="FF0000"/>
                </a:solidFill>
              </a:rPr>
              <a:t>time O(n </a:t>
            </a:r>
            <a:r>
              <a:rPr lang="en-US" sz="2800" b="1" dirty="0" err="1">
                <a:solidFill>
                  <a:srgbClr val="FF0000"/>
                </a:solidFill>
              </a:rPr>
              <a:t>lg</a:t>
            </a:r>
            <a:r>
              <a:rPr lang="en-US" sz="2800" b="1" dirty="0">
                <a:solidFill>
                  <a:srgbClr val="FF0000"/>
                </a:solidFill>
              </a:rPr>
              <a:t> n). </a:t>
            </a:r>
            <a:r>
              <a:rPr lang="en-US" sz="2800" dirty="0"/>
              <a:t>Line 1 takes O(1) time. Line 2 takes </a:t>
            </a:r>
            <a:r>
              <a:rPr lang="en-US" sz="2800" b="1" dirty="0">
                <a:solidFill>
                  <a:srgbClr val="FF0000"/>
                </a:solidFill>
              </a:rPr>
              <a:t>O(n </a:t>
            </a:r>
            <a:r>
              <a:rPr lang="en-US" sz="2800" b="1" dirty="0" err="1">
                <a:solidFill>
                  <a:srgbClr val="FF0000"/>
                </a:solidFill>
              </a:rPr>
              <a:t>lg</a:t>
            </a:r>
            <a:r>
              <a:rPr lang="en-US" sz="2800" b="1" dirty="0">
                <a:solidFill>
                  <a:srgbClr val="FF0000"/>
                </a:solidFill>
              </a:rPr>
              <a:t> n) time, using merge sort or heapsort</a:t>
            </a:r>
            <a:r>
              <a:rPr lang="en-US" sz="2800" dirty="0">
                <a:solidFill>
                  <a:srgbClr val="FF0000"/>
                </a:solidFill>
              </a:rPr>
              <a:t>. </a:t>
            </a:r>
          </a:p>
          <a:p>
            <a:pPr marL="457200" indent="-457200" algn="just">
              <a:buFont typeface="Wingdings" panose="05000000000000000000" pitchFamily="2" charset="2"/>
              <a:buChar char="q"/>
            </a:pPr>
            <a:r>
              <a:rPr lang="en-US" sz="2800" dirty="0" smtClean="0"/>
              <a:t>The </a:t>
            </a:r>
            <a:r>
              <a:rPr lang="en-US" sz="2800" dirty="0"/>
              <a:t>for loop of lines 3–11 iterates at most once per event point, and so with </a:t>
            </a:r>
            <a:r>
              <a:rPr lang="en-US" sz="2800" b="1" dirty="0">
                <a:solidFill>
                  <a:srgbClr val="FF0000"/>
                </a:solidFill>
              </a:rPr>
              <a:t>2n event points, the loop iterates at most 2n times. </a:t>
            </a:r>
            <a:endParaRPr lang="en-US" sz="2800" dirty="0">
              <a:solidFill>
                <a:srgbClr val="FF0000"/>
              </a:solidFill>
            </a:endParaRPr>
          </a:p>
          <a:p>
            <a:pPr marL="457200" indent="-457200" algn="just">
              <a:buFont typeface="Wingdings" panose="05000000000000000000" pitchFamily="2" charset="2"/>
              <a:buChar char="q"/>
            </a:pPr>
            <a:r>
              <a:rPr lang="en-US" sz="2800" b="1" dirty="0" smtClean="0">
                <a:solidFill>
                  <a:srgbClr val="FF0000"/>
                </a:solidFill>
              </a:rPr>
              <a:t>Each </a:t>
            </a:r>
            <a:r>
              <a:rPr lang="en-US" sz="2800" b="1" dirty="0">
                <a:solidFill>
                  <a:srgbClr val="FF0000"/>
                </a:solidFill>
              </a:rPr>
              <a:t>iteration takes O(</a:t>
            </a:r>
            <a:r>
              <a:rPr lang="en-US" sz="2800" b="1" dirty="0" err="1">
                <a:solidFill>
                  <a:srgbClr val="FF0000"/>
                </a:solidFill>
              </a:rPr>
              <a:t>lg</a:t>
            </a:r>
            <a:r>
              <a:rPr lang="en-US" sz="2800" b="1" dirty="0">
                <a:solidFill>
                  <a:srgbClr val="FF0000"/>
                </a:solidFill>
              </a:rPr>
              <a:t> n) </a:t>
            </a:r>
            <a:r>
              <a:rPr lang="en-US" sz="2800" dirty="0">
                <a:solidFill>
                  <a:srgbClr val="FF0000"/>
                </a:solidFill>
              </a:rPr>
              <a:t>time, since </a:t>
            </a:r>
            <a:r>
              <a:rPr lang="en-US" sz="2800" b="1" dirty="0">
                <a:solidFill>
                  <a:srgbClr val="FF0000"/>
                </a:solidFill>
              </a:rPr>
              <a:t>each red-black-tree operation takes O(</a:t>
            </a:r>
            <a:r>
              <a:rPr lang="en-US" sz="2800" b="1" dirty="0" err="1">
                <a:solidFill>
                  <a:srgbClr val="FF0000"/>
                </a:solidFill>
              </a:rPr>
              <a:t>lg</a:t>
            </a:r>
            <a:r>
              <a:rPr lang="en-US" sz="2800" b="1" dirty="0">
                <a:solidFill>
                  <a:srgbClr val="FF0000"/>
                </a:solidFill>
              </a:rPr>
              <a:t> n</a:t>
            </a:r>
            <a:r>
              <a:rPr lang="en-US" sz="2800" b="1" dirty="0" smtClean="0">
                <a:solidFill>
                  <a:srgbClr val="FF0000"/>
                </a:solidFill>
              </a:rPr>
              <a:t>) time </a:t>
            </a:r>
            <a:r>
              <a:rPr lang="en-US" sz="2800" dirty="0"/>
              <a:t>and, each intersection test takes O(1</a:t>
            </a:r>
            <a:r>
              <a:rPr lang="en-US" sz="2800" dirty="0" smtClean="0"/>
              <a:t>) time</a:t>
            </a:r>
            <a:r>
              <a:rPr lang="en-US" sz="2800" dirty="0"/>
              <a:t>. </a:t>
            </a:r>
            <a:r>
              <a:rPr lang="en-US" sz="2800" b="1" dirty="0">
                <a:solidFill>
                  <a:srgbClr val="FF0000"/>
                </a:solidFill>
              </a:rPr>
              <a:t>The total time is thus O(n </a:t>
            </a:r>
            <a:r>
              <a:rPr lang="en-US" sz="2800" b="1" dirty="0" err="1">
                <a:solidFill>
                  <a:srgbClr val="FF0000"/>
                </a:solidFill>
              </a:rPr>
              <a:t>lg</a:t>
            </a:r>
            <a:r>
              <a:rPr lang="en-US" sz="2800" b="1" dirty="0">
                <a:solidFill>
                  <a:srgbClr val="FF0000"/>
                </a:solidFill>
              </a:rPr>
              <a:t> n) </a:t>
            </a:r>
            <a:endParaRPr lang="en-US" sz="2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07775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963</Words>
  <Application>Microsoft Office PowerPoint</Application>
  <PresentationFormat>On-screen Show (4:3)</PresentationFormat>
  <Paragraphs>64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SWEEPING LINES</vt:lpstr>
      <vt:lpstr>Sweeping lines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SWEEPING LINES</dc:title>
  <dc:creator>HP</dc:creator>
  <cp:lastModifiedBy>HP</cp:lastModifiedBy>
  <cp:revision>15</cp:revision>
  <dcterms:created xsi:type="dcterms:W3CDTF">2024-03-10T15:11:57Z</dcterms:created>
  <dcterms:modified xsi:type="dcterms:W3CDTF">2024-03-11T01:40:51Z</dcterms:modified>
</cp:coreProperties>
</file>