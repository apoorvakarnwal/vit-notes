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41" r:id="rId2"/>
    <p:sldId id="342" r:id="rId3"/>
    <p:sldId id="344" r:id="rId4"/>
    <p:sldId id="345" r:id="rId5"/>
    <p:sldId id="346" r:id="rId6"/>
    <p:sldId id="347" r:id="rId7"/>
    <p:sldId id="348" r:id="rId8"/>
    <p:sldId id="349" r:id="rId9"/>
    <p:sldId id="35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91" autoAdjust="0"/>
    <p:restoredTop sz="94694"/>
  </p:normalViewPr>
  <p:slideViewPr>
    <p:cSldViewPr snapToGrid="0">
      <p:cViewPr>
        <p:scale>
          <a:sx n="81" d="100"/>
          <a:sy n="81" d="100"/>
        </p:scale>
        <p:origin x="328" y="10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F555F4-4E4A-EF4E-875A-99BC8DC3556B}" type="datetimeFigureOut">
              <a:rPr lang="en-IN" smtClean="0"/>
              <a:t>21/10/25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D05603-760A-C542-86EE-60A577025164}" type="slidenum">
              <a:rPr lang="en-IN" smtClean="0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0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05603-760A-C542-86EE-60A57702516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392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1A6A9-CE9D-4E1A-4870-2717E7B65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FAD1D9-6904-CC45-9546-8FB48AD16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DF6A40-FC32-1718-8B9C-4C33C3F91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E6427-FF80-3E75-B97E-FD93A474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05603-760A-C542-86EE-60A57702516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0456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1EB89-8859-F4EE-D04F-94CE9BD74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79C039-4302-E367-B4D8-4D32CD372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D7FA9-A87D-F599-695D-4C9FCF4BCB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AF45F-0520-F6B7-C832-2F2A3E6AB9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05603-760A-C542-86EE-60A57702516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51674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A2F83-2C91-A14F-F99E-3048C894D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33995E-8954-9F01-71FE-007387DD5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770E73-F4B9-1EE5-63E5-997FEE7AF5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AB780-1613-B741-C744-F7C8A12178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05603-760A-C542-86EE-60A57702516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537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54FA7-7C2B-595B-914C-6CE37C110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E76FB6-42A4-C63B-78BA-0B50375275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AD540-1A89-4206-779D-9BB4112B5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858E0-7810-F6AD-BDFD-0A355CDEBA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05603-760A-C542-86EE-60A57702516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7005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169D7-BBD2-A4D9-AB2D-CEBE2DFB1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1A3664-07A8-625D-D739-59A3FF2D0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4F731-8F11-52FF-5AF4-C30A7168B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F3BB0-B5D6-4484-4D36-6CAF4A394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05603-760A-C542-86EE-60A57702516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956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BA1BD-052D-31AB-5726-1EA6C12F7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CF126-C601-EC7E-FBCC-52AA4E8F6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459598-66B8-AED6-6642-4231B2FAA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E4939-0E06-CFD5-DA13-9F062AB947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05603-760A-C542-86EE-60A57702516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328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D7116-E5D5-A2FF-5744-4D889BBF6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079E0D-5B85-89FF-D0E3-16A3149887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714FA7-0C6F-7C2A-D129-AE88614CA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FF3F7A-5926-65DF-AF67-8AC569363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D05603-760A-C542-86EE-60A57702516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5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7831-676F-1031-4CC6-30AF30B11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82EED2-2404-58AC-D036-0223D09CA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3248B-8595-FF04-4ACF-1F5BA4809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BF0B-9D81-444C-BE11-73E88CF9210E}" type="datetimeFigureOut">
              <a:rPr lang="en-IN" smtClean="0"/>
              <a:t>21/10/25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70336-C884-FDCF-9238-7F038CC09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9067-0BC6-00C0-C7D5-6C2DAB4C4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8CBD4-AA4E-49FF-9C6B-17B5A3B19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4546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1EF01-7517-1FE4-6B9C-66A35395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70612-9848-3780-59F3-F44581C5C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B9DFA-F968-13D7-31B9-70C6FFDE9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BF0B-9D81-444C-BE11-73E88CF9210E}" type="datetimeFigureOut">
              <a:rPr lang="en-IN" smtClean="0"/>
              <a:t>21/10/25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D1DF2F-1725-B1A4-6620-E527A3210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7F559-292F-635C-82F9-5F13EB63B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8CBD4-AA4E-49FF-9C6B-17B5A3B19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6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18B9F-C81D-0171-CD97-D6738938A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CBE7B-2796-F023-FFF3-9FBBF3056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295D6-CB8A-F1B1-D395-37E05765E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BF0B-9D81-444C-BE11-73E88CF9210E}" type="datetimeFigureOut">
              <a:rPr lang="en-IN" smtClean="0"/>
              <a:t>21/10/25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BD953-2AE7-0BF7-51C2-D4688FC71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98A9F-4243-ADB8-3ADF-4850437BF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8CBD4-AA4E-49FF-9C6B-17B5A3B19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451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3DF1A-3301-D5EE-B325-12E40EC75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58512-9F2F-F76E-BAA5-B8AEAF840D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79E6F-7677-7D8E-6A97-6DE736447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6144F3-2ECB-D4B2-E23C-89738C02E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BF0B-9D81-444C-BE11-73E88CF9210E}" type="datetimeFigureOut">
              <a:rPr lang="en-IN" smtClean="0"/>
              <a:t>21/10/25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81157-1525-CADB-B0CA-48DFA0256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BB30A-937C-E84F-E34C-880E69E4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8CBD4-AA4E-49FF-9C6B-17B5A3B19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302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CE6DF-B827-C360-BF3B-236DCBBA6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1C5DC3-043E-F2EA-D72E-55C369A14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DD6A4E-9037-CC90-87B2-BD73D6DC9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41C5B8-C989-A54D-EE03-D62774F07A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7F2A2D-D4FC-2E61-AE60-EDB74F331C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6F96AF-589B-FDE3-CE3A-FD795946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BF0B-9D81-444C-BE11-73E88CF9210E}" type="datetimeFigureOut">
              <a:rPr lang="en-IN" smtClean="0"/>
              <a:t>21/10/25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D1C4-8381-8148-CF9E-0BC2D3F03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BEFEF-90E1-B088-8849-44F166FDF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8CBD4-AA4E-49FF-9C6B-17B5A3B19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3550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97C89-C047-F71B-5516-7E53361DC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6E1AFD-1E67-FF09-A285-701901F1B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BF0B-9D81-444C-BE11-73E88CF9210E}" type="datetimeFigureOut">
              <a:rPr lang="en-IN" smtClean="0"/>
              <a:t>21/10/25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9E247B-BA08-DDFD-B5EE-3AEBE795B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372B7-A327-356D-0F3E-F280BE7E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8CBD4-AA4E-49FF-9C6B-17B5A3B19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02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4E0B8C-8DB1-6AAA-A331-EB3C7358B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BF0B-9D81-444C-BE11-73E88CF9210E}" type="datetimeFigureOut">
              <a:rPr lang="en-IN" smtClean="0"/>
              <a:t>21/10/25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0B7F468-805F-8CB6-8E5A-7B1F521FC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D809B-26AB-3B41-E72B-028611DC3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8CBD4-AA4E-49FF-9C6B-17B5A3B19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414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F4D0F-BD9E-B626-0803-5EFDBDC485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ED7B7-0C08-81EB-B87C-295F27C1C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D58A9C-57EC-8A98-D043-048C6FC56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2D0E1-57C0-CE93-AF3F-34787674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BF0B-9D81-444C-BE11-73E88CF9210E}" type="datetimeFigureOut">
              <a:rPr lang="en-IN" smtClean="0"/>
              <a:t>21/10/25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A4E53-ED53-7DD2-99E6-651A24D23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FC79BF-D8AF-25B9-1905-B10E57325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8CBD4-AA4E-49FF-9C6B-17B5A3B19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079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5E6E4-F279-EDC2-8543-AEF823C4C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3EAAD3-5C1A-A122-FB3A-28CD54963D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66F95-C7FF-9A15-82FA-5939A53064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0BACB-E459-16B7-EFF7-50E4C5487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BF0B-9D81-444C-BE11-73E88CF9210E}" type="datetimeFigureOut">
              <a:rPr lang="en-IN" smtClean="0"/>
              <a:t>21/10/25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C8CC43-D8A1-8D87-8253-FB00F5334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E93CE-1A54-DC9F-73C9-15FE699C9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8CBD4-AA4E-49FF-9C6B-17B5A3B19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4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4FAAD-D36D-C220-7D53-70EA1A37B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7EF6EC-1131-07B9-D319-66BC54299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0579D-E23A-97EC-052C-3A85D0043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BF0B-9D81-444C-BE11-73E88CF9210E}" type="datetimeFigureOut">
              <a:rPr lang="en-IN" smtClean="0"/>
              <a:t>21/10/25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CCB7F-EF53-3A83-D8B6-7160A8C7A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B687BD-C0FC-A2F1-97D5-DB0A052A2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8CBD4-AA4E-49FF-9C6B-17B5A3B19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022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2C0C96-84C9-F544-50C7-665CE74CBC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E03D50-8985-59A4-164B-F3AF84D051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EF0B-D8CD-A336-6ADB-67F73F44C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BF0B-9D81-444C-BE11-73E88CF9210E}" type="datetimeFigureOut">
              <a:rPr lang="en-IN" smtClean="0"/>
              <a:t>21/10/25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FB148-9B1B-8538-3E6A-FD42DBD44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7D101-6A8F-4755-1E45-3C0A79E17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8CBD4-AA4E-49FF-9C6B-17B5A3B19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88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36FFF-7ED0-DEB3-FD9F-C2654A3A4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034566-2A65-5513-0404-5DC85295F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132A3-D2BD-6698-F557-700B4C943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47BF0B-9D81-444C-BE11-73E88CF9210E}" type="datetimeFigureOut">
              <a:rPr lang="en-IN" smtClean="0"/>
              <a:t>21/10/25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2A656-6E68-934E-51E5-1F3DBC5E2C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779CE-E275-1230-F763-240B9E57A9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E8CBD4-AA4E-49FF-9C6B-17B5A3B196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692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la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4811" y="1556626"/>
            <a:ext cx="9727139" cy="5301373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BCSE399J (Summer Industrial Internship)/ </a:t>
            </a:r>
          </a:p>
          <a:p>
            <a:r>
              <a:rPr lang="en-US" b="1" dirty="0"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CBS1902/CSE1902/ CSI3903 (Industrial Internship)</a:t>
            </a:r>
          </a:p>
          <a:p>
            <a:r>
              <a:rPr lang="en-US" b="1" dirty="0">
                <a:solidFill>
                  <a:schemeClr val="tx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FALL  SEMESTER 2025-26</a:t>
            </a:r>
            <a:endParaRPr lang="en-IN" b="1" dirty="0">
              <a:solidFill>
                <a:schemeClr val="tx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endParaRPr lang="en-IN" sz="1400" b="1" dirty="0">
              <a:solidFill>
                <a:schemeClr val="tx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600" b="1" dirty="0">
                <a:solidFill>
                  <a:schemeClr val="tx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Type of Intern: </a:t>
            </a:r>
            <a:r>
              <a:rPr lang="en-IN" sz="2600" dirty="0">
                <a:solidFill>
                  <a:schemeClr val="tx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Industry offline</a:t>
            </a:r>
          </a:p>
          <a:p>
            <a:pPr algn="l"/>
            <a:r>
              <a:rPr lang="en-IN" sz="2600" b="1" dirty="0">
                <a:solidFill>
                  <a:schemeClr val="tx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Title of Intern: </a:t>
            </a:r>
            <a:r>
              <a:rPr lang="en-IN" sz="2600" dirty="0">
                <a:solidFill>
                  <a:schemeClr val="tx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Software Intern</a:t>
            </a:r>
          </a:p>
          <a:p>
            <a:pPr algn="l"/>
            <a:r>
              <a:rPr lang="en-IN" sz="2600" b="1" dirty="0">
                <a:solidFill>
                  <a:schemeClr val="tx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Internship completed at : </a:t>
            </a:r>
            <a:r>
              <a:rPr lang="en-IN" sz="2600" dirty="0">
                <a:solidFill>
                  <a:schemeClr val="tx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KLA-Tencor, </a:t>
            </a:r>
          </a:p>
          <a:p>
            <a:pPr algn="l"/>
            <a:r>
              <a:rPr lang="en-IN" sz="2600" dirty="0">
                <a:solidFill>
                  <a:schemeClr val="tx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Software Prince Infocity, 286/1 &amp; 286/2, Rajiv Gandhi Salai, Kandhanchavadi, Kottivakkam, Chennai, Tamil Nadu 600096,</a:t>
            </a:r>
          </a:p>
          <a:p>
            <a:pPr algn="l"/>
            <a:r>
              <a:rPr lang="en-IN" sz="2600" i="1" dirty="0">
                <a:solidFill>
                  <a:schemeClr val="tx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https://www.kla.com/ , Sruthi A S, </a:t>
            </a:r>
            <a:r>
              <a:rPr lang="en-IN" sz="2600" i="1" dirty="0">
                <a:latin typeface="Book Antiqua" panose="02040602050305030304" pitchFamily="18" charset="0"/>
                <a:cs typeface="Times New Roman" panose="02020603050405020304" pitchFamily="18" charset="0"/>
              </a:rPr>
              <a:t>Sruthi.AS@kla.com, </a:t>
            </a:r>
            <a:r>
              <a:rPr lang="en-IN" sz="2600" b="0" i="0" dirty="0">
                <a:solidFill>
                  <a:srgbClr val="212529"/>
                </a:solidFill>
                <a:effectLst/>
                <a:latin typeface="Book Antiqua" panose="02040602050305030304" pitchFamily="18" charset="0"/>
              </a:rPr>
              <a:t>4443964000</a:t>
            </a:r>
            <a:endParaRPr lang="en-IN" sz="2600" i="1" dirty="0">
              <a:solidFill>
                <a:schemeClr val="tx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600" b="1" dirty="0">
                <a:solidFill>
                  <a:schemeClr val="tx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Duration : </a:t>
            </a:r>
            <a:r>
              <a:rPr lang="en-IN" sz="2600" i="0" dirty="0">
                <a:solidFill>
                  <a:srgbClr val="212529"/>
                </a:solidFill>
                <a:effectLst/>
                <a:latin typeface="Book Antiqua" panose="02040602050305030304" pitchFamily="18" charset="0"/>
              </a:rPr>
              <a:t>59</a:t>
            </a:r>
            <a:r>
              <a:rPr lang="en-IN" sz="2600" i="0" dirty="0">
                <a:effectLst/>
                <a:latin typeface="Book Antiqua" panose="02040602050305030304" pitchFamily="18" charset="0"/>
                <a:cs typeface="Times New Roman" panose="02020603050405020304" pitchFamily="18" charset="0"/>
              </a:rPr>
              <a:t> days</a:t>
            </a:r>
            <a:r>
              <a:rPr lang="en-IN" sz="2600" dirty="0">
                <a:solidFill>
                  <a:schemeClr val="tx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: </a:t>
            </a:r>
            <a:r>
              <a:rPr lang="en-IN" sz="2600" i="0" dirty="0">
                <a:solidFill>
                  <a:srgbClr val="212529"/>
                </a:solidFill>
                <a:effectLst/>
                <a:latin typeface="Book Antiqua" panose="02040602050305030304" pitchFamily="18" charset="0"/>
              </a:rPr>
              <a:t>21-May-2025 to 18-Jul-2025</a:t>
            </a:r>
            <a:endParaRPr lang="en-IN" sz="2600" dirty="0">
              <a:solidFill>
                <a:schemeClr val="tx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2600" b="1" dirty="0">
                <a:solidFill>
                  <a:schemeClr val="tx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Date of Presentation: </a:t>
            </a:r>
            <a:r>
              <a:rPr lang="en-IN" sz="2600" dirty="0">
                <a:latin typeface="Book Antiqua" panose="02040602050305030304" pitchFamily="18" charset="0"/>
                <a:cs typeface="Times New Roman" panose="02020603050405020304" pitchFamily="18" charset="0"/>
              </a:rPr>
              <a:t>31</a:t>
            </a:r>
            <a:r>
              <a:rPr lang="en-IN" sz="2600" dirty="0">
                <a:solidFill>
                  <a:schemeClr val="tx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/10/2025</a:t>
            </a:r>
          </a:p>
          <a:p>
            <a:endParaRPr lang="en-IN" sz="700" i="1" dirty="0">
              <a:solidFill>
                <a:schemeClr val="tx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r>
              <a:rPr lang="en-IN" sz="2100" i="1" dirty="0">
                <a:solidFill>
                  <a:schemeClr val="tx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by </a:t>
            </a:r>
          </a:p>
          <a:p>
            <a:endParaRPr lang="en-IN" sz="900" b="1" dirty="0">
              <a:solidFill>
                <a:schemeClr val="tx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r>
              <a:rPr lang="en-IN" sz="19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APOORVA KARNWAL      22BCE0756</a:t>
            </a:r>
            <a:endParaRPr lang="en-IN" sz="1900" b="1" dirty="0">
              <a:solidFill>
                <a:schemeClr val="tx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endParaRPr lang="en-IN" sz="1400" b="1" dirty="0">
              <a:solidFill>
                <a:schemeClr val="tx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endParaRPr lang="en-IN" sz="1100" dirty="0">
              <a:solidFill>
                <a:schemeClr val="tx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endParaRPr lang="en-IN" sz="900" dirty="0">
              <a:solidFill>
                <a:schemeClr val="tx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endParaRPr lang="en-IN" sz="900" dirty="0">
              <a:solidFill>
                <a:schemeClr val="tx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endParaRPr lang="en-IN" sz="700" dirty="0">
              <a:solidFill>
                <a:schemeClr val="tx1"/>
              </a:solidFill>
              <a:latin typeface="Book Antiqua" panose="02040602050305030304" pitchFamily="18" charset="0"/>
            </a:endParaRP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12192000" cy="1447800"/>
          </a:xfrm>
          <a:prstGeom prst="rect">
            <a:avLst/>
          </a:prstGeom>
          <a:solidFill>
            <a:srgbClr val="3333CC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School of Computer Science and Engineering</a:t>
            </a:r>
          </a:p>
          <a:p>
            <a:pPr algn="l"/>
            <a:r>
              <a:rPr lang="en-IN" sz="3200" b="1" dirty="0">
                <a:solidFill>
                  <a:schemeClr val="bg1"/>
                </a:solidFill>
                <a:latin typeface="Book Antiqua" panose="02040602050305030304" pitchFamily="18" charset="0"/>
                <a:cs typeface="Times New Roman" panose="02020603050405020304" pitchFamily="18" charset="0"/>
              </a:rPr>
              <a:t>            Internship Review - Presentation</a:t>
            </a:r>
            <a:endParaRPr lang="en-US" sz="3600" b="1" dirty="0">
              <a:solidFill>
                <a:prstClr val="white"/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A40-7FD5-436B-B3DD-01066071B37C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</a:t>
            </a:fld>
            <a:endParaRPr lang="en-IN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FF6BD9-D3C9-FFA0-7D73-A33D9EBD43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822" y="68263"/>
            <a:ext cx="3693357" cy="12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531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606731"/>
            <a:ext cx="12056011" cy="4749619"/>
          </a:xfrm>
        </p:spPr>
        <p:txBody>
          <a:bodyPr>
            <a:normAutofit/>
          </a:bodyPr>
          <a:lstStyle/>
          <a:p>
            <a:pPr marL="457200" lvl="0" indent="-457200" algn="just">
              <a:buFont typeface="+mj-lt"/>
              <a:buAutoNum type="arabicPeriod"/>
            </a:pPr>
            <a:r>
              <a:rPr lang="en-IN" sz="28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Outline - Contents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8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8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Aim, objective(s) and motivation.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8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About the industry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8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Certificate (Period of study) 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8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Skills acquired during industrial internship</a:t>
            </a:r>
          </a:p>
          <a:p>
            <a:pPr marL="457200" lvl="0" indent="-457200" algn="just">
              <a:buFont typeface="+mj-lt"/>
              <a:buAutoNum type="arabicPeriod"/>
            </a:pPr>
            <a:r>
              <a:rPr lang="en-IN" sz="2800" dirty="0">
                <a:solidFill>
                  <a:srgbClr val="000000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New technologies/Frameworks/real-time problems/Analysis based knowledge acquired during industrial internship</a:t>
            </a:r>
          </a:p>
        </p:txBody>
      </p:sp>
      <p:sp>
        <p:nvSpPr>
          <p:cNvPr id="5" name="Rectangle 4"/>
          <p:cNvSpPr txBox="1">
            <a:spLocks noChangeArrowheads="1"/>
          </p:cNvSpPr>
          <p:nvPr/>
        </p:nvSpPr>
        <p:spPr>
          <a:xfrm>
            <a:off x="0" y="0"/>
            <a:ext cx="12192000" cy="1447800"/>
          </a:xfrm>
          <a:prstGeom prst="rect">
            <a:avLst/>
          </a:prstGeom>
          <a:solidFill>
            <a:srgbClr val="3333CC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600" b="1" dirty="0">
                <a:solidFill>
                  <a:schemeClr val="bg1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Contents</a:t>
            </a:r>
            <a:endParaRPr lang="en-IN" sz="5300" dirty="0">
              <a:solidFill>
                <a:schemeClr val="bg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A40-7FD5-436B-B3DD-01066071B37C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2</a:t>
            </a:fld>
            <a:endParaRPr lang="en-IN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F853E6F-A98E-C7D3-91D3-2AF29EC3A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668108" cy="365125"/>
          </a:xfrm>
        </p:spPr>
        <p:txBody>
          <a:bodyPr/>
          <a:lstStyle/>
          <a:p>
            <a:r>
              <a:rPr lang="en-IN" sz="12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APOORVA KARNWAL      22BCE0756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566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07D25-6FA9-4E91-F4D0-1CBC4C7EE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9F05139-2EF0-5C03-D630-3E7FFAAA8E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06731"/>
            <a:ext cx="12056011" cy="4749619"/>
          </a:xfrm>
        </p:spPr>
        <p:txBody>
          <a:bodyPr>
            <a:normAutofit/>
          </a:bodyPr>
          <a:lstStyle/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>
                <a:latin typeface="Book Antiqua" panose="02040602050305030304" pitchFamily="18" charset="0"/>
              </a:rPr>
              <a:t>During my summer internship at KLA-Tencor, I worked on </a:t>
            </a:r>
            <a:r>
              <a:rPr lang="en-IN" sz="2800" dirty="0">
                <a:effectLst/>
                <a:latin typeface="Book Antiqua" panose="02040602050305030304" pitchFamily="18" charset="0"/>
                <a:ea typeface="Aptos" panose="020B0004020202020204" pitchFamily="34" charset="0"/>
              </a:rPr>
              <a:t>an automation project focused on simplifying the process of creating a new tool type. This process requires creation and modification of all the configuration files for new hardware tool types used in semiconductor chip manufacturing</a:t>
            </a:r>
            <a:r>
              <a:rPr lang="en-IN" sz="2800" dirty="0">
                <a:effectLst/>
                <a:latin typeface="Book Antiqua" panose="02040602050305030304" pitchFamily="18" charset="0"/>
              </a:rPr>
              <a:t>.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>
                <a:latin typeface="Book Antiqua" panose="02040602050305030304" pitchFamily="18" charset="0"/>
              </a:rPr>
              <a:t>The project aimed to replace the manual, error-prone XML editing process with a dynamic web-based tool using Django and Python.</a:t>
            </a:r>
          </a:p>
          <a:p>
            <a:pPr marL="457200" indent="-457200" algn="just">
              <a:buFont typeface="Wingdings" pitchFamily="2" charset="2"/>
              <a:buChar char="Ø"/>
            </a:pPr>
            <a:r>
              <a:rPr lang="en-IN" sz="2800" dirty="0">
                <a:latin typeface="Book Antiqua" panose="02040602050305030304" pitchFamily="18" charset="0"/>
              </a:rPr>
              <a:t>This internship allowed me to gain hands-on experience with real-time industrial software systems and engage in full-stack development within a real-world software development environment.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B05C01-8439-152B-34D1-B2689BD5D26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1447800"/>
          </a:xfrm>
          <a:prstGeom prst="rect">
            <a:avLst/>
          </a:prstGeom>
          <a:solidFill>
            <a:srgbClr val="3333CC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600" b="1" dirty="0">
                <a:solidFill>
                  <a:schemeClr val="bg1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Introduction</a:t>
            </a:r>
            <a:endParaRPr lang="en-IN" sz="5300" dirty="0">
              <a:solidFill>
                <a:schemeClr val="bg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0F33A-8C2F-AE28-E97A-8A2643294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A40-7FD5-436B-B3DD-01066071B37C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3</a:t>
            </a:fld>
            <a:endParaRPr lang="en-IN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62E8D20B-0905-67C1-4472-93C86B0FA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668108" cy="365125"/>
          </a:xfrm>
        </p:spPr>
        <p:txBody>
          <a:bodyPr/>
          <a:lstStyle/>
          <a:p>
            <a:r>
              <a:rPr lang="en-IN" sz="12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APOORVA KARNWAL      22BCE0756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228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538AB-30EC-8D90-A8A5-AB42D286D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720B00C-78B1-3317-4107-569697BA2E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06731"/>
            <a:ext cx="12056011" cy="4870269"/>
          </a:xfrm>
        </p:spPr>
        <p:txBody>
          <a:bodyPr>
            <a:normAutofit lnSpcReduction="10000"/>
          </a:bodyPr>
          <a:lstStyle/>
          <a:p>
            <a:pPr algn="l"/>
            <a:r>
              <a:rPr lang="en-IN" sz="2800" b="1" dirty="0">
                <a:latin typeface="Book Antiqua" panose="02040602050305030304" pitchFamily="18" charset="0"/>
              </a:rPr>
              <a:t>Aim:</a:t>
            </a:r>
            <a:br>
              <a:rPr lang="en-IN" dirty="0">
                <a:latin typeface="Book Antiqua" panose="02040602050305030304" pitchFamily="18" charset="0"/>
              </a:rPr>
            </a:br>
            <a:r>
              <a:rPr lang="en-IN" dirty="0">
                <a:latin typeface="Book Antiqua" panose="02040602050305030304" pitchFamily="18" charset="0"/>
              </a:rPr>
              <a:t>To automate the tool type creation process which requires changes in configuration files for semiconductor hardware tools using a Django based web application.</a:t>
            </a:r>
          </a:p>
          <a:p>
            <a:pPr algn="l"/>
            <a:r>
              <a:rPr lang="en-IN" sz="2800" b="1" dirty="0">
                <a:latin typeface="Book Antiqua" panose="02040602050305030304" pitchFamily="18" charset="0"/>
              </a:rPr>
              <a:t>Objectives: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IN" dirty="0">
                <a:latin typeface="Book Antiqua" panose="02040602050305030304" pitchFamily="18" charset="0"/>
              </a:rPr>
              <a:t>Parse feature config file and display the features in the UI interface.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IN" dirty="0">
                <a:latin typeface="Book Antiqua" panose="02040602050305030304" pitchFamily="18" charset="0"/>
              </a:rPr>
              <a:t>Enable dynamic UI generation based on XML structure and nesting.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IN" dirty="0">
                <a:latin typeface="Book Antiqua" panose="02040602050305030304" pitchFamily="18" charset="0"/>
              </a:rPr>
              <a:t>Allow feature customization for the new </a:t>
            </a:r>
            <a:r>
              <a:rPr lang="en-IN">
                <a:latin typeface="Book Antiqua" panose="02040602050305030304" pitchFamily="18" charset="0"/>
              </a:rPr>
              <a:t>tool type via </a:t>
            </a:r>
            <a:r>
              <a:rPr lang="en-IN" dirty="0">
                <a:latin typeface="Book Antiqua" panose="02040602050305030304" pitchFamily="18" charset="0"/>
              </a:rPr>
              <a:t>the UI.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IN" dirty="0">
                <a:latin typeface="Book Antiqua" panose="02040602050305030304" pitchFamily="18" charset="0"/>
              </a:rPr>
              <a:t>Automate XML modification based on user customization and generate downloadable outputs.</a:t>
            </a:r>
          </a:p>
          <a:p>
            <a:pPr algn="l"/>
            <a:r>
              <a:rPr lang="en-IN" sz="2800" b="1" dirty="0">
                <a:latin typeface="Book Antiqua" panose="02040602050305030304" pitchFamily="18" charset="0"/>
              </a:rPr>
              <a:t>Motivation:</a:t>
            </a:r>
            <a:br>
              <a:rPr lang="en-IN" dirty="0">
                <a:latin typeface="Book Antiqua" panose="02040602050305030304" pitchFamily="18" charset="0"/>
              </a:rPr>
            </a:br>
            <a:r>
              <a:rPr lang="en-IN" dirty="0">
                <a:latin typeface="Book Antiqua" panose="02040602050305030304" pitchFamily="18" charset="0"/>
              </a:rPr>
              <a:t>The manual process of editing large configuration XMLs (50K+ lines across multiple files) was inefficient and prone to human error. The goal was to improve accuracy, speed, and usability through automation.</a:t>
            </a:r>
          </a:p>
          <a:p>
            <a:endParaRPr lang="en-IN" sz="1600" dirty="0">
              <a:latin typeface="Book Antiqua" panose="0204060205030503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F1D29D-41D1-22D8-6096-D59E488523DA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1447800"/>
          </a:xfrm>
          <a:prstGeom prst="rect">
            <a:avLst/>
          </a:prstGeom>
          <a:solidFill>
            <a:srgbClr val="3333CC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600" b="1" dirty="0">
                <a:solidFill>
                  <a:schemeClr val="bg1"/>
                </a:solidFill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en-IN" sz="3600" b="1" dirty="0">
                <a:solidFill>
                  <a:schemeClr val="bg1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IN" sz="3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Aim, objective(s) and motivation</a:t>
            </a:r>
            <a:endParaRPr lang="en-IN" sz="3600" dirty="0">
              <a:solidFill>
                <a:schemeClr val="bg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67C4A-2081-40F6-FB71-693283815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A40-7FD5-436B-B3DD-01066071B37C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4</a:t>
            </a:fld>
            <a:endParaRPr lang="en-IN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AF7DD92-3F04-9F4C-B57F-35FF57D6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668108" cy="365125"/>
          </a:xfrm>
        </p:spPr>
        <p:txBody>
          <a:bodyPr/>
          <a:lstStyle/>
          <a:p>
            <a:r>
              <a:rPr lang="en-IN" sz="12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APOORVA KARNWAL      22BCE0756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305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ACA62-FD7A-4B97-AECC-9F5182473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5A621B1-9052-EDEF-BBF2-C853513AE8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06731"/>
            <a:ext cx="12056011" cy="4749619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latin typeface="Book Antiqua" panose="02040602050305030304" pitchFamily="18" charset="0"/>
              </a:rPr>
              <a:t>Company:</a:t>
            </a:r>
            <a:r>
              <a:rPr lang="en-IN" sz="2800" dirty="0">
                <a:latin typeface="Book Antiqua" panose="02040602050305030304" pitchFamily="18" charset="0"/>
              </a:rPr>
              <a:t> KLA-Tencor</a:t>
            </a:r>
            <a:br>
              <a:rPr lang="en-IN" sz="2800" dirty="0">
                <a:latin typeface="Book Antiqua" panose="02040602050305030304" pitchFamily="18" charset="0"/>
              </a:rPr>
            </a:br>
            <a:r>
              <a:rPr lang="en-IN" sz="2800" b="1" dirty="0">
                <a:latin typeface="Book Antiqua" panose="02040602050305030304" pitchFamily="18" charset="0"/>
              </a:rPr>
              <a:t>Sector:</a:t>
            </a:r>
            <a:r>
              <a:rPr lang="en-IN" sz="2800" dirty="0">
                <a:latin typeface="Book Antiqua" panose="02040602050305030304" pitchFamily="18" charset="0"/>
              </a:rPr>
              <a:t> Semiconductor Manufacturing Equipment</a:t>
            </a:r>
            <a:br>
              <a:rPr lang="en-IN" sz="2800" dirty="0">
                <a:latin typeface="Book Antiqua" panose="02040602050305030304" pitchFamily="18" charset="0"/>
              </a:rPr>
            </a:br>
            <a:r>
              <a:rPr lang="en-IN" sz="2800" b="1" dirty="0">
                <a:latin typeface="Book Antiqua" panose="02040602050305030304" pitchFamily="18" charset="0"/>
              </a:rPr>
              <a:t>Website:</a:t>
            </a:r>
            <a:r>
              <a:rPr lang="en-IN" sz="2800" dirty="0">
                <a:latin typeface="Book Antiqua" panose="02040602050305030304" pitchFamily="18" charset="0"/>
              </a:rPr>
              <a:t> </a:t>
            </a:r>
            <a:r>
              <a:rPr lang="en-IN" sz="2800" dirty="0">
                <a:latin typeface="Book Antiqua" panose="02040602050305030304" pitchFamily="18" charset="0"/>
                <a:hlinkClick r:id="rId3"/>
              </a:rPr>
              <a:t>https://www.kla.com</a:t>
            </a:r>
            <a:endParaRPr lang="en-IN" sz="2800" dirty="0">
              <a:latin typeface="Book Antiqua" panose="02040602050305030304" pitchFamily="18" charset="0"/>
            </a:endParaRPr>
          </a:p>
          <a:p>
            <a:pPr algn="l"/>
            <a:r>
              <a:rPr lang="en-IN" sz="2800" b="1" dirty="0">
                <a:latin typeface="Book Antiqua" panose="02040602050305030304" pitchFamily="18" charset="0"/>
              </a:rPr>
              <a:t>About:</a:t>
            </a:r>
            <a:br>
              <a:rPr lang="en-IN" sz="2800" dirty="0">
                <a:latin typeface="Book Antiqua" panose="02040602050305030304" pitchFamily="18" charset="0"/>
              </a:rPr>
            </a:br>
            <a:r>
              <a:rPr lang="en-IN" sz="2800" dirty="0">
                <a:latin typeface="Book Antiqua" panose="02040602050305030304" pitchFamily="18" charset="0"/>
              </a:rPr>
              <a:t>KLA-Tencor is a global leader in process control and yield management systems for the semiconductor industry. The company provides innovative inspection, metrology, and data analysis solutions that improve semiconductor manufacturing efficiency and quality.</a:t>
            </a:r>
          </a:p>
          <a:p>
            <a:pPr algn="l"/>
            <a:r>
              <a:rPr lang="en-IN" sz="2800" b="1" dirty="0">
                <a:latin typeface="Book Antiqua" panose="02040602050305030304" pitchFamily="18" charset="0"/>
              </a:rPr>
              <a:t>Location of Internship:</a:t>
            </a:r>
            <a:br>
              <a:rPr lang="en-IN" sz="2800" dirty="0">
                <a:latin typeface="Book Antiqua" panose="02040602050305030304" pitchFamily="18" charset="0"/>
              </a:rPr>
            </a:br>
            <a:r>
              <a:rPr lang="en-IN" sz="2800" dirty="0">
                <a:latin typeface="Book Antiqua" panose="02040602050305030304" pitchFamily="18" charset="0"/>
              </a:rPr>
              <a:t>Chennai, Tamil Nadu – Software Prince Infocity Campus</a:t>
            </a:r>
          </a:p>
          <a:p>
            <a:pPr lvl="0" algn="just"/>
            <a:endParaRPr lang="en-IN" sz="2800" dirty="0">
              <a:solidFill>
                <a:srgbClr val="000000"/>
              </a:solidFill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66DB54-2AC6-3C63-A19D-7CA4EA3651A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1447800"/>
          </a:xfrm>
          <a:prstGeom prst="rect">
            <a:avLst/>
          </a:prstGeom>
          <a:solidFill>
            <a:srgbClr val="3333CC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just"/>
            <a:r>
              <a:rPr lang="en-IN" sz="3600" b="1" dirty="0">
                <a:solidFill>
                  <a:schemeClr val="bg1"/>
                </a:solidFill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en-IN" sz="3600" b="1" dirty="0">
                <a:solidFill>
                  <a:schemeClr val="bg1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About the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BF14FE-52F7-E62A-A46A-470C786E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A40-7FD5-436B-B3DD-01066071B37C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5</a:t>
            </a:fld>
            <a:endParaRPr lang="en-IN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7B78788-B8C1-186C-DF45-DB4DF9780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668108" cy="365125"/>
          </a:xfrm>
        </p:spPr>
        <p:txBody>
          <a:bodyPr/>
          <a:lstStyle/>
          <a:p>
            <a:r>
              <a:rPr lang="en-IN" sz="12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APOORVA KARNWAL      22BCE0756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353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68C82-6E78-011C-E08A-89BD92C05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DC68C56-D281-E674-015C-EE4A31677F0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1447800"/>
          </a:xfrm>
          <a:prstGeom prst="rect">
            <a:avLst/>
          </a:prstGeom>
          <a:solidFill>
            <a:srgbClr val="3333CC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600" b="1" dirty="0">
                <a:solidFill>
                  <a:schemeClr val="bg1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5.</a:t>
            </a: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3600" b="1" dirty="0">
                <a:solidFill>
                  <a:schemeClr val="bg1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Certificate</a:t>
            </a:r>
            <a:endParaRPr lang="en-IN" sz="3600" b="1" dirty="0">
              <a:solidFill>
                <a:schemeClr val="bg1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096CE-EE7D-995D-0D8E-01B29EB8B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A40-7FD5-436B-B3DD-01066071B37C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6</a:t>
            </a:fld>
            <a:endParaRPr lang="en-IN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8017001-5E82-CB72-C8EF-9997D63AC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668108" cy="365125"/>
          </a:xfrm>
        </p:spPr>
        <p:txBody>
          <a:bodyPr/>
          <a:lstStyle/>
          <a:p>
            <a:r>
              <a:rPr lang="en-IN" sz="12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APOORVA KARNWAL      22BCE0756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BD5E08-538F-AF23-8F09-4099D4AF96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891" r="5436" b="29231"/>
          <a:stretch/>
        </p:blipFill>
        <p:spPr>
          <a:xfrm>
            <a:off x="3082456" y="1468687"/>
            <a:ext cx="6027087" cy="502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236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44325-A845-8515-201D-6AB9F0448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8268EB2-A8CB-EF32-E079-4F2FD7757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06731"/>
            <a:ext cx="12022111" cy="5003931"/>
          </a:xfrm>
        </p:spPr>
        <p:txBody>
          <a:bodyPr>
            <a:normAutofit lnSpcReduction="10000"/>
          </a:bodyPr>
          <a:lstStyle/>
          <a:p>
            <a:pPr marL="342900" indent="-342900" algn="l">
              <a:buFont typeface="Wingdings" pitchFamily="2" charset="2"/>
              <a:buChar char="Ø"/>
            </a:pPr>
            <a:r>
              <a:rPr lang="en-IN" dirty="0">
                <a:latin typeface="Book Antiqua" panose="02040602050305030304" pitchFamily="18" charset="0"/>
              </a:rPr>
              <a:t>Technical Skills: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Python (</a:t>
            </a:r>
            <a:r>
              <a:rPr lang="en-IN" dirty="0" err="1">
                <a:latin typeface="Book Antiqua" panose="02040602050305030304" pitchFamily="18" charset="0"/>
              </a:rPr>
              <a:t>xmltodict</a:t>
            </a:r>
            <a:r>
              <a:rPr lang="en-IN" dirty="0">
                <a:latin typeface="Book Antiqua" panose="02040602050305030304" pitchFamily="18" charset="0"/>
              </a:rPr>
              <a:t>, regex, requests, </a:t>
            </a:r>
            <a:r>
              <a:rPr lang="en-IN" dirty="0" err="1">
                <a:latin typeface="Book Antiqua" panose="02040602050305030304" pitchFamily="18" charset="0"/>
              </a:rPr>
              <a:t>zipfile</a:t>
            </a:r>
            <a:r>
              <a:rPr lang="en-IN" dirty="0">
                <a:latin typeface="Book Antiqua" panose="02040602050305030304" pitchFamily="18" charset="0"/>
              </a:rPr>
              <a:t>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Django (models, views, templates)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HTML, CSS, JavaScript, Bootstrap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XML Parsing and Data Structuring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IN" dirty="0">
                <a:latin typeface="Book Antiqua" panose="02040602050305030304" pitchFamily="18" charset="0"/>
              </a:rPr>
              <a:t>Software Engineering Skills: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Git and Version Control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API Integration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UI/UX Design (Figma)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Backend–Frontend Data Flow</a:t>
            </a:r>
          </a:p>
          <a:p>
            <a:pPr marL="342900" indent="-342900" algn="l">
              <a:buFont typeface="Wingdings" pitchFamily="2" charset="2"/>
              <a:buChar char="Ø"/>
            </a:pPr>
            <a:r>
              <a:rPr lang="en-IN" dirty="0">
                <a:latin typeface="Book Antiqua" panose="02040602050305030304" pitchFamily="18" charset="0"/>
              </a:rPr>
              <a:t>Professional Skills: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Requirement Analysis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Documentation and Team Collaboration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Debugging and Testing </a:t>
            </a:r>
          </a:p>
          <a:p>
            <a:pPr marL="457200" lvl="0" indent="-457200" algn="l">
              <a:buFont typeface="Wingdings" pitchFamily="2" charset="2"/>
              <a:buChar char="Ø"/>
            </a:pPr>
            <a:endParaRPr lang="en-IN" sz="2800" dirty="0">
              <a:solidFill>
                <a:srgbClr val="000000"/>
              </a:solidFill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AFA636-ED07-F590-2CC3-F080003509F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1447800"/>
          </a:xfrm>
          <a:prstGeom prst="rect">
            <a:avLst/>
          </a:prstGeom>
          <a:solidFill>
            <a:srgbClr val="3333CC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900" b="1" dirty="0">
                <a:solidFill>
                  <a:schemeClr val="bg1"/>
                </a:solidFill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</a:t>
            </a:r>
            <a:r>
              <a:rPr lang="en-IN" sz="3900" b="1" dirty="0">
                <a:solidFill>
                  <a:schemeClr val="bg1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kumimoji="0" lang="en-IN" sz="3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3900" b="1" dirty="0">
                <a:solidFill>
                  <a:schemeClr val="bg1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Skills acquired during industrial internship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A2DB7-FB66-3979-F0D5-EFE2D8BB6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A40-7FD5-436B-B3DD-01066071B37C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7</a:t>
            </a:fld>
            <a:endParaRPr lang="en-IN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73D844EC-0A26-5780-F0F5-27B819C2C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668108" cy="365125"/>
          </a:xfrm>
        </p:spPr>
        <p:txBody>
          <a:bodyPr/>
          <a:lstStyle/>
          <a:p>
            <a:r>
              <a:rPr lang="en-IN" sz="12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APOORVA KARNWAL      22BCE0756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7524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45279-ADF1-4F0D-A932-E57345769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924AA1-CFDA-EE69-60B5-AD38B32BD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06731"/>
            <a:ext cx="12056011" cy="4749619"/>
          </a:xfrm>
        </p:spPr>
        <p:txBody>
          <a:bodyPr>
            <a:noAutofit/>
          </a:bodyPr>
          <a:lstStyle/>
          <a:p>
            <a:pPr marL="285750" indent="-285750" algn="l">
              <a:buFont typeface="Wingdings" pitchFamily="2" charset="2"/>
              <a:buChar char="Ø"/>
            </a:pPr>
            <a:r>
              <a:rPr lang="en-IN" b="1" dirty="0">
                <a:latin typeface="Book Antiqua" panose="02040602050305030304" pitchFamily="18" charset="0"/>
              </a:rPr>
              <a:t>Technologies &amp; Frameworks:</a:t>
            </a:r>
            <a:endParaRPr lang="en-IN" dirty="0">
              <a:latin typeface="Book Antiqua" panose="0204060205030503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dirty="0">
                <a:latin typeface="Book Antiqua" panose="02040602050305030304" pitchFamily="18" charset="0"/>
              </a:rPr>
              <a:t>Django Framework:</a:t>
            </a:r>
            <a:r>
              <a:rPr lang="en-IN" dirty="0">
                <a:latin typeface="Book Antiqua" panose="02040602050305030304" pitchFamily="18" charset="0"/>
              </a:rPr>
              <a:t> For backend and UI rendering.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dirty="0" err="1">
                <a:latin typeface="Book Antiqua" panose="02040602050305030304" pitchFamily="18" charset="0"/>
              </a:rPr>
              <a:t>xmltodict</a:t>
            </a:r>
            <a:r>
              <a:rPr lang="en-IN" b="1" dirty="0">
                <a:latin typeface="Book Antiqua" panose="02040602050305030304" pitchFamily="18" charset="0"/>
              </a:rPr>
              <a:t> Library:</a:t>
            </a:r>
            <a:r>
              <a:rPr lang="en-IN" dirty="0">
                <a:latin typeface="Book Antiqua" panose="02040602050305030304" pitchFamily="18" charset="0"/>
              </a:rPr>
              <a:t> Parsing and writing XML efficiently.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dirty="0">
                <a:latin typeface="Book Antiqua" panose="02040602050305030304" pitchFamily="18" charset="0"/>
              </a:rPr>
              <a:t>JavaScript + JSON:</a:t>
            </a:r>
            <a:r>
              <a:rPr lang="en-IN" dirty="0">
                <a:latin typeface="Book Antiqua" panose="02040602050305030304" pitchFamily="18" charset="0"/>
              </a:rPr>
              <a:t> Dynamic UI updates.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1" dirty="0">
                <a:latin typeface="Book Antiqua" panose="02040602050305030304" pitchFamily="18" charset="0"/>
              </a:rPr>
              <a:t>Bootstrap:</a:t>
            </a:r>
            <a:r>
              <a:rPr lang="en-IN" dirty="0">
                <a:latin typeface="Book Antiqua" panose="02040602050305030304" pitchFamily="18" charset="0"/>
              </a:rPr>
              <a:t> Responsive front-end design.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IN" b="1" dirty="0">
                <a:latin typeface="Book Antiqua" panose="02040602050305030304" pitchFamily="18" charset="0"/>
              </a:rPr>
              <a:t>Real-time Problems Solved:</a:t>
            </a:r>
            <a:endParaRPr lang="en-IN" dirty="0">
              <a:latin typeface="Book Antiqua" panose="0204060205030503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Parsing and modifying 50–60 large XML files (each 50K+ lines).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Maintaining correct </a:t>
            </a:r>
            <a:r>
              <a:rPr lang="en-IN" sz="1800" b="1" dirty="0">
                <a:latin typeface="Book Antiqua" panose="02040602050305030304" pitchFamily="18" charset="0"/>
              </a:rPr>
              <a:t>XPath mapping</a:t>
            </a:r>
            <a:r>
              <a:rPr lang="en-IN" sz="1800" dirty="0">
                <a:latin typeface="Book Antiqua" panose="02040602050305030304" pitchFamily="18" charset="0"/>
              </a:rPr>
              <a:t> and </a:t>
            </a:r>
            <a:r>
              <a:rPr lang="en-IN" sz="1800" b="1" dirty="0">
                <a:latin typeface="Book Antiqua" panose="02040602050305030304" pitchFamily="18" charset="0"/>
              </a:rPr>
              <a:t>data types</a:t>
            </a:r>
            <a:r>
              <a:rPr lang="en-IN" sz="1800" dirty="0">
                <a:latin typeface="Book Antiqua" panose="02040602050305030304" pitchFamily="18" charset="0"/>
              </a:rPr>
              <a:t>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Ensuring correct </a:t>
            </a:r>
            <a:r>
              <a:rPr lang="en-IN" sz="1800" b="1" dirty="0">
                <a:latin typeface="Book Antiqua" panose="02040602050305030304" pitchFamily="18" charset="0"/>
              </a:rPr>
              <a:t>backend integration</a:t>
            </a:r>
            <a:r>
              <a:rPr lang="en-IN" sz="1800" dirty="0">
                <a:latin typeface="Book Antiqua" panose="02040602050305030304" pitchFamily="18" charset="0"/>
              </a:rPr>
              <a:t> with dynamic front-end.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Packaging updated configurations as a single </a:t>
            </a:r>
            <a:r>
              <a:rPr lang="en-IN" sz="1800" b="1" dirty="0">
                <a:latin typeface="Book Antiqua" panose="02040602050305030304" pitchFamily="18" charset="0"/>
              </a:rPr>
              <a:t>zipped output</a:t>
            </a:r>
            <a:r>
              <a:rPr lang="en-IN" sz="1800" dirty="0">
                <a:latin typeface="Book Antiqua" panose="02040602050305030304" pitchFamily="18" charset="0"/>
              </a:rPr>
              <a:t> for download.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IN" b="1" dirty="0">
                <a:latin typeface="Book Antiqua" panose="02040602050305030304" pitchFamily="18" charset="0"/>
              </a:rPr>
              <a:t>Analysis-based Learning: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Understood structure–value file dependency in XML systems.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Designed efficient </a:t>
            </a:r>
            <a:r>
              <a:rPr lang="en-IN" sz="1800" b="1" dirty="0">
                <a:latin typeface="Book Antiqua" panose="02040602050305030304" pitchFamily="18" charset="0"/>
              </a:rPr>
              <a:t>loop-based search algorithms</a:t>
            </a:r>
            <a:r>
              <a:rPr lang="en-IN" sz="1800" dirty="0">
                <a:latin typeface="Book Antiqua" panose="02040602050305030304" pitchFamily="18" charset="0"/>
              </a:rPr>
              <a:t> for nested keys.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Applied data validation and preservation of XML formatting.</a:t>
            </a:r>
          </a:p>
          <a:p>
            <a:pPr lvl="0" algn="l"/>
            <a:endParaRPr lang="en-IN" sz="1800" dirty="0">
              <a:solidFill>
                <a:srgbClr val="000000"/>
              </a:solidFill>
              <a:effectLst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7F5F14-DA98-0BC9-151C-2AA275156223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1447800"/>
          </a:xfrm>
          <a:prstGeom prst="rect">
            <a:avLst/>
          </a:prstGeom>
          <a:solidFill>
            <a:srgbClr val="3333CC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N" sz="3600" dirty="0">
                <a:solidFill>
                  <a:schemeClr val="bg1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7. </a:t>
            </a:r>
            <a:r>
              <a:rPr lang="en-IN" sz="3600" dirty="0">
                <a:solidFill>
                  <a:schemeClr val="bg1"/>
                </a:solidFill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r>
              <a:rPr kumimoji="0" lang="en-IN" sz="36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echnologies</a:t>
            </a:r>
            <a:r>
              <a:rPr kumimoji="0" lang="en-IN" sz="3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3600" dirty="0">
                <a:solidFill>
                  <a:schemeClr val="bg1"/>
                </a:solidFill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&amp; </a:t>
            </a:r>
            <a:r>
              <a:rPr kumimoji="0" lang="en-IN" sz="36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Frameworks, real-time problems /Analysis based knowledge acquired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EC6A08-1DD8-7152-DEE9-94AFFFC1B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A40-7FD5-436B-B3DD-01066071B37C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8</a:t>
            </a:fld>
            <a:endParaRPr lang="en-IN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D5CF67AD-0BC2-D068-9FDF-3B90053C3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668108" cy="365125"/>
          </a:xfrm>
        </p:spPr>
        <p:txBody>
          <a:bodyPr/>
          <a:lstStyle/>
          <a:p>
            <a:r>
              <a:rPr lang="en-IN" sz="12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APOORVA KARNWAL      22BCE0756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7944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CB736-07EE-C823-549C-96FD250C5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46E65CF-0EC3-6FD3-A8A6-6DFEA0E3A5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606731"/>
            <a:ext cx="12056011" cy="4749619"/>
          </a:xfrm>
        </p:spPr>
        <p:txBody>
          <a:bodyPr>
            <a:noAutofit/>
          </a:bodyPr>
          <a:lstStyle/>
          <a:p>
            <a:pPr marL="457200" indent="-457200" algn="l">
              <a:buFont typeface="Wingdings" pitchFamily="2" charset="2"/>
              <a:buChar char="Ø"/>
            </a:pPr>
            <a:r>
              <a:rPr lang="en-IN" sz="2800" dirty="0">
                <a:latin typeface="Book Antiqua" panose="02040602050305030304" pitchFamily="18" charset="0"/>
              </a:rPr>
              <a:t>Developed an </a:t>
            </a:r>
            <a:r>
              <a:rPr lang="en-IN" sz="2800" b="1" dirty="0">
                <a:latin typeface="Book Antiqua" panose="02040602050305030304" pitchFamily="18" charset="0"/>
              </a:rPr>
              <a:t>end-to-end automation tool</a:t>
            </a:r>
            <a:r>
              <a:rPr lang="en-IN" sz="2800" dirty="0">
                <a:latin typeface="Book Antiqua" panose="02040602050305030304" pitchFamily="18" charset="0"/>
              </a:rPr>
              <a:t> using Django and XML parsing.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IN" sz="2800" dirty="0">
                <a:latin typeface="Book Antiqua" panose="02040602050305030304" pitchFamily="18" charset="0"/>
              </a:rPr>
              <a:t>Improved process efficiency and accuracy in tool-type configuration.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IN" sz="2800" dirty="0">
                <a:latin typeface="Book Antiqua" panose="02040602050305030304" pitchFamily="18" charset="0"/>
              </a:rPr>
              <a:t>Gained exposure to </a:t>
            </a:r>
            <a:r>
              <a:rPr lang="en-IN" sz="2800" b="1" dirty="0">
                <a:latin typeface="Book Antiqua" panose="02040602050305030304" pitchFamily="18" charset="0"/>
              </a:rPr>
              <a:t>semiconductor software systems</a:t>
            </a:r>
            <a:r>
              <a:rPr lang="en-IN" sz="2800" dirty="0">
                <a:latin typeface="Book Antiqua" panose="02040602050305030304" pitchFamily="18" charset="0"/>
              </a:rPr>
              <a:t> and real-time industrial workflow.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IN" sz="2800" dirty="0">
                <a:latin typeface="Book Antiqua" panose="02040602050305030304" pitchFamily="18" charset="0"/>
              </a:rPr>
              <a:t>Strengthened skills in </a:t>
            </a:r>
            <a:r>
              <a:rPr lang="en-IN" sz="2800" b="1" dirty="0">
                <a:latin typeface="Book Antiqua" panose="02040602050305030304" pitchFamily="18" charset="0"/>
              </a:rPr>
              <a:t>Python, XML handling, and web technologies</a:t>
            </a:r>
            <a:r>
              <a:rPr lang="en-IN" sz="2800" dirty="0">
                <a:latin typeface="Book Antiqua" panose="02040602050305030304" pitchFamily="18" charset="0"/>
              </a:rPr>
              <a:t>.</a:t>
            </a:r>
          </a:p>
          <a:p>
            <a:pPr marL="457200" indent="-457200" algn="l">
              <a:buFont typeface="Wingdings" pitchFamily="2" charset="2"/>
              <a:buChar char="Ø"/>
            </a:pPr>
            <a:r>
              <a:rPr lang="en-IN" sz="2800" dirty="0">
                <a:latin typeface="Book Antiqua" panose="02040602050305030304" pitchFamily="18" charset="0"/>
              </a:rPr>
              <a:t>Delivered final documentation and demo presentation to department.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D296C4-49AF-1D94-CE95-C349BB687AC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0"/>
            <a:ext cx="12192000" cy="1447800"/>
          </a:xfrm>
          <a:prstGeom prst="rect">
            <a:avLst/>
          </a:prstGeom>
          <a:solidFill>
            <a:srgbClr val="3333CC"/>
          </a:solidFill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0" lvl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IN" sz="3600" dirty="0">
                <a:solidFill>
                  <a:schemeClr val="bg1"/>
                </a:solidFill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</a:t>
            </a:r>
            <a:r>
              <a:rPr lang="en-IN" sz="3600" dirty="0">
                <a:solidFill>
                  <a:schemeClr val="bg1"/>
                </a:solidFill>
                <a:effectLst/>
                <a:latin typeface="Book Antiqua" panose="0204060205030503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Summary</a:t>
            </a:r>
            <a:endParaRPr kumimoji="0" lang="en-IN" sz="36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Book Antiqua" panose="0204060205030503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0D284-5305-4FB2-960A-13C10332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107A40-7FD5-436B-B3DD-01066071B37C}" type="slidenum">
              <a:rPr lang="en-IN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9</a:t>
            </a:fld>
            <a:endParaRPr lang="en-IN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80F8EFFC-387E-867A-EA29-B49DA24C3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5668108" cy="365125"/>
          </a:xfrm>
        </p:spPr>
        <p:txBody>
          <a:bodyPr/>
          <a:lstStyle/>
          <a:p>
            <a:r>
              <a:rPr lang="en-IN" sz="1200" b="1" dirty="0">
                <a:latin typeface="Book Antiqua" panose="02040602050305030304" pitchFamily="18" charset="0"/>
                <a:cs typeface="Times New Roman" panose="02020603050405020304" pitchFamily="18" charset="0"/>
              </a:rPr>
              <a:t>APOORVA KARNWAL      22BCE0756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768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25579</TotalTime>
  <Words>753</Words>
  <Application>Microsoft Macintosh PowerPoint</Application>
  <PresentationFormat>Widescreen</PresentationFormat>
  <Paragraphs>106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Book Antiqua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  K  Saravanaguru</dc:creator>
  <cp:lastModifiedBy>Apoorva Karnwal</cp:lastModifiedBy>
  <cp:revision>13</cp:revision>
  <dcterms:created xsi:type="dcterms:W3CDTF">2024-04-30T11:07:50Z</dcterms:created>
  <dcterms:modified xsi:type="dcterms:W3CDTF">2025-10-31T04:50:53Z</dcterms:modified>
</cp:coreProperties>
</file>