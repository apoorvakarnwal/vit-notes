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11"/>
  </p:notesMasterIdLst>
  <p:sldIdLst>
    <p:sldId id="256" r:id="rId2"/>
    <p:sldId id="257" r:id="rId3"/>
    <p:sldId id="258" r:id="rId4"/>
    <p:sldId id="290" r:id="rId5"/>
    <p:sldId id="295" r:id="rId6"/>
    <p:sldId id="261" r:id="rId7"/>
    <p:sldId id="273" r:id="rId8"/>
    <p:sldId id="289" r:id="rId9"/>
    <p:sldId id="291" r:id="rId10"/>
  </p:sldIdLst>
  <p:sldSz cx="9144000" cy="5143500" type="screen16x9"/>
  <p:notesSz cx="6858000" cy="9144000"/>
  <p:embeddedFontLst>
    <p:embeddedFont>
      <p:font typeface="DM Sans" pitchFamily="2" charset="77"/>
      <p:regular r:id="rId12"/>
      <p:bold r:id="rId13"/>
      <p:italic r:id="rId14"/>
      <p:boldItalic r:id="rId15"/>
    </p:embeddedFont>
    <p:embeddedFont>
      <p:font typeface="Nunito Light" panose="020F0302020204030204" pitchFamily="34" charset="0"/>
      <p:regular r:id="rId16"/>
      <p:italic r:id="rId17"/>
    </p:embeddedFont>
    <p:embeddedFont>
      <p:font typeface="Outfit" pitchFamily="2" charset="0"/>
      <p:regular r:id="rId18"/>
      <p:bold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45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126A054-CD98-45DD-9F41-E19F69198A29}">
  <a:tblStyle styleId="{A126A054-CD98-45DD-9F41-E19F69198A2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–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8603FDC-E32A-4AB5-989C-0864C3EAD2B8}" styleName="Themed Style 2 –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–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49"/>
    <p:restoredTop sz="94694"/>
  </p:normalViewPr>
  <p:slideViewPr>
    <p:cSldViewPr snapToGrid="0">
      <p:cViewPr>
        <p:scale>
          <a:sx n="123" d="100"/>
          <a:sy n="123" d="100"/>
        </p:scale>
        <p:origin x="224" y="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>
          <a:extLst>
            <a:ext uri="{FF2B5EF4-FFF2-40B4-BE49-F238E27FC236}">
              <a16:creationId xmlns:a16="http://schemas.microsoft.com/office/drawing/2014/main" id="{2FA7CDA4-01BB-5D7F-F643-3D11181DB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d431007ba2_0_215:notes">
            <a:extLst>
              <a:ext uri="{FF2B5EF4-FFF2-40B4-BE49-F238E27FC236}">
                <a16:creationId xmlns:a16="http://schemas.microsoft.com/office/drawing/2014/main" id="{9CA5552B-B256-8578-3042-58752F6708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d431007ba2_0_215:notes">
            <a:extLst>
              <a:ext uri="{FF2B5EF4-FFF2-40B4-BE49-F238E27FC236}">
                <a16:creationId xmlns:a16="http://schemas.microsoft.com/office/drawing/2014/main" id="{A15D19E0-614C-D7DC-4F9B-9EF0C87E67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94087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>
          <a:extLst>
            <a:ext uri="{FF2B5EF4-FFF2-40B4-BE49-F238E27FC236}">
              <a16:creationId xmlns:a16="http://schemas.microsoft.com/office/drawing/2014/main" id="{D69BD34D-CEBB-183F-A9F8-51A8ACF43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d431007ba2_0_215:notes">
            <a:extLst>
              <a:ext uri="{FF2B5EF4-FFF2-40B4-BE49-F238E27FC236}">
                <a16:creationId xmlns:a16="http://schemas.microsoft.com/office/drawing/2014/main" id="{93FB7F0D-394C-C910-C37A-F3C37D9B26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d431007ba2_0_215:notes">
            <a:extLst>
              <a:ext uri="{FF2B5EF4-FFF2-40B4-BE49-F238E27FC236}">
                <a16:creationId xmlns:a16="http://schemas.microsoft.com/office/drawing/2014/main" id="{CAB9875C-21D5-12AE-ED1B-F120103C6D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19323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d5260bdd85_0_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d5260bdd85_0_2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g1e71a4a866a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6" name="Google Shape;1046;g1e71a4a866a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4">
          <a:extLst>
            <a:ext uri="{FF2B5EF4-FFF2-40B4-BE49-F238E27FC236}">
              <a16:creationId xmlns:a16="http://schemas.microsoft.com/office/drawing/2014/main" id="{96224F91-F1C2-2A98-07D9-C6634CA90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g1e71a4a866a_0_55:notes">
            <a:extLst>
              <a:ext uri="{FF2B5EF4-FFF2-40B4-BE49-F238E27FC236}">
                <a16:creationId xmlns:a16="http://schemas.microsoft.com/office/drawing/2014/main" id="{1D744FEF-A1CD-83C3-D125-81814A740D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6" name="Google Shape;1046;g1e71a4a866a_0_55:notes">
            <a:extLst>
              <a:ext uri="{FF2B5EF4-FFF2-40B4-BE49-F238E27FC236}">
                <a16:creationId xmlns:a16="http://schemas.microsoft.com/office/drawing/2014/main" id="{AC5F2FE7-CAAD-3D85-AEB9-559E3CFA3D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0433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156000"/>
            <a:ext cx="4160700" cy="238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541600"/>
            <a:ext cx="4160700" cy="4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4"/>
          <p:cNvGrpSpPr/>
          <p:nvPr/>
        </p:nvGrpSpPr>
        <p:grpSpPr>
          <a:xfrm>
            <a:off x="-247298" y="-446215"/>
            <a:ext cx="9638600" cy="6030088"/>
            <a:chOff x="-247298" y="-446215"/>
            <a:chExt cx="9638600" cy="6030088"/>
          </a:xfrm>
        </p:grpSpPr>
        <p:sp>
          <p:nvSpPr>
            <p:cNvPr id="17" name="Google Shape;17;p4"/>
            <p:cNvSpPr/>
            <p:nvPr/>
          </p:nvSpPr>
          <p:spPr>
            <a:xfrm>
              <a:off x="-247298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4"/>
            <p:cNvSpPr/>
            <p:nvPr/>
          </p:nvSpPr>
          <p:spPr>
            <a:xfrm>
              <a:off x="29354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4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4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4"/>
            <p:cNvSpPr/>
            <p:nvPr/>
          </p:nvSpPr>
          <p:spPr>
            <a:xfrm rot="10800000" flipH="1">
              <a:off x="-247298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4"/>
            <p:cNvSpPr/>
            <p:nvPr/>
          </p:nvSpPr>
          <p:spPr>
            <a:xfrm rot="10800000" flipH="1">
              <a:off x="29354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4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4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6"/>
          <p:cNvGrpSpPr/>
          <p:nvPr/>
        </p:nvGrpSpPr>
        <p:grpSpPr>
          <a:xfrm>
            <a:off x="-247298" y="-284290"/>
            <a:ext cx="9638600" cy="5868163"/>
            <a:chOff x="-247298" y="-284290"/>
            <a:chExt cx="9638600" cy="5868163"/>
          </a:xfrm>
        </p:grpSpPr>
        <p:sp>
          <p:nvSpPr>
            <p:cNvPr id="44" name="Google Shape;44;p6"/>
            <p:cNvSpPr/>
            <p:nvPr/>
          </p:nvSpPr>
          <p:spPr>
            <a:xfrm>
              <a:off x="-247298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6"/>
            <p:cNvSpPr/>
            <p:nvPr/>
          </p:nvSpPr>
          <p:spPr>
            <a:xfrm>
              <a:off x="29354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6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6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6"/>
            <p:cNvSpPr/>
            <p:nvPr/>
          </p:nvSpPr>
          <p:spPr>
            <a:xfrm rot="10800000" flipH="1">
              <a:off x="-125473" y="123489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6"/>
            <p:cNvSpPr/>
            <p:nvPr/>
          </p:nvSpPr>
          <p:spPr>
            <a:xfrm rot="10800000" flipH="1">
              <a:off x="-125483" y="-28429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6"/>
            <p:cNvSpPr/>
            <p:nvPr/>
          </p:nvSpPr>
          <p:spPr>
            <a:xfrm rot="10800000" flipH="1">
              <a:off x="8424002" y="123489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6"/>
            <p:cNvSpPr/>
            <p:nvPr/>
          </p:nvSpPr>
          <p:spPr>
            <a:xfrm rot="10800000" flipH="1">
              <a:off x="8423992" y="-28429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oogle Shape;69;p13"/>
          <p:cNvGrpSpPr/>
          <p:nvPr/>
        </p:nvGrpSpPr>
        <p:grpSpPr>
          <a:xfrm>
            <a:off x="-417711" y="-428628"/>
            <a:ext cx="9979385" cy="6000759"/>
            <a:chOff x="-417711" y="-428628"/>
            <a:chExt cx="9979385" cy="6000759"/>
          </a:xfrm>
        </p:grpSpPr>
        <p:sp>
          <p:nvSpPr>
            <p:cNvPr id="70" name="Google Shape;70;p13"/>
            <p:cNvSpPr/>
            <p:nvPr/>
          </p:nvSpPr>
          <p:spPr>
            <a:xfrm>
              <a:off x="421002" y="-42862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7884277" y="-42862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8430764" y="554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8430764" y="74622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-125486" y="554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-125486" y="74622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-417711" y="46040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8722964" y="46040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" name="Google Shape;78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1"/>
          </p:nvPr>
        </p:nvSpPr>
        <p:spPr>
          <a:xfrm>
            <a:off x="720000" y="21784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2"/>
          </p:nvPr>
        </p:nvSpPr>
        <p:spPr>
          <a:xfrm>
            <a:off x="3419271" y="21784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3"/>
          </p:nvPr>
        </p:nvSpPr>
        <p:spPr>
          <a:xfrm>
            <a:off x="720000" y="39116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4"/>
          </p:nvPr>
        </p:nvSpPr>
        <p:spPr>
          <a:xfrm>
            <a:off x="3419271" y="39116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5"/>
          </p:nvPr>
        </p:nvSpPr>
        <p:spPr>
          <a:xfrm>
            <a:off x="6118549" y="2178493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ubTitle" idx="6"/>
          </p:nvPr>
        </p:nvSpPr>
        <p:spPr>
          <a:xfrm>
            <a:off x="6118549" y="391167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7" hasCustomPrompt="1"/>
          </p:nvPr>
        </p:nvSpPr>
        <p:spPr>
          <a:xfrm>
            <a:off x="1505400" y="1206926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8" hasCustomPrompt="1"/>
          </p:nvPr>
        </p:nvSpPr>
        <p:spPr>
          <a:xfrm>
            <a:off x="1505400" y="2939527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9" hasCustomPrompt="1"/>
          </p:nvPr>
        </p:nvSpPr>
        <p:spPr>
          <a:xfrm>
            <a:off x="4204671" y="1206926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>
            <a:spLocks noGrp="1"/>
          </p:cNvSpPr>
          <p:nvPr>
            <p:ph type="title" idx="13" hasCustomPrompt="1"/>
          </p:nvPr>
        </p:nvSpPr>
        <p:spPr>
          <a:xfrm>
            <a:off x="4204671" y="2939527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9" name="Google Shape;89;p13"/>
          <p:cNvSpPr txBox="1">
            <a:spLocks noGrp="1"/>
          </p:cNvSpPr>
          <p:nvPr>
            <p:ph type="title" idx="14" hasCustomPrompt="1"/>
          </p:nvPr>
        </p:nvSpPr>
        <p:spPr>
          <a:xfrm>
            <a:off x="6903950" y="1206926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15" hasCustomPrompt="1"/>
          </p:nvPr>
        </p:nvSpPr>
        <p:spPr>
          <a:xfrm>
            <a:off x="6903950" y="2939527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1" name="Google Shape;91;p13"/>
          <p:cNvSpPr txBox="1">
            <a:spLocks noGrp="1"/>
          </p:cNvSpPr>
          <p:nvPr>
            <p:ph type="subTitle" idx="16"/>
          </p:nvPr>
        </p:nvSpPr>
        <p:spPr>
          <a:xfrm>
            <a:off x="720000" y="18011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17"/>
          </p:nvPr>
        </p:nvSpPr>
        <p:spPr>
          <a:xfrm>
            <a:off x="3419271" y="18011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subTitle" idx="18"/>
          </p:nvPr>
        </p:nvSpPr>
        <p:spPr>
          <a:xfrm>
            <a:off x="6118549" y="180111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19"/>
          </p:nvPr>
        </p:nvSpPr>
        <p:spPr>
          <a:xfrm>
            <a:off x="720000" y="35337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20"/>
          </p:nvPr>
        </p:nvSpPr>
        <p:spPr>
          <a:xfrm>
            <a:off x="3419271" y="35337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21"/>
          </p:nvPr>
        </p:nvSpPr>
        <p:spPr>
          <a:xfrm>
            <a:off x="6118549" y="35337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3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p17"/>
          <p:cNvGrpSpPr/>
          <p:nvPr/>
        </p:nvGrpSpPr>
        <p:grpSpPr>
          <a:xfrm>
            <a:off x="-548808" y="-584898"/>
            <a:ext cx="10241610" cy="6168779"/>
            <a:chOff x="-548808" y="-584898"/>
            <a:chExt cx="10241610" cy="6168779"/>
          </a:xfrm>
        </p:grpSpPr>
        <p:sp>
          <p:nvSpPr>
            <p:cNvPr id="133" name="Google Shape;133;p17"/>
            <p:cNvSpPr/>
            <p:nvPr/>
          </p:nvSpPr>
          <p:spPr>
            <a:xfrm>
              <a:off x="293877" y="461576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7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7"/>
            <p:cNvSpPr/>
            <p:nvPr/>
          </p:nvSpPr>
          <p:spPr>
            <a:xfrm rot="10800000" flipH="1">
              <a:off x="-129123" y="44966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7"/>
            <p:cNvSpPr/>
            <p:nvPr/>
          </p:nvSpPr>
          <p:spPr>
            <a:xfrm rot="10800000" flipH="1">
              <a:off x="-548808" y="449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7"/>
            <p:cNvSpPr/>
            <p:nvPr/>
          </p:nvSpPr>
          <p:spPr>
            <a:xfrm>
              <a:off x="185192" y="-58489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7"/>
            <p:cNvSpPr/>
            <p:nvPr/>
          </p:nvSpPr>
          <p:spPr>
            <a:xfrm rot="10800000">
              <a:off x="8434407" y="44966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7"/>
            <p:cNvSpPr/>
            <p:nvPr/>
          </p:nvSpPr>
          <p:spPr>
            <a:xfrm rot="10800000">
              <a:off x="8854092" y="449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7"/>
            <p:cNvSpPr/>
            <p:nvPr/>
          </p:nvSpPr>
          <p:spPr>
            <a:xfrm flipH="1">
              <a:off x="8120092" y="-58489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1" name="Google Shape;141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25"/>
          <p:cNvGrpSpPr/>
          <p:nvPr/>
        </p:nvGrpSpPr>
        <p:grpSpPr>
          <a:xfrm>
            <a:off x="-655296" y="3436585"/>
            <a:ext cx="10454595" cy="2311221"/>
            <a:chOff x="-655296" y="3436585"/>
            <a:chExt cx="10454595" cy="2311221"/>
          </a:xfrm>
        </p:grpSpPr>
        <p:sp>
          <p:nvSpPr>
            <p:cNvPr id="232" name="Google Shape;232;p25"/>
            <p:cNvSpPr/>
            <p:nvPr/>
          </p:nvSpPr>
          <p:spPr>
            <a:xfrm rot="10800000" flipH="1">
              <a:off x="-136836" y="34365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5"/>
            <p:cNvSpPr/>
            <p:nvPr/>
          </p:nvSpPr>
          <p:spPr>
            <a:xfrm>
              <a:off x="183414" y="454091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5"/>
            <p:cNvSpPr/>
            <p:nvPr/>
          </p:nvSpPr>
          <p:spPr>
            <a:xfrm rot="10800000" flipH="1">
              <a:off x="-655296" y="390306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5"/>
            <p:cNvSpPr/>
            <p:nvPr/>
          </p:nvSpPr>
          <p:spPr>
            <a:xfrm rot="10800000">
              <a:off x="8442129" y="34365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5"/>
            <p:cNvSpPr/>
            <p:nvPr/>
          </p:nvSpPr>
          <p:spPr>
            <a:xfrm flipH="1">
              <a:off x="8121879" y="454091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5"/>
            <p:cNvSpPr/>
            <p:nvPr/>
          </p:nvSpPr>
          <p:spPr>
            <a:xfrm rot="10800000">
              <a:off x="8960589" y="390306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5"/>
            <p:cNvSpPr/>
            <p:nvPr/>
          </p:nvSpPr>
          <p:spPr>
            <a:xfrm rot="10800000">
              <a:off x="7718714" y="47796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5"/>
            <p:cNvSpPr/>
            <p:nvPr/>
          </p:nvSpPr>
          <p:spPr>
            <a:xfrm rot="10800000">
              <a:off x="586589" y="47796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0" name="Google Shape;240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25"/>
          <p:cNvSpPr txBox="1">
            <a:spLocks noGrp="1"/>
          </p:cNvSpPr>
          <p:nvPr>
            <p:ph type="subTitle" idx="1"/>
          </p:nvPr>
        </p:nvSpPr>
        <p:spPr>
          <a:xfrm>
            <a:off x="4646250" y="1667625"/>
            <a:ext cx="3398400" cy="18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25"/>
          <p:cNvSpPr txBox="1">
            <a:spLocks noGrp="1"/>
          </p:cNvSpPr>
          <p:nvPr>
            <p:ph type="subTitle" idx="2"/>
          </p:nvPr>
        </p:nvSpPr>
        <p:spPr>
          <a:xfrm>
            <a:off x="1099338" y="1667625"/>
            <a:ext cx="3398400" cy="18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4" name="Google Shape;314;p31"/>
          <p:cNvGrpSpPr/>
          <p:nvPr/>
        </p:nvGrpSpPr>
        <p:grpSpPr>
          <a:xfrm>
            <a:off x="-247298" y="-446215"/>
            <a:ext cx="9638610" cy="6030088"/>
            <a:chOff x="-247298" y="-446215"/>
            <a:chExt cx="9638610" cy="6030088"/>
          </a:xfrm>
        </p:grpSpPr>
        <p:sp>
          <p:nvSpPr>
            <p:cNvPr id="315" name="Google Shape;315;p31"/>
            <p:cNvSpPr/>
            <p:nvPr/>
          </p:nvSpPr>
          <p:spPr>
            <a:xfrm>
              <a:off x="-125573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1"/>
            <p:cNvSpPr/>
            <p:nvPr/>
          </p:nvSpPr>
          <p:spPr>
            <a:xfrm>
              <a:off x="-125583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1"/>
            <p:cNvSpPr/>
            <p:nvPr/>
          </p:nvSpPr>
          <p:spPr>
            <a:xfrm rot="10800000" flipH="1">
              <a:off x="-247298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31"/>
            <p:cNvSpPr/>
            <p:nvPr/>
          </p:nvSpPr>
          <p:spPr>
            <a:xfrm rot="10800000" flipH="1">
              <a:off x="346967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1"/>
            <p:cNvSpPr/>
            <p:nvPr/>
          </p:nvSpPr>
          <p:spPr>
            <a:xfrm rot="10800000">
              <a:off x="7958317" y="-4286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1"/>
            <p:cNvSpPr/>
            <p:nvPr/>
          </p:nvSpPr>
          <p:spPr>
            <a:xfrm rot="10800000">
              <a:off x="8552602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1"/>
            <p:cNvSpPr/>
            <p:nvPr/>
          </p:nvSpPr>
          <p:spPr>
            <a:xfrm>
              <a:off x="8430777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1"/>
            <p:cNvSpPr/>
            <p:nvPr/>
          </p:nvSpPr>
          <p:spPr>
            <a:xfrm>
              <a:off x="8430767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" name="Google Shape;324;p32"/>
          <p:cNvGrpSpPr/>
          <p:nvPr/>
        </p:nvGrpSpPr>
        <p:grpSpPr>
          <a:xfrm>
            <a:off x="-476796" y="2900252"/>
            <a:ext cx="10097585" cy="2865204"/>
            <a:chOff x="-476796" y="2900252"/>
            <a:chExt cx="10097585" cy="2865204"/>
          </a:xfrm>
        </p:grpSpPr>
        <p:grpSp>
          <p:nvGrpSpPr>
            <p:cNvPr id="325" name="Google Shape;325;p32"/>
            <p:cNvGrpSpPr/>
            <p:nvPr/>
          </p:nvGrpSpPr>
          <p:grpSpPr>
            <a:xfrm>
              <a:off x="-476796" y="2900252"/>
              <a:ext cx="10097585" cy="2865204"/>
              <a:chOff x="-476796" y="2900252"/>
              <a:chExt cx="10097585" cy="2865204"/>
            </a:xfrm>
          </p:grpSpPr>
          <p:sp>
            <p:nvSpPr>
              <p:cNvPr id="326" name="Google Shape;326;p32"/>
              <p:cNvSpPr/>
              <p:nvPr/>
            </p:nvSpPr>
            <p:spPr>
              <a:xfrm rot="10800000" flipH="1">
                <a:off x="-266661" y="2900252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32"/>
              <p:cNvSpPr/>
              <p:nvPr/>
            </p:nvSpPr>
            <p:spPr>
              <a:xfrm>
                <a:off x="-90736" y="4425247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32"/>
              <p:cNvSpPr/>
              <p:nvPr/>
            </p:nvSpPr>
            <p:spPr>
              <a:xfrm>
                <a:off x="-476796" y="3522814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AFC7FF">
                  <a:alpha val="2500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32"/>
              <p:cNvSpPr/>
              <p:nvPr/>
            </p:nvSpPr>
            <p:spPr>
              <a:xfrm rot="10800000">
                <a:off x="8571944" y="2900252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32"/>
              <p:cNvSpPr/>
              <p:nvPr/>
            </p:nvSpPr>
            <p:spPr>
              <a:xfrm flipH="1">
                <a:off x="8396019" y="4425247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32"/>
              <p:cNvSpPr/>
              <p:nvPr/>
            </p:nvSpPr>
            <p:spPr>
              <a:xfrm flipH="1">
                <a:off x="8782079" y="3522814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9FCBFD">
                  <a:alpha val="4114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32"/>
              <p:cNvSpPr/>
              <p:nvPr/>
            </p:nvSpPr>
            <p:spPr>
              <a:xfrm rot="10800000">
                <a:off x="8009979" y="4797335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68DAF8">
                  <a:alpha val="3418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33" name="Google Shape;333;p32"/>
            <p:cNvSpPr/>
            <p:nvPr/>
          </p:nvSpPr>
          <p:spPr>
            <a:xfrm rot="10800000" flipH="1">
              <a:off x="293867" y="47973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8" r:id="rId4"/>
    <p:sldLayoutId id="2147483659" r:id="rId5"/>
    <p:sldLayoutId id="2147483663" r:id="rId6"/>
    <p:sldLayoutId id="2147483671" r:id="rId7"/>
    <p:sldLayoutId id="2147483677" r:id="rId8"/>
    <p:sldLayoutId id="2147483678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6"/>
          <p:cNvSpPr txBox="1">
            <a:spLocks noGrp="1"/>
          </p:cNvSpPr>
          <p:nvPr>
            <p:ph type="ctrTitle"/>
          </p:nvPr>
        </p:nvSpPr>
        <p:spPr>
          <a:xfrm>
            <a:off x="471550" y="616227"/>
            <a:ext cx="5671033" cy="145883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600" dirty="0">
                <a:solidFill>
                  <a:schemeClr val="tx1">
                    <a:lumMod val="50000"/>
                  </a:schemeClr>
                </a:solidFill>
              </a:rPr>
              <a:t>Semantic Video Timestamp Retrieval Using Whisper, Sentence-BERT, FAISS and Clustering</a:t>
            </a:r>
          </a:p>
        </p:txBody>
      </p:sp>
      <p:cxnSp>
        <p:nvCxnSpPr>
          <p:cNvPr id="346" name="Google Shape;346;p36"/>
          <p:cNvCxnSpPr>
            <a:cxnSpLocks/>
          </p:cNvCxnSpPr>
          <p:nvPr/>
        </p:nvCxnSpPr>
        <p:spPr>
          <a:xfrm>
            <a:off x="471550" y="542849"/>
            <a:ext cx="373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7" name="Google Shape;347;p36"/>
          <p:cNvGrpSpPr/>
          <p:nvPr/>
        </p:nvGrpSpPr>
        <p:grpSpPr>
          <a:xfrm>
            <a:off x="5303873" y="-438051"/>
            <a:ext cx="4275118" cy="6450405"/>
            <a:chOff x="5115337" y="-428624"/>
            <a:chExt cx="4275118" cy="6450405"/>
          </a:xfrm>
        </p:grpSpPr>
        <p:sp>
          <p:nvSpPr>
            <p:cNvPr id="348" name="Google Shape;348;p36"/>
            <p:cNvSpPr/>
            <p:nvPr/>
          </p:nvSpPr>
          <p:spPr>
            <a:xfrm rot="10800000" flipH="1">
              <a:off x="8492525" y="-19272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36"/>
            <p:cNvSpPr/>
            <p:nvPr/>
          </p:nvSpPr>
          <p:spPr>
            <a:xfrm>
              <a:off x="8551745" y="326783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6"/>
            <p:cNvSpPr/>
            <p:nvPr/>
          </p:nvSpPr>
          <p:spPr>
            <a:xfrm>
              <a:off x="6606686" y="25473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6"/>
            <p:cNvSpPr/>
            <p:nvPr/>
          </p:nvSpPr>
          <p:spPr>
            <a:xfrm>
              <a:off x="7103477" y="-1533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6"/>
            <p:cNvSpPr/>
            <p:nvPr/>
          </p:nvSpPr>
          <p:spPr>
            <a:xfrm>
              <a:off x="6684072" y="318466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6"/>
            <p:cNvSpPr/>
            <p:nvPr/>
          </p:nvSpPr>
          <p:spPr>
            <a:xfrm>
              <a:off x="6109895" y="119408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6"/>
            <p:cNvSpPr/>
            <p:nvPr/>
          </p:nvSpPr>
          <p:spPr>
            <a:xfrm>
              <a:off x="6109895" y="697741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6"/>
            <p:cNvSpPr/>
            <p:nvPr/>
          </p:nvSpPr>
          <p:spPr>
            <a:xfrm>
              <a:off x="7587339" y="11940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36"/>
            <p:cNvSpPr/>
            <p:nvPr/>
          </p:nvSpPr>
          <p:spPr>
            <a:xfrm>
              <a:off x="5634170" y="-42862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6"/>
            <p:cNvSpPr/>
            <p:nvPr/>
          </p:nvSpPr>
          <p:spPr>
            <a:xfrm>
              <a:off x="7017892" y="207505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6"/>
            <p:cNvSpPr/>
            <p:nvPr/>
          </p:nvSpPr>
          <p:spPr>
            <a:xfrm>
              <a:off x="5193798" y="1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6"/>
            <p:cNvSpPr/>
            <p:nvPr/>
          </p:nvSpPr>
          <p:spPr>
            <a:xfrm>
              <a:off x="8068891" y="16222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6"/>
            <p:cNvSpPr/>
            <p:nvPr/>
          </p:nvSpPr>
          <p:spPr>
            <a:xfrm rot="10800000" flipH="1">
              <a:off x="5115337" y="36559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6"/>
            <p:cNvSpPr/>
            <p:nvPr/>
          </p:nvSpPr>
          <p:spPr>
            <a:xfrm rot="10800000" flipH="1">
              <a:off x="6606680" y="392470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6"/>
            <p:cNvSpPr/>
            <p:nvPr/>
          </p:nvSpPr>
          <p:spPr>
            <a:xfrm rot="10800000" flipH="1">
              <a:off x="5983934" y="505366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6"/>
            <p:cNvSpPr/>
            <p:nvPr/>
          </p:nvSpPr>
          <p:spPr>
            <a:xfrm rot="10800000" flipH="1">
              <a:off x="7178797" y="353334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6"/>
            <p:cNvSpPr/>
            <p:nvPr/>
          </p:nvSpPr>
          <p:spPr>
            <a:xfrm rot="10800000" flipH="1">
              <a:off x="6606686" y="4609409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6"/>
            <p:cNvSpPr/>
            <p:nvPr/>
          </p:nvSpPr>
          <p:spPr>
            <a:xfrm rot="10800000" flipH="1">
              <a:off x="5526543" y="412830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6"/>
            <p:cNvSpPr/>
            <p:nvPr/>
          </p:nvSpPr>
          <p:spPr>
            <a:xfrm>
              <a:off x="8117298" y="285223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6"/>
            <p:cNvSpPr/>
            <p:nvPr/>
          </p:nvSpPr>
          <p:spPr>
            <a:xfrm>
              <a:off x="8172542" y="30360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D566974-9B02-CEEE-F244-AEF8C766A3B6}"/>
              </a:ext>
            </a:extLst>
          </p:cNvPr>
          <p:cNvSpPr txBox="1"/>
          <p:nvPr/>
        </p:nvSpPr>
        <p:spPr>
          <a:xfrm>
            <a:off x="471550" y="2160503"/>
            <a:ext cx="56546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DM Sans" pitchFamily="2" charset="77"/>
              </a:rPr>
              <a:t>Course: </a:t>
            </a:r>
            <a:r>
              <a:rPr lang="en-IN" sz="1600" dirty="0">
                <a:latin typeface="DM Sans" pitchFamily="2" charset="77"/>
              </a:rPr>
              <a:t>Natural Language Processing</a:t>
            </a:r>
          </a:p>
          <a:p>
            <a:r>
              <a:rPr lang="en-IN" sz="1600" b="1" dirty="0">
                <a:latin typeface="DM Sans" pitchFamily="2" charset="77"/>
              </a:rPr>
              <a:t>Students: </a:t>
            </a:r>
            <a:r>
              <a:rPr lang="en-IN" sz="1600" dirty="0">
                <a:latin typeface="DM Sans" pitchFamily="2" charset="77"/>
              </a:rPr>
              <a:t>Apoorva Karnwal (22BCE0756), </a:t>
            </a:r>
          </a:p>
          <a:p>
            <a:r>
              <a:rPr lang="en-IN" sz="1600" b="1" dirty="0">
                <a:latin typeface="DM Sans" pitchFamily="2" charset="77"/>
              </a:rPr>
              <a:t>Faculty:</a:t>
            </a:r>
            <a:r>
              <a:rPr lang="en-IN" sz="1600" dirty="0">
                <a:latin typeface="DM Sans" pitchFamily="2" charset="77"/>
              </a:rPr>
              <a:t> Prof. </a:t>
            </a:r>
            <a:r>
              <a:rPr lang="en-IN" sz="1600" dirty="0" err="1">
                <a:latin typeface="DM Sans" pitchFamily="2" charset="77"/>
              </a:rPr>
              <a:t>Arivoli</a:t>
            </a:r>
            <a:r>
              <a:rPr lang="en-IN" sz="1600" dirty="0">
                <a:latin typeface="DM Sans" pitchFamily="2" charset="77"/>
              </a:rPr>
              <a:t> A</a:t>
            </a:r>
          </a:p>
          <a:p>
            <a:r>
              <a:rPr lang="en-IN" sz="1600" b="1" dirty="0">
                <a:latin typeface="DM Sans" pitchFamily="2" charset="77"/>
              </a:rPr>
              <a:t>Programme:</a:t>
            </a:r>
            <a:r>
              <a:rPr lang="en-IN" sz="1600" dirty="0">
                <a:latin typeface="DM Sans" pitchFamily="2" charset="77"/>
              </a:rPr>
              <a:t> B.Tech. in Computer Science &amp; Engineering </a:t>
            </a:r>
          </a:p>
          <a:p>
            <a:r>
              <a:rPr lang="en-IN" sz="1600" b="1" dirty="0">
                <a:latin typeface="DM Sans" pitchFamily="2" charset="77"/>
              </a:rPr>
              <a:t>Date:</a:t>
            </a:r>
            <a:r>
              <a:rPr lang="en-IN" sz="1600" dirty="0">
                <a:latin typeface="DM Sans" pitchFamily="2" charset="77"/>
              </a:rPr>
              <a:t> November 2025</a:t>
            </a:r>
          </a:p>
        </p:txBody>
      </p:sp>
      <p:pic>
        <p:nvPicPr>
          <p:cNvPr id="4" name="Picture 3" descr="VIT&#10;">
            <a:extLst>
              <a:ext uri="{FF2B5EF4-FFF2-40B4-BE49-F238E27FC236}">
                <a16:creationId xmlns:a16="http://schemas.microsoft.com/office/drawing/2014/main" id="{A4ABAA7A-ABFF-D477-4FEF-7EE831481E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454" b="12134"/>
          <a:stretch/>
        </p:blipFill>
        <p:spPr>
          <a:xfrm>
            <a:off x="1560468" y="3875200"/>
            <a:ext cx="2506981" cy="10352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Motivation &amp; Problem Statement</a:t>
            </a:r>
            <a:endParaRPr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73" name="Google Shape;373;p37"/>
          <p:cNvSpPr txBox="1">
            <a:spLocks noGrp="1"/>
          </p:cNvSpPr>
          <p:nvPr>
            <p:ph type="body" idx="1"/>
          </p:nvPr>
        </p:nvSpPr>
        <p:spPr>
          <a:xfrm>
            <a:off x="777665" y="1170519"/>
            <a:ext cx="7704000" cy="32944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Font typeface="Wingdings" pitchFamily="2" charset="2"/>
              <a:buChar char="Ø"/>
            </a:pPr>
            <a:r>
              <a:rPr lang="en-IN" sz="2000" b="1" dirty="0"/>
              <a:t>Why this problem?</a:t>
            </a:r>
            <a:endParaRPr lang="en-IN" sz="2000" dirty="0"/>
          </a:p>
          <a:p>
            <a:pPr lvl="1">
              <a:buFont typeface="Wingdings" pitchFamily="2" charset="2"/>
              <a:buChar char="Ø"/>
            </a:pPr>
            <a:r>
              <a:rPr lang="en-IN" sz="2000" dirty="0"/>
              <a:t>Long videos (lectures, podcasts) make topic search tedious.</a:t>
            </a:r>
          </a:p>
          <a:p>
            <a:pPr lvl="1">
              <a:buFont typeface="Wingdings" pitchFamily="2" charset="2"/>
              <a:buChar char="Ø"/>
            </a:pPr>
            <a:r>
              <a:rPr lang="en-IN" sz="2000" dirty="0"/>
              <a:t>Keyword search fails due to lack of </a:t>
            </a:r>
            <a:r>
              <a:rPr lang="en-IN" sz="2000" b="1" dirty="0"/>
              <a:t>semantic understanding</a:t>
            </a:r>
            <a:r>
              <a:rPr lang="en-IN" sz="2000" dirty="0"/>
              <a:t>.</a:t>
            </a:r>
          </a:p>
          <a:p>
            <a:pPr algn="l">
              <a:buFont typeface="Wingdings" pitchFamily="2" charset="2"/>
              <a:buChar char="Ø"/>
            </a:pPr>
            <a:r>
              <a:rPr lang="en-IN" sz="2000" b="1" dirty="0"/>
              <a:t>Goal:</a:t>
            </a:r>
            <a:br>
              <a:rPr lang="en-IN" sz="2000" dirty="0"/>
            </a:br>
            <a:r>
              <a:rPr lang="en-IN" sz="2000" dirty="0"/>
              <a:t>Find exact timestamps in a video where a queried topic is discussed.</a:t>
            </a:r>
          </a:p>
          <a:p>
            <a:pPr algn="l">
              <a:buFont typeface="Wingdings" pitchFamily="2" charset="2"/>
              <a:buChar char="Ø"/>
            </a:pPr>
            <a:r>
              <a:rPr lang="en-IN" sz="2000" b="1" dirty="0"/>
              <a:t>Motivation:</a:t>
            </a:r>
            <a:br>
              <a:rPr lang="en-IN" sz="2000" dirty="0"/>
            </a:br>
            <a:r>
              <a:rPr lang="en-IN" sz="2000" dirty="0"/>
              <a:t>To enable users to search videos </a:t>
            </a:r>
            <a:r>
              <a:rPr lang="en-IN" sz="2000" b="1" dirty="0"/>
              <a:t>by meaning</a:t>
            </a:r>
            <a:r>
              <a:rPr lang="en-IN" sz="2000" dirty="0"/>
              <a:t>, not just by words - and instantly jump to the relevant timestamp.</a:t>
            </a:r>
          </a:p>
          <a:p>
            <a:pPr algn="l">
              <a:buFont typeface="Wingdings" pitchFamily="2" charset="2"/>
              <a:buChar char="Ø"/>
            </a:pPr>
            <a:endParaRPr lang="en-IN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8C4E5E-317D-8F18-F134-23D44FE19B99}"/>
              </a:ext>
            </a:extLst>
          </p:cNvPr>
          <p:cNvSpPr txBox="1"/>
          <p:nvPr/>
        </p:nvSpPr>
        <p:spPr>
          <a:xfrm>
            <a:off x="2139885" y="292231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Research Objectives</a:t>
            </a:r>
            <a:endParaRPr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1" name="Google Shape;457;p41">
            <a:extLst>
              <a:ext uri="{FF2B5EF4-FFF2-40B4-BE49-F238E27FC236}">
                <a16:creationId xmlns:a16="http://schemas.microsoft.com/office/drawing/2014/main" id="{4E6F7E4B-1572-B88D-3271-23F2E4817542}"/>
              </a:ext>
            </a:extLst>
          </p:cNvPr>
          <p:cNvSpPr txBox="1">
            <a:spLocks/>
          </p:cNvSpPr>
          <p:nvPr/>
        </p:nvSpPr>
        <p:spPr>
          <a:xfrm>
            <a:off x="847770" y="1168004"/>
            <a:ext cx="7576230" cy="3530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algn="l">
              <a:buFont typeface="Wingdings" pitchFamily="2" charset="2"/>
              <a:buChar char="Ø"/>
            </a:pPr>
            <a:r>
              <a:rPr lang="en-IN" sz="2000" dirty="0"/>
              <a:t>Develop a </a:t>
            </a:r>
            <a:r>
              <a:rPr lang="en-IN" sz="2000" b="1" dirty="0"/>
              <a:t>semantic video retrieval system</a:t>
            </a:r>
            <a:r>
              <a:rPr lang="en-IN" sz="2000" dirty="0"/>
              <a:t> capable of mapping natural-language queries to video timestamps.</a:t>
            </a:r>
          </a:p>
          <a:p>
            <a:pPr algn="l">
              <a:buFont typeface="Wingdings" pitchFamily="2" charset="2"/>
              <a:buChar char="Ø"/>
            </a:pPr>
            <a:r>
              <a:rPr lang="en-IN" sz="2000" dirty="0"/>
              <a:t>Combine </a:t>
            </a:r>
            <a:r>
              <a:rPr lang="en-IN" sz="2000" b="1" dirty="0"/>
              <a:t>speech recognition (Whisper)</a:t>
            </a:r>
            <a:r>
              <a:rPr lang="en-IN" sz="2000" dirty="0"/>
              <a:t>, </a:t>
            </a:r>
            <a:r>
              <a:rPr lang="en-IN" sz="2000" b="1" dirty="0"/>
              <a:t>semantic embeddings (SBERT)</a:t>
            </a:r>
            <a:r>
              <a:rPr lang="en-IN" sz="2000" dirty="0"/>
              <a:t>, and </a:t>
            </a:r>
            <a:r>
              <a:rPr lang="en-IN" sz="2000" b="1" dirty="0"/>
              <a:t>vector search (FAISS)</a:t>
            </a:r>
            <a:r>
              <a:rPr lang="en-IN" sz="2000" dirty="0"/>
              <a:t>.</a:t>
            </a:r>
          </a:p>
          <a:p>
            <a:pPr algn="l">
              <a:buFont typeface="Wingdings" pitchFamily="2" charset="2"/>
              <a:buChar char="Ø"/>
            </a:pPr>
            <a:r>
              <a:rPr lang="en-IN" sz="2000" dirty="0"/>
              <a:t>Compare two retrieval strategies:</a:t>
            </a:r>
          </a:p>
          <a:p>
            <a:pPr marL="742950" lvl="1" indent="-285750" algn="l">
              <a:buFont typeface="Wingdings" pitchFamily="2" charset="2"/>
              <a:buChar char="Ø"/>
            </a:pPr>
            <a:r>
              <a:rPr lang="en-IN" sz="2000" b="1" dirty="0"/>
              <a:t>Flat Index:</a:t>
            </a:r>
            <a:r>
              <a:rPr lang="en-IN" sz="2000" dirty="0"/>
              <a:t> exhaustive search for high accuracy</a:t>
            </a:r>
          </a:p>
          <a:p>
            <a:pPr marL="742950" lvl="1" indent="-285750" algn="l">
              <a:buFont typeface="Wingdings" pitchFamily="2" charset="2"/>
              <a:buChar char="Ø"/>
            </a:pPr>
            <a:r>
              <a:rPr lang="en-IN" sz="2000" b="1" dirty="0"/>
              <a:t>Clustered Index (</a:t>
            </a:r>
            <a:r>
              <a:rPr lang="en-IN" sz="2000" b="1" dirty="0" err="1"/>
              <a:t>KMeans</a:t>
            </a:r>
            <a:r>
              <a:rPr lang="en-IN" sz="2000" b="1" dirty="0"/>
              <a:t>):</a:t>
            </a:r>
            <a:r>
              <a:rPr lang="en-IN" sz="2000" dirty="0"/>
              <a:t> approximate search for high speed</a:t>
            </a:r>
          </a:p>
          <a:p>
            <a:pPr algn="l">
              <a:buFont typeface="Wingdings" pitchFamily="2" charset="2"/>
              <a:buChar char="Ø"/>
            </a:pPr>
            <a:r>
              <a:rPr lang="en-IN" sz="2000" dirty="0"/>
              <a:t>Evaluate performance using </a:t>
            </a:r>
            <a:r>
              <a:rPr lang="en-IN" sz="2000" b="1" dirty="0" err="1"/>
              <a:t>Precision@k</a:t>
            </a:r>
            <a:r>
              <a:rPr lang="en-IN" sz="2000" dirty="0"/>
              <a:t>, </a:t>
            </a:r>
            <a:r>
              <a:rPr lang="en-IN" sz="2000" b="1" dirty="0" err="1"/>
              <a:t>Recall@k</a:t>
            </a:r>
            <a:r>
              <a:rPr lang="en-IN" sz="2000" dirty="0"/>
              <a:t>, and </a:t>
            </a:r>
            <a:r>
              <a:rPr lang="en-IN" sz="2000" b="1" dirty="0"/>
              <a:t>MRR</a:t>
            </a:r>
            <a:r>
              <a:rPr lang="en-IN" sz="20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>
          <a:extLst>
            <a:ext uri="{FF2B5EF4-FFF2-40B4-BE49-F238E27FC236}">
              <a16:creationId xmlns:a16="http://schemas.microsoft.com/office/drawing/2014/main" id="{0DC10396-010F-AE49-12A4-7DEEF84D0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8">
            <a:extLst>
              <a:ext uri="{FF2B5EF4-FFF2-40B4-BE49-F238E27FC236}">
                <a16:creationId xmlns:a16="http://schemas.microsoft.com/office/drawing/2014/main" id="{B2DD342B-2AA6-D629-FDB8-7B38B87CBC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System Architecture</a:t>
            </a:r>
            <a:endParaRPr lang="en-IN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1" name="Google Shape;457;p41">
            <a:extLst>
              <a:ext uri="{FF2B5EF4-FFF2-40B4-BE49-F238E27FC236}">
                <a16:creationId xmlns:a16="http://schemas.microsoft.com/office/drawing/2014/main" id="{0D37E67C-311B-A023-498A-4379BCE5BDA4}"/>
              </a:ext>
            </a:extLst>
          </p:cNvPr>
          <p:cNvSpPr txBox="1">
            <a:spLocks/>
          </p:cNvSpPr>
          <p:nvPr/>
        </p:nvSpPr>
        <p:spPr>
          <a:xfrm>
            <a:off x="1058723" y="1168004"/>
            <a:ext cx="7576230" cy="3016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482600" indent="-342900" algn="l">
              <a:buFont typeface="Wingdings" pitchFamily="2" charset="2"/>
              <a:buChar char="Ø"/>
            </a:pPr>
            <a:r>
              <a:rPr lang="en-IN" sz="2000" dirty="0"/>
              <a:t>The system consists of four interconnected modules forming an end-to-end pipeline:</a:t>
            </a:r>
          </a:p>
          <a:p>
            <a:pPr marL="482600" indent="-342900" algn="l">
              <a:buFont typeface="Wingdings" pitchFamily="2" charset="2"/>
              <a:buChar char="Ø"/>
            </a:pPr>
            <a:r>
              <a:rPr lang="en-IN" sz="2000" b="1" dirty="0"/>
              <a:t>Video Transcription</a:t>
            </a:r>
            <a:r>
              <a:rPr lang="en-IN" sz="2000" dirty="0"/>
              <a:t> (Whisper)</a:t>
            </a:r>
          </a:p>
          <a:p>
            <a:pPr marL="482600" indent="-342900" algn="l">
              <a:buFont typeface="Wingdings" pitchFamily="2" charset="2"/>
              <a:buChar char="Ø"/>
            </a:pPr>
            <a:r>
              <a:rPr lang="en-IN" sz="2000" b="1" dirty="0"/>
              <a:t>Text Segmentation &amp; Preprocessing</a:t>
            </a:r>
            <a:endParaRPr lang="en-IN" sz="2000" dirty="0"/>
          </a:p>
          <a:p>
            <a:pPr marL="482600" indent="-342900" algn="l">
              <a:buFont typeface="Wingdings" pitchFamily="2" charset="2"/>
              <a:buChar char="Ø"/>
            </a:pPr>
            <a:r>
              <a:rPr lang="en-IN" sz="2000" b="1" dirty="0"/>
              <a:t>Embedding Generation</a:t>
            </a:r>
            <a:r>
              <a:rPr lang="en-IN" sz="2000" dirty="0"/>
              <a:t> (SBERT)</a:t>
            </a:r>
          </a:p>
          <a:p>
            <a:pPr marL="482600" indent="-342900" algn="l">
              <a:buFont typeface="Wingdings" pitchFamily="2" charset="2"/>
              <a:buChar char="Ø"/>
            </a:pPr>
            <a:r>
              <a:rPr lang="en-IN" sz="2000" b="1" dirty="0"/>
              <a:t>Vector Indexing &amp; Retrieval</a:t>
            </a:r>
            <a:r>
              <a:rPr lang="en-IN" sz="2000" dirty="0"/>
              <a:t> (FAISS + Clustering)</a:t>
            </a:r>
          </a:p>
        </p:txBody>
      </p:sp>
    </p:spTree>
    <p:extLst>
      <p:ext uri="{BB962C8B-B14F-4D97-AF65-F5344CB8AC3E}">
        <p14:creationId xmlns:p14="http://schemas.microsoft.com/office/powerpoint/2010/main" val="275966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>
          <a:extLst>
            <a:ext uri="{FF2B5EF4-FFF2-40B4-BE49-F238E27FC236}">
              <a16:creationId xmlns:a16="http://schemas.microsoft.com/office/drawing/2014/main" id="{F51A3C00-248B-3AF7-D499-B25803493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software flow&#10;&#10;AI-generated content may be incorrect.">
            <a:extLst>
              <a:ext uri="{FF2B5EF4-FFF2-40B4-BE49-F238E27FC236}">
                <a16:creationId xmlns:a16="http://schemas.microsoft.com/office/drawing/2014/main" id="{E2D00EB7-465A-896E-E078-791D039F3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9027" y="0"/>
            <a:ext cx="574617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686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Video Transcription with Whisper</a:t>
            </a:r>
            <a:endParaRPr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57" name="Google Shape;457;p41"/>
          <p:cNvSpPr txBox="1">
            <a:spLocks noGrp="1"/>
          </p:cNvSpPr>
          <p:nvPr>
            <p:ph type="subTitle" idx="2"/>
          </p:nvPr>
        </p:nvSpPr>
        <p:spPr>
          <a:xfrm>
            <a:off x="897501" y="1335091"/>
            <a:ext cx="7613937" cy="18035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2000" b="1" dirty="0"/>
              <a:t>Model:</a:t>
            </a:r>
            <a:r>
              <a:rPr lang="en-IN" sz="2000" dirty="0"/>
              <a:t> OpenAI’s </a:t>
            </a:r>
            <a:r>
              <a:rPr lang="en-IN" sz="2000" i="1" dirty="0"/>
              <a:t>Whisper Base</a:t>
            </a:r>
            <a:endParaRPr lang="en-IN" sz="2000" dirty="0"/>
          </a:p>
          <a:p>
            <a:r>
              <a:rPr lang="en-IN" sz="2000" b="1" dirty="0"/>
              <a:t>Capabilities:</a:t>
            </a:r>
            <a:endParaRPr lang="en-IN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Multilingual and noise-resilient speech recognition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Outputs </a:t>
            </a:r>
            <a:r>
              <a:rPr lang="en-IN" sz="2000" b="1" dirty="0"/>
              <a:t>text with precise start–end timestamps</a:t>
            </a:r>
            <a:endParaRPr lang="en-IN" sz="2000" dirty="0"/>
          </a:p>
          <a:p>
            <a:r>
              <a:rPr lang="en-IN" sz="2000" b="1" dirty="0"/>
              <a:t>Outcome:</a:t>
            </a:r>
            <a:br>
              <a:rPr lang="en-IN" sz="2000" dirty="0"/>
            </a:br>
            <a:r>
              <a:rPr lang="en-IN" sz="2000" dirty="0"/>
              <a:t>Raw speech is transformed into accurate, time-aligned transcripts.</a:t>
            </a:r>
            <a:br>
              <a:rPr lang="en-IN" sz="2000" dirty="0"/>
            </a:br>
            <a:r>
              <a:rPr lang="en-IN" sz="2000" dirty="0"/>
              <a:t>Example:</a:t>
            </a:r>
          </a:p>
          <a:p>
            <a:r>
              <a:rPr lang="en-IN" sz="2000" i="1" dirty="0"/>
              <a:t>“Solar panels convert sunlight into electricity.” → [00:01:45 – 00:01:58]</a:t>
            </a:r>
            <a:endParaRPr lang="en-IN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5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Semantic Embedding Generation</a:t>
            </a:r>
            <a:endParaRPr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" name="Google Shape;457;p41">
            <a:extLst>
              <a:ext uri="{FF2B5EF4-FFF2-40B4-BE49-F238E27FC236}">
                <a16:creationId xmlns:a16="http://schemas.microsoft.com/office/drawing/2014/main" id="{9B62C11B-FEF6-075A-BDB5-21D45ECEBF8F}"/>
              </a:ext>
            </a:extLst>
          </p:cNvPr>
          <p:cNvSpPr txBox="1">
            <a:spLocks/>
          </p:cNvSpPr>
          <p:nvPr/>
        </p:nvSpPr>
        <p:spPr>
          <a:xfrm>
            <a:off x="907893" y="1324724"/>
            <a:ext cx="7516107" cy="23185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Wingdings" pitchFamily="2" charset="2"/>
              <a:buChar char="Ø"/>
            </a:pPr>
            <a:r>
              <a:rPr lang="en-IN" sz="2000" b="1" dirty="0">
                <a:latin typeface="DM Sans" pitchFamily="2" charset="77"/>
              </a:rPr>
              <a:t>Model:</a:t>
            </a:r>
            <a:r>
              <a:rPr lang="en-IN" sz="2000" dirty="0">
                <a:latin typeface="DM Sans" pitchFamily="2" charset="77"/>
              </a:rPr>
              <a:t> Sentence-BERT (</a:t>
            </a:r>
            <a:r>
              <a:rPr lang="en-IN" sz="2000" i="1" dirty="0">
                <a:latin typeface="DM Sans" pitchFamily="2" charset="77"/>
              </a:rPr>
              <a:t>all-MiniLM-L6-v2</a:t>
            </a:r>
            <a:r>
              <a:rPr lang="en-IN" sz="2000" dirty="0">
                <a:latin typeface="DM Sans" pitchFamily="2" charset="77"/>
              </a:rPr>
              <a:t>)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N" sz="2000" dirty="0">
                <a:latin typeface="DM Sans" pitchFamily="2" charset="77"/>
              </a:rPr>
              <a:t>Converts text segments (≈20–30 words each) into </a:t>
            </a:r>
            <a:r>
              <a:rPr lang="en-IN" sz="2000" b="1" dirty="0">
                <a:latin typeface="DM Sans" pitchFamily="2" charset="77"/>
              </a:rPr>
              <a:t>384-dimensional semantic embeddings</a:t>
            </a:r>
            <a:r>
              <a:rPr lang="en-IN" sz="2000" dirty="0">
                <a:latin typeface="DM Sans" pitchFamily="2" charset="77"/>
              </a:rPr>
              <a:t>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N" sz="2000" dirty="0">
                <a:latin typeface="DM Sans" pitchFamily="2" charset="77"/>
              </a:rPr>
              <a:t>Embeddings represent </a:t>
            </a:r>
            <a:r>
              <a:rPr lang="en-IN" sz="2000" b="1" dirty="0">
                <a:latin typeface="DM Sans" pitchFamily="2" charset="77"/>
              </a:rPr>
              <a:t>meaning</a:t>
            </a:r>
            <a:r>
              <a:rPr lang="en-IN" sz="2000" dirty="0">
                <a:latin typeface="DM Sans" pitchFamily="2" charset="77"/>
              </a:rPr>
              <a:t> rather than literal words.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N" sz="2000" b="1" dirty="0">
                <a:latin typeface="DM Sans" pitchFamily="2" charset="77"/>
              </a:rPr>
              <a:t>Example:</a:t>
            </a:r>
            <a:br>
              <a:rPr lang="en-IN" sz="2000" dirty="0">
                <a:latin typeface="DM Sans" pitchFamily="2" charset="77"/>
              </a:rPr>
            </a:br>
            <a:r>
              <a:rPr lang="en-IN" sz="2000" dirty="0">
                <a:latin typeface="DM Sans" pitchFamily="2" charset="77"/>
              </a:rPr>
              <a:t>“Machine learning algorithms” and “AI models” → similar embeddings in vector space.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6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Semantic Retrieval using FAISS</a:t>
            </a:r>
            <a:endParaRPr dirty="0">
              <a:solidFill>
                <a:schemeClr val="tx1">
                  <a:lumMod val="50000"/>
                </a:schemeClr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34C76D8-060B-1322-8BE4-0AB53F6978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2986572"/>
              </p:ext>
            </p:extLst>
          </p:nvPr>
        </p:nvGraphicFramePr>
        <p:xfrm>
          <a:off x="1203612" y="2571750"/>
          <a:ext cx="6622473" cy="2260600"/>
        </p:xfrm>
        <a:graphic>
          <a:graphicData uri="http://schemas.openxmlformats.org/drawingml/2006/table">
            <a:tbl>
              <a:tblPr firstRow="1" bandRow="1">
                <a:tableStyleId>{A126A054-CD98-45DD-9F41-E19F69198A29}</a:tableStyleId>
              </a:tblPr>
              <a:tblGrid>
                <a:gridCol w="1541320">
                  <a:extLst>
                    <a:ext uri="{9D8B030D-6E8A-4147-A177-3AD203B41FA5}">
                      <a16:colId xmlns:a16="http://schemas.microsoft.com/office/drawing/2014/main" val="1137764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80850044"/>
                    </a:ext>
                  </a:extLst>
                </a:gridCol>
                <a:gridCol w="1184563">
                  <a:extLst>
                    <a:ext uri="{9D8B030D-6E8A-4147-A177-3AD203B41FA5}">
                      <a16:colId xmlns:a16="http://schemas.microsoft.com/office/drawing/2014/main" val="4003953960"/>
                    </a:ext>
                  </a:extLst>
                </a:gridCol>
                <a:gridCol w="1267690">
                  <a:extLst>
                    <a:ext uri="{9D8B030D-6E8A-4147-A177-3AD203B41FA5}">
                      <a16:colId xmlns:a16="http://schemas.microsoft.com/office/drawing/2014/main" val="13979312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DM Sans" pitchFamily="2" charset="77"/>
                        </a:rPr>
                        <a:t>Index Type</a:t>
                      </a:r>
                      <a:endParaRPr lang="en-IN" sz="1600" dirty="0">
                        <a:latin typeface="DM Sans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b="1">
                          <a:latin typeface="DM Sans" pitchFamily="2" charset="77"/>
                        </a:rPr>
                        <a:t>Search Mechanism</a:t>
                      </a:r>
                      <a:endParaRPr lang="en-IN" sz="1600">
                        <a:latin typeface="DM Sans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b="1">
                          <a:latin typeface="DM Sans" pitchFamily="2" charset="77"/>
                        </a:rPr>
                        <a:t>Accuracy</a:t>
                      </a:r>
                      <a:endParaRPr lang="en-IN" sz="1600">
                        <a:latin typeface="DM Sans" pitchFamily="2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DM Sans" pitchFamily="2" charset="77"/>
                        </a:rPr>
                        <a:t>Speed</a:t>
                      </a:r>
                      <a:endParaRPr lang="en-IN" sz="1600" dirty="0">
                        <a:latin typeface="DM Sans" pitchFamily="2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4075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DM Sans" pitchFamily="2" charset="77"/>
                        </a:rPr>
                        <a:t>Flat Index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DM Sans" pitchFamily="2" charset="77"/>
                        </a:rPr>
                        <a:t>Performs exhaustive similarity search across all embeddings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DM Sans" pitchFamily="2" charset="77"/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DM Sans" pitchFamily="2" charset="77"/>
                        </a:rPr>
                        <a:t>Slower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9036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DM Sans" pitchFamily="2" charset="77"/>
                        </a:rPr>
                        <a:t>Clustered Index (</a:t>
                      </a:r>
                      <a:r>
                        <a:rPr lang="en-IN" sz="1600" dirty="0" err="1">
                          <a:latin typeface="DM Sans" pitchFamily="2" charset="77"/>
                        </a:rPr>
                        <a:t>KMeans</a:t>
                      </a:r>
                      <a:r>
                        <a:rPr lang="en-IN" sz="1600" dirty="0">
                          <a:latin typeface="DM Sans" pitchFamily="2" charset="77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DM Sans" pitchFamily="2" charset="77"/>
                        </a:rPr>
                        <a:t>Uses approximate nearest </a:t>
                      </a:r>
                      <a:r>
                        <a:rPr lang="en-IN" sz="1600" dirty="0" err="1">
                          <a:latin typeface="DM Sans" pitchFamily="2" charset="77"/>
                        </a:rPr>
                        <a:t>neighbor</a:t>
                      </a:r>
                      <a:r>
                        <a:rPr lang="en-IN" sz="1600" dirty="0">
                          <a:latin typeface="DM Sans" pitchFamily="2" charset="77"/>
                        </a:rPr>
                        <a:t> search by grouping embeddings into clusters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DM Sans" pitchFamily="2" charset="77"/>
                        </a:rPr>
                        <a:t>Moderate </a:t>
                      </a:r>
                      <a:endParaRPr sz="1600" dirty="0">
                        <a:latin typeface="DM Sans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DM Sans" pitchFamily="2" charset="77"/>
                        </a:rPr>
                        <a:t>Fast</a:t>
                      </a:r>
                      <a:endParaRPr sz="1600" dirty="0">
                        <a:latin typeface="DM Sans" pitchFamily="2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922758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47CA858-DF85-8CC9-F2AF-EBA314E0DF91}"/>
              </a:ext>
            </a:extLst>
          </p:cNvPr>
          <p:cNvSpPr txBox="1"/>
          <p:nvPr/>
        </p:nvSpPr>
        <p:spPr>
          <a:xfrm>
            <a:off x="1153391" y="1236518"/>
            <a:ext cx="6722917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DM Sans" pitchFamily="2" charset="77"/>
              </a:rPr>
              <a:t>FAISS (Facebook AI Similarity Search) allows efficient retrieval among millions of embeddings.</a:t>
            </a:r>
          </a:p>
          <a:p>
            <a:r>
              <a:rPr lang="en-IN" sz="2000" dirty="0">
                <a:latin typeface="DM Sans" pitchFamily="2" charset="77"/>
              </a:rPr>
              <a:t>Two indexing strategies: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7">
          <a:extLst>
            <a:ext uri="{FF2B5EF4-FFF2-40B4-BE49-F238E27FC236}">
              <a16:creationId xmlns:a16="http://schemas.microsoft.com/office/drawing/2014/main" id="{9D46C720-0EF6-1408-607E-9C508C2CF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69">
            <a:extLst>
              <a:ext uri="{FF2B5EF4-FFF2-40B4-BE49-F238E27FC236}">
                <a16:creationId xmlns:a16="http://schemas.microsoft.com/office/drawing/2014/main" id="{9CDFCA6B-999C-4E65-B8EC-2CE4C58EA6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Conclusion</a:t>
            </a:r>
            <a:endParaRPr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8B656B-F9A2-A998-DFB5-2927EF058312}"/>
              </a:ext>
            </a:extLst>
          </p:cNvPr>
          <p:cNvSpPr txBox="1"/>
          <p:nvPr/>
        </p:nvSpPr>
        <p:spPr>
          <a:xfrm>
            <a:off x="1124681" y="1300899"/>
            <a:ext cx="756211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DM Sans" pitchFamily="2" charset="77"/>
              </a:rPr>
              <a:t>Conclusion:</a:t>
            </a:r>
            <a:endParaRPr lang="en-IN" sz="2000" dirty="0">
              <a:latin typeface="DM Sans" pitchFamily="2" charset="77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IN" sz="2000" dirty="0">
                <a:latin typeface="DM Sans" pitchFamily="2" charset="77"/>
              </a:rPr>
              <a:t>The system successfully retrieves video timestamps semantically aligned with user queries.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N" sz="2000" dirty="0">
                <a:latin typeface="DM Sans" pitchFamily="2" charset="77"/>
              </a:rPr>
              <a:t>Combines Whisper, SBERT, and FAISS into a unified, efficient pipeline.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N" sz="2000" dirty="0">
                <a:latin typeface="DM Sans" pitchFamily="2" charset="77"/>
              </a:rPr>
              <a:t>Demonstrates strong performance with </a:t>
            </a:r>
            <a:r>
              <a:rPr lang="en-IN" sz="2000" dirty="0" err="1">
                <a:latin typeface="DM Sans" pitchFamily="2" charset="77"/>
              </a:rPr>
              <a:t>tunable</a:t>
            </a:r>
            <a:r>
              <a:rPr lang="en-IN" sz="2000" dirty="0">
                <a:latin typeface="DM Sans" pitchFamily="2" charset="77"/>
              </a:rPr>
              <a:t> trade-offs between </a:t>
            </a:r>
            <a:r>
              <a:rPr lang="en-IN" sz="2000" b="1" dirty="0">
                <a:latin typeface="DM Sans" pitchFamily="2" charset="77"/>
              </a:rPr>
              <a:t>accuracy</a:t>
            </a:r>
            <a:r>
              <a:rPr lang="en-IN" sz="2000" dirty="0">
                <a:latin typeface="DM Sans" pitchFamily="2" charset="77"/>
              </a:rPr>
              <a:t> and </a:t>
            </a:r>
            <a:r>
              <a:rPr lang="en-IN" sz="2000" b="1" dirty="0">
                <a:latin typeface="DM Sans" pitchFamily="2" charset="77"/>
              </a:rPr>
              <a:t>efficiency</a:t>
            </a:r>
            <a:r>
              <a:rPr lang="en-IN" sz="2000" dirty="0">
                <a:latin typeface="DM Sans" pitchFamily="2" charset="7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28751477"/>
      </p:ext>
    </p:extLst>
  </p:cSld>
  <p:clrMapOvr>
    <a:masterClrMapping/>
  </p:clrMapOvr>
</p:sld>
</file>

<file path=ppt/theme/theme1.xml><?xml version="1.0" encoding="utf-8"?>
<a:theme xmlns:a="http://schemas.openxmlformats.org/drawingml/2006/main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3305</TotalTime>
  <Words>426</Words>
  <Application>Microsoft Macintosh PowerPoint</Application>
  <PresentationFormat>On-screen Show (16:9)</PresentationFormat>
  <Paragraphs>57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Outfit</vt:lpstr>
      <vt:lpstr>Wingdings</vt:lpstr>
      <vt:lpstr>Nunito Light</vt:lpstr>
      <vt:lpstr>DM Sans</vt:lpstr>
      <vt:lpstr>Arial</vt:lpstr>
      <vt:lpstr>Data Collection and Analysis - Master of Science in Community Health and Prevention Research by Slidesgo</vt:lpstr>
      <vt:lpstr>Semantic Video Timestamp Retrieval Using Whisper, Sentence-BERT, FAISS and Clustering</vt:lpstr>
      <vt:lpstr>Motivation &amp; Problem Statement</vt:lpstr>
      <vt:lpstr>Research Objectives</vt:lpstr>
      <vt:lpstr>System Architecture</vt:lpstr>
      <vt:lpstr>PowerPoint Presentation</vt:lpstr>
      <vt:lpstr>Video Transcription with Whisper</vt:lpstr>
      <vt:lpstr>Semantic Embedding Generation</vt:lpstr>
      <vt:lpstr>Semantic Retrieval using FAISS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Apoorva Karnwal</cp:lastModifiedBy>
  <cp:revision>10</cp:revision>
  <dcterms:modified xsi:type="dcterms:W3CDTF">2025-11-07T07:01:25Z</dcterms:modified>
</cp:coreProperties>
</file>