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90" r:id="rId6"/>
    <p:sldId id="291" r:id="rId7"/>
    <p:sldId id="292" r:id="rId8"/>
    <p:sldId id="301" r:id="rId9"/>
    <p:sldId id="30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281" r:id="rId19"/>
  </p:sldIdLst>
  <p:sldSz cx="9144000" cy="5143500" type="screen16x9"/>
  <p:notesSz cx="6858000" cy="9144000"/>
  <p:embeddedFontLst>
    <p:embeddedFont>
      <p:font typeface="DM Sans" pitchFamily="2" charset="77"/>
      <p:regular r:id="rId21"/>
      <p:bold r:id="rId22"/>
      <p:italic r:id="rId23"/>
      <p:boldItalic r:id="rId24"/>
    </p:embeddedFont>
    <p:embeddedFont>
      <p:font typeface="Nunito Light" panose="020F0302020204030204" pitchFamily="34" charset="0"/>
      <p:regular r:id="rId25"/>
      <p:italic r:id="rId26"/>
    </p:embeddedFont>
    <p:embeddedFont>
      <p:font typeface="Outfit" pitchFamily="2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26A054-CD98-45DD-9F41-E19F69198A29}">
  <a:tblStyle styleId="{A126A054-CD98-45DD-9F41-E19F69198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40"/>
    <p:restoredTop sz="94694"/>
  </p:normalViewPr>
  <p:slideViewPr>
    <p:cSldViewPr snapToGrid="0">
      <p:cViewPr>
        <p:scale>
          <a:sx n="102" d="100"/>
          <a:sy n="102" d="100"/>
        </p:scale>
        <p:origin x="91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749DBEEA-3DDD-C5F6-ACA0-2066B032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1D73A05E-6A1D-037D-7B97-4916BFEF1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D278A35D-7E0D-E7DE-570D-A9C76478B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878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7302C8A1-9626-607F-1069-5450ADCA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37837E74-9E0C-A55E-013B-B7B5D7A2F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D424F9B2-CAFF-EF3C-1A31-100793F8E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161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E2D83CB7-EA27-A5CD-7455-DC6DE31E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F68CFEAE-7EAE-BB7D-6EBC-431A227C0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C641A6EF-AD47-8EDA-F4B2-C7F5214B9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732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D97F1193-145F-11F0-CB7A-3A296607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88B68950-8422-1438-D467-AA4DF8396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B5414F47-1A60-55ED-465D-D3B3E44DC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98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B020525E-A673-37B0-FD79-C3754BCE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3380AA38-B7DA-A365-BF2D-7B1F33744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547354B4-6F2D-68AF-24EA-2C092D740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734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>
          <a:extLst>
            <a:ext uri="{FF2B5EF4-FFF2-40B4-BE49-F238E27FC236}">
              <a16:creationId xmlns:a16="http://schemas.microsoft.com/office/drawing/2014/main" id="{850E2C4A-0C0C-E5BB-AFD7-8E781B67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e71a4a866a_0_0:notes">
            <a:extLst>
              <a:ext uri="{FF2B5EF4-FFF2-40B4-BE49-F238E27FC236}">
                <a16:creationId xmlns:a16="http://schemas.microsoft.com/office/drawing/2014/main" id="{AABC83D7-20CE-25AD-B88B-3127AE46B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e71a4a866a_0_0:notes">
            <a:extLst>
              <a:ext uri="{FF2B5EF4-FFF2-40B4-BE49-F238E27FC236}">
                <a16:creationId xmlns:a16="http://schemas.microsoft.com/office/drawing/2014/main" id="{1895B340-70D4-8C45-FE91-CDDC2F4D7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092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4BC4EF16-6094-F633-87C8-F2E47AA9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5EA7DCEE-A61B-5221-B4B0-A5E3D1D26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3D473130-8C44-4811-87A4-C9CF376A7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73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49B5A602-897D-AFBC-7194-7EDB1DFAC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E477D893-87B4-EA65-4F6B-BA4F25A85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B39571D8-D60C-43AC-6A04-5AA6B2493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165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07411B0C-F6B6-A609-3CA5-8AD1CCB9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C6059773-CD79-47DD-3DAA-31BFC651A0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EDB31215-0453-961F-5A30-2B8F22582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802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21440136-F787-0983-7445-EE4C3B44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D4FF857A-6D59-78AF-7E72-93471DB9F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88DD53EA-AF97-B828-071F-C3B392E34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588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1ADB6081-9519-8BF5-8449-DBD0F96A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32F691FE-7E16-B2F6-5D60-0724F3D23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10128C3E-CE06-1705-6EE3-E6D780EB4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7692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4F8F7DDB-B71B-E57C-18D5-95B54CCB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810C000E-0625-29B2-9FE4-669BA8A3C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75829E3B-D4B5-2B15-AE38-EB3AA1B11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068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B977A2EB-F763-D24B-0CF1-3623AC62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>
            <a:extLst>
              <a:ext uri="{FF2B5EF4-FFF2-40B4-BE49-F238E27FC236}">
                <a16:creationId xmlns:a16="http://schemas.microsoft.com/office/drawing/2014/main" id="{B343448D-E54D-0B43-6FC7-5F5F0C4FF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>
            <a:extLst>
              <a:ext uri="{FF2B5EF4-FFF2-40B4-BE49-F238E27FC236}">
                <a16:creationId xmlns:a16="http://schemas.microsoft.com/office/drawing/2014/main" id="{D1CAD66C-AAEF-C7FB-367F-82B2F77A4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788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1" r:id="rId6"/>
    <p:sldLayoutId id="2147483671" r:id="rId7"/>
    <p:sldLayoutId id="2147483677" r:id="rId8"/>
    <p:sldLayoutId id="214748367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471550" y="1156001"/>
            <a:ext cx="5312563" cy="9190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</a:rPr>
              <a:t>Selective Cookie Outsourcing using Private Information Retrieval</a:t>
            </a:r>
            <a:endParaRPr sz="48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46" name="Google Shape;346;p36"/>
          <p:cNvCxnSpPr/>
          <p:nvPr/>
        </p:nvCxnSpPr>
        <p:spPr>
          <a:xfrm>
            <a:off x="549311" y="968122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303873" y="-438051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566974-9B02-CEEE-F244-AEF8C766A3B6}"/>
              </a:ext>
            </a:extLst>
          </p:cNvPr>
          <p:cNvSpPr txBox="1"/>
          <p:nvPr/>
        </p:nvSpPr>
        <p:spPr>
          <a:xfrm>
            <a:off x="471550" y="2264349"/>
            <a:ext cx="5654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DM Sans" pitchFamily="2" charset="77"/>
              </a:rPr>
              <a:t>Students: </a:t>
            </a:r>
            <a:r>
              <a:rPr lang="en-IN" sz="1600" dirty="0">
                <a:latin typeface="DM Sans" pitchFamily="2" charset="77"/>
              </a:rPr>
              <a:t>Apoorva Karnwal (22BCE0756), </a:t>
            </a:r>
          </a:p>
          <a:p>
            <a:r>
              <a:rPr lang="en-IN" sz="1600" dirty="0">
                <a:latin typeface="DM Sans" pitchFamily="2" charset="77"/>
              </a:rPr>
              <a:t>Shivesh Kaushik (22BCE2232)</a:t>
            </a:r>
          </a:p>
          <a:p>
            <a:r>
              <a:rPr lang="en-IN" sz="1600" b="1" dirty="0">
                <a:latin typeface="DM Sans" pitchFamily="2" charset="77"/>
              </a:rPr>
              <a:t>Guide:</a:t>
            </a:r>
            <a:r>
              <a:rPr lang="en-IN" sz="1600" dirty="0">
                <a:latin typeface="DM Sans" pitchFamily="2" charset="77"/>
              </a:rPr>
              <a:t> Prof. Kathiravan Srinivasan, Professor Grade 1</a:t>
            </a:r>
          </a:p>
          <a:p>
            <a:r>
              <a:rPr lang="en-IN" sz="1600" b="1" dirty="0">
                <a:latin typeface="DM Sans" pitchFamily="2" charset="77"/>
              </a:rPr>
              <a:t>School:</a:t>
            </a:r>
            <a:r>
              <a:rPr lang="en-IN" sz="1600" dirty="0">
                <a:latin typeface="DM Sans" pitchFamily="2" charset="77"/>
              </a:rPr>
              <a:t> SCOPE, VIT</a:t>
            </a:r>
          </a:p>
          <a:p>
            <a:r>
              <a:rPr lang="en-IN" sz="1600" b="1" dirty="0">
                <a:latin typeface="DM Sans" pitchFamily="2" charset="77"/>
              </a:rPr>
              <a:t>Programme:</a:t>
            </a:r>
            <a:r>
              <a:rPr lang="en-IN" sz="1600" dirty="0">
                <a:latin typeface="DM Sans" pitchFamily="2" charset="77"/>
              </a:rPr>
              <a:t> B.Tech. in Computer Science &amp; Engineering </a:t>
            </a:r>
          </a:p>
          <a:p>
            <a:r>
              <a:rPr lang="en-IN" sz="1600" b="1" dirty="0">
                <a:latin typeface="DM Sans" pitchFamily="2" charset="77"/>
              </a:rPr>
              <a:t>Date:</a:t>
            </a:r>
            <a:r>
              <a:rPr lang="en-IN" sz="1600" dirty="0">
                <a:latin typeface="DM Sans" pitchFamily="2" charset="77"/>
              </a:rPr>
              <a:t> September 2025</a:t>
            </a:r>
          </a:p>
        </p:txBody>
      </p:sp>
      <p:pic>
        <p:nvPicPr>
          <p:cNvPr id="4" name="Picture 3" descr="VIT&#10;">
            <a:extLst>
              <a:ext uri="{FF2B5EF4-FFF2-40B4-BE49-F238E27FC236}">
                <a16:creationId xmlns:a16="http://schemas.microsoft.com/office/drawing/2014/main" id="{A4ABAA7A-ABFF-D477-4FEF-7EE83148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4" b="12134"/>
          <a:stretch/>
        </p:blipFill>
        <p:spPr>
          <a:xfrm>
            <a:off x="1560468" y="3875200"/>
            <a:ext cx="2506981" cy="1035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Aim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3" name="Google Shape;373;p37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94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US" dirty="0"/>
              <a:t>To develop a hybrid privacy framework that integrates Machine Learning (ML)–based cookie classification with Private Information Retrieval like for system</a:t>
            </a:r>
            <a:r>
              <a:rPr lang="en-IN" dirty="0">
                <a:solidFill>
                  <a:srgbClr val="384554"/>
                </a:solidFill>
              </a:rPr>
              <a:t>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Current compliance mechanisms (cookie banners, CMPs) provide legal consent management but fail to ensure strong privacy protection. </a:t>
            </a:r>
          </a:p>
          <a:p>
            <a:pPr marL="285750" lvl="0" indent="-285750" algn="just"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US" dirty="0"/>
              <a:t>Collect and preprocess cookies with relevant attributes and metadata</a:t>
            </a:r>
            <a:r>
              <a:rPr lang="en-IN" dirty="0">
                <a:solidFill>
                  <a:srgbClr val="384554"/>
                </a:solidFill>
              </a:rPr>
              <a:t>. </a:t>
            </a:r>
          </a:p>
          <a:p>
            <a:pPr marL="285750" lvl="0" indent="-285750" algn="just"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US" dirty="0"/>
              <a:t>Train ML models (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) to classify cookies into categories — Essential, Functional, Analytics, Marketing</a:t>
            </a:r>
            <a:r>
              <a:rPr lang="en-IN" dirty="0">
                <a:solidFill>
                  <a:srgbClr val="384554"/>
                </a:solidFill>
              </a:rPr>
              <a:t>. </a:t>
            </a:r>
          </a:p>
          <a:p>
            <a:pPr marL="285750" lvl="0" indent="-285750" algn="just"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Apply strict consent management for browser and only allowing minimum required cookies to be stored in browser.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bg2">
                  <a:lumMod val="10000"/>
                </a:schemeClr>
              </a:buClr>
              <a:buFont typeface="Wingdings" pitchFamily="2" charset="2"/>
              <a:buChar char="Ø"/>
            </a:pPr>
            <a:r>
              <a:rPr lang="en-IN" dirty="0">
                <a:solidFill>
                  <a:srgbClr val="384554"/>
                </a:solidFill>
              </a:rPr>
              <a:t>The framework ensures a scalable, deployable solution that balances privacy, usability, and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Motivation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4E6F7E4B-1572-B88D-3271-23F2E4817542}"/>
              </a:ext>
            </a:extLst>
          </p:cNvPr>
          <p:cNvSpPr txBox="1">
            <a:spLocks/>
          </p:cNvSpPr>
          <p:nvPr/>
        </p:nvSpPr>
        <p:spPr>
          <a:xfrm>
            <a:off x="1099351" y="1262272"/>
            <a:ext cx="7026554" cy="33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There is rising demand for privacy-aware browsers and compliance tools.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Public awareness and legal pressure (GDPR, CCPA) demand technical enforcement, not just policy.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Cookies are vital for web personalization and authentication but are often misused for tracking and profiling.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Cookie banners and CMPs ensure legal compliance but fail to protect privacy technically</a:t>
            </a:r>
            <a:r>
              <a:rPr lang="en-US" dirty="0">
                <a:solidFill>
                  <a:srgbClr val="384554"/>
                </a:solidFill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Completely blocking cookies is impractical as it breaks website functionality.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ML classification provides an intelligent way to separate sensitive cookies.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dirty="0"/>
              <a:t>This project bridges the gap between legal consent and technical privacy control.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Literature Review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Wingdings" pitchFamily="2" charset="2"/>
              <a:buChar char="Ø"/>
            </a:pPr>
            <a:r>
              <a:rPr lang="en-US" b="1" dirty="0"/>
              <a:t>Berens et al. (2024):</a:t>
            </a:r>
            <a:r>
              <a:rPr lang="en-US" dirty="0"/>
              <a:t> Found that 70% of websites still store non-essential cookies even after user rejection. Shows that consent banners manipulate users into clicking “Accept All.”</a:t>
            </a:r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b="1" dirty="0" err="1"/>
              <a:t>Bouhoula</a:t>
            </a:r>
            <a:r>
              <a:rPr lang="en-US" b="1" dirty="0"/>
              <a:t> et al. (2023): </a:t>
            </a:r>
            <a:r>
              <a:rPr lang="en-US" dirty="0"/>
              <a:t>Built crawlers for 97,000+ sites to analyze cookie banners and compliance. Found widespread non-compliance and hidden reject options on most websites.</a:t>
            </a:r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b="1" dirty="0"/>
              <a:t> Hu et al., (2021): </a:t>
            </a:r>
            <a:r>
              <a:rPr lang="en-US" dirty="0"/>
              <a:t>Used ML-based lexical features to classify cookies efficiently. Proved feasibility of using machine learning for cookie categorization</a:t>
            </a:r>
            <a:r>
              <a:rPr lang="en-US" b="1" dirty="0"/>
              <a:t>.</a:t>
            </a:r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b="1" dirty="0"/>
              <a:t>Munir et al., (2023):</a:t>
            </a:r>
            <a:r>
              <a:rPr lang="en-US" dirty="0"/>
              <a:t> Exposed trend of first-party tracking replacing third-party tracking. Introduced graph-based detection using behavioral and network features.</a:t>
            </a:r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b="1" dirty="0" err="1"/>
              <a:t>Vithana</a:t>
            </a:r>
            <a:r>
              <a:rPr lang="en-US" b="1" dirty="0"/>
              <a:t> et al., (2023): </a:t>
            </a:r>
            <a:r>
              <a:rPr lang="en-US" dirty="0"/>
              <a:t>Surveyed PIR variants — single-server (CPIR) and multi-server (ITPIR). Identified trade-offs in communication cost and practicality.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DF7572-794E-2CC3-5AEF-2B669413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AB102C5A-BCF9-647D-FAE4-1C4E9D332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Research Gaps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4E58C796-ECD7-0DB1-480E-F9F3279566D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Wingdings" pitchFamily="2" charset="2"/>
              <a:buChar char="Ø"/>
            </a:pPr>
            <a:r>
              <a:rPr lang="en-US" dirty="0"/>
              <a:t>Most Consent Management Platforms (CMPs) and cookie banners are compliance-oriented, not privacy-enforcing.</a:t>
            </a:r>
          </a:p>
          <a:p>
            <a:pPr marL="171450" lvl="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indent="-171450" algn="just">
              <a:buFont typeface="Wingdings" pitchFamily="2" charset="2"/>
              <a:buChar char="Ø"/>
            </a:pPr>
            <a:r>
              <a:rPr lang="en-US" dirty="0"/>
              <a:t>Existing solutions depend on user consent rather than automated control. No mechanism ensures that rejected cookies are actually blocked or removed.</a:t>
            </a:r>
          </a:p>
          <a:p>
            <a:pPr marL="17145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indent="-171450" algn="just">
              <a:buFont typeface="Wingdings" pitchFamily="2" charset="2"/>
              <a:buChar char="Ø"/>
            </a:pPr>
            <a:r>
              <a:rPr lang="en-US" dirty="0"/>
              <a:t>ML models (e.g., </a:t>
            </a:r>
            <a:r>
              <a:rPr lang="en-US" dirty="0" err="1"/>
              <a:t>CookieMonster</a:t>
            </a:r>
            <a:r>
              <a:rPr lang="en-US" dirty="0"/>
              <a:t>, </a:t>
            </a:r>
            <a:r>
              <a:rPr lang="en-US" dirty="0" err="1"/>
              <a:t>CookieGraph</a:t>
            </a:r>
            <a:r>
              <a:rPr lang="en-US" dirty="0"/>
              <a:t>) classify cookies accurately based but do not provide any privacy protection after identification.</a:t>
            </a:r>
          </a:p>
          <a:p>
            <a:pPr marL="17145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indent="-171450" algn="just">
              <a:buFont typeface="Wingdings" pitchFamily="2" charset="2"/>
              <a:buChar char="Ø"/>
            </a:pPr>
            <a:r>
              <a:rPr lang="en-US" dirty="0"/>
              <a:t>Private Information Retrieval (PIR) offers strong theoretical privacy, but hasn’t been applied to real-world browser environment.</a:t>
            </a:r>
          </a:p>
          <a:p>
            <a:pPr marL="17145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indent="-171450" algn="just">
              <a:buFont typeface="Wingdings" pitchFamily="2" charset="2"/>
              <a:buChar char="Ø"/>
            </a:pPr>
            <a:r>
              <a:rPr lang="en-US" dirty="0"/>
              <a:t>Research lacks deployable, low-latency frameworks that can operate inside browsers at scale.</a:t>
            </a:r>
          </a:p>
          <a:p>
            <a:endParaRPr lang="en-US" dirty="0"/>
          </a:p>
          <a:p>
            <a:pPr marL="17145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lvl="0" indent="-171450"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6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042AB01E-890B-12DB-5CD3-0E555C3E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B71ECFEB-20EE-AD26-C0FC-29B5BAEA1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Problem Formulation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98BED1D4-E074-FF96-F55E-BB082762E5E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Wingdings" pitchFamily="2" charset="2"/>
              <a:buChar char="Ø"/>
            </a:pPr>
            <a:r>
              <a:rPr lang="en-US" dirty="0"/>
              <a:t>How to classify cookies automatically and protect only sensitive ones efficiently.</a:t>
            </a:r>
          </a:p>
          <a:p>
            <a:pPr marL="171450" lvl="0" indent="-171450" algn="just">
              <a:buFont typeface="Wingdings" pitchFamily="2" charset="2"/>
              <a:buChar char="Ø"/>
            </a:pPr>
            <a:endParaRPr lang="en-US" b="1" dirty="0"/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dirty="0"/>
              <a:t>How to ensure privacy preservation without affecting website performance or UX.</a:t>
            </a:r>
          </a:p>
          <a:p>
            <a:pPr marL="171450" lvl="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dirty="0"/>
              <a:t>How to achieve low latency, scalability, and transparency simultaneously.</a:t>
            </a:r>
          </a:p>
          <a:p>
            <a:pPr marL="171450" lvl="0" indent="-171450" algn="just">
              <a:buFont typeface="Wingdings" pitchFamily="2" charset="2"/>
              <a:buChar char="Ø"/>
            </a:pPr>
            <a:endParaRPr lang="en-US" dirty="0"/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dirty="0"/>
              <a:t>Problem lies in balancing </a:t>
            </a:r>
            <a:r>
              <a:rPr lang="en-US" i="1" dirty="0"/>
              <a:t>privacy enforcement</a:t>
            </a:r>
            <a:r>
              <a:rPr lang="en-US" dirty="0"/>
              <a:t> with </a:t>
            </a:r>
            <a:r>
              <a:rPr lang="en-US" i="1" dirty="0"/>
              <a:t>functional necessity.</a:t>
            </a:r>
          </a:p>
          <a:p>
            <a:pPr marL="171450" lvl="0" indent="-171450" algn="just">
              <a:buFont typeface="Wingdings" pitchFamily="2" charset="2"/>
              <a:buChar char="Ø"/>
            </a:pPr>
            <a:endParaRPr lang="en-US" i="1" dirty="0"/>
          </a:p>
          <a:p>
            <a:pPr marL="171450" lvl="0" indent="-171450" algn="just">
              <a:buFont typeface="Wingdings" pitchFamily="2" charset="2"/>
              <a:buChar char="Ø"/>
            </a:pPr>
            <a:r>
              <a:rPr lang="en-US" dirty="0"/>
              <a:t>Traditional methods either sacrifice performance or privacy.</a:t>
            </a:r>
          </a:p>
          <a:p>
            <a:pPr marL="0" lvl="0" indent="0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4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942E25DB-298C-9F42-3121-1EB7028C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EE4E3E4A-EBF3-5683-E6CF-A665E26086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Proposed System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CFB7AF30-46F7-4D0F-8791-C3F3C40B2B5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Browser Extension (Client): Captures cookies and extracts features (Secure, </a:t>
            </a:r>
            <a:r>
              <a:rPr lang="en-US" dirty="0" err="1"/>
              <a:t>HttpOnly</a:t>
            </a:r>
            <a:r>
              <a:rPr lang="en-US" dirty="0"/>
              <a:t>, </a:t>
            </a:r>
            <a:r>
              <a:rPr lang="en-US" dirty="0" err="1"/>
              <a:t>SameSite</a:t>
            </a:r>
            <a:r>
              <a:rPr lang="en-US" dirty="0"/>
              <a:t>). 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ML Classifier: Classifies cookies as Essential, Functional, Analytics, Marketing.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Policy Engine: Determines which cookies to outsource securely.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PIR Server: Encrypts and processes sensitive cookies.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Designed modularly for integration with Chrome Browser.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Uses ONNX export for lightweight browser-based inference.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Architecture balances client-side speed with server-side privacy.</a:t>
            </a:r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D771945D-A063-4B46-85D6-6912B841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3B2F21ED-2DC8-0880-6C1D-4FFFA2AB0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End-to-End Working of the Cookie Privacy Framework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8787F31E-748F-E92A-387C-E119F107DE5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2480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endParaRPr lang="en-US" dirty="0"/>
          </a:p>
          <a:p>
            <a:pPr marL="0" lvl="0" indent="0" algn="just"/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IN" b="1" dirty="0"/>
              <a:t>Data Collection:</a:t>
            </a:r>
            <a:br>
              <a:rPr lang="en-IN" dirty="0"/>
            </a:br>
            <a:r>
              <a:rPr lang="en-IN" dirty="0"/>
              <a:t>The Chrome extension captures cookies in real time, collecting attributes like </a:t>
            </a:r>
            <a:r>
              <a:rPr lang="en-IN" dirty="0" err="1"/>
              <a:t>HttpOnly</a:t>
            </a:r>
            <a:r>
              <a:rPr lang="en-IN" dirty="0"/>
              <a:t>, Secure, </a:t>
            </a:r>
            <a:r>
              <a:rPr lang="en-IN" dirty="0" err="1"/>
              <a:t>SameSite</a:t>
            </a:r>
            <a:r>
              <a:rPr lang="en-IN" dirty="0"/>
              <a:t>, Expiry, and Domain.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Feature Extraction &amp; Preprocessing:</a:t>
            </a:r>
            <a:br>
              <a:rPr lang="en-IN" dirty="0"/>
            </a:br>
            <a:r>
              <a:rPr lang="en-IN" dirty="0"/>
              <a:t>Relevant cookie features are extracted and converted into numerical form for ML model compatibility.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ML-Based Classification:</a:t>
            </a:r>
            <a:br>
              <a:rPr lang="en-IN" dirty="0"/>
            </a:br>
            <a:r>
              <a:rPr lang="en-IN" dirty="0"/>
              <a:t>The </a:t>
            </a:r>
            <a:r>
              <a:rPr lang="en-IN" dirty="0" err="1"/>
              <a:t>LightGBM</a:t>
            </a:r>
            <a:r>
              <a:rPr lang="en-IN" dirty="0"/>
              <a:t> model classifies cookies as Essential, Functional, Analytics, or Marketing based on extracted features.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PIR Browser Extension:</a:t>
            </a:r>
            <a:br>
              <a:rPr lang="en-IN" dirty="0"/>
            </a:br>
            <a:r>
              <a:rPr lang="en-IN" dirty="0"/>
              <a:t>Sensitive cookies are encrypted and securely outsourced using a Private Information Retrieval (PIR) mechanism.</a:t>
            </a:r>
          </a:p>
          <a:p>
            <a:pPr marL="0" lvl="0" indent="0" algn="just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ED61C-0071-D469-F3ED-422983A061DE}"/>
              </a:ext>
            </a:extLst>
          </p:cNvPr>
          <p:cNvSpPr txBox="1"/>
          <p:nvPr/>
        </p:nvSpPr>
        <p:spPr>
          <a:xfrm>
            <a:off x="6526061" y="4835723"/>
            <a:ext cx="1202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495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BC39D1A5-1844-4B6D-2BD2-8CBBC965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6D1CC7C6-127E-5B6A-752F-94EFF0B0A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End-to-End Working of the Cookie Privacy Framework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7D00A2AE-A6CB-C35F-26D5-845137B0207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816274"/>
            <a:ext cx="7613937" cy="1841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Font typeface="Wingdings" pitchFamily="2" charset="2"/>
              <a:buChar char="Ø"/>
            </a:pPr>
            <a:r>
              <a:rPr lang="en-IN" b="1" dirty="0"/>
              <a:t>Dashboard &amp; Visualization:</a:t>
            </a:r>
            <a:br>
              <a:rPr lang="en-IN" dirty="0"/>
            </a:br>
            <a:r>
              <a:rPr lang="en-IN" dirty="0"/>
              <a:t>All cookies and their classifications are displayed on a dashboard where users can view and manage privacy settings.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Result &amp; Privacy Assurance:</a:t>
            </a:r>
            <a:br>
              <a:rPr lang="en-IN" dirty="0"/>
            </a:br>
            <a:r>
              <a:rPr lang="en-IN" dirty="0"/>
              <a:t>The system ensures accurate classification, secure encryption, and compliance with privacy standards in real time.</a:t>
            </a:r>
          </a:p>
          <a:p>
            <a:pPr marL="0" lvl="0" indent="0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>
          <a:extLst>
            <a:ext uri="{FF2B5EF4-FFF2-40B4-BE49-F238E27FC236}">
              <a16:creationId xmlns:a16="http://schemas.microsoft.com/office/drawing/2014/main" id="{294CAD81-3BFF-C07F-2EFE-39F9E8F1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2">
            <a:extLst>
              <a:ext uri="{FF2B5EF4-FFF2-40B4-BE49-F238E27FC236}">
                <a16:creationId xmlns:a16="http://schemas.microsoft.com/office/drawing/2014/main" id="{D006F3C4-C8D3-CBFE-26B6-0E1FBD22B1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System Design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3" name="Picture 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52844A9-2278-D80E-5FEB-4DD5D5906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997" y="1229061"/>
            <a:ext cx="4647721" cy="3399671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4A9070-E01C-9703-4B2C-DF764043145D}"/>
              </a:ext>
            </a:extLst>
          </p:cNvPr>
          <p:cNvSpPr txBox="1"/>
          <p:nvPr/>
        </p:nvSpPr>
        <p:spPr>
          <a:xfrm>
            <a:off x="2983423" y="4698475"/>
            <a:ext cx="3429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showing Extension system design</a:t>
            </a:r>
          </a:p>
        </p:txBody>
      </p:sp>
    </p:spTree>
    <p:extLst>
      <p:ext uri="{BB962C8B-B14F-4D97-AF65-F5344CB8AC3E}">
        <p14:creationId xmlns:p14="http://schemas.microsoft.com/office/powerpoint/2010/main" val="267803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8B32F058-7031-111D-21C0-168D153C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2DEADE98-9AAD-6528-8F05-43E4625E89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0F5EC11B-3A8F-7911-17E0-AC9E4CD4355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b="1" dirty="0"/>
              <a:t>Dataset collection and Preprocessing : 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Cookies were collected using </a:t>
            </a:r>
            <a:r>
              <a:rPr lang="en-US" dirty="0" err="1"/>
              <a:t>OpenWPM</a:t>
            </a:r>
            <a:r>
              <a:rPr lang="en-US" dirty="0"/>
              <a:t>, an automated web crawler, combined with Consent-O-Matic to detect and extract labels from active Consent Management Platforms (CMPs).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Each cookie entry included key attributes such as </a:t>
            </a:r>
            <a:r>
              <a:rPr lang="en-US" dirty="0" err="1"/>
              <a:t>HttpOnly</a:t>
            </a:r>
            <a:r>
              <a:rPr lang="en-US" dirty="0"/>
              <a:t>, Secure, </a:t>
            </a:r>
            <a:r>
              <a:rPr lang="en-US" dirty="0" err="1"/>
              <a:t>SameSite</a:t>
            </a:r>
            <a:r>
              <a:rPr lang="en-US" dirty="0"/>
              <a:t>, Domain, Path, and Expiry, along with contextual data like whether it was first-party or third-party.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data underwent deduplication, normalization, and one-hot encoding to ensure consistent feature representation.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Boolean features were converted to binary values (True → 1, False → 0), while categorical ones like </a:t>
            </a:r>
            <a:r>
              <a:rPr lang="en-US" i="1" dirty="0" err="1"/>
              <a:t>SameSite</a:t>
            </a:r>
            <a:r>
              <a:rPr lang="en-US" dirty="0"/>
              <a:t> were encoded numerically.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Three supervised ensemble models — </a:t>
            </a:r>
            <a:r>
              <a:rPr lang="en-US" b="1" dirty="0" err="1"/>
              <a:t>LightGBM</a:t>
            </a:r>
            <a:r>
              <a:rPr lang="en-US" dirty="0"/>
              <a:t>, </a:t>
            </a:r>
            <a:r>
              <a:rPr lang="en-US" b="1" dirty="0" err="1"/>
              <a:t>XGBoost</a:t>
            </a:r>
            <a:r>
              <a:rPr lang="en-US" dirty="0"/>
              <a:t>, and </a:t>
            </a:r>
            <a:r>
              <a:rPr lang="en-US" b="1" dirty="0" err="1"/>
              <a:t>CatBoost</a:t>
            </a:r>
            <a:r>
              <a:rPr lang="en-US" dirty="0"/>
              <a:t> — were trained to classify cookies into four categories: Essential, Functional, Analytics, and Marketing.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dataset was split into </a:t>
            </a:r>
            <a:r>
              <a:rPr lang="en-US" b="1" dirty="0"/>
              <a:t>70% training</a:t>
            </a:r>
            <a:r>
              <a:rPr lang="en-US" dirty="0"/>
              <a:t>, </a:t>
            </a:r>
            <a:r>
              <a:rPr lang="en-US" b="1" dirty="0"/>
              <a:t>15% validation</a:t>
            </a:r>
            <a:r>
              <a:rPr lang="en-US" dirty="0"/>
              <a:t>, and </a:t>
            </a:r>
            <a:r>
              <a:rPr lang="en-US" b="1" dirty="0"/>
              <a:t>15% testing</a:t>
            </a:r>
            <a:r>
              <a:rPr lang="en-US" dirty="0"/>
              <a:t> </a:t>
            </a:r>
          </a:p>
          <a:p>
            <a:pPr marL="0" lvl="0" indent="0" algn="just"/>
            <a:endParaRPr lang="en-US" b="1" dirty="0"/>
          </a:p>
          <a:p>
            <a:pPr marL="0" lvl="0" indent="0"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233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A62B3346-25A7-CD0E-D423-370DE99B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765ACCD0-5F36-A3BC-8DDE-AA861247C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15ACBC25-7B19-1595-46B4-2F8FD792134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b="1" dirty="0"/>
              <a:t>Model Performance and Comparison: 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Among all models, </a:t>
            </a:r>
            <a:r>
              <a:rPr lang="en-US" dirty="0" err="1"/>
              <a:t>LightGBM</a:t>
            </a:r>
            <a:r>
              <a:rPr lang="en-US" dirty="0"/>
              <a:t> achieved the best accuracy of 92.45%, outperforming </a:t>
            </a:r>
            <a:r>
              <a:rPr lang="en-US" dirty="0" err="1"/>
              <a:t>XGBoost</a:t>
            </a:r>
            <a:r>
              <a:rPr lang="en-US" dirty="0"/>
              <a:t> (92.0%) and </a:t>
            </a:r>
            <a:r>
              <a:rPr lang="en-US" dirty="0" err="1"/>
              <a:t>CatBoost</a:t>
            </a:r>
            <a:r>
              <a:rPr lang="en-US" dirty="0"/>
              <a:t> (90.3%).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 err="1"/>
              <a:t>LightGBM</a:t>
            </a:r>
            <a:r>
              <a:rPr lang="en-US" dirty="0"/>
              <a:t> also recorded the highest F1-Score (0.888), indicating balanced performance across all cookie types.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model effectively detected minority classes like Marketing and Analytics cookies with fewer false positives.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D101DE3-F634-199F-A64F-92C1EF24E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11" y="3176986"/>
            <a:ext cx="6867753" cy="144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36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635E0EED-6C6C-D8EA-B2DA-E5FD4A32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EA378431-7E8C-AD24-5232-C5EEF563B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4" name="Picture 3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EF5907B4-ABF9-FA6F-2C8C-10C72E2D07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25" y="1187059"/>
            <a:ext cx="3835831" cy="3505008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3D7DBF-32AE-420E-74E6-7B54C64B5C41}"/>
              </a:ext>
            </a:extLst>
          </p:cNvPr>
          <p:cNvSpPr txBox="1"/>
          <p:nvPr/>
        </p:nvSpPr>
        <p:spPr>
          <a:xfrm>
            <a:off x="3633281" y="4730596"/>
            <a:ext cx="18774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Fig : Raw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452105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6C3A774E-C8C8-473D-D704-2FF62026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C6AFDE2E-A35F-52AA-61F6-ADE2C1656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D5D1B6F1-F1E0-651A-66CD-9BE56A657BD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b="1" dirty="0" err="1"/>
              <a:t>Lightgbm</a:t>
            </a:r>
            <a:r>
              <a:rPr lang="en-US" b="1" dirty="0"/>
              <a:t> Evaluation: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 Essential cookies were detected with a precision above 93%, showing high reliability in recognizing authentication and session cookies.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Marketing cookies achieved a recall of over 94%, confirming robust detection of tracking and advertising-related cookies.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Analytics and functional cookies showed occasional overlap as they often share similar attribute patterns like Secure or </a:t>
            </a:r>
            <a:r>
              <a:rPr lang="en-US" dirty="0" err="1"/>
              <a:t>SameSite</a:t>
            </a:r>
            <a:r>
              <a:rPr lang="en-US" dirty="0"/>
              <a:t> flags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Overall, misclassifications remained below 10%.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US" dirty="0"/>
          </a:p>
          <a:p>
            <a:pPr marL="0" lvl="0" indent="0" algn="just"/>
            <a:endParaRPr lang="en-US" b="1" dirty="0"/>
          </a:p>
          <a:p>
            <a:pPr marL="0" lvl="0" indent="0" algn="just"/>
            <a:endParaRPr lang="en-US" b="1" dirty="0"/>
          </a:p>
        </p:txBody>
      </p:sp>
      <p:pic>
        <p:nvPicPr>
          <p:cNvPr id="3" name="Picture 2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0F63B021-2871-941B-24D2-C5530908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660" y="3280900"/>
            <a:ext cx="5230679" cy="1370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AD072D-00C8-6C7A-1738-11F4C31C6C2E}"/>
              </a:ext>
            </a:extLst>
          </p:cNvPr>
          <p:cNvSpPr txBox="1"/>
          <p:nvPr/>
        </p:nvSpPr>
        <p:spPr>
          <a:xfrm>
            <a:off x="3211885" y="4549333"/>
            <a:ext cx="30059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Fig showing category-wise score for </a:t>
            </a:r>
            <a:r>
              <a:rPr lang="en-US" sz="1100" i="1" dirty="0" err="1"/>
              <a:t>lightgbm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737025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0680A0C8-26E0-E2C3-1729-1A68414D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F9E654CA-8E1B-583D-B6EB-FE2BEDAC2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5157C64C-6398-B5E6-63C3-6508A89EE79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b="1" dirty="0"/>
              <a:t>PIR Like </a:t>
            </a:r>
            <a:r>
              <a:rPr lang="en-US" b="1" dirty="0" err="1"/>
              <a:t>Encrpytion</a:t>
            </a:r>
            <a:r>
              <a:rPr lang="en-US" b="1" dirty="0"/>
              <a:t>: 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browser extension receives a unique encryption key from the server, which is used to encrypt sensitive cookie data.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server performs operations directly on encrypted data and returns an encrypted response to the client.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extension then decrypts the response locally, ensuring that no sensitive information ever leaves the user’s control.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The server performs ‘all’ or ‘none’ retrieval of cookies stored in the </a:t>
            </a:r>
            <a:r>
              <a:rPr lang="en-US" dirty="0" err="1"/>
              <a:t>db</a:t>
            </a:r>
            <a:r>
              <a:rPr lang="en-US" dirty="0"/>
              <a:t> to ensure not leaking the particular cookie being retrieved by the extension.</a:t>
            </a:r>
          </a:p>
          <a:p>
            <a:pPr marL="0" lvl="0" indent="0"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0988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8568C939-4F62-0813-4F2E-9966A9B0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62EAA470-A6A2-A4E8-0596-2C5E52B4E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Conclusion and Future Scope</a:t>
            </a:r>
            <a:endParaRPr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5CAE14C2-4D90-0C31-294A-44D859817E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Conclusion: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Proposed a hybrid ML + PIR solution for privacy-preserving cookie management.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LightGBM</a:t>
            </a:r>
            <a:r>
              <a:rPr lang="en-US" dirty="0"/>
              <a:t> achieved high accuracy with low overhead.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Browser extension ensures transparency and real-time privacy.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b="1" dirty="0"/>
              <a:t>Future Work: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Add behavioral and network-level features for better detection.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Explore multi-server PIR for stronger privacy guarantees.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Deploy as open-source plugin for public adoption.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367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2EFC88C0-1364-06EC-C62C-CAF63DB2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0F4257FB-4676-6190-FF4E-B1EF09B29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Outcomes Achieved</a:t>
            </a:r>
            <a:endParaRPr lang="en-US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735B1C9E-97AD-C17A-05CB-7A4657A5FBB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893" y="1177431"/>
            <a:ext cx="7613937" cy="381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Developed a fully functional browser extension that automatically detects, classifies, and manages cookies in real time using a trained ML model.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Achieved a classification accuracy of 92.45% with the </a:t>
            </a:r>
            <a:r>
              <a:rPr lang="en-US" dirty="0" err="1"/>
              <a:t>LightGBM</a:t>
            </a:r>
            <a:r>
              <a:rPr lang="en-US" dirty="0"/>
              <a:t> model, outperforming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CatBoost</a:t>
            </a:r>
            <a:r>
              <a:rPr lang="en-US" dirty="0"/>
              <a:t> across all key metrics.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Demonstrated end-to-end encryption between the browser extension and the PIR server, ensuring that cookie data remains confidential at all times.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Ensured full compliance with GDPR and CCPA principles by providing a technically enforced privacy framework instead of relying solely on user consent.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Validated the model’s scalability and </a:t>
            </a:r>
            <a:r>
              <a:rPr lang="en-US" dirty="0" err="1"/>
              <a:t>deployability</a:t>
            </a:r>
            <a:r>
              <a:rPr lang="en-US" dirty="0"/>
              <a:t> by containerizing the backend and exporting the classifier in ONNX format for lightweight browser-side inference.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Delivered a transparent and user-controllable privacy solution through a dashboard that allows real-time monitoring, cookie filtering, and secure handling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855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5A50F-3154-E54B-E441-A385F27564E6}"/>
              </a:ext>
            </a:extLst>
          </p:cNvPr>
          <p:cNvSpPr txBox="1"/>
          <p:nvPr/>
        </p:nvSpPr>
        <p:spPr>
          <a:xfrm>
            <a:off x="720000" y="1173182"/>
            <a:ext cx="79715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[1] Berens, B. M.,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Bohlender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M.,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Dietmann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H.,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Krisam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C., Kulyk, O., &amp;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Volkamer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M. (2024). Cookie disclaimers: Dark patterns and lack of transparency. Computers &amp; Security, 135, 103507.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[2]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Kosztyán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Z. T.,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Király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T.,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Csizmadia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T., Katona, A. I., &amp;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Vathy-Fogarassy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Á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. (2025). Automated research methodology classification using machine learning. Engineering Applications of Artificial Intelligence, 132, 107007.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[3] Hu, X., Sastry, N., &amp; Mondal, M. (2021). Corralling cookies into categories with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CookieMonster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. In Proceedings of the ACM Web Science Conference (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WebSci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 ’21) (pp. 56–65). ACM. 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[4] U., Englehardt, S., Shafi, Z., &amp; Troncoso, C. (2023). Understanding and detecting first-party tracking cookies. ACM SIGSAC Conference on Computer &amp; Communications Security.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[5]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Bouhoula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A.,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Kubicek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K., Zac, A.,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Cotrini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C., &amp; Basin, D. (2023). Automated large-scale analysis of cookie notice compliance. In 32nd USENIX Security Symposium (USENIX Security 23) (pp. 4069–4086). USENIX Association.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[6] Bollinger, D.,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Kubicek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K., </a:t>
            </a:r>
            <a:r>
              <a:rPr lang="en-IN" dirty="0" err="1">
                <a:solidFill>
                  <a:srgbClr val="384554"/>
                </a:solidFill>
                <a:latin typeface="DM Sans" pitchFamily="2" charset="77"/>
              </a:rPr>
              <a:t>Cotrini</a:t>
            </a:r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, C., &amp; Basin, D. (2022, August). Automating cookie consent and GDPR violation detection. In 31st USENIX Security Symposium (USENIX Security 22).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[7] Sivan-Sevilla, I., Parham, P., &amp; McGuigan, L. (2025). ‘Cookie-less’ identification for/against privacy? Internet Policy Review, 14(3).</a:t>
            </a:r>
          </a:p>
          <a:p>
            <a:r>
              <a:rPr lang="en-IN" dirty="0">
                <a:solidFill>
                  <a:srgbClr val="384554"/>
                </a:solidFill>
                <a:latin typeface="DM Sans" pitchFamily="2" charset="77"/>
              </a:rPr>
              <a:t>[8] Luo, M., &amp; Wang, M. (2025). Faster Spiral: Low-communication, high-rate private information retrieval. Cryptography, 9(1),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1736</Words>
  <Application>Microsoft Macintosh PowerPoint</Application>
  <PresentationFormat>On-screen Show (16:9)</PresentationFormat>
  <Paragraphs>134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Outfit</vt:lpstr>
      <vt:lpstr>Wingdings</vt:lpstr>
      <vt:lpstr>Nunito Light</vt:lpstr>
      <vt:lpstr>DM Sans</vt:lpstr>
      <vt:lpstr>Arial</vt:lpstr>
      <vt:lpstr>Data Collection and Analysis - Master of Science in Community Health and Prevention Research by Slidesgo</vt:lpstr>
      <vt:lpstr>Selective Cookie Outsourcing using Private Information Retrieval</vt:lpstr>
      <vt:lpstr>Aim</vt:lpstr>
      <vt:lpstr>Motivation</vt:lpstr>
      <vt:lpstr>Literature Review</vt:lpstr>
      <vt:lpstr>Research Gaps</vt:lpstr>
      <vt:lpstr>Problem Formulation</vt:lpstr>
      <vt:lpstr>Proposed System</vt:lpstr>
      <vt:lpstr>End-to-End Working of the Cookie Privacy Framework</vt:lpstr>
      <vt:lpstr>End-to-End Working of the Cookie Privacy Framework</vt:lpstr>
      <vt:lpstr>System Design</vt:lpstr>
      <vt:lpstr>Experimental Results</vt:lpstr>
      <vt:lpstr>Experimental Results</vt:lpstr>
      <vt:lpstr>Experimental Results</vt:lpstr>
      <vt:lpstr>Experimental Results</vt:lpstr>
      <vt:lpstr>Experimental Results</vt:lpstr>
      <vt:lpstr>Conclusion and Future Scope</vt:lpstr>
      <vt:lpstr>Outcomes Achieved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Apoorva Karnwal</cp:lastModifiedBy>
  <cp:revision>7</cp:revision>
  <dcterms:modified xsi:type="dcterms:W3CDTF">2025-11-05T05:34:44Z</dcterms:modified>
</cp:coreProperties>
</file>