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56" r:id="rId2"/>
    <p:sldId id="257" r:id="rId3"/>
    <p:sldId id="258" r:id="rId4"/>
    <p:sldId id="290" r:id="rId5"/>
    <p:sldId id="261" r:id="rId6"/>
    <p:sldId id="273" r:id="rId7"/>
    <p:sldId id="263" r:id="rId8"/>
    <p:sldId id="264" r:id="rId9"/>
    <p:sldId id="289" r:id="rId10"/>
    <p:sldId id="270" r:id="rId11"/>
    <p:sldId id="262" r:id="rId12"/>
    <p:sldId id="281" r:id="rId13"/>
  </p:sldIdLst>
  <p:sldSz cx="9144000" cy="5143500" type="screen16x9"/>
  <p:notesSz cx="6858000" cy="9144000"/>
  <p:embeddedFontLst>
    <p:embeddedFont>
      <p:font typeface="DM Sans" pitchFamily="2" charset="77"/>
      <p:regular r:id="rId15"/>
      <p:bold r:id="rId16"/>
      <p:italic r:id="rId17"/>
      <p:boldItalic r:id="rId18"/>
    </p:embeddedFont>
    <p:embeddedFont>
      <p:font typeface="Nunito Light" panose="020F0302020204030204" pitchFamily="34" charset="0"/>
      <p:regular r:id="rId19"/>
      <p:italic r:id="rId20"/>
    </p:embeddedFont>
    <p:embeddedFont>
      <p:font typeface="Outfit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26A054-CD98-45DD-9F41-E19F69198A29}">
  <a:tblStyle styleId="{A126A054-CD98-45DD-9F41-E19F69198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19"/>
  </p:normalViewPr>
  <p:slideViewPr>
    <p:cSldViewPr snapToGrid="0">
      <p:cViewPr varScale="1">
        <p:scale>
          <a:sx n="155" d="100"/>
          <a:sy n="155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2FA7CDA4-01BB-5D7F-F643-3D11181D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>
            <a:extLst>
              <a:ext uri="{FF2B5EF4-FFF2-40B4-BE49-F238E27FC236}">
                <a16:creationId xmlns:a16="http://schemas.microsoft.com/office/drawing/2014/main" id="{9CA5552B-B256-8578-3042-58752F670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>
            <a:extLst>
              <a:ext uri="{FF2B5EF4-FFF2-40B4-BE49-F238E27FC236}">
                <a16:creationId xmlns:a16="http://schemas.microsoft.com/office/drawing/2014/main" id="{A15D19E0-614C-D7DC-4F9B-9EF0C87E6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408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8" r:id="rId6"/>
    <p:sldLayoutId id="2147483659" r:id="rId7"/>
    <p:sldLayoutId id="2147483663" r:id="rId8"/>
    <p:sldLayoutId id="2147483665" r:id="rId9"/>
    <p:sldLayoutId id="2147483670" r:id="rId10"/>
    <p:sldLayoutId id="2147483671" r:id="rId11"/>
    <p:sldLayoutId id="2147483672" r:id="rId12"/>
    <p:sldLayoutId id="2147483677" r:id="rId13"/>
    <p:sldLayoutId id="214748367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471550" y="1156001"/>
            <a:ext cx="5312563" cy="9190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</a:rPr>
              <a:t>Selective Cookie Outsourcing using Private Information Retrieval</a:t>
            </a:r>
            <a:endParaRPr sz="48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46" name="Google Shape;346;p36"/>
          <p:cNvCxnSpPr/>
          <p:nvPr/>
        </p:nvCxnSpPr>
        <p:spPr>
          <a:xfrm>
            <a:off x="549311" y="968122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303873" y="-438051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566974-9B02-CEEE-F244-AEF8C766A3B6}"/>
              </a:ext>
            </a:extLst>
          </p:cNvPr>
          <p:cNvSpPr txBox="1"/>
          <p:nvPr/>
        </p:nvSpPr>
        <p:spPr>
          <a:xfrm>
            <a:off x="471550" y="2264349"/>
            <a:ext cx="5654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DM Sans" pitchFamily="2" charset="77"/>
              </a:rPr>
              <a:t>Students: </a:t>
            </a:r>
            <a:r>
              <a:rPr lang="en-IN" sz="1600" dirty="0">
                <a:latin typeface="DM Sans" pitchFamily="2" charset="77"/>
              </a:rPr>
              <a:t>Apoorva Karnwal (22BCE0756), </a:t>
            </a:r>
          </a:p>
          <a:p>
            <a:r>
              <a:rPr lang="en-IN" sz="1600" dirty="0">
                <a:latin typeface="DM Sans" pitchFamily="2" charset="77"/>
              </a:rPr>
              <a:t>Shivesh Kaushik (22BCE2232)</a:t>
            </a:r>
          </a:p>
          <a:p>
            <a:r>
              <a:rPr lang="en-IN" sz="1600" b="1" dirty="0">
                <a:latin typeface="DM Sans" pitchFamily="2" charset="77"/>
              </a:rPr>
              <a:t>Guide:</a:t>
            </a:r>
            <a:r>
              <a:rPr lang="en-IN" sz="1600" dirty="0">
                <a:latin typeface="DM Sans" pitchFamily="2" charset="77"/>
              </a:rPr>
              <a:t> Prof. Kathiravan Srinivasan, Professor Grade 1</a:t>
            </a:r>
          </a:p>
          <a:p>
            <a:r>
              <a:rPr lang="en-IN" sz="1600" b="1" dirty="0">
                <a:latin typeface="DM Sans" pitchFamily="2" charset="77"/>
              </a:rPr>
              <a:t>School:</a:t>
            </a:r>
            <a:r>
              <a:rPr lang="en-IN" sz="1600" dirty="0">
                <a:latin typeface="DM Sans" pitchFamily="2" charset="77"/>
              </a:rPr>
              <a:t> SCOPE, VIT</a:t>
            </a:r>
          </a:p>
          <a:p>
            <a:r>
              <a:rPr lang="en-IN" sz="1600" b="1" dirty="0">
                <a:latin typeface="DM Sans" pitchFamily="2" charset="77"/>
              </a:rPr>
              <a:t>Programme:</a:t>
            </a:r>
            <a:r>
              <a:rPr lang="en-IN" sz="1600" dirty="0">
                <a:latin typeface="DM Sans" pitchFamily="2" charset="77"/>
              </a:rPr>
              <a:t> B.Tech. in Computer Science &amp; Engineering </a:t>
            </a:r>
          </a:p>
          <a:p>
            <a:r>
              <a:rPr lang="en-IN" sz="1600" b="1" dirty="0">
                <a:latin typeface="DM Sans" pitchFamily="2" charset="77"/>
              </a:rPr>
              <a:t>Date:</a:t>
            </a:r>
            <a:r>
              <a:rPr lang="en-IN" sz="1600" dirty="0">
                <a:latin typeface="DM Sans" pitchFamily="2" charset="77"/>
              </a:rPr>
              <a:t> September 2025</a:t>
            </a:r>
          </a:p>
        </p:txBody>
      </p:sp>
      <p:pic>
        <p:nvPicPr>
          <p:cNvPr id="4" name="Picture 3" descr="VIT&#10;">
            <a:extLst>
              <a:ext uri="{FF2B5EF4-FFF2-40B4-BE49-F238E27FC236}">
                <a16:creationId xmlns:a16="http://schemas.microsoft.com/office/drawing/2014/main" id="{A4ABAA7A-ABFF-D477-4FEF-7EE83148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4" b="12134"/>
          <a:stretch/>
        </p:blipFill>
        <p:spPr>
          <a:xfrm>
            <a:off x="1560468" y="3875200"/>
            <a:ext cx="2506981" cy="1035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Abstract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3" name="Google Shape;373;p37"/>
          <p:cNvSpPr txBox="1">
            <a:spLocks noGrp="1"/>
          </p:cNvSpPr>
          <p:nvPr>
            <p:ph type="body" idx="1"/>
          </p:nvPr>
        </p:nvSpPr>
        <p:spPr>
          <a:xfrm>
            <a:off x="777665" y="1170519"/>
            <a:ext cx="7704000" cy="3294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Http Cookies or Browser cookies enable authentication, personalization, and analytics but also create privacy risks through tracking and profiling.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Current compliance mechanisms (cookie banners, CMPs) provide legal consent management but fail to ensure strong privacy protection.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ML models (XGBoost, LightGBM, CatBoost) classify cookies into essential, functional, analytics, and marketing.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Sensitive cookies are selectively outsourced using PIR with homomorphic encryption for secure retrieval.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A browser extension is developed as the client agent to monitor cookies, run classification, and apply selective PIR-based storage.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The framework ensures a scalable, deployable solution that balances privacy, usability, and performance.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C4E5E-317D-8F18-F134-23D44FE19B99}"/>
              </a:ext>
            </a:extLst>
          </p:cNvPr>
          <p:cNvSpPr txBox="1"/>
          <p:nvPr/>
        </p:nvSpPr>
        <p:spPr>
          <a:xfrm>
            <a:off x="2139885" y="29223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4E6F7E4B-1572-B88D-3271-23F2E4817542}"/>
              </a:ext>
            </a:extLst>
          </p:cNvPr>
          <p:cNvSpPr txBox="1">
            <a:spLocks/>
          </p:cNvSpPr>
          <p:nvPr/>
        </p:nvSpPr>
        <p:spPr>
          <a:xfrm>
            <a:off x="1058723" y="1168004"/>
            <a:ext cx="7576230" cy="353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en-IN" sz="1800" b="1" dirty="0">
                <a:solidFill>
                  <a:schemeClr val="tx1">
                    <a:lumMod val="50000"/>
                  </a:schemeClr>
                </a:solidFill>
              </a:rPr>
              <a:t>Background</a:t>
            </a:r>
          </a:p>
          <a:p>
            <a:pPr marL="0" indent="0" algn="l"/>
            <a:r>
              <a:rPr lang="en-IN" b="1" dirty="0"/>
              <a:t>HTTP Cookies</a:t>
            </a:r>
            <a:r>
              <a:rPr lang="en-IN" dirty="0"/>
              <a:t>: Small data-value pairs stored in browsers to maintain state in a stateless web.</a:t>
            </a:r>
          </a:p>
          <a:p>
            <a:pPr marL="0" indent="0" algn="l"/>
            <a:r>
              <a:rPr lang="en-IN" b="1" dirty="0"/>
              <a:t>Functions</a:t>
            </a:r>
            <a:r>
              <a:rPr lang="en-IN" dirty="0"/>
              <a:t>: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Session management (login, carts),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Personalization (preferences, themes),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Analytics &amp; targeted advertising.</a:t>
            </a:r>
          </a:p>
          <a:p>
            <a:pPr marL="0" indent="0" algn="l"/>
            <a:r>
              <a:rPr lang="en-IN" b="1" dirty="0"/>
              <a:t>Key Attributes</a:t>
            </a:r>
            <a:r>
              <a:rPr lang="en-IN" dirty="0"/>
              <a:t>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Domain &amp; Path: Scope of cookie.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Secure: Sent only over HTTPS.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HttpOnly: Not accessible via JavaScript.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SameSite: Controls cross-site access (Strict, Lax, None).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dirty="0"/>
              <a:t>Expiry: Session or persistent cookies.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0DC10396-010F-AE49-12A4-7DEEF84D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>
            <a:extLst>
              <a:ext uri="{FF2B5EF4-FFF2-40B4-BE49-F238E27FC236}">
                <a16:creationId xmlns:a16="http://schemas.microsoft.com/office/drawing/2014/main" id="{B2DD342B-2AA6-D629-FDB8-7B38B87CB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Introduction (Cont.)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0D37E67C-311B-A023-498A-4379BCE5BDA4}"/>
              </a:ext>
            </a:extLst>
          </p:cNvPr>
          <p:cNvSpPr txBox="1">
            <a:spLocks/>
          </p:cNvSpPr>
          <p:nvPr/>
        </p:nvSpPr>
        <p:spPr>
          <a:xfrm>
            <a:off x="1058723" y="1168004"/>
            <a:ext cx="7576230" cy="397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en-IN" sz="1800" b="1" dirty="0">
                <a:solidFill>
                  <a:schemeClr val="tx1">
                    <a:lumMod val="50000"/>
                  </a:schemeClr>
                </a:solidFill>
              </a:rPr>
              <a:t>Background</a:t>
            </a:r>
          </a:p>
          <a:p>
            <a:pPr marL="0" indent="0" algn="l"/>
            <a:r>
              <a:rPr lang="en-IN" b="1" dirty="0"/>
              <a:t>Private Information Retrieval (PIR)</a:t>
            </a:r>
            <a:endParaRPr lang="en-IN" dirty="0"/>
          </a:p>
          <a:p>
            <a:pPr marL="0" indent="0" algn="l"/>
            <a:r>
              <a:rPr lang="en-IN" b="1" dirty="0"/>
              <a:t>Concept: </a:t>
            </a:r>
            <a:r>
              <a:rPr lang="en-IN" dirty="0"/>
              <a:t>Allows users to retrieve data from a database without revealing which data was accessed.</a:t>
            </a:r>
          </a:p>
          <a:p>
            <a:pPr marL="0" indent="0" algn="l"/>
            <a:r>
              <a:rPr lang="en-IN" b="1" dirty="0"/>
              <a:t>How it Works: </a:t>
            </a:r>
            <a:r>
              <a:rPr lang="en-IN" dirty="0"/>
              <a:t>Uses cryptography (e.g., homomorphic encryption).</a:t>
            </a:r>
          </a:p>
          <a:p>
            <a:pPr marL="0" indent="0" algn="l"/>
            <a:r>
              <a:rPr lang="en-IN" dirty="0"/>
              <a:t>Prevents servers from learning user access patterns.</a:t>
            </a:r>
          </a:p>
          <a:p>
            <a:pPr marL="0" indent="0" algn="l"/>
            <a:r>
              <a:rPr lang="en-IN" b="1" dirty="0"/>
              <a:t>Types:</a:t>
            </a:r>
            <a:endParaRPr lang="en-IN" dirty="0"/>
          </a:p>
          <a:p>
            <a:pPr marL="0" indent="0" algn="l"/>
            <a:r>
              <a:rPr lang="en-IN" dirty="0"/>
              <a:t>Computational PIR (CPIR): Single-server, relies on encryption.</a:t>
            </a:r>
          </a:p>
          <a:p>
            <a:pPr marL="0" indent="0" algn="l"/>
            <a:r>
              <a:rPr lang="en-IN" dirty="0"/>
              <a:t>Information-Theoretic PIR (ITPIR): Multi-server, stronger privacy guarantees.</a:t>
            </a:r>
          </a:p>
          <a:p>
            <a:pPr marL="0" indent="0" algn="l"/>
            <a:endParaRPr lang="en-IN" sz="700" dirty="0"/>
          </a:p>
          <a:p>
            <a:pPr marL="0" indent="0" algn="l"/>
            <a:r>
              <a:rPr lang="en-IN" sz="1800" b="1" dirty="0">
                <a:solidFill>
                  <a:schemeClr val="tx1">
                    <a:lumMod val="50000"/>
                  </a:schemeClr>
                </a:solidFill>
              </a:rPr>
              <a:t>Motivation</a:t>
            </a:r>
          </a:p>
          <a:p>
            <a:pPr marL="0" indent="0" algn="just"/>
            <a:r>
              <a:rPr lang="en-IN" dirty="0"/>
              <a:t>Traditional compliance mechanisms like banners and CMPs only provide legal consent management, but fail to protect users from tracking and profiling. Our project addresses this gap by developing a hybrid framework that combines ML-based cookie classification with selective PIR storage to ensure privacy without sacrificing usability or performance.</a:t>
            </a:r>
          </a:p>
          <a:p>
            <a:pPr marL="0" indent="0" algn="l"/>
            <a:endParaRPr lang="en-IN" sz="18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6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Literature Review &amp; Research Gaps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tx1">
                    <a:lumMod val="50000"/>
                  </a:schemeClr>
                </a:solidFill>
              </a:rPr>
              <a:t>Literature Review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Consent Banners &amp; CMPs are often use dark patterns, and fail to enforce user choices.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Cookie Classification using ML (</a:t>
            </a:r>
            <a:r>
              <a:rPr lang="en-IN" dirty="0" err="1">
                <a:solidFill>
                  <a:srgbClr val="384554"/>
                </a:solidFill>
              </a:rPr>
              <a:t>CookieMonster</a:t>
            </a:r>
            <a:r>
              <a:rPr lang="en-IN" dirty="0">
                <a:solidFill>
                  <a:srgbClr val="384554"/>
                </a:solidFill>
              </a:rPr>
              <a:t>, </a:t>
            </a:r>
            <a:r>
              <a:rPr lang="en-IN" dirty="0" err="1">
                <a:solidFill>
                  <a:srgbClr val="384554"/>
                </a:solidFill>
              </a:rPr>
              <a:t>CookieGraph</a:t>
            </a:r>
            <a:r>
              <a:rPr lang="en-IN" dirty="0">
                <a:solidFill>
                  <a:srgbClr val="384554"/>
                </a:solidFill>
              </a:rPr>
              <a:t>) shows high accuracy with lexical, contextual, and behavioural features.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First-Party Tracking is increasing as trackers evade third-party restrictions.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Private Information Retrieval (PIR) has recent advances (e.g., Spiral PIR) reducing latency and improving practicality.</a:t>
            </a:r>
            <a:endParaRPr lang="en-IN" b="1" dirty="0">
              <a:solidFill>
                <a:srgbClr val="384554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tx1">
                    <a:lumMod val="50000"/>
                  </a:schemeClr>
                </a:solidFill>
              </a:rPr>
              <a:t>Research Gaps</a:t>
            </a:r>
            <a:endParaRPr lang="en-IN" b="1" dirty="0">
              <a:solidFill>
                <a:srgbClr val="384554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Consent mechanisms (CMPs, banners) are compliance-focused, not privacy-focused.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Websites often continue to set non-essential cookies even after rejection.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ML-based classification is effective at detection but does not enforce privacy.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PIR protocols provide strong privacy but are rarely applied in cookie management.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Gap: No integrated solution combining ML classification with selective PIR for scalable, privacy-preserving cookie management.</a:t>
            </a:r>
            <a:endParaRPr sz="1100" dirty="0">
              <a:solidFill>
                <a:srgbClr val="38455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Project Plan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Google Shape;457;p41">
            <a:extLst>
              <a:ext uri="{FF2B5EF4-FFF2-40B4-BE49-F238E27FC236}">
                <a16:creationId xmlns:a16="http://schemas.microsoft.com/office/drawing/2014/main" id="{9B62C11B-FEF6-075A-BDB5-21D45ECEBF8F}"/>
              </a:ext>
            </a:extLst>
          </p:cNvPr>
          <p:cNvSpPr txBox="1">
            <a:spLocks/>
          </p:cNvSpPr>
          <p:nvPr/>
        </p:nvSpPr>
        <p:spPr>
          <a:xfrm>
            <a:off x="907893" y="1177431"/>
            <a:ext cx="751610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Cookie Data Collection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Web scraping and labelled cookie collection from CMPs.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Data cleaning, preprocessing, and feature extraction.</a:t>
            </a:r>
          </a:p>
          <a:p>
            <a:pPr algn="just"/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pPr algn="just"/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Cookie Classification using ML</a:t>
            </a:r>
            <a:endParaRPr lang="en-IN" b="1" dirty="0">
              <a:solidFill>
                <a:srgbClr val="384554"/>
              </a:solidFill>
              <a:latin typeface="DM Sans" pitchFamily="2" charset="77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Train models (CatBoost, LightGBM, XGBoost) to classify cookies into the categories: Essential / Functional / Analytical / Marketing.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Validate and test classification performance (accuracy, F1-score).</a:t>
            </a:r>
          </a:p>
          <a:p>
            <a:pPr algn="just"/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pPr algn="just"/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PIR Implementation</a:t>
            </a:r>
            <a:endParaRPr lang="en-IN" sz="1800" b="1" dirty="0">
              <a:solidFill>
                <a:srgbClr val="384554"/>
              </a:solidFill>
              <a:latin typeface="DM Sans" pitchFamily="2" charset="77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Implement PIR protocols (CPIR &amp; ITPIR).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Test secure storage and retrieval of sensitive cookies.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pPr algn="just"/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System Integration</a:t>
            </a:r>
            <a:endParaRPr lang="en-IN" sz="1800" dirty="0">
              <a:solidFill>
                <a:srgbClr val="384554"/>
              </a:solidFill>
              <a:latin typeface="DM Sans" pitchFamily="2" charset="77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Integrate ML classification with PIR module.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Deploy and test in a browser extension environment.</a:t>
            </a:r>
            <a:endParaRPr lang="en-IN" sz="1100" dirty="0">
              <a:solidFill>
                <a:srgbClr val="384554"/>
              </a:solidFill>
              <a:latin typeface="DM Sans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Work Breakdown Structure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4" name="Picture 13" descr="A diagram of a company&#10;&#10;AI-generated content may be incorrect.">
            <a:extLst>
              <a:ext uri="{FF2B5EF4-FFF2-40B4-BE49-F238E27FC236}">
                <a16:creationId xmlns:a16="http://schemas.microsoft.com/office/drawing/2014/main" id="{A831523C-73D6-A2E7-24AE-EEA792415C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" t="8538" r="2020" b="9400"/>
          <a:stretch/>
        </p:blipFill>
        <p:spPr bwMode="auto">
          <a:xfrm>
            <a:off x="1148705" y="1282045"/>
            <a:ext cx="6846589" cy="3289955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974C4C-2E3E-603B-6AAE-6C495D64FAB5}"/>
              </a:ext>
            </a:extLst>
          </p:cNvPr>
          <p:cNvSpPr txBox="1"/>
          <p:nvPr/>
        </p:nvSpPr>
        <p:spPr>
          <a:xfrm>
            <a:off x="3230926" y="4679621"/>
            <a:ext cx="26821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DM Sans" pitchFamily="2" charset="77"/>
              </a:rPr>
              <a:t>Figure 1: WBS – Work Breakdown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6E4001-F007-D136-75EB-AD85860F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Gantt Chart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17460A-460C-1479-EFD7-EE0D430DA3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" r="2029"/>
          <a:stretch/>
        </p:blipFill>
        <p:spPr>
          <a:xfrm>
            <a:off x="829559" y="1260390"/>
            <a:ext cx="7539632" cy="33116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F673D8-98C0-A7E3-311A-144D792B5541}"/>
              </a:ext>
            </a:extLst>
          </p:cNvPr>
          <p:cNvSpPr txBox="1"/>
          <p:nvPr/>
        </p:nvSpPr>
        <p:spPr>
          <a:xfrm>
            <a:off x="3780758" y="4691555"/>
            <a:ext cx="1420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DM Sans" pitchFamily="2" charset="77"/>
              </a:rPr>
              <a:t>Figure 2: Gantt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Requirement Analysis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42424-2607-FF6B-B65A-A348DE2E32B1}"/>
              </a:ext>
            </a:extLst>
          </p:cNvPr>
          <p:cNvSpPr txBox="1"/>
          <p:nvPr/>
        </p:nvSpPr>
        <p:spPr>
          <a:xfrm>
            <a:off x="1124681" y="1300899"/>
            <a:ext cx="729931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Functional Requirements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Collect and preprocess cookies from websites.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Classify cookies using ML models (XGBoost, LightGBM, CatBoost).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Store sensitive cookies securely with PIR.</a:t>
            </a:r>
          </a:p>
          <a:p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Non-Functional Requirements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Low latency and high scalability.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Reliable handling of dynamic websites.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Seamless user browsing experience.</a:t>
            </a:r>
          </a:p>
          <a:p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Tools &amp; Software</a:t>
            </a:r>
            <a:endParaRPr lang="en-IN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Python, OpenWPM, Selenium (Firefox + geckodriver) for dynamic crawling.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scikit-learn / XGBoost / LightGBM / CatBoost for ML.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Cryptography libraries (for PIR / homomorphic encryption).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Docker, Git/GitHub for reproducible setup &amp; version control</a:t>
            </a:r>
            <a:endParaRPr dirty="0">
              <a:solidFill>
                <a:srgbClr val="384554"/>
              </a:solidFill>
              <a:latin typeface="DM Sans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F0D327A-7A84-7D38-0160-AD3FB34464D0}"/>
              </a:ext>
            </a:extLst>
          </p:cNvPr>
          <p:cNvSpPr txBox="1"/>
          <p:nvPr/>
        </p:nvSpPr>
        <p:spPr>
          <a:xfrm>
            <a:off x="3808429" y="4898176"/>
            <a:ext cx="16001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DM Sans" pitchFamily="2" charset="77"/>
              </a:rPr>
              <a:t>Figure 3: System Design</a:t>
            </a:r>
          </a:p>
        </p:txBody>
      </p:sp>
      <p:sp>
        <p:nvSpPr>
          <p:cNvPr id="15" name="Google Shape;1048;p69">
            <a:extLst>
              <a:ext uri="{FF2B5EF4-FFF2-40B4-BE49-F238E27FC236}">
                <a16:creationId xmlns:a16="http://schemas.microsoft.com/office/drawing/2014/main" id="{5E08795B-FDF8-F240-01BE-FC7E3D597D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System Design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25CDA3-B3FD-F001-EE7E-F0E4BCAC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451" y="1217081"/>
            <a:ext cx="5519098" cy="3581162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761067" y="1434550"/>
            <a:ext cx="4972540" cy="274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IN" sz="1400" dirty="0">
                <a:latin typeface="DM Sans" pitchFamily="2" charset="77"/>
              </a:rPr>
              <a:t>Proposed a hybrid framework combining ML classification with PIR for cookie privacy.</a:t>
            </a:r>
          </a:p>
          <a:p>
            <a:pPr algn="just"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IN" sz="1400" dirty="0">
                <a:latin typeface="DM Sans" pitchFamily="2" charset="77"/>
              </a:rPr>
              <a:t>Enables accurate identification of privacy-sensitive cookies.</a:t>
            </a:r>
          </a:p>
          <a:p>
            <a:pPr algn="just"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IN" sz="1400" dirty="0">
                <a:latin typeface="DM Sans" pitchFamily="2" charset="77"/>
              </a:rPr>
              <a:t>Selective PIR ensures strong privacy with reduced overhead.</a:t>
            </a:r>
          </a:p>
          <a:p>
            <a:pPr algn="just"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IN" sz="1400" dirty="0">
                <a:latin typeface="DM Sans" pitchFamily="2" charset="77"/>
              </a:rPr>
              <a:t>Maintains usability, efficiency, and scalability for real-world deployment.</a:t>
            </a:r>
          </a:p>
          <a:p>
            <a:pPr algn="just"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IN" sz="1400" dirty="0">
                <a:latin typeface="DM Sans" pitchFamily="2" charset="77"/>
              </a:rPr>
              <a:t>Provides a promising solution for privacy-conscious browsers and platforms.</a:t>
            </a:r>
          </a:p>
        </p:txBody>
      </p:sp>
      <p:grpSp>
        <p:nvGrpSpPr>
          <p:cNvPr id="464" name="Google Shape;464;p42"/>
          <p:cNvGrpSpPr/>
          <p:nvPr/>
        </p:nvGrpSpPr>
        <p:grpSpPr>
          <a:xfrm>
            <a:off x="5430930" y="0"/>
            <a:ext cx="4086563" cy="6064817"/>
            <a:chOff x="5430930" y="-445784"/>
            <a:chExt cx="4086563" cy="6064817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5A50F-3154-E54B-E441-A385F27564E6}"/>
              </a:ext>
            </a:extLst>
          </p:cNvPr>
          <p:cNvSpPr txBox="1"/>
          <p:nvPr/>
        </p:nvSpPr>
        <p:spPr>
          <a:xfrm>
            <a:off x="720000" y="1173182"/>
            <a:ext cx="79715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[1] Berens, B. M.,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Bohlender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M.,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Dietmann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H.,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Krisam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C., Kulyk, O., &amp;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Volkamer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M. (2024). Cookie disclaimers: Dark patterns and lack of transparency. Computers &amp; Security, 135, 103507.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[2]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Kosztyán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Z. T.,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Király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T.,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Csizmadia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T., Katona, A. I., &amp;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Vathy-Fogarassy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Á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. (2025). Automated research methodology classification using machine learning. Engineering Applications of Artificial Intelligence, 132, 107007.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[3] Hu, X., Sastry, N., &amp; Mondal, M. (2021). Corralling cookies into categories with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CookieMonster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. In Proceedings of the ACM Web Science Conference (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WebSci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 ’21) (pp. 56–65). ACM. 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[4] U., Englehardt, S., Shafi, Z., &amp; Troncoso, C. (2023). Understanding and detecting first-party tracking cookies. ACM SIGSAC Conference on Computer &amp; Communications Security.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[5]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Bouhoula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A.,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Kubicek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K., Zac, A.,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Cotrini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C., &amp; Basin, D. (2023). Automated large-scale analysis of cookie notice compliance. In 32nd USENIX Security Symposium (USENIX Security 23) (pp. 4069–4086). USENIX Association.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[6] Bollinger, D.,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Kubicek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K.,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Cotrini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C., &amp; Basin, D. (2022, August). Automating cookie consent and GDPR violation detection. In 31st USENIX Security Symposium (USENIX Security 22).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[7] Sivan-Sevilla, I., Parham, P., &amp; McGuigan, L. (2025). ‘Cookie-less’ identification for/against privacy? Internet Policy Review, 14(3).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[8] Luo, M., &amp; Wang, M. (2025). Faster Spiral: Low-communication, high-rate private information retrieval. Cryptography, 9(1),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</TotalTime>
  <Words>1136</Words>
  <Application>Microsoft Macintosh PowerPoint</Application>
  <PresentationFormat>On-screen Show (16:9)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Nunito Light</vt:lpstr>
      <vt:lpstr>DM Sans</vt:lpstr>
      <vt:lpstr>Arial</vt:lpstr>
      <vt:lpstr>Outfit</vt:lpstr>
      <vt:lpstr>Wingdings</vt:lpstr>
      <vt:lpstr>Data Collection and Analysis - Master of Science in Community Health and Prevention Research by Slidesgo</vt:lpstr>
      <vt:lpstr>Selective Cookie Outsourcing using Private Information Retrieval</vt:lpstr>
      <vt:lpstr>Abstract</vt:lpstr>
      <vt:lpstr>Introduction</vt:lpstr>
      <vt:lpstr>Introduction (Cont.)</vt:lpstr>
      <vt:lpstr>Literature Review &amp; Research Gaps</vt:lpstr>
      <vt:lpstr>Project Plan</vt:lpstr>
      <vt:lpstr>Work Breakdown Structure</vt:lpstr>
      <vt:lpstr>Gantt Chart</vt:lpstr>
      <vt:lpstr>Requirement Analysis</vt:lpstr>
      <vt:lpstr>System Design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Apoorva Karnwal</cp:lastModifiedBy>
  <cp:revision>7</cp:revision>
  <dcterms:modified xsi:type="dcterms:W3CDTF">2025-09-12T08:34:56Z</dcterms:modified>
</cp:coreProperties>
</file>