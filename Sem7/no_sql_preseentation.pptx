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4"/>
  </p:notesMasterIdLst>
  <p:sldIdLst>
    <p:sldId id="256" r:id="rId2"/>
    <p:sldId id="257" r:id="rId3"/>
    <p:sldId id="258" r:id="rId4"/>
    <p:sldId id="290" r:id="rId5"/>
    <p:sldId id="261" r:id="rId6"/>
    <p:sldId id="273" r:id="rId7"/>
    <p:sldId id="289" r:id="rId8"/>
    <p:sldId id="291" r:id="rId9"/>
    <p:sldId id="292" r:id="rId10"/>
    <p:sldId id="293" r:id="rId11"/>
    <p:sldId id="294" r:id="rId12"/>
    <p:sldId id="262" r:id="rId13"/>
  </p:sldIdLst>
  <p:sldSz cx="9144000" cy="5143500" type="screen16x9"/>
  <p:notesSz cx="6858000" cy="9144000"/>
  <p:embeddedFontLst>
    <p:embeddedFont>
      <p:font typeface="DM Sans" pitchFamily="2" charset="77"/>
      <p:regular r:id="rId15"/>
      <p:bold r:id="rId16"/>
      <p:italic r:id="rId17"/>
      <p:boldItalic r:id="rId18"/>
    </p:embeddedFont>
    <p:embeddedFont>
      <p:font typeface="Nunito Light" panose="020F0302020204030204" pitchFamily="34" charset="0"/>
      <p:regular r:id="rId19"/>
      <p:italic r:id="rId20"/>
    </p:embeddedFont>
    <p:embeddedFont>
      <p:font typeface="Outfit" pitchFamily="2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45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126A054-CD98-45DD-9F41-E19F69198A29}">
  <a:tblStyle styleId="{A126A054-CD98-45DD-9F41-E19F69198A2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8603FDC-E32A-4AB5-989C-0864C3EAD2B8}" styleName="Themed Style 2 –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–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93"/>
    <p:restoredTop sz="94694"/>
  </p:normalViewPr>
  <p:slideViewPr>
    <p:cSldViewPr snapToGrid="0">
      <p:cViewPr>
        <p:scale>
          <a:sx n="90" d="100"/>
          <a:sy n="90" d="100"/>
        </p:scale>
        <p:origin x="1000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>
          <a:extLst>
            <a:ext uri="{FF2B5EF4-FFF2-40B4-BE49-F238E27FC236}">
              <a16:creationId xmlns:a16="http://schemas.microsoft.com/office/drawing/2014/main" id="{2FA7CDA4-01BB-5D7F-F643-3D11181DB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d431007ba2_0_215:notes">
            <a:extLst>
              <a:ext uri="{FF2B5EF4-FFF2-40B4-BE49-F238E27FC236}">
                <a16:creationId xmlns:a16="http://schemas.microsoft.com/office/drawing/2014/main" id="{9CA5552B-B256-8578-3042-58752F6708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d431007ba2_0_215:notes">
            <a:extLst>
              <a:ext uri="{FF2B5EF4-FFF2-40B4-BE49-F238E27FC236}">
                <a16:creationId xmlns:a16="http://schemas.microsoft.com/office/drawing/2014/main" id="{A15D19E0-614C-D7DC-4F9B-9EF0C87E67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9408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d5260bdd85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d5260bdd85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1e71a4a866a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1e71a4a866a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4">
          <a:extLst>
            <a:ext uri="{FF2B5EF4-FFF2-40B4-BE49-F238E27FC236}">
              <a16:creationId xmlns:a16="http://schemas.microsoft.com/office/drawing/2014/main" id="{96224F91-F1C2-2A98-07D9-C6634CA90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1e71a4a866a_0_55:notes">
            <a:extLst>
              <a:ext uri="{FF2B5EF4-FFF2-40B4-BE49-F238E27FC236}">
                <a16:creationId xmlns:a16="http://schemas.microsoft.com/office/drawing/2014/main" id="{1D744FEF-A1CD-83C3-D125-81814A740D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1e71a4a866a_0_55:notes">
            <a:extLst>
              <a:ext uri="{FF2B5EF4-FFF2-40B4-BE49-F238E27FC236}">
                <a16:creationId xmlns:a16="http://schemas.microsoft.com/office/drawing/2014/main" id="{AC5F2FE7-CAAD-3D85-AEB9-559E3CFA3D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04331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4">
          <a:extLst>
            <a:ext uri="{FF2B5EF4-FFF2-40B4-BE49-F238E27FC236}">
              <a16:creationId xmlns:a16="http://schemas.microsoft.com/office/drawing/2014/main" id="{A36DAF7A-445D-8FC4-15F0-D1DB495C3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1e71a4a866a_0_55:notes">
            <a:extLst>
              <a:ext uri="{FF2B5EF4-FFF2-40B4-BE49-F238E27FC236}">
                <a16:creationId xmlns:a16="http://schemas.microsoft.com/office/drawing/2014/main" id="{E0B105FB-4E52-F212-9903-E663DBD483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1e71a4a866a_0_55:notes">
            <a:extLst>
              <a:ext uri="{FF2B5EF4-FFF2-40B4-BE49-F238E27FC236}">
                <a16:creationId xmlns:a16="http://schemas.microsoft.com/office/drawing/2014/main" id="{1C200DE2-037C-BB9E-8602-F2F6CC8AEF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52295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4">
          <a:extLst>
            <a:ext uri="{FF2B5EF4-FFF2-40B4-BE49-F238E27FC236}">
              <a16:creationId xmlns:a16="http://schemas.microsoft.com/office/drawing/2014/main" id="{738B3AA8-608D-D061-E66B-50D4C69B4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1e71a4a866a_0_55:notes">
            <a:extLst>
              <a:ext uri="{FF2B5EF4-FFF2-40B4-BE49-F238E27FC236}">
                <a16:creationId xmlns:a16="http://schemas.microsoft.com/office/drawing/2014/main" id="{191CFA20-658F-DC6A-BE99-639E86F2DF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1e71a4a866a_0_55:notes">
            <a:extLst>
              <a:ext uri="{FF2B5EF4-FFF2-40B4-BE49-F238E27FC236}">
                <a16:creationId xmlns:a16="http://schemas.microsoft.com/office/drawing/2014/main" id="{1CA7B5C3-6D24-2AF4-AC5D-363818C94C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42749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4">
          <a:extLst>
            <a:ext uri="{FF2B5EF4-FFF2-40B4-BE49-F238E27FC236}">
              <a16:creationId xmlns:a16="http://schemas.microsoft.com/office/drawing/2014/main" id="{696EF78B-F8A6-9FC3-EC25-5D44EC9D3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1e71a4a866a_0_55:notes">
            <a:extLst>
              <a:ext uri="{FF2B5EF4-FFF2-40B4-BE49-F238E27FC236}">
                <a16:creationId xmlns:a16="http://schemas.microsoft.com/office/drawing/2014/main" id="{F4B1F606-C03C-CB81-AB8C-25084A99C8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1e71a4a866a_0_55:notes">
            <a:extLst>
              <a:ext uri="{FF2B5EF4-FFF2-40B4-BE49-F238E27FC236}">
                <a16:creationId xmlns:a16="http://schemas.microsoft.com/office/drawing/2014/main" id="{CF4257D9-EBE8-6ECC-0E4E-A67FA09187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21367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4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7" name="Google Shape;17;p4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4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4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4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6"/>
          <p:cNvGrpSpPr/>
          <p:nvPr/>
        </p:nvGrpSpPr>
        <p:grpSpPr>
          <a:xfrm>
            <a:off x="-247298" y="-284290"/>
            <a:ext cx="9638600" cy="5868163"/>
            <a:chOff x="-247298" y="-284290"/>
            <a:chExt cx="9638600" cy="5868163"/>
          </a:xfrm>
        </p:grpSpPr>
        <p:sp>
          <p:nvSpPr>
            <p:cNvPr id="44" name="Google Shape;44;p6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6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6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 rot="10800000" flipH="1">
              <a:off x="-125473" y="12348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6"/>
            <p:cNvSpPr/>
            <p:nvPr/>
          </p:nvSpPr>
          <p:spPr>
            <a:xfrm rot="10800000" flipH="1">
              <a:off x="-125483" y="-28429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6"/>
            <p:cNvSpPr/>
            <p:nvPr/>
          </p:nvSpPr>
          <p:spPr>
            <a:xfrm rot="10800000" flipH="1">
              <a:off x="8424002" y="12348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6"/>
            <p:cNvSpPr/>
            <p:nvPr/>
          </p:nvSpPr>
          <p:spPr>
            <a:xfrm rot="10800000" flipH="1">
              <a:off x="8423992" y="-28429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ubTitle" idx="1"/>
          </p:nvPr>
        </p:nvSpPr>
        <p:spPr>
          <a:xfrm>
            <a:off x="720000" y="1652075"/>
            <a:ext cx="4294800" cy="213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3"/>
          <p:cNvGrpSpPr/>
          <p:nvPr/>
        </p:nvGrpSpPr>
        <p:grpSpPr>
          <a:xfrm>
            <a:off x="-417711" y="-428628"/>
            <a:ext cx="9979385" cy="6000759"/>
            <a:chOff x="-417711" y="-428628"/>
            <a:chExt cx="9979385" cy="6000759"/>
          </a:xfrm>
        </p:grpSpPr>
        <p:sp>
          <p:nvSpPr>
            <p:cNvPr id="70" name="Google Shape;70;p13"/>
            <p:cNvSpPr/>
            <p:nvPr/>
          </p:nvSpPr>
          <p:spPr>
            <a:xfrm>
              <a:off x="421002" y="-4286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7884277" y="-4286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8430764" y="554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8430764" y="7462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-125486" y="554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-125486" y="7462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-417711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8722964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Google Shape;78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"/>
          </p:nvPr>
        </p:nvSpPr>
        <p:spPr>
          <a:xfrm>
            <a:off x="720000" y="21784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2"/>
          </p:nvPr>
        </p:nvSpPr>
        <p:spPr>
          <a:xfrm>
            <a:off x="3419271" y="21784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3"/>
          </p:nvPr>
        </p:nvSpPr>
        <p:spPr>
          <a:xfrm>
            <a:off x="720000" y="39116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4"/>
          </p:nvPr>
        </p:nvSpPr>
        <p:spPr>
          <a:xfrm>
            <a:off x="3419271" y="39116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5"/>
          </p:nvPr>
        </p:nvSpPr>
        <p:spPr>
          <a:xfrm>
            <a:off x="6118549" y="21784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6"/>
          </p:nvPr>
        </p:nvSpPr>
        <p:spPr>
          <a:xfrm>
            <a:off x="6118549" y="39116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7" hasCustomPrompt="1"/>
          </p:nvPr>
        </p:nvSpPr>
        <p:spPr>
          <a:xfrm>
            <a:off x="1505400" y="1206926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8" hasCustomPrompt="1"/>
          </p:nvPr>
        </p:nvSpPr>
        <p:spPr>
          <a:xfrm>
            <a:off x="1505400" y="2939527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9" hasCustomPrompt="1"/>
          </p:nvPr>
        </p:nvSpPr>
        <p:spPr>
          <a:xfrm>
            <a:off x="4204671" y="1206926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13" hasCustomPrompt="1"/>
          </p:nvPr>
        </p:nvSpPr>
        <p:spPr>
          <a:xfrm>
            <a:off x="4204671" y="2939527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14" hasCustomPrompt="1"/>
          </p:nvPr>
        </p:nvSpPr>
        <p:spPr>
          <a:xfrm>
            <a:off x="6903950" y="1206926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5" hasCustomPrompt="1"/>
          </p:nvPr>
        </p:nvSpPr>
        <p:spPr>
          <a:xfrm>
            <a:off x="6903950" y="2939527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6"/>
          </p:nvPr>
        </p:nvSpPr>
        <p:spPr>
          <a:xfrm>
            <a:off x="720000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7"/>
          </p:nvPr>
        </p:nvSpPr>
        <p:spPr>
          <a:xfrm>
            <a:off x="3419271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18"/>
          </p:nvPr>
        </p:nvSpPr>
        <p:spPr>
          <a:xfrm>
            <a:off x="6118549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19"/>
          </p:nvPr>
        </p:nvSpPr>
        <p:spPr>
          <a:xfrm>
            <a:off x="720000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20"/>
          </p:nvPr>
        </p:nvSpPr>
        <p:spPr>
          <a:xfrm>
            <a:off x="3419271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21"/>
          </p:nvPr>
        </p:nvSpPr>
        <p:spPr>
          <a:xfrm>
            <a:off x="6118549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3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7"/>
          <p:cNvGrpSpPr/>
          <p:nvPr/>
        </p:nvGrpSpPr>
        <p:grpSpPr>
          <a:xfrm>
            <a:off x="-548808" y="-584898"/>
            <a:ext cx="10241610" cy="6168779"/>
            <a:chOff x="-548808" y="-584898"/>
            <a:chExt cx="10241610" cy="6168779"/>
          </a:xfrm>
        </p:grpSpPr>
        <p:sp>
          <p:nvSpPr>
            <p:cNvPr id="133" name="Google Shape;133;p17"/>
            <p:cNvSpPr/>
            <p:nvPr/>
          </p:nvSpPr>
          <p:spPr>
            <a:xfrm>
              <a:off x="293877" y="46157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7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7"/>
            <p:cNvSpPr/>
            <p:nvPr/>
          </p:nvSpPr>
          <p:spPr>
            <a:xfrm rot="10800000" flipH="1">
              <a:off x="-129123" y="44966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7"/>
            <p:cNvSpPr/>
            <p:nvPr/>
          </p:nvSpPr>
          <p:spPr>
            <a:xfrm rot="10800000" flipH="1">
              <a:off x="-548808" y="449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185192" y="-58489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7"/>
            <p:cNvSpPr/>
            <p:nvPr/>
          </p:nvSpPr>
          <p:spPr>
            <a:xfrm rot="10800000">
              <a:off x="8434407" y="44966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7"/>
            <p:cNvSpPr/>
            <p:nvPr/>
          </p:nvSpPr>
          <p:spPr>
            <a:xfrm rot="10800000">
              <a:off x="8854092" y="449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7"/>
            <p:cNvSpPr/>
            <p:nvPr/>
          </p:nvSpPr>
          <p:spPr>
            <a:xfrm flipH="1">
              <a:off x="8120092" y="-58489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1" name="Google Shape;141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25"/>
          <p:cNvGrpSpPr/>
          <p:nvPr/>
        </p:nvGrpSpPr>
        <p:grpSpPr>
          <a:xfrm>
            <a:off x="-655296" y="3436585"/>
            <a:ext cx="10454595" cy="2311221"/>
            <a:chOff x="-655296" y="3436585"/>
            <a:chExt cx="10454595" cy="2311221"/>
          </a:xfrm>
        </p:grpSpPr>
        <p:sp>
          <p:nvSpPr>
            <p:cNvPr id="232" name="Google Shape;232;p25"/>
            <p:cNvSpPr/>
            <p:nvPr/>
          </p:nvSpPr>
          <p:spPr>
            <a:xfrm rot="10800000" flipH="1">
              <a:off x="-136836" y="34365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5"/>
            <p:cNvSpPr/>
            <p:nvPr/>
          </p:nvSpPr>
          <p:spPr>
            <a:xfrm>
              <a:off x="183414" y="454091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5"/>
            <p:cNvSpPr/>
            <p:nvPr/>
          </p:nvSpPr>
          <p:spPr>
            <a:xfrm rot="10800000" flipH="1">
              <a:off x="-655296" y="390306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5"/>
            <p:cNvSpPr/>
            <p:nvPr/>
          </p:nvSpPr>
          <p:spPr>
            <a:xfrm rot="10800000">
              <a:off x="8442129" y="34365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5"/>
            <p:cNvSpPr/>
            <p:nvPr/>
          </p:nvSpPr>
          <p:spPr>
            <a:xfrm flipH="1">
              <a:off x="8121879" y="454091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5"/>
            <p:cNvSpPr/>
            <p:nvPr/>
          </p:nvSpPr>
          <p:spPr>
            <a:xfrm rot="10800000">
              <a:off x="8960589" y="390306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5"/>
            <p:cNvSpPr/>
            <p:nvPr/>
          </p:nvSpPr>
          <p:spPr>
            <a:xfrm rot="10800000">
              <a:off x="7718714" y="47796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5"/>
            <p:cNvSpPr/>
            <p:nvPr/>
          </p:nvSpPr>
          <p:spPr>
            <a:xfrm rot="10800000">
              <a:off x="586589" y="47796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0" name="Google Shape;240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25"/>
          <p:cNvSpPr txBox="1">
            <a:spLocks noGrp="1"/>
          </p:cNvSpPr>
          <p:nvPr>
            <p:ph type="subTitle" idx="1"/>
          </p:nvPr>
        </p:nvSpPr>
        <p:spPr>
          <a:xfrm>
            <a:off x="4646250" y="1667625"/>
            <a:ext cx="3398400" cy="18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25"/>
          <p:cNvSpPr txBox="1">
            <a:spLocks noGrp="1"/>
          </p:cNvSpPr>
          <p:nvPr>
            <p:ph type="subTitle" idx="2"/>
          </p:nvPr>
        </p:nvSpPr>
        <p:spPr>
          <a:xfrm>
            <a:off x="1099338" y="1667625"/>
            <a:ext cx="3398400" cy="18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31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315" name="Google Shape;315;p31"/>
            <p:cNvSpPr/>
            <p:nvPr/>
          </p:nvSpPr>
          <p:spPr>
            <a:xfrm>
              <a:off x="-125573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1"/>
            <p:cNvSpPr/>
            <p:nvPr/>
          </p:nvSpPr>
          <p:spPr>
            <a:xfrm>
              <a:off x="-125583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1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1"/>
            <p:cNvSpPr/>
            <p:nvPr/>
          </p:nvSpPr>
          <p:spPr>
            <a:xfrm rot="10800000" flipH="1">
              <a:off x="346967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1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1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1"/>
            <p:cNvSpPr/>
            <p:nvPr/>
          </p:nvSpPr>
          <p:spPr>
            <a:xfrm>
              <a:off x="8430777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1"/>
            <p:cNvSpPr/>
            <p:nvPr/>
          </p:nvSpPr>
          <p:spPr>
            <a:xfrm>
              <a:off x="8430767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32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325" name="Google Shape;325;p32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326" name="Google Shape;326;p32"/>
              <p:cNvSpPr/>
              <p:nvPr/>
            </p:nvSpPr>
            <p:spPr>
              <a:xfrm rot="10800000" flipH="1">
                <a:off x="-266661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32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32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32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32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32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32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3" name="Google Shape;333;p32"/>
            <p:cNvSpPr/>
            <p:nvPr/>
          </p:nvSpPr>
          <p:spPr>
            <a:xfrm rot="10800000" flipH="1">
              <a:off x="293867" y="47973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3" r:id="rId4"/>
    <p:sldLayoutId id="2147483658" r:id="rId5"/>
    <p:sldLayoutId id="2147483659" r:id="rId6"/>
    <p:sldLayoutId id="2147483663" r:id="rId7"/>
    <p:sldLayoutId id="2147483671" r:id="rId8"/>
    <p:sldLayoutId id="2147483677" r:id="rId9"/>
    <p:sldLayoutId id="214748367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6"/>
          <p:cNvSpPr txBox="1">
            <a:spLocks noGrp="1"/>
          </p:cNvSpPr>
          <p:nvPr>
            <p:ph type="ctrTitle"/>
          </p:nvPr>
        </p:nvSpPr>
        <p:spPr>
          <a:xfrm>
            <a:off x="471550" y="616227"/>
            <a:ext cx="5312563" cy="145883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>
                <a:solidFill>
                  <a:schemeClr val="tx1">
                    <a:lumMod val="50000"/>
                  </a:schemeClr>
                </a:solidFill>
              </a:rPr>
              <a:t>Case Study: Key-Value Databases for Solar Remote Monitoring Systems</a:t>
            </a:r>
            <a:endParaRPr lang="en-IN" sz="48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346" name="Google Shape;346;p36"/>
          <p:cNvCxnSpPr>
            <a:cxnSpLocks/>
          </p:cNvCxnSpPr>
          <p:nvPr/>
        </p:nvCxnSpPr>
        <p:spPr>
          <a:xfrm>
            <a:off x="471550" y="542849"/>
            <a:ext cx="373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7" name="Google Shape;347;p36"/>
          <p:cNvGrpSpPr/>
          <p:nvPr/>
        </p:nvGrpSpPr>
        <p:grpSpPr>
          <a:xfrm>
            <a:off x="5303873" y="-438051"/>
            <a:ext cx="4275118" cy="6450405"/>
            <a:chOff x="5115337" y="-428624"/>
            <a:chExt cx="4275118" cy="6450405"/>
          </a:xfrm>
        </p:grpSpPr>
        <p:sp>
          <p:nvSpPr>
            <p:cNvPr id="348" name="Google Shape;348;p36"/>
            <p:cNvSpPr/>
            <p:nvPr/>
          </p:nvSpPr>
          <p:spPr>
            <a:xfrm rot="10800000" flipH="1">
              <a:off x="8492525" y="-1927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6"/>
            <p:cNvSpPr/>
            <p:nvPr/>
          </p:nvSpPr>
          <p:spPr>
            <a:xfrm>
              <a:off x="8551745" y="326783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6"/>
            <p:cNvSpPr/>
            <p:nvPr/>
          </p:nvSpPr>
          <p:spPr>
            <a:xfrm>
              <a:off x="6606686" y="25473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6"/>
            <p:cNvSpPr/>
            <p:nvPr/>
          </p:nvSpPr>
          <p:spPr>
            <a:xfrm>
              <a:off x="7103477" y="-1533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6"/>
            <p:cNvSpPr/>
            <p:nvPr/>
          </p:nvSpPr>
          <p:spPr>
            <a:xfrm>
              <a:off x="6684072" y="3184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6"/>
            <p:cNvSpPr/>
            <p:nvPr/>
          </p:nvSpPr>
          <p:spPr>
            <a:xfrm>
              <a:off x="6109895" y="119408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6"/>
            <p:cNvSpPr/>
            <p:nvPr/>
          </p:nvSpPr>
          <p:spPr>
            <a:xfrm>
              <a:off x="6109895" y="69774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6"/>
            <p:cNvSpPr/>
            <p:nvPr/>
          </p:nvSpPr>
          <p:spPr>
            <a:xfrm>
              <a:off x="7587339" y="1194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6"/>
            <p:cNvSpPr/>
            <p:nvPr/>
          </p:nvSpPr>
          <p:spPr>
            <a:xfrm>
              <a:off x="5634170" y="-42862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6"/>
            <p:cNvSpPr/>
            <p:nvPr/>
          </p:nvSpPr>
          <p:spPr>
            <a:xfrm>
              <a:off x="7017892" y="207505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6"/>
            <p:cNvSpPr/>
            <p:nvPr/>
          </p:nvSpPr>
          <p:spPr>
            <a:xfrm>
              <a:off x="5193798" y="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6"/>
            <p:cNvSpPr/>
            <p:nvPr/>
          </p:nvSpPr>
          <p:spPr>
            <a:xfrm>
              <a:off x="8068891" y="16222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6"/>
            <p:cNvSpPr/>
            <p:nvPr/>
          </p:nvSpPr>
          <p:spPr>
            <a:xfrm rot="10800000" flipH="1">
              <a:off x="5115337" y="36559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6"/>
            <p:cNvSpPr/>
            <p:nvPr/>
          </p:nvSpPr>
          <p:spPr>
            <a:xfrm rot="10800000" flipH="1">
              <a:off x="6606680" y="392470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6"/>
            <p:cNvSpPr/>
            <p:nvPr/>
          </p:nvSpPr>
          <p:spPr>
            <a:xfrm rot="10800000" flipH="1">
              <a:off x="5983934" y="50536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6"/>
            <p:cNvSpPr/>
            <p:nvPr/>
          </p:nvSpPr>
          <p:spPr>
            <a:xfrm rot="10800000" flipH="1">
              <a:off x="7178797" y="353334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6"/>
            <p:cNvSpPr/>
            <p:nvPr/>
          </p:nvSpPr>
          <p:spPr>
            <a:xfrm rot="10800000" flipH="1">
              <a:off x="6606686" y="460940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6"/>
            <p:cNvSpPr/>
            <p:nvPr/>
          </p:nvSpPr>
          <p:spPr>
            <a:xfrm rot="10800000" flipH="1">
              <a:off x="5526543" y="412830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6"/>
            <p:cNvSpPr/>
            <p:nvPr/>
          </p:nvSpPr>
          <p:spPr>
            <a:xfrm>
              <a:off x="8117298" y="285223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6"/>
            <p:cNvSpPr/>
            <p:nvPr/>
          </p:nvSpPr>
          <p:spPr>
            <a:xfrm>
              <a:off x="8172542" y="30360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D566974-9B02-CEEE-F244-AEF8C766A3B6}"/>
              </a:ext>
            </a:extLst>
          </p:cNvPr>
          <p:cNvSpPr txBox="1"/>
          <p:nvPr/>
        </p:nvSpPr>
        <p:spPr>
          <a:xfrm>
            <a:off x="471550" y="2160503"/>
            <a:ext cx="56546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DM Sans" pitchFamily="2" charset="77"/>
              </a:rPr>
              <a:t>Course: </a:t>
            </a:r>
            <a:r>
              <a:rPr lang="en-IN" sz="1600" dirty="0">
                <a:latin typeface="DM Sans" pitchFamily="2" charset="77"/>
              </a:rPr>
              <a:t>BCSE406L – NoSQL Databases</a:t>
            </a:r>
          </a:p>
          <a:p>
            <a:r>
              <a:rPr lang="en-IN" sz="1600" b="1" dirty="0">
                <a:latin typeface="DM Sans" pitchFamily="2" charset="77"/>
              </a:rPr>
              <a:t>Students: </a:t>
            </a:r>
            <a:r>
              <a:rPr lang="en-IN" sz="1600" dirty="0">
                <a:latin typeface="DM Sans" pitchFamily="2" charset="77"/>
              </a:rPr>
              <a:t>Apoorva Karnwal (22BCE0756), </a:t>
            </a:r>
          </a:p>
          <a:p>
            <a:r>
              <a:rPr lang="en-IN" sz="1600" dirty="0">
                <a:latin typeface="DM Sans" pitchFamily="2" charset="77"/>
              </a:rPr>
              <a:t>Shivesh Kaushik (22BCE2232)</a:t>
            </a:r>
          </a:p>
          <a:p>
            <a:r>
              <a:rPr lang="en-IN" sz="1600" b="1" dirty="0">
                <a:latin typeface="DM Sans" pitchFamily="2" charset="77"/>
              </a:rPr>
              <a:t>Faculty:</a:t>
            </a:r>
            <a:r>
              <a:rPr lang="en-IN" sz="1600" dirty="0">
                <a:latin typeface="DM Sans" pitchFamily="2" charset="77"/>
              </a:rPr>
              <a:t> Prof. Vani Rajasekar</a:t>
            </a:r>
          </a:p>
          <a:p>
            <a:r>
              <a:rPr lang="en-IN" sz="1600" b="1" dirty="0">
                <a:latin typeface="DM Sans" pitchFamily="2" charset="77"/>
              </a:rPr>
              <a:t>Programme:</a:t>
            </a:r>
            <a:r>
              <a:rPr lang="en-IN" sz="1600" dirty="0">
                <a:latin typeface="DM Sans" pitchFamily="2" charset="77"/>
              </a:rPr>
              <a:t> B.Tech. in Computer Science &amp; Engineering </a:t>
            </a:r>
          </a:p>
          <a:p>
            <a:r>
              <a:rPr lang="en-IN" sz="1600" b="1" dirty="0">
                <a:latin typeface="DM Sans" pitchFamily="2" charset="77"/>
              </a:rPr>
              <a:t>Date:</a:t>
            </a:r>
            <a:r>
              <a:rPr lang="en-IN" sz="1600" dirty="0">
                <a:latin typeface="DM Sans" pitchFamily="2" charset="77"/>
              </a:rPr>
              <a:t> November 2025</a:t>
            </a:r>
          </a:p>
        </p:txBody>
      </p:sp>
      <p:pic>
        <p:nvPicPr>
          <p:cNvPr id="4" name="Picture 3" descr="VIT&#10;">
            <a:extLst>
              <a:ext uri="{FF2B5EF4-FFF2-40B4-BE49-F238E27FC236}">
                <a16:creationId xmlns:a16="http://schemas.microsoft.com/office/drawing/2014/main" id="{A4ABAA7A-ABFF-D477-4FEF-7EE831481E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454" b="12134"/>
          <a:stretch/>
        </p:blipFill>
        <p:spPr>
          <a:xfrm>
            <a:off x="1560468" y="3875200"/>
            <a:ext cx="2506981" cy="10352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tx1">
                    <a:lumMod val="50000"/>
                  </a:schemeClr>
                </a:solidFill>
              </a:rPr>
              <a:t>Overview: Solar Remote Monitoring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73" name="Google Shape;373;p37"/>
          <p:cNvSpPr txBox="1">
            <a:spLocks noGrp="1"/>
          </p:cNvSpPr>
          <p:nvPr>
            <p:ph type="body" idx="1"/>
          </p:nvPr>
        </p:nvSpPr>
        <p:spPr>
          <a:xfrm>
            <a:off x="777665" y="1170519"/>
            <a:ext cx="7704000" cy="32944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IN" sz="1500" b="1" dirty="0"/>
              <a:t>Application Name:</a:t>
            </a:r>
            <a:r>
              <a:rPr lang="en-IN" sz="1500" dirty="0"/>
              <a:t> Solar Remote Monitoring System</a:t>
            </a:r>
          </a:p>
          <a:p>
            <a:pPr algn="just">
              <a:buFont typeface="Wingdings" pitchFamily="2" charset="2"/>
              <a:buChar char="Ø"/>
            </a:pPr>
            <a:r>
              <a:rPr lang="en-IN" sz="1500" b="1" dirty="0"/>
              <a:t>Purpose:</a:t>
            </a:r>
            <a:r>
              <a:rPr lang="en-IN" sz="1500" dirty="0"/>
              <a:t> To collect, store, and visualize data from solar power plants in real time.</a:t>
            </a:r>
          </a:p>
          <a:p>
            <a:pPr algn="just">
              <a:buFont typeface="Wingdings" pitchFamily="2" charset="2"/>
              <a:buChar char="Ø"/>
            </a:pPr>
            <a:r>
              <a:rPr lang="en-IN" sz="1500" b="1" dirty="0"/>
              <a:t>Users:</a:t>
            </a:r>
            <a:r>
              <a:rPr lang="en-IN" sz="1500" dirty="0"/>
              <a:t> Site operators, maintenance engineers, and energy analysts.</a:t>
            </a:r>
          </a:p>
          <a:p>
            <a:pPr algn="just">
              <a:buFont typeface="Wingdings" pitchFamily="2" charset="2"/>
              <a:buChar char="Ø"/>
            </a:pPr>
            <a:r>
              <a:rPr lang="en-IN" sz="1500" b="1" dirty="0"/>
              <a:t>Deployment:</a:t>
            </a:r>
            <a:r>
              <a:rPr lang="en-IN" sz="1500" dirty="0"/>
              <a:t> Across multiple solar sites, each containing different types and numbers of devices such as inverters, weather sensors, and pyranometers.</a:t>
            </a:r>
          </a:p>
          <a:p>
            <a:pPr algn="just">
              <a:buFont typeface="Wingdings" pitchFamily="2" charset="2"/>
              <a:buChar char="Ø"/>
            </a:pPr>
            <a:r>
              <a:rPr lang="en-IN" sz="1500" b="1" dirty="0"/>
              <a:t>Objective:</a:t>
            </a:r>
            <a:r>
              <a:rPr lang="en-IN" sz="1500" dirty="0"/>
              <a:t> To build a scalable, flexible, and real-time monitoring system using a Key-Value NoSQL database capable of handling diverse, high-volume IoT data efficiently. </a:t>
            </a:r>
          </a:p>
          <a:p>
            <a:pPr algn="just">
              <a:buFont typeface="Wingdings" pitchFamily="2" charset="2"/>
              <a:buChar char="Ø"/>
            </a:pPr>
            <a:r>
              <a:rPr lang="en-IN" sz="1500" b="1" dirty="0"/>
              <a:t>Overview:</a:t>
            </a:r>
            <a:r>
              <a:rPr lang="en-IN" sz="1500" dirty="0"/>
              <a:t> The system continuously monitors generation and device health, aggregates readings into centralized dashboards, and supports diverse data formats, high-frequency updates, and scalable multi-site operations.</a:t>
            </a:r>
          </a:p>
          <a:p>
            <a:pPr algn="l">
              <a:buFont typeface="Wingdings" pitchFamily="2" charset="2"/>
              <a:buChar char="Ø"/>
            </a:pPr>
            <a:endParaRPr lang="en-IN" sz="15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8C4E5E-317D-8F18-F134-23D44FE19B99}"/>
              </a:ext>
            </a:extLst>
          </p:cNvPr>
          <p:cNvSpPr txBox="1"/>
          <p:nvPr/>
        </p:nvSpPr>
        <p:spPr>
          <a:xfrm>
            <a:off x="2139885" y="29223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tx1">
                    <a:lumMod val="50000"/>
                  </a:schemeClr>
                </a:solidFill>
              </a:rPr>
              <a:t>System Requirements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1" name="Google Shape;457;p41">
            <a:extLst>
              <a:ext uri="{FF2B5EF4-FFF2-40B4-BE49-F238E27FC236}">
                <a16:creationId xmlns:a16="http://schemas.microsoft.com/office/drawing/2014/main" id="{4E6F7E4B-1572-B88D-3271-23F2E4817542}"/>
              </a:ext>
            </a:extLst>
          </p:cNvPr>
          <p:cNvSpPr txBox="1">
            <a:spLocks/>
          </p:cNvSpPr>
          <p:nvPr/>
        </p:nvSpPr>
        <p:spPr>
          <a:xfrm>
            <a:off x="847770" y="1168004"/>
            <a:ext cx="7576230" cy="3530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l"/>
            <a:r>
              <a:rPr lang="en-IN" sz="1500" b="1" dirty="0"/>
              <a:t>Functional Requirements</a:t>
            </a:r>
            <a:endParaRPr lang="en-IN" sz="1500" dirty="0"/>
          </a:p>
          <a:p>
            <a:pPr algn="l">
              <a:buFont typeface="Wingdings" pitchFamily="2" charset="2"/>
              <a:buChar char="Ø"/>
            </a:pPr>
            <a:r>
              <a:rPr lang="en-IN" sz="1500" dirty="0"/>
              <a:t>Real-time collection of inverter, weather, and irradiance data.</a:t>
            </a:r>
          </a:p>
          <a:p>
            <a:pPr algn="l">
              <a:buFont typeface="Wingdings" pitchFamily="2" charset="2"/>
              <a:buChar char="Ø"/>
            </a:pPr>
            <a:r>
              <a:rPr lang="en-IN" sz="1500" dirty="0"/>
              <a:t>Centralized data storage and access across all solar sites.</a:t>
            </a:r>
          </a:p>
          <a:p>
            <a:pPr algn="l">
              <a:buFont typeface="Wingdings" pitchFamily="2" charset="2"/>
              <a:buChar char="Ø"/>
            </a:pPr>
            <a:r>
              <a:rPr lang="en-IN" sz="1500" dirty="0"/>
              <a:t>Dynamic dashboards for visualization and performance analytics.</a:t>
            </a:r>
          </a:p>
          <a:p>
            <a:pPr algn="l">
              <a:buFont typeface="Wingdings" pitchFamily="2" charset="2"/>
              <a:buChar char="Ø"/>
            </a:pPr>
            <a:r>
              <a:rPr lang="en-IN" sz="1500" dirty="0"/>
              <a:t>Automated alerting for underperformance or device faults.</a:t>
            </a:r>
          </a:p>
          <a:p>
            <a:pPr algn="l"/>
            <a:r>
              <a:rPr lang="en-IN" sz="1500" b="1" dirty="0"/>
              <a:t>Technical Requirements</a:t>
            </a:r>
            <a:endParaRPr lang="en-IN" sz="1500" dirty="0"/>
          </a:p>
          <a:p>
            <a:pPr algn="l">
              <a:buFont typeface="Wingdings" pitchFamily="2" charset="2"/>
              <a:buChar char="Ø"/>
            </a:pPr>
            <a:r>
              <a:rPr lang="en-IN" sz="1500" dirty="0"/>
              <a:t>Must support high-frequency writes and rapid reads.</a:t>
            </a:r>
          </a:p>
          <a:p>
            <a:pPr algn="l">
              <a:buFont typeface="Wingdings" pitchFamily="2" charset="2"/>
              <a:buChar char="Ø"/>
            </a:pPr>
            <a:r>
              <a:rPr lang="en-IN" sz="1500" dirty="0"/>
              <a:t>Flexible schema for varying device types and attributes.</a:t>
            </a:r>
          </a:p>
          <a:p>
            <a:pPr algn="l">
              <a:buFont typeface="Wingdings" pitchFamily="2" charset="2"/>
              <a:buChar char="Ø"/>
            </a:pPr>
            <a:r>
              <a:rPr lang="en-IN" sz="1500" dirty="0"/>
              <a:t>Scalable architecture to handle multiple sites and thousands of data points.</a:t>
            </a:r>
          </a:p>
          <a:p>
            <a:pPr algn="l">
              <a:buFont typeface="Wingdings" pitchFamily="2" charset="2"/>
              <a:buChar char="Ø"/>
            </a:pPr>
            <a:r>
              <a:rPr lang="en-IN" sz="1500" dirty="0"/>
              <a:t>Low latency for dashboard refresh and alert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>
          <a:extLst>
            <a:ext uri="{FF2B5EF4-FFF2-40B4-BE49-F238E27FC236}">
              <a16:creationId xmlns:a16="http://schemas.microsoft.com/office/drawing/2014/main" id="{0DC10396-010F-AE49-12A4-7DEEF84D0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8">
            <a:extLst>
              <a:ext uri="{FF2B5EF4-FFF2-40B4-BE49-F238E27FC236}">
                <a16:creationId xmlns:a16="http://schemas.microsoft.com/office/drawing/2014/main" id="{B2DD342B-2AA6-D629-FDB8-7B38B87CBC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b="1" dirty="0">
                <a:solidFill>
                  <a:schemeClr val="tx1">
                    <a:lumMod val="50000"/>
                  </a:schemeClr>
                </a:solidFill>
              </a:rPr>
              <a:t>Data Characteristics &amp; Challenges</a:t>
            </a:r>
          </a:p>
        </p:txBody>
      </p:sp>
      <p:sp>
        <p:nvSpPr>
          <p:cNvPr id="41" name="Google Shape;457;p41">
            <a:extLst>
              <a:ext uri="{FF2B5EF4-FFF2-40B4-BE49-F238E27FC236}">
                <a16:creationId xmlns:a16="http://schemas.microsoft.com/office/drawing/2014/main" id="{0D37E67C-311B-A023-498A-4379BCE5BDA4}"/>
              </a:ext>
            </a:extLst>
          </p:cNvPr>
          <p:cNvSpPr txBox="1">
            <a:spLocks/>
          </p:cNvSpPr>
          <p:nvPr/>
        </p:nvSpPr>
        <p:spPr>
          <a:xfrm>
            <a:off x="1058723" y="1168004"/>
            <a:ext cx="7576230" cy="3016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l">
              <a:buFont typeface="Wingdings" pitchFamily="2" charset="2"/>
              <a:buChar char="Ø"/>
            </a:pPr>
            <a:r>
              <a:rPr lang="en-IN" sz="1500" dirty="0"/>
              <a:t>Each site can have </a:t>
            </a:r>
            <a:r>
              <a:rPr lang="en-IN" sz="1500" b="1" dirty="0"/>
              <a:t>10–100 inverters</a:t>
            </a:r>
            <a:r>
              <a:rPr lang="en-IN" sz="1500" dirty="0"/>
              <a:t> and multiple weather sensors.</a:t>
            </a:r>
          </a:p>
          <a:p>
            <a:pPr algn="l">
              <a:buFont typeface="Wingdings" pitchFamily="2" charset="2"/>
              <a:buChar char="Ø"/>
            </a:pPr>
            <a:r>
              <a:rPr lang="en-IN" sz="1500" dirty="0"/>
              <a:t>Larger inverters contain more </a:t>
            </a:r>
            <a:r>
              <a:rPr lang="en-IN" sz="1500" b="1" dirty="0"/>
              <a:t>MPPT or string data points</a:t>
            </a:r>
            <a:r>
              <a:rPr lang="en-IN" sz="1500" dirty="0"/>
              <a:t>.</a:t>
            </a:r>
          </a:p>
          <a:p>
            <a:pPr algn="l">
              <a:buFont typeface="Wingdings" pitchFamily="2" charset="2"/>
              <a:buChar char="Ø"/>
            </a:pPr>
            <a:r>
              <a:rPr lang="en-IN" sz="1500" dirty="0"/>
              <a:t>Devices transmit readings every few seconds.</a:t>
            </a:r>
          </a:p>
          <a:p>
            <a:pPr algn="l">
              <a:buFont typeface="Wingdings" pitchFamily="2" charset="2"/>
              <a:buChar char="Ø"/>
            </a:pPr>
            <a:r>
              <a:rPr lang="en-IN" sz="1500" dirty="0"/>
              <a:t>Data is semi-structured, often JSON-based.</a:t>
            </a:r>
          </a:p>
          <a:p>
            <a:pPr algn="l">
              <a:buFont typeface="Wingdings" pitchFamily="2" charset="2"/>
              <a:buChar char="Ø"/>
            </a:pPr>
            <a:r>
              <a:rPr lang="en-IN" sz="1500" dirty="0"/>
              <a:t>Major challenges:</a:t>
            </a:r>
          </a:p>
          <a:p>
            <a:pPr marL="742950" lvl="1" indent="-285750" algn="l">
              <a:buFont typeface="Wingdings" pitchFamily="2" charset="2"/>
              <a:buChar char="Ø"/>
            </a:pPr>
            <a:r>
              <a:rPr lang="en-IN" sz="1500" dirty="0"/>
              <a:t>High ingestion rate of time-series data.</a:t>
            </a:r>
          </a:p>
          <a:p>
            <a:pPr marL="742950" lvl="1" indent="-285750" algn="l">
              <a:buFont typeface="Wingdings" pitchFamily="2" charset="2"/>
              <a:buChar char="Ø"/>
            </a:pPr>
            <a:r>
              <a:rPr lang="en-IN" sz="1500" dirty="0"/>
              <a:t>Variability in data formats per device.</a:t>
            </a:r>
          </a:p>
          <a:p>
            <a:pPr marL="742950" lvl="1" indent="-285750" algn="l">
              <a:buFont typeface="Wingdings" pitchFamily="2" charset="2"/>
              <a:buChar char="Ø"/>
            </a:pPr>
            <a:r>
              <a:rPr lang="en-IN" sz="1500" dirty="0"/>
              <a:t>Maintaining performance as data scales across sites.</a:t>
            </a:r>
          </a:p>
        </p:txBody>
      </p:sp>
    </p:spTree>
    <p:extLst>
      <p:ext uri="{BB962C8B-B14F-4D97-AF65-F5344CB8AC3E}">
        <p14:creationId xmlns:p14="http://schemas.microsoft.com/office/powerpoint/2010/main" val="275966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tx1">
                    <a:lumMod val="50000"/>
                  </a:schemeClr>
                </a:solidFill>
              </a:rPr>
              <a:t>Database Selection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57" name="Google Shape;457;p41"/>
          <p:cNvSpPr txBox="1">
            <a:spLocks noGrp="1"/>
          </p:cNvSpPr>
          <p:nvPr>
            <p:ph type="subTitle" idx="2"/>
          </p:nvPr>
        </p:nvSpPr>
        <p:spPr>
          <a:xfrm>
            <a:off x="907892" y="3059982"/>
            <a:ext cx="7613937" cy="18035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500" b="1" dirty="0"/>
              <a:t>Chosen Database:</a:t>
            </a:r>
            <a:r>
              <a:rPr lang="en-IN" sz="1500" dirty="0"/>
              <a:t> Key-Value NoSQL (e.g., Redis)</a:t>
            </a:r>
          </a:p>
          <a:p>
            <a:r>
              <a:rPr lang="en-IN" sz="1500" b="1" dirty="0"/>
              <a:t>Selection Rationale</a:t>
            </a:r>
            <a:endParaRPr lang="en-IN" sz="1500" dirty="0"/>
          </a:p>
          <a:p>
            <a:pPr>
              <a:buFont typeface="Wingdings" pitchFamily="2" charset="2"/>
              <a:buChar char="Ø"/>
            </a:pPr>
            <a:r>
              <a:rPr lang="en-IN" sz="1500" dirty="0"/>
              <a:t>Handles diverse device data without predefined schema.</a:t>
            </a:r>
          </a:p>
          <a:p>
            <a:pPr>
              <a:buFont typeface="Wingdings" pitchFamily="2" charset="2"/>
              <a:buChar char="Ø"/>
            </a:pPr>
            <a:r>
              <a:rPr lang="en-IN" sz="1500" dirty="0"/>
              <a:t>Offers millisecond-level reads/writes for real-time use.</a:t>
            </a:r>
          </a:p>
          <a:p>
            <a:pPr>
              <a:buFont typeface="Wingdings" pitchFamily="2" charset="2"/>
              <a:buChar char="Ø"/>
            </a:pPr>
            <a:r>
              <a:rPr lang="en-IN" sz="1500" dirty="0"/>
              <a:t>Simple key-based data access and partitioning.</a:t>
            </a:r>
          </a:p>
          <a:p>
            <a:pPr>
              <a:buFont typeface="Wingdings" pitchFamily="2" charset="2"/>
              <a:buChar char="Ø"/>
            </a:pPr>
            <a:r>
              <a:rPr lang="en-IN" sz="1500" dirty="0"/>
              <a:t>Easily scalable and fault-tolerant for multi-site operations.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384554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0C6CCD6-444C-C2B3-67FD-AF4A82E802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954138"/>
              </p:ext>
            </p:extLst>
          </p:nvPr>
        </p:nvGraphicFramePr>
        <p:xfrm>
          <a:off x="1022888" y="1181740"/>
          <a:ext cx="7498941" cy="1803555"/>
        </p:xfrm>
        <a:graphic>
          <a:graphicData uri="http://schemas.openxmlformats.org/drawingml/2006/table">
            <a:tbl>
              <a:tblPr firstRow="1" bandRow="1">
                <a:tableStyleId>{A126A054-CD98-45DD-9F41-E19F69198A29}</a:tableStyleId>
              </a:tblPr>
              <a:tblGrid>
                <a:gridCol w="2499647">
                  <a:extLst>
                    <a:ext uri="{9D8B030D-6E8A-4147-A177-3AD203B41FA5}">
                      <a16:colId xmlns:a16="http://schemas.microsoft.com/office/drawing/2014/main" val="1011194448"/>
                    </a:ext>
                  </a:extLst>
                </a:gridCol>
                <a:gridCol w="2499647">
                  <a:extLst>
                    <a:ext uri="{9D8B030D-6E8A-4147-A177-3AD203B41FA5}">
                      <a16:colId xmlns:a16="http://schemas.microsoft.com/office/drawing/2014/main" val="1201483850"/>
                    </a:ext>
                  </a:extLst>
                </a:gridCol>
                <a:gridCol w="2499647">
                  <a:extLst>
                    <a:ext uri="{9D8B030D-6E8A-4147-A177-3AD203B41FA5}">
                      <a16:colId xmlns:a16="http://schemas.microsoft.com/office/drawing/2014/main" val="1885767704"/>
                    </a:ext>
                  </a:extLst>
                </a:gridCol>
              </a:tblGrid>
              <a:tr h="475305"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DM Sans" pitchFamily="2" charset="77"/>
                        </a:rPr>
                        <a:t>Database Type</a:t>
                      </a:r>
                      <a:endParaRPr sz="1500" dirty="0">
                        <a:latin typeface="DM Sans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DM Sans" pitchFamily="2" charset="77"/>
                        </a:rPr>
                        <a:t>Strengths</a:t>
                      </a:r>
                      <a:endParaRPr sz="1500" dirty="0">
                        <a:latin typeface="DM Sans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DM Sans" pitchFamily="2" charset="77"/>
                        </a:rPr>
                        <a:t>Limitations</a:t>
                      </a:r>
                      <a:endParaRPr sz="1500" dirty="0">
                        <a:latin typeface="DM Sans" pitchFamily="2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1473328"/>
                  </a:ext>
                </a:extLst>
              </a:tr>
              <a:tr h="664125">
                <a:tc>
                  <a:txBody>
                    <a:bodyPr/>
                    <a:lstStyle/>
                    <a:p>
                      <a:r>
                        <a:rPr lang="en-IN" sz="1500" b="0" dirty="0">
                          <a:latin typeface="DM Sans" pitchFamily="2" charset="77"/>
                        </a:rPr>
                        <a:t>Relational (SQL)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DM Sans" pitchFamily="2" charset="77"/>
                        </a:rPr>
                        <a:t>Structured data, ACID properties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DM Sans" pitchFamily="2" charset="77"/>
                        </a:rPr>
                        <a:t>Fixed schema, limited horizontal scaling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3197081"/>
                  </a:ext>
                </a:extLst>
              </a:tr>
              <a:tr h="664125">
                <a:tc>
                  <a:txBody>
                    <a:bodyPr/>
                    <a:lstStyle/>
                    <a:p>
                      <a:r>
                        <a:rPr lang="en-IN" sz="1500" b="0" dirty="0">
                          <a:latin typeface="DM Sans" pitchFamily="2" charset="77"/>
                        </a:rPr>
                        <a:t>Key-Value (NoSQL)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DM Sans" pitchFamily="2" charset="77"/>
                        </a:rPr>
                        <a:t>Schema-less, fast, scalable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DM Sans" pitchFamily="2" charset="77"/>
                        </a:rPr>
                        <a:t>Limited range and join queries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42989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5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tx1">
                    <a:lumMod val="50000"/>
                  </a:schemeClr>
                </a:solidFill>
              </a:rPr>
              <a:t>Namespace and Key Format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" name="Google Shape;457;p41">
            <a:extLst>
              <a:ext uri="{FF2B5EF4-FFF2-40B4-BE49-F238E27FC236}">
                <a16:creationId xmlns:a16="http://schemas.microsoft.com/office/drawing/2014/main" id="{9B62C11B-FEF6-075A-BDB5-21D45ECEBF8F}"/>
              </a:ext>
            </a:extLst>
          </p:cNvPr>
          <p:cNvSpPr txBox="1">
            <a:spLocks/>
          </p:cNvSpPr>
          <p:nvPr/>
        </p:nvSpPr>
        <p:spPr>
          <a:xfrm>
            <a:off x="907893" y="1324724"/>
            <a:ext cx="7516107" cy="23185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itchFamily="2" charset="2"/>
              <a:buChar char="Ø"/>
            </a:pPr>
            <a:r>
              <a:rPr lang="en-IN" sz="1500" b="1" dirty="0">
                <a:latin typeface="DM Sans" pitchFamily="2" charset="77"/>
              </a:rPr>
              <a:t>Namespace:</a:t>
            </a:r>
            <a:r>
              <a:rPr lang="en-IN" sz="1500" dirty="0">
                <a:latin typeface="DM Sans" pitchFamily="2" charset="77"/>
              </a:rPr>
              <a:t> </a:t>
            </a:r>
            <a:r>
              <a:rPr lang="en-IN" sz="1500" dirty="0" err="1">
                <a:latin typeface="DM Sans" pitchFamily="2" charset="77"/>
              </a:rPr>
              <a:t>SolarNS</a:t>
            </a:r>
            <a:endParaRPr lang="en-IN" sz="1500" dirty="0">
              <a:latin typeface="DM Sans" pitchFamily="2" charset="77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IN" sz="1500" b="1" dirty="0">
                <a:latin typeface="DM Sans" pitchFamily="2" charset="77"/>
              </a:rPr>
              <a:t>Key Pattern:</a:t>
            </a:r>
            <a:r>
              <a:rPr lang="en-IN" sz="1500" dirty="0">
                <a:latin typeface="DM Sans" pitchFamily="2" charset="77"/>
              </a:rPr>
              <a:t> </a:t>
            </a:r>
            <a:r>
              <a:rPr lang="en-IN" sz="1500" dirty="0" err="1">
                <a:latin typeface="DM Sans" pitchFamily="2" charset="77"/>
              </a:rPr>
              <a:t>entityType:siteID:deviceID</a:t>
            </a:r>
            <a:endParaRPr lang="en-IN" sz="1500" dirty="0">
              <a:latin typeface="DM Sans" pitchFamily="2" charset="77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IN" sz="1500" b="1" dirty="0">
                <a:latin typeface="DM Sans" pitchFamily="2" charset="77"/>
              </a:rPr>
              <a:t>Examples:</a:t>
            </a:r>
            <a:endParaRPr lang="en-IN" sz="1500" dirty="0">
              <a:latin typeface="DM Sans" pitchFamily="2" charset="77"/>
            </a:endParaRPr>
          </a:p>
          <a:p>
            <a:pPr marL="742950" lvl="1" indent="-285750">
              <a:buFont typeface="Wingdings" pitchFamily="2" charset="2"/>
              <a:buChar char="Ø"/>
            </a:pPr>
            <a:r>
              <a:rPr lang="en-IN" sz="1500" dirty="0">
                <a:latin typeface="DM Sans" pitchFamily="2" charset="77"/>
              </a:rPr>
              <a:t>inv:101:INV001 → Inverter readings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IN" sz="1500" dirty="0">
                <a:latin typeface="DM Sans" pitchFamily="2" charset="77"/>
              </a:rPr>
              <a:t>wthr:101:WTH001 → Weather sensor data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IN" sz="1500" dirty="0">
                <a:latin typeface="DM Sans" pitchFamily="2" charset="77"/>
              </a:rPr>
              <a:t>pyr:101:PYR001 → Pyranometer readings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1500" dirty="0">
                <a:latin typeface="DM Sans" pitchFamily="2" charset="77"/>
              </a:rPr>
              <a:t>Each key stores the latest set of readings or configuration values for a specific device within a site.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6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tx1">
                    <a:lumMod val="50000"/>
                  </a:schemeClr>
                </a:solidFill>
              </a:rPr>
              <a:t>Entity Types and Data Structure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CA724A1-2196-E945-D402-46CA51C9B2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533804"/>
              </p:ext>
            </p:extLst>
          </p:nvPr>
        </p:nvGraphicFramePr>
        <p:xfrm>
          <a:off x="1314449" y="1459229"/>
          <a:ext cx="6386514" cy="3221514"/>
        </p:xfrm>
        <a:graphic>
          <a:graphicData uri="http://schemas.openxmlformats.org/drawingml/2006/table">
            <a:tbl>
              <a:tblPr firstRow="1" bandRow="1">
                <a:tableStyleId>{A126A054-CD98-45DD-9F41-E19F69198A29}</a:tableStyleId>
              </a:tblPr>
              <a:tblGrid>
                <a:gridCol w="1857376">
                  <a:extLst>
                    <a:ext uri="{9D8B030D-6E8A-4147-A177-3AD203B41FA5}">
                      <a16:colId xmlns:a16="http://schemas.microsoft.com/office/drawing/2014/main" val="2645511329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4112957396"/>
                    </a:ext>
                  </a:extLst>
                </a:gridCol>
                <a:gridCol w="2643188">
                  <a:extLst>
                    <a:ext uri="{9D8B030D-6E8A-4147-A177-3AD203B41FA5}">
                      <a16:colId xmlns:a16="http://schemas.microsoft.com/office/drawing/2014/main" val="2658462554"/>
                    </a:ext>
                  </a:extLst>
                </a:gridCol>
              </a:tblGrid>
              <a:tr h="478314"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DM Sans" pitchFamily="2" charset="77"/>
                        </a:rPr>
                        <a:t>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DM Sans" pitchFamily="2" charset="77"/>
                        </a:rPr>
                        <a:t>Prefix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DM Sans" pitchFamily="2" charset="77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496443"/>
                  </a:ext>
                </a:extLst>
              </a:tr>
              <a:tr h="478314"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DM Sans" pitchFamily="2" charset="77"/>
                        </a:rPr>
                        <a:t>Inverter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latin typeface="DM Sans" pitchFamily="2" charset="77"/>
                        </a:rPr>
                        <a:t>inv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DM Sans" pitchFamily="2" charset="77"/>
                        </a:rPr>
                        <a:t>Voltage, current, power, MPPT readings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3491331"/>
                  </a:ext>
                </a:extLst>
              </a:tr>
              <a:tr h="478314"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DM Sans" pitchFamily="2" charset="77"/>
                        </a:rPr>
                        <a:t>Weather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latin typeface="DM Sans" pitchFamily="2" charset="77"/>
                        </a:rPr>
                        <a:t>wthr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DM Sans" pitchFamily="2" charset="77"/>
                        </a:rPr>
                        <a:t>Temperature, humidity, wind speed, irradiance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322240"/>
                  </a:ext>
                </a:extLst>
              </a:tr>
              <a:tr h="478314"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DM Sans" pitchFamily="2" charset="77"/>
                        </a:rPr>
                        <a:t>Pyranometer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 err="1">
                          <a:latin typeface="DM Sans" pitchFamily="2" charset="77"/>
                        </a:rPr>
                        <a:t>pyr</a:t>
                      </a:r>
                      <a:endParaRPr lang="en-IN" sz="1500" dirty="0">
                        <a:latin typeface="DM Sans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DM Sans" pitchFamily="2" charset="77"/>
                        </a:rPr>
                        <a:t>Solar radiation intensity, panel tilt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0716769"/>
                  </a:ext>
                </a:extLst>
              </a:tr>
              <a:tr h="478314">
                <a:tc>
                  <a:txBody>
                    <a:bodyPr/>
                    <a:lstStyle/>
                    <a:p>
                      <a:r>
                        <a:rPr lang="en-IN" sz="1500">
                          <a:latin typeface="DM Sans" pitchFamily="2" charset="77"/>
                        </a:rPr>
                        <a:t>Alerts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 err="1">
                          <a:latin typeface="DM Sans" pitchFamily="2" charset="77"/>
                        </a:rPr>
                        <a:t>alrt</a:t>
                      </a:r>
                      <a:endParaRPr lang="en-IN" sz="1500" dirty="0">
                        <a:latin typeface="DM Sans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DM Sans" pitchFamily="2" charset="77"/>
                        </a:rPr>
                        <a:t>Thresholds, alert triggers, notification preferences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9566859"/>
                  </a:ext>
                </a:extLst>
              </a:tr>
              <a:tr h="478314"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DM Sans" pitchFamily="2" charset="77"/>
                        </a:rPr>
                        <a:t>Dashboard Config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DM Sans" pitchFamily="2" charset="77"/>
                        </a:rPr>
                        <a:t>dash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DM Sans" pitchFamily="2" charset="77"/>
                        </a:rPr>
                        <a:t>Display settings and KPI preferences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949493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7">
          <a:extLst>
            <a:ext uri="{FF2B5EF4-FFF2-40B4-BE49-F238E27FC236}">
              <a16:creationId xmlns:a16="http://schemas.microsoft.com/office/drawing/2014/main" id="{9D46C720-0EF6-1408-607E-9C508C2CF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69">
            <a:extLst>
              <a:ext uri="{FF2B5EF4-FFF2-40B4-BE49-F238E27FC236}">
                <a16:creationId xmlns:a16="http://schemas.microsoft.com/office/drawing/2014/main" id="{9CDFCA6B-999C-4E65-B8EC-2CE4C58EA6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tx1">
                    <a:lumMod val="50000"/>
                  </a:schemeClr>
                </a:solidFill>
              </a:rPr>
              <a:t>Operational Flow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8B656B-F9A2-A998-DFB5-2927EF058312}"/>
              </a:ext>
            </a:extLst>
          </p:cNvPr>
          <p:cNvSpPr txBox="1"/>
          <p:nvPr/>
        </p:nvSpPr>
        <p:spPr>
          <a:xfrm>
            <a:off x="1124681" y="1300899"/>
            <a:ext cx="7299319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IN" sz="1500" dirty="0">
                <a:latin typeface="DM Sans" pitchFamily="2" charset="77"/>
              </a:rPr>
              <a:t>Devices continuously generate readings at fixed intervals.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1500" dirty="0">
                <a:latin typeface="DM Sans" pitchFamily="2" charset="77"/>
              </a:rPr>
              <a:t>Edge gateways aggregate and send data to the Key-Value database.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1500" dirty="0">
                <a:latin typeface="DM Sans" pitchFamily="2" charset="77"/>
              </a:rPr>
              <a:t>Redis stores data by site and device identifiers.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1500" dirty="0">
                <a:latin typeface="DM Sans" pitchFamily="2" charset="77"/>
              </a:rPr>
              <a:t>Dashboards fetch live readings using simple GET operations.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1500" dirty="0">
                <a:latin typeface="DM Sans" pitchFamily="2" charset="77"/>
              </a:rPr>
              <a:t>Outdated data expires automatically using TTL (time-to-live) rules.</a:t>
            </a:r>
          </a:p>
          <a:p>
            <a:pPr marL="342900" indent="-342900">
              <a:buFont typeface="Wingdings" pitchFamily="2" charset="2"/>
              <a:buChar char="Ø"/>
            </a:pPr>
            <a:endParaRPr lang="en-IN" sz="1500" dirty="0">
              <a:latin typeface="DM Sans" pitchFamily="2" charset="77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IN" sz="1500" b="1" dirty="0">
                <a:latin typeface="DM Sans" pitchFamily="2" charset="77"/>
              </a:rPr>
              <a:t>Example Commands:</a:t>
            </a:r>
            <a:endParaRPr lang="en-IN" sz="1500" dirty="0">
              <a:latin typeface="DM Sans" pitchFamily="2" charset="77"/>
            </a:endParaRPr>
          </a:p>
          <a:p>
            <a:r>
              <a:rPr lang="en-IN" sz="1500" dirty="0">
                <a:latin typeface="DM Sans" pitchFamily="2" charset="77"/>
              </a:rPr>
              <a:t>       GET inv:101:INV001</a:t>
            </a:r>
          </a:p>
          <a:p>
            <a:r>
              <a:rPr lang="en-IN" sz="1500" dirty="0">
                <a:latin typeface="DM Sans" pitchFamily="2" charset="77"/>
              </a:rPr>
              <a:t>       EXPIRE inv:101:INV001 1800</a:t>
            </a:r>
          </a:p>
          <a:p>
            <a:pPr marL="342900" indent="-342900">
              <a:buFont typeface="Wingdings" pitchFamily="2" charset="2"/>
              <a:buChar char="Ø"/>
            </a:pPr>
            <a:endParaRPr lang="en-IN" sz="1500" dirty="0">
              <a:latin typeface="DM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28751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7">
          <a:extLst>
            <a:ext uri="{FF2B5EF4-FFF2-40B4-BE49-F238E27FC236}">
              <a16:creationId xmlns:a16="http://schemas.microsoft.com/office/drawing/2014/main" id="{7D720719-8C62-7D79-FA31-99426B83F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69">
            <a:extLst>
              <a:ext uri="{FF2B5EF4-FFF2-40B4-BE49-F238E27FC236}">
                <a16:creationId xmlns:a16="http://schemas.microsoft.com/office/drawing/2014/main" id="{3D5E08F4-ACA9-F4E0-4B04-A2634B932F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tx1">
                    <a:lumMod val="50000"/>
                  </a:schemeClr>
                </a:solidFill>
              </a:rPr>
              <a:t>System Architecture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7A501A-A86F-BAB2-511A-F06ECB459B8C}"/>
              </a:ext>
            </a:extLst>
          </p:cNvPr>
          <p:cNvSpPr txBox="1"/>
          <p:nvPr/>
        </p:nvSpPr>
        <p:spPr>
          <a:xfrm>
            <a:off x="1124681" y="1300899"/>
            <a:ext cx="7299319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chemeClr val="tx1">
                    <a:lumMod val="50000"/>
                  </a:schemeClr>
                </a:solidFill>
                <a:latin typeface="DM Sans" pitchFamily="2" charset="77"/>
              </a:rPr>
              <a:t>System Architecture</a:t>
            </a:r>
          </a:p>
          <a:p>
            <a:endParaRPr lang="en-IN" sz="1800" b="1" dirty="0">
              <a:solidFill>
                <a:schemeClr val="tx1">
                  <a:lumMod val="50000"/>
                </a:schemeClr>
              </a:solidFill>
              <a:latin typeface="DM Sans" pitchFamily="2" charset="77"/>
            </a:endParaRPr>
          </a:p>
          <a:p>
            <a:endParaRPr lang="en-IN" sz="1800" b="1" dirty="0">
              <a:solidFill>
                <a:schemeClr val="tx1">
                  <a:lumMod val="50000"/>
                </a:schemeClr>
              </a:solidFill>
              <a:latin typeface="DM Sans" pitchFamily="2" charset="77"/>
            </a:endParaRPr>
          </a:p>
          <a:p>
            <a:endParaRPr lang="en-IN" sz="1800" b="1" dirty="0">
              <a:solidFill>
                <a:schemeClr val="tx1">
                  <a:lumMod val="50000"/>
                </a:schemeClr>
              </a:solidFill>
              <a:latin typeface="DM Sans" pitchFamily="2" charset="77"/>
            </a:endParaRPr>
          </a:p>
          <a:p>
            <a:endParaRPr lang="en-IN" sz="1800" b="1" dirty="0">
              <a:solidFill>
                <a:schemeClr val="tx1">
                  <a:lumMod val="50000"/>
                </a:schemeClr>
              </a:solidFill>
              <a:latin typeface="DM Sans" pitchFamily="2" charset="77"/>
            </a:endParaRPr>
          </a:p>
          <a:p>
            <a:endParaRPr lang="en-IN" sz="1800" b="1" dirty="0">
              <a:solidFill>
                <a:schemeClr val="tx1">
                  <a:lumMod val="50000"/>
                </a:schemeClr>
              </a:solidFill>
              <a:latin typeface="DM Sans" pitchFamily="2" charset="77"/>
            </a:endParaRPr>
          </a:p>
          <a:p>
            <a:endParaRPr lang="en-IN" sz="1800" b="1" dirty="0">
              <a:solidFill>
                <a:schemeClr val="tx1">
                  <a:lumMod val="50000"/>
                </a:schemeClr>
              </a:solidFill>
              <a:latin typeface="DM Sans" pitchFamily="2" charset="77"/>
            </a:endParaRPr>
          </a:p>
          <a:p>
            <a:endParaRPr lang="en-IN" dirty="0">
              <a:solidFill>
                <a:srgbClr val="384554"/>
              </a:solidFill>
              <a:latin typeface="DM Sans" pitchFamily="2" charset="77"/>
            </a:endParaRPr>
          </a:p>
          <a:p>
            <a:endParaRPr lang="en-IN" dirty="0">
              <a:solidFill>
                <a:srgbClr val="384554"/>
              </a:solidFill>
              <a:latin typeface="DM Sans" pitchFamily="2" charset="77"/>
            </a:endParaRPr>
          </a:p>
          <a:p>
            <a:r>
              <a:rPr lang="en-IN" sz="1800" b="1" dirty="0">
                <a:latin typeface="DM Sans" pitchFamily="2" charset="77"/>
              </a:rPr>
              <a:t>Core Features:</a:t>
            </a:r>
            <a:endParaRPr lang="en-IN" sz="1800" dirty="0">
              <a:solidFill>
                <a:schemeClr val="tx1">
                  <a:lumMod val="50000"/>
                </a:schemeClr>
              </a:solidFill>
              <a:latin typeface="DM Sans" pitchFamily="2" charset="77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IN" sz="1500" dirty="0">
                <a:latin typeface="DM Sans" pitchFamily="2" charset="77"/>
              </a:rPr>
              <a:t>In-memory data store for high-speed operations.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1500" dirty="0">
                <a:latin typeface="DM Sans" pitchFamily="2" charset="77"/>
              </a:rPr>
              <a:t>Clustered nodes for load balancing and scalability.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1500" dirty="0">
                <a:latin typeface="DM Sans" pitchFamily="2" charset="77"/>
              </a:rPr>
              <a:t>Replication ensures availability during node failures.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1500" dirty="0">
                <a:latin typeface="DM Sans" pitchFamily="2" charset="77"/>
              </a:rPr>
              <a:t>API or dashboard consumes data for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3201399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7">
          <a:extLst>
            <a:ext uri="{FF2B5EF4-FFF2-40B4-BE49-F238E27FC236}">
              <a16:creationId xmlns:a16="http://schemas.microsoft.com/office/drawing/2014/main" id="{2523276D-D5F1-3EF5-BB3D-8713A62DF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69">
            <a:extLst>
              <a:ext uri="{FF2B5EF4-FFF2-40B4-BE49-F238E27FC236}">
                <a16:creationId xmlns:a16="http://schemas.microsoft.com/office/drawing/2014/main" id="{C2841EB6-4151-A5F2-54C3-2C82ED79AA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8662" y="445025"/>
            <a:ext cx="782955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tx1">
                    <a:lumMod val="50000"/>
                  </a:schemeClr>
                </a:solidFill>
              </a:rPr>
              <a:t>Partitioning, Scalability, Advantages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CA0A68-C6F2-D328-6C14-4807335CA5A0}"/>
              </a:ext>
            </a:extLst>
          </p:cNvPr>
          <p:cNvSpPr txBox="1"/>
          <p:nvPr/>
        </p:nvSpPr>
        <p:spPr>
          <a:xfrm>
            <a:off x="1124681" y="1189822"/>
            <a:ext cx="7299319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DM Sans" pitchFamily="2" charset="77"/>
              </a:rPr>
              <a:t>Partitioning and Scalability</a:t>
            </a:r>
            <a:endParaRPr lang="en-IN" sz="1800" b="1" dirty="0">
              <a:solidFill>
                <a:schemeClr val="tx1">
                  <a:lumMod val="50000"/>
                </a:schemeClr>
              </a:solidFill>
              <a:latin typeface="DM Sans" pitchFamily="2" charset="77"/>
            </a:endParaRPr>
          </a:p>
          <a:p>
            <a:pPr marL="285750" indent="-285750" algn="just">
              <a:buFont typeface="Wingdings" pitchFamily="2" charset="2"/>
              <a:buChar char="Ø"/>
            </a:pPr>
            <a:r>
              <a:rPr lang="en-IN" sz="1500" b="1" dirty="0">
                <a:latin typeface="DM Sans" pitchFamily="2" charset="77"/>
              </a:rPr>
              <a:t>Partition Key:</a:t>
            </a:r>
            <a:r>
              <a:rPr lang="en-IN" sz="1500" dirty="0">
                <a:latin typeface="DM Sans" pitchFamily="2" charset="77"/>
              </a:rPr>
              <a:t> </a:t>
            </a:r>
            <a:r>
              <a:rPr lang="en-IN" sz="1500" dirty="0" err="1">
                <a:latin typeface="DM Sans" pitchFamily="2" charset="77"/>
              </a:rPr>
              <a:t>siteID</a:t>
            </a:r>
            <a:r>
              <a:rPr lang="en-IN" sz="1500" dirty="0">
                <a:latin typeface="DM Sans" pitchFamily="2" charset="77"/>
              </a:rPr>
              <a:t> for distributing data evenly across nodes.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IN" sz="1500" b="1" dirty="0">
                <a:latin typeface="DM Sans" pitchFamily="2" charset="77"/>
              </a:rPr>
              <a:t>Hashing:</a:t>
            </a:r>
            <a:r>
              <a:rPr lang="en-IN" sz="1500" dirty="0">
                <a:latin typeface="DM Sans" pitchFamily="2" charset="77"/>
              </a:rPr>
              <a:t> Used to assign partitions to specific Redis nodes.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IN" sz="1500" b="1" dirty="0">
                <a:latin typeface="DM Sans" pitchFamily="2" charset="77"/>
              </a:rPr>
              <a:t>Masterless Replication:</a:t>
            </a:r>
            <a:r>
              <a:rPr lang="en-IN" sz="1500" dirty="0">
                <a:latin typeface="DM Sans" pitchFamily="2" charset="77"/>
              </a:rPr>
              <a:t> Each node replicates data to neighbours for redundancy.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IN" sz="1500" b="1" dirty="0">
                <a:latin typeface="DM Sans" pitchFamily="2" charset="77"/>
              </a:rPr>
              <a:t>Scalability:</a:t>
            </a:r>
            <a:r>
              <a:rPr lang="en-IN" sz="1500" dirty="0">
                <a:latin typeface="DM Sans" pitchFamily="2" charset="77"/>
              </a:rPr>
              <a:t> New nodes can be added seamlessly as new sites or devices come online.</a:t>
            </a:r>
          </a:p>
          <a:p>
            <a:endParaRPr lang="en-IN" dirty="0">
              <a:solidFill>
                <a:srgbClr val="384554"/>
              </a:solidFill>
              <a:latin typeface="DM Sans" pitchFamily="2" charset="77"/>
            </a:endParaRPr>
          </a:p>
          <a:p>
            <a:r>
              <a:rPr lang="en-IN" sz="1800" b="1" dirty="0">
                <a:latin typeface="DM Sans" pitchFamily="2" charset="77"/>
              </a:rPr>
              <a:t>Advantages of Key-Value Database</a:t>
            </a:r>
            <a:endParaRPr lang="en-IN" sz="1800" b="1" dirty="0">
              <a:solidFill>
                <a:schemeClr val="tx1">
                  <a:lumMod val="50000"/>
                </a:schemeClr>
              </a:solidFill>
              <a:latin typeface="DM Sans" pitchFamily="2" charset="77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IN" sz="1500" dirty="0">
                <a:latin typeface="DM Sans" pitchFamily="2" charset="77"/>
              </a:rPr>
              <a:t>Schema-less data model supports heterogeneous sensors.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1500" dirty="0">
                <a:latin typeface="DM Sans" pitchFamily="2" charset="77"/>
              </a:rPr>
              <a:t>Extremely fast read/write performance.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1500" dirty="0">
                <a:latin typeface="DM Sans" pitchFamily="2" charset="77"/>
              </a:rPr>
              <a:t>Easy horizontal scalability for multi-site expansion.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1500" dirty="0">
                <a:latin typeface="DM Sans" pitchFamily="2" charset="77"/>
              </a:rPr>
              <a:t>TTL automatically manages memory by removing stale data.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1500" dirty="0">
                <a:latin typeface="DM Sans" pitchFamily="2" charset="77"/>
              </a:rPr>
              <a:t>Built-in replication ensures high availability and resilience.</a:t>
            </a:r>
          </a:p>
        </p:txBody>
      </p:sp>
    </p:spTree>
    <p:extLst>
      <p:ext uri="{BB962C8B-B14F-4D97-AF65-F5344CB8AC3E}">
        <p14:creationId xmlns:p14="http://schemas.microsoft.com/office/powerpoint/2010/main" val="3077573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7">
          <a:extLst>
            <a:ext uri="{FF2B5EF4-FFF2-40B4-BE49-F238E27FC236}">
              <a16:creationId xmlns:a16="http://schemas.microsoft.com/office/drawing/2014/main" id="{B3E9282C-DC01-30F0-05A8-0F179DE4B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69">
            <a:extLst>
              <a:ext uri="{FF2B5EF4-FFF2-40B4-BE49-F238E27FC236}">
                <a16:creationId xmlns:a16="http://schemas.microsoft.com/office/drawing/2014/main" id="{8AB6C596-F948-7288-C030-F042F8E667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tx1">
                    <a:lumMod val="50000"/>
                  </a:schemeClr>
                </a:solidFill>
              </a:rPr>
              <a:t>Limitations and Mitigation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EA69CBA-8D72-C09E-5C95-F641F36202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113785"/>
              </p:ext>
            </p:extLst>
          </p:nvPr>
        </p:nvGraphicFramePr>
        <p:xfrm>
          <a:off x="1600199" y="1271588"/>
          <a:ext cx="6215062" cy="3014663"/>
        </p:xfrm>
        <a:graphic>
          <a:graphicData uri="http://schemas.openxmlformats.org/drawingml/2006/table">
            <a:tbl>
              <a:tblPr firstRow="1" bandRow="1">
                <a:tableStyleId>{A126A054-CD98-45DD-9F41-E19F69198A29}</a:tableStyleId>
              </a:tblPr>
              <a:tblGrid>
                <a:gridCol w="3107531">
                  <a:extLst>
                    <a:ext uri="{9D8B030D-6E8A-4147-A177-3AD203B41FA5}">
                      <a16:colId xmlns:a16="http://schemas.microsoft.com/office/drawing/2014/main" val="3298044836"/>
                    </a:ext>
                  </a:extLst>
                </a:gridCol>
                <a:gridCol w="3107531">
                  <a:extLst>
                    <a:ext uri="{9D8B030D-6E8A-4147-A177-3AD203B41FA5}">
                      <a16:colId xmlns:a16="http://schemas.microsoft.com/office/drawing/2014/main" val="2121888492"/>
                    </a:ext>
                  </a:extLst>
                </a:gridCol>
              </a:tblGrid>
              <a:tr h="457527">
                <a:tc>
                  <a:txBody>
                    <a:bodyPr/>
                    <a:lstStyle/>
                    <a:p>
                      <a:r>
                        <a:rPr lang="en-IN" sz="1500" b="1">
                          <a:latin typeface="DM Sans" pitchFamily="2" charset="77"/>
                        </a:rPr>
                        <a:t>Limitation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b="1" dirty="0">
                          <a:latin typeface="DM Sans" pitchFamily="2" charset="77"/>
                        </a:rPr>
                        <a:t>Mitigation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2630209"/>
                  </a:ext>
                </a:extLst>
              </a:tr>
              <a:tr h="639284">
                <a:tc>
                  <a:txBody>
                    <a:bodyPr/>
                    <a:lstStyle/>
                    <a:p>
                      <a:r>
                        <a:rPr lang="en-IN" sz="1500">
                          <a:latin typeface="DM Sans" pitchFamily="2" charset="77"/>
                        </a:rPr>
                        <a:t>Key-only lookups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latin typeface="DM Sans" pitchFamily="2" charset="77"/>
                        </a:rPr>
                        <a:t>Use index keys (e.g., index:site101:devices)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6535785"/>
                  </a:ext>
                </a:extLst>
              </a:tr>
              <a:tr h="639284"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DM Sans" pitchFamily="2" charset="77"/>
                        </a:rPr>
                        <a:t>Limited range queries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DM Sans" pitchFamily="2" charset="77"/>
                        </a:rPr>
                        <a:t>Employ sorted sets or time-stamped keys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1395129"/>
                  </a:ext>
                </a:extLst>
              </a:tr>
              <a:tr h="639284">
                <a:tc>
                  <a:txBody>
                    <a:bodyPr/>
                    <a:lstStyle/>
                    <a:p>
                      <a:r>
                        <a:rPr lang="en-IN" sz="1500">
                          <a:latin typeface="DM Sans" pitchFamily="2" charset="77"/>
                        </a:rPr>
                        <a:t>High memory usage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latin typeface="DM Sans" pitchFamily="2" charset="77"/>
                        </a:rPr>
                        <a:t>Enable compression and TTL policies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5039203"/>
                  </a:ext>
                </a:extLst>
              </a:tr>
              <a:tr h="639284">
                <a:tc>
                  <a:txBody>
                    <a:bodyPr/>
                    <a:lstStyle/>
                    <a:p>
                      <a:r>
                        <a:rPr lang="en-IN" sz="1500">
                          <a:latin typeface="DM Sans" pitchFamily="2" charset="77"/>
                        </a:rPr>
                        <a:t>Eventual consistency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DM Sans" pitchFamily="2" charset="77"/>
                        </a:rPr>
                        <a:t>Apply quorum reads/writes for critical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0255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792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>
                    <a:lumMod val="50000"/>
                  </a:schemeClr>
                </a:solidFill>
              </a:rPr>
              <a:t>Conclusion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63" name="Google Shape;463;p42"/>
          <p:cNvSpPr txBox="1">
            <a:spLocks noGrp="1"/>
          </p:cNvSpPr>
          <p:nvPr>
            <p:ph type="subTitle" idx="1"/>
          </p:nvPr>
        </p:nvSpPr>
        <p:spPr>
          <a:xfrm>
            <a:off x="761066" y="1434550"/>
            <a:ext cx="5150239" cy="27439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IN" sz="1500" dirty="0"/>
              <a:t>Solar monitoring systems generate </a:t>
            </a:r>
            <a:r>
              <a:rPr lang="en-IN" sz="1500" b="1" dirty="0"/>
              <a:t>high-frequency, heterogeneous data</a:t>
            </a:r>
            <a:r>
              <a:rPr lang="en-IN" sz="1500" dirty="0"/>
              <a:t> from diverse devices.</a:t>
            </a:r>
          </a:p>
          <a:p>
            <a:pPr algn="just">
              <a:buFont typeface="Wingdings" pitchFamily="2" charset="2"/>
              <a:buChar char="Ø"/>
            </a:pPr>
            <a:r>
              <a:rPr lang="en-IN" sz="1500" b="1" dirty="0"/>
              <a:t>Key-Value databases</a:t>
            </a:r>
            <a:r>
              <a:rPr lang="en-IN" sz="1500" dirty="0"/>
              <a:t> provide the required speed, flexibility, and scalability for real-time monitoring.</a:t>
            </a:r>
          </a:p>
          <a:p>
            <a:pPr algn="just">
              <a:buFont typeface="Wingdings" pitchFamily="2" charset="2"/>
              <a:buChar char="Ø"/>
            </a:pPr>
            <a:r>
              <a:rPr lang="en-IN" sz="1500" dirty="0"/>
              <a:t>Schema-less design adapts easily to different sensor types and configurations.</a:t>
            </a:r>
          </a:p>
          <a:p>
            <a:pPr algn="just">
              <a:buFont typeface="Wingdings" pitchFamily="2" charset="2"/>
              <a:buChar char="Ø"/>
            </a:pPr>
            <a:r>
              <a:rPr lang="en-IN" sz="1500" dirty="0"/>
              <a:t>TTL and replication ensure efficient memory usage and high system availability.</a:t>
            </a:r>
          </a:p>
          <a:p>
            <a:pPr algn="just">
              <a:buFont typeface="Wingdings" pitchFamily="2" charset="2"/>
              <a:buChar char="Ø"/>
            </a:pPr>
            <a:r>
              <a:rPr lang="en-IN" sz="1500" dirty="0"/>
              <a:t>Overall, the Key-Value approach delivers a robust foundation for </a:t>
            </a:r>
            <a:r>
              <a:rPr lang="en-IN" sz="1500" b="1" dirty="0"/>
              <a:t>IoT-driven solar performance management</a:t>
            </a:r>
            <a:r>
              <a:rPr lang="en-IN" sz="1500" dirty="0"/>
              <a:t>.</a:t>
            </a:r>
          </a:p>
        </p:txBody>
      </p:sp>
      <p:grpSp>
        <p:nvGrpSpPr>
          <p:cNvPr id="464" name="Google Shape;464;p42"/>
          <p:cNvGrpSpPr/>
          <p:nvPr/>
        </p:nvGrpSpPr>
        <p:grpSpPr>
          <a:xfrm>
            <a:off x="5430930" y="0"/>
            <a:ext cx="4086563" cy="6064817"/>
            <a:chOff x="5430930" y="-445784"/>
            <a:chExt cx="4086563" cy="6064817"/>
          </a:xfrm>
        </p:grpSpPr>
        <p:sp>
          <p:nvSpPr>
            <p:cNvPr id="465" name="Google Shape;465;p42"/>
            <p:cNvSpPr/>
            <p:nvPr/>
          </p:nvSpPr>
          <p:spPr>
            <a:xfrm>
              <a:off x="7368520" y="9887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42"/>
            <p:cNvSpPr/>
            <p:nvPr/>
          </p:nvSpPr>
          <p:spPr>
            <a:xfrm rot="10800000" flipH="1">
              <a:off x="6036409" y="19621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42"/>
            <p:cNvSpPr/>
            <p:nvPr/>
          </p:nvSpPr>
          <p:spPr>
            <a:xfrm>
              <a:off x="7309474" y="21661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42"/>
            <p:cNvSpPr/>
            <p:nvPr/>
          </p:nvSpPr>
          <p:spPr>
            <a:xfrm>
              <a:off x="6269702" y="-44578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42"/>
            <p:cNvSpPr/>
            <p:nvPr/>
          </p:nvSpPr>
          <p:spPr>
            <a:xfrm>
              <a:off x="5830483" y="421588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42"/>
            <p:cNvSpPr/>
            <p:nvPr/>
          </p:nvSpPr>
          <p:spPr>
            <a:xfrm>
              <a:off x="6269683" y="133254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42"/>
            <p:cNvSpPr/>
            <p:nvPr/>
          </p:nvSpPr>
          <p:spPr>
            <a:xfrm>
              <a:off x="8430764" y="2342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42"/>
            <p:cNvSpPr/>
            <p:nvPr/>
          </p:nvSpPr>
          <p:spPr>
            <a:xfrm>
              <a:off x="7309467" y="261820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42"/>
            <p:cNvSpPr/>
            <p:nvPr/>
          </p:nvSpPr>
          <p:spPr>
            <a:xfrm>
              <a:off x="7962441" y="131801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42"/>
            <p:cNvSpPr/>
            <p:nvPr/>
          </p:nvSpPr>
          <p:spPr>
            <a:xfrm rot="10800000" flipH="1">
              <a:off x="6351880" y="311086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42"/>
            <p:cNvSpPr/>
            <p:nvPr/>
          </p:nvSpPr>
          <p:spPr>
            <a:xfrm rot="10800000" flipH="1">
              <a:off x="6790284" y="354856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42"/>
            <p:cNvSpPr/>
            <p:nvPr/>
          </p:nvSpPr>
          <p:spPr>
            <a:xfrm rot="10800000" flipH="1">
              <a:off x="5430930" y="465091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42"/>
            <p:cNvSpPr/>
            <p:nvPr/>
          </p:nvSpPr>
          <p:spPr>
            <a:xfrm>
              <a:off x="8678783" y="266882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42"/>
            <p:cNvSpPr/>
            <p:nvPr/>
          </p:nvSpPr>
          <p:spPr>
            <a:xfrm>
              <a:off x="8430773" y="22359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42"/>
            <p:cNvSpPr/>
            <p:nvPr/>
          </p:nvSpPr>
          <p:spPr>
            <a:xfrm rot="10800000" flipH="1">
              <a:off x="8119787" y="363695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42"/>
            <p:cNvSpPr/>
            <p:nvPr/>
          </p:nvSpPr>
          <p:spPr>
            <a:xfrm rot="10800000" flipH="1">
              <a:off x="7697255" y="411247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42"/>
            <p:cNvSpPr/>
            <p:nvPr/>
          </p:nvSpPr>
          <p:spPr>
            <a:xfrm>
              <a:off x="6628072" y="11249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42"/>
            <p:cNvSpPr/>
            <p:nvPr/>
          </p:nvSpPr>
          <p:spPr>
            <a:xfrm rot="10800000" flipH="1">
              <a:off x="7825159" y="-2514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2317</TotalTime>
  <Words>837</Words>
  <Application>Microsoft Macintosh PowerPoint</Application>
  <PresentationFormat>On-screen Show (16:9)</PresentationFormat>
  <Paragraphs>132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Outfit</vt:lpstr>
      <vt:lpstr>Wingdings</vt:lpstr>
      <vt:lpstr>Nunito Light</vt:lpstr>
      <vt:lpstr>DM Sans</vt:lpstr>
      <vt:lpstr>Arial</vt:lpstr>
      <vt:lpstr>Data Collection and Analysis - Master of Science in Community Health and Prevention Research by Slidesgo</vt:lpstr>
      <vt:lpstr>Case Study: Key-Value Databases for Solar Remote Monitoring Systems</vt:lpstr>
      <vt:lpstr>Overview: Solar Remote Monitoring</vt:lpstr>
      <vt:lpstr>System Requirements</vt:lpstr>
      <vt:lpstr>Data Characteristics &amp; Challenges</vt:lpstr>
      <vt:lpstr>Database Selection</vt:lpstr>
      <vt:lpstr>Namespace and Key Format</vt:lpstr>
      <vt:lpstr>Entity Types and Data Structure</vt:lpstr>
      <vt:lpstr>Operational Flow</vt:lpstr>
      <vt:lpstr>System Architecture</vt:lpstr>
      <vt:lpstr>Partitioning, Scalability, Advantages</vt:lpstr>
      <vt:lpstr>Limitations and Mitigation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Apoorva Karnwal</cp:lastModifiedBy>
  <cp:revision>9</cp:revision>
  <dcterms:modified xsi:type="dcterms:W3CDTF">2025-11-06T14:32:46Z</dcterms:modified>
</cp:coreProperties>
</file>