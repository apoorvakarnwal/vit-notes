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01" r:id="rId2"/>
    <p:sldId id="260" r:id="rId3"/>
    <p:sldId id="261" r:id="rId4"/>
    <p:sldId id="262" r:id="rId5"/>
    <p:sldId id="264" r:id="rId6"/>
    <p:sldId id="267" r:id="rId7"/>
    <p:sldId id="273" r:id="rId8"/>
    <p:sldId id="274" r:id="rId9"/>
    <p:sldId id="275" r:id="rId10"/>
    <p:sldId id="276" r:id="rId11"/>
    <p:sldId id="277" r:id="rId12"/>
    <p:sldId id="278" r:id="rId13"/>
    <p:sldId id="279" r:id="rId14"/>
    <p:sldId id="280" r:id="rId15"/>
    <p:sldId id="281" r:id="rId16"/>
    <p:sldId id="282" r:id="rId17"/>
    <p:sldId id="283" r:id="rId18"/>
    <p:sldId id="302" r:id="rId19"/>
    <p:sldId id="30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1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73C528-D5F4-4B74-AA39-F8AAD891678C}" type="datetimeFigureOut">
              <a:rPr lang="en-IN" smtClean="0"/>
              <a:t>21-01-2023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5E3F36-627E-49FD-8BCA-222CF6A75B5F}" type="slidenum">
              <a:rPr lang="en-IN" smtClean="0"/>
              <a:t>‹#›</a:t>
            </a:fld>
            <a:endParaRPr lang="en-IN"/>
          </a:p>
        </p:txBody>
      </p:sp>
    </p:spTree>
    <p:extLst>
      <p:ext uri="{BB962C8B-B14F-4D97-AF65-F5344CB8AC3E}">
        <p14:creationId xmlns:p14="http://schemas.microsoft.com/office/powerpoint/2010/main" val="201631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C4C9805-64B5-47D9-A4AF-5F96FFC60409}" type="slidenum">
              <a:rPr lang="en-US" altLang="en-US" smtClean="0">
                <a:latin typeface="Times New Roman" pitchFamily="18" charset="0"/>
              </a:rPr>
              <a:pPr/>
              <a:t>2</a:t>
            </a:fld>
            <a:endParaRPr lang="en-US" altLang="en-US" smtClean="0">
              <a:latin typeface="Times New Roman"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3068306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FEAACE4-21FA-4E78-B685-D6F040D68183}" type="slidenum">
              <a:rPr lang="en-US" altLang="en-US" smtClean="0">
                <a:latin typeface="Times New Roman" pitchFamily="18" charset="0"/>
              </a:rPr>
              <a:pPr/>
              <a:t>3</a:t>
            </a:fld>
            <a:endParaRPr lang="en-US" altLang="en-US" smtClean="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3020115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FCF64252-DB10-4AFB-96F6-AA6E8AE92C9A}" type="slidenum">
              <a:rPr lang="en-US" altLang="en-US" smtClean="0">
                <a:latin typeface="Times New Roman" pitchFamily="18" charset="0"/>
              </a:rPr>
              <a:pPr/>
              <a:t>6</a:t>
            </a:fld>
            <a:endParaRPr lang="en-US" altLang="en-US" smtClean="0">
              <a:latin typeface="Times New Roman"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3150526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8E69B6D-AD52-47A0-8A2C-A75A375E26E6}" type="slidenum">
              <a:rPr lang="en-US" altLang="en-US" smtClean="0">
                <a:latin typeface="Times New Roman" pitchFamily="18" charset="0"/>
              </a:rPr>
              <a:pPr/>
              <a:t>7</a:t>
            </a:fld>
            <a:endParaRPr lang="en-US" altLang="en-US" smtClean="0">
              <a:latin typeface="Times New Roman"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463739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755F5507-6F43-4BD6-B16B-B4D5C71F0D3B}" type="slidenum">
              <a:rPr lang="en-US" altLang="en-US" smtClean="0">
                <a:latin typeface="Times New Roman" pitchFamily="18" charset="0"/>
              </a:rPr>
              <a:pPr/>
              <a:t>8</a:t>
            </a:fld>
            <a:endParaRPr lang="en-US" altLang="en-US" smtClean="0">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538582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545AED1-ABED-4531-AB77-624B239ABE88}" type="slidenum">
              <a:rPr lang="en-US" altLang="en-US" smtClean="0">
                <a:latin typeface="Times New Roman" pitchFamily="18" charset="0"/>
              </a:rPr>
              <a:pPr/>
              <a:t>9</a:t>
            </a:fld>
            <a:endParaRPr lang="en-US" altLang="en-US" smtClean="0">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1469104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44865A9-3728-4392-8718-B0C9CDE45FC6}" type="slidenum">
              <a:rPr lang="en-US" altLang="en-US" smtClean="0">
                <a:latin typeface="Times New Roman" pitchFamily="18" charset="0"/>
              </a:rPr>
              <a:pPr/>
              <a:t>10</a:t>
            </a:fld>
            <a:endParaRPr lang="en-US" altLang="en-US" smtClean="0">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3915800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EEA8339-DD33-4392-9D2A-381C0239614F}" type="slidenum">
              <a:rPr lang="en-US" altLang="en-US" smtClean="0">
                <a:latin typeface="Times New Roman" pitchFamily="18" charset="0"/>
              </a:rPr>
              <a:pPr/>
              <a:t>11</a:t>
            </a:fld>
            <a:endParaRPr lang="en-US" altLang="en-US" smtClean="0">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1511364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47E0186-4D23-47E4-869E-5C20690B0959}" type="slidenum">
              <a:rPr lang="en-US" altLang="en-US" smtClean="0">
                <a:latin typeface="Times New Roman" pitchFamily="18" charset="0"/>
              </a:rPr>
              <a:pPr/>
              <a:t>12</a:t>
            </a:fld>
            <a:endParaRPr lang="en-US" altLang="en-US" smtClean="0">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3385478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7958163-6636-4E62-95A4-3D36EB413F73}" type="slidenum">
              <a:rPr lang="en-US" altLang="en-US" smtClean="0">
                <a:latin typeface="Times New Roman" pitchFamily="18" charset="0"/>
              </a:rPr>
              <a:pPr/>
              <a:t>13</a:t>
            </a:fld>
            <a:endParaRPr lang="en-US" altLang="en-US" smtClean="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2529184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933A5BE-CCF8-4792-9FDA-75C43B356836}" type="slidenum">
              <a:rPr lang="en-US" altLang="en-US" smtClean="0">
                <a:latin typeface="Times New Roman" pitchFamily="18" charset="0"/>
              </a:rPr>
              <a:pPr/>
              <a:t>14</a:t>
            </a:fld>
            <a:endParaRPr lang="en-US" altLang="en-US" smtClean="0">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230537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D8BB990-89D4-4972-BE65-79C8EF3984E0}" type="slidenum">
              <a:rPr lang="en-US" altLang="en-US" smtClean="0">
                <a:latin typeface="Times New Roman" pitchFamily="18" charset="0"/>
              </a:rPr>
              <a:pPr/>
              <a:t>15</a:t>
            </a:fld>
            <a:endParaRPr lang="en-US" altLang="en-US" smtClean="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2019740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4FF8E53-A26B-41E5-81F9-5F700A740279}" type="slidenum">
              <a:rPr lang="en-US" altLang="en-US" smtClean="0">
                <a:latin typeface="Times New Roman" pitchFamily="18" charset="0"/>
              </a:rPr>
              <a:pPr/>
              <a:t>16</a:t>
            </a:fld>
            <a:endParaRPr lang="en-US" altLang="en-US" smtClean="0">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2013052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7FB1129-BAB9-4F60-A7EF-EC1ABD8B1464}" type="slidenum">
              <a:rPr lang="en-US" altLang="en-US" smtClean="0">
                <a:latin typeface="Times New Roman" pitchFamily="18" charset="0"/>
              </a:rPr>
              <a:pPr/>
              <a:t>17</a:t>
            </a:fld>
            <a:endParaRPr lang="en-US" altLang="en-US" smtClean="0">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Times New Roman" pitchFamily="18" charset="0"/>
            </a:endParaRPr>
          </a:p>
        </p:txBody>
      </p:sp>
    </p:spTree>
    <p:extLst>
      <p:ext uri="{BB962C8B-B14F-4D97-AF65-F5344CB8AC3E}">
        <p14:creationId xmlns:p14="http://schemas.microsoft.com/office/powerpoint/2010/main" val="1589474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6FE20D7-9DD0-485A-A5B5-60B631868D6E}"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3372983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FE20D7-9DD0-485A-A5B5-60B631868D6E}"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729114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FE20D7-9DD0-485A-A5B5-60B631868D6E}"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1861627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6FE20D7-9DD0-485A-A5B5-60B631868D6E}" type="datetimeFigureOut">
              <a:rPr lang="en-IN" smtClean="0"/>
              <a:t>21-01-2023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540765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6FE20D7-9DD0-485A-A5B5-60B631868D6E}" type="datetimeFigureOut">
              <a:rPr lang="en-IN" smtClean="0"/>
              <a:t>21-01-2023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1768030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6FE20D7-9DD0-485A-A5B5-60B631868D6E}" type="datetimeFigureOut">
              <a:rPr lang="en-IN" smtClean="0"/>
              <a:t>21-01-2023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300367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FE20D7-9DD0-485A-A5B5-60B631868D6E}" type="datetimeFigureOut">
              <a:rPr lang="en-IN" smtClean="0"/>
              <a:t>21-01-2023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1357603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FE20D7-9DD0-485A-A5B5-60B631868D6E}" type="datetimeFigureOut">
              <a:rPr lang="en-IN" smtClean="0"/>
              <a:t>21-01-2023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1095817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FE20D7-9DD0-485A-A5B5-60B631868D6E}" type="datetimeFigureOut">
              <a:rPr lang="en-IN" smtClean="0"/>
              <a:t>21-01-2023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1907475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FE20D7-9DD0-485A-A5B5-60B631868D6E}"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2579928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6FE20D7-9DD0-485A-A5B5-60B631868D6E}"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A0B8DD-79CF-4E04-B4F7-01156EC52566}" type="slidenum">
              <a:rPr lang="en-IN" smtClean="0"/>
              <a:t>‹#›</a:t>
            </a:fld>
            <a:endParaRPr lang="en-IN"/>
          </a:p>
        </p:txBody>
      </p:sp>
    </p:spTree>
    <p:extLst>
      <p:ext uri="{BB962C8B-B14F-4D97-AF65-F5344CB8AC3E}">
        <p14:creationId xmlns:p14="http://schemas.microsoft.com/office/powerpoint/2010/main" val="4059611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E20D7-9DD0-485A-A5B5-60B631868D6E}" type="datetimeFigureOut">
              <a:rPr lang="en-IN" smtClean="0"/>
              <a:t>21-01-2023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A0B8DD-79CF-4E04-B4F7-01156EC52566}" type="slidenum">
              <a:rPr lang="en-IN" smtClean="0"/>
              <a:t>‹#›</a:t>
            </a:fld>
            <a:endParaRPr lang="en-IN"/>
          </a:p>
        </p:txBody>
      </p:sp>
    </p:spTree>
    <p:extLst>
      <p:ext uri="{BB962C8B-B14F-4D97-AF65-F5344CB8AC3E}">
        <p14:creationId xmlns:p14="http://schemas.microsoft.com/office/powerpoint/2010/main" val="3897898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700808"/>
            <a:ext cx="8229600" cy="1143000"/>
          </a:xfrm>
        </p:spPr>
        <p:txBody>
          <a:bodyPr/>
          <a:lstStyle/>
          <a:p>
            <a:r>
              <a:rPr lang="en-IN" dirty="0" smtClean="0"/>
              <a:t>Module7_Mass Storage Systems</a:t>
            </a:r>
            <a:endParaRPr lang="en-IN" dirty="0"/>
          </a:p>
        </p:txBody>
      </p:sp>
      <p:sp>
        <p:nvSpPr>
          <p:cNvPr id="3" name="Subtitle 4"/>
          <p:cNvSpPr>
            <a:spLocks noGrp="1"/>
          </p:cNvSpPr>
          <p:nvPr/>
        </p:nvSpPr>
        <p:spPr>
          <a:xfrm>
            <a:off x="1371600" y="2828528"/>
            <a:ext cx="6400800" cy="17526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defRPr/>
            </a:pPr>
            <a:r>
              <a:rPr lang="en-US" altLang="en-US" dirty="0"/>
              <a:t>Reference: “OPERATING SYSTEM CONCEPTS”, ABRAHAM SILBERSCHATZ, PETER BAER GALVIN, GREG GAGNE , Wiley publications. </a:t>
            </a:r>
            <a:endParaRPr lang="en-IN" dirty="0"/>
          </a:p>
        </p:txBody>
      </p:sp>
    </p:spTree>
    <p:extLst>
      <p:ext uri="{BB962C8B-B14F-4D97-AF65-F5344CB8AC3E}">
        <p14:creationId xmlns:p14="http://schemas.microsoft.com/office/powerpoint/2010/main" val="579750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54113" y="168275"/>
            <a:ext cx="7683500" cy="576263"/>
          </a:xfrm>
        </p:spPr>
        <p:txBody>
          <a:bodyPr>
            <a:normAutofit fontScale="90000"/>
          </a:bodyPr>
          <a:lstStyle/>
          <a:p>
            <a:pPr eaLnBrk="1" hangingPunct="1"/>
            <a:r>
              <a:rPr lang="en-US" altLang="en-US" smtClean="0"/>
              <a:t>Overview of Mass Storage Structure</a:t>
            </a:r>
          </a:p>
        </p:txBody>
      </p:sp>
      <p:sp>
        <p:nvSpPr>
          <p:cNvPr id="6147" name="Rectangle 3"/>
          <p:cNvSpPr>
            <a:spLocks noGrp="1" noChangeArrowheads="1"/>
          </p:cNvSpPr>
          <p:nvPr>
            <p:ph type="body" idx="1"/>
          </p:nvPr>
        </p:nvSpPr>
        <p:spPr>
          <a:xfrm>
            <a:off x="865188" y="1096963"/>
            <a:ext cx="7996237" cy="5270500"/>
          </a:xfrm>
        </p:spPr>
        <p:txBody>
          <a:bodyPr>
            <a:normAutofit fontScale="92500" lnSpcReduction="20000"/>
          </a:bodyPr>
          <a:lstStyle/>
          <a:p>
            <a:r>
              <a:rPr lang="en-US" altLang="en-US" b="1" dirty="0" smtClean="0">
                <a:solidFill>
                  <a:srgbClr val="3366FF"/>
                </a:solidFill>
              </a:rPr>
              <a:t>Magnetic disks</a:t>
            </a:r>
            <a:r>
              <a:rPr lang="en-US" altLang="en-US" dirty="0" smtClean="0">
                <a:solidFill>
                  <a:srgbClr val="3366FF"/>
                </a:solidFill>
              </a:rPr>
              <a:t> </a:t>
            </a:r>
            <a:r>
              <a:rPr lang="en-US" altLang="en-US" dirty="0" smtClean="0"/>
              <a:t>provide bulk of secondary storage of modern computers</a:t>
            </a:r>
          </a:p>
          <a:p>
            <a:pPr lvl="1"/>
            <a:r>
              <a:rPr lang="en-US" altLang="en-US" dirty="0" smtClean="0"/>
              <a:t>Drives rotate at 60 to 250 times per second</a:t>
            </a:r>
          </a:p>
          <a:p>
            <a:pPr lvl="1"/>
            <a:r>
              <a:rPr lang="en-US" altLang="en-US" b="1" dirty="0" smtClean="0">
                <a:solidFill>
                  <a:srgbClr val="3366FF"/>
                </a:solidFill>
              </a:rPr>
              <a:t>Transfer rate</a:t>
            </a:r>
            <a:r>
              <a:rPr lang="en-US" altLang="en-US" dirty="0" smtClean="0">
                <a:solidFill>
                  <a:srgbClr val="3366FF"/>
                </a:solidFill>
              </a:rPr>
              <a:t> </a:t>
            </a:r>
            <a:r>
              <a:rPr lang="en-US" altLang="en-US" dirty="0" smtClean="0"/>
              <a:t>is rate at which data flow between drive and computer</a:t>
            </a:r>
          </a:p>
          <a:p>
            <a:pPr lvl="1"/>
            <a:r>
              <a:rPr lang="en-US" altLang="en-US" b="1" dirty="0" smtClean="0">
                <a:solidFill>
                  <a:srgbClr val="3366FF"/>
                </a:solidFill>
              </a:rPr>
              <a:t>Positioning time</a:t>
            </a:r>
            <a:r>
              <a:rPr lang="en-US" altLang="en-US" dirty="0" smtClean="0">
                <a:solidFill>
                  <a:srgbClr val="3366FF"/>
                </a:solidFill>
              </a:rPr>
              <a:t> </a:t>
            </a:r>
            <a:r>
              <a:rPr lang="en-US" altLang="en-US" dirty="0" smtClean="0"/>
              <a:t>(</a:t>
            </a:r>
            <a:r>
              <a:rPr lang="en-US" altLang="en-US" b="1" dirty="0" smtClean="0">
                <a:solidFill>
                  <a:srgbClr val="3366FF"/>
                </a:solidFill>
              </a:rPr>
              <a:t>random-access time</a:t>
            </a:r>
            <a:r>
              <a:rPr lang="en-US" altLang="en-US" dirty="0" smtClean="0"/>
              <a:t>) is the time to move disk arm to desired cylinder (</a:t>
            </a:r>
            <a:r>
              <a:rPr lang="en-US" altLang="en-US" b="1" dirty="0" smtClean="0">
                <a:solidFill>
                  <a:srgbClr val="3366FF"/>
                </a:solidFill>
              </a:rPr>
              <a:t>seek time</a:t>
            </a:r>
            <a:r>
              <a:rPr lang="en-US" altLang="en-US" dirty="0" smtClean="0"/>
              <a:t>) and time for desired sector to rotate under the disk head (</a:t>
            </a:r>
            <a:r>
              <a:rPr lang="en-US" altLang="en-US" b="1" dirty="0" smtClean="0">
                <a:solidFill>
                  <a:srgbClr val="3366FF"/>
                </a:solidFill>
              </a:rPr>
              <a:t>rotational latency</a:t>
            </a:r>
            <a:r>
              <a:rPr lang="en-US" altLang="en-US" dirty="0" smtClean="0"/>
              <a:t>)</a:t>
            </a:r>
          </a:p>
          <a:p>
            <a:pPr lvl="1"/>
            <a:r>
              <a:rPr lang="en-US" altLang="en-US" b="1" dirty="0" smtClean="0">
                <a:solidFill>
                  <a:srgbClr val="3366FF"/>
                </a:solidFill>
              </a:rPr>
              <a:t>Head crash</a:t>
            </a:r>
            <a:r>
              <a:rPr lang="en-US" altLang="en-US" dirty="0" smtClean="0">
                <a:solidFill>
                  <a:srgbClr val="3366FF"/>
                </a:solidFill>
              </a:rPr>
              <a:t> </a:t>
            </a:r>
            <a:r>
              <a:rPr lang="en-US" altLang="en-US" dirty="0" smtClean="0"/>
              <a:t>results from disk head making contact with the disk surface  </a:t>
            </a:r>
            <a:endParaRPr lang="en-US" altLang="ja-JP" dirty="0" smtClean="0"/>
          </a:p>
          <a:p>
            <a:r>
              <a:rPr lang="en-US" altLang="en-US" dirty="0" smtClean="0"/>
              <a:t>Disks can be removable</a:t>
            </a:r>
          </a:p>
          <a:p>
            <a:r>
              <a:rPr lang="en-US" altLang="en-US" dirty="0" smtClean="0"/>
              <a:t>Drive attached to computer via </a:t>
            </a:r>
            <a:r>
              <a:rPr lang="en-US" altLang="en-US" b="1" dirty="0" smtClean="0">
                <a:solidFill>
                  <a:srgbClr val="3366FF"/>
                </a:solidFill>
              </a:rPr>
              <a:t>I/O bus</a:t>
            </a:r>
          </a:p>
        </p:txBody>
      </p:sp>
    </p:spTree>
    <p:extLst>
      <p:ext uri="{BB962C8B-B14F-4D97-AF65-F5344CB8AC3E}">
        <p14:creationId xmlns:p14="http://schemas.microsoft.com/office/powerpoint/2010/main" val="13452333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158875" y="182563"/>
            <a:ext cx="7527925" cy="576262"/>
          </a:xfrm>
        </p:spPr>
        <p:txBody>
          <a:bodyPr>
            <a:normAutofit fontScale="90000"/>
          </a:bodyPr>
          <a:lstStyle/>
          <a:p>
            <a:pPr eaLnBrk="1" hangingPunct="1"/>
            <a:r>
              <a:rPr lang="en-US" altLang="en-US" smtClean="0"/>
              <a:t>Moving-head Disk Mechanism</a:t>
            </a:r>
          </a:p>
        </p:txBody>
      </p:sp>
      <p:pic>
        <p:nvPicPr>
          <p:cNvPr id="7171" name="Picture 1" descr="10_0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5302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127000"/>
            <a:ext cx="8229600" cy="576263"/>
          </a:xfrm>
        </p:spPr>
        <p:txBody>
          <a:bodyPr>
            <a:normAutofit fontScale="90000"/>
          </a:bodyPr>
          <a:lstStyle/>
          <a:p>
            <a:r>
              <a:rPr lang="en-US" altLang="en-US" smtClean="0"/>
              <a:t>Hard Disks</a:t>
            </a:r>
          </a:p>
        </p:txBody>
      </p:sp>
      <p:sp>
        <p:nvSpPr>
          <p:cNvPr id="8195" name="Content Placeholder 2"/>
          <p:cNvSpPr>
            <a:spLocks noGrp="1"/>
          </p:cNvSpPr>
          <p:nvPr>
            <p:ph idx="1"/>
          </p:nvPr>
        </p:nvSpPr>
        <p:spPr>
          <a:xfrm>
            <a:off x="792163" y="1028700"/>
            <a:ext cx="4940300" cy="4935538"/>
          </a:xfrm>
        </p:spPr>
        <p:txBody>
          <a:bodyPr>
            <a:normAutofit fontScale="70000" lnSpcReduction="20000"/>
          </a:bodyPr>
          <a:lstStyle/>
          <a:p>
            <a:r>
              <a:rPr lang="en-US" altLang="en-US" smtClean="0"/>
              <a:t>Platters range from .85</a:t>
            </a:r>
            <a:r>
              <a:rPr lang="ja-JP" altLang="en-US" smtClean="0"/>
              <a:t>”</a:t>
            </a:r>
            <a:r>
              <a:rPr lang="en-US" altLang="ja-JP" smtClean="0"/>
              <a:t> to 14</a:t>
            </a:r>
            <a:r>
              <a:rPr lang="ja-JP" altLang="en-US" smtClean="0"/>
              <a:t>”</a:t>
            </a:r>
            <a:r>
              <a:rPr lang="en-US" altLang="ja-JP" smtClean="0"/>
              <a:t> (historically)</a:t>
            </a:r>
          </a:p>
          <a:p>
            <a:pPr lvl="1"/>
            <a:r>
              <a:rPr lang="en-US" altLang="en-US" smtClean="0"/>
              <a:t>Commonly 3.5</a:t>
            </a:r>
            <a:r>
              <a:rPr lang="ja-JP" altLang="en-US" smtClean="0"/>
              <a:t>”</a:t>
            </a:r>
            <a:r>
              <a:rPr lang="en-US" altLang="ja-JP" smtClean="0"/>
              <a:t>, 2.5</a:t>
            </a:r>
            <a:r>
              <a:rPr lang="ja-JP" altLang="en-US" smtClean="0"/>
              <a:t>”</a:t>
            </a:r>
            <a:r>
              <a:rPr lang="en-US" altLang="ja-JP" smtClean="0"/>
              <a:t>, and 1.8</a:t>
            </a:r>
            <a:r>
              <a:rPr lang="ja-JP" altLang="en-US" smtClean="0"/>
              <a:t>”</a:t>
            </a:r>
            <a:endParaRPr lang="en-US" altLang="ja-JP" smtClean="0"/>
          </a:p>
          <a:p>
            <a:r>
              <a:rPr lang="en-US" altLang="en-US" smtClean="0"/>
              <a:t>Range from 30GB to 3TB per drive</a:t>
            </a:r>
          </a:p>
          <a:p>
            <a:r>
              <a:rPr lang="en-US" altLang="en-US" smtClean="0"/>
              <a:t>Performance </a:t>
            </a:r>
          </a:p>
          <a:p>
            <a:pPr lvl="1"/>
            <a:r>
              <a:rPr lang="en-US" altLang="en-US" smtClean="0"/>
              <a:t>Transfer Rate – theoretical – 6 Gb/sec</a:t>
            </a:r>
          </a:p>
          <a:p>
            <a:pPr lvl="1"/>
            <a:r>
              <a:rPr lang="en-US" altLang="en-US" smtClean="0"/>
              <a:t>Effective Transfer Rate – real – 1Gb/sec</a:t>
            </a:r>
          </a:p>
          <a:p>
            <a:pPr lvl="1"/>
            <a:r>
              <a:rPr lang="en-US" altLang="en-US" smtClean="0"/>
              <a:t>Seek time from 3ms to 12ms – 9ms common for desktop drives</a:t>
            </a:r>
          </a:p>
          <a:p>
            <a:pPr lvl="1"/>
            <a:r>
              <a:rPr lang="en-US" altLang="en-US" smtClean="0"/>
              <a:t>Average seek time measured or calculated based on 1/3 of tracks</a:t>
            </a:r>
          </a:p>
          <a:p>
            <a:pPr lvl="1"/>
            <a:r>
              <a:rPr lang="en-US" altLang="en-US" smtClean="0"/>
              <a:t>Latency based on spindle speed</a:t>
            </a:r>
          </a:p>
          <a:p>
            <a:pPr lvl="2"/>
            <a:r>
              <a:rPr lang="en-US" altLang="en-US" smtClean="0"/>
              <a:t>1 / (RPM / 60) = 60 / RPM</a:t>
            </a:r>
          </a:p>
          <a:p>
            <a:pPr lvl="1"/>
            <a:r>
              <a:rPr lang="en-US" altLang="en-US" smtClean="0"/>
              <a:t>Average latency = ½ latency</a:t>
            </a:r>
          </a:p>
          <a:p>
            <a:pPr lvl="1"/>
            <a:endParaRPr lang="en-US" altLang="en-US" smtClean="0"/>
          </a:p>
          <a:p>
            <a:endParaRPr lang="en-US" altLang="en-US" smtClean="0"/>
          </a:p>
        </p:txBody>
      </p:sp>
      <p:pic>
        <p:nvPicPr>
          <p:cNvPr id="819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4038" y="2911475"/>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4"/>
          <p:cNvSpPr txBox="1">
            <a:spLocks noChangeArrowheads="1"/>
          </p:cNvSpPr>
          <p:nvPr/>
        </p:nvSpPr>
        <p:spPr bwMode="auto">
          <a:xfrm>
            <a:off x="6134100" y="5297488"/>
            <a:ext cx="23415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5" tIns="32003" rIns="64005" bIns="32003">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a:t>(From Wikipedia)</a:t>
            </a:r>
          </a:p>
        </p:txBody>
      </p:sp>
    </p:spTree>
    <p:extLst>
      <p:ext uri="{BB962C8B-B14F-4D97-AF65-F5344CB8AC3E}">
        <p14:creationId xmlns:p14="http://schemas.microsoft.com/office/powerpoint/2010/main" val="26936140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757238" y="141288"/>
            <a:ext cx="8229600" cy="576262"/>
          </a:xfrm>
        </p:spPr>
        <p:txBody>
          <a:bodyPr>
            <a:normAutofit fontScale="90000"/>
          </a:bodyPr>
          <a:lstStyle/>
          <a:p>
            <a:r>
              <a:rPr lang="en-US" altLang="en-US" smtClean="0"/>
              <a:t>The First Commercial Disk Drive</a:t>
            </a:r>
          </a:p>
        </p:txBody>
      </p:sp>
      <p:pic>
        <p:nvPicPr>
          <p:cNvPr id="1024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14438"/>
            <a:ext cx="3481388"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3"/>
          <p:cNvSpPr txBox="1">
            <a:spLocks noChangeArrowheads="1"/>
          </p:cNvSpPr>
          <p:nvPr/>
        </p:nvSpPr>
        <p:spPr bwMode="auto">
          <a:xfrm>
            <a:off x="5594350" y="1698625"/>
            <a:ext cx="332898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a:t>1956</a:t>
            </a:r>
          </a:p>
          <a:p>
            <a:r>
              <a:rPr lang="en-US" altLang="en-US"/>
              <a:t>IBM RAMDAC computer included the IBM Model 350 disk storage system</a:t>
            </a:r>
          </a:p>
          <a:p>
            <a:endParaRPr lang="en-US" altLang="en-US"/>
          </a:p>
          <a:p>
            <a:r>
              <a:rPr lang="en-US" altLang="en-US"/>
              <a:t>5M (7 bit) characters</a:t>
            </a:r>
          </a:p>
          <a:p>
            <a:r>
              <a:rPr lang="en-US" altLang="en-US"/>
              <a:t>50 x 24</a:t>
            </a:r>
            <a:r>
              <a:rPr lang="ja-JP" altLang="en-US"/>
              <a:t>”</a:t>
            </a:r>
            <a:r>
              <a:rPr lang="en-US" altLang="ja-JP"/>
              <a:t> platters</a:t>
            </a:r>
          </a:p>
          <a:p>
            <a:r>
              <a:rPr lang="en-US" altLang="en-US"/>
              <a:t>Access time = &lt; 1 second</a:t>
            </a:r>
          </a:p>
          <a:p>
            <a:endParaRPr lang="en-US" altLang="en-US"/>
          </a:p>
        </p:txBody>
      </p:sp>
    </p:spTree>
    <p:extLst>
      <p:ext uri="{BB962C8B-B14F-4D97-AF65-F5344CB8AC3E}">
        <p14:creationId xmlns:p14="http://schemas.microsoft.com/office/powerpoint/2010/main" val="32984925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04875" y="155575"/>
            <a:ext cx="7781925" cy="576263"/>
          </a:xfrm>
        </p:spPr>
        <p:txBody>
          <a:bodyPr>
            <a:normAutofit fontScale="90000"/>
          </a:bodyPr>
          <a:lstStyle/>
          <a:p>
            <a:pPr eaLnBrk="1" hangingPunct="1"/>
            <a:r>
              <a:rPr lang="en-US" altLang="en-US" smtClean="0"/>
              <a:t>Disk Structure</a:t>
            </a:r>
          </a:p>
        </p:txBody>
      </p:sp>
      <p:sp>
        <p:nvSpPr>
          <p:cNvPr id="13315" name="Rectangle 3"/>
          <p:cNvSpPr>
            <a:spLocks noGrp="1" noChangeArrowheads="1"/>
          </p:cNvSpPr>
          <p:nvPr>
            <p:ph type="body" idx="1"/>
          </p:nvPr>
        </p:nvSpPr>
        <p:spPr>
          <a:xfrm>
            <a:off x="833438" y="1069975"/>
            <a:ext cx="7313612" cy="4530725"/>
          </a:xfrm>
        </p:spPr>
        <p:txBody>
          <a:bodyPr>
            <a:normAutofit fontScale="77500" lnSpcReduction="20000"/>
          </a:bodyPr>
          <a:lstStyle/>
          <a:p>
            <a:r>
              <a:rPr lang="en-US" altLang="en-US" dirty="0" smtClean="0"/>
              <a:t>Disk drives are addressed as large 1-dimensional arrays of </a:t>
            </a:r>
            <a:r>
              <a:rPr lang="en-US" altLang="en-US" b="1" dirty="0" smtClean="0">
                <a:solidFill>
                  <a:srgbClr val="3366FF"/>
                </a:solidFill>
              </a:rPr>
              <a:t>logical blocks</a:t>
            </a:r>
            <a:r>
              <a:rPr lang="en-US" altLang="en-US" dirty="0" smtClean="0"/>
              <a:t>, where the logical block is the smallest unit of transfer</a:t>
            </a:r>
          </a:p>
          <a:p>
            <a:pPr lvl="1"/>
            <a:r>
              <a:rPr lang="en-US" altLang="en-US" dirty="0" smtClean="0"/>
              <a:t>Low-level formatting creates </a:t>
            </a:r>
            <a:r>
              <a:rPr lang="en-US" altLang="en-US" b="1" dirty="0" smtClean="0">
                <a:solidFill>
                  <a:srgbClr val="3366FF"/>
                </a:solidFill>
              </a:rPr>
              <a:t>logical blocks </a:t>
            </a:r>
            <a:r>
              <a:rPr lang="en-US" altLang="en-US" dirty="0" smtClean="0"/>
              <a:t>on physical media</a:t>
            </a:r>
          </a:p>
          <a:p>
            <a:r>
              <a:rPr lang="en-US" altLang="en-US" dirty="0" smtClean="0"/>
              <a:t>The 1-dimensional array of logical blocks is mapped into the sectors of the disk sequentially</a:t>
            </a:r>
          </a:p>
          <a:p>
            <a:pPr lvl="1"/>
            <a:r>
              <a:rPr lang="en-US" altLang="en-US" dirty="0" smtClean="0">
                <a:solidFill>
                  <a:srgbClr val="FF0000"/>
                </a:solidFill>
              </a:rPr>
              <a:t>Sector 0 is the first sector of the first track on the outermost cylinder</a:t>
            </a:r>
          </a:p>
          <a:p>
            <a:pPr lvl="1"/>
            <a:r>
              <a:rPr lang="en-US" altLang="en-US" dirty="0" smtClean="0"/>
              <a:t>Mapping proceeds in order through that track, then the rest of the tracks in that cylinder, and then through the rest of the cylinders from outermost to innermost</a:t>
            </a:r>
          </a:p>
          <a:p>
            <a:pPr lvl="1"/>
            <a:r>
              <a:rPr lang="en-US" altLang="en-US" dirty="0" smtClean="0"/>
              <a:t>Logical to physical address should be easy</a:t>
            </a:r>
          </a:p>
          <a:p>
            <a:pPr lvl="2"/>
            <a:r>
              <a:rPr lang="en-US" altLang="en-US" dirty="0" smtClean="0"/>
              <a:t>Except for bad sectors</a:t>
            </a:r>
          </a:p>
        </p:txBody>
      </p:sp>
    </p:spTree>
    <p:extLst>
      <p:ext uri="{BB962C8B-B14F-4D97-AF65-F5344CB8AC3E}">
        <p14:creationId xmlns:p14="http://schemas.microsoft.com/office/powerpoint/2010/main" val="22246077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68275"/>
            <a:ext cx="8229600" cy="576263"/>
          </a:xfrm>
        </p:spPr>
        <p:txBody>
          <a:bodyPr>
            <a:normAutofit fontScale="90000"/>
          </a:bodyPr>
          <a:lstStyle/>
          <a:p>
            <a:pPr eaLnBrk="1" hangingPunct="1"/>
            <a:r>
              <a:rPr lang="en-US" altLang="en-US" smtClean="0"/>
              <a:t>Disk Scheduling</a:t>
            </a:r>
          </a:p>
        </p:txBody>
      </p:sp>
      <p:sp>
        <p:nvSpPr>
          <p:cNvPr id="19459" name="Rectangle 3"/>
          <p:cNvSpPr>
            <a:spLocks noGrp="1" noChangeArrowheads="1"/>
          </p:cNvSpPr>
          <p:nvPr>
            <p:ph type="body" idx="1"/>
          </p:nvPr>
        </p:nvSpPr>
        <p:spPr>
          <a:xfrm>
            <a:off x="889000" y="1123950"/>
            <a:ext cx="6945313" cy="5146675"/>
          </a:xfrm>
        </p:spPr>
        <p:txBody>
          <a:bodyPr>
            <a:normAutofit fontScale="92500"/>
          </a:bodyPr>
          <a:lstStyle/>
          <a:p>
            <a:r>
              <a:rPr lang="en-US" altLang="en-US" dirty="0" smtClean="0"/>
              <a:t>The operating system is responsible for </a:t>
            </a:r>
            <a:r>
              <a:rPr lang="en-US" altLang="en-US" dirty="0" smtClean="0">
                <a:solidFill>
                  <a:srgbClr val="FF0000"/>
                </a:solidFill>
              </a:rPr>
              <a:t>using hardware efficiently </a:t>
            </a:r>
            <a:r>
              <a:rPr lang="en-US" altLang="en-US" dirty="0" smtClean="0"/>
              <a:t>— for the disk drives, this means having a </a:t>
            </a:r>
            <a:r>
              <a:rPr lang="en-US" altLang="en-US" dirty="0" smtClean="0">
                <a:solidFill>
                  <a:srgbClr val="FF0000"/>
                </a:solidFill>
              </a:rPr>
              <a:t>fast access time and disk bandwidth</a:t>
            </a:r>
            <a:endParaRPr lang="en-US" altLang="en-US" sz="800" dirty="0" smtClean="0">
              <a:solidFill>
                <a:srgbClr val="FF0000"/>
              </a:solidFill>
            </a:endParaRPr>
          </a:p>
          <a:p>
            <a:r>
              <a:rPr lang="en-US" altLang="en-US" dirty="0" smtClean="0"/>
              <a:t>Minimize seek time</a:t>
            </a:r>
            <a:endParaRPr lang="en-US" altLang="en-US" sz="800" dirty="0" smtClean="0"/>
          </a:p>
          <a:p>
            <a:r>
              <a:rPr lang="en-US" altLang="en-US" dirty="0" smtClean="0"/>
              <a:t>Seek time </a:t>
            </a:r>
            <a:r>
              <a:rPr lang="en-US" altLang="en-US" dirty="0" smtClean="0">
                <a:sym typeface="Symbol" pitchFamily="18" charset="2"/>
              </a:rPr>
              <a:t> seek distance</a:t>
            </a:r>
            <a:endParaRPr lang="en-US" altLang="en-US" sz="800" dirty="0" smtClean="0">
              <a:sym typeface="Symbol" pitchFamily="18" charset="2"/>
            </a:endParaRPr>
          </a:p>
          <a:p>
            <a:pPr algn="just"/>
            <a:r>
              <a:rPr lang="en-US" altLang="en-US" dirty="0" smtClean="0">
                <a:sym typeface="Symbol" pitchFamily="18" charset="2"/>
              </a:rPr>
              <a:t>Disk </a:t>
            </a:r>
            <a:r>
              <a:rPr lang="en-US" altLang="en-US" b="1" dirty="0" smtClean="0">
                <a:solidFill>
                  <a:srgbClr val="3366FF"/>
                </a:solidFill>
                <a:sym typeface="Symbol" pitchFamily="18" charset="2"/>
              </a:rPr>
              <a:t>bandwidth</a:t>
            </a:r>
            <a:r>
              <a:rPr lang="en-US" altLang="en-US" dirty="0" smtClean="0">
                <a:solidFill>
                  <a:srgbClr val="3366FF"/>
                </a:solidFill>
                <a:sym typeface="Symbol" pitchFamily="18" charset="2"/>
              </a:rPr>
              <a:t> </a:t>
            </a:r>
            <a:r>
              <a:rPr lang="en-US" altLang="en-US" dirty="0" smtClean="0">
                <a:sym typeface="Symbol" pitchFamily="18" charset="2"/>
              </a:rPr>
              <a:t>is the </a:t>
            </a:r>
            <a:r>
              <a:rPr lang="en-US" altLang="en-US" dirty="0" smtClean="0">
                <a:solidFill>
                  <a:srgbClr val="FF0000"/>
                </a:solidFill>
                <a:sym typeface="Symbol" pitchFamily="18" charset="2"/>
              </a:rPr>
              <a:t>total number of bytes transferred</a:t>
            </a:r>
            <a:r>
              <a:rPr lang="en-US" altLang="en-US" dirty="0" smtClean="0">
                <a:sym typeface="Symbol" pitchFamily="18" charset="2"/>
              </a:rPr>
              <a:t>, divided by the </a:t>
            </a:r>
            <a:r>
              <a:rPr lang="en-US" altLang="en-US" dirty="0" smtClean="0">
                <a:solidFill>
                  <a:srgbClr val="FF0000"/>
                </a:solidFill>
                <a:sym typeface="Symbol" pitchFamily="18" charset="2"/>
              </a:rPr>
              <a:t>total time between the first request for service and the completion of the last transfer</a:t>
            </a:r>
            <a:endParaRPr lang="en-US" altLang="en-US" dirty="0" smtClean="0">
              <a:solidFill>
                <a:srgbClr val="FF0000"/>
              </a:solidFill>
            </a:endParaRPr>
          </a:p>
        </p:txBody>
      </p:sp>
    </p:spTree>
    <p:extLst>
      <p:ext uri="{BB962C8B-B14F-4D97-AF65-F5344CB8AC3E}">
        <p14:creationId xmlns:p14="http://schemas.microsoft.com/office/powerpoint/2010/main" val="345458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smtClean="0"/>
              <a:t>Disk Scheduling (Cont.)</a:t>
            </a:r>
          </a:p>
        </p:txBody>
      </p:sp>
      <p:sp>
        <p:nvSpPr>
          <p:cNvPr id="20483" name="Rectangle 3"/>
          <p:cNvSpPr>
            <a:spLocks noGrp="1" noChangeArrowheads="1"/>
          </p:cNvSpPr>
          <p:nvPr>
            <p:ph type="body" idx="1"/>
          </p:nvPr>
        </p:nvSpPr>
        <p:spPr>
          <a:xfrm>
            <a:off x="889000" y="1023938"/>
            <a:ext cx="7394575" cy="4781550"/>
          </a:xfrm>
        </p:spPr>
        <p:txBody>
          <a:bodyPr>
            <a:normAutofit fontScale="85000" lnSpcReduction="20000"/>
          </a:bodyPr>
          <a:lstStyle/>
          <a:p>
            <a:pPr>
              <a:tabLst>
                <a:tab pos="1708150" algn="l"/>
              </a:tabLst>
            </a:pPr>
            <a:r>
              <a:rPr lang="en-US" altLang="en-US" dirty="0" smtClean="0"/>
              <a:t>There are many sources of disk I/O request</a:t>
            </a:r>
          </a:p>
          <a:p>
            <a:pPr lvl="1">
              <a:tabLst>
                <a:tab pos="1708150" algn="l"/>
              </a:tabLst>
            </a:pPr>
            <a:r>
              <a:rPr lang="en-US" altLang="en-US" dirty="0" smtClean="0"/>
              <a:t>OS</a:t>
            </a:r>
          </a:p>
          <a:p>
            <a:pPr lvl="1">
              <a:tabLst>
                <a:tab pos="1708150" algn="l"/>
              </a:tabLst>
            </a:pPr>
            <a:r>
              <a:rPr lang="en-US" altLang="en-US" dirty="0" smtClean="0"/>
              <a:t>System processes</a:t>
            </a:r>
          </a:p>
          <a:p>
            <a:pPr lvl="1">
              <a:tabLst>
                <a:tab pos="1708150" algn="l"/>
              </a:tabLst>
            </a:pPr>
            <a:r>
              <a:rPr lang="en-US" altLang="en-US" dirty="0" smtClean="0"/>
              <a:t>Users processes</a:t>
            </a:r>
          </a:p>
          <a:p>
            <a:pPr>
              <a:tabLst>
                <a:tab pos="1708150" algn="l"/>
              </a:tabLst>
            </a:pPr>
            <a:r>
              <a:rPr lang="en-US" altLang="en-US" dirty="0" smtClean="0"/>
              <a:t>I/O request includes </a:t>
            </a:r>
            <a:r>
              <a:rPr lang="en-US" altLang="en-US" dirty="0" smtClean="0">
                <a:solidFill>
                  <a:srgbClr val="FF0000"/>
                </a:solidFill>
              </a:rPr>
              <a:t>input or output mode, disk address, memory address, number of sectors to transfer</a:t>
            </a:r>
          </a:p>
          <a:p>
            <a:pPr algn="just">
              <a:tabLst>
                <a:tab pos="1708150" algn="l"/>
              </a:tabLst>
            </a:pPr>
            <a:r>
              <a:rPr lang="en-US" altLang="en-US" dirty="0" smtClean="0"/>
              <a:t>OS maintains queue of requests, per disk or device</a:t>
            </a:r>
          </a:p>
          <a:p>
            <a:pPr>
              <a:tabLst>
                <a:tab pos="1708150" algn="l"/>
              </a:tabLst>
            </a:pPr>
            <a:r>
              <a:rPr lang="en-US" altLang="en-US" dirty="0" smtClean="0"/>
              <a:t>Idle disk can immediately work on I/O request, busy disk must queue the requests</a:t>
            </a:r>
          </a:p>
          <a:p>
            <a:pPr lvl="1">
              <a:tabLst>
                <a:tab pos="1708150" algn="l"/>
              </a:tabLst>
            </a:pPr>
            <a:r>
              <a:rPr lang="en-US" altLang="en-US" dirty="0" smtClean="0"/>
              <a:t>Optimization algorithms only make sense when a queue exists</a:t>
            </a:r>
          </a:p>
        </p:txBody>
      </p:sp>
    </p:spTree>
    <p:extLst>
      <p:ext uri="{BB962C8B-B14F-4D97-AF65-F5344CB8AC3E}">
        <p14:creationId xmlns:p14="http://schemas.microsoft.com/office/powerpoint/2010/main" val="229251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smtClean="0"/>
              <a:t>Disk Scheduling (Cont.)</a:t>
            </a:r>
          </a:p>
        </p:txBody>
      </p:sp>
      <p:sp>
        <p:nvSpPr>
          <p:cNvPr id="21507" name="Rectangle 3"/>
          <p:cNvSpPr>
            <a:spLocks noGrp="1" noChangeArrowheads="1"/>
          </p:cNvSpPr>
          <p:nvPr>
            <p:ph type="body" idx="1"/>
          </p:nvPr>
        </p:nvSpPr>
        <p:spPr>
          <a:xfrm>
            <a:off x="874713" y="1023938"/>
            <a:ext cx="7286625" cy="4781550"/>
          </a:xfrm>
        </p:spPr>
        <p:txBody>
          <a:bodyPr>
            <a:normAutofit fontScale="92500" lnSpcReduction="20000"/>
          </a:bodyPr>
          <a:lstStyle/>
          <a:p>
            <a:pPr>
              <a:tabLst>
                <a:tab pos="1708150" algn="l"/>
              </a:tabLst>
            </a:pPr>
            <a:r>
              <a:rPr lang="en-US" altLang="en-US" dirty="0">
                <a:solidFill>
                  <a:srgbClr val="FF0000"/>
                </a:solidFill>
              </a:rPr>
              <a:t>D</a:t>
            </a:r>
            <a:r>
              <a:rPr lang="en-US" altLang="en-US" dirty="0" smtClean="0">
                <a:solidFill>
                  <a:srgbClr val="FF0000"/>
                </a:solidFill>
              </a:rPr>
              <a:t>rive controllers have small buffers</a:t>
            </a:r>
            <a:r>
              <a:rPr lang="en-US" altLang="en-US" dirty="0" smtClean="0"/>
              <a:t> and can manage a queue of I/O requests (of varying </a:t>
            </a:r>
            <a:r>
              <a:rPr lang="ja-JP" altLang="en-US" dirty="0" smtClean="0"/>
              <a:t>“</a:t>
            </a:r>
            <a:r>
              <a:rPr lang="en-US" altLang="ja-JP" dirty="0" smtClean="0"/>
              <a:t>depth</a:t>
            </a:r>
            <a:r>
              <a:rPr lang="ja-JP" altLang="en-US" dirty="0" smtClean="0"/>
              <a:t>”</a:t>
            </a:r>
            <a:r>
              <a:rPr lang="en-US" altLang="ja-JP" dirty="0" smtClean="0"/>
              <a:t>)</a:t>
            </a:r>
            <a:endParaRPr lang="en-US" altLang="en-US" dirty="0" smtClean="0"/>
          </a:p>
          <a:p>
            <a:pPr>
              <a:tabLst>
                <a:tab pos="1708150" algn="l"/>
              </a:tabLst>
            </a:pPr>
            <a:r>
              <a:rPr lang="en-US" altLang="en-US" dirty="0" smtClean="0"/>
              <a:t>Several </a:t>
            </a:r>
            <a:r>
              <a:rPr lang="en-US" altLang="en-US" dirty="0" smtClean="0">
                <a:solidFill>
                  <a:srgbClr val="FF0000"/>
                </a:solidFill>
              </a:rPr>
              <a:t>algorithms exist to schedule the servicing of disk I/O requests</a:t>
            </a:r>
          </a:p>
          <a:p>
            <a:pPr>
              <a:tabLst>
                <a:tab pos="1708150" algn="l"/>
              </a:tabLst>
            </a:pPr>
            <a:r>
              <a:rPr lang="en-US" altLang="en-US" dirty="0" smtClean="0"/>
              <a:t>We illustrate scheduling algorithms with a request queue (0-199)</a:t>
            </a:r>
          </a:p>
          <a:p>
            <a:pPr>
              <a:buFont typeface="Monotype Sorts" pitchFamily="-84" charset="2"/>
              <a:buNone/>
              <a:tabLst>
                <a:tab pos="1708150" algn="l"/>
              </a:tabLst>
            </a:pPr>
            <a:r>
              <a:rPr lang="en-US" altLang="en-US" dirty="0" smtClean="0"/>
              <a:t>		</a:t>
            </a:r>
            <a:br>
              <a:rPr lang="en-US" altLang="en-US" dirty="0" smtClean="0"/>
            </a:br>
            <a:r>
              <a:rPr lang="en-US" altLang="en-US" dirty="0" smtClean="0"/>
              <a:t>	98, 183, 37, 122, 14, 124, 65, 67</a:t>
            </a:r>
          </a:p>
          <a:p>
            <a:pPr>
              <a:buFont typeface="Monotype Sorts" pitchFamily="-84" charset="2"/>
              <a:buNone/>
              <a:tabLst>
                <a:tab pos="1708150" algn="l"/>
              </a:tabLst>
            </a:pPr>
            <a:r>
              <a:rPr lang="en-US" altLang="en-US" dirty="0" smtClean="0"/>
              <a:t>	Head pointer 53</a:t>
            </a:r>
          </a:p>
          <a:p>
            <a:pPr>
              <a:buFont typeface="Monotype Sorts" pitchFamily="-84" charset="2"/>
              <a:buNone/>
              <a:tabLst>
                <a:tab pos="1708150" algn="l"/>
              </a:tabLst>
            </a:pPr>
            <a:r>
              <a:rPr lang="en-IN" smtClean="0">
                <a:solidFill>
                  <a:srgbClr val="FF0000"/>
                </a:solidFill>
              </a:rPr>
              <a:t>     </a:t>
            </a:r>
            <a:endParaRPr lang="en-US" altLang="en-US" dirty="0" smtClean="0"/>
          </a:p>
        </p:txBody>
      </p:sp>
    </p:spTree>
    <p:extLst>
      <p:ext uri="{BB962C8B-B14F-4D97-AF65-F5344CB8AC3E}">
        <p14:creationId xmlns:p14="http://schemas.microsoft.com/office/powerpoint/2010/main" val="1473905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2663" y="155575"/>
            <a:ext cx="6950075" cy="576263"/>
          </a:xfrm>
        </p:spPr>
        <p:txBody>
          <a:bodyPr>
            <a:normAutofit fontScale="90000"/>
          </a:bodyPr>
          <a:lstStyle/>
          <a:p>
            <a:pPr eaLnBrk="1" hangingPunct="1"/>
            <a:r>
              <a:rPr lang="en-US" altLang="en-US" smtClean="0"/>
              <a:t>FCFS</a:t>
            </a:r>
          </a:p>
        </p:txBody>
      </p:sp>
      <p:sp>
        <p:nvSpPr>
          <p:cNvPr id="22531" name="Text Box 4"/>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a:latin typeface="Helvetica" pitchFamily="-84" charset="0"/>
              </a:rPr>
              <a:t>Illustration shows total head movement of 640 cylinders</a:t>
            </a:r>
          </a:p>
        </p:txBody>
      </p:sp>
      <p:pic>
        <p:nvPicPr>
          <p:cNvPr id="225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73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smtClean="0"/>
              <a:t>SSTF</a:t>
            </a:r>
          </a:p>
        </p:txBody>
      </p:sp>
      <p:sp>
        <p:nvSpPr>
          <p:cNvPr id="23555" name="Rectangle 3"/>
          <p:cNvSpPr>
            <a:spLocks noGrp="1" noChangeArrowheads="1"/>
          </p:cNvSpPr>
          <p:nvPr>
            <p:ph type="body" idx="1"/>
          </p:nvPr>
        </p:nvSpPr>
        <p:spPr>
          <a:xfrm>
            <a:off x="874713" y="1111250"/>
            <a:ext cx="7081837" cy="4530725"/>
          </a:xfrm>
        </p:spPr>
        <p:txBody>
          <a:bodyPr>
            <a:normAutofit/>
          </a:bodyPr>
          <a:lstStyle/>
          <a:p>
            <a:r>
              <a:rPr lang="en-US" altLang="en-US" sz="1800" dirty="0" smtClean="0"/>
              <a:t>Shortest Seek Time First selects the request with the minimum seek time from the current head position</a:t>
            </a:r>
          </a:p>
          <a:p>
            <a:r>
              <a:rPr lang="en-US" altLang="en-US" sz="1800" dirty="0" smtClean="0"/>
              <a:t>SSTF scheduling is a form of SJF scheduling; may cause starvation of some requests</a:t>
            </a:r>
          </a:p>
          <a:p>
            <a:r>
              <a:rPr lang="en-US" altLang="en-US" sz="1800" dirty="0" smtClean="0"/>
              <a:t>Illustration shows total head movement of 236 cylinders</a:t>
            </a: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249" y="2780928"/>
            <a:ext cx="4811713"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62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smtClean="0"/>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dirty="0" smtClean="0"/>
              <a:t>The disk arm starts at one end of the disk, and moves toward the other end, servicing requests until it gets to the other end of the disk, where the head movement is reversed and servicing continues.</a:t>
            </a:r>
          </a:p>
          <a:p>
            <a:r>
              <a:rPr lang="en-US" altLang="en-US" b="1" dirty="0" smtClean="0">
                <a:solidFill>
                  <a:srgbClr val="3366FF"/>
                </a:solidFill>
              </a:rPr>
              <a:t>SCAN algorithm</a:t>
            </a:r>
            <a:r>
              <a:rPr lang="en-US" altLang="en-US" dirty="0" smtClean="0">
                <a:solidFill>
                  <a:srgbClr val="3366FF"/>
                </a:solidFill>
              </a:rPr>
              <a:t> is </a:t>
            </a:r>
            <a:r>
              <a:rPr lang="en-US" altLang="en-US" dirty="0" smtClean="0"/>
              <a:t>sometimes called the </a:t>
            </a:r>
            <a:r>
              <a:rPr lang="en-US" altLang="en-US" b="1" dirty="0" smtClean="0">
                <a:solidFill>
                  <a:srgbClr val="3366FF"/>
                </a:solidFill>
              </a:rPr>
              <a:t>elevator algorithm</a:t>
            </a:r>
          </a:p>
        </p:txBody>
      </p:sp>
    </p:spTree>
    <p:extLst>
      <p:ext uri="{BB962C8B-B14F-4D97-AF65-F5344CB8AC3E}">
        <p14:creationId xmlns:p14="http://schemas.microsoft.com/office/powerpoint/2010/main" val="3211174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smtClean="0"/>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351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smtClean="0"/>
              <a:t>C-SCAN</a:t>
            </a:r>
          </a:p>
        </p:txBody>
      </p:sp>
      <p:sp>
        <p:nvSpPr>
          <p:cNvPr id="26627" name="Rectangle 3"/>
          <p:cNvSpPr>
            <a:spLocks noGrp="1" noChangeArrowheads="1"/>
          </p:cNvSpPr>
          <p:nvPr>
            <p:ph type="body" idx="1"/>
          </p:nvPr>
        </p:nvSpPr>
        <p:spPr>
          <a:xfrm>
            <a:off x="889000" y="1138238"/>
            <a:ext cx="7040563" cy="4530725"/>
          </a:xfrm>
        </p:spPr>
        <p:txBody>
          <a:bodyPr>
            <a:normAutofit fontScale="85000" lnSpcReduction="10000"/>
          </a:bodyPr>
          <a:lstStyle/>
          <a:p>
            <a:r>
              <a:rPr lang="en-US" altLang="en-US" smtClean="0"/>
              <a:t>Provides a more uniform wait time than SCAN</a:t>
            </a:r>
          </a:p>
          <a:p>
            <a:r>
              <a:rPr lang="en-US" altLang="en-US" smtClean="0"/>
              <a:t>The head moves from one end of the disk to the other, servicing requests as it goes</a:t>
            </a:r>
          </a:p>
          <a:p>
            <a:pPr lvl="1"/>
            <a:r>
              <a:rPr lang="en-US" altLang="en-US" smtClean="0"/>
              <a:t>When it reaches the other end, however, it immediately returns to the beginning of the disk, without servicing any requests on the return trip</a:t>
            </a:r>
          </a:p>
          <a:p>
            <a:r>
              <a:rPr lang="en-US" altLang="en-US" smtClean="0"/>
              <a:t>Treats the cylinders as a circular list that wraps around from the last cylinder to the first one</a:t>
            </a:r>
          </a:p>
          <a:p>
            <a:r>
              <a:rPr lang="en-US" altLang="en-US" smtClean="0"/>
              <a:t>Total number of cylinders?</a:t>
            </a:r>
          </a:p>
        </p:txBody>
      </p:sp>
    </p:spTree>
    <p:extLst>
      <p:ext uri="{BB962C8B-B14F-4D97-AF65-F5344CB8AC3E}">
        <p14:creationId xmlns:p14="http://schemas.microsoft.com/office/powerpoint/2010/main" val="4167409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smtClean="0"/>
              <a:t>C-SCAN (Cont.)</a:t>
            </a:r>
          </a:p>
        </p:txBody>
      </p:sp>
      <p:pic>
        <p:nvPicPr>
          <p:cNvPr id="27651" name="Picture 4"/>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712633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smtClean="0"/>
              <a:t>C-LOOK</a:t>
            </a:r>
          </a:p>
        </p:txBody>
      </p:sp>
      <p:sp>
        <p:nvSpPr>
          <p:cNvPr id="28675" name="Rectangle 3"/>
          <p:cNvSpPr>
            <a:spLocks noGrp="1" noChangeArrowheads="1"/>
          </p:cNvSpPr>
          <p:nvPr>
            <p:ph type="body" idx="1"/>
          </p:nvPr>
        </p:nvSpPr>
        <p:spPr>
          <a:xfrm>
            <a:off x="901700" y="1138238"/>
            <a:ext cx="6659563" cy="3257550"/>
          </a:xfrm>
        </p:spPr>
        <p:txBody>
          <a:bodyPr>
            <a:normAutofit fontScale="92500" lnSpcReduction="10000"/>
          </a:bodyPr>
          <a:lstStyle/>
          <a:p>
            <a:r>
              <a:rPr lang="en-US" altLang="en-US" smtClean="0"/>
              <a:t>LOOK a version of SCAN, C-LOOK a version of C-SCAN</a:t>
            </a:r>
          </a:p>
          <a:p>
            <a:r>
              <a:rPr lang="en-US" altLang="en-US" smtClean="0"/>
              <a:t>Arm only goes as far as the last request in each direction, then reverses direction immediately, without first going all the way to the end of the disk </a:t>
            </a:r>
          </a:p>
          <a:p>
            <a:r>
              <a:rPr lang="en-US" altLang="en-US" smtClean="0"/>
              <a:t>Total number of cylinders?</a:t>
            </a:r>
          </a:p>
        </p:txBody>
      </p:sp>
    </p:spTree>
    <p:extLst>
      <p:ext uri="{BB962C8B-B14F-4D97-AF65-F5344CB8AC3E}">
        <p14:creationId xmlns:p14="http://schemas.microsoft.com/office/powerpoint/2010/main" val="3110909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98513" y="277813"/>
            <a:ext cx="7888287" cy="576262"/>
          </a:xfrm>
        </p:spPr>
        <p:txBody>
          <a:bodyPr>
            <a:normAutofit fontScale="90000"/>
          </a:bodyPr>
          <a:lstStyle/>
          <a:p>
            <a:pPr eaLnBrk="1" hangingPunct="1"/>
            <a:r>
              <a:rPr lang="en-US" altLang="en-US" smtClean="0"/>
              <a:t>C-LOOK (Cont.)</a:t>
            </a:r>
          </a:p>
        </p:txBody>
      </p:sp>
      <p:pic>
        <p:nvPicPr>
          <p:cNvPr id="29699"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011238"/>
            <a:ext cx="73120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4521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363272" cy="5976664"/>
          </a:xfrm>
        </p:spPr>
        <p:txBody>
          <a:bodyPr>
            <a:noAutofit/>
          </a:bodyPr>
          <a:lstStyle/>
          <a:p>
            <a:pPr marL="0" indent="0">
              <a:buNone/>
            </a:pPr>
            <a:r>
              <a:rPr lang="en-IN" sz="2800" dirty="0" smtClean="0"/>
              <a:t>Problem:</a:t>
            </a:r>
          </a:p>
          <a:p>
            <a:pPr marL="0" indent="0" algn="just">
              <a:buNone/>
            </a:pPr>
            <a:r>
              <a:rPr lang="en-IN" sz="2800" dirty="0" smtClean="0">
                <a:solidFill>
                  <a:srgbClr val="FF0000"/>
                </a:solidFill>
              </a:rPr>
              <a:t>Suppose </a:t>
            </a:r>
            <a:r>
              <a:rPr lang="en-IN" sz="2800" dirty="0">
                <a:solidFill>
                  <a:srgbClr val="FF0000"/>
                </a:solidFill>
              </a:rPr>
              <a:t>that a disk drive has 5000 cylinders, numbered 0 to 4999. </a:t>
            </a:r>
            <a:r>
              <a:rPr lang="en-IN" sz="2800" dirty="0"/>
              <a:t>The drive is currently serving </a:t>
            </a:r>
            <a:r>
              <a:rPr lang="en-IN" sz="2800" dirty="0" smtClean="0"/>
              <a:t>a request </a:t>
            </a:r>
            <a:r>
              <a:rPr lang="en-IN" sz="2800" dirty="0"/>
              <a:t>at cylinder 143, and the previous </a:t>
            </a:r>
            <a:r>
              <a:rPr lang="en-IN" sz="2800" dirty="0" smtClean="0"/>
              <a:t>request was </a:t>
            </a:r>
            <a:r>
              <a:rPr lang="en-IN" sz="2800" dirty="0"/>
              <a:t>at cylinder 125.</a:t>
            </a:r>
            <a:r>
              <a:rPr lang="en-IN" sz="2800" dirty="0">
                <a:solidFill>
                  <a:srgbClr val="FF0000"/>
                </a:solidFill>
              </a:rPr>
              <a:t> The queue of pending requests, in FIFO</a:t>
            </a:r>
          </a:p>
          <a:p>
            <a:pPr marL="0" indent="0">
              <a:buNone/>
            </a:pPr>
            <a:r>
              <a:rPr lang="en-IN" sz="2800" dirty="0">
                <a:solidFill>
                  <a:srgbClr val="FF0000"/>
                </a:solidFill>
              </a:rPr>
              <a:t>order, is:</a:t>
            </a:r>
          </a:p>
          <a:p>
            <a:pPr marL="0" indent="0">
              <a:buNone/>
            </a:pPr>
            <a:r>
              <a:rPr lang="en-IN" sz="2800" dirty="0">
                <a:solidFill>
                  <a:srgbClr val="FF0000"/>
                </a:solidFill>
              </a:rPr>
              <a:t>86, 1470, 913, 1774, 948, 1509, 1022, 1750, 130</a:t>
            </a:r>
          </a:p>
          <a:p>
            <a:pPr marL="0" indent="0" algn="just">
              <a:buNone/>
            </a:pPr>
            <a:r>
              <a:rPr lang="en-IN" sz="2800" dirty="0" smtClean="0">
                <a:solidFill>
                  <a:srgbClr val="FF0000"/>
                </a:solidFill>
              </a:rPr>
              <a:t>Starting from the current head position, what is the total distance (in cylinders) that the disk arm moves to satisfy all the pending requests </a:t>
            </a:r>
            <a:r>
              <a:rPr lang="en-IN" sz="2800" dirty="0">
                <a:solidFill>
                  <a:srgbClr val="FF0000"/>
                </a:solidFill>
              </a:rPr>
              <a:t>for FCFS, SSTF, SCAN, LOOK, C-SCAN and C-LOOK</a:t>
            </a:r>
            <a:r>
              <a:rPr lang="en-IN" sz="2800" dirty="0" smtClean="0">
                <a:solidFill>
                  <a:srgbClr val="FF0000"/>
                </a:solidFill>
              </a:rPr>
              <a:t>.</a:t>
            </a:r>
            <a:endParaRPr lang="en-IN" sz="2800" dirty="0">
              <a:solidFill>
                <a:srgbClr val="FF0000"/>
              </a:solidFill>
            </a:endParaRPr>
          </a:p>
        </p:txBody>
      </p:sp>
    </p:spTree>
    <p:extLst>
      <p:ext uri="{BB962C8B-B14F-4D97-AF65-F5344CB8AC3E}">
        <p14:creationId xmlns:p14="http://schemas.microsoft.com/office/powerpoint/2010/main" val="17094425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sp>
        <p:nvSpPr>
          <p:cNvPr id="3" name="Content Placeholder 2"/>
          <p:cNvSpPr>
            <a:spLocks noGrp="1"/>
          </p:cNvSpPr>
          <p:nvPr>
            <p:ph idx="1"/>
          </p:nvPr>
        </p:nvSpPr>
        <p:spPr>
          <a:xfrm>
            <a:off x="467544" y="692696"/>
            <a:ext cx="8229600" cy="5976664"/>
          </a:xfrm>
        </p:spPr>
        <p:txBody>
          <a:bodyPr>
            <a:noAutofit/>
          </a:bodyPr>
          <a:lstStyle/>
          <a:p>
            <a:pPr marL="0" indent="0">
              <a:buNone/>
            </a:pPr>
            <a:r>
              <a:rPr lang="en-IN" sz="2400" dirty="0" smtClean="0">
                <a:solidFill>
                  <a:srgbClr val="00B0F0"/>
                </a:solidFill>
              </a:rPr>
              <a:t>Solution:</a:t>
            </a:r>
          </a:p>
          <a:p>
            <a:pPr marL="0" indent="0">
              <a:buNone/>
            </a:pPr>
            <a:r>
              <a:rPr lang="en-IN" sz="2400" dirty="0" smtClean="0">
                <a:solidFill>
                  <a:srgbClr val="FF0000"/>
                </a:solidFill>
              </a:rPr>
              <a:t>Work Queue is  86</a:t>
            </a:r>
            <a:r>
              <a:rPr lang="en-IN" sz="2400" dirty="0">
                <a:solidFill>
                  <a:srgbClr val="FF0000"/>
                </a:solidFill>
              </a:rPr>
              <a:t>, 1470, 913, 1774, 948, 1509, 1022, 1750, 130</a:t>
            </a:r>
          </a:p>
          <a:p>
            <a:pPr marL="0" indent="0">
              <a:buNone/>
            </a:pPr>
            <a:r>
              <a:rPr lang="en-IN" sz="2400" dirty="0" smtClean="0"/>
              <a:t>The </a:t>
            </a:r>
            <a:r>
              <a:rPr lang="en-IN" sz="2400" dirty="0">
                <a:solidFill>
                  <a:srgbClr val="FF0000"/>
                </a:solidFill>
              </a:rPr>
              <a:t>FCFS</a:t>
            </a:r>
            <a:r>
              <a:rPr lang="en-IN" sz="2400" dirty="0"/>
              <a:t> schedule is 143, 86, 1470, 913, 1774, 948, 1509, 1022, 1750, 130. The total seek distance </a:t>
            </a:r>
            <a:r>
              <a:rPr lang="en-IN" sz="2400"/>
              <a:t>is </a:t>
            </a:r>
            <a:r>
              <a:rPr lang="en-IN" sz="2400" smtClean="0">
                <a:solidFill>
                  <a:srgbClr val="FF0000"/>
                </a:solidFill>
              </a:rPr>
              <a:t>7081(7703)</a:t>
            </a:r>
            <a:r>
              <a:rPr lang="en-IN" sz="2400" smtClean="0"/>
              <a:t>.</a:t>
            </a:r>
            <a:endParaRPr lang="en-IN" sz="2400" dirty="0"/>
          </a:p>
          <a:p>
            <a:pPr marL="0" indent="0">
              <a:buNone/>
            </a:pPr>
            <a:r>
              <a:rPr lang="en-IN" sz="2400" dirty="0"/>
              <a:t>The </a:t>
            </a:r>
            <a:r>
              <a:rPr lang="en-IN" sz="2400" dirty="0">
                <a:solidFill>
                  <a:srgbClr val="FF0000"/>
                </a:solidFill>
              </a:rPr>
              <a:t>SSTF</a:t>
            </a:r>
            <a:r>
              <a:rPr lang="en-IN" sz="2400" dirty="0"/>
              <a:t> schedule is 143, 130, 86, 913, 948, 1022, 1470, 1509, 1750, 1774. The total seek distance is  </a:t>
            </a:r>
            <a:r>
              <a:rPr lang="en-IN" sz="2400" dirty="0">
                <a:solidFill>
                  <a:srgbClr val="FF0000"/>
                </a:solidFill>
              </a:rPr>
              <a:t>1745</a:t>
            </a:r>
            <a:r>
              <a:rPr lang="en-IN" sz="2400" dirty="0"/>
              <a:t>.</a:t>
            </a:r>
          </a:p>
          <a:p>
            <a:pPr marL="0" indent="0">
              <a:buNone/>
            </a:pPr>
            <a:r>
              <a:rPr lang="en-IN" sz="2400" dirty="0"/>
              <a:t>The </a:t>
            </a:r>
            <a:r>
              <a:rPr lang="en-IN" sz="2400" dirty="0">
                <a:solidFill>
                  <a:srgbClr val="FF0000"/>
                </a:solidFill>
              </a:rPr>
              <a:t>SCAN</a:t>
            </a:r>
            <a:r>
              <a:rPr lang="en-IN" sz="2400" dirty="0"/>
              <a:t> schedule is 143, 913, 948, 1022, 1470, 1509, 1750, 1774,4999, 130, 86. The total </a:t>
            </a:r>
            <a:r>
              <a:rPr lang="en-IN" sz="2400" dirty="0" smtClean="0"/>
              <a:t>seek distance </a:t>
            </a:r>
            <a:r>
              <a:rPr lang="en-IN" sz="2400" dirty="0"/>
              <a:t>is </a:t>
            </a:r>
            <a:r>
              <a:rPr lang="en-IN" sz="2400" dirty="0">
                <a:solidFill>
                  <a:srgbClr val="FF0000"/>
                </a:solidFill>
              </a:rPr>
              <a:t>9769</a:t>
            </a:r>
            <a:r>
              <a:rPr lang="en-IN" sz="2400" dirty="0"/>
              <a:t>.</a:t>
            </a:r>
          </a:p>
          <a:p>
            <a:pPr marL="0" indent="0">
              <a:buNone/>
            </a:pPr>
            <a:r>
              <a:rPr lang="en-IN" sz="2400" dirty="0"/>
              <a:t>The </a:t>
            </a:r>
            <a:r>
              <a:rPr lang="en-IN" sz="2400" dirty="0">
                <a:solidFill>
                  <a:srgbClr val="FF0000"/>
                </a:solidFill>
              </a:rPr>
              <a:t>C-SCAN</a:t>
            </a:r>
            <a:r>
              <a:rPr lang="en-IN" sz="2400" dirty="0"/>
              <a:t> schedule is 143, 913, 948, 1022, 1470, 1509, 1750, 1774, 4999, 0, 86, 130. The total seek distance is </a:t>
            </a:r>
            <a:r>
              <a:rPr lang="en-IN" sz="2400" dirty="0">
                <a:solidFill>
                  <a:srgbClr val="FF0000"/>
                </a:solidFill>
              </a:rPr>
              <a:t>9985</a:t>
            </a:r>
            <a:r>
              <a:rPr lang="en-IN" sz="2400" dirty="0"/>
              <a:t>.</a:t>
            </a:r>
          </a:p>
          <a:p>
            <a:pPr marL="0" indent="0">
              <a:buNone/>
            </a:pPr>
            <a:r>
              <a:rPr lang="en-IN" sz="2400" dirty="0" smtClean="0"/>
              <a:t>The </a:t>
            </a:r>
            <a:r>
              <a:rPr lang="en-IN" sz="2400" dirty="0">
                <a:solidFill>
                  <a:srgbClr val="FF0000"/>
                </a:solidFill>
              </a:rPr>
              <a:t>LOOK</a:t>
            </a:r>
            <a:r>
              <a:rPr lang="en-IN" sz="2400" dirty="0"/>
              <a:t> schedule is 143, 913, 948, 1022, 1470, 1509, 1750, 1774, 130, 86. The total seek distance is  </a:t>
            </a:r>
            <a:r>
              <a:rPr lang="en-IN" sz="2400" dirty="0">
                <a:solidFill>
                  <a:srgbClr val="FF0000"/>
                </a:solidFill>
              </a:rPr>
              <a:t>3319</a:t>
            </a:r>
            <a:r>
              <a:rPr lang="en-IN" sz="2400" dirty="0"/>
              <a:t>.</a:t>
            </a:r>
          </a:p>
          <a:p>
            <a:pPr marL="0" indent="0">
              <a:buNone/>
            </a:pPr>
            <a:r>
              <a:rPr lang="en-IN" sz="2400" dirty="0" smtClean="0"/>
              <a:t>The </a:t>
            </a:r>
            <a:r>
              <a:rPr lang="en-IN" sz="2400" dirty="0">
                <a:solidFill>
                  <a:srgbClr val="FF0000"/>
                </a:solidFill>
              </a:rPr>
              <a:t>C-LOOK</a:t>
            </a:r>
            <a:r>
              <a:rPr lang="en-IN" sz="2400" dirty="0"/>
              <a:t> schedule is 143, 913, 948, 1022, 1470, 1509, 1750, 1774, 86, 130. The total </a:t>
            </a:r>
            <a:r>
              <a:rPr lang="en-IN" sz="2400" dirty="0" smtClean="0"/>
              <a:t>seek distance </a:t>
            </a:r>
            <a:r>
              <a:rPr lang="en-IN" sz="2400" dirty="0"/>
              <a:t>is </a:t>
            </a:r>
            <a:r>
              <a:rPr lang="en-IN" sz="2400" dirty="0">
                <a:solidFill>
                  <a:srgbClr val="FF0000"/>
                </a:solidFill>
              </a:rPr>
              <a:t>3363</a:t>
            </a:r>
            <a:r>
              <a:rPr lang="en-IN" sz="2400" dirty="0"/>
              <a:t>.</a:t>
            </a:r>
          </a:p>
          <a:p>
            <a:endParaRPr lang="en-IN" sz="2400" dirty="0"/>
          </a:p>
        </p:txBody>
      </p:sp>
    </p:spTree>
    <p:extLst>
      <p:ext uri="{BB962C8B-B14F-4D97-AF65-F5344CB8AC3E}">
        <p14:creationId xmlns:p14="http://schemas.microsoft.com/office/powerpoint/2010/main" val="39338429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1098</Words>
  <Application>Microsoft Office PowerPoint</Application>
  <PresentationFormat>On-screen Show (4:3)</PresentationFormat>
  <Paragraphs>109</Paragraphs>
  <Slides>19</Slides>
  <Notes>14</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Module7_Mass Storage Systems</vt:lpstr>
      <vt:lpstr>Overview of Mass Storage Structure</vt:lpstr>
      <vt:lpstr>Moving-head Disk Mechanism</vt:lpstr>
      <vt:lpstr>Hard Disks</vt:lpstr>
      <vt:lpstr>The First Commercial Disk Drive</vt:lpstr>
      <vt:lpstr>Disk Structure</vt:lpstr>
      <vt:lpstr>Disk Scheduling</vt:lpstr>
      <vt:lpstr>Disk Scheduling (Cont.)</vt:lpstr>
      <vt:lpstr>Disk Scheduling (Cont.)</vt:lpstr>
      <vt:lpstr>FCFS</vt:lpstr>
      <vt:lpstr>SSTF</vt:lpstr>
      <vt:lpstr>SCAN</vt:lpstr>
      <vt:lpstr>SCAN (Cont.)</vt:lpstr>
      <vt:lpstr>C-SCAN</vt:lpstr>
      <vt:lpstr>C-SCAN (Cont.)</vt:lpstr>
      <vt:lpstr>C-LOOK</vt:lpstr>
      <vt:lpstr>C-LOOK (Cont.)</vt:lpstr>
      <vt:lpstr>PowerPoint Presentation</vt:lpstr>
      <vt:lpstr>PowerPoint Presentation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PRR</dc:creator>
  <cp:lastModifiedBy>DELL</cp:lastModifiedBy>
  <cp:revision>24</cp:revision>
  <dcterms:created xsi:type="dcterms:W3CDTF">2016-10-11T23:03:26Z</dcterms:created>
  <dcterms:modified xsi:type="dcterms:W3CDTF">2023-01-21T06:39:42Z</dcterms:modified>
</cp:coreProperties>
</file>