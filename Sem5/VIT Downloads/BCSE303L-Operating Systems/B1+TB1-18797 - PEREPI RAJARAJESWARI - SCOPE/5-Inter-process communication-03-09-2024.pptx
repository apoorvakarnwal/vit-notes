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303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32060-7770-4D38-8989-25BB3FB15714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D4572-5861-4AFF-90AB-F92658009B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222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937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685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022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098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491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39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689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62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504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042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471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927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440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919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558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184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648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892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23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60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51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54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88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69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04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5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93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400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E412B-BEF5-4E28-97A4-14F5FA125630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F3AA7-B886-4339-BA9E-771489F311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40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Module4_</a:t>
            </a:r>
            <a:r>
              <a:rPr lang="en-IN" dirty="0"/>
              <a:t>InterProcessCommunication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altLang="en-US" dirty="0"/>
              <a:t>Reference: “OPERATING SYSTEM CONCEPTS”, ABRAHAM SILBERSCHATZ, PETER BAER GALVIN, GREG GAGNE , Wiley publications.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071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982663" y="168275"/>
            <a:ext cx="7704137" cy="5762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Interprocess Communication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85825" y="1154113"/>
            <a:ext cx="7485063" cy="4530725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/>
              <a:t>Processes within a system may be </a:t>
            </a:r>
            <a:r>
              <a:rPr lang="en-US" altLang="en-US" b="1" i="1"/>
              <a:t>independent</a:t>
            </a:r>
            <a:r>
              <a:rPr lang="en-US" altLang="en-US" b="1"/>
              <a:t> </a:t>
            </a:r>
            <a:r>
              <a:rPr lang="en-US" altLang="en-US"/>
              <a:t>or </a:t>
            </a:r>
            <a:r>
              <a:rPr lang="en-US" altLang="en-US" b="1" i="1"/>
              <a:t>cooperating</a:t>
            </a:r>
          </a:p>
          <a:p>
            <a:r>
              <a:rPr lang="en-US" altLang="en-US"/>
              <a:t>Cooperating process can affect or be affected by other processes, including sharing data</a:t>
            </a:r>
          </a:p>
          <a:p>
            <a:r>
              <a:rPr lang="en-US" altLang="en-US"/>
              <a:t>Reasons for cooperating processes:</a:t>
            </a:r>
          </a:p>
          <a:p>
            <a:pPr lvl="1"/>
            <a:r>
              <a:rPr lang="en-US" altLang="en-US"/>
              <a:t>Information sharing</a:t>
            </a:r>
          </a:p>
          <a:p>
            <a:pPr lvl="1"/>
            <a:r>
              <a:rPr lang="en-US" altLang="en-US"/>
              <a:t>Computation speedup</a:t>
            </a:r>
          </a:p>
          <a:p>
            <a:pPr lvl="1"/>
            <a:r>
              <a:rPr lang="en-US" altLang="en-US"/>
              <a:t>Modularity</a:t>
            </a:r>
          </a:p>
          <a:p>
            <a:pPr lvl="1"/>
            <a:r>
              <a:rPr lang="en-US" altLang="en-US"/>
              <a:t>Convenience	</a:t>
            </a:r>
          </a:p>
          <a:p>
            <a:r>
              <a:rPr lang="en-US" altLang="en-US"/>
              <a:t>Cooperating processes need </a:t>
            </a:r>
            <a:r>
              <a:rPr lang="en-US" altLang="en-US" b="1">
                <a:solidFill>
                  <a:srgbClr val="3366FF"/>
                </a:solidFill>
              </a:rPr>
              <a:t>interprocess communication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IPC</a:t>
            </a:r>
            <a:r>
              <a:rPr lang="en-US" altLang="en-US"/>
              <a:t>)</a:t>
            </a:r>
          </a:p>
          <a:p>
            <a:r>
              <a:rPr lang="en-US" altLang="en-US"/>
              <a:t>Two models of IPC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Shared memory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Message passing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8543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pic>
        <p:nvPicPr>
          <p:cNvPr id="32771" name="Picture 1" descr="3_1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13" y="1725613"/>
            <a:ext cx="6100762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Rectangle 3"/>
          <p:cNvSpPr>
            <a:spLocks noChangeArrowheads="1"/>
          </p:cNvSpPr>
          <p:nvPr/>
        </p:nvSpPr>
        <p:spPr bwMode="auto">
          <a:xfrm>
            <a:off x="969963" y="1143000"/>
            <a:ext cx="6372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(</a:t>
            </a:r>
            <a:r>
              <a:rPr kumimoji="0" lang="en-US" altLang="en-US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a) Message passing    (b) shared memory </a:t>
            </a:r>
            <a:r>
              <a:rPr kumimoji="0" lang="en-US" altLang="en-US" dirty="0">
                <a:latin typeface="Verdana" pitchFamily="34" charset="0"/>
                <a:cs typeface="Courier New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4109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0450" y="277813"/>
            <a:ext cx="76263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Cooperating Processes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529513" cy="4530725"/>
          </a:xfrm>
        </p:spPr>
        <p:txBody>
          <a:bodyPr>
            <a:normAutofit fontScale="92500"/>
          </a:bodyPr>
          <a:lstStyle/>
          <a:p>
            <a:r>
              <a:rPr lang="en-US" altLang="en-US" b="1" i="1"/>
              <a:t>Independent</a:t>
            </a:r>
            <a:r>
              <a:rPr lang="en-US" altLang="en-US"/>
              <a:t> process cannot affect or be affected by the execution of another process</a:t>
            </a:r>
          </a:p>
          <a:p>
            <a:r>
              <a:rPr lang="en-US" altLang="en-US" b="1" i="1">
                <a:solidFill>
                  <a:srgbClr val="000000"/>
                </a:solidFill>
              </a:rPr>
              <a:t>Cooperating</a:t>
            </a:r>
            <a:r>
              <a:rPr lang="en-US" altLang="en-US"/>
              <a:t> process can affect or be affected by the execution of another process</a:t>
            </a:r>
          </a:p>
          <a:p>
            <a:r>
              <a:rPr lang="en-US" altLang="en-US"/>
              <a:t>Advantages of process cooperation</a:t>
            </a:r>
          </a:p>
          <a:p>
            <a:pPr lvl="1"/>
            <a:r>
              <a:rPr lang="en-US" altLang="en-US"/>
              <a:t>Information sharing </a:t>
            </a:r>
          </a:p>
          <a:p>
            <a:pPr lvl="1"/>
            <a:r>
              <a:rPr lang="en-US" altLang="en-US"/>
              <a:t>Computation speed-up</a:t>
            </a:r>
          </a:p>
          <a:p>
            <a:pPr lvl="1"/>
            <a:r>
              <a:rPr lang="en-US" altLang="en-US"/>
              <a:t>Modularity</a:t>
            </a:r>
          </a:p>
          <a:p>
            <a:pPr lvl="1"/>
            <a:r>
              <a:rPr lang="en-US" altLang="en-US"/>
              <a:t>Convenience</a:t>
            </a:r>
          </a:p>
        </p:txBody>
      </p:sp>
    </p:spTree>
    <p:extLst>
      <p:ext uri="{BB962C8B-B14F-4D97-AF65-F5344CB8AC3E}">
        <p14:creationId xmlns:p14="http://schemas.microsoft.com/office/powerpoint/2010/main" val="784092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2963" y="1185863"/>
            <a:ext cx="6667500" cy="4498975"/>
          </a:xfrm>
        </p:spPr>
        <p:txBody>
          <a:bodyPr/>
          <a:lstStyle/>
          <a:p>
            <a:r>
              <a:rPr lang="en-US" altLang="en-US" dirty="0"/>
              <a:t>Paradigm for cooperating processes, </a:t>
            </a:r>
            <a:r>
              <a:rPr lang="en-US" altLang="en-US" i="1" dirty="0"/>
              <a:t>producer</a:t>
            </a:r>
            <a:r>
              <a:rPr lang="en-US" altLang="en-US" dirty="0"/>
              <a:t> process </a:t>
            </a:r>
            <a:r>
              <a:rPr lang="en-US" altLang="en-US" dirty="0">
                <a:solidFill>
                  <a:srgbClr val="FF0000"/>
                </a:solidFill>
              </a:rPr>
              <a:t>produces</a:t>
            </a:r>
            <a:r>
              <a:rPr lang="en-US" altLang="en-US" dirty="0"/>
              <a:t> information that is </a:t>
            </a:r>
            <a:r>
              <a:rPr lang="en-US" altLang="en-US" dirty="0">
                <a:solidFill>
                  <a:srgbClr val="FF0000"/>
                </a:solidFill>
              </a:rPr>
              <a:t>consumed</a:t>
            </a:r>
            <a:r>
              <a:rPr lang="en-US" altLang="en-US" dirty="0"/>
              <a:t>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unbounded-buffer </a:t>
            </a:r>
            <a:r>
              <a:rPr lang="en-US" altLang="en-US" dirty="0"/>
              <a:t>places no practical limit on the size of the buffer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bounded-buffer </a:t>
            </a:r>
            <a:r>
              <a:rPr lang="en-US" altLang="en-US" dirty="0"/>
              <a:t>assumes that there is a fixed buffer size</a:t>
            </a:r>
          </a:p>
        </p:txBody>
      </p:sp>
    </p:spTree>
    <p:extLst>
      <p:ext uri="{BB962C8B-B14F-4D97-AF65-F5344CB8AC3E}">
        <p14:creationId xmlns:p14="http://schemas.microsoft.com/office/powerpoint/2010/main" val="258829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6163" y="300038"/>
            <a:ext cx="8074025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Bounded-Buffer – Shared-Memory Solution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5388" y="1203325"/>
            <a:ext cx="7131050" cy="4700588"/>
          </a:xfrm>
        </p:spPr>
        <p:txBody>
          <a:bodyPr/>
          <a:lstStyle/>
          <a:p>
            <a:r>
              <a:rPr lang="en-US" altLang="en-US" sz="1600" dirty="0"/>
              <a:t>Shared data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#define BUFFER_SIZE 10</a:t>
            </a:r>
          </a:p>
          <a:p>
            <a:pPr marL="1598613" lvl="3">
              <a:buFontTx/>
              <a:buNone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1598613" lvl="3">
              <a:buFontTx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buffer[BUFFER_SIZE];</a:t>
            </a:r>
          </a:p>
          <a:p>
            <a:pPr marL="1598613" lvl="3">
              <a:buFontTx/>
              <a:buNone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in = 0;</a:t>
            </a:r>
          </a:p>
          <a:p>
            <a:pPr marL="1598613" lvl="3">
              <a:buFontTx/>
              <a:buNone/>
            </a:pP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out = 0;</a:t>
            </a:r>
          </a:p>
          <a:p>
            <a:pPr marL="1598613" lvl="3">
              <a:buFontTx/>
              <a:buNone/>
            </a:pPr>
            <a:endParaRPr lang="en-US" altLang="en-US" sz="1600" dirty="0"/>
          </a:p>
          <a:p>
            <a:r>
              <a:rPr lang="en-US" altLang="en-US" sz="1600" dirty="0">
                <a:solidFill>
                  <a:srgbClr val="FF0000"/>
                </a:solidFill>
              </a:rPr>
              <a:t>Solution is correct, but can only use BUFFER_SIZE-1 elements</a:t>
            </a:r>
          </a:p>
          <a:p>
            <a:pPr marL="1598613" lvl="3">
              <a:buFontTx/>
              <a:buNone/>
            </a:pPr>
            <a:endParaRPr lang="en-US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009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203200"/>
            <a:ext cx="75692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Bounded-Buffer – Producer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3375" y="1014413"/>
            <a:ext cx="6940550" cy="4483100"/>
          </a:xfrm>
        </p:spPr>
        <p:txBody>
          <a:bodyPr/>
          <a:lstStyle/>
          <a:p>
            <a:pPr>
              <a:buFont typeface="Monotype Sorts" charset="0"/>
              <a:buNone/>
              <a:defRPr/>
            </a:pPr>
            <a:endParaRPr lang="en-US" sz="16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item </a:t>
            </a:r>
            <a:r>
              <a:rPr lang="en-US" sz="1600" dirty="0" err="1"/>
              <a:t>next_produced</a:t>
            </a:r>
            <a:r>
              <a:rPr lang="en-US" sz="1600" dirty="0"/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while (true) {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/* produce an item in next produced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while (((in + 1) % BUFFER_SIZE) == out)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	; /* do nothing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buffer[in] = </a:t>
            </a:r>
            <a:r>
              <a:rPr lang="en-US" sz="1600" dirty="0" err="1"/>
              <a:t>next_produced</a:t>
            </a:r>
            <a:r>
              <a:rPr lang="en-US" sz="1600" dirty="0"/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	in = (in + 1) % BUFFER_SIZE;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} </a:t>
            </a:r>
          </a:p>
          <a:p>
            <a:pPr>
              <a:buFont typeface="Monotype Sorts" charset="0"/>
              <a:buNone/>
              <a:defRPr/>
            </a:pPr>
            <a:endParaRPr lang="en-US" sz="20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r>
              <a:rPr lang="en-US" sz="1400" dirty="0">
                <a:ea typeface="ＭＳ Ｐゴシック" charset="0"/>
                <a:cs typeface="ＭＳ Ｐゴシック" charset="0"/>
              </a:rPr>
              <a:t>	</a:t>
            </a:r>
          </a:p>
          <a:p>
            <a:pPr marL="7168674" lvl="4">
              <a:buFontTx/>
              <a:buNone/>
              <a:defRPr/>
            </a:pPr>
            <a:endParaRPr lang="en-US" sz="1100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79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32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Bounded Buffer – Consumer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9413" y="1219200"/>
            <a:ext cx="6894512" cy="4411663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item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while (true) {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	; /* do nothing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next_consumed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out = (out + 1) % BUFFER_SIZE;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endParaRPr lang="en-US" altLang="en-US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	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77727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008112"/>
          </a:xfrm>
        </p:spPr>
        <p:txBody>
          <a:bodyPr>
            <a:normAutofit/>
          </a:bodyPr>
          <a:lstStyle/>
          <a:p>
            <a:r>
              <a:rPr lang="en-US" altLang="en-US" sz="3600" dirty="0"/>
              <a:t>Bounded-Buffer – Producer &amp; Consumer</a:t>
            </a:r>
            <a:endParaRPr lang="en-IN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847253"/>
            <a:ext cx="4038600" cy="4525963"/>
          </a:xfrm>
        </p:spPr>
        <p:txBody>
          <a:bodyPr>
            <a:noAutofit/>
          </a:bodyPr>
          <a:lstStyle/>
          <a:p>
            <a:pPr>
              <a:buFont typeface="Monotype Sorts" charset="0"/>
              <a:buNone/>
              <a:defRPr/>
            </a:pPr>
            <a:r>
              <a:rPr lang="en-US" sz="1600" b="1" dirty="0">
                <a:solidFill>
                  <a:srgbClr val="00B050"/>
                </a:solidFill>
                <a:latin typeface="Monaco" charset="0"/>
                <a:ea typeface="ＭＳ Ｐゴシック" charset="0"/>
                <a:cs typeface="ＭＳ Ｐゴシック" charset="0"/>
              </a:rPr>
              <a:t>// Producer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item </a:t>
            </a:r>
            <a:r>
              <a:rPr lang="en-US" sz="1600" dirty="0" err="1"/>
              <a:t>next_produced</a:t>
            </a:r>
            <a:r>
              <a:rPr lang="en-US" sz="1600" dirty="0"/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while (true) {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  /* produce an item in next produced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  while (((in + 1) % BUFFER_SIZE) == out)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     ; /* do nothing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  buffer[in] = </a:t>
            </a:r>
            <a:r>
              <a:rPr lang="en-US" sz="1600" dirty="0" err="1"/>
              <a:t>next_produced</a:t>
            </a:r>
            <a:r>
              <a:rPr lang="en-US" sz="1600" dirty="0"/>
              <a:t>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   in = (in + 1) % BUFFER_SIZE;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dirty="0"/>
              <a:t>} </a:t>
            </a:r>
          </a:p>
          <a:p>
            <a:pPr>
              <a:buFont typeface="Monotype Sorts" charset="0"/>
              <a:buNone/>
              <a:defRPr/>
            </a:pPr>
            <a:endParaRPr lang="en-US" sz="1600" dirty="0">
              <a:latin typeface="Monaco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endParaRPr lang="en-US" sz="1600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  <a:defRPr/>
            </a:pPr>
            <a:r>
              <a:rPr lang="en-US" sz="1600" dirty="0">
                <a:ea typeface="ＭＳ Ｐゴシック" charset="0"/>
                <a:cs typeface="ＭＳ Ｐゴシック" charset="0"/>
              </a:rPr>
              <a:t>	</a:t>
            </a:r>
          </a:p>
          <a:p>
            <a:pPr marL="7168674" lvl="4">
              <a:buFontTx/>
              <a:buNone/>
              <a:defRPr/>
            </a:pPr>
            <a:endParaRPr lang="en-US" sz="1600" dirty="0">
              <a:ea typeface="ＭＳ Ｐゴシック" charset="0"/>
            </a:endParaRPr>
          </a:p>
          <a:p>
            <a:endParaRPr lang="en-IN" sz="16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836712"/>
            <a:ext cx="4038600" cy="4525963"/>
          </a:xfrm>
        </p:spPr>
        <p:txBody>
          <a:bodyPr>
            <a:normAutofit/>
          </a:bodyPr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B050"/>
                </a:solidFill>
                <a:cs typeface="Courier New" pitchFamily="49" charset="0"/>
              </a:rPr>
              <a:t>// Consumer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cs typeface="Courier New" pitchFamily="49" charset="0"/>
              </a:rPr>
              <a:t>item </a:t>
            </a:r>
            <a:r>
              <a:rPr lang="en-US" altLang="en-US" sz="1600" dirty="0" err="1">
                <a:cs typeface="Courier New" pitchFamily="49" charset="0"/>
              </a:rPr>
              <a:t>next_consumed</a:t>
            </a:r>
            <a:r>
              <a:rPr lang="en-US" altLang="en-US" sz="1600" dirty="0"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cs typeface="Courier New" pitchFamily="49" charset="0"/>
              </a:rPr>
              <a:t>while (true) {</a:t>
            </a:r>
            <a:br>
              <a:rPr lang="en-US" altLang="en-US" sz="1600" dirty="0">
                <a:cs typeface="Courier New" pitchFamily="49" charset="0"/>
              </a:rPr>
            </a:br>
            <a:r>
              <a:rPr lang="en-US" altLang="en-US" sz="1600" dirty="0">
                <a:cs typeface="Courier New" pitchFamily="49" charset="0"/>
              </a:rPr>
              <a:t>     while (in == out)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cs typeface="Courier New" pitchFamily="49" charset="0"/>
              </a:rPr>
              <a:t>          ; /* do nothing */</a:t>
            </a:r>
            <a:br>
              <a:rPr lang="en-US" altLang="en-US" sz="1600" dirty="0">
                <a:cs typeface="Courier New" pitchFamily="49" charset="0"/>
              </a:rPr>
            </a:br>
            <a:r>
              <a:rPr lang="en-US" altLang="en-US" sz="1600" dirty="0">
                <a:cs typeface="Courier New" pitchFamily="49" charset="0"/>
              </a:rPr>
              <a:t>      </a:t>
            </a:r>
            <a:r>
              <a:rPr lang="en-US" altLang="en-US" sz="1600" dirty="0" err="1">
                <a:cs typeface="Courier New" pitchFamily="49" charset="0"/>
              </a:rPr>
              <a:t>next_consumed</a:t>
            </a:r>
            <a:r>
              <a:rPr lang="en-US" altLang="en-US" sz="1600" dirty="0">
                <a:cs typeface="Courier New" pitchFamily="49" charset="0"/>
              </a:rPr>
              <a:t> = buffer[out];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cs typeface="Courier New" pitchFamily="49" charset="0"/>
              </a:rPr>
              <a:t>      out = (out + 1) % BUFFER_SIZE;</a:t>
            </a:r>
            <a:br>
              <a:rPr lang="en-US" altLang="en-US" sz="1600" dirty="0">
                <a:cs typeface="Courier New" pitchFamily="49" charset="0"/>
              </a:rPr>
            </a:br>
            <a:r>
              <a:rPr lang="en-US" altLang="en-US" sz="1600" dirty="0">
                <a:cs typeface="Courier New" pitchFamily="49" charset="0"/>
              </a:rPr>
              <a:t>      /* consume the item in next consumed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cs typeface="Courier New" pitchFamily="49" charset="0"/>
              </a:rPr>
              <a:t>} </a:t>
            </a:r>
          </a:p>
          <a:p>
            <a:endParaRPr lang="en-IN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4860032" y="4417075"/>
            <a:ext cx="367240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b="1" dirty="0">
                <a:solidFill>
                  <a:srgbClr val="00B050"/>
                </a:solidFill>
              </a:rPr>
              <a:t>Shared data:</a:t>
            </a:r>
          </a:p>
          <a:p>
            <a:r>
              <a:rPr lang="en-US" alt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#define BUFFER_SIZE 10</a:t>
            </a:r>
          </a:p>
          <a:p>
            <a:r>
              <a:rPr lang="en-US" alt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alt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alt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1598613" lvl="3">
              <a:buFontTx/>
              <a:buNone/>
            </a:pPr>
            <a:r>
              <a:rPr lang="en-US" alt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. . .</a:t>
            </a:r>
          </a:p>
          <a:p>
            <a:pPr marL="1598613" lvl="3">
              <a:buFontTx/>
              <a:buNone/>
            </a:pPr>
            <a:r>
              <a:rPr lang="en-US" alt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} item;</a:t>
            </a:r>
          </a:p>
          <a:p>
            <a:pPr marL="1598613" lvl="3">
              <a:buFontTx/>
              <a:buNone/>
            </a:pPr>
            <a:endParaRPr lang="en-US" altLang="en-US" sz="12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alt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item buffer[BUFFER_SIZE]; </a:t>
            </a:r>
          </a:p>
          <a:p>
            <a:r>
              <a:rPr lang="en-US" alt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in = 0; </a:t>
            </a:r>
            <a:r>
              <a:rPr lang="en-US" altLang="en-US" sz="12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2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out = 0;</a:t>
            </a:r>
          </a:p>
          <a:p>
            <a:r>
              <a:rPr lang="en-US" altLang="en-US" sz="1200" b="1" dirty="0">
                <a:solidFill>
                  <a:srgbClr val="FF0000"/>
                </a:solidFill>
              </a:rPr>
              <a:t>Solution is correct, but can only use BUFFER_SIZE-1 elements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257747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952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 Shared Memory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1233488"/>
            <a:ext cx="6621463" cy="453072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altLang="en-US" dirty="0"/>
              <a:t>An </a:t>
            </a:r>
            <a:r>
              <a:rPr lang="en-US" altLang="en-US" dirty="0">
                <a:solidFill>
                  <a:srgbClr val="FF0000"/>
                </a:solidFill>
              </a:rPr>
              <a:t>area of memory shared </a:t>
            </a:r>
            <a:r>
              <a:rPr lang="en-US" altLang="en-US" dirty="0"/>
              <a:t>among the processes wishing to communicate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The communication is under the </a:t>
            </a:r>
            <a:r>
              <a:rPr lang="en-US" altLang="en-US" dirty="0">
                <a:solidFill>
                  <a:srgbClr val="FF0000"/>
                </a:solidFill>
              </a:rPr>
              <a:t>control of the users processes not the operating system</a:t>
            </a:r>
            <a:r>
              <a:rPr lang="en-US" altLang="en-US" dirty="0"/>
              <a:t>.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Major issue is to provide mechanism that will </a:t>
            </a:r>
            <a:r>
              <a:rPr lang="en-US" altLang="en-US" dirty="0">
                <a:solidFill>
                  <a:srgbClr val="FF0000"/>
                </a:solidFill>
              </a:rPr>
              <a:t>allow the user processes to synchronize </a:t>
            </a:r>
            <a:r>
              <a:rPr lang="en-US" altLang="en-US" dirty="0"/>
              <a:t>their actions when they access shared memory.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Synchronization is discussed in detail in a later topics.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1119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275" y="1270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Interprocess Communication – Message Passing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934200" cy="453072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90000"/>
              </a:lnSpc>
            </a:pPr>
            <a:r>
              <a:rPr lang="en-US" altLang="en-US" dirty="0"/>
              <a:t>Mechanism for processes to communicate and to synchronize their actions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 algn="just">
              <a:lnSpc>
                <a:spcPct val="90000"/>
              </a:lnSpc>
            </a:pPr>
            <a:r>
              <a:rPr lang="en-US" altLang="en-US" dirty="0"/>
              <a:t>Message system – 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i="1" dirty="0">
                <a:solidFill>
                  <a:srgbClr val="FF0000"/>
                </a:solidFill>
              </a:rPr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i="1" dirty="0">
                <a:solidFill>
                  <a:srgbClr val="FF0000"/>
                </a:solidFill>
              </a:rPr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size</a:t>
            </a:r>
            <a:r>
              <a:rPr lang="en-US" altLang="en-US" dirty="0"/>
              <a:t> is either </a:t>
            </a:r>
            <a:r>
              <a:rPr lang="en-US" altLang="en-US" dirty="0">
                <a:solidFill>
                  <a:srgbClr val="FF0000"/>
                </a:solidFill>
              </a:rPr>
              <a:t>fixed</a:t>
            </a:r>
            <a:r>
              <a:rPr lang="en-US" altLang="en-US" dirty="0"/>
              <a:t> or </a:t>
            </a:r>
            <a:r>
              <a:rPr lang="en-US" altLang="en-US" dirty="0">
                <a:solidFill>
                  <a:srgbClr val="FF0000"/>
                </a:solidFill>
              </a:rPr>
              <a:t>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20263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0" y="1079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Message Passing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016000"/>
            <a:ext cx="7694613" cy="4530725"/>
          </a:xfrm>
        </p:spPr>
        <p:txBody>
          <a:bodyPr>
            <a:normAutofit fontScale="77500" lnSpcReduction="20000"/>
          </a:bodyPr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Establish</a:t>
            </a:r>
            <a:r>
              <a:rPr lang="en-US" altLang="en-US" dirty="0"/>
              <a:t>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>
                <a:solidFill>
                  <a:srgbClr val="FF0000"/>
                </a:solidFill>
              </a:rPr>
              <a:t>link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Exchange messages</a:t>
            </a:r>
            <a:r>
              <a:rPr lang="en-US" altLang="en-US" dirty="0"/>
              <a:t> via send/receive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85142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12382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500"/>
              <a:t>Message Passing (Cont.)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/>
              <a:t>Implementation of communication link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Physical: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Shared memory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Hardware bus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Network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Logical: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 Direct or indirect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 Synchronous or asynchronous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 Automatic or explicit buffering</a:t>
            </a:r>
          </a:p>
        </p:txBody>
      </p:sp>
    </p:spTree>
    <p:extLst>
      <p:ext uri="{BB962C8B-B14F-4D97-AF65-F5344CB8AC3E}">
        <p14:creationId xmlns:p14="http://schemas.microsoft.com/office/powerpoint/2010/main" val="1127572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78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Direct Communication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825" y="1138238"/>
            <a:ext cx="7635875" cy="453072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270151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66813"/>
            <a:ext cx="7391400" cy="415925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Messages are directed and received from </a:t>
            </a:r>
            <a:r>
              <a:rPr lang="en-US" altLang="en-US" dirty="0">
                <a:solidFill>
                  <a:srgbClr val="FF0000"/>
                </a:solidFill>
              </a:rPr>
              <a:t>mailboxes</a:t>
            </a:r>
            <a:r>
              <a:rPr lang="en-US" altLang="en-US" dirty="0"/>
              <a:t> (also referred to as </a:t>
            </a:r>
            <a:r>
              <a:rPr lang="en-US" altLang="en-US" dirty="0">
                <a:solidFill>
                  <a:srgbClr val="FF0000"/>
                </a:solidFill>
              </a:rPr>
              <a:t>ports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Each mailbox has a unique id</a:t>
            </a:r>
          </a:p>
          <a:p>
            <a:pPr lvl="1"/>
            <a:r>
              <a:rPr lang="en-US" altLang="en-US" dirty="0"/>
              <a:t>Processes can communicate only if they share a mailbox</a:t>
            </a:r>
          </a:p>
          <a:p>
            <a:r>
              <a:rPr lang="en-US" altLang="en-US" dirty="0"/>
              <a:t>Properties of communication link</a:t>
            </a:r>
          </a:p>
          <a:p>
            <a:pPr lvl="1"/>
            <a:r>
              <a:rPr lang="en-US" altLang="en-US" dirty="0"/>
              <a:t>Link is established only if processes share a common mailbox</a:t>
            </a:r>
          </a:p>
          <a:p>
            <a:pPr lvl="1"/>
            <a:r>
              <a:rPr lang="en-US" altLang="en-US" dirty="0"/>
              <a:t>A link may be associated with many processes</a:t>
            </a:r>
          </a:p>
          <a:p>
            <a:pPr lvl="1"/>
            <a:r>
              <a:rPr lang="en-US" altLang="en-US" dirty="0"/>
              <a:t>Each pair of processes may share several communication links</a:t>
            </a:r>
          </a:p>
          <a:p>
            <a:pPr lvl="1"/>
            <a:r>
              <a:rPr lang="en-US" altLang="en-US" dirty="0"/>
              <a:t>Link may be unidirectional or bi-directional</a:t>
            </a:r>
          </a:p>
        </p:txBody>
      </p:sp>
    </p:spTree>
    <p:extLst>
      <p:ext uri="{BB962C8B-B14F-4D97-AF65-F5344CB8AC3E}">
        <p14:creationId xmlns:p14="http://schemas.microsoft.com/office/powerpoint/2010/main" val="1473528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8265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35063"/>
            <a:ext cx="7580313" cy="3821112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/>
              <a:t>Operations</a:t>
            </a:r>
          </a:p>
          <a:p>
            <a:pPr lvl="1"/>
            <a:r>
              <a:rPr lang="en-US" altLang="en-US"/>
              <a:t>create a new mailbox (port)</a:t>
            </a:r>
          </a:p>
          <a:p>
            <a:pPr lvl="1"/>
            <a:r>
              <a:rPr lang="en-US" altLang="en-US"/>
              <a:t>send and receive messages through mailbox</a:t>
            </a:r>
          </a:p>
          <a:p>
            <a:pPr lvl="1"/>
            <a:r>
              <a:rPr lang="en-US" altLang="en-US"/>
              <a:t>destroy a mailbox</a:t>
            </a:r>
          </a:p>
          <a:p>
            <a:r>
              <a:rPr lang="en-US" altLang="en-US"/>
              <a:t>Primitives are defined as:</a:t>
            </a:r>
          </a:p>
          <a:p>
            <a:pPr>
              <a:buFont typeface="Monotype Sorts" pitchFamily="-84" charset="2"/>
              <a:buNone/>
            </a:pPr>
            <a:r>
              <a:rPr lang="en-US" altLang="en-US"/>
              <a:t>	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/>
              <a:t>(</a:t>
            </a:r>
            <a:r>
              <a:rPr lang="en-US" altLang="en-US" i="1"/>
              <a:t>A, message</a:t>
            </a:r>
            <a:r>
              <a:rPr lang="en-US" altLang="en-US"/>
              <a:t>) – send a message to mailbox A</a:t>
            </a:r>
          </a:p>
          <a:p>
            <a:pPr>
              <a:buFont typeface="Monotype Sorts" pitchFamily="-84" charset="2"/>
              <a:buNone/>
            </a:pPr>
            <a:r>
              <a:rPr lang="en-US" altLang="en-US"/>
              <a:t>	</a:t>
            </a:r>
            <a:r>
              <a:rPr lang="en-US" altLang="en-US" b="1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A, message</a:t>
            </a:r>
            <a:r>
              <a:rPr lang="en-US" altLang="en-US"/>
              <a:t>) – receive a message from mailbox A</a:t>
            </a:r>
          </a:p>
        </p:txBody>
      </p:sp>
    </p:spTree>
    <p:extLst>
      <p:ext uri="{BB962C8B-B14F-4D97-AF65-F5344CB8AC3E}">
        <p14:creationId xmlns:p14="http://schemas.microsoft.com/office/powerpoint/2010/main" val="2765103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182563"/>
            <a:ext cx="7810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Indirect Communication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Mailbox sharing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</a:t>
            </a:r>
            <a:r>
              <a:rPr lang="en-US" altLang="en-US" dirty="0"/>
              <a:t> 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share mailbox A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, sends;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3</a:t>
            </a:r>
            <a:r>
              <a:rPr lang="en-US" altLang="en-US" dirty="0"/>
              <a:t> receive</a:t>
            </a:r>
          </a:p>
          <a:p>
            <a:pPr lvl="1"/>
            <a:r>
              <a:rPr lang="en-US" altLang="en-US" dirty="0"/>
              <a:t>Who gets the message?</a:t>
            </a:r>
          </a:p>
          <a:p>
            <a:r>
              <a:rPr lang="en-US" altLang="en-US" dirty="0"/>
              <a:t>Solutions</a:t>
            </a:r>
          </a:p>
          <a:p>
            <a:pPr lvl="1" algn="just"/>
            <a:r>
              <a:rPr lang="en-US" altLang="en-US" dirty="0"/>
              <a:t>Allow a link to be associated with </a:t>
            </a:r>
            <a:r>
              <a:rPr lang="en-US" altLang="en-US" dirty="0" err="1"/>
              <a:t>atmost</a:t>
            </a:r>
            <a:r>
              <a:rPr lang="en-US" altLang="en-US" dirty="0"/>
              <a:t> two processes</a:t>
            </a:r>
          </a:p>
          <a:p>
            <a:pPr lvl="1" algn="just"/>
            <a:r>
              <a:rPr lang="en-US" altLang="en-US" dirty="0"/>
              <a:t>Allow only one process at a time to execute a receive operation</a:t>
            </a:r>
          </a:p>
          <a:p>
            <a:pPr lvl="1" algn="just"/>
            <a:r>
              <a:rPr lang="en-US" altLang="en-US" dirty="0"/>
              <a:t>Allow the system to select arbitrarily the receiver.  Sender is notified who the receiver was.</a:t>
            </a:r>
          </a:p>
        </p:txBody>
      </p:sp>
    </p:spTree>
    <p:extLst>
      <p:ext uri="{BB962C8B-B14F-4D97-AF65-F5344CB8AC3E}">
        <p14:creationId xmlns:p14="http://schemas.microsoft.com/office/powerpoint/2010/main" val="3715155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8275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Synchronization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1050925"/>
            <a:ext cx="7267575" cy="4984750"/>
          </a:xfrm>
        </p:spPr>
        <p:txBody>
          <a:bodyPr>
            <a:normAutofit fontScale="70000" lnSpcReduction="20000"/>
          </a:bodyPr>
          <a:lstStyle/>
          <a:p>
            <a:pPr marL="379413" indent="-379413">
              <a:defRPr/>
            </a:pPr>
            <a:r>
              <a:rPr lang="en-US" dirty="0"/>
              <a:t>Message passing may be either blocking or non-blocking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3366FF"/>
                </a:solidFill>
              </a:rPr>
              <a:t>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3366FF"/>
                </a:solidFill>
              </a:rPr>
              <a:t>Non-blocking</a:t>
            </a:r>
            <a:r>
              <a:rPr lang="en-US" dirty="0"/>
              <a:t> is considered </a:t>
            </a:r>
            <a:r>
              <a:rPr lang="en-US" b="1" dirty="0">
                <a:solidFill>
                  <a:srgbClr val="3366FF"/>
                </a:solidFill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continues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buFont typeface="Monotype Sorts" pitchFamily="-84" charset="2"/>
              <a:buChar char="l"/>
              <a:defRPr/>
            </a:pPr>
            <a:r>
              <a:rPr lang="en-US" dirty="0"/>
              <a:t> A valid message,  or </a:t>
            </a:r>
          </a:p>
          <a:p>
            <a:pPr marL="1141413" lvl="2" indent="-341313">
              <a:buFont typeface="Monotype Sorts" pitchFamily="-84" charset="2"/>
              <a:buChar char="l"/>
              <a:defRPr/>
            </a:pPr>
            <a:r>
              <a:rPr lang="en-US" dirty="0"/>
              <a:t> Null message</a:t>
            </a:r>
          </a:p>
          <a:p>
            <a:pPr marL="398939"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</a:rPr>
              <a:t>Different combinations possible</a:t>
            </a:r>
          </a:p>
          <a:p>
            <a:pPr marL="798989" lvl="1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rendezvous</a:t>
            </a:r>
          </a:p>
          <a:p>
            <a:pPr marL="398463" indent="-341313">
              <a:defRPr/>
            </a:pPr>
            <a:endParaRPr lang="en-US" dirty="0"/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280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121525" cy="4530725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Queue of messages attached to the link.</a:t>
            </a:r>
          </a:p>
          <a:p>
            <a:r>
              <a:rPr lang="en-US" altLang="en-US" dirty="0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dirty="0">
                <a:solidFill>
                  <a:srgbClr val="CC6600"/>
                </a:solidFill>
              </a:rPr>
              <a:t>1.</a:t>
            </a:r>
            <a:r>
              <a:rPr lang="en-US" altLang="en-US" dirty="0"/>
              <a:t>	Zero capacity – no messages are queued on a link.</a:t>
            </a:r>
            <a:br>
              <a:rPr lang="en-US" altLang="en-US" dirty="0"/>
            </a:br>
            <a:r>
              <a:rPr lang="en-US" altLang="en-US" dirty="0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dirty="0">
                <a:solidFill>
                  <a:srgbClr val="CC6600"/>
                </a:solidFill>
              </a:rPr>
              <a:t>2.</a:t>
            </a:r>
            <a:r>
              <a:rPr lang="en-US" altLang="en-US" dirty="0"/>
              <a:t>	Bounded capacity – finite length of </a:t>
            </a:r>
            <a:r>
              <a:rPr lang="en-US" altLang="en-US" i="1" dirty="0"/>
              <a:t>n</a:t>
            </a:r>
            <a:r>
              <a:rPr lang="en-US" altLang="en-US" dirty="0"/>
              <a:t> messages</a:t>
            </a:r>
            <a:br>
              <a:rPr lang="en-US" altLang="en-US" dirty="0"/>
            </a:br>
            <a:r>
              <a:rPr lang="en-US" altLang="en-US" dirty="0"/>
              <a:t>Sender must wait if link is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dirty="0">
                <a:solidFill>
                  <a:srgbClr val="CC6600"/>
                </a:solidFill>
              </a:rPr>
              <a:t>3.</a:t>
            </a:r>
            <a:r>
              <a:rPr lang="en-US" altLang="en-US" dirty="0"/>
              <a:t>	Unbounded capacity – infinite length </a:t>
            </a:r>
            <a:br>
              <a:rPr lang="en-US" altLang="en-US" dirty="0"/>
            </a:br>
            <a:r>
              <a:rPr lang="en-US" altLang="en-US" dirty="0"/>
              <a:t>Sender never waits</a:t>
            </a:r>
          </a:p>
        </p:txBody>
      </p:sp>
    </p:spTree>
    <p:extLst>
      <p:ext uri="{BB962C8B-B14F-4D97-AF65-F5344CB8AC3E}">
        <p14:creationId xmlns:p14="http://schemas.microsoft.com/office/powerpoint/2010/main" val="933575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</TotalTime>
  <Words>1174</Words>
  <Application>Microsoft Office PowerPoint</Application>
  <PresentationFormat>On-screen Show (4:3)</PresentationFormat>
  <Paragraphs>181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ＭＳ Ｐゴシック</vt:lpstr>
      <vt:lpstr>Arial</vt:lpstr>
      <vt:lpstr>Calibri</vt:lpstr>
      <vt:lpstr>Courier New</vt:lpstr>
      <vt:lpstr>Monaco</vt:lpstr>
      <vt:lpstr>Monotype Sorts</vt:lpstr>
      <vt:lpstr>Times New Roman</vt:lpstr>
      <vt:lpstr>Verdana</vt:lpstr>
      <vt:lpstr>Office Theme</vt:lpstr>
      <vt:lpstr>Module4_InterProcessCommunication </vt:lpstr>
      <vt:lpstr>Interprocess Communication</vt:lpstr>
      <vt:lpstr>Communications Models </vt:lpstr>
      <vt:lpstr>Cooperating Processes</vt:lpstr>
      <vt:lpstr>Producer-Consumer Problem</vt:lpstr>
      <vt:lpstr>Bounded-Buffer – Shared-Memory Solution</vt:lpstr>
      <vt:lpstr>Bounded-Buffer – Producer</vt:lpstr>
      <vt:lpstr>Bounded Buffer – Consumer</vt:lpstr>
      <vt:lpstr>Bounded-Buffer – Producer &amp; Consumer</vt:lpstr>
      <vt:lpstr>Interprocess Communication –  Shared Memory</vt:lpstr>
      <vt:lpstr>Interprocess Communication – Message Passing</vt:lpstr>
      <vt:lpstr>Message Passing (Cont.)</vt:lpstr>
      <vt:lpstr>Message Passing (Cont.)</vt:lpstr>
      <vt:lpstr>Direct Communication</vt:lpstr>
      <vt:lpstr>Indirect Communication</vt:lpstr>
      <vt:lpstr>Indirect Communication</vt:lpstr>
      <vt:lpstr>Indirect Communication</vt:lpstr>
      <vt:lpstr>Synchronization</vt:lpstr>
      <vt:lpstr>Buffering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Processes</dc:title>
  <dc:creator>vijaya sherly</dc:creator>
  <cp:lastModifiedBy>raja rajeswari</cp:lastModifiedBy>
  <cp:revision>26</cp:revision>
  <dcterms:created xsi:type="dcterms:W3CDTF">2016-08-02T21:46:07Z</dcterms:created>
  <dcterms:modified xsi:type="dcterms:W3CDTF">2024-09-10T08:16:04Z</dcterms:modified>
</cp:coreProperties>
</file>