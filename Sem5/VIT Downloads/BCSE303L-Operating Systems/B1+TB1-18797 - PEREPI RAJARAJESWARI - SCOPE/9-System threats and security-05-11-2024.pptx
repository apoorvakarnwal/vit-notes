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26"/>
  </p:notesMasterIdLst>
  <p:handoutMasterIdLst>
    <p:handoutMasterId r:id="rId27"/>
  </p:handoutMasterIdLst>
  <p:sldIdLst>
    <p:sldId id="277" r:id="rId2"/>
    <p:sldId id="259" r:id="rId3"/>
    <p:sldId id="287" r:id="rId4"/>
    <p:sldId id="260" r:id="rId5"/>
    <p:sldId id="288" r:id="rId6"/>
    <p:sldId id="316" r:id="rId7"/>
    <p:sldId id="289" r:id="rId8"/>
    <p:sldId id="290" r:id="rId9"/>
    <p:sldId id="262" r:id="rId10"/>
    <p:sldId id="317" r:id="rId11"/>
    <p:sldId id="291" r:id="rId12"/>
    <p:sldId id="292" r:id="rId13"/>
    <p:sldId id="296" r:id="rId14"/>
    <p:sldId id="297" r:id="rId15"/>
    <p:sldId id="319" r:id="rId16"/>
    <p:sldId id="263" r:id="rId17"/>
    <p:sldId id="320" r:id="rId18"/>
    <p:sldId id="268" r:id="rId19"/>
    <p:sldId id="321" r:id="rId20"/>
    <p:sldId id="323" r:id="rId21"/>
    <p:sldId id="261" r:id="rId22"/>
    <p:sldId id="326" r:id="rId23"/>
    <p:sldId id="276" r:id="rId24"/>
    <p:sldId id="286" r:id="rId25"/>
  </p:sldIdLst>
  <p:sldSz cx="13716000" cy="9144000"/>
  <p:notesSz cx="6997700" cy="92837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400" kern="1200">
        <a:solidFill>
          <a:schemeClr val="tx1"/>
        </a:solidFill>
        <a:latin typeface="Verdana" charset="0"/>
        <a:ea typeface="ＭＳ Ｐゴシック" charset="-128"/>
        <a:cs typeface="+mn-cs"/>
      </a:defRPr>
    </a:lvl1pPr>
    <a:lvl2pPr marL="652463" indent="-195263" algn="l" rtl="0" fontAlgn="base">
      <a:spcBef>
        <a:spcPct val="0"/>
      </a:spcBef>
      <a:spcAft>
        <a:spcPct val="0"/>
      </a:spcAft>
      <a:defRPr sz="3400" kern="1200">
        <a:solidFill>
          <a:schemeClr val="tx1"/>
        </a:solidFill>
        <a:latin typeface="Verdana" charset="0"/>
        <a:ea typeface="ＭＳ Ｐゴシック" charset="-128"/>
        <a:cs typeface="+mn-cs"/>
      </a:defRPr>
    </a:lvl2pPr>
    <a:lvl3pPr marL="1304925" indent="-390525" algn="l" rtl="0" fontAlgn="base">
      <a:spcBef>
        <a:spcPct val="0"/>
      </a:spcBef>
      <a:spcAft>
        <a:spcPct val="0"/>
      </a:spcAft>
      <a:defRPr sz="3400" kern="1200">
        <a:solidFill>
          <a:schemeClr val="tx1"/>
        </a:solidFill>
        <a:latin typeface="Verdana" charset="0"/>
        <a:ea typeface="ＭＳ Ｐゴシック" charset="-128"/>
        <a:cs typeface="+mn-cs"/>
      </a:defRPr>
    </a:lvl3pPr>
    <a:lvl4pPr marL="1958975" indent="-587375" algn="l" rtl="0" fontAlgn="base">
      <a:spcBef>
        <a:spcPct val="0"/>
      </a:spcBef>
      <a:spcAft>
        <a:spcPct val="0"/>
      </a:spcAft>
      <a:defRPr sz="3400" kern="1200">
        <a:solidFill>
          <a:schemeClr val="tx1"/>
        </a:solidFill>
        <a:latin typeface="Verdana" charset="0"/>
        <a:ea typeface="ＭＳ Ｐゴシック" charset="-128"/>
        <a:cs typeface="+mn-cs"/>
      </a:defRPr>
    </a:lvl4pPr>
    <a:lvl5pPr marL="2611438" indent="-782638" algn="l" rtl="0" fontAlgn="base">
      <a:spcBef>
        <a:spcPct val="0"/>
      </a:spcBef>
      <a:spcAft>
        <a:spcPct val="0"/>
      </a:spcAft>
      <a:defRPr sz="3400" kern="1200">
        <a:solidFill>
          <a:schemeClr val="tx1"/>
        </a:solidFill>
        <a:latin typeface="Verdana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3400" kern="1200">
        <a:solidFill>
          <a:schemeClr val="tx1"/>
        </a:solidFill>
        <a:latin typeface="Verdana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3400" kern="1200">
        <a:solidFill>
          <a:schemeClr val="tx1"/>
        </a:solidFill>
        <a:latin typeface="Verdana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3400" kern="1200">
        <a:solidFill>
          <a:schemeClr val="tx1"/>
        </a:solidFill>
        <a:latin typeface="Verdana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3400" kern="1200">
        <a:solidFill>
          <a:schemeClr val="tx1"/>
        </a:solidFill>
        <a:latin typeface="Verdana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21">
          <p15:clr>
            <a:srgbClr val="A4A3A4"/>
          </p15:clr>
        </p15:guide>
        <p15:guide id="2" pos="19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306" y="58"/>
      </p:cViewPr>
      <p:guideLst>
        <p:guide orient="horz" pos="1521"/>
        <p:guide pos="19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9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67050" cy="44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134" tIns="44067" rIns="88134" bIns="44067" numCol="1" anchor="ctr" anchorCtr="0" compatLnSpc="1">
            <a:prstTxWarp prst="textNoShape">
              <a:avLst/>
            </a:prstTxWarp>
          </a:bodyPr>
          <a:lstStyle>
            <a:lvl1pPr defTabSz="881063" eaLnBrk="0" hangingPunct="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43350" y="0"/>
            <a:ext cx="3067050" cy="44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134" tIns="44067" rIns="88134" bIns="44067" numCol="1" anchor="ctr" anchorCtr="0" compatLnSpc="1">
            <a:prstTxWarp prst="textNoShape">
              <a:avLst/>
            </a:prstTxWarp>
          </a:bodyPr>
          <a:lstStyle>
            <a:lvl1pPr algn="r" defTabSz="881063" eaLnBrk="0" hangingPunct="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53488"/>
            <a:ext cx="30670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134" tIns="44067" rIns="88134" bIns="44067" numCol="1" anchor="b" anchorCtr="0" compatLnSpc="1">
            <a:prstTxWarp prst="textNoShape">
              <a:avLst/>
            </a:prstTxWarp>
          </a:bodyPr>
          <a:lstStyle>
            <a:lvl1pPr defTabSz="881063" eaLnBrk="0" hangingPunct="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43350" y="8853488"/>
            <a:ext cx="30670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134" tIns="44067" rIns="88134" bIns="44067" numCol="1" anchor="b" anchorCtr="0" compatLnSpc="1">
            <a:prstTxWarp prst="textNoShape">
              <a:avLst/>
            </a:prstTxWarp>
          </a:bodyPr>
          <a:lstStyle>
            <a:lvl1pPr algn="r" defTabSz="881063" eaLnBrk="0" hangingPunct="0">
              <a:defRPr sz="1200">
                <a:latin typeface="Helvetica" charset="0"/>
              </a:defRPr>
            </a:lvl1pPr>
          </a:lstStyle>
          <a:p>
            <a:pPr>
              <a:defRPr/>
            </a:pPr>
            <a:fld id="{6D74C931-8A6D-4135-89C3-52D8E1FFDE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2890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05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ctr" anchorCtr="0" compatLnSpc="1">
            <a:prstTxWarp prst="textNoShape">
              <a:avLst/>
            </a:prstTxWarp>
          </a:bodyPr>
          <a:lstStyle>
            <a:lvl1pPr defTabSz="930275" eaLnBrk="0" hangingPunct="0">
              <a:defRPr sz="13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7163" y="0"/>
            <a:ext cx="303053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ctr" anchorCtr="0" compatLnSpc="1">
            <a:prstTxWarp prst="textNoShape">
              <a:avLst/>
            </a:prstTxWarp>
          </a:bodyPr>
          <a:lstStyle>
            <a:lvl1pPr algn="r" defTabSz="930275" eaLnBrk="0" hangingPunct="0">
              <a:defRPr sz="13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89000" y="696913"/>
            <a:ext cx="521970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05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b" anchorCtr="0" compatLnSpc="1">
            <a:prstTxWarp prst="textNoShape">
              <a:avLst/>
            </a:prstTxWarp>
          </a:bodyPr>
          <a:lstStyle>
            <a:lvl1pPr defTabSz="930275" eaLnBrk="0" hangingPunct="0">
              <a:defRPr sz="13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7163" y="8820150"/>
            <a:ext cx="303053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b" anchorCtr="0" compatLnSpc="1">
            <a:prstTxWarp prst="textNoShape">
              <a:avLst/>
            </a:prstTxWarp>
          </a:bodyPr>
          <a:lstStyle>
            <a:lvl1pPr algn="r" defTabSz="930275" eaLnBrk="0" hangingPunct="0">
              <a:defRPr sz="1300">
                <a:latin typeface="Helvetica" charset="0"/>
              </a:defRPr>
            </a:lvl1pPr>
          </a:lstStyle>
          <a:p>
            <a:pPr>
              <a:defRPr/>
            </a:pPr>
            <a:fld id="{AA1783A6-AC04-4D91-A623-1FF74AA36D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8905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ＭＳ Ｐゴシック" charset="-128"/>
      </a:defRPr>
    </a:lvl1pPr>
    <a:lvl2pPr marL="652463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2pPr>
    <a:lvl3pPr marL="1304925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3pPr>
    <a:lvl4pPr marL="1958975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4pPr>
    <a:lvl5pPr marL="2611438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5pPr>
    <a:lvl6pPr marL="326555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391866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457177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5224882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C53251-C2E7-447F-84EE-365B44B15AF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8D5AEA9-8A40-4E6F-A430-267A9CD089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1F0B2D7-F78A-431D-A64A-998ABFD3190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40B2E27-F6E7-4CDB-9025-4BED18EBEF50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A75F5E3-A35E-4D5C-B23D-64CDDD27AA1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35EE7F-1CF2-4E1E-9EDA-82E6454FE67A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0AD3FD-02C7-4658-96E8-1EF9C50A3D6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8AE9D87-1A70-422D-BE50-686EB8E34357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E9F195-E138-4625-8A6D-E2BBBEB0C461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D22AB0B-409F-4318-963A-A336FD46B532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4536041-04CE-458F-90D3-6BF5ED9406B5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DF78B86-8976-490F-A447-4C1E2B90D81D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C67FCB5-C508-4D21-9495-77448224F827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1E94855-DDCF-4406-A03D-A47F3B08AF39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53F4D3D-2E4D-4851-9F8F-CA8194ED91A9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87FD4E7-2EEB-4EF9-ACA4-9A3BCD01E760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FFA2F52-BA1E-4D57-A5A6-0AB2B1F79008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0C0C7D-4B33-4341-8F1F-3A4370CC07ED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298450" y="3948113"/>
            <a:ext cx="12915900" cy="268287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lang="en-US" sz="2600" dirty="0">
                <a:cs typeface="ＭＳ Ｐゴシック" charset="-128"/>
              </a:endParaRPr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lang="en-US" sz="2600" dirty="0">
                <a:cs typeface="ＭＳ Ｐゴシック" charset="-128"/>
              </a:endParaRP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lang="en-US" sz="2600" dirty="0">
                <a:cs typeface="ＭＳ Ｐゴシック" charset="-128"/>
              </a:endParaRPr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9734550" y="8783638"/>
            <a:ext cx="4070350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0622" tIns="65311" rIns="130622" bIns="65311"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1400" b="1" dirty="0">
                <a:solidFill>
                  <a:srgbClr val="336699"/>
                </a:solidFill>
                <a:latin typeface="Helvetica" charset="0"/>
              </a:rPr>
              <a:t>Silberschatz, Galvin and Gagne ©2009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41275" y="8818563"/>
            <a:ext cx="3848100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400" b="1" dirty="0">
                <a:solidFill>
                  <a:srgbClr val="336699"/>
                </a:solidFill>
                <a:latin typeface="Helvetica" charset="0"/>
              </a:rPr>
              <a:t>Operating System Concepts – 8</a:t>
            </a:r>
            <a:r>
              <a:rPr lang="en-US" sz="1400" b="1" baseline="30000" dirty="0">
                <a:solidFill>
                  <a:srgbClr val="336699"/>
                </a:solidFill>
                <a:latin typeface="Helvetica" charset="0"/>
              </a:rPr>
              <a:t>th</a:t>
            </a:r>
            <a:r>
              <a:rPr lang="en-US" sz="1400" b="1" dirty="0">
                <a:solidFill>
                  <a:srgbClr val="336699"/>
                </a:solidFill>
                <a:latin typeface="Helvetica" charset="0"/>
              </a:rPr>
              <a:t> Edition</a:t>
            </a: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41900" y="5543550"/>
            <a:ext cx="3092450" cy="2125663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4837113" y="5354638"/>
            <a:ext cx="3505200" cy="2517775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ffectLst/>
        </p:spPr>
        <p:txBody>
          <a:bodyPr wrap="none" lIns="130622" tIns="65311" rIns="130622" bIns="65311" anchor="ctr"/>
          <a:lstStyle/>
          <a:p>
            <a:pPr eaLnBrk="0" hangingPunct="0">
              <a:defRPr/>
            </a:pPr>
            <a:endParaRPr lang="en-US" sz="2600" dirty="0">
              <a:cs typeface="ＭＳ Ｐゴシック" charset="-128"/>
            </a:endParaRPr>
          </a:p>
        </p:txBody>
      </p:sp>
      <p:sp>
        <p:nvSpPr>
          <p:cNvPr id="1177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333"/>
          </a:xfrm>
        </p:spPr>
        <p:txBody>
          <a:bodyPr/>
          <a:lstStyle>
            <a:lvl1pPr>
              <a:defRPr sz="6100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470" y="5875867"/>
            <a:ext cx="11658600" cy="1816100"/>
          </a:xfrm>
        </p:spPr>
        <p:txBody>
          <a:bodyPr anchor="t"/>
          <a:lstStyle>
            <a:lvl1pPr algn="l">
              <a:defRPr sz="57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3470" y="3875618"/>
            <a:ext cx="11658600" cy="2000249"/>
          </a:xfrm>
        </p:spPr>
        <p:txBody>
          <a:bodyPr anchor="b"/>
          <a:lstStyle>
            <a:lvl1pPr marL="0" indent="0">
              <a:buNone/>
              <a:defRPr sz="2900"/>
            </a:lvl1pPr>
            <a:lvl2pPr marL="653110" indent="0">
              <a:buNone/>
              <a:defRPr sz="2600"/>
            </a:lvl2pPr>
            <a:lvl3pPr marL="1306220" indent="0">
              <a:buNone/>
              <a:defRPr sz="2300"/>
            </a:lvl3pPr>
            <a:lvl4pPr marL="1959331" indent="0">
              <a:buNone/>
              <a:defRPr sz="2000"/>
            </a:lvl4pPr>
            <a:lvl5pPr marL="2612441" indent="0">
              <a:buNone/>
              <a:defRPr sz="2000"/>
            </a:lvl5pPr>
            <a:lvl6pPr marL="3265551" indent="0">
              <a:buNone/>
              <a:defRPr sz="2000"/>
            </a:lvl6pPr>
            <a:lvl7pPr marL="3918661" indent="0">
              <a:buNone/>
              <a:defRPr sz="2000"/>
            </a:lvl7pPr>
            <a:lvl8pPr marL="4571771" indent="0">
              <a:buNone/>
              <a:defRPr sz="2000"/>
            </a:lvl8pPr>
            <a:lvl9pPr marL="5224882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9675" y="1644651"/>
            <a:ext cx="6057900" cy="6040967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96175" y="1644651"/>
            <a:ext cx="6057900" cy="6040967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66184"/>
            <a:ext cx="123444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6817"/>
            <a:ext cx="6060282" cy="853016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899833"/>
            <a:ext cx="6060282" cy="5268384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67538" y="2046817"/>
            <a:ext cx="6062663" cy="853016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67538" y="2899833"/>
            <a:ext cx="6062663" cy="5268384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364067"/>
            <a:ext cx="4512470" cy="1549400"/>
          </a:xfrm>
        </p:spPr>
        <p:txBody>
          <a:bodyPr/>
          <a:lstStyle>
            <a:lvl1pPr algn="l">
              <a:defRPr sz="2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2575" y="364067"/>
            <a:ext cx="7667625" cy="7804151"/>
          </a:xfrm>
        </p:spPr>
        <p:txBody>
          <a:bodyPr/>
          <a:lstStyle>
            <a:lvl1pPr>
              <a:defRPr sz="4600"/>
            </a:lvl1pPr>
            <a:lvl2pPr>
              <a:defRPr sz="4000"/>
            </a:lvl2pPr>
            <a:lvl3pPr>
              <a:defRPr sz="34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1913467"/>
            <a:ext cx="4512470" cy="6254751"/>
          </a:xfrm>
        </p:spPr>
        <p:txBody>
          <a:bodyPr/>
          <a:lstStyle>
            <a:lvl1pPr marL="0" indent="0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8432" y="6400800"/>
            <a:ext cx="8229600" cy="755651"/>
          </a:xfrm>
        </p:spPr>
        <p:txBody>
          <a:bodyPr/>
          <a:lstStyle>
            <a:lvl1pPr algn="l">
              <a:defRPr sz="2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88432" y="817033"/>
            <a:ext cx="8229600" cy="5486400"/>
          </a:xfrm>
        </p:spPr>
        <p:txBody>
          <a:bodyPr/>
          <a:lstStyle>
            <a:lvl1pPr marL="0" indent="0">
              <a:buNone/>
              <a:defRPr sz="4600"/>
            </a:lvl1pPr>
            <a:lvl2pPr marL="653110" indent="0">
              <a:buNone/>
              <a:defRPr sz="4000"/>
            </a:lvl2pPr>
            <a:lvl3pPr marL="1306220" indent="0">
              <a:buNone/>
              <a:defRPr sz="3400"/>
            </a:lvl3pPr>
            <a:lvl4pPr marL="1959331" indent="0">
              <a:buNone/>
              <a:defRPr sz="2900"/>
            </a:lvl4pPr>
            <a:lvl5pPr marL="2612441" indent="0">
              <a:buNone/>
              <a:defRPr sz="2900"/>
            </a:lvl5pPr>
            <a:lvl6pPr marL="3265551" indent="0">
              <a:buNone/>
              <a:defRPr sz="2900"/>
            </a:lvl6pPr>
            <a:lvl7pPr marL="3918661" indent="0">
              <a:buNone/>
              <a:defRPr sz="2900"/>
            </a:lvl7pPr>
            <a:lvl8pPr marL="4571771" indent="0">
              <a:buNone/>
              <a:defRPr sz="2900"/>
            </a:lvl8pPr>
            <a:lvl9pPr marL="5224882" indent="0">
              <a:buNone/>
              <a:defRPr sz="29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8432" y="7156451"/>
            <a:ext cx="8229600" cy="1073149"/>
          </a:xfrm>
        </p:spPr>
        <p:txBody>
          <a:bodyPr/>
          <a:lstStyle>
            <a:lvl1pPr marL="0" indent="0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37007" y="370417"/>
            <a:ext cx="3217068" cy="7315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70417"/>
            <a:ext cx="9422607" cy="7315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428625" y="0"/>
            <a:ext cx="1793875" cy="1211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69888"/>
            <a:ext cx="12344400" cy="76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1" rIns="130622" bIns="6531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09675" y="1644650"/>
            <a:ext cx="12344400" cy="604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1" rIns="130622" bIns="653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6741" name="Rectangle 5"/>
          <p:cNvSpPr>
            <a:spLocks noChangeArrowheads="1"/>
          </p:cNvSpPr>
          <p:nvPr/>
        </p:nvSpPr>
        <p:spPr bwMode="auto">
          <a:xfrm>
            <a:off x="0" y="0"/>
            <a:ext cx="342900" cy="3048000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 anchor="ctr"/>
          <a:lstStyle/>
          <a:p>
            <a:pPr algn="ctr">
              <a:defRPr/>
            </a:pPr>
            <a:endParaRPr lang="en-US">
              <a:latin typeface="Times New Roman" charset="0"/>
              <a:cs typeface="ＭＳ Ｐゴシック" charset="-128"/>
            </a:endParaRPr>
          </a:p>
        </p:txBody>
      </p:sp>
      <p:sp>
        <p:nvSpPr>
          <p:cNvPr id="116742" name="Line 6"/>
          <p:cNvSpPr>
            <a:spLocks noChangeShapeType="1"/>
          </p:cNvSpPr>
          <p:nvPr/>
        </p:nvSpPr>
        <p:spPr bwMode="auto">
          <a:xfrm>
            <a:off x="685800" y="1147763"/>
            <a:ext cx="121158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ffectLst/>
        </p:spPr>
        <p:txBody>
          <a:bodyPr lIns="130622" tIns="65311" rIns="130622" bIns="65311"/>
          <a:lstStyle/>
          <a:p>
            <a:pPr eaLnBrk="0" hangingPunct="0">
              <a:defRPr/>
            </a:pPr>
            <a:endParaRPr lang="en-US" sz="2600" dirty="0">
              <a:ea typeface="+mn-ea"/>
            </a:endParaRPr>
          </a:p>
        </p:txBody>
      </p:sp>
      <p:sp>
        <p:nvSpPr>
          <p:cNvPr id="116743" name="Rectangle 7"/>
          <p:cNvSpPr>
            <a:spLocks noChangeArrowheads="1"/>
          </p:cNvSpPr>
          <p:nvPr/>
        </p:nvSpPr>
        <p:spPr bwMode="auto">
          <a:xfrm>
            <a:off x="0" y="3048000"/>
            <a:ext cx="342900" cy="30480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 anchor="ctr"/>
          <a:lstStyle/>
          <a:p>
            <a:pPr algn="ctr">
              <a:defRPr/>
            </a:pPr>
            <a:endParaRPr lang="en-US">
              <a:latin typeface="Times New Roman" charset="0"/>
              <a:cs typeface="ＭＳ Ｐゴシック" charset="-128"/>
            </a:endParaRPr>
          </a:p>
        </p:txBody>
      </p:sp>
      <p:sp>
        <p:nvSpPr>
          <p:cNvPr id="116744" name="Rectangle 8"/>
          <p:cNvSpPr>
            <a:spLocks noChangeArrowheads="1"/>
          </p:cNvSpPr>
          <p:nvPr/>
        </p:nvSpPr>
        <p:spPr bwMode="auto">
          <a:xfrm>
            <a:off x="0" y="6096000"/>
            <a:ext cx="342900" cy="3048000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 anchor="ctr"/>
          <a:lstStyle/>
          <a:p>
            <a:pPr algn="ctr">
              <a:defRPr/>
            </a:pPr>
            <a:endParaRPr lang="en-US">
              <a:latin typeface="Times New Roman" charset="0"/>
              <a:cs typeface="ＭＳ Ｐゴシック" charset="-128"/>
            </a:endParaRPr>
          </a:p>
        </p:txBody>
      </p:sp>
      <p:sp>
        <p:nvSpPr>
          <p:cNvPr id="116745" name="Text Box 9"/>
          <p:cNvSpPr txBox="1">
            <a:spLocks noChangeArrowheads="1"/>
          </p:cNvSpPr>
          <p:nvPr/>
        </p:nvSpPr>
        <p:spPr bwMode="auto">
          <a:xfrm>
            <a:off x="6354763" y="8818563"/>
            <a:ext cx="730250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1400" b="1" dirty="0">
                <a:solidFill>
                  <a:srgbClr val="006699"/>
                </a:solidFill>
                <a:latin typeface="Helvetica" charset="0"/>
              </a:rPr>
              <a:t>15.</a:t>
            </a:r>
            <a:fld id="{D44EB710-6743-46DF-BB60-AFC3F8B2FE72}" type="slidenum">
              <a:rPr lang="en-US" sz="1400" b="1">
                <a:solidFill>
                  <a:srgbClr val="006699"/>
                </a:solidFill>
                <a:latin typeface="Helvetica" charset="0"/>
              </a:rPr>
              <a:pPr algn="ctr" eaLnBrk="0" hangingPunct="0">
                <a:spcBef>
                  <a:spcPct val="50000"/>
                </a:spcBef>
                <a:defRPr/>
              </a:pPr>
              <a:t>‹#›</a:t>
            </a:fld>
            <a:endParaRPr lang="en-US" sz="1400" b="1" dirty="0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16746" name="Text Box 10"/>
          <p:cNvSpPr txBox="1">
            <a:spLocks noChangeArrowheads="1"/>
          </p:cNvSpPr>
          <p:nvPr/>
        </p:nvSpPr>
        <p:spPr bwMode="auto">
          <a:xfrm>
            <a:off x="9734550" y="8783638"/>
            <a:ext cx="4070350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0622" tIns="65311" rIns="130622" bIns="65311"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1400" b="1" dirty="0">
                <a:solidFill>
                  <a:srgbClr val="006699"/>
                </a:solidFill>
                <a:latin typeface="Helvetica" charset="0"/>
              </a:rPr>
              <a:t>Silberschatz, Galvin and Gagne ©2009</a:t>
            </a:r>
          </a:p>
        </p:txBody>
      </p:sp>
      <p:sp>
        <p:nvSpPr>
          <p:cNvPr id="116747" name="Text Box 11"/>
          <p:cNvSpPr txBox="1">
            <a:spLocks noChangeArrowheads="1"/>
          </p:cNvSpPr>
          <p:nvPr/>
        </p:nvSpPr>
        <p:spPr bwMode="auto">
          <a:xfrm>
            <a:off x="279400" y="8828088"/>
            <a:ext cx="3848100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400" b="1" dirty="0">
                <a:solidFill>
                  <a:srgbClr val="006699"/>
                </a:solidFill>
                <a:latin typeface="Helvetica" charset="0"/>
              </a:rPr>
              <a:t>Operating System Concepts – 8</a:t>
            </a:r>
            <a:r>
              <a:rPr lang="en-US" sz="1400" b="1" baseline="30000" dirty="0">
                <a:solidFill>
                  <a:srgbClr val="006699"/>
                </a:solidFill>
                <a:latin typeface="Helvetica" charset="0"/>
              </a:rPr>
              <a:t>th</a:t>
            </a:r>
            <a:r>
              <a:rPr lang="en-US" sz="1400" b="1" dirty="0">
                <a:solidFill>
                  <a:srgbClr val="006699"/>
                </a:solidFill>
                <a:latin typeface="Helvetica" charset="0"/>
              </a:rPr>
              <a:t> Edition</a:t>
            </a: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11661775" y="7799388"/>
            <a:ext cx="1925638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5pPr>
      <a:lvl6pPr marL="653110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6pPr>
      <a:lvl7pPr marL="1306220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7pPr>
      <a:lvl8pPr marL="1959331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8pPr>
      <a:lvl9pPr marL="2612441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9pPr>
    </p:titleStyle>
    <p:bodyStyle>
      <a:lvl1pPr marL="488950" indent="-48895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charset="2"/>
        <a:buChar char="n"/>
        <a:defRPr kumimoji="1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1060450" indent="-407988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charset="2"/>
        <a:buChar char="l"/>
        <a:defRPr kumimoji="1">
          <a:solidFill>
            <a:schemeClr val="tx1"/>
          </a:solidFill>
          <a:latin typeface="+mn-lt"/>
          <a:ea typeface="ＭＳ Ｐゴシック" charset="-128"/>
        </a:defRPr>
      </a:lvl2pPr>
      <a:lvl3pPr marL="1550988" indent="-325438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charset="2"/>
        <a:buChar char="4"/>
        <a:defRPr kumimoji="1">
          <a:solidFill>
            <a:schemeClr val="tx1"/>
          </a:solidFill>
          <a:latin typeface="+mn-lt"/>
          <a:ea typeface="ＭＳ Ｐゴシック" charset="-128"/>
        </a:defRPr>
      </a:lvl3pPr>
      <a:lvl4pPr marL="2039938" indent="-325438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ＭＳ Ｐゴシック" charset="-128"/>
        </a:defRPr>
      </a:lvl4pPr>
      <a:lvl5pPr marL="2530475" indent="-325438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5pPr>
      <a:lvl6pPr marL="3183912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3837022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4490133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5143243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311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622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933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244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6555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1866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24882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863"/>
          </a:xfrm>
        </p:spPr>
        <p:txBody>
          <a:bodyPr/>
          <a:lstStyle/>
          <a:p>
            <a:pPr eaLnBrk="1" hangingPunct="1"/>
            <a:r>
              <a:rPr lang="en-US"/>
              <a:t>Chapter 15: 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Chapter 15:  Security</a:t>
            </a:r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28725" y="1695450"/>
            <a:ext cx="11028363" cy="5976938"/>
          </a:xfrm>
        </p:spPr>
        <p:txBody>
          <a:bodyPr/>
          <a:lstStyle/>
          <a:p>
            <a:r>
              <a:rPr lang="en-US"/>
              <a:t>The Security Problem</a:t>
            </a:r>
          </a:p>
          <a:p>
            <a:r>
              <a:rPr lang="en-US"/>
              <a:t>Program Threats</a:t>
            </a:r>
          </a:p>
          <a:p>
            <a:r>
              <a:rPr lang="en-US"/>
              <a:t>System and Network Threats</a:t>
            </a:r>
          </a:p>
          <a:p>
            <a:r>
              <a:rPr lang="en-US"/>
              <a:t>Cryptography as a Security Tool</a:t>
            </a:r>
          </a:p>
          <a:p>
            <a:r>
              <a:rPr lang="en-US"/>
              <a:t>User Authentication</a:t>
            </a:r>
          </a:p>
          <a:p>
            <a:r>
              <a:rPr lang="en-US"/>
              <a:t>Implementing Security Defenses</a:t>
            </a:r>
          </a:p>
          <a:p>
            <a:r>
              <a:rPr lang="en-US"/>
              <a:t>Firewalling to Protect Systems and Networks</a:t>
            </a:r>
          </a:p>
          <a:p>
            <a:r>
              <a:rPr lang="en-US"/>
              <a:t>Computer-Security Classifications</a:t>
            </a:r>
          </a:p>
          <a:p>
            <a:r>
              <a:rPr lang="en-US"/>
              <a:t>An Example: Windows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Objectives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557000" cy="6040438"/>
          </a:xfrm>
        </p:spPr>
        <p:txBody>
          <a:bodyPr/>
          <a:lstStyle/>
          <a:p>
            <a:r>
              <a:rPr lang="en-US"/>
              <a:t>To discuss security threats and attacks</a:t>
            </a:r>
          </a:p>
          <a:p>
            <a:endParaRPr lang="en-US"/>
          </a:p>
          <a:p>
            <a:r>
              <a:rPr lang="en-US"/>
              <a:t>To explain the fundamentals of encryption, authentication, and hashing</a:t>
            </a:r>
          </a:p>
          <a:p>
            <a:endParaRPr lang="en-US"/>
          </a:p>
          <a:p>
            <a:r>
              <a:rPr lang="en-US"/>
              <a:t>To examine the uses of cryptography in computing</a:t>
            </a:r>
          </a:p>
          <a:p>
            <a:endParaRPr lang="en-US"/>
          </a:p>
          <a:p>
            <a:r>
              <a:rPr lang="en-US"/>
              <a:t>To describe the various countermeasures to security attacks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Security Problem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499850" cy="6040438"/>
          </a:xfrm>
        </p:spPr>
        <p:txBody>
          <a:bodyPr/>
          <a:lstStyle/>
          <a:p>
            <a:r>
              <a:rPr lang="en-US"/>
              <a:t>System </a:t>
            </a:r>
            <a:r>
              <a:rPr lang="en-US" b="1">
                <a:solidFill>
                  <a:srgbClr val="3366FF"/>
                </a:solidFill>
              </a:rPr>
              <a:t>secure</a:t>
            </a:r>
            <a:r>
              <a:rPr lang="en-US"/>
              <a:t> if resources used and accessed as intended under all circumstances</a:t>
            </a:r>
          </a:p>
          <a:p>
            <a:pPr lvl="1"/>
            <a:r>
              <a:rPr lang="en-US"/>
              <a:t>Unachievable</a:t>
            </a:r>
          </a:p>
          <a:p>
            <a:endParaRPr lang="en-US"/>
          </a:p>
          <a:p>
            <a:r>
              <a:rPr lang="en-US"/>
              <a:t>Intruders (crackers) attempt to breach security</a:t>
            </a:r>
          </a:p>
          <a:p>
            <a:endParaRPr lang="en-US"/>
          </a:p>
          <a:p>
            <a:r>
              <a:rPr lang="en-US" b="1">
                <a:solidFill>
                  <a:srgbClr val="3366FF"/>
                </a:solidFill>
              </a:rPr>
              <a:t>Threat </a:t>
            </a:r>
            <a:r>
              <a:rPr lang="en-US"/>
              <a:t>is potential security violation</a:t>
            </a:r>
          </a:p>
          <a:p>
            <a:endParaRPr lang="en-US"/>
          </a:p>
          <a:p>
            <a:r>
              <a:rPr lang="en-US" b="1">
                <a:solidFill>
                  <a:srgbClr val="3366FF"/>
                </a:solidFill>
              </a:rPr>
              <a:t>Attack</a:t>
            </a:r>
            <a:r>
              <a:rPr lang="en-US"/>
              <a:t> is attempt to breach security</a:t>
            </a:r>
          </a:p>
          <a:p>
            <a:endParaRPr lang="en-US"/>
          </a:p>
          <a:p>
            <a:r>
              <a:rPr lang="en-US"/>
              <a:t>Attack can be accidental or malicious</a:t>
            </a:r>
          </a:p>
          <a:p>
            <a:endParaRPr lang="en-US"/>
          </a:p>
          <a:p>
            <a:r>
              <a:rPr lang="en-US"/>
              <a:t>Easier to protect against accidental than malicious misuse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008063" y="369888"/>
            <a:ext cx="12022137" cy="768350"/>
          </a:xfrm>
        </p:spPr>
        <p:txBody>
          <a:bodyPr/>
          <a:lstStyle/>
          <a:p>
            <a:pPr eaLnBrk="1" hangingPunct="1"/>
            <a:r>
              <a:rPr lang="en-US"/>
              <a:t>Security Violation Categories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2344400" cy="6713538"/>
          </a:xfrm>
        </p:spPr>
        <p:txBody>
          <a:bodyPr/>
          <a:lstStyle/>
          <a:p>
            <a:r>
              <a:rPr lang="en-US" b="1"/>
              <a:t>Breach of confidentiality</a:t>
            </a:r>
          </a:p>
          <a:p>
            <a:pPr lvl="1"/>
            <a:r>
              <a:rPr lang="en-US"/>
              <a:t>Unauthorized reading of data</a:t>
            </a:r>
          </a:p>
          <a:p>
            <a:r>
              <a:rPr lang="en-US" b="1"/>
              <a:t>Breach of integrity</a:t>
            </a:r>
          </a:p>
          <a:p>
            <a:pPr lvl="1"/>
            <a:r>
              <a:rPr lang="en-US"/>
              <a:t>Unauthorized modification of data</a:t>
            </a:r>
          </a:p>
          <a:p>
            <a:r>
              <a:rPr lang="en-US" b="1"/>
              <a:t>Breach of availability</a:t>
            </a:r>
          </a:p>
          <a:p>
            <a:pPr lvl="1"/>
            <a:r>
              <a:rPr lang="en-US"/>
              <a:t>Unauthorized destruction of data</a:t>
            </a:r>
          </a:p>
          <a:p>
            <a:r>
              <a:rPr lang="en-US" b="1"/>
              <a:t>Theft of service</a:t>
            </a:r>
          </a:p>
          <a:p>
            <a:pPr lvl="1"/>
            <a:r>
              <a:rPr lang="en-US"/>
              <a:t>Unauthorized use of resources</a:t>
            </a:r>
          </a:p>
          <a:p>
            <a:r>
              <a:rPr lang="en-US" b="1"/>
              <a:t>Denial of service (DOS)</a:t>
            </a:r>
          </a:p>
          <a:p>
            <a:pPr lvl="1"/>
            <a:r>
              <a:rPr lang="en-US"/>
              <a:t>Prevention of legitimate use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Security Violation Methods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en-US" b="1"/>
          </a:p>
          <a:p>
            <a:r>
              <a:rPr lang="en-US" b="1">
                <a:solidFill>
                  <a:srgbClr val="3366FF"/>
                </a:solidFill>
              </a:rPr>
              <a:t>Masquerading </a:t>
            </a:r>
            <a:r>
              <a:rPr lang="en-US"/>
              <a:t>(breach </a:t>
            </a:r>
            <a:r>
              <a:rPr lang="en-US" b="1">
                <a:solidFill>
                  <a:srgbClr val="3366FF"/>
                </a:solidFill>
              </a:rPr>
              <a:t>authentication</a:t>
            </a:r>
            <a:r>
              <a:rPr lang="en-US"/>
              <a:t>)</a:t>
            </a:r>
          </a:p>
          <a:p>
            <a:pPr lvl="1"/>
            <a:r>
              <a:rPr lang="en-US"/>
              <a:t>Pretending to be an authorized user to escalate privileges</a:t>
            </a:r>
          </a:p>
          <a:p>
            <a:r>
              <a:rPr lang="en-US" b="1">
                <a:solidFill>
                  <a:srgbClr val="3366FF"/>
                </a:solidFill>
              </a:rPr>
              <a:t>Replay attack</a:t>
            </a:r>
          </a:p>
          <a:p>
            <a:pPr lvl="1"/>
            <a:r>
              <a:rPr lang="en-US"/>
              <a:t>As is or with message modification</a:t>
            </a:r>
          </a:p>
          <a:p>
            <a:r>
              <a:rPr lang="en-US" b="1">
                <a:solidFill>
                  <a:srgbClr val="3366FF"/>
                </a:solidFill>
              </a:rPr>
              <a:t>Man-in-the-middle attack</a:t>
            </a:r>
          </a:p>
          <a:p>
            <a:pPr lvl="1"/>
            <a:r>
              <a:rPr lang="en-US"/>
              <a:t>Intruder sits in data flow, masquerading as sender to receiver and vice versa</a:t>
            </a:r>
          </a:p>
          <a:p>
            <a:r>
              <a:rPr lang="en-US" b="1">
                <a:solidFill>
                  <a:srgbClr val="3366FF"/>
                </a:solidFill>
              </a:rPr>
              <a:t>Session hijacking</a:t>
            </a:r>
          </a:p>
          <a:p>
            <a:pPr lvl="1"/>
            <a:r>
              <a:rPr lang="en-US"/>
              <a:t>Intercept an already-established session to bypass authentication</a:t>
            </a:r>
          </a:p>
          <a:p>
            <a:pPr lvl="1"/>
            <a:endParaRPr lang="en-US" b="1"/>
          </a:p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022350" y="369888"/>
            <a:ext cx="12007850" cy="768350"/>
          </a:xfrm>
        </p:spPr>
        <p:txBody>
          <a:bodyPr/>
          <a:lstStyle/>
          <a:p>
            <a:pPr eaLnBrk="1" hangingPunct="1"/>
            <a:r>
              <a:rPr lang="en-US"/>
              <a:t>Standard Security Attacks</a:t>
            </a:r>
          </a:p>
        </p:txBody>
      </p:sp>
      <p:pic>
        <p:nvPicPr>
          <p:cNvPr id="9219" name="Picture 4" descr="1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84625" y="1536700"/>
            <a:ext cx="6010275" cy="698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298575" y="369888"/>
            <a:ext cx="11731625" cy="768350"/>
          </a:xfrm>
        </p:spPr>
        <p:txBody>
          <a:bodyPr/>
          <a:lstStyle/>
          <a:p>
            <a:pPr eaLnBrk="1" hangingPunct="1"/>
            <a:r>
              <a:rPr lang="en-US"/>
              <a:t>Security Measure Levels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Impossible to have absolute security, but make cost to perpetrator sufficiently high to deter most intruders</a:t>
            </a:r>
          </a:p>
          <a:p>
            <a:r>
              <a:rPr lang="en-US"/>
              <a:t>Security must occur at four levels to be effective:</a:t>
            </a:r>
          </a:p>
          <a:p>
            <a:pPr lvl="1"/>
            <a:r>
              <a:rPr lang="en-US" b="1"/>
              <a:t>Physical</a:t>
            </a:r>
          </a:p>
          <a:p>
            <a:pPr lvl="2"/>
            <a:r>
              <a:rPr lang="en-US"/>
              <a:t>Data centers, servers, connected terminals</a:t>
            </a:r>
          </a:p>
          <a:p>
            <a:pPr lvl="1"/>
            <a:r>
              <a:rPr lang="en-US" b="1"/>
              <a:t>Human</a:t>
            </a:r>
          </a:p>
          <a:p>
            <a:pPr lvl="2"/>
            <a:r>
              <a:rPr lang="en-US"/>
              <a:t>Avoid </a:t>
            </a:r>
            <a:r>
              <a:rPr lang="en-US" b="1">
                <a:solidFill>
                  <a:srgbClr val="3366FF"/>
                </a:solidFill>
              </a:rPr>
              <a:t>social engineering</a:t>
            </a:r>
            <a:r>
              <a:rPr lang="en-US"/>
              <a:t>,</a:t>
            </a:r>
            <a:r>
              <a:rPr lang="en-US" b="1">
                <a:solidFill>
                  <a:srgbClr val="3366FF"/>
                </a:solidFill>
              </a:rPr>
              <a:t> phishing</a:t>
            </a:r>
            <a:r>
              <a:rPr lang="en-US"/>
              <a:t>,</a:t>
            </a:r>
            <a:r>
              <a:rPr lang="en-US" b="1">
                <a:solidFill>
                  <a:srgbClr val="3366FF"/>
                </a:solidFill>
              </a:rPr>
              <a:t> dumpster diving</a:t>
            </a:r>
          </a:p>
          <a:p>
            <a:pPr lvl="1"/>
            <a:r>
              <a:rPr lang="en-US" b="1"/>
              <a:t>Operating System</a:t>
            </a:r>
          </a:p>
          <a:p>
            <a:pPr lvl="2"/>
            <a:r>
              <a:rPr lang="en-US"/>
              <a:t>Protection mechanisms, debugging</a:t>
            </a:r>
          </a:p>
          <a:p>
            <a:pPr lvl="1"/>
            <a:r>
              <a:rPr lang="en-US" b="1"/>
              <a:t>Network</a:t>
            </a:r>
          </a:p>
          <a:p>
            <a:pPr lvl="2"/>
            <a:r>
              <a:rPr lang="en-US"/>
              <a:t>Intercepted communications, interruption, DOS</a:t>
            </a:r>
          </a:p>
          <a:p>
            <a:r>
              <a:rPr lang="en-US"/>
              <a:t>Security is as weak as the weakest link in the chain</a:t>
            </a:r>
          </a:p>
          <a:p>
            <a:r>
              <a:rPr lang="en-US"/>
              <a:t>But can too much security be a problem?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Program Threats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557000" cy="7067550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Many variations, many names</a:t>
            </a:r>
          </a:p>
          <a:p>
            <a:r>
              <a:rPr lang="en-US" b="1">
                <a:solidFill>
                  <a:srgbClr val="000000"/>
                </a:solidFill>
              </a:rPr>
              <a:t>Trojan Horse</a:t>
            </a:r>
          </a:p>
          <a:p>
            <a:pPr lvl="1"/>
            <a:r>
              <a:rPr lang="en-US"/>
              <a:t>Code segment that misuses its environment</a:t>
            </a:r>
          </a:p>
          <a:p>
            <a:pPr lvl="1"/>
            <a:r>
              <a:rPr lang="en-US"/>
              <a:t>Exploits mechanisms for allowing programs written by users to be executed by other users</a:t>
            </a:r>
          </a:p>
          <a:p>
            <a:pPr lvl="1"/>
            <a:r>
              <a:rPr lang="en-US" b="1">
                <a:solidFill>
                  <a:srgbClr val="3366FF"/>
                </a:solidFill>
              </a:rPr>
              <a:t>Spyware</a:t>
            </a:r>
            <a:r>
              <a:rPr lang="en-US"/>
              <a:t>,</a:t>
            </a:r>
            <a:r>
              <a:rPr lang="en-US" b="1">
                <a:solidFill>
                  <a:srgbClr val="3366FF"/>
                </a:solidFill>
              </a:rPr>
              <a:t> pop-up browser windows</a:t>
            </a:r>
            <a:r>
              <a:rPr lang="en-US"/>
              <a:t>,</a:t>
            </a:r>
            <a:r>
              <a:rPr lang="en-US" b="1">
                <a:solidFill>
                  <a:srgbClr val="3366FF"/>
                </a:solidFill>
              </a:rPr>
              <a:t> covert channels</a:t>
            </a:r>
          </a:p>
          <a:p>
            <a:pPr lvl="1"/>
            <a:r>
              <a:rPr lang="en-US"/>
              <a:t>Up to 80% of spam delivered by spyware-infected systems</a:t>
            </a:r>
          </a:p>
          <a:p>
            <a:r>
              <a:rPr lang="en-US" b="1">
                <a:solidFill>
                  <a:srgbClr val="000000"/>
                </a:solidFill>
              </a:rPr>
              <a:t>Trap Door</a:t>
            </a:r>
          </a:p>
          <a:p>
            <a:pPr lvl="1"/>
            <a:r>
              <a:rPr lang="en-US"/>
              <a:t>Specific user identifier or password that circumvents normal security procedures</a:t>
            </a:r>
          </a:p>
          <a:p>
            <a:pPr lvl="1"/>
            <a:r>
              <a:rPr lang="en-US"/>
              <a:t>Could be included in a compiler</a:t>
            </a:r>
          </a:p>
          <a:p>
            <a:pPr lvl="1"/>
            <a:r>
              <a:rPr lang="en-US"/>
              <a:t>How to detect them?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Program Threats (Cont.)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>
                <a:solidFill>
                  <a:srgbClr val="000000"/>
                </a:solidFill>
              </a:rPr>
              <a:t>Logic Bomb</a:t>
            </a:r>
          </a:p>
          <a:p>
            <a:pPr lvl="1"/>
            <a:r>
              <a:rPr lang="en-US"/>
              <a:t>Program that initiates a security incident under certain circumstances</a:t>
            </a:r>
          </a:p>
          <a:p>
            <a:r>
              <a:rPr lang="en-US" b="1">
                <a:solidFill>
                  <a:srgbClr val="000000"/>
                </a:solidFill>
              </a:rPr>
              <a:t>Stack </a:t>
            </a:r>
            <a:r>
              <a:rPr lang="en-US">
                <a:solidFill>
                  <a:srgbClr val="000000"/>
                </a:solidFill>
              </a:rPr>
              <a:t>and </a:t>
            </a:r>
            <a:r>
              <a:rPr lang="en-US" b="1">
                <a:solidFill>
                  <a:srgbClr val="000000"/>
                </a:solidFill>
              </a:rPr>
              <a:t>Buffer Overflow</a:t>
            </a:r>
          </a:p>
          <a:p>
            <a:pPr lvl="1"/>
            <a:r>
              <a:rPr lang="en-US"/>
              <a:t>Exploits a bug in a program (overflow either the stack or memory buffers)</a:t>
            </a:r>
          </a:p>
          <a:p>
            <a:pPr lvl="1"/>
            <a:r>
              <a:rPr lang="en-US"/>
              <a:t>Failure to check bounds on inputs, arguments</a:t>
            </a:r>
          </a:p>
          <a:p>
            <a:pPr lvl="1"/>
            <a:r>
              <a:rPr lang="en-US"/>
              <a:t>Write past arguments on the stack into the return address on stack</a:t>
            </a:r>
          </a:p>
          <a:p>
            <a:pPr lvl="1"/>
            <a:r>
              <a:rPr lang="en-US"/>
              <a:t>When routine returns from call, returns to hacked address</a:t>
            </a:r>
          </a:p>
          <a:p>
            <a:pPr lvl="2"/>
            <a:r>
              <a:rPr lang="en-US"/>
              <a:t>Pointed to code loaded onto stack that executes malicious code</a:t>
            </a:r>
          </a:p>
          <a:p>
            <a:pPr lvl="1"/>
            <a:r>
              <a:rPr lang="en-US"/>
              <a:t>Unauthorized user or privilege escalation</a:t>
            </a:r>
          </a:p>
          <a:p>
            <a:pPr lvl="1"/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403350" y="369888"/>
            <a:ext cx="11626850" cy="768350"/>
          </a:xfrm>
        </p:spPr>
        <p:txBody>
          <a:bodyPr/>
          <a:lstStyle/>
          <a:p>
            <a:pPr eaLnBrk="1" hangingPunct="1"/>
            <a:r>
              <a:rPr lang="en-US" sz="4000"/>
              <a:t>C Program with Buffer-overflow Condition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charset="2"/>
              <a:buNone/>
            </a:pPr>
            <a:r>
              <a:rPr lang="en-US">
                <a:latin typeface="Courier New" charset="0"/>
              </a:rPr>
              <a:t>#include </a:t>
            </a:r>
            <a:r>
              <a:rPr lang="en-US" i="1">
                <a:latin typeface="Courier New" charset="0"/>
              </a:rPr>
              <a:t>&lt;</a:t>
            </a:r>
            <a:r>
              <a:rPr lang="en-US">
                <a:latin typeface="Courier New" charset="0"/>
              </a:rPr>
              <a:t>stdio.h</a:t>
            </a:r>
            <a:r>
              <a:rPr lang="en-US" i="1">
                <a:latin typeface="Courier New" charset="0"/>
              </a:rPr>
              <a:t>&gt;</a:t>
            </a:r>
          </a:p>
          <a:p>
            <a:pPr>
              <a:buFont typeface="Monotype Sorts" charset="2"/>
              <a:buNone/>
            </a:pPr>
            <a:r>
              <a:rPr lang="en-US">
                <a:latin typeface="Courier New" charset="0"/>
              </a:rPr>
              <a:t>#define BUFFER SIZE 256</a:t>
            </a:r>
          </a:p>
          <a:p>
            <a:pPr>
              <a:buFont typeface="Monotype Sorts" charset="2"/>
              <a:buNone/>
            </a:pPr>
            <a:r>
              <a:rPr lang="en-US">
                <a:latin typeface="Courier New" charset="0"/>
              </a:rPr>
              <a:t>int main(int argc, char *argv[])</a:t>
            </a:r>
          </a:p>
          <a:p>
            <a:pPr>
              <a:buFont typeface="Monotype Sorts" charset="2"/>
              <a:buNone/>
            </a:pPr>
            <a:r>
              <a:rPr lang="en-US">
                <a:latin typeface="Courier New" charset="0"/>
              </a:rPr>
              <a:t>{</a:t>
            </a:r>
          </a:p>
          <a:p>
            <a:pPr>
              <a:buFont typeface="Monotype Sorts" charset="2"/>
              <a:buNone/>
            </a:pPr>
            <a:r>
              <a:rPr lang="en-US">
                <a:latin typeface="Courier New" charset="0"/>
              </a:rPr>
              <a:t>	char buffer[BUFFER SIZE];</a:t>
            </a:r>
          </a:p>
          <a:p>
            <a:pPr>
              <a:buFont typeface="Monotype Sorts" charset="2"/>
              <a:buNone/>
            </a:pPr>
            <a:r>
              <a:rPr lang="en-US">
                <a:latin typeface="Courier New" charset="0"/>
              </a:rPr>
              <a:t>	if (argc &lt; 2)</a:t>
            </a:r>
          </a:p>
          <a:p>
            <a:pPr>
              <a:buFont typeface="Monotype Sorts" charset="2"/>
              <a:buNone/>
            </a:pPr>
            <a:r>
              <a:rPr lang="en-US">
                <a:latin typeface="Courier New" charset="0"/>
              </a:rPr>
              <a:t>		return -1;</a:t>
            </a:r>
          </a:p>
          <a:p>
            <a:pPr>
              <a:buFont typeface="Monotype Sorts" charset="2"/>
              <a:buNone/>
            </a:pPr>
            <a:r>
              <a:rPr lang="en-US">
                <a:latin typeface="Courier New" charset="0"/>
              </a:rPr>
              <a:t>	else {</a:t>
            </a:r>
          </a:p>
          <a:p>
            <a:pPr>
              <a:buFont typeface="Monotype Sorts" charset="2"/>
              <a:buNone/>
            </a:pPr>
            <a:r>
              <a:rPr lang="en-US">
                <a:latin typeface="Courier New" charset="0"/>
              </a:rPr>
              <a:t>		strcpy(buffer,argv[1]);</a:t>
            </a:r>
          </a:p>
          <a:p>
            <a:pPr>
              <a:buFont typeface="Monotype Sorts" charset="2"/>
              <a:buNone/>
            </a:pPr>
            <a:r>
              <a:rPr lang="en-US">
                <a:latin typeface="Courier New" charset="0"/>
              </a:rPr>
              <a:t>		return 0;</a:t>
            </a:r>
          </a:p>
          <a:p>
            <a:pPr>
              <a:buFont typeface="Monotype Sorts" charset="2"/>
              <a:buNone/>
            </a:pPr>
            <a:r>
              <a:rPr lang="en-US">
                <a:latin typeface="Courier New" charset="0"/>
              </a:rPr>
              <a:t>	}</a:t>
            </a:r>
          </a:p>
          <a:p>
            <a:pPr>
              <a:buFont typeface="Monotype Sorts" charset="2"/>
              <a:buNone/>
            </a:pPr>
            <a:r>
              <a:rPr lang="en-US">
                <a:latin typeface="Courier New" charset="0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531938" y="369888"/>
            <a:ext cx="11498262" cy="768350"/>
          </a:xfrm>
        </p:spPr>
        <p:txBody>
          <a:bodyPr/>
          <a:lstStyle/>
          <a:p>
            <a:pPr eaLnBrk="1" hangingPunct="1"/>
            <a:r>
              <a:rPr lang="en-US"/>
              <a:t>Program Threats (Cont.)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1850" y="1644650"/>
            <a:ext cx="12722225" cy="6040438"/>
          </a:xfrm>
        </p:spPr>
        <p:txBody>
          <a:bodyPr/>
          <a:lstStyle/>
          <a:p>
            <a:r>
              <a:rPr lang="en-US" b="1">
                <a:solidFill>
                  <a:srgbClr val="3366FF"/>
                </a:solidFill>
              </a:rPr>
              <a:t>Viruses</a:t>
            </a:r>
          </a:p>
          <a:p>
            <a:pPr lvl="1"/>
            <a:r>
              <a:rPr lang="en-US"/>
              <a:t>Code fragment embedded in legitimate program</a:t>
            </a:r>
          </a:p>
          <a:p>
            <a:pPr lvl="1"/>
            <a:r>
              <a:rPr lang="en-US"/>
              <a:t>Self-replicating, designed to infect other computers</a:t>
            </a:r>
          </a:p>
          <a:p>
            <a:pPr lvl="1"/>
            <a:r>
              <a:rPr lang="en-US"/>
              <a:t>Very specific to CPU architecture, operating system, applications</a:t>
            </a:r>
          </a:p>
          <a:p>
            <a:pPr lvl="1"/>
            <a:r>
              <a:rPr lang="en-US"/>
              <a:t>Usually borne via email or as a macro</a:t>
            </a:r>
          </a:p>
          <a:p>
            <a:pPr lvl="2"/>
            <a:r>
              <a:rPr lang="en-US"/>
              <a:t>Visual Basic Macro to reformat hard drive</a:t>
            </a:r>
          </a:p>
          <a:p>
            <a:pPr lvl="3">
              <a:buFontTx/>
              <a:buNone/>
            </a:pPr>
            <a:r>
              <a:rPr lang="en-US" sz="2300">
                <a:latin typeface="Courier New" charset="0"/>
              </a:rPr>
              <a:t>Sub AutoOpen()</a:t>
            </a:r>
          </a:p>
          <a:p>
            <a:pPr lvl="3">
              <a:buFontTx/>
              <a:buNone/>
            </a:pPr>
            <a:r>
              <a:rPr lang="en-US" sz="2300">
                <a:latin typeface="Courier New" charset="0"/>
              </a:rPr>
              <a:t>Dim oFS</a:t>
            </a:r>
          </a:p>
          <a:p>
            <a:pPr lvl="3">
              <a:buFontTx/>
              <a:buNone/>
            </a:pPr>
            <a:r>
              <a:rPr lang="en-US" sz="2300">
                <a:latin typeface="Courier New" charset="0"/>
              </a:rPr>
              <a:t>	Set oFS = CreateObject(’’Scripting.FileSystemObject’’)</a:t>
            </a:r>
          </a:p>
          <a:p>
            <a:pPr lvl="3">
              <a:buFontTx/>
              <a:buNone/>
            </a:pPr>
            <a:r>
              <a:rPr lang="en-US" sz="2300">
                <a:latin typeface="Courier New" charset="0"/>
              </a:rPr>
              <a:t>	vs = Shell(’’c:command.com /k format c:’’,vbHide)</a:t>
            </a:r>
          </a:p>
          <a:p>
            <a:pPr lvl="3">
              <a:buFontTx/>
              <a:buNone/>
            </a:pPr>
            <a:r>
              <a:rPr lang="en-US" sz="2300">
                <a:latin typeface="Courier New" charset="0"/>
              </a:rPr>
              <a:t>End Sub</a:t>
            </a:r>
          </a:p>
          <a:p>
            <a:pPr lvl="1"/>
            <a:endParaRPr lang="en-US" sz="23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255713" y="369888"/>
            <a:ext cx="11774487" cy="768350"/>
          </a:xfrm>
        </p:spPr>
        <p:txBody>
          <a:bodyPr/>
          <a:lstStyle/>
          <a:p>
            <a:pPr eaLnBrk="1" hangingPunct="1"/>
            <a:r>
              <a:rPr lang="en-US"/>
              <a:t>Program Threats (Cont.)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b="1">
                <a:solidFill>
                  <a:srgbClr val="3366FF"/>
                </a:solidFill>
              </a:rPr>
              <a:t>Virus dropper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inserts virus onto the system</a:t>
            </a:r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Many categories of viruses, literally many thousands of viruses</a:t>
            </a:r>
          </a:p>
          <a:p>
            <a:pPr lvl="1">
              <a:lnSpc>
                <a:spcPct val="90000"/>
              </a:lnSpc>
            </a:pPr>
            <a:r>
              <a:rPr lang="en-US"/>
              <a:t>File / parasitic</a:t>
            </a:r>
          </a:p>
          <a:p>
            <a:pPr lvl="1">
              <a:lnSpc>
                <a:spcPct val="90000"/>
              </a:lnSpc>
            </a:pPr>
            <a:r>
              <a:rPr lang="en-US"/>
              <a:t>Boot / memory</a:t>
            </a:r>
          </a:p>
          <a:p>
            <a:pPr lvl="1">
              <a:lnSpc>
                <a:spcPct val="90000"/>
              </a:lnSpc>
            </a:pPr>
            <a:r>
              <a:rPr lang="en-US"/>
              <a:t>Macro</a:t>
            </a:r>
          </a:p>
          <a:p>
            <a:pPr lvl="1">
              <a:lnSpc>
                <a:spcPct val="90000"/>
              </a:lnSpc>
            </a:pPr>
            <a:r>
              <a:rPr lang="en-US"/>
              <a:t>Source code</a:t>
            </a:r>
          </a:p>
          <a:p>
            <a:pPr lvl="1">
              <a:lnSpc>
                <a:spcPct val="90000"/>
              </a:lnSpc>
            </a:pPr>
            <a:r>
              <a:rPr lang="en-US"/>
              <a:t>Polymorphic to avoid having a </a:t>
            </a:r>
            <a:r>
              <a:rPr lang="en-US" b="1">
                <a:solidFill>
                  <a:srgbClr val="3366FF"/>
                </a:solidFill>
              </a:rPr>
              <a:t>virus signature</a:t>
            </a:r>
          </a:p>
          <a:p>
            <a:pPr lvl="1">
              <a:lnSpc>
                <a:spcPct val="90000"/>
              </a:lnSpc>
            </a:pPr>
            <a:r>
              <a:rPr lang="en-US"/>
              <a:t>Encrypted</a:t>
            </a:r>
          </a:p>
          <a:p>
            <a:pPr lvl="1">
              <a:lnSpc>
                <a:spcPct val="90000"/>
              </a:lnSpc>
            </a:pPr>
            <a:r>
              <a:rPr lang="en-US"/>
              <a:t>Stealth</a:t>
            </a:r>
          </a:p>
          <a:p>
            <a:pPr lvl="1">
              <a:lnSpc>
                <a:spcPct val="90000"/>
              </a:lnSpc>
            </a:pPr>
            <a:r>
              <a:rPr lang="en-US"/>
              <a:t>Tunneling</a:t>
            </a:r>
          </a:p>
          <a:p>
            <a:pPr lvl="1">
              <a:lnSpc>
                <a:spcPct val="90000"/>
              </a:lnSpc>
            </a:pPr>
            <a:r>
              <a:rPr lang="en-US"/>
              <a:t>Multipartite</a:t>
            </a:r>
          </a:p>
          <a:p>
            <a:pPr lvl="1">
              <a:lnSpc>
                <a:spcPct val="90000"/>
              </a:lnSpc>
            </a:pPr>
            <a:r>
              <a:rPr lang="en-US"/>
              <a:t>Armored</a:t>
            </a:r>
          </a:p>
          <a:p>
            <a:pPr>
              <a:lnSpc>
                <a:spcPct val="90000"/>
              </a:lnSpc>
            </a:pPr>
            <a:endParaRPr lang="en-US"/>
          </a:p>
          <a:p>
            <a:pPr lvl="1">
              <a:lnSpc>
                <a:spcPct val="90000"/>
              </a:lnSpc>
            </a:pPr>
            <a:endParaRPr lang="en-US"/>
          </a:p>
          <a:p>
            <a:pPr lvl="1">
              <a:lnSpc>
                <a:spcPct val="90000"/>
              </a:lnSpc>
            </a:pP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181100" y="369888"/>
            <a:ext cx="11849100" cy="768350"/>
          </a:xfrm>
        </p:spPr>
        <p:txBody>
          <a:bodyPr/>
          <a:lstStyle/>
          <a:p>
            <a:pPr eaLnBrk="1" hangingPunct="1"/>
            <a:r>
              <a:rPr lang="en-US"/>
              <a:t>A Boot-sector Computer Virus</a:t>
            </a:r>
          </a:p>
        </p:txBody>
      </p:sp>
      <p:pic>
        <p:nvPicPr>
          <p:cNvPr id="20483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38413" y="1335088"/>
            <a:ext cx="8158162" cy="6875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Threat Continues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Attacks still common, still occurring</a:t>
            </a:r>
          </a:p>
          <a:p>
            <a:r>
              <a:rPr lang="en-US"/>
              <a:t>Attacks moved over time from science experiments to tools of organized crime</a:t>
            </a:r>
          </a:p>
          <a:p>
            <a:pPr lvl="1"/>
            <a:r>
              <a:rPr lang="en-US"/>
              <a:t>Targeting specific companies</a:t>
            </a:r>
          </a:p>
          <a:p>
            <a:pPr lvl="1"/>
            <a:r>
              <a:rPr lang="en-US"/>
              <a:t>Creating botnets to use as tool for spam and DDOS delivery</a:t>
            </a:r>
          </a:p>
          <a:p>
            <a:pPr lvl="1"/>
            <a:r>
              <a:rPr lang="en-US" b="1">
                <a:solidFill>
                  <a:srgbClr val="3366FF"/>
                </a:solidFill>
              </a:rPr>
              <a:t>Keystroke logger </a:t>
            </a:r>
            <a:r>
              <a:rPr lang="en-US"/>
              <a:t>to grab passwords, credit card numbers</a:t>
            </a:r>
          </a:p>
          <a:p>
            <a:pPr lvl="1"/>
            <a:endParaRPr lang="en-US"/>
          </a:p>
          <a:p>
            <a:r>
              <a:rPr lang="en-US"/>
              <a:t>Why is Windows the target for most attacks?</a:t>
            </a:r>
          </a:p>
          <a:p>
            <a:pPr lvl="1"/>
            <a:r>
              <a:rPr lang="en-US"/>
              <a:t>Most common</a:t>
            </a:r>
          </a:p>
          <a:p>
            <a:pPr lvl="1"/>
            <a:r>
              <a:rPr lang="en-US"/>
              <a:t>Everyone is an administrator</a:t>
            </a:r>
          </a:p>
          <a:p>
            <a:pPr lvl="2"/>
            <a:r>
              <a:rPr lang="en-US"/>
              <a:t>Licensing required?</a:t>
            </a:r>
          </a:p>
          <a:p>
            <a:pPr lvl="1"/>
            <a:r>
              <a:rPr lang="en-US"/>
              <a:t>Monoculture considered harmful</a:t>
            </a:r>
          </a:p>
          <a:p>
            <a:pPr lvl="1"/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241425" y="369888"/>
            <a:ext cx="11788775" cy="768350"/>
          </a:xfrm>
        </p:spPr>
        <p:txBody>
          <a:bodyPr/>
          <a:lstStyle/>
          <a:p>
            <a:pPr eaLnBrk="1" hangingPunct="1"/>
            <a:r>
              <a:rPr lang="en-US"/>
              <a:t>System and Network Threats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Some systems “open” rather than </a:t>
            </a:r>
            <a:r>
              <a:rPr lang="en-US">
                <a:solidFill>
                  <a:srgbClr val="3366FF"/>
                </a:solidFill>
              </a:rPr>
              <a:t>secure by default</a:t>
            </a:r>
          </a:p>
          <a:p>
            <a:pPr lvl="1"/>
            <a:r>
              <a:rPr lang="en-US">
                <a:solidFill>
                  <a:srgbClr val="000000"/>
                </a:solidFill>
              </a:rPr>
              <a:t>Reduce attack surface</a:t>
            </a:r>
          </a:p>
          <a:p>
            <a:pPr lvl="1"/>
            <a:r>
              <a:rPr lang="en-US">
                <a:solidFill>
                  <a:srgbClr val="000000"/>
                </a:solidFill>
              </a:rPr>
              <a:t>But harder to use, more knowledge needed to administer</a:t>
            </a:r>
          </a:p>
          <a:p>
            <a:endParaRPr lang="en-US">
              <a:solidFill>
                <a:srgbClr val="000000"/>
              </a:solidFill>
            </a:endParaRPr>
          </a:p>
          <a:p>
            <a:r>
              <a:rPr lang="en-US">
                <a:solidFill>
                  <a:srgbClr val="000000"/>
                </a:solidFill>
              </a:rPr>
              <a:t>Network threats harder to detect, prevent</a:t>
            </a:r>
          </a:p>
          <a:p>
            <a:pPr lvl="1"/>
            <a:r>
              <a:rPr lang="en-US">
                <a:solidFill>
                  <a:srgbClr val="000000"/>
                </a:solidFill>
              </a:rPr>
              <a:t>Protection systems weaker</a:t>
            </a:r>
          </a:p>
          <a:p>
            <a:pPr lvl="1"/>
            <a:r>
              <a:rPr lang="en-US">
                <a:solidFill>
                  <a:srgbClr val="000000"/>
                </a:solidFill>
              </a:rPr>
              <a:t>More difficult to have a shared secret on which to base access</a:t>
            </a:r>
          </a:p>
          <a:p>
            <a:pPr lvl="1"/>
            <a:r>
              <a:rPr lang="en-US">
                <a:solidFill>
                  <a:srgbClr val="000000"/>
                </a:solidFill>
              </a:rPr>
              <a:t>No physical limits once system attached to internet</a:t>
            </a:r>
          </a:p>
          <a:p>
            <a:pPr lvl="2"/>
            <a:r>
              <a:rPr lang="en-US">
                <a:solidFill>
                  <a:srgbClr val="000000"/>
                </a:solidFill>
              </a:rPr>
              <a:t>Or on network with system attached to internet</a:t>
            </a:r>
          </a:p>
          <a:p>
            <a:pPr lvl="1"/>
            <a:r>
              <a:rPr lang="en-US">
                <a:solidFill>
                  <a:srgbClr val="000000"/>
                </a:solidFill>
              </a:rPr>
              <a:t>Even determining location of connecting system difficult</a:t>
            </a:r>
          </a:p>
          <a:p>
            <a:pPr lvl="2"/>
            <a:r>
              <a:rPr lang="en-US">
                <a:solidFill>
                  <a:srgbClr val="000000"/>
                </a:solidFill>
              </a:rPr>
              <a:t>IP address is only knowledge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241425" y="369888"/>
            <a:ext cx="11788775" cy="768350"/>
          </a:xfrm>
        </p:spPr>
        <p:txBody>
          <a:bodyPr/>
          <a:lstStyle/>
          <a:p>
            <a:pPr eaLnBrk="1" hangingPunct="1"/>
            <a:r>
              <a:rPr lang="en-US"/>
              <a:t>System and Network Threats (Cont.)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>
                <a:solidFill>
                  <a:srgbClr val="000000"/>
                </a:solidFill>
              </a:rPr>
              <a:t>Worms</a:t>
            </a:r>
            <a:r>
              <a:rPr lang="en-US"/>
              <a:t> – use </a:t>
            </a:r>
            <a:r>
              <a:rPr lang="en-US" b="1">
                <a:solidFill>
                  <a:srgbClr val="3366FF"/>
                </a:solidFill>
              </a:rPr>
              <a:t>spawn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mechanism; standalone program</a:t>
            </a:r>
            <a:endParaRPr lang="en-US" sz="1100"/>
          </a:p>
          <a:p>
            <a:r>
              <a:rPr lang="en-US"/>
              <a:t>Internet worm</a:t>
            </a:r>
          </a:p>
          <a:p>
            <a:pPr lvl="1"/>
            <a:r>
              <a:rPr lang="en-US"/>
              <a:t>Exploited UNIX networking features (remote access) and bugs in </a:t>
            </a:r>
            <a:r>
              <a:rPr lang="en-US" i="1"/>
              <a:t>finger</a:t>
            </a:r>
            <a:r>
              <a:rPr lang="en-US"/>
              <a:t> and </a:t>
            </a:r>
            <a:r>
              <a:rPr lang="en-US" i="1"/>
              <a:t>sendmail</a:t>
            </a:r>
            <a:r>
              <a:rPr lang="en-US"/>
              <a:t> programs</a:t>
            </a:r>
          </a:p>
          <a:p>
            <a:pPr lvl="1"/>
            <a:r>
              <a:rPr lang="en-US"/>
              <a:t>Exploited trust-relationship mechanism used by </a:t>
            </a:r>
            <a:r>
              <a:rPr lang="en-US" i="1"/>
              <a:t>rsh </a:t>
            </a:r>
            <a:r>
              <a:rPr lang="en-US"/>
              <a:t>to access friendly systems without use of password</a:t>
            </a:r>
          </a:p>
          <a:p>
            <a:pPr lvl="1"/>
            <a:r>
              <a:rPr lang="en-US" b="1">
                <a:solidFill>
                  <a:srgbClr val="3366FF"/>
                </a:solidFill>
              </a:rPr>
              <a:t>Grappling hook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program uploaded main worm program</a:t>
            </a:r>
          </a:p>
          <a:p>
            <a:pPr lvl="2"/>
            <a:r>
              <a:rPr lang="en-US"/>
              <a:t>99 lines of C code </a:t>
            </a:r>
          </a:p>
          <a:p>
            <a:pPr lvl="1"/>
            <a:r>
              <a:rPr lang="en-US"/>
              <a:t>Hooked system then uploaded main code, tried to attack connected systems</a:t>
            </a:r>
          </a:p>
          <a:p>
            <a:pPr lvl="1"/>
            <a:r>
              <a:rPr lang="en-US"/>
              <a:t>Also tried to break into other users accounts on local system via password guessing</a:t>
            </a:r>
          </a:p>
          <a:p>
            <a:pPr lvl="1"/>
            <a:r>
              <a:rPr lang="en-US"/>
              <a:t>If target system already infected, abort, except for every 7</a:t>
            </a:r>
            <a:r>
              <a:rPr lang="en-US" baseline="30000"/>
              <a:t>th</a:t>
            </a:r>
            <a:r>
              <a:rPr lang="en-US"/>
              <a:t> time</a:t>
            </a:r>
          </a:p>
          <a:p>
            <a:pPr lvl="1"/>
            <a:endParaRPr lang="en-US"/>
          </a:p>
          <a:p>
            <a:pPr lvl="1"/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Morris Internet Worm</a:t>
            </a:r>
          </a:p>
        </p:txBody>
      </p:sp>
      <p:pic>
        <p:nvPicPr>
          <p:cNvPr id="24579" name="Picture 103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71588" y="1909763"/>
            <a:ext cx="10785475" cy="552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and Network Threats (Cont.)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Port scanning</a:t>
            </a:r>
            <a:endParaRPr lang="en-US"/>
          </a:p>
          <a:p>
            <a:pPr lvl="1"/>
            <a:r>
              <a:rPr lang="en-US"/>
              <a:t>Automated attempt to connect to a range of ports on one or a range of IP addresses</a:t>
            </a:r>
          </a:p>
          <a:p>
            <a:pPr lvl="1"/>
            <a:r>
              <a:rPr lang="en-US"/>
              <a:t>Detection of answering service protocol</a:t>
            </a:r>
          </a:p>
          <a:p>
            <a:pPr lvl="1"/>
            <a:r>
              <a:rPr lang="en-US"/>
              <a:t>Detection of OS and version running on system</a:t>
            </a:r>
          </a:p>
          <a:p>
            <a:pPr lvl="1"/>
            <a:r>
              <a:rPr lang="en-US">
                <a:latin typeface="Courier New" charset="0"/>
                <a:cs typeface="Courier New" charset="0"/>
              </a:rPr>
              <a:t>nmap </a:t>
            </a:r>
            <a:r>
              <a:rPr lang="en-US"/>
              <a:t>scans all ports in a given IP range for a response</a:t>
            </a:r>
          </a:p>
          <a:p>
            <a:pPr lvl="1"/>
            <a:r>
              <a:rPr lang="en-US">
                <a:latin typeface="Courier New" charset="0"/>
                <a:cs typeface="Courier New" charset="0"/>
              </a:rPr>
              <a:t>nessus</a:t>
            </a:r>
            <a:r>
              <a:rPr lang="en-US"/>
              <a:t> has a database of protocols and bugs (and exploits) to apply against a system</a:t>
            </a:r>
          </a:p>
          <a:p>
            <a:pPr lvl="1"/>
            <a:r>
              <a:rPr lang="en-US"/>
              <a:t>Frequently launched from </a:t>
            </a:r>
            <a:r>
              <a:rPr lang="en-US" b="1">
                <a:solidFill>
                  <a:srgbClr val="3366FF"/>
                </a:solidFill>
              </a:rPr>
              <a:t>zombie systems</a:t>
            </a:r>
            <a:r>
              <a:rPr lang="en-US"/>
              <a:t> </a:t>
            </a:r>
          </a:p>
          <a:p>
            <a:pPr lvl="2"/>
            <a:r>
              <a:rPr lang="en-US"/>
              <a:t>To decrease trace-ability	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and Network Threats (Cont.)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Denial of Service</a:t>
            </a:r>
          </a:p>
          <a:p>
            <a:pPr lvl="1"/>
            <a:r>
              <a:rPr lang="en-US"/>
              <a:t>Overload the targeted computer preventing it from doing any useful work</a:t>
            </a:r>
          </a:p>
          <a:p>
            <a:pPr lvl="1"/>
            <a:r>
              <a:rPr lang="en-US" b="1">
                <a:solidFill>
                  <a:srgbClr val="3366FF"/>
                </a:solidFill>
              </a:rPr>
              <a:t>Distributed denial-of-service</a:t>
            </a:r>
            <a:r>
              <a:rPr lang="en-US"/>
              <a:t> (</a:t>
            </a:r>
            <a:r>
              <a:rPr lang="en-US" b="1">
                <a:solidFill>
                  <a:srgbClr val="3366FF"/>
                </a:solidFill>
              </a:rPr>
              <a:t>DDOS</a:t>
            </a:r>
            <a:r>
              <a:rPr lang="en-US"/>
              <a:t>) come from multiple sites at once</a:t>
            </a:r>
          </a:p>
          <a:p>
            <a:pPr lvl="1"/>
            <a:r>
              <a:rPr lang="en-US"/>
              <a:t>Consider the start of the IP-connection handshake (SYN)</a:t>
            </a:r>
          </a:p>
          <a:p>
            <a:pPr lvl="2"/>
            <a:r>
              <a:rPr lang="en-US"/>
              <a:t>How many started-connections can the OS handle?</a:t>
            </a:r>
          </a:p>
          <a:p>
            <a:pPr lvl="1"/>
            <a:r>
              <a:rPr lang="en-US"/>
              <a:t>Consider traffic to a web site</a:t>
            </a:r>
          </a:p>
          <a:p>
            <a:pPr lvl="2"/>
            <a:r>
              <a:rPr lang="en-US"/>
              <a:t>How can you tell the difference between being a target and being really popular?</a:t>
            </a:r>
          </a:p>
          <a:p>
            <a:pPr lvl="1"/>
            <a:r>
              <a:rPr lang="en-US"/>
              <a:t>Accidental – CS students writing bad </a:t>
            </a:r>
            <a:r>
              <a:rPr lang="en-US">
                <a:latin typeface="Courier New" charset="0"/>
                <a:cs typeface="Courier New" charset="0"/>
              </a:rPr>
              <a:t>fork() </a:t>
            </a:r>
            <a:r>
              <a:rPr lang="en-US"/>
              <a:t>code</a:t>
            </a:r>
          </a:p>
          <a:p>
            <a:pPr lvl="1"/>
            <a:r>
              <a:rPr lang="en-US"/>
              <a:t>Purposeful – extortion, punishment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User Authentication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468100" cy="60404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Crucial to identify user correctly, as protection systems depend on user ID</a:t>
            </a:r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User identity most often established through </a:t>
            </a:r>
            <a:r>
              <a:rPr lang="en-US" i="1"/>
              <a:t>passwords</a:t>
            </a:r>
            <a:r>
              <a:rPr lang="en-US"/>
              <a:t>, can be considered a special case of either keys or capabilities</a:t>
            </a:r>
          </a:p>
          <a:p>
            <a:pPr lvl="1">
              <a:lnSpc>
                <a:spcPct val="90000"/>
              </a:lnSpc>
              <a:buFont typeface="Monotype Sorts" charset="2"/>
              <a:buNone/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Passwords must be kept secret</a:t>
            </a:r>
          </a:p>
          <a:p>
            <a:pPr lvl="1">
              <a:lnSpc>
                <a:spcPct val="90000"/>
              </a:lnSpc>
            </a:pPr>
            <a:r>
              <a:rPr lang="en-US"/>
              <a:t>Frequent change of passwords</a:t>
            </a:r>
          </a:p>
          <a:p>
            <a:pPr lvl="1">
              <a:lnSpc>
                <a:spcPct val="90000"/>
              </a:lnSpc>
            </a:pPr>
            <a:r>
              <a:rPr lang="en-US"/>
              <a:t>History to avoid repeats</a:t>
            </a:r>
          </a:p>
          <a:p>
            <a:pPr lvl="1">
              <a:lnSpc>
                <a:spcPct val="90000"/>
              </a:lnSpc>
            </a:pPr>
            <a:r>
              <a:rPr lang="en-US"/>
              <a:t>Use of “non-guessable” passwords</a:t>
            </a:r>
          </a:p>
          <a:p>
            <a:pPr lvl="1">
              <a:lnSpc>
                <a:spcPct val="90000"/>
              </a:lnSpc>
            </a:pPr>
            <a:r>
              <a:rPr lang="en-US"/>
              <a:t>Log all invalid access attempts (but not the passwords themselves)</a:t>
            </a:r>
          </a:p>
          <a:p>
            <a:pPr lvl="1">
              <a:lnSpc>
                <a:spcPct val="90000"/>
              </a:lnSpc>
            </a:pPr>
            <a:r>
              <a:rPr lang="en-US"/>
              <a:t>Unauthorized transfer</a:t>
            </a:r>
          </a:p>
          <a:p>
            <a:pPr lvl="1"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Passwords may also either be encrypted or allowed to be used only once</a:t>
            </a:r>
          </a:p>
          <a:p>
            <a:pPr lvl="1">
              <a:lnSpc>
                <a:spcPct val="90000"/>
              </a:lnSpc>
            </a:pPr>
            <a:r>
              <a:rPr lang="en-US"/>
              <a:t>Does encrypting passwords solve the exposure problem?</a:t>
            </a:r>
          </a:p>
          <a:p>
            <a:pPr lvl="2">
              <a:lnSpc>
                <a:spcPct val="90000"/>
              </a:lnSpc>
            </a:pPr>
            <a:r>
              <a:rPr lang="en-US"/>
              <a:t>Might solve </a:t>
            </a:r>
            <a:r>
              <a:rPr lang="en-US" b="1">
                <a:solidFill>
                  <a:srgbClr val="3366FF"/>
                </a:solidFill>
              </a:rPr>
              <a:t>sniffing</a:t>
            </a:r>
          </a:p>
          <a:p>
            <a:pPr lvl="2">
              <a:lnSpc>
                <a:spcPct val="90000"/>
              </a:lnSpc>
            </a:pPr>
            <a:r>
              <a:rPr lang="en-US"/>
              <a:t>Consider </a:t>
            </a:r>
            <a:r>
              <a:rPr lang="en-US" b="1">
                <a:solidFill>
                  <a:srgbClr val="3366FF"/>
                </a:solidFill>
              </a:rPr>
              <a:t>shoulder surfing</a:t>
            </a:r>
          </a:p>
          <a:p>
            <a:pPr lvl="2">
              <a:lnSpc>
                <a:spcPct val="90000"/>
              </a:lnSpc>
            </a:pPr>
            <a:r>
              <a:rPr lang="en-US"/>
              <a:t>Consider Trojan horse keystroke logger</a:t>
            </a:r>
          </a:p>
          <a:p>
            <a:pPr lvl="2">
              <a:lnSpc>
                <a:spcPct val="90000"/>
              </a:lnSpc>
            </a:pPr>
            <a:r>
              <a:rPr lang="en-US"/>
              <a:t>How are passwords stored at authenticating site?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Passwords </a:t>
            </a:r>
          </a:p>
        </p:txBody>
      </p:sp>
      <p:sp>
        <p:nvSpPr>
          <p:cNvPr id="512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Encrypt to avoid having to keep secret</a:t>
            </a:r>
          </a:p>
          <a:p>
            <a:pPr lvl="1"/>
            <a:r>
              <a:rPr lang="en-US"/>
              <a:t>But keep secret anyway (i.e. Unix uses superuser-only readably file </a:t>
            </a:r>
            <a:r>
              <a:rPr lang="en-US">
                <a:latin typeface="Courier New" charset="0"/>
                <a:cs typeface="Courier New" charset="0"/>
              </a:rPr>
              <a:t>/etc/shadow</a:t>
            </a:r>
            <a:r>
              <a:rPr lang="en-US"/>
              <a:t>)</a:t>
            </a:r>
          </a:p>
          <a:p>
            <a:pPr lvl="1"/>
            <a:r>
              <a:rPr lang="en-US"/>
              <a:t>Use algorithm easy to compute but difficult to invert</a:t>
            </a:r>
          </a:p>
          <a:p>
            <a:pPr lvl="1"/>
            <a:r>
              <a:rPr lang="en-US"/>
              <a:t>Only encrypted password stored, never decrypted</a:t>
            </a:r>
          </a:p>
          <a:p>
            <a:pPr lvl="1"/>
            <a:r>
              <a:rPr lang="en-US"/>
              <a:t>Add “salt” to avoid the same password being encrypted to the same value</a:t>
            </a:r>
          </a:p>
          <a:p>
            <a:r>
              <a:rPr lang="en-US"/>
              <a:t>One-time passwords</a:t>
            </a:r>
          </a:p>
          <a:p>
            <a:pPr lvl="1"/>
            <a:r>
              <a:rPr lang="en-US"/>
              <a:t>Use a function based on a seed to compute a password, both user and computer</a:t>
            </a:r>
          </a:p>
          <a:p>
            <a:pPr lvl="1"/>
            <a:r>
              <a:rPr lang="en-US"/>
              <a:t>Hardware device / calculator / key fob to generate the password</a:t>
            </a:r>
          </a:p>
          <a:p>
            <a:pPr lvl="2"/>
            <a:r>
              <a:rPr lang="en-US"/>
              <a:t>Changes very frequently</a:t>
            </a:r>
          </a:p>
          <a:p>
            <a:r>
              <a:rPr lang="en-US"/>
              <a:t>Biometrics</a:t>
            </a:r>
          </a:p>
          <a:p>
            <a:pPr lvl="1"/>
            <a:r>
              <a:rPr lang="en-US"/>
              <a:t>Some physical attribute (fingerprint, hand scan)</a:t>
            </a:r>
          </a:p>
          <a:p>
            <a:pPr lvl="1"/>
            <a:endParaRPr lang="en-US"/>
          </a:p>
          <a:p>
            <a:r>
              <a:rPr lang="en-US"/>
              <a:t>Multi-factor authentication</a:t>
            </a:r>
          </a:p>
          <a:p>
            <a:pPr lvl="1"/>
            <a:r>
              <a:rPr lang="en-US"/>
              <a:t>Need two or more factors for authentication</a:t>
            </a:r>
          </a:p>
          <a:p>
            <a:pPr lvl="2"/>
            <a:r>
              <a:rPr lang="en-US"/>
              <a:t>i.e. USB “dongle”, biometric measure, and password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Example: Windows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41425" y="1709738"/>
            <a:ext cx="11463338" cy="6835775"/>
          </a:xfrm>
        </p:spPr>
        <p:txBody>
          <a:bodyPr/>
          <a:lstStyle/>
          <a:p>
            <a:r>
              <a:rPr lang="en-US"/>
              <a:t>Security is based on user accounts</a:t>
            </a:r>
          </a:p>
          <a:p>
            <a:pPr lvl="1"/>
            <a:r>
              <a:rPr lang="en-US"/>
              <a:t>Each user has unique security ID</a:t>
            </a:r>
          </a:p>
          <a:p>
            <a:pPr lvl="1"/>
            <a:r>
              <a:rPr lang="en-US"/>
              <a:t>Login to ID creates </a:t>
            </a:r>
            <a:r>
              <a:rPr lang="en-US" b="1">
                <a:solidFill>
                  <a:srgbClr val="3366FF"/>
                </a:solidFill>
              </a:rPr>
              <a:t>security access token</a:t>
            </a:r>
          </a:p>
          <a:p>
            <a:pPr lvl="2"/>
            <a:r>
              <a:rPr lang="en-US"/>
              <a:t>Includes security ID for user, for user’s groups, and special privileges</a:t>
            </a:r>
          </a:p>
          <a:p>
            <a:pPr lvl="2"/>
            <a:r>
              <a:rPr lang="en-US"/>
              <a:t>Every process gets copy of token</a:t>
            </a:r>
          </a:p>
          <a:p>
            <a:pPr lvl="2"/>
            <a:r>
              <a:rPr lang="en-US"/>
              <a:t>System checks token to determine if access allowed or denied</a:t>
            </a:r>
          </a:p>
          <a:p>
            <a:pPr lvl="2"/>
            <a:endParaRPr lang="en-US" sz="1100"/>
          </a:p>
          <a:p>
            <a:r>
              <a:rPr lang="en-US"/>
              <a:t>Uses a subject model to ensure access security</a:t>
            </a:r>
          </a:p>
          <a:p>
            <a:pPr lvl="1"/>
            <a:r>
              <a:rPr lang="en-US"/>
              <a:t>A subject tracks and manages permissions for each program that a user runs</a:t>
            </a:r>
          </a:p>
          <a:p>
            <a:endParaRPr lang="en-US" sz="1100"/>
          </a:p>
          <a:p>
            <a:r>
              <a:rPr lang="en-US"/>
              <a:t>Each object in Windows has a security attribute defined by a security descriptor</a:t>
            </a:r>
          </a:p>
          <a:p>
            <a:pPr lvl="1"/>
            <a:r>
              <a:rPr lang="en-US"/>
              <a:t>For example, a file has a security descriptor that indicates the access permissions for all users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863"/>
          </a:xfrm>
        </p:spPr>
        <p:txBody>
          <a:bodyPr/>
          <a:lstStyle/>
          <a:p>
            <a:pPr eaLnBrk="1" hangingPunct="1"/>
            <a:r>
              <a:rPr lang="en-US"/>
              <a:t>End of Chapter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1371</TotalTime>
  <Words>1398</Words>
  <Application>Microsoft Office PowerPoint</Application>
  <PresentationFormat>Custom</PresentationFormat>
  <Paragraphs>249</Paragraphs>
  <Slides>24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ＭＳ Ｐゴシック</vt:lpstr>
      <vt:lpstr>Arial</vt:lpstr>
      <vt:lpstr>Courier New</vt:lpstr>
      <vt:lpstr>Helvetica</vt:lpstr>
      <vt:lpstr>Monotype Sorts</vt:lpstr>
      <vt:lpstr>Times New Roman</vt:lpstr>
      <vt:lpstr>Verdana</vt:lpstr>
      <vt:lpstr>Webdings</vt:lpstr>
      <vt:lpstr>os-8</vt:lpstr>
      <vt:lpstr>Chapter 15:  Security</vt:lpstr>
      <vt:lpstr>Chapter 15:  Security</vt:lpstr>
      <vt:lpstr>Objectives</vt:lpstr>
      <vt:lpstr>The Security Problem</vt:lpstr>
      <vt:lpstr>Security Violation Categories</vt:lpstr>
      <vt:lpstr>Security Violation Methods</vt:lpstr>
      <vt:lpstr>Standard Security Attacks</vt:lpstr>
      <vt:lpstr>Security Measure Levels</vt:lpstr>
      <vt:lpstr>Program Threats</vt:lpstr>
      <vt:lpstr>Program Threats (Cont.)</vt:lpstr>
      <vt:lpstr>C Program with Buffer-overflow Condition</vt:lpstr>
      <vt:lpstr>Program Threats (Cont.)</vt:lpstr>
      <vt:lpstr>Program Threats (Cont.)</vt:lpstr>
      <vt:lpstr>A Boot-sector Computer Virus</vt:lpstr>
      <vt:lpstr>The Threat Continues</vt:lpstr>
      <vt:lpstr>System and Network Threats</vt:lpstr>
      <vt:lpstr>System and Network Threats (Cont.)</vt:lpstr>
      <vt:lpstr>The Morris Internet Worm</vt:lpstr>
      <vt:lpstr>System and Network Threats (Cont.)</vt:lpstr>
      <vt:lpstr>System and Network Threats (Cont.)</vt:lpstr>
      <vt:lpstr>User Authentication</vt:lpstr>
      <vt:lpstr>Passwords </vt:lpstr>
      <vt:lpstr>Example: Windows</vt:lpstr>
      <vt:lpstr>End of Chapter 15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19.01</dc:title>
  <dc:creator>Marilyn Turnamian</dc:creator>
  <cp:lastModifiedBy>raja rajeswari</cp:lastModifiedBy>
  <cp:revision>140</cp:revision>
  <cp:lastPrinted>2011-04-27T17:31:11Z</cp:lastPrinted>
  <dcterms:created xsi:type="dcterms:W3CDTF">2011-05-01T20:09:51Z</dcterms:created>
  <dcterms:modified xsi:type="dcterms:W3CDTF">2024-11-13T17:01:01Z</dcterms:modified>
</cp:coreProperties>
</file>