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62" r:id="rId5"/>
    <p:sldId id="263" r:id="rId6"/>
    <p:sldId id="264" r:id="rId7"/>
    <p:sldId id="265" r:id="rId8"/>
    <p:sldId id="258" r:id="rId9"/>
    <p:sldId id="259" r:id="rId10"/>
    <p:sldId id="260"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4" r:id="rId39"/>
    <p:sldId id="295" r:id="rId40"/>
    <p:sldId id="297" r:id="rId41"/>
    <p:sldId id="298" r:id="rId42"/>
    <p:sldId id="299" r:id="rId43"/>
    <p:sldId id="296" r:id="rId44"/>
    <p:sldId id="292"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852CA5-FE04-4B55-A4D0-C4F3DC3964A1}" type="datetimeFigureOut">
              <a:rPr lang="en-IN" smtClean="0"/>
              <a:t>17-07-2024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852CA5-FE04-4B55-A4D0-C4F3DC3964A1}" type="datetimeFigureOut">
              <a:rPr lang="en-IN" smtClean="0"/>
              <a:t>17-07-2024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52CA5-FE04-4B55-A4D0-C4F3DC3964A1}" type="datetimeFigureOut">
              <a:rPr lang="en-IN" smtClean="0"/>
              <a:t>17-07-2024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852CA5-FE04-4B55-A4D0-C4F3DC3964A1}" type="datetimeFigureOut">
              <a:rPr lang="en-IN" smtClean="0"/>
              <a:t>17-07-2024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852CA5-FE04-4B55-A4D0-C4F3DC3964A1}" type="datetimeFigureOut">
              <a:rPr lang="en-IN" smtClean="0"/>
              <a:t>17-07-2024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6F7843-F02F-40EB-A9A8-789F935FA9BD}" type="slidenum">
              <a:rPr lang="en-IN" smtClean="0"/>
              <a:t>‹#›</a:t>
            </a:fld>
            <a:endParaRPr lang="en-IN"/>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852CA5-FE04-4B55-A4D0-C4F3DC3964A1}" type="datetimeFigureOut">
              <a:rPr lang="en-IN" smtClean="0"/>
              <a:t>17-07-2024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52CA5-FE04-4B55-A4D0-C4F3DC3964A1}" type="datetimeFigureOut">
              <a:rPr lang="en-IN" smtClean="0"/>
              <a:t>17-07-2024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52CA5-FE04-4B55-A4D0-C4F3DC3964A1}" type="datetimeFigureOut">
              <a:rPr lang="en-IN" smtClean="0"/>
              <a:t>17-07-2024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6F7843-F02F-40EB-A9A8-789F935FA9BD}" type="slidenum">
              <a:rPr lang="en-IN" smtClean="0"/>
              <a:t>‹#›</a:t>
            </a:fld>
            <a:endParaRPr lang="en-IN"/>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52CA5-FE04-4B55-A4D0-C4F3DC3964A1}" type="datetimeFigureOut">
              <a:rPr lang="en-IN" smtClean="0"/>
              <a:t>17-07-2024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852CA5-FE04-4B55-A4D0-C4F3DC3964A1}" type="datetimeFigureOut">
              <a:rPr lang="en-IN" smtClean="0"/>
              <a:t>17-07-2024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852CA5-FE04-4B55-A4D0-C4F3DC3964A1}" type="datetimeFigureOut">
              <a:rPr lang="en-IN" smtClean="0"/>
              <a:t>17-07-2024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69852CA5-FE04-4B55-A4D0-C4F3DC3964A1}" type="datetimeFigureOut">
              <a:rPr lang="en-IN" smtClean="0"/>
              <a:t>17-07-2024</a:t>
            </a:fld>
            <a:endParaRPr lang="en-IN"/>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C6F7843-F02F-40EB-A9A8-789F935FA9B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Operating system services</a:t>
            </a:r>
            <a:endParaRPr lang="en-IN" dirty="0"/>
          </a:p>
        </p:txBody>
      </p:sp>
    </p:spTree>
    <p:extLst>
      <p:ext uri="{BB962C8B-B14F-4D97-AF65-F5344CB8AC3E}">
        <p14:creationId xmlns:p14="http://schemas.microsoft.com/office/powerpoint/2010/main" val="1403922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Operating System Services Following are the five services provided by operating systems to the convenience of the users</a:t>
            </a:r>
          </a:p>
          <a:p>
            <a:r>
              <a:rPr lang="en-US" dirty="0"/>
              <a:t> 1. Program Execution :The purpose of computer systems is to allow the user to execute programs. So the operating system provides an environment where the user can conveniently run programs. Running a program involves the allocating and deallocating memory, CPU scheduling in case of multiprocessing. </a:t>
            </a:r>
          </a:p>
          <a:p>
            <a:r>
              <a:rPr lang="en-US" dirty="0"/>
              <a:t>2. I/O Operations :Each program requires an input and produces output. This involves the use of I/O. So the operating systems are providing I/O makes it convenient for the users to run programs.</a:t>
            </a:r>
          </a:p>
          <a:p>
            <a:r>
              <a:rPr lang="en-US" dirty="0"/>
              <a:t> 3. File System Manipulation :The output of a program may need to be written into new files or input taken from some files. The operating system provides this service. </a:t>
            </a:r>
          </a:p>
          <a:p>
            <a:r>
              <a:rPr lang="en-US" dirty="0"/>
              <a:t>4. Communications :The processes need to communicate with each other to exchange information during execution. It may be between processes running on the same computer or running on the different computers. Communications can be occur in two ways: (</a:t>
            </a:r>
            <a:r>
              <a:rPr lang="en-US" dirty="0" err="1"/>
              <a:t>i</a:t>
            </a:r>
            <a:r>
              <a:rPr lang="en-US" dirty="0"/>
              <a:t>) shared memory or (ii) message passing</a:t>
            </a:r>
            <a:endParaRPr lang="en-IN" dirty="0"/>
          </a:p>
        </p:txBody>
      </p:sp>
    </p:spTree>
    <p:extLst>
      <p:ext uri="{BB962C8B-B14F-4D97-AF65-F5344CB8AC3E}">
        <p14:creationId xmlns:p14="http://schemas.microsoft.com/office/powerpoint/2010/main" val="1983553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File Management :A file is a collection of related information defined by its creator. Commonly, files represent programs (both source and object forms) and data. </a:t>
            </a:r>
          </a:p>
          <a:p>
            <a:r>
              <a:rPr lang="en-US" dirty="0"/>
              <a:t>The operating system is responsible for the following activities in connections with file management: </a:t>
            </a:r>
          </a:p>
          <a:p>
            <a:r>
              <a:rPr lang="en-US" dirty="0"/>
              <a:t>✦ File creation and deletion. ✦ Directory creation and deletion. ✦ Support of primitives for manipulating files and directories. ✦ Mapping files onto secondary storage. ✦ File backup on stable (nonvolatile) storage media. I/O System Management </a:t>
            </a:r>
          </a:p>
          <a:p>
            <a:r>
              <a:rPr lang="en-US" dirty="0"/>
              <a:t>The I/O system consists of: ✦ A buffer-caching system ✦ A general device-driver interface ✦ Drivers for specific hardware devices Secondary-Storage Management Since main memory (primary storage) is volatile and too small to accommodate all data and programs permanently, the computer system must provide secondary storage to back up main memory. Most modern computer systems use disks as the principle on-line storage medium, for both programs and data. The operating system is responsible for the following activities in connection with disk management: </a:t>
            </a:r>
          </a:p>
          <a:p>
            <a:r>
              <a:rPr lang="en-US" dirty="0"/>
              <a:t>✦ Free space management ✦ Storage allocation ✦ Disk scheduling</a:t>
            </a:r>
            <a:endParaRPr lang="en-IN" dirty="0"/>
          </a:p>
        </p:txBody>
      </p:sp>
    </p:spTree>
    <p:extLst>
      <p:ext uri="{BB962C8B-B14F-4D97-AF65-F5344CB8AC3E}">
        <p14:creationId xmlns:p14="http://schemas.microsoft.com/office/powerpoint/2010/main" val="2370359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000" dirty="0"/>
              <a:t>Networking (Distributed Systems) </a:t>
            </a:r>
          </a:p>
          <a:p>
            <a:r>
              <a:rPr lang="en-US" sz="2000" dirty="0"/>
              <a:t>♦ A distributed system is a collection processors that do not share memory or a clock. Each processor has its own local memory. </a:t>
            </a:r>
          </a:p>
          <a:p>
            <a:r>
              <a:rPr lang="en-US" sz="2000" dirty="0"/>
              <a:t>♦ The processors in the system are connected through a communication network. ♦ Communication takes place using a protocol. ♦ A distributed system provides user access to various system resources. ♦ Access to a shared resource allows: ✦ Computation speed-up</a:t>
            </a:r>
            <a:endParaRPr lang="en-IN" sz="2000" dirty="0"/>
          </a:p>
        </p:txBody>
      </p:sp>
    </p:spTree>
    <p:extLst>
      <p:ext uri="{BB962C8B-B14F-4D97-AF65-F5344CB8AC3E}">
        <p14:creationId xmlns:p14="http://schemas.microsoft.com/office/powerpoint/2010/main" val="4273389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Increased data availability ✦ Enhanced reliability Protection System ♦ Protection refers to a mechanism for controlling access by programs, processes, or users to both system and user resources. </a:t>
            </a:r>
          </a:p>
          <a:p>
            <a:r>
              <a:rPr lang="en-US" dirty="0"/>
              <a:t>♦ The protection mechanism must: </a:t>
            </a:r>
          </a:p>
          <a:p>
            <a:r>
              <a:rPr lang="en-US" dirty="0"/>
              <a:t>✦ distinguish between authorized and unauthorized usage. ✦ specify the controls to be imposed. </a:t>
            </a:r>
          </a:p>
          <a:p>
            <a:r>
              <a:rPr lang="en-US" dirty="0"/>
              <a:t>✦ provide a means of enforcement. Command-Interpreter System • Many commands are given to the operating system by control statements which deal with: </a:t>
            </a:r>
          </a:p>
          <a:p>
            <a:r>
              <a:rPr lang="en-US" dirty="0"/>
              <a:t>✦ process creation and management </a:t>
            </a:r>
          </a:p>
          <a:p>
            <a:r>
              <a:rPr lang="en-US" dirty="0"/>
              <a:t>✦ I/O handling ✦ secondary-storage management ✦ main-memory management ✦ file-system access ✦ protection ✦ networking • The program that reads and interprets control statements is called variously: ✦ command-line interpreter ✦ shell (in UNIX) • Its function is to get and execute the next command statement.</a:t>
            </a:r>
            <a:endParaRPr lang="en-IN" dirty="0"/>
          </a:p>
        </p:txBody>
      </p:sp>
    </p:spTree>
    <p:extLst>
      <p:ext uri="{BB962C8B-B14F-4D97-AF65-F5344CB8AC3E}">
        <p14:creationId xmlns:p14="http://schemas.microsoft.com/office/powerpoint/2010/main" val="460839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Operating-System Structures • System Components • Operating System Services • System Calls • System Programs • System Structure • Virtual Machines • System Design and Implementation • System Generation</a:t>
            </a:r>
          </a:p>
        </p:txBody>
      </p:sp>
    </p:spTree>
    <p:extLst>
      <p:ext uri="{BB962C8B-B14F-4D97-AF65-F5344CB8AC3E}">
        <p14:creationId xmlns:p14="http://schemas.microsoft.com/office/powerpoint/2010/main" val="239469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Common System Components • Process Management • Main Memory Management • File Management • I/O System Management • Secondary Management • Networking • Protection System • Command-Interpreter System</a:t>
            </a:r>
            <a:endParaRPr lang="en-IN" dirty="0"/>
          </a:p>
        </p:txBody>
      </p:sp>
    </p:spTree>
    <p:extLst>
      <p:ext uri="{BB962C8B-B14F-4D97-AF65-F5344CB8AC3E}">
        <p14:creationId xmlns:p14="http://schemas.microsoft.com/office/powerpoint/2010/main" val="2898539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t>5. Error Detection An error is one part of the system may cause malfunctioning of the complete system. To avoid such a situation operating system constantly monitors the system for detecting the errors. </a:t>
            </a:r>
          </a:p>
          <a:p>
            <a:r>
              <a:rPr lang="en-US" dirty="0"/>
              <a:t>This relieves the user of the worry of errors propagating to various part of the system and causing malfunctioning. Following are the three services provided by operating systems for ensuring the efficient operation of the system itself. </a:t>
            </a:r>
          </a:p>
          <a:p>
            <a:r>
              <a:rPr lang="en-US" dirty="0"/>
              <a:t>1. Resource allocation When multiple users are logged on the system or multiple jobs are running at the same time, resources must be allocated to each of them. Many different types of resources are managed by the operating system. </a:t>
            </a:r>
          </a:p>
          <a:p>
            <a:r>
              <a:rPr lang="en-US" dirty="0"/>
              <a:t>2. Accounting The operating systems keep track of which users use how many and which kinds of computer resources. This record keeping may be used for accounting (so that users can be billed) or simply for accumulating usage statistics. 3. Protection When several disjointed processes execute concurrently, it should not be possible for one process to interfere with the others, or with the operating system itself. </a:t>
            </a:r>
          </a:p>
          <a:p>
            <a:r>
              <a:rPr lang="en-US" dirty="0"/>
              <a:t>Protection involves ensuring that all access to system resources is controlled. Security of the system from outsiders is also important. Such security starts with each user having to authenticate him to the system, usually by means of a password, to be allowed access to the resources.</a:t>
            </a:r>
            <a:endParaRPr lang="en-IN" dirty="0"/>
          </a:p>
        </p:txBody>
      </p:sp>
    </p:spTree>
    <p:extLst>
      <p:ext uri="{BB962C8B-B14F-4D97-AF65-F5344CB8AC3E}">
        <p14:creationId xmlns:p14="http://schemas.microsoft.com/office/powerpoint/2010/main" val="51642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Functions of Operating System: Process Management A process is a program in execution. A process needs certain resources, including CPU time, memory, files, and I/O devices, to accomplish its task. </a:t>
            </a:r>
          </a:p>
          <a:p>
            <a:r>
              <a:rPr lang="en-US" dirty="0"/>
              <a:t>The operating system is responsible for the following activities in connection with process management. ✦ Process creation and deletion. ✦ process suspension and resumption. ✦ Provision of mechanisms for: • process synchronization • process communication Main-Memory Management Memory is a large array of words or bytes, each with its own address. It is a repository of quickly accessible data shared by the CPU and I/O devices. Main memory is a volatile storage device. It loses its contents in the case of system failure. </a:t>
            </a:r>
          </a:p>
          <a:p>
            <a:r>
              <a:rPr lang="en-US" dirty="0"/>
              <a:t>The operating system is responsible for the following activities in connections with memory management: ♦ Keep track of which parts of memory are currently being used and by whom. ♦ Decide which processes to load when memory space becomes available. ♦ Allocate and de-allocate memory space as needed.</a:t>
            </a:r>
            <a:endParaRPr lang="en-IN" dirty="0"/>
          </a:p>
        </p:txBody>
      </p:sp>
    </p:spTree>
    <p:extLst>
      <p:ext uri="{BB962C8B-B14F-4D97-AF65-F5344CB8AC3E}">
        <p14:creationId xmlns:p14="http://schemas.microsoft.com/office/powerpoint/2010/main" val="1856606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Functions of Operating System: Process Management A process is a program in execution. A process needs certain resources, including CPU time, memory, files, and I/O devices, to accomplish its task. The operating system is responsible for the following activities in connection with process management. ✦ Process creation and deletion. ✦ process suspension and resumption. </a:t>
            </a:r>
          </a:p>
          <a:p>
            <a:r>
              <a:rPr lang="en-US" dirty="0"/>
              <a:t>✦ Provision of mechanisms for: • process synchronization • process communication Main-Memory Management Memory is a large array of words or bytes, each with its own address. It is a repository of quickly accessible data shared by the CPU and I/O devices. Main memory is a volatile storage device. It loses its contents in the case of system failure. </a:t>
            </a:r>
          </a:p>
          <a:p>
            <a:r>
              <a:rPr lang="en-US" dirty="0"/>
              <a:t>The operating system is responsible for the following activities in connections with memory management: ♦ Keep track of which parts of memory are currently being used and by whom. ♦ Decide which processes to load when memory space becomes available. ♦ Allocate and de-allocate memory space as needed.</a:t>
            </a:r>
            <a:endParaRPr lang="en-IN" dirty="0"/>
          </a:p>
        </p:txBody>
      </p:sp>
    </p:spTree>
    <p:extLst>
      <p:ext uri="{BB962C8B-B14F-4D97-AF65-F5344CB8AC3E}">
        <p14:creationId xmlns:p14="http://schemas.microsoft.com/office/powerpoint/2010/main" val="1037592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33525" y="1757362"/>
            <a:ext cx="6076950" cy="456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5345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b="1" dirty="0"/>
              <a:t>Operating System Design and Implementation </a:t>
            </a:r>
            <a:endParaRPr lang="en-US" dirty="0"/>
          </a:p>
          <a:p>
            <a:r>
              <a:rPr lang="en-US" dirty="0"/>
              <a:t>Design and Implementation of OS not “solvable”, but some approaches have proven successful Internal structure of different Operating Systems can vary widely </a:t>
            </a:r>
          </a:p>
          <a:p>
            <a:r>
              <a:rPr lang="en-US" dirty="0"/>
              <a:t>Start by defining goals and specifications Affected by choice of hardware, type of system </a:t>
            </a:r>
            <a:r>
              <a:rPr lang="en-US" i="1" dirty="0"/>
              <a:t>User </a:t>
            </a:r>
            <a:r>
              <a:rPr lang="en-US" dirty="0"/>
              <a:t>goals and </a:t>
            </a:r>
            <a:r>
              <a:rPr lang="en-US" i="1" dirty="0"/>
              <a:t>System </a:t>
            </a:r>
            <a:r>
              <a:rPr lang="en-US" dirty="0"/>
              <a:t>goals </a:t>
            </a:r>
          </a:p>
          <a:p>
            <a:r>
              <a:rPr lang="en-US" dirty="0"/>
              <a:t>User goals – operating system should be convenient to use, easy to learn, reliable, safe, and fast </a:t>
            </a:r>
          </a:p>
          <a:p>
            <a:r>
              <a:rPr lang="en-US" dirty="0"/>
              <a:t>System goals – operating system should be easy to design, implement, and maintain, as well as flexible, reliable, error-free, and efficient </a:t>
            </a:r>
          </a:p>
          <a:p>
            <a:r>
              <a:rPr lang="en-IN" dirty="0"/>
              <a:t>Important principle to separate </a:t>
            </a:r>
          </a:p>
          <a:p>
            <a:r>
              <a:rPr lang="en-US" b="1" dirty="0"/>
              <a:t>Policy: </a:t>
            </a:r>
            <a:r>
              <a:rPr lang="en-US" dirty="0"/>
              <a:t>What will be done? </a:t>
            </a:r>
          </a:p>
          <a:p>
            <a:r>
              <a:rPr lang="en-US" b="1" dirty="0"/>
              <a:t>Mechanism: </a:t>
            </a:r>
            <a:r>
              <a:rPr lang="en-US" dirty="0"/>
              <a:t>How to do it? </a:t>
            </a:r>
          </a:p>
          <a:p>
            <a:r>
              <a:rPr lang="en-US" dirty="0"/>
              <a:t>Mechanisms determine how to do something, policies decide what will be done </a:t>
            </a:r>
          </a:p>
          <a:p>
            <a:r>
              <a:rPr lang="en-US" dirty="0"/>
              <a:t>The separation of policy from mechanism is a very important principle, it allows maximum flexibility if policy decisions are to be changed later </a:t>
            </a:r>
            <a:endParaRPr lang="en-IN" dirty="0"/>
          </a:p>
        </p:txBody>
      </p:sp>
    </p:spTree>
    <p:extLst>
      <p:ext uri="{BB962C8B-B14F-4D97-AF65-F5344CB8AC3E}">
        <p14:creationId xmlns:p14="http://schemas.microsoft.com/office/powerpoint/2010/main" val="2198953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Simple Structure </a:t>
            </a:r>
          </a:p>
          <a:p>
            <a:r>
              <a:rPr lang="en-US" dirty="0"/>
              <a:t>MS-DOS – written to provide the most functionality in the least space Not divided into modules </a:t>
            </a:r>
          </a:p>
          <a:p>
            <a:r>
              <a:rPr lang="en-US" dirty="0"/>
              <a:t>Although MS-DOS has some structure, its interfaces and levels of Functionality are not well separated </a:t>
            </a:r>
            <a:endParaRPr lang="en-IN" dirty="0"/>
          </a:p>
        </p:txBody>
      </p:sp>
    </p:spTree>
    <p:extLst>
      <p:ext uri="{BB962C8B-B14F-4D97-AF65-F5344CB8AC3E}">
        <p14:creationId xmlns:p14="http://schemas.microsoft.com/office/powerpoint/2010/main" val="21249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1743870"/>
            <a:ext cx="4419600" cy="1973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403648" y="4005064"/>
            <a:ext cx="6408712" cy="1477328"/>
          </a:xfrm>
          <a:prstGeom prst="rect">
            <a:avLst/>
          </a:prstGeom>
        </p:spPr>
        <p:txBody>
          <a:bodyPr wrap="square">
            <a:spAutoFit/>
          </a:bodyPr>
          <a:lstStyle/>
          <a:p>
            <a:r>
              <a:rPr lang="en-US" dirty="0"/>
              <a:t>The operating system is divided into a number of layers (levels), each built on top of lower layers. The bottom layer (layer 0), is the hardware; the highest (layer N) is the user interface. </a:t>
            </a:r>
          </a:p>
          <a:p>
            <a:r>
              <a:rPr lang="en-US" dirty="0"/>
              <a:t>With modularity, layers are selected such that each uses functions (operations) and services of only lower-level layers </a:t>
            </a:r>
            <a:endParaRPr lang="en-IN" dirty="0"/>
          </a:p>
        </p:txBody>
      </p:sp>
    </p:spTree>
    <p:extLst>
      <p:ext uri="{BB962C8B-B14F-4D97-AF65-F5344CB8AC3E}">
        <p14:creationId xmlns:p14="http://schemas.microsoft.com/office/powerpoint/2010/main" val="3613111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Traditional UNIX System Structure </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39" y="2204865"/>
            <a:ext cx="6264697"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3870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UNIX </a:t>
            </a:r>
            <a:endParaRPr lang="en-IN" dirty="0"/>
          </a:p>
          <a:p>
            <a:r>
              <a:rPr lang="en-US" dirty="0"/>
              <a:t>UNIX – limited by hardware functionality, the original UNIX operating system had limited structuring. </a:t>
            </a:r>
          </a:p>
          <a:p>
            <a:r>
              <a:rPr lang="en-US" dirty="0"/>
              <a:t>The UNIX OS consists of two separable parts </a:t>
            </a:r>
          </a:p>
          <a:p>
            <a:r>
              <a:rPr lang="en-IN" dirty="0"/>
              <a:t>Systems programs The kernel </a:t>
            </a:r>
          </a:p>
          <a:p>
            <a:r>
              <a:rPr lang="en-US" dirty="0"/>
              <a:t>Consists of everything below the system-call interface and above the physical hardware Provides the file system, CPU scheduling, memory management, and other operating-system </a:t>
            </a:r>
            <a:endParaRPr lang="en-IN" dirty="0"/>
          </a:p>
        </p:txBody>
      </p:sp>
    </p:spTree>
    <p:extLst>
      <p:ext uri="{BB962C8B-B14F-4D97-AF65-F5344CB8AC3E}">
        <p14:creationId xmlns:p14="http://schemas.microsoft.com/office/powerpoint/2010/main" val="678871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functions; a large number of functions for one level </a:t>
            </a:r>
          </a:p>
          <a:p>
            <a:r>
              <a:rPr lang="en-US" dirty="0"/>
              <a:t>Layered Operating System </a:t>
            </a:r>
          </a:p>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645024"/>
            <a:ext cx="5631160" cy="2409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9625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Micro kernel System Structure </a:t>
            </a:r>
            <a:endParaRPr lang="en-IN" dirty="0"/>
          </a:p>
          <a:p>
            <a:r>
              <a:rPr lang="en-US" dirty="0"/>
              <a:t>Moves as much from the kernel into “</a:t>
            </a:r>
            <a:r>
              <a:rPr lang="en-US" i="1" dirty="0"/>
              <a:t>user</a:t>
            </a:r>
            <a:r>
              <a:rPr lang="en-US" dirty="0"/>
              <a:t>” space </a:t>
            </a:r>
          </a:p>
          <a:p>
            <a:r>
              <a:rPr lang="en-US" dirty="0"/>
              <a:t>Communication takes place between user modules using message passing Benefits: </a:t>
            </a:r>
          </a:p>
          <a:p>
            <a:r>
              <a:rPr lang="en-US" dirty="0"/>
              <a:t>Easier to extend a microkernel </a:t>
            </a:r>
          </a:p>
          <a:p>
            <a:r>
              <a:rPr lang="en-US" dirty="0"/>
              <a:t>Easier to port the operating system to new architectures More reliable (less code is running in kernel mode) </a:t>
            </a:r>
          </a:p>
          <a:p>
            <a:r>
              <a:rPr lang="en-IN" dirty="0"/>
              <a:t>More secure Detriments: </a:t>
            </a:r>
          </a:p>
          <a:p>
            <a:r>
              <a:rPr lang="en-US" dirty="0"/>
              <a:t>Performance overhead of user space to kernel space communication </a:t>
            </a:r>
            <a:endParaRPr lang="en-IN" dirty="0"/>
          </a:p>
        </p:txBody>
      </p:sp>
    </p:spTree>
    <p:extLst>
      <p:ext uri="{BB962C8B-B14F-4D97-AF65-F5344CB8AC3E}">
        <p14:creationId xmlns:p14="http://schemas.microsoft.com/office/powerpoint/2010/main" val="789791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Mac OS X Structure </a:t>
            </a:r>
          </a:p>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88" y="2132855"/>
            <a:ext cx="7515225" cy="3801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5078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Modules </a:t>
            </a:r>
            <a:endParaRPr lang="en-IN" dirty="0"/>
          </a:p>
          <a:p>
            <a:r>
              <a:rPr lang="en-US" dirty="0"/>
              <a:t>Most modern operating systems implement kernel modules Uses object-oriented approach </a:t>
            </a:r>
          </a:p>
          <a:p>
            <a:r>
              <a:rPr lang="en-US" dirty="0"/>
              <a:t>Each core component is separate </a:t>
            </a:r>
          </a:p>
          <a:p>
            <a:r>
              <a:rPr lang="en-US" dirty="0"/>
              <a:t>Each talks to the others over known interfaces Each is loadable as needed within the kernel Overall, similar to layers but with more flexible </a:t>
            </a:r>
            <a:endParaRPr lang="en-IN" dirty="0"/>
          </a:p>
        </p:txBody>
      </p:sp>
    </p:spTree>
    <p:extLst>
      <p:ext uri="{BB962C8B-B14F-4D97-AF65-F5344CB8AC3E}">
        <p14:creationId xmlns:p14="http://schemas.microsoft.com/office/powerpoint/2010/main" val="70659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Solaris Modular Approach </a:t>
            </a:r>
          </a:p>
          <a:p>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636912"/>
            <a:ext cx="6120680" cy="3425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265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IN" b="1" dirty="0"/>
              <a:t>Virtual Machines </a:t>
            </a:r>
            <a:endParaRPr lang="en-IN" dirty="0"/>
          </a:p>
          <a:p>
            <a:r>
              <a:rPr lang="en-US" dirty="0"/>
              <a:t>A virtual machine takes the layered approach to its logical conclusion. It treats hardware and the operating system kernel as though they were all hardware </a:t>
            </a:r>
          </a:p>
          <a:p>
            <a:r>
              <a:rPr lang="en-US" dirty="0"/>
              <a:t>A virtual machine provides an interface </a:t>
            </a:r>
            <a:r>
              <a:rPr lang="en-US" i="1" dirty="0"/>
              <a:t>identical </a:t>
            </a:r>
            <a:r>
              <a:rPr lang="en-US" dirty="0"/>
              <a:t>to the underlying bare hardware </a:t>
            </a:r>
          </a:p>
          <a:p>
            <a:r>
              <a:rPr lang="en-US" dirty="0"/>
              <a:t>The operating system host creates the illusion that a process has its own processor and (virtual memory) Each guest provided with a (virtual) copy of underlying computer </a:t>
            </a:r>
          </a:p>
          <a:p>
            <a:r>
              <a:rPr lang="en-US" dirty="0"/>
              <a:t>Virtual Machines History and Benefits </a:t>
            </a:r>
          </a:p>
          <a:p>
            <a:r>
              <a:rPr lang="en-US" dirty="0"/>
              <a:t>First appeared commercially in IBM mainframes in 1972 </a:t>
            </a:r>
          </a:p>
          <a:p>
            <a:r>
              <a:rPr lang="en-US" dirty="0"/>
              <a:t>Fundamentally, multiple execution environments (different operating systems) can share the same hardware </a:t>
            </a:r>
          </a:p>
          <a:p>
            <a:r>
              <a:rPr lang="en-IN" dirty="0"/>
              <a:t>Protect from each other </a:t>
            </a:r>
          </a:p>
          <a:p>
            <a:r>
              <a:rPr lang="en-US" dirty="0"/>
              <a:t>Some sharing of file can be permitted, controlled </a:t>
            </a:r>
          </a:p>
          <a:p>
            <a:r>
              <a:rPr lang="en-US" dirty="0"/>
              <a:t>Commutate with each other, other physical systems via networking Useful for development, testing </a:t>
            </a:r>
          </a:p>
          <a:p>
            <a:r>
              <a:rPr lang="en-US" dirty="0"/>
              <a:t>Consolidation of many low-resource use systems onto fewer busier systems </a:t>
            </a:r>
          </a:p>
          <a:p>
            <a:r>
              <a:rPr lang="en-US" dirty="0"/>
              <a:t>“Open Virtual Machine Format”, standard format of virtual machines, allows a VM to run within many different virtual machine (host) platforms </a:t>
            </a:r>
            <a:endParaRPr lang="en-IN" dirty="0"/>
          </a:p>
        </p:txBody>
      </p:sp>
    </p:spTree>
    <p:extLst>
      <p:ext uri="{BB962C8B-B14F-4D97-AF65-F5344CB8AC3E}">
        <p14:creationId xmlns:p14="http://schemas.microsoft.com/office/powerpoint/2010/main" val="3523020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88675" y="1600200"/>
            <a:ext cx="7166649"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2029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Para-virtualization </a:t>
            </a:r>
          </a:p>
          <a:p>
            <a:r>
              <a:rPr lang="en-US" dirty="0"/>
              <a:t>Presents guest with system similar but not identical to hardware Guest must be modified to run on par virtualized hardware </a:t>
            </a:r>
          </a:p>
          <a:p>
            <a:r>
              <a:rPr lang="en-US" dirty="0"/>
              <a:t>Guest can be an OS, or in the case of Solaris 10 applications running in containers Solaris 10 with Two Containers </a:t>
            </a:r>
            <a:endParaRPr lang="en-IN" dirty="0"/>
          </a:p>
        </p:txBody>
      </p:sp>
    </p:spTree>
    <p:extLst>
      <p:ext uri="{BB962C8B-B14F-4D97-AF65-F5344CB8AC3E}">
        <p14:creationId xmlns:p14="http://schemas.microsoft.com/office/powerpoint/2010/main" val="2976321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23950" y="2124075"/>
            <a:ext cx="689610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9130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VMware Architecture </a:t>
            </a:r>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276873"/>
            <a:ext cx="5832648"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6014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The Java Virtual Machine </a:t>
            </a:r>
          </a:p>
          <a:p>
            <a:endParaRPr lang="en-IN"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3" y="3140967"/>
            <a:ext cx="5112568" cy="19549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5700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Process </a:t>
            </a:r>
            <a:endParaRPr lang="en-IN" dirty="0"/>
          </a:p>
          <a:p>
            <a:r>
              <a:rPr lang="en-US" dirty="0"/>
              <a:t>A process is a program at the time of execution. </a:t>
            </a:r>
          </a:p>
          <a:p>
            <a:r>
              <a:rPr lang="en-US" b="1" dirty="0"/>
              <a:t>Differences between Process and Program </a:t>
            </a:r>
            <a:endParaRPr lang="en-IN" dirty="0"/>
          </a:p>
        </p:txBody>
      </p:sp>
    </p:spTree>
    <p:extLst>
      <p:ext uri="{BB962C8B-B14F-4D97-AF65-F5344CB8AC3E}">
        <p14:creationId xmlns:p14="http://schemas.microsoft.com/office/powerpoint/2010/main" val="620278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endParaRPr lang="en-IN" dirty="0"/>
          </a:p>
          <a:p>
            <a:r>
              <a:rPr lang="en-IN" b="1" dirty="0"/>
              <a:t>Process States </a:t>
            </a:r>
            <a:endParaRPr lang="en-IN" dirty="0"/>
          </a:p>
          <a:p>
            <a:r>
              <a:rPr lang="en-US" dirty="0"/>
              <a:t>When a process executed, it changes the state, generally the state of process is determined by the current activity of the process. Each process may be in one of the following states: </a:t>
            </a:r>
          </a:p>
          <a:p>
            <a:r>
              <a:rPr lang="en-US" dirty="0"/>
              <a:t>1. New : The process is </a:t>
            </a:r>
            <a:r>
              <a:rPr lang="en-US" dirty="0" err="1"/>
              <a:t>beingcreated</a:t>
            </a:r>
            <a:r>
              <a:rPr lang="en-US" dirty="0"/>
              <a:t>. </a:t>
            </a:r>
          </a:p>
          <a:p>
            <a:r>
              <a:rPr lang="en-US" dirty="0"/>
              <a:t>2. Running : The process is </a:t>
            </a:r>
            <a:r>
              <a:rPr lang="en-US" dirty="0" err="1"/>
              <a:t>beingexecuted</a:t>
            </a:r>
            <a:r>
              <a:rPr lang="en-US" dirty="0"/>
              <a:t>. </a:t>
            </a:r>
          </a:p>
          <a:p>
            <a:r>
              <a:rPr lang="en-US" dirty="0"/>
              <a:t>3. Waiting : The process is waiting for some event </a:t>
            </a:r>
            <a:r>
              <a:rPr lang="en-US" dirty="0" err="1"/>
              <a:t>tooccur</a:t>
            </a:r>
            <a:r>
              <a:rPr lang="en-US" dirty="0"/>
              <a:t>. </a:t>
            </a:r>
          </a:p>
          <a:p>
            <a:r>
              <a:rPr lang="en-US" dirty="0"/>
              <a:t>4. Ready : The process is waiting to be assigned to a processor. </a:t>
            </a:r>
          </a:p>
          <a:p>
            <a:r>
              <a:rPr lang="en-US" dirty="0"/>
              <a:t>5. Terminated : The Process has </a:t>
            </a:r>
            <a:r>
              <a:rPr lang="en-US" dirty="0" err="1"/>
              <a:t>finishedexecution</a:t>
            </a:r>
            <a:r>
              <a:rPr lang="en-US" dirty="0"/>
              <a:t>. </a:t>
            </a:r>
          </a:p>
          <a:p>
            <a:endParaRPr lang="en-IN" dirty="0"/>
          </a:p>
          <a:p>
            <a:r>
              <a:rPr lang="en-US" dirty="0"/>
              <a:t>Only one process can be running in any processor at any time, But many process may be in ready and waiting states. The ready processes are loaded into a “ready queue”. </a:t>
            </a:r>
            <a:endParaRPr lang="en-IN" dirty="0"/>
          </a:p>
        </p:txBody>
      </p:sp>
    </p:spTree>
    <p:extLst>
      <p:ext uri="{BB962C8B-B14F-4D97-AF65-F5344CB8AC3E}">
        <p14:creationId xmlns:p14="http://schemas.microsoft.com/office/powerpoint/2010/main" val="10044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66850" y="2828925"/>
            <a:ext cx="6210300" cy="241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115616" y="620688"/>
            <a:ext cx="5832648" cy="1200329"/>
          </a:xfrm>
          <a:prstGeom prst="rect">
            <a:avLst/>
          </a:prstGeom>
        </p:spPr>
        <p:txBody>
          <a:bodyPr wrap="square">
            <a:spAutoFit/>
          </a:bodyPr>
          <a:lstStyle/>
          <a:p>
            <a:r>
              <a:rPr lang="en-US" dirty="0"/>
              <a:t>Only one process can be running in any processor at any time, But many process may be in ready and waiting states. The ready processes are loaded into a “ready queue”. </a:t>
            </a:r>
          </a:p>
          <a:p>
            <a:r>
              <a:rPr lang="en-IN" b="1" dirty="0"/>
              <a:t>Diagram of process state </a:t>
            </a:r>
            <a:endParaRPr lang="en-IN" dirty="0"/>
          </a:p>
        </p:txBody>
      </p:sp>
    </p:spTree>
    <p:extLst>
      <p:ext uri="{BB962C8B-B14F-4D97-AF65-F5344CB8AC3E}">
        <p14:creationId xmlns:p14="http://schemas.microsoft.com/office/powerpoint/2010/main" val="739487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endParaRPr lang="en-IN" dirty="0"/>
          </a:p>
          <a:p>
            <a:r>
              <a:rPr lang="en-US" b="1" dirty="0"/>
              <a:t>a) New -&gt;Ready </a:t>
            </a:r>
            <a:r>
              <a:rPr lang="en-US" dirty="0"/>
              <a:t>: OS creates process and prepares the process to be </a:t>
            </a:r>
            <a:r>
              <a:rPr lang="en-US" dirty="0" err="1"/>
              <a:t>executed,thenOSmoved</a:t>
            </a:r>
            <a:r>
              <a:rPr lang="en-US" dirty="0"/>
              <a:t> the process into ready queue. </a:t>
            </a:r>
          </a:p>
          <a:p>
            <a:r>
              <a:rPr lang="en-US" b="1" dirty="0"/>
              <a:t>b) Ready-&gt;Running </a:t>
            </a:r>
            <a:r>
              <a:rPr lang="en-US" dirty="0"/>
              <a:t>: OS selects one of the Jobs from ready Queue and move </a:t>
            </a:r>
            <a:r>
              <a:rPr lang="en-US" dirty="0" err="1"/>
              <a:t>themfrom</a:t>
            </a:r>
            <a:r>
              <a:rPr lang="en-US" dirty="0"/>
              <a:t> </a:t>
            </a:r>
            <a:r>
              <a:rPr lang="en-IN" dirty="0"/>
              <a:t>ready to Running. </a:t>
            </a:r>
          </a:p>
          <a:p>
            <a:r>
              <a:rPr lang="en-US" b="1" dirty="0"/>
              <a:t>c) Running-&gt;Terminated </a:t>
            </a:r>
            <a:r>
              <a:rPr lang="en-US" dirty="0"/>
              <a:t>: When the Execution of a process has Completed, </a:t>
            </a:r>
            <a:r>
              <a:rPr lang="en-US" dirty="0" err="1"/>
              <a:t>OSterminatesthatprocess</a:t>
            </a:r>
            <a:r>
              <a:rPr lang="en-US" dirty="0"/>
              <a:t> from running state. Sometimes OS terminates the process for </a:t>
            </a:r>
            <a:r>
              <a:rPr lang="en-US" dirty="0" err="1"/>
              <a:t>someother</a:t>
            </a:r>
            <a:r>
              <a:rPr lang="en-US" dirty="0"/>
              <a:t> reasons including Time exceeded, memory unavailable, access violation, protection Error, I/O failure and soon. </a:t>
            </a:r>
          </a:p>
          <a:p>
            <a:r>
              <a:rPr lang="en-US" b="1" dirty="0"/>
              <a:t>d) Running-&gt;Ready </a:t>
            </a:r>
            <a:r>
              <a:rPr lang="en-US" dirty="0"/>
              <a:t>: When the time slot of the processor expired (or) If the </a:t>
            </a:r>
          </a:p>
          <a:p>
            <a:endParaRPr lang="en-IN" dirty="0"/>
          </a:p>
          <a:p>
            <a:r>
              <a:rPr lang="en-US" dirty="0"/>
              <a:t>Processor received </a:t>
            </a:r>
            <a:r>
              <a:rPr lang="en-US" dirty="0" err="1"/>
              <a:t>anyi</a:t>
            </a:r>
            <a:r>
              <a:rPr lang="en-US" dirty="0"/>
              <a:t> </a:t>
            </a:r>
            <a:r>
              <a:rPr lang="en-US" dirty="0" err="1"/>
              <a:t>nterrupt</a:t>
            </a:r>
            <a:r>
              <a:rPr lang="en-US" dirty="0"/>
              <a:t> signal, the OS shifted Running -&gt; </a:t>
            </a:r>
            <a:r>
              <a:rPr lang="en-US" dirty="0" err="1"/>
              <a:t>ReadyState</a:t>
            </a:r>
            <a:r>
              <a:rPr lang="en-US" dirty="0"/>
              <a:t>. </a:t>
            </a:r>
          </a:p>
          <a:p>
            <a:r>
              <a:rPr lang="en-US" b="1" dirty="0"/>
              <a:t>e) Running -&gt; Waiting </a:t>
            </a:r>
            <a:r>
              <a:rPr lang="en-US" dirty="0"/>
              <a:t>: A process is put into the waiting state, if the process need an event occur (or) an I/O Device require. </a:t>
            </a:r>
          </a:p>
          <a:p>
            <a:r>
              <a:rPr lang="en-US" b="1" dirty="0"/>
              <a:t>f) Waiting-&gt;Ready </a:t>
            </a:r>
            <a:r>
              <a:rPr lang="en-US" dirty="0"/>
              <a:t>: A process in the waiting state is moved to ready state when the event for </a:t>
            </a:r>
            <a:r>
              <a:rPr lang="en-US" dirty="0" err="1"/>
              <a:t>whichit</a:t>
            </a:r>
            <a:r>
              <a:rPr lang="en-US" dirty="0"/>
              <a:t> has been Completed. </a:t>
            </a:r>
          </a:p>
          <a:p>
            <a:endParaRPr lang="en-IN" dirty="0"/>
          </a:p>
        </p:txBody>
      </p:sp>
    </p:spTree>
    <p:extLst>
      <p:ext uri="{BB962C8B-B14F-4D97-AF65-F5344CB8AC3E}">
        <p14:creationId xmlns:p14="http://schemas.microsoft.com/office/powerpoint/2010/main" val="1276987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endParaRPr lang="en-IN" dirty="0"/>
          </a:p>
          <a:p>
            <a:r>
              <a:rPr lang="en-IN" dirty="0"/>
              <a:t>Threads: </a:t>
            </a:r>
          </a:p>
          <a:p>
            <a:r>
              <a:rPr lang="en-US" dirty="0"/>
              <a:t>A process is divide into number of light weight process, each light weight process is said to be a Thread. The Thread has a program counter (Keeps track of which instruction to execute next), registers (holds its current working variables), stack (execution History). </a:t>
            </a:r>
          </a:p>
          <a:p>
            <a:r>
              <a:rPr lang="en-IN" b="1" dirty="0"/>
              <a:t>Thread States: </a:t>
            </a:r>
            <a:endParaRPr lang="en-IN" dirty="0"/>
          </a:p>
          <a:p>
            <a:r>
              <a:rPr lang="en-US" dirty="0"/>
              <a:t>1. </a:t>
            </a:r>
            <a:r>
              <a:rPr lang="en-US" dirty="0" err="1"/>
              <a:t>bornState</a:t>
            </a:r>
            <a:r>
              <a:rPr lang="en-US" dirty="0"/>
              <a:t> : A thread is </a:t>
            </a:r>
            <a:r>
              <a:rPr lang="en-US" dirty="0" err="1"/>
              <a:t>justcreated</a:t>
            </a:r>
            <a:r>
              <a:rPr lang="en-US" dirty="0"/>
              <a:t>. </a:t>
            </a:r>
          </a:p>
          <a:p>
            <a:r>
              <a:rPr lang="en-US" dirty="0"/>
              <a:t>2. </a:t>
            </a:r>
            <a:r>
              <a:rPr lang="en-US" dirty="0" err="1"/>
              <a:t>readystate</a:t>
            </a:r>
            <a:r>
              <a:rPr lang="en-US" dirty="0"/>
              <a:t> : The thread is waiting </a:t>
            </a:r>
            <a:r>
              <a:rPr lang="en-US" dirty="0" err="1"/>
              <a:t>forCPU</a:t>
            </a:r>
            <a:r>
              <a:rPr lang="en-US" dirty="0"/>
              <a:t>. </a:t>
            </a:r>
          </a:p>
          <a:p>
            <a:r>
              <a:rPr lang="en-US" dirty="0"/>
              <a:t>3. running : System assigns the processor to </a:t>
            </a:r>
            <a:r>
              <a:rPr lang="en-US" dirty="0" err="1"/>
              <a:t>thethread</a:t>
            </a:r>
            <a:r>
              <a:rPr lang="en-US" dirty="0"/>
              <a:t>. </a:t>
            </a:r>
          </a:p>
          <a:p>
            <a:r>
              <a:rPr lang="en-US" b="1" dirty="0"/>
              <a:t>4. </a:t>
            </a:r>
            <a:r>
              <a:rPr lang="en-US" dirty="0"/>
              <a:t>sleep : A sleeping thread becomes ready after the designated sleep </a:t>
            </a:r>
            <a:r>
              <a:rPr lang="en-US" dirty="0" err="1"/>
              <a:t>timeexpires</a:t>
            </a:r>
            <a:r>
              <a:rPr lang="en-US" b="1" dirty="0"/>
              <a:t>. </a:t>
            </a:r>
            <a:endParaRPr lang="en-US" dirty="0"/>
          </a:p>
          <a:p>
            <a:r>
              <a:rPr lang="en-US" dirty="0"/>
              <a:t>5. dead : The Execution of the </a:t>
            </a:r>
            <a:r>
              <a:rPr lang="en-US" dirty="0" err="1"/>
              <a:t>threadfinished</a:t>
            </a:r>
            <a:r>
              <a:rPr lang="en-US" dirty="0"/>
              <a:t> </a:t>
            </a:r>
          </a:p>
          <a:p>
            <a:endParaRPr lang="en-IN" dirty="0"/>
          </a:p>
        </p:txBody>
      </p:sp>
    </p:spTree>
    <p:extLst>
      <p:ext uri="{BB962C8B-B14F-4D97-AF65-F5344CB8AC3E}">
        <p14:creationId xmlns:p14="http://schemas.microsoft.com/office/powerpoint/2010/main" val="2815126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IN" b="1" dirty="0" err="1"/>
              <a:t>Eg</a:t>
            </a:r>
            <a:r>
              <a:rPr lang="en-IN" b="1" dirty="0"/>
              <a:t>: Word processor. </a:t>
            </a:r>
            <a:endParaRPr lang="en-IN" dirty="0"/>
          </a:p>
          <a:p>
            <a:r>
              <a:rPr lang="en-US" dirty="0"/>
              <a:t>Typing, Formatting, Spell check, saving are threads </a:t>
            </a:r>
          </a:p>
          <a:p>
            <a:r>
              <a:rPr lang="en-IN" b="1" dirty="0"/>
              <a:t>Multithreading </a:t>
            </a:r>
            <a:endParaRPr lang="en-IN" dirty="0"/>
          </a:p>
          <a:p>
            <a:r>
              <a:rPr lang="en-US" dirty="0"/>
              <a:t>A process is divided into number of smaller tasks each task is called a Thread. Number of Threads with in a Process execute at a time is called Multithreading. </a:t>
            </a:r>
          </a:p>
          <a:p>
            <a:r>
              <a:rPr lang="en-US" dirty="0"/>
              <a:t>If a program, is multithreaded, even when some portion of it is blocked, the whole program is not </a:t>
            </a:r>
            <a:r>
              <a:rPr lang="en-US" dirty="0" err="1"/>
              <a:t>blocked.The</a:t>
            </a:r>
            <a:r>
              <a:rPr lang="en-US" dirty="0"/>
              <a:t> rest of the program continues working If multiple CPU’s are available. </a:t>
            </a:r>
          </a:p>
          <a:p>
            <a:r>
              <a:rPr lang="en-US" dirty="0"/>
              <a:t>Multithreading gives best </a:t>
            </a:r>
            <a:r>
              <a:rPr lang="en-US" dirty="0" err="1"/>
              <a:t>performance.If</a:t>
            </a:r>
            <a:r>
              <a:rPr lang="en-US" dirty="0"/>
              <a:t> we have only a single thread, number of CPU’s available, No performance benefits achieved. </a:t>
            </a:r>
          </a:p>
          <a:p>
            <a:r>
              <a:rPr lang="en-US" dirty="0"/>
              <a:t> Process creation is heavy-weight while thread creation is light-weight </a:t>
            </a:r>
          </a:p>
          <a:p>
            <a:r>
              <a:rPr lang="en-US" dirty="0"/>
              <a:t>Can simplify code, increase efficiency </a:t>
            </a:r>
          </a:p>
          <a:p>
            <a:endParaRPr lang="en-IN" dirty="0"/>
          </a:p>
        </p:txBody>
      </p:sp>
    </p:spTree>
    <p:extLst>
      <p:ext uri="{BB962C8B-B14F-4D97-AF65-F5344CB8AC3E}">
        <p14:creationId xmlns:p14="http://schemas.microsoft.com/office/powerpoint/2010/main" val="1375330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995164"/>
            <a:ext cx="8229600" cy="4086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1070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endParaRPr lang="en-IN" dirty="0"/>
          </a:p>
          <a:p>
            <a:r>
              <a:rPr lang="en-IN" dirty="0"/>
              <a:t>Kernels are generally multithreaded </a:t>
            </a:r>
          </a:p>
          <a:p>
            <a:r>
              <a:rPr lang="en-IN" b="1" dirty="0"/>
              <a:t>CODE- Contains instruction </a:t>
            </a:r>
            <a:endParaRPr lang="en-IN" dirty="0"/>
          </a:p>
          <a:p>
            <a:r>
              <a:rPr lang="en-US" b="1" dirty="0"/>
              <a:t>DATA- </a:t>
            </a:r>
            <a:r>
              <a:rPr lang="en-US" dirty="0"/>
              <a:t>holds global variable </a:t>
            </a:r>
            <a:r>
              <a:rPr lang="en-US" b="1" dirty="0"/>
              <a:t>FILES- </a:t>
            </a:r>
            <a:r>
              <a:rPr lang="en-US" dirty="0"/>
              <a:t>opening and closing files </a:t>
            </a:r>
          </a:p>
          <a:p>
            <a:r>
              <a:rPr lang="en-US" b="1" dirty="0"/>
              <a:t>REGISTER- </a:t>
            </a:r>
            <a:r>
              <a:rPr lang="en-US" dirty="0"/>
              <a:t>contain information about CPU state </a:t>
            </a:r>
          </a:p>
          <a:p>
            <a:r>
              <a:rPr lang="en-IN" b="1" dirty="0"/>
              <a:t>STACK-</a:t>
            </a:r>
            <a:r>
              <a:rPr lang="en-IN" dirty="0"/>
              <a:t>parameters, local variables, functions </a:t>
            </a:r>
          </a:p>
          <a:p>
            <a:r>
              <a:rPr lang="en-IN" b="1" dirty="0"/>
              <a:t>Types Of Threads: </a:t>
            </a:r>
            <a:endParaRPr lang="en-IN" dirty="0"/>
          </a:p>
          <a:p>
            <a:r>
              <a:rPr lang="en-US" b="1" dirty="0"/>
              <a:t>1) User Threads </a:t>
            </a:r>
            <a:r>
              <a:rPr lang="en-US" dirty="0"/>
              <a:t>: Thread creation, scheduling, management happen in user space by Thread Library. user threads are faster to create and manage. If a user thread performs a system call, which blocks it, all the other threads in that process one also automatically blocked, whole process is blocked. </a:t>
            </a:r>
          </a:p>
          <a:p>
            <a:endParaRPr lang="en-IN" dirty="0"/>
          </a:p>
          <a:p>
            <a:r>
              <a:rPr lang="en-IN" b="1" dirty="0"/>
              <a:t>Advantages </a:t>
            </a:r>
            <a:endParaRPr lang="en-IN" dirty="0"/>
          </a:p>
          <a:p>
            <a:r>
              <a:rPr lang="en-US" dirty="0"/>
              <a:t> Thread switching does not require Kernel mode privileges. </a:t>
            </a:r>
          </a:p>
          <a:p>
            <a:r>
              <a:rPr lang="en-US" dirty="0"/>
              <a:t> User level thread can run on any operating system. </a:t>
            </a:r>
          </a:p>
          <a:p>
            <a:r>
              <a:rPr lang="en-US" dirty="0"/>
              <a:t> Scheduling can be application specific in the user level thread. </a:t>
            </a:r>
          </a:p>
          <a:p>
            <a:r>
              <a:rPr lang="en-US" dirty="0"/>
              <a:t> User level threads are fast to create and managed</a:t>
            </a:r>
          </a:p>
          <a:p>
            <a:endParaRPr lang="en-IN" dirty="0"/>
          </a:p>
        </p:txBody>
      </p:sp>
    </p:spTree>
    <p:extLst>
      <p:ext uri="{BB962C8B-B14F-4D97-AF65-F5344CB8AC3E}">
        <p14:creationId xmlns:p14="http://schemas.microsoft.com/office/powerpoint/2010/main" val="3287508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IN" b="1" dirty="0"/>
              <a:t>Disadvantages </a:t>
            </a:r>
            <a:endParaRPr lang="en-IN" dirty="0"/>
          </a:p>
          <a:p>
            <a:r>
              <a:rPr lang="en-US" dirty="0"/>
              <a:t> In a typical operating system, most system calls </a:t>
            </a:r>
            <a:r>
              <a:rPr lang="en-US" dirty="0" err="1"/>
              <a:t>areblocking</a:t>
            </a:r>
            <a:r>
              <a:rPr lang="en-US" dirty="0"/>
              <a:t>. </a:t>
            </a:r>
          </a:p>
          <a:p>
            <a:r>
              <a:rPr lang="en-US" dirty="0"/>
              <a:t> Multithreaded application cannot take advantage </a:t>
            </a:r>
            <a:r>
              <a:rPr lang="en-US" dirty="0" err="1"/>
              <a:t>ofmultiprocessing</a:t>
            </a:r>
            <a:r>
              <a:rPr lang="en-US" dirty="0"/>
              <a:t>. </a:t>
            </a:r>
          </a:p>
          <a:p>
            <a:endParaRPr lang="en-IN" dirty="0"/>
          </a:p>
          <a:p>
            <a:r>
              <a:rPr lang="en-US" b="1" dirty="0"/>
              <a:t>2) Kernel Threads</a:t>
            </a:r>
            <a:r>
              <a:rPr lang="en-US" dirty="0"/>
              <a:t>: kernel creates, schedules, manages these threads .these threads are slower, manage. If one thread in a process blocked, over all process need not be blocked. </a:t>
            </a:r>
          </a:p>
          <a:p>
            <a:endParaRPr lang="en-IN" dirty="0"/>
          </a:p>
          <a:p>
            <a:r>
              <a:rPr lang="en-IN" b="1" dirty="0"/>
              <a:t>Advantages </a:t>
            </a:r>
            <a:endParaRPr lang="en-IN" dirty="0"/>
          </a:p>
          <a:p>
            <a:r>
              <a:rPr lang="en-US" dirty="0"/>
              <a:t> Kernel can simultaneously schedule multiple threads from the same process on multiple processes. </a:t>
            </a:r>
          </a:p>
          <a:p>
            <a:r>
              <a:rPr lang="en-US" dirty="0"/>
              <a:t> If one thread in a process is blocked, the Kernel can schedule another thread of the same process. </a:t>
            </a:r>
          </a:p>
          <a:p>
            <a:r>
              <a:rPr lang="en-US" dirty="0"/>
              <a:t> Kernel routines themselves can multithreaded. </a:t>
            </a:r>
          </a:p>
          <a:p>
            <a:endParaRPr lang="en-IN" dirty="0"/>
          </a:p>
          <a:p>
            <a:r>
              <a:rPr lang="en-IN" b="1" dirty="0"/>
              <a:t>Disadvantages </a:t>
            </a:r>
            <a:endParaRPr lang="en-IN" dirty="0"/>
          </a:p>
          <a:p>
            <a:r>
              <a:rPr lang="en-US" dirty="0"/>
              <a:t> Kernel threads are generally slower to create and manage than the </a:t>
            </a:r>
            <a:r>
              <a:rPr lang="en-US" dirty="0" err="1"/>
              <a:t>userthreads</a:t>
            </a:r>
            <a:r>
              <a:rPr lang="en-US" dirty="0"/>
              <a:t>. </a:t>
            </a:r>
          </a:p>
          <a:p>
            <a:r>
              <a:rPr lang="en-US" dirty="0"/>
              <a:t> Transfer of control from one thread to another within same process requires a mode switch to the Kernel. </a:t>
            </a:r>
          </a:p>
          <a:p>
            <a:endParaRPr lang="en-US" dirty="0"/>
          </a:p>
          <a:p>
            <a:endParaRPr lang="en-IN"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5157193"/>
            <a:ext cx="3429000" cy="1296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32012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endParaRPr lang="en-IN" dirty="0"/>
          </a:p>
          <a:p>
            <a:r>
              <a:rPr lang="en-IN" sz="2600" dirty="0"/>
              <a:t>Many to many relationship. </a:t>
            </a:r>
          </a:p>
          <a:p>
            <a:r>
              <a:rPr lang="en-IN" sz="2600" dirty="0"/>
              <a:t> Many to one relationship. </a:t>
            </a:r>
          </a:p>
          <a:p>
            <a:r>
              <a:rPr lang="en-IN" sz="2600" dirty="0"/>
              <a:t> One to one relationship. </a:t>
            </a:r>
          </a:p>
          <a:p>
            <a:r>
              <a:rPr lang="en-IN" sz="2600" b="1" dirty="0"/>
              <a:t>Many to Many Model </a:t>
            </a:r>
            <a:endParaRPr lang="en-IN" sz="2600" dirty="0"/>
          </a:p>
          <a:p>
            <a:r>
              <a:rPr lang="en-US" sz="2600" dirty="0"/>
              <a:t>In this model, many user level threads multiplexes to the Kernel thread of smaller or equal numbers. The number of Kernel threads may be specific to either a particular application or a particular machine. </a:t>
            </a:r>
          </a:p>
          <a:p>
            <a:r>
              <a:rPr lang="en-US" sz="2600" dirty="0"/>
              <a:t>Following diagram shows the many to many model. In this model, developers can create as many user threads as necessary and the corresponding Kernel threads can run in parallels on a multiprocessor</a:t>
            </a:r>
            <a:r>
              <a:rPr lang="en-US" dirty="0"/>
              <a:t>. </a:t>
            </a:r>
            <a:endParaRPr lang="en-IN" dirty="0"/>
          </a:p>
        </p:txBody>
      </p:sp>
    </p:spTree>
    <p:extLst>
      <p:ext uri="{BB962C8B-B14F-4D97-AF65-F5344CB8AC3E}">
        <p14:creationId xmlns:p14="http://schemas.microsoft.com/office/powerpoint/2010/main" val="2823313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47962" y="2386012"/>
            <a:ext cx="3648075" cy="3305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3334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Many to One Model </a:t>
            </a:r>
            <a:endParaRPr lang="en-IN" dirty="0"/>
          </a:p>
          <a:p>
            <a:r>
              <a:rPr lang="en-US" dirty="0"/>
              <a:t>Many to one model maps many user level threads to one Kernel level thread. Thread management is done in user space. When thread makes a blocking system call, the entire process will be blocks. Only one thread can access the Kernel at a </a:t>
            </a:r>
            <a:r>
              <a:rPr lang="en-US" dirty="0" err="1"/>
              <a:t>time,so</a:t>
            </a:r>
            <a:r>
              <a:rPr lang="en-US" dirty="0"/>
              <a:t> multiple threads are unable to run in parallel on multiprocessors. </a:t>
            </a:r>
          </a:p>
          <a:p>
            <a:r>
              <a:rPr lang="en-US" dirty="0"/>
              <a:t>If the user level thread libraries are implemented in the operating system in such a way that system does not support them then Kernel threads use the many to one relationship modes. </a:t>
            </a:r>
            <a:endParaRPr lang="en-IN" dirty="0"/>
          </a:p>
        </p:txBody>
      </p:sp>
    </p:spTree>
    <p:extLst>
      <p:ext uri="{BB962C8B-B14F-4D97-AF65-F5344CB8AC3E}">
        <p14:creationId xmlns:p14="http://schemas.microsoft.com/office/powerpoint/2010/main" val="172624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One to One Model </a:t>
            </a:r>
            <a:endParaRPr lang="en-IN" dirty="0"/>
          </a:p>
          <a:p>
            <a:r>
              <a:rPr lang="en-US" dirty="0"/>
              <a:t>There is one to one relationship of user level thread to the kernel level </a:t>
            </a:r>
            <a:r>
              <a:rPr lang="en-US" dirty="0" err="1"/>
              <a:t>thread.This</a:t>
            </a:r>
            <a:r>
              <a:rPr lang="en-US" dirty="0"/>
              <a:t> model provides more concurrency than the many to one model. It also another thread to run when a thread makes a blocking system call. It support multiple thread to execute in parallel on microprocessors. </a:t>
            </a:r>
          </a:p>
          <a:p>
            <a:r>
              <a:rPr lang="en-US" dirty="0"/>
              <a:t>Disadvantage of this model is that creating user thread requires the corresponding Kernel thread. OS/2, windows NT and windows 2000 use one to one relationship model. </a:t>
            </a:r>
            <a:endParaRPr lang="en-IN" dirty="0"/>
          </a:p>
        </p:txBody>
      </p:sp>
    </p:spTree>
    <p:extLst>
      <p:ext uri="{BB962C8B-B14F-4D97-AF65-F5344CB8AC3E}">
        <p14:creationId xmlns:p14="http://schemas.microsoft.com/office/powerpoint/2010/main" val="1924328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28875" y="2719387"/>
            <a:ext cx="4286250" cy="2638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3753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5424" y="1124744"/>
            <a:ext cx="7181031" cy="4429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6854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05062" y="2638425"/>
            <a:ext cx="4333875" cy="280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2411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Multithreading Models </a:t>
            </a:r>
            <a:endParaRPr lang="en-IN" dirty="0"/>
          </a:p>
          <a:p>
            <a:r>
              <a:rPr lang="en-US" dirty="0"/>
              <a:t>Some operating system provides a combined user level thread and Kernel level thread facility. Solaris is a good example of this combined approach. In a combined system, multiple threads within the same application can run in parallel on multiple processors and a blocking system call need not block the entire process. Multithreading models are three types </a:t>
            </a:r>
            <a:endParaRPr lang="en-IN" dirty="0"/>
          </a:p>
          <a:p>
            <a:endParaRPr lang="en-IN" dirty="0"/>
          </a:p>
        </p:txBody>
      </p:sp>
    </p:spTree>
    <p:extLst>
      <p:ext uri="{BB962C8B-B14F-4D97-AF65-F5344CB8AC3E}">
        <p14:creationId xmlns:p14="http://schemas.microsoft.com/office/powerpoint/2010/main" val="35108826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59</TotalTime>
  <Words>3141</Words>
  <Application>Microsoft Office PowerPoint</Application>
  <PresentationFormat>On-screen Show (4:3)</PresentationFormat>
  <Paragraphs>170</Paragraphs>
  <Slides>44</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44</vt:i4>
      </vt:variant>
    </vt:vector>
  </HeadingPairs>
  <TitlesOfParts>
    <vt:vector size="46" baseType="lpstr">
      <vt:lpstr>Arial</vt:lpstr>
      <vt:lpstr>Clarity</vt:lpstr>
      <vt:lpstr>Operating system 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 services</dc:title>
  <dc:creator>DELL</dc:creator>
  <cp:lastModifiedBy>raja rajeswari</cp:lastModifiedBy>
  <cp:revision>10</cp:revision>
  <dcterms:created xsi:type="dcterms:W3CDTF">2023-04-25T15:13:06Z</dcterms:created>
  <dcterms:modified xsi:type="dcterms:W3CDTF">2024-07-17T15:43:23Z</dcterms:modified>
</cp:coreProperties>
</file>