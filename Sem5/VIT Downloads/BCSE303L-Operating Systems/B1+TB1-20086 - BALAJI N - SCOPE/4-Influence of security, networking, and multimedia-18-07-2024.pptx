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2"/>
  </p:notesMasterIdLst>
  <p:sldIdLst>
    <p:sldId id="256" r:id="rId2"/>
    <p:sldId id="257" r:id="rId3"/>
    <p:sldId id="264" r:id="rId4"/>
    <p:sldId id="258" r:id="rId5"/>
    <p:sldId id="259" r:id="rId6"/>
    <p:sldId id="260" r:id="rId7"/>
    <p:sldId id="261" r:id="rId8"/>
    <p:sldId id="262"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8" d="100"/>
          <a:sy n="78" d="100"/>
        </p:scale>
        <p:origin x="-336" y="19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E8DD9D-F33E-4E04-87EB-E50CFB7BA3D1}" type="datetimeFigureOut">
              <a:rPr lang="en-IN" smtClean="0"/>
              <a:t>25-05-2023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88AB1-49BC-4714-A915-67296CD9B3B1}" type="slidenum">
              <a:rPr lang="en-IN" smtClean="0"/>
              <a:t>‹#›</a:t>
            </a:fld>
            <a:endParaRPr lang="en-IN"/>
          </a:p>
        </p:txBody>
      </p:sp>
    </p:spTree>
    <p:extLst>
      <p:ext uri="{BB962C8B-B14F-4D97-AF65-F5344CB8AC3E}">
        <p14:creationId xmlns:p14="http://schemas.microsoft.com/office/powerpoint/2010/main" val="3198277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2188AB1-49BC-4714-A915-67296CD9B3B1}" type="slidenum">
              <a:rPr lang="en-IN" smtClean="0"/>
              <a:t>1</a:t>
            </a:fld>
            <a:endParaRPr lang="en-IN"/>
          </a:p>
        </p:txBody>
      </p:sp>
    </p:spTree>
    <p:extLst>
      <p:ext uri="{BB962C8B-B14F-4D97-AF65-F5344CB8AC3E}">
        <p14:creationId xmlns:p14="http://schemas.microsoft.com/office/powerpoint/2010/main" val="178124559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8F81013-6582-4A61-B725-B8F68CCC1547}" type="datetime1">
              <a:rPr lang="en-US" smtClean="0"/>
              <a:t>5/25/2023</a:t>
            </a:fld>
            <a:endParaRPr lang="en-US" dirty="0"/>
          </a:p>
        </p:txBody>
      </p:sp>
      <p:sp>
        <p:nvSpPr>
          <p:cNvPr id="5" name="Footer Placeholder 4"/>
          <p:cNvSpPr>
            <a:spLocks noGrp="1"/>
          </p:cNvSpPr>
          <p:nvPr>
            <p:ph type="ftr" sz="quarter" idx="11"/>
          </p:nvPr>
        </p:nvSpPr>
        <p:spPr/>
        <p:txBody>
          <a:bodyPr/>
          <a:lstStyle/>
          <a:p>
            <a:r>
              <a:rPr lang="en-US" smtClean="0"/>
              <a:t>OS PS SCOPE VIT</a:t>
            </a:r>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9973180-7613-4DCC-A49D-752FF296EBB2}" type="datetime1">
              <a:rPr lang="en-US" smtClean="0"/>
              <a:t>5/25/2023</a:t>
            </a:fld>
            <a:endParaRPr lang="en-US" dirty="0"/>
          </a:p>
        </p:txBody>
      </p:sp>
      <p:sp>
        <p:nvSpPr>
          <p:cNvPr id="5" name="Footer Placeholder 4"/>
          <p:cNvSpPr>
            <a:spLocks noGrp="1"/>
          </p:cNvSpPr>
          <p:nvPr>
            <p:ph type="ftr" sz="quarter" idx="11"/>
          </p:nvPr>
        </p:nvSpPr>
        <p:spPr/>
        <p:txBody>
          <a:bodyPr/>
          <a:lstStyle/>
          <a:p>
            <a:r>
              <a:rPr lang="en-US" smtClean="0"/>
              <a:t>OS PS SCOPE VIT</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FF558DFE-D5AF-467D-8F5B-0AA331232F8F}" type="datetime1">
              <a:rPr lang="en-US" smtClean="0"/>
              <a:t>5/25/2023</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r>
              <a:rPr lang="en-US" smtClean="0"/>
              <a:t>OS PS SCOPE VIT</a:t>
            </a:r>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78430E9-9381-402D-B521-ABDF64BEA5DF}" type="datetime1">
              <a:rPr lang="en-US" smtClean="0"/>
              <a:t>5/25/2023</a:t>
            </a:fld>
            <a:endParaRPr lang="en-US" dirty="0"/>
          </a:p>
        </p:txBody>
      </p:sp>
      <p:sp>
        <p:nvSpPr>
          <p:cNvPr id="6" name="Footer Placeholder 5"/>
          <p:cNvSpPr>
            <a:spLocks noGrp="1"/>
          </p:cNvSpPr>
          <p:nvPr>
            <p:ph type="ftr" sz="quarter" idx="11"/>
          </p:nvPr>
        </p:nvSpPr>
        <p:spPr/>
        <p:txBody>
          <a:bodyPr/>
          <a:lstStyle/>
          <a:p>
            <a:r>
              <a:rPr lang="en-US" smtClean="0"/>
              <a:t>OS PS SCOPE VIT</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1CF9252-FB57-45FC-90E6-2115EF664220}" type="datetime1">
              <a:rPr lang="en-US" smtClean="0"/>
              <a:t>5/25/2023</a:t>
            </a:fld>
            <a:endParaRPr lang="en-US" dirty="0"/>
          </a:p>
        </p:txBody>
      </p:sp>
      <p:sp>
        <p:nvSpPr>
          <p:cNvPr id="8" name="Footer Placeholder 7"/>
          <p:cNvSpPr>
            <a:spLocks noGrp="1"/>
          </p:cNvSpPr>
          <p:nvPr>
            <p:ph type="ftr" sz="quarter" idx="11"/>
          </p:nvPr>
        </p:nvSpPr>
        <p:spPr/>
        <p:txBody>
          <a:bodyPr/>
          <a:lstStyle/>
          <a:p>
            <a:r>
              <a:rPr lang="en-US" smtClean="0"/>
              <a:t>OS PS SCOPE VIT</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376D020-C0A3-427B-AE43-240839843976}" type="datetime1">
              <a:rPr lang="en-US" smtClean="0"/>
              <a:t>5/25/2023</a:t>
            </a:fld>
            <a:endParaRPr lang="en-US" dirty="0"/>
          </a:p>
        </p:txBody>
      </p:sp>
      <p:sp>
        <p:nvSpPr>
          <p:cNvPr id="4" name="Footer Placeholder 3"/>
          <p:cNvSpPr>
            <a:spLocks noGrp="1"/>
          </p:cNvSpPr>
          <p:nvPr>
            <p:ph type="ftr" sz="quarter" idx="11"/>
          </p:nvPr>
        </p:nvSpPr>
        <p:spPr/>
        <p:txBody>
          <a:bodyPr/>
          <a:lstStyle/>
          <a:p>
            <a:r>
              <a:rPr lang="en-US" smtClean="0"/>
              <a:t>OS PS SCOPE VIT</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315D3F-DBB9-42BA-BDA6-3D6F41E4FB5E}" type="datetime1">
              <a:rPr lang="en-US" smtClean="0"/>
              <a:t>5/25/2023</a:t>
            </a:fld>
            <a:endParaRPr lang="en-US" dirty="0"/>
          </a:p>
        </p:txBody>
      </p:sp>
      <p:sp>
        <p:nvSpPr>
          <p:cNvPr id="3" name="Footer Placeholder 2"/>
          <p:cNvSpPr>
            <a:spLocks noGrp="1"/>
          </p:cNvSpPr>
          <p:nvPr>
            <p:ph type="ftr" sz="quarter" idx="11"/>
          </p:nvPr>
        </p:nvSpPr>
        <p:spPr/>
        <p:txBody>
          <a:bodyPr/>
          <a:lstStyle/>
          <a:p>
            <a:r>
              <a:rPr lang="en-US" smtClean="0"/>
              <a:t>OS PS SCOPE VIT</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7FFE6A-1BFC-4BC9-88D6-740A514A54C0}" type="datetime1">
              <a:rPr lang="en-US" smtClean="0"/>
              <a:t>5/25/2023</a:t>
            </a:fld>
            <a:endParaRPr lang="en-US" dirty="0"/>
          </a:p>
        </p:txBody>
      </p:sp>
      <p:sp>
        <p:nvSpPr>
          <p:cNvPr id="6" name="Footer Placeholder 5"/>
          <p:cNvSpPr>
            <a:spLocks noGrp="1"/>
          </p:cNvSpPr>
          <p:nvPr>
            <p:ph type="ftr" sz="quarter" idx="11"/>
          </p:nvPr>
        </p:nvSpPr>
        <p:spPr/>
        <p:txBody>
          <a:bodyPr/>
          <a:lstStyle/>
          <a:p>
            <a:r>
              <a:rPr lang="en-US" smtClean="0"/>
              <a:t>OS PS SCOPE VIT</a:t>
            </a:r>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08310BB-D200-4DE9-B937-3B7098224E09}" type="datetime1">
              <a:rPr lang="en-US" smtClean="0"/>
              <a:t>5/25/2023</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E5B6C95-32BB-41D8-9B29-D48577062F02}" type="datetime1">
              <a:rPr lang="en-US" smtClean="0"/>
              <a:t>5/25/2023</a:t>
            </a:fld>
            <a:endParaRPr lang="en-US" dirty="0"/>
          </a:p>
        </p:txBody>
      </p:sp>
      <p:sp>
        <p:nvSpPr>
          <p:cNvPr id="5" name="Footer Placeholder 4"/>
          <p:cNvSpPr>
            <a:spLocks noGrp="1"/>
          </p:cNvSpPr>
          <p:nvPr>
            <p:ph type="ftr" sz="quarter" idx="11"/>
          </p:nvPr>
        </p:nvSpPr>
        <p:spPr/>
        <p:txBody>
          <a:bodyPr/>
          <a:lstStyle/>
          <a:p>
            <a:r>
              <a:rPr lang="en-US" smtClean="0"/>
              <a:t>OS PS SCOPE VIT</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64A8E3-168E-4140-BFA3-A197F4B29F58}" type="datetime1">
              <a:rPr lang="en-US" smtClean="0"/>
              <a:t>5/25/2023</a:t>
            </a:fld>
            <a:endParaRPr lang="en-US" dirty="0"/>
          </a:p>
        </p:txBody>
      </p:sp>
      <p:sp>
        <p:nvSpPr>
          <p:cNvPr id="5" name="Footer Placeholder 4"/>
          <p:cNvSpPr>
            <a:spLocks noGrp="1"/>
          </p:cNvSpPr>
          <p:nvPr>
            <p:ph type="ftr" sz="quarter" idx="11"/>
          </p:nvPr>
        </p:nvSpPr>
        <p:spPr/>
        <p:txBody>
          <a:bodyPr/>
          <a:lstStyle/>
          <a:p>
            <a:r>
              <a:rPr lang="en-US" smtClean="0"/>
              <a:t>OS PS SCOPE VIT</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84B75D4-F9D4-43F1-A055-BD3FD3419EEA}" type="datetime1">
              <a:rPr lang="en-US" smtClean="0"/>
              <a:t>5/25/2023</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smtClean="0"/>
              <a:t>OS PS SCOPE VIT</a:t>
            </a:r>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sz="4000" b="0" dirty="0">
                <a:solidFill>
                  <a:srgbClr val="FF0000"/>
                </a:solidFill>
              </a:rPr>
              <a:t>Abstractions, processes, </a:t>
            </a:r>
            <a:r>
              <a:rPr lang="en-IN" sz="4000" b="0" dirty="0" smtClean="0">
                <a:solidFill>
                  <a:srgbClr val="FF0000"/>
                </a:solidFill>
              </a:rPr>
              <a:t>resources</a:t>
            </a:r>
            <a:r>
              <a:rPr lang="en-IN" sz="4000" b="0" dirty="0">
                <a:solidFill>
                  <a:srgbClr val="FF0000"/>
                </a:solidFill>
              </a:rPr>
              <a:t/>
            </a:r>
            <a:br>
              <a:rPr lang="en-IN" sz="4000" b="0" dirty="0">
                <a:solidFill>
                  <a:srgbClr val="FF0000"/>
                </a:solidFill>
              </a:rPr>
            </a:br>
            <a:r>
              <a:rPr lang="en-GB" sz="4000" b="0" dirty="0">
                <a:solidFill>
                  <a:srgbClr val="FF0000"/>
                </a:solidFill>
              </a:rPr>
              <a:t>Influence of security, networking, and multimedia</a:t>
            </a:r>
            <a:endParaRPr lang="en-IN" sz="4000" dirty="0">
              <a:solidFill>
                <a:srgbClr val="FF0000"/>
              </a:solidFill>
            </a:endParaRPr>
          </a:p>
        </p:txBody>
      </p:sp>
      <p:sp>
        <p:nvSpPr>
          <p:cNvPr id="6" name="Subtitle 5"/>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0090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chemeClr val="accent2"/>
                </a:solidFill>
              </a:rPr>
              <a:t>Abstraction</a:t>
            </a:r>
          </a:p>
        </p:txBody>
      </p:sp>
      <p:sp>
        <p:nvSpPr>
          <p:cNvPr id="3" name="Content Placeholder 2"/>
          <p:cNvSpPr>
            <a:spLocks noGrp="1"/>
          </p:cNvSpPr>
          <p:nvPr>
            <p:ph idx="1"/>
          </p:nvPr>
        </p:nvSpPr>
        <p:spPr/>
        <p:txBody>
          <a:bodyPr/>
          <a:lstStyle/>
          <a:p>
            <a:r>
              <a:rPr lang="en-GB" dirty="0"/>
              <a:t>Abstraction, in traditional systems, naturally forms layers representing different levels of complexity. </a:t>
            </a:r>
            <a:endParaRPr lang="en-IN" dirty="0"/>
          </a:p>
        </p:txBody>
      </p:sp>
      <p:pic>
        <p:nvPicPr>
          <p:cNvPr id="6" name="Picture 5"/>
          <p:cNvPicPr>
            <a:picLocks noChangeAspect="1"/>
          </p:cNvPicPr>
          <p:nvPr/>
        </p:nvPicPr>
        <p:blipFill>
          <a:blip r:embed="rId2"/>
          <a:stretch>
            <a:fillRect/>
          </a:stretch>
        </p:blipFill>
        <p:spPr>
          <a:xfrm>
            <a:off x="3684495" y="2956952"/>
            <a:ext cx="6965480" cy="2892518"/>
          </a:xfrm>
          <a:prstGeom prst="rect">
            <a:avLst/>
          </a:prstGeom>
        </p:spPr>
      </p:pic>
    </p:spTree>
    <p:extLst>
      <p:ext uri="{BB962C8B-B14F-4D97-AF65-F5344CB8AC3E}">
        <p14:creationId xmlns:p14="http://schemas.microsoft.com/office/powerpoint/2010/main" val="2854430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a:t>
            </a:r>
            <a:endParaRPr lang="en-IN" dirty="0"/>
          </a:p>
        </p:txBody>
      </p:sp>
      <p:sp>
        <p:nvSpPr>
          <p:cNvPr id="3" name="Content Placeholder 2"/>
          <p:cNvSpPr>
            <a:spLocks noGrp="1"/>
          </p:cNvSpPr>
          <p:nvPr>
            <p:ph idx="1"/>
          </p:nvPr>
        </p:nvSpPr>
        <p:spPr/>
        <p:txBody>
          <a:bodyPr/>
          <a:lstStyle/>
          <a:p>
            <a:pPr algn="just"/>
            <a:r>
              <a:rPr lang="en-GB" dirty="0">
                <a:latin typeface="Arial Rounded MT Bold" panose="020F0704030504030204" pitchFamily="34" charset="0"/>
              </a:rPr>
              <a:t>Abstraction can be accomplished on </a:t>
            </a:r>
            <a:r>
              <a:rPr lang="en-GB" dirty="0">
                <a:solidFill>
                  <a:srgbClr val="00B050"/>
                </a:solidFill>
                <a:latin typeface="Arial Rounded MT Bold" panose="020F0704030504030204" pitchFamily="34" charset="0"/>
              </a:rPr>
              <a:t>functions, data, and processes</a:t>
            </a:r>
            <a:r>
              <a:rPr lang="en-GB" dirty="0" smtClean="0">
                <a:solidFill>
                  <a:srgbClr val="00B050"/>
                </a:solidFill>
                <a:latin typeface="Arial Rounded MT Bold" panose="020F0704030504030204" pitchFamily="34" charset="0"/>
              </a:rPr>
              <a:t>.</a:t>
            </a:r>
          </a:p>
          <a:p>
            <a:pPr algn="just"/>
            <a:r>
              <a:rPr lang="en-GB" dirty="0">
                <a:latin typeface="Arial Rounded MT Bold" panose="020F0704030504030204" pitchFamily="34" charset="0"/>
              </a:rPr>
              <a:t>In </a:t>
            </a:r>
            <a:r>
              <a:rPr lang="en-GB" dirty="0">
                <a:solidFill>
                  <a:srgbClr val="00B050"/>
                </a:solidFill>
                <a:latin typeface="Arial Rounded MT Bold" panose="020F0704030504030204" pitchFamily="34" charset="0"/>
              </a:rPr>
              <a:t>functional abstraction</a:t>
            </a:r>
            <a:r>
              <a:rPr lang="en-GB" dirty="0">
                <a:latin typeface="Arial Rounded MT Bold" panose="020F0704030504030204" pitchFamily="34" charset="0"/>
              </a:rPr>
              <a:t>, details of the algorithms to accomplish the function are not visible to the consumer of the function. The consumer of the function needs to only know the correct calling convention and have trust in the accuracy of the functional results</a:t>
            </a:r>
            <a:r>
              <a:rPr lang="en-GB" dirty="0" smtClean="0">
                <a:latin typeface="Arial Rounded MT Bold" panose="020F0704030504030204" pitchFamily="34" charset="0"/>
              </a:rPr>
              <a:t>.</a:t>
            </a:r>
          </a:p>
          <a:p>
            <a:pPr algn="just"/>
            <a:r>
              <a:rPr lang="en-GB" dirty="0">
                <a:latin typeface="Arial Rounded MT Bold" panose="020F0704030504030204" pitchFamily="34" charset="0"/>
              </a:rPr>
              <a:t>In </a:t>
            </a:r>
            <a:r>
              <a:rPr lang="en-GB" dirty="0">
                <a:solidFill>
                  <a:srgbClr val="00B050"/>
                </a:solidFill>
                <a:latin typeface="Arial Rounded MT Bold" panose="020F0704030504030204" pitchFamily="34" charset="0"/>
              </a:rPr>
              <a:t>data abstraction</a:t>
            </a:r>
            <a:r>
              <a:rPr lang="en-GB" dirty="0">
                <a:latin typeface="Arial Rounded MT Bold" panose="020F0704030504030204" pitchFamily="34" charset="0"/>
              </a:rPr>
              <a:t>, details of the data container and the data elements may not be visible to the consumer of the data. </a:t>
            </a:r>
            <a:endParaRPr lang="en-GB" dirty="0" smtClean="0">
              <a:latin typeface="Arial Rounded MT Bold" panose="020F0704030504030204" pitchFamily="34" charset="0"/>
            </a:endParaRPr>
          </a:p>
          <a:p>
            <a:pPr algn="just"/>
            <a:r>
              <a:rPr lang="en-GB" dirty="0">
                <a:latin typeface="Arial Rounded MT Bold" panose="020F0704030504030204" pitchFamily="34" charset="0"/>
              </a:rPr>
              <a:t>In </a:t>
            </a:r>
            <a:r>
              <a:rPr lang="en-GB" dirty="0">
                <a:solidFill>
                  <a:srgbClr val="00B050"/>
                </a:solidFill>
                <a:latin typeface="Arial Rounded MT Bold" panose="020F0704030504030204" pitchFamily="34" charset="0"/>
              </a:rPr>
              <a:t>process abstraction</a:t>
            </a:r>
            <a:r>
              <a:rPr lang="en-GB" dirty="0">
                <a:latin typeface="Arial Rounded MT Bold" panose="020F0704030504030204" pitchFamily="34" charset="0"/>
              </a:rPr>
              <a:t>, details of the threads of execution are not visible to the consumer of the process. An example of process abstraction is the concurrency scheduler in a database </a:t>
            </a:r>
            <a:r>
              <a:rPr lang="en-GB" dirty="0" smtClean="0">
                <a:latin typeface="Arial Rounded MT Bold" panose="020F0704030504030204" pitchFamily="34" charset="0"/>
              </a:rPr>
              <a:t>system</a:t>
            </a:r>
            <a:endParaRPr lang="en-IN" dirty="0">
              <a:latin typeface="Arial Rounded MT Bold" panose="020F0704030504030204" pitchFamily="34" charset="0"/>
            </a:endParaRPr>
          </a:p>
        </p:txBody>
      </p:sp>
    </p:spTree>
    <p:extLst>
      <p:ext uri="{BB962C8B-B14F-4D97-AF65-F5344CB8AC3E}">
        <p14:creationId xmlns:p14="http://schemas.microsoft.com/office/powerpoint/2010/main" val="1664491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2"/>
                </a:solidFill>
              </a:rPr>
              <a:t>Process </a:t>
            </a:r>
            <a:endParaRPr lang="en-IN" dirty="0">
              <a:solidFill>
                <a:schemeClr val="accent2"/>
              </a:solidFill>
            </a:endParaRPr>
          </a:p>
        </p:txBody>
      </p:sp>
      <p:sp>
        <p:nvSpPr>
          <p:cNvPr id="3" name="Content Placeholder 2"/>
          <p:cNvSpPr>
            <a:spLocks noGrp="1"/>
          </p:cNvSpPr>
          <p:nvPr>
            <p:ph idx="1"/>
          </p:nvPr>
        </p:nvSpPr>
        <p:spPr/>
        <p:txBody>
          <a:bodyPr/>
          <a:lstStyle/>
          <a:p>
            <a:pPr algn="just"/>
            <a:r>
              <a:rPr lang="en-GB" dirty="0" smtClean="0">
                <a:solidFill>
                  <a:srgbClr val="00B050"/>
                </a:solidFill>
                <a:latin typeface="Arial Rounded MT Bold" panose="020F0704030504030204" pitchFamily="34" charset="0"/>
              </a:rPr>
              <a:t>In </a:t>
            </a:r>
            <a:r>
              <a:rPr lang="en-GB" dirty="0">
                <a:solidFill>
                  <a:srgbClr val="00B050"/>
                </a:solidFill>
                <a:latin typeface="Arial Rounded MT Bold" panose="020F0704030504030204" pitchFamily="34" charset="0"/>
              </a:rPr>
              <a:t>the Operating System, a Process is something that is currently under execution. </a:t>
            </a:r>
            <a:endParaRPr lang="en-GB" dirty="0" smtClean="0">
              <a:solidFill>
                <a:srgbClr val="00B050"/>
              </a:solidFill>
              <a:latin typeface="Arial Rounded MT Bold" panose="020F0704030504030204" pitchFamily="34" charset="0"/>
            </a:endParaRPr>
          </a:p>
          <a:p>
            <a:pPr algn="just"/>
            <a:r>
              <a:rPr lang="en-GB" dirty="0" smtClean="0">
                <a:solidFill>
                  <a:srgbClr val="00B050"/>
                </a:solidFill>
                <a:latin typeface="Arial Rounded MT Bold" panose="020F0704030504030204" pitchFamily="34" charset="0"/>
              </a:rPr>
              <a:t>So</a:t>
            </a:r>
            <a:r>
              <a:rPr lang="en-GB" dirty="0">
                <a:solidFill>
                  <a:srgbClr val="00B050"/>
                </a:solidFill>
                <a:latin typeface="Arial Rounded MT Bold" panose="020F0704030504030204" pitchFamily="34" charset="0"/>
              </a:rPr>
              <a:t>, an active program can be called a Process. </a:t>
            </a:r>
            <a:endParaRPr lang="en-GB" dirty="0" smtClean="0">
              <a:solidFill>
                <a:srgbClr val="00B050"/>
              </a:solidFill>
              <a:latin typeface="Arial Rounded MT Bold" panose="020F0704030504030204" pitchFamily="34" charset="0"/>
            </a:endParaRPr>
          </a:p>
          <a:p>
            <a:pPr algn="just"/>
            <a:r>
              <a:rPr lang="en-GB" dirty="0" smtClean="0">
                <a:solidFill>
                  <a:srgbClr val="00B050"/>
                </a:solidFill>
                <a:latin typeface="Arial Rounded MT Bold" panose="020F0704030504030204" pitchFamily="34" charset="0"/>
              </a:rPr>
              <a:t>For </a:t>
            </a:r>
            <a:r>
              <a:rPr lang="en-GB" dirty="0">
                <a:solidFill>
                  <a:srgbClr val="00B050"/>
                </a:solidFill>
                <a:latin typeface="Arial Rounded MT Bold" panose="020F0704030504030204" pitchFamily="34" charset="0"/>
              </a:rPr>
              <a:t>example, when you want to search something on web then you start a browser. </a:t>
            </a:r>
            <a:endParaRPr lang="en-GB" dirty="0" smtClean="0">
              <a:solidFill>
                <a:srgbClr val="00B050"/>
              </a:solidFill>
              <a:latin typeface="Arial Rounded MT Bold" panose="020F0704030504030204" pitchFamily="34" charset="0"/>
            </a:endParaRPr>
          </a:p>
          <a:p>
            <a:pPr algn="just"/>
            <a:r>
              <a:rPr lang="en-GB" dirty="0" smtClean="0">
                <a:solidFill>
                  <a:srgbClr val="00B050"/>
                </a:solidFill>
                <a:latin typeface="Arial Rounded MT Bold" panose="020F0704030504030204" pitchFamily="34" charset="0"/>
              </a:rPr>
              <a:t>This </a:t>
            </a:r>
            <a:r>
              <a:rPr lang="en-GB" dirty="0">
                <a:solidFill>
                  <a:srgbClr val="00B050"/>
                </a:solidFill>
                <a:latin typeface="Arial Rounded MT Bold" panose="020F0704030504030204" pitchFamily="34" charset="0"/>
              </a:rPr>
              <a:t>is denoted by process state. It can be ready, waiting, running, etc.</a:t>
            </a:r>
          </a:p>
          <a:p>
            <a:endParaRPr lang="en-IN" dirty="0"/>
          </a:p>
        </p:txBody>
      </p:sp>
    </p:spTree>
    <p:extLst>
      <p:ext uri="{BB962C8B-B14F-4D97-AF65-F5344CB8AC3E}">
        <p14:creationId xmlns:p14="http://schemas.microsoft.com/office/powerpoint/2010/main" val="1158231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2"/>
                </a:solidFill>
              </a:rPr>
              <a:t>Resource </a:t>
            </a:r>
            <a:endParaRPr lang="en-IN" dirty="0">
              <a:solidFill>
                <a:schemeClr val="accent2"/>
              </a:solidFill>
            </a:endParaRPr>
          </a:p>
        </p:txBody>
      </p:sp>
      <p:sp>
        <p:nvSpPr>
          <p:cNvPr id="3" name="Content Placeholder 2"/>
          <p:cNvSpPr>
            <a:spLocks noGrp="1"/>
          </p:cNvSpPr>
          <p:nvPr>
            <p:ph idx="1"/>
          </p:nvPr>
        </p:nvSpPr>
        <p:spPr/>
        <p:txBody>
          <a:bodyPr/>
          <a:lstStyle/>
          <a:p>
            <a:pPr algn="just"/>
            <a:r>
              <a:rPr lang="en-GB" dirty="0" smtClean="0">
                <a:solidFill>
                  <a:srgbClr val="00B0F0"/>
                </a:solidFill>
                <a:latin typeface="Arial Rounded MT Bold" panose="020F0704030504030204" pitchFamily="34" charset="0"/>
              </a:rPr>
              <a:t>Operating </a:t>
            </a:r>
            <a:r>
              <a:rPr lang="en-GB" dirty="0">
                <a:solidFill>
                  <a:srgbClr val="00B0F0"/>
                </a:solidFill>
                <a:latin typeface="Arial Rounded MT Bold" panose="020F0704030504030204" pitchFamily="34" charset="0"/>
              </a:rPr>
              <a:t>system (OS), program that manages a computer’s resources, especially the allocation of those resources among other programs. </a:t>
            </a:r>
            <a:endParaRPr lang="en-GB" dirty="0" smtClean="0">
              <a:solidFill>
                <a:srgbClr val="00B0F0"/>
              </a:solidFill>
              <a:latin typeface="Arial Rounded MT Bold" panose="020F0704030504030204" pitchFamily="34" charset="0"/>
            </a:endParaRPr>
          </a:p>
          <a:p>
            <a:pPr algn="just"/>
            <a:r>
              <a:rPr lang="en-GB" dirty="0" smtClean="0">
                <a:solidFill>
                  <a:srgbClr val="00B0F0"/>
                </a:solidFill>
                <a:latin typeface="Arial Rounded MT Bold" panose="020F0704030504030204" pitchFamily="34" charset="0"/>
              </a:rPr>
              <a:t>Typical </a:t>
            </a:r>
            <a:r>
              <a:rPr lang="en-GB" dirty="0">
                <a:solidFill>
                  <a:srgbClr val="00B0F0"/>
                </a:solidFill>
                <a:latin typeface="Arial Rounded MT Bold" panose="020F0704030504030204" pitchFamily="34" charset="0"/>
              </a:rPr>
              <a:t>resources include the central processing unit (CPU), computer memory, file storage, input/output (I/O) devices, and network connections. </a:t>
            </a:r>
          </a:p>
          <a:p>
            <a:endParaRPr lang="en-IN" dirty="0"/>
          </a:p>
        </p:txBody>
      </p:sp>
    </p:spTree>
    <p:extLst>
      <p:ext uri="{BB962C8B-B14F-4D97-AF65-F5344CB8AC3E}">
        <p14:creationId xmlns:p14="http://schemas.microsoft.com/office/powerpoint/2010/main" val="225880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Networking</a:t>
            </a:r>
            <a:endParaRPr lang="en-IN" dirty="0"/>
          </a:p>
        </p:txBody>
      </p:sp>
      <p:sp>
        <p:nvSpPr>
          <p:cNvPr id="3" name="Content Placeholder 2"/>
          <p:cNvSpPr>
            <a:spLocks noGrp="1"/>
          </p:cNvSpPr>
          <p:nvPr>
            <p:ph idx="1"/>
          </p:nvPr>
        </p:nvSpPr>
        <p:spPr/>
        <p:txBody>
          <a:bodyPr/>
          <a:lstStyle/>
          <a:p>
            <a:r>
              <a:rPr lang="en-GB" dirty="0" smtClean="0">
                <a:solidFill>
                  <a:srgbClr val="7030A0"/>
                </a:solidFill>
                <a:latin typeface="Arial Rounded MT Bold" panose="020F0704030504030204" pitchFamily="34" charset="0"/>
              </a:rPr>
              <a:t>Network </a:t>
            </a:r>
            <a:r>
              <a:rPr lang="en-GB" dirty="0">
                <a:solidFill>
                  <a:srgbClr val="7030A0"/>
                </a:solidFill>
                <a:latin typeface="Arial Rounded MT Bold" panose="020F0704030504030204" pitchFamily="34" charset="0"/>
              </a:rPr>
              <a:t>Operating System is one of the important types of operating system. </a:t>
            </a:r>
            <a:endParaRPr lang="en-GB" dirty="0" smtClean="0">
              <a:solidFill>
                <a:srgbClr val="7030A0"/>
              </a:solidFill>
              <a:latin typeface="Arial Rounded MT Bold" panose="020F0704030504030204" pitchFamily="34" charset="0"/>
            </a:endParaRPr>
          </a:p>
          <a:p>
            <a:r>
              <a:rPr lang="en-GB" dirty="0" smtClean="0">
                <a:solidFill>
                  <a:srgbClr val="7030A0"/>
                </a:solidFill>
                <a:latin typeface="Arial Rounded MT Bold" panose="020F0704030504030204" pitchFamily="34" charset="0"/>
              </a:rPr>
              <a:t>Network </a:t>
            </a:r>
            <a:r>
              <a:rPr lang="en-GB" dirty="0">
                <a:solidFill>
                  <a:srgbClr val="7030A0"/>
                </a:solidFill>
                <a:latin typeface="Arial Rounded MT Bold" panose="020F0704030504030204" pitchFamily="34" charset="0"/>
              </a:rPr>
              <a:t>Operating System runs on a server and gives the server the capability to manage data, users, groups, security, applications, and other networking functions. </a:t>
            </a:r>
            <a:endParaRPr lang="en-GB" dirty="0" smtClean="0">
              <a:solidFill>
                <a:srgbClr val="7030A0"/>
              </a:solidFill>
              <a:latin typeface="Arial Rounded MT Bold" panose="020F0704030504030204" pitchFamily="34" charset="0"/>
            </a:endParaRPr>
          </a:p>
          <a:p>
            <a:r>
              <a:rPr lang="en-GB" dirty="0" smtClean="0">
                <a:solidFill>
                  <a:srgbClr val="7030A0"/>
                </a:solidFill>
                <a:latin typeface="Arial Rounded MT Bold" panose="020F0704030504030204" pitchFamily="34" charset="0"/>
              </a:rPr>
              <a:t>The </a:t>
            </a:r>
            <a:r>
              <a:rPr lang="en-GB" dirty="0">
                <a:solidFill>
                  <a:srgbClr val="7030A0"/>
                </a:solidFill>
                <a:latin typeface="Arial Rounded MT Bold" panose="020F0704030504030204" pitchFamily="34" charset="0"/>
              </a:rPr>
              <a:t>basic purpose of the network operating system is to allow shared file and printer access among multiple computers in a network, typically a local area network (LAN), a private network or to other networks. </a:t>
            </a:r>
            <a:endParaRPr lang="en-GB" dirty="0" smtClean="0">
              <a:solidFill>
                <a:srgbClr val="7030A0"/>
              </a:solidFill>
              <a:latin typeface="Arial Rounded MT Bold" panose="020F0704030504030204" pitchFamily="34" charset="0"/>
            </a:endParaRPr>
          </a:p>
          <a:p>
            <a:r>
              <a:rPr lang="en-GB" dirty="0" smtClean="0">
                <a:solidFill>
                  <a:srgbClr val="7030A0"/>
                </a:solidFill>
                <a:latin typeface="Arial Rounded MT Bold" panose="020F0704030504030204" pitchFamily="34" charset="0"/>
              </a:rPr>
              <a:t>Some </a:t>
            </a:r>
            <a:r>
              <a:rPr lang="en-GB" dirty="0">
                <a:solidFill>
                  <a:srgbClr val="7030A0"/>
                </a:solidFill>
                <a:latin typeface="Arial Rounded MT Bold" panose="020F0704030504030204" pitchFamily="34" charset="0"/>
              </a:rPr>
              <a:t>examples of network operating systems include Microsoft Windows Server 2003, Microsoft Windows Server 2008, UNIX, Linux, Mac OS X, Novell NetWare, and BSD.</a:t>
            </a:r>
            <a:endParaRPr lang="en-IN" dirty="0">
              <a:solidFill>
                <a:srgbClr val="7030A0"/>
              </a:solidFill>
              <a:latin typeface="Arial Rounded MT Bold" panose="020F0704030504030204" pitchFamily="34" charset="0"/>
            </a:endParaRPr>
          </a:p>
        </p:txBody>
      </p:sp>
    </p:spTree>
    <p:extLst>
      <p:ext uri="{BB962C8B-B14F-4D97-AF65-F5344CB8AC3E}">
        <p14:creationId xmlns:p14="http://schemas.microsoft.com/office/powerpoint/2010/main" val="2318547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Networking OS</a:t>
            </a:r>
            <a:endParaRPr lang="en-IN" dirty="0"/>
          </a:p>
        </p:txBody>
      </p:sp>
      <p:sp>
        <p:nvSpPr>
          <p:cNvPr id="3" name="Content Placeholder 2"/>
          <p:cNvSpPr>
            <a:spLocks noGrp="1"/>
          </p:cNvSpPr>
          <p:nvPr>
            <p:ph idx="1"/>
          </p:nvPr>
        </p:nvSpPr>
        <p:spPr/>
        <p:txBody>
          <a:bodyPr/>
          <a:lstStyle/>
          <a:p>
            <a:r>
              <a:rPr lang="en-GB" b="1" dirty="0">
                <a:solidFill>
                  <a:srgbClr val="FF0000"/>
                </a:solidFill>
              </a:rPr>
              <a:t>Advantages</a:t>
            </a:r>
            <a:r>
              <a:rPr lang="en-GB" dirty="0"/>
              <a:t/>
            </a:r>
            <a:br>
              <a:rPr lang="en-GB" dirty="0"/>
            </a:br>
            <a:r>
              <a:rPr lang="en-GB" dirty="0">
                <a:solidFill>
                  <a:srgbClr val="00B050"/>
                </a:solidFill>
              </a:rPr>
              <a:t>• Centralized servers are highly stable.</a:t>
            </a:r>
            <a:br>
              <a:rPr lang="en-GB" dirty="0">
                <a:solidFill>
                  <a:srgbClr val="00B050"/>
                </a:solidFill>
              </a:rPr>
            </a:br>
            <a:r>
              <a:rPr lang="en-GB" dirty="0">
                <a:solidFill>
                  <a:srgbClr val="00B050"/>
                </a:solidFill>
              </a:rPr>
              <a:t>• Security is server managed.</a:t>
            </a:r>
            <a:br>
              <a:rPr lang="en-GB" dirty="0">
                <a:solidFill>
                  <a:srgbClr val="00B050"/>
                </a:solidFill>
              </a:rPr>
            </a:br>
            <a:r>
              <a:rPr lang="en-GB" dirty="0">
                <a:solidFill>
                  <a:srgbClr val="00B050"/>
                </a:solidFill>
              </a:rPr>
              <a:t>• </a:t>
            </a:r>
            <a:r>
              <a:rPr lang="en-GB" dirty="0" err="1">
                <a:solidFill>
                  <a:srgbClr val="00B050"/>
                </a:solidFill>
              </a:rPr>
              <a:t>Upgradation</a:t>
            </a:r>
            <a:r>
              <a:rPr lang="en-GB" dirty="0">
                <a:solidFill>
                  <a:srgbClr val="00B050"/>
                </a:solidFill>
              </a:rPr>
              <a:t> of new technologies and hardware can be easily integrated into the system.</a:t>
            </a:r>
            <a:br>
              <a:rPr lang="en-GB" dirty="0">
                <a:solidFill>
                  <a:srgbClr val="00B050"/>
                </a:solidFill>
              </a:rPr>
            </a:br>
            <a:r>
              <a:rPr lang="en-GB" dirty="0">
                <a:solidFill>
                  <a:srgbClr val="00B050"/>
                </a:solidFill>
              </a:rPr>
              <a:t>• It is possible to remote access to servers from different locations and types of systems.</a:t>
            </a:r>
            <a:r>
              <a:rPr lang="en-GB" dirty="0"/>
              <a:t/>
            </a:r>
            <a:br>
              <a:rPr lang="en-GB" dirty="0"/>
            </a:br>
            <a:r>
              <a:rPr lang="en-GB" b="1" dirty="0">
                <a:solidFill>
                  <a:srgbClr val="FF0000"/>
                </a:solidFill>
              </a:rPr>
              <a:t>Disadvantages</a:t>
            </a:r>
            <a:r>
              <a:rPr lang="en-GB" dirty="0"/>
              <a:t/>
            </a:r>
            <a:br>
              <a:rPr lang="en-GB" dirty="0"/>
            </a:br>
            <a:r>
              <a:rPr lang="en-GB" dirty="0"/>
              <a:t>• </a:t>
            </a:r>
            <a:r>
              <a:rPr lang="en-GB" dirty="0">
                <a:solidFill>
                  <a:srgbClr val="0070C0"/>
                </a:solidFill>
              </a:rPr>
              <a:t>High cost of buying and running a server.</a:t>
            </a:r>
            <a:br>
              <a:rPr lang="en-GB" dirty="0">
                <a:solidFill>
                  <a:srgbClr val="0070C0"/>
                </a:solidFill>
              </a:rPr>
            </a:br>
            <a:r>
              <a:rPr lang="en-GB" dirty="0">
                <a:solidFill>
                  <a:srgbClr val="0070C0"/>
                </a:solidFill>
              </a:rPr>
              <a:t>• Dependency on a central location for most operations.</a:t>
            </a:r>
            <a:br>
              <a:rPr lang="en-GB" dirty="0">
                <a:solidFill>
                  <a:srgbClr val="0070C0"/>
                </a:solidFill>
              </a:rPr>
            </a:br>
            <a:r>
              <a:rPr lang="en-GB" dirty="0">
                <a:solidFill>
                  <a:srgbClr val="0070C0"/>
                </a:solidFill>
              </a:rPr>
              <a:t>• Regular maintenance and updates are required.</a:t>
            </a:r>
            <a:endParaRPr lang="en-IN" dirty="0">
              <a:solidFill>
                <a:srgbClr val="0070C0"/>
              </a:solidFill>
            </a:endParaRPr>
          </a:p>
        </p:txBody>
      </p:sp>
    </p:spTree>
    <p:extLst>
      <p:ext uri="{BB962C8B-B14F-4D97-AF65-F5344CB8AC3E}">
        <p14:creationId xmlns:p14="http://schemas.microsoft.com/office/powerpoint/2010/main" val="4144050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Security </a:t>
            </a:r>
          </a:p>
        </p:txBody>
      </p:sp>
      <p:sp>
        <p:nvSpPr>
          <p:cNvPr id="3" name="Content Placeholder 2"/>
          <p:cNvSpPr>
            <a:spLocks noGrp="1"/>
          </p:cNvSpPr>
          <p:nvPr>
            <p:ph idx="1"/>
          </p:nvPr>
        </p:nvSpPr>
        <p:spPr/>
        <p:txBody>
          <a:bodyPr/>
          <a:lstStyle/>
          <a:p>
            <a:pPr algn="just"/>
            <a:r>
              <a:rPr lang="en-GB" dirty="0">
                <a:solidFill>
                  <a:srgbClr val="00B050"/>
                </a:solidFill>
                <a:latin typeface="Arial Rounded MT Bold" panose="020F0704030504030204" pitchFamily="34" charset="0"/>
              </a:rPr>
              <a:t>Operating systems security plays a primitive role in protecting memory, files, user authentication and data access protection</a:t>
            </a:r>
            <a:r>
              <a:rPr lang="en-GB" dirty="0" smtClean="0">
                <a:solidFill>
                  <a:srgbClr val="00B050"/>
                </a:solidFill>
                <a:latin typeface="Arial Rounded MT Bold" panose="020F0704030504030204" pitchFamily="34" charset="0"/>
              </a:rPr>
              <a:t>.</a:t>
            </a:r>
          </a:p>
          <a:p>
            <a:pPr algn="just"/>
            <a:r>
              <a:rPr lang="en-GB" dirty="0">
                <a:solidFill>
                  <a:srgbClr val="00B050"/>
                </a:solidFill>
                <a:latin typeface="Arial Rounded MT Bold" panose="020F0704030504030204" pitchFamily="34" charset="0"/>
              </a:rPr>
              <a:t>Consistent protection means that the system meets standard security requirements and have the required functionality to enforce security </a:t>
            </a:r>
            <a:r>
              <a:rPr lang="en-GB" dirty="0" smtClean="0">
                <a:solidFill>
                  <a:srgbClr val="00B050"/>
                </a:solidFill>
                <a:latin typeface="Arial Rounded MT Bold" panose="020F0704030504030204" pitchFamily="34" charset="0"/>
              </a:rPr>
              <a:t>practices</a:t>
            </a:r>
          </a:p>
          <a:p>
            <a:pPr algn="just"/>
            <a:r>
              <a:rPr lang="en-GB" dirty="0">
                <a:solidFill>
                  <a:srgbClr val="00B050"/>
                </a:solidFill>
                <a:latin typeface="Arial Rounded MT Bold" panose="020F0704030504030204" pitchFamily="34" charset="0"/>
              </a:rPr>
              <a:t>A computer’s operating system must concentrate on delivering a functionally complete and flexible set of security mechanism for security policies to be effectively enforced. </a:t>
            </a:r>
            <a:endParaRPr lang="en-IN" dirty="0">
              <a:solidFill>
                <a:srgbClr val="00B050"/>
              </a:solidFill>
              <a:latin typeface="Arial Rounded MT Bold" panose="020F0704030504030204" pitchFamily="34" charset="0"/>
            </a:endParaRPr>
          </a:p>
        </p:txBody>
      </p:sp>
    </p:spTree>
    <p:extLst>
      <p:ext uri="{BB962C8B-B14F-4D97-AF65-F5344CB8AC3E}">
        <p14:creationId xmlns:p14="http://schemas.microsoft.com/office/powerpoint/2010/main" val="766822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Multimedia</a:t>
            </a:r>
          </a:p>
        </p:txBody>
      </p:sp>
      <p:sp>
        <p:nvSpPr>
          <p:cNvPr id="3" name="Content Placeholder 2"/>
          <p:cNvSpPr>
            <a:spLocks noGrp="1"/>
          </p:cNvSpPr>
          <p:nvPr>
            <p:ph idx="1"/>
          </p:nvPr>
        </p:nvSpPr>
        <p:spPr/>
        <p:txBody>
          <a:bodyPr>
            <a:normAutofit lnSpcReduction="10000"/>
          </a:bodyPr>
          <a:lstStyle/>
          <a:p>
            <a:r>
              <a:rPr lang="en-GB" dirty="0"/>
              <a:t>Multimedia Operating Systems are the operating systems that can deal with the multimedia files. </a:t>
            </a:r>
            <a:endParaRPr lang="en-GB" dirty="0" smtClean="0"/>
          </a:p>
          <a:p>
            <a:r>
              <a:rPr lang="en-GB" dirty="0" smtClean="0"/>
              <a:t>Multimedia </a:t>
            </a:r>
            <a:r>
              <a:rPr lang="en-GB" dirty="0"/>
              <a:t>files are different from the traditional </a:t>
            </a:r>
            <a:r>
              <a:rPr lang="en-GB" dirty="0" smtClean="0"/>
              <a:t>files</a:t>
            </a:r>
          </a:p>
          <a:p>
            <a:r>
              <a:rPr lang="en-GB" dirty="0"/>
              <a:t>They need special considerations for process management, secondary storage management, file management, and soon</a:t>
            </a:r>
            <a:r>
              <a:rPr lang="en-GB" dirty="0" smtClean="0"/>
              <a:t>.</a:t>
            </a:r>
          </a:p>
          <a:p>
            <a:r>
              <a:rPr lang="en-GB" dirty="0"/>
              <a:t>Multimedia kind of data consists of continuous media in the form of files (audio or video) data as well as conventional files to run</a:t>
            </a:r>
            <a:r>
              <a:rPr lang="en-GB" dirty="0" smtClean="0"/>
              <a:t>.</a:t>
            </a:r>
          </a:p>
          <a:p>
            <a:r>
              <a:rPr lang="en-GB" dirty="0"/>
              <a:t>An operating system whose primary job is serving videos would differ from a traditional operating system in three ways.</a:t>
            </a:r>
          </a:p>
          <a:p>
            <a:r>
              <a:rPr lang="en-GB" dirty="0"/>
              <a:t>• process scheduling</a:t>
            </a:r>
            <a:br>
              <a:rPr lang="en-GB" dirty="0"/>
            </a:br>
            <a:r>
              <a:rPr lang="en-GB" dirty="0"/>
              <a:t>• the file system</a:t>
            </a:r>
            <a:br>
              <a:rPr lang="en-GB" dirty="0"/>
            </a:br>
            <a:r>
              <a:rPr lang="en-GB" dirty="0"/>
              <a:t>• disk scheduling</a:t>
            </a:r>
          </a:p>
          <a:p>
            <a:endParaRPr lang="en-IN" dirty="0"/>
          </a:p>
        </p:txBody>
      </p:sp>
    </p:spTree>
    <p:extLst>
      <p:ext uri="{BB962C8B-B14F-4D97-AF65-F5344CB8AC3E}">
        <p14:creationId xmlns:p14="http://schemas.microsoft.com/office/powerpoint/2010/main" val="850134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318913" y="2967335"/>
            <a:ext cx="3554178" cy="923330"/>
          </a:xfrm>
          <a:prstGeom prst="rect">
            <a:avLst/>
          </a:prstGeom>
          <a:noFill/>
        </p:spPr>
        <p:txBody>
          <a:bodyPr wrap="none" lIns="91440" tIns="45720" rIns="91440" bIns="45720">
            <a:spAutoFit/>
          </a:bodyPr>
          <a:lstStyle/>
          <a:p>
            <a:pPr algn="ctr"/>
            <a:r>
              <a:rPr lang="en-US" sz="5400" b="1" cap="none" spc="0" dirty="0" smtClean="0">
                <a:ln w="12700">
                  <a:solidFill>
                    <a:schemeClr val="accent5"/>
                  </a:solidFill>
                  <a:prstDash val="solid"/>
                </a:ln>
                <a:pattFill prst="ltDnDiag">
                  <a:fgClr>
                    <a:schemeClr val="accent5">
                      <a:lumMod val="60000"/>
                      <a:lumOff val="40000"/>
                    </a:schemeClr>
                  </a:fgClr>
                  <a:bgClr>
                    <a:schemeClr val="bg1"/>
                  </a:bgClr>
                </a:pattFill>
                <a:effectLst/>
              </a:rPr>
              <a:t>Thank you</a:t>
            </a:r>
            <a:endParaRPr lang="en-US" sz="5400" b="1" cap="none" spc="0" dirty="0">
              <a:ln w="12700">
                <a:solidFill>
                  <a:schemeClr val="accent5"/>
                </a:solidFill>
                <a:prstDash val="solid"/>
              </a:ln>
              <a:pattFill prst="ltDnDiag">
                <a:fgClr>
                  <a:schemeClr val="accent5">
                    <a:lumMod val="60000"/>
                    <a:lumOff val="40000"/>
                  </a:schemeClr>
                </a:fgClr>
                <a:bgClr>
                  <a:schemeClr val="bg1"/>
                </a:bgClr>
              </a:pattFill>
              <a:effectLst/>
            </a:endParaRPr>
          </a:p>
        </p:txBody>
      </p:sp>
    </p:spTree>
    <p:extLst>
      <p:ext uri="{BB962C8B-B14F-4D97-AF65-F5344CB8AC3E}">
        <p14:creationId xmlns:p14="http://schemas.microsoft.com/office/powerpoint/2010/main" val="23826586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xmlns="" name="Wood Type" id="{7ACABC62-BF99-48CF-A9DC-4DB89C7B13DC}" vid="{C6AE0645-98FF-411B-B0E9-59ABD78A0C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39</TotalTime>
  <Words>525</Words>
  <Application>Microsoft Office PowerPoint</Application>
  <PresentationFormat>Custom</PresentationFormat>
  <Paragraphs>36</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Wood Type</vt:lpstr>
      <vt:lpstr>Abstractions, processes, resources Influence of security, networking, and multimedia</vt:lpstr>
      <vt:lpstr>Abstraction</vt:lpstr>
      <vt:lpstr>Types</vt:lpstr>
      <vt:lpstr>Process </vt:lpstr>
      <vt:lpstr>Resource </vt:lpstr>
      <vt:lpstr>Networking</vt:lpstr>
      <vt:lpstr>Networking OS</vt:lpstr>
      <vt:lpstr>Security </vt:lpstr>
      <vt:lpstr>Multimedia</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Abstractions, processes, resources Influence of security, networking, and multimedia</dc:title>
  <dc:creator>admin</dc:creator>
  <cp:lastModifiedBy>Admin</cp:lastModifiedBy>
  <cp:revision>12</cp:revision>
  <dcterms:created xsi:type="dcterms:W3CDTF">2023-04-25T01:49:18Z</dcterms:created>
  <dcterms:modified xsi:type="dcterms:W3CDTF">2023-05-24T18:40:34Z</dcterms:modified>
</cp:coreProperties>
</file>