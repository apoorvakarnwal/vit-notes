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40"/>
  </p:notesMasterIdLst>
  <p:handoutMasterIdLst>
    <p:handoutMasterId r:id="rId41"/>
  </p:handoutMasterIdLst>
  <p:sldIdLst>
    <p:sldId id="327" r:id="rId2"/>
    <p:sldId id="329" r:id="rId3"/>
    <p:sldId id="339" r:id="rId4"/>
    <p:sldId id="348" r:id="rId5"/>
    <p:sldId id="350" r:id="rId6"/>
    <p:sldId id="264" r:id="rId7"/>
    <p:sldId id="285" r:id="rId8"/>
    <p:sldId id="331" r:id="rId9"/>
    <p:sldId id="330" r:id="rId10"/>
    <p:sldId id="332" r:id="rId11"/>
    <p:sldId id="333" r:id="rId12"/>
    <p:sldId id="279" r:id="rId13"/>
    <p:sldId id="280" r:id="rId14"/>
    <p:sldId id="281" r:id="rId15"/>
    <p:sldId id="282" r:id="rId16"/>
    <p:sldId id="303" r:id="rId17"/>
    <p:sldId id="283" r:id="rId18"/>
    <p:sldId id="258" r:id="rId19"/>
    <p:sldId id="286" r:id="rId20"/>
    <p:sldId id="259" r:id="rId21"/>
    <p:sldId id="304" r:id="rId22"/>
    <p:sldId id="257" r:id="rId23"/>
    <p:sldId id="334" r:id="rId24"/>
    <p:sldId id="349" r:id="rId25"/>
    <p:sldId id="351" r:id="rId26"/>
    <p:sldId id="265" r:id="rId27"/>
    <p:sldId id="287" r:id="rId28"/>
    <p:sldId id="346" r:id="rId29"/>
    <p:sldId id="305" r:id="rId30"/>
    <p:sldId id="306" r:id="rId31"/>
    <p:sldId id="307" r:id="rId32"/>
    <p:sldId id="308" r:id="rId33"/>
    <p:sldId id="309" r:id="rId34"/>
    <p:sldId id="310" r:id="rId35"/>
    <p:sldId id="347" r:id="rId36"/>
    <p:sldId id="338" r:id="rId37"/>
    <p:sldId id="290" r:id="rId38"/>
    <p:sldId id="335" r:id="rId39"/>
  </p:sldIdLst>
  <p:sldSz cx="13716000" cy="9144000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527">
          <p15:clr>
            <a:srgbClr val="A4A3A4"/>
          </p15:clr>
        </p15:guide>
        <p15:guide id="2" pos="19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-342" y="-72"/>
      </p:cViewPr>
      <p:guideLst>
        <p:guide orient="horz" pos="1527"/>
        <p:guide pos="19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</a:defRPr>
            </a:lvl1pPr>
          </a:lstStyle>
          <a:p>
            <a:fld id="{099D7087-B4D8-4E67-A974-1C4634F4EE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58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1050" y="688975"/>
            <a:ext cx="5262563" cy="350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427538"/>
            <a:ext cx="5100637" cy="419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</a:defRPr>
            </a:lvl1pPr>
          </a:lstStyle>
          <a:p>
            <a:fld id="{D85F2307-3D02-499F-A7ED-5480735EB8D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07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0B471E-478C-4991-AC16-A9DEB8FC6CDA}" type="slidenum">
              <a:rPr lang="en-US"/>
              <a:pPr/>
              <a:t>1</a:t>
            </a:fld>
            <a:endParaRPr 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38658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6429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F38F00-A7C9-41F1-9F48-12BD35D964C2}" type="slidenum">
              <a:rPr lang="en-US"/>
              <a:pPr/>
              <a:t>6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41933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61A843-A3D6-4026-AF41-F9DB4366038B}" type="slidenum">
              <a:rPr lang="en-US"/>
              <a:pPr/>
              <a:t>7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00109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13248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15616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49215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12581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7C4977-728B-45F9-B20C-A3D9692E5730}" type="slidenum">
              <a:rPr lang="en-US"/>
              <a:pPr/>
              <a:t>12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97271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8D63A2-4AEF-4079-B7DF-B42D51AE0654}" type="slidenum">
              <a:rPr lang="en-US"/>
              <a:pPr/>
              <a:t>13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25548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8D1AB8-CAF1-4FE0-B4CC-5DBBC0D0DFB7}" type="slidenum">
              <a:rPr lang="en-US"/>
              <a:pPr/>
              <a:t>14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32134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443069-D27F-4691-8F2C-D321469708DB}" type="slidenum">
              <a:rPr lang="en-US"/>
              <a:pPr/>
              <a:t>15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14297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E80825-B5A0-4037-8C12-BAE4103C8A0F}" type="slidenum">
              <a:rPr lang="en-US"/>
              <a:pPr/>
              <a:t>16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07339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361F1-049D-45B8-A0FB-8C7EEF10C160}" type="slidenum">
              <a:rPr lang="en-US"/>
              <a:pPr/>
              <a:t>17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863654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F6D760-CD02-4864-AAFC-7F3AFC03EFCA}" type="slidenum">
              <a:rPr lang="en-US"/>
              <a:pPr/>
              <a:t>18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535797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768518-CD41-450A-BB28-CDF7AF27499C}" type="slidenum">
              <a:rPr lang="en-US"/>
              <a:pPr/>
              <a:t>19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189346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54BDB6-9C64-488B-A95E-48B742ADD9DF}" type="slidenum">
              <a:rPr lang="en-US"/>
              <a:pPr/>
              <a:t>20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09543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F0C747-5A66-4C35-A609-CC45ED79BC44}" type="slidenum">
              <a:rPr lang="en-US"/>
              <a:pPr/>
              <a:t>21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768885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632FED-9318-4CEB-BC0D-DB2D8F80B5E5}" type="slidenum">
              <a:rPr lang="en-US"/>
              <a:pPr/>
              <a:t>22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399349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870543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6B580E-B110-4641-B402-F8410777DC9C}" type="slidenum">
              <a:rPr lang="en-US"/>
              <a:pPr/>
              <a:t>26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673408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7A5539-FB78-481D-8F59-E25860CD1FFF}" type="slidenum">
              <a:rPr lang="en-US"/>
              <a:pPr/>
              <a:t>27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920562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EBD5DC-9506-4F27-87C5-88F8866DFF1F}" type="slidenum">
              <a:rPr lang="en-US"/>
              <a:pPr/>
              <a:t>28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370763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C60873-2DB3-4B5C-AD7C-C4B66F91A951}" type="slidenum">
              <a:rPr lang="en-US"/>
              <a:pPr/>
              <a:t>29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366445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F82C99-3457-413E-AF0D-4286997C47E7}" type="slidenum">
              <a:rPr lang="en-US"/>
              <a:pPr/>
              <a:t>30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866597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D605FD-7322-4987-97A4-46A1E5B2690F}" type="slidenum">
              <a:rPr lang="en-US"/>
              <a:pPr/>
              <a:t>31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017271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D09994-1BDE-485B-9276-B549AB3476C8}" type="slidenum">
              <a:rPr lang="en-US"/>
              <a:pPr/>
              <a:t>32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409038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26CE1-23F0-44BB-BD32-5ADAEB21D9D2}" type="slidenum">
              <a:rPr lang="en-US"/>
              <a:pPr/>
              <a:t>33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375701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57D5C5-F3D0-4C78-B958-10CBC2C80709}" type="slidenum">
              <a:rPr lang="en-US"/>
              <a:pPr/>
              <a:t>34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001325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 txBox="1">
            <a:spLocks noGrp="1" noChangeArrowheads="1"/>
          </p:cNvSpPr>
          <p:nvPr/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892" tIns="45445" rIns="90892" bIns="45445" anchor="b"/>
          <a:lstStyle/>
          <a:p>
            <a:pPr algn="r" defTabSz="908050"/>
            <a:fld id="{5CAA3D92-F580-4216-8C04-67C3576E9B9B}" type="slidenum">
              <a:rPr lang="en-US" sz="1200">
                <a:latin typeface="Helvetica" charset="0"/>
              </a:rPr>
              <a:pPr algn="r" defTabSz="908050"/>
              <a:t>36</a:t>
            </a:fld>
            <a:endParaRPr lang="en-US" sz="1200">
              <a:latin typeface="Helvetica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297459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5E78D1-8376-4967-934C-9A7A5E911C59}" type="slidenum">
              <a:rPr lang="en-US"/>
              <a:pPr/>
              <a:t>37</a:t>
            </a:fld>
            <a:endParaRPr 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19150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49640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647238" y="8818563"/>
            <a:ext cx="4068762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1275" y="8818563"/>
            <a:ext cx="3686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33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837113" y="5354638"/>
            <a:ext cx="3505200" cy="2517775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>
              <a:defRPr/>
            </a:pPr>
            <a:endParaRPr lang="en-US">
              <a:cs typeface="ＭＳ Ｐゴシック" charset="-128"/>
            </a:endParaRPr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6437" name="Rectangle 5"/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38" name="Line 6"/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ffectLst/>
        </p:spPr>
        <p:txBody>
          <a:bodyPr lIns="130622" tIns="65311" rIns="130622" bIns="65311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146439" name="Rectangle 7"/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41" name="Text Box 9"/>
          <p:cNvSpPr txBox="1">
            <a:spLocks noChangeArrowheads="1"/>
          </p:cNvSpPr>
          <p:nvPr/>
        </p:nvSpPr>
        <p:spPr bwMode="auto">
          <a:xfrm>
            <a:off x="6403975" y="8818563"/>
            <a:ext cx="63182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4.</a:t>
            </a:r>
            <a:fld id="{1D2BBA59-132A-4C4C-8F11-BA90418171D4}" type="slidenum">
              <a:rPr lang="en-US" sz="1400" b="1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sz="14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46442" name="Text Box 10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146443" name="Text Box 11"/>
          <p:cNvSpPr txBox="1">
            <a:spLocks noChangeArrowheads="1"/>
          </p:cNvSpPr>
          <p:nvPr/>
        </p:nvSpPr>
        <p:spPr bwMode="auto">
          <a:xfrm>
            <a:off x="279400" y="8828088"/>
            <a:ext cx="3686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 dirty="0" smtClean="0"/>
              <a:t>Threads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Objectives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453813" cy="6040438"/>
          </a:xfrm>
        </p:spPr>
        <p:txBody>
          <a:bodyPr/>
          <a:lstStyle/>
          <a:p>
            <a:r>
              <a:rPr lang="en-US" smtClean="0"/>
              <a:t>To introduce the notion of a thread — a fundamental unit of CPU utilization that forms the basis of multithreaded computer systems</a:t>
            </a:r>
          </a:p>
          <a:p>
            <a:endParaRPr lang="en-US" smtClean="0"/>
          </a:p>
          <a:p>
            <a:r>
              <a:rPr lang="en-US" smtClean="0"/>
              <a:t>To discuss the APIs for the Pthreads, Win32, and Java thread libraries</a:t>
            </a:r>
          </a:p>
          <a:p>
            <a:endParaRPr lang="en-US" smtClean="0"/>
          </a:p>
          <a:p>
            <a:r>
              <a:rPr lang="en-US" smtClean="0"/>
              <a:t>To examine issues related to multithreaded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Motivation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Threads run within application</a:t>
            </a:r>
          </a:p>
          <a:p>
            <a:r>
              <a:rPr lang="en-US" smtClean="0"/>
              <a:t>Multiple tasks with the application can be implemented by separate threads</a:t>
            </a:r>
          </a:p>
          <a:p>
            <a:pPr lvl="1"/>
            <a:r>
              <a:rPr lang="en-US" smtClean="0"/>
              <a:t>Update display</a:t>
            </a:r>
          </a:p>
          <a:p>
            <a:pPr lvl="1"/>
            <a:r>
              <a:rPr lang="en-US" smtClean="0"/>
              <a:t>Fetch data</a:t>
            </a:r>
          </a:p>
          <a:p>
            <a:pPr lvl="1"/>
            <a:r>
              <a:rPr lang="en-US" smtClean="0"/>
              <a:t>Spell checking</a:t>
            </a:r>
          </a:p>
          <a:p>
            <a:pPr lvl="1"/>
            <a:r>
              <a:rPr lang="en-US" smtClean="0"/>
              <a:t>Answer a network request</a:t>
            </a:r>
          </a:p>
          <a:p>
            <a:r>
              <a:rPr lang="en-US" smtClean="0"/>
              <a:t>Process creation is heavy-weight while thread creation is light-weight</a:t>
            </a:r>
          </a:p>
          <a:p>
            <a:r>
              <a:rPr lang="en-US" smtClean="0"/>
              <a:t>Can simplify code, increase efficiency</a:t>
            </a:r>
          </a:p>
          <a:p>
            <a:r>
              <a:rPr lang="en-US" smtClean="0"/>
              <a:t>Kernels are generally multithreaded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708" y="527538"/>
            <a:ext cx="12991367" cy="8616462"/>
          </a:xfrm>
        </p:spPr>
        <p:txBody>
          <a:bodyPr/>
          <a:lstStyle/>
          <a:p>
            <a:pPr algn="just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thread is a flow of execution through the process code, with its own program counter that keeps track of which instruction to execute next, system registers which hold its current working variables, and a stack which contains the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execution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history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 thread shares with its peer threads few information like code segment, data segment and open files. When one thread alters a code segment memory item, all other threads see that.</a:t>
            </a:r>
          </a:p>
          <a:p>
            <a:pPr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800" dirty="0">
                <a:latin typeface="Times New Roman" pitchFamily="18" charset="0"/>
                <a:cs typeface="Times New Roman" pitchFamily="18" charset="0"/>
              </a:rPr>
            </a:b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 thread is also called a </a:t>
            </a: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lightweight process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. Threads provide a way to improve application performance through parallelism. Threads represent a software approach to improving performance of operating system by reducing the overhead thread is equivalent to a classical process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2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Each thread belongs to exactly one process and no thread can exist outside a process. 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thread represents a separate flow of control. Threads have been successfully used in implementing network servers and web server. 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They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also provide a suitable foundation for parallel execution of applications on shared memory multiprocessors. The following figure shows the working of a single-threaded and a multithreaded process.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704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43013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smtClean="0"/>
              <a:t>Single and Multithreaded Processes</a:t>
            </a:r>
          </a:p>
        </p:txBody>
      </p:sp>
      <p:pic>
        <p:nvPicPr>
          <p:cNvPr id="22531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33588" y="1798638"/>
            <a:ext cx="9901237" cy="582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93813" y="611188"/>
            <a:ext cx="10426700" cy="417512"/>
          </a:xfrm>
        </p:spPr>
        <p:txBody>
          <a:bodyPr/>
          <a:lstStyle/>
          <a:p>
            <a:pPr eaLnBrk="1" hangingPunct="1"/>
            <a:r>
              <a:rPr lang="en-US" smtClean="0"/>
              <a:t>Benefits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smtClean="0"/>
              <a:t>Responsiveness</a:t>
            </a:r>
            <a:br>
              <a:rPr lang="en-US" b="1" smtClean="0"/>
            </a:br>
            <a:endParaRPr lang="en-US" b="1" smtClean="0"/>
          </a:p>
          <a:p>
            <a:r>
              <a:rPr lang="en-US" b="1" smtClean="0"/>
              <a:t>Resource Sharing</a:t>
            </a:r>
            <a:br>
              <a:rPr lang="en-US" b="1" smtClean="0"/>
            </a:br>
            <a:endParaRPr lang="en-US" b="1" smtClean="0"/>
          </a:p>
          <a:p>
            <a:r>
              <a:rPr lang="en-US" b="1" smtClean="0"/>
              <a:t>Economy</a:t>
            </a:r>
            <a:br>
              <a:rPr lang="en-US" b="1" smtClean="0"/>
            </a:br>
            <a:endParaRPr lang="en-US" b="1" smtClean="0"/>
          </a:p>
          <a:p>
            <a:r>
              <a:rPr lang="en-US" b="1" smtClean="0"/>
              <a:t>Scalability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519238" y="369888"/>
            <a:ext cx="11510962" cy="768350"/>
          </a:xfrm>
        </p:spPr>
        <p:txBody>
          <a:bodyPr/>
          <a:lstStyle/>
          <a:p>
            <a:pPr eaLnBrk="1" hangingPunct="1"/>
            <a:r>
              <a:rPr lang="en-US" smtClean="0"/>
              <a:t>Multicore Programming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585575" cy="6040438"/>
          </a:xfrm>
        </p:spPr>
        <p:txBody>
          <a:bodyPr/>
          <a:lstStyle/>
          <a:p>
            <a:r>
              <a:rPr lang="en-US" smtClean="0"/>
              <a:t>Multicore systems putting pressure on programmers, challenges include:</a:t>
            </a:r>
          </a:p>
          <a:p>
            <a:pPr lvl="1"/>
            <a:r>
              <a:rPr lang="en-US" b="1" smtClean="0"/>
              <a:t>Dividing activities</a:t>
            </a:r>
          </a:p>
          <a:p>
            <a:pPr lvl="1"/>
            <a:r>
              <a:rPr lang="en-US" b="1" smtClean="0"/>
              <a:t>Balance</a:t>
            </a:r>
          </a:p>
          <a:p>
            <a:pPr lvl="1"/>
            <a:r>
              <a:rPr lang="en-US" b="1" smtClean="0"/>
              <a:t>Data splitting</a:t>
            </a:r>
          </a:p>
          <a:p>
            <a:pPr lvl="1"/>
            <a:r>
              <a:rPr lang="en-US" b="1" smtClean="0"/>
              <a:t>Data dependency</a:t>
            </a:r>
          </a:p>
          <a:p>
            <a:pPr lvl="1"/>
            <a:r>
              <a:rPr lang="en-US" b="1" smtClean="0"/>
              <a:t>Testing and debugging</a:t>
            </a:r>
          </a:p>
          <a:p>
            <a:pPr lvl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328738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smtClean="0"/>
              <a:t>Multithreaded Server Architecture</a:t>
            </a:r>
          </a:p>
        </p:txBody>
      </p:sp>
      <p:pic>
        <p:nvPicPr>
          <p:cNvPr id="28675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60538" y="2946400"/>
            <a:ext cx="10663237" cy="340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1214438" y="407988"/>
            <a:ext cx="12344400" cy="768350"/>
          </a:xfrm>
        </p:spPr>
        <p:txBody>
          <a:bodyPr/>
          <a:lstStyle/>
          <a:p>
            <a:pPr eaLnBrk="1" hangingPunct="1"/>
            <a:r>
              <a:rPr lang="en-US" sz="4000" smtClean="0"/>
              <a:t>Concurrent Execution on a </a:t>
            </a:r>
            <a:br>
              <a:rPr lang="en-US" sz="4000" smtClean="0"/>
            </a:br>
            <a:r>
              <a:rPr lang="en-US" sz="4000" smtClean="0"/>
              <a:t>Single-core System</a:t>
            </a:r>
          </a:p>
        </p:txBody>
      </p:sp>
      <p:pic>
        <p:nvPicPr>
          <p:cNvPr id="30723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17625" y="3554413"/>
            <a:ext cx="1142206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014413" y="395288"/>
            <a:ext cx="12344400" cy="768350"/>
          </a:xfrm>
        </p:spPr>
        <p:txBody>
          <a:bodyPr/>
          <a:lstStyle/>
          <a:p>
            <a:pPr eaLnBrk="1" hangingPunct="1"/>
            <a:r>
              <a:rPr lang="en-US" sz="4000" smtClean="0"/>
              <a:t>Parallel Execution on a </a:t>
            </a:r>
            <a:br>
              <a:rPr lang="en-US" sz="4000" smtClean="0"/>
            </a:br>
            <a:r>
              <a:rPr lang="en-US" sz="4000" smtClean="0"/>
              <a:t>Multicore System</a:t>
            </a:r>
          </a:p>
        </p:txBody>
      </p:sp>
      <p:pic>
        <p:nvPicPr>
          <p:cNvPr id="32771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81250" y="3206750"/>
            <a:ext cx="9147175" cy="284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User Threads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Thread management done by user-level threads </a:t>
            </a:r>
            <a:r>
              <a:rPr lang="en-US" dirty="0" smtClean="0"/>
              <a:t>library</a:t>
            </a:r>
          </a:p>
          <a:p>
            <a:pPr lvl="0"/>
            <a:r>
              <a:rPr lang="en-US" dirty="0"/>
              <a:t>All of the thread management is done by the application and the kernel is not aware of the existence of threads.</a:t>
            </a:r>
            <a:endParaRPr lang="en-IN" dirty="0"/>
          </a:p>
          <a:p>
            <a:r>
              <a:rPr lang="en-US" dirty="0" smtClean="0"/>
              <a:t>Three </a:t>
            </a:r>
            <a:r>
              <a:rPr lang="en-US" dirty="0" smtClean="0"/>
              <a:t>primary thread libraries:</a:t>
            </a:r>
          </a:p>
          <a:p>
            <a:pPr lvl="1"/>
            <a:r>
              <a:rPr lang="en-US" dirty="0" smtClean="0"/>
              <a:t> POSIX </a:t>
            </a:r>
            <a:r>
              <a:rPr lang="en-US" b="1" dirty="0" err="1" smtClean="0">
                <a:solidFill>
                  <a:srgbClr val="3366FF"/>
                </a:solidFill>
              </a:rPr>
              <a:t>Pthreads</a:t>
            </a:r>
            <a:endParaRPr lang="en-US" b="1" i="1" dirty="0" smtClean="0">
              <a:solidFill>
                <a:srgbClr val="3366FF"/>
              </a:solidFill>
            </a:endParaRPr>
          </a:p>
          <a:p>
            <a:pPr lvl="1"/>
            <a:r>
              <a:rPr lang="en-US" dirty="0" smtClean="0"/>
              <a:t> Win32 threads</a:t>
            </a:r>
          </a:p>
          <a:p>
            <a:pPr lvl="1"/>
            <a:r>
              <a:rPr lang="en-US" dirty="0" smtClean="0"/>
              <a:t> Java </a:t>
            </a:r>
            <a:r>
              <a:rPr lang="en-US" dirty="0" smtClean="0"/>
              <a:t>threads</a:t>
            </a:r>
          </a:p>
          <a:p>
            <a:r>
              <a:rPr lang="en-US" b="1" dirty="0"/>
              <a:t>Advantages of user level threads:</a:t>
            </a:r>
            <a:endParaRPr lang="en-IN" dirty="0"/>
          </a:p>
          <a:p>
            <a:pPr lvl="1"/>
            <a:r>
              <a:rPr lang="en-US" dirty="0"/>
              <a:t>There are a number of advantages to the use of ULTs instead of KLTs</a:t>
            </a:r>
            <a:endParaRPr lang="en-IN" dirty="0"/>
          </a:p>
          <a:p>
            <a:pPr lvl="1"/>
            <a:r>
              <a:rPr lang="en-US" dirty="0"/>
              <a:t>Thread switching does not require kernel mode privileges</a:t>
            </a:r>
            <a:endParaRPr lang="en-IN" dirty="0"/>
          </a:p>
          <a:p>
            <a:pPr lvl="1"/>
            <a:r>
              <a:rPr lang="en-US" dirty="0"/>
              <a:t>Scheduling can be application specific</a:t>
            </a:r>
            <a:endParaRPr lang="en-IN" dirty="0"/>
          </a:p>
          <a:p>
            <a:pPr lvl="1"/>
            <a:r>
              <a:rPr lang="en-US" dirty="0"/>
              <a:t>ULTs can run on any OS.</a:t>
            </a:r>
            <a:endParaRPr lang="en-IN" dirty="0"/>
          </a:p>
          <a:p>
            <a:r>
              <a:rPr lang="en-US" b="1" dirty="0"/>
              <a:t>Disadvantages of user level threads:</a:t>
            </a:r>
            <a:endParaRPr lang="en-IN" dirty="0"/>
          </a:p>
          <a:p>
            <a:pPr lvl="1"/>
            <a:r>
              <a:rPr lang="en-US" dirty="0"/>
              <a:t>When a ULT executes a blocking system call, not only is that thread blocked, but also all of the threads within the process are blocked.</a:t>
            </a:r>
            <a:endParaRPr lang="en-IN" dirty="0"/>
          </a:p>
          <a:p>
            <a:pPr lvl="1"/>
            <a:r>
              <a:rPr lang="en-US" dirty="0"/>
              <a:t>A Multithreaded application cannot take advantage of multiprocessing. A kernel assigns one process to only one processor at a time.</a:t>
            </a:r>
            <a:endParaRPr lang="en-IN" dirty="0"/>
          </a:p>
          <a:p>
            <a:pPr marL="0" lvl="1" indent="652463"/>
            <a:endParaRPr lang="en-US" dirty="0" smtClean="0"/>
          </a:p>
          <a:p>
            <a:pPr marL="652462" lvl="1" indent="0">
              <a:buNone/>
            </a:pP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409" y="2473902"/>
            <a:ext cx="3724716" cy="3580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Kernel Threads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0402" y="1330036"/>
            <a:ext cx="12344400" cy="6382761"/>
          </a:xfrm>
        </p:spPr>
        <p:txBody>
          <a:bodyPr/>
          <a:lstStyle/>
          <a:p>
            <a:r>
              <a:rPr lang="en-US" dirty="0" smtClean="0"/>
              <a:t>Supported by the </a:t>
            </a:r>
            <a:r>
              <a:rPr lang="en-US" dirty="0" smtClean="0"/>
              <a:t>Kernel</a:t>
            </a:r>
          </a:p>
          <a:p>
            <a:pPr lvl="0"/>
            <a:r>
              <a:rPr lang="en-US" dirty="0"/>
              <a:t>There is no thread management code in the </a:t>
            </a:r>
            <a:endParaRPr lang="en-US" dirty="0" smtClean="0"/>
          </a:p>
          <a:p>
            <a:pPr marL="0" lvl="0" indent="0">
              <a:buNone/>
            </a:pPr>
            <a:r>
              <a:rPr lang="en-US" dirty="0" smtClean="0"/>
              <a:t>application </a:t>
            </a:r>
            <a:r>
              <a:rPr lang="en-US" dirty="0"/>
              <a:t>level, simply an application programming </a:t>
            </a:r>
            <a:endParaRPr lang="en-US" dirty="0" smtClean="0"/>
          </a:p>
          <a:p>
            <a:pPr marL="0" lvl="0" indent="0">
              <a:buNone/>
            </a:pPr>
            <a:r>
              <a:rPr lang="en-US" dirty="0" smtClean="0"/>
              <a:t>interface </a:t>
            </a:r>
            <a:r>
              <a:rPr lang="en-US" dirty="0"/>
              <a:t>(API) to the kernel thread facility.</a:t>
            </a:r>
            <a:endParaRPr lang="en-IN" dirty="0"/>
          </a:p>
          <a:p>
            <a:pPr lvl="0"/>
            <a:r>
              <a:rPr lang="en-US" dirty="0"/>
              <a:t>The kernel maintains context </a:t>
            </a:r>
            <a:r>
              <a:rPr lang="en-US" dirty="0" smtClean="0"/>
              <a:t>information</a:t>
            </a:r>
          </a:p>
          <a:p>
            <a:pPr marL="0" lvl="0" indent="0">
              <a:buNone/>
            </a:pPr>
            <a:r>
              <a:rPr lang="en-US" dirty="0" smtClean="0"/>
              <a:t> </a:t>
            </a:r>
            <a:r>
              <a:rPr lang="en-US" dirty="0"/>
              <a:t>for the process as a whole and for individual </a:t>
            </a:r>
            <a:r>
              <a:rPr lang="en-US" dirty="0" smtClean="0"/>
              <a:t>threads</a:t>
            </a:r>
          </a:p>
          <a:p>
            <a:pPr marL="0" lvl="0" indent="0">
              <a:buNone/>
            </a:pPr>
            <a:r>
              <a:rPr lang="en-US" dirty="0" smtClean="0"/>
              <a:t> </a:t>
            </a:r>
            <a:r>
              <a:rPr lang="en-US" dirty="0"/>
              <a:t>within the process.</a:t>
            </a:r>
            <a:endParaRPr lang="en-IN" dirty="0"/>
          </a:p>
          <a:p>
            <a:r>
              <a:rPr lang="en-US" dirty="0" smtClean="0"/>
              <a:t>Examples</a:t>
            </a:r>
            <a:endParaRPr lang="en-US" dirty="0" smtClean="0"/>
          </a:p>
          <a:p>
            <a:pPr lvl="1"/>
            <a:r>
              <a:rPr lang="en-US" dirty="0" smtClean="0"/>
              <a:t>Windows XP/2000</a:t>
            </a:r>
          </a:p>
          <a:p>
            <a:pPr lvl="1"/>
            <a:r>
              <a:rPr lang="en-US" dirty="0" smtClean="0"/>
              <a:t>Solaris</a:t>
            </a:r>
          </a:p>
          <a:p>
            <a:pPr lvl="1"/>
            <a:r>
              <a:rPr lang="en-US" dirty="0" smtClean="0"/>
              <a:t>Linux</a:t>
            </a:r>
          </a:p>
          <a:p>
            <a:pPr lvl="1"/>
            <a:r>
              <a:rPr lang="en-US" dirty="0" smtClean="0"/>
              <a:t>Tru64 UNIX</a:t>
            </a:r>
          </a:p>
          <a:p>
            <a:pPr lvl="1"/>
            <a:r>
              <a:rPr lang="en-US" dirty="0" smtClean="0"/>
              <a:t>Mac OS </a:t>
            </a:r>
            <a:r>
              <a:rPr lang="en-US" dirty="0" smtClean="0"/>
              <a:t>X</a:t>
            </a:r>
          </a:p>
          <a:p>
            <a:r>
              <a:rPr lang="en-US" b="1" dirty="0"/>
              <a:t>Advantages of Kernel level threads:</a:t>
            </a:r>
            <a:endParaRPr lang="en-IN" dirty="0"/>
          </a:p>
          <a:p>
            <a:pPr lvl="1"/>
            <a:r>
              <a:rPr lang="en-US" dirty="0"/>
              <a:t>The kernel can simultaneously schedule multiple threads from the same process on multiple processors.</a:t>
            </a:r>
            <a:endParaRPr lang="en-IN" dirty="0"/>
          </a:p>
          <a:p>
            <a:pPr lvl="1"/>
            <a:r>
              <a:rPr lang="en-US" dirty="0"/>
              <a:t>If one thread in a process is blocked, the kernel can schedule another thread of </a:t>
            </a:r>
            <a:r>
              <a:rPr lang="en-US" dirty="0" smtClean="0"/>
              <a:t>the same </a:t>
            </a:r>
            <a:r>
              <a:rPr lang="en-US" dirty="0"/>
              <a:t>process. </a:t>
            </a:r>
            <a:endParaRPr lang="en-IN" dirty="0"/>
          </a:p>
          <a:p>
            <a:r>
              <a:rPr lang="en-US" b="1" dirty="0"/>
              <a:t>Disadvantages of kernel level threads:</a:t>
            </a:r>
            <a:endParaRPr lang="en-IN" dirty="0"/>
          </a:p>
          <a:p>
            <a:pPr lvl="1"/>
            <a:r>
              <a:rPr lang="en-US" dirty="0"/>
              <a:t>The transfer of control from one thread to another within the same process requires a mode switch to the kernel.</a:t>
            </a:r>
            <a:endParaRPr lang="en-IN" dirty="0"/>
          </a:p>
          <a:p>
            <a:pPr marL="0" lvl="1" indent="652463"/>
            <a:endParaRPr lang="en-US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125" y="2118880"/>
            <a:ext cx="6663156" cy="364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Multithreading Models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Many-to-One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One-to-One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Many-to-Many</a:t>
            </a:r>
          </a:p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Many-to-One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Many user-level threads mapped to single kernel thread</a:t>
            </a:r>
          </a:p>
          <a:p>
            <a:endParaRPr lang="en-US" smtClean="0"/>
          </a:p>
          <a:p>
            <a:r>
              <a:rPr lang="en-US" smtClean="0"/>
              <a:t>Examples:</a:t>
            </a:r>
          </a:p>
          <a:p>
            <a:pPr lvl="1"/>
            <a:r>
              <a:rPr lang="en-US" b="1" smtClean="0">
                <a:solidFill>
                  <a:srgbClr val="3366FF"/>
                </a:solidFill>
              </a:rPr>
              <a:t>Solaris Green Threads</a:t>
            </a:r>
          </a:p>
          <a:p>
            <a:pPr lvl="1"/>
            <a:r>
              <a:rPr lang="en-US" b="1" smtClean="0">
                <a:solidFill>
                  <a:srgbClr val="3366FF"/>
                </a:solidFill>
              </a:rPr>
              <a:t>GNU Portable Threads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Many-to-One Model</a:t>
            </a:r>
          </a:p>
        </p:txBody>
      </p:sp>
      <p:pic>
        <p:nvPicPr>
          <p:cNvPr id="43011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4213" y="1522413"/>
            <a:ext cx="7915275" cy="694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One-to-One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Each user-level thread maps to kernel thread</a:t>
            </a:r>
          </a:p>
          <a:p>
            <a:endParaRPr lang="en-US" smtClean="0"/>
          </a:p>
          <a:p>
            <a:r>
              <a:rPr lang="en-US" smtClean="0"/>
              <a:t>Examples</a:t>
            </a:r>
          </a:p>
          <a:p>
            <a:pPr lvl="1"/>
            <a:r>
              <a:rPr lang="en-US" smtClean="0"/>
              <a:t>Windows NT/XP/2000</a:t>
            </a:r>
          </a:p>
          <a:p>
            <a:pPr lvl="1"/>
            <a:r>
              <a:rPr lang="en-US" smtClean="0"/>
              <a:t>Linux</a:t>
            </a:r>
          </a:p>
          <a:p>
            <a:pPr lvl="1"/>
            <a:r>
              <a:rPr lang="en-US" smtClean="0"/>
              <a:t>Solaris 9 and later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One-to-one Model</a:t>
            </a:r>
          </a:p>
        </p:txBody>
      </p:sp>
      <p:pic>
        <p:nvPicPr>
          <p:cNvPr id="47107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9988" y="2678113"/>
            <a:ext cx="11607800" cy="391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Many-to-Many Model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2100263"/>
            <a:ext cx="11550650" cy="5926137"/>
          </a:xfrm>
        </p:spPr>
        <p:txBody>
          <a:bodyPr/>
          <a:lstStyle/>
          <a:p>
            <a:r>
              <a:rPr lang="en-US" smtClean="0"/>
              <a:t>Allows many user level threads to be mapped to many kernel threads</a:t>
            </a:r>
          </a:p>
          <a:p>
            <a:endParaRPr lang="en-US" smtClean="0"/>
          </a:p>
          <a:p>
            <a:r>
              <a:rPr lang="en-US" smtClean="0"/>
              <a:t>Allows the  operating system to create a sufficient number of kernel threads</a:t>
            </a:r>
          </a:p>
          <a:p>
            <a:endParaRPr lang="en-US" smtClean="0"/>
          </a:p>
          <a:p>
            <a:r>
              <a:rPr lang="en-US" smtClean="0"/>
              <a:t>Solaris prior to version 9</a:t>
            </a:r>
          </a:p>
          <a:p>
            <a:endParaRPr lang="en-US" smtClean="0"/>
          </a:p>
          <a:p>
            <a:r>
              <a:rPr lang="en-US" smtClean="0"/>
              <a:t>Windows NT/2000 with the </a:t>
            </a:r>
            <a:r>
              <a:rPr lang="en-US" i="1" smtClean="0"/>
              <a:t>ThreadFiber</a:t>
            </a:r>
            <a:r>
              <a:rPr lang="en-US" smtClean="0"/>
              <a:t> package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Many-to-Many Model</a:t>
            </a:r>
          </a:p>
        </p:txBody>
      </p:sp>
      <p:pic>
        <p:nvPicPr>
          <p:cNvPr id="51203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2625" y="1792288"/>
            <a:ext cx="7729538" cy="587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Two-level Model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930400"/>
            <a:ext cx="11283950" cy="5942013"/>
          </a:xfrm>
        </p:spPr>
        <p:txBody>
          <a:bodyPr/>
          <a:lstStyle/>
          <a:p>
            <a:r>
              <a:rPr lang="en-US" smtClean="0"/>
              <a:t>Similar to M:M, except that it allows a user thread to be </a:t>
            </a:r>
            <a:r>
              <a:rPr lang="en-US" b="1" smtClean="0"/>
              <a:t>bound</a:t>
            </a:r>
            <a:r>
              <a:rPr lang="en-US" smtClean="0"/>
              <a:t> to kernel thread</a:t>
            </a:r>
          </a:p>
          <a:p>
            <a:endParaRPr lang="en-US" smtClean="0"/>
          </a:p>
          <a:p>
            <a:r>
              <a:rPr lang="en-US" smtClean="0"/>
              <a:t>Examples</a:t>
            </a:r>
          </a:p>
          <a:p>
            <a:pPr lvl="1"/>
            <a:r>
              <a:rPr lang="en-US" smtClean="0"/>
              <a:t>IRIX</a:t>
            </a:r>
          </a:p>
          <a:p>
            <a:pPr lvl="1"/>
            <a:r>
              <a:rPr lang="en-US" smtClean="0"/>
              <a:t>HP-UX</a:t>
            </a:r>
          </a:p>
          <a:p>
            <a:pPr lvl="1"/>
            <a:r>
              <a:rPr lang="en-US" smtClean="0"/>
              <a:t>Tru64 UNIX</a:t>
            </a:r>
          </a:p>
          <a:p>
            <a:pPr lvl="1"/>
            <a:r>
              <a:rPr lang="en-US" smtClean="0"/>
              <a:t>Solaris 8 and earlier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Two-level Model</a:t>
            </a:r>
          </a:p>
        </p:txBody>
      </p:sp>
      <p:pic>
        <p:nvPicPr>
          <p:cNvPr id="55299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6963" y="2108200"/>
            <a:ext cx="8913812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Thread Libraries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309350" cy="6040438"/>
          </a:xfrm>
        </p:spPr>
        <p:txBody>
          <a:bodyPr/>
          <a:lstStyle/>
          <a:p>
            <a:r>
              <a:rPr lang="en-US" b="1" smtClean="0">
                <a:solidFill>
                  <a:srgbClr val="3366FF"/>
                </a:solidFill>
              </a:rPr>
              <a:t>Thread library</a:t>
            </a:r>
            <a:r>
              <a:rPr lang="en-US" smtClean="0">
                <a:solidFill>
                  <a:srgbClr val="3366FF"/>
                </a:solidFill>
              </a:rPr>
              <a:t> </a:t>
            </a:r>
            <a:r>
              <a:rPr lang="en-US" smtClean="0"/>
              <a:t>provides programmer with API for creating and managing threads</a:t>
            </a:r>
          </a:p>
          <a:p>
            <a:endParaRPr lang="en-US" smtClean="0"/>
          </a:p>
          <a:p>
            <a:r>
              <a:rPr lang="en-US" smtClean="0"/>
              <a:t>Two primary ways of implementing</a:t>
            </a:r>
          </a:p>
          <a:p>
            <a:pPr lvl="1"/>
            <a:r>
              <a:rPr lang="en-US" smtClean="0"/>
              <a:t>Library entirely in user space</a:t>
            </a:r>
          </a:p>
          <a:p>
            <a:pPr lvl="1"/>
            <a:r>
              <a:rPr lang="en-US" smtClean="0"/>
              <a:t>Kernel-level library supported by the 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Comparison Between Process and Threads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2655219"/>
              </p:ext>
            </p:extLst>
          </p:nvPr>
        </p:nvGraphicFramePr>
        <p:xfrm>
          <a:off x="752475" y="1081942"/>
          <a:ext cx="12752511" cy="8205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585"/>
                <a:gridCol w="5794945"/>
                <a:gridCol w="6099981"/>
              </a:tblGrid>
              <a:tr h="513736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S.N.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Process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Thread</a:t>
                      </a:r>
                    </a:p>
                  </a:txBody>
                  <a:tcPr marL="76200" marR="76200" marT="76200" marB="76200"/>
                </a:tc>
              </a:tr>
              <a:tr h="884767"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Process is heavy weight or resource intensive.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Thread is light weight, taking lesser resources than a process.</a:t>
                      </a:r>
                    </a:p>
                  </a:txBody>
                  <a:tcPr marL="76200" marR="76200" marT="76200" marB="76200"/>
                </a:tc>
              </a:tr>
              <a:tr h="884767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Process switching needs interaction with operating system.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Thread switching does not need to interact with operating system.</a:t>
                      </a:r>
                    </a:p>
                  </a:txBody>
                  <a:tcPr marL="76200" marR="76200" marT="76200" marB="76200"/>
                </a:tc>
              </a:tr>
              <a:tr h="1626830"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In multiple processing environments, each process executes the same code but has its own memory and file resources.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All threads can share same set of open files, child processes.</a:t>
                      </a:r>
                    </a:p>
                  </a:txBody>
                  <a:tcPr marL="76200" marR="76200" marT="76200" marB="76200"/>
                </a:tc>
              </a:tr>
              <a:tr h="1255799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If one process is blocked, then no other process can execute until the first process is unblocked.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While one thread is blocked and waiting, a second thread in the same task can run.</a:t>
                      </a:r>
                    </a:p>
                  </a:txBody>
                  <a:tcPr marL="76200" marR="76200" marT="76200" marB="76200"/>
                </a:tc>
              </a:tr>
              <a:tr h="884767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Multiple processes without using threads use more resources.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Multiple threaded processes use fewer resources.</a:t>
                      </a:r>
                    </a:p>
                  </a:txBody>
                  <a:tcPr marL="76200" marR="76200" marT="76200" marB="76200"/>
                </a:tc>
              </a:tr>
              <a:tr h="1255799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6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In multiple processes each process operates independently of the others.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One thread can read, write or change another thread's data.</a:t>
                      </a:r>
                    </a:p>
                  </a:txBody>
                  <a:tcPr marL="76200" marR="76200" marT="76200" marB="76200"/>
                </a:tc>
              </a:tr>
              <a:tr h="45665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2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22642"/>
            <a:ext cx="12344400" cy="768350"/>
          </a:xfrm>
        </p:spPr>
        <p:txBody>
          <a:bodyPr/>
          <a:lstStyle/>
          <a:p>
            <a:r>
              <a:rPr lang="en-IN" dirty="0" smtClean="0"/>
              <a:t>Why </a:t>
            </a:r>
            <a:r>
              <a:rPr lang="en-IN" dirty="0" err="1" smtClean="0"/>
              <a:t>Pthreads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462" y="1318846"/>
            <a:ext cx="12938613" cy="7367954"/>
          </a:xfrm>
        </p:spPr>
        <p:txBody>
          <a:bodyPr/>
          <a:lstStyle/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primary motivation for using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Pthreads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is to realize potential program performance gains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sz="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When compared to the cost of creating and managing a process, a thread can be created with much less operating system overhead. Managing threads requires fewer system resources than managing processes. </a:t>
            </a:r>
            <a:endParaRPr lang="en-IN" sz="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All threads within a process share the same address space. Inter-thread communication is more efficient and in many cases, easier to use than inter-process communication.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Threaded applications offer potential performance gains and practical advantages over non-threaded applications in several other ways: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Overlapping CPU work with I/O: For example, a program may have sections where it is performing a long I/O operation. While one thread is waiting for an I/O system call to complete, other threads can perform CPU intensive work.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Priority/real-time scheduling: tasks that are more important can be scheduled to supersede or interrupt lower priority tasks.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Multi-threaded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applications will work on a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uni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-processor system; yet naturally take advantage of a multiprocessor system, without recompiling. </a:t>
            </a:r>
          </a:p>
        </p:txBody>
      </p:sp>
    </p:spTree>
    <p:extLst>
      <p:ext uri="{BB962C8B-B14F-4D97-AF65-F5344CB8AC3E}">
        <p14:creationId xmlns:p14="http://schemas.microsoft.com/office/powerpoint/2010/main" val="393110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Java Threads</a:t>
            </a:r>
          </a:p>
        </p:txBody>
      </p:sp>
      <p:sp>
        <p:nvSpPr>
          <p:cNvPr id="6553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217613" y="1643063"/>
            <a:ext cx="10545762" cy="4130675"/>
          </a:xfrm>
        </p:spPr>
        <p:txBody>
          <a:bodyPr/>
          <a:lstStyle/>
          <a:p>
            <a:r>
              <a:rPr lang="en-US" smtClean="0"/>
              <a:t>Java threads are managed by the JVM</a:t>
            </a:r>
          </a:p>
          <a:p>
            <a:pPr>
              <a:buFont typeface="Monotype Sorts" charset="2"/>
              <a:buNone/>
            </a:pPr>
            <a:endParaRPr lang="en-US" smtClean="0"/>
          </a:p>
          <a:p>
            <a:r>
              <a:rPr lang="en-US" smtClean="0"/>
              <a:t>Typically implemented using the threads model provided by underlying OS</a:t>
            </a:r>
          </a:p>
          <a:p>
            <a:pPr>
              <a:buFont typeface="Monotype Sorts" charset="2"/>
              <a:buNone/>
            </a:pPr>
            <a:endParaRPr lang="en-US" smtClean="0"/>
          </a:p>
          <a:p>
            <a:r>
              <a:rPr lang="en-US" smtClean="0"/>
              <a:t>Java threads may be created by:</a:t>
            </a:r>
            <a:br>
              <a:rPr lang="en-US" smtClean="0"/>
            </a:br>
            <a:endParaRPr lang="en-US" smtClean="0"/>
          </a:p>
          <a:p>
            <a:pPr lvl="1"/>
            <a:r>
              <a:rPr lang="en-US" smtClean="0"/>
              <a:t>Extending Thread class</a:t>
            </a:r>
          </a:p>
          <a:p>
            <a:pPr lvl="1"/>
            <a:r>
              <a:rPr lang="en-US" smtClean="0"/>
              <a:t>Implementing the Runnable interface</a:t>
            </a:r>
            <a:br>
              <a:rPr lang="en-US" smtClean="0"/>
            </a:b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Threading Issues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75" y="1981200"/>
            <a:ext cx="11026775" cy="5976938"/>
          </a:xfrm>
        </p:spPr>
        <p:txBody>
          <a:bodyPr/>
          <a:lstStyle/>
          <a:p>
            <a:r>
              <a:rPr lang="en-US" smtClean="0"/>
              <a:t>Semantics of </a:t>
            </a:r>
            <a:r>
              <a:rPr lang="en-US" b="1" smtClean="0"/>
              <a:t>fork()</a:t>
            </a:r>
            <a:r>
              <a:rPr lang="en-US" smtClean="0"/>
              <a:t> and </a:t>
            </a:r>
            <a:r>
              <a:rPr lang="en-US" b="1" smtClean="0"/>
              <a:t>exec()</a:t>
            </a:r>
            <a:r>
              <a:rPr lang="en-US" smtClean="0"/>
              <a:t> system calls</a:t>
            </a:r>
          </a:p>
          <a:p>
            <a:endParaRPr lang="en-US" sz="1100" smtClean="0"/>
          </a:p>
          <a:p>
            <a:r>
              <a:rPr lang="en-US" b="1" smtClean="0">
                <a:solidFill>
                  <a:srgbClr val="3366FF"/>
                </a:solidFill>
              </a:rPr>
              <a:t>Thread cancellation</a:t>
            </a:r>
            <a:r>
              <a:rPr lang="en-US" smtClean="0">
                <a:solidFill>
                  <a:srgbClr val="3366FF"/>
                </a:solidFill>
              </a:rPr>
              <a:t> </a:t>
            </a:r>
            <a:r>
              <a:rPr lang="en-US" smtClean="0"/>
              <a:t>of </a:t>
            </a:r>
            <a:r>
              <a:rPr lang="en-US" b="1" smtClean="0">
                <a:solidFill>
                  <a:srgbClr val="3366FF"/>
                </a:solidFill>
              </a:rPr>
              <a:t>target thread</a:t>
            </a:r>
          </a:p>
          <a:p>
            <a:pPr lvl="1"/>
            <a:r>
              <a:rPr lang="en-US" smtClean="0"/>
              <a:t>Asynchronous or deferred</a:t>
            </a:r>
          </a:p>
          <a:p>
            <a:pPr lvl="1"/>
            <a:endParaRPr lang="en-US" sz="1100" smtClean="0"/>
          </a:p>
          <a:p>
            <a:r>
              <a:rPr lang="en-US" b="1" smtClean="0">
                <a:solidFill>
                  <a:srgbClr val="3366FF"/>
                </a:solidFill>
              </a:rPr>
              <a:t>Signal </a:t>
            </a:r>
            <a:r>
              <a:rPr lang="en-US" smtClean="0"/>
              <a:t>handling</a:t>
            </a:r>
          </a:p>
          <a:p>
            <a:pPr lvl="1"/>
            <a:r>
              <a:rPr lang="en-US" smtClean="0"/>
              <a:t>Synchronous and asynchronous</a:t>
            </a:r>
          </a:p>
          <a:p>
            <a:pPr lvl="1">
              <a:buFont typeface="Monotype Sorts" charset="2"/>
              <a:buNone/>
            </a:pPr>
            <a:endParaRPr lang="en-US" sz="11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Threading Issues (Cont.)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9088" y="1958975"/>
            <a:ext cx="11028362" cy="5976938"/>
          </a:xfrm>
        </p:spPr>
        <p:txBody>
          <a:bodyPr/>
          <a:lstStyle/>
          <a:p>
            <a:pPr>
              <a:buFont typeface="Monotype Sorts" charset="2"/>
              <a:buNone/>
            </a:pPr>
            <a:endParaRPr lang="en-US" sz="1100" smtClean="0"/>
          </a:p>
          <a:p>
            <a:r>
              <a:rPr lang="en-US" b="1" smtClean="0">
                <a:solidFill>
                  <a:srgbClr val="3366FF"/>
                </a:solidFill>
              </a:rPr>
              <a:t>Thread pools</a:t>
            </a:r>
          </a:p>
          <a:p>
            <a:r>
              <a:rPr lang="en-US" b="1" smtClean="0">
                <a:solidFill>
                  <a:srgbClr val="3366FF"/>
                </a:solidFill>
              </a:rPr>
              <a:t>Thread-specific data</a:t>
            </a:r>
          </a:p>
          <a:p>
            <a:pPr marL="979488" lvl="2" indent="-488950"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lang="en-US" smtClean="0"/>
              <a:t>Create Facility needed for data private to thread</a:t>
            </a:r>
            <a:endParaRPr lang="en-US" sz="1100" b="1" smtClean="0">
              <a:solidFill>
                <a:srgbClr val="3366FF"/>
              </a:solidFill>
            </a:endParaRPr>
          </a:p>
          <a:p>
            <a:r>
              <a:rPr lang="en-US" b="1" smtClean="0">
                <a:solidFill>
                  <a:srgbClr val="3366FF"/>
                </a:solidFill>
              </a:rPr>
              <a:t>Scheduler activations</a:t>
            </a:r>
          </a:p>
          <a:p>
            <a:pPr>
              <a:buFont typeface="Monotype Sorts" charset="2"/>
              <a:buNone/>
            </a:pPr>
            <a:endParaRPr lang="en-US" b="1" smtClean="0">
              <a:solidFill>
                <a:srgbClr val="3366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69888"/>
            <a:ext cx="11353800" cy="768350"/>
          </a:xfrm>
        </p:spPr>
        <p:txBody>
          <a:bodyPr/>
          <a:lstStyle/>
          <a:p>
            <a:pPr eaLnBrk="1" hangingPunct="1"/>
            <a:r>
              <a:rPr lang="en-US" smtClean="0"/>
              <a:t>Semantics of fork() and exec()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Does </a:t>
            </a:r>
            <a:r>
              <a:rPr lang="en-US" b="1" smtClean="0"/>
              <a:t>fork()</a:t>
            </a:r>
            <a:r>
              <a:rPr lang="en-US" smtClean="0"/>
              <a:t> duplicate only the calling thread or all threads?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622425" y="369888"/>
            <a:ext cx="11407775" cy="768350"/>
          </a:xfrm>
        </p:spPr>
        <p:txBody>
          <a:bodyPr/>
          <a:lstStyle/>
          <a:p>
            <a:pPr eaLnBrk="1" hangingPunct="1"/>
            <a:r>
              <a:rPr lang="en-US" smtClean="0"/>
              <a:t>Thread Cancellation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912938"/>
            <a:ext cx="11107738" cy="5908675"/>
          </a:xfrm>
        </p:spPr>
        <p:txBody>
          <a:bodyPr/>
          <a:lstStyle/>
          <a:p>
            <a:r>
              <a:rPr lang="en-US" smtClean="0"/>
              <a:t>Terminating a thread before it has finished</a:t>
            </a:r>
          </a:p>
          <a:p>
            <a:endParaRPr lang="en-US" smtClean="0"/>
          </a:p>
          <a:p>
            <a:r>
              <a:rPr lang="en-US" smtClean="0"/>
              <a:t>Two general approaches:</a:t>
            </a:r>
          </a:p>
          <a:p>
            <a:pPr lvl="1"/>
            <a:r>
              <a:rPr lang="en-US" b="1" smtClean="0"/>
              <a:t>Asynchronous cancellation</a:t>
            </a:r>
            <a:r>
              <a:rPr lang="en-US" smtClean="0"/>
              <a:t> terminates the target thread immediately.</a:t>
            </a:r>
          </a:p>
          <a:p>
            <a:pPr lvl="1"/>
            <a:r>
              <a:rPr lang="en-US" b="1" smtClean="0"/>
              <a:t>Deferred cancellation</a:t>
            </a:r>
            <a:r>
              <a:rPr lang="en-US" smtClean="0"/>
              <a:t> allows the target thread to periodically check if it should be cancelled.</a:t>
            </a:r>
          </a:p>
          <a:p>
            <a:pPr lvl="1">
              <a:buFont typeface="Monotype Sorts" charset="2"/>
              <a:buNone/>
            </a:pPr>
            <a:endParaRPr lang="en-US" smtClean="0"/>
          </a:p>
          <a:p>
            <a:pPr lvl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69888"/>
            <a:ext cx="11277600" cy="768350"/>
          </a:xfrm>
        </p:spPr>
        <p:txBody>
          <a:bodyPr/>
          <a:lstStyle/>
          <a:p>
            <a:pPr eaLnBrk="1" hangingPunct="1"/>
            <a:r>
              <a:rPr lang="en-US" smtClean="0"/>
              <a:t>Signal Handling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862138"/>
            <a:ext cx="11441113" cy="6540500"/>
          </a:xfrm>
        </p:spPr>
        <p:txBody>
          <a:bodyPr/>
          <a:lstStyle/>
          <a:p>
            <a:pPr marL="542925" indent="-542925"/>
            <a:r>
              <a:rPr lang="en-US" smtClean="0"/>
              <a:t>Signals are used in UNIX systems to notify a process that a particular event has occurred.</a:t>
            </a:r>
          </a:p>
          <a:p>
            <a:pPr marL="542925" indent="-542925"/>
            <a:endParaRPr lang="en-US" sz="1100" smtClean="0"/>
          </a:p>
          <a:p>
            <a:pPr marL="542925" indent="-542925"/>
            <a:r>
              <a:rPr lang="en-US" smtClean="0"/>
              <a:t>A </a:t>
            </a:r>
            <a:r>
              <a:rPr lang="en-US" b="1" smtClean="0">
                <a:solidFill>
                  <a:srgbClr val="3366FF"/>
                </a:solidFill>
              </a:rPr>
              <a:t>signal handler</a:t>
            </a:r>
            <a:r>
              <a:rPr lang="en-US" smtClean="0">
                <a:solidFill>
                  <a:srgbClr val="3366FF"/>
                </a:solidFill>
              </a:rPr>
              <a:t> </a:t>
            </a:r>
            <a:r>
              <a:rPr lang="en-US" smtClean="0"/>
              <a:t>is used to process signals</a:t>
            </a:r>
          </a:p>
          <a:p>
            <a:pPr marL="1141413" lvl="1" indent="-488950">
              <a:buFont typeface="Webdings" charset="2"/>
              <a:buAutoNum type="arabicPeriod"/>
            </a:pPr>
            <a:r>
              <a:rPr lang="en-US" smtClean="0"/>
              <a:t>Signal is generated by particular event</a:t>
            </a:r>
          </a:p>
          <a:p>
            <a:pPr marL="1141413" lvl="1" indent="-488950">
              <a:buFont typeface="Webdings" charset="2"/>
              <a:buAutoNum type="arabicPeriod"/>
            </a:pPr>
            <a:r>
              <a:rPr lang="en-US" smtClean="0"/>
              <a:t>Signal is delivered to a process</a:t>
            </a:r>
          </a:p>
          <a:p>
            <a:pPr marL="1141413" lvl="1" indent="-488950">
              <a:buFont typeface="Webdings" charset="2"/>
              <a:buAutoNum type="arabicPeriod"/>
            </a:pPr>
            <a:r>
              <a:rPr lang="en-US" smtClean="0"/>
              <a:t>Signal is handled</a:t>
            </a:r>
          </a:p>
          <a:p>
            <a:pPr marL="1141413" lvl="1" indent="-488950">
              <a:buFont typeface="Webdings" charset="2"/>
              <a:buAutoNum type="arabicPeriod"/>
            </a:pPr>
            <a:endParaRPr lang="en-US" sz="1100" smtClean="0"/>
          </a:p>
          <a:p>
            <a:pPr marL="542925" indent="-542925"/>
            <a:r>
              <a:rPr lang="en-US" smtClean="0"/>
              <a:t>Options:</a:t>
            </a:r>
          </a:p>
          <a:p>
            <a:pPr marL="1141413" lvl="1" indent="-488950"/>
            <a:r>
              <a:rPr lang="en-US" smtClean="0"/>
              <a:t>Deliver the signal to the thread to which the signal applies</a:t>
            </a:r>
          </a:p>
          <a:p>
            <a:pPr marL="1141413" lvl="1" indent="-488950"/>
            <a:r>
              <a:rPr lang="en-US" smtClean="0"/>
              <a:t>Deliver the signal to every thread in the process</a:t>
            </a:r>
          </a:p>
          <a:p>
            <a:pPr marL="1141413" lvl="1" indent="-488950"/>
            <a:r>
              <a:rPr lang="en-US" smtClean="0"/>
              <a:t>Deliver the signal to certain threads in the process</a:t>
            </a:r>
          </a:p>
          <a:p>
            <a:pPr marL="1141413" lvl="1" indent="-488950"/>
            <a:r>
              <a:rPr lang="en-US" smtClean="0"/>
              <a:t>Assign a specific thread to receive all signals for the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Thread Pools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47463" cy="5970588"/>
          </a:xfrm>
        </p:spPr>
        <p:txBody>
          <a:bodyPr/>
          <a:lstStyle/>
          <a:p>
            <a:r>
              <a:rPr lang="en-US" smtClean="0"/>
              <a:t>Create a number of threads in a pool where they await work</a:t>
            </a:r>
          </a:p>
          <a:p>
            <a:endParaRPr lang="en-US" smtClean="0"/>
          </a:p>
          <a:p>
            <a:r>
              <a:rPr lang="en-US" smtClean="0"/>
              <a:t>Advantages:</a:t>
            </a:r>
          </a:p>
          <a:p>
            <a:pPr lvl="1"/>
            <a:r>
              <a:rPr lang="en-US" smtClean="0"/>
              <a:t>Usually slightly faster to service a request with an existing thread than create a new thread</a:t>
            </a:r>
          </a:p>
          <a:p>
            <a:pPr lvl="1"/>
            <a:r>
              <a:rPr lang="en-US" smtClean="0"/>
              <a:t>Allows the number of threads in the application(s) to be bound to the size of the pool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Thread Specific Data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80813" cy="5970588"/>
          </a:xfrm>
        </p:spPr>
        <p:txBody>
          <a:bodyPr/>
          <a:lstStyle/>
          <a:p>
            <a:r>
              <a:rPr lang="en-US" smtClean="0"/>
              <a:t>Allows each thread to have its own copy of data</a:t>
            </a:r>
          </a:p>
          <a:p>
            <a:endParaRPr lang="en-US" smtClean="0"/>
          </a:p>
          <a:p>
            <a:r>
              <a:rPr lang="en-US" smtClean="0"/>
              <a:t>Useful when you do not have control over the thread creation process (i.e., when using a thread pool)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Scheduler Activations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04575" cy="5989638"/>
          </a:xfrm>
        </p:spPr>
        <p:txBody>
          <a:bodyPr/>
          <a:lstStyle/>
          <a:p>
            <a:r>
              <a:rPr lang="en-US" smtClean="0"/>
              <a:t>Both M:M and Two-level models require communication to maintain the appropriate number of kernel threads allocated to the application</a:t>
            </a:r>
          </a:p>
          <a:p>
            <a:endParaRPr lang="en-US" smtClean="0"/>
          </a:p>
          <a:p>
            <a:r>
              <a:rPr lang="en-US" smtClean="0"/>
              <a:t>Scheduler activations provide </a:t>
            </a:r>
            <a:r>
              <a:rPr lang="en-US" b="1" smtClean="0">
                <a:solidFill>
                  <a:srgbClr val="3366FF"/>
                </a:solidFill>
              </a:rPr>
              <a:t>upcalls</a:t>
            </a:r>
            <a:r>
              <a:rPr lang="en-US" smtClean="0">
                <a:solidFill>
                  <a:srgbClr val="3366FF"/>
                </a:solidFill>
              </a:rPr>
              <a:t> </a:t>
            </a:r>
            <a:r>
              <a:rPr lang="en-US" smtClean="0"/>
              <a:t>- a communication mechanism from the kernel to the thread library</a:t>
            </a:r>
          </a:p>
          <a:p>
            <a:endParaRPr lang="en-US" smtClean="0"/>
          </a:p>
          <a:p>
            <a:r>
              <a:rPr lang="en-US" smtClean="0"/>
              <a:t>This communication allows an application to maintain the correct number kernel threads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Lightweight Processes</a:t>
            </a:r>
          </a:p>
        </p:txBody>
      </p:sp>
      <p:pic>
        <p:nvPicPr>
          <p:cNvPr id="86019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52938" y="1955800"/>
            <a:ext cx="4646612" cy="373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19238" y="369888"/>
            <a:ext cx="11510962" cy="768350"/>
          </a:xfrm>
        </p:spPr>
        <p:txBody>
          <a:bodyPr/>
          <a:lstStyle/>
          <a:p>
            <a:pPr eaLnBrk="1" hangingPunct="1"/>
            <a:r>
              <a:rPr lang="en-US" smtClean="0"/>
              <a:t>Operating System Examples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09675" y="1644650"/>
            <a:ext cx="11204575" cy="5989638"/>
          </a:xfrm>
        </p:spPr>
        <p:txBody>
          <a:bodyPr/>
          <a:lstStyle/>
          <a:p>
            <a:r>
              <a:rPr lang="en-US" smtClean="0"/>
              <a:t>Windows XP Threads</a:t>
            </a:r>
          </a:p>
          <a:p>
            <a:endParaRPr lang="en-US" smtClean="0"/>
          </a:p>
          <a:p>
            <a:r>
              <a:rPr lang="en-US" smtClean="0"/>
              <a:t>Linux Thread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Linux Threads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947863"/>
            <a:ext cx="11345863" cy="5994400"/>
          </a:xfrm>
        </p:spPr>
        <p:txBody>
          <a:bodyPr/>
          <a:lstStyle/>
          <a:p>
            <a:r>
              <a:rPr lang="en-US" smtClean="0"/>
              <a:t>Linux refers to them as </a:t>
            </a:r>
            <a:r>
              <a:rPr lang="en-US" i="1" smtClean="0"/>
              <a:t>tasks</a:t>
            </a:r>
            <a:r>
              <a:rPr lang="en-US" smtClean="0"/>
              <a:t> rather than </a:t>
            </a:r>
            <a:r>
              <a:rPr lang="en-US" i="1" smtClean="0"/>
              <a:t>threads</a:t>
            </a:r>
          </a:p>
          <a:p>
            <a:pPr>
              <a:buFont typeface="Monotype Sorts" charset="2"/>
              <a:buNone/>
            </a:pPr>
            <a:endParaRPr lang="en-US" smtClean="0"/>
          </a:p>
          <a:p>
            <a:r>
              <a:rPr lang="en-US" smtClean="0"/>
              <a:t>Thread creation is done through </a:t>
            </a:r>
            <a:r>
              <a:rPr lang="en-US" smtClean="0">
                <a:latin typeface="Courier New" charset="0"/>
                <a:cs typeface="Courier New" charset="0"/>
              </a:rPr>
              <a:t>clone() </a:t>
            </a:r>
            <a:r>
              <a:rPr lang="en-US" smtClean="0"/>
              <a:t>system call</a:t>
            </a:r>
          </a:p>
          <a:p>
            <a:pPr>
              <a:buFont typeface="Monotype Sorts" charset="2"/>
              <a:buNone/>
            </a:pPr>
            <a:endParaRPr lang="en-US" smtClean="0"/>
          </a:p>
          <a:p>
            <a:r>
              <a:rPr lang="en-US" smtClean="0">
                <a:latin typeface="Courier New" charset="0"/>
                <a:cs typeface="Courier New" charset="0"/>
              </a:rPr>
              <a:t>clone() </a:t>
            </a:r>
            <a:r>
              <a:rPr lang="en-US" smtClean="0"/>
              <a:t>allows a child task to share the address space of the parent task (process)</a:t>
            </a:r>
          </a:p>
          <a:p>
            <a:endParaRPr lang="en-US" smtClean="0">
              <a:latin typeface="Courier New" charset="0"/>
              <a:cs typeface="Courier New" charset="0"/>
            </a:endParaRPr>
          </a:p>
          <a:p>
            <a:r>
              <a:rPr lang="en-US" smtClean="0">
                <a:latin typeface="Courier New" charset="0"/>
                <a:cs typeface="Courier New" charset="0"/>
              </a:rPr>
              <a:t>struct task_struct </a:t>
            </a:r>
            <a:r>
              <a:rPr lang="en-US" smtClean="0">
                <a:cs typeface="Courier New" charset="0"/>
              </a:rPr>
              <a:t>points to process data structures (shared or unique)</a:t>
            </a:r>
            <a:endParaRPr lang="en-US" smtClean="0">
              <a:latin typeface="Courier New" charset="0"/>
              <a:cs typeface="Courier New" charset="0"/>
            </a:endParaRPr>
          </a:p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Linux Threads</a:t>
            </a:r>
          </a:p>
        </p:txBody>
      </p:sp>
      <p:pic>
        <p:nvPicPr>
          <p:cNvPr id="95235" name="Picture 7" descr="in-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47925" y="4845050"/>
            <a:ext cx="9107488" cy="294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698625" y="1362075"/>
            <a:ext cx="10515600" cy="1903413"/>
          </a:xfrm>
          <a:prstGeom prst="rect">
            <a:avLst/>
          </a:prstGeom>
          <a:noFill/>
        </p:spPr>
        <p:txBody>
          <a:bodyPr lIns="130622" tIns="65311" rIns="130622" bIns="65311">
            <a:spAutoFit/>
          </a:bodyPr>
          <a:lstStyle/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Courier New" charset="0"/>
                <a:cs typeface="Courier New" charset="0"/>
              </a:rPr>
              <a:t>fork() </a:t>
            </a:r>
            <a:r>
              <a:rPr kumimoji="1" lang="en-US">
                <a:latin typeface="Helvetica" charset="0"/>
              </a:rPr>
              <a:t>and </a:t>
            </a:r>
            <a:r>
              <a:rPr kumimoji="1" lang="en-US">
                <a:latin typeface="Courier New" charset="0"/>
                <a:cs typeface="Courier New" charset="0"/>
              </a:rPr>
              <a:t>clone()</a:t>
            </a:r>
            <a:r>
              <a:rPr kumimoji="1" lang="en-US">
                <a:latin typeface="Helvetica" charset="0"/>
              </a:rPr>
              <a:t> system calls</a:t>
            </a: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Helvetica" charset="0"/>
              </a:rPr>
              <a:t>Doesn’t distinguish between process and thread</a:t>
            </a:r>
          </a:p>
          <a:p>
            <a:pPr marL="1141413" lvl="1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Helvetica" charset="0"/>
              </a:rPr>
              <a:t>Uses term </a:t>
            </a:r>
            <a:r>
              <a:rPr kumimoji="1" lang="en-US" i="1">
                <a:latin typeface="Helvetica" charset="0"/>
              </a:rPr>
              <a:t>task </a:t>
            </a:r>
            <a:r>
              <a:rPr kumimoji="1" lang="en-US">
                <a:latin typeface="Helvetica" charset="0"/>
              </a:rPr>
              <a:t>rather than thread</a:t>
            </a:r>
            <a:r>
              <a:rPr lang="en-US"/>
              <a:t> </a:t>
            </a: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Courier New" charset="0"/>
                <a:cs typeface="Courier New" charset="0"/>
              </a:rPr>
              <a:t>clone() </a:t>
            </a:r>
            <a:r>
              <a:rPr kumimoji="1" lang="en-US">
                <a:latin typeface="Helvetica" charset="0"/>
                <a:cs typeface="Courier New" charset="0"/>
              </a:rPr>
              <a:t>takes options to determine sharing on process create</a:t>
            </a: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Courier New" charset="0"/>
                <a:cs typeface="Courier New" charset="0"/>
              </a:rPr>
              <a:t>struct task_struct </a:t>
            </a:r>
            <a:r>
              <a:rPr kumimoji="1" lang="en-US">
                <a:latin typeface="Helvetica" charset="0"/>
                <a:cs typeface="Courier New" charset="0"/>
              </a:rPr>
              <a:t>points to process data structures (shared or unique)</a:t>
            </a:r>
            <a:endParaRPr kumimoji="1" lang="en-US">
              <a:latin typeface="Courier New" charset="0"/>
              <a:cs typeface="Courier New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2198</TotalTime>
  <Words>1496</Words>
  <Application>Microsoft Office PowerPoint</Application>
  <PresentationFormat>Custom</PresentationFormat>
  <Paragraphs>262</Paragraphs>
  <Slides>38</Slides>
  <Notes>32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os-8</vt:lpstr>
      <vt:lpstr>Threads</vt:lpstr>
      <vt:lpstr>Objectives</vt:lpstr>
      <vt:lpstr>Motivation</vt:lpstr>
      <vt:lpstr>PowerPoint Presentation</vt:lpstr>
      <vt:lpstr>PowerPoint Presentation</vt:lpstr>
      <vt:lpstr>Single and Multithreaded Processes</vt:lpstr>
      <vt:lpstr>Benefits</vt:lpstr>
      <vt:lpstr>Multicore Programming</vt:lpstr>
      <vt:lpstr>Multithreaded Server Architecture</vt:lpstr>
      <vt:lpstr>Concurrent Execution on a  Single-core System</vt:lpstr>
      <vt:lpstr>Parallel Execution on a  Multicore System</vt:lpstr>
      <vt:lpstr>User Threads</vt:lpstr>
      <vt:lpstr>Kernel Threads</vt:lpstr>
      <vt:lpstr>Multithreading Models</vt:lpstr>
      <vt:lpstr>Many-to-One</vt:lpstr>
      <vt:lpstr>Many-to-One Model</vt:lpstr>
      <vt:lpstr>One-to-One</vt:lpstr>
      <vt:lpstr>One-to-one Model</vt:lpstr>
      <vt:lpstr>Many-to-Many Model</vt:lpstr>
      <vt:lpstr>Many-to-Many Model</vt:lpstr>
      <vt:lpstr>Two-level Model</vt:lpstr>
      <vt:lpstr>Two-level Model</vt:lpstr>
      <vt:lpstr>Thread Libraries</vt:lpstr>
      <vt:lpstr>Comparison Between Process and Threads</vt:lpstr>
      <vt:lpstr>Why Pthreads</vt:lpstr>
      <vt:lpstr>Java Threads</vt:lpstr>
      <vt:lpstr>Threading Issues</vt:lpstr>
      <vt:lpstr>Threading Issues (Cont.)</vt:lpstr>
      <vt:lpstr>Semantics of fork() and exec()</vt:lpstr>
      <vt:lpstr>Thread Cancellation</vt:lpstr>
      <vt:lpstr>Signal Handling</vt:lpstr>
      <vt:lpstr>Thread Pools</vt:lpstr>
      <vt:lpstr>Thread Specific Data</vt:lpstr>
      <vt:lpstr>Scheduler Activations</vt:lpstr>
      <vt:lpstr>Lightweight Processes</vt:lpstr>
      <vt:lpstr>Operating System Examples</vt:lpstr>
      <vt:lpstr>Linux Threads</vt:lpstr>
      <vt:lpstr>Linux Threads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5.01</dc:title>
  <dc:creator>Marilyn Turnamian</dc:creator>
  <cp:lastModifiedBy>Admin</cp:lastModifiedBy>
  <cp:revision>205</cp:revision>
  <cp:lastPrinted>2011-01-26T17:51:27Z</cp:lastPrinted>
  <dcterms:created xsi:type="dcterms:W3CDTF">2011-01-26T16:51:35Z</dcterms:created>
  <dcterms:modified xsi:type="dcterms:W3CDTF">2023-05-08T17:03:53Z</dcterms:modified>
</cp:coreProperties>
</file>