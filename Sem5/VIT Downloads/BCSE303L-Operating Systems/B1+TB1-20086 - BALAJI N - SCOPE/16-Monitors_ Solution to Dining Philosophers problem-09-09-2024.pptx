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4" r:id="rId1"/>
  </p:sldMasterIdLst>
  <p:notesMasterIdLst>
    <p:notesMasterId r:id="rId34"/>
  </p:notesMasterIdLst>
  <p:handoutMasterIdLst>
    <p:handoutMasterId r:id="rId35"/>
  </p:handoutMasterIdLst>
  <p:sldIdLst>
    <p:sldId id="331" r:id="rId2"/>
    <p:sldId id="332" r:id="rId3"/>
    <p:sldId id="384" r:id="rId4"/>
    <p:sldId id="428" r:id="rId5"/>
    <p:sldId id="385" r:id="rId6"/>
    <p:sldId id="429" r:id="rId7"/>
    <p:sldId id="386" r:id="rId8"/>
    <p:sldId id="430" r:id="rId9"/>
    <p:sldId id="431" r:id="rId10"/>
    <p:sldId id="432" r:id="rId11"/>
    <p:sldId id="433" r:id="rId12"/>
    <p:sldId id="434" r:id="rId13"/>
    <p:sldId id="435" r:id="rId14"/>
    <p:sldId id="436" r:id="rId15"/>
    <p:sldId id="437" r:id="rId16"/>
    <p:sldId id="438" r:id="rId17"/>
    <p:sldId id="439" r:id="rId18"/>
    <p:sldId id="440" r:id="rId19"/>
    <p:sldId id="441" r:id="rId20"/>
    <p:sldId id="442" r:id="rId21"/>
    <p:sldId id="443" r:id="rId22"/>
    <p:sldId id="444" r:id="rId23"/>
    <p:sldId id="445" r:id="rId24"/>
    <p:sldId id="446" r:id="rId25"/>
    <p:sldId id="447" r:id="rId26"/>
    <p:sldId id="448" r:id="rId27"/>
    <p:sldId id="423" r:id="rId28"/>
    <p:sldId id="424" r:id="rId29"/>
    <p:sldId id="426" r:id="rId30"/>
    <p:sldId id="427" r:id="rId31"/>
    <p:sldId id="404" r:id="rId32"/>
    <p:sldId id="362" r:id="rId33"/>
  </p:sldIdLst>
  <p:sldSz cx="9144000" cy="6858000" type="screen4x3"/>
  <p:notesSz cx="70104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1pPr>
    <a:lvl2pPr marL="455613" indent="1588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2pPr>
    <a:lvl3pPr marL="912813" indent="1588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3pPr>
    <a:lvl4pPr marL="1370013" indent="1588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4pPr>
    <a:lvl5pPr marL="1827213" indent="1588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816">
          <p15:clr>
            <a:srgbClr val="A4A3A4"/>
          </p15:clr>
        </p15:guide>
        <p15:guide id="2" pos="440">
          <p15:clr>
            <a:srgbClr val="A4A3A4"/>
          </p15:clr>
        </p15:guide>
      </p15:sldGuideLst>
    </p:ext>
    <p:ext uri="{2D200454-40CA-4A62-9FC3-DE9A4176ACB9}">
      <p15:notes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CCECFF"/>
    <a:srgbClr val="66CCFF"/>
    <a:srgbClr val="CCFFFF"/>
    <a:srgbClr val="F8F8F8"/>
    <a:srgbClr val="EAEAEA"/>
    <a:srgbClr val="CC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6"/>
    <p:restoredTop sz="94635"/>
  </p:normalViewPr>
  <p:slideViewPr>
    <p:cSldViewPr snapToGrid="0">
      <p:cViewPr>
        <p:scale>
          <a:sx n="72" d="100"/>
          <a:sy n="72" d="100"/>
        </p:scale>
        <p:origin x="-1242" y="12"/>
      </p:cViewPr>
      <p:guideLst>
        <p:guide orient="horz" pos="816"/>
        <p:guide pos="4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9" d="100"/>
        <a:sy n="79" d="100"/>
      </p:scale>
      <p:origin x="0" y="-2898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="" xmlns:a16="http://schemas.microsoft.com/office/drawing/2014/main" id="{C8C8C3F6-D6EC-4454-AED8-151D4118C8A6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3400" cy="442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8261" tIns="44132" rIns="88261" bIns="44132" numCol="1" anchor="ctr" anchorCtr="0" compatLnSpc="1">
            <a:prstTxWarp prst="textNoShape">
              <a:avLst/>
            </a:prstTxWarp>
          </a:bodyPr>
          <a:lstStyle>
            <a:lvl1pPr defTabSz="882650">
              <a:defRPr sz="1100">
                <a:latin typeface="Helvetica" panose="020B0604020202020204" pitchFamily="34" charset="0"/>
              </a:defRPr>
            </a:lvl1pPr>
          </a:lstStyle>
          <a:p>
            <a:endParaRPr lang="en-US" altLang="en-US"/>
          </a:p>
        </p:txBody>
      </p:sp>
      <p:sp>
        <p:nvSpPr>
          <p:cNvPr id="46083" name="Rectangle 3">
            <a:extLst>
              <a:ext uri="{FF2B5EF4-FFF2-40B4-BE49-F238E27FC236}">
                <a16:creationId xmlns="" xmlns:a16="http://schemas.microsoft.com/office/drawing/2014/main" id="{FB8B47E2-82CE-4363-8A39-5A4F2B6CC18F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51288" y="0"/>
            <a:ext cx="3071812" cy="442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8261" tIns="44132" rIns="88261" bIns="44132" numCol="1" anchor="ctr" anchorCtr="0" compatLnSpc="1">
            <a:prstTxWarp prst="textNoShape">
              <a:avLst/>
            </a:prstTxWarp>
          </a:bodyPr>
          <a:lstStyle>
            <a:lvl1pPr algn="r" defTabSz="882650">
              <a:defRPr sz="1100">
                <a:latin typeface="Helvetica" panose="020B0604020202020204" pitchFamily="34" charset="0"/>
              </a:defRPr>
            </a:lvl1pPr>
          </a:lstStyle>
          <a:p>
            <a:endParaRPr lang="en-US" altLang="en-US"/>
          </a:p>
        </p:txBody>
      </p:sp>
      <p:sp>
        <p:nvSpPr>
          <p:cNvPr id="46084" name="Rectangle 4">
            <a:extLst>
              <a:ext uri="{FF2B5EF4-FFF2-40B4-BE49-F238E27FC236}">
                <a16:creationId xmlns="" xmlns:a16="http://schemas.microsoft.com/office/drawing/2014/main" id="{8985D904-943B-4701-BDB6-5864BE7D22F0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66188"/>
            <a:ext cx="3073400" cy="442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8261" tIns="44132" rIns="88261" bIns="44132" numCol="1" anchor="b" anchorCtr="0" compatLnSpc="1">
            <a:prstTxWarp prst="textNoShape">
              <a:avLst/>
            </a:prstTxWarp>
          </a:bodyPr>
          <a:lstStyle>
            <a:lvl1pPr defTabSz="882650">
              <a:defRPr sz="1100">
                <a:latin typeface="Helvetica" panose="020B0604020202020204" pitchFamily="34" charset="0"/>
              </a:defRPr>
            </a:lvl1pPr>
          </a:lstStyle>
          <a:p>
            <a:endParaRPr lang="en-US" altLang="en-US"/>
          </a:p>
        </p:txBody>
      </p:sp>
      <p:sp>
        <p:nvSpPr>
          <p:cNvPr id="46085" name="Rectangle 5">
            <a:extLst>
              <a:ext uri="{FF2B5EF4-FFF2-40B4-BE49-F238E27FC236}">
                <a16:creationId xmlns="" xmlns:a16="http://schemas.microsoft.com/office/drawing/2014/main" id="{77B09886-4C66-4DC0-99B1-7CCC79211BDE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51288" y="8866188"/>
            <a:ext cx="3071812" cy="442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8261" tIns="44132" rIns="88261" bIns="44132" numCol="1" anchor="b" anchorCtr="0" compatLnSpc="1">
            <a:prstTxWarp prst="textNoShape">
              <a:avLst/>
            </a:prstTxWarp>
          </a:bodyPr>
          <a:lstStyle>
            <a:lvl1pPr algn="r" defTabSz="882650">
              <a:defRPr sz="1100">
                <a:latin typeface="Helvetica" panose="020B0604020202020204" pitchFamily="34" charset="0"/>
                <a:ea typeface="MS PGothic" panose="020B0600070205080204" pitchFamily="34" charset="-128"/>
              </a:defRPr>
            </a:lvl1pPr>
          </a:lstStyle>
          <a:p>
            <a:pPr>
              <a:defRPr/>
            </a:pPr>
            <a:fld id="{EAED9E23-4007-4CE0-B9FA-1CB7C3B0E50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5292065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="" xmlns:a16="http://schemas.microsoft.com/office/drawing/2014/main" id="{CB6FEA57-E60B-48C6-8E0B-0D3E2B90857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6888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60" tIns="46580" rIns="93160" bIns="46580" numCol="1" anchor="ctr" anchorCtr="0" compatLnSpc="1">
            <a:prstTxWarp prst="textNoShape">
              <a:avLst/>
            </a:prstTxWarp>
          </a:bodyPr>
          <a:lstStyle>
            <a:lvl1pPr defTabSz="930275">
              <a:defRPr sz="1200">
                <a:latin typeface="Times New Roman" panose="02020603050405020304" pitchFamily="18" charset="0"/>
              </a:defRPr>
            </a:lvl1pPr>
          </a:lstStyle>
          <a:p>
            <a:endParaRPr lang="en-US" altLang="en-US"/>
          </a:p>
        </p:txBody>
      </p:sp>
      <p:sp>
        <p:nvSpPr>
          <p:cNvPr id="6147" name="Rectangle 3">
            <a:extLst>
              <a:ext uri="{FF2B5EF4-FFF2-40B4-BE49-F238E27FC236}">
                <a16:creationId xmlns="" xmlns:a16="http://schemas.microsoft.com/office/drawing/2014/main" id="{6B9BA4C6-A2CE-4EDE-A987-C89469DACF18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973513" y="0"/>
            <a:ext cx="3036887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60" tIns="46580" rIns="93160" bIns="46580" numCol="1" anchor="ctr" anchorCtr="0" compatLnSpc="1">
            <a:prstTxWarp prst="textNoShape">
              <a:avLst/>
            </a:prstTxWarp>
          </a:bodyPr>
          <a:lstStyle>
            <a:lvl1pPr algn="r" defTabSz="930275">
              <a:defRPr sz="1200">
                <a:latin typeface="Times New Roman" panose="02020603050405020304" pitchFamily="18" charset="0"/>
              </a:defRPr>
            </a:lvl1pPr>
          </a:lstStyle>
          <a:p>
            <a:endParaRPr lang="en-US" altLang="en-US"/>
          </a:p>
        </p:txBody>
      </p:sp>
      <p:sp>
        <p:nvSpPr>
          <p:cNvPr id="3076" name="Rectangle 4">
            <a:extLst>
              <a:ext uri="{FF2B5EF4-FFF2-40B4-BE49-F238E27FC236}">
                <a16:creationId xmlns="" xmlns:a16="http://schemas.microsoft.com/office/drawing/2014/main" id="{A0A16516-4161-4E77-A9DD-6C7EC92E2145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1100" y="698500"/>
            <a:ext cx="4649788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>
            <a:extLst>
              <a:ext uri="{FF2B5EF4-FFF2-40B4-BE49-F238E27FC236}">
                <a16:creationId xmlns="" xmlns:a16="http://schemas.microsoft.com/office/drawing/2014/main" id="{2B08562F-F4D9-42CE-8D67-E7A9840A07DD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5038" y="4416425"/>
            <a:ext cx="5140325" cy="4181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60" tIns="46580" rIns="93160" bIns="4658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150" name="Rectangle 6">
            <a:extLst>
              <a:ext uri="{FF2B5EF4-FFF2-40B4-BE49-F238E27FC236}">
                <a16:creationId xmlns="" xmlns:a16="http://schemas.microsoft.com/office/drawing/2014/main" id="{66BBE589-20BB-4D23-905B-F9CA800E4FA8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2850"/>
            <a:ext cx="3036888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60" tIns="46580" rIns="93160" bIns="46580" numCol="1" anchor="b" anchorCtr="0" compatLnSpc="1">
            <a:prstTxWarp prst="textNoShape">
              <a:avLst/>
            </a:prstTxWarp>
          </a:bodyPr>
          <a:lstStyle>
            <a:lvl1pPr defTabSz="930275">
              <a:defRPr sz="1200">
                <a:latin typeface="Times New Roman" panose="02020603050405020304" pitchFamily="18" charset="0"/>
              </a:defRPr>
            </a:lvl1pPr>
          </a:lstStyle>
          <a:p>
            <a:endParaRPr lang="en-US" altLang="en-US"/>
          </a:p>
        </p:txBody>
      </p:sp>
      <p:sp>
        <p:nvSpPr>
          <p:cNvPr id="6151" name="Rectangle 7">
            <a:extLst>
              <a:ext uri="{FF2B5EF4-FFF2-40B4-BE49-F238E27FC236}">
                <a16:creationId xmlns="" xmlns:a16="http://schemas.microsoft.com/office/drawing/2014/main" id="{A201015B-FDFC-46CC-A1D5-58B217CE07F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3513" y="8832850"/>
            <a:ext cx="3036887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60" tIns="46580" rIns="93160" bIns="46580" numCol="1" anchor="b" anchorCtr="0" compatLnSpc="1">
            <a:prstTxWarp prst="textNoShape">
              <a:avLst/>
            </a:prstTxWarp>
          </a:bodyPr>
          <a:lstStyle>
            <a:lvl1pPr algn="r" defTabSz="930275">
              <a:defRPr sz="1200"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</a:lstStyle>
          <a:p>
            <a:pPr>
              <a:defRPr/>
            </a:pPr>
            <a:fld id="{0B26353B-46D8-44BD-A369-9C247476639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9535002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MS PGothic" charset="0"/>
      </a:defRPr>
    </a:lvl1pPr>
    <a:lvl2pPr marL="455613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MS PGothic" charset="0"/>
      </a:defRPr>
    </a:lvl2pPr>
    <a:lvl3pPr marL="912813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MS PGothic" charset="0"/>
      </a:defRPr>
    </a:lvl3pPr>
    <a:lvl4pPr marL="1370013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MS PGothic" charset="0"/>
      </a:defRPr>
    </a:lvl4pPr>
    <a:lvl5pPr marL="1827213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MS PGothic" charset="0"/>
      </a:defRPr>
    </a:lvl5pPr>
    <a:lvl6pPr marL="2285886" algn="l" defTabSz="4571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063" algn="l" defTabSz="4571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240" algn="l" defTabSz="4571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417" algn="l" defTabSz="4571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Rectangle 7">
            <a:extLst>
              <a:ext uri="{FF2B5EF4-FFF2-40B4-BE49-F238E27FC236}">
                <a16:creationId xmlns="" xmlns:a16="http://schemas.microsoft.com/office/drawing/2014/main" id="{805A76C5-F4C2-4CDA-BEF0-83C1B084370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B6E3CA1B-BF1D-4627-BFE0-E36D1A7C18AA}" type="slidenum">
              <a:rPr lang="en-US" altLang="en-US" smtClean="0">
                <a:latin typeface="Times New Roman" panose="02020603050405020304" pitchFamily="18" charset="0"/>
              </a:rPr>
              <a:pPr/>
              <a:t>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146" name="Rectangle 2">
            <a:extLst>
              <a:ext uri="{FF2B5EF4-FFF2-40B4-BE49-F238E27FC236}">
                <a16:creationId xmlns="" xmlns:a16="http://schemas.microsoft.com/office/drawing/2014/main" id="{D1DDD850-CCC7-49E3-BE4A-0B1C37B489A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7" name="Rectangle 3">
            <a:extLst>
              <a:ext uri="{FF2B5EF4-FFF2-40B4-BE49-F238E27FC236}">
                <a16:creationId xmlns="" xmlns:a16="http://schemas.microsoft.com/office/drawing/2014/main" id="{038181F9-B100-4204-B5BD-A3889A86121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Rectangle 7">
            <a:extLst>
              <a:ext uri="{FF2B5EF4-FFF2-40B4-BE49-F238E27FC236}">
                <a16:creationId xmlns="" xmlns:a16="http://schemas.microsoft.com/office/drawing/2014/main" id="{0BF0E1CA-E1F9-48F3-98D4-AE83DB73C3E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EA8FD42-FB50-4F0E-83DB-032AD89E6B10}" type="slidenum">
              <a:rPr lang="en-US" altLang="en-US" smtClean="0">
                <a:latin typeface="Times New Roman" panose="02020603050405020304" pitchFamily="18" charset="0"/>
              </a:rPr>
              <a:pPr/>
              <a:t>2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8194" name="Rectangle 2">
            <a:extLst>
              <a:ext uri="{FF2B5EF4-FFF2-40B4-BE49-F238E27FC236}">
                <a16:creationId xmlns="" xmlns:a16="http://schemas.microsoft.com/office/drawing/2014/main" id="{10C58F99-7224-4F82-A66E-F77DA55505C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5" name="Rectangle 3">
            <a:extLst>
              <a:ext uri="{FF2B5EF4-FFF2-40B4-BE49-F238E27FC236}">
                <a16:creationId xmlns="" xmlns:a16="http://schemas.microsoft.com/office/drawing/2014/main" id="{56610F8A-E173-4BEE-BFEB-FAAE867F08C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7">
            <a:extLst>
              <a:ext uri="{FF2B5EF4-FFF2-40B4-BE49-F238E27FC236}">
                <a16:creationId xmlns="" xmlns:a16="http://schemas.microsoft.com/office/drawing/2014/main" id="{D95EBFC2-2B79-4646-ADD4-D93CC4E0BDA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E74824C-A7EB-42F2-A92A-66C769DAA6C3}" type="slidenum">
              <a:rPr lang="en-US" altLang="en-US" smtClean="0">
                <a:latin typeface="Times New Roman" panose="02020603050405020304" pitchFamily="18" charset="0"/>
              </a:rPr>
              <a:pPr/>
              <a:t>3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5842" name="Rectangle 2">
            <a:extLst>
              <a:ext uri="{FF2B5EF4-FFF2-40B4-BE49-F238E27FC236}">
                <a16:creationId xmlns="" xmlns:a16="http://schemas.microsoft.com/office/drawing/2014/main" id="{DBE29177-BEE0-417C-A6E4-FE19B817508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3" name="Rectangle 3">
            <a:extLst>
              <a:ext uri="{FF2B5EF4-FFF2-40B4-BE49-F238E27FC236}">
                <a16:creationId xmlns="" xmlns:a16="http://schemas.microsoft.com/office/drawing/2014/main" id="{44B2D3C1-BEE5-436B-8E3B-017945048A1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7">
            <a:extLst>
              <a:ext uri="{FF2B5EF4-FFF2-40B4-BE49-F238E27FC236}">
                <a16:creationId xmlns="" xmlns:a16="http://schemas.microsoft.com/office/drawing/2014/main" id="{AB2846DF-65BE-4297-BCCD-5DD45DE5C8D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A09C59B-F3D6-4643-AE6C-CBF39D40191E}" type="slidenum">
              <a:rPr lang="en-US" altLang="en-US" smtClean="0">
                <a:latin typeface="Times New Roman" panose="02020603050405020304" pitchFamily="18" charset="0"/>
              </a:rPr>
              <a:pPr/>
              <a:t>4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7890" name="Rectangle 2">
            <a:extLst>
              <a:ext uri="{FF2B5EF4-FFF2-40B4-BE49-F238E27FC236}">
                <a16:creationId xmlns="" xmlns:a16="http://schemas.microsoft.com/office/drawing/2014/main" id="{8F1D844C-2050-4115-9C9F-C1FCBEE9083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1" name="Rectangle 3">
            <a:extLst>
              <a:ext uri="{FF2B5EF4-FFF2-40B4-BE49-F238E27FC236}">
                <a16:creationId xmlns="" xmlns:a16="http://schemas.microsoft.com/office/drawing/2014/main" id="{5B58AFAD-2321-4F25-9350-97AC19EDDA3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7">
            <a:extLst>
              <a:ext uri="{FF2B5EF4-FFF2-40B4-BE49-F238E27FC236}">
                <a16:creationId xmlns="" xmlns:a16="http://schemas.microsoft.com/office/drawing/2014/main" id="{87523E38-5925-4EC3-AD23-1BB8D7C4646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87C58BD-B6B5-4749-B877-32EA3B7DC92D}" type="slidenum">
              <a:rPr lang="en-US" altLang="en-US" smtClean="0">
                <a:latin typeface="Times New Roman" panose="02020603050405020304" pitchFamily="18" charset="0"/>
              </a:rPr>
              <a:pPr/>
              <a:t>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9938" name="Rectangle 2">
            <a:extLst>
              <a:ext uri="{FF2B5EF4-FFF2-40B4-BE49-F238E27FC236}">
                <a16:creationId xmlns="" xmlns:a16="http://schemas.microsoft.com/office/drawing/2014/main" id="{C272AD4E-5D91-45CF-9172-E8326201BAC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39" name="Rectangle 3">
            <a:extLst>
              <a:ext uri="{FF2B5EF4-FFF2-40B4-BE49-F238E27FC236}">
                <a16:creationId xmlns="" xmlns:a16="http://schemas.microsoft.com/office/drawing/2014/main" id="{EA5338AB-875C-4ABC-A37A-C89E09B0A5D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7">
            <a:extLst>
              <a:ext uri="{FF2B5EF4-FFF2-40B4-BE49-F238E27FC236}">
                <a16:creationId xmlns="" xmlns:a16="http://schemas.microsoft.com/office/drawing/2014/main" id="{9963E017-B520-4B23-B95B-BB51BA1EBB8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DEC47CB-D1FE-46D4-980C-88A4D4757783}" type="slidenum">
              <a:rPr lang="en-US" altLang="en-US" smtClean="0">
                <a:latin typeface="Times New Roman" panose="02020603050405020304" pitchFamily="18" charset="0"/>
              </a:rPr>
              <a:pPr/>
              <a:t>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1986" name="Rectangle 2">
            <a:extLst>
              <a:ext uri="{FF2B5EF4-FFF2-40B4-BE49-F238E27FC236}">
                <a16:creationId xmlns="" xmlns:a16="http://schemas.microsoft.com/office/drawing/2014/main" id="{ABD42012-3A5C-431F-8705-2F91DA776DC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7" name="Rectangle 3">
            <a:extLst>
              <a:ext uri="{FF2B5EF4-FFF2-40B4-BE49-F238E27FC236}">
                <a16:creationId xmlns="" xmlns:a16="http://schemas.microsoft.com/office/drawing/2014/main" id="{EF1FE901-D349-4F0B-8068-D0DFF0BD9A5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Rectangle 7">
            <a:extLst>
              <a:ext uri="{FF2B5EF4-FFF2-40B4-BE49-F238E27FC236}">
                <a16:creationId xmlns="" xmlns:a16="http://schemas.microsoft.com/office/drawing/2014/main" id="{EA8207B9-508C-4D10-8C83-062AF94E3F4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0DB168C-010A-499F-8D20-CB7A3B7C3C4E}" type="slidenum">
              <a:rPr lang="en-US" altLang="en-US" smtClean="0">
                <a:latin typeface="Times New Roman" panose="02020603050405020304" pitchFamily="18" charset="0"/>
              </a:rPr>
              <a:pPr/>
              <a:t>7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4034" name="Rectangle 2">
            <a:extLst>
              <a:ext uri="{FF2B5EF4-FFF2-40B4-BE49-F238E27FC236}">
                <a16:creationId xmlns="" xmlns:a16="http://schemas.microsoft.com/office/drawing/2014/main" id="{F3992BEA-F158-4DD7-A750-10B63B8C4FB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5" name="Rectangle 3">
            <a:extLst>
              <a:ext uri="{FF2B5EF4-FFF2-40B4-BE49-F238E27FC236}">
                <a16:creationId xmlns="" xmlns:a16="http://schemas.microsoft.com/office/drawing/2014/main" id="{8A42841A-89C9-46B0-8347-8CFA108C735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7">
            <a:extLst>
              <a:ext uri="{FF2B5EF4-FFF2-40B4-BE49-F238E27FC236}">
                <a16:creationId xmlns="" xmlns:a16="http://schemas.microsoft.com/office/drawing/2014/main" id="{424D72BD-600C-4892-9A1C-C666AE446E5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BA9B888-12A0-4F61-88CE-B93C0B69267D}" type="slidenum">
              <a:rPr lang="en-US" altLang="en-US" smtClean="0">
                <a:latin typeface="Times New Roman" panose="02020603050405020304" pitchFamily="18" charset="0"/>
              </a:rPr>
              <a:pPr/>
              <a:t>27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6082" name="Rectangle 2">
            <a:extLst>
              <a:ext uri="{FF2B5EF4-FFF2-40B4-BE49-F238E27FC236}">
                <a16:creationId xmlns="" xmlns:a16="http://schemas.microsoft.com/office/drawing/2014/main" id="{3A079564-AC18-4FD0-B999-458633B7B63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3" name="Rectangle 3">
            <a:extLst>
              <a:ext uri="{FF2B5EF4-FFF2-40B4-BE49-F238E27FC236}">
                <a16:creationId xmlns="" xmlns:a16="http://schemas.microsoft.com/office/drawing/2014/main" id="{1397953C-C620-454B-A4A9-4E1EBDFBD07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Rectangle 7">
            <a:extLst>
              <a:ext uri="{FF2B5EF4-FFF2-40B4-BE49-F238E27FC236}">
                <a16:creationId xmlns="" xmlns:a16="http://schemas.microsoft.com/office/drawing/2014/main" id="{FCF68898-5594-43C9-B2BF-01B6699CAD3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712ACCBA-E8A3-4C2B-8DD9-FC91AE5630D9}" type="slidenum">
              <a:rPr lang="en-US" altLang="en-US" smtClean="0">
                <a:latin typeface="Times New Roman" panose="02020603050405020304" pitchFamily="18" charset="0"/>
              </a:rPr>
              <a:pPr/>
              <a:t>28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8130" name="Rectangle 2">
            <a:extLst>
              <a:ext uri="{FF2B5EF4-FFF2-40B4-BE49-F238E27FC236}">
                <a16:creationId xmlns="" xmlns:a16="http://schemas.microsoft.com/office/drawing/2014/main" id="{C366574E-775D-44EF-BEAB-9931F2486B7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1" name="Rectangle 3">
            <a:extLst>
              <a:ext uri="{FF2B5EF4-FFF2-40B4-BE49-F238E27FC236}">
                <a16:creationId xmlns="" xmlns:a16="http://schemas.microsoft.com/office/drawing/2014/main" id="{6722A4B5-9F83-4E0E-A7FC-4E4848D2797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Rectangle 7">
            <a:extLst>
              <a:ext uri="{FF2B5EF4-FFF2-40B4-BE49-F238E27FC236}">
                <a16:creationId xmlns="" xmlns:a16="http://schemas.microsoft.com/office/drawing/2014/main" id="{17BDC8A1-89A0-49CD-A485-303F87612BA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E49DC89-6AF6-48E6-B39A-159E5A129758}" type="slidenum">
              <a:rPr lang="en-US" altLang="en-US" smtClean="0">
                <a:latin typeface="Times New Roman" panose="02020603050405020304" pitchFamily="18" charset="0"/>
              </a:rPr>
              <a:pPr/>
              <a:t>29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0178" name="Rectangle 2">
            <a:extLst>
              <a:ext uri="{FF2B5EF4-FFF2-40B4-BE49-F238E27FC236}">
                <a16:creationId xmlns="" xmlns:a16="http://schemas.microsoft.com/office/drawing/2014/main" id="{7C694FE6-9D3C-4E7B-B548-4472A6FCCDD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79" name="Rectangle 3">
            <a:extLst>
              <a:ext uri="{FF2B5EF4-FFF2-40B4-BE49-F238E27FC236}">
                <a16:creationId xmlns="" xmlns:a16="http://schemas.microsoft.com/office/drawing/2014/main" id="{0128C4CB-B7D5-4AC4-AF1E-09C94FF02AD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ctangle 7">
            <a:extLst>
              <a:ext uri="{FF2B5EF4-FFF2-40B4-BE49-F238E27FC236}">
                <a16:creationId xmlns="" xmlns:a16="http://schemas.microsoft.com/office/drawing/2014/main" id="{981730E4-8FEC-4CE0-8789-78B5EED18AB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607D80D-3384-4C2A-A880-A8F1855FF69F}" type="slidenum">
              <a:rPr lang="en-US" altLang="en-US" smtClean="0">
                <a:latin typeface="Times New Roman" panose="02020603050405020304" pitchFamily="18" charset="0"/>
              </a:rPr>
              <a:pPr/>
              <a:t>30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2226" name="Rectangle 2">
            <a:extLst>
              <a:ext uri="{FF2B5EF4-FFF2-40B4-BE49-F238E27FC236}">
                <a16:creationId xmlns="" xmlns:a16="http://schemas.microsoft.com/office/drawing/2014/main" id="{85661878-89CF-4714-B17C-CBF183FE493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7" name="Rectangle 3">
            <a:extLst>
              <a:ext uri="{FF2B5EF4-FFF2-40B4-BE49-F238E27FC236}">
                <a16:creationId xmlns="" xmlns:a16="http://schemas.microsoft.com/office/drawing/2014/main" id="{F73B3342-B8E6-4324-9515-057FA306CBE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Rectangle 7">
            <a:extLst>
              <a:ext uri="{FF2B5EF4-FFF2-40B4-BE49-F238E27FC236}">
                <a16:creationId xmlns="" xmlns:a16="http://schemas.microsoft.com/office/drawing/2014/main" id="{87E33203-4967-4A0F-AEA4-57E85B2A25A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9C66A991-FAC4-426F-995C-7D990DB8044B}" type="slidenum">
              <a:rPr lang="en-US" altLang="en-US" smtClean="0">
                <a:latin typeface="Times New Roman" panose="02020603050405020304" pitchFamily="18" charset="0"/>
              </a:rPr>
              <a:pPr/>
              <a:t>31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4274" name="Rectangle 2">
            <a:extLst>
              <a:ext uri="{FF2B5EF4-FFF2-40B4-BE49-F238E27FC236}">
                <a16:creationId xmlns="" xmlns:a16="http://schemas.microsoft.com/office/drawing/2014/main" id="{D4B811B8-CE7E-4807-B890-8228F3EF57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5" name="Rectangle 3">
            <a:extLst>
              <a:ext uri="{FF2B5EF4-FFF2-40B4-BE49-F238E27FC236}">
                <a16:creationId xmlns="" xmlns:a16="http://schemas.microsoft.com/office/drawing/2014/main" id="{D82BA9F7-4972-4ED3-9F80-A82FC1F7E07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7">
            <a:extLst>
              <a:ext uri="{FF2B5EF4-FFF2-40B4-BE49-F238E27FC236}">
                <a16:creationId xmlns="" xmlns:a16="http://schemas.microsoft.com/office/drawing/2014/main" id="{45FD6A41-E36E-4666-A54F-E0F0617EE23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FF6CAB1-B51D-444E-A465-8AF1E0A4B97E}" type="slidenum">
              <a:rPr lang="en-US" altLang="en-US" smtClean="0">
                <a:latin typeface="Times New Roman" panose="02020603050405020304" pitchFamily="18" charset="0"/>
              </a:rPr>
              <a:pPr/>
              <a:t>32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8434" name="Rectangle 2">
            <a:extLst>
              <a:ext uri="{FF2B5EF4-FFF2-40B4-BE49-F238E27FC236}">
                <a16:creationId xmlns="" xmlns:a16="http://schemas.microsoft.com/office/drawing/2014/main" id="{21F25817-AF20-4FAD-9524-7E59BC9A54B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5" name="Rectangle 3">
            <a:extLst>
              <a:ext uri="{FF2B5EF4-FFF2-40B4-BE49-F238E27FC236}">
                <a16:creationId xmlns="" xmlns:a16="http://schemas.microsoft.com/office/drawing/2014/main" id="{B13E8DE0-FE2C-4E20-BCD3-2600EA110E7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28252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>
            <a:extLst>
              <a:ext uri="{FF2B5EF4-FFF2-40B4-BE49-F238E27FC236}">
                <a16:creationId xmlns="" xmlns:a16="http://schemas.microsoft.com/office/drawing/2014/main" id="{854BC344-C1FD-44AD-A100-9D0E33C6C4B8}"/>
              </a:ext>
            </a:extLst>
          </p:cNvPr>
          <p:cNvGrpSpPr>
            <a:grpSpLocks/>
          </p:cNvGrpSpPr>
          <p:nvPr/>
        </p:nvGrpSpPr>
        <p:grpSpPr bwMode="auto">
          <a:xfrm>
            <a:off x="198438" y="2960688"/>
            <a:ext cx="8610600" cy="201612"/>
            <a:chOff x="125" y="1865"/>
            <a:chExt cx="5424" cy="127"/>
          </a:xfrm>
        </p:grpSpPr>
        <p:sp>
          <p:nvSpPr>
            <p:cNvPr id="4" name="Rectangle 4">
              <a:extLst>
                <a:ext uri="{FF2B5EF4-FFF2-40B4-BE49-F238E27FC236}">
                  <a16:creationId xmlns="" xmlns:a16="http://schemas.microsoft.com/office/drawing/2014/main" id="{97E75EDC-303E-4E56-9408-EF5F6789A2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5" name="Rectangle 5">
              <a:extLst>
                <a:ext uri="{FF2B5EF4-FFF2-40B4-BE49-F238E27FC236}">
                  <a16:creationId xmlns="" xmlns:a16="http://schemas.microsoft.com/office/drawing/2014/main" id="{00B69C08-493E-41C1-B483-4712881159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3" y="1865"/>
              <a:ext cx="1808" cy="127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6" name="Rectangle 6">
              <a:extLst>
                <a:ext uri="{FF2B5EF4-FFF2-40B4-BE49-F238E27FC236}">
                  <a16:creationId xmlns="" xmlns:a16="http://schemas.microsoft.com/office/drawing/2014/main" id="{EAA2E823-920C-4DEC-868D-6F348261C9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1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</p:grpSp>
      <p:sp>
        <p:nvSpPr>
          <p:cNvPr id="7" name="Text Box 7">
            <a:extLst>
              <a:ext uri="{FF2B5EF4-FFF2-40B4-BE49-F238E27FC236}">
                <a16:creationId xmlns="" xmlns:a16="http://schemas.microsoft.com/office/drawing/2014/main" id="{824F72CA-B5F3-4CC3-B1C5-049AB2BE3D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9700" y="6588125"/>
            <a:ext cx="2713038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5" tIns="45718" rIns="91435" bIns="4571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1000" b="1">
                <a:solidFill>
                  <a:srgbClr val="336699"/>
                </a:solidFill>
                <a:latin typeface="Helvetica" panose="020B0604020202020204" pitchFamily="34" charset="0"/>
              </a:rPr>
              <a:t>Silberschatz, Galvin and Gagne ©2018</a:t>
            </a:r>
          </a:p>
        </p:txBody>
      </p:sp>
      <p:sp>
        <p:nvSpPr>
          <p:cNvPr id="8" name="Text Box 8">
            <a:extLst>
              <a:ext uri="{FF2B5EF4-FFF2-40B4-BE49-F238E27FC236}">
                <a16:creationId xmlns="" xmlns:a16="http://schemas.microsoft.com/office/drawing/2014/main" id="{CECC7507-8379-4EE6-BEC3-4061C2C8C8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88" y="6613525"/>
            <a:ext cx="2730500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5" tIns="45718" rIns="91435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1000" b="1">
                <a:solidFill>
                  <a:srgbClr val="336699"/>
                </a:solidFill>
                <a:latin typeface="Helvetica" panose="020B0604020202020204" pitchFamily="34" charset="0"/>
              </a:rPr>
              <a:t>Operating System Concepts – 10</a:t>
            </a:r>
            <a:r>
              <a:rPr lang="en-US" altLang="en-US" sz="1000" b="1" baseline="30000">
                <a:solidFill>
                  <a:srgbClr val="336699"/>
                </a:solidFill>
                <a:latin typeface="Helvetica" panose="020B0604020202020204" pitchFamily="34" charset="0"/>
              </a:rPr>
              <a:t>th</a:t>
            </a:r>
            <a:r>
              <a:rPr lang="en-US" altLang="en-US" sz="1000" b="1">
                <a:solidFill>
                  <a:srgbClr val="336699"/>
                </a:solidFill>
                <a:latin typeface="Helvetica" panose="020B0604020202020204" pitchFamily="34" charset="0"/>
              </a:rPr>
              <a:t> Edition</a:t>
            </a:r>
          </a:p>
        </p:txBody>
      </p:sp>
      <p:pic>
        <p:nvPicPr>
          <p:cNvPr id="9" name="Picture 9" descr="dino_4">
            <a:extLst>
              <a:ext uri="{FF2B5EF4-FFF2-40B4-BE49-F238E27FC236}">
                <a16:creationId xmlns="" xmlns:a16="http://schemas.microsoft.com/office/drawing/2014/main" id="{5323F60B-2E00-42BE-8400-E134976C2D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0738" y="4157663"/>
            <a:ext cx="2062162" cy="1593850"/>
          </a:xfrm>
          <a:prstGeom prst="rect">
            <a:avLst/>
          </a:prstGeom>
          <a:noFill/>
          <a:ln w="76200">
            <a:solidFill>
              <a:srgbClr val="3366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10">
            <a:extLst>
              <a:ext uri="{FF2B5EF4-FFF2-40B4-BE49-F238E27FC236}">
                <a16:creationId xmlns="" xmlns:a16="http://schemas.microsoft.com/office/drawing/2014/main" id="{62D06F3E-35A2-4B07-822F-E3170C0847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4213" y="4006850"/>
            <a:ext cx="2336800" cy="1887538"/>
          </a:xfrm>
          <a:prstGeom prst="rect">
            <a:avLst/>
          </a:prstGeom>
          <a:noFill/>
          <a:ln w="57150" cmpd="thinThick">
            <a:solidFill>
              <a:srgbClr val="66CCFF"/>
            </a:solidFill>
            <a:miter lim="800000"/>
            <a:headEnd/>
            <a:tailEnd/>
          </a:ln>
        </p:spPr>
        <p:txBody>
          <a:bodyPr wrap="none" lIns="91435" tIns="45718" rIns="91435" bIns="45718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525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685800"/>
            <a:ext cx="7772400" cy="2127250"/>
          </a:xfrm>
        </p:spPr>
        <p:txBody>
          <a:bodyPr/>
          <a:lstStyle>
            <a:lvl1pPr>
              <a:defRPr sz="43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796906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641567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177" indent="0">
              <a:buNone/>
              <a:defRPr sz="1800"/>
            </a:lvl2pPr>
            <a:lvl3pPr marL="914354" indent="0">
              <a:buNone/>
              <a:defRPr sz="1600"/>
            </a:lvl3pPr>
            <a:lvl4pPr marL="1371532" indent="0">
              <a:buNone/>
              <a:defRPr sz="1400"/>
            </a:lvl4pPr>
            <a:lvl5pPr marL="1828709" indent="0">
              <a:buNone/>
              <a:defRPr sz="1400"/>
            </a:lvl5pPr>
            <a:lvl6pPr marL="2285886" indent="0">
              <a:buNone/>
              <a:defRPr sz="1400"/>
            </a:lvl6pPr>
            <a:lvl7pPr marL="2743063" indent="0">
              <a:buNone/>
              <a:defRPr sz="1400"/>
            </a:lvl7pPr>
            <a:lvl8pPr marL="3200240" indent="0">
              <a:buNone/>
              <a:defRPr sz="1400"/>
            </a:lvl8pPr>
            <a:lvl9pPr marL="3657417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267099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06450" y="1233489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97450" y="1233489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387777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7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3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7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7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3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7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401926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98195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28928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177" indent="0">
              <a:buNone/>
              <a:defRPr sz="1200"/>
            </a:lvl2pPr>
            <a:lvl3pPr marL="914354" indent="0">
              <a:buNone/>
              <a:defRPr sz="1000"/>
            </a:lvl3pPr>
            <a:lvl4pPr marL="1371532" indent="0">
              <a:buNone/>
              <a:defRPr sz="900"/>
            </a:lvl4pPr>
            <a:lvl5pPr marL="1828709" indent="0">
              <a:buNone/>
              <a:defRPr sz="900"/>
            </a:lvl5pPr>
            <a:lvl6pPr marL="2285886" indent="0">
              <a:buNone/>
              <a:defRPr sz="900"/>
            </a:lvl6pPr>
            <a:lvl7pPr marL="2743063" indent="0">
              <a:buNone/>
              <a:defRPr sz="900"/>
            </a:lvl7pPr>
            <a:lvl8pPr marL="3200240" indent="0">
              <a:buNone/>
              <a:defRPr sz="900"/>
            </a:lvl8pPr>
            <a:lvl9pPr marL="3657417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57935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77" indent="0">
              <a:buNone/>
              <a:defRPr sz="2800"/>
            </a:lvl2pPr>
            <a:lvl3pPr marL="914354" indent="0">
              <a:buNone/>
              <a:defRPr sz="2400"/>
            </a:lvl3pPr>
            <a:lvl4pPr marL="1371532" indent="0">
              <a:buNone/>
              <a:defRPr sz="2000"/>
            </a:lvl4pPr>
            <a:lvl5pPr marL="1828709" indent="0">
              <a:buNone/>
              <a:defRPr sz="2000"/>
            </a:lvl5pPr>
            <a:lvl6pPr marL="2285886" indent="0">
              <a:buNone/>
              <a:defRPr sz="2000"/>
            </a:lvl6pPr>
            <a:lvl7pPr marL="2743063" indent="0">
              <a:buNone/>
              <a:defRPr sz="2000"/>
            </a:lvl7pPr>
            <a:lvl8pPr marL="3200240" indent="0">
              <a:buNone/>
              <a:defRPr sz="2000"/>
            </a:lvl8pPr>
            <a:lvl9pPr marL="3657417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177" indent="0">
              <a:buNone/>
              <a:defRPr sz="1200"/>
            </a:lvl2pPr>
            <a:lvl3pPr marL="914354" indent="0">
              <a:buNone/>
              <a:defRPr sz="1000"/>
            </a:lvl3pPr>
            <a:lvl4pPr marL="1371532" indent="0">
              <a:buNone/>
              <a:defRPr sz="900"/>
            </a:lvl4pPr>
            <a:lvl5pPr marL="1828709" indent="0">
              <a:buNone/>
              <a:defRPr sz="900"/>
            </a:lvl5pPr>
            <a:lvl6pPr marL="2285886" indent="0">
              <a:buNone/>
              <a:defRPr sz="900"/>
            </a:lvl6pPr>
            <a:lvl7pPr marL="2743063" indent="0">
              <a:buNone/>
              <a:defRPr sz="900"/>
            </a:lvl7pPr>
            <a:lvl8pPr marL="3200240" indent="0">
              <a:buNone/>
              <a:defRPr sz="900"/>
            </a:lvl8pPr>
            <a:lvl9pPr marL="3657417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952201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773062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91338" y="277813"/>
            <a:ext cx="2144712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281738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511151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5"/>
            <a:ext cx="8229600" cy="57626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806450" y="1233491"/>
            <a:ext cx="4038600" cy="45307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97450" y="1233491"/>
            <a:ext cx="4038600" cy="45307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0936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ino_3">
            <a:extLst>
              <a:ext uri="{FF2B5EF4-FFF2-40B4-BE49-F238E27FC236}">
                <a16:creationId xmlns="" xmlns:a16="http://schemas.microsoft.com/office/drawing/2014/main" id="{44CBE58F-1B06-4E3C-ABEB-DDA960189E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0" y="0"/>
            <a:ext cx="1195388" cy="90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3">
            <a:extLst>
              <a:ext uri="{FF2B5EF4-FFF2-40B4-BE49-F238E27FC236}">
                <a16:creationId xmlns="" xmlns:a16="http://schemas.microsoft.com/office/drawing/2014/main" id="{2B50D259-301D-4848-91DC-2AA45CBA757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975946" y="233853"/>
            <a:ext cx="7710854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5" tIns="45718" rIns="91435" bIns="45718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title style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="" xmlns:a16="http://schemas.microsoft.com/office/drawing/2014/main" id="{93B78BAB-95C2-4816-A43D-C9D0E779A72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06450" y="1233488"/>
            <a:ext cx="7727950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5" tIns="45718" rIns="91435" bIns="4571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1029" name="Rectangle 5">
            <a:extLst>
              <a:ext uri="{FF2B5EF4-FFF2-40B4-BE49-F238E27FC236}">
                <a16:creationId xmlns="" xmlns:a16="http://schemas.microsoft.com/office/drawing/2014/main" id="{99C7DCAF-0404-44E9-A1D7-8FC2479092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txBody>
          <a:bodyPr wrap="none" lIns="91435" tIns="45718" rIns="91435" bIns="45718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 dirty="0">
              <a:latin typeface="Times New Roman" pitchFamily="18" charset="0"/>
            </a:endParaRPr>
          </a:p>
        </p:txBody>
      </p:sp>
      <p:sp>
        <p:nvSpPr>
          <p:cNvPr id="1030" name="Line 6">
            <a:extLst>
              <a:ext uri="{FF2B5EF4-FFF2-40B4-BE49-F238E27FC236}">
                <a16:creationId xmlns="" xmlns:a16="http://schemas.microsoft.com/office/drawing/2014/main" id="{9ABEA7D2-7A49-4009-B20A-D733788B8F2F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860425"/>
            <a:ext cx="8077200" cy="0"/>
          </a:xfrm>
          <a:prstGeom prst="line">
            <a:avLst/>
          </a:prstGeom>
          <a:noFill/>
          <a:ln w="19050">
            <a:solidFill>
              <a:srgbClr val="3366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1435" tIns="45718" rIns="91435" bIns="45718"/>
          <a:lstStyle/>
          <a:p>
            <a:endParaRPr lang="en-US"/>
          </a:p>
        </p:txBody>
      </p:sp>
      <p:sp>
        <p:nvSpPr>
          <p:cNvPr id="1031" name="Rectangle 7">
            <a:extLst>
              <a:ext uri="{FF2B5EF4-FFF2-40B4-BE49-F238E27FC236}">
                <a16:creationId xmlns="" xmlns:a16="http://schemas.microsoft.com/office/drawing/2014/main" id="{843D9BEF-9484-4F5F-B79E-90AD48A2BE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286000"/>
            <a:ext cx="228600" cy="2286000"/>
          </a:xfrm>
          <a:prstGeom prst="rect">
            <a:avLst/>
          </a:prstGeom>
          <a:solidFill>
            <a:srgbClr val="99CCFF"/>
          </a:solidFill>
          <a:ln>
            <a:noFill/>
          </a:ln>
        </p:spPr>
        <p:txBody>
          <a:bodyPr wrap="none" lIns="91435" tIns="45718" rIns="91435" bIns="45718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 dirty="0">
              <a:latin typeface="Times New Roman" pitchFamily="18" charset="0"/>
            </a:endParaRPr>
          </a:p>
        </p:txBody>
      </p:sp>
      <p:sp>
        <p:nvSpPr>
          <p:cNvPr id="1032" name="Rectangle 8">
            <a:extLst>
              <a:ext uri="{FF2B5EF4-FFF2-40B4-BE49-F238E27FC236}">
                <a16:creationId xmlns="" xmlns:a16="http://schemas.microsoft.com/office/drawing/2014/main" id="{C1992072-B079-4F45-93BD-7B83BD1404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txBody>
          <a:bodyPr wrap="none" lIns="91435" tIns="45718" rIns="91435" bIns="45718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 dirty="0">
              <a:latin typeface="Times New Roman" pitchFamily="18" charset="0"/>
            </a:endParaRPr>
          </a:p>
        </p:txBody>
      </p:sp>
      <p:sp>
        <p:nvSpPr>
          <p:cNvPr id="1033" name="Text Box 9">
            <a:extLst>
              <a:ext uri="{FF2B5EF4-FFF2-40B4-BE49-F238E27FC236}">
                <a16:creationId xmlns="" xmlns:a16="http://schemas.microsoft.com/office/drawing/2014/main" id="{0C7F6668-8CC0-4B4E-B0C0-D267AAA38E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16878" y="6613525"/>
            <a:ext cx="526096" cy="246217"/>
          </a:xfrm>
          <a:prstGeom prst="rect">
            <a:avLst/>
          </a:prstGeom>
          <a:noFill/>
          <a:ln>
            <a:noFill/>
          </a:ln>
        </p:spPr>
        <p:txBody>
          <a:bodyPr wrap="none" lIns="91435" tIns="45718" rIns="91435" bIns="45718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6699"/>
                </a:solidFill>
                <a:latin typeface="Helvetica" panose="020B0604020202020204" pitchFamily="34" charset="0"/>
              </a:rPr>
              <a:t>7b.</a:t>
            </a:r>
            <a:fld id="{888EA06F-A073-4A3C-89BC-89170E3EB8EC}" type="slidenum">
              <a:rPr lang="en-US" altLang="en-US" sz="1000" b="1" smtClean="0">
                <a:solidFill>
                  <a:srgbClr val="006699"/>
                </a:solidFill>
                <a:latin typeface="Helvetica" panose="020B0604020202020204" pitchFamily="34" charset="0"/>
              </a:rPr>
              <a:pPr algn="ctr">
                <a:spcBef>
                  <a:spcPct val="50000"/>
                </a:spcBef>
                <a:defRPr/>
              </a:pPr>
              <a:t>‹#›</a:t>
            </a:fld>
            <a:endParaRPr lang="en-US" altLang="en-US" sz="1000" b="1" dirty="0">
              <a:solidFill>
                <a:srgbClr val="006699"/>
              </a:solidFill>
              <a:latin typeface="Helvetica" panose="020B0604020202020204" pitchFamily="34" charset="0"/>
            </a:endParaRPr>
          </a:p>
        </p:txBody>
      </p:sp>
      <p:sp>
        <p:nvSpPr>
          <p:cNvPr id="1034" name="Text Box 10">
            <a:extLst>
              <a:ext uri="{FF2B5EF4-FFF2-40B4-BE49-F238E27FC236}">
                <a16:creationId xmlns="" xmlns:a16="http://schemas.microsoft.com/office/drawing/2014/main" id="{A5A9C313-E1AB-4215-BE7D-137655DA21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9700" y="6588125"/>
            <a:ext cx="2713038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5" tIns="45718" rIns="91435" bIns="4571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1000" b="1">
                <a:solidFill>
                  <a:srgbClr val="006699"/>
                </a:solidFill>
                <a:latin typeface="Helvetica" panose="020B0604020202020204" pitchFamily="34" charset="0"/>
              </a:rPr>
              <a:t>Silberschatz, Galvin and Gagne ©2018</a:t>
            </a:r>
          </a:p>
        </p:txBody>
      </p:sp>
      <p:sp>
        <p:nvSpPr>
          <p:cNvPr id="1035" name="Text Box 11">
            <a:extLst>
              <a:ext uri="{FF2B5EF4-FFF2-40B4-BE49-F238E27FC236}">
                <a16:creationId xmlns="" xmlns:a16="http://schemas.microsoft.com/office/drawing/2014/main" id="{A8DD7472-5269-45F9-8224-963E376A11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738" y="6621463"/>
            <a:ext cx="273050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5" tIns="45718" rIns="91435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1000" b="1">
                <a:solidFill>
                  <a:srgbClr val="006699"/>
                </a:solidFill>
                <a:latin typeface="Helvetica" panose="020B0604020202020204" pitchFamily="34" charset="0"/>
              </a:rPr>
              <a:t>Operating System Concepts – 10</a:t>
            </a:r>
            <a:r>
              <a:rPr lang="en-US" altLang="en-US" sz="1000" b="1" baseline="30000">
                <a:solidFill>
                  <a:srgbClr val="006699"/>
                </a:solidFill>
                <a:latin typeface="Helvetica" panose="020B0604020202020204" pitchFamily="34" charset="0"/>
              </a:rPr>
              <a:t>th</a:t>
            </a:r>
            <a:r>
              <a:rPr lang="en-US" altLang="en-US" sz="1000" b="1">
                <a:solidFill>
                  <a:srgbClr val="006699"/>
                </a:solidFill>
                <a:latin typeface="Helvetica" panose="020B0604020202020204" pitchFamily="34" charset="0"/>
              </a:rPr>
              <a:t> Edition</a:t>
            </a:r>
          </a:p>
        </p:txBody>
      </p:sp>
      <p:pic>
        <p:nvPicPr>
          <p:cNvPr id="1036" name="Picture 12" descr="dino_6">
            <a:extLst>
              <a:ext uri="{FF2B5EF4-FFF2-40B4-BE49-F238E27FC236}">
                <a16:creationId xmlns="" xmlns:a16="http://schemas.microsoft.com/office/drawing/2014/main" id="{B3B098FB-2BB7-4519-9DEA-E491499789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3988" y="5849938"/>
            <a:ext cx="1284287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353" r:id="rId1"/>
    <p:sldLayoutId id="2147484342" r:id="rId2"/>
    <p:sldLayoutId id="2147484343" r:id="rId3"/>
    <p:sldLayoutId id="2147484344" r:id="rId4"/>
    <p:sldLayoutId id="2147484345" r:id="rId5"/>
    <p:sldLayoutId id="2147484346" r:id="rId6"/>
    <p:sldLayoutId id="2147484347" r:id="rId7"/>
    <p:sldLayoutId id="2147484348" r:id="rId8"/>
    <p:sldLayoutId id="2147484349" r:id="rId9"/>
    <p:sldLayoutId id="2147484350" r:id="rId10"/>
    <p:sldLayoutId id="2147484351" r:id="rId11"/>
    <p:sldLayoutId id="2147484352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+mj-lt"/>
          <a:ea typeface="MS PGothic" pitchFamily="34" charset="-128"/>
          <a:cs typeface="MS PGothic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MS PGothic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MS PGothic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MS PGothic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MS PGothic" charset="0"/>
        </a:defRPr>
      </a:lvl5pPr>
      <a:lvl6pPr marL="457177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6pPr>
      <a:lvl7pPr marL="914354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7pPr>
      <a:lvl8pPr marL="1371532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8pPr>
      <a:lvl9pPr marL="1828709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9pPr>
    </p:titleStyle>
    <p:bodyStyle>
      <a:lvl1pPr marL="341313" indent="-341313" algn="l" rtl="0" eaLnBrk="0" fontAlgn="base" hangingPunct="0">
        <a:spcBef>
          <a:spcPct val="35000"/>
        </a:spcBef>
        <a:spcAft>
          <a:spcPct val="0"/>
        </a:spcAft>
        <a:buClr>
          <a:srgbClr val="993300"/>
        </a:buClr>
        <a:buSzPct val="110000"/>
        <a:buFont typeface="Wingdings" panose="05000000000000000000" pitchFamily="2" charset="2"/>
        <a:buChar char="§"/>
        <a:defRPr kumimoji="1">
          <a:solidFill>
            <a:schemeClr val="tx1"/>
          </a:solidFill>
          <a:latin typeface="+mn-lt"/>
          <a:ea typeface="MS PGothic" pitchFamily="34" charset="-128"/>
          <a:cs typeface="MS PGothic" charset="0"/>
        </a:defRPr>
      </a:lvl1pPr>
      <a:lvl2pPr marL="741363" indent="-284163" algn="l" rtl="0" eaLnBrk="0" fontAlgn="base" hangingPunct="0">
        <a:spcBef>
          <a:spcPct val="35000"/>
        </a:spcBef>
        <a:spcAft>
          <a:spcPct val="0"/>
        </a:spcAft>
        <a:buClr>
          <a:srgbClr val="CC6600"/>
        </a:buClr>
        <a:buSzPct val="110000"/>
        <a:buFont typeface="Arial" panose="020B0604020202020204" pitchFamily="34" charset="0"/>
        <a:buChar char="•"/>
        <a:defRPr kumimoji="1">
          <a:solidFill>
            <a:schemeClr val="tx1"/>
          </a:solidFill>
          <a:latin typeface="+mn-lt"/>
          <a:ea typeface="MS PGothic" pitchFamily="34" charset="-128"/>
          <a:cs typeface="MS PGothic" charset="0"/>
        </a:defRPr>
      </a:lvl2pPr>
      <a:lvl3pPr marL="1084263" indent="-227013" algn="l" rtl="0" eaLnBrk="0" fontAlgn="base" hangingPunct="0">
        <a:spcBef>
          <a:spcPct val="35000"/>
        </a:spcBef>
        <a:spcAft>
          <a:spcPct val="0"/>
        </a:spcAft>
        <a:buClr>
          <a:srgbClr val="009900"/>
        </a:buClr>
        <a:buSzPct val="75000"/>
        <a:buFont typeface="Webdings" panose="05030102010509060703" pitchFamily="18" charset="2"/>
        <a:buChar char="4"/>
        <a:defRPr kumimoji="1">
          <a:solidFill>
            <a:schemeClr val="tx1"/>
          </a:solidFill>
          <a:latin typeface="+mn-lt"/>
          <a:ea typeface="MS PGothic" pitchFamily="34" charset="-128"/>
          <a:cs typeface="MS PGothic" charset="0"/>
        </a:defRPr>
      </a:lvl3pPr>
      <a:lvl4pPr marL="1427163" indent="-227013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SzPct val="75000"/>
        <a:buChar char="–"/>
        <a:defRPr kumimoji="1">
          <a:solidFill>
            <a:schemeClr val="tx1"/>
          </a:solidFill>
          <a:latin typeface="+mn-lt"/>
          <a:ea typeface="MS PGothic" pitchFamily="34" charset="-128"/>
          <a:cs typeface="MS PGothic" charset="0"/>
        </a:defRPr>
      </a:lvl4pPr>
      <a:lvl5pPr marL="1770063" indent="-227013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itchFamily="34" charset="-128"/>
          <a:cs typeface="MS PGothic" charset="0"/>
        </a:defRPr>
      </a:lvl5pPr>
      <a:lvl6pPr marL="2228738" indent="-228589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6pPr>
      <a:lvl7pPr marL="2685915" indent="-228589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7pPr>
      <a:lvl8pPr marL="3143093" indent="-228589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8pPr>
      <a:lvl9pPr marL="3600270" indent="-228589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1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7" algn="l" defTabSz="4571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4571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4571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4571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4571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3" algn="l" defTabSz="4571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4571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7" algn="l" defTabSz="4571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2">
            <a:extLst>
              <a:ext uri="{FF2B5EF4-FFF2-40B4-BE49-F238E27FC236}">
                <a16:creationId xmlns="" xmlns:a16="http://schemas.microsoft.com/office/drawing/2014/main" id="{22C98928-F25B-4EBA-968A-F43A0AFE86FA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808038"/>
            <a:ext cx="7772400" cy="2128837"/>
          </a:xfrm>
        </p:spPr>
        <p:txBody>
          <a:bodyPr/>
          <a:lstStyle/>
          <a:p>
            <a:pPr eaLnBrk="1" hangingPunct="1"/>
            <a:r>
              <a:rPr lang="en-US" altLang="en-US" dirty="0" smtClean="0"/>
              <a:t>Advanced </a:t>
            </a:r>
            <a:r>
              <a:rPr lang="en-US" altLang="en-US" dirty="0"/>
              <a:t>Synchronization Examples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Rectangle 2">
            <a:extLst>
              <a:ext uri="{FF2B5EF4-FFF2-40B4-BE49-F238E27FC236}">
                <a16:creationId xmlns="" xmlns:a16="http://schemas.microsoft.com/office/drawing/2014/main" id="{9AFE23A2-3233-4A83-BA98-6544E85EB74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30586" y="229606"/>
            <a:ext cx="7707312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Outline</a:t>
            </a:r>
          </a:p>
        </p:txBody>
      </p:sp>
      <p:sp>
        <p:nvSpPr>
          <p:cNvPr id="7170" name="Rectangle 3">
            <a:extLst>
              <a:ext uri="{FF2B5EF4-FFF2-40B4-BE49-F238E27FC236}">
                <a16:creationId xmlns="" xmlns:a16="http://schemas.microsoft.com/office/drawing/2014/main" id="{78A0AF89-B4E3-498E-93FE-2E355823D1D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02434" y="1225550"/>
            <a:ext cx="7608701" cy="3252321"/>
          </a:xfrm>
        </p:spPr>
        <p:txBody>
          <a:bodyPr/>
          <a:lstStyle/>
          <a:p>
            <a:r>
              <a:rPr lang="en-US" altLang="en-US" dirty="0"/>
              <a:t>Describe the tools used by Linux and Windows to solve synchronization problems.</a:t>
            </a:r>
          </a:p>
          <a:p>
            <a:r>
              <a:rPr lang="en-US" altLang="en-US" dirty="0"/>
              <a:t>Illustrate how POSIX and Java can be used to solve process synchronization problems.</a:t>
            </a:r>
          </a:p>
        </p:txBody>
      </p:sp>
      <p:sp>
        <p:nvSpPr>
          <p:cNvPr id="7171" name="Rectangle 5">
            <a:extLst>
              <a:ext uri="{FF2B5EF4-FFF2-40B4-BE49-F238E27FC236}">
                <a16:creationId xmlns="" xmlns:a16="http://schemas.microsoft.com/office/drawing/2014/main" id="{98EE148A-79D9-4237-8D17-FC87DB906A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0" y="5116513"/>
            <a:ext cx="4078288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6" tIns="45714" rIns="91426" bIns="45714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endParaRPr kumimoji="1" lang="en-US" altLang="en-US">
              <a:latin typeface="Helvetica" panose="020B0604020202020204" pitchFamily="34" charset="0"/>
            </a:endParaRPr>
          </a:p>
          <a:p>
            <a:endParaRPr kumimoji="1" lang="en-US" altLang="en-US">
              <a:latin typeface="Helvetica" panose="020B0604020202020204" pitchFamily="34" charset="0"/>
            </a:endParaRPr>
          </a:p>
          <a:p>
            <a:endParaRPr kumimoji="1" lang="en-US" altLang="en-US">
              <a:latin typeface="Helvetica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2">
            <a:extLst>
              <a:ext uri="{FF2B5EF4-FFF2-40B4-BE49-F238E27FC236}">
                <a16:creationId xmlns="" xmlns:a16="http://schemas.microsoft.com/office/drawing/2014/main" id="{A281CE55-E949-4BCB-8916-7FED058CEF5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24258" y="171425"/>
            <a:ext cx="7604125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Kernel Synchronization - Windows</a:t>
            </a:r>
          </a:p>
        </p:txBody>
      </p:sp>
      <p:sp>
        <p:nvSpPr>
          <p:cNvPr id="34818" name="Rectangle 3">
            <a:extLst>
              <a:ext uri="{FF2B5EF4-FFF2-40B4-BE49-F238E27FC236}">
                <a16:creationId xmlns="" xmlns:a16="http://schemas.microsoft.com/office/drawing/2014/main" id="{CB0C9C47-5F4B-434A-94CC-F05FA91D82A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06450" y="1233488"/>
            <a:ext cx="7740390" cy="4530725"/>
          </a:xfrm>
        </p:spPr>
        <p:txBody>
          <a:bodyPr/>
          <a:lstStyle/>
          <a:p>
            <a:r>
              <a:rPr lang="en-US" altLang="en-US" dirty="0"/>
              <a:t>Uses interrupt masks to protect access to global resources on uniprocessor systems</a:t>
            </a:r>
          </a:p>
          <a:p>
            <a:r>
              <a:rPr lang="en-US" altLang="en-US" dirty="0"/>
              <a:t>Uses </a:t>
            </a:r>
            <a:r>
              <a:rPr lang="en-US" altLang="en-US" b="1" dirty="0">
                <a:solidFill>
                  <a:srgbClr val="3366FF"/>
                </a:solidFill>
              </a:rPr>
              <a:t>spinlocks </a:t>
            </a:r>
            <a:r>
              <a:rPr lang="en-US" altLang="en-US" dirty="0"/>
              <a:t>on multiprocessor systems</a:t>
            </a:r>
          </a:p>
          <a:p>
            <a:pPr lvl="1"/>
            <a:r>
              <a:rPr lang="en-US" altLang="en-US" dirty="0" err="1"/>
              <a:t>Spinlocking</a:t>
            </a:r>
            <a:r>
              <a:rPr lang="en-US" altLang="en-US" dirty="0"/>
              <a:t>-thread will never be preempted</a:t>
            </a:r>
          </a:p>
          <a:p>
            <a:r>
              <a:rPr lang="en-US" altLang="en-US" dirty="0"/>
              <a:t>Also provides </a:t>
            </a:r>
            <a:r>
              <a:rPr lang="en-US" altLang="en-US" b="1" dirty="0">
                <a:solidFill>
                  <a:srgbClr val="3366FF"/>
                </a:solidFill>
              </a:rPr>
              <a:t>dispatcher objects </a:t>
            </a:r>
            <a:r>
              <a:rPr lang="en-US" altLang="en-US" dirty="0">
                <a:solidFill>
                  <a:srgbClr val="000000"/>
                </a:solidFill>
              </a:rPr>
              <a:t>user-land </a:t>
            </a:r>
            <a:r>
              <a:rPr lang="en-US" altLang="en-US" dirty="0"/>
              <a:t>which may act mutexes, semaphores, events, and timers</a:t>
            </a:r>
          </a:p>
          <a:p>
            <a:pPr lvl="1"/>
            <a:r>
              <a:rPr lang="en-US" altLang="en-US" b="1" dirty="0">
                <a:solidFill>
                  <a:srgbClr val="3366FF"/>
                </a:solidFill>
              </a:rPr>
              <a:t>Events</a:t>
            </a:r>
          </a:p>
          <a:p>
            <a:pPr lvl="2"/>
            <a:r>
              <a:rPr lang="en-US" altLang="en-US" dirty="0"/>
              <a:t>An event acts much like a condition variable</a:t>
            </a:r>
          </a:p>
          <a:p>
            <a:pPr lvl="1"/>
            <a:r>
              <a:rPr lang="en-US" altLang="en-US" dirty="0"/>
              <a:t>Timers notify one or more thread when time expired</a:t>
            </a:r>
          </a:p>
          <a:p>
            <a:pPr lvl="1"/>
            <a:r>
              <a:rPr lang="en-US" altLang="en-US" dirty="0"/>
              <a:t>Dispatcher objects either </a:t>
            </a:r>
            <a:r>
              <a:rPr lang="en-US" altLang="en-US" b="1" dirty="0">
                <a:solidFill>
                  <a:srgbClr val="3366FF"/>
                </a:solidFill>
              </a:rPr>
              <a:t>signaled-state </a:t>
            </a:r>
            <a:r>
              <a:rPr lang="en-US" altLang="en-US" dirty="0"/>
              <a:t>(object available) or </a:t>
            </a:r>
            <a:r>
              <a:rPr lang="en-US" altLang="en-US" b="1" dirty="0">
                <a:solidFill>
                  <a:srgbClr val="3366FF"/>
                </a:solidFill>
              </a:rPr>
              <a:t>non-signaled state </a:t>
            </a:r>
            <a:r>
              <a:rPr lang="en-US" altLang="en-US" dirty="0"/>
              <a:t>(thread will block)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2">
            <a:extLst>
              <a:ext uri="{FF2B5EF4-FFF2-40B4-BE49-F238E27FC236}">
                <a16:creationId xmlns="" xmlns:a16="http://schemas.microsoft.com/office/drawing/2014/main" id="{3F968EE9-B3EE-4C21-A6D3-3B3B4994C3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82675" y="227824"/>
            <a:ext cx="7604125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Kernel Synchronization - Windows</a:t>
            </a:r>
          </a:p>
        </p:txBody>
      </p:sp>
      <p:sp>
        <p:nvSpPr>
          <p:cNvPr id="36866" name="Rectangle 3">
            <a:extLst>
              <a:ext uri="{FF2B5EF4-FFF2-40B4-BE49-F238E27FC236}">
                <a16:creationId xmlns="" xmlns:a16="http://schemas.microsoft.com/office/drawing/2014/main" id="{990F94B9-5686-4AF6-B868-7C2E74E75A3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06450" y="1233488"/>
            <a:ext cx="6943725" cy="4530725"/>
          </a:xfrm>
        </p:spPr>
        <p:txBody>
          <a:bodyPr/>
          <a:lstStyle/>
          <a:p>
            <a:r>
              <a:rPr lang="en-US" altLang="en-US"/>
              <a:t>Mutex dispatcher object</a:t>
            </a:r>
          </a:p>
        </p:txBody>
      </p:sp>
      <p:pic>
        <p:nvPicPr>
          <p:cNvPr id="36867" name="Picture 2">
            <a:extLst>
              <a:ext uri="{FF2B5EF4-FFF2-40B4-BE49-F238E27FC236}">
                <a16:creationId xmlns="" xmlns:a16="http://schemas.microsoft.com/office/drawing/2014/main" id="{0BA9B59F-E609-4994-8025-E90085DBE8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3090" y="1801902"/>
            <a:ext cx="5618162" cy="17667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2">
            <a:extLst>
              <a:ext uri="{FF2B5EF4-FFF2-40B4-BE49-F238E27FC236}">
                <a16:creationId xmlns="" xmlns:a16="http://schemas.microsoft.com/office/drawing/2014/main" id="{8330A2EE-B40D-4FE6-B9A4-00C5C35BBDA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98538" y="227824"/>
            <a:ext cx="7688262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Linux Synchronization</a:t>
            </a:r>
          </a:p>
        </p:txBody>
      </p:sp>
      <p:sp>
        <p:nvSpPr>
          <p:cNvPr id="38914" name="Rectangle 3">
            <a:extLst>
              <a:ext uri="{FF2B5EF4-FFF2-40B4-BE49-F238E27FC236}">
                <a16:creationId xmlns="" xmlns:a16="http://schemas.microsoft.com/office/drawing/2014/main" id="{E38DE2E8-426D-448D-B9DB-18B8CE9B153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783771" y="1117600"/>
            <a:ext cx="7358424" cy="4436035"/>
          </a:xfrm>
        </p:spPr>
        <p:txBody>
          <a:bodyPr/>
          <a:lstStyle/>
          <a:p>
            <a:r>
              <a:rPr lang="en-US" altLang="en-US" dirty="0"/>
              <a:t>Linux:</a:t>
            </a:r>
          </a:p>
          <a:p>
            <a:pPr lvl="1"/>
            <a:r>
              <a:rPr lang="en-US" altLang="en-US" dirty="0"/>
              <a:t>Prior to kernel Version 2.6, disables interrupts to implement short critical sections</a:t>
            </a:r>
          </a:p>
          <a:p>
            <a:pPr lvl="1"/>
            <a:r>
              <a:rPr lang="en-US" altLang="en-US" dirty="0"/>
              <a:t>Version 2.6 and later, fully preemptive</a:t>
            </a:r>
          </a:p>
          <a:p>
            <a:r>
              <a:rPr lang="en-US" altLang="en-US" dirty="0"/>
              <a:t>Linux provides:</a:t>
            </a:r>
          </a:p>
          <a:p>
            <a:pPr lvl="1"/>
            <a:r>
              <a:rPr lang="en-US" altLang="en-US" dirty="0"/>
              <a:t>Semaphores</a:t>
            </a:r>
          </a:p>
          <a:p>
            <a:pPr lvl="1"/>
            <a:r>
              <a:rPr lang="en-US" altLang="en-US" dirty="0"/>
              <a:t>Atomic integers</a:t>
            </a:r>
          </a:p>
          <a:p>
            <a:pPr lvl="1"/>
            <a:r>
              <a:rPr lang="en-US" altLang="en-US" dirty="0"/>
              <a:t>Spinlocks</a:t>
            </a:r>
          </a:p>
          <a:p>
            <a:pPr lvl="1"/>
            <a:r>
              <a:rPr lang="en-US" altLang="en-US" dirty="0"/>
              <a:t>Reader-writer versions of both</a:t>
            </a:r>
          </a:p>
          <a:p>
            <a:r>
              <a:rPr lang="en-US" altLang="en-US" dirty="0"/>
              <a:t>On single-CPU system, spinlocks replaced by enabling and disabling kernel preemption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2">
            <a:extLst>
              <a:ext uri="{FF2B5EF4-FFF2-40B4-BE49-F238E27FC236}">
                <a16:creationId xmlns="" xmlns:a16="http://schemas.microsoft.com/office/drawing/2014/main" id="{E9CBE34C-01A9-4F51-811B-75F50950185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98538" y="117636"/>
            <a:ext cx="7688262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Linux Synchronization</a:t>
            </a:r>
          </a:p>
        </p:txBody>
      </p:sp>
      <p:sp>
        <p:nvSpPr>
          <p:cNvPr id="40962" name="Rectangle 3">
            <a:extLst>
              <a:ext uri="{FF2B5EF4-FFF2-40B4-BE49-F238E27FC236}">
                <a16:creationId xmlns="" xmlns:a16="http://schemas.microsoft.com/office/drawing/2014/main" id="{4EC9C734-E39C-4447-B11A-7FC89B18D5D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786187" y="1077912"/>
            <a:ext cx="6781800" cy="4530725"/>
          </a:xfrm>
        </p:spPr>
        <p:txBody>
          <a:bodyPr/>
          <a:lstStyle/>
          <a:p>
            <a:r>
              <a:rPr lang="en-US" altLang="en-US" dirty="0"/>
              <a:t>Atomic variables</a:t>
            </a:r>
            <a:br>
              <a:rPr lang="en-US" altLang="en-US" dirty="0"/>
            </a:br>
            <a:r>
              <a:rPr lang="en-US" altLang="en-US" dirty="0"/>
              <a:t/>
            </a:r>
            <a:br>
              <a:rPr lang="en-US" altLang="en-US" dirty="0"/>
            </a:br>
            <a:r>
              <a:rPr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atomic_t</a:t>
            </a:r>
            <a:r>
              <a:rPr lang="en-US" altLang="en-US" dirty="0"/>
              <a:t> is the type for atomic integer</a:t>
            </a:r>
          </a:p>
          <a:p>
            <a:r>
              <a:rPr lang="en-US" altLang="en-US" dirty="0"/>
              <a:t>Consider the variables</a:t>
            </a:r>
            <a:br>
              <a:rPr lang="en-US" altLang="en-US" dirty="0"/>
            </a:br>
            <a:r>
              <a:rPr lang="en-US" altLang="en-US" dirty="0"/>
              <a:t/>
            </a:r>
            <a:br>
              <a:rPr lang="en-US" altLang="en-US" dirty="0"/>
            </a:br>
            <a:r>
              <a:rPr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atomic_t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counter;</a:t>
            </a:r>
            <a:b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value;</a:t>
            </a:r>
            <a:b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dirty="0"/>
              <a:t/>
            </a:r>
            <a:br>
              <a:rPr lang="en-US" altLang="en-US" dirty="0"/>
            </a:br>
            <a:endParaRPr lang="en-US" altLang="en-US" dirty="0"/>
          </a:p>
        </p:txBody>
      </p:sp>
      <p:pic>
        <p:nvPicPr>
          <p:cNvPr id="40963" name="Picture 1">
            <a:extLst>
              <a:ext uri="{FF2B5EF4-FFF2-40B4-BE49-F238E27FC236}">
                <a16:creationId xmlns="" xmlns:a16="http://schemas.microsoft.com/office/drawing/2014/main" id="{5A3D2D42-0C95-4635-9D2C-6C8736A006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8538" y="3514725"/>
            <a:ext cx="6781800" cy="177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Rectangle 2">
            <a:extLst>
              <a:ext uri="{FF2B5EF4-FFF2-40B4-BE49-F238E27FC236}">
                <a16:creationId xmlns="" xmlns:a16="http://schemas.microsoft.com/office/drawing/2014/main" id="{A3BFBC80-8482-4396-985A-22154E9BE3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03325" y="218493"/>
            <a:ext cx="7483475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POSIX Synchronization</a:t>
            </a:r>
          </a:p>
        </p:txBody>
      </p:sp>
      <p:sp>
        <p:nvSpPr>
          <p:cNvPr id="43010" name="Rectangle 3">
            <a:extLst>
              <a:ext uri="{FF2B5EF4-FFF2-40B4-BE49-F238E27FC236}">
                <a16:creationId xmlns="" xmlns:a16="http://schemas.microsoft.com/office/drawing/2014/main" id="{0CB899AC-D3DA-40DE-B034-67D8F80391B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793102" y="1224999"/>
            <a:ext cx="7592608" cy="4613275"/>
          </a:xfrm>
        </p:spPr>
        <p:txBody>
          <a:bodyPr/>
          <a:lstStyle/>
          <a:p>
            <a:r>
              <a:rPr lang="en-US" altLang="en-US" dirty="0"/>
              <a:t>POSIX API provides</a:t>
            </a:r>
          </a:p>
          <a:p>
            <a:pPr lvl="1"/>
            <a:r>
              <a:rPr lang="en-US" altLang="en-US" dirty="0"/>
              <a:t>mutex locks</a:t>
            </a:r>
          </a:p>
          <a:p>
            <a:pPr lvl="1"/>
            <a:r>
              <a:rPr lang="en-US" altLang="en-US" dirty="0"/>
              <a:t>semaphores</a:t>
            </a:r>
          </a:p>
          <a:p>
            <a:pPr lvl="1"/>
            <a:r>
              <a:rPr lang="en-US" altLang="en-US" dirty="0"/>
              <a:t>condition variable</a:t>
            </a:r>
          </a:p>
          <a:p>
            <a:r>
              <a:rPr lang="en-US" altLang="en-US" dirty="0"/>
              <a:t>Widely used on UNIX, Linux, and macOS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Title 1">
            <a:extLst>
              <a:ext uri="{FF2B5EF4-FFF2-40B4-BE49-F238E27FC236}">
                <a16:creationId xmlns="" xmlns:a16="http://schemas.microsoft.com/office/drawing/2014/main" id="{19FC13B4-CCA9-41F0-92B9-4DC071D282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POSIX Mutex Locks</a:t>
            </a:r>
          </a:p>
        </p:txBody>
      </p:sp>
      <p:sp>
        <p:nvSpPr>
          <p:cNvPr id="56322" name="Content Placeholder 2">
            <a:extLst>
              <a:ext uri="{FF2B5EF4-FFF2-40B4-BE49-F238E27FC236}">
                <a16:creationId xmlns="" xmlns:a16="http://schemas.microsoft.com/office/drawing/2014/main" id="{97B362C6-D2EF-4174-B4FC-ABBA831062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Creating and initializing the lock</a:t>
            </a:r>
            <a:br>
              <a:rPr lang="en-US" altLang="en-US"/>
            </a:br>
            <a:r>
              <a:rPr lang="en-US" altLang="en-US"/>
              <a:t/>
            </a:r>
            <a:br>
              <a:rPr lang="en-US" altLang="en-US"/>
            </a:br>
            <a:r>
              <a:rPr lang="en-US" altLang="en-US"/>
              <a:t/>
            </a:r>
            <a:br>
              <a:rPr lang="en-US" altLang="en-US"/>
            </a:br>
            <a:r>
              <a:rPr lang="en-US" altLang="en-US"/>
              <a:t/>
            </a:r>
            <a:br>
              <a:rPr lang="en-US" altLang="en-US"/>
            </a:br>
            <a:r>
              <a:rPr lang="en-US" altLang="en-US"/>
              <a:t/>
            </a:r>
            <a:br>
              <a:rPr lang="en-US" altLang="en-US"/>
            </a:br>
            <a:r>
              <a:rPr lang="en-US" altLang="en-US"/>
              <a:t/>
            </a:r>
            <a:br>
              <a:rPr lang="en-US" altLang="en-US"/>
            </a:br>
            <a:endParaRPr lang="en-US" altLang="en-US"/>
          </a:p>
          <a:p>
            <a:r>
              <a:rPr lang="en-US" altLang="en-US"/>
              <a:t>Acquiring and releasing the lock</a:t>
            </a:r>
          </a:p>
        </p:txBody>
      </p:sp>
      <p:pic>
        <p:nvPicPr>
          <p:cNvPr id="56323" name="Picture 3">
            <a:extLst>
              <a:ext uri="{FF2B5EF4-FFF2-40B4-BE49-F238E27FC236}">
                <a16:creationId xmlns="" xmlns:a16="http://schemas.microsoft.com/office/drawing/2014/main" id="{7A9B15B6-6321-486B-AAC5-C1A1A243EC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6888" y="1571625"/>
            <a:ext cx="5092700" cy="166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6324" name="Picture 4">
            <a:extLst>
              <a:ext uri="{FF2B5EF4-FFF2-40B4-BE49-F238E27FC236}">
                <a16:creationId xmlns="" xmlns:a16="http://schemas.microsoft.com/office/drawing/2014/main" id="{43D64EAF-0CE6-4473-BCDA-70225E10C6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0263" y="3770313"/>
            <a:ext cx="3708400" cy="191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Title 1">
            <a:extLst>
              <a:ext uri="{FF2B5EF4-FFF2-40B4-BE49-F238E27FC236}">
                <a16:creationId xmlns="" xmlns:a16="http://schemas.microsoft.com/office/drawing/2014/main" id="{31418EEB-44BA-4A35-BF05-9040A02836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POSIX Semaphores</a:t>
            </a:r>
          </a:p>
        </p:txBody>
      </p:sp>
      <p:sp>
        <p:nvSpPr>
          <p:cNvPr id="57346" name="Content Placeholder 2">
            <a:extLst>
              <a:ext uri="{FF2B5EF4-FFF2-40B4-BE49-F238E27FC236}">
                <a16:creationId xmlns="" xmlns:a16="http://schemas.microsoft.com/office/drawing/2014/main" id="{88B0DD88-5E60-4AA4-B36D-9E62E5E1C6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POSIX provides two versions – </a:t>
            </a:r>
            <a:r>
              <a:rPr lang="en-US" altLang="en-US" b="1"/>
              <a:t>named</a:t>
            </a:r>
            <a:r>
              <a:rPr lang="en-US" altLang="en-US"/>
              <a:t> and </a:t>
            </a:r>
            <a:r>
              <a:rPr lang="en-US" altLang="en-US" b="1"/>
              <a:t>unnamed</a:t>
            </a:r>
            <a:r>
              <a:rPr lang="en-US" altLang="en-US"/>
              <a:t>.</a:t>
            </a:r>
          </a:p>
          <a:p>
            <a:r>
              <a:rPr lang="en-US" altLang="en-US"/>
              <a:t>Named semaphores can be used by unrelated processes, unnamed cannot.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Title 1">
            <a:extLst>
              <a:ext uri="{FF2B5EF4-FFF2-40B4-BE49-F238E27FC236}">
                <a16:creationId xmlns="" xmlns:a16="http://schemas.microsoft.com/office/drawing/2014/main" id="{D1FD5B3A-24E8-4E3E-801B-A57367BA93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POSIX Named Semaphores</a:t>
            </a:r>
          </a:p>
        </p:txBody>
      </p:sp>
      <p:sp>
        <p:nvSpPr>
          <p:cNvPr id="58370" name="Content Placeholder 2">
            <a:extLst>
              <a:ext uri="{FF2B5EF4-FFF2-40B4-BE49-F238E27FC236}">
                <a16:creationId xmlns="" xmlns:a16="http://schemas.microsoft.com/office/drawing/2014/main" id="{1C644338-2EA3-4381-B0C2-E9F39074C8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6450" y="1233488"/>
            <a:ext cx="8229600" cy="5027612"/>
          </a:xfrm>
        </p:spPr>
        <p:txBody>
          <a:bodyPr/>
          <a:lstStyle/>
          <a:p>
            <a:r>
              <a:rPr lang="en-US" altLang="en-US"/>
              <a:t>Creating an initializing the semaphore:</a:t>
            </a:r>
            <a:br>
              <a:rPr lang="en-US" altLang="en-US"/>
            </a:br>
            <a:r>
              <a:rPr lang="en-US" altLang="en-US"/>
              <a:t/>
            </a:r>
            <a:br>
              <a:rPr lang="en-US" altLang="en-US"/>
            </a:br>
            <a:r>
              <a:rPr lang="en-US" altLang="en-US"/>
              <a:t/>
            </a:r>
            <a:br>
              <a:rPr lang="en-US" altLang="en-US"/>
            </a:br>
            <a:r>
              <a:rPr lang="en-US" altLang="en-US"/>
              <a:t/>
            </a:r>
            <a:br>
              <a:rPr lang="en-US" altLang="en-US"/>
            </a:br>
            <a:r>
              <a:rPr lang="en-US" altLang="en-US"/>
              <a:t/>
            </a:r>
            <a:br>
              <a:rPr lang="en-US" altLang="en-US"/>
            </a:br>
            <a:endParaRPr lang="en-US" altLang="en-US"/>
          </a:p>
          <a:p>
            <a:r>
              <a:rPr lang="en-US" altLang="en-US"/>
              <a:t>Another process can access the semaphore by referring to its name </a:t>
            </a:r>
            <a:r>
              <a:rPr lang="en-US" altLang="en-US" b="1">
                <a:latin typeface="Courier New" panose="02070309020205020404" pitchFamily="49" charset="0"/>
                <a:cs typeface="Courier New" panose="02070309020205020404" pitchFamily="49" charset="0"/>
              </a:rPr>
              <a:t>SEM</a:t>
            </a:r>
            <a:r>
              <a:rPr lang="en-US" altLang="en-US"/>
              <a:t>.</a:t>
            </a:r>
          </a:p>
          <a:p>
            <a:r>
              <a:rPr lang="en-US" altLang="en-US"/>
              <a:t>Acquiring and releasing the semaphore:</a:t>
            </a:r>
          </a:p>
        </p:txBody>
      </p:sp>
      <p:pic>
        <p:nvPicPr>
          <p:cNvPr id="58371" name="Picture 3">
            <a:extLst>
              <a:ext uri="{FF2B5EF4-FFF2-40B4-BE49-F238E27FC236}">
                <a16:creationId xmlns="" xmlns:a16="http://schemas.microsoft.com/office/drawing/2014/main" id="{E71215B9-85A1-49C0-8E92-98B3705C90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8750" y="1597025"/>
            <a:ext cx="6083300" cy="134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8372" name="Picture 4">
            <a:extLst>
              <a:ext uri="{FF2B5EF4-FFF2-40B4-BE49-F238E27FC236}">
                <a16:creationId xmlns="" xmlns:a16="http://schemas.microsoft.com/office/drawing/2014/main" id="{86CEE521-DD92-43B2-8542-D9F0EF7B43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5188" y="3843338"/>
            <a:ext cx="3810000" cy="184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Title 1">
            <a:extLst>
              <a:ext uri="{FF2B5EF4-FFF2-40B4-BE49-F238E27FC236}">
                <a16:creationId xmlns="" xmlns:a16="http://schemas.microsoft.com/office/drawing/2014/main" id="{4FEE749F-18F0-4920-8F8A-D2AC98A74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POSIX Unnamed Semaphores</a:t>
            </a:r>
          </a:p>
        </p:txBody>
      </p:sp>
      <p:sp>
        <p:nvSpPr>
          <p:cNvPr id="59394" name="Content Placeholder 2">
            <a:extLst>
              <a:ext uri="{FF2B5EF4-FFF2-40B4-BE49-F238E27FC236}">
                <a16:creationId xmlns="" xmlns:a16="http://schemas.microsoft.com/office/drawing/2014/main" id="{51C2AC08-3586-4361-B942-E44CC003DF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Creating an initializing the semaphore:</a:t>
            </a:r>
            <a:br>
              <a:rPr lang="en-US" altLang="en-US"/>
            </a:br>
            <a:r>
              <a:rPr lang="en-US" altLang="en-US"/>
              <a:t/>
            </a:r>
            <a:br>
              <a:rPr lang="en-US" altLang="en-US"/>
            </a:br>
            <a:r>
              <a:rPr lang="en-US" altLang="en-US"/>
              <a:t/>
            </a:r>
            <a:br>
              <a:rPr lang="en-US" altLang="en-US"/>
            </a:br>
            <a:r>
              <a:rPr lang="en-US" altLang="en-US"/>
              <a:t/>
            </a:r>
            <a:br>
              <a:rPr lang="en-US" altLang="en-US"/>
            </a:br>
            <a:r>
              <a:rPr lang="en-US" altLang="en-US"/>
              <a:t/>
            </a:r>
            <a:br>
              <a:rPr lang="en-US" altLang="en-US"/>
            </a:br>
            <a:r>
              <a:rPr lang="en-US" altLang="en-US"/>
              <a:t/>
            </a:r>
            <a:br>
              <a:rPr lang="en-US" altLang="en-US"/>
            </a:br>
            <a:endParaRPr lang="en-US" altLang="en-US"/>
          </a:p>
          <a:p>
            <a:r>
              <a:rPr lang="en-US" altLang="en-US"/>
              <a:t>Acquiring and releasing the semaphore:</a:t>
            </a:r>
          </a:p>
        </p:txBody>
      </p:sp>
      <p:pic>
        <p:nvPicPr>
          <p:cNvPr id="59395" name="Picture 5">
            <a:extLst>
              <a:ext uri="{FF2B5EF4-FFF2-40B4-BE49-F238E27FC236}">
                <a16:creationId xmlns="" xmlns:a16="http://schemas.microsoft.com/office/drawing/2014/main" id="{D32AB7B8-29E8-4E15-BE57-7F70C8F0A8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1638" y="1574800"/>
            <a:ext cx="6083300" cy="154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9396" name="Picture 6">
            <a:extLst>
              <a:ext uri="{FF2B5EF4-FFF2-40B4-BE49-F238E27FC236}">
                <a16:creationId xmlns="" xmlns:a16="http://schemas.microsoft.com/office/drawing/2014/main" id="{5594141B-2EFA-4DEC-B8C5-755B9FD4E0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5050" y="3729038"/>
            <a:ext cx="4533900" cy="2006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Title 1">
            <a:extLst>
              <a:ext uri="{FF2B5EF4-FFF2-40B4-BE49-F238E27FC236}">
                <a16:creationId xmlns="" xmlns:a16="http://schemas.microsoft.com/office/drawing/2014/main" id="{53F3401E-0D76-4EA7-80E3-C109BF996F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POSIX Condition Variables</a:t>
            </a:r>
          </a:p>
        </p:txBody>
      </p:sp>
      <p:sp>
        <p:nvSpPr>
          <p:cNvPr id="60418" name="Content Placeholder 2">
            <a:extLst>
              <a:ext uri="{FF2B5EF4-FFF2-40B4-BE49-F238E27FC236}">
                <a16:creationId xmlns="" xmlns:a16="http://schemas.microsoft.com/office/drawing/2014/main" id="{3044D515-471B-4811-9960-E3A7CF4451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Since POSIX is typically used in C/C++ and these languages do not provide a monitor, POSIX condition variables are associated with a POSIX mutex lock to provide mutual exclusion: Creating and initializing the condition variable:</a:t>
            </a:r>
            <a:br>
              <a:rPr lang="en-US" altLang="en-US" dirty="0"/>
            </a:br>
            <a:r>
              <a:rPr lang="en-US" altLang="en-US" dirty="0"/>
              <a:t/>
            </a:r>
            <a:br>
              <a:rPr lang="en-US" altLang="en-US" dirty="0"/>
            </a:br>
            <a:r>
              <a:rPr lang="en-US" altLang="en-US" dirty="0"/>
              <a:t/>
            </a:r>
            <a:br>
              <a:rPr lang="en-US" altLang="en-US" dirty="0"/>
            </a:br>
            <a:r>
              <a:rPr lang="en-US" altLang="en-US" dirty="0"/>
              <a:t/>
            </a:r>
            <a:br>
              <a:rPr lang="en-US" altLang="en-US" dirty="0"/>
            </a:br>
            <a:r>
              <a:rPr lang="en-US" altLang="en-US" dirty="0"/>
              <a:t/>
            </a:r>
            <a:br>
              <a:rPr lang="en-US" altLang="en-US" dirty="0"/>
            </a:br>
            <a:endParaRPr lang="en-US" altLang="en-US" dirty="0"/>
          </a:p>
        </p:txBody>
      </p:sp>
      <p:pic>
        <p:nvPicPr>
          <p:cNvPr id="60419" name="Picture 5">
            <a:extLst>
              <a:ext uri="{FF2B5EF4-FFF2-40B4-BE49-F238E27FC236}">
                <a16:creationId xmlns="" xmlns:a16="http://schemas.microsoft.com/office/drawing/2014/main" id="{53567E63-78B6-4E97-8409-85828A3DD3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3013" y="2327275"/>
            <a:ext cx="3962400" cy="146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Title 1">
            <a:extLst>
              <a:ext uri="{FF2B5EF4-FFF2-40B4-BE49-F238E27FC236}">
                <a16:creationId xmlns="" xmlns:a16="http://schemas.microsoft.com/office/drawing/2014/main" id="{57A05B56-EBB1-4DC7-BEC6-02B57982E9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POSIX Condition Variables</a:t>
            </a:r>
          </a:p>
        </p:txBody>
      </p:sp>
      <p:sp>
        <p:nvSpPr>
          <p:cNvPr id="61442" name="Content Placeholder 2">
            <a:extLst>
              <a:ext uri="{FF2B5EF4-FFF2-40B4-BE49-F238E27FC236}">
                <a16:creationId xmlns="" xmlns:a16="http://schemas.microsoft.com/office/drawing/2014/main" id="{B6C9CAA1-E2D2-4CF7-8F9C-0B07CED471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Thread waiting for the condition </a:t>
            </a:r>
            <a:r>
              <a:rPr lang="en-US" altLang="en-US" b="1">
                <a:latin typeface="Courier New" panose="02070309020205020404" pitchFamily="49" charset="0"/>
                <a:cs typeface="Courier New" panose="02070309020205020404" pitchFamily="49" charset="0"/>
              </a:rPr>
              <a:t>a == b </a:t>
            </a:r>
            <a:r>
              <a:rPr lang="en-US" altLang="en-US"/>
              <a:t>to become true:</a:t>
            </a:r>
            <a:br>
              <a:rPr lang="en-US" altLang="en-US"/>
            </a:br>
            <a:r>
              <a:rPr lang="en-US" altLang="en-US"/>
              <a:t/>
            </a:r>
            <a:br>
              <a:rPr lang="en-US" altLang="en-US"/>
            </a:br>
            <a:r>
              <a:rPr lang="en-US" altLang="en-US"/>
              <a:t/>
            </a:r>
            <a:br>
              <a:rPr lang="en-US" altLang="en-US"/>
            </a:br>
            <a:r>
              <a:rPr lang="en-US" altLang="en-US"/>
              <a:t/>
            </a:r>
            <a:br>
              <a:rPr lang="en-US" altLang="en-US"/>
            </a:br>
            <a:r>
              <a:rPr lang="en-US" altLang="en-US"/>
              <a:t/>
            </a:r>
            <a:br>
              <a:rPr lang="en-US" altLang="en-US"/>
            </a:br>
            <a:r>
              <a:rPr lang="en-US" altLang="en-US"/>
              <a:t/>
            </a:r>
            <a:br>
              <a:rPr lang="en-US" altLang="en-US"/>
            </a:br>
            <a:endParaRPr lang="en-US" altLang="en-US"/>
          </a:p>
          <a:p>
            <a:r>
              <a:rPr lang="en-US" altLang="en-US"/>
              <a:t>Thread signaling another thread waiting on the condition variable:</a:t>
            </a:r>
          </a:p>
          <a:p>
            <a:endParaRPr lang="en-US" altLang="en-US"/>
          </a:p>
        </p:txBody>
      </p:sp>
      <p:pic>
        <p:nvPicPr>
          <p:cNvPr id="61443" name="Picture 6">
            <a:extLst>
              <a:ext uri="{FF2B5EF4-FFF2-40B4-BE49-F238E27FC236}">
                <a16:creationId xmlns="" xmlns:a16="http://schemas.microsoft.com/office/drawing/2014/main" id="{9273925A-CBB6-4438-8E69-C29554E996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0550" y="1670050"/>
            <a:ext cx="4953000" cy="133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44" name="Picture 3">
            <a:extLst>
              <a:ext uri="{FF2B5EF4-FFF2-40B4-BE49-F238E27FC236}">
                <a16:creationId xmlns="" xmlns:a16="http://schemas.microsoft.com/office/drawing/2014/main" id="{08E890D1-08BA-421F-B471-95E7600B98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7288" y="4097338"/>
            <a:ext cx="34925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Title 1">
            <a:extLst>
              <a:ext uri="{FF2B5EF4-FFF2-40B4-BE49-F238E27FC236}">
                <a16:creationId xmlns="" xmlns:a16="http://schemas.microsoft.com/office/drawing/2014/main" id="{D895C0A9-89AB-4099-9158-09FB3BE2D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Java Synchronization</a:t>
            </a:r>
          </a:p>
        </p:txBody>
      </p:sp>
      <p:sp>
        <p:nvSpPr>
          <p:cNvPr id="62466" name="Content Placeholder 2">
            <a:extLst>
              <a:ext uri="{FF2B5EF4-FFF2-40B4-BE49-F238E27FC236}">
                <a16:creationId xmlns="" xmlns:a16="http://schemas.microsoft.com/office/drawing/2014/main" id="{D0302B4F-6AF2-45B2-A5F9-17764BA578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Java provides rich set of synchronization features: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altLang="en-US"/>
              <a:t>Java monitors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altLang="en-US"/>
              <a:t>Reentrant locks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altLang="en-US"/>
              <a:t>Semaphores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altLang="en-US"/>
              <a:t>Condition variables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Title 1">
            <a:extLst>
              <a:ext uri="{FF2B5EF4-FFF2-40B4-BE49-F238E27FC236}">
                <a16:creationId xmlns="" xmlns:a16="http://schemas.microsoft.com/office/drawing/2014/main" id="{9B736ABE-D232-4AC2-98B8-80667B9D65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Java Monitors</a:t>
            </a:r>
          </a:p>
        </p:txBody>
      </p:sp>
      <p:sp>
        <p:nvSpPr>
          <p:cNvPr id="63490" name="Content Placeholder 2">
            <a:extLst>
              <a:ext uri="{FF2B5EF4-FFF2-40B4-BE49-F238E27FC236}">
                <a16:creationId xmlns="" xmlns:a16="http://schemas.microsoft.com/office/drawing/2014/main" id="{29EC6428-17A6-47A7-B43C-8EA71AF831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Every Java object has associated with it a single lock.</a:t>
            </a:r>
          </a:p>
          <a:p>
            <a:r>
              <a:rPr lang="en-US" altLang="en-US"/>
              <a:t>If a method is declared as </a:t>
            </a:r>
            <a:r>
              <a:rPr lang="en-US" altLang="en-US" b="1">
                <a:latin typeface="Courier New" panose="02070309020205020404" pitchFamily="49" charset="0"/>
                <a:cs typeface="Courier New" panose="02070309020205020404" pitchFamily="49" charset="0"/>
              </a:rPr>
              <a:t>synchronized</a:t>
            </a:r>
            <a:r>
              <a:rPr lang="en-US" altLang="en-US"/>
              <a:t>, a calling thread must own the lock for the object.</a:t>
            </a:r>
          </a:p>
          <a:p>
            <a:r>
              <a:rPr lang="en-US" altLang="en-US"/>
              <a:t>If the lock is owned by another thread, the calling thread must wait for the lock until it is released.</a:t>
            </a:r>
          </a:p>
          <a:p>
            <a:r>
              <a:rPr lang="en-US" altLang="en-US"/>
              <a:t>Locks are released when the owning thread exits the </a:t>
            </a:r>
            <a:r>
              <a:rPr lang="en-US" altLang="en-US" b="1">
                <a:latin typeface="Courier New" panose="02070309020205020404" pitchFamily="49" charset="0"/>
                <a:cs typeface="Courier New" panose="02070309020205020404" pitchFamily="49" charset="0"/>
              </a:rPr>
              <a:t>synchronized</a:t>
            </a:r>
            <a:r>
              <a:rPr lang="en-US" altLang="en-US"/>
              <a:t> method.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Title 1">
            <a:extLst>
              <a:ext uri="{FF2B5EF4-FFF2-40B4-BE49-F238E27FC236}">
                <a16:creationId xmlns="" xmlns:a16="http://schemas.microsoft.com/office/drawing/2014/main" id="{B04FF07F-8DAB-4817-8659-83A70206C6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000" dirty="0"/>
              <a:t>Bounded Buffer – Java Synchronization</a:t>
            </a:r>
          </a:p>
        </p:txBody>
      </p:sp>
      <p:pic>
        <p:nvPicPr>
          <p:cNvPr id="64514" name="Picture 2">
            <a:extLst>
              <a:ext uri="{FF2B5EF4-FFF2-40B4-BE49-F238E27FC236}">
                <a16:creationId xmlns="" xmlns:a16="http://schemas.microsoft.com/office/drawing/2014/main" id="{3C121A20-B42E-4AE3-8725-0EE9C9C3F7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4263" y="1201738"/>
            <a:ext cx="4706937" cy="474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Title 1">
            <a:extLst>
              <a:ext uri="{FF2B5EF4-FFF2-40B4-BE49-F238E27FC236}">
                <a16:creationId xmlns="" xmlns:a16="http://schemas.microsoft.com/office/drawing/2014/main" id="{A7063654-3368-408D-9DF3-2B295E8593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Java Synchronization</a:t>
            </a:r>
          </a:p>
        </p:txBody>
      </p:sp>
      <p:sp>
        <p:nvSpPr>
          <p:cNvPr id="65538" name="Content Placeholder 2">
            <a:extLst>
              <a:ext uri="{FF2B5EF4-FFF2-40B4-BE49-F238E27FC236}">
                <a16:creationId xmlns="" xmlns:a16="http://schemas.microsoft.com/office/drawing/2014/main" id="{6382BE83-2E0A-488C-A3AE-CF46662C19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A thread that tries to acquire an unavailable lock is placed in the object’s </a:t>
            </a:r>
            <a:r>
              <a:rPr lang="en-US" altLang="en-US" b="1"/>
              <a:t>entry set</a:t>
            </a:r>
            <a:r>
              <a:rPr lang="en-US" altLang="en-US"/>
              <a:t>:</a:t>
            </a:r>
          </a:p>
        </p:txBody>
      </p:sp>
      <p:pic>
        <p:nvPicPr>
          <p:cNvPr id="65539" name="Picture 5">
            <a:extLst>
              <a:ext uri="{FF2B5EF4-FFF2-40B4-BE49-F238E27FC236}">
                <a16:creationId xmlns="" xmlns:a16="http://schemas.microsoft.com/office/drawing/2014/main" id="{773AA7CA-0382-4D64-8D2A-395FEE719F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9438" y="2400300"/>
            <a:ext cx="5907087" cy="2006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Title 1">
            <a:extLst>
              <a:ext uri="{FF2B5EF4-FFF2-40B4-BE49-F238E27FC236}">
                <a16:creationId xmlns="" xmlns:a16="http://schemas.microsoft.com/office/drawing/2014/main" id="{652E010F-53B0-425D-B083-85B37DE98D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Java Synchronization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9177042F-4FED-4B9B-A666-AAE92424CD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Similarly, each object also has a </a:t>
            </a:r>
            <a:r>
              <a:rPr lang="en-US" b="1" dirty="0"/>
              <a:t>wait set</a:t>
            </a:r>
            <a:r>
              <a:rPr lang="en-US" dirty="0"/>
              <a:t>.</a:t>
            </a:r>
          </a:p>
          <a:p>
            <a:pPr>
              <a:defRPr/>
            </a:pPr>
            <a:r>
              <a:rPr lang="en-US" dirty="0"/>
              <a:t>When a thread calls </a:t>
            </a:r>
            <a:r>
              <a:rPr lang="en-US" b="1" dirty="0">
                <a:latin typeface="Courier New" charset="0"/>
                <a:ea typeface="Courier New" charset="0"/>
                <a:cs typeface="Courier New" charset="0"/>
              </a:rPr>
              <a:t>wait()</a:t>
            </a:r>
            <a:r>
              <a:rPr lang="en-US" dirty="0"/>
              <a:t>:</a:t>
            </a:r>
          </a:p>
          <a:p>
            <a:pPr marL="742950" lvl="1" indent="-342900">
              <a:buFont typeface="+mj-lt"/>
              <a:buAutoNum type="arabicPeriod"/>
              <a:defRPr/>
            </a:pPr>
            <a:r>
              <a:rPr lang="en-US" dirty="0"/>
              <a:t>It releases the lock for the object</a:t>
            </a:r>
          </a:p>
          <a:p>
            <a:pPr marL="742950" lvl="1" indent="-342900">
              <a:buFont typeface="+mj-lt"/>
              <a:buAutoNum type="arabicPeriod"/>
              <a:defRPr/>
            </a:pPr>
            <a:r>
              <a:rPr lang="en-US" dirty="0"/>
              <a:t>The state of the thread is set to blocked</a:t>
            </a:r>
          </a:p>
          <a:p>
            <a:pPr marL="742950" lvl="1" indent="-342900">
              <a:buFont typeface="+mj-lt"/>
              <a:buAutoNum type="arabicPeriod"/>
              <a:defRPr/>
            </a:pPr>
            <a:r>
              <a:rPr lang="en-US" dirty="0"/>
              <a:t>The thread is placed in the wait set for the object</a:t>
            </a:r>
          </a:p>
        </p:txBody>
      </p:sp>
      <p:pic>
        <p:nvPicPr>
          <p:cNvPr id="66563" name="Picture 3">
            <a:extLst>
              <a:ext uri="{FF2B5EF4-FFF2-40B4-BE49-F238E27FC236}">
                <a16:creationId xmlns="" xmlns:a16="http://schemas.microsoft.com/office/drawing/2014/main" id="{58D6C7F3-75D5-4822-B482-AC533067BE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3688" y="3613150"/>
            <a:ext cx="6223000" cy="1403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Title 1">
            <a:extLst>
              <a:ext uri="{FF2B5EF4-FFF2-40B4-BE49-F238E27FC236}">
                <a16:creationId xmlns="" xmlns:a16="http://schemas.microsoft.com/office/drawing/2014/main" id="{B4675308-EC3D-4611-AF7B-2F36F48478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Java Synchronization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6F82AEE8-8C1E-4697-8E09-54D24E89B8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A thread typically calls wait() when it is waiting for a condition to  become true.</a:t>
            </a:r>
          </a:p>
          <a:p>
            <a:pPr>
              <a:defRPr/>
            </a:pPr>
            <a:r>
              <a:rPr lang="en-US" dirty="0"/>
              <a:t>How does a thread get notified?</a:t>
            </a:r>
          </a:p>
          <a:p>
            <a:pPr>
              <a:defRPr/>
            </a:pPr>
            <a:r>
              <a:rPr lang="en-US" dirty="0"/>
              <a:t>When a thread calls </a:t>
            </a:r>
            <a:r>
              <a:rPr lang="en-US" b="1" dirty="0">
                <a:latin typeface="Courier New" charset="0"/>
                <a:ea typeface="Courier New" charset="0"/>
                <a:cs typeface="Courier New" charset="0"/>
              </a:rPr>
              <a:t>notify()</a:t>
            </a:r>
            <a:r>
              <a:rPr lang="en-US" dirty="0"/>
              <a:t>:</a:t>
            </a:r>
          </a:p>
          <a:p>
            <a:pPr marL="742950" lvl="1" indent="-342900">
              <a:buFont typeface="+mj-lt"/>
              <a:buAutoNum type="arabicPeriod"/>
              <a:defRPr/>
            </a:pPr>
            <a:r>
              <a:rPr lang="en-US" dirty="0"/>
              <a:t>An arbitrary thread T is selected from the wait set</a:t>
            </a:r>
          </a:p>
          <a:p>
            <a:pPr marL="742950" lvl="1" indent="-342900">
              <a:buFont typeface="+mj-lt"/>
              <a:buAutoNum type="arabicPeriod"/>
              <a:defRPr/>
            </a:pPr>
            <a:r>
              <a:rPr lang="en-US" dirty="0"/>
              <a:t>T is moved from the wait set to the entry set</a:t>
            </a:r>
          </a:p>
          <a:p>
            <a:pPr marL="742950" lvl="1" indent="-342900">
              <a:buFont typeface="+mj-lt"/>
              <a:buAutoNum type="arabicPeriod"/>
              <a:defRPr/>
            </a:pPr>
            <a:r>
              <a:rPr lang="en-US" dirty="0"/>
              <a:t>Set the state of T from blocked to runnable.</a:t>
            </a:r>
          </a:p>
          <a:p>
            <a:pPr>
              <a:defRPr/>
            </a:pPr>
            <a:r>
              <a:rPr lang="en-US" dirty="0"/>
              <a:t>T can now compete for the lock to check if the condition it was waiting for is now true.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Title 1">
            <a:extLst>
              <a:ext uri="{FF2B5EF4-FFF2-40B4-BE49-F238E27FC236}">
                <a16:creationId xmlns="" xmlns:a16="http://schemas.microsoft.com/office/drawing/2014/main" id="{CB0A2A95-A5D7-491D-AF11-3302E5E0B5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909" y="233853"/>
            <a:ext cx="7710854" cy="576262"/>
          </a:xfrm>
        </p:spPr>
        <p:txBody>
          <a:bodyPr/>
          <a:lstStyle/>
          <a:p>
            <a:r>
              <a:rPr lang="en-US" altLang="en-US" dirty="0"/>
              <a:t>Bounded Buffer – Java </a:t>
            </a:r>
            <a:r>
              <a:rPr lang="en-US" altLang="en-US" sz="3000" dirty="0"/>
              <a:t>Synchronization</a:t>
            </a:r>
          </a:p>
        </p:txBody>
      </p:sp>
      <p:pic>
        <p:nvPicPr>
          <p:cNvPr id="68610" name="Picture 3">
            <a:extLst>
              <a:ext uri="{FF2B5EF4-FFF2-40B4-BE49-F238E27FC236}">
                <a16:creationId xmlns="" xmlns:a16="http://schemas.microsoft.com/office/drawing/2014/main" id="{3C0AD0FA-0D7E-4059-A18C-3C09FE643F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1430338"/>
            <a:ext cx="5181600" cy="368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634" name="Picture 2">
            <a:extLst>
              <a:ext uri="{FF2B5EF4-FFF2-40B4-BE49-F238E27FC236}">
                <a16:creationId xmlns="" xmlns:a16="http://schemas.microsoft.com/office/drawing/2014/main" id="{774C936A-0F55-4C6A-A679-31574757C0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2800" y="1117600"/>
            <a:ext cx="4978400" cy="4622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itle 1">
            <a:extLst>
              <a:ext uri="{FF2B5EF4-FFF2-40B4-BE49-F238E27FC236}">
                <a16:creationId xmlns="" xmlns:a16="http://schemas.microsoft.com/office/drawing/2014/main" id="{BA6FADAB-7679-4243-9B89-C3DB7341E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908" y="233853"/>
            <a:ext cx="7710854" cy="576262"/>
          </a:xfrm>
        </p:spPr>
        <p:txBody>
          <a:bodyPr/>
          <a:lstStyle/>
          <a:p>
            <a:r>
              <a:rPr lang="en-US" altLang="en-US" dirty="0"/>
              <a:t>Bounded Buffer – Java </a:t>
            </a:r>
            <a:r>
              <a:rPr lang="en-US" altLang="en-US" sz="3000" dirty="0"/>
              <a:t>Synchronization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7" name="Title 1">
            <a:extLst>
              <a:ext uri="{FF2B5EF4-FFF2-40B4-BE49-F238E27FC236}">
                <a16:creationId xmlns="" xmlns:a16="http://schemas.microsoft.com/office/drawing/2014/main" id="{40EB4ADD-CC1F-4359-94C7-3F9CF5B4B2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5946" y="224522"/>
            <a:ext cx="7710854" cy="576262"/>
          </a:xfrm>
        </p:spPr>
        <p:txBody>
          <a:bodyPr/>
          <a:lstStyle/>
          <a:p>
            <a:r>
              <a:rPr lang="en-US" altLang="en-US" dirty="0"/>
              <a:t>Java Reentrant Locks</a:t>
            </a:r>
          </a:p>
        </p:txBody>
      </p:sp>
      <p:sp>
        <p:nvSpPr>
          <p:cNvPr id="70658" name="Content Placeholder 2">
            <a:extLst>
              <a:ext uri="{FF2B5EF4-FFF2-40B4-BE49-F238E27FC236}">
                <a16:creationId xmlns="" xmlns:a16="http://schemas.microsoft.com/office/drawing/2014/main" id="{59E6C93E-7F33-4CC2-9EEF-9C2059B251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Similar to mutex locks</a:t>
            </a:r>
          </a:p>
          <a:p>
            <a:r>
              <a:rPr lang="en-US" altLang="en-US"/>
              <a:t>The </a:t>
            </a:r>
            <a:r>
              <a:rPr lang="en-US" altLang="en-US" b="1">
                <a:latin typeface="Courier New" panose="02070309020205020404" pitchFamily="49" charset="0"/>
                <a:cs typeface="Courier New" panose="02070309020205020404" pitchFamily="49" charset="0"/>
              </a:rPr>
              <a:t>finally</a:t>
            </a:r>
            <a:r>
              <a:rPr lang="en-US" altLang="en-US"/>
              <a:t> clause ensures the lock will be released in case an exception occurs in the </a:t>
            </a:r>
            <a:r>
              <a:rPr lang="en-US" altLang="en-US" b="1">
                <a:latin typeface="Courier New" panose="02070309020205020404" pitchFamily="49" charset="0"/>
                <a:cs typeface="Courier New" panose="02070309020205020404" pitchFamily="49" charset="0"/>
              </a:rPr>
              <a:t>try</a:t>
            </a:r>
            <a:r>
              <a:rPr lang="en-US" altLang="en-US"/>
              <a:t> block.</a:t>
            </a:r>
          </a:p>
          <a:p>
            <a:endParaRPr lang="en-US" altLang="en-US"/>
          </a:p>
        </p:txBody>
      </p:sp>
      <p:pic>
        <p:nvPicPr>
          <p:cNvPr id="70659" name="Picture 3">
            <a:extLst>
              <a:ext uri="{FF2B5EF4-FFF2-40B4-BE49-F238E27FC236}">
                <a16:creationId xmlns="" xmlns:a16="http://schemas.microsoft.com/office/drawing/2014/main" id="{8B5C645E-E8BC-4552-9C51-283654CC2D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8900" y="2298700"/>
            <a:ext cx="3886200" cy="226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1" name="Title 1">
            <a:extLst>
              <a:ext uri="{FF2B5EF4-FFF2-40B4-BE49-F238E27FC236}">
                <a16:creationId xmlns="" xmlns:a16="http://schemas.microsoft.com/office/drawing/2014/main" id="{E5074858-113B-4B67-8FB6-08771C6D57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5946" y="224522"/>
            <a:ext cx="7710854" cy="576262"/>
          </a:xfrm>
        </p:spPr>
        <p:txBody>
          <a:bodyPr/>
          <a:lstStyle/>
          <a:p>
            <a:r>
              <a:rPr lang="en-US" altLang="en-US" dirty="0"/>
              <a:t>Java Semaphores</a:t>
            </a:r>
          </a:p>
        </p:txBody>
      </p:sp>
      <p:sp>
        <p:nvSpPr>
          <p:cNvPr id="71682" name="Content Placeholder 2">
            <a:extLst>
              <a:ext uri="{FF2B5EF4-FFF2-40B4-BE49-F238E27FC236}">
                <a16:creationId xmlns="" xmlns:a16="http://schemas.microsoft.com/office/drawing/2014/main" id="{18E6D7F5-1113-455F-8371-62DEC0AF22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Constructor:</a:t>
            </a:r>
            <a:br>
              <a:rPr lang="en-US" altLang="en-US"/>
            </a:br>
            <a:r>
              <a:rPr lang="en-US" altLang="en-US"/>
              <a:t/>
            </a:r>
            <a:br>
              <a:rPr lang="en-US" altLang="en-US"/>
            </a:br>
            <a:endParaRPr lang="en-US" altLang="en-US"/>
          </a:p>
          <a:p>
            <a:r>
              <a:rPr lang="en-US" altLang="en-US"/>
              <a:t>Usage:</a:t>
            </a:r>
          </a:p>
          <a:p>
            <a:endParaRPr lang="en-US" altLang="en-US"/>
          </a:p>
        </p:txBody>
      </p:sp>
      <p:pic>
        <p:nvPicPr>
          <p:cNvPr id="71683" name="Picture 4">
            <a:extLst>
              <a:ext uri="{FF2B5EF4-FFF2-40B4-BE49-F238E27FC236}">
                <a16:creationId xmlns="" xmlns:a16="http://schemas.microsoft.com/office/drawing/2014/main" id="{9A958ADA-1FCB-4E3A-953C-B6B05A26B7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1614488"/>
            <a:ext cx="2590800" cy="40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684" name="Picture 5">
            <a:extLst>
              <a:ext uri="{FF2B5EF4-FFF2-40B4-BE49-F238E27FC236}">
                <a16:creationId xmlns="" xmlns:a16="http://schemas.microsoft.com/office/drawing/2014/main" id="{1EFA6A71-037A-4869-8A12-B495785D63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1350" y="2720975"/>
            <a:ext cx="4838700" cy="2552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Title 1">
            <a:extLst>
              <a:ext uri="{FF2B5EF4-FFF2-40B4-BE49-F238E27FC236}">
                <a16:creationId xmlns="" xmlns:a16="http://schemas.microsoft.com/office/drawing/2014/main" id="{D98F2754-6585-4F5C-8778-9F577B8B47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5946" y="224522"/>
            <a:ext cx="7710854" cy="576262"/>
          </a:xfrm>
        </p:spPr>
        <p:txBody>
          <a:bodyPr/>
          <a:lstStyle/>
          <a:p>
            <a:r>
              <a:rPr lang="en-US" altLang="en-US" dirty="0"/>
              <a:t>Java Condition Variables</a:t>
            </a:r>
          </a:p>
        </p:txBody>
      </p:sp>
      <p:sp>
        <p:nvSpPr>
          <p:cNvPr id="72706" name="Content Placeholder 2">
            <a:extLst>
              <a:ext uri="{FF2B5EF4-FFF2-40B4-BE49-F238E27FC236}">
                <a16:creationId xmlns="" xmlns:a16="http://schemas.microsoft.com/office/drawing/2014/main" id="{BA141165-0B49-4685-9BA1-00EE0E4791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Condition variables are associated with an </a:t>
            </a:r>
            <a:r>
              <a:rPr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ReentrantLock</a:t>
            </a:r>
            <a:r>
              <a:rPr lang="en-US" altLang="en-US" dirty="0"/>
              <a:t>.</a:t>
            </a:r>
          </a:p>
          <a:p>
            <a:r>
              <a:rPr lang="en-US" altLang="en-US" dirty="0"/>
              <a:t>Creating a condition variable using </a:t>
            </a:r>
            <a:r>
              <a:rPr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newCondition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altLang="en-US" dirty="0"/>
              <a:t> method of </a:t>
            </a:r>
            <a:r>
              <a:rPr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ReentrantLock</a:t>
            </a:r>
            <a:r>
              <a:rPr lang="en-US" altLang="en-US" dirty="0"/>
              <a:t>:</a:t>
            </a:r>
            <a:br>
              <a:rPr lang="en-US" altLang="en-US" dirty="0"/>
            </a:br>
            <a:r>
              <a:rPr lang="en-US" altLang="en-US" dirty="0"/>
              <a:t/>
            </a:r>
            <a:br>
              <a:rPr lang="en-US" altLang="en-US" dirty="0"/>
            </a:br>
            <a:r>
              <a:rPr lang="en-US" altLang="en-US" dirty="0"/>
              <a:t/>
            </a:r>
            <a:br>
              <a:rPr lang="en-US" altLang="en-US" dirty="0"/>
            </a:br>
            <a:endParaRPr lang="en-US" altLang="en-US" dirty="0"/>
          </a:p>
          <a:p>
            <a:r>
              <a:rPr lang="en-US" altLang="en-US" dirty="0"/>
              <a:t>A thread waits by calling the 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await()</a:t>
            </a:r>
            <a:r>
              <a:rPr lang="en-US" altLang="en-US" dirty="0"/>
              <a:t> method, and signals by calling the 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signal()</a:t>
            </a:r>
            <a:r>
              <a:rPr lang="en-US" altLang="en-US" dirty="0"/>
              <a:t> method.</a:t>
            </a:r>
          </a:p>
          <a:p>
            <a:endParaRPr lang="en-US" altLang="en-US" dirty="0"/>
          </a:p>
        </p:txBody>
      </p:sp>
      <p:pic>
        <p:nvPicPr>
          <p:cNvPr id="72707" name="Picture 3">
            <a:extLst>
              <a:ext uri="{FF2B5EF4-FFF2-40B4-BE49-F238E27FC236}">
                <a16:creationId xmlns="" xmlns:a16="http://schemas.microsoft.com/office/drawing/2014/main" id="{319DAF66-BF33-4C59-85BB-AAC5407455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8663" y="2382838"/>
            <a:ext cx="4559300" cy="54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Title 1">
            <a:extLst>
              <a:ext uri="{FF2B5EF4-FFF2-40B4-BE49-F238E27FC236}">
                <a16:creationId xmlns="" xmlns:a16="http://schemas.microsoft.com/office/drawing/2014/main" id="{D682193C-8001-4466-AD49-43F8DFE36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Java Condition Variables</a:t>
            </a:r>
          </a:p>
        </p:txBody>
      </p:sp>
      <p:sp>
        <p:nvSpPr>
          <p:cNvPr id="73730" name="Content Placeholder 2">
            <a:extLst>
              <a:ext uri="{FF2B5EF4-FFF2-40B4-BE49-F238E27FC236}">
                <a16:creationId xmlns="" xmlns:a16="http://schemas.microsoft.com/office/drawing/2014/main" id="{2DAA0B1E-86CC-4AED-AB12-015FBBA654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6450" y="1233488"/>
            <a:ext cx="8229600" cy="4837112"/>
          </a:xfrm>
        </p:spPr>
        <p:txBody>
          <a:bodyPr/>
          <a:lstStyle/>
          <a:p>
            <a:r>
              <a:rPr lang="en-US" altLang="en-US"/>
              <a:t>Example:</a:t>
            </a:r>
          </a:p>
          <a:p>
            <a:r>
              <a:rPr lang="en-US" altLang="en-US"/>
              <a:t>Five threads numbered 0 .. 4</a:t>
            </a:r>
          </a:p>
          <a:p>
            <a:r>
              <a:rPr lang="en-US" altLang="en-US"/>
              <a:t>Shared variable </a:t>
            </a:r>
            <a:r>
              <a:rPr lang="en-US" altLang="en-US" b="1">
                <a:latin typeface="Courier New" panose="02070309020205020404" pitchFamily="49" charset="0"/>
                <a:cs typeface="Courier New" panose="02070309020205020404" pitchFamily="49" charset="0"/>
              </a:rPr>
              <a:t>turn</a:t>
            </a:r>
            <a:r>
              <a:rPr lang="en-US" altLang="en-US"/>
              <a:t> indicating which thread’s turn it is.</a:t>
            </a:r>
          </a:p>
          <a:p>
            <a:r>
              <a:rPr lang="en-US" altLang="en-US"/>
              <a:t>Thread calls </a:t>
            </a:r>
            <a:r>
              <a:rPr lang="en-US" altLang="en-US" b="1">
                <a:latin typeface="Courier New" panose="02070309020205020404" pitchFamily="49" charset="0"/>
                <a:cs typeface="Courier New" panose="02070309020205020404" pitchFamily="49" charset="0"/>
              </a:rPr>
              <a:t>doWork()</a:t>
            </a:r>
            <a:r>
              <a:rPr lang="en-US" altLang="en-US"/>
              <a:t> when it wishes to do some work. (But it may only do work if it is their turn.</a:t>
            </a:r>
          </a:p>
          <a:p>
            <a:r>
              <a:rPr lang="en-US" altLang="en-US"/>
              <a:t>If not their turn, wait</a:t>
            </a:r>
          </a:p>
          <a:p>
            <a:r>
              <a:rPr lang="en-US" altLang="en-US"/>
              <a:t>If their turn, do some work for awhile </a:t>
            </a:r>
            <a:r>
              <a:rPr lang="is-IS" altLang="en-US"/>
              <a:t>…...</a:t>
            </a:r>
          </a:p>
          <a:p>
            <a:r>
              <a:rPr lang="is-IS" altLang="en-US"/>
              <a:t>When completed, notify the thread whose turn is next.</a:t>
            </a:r>
          </a:p>
          <a:p>
            <a:r>
              <a:rPr lang="is-IS" altLang="en-US"/>
              <a:t>Necessary data structures:</a:t>
            </a:r>
            <a:br>
              <a:rPr lang="is-IS" altLang="en-US"/>
            </a:br>
            <a:r>
              <a:rPr lang="is-IS" altLang="en-US"/>
              <a:t/>
            </a:r>
            <a:br>
              <a:rPr lang="is-IS" altLang="en-US"/>
            </a:br>
            <a:endParaRPr lang="en-US" altLang="en-US"/>
          </a:p>
          <a:p>
            <a:endParaRPr lang="en-US" altLang="en-US"/>
          </a:p>
        </p:txBody>
      </p:sp>
      <p:pic>
        <p:nvPicPr>
          <p:cNvPr id="73731" name="Picture 4">
            <a:extLst>
              <a:ext uri="{FF2B5EF4-FFF2-40B4-BE49-F238E27FC236}">
                <a16:creationId xmlns="" xmlns:a16="http://schemas.microsoft.com/office/drawing/2014/main" id="{0BB7AB9A-0CC7-4E39-9B1A-C10ABE0743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6125" y="4508500"/>
            <a:ext cx="4889500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Title 1">
            <a:extLst>
              <a:ext uri="{FF2B5EF4-FFF2-40B4-BE49-F238E27FC236}">
                <a16:creationId xmlns="" xmlns:a16="http://schemas.microsoft.com/office/drawing/2014/main" id="{EB6DE50F-BF8B-4188-9DB0-742EF889A8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Java Condition Variables</a:t>
            </a:r>
          </a:p>
        </p:txBody>
      </p:sp>
      <p:pic>
        <p:nvPicPr>
          <p:cNvPr id="74754" name="Picture 2">
            <a:extLst>
              <a:ext uri="{FF2B5EF4-FFF2-40B4-BE49-F238E27FC236}">
                <a16:creationId xmlns="" xmlns:a16="http://schemas.microsoft.com/office/drawing/2014/main" id="{90FF7FDF-FD26-47E3-9937-9D869B9629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8925" y="933450"/>
            <a:ext cx="6026150" cy="560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2">
            <a:extLst>
              <a:ext uri="{FF2B5EF4-FFF2-40B4-BE49-F238E27FC236}">
                <a16:creationId xmlns="" xmlns:a16="http://schemas.microsoft.com/office/drawing/2014/main" id="{3B57EE46-1C7A-4918-8405-158CA65293D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03325" y="227824"/>
            <a:ext cx="7483475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Alternative Approaches</a:t>
            </a:r>
          </a:p>
        </p:txBody>
      </p:sp>
      <p:sp>
        <p:nvSpPr>
          <p:cNvPr id="45058" name="Rectangle 3">
            <a:extLst>
              <a:ext uri="{FF2B5EF4-FFF2-40B4-BE49-F238E27FC236}">
                <a16:creationId xmlns="" xmlns:a16="http://schemas.microsoft.com/office/drawing/2014/main" id="{C6A1BEE2-3DDB-401E-8AEA-ACA01E7F0B54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935038" y="1181100"/>
            <a:ext cx="7429500" cy="4613275"/>
          </a:xfrm>
        </p:spPr>
        <p:txBody>
          <a:bodyPr/>
          <a:lstStyle/>
          <a:p>
            <a:r>
              <a:rPr lang="en-US" altLang="en-US"/>
              <a:t>Transactional Memory</a:t>
            </a:r>
            <a:br>
              <a:rPr lang="en-US" altLang="en-US"/>
            </a:br>
            <a:endParaRPr lang="en-US" altLang="en-US"/>
          </a:p>
          <a:p>
            <a:r>
              <a:rPr lang="en-US" altLang="en-US"/>
              <a:t>OpenMP</a:t>
            </a:r>
            <a:br>
              <a:rPr lang="en-US" altLang="en-US"/>
            </a:br>
            <a:endParaRPr lang="en-US" altLang="en-US"/>
          </a:p>
          <a:p>
            <a:r>
              <a:rPr lang="en-US" altLang="en-US"/>
              <a:t>Functional Programming Languages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Rectangle 3">
            <a:extLst>
              <a:ext uri="{FF2B5EF4-FFF2-40B4-BE49-F238E27FC236}">
                <a16:creationId xmlns="" xmlns:a16="http://schemas.microsoft.com/office/drawing/2014/main" id="{C187FFE3-B997-442C-B2F6-983AA853640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28688" y="771525"/>
            <a:ext cx="7021512" cy="5678488"/>
          </a:xfrm>
        </p:spPr>
        <p:txBody>
          <a:bodyPr/>
          <a:lstStyle/>
          <a:p>
            <a:pPr marL="0" indent="0">
              <a:lnSpc>
                <a:spcPct val="80000"/>
              </a:lnSpc>
              <a:buNone/>
            </a:pPr>
            <a:endParaRPr lang="en-US" altLang="en-US" dirty="0"/>
          </a:p>
          <a:p>
            <a:r>
              <a:rPr lang="en-US" altLang="en-US" dirty="0"/>
              <a:t>Consider a function update() that must be called atomically. One option is to use mutex locks:</a:t>
            </a:r>
            <a:br>
              <a:rPr lang="en-US" altLang="en-US" dirty="0"/>
            </a:br>
            <a:r>
              <a:rPr lang="en-US" altLang="en-US" dirty="0"/>
              <a:t/>
            </a:r>
            <a:br>
              <a:rPr lang="en-US" altLang="en-US" dirty="0"/>
            </a:br>
            <a:r>
              <a:rPr lang="en-US" altLang="en-US" dirty="0"/>
              <a:t/>
            </a:r>
            <a:br>
              <a:rPr lang="en-US" altLang="en-US" dirty="0"/>
            </a:br>
            <a:r>
              <a:rPr lang="en-US" altLang="en-US" dirty="0"/>
              <a:t/>
            </a:r>
            <a:br>
              <a:rPr lang="en-US" altLang="en-US" dirty="0"/>
            </a:br>
            <a:r>
              <a:rPr lang="en-US" altLang="en-US" dirty="0"/>
              <a:t/>
            </a:r>
            <a:br>
              <a:rPr lang="en-US" altLang="en-US" dirty="0"/>
            </a:br>
            <a:endParaRPr lang="en-US" altLang="en-US" sz="1000" dirty="0"/>
          </a:p>
          <a:p>
            <a:endParaRPr lang="en-US" altLang="en-US" sz="1000" dirty="0"/>
          </a:p>
          <a:p>
            <a:endParaRPr lang="en-US" altLang="en-US" sz="1000" dirty="0"/>
          </a:p>
          <a:p>
            <a:endParaRPr lang="en-US" altLang="en-US" dirty="0"/>
          </a:p>
          <a:p>
            <a:r>
              <a:rPr lang="en-US" altLang="en-US" dirty="0"/>
              <a:t>A </a:t>
            </a:r>
            <a:r>
              <a:rPr lang="en-US" altLang="en-US" b="1" dirty="0"/>
              <a:t>memory transaction </a:t>
            </a:r>
            <a:r>
              <a:rPr lang="en-US" altLang="en-US" dirty="0"/>
              <a:t>is a sequence of read-write operations to memory that are performed atomically. A transaction can be completed by adding 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atomic{S}</a:t>
            </a:r>
            <a:r>
              <a:rPr lang="en-US" altLang="en-US" dirty="0"/>
              <a:t> which ensure statements in 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S</a:t>
            </a:r>
            <a:r>
              <a:rPr lang="en-US" altLang="en-US" dirty="0"/>
              <a:t> are executed atomically:</a:t>
            </a:r>
          </a:p>
          <a:p>
            <a:pPr>
              <a:lnSpc>
                <a:spcPct val="80000"/>
              </a:lnSpc>
            </a:pPr>
            <a:endParaRPr lang="en-US" altLang="en-US" dirty="0"/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endParaRPr lang="en-US" altLang="en-US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   </a:t>
            </a:r>
            <a:endParaRPr lang="en-US" altLang="en-US" dirty="0">
              <a:solidFill>
                <a:srgbClr val="0000FF"/>
              </a:solidFill>
            </a:endParaRP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endParaRPr lang="en-US" altLang="en-US" i="1" dirty="0">
              <a:solidFill>
                <a:srgbClr val="0000FF"/>
              </a:solidFill>
            </a:endParaRP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endParaRPr lang="en-US" altLang="en-US" dirty="0">
              <a:solidFill>
                <a:srgbClr val="0000FF"/>
              </a:solidFill>
            </a:endParaRPr>
          </a:p>
        </p:txBody>
      </p:sp>
      <p:sp>
        <p:nvSpPr>
          <p:cNvPr id="47106" name="Rectangle 2">
            <a:extLst>
              <a:ext uri="{FF2B5EF4-FFF2-40B4-BE49-F238E27FC236}">
                <a16:creationId xmlns="" xmlns:a16="http://schemas.microsoft.com/office/drawing/2014/main" id="{5C367A7E-459E-409E-89AA-861F0B1798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5733" y="160563"/>
            <a:ext cx="7916863" cy="638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6" tIns="45714" rIns="91426" bIns="45714" anchor="b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3200" b="1" dirty="0">
                <a:solidFill>
                  <a:srgbClr val="006699"/>
                </a:solidFill>
                <a:latin typeface="Arial" panose="020B0604020202020204" pitchFamily="34" charset="0"/>
              </a:rPr>
              <a:t>Transactional Memory</a:t>
            </a:r>
          </a:p>
        </p:txBody>
      </p:sp>
      <p:pic>
        <p:nvPicPr>
          <p:cNvPr id="47107" name="Picture 1">
            <a:extLst>
              <a:ext uri="{FF2B5EF4-FFF2-40B4-BE49-F238E27FC236}">
                <a16:creationId xmlns="" xmlns:a16="http://schemas.microsoft.com/office/drawing/2014/main" id="{BBB00BB2-4E55-476D-A2A6-79F3004100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0963" y="1811450"/>
            <a:ext cx="3373437" cy="1976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7108" name="Picture 2">
            <a:extLst>
              <a:ext uri="{FF2B5EF4-FFF2-40B4-BE49-F238E27FC236}">
                <a16:creationId xmlns="" xmlns:a16="http://schemas.microsoft.com/office/drawing/2014/main" id="{203EA14E-3ABE-49DE-A97D-83909A6BA0D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9694" y="5015204"/>
            <a:ext cx="3619500" cy="156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3">
            <a:extLst>
              <a:ext uri="{FF2B5EF4-FFF2-40B4-BE49-F238E27FC236}">
                <a16:creationId xmlns="" xmlns:a16="http://schemas.microsoft.com/office/drawing/2014/main" id="{890F933E-4773-4C54-A0AD-CCEA2CC1BE5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28688" y="771525"/>
            <a:ext cx="7021512" cy="5268913"/>
          </a:xfrm>
        </p:spPr>
        <p:txBody>
          <a:bodyPr/>
          <a:lstStyle/>
          <a:p>
            <a:pPr>
              <a:lnSpc>
                <a:spcPct val="80000"/>
              </a:lnSpc>
              <a:buFont typeface="Monotype Sorts" pitchFamily="-84" charset="2"/>
              <a:buNone/>
            </a:pPr>
            <a:endParaRPr lang="en-US" altLang="en-US" sz="1600" dirty="0">
              <a:solidFill>
                <a:srgbClr val="0000FF"/>
              </a:solidFill>
            </a:endParaRPr>
          </a:p>
          <a:p>
            <a:r>
              <a:rPr lang="en-US" altLang="en-US" dirty="0"/>
              <a:t>OpenMP is a set of compiler directives and API that support parallel </a:t>
            </a:r>
            <a:r>
              <a:rPr lang="en-US" altLang="en-US" dirty="0" err="1"/>
              <a:t>progamming</a:t>
            </a:r>
            <a:r>
              <a:rPr lang="en-US" altLang="en-US" dirty="0"/>
              <a:t>.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endParaRPr lang="en-US" altLang="en-US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   </a:t>
            </a: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void update(</a:t>
            </a:r>
            <a:r>
              <a:rPr lang="en-US" altLang="en-US" sz="20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int</a:t>
            </a: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value)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			 {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				#pragma </a:t>
            </a:r>
            <a:r>
              <a:rPr lang="en-US" altLang="en-US" sz="20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omp</a:t>
            </a: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critical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				{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					count += value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				}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			  }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endParaRPr lang="en-US" altLang="en-US" dirty="0">
              <a:solidFill>
                <a:srgbClr val="0000FF"/>
              </a:solidFill>
            </a:endParaRPr>
          </a:p>
          <a:p>
            <a:r>
              <a:rPr lang="en-US" altLang="en-US" dirty="0"/>
              <a:t>The code contained within the </a:t>
            </a:r>
            <a:r>
              <a:rPr lang="en-US" altLang="en-US" b="1" dirty="0">
                <a:latin typeface="Courier New" panose="02070309020205020404" pitchFamily="49" charset="0"/>
              </a:rPr>
              <a:t>#pragma </a:t>
            </a:r>
            <a:r>
              <a:rPr lang="en-US" altLang="en-US" b="1" dirty="0" err="1">
                <a:latin typeface="Courier New" panose="02070309020205020404" pitchFamily="49" charset="0"/>
              </a:rPr>
              <a:t>omp</a:t>
            </a:r>
            <a:r>
              <a:rPr lang="en-US" altLang="en-US" b="1" dirty="0">
                <a:latin typeface="Courier New" panose="02070309020205020404" pitchFamily="49" charset="0"/>
              </a:rPr>
              <a:t> critical </a:t>
            </a:r>
            <a:r>
              <a:rPr lang="en-US" altLang="en-US" dirty="0"/>
              <a:t>directive is treated as a critical section and performed atomically.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endParaRPr lang="en-US" altLang="en-US" dirty="0">
              <a:solidFill>
                <a:srgbClr val="0000FF"/>
              </a:solidFill>
            </a:endParaRPr>
          </a:p>
        </p:txBody>
      </p:sp>
      <p:sp>
        <p:nvSpPr>
          <p:cNvPr id="49154" name="Rectangle 2">
            <a:extLst>
              <a:ext uri="{FF2B5EF4-FFF2-40B4-BE49-F238E27FC236}">
                <a16:creationId xmlns="" xmlns:a16="http://schemas.microsoft.com/office/drawing/2014/main" id="{0C92B3FE-3AC2-4C5E-B6DA-D168D0F067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5148" y="160566"/>
            <a:ext cx="7916863" cy="638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6" tIns="45714" rIns="91426" bIns="45714" anchor="b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3200" b="1" dirty="0">
                <a:solidFill>
                  <a:srgbClr val="006699"/>
                </a:solidFill>
                <a:latin typeface="Arial" panose="020B0604020202020204" pitchFamily="34" charset="0"/>
              </a:rPr>
              <a:t>OpenMP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Rectangle 3">
            <a:extLst>
              <a:ext uri="{FF2B5EF4-FFF2-40B4-BE49-F238E27FC236}">
                <a16:creationId xmlns="" xmlns:a16="http://schemas.microsoft.com/office/drawing/2014/main" id="{1C120B78-2CD1-47DC-BBD5-ADF8409FF84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92175" y="914400"/>
            <a:ext cx="7021513" cy="5268913"/>
          </a:xfrm>
        </p:spPr>
        <p:txBody>
          <a:bodyPr/>
          <a:lstStyle/>
          <a:p>
            <a:pPr>
              <a:lnSpc>
                <a:spcPct val="80000"/>
              </a:lnSpc>
              <a:buFont typeface="Monotype Sorts" pitchFamily="-84" charset="2"/>
              <a:buNone/>
            </a:pPr>
            <a:endParaRPr lang="en-US" altLang="en-US" sz="1600" dirty="0">
              <a:solidFill>
                <a:srgbClr val="0000FF"/>
              </a:solidFill>
            </a:endParaRPr>
          </a:p>
          <a:p>
            <a:r>
              <a:rPr lang="en-US" altLang="en-US" dirty="0"/>
              <a:t>Functional programming languages offer a different paradigm than procedural languages in that they do not maintain state. </a:t>
            </a:r>
          </a:p>
          <a:p>
            <a:r>
              <a:rPr lang="en-US" altLang="en-US" dirty="0"/>
              <a:t>Variables are treated as immutable and cannot change state once they have been assigned a value.</a:t>
            </a:r>
          </a:p>
          <a:p>
            <a:r>
              <a:rPr lang="en-US" altLang="en-US" dirty="0"/>
              <a:t>There is increasing interest in functional languages such as Erlang and Scala for their approach in handling data races.</a:t>
            </a:r>
          </a:p>
          <a:p>
            <a:pPr>
              <a:buFont typeface="Monotype Sorts" pitchFamily="-84" charset="2"/>
              <a:buNone/>
            </a:pPr>
            <a:endParaRPr lang="en-US" altLang="en-US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   </a:t>
            </a:r>
            <a:endParaRPr lang="en-US" altLang="en-US" dirty="0">
              <a:solidFill>
                <a:srgbClr val="0000FF"/>
              </a:solidFill>
            </a:endParaRPr>
          </a:p>
        </p:txBody>
      </p:sp>
      <p:sp>
        <p:nvSpPr>
          <p:cNvPr id="51202" name="Rectangle 2">
            <a:extLst>
              <a:ext uri="{FF2B5EF4-FFF2-40B4-BE49-F238E27FC236}">
                <a16:creationId xmlns="" xmlns:a16="http://schemas.microsoft.com/office/drawing/2014/main" id="{553A2126-3399-43E9-98A0-7D03BB26C1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6976" y="60360"/>
            <a:ext cx="8213725" cy="739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6" tIns="45714" rIns="91426" bIns="45714" anchor="b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3200" b="1" dirty="0">
                <a:solidFill>
                  <a:srgbClr val="006699"/>
                </a:solidFill>
                <a:latin typeface="Arial" panose="020B0604020202020204" pitchFamily="34" charset="0"/>
              </a:rPr>
              <a:t>Functional Programming Languages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Rectangle 2">
            <a:extLst>
              <a:ext uri="{FF2B5EF4-FFF2-40B4-BE49-F238E27FC236}">
                <a16:creationId xmlns="" xmlns:a16="http://schemas.microsoft.com/office/drawing/2014/main" id="{D15A9E78-DF11-4867-B399-CAC041574741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End of Chapter 7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2">
            <a:extLst>
              <a:ext uri="{FF2B5EF4-FFF2-40B4-BE49-F238E27FC236}">
                <a16:creationId xmlns="" xmlns:a16="http://schemas.microsoft.com/office/drawing/2014/main" id="{60BA1AAC-5E8F-4441-A0ED-780B83A1CE4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80812" y="169512"/>
            <a:ext cx="7566025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Readers-Writers Problem</a:t>
            </a:r>
          </a:p>
        </p:txBody>
      </p:sp>
      <p:sp>
        <p:nvSpPr>
          <p:cNvPr id="17410" name="Rectangle 3">
            <a:extLst>
              <a:ext uri="{FF2B5EF4-FFF2-40B4-BE49-F238E27FC236}">
                <a16:creationId xmlns="" xmlns:a16="http://schemas.microsoft.com/office/drawing/2014/main" id="{8B70CA9A-5F74-4497-A12A-DA4CCA3E28D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60425" y="1111250"/>
            <a:ext cx="7639763" cy="5005388"/>
          </a:xfrm>
        </p:spPr>
        <p:txBody>
          <a:bodyPr/>
          <a:lstStyle/>
          <a:p>
            <a:r>
              <a:rPr lang="en-US" altLang="en-US" dirty="0"/>
              <a:t>A data set is shared among a number of concurrent processes</a:t>
            </a:r>
          </a:p>
          <a:p>
            <a:pPr lvl="1"/>
            <a:r>
              <a:rPr lang="en-US" altLang="en-US" b="1" dirty="0"/>
              <a:t>Readers</a:t>
            </a:r>
            <a:r>
              <a:rPr lang="en-US" altLang="en-US" dirty="0"/>
              <a:t> – only read the data set; they do </a:t>
            </a:r>
            <a:r>
              <a:rPr lang="en-US" altLang="en-US" b="1" i="1" dirty="0"/>
              <a:t>not</a:t>
            </a:r>
            <a:r>
              <a:rPr lang="en-US" altLang="en-US" b="1" dirty="0"/>
              <a:t> </a:t>
            </a:r>
            <a:r>
              <a:rPr lang="en-US" altLang="en-US" dirty="0"/>
              <a:t>perform any updates</a:t>
            </a:r>
          </a:p>
          <a:p>
            <a:pPr lvl="1"/>
            <a:r>
              <a:rPr lang="en-US" altLang="en-US" b="1" dirty="0"/>
              <a:t>Writers</a:t>
            </a:r>
            <a:r>
              <a:rPr lang="en-US" altLang="en-US" dirty="0"/>
              <a:t>   – can both read and write</a:t>
            </a:r>
          </a:p>
          <a:p>
            <a:r>
              <a:rPr lang="en-US" altLang="en-US" dirty="0"/>
              <a:t>Problem – allow multiple readers to read at the same time</a:t>
            </a:r>
          </a:p>
          <a:p>
            <a:pPr lvl="1"/>
            <a:r>
              <a:rPr lang="en-US" altLang="en-US" dirty="0"/>
              <a:t>Only one single writer can access the shared data at the same time</a:t>
            </a:r>
          </a:p>
          <a:p>
            <a:r>
              <a:rPr lang="en-US" altLang="en-US" dirty="0"/>
              <a:t>Several variations of how readers and writers are considered  – all involve some form of priorities</a:t>
            </a:r>
          </a:p>
          <a:p>
            <a:r>
              <a:rPr lang="en-US" altLang="en-US" dirty="0"/>
              <a:t>Shared Data</a:t>
            </a:r>
          </a:p>
          <a:p>
            <a:pPr lvl="1"/>
            <a:r>
              <a:rPr lang="en-US" altLang="en-US" dirty="0"/>
              <a:t>Data set</a:t>
            </a:r>
          </a:p>
          <a:p>
            <a:pPr lvl="1"/>
            <a:r>
              <a:rPr lang="en-US" altLang="en-US" dirty="0"/>
              <a:t>Semaphore</a:t>
            </a: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en-US" sz="20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rw_mutex</a:t>
            </a: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en-US" dirty="0"/>
              <a:t>initialized to 1</a:t>
            </a:r>
          </a:p>
          <a:p>
            <a:pPr lvl="1"/>
            <a:r>
              <a:rPr lang="en-US" altLang="en-US" dirty="0"/>
              <a:t>Semaphore </a:t>
            </a: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mutex</a:t>
            </a: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en-US" dirty="0"/>
              <a:t>initialized to 1</a:t>
            </a:r>
          </a:p>
          <a:p>
            <a:pPr lvl="1"/>
            <a:r>
              <a:rPr lang="en-US" altLang="en-US" dirty="0"/>
              <a:t>Integer </a:t>
            </a:r>
            <a:r>
              <a:rPr lang="en-US" altLang="en-US" sz="20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read_count</a:t>
            </a:r>
            <a:r>
              <a:rPr lang="en-US" altLang="en-US" dirty="0"/>
              <a:t> initialized to 0</a:t>
            </a:r>
          </a:p>
          <a:p>
            <a:pPr lvl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39678385"/>
      </p:ext>
    </p:extLst>
  </p:cSld>
  <p:clrMapOvr>
    <a:masterClrMapping/>
  </p:clrMapOvr>
</p:sld>
</file>

<file path=ppt/theme/theme1.xml><?xml version="1.0" encoding="utf-8"?>
<a:theme xmlns:a="http://schemas.openxmlformats.org/drawingml/2006/main" name="os-8">
  <a:themeElements>
    <a:clrScheme name="os-8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os-8">
      <a:majorFont>
        <a:latin typeface="Arial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lnDef>
  </a:objectDefaults>
  <a:extraClrSchemeLst>
    <a:extraClrScheme>
      <a:clrScheme name="os-8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OS8</Template>
  <TotalTime>12931</TotalTime>
  <Words>881</Words>
  <Application>Microsoft Office PowerPoint</Application>
  <PresentationFormat>On-screen Show (4:3)</PresentationFormat>
  <Paragraphs>163</Paragraphs>
  <Slides>32</Slides>
  <Notes>13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3" baseType="lpstr">
      <vt:lpstr>os-8</vt:lpstr>
      <vt:lpstr>Advanced Synchronization Examples</vt:lpstr>
      <vt:lpstr>Outline</vt:lpstr>
      <vt:lpstr>Kernel Synchronization - Windows</vt:lpstr>
      <vt:lpstr>Kernel Synchronization - Windows</vt:lpstr>
      <vt:lpstr>Linux Synchronization</vt:lpstr>
      <vt:lpstr>Linux Synchronization</vt:lpstr>
      <vt:lpstr>POSIX Synchronization</vt:lpstr>
      <vt:lpstr>POSIX Mutex Locks</vt:lpstr>
      <vt:lpstr>POSIX Semaphores</vt:lpstr>
      <vt:lpstr>POSIX Named Semaphores</vt:lpstr>
      <vt:lpstr>POSIX Unnamed Semaphores</vt:lpstr>
      <vt:lpstr>POSIX Condition Variables</vt:lpstr>
      <vt:lpstr>POSIX Condition Variables</vt:lpstr>
      <vt:lpstr>Java Synchronization</vt:lpstr>
      <vt:lpstr>Java Monitors</vt:lpstr>
      <vt:lpstr>Bounded Buffer – Java Synchronization</vt:lpstr>
      <vt:lpstr>Java Synchronization</vt:lpstr>
      <vt:lpstr>Java Synchronization</vt:lpstr>
      <vt:lpstr>Java Synchronization</vt:lpstr>
      <vt:lpstr>Bounded Buffer – Java Synchronization</vt:lpstr>
      <vt:lpstr>Bounded Buffer – Java Synchronization</vt:lpstr>
      <vt:lpstr>Java Reentrant Locks</vt:lpstr>
      <vt:lpstr>Java Semaphores</vt:lpstr>
      <vt:lpstr>Java Condition Variables</vt:lpstr>
      <vt:lpstr>Java Condition Variables</vt:lpstr>
      <vt:lpstr>Java Condition Variables</vt:lpstr>
      <vt:lpstr>Alternative Approaches</vt:lpstr>
      <vt:lpstr>PowerPoint Presentation</vt:lpstr>
      <vt:lpstr>PowerPoint Presentation</vt:lpstr>
      <vt:lpstr>PowerPoint Presentation</vt:lpstr>
      <vt:lpstr>End of Chapter 7</vt:lpstr>
      <vt:lpstr>Readers-Writers Problem</vt:lpstr>
    </vt:vector>
  </TitlesOfParts>
  <Company>Lucent Technologies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2.01</dc:title>
  <dc:creator>Lucent End User</dc:creator>
  <cp:lastModifiedBy>Admin</cp:lastModifiedBy>
  <cp:revision>267</cp:revision>
  <cp:lastPrinted>2013-09-18T17:45:18Z</cp:lastPrinted>
  <dcterms:created xsi:type="dcterms:W3CDTF">2011-01-13T23:43:38Z</dcterms:created>
  <dcterms:modified xsi:type="dcterms:W3CDTF">2020-09-07T01:19:53Z</dcterms:modified>
</cp:coreProperties>
</file>