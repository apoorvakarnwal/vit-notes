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8" r:id="rId6"/>
    <p:sldId id="260" r:id="rId7"/>
    <p:sldId id="261" r:id="rId8"/>
    <p:sldId id="262" r:id="rId9"/>
    <p:sldId id="263" r:id="rId10"/>
    <p:sldId id="264" r:id="rId11"/>
    <p:sldId id="265" r:id="rId12"/>
    <p:sldId id="266" r:id="rId13"/>
    <p:sldId id="267" r:id="rId14"/>
    <p:sldId id="268" r:id="rId15"/>
    <p:sldId id="269"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9" r:id="rId32"/>
    <p:sldId id="291" r:id="rId33"/>
    <p:sldId id="292" r:id="rId34"/>
    <p:sldId id="290" r:id="rId35"/>
    <p:sldId id="28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16-06-2023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91386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16-06-2023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80704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32325D-EA83-442D-8BCF-331801B85553}" type="datetimeFigureOut">
              <a:rPr lang="en-IN" smtClean="0"/>
              <a:t>16-06-2023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56650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E32325D-EA83-442D-8BCF-331801B85553}" type="datetimeFigureOut">
              <a:rPr lang="en-IN" smtClean="0"/>
              <a:t>16-06-2023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488402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E32325D-EA83-442D-8BCF-331801B85553}" type="datetimeFigureOut">
              <a:rPr lang="en-IN" smtClean="0"/>
              <a:t>16-06-2023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717038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E32325D-EA83-442D-8BCF-331801B85553}" type="datetimeFigureOut">
              <a:rPr lang="en-IN" smtClean="0"/>
              <a:t>16-06-2023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2542604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32325D-EA83-442D-8BCF-331801B85553}" type="datetimeFigureOut">
              <a:rPr lang="en-IN" smtClean="0"/>
              <a:t>16-06-2023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63356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32325D-EA83-442D-8BCF-331801B85553}" type="datetimeFigureOut">
              <a:rPr lang="en-IN" smtClean="0"/>
              <a:t>16-06-2023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32584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32325D-EA83-442D-8BCF-331801B85553}" type="datetimeFigureOut">
              <a:rPr lang="en-IN" smtClean="0"/>
              <a:t>16-06-2023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3433920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16-06-2023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1470477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32325D-EA83-442D-8BCF-331801B85553}" type="datetimeFigureOut">
              <a:rPr lang="en-IN" smtClean="0"/>
              <a:t>16-06-2023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2F4D9F-FA38-4BDD-AF89-2F493035F484}" type="slidenum">
              <a:rPr lang="en-IN" smtClean="0"/>
              <a:t>‹#›</a:t>
            </a:fld>
            <a:endParaRPr lang="en-IN"/>
          </a:p>
        </p:txBody>
      </p:sp>
    </p:spTree>
    <p:extLst>
      <p:ext uri="{BB962C8B-B14F-4D97-AF65-F5344CB8AC3E}">
        <p14:creationId xmlns:p14="http://schemas.microsoft.com/office/powerpoint/2010/main" val="27252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32325D-EA83-442D-8BCF-331801B85553}" type="datetimeFigureOut">
              <a:rPr lang="en-IN" smtClean="0"/>
              <a:t>16-06-2023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2F4D9F-FA38-4BDD-AF89-2F493035F484}" type="slidenum">
              <a:rPr lang="en-IN" smtClean="0"/>
              <a:t>‹#›</a:t>
            </a:fld>
            <a:endParaRPr lang="en-IN"/>
          </a:p>
        </p:txBody>
      </p:sp>
    </p:spTree>
    <p:extLst>
      <p:ext uri="{BB962C8B-B14F-4D97-AF65-F5344CB8AC3E}">
        <p14:creationId xmlns:p14="http://schemas.microsoft.com/office/powerpoint/2010/main" val="2539292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FF"/>
                </a:solidFill>
              </a:rPr>
              <a:t>Extendible </a:t>
            </a:r>
            <a:r>
              <a:rPr lang="en-US" b="1" dirty="0" smtClean="0">
                <a:solidFill>
                  <a:srgbClr val="FF00FF"/>
                </a:solidFill>
              </a:rPr>
              <a:t>Hashing and </a:t>
            </a:r>
            <a:br>
              <a:rPr lang="en-US" b="1" dirty="0" smtClean="0">
                <a:solidFill>
                  <a:srgbClr val="FF00FF"/>
                </a:solidFill>
              </a:rPr>
            </a:br>
            <a:r>
              <a:rPr lang="en-US" b="1" dirty="0" smtClean="0">
                <a:solidFill>
                  <a:srgbClr val="FF00FF"/>
                </a:solidFill>
              </a:rPr>
              <a:t>Dynamic Hashing</a:t>
            </a:r>
            <a:endParaRPr lang="en-IN" b="1" dirty="0">
              <a:solidFill>
                <a:srgbClr val="FF00FF"/>
              </a:solidFill>
            </a:endParaRPr>
          </a:p>
        </p:txBody>
      </p:sp>
    </p:spTree>
    <p:extLst>
      <p:ext uri="{BB962C8B-B14F-4D97-AF65-F5344CB8AC3E}">
        <p14:creationId xmlns:p14="http://schemas.microsoft.com/office/powerpoint/2010/main" val="4022614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fontScale="85000" lnSpcReduction="10000"/>
          </a:bodyPr>
          <a:lstStyle/>
          <a:p>
            <a:endParaRPr lang="en-IN" dirty="0"/>
          </a:p>
          <a:p>
            <a:r>
              <a:rPr lang="en-US" b="1" dirty="0"/>
              <a:t>Extendible Hashing</a:t>
            </a:r>
            <a:endParaRPr lang="en-IN" dirty="0"/>
          </a:p>
          <a:p>
            <a:pPr lvl="1"/>
            <a:r>
              <a:rPr lang="en-IN" b="1" dirty="0" smtClean="0">
                <a:effectLst/>
              </a:rPr>
              <a:t>Extendible Hashing</a:t>
            </a:r>
            <a:r>
              <a:rPr lang="en-IN" dirty="0" smtClean="0">
                <a:effectLst/>
              </a:rPr>
              <a:t> is a dynamic hashing method wherein directories, and buckets are used to hash data.</a:t>
            </a:r>
          </a:p>
          <a:p>
            <a:pPr lvl="1"/>
            <a:r>
              <a:rPr lang="en-IN" dirty="0" smtClean="0">
                <a:effectLst/>
              </a:rPr>
              <a:t>It is an aggressively flexible method in which the hash function also experiences dynamic changes. </a:t>
            </a:r>
          </a:p>
          <a:p>
            <a:r>
              <a:rPr lang="en-IN" b="1" dirty="0" smtClean="0"/>
              <a:t>Main </a:t>
            </a:r>
            <a:r>
              <a:rPr lang="en-IN" b="1" dirty="0"/>
              <a:t>features of Extendible Hashing</a:t>
            </a:r>
            <a:r>
              <a:rPr lang="en-IN" dirty="0"/>
              <a:t>: The main features in this hashing technique are: </a:t>
            </a:r>
          </a:p>
          <a:p>
            <a:r>
              <a:rPr lang="en-IN" b="1" dirty="0"/>
              <a:t>Directories:</a:t>
            </a:r>
            <a:r>
              <a:rPr lang="en-IN" dirty="0"/>
              <a:t> </a:t>
            </a:r>
            <a:endParaRPr lang="en-IN" dirty="0" smtClean="0"/>
          </a:p>
          <a:p>
            <a:pPr lvl="1"/>
            <a:r>
              <a:rPr lang="en-IN" dirty="0" smtClean="0"/>
              <a:t>The </a:t>
            </a:r>
            <a:r>
              <a:rPr lang="en-IN" dirty="0"/>
              <a:t>directories </a:t>
            </a:r>
            <a:r>
              <a:rPr lang="en-IN" dirty="0">
                <a:solidFill>
                  <a:srgbClr val="FF0000"/>
                </a:solidFill>
              </a:rPr>
              <a:t>store addresses of the buckets in pointers</a:t>
            </a:r>
            <a:r>
              <a:rPr lang="en-IN" dirty="0"/>
              <a:t>. </a:t>
            </a:r>
            <a:endParaRPr lang="en-IN" dirty="0" smtClean="0"/>
          </a:p>
          <a:p>
            <a:pPr lvl="1"/>
            <a:r>
              <a:rPr lang="en-IN" dirty="0" smtClean="0"/>
              <a:t>An </a:t>
            </a:r>
            <a:r>
              <a:rPr lang="en-IN" dirty="0"/>
              <a:t>id is assigned to each directory which may change each time when Directory Expansion takes place.</a:t>
            </a:r>
          </a:p>
          <a:p>
            <a:r>
              <a:rPr lang="en-IN" b="1" dirty="0"/>
              <a:t>Buckets:</a:t>
            </a:r>
            <a:r>
              <a:rPr lang="en-IN" dirty="0"/>
              <a:t> The buckets </a:t>
            </a:r>
            <a:r>
              <a:rPr lang="en-IN" dirty="0">
                <a:solidFill>
                  <a:srgbClr val="FF0000"/>
                </a:solidFill>
              </a:rPr>
              <a:t>are used to hash the actual data</a:t>
            </a:r>
            <a:r>
              <a:rPr lang="en-IN" dirty="0"/>
              <a:t>.</a:t>
            </a:r>
          </a:p>
          <a:p>
            <a:endParaRPr lang="en-IN" dirty="0"/>
          </a:p>
        </p:txBody>
      </p:sp>
    </p:spTree>
    <p:extLst>
      <p:ext uri="{BB962C8B-B14F-4D97-AF65-F5344CB8AC3E}">
        <p14:creationId xmlns:p14="http://schemas.microsoft.com/office/powerpoint/2010/main" val="14099386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Basic Structure of Extendible </a:t>
            </a:r>
            <a:r>
              <a:rPr lang="en-IN" b="1" dirty="0" smtClean="0"/>
              <a:t>Hashing</a:t>
            </a:r>
            <a:r>
              <a:rPr lang="en-IN" dirty="0"/>
              <a:t/>
            </a:r>
            <a:br>
              <a:rPr lang="en-IN" dirty="0"/>
            </a:br>
            <a:endParaRPr lang="en-IN" dirty="0"/>
          </a:p>
        </p:txBody>
      </p:sp>
      <p:pic>
        <p:nvPicPr>
          <p:cNvPr id="4" name="Content Placeholder 3" descr="https://media.geeksforgeeks.org/wp-content/uploads/20190806160015/Basic-Structure-of-Extendible-Hashin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908720"/>
            <a:ext cx="6984776" cy="5688632"/>
          </a:xfrm>
          <a:prstGeom prst="rect">
            <a:avLst/>
          </a:prstGeom>
          <a:noFill/>
          <a:ln>
            <a:noFill/>
          </a:ln>
        </p:spPr>
      </p:pic>
    </p:spTree>
    <p:extLst>
      <p:ext uri="{BB962C8B-B14F-4D97-AF65-F5344CB8AC3E}">
        <p14:creationId xmlns:p14="http://schemas.microsoft.com/office/powerpoint/2010/main" val="3732768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sz="3200" b="1" dirty="0" smtClean="0"/>
              <a:t>Frequently used terms in Extendible Hashing</a:t>
            </a:r>
            <a:r>
              <a:rPr lang="en-IN" sz="3200" dirty="0" smtClean="0"/>
              <a:t/>
            </a:r>
            <a:br>
              <a:rPr lang="en-IN" sz="3200" dirty="0" smtClean="0"/>
            </a:br>
            <a:endParaRPr lang="en-IN" sz="3200" dirty="0"/>
          </a:p>
        </p:txBody>
      </p:sp>
      <p:sp>
        <p:nvSpPr>
          <p:cNvPr id="3" name="Content Placeholder 2"/>
          <p:cNvSpPr>
            <a:spLocks noGrp="1"/>
          </p:cNvSpPr>
          <p:nvPr>
            <p:ph idx="1"/>
          </p:nvPr>
        </p:nvSpPr>
        <p:spPr>
          <a:xfrm>
            <a:off x="0" y="692696"/>
            <a:ext cx="8964488" cy="6048672"/>
          </a:xfrm>
        </p:spPr>
        <p:txBody>
          <a:bodyPr>
            <a:normAutofit fontScale="92500" lnSpcReduction="10000"/>
          </a:bodyPr>
          <a:lstStyle/>
          <a:p>
            <a:r>
              <a:rPr lang="en-IN" b="1" dirty="0" smtClean="0"/>
              <a:t>Directories</a:t>
            </a:r>
            <a:r>
              <a:rPr lang="en-IN" b="1" dirty="0"/>
              <a:t>: </a:t>
            </a:r>
            <a:r>
              <a:rPr lang="en-IN" dirty="0"/>
              <a:t>These containers </a:t>
            </a:r>
            <a:r>
              <a:rPr lang="en-IN" dirty="0">
                <a:solidFill>
                  <a:srgbClr val="FF0000"/>
                </a:solidFill>
              </a:rPr>
              <a:t>store pointers to buckets</a:t>
            </a:r>
            <a:r>
              <a:rPr lang="en-IN" dirty="0"/>
              <a:t>. Each directory is given a unique id which may change each time when expansion takes place. The hash function returns this directory id which is used to navigate to the appropriate bucket</a:t>
            </a:r>
            <a:r>
              <a:rPr lang="en-IN" dirty="0">
                <a:solidFill>
                  <a:srgbClr val="FF0000"/>
                </a:solidFill>
              </a:rPr>
              <a:t>. Number of Directories = 2^Global Depth</a:t>
            </a:r>
            <a:r>
              <a:rPr lang="en-IN" dirty="0"/>
              <a:t>.</a:t>
            </a:r>
          </a:p>
          <a:p>
            <a:r>
              <a:rPr lang="en-IN" b="1" dirty="0"/>
              <a:t>Buckets</a:t>
            </a:r>
            <a:r>
              <a:rPr lang="en-IN" dirty="0"/>
              <a:t>: They </a:t>
            </a:r>
            <a:r>
              <a:rPr lang="en-IN" dirty="0">
                <a:solidFill>
                  <a:srgbClr val="FF0000"/>
                </a:solidFill>
              </a:rPr>
              <a:t>store the hashed keys</a:t>
            </a:r>
            <a:r>
              <a:rPr lang="en-IN" dirty="0"/>
              <a:t>. Directories point to buckets. A bucket may contain more than one pointers to it if its local depth is less than the global depth.</a:t>
            </a:r>
          </a:p>
          <a:p>
            <a:r>
              <a:rPr lang="en-IN" b="1" dirty="0"/>
              <a:t>Global Depth</a:t>
            </a:r>
            <a:r>
              <a:rPr lang="en-IN" b="1" dirty="0">
                <a:solidFill>
                  <a:srgbClr val="FF0000"/>
                </a:solidFill>
              </a:rPr>
              <a:t>: </a:t>
            </a:r>
            <a:r>
              <a:rPr lang="en-IN" dirty="0">
                <a:solidFill>
                  <a:srgbClr val="FF0000"/>
                </a:solidFill>
              </a:rPr>
              <a:t>It is associated with the Directories</a:t>
            </a:r>
            <a:r>
              <a:rPr lang="en-IN" dirty="0"/>
              <a:t>. They denote the number of bits which are used by the hash function to categorize the keys</a:t>
            </a:r>
            <a:r>
              <a:rPr lang="en-IN" dirty="0">
                <a:solidFill>
                  <a:srgbClr val="FF0000"/>
                </a:solidFill>
              </a:rPr>
              <a:t>. Global Depth = Number of bits in directory id.</a:t>
            </a:r>
          </a:p>
          <a:p>
            <a:endParaRPr lang="en-IN" dirty="0"/>
          </a:p>
        </p:txBody>
      </p:sp>
    </p:spTree>
    <p:extLst>
      <p:ext uri="{BB962C8B-B14F-4D97-AF65-F5344CB8AC3E}">
        <p14:creationId xmlns:p14="http://schemas.microsoft.com/office/powerpoint/2010/main" val="30473012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480720"/>
          </a:xfrm>
        </p:spPr>
        <p:txBody>
          <a:bodyPr>
            <a:normAutofit fontScale="92500" lnSpcReduction="20000"/>
          </a:bodyPr>
          <a:lstStyle/>
          <a:p>
            <a:r>
              <a:rPr lang="en-IN" b="1" dirty="0" smtClean="0"/>
              <a:t>Local Depth: </a:t>
            </a:r>
            <a:r>
              <a:rPr lang="en-IN" dirty="0" smtClean="0"/>
              <a:t>It is the same as that of Global Depth except for the fact that Local Depth is </a:t>
            </a:r>
            <a:r>
              <a:rPr lang="en-IN" dirty="0" smtClean="0">
                <a:solidFill>
                  <a:srgbClr val="FF0000"/>
                </a:solidFill>
              </a:rPr>
              <a:t>associated with the buckets </a:t>
            </a:r>
            <a:r>
              <a:rPr lang="en-IN" dirty="0" smtClean="0"/>
              <a:t>and not the directories. Local depth in accordance with the global depth is used to decide the action that to be performed in case an overflow occurs</a:t>
            </a:r>
            <a:r>
              <a:rPr lang="en-IN" dirty="0" smtClean="0">
                <a:solidFill>
                  <a:srgbClr val="FF0000"/>
                </a:solidFill>
              </a:rPr>
              <a:t>. Local Depth is always less than or equal to the Global Depth.</a:t>
            </a:r>
          </a:p>
          <a:p>
            <a:r>
              <a:rPr lang="en-IN" b="1" dirty="0" smtClean="0"/>
              <a:t>Bucket Splitting</a:t>
            </a:r>
            <a:r>
              <a:rPr lang="en-IN" dirty="0" smtClean="0"/>
              <a:t>: When the number of elements in a bucket </a:t>
            </a:r>
            <a:r>
              <a:rPr lang="en-IN" dirty="0" smtClean="0">
                <a:solidFill>
                  <a:srgbClr val="FF0000"/>
                </a:solidFill>
              </a:rPr>
              <a:t>exceeds a particular size</a:t>
            </a:r>
            <a:r>
              <a:rPr lang="en-IN" dirty="0" smtClean="0"/>
              <a:t>, then the bucket is split into two parts.</a:t>
            </a:r>
          </a:p>
          <a:p>
            <a:r>
              <a:rPr lang="en-IN" b="1" dirty="0" smtClean="0"/>
              <a:t>Directory Expansion: </a:t>
            </a:r>
            <a:r>
              <a:rPr lang="en-IN" dirty="0" smtClean="0"/>
              <a:t>Directory Expansion Takes place </a:t>
            </a:r>
            <a:r>
              <a:rPr lang="en-IN" dirty="0" smtClean="0">
                <a:solidFill>
                  <a:srgbClr val="FF0000"/>
                </a:solidFill>
              </a:rPr>
              <a:t>when a bucket overflows.</a:t>
            </a:r>
            <a:r>
              <a:rPr lang="en-IN" dirty="0" smtClean="0"/>
              <a:t> Directory Expansion is performed when the local depth of the overflowing bucket is equal to the global depth.</a:t>
            </a:r>
          </a:p>
          <a:p>
            <a:endParaRPr lang="en-IN" dirty="0"/>
          </a:p>
        </p:txBody>
      </p:sp>
    </p:spTree>
    <p:extLst>
      <p:ext uri="{BB962C8B-B14F-4D97-AF65-F5344CB8AC3E}">
        <p14:creationId xmlns:p14="http://schemas.microsoft.com/office/powerpoint/2010/main" val="36143905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Basic Working of Extendible </a:t>
            </a:r>
            <a:r>
              <a:rPr lang="en-IN" b="1" dirty="0" smtClean="0"/>
              <a:t>Hashing</a:t>
            </a:r>
            <a:r>
              <a:rPr lang="en-IN" dirty="0"/>
              <a:t/>
            </a:r>
            <a:br>
              <a:rPr lang="en-IN" dirty="0"/>
            </a:br>
            <a:endParaRPr lang="en-IN" dirty="0"/>
          </a:p>
        </p:txBody>
      </p:sp>
      <p:pic>
        <p:nvPicPr>
          <p:cNvPr id="4" name="Content Placeholder 3" descr="https://media.geeksforgeeks.org/wp-content/uploads/20190806160342/Basic-Working-of-Extendible-Hashin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764704"/>
            <a:ext cx="7632847" cy="5832648"/>
          </a:xfrm>
          <a:prstGeom prst="rect">
            <a:avLst/>
          </a:prstGeom>
          <a:noFill/>
          <a:ln>
            <a:noFill/>
          </a:ln>
        </p:spPr>
      </p:pic>
    </p:spTree>
    <p:extLst>
      <p:ext uri="{BB962C8B-B14F-4D97-AF65-F5344CB8AC3E}">
        <p14:creationId xmlns:p14="http://schemas.microsoft.com/office/powerpoint/2010/main" val="1316336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669360"/>
          </a:xfrm>
        </p:spPr>
        <p:txBody>
          <a:bodyPr>
            <a:normAutofit lnSpcReduction="10000"/>
          </a:bodyPr>
          <a:lstStyle/>
          <a:p>
            <a:pPr lvl="0" fontAlgn="base"/>
            <a:r>
              <a:rPr lang="en-IN" b="1" dirty="0"/>
              <a:t>Step 1 – </a:t>
            </a:r>
            <a:r>
              <a:rPr lang="en-IN" b="1" dirty="0" err="1"/>
              <a:t>Analyze</a:t>
            </a:r>
            <a:r>
              <a:rPr lang="en-IN" b="1" dirty="0"/>
              <a:t> Data Elements: </a:t>
            </a:r>
            <a:r>
              <a:rPr lang="en-IN" dirty="0"/>
              <a:t>Data elements may exist in various forms </a:t>
            </a:r>
            <a:r>
              <a:rPr lang="en-IN" dirty="0" err="1"/>
              <a:t>eg</a:t>
            </a:r>
            <a:r>
              <a:rPr lang="en-IN" dirty="0">
                <a:solidFill>
                  <a:srgbClr val="FF0000"/>
                </a:solidFill>
              </a:rPr>
              <a:t>. Integer, String, Float, </a:t>
            </a:r>
            <a:r>
              <a:rPr lang="en-IN" dirty="0"/>
              <a:t>etc.. Currently, let us consider data elements of type integer. </a:t>
            </a:r>
            <a:r>
              <a:rPr lang="en-IN" dirty="0" err="1"/>
              <a:t>eg</a:t>
            </a:r>
            <a:r>
              <a:rPr lang="en-IN" dirty="0"/>
              <a:t>: 49.</a:t>
            </a:r>
          </a:p>
          <a:p>
            <a:pPr lvl="0" fontAlgn="base"/>
            <a:r>
              <a:rPr lang="en-IN" b="1" dirty="0"/>
              <a:t>Step 2 – Convert into binary format: </a:t>
            </a:r>
            <a:r>
              <a:rPr lang="en-IN" dirty="0"/>
              <a:t>Convert the data element in Binary form. For string elements, consider the ASCII equivalent integer of the starting character and then convert the integer into binary form. Since we have 49 as our data element, its binary form is </a:t>
            </a:r>
            <a:r>
              <a:rPr lang="en-IN" dirty="0">
                <a:solidFill>
                  <a:srgbClr val="FF0000"/>
                </a:solidFill>
              </a:rPr>
              <a:t>110001</a:t>
            </a:r>
            <a:r>
              <a:rPr lang="en-IN" dirty="0"/>
              <a:t>.</a:t>
            </a:r>
          </a:p>
          <a:p>
            <a:pPr lvl="0" fontAlgn="base"/>
            <a:r>
              <a:rPr lang="en-IN" b="1" dirty="0"/>
              <a:t>Step 3 – Check Global Depth of the directory.</a:t>
            </a:r>
            <a:r>
              <a:rPr lang="en-IN" dirty="0"/>
              <a:t> Suppose the global depth of the Hash-directory is 3.</a:t>
            </a:r>
          </a:p>
          <a:p>
            <a:endParaRPr lang="en-IN" dirty="0"/>
          </a:p>
        </p:txBody>
      </p:sp>
    </p:spTree>
    <p:extLst>
      <p:ext uri="{BB962C8B-B14F-4D97-AF65-F5344CB8AC3E}">
        <p14:creationId xmlns:p14="http://schemas.microsoft.com/office/powerpoint/2010/main" val="13304733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741368"/>
          </a:xfrm>
        </p:spPr>
        <p:txBody>
          <a:bodyPr>
            <a:normAutofit lnSpcReduction="10000"/>
          </a:bodyPr>
          <a:lstStyle/>
          <a:p>
            <a:pPr fontAlgn="base"/>
            <a:r>
              <a:rPr lang="en-IN" b="1" dirty="0" smtClean="0"/>
              <a:t>Step 4 – Identify the Directory: </a:t>
            </a:r>
            <a:r>
              <a:rPr lang="en-IN" dirty="0" smtClean="0"/>
              <a:t>Consider the ‘Global-Depth’ number of LSBs in the binary number and match it to the directory id. </a:t>
            </a:r>
            <a:br>
              <a:rPr lang="en-IN" dirty="0" smtClean="0"/>
            </a:br>
            <a:r>
              <a:rPr lang="en-IN" dirty="0" err="1" smtClean="0"/>
              <a:t>Eg</a:t>
            </a:r>
            <a:r>
              <a:rPr lang="en-IN" dirty="0" smtClean="0"/>
              <a:t>. The binary obtained is: 110001 and the global-depth is 3. So, the hash function will return 3 LSBs of 110</a:t>
            </a:r>
            <a:r>
              <a:rPr lang="en-IN" b="1" dirty="0" smtClean="0"/>
              <a:t>001</a:t>
            </a:r>
            <a:r>
              <a:rPr lang="en-IN" dirty="0" smtClean="0"/>
              <a:t> viz. </a:t>
            </a:r>
            <a:r>
              <a:rPr lang="en-IN" dirty="0" smtClean="0">
                <a:solidFill>
                  <a:srgbClr val="FF0000"/>
                </a:solidFill>
              </a:rPr>
              <a:t>001</a:t>
            </a:r>
            <a:r>
              <a:rPr lang="en-IN" dirty="0" smtClean="0"/>
              <a:t>.</a:t>
            </a:r>
          </a:p>
          <a:p>
            <a:pPr lvl="0" fontAlgn="base"/>
            <a:r>
              <a:rPr lang="en-IN" b="1" dirty="0" smtClean="0"/>
              <a:t>Step </a:t>
            </a:r>
            <a:r>
              <a:rPr lang="en-IN" b="1" dirty="0"/>
              <a:t>5 – Navigation: </a:t>
            </a:r>
            <a:r>
              <a:rPr lang="en-IN" dirty="0"/>
              <a:t>Now, navigate to the bucket pointed by the directory with directory-id 001.</a:t>
            </a:r>
          </a:p>
          <a:p>
            <a:pPr lvl="0" fontAlgn="base"/>
            <a:r>
              <a:rPr lang="en-IN" b="1" dirty="0"/>
              <a:t>Step 6 – Insertion and Overflow Check: </a:t>
            </a:r>
            <a:r>
              <a:rPr lang="en-IN" dirty="0"/>
              <a:t>Insert the element and check if the bucket overflows. If an overflow is encountered, go to </a:t>
            </a:r>
            <a:r>
              <a:rPr lang="en-IN" b="1" dirty="0"/>
              <a:t>step 7</a:t>
            </a:r>
            <a:r>
              <a:rPr lang="en-IN" dirty="0"/>
              <a:t> followed by </a:t>
            </a:r>
            <a:r>
              <a:rPr lang="en-IN" b="1" dirty="0"/>
              <a:t>Step 8</a:t>
            </a:r>
            <a:r>
              <a:rPr lang="en-IN" dirty="0"/>
              <a:t>, otherwise, go to </a:t>
            </a:r>
            <a:r>
              <a:rPr lang="en-IN" b="1" dirty="0"/>
              <a:t>step 9</a:t>
            </a:r>
            <a:r>
              <a:rPr lang="en-IN" dirty="0"/>
              <a:t>.</a:t>
            </a:r>
          </a:p>
          <a:p>
            <a:endParaRPr lang="en-IN" dirty="0"/>
          </a:p>
        </p:txBody>
      </p:sp>
    </p:spTree>
    <p:extLst>
      <p:ext uri="{BB962C8B-B14F-4D97-AF65-F5344CB8AC3E}">
        <p14:creationId xmlns:p14="http://schemas.microsoft.com/office/powerpoint/2010/main" val="1660490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84976" cy="6552728"/>
          </a:xfrm>
        </p:spPr>
        <p:txBody>
          <a:bodyPr>
            <a:normAutofit fontScale="85000" lnSpcReduction="10000"/>
          </a:bodyPr>
          <a:lstStyle/>
          <a:p>
            <a:pPr lvl="0" fontAlgn="base"/>
            <a:r>
              <a:rPr lang="en-IN" b="1" dirty="0"/>
              <a:t>Step 7 – Tackling Over Flow Condition during Data Insertion: </a:t>
            </a:r>
            <a:r>
              <a:rPr lang="en-IN" dirty="0"/>
              <a:t>Many times, while inserting data in the buckets, it might happen that the Bucket overflows. In such cases, we need to follow an appropriate procedure to avoid mishandling of data. </a:t>
            </a:r>
            <a:br>
              <a:rPr lang="en-IN" dirty="0"/>
            </a:br>
            <a:r>
              <a:rPr lang="en-IN" dirty="0"/>
              <a:t>First, Check if the local depth is less than or equal to the global depth. Then choose one of the cases below. </a:t>
            </a:r>
            <a:endParaRPr lang="en-IN" sz="2400" dirty="0"/>
          </a:p>
          <a:p>
            <a:pPr lvl="1" fontAlgn="base"/>
            <a:r>
              <a:rPr lang="en-IN" b="1" dirty="0"/>
              <a:t>Case1:</a:t>
            </a:r>
            <a:r>
              <a:rPr lang="en-IN" dirty="0">
                <a:solidFill>
                  <a:srgbClr val="FF0000"/>
                </a:solidFill>
              </a:rPr>
              <a:t> If the local depth of the overflowing Bucket is </a:t>
            </a:r>
            <a:r>
              <a:rPr lang="en-IN" b="1" dirty="0">
                <a:solidFill>
                  <a:srgbClr val="FF0000"/>
                </a:solidFill>
              </a:rPr>
              <a:t>equal to </a:t>
            </a:r>
            <a:r>
              <a:rPr lang="en-IN" dirty="0">
                <a:solidFill>
                  <a:srgbClr val="FF0000"/>
                </a:solidFill>
              </a:rPr>
              <a:t>the global depth, then </a:t>
            </a:r>
            <a:r>
              <a:rPr lang="en-IN" b="1" dirty="0">
                <a:solidFill>
                  <a:srgbClr val="FF0000"/>
                </a:solidFill>
              </a:rPr>
              <a:t>Directory Expansion, as well as Bucket Split, needs to be performed</a:t>
            </a:r>
            <a:r>
              <a:rPr lang="en-IN" dirty="0"/>
              <a:t>. Then increment the global depth and the local depth value by 1. And, assign appropriate pointers. </a:t>
            </a:r>
            <a:br>
              <a:rPr lang="en-IN" dirty="0"/>
            </a:br>
            <a:r>
              <a:rPr lang="en-IN" dirty="0"/>
              <a:t>Directory expansion will double the number of directories present in the hash structure.</a:t>
            </a:r>
            <a:endParaRPr lang="en-IN" sz="2000" dirty="0"/>
          </a:p>
          <a:p>
            <a:pPr lvl="1" fontAlgn="base"/>
            <a:r>
              <a:rPr lang="en-IN" b="1" dirty="0"/>
              <a:t>Case2:</a:t>
            </a:r>
            <a:r>
              <a:rPr lang="en-IN" dirty="0"/>
              <a:t> In case the </a:t>
            </a:r>
            <a:r>
              <a:rPr lang="en-IN" dirty="0">
                <a:solidFill>
                  <a:srgbClr val="FF0000"/>
                </a:solidFill>
              </a:rPr>
              <a:t>local depth is </a:t>
            </a:r>
            <a:r>
              <a:rPr lang="en-IN" b="1" dirty="0">
                <a:solidFill>
                  <a:srgbClr val="FF0000"/>
                </a:solidFill>
              </a:rPr>
              <a:t>less than </a:t>
            </a:r>
            <a:r>
              <a:rPr lang="en-IN" dirty="0">
                <a:solidFill>
                  <a:srgbClr val="FF0000"/>
                </a:solidFill>
              </a:rPr>
              <a:t>the global depth, then </a:t>
            </a:r>
            <a:r>
              <a:rPr lang="en-IN" b="1" dirty="0">
                <a:solidFill>
                  <a:srgbClr val="FF0000"/>
                </a:solidFill>
              </a:rPr>
              <a:t>only Bucket Split takes place</a:t>
            </a:r>
            <a:r>
              <a:rPr lang="en-IN" dirty="0"/>
              <a:t>. Then increment only the local depth value by 1. And, assign appropriate pointers. </a:t>
            </a:r>
            <a:endParaRPr lang="en-IN" sz="2000" dirty="0"/>
          </a:p>
          <a:p>
            <a:endParaRPr lang="en-IN" dirty="0"/>
          </a:p>
        </p:txBody>
      </p:sp>
    </p:spTree>
    <p:extLst>
      <p:ext uri="{BB962C8B-B14F-4D97-AF65-F5344CB8AC3E}">
        <p14:creationId xmlns:p14="http://schemas.microsoft.com/office/powerpoint/2010/main" val="3155666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3752/OverFlow3.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332656"/>
            <a:ext cx="7632848" cy="6264696"/>
          </a:xfrm>
          <a:prstGeom prst="rect">
            <a:avLst/>
          </a:prstGeom>
          <a:noFill/>
          <a:ln>
            <a:noFill/>
          </a:ln>
        </p:spPr>
      </p:pic>
    </p:spTree>
    <p:extLst>
      <p:ext uri="{BB962C8B-B14F-4D97-AF65-F5344CB8AC3E}">
        <p14:creationId xmlns:p14="http://schemas.microsoft.com/office/powerpoint/2010/main" val="18256897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fontAlgn="base"/>
            <a:r>
              <a:rPr lang="en-IN" b="1" dirty="0"/>
              <a:t>Step 8 – Rehashing of Split Bucket Elements: </a:t>
            </a:r>
            <a:r>
              <a:rPr lang="en-IN" dirty="0"/>
              <a:t>The Elements present in the overflowing bucket that is </a:t>
            </a:r>
            <a:r>
              <a:rPr lang="en-IN" dirty="0">
                <a:solidFill>
                  <a:srgbClr val="FF0000"/>
                </a:solidFill>
              </a:rPr>
              <a:t>split are rehashed </a:t>
            </a:r>
            <a:r>
              <a:rPr lang="en-IN" dirty="0"/>
              <a:t>w.r.t the new global depth of the directory.</a:t>
            </a:r>
          </a:p>
          <a:p>
            <a:pPr lvl="0" fontAlgn="base"/>
            <a:r>
              <a:rPr lang="en-IN" b="1" dirty="0"/>
              <a:t>Step 9 –</a:t>
            </a:r>
            <a:r>
              <a:rPr lang="en-IN" dirty="0"/>
              <a:t> The element is successfully hashed.</a:t>
            </a:r>
          </a:p>
          <a:p>
            <a:endParaRPr lang="en-IN" dirty="0"/>
          </a:p>
        </p:txBody>
      </p:sp>
    </p:spTree>
    <p:extLst>
      <p:ext uri="{BB962C8B-B14F-4D97-AF65-F5344CB8AC3E}">
        <p14:creationId xmlns:p14="http://schemas.microsoft.com/office/powerpoint/2010/main" val="3767960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462722"/>
          </a:xfrm>
        </p:spPr>
        <p:txBody>
          <a:bodyPr>
            <a:normAutofit fontScale="85000" lnSpcReduction="10000"/>
          </a:bodyPr>
          <a:lstStyle/>
          <a:p>
            <a:pPr fontAlgn="base"/>
            <a:r>
              <a:rPr lang="en-IN" b="1" u="sng" dirty="0"/>
              <a:t>Example based on Extendible Hashing:</a:t>
            </a:r>
            <a:r>
              <a:rPr lang="en-IN" dirty="0"/>
              <a:t> Now, let us consider a prominent example of hashing the following elements: </a:t>
            </a:r>
            <a:r>
              <a:rPr lang="en-IN" b="1" dirty="0"/>
              <a:t>16,4,6,22,24,10,31,7,9,20,26.</a:t>
            </a:r>
            <a:r>
              <a:rPr lang="en-IN" dirty="0"/>
              <a:t> </a:t>
            </a:r>
            <a:br>
              <a:rPr lang="en-IN" dirty="0"/>
            </a:br>
            <a:r>
              <a:rPr lang="en-IN" b="1" dirty="0">
                <a:solidFill>
                  <a:srgbClr val="FF0000"/>
                </a:solidFill>
              </a:rPr>
              <a:t>Bucket Size:</a:t>
            </a:r>
            <a:r>
              <a:rPr lang="en-IN" dirty="0">
                <a:solidFill>
                  <a:srgbClr val="FF0000"/>
                </a:solidFill>
              </a:rPr>
              <a:t> 3 (Assume) </a:t>
            </a:r>
            <a:endParaRPr lang="en-IN" dirty="0" smtClean="0">
              <a:solidFill>
                <a:srgbClr val="FF0000"/>
              </a:solidFill>
            </a:endParaRPr>
          </a:p>
          <a:p>
            <a:pPr marL="0" indent="0" fontAlgn="base">
              <a:buNone/>
            </a:pPr>
            <a:r>
              <a:rPr lang="en-IN" b="1" dirty="0" smtClean="0"/>
              <a:t>Hash </a:t>
            </a:r>
            <a:r>
              <a:rPr lang="en-IN" b="1" dirty="0"/>
              <a:t>Function:</a:t>
            </a:r>
            <a:r>
              <a:rPr lang="en-IN" dirty="0"/>
              <a:t> </a:t>
            </a:r>
            <a:r>
              <a:rPr lang="en-IN" dirty="0">
                <a:solidFill>
                  <a:srgbClr val="FF0000"/>
                </a:solidFill>
              </a:rPr>
              <a:t>Suppose the global depth is X. Then the Hash Function returns X LSBs. </a:t>
            </a:r>
            <a:r>
              <a:rPr lang="en-IN" dirty="0"/>
              <a:t/>
            </a:r>
            <a:br>
              <a:rPr lang="en-IN" dirty="0"/>
            </a:br>
            <a:endParaRPr lang="en-IN" dirty="0" smtClean="0"/>
          </a:p>
          <a:p>
            <a:pPr marL="0" indent="0" fontAlgn="base">
              <a:buNone/>
            </a:pPr>
            <a:r>
              <a:rPr lang="en-IN" dirty="0"/>
              <a:t> </a:t>
            </a:r>
            <a:r>
              <a:rPr lang="en-IN" b="1" dirty="0" smtClean="0"/>
              <a:t>Solution:</a:t>
            </a:r>
            <a:r>
              <a:rPr lang="en-IN" dirty="0" smtClean="0"/>
              <a:t> First, calculate the binary forms of each of the given numbers. </a:t>
            </a:r>
            <a:br>
              <a:rPr lang="en-IN" dirty="0" smtClean="0"/>
            </a:br>
            <a:endParaRPr lang="en-IN" dirty="0" smtClean="0"/>
          </a:p>
          <a:p>
            <a:pPr marL="0" indent="0" fontAlgn="base">
              <a:buNone/>
            </a:pPr>
            <a:r>
              <a:rPr lang="en-IN" dirty="0" smtClean="0"/>
              <a:t>16- 10000 </a:t>
            </a:r>
            <a:br>
              <a:rPr lang="en-IN" dirty="0" smtClean="0"/>
            </a:br>
            <a:r>
              <a:rPr lang="en-IN" dirty="0" smtClean="0"/>
              <a:t>4- 00100 </a:t>
            </a:r>
            <a:br>
              <a:rPr lang="en-IN" dirty="0" smtClean="0"/>
            </a:br>
            <a:r>
              <a:rPr lang="en-IN" dirty="0" smtClean="0"/>
              <a:t>6- 00110 </a:t>
            </a:r>
            <a:br>
              <a:rPr lang="en-IN" dirty="0" smtClean="0"/>
            </a:br>
            <a:r>
              <a:rPr lang="en-IN" dirty="0" smtClean="0"/>
              <a:t>22- 10110 </a:t>
            </a:r>
            <a:br>
              <a:rPr lang="en-IN" dirty="0" smtClean="0"/>
            </a:br>
            <a:r>
              <a:rPr lang="en-IN" dirty="0" smtClean="0"/>
              <a:t>24- 11000 </a:t>
            </a:r>
            <a:br>
              <a:rPr lang="en-IN" dirty="0" smtClean="0"/>
            </a:br>
            <a:endParaRPr lang="en-IN" dirty="0"/>
          </a:p>
        </p:txBody>
      </p:sp>
      <p:sp>
        <p:nvSpPr>
          <p:cNvPr id="4" name="TextBox 3"/>
          <p:cNvSpPr txBox="1"/>
          <p:nvPr/>
        </p:nvSpPr>
        <p:spPr>
          <a:xfrm>
            <a:off x="4355976" y="3717032"/>
            <a:ext cx="2448272" cy="2862322"/>
          </a:xfrm>
          <a:prstGeom prst="rect">
            <a:avLst/>
          </a:prstGeom>
          <a:noFill/>
        </p:spPr>
        <p:txBody>
          <a:bodyPr wrap="square" rtlCol="0">
            <a:spAutoFit/>
          </a:bodyPr>
          <a:lstStyle/>
          <a:p>
            <a:pPr lvl="0"/>
            <a:r>
              <a:rPr lang="en-IN" sz="3000" dirty="0" smtClean="0"/>
              <a:t>10- 01010 </a:t>
            </a:r>
            <a:br>
              <a:rPr lang="en-IN" sz="3000" dirty="0" smtClean="0"/>
            </a:br>
            <a:r>
              <a:rPr lang="en-IN" sz="3000" dirty="0" smtClean="0"/>
              <a:t>31- 11111 </a:t>
            </a:r>
            <a:br>
              <a:rPr lang="en-IN" sz="3000" dirty="0" smtClean="0"/>
            </a:br>
            <a:r>
              <a:rPr lang="en-IN" sz="3000" dirty="0" smtClean="0"/>
              <a:t>7- 00111 </a:t>
            </a:r>
            <a:br>
              <a:rPr lang="en-IN" sz="3000" dirty="0" smtClean="0"/>
            </a:br>
            <a:r>
              <a:rPr lang="en-IN" sz="3000" dirty="0" smtClean="0"/>
              <a:t>9- 01001 </a:t>
            </a:r>
            <a:br>
              <a:rPr lang="en-IN" sz="3000" dirty="0" smtClean="0"/>
            </a:br>
            <a:r>
              <a:rPr lang="en-IN" sz="3000" dirty="0" smtClean="0"/>
              <a:t>20- 10100 </a:t>
            </a:r>
            <a:br>
              <a:rPr lang="en-IN" sz="3000" dirty="0" smtClean="0"/>
            </a:br>
            <a:r>
              <a:rPr lang="en-IN" sz="3000" dirty="0" smtClean="0"/>
              <a:t>26- 11010</a:t>
            </a:r>
            <a:endParaRPr lang="en-IN" sz="3000" dirty="0"/>
          </a:p>
        </p:txBody>
      </p:sp>
    </p:spTree>
    <p:extLst>
      <p:ext uri="{BB962C8B-B14F-4D97-AF65-F5344CB8AC3E}">
        <p14:creationId xmlns:p14="http://schemas.microsoft.com/office/powerpoint/2010/main" val="17725062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pPr lvl="0"/>
            <a:r>
              <a:rPr lang="en-IN" sz="2800" dirty="0"/>
              <a:t>Initially, the global-depth and local-depth is always 1. Thus, the hashing frame looks like this: </a:t>
            </a:r>
          </a:p>
          <a:p>
            <a:endParaRPr lang="en-IN" dirty="0"/>
          </a:p>
        </p:txBody>
      </p:sp>
      <p:pic>
        <p:nvPicPr>
          <p:cNvPr id="4" name="Picture 3" descr="https://media.geeksforgeeks.org/wp-content/uploads/20190803103835/hash11.png"/>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844824"/>
            <a:ext cx="6120680" cy="4608512"/>
          </a:xfrm>
          <a:prstGeom prst="rect">
            <a:avLst/>
          </a:prstGeom>
          <a:noFill/>
          <a:ln>
            <a:noFill/>
          </a:ln>
        </p:spPr>
      </p:pic>
    </p:spTree>
    <p:extLst>
      <p:ext uri="{BB962C8B-B14F-4D97-AF65-F5344CB8AC3E}">
        <p14:creationId xmlns:p14="http://schemas.microsoft.com/office/powerpoint/2010/main" val="26773378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IN" sz="2800" b="1" dirty="0">
                <a:solidFill>
                  <a:srgbClr val="FF0000"/>
                </a:solidFill>
              </a:rPr>
              <a:t>Inserting 16</a:t>
            </a:r>
            <a:r>
              <a:rPr lang="en-IN" sz="2800" b="1" dirty="0"/>
              <a:t>:</a:t>
            </a:r>
            <a:r>
              <a:rPr lang="en-IN" sz="2800" dirty="0"/>
              <a:t> </a:t>
            </a:r>
            <a:br>
              <a:rPr lang="en-IN" sz="2800" dirty="0"/>
            </a:br>
            <a:r>
              <a:rPr lang="en-IN" sz="2800" dirty="0"/>
              <a:t>The binary format of 16 is 10000 and global-depth is 1. The hash function returns 1 LSB of 1000</a:t>
            </a:r>
            <a:r>
              <a:rPr lang="en-IN" sz="2800" b="1" dirty="0"/>
              <a:t>0</a:t>
            </a:r>
            <a:r>
              <a:rPr lang="en-IN" sz="2800" dirty="0"/>
              <a:t> which is 0. Hence, 16 is mapped to the directory with id=0. </a:t>
            </a:r>
          </a:p>
          <a:p>
            <a:pPr marL="0" indent="0">
              <a:buNone/>
            </a:pPr>
            <a:endParaRPr lang="en-IN" dirty="0"/>
          </a:p>
        </p:txBody>
      </p:sp>
      <p:pic>
        <p:nvPicPr>
          <p:cNvPr id="4" name="Picture 3" descr="https://media.geeksforgeeks.org/wp-content/uploads/20190803221035/hash23.png"/>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988840"/>
            <a:ext cx="5869562" cy="4484320"/>
          </a:xfrm>
          <a:prstGeom prst="rect">
            <a:avLst/>
          </a:prstGeom>
          <a:noFill/>
          <a:ln>
            <a:noFill/>
          </a:ln>
        </p:spPr>
      </p:pic>
    </p:spTree>
    <p:extLst>
      <p:ext uri="{BB962C8B-B14F-4D97-AF65-F5344CB8AC3E}">
        <p14:creationId xmlns:p14="http://schemas.microsoft.com/office/powerpoint/2010/main" val="22599087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lstStyle/>
          <a:p>
            <a:r>
              <a:rPr lang="en-IN" sz="2800" b="1" dirty="0">
                <a:solidFill>
                  <a:srgbClr val="FF0000"/>
                </a:solidFill>
              </a:rPr>
              <a:t>Inserting 4 and 6</a:t>
            </a:r>
            <a:r>
              <a:rPr lang="en-IN" sz="2800" b="1" dirty="0"/>
              <a:t>:</a:t>
            </a:r>
            <a:r>
              <a:rPr lang="en-IN" sz="2800" dirty="0"/>
              <a:t> </a:t>
            </a:r>
            <a:br>
              <a:rPr lang="en-IN" sz="2800" dirty="0"/>
            </a:br>
            <a:r>
              <a:rPr lang="en-IN" sz="2800" dirty="0"/>
              <a:t>Both 4(10</a:t>
            </a:r>
            <a:r>
              <a:rPr lang="en-IN" sz="2800" b="1" dirty="0"/>
              <a:t>0</a:t>
            </a:r>
            <a:r>
              <a:rPr lang="en-IN" sz="2800" dirty="0"/>
              <a:t>) and 6(11</a:t>
            </a:r>
            <a:r>
              <a:rPr lang="en-IN" sz="2800" b="1" dirty="0"/>
              <a:t>0</a:t>
            </a:r>
            <a:r>
              <a:rPr lang="en-IN" sz="2800" dirty="0"/>
              <a:t>)have 0 in their LSB. Hence, they are hashed as follows: </a:t>
            </a:r>
            <a:r>
              <a:rPr lang="en-IN" dirty="0"/>
              <a:t/>
            </a:r>
            <a:br>
              <a:rPr lang="en-IN" dirty="0"/>
            </a:br>
            <a:endParaRPr lang="en-IN" dirty="0"/>
          </a:p>
        </p:txBody>
      </p:sp>
      <p:pic>
        <p:nvPicPr>
          <p:cNvPr id="4" name="Picture 3" descr="https://media.geeksforgeeks.org/wp-content/uploads/20190803221037/hash32.png"/>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556792"/>
            <a:ext cx="7056784" cy="5112568"/>
          </a:xfrm>
          <a:prstGeom prst="rect">
            <a:avLst/>
          </a:prstGeom>
          <a:noFill/>
          <a:ln>
            <a:noFill/>
          </a:ln>
        </p:spPr>
      </p:pic>
    </p:spTree>
    <p:extLst>
      <p:ext uri="{BB962C8B-B14F-4D97-AF65-F5344CB8AC3E}">
        <p14:creationId xmlns:p14="http://schemas.microsoft.com/office/powerpoint/2010/main" val="546924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lstStyle/>
          <a:p>
            <a:pPr lvl="0"/>
            <a:r>
              <a:rPr lang="en-IN" sz="2800" b="1" dirty="0">
                <a:solidFill>
                  <a:srgbClr val="FF0000"/>
                </a:solidFill>
              </a:rPr>
              <a:t>Inserting 22</a:t>
            </a:r>
            <a:r>
              <a:rPr lang="en-IN" sz="2800" b="1" dirty="0"/>
              <a:t>:</a:t>
            </a:r>
            <a:r>
              <a:rPr lang="en-IN" sz="2800" dirty="0"/>
              <a:t> The binary form of 22 is 1011</a:t>
            </a:r>
            <a:r>
              <a:rPr lang="en-IN" sz="2800" b="1" dirty="0"/>
              <a:t>0</a:t>
            </a:r>
            <a:r>
              <a:rPr lang="en-IN" sz="2800" dirty="0"/>
              <a:t>. Its LSB is 0. The bucket pointed by directory 0 is already full. Hence, Over Flow occurs. </a:t>
            </a:r>
            <a:r>
              <a:rPr lang="en-IN" dirty="0"/>
              <a:t/>
            </a:r>
            <a:br>
              <a:rPr lang="en-IN" dirty="0"/>
            </a:br>
            <a:r>
              <a:rPr lang="en-IN" dirty="0"/>
              <a:t> </a:t>
            </a:r>
          </a:p>
          <a:p>
            <a:endParaRPr lang="en-IN" dirty="0"/>
          </a:p>
        </p:txBody>
      </p:sp>
      <p:pic>
        <p:nvPicPr>
          <p:cNvPr id="4" name="Picture 3" descr="https://media.geeksforgeeks.org/wp-content/uploads/20190803221039/hash42.png"/>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457400"/>
            <a:ext cx="6912768" cy="5400600"/>
          </a:xfrm>
          <a:prstGeom prst="rect">
            <a:avLst/>
          </a:prstGeom>
          <a:noFill/>
          <a:ln>
            <a:noFill/>
          </a:ln>
        </p:spPr>
      </p:pic>
    </p:spTree>
    <p:extLst>
      <p:ext uri="{BB962C8B-B14F-4D97-AF65-F5344CB8AC3E}">
        <p14:creationId xmlns:p14="http://schemas.microsoft.com/office/powerpoint/2010/main" val="19103118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a:bodyPr>
          <a:lstStyle/>
          <a:p>
            <a:r>
              <a:rPr lang="en-IN" sz="2800" dirty="0"/>
              <a:t>As directed by </a:t>
            </a:r>
            <a:r>
              <a:rPr lang="en-IN" sz="2800" b="1" dirty="0"/>
              <a:t>Step 7-Case 1</a:t>
            </a:r>
            <a:r>
              <a:rPr lang="en-IN" sz="2800" dirty="0"/>
              <a:t>, Since Local Depth = Global Depth, the bucket splits and directory expansion takes place. </a:t>
            </a:r>
            <a:endParaRPr lang="en-IN" sz="2800" dirty="0" smtClean="0"/>
          </a:p>
          <a:p>
            <a:r>
              <a:rPr lang="en-IN" sz="2800" dirty="0" smtClean="0"/>
              <a:t>Also</a:t>
            </a:r>
            <a:r>
              <a:rPr lang="en-IN" sz="2800" dirty="0"/>
              <a:t>, rehashing of numbers present in the overflowing bucket takes place after the split. </a:t>
            </a:r>
            <a:endParaRPr lang="en-IN" sz="2800" dirty="0" smtClean="0"/>
          </a:p>
          <a:p>
            <a:r>
              <a:rPr lang="en-IN" sz="2800" dirty="0" smtClean="0"/>
              <a:t>And</a:t>
            </a:r>
            <a:r>
              <a:rPr lang="en-IN" sz="2800" dirty="0"/>
              <a:t>, since the global depth is incremented by 1, </a:t>
            </a:r>
            <a:r>
              <a:rPr lang="en-IN" sz="2800" dirty="0" err="1"/>
              <a:t>now,the</a:t>
            </a:r>
            <a:r>
              <a:rPr lang="en-IN" sz="2800" dirty="0"/>
              <a:t> global depth is 2. </a:t>
            </a:r>
            <a:endParaRPr lang="en-IN" sz="2800" dirty="0" smtClean="0"/>
          </a:p>
          <a:p>
            <a:r>
              <a:rPr lang="en-IN" sz="2800" dirty="0" smtClean="0"/>
              <a:t>Hence</a:t>
            </a:r>
            <a:r>
              <a:rPr lang="en-IN" sz="2800" dirty="0"/>
              <a:t>, 16,4,6,22 are now rehashed w.r.t </a:t>
            </a:r>
            <a:r>
              <a:rPr lang="en-IN" sz="2800" dirty="0" smtClean="0"/>
              <a:t>2</a:t>
            </a:r>
          </a:p>
          <a:p>
            <a:pPr marL="0" indent="0">
              <a:buNone/>
            </a:pPr>
            <a:r>
              <a:rPr lang="en-IN" sz="2800" dirty="0"/>
              <a:t> </a:t>
            </a:r>
            <a:r>
              <a:rPr lang="en-IN" sz="2800" dirty="0" smtClean="0"/>
              <a:t>    </a:t>
            </a:r>
            <a:r>
              <a:rPr lang="en-IN" sz="2800" dirty="0"/>
              <a:t>LSBs.[ 16(100</a:t>
            </a:r>
            <a:r>
              <a:rPr lang="en-IN" sz="2800" b="1" dirty="0">
                <a:solidFill>
                  <a:srgbClr val="FF0000"/>
                </a:solidFill>
              </a:rPr>
              <a:t>00</a:t>
            </a:r>
            <a:r>
              <a:rPr lang="en-IN" sz="2800" dirty="0"/>
              <a:t>),4(1</a:t>
            </a:r>
            <a:r>
              <a:rPr lang="en-IN" sz="2800" b="1" dirty="0">
                <a:solidFill>
                  <a:srgbClr val="FF0000"/>
                </a:solidFill>
              </a:rPr>
              <a:t>00</a:t>
            </a:r>
            <a:r>
              <a:rPr lang="en-IN" sz="2800" dirty="0"/>
              <a:t>),6(1</a:t>
            </a:r>
            <a:r>
              <a:rPr lang="en-IN" sz="2800" b="1" dirty="0">
                <a:solidFill>
                  <a:srgbClr val="FF0000"/>
                </a:solidFill>
              </a:rPr>
              <a:t>10</a:t>
            </a:r>
            <a:r>
              <a:rPr lang="en-IN" sz="2800" dirty="0"/>
              <a:t>),22(101</a:t>
            </a:r>
            <a:r>
              <a:rPr lang="en-IN" sz="2800" b="1" dirty="0">
                <a:solidFill>
                  <a:srgbClr val="FF0000"/>
                </a:solidFill>
              </a:rPr>
              <a:t>10</a:t>
            </a:r>
            <a:r>
              <a:rPr lang="en-IN" sz="2800" dirty="0"/>
              <a:t>) ] </a:t>
            </a:r>
          </a:p>
          <a:p>
            <a:pPr marL="0" indent="0">
              <a:buNone/>
            </a:pPr>
            <a:endParaRPr lang="en-IN" sz="2800" dirty="0"/>
          </a:p>
        </p:txBody>
      </p:sp>
    </p:spTree>
    <p:extLst>
      <p:ext uri="{BB962C8B-B14F-4D97-AF65-F5344CB8AC3E}">
        <p14:creationId xmlns:p14="http://schemas.microsoft.com/office/powerpoint/2010/main" val="2171765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221040/hash52.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985" y="493807"/>
            <a:ext cx="7200800" cy="6048672"/>
          </a:xfrm>
          <a:prstGeom prst="rect">
            <a:avLst/>
          </a:prstGeom>
          <a:noFill/>
          <a:ln>
            <a:noFill/>
          </a:ln>
        </p:spPr>
      </p:pic>
      <p:sp>
        <p:nvSpPr>
          <p:cNvPr id="5" name="TextBox 4"/>
          <p:cNvSpPr txBox="1"/>
          <p:nvPr/>
        </p:nvSpPr>
        <p:spPr>
          <a:xfrm>
            <a:off x="5868184" y="332656"/>
            <a:ext cx="3096344" cy="6370975"/>
          </a:xfrm>
          <a:prstGeom prst="rect">
            <a:avLst/>
          </a:prstGeom>
          <a:noFill/>
        </p:spPr>
        <p:txBody>
          <a:bodyPr wrap="square" rtlCol="0">
            <a:spAutoFit/>
          </a:bodyPr>
          <a:lstStyle/>
          <a:p>
            <a:r>
              <a:rPr lang="en-IN" sz="2400" i="1" dirty="0"/>
              <a:t>Notice that the bucket which was underflow has remained untouched. But, since the number of directories has doubled, we now have 2 directories 01 and 11 pointing to the same bucket. This is because the local-depth of the bucket has remained 1. And, </a:t>
            </a:r>
            <a:r>
              <a:rPr lang="en-IN" sz="2400" i="1" dirty="0">
                <a:solidFill>
                  <a:srgbClr val="FF0000"/>
                </a:solidFill>
              </a:rPr>
              <a:t>any bucket having a local depth less than the global depth is pointed-to by more than one directories</a:t>
            </a:r>
            <a:r>
              <a:rPr lang="en-IN" sz="2400" i="1" dirty="0" smtClean="0"/>
              <a:t>.</a:t>
            </a:r>
            <a:endParaRPr lang="en-IN" dirty="0"/>
          </a:p>
        </p:txBody>
      </p:sp>
    </p:spTree>
    <p:extLst>
      <p:ext uri="{BB962C8B-B14F-4D97-AF65-F5344CB8AC3E}">
        <p14:creationId xmlns:p14="http://schemas.microsoft.com/office/powerpoint/2010/main" val="1051499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a:bodyPr>
          <a:lstStyle/>
          <a:p>
            <a:r>
              <a:rPr lang="en-IN" sz="2800" b="1" dirty="0"/>
              <a:t>Inserting 24 and 10:</a:t>
            </a:r>
            <a:r>
              <a:rPr lang="en-IN" sz="2800" dirty="0"/>
              <a:t> 24(110</a:t>
            </a:r>
            <a:r>
              <a:rPr lang="en-IN" sz="2800" b="1" dirty="0"/>
              <a:t>00</a:t>
            </a:r>
            <a:r>
              <a:rPr lang="en-IN" sz="2800" dirty="0"/>
              <a:t>) and 10 (10</a:t>
            </a:r>
            <a:r>
              <a:rPr lang="en-IN" sz="2800" b="1" dirty="0"/>
              <a:t>10</a:t>
            </a:r>
            <a:r>
              <a:rPr lang="en-IN" sz="2800" dirty="0"/>
              <a:t>) can be hashed based on directories with id 00 and 10. Here, we encounter no overflow condition. </a:t>
            </a:r>
          </a:p>
          <a:p>
            <a:endParaRPr lang="en-IN" sz="2800" dirty="0"/>
          </a:p>
        </p:txBody>
      </p:sp>
      <p:pic>
        <p:nvPicPr>
          <p:cNvPr id="4" name="Picture 3" descr="https://media.geeksforgeeks.org/wp-content/uploads/20190803221042/hash62.png"/>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700808"/>
            <a:ext cx="6912768" cy="5013176"/>
          </a:xfrm>
          <a:prstGeom prst="rect">
            <a:avLst/>
          </a:prstGeom>
          <a:noFill/>
          <a:ln>
            <a:noFill/>
          </a:ln>
        </p:spPr>
      </p:pic>
    </p:spTree>
    <p:extLst>
      <p:ext uri="{BB962C8B-B14F-4D97-AF65-F5344CB8AC3E}">
        <p14:creationId xmlns:p14="http://schemas.microsoft.com/office/powerpoint/2010/main" val="29851510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normAutofit/>
          </a:bodyPr>
          <a:lstStyle/>
          <a:p>
            <a:r>
              <a:rPr lang="en-IN" sz="2800" b="1" dirty="0"/>
              <a:t>Inserting 31,7,9:</a:t>
            </a:r>
            <a:r>
              <a:rPr lang="en-IN" sz="2800" dirty="0"/>
              <a:t> All of these elements[ 31(111</a:t>
            </a:r>
            <a:r>
              <a:rPr lang="en-IN" sz="2800" b="1" dirty="0"/>
              <a:t>11</a:t>
            </a:r>
            <a:r>
              <a:rPr lang="en-IN" sz="2800" dirty="0"/>
              <a:t>), 7(1</a:t>
            </a:r>
            <a:r>
              <a:rPr lang="en-IN" sz="2800" b="1" dirty="0"/>
              <a:t>11</a:t>
            </a:r>
            <a:r>
              <a:rPr lang="en-IN" sz="2800" dirty="0"/>
              <a:t>), 9(10</a:t>
            </a:r>
            <a:r>
              <a:rPr lang="en-IN" sz="2800" b="1" dirty="0"/>
              <a:t>01</a:t>
            </a:r>
            <a:r>
              <a:rPr lang="en-IN" sz="2800" dirty="0"/>
              <a:t>) ] have either 01 or 11 in their LSBs. Hence, they are mapped on the bucket pointed out by 01 and 11. We do not encounter any overflow condition here. </a:t>
            </a:r>
          </a:p>
        </p:txBody>
      </p:sp>
      <p:pic>
        <p:nvPicPr>
          <p:cNvPr id="4" name="Picture 3" descr="https://media.geeksforgeeks.org/wp-content/uploads/20190803222615/hash7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2348880"/>
            <a:ext cx="6372200" cy="4248473"/>
          </a:xfrm>
          <a:prstGeom prst="rect">
            <a:avLst/>
          </a:prstGeom>
          <a:noFill/>
          <a:ln>
            <a:noFill/>
          </a:ln>
        </p:spPr>
      </p:pic>
    </p:spTree>
    <p:extLst>
      <p:ext uri="{BB962C8B-B14F-4D97-AF65-F5344CB8AC3E}">
        <p14:creationId xmlns:p14="http://schemas.microsoft.com/office/powerpoint/2010/main" val="27030120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009531"/>
          </a:xfrm>
        </p:spPr>
        <p:txBody>
          <a:bodyPr>
            <a:normAutofit/>
          </a:bodyPr>
          <a:lstStyle/>
          <a:p>
            <a:r>
              <a:rPr lang="en-IN" sz="2800" b="1" dirty="0"/>
              <a:t>Inserting 20:</a:t>
            </a:r>
            <a:r>
              <a:rPr lang="en-IN" sz="2800" dirty="0"/>
              <a:t> Insertion of data element 20 (101</a:t>
            </a:r>
            <a:r>
              <a:rPr lang="en-IN" sz="2800" b="1" dirty="0"/>
              <a:t>00</a:t>
            </a:r>
            <a:r>
              <a:rPr lang="en-IN" sz="2800" dirty="0"/>
              <a:t>) will again cause the overflow problem. </a:t>
            </a:r>
          </a:p>
        </p:txBody>
      </p:sp>
      <p:pic>
        <p:nvPicPr>
          <p:cNvPr id="4" name="Picture 3" descr="https://media.geeksforgeeks.org/wp-content/uploads/20190803221043/hash7.12.png"/>
          <p:cNvPicPr/>
          <p:nvPr/>
        </p:nvPicPr>
        <p:blipFill>
          <a:blip r:embed="rId2">
            <a:extLst>
              <a:ext uri="{28A0092B-C50C-407E-A947-70E740481C1C}">
                <a14:useLocalDpi xmlns:a14="http://schemas.microsoft.com/office/drawing/2010/main" val="0"/>
              </a:ext>
            </a:extLst>
          </a:blip>
          <a:srcRect/>
          <a:stretch>
            <a:fillRect/>
          </a:stretch>
        </p:blipFill>
        <p:spPr bwMode="auto">
          <a:xfrm>
            <a:off x="611560" y="1046259"/>
            <a:ext cx="7848872" cy="5472608"/>
          </a:xfrm>
          <a:prstGeom prst="rect">
            <a:avLst/>
          </a:prstGeom>
          <a:noFill/>
          <a:ln>
            <a:noFill/>
          </a:ln>
        </p:spPr>
      </p:pic>
    </p:spTree>
    <p:extLst>
      <p:ext uri="{BB962C8B-B14F-4D97-AF65-F5344CB8AC3E}">
        <p14:creationId xmlns:p14="http://schemas.microsoft.com/office/powerpoint/2010/main" val="36402435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IN" dirty="0"/>
              <a:t>0 is inserted in bucket pointed out by 00</a:t>
            </a:r>
            <a:r>
              <a:rPr lang="en-IN" dirty="0" smtClean="0"/>
              <a:t>.</a:t>
            </a:r>
          </a:p>
          <a:p>
            <a:r>
              <a:rPr lang="en-IN" dirty="0" smtClean="0"/>
              <a:t> </a:t>
            </a:r>
            <a:r>
              <a:rPr lang="en-IN" dirty="0"/>
              <a:t>As directed by </a:t>
            </a:r>
            <a:r>
              <a:rPr lang="en-IN" b="1" dirty="0"/>
              <a:t>Step 7-Case 1</a:t>
            </a:r>
            <a:r>
              <a:rPr lang="en-IN" dirty="0"/>
              <a:t>, since the </a:t>
            </a:r>
            <a:r>
              <a:rPr lang="en-IN" b="1" dirty="0"/>
              <a:t>local depth of the bucket = global-depth</a:t>
            </a:r>
            <a:r>
              <a:rPr lang="en-IN" dirty="0"/>
              <a:t>, directory expansion (doubling) takes place along with bucket splitting</a:t>
            </a:r>
            <a:r>
              <a:rPr lang="en-IN" dirty="0" smtClean="0"/>
              <a:t>.</a:t>
            </a:r>
          </a:p>
          <a:p>
            <a:r>
              <a:rPr lang="en-IN" dirty="0" smtClean="0"/>
              <a:t> </a:t>
            </a:r>
            <a:r>
              <a:rPr lang="en-IN" dirty="0"/>
              <a:t>Elements present in overflowing bucket are rehashed with the new global depth. </a:t>
            </a:r>
            <a:endParaRPr lang="en-IN" dirty="0" smtClean="0"/>
          </a:p>
          <a:p>
            <a:r>
              <a:rPr lang="en-IN" dirty="0" smtClean="0"/>
              <a:t>Now</a:t>
            </a:r>
            <a:r>
              <a:rPr lang="en-IN" dirty="0"/>
              <a:t>, the new Hash table looks like this: </a:t>
            </a:r>
          </a:p>
          <a:p>
            <a:pPr marL="0" indent="0">
              <a:buNone/>
            </a:pPr>
            <a:endParaRPr lang="en-IN" dirty="0"/>
          </a:p>
        </p:txBody>
      </p:sp>
    </p:spTree>
    <p:extLst>
      <p:ext uri="{BB962C8B-B14F-4D97-AF65-F5344CB8AC3E}">
        <p14:creationId xmlns:p14="http://schemas.microsoft.com/office/powerpoint/2010/main" val="6581420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4120/hash81.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404664"/>
            <a:ext cx="7848872" cy="6048672"/>
          </a:xfrm>
          <a:prstGeom prst="rect">
            <a:avLst/>
          </a:prstGeom>
          <a:noFill/>
          <a:ln>
            <a:noFill/>
          </a:ln>
        </p:spPr>
      </p:pic>
    </p:spTree>
    <p:extLst>
      <p:ext uri="{BB962C8B-B14F-4D97-AF65-F5344CB8AC3E}">
        <p14:creationId xmlns:p14="http://schemas.microsoft.com/office/powerpoint/2010/main" val="30441256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IN" sz="2800" b="1" dirty="0"/>
              <a:t>Inserting 26:</a:t>
            </a:r>
            <a:r>
              <a:rPr lang="en-IN" sz="2800" dirty="0"/>
              <a:t> Global depth is 3. Hence, 3 LSBs of 26(11</a:t>
            </a:r>
            <a:r>
              <a:rPr lang="en-IN" sz="2800" b="1" dirty="0"/>
              <a:t>010</a:t>
            </a:r>
            <a:r>
              <a:rPr lang="en-IN" sz="2800" dirty="0"/>
              <a:t>) are considered. Therefore 26 best fits in the bucket pointed out by directory 010. </a:t>
            </a:r>
          </a:p>
          <a:p>
            <a:endParaRPr lang="en-IN" dirty="0"/>
          </a:p>
        </p:txBody>
      </p:sp>
      <p:pic>
        <p:nvPicPr>
          <p:cNvPr id="4" name="Picture 3" descr="https://media.geeksforgeeks.org/wp-content/uploads/20190803222301/hash9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598028"/>
            <a:ext cx="7056784" cy="4968552"/>
          </a:xfrm>
          <a:prstGeom prst="rect">
            <a:avLst/>
          </a:prstGeom>
          <a:noFill/>
          <a:ln>
            <a:noFill/>
          </a:ln>
        </p:spPr>
      </p:pic>
    </p:spTree>
    <p:extLst>
      <p:ext uri="{BB962C8B-B14F-4D97-AF65-F5344CB8AC3E}">
        <p14:creationId xmlns:p14="http://schemas.microsoft.com/office/powerpoint/2010/main" val="32864377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484784"/>
            <a:ext cx="8229600" cy="3888432"/>
          </a:xfrm>
        </p:spPr>
        <p:txBody>
          <a:bodyPr/>
          <a:lstStyle/>
          <a:p>
            <a:r>
              <a:rPr lang="en-IN" dirty="0"/>
              <a:t>The bucket overflows, and, as directed by </a:t>
            </a:r>
            <a:r>
              <a:rPr lang="en-IN" b="1" dirty="0"/>
              <a:t>Step 7-Case 2,</a:t>
            </a:r>
            <a:r>
              <a:rPr lang="en-IN" dirty="0"/>
              <a:t> since the </a:t>
            </a:r>
            <a:r>
              <a:rPr lang="en-IN" b="1" dirty="0"/>
              <a:t>local depth of bucket &lt; Global depth (2&lt;3)</a:t>
            </a:r>
            <a:r>
              <a:rPr lang="en-IN" dirty="0"/>
              <a:t>, directories are not doubled but, only the bucket is split and elements are rehashed. </a:t>
            </a:r>
            <a:br>
              <a:rPr lang="en-IN" dirty="0"/>
            </a:br>
            <a:r>
              <a:rPr lang="en-IN" dirty="0"/>
              <a:t>Finally, the output of hashing the given list of numbers is obtained. </a:t>
            </a:r>
          </a:p>
          <a:p>
            <a:endParaRPr lang="en-IN" dirty="0"/>
          </a:p>
        </p:txBody>
      </p:sp>
    </p:spTree>
    <p:extLst>
      <p:ext uri="{BB962C8B-B14F-4D97-AF65-F5344CB8AC3E}">
        <p14:creationId xmlns:p14="http://schemas.microsoft.com/office/powerpoint/2010/main" val="23305890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media.geeksforgeeks.org/wp-content/uploads/20190803104123/hash101.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188640"/>
            <a:ext cx="7128792" cy="5400600"/>
          </a:xfrm>
          <a:prstGeom prst="rect">
            <a:avLst/>
          </a:prstGeom>
          <a:noFill/>
          <a:ln>
            <a:noFill/>
          </a:ln>
        </p:spPr>
      </p:pic>
      <p:sp>
        <p:nvSpPr>
          <p:cNvPr id="5" name="Rectangle 4"/>
          <p:cNvSpPr/>
          <p:nvPr/>
        </p:nvSpPr>
        <p:spPr>
          <a:xfrm>
            <a:off x="1547664" y="5805264"/>
            <a:ext cx="6696744" cy="369332"/>
          </a:xfrm>
          <a:prstGeom prst="rect">
            <a:avLst/>
          </a:prstGeom>
        </p:spPr>
        <p:txBody>
          <a:bodyPr wrap="square">
            <a:spAutoFit/>
          </a:bodyPr>
          <a:lstStyle/>
          <a:p>
            <a:r>
              <a:rPr lang="en-IN" b="1" dirty="0"/>
              <a:t>Hashing of 11 Numbers is Thus Completed</a:t>
            </a:r>
            <a:endParaRPr lang="en-IN" dirty="0"/>
          </a:p>
        </p:txBody>
      </p:sp>
    </p:spTree>
    <p:extLst>
      <p:ext uri="{BB962C8B-B14F-4D97-AF65-F5344CB8AC3E}">
        <p14:creationId xmlns:p14="http://schemas.microsoft.com/office/powerpoint/2010/main" val="29576853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Key Observations</a:t>
            </a:r>
            <a:r>
              <a:rPr lang="en-IN" dirty="0" smtClean="0">
                <a:solidFill>
                  <a:srgbClr val="FF0000"/>
                </a:solidFill>
              </a:rPr>
              <a:t> </a:t>
            </a:r>
            <a:endParaRPr lang="en-IN" dirty="0">
              <a:solidFill>
                <a:srgbClr val="FF0000"/>
              </a:solidFill>
            </a:endParaRPr>
          </a:p>
        </p:txBody>
      </p:sp>
      <p:sp>
        <p:nvSpPr>
          <p:cNvPr id="3" name="Content Placeholder 2"/>
          <p:cNvSpPr>
            <a:spLocks noGrp="1"/>
          </p:cNvSpPr>
          <p:nvPr>
            <p:ph idx="1"/>
          </p:nvPr>
        </p:nvSpPr>
        <p:spPr/>
        <p:txBody>
          <a:bodyPr>
            <a:normAutofit/>
          </a:bodyPr>
          <a:lstStyle/>
          <a:p>
            <a:pPr lvl="0" fontAlgn="base"/>
            <a:r>
              <a:rPr lang="en-IN" dirty="0" smtClean="0"/>
              <a:t>A </a:t>
            </a:r>
            <a:r>
              <a:rPr lang="en-IN" dirty="0"/>
              <a:t>Bucket will have more than one pointers pointing to it if its local depth is less than the global depth.</a:t>
            </a:r>
          </a:p>
          <a:p>
            <a:pPr lvl="0" fontAlgn="base"/>
            <a:r>
              <a:rPr lang="en-IN" dirty="0"/>
              <a:t>When overflow condition occurs in a bucket, all the entries in the bucket are rehashed with a new local depth.</a:t>
            </a:r>
          </a:p>
          <a:p>
            <a:r>
              <a:rPr lang="en-IN" dirty="0"/>
              <a:t>The size of a bucket cannot be changed after the data insertion process begins</a:t>
            </a:r>
          </a:p>
        </p:txBody>
      </p:sp>
    </p:spTree>
    <p:extLst>
      <p:ext uri="{BB962C8B-B14F-4D97-AF65-F5344CB8AC3E}">
        <p14:creationId xmlns:p14="http://schemas.microsoft.com/office/powerpoint/2010/main" val="18489242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Advantages</a:t>
            </a:r>
            <a:r>
              <a:rPr lang="en-IN" dirty="0" smtClean="0">
                <a:solidFill>
                  <a:srgbClr val="FF0000"/>
                </a:solidFill>
              </a:rPr>
              <a:t> </a:t>
            </a:r>
            <a:endParaRPr lang="en-IN" dirty="0">
              <a:solidFill>
                <a:srgbClr val="FF0000"/>
              </a:solidFill>
            </a:endParaRPr>
          </a:p>
        </p:txBody>
      </p:sp>
      <p:sp>
        <p:nvSpPr>
          <p:cNvPr id="3" name="Content Placeholder 2"/>
          <p:cNvSpPr>
            <a:spLocks noGrp="1"/>
          </p:cNvSpPr>
          <p:nvPr>
            <p:ph idx="1"/>
          </p:nvPr>
        </p:nvSpPr>
        <p:spPr/>
        <p:txBody>
          <a:bodyPr>
            <a:normAutofit/>
          </a:bodyPr>
          <a:lstStyle/>
          <a:p>
            <a:pPr lvl="0" fontAlgn="base"/>
            <a:r>
              <a:rPr lang="en-IN" dirty="0" smtClean="0"/>
              <a:t>Data </a:t>
            </a:r>
            <a:r>
              <a:rPr lang="en-IN" dirty="0"/>
              <a:t>retrieval is less expensive (in terms of computing).</a:t>
            </a:r>
          </a:p>
          <a:p>
            <a:pPr lvl="0" fontAlgn="base"/>
            <a:r>
              <a:rPr lang="en-IN" dirty="0"/>
              <a:t>No problem of Data-loss since the storage capacity increases dynamically.</a:t>
            </a:r>
          </a:p>
          <a:p>
            <a:pPr lvl="0" fontAlgn="base"/>
            <a:r>
              <a:rPr lang="en-IN" dirty="0"/>
              <a:t>With dynamic changes in hashing function, associated old values are rehashed w.r.t the new hash function.</a:t>
            </a:r>
          </a:p>
          <a:p>
            <a:endParaRPr lang="en-IN" dirty="0"/>
          </a:p>
        </p:txBody>
      </p:sp>
    </p:spTree>
    <p:extLst>
      <p:ext uri="{BB962C8B-B14F-4D97-AF65-F5344CB8AC3E}">
        <p14:creationId xmlns:p14="http://schemas.microsoft.com/office/powerpoint/2010/main" val="5205621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solidFill>
                  <a:srgbClr val="FF0000"/>
                </a:solidFill>
              </a:rPr>
              <a:t>Limitations Of Extendible Hashing</a:t>
            </a: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pPr lvl="0" fontAlgn="base"/>
            <a:r>
              <a:rPr lang="en-IN" dirty="0" smtClean="0"/>
              <a:t>The </a:t>
            </a:r>
            <a:r>
              <a:rPr lang="en-IN" dirty="0"/>
              <a:t>directory size may increase significantly if several records are hashed on the same directory while keeping the record distribution non-uniform.</a:t>
            </a:r>
          </a:p>
          <a:p>
            <a:pPr lvl="0" fontAlgn="base"/>
            <a:r>
              <a:rPr lang="en-IN" dirty="0"/>
              <a:t>Size of every bucket is fixed.</a:t>
            </a:r>
          </a:p>
          <a:p>
            <a:pPr lvl="0" fontAlgn="base"/>
            <a:r>
              <a:rPr lang="en-IN" dirty="0"/>
              <a:t>Memory is wasted in pointers when the global depth and local depth difference becomes drastic.</a:t>
            </a:r>
          </a:p>
          <a:p>
            <a:pPr lvl="0" fontAlgn="base"/>
            <a:r>
              <a:rPr lang="en-IN" dirty="0"/>
              <a:t>This method is complicated to code.</a:t>
            </a:r>
          </a:p>
          <a:p>
            <a:endParaRPr lang="en-IN" dirty="0"/>
          </a:p>
        </p:txBody>
      </p:sp>
    </p:spTree>
    <p:extLst>
      <p:ext uri="{BB962C8B-B14F-4D97-AF65-F5344CB8AC3E}">
        <p14:creationId xmlns:p14="http://schemas.microsoft.com/office/powerpoint/2010/main" val="37978133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FF0000"/>
                </a:solidFill>
              </a:rPr>
              <a:t>Data Structures used for implementation</a:t>
            </a:r>
            <a:endParaRPr lang="en-IN" dirty="0">
              <a:solidFill>
                <a:srgbClr val="FF0000"/>
              </a:solidFill>
            </a:endParaRPr>
          </a:p>
        </p:txBody>
      </p:sp>
      <p:sp>
        <p:nvSpPr>
          <p:cNvPr id="4" name="TextBox 3"/>
          <p:cNvSpPr txBox="1"/>
          <p:nvPr/>
        </p:nvSpPr>
        <p:spPr>
          <a:xfrm>
            <a:off x="827584" y="2276872"/>
            <a:ext cx="6840760" cy="2308324"/>
          </a:xfrm>
          <a:prstGeom prst="rect">
            <a:avLst/>
          </a:prstGeom>
          <a:noFill/>
        </p:spPr>
        <p:txBody>
          <a:bodyPr wrap="square" rtlCol="0">
            <a:spAutoFit/>
          </a:bodyPr>
          <a:lstStyle/>
          <a:p>
            <a:pPr marL="685800" indent="-685800">
              <a:buFont typeface="Arial" panose="020B0604020202020204" pitchFamily="34" charset="0"/>
              <a:buChar char="•"/>
            </a:pPr>
            <a:r>
              <a:rPr lang="en-US" sz="4800" dirty="0" smtClean="0"/>
              <a:t>B+ Trees</a:t>
            </a:r>
          </a:p>
          <a:p>
            <a:pPr marL="685800" indent="-685800">
              <a:buFont typeface="Arial" panose="020B0604020202020204" pitchFamily="34" charset="0"/>
              <a:buChar char="•"/>
            </a:pPr>
            <a:r>
              <a:rPr lang="en-US" sz="4800" dirty="0" smtClean="0"/>
              <a:t>Array</a:t>
            </a:r>
          </a:p>
          <a:p>
            <a:pPr marL="685800" indent="-685800">
              <a:buFont typeface="Arial" panose="020B0604020202020204" pitchFamily="34" charset="0"/>
              <a:buChar char="•"/>
            </a:pPr>
            <a:r>
              <a:rPr lang="en-US" sz="4800" dirty="0" smtClean="0"/>
              <a:t>Linked List</a:t>
            </a:r>
            <a:endParaRPr lang="en-IN" sz="4800" dirty="0"/>
          </a:p>
        </p:txBody>
      </p:sp>
    </p:spTree>
    <p:extLst>
      <p:ext uri="{BB962C8B-B14F-4D97-AF65-F5344CB8AC3E}">
        <p14:creationId xmlns:p14="http://schemas.microsoft.com/office/powerpoint/2010/main" val="19304381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Dynamic Hashing</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dirty="0"/>
              <a:t>A precursor to extendible hashing was dynamic hashing, </a:t>
            </a:r>
            <a:r>
              <a:rPr lang="en-US" dirty="0" smtClean="0"/>
              <a:t>in which </a:t>
            </a:r>
            <a:r>
              <a:rPr lang="en-US" dirty="0"/>
              <a:t>the addresses of the buckets were either the </a:t>
            </a:r>
            <a:r>
              <a:rPr lang="en-US" i="1" dirty="0"/>
              <a:t>n </a:t>
            </a:r>
            <a:r>
              <a:rPr lang="en-US" dirty="0"/>
              <a:t>high-order bits or </a:t>
            </a:r>
            <a:r>
              <a:rPr lang="en-US" i="1" dirty="0"/>
              <a:t>n </a:t>
            </a:r>
            <a:r>
              <a:rPr lang="en-US" dirty="0"/>
              <a:t>− 1 </a:t>
            </a:r>
            <a:r>
              <a:rPr lang="en-US" dirty="0" smtClean="0"/>
              <a:t>high order bits</a:t>
            </a:r>
            <a:r>
              <a:rPr lang="en-US" dirty="0"/>
              <a:t>, depending on the total number of keys belonging to the </a:t>
            </a:r>
            <a:r>
              <a:rPr lang="en-US" dirty="0" smtClean="0"/>
              <a:t>respective </a:t>
            </a:r>
            <a:r>
              <a:rPr lang="en-IN" dirty="0" smtClean="0"/>
              <a:t>bucket</a:t>
            </a:r>
            <a:endParaRPr lang="en-IN" dirty="0"/>
          </a:p>
        </p:txBody>
      </p:sp>
    </p:spTree>
    <p:extLst>
      <p:ext uri="{BB962C8B-B14F-4D97-AF65-F5344CB8AC3E}">
        <p14:creationId xmlns:p14="http://schemas.microsoft.com/office/powerpoint/2010/main" val="17791320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692696"/>
            <a:ext cx="8229600" cy="4525963"/>
          </a:xfrm>
        </p:spPr>
        <p:txBody>
          <a:bodyPr>
            <a:normAutofit fontScale="92500"/>
          </a:bodyPr>
          <a:lstStyle/>
          <a:p>
            <a:pPr algn="just"/>
            <a:r>
              <a:rPr lang="en-IN" dirty="0"/>
              <a:t>D</a:t>
            </a:r>
            <a:r>
              <a:rPr lang="en-IN" dirty="0" smtClean="0"/>
              <a:t>ynamic </a:t>
            </a:r>
            <a:r>
              <a:rPr lang="en-IN" dirty="0"/>
              <a:t>hashing is </a:t>
            </a:r>
            <a:r>
              <a:rPr lang="en-IN" dirty="0" smtClean="0"/>
              <a:t>somewhat </a:t>
            </a:r>
            <a:r>
              <a:rPr lang="en-US" dirty="0" smtClean="0"/>
              <a:t>similar </a:t>
            </a:r>
            <a:r>
              <a:rPr lang="en-US" dirty="0"/>
              <a:t>to extendible hashing. </a:t>
            </a:r>
            <a:endParaRPr lang="en-US" dirty="0" smtClean="0"/>
          </a:p>
          <a:p>
            <a:pPr algn="just"/>
            <a:r>
              <a:rPr lang="en-US" dirty="0" smtClean="0"/>
              <a:t>The </a:t>
            </a:r>
            <a:r>
              <a:rPr lang="en-US" dirty="0"/>
              <a:t>major difference is in the organization of </a:t>
            </a:r>
            <a:r>
              <a:rPr lang="en-US" dirty="0" smtClean="0"/>
              <a:t>the directory. Whereas </a:t>
            </a:r>
            <a:r>
              <a:rPr lang="en-US" dirty="0"/>
              <a:t>extendible hashing uses the notion of global depth (high-order </a:t>
            </a:r>
            <a:r>
              <a:rPr lang="en-US" i="1" dirty="0" smtClean="0"/>
              <a:t>d </a:t>
            </a:r>
            <a:r>
              <a:rPr lang="en-US" dirty="0" smtClean="0"/>
              <a:t>bits</a:t>
            </a:r>
            <a:r>
              <a:rPr lang="en-US" dirty="0"/>
              <a:t>) for the flat directory and then combines adjacent collapsible buckets into </a:t>
            </a:r>
            <a:r>
              <a:rPr lang="en-US" dirty="0" smtClean="0"/>
              <a:t>a bucket </a:t>
            </a:r>
            <a:r>
              <a:rPr lang="en-US" dirty="0"/>
              <a:t>of local depth </a:t>
            </a:r>
            <a:r>
              <a:rPr lang="en-US" i="1" dirty="0"/>
              <a:t>d </a:t>
            </a:r>
            <a:r>
              <a:rPr lang="en-US" dirty="0"/>
              <a:t>− 1, </a:t>
            </a:r>
            <a:r>
              <a:rPr lang="en-US" dirty="0">
                <a:solidFill>
                  <a:srgbClr val="FF0000"/>
                </a:solidFill>
              </a:rPr>
              <a:t>dynamic hashing maintains a tree-structured </a:t>
            </a:r>
            <a:r>
              <a:rPr lang="en-US" dirty="0" smtClean="0">
                <a:solidFill>
                  <a:srgbClr val="FF0000"/>
                </a:solidFill>
              </a:rPr>
              <a:t>directory with </a:t>
            </a:r>
            <a:r>
              <a:rPr lang="en-US" dirty="0">
                <a:solidFill>
                  <a:srgbClr val="FF0000"/>
                </a:solidFill>
              </a:rPr>
              <a:t>two types of nodes</a:t>
            </a:r>
            <a:r>
              <a:rPr lang="en-US" dirty="0"/>
              <a:t>:</a:t>
            </a:r>
            <a:endParaRPr lang="en-IN" dirty="0"/>
          </a:p>
        </p:txBody>
      </p:sp>
    </p:spTree>
    <p:extLst>
      <p:ext uri="{BB962C8B-B14F-4D97-AF65-F5344CB8AC3E}">
        <p14:creationId xmlns:p14="http://schemas.microsoft.com/office/powerpoint/2010/main" val="17651382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073427"/>
          </a:xfrm>
        </p:spPr>
        <p:txBody>
          <a:bodyPr/>
          <a:lstStyle/>
          <a:p>
            <a:pPr algn="just"/>
            <a:r>
              <a:rPr lang="en-US" dirty="0">
                <a:solidFill>
                  <a:srgbClr val="FF0000"/>
                </a:solidFill>
              </a:rPr>
              <a:t>Internal nodes that have two pointers</a:t>
            </a:r>
            <a:r>
              <a:rPr lang="en-US" dirty="0"/>
              <a:t>—the </a:t>
            </a:r>
            <a:r>
              <a:rPr lang="en-US" dirty="0">
                <a:solidFill>
                  <a:srgbClr val="FF0000"/>
                </a:solidFill>
              </a:rPr>
              <a:t>left pointer </a:t>
            </a:r>
            <a:r>
              <a:rPr lang="en-US" dirty="0"/>
              <a:t>corresponding to </a:t>
            </a:r>
            <a:r>
              <a:rPr lang="en-US" dirty="0" smtClean="0"/>
              <a:t>the </a:t>
            </a:r>
            <a:r>
              <a:rPr lang="en-US" b="1" dirty="0" smtClean="0"/>
              <a:t>0 </a:t>
            </a:r>
            <a:r>
              <a:rPr lang="en-US" b="1" dirty="0"/>
              <a:t>bit </a:t>
            </a:r>
            <a:r>
              <a:rPr lang="en-US" dirty="0"/>
              <a:t>(in the hashed address) and a </a:t>
            </a:r>
            <a:r>
              <a:rPr lang="en-US" dirty="0">
                <a:solidFill>
                  <a:srgbClr val="FF0000"/>
                </a:solidFill>
              </a:rPr>
              <a:t>right pointer </a:t>
            </a:r>
            <a:r>
              <a:rPr lang="en-US" dirty="0"/>
              <a:t>corresponding to the </a:t>
            </a:r>
            <a:r>
              <a:rPr lang="en-US" b="1" dirty="0"/>
              <a:t>1 bit</a:t>
            </a:r>
            <a:r>
              <a:rPr lang="en-US" dirty="0"/>
              <a:t>.</a:t>
            </a:r>
          </a:p>
          <a:p>
            <a:r>
              <a:rPr lang="en-US" dirty="0" smtClean="0">
                <a:solidFill>
                  <a:srgbClr val="FF0000"/>
                </a:solidFill>
              </a:rPr>
              <a:t>Leaf </a:t>
            </a:r>
            <a:r>
              <a:rPr lang="en-US" dirty="0">
                <a:solidFill>
                  <a:srgbClr val="FF0000"/>
                </a:solidFill>
              </a:rPr>
              <a:t>nodes</a:t>
            </a:r>
            <a:r>
              <a:rPr lang="en-US" dirty="0"/>
              <a:t>—these hold a pointer to the actual bucket with </a:t>
            </a:r>
            <a:r>
              <a:rPr lang="en-US" dirty="0" smtClean="0"/>
              <a:t>records.</a:t>
            </a:r>
            <a:endParaRPr lang="en-IN" dirty="0"/>
          </a:p>
        </p:txBody>
      </p:sp>
    </p:spTree>
    <p:extLst>
      <p:ext uri="{BB962C8B-B14F-4D97-AF65-F5344CB8AC3E}">
        <p14:creationId xmlns:p14="http://schemas.microsoft.com/office/powerpoint/2010/main" val="25450415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88640"/>
            <a:ext cx="8352928" cy="640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89417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365104"/>
            <a:ext cx="8229600" cy="1143000"/>
          </a:xfrm>
        </p:spPr>
        <p:txBody>
          <a:bodyPr/>
          <a:lstStyle/>
          <a:p>
            <a:pPr algn="r"/>
            <a:r>
              <a:rPr lang="en-US" dirty="0" smtClean="0"/>
              <a:t>Thank you </a:t>
            </a:r>
            <a:endParaRPr lang="en-IN" dirty="0"/>
          </a:p>
        </p:txBody>
      </p:sp>
    </p:spTree>
    <p:extLst>
      <p:ext uri="{BB962C8B-B14F-4D97-AF65-F5344CB8AC3E}">
        <p14:creationId xmlns:p14="http://schemas.microsoft.com/office/powerpoint/2010/main" val="22772127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864</Words>
  <Application>Microsoft Office PowerPoint</Application>
  <PresentationFormat>On-screen Show (4:3)</PresentationFormat>
  <Paragraphs>79</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Extendible Hashing and  Dynamic Hashing</vt:lpstr>
      <vt:lpstr>PowerPoint Presentation</vt:lpstr>
      <vt:lpstr>Basic Structure of Extendible Hashing </vt:lpstr>
      <vt:lpstr>Frequently used terms in Extendible Hashing </vt:lpstr>
      <vt:lpstr>PowerPoint Presentation</vt:lpstr>
      <vt:lpstr>Basic Working of Extendible Hashing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Observations </vt:lpstr>
      <vt:lpstr>Advantages </vt:lpstr>
      <vt:lpstr>Limitations Of Extendible Hashing</vt:lpstr>
      <vt:lpstr>Data Structures used for implementation</vt:lpstr>
      <vt:lpstr>Dynamic Hashing</vt:lpstr>
      <vt:lpstr>PowerPoint Presentation</vt:lpstr>
      <vt:lpstr>PowerPoint Presentation</vt:lpstr>
      <vt:lpstr>PowerPoint Presentation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Extendible Hashing</dc:title>
  <dc:creator>HP</dc:creator>
  <cp:lastModifiedBy>HP</cp:lastModifiedBy>
  <cp:revision>11</cp:revision>
  <dcterms:created xsi:type="dcterms:W3CDTF">2022-11-16T01:32:43Z</dcterms:created>
  <dcterms:modified xsi:type="dcterms:W3CDTF">2023-06-16T03:56:56Z</dcterms:modified>
</cp:coreProperties>
</file>