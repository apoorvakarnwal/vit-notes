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86" r:id="rId6"/>
    <p:sldId id="260" r:id="rId7"/>
    <p:sldId id="261" r:id="rId8"/>
    <p:sldId id="262" r:id="rId9"/>
    <p:sldId id="263" r:id="rId10"/>
    <p:sldId id="285" r:id="rId11"/>
    <p:sldId id="264" r:id="rId12"/>
    <p:sldId id="265" r:id="rId13"/>
    <p:sldId id="267" r:id="rId14"/>
    <p:sldId id="268" r:id="rId15"/>
    <p:sldId id="269" r:id="rId16"/>
    <p:sldId id="284" r:id="rId17"/>
    <p:sldId id="283" r:id="rId18"/>
    <p:sldId id="270" r:id="rId19"/>
    <p:sldId id="271" r:id="rId20"/>
    <p:sldId id="272" r:id="rId21"/>
    <p:sldId id="273" r:id="rId22"/>
    <p:sldId id="275" r:id="rId23"/>
    <p:sldId id="279" r:id="rId24"/>
    <p:sldId id="280" r:id="rId25"/>
    <p:sldId id="281" r:id="rId26"/>
    <p:sldId id="282" r:id="rId27"/>
    <p:sldId id="277" r:id="rId28"/>
    <p:sldId id="278" r:id="rId29"/>
    <p:sldId id="27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81DE1-D8C2-4762-9A3E-1C0FC03781FC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1A468-D26F-45F4-9A17-918C0B8A1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3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9E05-5896-482C-A6AE-8D3BB99E154D}" type="datetime1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25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D3983-3DB4-4783-BEF3-484F675D7F40}" type="datetime1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5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4B03B-B17F-4B04-A52B-78CC56E1D194}" type="datetime1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93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F062-81DB-446F-A072-AE16EC065317}" type="datetime1">
              <a:rPr lang="en-IN" smtClean="0"/>
              <a:t>25-07-2024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08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5F556-A9B8-48A8-883F-C1AD43434A9E}" type="datetime1">
              <a:rPr lang="en-IN" smtClean="0"/>
              <a:t>25-07-2024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72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A2F6E-A442-4C90-A169-B3EEA24CAC72}" type="datetime1">
              <a:rPr lang="en-IN" smtClean="0"/>
              <a:t>25-07-2024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6C87-CFE3-4685-86BC-BB8F374E8B41}" type="datetime1">
              <a:rPr lang="en-IN" smtClean="0"/>
              <a:t>25-07-2024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823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9FA11-0507-4AE5-8B66-A57A17F325C4}" type="datetime1">
              <a:rPr lang="en-IN" smtClean="0"/>
              <a:t>25-07-2024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49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9D28-F1C1-4B0B-AE71-B268E54ACC3F}" type="datetime1">
              <a:rPr lang="en-IN" smtClean="0"/>
              <a:t>25-07-2024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4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8318F-9F29-4E35-96DF-1880DA462607}" type="datetime1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95034-C6DD-425C-BB00-8A4A78EC1CEF}" type="datetime1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2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CFCDE-3622-4787-9D2D-91C28D817776}" type="datetime1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A07DA-D5DC-48E4-B757-74983CFA7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94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Module -2</a:t>
            </a:r>
            <a:br>
              <a:rPr lang="en-IN" b="1" dirty="0" smtClean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140968"/>
            <a:ext cx="6400800" cy="694928"/>
          </a:xfrm>
        </p:spPr>
        <p:txBody>
          <a:bodyPr/>
          <a:lstStyle/>
          <a:p>
            <a:r>
              <a:rPr lang="en-IN" dirty="0">
                <a:solidFill>
                  <a:srgbClr val="660066"/>
                </a:solidFill>
              </a:rPr>
              <a:t>Relational Model and E-R </a:t>
            </a:r>
            <a:r>
              <a:rPr lang="en-IN" dirty="0" smtClean="0">
                <a:solidFill>
                  <a:srgbClr val="660066"/>
                </a:solidFill>
              </a:rPr>
              <a:t>Modelling</a:t>
            </a:r>
            <a:endParaRPr lang="en-IN" dirty="0">
              <a:solidFill>
                <a:srgbClr val="6600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43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of Relational Databases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6"/>
            <a:ext cx="5616624" cy="496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086100"/>
            <a:ext cx="2646409" cy="630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97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13" t="39592" r="30945" b="18697"/>
          <a:stretch/>
        </p:blipFill>
        <p:spPr bwMode="auto">
          <a:xfrm>
            <a:off x="22561" y="863424"/>
            <a:ext cx="6863260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32240" y="3102980"/>
            <a:ext cx="2160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i="1" dirty="0"/>
              <a:t>course </a:t>
            </a:r>
            <a:r>
              <a:rPr lang="en-IN" dirty="0"/>
              <a:t>relation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92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student </a:t>
            </a:r>
            <a:r>
              <a:rPr lang="en-IN" dirty="0"/>
              <a:t>(</a:t>
            </a:r>
            <a:r>
              <a:rPr lang="en-IN" i="1" dirty="0"/>
              <a:t>ID</a:t>
            </a:r>
            <a:r>
              <a:rPr lang="en-IN" dirty="0"/>
              <a:t>, </a:t>
            </a:r>
            <a:r>
              <a:rPr lang="en-IN" i="1" dirty="0"/>
              <a:t>name</a:t>
            </a:r>
            <a:r>
              <a:rPr lang="en-IN" dirty="0"/>
              <a:t>, </a:t>
            </a:r>
            <a:r>
              <a:rPr lang="en-IN" i="1" dirty="0" err="1"/>
              <a:t>dept</a:t>
            </a:r>
            <a:r>
              <a:rPr lang="en-IN" i="1" dirty="0"/>
              <a:t> name</a:t>
            </a:r>
            <a:r>
              <a:rPr lang="en-IN" dirty="0"/>
              <a:t>, </a:t>
            </a:r>
            <a:r>
              <a:rPr lang="en-IN" i="1" dirty="0"/>
              <a:t>tot cred</a:t>
            </a:r>
            <a:r>
              <a:rPr lang="en-IN" dirty="0"/>
              <a:t>)</a:t>
            </a:r>
          </a:p>
          <a:p>
            <a:r>
              <a:rPr lang="en-US" i="1" dirty="0" smtClean="0"/>
              <a:t>advisor </a:t>
            </a:r>
            <a:r>
              <a:rPr lang="en-US" dirty="0"/>
              <a:t>(</a:t>
            </a:r>
            <a:r>
              <a:rPr lang="en-US" i="1" dirty="0"/>
              <a:t>s id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i="1" dirty="0"/>
              <a:t> id</a:t>
            </a:r>
            <a:r>
              <a:rPr lang="en-US" dirty="0"/>
              <a:t>)</a:t>
            </a:r>
          </a:p>
          <a:p>
            <a:r>
              <a:rPr lang="en-US" i="1" dirty="0" smtClean="0"/>
              <a:t>takes </a:t>
            </a:r>
            <a:r>
              <a:rPr lang="en-US" dirty="0"/>
              <a:t>(</a:t>
            </a:r>
            <a:r>
              <a:rPr lang="en-US" i="1" dirty="0"/>
              <a:t>ID</a:t>
            </a:r>
            <a:r>
              <a:rPr lang="en-US" dirty="0"/>
              <a:t>, </a:t>
            </a:r>
            <a:r>
              <a:rPr lang="en-US" i="1" dirty="0"/>
              <a:t>course id</a:t>
            </a:r>
            <a:r>
              <a:rPr lang="en-US" dirty="0"/>
              <a:t>, </a:t>
            </a:r>
            <a:r>
              <a:rPr lang="en-US" i="1" dirty="0"/>
              <a:t>sec id</a:t>
            </a:r>
            <a:r>
              <a:rPr lang="en-US" dirty="0"/>
              <a:t>, </a:t>
            </a:r>
            <a:r>
              <a:rPr lang="en-US" i="1" dirty="0"/>
              <a:t>semester</a:t>
            </a:r>
            <a:r>
              <a:rPr lang="en-US" dirty="0"/>
              <a:t>, </a:t>
            </a:r>
            <a:r>
              <a:rPr lang="en-US" i="1" dirty="0"/>
              <a:t>year</a:t>
            </a:r>
            <a:r>
              <a:rPr lang="en-US" dirty="0"/>
              <a:t>, </a:t>
            </a:r>
            <a:r>
              <a:rPr lang="en-US" i="1" dirty="0"/>
              <a:t>grade</a:t>
            </a:r>
            <a:r>
              <a:rPr lang="en-US" dirty="0" smtClean="0"/>
              <a:t>)</a:t>
            </a:r>
          </a:p>
          <a:p>
            <a:r>
              <a:rPr lang="en-US" i="1" dirty="0"/>
              <a:t>classroom </a:t>
            </a:r>
            <a:r>
              <a:rPr lang="en-US" dirty="0"/>
              <a:t>(</a:t>
            </a:r>
            <a:r>
              <a:rPr lang="en-US" i="1" dirty="0"/>
              <a:t>building</a:t>
            </a:r>
            <a:r>
              <a:rPr lang="en-US" dirty="0"/>
              <a:t>, </a:t>
            </a:r>
            <a:r>
              <a:rPr lang="en-US" i="1" dirty="0"/>
              <a:t>room number</a:t>
            </a:r>
            <a:r>
              <a:rPr lang="en-US" dirty="0"/>
              <a:t>, </a:t>
            </a:r>
            <a:r>
              <a:rPr lang="en-US" i="1" dirty="0"/>
              <a:t>capacity</a:t>
            </a:r>
            <a:r>
              <a:rPr lang="en-US" dirty="0"/>
              <a:t>)</a:t>
            </a:r>
          </a:p>
          <a:p>
            <a:r>
              <a:rPr lang="en-US" i="1" dirty="0" smtClean="0"/>
              <a:t>time </a:t>
            </a:r>
            <a:r>
              <a:rPr lang="en-US" i="1" dirty="0"/>
              <a:t>slot </a:t>
            </a:r>
            <a:r>
              <a:rPr lang="en-US" dirty="0"/>
              <a:t>(</a:t>
            </a:r>
            <a:r>
              <a:rPr lang="en-US" i="1" dirty="0"/>
              <a:t>time slot id</a:t>
            </a:r>
            <a:r>
              <a:rPr lang="en-US" dirty="0"/>
              <a:t>, </a:t>
            </a:r>
            <a:r>
              <a:rPr lang="en-US" i="1" dirty="0"/>
              <a:t>day</a:t>
            </a:r>
            <a:r>
              <a:rPr lang="en-US" dirty="0"/>
              <a:t>, </a:t>
            </a:r>
            <a:r>
              <a:rPr lang="en-US" i="1" dirty="0"/>
              <a:t>start time</a:t>
            </a:r>
            <a:r>
              <a:rPr lang="en-US" dirty="0"/>
              <a:t>, </a:t>
            </a:r>
            <a:r>
              <a:rPr lang="en-US" i="1" dirty="0"/>
              <a:t>end time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51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Empid</a:t>
            </a:r>
            <a:r>
              <a:rPr lang="en-US" dirty="0" smtClean="0"/>
              <a:t>             // unique  &amp; not null</a:t>
            </a:r>
          </a:p>
          <a:p>
            <a:r>
              <a:rPr lang="en-US" dirty="0" err="1" smtClean="0"/>
              <a:t>Ename</a:t>
            </a:r>
            <a:r>
              <a:rPr lang="en-US" dirty="0" smtClean="0"/>
              <a:t>            // duplicates</a:t>
            </a:r>
          </a:p>
          <a:p>
            <a:r>
              <a:rPr lang="en-US" dirty="0" err="1" smtClean="0"/>
              <a:t>Emp</a:t>
            </a:r>
            <a:r>
              <a:rPr lang="en-US" dirty="0" smtClean="0"/>
              <a:t> </a:t>
            </a:r>
            <a:r>
              <a:rPr lang="en-US" dirty="0" err="1" smtClean="0"/>
              <a:t>aadhar</a:t>
            </a:r>
            <a:r>
              <a:rPr lang="en-US" dirty="0" smtClean="0"/>
              <a:t>    </a:t>
            </a:r>
            <a:r>
              <a:rPr lang="en-US" smtClean="0"/>
              <a:t>// unique  &amp; Not null</a:t>
            </a:r>
            <a:endParaRPr lang="en-US" dirty="0" smtClean="0"/>
          </a:p>
          <a:p>
            <a:r>
              <a:rPr lang="en-US" dirty="0" err="1" smtClean="0"/>
              <a:t>Emp</a:t>
            </a:r>
            <a:r>
              <a:rPr lang="en-US" dirty="0" smtClean="0"/>
              <a:t> </a:t>
            </a:r>
            <a:r>
              <a:rPr lang="en-US" dirty="0" err="1" smtClean="0"/>
              <a:t>sal</a:t>
            </a:r>
            <a:r>
              <a:rPr lang="en-US" dirty="0" smtClean="0"/>
              <a:t>         // duplicates</a:t>
            </a:r>
          </a:p>
          <a:p>
            <a:r>
              <a:rPr lang="en-US" dirty="0" err="1" smtClean="0"/>
              <a:t>Emp</a:t>
            </a:r>
            <a:r>
              <a:rPr lang="en-US" dirty="0" smtClean="0"/>
              <a:t> contact     // may have Null values</a:t>
            </a:r>
          </a:p>
          <a:p>
            <a:r>
              <a:rPr lang="en-US" dirty="0" err="1" smtClean="0"/>
              <a:t>Emp</a:t>
            </a:r>
            <a:r>
              <a:rPr lang="en-US" dirty="0" smtClean="0"/>
              <a:t> email</a:t>
            </a:r>
            <a:r>
              <a:rPr lang="en-US" dirty="0"/>
              <a:t> // may have Null values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81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Super key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 err="1">
                <a:solidFill>
                  <a:srgbClr val="FF0000"/>
                </a:solidFill>
              </a:rPr>
              <a:t>superkey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is a set of one or more attributes that, taken collectively, allow us </a:t>
            </a:r>
            <a:r>
              <a:rPr lang="en-US" dirty="0" smtClean="0"/>
              <a:t>to identify </a:t>
            </a:r>
            <a:r>
              <a:rPr lang="en-US" dirty="0"/>
              <a:t>uniquely a tuple in the relation.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the </a:t>
            </a:r>
            <a:r>
              <a:rPr lang="en-US" i="1" dirty="0"/>
              <a:t>ID </a:t>
            </a:r>
            <a:r>
              <a:rPr lang="en-US" dirty="0"/>
              <a:t>attribute of the </a:t>
            </a:r>
            <a:r>
              <a:rPr lang="en-US" dirty="0" smtClean="0"/>
              <a:t>relation </a:t>
            </a:r>
            <a:r>
              <a:rPr lang="en-US" i="1" dirty="0" smtClean="0"/>
              <a:t>instructor </a:t>
            </a:r>
            <a:r>
              <a:rPr lang="en-US" dirty="0"/>
              <a:t>is sufficient to distinguish one instructor tuple from another. </a:t>
            </a:r>
            <a:endParaRPr lang="en-US" dirty="0" smtClean="0"/>
          </a:p>
          <a:p>
            <a:pPr algn="just"/>
            <a:r>
              <a:rPr lang="en-US" dirty="0" smtClean="0"/>
              <a:t>Thus</a:t>
            </a:r>
            <a:r>
              <a:rPr lang="en-US" dirty="0"/>
              <a:t>, </a:t>
            </a:r>
            <a:r>
              <a:rPr lang="en-US" i="1" dirty="0"/>
              <a:t>ID </a:t>
            </a:r>
            <a:r>
              <a:rPr lang="en-US" dirty="0"/>
              <a:t>is </a:t>
            </a:r>
            <a:r>
              <a:rPr lang="en-US" dirty="0" smtClean="0"/>
              <a:t>a </a:t>
            </a:r>
            <a:r>
              <a:rPr lang="en-US" dirty="0" err="1" smtClean="0"/>
              <a:t>superkey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i="1" dirty="0"/>
              <a:t>name </a:t>
            </a:r>
            <a:r>
              <a:rPr lang="en-US" dirty="0"/>
              <a:t>attribute of </a:t>
            </a:r>
            <a:r>
              <a:rPr lang="en-US" i="1" dirty="0"/>
              <a:t>instructor</a:t>
            </a:r>
            <a:r>
              <a:rPr lang="en-US" dirty="0"/>
              <a:t>, on the other hand, is not a </a:t>
            </a:r>
            <a:r>
              <a:rPr lang="en-US" dirty="0" err="1"/>
              <a:t>superkey</a:t>
            </a:r>
            <a:r>
              <a:rPr lang="en-US" dirty="0"/>
              <a:t>, </a:t>
            </a:r>
            <a:r>
              <a:rPr lang="en-US" dirty="0" smtClean="0"/>
              <a:t>because several </a:t>
            </a:r>
            <a:r>
              <a:rPr lang="en-US" dirty="0"/>
              <a:t>instructors might have the same name.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56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Candidate Keys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</a:t>
            </a:r>
            <a:r>
              <a:rPr lang="en-US" dirty="0" err="1"/>
              <a:t>superkey</a:t>
            </a:r>
            <a:r>
              <a:rPr lang="en-US" dirty="0"/>
              <a:t> may contain extraneous attributes. For example, the combination </a:t>
            </a:r>
            <a:r>
              <a:rPr lang="en-US" dirty="0" smtClean="0"/>
              <a:t>of </a:t>
            </a:r>
            <a:r>
              <a:rPr lang="en-US" i="1" dirty="0" smtClean="0"/>
              <a:t>ID </a:t>
            </a:r>
            <a:r>
              <a:rPr lang="en-US" dirty="0"/>
              <a:t>and </a:t>
            </a:r>
            <a:r>
              <a:rPr lang="en-US" i="1" dirty="0"/>
              <a:t>name </a:t>
            </a:r>
            <a:r>
              <a:rPr lang="en-US" dirty="0"/>
              <a:t>is a </a:t>
            </a:r>
            <a:r>
              <a:rPr lang="en-US" dirty="0" err="1"/>
              <a:t>superkey</a:t>
            </a:r>
            <a:r>
              <a:rPr lang="en-US" dirty="0"/>
              <a:t> for the relation </a:t>
            </a:r>
            <a:r>
              <a:rPr lang="en-US" i="1" dirty="0"/>
              <a:t>instructor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i="1" dirty="0"/>
              <a:t>K </a:t>
            </a:r>
            <a:r>
              <a:rPr lang="en-US" dirty="0"/>
              <a:t>is a </a:t>
            </a:r>
            <a:r>
              <a:rPr lang="en-US" dirty="0" err="1"/>
              <a:t>superkey</a:t>
            </a:r>
            <a:r>
              <a:rPr lang="en-US" dirty="0"/>
              <a:t>, then so is </a:t>
            </a:r>
            <a:r>
              <a:rPr lang="en-US" dirty="0" smtClean="0"/>
              <a:t>any superset </a:t>
            </a:r>
            <a:r>
              <a:rPr lang="en-US" dirty="0"/>
              <a:t>of </a:t>
            </a:r>
            <a:r>
              <a:rPr lang="en-US" i="1" dirty="0"/>
              <a:t>K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We </a:t>
            </a:r>
            <a:r>
              <a:rPr lang="en-US" dirty="0"/>
              <a:t>are often interested in </a:t>
            </a:r>
            <a:r>
              <a:rPr lang="en-US" dirty="0" err="1"/>
              <a:t>superkeys</a:t>
            </a:r>
            <a:r>
              <a:rPr lang="en-US" dirty="0"/>
              <a:t> for which </a:t>
            </a:r>
            <a:r>
              <a:rPr lang="en-US" dirty="0">
                <a:solidFill>
                  <a:srgbClr val="FF0000"/>
                </a:solidFill>
              </a:rPr>
              <a:t>no proper subset is 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 err="1" smtClean="0">
                <a:solidFill>
                  <a:srgbClr val="FF0000"/>
                </a:solidFill>
              </a:rPr>
              <a:t>superkey</a:t>
            </a:r>
            <a:r>
              <a:rPr lang="en-US" dirty="0"/>
              <a:t>. </a:t>
            </a:r>
            <a:r>
              <a:rPr lang="en-US" dirty="0" smtClean="0"/>
              <a:t>Such </a:t>
            </a:r>
            <a:r>
              <a:rPr lang="en-US" dirty="0"/>
              <a:t>minimal </a:t>
            </a:r>
            <a:r>
              <a:rPr lang="en-US" dirty="0" err="1"/>
              <a:t>superkeys</a:t>
            </a:r>
            <a:r>
              <a:rPr lang="en-US" dirty="0"/>
              <a:t> are called </a:t>
            </a:r>
            <a:r>
              <a:rPr lang="en-US" dirty="0">
                <a:solidFill>
                  <a:srgbClr val="FF0000"/>
                </a:solidFill>
              </a:rPr>
              <a:t>candidate keys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/>
              <a:t>Suppose that a combination of </a:t>
            </a:r>
            <a:r>
              <a:rPr lang="en-US" i="1" dirty="0">
                <a:solidFill>
                  <a:srgbClr val="FF0000"/>
                </a:solidFill>
              </a:rPr>
              <a:t>name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>
                <a:solidFill>
                  <a:srgbClr val="FF0000"/>
                </a:solidFill>
              </a:rPr>
              <a:t>dept</a:t>
            </a:r>
            <a:r>
              <a:rPr lang="en-US" i="1" dirty="0">
                <a:solidFill>
                  <a:srgbClr val="FF0000"/>
                </a:solidFill>
              </a:rPr>
              <a:t> name</a:t>
            </a:r>
            <a:r>
              <a:rPr lang="en-US" i="1" dirty="0"/>
              <a:t> </a:t>
            </a:r>
            <a:r>
              <a:rPr lang="en-US" dirty="0"/>
              <a:t>is sufficient to distinguish </a:t>
            </a:r>
            <a:r>
              <a:rPr lang="en-US" dirty="0" smtClean="0"/>
              <a:t>among members </a:t>
            </a:r>
            <a:r>
              <a:rPr lang="en-US" dirty="0"/>
              <a:t>of the </a:t>
            </a:r>
            <a:r>
              <a:rPr lang="en-US" i="1" dirty="0"/>
              <a:t>instructor </a:t>
            </a:r>
            <a:r>
              <a:rPr lang="en-US" dirty="0"/>
              <a:t>relation. Then, both {</a:t>
            </a:r>
            <a:r>
              <a:rPr lang="en-US" i="1" dirty="0"/>
              <a:t>ID</a:t>
            </a:r>
            <a:r>
              <a:rPr lang="en-US" dirty="0"/>
              <a:t>} and {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 err="1"/>
              <a:t>dept</a:t>
            </a:r>
            <a:r>
              <a:rPr lang="en-US" i="1" dirty="0"/>
              <a:t> name</a:t>
            </a:r>
            <a:r>
              <a:rPr lang="en-US" dirty="0"/>
              <a:t>} are </a:t>
            </a:r>
            <a:r>
              <a:rPr lang="en-US" dirty="0" smtClean="0"/>
              <a:t>candidate </a:t>
            </a:r>
            <a:r>
              <a:rPr lang="en-IN" dirty="0" smtClean="0"/>
              <a:t>keys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48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Primary Key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shall use the term </a:t>
            </a:r>
            <a:r>
              <a:rPr lang="en-US" dirty="0">
                <a:solidFill>
                  <a:srgbClr val="FF0000"/>
                </a:solidFill>
              </a:rPr>
              <a:t>primary key </a:t>
            </a:r>
            <a:r>
              <a:rPr lang="en-US" dirty="0"/>
              <a:t>to denote a candidate key that is chosen by </a:t>
            </a:r>
            <a:r>
              <a:rPr lang="en-US" dirty="0" smtClean="0"/>
              <a:t>the database </a:t>
            </a:r>
            <a:r>
              <a:rPr lang="en-US" dirty="0"/>
              <a:t>designer as the principal means of identifying tuples within a relation</a:t>
            </a:r>
            <a:r>
              <a:rPr lang="en-US" dirty="0" smtClean="0"/>
              <a:t>.</a:t>
            </a:r>
          </a:p>
          <a:p>
            <a:r>
              <a:rPr lang="en-US" dirty="0"/>
              <a:t>Any two individual tuples in the relation are prohibited </a:t>
            </a:r>
            <a:r>
              <a:rPr lang="en-US" dirty="0" smtClean="0"/>
              <a:t>from having </a:t>
            </a:r>
            <a:r>
              <a:rPr lang="en-US" dirty="0"/>
              <a:t>the same value on the key attributes at the same </a:t>
            </a:r>
            <a:r>
              <a:rPr lang="en-US" dirty="0" smtClean="0"/>
              <a:t>time.</a:t>
            </a:r>
          </a:p>
          <a:p>
            <a:r>
              <a:rPr lang="en-IN" i="1" dirty="0"/>
              <a:t>student </a:t>
            </a:r>
            <a:r>
              <a:rPr lang="en-IN" dirty="0"/>
              <a:t>(</a:t>
            </a:r>
            <a:r>
              <a:rPr lang="en-IN" i="1" u="sng" dirty="0"/>
              <a:t>ID</a:t>
            </a:r>
            <a:r>
              <a:rPr lang="en-IN" dirty="0"/>
              <a:t>, </a:t>
            </a:r>
            <a:r>
              <a:rPr lang="en-IN" i="1" dirty="0"/>
              <a:t>name</a:t>
            </a:r>
            <a:r>
              <a:rPr lang="en-IN" dirty="0"/>
              <a:t>, </a:t>
            </a:r>
            <a:r>
              <a:rPr lang="en-IN" i="1" dirty="0" err="1"/>
              <a:t>dept</a:t>
            </a:r>
            <a:r>
              <a:rPr lang="en-IN" i="1" dirty="0"/>
              <a:t> name</a:t>
            </a:r>
            <a:r>
              <a:rPr lang="en-IN" dirty="0"/>
              <a:t>, </a:t>
            </a:r>
            <a:r>
              <a:rPr lang="en-IN" i="1" dirty="0"/>
              <a:t>tot cred</a:t>
            </a:r>
            <a:r>
              <a:rPr lang="en-IN" dirty="0" smtClean="0"/>
              <a:t>)</a:t>
            </a:r>
          </a:p>
          <a:p>
            <a:r>
              <a:rPr lang="en-US" i="1" dirty="0"/>
              <a:t>classroom </a:t>
            </a:r>
            <a:r>
              <a:rPr lang="en-US" dirty="0"/>
              <a:t>(</a:t>
            </a:r>
            <a:r>
              <a:rPr lang="en-US" u="sng" dirty="0"/>
              <a:t>building</a:t>
            </a:r>
            <a:r>
              <a:rPr lang="en-US" dirty="0"/>
              <a:t>, </a:t>
            </a:r>
            <a:r>
              <a:rPr lang="en-US" u="sng" dirty="0"/>
              <a:t>room number</a:t>
            </a:r>
            <a:r>
              <a:rPr lang="en-US" dirty="0"/>
              <a:t>, </a:t>
            </a:r>
            <a:r>
              <a:rPr lang="en-US" i="1" dirty="0"/>
              <a:t>capacity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90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Foreign Key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foreign-key constraint from attribute(s) </a:t>
            </a:r>
            <a:r>
              <a:rPr lang="en-US" i="1" dirty="0"/>
              <a:t>A </a:t>
            </a:r>
            <a:r>
              <a:rPr lang="en-US" dirty="0"/>
              <a:t>of relation </a:t>
            </a:r>
            <a:r>
              <a:rPr lang="en-US" i="1" dirty="0"/>
              <a:t>r</a:t>
            </a:r>
            <a:r>
              <a:rPr lang="en-US" dirty="0"/>
              <a:t>1 to the primary-key </a:t>
            </a:r>
            <a:r>
              <a:rPr lang="en-US" i="1" dirty="0"/>
              <a:t>B </a:t>
            </a:r>
            <a:r>
              <a:rPr lang="en-US" dirty="0" smtClean="0"/>
              <a:t>of relation </a:t>
            </a:r>
            <a:r>
              <a:rPr lang="en-US" i="1" dirty="0"/>
              <a:t>r</a:t>
            </a:r>
            <a:r>
              <a:rPr lang="en-US" dirty="0"/>
              <a:t>2 states that on any database instance, the value of </a:t>
            </a:r>
            <a:r>
              <a:rPr lang="en-US" i="1" dirty="0"/>
              <a:t>A </a:t>
            </a:r>
            <a:r>
              <a:rPr lang="en-US" dirty="0"/>
              <a:t>for each tuple in </a:t>
            </a:r>
            <a:r>
              <a:rPr lang="en-US" i="1" dirty="0"/>
              <a:t>r</a:t>
            </a:r>
            <a:r>
              <a:rPr lang="en-US" dirty="0"/>
              <a:t>1 </a:t>
            </a:r>
            <a:r>
              <a:rPr lang="en-US" dirty="0" smtClean="0"/>
              <a:t>must also </a:t>
            </a:r>
            <a:r>
              <a:rPr lang="en-US" dirty="0"/>
              <a:t>be the value of </a:t>
            </a:r>
            <a:r>
              <a:rPr lang="en-US" i="1" dirty="0"/>
              <a:t>B </a:t>
            </a:r>
            <a:r>
              <a:rPr lang="en-US" dirty="0"/>
              <a:t>for some tuple in </a:t>
            </a:r>
            <a:r>
              <a:rPr lang="en-US" i="1" dirty="0"/>
              <a:t>r</a:t>
            </a:r>
            <a:r>
              <a:rPr lang="en-US" dirty="0"/>
              <a:t>2. </a:t>
            </a:r>
            <a:endParaRPr lang="en-US" dirty="0" smtClean="0"/>
          </a:p>
          <a:p>
            <a:r>
              <a:rPr lang="en-US" dirty="0" smtClean="0"/>
              <a:t>Attribute </a:t>
            </a:r>
            <a:r>
              <a:rPr lang="en-US" dirty="0"/>
              <a:t>set </a:t>
            </a:r>
            <a:r>
              <a:rPr lang="en-US" i="1" dirty="0"/>
              <a:t>A </a:t>
            </a:r>
            <a:r>
              <a:rPr lang="en-US" dirty="0"/>
              <a:t>is called a foreign key from </a:t>
            </a:r>
            <a:r>
              <a:rPr lang="en-US" i="1" dirty="0"/>
              <a:t>r</a:t>
            </a:r>
            <a:r>
              <a:rPr lang="en-US" dirty="0"/>
              <a:t>1</a:t>
            </a:r>
            <a:r>
              <a:rPr lang="en-US" dirty="0" smtClean="0"/>
              <a:t>, </a:t>
            </a:r>
            <a:r>
              <a:rPr lang="en-IN" dirty="0" smtClean="0"/>
              <a:t>referencing </a:t>
            </a:r>
            <a:r>
              <a:rPr lang="en-IN" i="1" dirty="0"/>
              <a:t>r</a:t>
            </a:r>
            <a:r>
              <a:rPr lang="en-IN" dirty="0"/>
              <a:t>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76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Alternate key</a:t>
            </a:r>
          </a:p>
          <a:p>
            <a:pPr lvl="1"/>
            <a:r>
              <a:rPr lang="en-US" dirty="0"/>
              <a:t>All the candidate key except the primary key </a:t>
            </a:r>
          </a:p>
          <a:p>
            <a:r>
              <a:rPr lang="en-US" dirty="0" smtClean="0"/>
              <a:t>Unique key</a:t>
            </a:r>
          </a:p>
          <a:p>
            <a:pPr lvl="1"/>
            <a:r>
              <a:rPr lang="en-US" dirty="0" smtClean="0"/>
              <a:t>As similar to Primary Key but it accepts NULL Values </a:t>
            </a:r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5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25544" cy="64807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Schema 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13" t="41221" r="21603" b="17394"/>
          <a:stretch/>
        </p:blipFill>
        <p:spPr bwMode="auto">
          <a:xfrm>
            <a:off x="179512" y="908720"/>
            <a:ext cx="8798018" cy="573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1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361950"/>
            <a:ext cx="8724900" cy="613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9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Constraints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algn="just"/>
            <a:r>
              <a:rPr lang="en-US" dirty="0"/>
              <a:t>we discuss the various restrictions on data that can be specified on </a:t>
            </a:r>
            <a:r>
              <a:rPr lang="en-US" dirty="0" smtClean="0"/>
              <a:t>a relational </a:t>
            </a:r>
            <a:r>
              <a:rPr lang="en-US" dirty="0"/>
              <a:t>database in the form of constraints. Constraints on databases can </a:t>
            </a:r>
            <a:r>
              <a:rPr lang="en-US" dirty="0" smtClean="0"/>
              <a:t>generally be </a:t>
            </a:r>
            <a:r>
              <a:rPr lang="en-US" dirty="0"/>
              <a:t>divided into three main categories</a:t>
            </a:r>
            <a:r>
              <a:rPr lang="en-US" dirty="0" smtClean="0"/>
              <a:t>:</a:t>
            </a:r>
          </a:p>
          <a:p>
            <a:pPr algn="just"/>
            <a:r>
              <a:rPr lang="en-IN" b="1" dirty="0" smtClean="0"/>
              <a:t>Implicit constraints</a:t>
            </a:r>
            <a:endParaRPr lang="en-IN" dirty="0" smtClean="0"/>
          </a:p>
          <a:p>
            <a:pPr algn="just"/>
            <a:r>
              <a:rPr lang="en-IN" b="1" dirty="0"/>
              <a:t>E</a:t>
            </a:r>
            <a:r>
              <a:rPr lang="en-IN" b="1" dirty="0" smtClean="0"/>
              <a:t>xplicit constraints</a:t>
            </a:r>
          </a:p>
          <a:p>
            <a:pPr algn="just"/>
            <a:r>
              <a:rPr lang="en-IN" b="1" dirty="0"/>
              <a:t>S</a:t>
            </a:r>
            <a:r>
              <a:rPr lang="en-IN" b="1" dirty="0" smtClean="0"/>
              <a:t>emantic </a:t>
            </a:r>
            <a:r>
              <a:rPr lang="en-IN" b="1" dirty="0"/>
              <a:t>constraints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18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Constraints that are inherent in the data model. We call these </a:t>
            </a:r>
            <a:r>
              <a:rPr lang="en-US" b="1" dirty="0" smtClean="0"/>
              <a:t>inherent </a:t>
            </a:r>
            <a:r>
              <a:rPr lang="en-IN" b="1" dirty="0" smtClean="0"/>
              <a:t>model-based </a:t>
            </a:r>
            <a:r>
              <a:rPr lang="en-IN" b="1" dirty="0"/>
              <a:t>constraints </a:t>
            </a:r>
            <a:r>
              <a:rPr lang="en-IN" dirty="0"/>
              <a:t>or </a:t>
            </a:r>
            <a:r>
              <a:rPr lang="en-IN" b="1" dirty="0">
                <a:solidFill>
                  <a:srgbClr val="FF0000"/>
                </a:solidFill>
              </a:rPr>
              <a:t>implicit constraints</a:t>
            </a:r>
            <a:r>
              <a:rPr lang="en-IN" dirty="0"/>
              <a:t>.</a:t>
            </a:r>
          </a:p>
          <a:p>
            <a:pPr algn="just"/>
            <a:r>
              <a:rPr lang="en-US" dirty="0" smtClean="0"/>
              <a:t>Constraints </a:t>
            </a:r>
            <a:r>
              <a:rPr lang="en-US" dirty="0"/>
              <a:t>that can be directly expressed in schemas of the data model, </a:t>
            </a:r>
            <a:r>
              <a:rPr lang="en-US" dirty="0" smtClean="0"/>
              <a:t>typically by </a:t>
            </a:r>
            <a:r>
              <a:rPr lang="en-US" dirty="0"/>
              <a:t>specifying them in the </a:t>
            </a:r>
            <a:r>
              <a:rPr lang="en-US" dirty="0" smtClean="0"/>
              <a:t>DDL. We </a:t>
            </a:r>
            <a:r>
              <a:rPr lang="en-US" dirty="0"/>
              <a:t>call these </a:t>
            </a:r>
            <a:r>
              <a:rPr lang="en-US" b="1" dirty="0">
                <a:solidFill>
                  <a:srgbClr val="FF0000"/>
                </a:solidFill>
              </a:rPr>
              <a:t>schema-based constraints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explicit constraints</a:t>
            </a:r>
            <a:r>
              <a:rPr lang="en-US" dirty="0" smtClean="0"/>
              <a:t>.</a:t>
            </a:r>
          </a:p>
          <a:p>
            <a:r>
              <a:rPr lang="en-US" dirty="0"/>
              <a:t>Constraints that </a:t>
            </a:r>
            <a:r>
              <a:rPr lang="en-US" i="1" dirty="0"/>
              <a:t>cannot </a:t>
            </a:r>
            <a:r>
              <a:rPr lang="en-US" dirty="0"/>
              <a:t>be directly expressed in the schemas of the </a:t>
            </a:r>
            <a:r>
              <a:rPr lang="en-US" dirty="0" smtClean="0"/>
              <a:t>data model</a:t>
            </a:r>
            <a:r>
              <a:rPr lang="en-US" dirty="0"/>
              <a:t>, and hence must be expressed and enforced by the application programs</a:t>
            </a:r>
            <a:r>
              <a:rPr lang="en-US" dirty="0" smtClean="0"/>
              <a:t>. We </a:t>
            </a:r>
            <a:r>
              <a:rPr lang="en-US" dirty="0"/>
              <a:t>call these </a:t>
            </a:r>
            <a:r>
              <a:rPr lang="en-US" b="1" dirty="0">
                <a:solidFill>
                  <a:srgbClr val="FF0000"/>
                </a:solidFill>
              </a:rPr>
              <a:t>application-based</a:t>
            </a:r>
            <a:r>
              <a:rPr lang="en-US" b="1" dirty="0"/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semantic constraints </a:t>
            </a:r>
            <a:r>
              <a:rPr lang="en-US" dirty="0"/>
              <a:t>or </a:t>
            </a:r>
            <a:r>
              <a:rPr lang="en-US" b="1" dirty="0" smtClean="0"/>
              <a:t>business </a:t>
            </a:r>
            <a:r>
              <a:rPr lang="en-IN" b="1" dirty="0" smtClean="0"/>
              <a:t>rules</a:t>
            </a:r>
            <a:r>
              <a:rPr lang="en-IN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82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Another important category of constraints is </a:t>
            </a:r>
            <a:r>
              <a:rPr lang="en-US" b="1" i="1" dirty="0">
                <a:solidFill>
                  <a:srgbClr val="FF0000"/>
                </a:solidFill>
              </a:rPr>
              <a:t>data dependencies</a:t>
            </a:r>
            <a:r>
              <a:rPr lang="en-US" dirty="0"/>
              <a:t>, which </a:t>
            </a:r>
            <a:r>
              <a:rPr lang="en-US" dirty="0" smtClean="0"/>
              <a:t>include  </a:t>
            </a:r>
            <a:r>
              <a:rPr lang="en-US" b="1" i="1" dirty="0" smtClean="0">
                <a:solidFill>
                  <a:srgbClr val="FF0000"/>
                </a:solidFill>
              </a:rPr>
              <a:t>functional </a:t>
            </a:r>
            <a:r>
              <a:rPr lang="en-US" b="1" i="1" dirty="0">
                <a:solidFill>
                  <a:srgbClr val="FF0000"/>
                </a:solidFill>
              </a:rPr>
              <a:t>dependencies </a:t>
            </a:r>
            <a:r>
              <a:rPr lang="en-US" dirty="0"/>
              <a:t>and </a:t>
            </a:r>
            <a:r>
              <a:rPr lang="en-US" b="1" i="1" dirty="0">
                <a:solidFill>
                  <a:srgbClr val="FF0000"/>
                </a:solidFill>
              </a:rPr>
              <a:t>multivalued dependencies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are used mainly </a:t>
            </a:r>
            <a:r>
              <a:rPr lang="en-US" dirty="0" smtClean="0"/>
              <a:t>for testing </a:t>
            </a:r>
            <a:r>
              <a:rPr lang="en-US" dirty="0"/>
              <a:t>the “</a:t>
            </a:r>
            <a:r>
              <a:rPr lang="en-US" b="1" dirty="0"/>
              <a:t>goodness</a:t>
            </a:r>
            <a:r>
              <a:rPr lang="en-US" dirty="0"/>
              <a:t>” of the design of a relational database and are utilized in </a:t>
            </a:r>
            <a:r>
              <a:rPr lang="en-US" dirty="0" smtClean="0"/>
              <a:t>a </a:t>
            </a:r>
            <a:r>
              <a:rPr lang="en-IN" dirty="0" smtClean="0"/>
              <a:t>process </a:t>
            </a:r>
            <a:r>
              <a:rPr lang="en-IN" dirty="0"/>
              <a:t>called </a:t>
            </a:r>
            <a:r>
              <a:rPr lang="en-IN" b="1" i="1" dirty="0" smtClean="0">
                <a:solidFill>
                  <a:srgbClr val="FF0000"/>
                </a:solidFill>
              </a:rPr>
              <a:t>normalization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14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dirty="0" smtClean="0"/>
              <a:t>Functional dependency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55576" y="1196752"/>
            <a:ext cx="77048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functional dependency (FD) is a relationship between two attributes, typically between the PK and other non-key attributes within a table.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any relation R, attribute Y is functionally dependent on attribute X (usually the PK), if for every valid instance of X, that value of X uniquely determines the value of Y.</a:t>
            </a: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12976"/>
            <a:ext cx="64103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93994" y="3837458"/>
            <a:ext cx="201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Relationship among or between attributes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9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89" y="-171400"/>
            <a:ext cx="8229600" cy="1143000"/>
          </a:xfrm>
        </p:spPr>
        <p:txBody>
          <a:bodyPr/>
          <a:lstStyle/>
          <a:p>
            <a:r>
              <a:rPr lang="en-US" dirty="0" smtClean="0"/>
              <a:t>Multivalued dependency</a:t>
            </a: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80928"/>
            <a:ext cx="6350471" cy="3764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51520" y="841936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Suppose there is a bike manufacturer company which produces two colors(white and black) of each model every year. Here columns COLOR and MANUF_YEAR are dependent on BIKE_MODEL and independent of each other. In this case, these two columns can be called as multivalued dependent on BIKE_MODEL.</a:t>
            </a:r>
            <a:endParaRPr lang="en-IN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92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schema-based constraints include </a:t>
            </a:r>
            <a:endParaRPr lang="en-US" dirty="0" smtClean="0"/>
          </a:p>
          <a:p>
            <a:pPr lvl="1"/>
            <a:r>
              <a:rPr lang="en-US" dirty="0"/>
              <a:t>D</a:t>
            </a:r>
            <a:r>
              <a:rPr lang="en-US" dirty="0" smtClean="0"/>
              <a:t>omain </a:t>
            </a:r>
            <a:r>
              <a:rPr lang="en-US" dirty="0"/>
              <a:t>constraints, </a:t>
            </a:r>
            <a:endParaRPr lang="en-US" dirty="0" smtClean="0"/>
          </a:p>
          <a:p>
            <a:pPr lvl="1"/>
            <a:r>
              <a:rPr lang="en-US" dirty="0"/>
              <a:t>K</a:t>
            </a:r>
            <a:r>
              <a:rPr lang="en-US" dirty="0" smtClean="0"/>
              <a:t>ey </a:t>
            </a:r>
            <a:r>
              <a:rPr lang="en-US" dirty="0"/>
              <a:t>constraints, </a:t>
            </a:r>
            <a:endParaRPr lang="en-US" dirty="0" smtClean="0"/>
          </a:p>
          <a:p>
            <a:pPr lvl="1"/>
            <a:r>
              <a:rPr lang="en-US" dirty="0" smtClean="0"/>
              <a:t>Constraints on </a:t>
            </a:r>
            <a:r>
              <a:rPr lang="en-US" dirty="0"/>
              <a:t>NULLs, </a:t>
            </a:r>
            <a:endParaRPr lang="en-US" dirty="0" smtClean="0"/>
          </a:p>
          <a:p>
            <a:pPr lvl="1"/>
            <a:r>
              <a:rPr lang="en-US" dirty="0"/>
              <a:t>E</a:t>
            </a:r>
            <a:r>
              <a:rPr lang="en-US" dirty="0" smtClean="0"/>
              <a:t>ntity </a:t>
            </a:r>
            <a:r>
              <a:rPr lang="en-US" dirty="0"/>
              <a:t>integrity constraints, and </a:t>
            </a:r>
            <a:endParaRPr lang="en-US" dirty="0" smtClean="0"/>
          </a:p>
          <a:p>
            <a:pPr lvl="1"/>
            <a:r>
              <a:rPr lang="en-US" dirty="0"/>
              <a:t>R</a:t>
            </a:r>
            <a:r>
              <a:rPr lang="en-US" dirty="0" smtClean="0"/>
              <a:t>eferential </a:t>
            </a:r>
            <a:r>
              <a:rPr lang="en-US" dirty="0"/>
              <a:t>integrity constraints.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2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Domain Constraints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Domain </a:t>
            </a:r>
            <a:r>
              <a:rPr lang="en-US" dirty="0"/>
              <a:t>constraints specify that within each tuple, the value of each attribute </a:t>
            </a:r>
            <a:r>
              <a:rPr lang="en-US" i="1" dirty="0" smtClean="0"/>
              <a:t>A </a:t>
            </a:r>
            <a:r>
              <a:rPr lang="en-US" dirty="0" smtClean="0"/>
              <a:t>must </a:t>
            </a:r>
            <a:r>
              <a:rPr lang="en-US" dirty="0"/>
              <a:t>be an atomic value from the domain </a:t>
            </a:r>
            <a:r>
              <a:rPr lang="en-US" dirty="0" err="1"/>
              <a:t>dom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</a:t>
            </a:r>
            <a:r>
              <a:rPr lang="en-US" dirty="0"/>
              <a:t>data types </a:t>
            </a:r>
            <a:r>
              <a:rPr lang="en-US" dirty="0" smtClean="0"/>
              <a:t>associated with </a:t>
            </a:r>
            <a:r>
              <a:rPr lang="en-US" dirty="0"/>
              <a:t>domains typically include standard numeric data </a:t>
            </a:r>
            <a:r>
              <a:rPr lang="en-US" dirty="0" smtClean="0"/>
              <a:t>types</a:t>
            </a:r>
          </a:p>
          <a:p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for integers </a:t>
            </a:r>
            <a:r>
              <a:rPr lang="en-US" dirty="0"/>
              <a:t>(such </a:t>
            </a:r>
            <a:r>
              <a:rPr lang="en-US" dirty="0" smtClean="0"/>
              <a:t>as short </a:t>
            </a:r>
            <a:r>
              <a:rPr lang="en-US" dirty="0"/>
              <a:t>integer, integer, and long integer)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real </a:t>
            </a:r>
            <a:r>
              <a:rPr lang="en-US" dirty="0">
                <a:solidFill>
                  <a:srgbClr val="FF0000"/>
                </a:solidFill>
              </a:rPr>
              <a:t>numbers </a:t>
            </a:r>
            <a:r>
              <a:rPr lang="en-US" dirty="0"/>
              <a:t>(float and </a:t>
            </a:r>
            <a:r>
              <a:rPr lang="en-US" dirty="0" smtClean="0"/>
              <a:t>double precision float</a:t>
            </a:r>
            <a:r>
              <a:rPr lang="en-US" dirty="0"/>
              <a:t>). </a:t>
            </a:r>
            <a:r>
              <a:rPr lang="en-US" dirty="0">
                <a:solidFill>
                  <a:srgbClr val="FF0000"/>
                </a:solidFill>
              </a:rPr>
              <a:t>Characters, Booleans, fixed-length strings, and </a:t>
            </a:r>
            <a:r>
              <a:rPr lang="en-US" dirty="0" smtClean="0">
                <a:solidFill>
                  <a:srgbClr val="FF0000"/>
                </a:solidFill>
              </a:rPr>
              <a:t>variable-length strings</a:t>
            </a:r>
            <a:r>
              <a:rPr lang="en-US" dirty="0" smtClean="0"/>
              <a:t> </a:t>
            </a:r>
            <a:r>
              <a:rPr lang="en-US" dirty="0"/>
              <a:t>are also </a:t>
            </a:r>
            <a:r>
              <a:rPr lang="en-US" dirty="0" smtClean="0"/>
              <a:t>available</a:t>
            </a:r>
          </a:p>
          <a:p>
            <a:r>
              <a:rPr lang="en-US" dirty="0" smtClean="0"/>
              <a:t>date</a:t>
            </a:r>
            <a:r>
              <a:rPr lang="en-US" dirty="0"/>
              <a:t>, time, timestamp, and money, or other </a:t>
            </a:r>
            <a:r>
              <a:rPr lang="en-US" dirty="0" smtClean="0"/>
              <a:t>special </a:t>
            </a:r>
            <a:r>
              <a:rPr lang="en-IN" dirty="0" smtClean="0"/>
              <a:t>data types also available.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84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Constraints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two tuples can have the same combination of values for </a:t>
            </a:r>
            <a:r>
              <a:rPr lang="en-US" i="1" dirty="0"/>
              <a:t>all </a:t>
            </a:r>
            <a:r>
              <a:rPr lang="en-US" dirty="0" smtClean="0"/>
              <a:t>their attributes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Usually</a:t>
            </a:r>
            <a:r>
              <a:rPr lang="en-US" dirty="0"/>
              <a:t>, there are other </a:t>
            </a:r>
            <a:r>
              <a:rPr lang="en-US" b="1" dirty="0"/>
              <a:t>subsets of attributes </a:t>
            </a:r>
            <a:r>
              <a:rPr lang="en-US" dirty="0"/>
              <a:t>of a relation schema </a:t>
            </a:r>
            <a:r>
              <a:rPr lang="en-US" i="1" dirty="0"/>
              <a:t>R </a:t>
            </a:r>
            <a:r>
              <a:rPr lang="en-US" dirty="0" smtClean="0"/>
              <a:t>with the </a:t>
            </a:r>
            <a:r>
              <a:rPr lang="en-US" dirty="0"/>
              <a:t>property that </a:t>
            </a:r>
            <a:r>
              <a:rPr lang="en-US" i="1" dirty="0">
                <a:solidFill>
                  <a:srgbClr val="FF0000"/>
                </a:solidFill>
              </a:rPr>
              <a:t>no two tuples in any relation state r of R should have the </a:t>
            </a:r>
            <a:r>
              <a:rPr lang="en-US" i="1" dirty="0" smtClean="0">
                <a:solidFill>
                  <a:srgbClr val="FF0000"/>
                </a:solidFill>
              </a:rPr>
              <a:t>same combination </a:t>
            </a:r>
            <a:r>
              <a:rPr lang="en-US" i="1" dirty="0">
                <a:solidFill>
                  <a:srgbClr val="FF0000"/>
                </a:solidFill>
              </a:rPr>
              <a:t>of values for these attributes</a:t>
            </a:r>
            <a:r>
              <a:rPr lang="en-US" i="1" dirty="0" smtClean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dirty="0" smtClean="0"/>
              <a:t>Candidate key  (</a:t>
            </a:r>
            <a:r>
              <a:rPr lang="en-US" dirty="0"/>
              <a:t>have more than one </a:t>
            </a:r>
            <a:r>
              <a:rPr lang="en-US" dirty="0" smtClean="0"/>
              <a:t>key )</a:t>
            </a:r>
          </a:p>
          <a:p>
            <a:pPr lvl="1"/>
            <a:r>
              <a:rPr lang="en-US" dirty="0" smtClean="0"/>
              <a:t>Primary Key ( one key – Underlined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90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052736"/>
            <a:ext cx="4546848" cy="41805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Properties of Keys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Two distinct tuples in any state of the relation </a:t>
            </a:r>
            <a:r>
              <a:rPr lang="en-US" dirty="0">
                <a:solidFill>
                  <a:srgbClr val="FF0000"/>
                </a:solidFill>
              </a:rPr>
              <a:t>cannot have identical </a:t>
            </a:r>
            <a:r>
              <a:rPr lang="en-US" dirty="0" smtClean="0">
                <a:solidFill>
                  <a:srgbClr val="FF0000"/>
                </a:solidFill>
              </a:rPr>
              <a:t>values </a:t>
            </a:r>
            <a:r>
              <a:rPr lang="en-US" dirty="0" smtClean="0"/>
              <a:t>for </a:t>
            </a:r>
            <a:r>
              <a:rPr lang="en-US" dirty="0"/>
              <a:t>(all) the attributes in the key. This first property also </a:t>
            </a:r>
            <a:r>
              <a:rPr lang="en-US" dirty="0">
                <a:solidFill>
                  <a:srgbClr val="FF0000"/>
                </a:solidFill>
              </a:rPr>
              <a:t>applies to 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IN" dirty="0" err="1" smtClean="0">
                <a:solidFill>
                  <a:srgbClr val="FF0000"/>
                </a:solidFill>
              </a:rPr>
              <a:t>superkey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 </a:t>
            </a:r>
            <a:r>
              <a:rPr lang="en-US" b="1" i="1" dirty="0"/>
              <a:t>minimal </a:t>
            </a:r>
            <a:r>
              <a:rPr lang="en-US" b="1" i="1" dirty="0" err="1"/>
              <a:t>superkey</a:t>
            </a:r>
            <a:r>
              <a:rPr lang="en-US" dirty="0"/>
              <a:t>—that is, a </a:t>
            </a:r>
            <a:r>
              <a:rPr lang="en-US" dirty="0" err="1"/>
              <a:t>superkey</a:t>
            </a:r>
            <a:r>
              <a:rPr lang="en-US" dirty="0"/>
              <a:t> from which we cannot </a:t>
            </a:r>
            <a:r>
              <a:rPr lang="en-US" dirty="0" smtClean="0"/>
              <a:t>remove any </a:t>
            </a:r>
            <a:r>
              <a:rPr lang="en-US" dirty="0"/>
              <a:t>attributes and still have the uniqueness constraint in condition 1 hold</a:t>
            </a:r>
            <a:r>
              <a:rPr lang="en-US" dirty="0" smtClean="0"/>
              <a:t>.  This </a:t>
            </a:r>
            <a:r>
              <a:rPr lang="en-US" dirty="0"/>
              <a:t>property is </a:t>
            </a:r>
            <a:r>
              <a:rPr lang="en-US" dirty="0">
                <a:solidFill>
                  <a:srgbClr val="FF0000"/>
                </a:solidFill>
              </a:rPr>
              <a:t>not required </a:t>
            </a:r>
            <a:r>
              <a:rPr lang="en-US" dirty="0"/>
              <a:t>by a </a:t>
            </a:r>
            <a:r>
              <a:rPr lang="en-US" dirty="0" err="1"/>
              <a:t>superkey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80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1" t="21667" r="12855" b="45416"/>
          <a:stretch/>
        </p:blipFill>
        <p:spPr bwMode="auto">
          <a:xfrm>
            <a:off x="170678" y="0"/>
            <a:ext cx="8482360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544" y="4221088"/>
            <a:ext cx="820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The car relation with two candidate keys : </a:t>
            </a:r>
            <a:r>
              <a:rPr lang="en-US" sz="3200" dirty="0" err="1" smtClean="0"/>
              <a:t>License_number</a:t>
            </a:r>
            <a:r>
              <a:rPr lang="en-US" sz="3200" dirty="0" smtClean="0"/>
              <a:t>, </a:t>
            </a:r>
            <a:r>
              <a:rPr lang="en-US" sz="3200" dirty="0" err="1" smtClean="0"/>
              <a:t>Engine_serial_number</a:t>
            </a:r>
            <a:endParaRPr lang="en-IN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26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dirty="0" smtClean="0"/>
              <a:t>Entity integrity constraint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algn="just"/>
            <a:r>
              <a:rPr lang="en-US" dirty="0"/>
              <a:t>To identify each row in a table, the table must have a primary key. The primary key is a unique value that identifies each row. This requirement is called the </a:t>
            </a:r>
            <a:r>
              <a:rPr lang="en-US" dirty="0">
                <a:solidFill>
                  <a:srgbClr val="FF0000"/>
                </a:solidFill>
              </a:rPr>
              <a:t>entity integrity constraint .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645024"/>
            <a:ext cx="7848872" cy="293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4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 Constraint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foreign key constraint (also referred to as a referential constraint or a referential integrity constraint) is a logical rule about values in one or more columns in one or more tables. For example, a set of tables shares information about a corporation's suppliers.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2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48680"/>
            <a:ext cx="7646476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71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Not NULL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Another constraint on attributes specifies whether NULL values are or are not permitted.</a:t>
            </a:r>
          </a:p>
          <a:p>
            <a:pPr algn="just"/>
            <a:r>
              <a:rPr lang="en-US" dirty="0"/>
              <a:t>For example, if every STUDENT tuple must have a valid, non-NULL value </a:t>
            </a:r>
            <a:r>
              <a:rPr lang="en-US" dirty="0" smtClean="0"/>
              <a:t>for the </a:t>
            </a:r>
            <a:r>
              <a:rPr lang="en-US" dirty="0"/>
              <a:t>Name attribute, then Name of STUDENT is constrained to be NOT NULL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43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Handling Null Values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One way of handling missing values is the </a:t>
            </a:r>
            <a:r>
              <a:rPr lang="en-US" dirty="0">
                <a:solidFill>
                  <a:srgbClr val="FF0000"/>
                </a:solidFill>
              </a:rPr>
              <a:t>deletion of the rows or columns</a:t>
            </a:r>
            <a:r>
              <a:rPr lang="en-US" dirty="0"/>
              <a:t> having null values.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any columns have </a:t>
            </a:r>
            <a:r>
              <a:rPr lang="en-US" dirty="0">
                <a:solidFill>
                  <a:srgbClr val="FF0000"/>
                </a:solidFill>
              </a:rPr>
              <a:t>more than half </a:t>
            </a:r>
            <a:r>
              <a:rPr lang="en-US" dirty="0"/>
              <a:t>of the values as null then you can </a:t>
            </a:r>
            <a:r>
              <a:rPr lang="en-US" dirty="0">
                <a:solidFill>
                  <a:srgbClr val="FF0000"/>
                </a:solidFill>
              </a:rPr>
              <a:t>drop the entire column.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the same way, rows can also be dropped if having </a:t>
            </a:r>
            <a:r>
              <a:rPr lang="en-US" dirty="0">
                <a:solidFill>
                  <a:srgbClr val="FF0000"/>
                </a:solidFill>
              </a:rPr>
              <a:t>one or more columns values as null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Or You may </a:t>
            </a:r>
            <a:r>
              <a:rPr lang="en-US" dirty="0" smtClean="0">
                <a:solidFill>
                  <a:srgbClr val="FF0000"/>
                </a:solidFill>
              </a:rPr>
              <a:t>fill by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replacement </a:t>
            </a:r>
            <a:r>
              <a:rPr lang="en-US" dirty="0"/>
              <a:t>of null values by meaningful values makes the table easier to interpret for readers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81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8149112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5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890588"/>
            <a:ext cx="840105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A07DA-D5DC-48E4-B757-74983CFA7C4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81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1141</Words>
  <Application>Microsoft Office PowerPoint</Application>
  <PresentationFormat>On-screen Show (4:3)</PresentationFormat>
  <Paragraphs>117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Module -2 </vt:lpstr>
      <vt:lpstr>Structure of Relational Databases</vt:lpstr>
      <vt:lpstr>PowerPoint Presentation</vt:lpstr>
      <vt:lpstr>PowerPoint Presentation</vt:lpstr>
      <vt:lpstr>PowerPoint Presentation</vt:lpstr>
      <vt:lpstr>Super key</vt:lpstr>
      <vt:lpstr>Candidate Keys</vt:lpstr>
      <vt:lpstr>Primary Key</vt:lpstr>
      <vt:lpstr>Foreign Key</vt:lpstr>
      <vt:lpstr>PowerPoint Presentation</vt:lpstr>
      <vt:lpstr>Schema </vt:lpstr>
      <vt:lpstr>PowerPoint Presentation</vt:lpstr>
      <vt:lpstr>Constraints</vt:lpstr>
      <vt:lpstr>PowerPoint Presentation</vt:lpstr>
      <vt:lpstr>PowerPoint Presentation</vt:lpstr>
      <vt:lpstr>Functional dependency</vt:lpstr>
      <vt:lpstr>Multivalued dependency</vt:lpstr>
      <vt:lpstr>PowerPoint Presentation</vt:lpstr>
      <vt:lpstr>Domain Constraints </vt:lpstr>
      <vt:lpstr>Key Constraints</vt:lpstr>
      <vt:lpstr>Properties of Keys</vt:lpstr>
      <vt:lpstr>PowerPoint Presentation</vt:lpstr>
      <vt:lpstr>Entity integrity constraint</vt:lpstr>
      <vt:lpstr>Referential Integrity Constraint</vt:lpstr>
      <vt:lpstr>PowerPoint Presentation</vt:lpstr>
      <vt:lpstr>Not NULL</vt:lpstr>
      <vt:lpstr>Handling Null Values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Model</dc:title>
  <dc:creator>HP</dc:creator>
  <cp:lastModifiedBy>HP</cp:lastModifiedBy>
  <cp:revision>23</cp:revision>
  <dcterms:created xsi:type="dcterms:W3CDTF">2023-05-04T08:38:32Z</dcterms:created>
  <dcterms:modified xsi:type="dcterms:W3CDTF">2024-07-25T16:02:56Z</dcterms:modified>
</cp:coreProperties>
</file>