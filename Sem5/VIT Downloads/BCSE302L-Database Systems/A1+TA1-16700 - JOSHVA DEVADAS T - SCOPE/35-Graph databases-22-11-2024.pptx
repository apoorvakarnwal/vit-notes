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3" r:id="rId4"/>
    <p:sldId id="276" r:id="rId5"/>
    <p:sldId id="261" r:id="rId6"/>
    <p:sldId id="262" r:id="rId7"/>
    <p:sldId id="267" r:id="rId8"/>
    <p:sldId id="268" r:id="rId9"/>
    <p:sldId id="265" r:id="rId10"/>
    <p:sldId id="269" r:id="rId11"/>
    <p:sldId id="274" r:id="rId12"/>
    <p:sldId id="275" r:id="rId13"/>
    <p:sldId id="270" r:id="rId14"/>
    <p:sldId id="271" r:id="rId15"/>
    <p:sldId id="273" r:id="rId16"/>
    <p:sldId id="266"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4" d="100"/>
          <a:sy n="84" d="100"/>
        </p:scale>
        <p:origin x="-882" y="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FEDE00-C9E9-4412-931F-6B2336DDC3FF}" type="datetimeFigureOut">
              <a:rPr lang="en-US" smtClean="0"/>
              <a:pPr/>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732E9-FA7F-435C-963E-EDE4BF957C8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EDE00-C9E9-4412-931F-6B2336DDC3FF}" type="datetimeFigureOut">
              <a:rPr lang="en-US" smtClean="0"/>
              <a:pPr/>
              <a:t>12/22/2020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D732E9-FA7F-435C-963E-EDE4BF957C8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Resource_Description_Framework"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667000"/>
            <a:ext cx="8229600" cy="1143000"/>
          </a:xfrm>
        </p:spPr>
        <p:txBody>
          <a:bodyPr/>
          <a:lstStyle/>
          <a:p>
            <a:r>
              <a:rPr lang="en-US" dirty="0" smtClean="0"/>
              <a:t>Graph Databases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304800"/>
            <a:ext cx="8382000" cy="10618291"/>
          </a:xfrm>
          <a:prstGeom prst="rect">
            <a:avLst/>
          </a:prstGeom>
          <a:noFill/>
        </p:spPr>
        <p:txBody>
          <a:bodyPr wrap="square" rtlCol="0">
            <a:spAutoFit/>
          </a:bodyPr>
          <a:lstStyle/>
          <a:p>
            <a:r>
              <a:rPr lang="en-US" sz="2000" dirty="0" smtClean="0"/>
              <a:t>Pitfalls of Relational Databases :  </a:t>
            </a:r>
          </a:p>
          <a:p>
            <a:endParaRPr lang="en-US" dirty="0"/>
          </a:p>
          <a:p>
            <a:pPr>
              <a:buFont typeface="Arial" pitchFamily="34" charset="0"/>
              <a:buChar char="•"/>
            </a:pPr>
            <a:endParaRPr lang="en-US" dirty="0" smtClean="0"/>
          </a:p>
          <a:p>
            <a:pPr>
              <a:buFont typeface="Arial" pitchFamily="34" charset="0"/>
              <a:buChar char="•"/>
            </a:pPr>
            <a:r>
              <a:rPr lang="en-US" dirty="0" smtClean="0">
                <a:latin typeface="+mj-lt"/>
                <a:cs typeface="Times New Roman" pitchFamily="18" charset="0"/>
              </a:rPr>
              <a:t>Relational databases were initially designed to codify paper forms and tabular      structures.</a:t>
            </a:r>
          </a:p>
          <a:p>
            <a:endParaRPr lang="en-US" dirty="0" smtClean="0">
              <a:latin typeface="+mj-lt"/>
              <a:cs typeface="Times New Roman" pitchFamily="18" charset="0"/>
            </a:endParaRPr>
          </a:p>
          <a:p>
            <a:pPr>
              <a:buFont typeface="Arial" pitchFamily="34" charset="0"/>
              <a:buChar char="•"/>
            </a:pPr>
            <a:r>
              <a:rPr lang="en-US" dirty="0">
                <a:latin typeface="+mj-lt"/>
                <a:cs typeface="Times New Roman" pitchFamily="18" charset="0"/>
              </a:rPr>
              <a:t> </a:t>
            </a:r>
            <a:r>
              <a:rPr lang="en-US" dirty="0" smtClean="0">
                <a:latin typeface="+mj-lt"/>
                <a:cs typeface="Times New Roman" pitchFamily="18" charset="0"/>
              </a:rPr>
              <a:t> As outlier data multiplies, and the overall structure of the dataset becomes more complex and less uniform, the relational model becomes burdened with large join tables, sparsely populated rows, and lots of null-checking logic. </a:t>
            </a:r>
          </a:p>
          <a:p>
            <a:endParaRPr lang="en-US" dirty="0">
              <a:latin typeface="+mj-lt"/>
              <a:cs typeface="Times New Roman" pitchFamily="18" charset="0"/>
            </a:endParaRPr>
          </a:p>
          <a:p>
            <a:pPr>
              <a:buFont typeface="Arial" pitchFamily="34" charset="0"/>
              <a:buChar char="•"/>
            </a:pPr>
            <a:r>
              <a:rPr lang="en-US" dirty="0" smtClean="0">
                <a:latin typeface="+mj-lt"/>
                <a:cs typeface="Times New Roman" pitchFamily="18" charset="0"/>
              </a:rPr>
              <a:t>The rise in connectedness translates in the relational world into increased joins, which impede performance and make it difficult for us to evolve an existing database in response to changing business needs.</a:t>
            </a:r>
          </a:p>
          <a:p>
            <a:endParaRPr lang="en-US" dirty="0" smtClean="0">
              <a:latin typeface="+mj-lt"/>
              <a:cs typeface="Times New Roman" pitchFamily="18" charset="0"/>
            </a:endParaRPr>
          </a:p>
          <a:p>
            <a:pPr>
              <a:buFont typeface="Arial" pitchFamily="34" charset="0"/>
              <a:buChar char="•"/>
            </a:pPr>
            <a:r>
              <a:rPr lang="en-US" dirty="0" smtClean="0">
                <a:latin typeface="+mj-lt"/>
                <a:cs typeface="Times New Roman" pitchFamily="18" charset="0"/>
              </a:rPr>
              <a:t>High Costs in some cases where expensive joins are required.</a:t>
            </a:r>
          </a:p>
          <a:p>
            <a:pPr>
              <a:buFont typeface="Arial" pitchFamily="34" charset="0"/>
              <a:buChar char="•"/>
            </a:pPr>
            <a:endParaRPr lang="en-US" dirty="0">
              <a:latin typeface="+mj-lt"/>
              <a:cs typeface="Times New Roman" pitchFamily="18" charset="0"/>
            </a:endParaRPr>
          </a:p>
          <a:p>
            <a:pPr>
              <a:buFont typeface="Arial" pitchFamily="34" charset="0"/>
              <a:buChar char="•"/>
            </a:pPr>
            <a:r>
              <a:rPr lang="en-US" dirty="0" smtClean="0">
                <a:latin typeface="+mj-lt"/>
                <a:cs typeface="Times New Roman" pitchFamily="18" charset="0"/>
              </a:rPr>
              <a:t>Foreign key constraints add additional development and maintenance overhead just to make the database work</a:t>
            </a:r>
          </a:p>
          <a:p>
            <a:endParaRPr lang="en-US" dirty="0" smtClean="0">
              <a:latin typeface="+mj-lt"/>
              <a:cs typeface="Times New Roman" pitchFamily="18" charset="0"/>
            </a:endParaRPr>
          </a:p>
          <a:p>
            <a:endParaRPr lang="en-US" dirty="0">
              <a:latin typeface="+mj-lt"/>
              <a:cs typeface="Times New Roman" pitchFamily="18" charset="0"/>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8610600" cy="2616101"/>
          </a:xfrm>
          <a:prstGeom prst="rect">
            <a:avLst/>
          </a:prstGeom>
          <a:noFill/>
        </p:spPr>
        <p:txBody>
          <a:bodyPr wrap="square" rtlCol="0">
            <a:spAutoFit/>
          </a:bodyPr>
          <a:lstStyle/>
          <a:p>
            <a:r>
              <a:rPr lang="en-US" sz="2000" b="1" dirty="0" smtClean="0"/>
              <a:t>Graph Databases definition </a:t>
            </a:r>
            <a:r>
              <a:rPr lang="en-US" b="1" dirty="0" smtClean="0"/>
              <a:t>:</a:t>
            </a:r>
          </a:p>
          <a:p>
            <a:endParaRPr lang="en-US" dirty="0" smtClean="0"/>
          </a:p>
          <a:p>
            <a:endParaRPr lang="en-US" dirty="0" smtClean="0"/>
          </a:p>
          <a:p>
            <a:pPr>
              <a:buFont typeface="Arial" pitchFamily="34" charset="0"/>
              <a:buChar char="•"/>
            </a:pPr>
            <a:r>
              <a:rPr lang="en-US" dirty="0">
                <a:latin typeface="+mj-lt"/>
                <a:cs typeface="Times New Roman" pitchFamily="18" charset="0"/>
              </a:rPr>
              <a:t>A graph database, also called a graph-oriented database, is a type of </a:t>
            </a:r>
            <a:r>
              <a:rPr lang="en-US" dirty="0" err="1" smtClean="0">
                <a:latin typeface="+mj-lt"/>
                <a:cs typeface="Times New Roman" pitchFamily="18" charset="0"/>
              </a:rPr>
              <a:t>NoSQL</a:t>
            </a:r>
            <a:r>
              <a:rPr lang="en-US" dirty="0">
                <a:latin typeface="+mj-lt"/>
                <a:cs typeface="Times New Roman" pitchFamily="18" charset="0"/>
              </a:rPr>
              <a:t> database that uses </a:t>
            </a:r>
            <a:r>
              <a:rPr lang="en-US" dirty="0" smtClean="0">
                <a:latin typeface="+mj-lt"/>
                <a:cs typeface="Times New Roman" pitchFamily="18" charset="0"/>
              </a:rPr>
              <a:t>graph theory</a:t>
            </a:r>
            <a:r>
              <a:rPr lang="en-US" dirty="0">
                <a:latin typeface="+mj-lt"/>
                <a:cs typeface="Times New Roman" pitchFamily="18" charset="0"/>
              </a:rPr>
              <a:t> to store, map and query relationships. </a:t>
            </a:r>
            <a:endParaRPr lang="en-US" dirty="0" smtClean="0">
              <a:latin typeface="+mj-lt"/>
              <a:cs typeface="Times New Roman" pitchFamily="18" charset="0"/>
            </a:endParaRPr>
          </a:p>
          <a:p>
            <a:endParaRPr lang="en-US" dirty="0" smtClean="0">
              <a:latin typeface="+mj-lt"/>
              <a:cs typeface="Times New Roman" pitchFamily="18" charset="0"/>
            </a:endParaRPr>
          </a:p>
          <a:p>
            <a:pPr>
              <a:buFont typeface="Arial" pitchFamily="34" charset="0"/>
              <a:buChar char="•"/>
            </a:pPr>
            <a:r>
              <a:rPr lang="en-US" dirty="0">
                <a:latin typeface="+mj-lt"/>
                <a:cs typeface="Times New Roman" pitchFamily="18" charset="0"/>
              </a:rPr>
              <a:t>Based upon the concept of a mathematical graph, a graph database contains a collection of nodes and edges. A node represents an object, and an edge represents the connection or relationship between two objects</a:t>
            </a:r>
            <a:r>
              <a:rPr lang="en-US" dirty="0" smtClean="0">
                <a:latin typeface="+mj-lt"/>
                <a:cs typeface="Times New Roman" pitchFamily="18" charset="0"/>
              </a:rPr>
              <a:t>.</a:t>
            </a:r>
          </a:p>
        </p:txBody>
      </p:sp>
      <p:graphicFrame>
        <p:nvGraphicFramePr>
          <p:cNvPr id="4097" name="Object 1"/>
          <p:cNvGraphicFramePr>
            <a:graphicFrameLocks noChangeAspect="1"/>
          </p:cNvGraphicFramePr>
          <p:nvPr/>
        </p:nvGraphicFramePr>
        <p:xfrm>
          <a:off x="2286000" y="2971800"/>
          <a:ext cx="3962400" cy="2967465"/>
        </p:xfrm>
        <a:graphic>
          <a:graphicData uri="http://schemas.openxmlformats.org/presentationml/2006/ole">
            <mc:AlternateContent xmlns:mc="http://schemas.openxmlformats.org/markup-compatibility/2006">
              <mc:Choice xmlns:v="urn:schemas-microsoft-com:vml" Requires="v">
                <p:oleObj spid="_x0000_s4098" name="Picture" r:id="rId3" imgW="7619048" imgH="5704762" progId="StaticDib">
                  <p:embed/>
                </p:oleObj>
              </mc:Choice>
              <mc:Fallback>
                <p:oleObj name="Picture" r:id="rId3" imgW="7619048" imgH="5704762" progId="StaticDib">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971800"/>
                        <a:ext cx="3962400" cy="2967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2057400" y="6096000"/>
            <a:ext cx="5562600" cy="369332"/>
          </a:xfrm>
          <a:prstGeom prst="rect">
            <a:avLst/>
          </a:prstGeom>
          <a:noFill/>
        </p:spPr>
        <p:txBody>
          <a:bodyPr wrap="square" rtlCol="0">
            <a:spAutoFit/>
          </a:bodyPr>
          <a:lstStyle/>
          <a:p>
            <a:r>
              <a:rPr lang="en-US" dirty="0" smtClean="0"/>
              <a:t>Relationship between users of a social networking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28600"/>
            <a:ext cx="8001000" cy="6524863"/>
          </a:xfrm>
          <a:prstGeom prst="rect">
            <a:avLst/>
          </a:prstGeom>
          <a:noFill/>
        </p:spPr>
        <p:txBody>
          <a:bodyPr wrap="square" rtlCol="0">
            <a:spAutoFit/>
          </a:bodyPr>
          <a:lstStyle/>
          <a:p>
            <a:r>
              <a:rPr lang="en-US" sz="2000" b="1" dirty="0" smtClean="0">
                <a:cs typeface="Times New Roman" pitchFamily="18" charset="0"/>
              </a:rPr>
              <a:t>Components :</a:t>
            </a:r>
          </a:p>
          <a:p>
            <a:endParaRPr lang="en-US" dirty="0" smtClean="0">
              <a:cs typeface="Times New Roman" pitchFamily="18" charset="0"/>
            </a:endParaRPr>
          </a:p>
          <a:p>
            <a:pPr>
              <a:buFont typeface="Arial" pitchFamily="34" charset="0"/>
              <a:buChar char="•"/>
            </a:pPr>
            <a:r>
              <a:rPr lang="en-US" sz="2000" b="1" dirty="0" smtClean="0">
                <a:cs typeface="Times New Roman" pitchFamily="18" charset="0"/>
              </a:rPr>
              <a:t>Node</a:t>
            </a:r>
            <a:r>
              <a:rPr lang="en-US" b="1" dirty="0" smtClean="0">
                <a:cs typeface="Times New Roman" pitchFamily="18" charset="0"/>
              </a:rPr>
              <a:t> </a:t>
            </a:r>
            <a:r>
              <a:rPr lang="en-US" dirty="0" smtClean="0">
                <a:cs typeface="Times New Roman" pitchFamily="18" charset="0"/>
              </a:rPr>
              <a:t>: </a:t>
            </a:r>
          </a:p>
          <a:p>
            <a:pPr>
              <a:buFont typeface="Wingdings" pitchFamily="2" charset="2"/>
              <a:buChar char="Ø"/>
            </a:pPr>
            <a:r>
              <a:rPr lang="en-US" dirty="0" smtClean="0">
                <a:cs typeface="Times New Roman" pitchFamily="18" charset="0"/>
              </a:rPr>
              <a:t>Nodes represent entities or instances such as people, businesses, accounts, or any other  item to be tracked. </a:t>
            </a:r>
          </a:p>
          <a:p>
            <a:pPr>
              <a:buFont typeface="Wingdings" pitchFamily="2" charset="2"/>
              <a:buChar char="Ø"/>
            </a:pPr>
            <a:endParaRPr lang="en-US" dirty="0" smtClean="0">
              <a:cs typeface="Times New Roman" pitchFamily="18" charset="0"/>
            </a:endParaRPr>
          </a:p>
          <a:p>
            <a:pPr>
              <a:buFont typeface="Wingdings" pitchFamily="2" charset="2"/>
              <a:buChar char="Ø"/>
            </a:pPr>
            <a:r>
              <a:rPr lang="en-US" dirty="0" smtClean="0">
                <a:cs typeface="Times New Roman" pitchFamily="18" charset="0"/>
              </a:rPr>
              <a:t>Each node is identified by a unique  identifier that expresses key value pair.</a:t>
            </a:r>
          </a:p>
          <a:p>
            <a:pPr>
              <a:buFont typeface="Arial" pitchFamily="34" charset="0"/>
              <a:buChar char="•"/>
            </a:pPr>
            <a:endParaRPr lang="en-US" b="1" dirty="0" smtClean="0"/>
          </a:p>
          <a:p>
            <a:pPr>
              <a:buFont typeface="Arial" pitchFamily="34" charset="0"/>
              <a:buChar char="•"/>
            </a:pPr>
            <a:r>
              <a:rPr lang="en-US" b="1" dirty="0" smtClean="0"/>
              <a:t>Edge :</a:t>
            </a:r>
            <a:endParaRPr lang="en-US" dirty="0" smtClean="0"/>
          </a:p>
          <a:p>
            <a:pPr>
              <a:buFont typeface="Wingdings" pitchFamily="2" charset="2"/>
              <a:buChar char="Ø"/>
            </a:pPr>
            <a:r>
              <a:rPr lang="en-US" dirty="0" smtClean="0"/>
              <a:t>Edge is the line that connects nodes to other nodes; representing the relationship between them.</a:t>
            </a:r>
          </a:p>
          <a:p>
            <a:endParaRPr lang="en-US" dirty="0" smtClean="0"/>
          </a:p>
          <a:p>
            <a:pPr>
              <a:buFont typeface="Wingdings" pitchFamily="2" charset="2"/>
              <a:buChar char="Ø"/>
            </a:pPr>
            <a:r>
              <a:rPr lang="en-US" dirty="0" smtClean="0"/>
              <a:t>Edges are the key concept in graph databases, representing an abstraction that is not directly implemented in a relational model or a document-store model.</a:t>
            </a:r>
          </a:p>
          <a:p>
            <a:pPr>
              <a:buFont typeface="Wingdings" pitchFamily="2" charset="2"/>
              <a:buChar char="Ø"/>
            </a:pPr>
            <a:endParaRPr lang="en-US" dirty="0" smtClean="0"/>
          </a:p>
          <a:p>
            <a:endParaRPr lang="en-US" dirty="0" smtClean="0"/>
          </a:p>
          <a:p>
            <a:pPr>
              <a:buFont typeface="Arial" pitchFamily="34" charset="0"/>
              <a:buChar char="•"/>
            </a:pPr>
            <a:r>
              <a:rPr lang="en-US" b="1" dirty="0" smtClean="0"/>
              <a:t>Properties </a:t>
            </a:r>
            <a:r>
              <a:rPr lang="en-US" dirty="0" smtClean="0"/>
              <a:t>:</a:t>
            </a:r>
          </a:p>
          <a:p>
            <a:pPr>
              <a:buFont typeface="Wingdings" pitchFamily="2" charset="2"/>
              <a:buChar char="Ø"/>
            </a:pPr>
            <a:r>
              <a:rPr lang="en-US" dirty="0" smtClean="0"/>
              <a:t>Properties are germane information to nodes. </a:t>
            </a:r>
          </a:p>
          <a:p>
            <a:pPr>
              <a:buFont typeface="Wingdings" pitchFamily="2" charset="2"/>
              <a:buChar char="Ø"/>
            </a:pPr>
            <a:endParaRPr lang="en-US" dirty="0" smtClean="0"/>
          </a:p>
          <a:p>
            <a:pPr>
              <a:buFont typeface="Wingdings" pitchFamily="2" charset="2"/>
              <a:buChar char="Ø"/>
            </a:pPr>
            <a:r>
              <a:rPr lang="en-US" dirty="0" smtClean="0"/>
              <a:t>Example : </a:t>
            </a:r>
            <a:r>
              <a:rPr lang="en-US" dirty="0" err="1" smtClean="0"/>
              <a:t>Facebook</a:t>
            </a:r>
            <a:r>
              <a:rPr lang="en-US" dirty="0" smtClean="0"/>
              <a:t>  is a website, word starting with letter F ,etc.</a:t>
            </a:r>
          </a:p>
          <a:p>
            <a:endParaRPr lang="en-US" dirty="0" smtClean="0"/>
          </a:p>
          <a:p>
            <a:pPr>
              <a:buFont typeface="Wingdings" pitchFamily="2" charset="2"/>
              <a:buChar char="Ø"/>
            </a:pPr>
            <a:endParaRPr lang="en-US" dirty="0" smtClean="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85859" y="1524000"/>
          <a:ext cx="9058141" cy="4019550"/>
        </p:xfrm>
        <a:graphic>
          <a:graphicData uri="http://schemas.openxmlformats.org/presentationml/2006/ole">
            <mc:AlternateContent xmlns:mc="http://schemas.openxmlformats.org/markup-compatibility/2006">
              <mc:Choice xmlns:v="urn:schemas-microsoft-com:vml" Requires="v">
                <p:oleObj spid="_x0000_s2051" name="Picture" r:id="rId3" imgW="23247619" imgH="10314286" progId="StaticDib">
                  <p:embed/>
                </p:oleObj>
              </mc:Choice>
              <mc:Fallback>
                <p:oleObj name="Picture" r:id="rId3" imgW="23247619" imgH="10314286" progId="StaticDib">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59" y="1524000"/>
                        <a:ext cx="9058141"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81000"/>
            <a:ext cx="8610600" cy="10926068"/>
          </a:xfrm>
          <a:prstGeom prst="rect">
            <a:avLst/>
          </a:prstGeom>
          <a:noFill/>
        </p:spPr>
        <p:txBody>
          <a:bodyPr wrap="square" rtlCol="0">
            <a:spAutoFit/>
          </a:bodyPr>
          <a:lstStyle/>
          <a:p>
            <a:r>
              <a:rPr lang="en-US" sz="2000" b="1" dirty="0" smtClean="0"/>
              <a:t>Properties of Graph Databases :</a:t>
            </a:r>
            <a:endParaRPr lang="en-US" sz="2000" b="1" dirty="0"/>
          </a:p>
          <a:p>
            <a:endParaRPr lang="en-US" dirty="0" smtClean="0"/>
          </a:p>
          <a:p>
            <a:pPr>
              <a:buFont typeface="Arial" pitchFamily="34" charset="0"/>
              <a:buChar char="•"/>
            </a:pPr>
            <a:r>
              <a:rPr lang="en-US" b="1" dirty="0" smtClean="0"/>
              <a:t>The underlying storage :</a:t>
            </a:r>
            <a:r>
              <a:rPr lang="en-US" dirty="0" smtClean="0"/>
              <a:t> Two types of storages – Native and Non-native.</a:t>
            </a:r>
          </a:p>
          <a:p>
            <a:pPr>
              <a:buFont typeface="Wingdings" pitchFamily="2" charset="2"/>
              <a:buChar char="Ø"/>
            </a:pPr>
            <a:r>
              <a:rPr lang="en-US" dirty="0"/>
              <a:t> </a:t>
            </a:r>
            <a:r>
              <a:rPr lang="en-US" dirty="0" smtClean="0"/>
              <a:t>When </a:t>
            </a:r>
            <a:r>
              <a:rPr lang="en-US" dirty="0"/>
              <a:t>built specifically for storing graph-like data, it is known as </a:t>
            </a:r>
            <a:r>
              <a:rPr lang="en-US" b="1" dirty="0"/>
              <a:t>native</a:t>
            </a:r>
            <a:r>
              <a:rPr lang="en-US" dirty="0"/>
              <a:t> graph storage</a:t>
            </a:r>
            <a:r>
              <a:rPr lang="en-US" dirty="0" smtClean="0"/>
              <a:t>.</a:t>
            </a:r>
          </a:p>
          <a:p>
            <a:endParaRPr lang="en-US" dirty="0"/>
          </a:p>
          <a:p>
            <a:pPr>
              <a:buFont typeface="Wingdings" pitchFamily="2" charset="2"/>
              <a:buChar char="Ø"/>
            </a:pPr>
            <a:r>
              <a:rPr lang="en-US" dirty="0" smtClean="0"/>
              <a:t> </a:t>
            </a:r>
            <a:r>
              <a:rPr lang="en-US" dirty="0"/>
              <a:t>Graph databases with native graph storage are optimized for graphs in every aspect, ensuring that data is stored efficiently by writing nodes and relationships close to each </a:t>
            </a:r>
            <a:r>
              <a:rPr lang="en-US" dirty="0" smtClean="0"/>
              <a:t>other.</a:t>
            </a:r>
          </a:p>
          <a:p>
            <a:endParaRPr lang="en-US" dirty="0"/>
          </a:p>
          <a:p>
            <a:pPr>
              <a:buFont typeface="Wingdings" pitchFamily="2" charset="2"/>
              <a:buChar char="Ø"/>
            </a:pPr>
            <a:r>
              <a:rPr lang="en-US" dirty="0" smtClean="0"/>
              <a:t>Graph </a:t>
            </a:r>
            <a:r>
              <a:rPr lang="en-US" dirty="0"/>
              <a:t>storage is classified as </a:t>
            </a:r>
            <a:r>
              <a:rPr lang="en-US" b="1" dirty="0"/>
              <a:t>non-native</a:t>
            </a:r>
            <a:r>
              <a:rPr lang="en-US" dirty="0"/>
              <a:t> when the storage comes from an outside source, such as </a:t>
            </a:r>
            <a:r>
              <a:rPr lang="en-US" dirty="0" smtClean="0"/>
              <a:t>a relational ,</a:t>
            </a:r>
            <a:r>
              <a:rPr lang="en-US" dirty="0"/>
              <a:t> </a:t>
            </a:r>
            <a:r>
              <a:rPr lang="en-US" dirty="0" smtClean="0"/>
              <a:t>wide-column</a:t>
            </a:r>
            <a:r>
              <a:rPr lang="en-US" dirty="0"/>
              <a:t> or </a:t>
            </a:r>
            <a:r>
              <a:rPr lang="en-US" dirty="0" smtClean="0"/>
              <a:t>other </a:t>
            </a:r>
            <a:r>
              <a:rPr lang="en-US" dirty="0" err="1" smtClean="0"/>
              <a:t>NoSQL</a:t>
            </a:r>
            <a:r>
              <a:rPr lang="en-US" dirty="0" smtClean="0"/>
              <a:t> databases.</a:t>
            </a:r>
          </a:p>
          <a:p>
            <a:pPr>
              <a:buFont typeface="Wingdings" pitchFamily="2" charset="2"/>
              <a:buChar char="Ø"/>
            </a:pPr>
            <a:endParaRPr lang="en-US" dirty="0"/>
          </a:p>
          <a:p>
            <a:pPr>
              <a:buFont typeface="Wingdings" pitchFamily="2" charset="2"/>
              <a:buChar char="Ø"/>
            </a:pPr>
            <a:r>
              <a:rPr lang="en-US" dirty="0" smtClean="0"/>
              <a:t> </a:t>
            </a:r>
            <a:r>
              <a:rPr lang="en-US" dirty="0"/>
              <a:t>These databases store data about nodes and relationships, which may end up far apart in actual storage. This non-native approach leads to latent results as their storage layer is not optimized for graphs.</a:t>
            </a:r>
            <a:r>
              <a:rPr lang="en-US" dirty="0" smtClean="0"/>
              <a:t/>
            </a:r>
            <a:br>
              <a:rPr lang="en-US" dirty="0" smtClean="0"/>
            </a:b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1"/>
            <a:ext cx="8534400" cy="10618291"/>
          </a:xfrm>
          <a:prstGeom prst="rect">
            <a:avLst/>
          </a:prstGeom>
          <a:noFill/>
        </p:spPr>
        <p:txBody>
          <a:bodyPr wrap="square" rtlCol="0">
            <a:spAutoFit/>
          </a:bodyPr>
          <a:lstStyle/>
          <a:p>
            <a:endParaRPr lang="en-US" dirty="0" smtClean="0"/>
          </a:p>
          <a:p>
            <a:pPr>
              <a:buFont typeface="Arial" pitchFamily="34" charset="0"/>
              <a:buChar char="•"/>
            </a:pPr>
            <a:r>
              <a:rPr lang="en-US" b="1" dirty="0" smtClean="0"/>
              <a:t>The processing engine : </a:t>
            </a:r>
          </a:p>
          <a:p>
            <a:pPr>
              <a:buFont typeface="Wingdings" pitchFamily="2" charset="2"/>
              <a:buChar char="Ø"/>
            </a:pPr>
            <a:endParaRPr lang="en-US" dirty="0" smtClean="0"/>
          </a:p>
          <a:p>
            <a:pPr>
              <a:buFont typeface="Wingdings" pitchFamily="2" charset="2"/>
              <a:buChar char="Ø"/>
            </a:pPr>
            <a:r>
              <a:rPr lang="en-US" dirty="0" smtClean="0"/>
              <a:t>Native</a:t>
            </a:r>
            <a:r>
              <a:rPr lang="en-US" dirty="0"/>
              <a:t> graph processing is another key element of graph technology, referring to how a graph database processes database operations, including both storage and queries. </a:t>
            </a:r>
            <a:endParaRPr lang="en-US" dirty="0" smtClean="0"/>
          </a:p>
          <a:p>
            <a:pPr>
              <a:buFont typeface="Wingdings" pitchFamily="2" charset="2"/>
              <a:buChar char="Ø"/>
            </a:pPr>
            <a:endParaRPr lang="en-US" i="1" dirty="0"/>
          </a:p>
          <a:p>
            <a:pPr>
              <a:buFont typeface="Wingdings" pitchFamily="2" charset="2"/>
              <a:buChar char="Ø"/>
            </a:pPr>
            <a:r>
              <a:rPr lang="en-US" dirty="0" smtClean="0"/>
              <a:t>Index-free </a:t>
            </a:r>
            <a:r>
              <a:rPr lang="en-US" dirty="0"/>
              <a:t>adjacency is the key differentiator of native graph processing</a:t>
            </a:r>
            <a:r>
              <a:rPr lang="en-US" dirty="0" smtClean="0"/>
              <a:t>.</a:t>
            </a:r>
          </a:p>
          <a:p>
            <a:endParaRPr lang="en-US" dirty="0" smtClean="0"/>
          </a:p>
          <a:p>
            <a:pPr>
              <a:buFont typeface="Wingdings" pitchFamily="2" charset="2"/>
              <a:buChar char="Ø"/>
            </a:pPr>
            <a:r>
              <a:rPr lang="en-US" dirty="0" smtClean="0"/>
              <a:t>Index-free adjacency means that connected nodes physically “point” to each other in the database.</a:t>
            </a:r>
          </a:p>
          <a:p>
            <a:r>
              <a:rPr lang="en-US" dirty="0" smtClean="0"/>
              <a:t> </a:t>
            </a:r>
          </a:p>
          <a:p>
            <a:pPr>
              <a:buFont typeface="Wingdings" pitchFamily="2" charset="2"/>
              <a:buChar char="Ø"/>
            </a:pPr>
            <a:r>
              <a:rPr lang="en-US" dirty="0" smtClean="0"/>
              <a:t>A significant performance is obtained by the use of index-free adjacency .</a:t>
            </a:r>
          </a:p>
          <a:p>
            <a:pPr>
              <a:buFont typeface="Wingdings" pitchFamily="2" charset="2"/>
              <a:buChar char="Ø"/>
            </a:pPr>
            <a:endParaRPr lang="en-US" dirty="0"/>
          </a:p>
          <a:p>
            <a:pPr>
              <a:buFont typeface="Wingdings" pitchFamily="2" charset="2"/>
              <a:buChar char="Ø"/>
            </a:pPr>
            <a:r>
              <a:rPr lang="en-US" dirty="0"/>
              <a:t> </a:t>
            </a:r>
            <a:r>
              <a:rPr lang="en-US" dirty="0" smtClean="0"/>
              <a:t>Index-free </a:t>
            </a:r>
            <a:r>
              <a:rPr lang="en-US" dirty="0"/>
              <a:t>adjacency speeds up processing by ensuring that each node is stored directly to its adjacent nodes and relationships. Then, during query processing </a:t>
            </a:r>
            <a:r>
              <a:rPr lang="en-US" dirty="0" smtClean="0"/>
              <a:t>index-free </a:t>
            </a:r>
            <a:r>
              <a:rPr lang="en-US" dirty="0"/>
              <a:t>adjacency ensures lightning-fast retrieval without a heavy reliance on indexes</a:t>
            </a:r>
            <a:r>
              <a:rPr lang="en-US" dirty="0" smtClean="0"/>
              <a:t>.</a:t>
            </a:r>
            <a:endParaRPr lang="en-US" dirty="0"/>
          </a:p>
          <a:p>
            <a:pPr>
              <a:buFont typeface="Wingdings" pitchFamily="2" charset="2"/>
              <a:buChar char="Ø"/>
            </a:pPr>
            <a:endParaRPr lang="en-US" dirty="0" smtClean="0"/>
          </a:p>
          <a:p>
            <a:pPr>
              <a:buFont typeface="Wingdings" pitchFamily="2" charset="2"/>
              <a:buChar char="Ø"/>
            </a:pPr>
            <a:r>
              <a:rPr lang="en-US" dirty="0"/>
              <a:t>Non-native graph processing often uses a large number of indexes in order to complete a read or write transaction, significantly slowing down the operation.</a:t>
            </a:r>
            <a:r>
              <a:rPr lang="en-US" dirty="0" smtClean="0"/>
              <a:t/>
            </a:r>
            <a:br>
              <a:rPr lang="en-US" dirty="0" smtClean="0"/>
            </a:b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304800"/>
            <a:ext cx="8534400" cy="12034064"/>
          </a:xfrm>
          <a:prstGeom prst="rect">
            <a:avLst/>
          </a:prstGeom>
          <a:noFill/>
        </p:spPr>
        <p:txBody>
          <a:bodyPr wrap="square" rtlCol="0">
            <a:spAutoFit/>
          </a:bodyPr>
          <a:lstStyle/>
          <a:p>
            <a:r>
              <a:rPr lang="en-US" sz="2000" b="1" dirty="0" smtClean="0"/>
              <a:t>Native </a:t>
            </a:r>
            <a:r>
              <a:rPr lang="en-US" sz="2000" b="1" dirty="0" err="1" smtClean="0"/>
              <a:t>vs</a:t>
            </a:r>
            <a:r>
              <a:rPr lang="en-US" sz="2000" b="1" dirty="0" smtClean="0"/>
              <a:t> Non Native </a:t>
            </a:r>
            <a:r>
              <a:rPr lang="en-US" b="1" dirty="0" smtClean="0"/>
              <a:t>:</a:t>
            </a:r>
          </a:p>
          <a:p>
            <a:endParaRPr lang="en-US" b="1" dirty="0"/>
          </a:p>
          <a:p>
            <a:r>
              <a:rPr lang="en-US" dirty="0"/>
              <a:t>Datasets tend to </a:t>
            </a:r>
            <a:r>
              <a:rPr lang="en-US" dirty="0" err="1"/>
              <a:t>growover</a:t>
            </a:r>
            <a:r>
              <a:rPr lang="en-US" dirty="0"/>
              <a:t> time, and today’s datasets are more unstructured, interconnected and interrelated than ever before</a:t>
            </a:r>
            <a:r>
              <a:rPr lang="en-US" dirty="0" smtClean="0"/>
              <a:t>.</a:t>
            </a:r>
          </a:p>
          <a:p>
            <a:pPr>
              <a:buFont typeface="Wingdings" pitchFamily="2" charset="2"/>
              <a:buChar char="Ø"/>
            </a:pPr>
            <a:r>
              <a:rPr lang="en-US" dirty="0" smtClean="0"/>
              <a:t>The </a:t>
            </a:r>
            <a:r>
              <a:rPr lang="en-US" dirty="0"/>
              <a:t>performance of non-native graph processing cripples under larger datasets</a:t>
            </a:r>
            <a:r>
              <a:rPr lang="en-US" dirty="0" smtClean="0"/>
              <a:t>.</a:t>
            </a:r>
          </a:p>
          <a:p>
            <a:endParaRPr lang="en-US" b="1" dirty="0" smtClean="0"/>
          </a:p>
          <a:p>
            <a:pPr>
              <a:buFont typeface="Wingdings" pitchFamily="2" charset="2"/>
              <a:buChar char="Ø"/>
            </a:pPr>
            <a:r>
              <a:rPr lang="en-US" dirty="0" smtClean="0"/>
              <a:t>As more data is added </a:t>
            </a:r>
            <a:r>
              <a:rPr lang="en-US" dirty="0"/>
              <a:t>to the database, many queries that would slow with size in a non-native graph database remain lithe and speedy in a native </a:t>
            </a:r>
            <a:r>
              <a:rPr lang="en-US" dirty="0" smtClean="0"/>
              <a:t>context.</a:t>
            </a:r>
          </a:p>
          <a:p>
            <a:pPr>
              <a:buFont typeface="Wingdings" pitchFamily="2" charset="2"/>
              <a:buChar char="Ø"/>
            </a:pPr>
            <a:endParaRPr lang="en-US" dirty="0"/>
          </a:p>
          <a:p>
            <a:pPr>
              <a:buFont typeface="Wingdings" pitchFamily="2" charset="2"/>
              <a:buChar char="Ø"/>
            </a:pPr>
            <a:r>
              <a:rPr lang="en-US" dirty="0" smtClean="0"/>
              <a:t>Native </a:t>
            </a:r>
            <a:r>
              <a:rPr lang="en-US" dirty="0"/>
              <a:t>graph scaling takes advantage of a large number of optimizations in storage and processing to yield a highly efficient </a:t>
            </a:r>
            <a:r>
              <a:rPr lang="en-US" dirty="0" smtClean="0"/>
              <a:t>approach.</a:t>
            </a:r>
          </a:p>
          <a:p>
            <a:pPr>
              <a:buFont typeface="Wingdings" pitchFamily="2" charset="2"/>
              <a:buChar char="Ø"/>
            </a:pPr>
            <a:endParaRPr lang="en-US" dirty="0"/>
          </a:p>
          <a:p>
            <a:pPr>
              <a:buFont typeface="Wingdings" pitchFamily="2" charset="2"/>
              <a:buChar char="Ø"/>
            </a:pPr>
            <a:r>
              <a:rPr lang="en-US" dirty="0" smtClean="0"/>
              <a:t>Non-native </a:t>
            </a:r>
            <a:r>
              <a:rPr lang="en-US" dirty="0"/>
              <a:t>uses brute force to solve the problem, requiring more hardware  </a:t>
            </a:r>
            <a:r>
              <a:rPr lang="en-US" dirty="0" smtClean="0"/>
              <a:t>and </a:t>
            </a:r>
            <a:r>
              <a:rPr lang="en-US" dirty="0"/>
              <a:t>resulting in lower latencies, especially for larger graphs</a:t>
            </a:r>
            <a:r>
              <a:rPr lang="en-US" dirty="0" smtClean="0"/>
              <a:t>.</a:t>
            </a:r>
          </a:p>
          <a:p>
            <a:pPr>
              <a:buFont typeface="Wingdings" pitchFamily="2" charset="2"/>
              <a:buChar char="Ø"/>
            </a:pPr>
            <a:endParaRPr lang="en-US" b="1" dirty="0"/>
          </a:p>
          <a:p>
            <a:r>
              <a:rPr lang="en-US" dirty="0"/>
              <a:t> The importance of native vs. non-native graph technology depends on the particular needs of your application, but for enterprises hoping to leverage the connections in their data, native graph database technology is critical for success</a:t>
            </a:r>
            <a:endParaRPr lang="en-US" b="1" dirty="0"/>
          </a:p>
          <a:p>
            <a:endParaRPr lang="en-US" b="1" dirty="0" smtClean="0"/>
          </a:p>
          <a:p>
            <a:endParaRPr lang="en-US" b="1" dirty="0"/>
          </a:p>
          <a:p>
            <a:endParaRPr lang="en-US" b="1"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447800"/>
            <a:ext cx="8382000" cy="5078313"/>
          </a:xfrm>
          <a:prstGeom prst="rect">
            <a:avLst/>
          </a:prstGeom>
          <a:no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3" name="TextBox 2"/>
          <p:cNvSpPr txBox="1"/>
          <p:nvPr/>
        </p:nvSpPr>
        <p:spPr>
          <a:xfrm>
            <a:off x="304800" y="304800"/>
            <a:ext cx="8305800" cy="7294305"/>
          </a:xfrm>
          <a:prstGeom prst="rect">
            <a:avLst/>
          </a:prstGeom>
          <a:noFill/>
        </p:spPr>
        <p:txBody>
          <a:bodyPr wrap="square" rtlCol="0">
            <a:spAutoFit/>
          </a:bodyPr>
          <a:lstStyle/>
          <a:p>
            <a:r>
              <a:rPr lang="en-US" b="1" dirty="0" smtClean="0"/>
              <a:t>Graph Compute Engines :</a:t>
            </a:r>
          </a:p>
          <a:p>
            <a:endParaRPr lang="en-US" b="1" dirty="0"/>
          </a:p>
          <a:p>
            <a:pPr>
              <a:buFont typeface="Wingdings" pitchFamily="2" charset="2"/>
              <a:buChar char="Ø"/>
            </a:pPr>
            <a:r>
              <a:rPr lang="en-US" dirty="0" smtClean="0"/>
              <a:t>A graph compute engine is a technology that enables global graph computational </a:t>
            </a:r>
            <a:r>
              <a:rPr lang="en-US" dirty="0" smtClean="0"/>
              <a:t>algorithms </a:t>
            </a:r>
            <a:r>
              <a:rPr lang="en-US" dirty="0" smtClean="0"/>
              <a:t>to be run against large datasets.</a:t>
            </a:r>
          </a:p>
          <a:p>
            <a:pPr>
              <a:buFont typeface="Wingdings" pitchFamily="2" charset="2"/>
              <a:buChar char="Ø"/>
            </a:pPr>
            <a:endParaRPr lang="en-US" dirty="0"/>
          </a:p>
          <a:p>
            <a:pPr>
              <a:buFont typeface="Wingdings" pitchFamily="2" charset="2"/>
              <a:buChar char="Ø"/>
            </a:pPr>
            <a:r>
              <a:rPr lang="en-US" dirty="0" smtClean="0"/>
              <a:t>Graph compute engines are designed to do things like identify clusters in your data, or answer questions such as, “how many relationships, on average, does everyone in a social network have?” </a:t>
            </a: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                                 </a:t>
            </a:r>
            <a:r>
              <a:rPr lang="en-US" sz="1400" dirty="0" smtClean="0"/>
              <a:t>High level view of graph compute engine deployment.</a:t>
            </a:r>
          </a:p>
          <a:p>
            <a:r>
              <a:rPr lang="en-US" sz="1400" dirty="0"/>
              <a:t> </a:t>
            </a:r>
            <a:r>
              <a:rPr lang="en-US" sz="1400" dirty="0" smtClean="0"/>
              <a:t>                                                                   Common Architecture</a:t>
            </a:r>
            <a:endParaRPr lang="en-US" sz="1400"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pic>
        <p:nvPicPr>
          <p:cNvPr id="4" name="Picture 3" descr="compute engines.JPG"/>
          <p:cNvPicPr>
            <a:picLocks noChangeAspect="1"/>
          </p:cNvPicPr>
          <p:nvPr/>
        </p:nvPicPr>
        <p:blipFill>
          <a:blip r:embed="rId2" cstate="print"/>
          <a:stretch>
            <a:fillRect/>
          </a:stretch>
        </p:blipFill>
        <p:spPr>
          <a:xfrm>
            <a:off x="2209800" y="2971800"/>
            <a:ext cx="3950586" cy="14478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8077200" cy="13419058"/>
          </a:xfrm>
          <a:prstGeom prst="rect">
            <a:avLst/>
          </a:prstGeom>
          <a:noFill/>
        </p:spPr>
        <p:txBody>
          <a:bodyPr wrap="square" rtlCol="0">
            <a:spAutoFit/>
          </a:bodyPr>
          <a:lstStyle/>
          <a:p>
            <a:r>
              <a:rPr lang="en-US" sz="2000" b="1" dirty="0" smtClean="0"/>
              <a:t>Power of Graph databases :</a:t>
            </a:r>
          </a:p>
          <a:p>
            <a:endParaRPr lang="en-US" b="1" dirty="0"/>
          </a:p>
          <a:p>
            <a:pPr>
              <a:buFont typeface="Wingdings" pitchFamily="2" charset="2"/>
              <a:buChar char="Ø"/>
            </a:pPr>
            <a:r>
              <a:rPr lang="en-US" dirty="0" smtClean="0"/>
              <a:t>Performance </a:t>
            </a:r>
          </a:p>
          <a:p>
            <a:pPr>
              <a:buFont typeface="Wingdings" pitchFamily="2" charset="2"/>
              <a:buChar char="Ø"/>
            </a:pPr>
            <a:endParaRPr lang="en-US" b="1" dirty="0"/>
          </a:p>
          <a:p>
            <a:pPr>
              <a:buFont typeface="Wingdings" pitchFamily="2" charset="2"/>
              <a:buChar char="Ø"/>
            </a:pPr>
            <a:r>
              <a:rPr lang="en-US" dirty="0" smtClean="0"/>
              <a:t>Flexibility</a:t>
            </a:r>
          </a:p>
          <a:p>
            <a:endParaRPr lang="en-US" dirty="0"/>
          </a:p>
          <a:p>
            <a:pPr>
              <a:buFont typeface="Wingdings" pitchFamily="2" charset="2"/>
              <a:buChar char="Ø"/>
            </a:pPr>
            <a:r>
              <a:rPr lang="en-US" dirty="0" smtClean="0"/>
              <a:t>Agility</a:t>
            </a:r>
          </a:p>
          <a:p>
            <a:pPr>
              <a:buFont typeface="Wingdings" pitchFamily="2" charset="2"/>
              <a:buChar char="Ø"/>
            </a:pPr>
            <a:endParaRPr lang="en-US" dirty="0"/>
          </a:p>
          <a:p>
            <a:pPr>
              <a:buFont typeface="Wingdings" pitchFamily="2" charset="2"/>
              <a:buChar char="Ø"/>
            </a:pPr>
            <a:endParaRPr lang="en-US" dirty="0" smtClean="0"/>
          </a:p>
          <a:p>
            <a:pPr>
              <a:buFont typeface="Wingdings" pitchFamily="2" charset="2"/>
              <a:buChar char="Ø"/>
            </a:pPr>
            <a:endParaRPr lang="en-US" dirty="0"/>
          </a:p>
          <a:p>
            <a:r>
              <a:rPr lang="en-US" b="1" dirty="0" smtClean="0"/>
              <a:t>Use cases :</a:t>
            </a:r>
          </a:p>
          <a:p>
            <a:endParaRPr lang="en-US" b="1" dirty="0"/>
          </a:p>
          <a:p>
            <a:pPr>
              <a:buFont typeface="Wingdings" pitchFamily="2" charset="2"/>
              <a:buChar char="Ø"/>
            </a:pPr>
            <a:r>
              <a:rPr lang="en-US" dirty="0" smtClean="0"/>
              <a:t>Social</a:t>
            </a:r>
          </a:p>
          <a:p>
            <a:pPr>
              <a:buFont typeface="Wingdings" pitchFamily="2" charset="2"/>
              <a:buChar char="Ø"/>
            </a:pPr>
            <a:endParaRPr lang="en-US" b="1" dirty="0"/>
          </a:p>
          <a:p>
            <a:pPr>
              <a:buFont typeface="Wingdings" pitchFamily="2" charset="2"/>
              <a:buChar char="Ø"/>
            </a:pPr>
            <a:r>
              <a:rPr lang="en-US" dirty="0" smtClean="0"/>
              <a:t>Recommendations </a:t>
            </a:r>
          </a:p>
          <a:p>
            <a:pPr>
              <a:buFont typeface="Wingdings" pitchFamily="2" charset="2"/>
              <a:buChar char="Ø"/>
            </a:pPr>
            <a:endParaRPr lang="en-US" b="1" dirty="0"/>
          </a:p>
          <a:p>
            <a:pPr>
              <a:buFont typeface="Wingdings" pitchFamily="2" charset="2"/>
              <a:buChar char="Ø"/>
            </a:pPr>
            <a:r>
              <a:rPr lang="en-US" dirty="0" smtClean="0"/>
              <a:t>Geo</a:t>
            </a:r>
          </a:p>
          <a:p>
            <a:pPr>
              <a:buFont typeface="Wingdings" pitchFamily="2" charset="2"/>
              <a:buChar char="Ø"/>
            </a:pPr>
            <a:endParaRPr lang="en-US" b="1" dirty="0"/>
          </a:p>
          <a:p>
            <a:pPr>
              <a:buFont typeface="Wingdings" pitchFamily="2" charset="2"/>
              <a:buChar char="Ø"/>
            </a:pPr>
            <a:r>
              <a:rPr lang="en-US" dirty="0" smtClean="0"/>
              <a:t>Master Data Management</a:t>
            </a:r>
          </a:p>
          <a:p>
            <a:pPr>
              <a:buFont typeface="Wingdings" pitchFamily="2" charset="2"/>
              <a:buChar char="Ø"/>
            </a:pPr>
            <a:endParaRPr lang="en-US" b="1" dirty="0"/>
          </a:p>
          <a:p>
            <a:pPr>
              <a:buFont typeface="Wingdings" pitchFamily="2" charset="2"/>
              <a:buChar char="Ø"/>
            </a:pPr>
            <a:r>
              <a:rPr lang="en-US" dirty="0" smtClean="0"/>
              <a:t>Network and Data Center Management</a:t>
            </a:r>
          </a:p>
          <a:p>
            <a:pPr>
              <a:buFont typeface="Wingdings" pitchFamily="2" charset="2"/>
              <a:buChar char="Ø"/>
            </a:pPr>
            <a:endParaRPr lang="en-US" b="1" dirty="0"/>
          </a:p>
          <a:p>
            <a:endParaRPr lang="en-US" b="1" dirty="0" smtClean="0"/>
          </a:p>
          <a:p>
            <a:endParaRPr lang="en-US" b="1" dirty="0" smtClean="0"/>
          </a:p>
          <a:p>
            <a:endParaRPr lang="en-US" b="1" dirty="0"/>
          </a:p>
          <a:p>
            <a:endParaRPr lang="en-US" b="1" dirty="0" smtClean="0"/>
          </a:p>
          <a:p>
            <a:endParaRPr lang="en-US" b="1"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a:p>
            <a:endParaRPr lang="en-US" dirty="0" smtClean="0"/>
          </a:p>
          <a:p>
            <a:endParaRPr lang="en-US" dirty="0"/>
          </a:p>
          <a:p>
            <a:endParaRPr lang="en-US" dirty="0" smtClean="0"/>
          </a:p>
          <a:p>
            <a:endParaRPr lang="en-US" dirty="0"/>
          </a:p>
          <a:p>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7924800" cy="369332"/>
          </a:xfrm>
          <a:prstGeom prst="rect">
            <a:avLst/>
          </a:prstGeom>
          <a:noFill/>
        </p:spPr>
        <p:txBody>
          <a:bodyPr wrap="square" rtlCol="0">
            <a:spAutoFit/>
          </a:bodyPr>
          <a:lstStyle/>
          <a:p>
            <a:r>
              <a:rPr lang="en-US" b="1" dirty="0" smtClean="0"/>
              <a:t>Real World example </a:t>
            </a:r>
            <a:r>
              <a:rPr lang="en-US" dirty="0" smtClean="0"/>
              <a:t>:</a:t>
            </a:r>
            <a:endParaRPr lang="en-US" dirty="0"/>
          </a:p>
        </p:txBody>
      </p:sp>
      <p:pic>
        <p:nvPicPr>
          <p:cNvPr id="3" name="Picture 2" descr="Talent.JPG"/>
          <p:cNvPicPr>
            <a:picLocks noChangeAspect="1"/>
          </p:cNvPicPr>
          <p:nvPr/>
        </p:nvPicPr>
        <p:blipFill>
          <a:blip r:embed="rId2" cstate="print"/>
          <a:stretch>
            <a:fillRect/>
          </a:stretch>
        </p:blipFill>
        <p:spPr>
          <a:xfrm>
            <a:off x="1219200" y="838200"/>
            <a:ext cx="6756400" cy="4724400"/>
          </a:xfrm>
          <a:prstGeom prst="rect">
            <a:avLst/>
          </a:prstGeom>
        </p:spPr>
      </p:pic>
      <p:sp>
        <p:nvSpPr>
          <p:cNvPr id="4" name="TextBox 3"/>
          <p:cNvSpPr txBox="1"/>
          <p:nvPr/>
        </p:nvSpPr>
        <p:spPr>
          <a:xfrm>
            <a:off x="1219200" y="5562600"/>
            <a:ext cx="6705600" cy="369332"/>
          </a:xfrm>
          <a:prstGeom prst="rect">
            <a:avLst/>
          </a:prstGeom>
          <a:noFill/>
        </p:spPr>
        <p:txBody>
          <a:bodyPr wrap="square" rtlCol="0">
            <a:spAutoFit/>
          </a:bodyPr>
          <a:lstStyle/>
          <a:p>
            <a:r>
              <a:rPr lang="en-US" dirty="0" smtClean="0"/>
              <a:t>Social Network</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ttern.JPG"/>
          <p:cNvPicPr>
            <a:picLocks noChangeAspect="1"/>
          </p:cNvPicPr>
          <p:nvPr/>
        </p:nvPicPr>
        <p:blipFill>
          <a:blip r:embed="rId2" cstate="print"/>
          <a:stretch>
            <a:fillRect/>
          </a:stretch>
        </p:blipFill>
        <p:spPr>
          <a:xfrm>
            <a:off x="1676400" y="1"/>
            <a:ext cx="5662507" cy="2895600"/>
          </a:xfrm>
          <a:prstGeom prst="rect">
            <a:avLst/>
          </a:prstGeom>
        </p:spPr>
      </p:pic>
      <p:pic>
        <p:nvPicPr>
          <p:cNvPr id="3" name="Picture 2" descr="matching.JPG"/>
          <p:cNvPicPr>
            <a:picLocks noChangeAspect="1"/>
          </p:cNvPicPr>
          <p:nvPr/>
        </p:nvPicPr>
        <p:blipFill>
          <a:blip r:embed="rId3" cstate="print"/>
          <a:stretch>
            <a:fillRect/>
          </a:stretch>
        </p:blipFill>
        <p:spPr>
          <a:xfrm>
            <a:off x="1676400" y="3200400"/>
            <a:ext cx="5867400" cy="3130327"/>
          </a:xfrm>
          <a:prstGeom prst="rect">
            <a:avLst/>
          </a:prstGeom>
        </p:spPr>
      </p:pic>
      <p:sp>
        <p:nvSpPr>
          <p:cNvPr id="4" name="TextBox 3"/>
          <p:cNvSpPr txBox="1"/>
          <p:nvPr/>
        </p:nvSpPr>
        <p:spPr>
          <a:xfrm>
            <a:off x="1676400" y="2895600"/>
            <a:ext cx="5410200" cy="369332"/>
          </a:xfrm>
          <a:prstGeom prst="rect">
            <a:avLst/>
          </a:prstGeom>
          <a:noFill/>
        </p:spPr>
        <p:txBody>
          <a:bodyPr wrap="square" rtlCol="0">
            <a:spAutoFit/>
          </a:bodyPr>
          <a:lstStyle/>
          <a:p>
            <a:r>
              <a:rPr lang="en-US" dirty="0" smtClean="0"/>
              <a:t>Pattern to find who shares same interests</a:t>
            </a:r>
            <a:endParaRPr lang="en-US" dirty="0"/>
          </a:p>
        </p:txBody>
      </p:sp>
      <p:sp>
        <p:nvSpPr>
          <p:cNvPr id="5" name="TextBox 4"/>
          <p:cNvSpPr txBox="1"/>
          <p:nvPr/>
        </p:nvSpPr>
        <p:spPr>
          <a:xfrm>
            <a:off x="1676400" y="6248400"/>
            <a:ext cx="5638800" cy="369332"/>
          </a:xfrm>
          <a:prstGeom prst="rect">
            <a:avLst/>
          </a:prstGeom>
          <a:noFill/>
        </p:spPr>
        <p:txBody>
          <a:bodyPr wrap="square" rtlCol="0">
            <a:spAutoFit/>
          </a:bodyPr>
          <a:lstStyle/>
          <a:p>
            <a:r>
              <a:rPr lang="en-US" dirty="0" smtClean="0"/>
              <a:t>Colleagues who share Sarah’s interests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52400"/>
            <a:ext cx="8305800" cy="5940088"/>
          </a:xfrm>
          <a:prstGeom prst="rect">
            <a:avLst/>
          </a:prstGeom>
          <a:noFill/>
        </p:spPr>
        <p:txBody>
          <a:bodyPr wrap="square" rtlCol="0">
            <a:spAutoFit/>
          </a:bodyPr>
          <a:lstStyle/>
          <a:p>
            <a:r>
              <a:rPr lang="en-US" sz="2000" b="1" dirty="0" smtClean="0"/>
              <a:t>Some of the graph databases :</a:t>
            </a:r>
          </a:p>
          <a:p>
            <a:endParaRPr lang="en-US" b="1" dirty="0"/>
          </a:p>
          <a:p>
            <a:pPr>
              <a:buFont typeface="Arial" pitchFamily="34" charset="0"/>
              <a:buChar char="•"/>
            </a:pPr>
            <a:r>
              <a:rPr lang="en-US" b="1" cap="all" dirty="0" smtClean="0"/>
              <a:t>NEO4J :</a:t>
            </a:r>
            <a:endParaRPr lang="en-US" b="1" cap="all" dirty="0"/>
          </a:p>
          <a:p>
            <a:pPr>
              <a:buFont typeface="Wingdings" pitchFamily="2" charset="2"/>
              <a:buChar char="Ø"/>
            </a:pPr>
            <a:r>
              <a:rPr lang="en-US" dirty="0" smtClean="0"/>
              <a:t>It </a:t>
            </a:r>
            <a:r>
              <a:rPr lang="en-US" dirty="0"/>
              <a:t>is highly </a:t>
            </a:r>
            <a:r>
              <a:rPr lang="en-US" dirty="0" err="1"/>
              <a:t>performant</a:t>
            </a:r>
            <a:r>
              <a:rPr lang="en-US" dirty="0"/>
              <a:t>, scalable, and flexible. It is equipped with a rich UI, called the Neo4j browser, that is used for queries, visualization, and data interaction. It has compatibility with most programming platforms like Java, </a:t>
            </a:r>
            <a:r>
              <a:rPr lang="en-US" dirty="0" err="1"/>
              <a:t>Nodejs</a:t>
            </a:r>
            <a:r>
              <a:rPr lang="en-US" dirty="0"/>
              <a:t>, PHP, Python, .NET, etc. </a:t>
            </a:r>
            <a:endParaRPr lang="en-US" dirty="0" smtClean="0"/>
          </a:p>
          <a:p>
            <a:pPr>
              <a:buFont typeface="Wingdings" pitchFamily="2" charset="2"/>
              <a:buChar char="Ø"/>
            </a:pPr>
            <a:r>
              <a:rPr lang="en-US" dirty="0" smtClean="0"/>
              <a:t>It </a:t>
            </a:r>
            <a:r>
              <a:rPr lang="en-US" dirty="0"/>
              <a:t>supports the </a:t>
            </a:r>
            <a:r>
              <a:rPr lang="en-US" dirty="0" err="1"/>
              <a:t>Cypher</a:t>
            </a:r>
            <a:r>
              <a:rPr lang="en-US" dirty="0"/>
              <a:t> query language, whose syntax naturally depicts data and relationships</a:t>
            </a:r>
            <a:r>
              <a:rPr lang="en-US" dirty="0" smtClean="0"/>
              <a:t>.</a:t>
            </a:r>
          </a:p>
          <a:p>
            <a:pPr>
              <a:buFont typeface="Wingdings" pitchFamily="2" charset="2"/>
              <a:buChar char="Ø"/>
            </a:pPr>
            <a:r>
              <a:rPr lang="en-US" dirty="0" smtClean="0"/>
              <a:t> </a:t>
            </a:r>
            <a:r>
              <a:rPr lang="en-US" dirty="0"/>
              <a:t>It has a good integration support with Apache Spark, </a:t>
            </a:r>
            <a:r>
              <a:rPr lang="en-US" dirty="0" err="1"/>
              <a:t>Elasticsearch</a:t>
            </a:r>
            <a:r>
              <a:rPr lang="en-US" dirty="0"/>
              <a:t>, </a:t>
            </a:r>
            <a:r>
              <a:rPr lang="en-US" dirty="0" err="1"/>
              <a:t>MongoDB</a:t>
            </a:r>
            <a:r>
              <a:rPr lang="en-US" dirty="0"/>
              <a:t>, Cassandra, and </a:t>
            </a:r>
            <a:r>
              <a:rPr lang="en-US" dirty="0" err="1"/>
              <a:t>Docker</a:t>
            </a:r>
            <a:r>
              <a:rPr lang="en-US" dirty="0"/>
              <a:t>. </a:t>
            </a:r>
            <a:endParaRPr lang="en-US" dirty="0" smtClean="0"/>
          </a:p>
          <a:p>
            <a:endParaRPr lang="en-US" b="1" dirty="0" smtClean="0"/>
          </a:p>
          <a:p>
            <a:pPr>
              <a:buFont typeface="Arial" pitchFamily="34" charset="0"/>
              <a:buChar char="•"/>
            </a:pPr>
            <a:r>
              <a:rPr lang="en-US" b="1" cap="all" dirty="0"/>
              <a:t>ORIENT </a:t>
            </a:r>
            <a:r>
              <a:rPr lang="en-US" b="1" cap="all" dirty="0" smtClean="0"/>
              <a:t>DB :</a:t>
            </a:r>
            <a:endParaRPr lang="en-US" b="1" cap="all" dirty="0"/>
          </a:p>
          <a:p>
            <a:pPr>
              <a:buFont typeface="Wingdings" pitchFamily="2" charset="2"/>
              <a:buChar char="Ø"/>
            </a:pPr>
            <a:r>
              <a:rPr lang="en-US" dirty="0"/>
              <a:t>Orient DB is a high speed, scalable, and reliable </a:t>
            </a:r>
            <a:r>
              <a:rPr lang="en-US" dirty="0" err="1"/>
              <a:t>GraphDB</a:t>
            </a:r>
            <a:r>
              <a:rPr lang="en-US" dirty="0"/>
              <a:t>. It has a high and constant traversing speed that is not affected by database size</a:t>
            </a:r>
            <a:r>
              <a:rPr lang="en-US" dirty="0" smtClean="0"/>
              <a:t>.</a:t>
            </a:r>
          </a:p>
          <a:p>
            <a:pPr>
              <a:buFont typeface="Wingdings" pitchFamily="2" charset="2"/>
              <a:buChar char="Ø"/>
            </a:pPr>
            <a:r>
              <a:rPr lang="en-US" dirty="0" smtClean="0"/>
              <a:t> </a:t>
            </a:r>
            <a:r>
              <a:rPr lang="en-US" dirty="0"/>
              <a:t>User, role, and record level security is built-in. It has a good compatibility with most programming platforms like Java, </a:t>
            </a:r>
            <a:r>
              <a:rPr lang="en-US" dirty="0" err="1"/>
              <a:t>Nodejs</a:t>
            </a:r>
            <a:r>
              <a:rPr lang="en-US" dirty="0"/>
              <a:t>, PHP, Python, .NET, etc. It has a strong community support and is licensed under Apache 2.</a:t>
            </a:r>
          </a:p>
          <a:p>
            <a:endParaRPr lang="en-US" b="1"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28600"/>
            <a:ext cx="7924800" cy="6463308"/>
          </a:xfrm>
          <a:prstGeom prst="rect">
            <a:avLst/>
          </a:prstGeom>
          <a:noFill/>
        </p:spPr>
        <p:txBody>
          <a:bodyPr wrap="square" rtlCol="0">
            <a:spAutoFit/>
          </a:bodyPr>
          <a:lstStyle/>
          <a:p>
            <a:pPr>
              <a:buFont typeface="Arial" pitchFamily="34" charset="0"/>
              <a:buChar char="•"/>
            </a:pPr>
            <a:r>
              <a:rPr lang="en-US" b="1" cap="all" dirty="0" smtClean="0"/>
              <a:t>TITAN DB :</a:t>
            </a:r>
            <a:endParaRPr lang="en-US" b="1" cap="all" dirty="0"/>
          </a:p>
          <a:p>
            <a:pPr>
              <a:buFont typeface="Wingdings" pitchFamily="2" charset="2"/>
              <a:buChar char="Ø"/>
            </a:pPr>
            <a:r>
              <a:rPr lang="en-US" dirty="0"/>
              <a:t>Titan DB is highly scalable and can store and query graphs containing hundreds of billions of vertices and edges distributed across a multi-machine cluster. </a:t>
            </a:r>
            <a:endParaRPr lang="en-US" dirty="0" smtClean="0"/>
          </a:p>
          <a:p>
            <a:pPr>
              <a:buFont typeface="Wingdings" pitchFamily="2" charset="2"/>
              <a:buChar char="Ø"/>
            </a:pPr>
            <a:r>
              <a:rPr lang="en-US" dirty="0" smtClean="0"/>
              <a:t>Titan </a:t>
            </a:r>
            <a:r>
              <a:rPr lang="en-US" dirty="0"/>
              <a:t>DB is transactional and supports various backend stores like Cassandra, </a:t>
            </a:r>
            <a:r>
              <a:rPr lang="en-US" dirty="0" err="1"/>
              <a:t>HBase</a:t>
            </a:r>
            <a:r>
              <a:rPr lang="en-US" dirty="0"/>
              <a:t>, and </a:t>
            </a:r>
            <a:r>
              <a:rPr lang="en-US" dirty="0" err="1"/>
              <a:t>BerkeleyDB</a:t>
            </a:r>
            <a:r>
              <a:rPr lang="en-US" dirty="0"/>
              <a:t>. </a:t>
            </a:r>
            <a:endParaRPr lang="en-US" dirty="0" smtClean="0"/>
          </a:p>
          <a:p>
            <a:pPr>
              <a:buFont typeface="Wingdings" pitchFamily="2" charset="2"/>
              <a:buChar char="Ø"/>
            </a:pPr>
            <a:r>
              <a:rPr lang="en-US" dirty="0" smtClean="0"/>
              <a:t>It </a:t>
            </a:r>
            <a:r>
              <a:rPr lang="en-US" dirty="0"/>
              <a:t>supports integration with Elastic Search, </a:t>
            </a:r>
            <a:r>
              <a:rPr lang="en-US" dirty="0" err="1"/>
              <a:t>Lucene</a:t>
            </a:r>
            <a:r>
              <a:rPr lang="en-US" dirty="0"/>
              <a:t>, and </a:t>
            </a:r>
            <a:r>
              <a:rPr lang="en-US" dirty="0" err="1"/>
              <a:t>Solr</a:t>
            </a:r>
            <a:r>
              <a:rPr lang="en-US" dirty="0"/>
              <a:t>, and also supports the Gremlin query language. It is licensed under Apache 2.</a:t>
            </a:r>
          </a:p>
          <a:p>
            <a:endParaRPr lang="en-US" cap="all" dirty="0" smtClean="0"/>
          </a:p>
          <a:p>
            <a:pPr>
              <a:buFont typeface="Arial" pitchFamily="34" charset="0"/>
              <a:buChar char="•"/>
            </a:pPr>
            <a:r>
              <a:rPr lang="en-US" b="1" cap="all" dirty="0" smtClean="0"/>
              <a:t>APACHE GIRAPH :</a:t>
            </a:r>
            <a:endParaRPr lang="en-US" b="1" cap="all" dirty="0"/>
          </a:p>
          <a:p>
            <a:pPr>
              <a:buFont typeface="Wingdings" pitchFamily="2" charset="2"/>
              <a:buChar char="Ø"/>
            </a:pPr>
            <a:r>
              <a:rPr lang="en-US" dirty="0"/>
              <a:t>It is an Iterative Graph processing framework backed by Apache </a:t>
            </a:r>
            <a:r>
              <a:rPr lang="en-US" dirty="0" err="1"/>
              <a:t>Hadoop</a:t>
            </a:r>
            <a:r>
              <a:rPr lang="en-US" dirty="0"/>
              <a:t>. </a:t>
            </a:r>
            <a:r>
              <a:rPr lang="en-US" dirty="0" err="1"/>
              <a:t>Giraph</a:t>
            </a:r>
            <a:r>
              <a:rPr lang="en-US" dirty="0"/>
              <a:t> jobs are highly scalable as they run on </a:t>
            </a:r>
            <a:r>
              <a:rPr lang="en-US" dirty="0" err="1"/>
              <a:t>Hadoop</a:t>
            </a:r>
            <a:r>
              <a:rPr lang="en-US" dirty="0"/>
              <a:t> Cluster</a:t>
            </a:r>
            <a:r>
              <a:rPr lang="en-US" dirty="0" smtClean="0"/>
              <a:t>.</a:t>
            </a:r>
          </a:p>
          <a:p>
            <a:pPr>
              <a:buFont typeface="Wingdings" pitchFamily="2" charset="2"/>
              <a:buChar char="Ø"/>
            </a:pPr>
            <a:r>
              <a:rPr lang="en-US" dirty="0" smtClean="0"/>
              <a:t> </a:t>
            </a:r>
            <a:r>
              <a:rPr lang="en-US" dirty="0" err="1"/>
              <a:t>Giraph</a:t>
            </a:r>
            <a:r>
              <a:rPr lang="en-US" dirty="0"/>
              <a:t> can greatly increase the efficiency of graph computation on a huge dataset. It is licensed under Apache 2. </a:t>
            </a:r>
            <a:endParaRPr lang="en-US" dirty="0" smtClean="0"/>
          </a:p>
          <a:p>
            <a:pPr>
              <a:buFont typeface="Wingdings" pitchFamily="2" charset="2"/>
              <a:buChar char="Ø"/>
            </a:pPr>
            <a:endParaRPr lang="en-US" dirty="0"/>
          </a:p>
          <a:p>
            <a:pPr>
              <a:buFont typeface="Arial" pitchFamily="34" charset="0"/>
              <a:buChar char="•"/>
            </a:pPr>
            <a:endParaRPr lang="en-US" b="1" dirty="0" smtClean="0"/>
          </a:p>
          <a:p>
            <a:pPr>
              <a:buFont typeface="Arial" pitchFamily="34" charset="0"/>
              <a:buChar char="•"/>
            </a:pPr>
            <a:r>
              <a:rPr lang="en-US" b="1" dirty="0" smtClean="0"/>
              <a:t>Apache </a:t>
            </a:r>
            <a:r>
              <a:rPr lang="en-US" b="1" dirty="0" err="1" smtClean="0"/>
              <a:t>TinkerPop</a:t>
            </a:r>
            <a:r>
              <a:rPr lang="en-US" b="1" dirty="0" smtClean="0"/>
              <a:t> :</a:t>
            </a:r>
          </a:p>
          <a:p>
            <a:pPr>
              <a:buFont typeface="Wingdings" pitchFamily="2" charset="2"/>
              <a:buChar char="Ø"/>
            </a:pPr>
            <a:r>
              <a:rPr lang="en-US" dirty="0" smtClean="0"/>
              <a:t>It </a:t>
            </a:r>
            <a:r>
              <a:rPr lang="en-US" dirty="0"/>
              <a:t>is an open source, vendor-agnostic, graph computing framework distributed under the commercial friendly Apache2 license. When a data system is </a:t>
            </a:r>
            <a:r>
              <a:rPr lang="en-US" dirty="0" err="1"/>
              <a:t>TinkerPop</a:t>
            </a:r>
            <a:r>
              <a:rPr lang="en-US" dirty="0"/>
              <a:t>-enabled, its users are able to model their domain as a graph and analyze that graph using the Gremlin graph traversal language.</a:t>
            </a:r>
            <a:endParaRPr lang="en-US" dirty="0" smtClean="0"/>
          </a:p>
          <a:p>
            <a:endParaRPr lang="en-US" dirty="0" smtClean="0"/>
          </a:p>
          <a:p>
            <a:endParaRPr lang="en-US" dirty="0"/>
          </a:p>
          <a:p>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58889"/>
            <a:ext cx="7848600" cy="6494085"/>
          </a:xfrm>
          <a:prstGeom prst="rect">
            <a:avLst/>
          </a:prstGeom>
          <a:noFill/>
        </p:spPr>
        <p:txBody>
          <a:bodyPr wrap="square" rtlCol="0">
            <a:spAutoFit/>
          </a:bodyPr>
          <a:lstStyle/>
          <a:p>
            <a:r>
              <a:rPr lang="en-US" sz="2000" b="1" dirty="0" smtClean="0"/>
              <a:t>Some of the popular graph query languages </a:t>
            </a:r>
            <a:r>
              <a:rPr lang="en-US" b="1" dirty="0" smtClean="0"/>
              <a:t>:</a:t>
            </a:r>
          </a:p>
          <a:p>
            <a:endParaRPr lang="en-US" b="1" dirty="0"/>
          </a:p>
          <a:p>
            <a:pPr>
              <a:buFont typeface="Wingdings" pitchFamily="2" charset="2"/>
              <a:buChar char="Ø"/>
            </a:pPr>
            <a:r>
              <a:rPr lang="en-US" dirty="0"/>
              <a:t>A great advantage of graph queries is that they eliminate the need to join multiple tables to find those relationships between your data points because the relationships are embedded in the data itself</a:t>
            </a:r>
            <a:r>
              <a:rPr lang="en-US" dirty="0" smtClean="0"/>
              <a:t>.</a:t>
            </a:r>
          </a:p>
          <a:p>
            <a:pPr>
              <a:buFont typeface="Wingdings" pitchFamily="2" charset="2"/>
              <a:buChar char="Ø"/>
            </a:pPr>
            <a:endParaRPr lang="en-US" dirty="0"/>
          </a:p>
          <a:p>
            <a:pPr fontAlgn="base">
              <a:buFont typeface="Wingdings" pitchFamily="2" charset="2"/>
              <a:buChar char="Ø"/>
            </a:pPr>
            <a:r>
              <a:rPr lang="en-US" b="1" dirty="0" err="1" smtClean="0"/>
              <a:t>Cypher</a:t>
            </a:r>
            <a:r>
              <a:rPr lang="en-US" b="1" dirty="0" smtClean="0"/>
              <a:t> :</a:t>
            </a:r>
            <a:endParaRPr lang="en-US" b="1" dirty="0"/>
          </a:p>
          <a:p>
            <a:pPr fontAlgn="base"/>
            <a:r>
              <a:rPr lang="en-US" dirty="0" err="1" smtClean="0"/>
              <a:t>Cypher</a:t>
            </a:r>
            <a:r>
              <a:rPr lang="en-US" dirty="0"/>
              <a:t> is a very popular declarative query language that was invented by the folks at Neo4j. Its popularity stems from its resemblance to SQL, so those with SQL experience will feel right at home</a:t>
            </a:r>
            <a:r>
              <a:rPr lang="en-US" dirty="0" smtClean="0"/>
              <a:t>.</a:t>
            </a:r>
          </a:p>
          <a:p>
            <a:pPr fontAlgn="base"/>
            <a:endParaRPr lang="en-US" dirty="0" smtClean="0"/>
          </a:p>
          <a:p>
            <a:pPr fontAlgn="base">
              <a:buFont typeface="Wingdings" pitchFamily="2" charset="2"/>
              <a:buChar char="Ø"/>
            </a:pPr>
            <a:r>
              <a:rPr lang="en-US" b="1" dirty="0" smtClean="0"/>
              <a:t>SPARQL :</a:t>
            </a:r>
            <a:endParaRPr lang="en-US" b="1" dirty="0"/>
          </a:p>
          <a:p>
            <a:pPr fontAlgn="base"/>
            <a:r>
              <a:rPr lang="en-US" dirty="0" smtClean="0"/>
              <a:t>SPARQL</a:t>
            </a:r>
            <a:r>
              <a:rPr lang="en-US" dirty="0"/>
              <a:t> is SQL-like declarative query language that was created by W3C to query </a:t>
            </a:r>
            <a:r>
              <a:rPr lang="en-US" dirty="0" smtClean="0"/>
              <a:t>RDF (Resource Description Framework</a:t>
            </a:r>
            <a:r>
              <a:rPr lang="en-US" dirty="0" smtClean="0">
                <a:hlinkClick r:id="rId2"/>
              </a:rPr>
              <a:t>)</a:t>
            </a:r>
            <a:r>
              <a:rPr lang="en-US" dirty="0"/>
              <a:t> </a:t>
            </a:r>
            <a:r>
              <a:rPr lang="en-US" dirty="0" smtClean="0"/>
              <a:t>graphs.</a:t>
            </a:r>
          </a:p>
          <a:p>
            <a:pPr fontAlgn="base"/>
            <a:endParaRPr lang="en-US" dirty="0" smtClean="0"/>
          </a:p>
          <a:p>
            <a:pPr fontAlgn="base">
              <a:buFont typeface="Wingdings" pitchFamily="2" charset="2"/>
              <a:buChar char="Ø"/>
            </a:pPr>
            <a:r>
              <a:rPr lang="en-US" b="1" dirty="0" err="1" smtClean="0"/>
              <a:t>GraphQL</a:t>
            </a:r>
            <a:r>
              <a:rPr lang="en-US" b="1" dirty="0" smtClean="0"/>
              <a:t> :</a:t>
            </a:r>
            <a:endParaRPr lang="en-US" b="1" dirty="0"/>
          </a:p>
          <a:p>
            <a:pPr fontAlgn="base"/>
            <a:r>
              <a:rPr lang="en-US" dirty="0" err="1" smtClean="0"/>
              <a:t>GraphQL</a:t>
            </a:r>
            <a:r>
              <a:rPr lang="en-US" dirty="0"/>
              <a:t> (created by </a:t>
            </a:r>
            <a:r>
              <a:rPr lang="en-US" dirty="0" err="1"/>
              <a:t>Facebook</a:t>
            </a:r>
            <a:r>
              <a:rPr lang="en-US" dirty="0"/>
              <a:t>) is a query language for APIs that isn’t specific to graph databases. Users define the structure of the data they need and they get exactly what they asked for. </a:t>
            </a:r>
            <a:r>
              <a:rPr lang="en-US" dirty="0" err="1"/>
              <a:t>GraphQL</a:t>
            </a:r>
            <a:r>
              <a:rPr lang="en-US" dirty="0"/>
              <a:t> queries are organized as types and fields, and not as endpoints. By varying the request object, you can determine what gets returned by the server.</a:t>
            </a:r>
          </a:p>
          <a:p>
            <a:endParaRPr lang="en-US" dirty="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52400"/>
            <a:ext cx="7848600" cy="7294305"/>
          </a:xfrm>
          <a:prstGeom prst="rect">
            <a:avLst/>
          </a:prstGeom>
          <a:noFill/>
        </p:spPr>
        <p:txBody>
          <a:bodyPr wrap="square" rtlCol="0">
            <a:spAutoFit/>
          </a:bodyPr>
          <a:lstStyle/>
          <a:p>
            <a:pPr fontAlgn="base">
              <a:buFont typeface="Arial" pitchFamily="34" charset="0"/>
              <a:buChar char="•"/>
            </a:pPr>
            <a:r>
              <a:rPr lang="en-US" b="1" dirty="0"/>
              <a:t>Gremlin</a:t>
            </a:r>
          </a:p>
          <a:p>
            <a:pPr fontAlgn="base"/>
            <a:r>
              <a:rPr lang="en-US" dirty="0" err="1" smtClean="0"/>
              <a:t>Germlin</a:t>
            </a:r>
            <a:r>
              <a:rPr lang="en-US" dirty="0"/>
              <a:t> was created in 2009 and is the query language for Apache </a:t>
            </a:r>
            <a:r>
              <a:rPr lang="en-US" dirty="0" err="1" smtClean="0"/>
              <a:t>TinkerPop</a:t>
            </a:r>
            <a:r>
              <a:rPr lang="en-US" dirty="0" smtClean="0"/>
              <a:t>. </a:t>
            </a:r>
            <a:r>
              <a:rPr lang="en-US" dirty="0"/>
              <a:t>It is a graph traversal DSL (Domain Specific Language) that can be either declarative or </a:t>
            </a:r>
            <a:r>
              <a:rPr lang="en-US" dirty="0" smtClean="0"/>
              <a:t>imperative. </a:t>
            </a:r>
            <a:r>
              <a:rPr lang="en-US" dirty="0"/>
              <a:t>Gremlin is Groovy-based, but has many language variants that allow developers to write Gremlin queries natively in many modern programming languages such as Java, JavaScript, Python, </a:t>
            </a:r>
            <a:r>
              <a:rPr lang="en-US" dirty="0" err="1"/>
              <a:t>Scala</a:t>
            </a:r>
            <a:r>
              <a:rPr lang="en-US" dirty="0"/>
              <a:t>, </a:t>
            </a:r>
            <a:r>
              <a:rPr lang="en-US" dirty="0" err="1"/>
              <a:t>Clojure</a:t>
            </a:r>
            <a:r>
              <a:rPr lang="en-US" dirty="0"/>
              <a:t> and Groovy.</a:t>
            </a:r>
          </a:p>
          <a:p>
            <a:endParaRPr lang="en-US" dirty="0" smtClean="0"/>
          </a:p>
          <a:p>
            <a:endParaRPr lang="en-US" dirty="0"/>
          </a:p>
          <a:p>
            <a:endParaRPr lang="en-US" dirty="0"/>
          </a:p>
          <a:p>
            <a:r>
              <a:rPr lang="en-US" sz="2000" b="1" dirty="0" smtClean="0"/>
              <a:t>Applications :</a:t>
            </a:r>
          </a:p>
          <a:p>
            <a:endParaRPr lang="en-US" b="1" dirty="0"/>
          </a:p>
          <a:p>
            <a:pPr>
              <a:buFont typeface="Wingdings" pitchFamily="2" charset="2"/>
              <a:buChar char="Ø"/>
            </a:pPr>
            <a:r>
              <a:rPr lang="en-US" dirty="0"/>
              <a:t>Fraud </a:t>
            </a:r>
            <a:r>
              <a:rPr lang="en-US" dirty="0" smtClean="0"/>
              <a:t>Detection</a:t>
            </a:r>
          </a:p>
          <a:p>
            <a:pPr>
              <a:buFont typeface="Wingdings" pitchFamily="2" charset="2"/>
              <a:buChar char="Ø"/>
            </a:pPr>
            <a:r>
              <a:rPr lang="en-US" dirty="0" smtClean="0"/>
              <a:t>Real-time </a:t>
            </a:r>
            <a:r>
              <a:rPr lang="en-US" dirty="0"/>
              <a:t>Recommendation </a:t>
            </a:r>
            <a:r>
              <a:rPr lang="en-US" dirty="0" smtClean="0"/>
              <a:t>Engines</a:t>
            </a:r>
          </a:p>
          <a:p>
            <a:pPr>
              <a:buFont typeface="Wingdings" pitchFamily="2" charset="2"/>
              <a:buChar char="Ø"/>
            </a:pPr>
            <a:r>
              <a:rPr lang="en-US" dirty="0" smtClean="0"/>
              <a:t>Master </a:t>
            </a:r>
            <a:r>
              <a:rPr lang="en-US" dirty="0"/>
              <a:t>Data </a:t>
            </a:r>
            <a:r>
              <a:rPr lang="en-US" dirty="0" smtClean="0"/>
              <a:t>Management</a:t>
            </a:r>
          </a:p>
          <a:p>
            <a:pPr>
              <a:buFont typeface="Wingdings" pitchFamily="2" charset="2"/>
              <a:buChar char="Ø"/>
            </a:pPr>
            <a:r>
              <a:rPr lang="en-US" dirty="0" smtClean="0"/>
              <a:t>Empowering </a:t>
            </a:r>
            <a:r>
              <a:rPr lang="en-US" dirty="0"/>
              <a:t>Network &amp; IT </a:t>
            </a:r>
            <a:r>
              <a:rPr lang="en-US" dirty="0" smtClean="0"/>
              <a:t>Operations</a:t>
            </a:r>
          </a:p>
          <a:p>
            <a:pPr>
              <a:buFont typeface="Wingdings" pitchFamily="2" charset="2"/>
              <a:buChar char="Ø"/>
            </a:pPr>
            <a:r>
              <a:rPr lang="en-US" dirty="0" smtClean="0"/>
              <a:t>Identity </a:t>
            </a:r>
            <a:r>
              <a:rPr lang="en-US" dirty="0"/>
              <a:t>&amp; Access </a:t>
            </a:r>
            <a:r>
              <a:rPr lang="en-US" dirty="0" smtClean="0"/>
              <a:t>Management</a:t>
            </a:r>
          </a:p>
          <a:p>
            <a:pPr>
              <a:buFont typeface="Wingdings" pitchFamily="2" charset="2"/>
              <a:buChar char="Ø"/>
            </a:pPr>
            <a:r>
              <a:rPr lang="en-US" dirty="0" smtClean="0"/>
              <a:t>Further </a:t>
            </a:r>
            <a:r>
              <a:rPr lang="en-US" dirty="0"/>
              <a:t>Reading</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667000"/>
            <a:ext cx="8229600" cy="1143000"/>
          </a:xfrm>
        </p:spPr>
        <p:txBody>
          <a:bodyPr/>
          <a:lstStyle/>
          <a:p>
            <a:r>
              <a:rPr lang="en-US" dirty="0" smtClean="0"/>
              <a:t>Thank You!</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TotalTime>
  <Words>713</Words>
  <Application>Microsoft Office PowerPoint</Application>
  <PresentationFormat>On-screen Show (4:3)</PresentationFormat>
  <Paragraphs>295</Paragraphs>
  <Slides>17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Office Theme</vt:lpstr>
      <vt:lpstr>Picture</vt:lpstr>
      <vt:lpstr>Graph Databases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Databases</dc:title>
  <dc:creator>LENOVO-PC</dc:creator>
  <cp:lastModifiedBy>Admin</cp:lastModifiedBy>
  <cp:revision>41</cp:revision>
  <dcterms:created xsi:type="dcterms:W3CDTF">2019-10-08T10:11:43Z</dcterms:created>
  <dcterms:modified xsi:type="dcterms:W3CDTF">2020-12-22T02:11:52Z</dcterms:modified>
</cp:coreProperties>
</file>