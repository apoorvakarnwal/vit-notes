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6" r:id="rId1"/>
  </p:sldMasterIdLst>
  <p:notesMasterIdLst>
    <p:notesMasterId r:id="rId82"/>
  </p:notesMasterIdLst>
  <p:sldIdLst>
    <p:sldId id="256" r:id="rId2"/>
    <p:sldId id="302" r:id="rId3"/>
    <p:sldId id="257" r:id="rId4"/>
    <p:sldId id="258" r:id="rId5"/>
    <p:sldId id="259" r:id="rId6"/>
    <p:sldId id="303" r:id="rId7"/>
    <p:sldId id="260" r:id="rId8"/>
    <p:sldId id="261" r:id="rId9"/>
    <p:sldId id="262" r:id="rId10"/>
    <p:sldId id="263" r:id="rId11"/>
    <p:sldId id="265" r:id="rId12"/>
    <p:sldId id="264" r:id="rId13"/>
    <p:sldId id="304" r:id="rId14"/>
    <p:sldId id="305" r:id="rId15"/>
    <p:sldId id="339" r:id="rId16"/>
    <p:sldId id="306" r:id="rId17"/>
    <p:sldId id="298" r:id="rId18"/>
    <p:sldId id="299" r:id="rId19"/>
    <p:sldId id="267" r:id="rId20"/>
    <p:sldId id="268" r:id="rId21"/>
    <p:sldId id="269" r:id="rId22"/>
    <p:sldId id="307" r:id="rId23"/>
    <p:sldId id="308" r:id="rId24"/>
    <p:sldId id="266" r:id="rId25"/>
    <p:sldId id="301" r:id="rId26"/>
    <p:sldId id="270" r:id="rId27"/>
    <p:sldId id="309" r:id="rId28"/>
    <p:sldId id="333" r:id="rId29"/>
    <p:sldId id="273" r:id="rId30"/>
    <p:sldId id="334" r:id="rId31"/>
    <p:sldId id="275" r:id="rId32"/>
    <p:sldId id="276" r:id="rId33"/>
    <p:sldId id="286" r:id="rId34"/>
    <p:sldId id="310" r:id="rId35"/>
    <p:sldId id="277" r:id="rId36"/>
    <p:sldId id="278" r:id="rId37"/>
    <p:sldId id="300" r:id="rId38"/>
    <p:sldId id="279" r:id="rId39"/>
    <p:sldId id="280" r:id="rId40"/>
    <p:sldId id="311" r:id="rId41"/>
    <p:sldId id="312" r:id="rId42"/>
    <p:sldId id="313" r:id="rId43"/>
    <p:sldId id="340" r:id="rId44"/>
    <p:sldId id="341" r:id="rId45"/>
    <p:sldId id="314" r:id="rId46"/>
    <p:sldId id="315" r:id="rId47"/>
    <p:sldId id="316" r:id="rId48"/>
    <p:sldId id="281" r:id="rId49"/>
    <p:sldId id="285" r:id="rId50"/>
    <p:sldId id="282" r:id="rId51"/>
    <p:sldId id="283" r:id="rId52"/>
    <p:sldId id="324" r:id="rId53"/>
    <p:sldId id="335" r:id="rId54"/>
    <p:sldId id="336" r:id="rId55"/>
    <p:sldId id="337" r:id="rId56"/>
    <p:sldId id="338" r:id="rId57"/>
    <p:sldId id="317" r:id="rId58"/>
    <p:sldId id="318" r:id="rId59"/>
    <p:sldId id="319" r:id="rId60"/>
    <p:sldId id="320" r:id="rId61"/>
    <p:sldId id="321" r:id="rId62"/>
    <p:sldId id="322" r:id="rId63"/>
    <p:sldId id="342" r:id="rId64"/>
    <p:sldId id="343" r:id="rId65"/>
    <p:sldId id="345" r:id="rId66"/>
    <p:sldId id="346" r:id="rId67"/>
    <p:sldId id="347" r:id="rId68"/>
    <p:sldId id="348" r:id="rId69"/>
    <p:sldId id="349" r:id="rId70"/>
    <p:sldId id="325" r:id="rId71"/>
    <p:sldId id="326" r:id="rId72"/>
    <p:sldId id="353" r:id="rId73"/>
    <p:sldId id="350" r:id="rId74"/>
    <p:sldId id="352" r:id="rId75"/>
    <p:sldId id="351" r:id="rId76"/>
    <p:sldId id="328" r:id="rId77"/>
    <p:sldId id="329" r:id="rId78"/>
    <p:sldId id="330" r:id="rId79"/>
    <p:sldId id="331" r:id="rId80"/>
    <p:sldId id="332" r:id="rId8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2527" autoAdjust="0"/>
  </p:normalViewPr>
  <p:slideViewPr>
    <p:cSldViewPr>
      <p:cViewPr varScale="1">
        <p:scale>
          <a:sx n="61" d="100"/>
          <a:sy n="61" d="100"/>
        </p:scale>
        <p:origin x="1572" y="84"/>
      </p:cViewPr>
      <p:guideLst>
        <p:guide orient="horz" pos="2160"/>
        <p:guide pos="2880"/>
      </p:guideLst>
    </p:cSldViewPr>
  </p:slideViewPr>
  <p:outlineViewPr>
    <p:cViewPr>
      <p:scale>
        <a:sx n="33" d="100"/>
        <a:sy n="33" d="100"/>
      </p:scale>
      <p:origin x="0" y="1302"/>
    </p:cViewPr>
    <p:sldLst>
      <p:sld r:id="rId1" collapse="1"/>
    </p:sldLst>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notesMaster" Target="notesMasters/notesMaster1.xml"/></Relationships>
</file>

<file path=ppt/_rels/viewProps.xml.rels><?xml version="1.0" encoding="UTF-8" standalone="yes"?>
<Relationships xmlns="http://schemas.openxmlformats.org/package/2006/relationships"><Relationship Id="rId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0E7238B-4390-4646-8EB4-4968ED26515B}" type="datetimeFigureOut">
              <a:rPr lang="en-IN" smtClean="0"/>
              <a:t>11-11-2024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EBFB1CC-AE27-4B23-824E-BA8B57FD6C58}" type="slidenum">
              <a:rPr lang="en-IN" smtClean="0"/>
              <a:t>‹#›</a:t>
            </a:fld>
            <a:endParaRPr lang="en-IN"/>
          </a:p>
        </p:txBody>
      </p:sp>
    </p:spTree>
    <p:extLst>
      <p:ext uri="{BB962C8B-B14F-4D97-AF65-F5344CB8AC3E}">
        <p14:creationId xmlns:p14="http://schemas.microsoft.com/office/powerpoint/2010/main" val="3850574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p:spPr>
        <p:txBody>
          <a:bodyPr/>
          <a:lstStyle/>
          <a:p>
            <a:fld id="{21BC952B-A4E6-4B0B-A31C-B824AB317B05}" type="slidenum">
              <a:rPr lang="en-CA" smtClean="0"/>
              <a:pPr/>
              <a:t>14</a:t>
            </a:fld>
            <a:endParaRPr lang="en-CA"/>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p:spPr>
        <p:txBody>
          <a:bodyPr/>
          <a:lstStyle/>
          <a:p>
            <a:pPr eaLnBrk="1" hangingPunct="1"/>
            <a:endParaRPr lang="en-US" sz="1800"/>
          </a:p>
        </p:txBody>
      </p:sp>
    </p:spTree>
    <p:extLst>
      <p:ext uri="{BB962C8B-B14F-4D97-AF65-F5344CB8AC3E}">
        <p14:creationId xmlns:p14="http://schemas.microsoft.com/office/powerpoint/2010/main" val="2187154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p>
            <a:fld id="{2411C098-48DA-42B6-B265-C46EFAC22744}" type="slidenum">
              <a:rPr lang="en-CA" smtClean="0"/>
              <a:pPr/>
              <a:t>16</a:t>
            </a:fld>
            <a:endParaRPr lang="en-CA"/>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p:spPr>
        <p:txBody>
          <a:bodyPr/>
          <a:lstStyle/>
          <a:p>
            <a:pPr eaLnBrk="1" hangingPunct="1"/>
            <a:endParaRPr lang="en-US" sz="1800"/>
          </a:p>
        </p:txBody>
      </p:sp>
    </p:spTree>
    <p:extLst>
      <p:ext uri="{BB962C8B-B14F-4D97-AF65-F5344CB8AC3E}">
        <p14:creationId xmlns:p14="http://schemas.microsoft.com/office/powerpoint/2010/main" val="40662919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EEBFB1CC-AE27-4B23-824E-BA8B57FD6C58}" type="slidenum">
              <a:rPr lang="en-IN" smtClean="0"/>
              <a:t>18</a:t>
            </a:fld>
            <a:endParaRPr lang="en-IN"/>
          </a:p>
        </p:txBody>
      </p:sp>
    </p:spTree>
    <p:extLst>
      <p:ext uri="{BB962C8B-B14F-4D97-AF65-F5344CB8AC3E}">
        <p14:creationId xmlns:p14="http://schemas.microsoft.com/office/powerpoint/2010/main" val="14110827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p:spPr>
        <p:txBody>
          <a:bodyPr/>
          <a:lstStyle/>
          <a:p>
            <a:fld id="{9C3B63D7-A9ED-4293-8304-15CE5EBFF02F}" type="slidenum">
              <a:rPr lang="en-CA" smtClean="0"/>
              <a:pPr/>
              <a:t>40</a:t>
            </a:fld>
            <a:endParaRPr lang="en-CA"/>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p:spPr>
        <p:txBody>
          <a:bodyPr/>
          <a:lstStyle/>
          <a:p>
            <a:pPr eaLnBrk="1" hangingPunct="1"/>
            <a:endParaRPr lang="en-US" sz="1800"/>
          </a:p>
        </p:txBody>
      </p:sp>
    </p:spTree>
    <p:extLst>
      <p:ext uri="{BB962C8B-B14F-4D97-AF65-F5344CB8AC3E}">
        <p14:creationId xmlns:p14="http://schemas.microsoft.com/office/powerpoint/2010/main" val="24601326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p>
            <a:fld id="{DAD0E89D-F48D-4570-8836-D050C53A9E30}" type="slidenum">
              <a:rPr lang="en-CA" smtClean="0"/>
              <a:pPr/>
              <a:t>41</a:t>
            </a:fld>
            <a:endParaRPr lang="en-CA"/>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p:spPr>
        <p:txBody>
          <a:bodyPr/>
          <a:lstStyle/>
          <a:p>
            <a:pPr eaLnBrk="1" hangingPunct="1"/>
            <a:endParaRPr lang="en-US" sz="1800"/>
          </a:p>
        </p:txBody>
      </p:sp>
    </p:spTree>
    <p:extLst>
      <p:ext uri="{BB962C8B-B14F-4D97-AF65-F5344CB8AC3E}">
        <p14:creationId xmlns:p14="http://schemas.microsoft.com/office/powerpoint/2010/main" val="22086045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p>
            <a:fld id="{6FA045A4-32DE-41CC-9F1E-347F12AB8EB6}" type="slidenum">
              <a:rPr lang="en-CA" smtClean="0"/>
              <a:pPr/>
              <a:t>42</a:t>
            </a:fld>
            <a:endParaRPr lang="en-CA"/>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p:spPr>
        <p:txBody>
          <a:bodyPr/>
          <a:lstStyle/>
          <a:p>
            <a:pPr eaLnBrk="1" hangingPunct="1"/>
            <a:endParaRPr lang="en-US" sz="1800"/>
          </a:p>
        </p:txBody>
      </p:sp>
    </p:spTree>
    <p:extLst>
      <p:ext uri="{BB962C8B-B14F-4D97-AF65-F5344CB8AC3E}">
        <p14:creationId xmlns:p14="http://schemas.microsoft.com/office/powerpoint/2010/main" val="22390696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p>
            <a:fld id="{A91E38BD-F25F-4960-934B-6D99116DA6A6}" type="slidenum">
              <a:rPr lang="en-CA" smtClean="0"/>
              <a:pPr/>
              <a:t>45</a:t>
            </a:fld>
            <a:endParaRPr lang="en-CA"/>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p:spPr>
        <p:txBody>
          <a:bodyPr/>
          <a:lstStyle/>
          <a:p>
            <a:pPr eaLnBrk="1" hangingPunct="1"/>
            <a:endParaRPr lang="en-US" sz="1800"/>
          </a:p>
        </p:txBody>
      </p:sp>
    </p:spTree>
    <p:extLst>
      <p:ext uri="{BB962C8B-B14F-4D97-AF65-F5344CB8AC3E}">
        <p14:creationId xmlns:p14="http://schemas.microsoft.com/office/powerpoint/2010/main" val="19176666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p:spPr>
        <p:txBody>
          <a:bodyPr/>
          <a:lstStyle/>
          <a:p>
            <a:fld id="{9D1F1863-A7CA-4A13-A12C-EC157B96A351}" type="slidenum">
              <a:rPr lang="en-CA" smtClean="0"/>
              <a:pPr/>
              <a:t>46</a:t>
            </a:fld>
            <a:endParaRPr lang="en-CA"/>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p:spPr>
        <p:txBody>
          <a:bodyPr/>
          <a:lstStyle/>
          <a:p>
            <a:pPr eaLnBrk="1" hangingPunct="1"/>
            <a:endParaRPr lang="en-US" sz="1800"/>
          </a:p>
        </p:txBody>
      </p:sp>
    </p:spTree>
    <p:extLst>
      <p:ext uri="{BB962C8B-B14F-4D97-AF65-F5344CB8AC3E}">
        <p14:creationId xmlns:p14="http://schemas.microsoft.com/office/powerpoint/2010/main" val="35876793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p:spPr>
        <p:txBody>
          <a:bodyPr/>
          <a:lstStyle/>
          <a:p>
            <a:fld id="{0D405E65-7B0C-475B-9718-BE4855F47423}" type="slidenum">
              <a:rPr lang="en-CA" smtClean="0"/>
              <a:pPr/>
              <a:t>57</a:t>
            </a:fld>
            <a:endParaRPr lang="en-CA"/>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p:spPr>
        <p:txBody>
          <a:bodyPr/>
          <a:lstStyle/>
          <a:p>
            <a:pPr eaLnBrk="1" hangingPunct="1"/>
            <a:endParaRPr lang="en-US" sz="1800"/>
          </a:p>
        </p:txBody>
      </p:sp>
    </p:spTree>
    <p:extLst>
      <p:ext uri="{BB962C8B-B14F-4D97-AF65-F5344CB8AC3E}">
        <p14:creationId xmlns:p14="http://schemas.microsoft.com/office/powerpoint/2010/main" val="39311517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p:spPr>
        <p:txBody>
          <a:bodyPr/>
          <a:lstStyle/>
          <a:p>
            <a:fld id="{BFD689DF-6D22-4161-A87E-8661953A3EDA}" type="slidenum">
              <a:rPr lang="en-CA" smtClean="0"/>
              <a:pPr/>
              <a:t>58</a:t>
            </a:fld>
            <a:endParaRPr lang="en-CA"/>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p:spPr>
        <p:txBody>
          <a:bodyPr/>
          <a:lstStyle/>
          <a:p>
            <a:pPr eaLnBrk="1" hangingPunct="1"/>
            <a:endParaRPr lang="en-US" sz="1800"/>
          </a:p>
        </p:txBody>
      </p:sp>
    </p:spTree>
    <p:extLst>
      <p:ext uri="{BB962C8B-B14F-4D97-AF65-F5344CB8AC3E}">
        <p14:creationId xmlns:p14="http://schemas.microsoft.com/office/powerpoint/2010/main" val="7226270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p:spPr>
        <p:txBody>
          <a:bodyPr/>
          <a:lstStyle/>
          <a:p>
            <a:fld id="{5CFD582E-668A-492C-A92A-485C911CCA45}" type="slidenum">
              <a:rPr lang="en-CA" smtClean="0"/>
              <a:pPr/>
              <a:t>59</a:t>
            </a:fld>
            <a:endParaRPr lang="en-CA"/>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p:spPr>
        <p:txBody>
          <a:bodyPr/>
          <a:lstStyle/>
          <a:p>
            <a:pPr eaLnBrk="1" hangingPunct="1"/>
            <a:endParaRPr lang="en-US" sz="1800"/>
          </a:p>
        </p:txBody>
      </p:sp>
    </p:spTree>
    <p:extLst>
      <p:ext uri="{BB962C8B-B14F-4D97-AF65-F5344CB8AC3E}">
        <p14:creationId xmlns:p14="http://schemas.microsoft.com/office/powerpoint/2010/main" val="19562964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p:spPr>
        <p:txBody>
          <a:bodyPr/>
          <a:lstStyle/>
          <a:p>
            <a:fld id="{67D47739-82DF-43AD-A4C5-92B47CAF4B76}" type="slidenum">
              <a:rPr lang="en-CA" smtClean="0"/>
              <a:pPr/>
              <a:t>60</a:t>
            </a:fld>
            <a:endParaRPr lang="en-CA"/>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p:spPr>
        <p:txBody>
          <a:bodyPr/>
          <a:lstStyle/>
          <a:p>
            <a:pPr eaLnBrk="1" hangingPunct="1"/>
            <a:endParaRPr lang="en-US" sz="1800"/>
          </a:p>
        </p:txBody>
      </p:sp>
    </p:spTree>
    <p:extLst>
      <p:ext uri="{BB962C8B-B14F-4D97-AF65-F5344CB8AC3E}">
        <p14:creationId xmlns:p14="http://schemas.microsoft.com/office/powerpoint/2010/main" val="41030401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p:spPr>
        <p:txBody>
          <a:bodyPr/>
          <a:lstStyle/>
          <a:p>
            <a:fld id="{434430F9-D4A1-4E9B-AAE0-EECAF5506F87}" type="slidenum">
              <a:rPr lang="en-CA" smtClean="0"/>
              <a:pPr/>
              <a:t>61</a:t>
            </a:fld>
            <a:endParaRPr lang="en-CA"/>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noFill/>
          <a:ln/>
        </p:spPr>
        <p:txBody>
          <a:bodyPr/>
          <a:lstStyle/>
          <a:p>
            <a:pPr eaLnBrk="1" hangingPunct="1"/>
            <a:endParaRPr lang="en-US" sz="1800"/>
          </a:p>
        </p:txBody>
      </p:sp>
    </p:spTree>
    <p:extLst>
      <p:ext uri="{BB962C8B-B14F-4D97-AF65-F5344CB8AC3E}">
        <p14:creationId xmlns:p14="http://schemas.microsoft.com/office/powerpoint/2010/main" val="2656505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p:spPr>
        <p:txBody>
          <a:bodyPr/>
          <a:lstStyle/>
          <a:p>
            <a:fld id="{CBCB2D1A-8935-43BB-9EA4-329301D71B9C}" type="slidenum">
              <a:rPr lang="en-CA" smtClean="0"/>
              <a:pPr/>
              <a:t>62</a:t>
            </a:fld>
            <a:endParaRPr lang="en-CA"/>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p:spPr>
        <p:txBody>
          <a:bodyPr/>
          <a:lstStyle/>
          <a:p>
            <a:pPr eaLnBrk="1" hangingPunct="1"/>
            <a:endParaRPr lang="en-US" sz="1800"/>
          </a:p>
        </p:txBody>
      </p:sp>
    </p:spTree>
    <p:extLst>
      <p:ext uri="{BB962C8B-B14F-4D97-AF65-F5344CB8AC3E}">
        <p14:creationId xmlns:p14="http://schemas.microsoft.com/office/powerpoint/2010/main" val="42745718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p:spPr>
        <p:txBody>
          <a:bodyPr/>
          <a:lstStyle/>
          <a:p>
            <a:fld id="{16C84C3C-1FB3-4AFC-BC92-D4EABC9F8847}" type="slidenum">
              <a:rPr lang="en-CA" smtClean="0"/>
              <a:pPr/>
              <a:t>70</a:t>
            </a:fld>
            <a:endParaRPr lang="en-CA"/>
          </a:p>
        </p:txBody>
      </p:sp>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a:ln/>
        </p:spPr>
        <p:txBody>
          <a:bodyPr/>
          <a:lstStyle/>
          <a:p>
            <a:pPr eaLnBrk="1" hangingPunct="1"/>
            <a:endParaRPr lang="en-US" sz="1800"/>
          </a:p>
        </p:txBody>
      </p:sp>
    </p:spTree>
    <p:extLst>
      <p:ext uri="{BB962C8B-B14F-4D97-AF65-F5344CB8AC3E}">
        <p14:creationId xmlns:p14="http://schemas.microsoft.com/office/powerpoint/2010/main" val="4283336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p:spPr>
        <p:txBody>
          <a:bodyPr/>
          <a:lstStyle/>
          <a:p>
            <a:fld id="{B0CEFBB4-6EB5-4178-A209-8A3721E2D307}" type="slidenum">
              <a:rPr lang="en-CA" smtClean="0"/>
              <a:pPr/>
              <a:t>71</a:t>
            </a:fld>
            <a:endParaRPr lang="en-CA"/>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p:spPr>
        <p:txBody>
          <a:bodyPr/>
          <a:lstStyle/>
          <a:p>
            <a:pPr eaLnBrk="1" hangingPunct="1"/>
            <a:endParaRPr lang="en-US" sz="1800"/>
          </a:p>
        </p:txBody>
      </p:sp>
    </p:spTree>
    <p:extLst>
      <p:ext uri="{BB962C8B-B14F-4D97-AF65-F5344CB8AC3E}">
        <p14:creationId xmlns:p14="http://schemas.microsoft.com/office/powerpoint/2010/main" val="35780531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p:spPr>
        <p:txBody>
          <a:bodyPr/>
          <a:lstStyle/>
          <a:p>
            <a:fld id="{774E9148-77C7-42FD-82E3-14F4B686C7FE}" type="slidenum">
              <a:rPr lang="en-CA" smtClean="0"/>
              <a:pPr/>
              <a:t>74</a:t>
            </a:fld>
            <a:endParaRPr lang="en-CA"/>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p:spPr>
        <p:txBody>
          <a:bodyPr/>
          <a:lstStyle/>
          <a:p>
            <a:pPr eaLnBrk="1" hangingPunct="1"/>
            <a:endParaRPr lang="en-US" sz="1800"/>
          </a:p>
        </p:txBody>
      </p:sp>
    </p:spTree>
    <p:extLst>
      <p:ext uri="{BB962C8B-B14F-4D97-AF65-F5344CB8AC3E}">
        <p14:creationId xmlns:p14="http://schemas.microsoft.com/office/powerpoint/2010/main" val="11361333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p:spPr>
        <p:txBody>
          <a:bodyPr/>
          <a:lstStyle/>
          <a:p>
            <a:fld id="{C08459A0-DBCA-4497-8CAD-29D986B01E4B}" type="slidenum">
              <a:rPr lang="en-CA" smtClean="0"/>
              <a:pPr/>
              <a:t>76</a:t>
            </a:fld>
            <a:endParaRPr lang="en-CA"/>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a:ln/>
        </p:spPr>
        <p:txBody>
          <a:bodyPr/>
          <a:lstStyle/>
          <a:p>
            <a:pPr eaLnBrk="1" hangingPunct="1"/>
            <a:endParaRPr lang="en-US" sz="1800"/>
          </a:p>
        </p:txBody>
      </p:sp>
    </p:spTree>
    <p:extLst>
      <p:ext uri="{BB962C8B-B14F-4D97-AF65-F5344CB8AC3E}">
        <p14:creationId xmlns:p14="http://schemas.microsoft.com/office/powerpoint/2010/main" val="14372233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p:spPr>
        <p:txBody>
          <a:bodyPr/>
          <a:lstStyle/>
          <a:p>
            <a:fld id="{0BEBB17E-0EB0-4CCF-B985-F6E918BB3D95}" type="slidenum">
              <a:rPr lang="en-CA" smtClean="0"/>
              <a:pPr/>
              <a:t>77</a:t>
            </a:fld>
            <a:endParaRPr lang="en-CA"/>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p:spPr>
        <p:txBody>
          <a:bodyPr/>
          <a:lstStyle/>
          <a:p>
            <a:pPr eaLnBrk="1" hangingPunct="1"/>
            <a:endParaRPr lang="en-US" sz="1800"/>
          </a:p>
        </p:txBody>
      </p:sp>
    </p:spTree>
    <p:extLst>
      <p:ext uri="{BB962C8B-B14F-4D97-AF65-F5344CB8AC3E}">
        <p14:creationId xmlns:p14="http://schemas.microsoft.com/office/powerpoint/2010/main" val="30787930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p:spPr>
        <p:txBody>
          <a:bodyPr/>
          <a:lstStyle/>
          <a:p>
            <a:fld id="{0DCF90D1-582A-4BAC-8E83-6F13B47D7EDC}" type="slidenum">
              <a:rPr lang="en-CA" smtClean="0"/>
              <a:pPr/>
              <a:t>78</a:t>
            </a:fld>
            <a:endParaRPr lang="en-CA"/>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p:spPr>
        <p:txBody>
          <a:bodyPr/>
          <a:lstStyle/>
          <a:p>
            <a:pPr eaLnBrk="1" hangingPunct="1"/>
            <a:endParaRPr lang="en-US" sz="1800"/>
          </a:p>
        </p:txBody>
      </p:sp>
    </p:spTree>
    <p:extLst>
      <p:ext uri="{BB962C8B-B14F-4D97-AF65-F5344CB8AC3E}">
        <p14:creationId xmlns:p14="http://schemas.microsoft.com/office/powerpoint/2010/main" val="55367724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p:spPr>
        <p:txBody>
          <a:bodyPr/>
          <a:lstStyle/>
          <a:p>
            <a:fld id="{5CB57D3A-B113-40BE-A575-864C846434B5}" type="slidenum">
              <a:rPr lang="en-CA" smtClean="0"/>
              <a:pPr/>
              <a:t>79</a:t>
            </a:fld>
            <a:endParaRPr lang="en-CA"/>
          </a:p>
        </p:txBody>
      </p:sp>
      <p:sp>
        <p:nvSpPr>
          <p:cNvPr id="96259" name="Rectangle 2"/>
          <p:cNvSpPr>
            <a:spLocks noGrp="1" noRot="1" noChangeAspect="1" noChangeArrowheads="1" noTextEdit="1"/>
          </p:cNvSpPr>
          <p:nvPr>
            <p:ph type="sldImg"/>
          </p:nvPr>
        </p:nvSpPr>
        <p:spPr>
          <a:ln/>
        </p:spPr>
      </p:sp>
      <p:sp>
        <p:nvSpPr>
          <p:cNvPr id="96260" name="Rectangle 3"/>
          <p:cNvSpPr>
            <a:spLocks noGrp="1" noChangeArrowheads="1"/>
          </p:cNvSpPr>
          <p:nvPr>
            <p:ph type="body" idx="1"/>
          </p:nvPr>
        </p:nvSpPr>
        <p:spPr>
          <a:noFill/>
          <a:ln/>
        </p:spPr>
        <p:txBody>
          <a:bodyPr/>
          <a:lstStyle/>
          <a:p>
            <a:pPr eaLnBrk="1" hangingPunct="1"/>
            <a:endParaRPr lang="en-US" sz="1800"/>
          </a:p>
        </p:txBody>
      </p:sp>
    </p:spTree>
    <p:extLst>
      <p:ext uri="{BB962C8B-B14F-4D97-AF65-F5344CB8AC3E}">
        <p14:creationId xmlns:p14="http://schemas.microsoft.com/office/powerpoint/2010/main" val="8842787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48B93938-B47F-45D3-86C7-86F32B427C34}" type="datetime1">
              <a:rPr lang="en-IN" smtClean="0"/>
              <a:t>11-11-2024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5D16119-D660-40DF-B339-D75B54681409}" type="slidenum">
              <a:rPr lang="en-IN" smtClean="0"/>
              <a:t>‹#›</a:t>
            </a:fld>
            <a:endParaRPr lang="en-IN"/>
          </a:p>
        </p:txBody>
      </p:sp>
    </p:spTree>
    <p:extLst>
      <p:ext uri="{BB962C8B-B14F-4D97-AF65-F5344CB8AC3E}">
        <p14:creationId xmlns:p14="http://schemas.microsoft.com/office/powerpoint/2010/main" val="2889903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BE26F7D-8E4B-409F-A60B-DD4B7AC9898A}" type="datetime1">
              <a:rPr lang="en-IN" smtClean="0"/>
              <a:t>11-11-2024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EF2FF5-BD00-45B8-A71A-EAE2607F0774}" type="slidenum">
              <a:rPr lang="en-IN" smtClean="0"/>
              <a:t>‹#›</a:t>
            </a:fld>
            <a:endParaRPr lang="en-IN"/>
          </a:p>
        </p:txBody>
      </p:sp>
    </p:spTree>
    <p:extLst>
      <p:ext uri="{BB962C8B-B14F-4D97-AF65-F5344CB8AC3E}">
        <p14:creationId xmlns:p14="http://schemas.microsoft.com/office/powerpoint/2010/main" val="10660260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B5C10B7-D270-4B63-A18F-B907A0C8ACD9}" type="datetime1">
              <a:rPr lang="en-IN" smtClean="0"/>
              <a:t>11-11-2024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5D16119-D660-40DF-B339-D75B54681409}" type="slidenum">
              <a:rPr lang="en-IN" smtClean="0"/>
              <a:t>‹#›</a:t>
            </a:fld>
            <a:endParaRPr lang="en-IN"/>
          </a:p>
        </p:txBody>
      </p:sp>
    </p:spTree>
    <p:extLst>
      <p:ext uri="{BB962C8B-B14F-4D97-AF65-F5344CB8AC3E}">
        <p14:creationId xmlns:p14="http://schemas.microsoft.com/office/powerpoint/2010/main" val="37623562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E567EEA1-900B-4429-A6BE-0D45C2AF08D5}" type="datetime1">
              <a:rPr lang="en-IN" smtClean="0"/>
              <a:t>11-11-2024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5D16119-D660-40DF-B339-D75B54681409}" type="slidenum">
              <a:rPr lang="en-IN" smtClean="0"/>
              <a:t>‹#›</a:t>
            </a:fld>
            <a:endParaRPr lang="en-IN"/>
          </a:p>
        </p:txBody>
      </p:sp>
    </p:spTree>
    <p:extLst>
      <p:ext uri="{BB962C8B-B14F-4D97-AF65-F5344CB8AC3E}">
        <p14:creationId xmlns:p14="http://schemas.microsoft.com/office/powerpoint/2010/main" val="11909068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ED84492E-2FEA-48BF-8AD3-735025F8FF0E}" type="datetime1">
              <a:rPr lang="en-IN" smtClean="0"/>
              <a:t>11-11-2024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5D16119-D660-40DF-B339-D75B54681409}" type="slidenum">
              <a:rPr lang="en-IN" smtClean="0"/>
              <a:t>‹#›</a:t>
            </a:fld>
            <a:endParaRPr lang="en-IN"/>
          </a:p>
        </p:txBody>
      </p:sp>
    </p:spTree>
    <p:extLst>
      <p:ext uri="{BB962C8B-B14F-4D97-AF65-F5344CB8AC3E}">
        <p14:creationId xmlns:p14="http://schemas.microsoft.com/office/powerpoint/2010/main" val="367062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4D18CA38-6A1C-4004-930A-4CD20A6D3609}" type="datetime1">
              <a:rPr lang="en-IN" smtClean="0"/>
              <a:t>11-11-2024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5D16119-D660-40DF-B339-D75B54681409}" type="slidenum">
              <a:rPr lang="en-IN" smtClean="0"/>
              <a:t>‹#›</a:t>
            </a:fld>
            <a:endParaRPr lang="en-IN"/>
          </a:p>
        </p:txBody>
      </p:sp>
    </p:spTree>
    <p:extLst>
      <p:ext uri="{BB962C8B-B14F-4D97-AF65-F5344CB8AC3E}">
        <p14:creationId xmlns:p14="http://schemas.microsoft.com/office/powerpoint/2010/main" val="33357743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F5E2CEE-CC0B-432A-8A04-19C6FBE5BD84}" type="datetime1">
              <a:rPr lang="en-IN" smtClean="0"/>
              <a:t>11-11-2024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5D16119-D660-40DF-B339-D75B54681409}" type="slidenum">
              <a:rPr lang="en-IN" smtClean="0"/>
              <a:t>‹#›</a:t>
            </a:fld>
            <a:endParaRPr lang="en-IN"/>
          </a:p>
        </p:txBody>
      </p:sp>
    </p:spTree>
    <p:extLst>
      <p:ext uri="{BB962C8B-B14F-4D97-AF65-F5344CB8AC3E}">
        <p14:creationId xmlns:p14="http://schemas.microsoft.com/office/powerpoint/2010/main" val="26932947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069F0A3-7DAD-4AF4-8889-AF7B1385DBDC}" type="datetime1">
              <a:rPr lang="en-IN" smtClean="0"/>
              <a:t>11-11-2024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5D16119-D660-40DF-B339-D75B54681409}" type="slidenum">
              <a:rPr lang="en-IN" smtClean="0"/>
              <a:t>‹#›</a:t>
            </a:fld>
            <a:endParaRPr lang="en-IN"/>
          </a:p>
        </p:txBody>
      </p:sp>
    </p:spTree>
    <p:extLst>
      <p:ext uri="{BB962C8B-B14F-4D97-AF65-F5344CB8AC3E}">
        <p14:creationId xmlns:p14="http://schemas.microsoft.com/office/powerpoint/2010/main" val="33985455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C2D8661-F9FB-4829-B2A6-791F6272928C}" type="datetime1">
              <a:rPr lang="en-IN" smtClean="0"/>
              <a:t>11-11-2024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5D16119-D660-40DF-B339-D75B54681409}" type="slidenum">
              <a:rPr lang="en-IN" smtClean="0"/>
              <a:t>‹#›</a:t>
            </a:fld>
            <a:endParaRPr lang="en-IN"/>
          </a:p>
        </p:txBody>
      </p:sp>
    </p:spTree>
    <p:extLst>
      <p:ext uri="{BB962C8B-B14F-4D97-AF65-F5344CB8AC3E}">
        <p14:creationId xmlns:p14="http://schemas.microsoft.com/office/powerpoint/2010/main" val="5942627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CE65DFA-7D75-4CC5-BA1C-3EE47356AF50}" type="datetime1">
              <a:rPr lang="en-IN" smtClean="0"/>
              <a:t>11-11-2024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5D16119-D660-40DF-B339-D75B54681409}" type="slidenum">
              <a:rPr lang="en-IN" smtClean="0"/>
              <a:t>‹#›</a:t>
            </a:fld>
            <a:endParaRPr lang="en-IN"/>
          </a:p>
        </p:txBody>
      </p:sp>
    </p:spTree>
    <p:extLst>
      <p:ext uri="{BB962C8B-B14F-4D97-AF65-F5344CB8AC3E}">
        <p14:creationId xmlns:p14="http://schemas.microsoft.com/office/powerpoint/2010/main" val="8810455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125BF29-1772-40D4-8B9C-CC790CB75C0B}" type="datetime1">
              <a:rPr lang="en-IN" smtClean="0"/>
              <a:t>11-11-2024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5D16119-D660-40DF-B339-D75B54681409}" type="slidenum">
              <a:rPr lang="en-IN" smtClean="0"/>
              <a:t>‹#›</a:t>
            </a:fld>
            <a:endParaRPr lang="en-IN"/>
          </a:p>
        </p:txBody>
      </p:sp>
    </p:spTree>
    <p:extLst>
      <p:ext uri="{BB962C8B-B14F-4D97-AF65-F5344CB8AC3E}">
        <p14:creationId xmlns:p14="http://schemas.microsoft.com/office/powerpoint/2010/main" val="9818451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2BC6FD-2D23-4B21-8CEE-407B485AD94D}" type="datetime1">
              <a:rPr lang="en-IN" smtClean="0"/>
              <a:t>11-11-2024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5D16119-D660-40DF-B339-D75B54681409}" type="slidenum">
              <a:rPr lang="en-IN" smtClean="0"/>
              <a:t>‹#›</a:t>
            </a:fld>
            <a:endParaRPr lang="en-IN"/>
          </a:p>
        </p:txBody>
      </p:sp>
    </p:spTree>
    <p:extLst>
      <p:ext uri="{BB962C8B-B14F-4D97-AF65-F5344CB8AC3E}">
        <p14:creationId xmlns:p14="http://schemas.microsoft.com/office/powerpoint/2010/main" val="3127940131"/>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wmf"/></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505934"/>
            <a:ext cx="8229600" cy="1923066"/>
          </a:xfrm>
        </p:spPr>
        <p:txBody>
          <a:bodyPr>
            <a:normAutofit fontScale="90000"/>
          </a:bodyPr>
          <a:lstStyle/>
          <a:p>
            <a:r>
              <a:rPr lang="en-IN" b="1" dirty="0">
                <a:solidFill>
                  <a:srgbClr val="FF0000"/>
                </a:solidFill>
              </a:rPr>
              <a:t>Concurrency Control In Transaction</a:t>
            </a:r>
            <a:br>
              <a:rPr lang="en-IN" b="1" dirty="0">
                <a:solidFill>
                  <a:srgbClr val="FF0000"/>
                </a:solidFill>
              </a:rPr>
            </a:br>
            <a:r>
              <a:rPr lang="en-IN" b="1" dirty="0">
                <a:solidFill>
                  <a:srgbClr val="FF0000"/>
                </a:solidFill>
              </a:rPr>
              <a:t>Processing ( Module 6)</a:t>
            </a:r>
          </a:p>
        </p:txBody>
      </p:sp>
      <p:sp>
        <p:nvSpPr>
          <p:cNvPr id="3" name="Subtitle 2"/>
          <p:cNvSpPr>
            <a:spLocks noGrp="1"/>
          </p:cNvSpPr>
          <p:nvPr>
            <p:ph type="subTitle" idx="1"/>
          </p:nvPr>
        </p:nvSpPr>
        <p:spPr>
          <a:xfrm>
            <a:off x="1475656" y="3717032"/>
            <a:ext cx="6400800" cy="1600200"/>
          </a:xfrm>
        </p:spPr>
        <p:txBody>
          <a:bodyPr>
            <a:normAutofit fontScale="77500" lnSpcReduction="20000"/>
          </a:bodyPr>
          <a:lstStyle/>
          <a:p>
            <a:r>
              <a:rPr lang="en-US" dirty="0"/>
              <a:t>Dr. T. JOSHVA DEVADAS</a:t>
            </a:r>
          </a:p>
          <a:p>
            <a:r>
              <a:rPr lang="en-US" dirty="0"/>
              <a:t>Professor</a:t>
            </a:r>
          </a:p>
          <a:p>
            <a:r>
              <a:rPr lang="en-US" dirty="0"/>
              <a:t>SJT Annex- 103F</a:t>
            </a:r>
          </a:p>
          <a:p>
            <a:r>
              <a:rPr lang="en-US" dirty="0"/>
              <a:t>Joshvadevadas.t@vit.ac.in</a:t>
            </a:r>
            <a:endParaRPr lang="en-IN" dirty="0"/>
          </a:p>
        </p:txBody>
      </p:sp>
      <p:sp>
        <p:nvSpPr>
          <p:cNvPr id="4" name="Slide Number Placeholder 3"/>
          <p:cNvSpPr>
            <a:spLocks noGrp="1"/>
          </p:cNvSpPr>
          <p:nvPr>
            <p:ph type="sldNum" sz="quarter" idx="12"/>
          </p:nvPr>
        </p:nvSpPr>
        <p:spPr/>
        <p:txBody>
          <a:bodyPr/>
          <a:lstStyle/>
          <a:p>
            <a:fld id="{B5D16119-D660-40DF-B339-D75B54681409}" type="slidenum">
              <a:rPr lang="en-IN" smtClean="0"/>
              <a:t>1</a:t>
            </a:fld>
            <a:endParaRPr lang="en-IN"/>
          </a:p>
        </p:txBody>
      </p:sp>
    </p:spTree>
    <p:extLst>
      <p:ext uri="{BB962C8B-B14F-4D97-AF65-F5344CB8AC3E}">
        <p14:creationId xmlns:p14="http://schemas.microsoft.com/office/powerpoint/2010/main" val="22732915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Concurrency Definition</a:t>
            </a:r>
            <a:endParaRPr lang="en-IN" dirty="0"/>
          </a:p>
        </p:txBody>
      </p:sp>
      <p:sp>
        <p:nvSpPr>
          <p:cNvPr id="4" name="Content Placeholder 2"/>
          <p:cNvSpPr>
            <a:spLocks noGrp="1"/>
          </p:cNvSpPr>
          <p:nvPr>
            <p:ph idx="1"/>
          </p:nvPr>
        </p:nvSpPr>
        <p:spPr>
          <a:xfrm>
            <a:off x="827584" y="1412776"/>
            <a:ext cx="7772400" cy="4572000"/>
          </a:xfrm>
        </p:spPr>
        <p:txBody>
          <a:bodyPr>
            <a:normAutofit/>
          </a:bodyPr>
          <a:lstStyle/>
          <a:p>
            <a:pPr algn="just"/>
            <a:r>
              <a:rPr lang="en-US" sz="3200" dirty="0"/>
              <a:t>Concurrency can be defined as the ability for multiple processes to access or change shared data at the same time. </a:t>
            </a:r>
          </a:p>
          <a:p>
            <a:pPr algn="just"/>
            <a:r>
              <a:rPr lang="en-US" sz="3200" dirty="0"/>
              <a:t>The greater the number of concurrent user processes that can execute without blocking each other, the greater the concurrency of the database system.</a:t>
            </a:r>
            <a:endParaRPr lang="en-IN" sz="3200" dirty="0"/>
          </a:p>
        </p:txBody>
      </p:sp>
      <p:sp>
        <p:nvSpPr>
          <p:cNvPr id="3" name="Slide Number Placeholder 2">
            <a:extLst>
              <a:ext uri="{FF2B5EF4-FFF2-40B4-BE49-F238E27FC236}">
                <a16:creationId xmlns:a16="http://schemas.microsoft.com/office/drawing/2014/main" id="{2A1EDA33-8C02-B0C1-E3C7-7F87CEEF976F}"/>
              </a:ext>
            </a:extLst>
          </p:cNvPr>
          <p:cNvSpPr>
            <a:spLocks noGrp="1"/>
          </p:cNvSpPr>
          <p:nvPr>
            <p:ph type="sldNum" sz="quarter" idx="12"/>
          </p:nvPr>
        </p:nvSpPr>
        <p:spPr/>
        <p:txBody>
          <a:bodyPr/>
          <a:lstStyle/>
          <a:p>
            <a:fld id="{F8EF2FF5-BD00-45B8-A71A-EAE2607F0774}" type="slidenum">
              <a:rPr lang="en-IN" smtClean="0"/>
              <a:t>2</a:t>
            </a:fld>
            <a:endParaRPr lang="en-IN"/>
          </a:p>
        </p:txBody>
      </p:sp>
    </p:spTree>
    <p:extLst>
      <p:ext uri="{BB962C8B-B14F-4D97-AF65-F5344CB8AC3E}">
        <p14:creationId xmlns:p14="http://schemas.microsoft.com/office/powerpoint/2010/main" val="8834853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dirty="0">
                <a:ea typeface="ＭＳ Ｐゴシック" pitchFamily="34" charset="-128"/>
              </a:rPr>
              <a:t>Concurrency Control</a:t>
            </a:r>
            <a:endParaRPr lang="en-IN" dirty="0"/>
          </a:p>
        </p:txBody>
      </p:sp>
      <p:sp>
        <p:nvSpPr>
          <p:cNvPr id="3" name="Content Placeholder 2"/>
          <p:cNvSpPr>
            <a:spLocks noGrp="1"/>
          </p:cNvSpPr>
          <p:nvPr>
            <p:ph idx="1"/>
          </p:nvPr>
        </p:nvSpPr>
        <p:spPr>
          <a:xfrm>
            <a:off x="457200" y="1600200"/>
            <a:ext cx="8229600" cy="4781128"/>
          </a:xfrm>
        </p:spPr>
        <p:txBody>
          <a:bodyPr>
            <a:normAutofit/>
          </a:bodyPr>
          <a:lstStyle/>
          <a:p>
            <a:pPr algn="just"/>
            <a:r>
              <a:rPr lang="en-US" sz="2800" dirty="0">
                <a:latin typeface="Times New Roman" pitchFamily="18" charset="0"/>
                <a:cs typeface="Times New Roman" pitchFamily="18" charset="0"/>
              </a:rPr>
              <a:t>Concurrency control is the procedure in DBMS for managing simultaneous operations without conflicting with each another.</a:t>
            </a:r>
          </a:p>
          <a:p>
            <a:pPr algn="just"/>
            <a:r>
              <a:rPr lang="en-US" sz="2800" dirty="0">
                <a:latin typeface="Times New Roman" pitchFamily="18" charset="0"/>
                <a:ea typeface="ＭＳ Ｐゴシック" pitchFamily="34" charset="-128"/>
                <a:cs typeface="Times New Roman" pitchFamily="18" charset="0"/>
              </a:rPr>
              <a:t>It </a:t>
            </a:r>
            <a:r>
              <a:rPr lang="en-US" sz="2800" dirty="0">
                <a:latin typeface="Times New Roman" pitchFamily="18" charset="0"/>
                <a:cs typeface="Times New Roman" pitchFamily="18" charset="0"/>
              </a:rPr>
              <a:t>is quite easy if all users are just reading data.</a:t>
            </a:r>
          </a:p>
          <a:p>
            <a:pPr algn="just"/>
            <a:r>
              <a:rPr lang="en-US" sz="2800" dirty="0">
                <a:latin typeface="Times New Roman" pitchFamily="18" charset="0"/>
                <a:cs typeface="Times New Roman" pitchFamily="18" charset="0"/>
              </a:rPr>
              <a:t>It is used to address such conflicts which mostly occur with a multi-user system.</a:t>
            </a:r>
          </a:p>
          <a:p>
            <a:pPr algn="just"/>
            <a:r>
              <a:rPr lang="en-US" sz="2800" dirty="0">
                <a:latin typeface="Times New Roman" pitchFamily="18" charset="0"/>
                <a:cs typeface="Times New Roman" pitchFamily="18" charset="0"/>
              </a:rPr>
              <a:t>It helps to make sure that database transactions are performed concurrently without violating the data integrity of respective databases. </a:t>
            </a:r>
            <a:endParaRPr lang="en-US" sz="2700" dirty="0">
              <a:latin typeface="Times New Roman" pitchFamily="18" charset="0"/>
              <a:ea typeface="ＭＳ Ｐゴシック" pitchFamily="34" charset="-128"/>
              <a:cs typeface="Times New Roman" pitchFamily="18" charset="0"/>
            </a:endParaRPr>
          </a:p>
        </p:txBody>
      </p:sp>
      <p:sp>
        <p:nvSpPr>
          <p:cNvPr id="4" name="Slide Number Placeholder 3">
            <a:extLst>
              <a:ext uri="{FF2B5EF4-FFF2-40B4-BE49-F238E27FC236}">
                <a16:creationId xmlns:a16="http://schemas.microsoft.com/office/drawing/2014/main" id="{91B26FDD-3045-1D20-0D4C-0785A662F8A3}"/>
              </a:ext>
            </a:extLst>
          </p:cNvPr>
          <p:cNvSpPr>
            <a:spLocks noGrp="1"/>
          </p:cNvSpPr>
          <p:nvPr>
            <p:ph type="sldNum" sz="quarter" idx="12"/>
          </p:nvPr>
        </p:nvSpPr>
        <p:spPr/>
        <p:txBody>
          <a:bodyPr/>
          <a:lstStyle/>
          <a:p>
            <a:fld id="{F8EF2FF5-BD00-45B8-A71A-EAE2607F0774}" type="slidenum">
              <a:rPr lang="en-IN" smtClean="0"/>
              <a:t>3</a:t>
            </a:fld>
            <a:endParaRPr lang="en-IN"/>
          </a:p>
        </p:txBody>
      </p:sp>
    </p:spTree>
    <p:extLst>
      <p:ext uri="{BB962C8B-B14F-4D97-AF65-F5344CB8AC3E}">
        <p14:creationId xmlns:p14="http://schemas.microsoft.com/office/powerpoint/2010/main" val="36230293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endParaRPr lang="en-IN"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980728"/>
            <a:ext cx="8352928" cy="4968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827584" y="5805264"/>
            <a:ext cx="7560840" cy="369332"/>
          </a:xfrm>
          <a:prstGeom prst="rect">
            <a:avLst/>
          </a:prstGeom>
          <a:noFill/>
        </p:spPr>
        <p:txBody>
          <a:bodyPr wrap="square" rtlCol="0">
            <a:spAutoFit/>
          </a:bodyPr>
          <a:lstStyle/>
          <a:p>
            <a:r>
              <a:rPr lang="en-US" dirty="0"/>
              <a:t>                   Lost Update Problem                                   Temporary Update Problem</a:t>
            </a:r>
            <a:endParaRPr lang="en-IN" dirty="0"/>
          </a:p>
        </p:txBody>
      </p:sp>
      <p:sp>
        <p:nvSpPr>
          <p:cNvPr id="3" name="Slide Number Placeholder 2">
            <a:extLst>
              <a:ext uri="{FF2B5EF4-FFF2-40B4-BE49-F238E27FC236}">
                <a16:creationId xmlns:a16="http://schemas.microsoft.com/office/drawing/2014/main" id="{516E2E1F-97EC-00ED-39BA-6BE79D43E982}"/>
              </a:ext>
            </a:extLst>
          </p:cNvPr>
          <p:cNvSpPr>
            <a:spLocks noGrp="1"/>
          </p:cNvSpPr>
          <p:nvPr>
            <p:ph type="sldNum" sz="quarter" idx="12"/>
          </p:nvPr>
        </p:nvSpPr>
        <p:spPr/>
        <p:txBody>
          <a:bodyPr/>
          <a:lstStyle/>
          <a:p>
            <a:fld id="{F8EF2FF5-BD00-45B8-A71A-EAE2607F0774}" type="slidenum">
              <a:rPr lang="en-IN" smtClean="0"/>
              <a:t>4</a:t>
            </a:fld>
            <a:endParaRPr lang="en-IN"/>
          </a:p>
        </p:txBody>
      </p:sp>
    </p:spTree>
    <p:extLst>
      <p:ext uri="{BB962C8B-B14F-4D97-AF65-F5344CB8AC3E}">
        <p14:creationId xmlns:p14="http://schemas.microsoft.com/office/powerpoint/2010/main" val="42341299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lstStyle/>
          <a:p>
            <a:endParaRPr lang="en-IN"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772166"/>
            <a:ext cx="9001000" cy="50429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Slide Number Placeholder 3">
            <a:extLst>
              <a:ext uri="{FF2B5EF4-FFF2-40B4-BE49-F238E27FC236}">
                <a16:creationId xmlns:a16="http://schemas.microsoft.com/office/drawing/2014/main" id="{17F5076D-D668-4662-AA03-B47D44694D6E}"/>
              </a:ext>
            </a:extLst>
          </p:cNvPr>
          <p:cNvSpPr>
            <a:spLocks noGrp="1"/>
          </p:cNvSpPr>
          <p:nvPr>
            <p:ph type="sldNum" sz="quarter" idx="12"/>
          </p:nvPr>
        </p:nvSpPr>
        <p:spPr/>
        <p:txBody>
          <a:bodyPr/>
          <a:lstStyle/>
          <a:p>
            <a:fld id="{F8EF2FF5-BD00-45B8-A71A-EAE2607F0774}" type="slidenum">
              <a:rPr lang="en-IN" smtClean="0"/>
              <a:t>5</a:t>
            </a:fld>
            <a:endParaRPr lang="en-IN"/>
          </a:p>
        </p:txBody>
      </p:sp>
    </p:spTree>
    <p:extLst>
      <p:ext uri="{BB962C8B-B14F-4D97-AF65-F5344CB8AC3E}">
        <p14:creationId xmlns:p14="http://schemas.microsoft.com/office/powerpoint/2010/main" val="12653980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p:cNvSpPr>
            <a:spLocks noGrp="1" noChangeArrowheads="1"/>
          </p:cNvSpPr>
          <p:nvPr>
            <p:ph idx="1"/>
          </p:nvPr>
        </p:nvSpPr>
        <p:spPr>
          <a:xfrm>
            <a:off x="683568" y="620688"/>
            <a:ext cx="7772400" cy="5832648"/>
          </a:xfrm>
        </p:spPr>
        <p:txBody>
          <a:bodyPr>
            <a:noAutofit/>
          </a:bodyPr>
          <a:lstStyle/>
          <a:p>
            <a:pPr algn="just" eaLnBrk="1" hangingPunct="1">
              <a:lnSpc>
                <a:spcPct val="90000"/>
              </a:lnSpc>
            </a:pPr>
            <a:r>
              <a:rPr lang="en-US" sz="2800" dirty="0"/>
              <a:t>1   </a:t>
            </a:r>
            <a:r>
              <a:rPr lang="en-US" sz="2800" b="1" dirty="0">
                <a:solidFill>
                  <a:srgbClr val="FF0000"/>
                </a:solidFill>
              </a:rPr>
              <a:t>Purpose of Concurrency Control</a:t>
            </a:r>
          </a:p>
          <a:p>
            <a:pPr lvl="1" algn="just" eaLnBrk="1" hangingPunct="1">
              <a:lnSpc>
                <a:spcPct val="90000"/>
              </a:lnSpc>
            </a:pPr>
            <a:r>
              <a:rPr lang="en-US" sz="2800" dirty="0"/>
              <a:t>To enforce Isolation (through mutual exclusion) among conflicting transactions. </a:t>
            </a:r>
          </a:p>
          <a:p>
            <a:pPr lvl="1" algn="just" eaLnBrk="1" hangingPunct="1">
              <a:lnSpc>
                <a:spcPct val="90000"/>
              </a:lnSpc>
            </a:pPr>
            <a:r>
              <a:rPr lang="en-US" sz="2800" dirty="0"/>
              <a:t>To preserve database consistency through consistency preserving execution of transactions.</a:t>
            </a:r>
          </a:p>
          <a:p>
            <a:pPr lvl="1" algn="just" eaLnBrk="1" hangingPunct="1">
              <a:lnSpc>
                <a:spcPct val="90000"/>
              </a:lnSpc>
            </a:pPr>
            <a:r>
              <a:rPr lang="en-US" sz="2800" dirty="0"/>
              <a:t>To resolve read-write and write-write conflicts.</a:t>
            </a:r>
          </a:p>
          <a:p>
            <a:pPr lvl="1" algn="just" eaLnBrk="1" hangingPunct="1">
              <a:lnSpc>
                <a:spcPct val="90000"/>
              </a:lnSpc>
            </a:pPr>
            <a:endParaRPr lang="en-US" sz="2800" dirty="0"/>
          </a:p>
          <a:p>
            <a:pPr algn="just" eaLnBrk="1" hangingPunct="1">
              <a:lnSpc>
                <a:spcPct val="90000"/>
              </a:lnSpc>
            </a:pPr>
            <a:r>
              <a:rPr lang="en-US" sz="2800" dirty="0"/>
              <a:t>Example: </a:t>
            </a:r>
          </a:p>
          <a:p>
            <a:pPr lvl="1" algn="just" eaLnBrk="1" hangingPunct="1">
              <a:lnSpc>
                <a:spcPct val="90000"/>
              </a:lnSpc>
            </a:pPr>
            <a:r>
              <a:rPr lang="en-US" sz="2800" dirty="0"/>
              <a:t>In concurrent execution environment if T1 conflicts with T2 over a data item A, then the existing concurrency control decides if T1 or T2 should get the A and if the other transaction is rolled-back or waits.  </a:t>
            </a:r>
          </a:p>
        </p:txBody>
      </p:sp>
      <p:sp>
        <p:nvSpPr>
          <p:cNvPr id="2" name="Slide Number Placeholder 1">
            <a:extLst>
              <a:ext uri="{FF2B5EF4-FFF2-40B4-BE49-F238E27FC236}">
                <a16:creationId xmlns:a16="http://schemas.microsoft.com/office/drawing/2014/main" id="{8C002D9A-8DB7-7F6B-8DD6-40C0CE27675E}"/>
              </a:ext>
            </a:extLst>
          </p:cNvPr>
          <p:cNvSpPr>
            <a:spLocks noGrp="1"/>
          </p:cNvSpPr>
          <p:nvPr>
            <p:ph type="sldNum" sz="quarter" idx="12"/>
          </p:nvPr>
        </p:nvSpPr>
        <p:spPr/>
        <p:txBody>
          <a:bodyPr/>
          <a:lstStyle/>
          <a:p>
            <a:fld id="{F8EF2FF5-BD00-45B8-A71A-EAE2607F0774}" type="slidenum">
              <a:rPr lang="en-IN" smtClean="0"/>
              <a:t>6</a:t>
            </a:fld>
            <a:endParaRPr lang="en-IN"/>
          </a:p>
        </p:txBody>
      </p:sp>
    </p:spTree>
    <p:extLst>
      <p:ext uri="{BB962C8B-B14F-4D97-AF65-F5344CB8AC3E}">
        <p14:creationId xmlns:p14="http://schemas.microsoft.com/office/powerpoint/2010/main" val="22117854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Potential problems of Concurrency </a:t>
            </a:r>
            <a:endParaRPr lang="en-IN" dirty="0"/>
          </a:p>
        </p:txBody>
      </p:sp>
      <p:sp>
        <p:nvSpPr>
          <p:cNvPr id="3" name="Content Placeholder 2"/>
          <p:cNvSpPr>
            <a:spLocks noGrp="1"/>
          </p:cNvSpPr>
          <p:nvPr>
            <p:ph idx="1"/>
          </p:nvPr>
        </p:nvSpPr>
        <p:spPr/>
        <p:txBody>
          <a:bodyPr>
            <a:normAutofit/>
          </a:bodyPr>
          <a:lstStyle/>
          <a:p>
            <a:r>
              <a:rPr lang="en-US" sz="2000" dirty="0">
                <a:latin typeface="Times New Roman" pitchFamily="18" charset="0"/>
                <a:cs typeface="Times New Roman" pitchFamily="18" charset="0"/>
              </a:rPr>
              <a:t>Here, are some issues which you will likely to face while using the Concurrency Control method:</a:t>
            </a:r>
          </a:p>
          <a:p>
            <a:r>
              <a:rPr lang="en-US" sz="2000" b="1" dirty="0">
                <a:solidFill>
                  <a:srgbClr val="FF0000"/>
                </a:solidFill>
                <a:latin typeface="Times New Roman" pitchFamily="18" charset="0"/>
                <a:cs typeface="Times New Roman" pitchFamily="18" charset="0"/>
              </a:rPr>
              <a:t>Lost Updates </a:t>
            </a:r>
            <a:r>
              <a:rPr lang="en-US" sz="2000" dirty="0">
                <a:latin typeface="Times New Roman" pitchFamily="18" charset="0"/>
                <a:cs typeface="Times New Roman" pitchFamily="18" charset="0"/>
              </a:rPr>
              <a:t>occur when multiple transactions select the same row and update the row based on the value selected</a:t>
            </a:r>
          </a:p>
          <a:p>
            <a:r>
              <a:rPr lang="en-US" sz="2000" b="1" dirty="0">
                <a:solidFill>
                  <a:srgbClr val="FF0000"/>
                </a:solidFill>
                <a:latin typeface="Times New Roman" pitchFamily="18" charset="0"/>
                <a:cs typeface="Times New Roman" pitchFamily="18" charset="0"/>
              </a:rPr>
              <a:t>Uncommitted dependency </a:t>
            </a:r>
            <a:r>
              <a:rPr lang="en-US" sz="2000" dirty="0">
                <a:latin typeface="Times New Roman" pitchFamily="18" charset="0"/>
                <a:cs typeface="Times New Roman" pitchFamily="18" charset="0"/>
              </a:rPr>
              <a:t>issue occurs when the second transaction selects a row which is updated by another transaction (dirty read)</a:t>
            </a:r>
          </a:p>
          <a:p>
            <a:r>
              <a:rPr lang="en-US" sz="2000" b="1" dirty="0">
                <a:solidFill>
                  <a:srgbClr val="FF0000"/>
                </a:solidFill>
                <a:latin typeface="Times New Roman" pitchFamily="18" charset="0"/>
                <a:cs typeface="Times New Roman" pitchFamily="18" charset="0"/>
              </a:rPr>
              <a:t>Non-Repeatable Read </a:t>
            </a:r>
            <a:r>
              <a:rPr lang="en-US" sz="2000" dirty="0">
                <a:latin typeface="Times New Roman" pitchFamily="18" charset="0"/>
                <a:cs typeface="Times New Roman" pitchFamily="18" charset="0"/>
              </a:rPr>
              <a:t>occurs when a second transaction is trying to access the same row several times and reads different data each time.</a:t>
            </a:r>
          </a:p>
          <a:p>
            <a:r>
              <a:rPr lang="en-US" sz="2000" b="1" dirty="0">
                <a:solidFill>
                  <a:srgbClr val="FF0000"/>
                </a:solidFill>
                <a:latin typeface="Times New Roman" pitchFamily="18" charset="0"/>
                <a:cs typeface="Times New Roman" pitchFamily="18" charset="0"/>
              </a:rPr>
              <a:t>Incorrect Summary </a:t>
            </a:r>
            <a:r>
              <a:rPr lang="en-US" sz="2000" dirty="0">
                <a:latin typeface="Times New Roman" pitchFamily="18" charset="0"/>
                <a:cs typeface="Times New Roman" pitchFamily="18" charset="0"/>
              </a:rPr>
              <a:t>issue occurs when one transaction takes summary over the value of all the instances of a repeated data-item, and second transaction update few instances of that specific data-item. In that situation, the resulting summary does not reflect a correct result. </a:t>
            </a:r>
            <a:endParaRPr lang="en-IN" sz="2000" dirty="0">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DB0E2853-4F98-AB50-D3E3-206752000E5D}"/>
              </a:ext>
            </a:extLst>
          </p:cNvPr>
          <p:cNvSpPr>
            <a:spLocks noGrp="1"/>
          </p:cNvSpPr>
          <p:nvPr>
            <p:ph type="sldNum" sz="quarter" idx="12"/>
          </p:nvPr>
        </p:nvSpPr>
        <p:spPr/>
        <p:txBody>
          <a:bodyPr/>
          <a:lstStyle/>
          <a:p>
            <a:fld id="{F8EF2FF5-BD00-45B8-A71A-EAE2607F0774}" type="slidenum">
              <a:rPr lang="en-IN" smtClean="0"/>
              <a:t>7</a:t>
            </a:fld>
            <a:endParaRPr lang="en-IN"/>
          </a:p>
        </p:txBody>
      </p:sp>
    </p:spTree>
    <p:extLst>
      <p:ext uri="{BB962C8B-B14F-4D97-AF65-F5344CB8AC3E}">
        <p14:creationId xmlns:p14="http://schemas.microsoft.com/office/powerpoint/2010/main" val="35906569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Why use Concurrency method?</a:t>
            </a:r>
            <a:endParaRPr lang="en-IN" dirty="0"/>
          </a:p>
        </p:txBody>
      </p:sp>
      <p:sp>
        <p:nvSpPr>
          <p:cNvPr id="3" name="Content Placeholder 2"/>
          <p:cNvSpPr>
            <a:spLocks noGrp="1"/>
          </p:cNvSpPr>
          <p:nvPr>
            <p:ph idx="1"/>
          </p:nvPr>
        </p:nvSpPr>
        <p:spPr/>
        <p:txBody>
          <a:bodyPr>
            <a:normAutofit fontScale="92500" lnSpcReduction="10000"/>
          </a:bodyPr>
          <a:lstStyle/>
          <a:p>
            <a:r>
              <a:rPr lang="en-US" dirty="0">
                <a:latin typeface="Times New Roman" pitchFamily="18" charset="0"/>
                <a:cs typeface="Times New Roman" pitchFamily="18" charset="0"/>
              </a:rPr>
              <a:t>Reasons for using Concurrency control method is DBMS:</a:t>
            </a:r>
          </a:p>
          <a:p>
            <a:pPr lvl="1"/>
            <a:r>
              <a:rPr lang="en-US" dirty="0">
                <a:latin typeface="Times New Roman" pitchFamily="18" charset="0"/>
                <a:cs typeface="Times New Roman" pitchFamily="18" charset="0"/>
              </a:rPr>
              <a:t>To apply Isolation through mutual exclusion between conflicting transactions</a:t>
            </a:r>
          </a:p>
          <a:p>
            <a:pPr lvl="1"/>
            <a:r>
              <a:rPr lang="en-US" dirty="0">
                <a:latin typeface="Times New Roman" pitchFamily="18" charset="0"/>
                <a:cs typeface="Times New Roman" pitchFamily="18" charset="0"/>
              </a:rPr>
              <a:t>To resolve read-write and write-write conflict issues</a:t>
            </a:r>
          </a:p>
          <a:p>
            <a:pPr lvl="1"/>
            <a:r>
              <a:rPr lang="en-US" dirty="0">
                <a:latin typeface="Times New Roman" pitchFamily="18" charset="0"/>
                <a:cs typeface="Times New Roman" pitchFamily="18" charset="0"/>
              </a:rPr>
              <a:t>To preserve database consistency through constantly preserving execution obstructions</a:t>
            </a:r>
          </a:p>
          <a:p>
            <a:pPr lvl="1"/>
            <a:r>
              <a:rPr lang="en-US" dirty="0">
                <a:latin typeface="Times New Roman" pitchFamily="18" charset="0"/>
                <a:cs typeface="Times New Roman" pitchFamily="18" charset="0"/>
              </a:rPr>
              <a:t>The system needs to control the interaction among the concurrent transactions. This control is achieved using concurrent-control schemes.</a:t>
            </a:r>
          </a:p>
          <a:p>
            <a:pPr lvl="1"/>
            <a:r>
              <a:rPr lang="en-US" dirty="0">
                <a:latin typeface="Times New Roman" pitchFamily="18" charset="0"/>
                <a:cs typeface="Times New Roman" pitchFamily="18" charset="0"/>
              </a:rPr>
              <a:t>Concurrency control helps to ensure serializability.</a:t>
            </a:r>
          </a:p>
          <a:p>
            <a:endParaRPr lang="en-IN" dirty="0">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90C14E76-073B-65BB-694B-623F60AC7911}"/>
              </a:ext>
            </a:extLst>
          </p:cNvPr>
          <p:cNvSpPr>
            <a:spLocks noGrp="1"/>
          </p:cNvSpPr>
          <p:nvPr>
            <p:ph type="sldNum" sz="quarter" idx="12"/>
          </p:nvPr>
        </p:nvSpPr>
        <p:spPr/>
        <p:txBody>
          <a:bodyPr/>
          <a:lstStyle/>
          <a:p>
            <a:fld id="{F8EF2FF5-BD00-45B8-A71A-EAE2607F0774}" type="slidenum">
              <a:rPr lang="en-IN" smtClean="0"/>
              <a:t>8</a:t>
            </a:fld>
            <a:endParaRPr lang="en-IN"/>
          </a:p>
        </p:txBody>
      </p:sp>
    </p:spTree>
    <p:extLst>
      <p:ext uri="{BB962C8B-B14F-4D97-AF65-F5344CB8AC3E}">
        <p14:creationId xmlns:p14="http://schemas.microsoft.com/office/powerpoint/2010/main" val="32868604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Concurrency Control Protocols</a:t>
            </a:r>
            <a:endParaRPr lang="en-IN" dirty="0"/>
          </a:p>
        </p:txBody>
      </p:sp>
      <p:sp>
        <p:nvSpPr>
          <p:cNvPr id="3" name="Content Placeholder 2"/>
          <p:cNvSpPr>
            <a:spLocks noGrp="1"/>
          </p:cNvSpPr>
          <p:nvPr>
            <p:ph idx="1"/>
          </p:nvPr>
        </p:nvSpPr>
        <p:spPr/>
        <p:txBody>
          <a:bodyPr/>
          <a:lstStyle/>
          <a:p>
            <a:r>
              <a:rPr lang="en-US" dirty="0">
                <a:solidFill>
                  <a:schemeClr val="accent2">
                    <a:lumMod val="60000"/>
                    <a:lumOff val="40000"/>
                  </a:schemeClr>
                </a:solidFill>
                <a:latin typeface="Times New Roman" pitchFamily="18" charset="0"/>
                <a:cs typeface="Times New Roman" pitchFamily="18" charset="0"/>
              </a:rPr>
              <a:t>Lock-Based Protocols </a:t>
            </a:r>
          </a:p>
          <a:p>
            <a:r>
              <a:rPr lang="en-US" dirty="0">
                <a:solidFill>
                  <a:schemeClr val="accent2">
                    <a:lumMod val="60000"/>
                    <a:lumOff val="40000"/>
                  </a:schemeClr>
                </a:solidFill>
                <a:latin typeface="Times New Roman" pitchFamily="18" charset="0"/>
                <a:cs typeface="Times New Roman" pitchFamily="18" charset="0"/>
              </a:rPr>
              <a:t>Two Phase Protocols</a:t>
            </a:r>
          </a:p>
          <a:p>
            <a:r>
              <a:rPr lang="en-US" dirty="0">
                <a:solidFill>
                  <a:schemeClr val="accent2">
                    <a:lumMod val="60000"/>
                    <a:lumOff val="40000"/>
                  </a:schemeClr>
                </a:solidFill>
                <a:latin typeface="Times New Roman" pitchFamily="18" charset="0"/>
                <a:cs typeface="Times New Roman" pitchFamily="18" charset="0"/>
              </a:rPr>
              <a:t>Timestamp-Based Protocols </a:t>
            </a:r>
          </a:p>
          <a:p>
            <a:r>
              <a:rPr lang="en-US" dirty="0">
                <a:solidFill>
                  <a:schemeClr val="accent2">
                    <a:lumMod val="60000"/>
                    <a:lumOff val="40000"/>
                  </a:schemeClr>
                </a:solidFill>
                <a:latin typeface="Times New Roman" pitchFamily="18" charset="0"/>
                <a:cs typeface="Times New Roman" pitchFamily="18" charset="0"/>
              </a:rPr>
              <a:t>Validation-Based Protocols </a:t>
            </a:r>
          </a:p>
        </p:txBody>
      </p:sp>
      <p:sp>
        <p:nvSpPr>
          <p:cNvPr id="4" name="Slide Number Placeholder 3">
            <a:extLst>
              <a:ext uri="{FF2B5EF4-FFF2-40B4-BE49-F238E27FC236}">
                <a16:creationId xmlns:a16="http://schemas.microsoft.com/office/drawing/2014/main" id="{A552E6FA-5A14-BF81-FE94-1CAD5E01EA4B}"/>
              </a:ext>
            </a:extLst>
          </p:cNvPr>
          <p:cNvSpPr>
            <a:spLocks noGrp="1"/>
          </p:cNvSpPr>
          <p:nvPr>
            <p:ph type="sldNum" sz="quarter" idx="12"/>
          </p:nvPr>
        </p:nvSpPr>
        <p:spPr/>
        <p:txBody>
          <a:bodyPr/>
          <a:lstStyle/>
          <a:p>
            <a:fld id="{F8EF2FF5-BD00-45B8-A71A-EAE2607F0774}" type="slidenum">
              <a:rPr lang="en-IN" smtClean="0"/>
              <a:t>9</a:t>
            </a:fld>
            <a:endParaRPr lang="en-IN"/>
          </a:p>
        </p:txBody>
      </p:sp>
    </p:spTree>
    <p:extLst>
      <p:ext uri="{BB962C8B-B14F-4D97-AF65-F5344CB8AC3E}">
        <p14:creationId xmlns:p14="http://schemas.microsoft.com/office/powerpoint/2010/main" val="9118027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latin typeface="Times New Roman" pitchFamily="18" charset="0"/>
                <a:cs typeface="Times New Roman" pitchFamily="18" charset="0"/>
              </a:rPr>
              <a:t>Lock-Based Protocols </a:t>
            </a:r>
            <a:endParaRPr lang="en-IN" dirty="0"/>
          </a:p>
        </p:txBody>
      </p:sp>
      <p:sp>
        <p:nvSpPr>
          <p:cNvPr id="3" name="Content Placeholder 2"/>
          <p:cNvSpPr>
            <a:spLocks noGrp="1"/>
          </p:cNvSpPr>
          <p:nvPr>
            <p:ph idx="1"/>
          </p:nvPr>
        </p:nvSpPr>
        <p:spPr/>
        <p:txBody>
          <a:bodyPr>
            <a:normAutofit fontScale="92500" lnSpcReduction="10000"/>
          </a:bodyPr>
          <a:lstStyle/>
          <a:p>
            <a:pPr algn="just">
              <a:spcAft>
                <a:spcPts val="600"/>
              </a:spcAft>
            </a:pPr>
            <a:r>
              <a:rPr lang="en-US" dirty="0">
                <a:latin typeface="Times New Roman" pitchFamily="18" charset="0"/>
                <a:cs typeface="Times New Roman" pitchFamily="18" charset="0"/>
              </a:rPr>
              <a:t>A lock is a data variable which is associated with a data item.</a:t>
            </a:r>
          </a:p>
          <a:p>
            <a:pPr algn="just">
              <a:spcAft>
                <a:spcPts val="600"/>
              </a:spcAft>
            </a:pPr>
            <a:r>
              <a:rPr lang="en-US" dirty="0">
                <a:latin typeface="Times New Roman" pitchFamily="18" charset="0"/>
                <a:cs typeface="Times New Roman" pitchFamily="18" charset="0"/>
              </a:rPr>
              <a:t>This lock signifies that operations that can be performed on the data item.</a:t>
            </a:r>
          </a:p>
          <a:p>
            <a:pPr algn="just">
              <a:spcAft>
                <a:spcPts val="600"/>
              </a:spcAft>
            </a:pPr>
            <a:r>
              <a:rPr lang="en-US" dirty="0">
                <a:latin typeface="Times New Roman" pitchFamily="18" charset="0"/>
                <a:cs typeface="Times New Roman" pitchFamily="18" charset="0"/>
              </a:rPr>
              <a:t>Locks help synchronize access to the database items by concurrent transactions. </a:t>
            </a:r>
          </a:p>
          <a:p>
            <a:pPr algn="just">
              <a:spcAft>
                <a:spcPts val="600"/>
              </a:spcAft>
            </a:pPr>
            <a:r>
              <a:rPr lang="en-US" dirty="0">
                <a:latin typeface="Times New Roman" pitchFamily="18" charset="0"/>
                <a:cs typeface="Times New Roman" pitchFamily="18" charset="0"/>
              </a:rPr>
              <a:t>All lock requests are made to the concurrency-control manager. Transactions proceed only once the lock request is granted. </a:t>
            </a:r>
            <a:endParaRPr lang="en-IN" dirty="0">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4E3381FD-3EEB-CBFF-92B6-8902A05D9AFA}"/>
              </a:ext>
            </a:extLst>
          </p:cNvPr>
          <p:cNvSpPr>
            <a:spLocks noGrp="1"/>
          </p:cNvSpPr>
          <p:nvPr>
            <p:ph type="sldNum" sz="quarter" idx="12"/>
          </p:nvPr>
        </p:nvSpPr>
        <p:spPr/>
        <p:txBody>
          <a:bodyPr/>
          <a:lstStyle/>
          <a:p>
            <a:fld id="{F8EF2FF5-BD00-45B8-A71A-EAE2607F0774}" type="slidenum">
              <a:rPr lang="en-IN" smtClean="0"/>
              <a:t>10</a:t>
            </a:fld>
            <a:endParaRPr lang="en-IN"/>
          </a:p>
        </p:txBody>
      </p:sp>
    </p:spTree>
    <p:extLst>
      <p:ext uri="{BB962C8B-B14F-4D97-AF65-F5344CB8AC3E}">
        <p14:creationId xmlns:p14="http://schemas.microsoft.com/office/powerpoint/2010/main" val="25151928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algn="just"/>
            <a:r>
              <a:rPr lang="en-IN" b="1" dirty="0">
                <a:latin typeface="Times New Roman" pitchFamily="18" charset="0"/>
                <a:cs typeface="Times New Roman" pitchFamily="18" charset="0"/>
              </a:rPr>
              <a:t>Simplistic Lock Protocol: </a:t>
            </a:r>
            <a:r>
              <a:rPr lang="en-US" dirty="0">
                <a:latin typeface="Times New Roman" pitchFamily="18" charset="0"/>
                <a:cs typeface="Times New Roman" pitchFamily="18" charset="0"/>
              </a:rPr>
              <a:t>This type of lock-based protocols allows transactions to obtain a lock on every object before beginning operation. Transactions may unlock the data item after finishing the 'write' operation. </a:t>
            </a:r>
            <a:endParaRPr lang="en-IN" dirty="0">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6ABFE59C-0FD0-5996-7DD1-F228E2ACE4A3}"/>
              </a:ext>
            </a:extLst>
          </p:cNvPr>
          <p:cNvSpPr>
            <a:spLocks noGrp="1"/>
          </p:cNvSpPr>
          <p:nvPr>
            <p:ph type="sldNum" sz="quarter" idx="12"/>
          </p:nvPr>
        </p:nvSpPr>
        <p:spPr/>
        <p:txBody>
          <a:bodyPr/>
          <a:lstStyle/>
          <a:p>
            <a:fld id="{F8EF2FF5-BD00-45B8-A71A-EAE2607F0774}" type="slidenum">
              <a:rPr lang="en-IN" smtClean="0"/>
              <a:t>11</a:t>
            </a:fld>
            <a:endParaRPr lang="en-IN"/>
          </a:p>
        </p:txBody>
      </p:sp>
    </p:spTree>
    <p:extLst>
      <p:ext uri="{BB962C8B-B14F-4D97-AF65-F5344CB8AC3E}">
        <p14:creationId xmlns:p14="http://schemas.microsoft.com/office/powerpoint/2010/main" val="22138139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Lock Based Protocol</a:t>
            </a:r>
            <a:endParaRPr lang="en-IN" dirty="0"/>
          </a:p>
        </p:txBody>
      </p:sp>
      <p:sp>
        <p:nvSpPr>
          <p:cNvPr id="3" name="Content Placeholder 2"/>
          <p:cNvSpPr>
            <a:spLocks noGrp="1"/>
          </p:cNvSpPr>
          <p:nvPr>
            <p:ph idx="1"/>
          </p:nvPr>
        </p:nvSpPr>
        <p:spPr/>
        <p:txBody>
          <a:bodyPr>
            <a:normAutofit fontScale="92500" lnSpcReduction="10000"/>
          </a:bodyPr>
          <a:lstStyle/>
          <a:p>
            <a:r>
              <a:rPr lang="en-US" b="1" dirty="0">
                <a:solidFill>
                  <a:schemeClr val="accent2">
                    <a:lumMod val="60000"/>
                    <a:lumOff val="40000"/>
                  </a:schemeClr>
                </a:solidFill>
                <a:latin typeface="Times New Roman" pitchFamily="18" charset="0"/>
                <a:cs typeface="Times New Roman" pitchFamily="18" charset="0"/>
              </a:rPr>
              <a:t>Binary Locks: </a:t>
            </a:r>
            <a:r>
              <a:rPr lang="en-US" dirty="0">
                <a:latin typeface="Times New Roman" pitchFamily="18" charset="0"/>
                <a:cs typeface="Times New Roman" pitchFamily="18" charset="0"/>
              </a:rPr>
              <a:t>A Binary lock on a data item can either locked or unlocked states. </a:t>
            </a:r>
          </a:p>
          <a:p>
            <a:r>
              <a:rPr lang="en-US" b="1" dirty="0">
                <a:solidFill>
                  <a:schemeClr val="accent2">
                    <a:lumMod val="60000"/>
                    <a:lumOff val="40000"/>
                  </a:schemeClr>
                </a:solidFill>
                <a:latin typeface="Times New Roman" pitchFamily="18" charset="0"/>
                <a:cs typeface="Times New Roman" pitchFamily="18" charset="0"/>
              </a:rPr>
              <a:t>Shared Lock (S): </a:t>
            </a:r>
            <a:r>
              <a:rPr lang="en-US" dirty="0">
                <a:latin typeface="Times New Roman" pitchFamily="18" charset="0"/>
                <a:cs typeface="Times New Roman" pitchFamily="18" charset="0"/>
              </a:rPr>
              <a:t>A shared lock is also called a Read-only lock. With the shared lock, the data item can be shared between transactions.</a:t>
            </a:r>
          </a:p>
          <a:p>
            <a:r>
              <a:rPr lang="en-US" b="1" dirty="0">
                <a:solidFill>
                  <a:schemeClr val="accent2">
                    <a:lumMod val="60000"/>
                    <a:lumOff val="40000"/>
                  </a:schemeClr>
                </a:solidFill>
                <a:latin typeface="Times New Roman" pitchFamily="18" charset="0"/>
                <a:cs typeface="Times New Roman" pitchFamily="18" charset="0"/>
              </a:rPr>
              <a:t>Exclusive Lock (X):  </a:t>
            </a:r>
            <a:r>
              <a:rPr lang="en-US" dirty="0">
                <a:latin typeface="Times New Roman" pitchFamily="18" charset="0"/>
                <a:cs typeface="Times New Roman" pitchFamily="18" charset="0"/>
              </a:rPr>
              <a:t>With the Exclusive Lock, a data item can be read as well as written.</a:t>
            </a:r>
          </a:p>
          <a:p>
            <a:pPr lvl="1"/>
            <a:r>
              <a:rPr lang="en-US" dirty="0">
                <a:latin typeface="Times New Roman" pitchFamily="18" charset="0"/>
                <a:cs typeface="Times New Roman" pitchFamily="18" charset="0"/>
              </a:rPr>
              <a:t>X-lock is requested using lock-x instruction. </a:t>
            </a:r>
          </a:p>
          <a:p>
            <a:pPr lvl="1"/>
            <a:r>
              <a:rPr lang="en-US" dirty="0">
                <a:latin typeface="Times New Roman" pitchFamily="18" charset="0"/>
                <a:cs typeface="Times New Roman" pitchFamily="18" charset="0"/>
              </a:rPr>
              <a:t>Transactions may unlock the data item after finishing the 'write' operation. </a:t>
            </a:r>
          </a:p>
          <a:p>
            <a:endParaRPr lang="en-IN" dirty="0">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2D22D1E6-146F-94FC-30EE-0DC0A5F050AD}"/>
              </a:ext>
            </a:extLst>
          </p:cNvPr>
          <p:cNvSpPr>
            <a:spLocks noGrp="1"/>
          </p:cNvSpPr>
          <p:nvPr>
            <p:ph type="sldNum" sz="quarter" idx="12"/>
          </p:nvPr>
        </p:nvSpPr>
        <p:spPr/>
        <p:txBody>
          <a:bodyPr/>
          <a:lstStyle/>
          <a:p>
            <a:fld id="{F8EF2FF5-BD00-45B8-A71A-EAE2607F0774}" type="slidenum">
              <a:rPr lang="en-IN" smtClean="0"/>
              <a:t>12</a:t>
            </a:fld>
            <a:endParaRPr lang="en-IN"/>
          </a:p>
        </p:txBody>
      </p:sp>
    </p:spTree>
    <p:extLst>
      <p:ext uri="{BB962C8B-B14F-4D97-AF65-F5344CB8AC3E}">
        <p14:creationId xmlns:p14="http://schemas.microsoft.com/office/powerpoint/2010/main" val="34543672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Lock Compatibility Matrix</a:t>
            </a:r>
            <a:endParaRPr lang="en-IN" b="1" dirty="0"/>
          </a:p>
        </p:txBody>
      </p:sp>
      <p:graphicFrame>
        <p:nvGraphicFramePr>
          <p:cNvPr id="4" name="Content Placeholder 3"/>
          <p:cNvGraphicFramePr>
            <a:graphicFrameLocks noGrp="1" noChangeAspect="1"/>
          </p:cNvGraphicFramePr>
          <p:nvPr>
            <p:ph idx="1"/>
            <p:extLst>
              <p:ext uri="{D42A27DB-BD31-4B8C-83A1-F6EECF244321}">
                <p14:modId xmlns:p14="http://schemas.microsoft.com/office/powerpoint/2010/main" val="2272025641"/>
              </p:ext>
            </p:extLst>
          </p:nvPr>
        </p:nvGraphicFramePr>
        <p:xfrm>
          <a:off x="2914650" y="1844675"/>
          <a:ext cx="3457575" cy="3524250"/>
        </p:xfrm>
        <a:graphic>
          <a:graphicData uri="http://schemas.openxmlformats.org/presentationml/2006/ole">
            <mc:AlternateContent xmlns:mc="http://schemas.openxmlformats.org/markup-compatibility/2006">
              <mc:Choice xmlns:v="urn:schemas-microsoft-com:vml" Requires="v">
                <p:oleObj name="VISIO" r:id="rId2" imgW="1719072" imgH="1752600" progId="">
                  <p:embed/>
                </p:oleObj>
              </mc:Choice>
              <mc:Fallback>
                <p:oleObj name="VISIO" r:id="rId2" imgW="1719072" imgH="1752600" progId="">
                  <p:embed/>
                  <p:pic>
                    <p:nvPicPr>
                      <p:cNvPr id="0" name="Object 4"/>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4650" y="1844675"/>
                        <a:ext cx="3457575" cy="3524250"/>
                      </a:xfrm>
                      <a:prstGeom prst="rect">
                        <a:avLst/>
                      </a:prstGeom>
                      <a:noFill/>
                      <a:ln>
                        <a:noFill/>
                      </a:ln>
                      <a:effectLst/>
                    </p:spPr>
                  </p:pic>
                </p:oleObj>
              </mc:Fallback>
            </mc:AlternateContent>
          </a:graphicData>
        </a:graphic>
      </p:graphicFrame>
      <p:sp>
        <p:nvSpPr>
          <p:cNvPr id="3" name="Slide Number Placeholder 2">
            <a:extLst>
              <a:ext uri="{FF2B5EF4-FFF2-40B4-BE49-F238E27FC236}">
                <a16:creationId xmlns:a16="http://schemas.microsoft.com/office/drawing/2014/main" id="{C6873254-55F1-656D-E198-13CE28E6BA37}"/>
              </a:ext>
            </a:extLst>
          </p:cNvPr>
          <p:cNvSpPr>
            <a:spLocks noGrp="1"/>
          </p:cNvSpPr>
          <p:nvPr>
            <p:ph type="sldNum" sz="quarter" idx="12"/>
          </p:nvPr>
        </p:nvSpPr>
        <p:spPr/>
        <p:txBody>
          <a:bodyPr/>
          <a:lstStyle/>
          <a:p>
            <a:fld id="{F8EF2FF5-BD00-45B8-A71A-EAE2607F0774}" type="slidenum">
              <a:rPr lang="en-IN" smtClean="0"/>
              <a:t>13</a:t>
            </a:fld>
            <a:endParaRPr lang="en-IN"/>
          </a:p>
        </p:txBody>
      </p:sp>
    </p:spTree>
    <p:extLst>
      <p:ext uri="{BB962C8B-B14F-4D97-AF65-F5344CB8AC3E}">
        <p14:creationId xmlns:p14="http://schemas.microsoft.com/office/powerpoint/2010/main" val="36499738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274638"/>
            <a:ext cx="8291264" cy="1143000"/>
          </a:xfrm>
        </p:spPr>
        <p:txBody>
          <a:bodyPr>
            <a:normAutofit fontScale="90000"/>
          </a:bodyPr>
          <a:lstStyle/>
          <a:p>
            <a:pPr algn="ctr"/>
            <a:r>
              <a:rPr lang="en-US" b="1" dirty="0">
                <a:solidFill>
                  <a:srgbClr val="FF0000"/>
                </a:solidFill>
              </a:rPr>
              <a:t>Two-Phase Locking Techniques: Essential components</a:t>
            </a:r>
            <a:endParaRPr lang="en-IN" dirty="0"/>
          </a:p>
        </p:txBody>
      </p:sp>
      <p:graphicFrame>
        <p:nvGraphicFramePr>
          <p:cNvPr id="2050" name="Object 4"/>
          <p:cNvGraphicFramePr>
            <a:graphicFrameLocks noGrp="1" noChangeAspect="1"/>
          </p:cNvGraphicFramePr>
          <p:nvPr>
            <p:ph idx="1"/>
            <p:extLst>
              <p:ext uri="{D42A27DB-BD31-4B8C-83A1-F6EECF244321}">
                <p14:modId xmlns:p14="http://schemas.microsoft.com/office/powerpoint/2010/main" val="2840659354"/>
              </p:ext>
            </p:extLst>
          </p:nvPr>
        </p:nvGraphicFramePr>
        <p:xfrm>
          <a:off x="827584" y="5229200"/>
          <a:ext cx="7824787" cy="847725"/>
        </p:xfrm>
        <a:graphic>
          <a:graphicData uri="http://schemas.openxmlformats.org/presentationml/2006/ole">
            <mc:AlternateContent xmlns:mc="http://schemas.openxmlformats.org/markup-compatibility/2006">
              <mc:Choice xmlns:v="urn:schemas-microsoft-com:vml" Requires="v">
                <p:oleObj name="VISIO" r:id="rId3" imgW="5879880" imgH="636480" progId="">
                  <p:embed/>
                </p:oleObj>
              </mc:Choice>
              <mc:Fallback>
                <p:oleObj name="VISIO" r:id="rId3" imgW="5879880" imgH="636480"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584" y="5229200"/>
                        <a:ext cx="7824787" cy="847725"/>
                      </a:xfrm>
                      <a:prstGeom prst="rect">
                        <a:avLst/>
                      </a:prstGeom>
                      <a:noFill/>
                      <a:ln>
                        <a:noFill/>
                      </a:ln>
                      <a:effectLst/>
                    </p:spPr>
                  </p:pic>
                </p:oleObj>
              </mc:Fallback>
            </mc:AlternateContent>
          </a:graphicData>
        </a:graphic>
      </p:graphicFrame>
      <p:sp>
        <p:nvSpPr>
          <p:cNvPr id="2051" name="Slide Number Placeholder 3"/>
          <p:cNvSpPr>
            <a:spLocks noGrp="1"/>
          </p:cNvSpPr>
          <p:nvPr>
            <p:ph type="sldNum" sz="quarter" idx="12"/>
          </p:nvPr>
        </p:nvSpPr>
        <p:spPr>
          <a:noFill/>
        </p:spPr>
        <p:txBody>
          <a:bodyPr/>
          <a:lstStyle/>
          <a:p>
            <a:r>
              <a:rPr lang="en-US"/>
              <a:t>Slide 18- </a:t>
            </a:r>
            <a:fld id="{A649F801-A0D8-4F00-81CC-4B24530E5415}" type="slidenum">
              <a:rPr lang="en-US" smtClean="0"/>
              <a:pPr/>
              <a:t>14</a:t>
            </a:fld>
            <a:endParaRPr lang="en-CA"/>
          </a:p>
        </p:txBody>
      </p:sp>
      <p:sp>
        <p:nvSpPr>
          <p:cNvPr id="2053" name="Rectangle 8"/>
          <p:cNvSpPr>
            <a:spLocks noGrp="1" noChangeArrowheads="1"/>
          </p:cNvSpPr>
          <p:nvPr>
            <p:ph type="body" idx="4294967295"/>
          </p:nvPr>
        </p:nvSpPr>
        <p:spPr>
          <a:xfrm>
            <a:off x="251520" y="836712"/>
            <a:ext cx="8712968" cy="5689600"/>
          </a:xfrm>
        </p:spPr>
        <p:txBody>
          <a:bodyPr/>
          <a:lstStyle/>
          <a:p>
            <a:pPr eaLnBrk="1" hangingPunct="1">
              <a:buFont typeface="Wingdings" pitchFamily="2" charset="2"/>
              <a:buNone/>
            </a:pPr>
            <a:endParaRPr lang="en-US" b="1" dirty="0">
              <a:solidFill>
                <a:srgbClr val="FF0000"/>
              </a:solidFill>
            </a:endParaRPr>
          </a:p>
          <a:p>
            <a:pPr lvl="1" eaLnBrk="1" hangingPunct="1"/>
            <a:r>
              <a:rPr lang="en-US" sz="2800" b="1" dirty="0">
                <a:solidFill>
                  <a:srgbClr val="FF0000"/>
                </a:solidFill>
              </a:rPr>
              <a:t>Lock Manager: </a:t>
            </a:r>
          </a:p>
          <a:p>
            <a:pPr lvl="2" eaLnBrk="1" hangingPunct="1"/>
            <a:r>
              <a:rPr lang="en-US" sz="2800" dirty="0"/>
              <a:t>Managing locks on data items.</a:t>
            </a:r>
          </a:p>
          <a:p>
            <a:pPr lvl="1" eaLnBrk="1" hangingPunct="1"/>
            <a:r>
              <a:rPr lang="en-US" sz="2800" b="1" dirty="0">
                <a:solidFill>
                  <a:srgbClr val="FF0000"/>
                </a:solidFill>
              </a:rPr>
              <a:t>Lock table: </a:t>
            </a:r>
          </a:p>
          <a:p>
            <a:pPr lvl="2" algn="just" eaLnBrk="1" hangingPunct="1"/>
            <a:r>
              <a:rPr lang="en-US" sz="2800" dirty="0"/>
              <a:t>Lock manager uses it to store the identity of transaction locking a data item, the data item, lock mode and pointer to the next data item locked. </a:t>
            </a:r>
          </a:p>
          <a:p>
            <a:pPr lvl="2" algn="just" eaLnBrk="1" hangingPunct="1"/>
            <a:r>
              <a:rPr lang="en-US" sz="2800" dirty="0"/>
              <a:t>One simple way to implement a lock table is through linked list.</a:t>
            </a:r>
          </a:p>
        </p:txBody>
      </p:sp>
    </p:spTree>
    <p:extLst>
      <p:ext uri="{BB962C8B-B14F-4D97-AF65-F5344CB8AC3E}">
        <p14:creationId xmlns:p14="http://schemas.microsoft.com/office/powerpoint/2010/main" val="1292829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F8EF2FF5-BD00-45B8-A71A-EAE2607F0774}" type="slidenum">
              <a:rPr lang="en-IN" smtClean="0"/>
              <a:t>15</a:t>
            </a:fld>
            <a:endParaRPr lang="en-IN"/>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86038" y="1057275"/>
            <a:ext cx="4794274" cy="57255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3203848" y="404664"/>
            <a:ext cx="3672408" cy="523220"/>
          </a:xfrm>
          <a:prstGeom prst="rect">
            <a:avLst/>
          </a:prstGeom>
          <a:noFill/>
        </p:spPr>
        <p:txBody>
          <a:bodyPr wrap="square" rtlCol="0">
            <a:spAutoFit/>
          </a:bodyPr>
          <a:lstStyle/>
          <a:p>
            <a:r>
              <a:rPr lang="en-US" sz="2800" b="1" dirty="0">
                <a:solidFill>
                  <a:srgbClr val="FF0000"/>
                </a:solidFill>
              </a:rPr>
              <a:t>LOCK TABLE</a:t>
            </a:r>
            <a:endParaRPr lang="en-IN" sz="2800" b="1" dirty="0">
              <a:solidFill>
                <a:srgbClr val="FF0000"/>
              </a:solidFill>
            </a:endParaRPr>
          </a:p>
        </p:txBody>
      </p:sp>
    </p:spTree>
    <p:extLst>
      <p:ext uri="{BB962C8B-B14F-4D97-AF65-F5344CB8AC3E}">
        <p14:creationId xmlns:p14="http://schemas.microsoft.com/office/powerpoint/2010/main" val="1636825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8"/>
          <p:cNvSpPr>
            <a:spLocks noGrp="1" noChangeArrowheads="1"/>
          </p:cNvSpPr>
          <p:nvPr>
            <p:ph idx="1"/>
          </p:nvPr>
        </p:nvSpPr>
        <p:spPr>
          <a:xfrm>
            <a:off x="914400" y="548680"/>
            <a:ext cx="7772400" cy="5471120"/>
          </a:xfrm>
        </p:spPr>
        <p:txBody>
          <a:bodyPr/>
          <a:lstStyle/>
          <a:p>
            <a:pPr algn="ctr" eaLnBrk="1" hangingPunct="1">
              <a:buFont typeface="Wingdings" pitchFamily="2" charset="2"/>
              <a:buNone/>
            </a:pPr>
            <a:r>
              <a:rPr lang="en-US" sz="3600" dirty="0"/>
              <a:t>Two-Phase Locking Techniques: </a:t>
            </a:r>
          </a:p>
          <a:p>
            <a:pPr algn="ctr" eaLnBrk="1" hangingPunct="1">
              <a:buFont typeface="Wingdings" pitchFamily="2" charset="2"/>
              <a:buNone/>
            </a:pPr>
            <a:r>
              <a:rPr lang="en-US" sz="3600" dirty="0"/>
              <a:t>Essential components</a:t>
            </a:r>
          </a:p>
          <a:p>
            <a:pPr lvl="1" eaLnBrk="1" hangingPunct="1"/>
            <a:r>
              <a:rPr lang="en-US" b="1" dirty="0">
                <a:solidFill>
                  <a:srgbClr val="FF0000"/>
                </a:solidFill>
              </a:rPr>
              <a:t>Database requires that all transactions should be well-formed.  A transaction is well-formed if</a:t>
            </a:r>
            <a:r>
              <a:rPr lang="en-US" dirty="0"/>
              <a:t>:</a:t>
            </a:r>
          </a:p>
          <a:p>
            <a:pPr lvl="2" eaLnBrk="1" hangingPunct="1"/>
            <a:r>
              <a:rPr lang="en-US" sz="3200" dirty="0"/>
              <a:t>It must lock the data item before it reads or writes to it.</a:t>
            </a:r>
          </a:p>
          <a:p>
            <a:pPr lvl="2" eaLnBrk="1" hangingPunct="1"/>
            <a:r>
              <a:rPr lang="en-US" sz="3200" dirty="0"/>
              <a:t>It must not lock an already locked data items and it must not try to unlock a free data item.</a:t>
            </a:r>
          </a:p>
        </p:txBody>
      </p:sp>
      <p:sp>
        <p:nvSpPr>
          <p:cNvPr id="12290" name="Slide Number Placeholder 3"/>
          <p:cNvSpPr>
            <a:spLocks noGrp="1"/>
          </p:cNvSpPr>
          <p:nvPr>
            <p:ph type="sldNum" sz="quarter" idx="12"/>
          </p:nvPr>
        </p:nvSpPr>
        <p:spPr>
          <a:noFill/>
        </p:spPr>
        <p:txBody>
          <a:bodyPr/>
          <a:lstStyle/>
          <a:p>
            <a:r>
              <a:rPr lang="en-US"/>
              <a:t>Slide 18- </a:t>
            </a:r>
            <a:fld id="{3EEF2763-4A49-4399-97A2-F5CB22E4E0C5}" type="slidenum">
              <a:rPr lang="en-US" smtClean="0"/>
              <a:pPr/>
              <a:t>16</a:t>
            </a:fld>
            <a:endParaRPr lang="en-CA"/>
          </a:p>
        </p:txBody>
      </p:sp>
    </p:spTree>
    <p:extLst>
      <p:ext uri="{BB962C8B-B14F-4D97-AF65-F5344CB8AC3E}">
        <p14:creationId xmlns:p14="http://schemas.microsoft.com/office/powerpoint/2010/main" val="403657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634082"/>
          </a:xfrm>
        </p:spPr>
        <p:txBody>
          <a:bodyPr>
            <a:normAutofit fontScale="90000"/>
          </a:bodyPr>
          <a:lstStyle/>
          <a:p>
            <a:r>
              <a:rPr lang="en-US" dirty="0"/>
              <a:t>Lock Based Protocol Example</a:t>
            </a:r>
            <a:endParaRPr lang="en-IN" dirty="0"/>
          </a:p>
        </p:txBody>
      </p:sp>
      <p:sp>
        <p:nvSpPr>
          <p:cNvPr id="3" name="Content Placeholder 2"/>
          <p:cNvSpPr>
            <a:spLocks noGrp="1"/>
          </p:cNvSpPr>
          <p:nvPr>
            <p:ph idx="1"/>
          </p:nvPr>
        </p:nvSpPr>
        <p:spPr>
          <a:xfrm>
            <a:off x="914400" y="908720"/>
            <a:ext cx="7772400" cy="5688632"/>
          </a:xfrm>
        </p:spPr>
        <p:txBody>
          <a:bodyPr>
            <a:normAutofit fontScale="70000" lnSpcReduction="20000"/>
          </a:bodyPr>
          <a:lstStyle/>
          <a:p>
            <a:r>
              <a:rPr lang="en-US" dirty="0">
                <a:latin typeface="Times New Roman" pitchFamily="18" charset="0"/>
                <a:cs typeface="Times New Roman" pitchFamily="18" charset="0"/>
              </a:rPr>
              <a:t>Let account A and B are accessed by the Transaction T1 and T2.</a:t>
            </a:r>
          </a:p>
          <a:p>
            <a:r>
              <a:rPr lang="en-US" dirty="0">
                <a:latin typeface="Times New Roman" pitchFamily="18" charset="0"/>
                <a:cs typeface="Times New Roman" pitchFamily="18" charset="0"/>
              </a:rPr>
              <a:t>T1				T2: </a:t>
            </a:r>
          </a:p>
          <a:p>
            <a:pPr marL="320040" lvl="1" indent="0">
              <a:buNone/>
            </a:pPr>
            <a:r>
              <a:rPr lang="en-US" dirty="0">
                <a:latin typeface="Times New Roman" pitchFamily="18" charset="0"/>
                <a:cs typeface="Times New Roman" pitchFamily="18" charset="0"/>
              </a:rPr>
              <a:t>Lock S(B)			Lock X (A)</a:t>
            </a:r>
          </a:p>
          <a:p>
            <a:pPr marL="320040" lvl="1" indent="0">
              <a:buNone/>
            </a:pPr>
            <a:r>
              <a:rPr lang="en-US" dirty="0">
                <a:latin typeface="Times New Roman" pitchFamily="18" charset="0"/>
                <a:cs typeface="Times New Roman" pitchFamily="18" charset="0"/>
              </a:rPr>
              <a:t>Read (B)			Read (A)</a:t>
            </a:r>
          </a:p>
          <a:p>
            <a:pPr marL="320040" lvl="1" indent="0">
              <a:buNone/>
            </a:pPr>
            <a:r>
              <a:rPr lang="en-US" dirty="0">
                <a:latin typeface="Times New Roman" pitchFamily="18" charset="0"/>
                <a:cs typeface="Times New Roman" pitchFamily="18" charset="0"/>
              </a:rPr>
              <a:t>B=B-50			Unlock (A)</a:t>
            </a:r>
          </a:p>
          <a:p>
            <a:pPr marL="320040" lvl="1" indent="0">
              <a:buNone/>
            </a:pPr>
            <a:r>
              <a:rPr lang="en-US" dirty="0">
                <a:latin typeface="Times New Roman" pitchFamily="18" charset="0"/>
                <a:cs typeface="Times New Roman" pitchFamily="18" charset="0"/>
              </a:rPr>
              <a:t>Write (B)			Read S(B)</a:t>
            </a:r>
          </a:p>
          <a:p>
            <a:pPr marL="320040" lvl="1" indent="0">
              <a:buNone/>
            </a:pPr>
            <a:r>
              <a:rPr lang="en-US" dirty="0">
                <a:latin typeface="Times New Roman" pitchFamily="18" charset="0"/>
                <a:cs typeface="Times New Roman" pitchFamily="18" charset="0"/>
              </a:rPr>
              <a:t>Unlock (B)			Unlock (B)</a:t>
            </a:r>
          </a:p>
          <a:p>
            <a:pPr marL="320040" lvl="1" indent="0">
              <a:buNone/>
            </a:pPr>
            <a:r>
              <a:rPr lang="en-US" dirty="0">
                <a:latin typeface="Times New Roman" pitchFamily="18" charset="0"/>
                <a:cs typeface="Times New Roman" pitchFamily="18" charset="0"/>
              </a:rPr>
              <a:t>Lock (A)			Display (A + B)</a:t>
            </a:r>
          </a:p>
          <a:p>
            <a:pPr marL="320040" lvl="1" indent="0">
              <a:buNone/>
            </a:pPr>
            <a:r>
              <a:rPr lang="en-US" dirty="0">
                <a:latin typeface="Times New Roman" pitchFamily="18" charset="0"/>
                <a:cs typeface="Times New Roman" pitchFamily="18" charset="0"/>
              </a:rPr>
              <a:t>Read (A)</a:t>
            </a:r>
          </a:p>
          <a:p>
            <a:pPr marL="320040" lvl="1" indent="0">
              <a:buNone/>
            </a:pPr>
            <a:r>
              <a:rPr lang="en-US" dirty="0">
                <a:latin typeface="Times New Roman" pitchFamily="18" charset="0"/>
                <a:cs typeface="Times New Roman" pitchFamily="18" charset="0"/>
              </a:rPr>
              <a:t>A=A+50</a:t>
            </a:r>
          </a:p>
          <a:p>
            <a:pPr marL="320040" lvl="1" indent="0">
              <a:buNone/>
            </a:pPr>
            <a:r>
              <a:rPr lang="en-US" dirty="0">
                <a:latin typeface="Times New Roman" pitchFamily="18" charset="0"/>
                <a:cs typeface="Times New Roman" pitchFamily="18" charset="0"/>
              </a:rPr>
              <a:t>Write (A)</a:t>
            </a:r>
          </a:p>
          <a:p>
            <a:pPr marL="320040" lvl="1" indent="0">
              <a:buNone/>
            </a:pPr>
            <a:r>
              <a:rPr lang="en-US" dirty="0">
                <a:latin typeface="Times New Roman" pitchFamily="18" charset="0"/>
                <a:cs typeface="Times New Roman" pitchFamily="18" charset="0"/>
              </a:rPr>
              <a:t>Unlock (A)</a:t>
            </a:r>
          </a:p>
          <a:p>
            <a:pPr marL="342900" lvl="1" indent="-342900"/>
            <a:r>
              <a:rPr lang="en-US" dirty="0">
                <a:latin typeface="Times New Roman" pitchFamily="18" charset="0"/>
                <a:cs typeface="Times New Roman" pitchFamily="18" charset="0"/>
              </a:rPr>
              <a:t>If both transaction executed serially, then there is no conflict and result is remain same. </a:t>
            </a:r>
          </a:p>
          <a:p>
            <a:pPr marL="342900" lvl="1" indent="-342900"/>
            <a:r>
              <a:rPr lang="en-US" dirty="0">
                <a:latin typeface="Times New Roman" pitchFamily="18" charset="0"/>
                <a:cs typeface="Times New Roman" pitchFamily="18" charset="0"/>
              </a:rPr>
              <a:t>If the transaction executed </a:t>
            </a:r>
            <a:r>
              <a:rPr lang="en-US" dirty="0" err="1">
                <a:latin typeface="Times New Roman" pitchFamily="18" charset="0"/>
                <a:cs typeface="Times New Roman" pitchFamily="18" charset="0"/>
              </a:rPr>
              <a:t>parallely</a:t>
            </a:r>
            <a:r>
              <a:rPr lang="en-US" dirty="0">
                <a:latin typeface="Times New Roman" pitchFamily="18" charset="0"/>
                <a:cs typeface="Times New Roman" pitchFamily="18" charset="0"/>
              </a:rPr>
              <a:t> then Transaction T2 returns result before </a:t>
            </a:r>
            <a:r>
              <a:rPr lang="en-US" dirty="0" err="1">
                <a:latin typeface="Times New Roman" pitchFamily="18" charset="0"/>
                <a:cs typeface="Times New Roman" pitchFamily="18" charset="0"/>
              </a:rPr>
              <a:t>updation</a:t>
            </a:r>
            <a:r>
              <a:rPr lang="en-US" dirty="0">
                <a:latin typeface="Times New Roman" pitchFamily="18" charset="0"/>
                <a:cs typeface="Times New Roman" pitchFamily="18" charset="0"/>
              </a:rPr>
              <a:t> of A. </a:t>
            </a:r>
          </a:p>
          <a:p>
            <a:pPr marL="342900" lvl="1" indent="-342900"/>
            <a:r>
              <a:rPr lang="en-US" dirty="0">
                <a:latin typeface="Times New Roman" pitchFamily="18" charset="0"/>
                <a:cs typeface="Times New Roman" pitchFamily="18" charset="0"/>
              </a:rPr>
              <a:t>As a result the data is in inconsistent state. </a:t>
            </a:r>
          </a:p>
          <a:p>
            <a:pPr marL="320040" lvl="1" indent="0">
              <a:buNone/>
            </a:pPr>
            <a:endParaRPr lang="en-US" dirty="0">
              <a:latin typeface="Times New Roman" pitchFamily="18" charset="0"/>
              <a:cs typeface="Times New Roman" pitchFamily="18" charset="0"/>
            </a:endParaRPr>
          </a:p>
          <a:p>
            <a:pPr marL="320040" lvl="1" indent="0">
              <a:buNone/>
            </a:pPr>
            <a:endParaRPr lang="en-IN" dirty="0">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1C327F33-4715-DE14-7BCF-BF80AA651046}"/>
              </a:ext>
            </a:extLst>
          </p:cNvPr>
          <p:cNvSpPr>
            <a:spLocks noGrp="1"/>
          </p:cNvSpPr>
          <p:nvPr>
            <p:ph type="sldNum" sz="quarter" idx="12"/>
          </p:nvPr>
        </p:nvSpPr>
        <p:spPr/>
        <p:txBody>
          <a:bodyPr/>
          <a:lstStyle/>
          <a:p>
            <a:fld id="{F8EF2FF5-BD00-45B8-A71A-EAE2607F0774}" type="slidenum">
              <a:rPr lang="en-IN" smtClean="0"/>
              <a:t>17</a:t>
            </a:fld>
            <a:endParaRPr lang="en-IN"/>
          </a:p>
        </p:txBody>
      </p:sp>
    </p:spTree>
    <p:extLst>
      <p:ext uri="{BB962C8B-B14F-4D97-AF65-F5344CB8AC3E}">
        <p14:creationId xmlns:p14="http://schemas.microsoft.com/office/powerpoint/2010/main" val="26084551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70000" lnSpcReduction="20000"/>
          </a:bodyPr>
          <a:lstStyle/>
          <a:p>
            <a:r>
              <a:rPr lang="en-US" dirty="0">
                <a:latin typeface="Times New Roman" pitchFamily="18" charset="0"/>
                <a:cs typeface="Times New Roman" pitchFamily="18" charset="0"/>
              </a:rPr>
              <a:t>Let account A and B are accessed by the Transaction T1 and T2.</a:t>
            </a:r>
          </a:p>
          <a:p>
            <a:r>
              <a:rPr lang="en-US" dirty="0">
                <a:latin typeface="Times New Roman" pitchFamily="18" charset="0"/>
                <a:cs typeface="Times New Roman" pitchFamily="18" charset="0"/>
              </a:rPr>
              <a:t>T1				T2: </a:t>
            </a:r>
          </a:p>
          <a:p>
            <a:pPr marL="320040" lvl="1" indent="0">
              <a:buNone/>
            </a:pPr>
            <a:r>
              <a:rPr lang="en-US" dirty="0">
                <a:latin typeface="Times New Roman" pitchFamily="18" charset="0"/>
                <a:cs typeface="Times New Roman" pitchFamily="18" charset="0"/>
              </a:rPr>
              <a:t>Lock S(B)			Lock S (A)</a:t>
            </a:r>
          </a:p>
          <a:p>
            <a:pPr marL="320040" lvl="1" indent="0">
              <a:buNone/>
            </a:pPr>
            <a:r>
              <a:rPr lang="en-US" dirty="0">
                <a:latin typeface="Times New Roman" pitchFamily="18" charset="0"/>
                <a:cs typeface="Times New Roman" pitchFamily="18" charset="0"/>
              </a:rPr>
              <a:t>Read (B)			Read (A)</a:t>
            </a:r>
          </a:p>
          <a:p>
            <a:pPr marL="320040" lvl="1" indent="0">
              <a:buNone/>
            </a:pPr>
            <a:r>
              <a:rPr lang="en-US" dirty="0">
                <a:latin typeface="Times New Roman" pitchFamily="18" charset="0"/>
                <a:cs typeface="Times New Roman" pitchFamily="18" charset="0"/>
              </a:rPr>
              <a:t>B=B-50			Read S(B)</a:t>
            </a:r>
          </a:p>
          <a:p>
            <a:pPr marL="320040" lvl="1" indent="0">
              <a:buNone/>
            </a:pPr>
            <a:r>
              <a:rPr lang="en-US" dirty="0">
                <a:latin typeface="Times New Roman" pitchFamily="18" charset="0"/>
                <a:cs typeface="Times New Roman" pitchFamily="18" charset="0"/>
              </a:rPr>
              <a:t>Write (B)			Display (A + B)</a:t>
            </a:r>
          </a:p>
          <a:p>
            <a:pPr marL="320040" lvl="1" indent="0">
              <a:buNone/>
            </a:pPr>
            <a:r>
              <a:rPr lang="en-US" dirty="0">
                <a:latin typeface="Times New Roman" pitchFamily="18" charset="0"/>
                <a:cs typeface="Times New Roman" pitchFamily="18" charset="0"/>
              </a:rPr>
              <a:t>Lock (A)			Unlock (A) 	</a:t>
            </a:r>
          </a:p>
          <a:p>
            <a:pPr marL="320040" lvl="1" indent="0">
              <a:buNone/>
            </a:pPr>
            <a:r>
              <a:rPr lang="en-US" dirty="0">
                <a:latin typeface="Times New Roman" pitchFamily="18" charset="0"/>
                <a:cs typeface="Times New Roman" pitchFamily="18" charset="0"/>
              </a:rPr>
              <a:t>Read (A)			Unlock (B)</a:t>
            </a:r>
          </a:p>
          <a:p>
            <a:pPr marL="320040" lvl="1" indent="0">
              <a:buNone/>
            </a:pPr>
            <a:r>
              <a:rPr lang="en-US" dirty="0">
                <a:latin typeface="Times New Roman" pitchFamily="18" charset="0"/>
                <a:cs typeface="Times New Roman" pitchFamily="18" charset="0"/>
              </a:rPr>
              <a:t>A=A+50			</a:t>
            </a:r>
          </a:p>
          <a:p>
            <a:pPr marL="320040" lvl="1" indent="0">
              <a:buNone/>
            </a:pPr>
            <a:r>
              <a:rPr lang="en-US" dirty="0">
                <a:latin typeface="Times New Roman" pitchFamily="18" charset="0"/>
                <a:cs typeface="Times New Roman" pitchFamily="18" charset="0"/>
              </a:rPr>
              <a:t>Write (A)</a:t>
            </a:r>
          </a:p>
          <a:p>
            <a:pPr marL="320040" lvl="1" indent="0">
              <a:buNone/>
            </a:pPr>
            <a:r>
              <a:rPr lang="en-US" dirty="0">
                <a:latin typeface="Times New Roman" pitchFamily="18" charset="0"/>
                <a:cs typeface="Times New Roman" pitchFamily="18" charset="0"/>
              </a:rPr>
              <a:t>Unlock (A)</a:t>
            </a:r>
          </a:p>
          <a:p>
            <a:pPr marL="320040" lvl="1" indent="0">
              <a:buNone/>
            </a:pPr>
            <a:r>
              <a:rPr lang="en-US" dirty="0">
                <a:latin typeface="Times New Roman" pitchFamily="18" charset="0"/>
                <a:cs typeface="Times New Roman" pitchFamily="18" charset="0"/>
              </a:rPr>
              <a:t>Unlock (B)</a:t>
            </a:r>
          </a:p>
          <a:p>
            <a:pPr marL="320040" lvl="1" indent="0">
              <a:buNone/>
            </a:pPr>
            <a:r>
              <a:rPr lang="en-US" dirty="0">
                <a:latin typeface="Times New Roman" pitchFamily="18" charset="0"/>
                <a:cs typeface="Times New Roman" pitchFamily="18" charset="0"/>
              </a:rPr>
              <a:t>In this case Transaction T2 gives the results based on the previous data. </a:t>
            </a:r>
            <a:r>
              <a:rPr lang="en-US" dirty="0" err="1">
                <a:latin typeface="Times New Roman" pitchFamily="18" charset="0"/>
                <a:cs typeface="Times New Roman" pitchFamily="18" charset="0"/>
              </a:rPr>
              <a:t>Updation</a:t>
            </a:r>
            <a:r>
              <a:rPr lang="en-US" dirty="0">
                <a:latin typeface="Times New Roman" pitchFamily="18" charset="0"/>
                <a:cs typeface="Times New Roman" pitchFamily="18" charset="0"/>
              </a:rPr>
              <a:t> of B does not affect T2. </a:t>
            </a:r>
          </a:p>
          <a:p>
            <a:endParaRPr lang="en-IN" dirty="0"/>
          </a:p>
        </p:txBody>
      </p:sp>
      <p:sp>
        <p:nvSpPr>
          <p:cNvPr id="2" name="Slide Number Placeholder 1">
            <a:extLst>
              <a:ext uri="{FF2B5EF4-FFF2-40B4-BE49-F238E27FC236}">
                <a16:creationId xmlns:a16="http://schemas.microsoft.com/office/drawing/2014/main" id="{75172C69-409E-7B77-8D6B-725E17C79B2D}"/>
              </a:ext>
            </a:extLst>
          </p:cNvPr>
          <p:cNvSpPr>
            <a:spLocks noGrp="1"/>
          </p:cNvSpPr>
          <p:nvPr>
            <p:ph type="sldNum" sz="quarter" idx="12"/>
          </p:nvPr>
        </p:nvSpPr>
        <p:spPr/>
        <p:txBody>
          <a:bodyPr/>
          <a:lstStyle/>
          <a:p>
            <a:fld id="{F8EF2FF5-BD00-45B8-A71A-EAE2607F0774}" type="slidenum">
              <a:rPr lang="en-IN" smtClean="0"/>
              <a:t>18</a:t>
            </a:fld>
            <a:endParaRPr lang="en-IN"/>
          </a:p>
        </p:txBody>
      </p:sp>
    </p:spTree>
    <p:extLst>
      <p:ext uri="{BB962C8B-B14F-4D97-AF65-F5344CB8AC3E}">
        <p14:creationId xmlns:p14="http://schemas.microsoft.com/office/powerpoint/2010/main" val="26263847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634082"/>
          </a:xfrm>
        </p:spPr>
        <p:txBody>
          <a:bodyPr>
            <a:normAutofit fontScale="90000"/>
          </a:bodyPr>
          <a:lstStyle/>
          <a:p>
            <a:r>
              <a:rPr lang="en-US" b="1" dirty="0">
                <a:solidFill>
                  <a:srgbClr val="FF0000"/>
                </a:solidFill>
              </a:rPr>
              <a:t>Binary Lock Example</a:t>
            </a:r>
            <a:endParaRPr lang="en-IN" b="1" dirty="0">
              <a:solidFill>
                <a:srgbClr val="FF0000"/>
              </a:solidFill>
            </a:endParaRPr>
          </a:p>
        </p:txBody>
      </p:sp>
      <p:sp>
        <p:nvSpPr>
          <p:cNvPr id="3" name="Content Placeholder 2"/>
          <p:cNvSpPr>
            <a:spLocks noGrp="1"/>
          </p:cNvSpPr>
          <p:nvPr>
            <p:ph idx="1"/>
          </p:nvPr>
        </p:nvSpPr>
        <p:spPr/>
        <p:txBody>
          <a:bodyPr/>
          <a:lstStyle/>
          <a:p>
            <a:endParaRPr lang="en-IN" dirty="0"/>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600" y="836712"/>
            <a:ext cx="7704856" cy="59046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Slide Number Placeholder 3">
            <a:extLst>
              <a:ext uri="{FF2B5EF4-FFF2-40B4-BE49-F238E27FC236}">
                <a16:creationId xmlns:a16="http://schemas.microsoft.com/office/drawing/2014/main" id="{24BD8F4B-F6FF-B8DA-7D17-0AEFAC344517}"/>
              </a:ext>
            </a:extLst>
          </p:cNvPr>
          <p:cNvSpPr>
            <a:spLocks noGrp="1"/>
          </p:cNvSpPr>
          <p:nvPr>
            <p:ph type="sldNum" sz="quarter" idx="12"/>
          </p:nvPr>
        </p:nvSpPr>
        <p:spPr/>
        <p:txBody>
          <a:bodyPr/>
          <a:lstStyle/>
          <a:p>
            <a:fld id="{F8EF2FF5-BD00-45B8-A71A-EAE2607F0774}" type="slidenum">
              <a:rPr lang="en-IN" smtClean="0"/>
              <a:t>19</a:t>
            </a:fld>
            <a:endParaRPr lang="en-IN"/>
          </a:p>
        </p:txBody>
      </p:sp>
    </p:spTree>
    <p:extLst>
      <p:ext uri="{BB962C8B-B14F-4D97-AF65-F5344CB8AC3E}">
        <p14:creationId xmlns:p14="http://schemas.microsoft.com/office/powerpoint/2010/main" val="20836391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Shared  Lock Example</a:t>
            </a:r>
            <a:endParaRPr lang="en-IN" b="1" dirty="0">
              <a:solidFill>
                <a:srgbClr val="FF0000"/>
              </a:solidFill>
            </a:endParaRPr>
          </a:p>
        </p:txBody>
      </p:sp>
      <p:sp>
        <p:nvSpPr>
          <p:cNvPr id="3" name="Content Placeholder 2"/>
          <p:cNvSpPr>
            <a:spLocks noGrp="1"/>
          </p:cNvSpPr>
          <p:nvPr>
            <p:ph idx="1"/>
          </p:nvPr>
        </p:nvSpPr>
        <p:spPr/>
        <p:txBody>
          <a:bodyPr/>
          <a:lstStyle/>
          <a:p>
            <a:endParaRPr lang="en-IN"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5616" y="1412776"/>
            <a:ext cx="7848872" cy="51125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Slide Number Placeholder 3">
            <a:extLst>
              <a:ext uri="{FF2B5EF4-FFF2-40B4-BE49-F238E27FC236}">
                <a16:creationId xmlns:a16="http://schemas.microsoft.com/office/drawing/2014/main" id="{FB83FC4E-995D-6A21-BCDC-552E9ADC3B40}"/>
              </a:ext>
            </a:extLst>
          </p:cNvPr>
          <p:cNvSpPr>
            <a:spLocks noGrp="1"/>
          </p:cNvSpPr>
          <p:nvPr>
            <p:ph type="sldNum" sz="quarter" idx="12"/>
          </p:nvPr>
        </p:nvSpPr>
        <p:spPr/>
        <p:txBody>
          <a:bodyPr/>
          <a:lstStyle/>
          <a:p>
            <a:fld id="{F8EF2FF5-BD00-45B8-A71A-EAE2607F0774}" type="slidenum">
              <a:rPr lang="en-IN" smtClean="0"/>
              <a:t>20</a:t>
            </a:fld>
            <a:endParaRPr lang="en-IN"/>
          </a:p>
        </p:txBody>
      </p:sp>
    </p:spTree>
    <p:extLst>
      <p:ext uri="{BB962C8B-B14F-4D97-AF65-F5344CB8AC3E}">
        <p14:creationId xmlns:p14="http://schemas.microsoft.com/office/powerpoint/2010/main" val="11320293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836712"/>
            <a:ext cx="7776864" cy="5688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2843808" y="662226"/>
            <a:ext cx="5715094" cy="369332"/>
          </a:xfrm>
          <a:prstGeom prst="rect">
            <a:avLst/>
          </a:prstGeom>
        </p:spPr>
        <p:txBody>
          <a:bodyPr wrap="square">
            <a:spAutoFit/>
          </a:bodyPr>
          <a:lstStyle/>
          <a:p>
            <a:r>
              <a:rPr lang="en-US" b="1" dirty="0">
                <a:solidFill>
                  <a:srgbClr val="FF0000"/>
                </a:solidFill>
                <a:cs typeface="Times New Roman" pitchFamily="71" charset="0"/>
              </a:rPr>
              <a:t>The following code performs the write lock operation</a:t>
            </a:r>
            <a:endParaRPr lang="en-IN" b="1" dirty="0">
              <a:solidFill>
                <a:srgbClr val="FF0000"/>
              </a:solidFill>
            </a:endParaRPr>
          </a:p>
        </p:txBody>
      </p:sp>
      <p:sp>
        <p:nvSpPr>
          <p:cNvPr id="5" name="Rectangle 4"/>
          <p:cNvSpPr/>
          <p:nvPr/>
        </p:nvSpPr>
        <p:spPr>
          <a:xfrm>
            <a:off x="2823948" y="2924944"/>
            <a:ext cx="5715094" cy="369332"/>
          </a:xfrm>
          <a:prstGeom prst="rect">
            <a:avLst/>
          </a:prstGeom>
        </p:spPr>
        <p:txBody>
          <a:bodyPr wrap="square">
            <a:spAutoFit/>
          </a:bodyPr>
          <a:lstStyle/>
          <a:p>
            <a:r>
              <a:rPr lang="en-US" b="1" dirty="0">
                <a:solidFill>
                  <a:srgbClr val="FF0000"/>
                </a:solidFill>
                <a:cs typeface="Times New Roman" pitchFamily="71" charset="0"/>
              </a:rPr>
              <a:t>The following code performs the unlock lock operation</a:t>
            </a:r>
            <a:endParaRPr lang="en-IN" b="1" dirty="0">
              <a:solidFill>
                <a:srgbClr val="FF0000"/>
              </a:solidFill>
            </a:endParaRPr>
          </a:p>
        </p:txBody>
      </p:sp>
      <p:sp>
        <p:nvSpPr>
          <p:cNvPr id="3" name="Slide Number Placeholder 2">
            <a:extLst>
              <a:ext uri="{FF2B5EF4-FFF2-40B4-BE49-F238E27FC236}">
                <a16:creationId xmlns:a16="http://schemas.microsoft.com/office/drawing/2014/main" id="{CFAB9072-FC30-C38D-444E-70F018A5E0BC}"/>
              </a:ext>
            </a:extLst>
          </p:cNvPr>
          <p:cNvSpPr>
            <a:spLocks noGrp="1"/>
          </p:cNvSpPr>
          <p:nvPr>
            <p:ph type="sldNum" sz="quarter" idx="12"/>
          </p:nvPr>
        </p:nvSpPr>
        <p:spPr/>
        <p:txBody>
          <a:bodyPr/>
          <a:lstStyle/>
          <a:p>
            <a:fld id="{F8EF2FF5-BD00-45B8-A71A-EAE2607F0774}" type="slidenum">
              <a:rPr lang="en-IN" smtClean="0"/>
              <a:t>21</a:t>
            </a:fld>
            <a:endParaRPr lang="en-IN"/>
          </a:p>
        </p:txBody>
      </p:sp>
    </p:spTree>
    <p:extLst>
      <p:ext uri="{BB962C8B-B14F-4D97-AF65-F5344CB8AC3E}">
        <p14:creationId xmlns:p14="http://schemas.microsoft.com/office/powerpoint/2010/main" val="4706350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8"/>
          <p:cNvSpPr>
            <a:spLocks noGrp="1" noChangeArrowheads="1"/>
          </p:cNvSpPr>
          <p:nvPr>
            <p:ph idx="1"/>
          </p:nvPr>
        </p:nvSpPr>
        <p:spPr>
          <a:xfrm>
            <a:off x="914400" y="404664"/>
            <a:ext cx="7772400" cy="5615136"/>
          </a:xfrm>
        </p:spPr>
        <p:txBody>
          <a:bodyPr>
            <a:normAutofit lnSpcReduction="10000"/>
          </a:bodyPr>
          <a:lstStyle/>
          <a:p>
            <a:pPr eaLnBrk="1" hangingPunct="1"/>
            <a:r>
              <a:rPr lang="en-US" b="1" dirty="0">
                <a:solidFill>
                  <a:srgbClr val="FF0000"/>
                </a:solidFill>
                <a:cs typeface="Times New Roman" pitchFamily="18" charset="0"/>
              </a:rPr>
              <a:t>Lock conversion</a:t>
            </a:r>
          </a:p>
          <a:p>
            <a:pPr lvl="1" eaLnBrk="1" hangingPunct="1"/>
            <a:r>
              <a:rPr lang="en-US" sz="2600" b="1" dirty="0">
                <a:solidFill>
                  <a:srgbClr val="FF0000"/>
                </a:solidFill>
                <a:cs typeface="Times New Roman" pitchFamily="18" charset="0"/>
              </a:rPr>
              <a:t>Lock upgrade:</a:t>
            </a:r>
            <a:r>
              <a:rPr lang="en-US" sz="2600" dirty="0">
                <a:cs typeface="Times New Roman" pitchFamily="18" charset="0"/>
              </a:rPr>
              <a:t> existing read lock to write lock</a:t>
            </a:r>
          </a:p>
          <a:p>
            <a:pPr eaLnBrk="1" hangingPunct="1">
              <a:lnSpc>
                <a:spcPct val="95000"/>
              </a:lnSpc>
              <a:spcBef>
                <a:spcPct val="10000"/>
              </a:spcBef>
              <a:buFont typeface="Wingdings" pitchFamily="2" charset="2"/>
              <a:buNone/>
            </a:pPr>
            <a:r>
              <a:rPr lang="en-US" dirty="0">
                <a:cs typeface="Times New Roman" pitchFamily="18" charset="0"/>
              </a:rPr>
              <a:t>	</a:t>
            </a:r>
            <a:r>
              <a:rPr lang="en-US" dirty="0">
                <a:solidFill>
                  <a:srgbClr val="800000"/>
                </a:solidFill>
                <a:cs typeface="Times New Roman" pitchFamily="18" charset="0"/>
              </a:rPr>
              <a:t>if </a:t>
            </a:r>
            <a:r>
              <a:rPr lang="en-US" dirty="0" err="1">
                <a:solidFill>
                  <a:srgbClr val="800000"/>
                </a:solidFill>
                <a:cs typeface="Times New Roman" pitchFamily="18" charset="0"/>
              </a:rPr>
              <a:t>Ti</a:t>
            </a:r>
            <a:r>
              <a:rPr lang="en-US" dirty="0">
                <a:solidFill>
                  <a:srgbClr val="800000"/>
                </a:solidFill>
                <a:cs typeface="Times New Roman" pitchFamily="18" charset="0"/>
              </a:rPr>
              <a:t> has a read-lock (X) </a:t>
            </a:r>
            <a:r>
              <a:rPr lang="en-US" dirty="0">
                <a:solidFill>
                  <a:srgbClr val="800000"/>
                </a:solidFill>
                <a:cs typeface="Times New Roman" pitchFamily="18" charset="0"/>
                <a:sym typeface="Symbol" pitchFamily="18" charset="2"/>
              </a:rPr>
              <a:t>and </a:t>
            </a:r>
            <a:r>
              <a:rPr lang="en-US" dirty="0" err="1">
                <a:solidFill>
                  <a:srgbClr val="800000"/>
                </a:solidFill>
                <a:cs typeface="Times New Roman" pitchFamily="18" charset="0"/>
                <a:sym typeface="Symbol" pitchFamily="18" charset="2"/>
              </a:rPr>
              <a:t>Tj</a:t>
            </a:r>
            <a:r>
              <a:rPr lang="en-US" dirty="0">
                <a:solidFill>
                  <a:srgbClr val="800000"/>
                </a:solidFill>
                <a:cs typeface="Times New Roman" pitchFamily="18" charset="0"/>
                <a:sym typeface="Symbol" pitchFamily="18" charset="2"/>
              </a:rPr>
              <a:t> has no read-lock (X) (</a:t>
            </a:r>
            <a:r>
              <a:rPr lang="en-US" dirty="0" err="1">
                <a:solidFill>
                  <a:srgbClr val="800000"/>
                </a:solidFill>
                <a:cs typeface="Times New Roman" pitchFamily="18" charset="0"/>
                <a:sym typeface="Symbol" pitchFamily="18" charset="2"/>
              </a:rPr>
              <a:t>i</a:t>
            </a:r>
            <a:r>
              <a:rPr lang="en-US" dirty="0">
                <a:solidFill>
                  <a:srgbClr val="800000"/>
                </a:solidFill>
                <a:cs typeface="Times New Roman" pitchFamily="18" charset="0"/>
                <a:sym typeface="Symbol" pitchFamily="18" charset="2"/>
              </a:rPr>
              <a:t>  j) then</a:t>
            </a:r>
            <a:endParaRPr lang="en-US" dirty="0">
              <a:solidFill>
                <a:srgbClr val="800000"/>
              </a:solidFill>
              <a:cs typeface="Times New Roman" pitchFamily="18" charset="0"/>
            </a:endParaRPr>
          </a:p>
          <a:p>
            <a:pPr lvl="1" algn="just" eaLnBrk="1" hangingPunct="1">
              <a:lnSpc>
                <a:spcPct val="95000"/>
              </a:lnSpc>
              <a:spcBef>
                <a:spcPct val="10000"/>
              </a:spcBef>
              <a:buFontTx/>
              <a:buNone/>
            </a:pPr>
            <a:r>
              <a:rPr lang="en-US" sz="2600" dirty="0">
                <a:cs typeface="Times New Roman" pitchFamily="18" charset="0"/>
              </a:rPr>
              <a:t>	    convert read-lock (X) to write-lock (X)</a:t>
            </a:r>
            <a:endParaRPr lang="en-US" sz="2600" dirty="0">
              <a:cs typeface="Times New Roman" pitchFamily="18" charset="0"/>
              <a:sym typeface="Symbol" pitchFamily="18" charset="2"/>
            </a:endParaRPr>
          </a:p>
          <a:p>
            <a:pPr lvl="1" algn="just" eaLnBrk="1" hangingPunct="1">
              <a:lnSpc>
                <a:spcPct val="95000"/>
              </a:lnSpc>
              <a:spcBef>
                <a:spcPct val="10000"/>
              </a:spcBef>
              <a:buFontTx/>
              <a:buNone/>
            </a:pPr>
            <a:r>
              <a:rPr lang="en-US" sz="2600" dirty="0">
                <a:cs typeface="Times New Roman" pitchFamily="18" charset="0"/>
                <a:sym typeface="Symbol" pitchFamily="18" charset="2"/>
              </a:rPr>
              <a:t>else</a:t>
            </a:r>
            <a:endParaRPr lang="en-US" sz="2600" dirty="0">
              <a:cs typeface="Times New Roman" pitchFamily="18" charset="0"/>
            </a:endParaRPr>
          </a:p>
          <a:p>
            <a:pPr lvl="1" algn="just" eaLnBrk="1" hangingPunct="1">
              <a:lnSpc>
                <a:spcPct val="95000"/>
              </a:lnSpc>
              <a:spcBef>
                <a:spcPct val="10000"/>
              </a:spcBef>
              <a:buFontTx/>
              <a:buNone/>
            </a:pPr>
            <a:r>
              <a:rPr lang="en-US" sz="2600" dirty="0">
                <a:cs typeface="Times New Roman" pitchFamily="18" charset="0"/>
                <a:sym typeface="Symbol" pitchFamily="18" charset="2"/>
              </a:rPr>
              <a:t>	    force </a:t>
            </a:r>
            <a:r>
              <a:rPr lang="en-US" sz="2600" dirty="0" err="1">
                <a:cs typeface="Times New Roman" pitchFamily="18" charset="0"/>
                <a:sym typeface="Symbol" pitchFamily="18" charset="2"/>
              </a:rPr>
              <a:t>Ti</a:t>
            </a:r>
            <a:r>
              <a:rPr lang="en-US" sz="2600" dirty="0">
                <a:cs typeface="Times New Roman" pitchFamily="18" charset="0"/>
                <a:sym typeface="Symbol" pitchFamily="18" charset="2"/>
              </a:rPr>
              <a:t> to wait until </a:t>
            </a:r>
            <a:r>
              <a:rPr lang="en-US" sz="2600" dirty="0" err="1">
                <a:cs typeface="Times New Roman" pitchFamily="18" charset="0"/>
                <a:sym typeface="Symbol" pitchFamily="18" charset="2"/>
              </a:rPr>
              <a:t>Tj</a:t>
            </a:r>
            <a:r>
              <a:rPr lang="en-US" sz="2600" dirty="0">
                <a:cs typeface="Times New Roman" pitchFamily="18" charset="0"/>
                <a:sym typeface="Symbol" pitchFamily="18" charset="2"/>
              </a:rPr>
              <a:t> unlocks X</a:t>
            </a:r>
          </a:p>
          <a:p>
            <a:pPr lvl="1" eaLnBrk="1" hangingPunct="1"/>
            <a:endParaRPr lang="en-US" sz="2600" dirty="0">
              <a:cs typeface="Times New Roman" pitchFamily="18" charset="0"/>
            </a:endParaRPr>
          </a:p>
          <a:p>
            <a:pPr lvl="1" eaLnBrk="1" hangingPunct="1"/>
            <a:r>
              <a:rPr lang="en-US" sz="2600" b="1" dirty="0">
                <a:solidFill>
                  <a:srgbClr val="FF0000"/>
                </a:solidFill>
                <a:cs typeface="Times New Roman" pitchFamily="18" charset="0"/>
              </a:rPr>
              <a:t>Lock downgrade: </a:t>
            </a:r>
            <a:r>
              <a:rPr lang="en-US" sz="2600" dirty="0">
                <a:cs typeface="Times New Roman" pitchFamily="18" charset="0"/>
              </a:rPr>
              <a:t>existing write lock to read lock</a:t>
            </a:r>
          </a:p>
          <a:p>
            <a:pPr lvl="1" eaLnBrk="1" hangingPunct="1">
              <a:buFont typeface="Wingdings" pitchFamily="2" charset="2"/>
              <a:buNone/>
            </a:pPr>
            <a:r>
              <a:rPr lang="en-US" sz="2600" dirty="0">
                <a:cs typeface="Times New Roman" pitchFamily="18" charset="0"/>
              </a:rPr>
              <a:t>  if  </a:t>
            </a:r>
            <a:r>
              <a:rPr lang="en-US" sz="2600" dirty="0" err="1">
                <a:cs typeface="Times New Roman" pitchFamily="18" charset="0"/>
              </a:rPr>
              <a:t>Ti</a:t>
            </a:r>
            <a:r>
              <a:rPr lang="en-US" sz="2600" dirty="0">
                <a:cs typeface="Times New Roman" pitchFamily="18" charset="0"/>
              </a:rPr>
              <a:t> has a write-lock (X)  (</a:t>
            </a:r>
            <a:r>
              <a:rPr lang="en-US" sz="2000" dirty="0">
                <a:solidFill>
                  <a:srgbClr val="FF0000"/>
                </a:solidFill>
                <a:cs typeface="Times New Roman" pitchFamily="18" charset="0"/>
              </a:rPr>
              <a:t>*no transaction can have any lock on X*</a:t>
            </a:r>
            <a:r>
              <a:rPr lang="en-US" sz="2600" dirty="0">
                <a:cs typeface="Times New Roman" pitchFamily="18" charset="0"/>
              </a:rPr>
              <a:t>)</a:t>
            </a:r>
          </a:p>
          <a:p>
            <a:pPr lvl="1" eaLnBrk="1" hangingPunct="1">
              <a:buFont typeface="Wingdings" pitchFamily="2" charset="2"/>
              <a:buNone/>
            </a:pPr>
            <a:r>
              <a:rPr lang="en-US" sz="2600" dirty="0">
                <a:cs typeface="Times New Roman" pitchFamily="18" charset="0"/>
              </a:rPr>
              <a:t>		convert write-lock (X) to read-lock (X)</a:t>
            </a:r>
            <a:endParaRPr lang="en-US" sz="2600" dirty="0">
              <a:cs typeface="Times New Roman" pitchFamily="18" charset="0"/>
              <a:sym typeface="Symbol" pitchFamily="18" charset="2"/>
            </a:endParaRPr>
          </a:p>
          <a:p>
            <a:pPr lvl="1" algn="just" eaLnBrk="1" hangingPunct="1">
              <a:lnSpc>
                <a:spcPct val="95000"/>
              </a:lnSpc>
              <a:spcBef>
                <a:spcPct val="10000"/>
              </a:spcBef>
              <a:buFontTx/>
              <a:buNone/>
            </a:pPr>
            <a:r>
              <a:rPr lang="en-US" sz="2600" dirty="0">
                <a:cs typeface="Times New Roman" pitchFamily="18" charset="0"/>
                <a:sym typeface="Symbol" pitchFamily="18" charset="2"/>
              </a:rPr>
              <a:t>    </a:t>
            </a:r>
            <a:endParaRPr lang="en-US" sz="2600" dirty="0">
              <a:cs typeface="Times New Roman" pitchFamily="18" charset="0"/>
            </a:endParaRPr>
          </a:p>
        </p:txBody>
      </p:sp>
      <p:sp>
        <p:nvSpPr>
          <p:cNvPr id="2" name="Slide Number Placeholder 1">
            <a:extLst>
              <a:ext uri="{FF2B5EF4-FFF2-40B4-BE49-F238E27FC236}">
                <a16:creationId xmlns:a16="http://schemas.microsoft.com/office/drawing/2014/main" id="{1D926217-1A04-994B-3A0A-AA9646779B0C}"/>
              </a:ext>
            </a:extLst>
          </p:cNvPr>
          <p:cNvSpPr>
            <a:spLocks noGrp="1"/>
          </p:cNvSpPr>
          <p:nvPr>
            <p:ph type="sldNum" sz="quarter" idx="12"/>
          </p:nvPr>
        </p:nvSpPr>
        <p:spPr/>
        <p:txBody>
          <a:bodyPr/>
          <a:lstStyle/>
          <a:p>
            <a:fld id="{F8EF2FF5-BD00-45B8-A71A-EAE2607F0774}" type="slidenum">
              <a:rPr lang="en-IN" smtClean="0"/>
              <a:t>22</a:t>
            </a:fld>
            <a:endParaRPr lang="en-IN"/>
          </a:p>
        </p:txBody>
      </p:sp>
    </p:spTree>
    <p:extLst>
      <p:ext uri="{BB962C8B-B14F-4D97-AF65-F5344CB8AC3E}">
        <p14:creationId xmlns:p14="http://schemas.microsoft.com/office/powerpoint/2010/main" val="4844043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69273"/>
            <a:ext cx="7772400" cy="1143000"/>
          </a:xfrm>
        </p:spPr>
        <p:txBody>
          <a:bodyPr/>
          <a:lstStyle/>
          <a:p>
            <a:r>
              <a:rPr lang="en-US" b="1" dirty="0">
                <a:solidFill>
                  <a:srgbClr val="FF0000"/>
                </a:solidFill>
              </a:rPr>
              <a:t>2 Phase Locking Techniques</a:t>
            </a:r>
            <a:endParaRPr lang="en-IN" b="1" dirty="0">
              <a:solidFill>
                <a:srgbClr val="FF0000"/>
              </a:solidFill>
            </a:endParaRPr>
          </a:p>
        </p:txBody>
      </p:sp>
      <p:sp>
        <p:nvSpPr>
          <p:cNvPr id="4" name="Rectangle 4"/>
          <p:cNvSpPr>
            <a:spLocks noGrp="1" noChangeArrowheads="1"/>
          </p:cNvSpPr>
          <p:nvPr>
            <p:ph idx="1"/>
          </p:nvPr>
        </p:nvSpPr>
        <p:spPr bwMode="auto">
          <a:prstGeom prst="rect">
            <a:avLst/>
          </a:prstGeom>
          <a:noFill/>
          <a:ln w="9525">
            <a:noFill/>
            <a:miter lim="800000"/>
            <a:headEnd/>
            <a:tailEnd/>
          </a:ln>
        </p:spPr>
        <p:txBody>
          <a:bodyPr/>
          <a:lstStyle/>
          <a:p>
            <a:pPr marL="7581900" lvl="1" algn="just">
              <a:lnSpc>
                <a:spcPct val="95000"/>
              </a:lnSpc>
              <a:spcBef>
                <a:spcPct val="10000"/>
              </a:spcBef>
              <a:buClr>
                <a:schemeClr val="tx2"/>
              </a:buClr>
              <a:buSzPct val="55000"/>
            </a:pPr>
            <a:r>
              <a:rPr lang="en-US" sz="1800" dirty="0">
                <a:solidFill>
                  <a:srgbClr val="800000"/>
                </a:solidFill>
                <a:cs typeface="Times New Roman" pitchFamily="18" charset="0"/>
                <a:sym typeface="Symbol" pitchFamily="18" charset="2"/>
              </a:rPr>
              <a:t>    </a:t>
            </a:r>
            <a:endParaRPr lang="en-US" sz="2200" b="1" dirty="0">
              <a:solidFill>
                <a:srgbClr val="800000"/>
              </a:solidFill>
              <a:cs typeface="Times New Roman" pitchFamily="18" charset="0"/>
              <a:sym typeface="Symbol" pitchFamily="18" charset="2"/>
            </a:endParaRPr>
          </a:p>
          <a:p>
            <a:pPr marL="7581900" lvl="1" algn="just">
              <a:lnSpc>
                <a:spcPct val="95000"/>
              </a:lnSpc>
              <a:spcBef>
                <a:spcPct val="10000"/>
              </a:spcBef>
              <a:buClr>
                <a:schemeClr val="tx2"/>
              </a:buClr>
              <a:buSzPct val="55000"/>
            </a:pPr>
            <a:r>
              <a:rPr lang="en-US" sz="1800" dirty="0">
                <a:solidFill>
                  <a:srgbClr val="800000"/>
                </a:solidFill>
                <a:cs typeface="Times New Roman" pitchFamily="18" charset="0"/>
                <a:sym typeface="Symbol" pitchFamily="18" charset="2"/>
              </a:rPr>
              <a:t>	</a:t>
            </a:r>
          </a:p>
        </p:txBody>
      </p:sp>
      <p:sp>
        <p:nvSpPr>
          <p:cNvPr id="6" name="Rectangle 8"/>
          <p:cNvSpPr txBox="1">
            <a:spLocks noChangeArrowheads="1"/>
          </p:cNvSpPr>
          <p:nvPr/>
        </p:nvSpPr>
        <p:spPr>
          <a:xfrm>
            <a:off x="239713" y="1268760"/>
            <a:ext cx="8294687" cy="5328592"/>
          </a:xfrm>
          <a:prstGeom prst="rect">
            <a:avLst/>
          </a:prstGeom>
        </p:spPr>
        <p:txBody>
          <a:bodyPr vert="horz">
            <a:noAutofit/>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a:spcBef>
                <a:spcPct val="0"/>
              </a:spcBef>
            </a:pPr>
            <a:r>
              <a:rPr lang="en-US" dirty="0">
                <a:cs typeface="Times New Roman" pitchFamily="18" charset="0"/>
              </a:rPr>
              <a:t>Two Phases:</a:t>
            </a:r>
          </a:p>
          <a:p>
            <a:pPr lvl="1">
              <a:spcBef>
                <a:spcPct val="0"/>
              </a:spcBef>
            </a:pPr>
            <a:r>
              <a:rPr lang="en-US" sz="2600" dirty="0">
                <a:cs typeface="Times New Roman" pitchFamily="18" charset="0"/>
              </a:rPr>
              <a:t>(a) Locking (Growing)</a:t>
            </a:r>
          </a:p>
          <a:p>
            <a:pPr lvl="1">
              <a:spcBef>
                <a:spcPct val="0"/>
              </a:spcBef>
            </a:pPr>
            <a:r>
              <a:rPr lang="en-US" sz="2600" dirty="0">
                <a:cs typeface="Times New Roman" pitchFamily="18" charset="0"/>
              </a:rPr>
              <a:t>(b) Unlocking (Shrinking).</a:t>
            </a:r>
          </a:p>
          <a:p>
            <a:pPr algn="just">
              <a:spcBef>
                <a:spcPct val="0"/>
              </a:spcBef>
            </a:pPr>
            <a:r>
              <a:rPr lang="en-US" b="1" dirty="0">
                <a:solidFill>
                  <a:srgbClr val="FF0000"/>
                </a:solidFill>
                <a:cs typeface="Times New Roman" pitchFamily="18" charset="0"/>
              </a:rPr>
              <a:t>Locking (Growing) Phase:</a:t>
            </a:r>
          </a:p>
          <a:p>
            <a:pPr lvl="1" algn="just">
              <a:spcBef>
                <a:spcPct val="0"/>
              </a:spcBef>
            </a:pPr>
            <a:r>
              <a:rPr lang="en-US" sz="2600" dirty="0">
                <a:cs typeface="Times New Roman" pitchFamily="18" charset="0"/>
              </a:rPr>
              <a:t>A transaction applies locks (read or write) on desired data items one at a time.</a:t>
            </a:r>
          </a:p>
          <a:p>
            <a:pPr algn="just">
              <a:spcBef>
                <a:spcPct val="0"/>
              </a:spcBef>
            </a:pPr>
            <a:r>
              <a:rPr lang="en-US" b="1" dirty="0">
                <a:solidFill>
                  <a:srgbClr val="FF0000"/>
                </a:solidFill>
                <a:cs typeface="Times New Roman" pitchFamily="18" charset="0"/>
              </a:rPr>
              <a:t>Unlocking (Shrinking) Phase:</a:t>
            </a:r>
          </a:p>
          <a:p>
            <a:pPr lvl="1" algn="just">
              <a:spcBef>
                <a:spcPct val="0"/>
              </a:spcBef>
            </a:pPr>
            <a:r>
              <a:rPr lang="en-US" sz="2600" dirty="0">
                <a:cs typeface="Times New Roman" pitchFamily="18" charset="0"/>
              </a:rPr>
              <a:t>A transaction unlocks its locked data items one at a time.</a:t>
            </a:r>
          </a:p>
          <a:p>
            <a:pPr algn="just">
              <a:spcBef>
                <a:spcPct val="0"/>
              </a:spcBef>
            </a:pPr>
            <a:r>
              <a:rPr lang="en-US" b="1" dirty="0">
                <a:solidFill>
                  <a:srgbClr val="FF0000"/>
                </a:solidFill>
                <a:cs typeface="Times New Roman" pitchFamily="18" charset="0"/>
              </a:rPr>
              <a:t>Requirement:</a:t>
            </a:r>
          </a:p>
          <a:p>
            <a:pPr lvl="1" algn="just">
              <a:spcBef>
                <a:spcPct val="0"/>
              </a:spcBef>
            </a:pPr>
            <a:r>
              <a:rPr lang="en-US" sz="2600" dirty="0">
                <a:cs typeface="Times New Roman" pitchFamily="18" charset="0"/>
              </a:rPr>
              <a:t>For a transaction these two phases must be </a:t>
            </a:r>
            <a:r>
              <a:rPr lang="en-US" sz="2600" b="1" u="sng" dirty="0">
                <a:cs typeface="Times New Roman" pitchFamily="18" charset="0"/>
              </a:rPr>
              <a:t>mutually exclusively</a:t>
            </a:r>
            <a:r>
              <a:rPr lang="en-US" sz="2600" dirty="0">
                <a:cs typeface="Times New Roman" pitchFamily="18" charset="0"/>
              </a:rPr>
              <a:t>, that is, </a:t>
            </a:r>
            <a:r>
              <a:rPr lang="en-US" sz="2600" dirty="0">
                <a:solidFill>
                  <a:srgbClr val="FF0000"/>
                </a:solidFill>
                <a:cs typeface="Times New Roman" pitchFamily="18" charset="0"/>
              </a:rPr>
              <a:t>during locking phase unlocking phase must not start and during unlocking phase locking phase must not begin.</a:t>
            </a:r>
          </a:p>
        </p:txBody>
      </p:sp>
      <p:sp>
        <p:nvSpPr>
          <p:cNvPr id="3" name="Slide Number Placeholder 2">
            <a:extLst>
              <a:ext uri="{FF2B5EF4-FFF2-40B4-BE49-F238E27FC236}">
                <a16:creationId xmlns:a16="http://schemas.microsoft.com/office/drawing/2014/main" id="{CBCD691E-6EB1-4B93-0D23-E08A9A9F8834}"/>
              </a:ext>
            </a:extLst>
          </p:cNvPr>
          <p:cNvSpPr>
            <a:spLocks noGrp="1"/>
          </p:cNvSpPr>
          <p:nvPr>
            <p:ph type="sldNum" sz="quarter" idx="12"/>
          </p:nvPr>
        </p:nvSpPr>
        <p:spPr/>
        <p:txBody>
          <a:bodyPr/>
          <a:lstStyle/>
          <a:p>
            <a:fld id="{F8EF2FF5-BD00-45B8-A71A-EAE2607F0774}" type="slidenum">
              <a:rPr lang="en-IN" smtClean="0"/>
              <a:t>23</a:t>
            </a:fld>
            <a:endParaRPr lang="en-IN"/>
          </a:p>
        </p:txBody>
      </p:sp>
    </p:spTree>
    <p:extLst>
      <p:ext uri="{BB962C8B-B14F-4D97-AF65-F5344CB8AC3E}">
        <p14:creationId xmlns:p14="http://schemas.microsoft.com/office/powerpoint/2010/main" val="15296150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accent2">
                    <a:lumMod val="60000"/>
                    <a:lumOff val="40000"/>
                  </a:schemeClr>
                </a:solidFill>
              </a:rPr>
              <a:t>Two- Phase Locking Protocol</a:t>
            </a:r>
            <a:endParaRPr lang="en-IN" dirty="0">
              <a:solidFill>
                <a:schemeClr val="accent2">
                  <a:lumMod val="60000"/>
                  <a:lumOff val="40000"/>
                </a:schemeClr>
              </a:solidFill>
            </a:endParaRPr>
          </a:p>
        </p:txBody>
      </p:sp>
      <p:sp>
        <p:nvSpPr>
          <p:cNvPr id="3" name="Content Placeholder 2"/>
          <p:cNvSpPr>
            <a:spLocks noGrp="1"/>
          </p:cNvSpPr>
          <p:nvPr>
            <p:ph idx="1"/>
          </p:nvPr>
        </p:nvSpPr>
        <p:spPr/>
        <p:txBody>
          <a:bodyPr>
            <a:normAutofit fontScale="85000" lnSpcReduction="10000"/>
          </a:bodyPr>
          <a:lstStyle/>
          <a:p>
            <a:pPr algn="just"/>
            <a:r>
              <a:rPr lang="en-US" dirty="0">
                <a:latin typeface="Times New Roman" pitchFamily="18" charset="0"/>
                <a:cs typeface="Times New Roman" pitchFamily="18" charset="0"/>
              </a:rPr>
              <a:t>It is also known as a 2PL protocol. It is also called P2L. </a:t>
            </a:r>
          </a:p>
          <a:p>
            <a:pPr algn="just"/>
            <a:r>
              <a:rPr lang="en-US" dirty="0">
                <a:latin typeface="Times New Roman" pitchFamily="18" charset="0"/>
                <a:cs typeface="Times New Roman" pitchFamily="18" charset="0"/>
              </a:rPr>
              <a:t>In this type of locking protocol, the transaction should acquire a lock after it releases one of its locks.</a:t>
            </a:r>
          </a:p>
          <a:p>
            <a:pPr algn="just"/>
            <a:r>
              <a:rPr lang="en-US" dirty="0">
                <a:latin typeface="Times New Roman" pitchFamily="18" charset="0"/>
                <a:cs typeface="Times New Roman" pitchFamily="18" charset="0"/>
              </a:rPr>
              <a:t>A transaction is said to follow Two Phase Locking protocol if Locking and Unlocking can be done in two phases.</a:t>
            </a:r>
          </a:p>
          <a:p>
            <a:pPr algn="just"/>
            <a:r>
              <a:rPr lang="en-US" b="1" dirty="0">
                <a:solidFill>
                  <a:schemeClr val="accent2">
                    <a:lumMod val="60000"/>
                    <a:lumOff val="40000"/>
                  </a:schemeClr>
                </a:solidFill>
                <a:latin typeface="Times New Roman" pitchFamily="18" charset="0"/>
                <a:cs typeface="Times New Roman" pitchFamily="18" charset="0"/>
              </a:rPr>
              <a:t>Growing Phase</a:t>
            </a:r>
            <a:r>
              <a:rPr lang="en-US" dirty="0">
                <a:solidFill>
                  <a:schemeClr val="accent2">
                    <a:lumMod val="60000"/>
                    <a:lumOff val="40000"/>
                  </a:schemeClr>
                </a:solidFill>
                <a:latin typeface="Times New Roman" pitchFamily="18" charset="0"/>
                <a:cs typeface="Times New Roman" pitchFamily="18" charset="0"/>
              </a:rPr>
              <a:t>: </a:t>
            </a:r>
            <a:r>
              <a:rPr lang="en-US" dirty="0">
                <a:latin typeface="Times New Roman" pitchFamily="18" charset="0"/>
                <a:cs typeface="Times New Roman" pitchFamily="18" charset="0"/>
              </a:rPr>
              <a:t>New locks on data items may be acquired but none can be released.</a:t>
            </a:r>
          </a:p>
          <a:p>
            <a:pPr algn="just"/>
            <a:r>
              <a:rPr lang="en-US" b="1" dirty="0">
                <a:solidFill>
                  <a:schemeClr val="accent2">
                    <a:lumMod val="60000"/>
                    <a:lumOff val="40000"/>
                  </a:schemeClr>
                </a:solidFill>
                <a:latin typeface="Times New Roman" pitchFamily="18" charset="0"/>
                <a:cs typeface="Times New Roman" pitchFamily="18" charset="0"/>
              </a:rPr>
              <a:t>Shrinking Phase</a:t>
            </a:r>
            <a:r>
              <a:rPr lang="en-US" dirty="0">
                <a:solidFill>
                  <a:schemeClr val="accent2">
                    <a:lumMod val="60000"/>
                    <a:lumOff val="40000"/>
                  </a:schemeClr>
                </a:solidFill>
                <a:latin typeface="Times New Roman" pitchFamily="18" charset="0"/>
                <a:cs typeface="Times New Roman" pitchFamily="18" charset="0"/>
              </a:rPr>
              <a:t>: </a:t>
            </a:r>
            <a:r>
              <a:rPr lang="en-US" dirty="0">
                <a:latin typeface="Times New Roman" pitchFamily="18" charset="0"/>
                <a:cs typeface="Times New Roman" pitchFamily="18" charset="0"/>
              </a:rPr>
              <a:t>Existing locks may be released but no new locks can be acquired.</a:t>
            </a:r>
          </a:p>
          <a:p>
            <a:pPr algn="just"/>
            <a:endParaRPr lang="en-US" dirty="0">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01E13815-2CF6-3030-AD19-7FA8972F7154}"/>
              </a:ext>
            </a:extLst>
          </p:cNvPr>
          <p:cNvSpPr>
            <a:spLocks noGrp="1"/>
          </p:cNvSpPr>
          <p:nvPr>
            <p:ph type="sldNum" sz="quarter" idx="12"/>
          </p:nvPr>
        </p:nvSpPr>
        <p:spPr/>
        <p:txBody>
          <a:bodyPr/>
          <a:lstStyle/>
          <a:p>
            <a:fld id="{F8EF2FF5-BD00-45B8-A71A-EAE2607F0774}" type="slidenum">
              <a:rPr lang="en-IN" smtClean="0"/>
              <a:t>24</a:t>
            </a:fld>
            <a:endParaRPr lang="en-IN"/>
          </a:p>
        </p:txBody>
      </p:sp>
    </p:spTree>
    <p:extLst>
      <p:ext uri="{BB962C8B-B14F-4D97-AF65-F5344CB8AC3E}">
        <p14:creationId xmlns:p14="http://schemas.microsoft.com/office/powerpoint/2010/main" val="6408998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23528" y="764704"/>
            <a:ext cx="8581159" cy="4824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2843808" y="5800003"/>
            <a:ext cx="3986925" cy="523220"/>
          </a:xfrm>
          <a:prstGeom prst="rect">
            <a:avLst/>
          </a:prstGeom>
        </p:spPr>
        <p:txBody>
          <a:bodyPr wrap="none">
            <a:spAutoFit/>
          </a:bodyPr>
          <a:lstStyle/>
          <a:p>
            <a:r>
              <a:rPr lang="en-US" sz="2800" dirty="0"/>
              <a:t>Two- Phase Locking Protocol</a:t>
            </a:r>
            <a:endParaRPr lang="en-IN" sz="2800" dirty="0"/>
          </a:p>
        </p:txBody>
      </p:sp>
      <p:sp>
        <p:nvSpPr>
          <p:cNvPr id="2" name="Slide Number Placeholder 1">
            <a:extLst>
              <a:ext uri="{FF2B5EF4-FFF2-40B4-BE49-F238E27FC236}">
                <a16:creationId xmlns:a16="http://schemas.microsoft.com/office/drawing/2014/main" id="{5C7D7867-E4A7-9293-20A0-2A218A1DA228}"/>
              </a:ext>
            </a:extLst>
          </p:cNvPr>
          <p:cNvSpPr>
            <a:spLocks noGrp="1"/>
          </p:cNvSpPr>
          <p:nvPr>
            <p:ph type="sldNum" sz="quarter" idx="12"/>
          </p:nvPr>
        </p:nvSpPr>
        <p:spPr/>
        <p:txBody>
          <a:bodyPr/>
          <a:lstStyle/>
          <a:p>
            <a:fld id="{F8EF2FF5-BD00-45B8-A71A-EAE2607F0774}" type="slidenum">
              <a:rPr lang="en-IN" smtClean="0"/>
              <a:t>25</a:t>
            </a:fld>
            <a:endParaRPr lang="en-IN"/>
          </a:p>
        </p:txBody>
      </p:sp>
    </p:spTree>
    <p:extLst>
      <p:ext uri="{BB962C8B-B14F-4D97-AF65-F5344CB8AC3E}">
        <p14:creationId xmlns:p14="http://schemas.microsoft.com/office/powerpoint/2010/main" val="3740432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Two- Phase Locking Protocol</a:t>
            </a:r>
            <a:endParaRPr lang="en-IN" dirty="0"/>
          </a:p>
        </p:txBody>
      </p:sp>
      <p:sp>
        <p:nvSpPr>
          <p:cNvPr id="3" name="Content Placeholder 2"/>
          <p:cNvSpPr>
            <a:spLocks noGrp="1"/>
          </p:cNvSpPr>
          <p:nvPr>
            <p:ph idx="1"/>
          </p:nvPr>
        </p:nvSpPr>
        <p:spPr/>
        <p:txBody>
          <a:bodyPr/>
          <a:lstStyle/>
          <a:p>
            <a:endParaRPr lang="en-IN"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4" y="1412776"/>
            <a:ext cx="7992888" cy="5024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Slide Number Placeholder 3">
            <a:extLst>
              <a:ext uri="{FF2B5EF4-FFF2-40B4-BE49-F238E27FC236}">
                <a16:creationId xmlns:a16="http://schemas.microsoft.com/office/drawing/2014/main" id="{47DC756A-0F82-6686-53B0-28CD97A5EF3B}"/>
              </a:ext>
            </a:extLst>
          </p:cNvPr>
          <p:cNvSpPr>
            <a:spLocks noGrp="1"/>
          </p:cNvSpPr>
          <p:nvPr>
            <p:ph type="sldNum" sz="quarter" idx="12"/>
          </p:nvPr>
        </p:nvSpPr>
        <p:spPr/>
        <p:txBody>
          <a:bodyPr/>
          <a:lstStyle/>
          <a:p>
            <a:fld id="{F8EF2FF5-BD00-45B8-A71A-EAE2607F0774}" type="slidenum">
              <a:rPr lang="en-IN" smtClean="0"/>
              <a:t>26</a:t>
            </a:fld>
            <a:endParaRPr lang="en-IN"/>
          </a:p>
        </p:txBody>
      </p:sp>
    </p:spTree>
    <p:extLst>
      <p:ext uri="{BB962C8B-B14F-4D97-AF65-F5344CB8AC3E}">
        <p14:creationId xmlns:p14="http://schemas.microsoft.com/office/powerpoint/2010/main" val="26322501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Two-Phase Locking </a:t>
            </a:r>
            <a:endParaRPr lang="en-IN" dirty="0"/>
          </a:p>
        </p:txBody>
      </p:sp>
      <p:sp>
        <p:nvSpPr>
          <p:cNvPr id="4" name="Rectangle 12"/>
          <p:cNvSpPr>
            <a:spLocks noGrp="1" noChangeArrowheads="1"/>
          </p:cNvSpPr>
          <p:nvPr>
            <p:ph idx="1"/>
          </p:nvPr>
        </p:nvSpPr>
        <p:spPr>
          <a:xfrm>
            <a:off x="323528" y="1447800"/>
            <a:ext cx="8820472" cy="4572000"/>
          </a:xfrm>
        </p:spPr>
        <p:txBody>
          <a:bodyPr>
            <a:normAutofit/>
          </a:bodyPr>
          <a:lstStyle/>
          <a:p>
            <a:pPr eaLnBrk="1" hangingPunct="1">
              <a:buFont typeface="Wingdings" pitchFamily="2" charset="2"/>
              <a:buNone/>
            </a:pPr>
            <a:r>
              <a:rPr lang="en-US" sz="2400" dirty="0">
                <a:cs typeface="Times New Roman" pitchFamily="18" charset="0"/>
              </a:rPr>
              <a:t>Two-Phase Locking Techniques: The algorithm   ( Serial Execution)</a:t>
            </a:r>
          </a:p>
          <a:p>
            <a:pPr eaLnBrk="1" hangingPunct="1">
              <a:spcBef>
                <a:spcPct val="50000"/>
              </a:spcBef>
              <a:buFont typeface="Wingdings" pitchFamily="2" charset="2"/>
              <a:buNone/>
            </a:pPr>
            <a:r>
              <a:rPr lang="en-US" sz="1800" dirty="0">
                <a:cs typeface="Times New Roman" pitchFamily="18" charset="0"/>
              </a:rPr>
              <a:t>	</a:t>
            </a:r>
            <a:r>
              <a:rPr lang="en-US" sz="1800" b="1" dirty="0">
                <a:cs typeface="Times New Roman" pitchFamily="18" charset="0"/>
              </a:rPr>
              <a:t>	</a:t>
            </a:r>
            <a:r>
              <a:rPr lang="en-US" sz="2400" b="1" u="sng" dirty="0">
                <a:cs typeface="Times New Roman" pitchFamily="18" charset="0"/>
              </a:rPr>
              <a:t>T1</a:t>
            </a:r>
            <a:r>
              <a:rPr lang="en-US" sz="2400" b="1" dirty="0">
                <a:cs typeface="Times New Roman" pitchFamily="18" charset="0"/>
              </a:rPr>
              <a:t>			</a:t>
            </a:r>
            <a:r>
              <a:rPr lang="en-US" sz="2400" b="1" u="sng" dirty="0">
                <a:cs typeface="Times New Roman" pitchFamily="18" charset="0"/>
              </a:rPr>
              <a:t>T2</a:t>
            </a:r>
            <a:r>
              <a:rPr lang="en-US" sz="2400" b="1" dirty="0">
                <a:cs typeface="Times New Roman" pitchFamily="18" charset="0"/>
              </a:rPr>
              <a:t>		    </a:t>
            </a:r>
            <a:r>
              <a:rPr lang="en-US" sz="2400" b="1" u="sng" dirty="0">
                <a:cs typeface="Times New Roman" pitchFamily="18" charset="0"/>
              </a:rPr>
              <a:t>Result</a:t>
            </a:r>
          </a:p>
          <a:p>
            <a:pPr>
              <a:spcBef>
                <a:spcPct val="50000"/>
              </a:spcBef>
              <a:buNone/>
            </a:pPr>
            <a:r>
              <a:rPr lang="en-US" sz="2400" dirty="0">
                <a:cs typeface="Times New Roman" pitchFamily="18" charset="0"/>
              </a:rPr>
              <a:t>	</a:t>
            </a:r>
            <a:r>
              <a:rPr lang="en-US" sz="2400" dirty="0" err="1">
                <a:cs typeface="Times New Roman" pitchFamily="18" charset="0"/>
              </a:rPr>
              <a:t>read_lock</a:t>
            </a:r>
            <a:r>
              <a:rPr lang="en-US" sz="2400" dirty="0">
                <a:cs typeface="Times New Roman" pitchFamily="18" charset="0"/>
              </a:rPr>
              <a:t> (Y);	</a:t>
            </a:r>
            <a:r>
              <a:rPr lang="en-US" sz="2400" dirty="0" err="1">
                <a:cs typeface="Times New Roman" pitchFamily="18" charset="0"/>
              </a:rPr>
              <a:t>read_lock</a:t>
            </a:r>
            <a:r>
              <a:rPr lang="en-US" sz="2400" dirty="0">
                <a:cs typeface="Times New Roman" pitchFamily="18" charset="0"/>
              </a:rPr>
              <a:t> (X);	         </a:t>
            </a:r>
            <a:r>
              <a:rPr lang="en-US" sz="2400" dirty="0">
                <a:solidFill>
                  <a:srgbClr val="FF0000"/>
                </a:solidFill>
                <a:cs typeface="Times New Roman" pitchFamily="18" charset="0"/>
              </a:rPr>
              <a:t>Initial values: X=20; Y=30</a:t>
            </a:r>
          </a:p>
          <a:p>
            <a:pPr eaLnBrk="1" hangingPunct="1">
              <a:spcBef>
                <a:spcPct val="0"/>
              </a:spcBef>
              <a:buFont typeface="Wingdings" pitchFamily="2" charset="2"/>
              <a:buNone/>
            </a:pPr>
            <a:r>
              <a:rPr lang="en-US" sz="2400" dirty="0">
                <a:cs typeface="Times New Roman" pitchFamily="18" charset="0"/>
              </a:rPr>
              <a:t>	</a:t>
            </a:r>
            <a:r>
              <a:rPr lang="en-US" sz="2400" dirty="0" err="1">
                <a:cs typeface="Times New Roman" pitchFamily="18" charset="0"/>
              </a:rPr>
              <a:t>read_item</a:t>
            </a:r>
            <a:r>
              <a:rPr lang="en-US" sz="2400" dirty="0">
                <a:cs typeface="Times New Roman" pitchFamily="18" charset="0"/>
              </a:rPr>
              <a:t> (Y);	</a:t>
            </a:r>
            <a:r>
              <a:rPr lang="en-US" sz="2400" dirty="0" err="1">
                <a:cs typeface="Times New Roman" pitchFamily="18" charset="0"/>
              </a:rPr>
              <a:t>read_item</a:t>
            </a:r>
            <a:r>
              <a:rPr lang="en-US" sz="2400" dirty="0">
                <a:cs typeface="Times New Roman" pitchFamily="18" charset="0"/>
              </a:rPr>
              <a:t> (X);	</a:t>
            </a:r>
            <a:endParaRPr lang="en-US" sz="2400" dirty="0">
              <a:solidFill>
                <a:srgbClr val="FF0000"/>
              </a:solidFill>
              <a:cs typeface="Times New Roman" pitchFamily="18" charset="0"/>
            </a:endParaRPr>
          </a:p>
          <a:p>
            <a:pPr eaLnBrk="1" hangingPunct="1">
              <a:spcBef>
                <a:spcPct val="0"/>
              </a:spcBef>
              <a:buFont typeface="Wingdings" pitchFamily="2" charset="2"/>
              <a:buNone/>
            </a:pPr>
            <a:r>
              <a:rPr lang="en-US" sz="2400" dirty="0">
                <a:cs typeface="Times New Roman" pitchFamily="18" charset="0"/>
              </a:rPr>
              <a:t>	unlock (Y);		unlock (X);	</a:t>
            </a:r>
            <a:endParaRPr lang="en-US" sz="2400" dirty="0">
              <a:solidFill>
                <a:srgbClr val="FF0000"/>
              </a:solidFill>
              <a:cs typeface="Times New Roman" pitchFamily="18" charset="0"/>
            </a:endParaRPr>
          </a:p>
          <a:p>
            <a:pPr eaLnBrk="1" hangingPunct="1">
              <a:spcBef>
                <a:spcPct val="0"/>
              </a:spcBef>
              <a:buFont typeface="Wingdings" pitchFamily="2" charset="2"/>
              <a:buNone/>
            </a:pPr>
            <a:r>
              <a:rPr lang="en-US" sz="2400" dirty="0">
                <a:cs typeface="Times New Roman" pitchFamily="18" charset="0"/>
              </a:rPr>
              <a:t>	</a:t>
            </a:r>
            <a:r>
              <a:rPr lang="en-US" sz="2400" dirty="0" err="1">
                <a:cs typeface="Times New Roman" pitchFamily="18" charset="0"/>
              </a:rPr>
              <a:t>write_lock</a:t>
            </a:r>
            <a:r>
              <a:rPr lang="en-US" sz="2400" dirty="0">
                <a:cs typeface="Times New Roman" pitchFamily="18" charset="0"/>
              </a:rPr>
              <a:t> (X);	</a:t>
            </a:r>
            <a:r>
              <a:rPr lang="en-US" sz="2400" dirty="0" err="1">
                <a:cs typeface="Times New Roman" pitchFamily="18" charset="0"/>
              </a:rPr>
              <a:t>Write_lock</a:t>
            </a:r>
            <a:r>
              <a:rPr lang="en-US" sz="2400" dirty="0">
                <a:cs typeface="Times New Roman" pitchFamily="18" charset="0"/>
              </a:rPr>
              <a:t> (Y);	</a:t>
            </a:r>
          </a:p>
          <a:p>
            <a:pPr eaLnBrk="1" hangingPunct="1">
              <a:spcBef>
                <a:spcPct val="0"/>
              </a:spcBef>
              <a:buFont typeface="Wingdings" pitchFamily="2" charset="2"/>
              <a:buNone/>
            </a:pPr>
            <a:r>
              <a:rPr lang="en-US" sz="2400" dirty="0">
                <a:cs typeface="Times New Roman" pitchFamily="18" charset="0"/>
              </a:rPr>
              <a:t>	</a:t>
            </a:r>
            <a:r>
              <a:rPr lang="en-US" sz="2400" dirty="0" err="1">
                <a:cs typeface="Times New Roman" pitchFamily="18" charset="0"/>
              </a:rPr>
              <a:t>read_item</a:t>
            </a:r>
            <a:r>
              <a:rPr lang="en-US" sz="2400" dirty="0">
                <a:cs typeface="Times New Roman" pitchFamily="18" charset="0"/>
              </a:rPr>
              <a:t> (X);	</a:t>
            </a:r>
            <a:r>
              <a:rPr lang="en-US" sz="2400" dirty="0" err="1">
                <a:cs typeface="Times New Roman" pitchFamily="18" charset="0"/>
              </a:rPr>
              <a:t>read_item</a:t>
            </a:r>
            <a:r>
              <a:rPr lang="en-US" sz="2400" dirty="0">
                <a:cs typeface="Times New Roman" pitchFamily="18" charset="0"/>
              </a:rPr>
              <a:t> (Y);	    </a:t>
            </a:r>
            <a:endParaRPr lang="en-US" sz="2400" dirty="0">
              <a:solidFill>
                <a:srgbClr val="FF0000"/>
              </a:solidFill>
              <a:cs typeface="Times New Roman" pitchFamily="18" charset="0"/>
            </a:endParaRPr>
          </a:p>
          <a:p>
            <a:pPr eaLnBrk="1" hangingPunct="1">
              <a:spcBef>
                <a:spcPct val="0"/>
              </a:spcBef>
              <a:buFont typeface="Wingdings" pitchFamily="2" charset="2"/>
              <a:buNone/>
            </a:pPr>
            <a:r>
              <a:rPr lang="en-US" sz="2400" dirty="0">
                <a:cs typeface="Times New Roman" pitchFamily="18" charset="0"/>
              </a:rPr>
              <a:t>	X:=X+Y;		Y:=X+Y;	    </a:t>
            </a:r>
            <a:r>
              <a:rPr lang="en-US" sz="2400" dirty="0">
                <a:solidFill>
                  <a:srgbClr val="FF0000"/>
                </a:solidFill>
                <a:cs typeface="Times New Roman" pitchFamily="18" charset="0"/>
              </a:rPr>
              <a:t> </a:t>
            </a:r>
          </a:p>
          <a:p>
            <a:pPr eaLnBrk="1" hangingPunct="1">
              <a:spcBef>
                <a:spcPct val="0"/>
              </a:spcBef>
              <a:buFont typeface="Wingdings" pitchFamily="2" charset="2"/>
              <a:buNone/>
            </a:pPr>
            <a:r>
              <a:rPr lang="en-US" sz="2400" dirty="0">
                <a:cs typeface="Times New Roman" pitchFamily="18" charset="0"/>
              </a:rPr>
              <a:t>	</a:t>
            </a:r>
            <a:r>
              <a:rPr lang="en-US" sz="2400" dirty="0" err="1">
                <a:cs typeface="Times New Roman" pitchFamily="18" charset="0"/>
              </a:rPr>
              <a:t>write_item</a:t>
            </a:r>
            <a:r>
              <a:rPr lang="en-US" sz="2400" dirty="0">
                <a:cs typeface="Times New Roman" pitchFamily="18" charset="0"/>
              </a:rPr>
              <a:t> (X);	</a:t>
            </a:r>
            <a:r>
              <a:rPr lang="en-US" sz="2400" dirty="0" err="1">
                <a:cs typeface="Times New Roman" pitchFamily="18" charset="0"/>
              </a:rPr>
              <a:t>write_item</a:t>
            </a:r>
            <a:r>
              <a:rPr lang="en-US" sz="2400" dirty="0">
                <a:cs typeface="Times New Roman" pitchFamily="18" charset="0"/>
              </a:rPr>
              <a:t> (Y);	    </a:t>
            </a:r>
            <a:endParaRPr lang="en-US" sz="2400" dirty="0">
              <a:solidFill>
                <a:srgbClr val="FF0000"/>
              </a:solidFill>
              <a:cs typeface="Times New Roman" pitchFamily="18" charset="0"/>
            </a:endParaRPr>
          </a:p>
          <a:p>
            <a:pPr eaLnBrk="1" hangingPunct="1">
              <a:spcBef>
                <a:spcPct val="0"/>
              </a:spcBef>
              <a:buFont typeface="Wingdings" pitchFamily="2" charset="2"/>
              <a:buNone/>
            </a:pPr>
            <a:r>
              <a:rPr lang="en-US" sz="2400" dirty="0">
                <a:cs typeface="Times New Roman" pitchFamily="18" charset="0"/>
              </a:rPr>
              <a:t>	unlock (X);		unlock (Y);</a:t>
            </a:r>
            <a:endParaRPr lang="en-US" sz="2400" dirty="0">
              <a:cs typeface="Times New Roman" pitchFamily="18" charset="0"/>
              <a:sym typeface="Symbol" pitchFamily="18" charset="2"/>
            </a:endParaRPr>
          </a:p>
          <a:p>
            <a:pPr eaLnBrk="1" hangingPunct="1">
              <a:buFont typeface="Wingdings" pitchFamily="2" charset="2"/>
              <a:buNone/>
            </a:pPr>
            <a:endParaRPr lang="en-US" dirty="0"/>
          </a:p>
        </p:txBody>
      </p:sp>
      <p:sp>
        <p:nvSpPr>
          <p:cNvPr id="3" name="Slide Number Placeholder 2">
            <a:extLst>
              <a:ext uri="{FF2B5EF4-FFF2-40B4-BE49-F238E27FC236}">
                <a16:creationId xmlns:a16="http://schemas.microsoft.com/office/drawing/2014/main" id="{E86EC58B-20CE-9ACB-F27F-8E31A7230F40}"/>
              </a:ext>
            </a:extLst>
          </p:cNvPr>
          <p:cNvSpPr>
            <a:spLocks noGrp="1"/>
          </p:cNvSpPr>
          <p:nvPr>
            <p:ph type="sldNum" sz="quarter" idx="12"/>
          </p:nvPr>
        </p:nvSpPr>
        <p:spPr/>
        <p:txBody>
          <a:bodyPr/>
          <a:lstStyle/>
          <a:p>
            <a:fld id="{F8EF2FF5-BD00-45B8-A71A-EAE2607F0774}" type="slidenum">
              <a:rPr lang="en-IN" smtClean="0"/>
              <a:t>27</a:t>
            </a:fld>
            <a:endParaRPr lang="en-IN"/>
          </a:p>
        </p:txBody>
      </p:sp>
    </p:spTree>
    <p:extLst>
      <p:ext uri="{BB962C8B-B14F-4D97-AF65-F5344CB8AC3E}">
        <p14:creationId xmlns:p14="http://schemas.microsoft.com/office/powerpoint/2010/main" val="17866693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Two-Phase Locking </a:t>
            </a:r>
            <a:endParaRPr lang="en-IN" dirty="0"/>
          </a:p>
        </p:txBody>
      </p:sp>
      <p:sp>
        <p:nvSpPr>
          <p:cNvPr id="4" name="Rectangle 12"/>
          <p:cNvSpPr>
            <a:spLocks noGrp="1" noChangeArrowheads="1"/>
          </p:cNvSpPr>
          <p:nvPr>
            <p:ph idx="1"/>
          </p:nvPr>
        </p:nvSpPr>
        <p:spPr>
          <a:xfrm>
            <a:off x="323528" y="1447800"/>
            <a:ext cx="8820472" cy="4572000"/>
          </a:xfrm>
        </p:spPr>
        <p:txBody>
          <a:bodyPr>
            <a:normAutofit/>
          </a:bodyPr>
          <a:lstStyle/>
          <a:p>
            <a:pPr eaLnBrk="1" hangingPunct="1">
              <a:buFont typeface="Wingdings" pitchFamily="2" charset="2"/>
              <a:buNone/>
            </a:pPr>
            <a:r>
              <a:rPr lang="en-US" sz="2400" dirty="0">
                <a:cs typeface="Times New Roman" pitchFamily="18" charset="0"/>
              </a:rPr>
              <a:t>Two-Phase Locking Techniques: The algorithm</a:t>
            </a:r>
          </a:p>
          <a:p>
            <a:pPr eaLnBrk="1" hangingPunct="1">
              <a:spcBef>
                <a:spcPct val="50000"/>
              </a:spcBef>
              <a:buFont typeface="Wingdings" pitchFamily="2" charset="2"/>
              <a:buNone/>
            </a:pPr>
            <a:r>
              <a:rPr lang="en-US" sz="1800" dirty="0">
                <a:cs typeface="Times New Roman" pitchFamily="18" charset="0"/>
              </a:rPr>
              <a:t>	</a:t>
            </a:r>
            <a:r>
              <a:rPr lang="en-US" sz="1800" b="1" dirty="0">
                <a:cs typeface="Times New Roman" pitchFamily="18" charset="0"/>
              </a:rPr>
              <a:t>	</a:t>
            </a:r>
            <a:r>
              <a:rPr lang="en-US" sz="2400" b="1" u="sng" dirty="0">
                <a:cs typeface="Times New Roman" pitchFamily="18" charset="0"/>
              </a:rPr>
              <a:t>T1</a:t>
            </a:r>
            <a:r>
              <a:rPr lang="en-US" sz="2400" b="1" dirty="0">
                <a:cs typeface="Times New Roman" pitchFamily="18" charset="0"/>
              </a:rPr>
              <a:t>			</a:t>
            </a:r>
            <a:r>
              <a:rPr lang="en-US" sz="2400" b="1" u="sng" dirty="0">
                <a:cs typeface="Times New Roman" pitchFamily="18" charset="0"/>
              </a:rPr>
              <a:t>T2</a:t>
            </a:r>
            <a:r>
              <a:rPr lang="en-US" sz="2400" b="1" dirty="0">
                <a:cs typeface="Times New Roman" pitchFamily="18" charset="0"/>
              </a:rPr>
              <a:t>		    </a:t>
            </a:r>
            <a:r>
              <a:rPr lang="en-US" sz="2400" b="1" u="sng" dirty="0">
                <a:cs typeface="Times New Roman" pitchFamily="18" charset="0"/>
              </a:rPr>
              <a:t>Result</a:t>
            </a:r>
          </a:p>
          <a:p>
            <a:pPr eaLnBrk="1" hangingPunct="1">
              <a:spcBef>
                <a:spcPct val="50000"/>
              </a:spcBef>
              <a:buFont typeface="Wingdings" pitchFamily="2" charset="2"/>
              <a:buNone/>
            </a:pPr>
            <a:r>
              <a:rPr lang="en-US" sz="2400" dirty="0">
                <a:cs typeface="Times New Roman" pitchFamily="18" charset="0"/>
              </a:rPr>
              <a:t>	</a:t>
            </a:r>
            <a:r>
              <a:rPr lang="en-US" sz="2400" dirty="0" err="1">
                <a:cs typeface="Times New Roman" pitchFamily="18" charset="0"/>
              </a:rPr>
              <a:t>read_lock</a:t>
            </a:r>
            <a:r>
              <a:rPr lang="en-US" sz="2400" dirty="0">
                <a:cs typeface="Times New Roman" pitchFamily="18" charset="0"/>
              </a:rPr>
              <a:t> (Y);	</a:t>
            </a:r>
            <a:r>
              <a:rPr lang="en-US" sz="2400" dirty="0" err="1">
                <a:cs typeface="Times New Roman" pitchFamily="18" charset="0"/>
              </a:rPr>
              <a:t>read_lock</a:t>
            </a:r>
            <a:r>
              <a:rPr lang="en-US" sz="2400" dirty="0">
                <a:cs typeface="Times New Roman" pitchFamily="18" charset="0"/>
              </a:rPr>
              <a:t> (X);	    </a:t>
            </a:r>
            <a:r>
              <a:rPr lang="en-US" sz="2400" dirty="0">
                <a:solidFill>
                  <a:srgbClr val="FF0000"/>
                </a:solidFill>
                <a:cs typeface="Times New Roman" pitchFamily="18" charset="0"/>
              </a:rPr>
              <a:t>Initial values: X=20; Y=30</a:t>
            </a:r>
          </a:p>
          <a:p>
            <a:pPr eaLnBrk="1" hangingPunct="1">
              <a:spcBef>
                <a:spcPct val="0"/>
              </a:spcBef>
              <a:buFont typeface="Wingdings" pitchFamily="2" charset="2"/>
              <a:buNone/>
            </a:pPr>
            <a:r>
              <a:rPr lang="en-US" sz="2400" dirty="0">
                <a:cs typeface="Times New Roman" pitchFamily="18" charset="0"/>
              </a:rPr>
              <a:t>	</a:t>
            </a:r>
            <a:r>
              <a:rPr lang="en-US" sz="2400" dirty="0" err="1">
                <a:cs typeface="Times New Roman" pitchFamily="18" charset="0"/>
              </a:rPr>
              <a:t>read_item</a:t>
            </a:r>
            <a:r>
              <a:rPr lang="en-US" sz="2400" dirty="0">
                <a:cs typeface="Times New Roman" pitchFamily="18" charset="0"/>
              </a:rPr>
              <a:t> (Y);	</a:t>
            </a:r>
            <a:r>
              <a:rPr lang="en-US" sz="2400" dirty="0" err="1">
                <a:cs typeface="Times New Roman" pitchFamily="18" charset="0"/>
              </a:rPr>
              <a:t>read_item</a:t>
            </a:r>
            <a:r>
              <a:rPr lang="en-US" sz="2400" dirty="0">
                <a:cs typeface="Times New Roman" pitchFamily="18" charset="0"/>
              </a:rPr>
              <a:t> (X);	    </a:t>
            </a:r>
            <a:r>
              <a:rPr lang="en-US" sz="2400" dirty="0">
                <a:solidFill>
                  <a:srgbClr val="FF0000"/>
                </a:solidFill>
                <a:cs typeface="Times New Roman" pitchFamily="18" charset="0"/>
              </a:rPr>
              <a:t>Result of serial execution</a:t>
            </a:r>
          </a:p>
          <a:p>
            <a:pPr eaLnBrk="1" hangingPunct="1">
              <a:spcBef>
                <a:spcPct val="0"/>
              </a:spcBef>
              <a:buFont typeface="Wingdings" pitchFamily="2" charset="2"/>
              <a:buNone/>
            </a:pPr>
            <a:r>
              <a:rPr lang="en-US" sz="2400" dirty="0">
                <a:cs typeface="Times New Roman" pitchFamily="18" charset="0"/>
              </a:rPr>
              <a:t>	unlock (Y);		unlock (X);	    </a:t>
            </a:r>
            <a:r>
              <a:rPr lang="en-US" sz="2400" dirty="0">
                <a:solidFill>
                  <a:srgbClr val="FF0000"/>
                </a:solidFill>
                <a:cs typeface="Times New Roman" pitchFamily="18" charset="0"/>
              </a:rPr>
              <a:t>T1 followed by T2 </a:t>
            </a:r>
          </a:p>
          <a:p>
            <a:pPr eaLnBrk="1" hangingPunct="1">
              <a:spcBef>
                <a:spcPct val="0"/>
              </a:spcBef>
              <a:buFont typeface="Wingdings" pitchFamily="2" charset="2"/>
              <a:buNone/>
            </a:pPr>
            <a:r>
              <a:rPr lang="en-US" sz="2400" dirty="0">
                <a:cs typeface="Times New Roman" pitchFamily="18" charset="0"/>
              </a:rPr>
              <a:t>	</a:t>
            </a:r>
            <a:r>
              <a:rPr lang="en-US" sz="2400" dirty="0" err="1">
                <a:cs typeface="Times New Roman" pitchFamily="18" charset="0"/>
              </a:rPr>
              <a:t>write_lock</a:t>
            </a:r>
            <a:r>
              <a:rPr lang="en-US" sz="2400" dirty="0">
                <a:cs typeface="Times New Roman" pitchFamily="18" charset="0"/>
              </a:rPr>
              <a:t> (X);	</a:t>
            </a:r>
            <a:r>
              <a:rPr lang="en-US" sz="2400" dirty="0" err="1">
                <a:cs typeface="Times New Roman" pitchFamily="18" charset="0"/>
              </a:rPr>
              <a:t>Write_lock</a:t>
            </a:r>
            <a:r>
              <a:rPr lang="en-US" sz="2400" dirty="0">
                <a:cs typeface="Times New Roman" pitchFamily="18" charset="0"/>
              </a:rPr>
              <a:t> (Y);	    </a:t>
            </a:r>
            <a:r>
              <a:rPr lang="en-US" sz="2400" dirty="0">
                <a:solidFill>
                  <a:srgbClr val="FF0000"/>
                </a:solidFill>
                <a:cs typeface="Times New Roman" pitchFamily="18" charset="0"/>
              </a:rPr>
              <a:t>X=50, Y=80</a:t>
            </a:r>
            <a:r>
              <a:rPr lang="en-US" sz="2400" dirty="0">
                <a:cs typeface="Times New Roman" pitchFamily="18" charset="0"/>
              </a:rPr>
              <a:t>.</a:t>
            </a:r>
          </a:p>
          <a:p>
            <a:pPr eaLnBrk="1" hangingPunct="1">
              <a:spcBef>
                <a:spcPct val="0"/>
              </a:spcBef>
              <a:buFont typeface="Wingdings" pitchFamily="2" charset="2"/>
              <a:buNone/>
            </a:pPr>
            <a:r>
              <a:rPr lang="en-US" sz="2400" dirty="0">
                <a:cs typeface="Times New Roman" pitchFamily="18" charset="0"/>
              </a:rPr>
              <a:t>	</a:t>
            </a:r>
            <a:r>
              <a:rPr lang="en-US" sz="2400" dirty="0" err="1">
                <a:cs typeface="Times New Roman" pitchFamily="18" charset="0"/>
              </a:rPr>
              <a:t>read_item</a:t>
            </a:r>
            <a:r>
              <a:rPr lang="en-US" sz="2400" dirty="0">
                <a:cs typeface="Times New Roman" pitchFamily="18" charset="0"/>
              </a:rPr>
              <a:t> (X);	</a:t>
            </a:r>
            <a:r>
              <a:rPr lang="en-US" sz="2400" dirty="0" err="1">
                <a:cs typeface="Times New Roman" pitchFamily="18" charset="0"/>
              </a:rPr>
              <a:t>read_item</a:t>
            </a:r>
            <a:r>
              <a:rPr lang="en-US" sz="2400" dirty="0">
                <a:cs typeface="Times New Roman" pitchFamily="18" charset="0"/>
              </a:rPr>
              <a:t> (Y);	    </a:t>
            </a:r>
            <a:r>
              <a:rPr lang="en-US" sz="2400" dirty="0">
                <a:solidFill>
                  <a:srgbClr val="FF0000"/>
                </a:solidFill>
                <a:cs typeface="Times New Roman" pitchFamily="18" charset="0"/>
              </a:rPr>
              <a:t>Result of serial execution</a:t>
            </a:r>
          </a:p>
          <a:p>
            <a:pPr eaLnBrk="1" hangingPunct="1">
              <a:spcBef>
                <a:spcPct val="0"/>
              </a:spcBef>
              <a:buFont typeface="Wingdings" pitchFamily="2" charset="2"/>
              <a:buNone/>
            </a:pPr>
            <a:r>
              <a:rPr lang="en-US" sz="2400" dirty="0">
                <a:cs typeface="Times New Roman" pitchFamily="18" charset="0"/>
              </a:rPr>
              <a:t>	X:=X+Y;		Y:=X+Y;	                 </a:t>
            </a:r>
            <a:r>
              <a:rPr lang="en-US" sz="2400" dirty="0">
                <a:solidFill>
                  <a:srgbClr val="FF0000"/>
                </a:solidFill>
                <a:cs typeface="Times New Roman" pitchFamily="18" charset="0"/>
              </a:rPr>
              <a:t>T2 followed by T1 </a:t>
            </a:r>
          </a:p>
          <a:p>
            <a:pPr eaLnBrk="1" hangingPunct="1">
              <a:spcBef>
                <a:spcPct val="0"/>
              </a:spcBef>
              <a:buFont typeface="Wingdings" pitchFamily="2" charset="2"/>
              <a:buNone/>
            </a:pPr>
            <a:r>
              <a:rPr lang="en-US" sz="2400" dirty="0">
                <a:cs typeface="Times New Roman" pitchFamily="18" charset="0"/>
              </a:rPr>
              <a:t>	</a:t>
            </a:r>
            <a:r>
              <a:rPr lang="en-US" sz="2400" dirty="0" err="1">
                <a:cs typeface="Times New Roman" pitchFamily="18" charset="0"/>
              </a:rPr>
              <a:t>write_item</a:t>
            </a:r>
            <a:r>
              <a:rPr lang="en-US" sz="2400" dirty="0">
                <a:cs typeface="Times New Roman" pitchFamily="18" charset="0"/>
              </a:rPr>
              <a:t> (X);	</a:t>
            </a:r>
            <a:r>
              <a:rPr lang="en-US" sz="2400" dirty="0" err="1">
                <a:cs typeface="Times New Roman" pitchFamily="18" charset="0"/>
              </a:rPr>
              <a:t>write_item</a:t>
            </a:r>
            <a:r>
              <a:rPr lang="en-US" sz="2400" dirty="0">
                <a:cs typeface="Times New Roman" pitchFamily="18" charset="0"/>
              </a:rPr>
              <a:t> (Y);   </a:t>
            </a:r>
            <a:r>
              <a:rPr lang="en-US" sz="2400" dirty="0">
                <a:solidFill>
                  <a:srgbClr val="FF0000"/>
                </a:solidFill>
                <a:cs typeface="Times New Roman" pitchFamily="18" charset="0"/>
              </a:rPr>
              <a:t>X=70, Y=50</a:t>
            </a:r>
          </a:p>
          <a:p>
            <a:pPr eaLnBrk="1" hangingPunct="1">
              <a:spcBef>
                <a:spcPct val="0"/>
              </a:spcBef>
              <a:buFont typeface="Wingdings" pitchFamily="2" charset="2"/>
              <a:buNone/>
            </a:pPr>
            <a:r>
              <a:rPr lang="en-US" sz="2400" dirty="0">
                <a:cs typeface="Times New Roman" pitchFamily="18" charset="0"/>
              </a:rPr>
              <a:t>	unlock (X);		unlock (Y);</a:t>
            </a:r>
            <a:endParaRPr lang="en-US" sz="2400" dirty="0">
              <a:cs typeface="Times New Roman" pitchFamily="18" charset="0"/>
              <a:sym typeface="Symbol" pitchFamily="18" charset="2"/>
            </a:endParaRPr>
          </a:p>
          <a:p>
            <a:pPr eaLnBrk="1" hangingPunct="1">
              <a:buFont typeface="Wingdings" pitchFamily="2" charset="2"/>
              <a:buNone/>
            </a:pPr>
            <a:endParaRPr lang="en-US" dirty="0"/>
          </a:p>
        </p:txBody>
      </p:sp>
      <p:sp>
        <p:nvSpPr>
          <p:cNvPr id="3" name="Slide Number Placeholder 2">
            <a:extLst>
              <a:ext uri="{FF2B5EF4-FFF2-40B4-BE49-F238E27FC236}">
                <a16:creationId xmlns:a16="http://schemas.microsoft.com/office/drawing/2014/main" id="{66FA4886-34DE-E960-6435-0FE1A09B1F3D}"/>
              </a:ext>
            </a:extLst>
          </p:cNvPr>
          <p:cNvSpPr>
            <a:spLocks noGrp="1"/>
          </p:cNvSpPr>
          <p:nvPr>
            <p:ph type="sldNum" sz="quarter" idx="12"/>
          </p:nvPr>
        </p:nvSpPr>
        <p:spPr/>
        <p:txBody>
          <a:bodyPr/>
          <a:lstStyle/>
          <a:p>
            <a:fld id="{F8EF2FF5-BD00-45B8-A71A-EAE2607F0774}" type="slidenum">
              <a:rPr lang="en-IN" smtClean="0"/>
              <a:t>28</a:t>
            </a:fld>
            <a:endParaRPr lang="en-IN"/>
          </a:p>
        </p:txBody>
      </p:sp>
    </p:spTree>
    <p:extLst>
      <p:ext uri="{BB962C8B-B14F-4D97-AF65-F5344CB8AC3E}">
        <p14:creationId xmlns:p14="http://schemas.microsoft.com/office/powerpoint/2010/main" val="867854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70" y="24165"/>
            <a:ext cx="8579296" cy="634082"/>
          </a:xfrm>
        </p:spPr>
        <p:txBody>
          <a:bodyPr>
            <a:normAutofit/>
          </a:bodyPr>
          <a:lstStyle/>
          <a:p>
            <a:r>
              <a:rPr lang="en-US" sz="3100" dirty="0"/>
              <a:t>When transaction is non-</a:t>
            </a:r>
            <a:r>
              <a:rPr lang="en-US" sz="3100" dirty="0" err="1"/>
              <a:t>serializable</a:t>
            </a:r>
            <a:r>
              <a:rPr lang="en-US" sz="3100" dirty="0"/>
              <a:t> Schedule </a:t>
            </a:r>
            <a:endParaRPr lang="en-IN" sz="3100" dirty="0"/>
          </a:p>
        </p:txBody>
      </p:sp>
      <p:sp>
        <p:nvSpPr>
          <p:cNvPr id="5" name="Rectangle 13"/>
          <p:cNvSpPr txBox="1">
            <a:spLocks noChangeArrowheads="1"/>
          </p:cNvSpPr>
          <p:nvPr/>
        </p:nvSpPr>
        <p:spPr>
          <a:xfrm>
            <a:off x="333634" y="620688"/>
            <a:ext cx="8421222" cy="5436096"/>
          </a:xfrm>
          <a:prstGeom prst="rect">
            <a:avLst/>
          </a:prstGeom>
        </p:spPr>
        <p:txBody>
          <a:bodyPr vert="horz">
            <a:noAutofit/>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a:lnSpc>
                <a:spcPct val="80000"/>
              </a:lnSpc>
              <a:buFont typeface="Wingdings" pitchFamily="2" charset="2"/>
              <a:buNone/>
            </a:pPr>
            <a:r>
              <a:rPr lang="en-US" sz="1600" dirty="0">
                <a:cs typeface="Times New Roman" pitchFamily="18" charset="0"/>
              </a:rPr>
              <a:t>Two-Phase Locking Techniques: The algorithm</a:t>
            </a:r>
          </a:p>
          <a:p>
            <a:pPr>
              <a:lnSpc>
                <a:spcPct val="80000"/>
              </a:lnSpc>
            </a:pPr>
            <a:endParaRPr lang="en-US" sz="1600" dirty="0">
              <a:cs typeface="Times New Roman" pitchFamily="18" charset="0"/>
            </a:endParaRPr>
          </a:p>
          <a:p>
            <a:pPr>
              <a:lnSpc>
                <a:spcPct val="80000"/>
              </a:lnSpc>
              <a:spcBef>
                <a:spcPct val="50000"/>
              </a:spcBef>
              <a:buFont typeface="Wingdings" pitchFamily="2" charset="2"/>
              <a:buNone/>
            </a:pPr>
            <a:r>
              <a:rPr lang="en-US" sz="1600" b="1" dirty="0">
                <a:cs typeface="Times New Roman" pitchFamily="18" charset="0"/>
              </a:rPr>
              <a:t>	T1			T2		   		 </a:t>
            </a:r>
            <a:r>
              <a:rPr lang="en-US" sz="1600" b="1" u="sng" dirty="0">
                <a:cs typeface="Times New Roman" pitchFamily="18" charset="0"/>
              </a:rPr>
              <a:t>Result</a:t>
            </a:r>
          </a:p>
          <a:p>
            <a:pPr>
              <a:lnSpc>
                <a:spcPct val="120000"/>
              </a:lnSpc>
              <a:spcBef>
                <a:spcPct val="50000"/>
              </a:spcBef>
              <a:buNone/>
            </a:pPr>
            <a:r>
              <a:rPr lang="en-US" sz="1600" dirty="0">
                <a:cs typeface="Times New Roman" pitchFamily="18" charset="0"/>
              </a:rPr>
              <a:t>	</a:t>
            </a:r>
            <a:r>
              <a:rPr lang="en-US" sz="1600" dirty="0" err="1">
                <a:cs typeface="Times New Roman" pitchFamily="18" charset="0"/>
              </a:rPr>
              <a:t>read_lock</a:t>
            </a:r>
            <a:r>
              <a:rPr lang="en-US" sz="1600" dirty="0">
                <a:cs typeface="Times New Roman" pitchFamily="18" charset="0"/>
              </a:rPr>
              <a:t> (Y);			                                     </a:t>
            </a:r>
            <a:r>
              <a:rPr lang="en-US" sz="1600" dirty="0">
                <a:solidFill>
                  <a:srgbClr val="FF0000"/>
                </a:solidFill>
                <a:cs typeface="Times New Roman" pitchFamily="18" charset="0"/>
              </a:rPr>
              <a:t>Initial values: X=20; Y=30</a:t>
            </a:r>
            <a:endParaRPr lang="en-US" sz="1600" dirty="0">
              <a:cs typeface="Times New Roman" pitchFamily="18" charset="0"/>
            </a:endParaRPr>
          </a:p>
          <a:p>
            <a:pPr>
              <a:lnSpc>
                <a:spcPct val="120000"/>
              </a:lnSpc>
              <a:spcBef>
                <a:spcPct val="0"/>
              </a:spcBef>
              <a:buFont typeface="Wingdings" pitchFamily="2" charset="2"/>
              <a:buNone/>
            </a:pPr>
            <a:r>
              <a:rPr lang="en-US" sz="1600" dirty="0">
                <a:cs typeface="Times New Roman" pitchFamily="18" charset="0"/>
              </a:rPr>
              <a:t>	</a:t>
            </a:r>
            <a:r>
              <a:rPr lang="en-US" sz="1600" dirty="0" err="1">
                <a:cs typeface="Times New Roman" pitchFamily="18" charset="0"/>
              </a:rPr>
              <a:t>read_item</a:t>
            </a:r>
            <a:r>
              <a:rPr lang="en-US" sz="1600" dirty="0">
                <a:cs typeface="Times New Roman" pitchFamily="18" charset="0"/>
              </a:rPr>
              <a:t> (Y);				</a:t>
            </a:r>
          </a:p>
          <a:p>
            <a:pPr>
              <a:lnSpc>
                <a:spcPct val="120000"/>
              </a:lnSpc>
              <a:spcBef>
                <a:spcPct val="0"/>
              </a:spcBef>
              <a:buFont typeface="Wingdings" pitchFamily="2" charset="2"/>
              <a:buNone/>
            </a:pPr>
            <a:r>
              <a:rPr lang="en-US" sz="1600" dirty="0">
                <a:cs typeface="Times New Roman" pitchFamily="18" charset="0"/>
              </a:rPr>
              <a:t>	</a:t>
            </a:r>
            <a:r>
              <a:rPr lang="en-US" sz="1600" b="1" dirty="0">
                <a:cs typeface="Times New Roman" pitchFamily="18" charset="0"/>
              </a:rPr>
              <a:t>unlock (Y);</a:t>
            </a:r>
            <a:r>
              <a:rPr lang="en-US" sz="1600" dirty="0">
                <a:cs typeface="Times New Roman" pitchFamily="18" charset="0"/>
              </a:rPr>
              <a:t>				    	</a:t>
            </a:r>
          </a:p>
          <a:p>
            <a:pPr>
              <a:lnSpc>
                <a:spcPct val="120000"/>
              </a:lnSpc>
              <a:spcBef>
                <a:spcPct val="0"/>
              </a:spcBef>
              <a:buFont typeface="Wingdings" pitchFamily="2" charset="2"/>
              <a:buNone/>
            </a:pPr>
            <a:r>
              <a:rPr lang="en-US" sz="1600" dirty="0">
                <a:cs typeface="Times New Roman" pitchFamily="18" charset="0"/>
              </a:rPr>
              <a:t>			       	</a:t>
            </a:r>
            <a:r>
              <a:rPr lang="en-US" sz="1600" dirty="0" err="1">
                <a:cs typeface="Times New Roman" pitchFamily="18" charset="0"/>
              </a:rPr>
              <a:t>read_lock</a:t>
            </a:r>
            <a:r>
              <a:rPr lang="en-US" sz="1600" dirty="0">
                <a:cs typeface="Times New Roman" pitchFamily="18" charset="0"/>
              </a:rPr>
              <a:t> (X); 	</a:t>
            </a:r>
          </a:p>
          <a:p>
            <a:pPr>
              <a:lnSpc>
                <a:spcPct val="120000"/>
              </a:lnSpc>
              <a:spcBef>
                <a:spcPct val="0"/>
              </a:spcBef>
              <a:buFont typeface="Wingdings" pitchFamily="2" charset="2"/>
              <a:buNone/>
            </a:pPr>
            <a:r>
              <a:rPr lang="en-US" sz="1600" dirty="0">
                <a:cs typeface="Times New Roman" pitchFamily="18" charset="0"/>
              </a:rPr>
              <a:t>			       	</a:t>
            </a:r>
            <a:r>
              <a:rPr lang="en-US" sz="1600" dirty="0" err="1">
                <a:cs typeface="Times New Roman" pitchFamily="18" charset="0"/>
              </a:rPr>
              <a:t>read_item</a:t>
            </a:r>
            <a:r>
              <a:rPr lang="en-US" sz="1600" dirty="0">
                <a:cs typeface="Times New Roman" pitchFamily="18" charset="0"/>
              </a:rPr>
              <a:t> (X);	    </a:t>
            </a:r>
          </a:p>
          <a:p>
            <a:pPr>
              <a:lnSpc>
                <a:spcPct val="120000"/>
              </a:lnSpc>
              <a:spcBef>
                <a:spcPct val="0"/>
              </a:spcBef>
              <a:buFont typeface="Wingdings" pitchFamily="2" charset="2"/>
              <a:buNone/>
            </a:pPr>
            <a:r>
              <a:rPr lang="en-US" sz="1600" dirty="0">
                <a:cs typeface="Times New Roman" pitchFamily="18" charset="0"/>
              </a:rPr>
              <a:t>				</a:t>
            </a:r>
            <a:r>
              <a:rPr lang="en-US" sz="1600" b="1" dirty="0">
                <a:cs typeface="Times New Roman" pitchFamily="18" charset="0"/>
              </a:rPr>
              <a:t>unlock (X); 	</a:t>
            </a:r>
          </a:p>
          <a:p>
            <a:pPr>
              <a:lnSpc>
                <a:spcPct val="120000"/>
              </a:lnSpc>
              <a:spcBef>
                <a:spcPct val="0"/>
              </a:spcBef>
              <a:buFont typeface="Wingdings" pitchFamily="2" charset="2"/>
              <a:buNone/>
            </a:pPr>
            <a:r>
              <a:rPr lang="en-US" sz="1600" b="1" dirty="0">
                <a:cs typeface="Times New Roman" pitchFamily="18" charset="0"/>
              </a:rPr>
              <a:t>				</a:t>
            </a:r>
            <a:r>
              <a:rPr lang="en-US" sz="1600" b="1" dirty="0" err="1">
                <a:cs typeface="Times New Roman" pitchFamily="18" charset="0"/>
              </a:rPr>
              <a:t>write_lock</a:t>
            </a:r>
            <a:r>
              <a:rPr lang="en-US" sz="1600" b="1" dirty="0">
                <a:cs typeface="Times New Roman" pitchFamily="18" charset="0"/>
              </a:rPr>
              <a:t> (Y);</a:t>
            </a:r>
            <a:r>
              <a:rPr lang="en-US" sz="1600" dirty="0">
                <a:cs typeface="Times New Roman" pitchFamily="18" charset="0"/>
              </a:rPr>
              <a:t>	</a:t>
            </a:r>
          </a:p>
          <a:p>
            <a:pPr>
              <a:lnSpc>
                <a:spcPct val="120000"/>
              </a:lnSpc>
              <a:spcBef>
                <a:spcPct val="0"/>
              </a:spcBef>
              <a:buFont typeface="Wingdings" pitchFamily="2" charset="2"/>
              <a:buNone/>
            </a:pPr>
            <a:r>
              <a:rPr lang="en-US" sz="1600" dirty="0">
                <a:cs typeface="Times New Roman" pitchFamily="18" charset="0"/>
              </a:rPr>
              <a:t>				</a:t>
            </a:r>
            <a:r>
              <a:rPr lang="en-US" sz="1600" dirty="0" err="1">
                <a:cs typeface="Times New Roman" pitchFamily="18" charset="0"/>
              </a:rPr>
              <a:t>read_item</a:t>
            </a:r>
            <a:r>
              <a:rPr lang="en-US" sz="1600" dirty="0">
                <a:cs typeface="Times New Roman" pitchFamily="18" charset="0"/>
              </a:rPr>
              <a:t> (Y);</a:t>
            </a:r>
          </a:p>
          <a:p>
            <a:pPr>
              <a:lnSpc>
                <a:spcPct val="120000"/>
              </a:lnSpc>
              <a:spcBef>
                <a:spcPct val="0"/>
              </a:spcBef>
              <a:buFont typeface="Wingdings" pitchFamily="2" charset="2"/>
              <a:buNone/>
            </a:pPr>
            <a:r>
              <a:rPr lang="en-US" sz="1600" dirty="0">
                <a:cs typeface="Times New Roman" pitchFamily="18" charset="0"/>
              </a:rPr>
              <a:t>				Y:=X+Y;</a:t>
            </a:r>
          </a:p>
          <a:p>
            <a:pPr>
              <a:lnSpc>
                <a:spcPct val="120000"/>
              </a:lnSpc>
              <a:spcBef>
                <a:spcPct val="0"/>
              </a:spcBef>
              <a:buFont typeface="Wingdings" pitchFamily="2" charset="2"/>
              <a:buNone/>
            </a:pPr>
            <a:r>
              <a:rPr lang="en-US" sz="1600" dirty="0">
                <a:cs typeface="Times New Roman" pitchFamily="18" charset="0"/>
              </a:rPr>
              <a:t>				</a:t>
            </a:r>
            <a:r>
              <a:rPr lang="en-US" sz="1600" dirty="0" err="1">
                <a:cs typeface="Times New Roman" pitchFamily="18" charset="0"/>
              </a:rPr>
              <a:t>write_item</a:t>
            </a:r>
            <a:r>
              <a:rPr lang="en-US" sz="1600" dirty="0">
                <a:cs typeface="Times New Roman" pitchFamily="18" charset="0"/>
              </a:rPr>
              <a:t> (Y);</a:t>
            </a:r>
          </a:p>
          <a:p>
            <a:pPr>
              <a:lnSpc>
                <a:spcPct val="120000"/>
              </a:lnSpc>
              <a:spcBef>
                <a:spcPct val="0"/>
              </a:spcBef>
              <a:buFont typeface="Wingdings" pitchFamily="2" charset="2"/>
              <a:buNone/>
            </a:pPr>
            <a:r>
              <a:rPr lang="en-US" sz="1600" dirty="0">
                <a:cs typeface="Times New Roman" pitchFamily="18" charset="0"/>
              </a:rPr>
              <a:t>				unlock (Y);</a:t>
            </a:r>
          </a:p>
          <a:p>
            <a:pPr>
              <a:lnSpc>
                <a:spcPct val="120000"/>
              </a:lnSpc>
              <a:spcBef>
                <a:spcPct val="0"/>
              </a:spcBef>
              <a:buFont typeface="Wingdings" pitchFamily="2" charset="2"/>
              <a:buNone/>
            </a:pPr>
            <a:r>
              <a:rPr lang="en-US" sz="1600" dirty="0">
                <a:cs typeface="Times New Roman" pitchFamily="18" charset="0"/>
              </a:rPr>
              <a:t>	</a:t>
            </a:r>
          </a:p>
          <a:p>
            <a:pPr>
              <a:lnSpc>
                <a:spcPct val="120000"/>
              </a:lnSpc>
              <a:spcBef>
                <a:spcPct val="0"/>
              </a:spcBef>
              <a:buFont typeface="Wingdings" pitchFamily="2" charset="2"/>
              <a:buNone/>
            </a:pPr>
            <a:r>
              <a:rPr lang="en-US" sz="1600" b="1" dirty="0">
                <a:cs typeface="Times New Roman" pitchFamily="18" charset="0"/>
              </a:rPr>
              <a:t>	</a:t>
            </a:r>
            <a:r>
              <a:rPr lang="en-US" sz="1600" b="1" dirty="0" err="1">
                <a:cs typeface="Times New Roman" pitchFamily="18" charset="0"/>
              </a:rPr>
              <a:t>write_lock</a:t>
            </a:r>
            <a:r>
              <a:rPr lang="en-US" sz="1600" b="1" dirty="0">
                <a:cs typeface="Times New Roman" pitchFamily="18" charset="0"/>
              </a:rPr>
              <a:t> (X);</a:t>
            </a:r>
          </a:p>
          <a:p>
            <a:pPr>
              <a:lnSpc>
                <a:spcPct val="120000"/>
              </a:lnSpc>
              <a:spcBef>
                <a:spcPct val="0"/>
              </a:spcBef>
              <a:buFont typeface="Wingdings" pitchFamily="2" charset="2"/>
              <a:buNone/>
            </a:pPr>
            <a:r>
              <a:rPr lang="en-US" sz="1600" dirty="0">
                <a:cs typeface="Times New Roman" pitchFamily="18" charset="0"/>
              </a:rPr>
              <a:t>	</a:t>
            </a:r>
            <a:r>
              <a:rPr lang="en-US" sz="1600" dirty="0" err="1">
                <a:cs typeface="Times New Roman" pitchFamily="18" charset="0"/>
              </a:rPr>
              <a:t>read_item</a:t>
            </a:r>
            <a:r>
              <a:rPr lang="en-US" sz="1600" dirty="0">
                <a:cs typeface="Times New Roman" pitchFamily="18" charset="0"/>
              </a:rPr>
              <a:t> (X);	</a:t>
            </a:r>
          </a:p>
          <a:p>
            <a:pPr>
              <a:lnSpc>
                <a:spcPct val="120000"/>
              </a:lnSpc>
              <a:spcBef>
                <a:spcPct val="0"/>
              </a:spcBef>
              <a:buFont typeface="Wingdings" pitchFamily="2" charset="2"/>
              <a:buNone/>
            </a:pPr>
            <a:r>
              <a:rPr lang="en-US" sz="1600" dirty="0">
                <a:cs typeface="Times New Roman" pitchFamily="18" charset="0"/>
              </a:rPr>
              <a:t>	X:=X+Y;</a:t>
            </a:r>
          </a:p>
          <a:p>
            <a:pPr>
              <a:lnSpc>
                <a:spcPct val="120000"/>
              </a:lnSpc>
              <a:spcBef>
                <a:spcPct val="0"/>
              </a:spcBef>
              <a:buFont typeface="Wingdings" pitchFamily="2" charset="2"/>
              <a:buNone/>
            </a:pPr>
            <a:r>
              <a:rPr lang="en-US" sz="1600" dirty="0">
                <a:cs typeface="Times New Roman" pitchFamily="18" charset="0"/>
              </a:rPr>
              <a:t>	</a:t>
            </a:r>
            <a:r>
              <a:rPr lang="en-US" sz="1600" dirty="0" err="1">
                <a:cs typeface="Times New Roman" pitchFamily="18" charset="0"/>
              </a:rPr>
              <a:t>write_item</a:t>
            </a:r>
            <a:r>
              <a:rPr lang="en-US" sz="1600" dirty="0">
                <a:cs typeface="Times New Roman" pitchFamily="18" charset="0"/>
              </a:rPr>
              <a:t> (X);</a:t>
            </a:r>
          </a:p>
          <a:p>
            <a:pPr>
              <a:lnSpc>
                <a:spcPct val="120000"/>
              </a:lnSpc>
              <a:spcBef>
                <a:spcPct val="0"/>
              </a:spcBef>
              <a:buFont typeface="Wingdings" pitchFamily="2" charset="2"/>
              <a:buNone/>
            </a:pPr>
            <a:r>
              <a:rPr lang="en-US" sz="1600" dirty="0">
                <a:cs typeface="Times New Roman" pitchFamily="18" charset="0"/>
              </a:rPr>
              <a:t>	unlock (X);</a:t>
            </a:r>
            <a:endParaRPr lang="en-US" sz="1600" dirty="0">
              <a:cs typeface="Times New Roman" pitchFamily="18" charset="0"/>
              <a:sym typeface="Symbol" pitchFamily="18" charset="2"/>
            </a:endParaRPr>
          </a:p>
          <a:p>
            <a:pPr lvl="1" algn="just">
              <a:lnSpc>
                <a:spcPct val="95000"/>
              </a:lnSpc>
              <a:spcBef>
                <a:spcPct val="10000"/>
              </a:spcBef>
              <a:buFontTx/>
              <a:buNone/>
            </a:pPr>
            <a:r>
              <a:rPr lang="en-US" sz="1600" dirty="0">
                <a:cs typeface="Times New Roman" pitchFamily="18" charset="0"/>
                <a:sym typeface="Symbol" pitchFamily="18" charset="2"/>
              </a:rPr>
              <a:t>   </a:t>
            </a:r>
            <a:endParaRPr lang="en-US" sz="1600" dirty="0"/>
          </a:p>
        </p:txBody>
      </p:sp>
      <p:sp>
        <p:nvSpPr>
          <p:cNvPr id="6" name="Line 6"/>
          <p:cNvSpPr>
            <a:spLocks noChangeShapeType="1"/>
          </p:cNvSpPr>
          <p:nvPr/>
        </p:nvSpPr>
        <p:spPr bwMode="auto">
          <a:xfrm>
            <a:off x="1028700" y="2780928"/>
            <a:ext cx="0" cy="1791072"/>
          </a:xfrm>
          <a:prstGeom prst="line">
            <a:avLst/>
          </a:prstGeom>
          <a:noFill/>
          <a:ln w="12700">
            <a:solidFill>
              <a:srgbClr val="990033"/>
            </a:solidFill>
            <a:miter lim="800000"/>
            <a:headEnd/>
            <a:tailEnd type="triangle" w="med" len="med"/>
          </a:ln>
        </p:spPr>
        <p:txBody>
          <a:bodyPr wrap="none"/>
          <a:lstStyle/>
          <a:p>
            <a:endParaRPr lang="en-US"/>
          </a:p>
        </p:txBody>
      </p:sp>
      <p:sp>
        <p:nvSpPr>
          <p:cNvPr id="7" name="Rectangle 7"/>
          <p:cNvSpPr>
            <a:spLocks noChangeArrowheads="1"/>
          </p:cNvSpPr>
          <p:nvPr/>
        </p:nvSpPr>
        <p:spPr bwMode="auto">
          <a:xfrm>
            <a:off x="352425" y="3497263"/>
            <a:ext cx="666750" cy="366712"/>
          </a:xfrm>
          <a:prstGeom prst="rect">
            <a:avLst/>
          </a:prstGeom>
          <a:noFill/>
          <a:ln w="9525">
            <a:noFill/>
            <a:miter lim="800000"/>
            <a:headEnd/>
            <a:tailEnd/>
          </a:ln>
        </p:spPr>
        <p:txBody>
          <a:bodyPr wrap="none">
            <a:spAutoFit/>
          </a:bodyPr>
          <a:lstStyle/>
          <a:p>
            <a:r>
              <a:rPr lang="en-US" sz="1800">
                <a:solidFill>
                  <a:srgbClr val="990033"/>
                </a:solidFill>
                <a:latin typeface="Times New Roman" pitchFamily="18" charset="0"/>
              </a:rPr>
              <a:t>Time</a:t>
            </a:r>
          </a:p>
        </p:txBody>
      </p:sp>
      <p:sp>
        <p:nvSpPr>
          <p:cNvPr id="3" name="Slide Number Placeholder 2">
            <a:extLst>
              <a:ext uri="{FF2B5EF4-FFF2-40B4-BE49-F238E27FC236}">
                <a16:creationId xmlns:a16="http://schemas.microsoft.com/office/drawing/2014/main" id="{336416BD-5ECE-AB22-7699-C731EBD323FA}"/>
              </a:ext>
            </a:extLst>
          </p:cNvPr>
          <p:cNvSpPr>
            <a:spLocks noGrp="1"/>
          </p:cNvSpPr>
          <p:nvPr>
            <p:ph type="sldNum" sz="quarter" idx="12"/>
          </p:nvPr>
        </p:nvSpPr>
        <p:spPr/>
        <p:txBody>
          <a:bodyPr/>
          <a:lstStyle/>
          <a:p>
            <a:fld id="{F8EF2FF5-BD00-45B8-A71A-EAE2607F0774}" type="slidenum">
              <a:rPr lang="en-IN" smtClean="0"/>
              <a:t>29</a:t>
            </a:fld>
            <a:endParaRPr lang="en-IN"/>
          </a:p>
        </p:txBody>
      </p:sp>
    </p:spTree>
    <p:extLst>
      <p:ext uri="{BB962C8B-B14F-4D97-AF65-F5344CB8AC3E}">
        <p14:creationId xmlns:p14="http://schemas.microsoft.com/office/powerpoint/2010/main" val="23062533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504" y="274638"/>
            <a:ext cx="8579296" cy="634082"/>
          </a:xfrm>
        </p:spPr>
        <p:txBody>
          <a:bodyPr>
            <a:normAutofit/>
          </a:bodyPr>
          <a:lstStyle/>
          <a:p>
            <a:r>
              <a:rPr lang="en-US" sz="3100" dirty="0"/>
              <a:t>When transaction is non-</a:t>
            </a:r>
            <a:r>
              <a:rPr lang="en-US" sz="3100" dirty="0" err="1"/>
              <a:t>serializable</a:t>
            </a:r>
            <a:r>
              <a:rPr lang="en-US" sz="3100" dirty="0"/>
              <a:t> Schedule </a:t>
            </a:r>
            <a:endParaRPr lang="en-IN" sz="3100" dirty="0"/>
          </a:p>
        </p:txBody>
      </p:sp>
      <p:sp>
        <p:nvSpPr>
          <p:cNvPr id="5" name="Rectangle 13"/>
          <p:cNvSpPr txBox="1">
            <a:spLocks noChangeArrowheads="1"/>
          </p:cNvSpPr>
          <p:nvPr/>
        </p:nvSpPr>
        <p:spPr>
          <a:xfrm>
            <a:off x="255234" y="980728"/>
            <a:ext cx="8997286" cy="5436096"/>
          </a:xfrm>
          <a:prstGeom prst="rect">
            <a:avLst/>
          </a:prstGeom>
        </p:spPr>
        <p:txBody>
          <a:bodyPr vert="horz">
            <a:normAutofit fontScale="92500" lnSpcReduction="20000"/>
          </a:bodyPr>
          <a:lst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a:lstStyle>
          <a:p>
            <a:pPr>
              <a:lnSpc>
                <a:spcPct val="80000"/>
              </a:lnSpc>
              <a:buFont typeface="Wingdings" pitchFamily="2" charset="2"/>
              <a:buNone/>
            </a:pPr>
            <a:r>
              <a:rPr lang="en-US" sz="2000" dirty="0">
                <a:cs typeface="Times New Roman" pitchFamily="18" charset="0"/>
              </a:rPr>
              <a:t>Two-Phase Locking Techniques: The algorithm</a:t>
            </a:r>
          </a:p>
          <a:p>
            <a:pPr>
              <a:lnSpc>
                <a:spcPct val="80000"/>
              </a:lnSpc>
            </a:pPr>
            <a:endParaRPr lang="en-US" sz="2400" dirty="0">
              <a:cs typeface="Times New Roman" pitchFamily="18" charset="0"/>
            </a:endParaRPr>
          </a:p>
          <a:p>
            <a:pPr>
              <a:lnSpc>
                <a:spcPct val="80000"/>
              </a:lnSpc>
              <a:spcBef>
                <a:spcPct val="50000"/>
              </a:spcBef>
              <a:buFont typeface="Wingdings" pitchFamily="2" charset="2"/>
              <a:buNone/>
            </a:pPr>
            <a:r>
              <a:rPr lang="en-US" sz="2400" b="1" dirty="0">
                <a:cs typeface="Times New Roman" pitchFamily="18" charset="0"/>
              </a:rPr>
              <a:t>	T1			T2		   		 </a:t>
            </a:r>
            <a:r>
              <a:rPr lang="en-US" sz="2400" b="1" u="sng" dirty="0">
                <a:cs typeface="Times New Roman" pitchFamily="18" charset="0"/>
              </a:rPr>
              <a:t>Result</a:t>
            </a:r>
          </a:p>
          <a:p>
            <a:pPr>
              <a:lnSpc>
                <a:spcPct val="80000"/>
              </a:lnSpc>
              <a:spcBef>
                <a:spcPct val="50000"/>
              </a:spcBef>
              <a:buFont typeface="Wingdings" pitchFamily="2" charset="2"/>
              <a:buNone/>
            </a:pPr>
            <a:r>
              <a:rPr lang="en-US" sz="2400" dirty="0">
                <a:cs typeface="Times New Roman" pitchFamily="18" charset="0"/>
              </a:rPr>
              <a:t>	</a:t>
            </a:r>
            <a:r>
              <a:rPr lang="en-US" dirty="0" err="1">
                <a:cs typeface="Times New Roman" pitchFamily="18" charset="0"/>
              </a:rPr>
              <a:t>read_lock</a:t>
            </a:r>
            <a:r>
              <a:rPr lang="en-US" dirty="0">
                <a:cs typeface="Times New Roman" pitchFamily="18" charset="0"/>
              </a:rPr>
              <a:t> (Y);			      X=50; Y=50</a:t>
            </a:r>
          </a:p>
          <a:p>
            <a:pPr>
              <a:lnSpc>
                <a:spcPct val="80000"/>
              </a:lnSpc>
              <a:spcBef>
                <a:spcPct val="0"/>
              </a:spcBef>
              <a:buFont typeface="Wingdings" pitchFamily="2" charset="2"/>
              <a:buNone/>
            </a:pPr>
            <a:r>
              <a:rPr lang="en-US" dirty="0">
                <a:cs typeface="Times New Roman" pitchFamily="18" charset="0"/>
              </a:rPr>
              <a:t>	</a:t>
            </a:r>
            <a:r>
              <a:rPr lang="en-US" dirty="0" err="1">
                <a:cs typeface="Times New Roman" pitchFamily="18" charset="0"/>
              </a:rPr>
              <a:t>read_item</a:t>
            </a:r>
            <a:r>
              <a:rPr lang="en-US" dirty="0">
                <a:cs typeface="Times New Roman" pitchFamily="18" charset="0"/>
              </a:rPr>
              <a:t> (Y);			      Non-serializable because it</a:t>
            </a:r>
          </a:p>
          <a:p>
            <a:pPr>
              <a:lnSpc>
                <a:spcPct val="80000"/>
              </a:lnSpc>
              <a:spcBef>
                <a:spcPct val="0"/>
              </a:spcBef>
              <a:buFont typeface="Wingdings" pitchFamily="2" charset="2"/>
              <a:buNone/>
            </a:pPr>
            <a:r>
              <a:rPr lang="en-US" dirty="0">
                <a:cs typeface="Times New Roman" pitchFamily="18" charset="0"/>
              </a:rPr>
              <a:t>	</a:t>
            </a:r>
            <a:r>
              <a:rPr lang="en-US" b="1" dirty="0">
                <a:cs typeface="Times New Roman" pitchFamily="18" charset="0"/>
              </a:rPr>
              <a:t>unlock (Y);</a:t>
            </a:r>
            <a:r>
              <a:rPr lang="en-US" dirty="0">
                <a:cs typeface="Times New Roman" pitchFamily="18" charset="0"/>
              </a:rPr>
              <a:t>				    	violated two-phase policy.</a:t>
            </a:r>
          </a:p>
          <a:p>
            <a:pPr>
              <a:lnSpc>
                <a:spcPct val="80000"/>
              </a:lnSpc>
              <a:spcBef>
                <a:spcPct val="0"/>
              </a:spcBef>
              <a:buFont typeface="Wingdings" pitchFamily="2" charset="2"/>
              <a:buNone/>
            </a:pPr>
            <a:r>
              <a:rPr lang="en-US" dirty="0">
                <a:cs typeface="Times New Roman" pitchFamily="18" charset="0"/>
              </a:rPr>
              <a:t>			       	</a:t>
            </a:r>
            <a:r>
              <a:rPr lang="en-US" dirty="0" err="1">
                <a:cs typeface="Times New Roman" pitchFamily="18" charset="0"/>
              </a:rPr>
              <a:t>read_lock</a:t>
            </a:r>
            <a:r>
              <a:rPr lang="en-US" dirty="0">
                <a:cs typeface="Times New Roman" pitchFamily="18" charset="0"/>
              </a:rPr>
              <a:t> (X); 	</a:t>
            </a:r>
          </a:p>
          <a:p>
            <a:pPr>
              <a:lnSpc>
                <a:spcPct val="80000"/>
              </a:lnSpc>
              <a:spcBef>
                <a:spcPct val="0"/>
              </a:spcBef>
              <a:buFont typeface="Wingdings" pitchFamily="2" charset="2"/>
              <a:buNone/>
            </a:pPr>
            <a:r>
              <a:rPr lang="en-US" dirty="0">
                <a:cs typeface="Times New Roman" pitchFamily="18" charset="0"/>
              </a:rPr>
              <a:t>			       	</a:t>
            </a:r>
            <a:r>
              <a:rPr lang="en-US" dirty="0" err="1">
                <a:cs typeface="Times New Roman" pitchFamily="18" charset="0"/>
              </a:rPr>
              <a:t>read_item</a:t>
            </a:r>
            <a:r>
              <a:rPr lang="en-US" dirty="0">
                <a:cs typeface="Times New Roman" pitchFamily="18" charset="0"/>
              </a:rPr>
              <a:t> (X);	    </a:t>
            </a:r>
          </a:p>
          <a:p>
            <a:pPr>
              <a:lnSpc>
                <a:spcPct val="80000"/>
              </a:lnSpc>
              <a:spcBef>
                <a:spcPct val="0"/>
              </a:spcBef>
              <a:buFont typeface="Wingdings" pitchFamily="2" charset="2"/>
              <a:buNone/>
            </a:pPr>
            <a:r>
              <a:rPr lang="en-US" dirty="0">
                <a:cs typeface="Times New Roman" pitchFamily="18" charset="0"/>
              </a:rPr>
              <a:t>				</a:t>
            </a:r>
            <a:r>
              <a:rPr lang="en-US" b="1" dirty="0">
                <a:cs typeface="Times New Roman" pitchFamily="18" charset="0"/>
              </a:rPr>
              <a:t>unlock (X); 	</a:t>
            </a:r>
          </a:p>
          <a:p>
            <a:pPr>
              <a:lnSpc>
                <a:spcPct val="80000"/>
              </a:lnSpc>
              <a:spcBef>
                <a:spcPct val="0"/>
              </a:spcBef>
              <a:buFont typeface="Wingdings" pitchFamily="2" charset="2"/>
              <a:buNone/>
            </a:pPr>
            <a:r>
              <a:rPr lang="en-US" b="1" dirty="0">
                <a:cs typeface="Times New Roman" pitchFamily="18" charset="0"/>
              </a:rPr>
              <a:t>				</a:t>
            </a:r>
            <a:r>
              <a:rPr lang="en-US" b="1" dirty="0" err="1">
                <a:cs typeface="Times New Roman" pitchFamily="18" charset="0"/>
              </a:rPr>
              <a:t>write_lock</a:t>
            </a:r>
            <a:r>
              <a:rPr lang="en-US" b="1" dirty="0">
                <a:cs typeface="Times New Roman" pitchFamily="18" charset="0"/>
              </a:rPr>
              <a:t> (Y);</a:t>
            </a:r>
            <a:r>
              <a:rPr lang="en-US" dirty="0">
                <a:cs typeface="Times New Roman" pitchFamily="18" charset="0"/>
              </a:rPr>
              <a:t>	</a:t>
            </a:r>
          </a:p>
          <a:p>
            <a:pPr>
              <a:lnSpc>
                <a:spcPct val="80000"/>
              </a:lnSpc>
              <a:spcBef>
                <a:spcPct val="0"/>
              </a:spcBef>
              <a:buFont typeface="Wingdings" pitchFamily="2" charset="2"/>
              <a:buNone/>
            </a:pPr>
            <a:r>
              <a:rPr lang="en-US" dirty="0">
                <a:cs typeface="Times New Roman" pitchFamily="18" charset="0"/>
              </a:rPr>
              <a:t>				</a:t>
            </a:r>
            <a:r>
              <a:rPr lang="en-US" dirty="0" err="1">
                <a:cs typeface="Times New Roman" pitchFamily="18" charset="0"/>
              </a:rPr>
              <a:t>read_item</a:t>
            </a:r>
            <a:r>
              <a:rPr lang="en-US" dirty="0">
                <a:cs typeface="Times New Roman" pitchFamily="18" charset="0"/>
              </a:rPr>
              <a:t> (Y);</a:t>
            </a:r>
          </a:p>
          <a:p>
            <a:pPr>
              <a:lnSpc>
                <a:spcPct val="80000"/>
              </a:lnSpc>
              <a:spcBef>
                <a:spcPct val="0"/>
              </a:spcBef>
              <a:buFont typeface="Wingdings" pitchFamily="2" charset="2"/>
              <a:buNone/>
            </a:pPr>
            <a:r>
              <a:rPr lang="en-US" dirty="0">
                <a:cs typeface="Times New Roman" pitchFamily="18" charset="0"/>
              </a:rPr>
              <a:t>				Y:=X+Y;</a:t>
            </a:r>
          </a:p>
          <a:p>
            <a:pPr>
              <a:lnSpc>
                <a:spcPct val="80000"/>
              </a:lnSpc>
              <a:spcBef>
                <a:spcPct val="0"/>
              </a:spcBef>
              <a:buFont typeface="Wingdings" pitchFamily="2" charset="2"/>
              <a:buNone/>
            </a:pPr>
            <a:r>
              <a:rPr lang="en-US" dirty="0">
                <a:cs typeface="Times New Roman" pitchFamily="18" charset="0"/>
              </a:rPr>
              <a:t>				</a:t>
            </a:r>
            <a:r>
              <a:rPr lang="en-US" dirty="0" err="1">
                <a:cs typeface="Times New Roman" pitchFamily="18" charset="0"/>
              </a:rPr>
              <a:t>write_item</a:t>
            </a:r>
            <a:r>
              <a:rPr lang="en-US" dirty="0">
                <a:cs typeface="Times New Roman" pitchFamily="18" charset="0"/>
              </a:rPr>
              <a:t> (Y);</a:t>
            </a:r>
          </a:p>
          <a:p>
            <a:pPr>
              <a:lnSpc>
                <a:spcPct val="80000"/>
              </a:lnSpc>
              <a:spcBef>
                <a:spcPct val="0"/>
              </a:spcBef>
              <a:buFont typeface="Wingdings" pitchFamily="2" charset="2"/>
              <a:buNone/>
            </a:pPr>
            <a:r>
              <a:rPr lang="en-US" dirty="0">
                <a:cs typeface="Times New Roman" pitchFamily="18" charset="0"/>
              </a:rPr>
              <a:t>				unlock (Y);</a:t>
            </a:r>
          </a:p>
          <a:p>
            <a:pPr>
              <a:lnSpc>
                <a:spcPct val="80000"/>
              </a:lnSpc>
              <a:spcBef>
                <a:spcPct val="0"/>
              </a:spcBef>
              <a:buFont typeface="Wingdings" pitchFamily="2" charset="2"/>
              <a:buNone/>
            </a:pPr>
            <a:r>
              <a:rPr lang="en-US" dirty="0">
                <a:cs typeface="Times New Roman" pitchFamily="18" charset="0"/>
              </a:rPr>
              <a:t>	</a:t>
            </a:r>
          </a:p>
          <a:p>
            <a:pPr>
              <a:lnSpc>
                <a:spcPct val="80000"/>
              </a:lnSpc>
              <a:spcBef>
                <a:spcPct val="0"/>
              </a:spcBef>
              <a:buFont typeface="Wingdings" pitchFamily="2" charset="2"/>
              <a:buNone/>
            </a:pPr>
            <a:r>
              <a:rPr lang="en-US" b="1" dirty="0">
                <a:cs typeface="Times New Roman" pitchFamily="18" charset="0"/>
              </a:rPr>
              <a:t>	</a:t>
            </a:r>
            <a:r>
              <a:rPr lang="en-US" b="1" dirty="0" err="1">
                <a:cs typeface="Times New Roman" pitchFamily="18" charset="0"/>
              </a:rPr>
              <a:t>write_lock</a:t>
            </a:r>
            <a:r>
              <a:rPr lang="en-US" b="1" dirty="0">
                <a:cs typeface="Times New Roman" pitchFamily="18" charset="0"/>
              </a:rPr>
              <a:t> (X);</a:t>
            </a:r>
          </a:p>
          <a:p>
            <a:pPr>
              <a:lnSpc>
                <a:spcPct val="80000"/>
              </a:lnSpc>
              <a:spcBef>
                <a:spcPct val="0"/>
              </a:spcBef>
              <a:buFont typeface="Wingdings" pitchFamily="2" charset="2"/>
              <a:buNone/>
            </a:pPr>
            <a:r>
              <a:rPr lang="en-US" dirty="0">
                <a:cs typeface="Times New Roman" pitchFamily="18" charset="0"/>
              </a:rPr>
              <a:t>	</a:t>
            </a:r>
            <a:r>
              <a:rPr lang="en-US" dirty="0" err="1">
                <a:cs typeface="Times New Roman" pitchFamily="18" charset="0"/>
              </a:rPr>
              <a:t>read_item</a:t>
            </a:r>
            <a:r>
              <a:rPr lang="en-US" dirty="0">
                <a:cs typeface="Times New Roman" pitchFamily="18" charset="0"/>
              </a:rPr>
              <a:t> (X);	</a:t>
            </a:r>
          </a:p>
          <a:p>
            <a:pPr>
              <a:lnSpc>
                <a:spcPct val="80000"/>
              </a:lnSpc>
              <a:spcBef>
                <a:spcPct val="0"/>
              </a:spcBef>
              <a:buFont typeface="Wingdings" pitchFamily="2" charset="2"/>
              <a:buNone/>
            </a:pPr>
            <a:r>
              <a:rPr lang="en-US" dirty="0">
                <a:cs typeface="Times New Roman" pitchFamily="18" charset="0"/>
              </a:rPr>
              <a:t>	X:=X+Y;</a:t>
            </a:r>
          </a:p>
          <a:p>
            <a:pPr>
              <a:lnSpc>
                <a:spcPct val="80000"/>
              </a:lnSpc>
              <a:spcBef>
                <a:spcPct val="0"/>
              </a:spcBef>
              <a:buFont typeface="Wingdings" pitchFamily="2" charset="2"/>
              <a:buNone/>
            </a:pPr>
            <a:r>
              <a:rPr lang="en-US" dirty="0">
                <a:cs typeface="Times New Roman" pitchFamily="18" charset="0"/>
              </a:rPr>
              <a:t>	</a:t>
            </a:r>
            <a:r>
              <a:rPr lang="en-US" dirty="0" err="1">
                <a:cs typeface="Times New Roman" pitchFamily="18" charset="0"/>
              </a:rPr>
              <a:t>write_item</a:t>
            </a:r>
            <a:r>
              <a:rPr lang="en-US" dirty="0">
                <a:cs typeface="Times New Roman" pitchFamily="18" charset="0"/>
              </a:rPr>
              <a:t> (X);</a:t>
            </a:r>
          </a:p>
          <a:p>
            <a:pPr>
              <a:lnSpc>
                <a:spcPct val="80000"/>
              </a:lnSpc>
              <a:spcBef>
                <a:spcPct val="0"/>
              </a:spcBef>
              <a:buFont typeface="Wingdings" pitchFamily="2" charset="2"/>
              <a:buNone/>
            </a:pPr>
            <a:r>
              <a:rPr lang="en-US" dirty="0">
                <a:cs typeface="Times New Roman" pitchFamily="18" charset="0"/>
              </a:rPr>
              <a:t>	unlock (X);</a:t>
            </a:r>
            <a:endParaRPr lang="en-US" dirty="0">
              <a:cs typeface="Times New Roman" pitchFamily="18" charset="0"/>
              <a:sym typeface="Symbol" pitchFamily="18" charset="2"/>
            </a:endParaRPr>
          </a:p>
          <a:p>
            <a:pPr lvl="1" algn="just">
              <a:lnSpc>
                <a:spcPct val="95000"/>
              </a:lnSpc>
              <a:spcBef>
                <a:spcPct val="10000"/>
              </a:spcBef>
              <a:buFontTx/>
              <a:buNone/>
            </a:pPr>
            <a:r>
              <a:rPr lang="en-US" sz="1800" dirty="0">
                <a:cs typeface="Times New Roman" pitchFamily="18" charset="0"/>
                <a:sym typeface="Symbol" pitchFamily="18" charset="2"/>
              </a:rPr>
              <a:t>   </a:t>
            </a:r>
            <a:endParaRPr lang="en-US" sz="2200" dirty="0"/>
          </a:p>
        </p:txBody>
      </p:sp>
      <p:sp>
        <p:nvSpPr>
          <p:cNvPr id="6" name="Line 6"/>
          <p:cNvSpPr>
            <a:spLocks noChangeShapeType="1"/>
          </p:cNvSpPr>
          <p:nvPr/>
        </p:nvSpPr>
        <p:spPr bwMode="auto">
          <a:xfrm>
            <a:off x="1028700" y="2780928"/>
            <a:ext cx="0" cy="1791072"/>
          </a:xfrm>
          <a:prstGeom prst="line">
            <a:avLst/>
          </a:prstGeom>
          <a:noFill/>
          <a:ln w="12700">
            <a:solidFill>
              <a:srgbClr val="990033"/>
            </a:solidFill>
            <a:miter lim="800000"/>
            <a:headEnd/>
            <a:tailEnd type="triangle" w="med" len="med"/>
          </a:ln>
        </p:spPr>
        <p:txBody>
          <a:bodyPr wrap="none"/>
          <a:lstStyle/>
          <a:p>
            <a:endParaRPr lang="en-US"/>
          </a:p>
        </p:txBody>
      </p:sp>
      <p:sp>
        <p:nvSpPr>
          <p:cNvPr id="7" name="Rectangle 7"/>
          <p:cNvSpPr>
            <a:spLocks noChangeArrowheads="1"/>
          </p:cNvSpPr>
          <p:nvPr/>
        </p:nvSpPr>
        <p:spPr bwMode="auto">
          <a:xfrm>
            <a:off x="352425" y="3497263"/>
            <a:ext cx="666750" cy="366712"/>
          </a:xfrm>
          <a:prstGeom prst="rect">
            <a:avLst/>
          </a:prstGeom>
          <a:noFill/>
          <a:ln w="9525">
            <a:noFill/>
            <a:miter lim="800000"/>
            <a:headEnd/>
            <a:tailEnd/>
          </a:ln>
        </p:spPr>
        <p:txBody>
          <a:bodyPr wrap="none">
            <a:spAutoFit/>
          </a:bodyPr>
          <a:lstStyle/>
          <a:p>
            <a:r>
              <a:rPr lang="en-US" sz="1800">
                <a:solidFill>
                  <a:srgbClr val="990033"/>
                </a:solidFill>
                <a:latin typeface="Times New Roman" pitchFamily="18" charset="0"/>
              </a:rPr>
              <a:t>Time</a:t>
            </a:r>
          </a:p>
        </p:txBody>
      </p:sp>
      <p:sp>
        <p:nvSpPr>
          <p:cNvPr id="3" name="Slide Number Placeholder 2">
            <a:extLst>
              <a:ext uri="{FF2B5EF4-FFF2-40B4-BE49-F238E27FC236}">
                <a16:creationId xmlns:a16="http://schemas.microsoft.com/office/drawing/2014/main" id="{A2A5DA64-18CE-35EF-9004-8449F1A99811}"/>
              </a:ext>
            </a:extLst>
          </p:cNvPr>
          <p:cNvSpPr>
            <a:spLocks noGrp="1"/>
          </p:cNvSpPr>
          <p:nvPr>
            <p:ph type="sldNum" sz="quarter" idx="12"/>
          </p:nvPr>
        </p:nvSpPr>
        <p:spPr/>
        <p:txBody>
          <a:bodyPr/>
          <a:lstStyle/>
          <a:p>
            <a:fld id="{F8EF2FF5-BD00-45B8-A71A-EAE2607F0774}" type="slidenum">
              <a:rPr lang="en-IN" smtClean="0"/>
              <a:t>30</a:t>
            </a:fld>
            <a:endParaRPr lang="en-IN"/>
          </a:p>
        </p:txBody>
      </p:sp>
    </p:spTree>
    <p:extLst>
      <p:ext uri="{BB962C8B-B14F-4D97-AF65-F5344CB8AC3E}">
        <p14:creationId xmlns:p14="http://schemas.microsoft.com/office/powerpoint/2010/main" val="33089722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562074"/>
          </a:xfrm>
        </p:spPr>
        <p:txBody>
          <a:bodyPr>
            <a:normAutofit fontScale="90000"/>
          </a:bodyPr>
          <a:lstStyle/>
          <a:p>
            <a:r>
              <a:rPr lang="en-US" dirty="0"/>
              <a:t>Transaction follow the 2PL</a:t>
            </a:r>
            <a:endParaRPr lang="en-IN"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843" y="801579"/>
            <a:ext cx="6552728" cy="4608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611560" y="5440217"/>
            <a:ext cx="7632848" cy="1077218"/>
          </a:xfrm>
          <a:prstGeom prst="rect">
            <a:avLst/>
          </a:prstGeom>
        </p:spPr>
        <p:txBody>
          <a:bodyPr wrap="square">
            <a:spAutoFit/>
          </a:bodyPr>
          <a:lstStyle/>
          <a:p>
            <a:pPr algn="ctr">
              <a:spcBef>
                <a:spcPct val="50000"/>
              </a:spcBef>
              <a:buNone/>
            </a:pPr>
            <a:r>
              <a:rPr lang="en-US" sz="3200" dirty="0">
                <a:cs typeface="Times New Roman" pitchFamily="18" charset="0"/>
              </a:rPr>
              <a:t>T1 and T2 follow two-phase policy but they are subject to deadlock, which must be dealt with.</a:t>
            </a:r>
          </a:p>
        </p:txBody>
      </p:sp>
      <p:sp>
        <p:nvSpPr>
          <p:cNvPr id="3" name="Slide Number Placeholder 2">
            <a:extLst>
              <a:ext uri="{FF2B5EF4-FFF2-40B4-BE49-F238E27FC236}">
                <a16:creationId xmlns:a16="http://schemas.microsoft.com/office/drawing/2014/main" id="{69EEABE4-6804-BBDD-DF59-09302965608C}"/>
              </a:ext>
            </a:extLst>
          </p:cNvPr>
          <p:cNvSpPr>
            <a:spLocks noGrp="1"/>
          </p:cNvSpPr>
          <p:nvPr>
            <p:ph type="sldNum" sz="quarter" idx="12"/>
          </p:nvPr>
        </p:nvSpPr>
        <p:spPr/>
        <p:txBody>
          <a:bodyPr/>
          <a:lstStyle/>
          <a:p>
            <a:fld id="{F8EF2FF5-BD00-45B8-A71A-EAE2607F0774}" type="slidenum">
              <a:rPr lang="en-IN" smtClean="0"/>
              <a:t>31</a:t>
            </a:fld>
            <a:endParaRPr lang="en-IN"/>
          </a:p>
        </p:txBody>
      </p:sp>
    </p:spTree>
    <p:extLst>
      <p:ext uri="{BB962C8B-B14F-4D97-AF65-F5344CB8AC3E}">
        <p14:creationId xmlns:p14="http://schemas.microsoft.com/office/powerpoint/2010/main" val="36467466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10607" y="908720"/>
            <a:ext cx="7772400" cy="4572000"/>
          </a:xfrm>
        </p:spPr>
        <p:txBody>
          <a:bodyPr/>
          <a:lstStyle/>
          <a:p>
            <a:r>
              <a:rPr lang="en-US" dirty="0">
                <a:latin typeface="Times New Roman" pitchFamily="18" charset="0"/>
                <a:cs typeface="Times New Roman" pitchFamily="18" charset="0"/>
              </a:rPr>
              <a:t>It is true that the 2PL protocol offers serializability. </a:t>
            </a:r>
          </a:p>
          <a:p>
            <a:r>
              <a:rPr lang="en-US" dirty="0">
                <a:latin typeface="Times New Roman" pitchFamily="18" charset="0"/>
                <a:cs typeface="Times New Roman" pitchFamily="18" charset="0"/>
              </a:rPr>
              <a:t>However, it does not ensure that deadlocks do not happen.</a:t>
            </a:r>
          </a:p>
          <a:p>
            <a:r>
              <a:rPr lang="en-US" dirty="0">
                <a:latin typeface="Times New Roman" pitchFamily="18" charset="0"/>
                <a:cs typeface="Times New Roman" pitchFamily="18" charset="0"/>
              </a:rPr>
              <a:t> </a:t>
            </a:r>
          </a:p>
          <a:p>
            <a:endParaRPr lang="en-IN" dirty="0">
              <a:latin typeface="Times New Roman" pitchFamily="18" charset="0"/>
              <a:cs typeface="Times New Roman" pitchFamily="18" charset="0"/>
            </a:endParaRP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4009" y="3068960"/>
            <a:ext cx="7255981" cy="3312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Slide Number Placeholder 1">
            <a:extLst>
              <a:ext uri="{FF2B5EF4-FFF2-40B4-BE49-F238E27FC236}">
                <a16:creationId xmlns:a16="http://schemas.microsoft.com/office/drawing/2014/main" id="{D417D737-A347-08BB-2C09-99D500704795}"/>
              </a:ext>
            </a:extLst>
          </p:cNvPr>
          <p:cNvSpPr>
            <a:spLocks noGrp="1"/>
          </p:cNvSpPr>
          <p:nvPr>
            <p:ph type="sldNum" sz="quarter" idx="12"/>
          </p:nvPr>
        </p:nvSpPr>
        <p:spPr/>
        <p:txBody>
          <a:bodyPr/>
          <a:lstStyle/>
          <a:p>
            <a:fld id="{F8EF2FF5-BD00-45B8-A71A-EAE2607F0774}" type="slidenum">
              <a:rPr lang="en-IN" smtClean="0"/>
              <a:t>32</a:t>
            </a:fld>
            <a:endParaRPr lang="en-IN"/>
          </a:p>
        </p:txBody>
      </p:sp>
    </p:spTree>
    <p:extLst>
      <p:ext uri="{BB962C8B-B14F-4D97-AF65-F5344CB8AC3E}">
        <p14:creationId xmlns:p14="http://schemas.microsoft.com/office/powerpoint/2010/main" val="13079045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624" y="2014538"/>
            <a:ext cx="7128792" cy="4078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Slide Number Placeholder 3">
            <a:extLst>
              <a:ext uri="{FF2B5EF4-FFF2-40B4-BE49-F238E27FC236}">
                <a16:creationId xmlns:a16="http://schemas.microsoft.com/office/drawing/2014/main" id="{47C25E68-9EC9-58CA-4F7B-7338E047DE4D}"/>
              </a:ext>
            </a:extLst>
          </p:cNvPr>
          <p:cNvSpPr>
            <a:spLocks noGrp="1"/>
          </p:cNvSpPr>
          <p:nvPr>
            <p:ph type="sldNum" sz="quarter" idx="12"/>
          </p:nvPr>
        </p:nvSpPr>
        <p:spPr/>
        <p:txBody>
          <a:bodyPr/>
          <a:lstStyle/>
          <a:p>
            <a:fld id="{F8EF2FF5-BD00-45B8-A71A-EAE2607F0774}" type="slidenum">
              <a:rPr lang="en-IN" smtClean="0"/>
              <a:t>33</a:t>
            </a:fld>
            <a:endParaRPr lang="en-IN"/>
          </a:p>
        </p:txBody>
      </p:sp>
    </p:spTree>
    <p:extLst>
      <p:ext uri="{BB962C8B-B14F-4D97-AF65-F5344CB8AC3E}">
        <p14:creationId xmlns:p14="http://schemas.microsoft.com/office/powerpoint/2010/main" val="40159604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1"/>
          <p:cNvSpPr>
            <a:spLocks noGrp="1" noChangeArrowheads="1"/>
          </p:cNvSpPr>
          <p:nvPr>
            <p:ph idx="1"/>
          </p:nvPr>
        </p:nvSpPr>
        <p:spPr>
          <a:xfrm>
            <a:off x="323528" y="404664"/>
            <a:ext cx="8568952" cy="6192688"/>
          </a:xfrm>
        </p:spPr>
        <p:txBody>
          <a:bodyPr>
            <a:normAutofit lnSpcReduction="10000"/>
          </a:bodyPr>
          <a:lstStyle/>
          <a:p>
            <a:pPr eaLnBrk="1" hangingPunct="1">
              <a:lnSpc>
                <a:spcPct val="80000"/>
              </a:lnSpc>
              <a:buFont typeface="Wingdings" pitchFamily="2" charset="2"/>
              <a:buNone/>
            </a:pPr>
            <a:r>
              <a:rPr lang="en-US" sz="2800" dirty="0"/>
              <a:t>Two-Phase Locking Techniques: The algorithm</a:t>
            </a:r>
          </a:p>
          <a:p>
            <a:pPr eaLnBrk="1" hangingPunct="1">
              <a:lnSpc>
                <a:spcPct val="80000"/>
              </a:lnSpc>
            </a:pPr>
            <a:r>
              <a:rPr lang="en-US" sz="2800" dirty="0"/>
              <a:t>Two-phase policy generates two locking algorithms</a:t>
            </a:r>
          </a:p>
          <a:p>
            <a:pPr lvl="1" eaLnBrk="1" hangingPunct="1">
              <a:lnSpc>
                <a:spcPct val="80000"/>
              </a:lnSpc>
            </a:pPr>
            <a:r>
              <a:rPr lang="en-US" sz="2800" dirty="0"/>
              <a:t>(a) </a:t>
            </a:r>
            <a:r>
              <a:rPr lang="en-US" sz="2800" b="1" dirty="0"/>
              <a:t>Basic</a:t>
            </a:r>
            <a:r>
              <a:rPr lang="en-US" sz="2800" dirty="0"/>
              <a:t> </a:t>
            </a:r>
          </a:p>
          <a:p>
            <a:pPr lvl="1" eaLnBrk="1" hangingPunct="1">
              <a:lnSpc>
                <a:spcPct val="80000"/>
              </a:lnSpc>
            </a:pPr>
            <a:r>
              <a:rPr lang="en-US" sz="2800" dirty="0"/>
              <a:t>(b) </a:t>
            </a:r>
            <a:r>
              <a:rPr lang="en-US" sz="2800" b="1" dirty="0"/>
              <a:t>Conservative</a:t>
            </a:r>
            <a:endParaRPr lang="en-US" sz="2800" dirty="0"/>
          </a:p>
          <a:p>
            <a:pPr eaLnBrk="1" hangingPunct="1">
              <a:lnSpc>
                <a:spcPct val="80000"/>
              </a:lnSpc>
            </a:pPr>
            <a:r>
              <a:rPr lang="en-US" sz="2800" b="1" dirty="0">
                <a:solidFill>
                  <a:srgbClr val="FF0000"/>
                </a:solidFill>
              </a:rPr>
              <a:t>Conservative</a:t>
            </a:r>
            <a:r>
              <a:rPr lang="en-US" sz="2800" dirty="0">
                <a:solidFill>
                  <a:srgbClr val="FF0000"/>
                </a:solidFill>
              </a:rPr>
              <a:t>: </a:t>
            </a:r>
          </a:p>
          <a:p>
            <a:pPr lvl="1" eaLnBrk="1" hangingPunct="1">
              <a:lnSpc>
                <a:spcPct val="80000"/>
              </a:lnSpc>
            </a:pPr>
            <a:r>
              <a:rPr lang="en-US" sz="2800" dirty="0"/>
              <a:t>Prevents deadlock by locking all desired data items before transaction begins execution.</a:t>
            </a:r>
          </a:p>
          <a:p>
            <a:pPr eaLnBrk="1" hangingPunct="1">
              <a:lnSpc>
                <a:spcPct val="80000"/>
              </a:lnSpc>
            </a:pPr>
            <a:r>
              <a:rPr lang="en-US" sz="2800" b="1" dirty="0">
                <a:solidFill>
                  <a:srgbClr val="FF0000"/>
                </a:solidFill>
              </a:rPr>
              <a:t>Basic</a:t>
            </a:r>
            <a:r>
              <a:rPr lang="en-US" sz="2800" dirty="0">
                <a:solidFill>
                  <a:srgbClr val="FF0000"/>
                </a:solidFill>
              </a:rPr>
              <a:t>:</a:t>
            </a:r>
          </a:p>
          <a:p>
            <a:pPr lvl="1" eaLnBrk="1" hangingPunct="1">
              <a:lnSpc>
                <a:spcPct val="80000"/>
              </a:lnSpc>
            </a:pPr>
            <a:r>
              <a:rPr lang="en-US" sz="2800" dirty="0"/>
              <a:t>Transaction locks data items incrementally.  This may cause deadlock which is dealt with.</a:t>
            </a:r>
          </a:p>
          <a:p>
            <a:pPr eaLnBrk="1" hangingPunct="1">
              <a:lnSpc>
                <a:spcPct val="80000"/>
              </a:lnSpc>
            </a:pPr>
            <a:r>
              <a:rPr lang="en-US" sz="2800" b="1" dirty="0">
                <a:solidFill>
                  <a:srgbClr val="FF0000"/>
                </a:solidFill>
              </a:rPr>
              <a:t>Strict</a:t>
            </a:r>
            <a:r>
              <a:rPr lang="en-US" sz="2800" dirty="0">
                <a:solidFill>
                  <a:srgbClr val="FF0000"/>
                </a:solidFill>
              </a:rPr>
              <a:t>:</a:t>
            </a:r>
          </a:p>
          <a:p>
            <a:pPr lvl="1" algn="just" eaLnBrk="1" hangingPunct="1">
              <a:lnSpc>
                <a:spcPct val="80000"/>
              </a:lnSpc>
            </a:pPr>
            <a:r>
              <a:rPr lang="en-US" sz="2800" dirty="0"/>
              <a:t>A more stricter version of Basic algorithm where unlocking is performed after a transaction terminates (commits or aborts and rolled-back).  This is the </a:t>
            </a:r>
            <a:r>
              <a:rPr lang="en-US" sz="2800" dirty="0">
                <a:solidFill>
                  <a:srgbClr val="FF0000"/>
                </a:solidFill>
              </a:rPr>
              <a:t>most commonly used two-phase locking algorithm.</a:t>
            </a:r>
            <a:endParaRPr lang="en-US" sz="2800" dirty="0">
              <a:solidFill>
                <a:srgbClr val="FF0000"/>
              </a:solidFill>
              <a:sym typeface="Symbol" pitchFamily="18" charset="2"/>
            </a:endParaRPr>
          </a:p>
        </p:txBody>
      </p:sp>
      <p:sp>
        <p:nvSpPr>
          <p:cNvPr id="2" name="Slide Number Placeholder 1">
            <a:extLst>
              <a:ext uri="{FF2B5EF4-FFF2-40B4-BE49-F238E27FC236}">
                <a16:creationId xmlns:a16="http://schemas.microsoft.com/office/drawing/2014/main" id="{C46F869E-83AD-9C63-B5AA-D81D68D835F3}"/>
              </a:ext>
            </a:extLst>
          </p:cNvPr>
          <p:cNvSpPr>
            <a:spLocks noGrp="1"/>
          </p:cNvSpPr>
          <p:nvPr>
            <p:ph type="sldNum" sz="quarter" idx="12"/>
          </p:nvPr>
        </p:nvSpPr>
        <p:spPr/>
        <p:txBody>
          <a:bodyPr/>
          <a:lstStyle/>
          <a:p>
            <a:fld id="{F8EF2FF5-BD00-45B8-A71A-EAE2607F0774}" type="slidenum">
              <a:rPr lang="en-IN" smtClean="0"/>
              <a:t>34</a:t>
            </a:fld>
            <a:endParaRPr lang="en-IN"/>
          </a:p>
        </p:txBody>
      </p:sp>
    </p:spTree>
    <p:extLst>
      <p:ext uri="{BB962C8B-B14F-4D97-AF65-F5344CB8AC3E}">
        <p14:creationId xmlns:p14="http://schemas.microsoft.com/office/powerpoint/2010/main" val="24771597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Other type of 2PL	</a:t>
            </a:r>
            <a:endParaRPr lang="en-IN" dirty="0"/>
          </a:p>
        </p:txBody>
      </p:sp>
      <p:sp>
        <p:nvSpPr>
          <p:cNvPr id="3" name="Content Placeholder 2"/>
          <p:cNvSpPr>
            <a:spLocks noGrp="1"/>
          </p:cNvSpPr>
          <p:nvPr>
            <p:ph idx="1"/>
          </p:nvPr>
        </p:nvSpPr>
        <p:spPr/>
        <p:txBody>
          <a:bodyPr/>
          <a:lstStyle/>
          <a:p>
            <a:r>
              <a:rPr lang="en-US" dirty="0">
                <a:latin typeface="Times New Roman" pitchFamily="18" charset="0"/>
                <a:cs typeface="Times New Roman" pitchFamily="18" charset="0"/>
              </a:rPr>
              <a:t>To avoid the deadlock during transaction process, the different variation of the 2PL has been described.</a:t>
            </a:r>
          </a:p>
          <a:p>
            <a:r>
              <a:rPr lang="en-US" b="1" dirty="0">
                <a:latin typeface="Times New Roman" pitchFamily="18" charset="0"/>
                <a:cs typeface="Times New Roman" pitchFamily="18" charset="0"/>
              </a:rPr>
              <a:t>Strict 2PL</a:t>
            </a:r>
          </a:p>
          <a:p>
            <a:r>
              <a:rPr lang="en-US" b="1" dirty="0">
                <a:latin typeface="Times New Roman" pitchFamily="18" charset="0"/>
                <a:cs typeface="Times New Roman" pitchFamily="18" charset="0"/>
              </a:rPr>
              <a:t>Rigorous 2PL </a:t>
            </a:r>
          </a:p>
          <a:p>
            <a:r>
              <a:rPr lang="en-US" b="1" dirty="0">
                <a:latin typeface="Times New Roman" pitchFamily="18" charset="0"/>
                <a:cs typeface="Times New Roman" pitchFamily="18" charset="0"/>
              </a:rPr>
              <a:t>Conservative 2PL</a:t>
            </a:r>
            <a:endParaRPr lang="en-IN" b="1" dirty="0">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F8D01E4C-3322-59A8-3883-E071BA609BFC}"/>
              </a:ext>
            </a:extLst>
          </p:cNvPr>
          <p:cNvSpPr>
            <a:spLocks noGrp="1"/>
          </p:cNvSpPr>
          <p:nvPr>
            <p:ph type="sldNum" sz="quarter" idx="12"/>
          </p:nvPr>
        </p:nvSpPr>
        <p:spPr/>
        <p:txBody>
          <a:bodyPr/>
          <a:lstStyle/>
          <a:p>
            <a:fld id="{F8EF2FF5-BD00-45B8-A71A-EAE2607F0774}" type="slidenum">
              <a:rPr lang="en-IN" smtClean="0"/>
              <a:t>35</a:t>
            </a:fld>
            <a:endParaRPr lang="en-IN"/>
          </a:p>
        </p:txBody>
      </p:sp>
    </p:spTree>
    <p:extLst>
      <p:ext uri="{BB962C8B-B14F-4D97-AF65-F5344CB8AC3E}">
        <p14:creationId xmlns:p14="http://schemas.microsoft.com/office/powerpoint/2010/main" val="26417024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Strict 2PL</a:t>
            </a:r>
            <a:endParaRPr lang="en-IN" b="1" dirty="0">
              <a:solidFill>
                <a:srgbClr val="FF0000"/>
              </a:solidFill>
            </a:endParaRPr>
          </a:p>
        </p:txBody>
      </p:sp>
      <p:sp>
        <p:nvSpPr>
          <p:cNvPr id="3" name="Content Placeholder 2"/>
          <p:cNvSpPr>
            <a:spLocks noGrp="1"/>
          </p:cNvSpPr>
          <p:nvPr>
            <p:ph idx="1"/>
          </p:nvPr>
        </p:nvSpPr>
        <p:spPr/>
        <p:txBody>
          <a:bodyPr>
            <a:normAutofit fontScale="92500" lnSpcReduction="20000"/>
          </a:bodyPr>
          <a:lstStyle/>
          <a:p>
            <a:pPr algn="just"/>
            <a:r>
              <a:rPr lang="en-US" dirty="0">
                <a:latin typeface="Times New Roman" pitchFamily="18" charset="0"/>
                <a:cs typeface="Times New Roman" pitchFamily="18" charset="0"/>
              </a:rPr>
              <a:t>Strict-Two phase locking system is almost similar to 2PL. </a:t>
            </a:r>
          </a:p>
          <a:p>
            <a:pPr algn="just"/>
            <a:r>
              <a:rPr lang="en-US" dirty="0">
                <a:latin typeface="Times New Roman" pitchFamily="18" charset="0"/>
                <a:cs typeface="Times New Roman" pitchFamily="18" charset="0"/>
              </a:rPr>
              <a:t>The only difference is that Strict-2PL never releases a lock after using it. </a:t>
            </a:r>
          </a:p>
          <a:p>
            <a:pPr algn="just"/>
            <a:r>
              <a:rPr lang="en-US" dirty="0">
                <a:latin typeface="Times New Roman" pitchFamily="18" charset="0"/>
                <a:cs typeface="Times New Roman" pitchFamily="18" charset="0"/>
              </a:rPr>
              <a:t>It require all locks (lock all the items) to access before begin transaction. </a:t>
            </a:r>
          </a:p>
          <a:p>
            <a:pPr algn="just"/>
            <a:r>
              <a:rPr lang="en-US" dirty="0">
                <a:latin typeface="Times New Roman" pitchFamily="18" charset="0"/>
                <a:cs typeface="Times New Roman" pitchFamily="18" charset="0"/>
              </a:rPr>
              <a:t>It </a:t>
            </a:r>
            <a:r>
              <a:rPr lang="en-US" dirty="0">
                <a:solidFill>
                  <a:srgbClr val="FF0000"/>
                </a:solidFill>
                <a:latin typeface="Times New Roman" pitchFamily="18" charset="0"/>
                <a:cs typeface="Times New Roman" pitchFamily="18" charset="0"/>
              </a:rPr>
              <a:t>holds all the locks until the commit point and releases all the locks</a:t>
            </a:r>
            <a:r>
              <a:rPr lang="en-US" dirty="0">
                <a:latin typeface="Times New Roman" pitchFamily="18" charset="0"/>
                <a:cs typeface="Times New Roman" pitchFamily="18" charset="0"/>
              </a:rPr>
              <a:t> at one go when the process is over. </a:t>
            </a:r>
          </a:p>
          <a:p>
            <a:pPr algn="just"/>
            <a:r>
              <a:rPr lang="en-US" dirty="0">
                <a:latin typeface="Times New Roman" pitchFamily="18" charset="0"/>
                <a:cs typeface="Times New Roman" pitchFamily="18" charset="0"/>
              </a:rPr>
              <a:t>It is not completely deadlock free. </a:t>
            </a:r>
            <a:endParaRPr lang="en-IN" dirty="0">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A629F6F8-6738-0E4B-0A78-197A109D7B31}"/>
              </a:ext>
            </a:extLst>
          </p:cNvPr>
          <p:cNvSpPr>
            <a:spLocks noGrp="1"/>
          </p:cNvSpPr>
          <p:nvPr>
            <p:ph type="sldNum" sz="quarter" idx="12"/>
          </p:nvPr>
        </p:nvSpPr>
        <p:spPr/>
        <p:txBody>
          <a:bodyPr/>
          <a:lstStyle/>
          <a:p>
            <a:fld id="{F8EF2FF5-BD00-45B8-A71A-EAE2607F0774}" type="slidenum">
              <a:rPr lang="en-IN" smtClean="0"/>
              <a:t>36</a:t>
            </a:fld>
            <a:endParaRPr lang="en-IN"/>
          </a:p>
        </p:txBody>
      </p:sp>
    </p:spTree>
    <p:extLst>
      <p:ext uri="{BB962C8B-B14F-4D97-AF65-F5344CB8AC3E}">
        <p14:creationId xmlns:p14="http://schemas.microsoft.com/office/powerpoint/2010/main" val="28386233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78710" y="908720"/>
            <a:ext cx="8122684" cy="48245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Slide Number Placeholder 1">
            <a:extLst>
              <a:ext uri="{FF2B5EF4-FFF2-40B4-BE49-F238E27FC236}">
                <a16:creationId xmlns:a16="http://schemas.microsoft.com/office/drawing/2014/main" id="{DEEF8D00-B84C-DD04-ECA2-1A2BA05EDF7C}"/>
              </a:ext>
            </a:extLst>
          </p:cNvPr>
          <p:cNvSpPr>
            <a:spLocks noGrp="1"/>
          </p:cNvSpPr>
          <p:nvPr>
            <p:ph type="sldNum" sz="quarter" idx="12"/>
          </p:nvPr>
        </p:nvSpPr>
        <p:spPr/>
        <p:txBody>
          <a:bodyPr/>
          <a:lstStyle/>
          <a:p>
            <a:fld id="{F8EF2FF5-BD00-45B8-A71A-EAE2607F0774}" type="slidenum">
              <a:rPr lang="en-IN" smtClean="0"/>
              <a:t>37</a:t>
            </a:fld>
            <a:endParaRPr lang="en-IN"/>
          </a:p>
        </p:txBody>
      </p:sp>
    </p:spTree>
    <p:extLst>
      <p:ext uri="{BB962C8B-B14F-4D97-AF65-F5344CB8AC3E}">
        <p14:creationId xmlns:p14="http://schemas.microsoft.com/office/powerpoint/2010/main" val="3458367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Rigorous 2PL</a:t>
            </a:r>
            <a:endParaRPr lang="en-IN" b="1" dirty="0">
              <a:solidFill>
                <a:srgbClr val="FF0000"/>
              </a:solidFill>
            </a:endParaRPr>
          </a:p>
        </p:txBody>
      </p:sp>
      <p:sp>
        <p:nvSpPr>
          <p:cNvPr id="3" name="Content Placeholder 2"/>
          <p:cNvSpPr>
            <a:spLocks noGrp="1"/>
          </p:cNvSpPr>
          <p:nvPr>
            <p:ph idx="1"/>
          </p:nvPr>
        </p:nvSpPr>
        <p:spPr/>
        <p:txBody>
          <a:bodyPr>
            <a:normAutofit fontScale="85000" lnSpcReduction="10000"/>
          </a:bodyPr>
          <a:lstStyle/>
          <a:p>
            <a:r>
              <a:rPr lang="en-US" dirty="0"/>
              <a:t>It is more restrict than strict 2PL.</a:t>
            </a:r>
          </a:p>
          <a:p>
            <a:r>
              <a:rPr lang="en-US" dirty="0"/>
              <a:t>Rigorous Two – Phase Locking Protocol </a:t>
            </a:r>
            <a:r>
              <a:rPr lang="en-US" dirty="0">
                <a:solidFill>
                  <a:srgbClr val="FF0000"/>
                </a:solidFill>
              </a:rPr>
              <a:t>avoids cascading rollbacks.</a:t>
            </a:r>
          </a:p>
          <a:p>
            <a:r>
              <a:rPr lang="en-US" dirty="0"/>
              <a:t>This protocol </a:t>
            </a:r>
            <a:r>
              <a:rPr lang="en-US" dirty="0">
                <a:solidFill>
                  <a:srgbClr val="FF0000"/>
                </a:solidFill>
              </a:rPr>
              <a:t>requires that all the share and exclusive locks to be held until the transaction commits</a:t>
            </a:r>
            <a:r>
              <a:rPr lang="en-US" dirty="0"/>
              <a:t>.</a:t>
            </a:r>
          </a:p>
          <a:p>
            <a:r>
              <a:rPr lang="en-US" dirty="0"/>
              <a:t>It is </a:t>
            </a:r>
            <a:r>
              <a:rPr lang="en-US" dirty="0">
                <a:solidFill>
                  <a:srgbClr val="FF0000"/>
                </a:solidFill>
              </a:rPr>
              <a:t>almost free from deadlock.</a:t>
            </a:r>
          </a:p>
          <a:p>
            <a:endParaRPr lang="en-US" dirty="0">
              <a:solidFill>
                <a:srgbClr val="FF0000"/>
              </a:solidFill>
            </a:endParaRPr>
          </a:p>
          <a:p>
            <a:pPr marL="0" indent="0">
              <a:buNone/>
            </a:pPr>
            <a:r>
              <a:rPr lang="en-US" b="1" i="1" dirty="0"/>
              <a:t>Cascade Rollback:  </a:t>
            </a:r>
            <a:r>
              <a:rPr lang="en-US" dirty="0"/>
              <a:t>If transaction T1 fails, then rollback must be performed, then all other transactions that are dependent on T1 must be rollback. </a:t>
            </a:r>
          </a:p>
          <a:p>
            <a:endParaRPr lang="en-IN" dirty="0"/>
          </a:p>
        </p:txBody>
      </p:sp>
      <p:sp>
        <p:nvSpPr>
          <p:cNvPr id="4" name="Slide Number Placeholder 3">
            <a:extLst>
              <a:ext uri="{FF2B5EF4-FFF2-40B4-BE49-F238E27FC236}">
                <a16:creationId xmlns:a16="http://schemas.microsoft.com/office/drawing/2014/main" id="{CD94DCBF-0FA8-431A-F38F-4C2B084E8F74}"/>
              </a:ext>
            </a:extLst>
          </p:cNvPr>
          <p:cNvSpPr>
            <a:spLocks noGrp="1"/>
          </p:cNvSpPr>
          <p:nvPr>
            <p:ph type="sldNum" sz="quarter" idx="12"/>
          </p:nvPr>
        </p:nvSpPr>
        <p:spPr/>
        <p:txBody>
          <a:bodyPr/>
          <a:lstStyle/>
          <a:p>
            <a:fld id="{F8EF2FF5-BD00-45B8-A71A-EAE2607F0774}" type="slidenum">
              <a:rPr lang="en-IN" smtClean="0"/>
              <a:t>38</a:t>
            </a:fld>
            <a:endParaRPr lang="en-IN"/>
          </a:p>
        </p:txBody>
      </p:sp>
    </p:spTree>
    <p:extLst>
      <p:ext uri="{BB962C8B-B14F-4D97-AF65-F5344CB8AC3E}">
        <p14:creationId xmlns:p14="http://schemas.microsoft.com/office/powerpoint/2010/main" val="16183677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FF0000"/>
                </a:solidFill>
              </a:rPr>
              <a:t>Conservative 2PL Protocol</a:t>
            </a:r>
            <a:endParaRPr lang="en-IN" b="1" dirty="0">
              <a:solidFill>
                <a:srgbClr val="FF0000"/>
              </a:solidFill>
            </a:endParaRPr>
          </a:p>
        </p:txBody>
      </p:sp>
      <p:sp>
        <p:nvSpPr>
          <p:cNvPr id="3" name="Content Placeholder 2"/>
          <p:cNvSpPr>
            <a:spLocks noGrp="1"/>
          </p:cNvSpPr>
          <p:nvPr>
            <p:ph idx="1"/>
          </p:nvPr>
        </p:nvSpPr>
        <p:spPr/>
        <p:txBody>
          <a:bodyPr/>
          <a:lstStyle/>
          <a:p>
            <a:r>
              <a:rPr lang="en-US" dirty="0">
                <a:latin typeface="Times New Roman" pitchFamily="18" charset="0"/>
                <a:cs typeface="Times New Roman" pitchFamily="18" charset="0"/>
              </a:rPr>
              <a:t>Conservative Two – Phase Locking Protocol is also called as </a:t>
            </a:r>
            <a:r>
              <a:rPr lang="en-US" dirty="0">
                <a:solidFill>
                  <a:srgbClr val="FF0000"/>
                </a:solidFill>
                <a:latin typeface="Times New Roman" pitchFamily="18" charset="0"/>
                <a:cs typeface="Times New Roman" pitchFamily="18" charset="0"/>
              </a:rPr>
              <a:t>Static Two – Phase Locking Protocol.</a:t>
            </a:r>
          </a:p>
          <a:p>
            <a:r>
              <a:rPr lang="en-US" dirty="0">
                <a:latin typeface="Times New Roman" pitchFamily="18" charset="0"/>
                <a:cs typeface="Times New Roman" pitchFamily="18" charset="0"/>
              </a:rPr>
              <a:t>This protocol is almost free from deadlocks as all required items are listed in advanced.</a:t>
            </a:r>
          </a:p>
          <a:p>
            <a:r>
              <a:rPr lang="en-US" dirty="0">
                <a:latin typeface="Times New Roman" pitchFamily="18" charset="0"/>
                <a:cs typeface="Times New Roman" pitchFamily="18" charset="0"/>
              </a:rPr>
              <a:t>It </a:t>
            </a:r>
            <a:r>
              <a:rPr lang="en-US" dirty="0">
                <a:solidFill>
                  <a:srgbClr val="FF0000"/>
                </a:solidFill>
                <a:latin typeface="Times New Roman" pitchFamily="18" charset="0"/>
                <a:cs typeface="Times New Roman" pitchFamily="18" charset="0"/>
              </a:rPr>
              <a:t>requires locking of all data items to access before the transaction starts</a:t>
            </a:r>
            <a:r>
              <a:rPr lang="en-US" dirty="0">
                <a:latin typeface="Times New Roman" pitchFamily="18" charset="0"/>
                <a:cs typeface="Times New Roman" pitchFamily="18" charset="0"/>
              </a:rPr>
              <a:t>.</a:t>
            </a:r>
          </a:p>
          <a:p>
            <a:endParaRPr lang="en-IN" dirty="0"/>
          </a:p>
        </p:txBody>
      </p:sp>
      <p:sp>
        <p:nvSpPr>
          <p:cNvPr id="4" name="Slide Number Placeholder 3">
            <a:extLst>
              <a:ext uri="{FF2B5EF4-FFF2-40B4-BE49-F238E27FC236}">
                <a16:creationId xmlns:a16="http://schemas.microsoft.com/office/drawing/2014/main" id="{441CA5C3-9A0A-C06B-53F6-59E55019CD63}"/>
              </a:ext>
            </a:extLst>
          </p:cNvPr>
          <p:cNvSpPr>
            <a:spLocks noGrp="1"/>
          </p:cNvSpPr>
          <p:nvPr>
            <p:ph type="sldNum" sz="quarter" idx="12"/>
          </p:nvPr>
        </p:nvSpPr>
        <p:spPr/>
        <p:txBody>
          <a:bodyPr/>
          <a:lstStyle/>
          <a:p>
            <a:fld id="{F8EF2FF5-BD00-45B8-A71A-EAE2607F0774}" type="slidenum">
              <a:rPr lang="en-IN" smtClean="0"/>
              <a:t>39</a:t>
            </a:fld>
            <a:endParaRPr lang="en-IN"/>
          </a:p>
        </p:txBody>
      </p:sp>
    </p:spTree>
    <p:extLst>
      <p:ext uri="{BB962C8B-B14F-4D97-AF65-F5344CB8AC3E}">
        <p14:creationId xmlns:p14="http://schemas.microsoft.com/office/powerpoint/2010/main" val="210836103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188640"/>
            <a:ext cx="7772400" cy="1143000"/>
          </a:xfrm>
        </p:spPr>
        <p:txBody>
          <a:bodyPr>
            <a:normAutofit fontScale="90000"/>
          </a:bodyPr>
          <a:lstStyle/>
          <a:p>
            <a:pPr algn="ctr"/>
            <a:r>
              <a:rPr lang="en-US" b="1" dirty="0">
                <a:solidFill>
                  <a:srgbClr val="FF0000"/>
                </a:solidFill>
                <a:cs typeface="Times New Roman" pitchFamily="18" charset="0"/>
              </a:rPr>
              <a:t>D</a:t>
            </a:r>
            <a:r>
              <a:rPr lang="en-US" sz="4400" b="1" dirty="0">
                <a:solidFill>
                  <a:srgbClr val="FF0000"/>
                </a:solidFill>
                <a:cs typeface="Times New Roman" pitchFamily="18" charset="0"/>
              </a:rPr>
              <a:t>ealing with Deadlock and Starvation</a:t>
            </a:r>
            <a:endParaRPr lang="en-IN" dirty="0"/>
          </a:p>
        </p:txBody>
      </p:sp>
      <p:sp>
        <p:nvSpPr>
          <p:cNvPr id="24580" name="Rectangle 9"/>
          <p:cNvSpPr>
            <a:spLocks noGrp="1" noChangeArrowheads="1"/>
          </p:cNvSpPr>
          <p:nvPr>
            <p:ph idx="1"/>
          </p:nvPr>
        </p:nvSpPr>
        <p:spPr>
          <a:xfrm>
            <a:off x="539552" y="1340768"/>
            <a:ext cx="8424936" cy="5293568"/>
          </a:xfrm>
        </p:spPr>
        <p:txBody>
          <a:bodyPr>
            <a:normAutofit/>
          </a:bodyPr>
          <a:lstStyle/>
          <a:p>
            <a:pPr lvl="1" eaLnBrk="1" hangingPunct="1"/>
            <a:r>
              <a:rPr lang="en-US" sz="2200" b="1" dirty="0">
                <a:cs typeface="Times New Roman" pitchFamily="18" charset="0"/>
              </a:rPr>
              <a:t>Deadlock</a:t>
            </a:r>
            <a:endParaRPr lang="en-US" sz="1700" b="1" dirty="0">
              <a:cs typeface="Times New Roman" pitchFamily="18" charset="0"/>
            </a:endParaRPr>
          </a:p>
          <a:p>
            <a:pPr algn="just" eaLnBrk="1" hangingPunct="1">
              <a:spcBef>
                <a:spcPct val="50000"/>
              </a:spcBef>
              <a:buFont typeface="Wingdings" pitchFamily="2" charset="2"/>
              <a:buNone/>
            </a:pPr>
            <a:r>
              <a:rPr lang="en-US" sz="2800" b="1" dirty="0">
                <a:cs typeface="Times New Roman" pitchFamily="18" charset="0"/>
              </a:rPr>
              <a:t>	</a:t>
            </a:r>
            <a:r>
              <a:rPr lang="en-US" sz="2800" b="1" u="sng" dirty="0">
                <a:cs typeface="Times New Roman" pitchFamily="18" charset="0"/>
              </a:rPr>
              <a:t>T’1</a:t>
            </a:r>
            <a:r>
              <a:rPr lang="en-US" sz="2800" b="1" dirty="0">
                <a:cs typeface="Times New Roman" pitchFamily="18" charset="0"/>
              </a:rPr>
              <a:t>			</a:t>
            </a:r>
            <a:r>
              <a:rPr lang="en-US" sz="2800" b="1" u="sng" dirty="0">
                <a:cs typeface="Times New Roman" pitchFamily="18" charset="0"/>
              </a:rPr>
              <a:t>T’2</a:t>
            </a:r>
            <a:r>
              <a:rPr lang="en-US" sz="2800" b="1" dirty="0">
                <a:cs typeface="Times New Roman" pitchFamily="18" charset="0"/>
              </a:rPr>
              <a:t>		</a:t>
            </a:r>
            <a:endParaRPr lang="en-US" sz="2800" b="1" u="sng" dirty="0">
              <a:cs typeface="Times New Roman" pitchFamily="18" charset="0"/>
            </a:endParaRPr>
          </a:p>
          <a:p>
            <a:pPr eaLnBrk="1" hangingPunct="1">
              <a:spcBef>
                <a:spcPct val="50000"/>
              </a:spcBef>
              <a:buFont typeface="Wingdings" pitchFamily="2" charset="2"/>
              <a:buNone/>
            </a:pPr>
            <a:r>
              <a:rPr lang="en-US" sz="2800" dirty="0">
                <a:cs typeface="Times New Roman" pitchFamily="18" charset="0"/>
              </a:rPr>
              <a:t>	</a:t>
            </a:r>
            <a:r>
              <a:rPr lang="en-US" sz="2800" dirty="0" err="1">
                <a:cs typeface="Times New Roman" pitchFamily="18" charset="0"/>
              </a:rPr>
              <a:t>read_lock</a:t>
            </a:r>
            <a:r>
              <a:rPr lang="en-US" sz="2800" dirty="0">
                <a:cs typeface="Times New Roman" pitchFamily="18" charset="0"/>
              </a:rPr>
              <a:t> (Y);			</a:t>
            </a:r>
            <a:r>
              <a:rPr lang="en-US" sz="2000" dirty="0">
                <a:solidFill>
                  <a:srgbClr val="FF0000"/>
                </a:solidFill>
                <a:cs typeface="Times New Roman" pitchFamily="18" charset="0"/>
              </a:rPr>
              <a:t>T1 and T2 did follow two-phase</a:t>
            </a:r>
          </a:p>
          <a:p>
            <a:pPr eaLnBrk="1" hangingPunct="1">
              <a:spcBef>
                <a:spcPct val="0"/>
              </a:spcBef>
              <a:buFont typeface="Wingdings" pitchFamily="2" charset="2"/>
              <a:buNone/>
            </a:pPr>
            <a:r>
              <a:rPr lang="en-US" sz="2800" dirty="0">
                <a:cs typeface="Times New Roman" pitchFamily="18" charset="0"/>
              </a:rPr>
              <a:t>	</a:t>
            </a:r>
            <a:r>
              <a:rPr lang="en-US" sz="2800" dirty="0" err="1">
                <a:cs typeface="Times New Roman" pitchFamily="18" charset="0"/>
              </a:rPr>
              <a:t>read_item</a:t>
            </a:r>
            <a:r>
              <a:rPr lang="en-US" sz="2800" dirty="0">
                <a:cs typeface="Times New Roman" pitchFamily="18" charset="0"/>
              </a:rPr>
              <a:t> (Y);			</a:t>
            </a:r>
            <a:r>
              <a:rPr lang="en-US" sz="2000" dirty="0">
                <a:solidFill>
                  <a:srgbClr val="FF0000"/>
                </a:solidFill>
                <a:cs typeface="Times New Roman" pitchFamily="18" charset="0"/>
              </a:rPr>
              <a:t>  policy but they are deadlock</a:t>
            </a:r>
          </a:p>
          <a:p>
            <a:pPr eaLnBrk="1" hangingPunct="1">
              <a:spcBef>
                <a:spcPct val="0"/>
              </a:spcBef>
              <a:buFont typeface="Wingdings" pitchFamily="2" charset="2"/>
              <a:buNone/>
            </a:pPr>
            <a:r>
              <a:rPr lang="en-US" sz="2800" dirty="0">
                <a:cs typeface="Times New Roman" pitchFamily="18" charset="0"/>
              </a:rPr>
              <a:t>				</a:t>
            </a:r>
            <a:r>
              <a:rPr lang="en-US" sz="2800" dirty="0" err="1">
                <a:cs typeface="Times New Roman" pitchFamily="18" charset="0"/>
              </a:rPr>
              <a:t>read_lock</a:t>
            </a:r>
            <a:r>
              <a:rPr lang="en-US" sz="2800" dirty="0">
                <a:cs typeface="Times New Roman" pitchFamily="18" charset="0"/>
              </a:rPr>
              <a:t> (X);	</a:t>
            </a:r>
          </a:p>
          <a:p>
            <a:pPr eaLnBrk="1" hangingPunct="1">
              <a:spcBef>
                <a:spcPct val="0"/>
              </a:spcBef>
              <a:buFont typeface="Wingdings" pitchFamily="2" charset="2"/>
              <a:buNone/>
            </a:pPr>
            <a:r>
              <a:rPr lang="en-US" sz="2800" dirty="0">
                <a:cs typeface="Times New Roman" pitchFamily="18" charset="0"/>
              </a:rPr>
              <a:t>				</a:t>
            </a:r>
            <a:r>
              <a:rPr lang="en-US" sz="2800" dirty="0" err="1">
                <a:cs typeface="Times New Roman" pitchFamily="18" charset="0"/>
              </a:rPr>
              <a:t>read_item</a:t>
            </a:r>
            <a:r>
              <a:rPr lang="en-US" sz="2800" dirty="0">
                <a:cs typeface="Times New Roman" pitchFamily="18" charset="0"/>
              </a:rPr>
              <a:t> (Y);			    </a:t>
            </a:r>
          </a:p>
          <a:p>
            <a:pPr eaLnBrk="1" hangingPunct="1">
              <a:spcBef>
                <a:spcPct val="0"/>
              </a:spcBef>
              <a:buFont typeface="Wingdings" pitchFamily="2" charset="2"/>
              <a:buNone/>
            </a:pPr>
            <a:r>
              <a:rPr lang="en-US" sz="2800" dirty="0">
                <a:cs typeface="Times New Roman" pitchFamily="18" charset="0"/>
              </a:rPr>
              <a:t>	</a:t>
            </a:r>
            <a:r>
              <a:rPr lang="en-US" sz="2800" dirty="0" err="1">
                <a:cs typeface="Times New Roman" pitchFamily="18" charset="0"/>
              </a:rPr>
              <a:t>write_lock</a:t>
            </a:r>
            <a:r>
              <a:rPr lang="en-US" sz="2800" dirty="0">
                <a:cs typeface="Times New Roman" pitchFamily="18" charset="0"/>
              </a:rPr>
              <a:t> (X);		</a:t>
            </a:r>
          </a:p>
          <a:p>
            <a:pPr eaLnBrk="1" hangingPunct="1">
              <a:spcBef>
                <a:spcPct val="0"/>
              </a:spcBef>
              <a:buFont typeface="Wingdings" pitchFamily="2" charset="2"/>
              <a:buNone/>
            </a:pPr>
            <a:r>
              <a:rPr lang="en-US" sz="2800" dirty="0">
                <a:cs typeface="Times New Roman" pitchFamily="18" charset="0"/>
              </a:rPr>
              <a:t>	(waits for X)	</a:t>
            </a:r>
            <a:r>
              <a:rPr lang="en-US" sz="2800" dirty="0" err="1">
                <a:cs typeface="Times New Roman" pitchFamily="18" charset="0"/>
              </a:rPr>
              <a:t>write_lock</a:t>
            </a:r>
            <a:r>
              <a:rPr lang="en-US" sz="2800" dirty="0">
                <a:cs typeface="Times New Roman" pitchFamily="18" charset="0"/>
              </a:rPr>
              <a:t> (Y);</a:t>
            </a:r>
          </a:p>
          <a:p>
            <a:pPr eaLnBrk="1" hangingPunct="1">
              <a:spcBef>
                <a:spcPct val="0"/>
              </a:spcBef>
              <a:buFont typeface="Wingdings" pitchFamily="2" charset="2"/>
              <a:buNone/>
            </a:pPr>
            <a:r>
              <a:rPr lang="en-US" sz="2800" dirty="0">
                <a:cs typeface="Times New Roman" pitchFamily="18" charset="0"/>
              </a:rPr>
              <a:t>				(waits for Y)</a:t>
            </a:r>
          </a:p>
          <a:p>
            <a:pPr eaLnBrk="1" hangingPunct="1">
              <a:spcBef>
                <a:spcPct val="0"/>
              </a:spcBef>
              <a:buFont typeface="Wingdings" pitchFamily="2" charset="2"/>
              <a:buNone/>
            </a:pPr>
            <a:r>
              <a:rPr lang="en-US" sz="1800" dirty="0">
                <a:cs typeface="Times New Roman" pitchFamily="18" charset="0"/>
              </a:rPr>
              <a:t>		</a:t>
            </a:r>
          </a:p>
          <a:p>
            <a:pPr lvl="1" eaLnBrk="1" hangingPunct="1">
              <a:spcBef>
                <a:spcPct val="0"/>
              </a:spcBef>
            </a:pPr>
            <a:r>
              <a:rPr lang="en-US" sz="2000" dirty="0">
                <a:solidFill>
                  <a:srgbClr val="FF0000"/>
                </a:solidFill>
                <a:cs typeface="Times New Roman" pitchFamily="18" charset="0"/>
              </a:rPr>
              <a:t>Deadlock (T’1 and T’2)</a:t>
            </a:r>
            <a:endParaRPr lang="en-US" sz="3000" dirty="0">
              <a:solidFill>
                <a:srgbClr val="FF0000"/>
              </a:solidFill>
            </a:endParaRPr>
          </a:p>
        </p:txBody>
      </p:sp>
      <p:sp>
        <p:nvSpPr>
          <p:cNvPr id="24578" name="Slide Number Placeholder 3"/>
          <p:cNvSpPr>
            <a:spLocks noGrp="1"/>
          </p:cNvSpPr>
          <p:nvPr>
            <p:ph type="sldNum" sz="quarter" idx="12"/>
          </p:nvPr>
        </p:nvSpPr>
        <p:spPr>
          <a:noFill/>
        </p:spPr>
        <p:txBody>
          <a:bodyPr/>
          <a:lstStyle/>
          <a:p>
            <a:r>
              <a:rPr lang="en-US"/>
              <a:t>Slide 18- </a:t>
            </a:r>
            <a:fld id="{935BCFBA-6161-4E46-A689-E559B154C5B3}" type="slidenum">
              <a:rPr lang="en-US" smtClean="0"/>
              <a:pPr/>
              <a:t>40</a:t>
            </a:fld>
            <a:endParaRPr lang="en-CA"/>
          </a:p>
        </p:txBody>
      </p:sp>
    </p:spTree>
    <p:extLst>
      <p:ext uri="{BB962C8B-B14F-4D97-AF65-F5344CB8AC3E}">
        <p14:creationId xmlns:p14="http://schemas.microsoft.com/office/powerpoint/2010/main" val="35501424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4400" b="1" dirty="0">
                <a:solidFill>
                  <a:srgbClr val="FF0000"/>
                </a:solidFill>
              </a:rPr>
              <a:t>Dealing with Deadlock and Starvation</a:t>
            </a:r>
            <a:endParaRPr lang="en-IN" sz="4400" b="1" dirty="0"/>
          </a:p>
        </p:txBody>
      </p:sp>
      <p:sp>
        <p:nvSpPr>
          <p:cNvPr id="25604" name="Rectangle 11"/>
          <p:cNvSpPr>
            <a:spLocks noGrp="1" noChangeArrowheads="1"/>
          </p:cNvSpPr>
          <p:nvPr>
            <p:ph idx="1"/>
          </p:nvPr>
        </p:nvSpPr>
        <p:spPr>
          <a:xfrm>
            <a:off x="827584" y="1988840"/>
            <a:ext cx="7931224" cy="4032448"/>
          </a:xfrm>
        </p:spPr>
        <p:txBody>
          <a:bodyPr/>
          <a:lstStyle/>
          <a:p>
            <a:pPr eaLnBrk="1" hangingPunct="1"/>
            <a:r>
              <a:rPr lang="en-US" sz="2800" b="1" dirty="0">
                <a:solidFill>
                  <a:srgbClr val="FF0000"/>
                </a:solidFill>
              </a:rPr>
              <a:t>Deadlock prevention</a:t>
            </a:r>
          </a:p>
          <a:p>
            <a:pPr lvl="1" eaLnBrk="1" hangingPunct="1"/>
            <a:r>
              <a:rPr lang="en-US" sz="2800" dirty="0"/>
              <a:t>A transaction locks all data items it refers to before it begins execution.</a:t>
            </a:r>
          </a:p>
          <a:p>
            <a:pPr lvl="1" eaLnBrk="1" hangingPunct="1"/>
            <a:r>
              <a:rPr lang="en-US" sz="2800" dirty="0"/>
              <a:t>This way of locking prevents deadlock since a transaction </a:t>
            </a:r>
            <a:r>
              <a:rPr lang="en-US" sz="2800" dirty="0">
                <a:solidFill>
                  <a:srgbClr val="FF0000"/>
                </a:solidFill>
              </a:rPr>
              <a:t>never waits </a:t>
            </a:r>
            <a:r>
              <a:rPr lang="en-US" sz="2800" dirty="0"/>
              <a:t>for a data item.</a:t>
            </a:r>
          </a:p>
          <a:p>
            <a:pPr lvl="1" eaLnBrk="1" hangingPunct="1"/>
            <a:r>
              <a:rPr lang="en-US" sz="2800" dirty="0"/>
              <a:t>The conservative two-phase locking uses this approach.</a:t>
            </a:r>
            <a:endParaRPr lang="en-US" sz="2800" dirty="0">
              <a:sym typeface="Symbol" pitchFamily="18" charset="2"/>
            </a:endParaRPr>
          </a:p>
        </p:txBody>
      </p:sp>
      <p:sp>
        <p:nvSpPr>
          <p:cNvPr id="25602" name="Slide Number Placeholder 3"/>
          <p:cNvSpPr>
            <a:spLocks noGrp="1"/>
          </p:cNvSpPr>
          <p:nvPr>
            <p:ph type="sldNum" sz="quarter" idx="12"/>
          </p:nvPr>
        </p:nvSpPr>
        <p:spPr>
          <a:noFill/>
        </p:spPr>
        <p:txBody>
          <a:bodyPr/>
          <a:lstStyle/>
          <a:p>
            <a:r>
              <a:rPr lang="en-US"/>
              <a:t>Slide 18- </a:t>
            </a:r>
            <a:fld id="{FB8D7F13-6EA9-48FE-BCC9-8506D64FEEBA}" type="slidenum">
              <a:rPr lang="en-US" smtClean="0"/>
              <a:pPr/>
              <a:t>41</a:t>
            </a:fld>
            <a:endParaRPr lang="en-CA"/>
          </a:p>
        </p:txBody>
      </p:sp>
    </p:spTree>
    <p:extLst>
      <p:ext uri="{BB962C8B-B14F-4D97-AF65-F5344CB8AC3E}">
        <p14:creationId xmlns:p14="http://schemas.microsoft.com/office/powerpoint/2010/main" val="364179651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778098"/>
          </a:xfrm>
        </p:spPr>
        <p:txBody>
          <a:bodyPr>
            <a:normAutofit fontScale="90000"/>
          </a:bodyPr>
          <a:lstStyle/>
          <a:p>
            <a:r>
              <a:rPr lang="en-US" b="1" dirty="0">
                <a:solidFill>
                  <a:srgbClr val="FF0000"/>
                </a:solidFill>
              </a:rPr>
              <a:t>Dealing with Deadlock and Starvation</a:t>
            </a:r>
            <a:endParaRPr lang="en-IN" b="1" dirty="0"/>
          </a:p>
        </p:txBody>
      </p:sp>
      <p:sp>
        <p:nvSpPr>
          <p:cNvPr id="26628" name="Rectangle 11"/>
          <p:cNvSpPr>
            <a:spLocks noGrp="1" noChangeArrowheads="1"/>
          </p:cNvSpPr>
          <p:nvPr>
            <p:ph idx="1"/>
          </p:nvPr>
        </p:nvSpPr>
        <p:spPr/>
        <p:txBody>
          <a:bodyPr>
            <a:normAutofit lnSpcReduction="10000"/>
          </a:bodyPr>
          <a:lstStyle/>
          <a:p>
            <a:pPr algn="just" eaLnBrk="1" hangingPunct="1"/>
            <a:r>
              <a:rPr lang="en-US" sz="2800" b="1" dirty="0">
                <a:solidFill>
                  <a:srgbClr val="FF0000"/>
                </a:solidFill>
              </a:rPr>
              <a:t>Deadlock detection and resolution</a:t>
            </a:r>
          </a:p>
          <a:p>
            <a:pPr lvl="1" algn="just" eaLnBrk="1" hangingPunct="1"/>
            <a:r>
              <a:rPr lang="en-US" sz="2800" dirty="0"/>
              <a:t>In this approach, deadlocks are allowed to happen.  The scheduler maintains a </a:t>
            </a:r>
            <a:r>
              <a:rPr lang="en-US" sz="2800" b="1" dirty="0"/>
              <a:t>wait-for-graph</a:t>
            </a:r>
            <a:r>
              <a:rPr lang="en-US" sz="2800" dirty="0"/>
              <a:t> for detecting cycle.  If a cycle exists, then one transaction involved in the cycle is selected (victim) and rolled-back.</a:t>
            </a:r>
          </a:p>
          <a:p>
            <a:pPr lvl="1" algn="just" eaLnBrk="1" hangingPunct="1"/>
            <a:r>
              <a:rPr lang="en-US" sz="2800" dirty="0"/>
              <a:t>A wait-for-graph is created using the lock table.  As soon as a transaction is blocked, it is added to the graph.  When a chain like: </a:t>
            </a:r>
            <a:r>
              <a:rPr lang="en-US" sz="2800" dirty="0" err="1"/>
              <a:t>Ti</a:t>
            </a:r>
            <a:r>
              <a:rPr lang="en-US" sz="2800" dirty="0"/>
              <a:t> waits for </a:t>
            </a:r>
            <a:r>
              <a:rPr lang="en-US" sz="2800" dirty="0" err="1"/>
              <a:t>Tj</a:t>
            </a:r>
            <a:r>
              <a:rPr lang="en-US" sz="2800" dirty="0"/>
              <a:t> waits for </a:t>
            </a:r>
            <a:r>
              <a:rPr lang="en-US" sz="2800" dirty="0" err="1"/>
              <a:t>Tk</a:t>
            </a:r>
            <a:r>
              <a:rPr lang="en-US" sz="2800" dirty="0"/>
              <a:t> waits for </a:t>
            </a:r>
            <a:r>
              <a:rPr lang="en-US" sz="2800" dirty="0" err="1"/>
              <a:t>Ti</a:t>
            </a:r>
            <a:r>
              <a:rPr lang="en-US" sz="2800" dirty="0"/>
              <a:t> or </a:t>
            </a:r>
            <a:r>
              <a:rPr lang="en-US" sz="2800" dirty="0" err="1"/>
              <a:t>Tj</a:t>
            </a:r>
            <a:r>
              <a:rPr lang="en-US" sz="2800" dirty="0"/>
              <a:t> occurs, then this creates a cycle. </a:t>
            </a:r>
            <a:endParaRPr lang="en-US" sz="2800" dirty="0">
              <a:sym typeface="Symbol" pitchFamily="18" charset="2"/>
            </a:endParaRPr>
          </a:p>
        </p:txBody>
      </p:sp>
      <p:sp>
        <p:nvSpPr>
          <p:cNvPr id="26626" name="Slide Number Placeholder 3"/>
          <p:cNvSpPr>
            <a:spLocks noGrp="1"/>
          </p:cNvSpPr>
          <p:nvPr>
            <p:ph type="sldNum" sz="quarter" idx="12"/>
          </p:nvPr>
        </p:nvSpPr>
        <p:spPr>
          <a:noFill/>
        </p:spPr>
        <p:txBody>
          <a:bodyPr/>
          <a:lstStyle/>
          <a:p>
            <a:r>
              <a:rPr lang="en-US"/>
              <a:t>Slide 18- </a:t>
            </a:r>
            <a:fld id="{A3923942-AE56-4D55-96D9-654F7EDC71ED}" type="slidenum">
              <a:rPr lang="en-US" smtClean="0"/>
              <a:pPr/>
              <a:t>42</a:t>
            </a:fld>
            <a:endParaRPr lang="en-CA"/>
          </a:p>
        </p:txBody>
      </p:sp>
    </p:spTree>
    <p:extLst>
      <p:ext uri="{BB962C8B-B14F-4D97-AF65-F5344CB8AC3E}">
        <p14:creationId xmlns:p14="http://schemas.microsoft.com/office/powerpoint/2010/main" val="42532754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4" name="Slide Number Placeholder 3"/>
          <p:cNvSpPr>
            <a:spLocks noGrp="1"/>
          </p:cNvSpPr>
          <p:nvPr>
            <p:ph type="sldNum" sz="quarter" idx="12"/>
          </p:nvPr>
        </p:nvSpPr>
        <p:spPr/>
        <p:txBody>
          <a:bodyPr/>
          <a:lstStyle/>
          <a:p>
            <a:fld id="{F8EF2FF5-BD00-45B8-A71A-EAE2607F0774}" type="slidenum">
              <a:rPr lang="en-IN" smtClean="0"/>
              <a:t>43</a:t>
            </a:fld>
            <a:endParaRPr lang="en-IN"/>
          </a:p>
        </p:txBody>
      </p:sp>
      <p:pic>
        <p:nvPicPr>
          <p:cNvPr id="51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99592" y="1988840"/>
            <a:ext cx="3903862" cy="32403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31" y="2060848"/>
            <a:ext cx="3844171" cy="33123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370499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50106"/>
          </a:xfrm>
        </p:spPr>
        <p:txBody>
          <a:bodyPr/>
          <a:lstStyle/>
          <a:p>
            <a:r>
              <a:rPr lang="en-IN" b="1" dirty="0"/>
              <a:t>Recovery from Deadlock</a:t>
            </a:r>
          </a:p>
        </p:txBody>
      </p:sp>
      <p:sp>
        <p:nvSpPr>
          <p:cNvPr id="3" name="Content Placeholder 2"/>
          <p:cNvSpPr>
            <a:spLocks noGrp="1"/>
          </p:cNvSpPr>
          <p:nvPr>
            <p:ph idx="1"/>
          </p:nvPr>
        </p:nvSpPr>
        <p:spPr>
          <a:xfrm>
            <a:off x="457200" y="1196752"/>
            <a:ext cx="8229600" cy="5472608"/>
          </a:xfrm>
        </p:spPr>
        <p:txBody>
          <a:bodyPr>
            <a:normAutofit fontScale="85000" lnSpcReduction="10000"/>
          </a:bodyPr>
          <a:lstStyle/>
          <a:p>
            <a:pPr algn="just"/>
            <a:r>
              <a:rPr lang="en-US" dirty="0">
                <a:solidFill>
                  <a:srgbClr val="FF0000"/>
                </a:solidFill>
              </a:rPr>
              <a:t>Selection of a victim</a:t>
            </a:r>
            <a:r>
              <a:rPr lang="en-US" dirty="0"/>
              <a:t>. Given a set of  deadlocked transactions, we must determine which transaction (or transactions) to roll back to break the deadlock. We should roll back those transactions that will </a:t>
            </a:r>
            <a:r>
              <a:rPr lang="en-US" b="1" u="sng" dirty="0"/>
              <a:t>incur the minimum cost.</a:t>
            </a:r>
          </a:p>
          <a:p>
            <a:pPr algn="just"/>
            <a:r>
              <a:rPr lang="en-US" dirty="0">
                <a:solidFill>
                  <a:srgbClr val="FF0000"/>
                </a:solidFill>
              </a:rPr>
              <a:t>Rollback. </a:t>
            </a:r>
            <a:r>
              <a:rPr lang="en-US" dirty="0"/>
              <a:t>Once we have decided that a particular transaction must be rolled back, we must determine how far this transaction should be rolled back.</a:t>
            </a:r>
          </a:p>
          <a:p>
            <a:pPr algn="just"/>
            <a:r>
              <a:rPr lang="en-US" dirty="0">
                <a:solidFill>
                  <a:srgbClr val="FF0000"/>
                </a:solidFill>
              </a:rPr>
              <a:t>Starvation. </a:t>
            </a:r>
            <a:r>
              <a:rPr lang="en-US" dirty="0"/>
              <a:t>In a system where the selection of victims is based primarily on cost factors, it may happen that the same transaction is always picked as a victim. As a result, this transaction never completes its designated task, thus there is </a:t>
            </a:r>
            <a:r>
              <a:rPr lang="en-IN" dirty="0"/>
              <a:t>starvation.</a:t>
            </a:r>
          </a:p>
        </p:txBody>
      </p:sp>
      <p:sp>
        <p:nvSpPr>
          <p:cNvPr id="4" name="Slide Number Placeholder 3"/>
          <p:cNvSpPr>
            <a:spLocks noGrp="1"/>
          </p:cNvSpPr>
          <p:nvPr>
            <p:ph type="sldNum" sz="quarter" idx="12"/>
          </p:nvPr>
        </p:nvSpPr>
        <p:spPr/>
        <p:txBody>
          <a:bodyPr/>
          <a:lstStyle/>
          <a:p>
            <a:fld id="{F8EF2FF5-BD00-45B8-A71A-EAE2607F0774}" type="slidenum">
              <a:rPr lang="en-IN" smtClean="0"/>
              <a:t>44</a:t>
            </a:fld>
            <a:endParaRPr lang="en-IN"/>
          </a:p>
        </p:txBody>
      </p:sp>
    </p:spTree>
    <p:extLst>
      <p:ext uri="{BB962C8B-B14F-4D97-AF65-F5344CB8AC3E}">
        <p14:creationId xmlns:p14="http://schemas.microsoft.com/office/powerpoint/2010/main" val="284536263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FF0000"/>
                </a:solidFill>
              </a:rPr>
              <a:t>Dealing with Deadlock and Starvation</a:t>
            </a:r>
            <a:endParaRPr lang="en-IN" b="1" dirty="0"/>
          </a:p>
        </p:txBody>
      </p:sp>
      <p:sp>
        <p:nvSpPr>
          <p:cNvPr id="27652" name="Rectangle 11"/>
          <p:cNvSpPr>
            <a:spLocks noGrp="1" noChangeArrowheads="1"/>
          </p:cNvSpPr>
          <p:nvPr>
            <p:ph idx="1"/>
          </p:nvPr>
        </p:nvSpPr>
        <p:spPr>
          <a:xfrm>
            <a:off x="457200" y="1268760"/>
            <a:ext cx="8229600" cy="4857403"/>
          </a:xfrm>
        </p:spPr>
        <p:txBody>
          <a:bodyPr>
            <a:normAutofit fontScale="92500"/>
          </a:bodyPr>
          <a:lstStyle/>
          <a:p>
            <a:pPr eaLnBrk="1" hangingPunct="1">
              <a:buFont typeface="Wingdings" pitchFamily="2" charset="2"/>
              <a:buNone/>
            </a:pPr>
            <a:endParaRPr lang="en-US" sz="2400" dirty="0">
              <a:solidFill>
                <a:srgbClr val="FF0000"/>
              </a:solidFill>
            </a:endParaRPr>
          </a:p>
          <a:p>
            <a:pPr algn="just" eaLnBrk="1" hangingPunct="1"/>
            <a:r>
              <a:rPr lang="en-US" sz="2800" b="1" dirty="0">
                <a:solidFill>
                  <a:srgbClr val="FF0000"/>
                </a:solidFill>
              </a:rPr>
              <a:t>Deadlock avoidance</a:t>
            </a:r>
          </a:p>
          <a:p>
            <a:pPr lvl="1" algn="just" eaLnBrk="1" hangingPunct="1"/>
            <a:r>
              <a:rPr lang="en-US" sz="2800" dirty="0"/>
              <a:t>There are many variations of two-phase locking algorithm.</a:t>
            </a:r>
          </a:p>
          <a:p>
            <a:pPr lvl="1" algn="just" eaLnBrk="1" hangingPunct="1"/>
            <a:r>
              <a:rPr lang="en-US" sz="2800" dirty="0"/>
              <a:t>Some avoid deadlock by not letting the cycle to complete.</a:t>
            </a:r>
          </a:p>
          <a:p>
            <a:pPr lvl="1" algn="just" eaLnBrk="1" hangingPunct="1"/>
            <a:r>
              <a:rPr lang="en-US" sz="2800" dirty="0"/>
              <a:t>That is as soon as the algorithm discovers that blocking a transaction is likely to create a cycle, it rolls back the transaction.</a:t>
            </a:r>
          </a:p>
          <a:p>
            <a:pPr lvl="1" algn="just" eaLnBrk="1" hangingPunct="1"/>
            <a:r>
              <a:rPr lang="en-US" sz="2800" dirty="0">
                <a:solidFill>
                  <a:srgbClr val="FF0000"/>
                </a:solidFill>
              </a:rPr>
              <a:t>Wound-Wait</a:t>
            </a:r>
            <a:r>
              <a:rPr lang="en-US" sz="2800" dirty="0"/>
              <a:t> and </a:t>
            </a:r>
            <a:r>
              <a:rPr lang="en-US" sz="2800" dirty="0">
                <a:solidFill>
                  <a:srgbClr val="FF0000"/>
                </a:solidFill>
              </a:rPr>
              <a:t>Wait-Die </a:t>
            </a:r>
            <a:r>
              <a:rPr lang="en-US" sz="2800" dirty="0"/>
              <a:t>algorithms use timestamps to </a:t>
            </a:r>
            <a:r>
              <a:rPr lang="en-US" sz="2800" dirty="0">
                <a:sym typeface="Symbol" pitchFamily="18" charset="2"/>
              </a:rPr>
              <a:t>avoid deadlocks by rolling-back victim.</a:t>
            </a:r>
            <a:endParaRPr lang="en-US" sz="2800" dirty="0"/>
          </a:p>
        </p:txBody>
      </p:sp>
      <p:sp>
        <p:nvSpPr>
          <p:cNvPr id="27650" name="Slide Number Placeholder 3"/>
          <p:cNvSpPr>
            <a:spLocks noGrp="1"/>
          </p:cNvSpPr>
          <p:nvPr>
            <p:ph type="sldNum" sz="quarter" idx="12"/>
          </p:nvPr>
        </p:nvSpPr>
        <p:spPr>
          <a:noFill/>
        </p:spPr>
        <p:txBody>
          <a:bodyPr/>
          <a:lstStyle/>
          <a:p>
            <a:r>
              <a:rPr lang="en-US"/>
              <a:t>Slide 18- </a:t>
            </a:r>
            <a:fld id="{3873BF86-1A5E-4D10-80A6-F1E31A16B156}" type="slidenum">
              <a:rPr lang="en-US" smtClean="0"/>
              <a:pPr/>
              <a:t>45</a:t>
            </a:fld>
            <a:endParaRPr lang="en-CA"/>
          </a:p>
        </p:txBody>
      </p:sp>
    </p:spTree>
    <p:extLst>
      <p:ext uri="{BB962C8B-B14F-4D97-AF65-F5344CB8AC3E}">
        <p14:creationId xmlns:p14="http://schemas.microsoft.com/office/powerpoint/2010/main" val="336828309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10"/>
          <p:cNvSpPr>
            <a:spLocks noGrp="1" noChangeArrowheads="1"/>
          </p:cNvSpPr>
          <p:nvPr>
            <p:ph type="title"/>
          </p:nvPr>
        </p:nvSpPr>
        <p:spPr>
          <a:xfrm>
            <a:off x="914400" y="274638"/>
            <a:ext cx="7772400" cy="746125"/>
          </a:xfrm>
        </p:spPr>
        <p:txBody>
          <a:bodyPr>
            <a:normAutofit fontScale="90000"/>
          </a:bodyPr>
          <a:lstStyle/>
          <a:p>
            <a:pPr>
              <a:lnSpc>
                <a:spcPct val="90000"/>
              </a:lnSpc>
            </a:pPr>
            <a:r>
              <a:rPr lang="en-US" b="1" dirty="0">
                <a:solidFill>
                  <a:srgbClr val="FF0000"/>
                </a:solidFill>
              </a:rPr>
              <a:t>Dealing with Deadlock and Starvation</a:t>
            </a:r>
          </a:p>
        </p:txBody>
      </p:sp>
      <p:sp>
        <p:nvSpPr>
          <p:cNvPr id="28676" name="Rectangle 11"/>
          <p:cNvSpPr>
            <a:spLocks noGrp="1" noChangeArrowheads="1"/>
          </p:cNvSpPr>
          <p:nvPr>
            <p:ph idx="1"/>
          </p:nvPr>
        </p:nvSpPr>
        <p:spPr>
          <a:xfrm>
            <a:off x="697096" y="1196752"/>
            <a:ext cx="8051367" cy="5221560"/>
          </a:xfrm>
        </p:spPr>
        <p:txBody>
          <a:bodyPr>
            <a:normAutofit lnSpcReduction="10000"/>
          </a:bodyPr>
          <a:lstStyle/>
          <a:p>
            <a:pPr algn="just" eaLnBrk="1" hangingPunct="1">
              <a:lnSpc>
                <a:spcPct val="90000"/>
              </a:lnSpc>
            </a:pPr>
            <a:r>
              <a:rPr lang="en-US" sz="2800" b="1" dirty="0">
                <a:solidFill>
                  <a:srgbClr val="FF0000"/>
                </a:solidFill>
              </a:rPr>
              <a:t>Starvation</a:t>
            </a:r>
          </a:p>
          <a:p>
            <a:pPr lvl="1" algn="just" eaLnBrk="1" hangingPunct="1">
              <a:lnSpc>
                <a:spcPct val="90000"/>
              </a:lnSpc>
            </a:pPr>
            <a:r>
              <a:rPr lang="en-US" sz="2800" dirty="0"/>
              <a:t>Starvation occurs when a particular </a:t>
            </a:r>
            <a:r>
              <a:rPr lang="en-US" sz="2800" dirty="0">
                <a:solidFill>
                  <a:srgbClr val="FF0000"/>
                </a:solidFill>
              </a:rPr>
              <a:t>transaction consistently waits </a:t>
            </a:r>
            <a:r>
              <a:rPr lang="en-US" sz="2800" dirty="0"/>
              <a:t>or restarted and </a:t>
            </a:r>
            <a:r>
              <a:rPr lang="en-US" sz="2800" dirty="0">
                <a:solidFill>
                  <a:srgbClr val="FF0000"/>
                </a:solidFill>
              </a:rPr>
              <a:t>never gets a chance to proceed further</a:t>
            </a:r>
            <a:r>
              <a:rPr lang="en-US" sz="2800" dirty="0"/>
              <a:t>. </a:t>
            </a:r>
          </a:p>
          <a:p>
            <a:pPr lvl="1" algn="just" eaLnBrk="1" hangingPunct="1">
              <a:lnSpc>
                <a:spcPct val="90000"/>
              </a:lnSpc>
            </a:pPr>
            <a:r>
              <a:rPr lang="en-US" sz="2800" dirty="0"/>
              <a:t>In a deadlock resolution it is possible that the same transaction may </a:t>
            </a:r>
            <a:r>
              <a:rPr lang="en-US" sz="2800" dirty="0">
                <a:solidFill>
                  <a:srgbClr val="FF0000"/>
                </a:solidFill>
              </a:rPr>
              <a:t>consistently be selected as victim and rolled-back.</a:t>
            </a:r>
          </a:p>
          <a:p>
            <a:pPr lvl="1" algn="just" eaLnBrk="1" hangingPunct="1">
              <a:lnSpc>
                <a:spcPct val="90000"/>
              </a:lnSpc>
            </a:pPr>
            <a:r>
              <a:rPr lang="en-US" sz="2800" dirty="0"/>
              <a:t>This limitation is inherent by all the priority-based scheduling mechanisms.</a:t>
            </a:r>
          </a:p>
          <a:p>
            <a:pPr lvl="1" algn="just" eaLnBrk="1" hangingPunct="1">
              <a:lnSpc>
                <a:spcPct val="90000"/>
              </a:lnSpc>
            </a:pPr>
            <a:r>
              <a:rPr lang="en-US" sz="2800" dirty="0"/>
              <a:t>In </a:t>
            </a:r>
            <a:r>
              <a:rPr lang="en-US" sz="2800" dirty="0">
                <a:solidFill>
                  <a:srgbClr val="FF0000"/>
                </a:solidFill>
              </a:rPr>
              <a:t>Wound-Wait</a:t>
            </a:r>
            <a:r>
              <a:rPr lang="en-US" sz="2800" dirty="0"/>
              <a:t> scheme a </a:t>
            </a:r>
            <a:r>
              <a:rPr lang="en-US" sz="2800" dirty="0">
                <a:solidFill>
                  <a:srgbClr val="FF0000"/>
                </a:solidFill>
              </a:rPr>
              <a:t>younger transaction </a:t>
            </a:r>
            <a:r>
              <a:rPr lang="en-US" sz="2800" dirty="0"/>
              <a:t>may always be wounded (aborted) by a long running older transaction which may create starvation.</a:t>
            </a:r>
          </a:p>
        </p:txBody>
      </p:sp>
      <p:sp>
        <p:nvSpPr>
          <p:cNvPr id="28674" name="Slide Number Placeholder 3"/>
          <p:cNvSpPr>
            <a:spLocks noGrp="1"/>
          </p:cNvSpPr>
          <p:nvPr>
            <p:ph type="sldNum" sz="quarter" idx="12"/>
          </p:nvPr>
        </p:nvSpPr>
        <p:spPr>
          <a:noFill/>
        </p:spPr>
        <p:txBody>
          <a:bodyPr/>
          <a:lstStyle/>
          <a:p>
            <a:r>
              <a:rPr lang="en-US"/>
              <a:t>Slide 18- </a:t>
            </a:r>
            <a:fld id="{29261DDF-397F-4919-9173-29D07CA907B6}" type="slidenum">
              <a:rPr lang="en-US" smtClean="0"/>
              <a:pPr/>
              <a:t>46</a:t>
            </a:fld>
            <a:endParaRPr lang="en-CA"/>
          </a:p>
        </p:txBody>
      </p:sp>
      <p:sp>
        <p:nvSpPr>
          <p:cNvPr id="28677" name="Rectangle 4"/>
          <p:cNvSpPr>
            <a:spLocks noChangeArrowheads="1"/>
          </p:cNvSpPr>
          <p:nvPr/>
        </p:nvSpPr>
        <p:spPr bwMode="auto">
          <a:xfrm>
            <a:off x="685800" y="1020763"/>
            <a:ext cx="7772400" cy="4953000"/>
          </a:xfrm>
          <a:prstGeom prst="rect">
            <a:avLst/>
          </a:prstGeom>
          <a:noFill/>
          <a:ln w="9525">
            <a:noFill/>
            <a:miter lim="800000"/>
            <a:headEnd/>
            <a:tailEnd/>
          </a:ln>
        </p:spPr>
        <p:txBody>
          <a:bodyPr/>
          <a:lstStyle/>
          <a:p>
            <a:pPr marL="914400" indent="-914400">
              <a:spcBef>
                <a:spcPct val="20000"/>
              </a:spcBef>
              <a:buClr>
                <a:srgbClr val="990033"/>
              </a:buClr>
              <a:buSzPct val="60000"/>
              <a:buFont typeface="Wingdings" pitchFamily="2" charset="2"/>
              <a:buNone/>
            </a:pPr>
            <a:endParaRPr lang="en-US" sz="1800">
              <a:solidFill>
                <a:schemeClr val="tx2"/>
              </a:solidFill>
              <a:cs typeface="Times New Roman" pitchFamily="18" charset="0"/>
              <a:sym typeface="Symbol" pitchFamily="18" charset="2"/>
            </a:endParaRPr>
          </a:p>
        </p:txBody>
      </p:sp>
    </p:spTree>
    <p:extLst>
      <p:ext uri="{BB962C8B-B14F-4D97-AF65-F5344CB8AC3E}">
        <p14:creationId xmlns:p14="http://schemas.microsoft.com/office/powerpoint/2010/main" val="280959212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Content Placeholder 2"/>
          <p:cNvSpPr>
            <a:spLocks noGrp="1"/>
          </p:cNvSpPr>
          <p:nvPr>
            <p:ph idx="1"/>
          </p:nvPr>
        </p:nvSpPr>
        <p:spPr>
          <a:xfrm>
            <a:off x="239713" y="260648"/>
            <a:ext cx="8796783" cy="6480720"/>
          </a:xfrm>
        </p:spPr>
        <p:txBody>
          <a:bodyPr>
            <a:normAutofit/>
          </a:bodyPr>
          <a:lstStyle/>
          <a:p>
            <a:r>
              <a:rPr lang="en-US" sz="3000" dirty="0"/>
              <a:t>Following schemes use transaction timestamps for the sake of deadlock prevention alone.</a:t>
            </a:r>
          </a:p>
          <a:p>
            <a:r>
              <a:rPr lang="en-US" sz="3000" b="1" dirty="0">
                <a:solidFill>
                  <a:srgbClr val="FF0000"/>
                </a:solidFill>
              </a:rPr>
              <a:t>wait-die scheme — non-preemptive</a:t>
            </a:r>
          </a:p>
          <a:p>
            <a:r>
              <a:rPr lang="en-US" sz="2800" dirty="0"/>
              <a:t>older transaction may wait for younger one to release data item. Younger transactions never wait for older ones; they are rolled back instead.</a:t>
            </a:r>
          </a:p>
          <a:p>
            <a:r>
              <a:rPr lang="en-US" sz="2800" dirty="0"/>
              <a:t>a transaction may die several times before acquiring needed data item</a:t>
            </a:r>
          </a:p>
          <a:p>
            <a:r>
              <a:rPr lang="en-US" sz="3000" b="1" dirty="0">
                <a:solidFill>
                  <a:srgbClr val="FF0000"/>
                </a:solidFill>
              </a:rPr>
              <a:t>wound-wait scheme — preemptive</a:t>
            </a:r>
          </a:p>
          <a:p>
            <a:r>
              <a:rPr lang="en-US" sz="2800" dirty="0"/>
              <a:t>older transaction wounds (forces rollback) of younger transaction instead of waiting for it. Younger transactions may wait for older ones.</a:t>
            </a:r>
          </a:p>
          <a:p>
            <a:r>
              <a:rPr lang="en-US" sz="2800" dirty="0"/>
              <a:t> may be fewer rollbacks than wait-die scheme.</a:t>
            </a:r>
          </a:p>
        </p:txBody>
      </p:sp>
      <p:sp>
        <p:nvSpPr>
          <p:cNvPr id="29699" name="Slide Number Placeholder 3"/>
          <p:cNvSpPr>
            <a:spLocks noGrp="1"/>
          </p:cNvSpPr>
          <p:nvPr>
            <p:ph type="sldNum" sz="quarter" idx="12"/>
          </p:nvPr>
        </p:nvSpPr>
        <p:spPr>
          <a:noFill/>
        </p:spPr>
        <p:txBody>
          <a:bodyPr/>
          <a:lstStyle/>
          <a:p>
            <a:r>
              <a:rPr lang="en-US"/>
              <a:t>Slide 18- </a:t>
            </a:r>
            <a:fld id="{28C58F51-230F-45E6-854F-3654DD32F24A}" type="slidenum">
              <a:rPr lang="en-US" smtClean="0"/>
              <a:pPr/>
              <a:t>47</a:t>
            </a:fld>
            <a:endParaRPr lang="en-CA"/>
          </a:p>
        </p:txBody>
      </p:sp>
    </p:spTree>
    <p:extLst>
      <p:ext uri="{BB962C8B-B14F-4D97-AF65-F5344CB8AC3E}">
        <p14:creationId xmlns:p14="http://schemas.microsoft.com/office/powerpoint/2010/main" val="338716026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69776"/>
            <a:ext cx="7772400" cy="1143000"/>
          </a:xfrm>
        </p:spPr>
        <p:txBody>
          <a:bodyPr>
            <a:normAutofit/>
          </a:bodyPr>
          <a:lstStyle/>
          <a:p>
            <a:r>
              <a:rPr lang="en-US" dirty="0">
                <a:latin typeface="Times New Roman" pitchFamily="18" charset="0"/>
                <a:cs typeface="Times New Roman" pitchFamily="18" charset="0"/>
              </a:rPr>
              <a:t>Timestamp-Based Protocol</a:t>
            </a:r>
            <a:endParaRPr lang="en-IN" dirty="0"/>
          </a:p>
        </p:txBody>
      </p:sp>
      <p:sp>
        <p:nvSpPr>
          <p:cNvPr id="3" name="Content Placeholder 2"/>
          <p:cNvSpPr>
            <a:spLocks noGrp="1"/>
          </p:cNvSpPr>
          <p:nvPr>
            <p:ph idx="1"/>
          </p:nvPr>
        </p:nvSpPr>
        <p:spPr/>
        <p:txBody>
          <a:bodyPr>
            <a:normAutofit fontScale="92500"/>
          </a:bodyPr>
          <a:lstStyle/>
          <a:p>
            <a:pPr algn="just"/>
            <a:r>
              <a:rPr lang="en-US" dirty="0">
                <a:latin typeface="Times New Roman" pitchFamily="18" charset="0"/>
                <a:cs typeface="Times New Roman" pitchFamily="18" charset="0"/>
              </a:rPr>
              <a:t>The Timestamp Ordering Protocol is used to order the transactions based on their </a:t>
            </a:r>
            <a:r>
              <a:rPr lang="en-US" b="1" dirty="0">
                <a:solidFill>
                  <a:srgbClr val="FF0000"/>
                </a:solidFill>
                <a:latin typeface="Times New Roman" pitchFamily="18" charset="0"/>
                <a:cs typeface="Times New Roman" pitchFamily="18" charset="0"/>
              </a:rPr>
              <a:t>Timestamps.</a:t>
            </a:r>
            <a:r>
              <a:rPr lang="en-US" dirty="0">
                <a:latin typeface="Times New Roman" pitchFamily="18" charset="0"/>
                <a:cs typeface="Times New Roman" pitchFamily="18" charset="0"/>
              </a:rPr>
              <a:t> </a:t>
            </a:r>
          </a:p>
          <a:p>
            <a:pPr algn="just"/>
            <a:r>
              <a:rPr lang="en-US" dirty="0">
                <a:latin typeface="Times New Roman" pitchFamily="18" charset="0"/>
                <a:cs typeface="Times New Roman" pitchFamily="18" charset="0"/>
              </a:rPr>
              <a:t>The order of transaction is nothing but the ascending order of the transaction creation.</a:t>
            </a:r>
          </a:p>
          <a:p>
            <a:pPr algn="just"/>
            <a:r>
              <a:rPr lang="en-US" dirty="0">
                <a:latin typeface="Times New Roman" pitchFamily="18" charset="0"/>
                <a:cs typeface="Times New Roman" pitchFamily="18" charset="0"/>
              </a:rPr>
              <a:t>The priority of the </a:t>
            </a:r>
            <a:r>
              <a:rPr lang="en-US" dirty="0">
                <a:solidFill>
                  <a:srgbClr val="FF0000"/>
                </a:solidFill>
                <a:latin typeface="Times New Roman" pitchFamily="18" charset="0"/>
                <a:cs typeface="Times New Roman" pitchFamily="18" charset="0"/>
              </a:rPr>
              <a:t>older transaction is higher </a:t>
            </a:r>
            <a:r>
              <a:rPr lang="en-US" dirty="0">
                <a:latin typeface="Times New Roman" pitchFamily="18" charset="0"/>
                <a:cs typeface="Times New Roman" pitchFamily="18" charset="0"/>
              </a:rPr>
              <a:t>that's why it executes first. </a:t>
            </a:r>
          </a:p>
          <a:p>
            <a:pPr algn="just"/>
            <a:r>
              <a:rPr lang="en-US" dirty="0">
                <a:latin typeface="Times New Roman" pitchFamily="18" charset="0"/>
                <a:cs typeface="Times New Roman" pitchFamily="18" charset="0"/>
              </a:rPr>
              <a:t>To determine the timestamp of the transaction, this protocol uses </a:t>
            </a:r>
            <a:r>
              <a:rPr lang="en-US" dirty="0">
                <a:solidFill>
                  <a:srgbClr val="FF0000"/>
                </a:solidFill>
                <a:latin typeface="Times New Roman" pitchFamily="18" charset="0"/>
                <a:cs typeface="Times New Roman" pitchFamily="18" charset="0"/>
              </a:rPr>
              <a:t>system time or logical counter</a:t>
            </a:r>
            <a:r>
              <a:rPr lang="en-US" dirty="0">
                <a:latin typeface="Times New Roman" pitchFamily="18" charset="0"/>
                <a:cs typeface="Times New Roman" pitchFamily="18" charset="0"/>
              </a:rPr>
              <a:t>.</a:t>
            </a:r>
          </a:p>
          <a:p>
            <a:pPr algn="just"/>
            <a:endParaRPr lang="en-IN" dirty="0">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8D7F386E-3D0A-AAF1-849E-471843A5C5D1}"/>
              </a:ext>
            </a:extLst>
          </p:cNvPr>
          <p:cNvSpPr>
            <a:spLocks noGrp="1"/>
          </p:cNvSpPr>
          <p:nvPr>
            <p:ph type="sldNum" sz="quarter" idx="12"/>
          </p:nvPr>
        </p:nvSpPr>
        <p:spPr/>
        <p:txBody>
          <a:bodyPr/>
          <a:lstStyle/>
          <a:p>
            <a:fld id="{F8EF2FF5-BD00-45B8-A71A-EAE2607F0774}" type="slidenum">
              <a:rPr lang="en-IN" smtClean="0"/>
              <a:t>48</a:t>
            </a:fld>
            <a:endParaRPr lang="en-IN"/>
          </a:p>
        </p:txBody>
      </p:sp>
    </p:spTree>
    <p:extLst>
      <p:ext uri="{BB962C8B-B14F-4D97-AF65-F5344CB8AC3E}">
        <p14:creationId xmlns:p14="http://schemas.microsoft.com/office/powerpoint/2010/main" val="153252696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Timestamp-Based Protocol</a:t>
            </a:r>
            <a:endParaRPr lang="en-IN" dirty="0"/>
          </a:p>
        </p:txBody>
      </p:sp>
      <p:sp>
        <p:nvSpPr>
          <p:cNvPr id="3" name="Content Placeholder 2"/>
          <p:cNvSpPr>
            <a:spLocks noGrp="1"/>
          </p:cNvSpPr>
          <p:nvPr>
            <p:ph idx="1"/>
          </p:nvPr>
        </p:nvSpPr>
        <p:spPr/>
        <p:txBody>
          <a:bodyPr>
            <a:normAutofit/>
          </a:bodyPr>
          <a:lstStyle/>
          <a:p>
            <a:r>
              <a:rPr lang="en-US" dirty="0">
                <a:latin typeface="Times New Roman" pitchFamily="18" charset="0"/>
                <a:cs typeface="Times New Roman" pitchFamily="18" charset="0"/>
              </a:rPr>
              <a:t>It works on the following manner</a:t>
            </a:r>
          </a:p>
          <a:p>
            <a:pPr lvl="1"/>
            <a:r>
              <a:rPr lang="en-US" sz="2600" dirty="0">
                <a:latin typeface="Times New Roman" pitchFamily="18" charset="0"/>
                <a:cs typeface="Times New Roman" pitchFamily="18" charset="0"/>
              </a:rPr>
              <a:t>First a unique fixed time is associated with each transaction in the system.</a:t>
            </a:r>
          </a:p>
          <a:p>
            <a:pPr lvl="1"/>
            <a:r>
              <a:rPr lang="en-US" sz="2600" dirty="0">
                <a:latin typeface="Times New Roman" pitchFamily="18" charset="0"/>
                <a:cs typeface="Times New Roman" pitchFamily="18" charset="0"/>
              </a:rPr>
              <a:t>These timestamps of the transaction determine the serializability order. </a:t>
            </a:r>
          </a:p>
          <a:p>
            <a:pPr lvl="1"/>
            <a:r>
              <a:rPr lang="en-US" sz="2600" dirty="0">
                <a:latin typeface="Times New Roman" pitchFamily="18" charset="0"/>
                <a:cs typeface="Times New Roman" pitchFamily="18" charset="0"/>
              </a:rPr>
              <a:t>If the timestamp of transaction T1 is smaller than the timestamp of transaction T2, then system ensure that the transaction T1 execute first. </a:t>
            </a:r>
            <a:endParaRPr lang="en-IN" sz="2600" dirty="0">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2D70BB24-DEA0-C3AE-F29C-CCB3443E11AD}"/>
              </a:ext>
            </a:extLst>
          </p:cNvPr>
          <p:cNvSpPr>
            <a:spLocks noGrp="1"/>
          </p:cNvSpPr>
          <p:nvPr>
            <p:ph type="sldNum" sz="quarter" idx="12"/>
          </p:nvPr>
        </p:nvSpPr>
        <p:spPr/>
        <p:txBody>
          <a:bodyPr/>
          <a:lstStyle/>
          <a:p>
            <a:fld id="{F8EF2FF5-BD00-45B8-A71A-EAE2607F0774}" type="slidenum">
              <a:rPr lang="en-IN" smtClean="0"/>
              <a:t>49</a:t>
            </a:fld>
            <a:endParaRPr lang="en-IN"/>
          </a:p>
        </p:txBody>
      </p:sp>
    </p:spTree>
    <p:extLst>
      <p:ext uri="{BB962C8B-B14F-4D97-AF65-F5344CB8AC3E}">
        <p14:creationId xmlns:p14="http://schemas.microsoft.com/office/powerpoint/2010/main" val="279670423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Timestamp-Based Protocol</a:t>
            </a:r>
            <a:endParaRPr lang="en-IN" dirty="0"/>
          </a:p>
        </p:txBody>
      </p:sp>
      <p:sp>
        <p:nvSpPr>
          <p:cNvPr id="3" name="Content Placeholder 2"/>
          <p:cNvSpPr>
            <a:spLocks noGrp="1"/>
          </p:cNvSpPr>
          <p:nvPr>
            <p:ph idx="1"/>
          </p:nvPr>
        </p:nvSpPr>
        <p:spPr/>
        <p:txBody>
          <a:bodyPr>
            <a:normAutofit fontScale="85000" lnSpcReduction="20000"/>
          </a:bodyPr>
          <a:lstStyle/>
          <a:p>
            <a:pPr algn="just"/>
            <a:r>
              <a:rPr lang="en-US" dirty="0">
                <a:latin typeface="Times New Roman" pitchFamily="18" charset="0"/>
                <a:cs typeface="Times New Roman" pitchFamily="18" charset="0"/>
              </a:rPr>
              <a:t>The </a:t>
            </a:r>
            <a:r>
              <a:rPr lang="en-US" dirty="0">
                <a:solidFill>
                  <a:srgbClr val="FF0000"/>
                </a:solidFill>
                <a:latin typeface="Times New Roman" pitchFamily="18" charset="0"/>
                <a:cs typeface="Times New Roman" pitchFamily="18" charset="0"/>
              </a:rPr>
              <a:t>lock-based protocol is used to manage the order between conflicting pairs </a:t>
            </a:r>
            <a:r>
              <a:rPr lang="en-US" dirty="0">
                <a:latin typeface="Times New Roman" pitchFamily="18" charset="0"/>
                <a:cs typeface="Times New Roman" pitchFamily="18" charset="0"/>
              </a:rPr>
              <a:t>among transactions at the execution time. </a:t>
            </a:r>
          </a:p>
          <a:p>
            <a:pPr algn="just"/>
            <a:r>
              <a:rPr lang="en-US" dirty="0">
                <a:latin typeface="Times New Roman" pitchFamily="18" charset="0"/>
                <a:cs typeface="Times New Roman" pitchFamily="18" charset="0"/>
              </a:rPr>
              <a:t>But </a:t>
            </a:r>
            <a:r>
              <a:rPr lang="en-US" dirty="0">
                <a:solidFill>
                  <a:srgbClr val="FF0000"/>
                </a:solidFill>
                <a:latin typeface="Times New Roman" pitchFamily="18" charset="0"/>
                <a:cs typeface="Times New Roman" pitchFamily="18" charset="0"/>
              </a:rPr>
              <a:t>Timestamp based protocols start working as soon as a transaction is created</a:t>
            </a:r>
            <a:r>
              <a:rPr lang="en-US" dirty="0">
                <a:latin typeface="Times New Roman" pitchFamily="18" charset="0"/>
                <a:cs typeface="Times New Roman" pitchFamily="18" charset="0"/>
              </a:rPr>
              <a:t>.</a:t>
            </a:r>
          </a:p>
          <a:p>
            <a:pPr algn="just"/>
            <a:r>
              <a:rPr lang="en-US" dirty="0">
                <a:latin typeface="Times New Roman" pitchFamily="18" charset="0"/>
                <a:cs typeface="Times New Roman" pitchFamily="18" charset="0"/>
              </a:rPr>
              <a:t>Let's assume there are two transactions T1 and T2. Suppose the transaction T1 has entered the system at 007 times and transaction T2 has entered the system at 009 times. T1 has the higher priority, so it executes first as it is entered the system first.</a:t>
            </a:r>
          </a:p>
          <a:p>
            <a:pPr algn="just"/>
            <a:r>
              <a:rPr lang="en-US" dirty="0">
                <a:latin typeface="Times New Roman" pitchFamily="18" charset="0"/>
                <a:cs typeface="Times New Roman" pitchFamily="18" charset="0"/>
              </a:rPr>
              <a:t>The timestamp ordering protocol </a:t>
            </a:r>
            <a:r>
              <a:rPr lang="en-US" dirty="0">
                <a:solidFill>
                  <a:srgbClr val="FF0000"/>
                </a:solidFill>
                <a:latin typeface="Times New Roman" pitchFamily="18" charset="0"/>
                <a:cs typeface="Times New Roman" pitchFamily="18" charset="0"/>
              </a:rPr>
              <a:t>also maintains the timestamp of last 'read' and 'write' operation on a data.</a:t>
            </a:r>
          </a:p>
          <a:p>
            <a:endParaRPr lang="en-IN" dirty="0">
              <a:solidFill>
                <a:srgbClr val="FF0000"/>
              </a:solidFill>
            </a:endParaRPr>
          </a:p>
        </p:txBody>
      </p:sp>
      <p:sp>
        <p:nvSpPr>
          <p:cNvPr id="4" name="Slide Number Placeholder 3">
            <a:extLst>
              <a:ext uri="{FF2B5EF4-FFF2-40B4-BE49-F238E27FC236}">
                <a16:creationId xmlns:a16="http://schemas.microsoft.com/office/drawing/2014/main" id="{4AB23B03-105D-2738-8B80-B3E577441687}"/>
              </a:ext>
            </a:extLst>
          </p:cNvPr>
          <p:cNvSpPr>
            <a:spLocks noGrp="1"/>
          </p:cNvSpPr>
          <p:nvPr>
            <p:ph type="sldNum" sz="quarter" idx="12"/>
          </p:nvPr>
        </p:nvSpPr>
        <p:spPr/>
        <p:txBody>
          <a:bodyPr/>
          <a:lstStyle/>
          <a:p>
            <a:fld id="{F8EF2FF5-BD00-45B8-A71A-EAE2607F0774}" type="slidenum">
              <a:rPr lang="en-IN" smtClean="0"/>
              <a:t>50</a:t>
            </a:fld>
            <a:endParaRPr lang="en-IN"/>
          </a:p>
        </p:txBody>
      </p:sp>
    </p:spTree>
    <p:extLst>
      <p:ext uri="{BB962C8B-B14F-4D97-AF65-F5344CB8AC3E}">
        <p14:creationId xmlns:p14="http://schemas.microsoft.com/office/powerpoint/2010/main" val="253949626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Timestamp-Based Protocol</a:t>
            </a:r>
            <a:endParaRPr lang="en-IN" dirty="0"/>
          </a:p>
        </p:txBody>
      </p:sp>
      <p:sp>
        <p:nvSpPr>
          <p:cNvPr id="3" name="Content Placeholder 2"/>
          <p:cNvSpPr>
            <a:spLocks noGrp="1"/>
          </p:cNvSpPr>
          <p:nvPr>
            <p:ph idx="1"/>
          </p:nvPr>
        </p:nvSpPr>
        <p:spPr/>
        <p:txBody>
          <a:bodyPr/>
          <a:lstStyle/>
          <a:p>
            <a:r>
              <a:rPr lang="en-US" dirty="0">
                <a:latin typeface="Times New Roman" pitchFamily="18" charset="0"/>
                <a:cs typeface="Times New Roman" pitchFamily="18" charset="0"/>
              </a:rPr>
              <a:t>Schedules are serializable just like 2PL protocols</a:t>
            </a:r>
          </a:p>
          <a:p>
            <a:r>
              <a:rPr lang="en-US" dirty="0">
                <a:latin typeface="Times New Roman" pitchFamily="18" charset="0"/>
                <a:cs typeface="Times New Roman" pitchFamily="18" charset="0"/>
              </a:rPr>
              <a:t>No waiting for the transaction, which eliminates the possibility of deadlocks!</a:t>
            </a:r>
          </a:p>
          <a:p>
            <a:r>
              <a:rPr lang="en-US" dirty="0">
                <a:latin typeface="Times New Roman" pitchFamily="18" charset="0"/>
                <a:cs typeface="Times New Roman" pitchFamily="18" charset="0"/>
              </a:rPr>
              <a:t>Starvation is possible if the same transaction is restarted and continually aborted </a:t>
            </a:r>
            <a:endParaRPr lang="en-IN" dirty="0">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C3333238-A04D-F512-9156-824D39A445A4}"/>
              </a:ext>
            </a:extLst>
          </p:cNvPr>
          <p:cNvSpPr>
            <a:spLocks noGrp="1"/>
          </p:cNvSpPr>
          <p:nvPr>
            <p:ph type="sldNum" sz="quarter" idx="12"/>
          </p:nvPr>
        </p:nvSpPr>
        <p:spPr/>
        <p:txBody>
          <a:bodyPr/>
          <a:lstStyle/>
          <a:p>
            <a:fld id="{F8EF2FF5-BD00-45B8-A71A-EAE2607F0774}" type="slidenum">
              <a:rPr lang="en-IN" smtClean="0"/>
              <a:t>51</a:t>
            </a:fld>
            <a:endParaRPr lang="en-IN"/>
          </a:p>
        </p:txBody>
      </p:sp>
    </p:spTree>
    <p:extLst>
      <p:ext uri="{BB962C8B-B14F-4D97-AF65-F5344CB8AC3E}">
        <p14:creationId xmlns:p14="http://schemas.microsoft.com/office/powerpoint/2010/main" val="43314217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634082"/>
          </a:xfrm>
        </p:spPr>
        <p:txBody>
          <a:bodyPr>
            <a:normAutofit fontScale="90000"/>
          </a:bodyPr>
          <a:lstStyle/>
          <a:p>
            <a:pPr algn="ctr"/>
            <a:r>
              <a:rPr lang="en-US" dirty="0">
                <a:latin typeface="Times New Roman" pitchFamily="18" charset="0"/>
                <a:cs typeface="Times New Roman" pitchFamily="18" charset="0"/>
              </a:rPr>
              <a:t>Timestamp-Based Protocol</a:t>
            </a:r>
            <a:endParaRPr lang="en-IN" dirty="0"/>
          </a:p>
        </p:txBody>
      </p:sp>
      <p:sp>
        <p:nvSpPr>
          <p:cNvPr id="31746" name="Content Placeholder 2"/>
          <p:cNvSpPr>
            <a:spLocks noGrp="1"/>
          </p:cNvSpPr>
          <p:nvPr>
            <p:ph idx="1"/>
          </p:nvPr>
        </p:nvSpPr>
        <p:spPr>
          <a:xfrm>
            <a:off x="251520" y="980728"/>
            <a:ext cx="8568952" cy="5472608"/>
          </a:xfrm>
        </p:spPr>
        <p:txBody>
          <a:bodyPr>
            <a:noAutofit/>
          </a:bodyPr>
          <a:lstStyle/>
          <a:p>
            <a:pPr algn="just"/>
            <a:r>
              <a:rPr lang="en-US" sz="2400" dirty="0"/>
              <a:t>Each transaction is issued a timestamp when it enters the system. If an old transaction </a:t>
            </a:r>
            <a:r>
              <a:rPr lang="en-US" sz="2400" dirty="0" err="1"/>
              <a:t>Ti</a:t>
            </a:r>
            <a:r>
              <a:rPr lang="en-US" sz="2400" dirty="0"/>
              <a:t> has time-stamp TS(</a:t>
            </a:r>
            <a:r>
              <a:rPr lang="en-US" sz="2400" dirty="0" err="1"/>
              <a:t>Ti</a:t>
            </a:r>
            <a:r>
              <a:rPr lang="en-US" sz="2400" dirty="0"/>
              <a:t>), a new transaction </a:t>
            </a:r>
            <a:r>
              <a:rPr lang="en-US" sz="2400" dirty="0" err="1"/>
              <a:t>Tj</a:t>
            </a:r>
            <a:r>
              <a:rPr lang="en-US" sz="2400" dirty="0"/>
              <a:t> is assigned time-stamp TS(</a:t>
            </a:r>
            <a:r>
              <a:rPr lang="en-US" sz="2400" dirty="0" err="1"/>
              <a:t>Tj</a:t>
            </a:r>
            <a:r>
              <a:rPr lang="en-US" sz="2400" dirty="0"/>
              <a:t>) such that TS(</a:t>
            </a:r>
            <a:r>
              <a:rPr lang="en-US" sz="2400" dirty="0" err="1"/>
              <a:t>Ti</a:t>
            </a:r>
            <a:r>
              <a:rPr lang="en-US" sz="2400" dirty="0"/>
              <a:t>) &lt;TS(</a:t>
            </a:r>
            <a:r>
              <a:rPr lang="en-US" sz="2400" dirty="0" err="1"/>
              <a:t>Tj</a:t>
            </a:r>
            <a:r>
              <a:rPr lang="en-US" sz="2400" dirty="0"/>
              <a:t>).</a:t>
            </a:r>
          </a:p>
          <a:p>
            <a:pPr algn="just"/>
            <a:r>
              <a:rPr lang="en-US" sz="2400" dirty="0"/>
              <a:t>The protocol manages concurrent execution such that the timestamps determine the serializability order.</a:t>
            </a:r>
          </a:p>
          <a:p>
            <a:pPr algn="just"/>
            <a:r>
              <a:rPr lang="en-US" sz="2400" dirty="0"/>
              <a:t>In order to assure such behavior, the protocol maintains for each data Q with two timestamp values:</a:t>
            </a:r>
          </a:p>
          <a:p>
            <a:pPr lvl="1" algn="just"/>
            <a:r>
              <a:rPr lang="en-US" sz="2400" dirty="0">
                <a:solidFill>
                  <a:srgbClr val="FF0000"/>
                </a:solidFill>
              </a:rPr>
              <a:t>W-timestamp(Q</a:t>
            </a:r>
            <a:r>
              <a:rPr lang="en-US" sz="2400" dirty="0"/>
              <a:t>) is the largest time-stamp of any transaction that executed write(Q) successfully.</a:t>
            </a:r>
          </a:p>
          <a:p>
            <a:pPr lvl="1" algn="just"/>
            <a:r>
              <a:rPr lang="en-US" sz="2400" dirty="0">
                <a:solidFill>
                  <a:srgbClr val="FF0000"/>
                </a:solidFill>
              </a:rPr>
              <a:t>R-timestamp(Q) </a:t>
            </a:r>
            <a:r>
              <a:rPr lang="en-US" sz="2400" dirty="0"/>
              <a:t>is the largest time-stamp of any transaction that executed read(Q) successfully.</a:t>
            </a:r>
          </a:p>
        </p:txBody>
      </p:sp>
      <p:sp>
        <p:nvSpPr>
          <p:cNvPr id="3" name="Slide Number Placeholder 2">
            <a:extLst>
              <a:ext uri="{FF2B5EF4-FFF2-40B4-BE49-F238E27FC236}">
                <a16:creationId xmlns:a16="http://schemas.microsoft.com/office/drawing/2014/main" id="{2B719988-E258-F8F9-3DD8-107926055A83}"/>
              </a:ext>
            </a:extLst>
          </p:cNvPr>
          <p:cNvSpPr>
            <a:spLocks noGrp="1"/>
          </p:cNvSpPr>
          <p:nvPr>
            <p:ph type="sldNum" sz="quarter" idx="12"/>
          </p:nvPr>
        </p:nvSpPr>
        <p:spPr/>
        <p:txBody>
          <a:bodyPr/>
          <a:lstStyle/>
          <a:p>
            <a:fld id="{F8EF2FF5-BD00-45B8-A71A-EAE2607F0774}" type="slidenum">
              <a:rPr lang="en-IN" smtClean="0"/>
              <a:t>52</a:t>
            </a:fld>
            <a:endParaRPr lang="en-IN"/>
          </a:p>
        </p:txBody>
      </p:sp>
    </p:spTree>
    <p:extLst>
      <p:ext uri="{BB962C8B-B14F-4D97-AF65-F5344CB8AC3E}">
        <p14:creationId xmlns:p14="http://schemas.microsoft.com/office/powerpoint/2010/main" val="385328369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332657"/>
            <a:ext cx="8697450" cy="64205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Slide Number Placeholder 3">
            <a:extLst>
              <a:ext uri="{FF2B5EF4-FFF2-40B4-BE49-F238E27FC236}">
                <a16:creationId xmlns:a16="http://schemas.microsoft.com/office/drawing/2014/main" id="{8A491C28-808D-AB0D-F740-8779F3628EC2}"/>
              </a:ext>
            </a:extLst>
          </p:cNvPr>
          <p:cNvSpPr>
            <a:spLocks noGrp="1"/>
          </p:cNvSpPr>
          <p:nvPr>
            <p:ph type="sldNum" sz="quarter" idx="12"/>
          </p:nvPr>
        </p:nvSpPr>
        <p:spPr/>
        <p:txBody>
          <a:bodyPr/>
          <a:lstStyle/>
          <a:p>
            <a:fld id="{F8EF2FF5-BD00-45B8-A71A-EAE2607F0774}" type="slidenum">
              <a:rPr lang="en-IN" smtClean="0"/>
              <a:t>53</a:t>
            </a:fld>
            <a:endParaRPr lang="en-IN"/>
          </a:p>
        </p:txBody>
      </p:sp>
    </p:spTree>
    <p:extLst>
      <p:ext uri="{BB962C8B-B14F-4D97-AF65-F5344CB8AC3E}">
        <p14:creationId xmlns:p14="http://schemas.microsoft.com/office/powerpoint/2010/main" val="248348613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88640"/>
            <a:ext cx="9033408" cy="65693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Slide Number Placeholder 3">
            <a:extLst>
              <a:ext uri="{FF2B5EF4-FFF2-40B4-BE49-F238E27FC236}">
                <a16:creationId xmlns:a16="http://schemas.microsoft.com/office/drawing/2014/main" id="{D45DE567-A579-E706-4E18-5E7364B0E23C}"/>
              </a:ext>
            </a:extLst>
          </p:cNvPr>
          <p:cNvSpPr>
            <a:spLocks noGrp="1"/>
          </p:cNvSpPr>
          <p:nvPr>
            <p:ph type="sldNum" sz="quarter" idx="12"/>
          </p:nvPr>
        </p:nvSpPr>
        <p:spPr/>
        <p:txBody>
          <a:bodyPr/>
          <a:lstStyle/>
          <a:p>
            <a:fld id="{F8EF2FF5-BD00-45B8-A71A-EAE2607F0774}" type="slidenum">
              <a:rPr lang="en-IN" smtClean="0"/>
              <a:t>54</a:t>
            </a:fld>
            <a:endParaRPr lang="en-IN"/>
          </a:p>
        </p:txBody>
      </p:sp>
    </p:spTree>
    <p:extLst>
      <p:ext uri="{BB962C8B-B14F-4D97-AF65-F5344CB8AC3E}">
        <p14:creationId xmlns:p14="http://schemas.microsoft.com/office/powerpoint/2010/main" val="271590147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404664"/>
            <a:ext cx="8977870" cy="6372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Slide Number Placeholder 3">
            <a:extLst>
              <a:ext uri="{FF2B5EF4-FFF2-40B4-BE49-F238E27FC236}">
                <a16:creationId xmlns:a16="http://schemas.microsoft.com/office/drawing/2014/main" id="{2B5F4050-DEAE-F9AE-D3A7-36E9A15583A5}"/>
              </a:ext>
            </a:extLst>
          </p:cNvPr>
          <p:cNvSpPr>
            <a:spLocks noGrp="1"/>
          </p:cNvSpPr>
          <p:nvPr>
            <p:ph type="sldNum" sz="quarter" idx="12"/>
          </p:nvPr>
        </p:nvSpPr>
        <p:spPr/>
        <p:txBody>
          <a:bodyPr/>
          <a:lstStyle/>
          <a:p>
            <a:fld id="{F8EF2FF5-BD00-45B8-A71A-EAE2607F0774}" type="slidenum">
              <a:rPr lang="en-IN" smtClean="0"/>
              <a:t>55</a:t>
            </a:fld>
            <a:endParaRPr lang="en-IN"/>
          </a:p>
        </p:txBody>
      </p:sp>
    </p:spTree>
    <p:extLst>
      <p:ext uri="{BB962C8B-B14F-4D97-AF65-F5344CB8AC3E}">
        <p14:creationId xmlns:p14="http://schemas.microsoft.com/office/powerpoint/2010/main" val="203055241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764704"/>
            <a:ext cx="8759879" cy="51026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Slide Number Placeholder 1">
            <a:extLst>
              <a:ext uri="{FF2B5EF4-FFF2-40B4-BE49-F238E27FC236}">
                <a16:creationId xmlns:a16="http://schemas.microsoft.com/office/drawing/2014/main" id="{44C245A6-AB90-E0A3-2749-B3202D67B9EB}"/>
              </a:ext>
            </a:extLst>
          </p:cNvPr>
          <p:cNvSpPr>
            <a:spLocks noGrp="1"/>
          </p:cNvSpPr>
          <p:nvPr>
            <p:ph type="sldNum" sz="quarter" idx="12"/>
          </p:nvPr>
        </p:nvSpPr>
        <p:spPr/>
        <p:txBody>
          <a:bodyPr/>
          <a:lstStyle/>
          <a:p>
            <a:fld id="{F8EF2FF5-BD00-45B8-A71A-EAE2607F0774}" type="slidenum">
              <a:rPr lang="en-IN" smtClean="0"/>
              <a:t>56</a:t>
            </a:fld>
            <a:endParaRPr lang="en-IN"/>
          </a:p>
        </p:txBody>
      </p:sp>
    </p:spTree>
    <p:extLst>
      <p:ext uri="{BB962C8B-B14F-4D97-AF65-F5344CB8AC3E}">
        <p14:creationId xmlns:p14="http://schemas.microsoft.com/office/powerpoint/2010/main" val="398620329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2" name="Rectangle 11"/>
          <p:cNvSpPr>
            <a:spLocks noGrp="1" noChangeArrowheads="1"/>
          </p:cNvSpPr>
          <p:nvPr>
            <p:ph idx="1"/>
          </p:nvPr>
        </p:nvSpPr>
        <p:spPr>
          <a:xfrm>
            <a:off x="323528" y="1046639"/>
            <a:ext cx="8712968" cy="5674836"/>
          </a:xfrm>
        </p:spPr>
        <p:txBody>
          <a:bodyPr>
            <a:noAutofit/>
          </a:bodyPr>
          <a:lstStyle/>
          <a:p>
            <a:pPr eaLnBrk="1" hangingPunct="1">
              <a:lnSpc>
                <a:spcPct val="90000"/>
              </a:lnSpc>
            </a:pPr>
            <a:r>
              <a:rPr lang="en-US" b="1" dirty="0">
                <a:solidFill>
                  <a:srgbClr val="FF0000"/>
                </a:solidFill>
              </a:rPr>
              <a:t>Basic Timestamp Ordering</a:t>
            </a:r>
          </a:p>
          <a:p>
            <a:pPr lvl="1" algn="just" eaLnBrk="1" hangingPunct="1">
              <a:lnSpc>
                <a:spcPct val="90000"/>
              </a:lnSpc>
            </a:pPr>
            <a:r>
              <a:rPr lang="en-US" sz="2600" dirty="0"/>
              <a:t>1</a:t>
            </a:r>
            <a:r>
              <a:rPr lang="en-US" sz="2600" dirty="0">
                <a:latin typeface="Times New Roman" panose="02020603050405020304" pitchFamily="18" charset="0"/>
                <a:cs typeface="Times New Roman" panose="02020603050405020304" pitchFamily="18" charset="0"/>
              </a:rPr>
              <a:t>.  </a:t>
            </a:r>
            <a:r>
              <a:rPr lang="en-US" sz="2600" b="1" dirty="0">
                <a:latin typeface="Times New Roman" panose="02020603050405020304" pitchFamily="18" charset="0"/>
                <a:cs typeface="Times New Roman" panose="02020603050405020304" pitchFamily="18" charset="0"/>
              </a:rPr>
              <a:t>Transaction T issues a </a:t>
            </a:r>
            <a:r>
              <a:rPr lang="en-US" sz="2600" b="1" dirty="0" err="1">
                <a:solidFill>
                  <a:srgbClr val="FF0000"/>
                </a:solidFill>
                <a:latin typeface="Times New Roman" panose="02020603050405020304" pitchFamily="18" charset="0"/>
                <a:cs typeface="Times New Roman" panose="02020603050405020304" pitchFamily="18" charset="0"/>
              </a:rPr>
              <a:t>write_item</a:t>
            </a:r>
            <a:r>
              <a:rPr lang="en-US" sz="2600" b="1" dirty="0">
                <a:solidFill>
                  <a:srgbClr val="FF0000"/>
                </a:solidFill>
                <a:latin typeface="Times New Roman" panose="02020603050405020304" pitchFamily="18" charset="0"/>
                <a:cs typeface="Times New Roman" panose="02020603050405020304" pitchFamily="18" charset="0"/>
              </a:rPr>
              <a:t>(X) </a:t>
            </a:r>
            <a:r>
              <a:rPr lang="en-US" sz="2600" b="1" dirty="0">
                <a:latin typeface="Times New Roman" panose="02020603050405020304" pitchFamily="18" charset="0"/>
                <a:cs typeface="Times New Roman" panose="02020603050405020304" pitchFamily="18" charset="0"/>
              </a:rPr>
              <a:t>operation:</a:t>
            </a:r>
          </a:p>
          <a:p>
            <a:pPr lvl="2" algn="just" eaLnBrk="1" hangingPunct="1">
              <a:lnSpc>
                <a:spcPct val="90000"/>
              </a:lnSpc>
            </a:pPr>
            <a:r>
              <a:rPr lang="en-US" sz="2600" dirty="0">
                <a:latin typeface="Times New Roman" panose="02020603050405020304" pitchFamily="18" charset="0"/>
                <a:cs typeface="Times New Roman" panose="02020603050405020304" pitchFamily="18" charset="0"/>
                <a:sym typeface="Symbol" pitchFamily="18" charset="2"/>
              </a:rPr>
              <a:t>If </a:t>
            </a:r>
            <a:r>
              <a:rPr lang="en-US" sz="2600" dirty="0" err="1">
                <a:solidFill>
                  <a:srgbClr val="FF0000"/>
                </a:solidFill>
                <a:latin typeface="Times New Roman" panose="02020603050405020304" pitchFamily="18" charset="0"/>
                <a:cs typeface="Times New Roman" panose="02020603050405020304" pitchFamily="18" charset="0"/>
                <a:sym typeface="Symbol" pitchFamily="18" charset="2"/>
              </a:rPr>
              <a:t>read_TS</a:t>
            </a:r>
            <a:r>
              <a:rPr lang="en-US" sz="2600" dirty="0">
                <a:solidFill>
                  <a:srgbClr val="FF0000"/>
                </a:solidFill>
                <a:latin typeface="Times New Roman" panose="02020603050405020304" pitchFamily="18" charset="0"/>
                <a:cs typeface="Times New Roman" panose="02020603050405020304" pitchFamily="18" charset="0"/>
                <a:sym typeface="Symbol" pitchFamily="18" charset="2"/>
              </a:rPr>
              <a:t>(X) &gt; TS(T) </a:t>
            </a:r>
            <a:r>
              <a:rPr lang="en-US" sz="2600" dirty="0">
                <a:latin typeface="Times New Roman" panose="02020603050405020304" pitchFamily="18" charset="0"/>
                <a:cs typeface="Times New Roman" panose="02020603050405020304" pitchFamily="18" charset="0"/>
                <a:sym typeface="Symbol" pitchFamily="18" charset="2"/>
              </a:rPr>
              <a:t>or if </a:t>
            </a:r>
            <a:r>
              <a:rPr lang="en-US" sz="2600" dirty="0" err="1">
                <a:solidFill>
                  <a:srgbClr val="FF0000"/>
                </a:solidFill>
                <a:latin typeface="Times New Roman" panose="02020603050405020304" pitchFamily="18" charset="0"/>
                <a:cs typeface="Times New Roman" panose="02020603050405020304" pitchFamily="18" charset="0"/>
                <a:sym typeface="Symbol" pitchFamily="18" charset="2"/>
              </a:rPr>
              <a:t>write_TS</a:t>
            </a:r>
            <a:r>
              <a:rPr lang="en-US" sz="2600" dirty="0">
                <a:solidFill>
                  <a:srgbClr val="FF0000"/>
                </a:solidFill>
                <a:latin typeface="Times New Roman" panose="02020603050405020304" pitchFamily="18" charset="0"/>
                <a:cs typeface="Times New Roman" panose="02020603050405020304" pitchFamily="18" charset="0"/>
                <a:sym typeface="Symbol" pitchFamily="18" charset="2"/>
              </a:rPr>
              <a:t>(X) &gt; TS(T)</a:t>
            </a:r>
            <a:r>
              <a:rPr lang="en-US" sz="2600" dirty="0">
                <a:latin typeface="Times New Roman" panose="02020603050405020304" pitchFamily="18" charset="0"/>
                <a:cs typeface="Times New Roman" panose="02020603050405020304" pitchFamily="18" charset="0"/>
                <a:sym typeface="Symbol" pitchFamily="18" charset="2"/>
              </a:rPr>
              <a:t>, then an younger transaction has already read the data item so abort and roll-back T and reject the operation.</a:t>
            </a:r>
          </a:p>
          <a:p>
            <a:pPr lvl="2" algn="just" eaLnBrk="1" hangingPunct="1">
              <a:lnSpc>
                <a:spcPct val="90000"/>
              </a:lnSpc>
            </a:pPr>
            <a:r>
              <a:rPr lang="en-US" sz="2600" dirty="0">
                <a:latin typeface="Times New Roman" panose="02020603050405020304" pitchFamily="18" charset="0"/>
                <a:cs typeface="Times New Roman" panose="02020603050405020304" pitchFamily="18" charset="0"/>
                <a:sym typeface="Symbol" pitchFamily="18" charset="2"/>
              </a:rPr>
              <a:t>If the condition in part (a) does not exist, then execute </a:t>
            </a:r>
            <a:r>
              <a:rPr lang="en-US" sz="2600" dirty="0" err="1">
                <a:latin typeface="Times New Roman" panose="02020603050405020304" pitchFamily="18" charset="0"/>
                <a:cs typeface="Times New Roman" panose="02020603050405020304" pitchFamily="18" charset="0"/>
                <a:sym typeface="Symbol" pitchFamily="18" charset="2"/>
              </a:rPr>
              <a:t>write_item</a:t>
            </a:r>
            <a:r>
              <a:rPr lang="en-US" sz="2600" dirty="0">
                <a:latin typeface="Times New Roman" panose="02020603050405020304" pitchFamily="18" charset="0"/>
                <a:cs typeface="Times New Roman" panose="02020603050405020304" pitchFamily="18" charset="0"/>
                <a:sym typeface="Symbol" pitchFamily="18" charset="2"/>
              </a:rPr>
              <a:t>(X) of T and set </a:t>
            </a:r>
            <a:r>
              <a:rPr lang="en-US" sz="2600" dirty="0" err="1">
                <a:latin typeface="Times New Roman" panose="02020603050405020304" pitchFamily="18" charset="0"/>
                <a:cs typeface="Times New Roman" panose="02020603050405020304" pitchFamily="18" charset="0"/>
                <a:sym typeface="Symbol" pitchFamily="18" charset="2"/>
              </a:rPr>
              <a:t>write_TS</a:t>
            </a:r>
            <a:r>
              <a:rPr lang="en-US" sz="2600" dirty="0">
                <a:latin typeface="Times New Roman" panose="02020603050405020304" pitchFamily="18" charset="0"/>
                <a:cs typeface="Times New Roman" panose="02020603050405020304" pitchFamily="18" charset="0"/>
                <a:sym typeface="Symbol" pitchFamily="18" charset="2"/>
              </a:rPr>
              <a:t>(X) to TS(T).</a:t>
            </a:r>
          </a:p>
          <a:p>
            <a:pPr lvl="1" algn="just" eaLnBrk="1" hangingPunct="1">
              <a:lnSpc>
                <a:spcPct val="90000"/>
              </a:lnSpc>
            </a:pPr>
            <a:r>
              <a:rPr lang="en-US" sz="2600" dirty="0">
                <a:latin typeface="Times New Roman" panose="02020603050405020304" pitchFamily="18" charset="0"/>
                <a:cs typeface="Times New Roman" panose="02020603050405020304" pitchFamily="18" charset="0"/>
                <a:sym typeface="Symbol" pitchFamily="18" charset="2"/>
              </a:rPr>
              <a:t>2.  </a:t>
            </a:r>
            <a:r>
              <a:rPr lang="en-US" sz="2600" b="1" dirty="0">
                <a:latin typeface="Times New Roman" panose="02020603050405020304" pitchFamily="18" charset="0"/>
                <a:cs typeface="Times New Roman" panose="02020603050405020304" pitchFamily="18" charset="0"/>
              </a:rPr>
              <a:t>Transaction T issues a </a:t>
            </a:r>
            <a:r>
              <a:rPr lang="en-US" sz="2600" b="1" dirty="0" err="1">
                <a:solidFill>
                  <a:srgbClr val="FF0000"/>
                </a:solidFill>
                <a:latin typeface="Times New Roman" panose="02020603050405020304" pitchFamily="18" charset="0"/>
                <a:cs typeface="Times New Roman" panose="02020603050405020304" pitchFamily="18" charset="0"/>
              </a:rPr>
              <a:t>read_item</a:t>
            </a:r>
            <a:r>
              <a:rPr lang="en-US" sz="2600" b="1" dirty="0">
                <a:solidFill>
                  <a:srgbClr val="FF0000"/>
                </a:solidFill>
                <a:latin typeface="Times New Roman" panose="02020603050405020304" pitchFamily="18" charset="0"/>
                <a:cs typeface="Times New Roman" panose="02020603050405020304" pitchFamily="18" charset="0"/>
              </a:rPr>
              <a:t>(X) </a:t>
            </a:r>
            <a:r>
              <a:rPr lang="en-US" sz="2600" b="1" dirty="0">
                <a:latin typeface="Times New Roman" panose="02020603050405020304" pitchFamily="18" charset="0"/>
                <a:cs typeface="Times New Roman" panose="02020603050405020304" pitchFamily="18" charset="0"/>
              </a:rPr>
              <a:t>operation:</a:t>
            </a:r>
          </a:p>
          <a:p>
            <a:pPr lvl="2" algn="just" eaLnBrk="1" hangingPunct="1">
              <a:lnSpc>
                <a:spcPct val="90000"/>
              </a:lnSpc>
            </a:pPr>
            <a:r>
              <a:rPr lang="en-US" sz="2600" dirty="0">
                <a:latin typeface="Times New Roman" panose="02020603050405020304" pitchFamily="18" charset="0"/>
                <a:cs typeface="Times New Roman" panose="02020603050405020304" pitchFamily="18" charset="0"/>
                <a:sym typeface="Symbol" pitchFamily="18" charset="2"/>
              </a:rPr>
              <a:t>If </a:t>
            </a:r>
            <a:r>
              <a:rPr lang="en-US" sz="2600" dirty="0" err="1">
                <a:solidFill>
                  <a:srgbClr val="FF0000"/>
                </a:solidFill>
                <a:latin typeface="Times New Roman" panose="02020603050405020304" pitchFamily="18" charset="0"/>
                <a:cs typeface="Times New Roman" panose="02020603050405020304" pitchFamily="18" charset="0"/>
                <a:sym typeface="Symbol" pitchFamily="18" charset="2"/>
              </a:rPr>
              <a:t>write_TS</a:t>
            </a:r>
            <a:r>
              <a:rPr lang="en-US" sz="2600" dirty="0">
                <a:solidFill>
                  <a:srgbClr val="FF0000"/>
                </a:solidFill>
                <a:latin typeface="Times New Roman" panose="02020603050405020304" pitchFamily="18" charset="0"/>
                <a:cs typeface="Times New Roman" panose="02020603050405020304" pitchFamily="18" charset="0"/>
                <a:sym typeface="Symbol" pitchFamily="18" charset="2"/>
              </a:rPr>
              <a:t>(X) &gt; TS(T)</a:t>
            </a:r>
            <a:r>
              <a:rPr lang="en-US" sz="2600" dirty="0">
                <a:latin typeface="Times New Roman" panose="02020603050405020304" pitchFamily="18" charset="0"/>
                <a:cs typeface="Times New Roman" panose="02020603050405020304" pitchFamily="18" charset="0"/>
                <a:sym typeface="Symbol" pitchFamily="18" charset="2"/>
              </a:rPr>
              <a:t>, then an younger transaction has already written to the data item so abort and roll-back T and reject the operation.</a:t>
            </a:r>
          </a:p>
          <a:p>
            <a:pPr lvl="2" algn="just" eaLnBrk="1" hangingPunct="1">
              <a:lnSpc>
                <a:spcPct val="90000"/>
              </a:lnSpc>
            </a:pPr>
            <a:r>
              <a:rPr lang="en-US" sz="2600" dirty="0">
                <a:latin typeface="Times New Roman" panose="02020603050405020304" pitchFamily="18" charset="0"/>
                <a:cs typeface="Times New Roman" panose="02020603050405020304" pitchFamily="18" charset="0"/>
                <a:sym typeface="Symbol" pitchFamily="18" charset="2"/>
              </a:rPr>
              <a:t>If </a:t>
            </a:r>
            <a:r>
              <a:rPr lang="en-US" sz="2600" dirty="0" err="1">
                <a:solidFill>
                  <a:srgbClr val="FF0000"/>
                </a:solidFill>
                <a:latin typeface="Times New Roman" panose="02020603050405020304" pitchFamily="18" charset="0"/>
                <a:cs typeface="Times New Roman" panose="02020603050405020304" pitchFamily="18" charset="0"/>
                <a:sym typeface="Symbol" pitchFamily="18" charset="2"/>
              </a:rPr>
              <a:t>write_TS</a:t>
            </a:r>
            <a:r>
              <a:rPr lang="en-US" sz="2600" dirty="0">
                <a:solidFill>
                  <a:srgbClr val="FF0000"/>
                </a:solidFill>
                <a:latin typeface="Times New Roman" panose="02020603050405020304" pitchFamily="18" charset="0"/>
                <a:cs typeface="Times New Roman" panose="02020603050405020304" pitchFamily="18" charset="0"/>
                <a:sym typeface="Symbol" pitchFamily="18" charset="2"/>
              </a:rPr>
              <a:t>(X)  TS(T)</a:t>
            </a:r>
            <a:r>
              <a:rPr lang="en-US" sz="2600" dirty="0">
                <a:latin typeface="Times New Roman" panose="02020603050405020304" pitchFamily="18" charset="0"/>
                <a:cs typeface="Times New Roman" panose="02020603050405020304" pitchFamily="18" charset="0"/>
                <a:sym typeface="Symbol" pitchFamily="18" charset="2"/>
              </a:rPr>
              <a:t>, then execute </a:t>
            </a:r>
            <a:r>
              <a:rPr lang="en-US" sz="2600" dirty="0" err="1">
                <a:latin typeface="Times New Roman" panose="02020603050405020304" pitchFamily="18" charset="0"/>
                <a:cs typeface="Times New Roman" panose="02020603050405020304" pitchFamily="18" charset="0"/>
                <a:sym typeface="Symbol" pitchFamily="18" charset="2"/>
              </a:rPr>
              <a:t>read_item</a:t>
            </a:r>
            <a:r>
              <a:rPr lang="en-US" sz="2600" dirty="0">
                <a:latin typeface="Times New Roman" panose="02020603050405020304" pitchFamily="18" charset="0"/>
                <a:cs typeface="Times New Roman" panose="02020603050405020304" pitchFamily="18" charset="0"/>
                <a:sym typeface="Symbol" pitchFamily="18" charset="2"/>
              </a:rPr>
              <a:t>(X) of T and set </a:t>
            </a:r>
            <a:r>
              <a:rPr lang="en-US" sz="2600" dirty="0" err="1">
                <a:latin typeface="Times New Roman" panose="02020603050405020304" pitchFamily="18" charset="0"/>
                <a:cs typeface="Times New Roman" panose="02020603050405020304" pitchFamily="18" charset="0"/>
                <a:sym typeface="Symbol" pitchFamily="18" charset="2"/>
              </a:rPr>
              <a:t>read_TS</a:t>
            </a:r>
            <a:r>
              <a:rPr lang="en-US" sz="2600" dirty="0">
                <a:latin typeface="Times New Roman" panose="02020603050405020304" pitchFamily="18" charset="0"/>
                <a:cs typeface="Times New Roman" panose="02020603050405020304" pitchFamily="18" charset="0"/>
                <a:sym typeface="Symbol" pitchFamily="18" charset="2"/>
              </a:rPr>
              <a:t>(X) to the larger of TS(T) and the current </a:t>
            </a:r>
            <a:r>
              <a:rPr lang="en-US" sz="2600" dirty="0" err="1">
                <a:latin typeface="Times New Roman" panose="02020603050405020304" pitchFamily="18" charset="0"/>
                <a:cs typeface="Times New Roman" panose="02020603050405020304" pitchFamily="18" charset="0"/>
                <a:sym typeface="Symbol" pitchFamily="18" charset="2"/>
              </a:rPr>
              <a:t>read_TS</a:t>
            </a:r>
            <a:r>
              <a:rPr lang="en-US" sz="2600" dirty="0">
                <a:latin typeface="Times New Roman" panose="02020603050405020304" pitchFamily="18" charset="0"/>
                <a:cs typeface="Times New Roman" panose="02020603050405020304" pitchFamily="18" charset="0"/>
                <a:sym typeface="Symbol" pitchFamily="18" charset="2"/>
              </a:rPr>
              <a:t>(X).</a:t>
            </a:r>
          </a:p>
        </p:txBody>
      </p:sp>
      <p:sp>
        <p:nvSpPr>
          <p:cNvPr id="32770" name="Slide Number Placeholder 3"/>
          <p:cNvSpPr>
            <a:spLocks noGrp="1"/>
          </p:cNvSpPr>
          <p:nvPr>
            <p:ph type="sldNum" sz="quarter" idx="12"/>
          </p:nvPr>
        </p:nvSpPr>
        <p:spPr>
          <a:noFill/>
        </p:spPr>
        <p:txBody>
          <a:bodyPr/>
          <a:lstStyle/>
          <a:p>
            <a:r>
              <a:rPr lang="en-US"/>
              <a:t>Slide 18- </a:t>
            </a:r>
            <a:fld id="{0FEF812E-429D-44FD-B4D6-50CB5B6E9DDD}" type="slidenum">
              <a:rPr lang="en-US" smtClean="0"/>
              <a:pPr/>
              <a:t>57</a:t>
            </a:fld>
            <a:endParaRPr lang="en-CA"/>
          </a:p>
        </p:txBody>
      </p:sp>
      <p:sp>
        <p:nvSpPr>
          <p:cNvPr id="3" name="Rectangle 2"/>
          <p:cNvSpPr/>
          <p:nvPr/>
        </p:nvSpPr>
        <p:spPr>
          <a:xfrm>
            <a:off x="1691680" y="344997"/>
            <a:ext cx="5767541" cy="707886"/>
          </a:xfrm>
          <a:prstGeom prst="rect">
            <a:avLst/>
          </a:prstGeom>
        </p:spPr>
        <p:txBody>
          <a:bodyPr wrap="none">
            <a:spAutoFit/>
          </a:bodyPr>
          <a:lstStyle/>
          <a:p>
            <a:pPr algn="ctr">
              <a:spcBef>
                <a:spcPct val="0"/>
              </a:spcBef>
            </a:pPr>
            <a:r>
              <a:rPr lang="en-US" sz="4000" dirty="0">
                <a:solidFill>
                  <a:schemeClr val="tx2"/>
                </a:solidFill>
                <a:latin typeface="Times New Roman" pitchFamily="18" charset="0"/>
                <a:ea typeface="+mj-ea"/>
                <a:cs typeface="Times New Roman" pitchFamily="18" charset="0"/>
              </a:rPr>
              <a:t>Timestamp-Based Protocol</a:t>
            </a:r>
            <a:endParaRPr lang="en-IN" sz="4000" dirty="0">
              <a:solidFill>
                <a:schemeClr val="tx2"/>
              </a:solidFill>
              <a:latin typeface="Times New Roman" pitchFamily="18" charset="0"/>
              <a:ea typeface="+mj-ea"/>
              <a:cs typeface="Times New Roman" pitchFamily="18" charset="0"/>
            </a:endParaRPr>
          </a:p>
        </p:txBody>
      </p:sp>
    </p:spTree>
    <p:extLst>
      <p:ext uri="{BB962C8B-B14F-4D97-AF65-F5344CB8AC3E}">
        <p14:creationId xmlns:p14="http://schemas.microsoft.com/office/powerpoint/2010/main" val="322473265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Rectangle 11"/>
          <p:cNvSpPr>
            <a:spLocks noGrp="1" noChangeArrowheads="1"/>
          </p:cNvSpPr>
          <p:nvPr>
            <p:ph idx="1"/>
          </p:nvPr>
        </p:nvSpPr>
        <p:spPr>
          <a:xfrm>
            <a:off x="395536" y="1046639"/>
            <a:ext cx="8291264" cy="5309711"/>
          </a:xfrm>
        </p:spPr>
        <p:txBody>
          <a:bodyPr>
            <a:normAutofit/>
          </a:bodyPr>
          <a:lstStyle/>
          <a:p>
            <a:pPr eaLnBrk="1" hangingPunct="1">
              <a:buFont typeface="Wingdings" pitchFamily="2" charset="2"/>
              <a:buNone/>
            </a:pPr>
            <a:r>
              <a:rPr lang="en-US" dirty="0"/>
              <a:t>Timestamp based concurrency control algorithm</a:t>
            </a:r>
          </a:p>
          <a:p>
            <a:pPr algn="just" eaLnBrk="1" hangingPunct="1"/>
            <a:r>
              <a:rPr lang="en-US" b="1" dirty="0">
                <a:solidFill>
                  <a:srgbClr val="FF0000"/>
                </a:solidFill>
                <a:latin typeface="Times New Roman" panose="02020603050405020304" pitchFamily="18" charset="0"/>
                <a:cs typeface="Times New Roman" panose="02020603050405020304" pitchFamily="18" charset="0"/>
              </a:rPr>
              <a:t>Strict Timestamp Ordering</a:t>
            </a:r>
          </a:p>
          <a:p>
            <a:pPr lvl="1" algn="just" eaLnBrk="1" hangingPunct="1"/>
            <a:r>
              <a:rPr lang="en-US" sz="2600" dirty="0">
                <a:latin typeface="Times New Roman" panose="02020603050405020304" pitchFamily="18" charset="0"/>
                <a:cs typeface="Times New Roman" panose="02020603050405020304" pitchFamily="18" charset="0"/>
              </a:rPr>
              <a:t>1.  Transaction T issues a </a:t>
            </a:r>
            <a:r>
              <a:rPr lang="en-US" sz="2600" dirty="0" err="1">
                <a:solidFill>
                  <a:srgbClr val="FF0000"/>
                </a:solidFill>
                <a:latin typeface="Times New Roman" panose="02020603050405020304" pitchFamily="18" charset="0"/>
                <a:cs typeface="Times New Roman" panose="02020603050405020304" pitchFamily="18" charset="0"/>
              </a:rPr>
              <a:t>write_item</a:t>
            </a:r>
            <a:r>
              <a:rPr lang="en-US" sz="2600" dirty="0">
                <a:solidFill>
                  <a:srgbClr val="FF0000"/>
                </a:solidFill>
                <a:latin typeface="Times New Roman" panose="02020603050405020304" pitchFamily="18" charset="0"/>
                <a:cs typeface="Times New Roman" panose="02020603050405020304" pitchFamily="18" charset="0"/>
              </a:rPr>
              <a:t>(X)</a:t>
            </a:r>
            <a:r>
              <a:rPr lang="en-US" sz="2600" dirty="0">
                <a:latin typeface="Times New Roman" panose="02020603050405020304" pitchFamily="18" charset="0"/>
                <a:cs typeface="Times New Roman" panose="02020603050405020304" pitchFamily="18" charset="0"/>
              </a:rPr>
              <a:t> operation:</a:t>
            </a:r>
          </a:p>
          <a:p>
            <a:pPr lvl="2" algn="just" eaLnBrk="1" hangingPunct="1"/>
            <a:r>
              <a:rPr lang="en-US" sz="2600" dirty="0">
                <a:latin typeface="Times New Roman" panose="02020603050405020304" pitchFamily="18" charset="0"/>
                <a:cs typeface="Times New Roman" panose="02020603050405020304" pitchFamily="18" charset="0"/>
                <a:sym typeface="Symbol" pitchFamily="18" charset="2"/>
              </a:rPr>
              <a:t>If TS(T) &gt; </a:t>
            </a:r>
            <a:r>
              <a:rPr lang="en-US" sz="2600" dirty="0" err="1">
                <a:latin typeface="Times New Roman" panose="02020603050405020304" pitchFamily="18" charset="0"/>
                <a:cs typeface="Times New Roman" panose="02020603050405020304" pitchFamily="18" charset="0"/>
                <a:sym typeface="Symbol" pitchFamily="18" charset="2"/>
              </a:rPr>
              <a:t>read_TS</a:t>
            </a:r>
            <a:r>
              <a:rPr lang="en-US" sz="2600" dirty="0">
                <a:latin typeface="Times New Roman" panose="02020603050405020304" pitchFamily="18" charset="0"/>
                <a:cs typeface="Times New Roman" panose="02020603050405020304" pitchFamily="18" charset="0"/>
                <a:sym typeface="Symbol" pitchFamily="18" charset="2"/>
              </a:rPr>
              <a:t>(X), then delay T until the transaction T’ that wrote or read X has terminated (committed or aborted).</a:t>
            </a:r>
          </a:p>
          <a:p>
            <a:pPr lvl="1" algn="just" eaLnBrk="1" hangingPunct="1"/>
            <a:r>
              <a:rPr lang="en-US" sz="2600" dirty="0">
                <a:latin typeface="Times New Roman" panose="02020603050405020304" pitchFamily="18" charset="0"/>
                <a:cs typeface="Times New Roman" panose="02020603050405020304" pitchFamily="18" charset="0"/>
                <a:sym typeface="Symbol" pitchFamily="18" charset="2"/>
              </a:rPr>
              <a:t>2.  </a:t>
            </a:r>
            <a:r>
              <a:rPr lang="en-US" sz="2600" dirty="0">
                <a:latin typeface="Times New Roman" panose="02020603050405020304" pitchFamily="18" charset="0"/>
                <a:cs typeface="Times New Roman" panose="02020603050405020304" pitchFamily="18" charset="0"/>
              </a:rPr>
              <a:t>Transaction T issues a </a:t>
            </a:r>
            <a:r>
              <a:rPr lang="en-US" sz="2600" dirty="0" err="1">
                <a:solidFill>
                  <a:srgbClr val="FF0000"/>
                </a:solidFill>
                <a:latin typeface="Times New Roman" panose="02020603050405020304" pitchFamily="18" charset="0"/>
                <a:cs typeface="Times New Roman" panose="02020603050405020304" pitchFamily="18" charset="0"/>
              </a:rPr>
              <a:t>read_item</a:t>
            </a:r>
            <a:r>
              <a:rPr lang="en-US" sz="2600" dirty="0">
                <a:solidFill>
                  <a:srgbClr val="FF0000"/>
                </a:solidFill>
                <a:latin typeface="Times New Roman" panose="02020603050405020304" pitchFamily="18" charset="0"/>
                <a:cs typeface="Times New Roman" panose="02020603050405020304" pitchFamily="18" charset="0"/>
              </a:rPr>
              <a:t>(X)</a:t>
            </a:r>
            <a:r>
              <a:rPr lang="en-US" sz="2600" dirty="0">
                <a:latin typeface="Times New Roman" panose="02020603050405020304" pitchFamily="18" charset="0"/>
                <a:cs typeface="Times New Roman" panose="02020603050405020304" pitchFamily="18" charset="0"/>
              </a:rPr>
              <a:t> operation:</a:t>
            </a:r>
          </a:p>
          <a:p>
            <a:pPr lvl="2" algn="just" eaLnBrk="1" hangingPunct="1"/>
            <a:r>
              <a:rPr lang="en-US" sz="2600" dirty="0">
                <a:latin typeface="Times New Roman" panose="02020603050405020304" pitchFamily="18" charset="0"/>
                <a:cs typeface="Times New Roman" panose="02020603050405020304" pitchFamily="18" charset="0"/>
                <a:sym typeface="Symbol" pitchFamily="18" charset="2"/>
              </a:rPr>
              <a:t>If TS(T) &gt; </a:t>
            </a:r>
            <a:r>
              <a:rPr lang="en-US" sz="2600" dirty="0" err="1">
                <a:latin typeface="Times New Roman" panose="02020603050405020304" pitchFamily="18" charset="0"/>
                <a:cs typeface="Times New Roman" panose="02020603050405020304" pitchFamily="18" charset="0"/>
                <a:sym typeface="Symbol" pitchFamily="18" charset="2"/>
              </a:rPr>
              <a:t>write_TS</a:t>
            </a:r>
            <a:r>
              <a:rPr lang="en-US" sz="2600" dirty="0">
                <a:latin typeface="Times New Roman" panose="02020603050405020304" pitchFamily="18" charset="0"/>
                <a:cs typeface="Times New Roman" panose="02020603050405020304" pitchFamily="18" charset="0"/>
                <a:sym typeface="Symbol" pitchFamily="18" charset="2"/>
              </a:rPr>
              <a:t>(X), then delay T until the transaction T’ that wrote or read X has terminated (committed or aborted).</a:t>
            </a:r>
            <a:endParaRPr lang="en-US" sz="2600" dirty="0">
              <a:latin typeface="Times New Roman" panose="02020603050405020304" pitchFamily="18" charset="0"/>
              <a:cs typeface="Times New Roman" panose="02020603050405020304" pitchFamily="18" charset="0"/>
            </a:endParaRPr>
          </a:p>
        </p:txBody>
      </p:sp>
      <p:sp>
        <p:nvSpPr>
          <p:cNvPr id="33794" name="Slide Number Placeholder 3"/>
          <p:cNvSpPr>
            <a:spLocks noGrp="1"/>
          </p:cNvSpPr>
          <p:nvPr>
            <p:ph type="sldNum" sz="quarter" idx="12"/>
          </p:nvPr>
        </p:nvSpPr>
        <p:spPr>
          <a:noFill/>
        </p:spPr>
        <p:txBody>
          <a:bodyPr/>
          <a:lstStyle/>
          <a:p>
            <a:r>
              <a:rPr lang="en-US"/>
              <a:t>Slide 18- </a:t>
            </a:r>
            <a:fld id="{D2F26F50-572D-4F58-A56A-FDEE8242725D}" type="slidenum">
              <a:rPr lang="en-US" smtClean="0"/>
              <a:pPr/>
              <a:t>58</a:t>
            </a:fld>
            <a:endParaRPr lang="en-CA"/>
          </a:p>
        </p:txBody>
      </p:sp>
      <p:sp>
        <p:nvSpPr>
          <p:cNvPr id="33797" name="Rectangle 4"/>
          <p:cNvSpPr>
            <a:spLocks noChangeArrowheads="1"/>
          </p:cNvSpPr>
          <p:nvPr/>
        </p:nvSpPr>
        <p:spPr bwMode="auto">
          <a:xfrm>
            <a:off x="685800" y="1020763"/>
            <a:ext cx="7772400" cy="4953000"/>
          </a:xfrm>
          <a:prstGeom prst="rect">
            <a:avLst/>
          </a:prstGeom>
          <a:noFill/>
          <a:ln w="9525">
            <a:noFill/>
            <a:miter lim="800000"/>
            <a:headEnd/>
            <a:tailEnd/>
          </a:ln>
        </p:spPr>
        <p:txBody>
          <a:bodyPr/>
          <a:lstStyle/>
          <a:p>
            <a:pPr marL="914400" indent="-914400">
              <a:spcBef>
                <a:spcPct val="20000"/>
              </a:spcBef>
              <a:buClr>
                <a:srgbClr val="990033"/>
              </a:buClr>
              <a:buSzPct val="60000"/>
              <a:buFont typeface="Wingdings" pitchFamily="2" charset="2"/>
              <a:buNone/>
            </a:pPr>
            <a:endParaRPr lang="en-US" sz="1800">
              <a:solidFill>
                <a:schemeClr val="tx2"/>
              </a:solidFill>
              <a:cs typeface="Times New Roman" pitchFamily="18" charset="0"/>
              <a:sym typeface="Symbol" pitchFamily="18" charset="2"/>
            </a:endParaRPr>
          </a:p>
        </p:txBody>
      </p:sp>
      <p:sp>
        <p:nvSpPr>
          <p:cNvPr id="7" name="Rectangle 6"/>
          <p:cNvSpPr/>
          <p:nvPr/>
        </p:nvSpPr>
        <p:spPr>
          <a:xfrm>
            <a:off x="785659" y="241424"/>
            <a:ext cx="5767541" cy="707886"/>
          </a:xfrm>
          <a:prstGeom prst="rect">
            <a:avLst/>
          </a:prstGeom>
        </p:spPr>
        <p:txBody>
          <a:bodyPr wrap="none">
            <a:spAutoFit/>
          </a:bodyPr>
          <a:lstStyle/>
          <a:p>
            <a:pPr>
              <a:spcBef>
                <a:spcPct val="0"/>
              </a:spcBef>
            </a:pPr>
            <a:r>
              <a:rPr lang="en-US" sz="4000" dirty="0">
                <a:solidFill>
                  <a:schemeClr val="tx2"/>
                </a:solidFill>
                <a:latin typeface="Times New Roman" pitchFamily="18" charset="0"/>
                <a:ea typeface="+mj-ea"/>
                <a:cs typeface="Times New Roman" pitchFamily="18" charset="0"/>
              </a:rPr>
              <a:t>Timestamp-Based Protocol</a:t>
            </a:r>
            <a:endParaRPr lang="en-IN" sz="4000" dirty="0">
              <a:solidFill>
                <a:schemeClr val="tx2"/>
              </a:solidFill>
              <a:latin typeface="Times New Roman" pitchFamily="18" charset="0"/>
              <a:ea typeface="+mj-ea"/>
              <a:cs typeface="Times New Roman" pitchFamily="18" charset="0"/>
            </a:endParaRPr>
          </a:p>
        </p:txBody>
      </p:sp>
    </p:spTree>
    <p:extLst>
      <p:ext uri="{BB962C8B-B14F-4D97-AF65-F5344CB8AC3E}">
        <p14:creationId xmlns:p14="http://schemas.microsoft.com/office/powerpoint/2010/main" val="367168698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1"/>
          <p:cNvSpPr>
            <a:spLocks noGrp="1" noChangeArrowheads="1"/>
          </p:cNvSpPr>
          <p:nvPr>
            <p:ph idx="1"/>
          </p:nvPr>
        </p:nvSpPr>
        <p:spPr>
          <a:xfrm>
            <a:off x="179512" y="1447800"/>
            <a:ext cx="8784976" cy="4717504"/>
          </a:xfrm>
        </p:spPr>
        <p:txBody>
          <a:bodyPr/>
          <a:lstStyle/>
          <a:p>
            <a:pPr eaLnBrk="1" hangingPunct="1">
              <a:lnSpc>
                <a:spcPct val="90000"/>
              </a:lnSpc>
              <a:buFont typeface="Wingdings" pitchFamily="2" charset="2"/>
              <a:buNone/>
            </a:pPr>
            <a:r>
              <a:rPr lang="en-US" dirty="0"/>
              <a:t>Timestamp based concurrency control algorithm</a:t>
            </a:r>
          </a:p>
          <a:p>
            <a:pPr eaLnBrk="1" hangingPunct="1">
              <a:lnSpc>
                <a:spcPct val="90000"/>
              </a:lnSpc>
            </a:pPr>
            <a:r>
              <a:rPr lang="en-US" b="1" dirty="0">
                <a:solidFill>
                  <a:srgbClr val="FF0000"/>
                </a:solidFill>
                <a:latin typeface="Times New Roman" panose="02020603050405020304" pitchFamily="18" charset="0"/>
                <a:cs typeface="Times New Roman" panose="02020603050405020304" pitchFamily="18" charset="0"/>
              </a:rPr>
              <a:t>Thomas’s Write Rule</a:t>
            </a:r>
          </a:p>
          <a:p>
            <a:pPr lvl="1" algn="just" eaLnBrk="1" hangingPunct="1">
              <a:lnSpc>
                <a:spcPct val="90000"/>
              </a:lnSpc>
            </a:pPr>
            <a:r>
              <a:rPr lang="en-US" sz="2600" dirty="0">
                <a:latin typeface="Times New Roman" panose="02020603050405020304" pitchFamily="18" charset="0"/>
                <a:cs typeface="Times New Roman" panose="02020603050405020304" pitchFamily="18" charset="0"/>
                <a:sym typeface="Symbol" pitchFamily="18" charset="2"/>
              </a:rPr>
              <a:t>If </a:t>
            </a:r>
            <a:r>
              <a:rPr lang="en-US" sz="2600" b="1" dirty="0" err="1">
                <a:solidFill>
                  <a:srgbClr val="FF0000"/>
                </a:solidFill>
                <a:latin typeface="Times New Roman" panose="02020603050405020304" pitchFamily="18" charset="0"/>
                <a:cs typeface="Times New Roman" panose="02020603050405020304" pitchFamily="18" charset="0"/>
                <a:sym typeface="Symbol" pitchFamily="18" charset="2"/>
              </a:rPr>
              <a:t>read_TS</a:t>
            </a:r>
            <a:r>
              <a:rPr lang="en-US" sz="2600" b="1" dirty="0">
                <a:solidFill>
                  <a:srgbClr val="FF0000"/>
                </a:solidFill>
                <a:latin typeface="Times New Roman" panose="02020603050405020304" pitchFamily="18" charset="0"/>
                <a:cs typeface="Times New Roman" panose="02020603050405020304" pitchFamily="18" charset="0"/>
                <a:sym typeface="Symbol" pitchFamily="18" charset="2"/>
              </a:rPr>
              <a:t>(X)</a:t>
            </a:r>
            <a:r>
              <a:rPr lang="en-US" sz="2600" dirty="0">
                <a:solidFill>
                  <a:srgbClr val="FF0000"/>
                </a:solidFill>
                <a:latin typeface="Times New Roman" panose="02020603050405020304" pitchFamily="18" charset="0"/>
                <a:cs typeface="Times New Roman" panose="02020603050405020304" pitchFamily="18" charset="0"/>
                <a:sym typeface="Symbol" pitchFamily="18" charset="2"/>
              </a:rPr>
              <a:t> &gt; TS(T) </a:t>
            </a:r>
            <a:r>
              <a:rPr lang="en-US" sz="2600" dirty="0">
                <a:latin typeface="Times New Roman" panose="02020603050405020304" pitchFamily="18" charset="0"/>
                <a:cs typeface="Times New Roman" panose="02020603050405020304" pitchFamily="18" charset="0"/>
                <a:sym typeface="Symbol" pitchFamily="18" charset="2"/>
              </a:rPr>
              <a:t>then abort and roll-back T and reject the operation.</a:t>
            </a:r>
          </a:p>
          <a:p>
            <a:pPr lvl="1" algn="just" eaLnBrk="1" hangingPunct="1">
              <a:lnSpc>
                <a:spcPct val="90000"/>
              </a:lnSpc>
            </a:pPr>
            <a:r>
              <a:rPr lang="en-US" sz="2600" dirty="0">
                <a:latin typeface="Times New Roman" panose="02020603050405020304" pitchFamily="18" charset="0"/>
                <a:cs typeface="Times New Roman" panose="02020603050405020304" pitchFamily="18" charset="0"/>
                <a:sym typeface="Symbol" pitchFamily="18" charset="2"/>
              </a:rPr>
              <a:t>If </a:t>
            </a:r>
            <a:r>
              <a:rPr lang="en-US" sz="2600" b="1" dirty="0" err="1">
                <a:solidFill>
                  <a:srgbClr val="FF0000"/>
                </a:solidFill>
                <a:latin typeface="Times New Roman" panose="02020603050405020304" pitchFamily="18" charset="0"/>
                <a:cs typeface="Times New Roman" panose="02020603050405020304" pitchFamily="18" charset="0"/>
                <a:sym typeface="Symbol" pitchFamily="18" charset="2"/>
              </a:rPr>
              <a:t>write_TS</a:t>
            </a:r>
            <a:r>
              <a:rPr lang="en-US" sz="2600" b="1" dirty="0">
                <a:solidFill>
                  <a:srgbClr val="FF0000"/>
                </a:solidFill>
                <a:latin typeface="Times New Roman" panose="02020603050405020304" pitchFamily="18" charset="0"/>
                <a:cs typeface="Times New Roman" panose="02020603050405020304" pitchFamily="18" charset="0"/>
                <a:sym typeface="Symbol" pitchFamily="18" charset="2"/>
              </a:rPr>
              <a:t>(X)</a:t>
            </a:r>
            <a:r>
              <a:rPr lang="en-US" sz="2600" dirty="0">
                <a:solidFill>
                  <a:srgbClr val="FF0000"/>
                </a:solidFill>
                <a:latin typeface="Times New Roman" panose="02020603050405020304" pitchFamily="18" charset="0"/>
                <a:cs typeface="Times New Roman" panose="02020603050405020304" pitchFamily="18" charset="0"/>
                <a:sym typeface="Symbol" pitchFamily="18" charset="2"/>
              </a:rPr>
              <a:t> &gt; TS(T), </a:t>
            </a:r>
            <a:r>
              <a:rPr lang="en-US" sz="2600" dirty="0">
                <a:latin typeface="Times New Roman" panose="02020603050405020304" pitchFamily="18" charset="0"/>
                <a:cs typeface="Times New Roman" panose="02020603050405020304" pitchFamily="18" charset="0"/>
                <a:sym typeface="Symbol" pitchFamily="18" charset="2"/>
              </a:rPr>
              <a:t>then just ignore the write operation and continue execution.  This is because the most recent writes counts in case of two consecutive writes.</a:t>
            </a:r>
          </a:p>
          <a:p>
            <a:pPr lvl="1" algn="just" eaLnBrk="1" hangingPunct="1">
              <a:lnSpc>
                <a:spcPct val="90000"/>
              </a:lnSpc>
            </a:pPr>
            <a:r>
              <a:rPr lang="en-US" sz="2600" b="1" dirty="0">
                <a:solidFill>
                  <a:srgbClr val="FF0000"/>
                </a:solidFill>
                <a:latin typeface="Times New Roman" panose="02020603050405020304" pitchFamily="18" charset="0"/>
                <a:cs typeface="Times New Roman" panose="02020603050405020304" pitchFamily="18" charset="0"/>
                <a:sym typeface="Symbol" pitchFamily="18" charset="2"/>
              </a:rPr>
              <a:t>Otherwise</a:t>
            </a:r>
            <a:r>
              <a:rPr lang="en-US" sz="2600" dirty="0">
                <a:latin typeface="Times New Roman" panose="02020603050405020304" pitchFamily="18" charset="0"/>
                <a:cs typeface="Times New Roman" panose="02020603050405020304" pitchFamily="18" charset="0"/>
                <a:sym typeface="Symbol" pitchFamily="18" charset="2"/>
              </a:rPr>
              <a:t> (If the conditions given in 1 and 2 above do not occur,) then execute </a:t>
            </a:r>
            <a:r>
              <a:rPr lang="en-US" sz="2600" dirty="0" err="1">
                <a:latin typeface="Times New Roman" panose="02020603050405020304" pitchFamily="18" charset="0"/>
                <a:cs typeface="Times New Roman" panose="02020603050405020304" pitchFamily="18" charset="0"/>
                <a:sym typeface="Symbol" pitchFamily="18" charset="2"/>
              </a:rPr>
              <a:t>write_item</a:t>
            </a:r>
            <a:r>
              <a:rPr lang="en-US" sz="2600" dirty="0">
                <a:latin typeface="Times New Roman" panose="02020603050405020304" pitchFamily="18" charset="0"/>
                <a:cs typeface="Times New Roman" panose="02020603050405020304" pitchFamily="18" charset="0"/>
                <a:sym typeface="Symbol" pitchFamily="18" charset="2"/>
              </a:rPr>
              <a:t>(X) of T and set </a:t>
            </a:r>
            <a:r>
              <a:rPr lang="en-US" sz="2600" dirty="0" err="1">
                <a:latin typeface="Times New Roman" panose="02020603050405020304" pitchFamily="18" charset="0"/>
                <a:cs typeface="Times New Roman" panose="02020603050405020304" pitchFamily="18" charset="0"/>
                <a:sym typeface="Symbol" pitchFamily="18" charset="2"/>
              </a:rPr>
              <a:t>write_TS</a:t>
            </a:r>
            <a:r>
              <a:rPr lang="en-US" sz="2600" dirty="0">
                <a:latin typeface="Times New Roman" panose="02020603050405020304" pitchFamily="18" charset="0"/>
                <a:cs typeface="Times New Roman" panose="02020603050405020304" pitchFamily="18" charset="0"/>
                <a:sym typeface="Symbol" pitchFamily="18" charset="2"/>
              </a:rPr>
              <a:t>(X) to TS(T).</a:t>
            </a:r>
            <a:endParaRPr lang="en-US" sz="2600" dirty="0">
              <a:latin typeface="Times New Roman" panose="02020603050405020304" pitchFamily="18" charset="0"/>
              <a:cs typeface="Times New Roman" panose="02020603050405020304" pitchFamily="18" charset="0"/>
            </a:endParaRPr>
          </a:p>
        </p:txBody>
      </p:sp>
      <p:sp>
        <p:nvSpPr>
          <p:cNvPr id="34818" name="Slide Number Placeholder 3"/>
          <p:cNvSpPr>
            <a:spLocks noGrp="1"/>
          </p:cNvSpPr>
          <p:nvPr>
            <p:ph type="sldNum" sz="quarter" idx="12"/>
          </p:nvPr>
        </p:nvSpPr>
        <p:spPr>
          <a:noFill/>
        </p:spPr>
        <p:txBody>
          <a:bodyPr/>
          <a:lstStyle/>
          <a:p>
            <a:r>
              <a:rPr lang="en-US"/>
              <a:t>Slide 18- </a:t>
            </a:r>
            <a:fld id="{87C19F2D-2D4D-41FA-94D0-B8A6C86391EB}" type="slidenum">
              <a:rPr lang="en-US" smtClean="0"/>
              <a:pPr/>
              <a:t>59</a:t>
            </a:fld>
            <a:endParaRPr lang="en-CA"/>
          </a:p>
        </p:txBody>
      </p:sp>
      <p:sp>
        <p:nvSpPr>
          <p:cNvPr id="6" name="Rectangle 5"/>
          <p:cNvSpPr/>
          <p:nvPr/>
        </p:nvSpPr>
        <p:spPr>
          <a:xfrm>
            <a:off x="971600" y="338753"/>
            <a:ext cx="5767541" cy="707886"/>
          </a:xfrm>
          <a:prstGeom prst="rect">
            <a:avLst/>
          </a:prstGeom>
        </p:spPr>
        <p:txBody>
          <a:bodyPr wrap="none">
            <a:spAutoFit/>
          </a:bodyPr>
          <a:lstStyle/>
          <a:p>
            <a:pPr>
              <a:spcBef>
                <a:spcPct val="0"/>
              </a:spcBef>
            </a:pPr>
            <a:r>
              <a:rPr lang="en-US" sz="4000" dirty="0">
                <a:solidFill>
                  <a:schemeClr val="tx2"/>
                </a:solidFill>
                <a:latin typeface="Times New Roman" pitchFamily="18" charset="0"/>
                <a:ea typeface="+mj-ea"/>
                <a:cs typeface="Times New Roman" pitchFamily="18" charset="0"/>
              </a:rPr>
              <a:t>Timestamp-Based Protocol</a:t>
            </a:r>
            <a:endParaRPr lang="en-IN" sz="4000" dirty="0">
              <a:solidFill>
                <a:schemeClr val="tx2"/>
              </a:solidFill>
              <a:latin typeface="Times New Roman" pitchFamily="18" charset="0"/>
              <a:ea typeface="+mj-ea"/>
              <a:cs typeface="Times New Roman" pitchFamily="18" charset="0"/>
            </a:endParaRPr>
          </a:p>
        </p:txBody>
      </p:sp>
    </p:spTree>
    <p:extLst>
      <p:ext uri="{BB962C8B-B14F-4D97-AF65-F5344CB8AC3E}">
        <p14:creationId xmlns:p14="http://schemas.microsoft.com/office/powerpoint/2010/main" val="192161215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685800" y="0"/>
            <a:ext cx="7772400" cy="1143000"/>
          </a:xfrm>
          <a:prstGeom prst="rect">
            <a:avLst/>
          </a:prstGeom>
        </p:spPr>
        <p:txBody>
          <a:bodyPr wrap="none">
            <a:spAutoFit/>
          </a:bodyPr>
          <a:lstStyle/>
          <a:p>
            <a:pPr>
              <a:spcBef>
                <a:spcPct val="0"/>
              </a:spcBef>
            </a:pPr>
            <a:r>
              <a:rPr lang="en-US" sz="4000" dirty="0">
                <a:solidFill>
                  <a:schemeClr val="tx2"/>
                </a:solidFill>
                <a:latin typeface="Times New Roman" pitchFamily="18" charset="0"/>
                <a:ea typeface="+mj-ea"/>
                <a:cs typeface="Times New Roman" pitchFamily="18" charset="0"/>
              </a:rPr>
              <a:t>Timestamp-Based Protocol</a:t>
            </a:r>
            <a:endParaRPr lang="en-IN" sz="4000" dirty="0">
              <a:solidFill>
                <a:schemeClr val="tx2"/>
              </a:solidFill>
              <a:latin typeface="Times New Roman" pitchFamily="18" charset="0"/>
              <a:ea typeface="+mj-ea"/>
              <a:cs typeface="Times New Roman" pitchFamily="18" charset="0"/>
            </a:endParaRPr>
          </a:p>
        </p:txBody>
      </p:sp>
      <p:sp>
        <p:nvSpPr>
          <p:cNvPr id="35844" name="Rectangle 12"/>
          <p:cNvSpPr>
            <a:spLocks noGrp="1" noChangeArrowheads="1"/>
          </p:cNvSpPr>
          <p:nvPr>
            <p:ph idx="1"/>
          </p:nvPr>
        </p:nvSpPr>
        <p:spPr/>
        <p:txBody>
          <a:bodyPr/>
          <a:lstStyle/>
          <a:p>
            <a:pPr eaLnBrk="1" hangingPunct="1">
              <a:lnSpc>
                <a:spcPct val="90000"/>
              </a:lnSpc>
              <a:buFont typeface="Wingdings" pitchFamily="2" charset="2"/>
              <a:buNone/>
            </a:pPr>
            <a:r>
              <a:rPr lang="en-US" b="1" dirty="0">
                <a:solidFill>
                  <a:srgbClr val="FF0000"/>
                </a:solidFill>
                <a:latin typeface="Times New Roman" panose="02020603050405020304" pitchFamily="18" charset="0"/>
                <a:cs typeface="Times New Roman" panose="02020603050405020304" pitchFamily="18" charset="0"/>
              </a:rPr>
              <a:t>Multi version concurrency control techniques:</a:t>
            </a:r>
          </a:p>
          <a:p>
            <a:pPr lvl="1" algn="just" eaLnBrk="1" hangingPunct="1">
              <a:lnSpc>
                <a:spcPct val="90000"/>
              </a:lnSpc>
            </a:pPr>
            <a:r>
              <a:rPr lang="en-US" sz="2600" dirty="0">
                <a:latin typeface="Times New Roman" panose="02020603050405020304" pitchFamily="18" charset="0"/>
                <a:cs typeface="Times New Roman" panose="02020603050405020304" pitchFamily="18" charset="0"/>
              </a:rPr>
              <a:t>This approach maintains a number of versions of a data item and allocates the right version to a read operation of a transaction.  Thus unlike other mechanisms a read operation in this mechanism is never rejected.</a:t>
            </a:r>
          </a:p>
          <a:p>
            <a:pPr lvl="1" algn="just" eaLnBrk="1" hangingPunct="1">
              <a:lnSpc>
                <a:spcPct val="90000"/>
              </a:lnSpc>
            </a:pPr>
            <a:r>
              <a:rPr lang="en-US" sz="2600" b="1" dirty="0">
                <a:latin typeface="Times New Roman" panose="02020603050405020304" pitchFamily="18" charset="0"/>
                <a:cs typeface="Times New Roman" panose="02020603050405020304" pitchFamily="18" charset="0"/>
              </a:rPr>
              <a:t>Side effect:</a:t>
            </a:r>
          </a:p>
          <a:p>
            <a:pPr lvl="2" algn="just" eaLnBrk="1" hangingPunct="1">
              <a:lnSpc>
                <a:spcPct val="90000"/>
              </a:lnSpc>
            </a:pPr>
            <a:r>
              <a:rPr lang="en-US" sz="2600" dirty="0">
                <a:latin typeface="Times New Roman" panose="02020603050405020304" pitchFamily="18" charset="0"/>
                <a:cs typeface="Times New Roman" panose="02020603050405020304" pitchFamily="18" charset="0"/>
              </a:rPr>
              <a:t>Significantly more storage (RAM and disk) is required to maintain multiple versions.  To check unlimited growth of versions, a garbage collection is run when some criteria is satisfied.</a:t>
            </a:r>
          </a:p>
        </p:txBody>
      </p:sp>
      <p:sp>
        <p:nvSpPr>
          <p:cNvPr id="35845" name="Rectangle 4"/>
          <p:cNvSpPr>
            <a:spLocks noChangeArrowheads="1"/>
          </p:cNvSpPr>
          <p:nvPr/>
        </p:nvSpPr>
        <p:spPr bwMode="auto">
          <a:xfrm>
            <a:off x="685800" y="1020763"/>
            <a:ext cx="7772400" cy="1387475"/>
          </a:xfrm>
          <a:prstGeom prst="rect">
            <a:avLst/>
          </a:prstGeom>
          <a:noFill/>
          <a:ln w="9525">
            <a:noFill/>
            <a:miter lim="800000"/>
            <a:headEnd/>
            <a:tailEnd/>
          </a:ln>
        </p:spPr>
        <p:txBody>
          <a:bodyPr/>
          <a:lstStyle/>
          <a:p>
            <a:pPr marL="914400" indent="-914400">
              <a:spcBef>
                <a:spcPct val="20000"/>
              </a:spcBef>
              <a:buClr>
                <a:srgbClr val="990033"/>
              </a:buClr>
              <a:buSzPct val="60000"/>
              <a:buFont typeface="Wingdings" pitchFamily="2" charset="2"/>
              <a:buNone/>
            </a:pPr>
            <a:r>
              <a:rPr lang="en-US" sz="1800" b="1" dirty="0">
                <a:solidFill>
                  <a:schemeClr val="tx2"/>
                </a:solidFill>
              </a:rPr>
              <a:t>	</a:t>
            </a:r>
            <a:endParaRPr lang="en-US" sz="1800" b="1" dirty="0">
              <a:solidFill>
                <a:schemeClr val="tx2"/>
              </a:solidFill>
              <a:cs typeface="Times New Roman" pitchFamily="18" charset="0"/>
            </a:endParaRPr>
          </a:p>
          <a:p>
            <a:pPr marL="914400" indent="-914400">
              <a:spcBef>
                <a:spcPct val="20000"/>
              </a:spcBef>
              <a:buClr>
                <a:srgbClr val="990033"/>
              </a:buClr>
              <a:buSzPct val="60000"/>
              <a:buFont typeface="Wingdings" pitchFamily="2" charset="2"/>
              <a:buNone/>
            </a:pPr>
            <a:endParaRPr lang="en-US" sz="1800" b="1" dirty="0">
              <a:solidFill>
                <a:schemeClr val="tx2"/>
              </a:solidFill>
            </a:endParaRPr>
          </a:p>
          <a:p>
            <a:pPr marL="914400" indent="-914400">
              <a:spcBef>
                <a:spcPct val="20000"/>
              </a:spcBef>
              <a:buClr>
                <a:srgbClr val="990033"/>
              </a:buClr>
              <a:buSzPct val="60000"/>
              <a:buFont typeface="Wingdings" pitchFamily="2" charset="2"/>
              <a:buNone/>
            </a:pPr>
            <a:r>
              <a:rPr lang="en-US" sz="1800" b="1" dirty="0">
                <a:solidFill>
                  <a:schemeClr val="tx2"/>
                </a:solidFill>
              </a:rPr>
              <a:t>	</a:t>
            </a:r>
          </a:p>
        </p:txBody>
      </p:sp>
      <p:sp>
        <p:nvSpPr>
          <p:cNvPr id="2" name="Slide Number Placeholder 1">
            <a:extLst>
              <a:ext uri="{FF2B5EF4-FFF2-40B4-BE49-F238E27FC236}">
                <a16:creationId xmlns:a16="http://schemas.microsoft.com/office/drawing/2014/main" id="{A1B41A18-26C4-3F70-7A72-3044F46C38AA}"/>
              </a:ext>
            </a:extLst>
          </p:cNvPr>
          <p:cNvSpPr>
            <a:spLocks noGrp="1"/>
          </p:cNvSpPr>
          <p:nvPr>
            <p:ph type="sldNum" sz="quarter" idx="12"/>
          </p:nvPr>
        </p:nvSpPr>
        <p:spPr/>
        <p:txBody>
          <a:bodyPr/>
          <a:lstStyle/>
          <a:p>
            <a:fld id="{F8EF2FF5-BD00-45B8-A71A-EAE2607F0774}" type="slidenum">
              <a:rPr lang="en-IN" smtClean="0"/>
              <a:t>60</a:t>
            </a:fld>
            <a:endParaRPr lang="en-IN"/>
          </a:p>
        </p:txBody>
      </p:sp>
    </p:spTree>
    <p:extLst>
      <p:ext uri="{BB962C8B-B14F-4D97-AF65-F5344CB8AC3E}">
        <p14:creationId xmlns:p14="http://schemas.microsoft.com/office/powerpoint/2010/main" val="368500375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706090"/>
          </a:xfrm>
        </p:spPr>
        <p:txBody>
          <a:bodyPr>
            <a:normAutofit fontScale="90000"/>
          </a:bodyPr>
          <a:lstStyle/>
          <a:p>
            <a:r>
              <a:rPr lang="en-US" dirty="0">
                <a:latin typeface="Times New Roman" pitchFamily="18" charset="0"/>
                <a:cs typeface="Times New Roman" pitchFamily="18" charset="0"/>
              </a:rPr>
              <a:t>Timestamp-Based Protocol</a:t>
            </a:r>
            <a:endParaRPr lang="en-IN" dirty="0"/>
          </a:p>
        </p:txBody>
      </p:sp>
      <p:sp>
        <p:nvSpPr>
          <p:cNvPr id="36868" name="Rectangle 14"/>
          <p:cNvSpPr>
            <a:spLocks noGrp="1" noChangeArrowheads="1"/>
          </p:cNvSpPr>
          <p:nvPr>
            <p:ph idx="1"/>
          </p:nvPr>
        </p:nvSpPr>
        <p:spPr>
          <a:xfrm>
            <a:off x="914400" y="1447800"/>
            <a:ext cx="7772400" cy="5077544"/>
          </a:xfrm>
        </p:spPr>
        <p:txBody>
          <a:bodyPr>
            <a:noAutofit/>
          </a:bodyPr>
          <a:lstStyle/>
          <a:p>
            <a:pPr algn="just" eaLnBrk="1" hangingPunct="1">
              <a:buFont typeface="Wingdings" pitchFamily="2" charset="2"/>
              <a:buNone/>
            </a:pPr>
            <a:r>
              <a:rPr lang="en-US" b="1" dirty="0" err="1">
                <a:solidFill>
                  <a:srgbClr val="FF0000"/>
                </a:solidFill>
                <a:latin typeface="Times New Roman" panose="02020603050405020304" pitchFamily="18" charset="0"/>
                <a:cs typeface="Times New Roman" panose="02020603050405020304" pitchFamily="18" charset="0"/>
              </a:rPr>
              <a:t>Multiversion</a:t>
            </a:r>
            <a:r>
              <a:rPr lang="en-US" b="1" dirty="0">
                <a:solidFill>
                  <a:srgbClr val="FF0000"/>
                </a:solidFill>
                <a:latin typeface="Times New Roman" panose="02020603050405020304" pitchFamily="18" charset="0"/>
                <a:cs typeface="Times New Roman" panose="02020603050405020304" pitchFamily="18" charset="0"/>
              </a:rPr>
              <a:t> technique based on timestamp ordering</a:t>
            </a:r>
          </a:p>
          <a:p>
            <a:pPr lvl="1" algn="just" eaLnBrk="1" hangingPunct="1"/>
            <a:r>
              <a:rPr lang="en-US" sz="2600" dirty="0">
                <a:latin typeface="Times New Roman" panose="02020603050405020304" pitchFamily="18" charset="0"/>
                <a:cs typeface="Times New Roman" panose="02020603050405020304" pitchFamily="18" charset="0"/>
              </a:rPr>
              <a:t>Assume X1, X2, …, </a:t>
            </a:r>
            <a:r>
              <a:rPr lang="en-US" sz="2600" dirty="0" err="1">
                <a:latin typeface="Times New Roman" panose="02020603050405020304" pitchFamily="18" charset="0"/>
                <a:cs typeface="Times New Roman" panose="02020603050405020304" pitchFamily="18" charset="0"/>
              </a:rPr>
              <a:t>Xn</a:t>
            </a:r>
            <a:r>
              <a:rPr lang="en-US" sz="2600" dirty="0">
                <a:latin typeface="Times New Roman" panose="02020603050405020304" pitchFamily="18" charset="0"/>
                <a:cs typeface="Times New Roman" panose="02020603050405020304" pitchFamily="18" charset="0"/>
              </a:rPr>
              <a:t> are the version of a data item X created by a write operation of transactions.  With each Xi a </a:t>
            </a:r>
            <a:r>
              <a:rPr lang="en-US" sz="2600" dirty="0" err="1">
                <a:latin typeface="Times New Roman" panose="02020603050405020304" pitchFamily="18" charset="0"/>
                <a:cs typeface="Times New Roman" panose="02020603050405020304" pitchFamily="18" charset="0"/>
              </a:rPr>
              <a:t>read_TS</a:t>
            </a:r>
            <a:r>
              <a:rPr lang="en-US" sz="2600" dirty="0">
                <a:latin typeface="Times New Roman" panose="02020603050405020304" pitchFamily="18" charset="0"/>
                <a:cs typeface="Times New Roman" panose="02020603050405020304" pitchFamily="18" charset="0"/>
              </a:rPr>
              <a:t> (read timestamp) and a </a:t>
            </a:r>
            <a:r>
              <a:rPr lang="en-US" sz="2600" dirty="0" err="1">
                <a:latin typeface="Times New Roman" panose="02020603050405020304" pitchFamily="18" charset="0"/>
                <a:cs typeface="Times New Roman" panose="02020603050405020304" pitchFamily="18" charset="0"/>
              </a:rPr>
              <a:t>write_TS</a:t>
            </a:r>
            <a:r>
              <a:rPr lang="en-US" sz="2600" dirty="0">
                <a:latin typeface="Times New Roman" panose="02020603050405020304" pitchFamily="18" charset="0"/>
                <a:cs typeface="Times New Roman" panose="02020603050405020304" pitchFamily="18" charset="0"/>
              </a:rPr>
              <a:t> (write timestamp) are associated.</a:t>
            </a:r>
          </a:p>
          <a:p>
            <a:pPr lvl="1" algn="just" eaLnBrk="1" hangingPunct="1"/>
            <a:r>
              <a:rPr lang="en-US" sz="2600" b="1" dirty="0" err="1">
                <a:latin typeface="Times New Roman" panose="02020603050405020304" pitchFamily="18" charset="0"/>
                <a:cs typeface="Times New Roman" panose="02020603050405020304" pitchFamily="18" charset="0"/>
              </a:rPr>
              <a:t>read_TS</a:t>
            </a:r>
            <a:r>
              <a:rPr lang="en-US" sz="2600" b="1" dirty="0">
                <a:latin typeface="Times New Roman" panose="02020603050405020304" pitchFamily="18" charset="0"/>
                <a:cs typeface="Times New Roman" panose="02020603050405020304" pitchFamily="18" charset="0"/>
              </a:rPr>
              <a:t>(Xi)</a:t>
            </a:r>
            <a:r>
              <a:rPr lang="en-US" sz="2600" dirty="0">
                <a:latin typeface="Times New Roman" panose="02020603050405020304" pitchFamily="18" charset="0"/>
                <a:cs typeface="Times New Roman" panose="02020603050405020304" pitchFamily="18" charset="0"/>
              </a:rPr>
              <a:t>:  The read timestamp of Xi is the largest of all the timestamps of transactions that have successfully read version Xi.</a:t>
            </a:r>
          </a:p>
          <a:p>
            <a:pPr lvl="1" algn="just" eaLnBrk="1" hangingPunct="1"/>
            <a:r>
              <a:rPr lang="en-US" sz="2600" b="1" dirty="0" err="1">
                <a:latin typeface="Times New Roman" panose="02020603050405020304" pitchFamily="18" charset="0"/>
                <a:cs typeface="Times New Roman" panose="02020603050405020304" pitchFamily="18" charset="0"/>
              </a:rPr>
              <a:t>write_TS</a:t>
            </a:r>
            <a:r>
              <a:rPr lang="en-US" sz="2600" b="1" dirty="0">
                <a:latin typeface="Times New Roman" panose="02020603050405020304" pitchFamily="18" charset="0"/>
                <a:cs typeface="Times New Roman" panose="02020603050405020304" pitchFamily="18" charset="0"/>
              </a:rPr>
              <a:t>(Xi)</a:t>
            </a:r>
            <a:r>
              <a:rPr lang="en-US" sz="2600" dirty="0">
                <a:latin typeface="Times New Roman" panose="02020603050405020304" pitchFamily="18" charset="0"/>
                <a:cs typeface="Times New Roman" panose="02020603050405020304" pitchFamily="18" charset="0"/>
              </a:rPr>
              <a:t>:  The write timestamp of Xi that wrote the value of version Xi. A new version of Xi is created only by a write operation.</a:t>
            </a:r>
          </a:p>
        </p:txBody>
      </p:sp>
      <p:sp>
        <p:nvSpPr>
          <p:cNvPr id="3" name="Slide Number Placeholder 2">
            <a:extLst>
              <a:ext uri="{FF2B5EF4-FFF2-40B4-BE49-F238E27FC236}">
                <a16:creationId xmlns:a16="http://schemas.microsoft.com/office/drawing/2014/main" id="{E42F2114-D7FF-47CD-9541-1E0F450ED9F3}"/>
              </a:ext>
            </a:extLst>
          </p:cNvPr>
          <p:cNvSpPr>
            <a:spLocks noGrp="1"/>
          </p:cNvSpPr>
          <p:nvPr>
            <p:ph type="sldNum" sz="quarter" idx="12"/>
          </p:nvPr>
        </p:nvSpPr>
        <p:spPr/>
        <p:txBody>
          <a:bodyPr/>
          <a:lstStyle/>
          <a:p>
            <a:fld id="{F8EF2FF5-BD00-45B8-A71A-EAE2607F0774}" type="slidenum">
              <a:rPr lang="en-IN" smtClean="0"/>
              <a:t>61</a:t>
            </a:fld>
            <a:endParaRPr lang="en-IN"/>
          </a:p>
        </p:txBody>
      </p:sp>
    </p:spTree>
    <p:extLst>
      <p:ext uri="{BB962C8B-B14F-4D97-AF65-F5344CB8AC3E}">
        <p14:creationId xmlns:p14="http://schemas.microsoft.com/office/powerpoint/2010/main" val="403894244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13"/>
          <p:cNvSpPr>
            <a:spLocks noGrp="1" noChangeArrowheads="1"/>
          </p:cNvSpPr>
          <p:nvPr>
            <p:ph type="title"/>
          </p:nvPr>
        </p:nvSpPr>
        <p:spPr>
          <a:xfrm>
            <a:off x="914400" y="274638"/>
            <a:ext cx="7772400" cy="744537"/>
          </a:xfrm>
        </p:spPr>
        <p:txBody>
          <a:bodyPr>
            <a:normAutofit fontScale="90000"/>
          </a:bodyPr>
          <a:lstStyle/>
          <a:p>
            <a:r>
              <a:rPr lang="en-US" dirty="0">
                <a:latin typeface="Times New Roman" pitchFamily="18" charset="0"/>
                <a:cs typeface="Times New Roman" pitchFamily="18" charset="0"/>
              </a:rPr>
              <a:t>Timestamp-Based Protocol</a:t>
            </a:r>
            <a:endParaRPr lang="en-US" dirty="0"/>
          </a:p>
        </p:txBody>
      </p:sp>
      <p:sp>
        <p:nvSpPr>
          <p:cNvPr id="37892" name="Rectangle 14"/>
          <p:cNvSpPr>
            <a:spLocks noGrp="1" noChangeArrowheads="1"/>
          </p:cNvSpPr>
          <p:nvPr>
            <p:ph idx="1"/>
          </p:nvPr>
        </p:nvSpPr>
        <p:spPr>
          <a:xfrm>
            <a:off x="181608" y="1019174"/>
            <a:ext cx="8820472" cy="6010225"/>
          </a:xfrm>
        </p:spPr>
        <p:txBody>
          <a:bodyPr>
            <a:noAutofit/>
          </a:bodyPr>
          <a:lstStyle/>
          <a:p>
            <a:pPr eaLnBrk="1" hangingPunct="1">
              <a:lnSpc>
                <a:spcPct val="90000"/>
              </a:lnSpc>
              <a:buFont typeface="Wingdings" pitchFamily="2" charset="2"/>
              <a:buNone/>
            </a:pPr>
            <a:r>
              <a:rPr lang="en-US" dirty="0" err="1">
                <a:latin typeface="Times New Roman" panose="02020603050405020304" pitchFamily="18" charset="0"/>
                <a:cs typeface="Times New Roman" panose="02020603050405020304" pitchFamily="18" charset="0"/>
              </a:rPr>
              <a:t>Multiversion</a:t>
            </a:r>
            <a:r>
              <a:rPr lang="en-US" dirty="0">
                <a:latin typeface="Times New Roman" panose="02020603050405020304" pitchFamily="18" charset="0"/>
                <a:cs typeface="Times New Roman" panose="02020603050405020304" pitchFamily="18" charset="0"/>
              </a:rPr>
              <a:t> technique based on timestamp ordering</a:t>
            </a:r>
          </a:p>
          <a:p>
            <a:pPr lvl="1" eaLnBrk="1" hangingPunct="1">
              <a:lnSpc>
                <a:spcPct val="90000"/>
              </a:lnSpc>
            </a:pPr>
            <a:r>
              <a:rPr lang="en-US" sz="2600" dirty="0">
                <a:solidFill>
                  <a:srgbClr val="FF0000"/>
                </a:solidFill>
                <a:latin typeface="Times New Roman" panose="02020603050405020304" pitchFamily="18" charset="0"/>
                <a:cs typeface="Times New Roman" panose="02020603050405020304" pitchFamily="18" charset="0"/>
              </a:rPr>
              <a:t>To ensure serializability, the following two rules are used.</a:t>
            </a:r>
          </a:p>
          <a:p>
            <a:pPr marL="725488" lvl="2" algn="just">
              <a:lnSpc>
                <a:spcPct val="90000"/>
              </a:lnSpc>
            </a:pPr>
            <a:r>
              <a:rPr lang="en-US" sz="2600" dirty="0">
                <a:latin typeface="Times New Roman" panose="02020603050405020304" pitchFamily="18" charset="0"/>
                <a:cs typeface="Times New Roman" panose="02020603050405020304" pitchFamily="18" charset="0"/>
              </a:rPr>
              <a:t>If transaction T issues </a:t>
            </a:r>
            <a:r>
              <a:rPr lang="en-US" sz="2600" dirty="0" err="1">
                <a:latin typeface="Times New Roman" panose="02020603050405020304" pitchFamily="18" charset="0"/>
                <a:cs typeface="Times New Roman" panose="02020603050405020304" pitchFamily="18" charset="0"/>
              </a:rPr>
              <a:t>write_item</a:t>
            </a:r>
            <a:r>
              <a:rPr lang="en-US" sz="2600" dirty="0">
                <a:latin typeface="Times New Roman" panose="02020603050405020304" pitchFamily="18" charset="0"/>
                <a:cs typeface="Times New Roman" panose="02020603050405020304" pitchFamily="18" charset="0"/>
              </a:rPr>
              <a:t> (X) and version </a:t>
            </a:r>
            <a:r>
              <a:rPr lang="en-US" sz="2600" dirty="0" err="1">
                <a:latin typeface="Times New Roman" panose="02020603050405020304" pitchFamily="18" charset="0"/>
                <a:cs typeface="Times New Roman" panose="02020603050405020304" pitchFamily="18" charset="0"/>
              </a:rPr>
              <a:t>i</a:t>
            </a:r>
            <a:r>
              <a:rPr lang="en-US" sz="2600" dirty="0">
                <a:latin typeface="Times New Roman" panose="02020603050405020304" pitchFamily="18" charset="0"/>
                <a:cs typeface="Times New Roman" panose="02020603050405020304" pitchFamily="18" charset="0"/>
              </a:rPr>
              <a:t> of X has the highest </a:t>
            </a:r>
            <a:r>
              <a:rPr lang="en-US" sz="2600" dirty="0" err="1">
                <a:latin typeface="Times New Roman" panose="02020603050405020304" pitchFamily="18" charset="0"/>
                <a:cs typeface="Times New Roman" panose="02020603050405020304" pitchFamily="18" charset="0"/>
              </a:rPr>
              <a:t>write_TS</a:t>
            </a:r>
            <a:r>
              <a:rPr lang="en-US" sz="2600" dirty="0">
                <a:latin typeface="Times New Roman" panose="02020603050405020304" pitchFamily="18" charset="0"/>
                <a:cs typeface="Times New Roman" panose="02020603050405020304" pitchFamily="18" charset="0"/>
              </a:rPr>
              <a:t>(Xi) of all versions of X that is also less than or equal to TS(T), and read _TS(Xi) &gt; TS(T), then abort and roll-back T; otherwise create a new version </a:t>
            </a:r>
            <a:r>
              <a:rPr lang="en-US" sz="2600" dirty="0" err="1">
                <a:latin typeface="Times New Roman" panose="02020603050405020304" pitchFamily="18" charset="0"/>
                <a:cs typeface="Times New Roman" panose="02020603050405020304" pitchFamily="18" charset="0"/>
              </a:rPr>
              <a:t>Xj</a:t>
            </a:r>
            <a:r>
              <a:rPr lang="en-US" sz="2600" dirty="0">
                <a:latin typeface="Times New Roman" panose="02020603050405020304" pitchFamily="18" charset="0"/>
                <a:cs typeface="Times New Roman" panose="02020603050405020304" pitchFamily="18" charset="0"/>
              </a:rPr>
              <a:t> of X with </a:t>
            </a:r>
            <a:r>
              <a:rPr lang="en-US" sz="2600" dirty="0" err="1">
                <a:solidFill>
                  <a:srgbClr val="FF0000"/>
                </a:solidFill>
                <a:latin typeface="Times New Roman" panose="02020603050405020304" pitchFamily="18" charset="0"/>
                <a:cs typeface="Times New Roman" panose="02020603050405020304" pitchFamily="18" charset="0"/>
              </a:rPr>
              <a:t>read_TS</a:t>
            </a:r>
            <a:r>
              <a:rPr lang="en-US" sz="2600" dirty="0">
                <a:solidFill>
                  <a:srgbClr val="FF0000"/>
                </a:solidFill>
                <a:latin typeface="Times New Roman" panose="02020603050405020304" pitchFamily="18" charset="0"/>
                <a:cs typeface="Times New Roman" panose="02020603050405020304" pitchFamily="18" charset="0"/>
              </a:rPr>
              <a:t>(</a:t>
            </a:r>
            <a:r>
              <a:rPr lang="en-US" sz="2600" dirty="0" err="1">
                <a:solidFill>
                  <a:srgbClr val="FF0000"/>
                </a:solidFill>
                <a:latin typeface="Times New Roman" panose="02020603050405020304" pitchFamily="18" charset="0"/>
                <a:cs typeface="Times New Roman" panose="02020603050405020304" pitchFamily="18" charset="0"/>
              </a:rPr>
              <a:t>Xj</a:t>
            </a:r>
            <a:r>
              <a:rPr lang="en-US" sz="2600" dirty="0">
                <a:solidFill>
                  <a:srgbClr val="FF0000"/>
                </a:solidFill>
                <a:latin typeface="Times New Roman" panose="02020603050405020304" pitchFamily="18" charset="0"/>
                <a:cs typeface="Times New Roman" panose="02020603050405020304" pitchFamily="18" charset="0"/>
              </a:rPr>
              <a:t>) = </a:t>
            </a:r>
            <a:r>
              <a:rPr lang="en-US" sz="2600" dirty="0" err="1">
                <a:solidFill>
                  <a:srgbClr val="FF0000"/>
                </a:solidFill>
                <a:latin typeface="Times New Roman" panose="02020603050405020304" pitchFamily="18" charset="0"/>
                <a:cs typeface="Times New Roman" panose="02020603050405020304" pitchFamily="18" charset="0"/>
              </a:rPr>
              <a:t>write_TS</a:t>
            </a:r>
            <a:r>
              <a:rPr lang="en-US" sz="2600" dirty="0">
                <a:solidFill>
                  <a:srgbClr val="FF0000"/>
                </a:solidFill>
                <a:latin typeface="Times New Roman" panose="02020603050405020304" pitchFamily="18" charset="0"/>
                <a:cs typeface="Times New Roman" panose="02020603050405020304" pitchFamily="18" charset="0"/>
              </a:rPr>
              <a:t>(</a:t>
            </a:r>
            <a:r>
              <a:rPr lang="en-US" sz="2600" dirty="0" err="1">
                <a:solidFill>
                  <a:srgbClr val="FF0000"/>
                </a:solidFill>
                <a:latin typeface="Times New Roman" panose="02020603050405020304" pitchFamily="18" charset="0"/>
                <a:cs typeface="Times New Roman" panose="02020603050405020304" pitchFamily="18" charset="0"/>
              </a:rPr>
              <a:t>Xj</a:t>
            </a:r>
            <a:r>
              <a:rPr lang="en-US" sz="2600" dirty="0">
                <a:solidFill>
                  <a:srgbClr val="FF0000"/>
                </a:solidFill>
                <a:latin typeface="Times New Roman" panose="02020603050405020304" pitchFamily="18" charset="0"/>
                <a:cs typeface="Times New Roman" panose="02020603050405020304" pitchFamily="18" charset="0"/>
              </a:rPr>
              <a:t>) = TS(T)</a:t>
            </a:r>
          </a:p>
          <a:p>
            <a:pPr lvl="2" algn="just">
              <a:lnSpc>
                <a:spcPct val="90000"/>
              </a:lnSpc>
            </a:pPr>
            <a:endParaRPr lang="en-US" sz="2600" dirty="0">
              <a:latin typeface="Times New Roman" panose="02020603050405020304" pitchFamily="18" charset="0"/>
              <a:cs typeface="Times New Roman" panose="02020603050405020304" pitchFamily="18" charset="0"/>
            </a:endParaRPr>
          </a:p>
          <a:p>
            <a:pPr marL="725488" lvl="2" eaLnBrk="1" hangingPunct="1">
              <a:lnSpc>
                <a:spcPct val="90000"/>
              </a:lnSpc>
            </a:pPr>
            <a:r>
              <a:rPr lang="en-US" sz="2600" dirty="0">
                <a:latin typeface="Times New Roman" panose="02020603050405020304" pitchFamily="18" charset="0"/>
                <a:cs typeface="Times New Roman" panose="02020603050405020304" pitchFamily="18" charset="0"/>
              </a:rPr>
              <a:t>If transaction T issues </a:t>
            </a:r>
            <a:r>
              <a:rPr lang="en-US" sz="2600" dirty="0" err="1">
                <a:latin typeface="Times New Roman" panose="02020603050405020304" pitchFamily="18" charset="0"/>
                <a:cs typeface="Times New Roman" panose="02020603050405020304" pitchFamily="18" charset="0"/>
              </a:rPr>
              <a:t>read_item</a:t>
            </a:r>
            <a:r>
              <a:rPr lang="en-US" sz="2600" dirty="0">
                <a:latin typeface="Times New Roman" panose="02020603050405020304" pitchFamily="18" charset="0"/>
                <a:cs typeface="Times New Roman" panose="02020603050405020304" pitchFamily="18" charset="0"/>
              </a:rPr>
              <a:t> (X), find the version </a:t>
            </a:r>
            <a:r>
              <a:rPr lang="en-US" sz="2600" dirty="0" err="1">
                <a:latin typeface="Times New Roman" panose="02020603050405020304" pitchFamily="18" charset="0"/>
                <a:cs typeface="Times New Roman" panose="02020603050405020304" pitchFamily="18" charset="0"/>
              </a:rPr>
              <a:t>i</a:t>
            </a:r>
            <a:r>
              <a:rPr lang="en-US" sz="2600" dirty="0">
                <a:latin typeface="Times New Roman" panose="02020603050405020304" pitchFamily="18" charset="0"/>
                <a:cs typeface="Times New Roman" panose="02020603050405020304" pitchFamily="18" charset="0"/>
              </a:rPr>
              <a:t> of X that has the highest </a:t>
            </a:r>
            <a:r>
              <a:rPr lang="en-US" sz="2600" dirty="0" err="1">
                <a:latin typeface="Times New Roman" panose="02020603050405020304" pitchFamily="18" charset="0"/>
                <a:cs typeface="Times New Roman" panose="02020603050405020304" pitchFamily="18" charset="0"/>
              </a:rPr>
              <a:t>write_TS</a:t>
            </a:r>
            <a:r>
              <a:rPr lang="en-US" sz="2600" dirty="0">
                <a:latin typeface="Times New Roman" panose="02020603050405020304" pitchFamily="18" charset="0"/>
                <a:cs typeface="Times New Roman" panose="02020603050405020304" pitchFamily="18" charset="0"/>
              </a:rPr>
              <a:t>(Xi) of all versions of X that is also less than or equal to TS(T), then return the value of Xi to Transaction T, and set the value of read _TS(Xi) to the largest of TS(T) and the current </a:t>
            </a:r>
            <a:r>
              <a:rPr lang="en-US" sz="2600" dirty="0" err="1">
                <a:latin typeface="Times New Roman" panose="02020603050405020304" pitchFamily="18" charset="0"/>
                <a:cs typeface="Times New Roman" panose="02020603050405020304" pitchFamily="18" charset="0"/>
              </a:rPr>
              <a:t>read_TS</a:t>
            </a:r>
            <a:r>
              <a:rPr lang="en-US" sz="2600" dirty="0">
                <a:latin typeface="Times New Roman" panose="02020603050405020304" pitchFamily="18" charset="0"/>
                <a:cs typeface="Times New Roman" panose="02020603050405020304" pitchFamily="18" charset="0"/>
              </a:rPr>
              <a:t>(Xi).</a:t>
            </a:r>
          </a:p>
          <a:p>
            <a:pPr lvl="1" eaLnBrk="1" hangingPunct="1">
              <a:lnSpc>
                <a:spcPct val="90000"/>
              </a:lnSpc>
            </a:pPr>
            <a:r>
              <a:rPr lang="en-US" sz="2600" dirty="0">
                <a:solidFill>
                  <a:srgbClr val="FF0000"/>
                </a:solidFill>
                <a:latin typeface="Times New Roman" panose="02020603050405020304" pitchFamily="18" charset="0"/>
                <a:cs typeface="Times New Roman" panose="02020603050405020304" pitchFamily="18" charset="0"/>
              </a:rPr>
              <a:t>Rule 2 guarantees that a read will never be rejected.</a:t>
            </a:r>
          </a:p>
        </p:txBody>
      </p:sp>
      <p:sp>
        <p:nvSpPr>
          <p:cNvPr id="37893" name="Rectangle 4"/>
          <p:cNvSpPr>
            <a:spLocks noChangeArrowheads="1"/>
          </p:cNvSpPr>
          <p:nvPr/>
        </p:nvSpPr>
        <p:spPr bwMode="auto">
          <a:xfrm>
            <a:off x="1004888" y="1019175"/>
            <a:ext cx="7173912" cy="519113"/>
          </a:xfrm>
          <a:prstGeom prst="rect">
            <a:avLst/>
          </a:prstGeom>
          <a:noFill/>
          <a:ln w="9525">
            <a:noFill/>
            <a:miter lim="800000"/>
            <a:headEnd/>
            <a:tailEnd/>
          </a:ln>
        </p:spPr>
        <p:txBody>
          <a:bodyPr/>
          <a:lstStyle/>
          <a:p>
            <a:pPr marL="914400" indent="-914400">
              <a:spcBef>
                <a:spcPct val="20000"/>
              </a:spcBef>
              <a:buClr>
                <a:srgbClr val="990033"/>
              </a:buClr>
              <a:buSzPct val="60000"/>
              <a:buFont typeface="Wingdings" pitchFamily="2" charset="2"/>
              <a:buNone/>
            </a:pPr>
            <a:r>
              <a:rPr lang="en-US" sz="1800" b="1" dirty="0">
                <a:solidFill>
                  <a:schemeClr val="tx2"/>
                </a:solidFill>
              </a:rPr>
              <a:t>	</a:t>
            </a:r>
            <a:endParaRPr lang="en-US" sz="1800" b="1" dirty="0">
              <a:solidFill>
                <a:schemeClr val="tx2"/>
              </a:solidFill>
              <a:cs typeface="Times New Roman" pitchFamily="18" charset="0"/>
            </a:endParaRPr>
          </a:p>
          <a:p>
            <a:pPr marL="914400" indent="-914400">
              <a:spcBef>
                <a:spcPct val="20000"/>
              </a:spcBef>
              <a:buClr>
                <a:srgbClr val="990033"/>
              </a:buClr>
              <a:buSzPct val="60000"/>
              <a:buFont typeface="Wingdings" pitchFamily="2" charset="2"/>
              <a:buNone/>
            </a:pPr>
            <a:endParaRPr lang="en-US" sz="1800" b="1" dirty="0">
              <a:solidFill>
                <a:schemeClr val="tx2"/>
              </a:solidFill>
            </a:endParaRPr>
          </a:p>
          <a:p>
            <a:pPr marL="914400" indent="-914400">
              <a:spcBef>
                <a:spcPct val="20000"/>
              </a:spcBef>
              <a:buClr>
                <a:srgbClr val="990033"/>
              </a:buClr>
              <a:buSzPct val="60000"/>
              <a:buFont typeface="Wingdings" pitchFamily="2" charset="2"/>
              <a:buNone/>
            </a:pPr>
            <a:r>
              <a:rPr lang="en-US" sz="1800" b="1" dirty="0">
                <a:solidFill>
                  <a:schemeClr val="tx2"/>
                </a:solidFill>
              </a:rPr>
              <a:t>	</a:t>
            </a:r>
          </a:p>
        </p:txBody>
      </p:sp>
      <p:sp>
        <p:nvSpPr>
          <p:cNvPr id="2" name="Slide Number Placeholder 1">
            <a:extLst>
              <a:ext uri="{FF2B5EF4-FFF2-40B4-BE49-F238E27FC236}">
                <a16:creationId xmlns:a16="http://schemas.microsoft.com/office/drawing/2014/main" id="{5765AAF8-68A8-BF8A-F5A5-0D6289E158BD}"/>
              </a:ext>
            </a:extLst>
          </p:cNvPr>
          <p:cNvSpPr>
            <a:spLocks noGrp="1"/>
          </p:cNvSpPr>
          <p:nvPr>
            <p:ph type="sldNum" sz="quarter" idx="12"/>
          </p:nvPr>
        </p:nvSpPr>
        <p:spPr/>
        <p:txBody>
          <a:bodyPr/>
          <a:lstStyle/>
          <a:p>
            <a:fld id="{F8EF2FF5-BD00-45B8-A71A-EAE2607F0774}" type="slidenum">
              <a:rPr lang="en-IN" smtClean="0"/>
              <a:t>62</a:t>
            </a:fld>
            <a:endParaRPr lang="en-IN"/>
          </a:p>
        </p:txBody>
      </p:sp>
    </p:spTree>
    <p:extLst>
      <p:ext uri="{BB962C8B-B14F-4D97-AF65-F5344CB8AC3E}">
        <p14:creationId xmlns:p14="http://schemas.microsoft.com/office/powerpoint/2010/main" val="292055886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rgbClr val="FF0000"/>
                </a:solidFill>
              </a:rPr>
              <a:t>Graph-Based Protocols</a:t>
            </a:r>
            <a:endParaRPr lang="en-IN" dirty="0">
              <a:solidFill>
                <a:srgbClr val="FF0000"/>
              </a:solidFill>
            </a:endParaRPr>
          </a:p>
        </p:txBody>
      </p:sp>
      <p:sp>
        <p:nvSpPr>
          <p:cNvPr id="3" name="Content Placeholder 2"/>
          <p:cNvSpPr>
            <a:spLocks noGrp="1"/>
          </p:cNvSpPr>
          <p:nvPr>
            <p:ph idx="1"/>
          </p:nvPr>
        </p:nvSpPr>
        <p:spPr>
          <a:xfrm>
            <a:off x="457200" y="1600200"/>
            <a:ext cx="8435280" cy="4525963"/>
          </a:xfrm>
        </p:spPr>
        <p:txBody>
          <a:bodyPr>
            <a:normAutofit/>
          </a:bodyPr>
          <a:lstStyle/>
          <a:p>
            <a:pPr algn="just"/>
            <a:r>
              <a:rPr lang="en-US" sz="2600" dirty="0"/>
              <a:t>The simplest model requires to have prior knowledge about the order in which the database items will be accessed.</a:t>
            </a:r>
          </a:p>
          <a:p>
            <a:pPr algn="just"/>
            <a:r>
              <a:rPr lang="en-US" sz="2600" dirty="0"/>
              <a:t>To acquire such prior knowledge, we impose a </a:t>
            </a:r>
            <a:r>
              <a:rPr lang="en-US" sz="2600" b="1" dirty="0"/>
              <a:t>partial ordering </a:t>
            </a:r>
            <a:r>
              <a:rPr lang="en-US" sz="2600" dirty="0"/>
              <a:t>→ on the set D = {</a:t>
            </a:r>
            <a:r>
              <a:rPr lang="en-US" sz="2600" i="1" dirty="0"/>
              <a:t>d</a:t>
            </a:r>
            <a:r>
              <a:rPr lang="en-US" sz="2600" dirty="0"/>
              <a:t>1, </a:t>
            </a:r>
            <a:r>
              <a:rPr lang="en-US" sz="2600" i="1" dirty="0"/>
              <a:t>d</a:t>
            </a:r>
            <a:r>
              <a:rPr lang="en-US" sz="2600" dirty="0"/>
              <a:t>2,…,</a:t>
            </a:r>
            <a:r>
              <a:rPr lang="en-US" sz="2600" i="1" dirty="0"/>
              <a:t> dh</a:t>
            </a:r>
            <a:r>
              <a:rPr lang="en-US" sz="2600" dirty="0"/>
              <a:t>} of all data items.</a:t>
            </a:r>
            <a:endParaRPr lang="en-IN" sz="2600" dirty="0"/>
          </a:p>
          <a:p>
            <a:pPr algn="just"/>
            <a:r>
              <a:rPr lang="en-US" sz="2600" dirty="0">
                <a:solidFill>
                  <a:srgbClr val="FF0000"/>
                </a:solidFill>
              </a:rPr>
              <a:t>If </a:t>
            </a:r>
            <a:r>
              <a:rPr lang="en-US" sz="2600" i="1" dirty="0">
                <a:solidFill>
                  <a:srgbClr val="FF0000"/>
                </a:solidFill>
              </a:rPr>
              <a:t>di </a:t>
            </a:r>
            <a:r>
              <a:rPr lang="en-US" sz="2600" dirty="0">
                <a:solidFill>
                  <a:srgbClr val="FF0000"/>
                </a:solidFill>
              </a:rPr>
              <a:t>→ </a:t>
            </a:r>
            <a:r>
              <a:rPr lang="en-US" sz="2600" i="1" dirty="0" err="1">
                <a:solidFill>
                  <a:srgbClr val="FF0000"/>
                </a:solidFill>
              </a:rPr>
              <a:t>dj</a:t>
            </a:r>
            <a:r>
              <a:rPr lang="en-US" sz="2600" dirty="0">
                <a:solidFill>
                  <a:srgbClr val="FF0000"/>
                </a:solidFill>
              </a:rPr>
              <a:t>, then any transaction accessing both </a:t>
            </a:r>
            <a:r>
              <a:rPr lang="en-US" sz="2600" i="1" dirty="0">
                <a:solidFill>
                  <a:srgbClr val="FF0000"/>
                </a:solidFill>
              </a:rPr>
              <a:t>di </a:t>
            </a:r>
            <a:r>
              <a:rPr lang="en-US" sz="2600" dirty="0">
                <a:solidFill>
                  <a:srgbClr val="FF0000"/>
                </a:solidFill>
              </a:rPr>
              <a:t>and </a:t>
            </a:r>
            <a:r>
              <a:rPr lang="en-US" sz="2600" i="1" dirty="0" err="1">
                <a:solidFill>
                  <a:srgbClr val="FF0000"/>
                </a:solidFill>
              </a:rPr>
              <a:t>dj</a:t>
            </a:r>
            <a:r>
              <a:rPr lang="en-US" sz="2600" i="1" dirty="0">
                <a:solidFill>
                  <a:srgbClr val="FF0000"/>
                </a:solidFill>
              </a:rPr>
              <a:t> </a:t>
            </a:r>
            <a:r>
              <a:rPr lang="en-US" sz="2600" dirty="0">
                <a:solidFill>
                  <a:srgbClr val="FF0000"/>
                </a:solidFill>
              </a:rPr>
              <a:t>must access </a:t>
            </a:r>
            <a:r>
              <a:rPr lang="en-US" sz="2600" i="1" dirty="0">
                <a:solidFill>
                  <a:srgbClr val="FF0000"/>
                </a:solidFill>
              </a:rPr>
              <a:t>di </a:t>
            </a:r>
            <a:r>
              <a:rPr lang="en-US" sz="2600" dirty="0">
                <a:solidFill>
                  <a:srgbClr val="FF0000"/>
                </a:solidFill>
              </a:rPr>
              <a:t>before accessing </a:t>
            </a:r>
            <a:r>
              <a:rPr lang="en-US" sz="2600" i="1" dirty="0" err="1">
                <a:solidFill>
                  <a:srgbClr val="FF0000"/>
                </a:solidFill>
              </a:rPr>
              <a:t>dj</a:t>
            </a:r>
            <a:r>
              <a:rPr lang="en-US" sz="2600" dirty="0">
                <a:solidFill>
                  <a:srgbClr val="FF0000"/>
                </a:solidFill>
              </a:rPr>
              <a:t>.</a:t>
            </a:r>
          </a:p>
          <a:p>
            <a:pPr algn="just"/>
            <a:r>
              <a:rPr lang="en-US" sz="2600" dirty="0"/>
              <a:t>This partial ordering may be the result of either the logical or the physical organization of the data, or it may be imposed solely for the purpose of concurrency control</a:t>
            </a:r>
            <a:r>
              <a:rPr lang="en-US" sz="2400" dirty="0"/>
              <a:t>.</a:t>
            </a:r>
            <a:endParaRPr lang="en-IN" sz="2400" dirty="0"/>
          </a:p>
        </p:txBody>
      </p:sp>
      <p:sp>
        <p:nvSpPr>
          <p:cNvPr id="4" name="Slide Number Placeholder 3"/>
          <p:cNvSpPr>
            <a:spLocks noGrp="1"/>
          </p:cNvSpPr>
          <p:nvPr>
            <p:ph type="sldNum" sz="quarter" idx="12"/>
          </p:nvPr>
        </p:nvSpPr>
        <p:spPr/>
        <p:txBody>
          <a:bodyPr/>
          <a:lstStyle/>
          <a:p>
            <a:fld id="{F8EF2FF5-BD00-45B8-A71A-EAE2607F0774}" type="slidenum">
              <a:rPr lang="en-IN" smtClean="0"/>
              <a:t>63</a:t>
            </a:fld>
            <a:endParaRPr lang="en-IN"/>
          </a:p>
        </p:txBody>
      </p:sp>
    </p:spTree>
    <p:extLst>
      <p:ext uri="{BB962C8B-B14F-4D97-AF65-F5344CB8AC3E}">
        <p14:creationId xmlns:p14="http://schemas.microsoft.com/office/powerpoint/2010/main" val="391922851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88640"/>
            <a:ext cx="8229600" cy="6552728"/>
          </a:xfrm>
        </p:spPr>
        <p:txBody>
          <a:bodyPr>
            <a:normAutofit/>
          </a:bodyPr>
          <a:lstStyle/>
          <a:p>
            <a:pPr algn="just"/>
            <a:r>
              <a:rPr lang="en-US" sz="2600" dirty="0"/>
              <a:t>The partial ordering implies that the set D may now be viewed as a directed acyclic graph, called a </a:t>
            </a:r>
            <a:r>
              <a:rPr lang="en-US" sz="2600" b="1" dirty="0"/>
              <a:t>database graph</a:t>
            </a:r>
            <a:r>
              <a:rPr lang="en-US" sz="2600" dirty="0"/>
              <a:t>.</a:t>
            </a:r>
          </a:p>
          <a:p>
            <a:pPr algn="just"/>
            <a:r>
              <a:rPr lang="en-US" sz="2800" dirty="0"/>
              <a:t>We shall present a simple protocol, called the </a:t>
            </a:r>
            <a:r>
              <a:rPr lang="en-US" sz="2800" b="1" i="1" dirty="0"/>
              <a:t>tree protocol</a:t>
            </a:r>
            <a:r>
              <a:rPr lang="en-US" sz="2800" dirty="0"/>
              <a:t>, which is restricted to employ only </a:t>
            </a:r>
            <a:r>
              <a:rPr lang="en-US" sz="2800" i="1" dirty="0">
                <a:solidFill>
                  <a:srgbClr val="FF0000"/>
                </a:solidFill>
              </a:rPr>
              <a:t>exclusive </a:t>
            </a:r>
            <a:r>
              <a:rPr lang="en-US" sz="2800" dirty="0">
                <a:solidFill>
                  <a:srgbClr val="FF0000"/>
                </a:solidFill>
              </a:rPr>
              <a:t>locks</a:t>
            </a:r>
          </a:p>
          <a:p>
            <a:r>
              <a:rPr lang="en-US" sz="2800" dirty="0"/>
              <a:t>In the tree protocol, the only lock instruction allowed is </a:t>
            </a:r>
            <a:r>
              <a:rPr lang="en-US" sz="2800" b="1" dirty="0"/>
              <a:t>lock-X. </a:t>
            </a:r>
            <a:r>
              <a:rPr lang="en-US" sz="2800" dirty="0"/>
              <a:t>Each transaction </a:t>
            </a:r>
            <a:r>
              <a:rPr lang="en-US" sz="2800" i="1" dirty="0" err="1"/>
              <a:t>Ti</a:t>
            </a:r>
            <a:r>
              <a:rPr lang="en-US" sz="2800" i="1" dirty="0"/>
              <a:t> </a:t>
            </a:r>
            <a:r>
              <a:rPr lang="en-US" sz="2800" dirty="0"/>
              <a:t>can lock a data item at most once, and must observe the following rules:</a:t>
            </a:r>
          </a:p>
          <a:p>
            <a:pPr lvl="1"/>
            <a:r>
              <a:rPr lang="en-US" sz="2400" dirty="0"/>
              <a:t>1. The first lock by </a:t>
            </a:r>
            <a:r>
              <a:rPr lang="en-US" sz="2400" i="1" dirty="0" err="1"/>
              <a:t>Ti</a:t>
            </a:r>
            <a:r>
              <a:rPr lang="en-US" sz="2400" i="1" dirty="0"/>
              <a:t> </a:t>
            </a:r>
            <a:r>
              <a:rPr lang="en-US" sz="2400" dirty="0"/>
              <a:t>may be on any data item.</a:t>
            </a:r>
          </a:p>
          <a:p>
            <a:pPr lvl="1"/>
            <a:r>
              <a:rPr lang="en-US" sz="2400" dirty="0"/>
              <a:t>2. Subsequently, a data item </a:t>
            </a:r>
            <a:r>
              <a:rPr lang="en-US" sz="2400" i="1" dirty="0"/>
              <a:t>Q </a:t>
            </a:r>
            <a:r>
              <a:rPr lang="en-US" sz="2400" dirty="0"/>
              <a:t>can be locked by </a:t>
            </a:r>
            <a:r>
              <a:rPr lang="en-US" sz="2400" i="1" dirty="0" err="1"/>
              <a:t>Ti</a:t>
            </a:r>
            <a:r>
              <a:rPr lang="en-US" sz="2400" i="1" dirty="0"/>
              <a:t> </a:t>
            </a:r>
            <a:r>
              <a:rPr lang="en-US" sz="2400" dirty="0"/>
              <a:t>only if the parent of </a:t>
            </a:r>
            <a:r>
              <a:rPr lang="en-US" sz="2400" i="1" dirty="0"/>
              <a:t>Q </a:t>
            </a:r>
            <a:r>
              <a:rPr lang="en-US" sz="2400" dirty="0"/>
              <a:t>is currently </a:t>
            </a:r>
            <a:r>
              <a:rPr lang="en-IN" sz="2400" dirty="0"/>
              <a:t>locked by </a:t>
            </a:r>
            <a:r>
              <a:rPr lang="en-IN" sz="2400" i="1" dirty="0" err="1"/>
              <a:t>Ti</a:t>
            </a:r>
            <a:r>
              <a:rPr lang="en-IN" sz="2400" dirty="0"/>
              <a:t>.</a:t>
            </a:r>
          </a:p>
          <a:p>
            <a:pPr lvl="1"/>
            <a:r>
              <a:rPr lang="en-US" sz="2400" dirty="0"/>
              <a:t>3. Data items may be unlocked at any time.</a:t>
            </a:r>
          </a:p>
          <a:p>
            <a:pPr lvl="1"/>
            <a:r>
              <a:rPr lang="en-US" sz="2400" dirty="0"/>
              <a:t>4. A data item that has been locked and unlocked by </a:t>
            </a:r>
            <a:r>
              <a:rPr lang="en-US" sz="2400" i="1" dirty="0" err="1"/>
              <a:t>Ti</a:t>
            </a:r>
            <a:r>
              <a:rPr lang="en-US" sz="2400" i="1" dirty="0"/>
              <a:t> </a:t>
            </a:r>
            <a:r>
              <a:rPr lang="en-US" sz="2400" dirty="0"/>
              <a:t>cannot subsequently be </a:t>
            </a:r>
            <a:r>
              <a:rPr lang="en-IN" sz="2400" dirty="0"/>
              <a:t>relocked by </a:t>
            </a:r>
            <a:r>
              <a:rPr lang="en-IN" sz="2400" i="1" dirty="0" err="1"/>
              <a:t>Ti</a:t>
            </a:r>
            <a:r>
              <a:rPr lang="en-IN" sz="2400" dirty="0"/>
              <a:t>.</a:t>
            </a:r>
            <a:endParaRPr lang="en-IN" sz="2200" dirty="0">
              <a:solidFill>
                <a:srgbClr val="FF0000"/>
              </a:solidFill>
            </a:endParaRPr>
          </a:p>
        </p:txBody>
      </p:sp>
      <p:sp>
        <p:nvSpPr>
          <p:cNvPr id="4" name="Slide Number Placeholder 3"/>
          <p:cNvSpPr>
            <a:spLocks noGrp="1"/>
          </p:cNvSpPr>
          <p:nvPr>
            <p:ph type="sldNum" sz="quarter" idx="12"/>
          </p:nvPr>
        </p:nvSpPr>
        <p:spPr/>
        <p:txBody>
          <a:bodyPr/>
          <a:lstStyle/>
          <a:p>
            <a:fld id="{F8EF2FF5-BD00-45B8-A71A-EAE2607F0774}" type="slidenum">
              <a:rPr lang="en-IN" smtClean="0"/>
              <a:t>64</a:t>
            </a:fld>
            <a:endParaRPr lang="en-IN"/>
          </a:p>
        </p:txBody>
      </p:sp>
    </p:spTree>
    <p:extLst>
      <p:ext uri="{BB962C8B-B14F-4D97-AF65-F5344CB8AC3E}">
        <p14:creationId xmlns:p14="http://schemas.microsoft.com/office/powerpoint/2010/main" val="402550946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3469" y="260648"/>
            <a:ext cx="8964488" cy="6264696"/>
          </a:xfrm>
        </p:spPr>
        <p:txBody>
          <a:bodyPr>
            <a:normAutofit/>
          </a:bodyPr>
          <a:lstStyle/>
          <a:p>
            <a:r>
              <a:rPr lang="en-US" sz="2600" dirty="0"/>
              <a:t>consider the following database graph with four transactions follow the tree protocol on this graph.</a:t>
            </a:r>
          </a:p>
          <a:p>
            <a:r>
              <a:rPr lang="en-US" sz="2600" dirty="0"/>
              <a:t>We show only the lock and </a:t>
            </a:r>
            <a:r>
              <a:rPr lang="en-IN" sz="2600" dirty="0"/>
              <a:t>unlock instructions:</a:t>
            </a:r>
          </a:p>
        </p:txBody>
      </p:sp>
      <p:sp>
        <p:nvSpPr>
          <p:cNvPr id="4" name="Slide Number Placeholder 3"/>
          <p:cNvSpPr>
            <a:spLocks noGrp="1"/>
          </p:cNvSpPr>
          <p:nvPr>
            <p:ph type="sldNum" sz="quarter" idx="12"/>
          </p:nvPr>
        </p:nvSpPr>
        <p:spPr/>
        <p:txBody>
          <a:bodyPr/>
          <a:lstStyle/>
          <a:p>
            <a:fld id="{F8EF2FF5-BD00-45B8-A71A-EAE2607F0774}" type="slidenum">
              <a:rPr lang="en-IN" smtClean="0"/>
              <a:t>65</a:t>
            </a:fld>
            <a:endParaRPr lang="en-IN"/>
          </a:p>
        </p:txBody>
      </p:sp>
      <p:pic>
        <p:nvPicPr>
          <p:cNvPr id="512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08" y="1772815"/>
            <a:ext cx="4307929" cy="424265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7944" y="3717032"/>
            <a:ext cx="4905375" cy="25202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521878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F8EF2FF5-BD00-45B8-A71A-EAE2607F0774}" type="slidenum">
              <a:rPr lang="en-IN" smtClean="0"/>
              <a:t>66</a:t>
            </a:fld>
            <a:endParaRPr lang="en-IN"/>
          </a:p>
        </p:txBody>
      </p:sp>
      <p:pic>
        <p:nvPicPr>
          <p:cNvPr id="614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51720" y="332656"/>
            <a:ext cx="4680520" cy="59353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1437262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188640"/>
            <a:ext cx="8784976" cy="6453336"/>
          </a:xfrm>
        </p:spPr>
        <p:txBody>
          <a:bodyPr>
            <a:noAutofit/>
          </a:bodyPr>
          <a:lstStyle/>
          <a:p>
            <a:pPr algn="just"/>
            <a:r>
              <a:rPr lang="en-US" sz="2600" dirty="0"/>
              <a:t>One possible schedule in which these four transactions participated appears in Figure </a:t>
            </a:r>
          </a:p>
          <a:p>
            <a:pPr algn="just"/>
            <a:r>
              <a:rPr lang="en-US" sz="2600" dirty="0"/>
              <a:t> Note that, during its execution, transaction </a:t>
            </a:r>
            <a:r>
              <a:rPr lang="en-US" sz="2600" i="1" dirty="0"/>
              <a:t>T</a:t>
            </a:r>
            <a:r>
              <a:rPr lang="en-US" sz="2600" dirty="0"/>
              <a:t>10 holds locks on two </a:t>
            </a:r>
            <a:r>
              <a:rPr lang="en-US" sz="2600" i="1" dirty="0"/>
              <a:t>disjoint </a:t>
            </a:r>
            <a:r>
              <a:rPr lang="en-IN" sz="2600" dirty="0"/>
              <a:t>subtrees.  </a:t>
            </a:r>
            <a:r>
              <a:rPr lang="en-US" sz="2600" dirty="0"/>
              <a:t>Observe that the schedule of Figure is conflict serializable. </a:t>
            </a:r>
          </a:p>
          <a:p>
            <a:pPr algn="just"/>
            <a:r>
              <a:rPr lang="en-US" sz="2600" dirty="0"/>
              <a:t>It can be shown not only that the tree protocol </a:t>
            </a:r>
            <a:r>
              <a:rPr lang="en-US" sz="2600" b="1" dirty="0"/>
              <a:t>ensures conflict serializability</a:t>
            </a:r>
            <a:r>
              <a:rPr lang="en-US" sz="2600" dirty="0"/>
              <a:t>, but also that this protocol </a:t>
            </a:r>
            <a:r>
              <a:rPr lang="en-IN" sz="2600" dirty="0"/>
              <a:t>ensures </a:t>
            </a:r>
            <a:r>
              <a:rPr lang="en-IN" sz="2600" b="1" dirty="0"/>
              <a:t>freedom from deadlock</a:t>
            </a:r>
            <a:r>
              <a:rPr lang="en-IN" sz="2600" dirty="0"/>
              <a:t>.</a:t>
            </a:r>
          </a:p>
          <a:p>
            <a:pPr algn="just"/>
            <a:r>
              <a:rPr lang="en-US" sz="2600" dirty="0"/>
              <a:t>The tree protocol in Figure </a:t>
            </a:r>
            <a:r>
              <a:rPr lang="en-US" sz="2600" b="1" dirty="0"/>
              <a:t>does not ensure recoverability and </a:t>
            </a:r>
            <a:r>
              <a:rPr lang="en-US" sz="2600" b="1" dirty="0" err="1"/>
              <a:t>cascadelessness</a:t>
            </a:r>
            <a:r>
              <a:rPr lang="en-US" sz="2600" b="1" dirty="0"/>
              <a:t>.</a:t>
            </a:r>
          </a:p>
          <a:p>
            <a:pPr algn="just"/>
            <a:r>
              <a:rPr lang="en-US" sz="2600" dirty="0"/>
              <a:t>To ensure recoverability and </a:t>
            </a:r>
            <a:r>
              <a:rPr lang="en-US" sz="2600" dirty="0" err="1"/>
              <a:t>cascadelessness</a:t>
            </a:r>
            <a:r>
              <a:rPr lang="en-US" sz="2600" dirty="0"/>
              <a:t>, the protocol can be </a:t>
            </a:r>
            <a:r>
              <a:rPr lang="en-US" sz="2600" b="1" dirty="0"/>
              <a:t>modified</a:t>
            </a:r>
            <a:r>
              <a:rPr lang="en-US" sz="2600" dirty="0"/>
              <a:t> to not permit release of exclusive locks until the end of the transaction. </a:t>
            </a:r>
          </a:p>
          <a:p>
            <a:pPr algn="just"/>
            <a:r>
              <a:rPr lang="en-US" sz="2600" b="1" dirty="0"/>
              <a:t>Holding exclusive locks </a:t>
            </a:r>
            <a:r>
              <a:rPr lang="en-US" sz="2600" dirty="0"/>
              <a:t>until the end of the transaction </a:t>
            </a:r>
            <a:r>
              <a:rPr lang="en-US" sz="2600" b="1" dirty="0"/>
              <a:t>reduces concurrency</a:t>
            </a:r>
            <a:r>
              <a:rPr lang="en-US" sz="2600" dirty="0"/>
              <a:t>.</a:t>
            </a:r>
            <a:endParaRPr lang="en-IN" sz="2600" dirty="0"/>
          </a:p>
        </p:txBody>
      </p:sp>
      <p:sp>
        <p:nvSpPr>
          <p:cNvPr id="4" name="Slide Number Placeholder 3"/>
          <p:cNvSpPr>
            <a:spLocks noGrp="1"/>
          </p:cNvSpPr>
          <p:nvPr>
            <p:ph type="sldNum" sz="quarter" idx="12"/>
          </p:nvPr>
        </p:nvSpPr>
        <p:spPr/>
        <p:txBody>
          <a:bodyPr/>
          <a:lstStyle/>
          <a:p>
            <a:fld id="{F8EF2FF5-BD00-45B8-A71A-EAE2607F0774}" type="slidenum">
              <a:rPr lang="en-IN" smtClean="0"/>
              <a:t>67</a:t>
            </a:fld>
            <a:endParaRPr lang="en-IN"/>
          </a:p>
        </p:txBody>
      </p:sp>
    </p:spTree>
    <p:extLst>
      <p:ext uri="{BB962C8B-B14F-4D97-AF65-F5344CB8AC3E}">
        <p14:creationId xmlns:p14="http://schemas.microsoft.com/office/powerpoint/2010/main" val="182894903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260648"/>
            <a:ext cx="8686800" cy="5865515"/>
          </a:xfrm>
        </p:spPr>
        <p:txBody>
          <a:bodyPr>
            <a:noAutofit/>
          </a:bodyPr>
          <a:lstStyle/>
          <a:p>
            <a:pPr algn="just"/>
            <a:r>
              <a:rPr lang="en-IN" sz="2600" dirty="0"/>
              <a:t>Here is an alternative </a:t>
            </a:r>
            <a:r>
              <a:rPr lang="en-US" sz="2600" dirty="0"/>
              <a:t>that improves concurrency, but ensures only recoverability:</a:t>
            </a:r>
          </a:p>
          <a:p>
            <a:pPr lvl="1" algn="just"/>
            <a:r>
              <a:rPr lang="en-US" sz="2400" dirty="0"/>
              <a:t>For each data item with an uncommitted write, we record which transaction performed the last write to the data item. </a:t>
            </a:r>
          </a:p>
          <a:p>
            <a:pPr lvl="1" algn="just"/>
            <a:r>
              <a:rPr lang="en-US" sz="2400" dirty="0"/>
              <a:t>Whenever a transaction </a:t>
            </a:r>
            <a:r>
              <a:rPr lang="en-US" sz="2400" i="1" dirty="0" err="1"/>
              <a:t>Ti</a:t>
            </a:r>
            <a:r>
              <a:rPr lang="en-US" sz="2400" i="1" dirty="0"/>
              <a:t> </a:t>
            </a:r>
            <a:r>
              <a:rPr lang="en-US" sz="2400" dirty="0"/>
              <a:t>performs a read of an uncommitted data item, we record a </a:t>
            </a:r>
            <a:r>
              <a:rPr lang="en-US" sz="2400" b="1" dirty="0"/>
              <a:t>commit dependency </a:t>
            </a:r>
            <a:r>
              <a:rPr lang="en-US" sz="2400" dirty="0"/>
              <a:t>of </a:t>
            </a:r>
            <a:r>
              <a:rPr lang="en-US" sz="2400" i="1" dirty="0" err="1"/>
              <a:t>Ti</a:t>
            </a:r>
            <a:r>
              <a:rPr lang="en-US" sz="2400" i="1" dirty="0"/>
              <a:t> </a:t>
            </a:r>
            <a:r>
              <a:rPr lang="en-US" sz="2400" dirty="0"/>
              <a:t>on the transaction that performed the last write to the data item. </a:t>
            </a:r>
          </a:p>
          <a:p>
            <a:pPr lvl="1" algn="just"/>
            <a:r>
              <a:rPr lang="en-US" sz="2400" dirty="0"/>
              <a:t>Transaction </a:t>
            </a:r>
            <a:r>
              <a:rPr lang="en-US" sz="2400" i="1" dirty="0" err="1"/>
              <a:t>Ti</a:t>
            </a:r>
            <a:r>
              <a:rPr lang="en-US" sz="2400" i="1" dirty="0"/>
              <a:t> </a:t>
            </a:r>
            <a:r>
              <a:rPr lang="en-US" sz="2400" dirty="0"/>
              <a:t>is then not permitted to commit until the commit of all transactions on which it has a commit dependency</a:t>
            </a:r>
            <a:r>
              <a:rPr lang="en-US" sz="2200" dirty="0"/>
              <a:t>. </a:t>
            </a:r>
          </a:p>
          <a:p>
            <a:pPr algn="just"/>
            <a:r>
              <a:rPr lang="en-US" sz="2600" dirty="0"/>
              <a:t>If any of these transactions aborts, </a:t>
            </a:r>
            <a:r>
              <a:rPr lang="en-US" sz="2600" i="1" dirty="0" err="1"/>
              <a:t>Ti</a:t>
            </a:r>
            <a:r>
              <a:rPr lang="en-US" sz="2600" i="1" dirty="0"/>
              <a:t> </a:t>
            </a:r>
            <a:r>
              <a:rPr lang="en-US" sz="2600" dirty="0"/>
              <a:t>must also be aborted</a:t>
            </a:r>
            <a:endParaRPr lang="en-IN" sz="2600" dirty="0"/>
          </a:p>
        </p:txBody>
      </p:sp>
      <p:sp>
        <p:nvSpPr>
          <p:cNvPr id="4" name="Slide Number Placeholder 3"/>
          <p:cNvSpPr>
            <a:spLocks noGrp="1"/>
          </p:cNvSpPr>
          <p:nvPr>
            <p:ph type="sldNum" sz="quarter" idx="12"/>
          </p:nvPr>
        </p:nvSpPr>
        <p:spPr/>
        <p:txBody>
          <a:bodyPr/>
          <a:lstStyle/>
          <a:p>
            <a:fld id="{F8EF2FF5-BD00-45B8-A71A-EAE2607F0774}" type="slidenum">
              <a:rPr lang="en-IN" smtClean="0"/>
              <a:t>68</a:t>
            </a:fld>
            <a:endParaRPr lang="en-IN"/>
          </a:p>
        </p:txBody>
      </p:sp>
    </p:spTree>
    <p:extLst>
      <p:ext uri="{BB962C8B-B14F-4D97-AF65-F5344CB8AC3E}">
        <p14:creationId xmlns:p14="http://schemas.microsoft.com/office/powerpoint/2010/main" val="273713505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16632"/>
            <a:ext cx="8229600" cy="6552728"/>
          </a:xfrm>
        </p:spPr>
        <p:txBody>
          <a:bodyPr>
            <a:normAutofit fontScale="92500" lnSpcReduction="20000"/>
          </a:bodyPr>
          <a:lstStyle/>
          <a:p>
            <a:r>
              <a:rPr lang="en-US" b="1" dirty="0">
                <a:solidFill>
                  <a:srgbClr val="FF0000"/>
                </a:solidFill>
              </a:rPr>
              <a:t>Advantages </a:t>
            </a:r>
            <a:r>
              <a:rPr lang="en-US" b="1" dirty="0">
                <a:solidFill>
                  <a:srgbClr val="FF0000"/>
                </a:solidFill>
                <a:sym typeface="Wingdings" panose="05000000000000000000" pitchFamily="2" charset="2"/>
              </a:rPr>
              <a:t>(over Two phase locking)</a:t>
            </a:r>
            <a:endParaRPr lang="en-US" b="1" dirty="0">
              <a:solidFill>
                <a:srgbClr val="FF0000"/>
              </a:solidFill>
            </a:endParaRPr>
          </a:p>
          <a:p>
            <a:pPr lvl="1"/>
            <a:r>
              <a:rPr lang="en-US" sz="2600" dirty="0"/>
              <a:t>It is deadlock-free, so no rollbacks are required.</a:t>
            </a:r>
          </a:p>
          <a:p>
            <a:pPr lvl="1"/>
            <a:r>
              <a:rPr lang="en-US" sz="2600" dirty="0"/>
              <a:t>unlocking may occur earlier. Earlier unlocking may lead to shorter waiting times and to an increase in concurrency</a:t>
            </a:r>
            <a:r>
              <a:rPr lang="en-US" sz="2200" dirty="0"/>
              <a:t>.</a:t>
            </a:r>
            <a:endParaRPr lang="en-IN" sz="2200" dirty="0"/>
          </a:p>
          <a:p>
            <a:r>
              <a:rPr lang="en-IN" b="1" dirty="0">
                <a:solidFill>
                  <a:srgbClr val="FF0000"/>
                </a:solidFill>
              </a:rPr>
              <a:t>Disadvantage</a:t>
            </a:r>
          </a:p>
          <a:p>
            <a:r>
              <a:rPr lang="en-US" dirty="0"/>
              <a:t>In some cases, a transaction may have to lock data items that it does not access. </a:t>
            </a:r>
          </a:p>
          <a:p>
            <a:pPr lvl="1"/>
            <a:r>
              <a:rPr lang="en-US" sz="2600" dirty="0"/>
              <a:t>For example, a transaction that needs to access data items </a:t>
            </a:r>
            <a:r>
              <a:rPr lang="en-US" sz="2600" i="1" dirty="0"/>
              <a:t>A </a:t>
            </a:r>
            <a:r>
              <a:rPr lang="en-US" sz="2600" dirty="0"/>
              <a:t>and </a:t>
            </a:r>
            <a:r>
              <a:rPr lang="en-US" sz="2600" i="1" dirty="0"/>
              <a:t>J </a:t>
            </a:r>
            <a:r>
              <a:rPr lang="en-US" sz="2600" dirty="0"/>
              <a:t>in the database graph must lock not only </a:t>
            </a:r>
            <a:r>
              <a:rPr lang="en-US" sz="2600" i="1" dirty="0"/>
              <a:t>A </a:t>
            </a:r>
            <a:r>
              <a:rPr lang="en-US" sz="2600" dirty="0"/>
              <a:t>and </a:t>
            </a:r>
            <a:r>
              <a:rPr lang="en-US" sz="2600" i="1" dirty="0"/>
              <a:t>J</a:t>
            </a:r>
            <a:r>
              <a:rPr lang="en-US" sz="2600" dirty="0"/>
              <a:t>, but also data items </a:t>
            </a:r>
            <a:r>
              <a:rPr lang="en-US" sz="2600" i="1" dirty="0"/>
              <a:t>B</a:t>
            </a:r>
            <a:r>
              <a:rPr lang="en-US" sz="2600" dirty="0"/>
              <a:t>, </a:t>
            </a:r>
            <a:r>
              <a:rPr lang="en-US" sz="2600" i="1" dirty="0"/>
              <a:t>D</a:t>
            </a:r>
            <a:r>
              <a:rPr lang="en-US" sz="2600" dirty="0"/>
              <a:t>, and </a:t>
            </a:r>
            <a:r>
              <a:rPr lang="en-US" sz="2600" i="1" dirty="0"/>
              <a:t>H</a:t>
            </a:r>
            <a:r>
              <a:rPr lang="en-US" sz="2600" dirty="0"/>
              <a:t>. </a:t>
            </a:r>
          </a:p>
          <a:p>
            <a:pPr lvl="1"/>
            <a:r>
              <a:rPr lang="en-US" sz="2600" dirty="0"/>
              <a:t>This additional locking results in increased locking overhead, the possibility of additional waiting time, and a potential decrease in concurrency. </a:t>
            </a:r>
          </a:p>
          <a:p>
            <a:r>
              <a:rPr lang="en-US" dirty="0"/>
              <a:t>Further, without prior knowledge of what data items will need to be locked, transactions will have to lock the root of the tree, and that can reduce concurrency </a:t>
            </a:r>
            <a:r>
              <a:rPr lang="en-IN" dirty="0"/>
              <a:t>greatly.</a:t>
            </a:r>
            <a:endParaRPr lang="en-US" b="1" dirty="0"/>
          </a:p>
        </p:txBody>
      </p:sp>
      <p:sp>
        <p:nvSpPr>
          <p:cNvPr id="4" name="Slide Number Placeholder 3"/>
          <p:cNvSpPr>
            <a:spLocks noGrp="1"/>
          </p:cNvSpPr>
          <p:nvPr>
            <p:ph type="sldNum" sz="quarter" idx="12"/>
          </p:nvPr>
        </p:nvSpPr>
        <p:spPr/>
        <p:txBody>
          <a:bodyPr/>
          <a:lstStyle/>
          <a:p>
            <a:fld id="{F8EF2FF5-BD00-45B8-A71A-EAE2607F0774}" type="slidenum">
              <a:rPr lang="en-IN" smtClean="0"/>
              <a:t>69</a:t>
            </a:fld>
            <a:endParaRPr lang="en-IN"/>
          </a:p>
        </p:txBody>
      </p:sp>
    </p:spTree>
    <p:extLst>
      <p:ext uri="{BB962C8B-B14F-4D97-AF65-F5344CB8AC3E}">
        <p14:creationId xmlns:p14="http://schemas.microsoft.com/office/powerpoint/2010/main" val="186903001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0" name="Rectangle 12"/>
          <p:cNvSpPr>
            <a:spLocks noGrp="1" noChangeArrowheads="1"/>
          </p:cNvSpPr>
          <p:nvPr>
            <p:ph idx="1"/>
          </p:nvPr>
        </p:nvSpPr>
        <p:spPr>
          <a:xfrm>
            <a:off x="914400" y="404664"/>
            <a:ext cx="8050088" cy="5615136"/>
          </a:xfrm>
        </p:spPr>
        <p:txBody>
          <a:bodyPr>
            <a:normAutofit fontScale="92500" lnSpcReduction="10000"/>
          </a:bodyPr>
          <a:lstStyle/>
          <a:p>
            <a:pPr marL="457200" indent="-457200" algn="ctr" eaLnBrk="1" hangingPunct="1">
              <a:lnSpc>
                <a:spcPct val="80000"/>
              </a:lnSpc>
              <a:buFont typeface="Wingdings" pitchFamily="2" charset="2"/>
              <a:buNone/>
            </a:pPr>
            <a:r>
              <a:rPr lang="en-US" sz="3200" b="1" dirty="0">
                <a:solidFill>
                  <a:srgbClr val="FF0000"/>
                </a:solidFill>
                <a:latin typeface="Times New Roman" panose="02020603050405020304" pitchFamily="18" charset="0"/>
                <a:cs typeface="Times New Roman" panose="02020603050405020304" pitchFamily="18" charset="0"/>
              </a:rPr>
              <a:t>Granularity of data items and Multiple Granularity Locking</a:t>
            </a:r>
          </a:p>
          <a:p>
            <a:pPr marL="457200" indent="-457200" algn="just" eaLnBrk="1" hangingPunct="1">
              <a:lnSpc>
                <a:spcPct val="80000"/>
              </a:lnSpc>
            </a:pPr>
            <a:r>
              <a:rPr lang="en-US" dirty="0">
                <a:latin typeface="Times New Roman" panose="02020603050405020304" pitchFamily="18" charset="0"/>
                <a:cs typeface="Times New Roman" panose="02020603050405020304" pitchFamily="18" charset="0"/>
              </a:rPr>
              <a:t>A </a:t>
            </a:r>
            <a:r>
              <a:rPr lang="en-US" dirty="0">
                <a:solidFill>
                  <a:srgbClr val="FF0000"/>
                </a:solidFill>
                <a:latin typeface="Times New Roman" panose="02020603050405020304" pitchFamily="18" charset="0"/>
                <a:cs typeface="Times New Roman" panose="02020603050405020304" pitchFamily="18" charset="0"/>
              </a:rPr>
              <a:t>lockable unit of data </a:t>
            </a:r>
            <a:r>
              <a:rPr lang="en-US" dirty="0">
                <a:latin typeface="Times New Roman" panose="02020603050405020304" pitchFamily="18" charset="0"/>
                <a:cs typeface="Times New Roman" panose="02020603050405020304" pitchFamily="18" charset="0"/>
              </a:rPr>
              <a:t>defines its granularity. Granularity can be coarse (entire database) or it can be fine (a tuple or an attribute of a relation).  </a:t>
            </a:r>
          </a:p>
          <a:p>
            <a:pPr marL="457200" indent="-457200" algn="just" eaLnBrk="1" hangingPunct="1">
              <a:lnSpc>
                <a:spcPct val="80000"/>
              </a:lnSpc>
            </a:pPr>
            <a:r>
              <a:rPr lang="en-US" dirty="0">
                <a:latin typeface="Times New Roman" panose="02020603050405020304" pitchFamily="18" charset="0"/>
                <a:cs typeface="Times New Roman" panose="02020603050405020304" pitchFamily="18" charset="0"/>
              </a:rPr>
              <a:t>Data item granularity significantly affects concurrency control performance. Thus, the </a:t>
            </a:r>
            <a:r>
              <a:rPr lang="en-US" dirty="0">
                <a:solidFill>
                  <a:srgbClr val="FF0000"/>
                </a:solidFill>
                <a:latin typeface="Times New Roman" panose="02020603050405020304" pitchFamily="18" charset="0"/>
                <a:cs typeface="Times New Roman" panose="02020603050405020304" pitchFamily="18" charset="0"/>
              </a:rPr>
              <a:t>degree of concurrency is low for coarse granularity and high for fine granularity</a:t>
            </a:r>
            <a:r>
              <a:rPr lang="en-US" dirty="0">
                <a:latin typeface="Times New Roman" panose="02020603050405020304" pitchFamily="18" charset="0"/>
                <a:cs typeface="Times New Roman" panose="02020603050405020304" pitchFamily="18" charset="0"/>
              </a:rPr>
              <a:t>.  </a:t>
            </a:r>
          </a:p>
          <a:p>
            <a:pPr marL="457200" indent="-457200" algn="just" eaLnBrk="1" hangingPunct="1">
              <a:lnSpc>
                <a:spcPct val="80000"/>
              </a:lnSpc>
            </a:pPr>
            <a:r>
              <a:rPr lang="en-US" dirty="0">
                <a:latin typeface="Times New Roman" panose="02020603050405020304" pitchFamily="18" charset="0"/>
                <a:cs typeface="Times New Roman" panose="02020603050405020304" pitchFamily="18" charset="0"/>
              </a:rPr>
              <a:t>Example of data item granularity:</a:t>
            </a:r>
          </a:p>
          <a:p>
            <a:pPr marL="876300" lvl="1" indent="-419100" eaLnBrk="1" hangingPunct="1">
              <a:lnSpc>
                <a:spcPct val="80000"/>
              </a:lnSpc>
              <a:buSzTx/>
              <a:buFont typeface="Wingdings" pitchFamily="2" charset="2"/>
              <a:buAutoNum type="arabicPeriod"/>
            </a:pPr>
            <a:r>
              <a:rPr lang="en-US" sz="2600" dirty="0">
                <a:solidFill>
                  <a:srgbClr val="FF0000"/>
                </a:solidFill>
                <a:latin typeface="Times New Roman" panose="02020603050405020304" pitchFamily="18" charset="0"/>
                <a:cs typeface="Times New Roman" panose="02020603050405020304" pitchFamily="18" charset="0"/>
              </a:rPr>
              <a:t>A field of a database record (an attribute of a tuple)</a:t>
            </a:r>
          </a:p>
          <a:p>
            <a:pPr marL="876300" lvl="1" indent="-419100" eaLnBrk="1" hangingPunct="1">
              <a:lnSpc>
                <a:spcPct val="80000"/>
              </a:lnSpc>
              <a:buSzTx/>
              <a:buFont typeface="Wingdings" pitchFamily="2" charset="2"/>
              <a:buAutoNum type="arabicPeriod"/>
            </a:pPr>
            <a:r>
              <a:rPr lang="en-US" sz="2600" dirty="0">
                <a:solidFill>
                  <a:srgbClr val="FF0000"/>
                </a:solidFill>
                <a:latin typeface="Times New Roman" panose="02020603050405020304" pitchFamily="18" charset="0"/>
                <a:cs typeface="Times New Roman" panose="02020603050405020304" pitchFamily="18" charset="0"/>
              </a:rPr>
              <a:t>A database record (a tuple or a relation)</a:t>
            </a:r>
          </a:p>
          <a:p>
            <a:pPr marL="876300" lvl="1" indent="-419100" eaLnBrk="1" hangingPunct="1">
              <a:lnSpc>
                <a:spcPct val="80000"/>
              </a:lnSpc>
              <a:buSzTx/>
              <a:buFont typeface="Wingdings" pitchFamily="2" charset="2"/>
              <a:buAutoNum type="arabicPeriod"/>
            </a:pPr>
            <a:r>
              <a:rPr lang="en-US" sz="2600" dirty="0">
                <a:solidFill>
                  <a:srgbClr val="FF0000"/>
                </a:solidFill>
                <a:latin typeface="Times New Roman" panose="02020603050405020304" pitchFamily="18" charset="0"/>
                <a:cs typeface="Times New Roman" panose="02020603050405020304" pitchFamily="18" charset="0"/>
              </a:rPr>
              <a:t>A disk block</a:t>
            </a:r>
          </a:p>
          <a:p>
            <a:pPr marL="876300" lvl="1" indent="-419100" eaLnBrk="1" hangingPunct="1">
              <a:lnSpc>
                <a:spcPct val="80000"/>
              </a:lnSpc>
              <a:buSzTx/>
              <a:buFont typeface="Wingdings" pitchFamily="2" charset="2"/>
              <a:buAutoNum type="arabicPeriod"/>
            </a:pPr>
            <a:r>
              <a:rPr lang="en-US" sz="2600" dirty="0">
                <a:solidFill>
                  <a:srgbClr val="FF0000"/>
                </a:solidFill>
                <a:latin typeface="Times New Roman" panose="02020603050405020304" pitchFamily="18" charset="0"/>
                <a:cs typeface="Times New Roman" panose="02020603050405020304" pitchFamily="18" charset="0"/>
              </a:rPr>
              <a:t>An entire file</a:t>
            </a:r>
          </a:p>
          <a:p>
            <a:pPr marL="876300" lvl="1" indent="-419100" eaLnBrk="1" hangingPunct="1">
              <a:lnSpc>
                <a:spcPct val="80000"/>
              </a:lnSpc>
              <a:buSzTx/>
              <a:buFont typeface="Wingdings" pitchFamily="2" charset="2"/>
              <a:buAutoNum type="arabicPeriod"/>
            </a:pPr>
            <a:r>
              <a:rPr lang="en-US" sz="2600" dirty="0">
                <a:solidFill>
                  <a:srgbClr val="FF0000"/>
                </a:solidFill>
                <a:latin typeface="Times New Roman" panose="02020603050405020304" pitchFamily="18" charset="0"/>
                <a:cs typeface="Times New Roman" panose="02020603050405020304" pitchFamily="18" charset="0"/>
              </a:rPr>
              <a:t>The entire database</a:t>
            </a:r>
          </a:p>
        </p:txBody>
      </p:sp>
      <p:sp>
        <p:nvSpPr>
          <p:cNvPr id="2" name="Slide Number Placeholder 1">
            <a:extLst>
              <a:ext uri="{FF2B5EF4-FFF2-40B4-BE49-F238E27FC236}">
                <a16:creationId xmlns:a16="http://schemas.microsoft.com/office/drawing/2014/main" id="{42461BF4-31F6-A3CA-D5E5-7A3ACE8BE2D0}"/>
              </a:ext>
            </a:extLst>
          </p:cNvPr>
          <p:cNvSpPr>
            <a:spLocks noGrp="1"/>
          </p:cNvSpPr>
          <p:nvPr>
            <p:ph type="sldNum" sz="quarter" idx="12"/>
          </p:nvPr>
        </p:nvSpPr>
        <p:spPr/>
        <p:txBody>
          <a:bodyPr/>
          <a:lstStyle/>
          <a:p>
            <a:fld id="{F8EF2FF5-BD00-45B8-A71A-EAE2607F0774}" type="slidenum">
              <a:rPr lang="en-IN" smtClean="0"/>
              <a:t>70</a:t>
            </a:fld>
            <a:endParaRPr lang="en-IN"/>
          </a:p>
        </p:txBody>
      </p:sp>
    </p:spTree>
    <p:extLst>
      <p:ext uri="{BB962C8B-B14F-4D97-AF65-F5344CB8AC3E}">
        <p14:creationId xmlns:p14="http://schemas.microsoft.com/office/powerpoint/2010/main" val="408578814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7" name="Rectangle 13"/>
          <p:cNvSpPr>
            <a:spLocks noGrp="1" noChangeArrowheads="1"/>
          </p:cNvSpPr>
          <p:nvPr>
            <p:ph type="body" idx="4294967295"/>
          </p:nvPr>
        </p:nvSpPr>
        <p:spPr>
          <a:xfrm>
            <a:off x="467544" y="332656"/>
            <a:ext cx="8348663" cy="6525344"/>
          </a:xfrm>
        </p:spPr>
        <p:txBody>
          <a:bodyPr/>
          <a:lstStyle/>
          <a:p>
            <a:pPr algn="ctr" eaLnBrk="1" hangingPunct="1">
              <a:buFont typeface="Wingdings" pitchFamily="2" charset="2"/>
              <a:buNone/>
            </a:pPr>
            <a:r>
              <a:rPr lang="en-US" dirty="0"/>
              <a:t>Granularity of data items and Multiple Granularity Locking</a:t>
            </a:r>
          </a:p>
          <a:p>
            <a:pPr algn="just" eaLnBrk="1" hangingPunct="1"/>
            <a:r>
              <a:rPr lang="en-US" sz="2800" dirty="0">
                <a:solidFill>
                  <a:schemeClr val="tx2"/>
                </a:solidFill>
                <a:latin typeface="Times New Roman" panose="02020603050405020304" pitchFamily="18" charset="0"/>
                <a:cs typeface="Times New Roman" panose="02020603050405020304" pitchFamily="18" charset="0"/>
              </a:rPr>
              <a:t>The following diagram illustrates a hierarchy of granularity from coarse (database) to fine (record).</a:t>
            </a:r>
          </a:p>
          <a:p>
            <a:pPr eaLnBrk="1" hangingPunct="1"/>
            <a:endParaRPr lang="en-US" dirty="0"/>
          </a:p>
          <a:p>
            <a:pPr lvl="1" eaLnBrk="1" hangingPunct="1"/>
            <a:endParaRPr lang="en-US" dirty="0"/>
          </a:p>
          <a:p>
            <a:pPr lvl="1" eaLnBrk="1" hangingPunct="1"/>
            <a:endParaRPr lang="en-US" dirty="0"/>
          </a:p>
        </p:txBody>
      </p:sp>
      <p:sp>
        <p:nvSpPr>
          <p:cNvPr id="2" name="Slide Number Placeholder 1">
            <a:extLst>
              <a:ext uri="{FF2B5EF4-FFF2-40B4-BE49-F238E27FC236}">
                <a16:creationId xmlns:a16="http://schemas.microsoft.com/office/drawing/2014/main" id="{86F51A55-39E0-49B1-C9BC-B7CDE540DB91}"/>
              </a:ext>
            </a:extLst>
          </p:cNvPr>
          <p:cNvSpPr>
            <a:spLocks noGrp="1"/>
          </p:cNvSpPr>
          <p:nvPr>
            <p:ph type="sldNum" sz="quarter" idx="12"/>
          </p:nvPr>
        </p:nvSpPr>
        <p:spPr/>
        <p:txBody>
          <a:bodyPr/>
          <a:lstStyle/>
          <a:p>
            <a:fld id="{F8EF2FF5-BD00-45B8-A71A-EAE2607F0774}" type="slidenum">
              <a:rPr lang="en-IN" smtClean="0"/>
              <a:t>71</a:t>
            </a:fld>
            <a:endParaRPr lang="en-IN"/>
          </a:p>
        </p:txBody>
      </p:sp>
      <p:grpSp>
        <p:nvGrpSpPr>
          <p:cNvPr id="4" name="Group 3">
            <a:extLst>
              <a:ext uri="{FF2B5EF4-FFF2-40B4-BE49-F238E27FC236}">
                <a16:creationId xmlns:a16="http://schemas.microsoft.com/office/drawing/2014/main" id="{86F287A2-F62F-BF97-C251-EB4D64CC0458}"/>
              </a:ext>
            </a:extLst>
          </p:cNvPr>
          <p:cNvGrpSpPr/>
          <p:nvPr/>
        </p:nvGrpSpPr>
        <p:grpSpPr>
          <a:xfrm>
            <a:off x="0" y="2550057"/>
            <a:ext cx="9324528" cy="3975287"/>
            <a:chOff x="0" y="2550057"/>
            <a:chExt cx="9324528" cy="3975287"/>
          </a:xfrm>
        </p:grpSpPr>
        <p:pic>
          <p:nvPicPr>
            <p:cNvPr id="3099" name="Picture 2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550057"/>
              <a:ext cx="7344816" cy="39752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a:extLst>
                <a:ext uri="{FF2B5EF4-FFF2-40B4-BE49-F238E27FC236}">
                  <a16:creationId xmlns:a16="http://schemas.microsoft.com/office/drawing/2014/main" id="{CDBFFCD9-6852-AD20-1D78-2118902A6F18}"/>
                </a:ext>
              </a:extLst>
            </p:cNvPr>
            <p:cNvSpPr txBox="1"/>
            <p:nvPr/>
          </p:nvSpPr>
          <p:spPr>
            <a:xfrm>
              <a:off x="7380312" y="2996952"/>
              <a:ext cx="1944216" cy="3139321"/>
            </a:xfrm>
            <a:prstGeom prst="rect">
              <a:avLst/>
            </a:prstGeom>
            <a:noFill/>
          </p:spPr>
          <p:txBody>
            <a:bodyPr wrap="square" rtlCol="0">
              <a:spAutoFit/>
            </a:bodyPr>
            <a:lstStyle/>
            <a:p>
              <a:r>
                <a:rPr lang="en-US" b="1" dirty="0">
                  <a:solidFill>
                    <a:srgbClr val="FF0000"/>
                  </a:solidFill>
                </a:rPr>
                <a:t>Database</a:t>
              </a:r>
            </a:p>
            <a:p>
              <a:endParaRPr lang="en-US" b="1" dirty="0">
                <a:solidFill>
                  <a:srgbClr val="FF0000"/>
                </a:solidFill>
              </a:endParaRPr>
            </a:p>
            <a:p>
              <a:endParaRPr lang="en-US" b="1" dirty="0">
                <a:solidFill>
                  <a:srgbClr val="FF0000"/>
                </a:solidFill>
              </a:endParaRPr>
            </a:p>
            <a:p>
              <a:r>
                <a:rPr lang="en-US" b="1" dirty="0">
                  <a:solidFill>
                    <a:srgbClr val="FF0000"/>
                  </a:solidFill>
                </a:rPr>
                <a:t>Area</a:t>
              </a:r>
            </a:p>
            <a:p>
              <a:endParaRPr lang="en-US" b="1" dirty="0">
                <a:solidFill>
                  <a:srgbClr val="FF0000"/>
                </a:solidFill>
              </a:endParaRPr>
            </a:p>
            <a:p>
              <a:endParaRPr lang="en-US" b="1" dirty="0">
                <a:solidFill>
                  <a:srgbClr val="FF0000"/>
                </a:solidFill>
              </a:endParaRPr>
            </a:p>
            <a:p>
              <a:r>
                <a:rPr lang="en-US" b="1" dirty="0">
                  <a:solidFill>
                    <a:srgbClr val="FF0000"/>
                  </a:solidFill>
                </a:rPr>
                <a:t>File</a:t>
              </a:r>
            </a:p>
            <a:p>
              <a:endParaRPr lang="en-US" b="1" dirty="0">
                <a:solidFill>
                  <a:srgbClr val="FF0000"/>
                </a:solidFill>
              </a:endParaRPr>
            </a:p>
            <a:p>
              <a:endParaRPr lang="en-US" b="1" dirty="0">
                <a:solidFill>
                  <a:srgbClr val="FF0000"/>
                </a:solidFill>
              </a:endParaRPr>
            </a:p>
            <a:p>
              <a:r>
                <a:rPr lang="en-US" b="1" dirty="0">
                  <a:solidFill>
                    <a:srgbClr val="FF0000"/>
                  </a:solidFill>
                </a:rPr>
                <a:t>Record</a:t>
              </a:r>
            </a:p>
            <a:p>
              <a:endParaRPr lang="en-IN" dirty="0"/>
            </a:p>
          </p:txBody>
        </p:sp>
      </p:grpSp>
    </p:spTree>
    <p:extLst>
      <p:ext uri="{BB962C8B-B14F-4D97-AF65-F5344CB8AC3E}">
        <p14:creationId xmlns:p14="http://schemas.microsoft.com/office/powerpoint/2010/main" val="283256739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ABC9C77-47BD-EC76-D73B-4D25CB47AC57}"/>
              </a:ext>
            </a:extLst>
          </p:cNvPr>
          <p:cNvSpPr>
            <a:spLocks noGrp="1"/>
          </p:cNvSpPr>
          <p:nvPr>
            <p:ph type="sldNum" sz="quarter" idx="12"/>
          </p:nvPr>
        </p:nvSpPr>
        <p:spPr/>
        <p:txBody>
          <a:bodyPr/>
          <a:lstStyle/>
          <a:p>
            <a:fld id="{B5D16119-D660-40DF-B339-D75B54681409}" type="slidenum">
              <a:rPr lang="en-IN" smtClean="0"/>
              <a:t>72</a:t>
            </a:fld>
            <a:endParaRPr lang="en-IN"/>
          </a:p>
        </p:txBody>
      </p:sp>
      <p:sp>
        <p:nvSpPr>
          <p:cNvPr id="4" name="TextBox 3">
            <a:extLst>
              <a:ext uri="{FF2B5EF4-FFF2-40B4-BE49-F238E27FC236}">
                <a16:creationId xmlns:a16="http://schemas.microsoft.com/office/drawing/2014/main" id="{7B6BAA6D-E69C-9434-D58B-8D463229C42A}"/>
              </a:ext>
            </a:extLst>
          </p:cNvPr>
          <p:cNvSpPr txBox="1"/>
          <p:nvPr/>
        </p:nvSpPr>
        <p:spPr>
          <a:xfrm>
            <a:off x="143508" y="3261178"/>
            <a:ext cx="8856984" cy="3785652"/>
          </a:xfrm>
          <a:prstGeom prst="rect">
            <a:avLst/>
          </a:prstGeom>
          <a:noFill/>
        </p:spPr>
        <p:txBody>
          <a:bodyPr wrap="square">
            <a:spAutoFit/>
          </a:bodyPr>
          <a:lstStyle/>
          <a:p>
            <a:pPr algn="just"/>
            <a:r>
              <a:rPr lang="en-US" sz="2400" b="0" i="0" u="none" strike="noStrike" baseline="0" dirty="0">
                <a:latin typeface="Minion-Regular"/>
              </a:rPr>
              <a:t>Suppose transaction </a:t>
            </a:r>
            <a:r>
              <a:rPr lang="en-US" sz="2400" b="0" i="1" u="none" strike="noStrike" baseline="0" dirty="0">
                <a:latin typeface="Minion-Italic"/>
              </a:rPr>
              <a:t>T</a:t>
            </a:r>
            <a:r>
              <a:rPr lang="en-US" sz="2400" b="0" i="0" u="none" strike="noStrike" baseline="0" dirty="0">
                <a:latin typeface="Minion-Regular"/>
              </a:rPr>
              <a:t>1 wants to update </a:t>
            </a:r>
            <a:r>
              <a:rPr lang="en-US" sz="2400" b="0" i="1" u="none" strike="noStrike" baseline="0" dirty="0">
                <a:latin typeface="Minion-Italic"/>
              </a:rPr>
              <a:t>all the records </a:t>
            </a:r>
            <a:r>
              <a:rPr lang="en-US" sz="2400" b="0" i="0" u="none" strike="noStrike" baseline="0" dirty="0">
                <a:latin typeface="Minion-Regular"/>
              </a:rPr>
              <a:t>in file </a:t>
            </a:r>
            <a:r>
              <a:rPr lang="en-US" sz="2400" b="0" i="1" u="none" strike="noStrike" baseline="0" dirty="0">
                <a:latin typeface="Minion-Italic"/>
              </a:rPr>
              <a:t>f</a:t>
            </a:r>
            <a:r>
              <a:rPr lang="en-US" sz="2400" b="0" i="0" u="none" strike="noStrike" baseline="0" dirty="0">
                <a:latin typeface="Minion-Regular"/>
              </a:rPr>
              <a:t>1, and </a:t>
            </a:r>
            <a:r>
              <a:rPr lang="en-US" sz="2400" b="0" i="1" u="none" strike="noStrike" baseline="0" dirty="0">
                <a:latin typeface="Minion-Italic"/>
              </a:rPr>
              <a:t>T</a:t>
            </a:r>
            <a:r>
              <a:rPr lang="en-US" sz="2400" b="0" i="0" u="none" strike="noStrike" baseline="0" dirty="0">
                <a:latin typeface="Minion-Regular"/>
              </a:rPr>
              <a:t>1 requests and is granted an exclusive lock for </a:t>
            </a:r>
            <a:r>
              <a:rPr lang="en-US" sz="2400" b="0" i="1" u="none" strike="noStrike" baseline="0" dirty="0">
                <a:latin typeface="Minion-Italic"/>
              </a:rPr>
              <a:t>f</a:t>
            </a:r>
            <a:r>
              <a:rPr lang="en-US" sz="2400" b="0" i="0" u="none" strike="noStrike" baseline="0" dirty="0">
                <a:latin typeface="Minion-Regular"/>
              </a:rPr>
              <a:t>1. Then all of </a:t>
            </a:r>
            <a:r>
              <a:rPr lang="en-US" sz="2400" b="0" i="1" u="none" strike="noStrike" baseline="0" dirty="0">
                <a:latin typeface="Minion-Italic"/>
              </a:rPr>
              <a:t>f</a:t>
            </a:r>
            <a:r>
              <a:rPr lang="en-US" sz="2400" b="0" i="0" u="none" strike="noStrike" baseline="0" dirty="0">
                <a:latin typeface="Minion-Regular"/>
              </a:rPr>
              <a:t>1’s pages (</a:t>
            </a:r>
            <a:r>
              <a:rPr lang="en-US" sz="2400" b="0" i="1" u="none" strike="noStrike" baseline="0" dirty="0">
                <a:latin typeface="Minion-Italic"/>
              </a:rPr>
              <a:t>p</a:t>
            </a:r>
            <a:r>
              <a:rPr lang="en-US" sz="2400" b="0" i="0" u="none" strike="noStrike" baseline="0" dirty="0">
                <a:latin typeface="Minion-Regular"/>
              </a:rPr>
              <a:t>11 through </a:t>
            </a:r>
            <a:r>
              <a:rPr lang="en-US" sz="2400" b="0" i="1" u="none" strike="noStrike" baseline="0" dirty="0">
                <a:latin typeface="Minion-Italic"/>
              </a:rPr>
              <a:t>p</a:t>
            </a:r>
            <a:r>
              <a:rPr lang="en-US" sz="2400" b="0" i="0" u="none" strike="noStrike" baseline="0" dirty="0">
                <a:latin typeface="Minion-Regular"/>
              </a:rPr>
              <a:t>1</a:t>
            </a:r>
            <a:r>
              <a:rPr lang="en-US" sz="2400" b="0" i="1" u="none" strike="noStrike" baseline="0" dirty="0">
                <a:latin typeface="Minion-Italic"/>
              </a:rPr>
              <a:t>n</a:t>
            </a:r>
            <a:r>
              <a:rPr lang="en-US" sz="2400" b="0" i="0" u="none" strike="noStrike" baseline="0" dirty="0">
                <a:latin typeface="Minion-Regular"/>
              </a:rPr>
              <a:t>)—and the records contained on those pages—are locked in exclusive </a:t>
            </a:r>
            <a:r>
              <a:rPr lang="en-IN" sz="2400" b="0" i="0" u="none" strike="noStrike" baseline="0" dirty="0">
                <a:latin typeface="Minion-Regular"/>
              </a:rPr>
              <a:t>mode. </a:t>
            </a:r>
            <a:r>
              <a:rPr lang="en-US" sz="2400" b="0" i="0" u="none" strike="noStrike" baseline="0" dirty="0">
                <a:latin typeface="Minion-Regular"/>
              </a:rPr>
              <a:t>This is beneficial for </a:t>
            </a:r>
            <a:r>
              <a:rPr lang="en-US" sz="2400" b="0" i="1" u="none" strike="noStrike" baseline="0" dirty="0">
                <a:latin typeface="Minion-Italic"/>
              </a:rPr>
              <a:t>T</a:t>
            </a:r>
            <a:r>
              <a:rPr lang="en-US" sz="2400" b="0" i="0" u="none" strike="noStrike" baseline="0" dirty="0">
                <a:latin typeface="Minion-Regular"/>
              </a:rPr>
              <a:t>1 because setting a single file-level lock is more efficient than setting </a:t>
            </a:r>
            <a:r>
              <a:rPr lang="en-US" sz="2400" b="0" i="1" u="none" strike="noStrike" baseline="0" dirty="0">
                <a:latin typeface="Minion-Italic"/>
              </a:rPr>
              <a:t>n </a:t>
            </a:r>
            <a:r>
              <a:rPr lang="en-US" sz="2400" b="0" i="0" u="none" strike="noStrike" baseline="0" dirty="0">
                <a:latin typeface="Minion-Regular"/>
              </a:rPr>
              <a:t>page-level locks or having to lock each individual record.</a:t>
            </a:r>
          </a:p>
          <a:p>
            <a:pPr algn="just"/>
            <a:r>
              <a:rPr lang="en-US" sz="2400" b="0" i="0" u="none" strike="noStrike" baseline="0" dirty="0">
                <a:latin typeface="Minion-Regular"/>
              </a:rPr>
              <a:t> </a:t>
            </a:r>
          </a:p>
          <a:p>
            <a:pPr algn="just"/>
            <a:r>
              <a:rPr lang="en-US" sz="2400" b="0" i="0" u="none" strike="noStrike" baseline="0" dirty="0">
                <a:latin typeface="Minion-Regular"/>
              </a:rPr>
              <a:t>Now suppose another transaction </a:t>
            </a:r>
            <a:r>
              <a:rPr lang="en-US" sz="2400" b="0" i="1" u="none" strike="noStrike" baseline="0" dirty="0">
                <a:latin typeface="Minion-Italic"/>
              </a:rPr>
              <a:t>T</a:t>
            </a:r>
            <a:r>
              <a:rPr lang="en-US" sz="2400" b="0" i="0" u="none" strike="noStrike" baseline="0" dirty="0">
                <a:latin typeface="Minion-Regular"/>
              </a:rPr>
              <a:t>2 only wants to read record </a:t>
            </a:r>
            <a:r>
              <a:rPr lang="en-US" sz="2400" b="0" i="1" u="none" strike="noStrike" baseline="0" dirty="0">
                <a:latin typeface="Minion-Italic"/>
              </a:rPr>
              <a:t>r</a:t>
            </a:r>
            <a:r>
              <a:rPr lang="en-US" sz="2400" b="0" i="0" u="none" strike="noStrike" baseline="0" dirty="0">
                <a:latin typeface="Minion-Regular"/>
              </a:rPr>
              <a:t>1</a:t>
            </a:r>
            <a:r>
              <a:rPr lang="en-US" sz="2400" b="0" i="1" u="none" strike="noStrike" baseline="0" dirty="0">
                <a:latin typeface="Minion-Italic"/>
              </a:rPr>
              <a:t>nj </a:t>
            </a:r>
            <a:r>
              <a:rPr lang="en-US" sz="2400" b="0" i="0" u="none" strike="noStrike" baseline="0" dirty="0">
                <a:latin typeface="Minion-Regular"/>
              </a:rPr>
              <a:t>from page </a:t>
            </a:r>
            <a:r>
              <a:rPr lang="en-US" sz="2400" b="0" i="1" u="none" strike="noStrike" baseline="0" dirty="0">
                <a:latin typeface="Minion-Italic"/>
              </a:rPr>
              <a:t>p</a:t>
            </a:r>
            <a:r>
              <a:rPr lang="en-US" sz="2400" b="0" i="0" u="none" strike="noStrike" baseline="0" dirty="0">
                <a:latin typeface="Minion-Regular"/>
              </a:rPr>
              <a:t>1</a:t>
            </a:r>
            <a:r>
              <a:rPr lang="en-US" sz="2400" b="0" i="1" u="none" strike="noStrike" baseline="0" dirty="0">
                <a:latin typeface="Minion-Italic"/>
              </a:rPr>
              <a:t>n </a:t>
            </a:r>
            <a:r>
              <a:rPr lang="en-US" sz="2400" b="0" i="0" u="none" strike="noStrike" baseline="0" dirty="0">
                <a:latin typeface="Minion-Regular"/>
              </a:rPr>
              <a:t>of file </a:t>
            </a:r>
            <a:r>
              <a:rPr lang="en-US" sz="2400" b="0" i="1" u="none" strike="noStrike" baseline="0" dirty="0">
                <a:latin typeface="Minion-Italic"/>
              </a:rPr>
              <a:t>f</a:t>
            </a:r>
            <a:r>
              <a:rPr lang="en-US" sz="2400" b="0" i="0" u="none" strike="noStrike" baseline="0" dirty="0">
                <a:latin typeface="Minion-Regular"/>
              </a:rPr>
              <a:t>1; then </a:t>
            </a:r>
            <a:r>
              <a:rPr lang="en-US" sz="2400" b="0" i="1" u="none" strike="noStrike" baseline="0" dirty="0">
                <a:latin typeface="Minion-Italic"/>
              </a:rPr>
              <a:t>T</a:t>
            </a:r>
            <a:r>
              <a:rPr lang="en-US" sz="2400" b="0" i="0" u="none" strike="noStrike" baseline="0" dirty="0">
                <a:latin typeface="Minion-Regular"/>
              </a:rPr>
              <a:t>2 would request a shared record-level lock on </a:t>
            </a:r>
            <a:r>
              <a:rPr lang="en-US" sz="2400" b="0" i="1" u="none" strike="noStrike" baseline="0" dirty="0">
                <a:latin typeface="Minion-Italic"/>
              </a:rPr>
              <a:t>r</a:t>
            </a:r>
            <a:r>
              <a:rPr lang="en-US" sz="2400" b="0" i="0" u="none" strike="noStrike" baseline="0" dirty="0">
                <a:latin typeface="Minion-Regular"/>
              </a:rPr>
              <a:t>1</a:t>
            </a:r>
            <a:r>
              <a:rPr lang="en-US" sz="2400" b="0" i="1" u="none" strike="noStrike" baseline="0" dirty="0">
                <a:latin typeface="Minion-Italic"/>
              </a:rPr>
              <a:t>nj</a:t>
            </a:r>
            <a:r>
              <a:rPr lang="en-US" sz="2400" b="0" i="0" u="none" strike="noStrike" baseline="0" dirty="0">
                <a:latin typeface="Minion-Regular"/>
              </a:rPr>
              <a:t>.</a:t>
            </a:r>
            <a:endParaRPr lang="en-IN" sz="2400" dirty="0"/>
          </a:p>
        </p:txBody>
      </p:sp>
      <p:pic>
        <p:nvPicPr>
          <p:cNvPr id="6" name="Picture 5">
            <a:extLst>
              <a:ext uri="{FF2B5EF4-FFF2-40B4-BE49-F238E27FC236}">
                <a16:creationId xmlns:a16="http://schemas.microsoft.com/office/drawing/2014/main" id="{EF8CE496-6847-FF2E-9996-1660203D53CB}"/>
              </a:ext>
            </a:extLst>
          </p:cNvPr>
          <p:cNvPicPr>
            <a:picLocks noChangeAspect="1"/>
          </p:cNvPicPr>
          <p:nvPr/>
        </p:nvPicPr>
        <p:blipFill>
          <a:blip r:embed="rId2"/>
          <a:stretch>
            <a:fillRect/>
          </a:stretch>
        </p:blipFill>
        <p:spPr>
          <a:xfrm>
            <a:off x="179512" y="116632"/>
            <a:ext cx="8644274" cy="3144546"/>
          </a:xfrm>
          <a:prstGeom prst="rect">
            <a:avLst/>
          </a:prstGeom>
        </p:spPr>
      </p:pic>
    </p:spTree>
    <p:extLst>
      <p:ext uri="{BB962C8B-B14F-4D97-AF65-F5344CB8AC3E}">
        <p14:creationId xmlns:p14="http://schemas.microsoft.com/office/powerpoint/2010/main" val="103384218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60648"/>
            <a:ext cx="8229600" cy="5865515"/>
          </a:xfrm>
        </p:spPr>
        <p:txBody>
          <a:bodyPr>
            <a:noAutofit/>
          </a:bodyPr>
          <a:lstStyle/>
          <a:p>
            <a:pPr algn="just"/>
            <a:r>
              <a:rPr lang="en-US" sz="2600" dirty="0">
                <a:latin typeface="Times New Roman" panose="02020603050405020304" pitchFamily="18" charset="0"/>
                <a:cs typeface="Times New Roman" panose="02020603050405020304" pitchFamily="18" charset="0"/>
              </a:rPr>
              <a:t>A more efficient way to gain this knowledge is to introduce a new class of lock modes, called </a:t>
            </a:r>
            <a:r>
              <a:rPr lang="en-US" sz="2600" b="1" dirty="0">
                <a:solidFill>
                  <a:srgbClr val="FF0000"/>
                </a:solidFill>
                <a:latin typeface="Times New Roman" panose="02020603050405020304" pitchFamily="18" charset="0"/>
                <a:cs typeface="Times New Roman" panose="02020603050405020304" pitchFamily="18" charset="0"/>
              </a:rPr>
              <a:t>intention lock modes. </a:t>
            </a:r>
          </a:p>
          <a:p>
            <a:pPr algn="just"/>
            <a:r>
              <a:rPr lang="en-US" sz="2600" dirty="0">
                <a:solidFill>
                  <a:srgbClr val="FF0000"/>
                </a:solidFill>
                <a:latin typeface="Times New Roman" panose="02020603050405020304" pitchFamily="18" charset="0"/>
                <a:cs typeface="Times New Roman" panose="02020603050405020304" pitchFamily="18" charset="0"/>
              </a:rPr>
              <a:t>If a node is locked in an </a:t>
            </a:r>
            <a:r>
              <a:rPr lang="en-US" sz="2600" i="1" dirty="0">
                <a:solidFill>
                  <a:srgbClr val="FF0000"/>
                </a:solidFill>
                <a:latin typeface="Times New Roman" panose="02020603050405020304" pitchFamily="18" charset="0"/>
                <a:cs typeface="Times New Roman" panose="02020603050405020304" pitchFamily="18" charset="0"/>
              </a:rPr>
              <a:t>intention mode</a:t>
            </a:r>
            <a:r>
              <a:rPr lang="en-US" sz="2600" dirty="0">
                <a:solidFill>
                  <a:srgbClr val="FF0000"/>
                </a:solidFill>
                <a:latin typeface="Times New Roman" panose="02020603050405020304" pitchFamily="18" charset="0"/>
                <a:cs typeface="Times New Roman" panose="02020603050405020304" pitchFamily="18" charset="0"/>
              </a:rPr>
              <a:t>, </a:t>
            </a:r>
            <a:r>
              <a:rPr lang="en-US" sz="2600" b="1" i="1" dirty="0">
                <a:solidFill>
                  <a:srgbClr val="FF0000"/>
                </a:solidFill>
                <a:latin typeface="Times New Roman" panose="02020603050405020304" pitchFamily="18" charset="0"/>
                <a:cs typeface="Times New Roman" panose="02020603050405020304" pitchFamily="18" charset="0"/>
              </a:rPr>
              <a:t>explicit locking is done at a lower level of the tree </a:t>
            </a:r>
            <a:r>
              <a:rPr lang="en-US" sz="2600" dirty="0">
                <a:latin typeface="Times New Roman" panose="02020603050405020304" pitchFamily="18" charset="0"/>
                <a:cs typeface="Times New Roman" panose="02020603050405020304" pitchFamily="18" charset="0"/>
              </a:rPr>
              <a:t>(that is, at a finer granularity). </a:t>
            </a:r>
          </a:p>
          <a:p>
            <a:pPr algn="just"/>
            <a:r>
              <a:rPr lang="en-US" sz="2600" dirty="0">
                <a:solidFill>
                  <a:srgbClr val="FF0000"/>
                </a:solidFill>
                <a:latin typeface="Times New Roman" panose="02020603050405020304" pitchFamily="18" charset="0"/>
                <a:cs typeface="Times New Roman" panose="02020603050405020304" pitchFamily="18" charset="0"/>
              </a:rPr>
              <a:t>Intention locks are put on </a:t>
            </a:r>
            <a:r>
              <a:rPr lang="en-US" sz="2600" b="1" dirty="0">
                <a:solidFill>
                  <a:srgbClr val="FF0000"/>
                </a:solidFill>
                <a:latin typeface="Times New Roman" panose="02020603050405020304" pitchFamily="18" charset="0"/>
                <a:cs typeface="Times New Roman" panose="02020603050405020304" pitchFamily="18" charset="0"/>
              </a:rPr>
              <a:t>all the ancestors of a node </a:t>
            </a:r>
            <a:r>
              <a:rPr lang="en-US" sz="2600" dirty="0">
                <a:solidFill>
                  <a:srgbClr val="FF0000"/>
                </a:solidFill>
                <a:latin typeface="Times New Roman" panose="02020603050405020304" pitchFamily="18" charset="0"/>
                <a:cs typeface="Times New Roman" panose="02020603050405020304" pitchFamily="18" charset="0"/>
              </a:rPr>
              <a:t>before that node is locked explicitly. </a:t>
            </a:r>
          </a:p>
          <a:p>
            <a:pPr algn="just"/>
            <a:r>
              <a:rPr lang="en-US" sz="2600" dirty="0">
                <a:latin typeface="Times New Roman" panose="02020603050405020304" pitchFamily="18" charset="0"/>
                <a:cs typeface="Times New Roman" panose="02020603050405020304" pitchFamily="18" charset="0"/>
              </a:rPr>
              <a:t>Thus, a transaction </a:t>
            </a:r>
            <a:r>
              <a:rPr lang="en-US" sz="2600" b="1" dirty="0">
                <a:latin typeface="Times New Roman" panose="02020603050405020304" pitchFamily="18" charset="0"/>
                <a:cs typeface="Times New Roman" panose="02020603050405020304" pitchFamily="18" charset="0"/>
              </a:rPr>
              <a:t>does not need to search the entire tree </a:t>
            </a:r>
            <a:r>
              <a:rPr lang="en-US" sz="2600" dirty="0">
                <a:latin typeface="Times New Roman" panose="02020603050405020304" pitchFamily="18" charset="0"/>
                <a:cs typeface="Times New Roman" panose="02020603050405020304" pitchFamily="18" charset="0"/>
              </a:rPr>
              <a:t>to determine whether it can lock a node successfully. </a:t>
            </a:r>
          </a:p>
          <a:p>
            <a:pPr algn="just"/>
            <a:r>
              <a:rPr lang="en-US" sz="2600" dirty="0">
                <a:latin typeface="Times New Roman" panose="02020603050405020304" pitchFamily="18" charset="0"/>
                <a:cs typeface="Times New Roman" panose="02020603050405020304" pitchFamily="18" charset="0"/>
              </a:rPr>
              <a:t>A transaction wishing to lock a node—say, </a:t>
            </a:r>
            <a:r>
              <a:rPr lang="en-US" sz="2600" i="1" dirty="0">
                <a:latin typeface="Times New Roman" panose="02020603050405020304" pitchFamily="18" charset="0"/>
                <a:cs typeface="Times New Roman" panose="02020603050405020304" pitchFamily="18" charset="0"/>
              </a:rPr>
              <a:t>Q</a:t>
            </a:r>
            <a:r>
              <a:rPr lang="en-US" sz="2600" dirty="0">
                <a:latin typeface="Times New Roman" panose="02020603050405020304" pitchFamily="18" charset="0"/>
                <a:cs typeface="Times New Roman" panose="02020603050405020304" pitchFamily="18" charset="0"/>
              </a:rPr>
              <a:t>—must traverse a path in the tree from the root to </a:t>
            </a:r>
            <a:r>
              <a:rPr lang="en-US" sz="2600" i="1" dirty="0">
                <a:latin typeface="Times New Roman" panose="02020603050405020304" pitchFamily="18" charset="0"/>
                <a:cs typeface="Times New Roman" panose="02020603050405020304" pitchFamily="18" charset="0"/>
              </a:rPr>
              <a:t>Q</a:t>
            </a:r>
            <a:r>
              <a:rPr lang="en-US" sz="2600" dirty="0">
                <a:latin typeface="Times New Roman" panose="02020603050405020304" pitchFamily="18" charset="0"/>
                <a:cs typeface="Times New Roman" panose="02020603050405020304" pitchFamily="18" charset="0"/>
              </a:rPr>
              <a:t>. </a:t>
            </a:r>
          </a:p>
          <a:p>
            <a:pPr algn="just"/>
            <a:r>
              <a:rPr lang="en-US" sz="2600" dirty="0">
                <a:latin typeface="Times New Roman" panose="02020603050405020304" pitchFamily="18" charset="0"/>
                <a:cs typeface="Times New Roman" panose="02020603050405020304" pitchFamily="18" charset="0"/>
              </a:rPr>
              <a:t>While traversing the tree, the transaction locks the various nodes in an </a:t>
            </a:r>
            <a:r>
              <a:rPr lang="en-US" sz="2600" b="1" dirty="0">
                <a:latin typeface="Times New Roman" panose="02020603050405020304" pitchFamily="18" charset="0"/>
                <a:cs typeface="Times New Roman" panose="02020603050405020304" pitchFamily="18" charset="0"/>
              </a:rPr>
              <a:t>intention mode.</a:t>
            </a:r>
            <a:endParaRPr lang="en-IN" sz="2600" b="1"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F8EF2FF5-BD00-45B8-A71A-EAE2607F0774}" type="slidenum">
              <a:rPr lang="en-IN" smtClean="0"/>
              <a:t>73</a:t>
            </a:fld>
            <a:endParaRPr lang="en-IN"/>
          </a:p>
        </p:txBody>
      </p:sp>
    </p:spTree>
    <p:extLst>
      <p:ext uri="{BB962C8B-B14F-4D97-AF65-F5344CB8AC3E}">
        <p14:creationId xmlns:p14="http://schemas.microsoft.com/office/powerpoint/2010/main" val="372486065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4" name="Rectangle 12"/>
          <p:cNvSpPr>
            <a:spLocks noGrp="1" noChangeArrowheads="1"/>
          </p:cNvSpPr>
          <p:nvPr>
            <p:ph idx="1"/>
          </p:nvPr>
        </p:nvSpPr>
        <p:spPr>
          <a:xfrm>
            <a:off x="539552" y="476672"/>
            <a:ext cx="8496944" cy="5472608"/>
          </a:xfrm>
        </p:spPr>
        <p:txBody>
          <a:bodyPr>
            <a:noAutofit/>
          </a:bodyPr>
          <a:lstStyle/>
          <a:p>
            <a:pPr algn="just" eaLnBrk="1" hangingPunct="1"/>
            <a:r>
              <a:rPr lang="en-US" dirty="0">
                <a:latin typeface="Times New Roman" panose="02020603050405020304" pitchFamily="18" charset="0"/>
                <a:cs typeface="Times New Roman" panose="02020603050405020304" pitchFamily="18" charset="0"/>
              </a:rPr>
              <a:t>To manage such hierarchy, in </a:t>
            </a:r>
            <a:r>
              <a:rPr lang="en-US" dirty="0">
                <a:solidFill>
                  <a:srgbClr val="FF0000"/>
                </a:solidFill>
                <a:latin typeface="Times New Roman" panose="02020603050405020304" pitchFamily="18" charset="0"/>
                <a:cs typeface="Times New Roman" panose="02020603050405020304" pitchFamily="18" charset="0"/>
              </a:rPr>
              <a:t>addition to read and write, three additional locking modes, called intention lock modes</a:t>
            </a:r>
            <a:r>
              <a:rPr lang="en-US" dirty="0">
                <a:latin typeface="Times New Roman" panose="02020603050405020304" pitchFamily="18" charset="0"/>
                <a:cs typeface="Times New Roman" panose="02020603050405020304" pitchFamily="18" charset="0"/>
              </a:rPr>
              <a:t> are defined:</a:t>
            </a:r>
          </a:p>
          <a:p>
            <a:pPr marL="971550" lvl="1" indent="-514350" algn="just" eaLnBrk="1" hangingPunct="1">
              <a:lnSpc>
                <a:spcPct val="250000"/>
              </a:lnSpc>
              <a:buFont typeface="+mj-lt"/>
              <a:buAutoNum type="arabicPeriod"/>
            </a:pPr>
            <a:r>
              <a:rPr lang="en-US" sz="2600" b="1" dirty="0">
                <a:latin typeface="Times New Roman" panose="02020603050405020304" pitchFamily="18" charset="0"/>
                <a:cs typeface="Times New Roman" panose="02020603050405020304" pitchFamily="18" charset="0"/>
              </a:rPr>
              <a:t>Intention-shared (IS)</a:t>
            </a:r>
            <a:r>
              <a:rPr lang="en-US" sz="2600" dirty="0">
                <a:latin typeface="Times New Roman" panose="02020603050405020304" pitchFamily="18" charset="0"/>
                <a:cs typeface="Times New Roman" panose="02020603050405020304" pitchFamily="18" charset="0"/>
              </a:rPr>
              <a:t>: </a:t>
            </a:r>
          </a:p>
          <a:p>
            <a:pPr marL="971550" lvl="1" indent="-514350" algn="just" eaLnBrk="1" hangingPunct="1">
              <a:lnSpc>
                <a:spcPct val="250000"/>
              </a:lnSpc>
              <a:buFont typeface="+mj-lt"/>
              <a:buAutoNum type="arabicPeriod"/>
            </a:pPr>
            <a:r>
              <a:rPr lang="en-US" sz="2600" b="1" dirty="0">
                <a:latin typeface="Times New Roman" panose="02020603050405020304" pitchFamily="18" charset="0"/>
                <a:cs typeface="Times New Roman" panose="02020603050405020304" pitchFamily="18" charset="0"/>
              </a:rPr>
              <a:t>Intention-exclusive (IX)</a:t>
            </a:r>
            <a:r>
              <a:rPr lang="en-US" sz="2600" dirty="0">
                <a:latin typeface="Times New Roman" panose="02020603050405020304" pitchFamily="18" charset="0"/>
                <a:cs typeface="Times New Roman" panose="02020603050405020304" pitchFamily="18" charset="0"/>
              </a:rPr>
              <a:t>: </a:t>
            </a:r>
          </a:p>
          <a:p>
            <a:pPr marL="971550" lvl="1" indent="-514350" algn="just" eaLnBrk="1" hangingPunct="1">
              <a:lnSpc>
                <a:spcPct val="250000"/>
              </a:lnSpc>
              <a:buFont typeface="+mj-lt"/>
              <a:buAutoNum type="arabicPeriod"/>
            </a:pPr>
            <a:r>
              <a:rPr lang="en-US" sz="2600" b="1" dirty="0">
                <a:latin typeface="Times New Roman" panose="02020603050405020304" pitchFamily="18" charset="0"/>
                <a:cs typeface="Times New Roman" panose="02020603050405020304" pitchFamily="18" charset="0"/>
              </a:rPr>
              <a:t>Shared-intention-exclusive (SIX)</a:t>
            </a:r>
            <a:r>
              <a:rPr lang="en-US" sz="2600" dirty="0">
                <a:latin typeface="Times New Roman" panose="02020603050405020304" pitchFamily="18" charset="0"/>
                <a:cs typeface="Times New Roman" panose="02020603050405020304" pitchFamily="18" charset="0"/>
              </a:rPr>
              <a:t>:</a:t>
            </a:r>
          </a:p>
        </p:txBody>
      </p:sp>
      <p:sp>
        <p:nvSpPr>
          <p:cNvPr id="2" name="Slide Number Placeholder 1">
            <a:extLst>
              <a:ext uri="{FF2B5EF4-FFF2-40B4-BE49-F238E27FC236}">
                <a16:creationId xmlns:a16="http://schemas.microsoft.com/office/drawing/2014/main" id="{D120BAD6-00E1-8BB0-93E7-333038C6A288}"/>
              </a:ext>
            </a:extLst>
          </p:cNvPr>
          <p:cNvSpPr>
            <a:spLocks noGrp="1"/>
          </p:cNvSpPr>
          <p:nvPr>
            <p:ph type="sldNum" sz="quarter" idx="12"/>
          </p:nvPr>
        </p:nvSpPr>
        <p:spPr/>
        <p:txBody>
          <a:bodyPr/>
          <a:lstStyle/>
          <a:p>
            <a:fld id="{F8EF2FF5-BD00-45B8-A71A-EAE2607F0774}" type="slidenum">
              <a:rPr lang="en-IN" smtClean="0"/>
              <a:t>74</a:t>
            </a:fld>
            <a:endParaRPr lang="en-IN"/>
          </a:p>
        </p:txBody>
      </p:sp>
    </p:spTree>
    <p:extLst>
      <p:ext uri="{BB962C8B-B14F-4D97-AF65-F5344CB8AC3E}">
        <p14:creationId xmlns:p14="http://schemas.microsoft.com/office/powerpoint/2010/main" val="358104699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60648"/>
            <a:ext cx="8229600" cy="5865515"/>
          </a:xfrm>
        </p:spPr>
        <p:txBody>
          <a:bodyPr>
            <a:normAutofit fontScale="77500" lnSpcReduction="20000"/>
          </a:bodyPr>
          <a:lstStyle/>
          <a:p>
            <a:pPr algn="just"/>
            <a:r>
              <a:rPr lang="en-US" dirty="0"/>
              <a:t>There is an intention mode associated with shared mode, and there is one with exclusive mode. </a:t>
            </a:r>
          </a:p>
          <a:p>
            <a:pPr algn="just"/>
            <a:r>
              <a:rPr lang="en-US" dirty="0"/>
              <a:t>If a node is locked in </a:t>
            </a:r>
            <a:r>
              <a:rPr lang="en-US" b="1" dirty="0">
                <a:solidFill>
                  <a:srgbClr val="FF0000"/>
                </a:solidFill>
              </a:rPr>
              <a:t>intention-shared (IS) mode</a:t>
            </a:r>
            <a:r>
              <a:rPr lang="en-US" dirty="0"/>
              <a:t>, intension to acquire a shared lock at a higher level, it signals the desire to read or access shared resources in the higher-level  while allowing other transactions to hold shared locks at lower level.</a:t>
            </a:r>
          </a:p>
          <a:p>
            <a:pPr algn="just"/>
            <a:r>
              <a:rPr lang="en-US" dirty="0"/>
              <a:t>Similarly, if a node is locked in </a:t>
            </a:r>
            <a:r>
              <a:rPr lang="en-US" b="1" dirty="0">
                <a:solidFill>
                  <a:srgbClr val="FF0000"/>
                </a:solidFill>
              </a:rPr>
              <a:t>intention-exclusive (IX) mode</a:t>
            </a:r>
            <a:r>
              <a:rPr lang="en-US" dirty="0">
                <a:solidFill>
                  <a:srgbClr val="FF0000"/>
                </a:solidFill>
              </a:rPr>
              <a:t>,</a:t>
            </a:r>
            <a:r>
              <a:rPr lang="en-US" dirty="0"/>
              <a:t> then explicit locking is being done at a lower level, with exclusive-mode or shared-mode locks. </a:t>
            </a:r>
          </a:p>
          <a:p>
            <a:pPr algn="just"/>
            <a:r>
              <a:rPr lang="en-US" dirty="0"/>
              <a:t>Finally, if a node is locked </a:t>
            </a:r>
            <a:r>
              <a:rPr lang="en-US" b="1" dirty="0">
                <a:solidFill>
                  <a:srgbClr val="FF0000"/>
                </a:solidFill>
              </a:rPr>
              <a:t>in shared and intention-exclusive (SIX) mode</a:t>
            </a:r>
            <a:r>
              <a:rPr lang="en-US" dirty="0">
                <a:solidFill>
                  <a:srgbClr val="FF0000"/>
                </a:solidFill>
              </a:rPr>
              <a:t>,</a:t>
            </a:r>
            <a:r>
              <a:rPr lang="en-US" dirty="0"/>
              <a:t> the node is locked in shared mode, and some nodes are locked in exclusive mode by the same transactions. In other words, the subtree rooted by that node is locked explicitly in shared mode, and that explicit locking is being done at a lower level with </a:t>
            </a:r>
            <a:r>
              <a:rPr lang="en-IN" dirty="0"/>
              <a:t>exclusive-mode locks</a:t>
            </a:r>
          </a:p>
        </p:txBody>
      </p:sp>
      <p:sp>
        <p:nvSpPr>
          <p:cNvPr id="4" name="Slide Number Placeholder 3"/>
          <p:cNvSpPr>
            <a:spLocks noGrp="1"/>
          </p:cNvSpPr>
          <p:nvPr>
            <p:ph type="sldNum" sz="quarter" idx="12"/>
          </p:nvPr>
        </p:nvSpPr>
        <p:spPr/>
        <p:txBody>
          <a:bodyPr/>
          <a:lstStyle/>
          <a:p>
            <a:fld id="{F8EF2FF5-BD00-45B8-A71A-EAE2607F0774}" type="slidenum">
              <a:rPr lang="en-IN" smtClean="0"/>
              <a:t>75</a:t>
            </a:fld>
            <a:endParaRPr lang="en-IN"/>
          </a:p>
        </p:txBody>
      </p:sp>
    </p:spTree>
    <p:extLst>
      <p:ext uri="{BB962C8B-B14F-4D97-AF65-F5344CB8AC3E}">
        <p14:creationId xmlns:p14="http://schemas.microsoft.com/office/powerpoint/2010/main" val="369157060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1" name="Rectangle 15"/>
          <p:cNvSpPr>
            <a:spLocks noGrp="1" noChangeArrowheads="1"/>
          </p:cNvSpPr>
          <p:nvPr>
            <p:ph type="body" idx="4294967295"/>
          </p:nvPr>
        </p:nvSpPr>
        <p:spPr>
          <a:xfrm>
            <a:off x="323528" y="260648"/>
            <a:ext cx="8579172" cy="5111750"/>
          </a:xfrm>
        </p:spPr>
        <p:txBody>
          <a:bodyPr/>
          <a:lstStyle/>
          <a:p>
            <a:pPr eaLnBrk="1" hangingPunct="1"/>
            <a:r>
              <a:rPr lang="en-US" dirty="0">
                <a:latin typeface="Times New Roman" panose="02020603050405020304" pitchFamily="18" charset="0"/>
                <a:cs typeface="Times New Roman" panose="02020603050405020304" pitchFamily="18" charset="0"/>
              </a:rPr>
              <a:t>These locks are applied using the following compatibility matrix:</a:t>
            </a:r>
          </a:p>
          <a:p>
            <a:pPr lvl="1" eaLnBrk="1" hangingPunct="1"/>
            <a:endParaRPr lang="en-US" dirty="0"/>
          </a:p>
        </p:txBody>
      </p:sp>
      <p:sp>
        <p:nvSpPr>
          <p:cNvPr id="4102" name="Rectangle 4"/>
          <p:cNvSpPr>
            <a:spLocks noChangeArrowheads="1"/>
          </p:cNvSpPr>
          <p:nvPr/>
        </p:nvSpPr>
        <p:spPr bwMode="auto">
          <a:xfrm>
            <a:off x="644525" y="1019175"/>
            <a:ext cx="8258175" cy="519113"/>
          </a:xfrm>
          <a:prstGeom prst="rect">
            <a:avLst/>
          </a:prstGeom>
          <a:noFill/>
          <a:ln w="9525">
            <a:noFill/>
            <a:miter lim="800000"/>
            <a:headEnd/>
            <a:tailEnd/>
          </a:ln>
        </p:spPr>
        <p:txBody>
          <a:bodyPr/>
          <a:lstStyle/>
          <a:p>
            <a:pPr marL="914400" indent="-914400">
              <a:spcBef>
                <a:spcPct val="20000"/>
              </a:spcBef>
              <a:buClr>
                <a:srgbClr val="990033"/>
              </a:buClr>
              <a:buSzPct val="60000"/>
              <a:buFont typeface="Wingdings" pitchFamily="2" charset="2"/>
              <a:buNone/>
            </a:pPr>
            <a:r>
              <a:rPr lang="en-US" sz="1800" b="1">
                <a:solidFill>
                  <a:schemeClr val="tx2"/>
                </a:solidFill>
              </a:rPr>
              <a:t>	</a:t>
            </a:r>
            <a:endParaRPr lang="en-US" sz="1800" b="1">
              <a:solidFill>
                <a:schemeClr val="tx2"/>
              </a:solidFill>
              <a:cs typeface="Times New Roman" pitchFamily="18" charset="0"/>
            </a:endParaRPr>
          </a:p>
          <a:p>
            <a:pPr marL="914400" indent="-914400">
              <a:spcBef>
                <a:spcPct val="20000"/>
              </a:spcBef>
              <a:buClr>
                <a:srgbClr val="990033"/>
              </a:buClr>
              <a:buSzPct val="60000"/>
              <a:buFont typeface="Wingdings" pitchFamily="2" charset="2"/>
              <a:buNone/>
            </a:pPr>
            <a:endParaRPr lang="en-US" sz="1800" b="1">
              <a:solidFill>
                <a:schemeClr val="tx2"/>
              </a:solidFill>
            </a:endParaRPr>
          </a:p>
          <a:p>
            <a:pPr marL="914400" indent="-914400">
              <a:spcBef>
                <a:spcPct val="20000"/>
              </a:spcBef>
              <a:buClr>
                <a:srgbClr val="990033"/>
              </a:buClr>
              <a:buSzPct val="60000"/>
              <a:buFont typeface="Wingdings" pitchFamily="2" charset="2"/>
              <a:buNone/>
            </a:pPr>
            <a:r>
              <a:rPr lang="en-US" sz="1800" b="1">
                <a:solidFill>
                  <a:schemeClr val="tx2"/>
                </a:solidFill>
              </a:rPr>
              <a:t>	</a:t>
            </a:r>
          </a:p>
        </p:txBody>
      </p:sp>
      <p:sp>
        <p:nvSpPr>
          <p:cNvPr id="4103" name="Rectangle 16" descr="Pink tissue paper"/>
          <p:cNvSpPr>
            <a:spLocks noChangeArrowheads="1"/>
          </p:cNvSpPr>
          <p:nvPr/>
        </p:nvSpPr>
        <p:spPr bwMode="auto">
          <a:xfrm>
            <a:off x="5744559" y="2564904"/>
            <a:ext cx="3898900" cy="1311275"/>
          </a:xfrm>
          <a:prstGeom prst="rect">
            <a:avLst/>
          </a:prstGeom>
          <a:noFill/>
          <a:ln w="9525">
            <a:noFill/>
            <a:miter lim="800000"/>
            <a:headEnd/>
            <a:tailEnd/>
          </a:ln>
        </p:spPr>
        <p:txBody>
          <a:bodyPr>
            <a:spAutoFit/>
          </a:bodyPr>
          <a:lstStyle/>
          <a:p>
            <a:pPr lvl="1"/>
            <a:r>
              <a:rPr lang="en-US" sz="2000" dirty="0">
                <a:solidFill>
                  <a:srgbClr val="800000"/>
                </a:solidFill>
              </a:rPr>
              <a:t>Intention-shared (IS</a:t>
            </a:r>
          </a:p>
          <a:p>
            <a:pPr lvl="1"/>
            <a:r>
              <a:rPr lang="en-US" sz="2000" dirty="0">
                <a:solidFill>
                  <a:srgbClr val="800000"/>
                </a:solidFill>
              </a:rPr>
              <a:t>Intention-exclusive (IX)</a:t>
            </a:r>
          </a:p>
          <a:p>
            <a:pPr lvl="1"/>
            <a:r>
              <a:rPr lang="en-US" sz="2000" dirty="0">
                <a:solidFill>
                  <a:srgbClr val="800000"/>
                </a:solidFill>
              </a:rPr>
              <a:t>Shared-intention-exclusive (SIX)</a:t>
            </a:r>
          </a:p>
        </p:txBody>
      </p:sp>
      <p:pic>
        <p:nvPicPr>
          <p:cNvPr id="4128" name="Picture 3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538289"/>
            <a:ext cx="6258531" cy="4006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Slide Number Placeholder 1">
            <a:extLst>
              <a:ext uri="{FF2B5EF4-FFF2-40B4-BE49-F238E27FC236}">
                <a16:creationId xmlns:a16="http://schemas.microsoft.com/office/drawing/2014/main" id="{3BAC072B-3641-DE37-5921-29D20BDDAC1A}"/>
              </a:ext>
            </a:extLst>
          </p:cNvPr>
          <p:cNvSpPr>
            <a:spLocks noGrp="1"/>
          </p:cNvSpPr>
          <p:nvPr>
            <p:ph type="sldNum" sz="quarter" idx="12"/>
          </p:nvPr>
        </p:nvSpPr>
        <p:spPr/>
        <p:txBody>
          <a:bodyPr/>
          <a:lstStyle/>
          <a:p>
            <a:fld id="{F8EF2FF5-BD00-45B8-A71A-EAE2607F0774}" type="slidenum">
              <a:rPr lang="en-IN" smtClean="0"/>
              <a:t>76</a:t>
            </a:fld>
            <a:endParaRPr lang="en-IN"/>
          </a:p>
        </p:txBody>
      </p:sp>
    </p:spTree>
    <p:extLst>
      <p:ext uri="{BB962C8B-B14F-4D97-AF65-F5344CB8AC3E}">
        <p14:creationId xmlns:p14="http://schemas.microsoft.com/office/powerpoint/2010/main" val="123518506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8" name="Rectangle 12"/>
          <p:cNvSpPr>
            <a:spLocks noGrp="1" noChangeArrowheads="1"/>
          </p:cNvSpPr>
          <p:nvPr>
            <p:ph idx="1"/>
          </p:nvPr>
        </p:nvSpPr>
        <p:spPr>
          <a:xfrm>
            <a:off x="179512" y="188640"/>
            <a:ext cx="8507288" cy="5615136"/>
          </a:xfrm>
        </p:spPr>
        <p:txBody>
          <a:bodyPr>
            <a:noAutofit/>
          </a:bodyPr>
          <a:lstStyle/>
          <a:p>
            <a:pPr marL="381000" indent="-381000" eaLnBrk="1" hangingPunct="1">
              <a:lnSpc>
                <a:spcPct val="90000"/>
              </a:lnSpc>
              <a:buFont typeface="Wingdings" pitchFamily="2" charset="2"/>
              <a:buNone/>
            </a:pPr>
            <a:r>
              <a:rPr lang="en-US" dirty="0">
                <a:latin typeface="Times New Roman" panose="02020603050405020304" pitchFamily="18" charset="0"/>
                <a:cs typeface="Times New Roman" panose="02020603050405020304" pitchFamily="18" charset="0"/>
              </a:rPr>
              <a:t>Granularity of data items and Multiple Granularity Locking</a:t>
            </a:r>
          </a:p>
          <a:p>
            <a:pPr marL="381000" indent="-381000" eaLnBrk="1" hangingPunct="1">
              <a:lnSpc>
                <a:spcPct val="90000"/>
              </a:lnSpc>
            </a:pPr>
            <a:r>
              <a:rPr lang="en-US" dirty="0">
                <a:solidFill>
                  <a:srgbClr val="FF0000"/>
                </a:solidFill>
                <a:latin typeface="Times New Roman" panose="02020603050405020304" pitchFamily="18" charset="0"/>
                <a:cs typeface="Times New Roman" panose="02020603050405020304" pitchFamily="18" charset="0"/>
              </a:rPr>
              <a:t>The set of rules which must be followed for producing serializable schedule are</a:t>
            </a:r>
          </a:p>
          <a:p>
            <a:pPr marL="838200" lvl="1" indent="-381000" eaLnBrk="1" hangingPunct="1">
              <a:lnSpc>
                <a:spcPct val="90000"/>
              </a:lnSpc>
              <a:buSzTx/>
              <a:buFont typeface="Wingdings" pitchFamily="2" charset="2"/>
              <a:buAutoNum type="arabicPeriod"/>
            </a:pPr>
            <a:r>
              <a:rPr lang="en-US" sz="2600" dirty="0">
                <a:latin typeface="Times New Roman" panose="02020603050405020304" pitchFamily="18" charset="0"/>
                <a:cs typeface="Times New Roman" panose="02020603050405020304" pitchFamily="18" charset="0"/>
              </a:rPr>
              <a:t>The lock compatibility must adhered to.</a:t>
            </a:r>
          </a:p>
          <a:p>
            <a:pPr marL="838200" lvl="1" indent="-381000" eaLnBrk="1" hangingPunct="1">
              <a:lnSpc>
                <a:spcPct val="90000"/>
              </a:lnSpc>
              <a:buSzTx/>
              <a:buFont typeface="Wingdings" pitchFamily="2" charset="2"/>
              <a:buAutoNum type="arabicPeriod"/>
            </a:pPr>
            <a:r>
              <a:rPr lang="en-US" sz="2600" dirty="0">
                <a:latin typeface="Times New Roman" panose="02020603050405020304" pitchFamily="18" charset="0"/>
                <a:cs typeface="Times New Roman" panose="02020603050405020304" pitchFamily="18" charset="0"/>
              </a:rPr>
              <a:t>The root of the tree must be locked first, in any mode..</a:t>
            </a:r>
          </a:p>
          <a:p>
            <a:pPr marL="838200" lvl="1" indent="-381000" eaLnBrk="1" hangingPunct="1">
              <a:lnSpc>
                <a:spcPct val="90000"/>
              </a:lnSpc>
              <a:buSzTx/>
              <a:buFont typeface="Wingdings" pitchFamily="2" charset="2"/>
              <a:buAutoNum type="arabicPeriod"/>
            </a:pPr>
            <a:r>
              <a:rPr lang="en-US" sz="2600" dirty="0">
                <a:latin typeface="Times New Roman" panose="02020603050405020304" pitchFamily="18" charset="0"/>
                <a:cs typeface="Times New Roman" panose="02020603050405020304" pitchFamily="18" charset="0"/>
              </a:rPr>
              <a:t>A node N can be locked by a transaction T in S or IX mode only if the parent node is already locked by T in either IS or IX mode.</a:t>
            </a:r>
          </a:p>
          <a:p>
            <a:pPr marL="838200" lvl="1" indent="-381000" eaLnBrk="1" hangingPunct="1">
              <a:lnSpc>
                <a:spcPct val="90000"/>
              </a:lnSpc>
              <a:buSzTx/>
              <a:buFont typeface="Wingdings" pitchFamily="2" charset="2"/>
              <a:buAutoNum type="arabicPeriod"/>
            </a:pPr>
            <a:r>
              <a:rPr lang="en-US" sz="2600" dirty="0">
                <a:latin typeface="Times New Roman" panose="02020603050405020304" pitchFamily="18" charset="0"/>
                <a:cs typeface="Times New Roman" panose="02020603050405020304" pitchFamily="18" charset="0"/>
              </a:rPr>
              <a:t>A node N can be locked by T in X, IX, or SIX mode only if the parent of N is already locked by T in either IX or SIX mode.</a:t>
            </a:r>
          </a:p>
          <a:p>
            <a:pPr marL="838200" lvl="1" indent="-381000" eaLnBrk="1" hangingPunct="1">
              <a:lnSpc>
                <a:spcPct val="90000"/>
              </a:lnSpc>
              <a:buSzTx/>
              <a:buFont typeface="Wingdings" pitchFamily="2" charset="2"/>
              <a:buAutoNum type="arabicPeriod"/>
            </a:pPr>
            <a:r>
              <a:rPr lang="en-US" sz="2600" dirty="0">
                <a:latin typeface="Times New Roman" panose="02020603050405020304" pitchFamily="18" charset="0"/>
                <a:cs typeface="Times New Roman" panose="02020603050405020304" pitchFamily="18" charset="0"/>
              </a:rPr>
              <a:t>T can lock a node only if it has not unlocked any node (to enforce 2PL policy).</a:t>
            </a:r>
          </a:p>
          <a:p>
            <a:pPr marL="838200" lvl="1" indent="-381000" eaLnBrk="1" hangingPunct="1">
              <a:lnSpc>
                <a:spcPct val="90000"/>
              </a:lnSpc>
              <a:buSzTx/>
              <a:buFont typeface="Wingdings" pitchFamily="2" charset="2"/>
              <a:buAutoNum type="arabicPeriod"/>
            </a:pPr>
            <a:r>
              <a:rPr lang="en-US" sz="2600" dirty="0">
                <a:latin typeface="Times New Roman" panose="02020603050405020304" pitchFamily="18" charset="0"/>
                <a:cs typeface="Times New Roman" panose="02020603050405020304" pitchFamily="18" charset="0"/>
              </a:rPr>
              <a:t>T can unlock a node, N, only if none of the children of N are currently locked by T.</a:t>
            </a:r>
          </a:p>
          <a:p>
            <a:pPr marL="838200" lvl="1" indent="-381000" eaLnBrk="1" hangingPunct="1">
              <a:lnSpc>
                <a:spcPct val="90000"/>
              </a:lnSpc>
              <a:buFont typeface="Wingdings" pitchFamily="2" charset="2"/>
              <a:buNone/>
            </a:pPr>
            <a:endParaRPr lang="en-US" sz="2600"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990FB021-1AB5-0B49-55D2-47B106AB19A3}"/>
              </a:ext>
            </a:extLst>
          </p:cNvPr>
          <p:cNvSpPr>
            <a:spLocks noGrp="1"/>
          </p:cNvSpPr>
          <p:nvPr>
            <p:ph type="sldNum" sz="quarter" idx="12"/>
          </p:nvPr>
        </p:nvSpPr>
        <p:spPr/>
        <p:txBody>
          <a:bodyPr/>
          <a:lstStyle/>
          <a:p>
            <a:fld id="{F8EF2FF5-BD00-45B8-A71A-EAE2607F0774}" type="slidenum">
              <a:rPr lang="en-IN" smtClean="0"/>
              <a:t>77</a:t>
            </a:fld>
            <a:endParaRPr lang="en-IN"/>
          </a:p>
        </p:txBody>
      </p:sp>
    </p:spTree>
    <p:extLst>
      <p:ext uri="{BB962C8B-B14F-4D97-AF65-F5344CB8AC3E}">
        <p14:creationId xmlns:p14="http://schemas.microsoft.com/office/powerpoint/2010/main" val="252261182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2" name="Rectangle 12"/>
          <p:cNvSpPr>
            <a:spLocks noGrp="1" noChangeArrowheads="1"/>
          </p:cNvSpPr>
          <p:nvPr>
            <p:ph idx="1"/>
          </p:nvPr>
        </p:nvSpPr>
        <p:spPr>
          <a:xfrm>
            <a:off x="539552" y="332656"/>
            <a:ext cx="8363148" cy="6840760"/>
          </a:xfrm>
        </p:spPr>
        <p:txBody>
          <a:bodyPr>
            <a:noAutofit/>
          </a:bodyPr>
          <a:lstStyle/>
          <a:p>
            <a:pPr eaLnBrk="1" hangingPunct="1">
              <a:lnSpc>
                <a:spcPct val="80000"/>
              </a:lnSpc>
              <a:buFont typeface="Wingdings" pitchFamily="2" charset="2"/>
              <a:buNone/>
            </a:pPr>
            <a:r>
              <a:rPr lang="en-US" sz="2400" dirty="0">
                <a:solidFill>
                  <a:srgbClr val="FF0000"/>
                </a:solidFill>
              </a:rPr>
              <a:t>Granularity of data items and Multiple Granularity Locking: </a:t>
            </a:r>
          </a:p>
          <a:p>
            <a:pPr eaLnBrk="1" hangingPunct="1">
              <a:lnSpc>
                <a:spcPct val="80000"/>
              </a:lnSpc>
              <a:buFont typeface="Wingdings" pitchFamily="2" charset="2"/>
              <a:buNone/>
            </a:pPr>
            <a:r>
              <a:rPr lang="en-US" sz="2400" dirty="0">
                <a:solidFill>
                  <a:srgbClr val="FF0000"/>
                </a:solidFill>
              </a:rPr>
              <a:t>An example of a serializable execution:</a:t>
            </a:r>
          </a:p>
          <a:p>
            <a:pPr lvl="1" eaLnBrk="1" hangingPunct="1">
              <a:lnSpc>
                <a:spcPct val="80000"/>
              </a:lnSpc>
              <a:buFont typeface="Wingdings" pitchFamily="2" charset="2"/>
              <a:buNone/>
            </a:pPr>
            <a:r>
              <a:rPr lang="en-US" dirty="0"/>
              <a:t>T1                          T2                                   T3</a:t>
            </a:r>
          </a:p>
          <a:p>
            <a:pPr lvl="1" eaLnBrk="1" hangingPunct="1">
              <a:lnSpc>
                <a:spcPct val="80000"/>
              </a:lnSpc>
              <a:buFont typeface="Wingdings" pitchFamily="2" charset="2"/>
              <a:buNone/>
            </a:pPr>
            <a:r>
              <a:rPr lang="en-US" sz="2000" dirty="0"/>
              <a:t>IX(</a:t>
            </a:r>
            <a:r>
              <a:rPr lang="en-US" sz="2000" dirty="0" err="1"/>
              <a:t>db</a:t>
            </a:r>
            <a:r>
              <a:rPr lang="en-US" sz="2000" dirty="0"/>
              <a:t>)</a:t>
            </a:r>
          </a:p>
          <a:p>
            <a:pPr lvl="1" eaLnBrk="1" hangingPunct="1">
              <a:lnSpc>
                <a:spcPct val="80000"/>
              </a:lnSpc>
              <a:buFont typeface="Wingdings" pitchFamily="2" charset="2"/>
              <a:buNone/>
            </a:pPr>
            <a:r>
              <a:rPr lang="en-US" sz="2000" dirty="0"/>
              <a:t>IX(f1)</a:t>
            </a:r>
          </a:p>
          <a:p>
            <a:pPr lvl="1" eaLnBrk="1" hangingPunct="1">
              <a:lnSpc>
                <a:spcPct val="80000"/>
              </a:lnSpc>
              <a:buFont typeface="Wingdings" pitchFamily="2" charset="2"/>
              <a:buNone/>
            </a:pPr>
            <a:r>
              <a:rPr lang="en-US" sz="2000" dirty="0"/>
              <a:t>                                          IX(</a:t>
            </a:r>
            <a:r>
              <a:rPr lang="en-US" sz="2000" dirty="0" err="1"/>
              <a:t>db</a:t>
            </a:r>
            <a:r>
              <a:rPr lang="en-US" sz="2000" dirty="0"/>
              <a:t>)</a:t>
            </a:r>
          </a:p>
          <a:p>
            <a:pPr lvl="1" eaLnBrk="1" hangingPunct="1">
              <a:lnSpc>
                <a:spcPct val="80000"/>
              </a:lnSpc>
              <a:buFont typeface="Wingdings" pitchFamily="2" charset="2"/>
              <a:buNone/>
            </a:pPr>
            <a:r>
              <a:rPr lang="en-US" sz="2000" dirty="0"/>
              <a:t>                                                                                                  IS(</a:t>
            </a:r>
            <a:r>
              <a:rPr lang="en-US" sz="2000" dirty="0" err="1"/>
              <a:t>db</a:t>
            </a:r>
            <a:r>
              <a:rPr lang="en-US" sz="2000" dirty="0"/>
              <a:t>)</a:t>
            </a:r>
          </a:p>
          <a:p>
            <a:pPr lvl="1" eaLnBrk="1" hangingPunct="1">
              <a:lnSpc>
                <a:spcPct val="80000"/>
              </a:lnSpc>
              <a:buFont typeface="Wingdings" pitchFamily="2" charset="2"/>
              <a:buNone/>
            </a:pPr>
            <a:r>
              <a:rPr lang="en-US" sz="2000" dirty="0"/>
              <a:t>                                                                                                  IS(f1)</a:t>
            </a:r>
          </a:p>
          <a:p>
            <a:pPr lvl="1" eaLnBrk="1" hangingPunct="1">
              <a:lnSpc>
                <a:spcPct val="80000"/>
              </a:lnSpc>
              <a:buFont typeface="Wingdings" pitchFamily="2" charset="2"/>
              <a:buNone/>
            </a:pPr>
            <a:r>
              <a:rPr lang="en-US" sz="2000" dirty="0"/>
              <a:t>                                                                                                  IS(p11)</a:t>
            </a:r>
          </a:p>
          <a:p>
            <a:pPr lvl="1" eaLnBrk="1" hangingPunct="1">
              <a:lnSpc>
                <a:spcPct val="80000"/>
              </a:lnSpc>
              <a:buFont typeface="Wingdings" pitchFamily="2" charset="2"/>
              <a:buNone/>
            </a:pPr>
            <a:r>
              <a:rPr lang="en-US" sz="2000" dirty="0"/>
              <a:t>IX(p11)</a:t>
            </a:r>
          </a:p>
          <a:p>
            <a:pPr lvl="1" eaLnBrk="1" hangingPunct="1">
              <a:lnSpc>
                <a:spcPct val="80000"/>
              </a:lnSpc>
              <a:buFont typeface="Wingdings" pitchFamily="2" charset="2"/>
              <a:buNone/>
            </a:pPr>
            <a:r>
              <a:rPr lang="en-US" sz="2000" dirty="0"/>
              <a:t>X(r111)</a:t>
            </a:r>
          </a:p>
          <a:p>
            <a:pPr lvl="1" eaLnBrk="1" hangingPunct="1">
              <a:lnSpc>
                <a:spcPct val="80000"/>
              </a:lnSpc>
              <a:buFont typeface="Wingdings" pitchFamily="2" charset="2"/>
              <a:buNone/>
            </a:pPr>
            <a:r>
              <a:rPr lang="en-US" sz="2000" dirty="0"/>
              <a:t>                                           IX(f1)</a:t>
            </a:r>
          </a:p>
          <a:p>
            <a:pPr lvl="1" eaLnBrk="1" hangingPunct="1">
              <a:lnSpc>
                <a:spcPct val="80000"/>
              </a:lnSpc>
              <a:buFont typeface="Wingdings" pitchFamily="2" charset="2"/>
              <a:buNone/>
            </a:pPr>
            <a:r>
              <a:rPr lang="en-US" sz="2000" dirty="0"/>
              <a:t>                                           X(p12)</a:t>
            </a:r>
          </a:p>
          <a:p>
            <a:pPr lvl="1" eaLnBrk="1" hangingPunct="1">
              <a:lnSpc>
                <a:spcPct val="80000"/>
              </a:lnSpc>
              <a:buFont typeface="Wingdings" pitchFamily="2" charset="2"/>
              <a:buNone/>
            </a:pPr>
            <a:r>
              <a:rPr lang="en-US" sz="2000" dirty="0"/>
              <a:t>                                                                                                  S(r11j)</a:t>
            </a:r>
          </a:p>
          <a:p>
            <a:pPr lvl="1" eaLnBrk="1" hangingPunct="1">
              <a:lnSpc>
                <a:spcPct val="80000"/>
              </a:lnSpc>
              <a:buFont typeface="Wingdings" pitchFamily="2" charset="2"/>
              <a:buNone/>
            </a:pPr>
            <a:r>
              <a:rPr lang="en-US" sz="2000" dirty="0"/>
              <a:t>IX(f2)</a:t>
            </a:r>
          </a:p>
          <a:p>
            <a:pPr lvl="1" eaLnBrk="1" hangingPunct="1">
              <a:lnSpc>
                <a:spcPct val="80000"/>
              </a:lnSpc>
              <a:buFont typeface="Wingdings" pitchFamily="2" charset="2"/>
              <a:buNone/>
            </a:pPr>
            <a:r>
              <a:rPr lang="en-US" sz="2000" dirty="0"/>
              <a:t>IX(p21)</a:t>
            </a:r>
          </a:p>
          <a:p>
            <a:pPr lvl="1" eaLnBrk="1" hangingPunct="1">
              <a:lnSpc>
                <a:spcPct val="80000"/>
              </a:lnSpc>
              <a:buFont typeface="Wingdings" pitchFamily="2" charset="2"/>
              <a:buNone/>
            </a:pPr>
            <a:r>
              <a:rPr lang="en-US" sz="2000" dirty="0"/>
              <a:t>IX(r211)</a:t>
            </a:r>
          </a:p>
          <a:p>
            <a:pPr lvl="1" eaLnBrk="1" hangingPunct="1">
              <a:lnSpc>
                <a:spcPct val="80000"/>
              </a:lnSpc>
              <a:buFont typeface="Wingdings" pitchFamily="2" charset="2"/>
              <a:buNone/>
            </a:pPr>
            <a:r>
              <a:rPr lang="en-US" sz="2000" dirty="0"/>
              <a:t>Unlock (r211)</a:t>
            </a:r>
          </a:p>
          <a:p>
            <a:pPr lvl="1" eaLnBrk="1" hangingPunct="1">
              <a:lnSpc>
                <a:spcPct val="80000"/>
              </a:lnSpc>
              <a:buFont typeface="Wingdings" pitchFamily="2" charset="2"/>
              <a:buNone/>
            </a:pPr>
            <a:r>
              <a:rPr lang="en-US" sz="2000" dirty="0"/>
              <a:t>Unlock (p21)</a:t>
            </a:r>
          </a:p>
          <a:p>
            <a:pPr lvl="1" eaLnBrk="1" hangingPunct="1">
              <a:lnSpc>
                <a:spcPct val="80000"/>
              </a:lnSpc>
              <a:buFont typeface="Wingdings" pitchFamily="2" charset="2"/>
              <a:buNone/>
            </a:pPr>
            <a:r>
              <a:rPr lang="en-US" sz="2000" dirty="0"/>
              <a:t>Unlock (f2)</a:t>
            </a:r>
          </a:p>
          <a:p>
            <a:pPr lvl="1" eaLnBrk="1" hangingPunct="1">
              <a:lnSpc>
                <a:spcPct val="80000"/>
              </a:lnSpc>
              <a:buFont typeface="Wingdings" pitchFamily="2" charset="2"/>
              <a:buNone/>
            </a:pPr>
            <a:r>
              <a:rPr lang="en-US" sz="2000" dirty="0"/>
              <a:t>                                                                                                    S(f2)</a:t>
            </a:r>
          </a:p>
          <a:p>
            <a:pPr lvl="1" eaLnBrk="1" hangingPunct="1">
              <a:lnSpc>
                <a:spcPct val="80000"/>
              </a:lnSpc>
            </a:pPr>
            <a:endParaRPr lang="en-US" dirty="0"/>
          </a:p>
        </p:txBody>
      </p:sp>
      <p:sp>
        <p:nvSpPr>
          <p:cNvPr id="48133" name="Rectangle 4"/>
          <p:cNvSpPr>
            <a:spLocks noChangeArrowheads="1"/>
          </p:cNvSpPr>
          <p:nvPr/>
        </p:nvSpPr>
        <p:spPr bwMode="auto">
          <a:xfrm>
            <a:off x="644525" y="1019175"/>
            <a:ext cx="8258175" cy="519113"/>
          </a:xfrm>
          <a:prstGeom prst="rect">
            <a:avLst/>
          </a:prstGeom>
          <a:noFill/>
          <a:ln w="9525">
            <a:noFill/>
            <a:miter lim="800000"/>
            <a:headEnd/>
            <a:tailEnd/>
          </a:ln>
        </p:spPr>
        <p:txBody>
          <a:bodyPr/>
          <a:lstStyle/>
          <a:p>
            <a:pPr marL="914400" indent="-914400">
              <a:spcBef>
                <a:spcPct val="20000"/>
              </a:spcBef>
              <a:buClr>
                <a:srgbClr val="990033"/>
              </a:buClr>
              <a:buSzPct val="60000"/>
              <a:buFont typeface="Wingdings" pitchFamily="2" charset="2"/>
              <a:buNone/>
            </a:pPr>
            <a:r>
              <a:rPr lang="en-US" sz="1800" b="1">
                <a:solidFill>
                  <a:schemeClr val="tx2"/>
                </a:solidFill>
              </a:rPr>
              <a:t>	</a:t>
            </a:r>
            <a:endParaRPr lang="en-US" sz="1800" b="1">
              <a:solidFill>
                <a:schemeClr val="tx2"/>
              </a:solidFill>
              <a:cs typeface="Times New Roman" pitchFamily="18" charset="0"/>
            </a:endParaRPr>
          </a:p>
          <a:p>
            <a:pPr marL="914400" indent="-914400">
              <a:spcBef>
                <a:spcPct val="20000"/>
              </a:spcBef>
              <a:buClr>
                <a:srgbClr val="990033"/>
              </a:buClr>
              <a:buSzPct val="60000"/>
              <a:buFont typeface="Wingdings" pitchFamily="2" charset="2"/>
              <a:buNone/>
            </a:pPr>
            <a:endParaRPr lang="en-US" sz="1800" b="1">
              <a:solidFill>
                <a:schemeClr val="tx2"/>
              </a:solidFill>
            </a:endParaRPr>
          </a:p>
          <a:p>
            <a:pPr marL="914400" indent="-914400">
              <a:spcBef>
                <a:spcPct val="20000"/>
              </a:spcBef>
              <a:buClr>
                <a:srgbClr val="990033"/>
              </a:buClr>
              <a:buSzPct val="60000"/>
              <a:buFont typeface="Wingdings" pitchFamily="2" charset="2"/>
              <a:buNone/>
            </a:pPr>
            <a:r>
              <a:rPr lang="en-US" sz="1800" b="1">
                <a:solidFill>
                  <a:schemeClr val="tx2"/>
                </a:solidFill>
              </a:rPr>
              <a:t>	</a:t>
            </a:r>
          </a:p>
        </p:txBody>
      </p:sp>
      <p:sp>
        <p:nvSpPr>
          <p:cNvPr id="2" name="Slide Number Placeholder 1">
            <a:extLst>
              <a:ext uri="{FF2B5EF4-FFF2-40B4-BE49-F238E27FC236}">
                <a16:creationId xmlns:a16="http://schemas.microsoft.com/office/drawing/2014/main" id="{DCD0C0BE-73E5-2906-4444-D0DAD61474F7}"/>
              </a:ext>
            </a:extLst>
          </p:cNvPr>
          <p:cNvSpPr>
            <a:spLocks noGrp="1"/>
          </p:cNvSpPr>
          <p:nvPr>
            <p:ph type="sldNum" sz="quarter" idx="12"/>
          </p:nvPr>
        </p:nvSpPr>
        <p:spPr/>
        <p:txBody>
          <a:bodyPr/>
          <a:lstStyle/>
          <a:p>
            <a:fld id="{F8EF2FF5-BD00-45B8-A71A-EAE2607F0774}" type="slidenum">
              <a:rPr lang="en-IN" smtClean="0"/>
              <a:t>78</a:t>
            </a:fld>
            <a:endParaRPr lang="en-IN"/>
          </a:p>
        </p:txBody>
      </p:sp>
    </p:spTree>
    <p:extLst>
      <p:ext uri="{BB962C8B-B14F-4D97-AF65-F5344CB8AC3E}">
        <p14:creationId xmlns:p14="http://schemas.microsoft.com/office/powerpoint/2010/main" val="364832236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6" name="Rectangle 12"/>
          <p:cNvSpPr>
            <a:spLocks noGrp="1" noChangeArrowheads="1"/>
          </p:cNvSpPr>
          <p:nvPr>
            <p:ph idx="1"/>
          </p:nvPr>
        </p:nvSpPr>
        <p:spPr>
          <a:xfrm>
            <a:off x="251520" y="404664"/>
            <a:ext cx="8435280" cy="5976664"/>
          </a:xfrm>
        </p:spPr>
        <p:txBody>
          <a:bodyPr>
            <a:normAutofit fontScale="92500" lnSpcReduction="10000"/>
          </a:bodyPr>
          <a:lstStyle/>
          <a:p>
            <a:pPr eaLnBrk="1" hangingPunct="1">
              <a:lnSpc>
                <a:spcPct val="80000"/>
              </a:lnSpc>
            </a:pPr>
            <a:r>
              <a:rPr lang="en-US" sz="2400" dirty="0">
                <a:latin typeface="Times New Roman" panose="02020603050405020304" pitchFamily="18" charset="0"/>
                <a:cs typeface="Times New Roman" panose="02020603050405020304" pitchFamily="18" charset="0"/>
              </a:rPr>
              <a:t>Granularity of data items and Multiple Granularity Locking: An example of a serializable execution (continued):</a:t>
            </a:r>
          </a:p>
          <a:p>
            <a:pPr eaLnBrk="1" hangingPunct="1">
              <a:lnSpc>
                <a:spcPct val="80000"/>
              </a:lnSpc>
            </a:pPr>
            <a:endParaRPr lang="en-US" sz="2400" dirty="0">
              <a:latin typeface="Times New Roman" panose="02020603050405020304" pitchFamily="18" charset="0"/>
              <a:cs typeface="Times New Roman" panose="02020603050405020304" pitchFamily="18" charset="0"/>
            </a:endParaRPr>
          </a:p>
          <a:p>
            <a:pPr lvl="1" eaLnBrk="1" hangingPunct="1">
              <a:lnSpc>
                <a:spcPct val="80000"/>
              </a:lnSpc>
              <a:buFont typeface="Wingdings" pitchFamily="2" charset="2"/>
              <a:buNone/>
            </a:pPr>
            <a:r>
              <a:rPr lang="en-US" dirty="0">
                <a:latin typeface="Times New Roman" panose="02020603050405020304" pitchFamily="18" charset="0"/>
                <a:cs typeface="Times New Roman" panose="02020603050405020304" pitchFamily="18" charset="0"/>
              </a:rPr>
              <a:t>T1                          T2                                   T3</a:t>
            </a:r>
          </a:p>
          <a:p>
            <a:pPr lvl="1" eaLnBrk="1" hangingPunct="1">
              <a:lnSpc>
                <a:spcPct val="80000"/>
              </a:lnSpc>
              <a:buFont typeface="Wingdings" pitchFamily="2" charset="2"/>
              <a:buNone/>
            </a:pPr>
            <a:r>
              <a:rPr lang="en-US" dirty="0">
                <a:latin typeface="Times New Roman" panose="02020603050405020304" pitchFamily="18" charset="0"/>
                <a:cs typeface="Times New Roman" panose="02020603050405020304" pitchFamily="18" charset="0"/>
              </a:rPr>
              <a:t>                             unlock(p12)</a:t>
            </a:r>
          </a:p>
          <a:p>
            <a:pPr lvl="1" eaLnBrk="1" hangingPunct="1">
              <a:lnSpc>
                <a:spcPct val="80000"/>
              </a:lnSpc>
              <a:buFont typeface="Wingdings" pitchFamily="2" charset="2"/>
              <a:buNone/>
            </a:pPr>
            <a:r>
              <a:rPr lang="en-US" dirty="0">
                <a:latin typeface="Times New Roman" panose="02020603050405020304" pitchFamily="18" charset="0"/>
                <a:cs typeface="Times New Roman" panose="02020603050405020304" pitchFamily="18" charset="0"/>
              </a:rPr>
              <a:t>                             unlock(f1)</a:t>
            </a:r>
          </a:p>
          <a:p>
            <a:pPr lvl="1" eaLnBrk="1" hangingPunct="1">
              <a:lnSpc>
                <a:spcPct val="80000"/>
              </a:lnSpc>
              <a:buFont typeface="Wingdings" pitchFamily="2" charset="2"/>
              <a:buNone/>
            </a:pPr>
            <a:r>
              <a:rPr lang="en-US" dirty="0">
                <a:latin typeface="Times New Roman" panose="02020603050405020304" pitchFamily="18" charset="0"/>
                <a:cs typeface="Times New Roman" panose="02020603050405020304" pitchFamily="18" charset="0"/>
              </a:rPr>
              <a:t>                             unlock(</a:t>
            </a:r>
            <a:r>
              <a:rPr lang="en-US" dirty="0" err="1">
                <a:latin typeface="Times New Roman" panose="02020603050405020304" pitchFamily="18" charset="0"/>
                <a:cs typeface="Times New Roman" panose="02020603050405020304" pitchFamily="18" charset="0"/>
              </a:rPr>
              <a:t>db</a:t>
            </a:r>
            <a:r>
              <a:rPr lang="en-US" dirty="0">
                <a:latin typeface="Times New Roman" panose="02020603050405020304" pitchFamily="18" charset="0"/>
                <a:cs typeface="Times New Roman" panose="02020603050405020304" pitchFamily="18" charset="0"/>
              </a:rPr>
              <a:t>)                                                                                                                     </a:t>
            </a:r>
          </a:p>
          <a:p>
            <a:pPr lvl="1" eaLnBrk="1" hangingPunct="1">
              <a:lnSpc>
                <a:spcPct val="80000"/>
              </a:lnSpc>
              <a:buFont typeface="Wingdings" pitchFamily="2" charset="2"/>
              <a:buNone/>
            </a:pPr>
            <a:r>
              <a:rPr lang="en-US" dirty="0">
                <a:latin typeface="Times New Roman" panose="02020603050405020304" pitchFamily="18" charset="0"/>
                <a:cs typeface="Times New Roman" panose="02020603050405020304" pitchFamily="18" charset="0"/>
              </a:rPr>
              <a:t>unlock(r111)</a:t>
            </a:r>
          </a:p>
          <a:p>
            <a:pPr lvl="1" eaLnBrk="1" hangingPunct="1">
              <a:lnSpc>
                <a:spcPct val="80000"/>
              </a:lnSpc>
              <a:buFont typeface="Wingdings" pitchFamily="2" charset="2"/>
              <a:buNone/>
            </a:pPr>
            <a:r>
              <a:rPr lang="en-US" dirty="0">
                <a:latin typeface="Times New Roman" panose="02020603050405020304" pitchFamily="18" charset="0"/>
                <a:cs typeface="Times New Roman" panose="02020603050405020304" pitchFamily="18" charset="0"/>
              </a:rPr>
              <a:t>unlock(p11)</a:t>
            </a:r>
          </a:p>
          <a:p>
            <a:pPr lvl="1" eaLnBrk="1" hangingPunct="1">
              <a:lnSpc>
                <a:spcPct val="80000"/>
              </a:lnSpc>
              <a:buFont typeface="Wingdings" pitchFamily="2" charset="2"/>
              <a:buNone/>
            </a:pPr>
            <a:r>
              <a:rPr lang="en-US" dirty="0">
                <a:latin typeface="Times New Roman" panose="02020603050405020304" pitchFamily="18" charset="0"/>
                <a:cs typeface="Times New Roman" panose="02020603050405020304" pitchFamily="18" charset="0"/>
              </a:rPr>
              <a:t>unlock(f1)</a:t>
            </a:r>
          </a:p>
          <a:p>
            <a:pPr lvl="1" eaLnBrk="1" hangingPunct="1">
              <a:lnSpc>
                <a:spcPct val="80000"/>
              </a:lnSpc>
              <a:buFont typeface="Wingdings" pitchFamily="2" charset="2"/>
              <a:buNone/>
            </a:pPr>
            <a:r>
              <a:rPr lang="en-US" dirty="0">
                <a:latin typeface="Times New Roman" panose="02020603050405020304" pitchFamily="18" charset="0"/>
                <a:cs typeface="Times New Roman" panose="02020603050405020304" pitchFamily="18" charset="0"/>
              </a:rPr>
              <a:t>unlock(</a:t>
            </a:r>
            <a:r>
              <a:rPr lang="en-US" dirty="0" err="1">
                <a:latin typeface="Times New Roman" panose="02020603050405020304" pitchFamily="18" charset="0"/>
                <a:cs typeface="Times New Roman" panose="02020603050405020304" pitchFamily="18" charset="0"/>
              </a:rPr>
              <a:t>db</a:t>
            </a:r>
            <a:r>
              <a:rPr lang="en-US" dirty="0">
                <a:latin typeface="Times New Roman" panose="02020603050405020304" pitchFamily="18" charset="0"/>
                <a:cs typeface="Times New Roman" panose="02020603050405020304" pitchFamily="18" charset="0"/>
              </a:rPr>
              <a:t>)</a:t>
            </a:r>
          </a:p>
          <a:p>
            <a:pPr lvl="1" eaLnBrk="1" hangingPunct="1">
              <a:lnSpc>
                <a:spcPct val="80000"/>
              </a:lnSpc>
              <a:buFont typeface="Wingdings" pitchFamily="2" charset="2"/>
              <a:buNone/>
            </a:pPr>
            <a:r>
              <a:rPr lang="en-US" dirty="0">
                <a:latin typeface="Times New Roman" panose="02020603050405020304" pitchFamily="18" charset="0"/>
                <a:cs typeface="Times New Roman" panose="02020603050405020304" pitchFamily="18" charset="0"/>
              </a:rPr>
              <a:t>                                                                      unlock (r111j)</a:t>
            </a:r>
          </a:p>
          <a:p>
            <a:pPr lvl="1" eaLnBrk="1" hangingPunct="1">
              <a:lnSpc>
                <a:spcPct val="80000"/>
              </a:lnSpc>
              <a:buFont typeface="Wingdings" pitchFamily="2" charset="2"/>
              <a:buNone/>
            </a:pPr>
            <a:r>
              <a:rPr lang="en-US" dirty="0">
                <a:latin typeface="Times New Roman" panose="02020603050405020304" pitchFamily="18" charset="0"/>
                <a:cs typeface="Times New Roman" panose="02020603050405020304" pitchFamily="18" charset="0"/>
              </a:rPr>
              <a:t>                                                                      unlock (p11)</a:t>
            </a:r>
          </a:p>
          <a:p>
            <a:pPr lvl="1" eaLnBrk="1" hangingPunct="1">
              <a:lnSpc>
                <a:spcPct val="80000"/>
              </a:lnSpc>
              <a:buFont typeface="Wingdings" pitchFamily="2" charset="2"/>
              <a:buNone/>
            </a:pPr>
            <a:r>
              <a:rPr lang="en-US" dirty="0">
                <a:latin typeface="Times New Roman" panose="02020603050405020304" pitchFamily="18" charset="0"/>
                <a:cs typeface="Times New Roman" panose="02020603050405020304" pitchFamily="18" charset="0"/>
              </a:rPr>
              <a:t>                                                                      unlock (f1)</a:t>
            </a:r>
          </a:p>
          <a:p>
            <a:pPr lvl="1" eaLnBrk="1" hangingPunct="1">
              <a:lnSpc>
                <a:spcPct val="80000"/>
              </a:lnSpc>
              <a:buFont typeface="Wingdings" pitchFamily="2" charset="2"/>
              <a:buNone/>
            </a:pPr>
            <a:r>
              <a:rPr lang="en-US" dirty="0">
                <a:latin typeface="Times New Roman" panose="02020603050405020304" pitchFamily="18" charset="0"/>
                <a:cs typeface="Times New Roman" panose="02020603050405020304" pitchFamily="18" charset="0"/>
              </a:rPr>
              <a:t>                                                                      unlock(f2)</a:t>
            </a:r>
          </a:p>
          <a:p>
            <a:pPr lvl="1" eaLnBrk="1" hangingPunct="1">
              <a:lnSpc>
                <a:spcPct val="80000"/>
              </a:lnSpc>
              <a:buFont typeface="Wingdings" pitchFamily="2" charset="2"/>
              <a:buNone/>
            </a:pPr>
            <a:r>
              <a:rPr lang="en-US" dirty="0">
                <a:latin typeface="Times New Roman" panose="02020603050405020304" pitchFamily="18" charset="0"/>
                <a:cs typeface="Times New Roman" panose="02020603050405020304" pitchFamily="18" charset="0"/>
              </a:rPr>
              <a:t>                                                                      unlock(</a:t>
            </a:r>
            <a:r>
              <a:rPr lang="en-US" dirty="0" err="1">
                <a:latin typeface="Times New Roman" panose="02020603050405020304" pitchFamily="18" charset="0"/>
                <a:cs typeface="Times New Roman" panose="02020603050405020304" pitchFamily="18" charset="0"/>
              </a:rPr>
              <a:t>db</a:t>
            </a:r>
            <a:r>
              <a:rPr lang="en-US" dirty="0">
                <a:latin typeface="Times New Roman" panose="02020603050405020304" pitchFamily="18" charset="0"/>
                <a:cs typeface="Times New Roman" panose="02020603050405020304" pitchFamily="18" charset="0"/>
              </a:rPr>
              <a:t>)</a:t>
            </a:r>
          </a:p>
        </p:txBody>
      </p:sp>
      <p:sp>
        <p:nvSpPr>
          <p:cNvPr id="49157" name="Rectangle 4"/>
          <p:cNvSpPr>
            <a:spLocks noChangeArrowheads="1"/>
          </p:cNvSpPr>
          <p:nvPr/>
        </p:nvSpPr>
        <p:spPr bwMode="auto">
          <a:xfrm>
            <a:off x="644525" y="1019175"/>
            <a:ext cx="8258175" cy="519113"/>
          </a:xfrm>
          <a:prstGeom prst="rect">
            <a:avLst/>
          </a:prstGeom>
          <a:noFill/>
          <a:ln w="9525">
            <a:noFill/>
            <a:miter lim="800000"/>
            <a:headEnd/>
            <a:tailEnd/>
          </a:ln>
        </p:spPr>
        <p:txBody>
          <a:bodyPr/>
          <a:lstStyle/>
          <a:p>
            <a:pPr marL="914400" indent="-914400">
              <a:spcBef>
                <a:spcPct val="20000"/>
              </a:spcBef>
              <a:buClr>
                <a:srgbClr val="990033"/>
              </a:buClr>
              <a:buSzPct val="60000"/>
              <a:buFont typeface="Wingdings" pitchFamily="2" charset="2"/>
              <a:buNone/>
            </a:pPr>
            <a:r>
              <a:rPr lang="en-US" sz="1800" b="1" dirty="0">
                <a:solidFill>
                  <a:schemeClr val="tx2"/>
                </a:solidFill>
              </a:rPr>
              <a:t>	</a:t>
            </a:r>
            <a:endParaRPr lang="en-US" sz="1800" b="1" dirty="0">
              <a:solidFill>
                <a:schemeClr val="tx2"/>
              </a:solidFill>
              <a:cs typeface="Times New Roman" pitchFamily="18" charset="0"/>
            </a:endParaRPr>
          </a:p>
          <a:p>
            <a:pPr marL="914400" indent="-914400">
              <a:spcBef>
                <a:spcPct val="20000"/>
              </a:spcBef>
              <a:buClr>
                <a:srgbClr val="990033"/>
              </a:buClr>
              <a:buSzPct val="60000"/>
              <a:buFont typeface="Wingdings" pitchFamily="2" charset="2"/>
              <a:buNone/>
            </a:pPr>
            <a:endParaRPr lang="en-US" sz="1800" b="1" dirty="0">
              <a:solidFill>
                <a:schemeClr val="tx2"/>
              </a:solidFill>
            </a:endParaRPr>
          </a:p>
          <a:p>
            <a:pPr marL="914400" indent="-914400">
              <a:spcBef>
                <a:spcPct val="20000"/>
              </a:spcBef>
              <a:buClr>
                <a:srgbClr val="990033"/>
              </a:buClr>
              <a:buSzPct val="60000"/>
              <a:buFont typeface="Wingdings" pitchFamily="2" charset="2"/>
              <a:buNone/>
            </a:pPr>
            <a:r>
              <a:rPr lang="en-US" sz="1800" b="1" dirty="0">
                <a:solidFill>
                  <a:schemeClr val="tx2"/>
                </a:solidFill>
              </a:rPr>
              <a:t>	</a:t>
            </a:r>
          </a:p>
        </p:txBody>
      </p:sp>
      <p:sp>
        <p:nvSpPr>
          <p:cNvPr id="2" name="Slide Number Placeholder 1">
            <a:extLst>
              <a:ext uri="{FF2B5EF4-FFF2-40B4-BE49-F238E27FC236}">
                <a16:creationId xmlns:a16="http://schemas.microsoft.com/office/drawing/2014/main" id="{1108F121-4663-03FA-5E66-0828C56244C8}"/>
              </a:ext>
            </a:extLst>
          </p:cNvPr>
          <p:cNvSpPr>
            <a:spLocks noGrp="1"/>
          </p:cNvSpPr>
          <p:nvPr>
            <p:ph type="sldNum" sz="quarter" idx="12"/>
          </p:nvPr>
        </p:nvSpPr>
        <p:spPr/>
        <p:txBody>
          <a:bodyPr/>
          <a:lstStyle/>
          <a:p>
            <a:fld id="{F8EF2FF5-BD00-45B8-A71A-EAE2607F0774}" type="slidenum">
              <a:rPr lang="en-IN" smtClean="0"/>
              <a:t>79</a:t>
            </a:fld>
            <a:endParaRPr lang="en-IN"/>
          </a:p>
        </p:txBody>
      </p:sp>
    </p:spTree>
    <p:extLst>
      <p:ext uri="{BB962C8B-B14F-4D97-AF65-F5344CB8AC3E}">
        <p14:creationId xmlns:p14="http://schemas.microsoft.com/office/powerpoint/2010/main" val="258637348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1018259-7A01-AE7B-6B21-458FC50DEC98}"/>
              </a:ext>
            </a:extLst>
          </p:cNvPr>
          <p:cNvSpPr>
            <a:spLocks noGrp="1"/>
          </p:cNvSpPr>
          <p:nvPr>
            <p:ph type="sldNum" sz="quarter" idx="12"/>
          </p:nvPr>
        </p:nvSpPr>
        <p:spPr/>
        <p:txBody>
          <a:bodyPr/>
          <a:lstStyle/>
          <a:p>
            <a:fld id="{F8EF2FF5-BD00-45B8-A71A-EAE2607F0774}" type="slidenum">
              <a:rPr lang="en-IN" smtClean="0"/>
              <a:t>80</a:t>
            </a:fld>
            <a:endParaRPr lang="en-IN"/>
          </a:p>
        </p:txBody>
      </p:sp>
    </p:spTree>
    <p:extLst>
      <p:ext uri="{BB962C8B-B14F-4D97-AF65-F5344CB8AC3E}">
        <p14:creationId xmlns:p14="http://schemas.microsoft.com/office/powerpoint/2010/main" val="26544060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3922</TotalTime>
  <Words>5886</Words>
  <Application>Microsoft Office PowerPoint</Application>
  <PresentationFormat>On-screen Show (4:3)</PresentationFormat>
  <Paragraphs>579</Paragraphs>
  <Slides>80</Slides>
  <Notes>21</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80</vt:i4>
      </vt:variant>
    </vt:vector>
  </HeadingPairs>
  <TitlesOfParts>
    <vt:vector size="90" baseType="lpstr">
      <vt:lpstr>ＭＳ Ｐゴシック</vt:lpstr>
      <vt:lpstr>Arial</vt:lpstr>
      <vt:lpstr>Calibri</vt:lpstr>
      <vt:lpstr>Minion-Italic</vt:lpstr>
      <vt:lpstr>Minion-Regular</vt:lpstr>
      <vt:lpstr>Symbol</vt:lpstr>
      <vt:lpstr>Times New Roman</vt:lpstr>
      <vt:lpstr>Wingdings</vt:lpstr>
      <vt:lpstr>Office Theme</vt:lpstr>
      <vt:lpstr>VISIO</vt:lpstr>
      <vt:lpstr>Concurrency Control In Transaction Processing ( Module 6)</vt:lpstr>
      <vt:lpstr>Concurrency Definition</vt:lpstr>
      <vt:lpstr>Concurrency Control</vt:lpstr>
      <vt:lpstr> </vt:lpstr>
      <vt:lpstr>PowerPoint Presentation</vt:lpstr>
      <vt:lpstr>PowerPoint Presentation</vt:lpstr>
      <vt:lpstr>Potential problems of Concurrency </vt:lpstr>
      <vt:lpstr>Why use Concurrency method?</vt:lpstr>
      <vt:lpstr>Concurrency Control Protocols</vt:lpstr>
      <vt:lpstr>Lock-Based Protocols </vt:lpstr>
      <vt:lpstr>PowerPoint Presentation</vt:lpstr>
      <vt:lpstr>Lock Based Protocol</vt:lpstr>
      <vt:lpstr>Lock Compatibility Matrix</vt:lpstr>
      <vt:lpstr>Two-Phase Locking Techniques: Essential components</vt:lpstr>
      <vt:lpstr>PowerPoint Presentation</vt:lpstr>
      <vt:lpstr>PowerPoint Presentation</vt:lpstr>
      <vt:lpstr>Lock Based Protocol Example</vt:lpstr>
      <vt:lpstr>PowerPoint Presentation</vt:lpstr>
      <vt:lpstr>Binary Lock Example</vt:lpstr>
      <vt:lpstr>Shared  Lock Example</vt:lpstr>
      <vt:lpstr>PowerPoint Presentation</vt:lpstr>
      <vt:lpstr>PowerPoint Presentation</vt:lpstr>
      <vt:lpstr>2 Phase Locking Techniques</vt:lpstr>
      <vt:lpstr>Two- Phase Locking Protocol</vt:lpstr>
      <vt:lpstr>PowerPoint Presentation</vt:lpstr>
      <vt:lpstr>Two- Phase Locking Protocol</vt:lpstr>
      <vt:lpstr>Two-Phase Locking </vt:lpstr>
      <vt:lpstr>Two-Phase Locking </vt:lpstr>
      <vt:lpstr>When transaction is non-serializable Schedule </vt:lpstr>
      <vt:lpstr>When transaction is non-serializable Schedule </vt:lpstr>
      <vt:lpstr>Transaction follow the 2PL</vt:lpstr>
      <vt:lpstr>PowerPoint Presentation</vt:lpstr>
      <vt:lpstr>PowerPoint Presentation</vt:lpstr>
      <vt:lpstr>PowerPoint Presentation</vt:lpstr>
      <vt:lpstr>Other type of 2PL </vt:lpstr>
      <vt:lpstr>Strict 2PL</vt:lpstr>
      <vt:lpstr>PowerPoint Presentation</vt:lpstr>
      <vt:lpstr>Rigorous 2PL</vt:lpstr>
      <vt:lpstr>Conservative 2PL Protocol</vt:lpstr>
      <vt:lpstr>Dealing with Deadlock and Starvation</vt:lpstr>
      <vt:lpstr>Dealing with Deadlock and Starvation</vt:lpstr>
      <vt:lpstr>Dealing with Deadlock and Starvation</vt:lpstr>
      <vt:lpstr>PowerPoint Presentation</vt:lpstr>
      <vt:lpstr>Recovery from Deadlock</vt:lpstr>
      <vt:lpstr>Dealing with Deadlock and Starvation</vt:lpstr>
      <vt:lpstr>Dealing with Deadlock and Starvation</vt:lpstr>
      <vt:lpstr>PowerPoint Presentation</vt:lpstr>
      <vt:lpstr>Timestamp-Based Protocol</vt:lpstr>
      <vt:lpstr>Timestamp-Based Protocol</vt:lpstr>
      <vt:lpstr>Timestamp-Based Protocol</vt:lpstr>
      <vt:lpstr>Timestamp-Based Protocol</vt:lpstr>
      <vt:lpstr>Timestamp-Based Protocol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Timestamp-Based Protocol</vt:lpstr>
      <vt:lpstr>Timestamp-Based Protocol</vt:lpstr>
      <vt:lpstr>Timestamp-Based Protocol</vt:lpstr>
      <vt:lpstr>Graph-Based Protocols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Management System</dc:title>
  <dc:creator>Admin</dc:creator>
  <cp:lastModifiedBy>Joshva Devadas</cp:lastModifiedBy>
  <cp:revision>224</cp:revision>
  <dcterms:created xsi:type="dcterms:W3CDTF">2019-05-30T15:49:42Z</dcterms:created>
  <dcterms:modified xsi:type="dcterms:W3CDTF">2024-11-11T01:30:06Z</dcterms:modified>
</cp:coreProperties>
</file>