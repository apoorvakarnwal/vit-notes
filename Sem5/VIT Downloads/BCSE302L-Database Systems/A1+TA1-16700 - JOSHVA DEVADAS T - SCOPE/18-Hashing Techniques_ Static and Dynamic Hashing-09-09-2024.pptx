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8" r:id="rId2"/>
    <p:sldId id="259" r:id="rId3"/>
    <p:sldId id="275" r:id="rId4"/>
    <p:sldId id="260" r:id="rId5"/>
    <p:sldId id="276" r:id="rId6"/>
    <p:sldId id="278" r:id="rId7"/>
    <p:sldId id="285" r:id="rId8"/>
    <p:sldId id="286" r:id="rId9"/>
    <p:sldId id="287" r:id="rId10"/>
    <p:sldId id="279" r:id="rId11"/>
    <p:sldId id="280" r:id="rId12"/>
    <p:sldId id="288" r:id="rId13"/>
    <p:sldId id="289" r:id="rId14"/>
    <p:sldId id="290" r:id="rId15"/>
    <p:sldId id="261" r:id="rId16"/>
    <p:sldId id="323" r:id="rId17"/>
    <p:sldId id="294" r:id="rId18"/>
    <p:sldId id="317" r:id="rId19"/>
    <p:sldId id="318" r:id="rId20"/>
    <p:sldId id="319" r:id="rId21"/>
    <p:sldId id="320" r:id="rId22"/>
    <p:sldId id="321" r:id="rId23"/>
    <p:sldId id="322" r:id="rId24"/>
    <p:sldId id="262" r:id="rId25"/>
    <p:sldId id="281" r:id="rId26"/>
    <p:sldId id="282" r:id="rId27"/>
    <p:sldId id="291" r:id="rId28"/>
    <p:sldId id="292" r:id="rId29"/>
    <p:sldId id="293" r:id="rId30"/>
    <p:sldId id="295" r:id="rId31"/>
    <p:sldId id="296" r:id="rId32"/>
    <p:sldId id="297" r:id="rId33"/>
    <p:sldId id="298" r:id="rId34"/>
    <p:sldId id="299" r:id="rId35"/>
    <p:sldId id="300" r:id="rId36"/>
    <p:sldId id="301" r:id="rId37"/>
    <p:sldId id="308" r:id="rId38"/>
    <p:sldId id="315" r:id="rId39"/>
    <p:sldId id="309" r:id="rId40"/>
    <p:sldId id="310" r:id="rId41"/>
    <p:sldId id="311" r:id="rId42"/>
    <p:sldId id="312" r:id="rId43"/>
    <p:sldId id="313" r:id="rId44"/>
    <p:sldId id="316" r:id="rId45"/>
    <p:sldId id="31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242" y="3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57F3F-4ADD-445F-9338-401B19D865FC}" type="datetimeFigureOut">
              <a:rPr lang="en-IN" smtClean="0"/>
              <a:t>18-09-2024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A580B-EA28-470C-AAE3-0A00DD7C3C72}" type="slidenum">
              <a:rPr lang="en-IN" smtClean="0"/>
              <a:t>‹#›</a:t>
            </a:fld>
            <a:endParaRPr lang="en-IN"/>
          </a:p>
        </p:txBody>
      </p:sp>
    </p:spTree>
    <p:extLst>
      <p:ext uri="{BB962C8B-B14F-4D97-AF65-F5344CB8AC3E}">
        <p14:creationId xmlns:p14="http://schemas.microsoft.com/office/powerpoint/2010/main" val="240742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polynomial function is a function that involves only non-negative integer powers or only positive integer exponents of a variable in an equation like the quadratic equation.</a:t>
            </a:r>
            <a:endParaRPr lang="en-IN" dirty="0"/>
          </a:p>
        </p:txBody>
      </p:sp>
      <p:sp>
        <p:nvSpPr>
          <p:cNvPr id="4" name="Slide Number Placeholder 3"/>
          <p:cNvSpPr>
            <a:spLocks noGrp="1"/>
          </p:cNvSpPr>
          <p:nvPr>
            <p:ph type="sldNum" sz="quarter" idx="10"/>
          </p:nvPr>
        </p:nvSpPr>
        <p:spPr/>
        <p:txBody>
          <a:bodyPr/>
          <a:lstStyle/>
          <a:p>
            <a:fld id="{CB6A580B-EA28-470C-AAE3-0A00DD7C3C72}" type="slidenum">
              <a:rPr lang="en-IN" smtClean="0"/>
              <a:t>5</a:t>
            </a:fld>
            <a:endParaRPr lang="en-IN"/>
          </a:p>
        </p:txBody>
      </p:sp>
    </p:spTree>
    <p:extLst>
      <p:ext uri="{BB962C8B-B14F-4D97-AF65-F5344CB8AC3E}">
        <p14:creationId xmlns:p14="http://schemas.microsoft.com/office/powerpoint/2010/main" val="2632957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1" i="0" kern="1200" dirty="0" smtClean="0">
                <a:solidFill>
                  <a:schemeClr val="tx1"/>
                </a:solidFill>
                <a:effectLst/>
                <a:latin typeface="+mn-lt"/>
                <a:ea typeface="+mn-ea"/>
                <a:cs typeface="+mn-cs"/>
              </a:rPr>
              <a:t>Applications of linear probing:  caching, Symbol tables, spell checking, compiler design</a:t>
            </a:r>
          </a:p>
          <a:p>
            <a:pPr marL="0" marR="0" indent="0" algn="l" defTabSz="914400" rtl="0" eaLnBrk="1" fontAlgn="auto" latinLnBrk="0" hangingPunct="1">
              <a:lnSpc>
                <a:spcPct val="100000"/>
              </a:lnSpc>
              <a:spcBef>
                <a:spcPts val="0"/>
              </a:spcBef>
              <a:spcAft>
                <a:spcPts val="0"/>
              </a:spcAft>
              <a:buClrTx/>
              <a:buSzTx/>
              <a:buFontTx/>
              <a:buNone/>
              <a:tabLst/>
              <a:defRPr/>
            </a:pPr>
            <a:r>
              <a:rPr lang="en-IN" sz="1200" b="1" i="0" kern="1200" dirty="0" smtClean="0">
                <a:solidFill>
                  <a:schemeClr val="tx1"/>
                </a:solidFill>
                <a:effectLst/>
                <a:latin typeface="+mn-lt"/>
                <a:ea typeface="+mn-ea"/>
                <a:cs typeface="+mn-cs"/>
              </a:rPr>
              <a:t>For quadratic probing, use mid-square</a:t>
            </a:r>
            <a:r>
              <a:rPr lang="en-IN" sz="1200" b="0" i="0" kern="1200" dirty="0" smtClean="0">
                <a:solidFill>
                  <a:schemeClr val="tx1"/>
                </a:solidFill>
                <a:effectLst/>
                <a:latin typeface="+mn-lt"/>
                <a:ea typeface="+mn-ea"/>
                <a:cs typeface="+mn-cs"/>
              </a:rPr>
              <a:t> method - </a:t>
            </a:r>
            <a:r>
              <a:rPr lang="en-US" sz="1200" b="0" i="0" kern="1200" dirty="0" smtClean="0">
                <a:solidFill>
                  <a:schemeClr val="tx1"/>
                </a:solidFill>
                <a:effectLst/>
                <a:latin typeface="+mn-lt"/>
                <a:ea typeface="+mn-ea"/>
                <a:cs typeface="+mn-cs"/>
              </a:rPr>
              <a:t>we look for the </a:t>
            </a:r>
            <a:r>
              <a:rPr lang="en-US" sz="1200" b="1" i="0" kern="1200" dirty="0" smtClean="0">
                <a:solidFill>
                  <a:schemeClr val="tx1"/>
                </a:solidFill>
                <a:effectLst/>
                <a:latin typeface="+mn-lt"/>
                <a:ea typeface="+mn-ea"/>
                <a:cs typeface="+mn-cs"/>
              </a:rPr>
              <a:t>i</a:t>
            </a:r>
            <a:r>
              <a:rPr lang="en-US" sz="1200" b="1" i="0" kern="1200" baseline="30000" dirty="0" smtClean="0">
                <a:solidFill>
                  <a:schemeClr val="tx1"/>
                </a:solidFill>
                <a:effectLst/>
                <a:latin typeface="+mn-lt"/>
                <a:ea typeface="+mn-ea"/>
                <a:cs typeface="+mn-cs"/>
              </a:rPr>
              <a:t>2</a:t>
            </a:r>
            <a:r>
              <a:rPr lang="en-US" sz="1200" b="1" i="0" kern="1200" dirty="0" smtClean="0">
                <a:solidFill>
                  <a:schemeClr val="tx1"/>
                </a:solidFill>
                <a:effectLst/>
                <a:latin typeface="+mn-lt"/>
                <a:ea typeface="+mn-ea"/>
                <a:cs typeface="+mn-cs"/>
              </a:rPr>
              <a:t>‘th</a:t>
            </a:r>
            <a:r>
              <a:rPr lang="en-US" sz="1200" b="0" i="0" kern="1200" dirty="0" smtClean="0">
                <a:solidFill>
                  <a:schemeClr val="tx1"/>
                </a:solidFill>
                <a:effectLst/>
                <a:latin typeface="+mn-lt"/>
                <a:ea typeface="+mn-ea"/>
                <a:cs typeface="+mn-cs"/>
              </a:rPr>
              <a:t> slot in the </a:t>
            </a:r>
            <a:r>
              <a:rPr lang="en-US" sz="1200" b="1" i="0" kern="1200" dirty="0" err="1" smtClean="0">
                <a:solidFill>
                  <a:schemeClr val="tx1"/>
                </a:solidFill>
                <a:effectLst/>
                <a:latin typeface="+mn-lt"/>
                <a:ea typeface="+mn-ea"/>
                <a:cs typeface="+mn-cs"/>
              </a:rPr>
              <a:t>i</a:t>
            </a:r>
            <a:r>
              <a:rPr lang="en-US" sz="1200" b="1" i="0" kern="1200" baseline="30000" dirty="0" err="1" smtClean="0">
                <a:solidFill>
                  <a:schemeClr val="tx1"/>
                </a:solidFill>
                <a:effectLst/>
                <a:latin typeface="+mn-lt"/>
                <a:ea typeface="+mn-ea"/>
                <a:cs typeface="+mn-cs"/>
              </a:rPr>
              <a:t>th</a:t>
            </a:r>
            <a:r>
              <a:rPr lang="en-US" sz="1200" b="0" i="0" kern="1200" dirty="0" smtClean="0">
                <a:solidFill>
                  <a:schemeClr val="tx1"/>
                </a:solidFill>
                <a:effectLst/>
                <a:latin typeface="+mn-lt"/>
                <a:ea typeface="+mn-ea"/>
                <a:cs typeface="+mn-cs"/>
              </a:rPr>
              <a:t> iteration (hash(x): </a:t>
            </a:r>
            <a:r>
              <a:rPr lang="en-IN" sz="1200" b="0" i="0" kern="1200" dirty="0" smtClean="0">
                <a:solidFill>
                  <a:schemeClr val="tx1"/>
                </a:solidFill>
                <a:effectLst/>
                <a:latin typeface="+mn-lt"/>
                <a:ea typeface="+mn-ea"/>
                <a:cs typeface="+mn-cs"/>
              </a:rPr>
              <a:t>1+1</a:t>
            </a:r>
            <a:r>
              <a:rPr lang="en-IN" sz="1200" b="0" i="0" kern="1200" baseline="30000" dirty="0" smtClean="0">
                <a:solidFill>
                  <a:schemeClr val="tx1"/>
                </a:solidFill>
                <a:effectLst/>
                <a:latin typeface="+mn-lt"/>
                <a:ea typeface="+mn-ea"/>
                <a:cs typeface="+mn-cs"/>
              </a:rPr>
              <a:t>2</a:t>
            </a:r>
            <a:r>
              <a:rPr lang="en-US" sz="1200" b="0" i="0" kern="1200" dirty="0" smtClean="0">
                <a:solidFill>
                  <a:schemeClr val="tx1"/>
                </a:solidFill>
                <a:effectLst/>
                <a:latin typeface="+mn-lt"/>
                <a:ea typeface="+mn-ea"/>
                <a:cs typeface="+mn-cs"/>
              </a:rPr>
              <a:t>)</a:t>
            </a:r>
            <a:r>
              <a:rPr lang="en-IN" sz="1200" b="0" i="0" kern="1200" baseline="30000" dirty="0" smtClean="0">
                <a:solidFill>
                  <a:schemeClr val="tx1"/>
                </a:solidFill>
                <a:effectLst/>
                <a:latin typeface="+mn-lt"/>
                <a:ea typeface="+mn-ea"/>
                <a:cs typeface="+mn-cs"/>
              </a:rPr>
              <a:t> </a:t>
            </a:r>
            <a:endParaRPr lang="en-IN" sz="1200" b="1" i="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CB6A580B-EA28-470C-AAE3-0A00DD7C3C72}" type="slidenum">
              <a:rPr lang="en-IN" smtClean="0"/>
              <a:t>26</a:t>
            </a:fld>
            <a:endParaRPr lang="en-IN"/>
          </a:p>
        </p:txBody>
      </p:sp>
    </p:spTree>
    <p:extLst>
      <p:ext uri="{BB962C8B-B14F-4D97-AF65-F5344CB8AC3E}">
        <p14:creationId xmlns:p14="http://schemas.microsoft.com/office/powerpoint/2010/main" val="1827395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609722-7B94-4AA5-930F-DD433DA7FE71}" type="slidenum">
              <a:rPr lang="en-US"/>
              <a:pPr/>
              <a:t>33</a:t>
            </a:fld>
            <a:endParaRPr lang="en-US"/>
          </a:p>
        </p:txBody>
      </p:sp>
      <p:sp>
        <p:nvSpPr>
          <p:cNvPr id="177154" name="Rectangle 2"/>
          <p:cNvSpPr>
            <a:spLocks noGrp="1" noRot="1" noChangeAspect="1" noChangeArrowheads="1" noTextEdit="1"/>
          </p:cNvSpPr>
          <p:nvPr>
            <p:ph type="sldImg"/>
          </p:nvPr>
        </p:nvSpPr>
        <p:spPr>
          <a:xfrm>
            <a:off x="1143000" y="685800"/>
            <a:ext cx="4572000" cy="3429000"/>
          </a:xfrm>
          <a:ln/>
        </p:spPr>
      </p:sp>
      <p:sp>
        <p:nvSpPr>
          <p:cNvPr id="177155" name="Rectangle 3"/>
          <p:cNvSpPr>
            <a:spLocks noGrp="1" noChangeArrowheads="1"/>
          </p:cNvSpPr>
          <p:nvPr>
            <p:ph type="body" idx="1"/>
          </p:nvPr>
        </p:nvSpPr>
        <p:spPr>
          <a:xfrm>
            <a:off x="912203" y="4343401"/>
            <a:ext cx="5033596" cy="4114800"/>
          </a:xfrm>
        </p:spPr>
        <p:txBody>
          <a:bodyPr/>
          <a:lstStyle/>
          <a:p>
            <a:r>
              <a:rPr lang="en-US" dirty="0"/>
              <a:t>You can see that this works pretty well for an empty table and gets worse as the table fills up.</a:t>
            </a:r>
          </a:p>
          <a:p>
            <a:endParaRPr lang="en-US" dirty="0"/>
          </a:p>
          <a:p>
            <a:r>
              <a:rPr lang="en-US" dirty="0"/>
              <a:t>There’s another problem here. If a bunch of elements hash to the same spot, they mess each other up.</a:t>
            </a:r>
          </a:p>
          <a:p>
            <a:endParaRPr lang="en-US" dirty="0"/>
          </a:p>
          <a:p>
            <a:r>
              <a:rPr lang="en-US" dirty="0"/>
              <a:t>But, worse, if a bunch of elements hash to the same </a:t>
            </a:r>
            <a:r>
              <a:rPr lang="en-US" i="1" dirty="0"/>
              <a:t>area</a:t>
            </a:r>
            <a:r>
              <a:rPr lang="en-US" dirty="0"/>
              <a:t> of the table, they mess each other up! (Even though the hash function isn’t producing lots of collisions!)</a:t>
            </a:r>
          </a:p>
          <a:p>
            <a:endParaRPr lang="en-US" dirty="0"/>
          </a:p>
          <a:p>
            <a:r>
              <a:rPr lang="en-US" dirty="0"/>
              <a:t>This phenomenon is called primary clustering.</a:t>
            </a:r>
          </a:p>
        </p:txBody>
      </p:sp>
    </p:spTree>
    <p:extLst>
      <p:ext uri="{BB962C8B-B14F-4D97-AF65-F5344CB8AC3E}">
        <p14:creationId xmlns:p14="http://schemas.microsoft.com/office/powerpoint/2010/main" val="1292354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4538AB-1D43-43E0-A7A9-AD5A341FAA73}" type="slidenum">
              <a:rPr lang="en-US"/>
              <a:pPr/>
              <a:t>34</a:t>
            </a:fld>
            <a:endParaRPr lang="en-US"/>
          </a:p>
        </p:txBody>
      </p:sp>
      <p:sp>
        <p:nvSpPr>
          <p:cNvPr id="179202" name="Rectangle 2"/>
          <p:cNvSpPr>
            <a:spLocks noGrp="1" noRot="1" noChangeAspect="1" noChangeArrowheads="1" noTextEdit="1"/>
          </p:cNvSpPr>
          <p:nvPr>
            <p:ph type="sldImg"/>
          </p:nvPr>
        </p:nvSpPr>
        <p:spPr>
          <a:xfrm>
            <a:off x="1143000" y="685800"/>
            <a:ext cx="4572000" cy="3429000"/>
          </a:xfrm>
          <a:ln/>
        </p:spPr>
      </p:sp>
      <p:sp>
        <p:nvSpPr>
          <p:cNvPr id="179203" name="Rectangle 3"/>
          <p:cNvSpPr>
            <a:spLocks noGrp="1" noChangeArrowheads="1"/>
          </p:cNvSpPr>
          <p:nvPr>
            <p:ph type="body" idx="1"/>
          </p:nvPr>
        </p:nvSpPr>
        <p:spPr>
          <a:xfrm>
            <a:off x="912203" y="4343401"/>
            <a:ext cx="5033596" cy="4114800"/>
          </a:xfrm>
        </p:spPr>
        <p:txBody>
          <a:bodyPr/>
          <a:lstStyle/>
          <a:p>
            <a:r>
              <a:rPr lang="en-US"/>
              <a:t>You can see that this works pretty well for an empty table and gets worse as the table fills up.</a:t>
            </a:r>
          </a:p>
          <a:p>
            <a:endParaRPr lang="en-US"/>
          </a:p>
          <a:p>
            <a:r>
              <a:rPr lang="en-US"/>
              <a:t>There’s another problem here. If a bunch of elements hash to the same spot, they mess each other up.</a:t>
            </a:r>
          </a:p>
          <a:p>
            <a:endParaRPr lang="en-US"/>
          </a:p>
          <a:p>
            <a:r>
              <a:rPr lang="en-US"/>
              <a:t>But, worse, if a bunch of elements hash to the same </a:t>
            </a:r>
            <a:r>
              <a:rPr lang="en-US" i="1"/>
              <a:t>area</a:t>
            </a:r>
            <a:r>
              <a:rPr lang="en-US"/>
              <a:t> of the table, they mess each other up! (Even though the hash function isn’t producing lots of collisions!)</a:t>
            </a:r>
          </a:p>
          <a:p>
            <a:endParaRPr lang="en-US"/>
          </a:p>
          <a:p>
            <a:r>
              <a:rPr lang="en-US"/>
              <a:t>This phenomenon is called primary clustering.</a:t>
            </a:r>
          </a:p>
        </p:txBody>
      </p:sp>
    </p:spTree>
    <p:extLst>
      <p:ext uri="{BB962C8B-B14F-4D97-AF65-F5344CB8AC3E}">
        <p14:creationId xmlns:p14="http://schemas.microsoft.com/office/powerpoint/2010/main" val="2982016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latin typeface="Times New Roman" panose="02020603050405020304" pitchFamily="18" charset="0"/>
                <a:cs typeface="Times New Roman" panose="02020603050405020304" pitchFamily="18" charset="0"/>
              </a:rPr>
              <a:t>Idea</a:t>
            </a:r>
            <a:r>
              <a:rPr lang="en-US" sz="1200" dirty="0" smtClean="0">
                <a:latin typeface="Times New Roman" panose="02020603050405020304" pitchFamily="18" charset="0"/>
                <a:cs typeface="Times New Roman" panose="02020603050405020304" pitchFamily="18" charset="0"/>
              </a:rPr>
              <a:t>: Spread out the search for an empty slot by using a second hash function</a:t>
            </a:r>
          </a:p>
          <a:p>
            <a:endParaRPr lang="en-IN" dirty="0"/>
          </a:p>
        </p:txBody>
      </p:sp>
      <p:sp>
        <p:nvSpPr>
          <p:cNvPr id="4" name="Slide Number Placeholder 3"/>
          <p:cNvSpPr>
            <a:spLocks noGrp="1"/>
          </p:cNvSpPr>
          <p:nvPr>
            <p:ph type="sldNum" sz="quarter" idx="10"/>
          </p:nvPr>
        </p:nvSpPr>
        <p:spPr/>
        <p:txBody>
          <a:bodyPr/>
          <a:lstStyle/>
          <a:p>
            <a:fld id="{CB6A580B-EA28-470C-AAE3-0A00DD7C3C72}" type="slidenum">
              <a:rPr lang="en-IN" smtClean="0"/>
              <a:t>38</a:t>
            </a:fld>
            <a:endParaRPr lang="en-IN"/>
          </a:p>
        </p:txBody>
      </p:sp>
    </p:spTree>
    <p:extLst>
      <p:ext uri="{BB962C8B-B14F-4D97-AF65-F5344CB8AC3E}">
        <p14:creationId xmlns:p14="http://schemas.microsoft.com/office/powerpoint/2010/main" val="2068456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sym typeface="Symbol" pitchFamily="18" charset="2"/>
              </a:rPr>
              <a:t> - no. of keys / hash</a:t>
            </a:r>
            <a:r>
              <a:rPr lang="en-US" sz="1200" baseline="0" dirty="0" smtClean="0">
                <a:sym typeface="Symbol" pitchFamily="18" charset="2"/>
              </a:rPr>
              <a:t> table size. If </a:t>
            </a:r>
            <a:r>
              <a:rPr lang="en-US" sz="1200" dirty="0" smtClean="0">
                <a:sym typeface="Symbol" pitchFamily="18" charset="2"/>
              </a:rPr>
              <a:t> is less than 1, no problem otherwise go for rehashing. </a:t>
            </a:r>
            <a:endParaRPr lang="en-IN" dirty="0"/>
          </a:p>
        </p:txBody>
      </p:sp>
      <p:sp>
        <p:nvSpPr>
          <p:cNvPr id="4" name="Slide Number Placeholder 3"/>
          <p:cNvSpPr>
            <a:spLocks noGrp="1"/>
          </p:cNvSpPr>
          <p:nvPr>
            <p:ph type="sldNum" sz="quarter" idx="10"/>
          </p:nvPr>
        </p:nvSpPr>
        <p:spPr/>
        <p:txBody>
          <a:bodyPr/>
          <a:lstStyle/>
          <a:p>
            <a:fld id="{61F44432-32FA-4E8C-B071-F456519C45CD}" type="slidenum">
              <a:rPr lang="en-IN" smtClean="0"/>
              <a:t>39</a:t>
            </a:fld>
            <a:endParaRPr lang="en-IN"/>
          </a:p>
        </p:txBody>
      </p:sp>
    </p:spTree>
    <p:extLst>
      <p:ext uri="{BB962C8B-B14F-4D97-AF65-F5344CB8AC3E}">
        <p14:creationId xmlns:p14="http://schemas.microsoft.com/office/powerpoint/2010/main" val="1539846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FB668-0F30-4A84-9D1C-85A8732FF83C}" type="slidenum">
              <a:rPr lang="en-US"/>
              <a:pPr/>
              <a:t>41</a:t>
            </a:fld>
            <a:endParaRPr lang="en-US"/>
          </a:p>
        </p:txBody>
      </p:sp>
      <p:sp>
        <p:nvSpPr>
          <p:cNvPr id="184322" name="Rectangle 2"/>
          <p:cNvSpPr>
            <a:spLocks noGrp="1" noRot="1" noChangeAspect="1" noChangeArrowheads="1" noTextEdit="1"/>
          </p:cNvSpPr>
          <p:nvPr>
            <p:ph type="sldImg"/>
          </p:nvPr>
        </p:nvSpPr>
        <p:spPr>
          <a:xfrm>
            <a:off x="1143000" y="685800"/>
            <a:ext cx="4572000" cy="3429000"/>
          </a:xfrm>
          <a:ln/>
        </p:spPr>
      </p:sp>
      <p:sp>
        <p:nvSpPr>
          <p:cNvPr id="184323" name="Rectangle 3"/>
          <p:cNvSpPr>
            <a:spLocks noGrp="1" noChangeArrowheads="1"/>
          </p:cNvSpPr>
          <p:nvPr>
            <p:ph type="body" idx="1"/>
          </p:nvPr>
        </p:nvSpPr>
        <p:spPr>
          <a:xfrm>
            <a:off x="912203" y="4343401"/>
            <a:ext cx="5033596" cy="4114800"/>
          </a:xfrm>
        </p:spPr>
        <p:txBody>
          <a:bodyPr/>
          <a:lstStyle/>
          <a:p>
            <a:r>
              <a:rPr lang="en-US" dirty="0"/>
              <a:t>You can see that this works pretty well for an empty table and gets worse as the table fills up.</a:t>
            </a:r>
          </a:p>
          <a:p>
            <a:endParaRPr lang="en-US" dirty="0"/>
          </a:p>
          <a:p>
            <a:r>
              <a:rPr lang="en-US" dirty="0"/>
              <a:t>There’s another problem here. If a bunch of elements hash to the same spot, they mess each other up.</a:t>
            </a:r>
          </a:p>
          <a:p>
            <a:endParaRPr lang="en-US" dirty="0"/>
          </a:p>
          <a:p>
            <a:r>
              <a:rPr lang="en-US" dirty="0"/>
              <a:t>But, worse, if a bunch of elements hash to the same </a:t>
            </a:r>
            <a:r>
              <a:rPr lang="en-US" i="1" dirty="0"/>
              <a:t>area</a:t>
            </a:r>
            <a:r>
              <a:rPr lang="en-US" dirty="0"/>
              <a:t> of the table, they mess each other up! (Even though the hash function isn’t producing lots of collisions!)</a:t>
            </a:r>
          </a:p>
          <a:p>
            <a:endParaRPr lang="en-US" dirty="0"/>
          </a:p>
          <a:p>
            <a:r>
              <a:rPr lang="en-US" dirty="0"/>
              <a:t>This phenomenon is called primary clustering.</a:t>
            </a:r>
          </a:p>
        </p:txBody>
      </p:sp>
    </p:spTree>
    <p:extLst>
      <p:ext uri="{BB962C8B-B14F-4D97-AF65-F5344CB8AC3E}">
        <p14:creationId xmlns:p14="http://schemas.microsoft.com/office/powerpoint/2010/main" val="3756037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167388-8962-4310-A581-A0F12ED42FF3}" type="slidenum">
              <a:rPr lang="en-US"/>
              <a:pPr/>
              <a:t>42</a:t>
            </a:fld>
            <a:endParaRPr lang="en-US"/>
          </a:p>
        </p:txBody>
      </p:sp>
      <p:sp>
        <p:nvSpPr>
          <p:cNvPr id="186370" name="Rectangle 2"/>
          <p:cNvSpPr>
            <a:spLocks noGrp="1" noRot="1" noChangeAspect="1" noChangeArrowheads="1" noTextEdit="1"/>
          </p:cNvSpPr>
          <p:nvPr>
            <p:ph type="sldImg"/>
          </p:nvPr>
        </p:nvSpPr>
        <p:spPr>
          <a:xfrm>
            <a:off x="1143000" y="685800"/>
            <a:ext cx="4572000" cy="3429000"/>
          </a:xfrm>
          <a:ln/>
        </p:spPr>
      </p:sp>
      <p:sp>
        <p:nvSpPr>
          <p:cNvPr id="186371" name="Rectangle 3"/>
          <p:cNvSpPr>
            <a:spLocks noGrp="1" noChangeArrowheads="1"/>
          </p:cNvSpPr>
          <p:nvPr>
            <p:ph type="body" idx="1"/>
          </p:nvPr>
        </p:nvSpPr>
        <p:spPr>
          <a:xfrm>
            <a:off x="912203" y="4343401"/>
            <a:ext cx="5033596" cy="4114800"/>
          </a:xfrm>
        </p:spPr>
        <p:txBody>
          <a:bodyPr/>
          <a:lstStyle/>
          <a:p>
            <a:r>
              <a:rPr lang="en-US" dirty="0"/>
              <a:t>You can see that this works pretty well for an empty table and gets worse as the table fills up.</a:t>
            </a:r>
          </a:p>
          <a:p>
            <a:endParaRPr lang="en-US" dirty="0"/>
          </a:p>
          <a:p>
            <a:r>
              <a:rPr lang="en-US" dirty="0"/>
              <a:t>There’s another problem here. If a bunch of elements hash to the same spot, they mess each other up.</a:t>
            </a:r>
          </a:p>
          <a:p>
            <a:endParaRPr lang="en-US" dirty="0"/>
          </a:p>
          <a:p>
            <a:r>
              <a:rPr lang="en-US" dirty="0"/>
              <a:t>But, worse, if a bunch of elements hash to the same </a:t>
            </a:r>
            <a:r>
              <a:rPr lang="en-US" i="1" dirty="0"/>
              <a:t>area</a:t>
            </a:r>
            <a:r>
              <a:rPr lang="en-US" dirty="0"/>
              <a:t> of the table, they mess each other up! (Even though the hash function isn’t producing lots of collisions!)</a:t>
            </a:r>
          </a:p>
          <a:p>
            <a:endParaRPr lang="en-US" dirty="0"/>
          </a:p>
          <a:p>
            <a:r>
              <a:rPr lang="en-US" dirty="0"/>
              <a:t>This phenomenon is called primary clustering.</a:t>
            </a:r>
          </a:p>
        </p:txBody>
      </p:sp>
    </p:spTree>
    <p:extLst>
      <p:ext uri="{BB962C8B-B14F-4D97-AF65-F5344CB8AC3E}">
        <p14:creationId xmlns:p14="http://schemas.microsoft.com/office/powerpoint/2010/main" val="2674919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5F05679-019F-415C-9603-DE73F7E7F378}" type="datetime1">
              <a:rPr lang="en-IN" smtClean="0"/>
              <a:t>18-09-2024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3214142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8662BB-00A7-47CE-87AB-21FA7F9CF86F}" type="datetime1">
              <a:rPr lang="en-IN" smtClean="0"/>
              <a:t>18-09-2024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84249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1B86B2-E74B-4D7A-A4DF-585E105B340E}" type="datetime1">
              <a:rPr lang="en-IN" smtClean="0"/>
              <a:t>18-09-2024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183842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66063BE-6121-4759-B01C-4C9791E185D9}" type="datetime1">
              <a:rPr lang="en-IN" smtClean="0"/>
              <a:t>18-09-2024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2290976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381D439-ACD5-4596-A747-46DFE1A408C6}" type="datetime1">
              <a:rPr lang="en-IN" smtClean="0"/>
              <a:t>18-09-2024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183704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883315A-4318-4DF6-99BE-DCFDE6373668}" type="datetime1">
              <a:rPr lang="en-IN" smtClean="0"/>
              <a:t>18-09-2024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955513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E2CB8A-0F05-4849-9359-D6D5034D0525}" type="datetime1">
              <a:rPr lang="en-IN" smtClean="0"/>
              <a:t>18-09-2024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3707948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CD81E5-2745-4005-ABFF-78719A00E914}" type="datetime1">
              <a:rPr lang="en-IN" smtClean="0"/>
              <a:t>18-09-2024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3659728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1FA2A0-69F4-48DA-9D85-C9E76C02C4FE}" type="datetime1">
              <a:rPr lang="en-IN" smtClean="0"/>
              <a:t>18-09-2024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2844331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6B3068-6473-4880-B54A-399343B96197}" type="datetime1">
              <a:rPr lang="en-IN" smtClean="0"/>
              <a:t>18-09-2024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225162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24F177B-E0F2-4707-AF29-B9C4F3A09227}" type="datetime1">
              <a:rPr lang="en-IN" smtClean="0"/>
              <a:t>18-09-2024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E4AA30-DFC3-4E29-B54E-BC96FFE3FF90}" type="slidenum">
              <a:rPr lang="en-IN" smtClean="0"/>
              <a:t>‹#›</a:t>
            </a:fld>
            <a:endParaRPr lang="en-IN"/>
          </a:p>
        </p:txBody>
      </p:sp>
    </p:spTree>
    <p:extLst>
      <p:ext uri="{BB962C8B-B14F-4D97-AF65-F5344CB8AC3E}">
        <p14:creationId xmlns:p14="http://schemas.microsoft.com/office/powerpoint/2010/main" val="3075490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2C3E6C-273E-43D4-BB59-88738AC71395}" type="datetime1">
              <a:rPr lang="en-IN" smtClean="0"/>
              <a:t>18-09-2024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E4AA30-DFC3-4E29-B54E-BC96FFE3FF90}" type="slidenum">
              <a:rPr lang="en-IN" smtClean="0"/>
              <a:t>‹#›</a:t>
            </a:fld>
            <a:endParaRPr lang="en-IN"/>
          </a:p>
        </p:txBody>
      </p:sp>
    </p:spTree>
    <p:extLst>
      <p:ext uri="{BB962C8B-B14F-4D97-AF65-F5344CB8AC3E}">
        <p14:creationId xmlns:p14="http://schemas.microsoft.com/office/powerpoint/2010/main" val="358156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ubtitle 2"/>
          <p:cNvSpPr>
            <a:spLocks noGrp="1"/>
          </p:cNvSpPr>
          <p:nvPr>
            <p:ph sz="quarter" idx="1"/>
          </p:nvPr>
        </p:nvSpPr>
        <p:spPr>
          <a:xfrm>
            <a:off x="467544" y="1124744"/>
            <a:ext cx="8229600" cy="4525963"/>
          </a:xfrm>
        </p:spPr>
        <p:txBody>
          <a:bodyPr/>
          <a:lstStyle/>
          <a:p>
            <a:pPr marL="0" indent="0" algn="ctr">
              <a:buFont typeface="Wingdings" panose="05000000000000000000" pitchFamily="2" charset="2"/>
              <a:buNone/>
            </a:pPr>
            <a:endParaRPr lang="en-US" altLang="en-US" b="1" dirty="0"/>
          </a:p>
          <a:p>
            <a:pPr marL="0" indent="0" algn="ctr">
              <a:buFont typeface="Wingdings" panose="05000000000000000000" pitchFamily="2" charset="2"/>
              <a:buNone/>
            </a:pPr>
            <a:endParaRPr lang="en-US" altLang="en-US" b="1" dirty="0"/>
          </a:p>
          <a:p>
            <a:pPr marL="0" indent="0" algn="ctr">
              <a:buNone/>
            </a:pPr>
            <a:r>
              <a:rPr lang="en-US" sz="3600" b="1" dirty="0" smtClean="0">
                <a:solidFill>
                  <a:srgbClr val="FF0000"/>
                </a:solidFill>
                <a:latin typeface="Times New Roman" panose="02020603050405020304" pitchFamily="18" charset="0"/>
                <a:cs typeface="Times New Roman" panose="02020603050405020304" pitchFamily="18" charset="0"/>
              </a:rPr>
              <a:t>MODULE -4</a:t>
            </a:r>
          </a:p>
          <a:p>
            <a:pPr marL="0" indent="0" algn="ctr">
              <a:buNone/>
            </a:pPr>
            <a:r>
              <a:rPr lang="en-US" sz="3600" b="1" dirty="0" smtClean="0">
                <a:solidFill>
                  <a:srgbClr val="FF0000"/>
                </a:solidFill>
                <a:latin typeface="Times New Roman" panose="02020603050405020304" pitchFamily="18" charset="0"/>
                <a:cs typeface="Times New Roman" panose="02020603050405020304" pitchFamily="18" charset="0"/>
              </a:rPr>
              <a:t>Hashing – Static Hashing</a:t>
            </a:r>
            <a:endParaRPr lang="en-US" altLang="en-US" sz="3600" b="1" dirty="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1</a:t>
            </a:fld>
            <a:endParaRPr lang="en-IN"/>
          </a:p>
        </p:txBody>
      </p:sp>
    </p:spTree>
    <p:extLst>
      <p:ext uri="{BB962C8B-B14F-4D97-AF65-F5344CB8AC3E}">
        <p14:creationId xmlns:p14="http://schemas.microsoft.com/office/powerpoint/2010/main" val="304516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b="1" dirty="0" smtClean="0">
                <a:solidFill>
                  <a:srgbClr val="FF0000"/>
                </a:solidFill>
                <a:latin typeface="Times New Roman" panose="02020603050405020304" pitchFamily="18" charset="0"/>
                <a:cs typeface="Times New Roman" panose="02020603050405020304" pitchFamily="18" charset="0"/>
              </a:rPr>
              <a:t>Why Hashing?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6387" name="Content Placeholder 2"/>
          <p:cNvSpPr>
            <a:spLocks noGrp="1"/>
          </p:cNvSpPr>
          <p:nvPr>
            <p:ph sz="quarter"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In huge databases it is very impractical to search all the index values to get the desired data as searching all the index values through all the levels is not an efficient way to reach destination data block to retrieve the desired data.</a:t>
            </a:r>
          </a:p>
          <a:p>
            <a:pPr marL="0" indent="0" algn="just">
              <a:buNone/>
            </a:pPr>
            <a:endParaRPr lang="en-US" altLang="en-US" dirty="0">
              <a:latin typeface="Times New Roman" panose="02020603050405020304" pitchFamily="18" charset="0"/>
              <a:cs typeface="Times New Roman" panose="02020603050405020304" pitchFamily="18" charset="0"/>
            </a:endParaRPr>
          </a:p>
          <a:p>
            <a:pPr marL="0" indent="0" algn="just">
              <a:buNone/>
            </a:pPr>
            <a:r>
              <a:rPr lang="en-US" altLang="en-US" dirty="0">
                <a:latin typeface="Times New Roman" panose="02020603050405020304" pitchFamily="18" charset="0"/>
                <a:cs typeface="Times New Roman" panose="02020603050405020304" pitchFamily="18" charset="0"/>
              </a:rPr>
              <a:t>So we need an efficient technique</a:t>
            </a:r>
          </a:p>
        </p:txBody>
      </p:sp>
      <p:sp>
        <p:nvSpPr>
          <p:cNvPr id="2" name="Slide Number Placeholder 1"/>
          <p:cNvSpPr>
            <a:spLocks noGrp="1"/>
          </p:cNvSpPr>
          <p:nvPr>
            <p:ph type="sldNum" sz="quarter" idx="12"/>
          </p:nvPr>
        </p:nvSpPr>
        <p:spPr/>
        <p:txBody>
          <a:bodyPr/>
          <a:lstStyle/>
          <a:p>
            <a:fld id="{DDE4AA30-DFC3-4E29-B54E-BC96FFE3FF90}" type="slidenum">
              <a:rPr lang="en-IN" smtClean="0"/>
              <a:t>2</a:t>
            </a:fld>
            <a:endParaRPr lang="en-IN"/>
          </a:p>
        </p:txBody>
      </p:sp>
    </p:spTree>
    <p:extLst>
      <p:ext uri="{BB962C8B-B14F-4D97-AF65-F5344CB8AC3E}">
        <p14:creationId xmlns:p14="http://schemas.microsoft.com/office/powerpoint/2010/main" val="3007021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b="1" dirty="0" smtClean="0">
                <a:solidFill>
                  <a:srgbClr val="FF0000"/>
                </a:solidFill>
                <a:latin typeface="Times New Roman" panose="02020603050405020304" pitchFamily="18" charset="0"/>
                <a:cs typeface="Times New Roman" panose="02020603050405020304" pitchFamily="18" charset="0"/>
              </a:rPr>
              <a:t>What is Hashing?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6387" name="Content Placeholder 2"/>
          <p:cNvSpPr>
            <a:spLocks noGrp="1"/>
          </p:cNvSpPr>
          <p:nvPr>
            <p:ph sz="quarter" idx="1"/>
          </p:nvPr>
        </p:nvSpPr>
        <p:spPr>
          <a:xfrm>
            <a:off x="457200" y="1600200"/>
            <a:ext cx="8363272" cy="4925144"/>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Hashing is a method for calculating the direct position of an information record on the disk without the use of an index structure</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alt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 is </a:t>
            </a:r>
            <a:r>
              <a:rPr lang="en-US" dirty="0">
                <a:latin typeface="Times New Roman" panose="02020603050405020304" pitchFamily="18" charset="0"/>
                <a:cs typeface="Times New Roman" panose="02020603050405020304" pitchFamily="18" charset="0"/>
              </a:rPr>
              <a:t>an effective technique </a:t>
            </a:r>
            <a:r>
              <a:rPr lang="en-US" dirty="0" smtClean="0">
                <a:latin typeface="Times New Roman" panose="02020603050405020304" pitchFamily="18" charset="0"/>
                <a:cs typeface="Times New Roman" panose="02020603050405020304" pitchFamily="18" charset="0"/>
              </a:rPr>
              <a:t>with </a:t>
            </a:r>
            <a:r>
              <a:rPr lang="en-US" dirty="0" smtClean="0">
                <a:solidFill>
                  <a:srgbClr val="FF0000"/>
                </a:solidFill>
                <a:latin typeface="Times New Roman" panose="02020603050405020304" pitchFamily="18" charset="0"/>
                <a:cs typeface="Times New Roman" panose="02020603050405020304" pitchFamily="18" charset="0"/>
              </a:rPr>
              <a:t>less search time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 </a:t>
            </a:r>
            <a:r>
              <a:rPr lang="en-US" dirty="0">
                <a:solidFill>
                  <a:srgbClr val="FF0000"/>
                </a:solidFill>
                <a:latin typeface="Times New Roman" panose="02020603050405020304" pitchFamily="18" charset="0"/>
                <a:cs typeface="Times New Roman" panose="02020603050405020304" pitchFamily="18" charset="0"/>
              </a:rPr>
              <a:t>uses a hash function </a:t>
            </a:r>
            <a:r>
              <a:rPr lang="en-US" dirty="0">
                <a:latin typeface="Times New Roman" panose="02020603050405020304" pitchFamily="18" charset="0"/>
                <a:cs typeface="Times New Roman" panose="02020603050405020304" pitchFamily="18" charset="0"/>
              </a:rPr>
              <a:t>(a mathematical function) to find the exact location of a record in the minimum amount of time.</a:t>
            </a:r>
            <a:endParaRPr lang="en-US" alt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3</a:t>
            </a:fld>
            <a:endParaRPr lang="en-IN"/>
          </a:p>
        </p:txBody>
      </p:sp>
    </p:spTree>
    <p:extLst>
      <p:ext uri="{BB962C8B-B14F-4D97-AF65-F5344CB8AC3E}">
        <p14:creationId xmlns:p14="http://schemas.microsoft.com/office/powerpoint/2010/main" val="3905510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normAutofit/>
          </a:bodyPr>
          <a:lstStyle/>
          <a:p>
            <a:r>
              <a:rPr lang="en-US" altLang="en-US" b="1" dirty="0" smtClean="0">
                <a:solidFill>
                  <a:srgbClr val="FF0000"/>
                </a:solidFill>
                <a:latin typeface="Times New Roman" panose="02020603050405020304" pitchFamily="18" charset="0"/>
                <a:cs typeface="Times New Roman" panose="02020603050405020304" pitchFamily="18" charset="0"/>
              </a:rPr>
              <a:t>Some important Terminologies</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7411" name="Content Placeholder 2"/>
          <p:cNvSpPr>
            <a:spLocks noGrp="1"/>
          </p:cNvSpPr>
          <p:nvPr>
            <p:ph sz="quarter" idx="1"/>
          </p:nvPr>
        </p:nvSpPr>
        <p:spPr>
          <a:xfrm>
            <a:off x="457200" y="1600200"/>
            <a:ext cx="8229600" cy="5069160"/>
          </a:xfrm>
        </p:spPr>
        <p:txBody>
          <a:bodyPr>
            <a:normAutofit fontScale="85000" lnSpcReduction="1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Data buckets</a:t>
            </a:r>
            <a:r>
              <a:rPr lang="en-US" dirty="0">
                <a:latin typeface="Times New Roman" panose="02020603050405020304" pitchFamily="18" charset="0"/>
                <a:cs typeface="Times New Roman" panose="02020603050405020304" pitchFamily="18" charset="0"/>
              </a:rPr>
              <a:t> are the </a:t>
            </a:r>
            <a:r>
              <a:rPr lang="en-US" b="1" i="1" dirty="0">
                <a:latin typeface="Times New Roman" panose="02020603050405020304" pitchFamily="18" charset="0"/>
                <a:cs typeface="Times New Roman" panose="02020603050405020304" pitchFamily="18" charset="0"/>
              </a:rPr>
              <a:t>memory locations</a:t>
            </a:r>
            <a:r>
              <a:rPr lang="en-US" dirty="0">
                <a:latin typeface="Times New Roman" panose="02020603050405020304" pitchFamily="18" charset="0"/>
                <a:cs typeface="Times New Roman" panose="02020603050405020304" pitchFamily="18" charset="0"/>
              </a:rPr>
              <a:t> where the actual data records are stored.</a:t>
            </a:r>
          </a:p>
          <a:p>
            <a:pPr marL="0" indent="0" algn="just">
              <a:buNone/>
            </a:pPr>
            <a:r>
              <a:rPr lang="en-US" b="1" dirty="0" smtClean="0">
                <a:solidFill>
                  <a:srgbClr val="FF0000"/>
                </a:solidFill>
                <a:latin typeface="Times New Roman" panose="02020603050405020304" pitchFamily="18" charset="0"/>
                <a:cs typeface="Times New Roman" panose="02020603050405020304" pitchFamily="18" charset="0"/>
              </a:rPr>
              <a:t>Hash function</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A mathematical function that returns the value of the address of the desired data block. Mostly, it </a:t>
            </a:r>
            <a:r>
              <a:rPr lang="en-US" b="1" i="1" dirty="0">
                <a:latin typeface="Times New Roman" panose="02020603050405020304" pitchFamily="18" charset="0"/>
                <a:cs typeface="Times New Roman" panose="02020603050405020304" pitchFamily="18" charset="0"/>
              </a:rPr>
              <a:t>uses the primary</a:t>
            </a: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key</a:t>
            </a:r>
            <a:r>
              <a:rPr lang="en-US" dirty="0">
                <a:latin typeface="Times New Roman" panose="02020603050405020304" pitchFamily="18" charset="0"/>
                <a:cs typeface="Times New Roman" panose="02020603050405020304" pitchFamily="18" charset="0"/>
              </a:rPr>
              <a:t> to generate the address of a data block</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solidFill>
                  <a:srgbClr val="FF0000"/>
                </a:solidFill>
                <a:latin typeface="Times New Roman" panose="02020603050405020304" pitchFamily="18" charset="0"/>
                <a:cs typeface="Times New Roman" panose="02020603050405020304" pitchFamily="18" charset="0"/>
              </a:rPr>
              <a:t>Hash index</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It denotes the </a:t>
            </a:r>
            <a:r>
              <a:rPr lang="en-US" b="1" i="1" dirty="0">
                <a:latin typeface="Times New Roman" panose="02020603050405020304" pitchFamily="18" charset="0"/>
                <a:cs typeface="Times New Roman" panose="02020603050405020304" pitchFamily="18" charset="0"/>
              </a:rPr>
              <a:t>address of a data block</a:t>
            </a:r>
            <a:r>
              <a:rPr lang="en-US" dirty="0">
                <a:latin typeface="Times New Roman" panose="02020603050405020304" pitchFamily="18" charset="0"/>
                <a:cs typeface="Times New Roman" panose="02020603050405020304" pitchFamily="18" charset="0"/>
              </a:rPr>
              <a:t> generated by the hash function</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solidFill>
                  <a:srgbClr val="FF0000"/>
                </a:solidFill>
                <a:latin typeface="Times New Roman" panose="02020603050405020304" pitchFamily="18" charset="0"/>
                <a:cs typeface="Times New Roman" panose="02020603050405020304" pitchFamily="18" charset="0"/>
              </a:rPr>
              <a:t>Linear Probing</a:t>
            </a:r>
            <a:r>
              <a:rPr lang="en-US" dirty="0" smtClean="0">
                <a:latin typeface="Times New Roman" panose="02020603050405020304" pitchFamily="18" charset="0"/>
                <a:cs typeface="Times New Roman" panose="02020603050405020304" pitchFamily="18" charset="0"/>
              </a:rPr>
              <a:t> - It </a:t>
            </a:r>
            <a:r>
              <a:rPr lang="en-US" dirty="0">
                <a:latin typeface="Times New Roman" panose="02020603050405020304" pitchFamily="18" charset="0"/>
                <a:cs typeface="Times New Roman" panose="02020603050405020304" pitchFamily="18" charset="0"/>
              </a:rPr>
              <a:t>is used when a record already exists on the memory location calculated by Hash Function. It linearly searches for an empty bucket until it is found.</a:t>
            </a:r>
            <a:br>
              <a:rPr 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4</a:t>
            </a:fld>
            <a:endParaRPr lang="en-IN"/>
          </a:p>
        </p:txBody>
      </p:sp>
    </p:spTree>
    <p:extLst>
      <p:ext uri="{BB962C8B-B14F-4D97-AF65-F5344CB8AC3E}">
        <p14:creationId xmlns:p14="http://schemas.microsoft.com/office/powerpoint/2010/main" val="2455703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188640"/>
            <a:ext cx="8229600" cy="634082"/>
          </a:xfrm>
        </p:spPr>
        <p:txBody>
          <a:bodyPr>
            <a:normAutofit fontScale="90000"/>
          </a:bodyPr>
          <a:lstStyle/>
          <a:p>
            <a:r>
              <a:rPr lang="en-US" altLang="en-US" b="1" dirty="0" smtClean="0">
                <a:solidFill>
                  <a:srgbClr val="FF0000"/>
                </a:solidFill>
                <a:latin typeface="Times New Roman" panose="02020603050405020304" pitchFamily="18" charset="0"/>
                <a:cs typeface="Times New Roman" panose="02020603050405020304" pitchFamily="18" charset="0"/>
              </a:rPr>
              <a:t>Some important Terminologies</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7411" name="Content Placeholder 2"/>
          <p:cNvSpPr>
            <a:spLocks noGrp="1"/>
          </p:cNvSpPr>
          <p:nvPr>
            <p:ph sz="quarter" idx="1"/>
          </p:nvPr>
        </p:nvSpPr>
        <p:spPr>
          <a:xfrm>
            <a:off x="318356" y="1340768"/>
            <a:ext cx="8507288" cy="5069160"/>
          </a:xfrm>
        </p:spPr>
        <p:txBody>
          <a:bodyPr>
            <a:normAutofit/>
          </a:bodyPr>
          <a:lstStyle/>
          <a:p>
            <a:pPr marL="0" indent="0" algn="just">
              <a:buNone/>
            </a:pPr>
            <a:r>
              <a:rPr lang="en-US" b="1" dirty="0" smtClean="0">
                <a:solidFill>
                  <a:srgbClr val="FF0000"/>
                </a:solidFill>
                <a:latin typeface="Times New Roman" panose="02020603050405020304" pitchFamily="18" charset="0"/>
                <a:cs typeface="Times New Roman" panose="02020603050405020304" pitchFamily="18" charset="0"/>
              </a:rPr>
              <a:t>Quadratic Probing</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It is similar to linear probing with the only difference as it uses an </a:t>
            </a:r>
            <a:r>
              <a:rPr lang="en-US" b="1" i="1" dirty="0">
                <a:latin typeface="Times New Roman" panose="02020603050405020304" pitchFamily="18" charset="0"/>
                <a:cs typeface="Times New Roman" panose="02020603050405020304" pitchFamily="18" charset="0"/>
              </a:rPr>
              <a:t>arbitrary polynomial function</a:t>
            </a:r>
            <a:r>
              <a:rPr lang="en-US" dirty="0">
                <a:latin typeface="Times New Roman" panose="02020603050405020304" pitchFamily="18" charset="0"/>
                <a:cs typeface="Times New Roman" panose="02020603050405020304" pitchFamily="18" charset="0"/>
              </a:rPr>
              <a:t> to search for the next empty bucket instead of searching linearly</a:t>
            </a:r>
            <a:r>
              <a:rPr lang="en-US" dirty="0" smtClean="0">
                <a:latin typeface="Times New Roman" panose="02020603050405020304" pitchFamily="18" charset="0"/>
                <a:cs typeface="Times New Roman" panose="02020603050405020304" pitchFamily="18" charset="0"/>
              </a:rPr>
              <a:t>.</a:t>
            </a:r>
          </a:p>
          <a:p>
            <a:pPr algn="just"/>
            <a:endParaRPr lang="en-US" altLang="en-US" dirty="0" smtClean="0">
              <a:latin typeface="Times New Roman" panose="02020603050405020304" pitchFamily="18" charset="0"/>
              <a:cs typeface="Times New Roman" panose="02020603050405020304" pitchFamily="18" charset="0"/>
            </a:endParaRPr>
          </a:p>
          <a:p>
            <a:pPr marL="0" indent="0" algn="just">
              <a:buNone/>
            </a:pPr>
            <a:r>
              <a:rPr lang="en-US" altLang="en-US" b="1" dirty="0" smtClean="0">
                <a:solidFill>
                  <a:srgbClr val="FF0000"/>
                </a:solidFill>
                <a:latin typeface="Times New Roman" panose="02020603050405020304" pitchFamily="18" charset="0"/>
                <a:cs typeface="Times New Roman" panose="02020603050405020304" pitchFamily="18" charset="0"/>
              </a:rPr>
              <a:t>Bucket overflow</a:t>
            </a:r>
            <a:r>
              <a:rPr lang="en-US" alt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The condition when the memory address generated by the hash function is not </a:t>
            </a:r>
            <a:r>
              <a:rPr lang="en-US" dirty="0" smtClean="0">
                <a:latin typeface="Times New Roman" panose="02020603050405020304" pitchFamily="18" charset="0"/>
                <a:cs typeface="Times New Roman" panose="02020603050405020304" pitchFamily="18" charset="0"/>
              </a:rPr>
              <a:t>empty(</a:t>
            </a:r>
            <a:r>
              <a:rPr lang="en-US" i="1" dirty="0" smtClean="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a:t>
            </a:r>
            <a:r>
              <a:rPr lang="en-US" i="1" dirty="0" smtClean="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it already contains some data record) is known as bucket overflow</a:t>
            </a:r>
            <a:endParaRPr lang="en-US" alt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5</a:t>
            </a:fld>
            <a:endParaRPr lang="en-IN"/>
          </a:p>
        </p:txBody>
      </p:sp>
    </p:spTree>
    <p:extLst>
      <p:ext uri="{BB962C8B-B14F-4D97-AF65-F5344CB8AC3E}">
        <p14:creationId xmlns:p14="http://schemas.microsoft.com/office/powerpoint/2010/main" val="38735740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188640"/>
            <a:ext cx="8229600" cy="634082"/>
          </a:xfrm>
        </p:spPr>
        <p:txBody>
          <a:bodyPr>
            <a:normAutofit fontScale="90000"/>
          </a:bodyPr>
          <a:lstStyle/>
          <a:p>
            <a:r>
              <a:rPr lang="en-US" altLang="en-US" b="1" dirty="0" smtClean="0">
                <a:solidFill>
                  <a:srgbClr val="FF0000"/>
                </a:solidFill>
                <a:latin typeface="Times New Roman" panose="02020603050405020304" pitchFamily="18" charset="0"/>
                <a:cs typeface="Times New Roman" panose="02020603050405020304" pitchFamily="18" charset="0"/>
              </a:rPr>
              <a:t>Properties of Hashing in DBMS</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7411" name="Content Placeholder 2"/>
          <p:cNvSpPr>
            <a:spLocks noGrp="1"/>
          </p:cNvSpPr>
          <p:nvPr>
            <p:ph sz="quarter" idx="1"/>
          </p:nvPr>
        </p:nvSpPr>
        <p:spPr>
          <a:xfrm>
            <a:off x="318356" y="1340768"/>
            <a:ext cx="8507288" cy="5069160"/>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Data is kept in data blocks whose addresses are produced using the hashing </a:t>
            </a:r>
            <a:r>
              <a:rPr lang="en-US" dirty="0" smtClean="0">
                <a:latin typeface="Times New Roman" panose="02020603050405020304" pitchFamily="18" charset="0"/>
                <a:cs typeface="Times New Roman" panose="02020603050405020304" pitchFamily="18" charset="0"/>
              </a:rPr>
              <a:t>function.</a:t>
            </a:r>
          </a:p>
          <a:p>
            <a:pPr algn="just"/>
            <a:r>
              <a:rPr lang="en-US" dirty="0">
                <a:latin typeface="Times New Roman" panose="02020603050405020304" pitchFamily="18" charset="0"/>
                <a:cs typeface="Times New Roman" panose="02020603050405020304" pitchFamily="18" charset="0"/>
              </a:rPr>
              <a:t>Data buckets or data blocks are the memory locations where these records are stored</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hash function can produce the address from any column </a:t>
            </a:r>
            <a:r>
              <a:rPr lang="en-US" dirty="0" smtClean="0">
                <a:latin typeface="Times New Roman" panose="02020603050405020304" pitchFamily="18" charset="0"/>
                <a:cs typeface="Times New Roman" panose="02020603050405020304" pitchFamily="18" charset="0"/>
              </a:rPr>
              <a:t>value.</a:t>
            </a:r>
          </a:p>
          <a:p>
            <a:pPr algn="just"/>
            <a:r>
              <a:rPr lang="en-US" dirty="0">
                <a:latin typeface="Times New Roman" panose="02020603050405020304" pitchFamily="18" charset="0"/>
                <a:cs typeface="Times New Roman" panose="02020603050405020304" pitchFamily="18" charset="0"/>
              </a:rPr>
              <a:t>The primary key is frequently used by the hash function to generate the data block’s address.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every complex mathematical function, a hash function is a basic mathematical function.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primary key can also be considered as the data block’s address, i.e. each row with the same address as a primary key contained in the data block.</a:t>
            </a:r>
            <a:endParaRPr lang="en-US" alt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6</a:t>
            </a:fld>
            <a:endParaRPr lang="en-IN"/>
          </a:p>
        </p:txBody>
      </p:sp>
    </p:spTree>
    <p:extLst>
      <p:ext uri="{BB962C8B-B14F-4D97-AF65-F5344CB8AC3E}">
        <p14:creationId xmlns:p14="http://schemas.microsoft.com/office/powerpoint/2010/main" val="18132840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anose="02020603050405020304" pitchFamily="18" charset="0"/>
                <a:cs typeface="Times New Roman" panose="02020603050405020304" pitchFamily="18" charset="0"/>
              </a:rPr>
              <a:t>Hash Function</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hash function: </a:t>
            </a:r>
          </a:p>
          <a:p>
            <a:pPr lvl="1"/>
            <a:r>
              <a:rPr lang="en-US" dirty="0" smtClean="0">
                <a:latin typeface="Times New Roman" panose="02020603050405020304" pitchFamily="18" charset="0"/>
                <a:cs typeface="Times New Roman" panose="02020603050405020304" pitchFamily="18" charset="0"/>
              </a:rPr>
              <a:t>must be simple to compute.</a:t>
            </a:r>
          </a:p>
          <a:p>
            <a:pPr lvl="1"/>
            <a:r>
              <a:rPr lang="en-US" dirty="0" smtClean="0">
                <a:latin typeface="Times New Roman" panose="02020603050405020304" pitchFamily="18" charset="0"/>
                <a:cs typeface="Times New Roman" panose="02020603050405020304" pitchFamily="18" charset="0"/>
              </a:rPr>
              <a:t>must </a:t>
            </a:r>
            <a:r>
              <a:rPr lang="en-US" b="1" dirty="0" smtClean="0">
                <a:solidFill>
                  <a:srgbClr val="FF0000"/>
                </a:solidFill>
                <a:latin typeface="Times New Roman" panose="02020603050405020304" pitchFamily="18" charset="0"/>
                <a:cs typeface="Times New Roman" panose="02020603050405020304" pitchFamily="18" charset="0"/>
              </a:rPr>
              <a:t>distribute the keys evenly </a:t>
            </a:r>
            <a:r>
              <a:rPr lang="en-US" dirty="0" smtClean="0">
                <a:latin typeface="Times New Roman" panose="02020603050405020304" pitchFamily="18" charset="0"/>
                <a:cs typeface="Times New Roman" panose="02020603050405020304" pitchFamily="18" charset="0"/>
              </a:rPr>
              <a:t>among the cells.</a:t>
            </a:r>
          </a:p>
          <a:p>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we know which keys will occur in advance we can write </a:t>
            </a:r>
            <a:r>
              <a:rPr lang="en-US" b="1" i="1" dirty="0" smtClean="0">
                <a:solidFill>
                  <a:srgbClr val="FF0000"/>
                </a:solidFill>
                <a:latin typeface="Times New Roman" panose="02020603050405020304" pitchFamily="18" charset="0"/>
                <a:cs typeface="Times New Roman" panose="02020603050405020304" pitchFamily="18" charset="0"/>
              </a:rPr>
              <a:t>perfect</a:t>
            </a:r>
            <a:r>
              <a:rPr lang="en-US" dirty="0" smtClean="0">
                <a:latin typeface="Times New Roman" panose="02020603050405020304" pitchFamily="18" charset="0"/>
                <a:cs typeface="Times New Roman" panose="02020603050405020304" pitchFamily="18" charset="0"/>
              </a:rPr>
              <a:t> hash functions, but we don’t.</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E4AA30-DFC3-4E29-B54E-BC96FFE3FF90}" type="slidenum">
              <a:rPr lang="en-IN" smtClean="0"/>
              <a:t>7</a:t>
            </a:fld>
            <a:endParaRPr lang="en-IN"/>
          </a:p>
        </p:txBody>
      </p:sp>
    </p:spTree>
    <p:extLst>
      <p:ext uri="{BB962C8B-B14F-4D97-AF65-F5344CB8AC3E}">
        <p14:creationId xmlns:p14="http://schemas.microsoft.com/office/powerpoint/2010/main" val="3117131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p:txBody>
          <a:bodyPr/>
          <a:lstStyle/>
          <a:p>
            <a:pPr algn="l" eaLnBrk="1" hangingPunct="1"/>
            <a:r>
              <a:rPr lang="en-US" b="1" dirty="0" smtClean="0">
                <a:solidFill>
                  <a:srgbClr val="FF0000"/>
                </a:solidFill>
                <a:latin typeface="Times New Roman" panose="02020603050405020304" pitchFamily="18" charset="0"/>
                <a:cs typeface="Times New Roman" panose="02020603050405020304" pitchFamily="18" charset="0"/>
              </a:rPr>
              <a:t>Example</a:t>
            </a:r>
          </a:p>
        </p:txBody>
      </p:sp>
      <p:pic>
        <p:nvPicPr>
          <p:cNvPr id="2" name="Picture 1"/>
          <p:cNvPicPr>
            <a:picLocks noChangeAspect="1"/>
          </p:cNvPicPr>
          <p:nvPr/>
        </p:nvPicPr>
        <p:blipFill rotWithShape="1">
          <a:blip r:embed="rId2"/>
          <a:srcRect l="48893" t="35235" r="20668" b="28344"/>
          <a:stretch/>
        </p:blipFill>
        <p:spPr>
          <a:xfrm>
            <a:off x="1043608" y="1628800"/>
            <a:ext cx="6048672" cy="4069106"/>
          </a:xfrm>
          <a:prstGeom prst="rect">
            <a:avLst/>
          </a:prstGeom>
        </p:spPr>
      </p:pic>
      <p:sp>
        <p:nvSpPr>
          <p:cNvPr id="3" name="Slide Number Placeholder 2"/>
          <p:cNvSpPr>
            <a:spLocks noGrp="1"/>
          </p:cNvSpPr>
          <p:nvPr>
            <p:ph type="sldNum" sz="quarter" idx="12"/>
          </p:nvPr>
        </p:nvSpPr>
        <p:spPr/>
        <p:txBody>
          <a:bodyPr/>
          <a:lstStyle/>
          <a:p>
            <a:fld id="{DDE4AA30-DFC3-4E29-B54E-BC96FFE3FF90}" type="slidenum">
              <a:rPr lang="en-IN" smtClean="0"/>
              <a:t>8</a:t>
            </a:fld>
            <a:endParaRPr lang="en-IN"/>
          </a:p>
        </p:txBody>
      </p:sp>
    </p:spTree>
    <p:extLst>
      <p:ext uri="{BB962C8B-B14F-4D97-AF65-F5344CB8AC3E}">
        <p14:creationId xmlns:p14="http://schemas.microsoft.com/office/powerpoint/2010/main" val="22306514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2301BF3A-BD92-415E-AB0D-6730271EFB3F}" type="slidenum">
              <a:rPr lang="en-US" sz="1400">
                <a:solidFill>
                  <a:prstClr val="black"/>
                </a:solidFill>
              </a:rPr>
              <a:pPr eaLnBrk="1" hangingPunct="1"/>
              <a:t>9</a:t>
            </a:fld>
            <a:endParaRPr lang="en-US" sz="1400">
              <a:solidFill>
                <a:prstClr val="black"/>
              </a:solidFill>
            </a:endParaRPr>
          </a:p>
        </p:txBody>
      </p:sp>
      <p:sp>
        <p:nvSpPr>
          <p:cNvPr id="8195" name="Rectangle 2"/>
          <p:cNvSpPr>
            <a:spLocks noGrp="1" noChangeArrowheads="1"/>
          </p:cNvSpPr>
          <p:nvPr>
            <p:ph type="title"/>
          </p:nvPr>
        </p:nvSpPr>
        <p:spPr>
          <a:xfrm>
            <a:off x="251520" y="136525"/>
            <a:ext cx="8229600" cy="1143000"/>
          </a:xfrm>
        </p:spPr>
        <p:txBody>
          <a:bodyPr/>
          <a:lstStyle/>
          <a:p>
            <a:pPr eaLnBrk="1" hangingPunct="1"/>
            <a:r>
              <a:rPr lang="en-US" b="1" dirty="0" smtClean="0">
                <a:solidFill>
                  <a:srgbClr val="FF0000"/>
                </a:solidFill>
              </a:rPr>
              <a:t>Properties of Good Hash Functions</a:t>
            </a:r>
          </a:p>
        </p:txBody>
      </p:sp>
      <p:sp>
        <p:nvSpPr>
          <p:cNvPr id="8196" name="Rectangle 3"/>
          <p:cNvSpPr>
            <a:spLocks noGrp="1" noChangeArrowheads="1"/>
          </p:cNvSpPr>
          <p:nvPr>
            <p:ph type="body" idx="1"/>
          </p:nvPr>
        </p:nvSpPr>
        <p:spPr>
          <a:xfrm>
            <a:off x="0" y="1412776"/>
            <a:ext cx="8991600" cy="4943574"/>
          </a:xfrm>
        </p:spPr>
        <p:txBody>
          <a:bodyPr>
            <a:normAutofit/>
          </a:bodyPr>
          <a:lstStyle/>
          <a:p>
            <a:pPr eaLnBrk="1" hangingPunct="1">
              <a:lnSpc>
                <a:spcPct val="90000"/>
              </a:lnSpc>
            </a:pPr>
            <a:r>
              <a:rPr lang="en-US" dirty="0" smtClean="0">
                <a:latin typeface="Times New Roman" panose="02020603050405020304" pitchFamily="18" charset="0"/>
                <a:cs typeface="Times New Roman" panose="02020603050405020304" pitchFamily="18" charset="0"/>
              </a:rPr>
              <a:t>Must return number 0, …, table size</a:t>
            </a:r>
          </a:p>
          <a:p>
            <a:pPr eaLnBrk="1" hangingPunct="1">
              <a:lnSpc>
                <a:spcPct val="90000"/>
              </a:lnSpc>
            </a:pPr>
            <a:r>
              <a:rPr lang="en-US" dirty="0" smtClean="0">
                <a:latin typeface="Times New Roman" panose="02020603050405020304" pitchFamily="18" charset="0"/>
                <a:cs typeface="Times New Roman" panose="02020603050405020304" pitchFamily="18" charset="0"/>
              </a:rPr>
              <a:t>Should be efficiently computable – O(1) time</a:t>
            </a:r>
          </a:p>
          <a:p>
            <a:pPr eaLnBrk="1" hangingPunct="1">
              <a:lnSpc>
                <a:spcPct val="90000"/>
              </a:lnSpc>
            </a:pPr>
            <a:r>
              <a:rPr lang="en-US" dirty="0" smtClean="0">
                <a:latin typeface="Times New Roman" panose="02020603050405020304" pitchFamily="18" charset="0"/>
                <a:cs typeface="Times New Roman" panose="02020603050405020304" pitchFamily="18" charset="0"/>
              </a:rPr>
              <a:t>Should not</a:t>
            </a:r>
            <a:r>
              <a:rPr lang="en-US" dirty="0" smtClean="0">
                <a:solidFill>
                  <a:schemeClr val="accent2"/>
                </a:solidFill>
                <a:latin typeface="Times New Roman" panose="02020603050405020304" pitchFamily="18" charset="0"/>
                <a:cs typeface="Times New Roman" panose="02020603050405020304" pitchFamily="18" charset="0"/>
              </a:rPr>
              <a:t> waste space</a:t>
            </a:r>
            <a:r>
              <a:rPr lang="en-US" dirty="0" smtClean="0">
                <a:latin typeface="Times New Roman" panose="02020603050405020304" pitchFamily="18" charset="0"/>
                <a:cs typeface="Times New Roman" panose="02020603050405020304" pitchFamily="18" charset="0"/>
              </a:rPr>
              <a:t> unnecessarily</a:t>
            </a:r>
          </a:p>
          <a:p>
            <a:pPr lvl="1" eaLnBrk="1" hangingPunct="1">
              <a:lnSpc>
                <a:spcPct val="90000"/>
              </a:lnSpc>
            </a:pPr>
            <a:r>
              <a:rPr lang="en-US" dirty="0" smtClean="0">
                <a:latin typeface="Times New Roman" panose="02020603050405020304" pitchFamily="18" charset="0"/>
                <a:cs typeface="Times New Roman" panose="02020603050405020304" pitchFamily="18" charset="0"/>
              </a:rPr>
              <a:t>For every index, there is at least one key that hashes to it</a:t>
            </a:r>
          </a:p>
          <a:p>
            <a:pPr lvl="1" eaLnBrk="1" hangingPunct="1">
              <a:lnSpc>
                <a:spcPct val="90000"/>
              </a:lnSpc>
            </a:pPr>
            <a:r>
              <a:rPr lang="en-US" b="1" dirty="0" smtClean="0">
                <a:solidFill>
                  <a:srgbClr val="FF0000"/>
                </a:solidFill>
                <a:latin typeface="Times New Roman" panose="02020603050405020304" pitchFamily="18" charset="0"/>
                <a:cs typeface="Times New Roman" panose="02020603050405020304" pitchFamily="18" charset="0"/>
              </a:rPr>
              <a:t>Load factor lambda  </a:t>
            </a:r>
            <a:r>
              <a:rPr lang="en-US" b="1"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b="1" dirty="0" smtClean="0">
                <a:solidFill>
                  <a:srgbClr val="FF0000"/>
                </a:solidFill>
                <a:latin typeface="Times New Roman" panose="02020603050405020304" pitchFamily="18" charset="0"/>
                <a:cs typeface="Times New Roman" panose="02020603050405020304" pitchFamily="18" charset="0"/>
              </a:rPr>
              <a:t> = (number of keys / Table Size)</a:t>
            </a:r>
          </a:p>
          <a:p>
            <a:pPr eaLnBrk="1" hangingPunct="1">
              <a:lnSpc>
                <a:spcPct val="90000"/>
              </a:lnSpc>
            </a:pPr>
            <a:r>
              <a:rPr lang="en-US" dirty="0" smtClean="0">
                <a:latin typeface="Times New Roman" panose="02020603050405020304" pitchFamily="18" charset="0"/>
                <a:cs typeface="Times New Roman" panose="02020603050405020304" pitchFamily="18" charset="0"/>
              </a:rPr>
              <a:t>Should </a:t>
            </a:r>
            <a:r>
              <a:rPr lang="en-US" dirty="0" smtClean="0">
                <a:solidFill>
                  <a:schemeClr val="accent2"/>
                </a:solidFill>
                <a:latin typeface="Times New Roman" panose="02020603050405020304" pitchFamily="18" charset="0"/>
                <a:cs typeface="Times New Roman" panose="02020603050405020304" pitchFamily="18" charset="0"/>
              </a:rPr>
              <a:t>minimize</a:t>
            </a:r>
            <a:r>
              <a:rPr lang="en-US" dirty="0" smtClean="0">
                <a:latin typeface="Times New Roman" panose="02020603050405020304" pitchFamily="18" charset="0"/>
                <a:cs typeface="Times New Roman" panose="02020603050405020304" pitchFamily="18" charset="0"/>
              </a:rPr>
              <a:t> </a:t>
            </a:r>
            <a:r>
              <a:rPr lang="en-US" dirty="0" smtClean="0">
                <a:solidFill>
                  <a:srgbClr val="0000FF"/>
                </a:solidFill>
                <a:latin typeface="Times New Roman" panose="02020603050405020304" pitchFamily="18" charset="0"/>
                <a:cs typeface="Times New Roman" panose="02020603050405020304" pitchFamily="18" charset="0"/>
              </a:rPr>
              <a:t>collisions</a:t>
            </a:r>
          </a:p>
          <a:p>
            <a:pPr lvl="1" eaLnBrk="1" hangingPunct="1">
              <a:lnSpc>
                <a:spcPct val="90000"/>
              </a:lnSpc>
              <a:buFontTx/>
              <a:buNone/>
            </a:pPr>
            <a:r>
              <a:rPr lang="en-US" dirty="0" smtClean="0">
                <a:latin typeface="Times New Roman" panose="02020603050405020304" pitchFamily="18" charset="0"/>
                <a:cs typeface="Times New Roman" panose="02020603050405020304" pitchFamily="18" charset="0"/>
              </a:rPr>
              <a:t>= different keys hashing to same index</a:t>
            </a:r>
            <a:endParaRPr lang="en-US" dirty="0">
              <a:latin typeface="Times New Roman" panose="02020603050405020304" pitchFamily="18" charset="0"/>
              <a:cs typeface="Times New Roman" panose="02020603050405020304" pitchFamily="18" charset="0"/>
            </a:endParaRPr>
          </a:p>
          <a:p>
            <a:pPr lvl="1" eaLnBrk="1" hangingPunct="1">
              <a:lnSpc>
                <a:spcPct val="90000"/>
              </a:lnSpc>
              <a:buFontTx/>
              <a:buNone/>
            </a:pPr>
            <a:endParaRPr lang="en-US" dirty="0" smtClean="0">
              <a:latin typeface="Times New Roman" panose="02020603050405020304" pitchFamily="18" charset="0"/>
              <a:cs typeface="Times New Roman" panose="02020603050405020304" pitchFamily="18" charset="0"/>
            </a:endParaRPr>
          </a:p>
          <a:p>
            <a:pPr lvl="1">
              <a:lnSpc>
                <a:spcPct val="90000"/>
              </a:lnSpc>
            </a:pPr>
            <a:r>
              <a:rPr lang="en-US" b="1" dirty="0">
                <a:solidFill>
                  <a:srgbClr val="FF0000"/>
                </a:solidFill>
                <a:latin typeface="Times New Roman" panose="02020603050405020304" pitchFamily="18" charset="0"/>
                <a:cs typeface="Times New Roman" panose="02020603050405020304" pitchFamily="18" charset="0"/>
              </a:rPr>
              <a:t>Hash(x) = x % </a:t>
            </a:r>
            <a:r>
              <a:rPr lang="en-US" b="1" dirty="0" err="1">
                <a:solidFill>
                  <a:srgbClr val="FF0000"/>
                </a:solidFill>
                <a:latin typeface="Times New Roman" panose="02020603050405020304" pitchFamily="18" charset="0"/>
                <a:cs typeface="Times New Roman" panose="02020603050405020304" pitchFamily="18" charset="0"/>
              </a:rPr>
              <a:t>TableSize</a:t>
            </a:r>
            <a:endParaRPr lang="en-US" b="1" dirty="0">
              <a:solidFill>
                <a:srgbClr val="FF0000"/>
              </a:solidFill>
              <a:latin typeface="Times New Roman" panose="02020603050405020304" pitchFamily="18" charset="0"/>
              <a:cs typeface="Times New Roman" panose="02020603050405020304" pitchFamily="18" charset="0"/>
            </a:endParaRPr>
          </a:p>
          <a:p>
            <a:pPr lvl="1" eaLnBrk="1" hangingPunct="1">
              <a:lnSpc>
                <a:spcPct val="90000"/>
              </a:lnSpc>
              <a:buFontTx/>
              <a:buNone/>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67694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Hashing</a:t>
            </a:r>
            <a:endParaRPr lang="en-IN" dirty="0"/>
          </a:p>
        </p:txBody>
      </p:sp>
      <p:pic>
        <p:nvPicPr>
          <p:cNvPr id="1026" name="Picture 2" descr="DBMS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916832"/>
            <a:ext cx="6619073" cy="4603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57200" y="1427479"/>
            <a:ext cx="8229600" cy="369332"/>
          </a:xfrm>
          <a:prstGeom prst="rect">
            <a:avLst/>
          </a:prstGeom>
        </p:spPr>
        <p:txBody>
          <a:bodyPr wrap="square">
            <a:spAutoFit/>
          </a:bodyPr>
          <a:lstStyle/>
          <a:p>
            <a:r>
              <a:rPr lang="en-US" dirty="0">
                <a:solidFill>
                  <a:srgbClr val="333333"/>
                </a:solidFill>
                <a:latin typeface="inter-regular"/>
              </a:rPr>
              <a:t>The </a:t>
            </a:r>
            <a:r>
              <a:rPr lang="en-US" dirty="0" smtClean="0">
                <a:solidFill>
                  <a:srgbClr val="333333"/>
                </a:solidFill>
                <a:latin typeface="inter-regular"/>
              </a:rPr>
              <a:t>diagram </a:t>
            </a:r>
            <a:r>
              <a:rPr lang="en-US" dirty="0">
                <a:solidFill>
                  <a:srgbClr val="333333"/>
                </a:solidFill>
                <a:latin typeface="inter-regular"/>
              </a:rPr>
              <a:t>shows data block addresses same as primary key value.</a:t>
            </a:r>
            <a:endParaRPr lang="en-IN" dirty="0"/>
          </a:p>
        </p:txBody>
      </p:sp>
      <p:sp>
        <p:nvSpPr>
          <p:cNvPr id="4" name="Slide Number Placeholder 3"/>
          <p:cNvSpPr>
            <a:spLocks noGrp="1"/>
          </p:cNvSpPr>
          <p:nvPr>
            <p:ph type="sldNum" sz="quarter" idx="12"/>
          </p:nvPr>
        </p:nvSpPr>
        <p:spPr/>
        <p:txBody>
          <a:bodyPr/>
          <a:lstStyle/>
          <a:p>
            <a:fld id="{DDE4AA30-DFC3-4E29-B54E-BC96FFE3FF90}" type="slidenum">
              <a:rPr lang="en-IN" smtClean="0"/>
              <a:t>10</a:t>
            </a:fld>
            <a:endParaRPr lang="en-IN"/>
          </a:p>
        </p:txBody>
      </p:sp>
    </p:spTree>
    <p:extLst>
      <p:ext uri="{BB962C8B-B14F-4D97-AF65-F5344CB8AC3E}">
        <p14:creationId xmlns:p14="http://schemas.microsoft.com/office/powerpoint/2010/main" val="15435342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8640"/>
            <a:ext cx="8229600" cy="706090"/>
          </a:xfrm>
        </p:spPr>
        <p:txBody>
          <a:bodyPr>
            <a:normAutofit fontScale="90000"/>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Hashing</a:t>
            </a:r>
            <a:endParaRPr lang="en-IN" dirty="0"/>
          </a:p>
        </p:txBody>
      </p:sp>
      <p:sp>
        <p:nvSpPr>
          <p:cNvPr id="5" name="Rectangle 4"/>
          <p:cNvSpPr/>
          <p:nvPr/>
        </p:nvSpPr>
        <p:spPr>
          <a:xfrm>
            <a:off x="251520" y="1062952"/>
            <a:ext cx="8640960" cy="1754326"/>
          </a:xfrm>
          <a:prstGeom prst="rect">
            <a:avLst/>
          </a:prstGeom>
        </p:spPr>
        <p:txBody>
          <a:bodyPr wrap="square">
            <a:spAutoFit/>
          </a:bodyPr>
          <a:lstStyle/>
          <a:p>
            <a:pPr algn="just"/>
            <a:r>
              <a:rPr lang="en-US" dirty="0" smtClean="0">
                <a:solidFill>
                  <a:srgbClr val="444444"/>
                </a:solidFill>
                <a:latin typeface="Times New Roman" panose="02020603050405020304" pitchFamily="18" charset="0"/>
                <a:cs typeface="Times New Roman" panose="02020603050405020304" pitchFamily="18" charset="0"/>
              </a:rPr>
              <a:t>The </a:t>
            </a:r>
            <a:r>
              <a:rPr lang="en-US" dirty="0">
                <a:solidFill>
                  <a:srgbClr val="444444"/>
                </a:solidFill>
                <a:latin typeface="Times New Roman" panose="02020603050405020304" pitchFamily="18" charset="0"/>
                <a:cs typeface="Times New Roman" panose="02020603050405020304" pitchFamily="18" charset="0"/>
              </a:rPr>
              <a:t>hash function could alternatively be a simple mathematical function, such as exponential, mod, cos, sin, and so on. </a:t>
            </a:r>
            <a:endParaRPr lang="en-US" dirty="0" smtClean="0">
              <a:solidFill>
                <a:srgbClr val="444444"/>
              </a:solidFill>
              <a:latin typeface="Times New Roman" panose="02020603050405020304" pitchFamily="18" charset="0"/>
              <a:cs typeface="Times New Roman" panose="02020603050405020304" pitchFamily="18" charset="0"/>
            </a:endParaRPr>
          </a:p>
          <a:p>
            <a:pPr algn="just"/>
            <a:endParaRPr lang="en-US" dirty="0" smtClean="0">
              <a:solidFill>
                <a:srgbClr val="444444"/>
              </a:solidFill>
              <a:latin typeface="Times New Roman" panose="02020603050405020304" pitchFamily="18" charset="0"/>
              <a:cs typeface="Times New Roman" panose="02020603050405020304" pitchFamily="18" charset="0"/>
            </a:endParaRPr>
          </a:p>
          <a:p>
            <a:pPr algn="just"/>
            <a:r>
              <a:rPr lang="en-US" dirty="0" smtClean="0">
                <a:solidFill>
                  <a:srgbClr val="444444"/>
                </a:solidFill>
                <a:latin typeface="Times New Roman" panose="02020603050405020304" pitchFamily="18" charset="0"/>
                <a:cs typeface="Times New Roman" panose="02020603050405020304" pitchFamily="18" charset="0"/>
              </a:rPr>
              <a:t>For example, </a:t>
            </a:r>
            <a:r>
              <a:rPr lang="en-US" dirty="0">
                <a:solidFill>
                  <a:srgbClr val="444444"/>
                </a:solidFill>
                <a:latin typeface="Times New Roman" panose="02020603050405020304" pitchFamily="18" charset="0"/>
                <a:cs typeface="Times New Roman" panose="02020603050405020304" pitchFamily="18" charset="0"/>
              </a:rPr>
              <a:t>the </a:t>
            </a:r>
            <a:r>
              <a:rPr lang="en-US" b="1" dirty="0">
                <a:solidFill>
                  <a:srgbClr val="FF0000"/>
                </a:solidFill>
                <a:latin typeface="Times New Roman" panose="02020603050405020304" pitchFamily="18" charset="0"/>
                <a:cs typeface="Times New Roman" panose="02020603050405020304" pitchFamily="18" charset="0"/>
              </a:rPr>
              <a:t>mod (5) hash function</a:t>
            </a:r>
            <a:r>
              <a:rPr lang="en-US" dirty="0">
                <a:solidFill>
                  <a:srgbClr val="444444"/>
                </a:solidFill>
                <a:latin typeface="Times New Roman" panose="02020603050405020304" pitchFamily="18" charset="0"/>
                <a:cs typeface="Times New Roman" panose="02020603050405020304" pitchFamily="18" charset="0"/>
              </a:rPr>
              <a:t> </a:t>
            </a:r>
            <a:r>
              <a:rPr lang="en-US" dirty="0" smtClean="0">
                <a:solidFill>
                  <a:srgbClr val="444444"/>
                </a:solidFill>
                <a:latin typeface="Times New Roman" panose="02020603050405020304" pitchFamily="18" charset="0"/>
                <a:cs typeface="Times New Roman" panose="02020603050405020304" pitchFamily="18" charset="0"/>
              </a:rPr>
              <a:t>is used to </a:t>
            </a:r>
            <a:r>
              <a:rPr lang="en-US" dirty="0">
                <a:solidFill>
                  <a:srgbClr val="444444"/>
                </a:solidFill>
                <a:latin typeface="Times New Roman" panose="02020603050405020304" pitchFamily="18" charset="0"/>
                <a:cs typeface="Times New Roman" panose="02020603050405020304" pitchFamily="18" charset="0"/>
              </a:rPr>
              <a:t>find the data block’s </a:t>
            </a:r>
            <a:r>
              <a:rPr lang="en-US" dirty="0" smtClean="0">
                <a:solidFill>
                  <a:srgbClr val="444444"/>
                </a:solidFill>
                <a:latin typeface="Times New Roman" panose="02020603050405020304" pitchFamily="18" charset="0"/>
                <a:cs typeface="Times New Roman" panose="02020603050405020304" pitchFamily="18" charset="0"/>
              </a:rPr>
              <a:t>address in the below </a:t>
            </a:r>
            <a:r>
              <a:rPr lang="en-US" dirty="0">
                <a:solidFill>
                  <a:srgbClr val="444444"/>
                </a:solidFill>
                <a:latin typeface="Times New Roman" panose="02020603050405020304" pitchFamily="18" charset="0"/>
                <a:cs typeface="Times New Roman" panose="02020603050405020304" pitchFamily="18" charset="0"/>
              </a:rPr>
              <a:t>scenario, </a:t>
            </a:r>
            <a:r>
              <a:rPr lang="en-US" dirty="0" smtClean="0">
                <a:solidFill>
                  <a:srgbClr val="444444"/>
                </a:solidFill>
                <a:latin typeface="Times New Roman" panose="02020603050405020304" pitchFamily="18" charset="0"/>
                <a:cs typeface="Times New Roman" panose="02020603050405020304" pitchFamily="18" charset="0"/>
              </a:rPr>
              <a:t>here the </a:t>
            </a:r>
            <a:r>
              <a:rPr lang="en-US" dirty="0">
                <a:solidFill>
                  <a:srgbClr val="444444"/>
                </a:solidFill>
                <a:latin typeface="Times New Roman" panose="02020603050405020304" pitchFamily="18" charset="0"/>
                <a:cs typeface="Times New Roman" panose="02020603050405020304" pitchFamily="18" charset="0"/>
              </a:rPr>
              <a:t>primary keys are hashed with the mod (5) function, yielding 3, 3, 1, 4, and 2, respectively, and records are saved at those data block locations.</a:t>
            </a:r>
            <a:endParaRPr lang="en-IN" dirty="0">
              <a:latin typeface="Times New Roman" panose="02020603050405020304" pitchFamily="18" charset="0"/>
              <a:cs typeface="Times New Roman" panose="02020603050405020304" pitchFamily="18" charset="0"/>
            </a:endParaRPr>
          </a:p>
        </p:txBody>
      </p:sp>
      <p:pic>
        <p:nvPicPr>
          <p:cNvPr id="2050" name="Picture 2" descr="DBMS Hash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742" y="3068960"/>
            <a:ext cx="7304515" cy="331278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DDE4AA30-DFC3-4E29-B54E-BC96FFE3FF90}" type="slidenum">
              <a:rPr lang="en-IN" smtClean="0"/>
              <a:t>11</a:t>
            </a:fld>
            <a:endParaRPr lang="en-IN"/>
          </a:p>
        </p:txBody>
      </p:sp>
    </p:spTree>
    <p:extLst>
      <p:ext uri="{BB962C8B-B14F-4D97-AF65-F5344CB8AC3E}">
        <p14:creationId xmlns:p14="http://schemas.microsoft.com/office/powerpoint/2010/main" val="2843280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152400" y="9144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latin typeface="Times New Roman" panose="02020603050405020304" pitchFamily="18" charset="0"/>
                <a:cs typeface="Times New Roman" panose="02020603050405020304" pitchFamily="18" charset="0"/>
              </a:rPr>
              <a:t> Process of </a:t>
            </a:r>
            <a:r>
              <a:rPr lang="en-US" sz="2400" b="1" dirty="0">
                <a:latin typeface="Times New Roman" panose="02020603050405020304" pitchFamily="18" charset="0"/>
                <a:cs typeface="Times New Roman" panose="02020603050405020304" pitchFamily="18" charset="0"/>
              </a:rPr>
              <a:t>mapping</a:t>
            </a:r>
            <a:r>
              <a:rPr lang="en-US" sz="2400" dirty="0">
                <a:latin typeface="Times New Roman" panose="02020603050405020304" pitchFamily="18" charset="0"/>
                <a:cs typeface="Times New Roman" panose="02020603050405020304" pitchFamily="18" charset="0"/>
              </a:rPr>
              <a:t> a key value to a position in a table</a:t>
            </a:r>
          </a:p>
        </p:txBody>
      </p:sp>
      <p:sp>
        <p:nvSpPr>
          <p:cNvPr id="14340" name="Text Box 4"/>
          <p:cNvSpPr txBox="1">
            <a:spLocks noChangeArrowheads="1"/>
          </p:cNvSpPr>
          <p:nvPr/>
        </p:nvSpPr>
        <p:spPr bwMode="auto">
          <a:xfrm>
            <a:off x="152400" y="175260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smtClean="0">
                <a:solidFill>
                  <a:srgbClr val="CC0000"/>
                </a:solidFill>
              </a:rPr>
              <a:t>Another Example</a:t>
            </a:r>
            <a:r>
              <a:rPr lang="en-US" sz="2400" b="1" dirty="0">
                <a:solidFill>
                  <a:srgbClr val="CC0000"/>
                </a:solidFill>
              </a:rPr>
              <a:t>:</a:t>
            </a:r>
            <a:r>
              <a:rPr lang="en-US" sz="2400" b="1" dirty="0"/>
              <a:t> 7, 18 , 41 , 34</a:t>
            </a:r>
          </a:p>
        </p:txBody>
      </p:sp>
      <p:sp>
        <p:nvSpPr>
          <p:cNvPr id="14341" name="Text Box 5"/>
          <p:cNvSpPr txBox="1">
            <a:spLocks noChangeArrowheads="1"/>
          </p:cNvSpPr>
          <p:nvPr/>
        </p:nvSpPr>
        <p:spPr bwMode="auto">
          <a:xfrm>
            <a:off x="1600200" y="3081338"/>
            <a:ext cx="1981200"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dirty="0"/>
              <a:t>7 % 10 = </a:t>
            </a:r>
            <a:r>
              <a:rPr lang="en-US" sz="2400" b="1" dirty="0">
                <a:solidFill>
                  <a:srgbClr val="FF0000"/>
                </a:solidFill>
              </a:rPr>
              <a:t>7</a:t>
            </a:r>
          </a:p>
          <a:p>
            <a:pPr eaLnBrk="1" hangingPunct="1">
              <a:spcBef>
                <a:spcPct val="50000"/>
              </a:spcBef>
            </a:pPr>
            <a:r>
              <a:rPr lang="en-US" sz="2400" dirty="0"/>
              <a:t>18 % 10 = </a:t>
            </a:r>
            <a:r>
              <a:rPr lang="en-US" sz="2400" b="1" dirty="0">
                <a:solidFill>
                  <a:srgbClr val="FF0000"/>
                </a:solidFill>
              </a:rPr>
              <a:t>8</a:t>
            </a:r>
          </a:p>
          <a:p>
            <a:pPr eaLnBrk="1" hangingPunct="1">
              <a:spcBef>
                <a:spcPct val="50000"/>
              </a:spcBef>
            </a:pPr>
            <a:r>
              <a:rPr lang="en-US" sz="2400" dirty="0"/>
              <a:t>41 % 10 = </a:t>
            </a:r>
            <a:r>
              <a:rPr lang="en-US" sz="2400" b="1" dirty="0">
                <a:solidFill>
                  <a:srgbClr val="FF0000"/>
                </a:solidFill>
              </a:rPr>
              <a:t>1</a:t>
            </a:r>
          </a:p>
          <a:p>
            <a:pPr eaLnBrk="1" hangingPunct="1">
              <a:spcBef>
                <a:spcPct val="50000"/>
              </a:spcBef>
            </a:pPr>
            <a:r>
              <a:rPr lang="en-US" sz="2400" dirty="0"/>
              <a:t>34 % 10 = </a:t>
            </a:r>
            <a:r>
              <a:rPr lang="en-US" sz="2400" b="1" dirty="0">
                <a:solidFill>
                  <a:srgbClr val="FF0000"/>
                </a:solidFill>
              </a:rPr>
              <a:t>4</a:t>
            </a:r>
            <a:r>
              <a:rPr lang="en-US" sz="2400" dirty="0"/>
              <a:t> </a:t>
            </a:r>
          </a:p>
        </p:txBody>
      </p:sp>
      <p:graphicFrame>
        <p:nvGraphicFramePr>
          <p:cNvPr id="14366" name="Group 30"/>
          <p:cNvGraphicFramePr>
            <a:graphicFrameLocks noGrp="1"/>
          </p:cNvGraphicFramePr>
          <p:nvPr/>
        </p:nvGraphicFramePr>
        <p:xfrm>
          <a:off x="6324600" y="1454150"/>
          <a:ext cx="1752600" cy="5181600"/>
        </p:xfrm>
        <a:graphic>
          <a:graphicData uri="http://schemas.openxmlformats.org/drawingml/2006/table">
            <a:tbl>
              <a:tblPr/>
              <a:tblGrid>
                <a:gridCol w="1752600">
                  <a:extLst>
                    <a:ext uri="{9D8B030D-6E8A-4147-A177-3AD203B41FA5}">
                      <a16:colId xmlns="" xmlns:a16="http://schemas.microsoft.com/office/drawing/2014/main" val="20000"/>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34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bl>
          </a:graphicData>
        </a:graphic>
      </p:graphicFrame>
      <p:graphicFrame>
        <p:nvGraphicFramePr>
          <p:cNvPr id="14368" name="Group 32"/>
          <p:cNvGraphicFramePr>
            <a:graphicFrameLocks noGrp="1"/>
          </p:cNvGraphicFramePr>
          <p:nvPr/>
        </p:nvGraphicFramePr>
        <p:xfrm>
          <a:off x="5715000" y="1454150"/>
          <a:ext cx="609600" cy="5181600"/>
        </p:xfrm>
        <a:graphic>
          <a:graphicData uri="http://schemas.openxmlformats.org/drawingml/2006/table">
            <a:tbl>
              <a:tblPr/>
              <a:tblGrid>
                <a:gridCol w="609600">
                  <a:extLst>
                    <a:ext uri="{9D8B030D-6E8A-4147-A177-3AD203B41FA5}">
                      <a16:colId xmlns="" xmlns:a16="http://schemas.microsoft.com/office/drawing/2014/main" val="20000"/>
                    </a:ext>
                  </a:extLst>
                </a:gridCol>
              </a:tblGrid>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bl>
          </a:graphicData>
        </a:graphic>
      </p:graphicFrame>
      <p:sp>
        <p:nvSpPr>
          <p:cNvPr id="8" name="Title 1"/>
          <p:cNvSpPr txBox="1">
            <a:spLocks/>
          </p:cNvSpPr>
          <p:nvPr/>
        </p:nvSpPr>
        <p:spPr>
          <a:xfrm>
            <a:off x="90055" y="59085"/>
            <a:ext cx="8229600" cy="706090"/>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b="1" smtClean="0">
                <a:solidFill>
                  <a:srgbClr val="FF0000"/>
                </a:solidFill>
                <a:latin typeface="Times New Roman" panose="02020603050405020304" pitchFamily="18" charset="0"/>
                <a:cs typeface="Times New Roman" panose="02020603050405020304" pitchFamily="18" charset="0"/>
              </a:rPr>
              <a:t>Hashing</a:t>
            </a:r>
            <a:endParaRPr lang="en-IN" dirty="0"/>
          </a:p>
        </p:txBody>
      </p:sp>
      <p:sp>
        <p:nvSpPr>
          <p:cNvPr id="2" name="Slide Number Placeholder 1"/>
          <p:cNvSpPr>
            <a:spLocks noGrp="1"/>
          </p:cNvSpPr>
          <p:nvPr>
            <p:ph type="sldNum" sz="quarter" idx="12"/>
          </p:nvPr>
        </p:nvSpPr>
        <p:spPr/>
        <p:txBody>
          <a:bodyPr/>
          <a:lstStyle/>
          <a:p>
            <a:fld id="{DDE4AA30-DFC3-4E29-B54E-BC96FFE3FF90}" type="slidenum">
              <a:rPr lang="en-IN" smtClean="0"/>
              <a:t>12</a:t>
            </a:fld>
            <a:endParaRPr lang="en-IN"/>
          </a:p>
        </p:txBody>
      </p:sp>
    </p:spTree>
    <p:extLst>
      <p:ext uri="{BB962C8B-B14F-4D97-AF65-F5344CB8AC3E}">
        <p14:creationId xmlns:p14="http://schemas.microsoft.com/office/powerpoint/2010/main" val="3156875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ppt_x"/>
                                          </p:val>
                                        </p:tav>
                                        <p:tav tm="100000">
                                          <p:val>
                                            <p:strVal val="#ppt_x"/>
                                          </p:val>
                                        </p:tav>
                                      </p:tavLst>
                                    </p:anim>
                                    <p:anim calcmode="lin" valueType="num">
                                      <p:cBhvr additive="base">
                                        <p:cTn id="8"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gtEl>
                                        <p:attrNameLst>
                                          <p:attrName>style.visibility</p:attrName>
                                        </p:attrNameLst>
                                      </p:cBhvr>
                                      <p:to>
                                        <p:strVal val="visible"/>
                                      </p:to>
                                    </p:set>
                                    <p:anim calcmode="lin" valueType="num">
                                      <p:cBhvr additive="base">
                                        <p:cTn id="13" dur="500" fill="hold"/>
                                        <p:tgtEl>
                                          <p:spTgt spid="14340"/>
                                        </p:tgtEl>
                                        <p:attrNameLst>
                                          <p:attrName>ppt_x</p:attrName>
                                        </p:attrNameLst>
                                      </p:cBhvr>
                                      <p:tavLst>
                                        <p:tav tm="0">
                                          <p:val>
                                            <p:strVal val="#ppt_x"/>
                                          </p:val>
                                        </p:tav>
                                        <p:tav tm="100000">
                                          <p:val>
                                            <p:strVal val="#ppt_x"/>
                                          </p:val>
                                        </p:tav>
                                      </p:tavLst>
                                    </p:anim>
                                    <p:anim calcmode="lin" valueType="num">
                                      <p:cBhvr additive="base">
                                        <p:cTn id="14"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1"/>
                                        </p:tgtEl>
                                        <p:attrNameLst>
                                          <p:attrName>style.visibility</p:attrName>
                                        </p:attrNameLst>
                                      </p:cBhvr>
                                      <p:to>
                                        <p:strVal val="visible"/>
                                      </p:to>
                                    </p:set>
                                    <p:anim calcmode="lin" valueType="num">
                                      <p:cBhvr additive="base">
                                        <p:cTn id="19" dur="500" fill="hold"/>
                                        <p:tgtEl>
                                          <p:spTgt spid="14341"/>
                                        </p:tgtEl>
                                        <p:attrNameLst>
                                          <p:attrName>ppt_x</p:attrName>
                                        </p:attrNameLst>
                                      </p:cBhvr>
                                      <p:tavLst>
                                        <p:tav tm="0">
                                          <p:val>
                                            <p:strVal val="#ppt_x"/>
                                          </p:val>
                                        </p:tav>
                                        <p:tav tm="100000">
                                          <p:val>
                                            <p:strVal val="#ppt_x"/>
                                          </p:val>
                                        </p:tav>
                                      </p:tavLst>
                                    </p:anim>
                                    <p:anim calcmode="lin" valueType="num">
                                      <p:cBhvr additive="base">
                                        <p:cTn id="20"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4368"/>
                                        </p:tgtEl>
                                        <p:attrNameLst>
                                          <p:attrName>style.visibility</p:attrName>
                                        </p:attrNameLst>
                                      </p:cBhvr>
                                      <p:to>
                                        <p:strVal val="visible"/>
                                      </p:to>
                                    </p:set>
                                    <p:anim calcmode="lin" valueType="num">
                                      <p:cBhvr additive="base">
                                        <p:cTn id="25" dur="500" fill="hold"/>
                                        <p:tgtEl>
                                          <p:spTgt spid="14368"/>
                                        </p:tgtEl>
                                        <p:attrNameLst>
                                          <p:attrName>ppt_x</p:attrName>
                                        </p:attrNameLst>
                                      </p:cBhvr>
                                      <p:tavLst>
                                        <p:tav tm="0">
                                          <p:val>
                                            <p:strVal val="#ppt_x"/>
                                          </p:val>
                                        </p:tav>
                                        <p:tav tm="100000">
                                          <p:val>
                                            <p:strVal val="#ppt_x"/>
                                          </p:val>
                                        </p:tav>
                                      </p:tavLst>
                                    </p:anim>
                                    <p:anim calcmode="lin" valueType="num">
                                      <p:cBhvr additive="base">
                                        <p:cTn id="26" dur="500" fill="hold"/>
                                        <p:tgtEl>
                                          <p:spTgt spid="1436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366"/>
                                        </p:tgtEl>
                                        <p:attrNameLst>
                                          <p:attrName>style.visibility</p:attrName>
                                        </p:attrNameLst>
                                      </p:cBhvr>
                                      <p:to>
                                        <p:strVal val="visible"/>
                                      </p:to>
                                    </p:set>
                                    <p:anim calcmode="lin" valueType="num">
                                      <p:cBhvr additive="base">
                                        <p:cTn id="29" dur="500" fill="hold"/>
                                        <p:tgtEl>
                                          <p:spTgt spid="14366"/>
                                        </p:tgtEl>
                                        <p:attrNameLst>
                                          <p:attrName>ppt_x</p:attrName>
                                        </p:attrNameLst>
                                      </p:cBhvr>
                                      <p:tavLst>
                                        <p:tav tm="0">
                                          <p:val>
                                            <p:strVal val="#ppt_x"/>
                                          </p:val>
                                        </p:tav>
                                        <p:tav tm="100000">
                                          <p:val>
                                            <p:strVal val="#ppt_x"/>
                                          </p:val>
                                        </p:tav>
                                      </p:tavLst>
                                    </p:anim>
                                    <p:anim calcmode="lin" valueType="num">
                                      <p:cBhvr additive="base">
                                        <p:cTn id="30" dur="500" fill="hold"/>
                                        <p:tgtEl>
                                          <p:spTgt spid="14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14340" grpId="0"/>
      <p:bldP spid="1434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304800" y="10668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t> Hash Table is an array of some </a:t>
            </a:r>
            <a:r>
              <a:rPr lang="en-US" sz="2400" b="1" dirty="0"/>
              <a:t>fixed size</a:t>
            </a:r>
          </a:p>
        </p:txBody>
      </p:sp>
      <p:sp>
        <p:nvSpPr>
          <p:cNvPr id="13316" name="Text Box 4"/>
          <p:cNvSpPr txBox="1">
            <a:spLocks noChangeArrowheads="1"/>
          </p:cNvSpPr>
          <p:nvPr/>
        </p:nvSpPr>
        <p:spPr bwMode="auto">
          <a:xfrm>
            <a:off x="304800" y="1981200"/>
            <a:ext cx="723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Search is performed based on the</a:t>
            </a:r>
            <a:r>
              <a:rPr lang="en-US" sz="2400" b="1"/>
              <a:t> key</a:t>
            </a:r>
            <a:r>
              <a:rPr lang="en-US" sz="2400"/>
              <a:t> </a:t>
            </a:r>
          </a:p>
        </p:txBody>
      </p:sp>
      <p:sp>
        <p:nvSpPr>
          <p:cNvPr id="13317" name="Text Box 5"/>
          <p:cNvSpPr txBox="1">
            <a:spLocks noChangeArrowheads="1"/>
          </p:cNvSpPr>
          <p:nvPr/>
        </p:nvSpPr>
        <p:spPr bwMode="auto">
          <a:xfrm>
            <a:off x="304800" y="2971800"/>
            <a:ext cx="86596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t> Each key is mapped into some position in the </a:t>
            </a:r>
            <a:r>
              <a:rPr lang="en-US" sz="2400" dirty="0" smtClean="0"/>
              <a:t>range </a:t>
            </a:r>
            <a:r>
              <a:rPr lang="en-US" sz="2400" b="1" dirty="0" smtClean="0">
                <a:solidFill>
                  <a:srgbClr val="FF0000"/>
                </a:solidFill>
              </a:rPr>
              <a:t>0 to table </a:t>
            </a:r>
            <a:r>
              <a:rPr lang="en-US" sz="2400" b="1" dirty="0">
                <a:solidFill>
                  <a:srgbClr val="FF0000"/>
                </a:solidFill>
              </a:rPr>
              <a:t>size - 1</a:t>
            </a:r>
          </a:p>
        </p:txBody>
      </p:sp>
      <p:sp>
        <p:nvSpPr>
          <p:cNvPr id="13318" name="Text Box 6"/>
          <p:cNvSpPr txBox="1">
            <a:spLocks noChangeArrowheads="1"/>
          </p:cNvSpPr>
          <p:nvPr/>
        </p:nvSpPr>
        <p:spPr bwMode="auto">
          <a:xfrm>
            <a:off x="152400" y="4267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Drawbacks:</a:t>
            </a:r>
          </a:p>
        </p:txBody>
      </p:sp>
      <p:sp>
        <p:nvSpPr>
          <p:cNvPr id="13319" name="Text Box 7"/>
          <p:cNvSpPr txBox="1">
            <a:spLocks noChangeArrowheads="1"/>
          </p:cNvSpPr>
          <p:nvPr/>
        </p:nvSpPr>
        <p:spPr bwMode="auto">
          <a:xfrm>
            <a:off x="228600" y="4953000"/>
            <a:ext cx="853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t> </a:t>
            </a:r>
            <a:r>
              <a:rPr lang="en-US" sz="2400" b="1" dirty="0"/>
              <a:t>Waste too much space</a:t>
            </a:r>
            <a:r>
              <a:rPr lang="en-US" sz="2400" dirty="0"/>
              <a:t>, if universe is too </a:t>
            </a:r>
            <a:r>
              <a:rPr lang="en-US" sz="2400" b="1" dirty="0"/>
              <a:t>large</a:t>
            </a:r>
            <a:r>
              <a:rPr lang="en-US" sz="2400" dirty="0"/>
              <a:t> compared with actual number of elements to be stored</a:t>
            </a:r>
          </a:p>
        </p:txBody>
      </p:sp>
      <p:sp>
        <p:nvSpPr>
          <p:cNvPr id="13320" name="Text Box 8"/>
          <p:cNvSpPr txBox="1">
            <a:spLocks noChangeArrowheads="1"/>
          </p:cNvSpPr>
          <p:nvPr/>
        </p:nvSpPr>
        <p:spPr bwMode="auto">
          <a:xfrm>
            <a:off x="228600" y="60198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t> </a:t>
            </a:r>
            <a:r>
              <a:rPr lang="en-US" sz="2400" b="1" dirty="0"/>
              <a:t>Collision </a:t>
            </a:r>
            <a:r>
              <a:rPr lang="en-US" sz="2400" dirty="0"/>
              <a:t>{i.e. Two keys may hash to same slot}</a:t>
            </a:r>
          </a:p>
        </p:txBody>
      </p:sp>
      <p:sp>
        <p:nvSpPr>
          <p:cNvPr id="9" name="Title 1"/>
          <p:cNvSpPr txBox="1">
            <a:spLocks/>
          </p:cNvSpPr>
          <p:nvPr/>
        </p:nvSpPr>
        <p:spPr>
          <a:xfrm>
            <a:off x="125404" y="138654"/>
            <a:ext cx="8229600" cy="706090"/>
          </a:xfrm>
          <a:prstGeom prst="rect">
            <a:avLst/>
          </a:prstGeom>
        </p:spPr>
        <p:txBody>
          <a:bodyPr vert="horz" lIns="91440" tIns="45720" rIns="91440" bIns="45720" rtlCol="0" anchor="ctr">
            <a:normAutofit fontScale="97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b="1" smtClean="0">
                <a:solidFill>
                  <a:srgbClr val="FF0000"/>
                </a:solidFill>
                <a:latin typeface="Times New Roman" panose="02020603050405020304" pitchFamily="18" charset="0"/>
                <a:cs typeface="Times New Roman" panose="02020603050405020304" pitchFamily="18" charset="0"/>
              </a:rPr>
              <a:t>Hashing</a:t>
            </a:r>
            <a:endParaRPr lang="en-IN" dirty="0"/>
          </a:p>
        </p:txBody>
      </p:sp>
      <p:sp>
        <p:nvSpPr>
          <p:cNvPr id="2" name="Slide Number Placeholder 1"/>
          <p:cNvSpPr>
            <a:spLocks noGrp="1"/>
          </p:cNvSpPr>
          <p:nvPr>
            <p:ph type="sldNum" sz="quarter" idx="12"/>
          </p:nvPr>
        </p:nvSpPr>
        <p:spPr/>
        <p:txBody>
          <a:bodyPr/>
          <a:lstStyle/>
          <a:p>
            <a:fld id="{DDE4AA30-DFC3-4E29-B54E-BC96FFE3FF90}" type="slidenum">
              <a:rPr lang="en-IN" smtClean="0"/>
              <a:t>13</a:t>
            </a:fld>
            <a:endParaRPr lang="en-IN"/>
          </a:p>
        </p:txBody>
      </p:sp>
    </p:spTree>
    <p:extLst>
      <p:ext uri="{BB962C8B-B14F-4D97-AF65-F5344CB8AC3E}">
        <p14:creationId xmlns:p14="http://schemas.microsoft.com/office/powerpoint/2010/main" val="3400437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additive="base">
                                        <p:cTn id="7" dur="500" fill="hold"/>
                                        <p:tgtEl>
                                          <p:spTgt spid="13315"/>
                                        </p:tgtEl>
                                        <p:attrNameLst>
                                          <p:attrName>ppt_x</p:attrName>
                                        </p:attrNameLst>
                                      </p:cBhvr>
                                      <p:tavLst>
                                        <p:tav tm="0">
                                          <p:val>
                                            <p:strVal val="#ppt_x"/>
                                          </p:val>
                                        </p:tav>
                                        <p:tav tm="100000">
                                          <p:val>
                                            <p:strVal val="#ppt_x"/>
                                          </p:val>
                                        </p:tav>
                                      </p:tavLst>
                                    </p:anim>
                                    <p:anim calcmode="lin" valueType="num">
                                      <p:cBhvr additive="base">
                                        <p:cTn id="8" dur="500" fill="hold"/>
                                        <p:tgtEl>
                                          <p:spTgt spid="1331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ppt_x"/>
                                          </p:val>
                                        </p:tav>
                                        <p:tav tm="100000">
                                          <p:val>
                                            <p:strVal val="#ppt_x"/>
                                          </p:val>
                                        </p:tav>
                                      </p:tavLst>
                                    </p:anim>
                                    <p:anim calcmode="lin" valueType="num">
                                      <p:cBhvr additive="base">
                                        <p:cTn id="14"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7"/>
                                        </p:tgtEl>
                                        <p:attrNameLst>
                                          <p:attrName>style.visibility</p:attrName>
                                        </p:attrNameLst>
                                      </p:cBhvr>
                                      <p:to>
                                        <p:strVal val="visible"/>
                                      </p:to>
                                    </p:set>
                                    <p:anim calcmode="lin" valueType="num">
                                      <p:cBhvr additive="base">
                                        <p:cTn id="19" dur="500" fill="hold"/>
                                        <p:tgtEl>
                                          <p:spTgt spid="13317"/>
                                        </p:tgtEl>
                                        <p:attrNameLst>
                                          <p:attrName>ppt_x</p:attrName>
                                        </p:attrNameLst>
                                      </p:cBhvr>
                                      <p:tavLst>
                                        <p:tav tm="0">
                                          <p:val>
                                            <p:strVal val="#ppt_x"/>
                                          </p:val>
                                        </p:tav>
                                        <p:tav tm="100000">
                                          <p:val>
                                            <p:strVal val="#ppt_x"/>
                                          </p:val>
                                        </p:tav>
                                      </p:tavLst>
                                    </p:anim>
                                    <p:anim calcmode="lin" valueType="num">
                                      <p:cBhvr additive="base">
                                        <p:cTn id="20" dur="500" fill="hold"/>
                                        <p:tgtEl>
                                          <p:spTgt spid="133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8"/>
                                        </p:tgtEl>
                                        <p:attrNameLst>
                                          <p:attrName>style.visibility</p:attrName>
                                        </p:attrNameLst>
                                      </p:cBhvr>
                                      <p:to>
                                        <p:strVal val="visible"/>
                                      </p:to>
                                    </p:set>
                                    <p:anim calcmode="lin" valueType="num">
                                      <p:cBhvr additive="base">
                                        <p:cTn id="25" dur="500" fill="hold"/>
                                        <p:tgtEl>
                                          <p:spTgt spid="13318"/>
                                        </p:tgtEl>
                                        <p:attrNameLst>
                                          <p:attrName>ppt_x</p:attrName>
                                        </p:attrNameLst>
                                      </p:cBhvr>
                                      <p:tavLst>
                                        <p:tav tm="0">
                                          <p:val>
                                            <p:strVal val="#ppt_x"/>
                                          </p:val>
                                        </p:tav>
                                        <p:tav tm="100000">
                                          <p:val>
                                            <p:strVal val="#ppt_x"/>
                                          </p:val>
                                        </p:tav>
                                      </p:tavLst>
                                    </p:anim>
                                    <p:anim calcmode="lin" valueType="num">
                                      <p:cBhvr additive="base">
                                        <p:cTn id="26"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9"/>
                                        </p:tgtEl>
                                        <p:attrNameLst>
                                          <p:attrName>style.visibility</p:attrName>
                                        </p:attrNameLst>
                                      </p:cBhvr>
                                      <p:to>
                                        <p:strVal val="visible"/>
                                      </p:to>
                                    </p:set>
                                    <p:anim calcmode="lin" valueType="num">
                                      <p:cBhvr additive="base">
                                        <p:cTn id="31" dur="500" fill="hold"/>
                                        <p:tgtEl>
                                          <p:spTgt spid="13319"/>
                                        </p:tgtEl>
                                        <p:attrNameLst>
                                          <p:attrName>ppt_x</p:attrName>
                                        </p:attrNameLst>
                                      </p:cBhvr>
                                      <p:tavLst>
                                        <p:tav tm="0">
                                          <p:val>
                                            <p:strVal val="#ppt_x"/>
                                          </p:val>
                                        </p:tav>
                                        <p:tav tm="100000">
                                          <p:val>
                                            <p:strVal val="#ppt_x"/>
                                          </p:val>
                                        </p:tav>
                                      </p:tavLst>
                                    </p:anim>
                                    <p:anim calcmode="lin" valueType="num">
                                      <p:cBhvr additive="base">
                                        <p:cTn id="32"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20"/>
                                        </p:tgtEl>
                                        <p:attrNameLst>
                                          <p:attrName>style.visibility</p:attrName>
                                        </p:attrNameLst>
                                      </p:cBhvr>
                                      <p:to>
                                        <p:strVal val="visible"/>
                                      </p:to>
                                    </p:set>
                                    <p:anim calcmode="lin" valueType="num">
                                      <p:cBhvr additive="base">
                                        <p:cTn id="37" dur="500" fill="hold"/>
                                        <p:tgtEl>
                                          <p:spTgt spid="13320"/>
                                        </p:tgtEl>
                                        <p:attrNameLst>
                                          <p:attrName>ppt_x</p:attrName>
                                        </p:attrNameLst>
                                      </p:cBhvr>
                                      <p:tavLst>
                                        <p:tav tm="0">
                                          <p:val>
                                            <p:strVal val="#ppt_x"/>
                                          </p:val>
                                        </p:tav>
                                        <p:tav tm="100000">
                                          <p:val>
                                            <p:strVal val="#ppt_x"/>
                                          </p:val>
                                        </p:tav>
                                      </p:tavLst>
                                    </p:anim>
                                    <p:anim calcmode="lin" valueType="num">
                                      <p:cBhvr additive="base">
                                        <p:cTn id="38"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p:bldP spid="13317" grpId="0"/>
      <p:bldP spid="13318" grpId="0"/>
      <p:bldP spid="13319" grpId="0"/>
      <p:bldP spid="133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81000" y="228600"/>
            <a:ext cx="8458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CC0000"/>
                </a:solidFill>
              </a:rPr>
              <a:t>Example:</a:t>
            </a:r>
            <a:r>
              <a:rPr lang="en-US" sz="2400" dirty="0"/>
              <a:t> </a:t>
            </a:r>
            <a:r>
              <a:rPr lang="en-US" sz="2400" dirty="0" smtClean="0"/>
              <a:t>To </a:t>
            </a:r>
            <a:r>
              <a:rPr lang="en-US" sz="2400" dirty="0"/>
              <a:t>insert elements 80 , 40 , 65 , 24 , 58 , 35 , 98 </a:t>
            </a:r>
          </a:p>
          <a:p>
            <a:pPr eaLnBrk="1" hangingPunct="1">
              <a:spcBef>
                <a:spcPct val="50000"/>
              </a:spcBef>
            </a:pPr>
            <a:r>
              <a:rPr lang="en-US" sz="2400" dirty="0"/>
              <a:t>                 Table Size = 11</a:t>
            </a:r>
          </a:p>
        </p:txBody>
      </p:sp>
      <p:sp>
        <p:nvSpPr>
          <p:cNvPr id="12291" name="Text Box 3"/>
          <p:cNvSpPr txBox="1">
            <a:spLocks noChangeArrowheads="1"/>
          </p:cNvSpPr>
          <p:nvPr/>
        </p:nvSpPr>
        <p:spPr bwMode="auto">
          <a:xfrm>
            <a:off x="685800" y="1905000"/>
            <a:ext cx="2438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pPr>
            <a:r>
              <a:rPr lang="en-US" sz="2400"/>
              <a:t>80 % 11 = </a:t>
            </a:r>
            <a:r>
              <a:rPr lang="en-US" sz="2400" b="1">
                <a:solidFill>
                  <a:srgbClr val="FF0000"/>
                </a:solidFill>
              </a:rPr>
              <a:t>3</a:t>
            </a:r>
          </a:p>
          <a:p>
            <a:pPr algn="just" eaLnBrk="1" hangingPunct="1">
              <a:spcBef>
                <a:spcPct val="50000"/>
              </a:spcBef>
            </a:pPr>
            <a:r>
              <a:rPr lang="en-US" sz="2400"/>
              <a:t>40 % 11 = </a:t>
            </a:r>
            <a:r>
              <a:rPr lang="en-US" sz="2400" b="1">
                <a:solidFill>
                  <a:srgbClr val="FF0000"/>
                </a:solidFill>
              </a:rPr>
              <a:t>7</a:t>
            </a:r>
          </a:p>
          <a:p>
            <a:pPr algn="just" eaLnBrk="1" hangingPunct="1">
              <a:spcBef>
                <a:spcPct val="50000"/>
              </a:spcBef>
            </a:pPr>
            <a:r>
              <a:rPr lang="en-US" sz="2400"/>
              <a:t>65 % 11 = </a:t>
            </a:r>
            <a:r>
              <a:rPr lang="en-US" sz="2400" b="1">
                <a:solidFill>
                  <a:srgbClr val="FF0000"/>
                </a:solidFill>
              </a:rPr>
              <a:t>10</a:t>
            </a:r>
          </a:p>
          <a:p>
            <a:pPr algn="just" eaLnBrk="1" hangingPunct="1">
              <a:spcBef>
                <a:spcPct val="50000"/>
              </a:spcBef>
            </a:pPr>
            <a:r>
              <a:rPr lang="en-US" sz="2400"/>
              <a:t>24 % 11 = </a:t>
            </a:r>
            <a:r>
              <a:rPr lang="en-US" sz="2400" b="1">
                <a:solidFill>
                  <a:srgbClr val="FF0000"/>
                </a:solidFill>
              </a:rPr>
              <a:t>2</a:t>
            </a:r>
          </a:p>
          <a:p>
            <a:pPr algn="just" eaLnBrk="1" hangingPunct="1">
              <a:spcBef>
                <a:spcPct val="50000"/>
              </a:spcBef>
            </a:pPr>
            <a:r>
              <a:rPr lang="en-US" sz="2400"/>
              <a:t>58 % 11 = </a:t>
            </a:r>
            <a:r>
              <a:rPr lang="en-US" sz="2400" b="1">
                <a:solidFill>
                  <a:srgbClr val="FF0000"/>
                </a:solidFill>
              </a:rPr>
              <a:t>3</a:t>
            </a:r>
          </a:p>
          <a:p>
            <a:pPr algn="just" eaLnBrk="1" hangingPunct="1">
              <a:spcBef>
                <a:spcPct val="50000"/>
              </a:spcBef>
            </a:pPr>
            <a:r>
              <a:rPr lang="en-US" sz="2400"/>
              <a:t>35 % 11 = </a:t>
            </a:r>
            <a:r>
              <a:rPr lang="en-US" sz="2400" b="1">
                <a:solidFill>
                  <a:srgbClr val="FF0000"/>
                </a:solidFill>
              </a:rPr>
              <a:t>2</a:t>
            </a:r>
          </a:p>
          <a:p>
            <a:pPr algn="just" eaLnBrk="1" hangingPunct="1">
              <a:spcBef>
                <a:spcPct val="50000"/>
              </a:spcBef>
            </a:pPr>
            <a:r>
              <a:rPr lang="en-US" sz="2400"/>
              <a:t>98 % 11 = </a:t>
            </a:r>
            <a:r>
              <a:rPr lang="en-US" sz="2400" b="1">
                <a:solidFill>
                  <a:srgbClr val="FF0000"/>
                </a:solidFill>
              </a:rPr>
              <a:t>10</a:t>
            </a:r>
          </a:p>
        </p:txBody>
      </p:sp>
      <p:graphicFrame>
        <p:nvGraphicFramePr>
          <p:cNvPr id="12354" name="Group 66"/>
          <p:cNvGraphicFramePr>
            <a:graphicFrameLocks noGrp="1"/>
          </p:cNvGraphicFramePr>
          <p:nvPr/>
        </p:nvGraphicFramePr>
        <p:xfrm>
          <a:off x="6248400" y="914400"/>
          <a:ext cx="1752600" cy="5699562"/>
        </p:xfrm>
        <a:graphic>
          <a:graphicData uri="http://schemas.openxmlformats.org/drawingml/2006/table">
            <a:tbl>
              <a:tblPr/>
              <a:tblGrid>
                <a:gridCol w="1752600">
                  <a:extLst>
                    <a:ext uri="{9D8B030D-6E8A-4147-A177-3AD203B41FA5}">
                      <a16:colId xmlns="" xmlns:a16="http://schemas.microsoft.com/office/drawing/2014/main" val="20000"/>
                    </a:ext>
                  </a:extLst>
                </a:gridCol>
              </a:tblGrid>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24</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80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65</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bl>
          </a:graphicData>
        </a:graphic>
      </p:graphicFrame>
      <p:graphicFrame>
        <p:nvGraphicFramePr>
          <p:cNvPr id="12345" name="Group 57"/>
          <p:cNvGraphicFramePr>
            <a:graphicFrameLocks noGrp="1"/>
          </p:cNvGraphicFramePr>
          <p:nvPr/>
        </p:nvGraphicFramePr>
        <p:xfrm>
          <a:off x="5638800" y="914400"/>
          <a:ext cx="609600" cy="5699562"/>
        </p:xfrm>
        <a:graphic>
          <a:graphicData uri="http://schemas.openxmlformats.org/drawingml/2006/table">
            <a:tbl>
              <a:tblPr/>
              <a:tblGrid>
                <a:gridCol w="609600">
                  <a:extLst>
                    <a:ext uri="{9D8B030D-6E8A-4147-A177-3AD203B41FA5}">
                      <a16:colId xmlns="" xmlns:a16="http://schemas.microsoft.com/office/drawing/2014/main" val="20000"/>
                    </a:ext>
                  </a:extLst>
                </a:gridCol>
              </a:tblGrid>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bl>
          </a:graphicData>
        </a:graphic>
      </p:graphicFrame>
      <p:sp>
        <p:nvSpPr>
          <p:cNvPr id="12350" name="Freeform 62"/>
          <p:cNvSpPr>
            <a:spLocks/>
          </p:cNvSpPr>
          <p:nvPr/>
        </p:nvSpPr>
        <p:spPr bwMode="auto">
          <a:xfrm>
            <a:off x="2438400" y="2108200"/>
            <a:ext cx="609600" cy="2209800"/>
          </a:xfrm>
          <a:custGeom>
            <a:avLst/>
            <a:gdLst>
              <a:gd name="T0" fmla="*/ 0 w 384"/>
              <a:gd name="T1" fmla="*/ 0 h 1392"/>
              <a:gd name="T2" fmla="*/ 967740000 w 384"/>
              <a:gd name="T3" fmla="*/ 1935480000 h 1392"/>
              <a:gd name="T4" fmla="*/ 0 w 384"/>
              <a:gd name="T5" fmla="*/ 2147483647 h 1392"/>
              <a:gd name="T6" fmla="*/ 0 60000 65536"/>
              <a:gd name="T7" fmla="*/ 0 60000 65536"/>
              <a:gd name="T8" fmla="*/ 0 60000 65536"/>
            </a:gdLst>
            <a:ahLst/>
            <a:cxnLst>
              <a:cxn ang="T6">
                <a:pos x="T0" y="T1"/>
              </a:cxn>
              <a:cxn ang="T7">
                <a:pos x="T2" y="T3"/>
              </a:cxn>
              <a:cxn ang="T8">
                <a:pos x="T4" y="T5"/>
              </a:cxn>
            </a:cxnLst>
            <a:rect l="0" t="0" r="r" b="b"/>
            <a:pathLst>
              <a:path w="384" h="1392">
                <a:moveTo>
                  <a:pt x="0" y="0"/>
                </a:moveTo>
                <a:cubicBezTo>
                  <a:pt x="192" y="268"/>
                  <a:pt x="384" y="536"/>
                  <a:pt x="384" y="768"/>
                </a:cubicBezTo>
                <a:cubicBezTo>
                  <a:pt x="384" y="1000"/>
                  <a:pt x="192" y="1196"/>
                  <a:pt x="0" y="1392"/>
                </a:cubicBezTo>
              </a:path>
            </a:pathLst>
          </a:custGeom>
          <a:noFill/>
          <a:ln w="19050" cmpd="sng">
            <a:solidFill>
              <a:srgbClr val="339966"/>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1" name="Freeform 63"/>
          <p:cNvSpPr>
            <a:spLocks/>
          </p:cNvSpPr>
          <p:nvPr/>
        </p:nvSpPr>
        <p:spPr bwMode="auto">
          <a:xfrm>
            <a:off x="2438400" y="3733800"/>
            <a:ext cx="381000" cy="1143000"/>
          </a:xfrm>
          <a:custGeom>
            <a:avLst/>
            <a:gdLst>
              <a:gd name="T0" fmla="*/ 0 w 240"/>
              <a:gd name="T1" fmla="*/ 0 h 720"/>
              <a:gd name="T2" fmla="*/ 604837500 w 240"/>
              <a:gd name="T3" fmla="*/ 967740000 h 720"/>
              <a:gd name="T4" fmla="*/ 0 w 240"/>
              <a:gd name="T5" fmla="*/ 1814512500 h 720"/>
              <a:gd name="T6" fmla="*/ 0 60000 65536"/>
              <a:gd name="T7" fmla="*/ 0 60000 65536"/>
              <a:gd name="T8" fmla="*/ 0 60000 65536"/>
            </a:gdLst>
            <a:ahLst/>
            <a:cxnLst>
              <a:cxn ang="T6">
                <a:pos x="T0" y="T1"/>
              </a:cxn>
              <a:cxn ang="T7">
                <a:pos x="T2" y="T3"/>
              </a:cxn>
              <a:cxn ang="T8">
                <a:pos x="T4" y="T5"/>
              </a:cxn>
            </a:cxnLst>
            <a:rect l="0" t="0" r="r" b="b"/>
            <a:pathLst>
              <a:path w="240" h="720">
                <a:moveTo>
                  <a:pt x="0" y="0"/>
                </a:moveTo>
                <a:cubicBezTo>
                  <a:pt x="120" y="132"/>
                  <a:pt x="240" y="264"/>
                  <a:pt x="240" y="384"/>
                </a:cubicBezTo>
                <a:cubicBezTo>
                  <a:pt x="240" y="504"/>
                  <a:pt x="120" y="612"/>
                  <a:pt x="0" y="720"/>
                </a:cubicBezTo>
              </a:path>
            </a:pathLst>
          </a:custGeom>
          <a:noFill/>
          <a:ln w="19050" cmpd="sng">
            <a:solidFill>
              <a:srgbClr val="993366"/>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2" name="Freeform 64"/>
          <p:cNvSpPr>
            <a:spLocks/>
          </p:cNvSpPr>
          <p:nvPr/>
        </p:nvSpPr>
        <p:spPr bwMode="auto">
          <a:xfrm>
            <a:off x="2616200" y="3200400"/>
            <a:ext cx="533400" cy="2209800"/>
          </a:xfrm>
          <a:custGeom>
            <a:avLst/>
            <a:gdLst>
              <a:gd name="T0" fmla="*/ 0 w 336"/>
              <a:gd name="T1" fmla="*/ 0 h 1392"/>
              <a:gd name="T2" fmla="*/ 846772500 w 336"/>
              <a:gd name="T3" fmla="*/ 1693545000 h 1392"/>
              <a:gd name="T4" fmla="*/ 0 w 336"/>
              <a:gd name="T5" fmla="*/ 2147483647 h 1392"/>
              <a:gd name="T6" fmla="*/ 0 60000 65536"/>
              <a:gd name="T7" fmla="*/ 0 60000 65536"/>
              <a:gd name="T8" fmla="*/ 0 60000 65536"/>
            </a:gdLst>
            <a:ahLst/>
            <a:cxnLst>
              <a:cxn ang="T6">
                <a:pos x="T0" y="T1"/>
              </a:cxn>
              <a:cxn ang="T7">
                <a:pos x="T2" y="T3"/>
              </a:cxn>
              <a:cxn ang="T8">
                <a:pos x="T4" y="T5"/>
              </a:cxn>
            </a:cxnLst>
            <a:rect l="0" t="0" r="r" b="b"/>
            <a:pathLst>
              <a:path w="336" h="1392">
                <a:moveTo>
                  <a:pt x="0" y="0"/>
                </a:moveTo>
                <a:cubicBezTo>
                  <a:pt x="168" y="220"/>
                  <a:pt x="336" y="440"/>
                  <a:pt x="336" y="672"/>
                </a:cubicBezTo>
                <a:cubicBezTo>
                  <a:pt x="336" y="904"/>
                  <a:pt x="168" y="1148"/>
                  <a:pt x="0" y="1392"/>
                </a:cubicBezTo>
              </a:path>
            </a:pathLst>
          </a:custGeom>
          <a:noFill/>
          <a:ln w="19050" cmpd="sng">
            <a:solidFill>
              <a:srgbClr val="FF00FF"/>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6" name="AutoShape 68"/>
          <p:cNvSpPr>
            <a:spLocks noChangeArrowheads="1"/>
          </p:cNvSpPr>
          <p:nvPr/>
        </p:nvSpPr>
        <p:spPr bwMode="auto">
          <a:xfrm>
            <a:off x="3810000" y="3048000"/>
            <a:ext cx="1295400" cy="1371600"/>
          </a:xfrm>
          <a:prstGeom prst="irregularSeal1">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Collision</a:t>
            </a:r>
          </a:p>
        </p:txBody>
      </p:sp>
      <p:sp>
        <p:nvSpPr>
          <p:cNvPr id="12357" name="Line 69"/>
          <p:cNvSpPr>
            <a:spLocks noChangeShapeType="1"/>
          </p:cNvSpPr>
          <p:nvPr/>
        </p:nvSpPr>
        <p:spPr bwMode="auto">
          <a:xfrm>
            <a:off x="3048000" y="31623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8" name="Line 70"/>
          <p:cNvSpPr>
            <a:spLocks noChangeShapeType="1"/>
          </p:cNvSpPr>
          <p:nvPr/>
        </p:nvSpPr>
        <p:spPr bwMode="auto">
          <a:xfrm flipV="1">
            <a:off x="2819400" y="39624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9" name="Line 71"/>
          <p:cNvSpPr>
            <a:spLocks noChangeShapeType="1"/>
          </p:cNvSpPr>
          <p:nvPr/>
        </p:nvSpPr>
        <p:spPr bwMode="auto">
          <a:xfrm flipV="1">
            <a:off x="3124200" y="41910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 name="Slide Number Placeholder 1"/>
          <p:cNvSpPr>
            <a:spLocks noGrp="1"/>
          </p:cNvSpPr>
          <p:nvPr>
            <p:ph type="sldNum" sz="quarter" idx="12"/>
          </p:nvPr>
        </p:nvSpPr>
        <p:spPr/>
        <p:txBody>
          <a:bodyPr/>
          <a:lstStyle/>
          <a:p>
            <a:fld id="{DDE4AA30-DFC3-4E29-B54E-BC96FFE3FF90}" type="slidenum">
              <a:rPr lang="en-IN" smtClean="0"/>
              <a:t>14</a:t>
            </a:fld>
            <a:endParaRPr lang="en-IN"/>
          </a:p>
        </p:txBody>
      </p:sp>
    </p:spTree>
    <p:extLst>
      <p:ext uri="{BB962C8B-B14F-4D97-AF65-F5344CB8AC3E}">
        <p14:creationId xmlns:p14="http://schemas.microsoft.com/office/powerpoint/2010/main" val="3594707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gtEl>
                                        <p:attrNameLst>
                                          <p:attrName>style.visibility</p:attrName>
                                        </p:attrNameLst>
                                      </p:cBhvr>
                                      <p:to>
                                        <p:strVal val="visible"/>
                                      </p:to>
                                    </p:set>
                                    <p:anim calcmode="lin" valueType="num">
                                      <p:cBhvr additive="base">
                                        <p:cTn id="13" dur="500" fill="hold"/>
                                        <p:tgtEl>
                                          <p:spTgt spid="12291"/>
                                        </p:tgtEl>
                                        <p:attrNameLst>
                                          <p:attrName>ppt_x</p:attrName>
                                        </p:attrNameLst>
                                      </p:cBhvr>
                                      <p:tavLst>
                                        <p:tav tm="0">
                                          <p:val>
                                            <p:strVal val="#ppt_x"/>
                                          </p:val>
                                        </p:tav>
                                        <p:tav tm="100000">
                                          <p:val>
                                            <p:strVal val="#ppt_x"/>
                                          </p:val>
                                        </p:tav>
                                      </p:tavLst>
                                    </p:anim>
                                    <p:anim calcmode="lin" valueType="num">
                                      <p:cBhvr additive="base">
                                        <p:cTn id="14"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350"/>
                                        </p:tgtEl>
                                        <p:attrNameLst>
                                          <p:attrName>style.visibility</p:attrName>
                                        </p:attrNameLst>
                                      </p:cBhvr>
                                      <p:to>
                                        <p:strVal val="visible"/>
                                      </p:to>
                                    </p:set>
                                    <p:anim calcmode="lin" valueType="num">
                                      <p:cBhvr additive="base">
                                        <p:cTn id="19" dur="500" fill="hold"/>
                                        <p:tgtEl>
                                          <p:spTgt spid="12350"/>
                                        </p:tgtEl>
                                        <p:attrNameLst>
                                          <p:attrName>ppt_x</p:attrName>
                                        </p:attrNameLst>
                                      </p:cBhvr>
                                      <p:tavLst>
                                        <p:tav tm="0">
                                          <p:val>
                                            <p:strVal val="#ppt_x"/>
                                          </p:val>
                                        </p:tav>
                                        <p:tav tm="100000">
                                          <p:val>
                                            <p:strVal val="#ppt_x"/>
                                          </p:val>
                                        </p:tav>
                                      </p:tavLst>
                                    </p:anim>
                                    <p:anim calcmode="lin" valueType="num">
                                      <p:cBhvr additive="base">
                                        <p:cTn id="20" dur="500" fill="hold"/>
                                        <p:tgtEl>
                                          <p:spTgt spid="1235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352"/>
                                        </p:tgtEl>
                                        <p:attrNameLst>
                                          <p:attrName>style.visibility</p:attrName>
                                        </p:attrNameLst>
                                      </p:cBhvr>
                                      <p:to>
                                        <p:strVal val="visible"/>
                                      </p:to>
                                    </p:set>
                                    <p:anim calcmode="lin" valueType="num">
                                      <p:cBhvr additive="base">
                                        <p:cTn id="23" dur="500" fill="hold"/>
                                        <p:tgtEl>
                                          <p:spTgt spid="12352"/>
                                        </p:tgtEl>
                                        <p:attrNameLst>
                                          <p:attrName>ppt_x</p:attrName>
                                        </p:attrNameLst>
                                      </p:cBhvr>
                                      <p:tavLst>
                                        <p:tav tm="0">
                                          <p:val>
                                            <p:strVal val="#ppt_x"/>
                                          </p:val>
                                        </p:tav>
                                        <p:tav tm="100000">
                                          <p:val>
                                            <p:strVal val="#ppt_x"/>
                                          </p:val>
                                        </p:tav>
                                      </p:tavLst>
                                    </p:anim>
                                    <p:anim calcmode="lin" valueType="num">
                                      <p:cBhvr additive="base">
                                        <p:cTn id="24" dur="500" fill="hold"/>
                                        <p:tgtEl>
                                          <p:spTgt spid="1235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351"/>
                                        </p:tgtEl>
                                        <p:attrNameLst>
                                          <p:attrName>style.visibility</p:attrName>
                                        </p:attrNameLst>
                                      </p:cBhvr>
                                      <p:to>
                                        <p:strVal val="visible"/>
                                      </p:to>
                                    </p:set>
                                    <p:anim calcmode="lin" valueType="num">
                                      <p:cBhvr additive="base">
                                        <p:cTn id="27" dur="500" fill="hold"/>
                                        <p:tgtEl>
                                          <p:spTgt spid="12351"/>
                                        </p:tgtEl>
                                        <p:attrNameLst>
                                          <p:attrName>ppt_x</p:attrName>
                                        </p:attrNameLst>
                                      </p:cBhvr>
                                      <p:tavLst>
                                        <p:tav tm="0">
                                          <p:val>
                                            <p:strVal val="#ppt_x"/>
                                          </p:val>
                                        </p:tav>
                                        <p:tav tm="100000">
                                          <p:val>
                                            <p:strVal val="#ppt_x"/>
                                          </p:val>
                                        </p:tav>
                                      </p:tavLst>
                                    </p:anim>
                                    <p:anim calcmode="lin" valueType="num">
                                      <p:cBhvr additive="base">
                                        <p:cTn id="28" dur="500" fill="hold"/>
                                        <p:tgtEl>
                                          <p:spTgt spid="12351"/>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357"/>
                                        </p:tgtEl>
                                        <p:attrNameLst>
                                          <p:attrName>style.visibility</p:attrName>
                                        </p:attrNameLst>
                                      </p:cBhvr>
                                      <p:to>
                                        <p:strVal val="visible"/>
                                      </p:to>
                                    </p:set>
                                    <p:anim calcmode="lin" valueType="num">
                                      <p:cBhvr additive="base">
                                        <p:cTn id="33" dur="500" fill="hold"/>
                                        <p:tgtEl>
                                          <p:spTgt spid="12357"/>
                                        </p:tgtEl>
                                        <p:attrNameLst>
                                          <p:attrName>ppt_x</p:attrName>
                                        </p:attrNameLst>
                                      </p:cBhvr>
                                      <p:tavLst>
                                        <p:tav tm="0">
                                          <p:val>
                                            <p:strVal val="#ppt_x"/>
                                          </p:val>
                                        </p:tav>
                                        <p:tav tm="100000">
                                          <p:val>
                                            <p:strVal val="#ppt_x"/>
                                          </p:val>
                                        </p:tav>
                                      </p:tavLst>
                                    </p:anim>
                                    <p:anim calcmode="lin" valueType="num">
                                      <p:cBhvr additive="base">
                                        <p:cTn id="34" dur="500" fill="hold"/>
                                        <p:tgtEl>
                                          <p:spTgt spid="1235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358"/>
                                        </p:tgtEl>
                                        <p:attrNameLst>
                                          <p:attrName>style.visibility</p:attrName>
                                        </p:attrNameLst>
                                      </p:cBhvr>
                                      <p:to>
                                        <p:strVal val="visible"/>
                                      </p:to>
                                    </p:set>
                                    <p:anim calcmode="lin" valueType="num">
                                      <p:cBhvr additive="base">
                                        <p:cTn id="37" dur="500" fill="hold"/>
                                        <p:tgtEl>
                                          <p:spTgt spid="12358"/>
                                        </p:tgtEl>
                                        <p:attrNameLst>
                                          <p:attrName>ppt_x</p:attrName>
                                        </p:attrNameLst>
                                      </p:cBhvr>
                                      <p:tavLst>
                                        <p:tav tm="0">
                                          <p:val>
                                            <p:strVal val="#ppt_x"/>
                                          </p:val>
                                        </p:tav>
                                        <p:tav tm="100000">
                                          <p:val>
                                            <p:strVal val="#ppt_x"/>
                                          </p:val>
                                        </p:tav>
                                      </p:tavLst>
                                    </p:anim>
                                    <p:anim calcmode="lin" valueType="num">
                                      <p:cBhvr additive="base">
                                        <p:cTn id="38" dur="500" fill="hold"/>
                                        <p:tgtEl>
                                          <p:spTgt spid="1235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359"/>
                                        </p:tgtEl>
                                        <p:attrNameLst>
                                          <p:attrName>style.visibility</p:attrName>
                                        </p:attrNameLst>
                                      </p:cBhvr>
                                      <p:to>
                                        <p:strVal val="visible"/>
                                      </p:to>
                                    </p:set>
                                    <p:anim calcmode="lin" valueType="num">
                                      <p:cBhvr additive="base">
                                        <p:cTn id="41" dur="500" fill="hold"/>
                                        <p:tgtEl>
                                          <p:spTgt spid="12359"/>
                                        </p:tgtEl>
                                        <p:attrNameLst>
                                          <p:attrName>ppt_x</p:attrName>
                                        </p:attrNameLst>
                                      </p:cBhvr>
                                      <p:tavLst>
                                        <p:tav tm="0">
                                          <p:val>
                                            <p:strVal val="#ppt_x"/>
                                          </p:val>
                                        </p:tav>
                                        <p:tav tm="100000">
                                          <p:val>
                                            <p:strVal val="#ppt_x"/>
                                          </p:val>
                                        </p:tav>
                                      </p:tavLst>
                                    </p:anim>
                                    <p:anim calcmode="lin" valueType="num">
                                      <p:cBhvr additive="base">
                                        <p:cTn id="42" dur="500" fill="hold"/>
                                        <p:tgtEl>
                                          <p:spTgt spid="1235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356"/>
                                        </p:tgtEl>
                                        <p:attrNameLst>
                                          <p:attrName>style.visibility</p:attrName>
                                        </p:attrNameLst>
                                      </p:cBhvr>
                                      <p:to>
                                        <p:strVal val="visible"/>
                                      </p:to>
                                    </p:set>
                                    <p:anim calcmode="lin" valueType="num">
                                      <p:cBhvr additive="base">
                                        <p:cTn id="45" dur="500" fill="hold"/>
                                        <p:tgtEl>
                                          <p:spTgt spid="12356"/>
                                        </p:tgtEl>
                                        <p:attrNameLst>
                                          <p:attrName>ppt_x</p:attrName>
                                        </p:attrNameLst>
                                      </p:cBhvr>
                                      <p:tavLst>
                                        <p:tav tm="0">
                                          <p:val>
                                            <p:strVal val="#ppt_x"/>
                                          </p:val>
                                        </p:tav>
                                        <p:tav tm="100000">
                                          <p:val>
                                            <p:strVal val="#ppt_x"/>
                                          </p:val>
                                        </p:tav>
                                      </p:tavLst>
                                    </p:anim>
                                    <p:anim calcmode="lin" valueType="num">
                                      <p:cBhvr additive="base">
                                        <p:cTn id="46" dur="500" fill="hold"/>
                                        <p:tgtEl>
                                          <p:spTgt spid="12356"/>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12345"/>
                                        </p:tgtEl>
                                        <p:attrNameLst>
                                          <p:attrName>style.visibility</p:attrName>
                                        </p:attrNameLst>
                                      </p:cBhvr>
                                      <p:to>
                                        <p:strVal val="visible"/>
                                      </p:to>
                                    </p:set>
                                    <p:anim calcmode="lin" valueType="num">
                                      <p:cBhvr additive="base">
                                        <p:cTn id="51" dur="500" fill="hold"/>
                                        <p:tgtEl>
                                          <p:spTgt spid="12345"/>
                                        </p:tgtEl>
                                        <p:attrNameLst>
                                          <p:attrName>ppt_x</p:attrName>
                                        </p:attrNameLst>
                                      </p:cBhvr>
                                      <p:tavLst>
                                        <p:tav tm="0">
                                          <p:val>
                                            <p:strVal val="#ppt_x"/>
                                          </p:val>
                                        </p:tav>
                                        <p:tav tm="100000">
                                          <p:val>
                                            <p:strVal val="#ppt_x"/>
                                          </p:val>
                                        </p:tav>
                                      </p:tavLst>
                                    </p:anim>
                                    <p:anim calcmode="lin" valueType="num">
                                      <p:cBhvr additive="base">
                                        <p:cTn id="52" dur="500" fill="hold"/>
                                        <p:tgtEl>
                                          <p:spTgt spid="1234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354"/>
                                        </p:tgtEl>
                                        <p:attrNameLst>
                                          <p:attrName>style.visibility</p:attrName>
                                        </p:attrNameLst>
                                      </p:cBhvr>
                                      <p:to>
                                        <p:strVal val="visible"/>
                                      </p:to>
                                    </p:set>
                                    <p:anim calcmode="lin" valueType="num">
                                      <p:cBhvr additive="base">
                                        <p:cTn id="55" dur="500" fill="hold"/>
                                        <p:tgtEl>
                                          <p:spTgt spid="12354"/>
                                        </p:tgtEl>
                                        <p:attrNameLst>
                                          <p:attrName>ppt_x</p:attrName>
                                        </p:attrNameLst>
                                      </p:cBhvr>
                                      <p:tavLst>
                                        <p:tav tm="0">
                                          <p:val>
                                            <p:strVal val="#ppt_x"/>
                                          </p:val>
                                        </p:tav>
                                        <p:tav tm="100000">
                                          <p:val>
                                            <p:strVal val="#ppt_x"/>
                                          </p:val>
                                        </p:tav>
                                      </p:tavLst>
                                    </p:anim>
                                    <p:anim calcmode="lin" valueType="num">
                                      <p:cBhvr additive="base">
                                        <p:cTn id="56" dur="500" fill="hold"/>
                                        <p:tgtEl>
                                          <p:spTgt spid="123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p:bldP spid="12350" grpId="0" animBg="1"/>
      <p:bldP spid="12351" grpId="0" animBg="1"/>
      <p:bldP spid="12352" grpId="0" animBg="1"/>
      <p:bldP spid="12356" grpId="0" animBg="1"/>
      <p:bldP spid="12357" grpId="0" animBg="1"/>
      <p:bldP spid="12358" grpId="0" animBg="1"/>
      <p:bldP spid="1235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74638"/>
            <a:ext cx="8229600" cy="850106"/>
          </a:xfrm>
        </p:spPr>
        <p:txBody>
          <a:bodyPr>
            <a:normAutofit/>
          </a:bodyPr>
          <a:lstStyle/>
          <a:p>
            <a:r>
              <a:rPr lang="en-US" altLang="en-US" b="1" dirty="0" smtClean="0">
                <a:solidFill>
                  <a:srgbClr val="FF0000"/>
                </a:solidFill>
              </a:rPr>
              <a:t>Collision in Hashing</a:t>
            </a:r>
            <a:endParaRPr lang="en-US" altLang="en-US" b="1" dirty="0">
              <a:solidFill>
                <a:srgbClr val="FF0000"/>
              </a:solidFill>
            </a:endParaRPr>
          </a:p>
        </p:txBody>
      </p:sp>
      <p:sp>
        <p:nvSpPr>
          <p:cNvPr id="18435" name="Content Placeholder 2"/>
          <p:cNvSpPr>
            <a:spLocks noGrp="1"/>
          </p:cNvSpPr>
          <p:nvPr>
            <p:ph sz="quarter" idx="1"/>
          </p:nvPr>
        </p:nvSpPr>
        <p:spPr>
          <a:xfrm>
            <a:off x="457200" y="1412776"/>
            <a:ext cx="8579296" cy="5184576"/>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collision </a:t>
            </a:r>
            <a:r>
              <a:rPr lang="en-US" sz="2400" dirty="0">
                <a:latin typeface="Times New Roman" panose="02020603050405020304" pitchFamily="18" charset="0"/>
                <a:cs typeface="Times New Roman" panose="02020603050405020304" pitchFamily="18" charset="0"/>
              </a:rPr>
              <a:t>occurs when the hash field value of a record that is being inserted </a:t>
            </a:r>
            <a:r>
              <a:rPr lang="en-US" sz="2400" dirty="0" smtClean="0">
                <a:latin typeface="Times New Roman" panose="02020603050405020304" pitchFamily="18" charset="0"/>
                <a:cs typeface="Times New Roman" panose="02020603050405020304" pitchFamily="18" charset="0"/>
              </a:rPr>
              <a:t>hashes to </a:t>
            </a:r>
            <a:r>
              <a:rPr lang="en-US" sz="2400" dirty="0">
                <a:latin typeface="Times New Roman" panose="02020603050405020304" pitchFamily="18" charset="0"/>
                <a:cs typeface="Times New Roman" panose="02020603050405020304" pitchFamily="18" charset="0"/>
              </a:rPr>
              <a:t>an address that already contains a different record.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this situation, we </a:t>
            </a:r>
            <a:r>
              <a:rPr lang="en-US" sz="2400" dirty="0" smtClean="0">
                <a:latin typeface="Times New Roman" panose="02020603050405020304" pitchFamily="18" charset="0"/>
                <a:cs typeface="Times New Roman" panose="02020603050405020304" pitchFamily="18" charset="0"/>
              </a:rPr>
              <a:t>must insert </a:t>
            </a:r>
            <a:r>
              <a:rPr lang="en-US" sz="2400" dirty="0">
                <a:latin typeface="Times New Roman" panose="02020603050405020304" pitchFamily="18" charset="0"/>
                <a:cs typeface="Times New Roman" panose="02020603050405020304" pitchFamily="18" charset="0"/>
              </a:rPr>
              <a:t>the new record in some other position, since its hash address is occupied.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process </a:t>
            </a:r>
            <a:r>
              <a:rPr lang="en-US" sz="2400" dirty="0">
                <a:latin typeface="Times New Roman" panose="02020603050405020304" pitchFamily="18" charset="0"/>
                <a:cs typeface="Times New Roman" panose="02020603050405020304" pitchFamily="18" charset="0"/>
              </a:rPr>
              <a:t>of finding another position is called </a:t>
            </a:r>
            <a:r>
              <a:rPr lang="en-US" sz="2400" b="1" dirty="0">
                <a:latin typeface="Times New Roman" panose="02020603050405020304" pitchFamily="18" charset="0"/>
                <a:cs typeface="Times New Roman" panose="02020603050405020304" pitchFamily="18" charset="0"/>
              </a:rPr>
              <a:t>collision resolution</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a:t>
            </a:r>
            <a:r>
              <a:rPr lang="en-US" sz="2400" dirty="0" smtClean="0">
                <a:latin typeface="Times New Roman" panose="02020603050405020304" pitchFamily="18" charset="0"/>
                <a:cs typeface="Times New Roman" panose="02020603050405020304" pitchFamily="18" charset="0"/>
              </a:rPr>
              <a:t>numerous methods </a:t>
            </a:r>
            <a:r>
              <a:rPr lang="en-US" sz="2400" dirty="0">
                <a:latin typeface="Times New Roman" panose="02020603050405020304" pitchFamily="18" charset="0"/>
                <a:cs typeface="Times New Roman" panose="02020603050405020304" pitchFamily="18" charset="0"/>
              </a:rPr>
              <a:t>for collision resolution, including the following</a:t>
            </a:r>
            <a:r>
              <a:rPr lang="en-US" sz="2400" dirty="0" smtClean="0">
                <a:latin typeface="Times New Roman" panose="02020603050405020304" pitchFamily="18" charset="0"/>
                <a:cs typeface="Times New Roman" panose="02020603050405020304" pitchFamily="18" charset="0"/>
              </a:rPr>
              <a:t>:</a:t>
            </a:r>
          </a:p>
          <a:p>
            <a:pPr algn="just"/>
            <a:r>
              <a:rPr lang="en-US" altLang="en-US" sz="2400" b="1" dirty="0" smtClean="0">
                <a:latin typeface="Times New Roman" panose="02020603050405020304" pitchFamily="18" charset="0"/>
                <a:cs typeface="Times New Roman" panose="02020603050405020304" pitchFamily="18" charset="0"/>
              </a:rPr>
              <a:t>Open Addressing / Closed Hashing</a:t>
            </a:r>
          </a:p>
          <a:p>
            <a:pPr algn="just"/>
            <a:r>
              <a:rPr lang="en-US" altLang="en-US" sz="2400" b="1" dirty="0" smtClean="0">
                <a:latin typeface="Times New Roman" panose="02020603050405020304" pitchFamily="18" charset="0"/>
                <a:cs typeface="Times New Roman" panose="02020603050405020304" pitchFamily="18" charset="0"/>
              </a:rPr>
              <a:t>Chaining / Separate chaining / Open Hashing</a:t>
            </a:r>
          </a:p>
          <a:p>
            <a:pPr algn="just"/>
            <a:r>
              <a:rPr lang="en-US" altLang="en-US" sz="2400" b="1" dirty="0" smtClean="0">
                <a:latin typeface="Times New Roman" panose="02020603050405020304" pitchFamily="18" charset="0"/>
                <a:cs typeface="Times New Roman" panose="02020603050405020304" pitchFamily="18" charset="0"/>
              </a:rPr>
              <a:t>Multiple Hashing</a:t>
            </a:r>
            <a:endParaRPr lang="en-US" altLang="en-US" sz="24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15</a:t>
            </a:fld>
            <a:endParaRPr lang="en-IN"/>
          </a:p>
        </p:txBody>
      </p:sp>
    </p:spTree>
    <p:extLst>
      <p:ext uri="{BB962C8B-B14F-4D97-AF65-F5344CB8AC3E}">
        <p14:creationId xmlns:p14="http://schemas.microsoft.com/office/powerpoint/2010/main" val="516747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438400" y="762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Collision Handling Strategies</a:t>
            </a:r>
          </a:p>
        </p:txBody>
      </p:sp>
      <p:sp>
        <p:nvSpPr>
          <p:cNvPr id="11267" name="Text Box 3"/>
          <p:cNvSpPr txBox="1">
            <a:spLocks noChangeArrowheads="1"/>
          </p:cNvSpPr>
          <p:nvPr/>
        </p:nvSpPr>
        <p:spPr bwMode="auto">
          <a:xfrm>
            <a:off x="1981200" y="14478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a:solidFill>
                  <a:schemeClr val="accent2"/>
                </a:solidFill>
              </a:rPr>
              <a:t>Separate Chaining</a:t>
            </a:r>
          </a:p>
        </p:txBody>
      </p:sp>
      <p:sp>
        <p:nvSpPr>
          <p:cNvPr id="11268" name="Text Box 4"/>
          <p:cNvSpPr txBox="1">
            <a:spLocks noChangeArrowheads="1"/>
          </p:cNvSpPr>
          <p:nvPr/>
        </p:nvSpPr>
        <p:spPr bwMode="auto">
          <a:xfrm>
            <a:off x="4800600" y="1539875"/>
            <a:ext cx="2590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a:solidFill>
                  <a:schemeClr val="accent2"/>
                </a:solidFill>
              </a:rPr>
              <a:t>Open Addressing</a:t>
            </a:r>
          </a:p>
        </p:txBody>
      </p:sp>
      <p:sp>
        <p:nvSpPr>
          <p:cNvPr id="11269" name="Text Box 5"/>
          <p:cNvSpPr txBox="1">
            <a:spLocks noChangeArrowheads="1"/>
          </p:cNvSpPr>
          <p:nvPr/>
        </p:nvSpPr>
        <p:spPr bwMode="auto">
          <a:xfrm>
            <a:off x="5039292" y="2885745"/>
            <a:ext cx="370668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buFont typeface="Wingdings" pitchFamily="2" charset="2"/>
              <a:buChar char="Ø"/>
            </a:pPr>
            <a:r>
              <a:rPr lang="en-US" sz="2400" b="1" dirty="0">
                <a:solidFill>
                  <a:srgbClr val="CC0000"/>
                </a:solidFill>
              </a:rPr>
              <a:t>Linear Probing</a:t>
            </a:r>
          </a:p>
          <a:p>
            <a:pPr eaLnBrk="1" hangingPunct="1">
              <a:spcBef>
                <a:spcPct val="50000"/>
              </a:spcBef>
              <a:buFont typeface="Wingdings" pitchFamily="2" charset="2"/>
              <a:buChar char="Ø"/>
            </a:pPr>
            <a:r>
              <a:rPr lang="en-US" sz="2400" b="1" dirty="0">
                <a:solidFill>
                  <a:srgbClr val="CC0000"/>
                </a:solidFill>
              </a:rPr>
              <a:t>Quadratic Probing </a:t>
            </a:r>
          </a:p>
          <a:p>
            <a:pPr eaLnBrk="1" hangingPunct="1">
              <a:spcBef>
                <a:spcPct val="50000"/>
              </a:spcBef>
              <a:buFont typeface="Wingdings" pitchFamily="2" charset="2"/>
              <a:buChar char="Ø"/>
            </a:pPr>
            <a:r>
              <a:rPr lang="en-US" sz="2400" b="1" dirty="0">
                <a:solidFill>
                  <a:srgbClr val="CC0000"/>
                </a:solidFill>
              </a:rPr>
              <a:t>Double Hashing</a:t>
            </a:r>
          </a:p>
          <a:p>
            <a:pPr eaLnBrk="1" hangingPunct="1">
              <a:spcBef>
                <a:spcPct val="50000"/>
              </a:spcBef>
              <a:buFont typeface="Wingdings" pitchFamily="2" charset="2"/>
              <a:buChar char="Ø"/>
            </a:pPr>
            <a:r>
              <a:rPr lang="en-US" sz="2400" b="1" dirty="0">
                <a:solidFill>
                  <a:srgbClr val="CC0000"/>
                </a:solidFill>
              </a:rPr>
              <a:t>Rehashing</a:t>
            </a:r>
          </a:p>
        </p:txBody>
      </p:sp>
      <p:sp>
        <p:nvSpPr>
          <p:cNvPr id="11270" name="Line 6"/>
          <p:cNvSpPr>
            <a:spLocks noChangeShapeType="1"/>
          </p:cNvSpPr>
          <p:nvPr/>
        </p:nvSpPr>
        <p:spPr bwMode="auto">
          <a:xfrm>
            <a:off x="4572000" y="45720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1" name="Line 7"/>
          <p:cNvSpPr>
            <a:spLocks noChangeShapeType="1"/>
          </p:cNvSpPr>
          <p:nvPr/>
        </p:nvSpPr>
        <p:spPr bwMode="auto">
          <a:xfrm flipH="1">
            <a:off x="2819400" y="914400"/>
            <a:ext cx="1752600" cy="533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3" name="Line 9"/>
          <p:cNvSpPr>
            <a:spLocks noChangeShapeType="1"/>
          </p:cNvSpPr>
          <p:nvPr/>
        </p:nvSpPr>
        <p:spPr bwMode="auto">
          <a:xfrm>
            <a:off x="4572000" y="914400"/>
            <a:ext cx="1447800" cy="609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 name="TextBox 1"/>
          <p:cNvSpPr txBox="1"/>
          <p:nvPr/>
        </p:nvSpPr>
        <p:spPr>
          <a:xfrm>
            <a:off x="7062208" y="1766371"/>
            <a:ext cx="1800200" cy="369332"/>
          </a:xfrm>
          <a:prstGeom prst="rect">
            <a:avLst/>
          </a:prstGeom>
          <a:noFill/>
        </p:spPr>
        <p:txBody>
          <a:bodyPr wrap="square" rtlCol="0">
            <a:spAutoFit/>
          </a:bodyPr>
          <a:lstStyle/>
          <a:p>
            <a:r>
              <a:rPr lang="en-IN" b="1" dirty="0" smtClean="0">
                <a:solidFill>
                  <a:srgbClr val="FF00FF"/>
                </a:solidFill>
              </a:rPr>
              <a:t>Closed Hashing</a:t>
            </a:r>
            <a:endParaRPr lang="en-IN" b="1" dirty="0">
              <a:solidFill>
                <a:srgbClr val="FF00FF"/>
              </a:solidFill>
            </a:endParaRPr>
          </a:p>
        </p:txBody>
      </p:sp>
      <p:sp>
        <p:nvSpPr>
          <p:cNvPr id="10" name="TextBox 9"/>
          <p:cNvSpPr txBox="1"/>
          <p:nvPr/>
        </p:nvSpPr>
        <p:spPr>
          <a:xfrm>
            <a:off x="395536" y="1674296"/>
            <a:ext cx="1800200" cy="369332"/>
          </a:xfrm>
          <a:prstGeom prst="rect">
            <a:avLst/>
          </a:prstGeom>
          <a:noFill/>
        </p:spPr>
        <p:txBody>
          <a:bodyPr wrap="square" rtlCol="0">
            <a:spAutoFit/>
          </a:bodyPr>
          <a:lstStyle/>
          <a:p>
            <a:r>
              <a:rPr lang="en-IN" b="1" dirty="0" smtClean="0">
                <a:solidFill>
                  <a:srgbClr val="FF00FF"/>
                </a:solidFill>
              </a:rPr>
              <a:t>Open Hashing</a:t>
            </a:r>
            <a:endParaRPr lang="en-IN" b="1" dirty="0">
              <a:solidFill>
                <a:srgbClr val="FF00FF"/>
              </a:solidFill>
            </a:endParaRPr>
          </a:p>
        </p:txBody>
      </p:sp>
      <p:sp>
        <p:nvSpPr>
          <p:cNvPr id="3" name="Slide Number Placeholder 2"/>
          <p:cNvSpPr>
            <a:spLocks noGrp="1"/>
          </p:cNvSpPr>
          <p:nvPr>
            <p:ph type="sldNum" sz="quarter" idx="12"/>
          </p:nvPr>
        </p:nvSpPr>
        <p:spPr/>
        <p:txBody>
          <a:bodyPr/>
          <a:lstStyle/>
          <a:p>
            <a:fld id="{DDE4AA30-DFC3-4E29-B54E-BC96FFE3FF90}" type="slidenum">
              <a:rPr lang="en-IN" smtClean="0"/>
              <a:t>16</a:t>
            </a:fld>
            <a:endParaRPr lang="en-IN"/>
          </a:p>
        </p:txBody>
      </p:sp>
    </p:spTree>
    <p:extLst>
      <p:ext uri="{BB962C8B-B14F-4D97-AF65-F5344CB8AC3E}">
        <p14:creationId xmlns:p14="http://schemas.microsoft.com/office/powerpoint/2010/main" val="307904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70"/>
                                        </p:tgtEl>
                                        <p:attrNameLst>
                                          <p:attrName>style.visibility</p:attrName>
                                        </p:attrNameLst>
                                      </p:cBhvr>
                                      <p:to>
                                        <p:strVal val="visible"/>
                                      </p:to>
                                    </p:set>
                                    <p:anim calcmode="lin" valueType="num">
                                      <p:cBhvr additive="base">
                                        <p:cTn id="13" dur="500" fill="hold"/>
                                        <p:tgtEl>
                                          <p:spTgt spid="11270"/>
                                        </p:tgtEl>
                                        <p:attrNameLst>
                                          <p:attrName>ppt_x</p:attrName>
                                        </p:attrNameLst>
                                      </p:cBhvr>
                                      <p:tavLst>
                                        <p:tav tm="0">
                                          <p:val>
                                            <p:strVal val="#ppt_x"/>
                                          </p:val>
                                        </p:tav>
                                        <p:tav tm="100000">
                                          <p:val>
                                            <p:strVal val="#ppt_x"/>
                                          </p:val>
                                        </p:tav>
                                      </p:tavLst>
                                    </p:anim>
                                    <p:anim calcmode="lin" valueType="num">
                                      <p:cBhvr additive="base">
                                        <p:cTn id="14" dur="500" fill="hold"/>
                                        <p:tgtEl>
                                          <p:spTgt spid="1127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271"/>
                                        </p:tgtEl>
                                        <p:attrNameLst>
                                          <p:attrName>style.visibility</p:attrName>
                                        </p:attrNameLst>
                                      </p:cBhvr>
                                      <p:to>
                                        <p:strVal val="visible"/>
                                      </p:to>
                                    </p:set>
                                    <p:anim calcmode="lin" valueType="num">
                                      <p:cBhvr additive="base">
                                        <p:cTn id="17" dur="500" fill="hold"/>
                                        <p:tgtEl>
                                          <p:spTgt spid="11271"/>
                                        </p:tgtEl>
                                        <p:attrNameLst>
                                          <p:attrName>ppt_x</p:attrName>
                                        </p:attrNameLst>
                                      </p:cBhvr>
                                      <p:tavLst>
                                        <p:tav tm="0">
                                          <p:val>
                                            <p:strVal val="#ppt_x"/>
                                          </p:val>
                                        </p:tav>
                                        <p:tav tm="100000">
                                          <p:val>
                                            <p:strVal val="#ppt_x"/>
                                          </p:val>
                                        </p:tav>
                                      </p:tavLst>
                                    </p:anim>
                                    <p:anim calcmode="lin" valueType="num">
                                      <p:cBhvr additive="base">
                                        <p:cTn id="18" dur="500" fill="hold"/>
                                        <p:tgtEl>
                                          <p:spTgt spid="1127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273"/>
                                        </p:tgtEl>
                                        <p:attrNameLst>
                                          <p:attrName>style.visibility</p:attrName>
                                        </p:attrNameLst>
                                      </p:cBhvr>
                                      <p:to>
                                        <p:strVal val="visible"/>
                                      </p:to>
                                    </p:set>
                                    <p:anim calcmode="lin" valueType="num">
                                      <p:cBhvr additive="base">
                                        <p:cTn id="21" dur="500" fill="hold"/>
                                        <p:tgtEl>
                                          <p:spTgt spid="11273"/>
                                        </p:tgtEl>
                                        <p:attrNameLst>
                                          <p:attrName>ppt_x</p:attrName>
                                        </p:attrNameLst>
                                      </p:cBhvr>
                                      <p:tavLst>
                                        <p:tav tm="0">
                                          <p:val>
                                            <p:strVal val="#ppt_x"/>
                                          </p:val>
                                        </p:tav>
                                        <p:tav tm="100000">
                                          <p:val>
                                            <p:strVal val="#ppt_x"/>
                                          </p:val>
                                        </p:tav>
                                      </p:tavLst>
                                    </p:anim>
                                    <p:anim calcmode="lin" valueType="num">
                                      <p:cBhvr additive="base">
                                        <p:cTn id="22" dur="500" fill="hold"/>
                                        <p:tgtEl>
                                          <p:spTgt spid="1127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267"/>
                                        </p:tgtEl>
                                        <p:attrNameLst>
                                          <p:attrName>style.visibility</p:attrName>
                                        </p:attrNameLst>
                                      </p:cBhvr>
                                      <p:to>
                                        <p:strVal val="visible"/>
                                      </p:to>
                                    </p:set>
                                    <p:anim calcmode="lin" valueType="num">
                                      <p:cBhvr additive="base">
                                        <p:cTn id="27" dur="500" fill="hold"/>
                                        <p:tgtEl>
                                          <p:spTgt spid="11267"/>
                                        </p:tgtEl>
                                        <p:attrNameLst>
                                          <p:attrName>ppt_x</p:attrName>
                                        </p:attrNameLst>
                                      </p:cBhvr>
                                      <p:tavLst>
                                        <p:tav tm="0">
                                          <p:val>
                                            <p:strVal val="#ppt_x"/>
                                          </p:val>
                                        </p:tav>
                                        <p:tav tm="100000">
                                          <p:val>
                                            <p:strVal val="#ppt_x"/>
                                          </p:val>
                                        </p:tav>
                                      </p:tavLst>
                                    </p:anim>
                                    <p:anim calcmode="lin" valueType="num">
                                      <p:cBhvr additive="base">
                                        <p:cTn id="2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268"/>
                                        </p:tgtEl>
                                        <p:attrNameLst>
                                          <p:attrName>style.visibility</p:attrName>
                                        </p:attrNameLst>
                                      </p:cBhvr>
                                      <p:to>
                                        <p:strVal val="visible"/>
                                      </p:to>
                                    </p:set>
                                    <p:anim calcmode="lin" valueType="num">
                                      <p:cBhvr additive="base">
                                        <p:cTn id="33" dur="500" fill="hold"/>
                                        <p:tgtEl>
                                          <p:spTgt spid="11268"/>
                                        </p:tgtEl>
                                        <p:attrNameLst>
                                          <p:attrName>ppt_x</p:attrName>
                                        </p:attrNameLst>
                                      </p:cBhvr>
                                      <p:tavLst>
                                        <p:tav tm="0">
                                          <p:val>
                                            <p:strVal val="#ppt_x"/>
                                          </p:val>
                                        </p:tav>
                                        <p:tav tm="100000">
                                          <p:val>
                                            <p:strVal val="#ppt_x"/>
                                          </p:val>
                                        </p:tav>
                                      </p:tavLst>
                                    </p:anim>
                                    <p:anim calcmode="lin" valueType="num">
                                      <p:cBhvr additive="base">
                                        <p:cTn id="34"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269"/>
                                        </p:tgtEl>
                                        <p:attrNameLst>
                                          <p:attrName>style.visibility</p:attrName>
                                        </p:attrNameLst>
                                      </p:cBhvr>
                                      <p:to>
                                        <p:strVal val="visible"/>
                                      </p:to>
                                    </p:set>
                                    <p:anim calcmode="lin" valueType="num">
                                      <p:cBhvr additive="base">
                                        <p:cTn id="39" dur="500" fill="hold"/>
                                        <p:tgtEl>
                                          <p:spTgt spid="11269"/>
                                        </p:tgtEl>
                                        <p:attrNameLst>
                                          <p:attrName>ppt_x</p:attrName>
                                        </p:attrNameLst>
                                      </p:cBhvr>
                                      <p:tavLst>
                                        <p:tav tm="0">
                                          <p:val>
                                            <p:strVal val="#ppt_x"/>
                                          </p:val>
                                        </p:tav>
                                        <p:tav tm="100000">
                                          <p:val>
                                            <p:strVal val="#ppt_x"/>
                                          </p:val>
                                        </p:tav>
                                      </p:tavLst>
                                    </p:anim>
                                    <p:anim calcmode="lin" valueType="num">
                                      <p:cBhvr additive="base">
                                        <p:cTn id="40"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p:bldP spid="11268" grpId="0"/>
      <p:bldP spid="11269" grpId="0"/>
      <p:bldP spid="11270" grpId="0" animBg="1"/>
      <p:bldP spid="11271" grpId="0" animBg="1"/>
      <p:bldP spid="1127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74638"/>
            <a:ext cx="8229600" cy="850106"/>
          </a:xfrm>
        </p:spPr>
        <p:txBody>
          <a:bodyPr>
            <a:normAutofit/>
          </a:bodyPr>
          <a:lstStyle/>
          <a:p>
            <a:r>
              <a:rPr lang="en-US" altLang="en-US" b="1" dirty="0" smtClean="0">
                <a:solidFill>
                  <a:srgbClr val="FF0000"/>
                </a:solidFill>
              </a:rPr>
              <a:t>Hashing Types</a:t>
            </a:r>
            <a:endParaRPr lang="en-US" altLang="en-US" b="1" dirty="0">
              <a:solidFill>
                <a:srgbClr val="FF0000"/>
              </a:solidFill>
            </a:endParaRPr>
          </a:p>
        </p:txBody>
      </p:sp>
      <p:sp>
        <p:nvSpPr>
          <p:cNvPr id="18435" name="Content Placeholder 2"/>
          <p:cNvSpPr>
            <a:spLocks noGrp="1"/>
          </p:cNvSpPr>
          <p:nvPr>
            <p:ph sz="quarter" idx="1"/>
          </p:nvPr>
        </p:nvSpPr>
        <p:spPr/>
        <p:txBody>
          <a:bodyPr/>
          <a:lstStyle/>
          <a:p>
            <a:pPr marL="514350" indent="-514350">
              <a:buFont typeface="+mj-lt"/>
              <a:buAutoNum type="arabicPeriod"/>
            </a:pPr>
            <a:r>
              <a:rPr lang="en-US" altLang="en-US" b="1" dirty="0" smtClean="0">
                <a:latin typeface="Times New Roman" panose="02020603050405020304" pitchFamily="18" charset="0"/>
                <a:cs typeface="Times New Roman" panose="02020603050405020304" pitchFamily="18" charset="0"/>
              </a:rPr>
              <a:t>Static Hashing</a:t>
            </a:r>
            <a:endParaRPr lang="en-US" altLang="en-US"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altLang="en-US" b="1" dirty="0" smtClean="0">
                <a:latin typeface="Times New Roman" panose="02020603050405020304" pitchFamily="18" charset="0"/>
                <a:cs typeface="Times New Roman" panose="02020603050405020304" pitchFamily="18" charset="0"/>
              </a:rPr>
              <a:t>Dynamic Hashing</a:t>
            </a:r>
            <a:endParaRPr lang="en-US" altLang="en-US"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17</a:t>
            </a:fld>
            <a:endParaRPr lang="en-IN"/>
          </a:p>
        </p:txBody>
      </p:sp>
    </p:spTree>
    <p:extLst>
      <p:ext uri="{BB962C8B-B14F-4D97-AF65-F5344CB8AC3E}">
        <p14:creationId xmlns:p14="http://schemas.microsoft.com/office/powerpoint/2010/main" val="1531738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274638"/>
            <a:ext cx="8229600" cy="634082"/>
          </a:xfrm>
        </p:spPr>
        <p:txBody>
          <a:bodyPr>
            <a:normAutofit fontScale="90000"/>
          </a:bodyPr>
          <a:lstStyle/>
          <a:p>
            <a:r>
              <a:rPr lang="en-US" altLang="en-US" b="1" dirty="0" smtClean="0">
                <a:solidFill>
                  <a:srgbClr val="FF0000"/>
                </a:solidFill>
                <a:latin typeface="Times New Roman" panose="02020603050405020304" pitchFamily="18" charset="0"/>
                <a:cs typeface="Times New Roman" panose="02020603050405020304" pitchFamily="18" charset="0"/>
              </a:rPr>
              <a:t>Types of Static </a:t>
            </a:r>
            <a:r>
              <a:rPr lang="en-US" altLang="en-US" b="1" dirty="0">
                <a:solidFill>
                  <a:srgbClr val="FF0000"/>
                </a:solidFill>
                <a:latin typeface="Times New Roman" panose="02020603050405020304" pitchFamily="18" charset="0"/>
                <a:cs typeface="Times New Roman" panose="02020603050405020304" pitchFamily="18" charset="0"/>
              </a:rPr>
              <a:t>Hashing</a:t>
            </a:r>
          </a:p>
        </p:txBody>
      </p:sp>
      <p:sp>
        <p:nvSpPr>
          <p:cNvPr id="19459" name="Content Placeholder 2"/>
          <p:cNvSpPr>
            <a:spLocks noGrp="1"/>
          </p:cNvSpPr>
          <p:nvPr>
            <p:ph sz="quarter" idx="1"/>
          </p:nvPr>
        </p:nvSpPr>
        <p:spPr>
          <a:xfrm>
            <a:off x="179512" y="1417638"/>
            <a:ext cx="3785592" cy="4925144"/>
          </a:xfrm>
        </p:spPr>
        <p:txBody>
          <a:bodyPr>
            <a:normAutofit lnSpcReduction="10000"/>
          </a:bodyPr>
          <a:lstStyle/>
          <a:p>
            <a:pPr marL="0" indent="0" algn="just">
              <a:buNone/>
            </a:pPr>
            <a:r>
              <a:rPr lang="en-US" sz="2400" b="1" dirty="0" smtClean="0">
                <a:latin typeface="Times New Roman" panose="02020603050405020304" pitchFamily="18" charset="0"/>
                <a:cs typeface="Times New Roman" panose="02020603050405020304" pitchFamily="18" charset="0"/>
              </a:rPr>
              <a:t>1. Open Hashing / Separate Chaining - </a:t>
            </a:r>
            <a:r>
              <a:rPr lang="en-US" sz="2400" dirty="0" smtClean="0">
                <a:latin typeface="Times New Roman" panose="02020603050405020304" pitchFamily="18" charset="0"/>
                <a:cs typeface="Times New Roman" panose="02020603050405020304" pitchFamily="18" charset="0"/>
              </a:rPr>
              <a:t>In open hashing, </a:t>
            </a:r>
            <a:r>
              <a:rPr lang="en-US" sz="2400" dirty="0">
                <a:latin typeface="Times New Roman" panose="02020603050405020304" pitchFamily="18" charset="0"/>
                <a:cs typeface="Times New Roman" panose="02020603050405020304" pitchFamily="18" charset="0"/>
              </a:rPr>
              <a:t>the collision condition is handled by linking the new record after the previous one, due to which is also termed as "Hashing with separate chaining". </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Here, </a:t>
            </a:r>
            <a:r>
              <a:rPr lang="en-US" sz="2400" dirty="0">
                <a:latin typeface="Times New Roman" panose="02020603050405020304" pitchFamily="18" charset="0"/>
                <a:cs typeface="Times New Roman" panose="02020603050405020304" pitchFamily="18" charset="0"/>
              </a:rPr>
              <a:t>when buckets are full, a new bucket is allocated for the same hash and result are linked after the previous one.</a:t>
            </a:r>
          </a:p>
        </p:txBody>
      </p:sp>
      <p:pic>
        <p:nvPicPr>
          <p:cNvPr id="2" name="Picture 1"/>
          <p:cNvPicPr>
            <a:picLocks noChangeAspect="1"/>
          </p:cNvPicPr>
          <p:nvPr/>
        </p:nvPicPr>
        <p:blipFill>
          <a:blip r:embed="rId2"/>
          <a:stretch>
            <a:fillRect/>
          </a:stretch>
        </p:blipFill>
        <p:spPr>
          <a:xfrm>
            <a:off x="4152900" y="1916832"/>
            <a:ext cx="4739580" cy="3672408"/>
          </a:xfrm>
          <a:prstGeom prst="rect">
            <a:avLst/>
          </a:prstGeom>
        </p:spPr>
      </p:pic>
      <p:sp>
        <p:nvSpPr>
          <p:cNvPr id="3" name="Slide Number Placeholder 2"/>
          <p:cNvSpPr>
            <a:spLocks noGrp="1"/>
          </p:cNvSpPr>
          <p:nvPr>
            <p:ph type="sldNum" sz="quarter" idx="12"/>
          </p:nvPr>
        </p:nvSpPr>
        <p:spPr/>
        <p:txBody>
          <a:bodyPr/>
          <a:lstStyle/>
          <a:p>
            <a:fld id="{DDE4AA30-DFC3-4E29-B54E-BC96FFE3FF90}" type="slidenum">
              <a:rPr lang="en-IN" smtClean="0"/>
              <a:t>18</a:t>
            </a:fld>
            <a:endParaRPr lang="en-IN"/>
          </a:p>
        </p:txBody>
      </p:sp>
    </p:spTree>
    <p:extLst>
      <p:ext uri="{BB962C8B-B14F-4D97-AF65-F5344CB8AC3E}">
        <p14:creationId xmlns:p14="http://schemas.microsoft.com/office/powerpoint/2010/main" val="3860130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1476" y="116632"/>
            <a:ext cx="8229600" cy="562074"/>
          </a:xfrm>
        </p:spPr>
        <p:txBody>
          <a:bodyPr>
            <a:normAutofit fontScale="90000"/>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Separate Chaining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19459" name="Content Placeholder 2"/>
          <p:cNvSpPr>
            <a:spLocks noGrp="1"/>
          </p:cNvSpPr>
          <p:nvPr>
            <p:ph sz="quarter" idx="1"/>
          </p:nvPr>
        </p:nvSpPr>
        <p:spPr>
          <a:xfrm>
            <a:off x="107504" y="764704"/>
            <a:ext cx="8435280" cy="2880320"/>
          </a:xfrm>
        </p:spPr>
        <p:txBody>
          <a:bodyPr>
            <a:normAutofit/>
          </a:bodyPr>
          <a:lstStyle/>
          <a:p>
            <a:pPr algn="just"/>
            <a:r>
              <a:rPr lang="en-US" sz="2200" dirty="0">
                <a:latin typeface="Times New Roman" panose="02020603050405020304" pitchFamily="18" charset="0"/>
                <a:cs typeface="Times New Roman" panose="02020603050405020304" pitchFamily="18" charset="0"/>
              </a:rPr>
              <a:t>In </a:t>
            </a: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method, a new data bucket is allocated with same address and is linked it after the full data bucket. This method is also known as  </a:t>
            </a:r>
            <a:r>
              <a:rPr lang="en-US" sz="2200" b="1" dirty="0" smtClean="0">
                <a:latin typeface="Times New Roman" panose="02020603050405020304" pitchFamily="18" charset="0"/>
                <a:cs typeface="Times New Roman" panose="02020603050405020304" pitchFamily="18" charset="0"/>
              </a:rPr>
              <a:t>Separate / overflow </a:t>
            </a:r>
            <a:r>
              <a:rPr lang="en-US" sz="2200" b="1" dirty="0">
                <a:latin typeface="Times New Roman" panose="02020603050405020304" pitchFamily="18" charset="0"/>
                <a:cs typeface="Times New Roman" panose="02020603050405020304" pitchFamily="18" charset="0"/>
              </a:rPr>
              <a:t>chaining</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example, we have to insert a new record D3 into the tables. The static hash function generates the data bucket address as 105. But this bucket is full to store the new data. In this case is a new data bucket is added at the end of 105 data bucket and is linked to it. Then new record D3 is inserted into the new bucket.</a:t>
            </a:r>
          </a:p>
        </p:txBody>
      </p:sp>
      <p:pic>
        <p:nvPicPr>
          <p:cNvPr id="3074" name="Picture 2" descr="https://media.geeksforgeeks.org/wp-content/uploads/Screenshot_2017-12-15-11-33-15-548_com.miui_.galler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654" y="3645024"/>
            <a:ext cx="5504612" cy="30963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DDE4AA30-DFC3-4E29-B54E-BC96FFE3FF90}" type="slidenum">
              <a:rPr lang="en-IN" smtClean="0"/>
              <a:t>19</a:t>
            </a:fld>
            <a:endParaRPr lang="en-IN"/>
          </a:p>
        </p:txBody>
      </p:sp>
    </p:spTree>
    <p:extLst>
      <p:ext uri="{BB962C8B-B14F-4D97-AF65-F5344CB8AC3E}">
        <p14:creationId xmlns:p14="http://schemas.microsoft.com/office/powerpoint/2010/main" val="773102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1476" y="116632"/>
            <a:ext cx="8229600" cy="1152128"/>
          </a:xfrm>
        </p:spPr>
        <p:txBody>
          <a:bodyPr>
            <a:normAutofit/>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Separate Chaining</a:t>
            </a:r>
            <a:br>
              <a:rPr lang="en-US" altLang="en-US" b="1" dirty="0" smtClean="0">
                <a:solidFill>
                  <a:srgbClr val="FF0000"/>
                </a:solidFill>
                <a:latin typeface="Times New Roman" panose="02020603050405020304" pitchFamily="18" charset="0"/>
                <a:cs typeface="Times New Roman" panose="02020603050405020304" pitchFamily="18" charset="0"/>
              </a:rPr>
            </a:br>
            <a:r>
              <a:rPr lang="en-US" altLang="en-US" sz="2200" b="1" dirty="0" smtClean="0">
                <a:latin typeface="Times New Roman" panose="02020603050405020304" pitchFamily="18" charset="0"/>
                <a:cs typeface="Times New Roman" panose="02020603050405020304" pitchFamily="18" charset="0"/>
              </a:rPr>
              <a:t>Another Example</a:t>
            </a:r>
            <a:endParaRPr lang="en-US" altLang="en-US" sz="2200" b="1"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0000"/>
          <a:stretch/>
        </p:blipFill>
        <p:spPr bwMode="auto">
          <a:xfrm>
            <a:off x="179512" y="1628800"/>
            <a:ext cx="8751975" cy="4536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DDE4AA30-DFC3-4E29-B54E-BC96FFE3FF90}" type="slidenum">
              <a:rPr lang="en-IN" smtClean="0"/>
              <a:t>20</a:t>
            </a:fld>
            <a:endParaRPr lang="en-IN"/>
          </a:p>
        </p:txBody>
      </p:sp>
    </p:spTree>
    <p:extLst>
      <p:ext uri="{BB962C8B-B14F-4D97-AF65-F5344CB8AC3E}">
        <p14:creationId xmlns:p14="http://schemas.microsoft.com/office/powerpoint/2010/main" val="3250616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600" y="1019637"/>
            <a:ext cx="8530872"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2568" y="188640"/>
            <a:ext cx="8640960" cy="830997"/>
          </a:xfrm>
          <a:prstGeom prst="rect">
            <a:avLst/>
          </a:prstGeom>
          <a:noFill/>
        </p:spPr>
        <p:txBody>
          <a:bodyPr wrap="square" rtlCol="0">
            <a:spAutoFit/>
          </a:bodyPr>
          <a:lstStyle/>
          <a:p>
            <a:pPr algn="just"/>
            <a:r>
              <a:rPr lang="en-US" sz="2400" b="1" dirty="0" smtClean="0">
                <a:latin typeface="Times New Roman" panose="02020603050405020304" pitchFamily="18" charset="0"/>
                <a:cs typeface="Times New Roman" panose="02020603050405020304" pitchFamily="18" charset="0"/>
              </a:rPr>
              <a:t>Example 2:</a:t>
            </a:r>
            <a:r>
              <a:rPr lang="en-US" sz="2400" dirty="0" smtClean="0">
                <a:latin typeface="Times New Roman" panose="02020603050405020304" pitchFamily="18" charset="0"/>
                <a:cs typeface="Times New Roman" panose="02020603050405020304" pitchFamily="18" charset="0"/>
              </a:rPr>
              <a:t> Let </a:t>
            </a:r>
            <a:r>
              <a:rPr lang="en-US" sz="2400" dirty="0">
                <a:latin typeface="Times New Roman" panose="02020603050405020304" pitchFamily="18" charset="0"/>
                <a:cs typeface="Times New Roman" panose="02020603050405020304" pitchFamily="18" charset="0"/>
              </a:rPr>
              <a:t>us consider a simple hash function as “</a:t>
            </a:r>
            <a:r>
              <a:rPr lang="en-US" sz="2400" b="1" dirty="0">
                <a:latin typeface="Times New Roman" panose="02020603050405020304" pitchFamily="18" charset="0"/>
                <a:cs typeface="Times New Roman" panose="02020603050405020304" pitchFamily="18" charset="0"/>
              </a:rPr>
              <a:t>key mod 7</a:t>
            </a:r>
            <a:r>
              <a:rPr lang="en-US" sz="2400" dirty="0">
                <a:latin typeface="Times New Roman" panose="02020603050405020304" pitchFamily="18" charset="0"/>
                <a:cs typeface="Times New Roman" panose="02020603050405020304" pitchFamily="18" charset="0"/>
              </a:rPr>
              <a:t>” and sequence of keys as 50, 700, 76, 85, 92, 73, 101. </a:t>
            </a:r>
            <a:endParaRPr lang="en-IN"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21</a:t>
            </a:fld>
            <a:endParaRPr lang="en-IN"/>
          </a:p>
        </p:txBody>
      </p:sp>
    </p:spTree>
    <p:extLst>
      <p:ext uri="{BB962C8B-B14F-4D97-AF65-F5344CB8AC3E}">
        <p14:creationId xmlns:p14="http://schemas.microsoft.com/office/powerpoint/2010/main" val="1475518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latin typeface="Times New Roman" panose="02020603050405020304" pitchFamily="18" charset="0"/>
                <a:cs typeface="Times New Roman" panose="02020603050405020304" pitchFamily="18" charset="0"/>
              </a:rPr>
              <a:t>Advantages of Chaining</a:t>
            </a:r>
            <a:r>
              <a:rPr lang="en-IN" dirty="0" smtClean="0"/>
              <a:t/>
            </a:r>
            <a:br>
              <a:rPr lang="en-IN" dirty="0" smtClean="0"/>
            </a:br>
            <a:endParaRPr lang="en-IN" dirty="0"/>
          </a:p>
        </p:txBody>
      </p:sp>
      <p:sp>
        <p:nvSpPr>
          <p:cNvPr id="3" name="Content Placeholder 2"/>
          <p:cNvSpPr>
            <a:spLocks noGrp="1"/>
          </p:cNvSpPr>
          <p:nvPr>
            <p:ph idx="1"/>
          </p:nvPr>
        </p:nvSpPr>
        <p:spPr>
          <a:xfrm>
            <a:off x="611560" y="1417638"/>
            <a:ext cx="8229600" cy="5112568"/>
          </a:xfrm>
        </p:spPr>
        <p:txBody>
          <a:bodyPr>
            <a:normAutofit/>
          </a:bodyPr>
          <a:lstStyle/>
          <a:p>
            <a:pPr algn="just"/>
            <a:r>
              <a:rPr lang="en-IN" sz="2200" dirty="0" smtClean="0">
                <a:solidFill>
                  <a:srgbClr val="FF0000"/>
                </a:solidFill>
                <a:latin typeface="Times New Roman" panose="02020603050405020304" pitchFamily="18" charset="0"/>
                <a:cs typeface="Times New Roman" panose="02020603050405020304" pitchFamily="18" charset="0"/>
              </a:rPr>
              <a:t>Simple </a:t>
            </a:r>
            <a:r>
              <a:rPr lang="en-IN" sz="2200" dirty="0">
                <a:solidFill>
                  <a:srgbClr val="FF0000"/>
                </a:solidFill>
                <a:latin typeface="Times New Roman" panose="02020603050405020304" pitchFamily="18" charset="0"/>
                <a:cs typeface="Times New Roman" panose="02020603050405020304" pitchFamily="18" charset="0"/>
              </a:rPr>
              <a:t>to Implement</a:t>
            </a:r>
          </a:p>
          <a:p>
            <a:pPr algn="just"/>
            <a:r>
              <a:rPr lang="en-IN" sz="2200" dirty="0">
                <a:latin typeface="Times New Roman" panose="02020603050405020304" pitchFamily="18" charset="0"/>
                <a:cs typeface="Times New Roman" panose="02020603050405020304" pitchFamily="18" charset="0"/>
              </a:rPr>
              <a:t>Separate chaining is a </a:t>
            </a:r>
            <a:r>
              <a:rPr lang="en-IN" sz="2200" dirty="0">
                <a:solidFill>
                  <a:srgbClr val="FF0000"/>
                </a:solidFill>
                <a:latin typeface="Times New Roman" panose="02020603050405020304" pitchFamily="18" charset="0"/>
                <a:cs typeface="Times New Roman" panose="02020603050405020304" pitchFamily="18" charset="0"/>
              </a:rPr>
              <a:t>very simple technique to implement </a:t>
            </a:r>
            <a:r>
              <a:rPr lang="en-IN" sz="2200" dirty="0">
                <a:latin typeface="Times New Roman" panose="02020603050405020304" pitchFamily="18" charset="0"/>
                <a:cs typeface="Times New Roman" panose="02020603050405020304" pitchFamily="18" charset="0"/>
              </a:rPr>
              <a:t>compared to other data structures. </a:t>
            </a:r>
            <a:r>
              <a:rPr lang="en-IN" sz="2200" dirty="0">
                <a:solidFill>
                  <a:srgbClr val="FF0000"/>
                </a:solidFill>
                <a:latin typeface="Times New Roman" panose="02020603050405020304" pitchFamily="18" charset="0"/>
                <a:cs typeface="Times New Roman" panose="02020603050405020304" pitchFamily="18" charset="0"/>
              </a:rPr>
              <a:t>Input elements are just added to the corresponding linked list which the input has been hashed to. No collision occurs </a:t>
            </a:r>
            <a:r>
              <a:rPr lang="en-IN" sz="2200" dirty="0">
                <a:latin typeface="Times New Roman" panose="02020603050405020304" pitchFamily="18" charset="0"/>
                <a:cs typeface="Times New Roman" panose="02020603050405020304" pitchFamily="18" charset="0"/>
              </a:rPr>
              <a:t>in the table as the cells hold linked information.</a:t>
            </a:r>
          </a:p>
          <a:p>
            <a:pPr algn="just"/>
            <a:r>
              <a:rPr lang="en-IN" sz="2200" dirty="0">
                <a:solidFill>
                  <a:srgbClr val="FF0000"/>
                </a:solidFill>
                <a:latin typeface="Times New Roman" panose="02020603050405020304" pitchFamily="18" charset="0"/>
                <a:cs typeface="Times New Roman" panose="02020603050405020304" pitchFamily="18" charset="0"/>
              </a:rPr>
              <a:t>Hash Table Capacity </a:t>
            </a:r>
            <a:r>
              <a:rPr lang="en-IN" sz="2200" dirty="0" smtClean="0">
                <a:solidFill>
                  <a:srgbClr val="FF0000"/>
                </a:solidFill>
                <a:latin typeface="Times New Roman" panose="02020603050405020304" pitchFamily="18" charset="0"/>
                <a:cs typeface="Times New Roman" panose="02020603050405020304" pitchFamily="18" charset="0"/>
              </a:rPr>
              <a:t>not </a:t>
            </a:r>
            <a:r>
              <a:rPr lang="en-IN" sz="2200" dirty="0">
                <a:solidFill>
                  <a:srgbClr val="FF0000"/>
                </a:solidFill>
                <a:latin typeface="Times New Roman" panose="02020603050405020304" pitchFamily="18" charset="0"/>
                <a:cs typeface="Times New Roman" panose="02020603050405020304" pitchFamily="18" charset="0"/>
              </a:rPr>
              <a:t>Limited</a:t>
            </a:r>
          </a:p>
          <a:p>
            <a:pPr algn="just"/>
            <a:r>
              <a:rPr lang="en-IN" sz="2200" dirty="0">
                <a:latin typeface="Times New Roman" panose="02020603050405020304" pitchFamily="18" charset="0"/>
                <a:cs typeface="Times New Roman" panose="02020603050405020304" pitchFamily="18" charset="0"/>
              </a:rPr>
              <a:t>There is no issue with the table being filled to capacity, as </a:t>
            </a:r>
            <a:r>
              <a:rPr lang="en-IN" sz="2200" dirty="0">
                <a:solidFill>
                  <a:srgbClr val="FF0000"/>
                </a:solidFill>
                <a:latin typeface="Times New Roman" panose="02020603050405020304" pitchFamily="18" charset="0"/>
                <a:cs typeface="Times New Roman" panose="02020603050405020304" pitchFamily="18" charset="0"/>
              </a:rPr>
              <a:t>the table cells only hold linked information</a:t>
            </a:r>
            <a:r>
              <a:rPr lang="en-IN" sz="2200" dirty="0">
                <a:latin typeface="Times New Roman" panose="02020603050405020304" pitchFamily="18" charset="0"/>
                <a:cs typeface="Times New Roman" panose="02020603050405020304" pitchFamily="18" charset="0"/>
              </a:rPr>
              <a:t>. New elements are just added to the corresponding chain</a:t>
            </a:r>
            <a:r>
              <a:rPr lang="en-IN" sz="2200" dirty="0" smtClean="0">
                <a:latin typeface="Times New Roman" panose="02020603050405020304" pitchFamily="18" charset="0"/>
                <a:cs typeface="Times New Roman" panose="02020603050405020304" pitchFamily="18" charset="0"/>
              </a:rPr>
              <a:t>.</a:t>
            </a:r>
          </a:p>
          <a:p>
            <a:pPr algn="just"/>
            <a:r>
              <a:rPr lang="en-IN" sz="2200" dirty="0">
                <a:latin typeface="Times New Roman" panose="02020603050405020304" pitchFamily="18" charset="0"/>
                <a:cs typeface="Times New Roman" panose="02020603050405020304" pitchFamily="18" charset="0"/>
              </a:rPr>
              <a:t>The hash table can be of </a:t>
            </a:r>
            <a:r>
              <a:rPr lang="en-IN" sz="2200" dirty="0">
                <a:solidFill>
                  <a:srgbClr val="FF0000"/>
                </a:solidFill>
                <a:latin typeface="Times New Roman" panose="02020603050405020304" pitchFamily="18" charset="0"/>
                <a:cs typeface="Times New Roman" panose="02020603050405020304" pitchFamily="18" charset="0"/>
              </a:rPr>
              <a:t>theoretically infinite size</a:t>
            </a:r>
          </a:p>
          <a:p>
            <a:pPr algn="just"/>
            <a:r>
              <a:rPr lang="en-IN" sz="2200" dirty="0">
                <a:latin typeface="Times New Roman" panose="02020603050405020304" pitchFamily="18" charset="0"/>
                <a:cs typeface="Times New Roman" panose="02020603050405020304" pitchFamily="18" charset="0"/>
              </a:rPr>
              <a:t>The hash table will not get polluted</a:t>
            </a:r>
          </a:p>
          <a:p>
            <a:pPr algn="just"/>
            <a:r>
              <a:rPr lang="en-IN" sz="2200" dirty="0">
                <a:latin typeface="Times New Roman" panose="02020603050405020304" pitchFamily="18" charset="0"/>
                <a:cs typeface="Times New Roman" panose="02020603050405020304" pitchFamily="18" charset="0"/>
              </a:rPr>
              <a:t>When searching, it will </a:t>
            </a:r>
            <a:r>
              <a:rPr lang="en-IN" sz="2200" dirty="0">
                <a:solidFill>
                  <a:srgbClr val="FF0000"/>
                </a:solidFill>
                <a:latin typeface="Times New Roman" panose="02020603050405020304" pitchFamily="18" charset="0"/>
                <a:cs typeface="Times New Roman" panose="02020603050405020304" pitchFamily="18" charset="0"/>
              </a:rPr>
              <a:t>never search irrelevant </a:t>
            </a:r>
            <a:r>
              <a:rPr lang="en-IN" sz="2200" dirty="0" smtClean="0">
                <a:solidFill>
                  <a:srgbClr val="FF0000"/>
                </a:solidFill>
                <a:latin typeface="Times New Roman" panose="02020603050405020304" pitchFamily="18" charset="0"/>
                <a:cs typeface="Times New Roman" panose="02020603050405020304" pitchFamily="18" charset="0"/>
              </a:rPr>
              <a:t>information.</a:t>
            </a:r>
            <a:endParaRPr lang="en-IN" dirty="0"/>
          </a:p>
        </p:txBody>
      </p:sp>
      <p:sp>
        <p:nvSpPr>
          <p:cNvPr id="4" name="Slide Number Placeholder 3"/>
          <p:cNvSpPr>
            <a:spLocks noGrp="1"/>
          </p:cNvSpPr>
          <p:nvPr>
            <p:ph type="sldNum" sz="quarter" idx="12"/>
          </p:nvPr>
        </p:nvSpPr>
        <p:spPr/>
        <p:txBody>
          <a:bodyPr/>
          <a:lstStyle/>
          <a:p>
            <a:fld id="{DDE4AA30-DFC3-4E29-B54E-BC96FFE3FF90}" type="slidenum">
              <a:rPr lang="en-IN" smtClean="0"/>
              <a:t>22</a:t>
            </a:fld>
            <a:endParaRPr lang="en-IN"/>
          </a:p>
        </p:txBody>
      </p:sp>
    </p:spTree>
    <p:extLst>
      <p:ext uri="{BB962C8B-B14F-4D97-AF65-F5344CB8AC3E}">
        <p14:creationId xmlns:p14="http://schemas.microsoft.com/office/powerpoint/2010/main" val="10700753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Disadvantages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nSpc>
                <a:spcPct val="90000"/>
              </a:lnSpc>
            </a:pPr>
            <a:r>
              <a:rPr lang="en-US" dirty="0" smtClean="0"/>
              <a:t>Chaining has the disadvantage of using linked lists.</a:t>
            </a:r>
          </a:p>
          <a:p>
            <a:pPr lvl="1">
              <a:lnSpc>
                <a:spcPct val="90000"/>
              </a:lnSpc>
            </a:pPr>
            <a:r>
              <a:rPr lang="en-US" dirty="0" smtClean="0"/>
              <a:t>Requires the implementation of a </a:t>
            </a:r>
            <a:r>
              <a:rPr lang="en-US" b="1" dirty="0" smtClean="0">
                <a:solidFill>
                  <a:srgbClr val="FF0000"/>
                </a:solidFill>
              </a:rPr>
              <a:t>second data structure.</a:t>
            </a:r>
          </a:p>
          <a:p>
            <a:endParaRPr lang="en-IN" dirty="0"/>
          </a:p>
        </p:txBody>
      </p:sp>
      <p:sp>
        <p:nvSpPr>
          <p:cNvPr id="4" name="Slide Number Placeholder 3"/>
          <p:cNvSpPr>
            <a:spLocks noGrp="1"/>
          </p:cNvSpPr>
          <p:nvPr>
            <p:ph type="sldNum" sz="quarter" idx="12"/>
          </p:nvPr>
        </p:nvSpPr>
        <p:spPr/>
        <p:txBody>
          <a:bodyPr/>
          <a:lstStyle/>
          <a:p>
            <a:fld id="{DDE4AA30-DFC3-4E29-B54E-BC96FFE3FF90}" type="slidenum">
              <a:rPr lang="en-IN" smtClean="0"/>
              <a:t>23</a:t>
            </a:fld>
            <a:endParaRPr lang="en-IN"/>
          </a:p>
        </p:txBody>
      </p:sp>
    </p:spTree>
    <p:extLst>
      <p:ext uri="{BB962C8B-B14F-4D97-AF65-F5344CB8AC3E}">
        <p14:creationId xmlns:p14="http://schemas.microsoft.com/office/powerpoint/2010/main" val="33367877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b="1" dirty="0" smtClean="0">
                <a:solidFill>
                  <a:srgbClr val="FF0000"/>
                </a:solidFill>
                <a:latin typeface="Times New Roman" panose="02020603050405020304" pitchFamily="18" charset="0"/>
                <a:cs typeface="Times New Roman" panose="02020603050405020304" pitchFamily="18" charset="0"/>
              </a:rPr>
              <a:t>2. Static </a:t>
            </a:r>
            <a:r>
              <a:rPr lang="en-US" altLang="en-US" b="1" dirty="0">
                <a:solidFill>
                  <a:srgbClr val="FF0000"/>
                </a:solidFill>
                <a:latin typeface="Times New Roman" panose="02020603050405020304" pitchFamily="18" charset="0"/>
                <a:cs typeface="Times New Roman" panose="02020603050405020304" pitchFamily="18" charset="0"/>
              </a:rPr>
              <a:t>Hashing</a:t>
            </a:r>
          </a:p>
        </p:txBody>
      </p:sp>
      <p:sp>
        <p:nvSpPr>
          <p:cNvPr id="19459" name="Content Placeholder 2"/>
          <p:cNvSpPr>
            <a:spLocks noGrp="1"/>
          </p:cNvSpPr>
          <p:nvPr>
            <p:ph sz="quarter" idx="1"/>
          </p:nvPr>
        </p:nvSpPr>
        <p:spPr>
          <a:xfrm>
            <a:off x="457200" y="1600200"/>
            <a:ext cx="8435280" cy="5069160"/>
          </a:xfrm>
        </p:spPr>
        <p:txBody>
          <a:bodyPr>
            <a:normAutofit/>
          </a:bodyPr>
          <a:lstStyle/>
          <a:p>
            <a:pPr algn="just"/>
            <a:r>
              <a:rPr lang="en-US" sz="2500" dirty="0">
                <a:latin typeface="Times New Roman" panose="02020603050405020304" pitchFamily="18" charset="0"/>
                <a:cs typeface="Times New Roman" panose="02020603050405020304" pitchFamily="18" charset="0"/>
              </a:rPr>
              <a:t>In static hashing, for a key </a:t>
            </a:r>
            <a:r>
              <a:rPr lang="en-US" sz="2500" i="1" dirty="0" smtClean="0">
                <a:latin typeface="Times New Roman" panose="02020603050405020304" pitchFamily="18" charset="0"/>
                <a:cs typeface="Times New Roman" panose="02020603050405020304" pitchFamily="18" charset="0"/>
              </a:rPr>
              <a:t>k</a:t>
            </a:r>
            <a:r>
              <a:rPr lang="en-US" sz="2500" dirty="0">
                <a:latin typeface="Times New Roman" panose="02020603050405020304" pitchFamily="18" charset="0"/>
                <a:cs typeface="Times New Roman" panose="02020603050405020304" pitchFamily="18" charset="0"/>
              </a:rPr>
              <a:t>, </a:t>
            </a:r>
            <a:r>
              <a:rPr lang="en-US" sz="2500" dirty="0">
                <a:solidFill>
                  <a:srgbClr val="FF0000"/>
                </a:solidFill>
                <a:latin typeface="Times New Roman" panose="02020603050405020304" pitchFamily="18" charset="0"/>
                <a:cs typeface="Times New Roman" panose="02020603050405020304" pitchFamily="18" charset="0"/>
              </a:rPr>
              <a:t>hash function </a:t>
            </a:r>
            <a:r>
              <a:rPr lang="en-US" sz="2500" i="1" dirty="0" smtClean="0">
                <a:solidFill>
                  <a:srgbClr val="FF0000"/>
                </a:solidFill>
                <a:latin typeface="Times New Roman" panose="02020603050405020304" pitchFamily="18" charset="0"/>
                <a:cs typeface="Times New Roman" panose="02020603050405020304" pitchFamily="18" charset="0"/>
              </a:rPr>
              <a:t>h</a:t>
            </a:r>
            <a:r>
              <a:rPr lang="en-US" sz="2500" dirty="0" smtClean="0">
                <a:solidFill>
                  <a:srgbClr val="FF0000"/>
                </a:solidFill>
                <a:latin typeface="Times New Roman" panose="02020603050405020304" pitchFamily="18" charset="0"/>
                <a:cs typeface="Times New Roman" panose="02020603050405020304" pitchFamily="18" charset="0"/>
              </a:rPr>
              <a:t>(</a:t>
            </a:r>
            <a:r>
              <a:rPr lang="en-US" sz="2500" i="1" dirty="0" smtClean="0">
                <a:solidFill>
                  <a:srgbClr val="FF0000"/>
                </a:solidFill>
                <a:latin typeface="Times New Roman" panose="02020603050405020304" pitchFamily="18" charset="0"/>
                <a:cs typeface="Times New Roman" panose="02020603050405020304" pitchFamily="18" charset="0"/>
              </a:rPr>
              <a:t>x</a:t>
            </a:r>
            <a:r>
              <a:rPr lang="en-US" sz="2500" dirty="0">
                <a:solidFill>
                  <a:srgbClr val="FF0000"/>
                </a:solidFill>
                <a:latin typeface="Times New Roman" panose="02020603050405020304" pitchFamily="18" charset="0"/>
                <a:cs typeface="Times New Roman" panose="02020603050405020304" pitchFamily="18" charset="0"/>
              </a:rPr>
              <a:t>) always </a:t>
            </a:r>
            <a:r>
              <a:rPr lang="en-US" sz="2500" i="1" dirty="0">
                <a:solidFill>
                  <a:srgbClr val="FF0000"/>
                </a:solidFill>
                <a:latin typeface="Times New Roman" panose="02020603050405020304" pitchFamily="18" charset="0"/>
                <a:cs typeface="Times New Roman" panose="02020603050405020304" pitchFamily="18" charset="0"/>
              </a:rPr>
              <a:t>generates the same memory address</a:t>
            </a:r>
            <a:r>
              <a:rPr lang="en-US" sz="2500" dirty="0">
                <a:latin typeface="Times New Roman" panose="02020603050405020304" pitchFamily="18" charset="0"/>
                <a:cs typeface="Times New Roman" panose="02020603050405020304" pitchFamily="18" charset="0"/>
              </a:rPr>
              <a:t>. For example, if </a:t>
            </a:r>
            <a:r>
              <a:rPr lang="en-US" sz="2500" b="1" dirty="0" smtClean="0">
                <a:solidFill>
                  <a:srgbClr val="FF0000"/>
                </a:solidFill>
                <a:latin typeface="Times New Roman" panose="02020603050405020304" pitchFamily="18" charset="0"/>
                <a:cs typeface="Times New Roman" panose="02020603050405020304" pitchFamily="18" charset="0"/>
              </a:rPr>
              <a:t>ℎ(x)=x%7</a:t>
            </a:r>
            <a:r>
              <a:rPr lang="en-US" sz="2500" dirty="0">
                <a:latin typeface="Times New Roman" panose="02020603050405020304" pitchFamily="18" charset="0"/>
                <a:cs typeface="Times New Roman" panose="02020603050405020304" pitchFamily="18" charset="0"/>
              </a:rPr>
              <a:t> then for any </a:t>
            </a:r>
            <a:r>
              <a:rPr lang="en-US" sz="2500" b="1" i="1" dirty="0" smtClean="0">
                <a:latin typeface="Times New Roman" panose="02020603050405020304" pitchFamily="18" charset="0"/>
                <a:cs typeface="Times New Roman" panose="02020603050405020304" pitchFamily="18" charset="0"/>
              </a:rPr>
              <a:t>x,</a:t>
            </a:r>
            <a:r>
              <a:rPr lang="en-US" sz="2500" dirty="0">
                <a:latin typeface="Times New Roman" panose="02020603050405020304" pitchFamily="18" charset="0"/>
                <a:cs typeface="Times New Roman" panose="02020603050405020304" pitchFamily="18" charset="0"/>
              </a:rPr>
              <a:t> the value will always be the same.</a:t>
            </a:r>
          </a:p>
          <a:p>
            <a:pPr algn="just"/>
            <a:r>
              <a:rPr lang="en-US" sz="2500" dirty="0" smtClean="0">
                <a:latin typeface="Times New Roman" panose="02020603050405020304" pitchFamily="18" charset="0"/>
                <a:cs typeface="Times New Roman" panose="02020603050405020304" pitchFamily="18" charset="0"/>
              </a:rPr>
              <a:t>Thus </a:t>
            </a:r>
            <a:r>
              <a:rPr lang="en-US" sz="2500" dirty="0">
                <a:latin typeface="Times New Roman" panose="02020603050405020304" pitchFamily="18" charset="0"/>
                <a:cs typeface="Times New Roman" panose="02020603050405020304" pitchFamily="18" charset="0"/>
              </a:rPr>
              <a:t>if we generate the address for a key </a:t>
            </a:r>
            <a:r>
              <a:rPr lang="en-US" sz="2500" b="1" dirty="0" smtClean="0">
                <a:latin typeface="Times New Roman" panose="02020603050405020304" pitchFamily="18" charset="0"/>
                <a:cs typeface="Times New Roman" panose="02020603050405020304" pitchFamily="18" charset="0"/>
              </a:rPr>
              <a:t>107</a:t>
            </a:r>
            <a:r>
              <a:rPr lang="en-US" sz="2500" dirty="0">
                <a:latin typeface="Times New Roman" panose="02020603050405020304" pitchFamily="18" charset="0"/>
                <a:cs typeface="Times New Roman" panose="02020603050405020304" pitchFamily="18" charset="0"/>
              </a:rPr>
              <a:t>, then </a:t>
            </a:r>
            <a:r>
              <a:rPr lang="en-US" sz="2500" b="1" i="1" dirty="0" smtClean="0">
                <a:latin typeface="Times New Roman" panose="02020603050405020304" pitchFamily="18" charset="0"/>
                <a:cs typeface="Times New Roman" panose="02020603050405020304" pitchFamily="18" charset="0"/>
              </a:rPr>
              <a:t>h</a:t>
            </a:r>
            <a:r>
              <a:rPr lang="en-US" sz="2500" b="1" dirty="0" smtClean="0">
                <a:latin typeface="Times New Roman" panose="02020603050405020304" pitchFamily="18" charset="0"/>
                <a:cs typeface="Times New Roman" panose="02020603050405020304" pitchFamily="18" charset="0"/>
              </a:rPr>
              <a:t>(</a:t>
            </a:r>
            <a:r>
              <a:rPr lang="en-US" sz="2500" b="1" i="1" dirty="0" smtClean="0">
                <a:latin typeface="Times New Roman" panose="02020603050405020304" pitchFamily="18" charset="0"/>
                <a:cs typeface="Times New Roman" panose="02020603050405020304" pitchFamily="18" charset="0"/>
              </a:rPr>
              <a:t>x</a:t>
            </a:r>
            <a:r>
              <a:rPr lang="en-US" sz="2500" b="1" dirty="0">
                <a:latin typeface="Times New Roman" panose="02020603050405020304" pitchFamily="18" charset="0"/>
                <a:cs typeface="Times New Roman" panose="02020603050405020304" pitchFamily="18" charset="0"/>
              </a:rPr>
              <a:t>)</a:t>
            </a:r>
            <a:r>
              <a:rPr lang="en-US" sz="2500" dirty="0">
                <a:latin typeface="Times New Roman" panose="02020603050405020304" pitchFamily="18" charset="0"/>
                <a:cs typeface="Times New Roman" panose="02020603050405020304" pitchFamily="18" charset="0"/>
              </a:rPr>
              <a:t> will always return the same bucket address</a:t>
            </a:r>
            <a:r>
              <a:rPr lang="en-US" sz="2500" dirty="0" smtClean="0">
                <a:latin typeface="Times New Roman" panose="02020603050405020304" pitchFamily="18" charset="0"/>
                <a:cs typeface="Times New Roman" panose="02020603050405020304" pitchFamily="18" charset="0"/>
              </a:rPr>
              <a:t>,</a:t>
            </a:r>
            <a:r>
              <a:rPr lang="en-US" sz="2500" dirty="0">
                <a:latin typeface="Times New Roman" panose="02020603050405020304" pitchFamily="18" charset="0"/>
                <a:cs typeface="Times New Roman" panose="02020603050405020304" pitchFamily="18" charset="0"/>
              </a:rPr>
              <a:t> </a:t>
            </a:r>
            <a:r>
              <a:rPr lang="en-US" sz="2500" i="1" dirty="0" smtClean="0">
                <a:latin typeface="Times New Roman" panose="02020603050405020304" pitchFamily="18" charset="0"/>
                <a:cs typeface="Times New Roman" panose="02020603050405020304" pitchFamily="18" charset="0"/>
              </a:rPr>
              <a:t>i</a:t>
            </a:r>
            <a:r>
              <a:rPr lang="en-US" sz="2500" dirty="0" smtClean="0">
                <a:latin typeface="Times New Roman" panose="02020603050405020304" pitchFamily="18" charset="0"/>
                <a:cs typeface="Times New Roman" panose="02020603050405020304" pitchFamily="18" charset="0"/>
              </a:rPr>
              <a:t>.</a:t>
            </a:r>
            <a:r>
              <a:rPr lang="en-US" sz="2500" i="1" dirty="0" smtClean="0">
                <a:latin typeface="Times New Roman" panose="02020603050405020304" pitchFamily="18" charset="0"/>
                <a:cs typeface="Times New Roman" panose="02020603050405020304" pitchFamily="18" charset="0"/>
              </a:rPr>
              <a:t>e</a:t>
            </a:r>
            <a:r>
              <a:rPr lang="en-US" sz="2500" dirty="0">
                <a:latin typeface="Times New Roman" panose="02020603050405020304" pitchFamily="18" charset="0"/>
                <a:cs typeface="Times New Roman" panose="02020603050405020304" pitchFamily="18" charset="0"/>
              </a:rPr>
              <a:t>.,</a:t>
            </a:r>
            <a:r>
              <a:rPr lang="en-US" sz="2500">
                <a:latin typeface="Times New Roman" panose="02020603050405020304" pitchFamily="18" charset="0"/>
                <a:cs typeface="Times New Roman" panose="02020603050405020304" pitchFamily="18" charset="0"/>
              </a:rPr>
              <a:t> </a:t>
            </a:r>
            <a:r>
              <a:rPr lang="en-US" sz="2500" smtClean="0">
                <a:latin typeface="Times New Roman" panose="02020603050405020304" pitchFamily="18" charset="0"/>
                <a:cs typeface="Times New Roman" panose="02020603050405020304" pitchFamily="18" charset="0"/>
              </a:rPr>
              <a:t>2. </a:t>
            </a:r>
            <a:endParaRPr lang="en-US" sz="2500" dirty="0" smtClean="0">
              <a:latin typeface="Times New Roman" panose="02020603050405020304" pitchFamily="18" charset="0"/>
              <a:cs typeface="Times New Roman" panose="02020603050405020304" pitchFamily="18" charset="0"/>
            </a:endParaRPr>
          </a:p>
          <a:p>
            <a:pPr algn="just"/>
            <a:r>
              <a:rPr lang="en-US" sz="2500" dirty="0" smtClean="0">
                <a:latin typeface="Times New Roman" panose="02020603050405020304" pitchFamily="18" charset="0"/>
                <a:cs typeface="Times New Roman" panose="02020603050405020304" pitchFamily="18" charset="0"/>
              </a:rPr>
              <a:t>There </a:t>
            </a:r>
            <a:r>
              <a:rPr lang="en-US" sz="2500" dirty="0">
                <a:latin typeface="Times New Roman" panose="02020603050405020304" pitchFamily="18" charset="0"/>
                <a:cs typeface="Times New Roman" panose="02020603050405020304" pitchFamily="18" charset="0"/>
              </a:rPr>
              <a:t>will be no change in the bucket address. Hence the number of buckets in the memory always remains constant</a:t>
            </a:r>
            <a:r>
              <a:rPr lang="en-US" sz="2500" dirty="0" smtClean="0">
                <a:latin typeface="Times New Roman" panose="02020603050405020304" pitchFamily="18" charset="0"/>
                <a:cs typeface="Times New Roman" panose="02020603050405020304" pitchFamily="18" charset="0"/>
              </a:rPr>
              <a:t>.</a:t>
            </a:r>
          </a:p>
          <a:p>
            <a:pPr algn="just"/>
            <a:endParaRPr lang="en-US" sz="2500" dirty="0" smtClean="0">
              <a:latin typeface="Times New Roman" panose="02020603050405020304" pitchFamily="18" charset="0"/>
              <a:cs typeface="Times New Roman" panose="02020603050405020304" pitchFamily="18" charset="0"/>
            </a:endParaRPr>
          </a:p>
          <a:p>
            <a:pPr algn="just"/>
            <a:r>
              <a:rPr lang="en-US" sz="2500" dirty="0" smtClean="0">
                <a:latin typeface="Times New Roman" panose="02020603050405020304" pitchFamily="18" charset="0"/>
                <a:cs typeface="Times New Roman" panose="02020603050405020304" pitchFamily="18" charset="0"/>
              </a:rPr>
              <a:t>Collision Avoidance Methods: Linear Probing and Quadratic Probing</a:t>
            </a:r>
            <a:endParaRPr lang="en-US" sz="25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24</a:t>
            </a:fld>
            <a:endParaRPr lang="en-IN"/>
          </a:p>
        </p:txBody>
      </p:sp>
    </p:spTree>
    <p:extLst>
      <p:ext uri="{BB962C8B-B14F-4D97-AF65-F5344CB8AC3E}">
        <p14:creationId xmlns:p14="http://schemas.microsoft.com/office/powerpoint/2010/main" val="3096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b="1" dirty="0" smtClean="0">
                <a:solidFill>
                  <a:srgbClr val="FF0000"/>
                </a:solidFill>
                <a:latin typeface="Times New Roman" panose="02020603050405020304" pitchFamily="18" charset="0"/>
                <a:cs typeface="Times New Roman" panose="02020603050405020304" pitchFamily="18" charset="0"/>
              </a:rPr>
              <a:t>Operations in Static </a:t>
            </a:r>
            <a:r>
              <a:rPr lang="en-US" altLang="en-US" b="1" dirty="0">
                <a:solidFill>
                  <a:srgbClr val="FF0000"/>
                </a:solidFill>
                <a:latin typeface="Times New Roman" panose="02020603050405020304" pitchFamily="18" charset="0"/>
                <a:cs typeface="Times New Roman" panose="02020603050405020304" pitchFamily="18" charset="0"/>
              </a:rPr>
              <a:t>Hashing</a:t>
            </a:r>
          </a:p>
        </p:txBody>
      </p:sp>
      <p:sp>
        <p:nvSpPr>
          <p:cNvPr id="19459" name="Content Placeholder 2"/>
          <p:cNvSpPr>
            <a:spLocks noGrp="1"/>
          </p:cNvSpPr>
          <p:nvPr>
            <p:ph sz="quarter" idx="1"/>
          </p:nvPr>
        </p:nvSpPr>
        <p:spPr>
          <a:xfrm>
            <a:off x="457200" y="1600200"/>
            <a:ext cx="8435280" cy="4925144"/>
          </a:xfrm>
        </p:spPr>
        <p:txBody>
          <a:bodyPr>
            <a:normAutofit/>
          </a:bodyPr>
          <a:lstStyle/>
          <a:p>
            <a:pPr algn="just"/>
            <a:r>
              <a:rPr lang="en-US" sz="2400" b="1" dirty="0">
                <a:latin typeface="Times New Roman" panose="02020603050405020304" pitchFamily="18" charset="0"/>
                <a:cs typeface="Times New Roman" panose="02020603050405020304" pitchFamily="18" charset="0"/>
              </a:rPr>
              <a:t>Inserting a record</a:t>
            </a:r>
            <a:r>
              <a:rPr lang="en-US" sz="2400" dirty="0">
                <a:latin typeface="Times New Roman" panose="02020603050405020304" pitchFamily="18" charset="0"/>
                <a:cs typeface="Times New Roman" panose="02020603050405020304" pitchFamily="18" charset="0"/>
              </a:rPr>
              <a:t>: When a new record requires to be inserted into the table, you can generate an address for the new record using its hash key. When the address is generated, the record is automatically stored in that location.</a:t>
            </a:r>
          </a:p>
          <a:p>
            <a:pPr algn="just"/>
            <a:endParaRPr lang="en-US" sz="2400" b="1"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Searching</a:t>
            </a:r>
            <a:r>
              <a:rPr lang="en-US" sz="2400" dirty="0">
                <a:latin typeface="Times New Roman" panose="02020603050405020304" pitchFamily="18" charset="0"/>
                <a:cs typeface="Times New Roman" panose="02020603050405020304" pitchFamily="18" charset="0"/>
              </a:rPr>
              <a:t>: When you need to retrieve the record, the same hash function should be helpful to retrieve the address of the bucket where data should be stored.</a:t>
            </a:r>
          </a:p>
          <a:p>
            <a:pPr algn="just"/>
            <a:endParaRPr lang="en-US" sz="2400" b="1"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Delete </a:t>
            </a:r>
            <a:r>
              <a:rPr lang="en-US" sz="2400" b="1" dirty="0">
                <a:latin typeface="Times New Roman" panose="02020603050405020304" pitchFamily="18" charset="0"/>
                <a:cs typeface="Times New Roman" panose="02020603050405020304" pitchFamily="18" charset="0"/>
              </a:rPr>
              <a:t>a record</a:t>
            </a:r>
            <a:r>
              <a:rPr lang="en-US" sz="2400" dirty="0">
                <a:latin typeface="Times New Roman" panose="02020603050405020304" pitchFamily="18" charset="0"/>
                <a:cs typeface="Times New Roman" panose="02020603050405020304" pitchFamily="18" charset="0"/>
              </a:rPr>
              <a:t>: Using the hash function, you can first fetch the record which is you wants to delete. Then you can remove the records for that address in memory.</a:t>
            </a:r>
          </a:p>
        </p:txBody>
      </p:sp>
      <p:sp>
        <p:nvSpPr>
          <p:cNvPr id="2" name="Slide Number Placeholder 1"/>
          <p:cNvSpPr>
            <a:spLocks noGrp="1"/>
          </p:cNvSpPr>
          <p:nvPr>
            <p:ph type="sldNum" sz="quarter" idx="12"/>
          </p:nvPr>
        </p:nvSpPr>
        <p:spPr/>
        <p:txBody>
          <a:bodyPr/>
          <a:lstStyle/>
          <a:p>
            <a:fld id="{DDE4AA30-DFC3-4E29-B54E-BC96FFE3FF90}" type="slidenum">
              <a:rPr lang="en-IN" smtClean="0"/>
              <a:t>25</a:t>
            </a:fld>
            <a:endParaRPr lang="en-IN"/>
          </a:p>
        </p:txBody>
      </p:sp>
    </p:spTree>
    <p:extLst>
      <p:ext uri="{BB962C8B-B14F-4D97-AF65-F5344CB8AC3E}">
        <p14:creationId xmlns:p14="http://schemas.microsoft.com/office/powerpoint/2010/main" val="2909381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274638"/>
            <a:ext cx="8229600" cy="634082"/>
          </a:xfrm>
        </p:spPr>
        <p:txBody>
          <a:bodyPr>
            <a:normAutofit fontScale="90000"/>
          </a:bodyPr>
          <a:lstStyle/>
          <a:p>
            <a:r>
              <a:rPr lang="en-US" altLang="en-US" b="1" dirty="0" smtClean="0">
                <a:solidFill>
                  <a:srgbClr val="FF0000"/>
                </a:solidFill>
                <a:latin typeface="Times New Roman" panose="02020603050405020304" pitchFamily="18" charset="0"/>
                <a:cs typeface="Times New Roman" panose="02020603050405020304" pitchFamily="18" charset="0"/>
              </a:rPr>
              <a:t>Types of Static </a:t>
            </a:r>
            <a:r>
              <a:rPr lang="en-US" altLang="en-US" b="1" dirty="0">
                <a:solidFill>
                  <a:srgbClr val="FF0000"/>
                </a:solidFill>
                <a:latin typeface="Times New Roman" panose="02020603050405020304" pitchFamily="18" charset="0"/>
                <a:cs typeface="Times New Roman" panose="02020603050405020304" pitchFamily="18" charset="0"/>
              </a:rPr>
              <a:t>Hashing</a:t>
            </a:r>
          </a:p>
        </p:txBody>
      </p:sp>
      <p:sp>
        <p:nvSpPr>
          <p:cNvPr id="19459" name="Content Placeholder 2"/>
          <p:cNvSpPr>
            <a:spLocks noGrp="1"/>
          </p:cNvSpPr>
          <p:nvPr>
            <p:ph sz="quarter" idx="1"/>
          </p:nvPr>
        </p:nvSpPr>
        <p:spPr>
          <a:xfrm>
            <a:off x="107504" y="1412776"/>
            <a:ext cx="3785592" cy="4925144"/>
          </a:xfrm>
        </p:spPr>
        <p:txBody>
          <a:bodyPr>
            <a:normAutofit/>
          </a:bodyPr>
          <a:lstStyle/>
          <a:p>
            <a:pPr marL="457200" indent="-457200" algn="just">
              <a:buAutoNum type="arabicPeriod"/>
            </a:pPr>
            <a:r>
              <a:rPr lang="en-US" sz="2400" b="1" dirty="0" smtClean="0">
                <a:latin typeface="Times New Roman" panose="02020603050405020304" pitchFamily="18" charset="0"/>
                <a:cs typeface="Times New Roman" panose="02020603050405020304" pitchFamily="18" charset="0"/>
              </a:rPr>
              <a:t>Open Addressing / Closed Hashing</a:t>
            </a:r>
          </a:p>
          <a:p>
            <a:pPr marL="0" indent="0" algn="just">
              <a:buNone/>
            </a:pPr>
            <a:r>
              <a:rPr lang="en-US" sz="2400" dirty="0" smtClean="0">
                <a:latin typeface="Times New Roman" panose="02020603050405020304" pitchFamily="18" charset="0"/>
                <a:cs typeface="Times New Roman" panose="02020603050405020304" pitchFamily="18" charset="0"/>
              </a:rPr>
              <a:t>In open addressing, whenever a collision occurs, we probe for the next empty bucket to enter the new record. </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The order of checking are majorly of two types -</a:t>
            </a:r>
            <a:endParaRPr 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4067944" y="1556792"/>
            <a:ext cx="4858891" cy="4104456"/>
          </a:xfrm>
          <a:prstGeom prst="rect">
            <a:avLst/>
          </a:prstGeom>
        </p:spPr>
      </p:pic>
      <p:sp>
        <p:nvSpPr>
          <p:cNvPr id="3" name="Slide Number Placeholder 2"/>
          <p:cNvSpPr>
            <a:spLocks noGrp="1"/>
          </p:cNvSpPr>
          <p:nvPr>
            <p:ph type="sldNum" sz="quarter" idx="12"/>
          </p:nvPr>
        </p:nvSpPr>
        <p:spPr/>
        <p:txBody>
          <a:bodyPr/>
          <a:lstStyle/>
          <a:p>
            <a:fld id="{DDE4AA30-DFC3-4E29-B54E-BC96FFE3FF90}" type="slidenum">
              <a:rPr lang="en-IN" smtClean="0"/>
              <a:t>26</a:t>
            </a:fld>
            <a:endParaRPr lang="en-IN"/>
          </a:p>
        </p:txBody>
      </p:sp>
    </p:spTree>
    <p:extLst>
      <p:ext uri="{BB962C8B-B14F-4D97-AF65-F5344CB8AC3E}">
        <p14:creationId xmlns:p14="http://schemas.microsoft.com/office/powerpoint/2010/main" val="479762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83840" y="1196752"/>
            <a:ext cx="47034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FF0000"/>
                </a:solidFill>
              </a:rPr>
              <a:t>Example:</a:t>
            </a:r>
            <a:r>
              <a:rPr lang="en-US" sz="2400" dirty="0"/>
              <a:t> </a:t>
            </a:r>
            <a:r>
              <a:rPr lang="en-US" sz="2400" b="1" dirty="0"/>
              <a:t>89 , 18 , 49 , 58 , 69</a:t>
            </a:r>
          </a:p>
        </p:txBody>
      </p:sp>
      <p:sp>
        <p:nvSpPr>
          <p:cNvPr id="17411" name="Text Box 3"/>
          <p:cNvSpPr txBox="1">
            <a:spLocks noChangeArrowheads="1"/>
          </p:cNvSpPr>
          <p:nvPr/>
        </p:nvSpPr>
        <p:spPr bwMode="auto">
          <a:xfrm>
            <a:off x="2423073" y="2492896"/>
            <a:ext cx="2895600" cy="466725"/>
          </a:xfrm>
          <a:prstGeom prst="rect">
            <a:avLst/>
          </a:prstGeom>
          <a:solidFill>
            <a:srgbClr val="FF00FF"/>
          </a:solidFill>
          <a:ln w="9525">
            <a:solidFill>
              <a:schemeClr val="tx1"/>
            </a:solidFill>
            <a:miter lim="800000"/>
            <a:headEnd/>
            <a:tailEnd/>
          </a:ln>
          <a:effectLs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dirty="0">
                <a:solidFill>
                  <a:schemeClr val="bg1"/>
                </a:solidFill>
              </a:rPr>
              <a:t>h ( k ) = k mod 10</a:t>
            </a:r>
          </a:p>
        </p:txBody>
      </p:sp>
      <p:graphicFrame>
        <p:nvGraphicFramePr>
          <p:cNvPr id="17466" name="Group 58"/>
          <p:cNvGraphicFramePr>
            <a:graphicFrameLocks noGrp="1"/>
          </p:cNvGraphicFramePr>
          <p:nvPr/>
        </p:nvGraphicFramePr>
        <p:xfrm>
          <a:off x="7543800" y="838200"/>
          <a:ext cx="685800" cy="5181600"/>
        </p:xfrm>
        <a:graphic>
          <a:graphicData uri="http://schemas.openxmlformats.org/drawingml/2006/table">
            <a:tbl>
              <a:tblPr/>
              <a:tblGrid>
                <a:gridCol w="685800">
                  <a:extLst>
                    <a:ext uri="{9D8B030D-6E8A-4147-A177-3AD203B41FA5}">
                      <a16:colId xmlns="" xmlns:a16="http://schemas.microsoft.com/office/drawing/2014/main" val="20000"/>
                    </a:ext>
                  </a:extLst>
                </a:gridCol>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58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89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bl>
          </a:graphicData>
        </a:graphic>
      </p:graphicFrame>
      <p:graphicFrame>
        <p:nvGraphicFramePr>
          <p:cNvPr id="17465" name="Group 57"/>
          <p:cNvGraphicFramePr>
            <a:graphicFrameLocks noGrp="1"/>
          </p:cNvGraphicFramePr>
          <p:nvPr/>
        </p:nvGraphicFramePr>
        <p:xfrm>
          <a:off x="6934200" y="838200"/>
          <a:ext cx="609600" cy="5181600"/>
        </p:xfrm>
        <a:graphic>
          <a:graphicData uri="http://schemas.openxmlformats.org/drawingml/2006/table">
            <a:tbl>
              <a:tblPr/>
              <a:tblGrid>
                <a:gridCol w="609600">
                  <a:extLst>
                    <a:ext uri="{9D8B030D-6E8A-4147-A177-3AD203B41FA5}">
                      <a16:colId xmlns="" xmlns:a16="http://schemas.microsoft.com/office/drawing/2014/main" val="20000"/>
                    </a:ext>
                  </a:extLst>
                </a:gridCol>
              </a:tblGrid>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5175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bl>
          </a:graphicData>
        </a:graphic>
      </p:graphicFrame>
      <p:sp>
        <p:nvSpPr>
          <p:cNvPr id="17464" name="Text Box 56"/>
          <p:cNvSpPr txBox="1">
            <a:spLocks noChangeArrowheads="1"/>
          </p:cNvSpPr>
          <p:nvPr/>
        </p:nvSpPr>
        <p:spPr bwMode="auto">
          <a:xfrm>
            <a:off x="2423073" y="3371850"/>
            <a:ext cx="1981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t>89 % 10 = </a:t>
            </a:r>
            <a:r>
              <a:rPr lang="en-US" sz="2400" b="1" dirty="0">
                <a:solidFill>
                  <a:srgbClr val="FF0000"/>
                </a:solidFill>
              </a:rPr>
              <a:t>9</a:t>
            </a:r>
          </a:p>
          <a:p>
            <a:pPr eaLnBrk="1" hangingPunct="1">
              <a:spcBef>
                <a:spcPct val="50000"/>
              </a:spcBef>
            </a:pPr>
            <a:r>
              <a:rPr lang="en-US" sz="2400" b="1" dirty="0"/>
              <a:t>18 % 10 = </a:t>
            </a:r>
            <a:r>
              <a:rPr lang="en-US" sz="2400" b="1" dirty="0">
                <a:solidFill>
                  <a:srgbClr val="CC0000"/>
                </a:solidFill>
              </a:rPr>
              <a:t>8</a:t>
            </a:r>
          </a:p>
          <a:p>
            <a:pPr eaLnBrk="1" hangingPunct="1">
              <a:spcBef>
                <a:spcPct val="50000"/>
              </a:spcBef>
            </a:pPr>
            <a:r>
              <a:rPr lang="en-US" sz="2400" b="1" dirty="0"/>
              <a:t>49 % 10 = </a:t>
            </a:r>
            <a:r>
              <a:rPr lang="en-US" sz="2400" b="1" dirty="0">
                <a:solidFill>
                  <a:srgbClr val="FF0000"/>
                </a:solidFill>
              </a:rPr>
              <a:t>9</a:t>
            </a:r>
          </a:p>
          <a:p>
            <a:pPr eaLnBrk="1" hangingPunct="1">
              <a:spcBef>
                <a:spcPct val="50000"/>
              </a:spcBef>
            </a:pPr>
            <a:r>
              <a:rPr lang="en-US" sz="2400" b="1" dirty="0"/>
              <a:t>58 % 10 = </a:t>
            </a:r>
            <a:r>
              <a:rPr lang="en-US" sz="2400" b="1" dirty="0">
                <a:solidFill>
                  <a:srgbClr val="CC0000"/>
                </a:solidFill>
              </a:rPr>
              <a:t>8</a:t>
            </a:r>
          </a:p>
          <a:p>
            <a:pPr eaLnBrk="1" hangingPunct="1">
              <a:spcBef>
                <a:spcPct val="50000"/>
              </a:spcBef>
            </a:pPr>
            <a:r>
              <a:rPr lang="en-US" sz="2400" b="1" dirty="0"/>
              <a:t>69 % 10 = </a:t>
            </a:r>
            <a:r>
              <a:rPr lang="en-US" sz="2400" b="1" dirty="0">
                <a:solidFill>
                  <a:srgbClr val="FF0000"/>
                </a:solidFill>
              </a:rPr>
              <a:t>9</a:t>
            </a:r>
          </a:p>
        </p:txBody>
      </p:sp>
      <p:sp>
        <p:nvSpPr>
          <p:cNvPr id="7" name="Title 1"/>
          <p:cNvSpPr txBox="1">
            <a:spLocks/>
          </p:cNvSpPr>
          <p:nvPr/>
        </p:nvSpPr>
        <p:spPr>
          <a:xfrm>
            <a:off x="457200" y="274638"/>
            <a:ext cx="8229600" cy="562074"/>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Linear Probing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27</a:t>
            </a:fld>
            <a:endParaRPr lang="en-IN"/>
          </a:p>
        </p:txBody>
      </p:sp>
    </p:spTree>
    <p:extLst>
      <p:ext uri="{BB962C8B-B14F-4D97-AF65-F5344CB8AC3E}">
        <p14:creationId xmlns:p14="http://schemas.microsoft.com/office/powerpoint/2010/main" val="3590021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ppt_x"/>
                                          </p:val>
                                        </p:tav>
                                        <p:tav tm="100000">
                                          <p:val>
                                            <p:strVal val="#ppt_x"/>
                                          </p:val>
                                        </p:tav>
                                      </p:tavLst>
                                    </p:anim>
                                    <p:anim calcmode="lin" valueType="num">
                                      <p:cBhvr additive="base">
                                        <p:cTn id="8" dur="500" fill="hold"/>
                                        <p:tgtEl>
                                          <p:spTgt spid="174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gtEl>
                                        <p:attrNameLst>
                                          <p:attrName>style.visibility</p:attrName>
                                        </p:attrNameLst>
                                      </p:cBhvr>
                                      <p:to>
                                        <p:strVal val="visible"/>
                                      </p:to>
                                    </p:set>
                                    <p:anim calcmode="lin" valueType="num">
                                      <p:cBhvr additive="base">
                                        <p:cTn id="13" dur="500" fill="hold"/>
                                        <p:tgtEl>
                                          <p:spTgt spid="17411"/>
                                        </p:tgtEl>
                                        <p:attrNameLst>
                                          <p:attrName>ppt_x</p:attrName>
                                        </p:attrNameLst>
                                      </p:cBhvr>
                                      <p:tavLst>
                                        <p:tav tm="0">
                                          <p:val>
                                            <p:strVal val="#ppt_x"/>
                                          </p:val>
                                        </p:tav>
                                        <p:tav tm="100000">
                                          <p:val>
                                            <p:strVal val="#ppt_x"/>
                                          </p:val>
                                        </p:tav>
                                      </p:tavLst>
                                    </p:anim>
                                    <p:anim calcmode="lin" valueType="num">
                                      <p:cBhvr additive="base">
                                        <p:cTn id="14"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64"/>
                                        </p:tgtEl>
                                        <p:attrNameLst>
                                          <p:attrName>style.visibility</p:attrName>
                                        </p:attrNameLst>
                                      </p:cBhvr>
                                      <p:to>
                                        <p:strVal val="visible"/>
                                      </p:to>
                                    </p:set>
                                    <p:anim calcmode="lin" valueType="num">
                                      <p:cBhvr additive="base">
                                        <p:cTn id="19" dur="500" fill="hold"/>
                                        <p:tgtEl>
                                          <p:spTgt spid="17464"/>
                                        </p:tgtEl>
                                        <p:attrNameLst>
                                          <p:attrName>ppt_x</p:attrName>
                                        </p:attrNameLst>
                                      </p:cBhvr>
                                      <p:tavLst>
                                        <p:tav tm="0">
                                          <p:val>
                                            <p:strVal val="#ppt_x"/>
                                          </p:val>
                                        </p:tav>
                                        <p:tav tm="100000">
                                          <p:val>
                                            <p:strVal val="#ppt_x"/>
                                          </p:val>
                                        </p:tav>
                                      </p:tavLst>
                                    </p:anim>
                                    <p:anim calcmode="lin" valueType="num">
                                      <p:cBhvr additive="base">
                                        <p:cTn id="20" dur="500" fill="hold"/>
                                        <p:tgtEl>
                                          <p:spTgt spid="1746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7466"/>
                                        </p:tgtEl>
                                        <p:attrNameLst>
                                          <p:attrName>style.visibility</p:attrName>
                                        </p:attrNameLst>
                                      </p:cBhvr>
                                      <p:to>
                                        <p:strVal val="visible"/>
                                      </p:to>
                                    </p:set>
                                    <p:anim calcmode="lin" valueType="num">
                                      <p:cBhvr additive="base">
                                        <p:cTn id="25" dur="500" fill="hold"/>
                                        <p:tgtEl>
                                          <p:spTgt spid="17466"/>
                                        </p:tgtEl>
                                        <p:attrNameLst>
                                          <p:attrName>ppt_x</p:attrName>
                                        </p:attrNameLst>
                                      </p:cBhvr>
                                      <p:tavLst>
                                        <p:tav tm="0">
                                          <p:val>
                                            <p:strVal val="#ppt_x"/>
                                          </p:val>
                                        </p:tav>
                                        <p:tav tm="100000">
                                          <p:val>
                                            <p:strVal val="#ppt_x"/>
                                          </p:val>
                                        </p:tav>
                                      </p:tavLst>
                                    </p:anim>
                                    <p:anim calcmode="lin" valueType="num">
                                      <p:cBhvr additive="base">
                                        <p:cTn id="26" dur="500" fill="hold"/>
                                        <p:tgtEl>
                                          <p:spTgt spid="1746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465"/>
                                        </p:tgtEl>
                                        <p:attrNameLst>
                                          <p:attrName>style.visibility</p:attrName>
                                        </p:attrNameLst>
                                      </p:cBhvr>
                                      <p:to>
                                        <p:strVal val="visible"/>
                                      </p:to>
                                    </p:set>
                                    <p:anim calcmode="lin" valueType="num">
                                      <p:cBhvr additive="base">
                                        <p:cTn id="29" dur="500" fill="hold"/>
                                        <p:tgtEl>
                                          <p:spTgt spid="17465"/>
                                        </p:tgtEl>
                                        <p:attrNameLst>
                                          <p:attrName>ppt_x</p:attrName>
                                        </p:attrNameLst>
                                      </p:cBhvr>
                                      <p:tavLst>
                                        <p:tav tm="0">
                                          <p:val>
                                            <p:strVal val="#ppt_x"/>
                                          </p:val>
                                        </p:tav>
                                        <p:tav tm="100000">
                                          <p:val>
                                            <p:strVal val="#ppt_x"/>
                                          </p:val>
                                        </p:tav>
                                      </p:tavLst>
                                    </p:anim>
                                    <p:anim calcmode="lin" valueType="num">
                                      <p:cBhvr additive="base">
                                        <p:cTn id="30" dur="500" fill="hold"/>
                                        <p:tgtEl>
                                          <p:spTgt spid="174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animBg="1"/>
      <p:bldP spid="1746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196752"/>
            <a:ext cx="8507288" cy="5328592"/>
          </a:xfrm>
        </p:spPr>
        <p:txBody>
          <a:bodyPr>
            <a:normAutofit/>
          </a:bodyPr>
          <a:lstStyle/>
          <a:p>
            <a:pPr algn="just"/>
            <a:r>
              <a:rPr lang="en-IN" sz="2600" dirty="0">
                <a:latin typeface="Times New Roman" panose="02020603050405020304" pitchFamily="18" charset="0"/>
                <a:cs typeface="Times New Roman" panose="02020603050405020304" pitchFamily="18" charset="0"/>
              </a:rPr>
              <a:t>L</a:t>
            </a:r>
            <a:r>
              <a:rPr lang="en-IN" sz="2600" dirty="0" smtClean="0">
                <a:latin typeface="Times New Roman" panose="02020603050405020304" pitchFamily="18" charset="0"/>
                <a:cs typeface="Times New Roman" panose="02020603050405020304" pitchFamily="18" charset="0"/>
              </a:rPr>
              <a:t>inear </a:t>
            </a:r>
            <a:r>
              <a:rPr lang="en-IN" sz="2600" dirty="0">
                <a:latin typeface="Times New Roman" panose="02020603050405020304" pitchFamily="18" charset="0"/>
                <a:cs typeface="Times New Roman" panose="02020603050405020304" pitchFamily="18" charset="0"/>
              </a:rPr>
              <a:t>probing is a form of </a:t>
            </a:r>
            <a:r>
              <a:rPr lang="en-IN" sz="2600" dirty="0">
                <a:solidFill>
                  <a:srgbClr val="FF0000"/>
                </a:solidFill>
                <a:latin typeface="Times New Roman" panose="02020603050405020304" pitchFamily="18" charset="0"/>
                <a:cs typeface="Times New Roman" panose="02020603050405020304" pitchFamily="18" charset="0"/>
              </a:rPr>
              <a:t>open addressing</a:t>
            </a:r>
            <a:r>
              <a:rPr lang="en-IN" sz="2600" dirty="0">
                <a:latin typeface="Times New Roman" panose="02020603050405020304" pitchFamily="18" charset="0"/>
                <a:cs typeface="Times New Roman" panose="02020603050405020304" pitchFamily="18" charset="0"/>
              </a:rPr>
              <a:t>. </a:t>
            </a:r>
          </a:p>
          <a:p>
            <a:pPr algn="just"/>
            <a:r>
              <a:rPr lang="en-IN" sz="2600" dirty="0">
                <a:latin typeface="Times New Roman" panose="02020603050405020304" pitchFamily="18" charset="0"/>
                <a:cs typeface="Times New Roman" panose="02020603050405020304" pitchFamily="18" charset="0"/>
              </a:rPr>
              <a:t>In these schemes, </a:t>
            </a:r>
            <a:r>
              <a:rPr lang="en-IN" sz="2600" dirty="0">
                <a:solidFill>
                  <a:srgbClr val="FF0000"/>
                </a:solidFill>
                <a:latin typeface="Times New Roman" panose="02020603050405020304" pitchFamily="18" charset="0"/>
                <a:cs typeface="Times New Roman" panose="02020603050405020304" pitchFamily="18" charset="0"/>
              </a:rPr>
              <a:t>each cell of a hash table stores a single key–value pair.</a:t>
            </a:r>
          </a:p>
          <a:p>
            <a:pPr algn="just"/>
            <a:r>
              <a:rPr lang="en-IN" sz="2600" dirty="0" smtClean="0">
                <a:latin typeface="Times New Roman" panose="02020603050405020304" pitchFamily="18" charset="0"/>
                <a:cs typeface="Times New Roman" panose="02020603050405020304" pitchFamily="18" charset="0"/>
              </a:rPr>
              <a:t>When </a:t>
            </a:r>
            <a:r>
              <a:rPr lang="en-IN" sz="2600" dirty="0">
                <a:latin typeface="Times New Roman" panose="02020603050405020304" pitchFamily="18" charset="0"/>
                <a:cs typeface="Times New Roman" panose="02020603050405020304" pitchFamily="18" charset="0"/>
              </a:rPr>
              <a:t>the hash function causes a collision by mapping a new key to a cell of the hash table that is already occupied by another key, linear probing searches the table for the </a:t>
            </a:r>
            <a:r>
              <a:rPr lang="en-IN" sz="2600" dirty="0">
                <a:solidFill>
                  <a:srgbClr val="FF0000"/>
                </a:solidFill>
                <a:latin typeface="Times New Roman" panose="02020603050405020304" pitchFamily="18" charset="0"/>
                <a:cs typeface="Times New Roman" panose="02020603050405020304" pitchFamily="18" charset="0"/>
              </a:rPr>
              <a:t>closest following free location and inserts </a:t>
            </a:r>
            <a:r>
              <a:rPr lang="en-IN" sz="2600" dirty="0">
                <a:latin typeface="Times New Roman" panose="02020603050405020304" pitchFamily="18" charset="0"/>
                <a:cs typeface="Times New Roman" panose="02020603050405020304" pitchFamily="18" charset="0"/>
              </a:rPr>
              <a:t>the new key there.</a:t>
            </a:r>
          </a:p>
          <a:p>
            <a:pPr marL="0" indent="0" algn="ctr">
              <a:buNone/>
            </a:pPr>
            <a:r>
              <a:rPr lang="en-IN" sz="2600" dirty="0" smtClean="0">
                <a:latin typeface="Times New Roman" panose="02020603050405020304" pitchFamily="18" charset="0"/>
                <a:cs typeface="Times New Roman" panose="02020603050405020304" pitchFamily="18" charset="0"/>
              </a:rPr>
              <a:t> </a:t>
            </a:r>
            <a:r>
              <a:rPr lang="en-IN" sz="2600" b="1" i="1" dirty="0">
                <a:solidFill>
                  <a:srgbClr val="FF0000"/>
                </a:solidFill>
                <a:latin typeface="Times New Roman" panose="02020603050405020304" pitchFamily="18" charset="0"/>
                <a:cs typeface="Times New Roman" panose="02020603050405020304" pitchFamily="18" charset="0"/>
              </a:rPr>
              <a:t>h(x) =x </a:t>
            </a:r>
            <a:r>
              <a:rPr lang="en-IN" sz="2600" b="1" i="1" dirty="0">
                <a:latin typeface="Times New Roman" panose="02020603050405020304" pitchFamily="18" charset="0"/>
                <a:cs typeface="Times New Roman" panose="02020603050405020304" pitchFamily="18" charset="0"/>
              </a:rPr>
              <a:t>mod</a:t>
            </a:r>
            <a:r>
              <a:rPr lang="en-IN" sz="2600" b="1" i="1" dirty="0">
                <a:solidFill>
                  <a:srgbClr val="FF0000"/>
                </a:solidFill>
                <a:latin typeface="Times New Roman" panose="02020603050405020304" pitchFamily="18" charset="0"/>
                <a:cs typeface="Times New Roman" panose="02020603050405020304" pitchFamily="18" charset="0"/>
              </a:rPr>
              <a:t> size of array </a:t>
            </a:r>
            <a:r>
              <a:rPr lang="en-IN" sz="2600" b="1" i="1" dirty="0" smtClean="0">
                <a:solidFill>
                  <a:srgbClr val="FF0000"/>
                </a:solidFill>
                <a:latin typeface="Times New Roman" panose="02020603050405020304" pitchFamily="18" charset="0"/>
                <a:cs typeface="Times New Roman" panose="02020603050405020304" pitchFamily="18" charset="0"/>
              </a:rPr>
              <a:t> </a:t>
            </a:r>
            <a:endParaRPr lang="en-IN" sz="2600" b="1" i="1" dirty="0">
              <a:solidFill>
                <a:srgbClr val="FF0000"/>
              </a:solidFill>
              <a:latin typeface="Times New Roman" panose="02020603050405020304" pitchFamily="18" charset="0"/>
              <a:cs typeface="Times New Roman" panose="02020603050405020304" pitchFamily="18" charset="0"/>
            </a:endParaRPr>
          </a:p>
          <a:p>
            <a:pPr marL="0" indent="0">
              <a:buNone/>
            </a:pPr>
            <a:r>
              <a:rPr lang="en-IN" sz="2600" b="1" i="1" u="sng" dirty="0" smtClean="0">
                <a:latin typeface="Times New Roman" panose="02020603050405020304" pitchFamily="18" charset="0"/>
                <a:cs typeface="Times New Roman" panose="02020603050405020304" pitchFamily="18" charset="0"/>
              </a:rPr>
              <a:t>if collision occurs</a:t>
            </a:r>
          </a:p>
          <a:p>
            <a:pPr marL="0" indent="0">
              <a:buNone/>
            </a:pPr>
            <a:r>
              <a:rPr lang="en-IN" sz="2600" b="1" dirty="0" smtClean="0">
                <a:latin typeface="Times New Roman" panose="02020603050405020304" pitchFamily="18" charset="0"/>
                <a:cs typeface="Times New Roman" panose="02020603050405020304" pitchFamily="18" charset="0"/>
              </a:rPr>
              <a:t>       h(x</a:t>
            </a:r>
            <a:r>
              <a:rPr lang="en-IN" sz="2600" b="1" dirty="0">
                <a:latin typeface="Times New Roman" panose="02020603050405020304" pitchFamily="18" charset="0"/>
                <a:cs typeface="Times New Roman" panose="02020603050405020304" pitchFamily="18" charset="0"/>
              </a:rPr>
              <a:t>) =[ h(x) +f(i</a:t>
            </a:r>
            <a:r>
              <a:rPr lang="en-IN" sz="2600" b="1" dirty="0" smtClean="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mod size</a:t>
            </a:r>
            <a:endParaRPr lang="en-IN" sz="2600" dirty="0">
              <a:latin typeface="Times New Roman" panose="02020603050405020304" pitchFamily="18" charset="0"/>
              <a:cs typeface="Times New Roman" panose="02020603050405020304" pitchFamily="18" charset="0"/>
            </a:endParaRPr>
          </a:p>
          <a:p>
            <a:pPr marL="0" indent="0">
              <a:buNone/>
            </a:pPr>
            <a:r>
              <a:rPr lang="en-IN" sz="2600" b="1" dirty="0" smtClean="0">
                <a:latin typeface="Times New Roman" panose="02020603050405020304" pitchFamily="18" charset="0"/>
                <a:cs typeface="Times New Roman" panose="02020603050405020304" pitchFamily="18" charset="0"/>
              </a:rPr>
              <a:t>                    where f(i</a:t>
            </a:r>
            <a:r>
              <a:rPr lang="en-IN" sz="2600" b="1" dirty="0">
                <a:latin typeface="Times New Roman" panose="02020603050405020304" pitchFamily="18" charset="0"/>
                <a:cs typeface="Times New Roman" panose="02020603050405020304" pitchFamily="18" charset="0"/>
              </a:rPr>
              <a:t>)= </a:t>
            </a:r>
            <a:r>
              <a:rPr lang="en-IN" sz="2600" b="1" dirty="0" smtClean="0">
                <a:latin typeface="Times New Roman" panose="02020603050405020304" pitchFamily="18" charset="0"/>
                <a:cs typeface="Times New Roman" panose="02020603050405020304" pitchFamily="18" charset="0"/>
              </a:rPr>
              <a:t>i, </a:t>
            </a:r>
            <a:r>
              <a:rPr lang="en-IN" sz="2600" b="1" dirty="0">
                <a:latin typeface="Times New Roman" panose="02020603050405020304" pitchFamily="18" charset="0"/>
                <a:cs typeface="Times New Roman" panose="02020603050405020304" pitchFamily="18" charset="0"/>
              </a:rPr>
              <a:t>where i =0,1,2,3,…</a:t>
            </a:r>
            <a:endParaRPr lang="en-IN" sz="260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57200" y="274638"/>
            <a:ext cx="8229600" cy="562074"/>
          </a:xfrm>
        </p:spPr>
        <p:txBody>
          <a:bodyPr>
            <a:normAutofit fontScale="90000"/>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Linear Probing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28</a:t>
            </a:fld>
            <a:endParaRPr lang="en-IN"/>
          </a:p>
        </p:txBody>
      </p:sp>
    </p:spTree>
    <p:extLst>
      <p:ext uri="{BB962C8B-B14F-4D97-AF65-F5344CB8AC3E}">
        <p14:creationId xmlns:p14="http://schemas.microsoft.com/office/powerpoint/2010/main" val="40973108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8219256" cy="5145435"/>
          </a:xfrm>
        </p:spPr>
        <p:txBody>
          <a:bodyPr>
            <a:normAutofit/>
          </a:bodyPr>
          <a:lstStyle/>
          <a:p>
            <a:pPr algn="just">
              <a:lnSpc>
                <a:spcPct val="90000"/>
              </a:lnSpc>
            </a:pPr>
            <a:endParaRPr lang="en-US" dirty="0" smtClean="0">
              <a:latin typeface="Times New Roman" panose="02020603050405020304" pitchFamily="18" charset="0"/>
              <a:cs typeface="Times New Roman" panose="02020603050405020304" pitchFamily="18" charset="0"/>
            </a:endParaRPr>
          </a:p>
          <a:p>
            <a:pPr algn="just">
              <a:lnSpc>
                <a:spcPct val="90000"/>
              </a:lnSpc>
            </a:pPr>
            <a:r>
              <a:rPr lang="en-US" dirty="0" smtClean="0">
                <a:latin typeface="Times New Roman" panose="02020603050405020304" pitchFamily="18" charset="0"/>
                <a:cs typeface="Times New Roman" panose="02020603050405020304" pitchFamily="18" charset="0"/>
              </a:rPr>
              <a:t>In linear probing, collisions are resolved by </a:t>
            </a:r>
            <a:r>
              <a:rPr lang="en-US" dirty="0" smtClean="0">
                <a:solidFill>
                  <a:srgbClr val="FF0000"/>
                </a:solidFill>
                <a:latin typeface="Times New Roman" panose="02020603050405020304" pitchFamily="18" charset="0"/>
                <a:cs typeface="Times New Roman" panose="02020603050405020304" pitchFamily="18" charset="0"/>
              </a:rPr>
              <a:t>sequentially scanning an array </a:t>
            </a:r>
            <a:r>
              <a:rPr lang="en-US" dirty="0" smtClean="0">
                <a:latin typeface="Times New Roman" panose="02020603050405020304" pitchFamily="18" charset="0"/>
                <a:cs typeface="Times New Roman" panose="02020603050405020304" pitchFamily="18" charset="0"/>
              </a:rPr>
              <a:t>(with wrap around) </a:t>
            </a:r>
            <a:r>
              <a:rPr lang="en-US" dirty="0" smtClean="0">
                <a:solidFill>
                  <a:srgbClr val="FF0000"/>
                </a:solidFill>
                <a:latin typeface="Times New Roman" panose="02020603050405020304" pitchFamily="18" charset="0"/>
                <a:cs typeface="Times New Roman" panose="02020603050405020304" pitchFamily="18" charset="0"/>
              </a:rPr>
              <a:t>until an empty cell is found</a:t>
            </a:r>
            <a:r>
              <a:rPr lang="en-US" dirty="0" smtClean="0">
                <a:latin typeface="Times New Roman" panose="02020603050405020304" pitchFamily="18" charset="0"/>
                <a:cs typeface="Times New Roman" panose="02020603050405020304" pitchFamily="18" charset="0"/>
              </a:rPr>
              <a:t>.</a:t>
            </a:r>
          </a:p>
          <a:p>
            <a:pPr algn="just">
              <a:lnSpc>
                <a:spcPct val="90000"/>
              </a:lnSpc>
            </a:pPr>
            <a:endParaRPr lang="en-US" dirty="0" smtClean="0">
              <a:latin typeface="Times New Roman" panose="02020603050405020304" pitchFamily="18" charset="0"/>
              <a:cs typeface="Times New Roman" panose="02020603050405020304" pitchFamily="18" charset="0"/>
            </a:endParaRPr>
          </a:p>
          <a:p>
            <a:pPr lvl="1" algn="just">
              <a:lnSpc>
                <a:spcPct val="90000"/>
              </a:lnSpc>
            </a:pPr>
            <a:r>
              <a:rPr lang="en-US" dirty="0" smtClean="0">
                <a:latin typeface="Times New Roman" panose="02020603050405020304" pitchFamily="18" charset="0"/>
                <a:cs typeface="Times New Roman" panose="02020603050405020304" pitchFamily="18" charset="0"/>
              </a:rPr>
              <a:t>i.e.</a:t>
            </a:r>
            <a:r>
              <a:rPr lang="en-US" i="1" dirty="0" smtClean="0">
                <a:latin typeface="Times New Roman" panose="02020603050405020304" pitchFamily="18" charset="0"/>
                <a:cs typeface="Times New Roman" panose="02020603050405020304" pitchFamily="18" charset="0"/>
              </a:rPr>
              <a:t> f</a:t>
            </a:r>
            <a:r>
              <a:rPr lang="en-US" dirty="0" smtClean="0">
                <a:latin typeface="Times New Roman" panose="02020603050405020304" pitchFamily="18" charset="0"/>
                <a:cs typeface="Times New Roman" panose="02020603050405020304" pitchFamily="18" charset="0"/>
              </a:rPr>
              <a:t> is a linear function of </a:t>
            </a:r>
            <a:r>
              <a:rPr lang="en-US" i="1" dirty="0" smtClean="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 typically </a:t>
            </a:r>
            <a:r>
              <a:rPr lang="en-US" i="1" dirty="0" smtClean="0">
                <a:latin typeface="Times New Roman" panose="02020603050405020304" pitchFamily="18" charset="0"/>
                <a:cs typeface="Times New Roman" panose="02020603050405020304" pitchFamily="18" charset="0"/>
              </a:rPr>
              <a:t>f(i)= i</a:t>
            </a:r>
            <a:r>
              <a:rPr lang="en-US" dirty="0" smtClean="0">
                <a:latin typeface="Times New Roman" panose="02020603050405020304" pitchFamily="18" charset="0"/>
                <a:cs typeface="Times New Roman" panose="02020603050405020304" pitchFamily="18" charset="0"/>
              </a:rPr>
              <a:t>.</a:t>
            </a:r>
          </a:p>
          <a:p>
            <a:pPr marL="0" indent="0" algn="just">
              <a:lnSpc>
                <a:spcPct val="90000"/>
              </a:lnSpc>
              <a:buNone/>
            </a:pPr>
            <a:endParaRPr lang="en-US" b="1" i="1" u="sng"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57200" y="274638"/>
            <a:ext cx="8229600" cy="562074"/>
          </a:xfrm>
        </p:spPr>
        <p:txBody>
          <a:bodyPr>
            <a:normAutofit fontScale="90000"/>
          </a:bodyPr>
          <a:lstStyle/>
          <a:p>
            <a:pPr algn="l"/>
            <a:r>
              <a:rPr lang="en-US" altLang="en-US" b="1" dirty="0" smtClean="0">
                <a:solidFill>
                  <a:srgbClr val="FF0000"/>
                </a:solidFill>
                <a:latin typeface="Times New Roman" panose="02020603050405020304" pitchFamily="18" charset="0"/>
                <a:cs typeface="Times New Roman" panose="02020603050405020304" pitchFamily="18" charset="0"/>
              </a:rPr>
              <a:t>Linear Probing</a:t>
            </a:r>
            <a:endParaRPr lang="en-US" altLang="en-US" b="1" dirty="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DDE4AA30-DFC3-4E29-B54E-BC96FFE3FF90}" type="slidenum">
              <a:rPr lang="en-IN" smtClean="0"/>
              <a:t>29</a:t>
            </a:fld>
            <a:endParaRPr lang="en-IN"/>
          </a:p>
        </p:txBody>
      </p:sp>
    </p:spTree>
    <p:extLst>
      <p:ext uri="{BB962C8B-B14F-4D97-AF65-F5344CB8AC3E}">
        <p14:creationId xmlns:p14="http://schemas.microsoft.com/office/powerpoint/2010/main" val="18086765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28600" y="1524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smtClean="0">
                <a:solidFill>
                  <a:srgbClr val="CC0000"/>
                </a:solidFill>
              </a:rPr>
              <a:t>Drawbacks</a:t>
            </a:r>
            <a:endParaRPr lang="en-US" sz="2400" b="1" dirty="0">
              <a:solidFill>
                <a:srgbClr val="CC0000"/>
              </a:solidFill>
            </a:endParaRPr>
          </a:p>
        </p:txBody>
      </p:sp>
      <p:sp>
        <p:nvSpPr>
          <p:cNvPr id="5123" name="Text Box 3"/>
          <p:cNvSpPr txBox="1">
            <a:spLocks noChangeArrowheads="1"/>
          </p:cNvSpPr>
          <p:nvPr/>
        </p:nvSpPr>
        <p:spPr bwMode="auto">
          <a:xfrm>
            <a:off x="238512" y="764704"/>
            <a:ext cx="8725976"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IN" sz="2400" dirty="0"/>
              <a:t>Clustering of element in particular location .The time taken to check will be more.</a:t>
            </a:r>
          </a:p>
          <a:p>
            <a:pPr algn="just" eaLnBrk="1" hangingPunct="1">
              <a:spcBef>
                <a:spcPct val="50000"/>
              </a:spcBef>
              <a:buFont typeface="Wingdings" pitchFamily="2" charset="2"/>
              <a:buChar char="Ø"/>
            </a:pPr>
            <a:r>
              <a:rPr lang="en-US" sz="2400" dirty="0" smtClean="0"/>
              <a:t> Encounter </a:t>
            </a:r>
            <a:r>
              <a:rPr lang="en-US" sz="2400" b="1" dirty="0">
                <a:solidFill>
                  <a:srgbClr val="FF0000"/>
                </a:solidFill>
              </a:rPr>
              <a:t>Primary Clustering</a:t>
            </a:r>
            <a:r>
              <a:rPr lang="en-US" sz="2400" dirty="0"/>
              <a:t> { blocks of contiguously occupied table entries</a:t>
            </a:r>
            <a:r>
              <a:rPr lang="en-US" sz="2400" dirty="0" smtClean="0"/>
              <a:t>}</a:t>
            </a:r>
          </a:p>
          <a:p>
            <a:pPr algn="just" eaLnBrk="1" hangingPunct="1">
              <a:spcBef>
                <a:spcPct val="50000"/>
              </a:spcBef>
              <a:buFont typeface="Wingdings" pitchFamily="2" charset="2"/>
              <a:buChar char="Ø"/>
            </a:pPr>
            <a:r>
              <a:rPr lang="en-US" sz="2400" dirty="0" smtClean="0">
                <a:solidFill>
                  <a:srgbClr val="FF00FF"/>
                </a:solidFill>
              </a:rPr>
              <a:t>Many </a:t>
            </a:r>
            <a:r>
              <a:rPr lang="en-US" sz="2400" dirty="0">
                <a:solidFill>
                  <a:srgbClr val="FF00FF"/>
                </a:solidFill>
              </a:rPr>
              <a:t>consecutive elements </a:t>
            </a:r>
            <a:r>
              <a:rPr lang="en-US" sz="2400" dirty="0">
                <a:solidFill>
                  <a:srgbClr val="FF0000"/>
                </a:solidFill>
              </a:rPr>
              <a:t>form groups </a:t>
            </a:r>
            <a:r>
              <a:rPr lang="en-US" sz="2400" dirty="0">
                <a:solidFill>
                  <a:srgbClr val="FF00FF"/>
                </a:solidFill>
              </a:rPr>
              <a:t>and it starts taking time to find a free slot or to search for an element</a:t>
            </a:r>
            <a:r>
              <a:rPr lang="en-US" sz="2400" dirty="0"/>
              <a:t>.</a:t>
            </a:r>
            <a:endParaRPr lang="en-US" sz="2400" dirty="0" smtClean="0"/>
          </a:p>
          <a:p>
            <a:pPr algn="just" eaLnBrk="1" hangingPunct="1">
              <a:spcBef>
                <a:spcPct val="50000"/>
              </a:spcBef>
              <a:buFont typeface="Wingdings" pitchFamily="2" charset="2"/>
              <a:buChar char="Ø"/>
            </a:pPr>
            <a:r>
              <a:rPr lang="en-US" sz="2400" dirty="0"/>
              <a:t>If </a:t>
            </a:r>
            <a:r>
              <a:rPr lang="en-US" sz="2400" dirty="0" smtClean="0"/>
              <a:t>h( </a:t>
            </a:r>
            <a:r>
              <a:rPr lang="en-US" sz="2400" dirty="0"/>
              <a:t>k ) falls in </a:t>
            </a:r>
            <a:r>
              <a:rPr lang="en-US" sz="2400" dirty="0" smtClean="0"/>
              <a:t>Cluster, </a:t>
            </a:r>
            <a:r>
              <a:rPr lang="en-US" sz="2400" dirty="0"/>
              <a:t>Cluster will </a:t>
            </a:r>
            <a:r>
              <a:rPr lang="en-US" sz="2400" b="1" dirty="0" smtClean="0"/>
              <a:t>definitely </a:t>
            </a:r>
            <a:r>
              <a:rPr lang="en-US" sz="2400" b="1" dirty="0"/>
              <a:t>grow in size by </a:t>
            </a:r>
            <a:r>
              <a:rPr lang="en-US" sz="2400" b="1" dirty="0" smtClean="0"/>
              <a:t>one</a:t>
            </a:r>
          </a:p>
          <a:p>
            <a:pPr algn="just" eaLnBrk="1" hangingPunct="1">
              <a:spcBef>
                <a:spcPct val="50000"/>
              </a:spcBef>
              <a:buFont typeface="Wingdings" pitchFamily="2" charset="2"/>
              <a:buChar char="Ø"/>
            </a:pPr>
            <a:r>
              <a:rPr lang="en-US" sz="2400" dirty="0"/>
              <a:t>If </a:t>
            </a:r>
            <a:r>
              <a:rPr lang="en-US" sz="2400" b="1" dirty="0"/>
              <a:t>two Cluster</a:t>
            </a:r>
            <a:r>
              <a:rPr lang="en-US" sz="2400" dirty="0"/>
              <a:t> separated by one entry, inserting one key into cluster can merge two cluster, So cluster size increase drastically by single </a:t>
            </a:r>
            <a:r>
              <a:rPr lang="en-US" sz="2400" dirty="0" smtClean="0"/>
              <a:t>insertion</a:t>
            </a:r>
          </a:p>
          <a:p>
            <a:pPr algn="just" eaLnBrk="1" hangingPunct="1">
              <a:spcBef>
                <a:spcPct val="50000"/>
              </a:spcBef>
              <a:buFont typeface="Wingdings" pitchFamily="2" charset="2"/>
              <a:buChar char="Ø"/>
            </a:pPr>
            <a:r>
              <a:rPr lang="en-US" sz="2400" dirty="0"/>
              <a:t>Large Cluster are easy </a:t>
            </a:r>
            <a:r>
              <a:rPr lang="en-US" sz="2400" b="1" dirty="0"/>
              <a:t>targets for </a:t>
            </a:r>
            <a:r>
              <a:rPr lang="en-US" sz="2400" b="1" dirty="0" smtClean="0"/>
              <a:t>Collision</a:t>
            </a:r>
            <a:endParaRPr lang="en-US" sz="2400" dirty="0"/>
          </a:p>
        </p:txBody>
      </p:sp>
      <p:sp>
        <p:nvSpPr>
          <p:cNvPr id="2" name="Slide Number Placeholder 1"/>
          <p:cNvSpPr>
            <a:spLocks noGrp="1"/>
          </p:cNvSpPr>
          <p:nvPr>
            <p:ph type="sldNum" sz="quarter" idx="12"/>
          </p:nvPr>
        </p:nvSpPr>
        <p:spPr/>
        <p:txBody>
          <a:bodyPr/>
          <a:lstStyle/>
          <a:p>
            <a:fld id="{DDE4AA30-DFC3-4E29-B54E-BC96FFE3FF90}" type="slidenum">
              <a:rPr lang="en-IN" smtClean="0"/>
              <a:t>30</a:t>
            </a:fld>
            <a:endParaRPr lang="en-IN"/>
          </a:p>
        </p:txBody>
      </p:sp>
    </p:spTree>
    <p:extLst>
      <p:ext uri="{BB962C8B-B14F-4D97-AF65-F5344CB8AC3E}">
        <p14:creationId xmlns:p14="http://schemas.microsoft.com/office/powerpoint/2010/main" val="2720346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ppt_x"/>
                                          </p:val>
                                        </p:tav>
                                        <p:tav tm="100000">
                                          <p:val>
                                            <p:strVal val="#ppt_x"/>
                                          </p:val>
                                        </p:tav>
                                      </p:tavLst>
                                    </p:anim>
                                    <p:anim calcmode="lin" valueType="num">
                                      <p:cBhvr additive="base">
                                        <p:cTn id="14"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435280" cy="5793507"/>
          </a:xfrm>
        </p:spPr>
        <p:txBody>
          <a:bodyPr>
            <a:normAutofit/>
          </a:bodyPr>
          <a:lstStyle/>
          <a:p>
            <a:pPr marL="0" indent="0">
              <a:buNone/>
            </a:pPr>
            <a:r>
              <a:rPr lang="en-IN" b="1" dirty="0" smtClean="0"/>
              <a:t>Drawbacks….</a:t>
            </a:r>
            <a:endParaRPr lang="en-IN" b="1" dirty="0"/>
          </a:p>
          <a:p>
            <a:pPr algn="just"/>
            <a:r>
              <a:rPr lang="en-US" dirty="0" smtClean="0"/>
              <a:t>As long as table is big enough, a free cell can always be found, but the time to do so can get quite large.</a:t>
            </a:r>
          </a:p>
          <a:p>
            <a:pPr algn="just"/>
            <a:r>
              <a:rPr lang="en-US" dirty="0" smtClean="0"/>
              <a:t>Any key that hashes into the cluster </a:t>
            </a:r>
            <a:r>
              <a:rPr lang="en-US" dirty="0" smtClean="0">
                <a:solidFill>
                  <a:srgbClr val="FF0000"/>
                </a:solidFill>
              </a:rPr>
              <a:t>will require several attempts to resolve the collision</a:t>
            </a:r>
            <a:r>
              <a:rPr lang="en-US" dirty="0" smtClean="0"/>
              <a:t>, and then it will add to the cluster</a:t>
            </a:r>
            <a:endParaRPr lang="en-IN" dirty="0"/>
          </a:p>
          <a:p>
            <a:pPr algn="just"/>
            <a:r>
              <a:rPr lang="en-IN" dirty="0"/>
              <a:t>So to avoid this we go for </a:t>
            </a:r>
            <a:r>
              <a:rPr lang="en-IN" b="1" dirty="0">
                <a:solidFill>
                  <a:srgbClr val="FF0000"/>
                </a:solidFill>
              </a:rPr>
              <a:t>quadrating probing</a:t>
            </a:r>
          </a:p>
          <a:p>
            <a:pPr marL="0" indent="0">
              <a:buNone/>
            </a:pPr>
            <a:r>
              <a:rPr lang="en-IN" dirty="0"/>
              <a:t> </a:t>
            </a:r>
          </a:p>
          <a:p>
            <a:endParaRPr lang="en-IN" dirty="0"/>
          </a:p>
        </p:txBody>
      </p:sp>
      <p:sp>
        <p:nvSpPr>
          <p:cNvPr id="2" name="Slide Number Placeholder 1"/>
          <p:cNvSpPr>
            <a:spLocks noGrp="1"/>
          </p:cNvSpPr>
          <p:nvPr>
            <p:ph type="sldNum" sz="quarter" idx="12"/>
          </p:nvPr>
        </p:nvSpPr>
        <p:spPr/>
        <p:txBody>
          <a:bodyPr/>
          <a:lstStyle/>
          <a:p>
            <a:fld id="{DDE4AA30-DFC3-4E29-B54E-BC96FFE3FF90}" type="slidenum">
              <a:rPr lang="en-IN" smtClean="0"/>
              <a:t>31</a:t>
            </a:fld>
            <a:endParaRPr lang="en-IN"/>
          </a:p>
        </p:txBody>
      </p:sp>
    </p:spTree>
    <p:extLst>
      <p:ext uri="{BB962C8B-B14F-4D97-AF65-F5344CB8AC3E}">
        <p14:creationId xmlns:p14="http://schemas.microsoft.com/office/powerpoint/2010/main" val="26875857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E270878-2B31-4FDB-97BD-F5722D126005}" type="slidenum">
              <a:rPr lang="en-US"/>
              <a:pPr/>
              <a:t>32</a:t>
            </a:fld>
            <a:endParaRPr lang="en-US"/>
          </a:p>
        </p:txBody>
      </p:sp>
      <p:sp>
        <p:nvSpPr>
          <p:cNvPr id="175106" name="Rectangle 2"/>
          <p:cNvSpPr>
            <a:spLocks noGrp="1" noChangeArrowheads="1"/>
          </p:cNvSpPr>
          <p:nvPr>
            <p:ph type="title"/>
          </p:nvPr>
        </p:nvSpPr>
        <p:spPr>
          <a:xfrm>
            <a:off x="251520" y="188640"/>
            <a:ext cx="8686800" cy="1085850"/>
          </a:xfrm>
        </p:spPr>
        <p:txBody>
          <a:bodyPr>
            <a:normAutofit/>
          </a:bodyPr>
          <a:lstStyle/>
          <a:p>
            <a:pPr algn="l"/>
            <a:r>
              <a:rPr lang="en-US" b="1" dirty="0" smtClean="0">
                <a:solidFill>
                  <a:srgbClr val="FF0000"/>
                </a:solidFill>
                <a:latin typeface="Times New Roman" panose="02020603050405020304" pitchFamily="18" charset="0"/>
                <a:cs typeface="Times New Roman" panose="02020603050405020304" pitchFamily="18" charset="0"/>
              </a:rPr>
              <a:t>Quadratic </a:t>
            </a:r>
            <a:r>
              <a:rPr lang="en-US" b="1" dirty="0">
                <a:solidFill>
                  <a:srgbClr val="FF0000"/>
                </a:solidFill>
                <a:latin typeface="Times New Roman" panose="02020603050405020304" pitchFamily="18" charset="0"/>
                <a:cs typeface="Times New Roman" panose="02020603050405020304" pitchFamily="18" charset="0"/>
              </a:rPr>
              <a:t>Probing</a:t>
            </a:r>
          </a:p>
        </p:txBody>
      </p:sp>
      <p:sp>
        <p:nvSpPr>
          <p:cNvPr id="175107" name="Rectangle 3"/>
          <p:cNvSpPr>
            <a:spLocks noGrp="1" noChangeArrowheads="1"/>
          </p:cNvSpPr>
          <p:nvPr>
            <p:ph type="body" idx="1"/>
          </p:nvPr>
        </p:nvSpPr>
        <p:spPr>
          <a:xfrm>
            <a:off x="533400" y="1268760"/>
            <a:ext cx="8382000" cy="4979640"/>
          </a:xfrm>
        </p:spPr>
        <p:txBody>
          <a:bodyPr>
            <a:normAutofit fontScale="92500" lnSpcReduction="10000"/>
          </a:bodyPr>
          <a:lstStyle/>
          <a:p>
            <a:pPr marL="0" indent="0">
              <a:buNone/>
            </a:pPr>
            <a:r>
              <a:rPr lang="en-IN" sz="2800" dirty="0">
                <a:latin typeface="Times New Roman" panose="02020603050405020304" pitchFamily="18" charset="0"/>
                <a:cs typeface="Times New Roman" panose="02020603050405020304" pitchFamily="18" charset="0"/>
              </a:rPr>
              <a:t> </a:t>
            </a:r>
          </a:p>
          <a:p>
            <a:r>
              <a:rPr lang="en-IN" sz="2800" b="1" dirty="0" smtClean="0">
                <a:latin typeface="Times New Roman" panose="02020603050405020304" pitchFamily="18" charset="0"/>
                <a:cs typeface="Times New Roman" panose="02020603050405020304" pitchFamily="18" charset="0"/>
              </a:rPr>
              <a:t>h(x</a:t>
            </a:r>
            <a:r>
              <a:rPr lang="en-IN" sz="2800" b="1" dirty="0">
                <a:latin typeface="Times New Roman" panose="02020603050405020304" pitchFamily="18" charset="0"/>
                <a:cs typeface="Times New Roman" panose="02020603050405020304" pitchFamily="18" charset="0"/>
              </a:rPr>
              <a:t>) =[ h(x) +f(</a:t>
            </a:r>
            <a:r>
              <a:rPr lang="en-IN" sz="2800" b="1" dirty="0" err="1">
                <a:latin typeface="Times New Roman" panose="02020603050405020304" pitchFamily="18" charset="0"/>
                <a:cs typeface="Times New Roman" panose="02020603050405020304" pitchFamily="18" charset="0"/>
              </a:rPr>
              <a:t>i</a:t>
            </a:r>
            <a:r>
              <a:rPr lang="en-IN" sz="2800" b="1" dirty="0">
                <a:latin typeface="Times New Roman" panose="02020603050405020304" pitchFamily="18" charset="0"/>
                <a:cs typeface="Times New Roman" panose="02020603050405020304" pitchFamily="18" charset="0"/>
              </a:rPr>
              <a:t>)] mod </a:t>
            </a:r>
            <a:r>
              <a:rPr lang="en-IN" sz="2800" b="1" dirty="0" err="1" smtClean="0">
                <a:latin typeface="Times New Roman" panose="02020603050405020304" pitchFamily="18" charset="0"/>
                <a:cs typeface="Times New Roman" panose="02020603050405020304" pitchFamily="18" charset="0"/>
              </a:rPr>
              <a:t>Table_size</a:t>
            </a:r>
            <a:endParaRPr lang="en-IN" sz="2800"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      </a:t>
            </a:r>
            <a:r>
              <a:rPr lang="en-IN" sz="2800" b="1" dirty="0">
                <a:solidFill>
                  <a:srgbClr val="FF0000"/>
                </a:solidFill>
                <a:latin typeface="Times New Roman" panose="02020603050405020304" pitchFamily="18" charset="0"/>
                <a:cs typeface="Times New Roman" panose="02020603050405020304" pitchFamily="18" charset="0"/>
              </a:rPr>
              <a:t>where </a:t>
            </a:r>
            <a:r>
              <a:rPr lang="en-IN" sz="2800" b="1" dirty="0" smtClean="0">
                <a:solidFill>
                  <a:srgbClr val="FF0000"/>
                </a:solidFill>
                <a:latin typeface="Times New Roman" panose="02020603050405020304" pitchFamily="18" charset="0"/>
                <a:cs typeface="Times New Roman" panose="02020603050405020304" pitchFamily="18" charset="0"/>
              </a:rPr>
              <a:t>f(</a:t>
            </a:r>
            <a:r>
              <a:rPr lang="en-IN" sz="2800" b="1" dirty="0" err="1" smtClean="0">
                <a:solidFill>
                  <a:srgbClr val="FF0000"/>
                </a:solidFill>
                <a:latin typeface="Times New Roman" panose="02020603050405020304" pitchFamily="18" charset="0"/>
                <a:cs typeface="Times New Roman" panose="02020603050405020304" pitchFamily="18" charset="0"/>
              </a:rPr>
              <a:t>i</a:t>
            </a:r>
            <a:r>
              <a:rPr lang="en-IN" sz="2800" b="1" dirty="0">
                <a:solidFill>
                  <a:srgbClr val="FF0000"/>
                </a:solidFill>
                <a:latin typeface="Times New Roman" panose="02020603050405020304" pitchFamily="18" charset="0"/>
                <a:cs typeface="Times New Roman" panose="02020603050405020304" pitchFamily="18" charset="0"/>
              </a:rPr>
              <a:t>)= i^2, </a:t>
            </a:r>
            <a:r>
              <a:rPr lang="en-IN" sz="2800" b="1" dirty="0">
                <a:latin typeface="Times New Roman" panose="02020603050405020304" pitchFamily="18" charset="0"/>
                <a:cs typeface="Times New Roman" panose="02020603050405020304" pitchFamily="18" charset="0"/>
              </a:rPr>
              <a:t>where </a:t>
            </a:r>
            <a:r>
              <a:rPr lang="en-IN" sz="2800" b="1" dirty="0" err="1">
                <a:latin typeface="Times New Roman" panose="02020603050405020304" pitchFamily="18" charset="0"/>
                <a:cs typeface="Times New Roman" panose="02020603050405020304" pitchFamily="18" charset="0"/>
              </a:rPr>
              <a:t>i</a:t>
            </a:r>
            <a:r>
              <a:rPr lang="en-IN" sz="2800" b="1" dirty="0">
                <a:latin typeface="Times New Roman" panose="02020603050405020304" pitchFamily="18" charset="0"/>
                <a:cs typeface="Times New Roman" panose="02020603050405020304" pitchFamily="18" charset="0"/>
              </a:rPr>
              <a:t> =0,1,2,3,…</a:t>
            </a:r>
            <a:endParaRPr lang="en-IN" sz="2800" dirty="0">
              <a:latin typeface="Times New Roman" panose="02020603050405020304" pitchFamily="18" charset="0"/>
              <a:cs typeface="Times New Roman" panose="02020603050405020304" pitchFamily="18" charset="0"/>
            </a:endParaRPr>
          </a:p>
          <a:p>
            <a:pPr marL="0" indent="0">
              <a:buNone/>
            </a:pPr>
            <a:r>
              <a:rPr lang="en-IN" sz="2800" dirty="0">
                <a:latin typeface="Times New Roman" panose="02020603050405020304" pitchFamily="18" charset="0"/>
                <a:cs typeface="Times New Roman" panose="02020603050405020304" pitchFamily="18" charset="0"/>
              </a:rPr>
              <a:t> </a:t>
            </a:r>
            <a:endParaRPr lang="en-IN"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Main Idea: Spread out the search for an empty slot – </a:t>
            </a:r>
            <a:br>
              <a:rPr lang="en-US" sz="2800" dirty="0" smtClean="0">
                <a:latin typeface="Times New Roman" panose="02020603050405020304" pitchFamily="18" charset="0"/>
                <a:cs typeface="Times New Roman" panose="02020603050405020304" pitchFamily="18" charset="0"/>
              </a:rPr>
            </a:br>
            <a:r>
              <a:rPr lang="en-US" sz="2800" dirty="0" smtClean="0">
                <a:solidFill>
                  <a:srgbClr val="0000FF"/>
                </a:solidFill>
                <a:latin typeface="Times New Roman" panose="02020603050405020304" pitchFamily="18" charset="0"/>
                <a:cs typeface="Times New Roman" panose="02020603050405020304" pitchFamily="18" charset="0"/>
              </a:rPr>
              <a:t>Increment by i</a:t>
            </a:r>
            <a:r>
              <a:rPr lang="en-US" sz="2800" baseline="30000" dirty="0" smtClean="0">
                <a:solidFill>
                  <a:srgbClr val="0000FF"/>
                </a:solidFill>
                <a:latin typeface="Times New Roman" panose="02020603050405020304" pitchFamily="18" charset="0"/>
                <a:cs typeface="Times New Roman" panose="02020603050405020304" pitchFamily="18" charset="0"/>
              </a:rPr>
              <a:t>2</a:t>
            </a:r>
            <a:r>
              <a:rPr lang="en-US" sz="2800" dirty="0" smtClean="0">
                <a:solidFill>
                  <a:srgbClr val="0000FF"/>
                </a:solidFill>
                <a:latin typeface="Times New Roman" panose="02020603050405020304" pitchFamily="18" charset="0"/>
                <a:cs typeface="Times New Roman" panose="02020603050405020304" pitchFamily="18" charset="0"/>
              </a:rPr>
              <a:t> instead of </a:t>
            </a:r>
            <a:r>
              <a:rPr lang="en-US" sz="2800" dirty="0" err="1" smtClean="0">
                <a:solidFill>
                  <a:srgbClr val="0000FF"/>
                </a:solidFill>
                <a:latin typeface="Times New Roman" panose="02020603050405020304" pitchFamily="18" charset="0"/>
                <a:cs typeface="Times New Roman" panose="02020603050405020304" pitchFamily="18" charset="0"/>
              </a:rPr>
              <a:t>i</a:t>
            </a:r>
            <a:r>
              <a:rPr lang="en-US" sz="2800" dirty="0" smtClean="0">
                <a:solidFill>
                  <a:srgbClr val="0000FF"/>
                </a:solidFill>
                <a:latin typeface="Times New Roman" panose="02020603050405020304" pitchFamily="18" charset="0"/>
                <a:cs typeface="Times New Roman" panose="02020603050405020304" pitchFamily="18" charset="0"/>
              </a:rPr>
              <a:t> </a:t>
            </a:r>
          </a:p>
          <a:p>
            <a:r>
              <a:rPr lang="en-US" sz="3000" b="1" dirty="0" smtClean="0">
                <a:solidFill>
                  <a:srgbClr val="FF0000"/>
                </a:solidFill>
                <a:latin typeface="Times New Roman" panose="02020603050405020304" pitchFamily="18" charset="0"/>
                <a:cs typeface="Times New Roman" panose="02020603050405020304" pitchFamily="18" charset="0"/>
              </a:rPr>
              <a:t>h</a:t>
            </a:r>
            <a:r>
              <a:rPr lang="en-US" sz="3000" b="1" baseline="-25000" dirty="0" smtClean="0">
                <a:solidFill>
                  <a:srgbClr val="FF0000"/>
                </a:solidFill>
                <a:latin typeface="Times New Roman" panose="02020603050405020304" pitchFamily="18" charset="0"/>
                <a:cs typeface="Times New Roman" panose="02020603050405020304" pitchFamily="18" charset="0"/>
              </a:rPr>
              <a:t>i</a:t>
            </a:r>
            <a:r>
              <a:rPr lang="en-US" sz="3000" b="1" dirty="0" smtClean="0">
                <a:solidFill>
                  <a:srgbClr val="FF0000"/>
                </a:solidFill>
                <a:latin typeface="Times New Roman" panose="02020603050405020304" pitchFamily="18" charset="0"/>
                <a:cs typeface="Times New Roman" panose="02020603050405020304" pitchFamily="18" charset="0"/>
              </a:rPr>
              <a:t>(X</a:t>
            </a:r>
            <a:r>
              <a:rPr lang="en-US" sz="3000" b="1" dirty="0">
                <a:solidFill>
                  <a:srgbClr val="FF0000"/>
                </a:solidFill>
                <a:latin typeface="Times New Roman" panose="02020603050405020304" pitchFamily="18" charset="0"/>
                <a:cs typeface="Times New Roman" panose="02020603050405020304" pitchFamily="18" charset="0"/>
              </a:rPr>
              <a:t>) = (Hash(X) + i</a:t>
            </a:r>
            <a:r>
              <a:rPr lang="en-US" sz="3000" b="1" baseline="30000" dirty="0">
                <a:solidFill>
                  <a:srgbClr val="FF0000"/>
                </a:solidFill>
                <a:latin typeface="Times New Roman" panose="02020603050405020304" pitchFamily="18" charset="0"/>
                <a:cs typeface="Times New Roman" panose="02020603050405020304" pitchFamily="18" charset="0"/>
              </a:rPr>
              <a:t>2</a:t>
            </a:r>
            <a:r>
              <a:rPr lang="en-US" sz="3000" b="1" dirty="0">
                <a:solidFill>
                  <a:srgbClr val="FF0000"/>
                </a:solidFill>
                <a:latin typeface="Times New Roman" panose="02020603050405020304" pitchFamily="18" charset="0"/>
                <a:cs typeface="Times New Roman" panose="02020603050405020304" pitchFamily="18" charset="0"/>
              </a:rPr>
              <a:t>) % </a:t>
            </a:r>
            <a:r>
              <a:rPr lang="en-US" sz="3000" b="1" i="1" dirty="0" smtClean="0">
                <a:solidFill>
                  <a:srgbClr val="FF0000"/>
                </a:solidFill>
                <a:latin typeface="Times New Roman" panose="02020603050405020304" pitchFamily="18" charset="0"/>
                <a:cs typeface="Times New Roman" panose="02020603050405020304" pitchFamily="18" charset="0"/>
              </a:rPr>
              <a:t>Table Size  , i=0,1,2,3…</a:t>
            </a:r>
            <a:r>
              <a:rPr lang="en-US" sz="3000" i="1" dirty="0" smtClean="0">
                <a:solidFill>
                  <a:srgbClr val="0000FF"/>
                </a:solidFill>
                <a:latin typeface="Times New Roman" panose="02020603050405020304" pitchFamily="18" charset="0"/>
                <a:cs typeface="Times New Roman" panose="02020603050405020304" pitchFamily="18" charset="0"/>
              </a:rPr>
              <a:t>..,</a:t>
            </a:r>
            <a:endParaRPr lang="en-US" sz="3000" i="1" dirty="0">
              <a:solidFill>
                <a:srgbClr val="0000FF"/>
              </a:solidFill>
              <a:latin typeface="Times New Roman" panose="02020603050405020304" pitchFamily="18" charset="0"/>
              <a:cs typeface="Times New Roman" panose="02020603050405020304" pitchFamily="18" charset="0"/>
            </a:endParaRPr>
          </a:p>
          <a:p>
            <a:pPr lvl="1">
              <a:buFontTx/>
              <a:buNone/>
            </a:pPr>
            <a:r>
              <a:rPr lang="en-US" sz="2600"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(X) = Hash(X) % </a:t>
            </a:r>
            <a:r>
              <a:rPr lang="en-US" sz="2600" dirty="0" smtClean="0">
                <a:latin typeface="Times New Roman" panose="02020603050405020304" pitchFamily="18" charset="0"/>
                <a:cs typeface="Times New Roman" panose="02020603050405020304" pitchFamily="18" charset="0"/>
              </a:rPr>
              <a:t>Table Size  </a:t>
            </a:r>
            <a:endParaRPr lang="en-US" sz="2600" dirty="0">
              <a:latin typeface="Times New Roman" panose="02020603050405020304" pitchFamily="18" charset="0"/>
              <a:cs typeface="Times New Roman" panose="02020603050405020304" pitchFamily="18" charset="0"/>
            </a:endParaRPr>
          </a:p>
          <a:p>
            <a:pPr lvl="1">
              <a:buFontTx/>
              <a:buNone/>
            </a:pPr>
            <a:r>
              <a:rPr lang="en-US" sz="2600"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(X) = </a:t>
            </a:r>
            <a:r>
              <a:rPr lang="en-US" sz="2600" dirty="0" smtClean="0">
                <a:latin typeface="Times New Roman" panose="02020603050405020304" pitchFamily="18" charset="0"/>
                <a:cs typeface="Times New Roman" panose="02020603050405020304" pitchFamily="18" charset="0"/>
              </a:rPr>
              <a:t>[Hash(X</a:t>
            </a:r>
            <a:r>
              <a:rPr lang="en-US" sz="2600" dirty="0">
                <a:latin typeface="Times New Roman" panose="02020603050405020304" pitchFamily="18" charset="0"/>
                <a:cs typeface="Times New Roman" panose="02020603050405020304" pitchFamily="18" charset="0"/>
              </a:rPr>
              <a:t>) + </a:t>
            </a:r>
            <a:r>
              <a:rPr lang="en-US" sz="2600" dirty="0" smtClean="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Table Size</a:t>
            </a:r>
            <a:endParaRPr lang="en-US" sz="2600" dirty="0">
              <a:latin typeface="Times New Roman" panose="02020603050405020304" pitchFamily="18" charset="0"/>
              <a:cs typeface="Times New Roman" panose="02020603050405020304" pitchFamily="18" charset="0"/>
            </a:endParaRPr>
          </a:p>
          <a:p>
            <a:pPr lvl="1">
              <a:buFontTx/>
              <a:buNone/>
            </a:pPr>
            <a:r>
              <a:rPr lang="en-US" sz="2600"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(X) = </a:t>
            </a:r>
            <a:r>
              <a:rPr lang="en-US" sz="2600" dirty="0" smtClean="0">
                <a:latin typeface="Times New Roman" panose="02020603050405020304" pitchFamily="18" charset="0"/>
                <a:cs typeface="Times New Roman" panose="02020603050405020304" pitchFamily="18" charset="0"/>
              </a:rPr>
              <a:t>[Hash(X</a:t>
            </a:r>
            <a:r>
              <a:rPr lang="en-US" sz="2600" dirty="0">
                <a:latin typeface="Times New Roman" panose="02020603050405020304" pitchFamily="18" charset="0"/>
                <a:cs typeface="Times New Roman" panose="02020603050405020304" pitchFamily="18" charset="0"/>
              </a:rPr>
              <a:t>) + </a:t>
            </a:r>
            <a:r>
              <a:rPr lang="en-US" sz="2600" dirty="0" smtClean="0">
                <a:latin typeface="Times New Roman" panose="02020603050405020304" pitchFamily="18" charset="0"/>
                <a:cs typeface="Times New Roman" panose="02020603050405020304" pitchFamily="18" charset="0"/>
              </a:rPr>
              <a:t>4] </a:t>
            </a:r>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Table Size</a:t>
            </a:r>
            <a:endParaRPr lang="en-US" sz="2600" dirty="0">
              <a:latin typeface="Times New Roman" panose="02020603050405020304" pitchFamily="18" charset="0"/>
              <a:cs typeface="Times New Roman" panose="02020603050405020304" pitchFamily="18" charset="0"/>
            </a:endParaRPr>
          </a:p>
          <a:p>
            <a:pPr lvl="1">
              <a:buFontTx/>
              <a:buNone/>
            </a:pPr>
            <a:r>
              <a:rPr lang="en-US" sz="2600"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(X) = </a:t>
            </a:r>
            <a:r>
              <a:rPr lang="en-US" sz="2600" dirty="0" smtClean="0">
                <a:latin typeface="Times New Roman" panose="02020603050405020304" pitchFamily="18" charset="0"/>
                <a:cs typeface="Times New Roman" panose="02020603050405020304" pitchFamily="18" charset="0"/>
              </a:rPr>
              <a:t>[Hash(X</a:t>
            </a:r>
            <a:r>
              <a:rPr lang="en-US" sz="2600" dirty="0">
                <a:latin typeface="Times New Roman" panose="02020603050405020304" pitchFamily="18" charset="0"/>
                <a:cs typeface="Times New Roman" panose="02020603050405020304" pitchFamily="18" charset="0"/>
              </a:rPr>
              <a:t>) + </a:t>
            </a:r>
            <a:r>
              <a:rPr lang="en-US" sz="2600" dirty="0" smtClean="0">
                <a:latin typeface="Times New Roman" panose="02020603050405020304" pitchFamily="18" charset="0"/>
                <a:cs typeface="Times New Roman" panose="02020603050405020304" pitchFamily="18" charset="0"/>
              </a:rPr>
              <a:t>9] </a:t>
            </a:r>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Table Size</a:t>
            </a:r>
            <a:endParaRPr lang="en-US" sz="26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073444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5"/>
          <p:cNvSpPr>
            <a:spLocks noGrp="1"/>
          </p:cNvSpPr>
          <p:nvPr>
            <p:ph type="sldNum" sz="quarter" idx="12"/>
          </p:nvPr>
        </p:nvSpPr>
        <p:spPr/>
        <p:txBody>
          <a:bodyPr/>
          <a:lstStyle/>
          <a:p>
            <a:fld id="{804E7114-DAE7-429C-B9D2-6A64F129DEE2}" type="slidenum">
              <a:rPr lang="en-US"/>
              <a:pPr/>
              <a:t>33</a:t>
            </a:fld>
            <a:endParaRPr lang="en-US"/>
          </a:p>
        </p:txBody>
      </p:sp>
      <p:sp>
        <p:nvSpPr>
          <p:cNvPr id="176130" name="Rectangle 2"/>
          <p:cNvSpPr>
            <a:spLocks noGrp="1" noChangeArrowheads="1"/>
          </p:cNvSpPr>
          <p:nvPr>
            <p:ph type="title"/>
          </p:nvPr>
        </p:nvSpPr>
        <p:spPr>
          <a:xfrm>
            <a:off x="676300" y="188640"/>
            <a:ext cx="7486600" cy="1165498"/>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Quadratic </a:t>
            </a:r>
            <a:r>
              <a:rPr lang="en-US" sz="3600" b="1" dirty="0">
                <a:solidFill>
                  <a:srgbClr val="FF0000"/>
                </a:solidFill>
                <a:latin typeface="Times New Roman" panose="02020603050405020304" pitchFamily="18" charset="0"/>
                <a:cs typeface="Times New Roman" panose="02020603050405020304" pitchFamily="18" charset="0"/>
              </a:rPr>
              <a:t>Probing </a:t>
            </a:r>
            <a:r>
              <a:rPr lang="en-US" b="1" dirty="0" smtClean="0">
                <a:solidFill>
                  <a:srgbClr val="FF0000"/>
                </a:solidFill>
                <a:latin typeface="Times New Roman" panose="02020603050405020304" pitchFamily="18" charset="0"/>
                <a:cs typeface="Times New Roman" panose="02020603050405020304" pitchFamily="18" charset="0"/>
              </a:rPr>
              <a:t/>
            </a:r>
            <a:br>
              <a:rPr lang="en-US" b="1" dirty="0" smtClean="0">
                <a:solidFill>
                  <a:srgbClr val="FF0000"/>
                </a:solidFill>
                <a:latin typeface="Times New Roman" panose="02020603050405020304" pitchFamily="18" charset="0"/>
                <a:cs typeface="Times New Roman" panose="02020603050405020304" pitchFamily="18" charset="0"/>
              </a:rPr>
            </a:br>
            <a:r>
              <a:rPr lang="en-US" sz="2700" b="1" dirty="0" smtClean="0">
                <a:solidFill>
                  <a:srgbClr val="FF0000"/>
                </a:solidFill>
                <a:latin typeface="Times New Roman" panose="02020603050405020304" pitchFamily="18" charset="0"/>
                <a:cs typeface="Times New Roman" panose="02020603050405020304" pitchFamily="18" charset="0"/>
              </a:rPr>
              <a:t>Example</a:t>
            </a:r>
            <a:r>
              <a:rPr lang="en-US" sz="2700" b="1" dirty="0">
                <a:solidFill>
                  <a:srgbClr val="FF0000"/>
                </a:solidFill>
                <a:latin typeface="Times New Roman" panose="02020603050405020304" pitchFamily="18" charset="0"/>
                <a:cs typeface="Times New Roman" panose="02020603050405020304" pitchFamily="18" charset="0"/>
              </a:rPr>
              <a:t>:  insert </a:t>
            </a:r>
            <a:r>
              <a:rPr lang="en-US" sz="2700" b="1" dirty="0" smtClean="0">
                <a:solidFill>
                  <a:srgbClr val="FF0000"/>
                </a:solidFill>
                <a:latin typeface="Times New Roman" panose="02020603050405020304" pitchFamily="18" charset="0"/>
                <a:cs typeface="Times New Roman" panose="02020603050405020304" pitchFamily="18" charset="0"/>
              </a:rPr>
              <a:t>14,8,21,2,7 </a:t>
            </a:r>
            <a:r>
              <a:rPr lang="en-US" sz="2700" b="1" dirty="0">
                <a:solidFill>
                  <a:srgbClr val="FF0000"/>
                </a:solidFill>
                <a:latin typeface="Times New Roman" panose="02020603050405020304" pitchFamily="18" charset="0"/>
                <a:cs typeface="Times New Roman" panose="02020603050405020304" pitchFamily="18" charset="0"/>
              </a:rPr>
              <a:t>with size m=7</a:t>
            </a:r>
          </a:p>
        </p:txBody>
      </p:sp>
      <p:sp>
        <p:nvSpPr>
          <p:cNvPr id="176131"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76132" name="Rectangle 4"/>
          <p:cNvSpPr>
            <a:spLocks noChangeArrowheads="1"/>
          </p:cNvSpPr>
          <p:nvPr/>
        </p:nvSpPr>
        <p:spPr bwMode="auto">
          <a:xfrm>
            <a:off x="2152650"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14</a:t>
            </a:r>
          </a:p>
        </p:txBody>
      </p:sp>
      <p:sp>
        <p:nvSpPr>
          <p:cNvPr id="176133" name="Rectangle 5"/>
          <p:cNvSpPr>
            <a:spLocks noChangeArrowheads="1"/>
          </p:cNvSpPr>
          <p:nvPr/>
        </p:nvSpPr>
        <p:spPr bwMode="auto">
          <a:xfrm>
            <a:off x="2152650"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4" name="Rectangle 6"/>
          <p:cNvSpPr>
            <a:spLocks noChangeArrowheads="1"/>
          </p:cNvSpPr>
          <p:nvPr/>
        </p:nvSpPr>
        <p:spPr bwMode="auto">
          <a:xfrm>
            <a:off x="2152650"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5" name="Rectangle 7"/>
          <p:cNvSpPr>
            <a:spLocks noChangeArrowheads="1"/>
          </p:cNvSpPr>
          <p:nvPr/>
        </p:nvSpPr>
        <p:spPr bwMode="auto">
          <a:xfrm>
            <a:off x="2152650"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6" name="Rectangle 8"/>
          <p:cNvSpPr>
            <a:spLocks noChangeArrowheads="1"/>
          </p:cNvSpPr>
          <p:nvPr/>
        </p:nvSpPr>
        <p:spPr bwMode="auto">
          <a:xfrm>
            <a:off x="2152650"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7" name="Rectangle 9"/>
          <p:cNvSpPr>
            <a:spLocks noChangeArrowheads="1"/>
          </p:cNvSpPr>
          <p:nvPr/>
        </p:nvSpPr>
        <p:spPr bwMode="auto">
          <a:xfrm>
            <a:off x="2152650"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38" name="Rectangle 10"/>
          <p:cNvSpPr>
            <a:spLocks noChangeArrowheads="1"/>
          </p:cNvSpPr>
          <p:nvPr/>
        </p:nvSpPr>
        <p:spPr bwMode="auto">
          <a:xfrm>
            <a:off x="2152650"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9" name="Text Box 11"/>
          <p:cNvSpPr txBox="1">
            <a:spLocks noChangeArrowheads="1"/>
          </p:cNvSpPr>
          <p:nvPr/>
        </p:nvSpPr>
        <p:spPr bwMode="auto">
          <a:xfrm>
            <a:off x="1916113"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40" name="Text Box 12"/>
          <p:cNvSpPr txBox="1">
            <a:spLocks noChangeArrowheads="1"/>
          </p:cNvSpPr>
          <p:nvPr/>
        </p:nvSpPr>
        <p:spPr bwMode="auto">
          <a:xfrm>
            <a:off x="1916113"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41" name="Text Box 13"/>
          <p:cNvSpPr txBox="1">
            <a:spLocks noChangeArrowheads="1"/>
          </p:cNvSpPr>
          <p:nvPr/>
        </p:nvSpPr>
        <p:spPr bwMode="auto">
          <a:xfrm>
            <a:off x="1916113"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42" name="Text Box 14"/>
          <p:cNvSpPr txBox="1">
            <a:spLocks noChangeArrowheads="1"/>
          </p:cNvSpPr>
          <p:nvPr/>
        </p:nvSpPr>
        <p:spPr bwMode="auto">
          <a:xfrm>
            <a:off x="1916113"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43" name="Text Box 15"/>
          <p:cNvSpPr txBox="1">
            <a:spLocks noChangeArrowheads="1"/>
          </p:cNvSpPr>
          <p:nvPr/>
        </p:nvSpPr>
        <p:spPr bwMode="auto">
          <a:xfrm>
            <a:off x="1909763"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44" name="Text Box 16"/>
          <p:cNvSpPr txBox="1">
            <a:spLocks noChangeArrowheads="1"/>
          </p:cNvSpPr>
          <p:nvPr/>
        </p:nvSpPr>
        <p:spPr bwMode="auto">
          <a:xfrm>
            <a:off x="1909763"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45" name="Text Box 17"/>
          <p:cNvSpPr txBox="1">
            <a:spLocks noChangeArrowheads="1"/>
          </p:cNvSpPr>
          <p:nvPr/>
        </p:nvSpPr>
        <p:spPr bwMode="auto">
          <a:xfrm>
            <a:off x="1909763"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46" name="Text Box 18"/>
          <p:cNvSpPr txBox="1">
            <a:spLocks noChangeArrowheads="1"/>
          </p:cNvSpPr>
          <p:nvPr/>
        </p:nvSpPr>
        <p:spPr bwMode="auto">
          <a:xfrm>
            <a:off x="1711325" y="13589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14</a:t>
            </a:r>
            <a:r>
              <a:rPr lang="en-US" dirty="0"/>
              <a:t>)</a:t>
            </a:r>
          </a:p>
          <a:p>
            <a:pPr eaLnBrk="0" hangingPunct="0"/>
            <a:r>
              <a:rPr lang="en-US" sz="2000" dirty="0"/>
              <a:t>14%7 = 0</a:t>
            </a:r>
          </a:p>
        </p:txBody>
      </p:sp>
      <p:sp>
        <p:nvSpPr>
          <p:cNvPr id="176147" name="Text Box 19"/>
          <p:cNvSpPr txBox="1">
            <a:spLocks noChangeArrowheads="1"/>
          </p:cNvSpPr>
          <p:nvPr/>
        </p:nvSpPr>
        <p:spPr bwMode="auto">
          <a:xfrm>
            <a:off x="2257425"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48" name="Rectangle 20"/>
          <p:cNvSpPr>
            <a:spLocks noChangeArrowheads="1"/>
          </p:cNvSpPr>
          <p:nvPr/>
        </p:nvSpPr>
        <p:spPr bwMode="auto">
          <a:xfrm>
            <a:off x="3565525"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14</a:t>
            </a:r>
          </a:p>
        </p:txBody>
      </p:sp>
      <p:sp>
        <p:nvSpPr>
          <p:cNvPr id="176149" name="Rectangle 21"/>
          <p:cNvSpPr>
            <a:spLocks noChangeArrowheads="1"/>
          </p:cNvSpPr>
          <p:nvPr/>
        </p:nvSpPr>
        <p:spPr bwMode="auto">
          <a:xfrm>
            <a:off x="3565525"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8</a:t>
            </a:r>
          </a:p>
        </p:txBody>
      </p:sp>
      <p:sp>
        <p:nvSpPr>
          <p:cNvPr id="176150" name="Rectangle 22"/>
          <p:cNvSpPr>
            <a:spLocks noChangeArrowheads="1"/>
          </p:cNvSpPr>
          <p:nvPr/>
        </p:nvSpPr>
        <p:spPr bwMode="auto">
          <a:xfrm>
            <a:off x="3565525"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1" name="Rectangle 23"/>
          <p:cNvSpPr>
            <a:spLocks noChangeArrowheads="1"/>
          </p:cNvSpPr>
          <p:nvPr/>
        </p:nvSpPr>
        <p:spPr bwMode="auto">
          <a:xfrm>
            <a:off x="3565525"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52" name="Rectangle 24"/>
          <p:cNvSpPr>
            <a:spLocks noChangeArrowheads="1"/>
          </p:cNvSpPr>
          <p:nvPr/>
        </p:nvSpPr>
        <p:spPr bwMode="auto">
          <a:xfrm>
            <a:off x="3565525"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3" name="Rectangle 25"/>
          <p:cNvSpPr>
            <a:spLocks noChangeArrowheads="1"/>
          </p:cNvSpPr>
          <p:nvPr/>
        </p:nvSpPr>
        <p:spPr bwMode="auto">
          <a:xfrm>
            <a:off x="3565525"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4" name="Text Box 26"/>
          <p:cNvSpPr txBox="1">
            <a:spLocks noChangeArrowheads="1"/>
          </p:cNvSpPr>
          <p:nvPr/>
        </p:nvSpPr>
        <p:spPr bwMode="auto">
          <a:xfrm>
            <a:off x="3327400"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55" name="Text Box 27"/>
          <p:cNvSpPr txBox="1">
            <a:spLocks noChangeArrowheads="1"/>
          </p:cNvSpPr>
          <p:nvPr/>
        </p:nvSpPr>
        <p:spPr bwMode="auto">
          <a:xfrm>
            <a:off x="3327400"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56" name="Text Box 28"/>
          <p:cNvSpPr txBox="1">
            <a:spLocks noChangeArrowheads="1"/>
          </p:cNvSpPr>
          <p:nvPr/>
        </p:nvSpPr>
        <p:spPr bwMode="auto">
          <a:xfrm>
            <a:off x="3327400"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57" name="Text Box 29"/>
          <p:cNvSpPr txBox="1">
            <a:spLocks noChangeArrowheads="1"/>
          </p:cNvSpPr>
          <p:nvPr/>
        </p:nvSpPr>
        <p:spPr bwMode="auto">
          <a:xfrm>
            <a:off x="3327400"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58" name="Text Box 30"/>
          <p:cNvSpPr txBox="1">
            <a:spLocks noChangeArrowheads="1"/>
          </p:cNvSpPr>
          <p:nvPr/>
        </p:nvSpPr>
        <p:spPr bwMode="auto">
          <a:xfrm>
            <a:off x="3321050"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59" name="Text Box 31"/>
          <p:cNvSpPr txBox="1">
            <a:spLocks noChangeArrowheads="1"/>
          </p:cNvSpPr>
          <p:nvPr/>
        </p:nvSpPr>
        <p:spPr bwMode="auto">
          <a:xfrm>
            <a:off x="3321050"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60" name="Text Box 32"/>
          <p:cNvSpPr txBox="1">
            <a:spLocks noChangeArrowheads="1"/>
          </p:cNvSpPr>
          <p:nvPr/>
        </p:nvSpPr>
        <p:spPr bwMode="auto">
          <a:xfrm>
            <a:off x="3321050"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61" name="Text Box 33"/>
          <p:cNvSpPr txBox="1">
            <a:spLocks noChangeArrowheads="1"/>
          </p:cNvSpPr>
          <p:nvPr/>
        </p:nvSpPr>
        <p:spPr bwMode="auto">
          <a:xfrm>
            <a:off x="3203575" y="13589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76162" name="Text Box 34"/>
          <p:cNvSpPr txBox="1">
            <a:spLocks noChangeArrowheads="1"/>
          </p:cNvSpPr>
          <p:nvPr/>
        </p:nvSpPr>
        <p:spPr bwMode="auto">
          <a:xfrm>
            <a:off x="3668713"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63" name="Rectangle 35"/>
          <p:cNvSpPr>
            <a:spLocks noChangeArrowheads="1"/>
          </p:cNvSpPr>
          <p:nvPr/>
        </p:nvSpPr>
        <p:spPr bwMode="auto">
          <a:xfrm>
            <a:off x="4983163" y="216852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14</a:t>
            </a:r>
          </a:p>
        </p:txBody>
      </p:sp>
      <p:sp>
        <p:nvSpPr>
          <p:cNvPr id="176164" name="Rectangle 36"/>
          <p:cNvSpPr>
            <a:spLocks noChangeArrowheads="1"/>
          </p:cNvSpPr>
          <p:nvPr/>
        </p:nvSpPr>
        <p:spPr bwMode="auto">
          <a:xfrm>
            <a:off x="4983163" y="268922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8</a:t>
            </a:r>
          </a:p>
        </p:txBody>
      </p:sp>
      <p:sp>
        <p:nvSpPr>
          <p:cNvPr id="176165" name="Rectangle 37"/>
          <p:cNvSpPr>
            <a:spLocks noChangeArrowheads="1"/>
          </p:cNvSpPr>
          <p:nvPr/>
        </p:nvSpPr>
        <p:spPr bwMode="auto">
          <a:xfrm>
            <a:off x="4983163" y="320675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6" name="Rectangle 38"/>
          <p:cNvSpPr>
            <a:spLocks noChangeArrowheads="1"/>
          </p:cNvSpPr>
          <p:nvPr/>
        </p:nvSpPr>
        <p:spPr bwMode="auto">
          <a:xfrm>
            <a:off x="4983163" y="425450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dirty="0"/>
              <a:t>21</a:t>
            </a:r>
          </a:p>
        </p:txBody>
      </p:sp>
      <p:sp>
        <p:nvSpPr>
          <p:cNvPr id="176167" name="Rectangle 39"/>
          <p:cNvSpPr>
            <a:spLocks noChangeArrowheads="1"/>
          </p:cNvSpPr>
          <p:nvPr/>
        </p:nvSpPr>
        <p:spPr bwMode="auto">
          <a:xfrm>
            <a:off x="4983163" y="529431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8" name="Rectangle 40"/>
          <p:cNvSpPr>
            <a:spLocks noChangeArrowheads="1"/>
          </p:cNvSpPr>
          <p:nvPr/>
        </p:nvSpPr>
        <p:spPr bwMode="auto">
          <a:xfrm>
            <a:off x="4983163" y="373380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9" name="Text Box 41"/>
          <p:cNvSpPr txBox="1">
            <a:spLocks noChangeArrowheads="1"/>
          </p:cNvSpPr>
          <p:nvPr/>
        </p:nvSpPr>
        <p:spPr bwMode="auto">
          <a:xfrm>
            <a:off x="4746625"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70" name="Text Box 42"/>
          <p:cNvSpPr txBox="1">
            <a:spLocks noChangeArrowheads="1"/>
          </p:cNvSpPr>
          <p:nvPr/>
        </p:nvSpPr>
        <p:spPr bwMode="auto">
          <a:xfrm>
            <a:off x="4746625"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71" name="Text Box 43"/>
          <p:cNvSpPr txBox="1">
            <a:spLocks noChangeArrowheads="1"/>
          </p:cNvSpPr>
          <p:nvPr/>
        </p:nvSpPr>
        <p:spPr bwMode="auto">
          <a:xfrm>
            <a:off x="4746625"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72" name="Text Box 44"/>
          <p:cNvSpPr txBox="1">
            <a:spLocks noChangeArrowheads="1"/>
          </p:cNvSpPr>
          <p:nvPr/>
        </p:nvSpPr>
        <p:spPr bwMode="auto">
          <a:xfrm>
            <a:off x="4746625"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73" name="Text Box 45"/>
          <p:cNvSpPr txBox="1">
            <a:spLocks noChangeArrowheads="1"/>
          </p:cNvSpPr>
          <p:nvPr/>
        </p:nvSpPr>
        <p:spPr bwMode="auto">
          <a:xfrm>
            <a:off x="4740275"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74" name="Text Box 46"/>
          <p:cNvSpPr txBox="1">
            <a:spLocks noChangeArrowheads="1"/>
          </p:cNvSpPr>
          <p:nvPr/>
        </p:nvSpPr>
        <p:spPr bwMode="auto">
          <a:xfrm>
            <a:off x="4740275"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75" name="Text Box 47"/>
          <p:cNvSpPr txBox="1">
            <a:spLocks noChangeArrowheads="1"/>
          </p:cNvSpPr>
          <p:nvPr/>
        </p:nvSpPr>
        <p:spPr bwMode="auto">
          <a:xfrm>
            <a:off x="4740275"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76" name="Text Box 48"/>
          <p:cNvSpPr txBox="1">
            <a:spLocks noChangeArrowheads="1"/>
          </p:cNvSpPr>
          <p:nvPr/>
        </p:nvSpPr>
        <p:spPr bwMode="auto">
          <a:xfrm>
            <a:off x="4545013" y="13589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21</a:t>
            </a:r>
            <a:r>
              <a:rPr lang="en-US"/>
              <a:t>)</a:t>
            </a:r>
          </a:p>
          <a:p>
            <a:pPr eaLnBrk="0" hangingPunct="0"/>
            <a:r>
              <a:rPr lang="en-US" sz="2000"/>
              <a:t>21%7 =0</a:t>
            </a:r>
          </a:p>
        </p:txBody>
      </p:sp>
      <p:sp>
        <p:nvSpPr>
          <p:cNvPr id="176177" name="Text Box 49"/>
          <p:cNvSpPr txBox="1">
            <a:spLocks noChangeArrowheads="1"/>
          </p:cNvSpPr>
          <p:nvPr/>
        </p:nvSpPr>
        <p:spPr bwMode="auto">
          <a:xfrm>
            <a:off x="5087938"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3</a:t>
            </a:r>
          </a:p>
        </p:txBody>
      </p:sp>
      <p:sp>
        <p:nvSpPr>
          <p:cNvPr id="176178" name="Rectangle 50"/>
          <p:cNvSpPr>
            <a:spLocks noChangeArrowheads="1"/>
          </p:cNvSpPr>
          <p:nvPr/>
        </p:nvSpPr>
        <p:spPr bwMode="auto">
          <a:xfrm>
            <a:off x="6400800"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6179" name="Rectangle 51"/>
          <p:cNvSpPr>
            <a:spLocks noChangeArrowheads="1"/>
          </p:cNvSpPr>
          <p:nvPr/>
        </p:nvSpPr>
        <p:spPr bwMode="auto">
          <a:xfrm>
            <a:off x="6400800"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6180" name="Rectangle 52"/>
          <p:cNvSpPr>
            <a:spLocks noChangeArrowheads="1"/>
          </p:cNvSpPr>
          <p:nvPr/>
        </p:nvSpPr>
        <p:spPr bwMode="auto">
          <a:xfrm>
            <a:off x="6400800"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6181" name="Rectangle 53"/>
          <p:cNvSpPr>
            <a:spLocks noChangeArrowheads="1"/>
          </p:cNvSpPr>
          <p:nvPr/>
        </p:nvSpPr>
        <p:spPr bwMode="auto">
          <a:xfrm>
            <a:off x="6400800"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2" name="Rectangle 54"/>
          <p:cNvSpPr>
            <a:spLocks noChangeArrowheads="1"/>
          </p:cNvSpPr>
          <p:nvPr/>
        </p:nvSpPr>
        <p:spPr bwMode="auto">
          <a:xfrm>
            <a:off x="6400800"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3" name="Rectangle 55"/>
          <p:cNvSpPr>
            <a:spLocks noChangeArrowheads="1"/>
          </p:cNvSpPr>
          <p:nvPr/>
        </p:nvSpPr>
        <p:spPr bwMode="auto">
          <a:xfrm>
            <a:off x="6400800"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4" name="Text Box 56"/>
          <p:cNvSpPr txBox="1">
            <a:spLocks noChangeArrowheads="1"/>
          </p:cNvSpPr>
          <p:nvPr/>
        </p:nvSpPr>
        <p:spPr bwMode="auto">
          <a:xfrm>
            <a:off x="6162675"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85" name="Text Box 57"/>
          <p:cNvSpPr txBox="1">
            <a:spLocks noChangeArrowheads="1"/>
          </p:cNvSpPr>
          <p:nvPr/>
        </p:nvSpPr>
        <p:spPr bwMode="auto">
          <a:xfrm>
            <a:off x="6162675"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86" name="Text Box 58"/>
          <p:cNvSpPr txBox="1">
            <a:spLocks noChangeArrowheads="1"/>
          </p:cNvSpPr>
          <p:nvPr/>
        </p:nvSpPr>
        <p:spPr bwMode="auto">
          <a:xfrm>
            <a:off x="6162675"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87" name="Text Box 59"/>
          <p:cNvSpPr txBox="1">
            <a:spLocks noChangeArrowheads="1"/>
          </p:cNvSpPr>
          <p:nvPr/>
        </p:nvSpPr>
        <p:spPr bwMode="auto">
          <a:xfrm>
            <a:off x="6162675"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88" name="Text Box 60"/>
          <p:cNvSpPr txBox="1">
            <a:spLocks noChangeArrowheads="1"/>
          </p:cNvSpPr>
          <p:nvPr/>
        </p:nvSpPr>
        <p:spPr bwMode="auto">
          <a:xfrm>
            <a:off x="6157913"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89" name="Text Box 61"/>
          <p:cNvSpPr txBox="1">
            <a:spLocks noChangeArrowheads="1"/>
          </p:cNvSpPr>
          <p:nvPr/>
        </p:nvSpPr>
        <p:spPr bwMode="auto">
          <a:xfrm>
            <a:off x="6157913"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90" name="Text Box 62"/>
          <p:cNvSpPr txBox="1">
            <a:spLocks noChangeArrowheads="1"/>
          </p:cNvSpPr>
          <p:nvPr/>
        </p:nvSpPr>
        <p:spPr bwMode="auto">
          <a:xfrm>
            <a:off x="6157913"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91" name="Text Box 63"/>
          <p:cNvSpPr txBox="1">
            <a:spLocks noChangeArrowheads="1"/>
          </p:cNvSpPr>
          <p:nvPr/>
        </p:nvSpPr>
        <p:spPr bwMode="auto">
          <a:xfrm>
            <a:off x="6038850" y="13589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a:t>
            </a:r>
            <a:r>
              <a:rPr lang="en-US" dirty="0"/>
              <a:t>)</a:t>
            </a:r>
          </a:p>
          <a:p>
            <a:pPr eaLnBrk="0" hangingPunct="0"/>
            <a:r>
              <a:rPr lang="en-US" sz="2000" dirty="0"/>
              <a:t>2%7 = 2</a:t>
            </a:r>
          </a:p>
        </p:txBody>
      </p:sp>
      <p:sp>
        <p:nvSpPr>
          <p:cNvPr id="176192" name="Text Box 64"/>
          <p:cNvSpPr txBox="1">
            <a:spLocks noChangeArrowheads="1"/>
          </p:cNvSpPr>
          <p:nvPr/>
        </p:nvSpPr>
        <p:spPr bwMode="auto">
          <a:xfrm>
            <a:off x="6505575"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93" name="Rectangle 65"/>
          <p:cNvSpPr>
            <a:spLocks noChangeArrowheads="1"/>
          </p:cNvSpPr>
          <p:nvPr/>
        </p:nvSpPr>
        <p:spPr bwMode="auto">
          <a:xfrm>
            <a:off x="3565525"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94" name="Rectangle 66"/>
          <p:cNvSpPr>
            <a:spLocks noChangeArrowheads="1"/>
          </p:cNvSpPr>
          <p:nvPr/>
        </p:nvSpPr>
        <p:spPr bwMode="auto">
          <a:xfrm>
            <a:off x="4983163" y="477520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95" name="Rectangle 67"/>
          <p:cNvSpPr>
            <a:spLocks noChangeArrowheads="1"/>
          </p:cNvSpPr>
          <p:nvPr/>
        </p:nvSpPr>
        <p:spPr bwMode="auto">
          <a:xfrm>
            <a:off x="6400800"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Tree>
    <p:extLst>
      <p:ext uri="{BB962C8B-B14F-4D97-AF65-F5344CB8AC3E}">
        <p14:creationId xmlns:p14="http://schemas.microsoft.com/office/powerpoint/2010/main" val="28335321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5"/>
          <p:cNvSpPr>
            <a:spLocks noGrp="1"/>
          </p:cNvSpPr>
          <p:nvPr>
            <p:ph type="sldNum" sz="quarter" idx="12"/>
          </p:nvPr>
        </p:nvSpPr>
        <p:spPr/>
        <p:txBody>
          <a:bodyPr/>
          <a:lstStyle/>
          <a:p>
            <a:fld id="{7581D39D-31E5-47D2-9E59-5858417CE972}" type="slidenum">
              <a:rPr lang="en-US"/>
              <a:pPr/>
              <a:t>34</a:t>
            </a:fld>
            <a:endParaRPr lang="en-US"/>
          </a:p>
        </p:txBody>
      </p:sp>
      <p:sp>
        <p:nvSpPr>
          <p:cNvPr id="178178" name="Rectangle 2"/>
          <p:cNvSpPr>
            <a:spLocks noGrp="1" noChangeArrowheads="1"/>
          </p:cNvSpPr>
          <p:nvPr>
            <p:ph type="title"/>
          </p:nvPr>
        </p:nvSpPr>
        <p:spPr>
          <a:xfrm>
            <a:off x="187758" y="138224"/>
            <a:ext cx="7772400" cy="647700"/>
          </a:xfrm>
        </p:spPr>
        <p:txBody>
          <a:bodyPr>
            <a:normAutofit fontScale="90000"/>
          </a:bodyPr>
          <a:lstStyle/>
          <a:p>
            <a:pPr algn="l"/>
            <a:r>
              <a:rPr lang="en-US" b="1" dirty="0">
                <a:solidFill>
                  <a:srgbClr val="FF0000"/>
                </a:solidFill>
                <a:latin typeface="Times New Roman" panose="02020603050405020304" pitchFamily="18" charset="0"/>
                <a:cs typeface="Times New Roman" panose="02020603050405020304" pitchFamily="18" charset="0"/>
              </a:rPr>
              <a:t>Problem With Quadratic Probing</a:t>
            </a:r>
          </a:p>
        </p:txBody>
      </p:sp>
      <p:sp>
        <p:nvSpPr>
          <p:cNvPr id="178179"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78180"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181"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2"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3"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4"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5"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186"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7"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188"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189"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190"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191"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192"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193"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194" name="Text Box 18"/>
          <p:cNvSpPr txBox="1">
            <a:spLocks noChangeArrowheads="1"/>
          </p:cNvSpPr>
          <p:nvPr/>
        </p:nvSpPr>
        <p:spPr bwMode="auto">
          <a:xfrm>
            <a:off x="1177925" y="142875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14</a:t>
            </a:r>
            <a:r>
              <a:rPr lang="en-US"/>
              <a:t>)</a:t>
            </a:r>
          </a:p>
          <a:p>
            <a:pPr eaLnBrk="0" hangingPunct="0"/>
            <a:r>
              <a:rPr lang="en-US" sz="2000"/>
              <a:t>14%7 = 0</a:t>
            </a:r>
          </a:p>
        </p:txBody>
      </p:sp>
      <p:sp>
        <p:nvSpPr>
          <p:cNvPr id="178195"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196"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197"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198"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99"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200"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01"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02"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03"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04"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05"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06"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07"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08"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09" name="Text Box 33"/>
          <p:cNvSpPr txBox="1">
            <a:spLocks noChangeArrowheads="1"/>
          </p:cNvSpPr>
          <p:nvPr/>
        </p:nvSpPr>
        <p:spPr bwMode="auto">
          <a:xfrm>
            <a:off x="2670175" y="142875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78210"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211"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12"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13"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4"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15"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6"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7"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18"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19"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20"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21"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22"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23"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24" name="Text Box 48"/>
          <p:cNvSpPr txBox="1">
            <a:spLocks noChangeArrowheads="1"/>
          </p:cNvSpPr>
          <p:nvPr/>
        </p:nvSpPr>
        <p:spPr bwMode="auto">
          <a:xfrm>
            <a:off x="4011613" y="1428750"/>
            <a:ext cx="108715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i="1" dirty="0"/>
              <a:t>insert(</a:t>
            </a:r>
            <a:r>
              <a:rPr lang="en-US" i="1" dirty="0">
                <a:solidFill>
                  <a:srgbClr val="FF0000"/>
                </a:solidFill>
              </a:rPr>
              <a:t>21</a:t>
            </a:r>
            <a:r>
              <a:rPr lang="en-US" i="1" dirty="0"/>
              <a:t>)</a:t>
            </a:r>
          </a:p>
          <a:p>
            <a:pPr eaLnBrk="0" hangingPunct="0"/>
            <a:r>
              <a:rPr lang="en-US" sz="2000" i="1" dirty="0"/>
              <a:t>21%7 =0</a:t>
            </a:r>
          </a:p>
        </p:txBody>
      </p:sp>
      <p:sp>
        <p:nvSpPr>
          <p:cNvPr id="178225"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3</a:t>
            </a:r>
          </a:p>
        </p:txBody>
      </p:sp>
      <p:sp>
        <p:nvSpPr>
          <p:cNvPr id="178226"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27"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8228"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29"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0"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1"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2"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33"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34"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35"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36"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37"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38"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39" name="Text Box 63"/>
          <p:cNvSpPr txBox="1">
            <a:spLocks noChangeArrowheads="1"/>
          </p:cNvSpPr>
          <p:nvPr/>
        </p:nvSpPr>
        <p:spPr bwMode="auto">
          <a:xfrm>
            <a:off x="5505450" y="142875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a:t>
            </a:r>
            <a:r>
              <a:rPr lang="en-US" dirty="0"/>
              <a:t>)</a:t>
            </a:r>
          </a:p>
          <a:p>
            <a:pPr eaLnBrk="0" hangingPunct="0"/>
            <a:r>
              <a:rPr lang="en-US" sz="2000" dirty="0"/>
              <a:t>2%7 = 2</a:t>
            </a:r>
          </a:p>
        </p:txBody>
      </p:sp>
      <p:sp>
        <p:nvSpPr>
          <p:cNvPr id="178240"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241"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242"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3"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44"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45"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8246"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47" name="Rectangle 71"/>
          <p:cNvSpPr>
            <a:spLocks noChangeArrowheads="1"/>
          </p:cNvSpPr>
          <p:nvPr/>
        </p:nvSpPr>
        <p:spPr bwMode="auto">
          <a:xfrm>
            <a:off x="7372350" y="48641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8"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9"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50"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51"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52"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53"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54"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55"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56"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57" name="Text Box 81"/>
          <p:cNvSpPr txBox="1">
            <a:spLocks noChangeArrowheads="1"/>
          </p:cNvSpPr>
          <p:nvPr/>
        </p:nvSpPr>
        <p:spPr bwMode="auto">
          <a:xfrm>
            <a:off x="7010400" y="14478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7</a:t>
            </a:r>
            <a:r>
              <a:rPr lang="en-US"/>
              <a:t>)</a:t>
            </a:r>
          </a:p>
          <a:p>
            <a:pPr eaLnBrk="0" hangingPunct="0"/>
            <a:r>
              <a:rPr lang="en-US" sz="2000"/>
              <a:t>7%7 = 0</a:t>
            </a:r>
          </a:p>
        </p:txBody>
      </p:sp>
      <p:sp>
        <p:nvSpPr>
          <p:cNvPr id="178258"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59" name="Text Box 83"/>
          <p:cNvSpPr txBox="1">
            <a:spLocks noChangeArrowheads="1"/>
          </p:cNvSpPr>
          <p:nvPr/>
        </p:nvSpPr>
        <p:spPr bwMode="auto">
          <a:xfrm>
            <a:off x="7315200" y="6019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solidFill>
                  <a:srgbClr val="FF0000"/>
                </a:solidFill>
              </a:rPr>
              <a:t>??</a:t>
            </a:r>
          </a:p>
        </p:txBody>
      </p:sp>
    </p:spTree>
    <p:extLst>
      <p:ext uri="{BB962C8B-B14F-4D97-AF65-F5344CB8AC3E}">
        <p14:creationId xmlns:p14="http://schemas.microsoft.com/office/powerpoint/2010/main" val="28749328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507288" cy="5937523"/>
          </a:xfrm>
        </p:spPr>
        <p:txBody>
          <a:bodyPr>
            <a:normAutofit/>
          </a:bodyPr>
          <a:lstStyle/>
          <a:p>
            <a:pPr marL="0" indent="0" algn="just">
              <a:buNone/>
            </a:pPr>
            <a:r>
              <a:rPr lang="en-IN" b="1" dirty="0" smtClean="0">
                <a:solidFill>
                  <a:srgbClr val="FF0000"/>
                </a:solidFill>
                <a:latin typeface="Times New Roman" panose="02020603050405020304" pitchFamily="18" charset="0"/>
                <a:cs typeface="Times New Roman" panose="02020603050405020304" pitchFamily="18" charset="0"/>
              </a:rPr>
              <a:t>Limitations:</a:t>
            </a:r>
          </a:p>
          <a:p>
            <a:pPr algn="just"/>
            <a:endParaRPr lang="en-IN" sz="2600" dirty="0" smtClean="0">
              <a:latin typeface="Times New Roman" panose="02020603050405020304" pitchFamily="18" charset="0"/>
              <a:cs typeface="Times New Roman" panose="02020603050405020304" pitchFamily="18" charset="0"/>
            </a:endParaRPr>
          </a:p>
          <a:p>
            <a:pPr algn="just"/>
            <a:r>
              <a:rPr lang="en-IN" sz="2600" dirty="0" smtClean="0">
                <a:latin typeface="Times New Roman" panose="02020603050405020304" pitchFamily="18" charset="0"/>
                <a:cs typeface="Times New Roman" panose="02020603050405020304" pitchFamily="18" charset="0"/>
              </a:rPr>
              <a:t>In the above example the process is never ending and </a:t>
            </a:r>
            <a:r>
              <a:rPr lang="en-IN" sz="2600" dirty="0" smtClean="0">
                <a:solidFill>
                  <a:srgbClr val="FF0000"/>
                </a:solidFill>
                <a:latin typeface="Times New Roman" panose="02020603050405020304" pitchFamily="18" charset="0"/>
                <a:cs typeface="Times New Roman" panose="02020603050405020304" pitchFamily="18" charset="0"/>
              </a:rPr>
              <a:t>the no of probes increases, </a:t>
            </a:r>
            <a:r>
              <a:rPr lang="en-IN" sz="2600" dirty="0" smtClean="0">
                <a:latin typeface="Times New Roman" panose="02020603050405020304" pitchFamily="18" charset="0"/>
                <a:cs typeface="Times New Roman" panose="02020603050405020304" pitchFamily="18" charset="0"/>
              </a:rPr>
              <a:t>but to identify a cell  and to store the element is not possible </a:t>
            </a:r>
          </a:p>
          <a:p>
            <a:pPr algn="just"/>
            <a:r>
              <a:rPr lang="en-IN" sz="2600" dirty="0">
                <a:latin typeface="Times New Roman" panose="02020603050405020304" pitchFamily="18" charset="0"/>
                <a:cs typeface="Times New Roman" panose="02020603050405020304" pitchFamily="18" charset="0"/>
              </a:rPr>
              <a:t>In the case of quadratic probing, the situation is </a:t>
            </a:r>
            <a:r>
              <a:rPr lang="en-IN" sz="2600" dirty="0">
                <a:solidFill>
                  <a:srgbClr val="FF0000"/>
                </a:solidFill>
                <a:latin typeface="Times New Roman" panose="02020603050405020304" pitchFamily="18" charset="0"/>
                <a:cs typeface="Times New Roman" panose="02020603050405020304" pitchFamily="18" charset="0"/>
              </a:rPr>
              <a:t>even more drastic</a:t>
            </a:r>
            <a:r>
              <a:rPr lang="en-IN" sz="2600" dirty="0" smtClean="0">
                <a:latin typeface="Times New Roman" panose="02020603050405020304" pitchFamily="18" charset="0"/>
                <a:cs typeface="Times New Roman" panose="02020603050405020304" pitchFamily="18" charset="0"/>
              </a:rPr>
              <a:t>.</a:t>
            </a:r>
          </a:p>
          <a:p>
            <a:pPr algn="just"/>
            <a:r>
              <a:rPr lang="en-IN" sz="2600" dirty="0" smtClean="0">
                <a:latin typeface="Times New Roman" panose="02020603050405020304" pitchFamily="18" charset="0"/>
                <a:cs typeface="Times New Roman" panose="02020603050405020304" pitchFamily="18" charset="0"/>
              </a:rPr>
              <a:t>There </a:t>
            </a:r>
            <a:r>
              <a:rPr lang="en-IN" sz="2600" dirty="0">
                <a:latin typeface="Times New Roman" panose="02020603050405020304" pitchFamily="18" charset="0"/>
                <a:cs typeface="Times New Roman" panose="02020603050405020304" pitchFamily="18" charset="0"/>
              </a:rPr>
              <a:t>is </a:t>
            </a:r>
            <a:r>
              <a:rPr lang="en-IN" sz="2600" dirty="0">
                <a:solidFill>
                  <a:srgbClr val="FF0000"/>
                </a:solidFill>
                <a:latin typeface="Times New Roman" panose="02020603050405020304" pitchFamily="18" charset="0"/>
                <a:cs typeface="Times New Roman" panose="02020603050405020304" pitchFamily="18" charset="0"/>
              </a:rPr>
              <a:t>no guarantee of finding an empty cell once the table gets more than half full</a:t>
            </a:r>
            <a:r>
              <a:rPr lang="en-IN" sz="2600" dirty="0">
                <a:latin typeface="Times New Roman" panose="02020603050405020304" pitchFamily="18" charset="0"/>
                <a:cs typeface="Times New Roman" panose="02020603050405020304" pitchFamily="18" charset="0"/>
              </a:rPr>
              <a:t>, or even before the table gets half full if the table size is not prime. </a:t>
            </a:r>
          </a:p>
          <a:p>
            <a:pPr algn="just"/>
            <a:r>
              <a:rPr lang="en-IN" sz="2600" dirty="0">
                <a:latin typeface="Times New Roman" panose="02020603050405020304" pitchFamily="18" charset="0"/>
                <a:cs typeface="Times New Roman" panose="02020603050405020304" pitchFamily="18" charset="0"/>
              </a:rPr>
              <a:t>So an empty key space can always be found as long as at most </a:t>
            </a:r>
            <a:r>
              <a:rPr lang="en-IN" sz="2600" dirty="0" smtClean="0">
                <a:latin typeface="Times New Roman" panose="02020603050405020304" pitchFamily="18" charset="0"/>
                <a:cs typeface="Times New Roman" panose="02020603050405020304" pitchFamily="18" charset="0"/>
              </a:rPr>
              <a:t>(n </a:t>
            </a:r>
            <a:r>
              <a:rPr lang="en-IN" sz="2600" dirty="0">
                <a:latin typeface="Times New Roman" panose="02020603050405020304" pitchFamily="18" charset="0"/>
                <a:cs typeface="Times New Roman" panose="02020603050405020304" pitchFamily="18" charset="0"/>
              </a:rPr>
              <a:t>/ 2</a:t>
            </a:r>
            <a:r>
              <a:rPr lang="en-IN" sz="2600" dirty="0" smtClean="0">
                <a:latin typeface="Times New Roman" panose="02020603050405020304" pitchFamily="18" charset="0"/>
                <a:cs typeface="Times New Roman" panose="02020603050405020304" pitchFamily="18" charset="0"/>
              </a:rPr>
              <a:t>), (with size of the table is n) </a:t>
            </a:r>
            <a:r>
              <a:rPr lang="en-IN" sz="2600" dirty="0">
                <a:latin typeface="Times New Roman" panose="02020603050405020304" pitchFamily="18" charset="0"/>
                <a:cs typeface="Times New Roman" panose="02020603050405020304" pitchFamily="18" charset="0"/>
              </a:rPr>
              <a:t>locations are filled, i.e., the hash table is not more than half full.</a:t>
            </a:r>
          </a:p>
        </p:txBody>
      </p:sp>
      <p:sp>
        <p:nvSpPr>
          <p:cNvPr id="2" name="Slide Number Placeholder 1"/>
          <p:cNvSpPr>
            <a:spLocks noGrp="1"/>
          </p:cNvSpPr>
          <p:nvPr>
            <p:ph type="sldNum" sz="quarter" idx="12"/>
          </p:nvPr>
        </p:nvSpPr>
        <p:spPr/>
        <p:txBody>
          <a:bodyPr/>
          <a:lstStyle/>
          <a:p>
            <a:fld id="{DDE4AA30-DFC3-4E29-B54E-BC96FFE3FF90}" type="slidenum">
              <a:rPr lang="en-IN" smtClean="0"/>
              <a:t>35</a:t>
            </a:fld>
            <a:endParaRPr lang="en-IN"/>
          </a:p>
        </p:txBody>
      </p:sp>
    </p:spTree>
    <p:extLst>
      <p:ext uri="{BB962C8B-B14F-4D97-AF65-F5344CB8AC3E}">
        <p14:creationId xmlns:p14="http://schemas.microsoft.com/office/powerpoint/2010/main" val="14978541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424936" cy="4679881"/>
          </a:xfrm>
        </p:spPr>
        <p:txBody>
          <a:bodyPr>
            <a:normAutofit fontScale="70000" lnSpcReduction="20000"/>
          </a:bodyPr>
          <a:lstStyle/>
          <a:p>
            <a:pPr marL="514350" indent="-514350">
              <a:buAutoNum type="arabicPeriod"/>
            </a:pPr>
            <a:r>
              <a:rPr lang="en-IN" dirty="0" smtClean="0">
                <a:latin typeface="Times New Roman" panose="02020603050405020304" pitchFamily="18" charset="0"/>
                <a:cs typeface="Times New Roman" panose="02020603050405020304" pitchFamily="18" charset="0"/>
              </a:rPr>
              <a:t>Get </a:t>
            </a:r>
            <a:r>
              <a:rPr lang="en-IN" dirty="0">
                <a:latin typeface="Times New Roman" panose="02020603050405020304" pitchFamily="18" charset="0"/>
                <a:cs typeface="Times New Roman" panose="02020603050405020304" pitchFamily="18" charset="0"/>
              </a:rPr>
              <a:t>the key </a:t>
            </a:r>
            <a:r>
              <a:rPr lang="en-IN" dirty="0" smtClean="0">
                <a:latin typeface="Times New Roman" panose="02020603050405020304" pitchFamily="18" charset="0"/>
                <a:cs typeface="Times New Roman" panose="02020603050405020304" pitchFamily="18" charset="0"/>
              </a:rPr>
              <a:t>hash key k </a:t>
            </a:r>
          </a:p>
          <a:p>
            <a:pPr marL="514350" indent="-514350">
              <a:buAutoNum type="arabicPeriod"/>
            </a:pPr>
            <a:r>
              <a:rPr lang="en-IN" dirty="0" smtClean="0">
                <a:latin typeface="Times New Roman" panose="02020603050405020304" pitchFamily="18" charset="0"/>
                <a:cs typeface="Times New Roman" panose="02020603050405020304" pitchFamily="18" charset="0"/>
              </a:rPr>
              <a:t>Set </a:t>
            </a:r>
            <a:r>
              <a:rPr lang="en-IN" dirty="0">
                <a:latin typeface="Times New Roman" panose="02020603050405020304" pitchFamily="18" charset="0"/>
                <a:cs typeface="Times New Roman" panose="02020603050405020304" pitchFamily="18" charset="0"/>
              </a:rPr>
              <a:t>counter j = 0 </a:t>
            </a:r>
            <a:endParaRPr lang="en-IN"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Compute hash function h[k] = k % SIZE </a:t>
            </a:r>
            <a:endParaRPr lang="en-IN"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If </a:t>
            </a:r>
            <a:r>
              <a:rPr lang="en-IN" dirty="0" smtClean="0">
                <a:latin typeface="Times New Roman" panose="02020603050405020304" pitchFamily="18" charset="0"/>
                <a:cs typeface="Times New Roman" panose="02020603050405020304" pitchFamily="18" charset="0"/>
              </a:rPr>
              <a:t>hash table[h[k</a:t>
            </a:r>
            <a:r>
              <a:rPr lang="en-IN" dirty="0">
                <a:latin typeface="Times New Roman" panose="02020603050405020304" pitchFamily="18" charset="0"/>
                <a:cs typeface="Times New Roman" panose="02020603050405020304" pitchFamily="18" charset="0"/>
              </a:rPr>
              <a:t>]] is empty </a:t>
            </a:r>
            <a:endParaRPr lang="en-IN" dirty="0" smtClean="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4.1) Insert key k at </a:t>
            </a:r>
            <a:r>
              <a:rPr lang="en-IN" dirty="0" smtClean="0">
                <a:latin typeface="Times New Roman" panose="02020603050405020304" pitchFamily="18" charset="0"/>
                <a:cs typeface="Times New Roman" panose="02020603050405020304" pitchFamily="18" charset="0"/>
              </a:rPr>
              <a:t>hash table[h[k</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4.2) Stop </a:t>
            </a:r>
            <a:endParaRPr lang="en-IN" dirty="0" smtClean="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Else </a:t>
            </a: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4.3) The key space at </a:t>
            </a:r>
            <a:r>
              <a:rPr lang="en-IN" dirty="0" smtClean="0">
                <a:latin typeface="Times New Roman" panose="02020603050405020304" pitchFamily="18" charset="0"/>
                <a:cs typeface="Times New Roman" panose="02020603050405020304" pitchFamily="18" charset="0"/>
              </a:rPr>
              <a:t>hash table[h[k</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is occupied</a:t>
            </a:r>
            <a:r>
              <a:rPr lang="en-IN" dirty="0">
                <a:latin typeface="Times New Roman" panose="02020603050405020304" pitchFamily="18" charset="0"/>
                <a:cs typeface="Times New Roman" panose="02020603050405020304" pitchFamily="18" charset="0"/>
              </a:rPr>
              <a:t>, so we </a:t>
            </a:r>
            <a:r>
              <a:rPr lang="en-IN" dirty="0" smtClean="0">
                <a:latin typeface="Times New Roman" panose="02020603050405020304" pitchFamily="18" charset="0"/>
                <a:cs typeface="Times New Roman" panose="02020603050405020304" pitchFamily="18" charset="0"/>
              </a:rPr>
              <a:t>	need </a:t>
            </a:r>
            <a:r>
              <a:rPr lang="en-IN" dirty="0">
                <a:latin typeface="Times New Roman" panose="02020603050405020304" pitchFamily="18" charset="0"/>
                <a:cs typeface="Times New Roman" panose="02020603050405020304" pitchFamily="18" charset="0"/>
              </a:rPr>
              <a:t>to find the next </a:t>
            </a:r>
            <a:r>
              <a:rPr lang="en-IN" dirty="0" smtClean="0">
                <a:latin typeface="Times New Roman" panose="02020603050405020304" pitchFamily="18" charset="0"/>
                <a:cs typeface="Times New Roman" panose="02020603050405020304" pitchFamily="18" charset="0"/>
              </a:rPr>
              <a:t>available key </a:t>
            </a:r>
            <a:r>
              <a:rPr lang="en-IN" dirty="0">
                <a:latin typeface="Times New Roman" panose="02020603050405020304" pitchFamily="18" charset="0"/>
                <a:cs typeface="Times New Roman" panose="02020603050405020304" pitchFamily="18" charset="0"/>
              </a:rPr>
              <a:t>space </a:t>
            </a:r>
            <a:endParaRPr lang="en-IN" dirty="0" smtClean="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4.4) Increment j </a:t>
            </a:r>
            <a:endParaRPr lang="en-IN" dirty="0" smtClean="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4.5) Compute new hash function h[k] = ( k + j * j ) % </a:t>
            </a:r>
            <a:r>
              <a:rPr lang="en-IN" dirty="0" smtClean="0">
                <a:latin typeface="Times New Roman" panose="02020603050405020304" pitchFamily="18" charset="0"/>
                <a:cs typeface="Times New Roman" panose="02020603050405020304" pitchFamily="18" charset="0"/>
              </a:rPr>
              <a:t>SIZE </a:t>
            </a:r>
          </a:p>
          <a:p>
            <a:pPr marL="0" indent="0">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4.6) Repeat Step 4 till j is equal to the SIZE of hash table </a:t>
            </a:r>
            <a:endParaRPr lang="en-IN"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 The hash table is full </a:t>
            </a:r>
            <a:endParaRPr lang="en-IN"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6</a:t>
            </a:r>
            <a:r>
              <a:rPr lang="en-IN" dirty="0">
                <a:latin typeface="Times New Roman" panose="02020603050405020304" pitchFamily="18" charset="0"/>
                <a:cs typeface="Times New Roman" panose="02020603050405020304" pitchFamily="18" charset="0"/>
              </a:rPr>
              <a:t>. Stop</a:t>
            </a:r>
          </a:p>
        </p:txBody>
      </p:sp>
      <p:sp>
        <p:nvSpPr>
          <p:cNvPr id="2" name="Rectangle 1"/>
          <p:cNvSpPr/>
          <p:nvPr/>
        </p:nvSpPr>
        <p:spPr>
          <a:xfrm>
            <a:off x="179512" y="260648"/>
            <a:ext cx="1895071" cy="553998"/>
          </a:xfrm>
          <a:prstGeom prst="rect">
            <a:avLst/>
          </a:prstGeom>
        </p:spPr>
        <p:txBody>
          <a:bodyPr wrap="none">
            <a:spAutoFit/>
          </a:bodyPr>
          <a:lstStyle/>
          <a:p>
            <a:pPr algn="just"/>
            <a:r>
              <a:rPr lang="en-IN" sz="3000" b="1" dirty="0" smtClean="0">
                <a:solidFill>
                  <a:srgbClr val="FF0000"/>
                </a:solidFill>
                <a:latin typeface="Times New Roman" panose="02020603050405020304" pitchFamily="18" charset="0"/>
                <a:cs typeface="Times New Roman" panose="02020603050405020304" pitchFamily="18" charset="0"/>
              </a:rPr>
              <a:t>Algorithm</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E4AA30-DFC3-4E29-B54E-BC96FFE3FF90}" type="slidenum">
              <a:rPr lang="en-IN" smtClean="0"/>
              <a:t>36</a:t>
            </a:fld>
            <a:endParaRPr lang="en-IN"/>
          </a:p>
        </p:txBody>
      </p:sp>
    </p:spTree>
    <p:extLst>
      <p:ext uri="{BB962C8B-B14F-4D97-AF65-F5344CB8AC3E}">
        <p14:creationId xmlns:p14="http://schemas.microsoft.com/office/powerpoint/2010/main" val="7461541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US" b="1" dirty="0" smtClean="0">
                <a:solidFill>
                  <a:srgbClr val="FF0000"/>
                </a:solidFill>
                <a:latin typeface="Times New Roman" panose="02020603050405020304" pitchFamily="18" charset="0"/>
                <a:cs typeface="Times New Roman" panose="02020603050405020304" pitchFamily="18" charset="0"/>
              </a:rPr>
              <a:t>Multiple Hashing /  </a:t>
            </a:r>
            <a:r>
              <a:rPr lang="en-IN" b="1" dirty="0" smtClean="0">
                <a:solidFill>
                  <a:srgbClr val="FF0000"/>
                </a:solidFill>
                <a:latin typeface="Times New Roman" panose="02020603050405020304" pitchFamily="18" charset="0"/>
                <a:cs typeface="Times New Roman" panose="02020603050405020304" pitchFamily="18" charset="0"/>
              </a:rPr>
              <a:t>Double Hashing</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261848" y="1412776"/>
            <a:ext cx="8620304" cy="526297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Double hashing is a collision resolving technique in Open Addressed Hash tables. Double </a:t>
            </a:r>
            <a:r>
              <a:rPr lang="en-IN" sz="2400" dirty="0" smtClean="0">
                <a:latin typeface="Times New Roman" panose="02020603050405020304" pitchFamily="18" charset="0"/>
                <a:cs typeface="Times New Roman" panose="02020603050405020304" pitchFamily="18" charset="0"/>
              </a:rPr>
              <a:t>hashing uses the idea of applying a </a:t>
            </a:r>
            <a:r>
              <a:rPr lang="en-IN" sz="2400" dirty="0">
                <a:latin typeface="Times New Roman" panose="02020603050405020304" pitchFamily="18" charset="0"/>
                <a:cs typeface="Times New Roman" panose="02020603050405020304" pitchFamily="18" charset="0"/>
              </a:rPr>
              <a:t>second hash function to key when a collision occurs.</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method </a:t>
            </a:r>
            <a:r>
              <a:rPr lang="en-US" sz="2400" dirty="0">
                <a:latin typeface="Times New Roman" panose="02020603050405020304" pitchFamily="18" charset="0"/>
                <a:cs typeface="Times New Roman" panose="02020603050405020304" pitchFamily="18" charset="0"/>
              </a:rPr>
              <a:t>applies a second hash function if the </a:t>
            </a:r>
            <a:r>
              <a:rPr lang="en-US" sz="2400" dirty="0" smtClean="0">
                <a:latin typeface="Times New Roman" panose="02020603050405020304" pitchFamily="18" charset="0"/>
                <a:cs typeface="Times New Roman" panose="02020603050405020304" pitchFamily="18" charset="0"/>
              </a:rPr>
              <a:t>first results </a:t>
            </a:r>
            <a:r>
              <a:rPr lang="en-US" sz="2400" dirty="0">
                <a:latin typeface="Times New Roman" panose="02020603050405020304" pitchFamily="18" charset="0"/>
                <a:cs typeface="Times New Roman" panose="02020603050405020304" pitchFamily="18" charset="0"/>
              </a:rPr>
              <a:t>in a collision.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another collision results, the program uses </a:t>
            </a:r>
            <a:r>
              <a:rPr lang="en-US" sz="2400" dirty="0" smtClean="0">
                <a:latin typeface="Times New Roman" panose="02020603050405020304" pitchFamily="18" charset="0"/>
                <a:cs typeface="Times New Roman" panose="02020603050405020304" pitchFamily="18" charset="0"/>
              </a:rPr>
              <a:t>open addressing </a:t>
            </a:r>
            <a:r>
              <a:rPr lang="en-US" sz="2400" dirty="0">
                <a:latin typeface="Times New Roman" panose="02020603050405020304" pitchFamily="18" charset="0"/>
                <a:cs typeface="Times New Roman" panose="02020603050405020304" pitchFamily="18" charset="0"/>
              </a:rPr>
              <a:t>or applies a third hash function and then uses open addressing </a:t>
            </a:r>
            <a:r>
              <a:rPr lang="en-US" sz="2400" dirty="0" smtClean="0">
                <a:latin typeface="Times New Roman" panose="02020603050405020304" pitchFamily="18" charset="0"/>
                <a:cs typeface="Times New Roman" panose="02020603050405020304" pitchFamily="18" charset="0"/>
              </a:rPr>
              <a:t>if </a:t>
            </a:r>
            <a:r>
              <a:rPr lang="en-IN" sz="2400" dirty="0" smtClean="0">
                <a:latin typeface="Times New Roman" panose="02020603050405020304" pitchFamily="18" charset="0"/>
                <a:cs typeface="Times New Roman" panose="02020603050405020304" pitchFamily="18" charset="0"/>
              </a:rPr>
              <a:t>necessary</a:t>
            </a:r>
            <a:r>
              <a:rPr lang="en-IN" sz="2400"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a:p>
            <a:pPr algn="just"/>
            <a:endParaRPr lang="en-IN" sz="2400" b="1" i="1" dirty="0" smtClean="0">
              <a:latin typeface="Times New Roman" panose="02020603050405020304" pitchFamily="18" charset="0"/>
              <a:cs typeface="Times New Roman" panose="02020603050405020304" pitchFamily="18" charset="0"/>
            </a:endParaRPr>
          </a:p>
          <a:p>
            <a:pPr algn="just"/>
            <a:r>
              <a:rPr lang="en-IN" sz="2400" b="1" i="1" dirty="0" smtClean="0">
                <a:latin typeface="Times New Roman" panose="02020603050405020304" pitchFamily="18" charset="0"/>
                <a:cs typeface="Times New Roman" panose="02020603050405020304" pitchFamily="18" charset="0"/>
              </a:rPr>
              <a:t>Double </a:t>
            </a:r>
            <a:r>
              <a:rPr lang="en-IN" sz="2400" b="1" i="1" dirty="0">
                <a:latin typeface="Times New Roman" panose="02020603050405020304" pitchFamily="18" charset="0"/>
                <a:cs typeface="Times New Roman" panose="02020603050405020304" pitchFamily="18" charset="0"/>
              </a:rPr>
              <a:t>hashing can be done using :</a:t>
            </a:r>
          </a:p>
          <a:p>
            <a:pPr algn="ctr"/>
            <a:r>
              <a:rPr lang="en-IN" sz="2400" b="1" dirty="0" smtClean="0">
                <a:solidFill>
                  <a:srgbClr val="FF0000"/>
                </a:solidFill>
                <a:latin typeface="Times New Roman" panose="02020603050405020304" pitchFamily="18" charset="0"/>
                <a:cs typeface="Times New Roman" panose="02020603050405020304" pitchFamily="18" charset="0"/>
              </a:rPr>
              <a:t>(</a:t>
            </a:r>
            <a:r>
              <a:rPr lang="en-IN" sz="2400" b="1" dirty="0">
                <a:solidFill>
                  <a:srgbClr val="FF0000"/>
                </a:solidFill>
                <a:latin typeface="Times New Roman" panose="02020603050405020304" pitchFamily="18" charset="0"/>
                <a:cs typeface="Times New Roman" panose="02020603050405020304" pitchFamily="18" charset="0"/>
              </a:rPr>
              <a:t>hash1(key) + i * hash2(key)) % TABLE_SIZE</a:t>
            </a:r>
          </a:p>
          <a:p>
            <a:pPr algn="just"/>
            <a:endParaRPr lang="en-IN" sz="2400" b="1" dirty="0" smtClean="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DDE4AA30-DFC3-4E29-B54E-BC96FFE3FF90}" type="slidenum">
              <a:rPr lang="en-IN" smtClean="0"/>
              <a:t>37</a:t>
            </a:fld>
            <a:endParaRPr lang="en-IN"/>
          </a:p>
        </p:txBody>
      </p:sp>
    </p:spTree>
    <p:extLst>
      <p:ext uri="{BB962C8B-B14F-4D97-AF65-F5344CB8AC3E}">
        <p14:creationId xmlns:p14="http://schemas.microsoft.com/office/powerpoint/2010/main" val="17210014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IN" b="1" dirty="0" smtClean="0">
                <a:solidFill>
                  <a:srgbClr val="FF0000"/>
                </a:solidFill>
                <a:latin typeface="Times New Roman" panose="02020603050405020304" pitchFamily="18" charset="0"/>
                <a:cs typeface="Times New Roman" panose="02020603050405020304" pitchFamily="18" charset="0"/>
              </a:rPr>
              <a:t>Double Hashing</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107504" y="1340768"/>
            <a:ext cx="9036496" cy="4524315"/>
          </a:xfrm>
          <a:prstGeom prst="rect">
            <a:avLst/>
          </a:prstGeom>
        </p:spPr>
        <p:txBody>
          <a:bodyPr wrap="square">
            <a:spAutoFit/>
          </a:bodyPr>
          <a:lstStyle/>
          <a:p>
            <a:pPr algn="just"/>
            <a:r>
              <a:rPr lang="en-IN" sz="2400" dirty="0" smtClean="0">
                <a:latin typeface="Times New Roman" panose="02020603050405020304" pitchFamily="18" charset="0"/>
                <a:cs typeface="Times New Roman" panose="02020603050405020304" pitchFamily="18" charset="0"/>
              </a:rPr>
              <a:t>Here </a:t>
            </a:r>
            <a:r>
              <a:rPr lang="en-IN" sz="2400" dirty="0">
                <a:latin typeface="Times New Roman" panose="02020603050405020304" pitchFamily="18" charset="0"/>
                <a:cs typeface="Times New Roman" panose="02020603050405020304" pitchFamily="18" charset="0"/>
              </a:rPr>
              <a:t>hash1() and hash2() are hash functions and </a:t>
            </a:r>
            <a:r>
              <a:rPr lang="en-IN" sz="2400" dirty="0" smtClean="0">
                <a:latin typeface="Times New Roman" panose="02020603050405020304" pitchFamily="18" charset="0"/>
                <a:cs typeface="Times New Roman" panose="02020603050405020304" pitchFamily="18" charset="0"/>
              </a:rPr>
              <a:t>TABLE_SIZE is </a:t>
            </a:r>
            <a:r>
              <a:rPr lang="en-IN" sz="2400" dirty="0">
                <a:latin typeface="Times New Roman" panose="02020603050405020304" pitchFamily="18" charset="0"/>
                <a:cs typeface="Times New Roman" panose="02020603050405020304" pitchFamily="18" charset="0"/>
              </a:rPr>
              <a:t>size of hash table.</a:t>
            </a:r>
          </a:p>
          <a:p>
            <a:pPr algn="just"/>
            <a:r>
              <a:rPr lang="en-IN" sz="2400" dirty="0">
                <a:latin typeface="Times New Roman" panose="02020603050405020304" pitchFamily="18" charset="0"/>
                <a:cs typeface="Times New Roman" panose="02020603050405020304" pitchFamily="18" charset="0"/>
              </a:rPr>
              <a:t>(We repeat by increasing i when collision occurs)</a:t>
            </a:r>
          </a:p>
          <a:p>
            <a:endParaRPr lang="en-IN" sz="2400" b="1" dirty="0">
              <a:latin typeface="Times New Roman" panose="02020603050405020304" pitchFamily="18" charset="0"/>
              <a:cs typeface="Times New Roman" panose="02020603050405020304" pitchFamily="18" charset="0"/>
            </a:endParaRPr>
          </a:p>
          <a:p>
            <a:r>
              <a:rPr lang="en-IN" sz="2400" b="1" i="1" u="sng" dirty="0">
                <a:solidFill>
                  <a:schemeClr val="tx2"/>
                </a:solidFill>
                <a:latin typeface="Times New Roman" panose="02020603050405020304" pitchFamily="18" charset="0"/>
                <a:cs typeface="Times New Roman" panose="02020603050405020304" pitchFamily="18" charset="0"/>
              </a:rPr>
              <a:t>First </a:t>
            </a:r>
            <a:r>
              <a:rPr lang="en-IN" sz="2400" b="1" i="1" u="sng" dirty="0" smtClean="0">
                <a:solidFill>
                  <a:schemeClr val="tx2"/>
                </a:solidFill>
                <a:latin typeface="Times New Roman" panose="02020603050405020304" pitchFamily="18" charset="0"/>
                <a:cs typeface="Times New Roman" panose="02020603050405020304" pitchFamily="18" charset="0"/>
              </a:rPr>
              <a:t>Hash function</a:t>
            </a:r>
            <a:r>
              <a:rPr lang="en-IN" sz="2400" b="1" dirty="0" smtClean="0">
                <a:latin typeface="Times New Roman" panose="02020603050405020304" pitchFamily="18" charset="0"/>
                <a:cs typeface="Times New Roman" panose="02020603050405020304" pitchFamily="18" charset="0"/>
              </a:rPr>
              <a:t> :     </a:t>
            </a:r>
            <a:r>
              <a:rPr lang="en-IN" sz="2400" b="1" dirty="0" smtClean="0">
                <a:solidFill>
                  <a:srgbClr val="FF0000"/>
                </a:solidFill>
                <a:latin typeface="Times New Roman" panose="02020603050405020304" pitchFamily="18" charset="0"/>
                <a:cs typeface="Times New Roman" panose="02020603050405020304" pitchFamily="18" charset="0"/>
              </a:rPr>
              <a:t>hash1(key</a:t>
            </a:r>
            <a:r>
              <a:rPr lang="en-IN" sz="2400" b="1" dirty="0">
                <a:solidFill>
                  <a:srgbClr val="FF0000"/>
                </a:solidFill>
                <a:latin typeface="Times New Roman" panose="02020603050405020304" pitchFamily="18" charset="0"/>
                <a:cs typeface="Times New Roman" panose="02020603050405020304" pitchFamily="18" charset="0"/>
              </a:rPr>
              <a:t>) = key % TABLE_SIZE</a:t>
            </a:r>
          </a:p>
          <a:p>
            <a:endParaRPr lang="en-IN" sz="2400" b="1" dirty="0">
              <a:latin typeface="Times New Roman" panose="02020603050405020304" pitchFamily="18" charset="0"/>
              <a:cs typeface="Times New Roman" panose="02020603050405020304" pitchFamily="18" charset="0"/>
            </a:endParaRPr>
          </a:p>
          <a:p>
            <a:r>
              <a:rPr lang="en-IN" sz="2400" b="1" i="1" u="sng" dirty="0" smtClean="0">
                <a:solidFill>
                  <a:schemeClr val="tx2"/>
                </a:solidFill>
                <a:latin typeface="Times New Roman" panose="02020603050405020304" pitchFamily="18" charset="0"/>
                <a:cs typeface="Times New Roman" panose="02020603050405020304" pitchFamily="18" charset="0"/>
              </a:rPr>
              <a:t>Second Hash function </a:t>
            </a:r>
            <a:r>
              <a:rPr lang="en-IN" sz="2400" b="1" dirty="0">
                <a:solidFill>
                  <a:schemeClr val="accent3">
                    <a:lumMod val="50000"/>
                  </a:schemeClr>
                </a:solidFill>
                <a:latin typeface="Times New Roman" panose="02020603050405020304" pitchFamily="18" charset="0"/>
                <a:cs typeface="Times New Roman" panose="02020603050405020304" pitchFamily="18" charset="0"/>
              </a:rPr>
              <a:t>: </a:t>
            </a:r>
            <a:r>
              <a:rPr lang="en-IN" sz="2400" b="1" dirty="0" smtClean="0">
                <a:solidFill>
                  <a:schemeClr val="accent3">
                    <a:lumMod val="50000"/>
                  </a:schemeClr>
                </a:solidFill>
                <a:latin typeface="Times New Roman" panose="02020603050405020304" pitchFamily="18" charset="0"/>
                <a:cs typeface="Times New Roman" panose="02020603050405020304" pitchFamily="18" charset="0"/>
              </a:rPr>
              <a:t>  </a:t>
            </a:r>
            <a:r>
              <a:rPr lang="en-IN" sz="2400" b="1" dirty="0" smtClean="0">
                <a:solidFill>
                  <a:srgbClr val="FF0000"/>
                </a:solidFill>
                <a:latin typeface="Times New Roman" panose="02020603050405020304" pitchFamily="18" charset="0"/>
                <a:cs typeface="Times New Roman" panose="02020603050405020304" pitchFamily="18" charset="0"/>
              </a:rPr>
              <a:t>hash2(key</a:t>
            </a:r>
            <a:r>
              <a:rPr lang="en-IN" sz="2400" b="1" dirty="0">
                <a:solidFill>
                  <a:srgbClr val="FF0000"/>
                </a:solidFill>
                <a:latin typeface="Times New Roman" panose="02020603050405020304" pitchFamily="18" charset="0"/>
                <a:cs typeface="Times New Roman" panose="02020603050405020304" pitchFamily="18" charset="0"/>
              </a:rPr>
              <a:t>) = PRIME – (key % PRIME</a:t>
            </a:r>
            <a:r>
              <a:rPr lang="en-IN" sz="2400" b="1" dirty="0">
                <a:solidFill>
                  <a:schemeClr val="accent3">
                    <a:lumMod val="50000"/>
                  </a:schemeClr>
                </a:solidFill>
                <a:latin typeface="Times New Roman" panose="02020603050405020304" pitchFamily="18" charset="0"/>
                <a:cs typeface="Times New Roman" panose="02020603050405020304" pitchFamily="18" charset="0"/>
              </a:rPr>
              <a:t>) </a:t>
            </a:r>
            <a:endParaRPr lang="en-IN" sz="2400" b="1" dirty="0" smtClean="0">
              <a:solidFill>
                <a:schemeClr val="accent3">
                  <a:lumMod val="50000"/>
                </a:schemeClr>
              </a:solidFill>
              <a:latin typeface="Times New Roman" panose="02020603050405020304" pitchFamily="18" charset="0"/>
              <a:cs typeface="Times New Roman" panose="02020603050405020304" pitchFamily="18" charset="0"/>
            </a:endParaRPr>
          </a:p>
          <a:p>
            <a:r>
              <a:rPr lang="en-IN" sz="2400" b="1" dirty="0">
                <a:solidFill>
                  <a:schemeClr val="accent3">
                    <a:lumMod val="50000"/>
                  </a:schemeClr>
                </a:solidFill>
                <a:latin typeface="Times New Roman" panose="02020603050405020304" pitchFamily="18" charset="0"/>
                <a:cs typeface="Times New Roman" panose="02020603050405020304" pitchFamily="18" charset="0"/>
              </a:rPr>
              <a:t> </a:t>
            </a:r>
            <a:r>
              <a:rPr lang="en-IN" sz="2400" b="1" dirty="0" smtClean="0">
                <a:latin typeface="Times New Roman" panose="02020603050405020304" pitchFamily="18" charset="0"/>
                <a:cs typeface="Times New Roman" panose="02020603050405020304" pitchFamily="18" charset="0"/>
              </a:rPr>
              <a:t>where </a:t>
            </a:r>
            <a:r>
              <a:rPr lang="en-IN" sz="2400" b="1" dirty="0">
                <a:latin typeface="Times New Roman" panose="02020603050405020304" pitchFamily="18" charset="0"/>
                <a:cs typeface="Times New Roman" panose="02020603050405020304" pitchFamily="18" charset="0"/>
              </a:rPr>
              <a:t>PRIME is a </a:t>
            </a:r>
            <a:r>
              <a:rPr lang="en-IN" sz="2400" b="1" i="1" dirty="0">
                <a:latin typeface="Times New Roman" panose="02020603050405020304" pitchFamily="18" charset="0"/>
                <a:cs typeface="Times New Roman" panose="02020603050405020304" pitchFamily="18" charset="0"/>
              </a:rPr>
              <a:t>prime smaller than the TABLE_SIZE.</a:t>
            </a:r>
          </a:p>
          <a:p>
            <a:pPr lvl="1"/>
            <a:endParaRPr lang="en-IN" sz="2400" b="1" i="1" dirty="0">
              <a:latin typeface="Times New Roman" panose="02020603050405020304" pitchFamily="18" charset="0"/>
              <a:cs typeface="Times New Roman" panose="02020603050405020304" pitchFamily="18" charset="0"/>
            </a:endParaRPr>
          </a:p>
          <a:p>
            <a:r>
              <a:rPr lang="en-IN" sz="2400" b="1" i="1" dirty="0">
                <a:solidFill>
                  <a:srgbClr val="FF0000"/>
                </a:solidFill>
                <a:latin typeface="Times New Roman" panose="02020603050405020304" pitchFamily="18" charset="0"/>
                <a:cs typeface="Times New Roman" panose="02020603050405020304" pitchFamily="18" charset="0"/>
              </a:rPr>
              <a:t>A good second Hash function is:</a:t>
            </a:r>
          </a:p>
          <a:p>
            <a:r>
              <a:rPr lang="en-IN" sz="2400" b="1" dirty="0" smtClean="0">
                <a:latin typeface="Times New Roman" panose="02020603050405020304" pitchFamily="18" charset="0"/>
                <a:cs typeface="Times New Roman" panose="02020603050405020304" pitchFamily="18" charset="0"/>
              </a:rPr>
              <a:t>- It </a:t>
            </a:r>
            <a:r>
              <a:rPr lang="en-IN" sz="2400" b="1" dirty="0">
                <a:latin typeface="Times New Roman" panose="02020603050405020304" pitchFamily="18" charset="0"/>
                <a:cs typeface="Times New Roman" panose="02020603050405020304" pitchFamily="18" charset="0"/>
              </a:rPr>
              <a:t>must never evaluate to zero</a:t>
            </a:r>
          </a:p>
          <a:p>
            <a:r>
              <a:rPr lang="en-IN" sz="2400" b="1" dirty="0" smtClean="0">
                <a:latin typeface="Times New Roman" panose="02020603050405020304" pitchFamily="18" charset="0"/>
                <a:cs typeface="Times New Roman" panose="02020603050405020304" pitchFamily="18" charset="0"/>
              </a:rPr>
              <a:t>- Must </a:t>
            </a:r>
            <a:r>
              <a:rPr lang="en-IN" sz="2400" b="1" dirty="0">
                <a:latin typeface="Times New Roman" panose="02020603050405020304" pitchFamily="18" charset="0"/>
                <a:cs typeface="Times New Roman" panose="02020603050405020304" pitchFamily="18" charset="0"/>
              </a:rPr>
              <a:t>make sure that all cells can be probed</a:t>
            </a:r>
          </a:p>
        </p:txBody>
      </p:sp>
      <p:sp>
        <p:nvSpPr>
          <p:cNvPr id="3" name="Slide Number Placeholder 2"/>
          <p:cNvSpPr>
            <a:spLocks noGrp="1"/>
          </p:cNvSpPr>
          <p:nvPr>
            <p:ph type="sldNum" sz="quarter" idx="12"/>
          </p:nvPr>
        </p:nvSpPr>
        <p:spPr/>
        <p:txBody>
          <a:bodyPr/>
          <a:lstStyle/>
          <a:p>
            <a:fld id="{DDE4AA30-DFC3-4E29-B54E-BC96FFE3FF90}" type="slidenum">
              <a:rPr lang="en-IN" smtClean="0"/>
              <a:t>38</a:t>
            </a:fld>
            <a:endParaRPr lang="en-IN"/>
          </a:p>
        </p:txBody>
      </p:sp>
    </p:spTree>
    <p:extLst>
      <p:ext uri="{BB962C8B-B14F-4D97-AF65-F5344CB8AC3E}">
        <p14:creationId xmlns:p14="http://schemas.microsoft.com/office/powerpoint/2010/main" val="38325608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2FEAD00-D73B-4904-8810-86D427B19E7C}" type="slidenum">
              <a:rPr lang="en-US"/>
              <a:pPr/>
              <a:t>39</a:t>
            </a:fld>
            <a:endParaRPr lang="en-US"/>
          </a:p>
        </p:txBody>
      </p:sp>
      <p:sp>
        <p:nvSpPr>
          <p:cNvPr id="182274" name="Rectangle 2"/>
          <p:cNvSpPr>
            <a:spLocks noGrp="1" noChangeArrowheads="1"/>
          </p:cNvSpPr>
          <p:nvPr>
            <p:ph type="title"/>
          </p:nvPr>
        </p:nvSpPr>
        <p:spPr>
          <a:xfrm>
            <a:off x="381000" y="0"/>
            <a:ext cx="8458200" cy="1143000"/>
          </a:xfrm>
        </p:spPr>
        <p:txBody>
          <a:bodyPr/>
          <a:lstStyle/>
          <a:p>
            <a:r>
              <a:rPr lang="en-US" sz="3600" b="1" dirty="0" smtClean="0">
                <a:solidFill>
                  <a:srgbClr val="FF0000"/>
                </a:solidFill>
                <a:latin typeface="Times New Roman" panose="02020603050405020304" pitchFamily="18" charset="0"/>
                <a:cs typeface="Times New Roman" panose="02020603050405020304" pitchFamily="18" charset="0"/>
              </a:rPr>
              <a:t>Double </a:t>
            </a:r>
            <a:r>
              <a:rPr lang="en-US" sz="3600" b="1" dirty="0">
                <a:solidFill>
                  <a:srgbClr val="FF0000"/>
                </a:solidFill>
                <a:latin typeface="Times New Roman" panose="02020603050405020304" pitchFamily="18" charset="0"/>
                <a:cs typeface="Times New Roman" panose="02020603050405020304" pitchFamily="18" charset="0"/>
              </a:rPr>
              <a:t>Hashing</a:t>
            </a:r>
          </a:p>
        </p:txBody>
      </p:sp>
      <p:sp>
        <p:nvSpPr>
          <p:cNvPr id="182275" name="Rectangle 3"/>
          <p:cNvSpPr>
            <a:spLocks noGrp="1" noChangeArrowheads="1"/>
          </p:cNvSpPr>
          <p:nvPr>
            <p:ph type="body" idx="1"/>
          </p:nvPr>
        </p:nvSpPr>
        <p:spPr>
          <a:xfrm>
            <a:off x="685800" y="990600"/>
            <a:ext cx="8077200" cy="5606752"/>
          </a:xfrm>
        </p:spPr>
        <p:txBody>
          <a:bodyPr/>
          <a:lstStyle/>
          <a:p>
            <a:r>
              <a:rPr lang="en-US" sz="2800" b="1" dirty="0">
                <a:latin typeface="Times New Roman" panose="02020603050405020304" pitchFamily="18" charset="0"/>
                <a:cs typeface="Times New Roman" panose="02020603050405020304" pitchFamily="18" charset="0"/>
              </a:rPr>
              <a:t>Idea</a:t>
            </a:r>
            <a:r>
              <a:rPr lang="en-US" sz="2800" dirty="0">
                <a:latin typeface="Times New Roman" panose="02020603050405020304" pitchFamily="18" charset="0"/>
                <a:cs typeface="Times New Roman" panose="02020603050405020304" pitchFamily="18" charset="0"/>
              </a:rPr>
              <a:t>: Spread out the search for an empty slot by using a second hash function</a:t>
            </a:r>
          </a:p>
          <a:p>
            <a:pPr lvl="1"/>
            <a:r>
              <a:rPr lang="en-US" sz="2400" i="1" dirty="0">
                <a:latin typeface="Times New Roman" panose="02020603050405020304" pitchFamily="18" charset="0"/>
                <a:cs typeface="Times New Roman" panose="02020603050405020304" pitchFamily="18" charset="0"/>
              </a:rPr>
              <a:t>No primary or secondary clustering</a:t>
            </a:r>
            <a:endParaRPr lang="en-US" sz="2400" i="1" dirty="0">
              <a:solidFill>
                <a:srgbClr val="FF0000"/>
              </a:solidFill>
              <a:latin typeface="Times New Roman" panose="02020603050405020304" pitchFamily="18" charset="0"/>
              <a:cs typeface="Times New Roman" panose="02020603050405020304" pitchFamily="18" charset="0"/>
            </a:endParaRPr>
          </a:p>
          <a:p>
            <a:r>
              <a:rPr lang="en-US" sz="3000" dirty="0">
                <a:solidFill>
                  <a:srgbClr val="FF0000"/>
                </a:solidFill>
                <a:latin typeface="Times New Roman" panose="02020603050405020304" pitchFamily="18" charset="0"/>
                <a:cs typeface="Times New Roman" panose="02020603050405020304" pitchFamily="18" charset="0"/>
              </a:rPr>
              <a:t>h</a:t>
            </a:r>
            <a:r>
              <a:rPr lang="en-US" sz="3000" baseline="-25000" dirty="0">
                <a:solidFill>
                  <a:srgbClr val="FF0000"/>
                </a:solidFill>
                <a:latin typeface="Times New Roman" panose="02020603050405020304" pitchFamily="18" charset="0"/>
                <a:cs typeface="Times New Roman" panose="02020603050405020304" pitchFamily="18" charset="0"/>
              </a:rPr>
              <a:t>i</a:t>
            </a:r>
            <a:r>
              <a:rPr lang="en-US" sz="3000" dirty="0">
                <a:solidFill>
                  <a:srgbClr val="FF0000"/>
                </a:solidFill>
                <a:latin typeface="Times New Roman" panose="02020603050405020304" pitchFamily="18" charset="0"/>
                <a:cs typeface="Times New Roman" panose="02020603050405020304" pitchFamily="18" charset="0"/>
              </a:rPr>
              <a:t>(X) = (Hash</a:t>
            </a:r>
            <a:r>
              <a:rPr lang="en-US" sz="2600" baseline="-25000" dirty="0">
                <a:solidFill>
                  <a:srgbClr val="FF0000"/>
                </a:solidFill>
                <a:latin typeface="Times New Roman" panose="02020603050405020304" pitchFamily="18" charset="0"/>
                <a:cs typeface="Times New Roman" panose="02020603050405020304" pitchFamily="18" charset="0"/>
              </a:rPr>
              <a:t>1</a:t>
            </a:r>
            <a:r>
              <a:rPr lang="en-US" sz="3000" dirty="0">
                <a:solidFill>
                  <a:srgbClr val="FF0000"/>
                </a:solidFill>
                <a:latin typeface="Times New Roman" panose="02020603050405020304" pitchFamily="18" charset="0"/>
                <a:cs typeface="Times New Roman" panose="02020603050405020304" pitchFamily="18" charset="0"/>
              </a:rPr>
              <a:t>(X) + </a:t>
            </a:r>
            <a:r>
              <a:rPr lang="en-US" sz="3000" dirty="0" smtClean="0">
                <a:solidFill>
                  <a:srgbClr val="FF0000"/>
                </a:solidFill>
                <a:latin typeface="Times New Roman" panose="02020603050405020304" pitchFamily="18" charset="0"/>
                <a:cs typeface="Times New Roman" panose="02020603050405020304" pitchFamily="18" charset="0"/>
              </a:rPr>
              <a:t>i</a:t>
            </a:r>
            <a:r>
              <a:rPr lang="en-US" sz="3000" dirty="0" smtClean="0">
                <a:solidFill>
                  <a:srgbClr val="FF0000"/>
                </a:solidFill>
                <a:latin typeface="Times New Roman" panose="02020603050405020304" pitchFamily="18" charset="0"/>
                <a:cs typeface="Times New Roman" panose="02020603050405020304" pitchFamily="18" charset="0"/>
                <a:sym typeface="r_symbol" pitchFamily="49" charset="2"/>
              </a:rPr>
              <a:t>*</a:t>
            </a:r>
            <a:r>
              <a:rPr lang="en-US" sz="3000" dirty="0" smtClean="0">
                <a:solidFill>
                  <a:srgbClr val="FF0000"/>
                </a:solidFill>
                <a:latin typeface="Times New Roman" panose="02020603050405020304" pitchFamily="18" charset="0"/>
                <a:cs typeface="Times New Roman" panose="02020603050405020304" pitchFamily="18" charset="0"/>
              </a:rPr>
              <a:t>Hash</a:t>
            </a:r>
            <a:r>
              <a:rPr lang="en-US" sz="3000" baseline="-25000" dirty="0" smtClean="0">
                <a:solidFill>
                  <a:srgbClr val="FF0000"/>
                </a:solidFill>
                <a:latin typeface="Times New Roman" panose="02020603050405020304" pitchFamily="18" charset="0"/>
                <a:cs typeface="Times New Roman" panose="02020603050405020304" pitchFamily="18" charset="0"/>
              </a:rPr>
              <a:t>2</a:t>
            </a:r>
            <a:r>
              <a:rPr lang="en-US" sz="3000" dirty="0" smtClean="0">
                <a:solidFill>
                  <a:srgbClr val="FF0000"/>
                </a:solidFill>
                <a:latin typeface="Times New Roman" panose="02020603050405020304" pitchFamily="18" charset="0"/>
                <a:cs typeface="Times New Roman" panose="02020603050405020304" pitchFamily="18" charset="0"/>
              </a:rPr>
              <a:t>(X</a:t>
            </a:r>
            <a:r>
              <a:rPr lang="en-US" sz="3000" dirty="0">
                <a:solidFill>
                  <a:srgbClr val="FF0000"/>
                </a:solidFill>
                <a:latin typeface="Times New Roman" panose="02020603050405020304" pitchFamily="18" charset="0"/>
                <a:cs typeface="Times New Roman" panose="02020603050405020304" pitchFamily="18" charset="0"/>
              </a:rPr>
              <a:t>)) mod </a:t>
            </a:r>
            <a:r>
              <a:rPr lang="en-US" sz="3000" i="1" dirty="0" smtClean="0">
                <a:solidFill>
                  <a:srgbClr val="FF0000"/>
                </a:solidFill>
                <a:latin typeface="Times New Roman" panose="02020603050405020304" pitchFamily="18" charset="0"/>
                <a:cs typeface="Times New Roman" panose="02020603050405020304" pitchFamily="18" charset="0"/>
              </a:rPr>
              <a:t>Table Size   </a:t>
            </a:r>
            <a:endParaRPr lang="en-US" sz="3000" i="1" dirty="0">
              <a:solidFill>
                <a:srgbClr val="FF0000"/>
              </a:solidFill>
              <a:latin typeface="Times New Roman" panose="02020603050405020304" pitchFamily="18" charset="0"/>
              <a:cs typeface="Times New Roman" panose="02020603050405020304" pitchFamily="18" charset="0"/>
            </a:endParaRPr>
          </a:p>
          <a:p>
            <a:pPr lvl="1">
              <a:buFontTx/>
              <a:buNone/>
            </a:pPr>
            <a:r>
              <a:rPr lang="en-US" sz="2600" dirty="0">
                <a:solidFill>
                  <a:srgbClr val="FF0000"/>
                </a:solidFill>
                <a:latin typeface="Times New Roman" panose="02020603050405020304" pitchFamily="18" charset="0"/>
                <a:cs typeface="Times New Roman" panose="02020603050405020304" pitchFamily="18" charset="0"/>
              </a:rPr>
              <a:t>for</a:t>
            </a:r>
            <a:r>
              <a:rPr lang="en-US" sz="2600" i="1" dirty="0">
                <a:solidFill>
                  <a:srgbClr val="FF0000"/>
                </a:solidFill>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i = 0, 1, 2, … </a:t>
            </a:r>
          </a:p>
          <a:p>
            <a:r>
              <a:rPr lang="en-US" sz="3000" dirty="0">
                <a:latin typeface="Times New Roman" panose="02020603050405020304" pitchFamily="18" charset="0"/>
                <a:cs typeface="Times New Roman" panose="02020603050405020304" pitchFamily="18" charset="0"/>
              </a:rPr>
              <a:t>Good choice of Hash</a:t>
            </a:r>
            <a:r>
              <a:rPr lang="en-US" sz="3000" baseline="-25000" dirty="0">
                <a:latin typeface="Times New Roman" panose="02020603050405020304" pitchFamily="18" charset="0"/>
                <a:cs typeface="Times New Roman" panose="02020603050405020304" pitchFamily="18" charset="0"/>
              </a:rPr>
              <a:t>2</a:t>
            </a:r>
            <a:r>
              <a:rPr lang="en-US" sz="3000" dirty="0">
                <a:latin typeface="Times New Roman" panose="02020603050405020304" pitchFamily="18" charset="0"/>
                <a:cs typeface="Times New Roman" panose="02020603050405020304" pitchFamily="18" charset="0"/>
              </a:rPr>
              <a:t>(X) can guarantee does not get “stuck” as long as </a:t>
            </a:r>
            <a:r>
              <a:rPr lang="en-US" sz="2800" dirty="0">
                <a:latin typeface="Times New Roman" panose="02020603050405020304" pitchFamily="18" charset="0"/>
                <a:cs typeface="Times New Roman" panose="02020603050405020304" pitchFamily="18" charset="0"/>
                <a:sym typeface="Symbol" pitchFamily="18" charset="2"/>
              </a:rPr>
              <a:t> &lt; 1</a:t>
            </a:r>
            <a:endParaRPr lang="en-US" sz="30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Integer keys:</a:t>
            </a:r>
            <a:br>
              <a:rPr lang="en-US" sz="2600" dirty="0">
                <a:latin typeface="Times New Roman" panose="02020603050405020304" pitchFamily="18" charset="0"/>
                <a:cs typeface="Times New Roman" panose="02020603050405020304" pitchFamily="18" charset="0"/>
              </a:rPr>
            </a:br>
            <a:r>
              <a:rPr lang="en-US" sz="2600" b="1" dirty="0">
                <a:solidFill>
                  <a:srgbClr val="0000FF"/>
                </a:solidFill>
                <a:latin typeface="Times New Roman" panose="02020603050405020304" pitchFamily="18" charset="0"/>
                <a:cs typeface="Times New Roman" panose="02020603050405020304" pitchFamily="18" charset="0"/>
              </a:rPr>
              <a:t>Hash</a:t>
            </a:r>
            <a:r>
              <a:rPr lang="en-US" sz="2600" b="1" baseline="-25000" dirty="0">
                <a:solidFill>
                  <a:srgbClr val="0000FF"/>
                </a:solidFill>
                <a:latin typeface="Times New Roman" panose="02020603050405020304" pitchFamily="18" charset="0"/>
                <a:cs typeface="Times New Roman" panose="02020603050405020304" pitchFamily="18" charset="0"/>
              </a:rPr>
              <a:t>2</a:t>
            </a:r>
            <a:r>
              <a:rPr lang="en-US" sz="2600" b="1" dirty="0">
                <a:solidFill>
                  <a:srgbClr val="0000FF"/>
                </a:solidFill>
                <a:latin typeface="Times New Roman" panose="02020603050405020304" pitchFamily="18" charset="0"/>
                <a:cs typeface="Times New Roman" panose="02020603050405020304" pitchFamily="18" charset="0"/>
              </a:rPr>
              <a:t>(X) = R – (X mod R)</a:t>
            </a:r>
            <a:br>
              <a:rPr lang="en-US" sz="2600" b="1" dirty="0">
                <a:solidFill>
                  <a:srgbClr val="0000FF"/>
                </a:solidFill>
                <a:latin typeface="Times New Roman" panose="02020603050405020304" pitchFamily="18" charset="0"/>
                <a:cs typeface="Times New Roman" panose="02020603050405020304" pitchFamily="18" charset="0"/>
              </a:rPr>
            </a:br>
            <a:r>
              <a:rPr lang="en-US" b="1" dirty="0">
                <a:solidFill>
                  <a:srgbClr val="0000FF"/>
                </a:solidFill>
                <a:latin typeface="Times New Roman" panose="02020603050405020304" pitchFamily="18" charset="0"/>
                <a:cs typeface="Times New Roman" panose="02020603050405020304" pitchFamily="18" charset="0"/>
              </a:rPr>
              <a:t>where R is a prime smaller than </a:t>
            </a:r>
            <a:r>
              <a:rPr lang="en-US" b="1" i="1" dirty="0" smtClean="0">
                <a:solidFill>
                  <a:srgbClr val="0000FF"/>
                </a:solidFill>
                <a:latin typeface="Times New Roman" panose="02020603050405020304" pitchFamily="18" charset="0"/>
                <a:cs typeface="Times New Roman" panose="02020603050405020304" pitchFamily="18" charset="0"/>
              </a:rPr>
              <a:t>Table Size   </a:t>
            </a:r>
            <a:endParaRPr lang="en-US" b="1" dirty="0">
              <a:solidFill>
                <a:srgbClr val="0000FF"/>
              </a:solidFill>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0773185"/>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81" y="25121"/>
            <a:ext cx="8229600" cy="562074"/>
          </a:xfrm>
        </p:spPr>
        <p:txBody>
          <a:bodyPr>
            <a:normAutofit fontScale="90000"/>
          </a:bodyPr>
          <a:lstStyle/>
          <a:p>
            <a:pPr algn="l"/>
            <a:r>
              <a:rPr lang="en-US" b="1" dirty="0" smtClean="0">
                <a:solidFill>
                  <a:srgbClr val="FF0000"/>
                </a:solidFill>
                <a:latin typeface="Times New Roman" panose="02020603050405020304" pitchFamily="18" charset="0"/>
                <a:cs typeface="Times New Roman" panose="02020603050405020304" pitchFamily="18" charset="0"/>
              </a:rPr>
              <a:t>An Example</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529"/>
          <a:stretch/>
        </p:blipFill>
        <p:spPr bwMode="auto">
          <a:xfrm>
            <a:off x="107505" y="735933"/>
            <a:ext cx="8748418" cy="6122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DDE4AA30-DFC3-4E29-B54E-BC96FFE3FF90}" type="slidenum">
              <a:rPr lang="en-IN" smtClean="0"/>
              <a:t>40</a:t>
            </a:fld>
            <a:endParaRPr lang="en-IN"/>
          </a:p>
        </p:txBody>
      </p:sp>
    </p:spTree>
    <p:extLst>
      <p:ext uri="{BB962C8B-B14F-4D97-AF65-F5344CB8AC3E}">
        <p14:creationId xmlns:p14="http://schemas.microsoft.com/office/powerpoint/2010/main" val="11155897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5"/>
          <p:cNvSpPr>
            <a:spLocks noGrp="1"/>
          </p:cNvSpPr>
          <p:nvPr>
            <p:ph type="sldNum" sz="quarter" idx="12"/>
          </p:nvPr>
        </p:nvSpPr>
        <p:spPr/>
        <p:txBody>
          <a:bodyPr/>
          <a:lstStyle/>
          <a:p>
            <a:fld id="{95B4092B-831D-4CA6-8579-B90419A996F2}" type="slidenum">
              <a:rPr lang="en-US"/>
              <a:pPr/>
              <a:t>41</a:t>
            </a:fld>
            <a:endParaRPr lang="en-US"/>
          </a:p>
        </p:txBody>
      </p:sp>
      <p:sp>
        <p:nvSpPr>
          <p:cNvPr id="183298" name="Rectangle 2"/>
          <p:cNvSpPr>
            <a:spLocks noGrp="1" noChangeArrowheads="1"/>
          </p:cNvSpPr>
          <p:nvPr>
            <p:ph type="title"/>
          </p:nvPr>
        </p:nvSpPr>
        <p:spPr>
          <a:xfrm>
            <a:off x="762000" y="0"/>
            <a:ext cx="7772400" cy="1143000"/>
          </a:xfrm>
        </p:spPr>
        <p:txBody>
          <a:bodyPr/>
          <a:lstStyle/>
          <a:p>
            <a:r>
              <a:rPr lang="en-US" b="1" dirty="0" smtClean="0">
                <a:solidFill>
                  <a:srgbClr val="FF0000"/>
                </a:solidFill>
              </a:rPr>
              <a:t>Example 2</a:t>
            </a:r>
            <a:endParaRPr lang="en-US" b="1" dirty="0">
              <a:solidFill>
                <a:srgbClr val="FF0000"/>
              </a:solidFill>
            </a:endParaRPr>
          </a:p>
        </p:txBody>
      </p:sp>
      <p:sp>
        <p:nvSpPr>
          <p:cNvPr id="183299"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83300"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01"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2"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3"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4"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5"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06"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7"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08"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09"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10"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11"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12"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13"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14" name="Text Box 18"/>
          <p:cNvSpPr txBox="1">
            <a:spLocks noChangeArrowheads="1"/>
          </p:cNvSpPr>
          <p:nvPr/>
        </p:nvSpPr>
        <p:spPr bwMode="auto">
          <a:xfrm>
            <a:off x="1128713" y="9906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14</a:t>
            </a:r>
            <a:r>
              <a:rPr lang="en-US"/>
              <a:t>)</a:t>
            </a:r>
          </a:p>
          <a:p>
            <a:pPr eaLnBrk="0" hangingPunct="0"/>
            <a:r>
              <a:rPr lang="en-US" sz="2000"/>
              <a:t>14%7 = 0</a:t>
            </a:r>
          </a:p>
        </p:txBody>
      </p:sp>
      <p:sp>
        <p:nvSpPr>
          <p:cNvPr id="183315"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16"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17"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18"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19"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20"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21"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22"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23"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24"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25"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26"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27"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28"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29" name="Text Box 33"/>
          <p:cNvSpPr txBox="1">
            <a:spLocks noChangeArrowheads="1"/>
          </p:cNvSpPr>
          <p:nvPr/>
        </p:nvSpPr>
        <p:spPr bwMode="auto">
          <a:xfrm>
            <a:off x="2620963"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83330"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31"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32"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33"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4"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35"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6"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7"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38"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39"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40"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41"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42"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43"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44" name="Text Box 48"/>
          <p:cNvSpPr txBox="1">
            <a:spLocks noChangeArrowheads="1"/>
          </p:cNvSpPr>
          <p:nvPr/>
        </p:nvSpPr>
        <p:spPr bwMode="auto">
          <a:xfrm>
            <a:off x="3933825" y="990600"/>
            <a:ext cx="14255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21</a:t>
            </a:r>
            <a:r>
              <a:rPr lang="en-US"/>
              <a:t>)</a:t>
            </a:r>
          </a:p>
          <a:p>
            <a:pPr eaLnBrk="0" hangingPunct="0"/>
            <a:r>
              <a:rPr lang="en-US" sz="2000"/>
              <a:t>21%7 =0</a:t>
            </a:r>
          </a:p>
          <a:p>
            <a:pPr eaLnBrk="0" hangingPunct="0"/>
            <a:r>
              <a:rPr lang="en-US" sz="2000"/>
              <a:t>5-(21%5)=4</a:t>
            </a:r>
          </a:p>
        </p:txBody>
      </p:sp>
      <p:sp>
        <p:nvSpPr>
          <p:cNvPr id="183345"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2</a:t>
            </a:r>
          </a:p>
        </p:txBody>
      </p:sp>
      <p:sp>
        <p:nvSpPr>
          <p:cNvPr id="183346"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47"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3348"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49"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0"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1"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2"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53"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54"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55"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56"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57"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58"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59" name="Text Box 63"/>
          <p:cNvSpPr txBox="1">
            <a:spLocks noChangeArrowheads="1"/>
          </p:cNvSpPr>
          <p:nvPr/>
        </p:nvSpPr>
        <p:spPr bwMode="auto">
          <a:xfrm>
            <a:off x="5456238"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a:t>
            </a:r>
            <a:r>
              <a:rPr lang="en-US"/>
              <a:t>)</a:t>
            </a:r>
          </a:p>
          <a:p>
            <a:pPr eaLnBrk="0" hangingPunct="0"/>
            <a:r>
              <a:rPr lang="en-US" sz="2000"/>
              <a:t>2%7 = 2</a:t>
            </a:r>
          </a:p>
        </p:txBody>
      </p:sp>
      <p:sp>
        <p:nvSpPr>
          <p:cNvPr id="183360"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61"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62"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3"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64"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65"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3366"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67" name="Rectangle 71"/>
          <p:cNvSpPr>
            <a:spLocks noChangeArrowheads="1"/>
          </p:cNvSpPr>
          <p:nvPr/>
        </p:nvSpPr>
        <p:spPr bwMode="auto">
          <a:xfrm>
            <a:off x="7372350" y="48641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8"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9"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70"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71"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72"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73"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74"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75"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76"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77" name="Text Box 81"/>
          <p:cNvSpPr txBox="1">
            <a:spLocks noChangeArrowheads="1"/>
          </p:cNvSpPr>
          <p:nvPr/>
        </p:nvSpPr>
        <p:spPr bwMode="auto">
          <a:xfrm>
            <a:off x="6856413" y="1009650"/>
            <a:ext cx="125066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7</a:t>
            </a:r>
            <a:r>
              <a:rPr lang="en-US" dirty="0"/>
              <a:t>)</a:t>
            </a:r>
          </a:p>
          <a:p>
            <a:pPr eaLnBrk="0" hangingPunct="0"/>
            <a:r>
              <a:rPr lang="en-US" sz="2000" dirty="0"/>
              <a:t>7%7 = 0</a:t>
            </a:r>
          </a:p>
          <a:p>
            <a:pPr eaLnBrk="0" hangingPunct="0"/>
            <a:r>
              <a:rPr lang="en-US" sz="2000" dirty="0"/>
              <a:t>5-</a:t>
            </a:r>
            <a:r>
              <a:rPr lang="en-US" sz="2000" dirty="0" smtClean="0"/>
              <a:t>(7%5)=3</a:t>
            </a:r>
            <a:endParaRPr lang="en-US" sz="2000" dirty="0"/>
          </a:p>
        </p:txBody>
      </p:sp>
      <p:sp>
        <p:nvSpPr>
          <p:cNvPr id="183378"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79" name="Text Box 83"/>
          <p:cNvSpPr txBox="1">
            <a:spLocks noChangeArrowheads="1"/>
          </p:cNvSpPr>
          <p:nvPr/>
        </p:nvSpPr>
        <p:spPr bwMode="auto">
          <a:xfrm>
            <a:off x="7315200" y="6019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solidFill>
                  <a:srgbClr val="FF0000"/>
                </a:solidFill>
              </a:rPr>
              <a:t>??</a:t>
            </a:r>
          </a:p>
        </p:txBody>
      </p:sp>
      <p:sp>
        <p:nvSpPr>
          <p:cNvPr id="2" name="TextBox 1"/>
          <p:cNvSpPr txBox="1"/>
          <p:nvPr/>
        </p:nvSpPr>
        <p:spPr>
          <a:xfrm>
            <a:off x="3841750" y="1872734"/>
            <a:ext cx="1787525" cy="369332"/>
          </a:xfrm>
          <a:prstGeom prst="rect">
            <a:avLst/>
          </a:prstGeom>
          <a:noFill/>
        </p:spPr>
        <p:txBody>
          <a:bodyPr wrap="square" rtlCol="0">
            <a:spAutoFit/>
          </a:bodyPr>
          <a:lstStyle/>
          <a:p>
            <a:r>
              <a:rPr lang="en-IN" dirty="0" smtClean="0"/>
              <a:t> (0+1*4)%7=4</a:t>
            </a:r>
            <a:endParaRPr lang="en-IN" dirty="0"/>
          </a:p>
        </p:txBody>
      </p:sp>
    </p:spTree>
    <p:extLst>
      <p:ext uri="{BB962C8B-B14F-4D97-AF65-F5344CB8AC3E}">
        <p14:creationId xmlns:p14="http://schemas.microsoft.com/office/powerpoint/2010/main" val="2042777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lide Number Placeholder 5"/>
          <p:cNvSpPr>
            <a:spLocks noGrp="1"/>
          </p:cNvSpPr>
          <p:nvPr>
            <p:ph type="sldNum" sz="quarter" idx="12"/>
          </p:nvPr>
        </p:nvSpPr>
        <p:spPr/>
        <p:txBody>
          <a:bodyPr/>
          <a:lstStyle/>
          <a:p>
            <a:fld id="{FC217246-278A-48CD-BCAC-9D5846A0AA78}" type="slidenum">
              <a:rPr lang="en-US"/>
              <a:pPr/>
              <a:t>42</a:t>
            </a:fld>
            <a:endParaRPr lang="en-US"/>
          </a:p>
        </p:txBody>
      </p:sp>
      <p:sp>
        <p:nvSpPr>
          <p:cNvPr id="185346" name="Rectangle 2"/>
          <p:cNvSpPr>
            <a:spLocks noGrp="1" noChangeArrowheads="1"/>
          </p:cNvSpPr>
          <p:nvPr>
            <p:ph type="title"/>
          </p:nvPr>
        </p:nvSpPr>
        <p:spPr>
          <a:xfrm>
            <a:off x="762000" y="0"/>
            <a:ext cx="7772400" cy="1143000"/>
          </a:xfrm>
        </p:spPr>
        <p:txBody>
          <a:bodyPr/>
          <a:lstStyle/>
          <a:p>
            <a:r>
              <a:rPr lang="en-US" b="1" dirty="0" smtClean="0">
                <a:solidFill>
                  <a:srgbClr val="FF0000"/>
                </a:solidFill>
              </a:rPr>
              <a:t>Example 2</a:t>
            </a:r>
            <a:endParaRPr lang="en-US" dirty="0"/>
          </a:p>
        </p:txBody>
      </p:sp>
      <p:sp>
        <p:nvSpPr>
          <p:cNvPr id="185347"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85348"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49"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0"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1"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2"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3"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354"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5"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56"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57"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58"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59"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60"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61"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62" name="Text Box 18"/>
          <p:cNvSpPr txBox="1">
            <a:spLocks noChangeArrowheads="1"/>
          </p:cNvSpPr>
          <p:nvPr/>
        </p:nvSpPr>
        <p:spPr bwMode="auto">
          <a:xfrm>
            <a:off x="1128713" y="9906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14</a:t>
            </a:r>
            <a:r>
              <a:rPr lang="en-US" dirty="0"/>
              <a:t>)</a:t>
            </a:r>
          </a:p>
          <a:p>
            <a:pPr eaLnBrk="0" hangingPunct="0"/>
            <a:r>
              <a:rPr lang="en-US" sz="2000" dirty="0"/>
              <a:t>14%7 = 0</a:t>
            </a:r>
          </a:p>
        </p:txBody>
      </p:sp>
      <p:sp>
        <p:nvSpPr>
          <p:cNvPr id="185363"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364"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65"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66"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67"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368"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69"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70"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71"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72"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73"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74"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75"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76"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77" name="Text Box 33"/>
          <p:cNvSpPr txBox="1">
            <a:spLocks noChangeArrowheads="1"/>
          </p:cNvSpPr>
          <p:nvPr/>
        </p:nvSpPr>
        <p:spPr bwMode="auto">
          <a:xfrm>
            <a:off x="2620963"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8</a:t>
            </a:r>
            <a:r>
              <a:rPr lang="en-US" dirty="0"/>
              <a:t>)</a:t>
            </a:r>
          </a:p>
          <a:p>
            <a:pPr eaLnBrk="0" hangingPunct="0"/>
            <a:r>
              <a:rPr lang="en-US" sz="2000" dirty="0"/>
              <a:t>8%7 = 1</a:t>
            </a:r>
          </a:p>
        </p:txBody>
      </p:sp>
      <p:sp>
        <p:nvSpPr>
          <p:cNvPr id="185378"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379"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80"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81"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2"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383"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4"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5"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86"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87"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88"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89"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90"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91"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92" name="Text Box 48"/>
          <p:cNvSpPr txBox="1">
            <a:spLocks noChangeArrowheads="1"/>
          </p:cNvSpPr>
          <p:nvPr/>
        </p:nvSpPr>
        <p:spPr bwMode="auto">
          <a:xfrm>
            <a:off x="3933825" y="990600"/>
            <a:ext cx="151035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21</a:t>
            </a:r>
            <a:r>
              <a:rPr lang="en-US" dirty="0"/>
              <a:t>)</a:t>
            </a:r>
          </a:p>
          <a:p>
            <a:pPr eaLnBrk="0" hangingPunct="0"/>
            <a:r>
              <a:rPr lang="en-US" sz="2000" dirty="0"/>
              <a:t>21%7 =0</a:t>
            </a:r>
          </a:p>
          <a:p>
            <a:pPr eaLnBrk="0" hangingPunct="0"/>
            <a:r>
              <a:rPr lang="en-US" sz="2000" dirty="0" smtClean="0"/>
              <a:t>5-1(21%5</a:t>
            </a:r>
            <a:r>
              <a:rPr lang="en-US" sz="2000" dirty="0"/>
              <a:t>)=4</a:t>
            </a:r>
          </a:p>
        </p:txBody>
      </p:sp>
      <p:sp>
        <p:nvSpPr>
          <p:cNvPr id="185393"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2</a:t>
            </a:r>
          </a:p>
        </p:txBody>
      </p:sp>
      <p:sp>
        <p:nvSpPr>
          <p:cNvPr id="185394"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95"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5396"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397"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98"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99"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00"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401"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402"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403"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404"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405"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406"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407" name="Text Box 63"/>
          <p:cNvSpPr txBox="1">
            <a:spLocks noChangeArrowheads="1"/>
          </p:cNvSpPr>
          <p:nvPr/>
        </p:nvSpPr>
        <p:spPr bwMode="auto">
          <a:xfrm>
            <a:off x="5456238"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a:t>
            </a:r>
            <a:r>
              <a:rPr lang="en-US" dirty="0"/>
              <a:t>)</a:t>
            </a:r>
          </a:p>
          <a:p>
            <a:pPr eaLnBrk="0" hangingPunct="0"/>
            <a:r>
              <a:rPr lang="en-US" sz="2000" dirty="0"/>
              <a:t>2%7 = 2</a:t>
            </a:r>
          </a:p>
        </p:txBody>
      </p:sp>
      <p:sp>
        <p:nvSpPr>
          <p:cNvPr id="185408"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409"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410"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1"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412"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413"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5414"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415" name="Rectangle 71"/>
          <p:cNvSpPr>
            <a:spLocks noChangeArrowheads="1"/>
          </p:cNvSpPr>
          <p:nvPr/>
        </p:nvSpPr>
        <p:spPr bwMode="auto">
          <a:xfrm>
            <a:off x="7359650" y="3804443"/>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dirty="0"/>
              <a:t>7</a:t>
            </a:r>
          </a:p>
        </p:txBody>
      </p:sp>
      <p:sp>
        <p:nvSpPr>
          <p:cNvPr id="185416"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7"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8"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419"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420"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421"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422"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423"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424"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425" name="Text Box 81"/>
          <p:cNvSpPr txBox="1">
            <a:spLocks noChangeArrowheads="1"/>
          </p:cNvSpPr>
          <p:nvPr/>
        </p:nvSpPr>
        <p:spPr bwMode="auto">
          <a:xfrm>
            <a:off x="6856413" y="1009650"/>
            <a:ext cx="146000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dirty="0"/>
              <a:t>insert(</a:t>
            </a:r>
            <a:r>
              <a:rPr lang="en-US" dirty="0">
                <a:solidFill>
                  <a:srgbClr val="FF0000"/>
                </a:solidFill>
              </a:rPr>
              <a:t>7</a:t>
            </a:r>
            <a:r>
              <a:rPr lang="en-US" dirty="0"/>
              <a:t>)</a:t>
            </a:r>
          </a:p>
          <a:p>
            <a:pPr eaLnBrk="0" hangingPunct="0"/>
            <a:r>
              <a:rPr lang="en-US" dirty="0"/>
              <a:t>7%7 = </a:t>
            </a:r>
            <a:r>
              <a:rPr lang="en-US" dirty="0" smtClean="0"/>
              <a:t>0 +</a:t>
            </a:r>
            <a:endParaRPr lang="en-US" dirty="0"/>
          </a:p>
          <a:p>
            <a:pPr eaLnBrk="0" hangingPunct="0"/>
            <a:r>
              <a:rPr lang="en-US" dirty="0"/>
              <a:t>5-</a:t>
            </a:r>
            <a:r>
              <a:rPr lang="en-US" dirty="0" smtClean="0"/>
              <a:t>(7%5)=3</a:t>
            </a:r>
          </a:p>
          <a:p>
            <a:pPr eaLnBrk="0" hangingPunct="0"/>
            <a:r>
              <a:rPr lang="en-US" dirty="0" smtClean="0"/>
              <a:t> </a:t>
            </a:r>
            <a:endParaRPr lang="en-US" dirty="0"/>
          </a:p>
        </p:txBody>
      </p:sp>
      <p:sp>
        <p:nvSpPr>
          <p:cNvPr id="185426"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427" name="Text Box 83"/>
          <p:cNvSpPr txBox="1">
            <a:spLocks noChangeArrowheads="1"/>
          </p:cNvSpPr>
          <p:nvPr/>
        </p:nvSpPr>
        <p:spPr bwMode="auto">
          <a:xfrm>
            <a:off x="7315200" y="6019800"/>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dirty="0" smtClean="0">
                <a:solidFill>
                  <a:srgbClr val="FF0000"/>
                </a:solidFill>
              </a:rPr>
              <a:t>2</a:t>
            </a:r>
            <a:endParaRPr lang="en-US" dirty="0">
              <a:solidFill>
                <a:srgbClr val="FF0000"/>
              </a:solidFill>
            </a:endParaRPr>
          </a:p>
        </p:txBody>
      </p:sp>
      <p:sp>
        <p:nvSpPr>
          <p:cNvPr id="88" name="Rectangle 72"/>
          <p:cNvSpPr>
            <a:spLocks noChangeArrowheads="1"/>
          </p:cNvSpPr>
          <p:nvPr/>
        </p:nvSpPr>
        <p:spPr bwMode="auto">
          <a:xfrm>
            <a:off x="7380312" y="4850929"/>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Tree>
    <p:extLst>
      <p:ext uri="{BB962C8B-B14F-4D97-AF65-F5344CB8AC3E}">
        <p14:creationId xmlns:p14="http://schemas.microsoft.com/office/powerpoint/2010/main" val="14560358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579296" cy="5937523"/>
          </a:xfrm>
        </p:spPr>
        <p:txBody>
          <a:bodyPr/>
          <a:lstStyle/>
          <a:p>
            <a:pPr marL="0" indent="0">
              <a:buNone/>
            </a:pPr>
            <a:r>
              <a:rPr lang="en-IN" b="1" dirty="0" smtClean="0">
                <a:solidFill>
                  <a:srgbClr val="FF0000"/>
                </a:solidFill>
              </a:rPr>
              <a:t>Advantages:</a:t>
            </a:r>
          </a:p>
          <a:p>
            <a:pPr marL="0" indent="0">
              <a:buNone/>
            </a:pPr>
            <a:r>
              <a:rPr lang="en-IN" dirty="0" smtClean="0"/>
              <a:t>Skip </a:t>
            </a:r>
            <a:r>
              <a:rPr lang="en-IN" dirty="0"/>
              <a:t>values give different search paths for keys that </a:t>
            </a:r>
            <a:r>
              <a:rPr lang="en-IN" dirty="0" smtClean="0"/>
              <a:t>collide.</a:t>
            </a:r>
          </a:p>
          <a:p>
            <a:pPr marL="0" indent="0">
              <a:buNone/>
            </a:pPr>
            <a:endParaRPr lang="en-IN" dirty="0" smtClean="0">
              <a:solidFill>
                <a:srgbClr val="FF0000"/>
              </a:solidFill>
            </a:endParaRPr>
          </a:p>
          <a:p>
            <a:pPr marL="0" indent="0">
              <a:buNone/>
            </a:pPr>
            <a:r>
              <a:rPr lang="en-IN" b="1" dirty="0" smtClean="0">
                <a:solidFill>
                  <a:srgbClr val="FF0000"/>
                </a:solidFill>
              </a:rPr>
              <a:t>Disadvantage</a:t>
            </a:r>
            <a:r>
              <a:rPr lang="en-IN" b="1" dirty="0">
                <a:solidFill>
                  <a:srgbClr val="FF0000"/>
                </a:solidFill>
              </a:rPr>
              <a:t>: </a:t>
            </a:r>
            <a:endParaRPr lang="en-IN" b="1" dirty="0" smtClean="0">
              <a:solidFill>
                <a:srgbClr val="FF0000"/>
              </a:solidFill>
            </a:endParaRPr>
          </a:p>
          <a:p>
            <a:pPr marL="0" indent="0">
              <a:buNone/>
            </a:pPr>
            <a:r>
              <a:rPr lang="en-IN" dirty="0"/>
              <a:t>D</a:t>
            </a:r>
            <a:r>
              <a:rPr lang="en-IN" dirty="0" smtClean="0"/>
              <a:t>elete </a:t>
            </a:r>
            <a:r>
              <a:rPr lang="en-IN" dirty="0"/>
              <a:t>cumbersome to implement</a:t>
            </a:r>
          </a:p>
        </p:txBody>
      </p:sp>
      <p:sp>
        <p:nvSpPr>
          <p:cNvPr id="2" name="Slide Number Placeholder 1"/>
          <p:cNvSpPr>
            <a:spLocks noGrp="1"/>
          </p:cNvSpPr>
          <p:nvPr>
            <p:ph type="sldNum" sz="quarter" idx="12"/>
          </p:nvPr>
        </p:nvSpPr>
        <p:spPr/>
        <p:txBody>
          <a:bodyPr/>
          <a:lstStyle/>
          <a:p>
            <a:fld id="{DDE4AA30-DFC3-4E29-B54E-BC96FFE3FF90}" type="slidenum">
              <a:rPr lang="en-IN" smtClean="0"/>
              <a:t>43</a:t>
            </a:fld>
            <a:endParaRPr lang="en-IN"/>
          </a:p>
        </p:txBody>
      </p:sp>
    </p:spTree>
    <p:extLst>
      <p:ext uri="{BB962C8B-B14F-4D97-AF65-F5344CB8AC3E}">
        <p14:creationId xmlns:p14="http://schemas.microsoft.com/office/powerpoint/2010/main" val="5350142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FF0000"/>
                </a:solidFill>
                <a:latin typeface="Times New Roman" panose="02020603050405020304" pitchFamily="18" charset="0"/>
                <a:cs typeface="Times New Roman" panose="02020603050405020304" pitchFamily="18" charset="0"/>
              </a:rPr>
              <a:t>Example 3</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Insert the following elements in the hash table of size 10.</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3, 2, 9, 6, 11, 13, 12, 7</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H1(k)= 2k+3  % </a:t>
            </a:r>
            <a:r>
              <a:rPr lang="en-US" dirty="0" err="1">
                <a:latin typeface="Times New Roman" panose="02020603050405020304" pitchFamily="18" charset="0"/>
                <a:cs typeface="Times New Roman" panose="02020603050405020304" pitchFamily="18" charset="0"/>
              </a:rPr>
              <a:t>tablesize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H2(k)=3k+1  % </a:t>
            </a:r>
            <a:r>
              <a:rPr lang="en-US" dirty="0" err="1">
                <a:latin typeface="Times New Roman" panose="02020603050405020304" pitchFamily="18" charset="0"/>
                <a:cs typeface="Times New Roman" panose="02020603050405020304" pitchFamily="18" charset="0"/>
              </a:rPr>
              <a:t>tablesize</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When collision occurs use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U+i</a:t>
            </a:r>
            <a:r>
              <a:rPr lang="en-US" b="1" dirty="0">
                <a:latin typeface="Times New Roman" panose="02020603050405020304" pitchFamily="18" charset="0"/>
                <a:cs typeface="Times New Roman" panose="02020603050405020304" pitchFamily="18" charset="0"/>
              </a:rPr>
              <a:t>*V ] % m  </a:t>
            </a:r>
            <a:r>
              <a:rPr lang="en-US" dirty="0">
                <a:latin typeface="Times New Roman" panose="02020603050405020304" pitchFamily="18" charset="0"/>
                <a:cs typeface="Times New Roman" panose="02020603050405020304" pitchFamily="18" charset="0"/>
              </a:rPr>
              <a:t>where U= h1(k)   V=h2(k) and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0 to m-1</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E4AA30-DFC3-4E29-B54E-BC96FFE3FF90}" type="slidenum">
              <a:rPr lang="en-IN" smtClean="0"/>
              <a:t>44</a:t>
            </a:fld>
            <a:endParaRPr lang="en-IN"/>
          </a:p>
        </p:txBody>
      </p:sp>
    </p:spTree>
    <p:extLst>
      <p:ext uri="{BB962C8B-B14F-4D97-AF65-F5344CB8AC3E}">
        <p14:creationId xmlns:p14="http://schemas.microsoft.com/office/powerpoint/2010/main" val="199201914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FF0000"/>
                </a:solidFill>
                <a:latin typeface="Times New Roman" panose="02020603050405020304" pitchFamily="18" charset="0"/>
                <a:cs typeface="Times New Roman" panose="02020603050405020304" pitchFamily="18" charset="0"/>
              </a:rPr>
              <a:t>Home work</a:t>
            </a:r>
            <a:r>
              <a:rPr lang="en-US" b="1" dirty="0" smtClean="0">
                <a:latin typeface="Times New Roman" panose="02020603050405020304" pitchFamily="18" charset="0"/>
                <a:cs typeface="Times New Roman" panose="02020603050405020304" pitchFamily="18" charset="0"/>
              </a:rPr>
              <a:t> : Hashing  problem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Given the following input (3471, 1323, 6173, 4199, 4344, 9679,1989) and a hash function h(x)= x mod 10 show the resulting </a:t>
            </a:r>
          </a:p>
          <a:p>
            <a:pPr marL="0" indent="0">
              <a:buNone/>
            </a:pPr>
            <a:r>
              <a:rPr lang="en-US" dirty="0" smtClean="0">
                <a:latin typeface="Times New Roman" panose="02020603050405020304" pitchFamily="18" charset="0"/>
                <a:cs typeface="Times New Roman" panose="02020603050405020304" pitchFamily="18" charset="0"/>
              </a:rPr>
              <a:t>A) Separate chaining hash table</a:t>
            </a:r>
          </a:p>
          <a:p>
            <a:pPr marL="0" indent="0">
              <a:buNone/>
            </a:pPr>
            <a:r>
              <a:rPr lang="en-US" dirty="0" smtClean="0">
                <a:latin typeface="Times New Roman" panose="02020603050405020304" pitchFamily="18" charset="0"/>
                <a:cs typeface="Times New Roman" panose="02020603050405020304" pitchFamily="18" charset="0"/>
              </a:rPr>
              <a:t>B) Hash table using Linear Probing</a:t>
            </a:r>
          </a:p>
          <a:p>
            <a:pPr marL="0" indent="0">
              <a:buNone/>
            </a:pPr>
            <a:r>
              <a:rPr lang="en-US" dirty="0" smtClean="0">
                <a:latin typeface="Times New Roman" panose="02020603050405020304" pitchFamily="18" charset="0"/>
                <a:cs typeface="Times New Roman" panose="02020603050405020304" pitchFamily="18" charset="0"/>
              </a:rPr>
              <a:t>C) Hash table using Quadratic Probing</a:t>
            </a:r>
          </a:p>
          <a:p>
            <a:pPr marL="0" indent="0">
              <a:buNone/>
            </a:pPr>
            <a:r>
              <a:rPr lang="en-US" dirty="0" smtClean="0">
                <a:latin typeface="Times New Roman" panose="02020603050405020304" pitchFamily="18" charset="0"/>
                <a:cs typeface="Times New Roman" panose="02020603050405020304" pitchFamily="18" charset="0"/>
              </a:rPr>
              <a:t>D) Hash table with second Hash function </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h</a:t>
            </a:r>
            <a:r>
              <a:rPr lang="en-US" baseline="-25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(x) = 7- ( x mod 7 )</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DE4AA30-DFC3-4E29-B54E-BC96FFE3FF90}" type="slidenum">
              <a:rPr lang="en-IN" smtClean="0"/>
              <a:t>45</a:t>
            </a:fld>
            <a:endParaRPr lang="en-IN"/>
          </a:p>
        </p:txBody>
      </p:sp>
    </p:spTree>
    <p:extLst>
      <p:ext uri="{BB962C8B-B14F-4D97-AF65-F5344CB8AC3E}">
        <p14:creationId xmlns:p14="http://schemas.microsoft.com/office/powerpoint/2010/main" val="9220359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1850</TotalTime>
  <Words>2923</Words>
  <Application>Microsoft Office PowerPoint</Application>
  <PresentationFormat>On-screen Show (4:3)</PresentationFormat>
  <Paragraphs>633</Paragraphs>
  <Slides>45</Slides>
  <Notes>8</Notes>
  <HiddenSlides>1</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Why Hashing?</vt:lpstr>
      <vt:lpstr>What is Hashing?</vt:lpstr>
      <vt:lpstr>Some important Terminologies</vt:lpstr>
      <vt:lpstr>Some important Terminologies</vt:lpstr>
      <vt:lpstr>Properties of Hashing in DBMS</vt:lpstr>
      <vt:lpstr>Hash Function</vt:lpstr>
      <vt:lpstr>Example</vt:lpstr>
      <vt:lpstr>Properties of Good Hash Functions</vt:lpstr>
      <vt:lpstr>Hashing</vt:lpstr>
      <vt:lpstr>Hashing</vt:lpstr>
      <vt:lpstr>PowerPoint Presentation</vt:lpstr>
      <vt:lpstr>PowerPoint Presentation</vt:lpstr>
      <vt:lpstr>PowerPoint Presentation</vt:lpstr>
      <vt:lpstr>Collision in Hashing</vt:lpstr>
      <vt:lpstr>PowerPoint Presentation</vt:lpstr>
      <vt:lpstr>Hashing Types</vt:lpstr>
      <vt:lpstr>Types of Static Hashing</vt:lpstr>
      <vt:lpstr>Separate Chaining</vt:lpstr>
      <vt:lpstr>Separate Chaining Another Example</vt:lpstr>
      <vt:lpstr>PowerPoint Presentation</vt:lpstr>
      <vt:lpstr>Advantages of Chaining </vt:lpstr>
      <vt:lpstr>Disadvantages </vt:lpstr>
      <vt:lpstr>2. Static Hashing</vt:lpstr>
      <vt:lpstr>Operations in Static Hashing</vt:lpstr>
      <vt:lpstr>Types of Static Hashing</vt:lpstr>
      <vt:lpstr>PowerPoint Presentation</vt:lpstr>
      <vt:lpstr>Linear Probing</vt:lpstr>
      <vt:lpstr>Linear Probing</vt:lpstr>
      <vt:lpstr>PowerPoint Presentation</vt:lpstr>
      <vt:lpstr>PowerPoint Presentation</vt:lpstr>
      <vt:lpstr>Quadratic Probing</vt:lpstr>
      <vt:lpstr>Quadratic Probing  Example:  insert 14,8,21,2,7 with size m=7</vt:lpstr>
      <vt:lpstr>Problem With Quadratic Probing</vt:lpstr>
      <vt:lpstr>PowerPoint Presentation</vt:lpstr>
      <vt:lpstr>PowerPoint Presentation</vt:lpstr>
      <vt:lpstr>Multiple Hashing /  Double Hashing</vt:lpstr>
      <vt:lpstr>Double Hashing</vt:lpstr>
      <vt:lpstr>Double Hashing</vt:lpstr>
      <vt:lpstr>An Example</vt:lpstr>
      <vt:lpstr>Example 2</vt:lpstr>
      <vt:lpstr>Example 2</vt:lpstr>
      <vt:lpstr>PowerPoint Presentation</vt:lpstr>
      <vt:lpstr>Example 3</vt:lpstr>
      <vt:lpstr>Home work : Hashing  problem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97</cp:revision>
  <dcterms:created xsi:type="dcterms:W3CDTF">2023-06-01T06:43:10Z</dcterms:created>
  <dcterms:modified xsi:type="dcterms:W3CDTF">2024-09-18T09:42:38Z</dcterms:modified>
</cp:coreProperties>
</file>