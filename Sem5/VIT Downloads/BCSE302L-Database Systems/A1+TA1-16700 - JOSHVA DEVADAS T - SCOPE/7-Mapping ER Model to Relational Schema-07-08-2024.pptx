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86" r:id="rId7"/>
    <p:sldId id="288" r:id="rId8"/>
    <p:sldId id="287" r:id="rId9"/>
    <p:sldId id="300" r:id="rId10"/>
    <p:sldId id="298" r:id="rId11"/>
    <p:sldId id="301" r:id="rId12"/>
    <p:sldId id="299" r:id="rId13"/>
    <p:sldId id="289" r:id="rId14"/>
    <p:sldId id="295" r:id="rId15"/>
    <p:sldId id="290" r:id="rId16"/>
    <p:sldId id="293" r:id="rId17"/>
    <p:sldId id="294" r:id="rId18"/>
    <p:sldId id="296" r:id="rId19"/>
    <p:sldId id="261" r:id="rId20"/>
    <p:sldId id="262" r:id="rId21"/>
    <p:sldId id="263" r:id="rId22"/>
    <p:sldId id="264" r:id="rId23"/>
    <p:sldId id="297" r:id="rId24"/>
    <p:sldId id="265" r:id="rId25"/>
    <p:sldId id="266" r:id="rId26"/>
    <p:sldId id="267" r:id="rId27"/>
    <p:sldId id="268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5" r:id="rId37"/>
  </p:sldIdLst>
  <p:sldSz cx="9118600" cy="6832600"/>
  <p:notesSz cx="9118600" cy="683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48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65725" y="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CB329-D060-432B-B0F3-B75AD9487403}" type="datetimeFigureOut">
              <a:rPr lang="en-IN" smtClean="0"/>
              <a:t>02-08-2024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49563" y="512763"/>
            <a:ext cx="3419475" cy="2562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1225" y="3244850"/>
            <a:ext cx="7296150" cy="3074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8970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65725" y="648970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2552D-9C2F-4E90-9155-F764F73E8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2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3895" y="2118106"/>
            <a:ext cx="7750810" cy="14348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826256"/>
            <a:ext cx="638302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C3C3F-929E-4677-B094-84BA65706AF3}" type="datetime1">
              <a:rPr lang="en-US" smtClean="0"/>
              <a:t>8/2/2024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EDFB5-D0F7-40D3-8D35-CE56F654A2E5}" type="datetime1">
              <a:rPr lang="en-US" smtClean="0"/>
              <a:t>8/2/2024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4C6CC-628E-4117-8FBA-3D5F0EB2FF0A}" type="datetime1">
              <a:rPr lang="en-US" smtClean="0"/>
              <a:t>8/2/2024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C4E0-72B9-4023-95CE-0E48AFE895F5}" type="datetime1">
              <a:rPr lang="en-US" smtClean="0"/>
              <a:t>8/2/2024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E4D37-0A07-4FA9-B456-06336D3100DE}" type="datetime1">
              <a:rPr lang="en-US" smtClean="0"/>
              <a:t>8/2/2024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2995" y="469900"/>
            <a:ext cx="537260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4001" y="2944567"/>
            <a:ext cx="7766050" cy="2954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0324" y="6354318"/>
            <a:ext cx="2917952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354318"/>
            <a:ext cx="209727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CBFBC-3341-4F6D-8A20-04506C68E2E6}" type="datetime1">
              <a:rPr lang="en-US" smtClean="0"/>
              <a:t>8/2/2024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65392" y="6354318"/>
            <a:ext cx="209727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2202" y="2153919"/>
            <a:ext cx="639254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2640" marR="5080" indent="-79057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Converting E-R Diagrams </a:t>
            </a:r>
            <a:r>
              <a:rPr spc="-1210" dirty="0"/>
              <a:t> </a:t>
            </a:r>
            <a:r>
              <a:rPr spc="-5" dirty="0"/>
              <a:t>to Relational</a:t>
            </a:r>
            <a:r>
              <a:rPr dirty="0"/>
              <a:t> </a:t>
            </a:r>
            <a:r>
              <a:rPr spc="-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4665" y="3931183"/>
            <a:ext cx="3671570" cy="1205865"/>
          </a:xfrm>
          <a:prstGeom prst="rect">
            <a:avLst/>
          </a:prstGeom>
          <a:ln w="25400">
            <a:solidFill>
              <a:srgbClr val="EFEFE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0" algn="ctr">
              <a:lnSpc>
                <a:spcPts val="3660"/>
              </a:lnSpc>
            </a:pPr>
            <a:r>
              <a:rPr sz="3200" spc="-10" dirty="0">
                <a:latin typeface="Arial MT"/>
                <a:cs typeface="Arial MT"/>
              </a:rPr>
              <a:t>Winter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2006-2007</a:t>
            </a:r>
            <a:endParaRPr sz="3200">
              <a:latin typeface="Arial MT"/>
              <a:cs typeface="Arial MT"/>
            </a:endParaRPr>
          </a:p>
          <a:p>
            <a:pPr marL="76835" algn="ctr">
              <a:lnSpc>
                <a:spcPct val="100000"/>
              </a:lnSpc>
              <a:spcBef>
                <a:spcPts val="760"/>
              </a:spcBef>
            </a:pPr>
            <a:r>
              <a:rPr sz="3200" spc="-10" dirty="0">
                <a:latin typeface="Arial MT"/>
                <a:cs typeface="Arial MT"/>
              </a:rPr>
              <a:t>Lecture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17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4665" y="3931183"/>
            <a:ext cx="3671570" cy="1205865"/>
          </a:xfrm>
          <a:custGeom>
            <a:avLst/>
            <a:gdLst/>
            <a:ahLst/>
            <a:cxnLst/>
            <a:rect l="l" t="t" r="r" b="b"/>
            <a:pathLst>
              <a:path w="3671570" h="1205864">
                <a:moveTo>
                  <a:pt x="3671519" y="1205318"/>
                </a:moveTo>
                <a:lnTo>
                  <a:pt x="3671519" y="0"/>
                </a:lnTo>
                <a:lnTo>
                  <a:pt x="0" y="0"/>
                </a:lnTo>
                <a:lnTo>
                  <a:pt x="0" y="1205318"/>
                </a:lnTo>
                <a:lnTo>
                  <a:pt x="3671519" y="12053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476" y="469900"/>
            <a:ext cx="35337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E-R</a:t>
            </a:r>
            <a:r>
              <a:rPr spc="-60" dirty="0"/>
              <a:t> </a:t>
            </a:r>
            <a:r>
              <a:rPr spc="-5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41272"/>
            <a:ext cx="7942580" cy="43986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829944" indent="-343535">
              <a:lnSpc>
                <a:spcPct val="8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Need </a:t>
            </a:r>
            <a:r>
              <a:rPr sz="2800" dirty="0">
                <a:latin typeface="Arial MT"/>
                <a:cs typeface="Arial MT"/>
              </a:rPr>
              <a:t>to convert E-R model diagrams to an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implementation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endParaRPr sz="2800">
              <a:latin typeface="Arial MT"/>
              <a:cs typeface="Arial MT"/>
            </a:endParaRPr>
          </a:p>
          <a:p>
            <a:pPr marL="355600" marR="216535" indent="-343535">
              <a:lnSpc>
                <a:spcPct val="8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Easy </a:t>
            </a:r>
            <a:r>
              <a:rPr sz="2800" dirty="0">
                <a:latin typeface="Arial MT"/>
                <a:cs typeface="Arial MT"/>
              </a:rPr>
              <a:t>to map E-R diagrams to relational model,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SQL</a:t>
            </a:r>
            <a:endParaRPr sz="2800">
              <a:latin typeface="Arial MT"/>
              <a:cs typeface="Arial MT"/>
            </a:endParaRPr>
          </a:p>
          <a:p>
            <a:pPr marL="755015" marR="5080" lvl="1" indent="-285750">
              <a:lnSpc>
                <a:spcPct val="79800"/>
              </a:lnSpc>
              <a:spcBef>
                <a:spcPts val="57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Arial MT"/>
                <a:cs typeface="Arial MT"/>
              </a:rPr>
              <a:t>Significant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overlap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between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E-R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model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relational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  <a:p>
            <a:pPr marL="755015" marR="721360" lvl="1" indent="-285750">
              <a:lnSpc>
                <a:spcPts val="2300"/>
              </a:lnSpc>
              <a:spcBef>
                <a:spcPts val="55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Biggest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difference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E-R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composite/multivalued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attributes, vs. </a:t>
            </a:r>
            <a:r>
              <a:rPr sz="2400" spc="-5" dirty="0">
                <a:latin typeface="Arial MT"/>
                <a:cs typeface="Arial MT"/>
              </a:rPr>
              <a:t>relational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model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atomic</a:t>
            </a:r>
            <a:r>
              <a:rPr sz="2400" dirty="0">
                <a:latin typeface="Arial MT"/>
                <a:cs typeface="Arial MT"/>
              </a:rPr>
              <a:t> attributes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ts val="3354"/>
              </a:lnSpc>
              <a:spcBef>
                <a:spcPts val="30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Three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components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conversion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process:</a:t>
            </a:r>
            <a:endParaRPr sz="2800">
              <a:latin typeface="Arial MT"/>
              <a:cs typeface="Arial MT"/>
            </a:endParaRPr>
          </a:p>
          <a:p>
            <a:pPr marL="755015" lvl="1" indent="-285750">
              <a:lnSpc>
                <a:spcPts val="2870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Specify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relation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itself</a:t>
            </a:r>
            <a:endParaRPr sz="2400">
              <a:latin typeface="Arial MT"/>
              <a:cs typeface="Arial MT"/>
            </a:endParaRPr>
          </a:p>
          <a:p>
            <a:pPr marL="755015" lvl="1" indent="-285750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Specify</a:t>
            </a:r>
            <a:r>
              <a:rPr sz="2400" spc="-5" dirty="0">
                <a:latin typeface="Arial MT"/>
                <a:cs typeface="Arial MT"/>
              </a:rPr>
              <a:t> primary </a:t>
            </a:r>
            <a:r>
              <a:rPr sz="2400" dirty="0">
                <a:latin typeface="Arial MT"/>
                <a:cs typeface="Arial MT"/>
              </a:rPr>
              <a:t>key </a:t>
            </a:r>
            <a:r>
              <a:rPr sz="2400" spc="-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relation</a:t>
            </a:r>
            <a:endParaRPr sz="24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Specify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foreign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references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2604" y="469900"/>
            <a:ext cx="45345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Strong</a:t>
            </a:r>
            <a:r>
              <a:rPr spc="-20" dirty="0"/>
              <a:t> </a:t>
            </a:r>
            <a:r>
              <a:rPr spc="-5" dirty="0"/>
              <a:t>Entity-Sets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01" y="1526326"/>
            <a:ext cx="7780020" cy="427681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6766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dirty="0">
                <a:latin typeface="Arial MT"/>
                <a:cs typeface="Arial MT"/>
              </a:rPr>
              <a:t>Strong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E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attributes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50" spc="-7" baseline="-20467" dirty="0">
                <a:latin typeface="Arial MT"/>
                <a:cs typeface="Arial MT"/>
              </a:rPr>
              <a:t>1</a:t>
            </a:r>
            <a:r>
              <a:rPr sz="2800" spc="-5" dirty="0">
                <a:latin typeface="Arial MT"/>
                <a:cs typeface="Arial MT"/>
              </a:rPr>
              <a:t>,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50" spc="-7" baseline="-20467" dirty="0">
                <a:latin typeface="Arial MT"/>
                <a:cs typeface="Arial MT"/>
              </a:rPr>
              <a:t>2</a:t>
            </a:r>
            <a:r>
              <a:rPr sz="2800" spc="-5" dirty="0">
                <a:latin typeface="Arial MT"/>
                <a:cs typeface="Arial MT"/>
              </a:rPr>
              <a:t>, …,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850" i="1" baseline="-20467" dirty="0">
                <a:latin typeface="Arial"/>
                <a:cs typeface="Arial"/>
              </a:rPr>
              <a:t>n</a:t>
            </a:r>
            <a:endParaRPr sz="2850" baseline="-20467" dirty="0">
              <a:latin typeface="Arial"/>
              <a:cs typeface="Arial"/>
            </a:endParaRPr>
          </a:p>
          <a:p>
            <a:pPr marL="76771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68350" algn="l"/>
              </a:tabLst>
            </a:pPr>
            <a:r>
              <a:rPr sz="2400" dirty="0">
                <a:latin typeface="Arial MT"/>
                <a:cs typeface="Arial MT"/>
              </a:rPr>
              <a:t>Assume </a:t>
            </a:r>
            <a:r>
              <a:rPr sz="2400" spc="-5" dirty="0">
                <a:latin typeface="Arial MT"/>
                <a:cs typeface="Arial MT"/>
              </a:rPr>
              <a:t>simple,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single-valued</a:t>
            </a:r>
            <a:r>
              <a:rPr sz="2400" dirty="0">
                <a:latin typeface="Arial MT"/>
                <a:cs typeface="Arial MT"/>
              </a:rPr>
              <a:t> attributes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now</a:t>
            </a:r>
            <a:endParaRPr sz="2400" dirty="0">
              <a:latin typeface="Arial MT"/>
              <a:cs typeface="Arial MT"/>
            </a:endParaRPr>
          </a:p>
          <a:p>
            <a:pPr marL="368300" marR="1778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Arial MT"/>
                <a:cs typeface="Arial MT"/>
              </a:rPr>
              <a:t>Create </a:t>
            </a:r>
            <a:r>
              <a:rPr sz="2800" dirty="0">
                <a:latin typeface="Arial MT"/>
                <a:cs typeface="Arial MT"/>
              </a:rPr>
              <a:t>a relational schema with same name </a:t>
            </a:r>
            <a:r>
              <a:rPr sz="2800" i="1" spc="-5" dirty="0">
                <a:latin typeface="Arial"/>
                <a:cs typeface="Arial"/>
              </a:rPr>
              <a:t>E</a:t>
            </a:r>
            <a:r>
              <a:rPr sz="2800" spc="-5" dirty="0">
                <a:latin typeface="Arial MT"/>
                <a:cs typeface="Arial MT"/>
              </a:rPr>
              <a:t>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 attributes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50" spc="-7" baseline="-20467" dirty="0">
                <a:latin typeface="Arial MT"/>
                <a:cs typeface="Arial MT"/>
              </a:rPr>
              <a:t>1</a:t>
            </a:r>
            <a:r>
              <a:rPr sz="2800" spc="-5" dirty="0">
                <a:latin typeface="Arial MT"/>
                <a:cs typeface="Arial MT"/>
              </a:rPr>
              <a:t>,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50" spc="-7" baseline="-20467" dirty="0">
                <a:latin typeface="Arial MT"/>
                <a:cs typeface="Arial MT"/>
              </a:rPr>
              <a:t>2</a:t>
            </a:r>
            <a:r>
              <a:rPr sz="2800" spc="-5" dirty="0">
                <a:latin typeface="Arial MT"/>
                <a:cs typeface="Arial MT"/>
              </a:rPr>
              <a:t>,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…,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850" i="1" baseline="-20467" dirty="0">
                <a:latin typeface="Arial"/>
                <a:cs typeface="Arial"/>
              </a:rPr>
              <a:t>n</a:t>
            </a:r>
            <a:endParaRPr sz="2850" baseline="-20467" dirty="0">
              <a:latin typeface="Arial"/>
              <a:cs typeface="Arial"/>
            </a:endParaRPr>
          </a:p>
          <a:p>
            <a:pPr marL="368300" marR="437515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dirty="0">
                <a:latin typeface="Arial MT"/>
                <a:cs typeface="Arial MT"/>
              </a:rPr>
              <a:t>Primary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relational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primary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 of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</a:t>
            </a:r>
          </a:p>
          <a:p>
            <a:pPr marL="767715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76835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foreign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key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references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for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strong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entity-sets</a:t>
            </a:r>
          </a:p>
          <a:p>
            <a:pPr marL="367665" marR="814705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Arial MT"/>
                <a:cs typeface="Arial MT"/>
              </a:rPr>
              <a:t>Every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E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represented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tuple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corresponding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8951" y="469900"/>
            <a:ext cx="50603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Entity-Set</a:t>
            </a:r>
            <a:r>
              <a:rPr spc="-20" dirty="0"/>
              <a:t> </a:t>
            </a:r>
            <a:r>
              <a:rPr spc="-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609851"/>
            <a:ext cx="62318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Arial MT"/>
                <a:cs typeface="Arial MT"/>
              </a:rPr>
              <a:t>Geocache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location</a:t>
            </a:r>
            <a:r>
              <a:rPr sz="3200" spc="-5" dirty="0">
                <a:latin typeface="Arial MT"/>
                <a:cs typeface="Arial MT"/>
              </a:rPr>
              <a:t> E-R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diagram: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001" y="4152515"/>
            <a:ext cx="8150099" cy="155829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755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named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location</a:t>
            </a:r>
            <a:endParaRPr sz="28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74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 MT"/>
                <a:cs typeface="Arial MT"/>
              </a:rPr>
              <a:t>Convert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relation schema:</a:t>
            </a:r>
            <a:endParaRPr sz="32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location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latitude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spc="3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longitude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description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last_visited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900" y="3340100"/>
            <a:ext cx="1066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location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9500" y="28829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199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8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199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399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1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68626" y="2971545"/>
            <a:ext cx="6794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latitude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2937" y="2497137"/>
            <a:ext cx="1076325" cy="466725"/>
            <a:chOff x="3182937" y="2497137"/>
            <a:chExt cx="1076325" cy="466725"/>
          </a:xfrm>
        </p:grpSpPr>
        <p:sp>
          <p:nvSpPr>
            <p:cNvPr id="9" name="object 9"/>
            <p:cNvSpPr/>
            <p:nvPr/>
          </p:nvSpPr>
          <p:spPr>
            <a:xfrm>
              <a:off x="3187700" y="25019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1066800" y="228599"/>
                  </a:moveTo>
                  <a:lnTo>
                    <a:pt x="1050527" y="172233"/>
                  </a:lnTo>
                  <a:lnTo>
                    <a:pt x="1004363" y="121027"/>
                  </a:lnTo>
                  <a:lnTo>
                    <a:pt x="971315" y="97891"/>
                  </a:lnTo>
                  <a:lnTo>
                    <a:pt x="932287" y="76681"/>
                  </a:lnTo>
                  <a:lnTo>
                    <a:pt x="887774" y="57610"/>
                  </a:lnTo>
                  <a:lnTo>
                    <a:pt x="838276" y="40892"/>
                  </a:lnTo>
                  <a:lnTo>
                    <a:pt x="784289" y="26736"/>
                  </a:lnTo>
                  <a:lnTo>
                    <a:pt x="726310" y="15357"/>
                  </a:lnTo>
                  <a:lnTo>
                    <a:pt x="664837" y="6967"/>
                  </a:lnTo>
                  <a:lnTo>
                    <a:pt x="600368" y="1777"/>
                  </a:lnTo>
                  <a:lnTo>
                    <a:pt x="533400" y="0"/>
                  </a:lnTo>
                  <a:lnTo>
                    <a:pt x="466431" y="1777"/>
                  </a:lnTo>
                  <a:lnTo>
                    <a:pt x="401962" y="6967"/>
                  </a:lnTo>
                  <a:lnTo>
                    <a:pt x="340489" y="15357"/>
                  </a:lnTo>
                  <a:lnTo>
                    <a:pt x="282510" y="26736"/>
                  </a:lnTo>
                  <a:lnTo>
                    <a:pt x="228523" y="40892"/>
                  </a:lnTo>
                  <a:lnTo>
                    <a:pt x="179025" y="57610"/>
                  </a:lnTo>
                  <a:lnTo>
                    <a:pt x="134512" y="76681"/>
                  </a:lnTo>
                  <a:lnTo>
                    <a:pt x="95484" y="97891"/>
                  </a:lnTo>
                  <a:lnTo>
                    <a:pt x="62436" y="121027"/>
                  </a:lnTo>
                  <a:lnTo>
                    <a:pt x="16272" y="172233"/>
                  </a:lnTo>
                  <a:lnTo>
                    <a:pt x="0" y="228599"/>
                  </a:lnTo>
                  <a:lnTo>
                    <a:pt x="4150" y="257322"/>
                  </a:lnTo>
                  <a:lnTo>
                    <a:pt x="35866" y="311320"/>
                  </a:lnTo>
                  <a:lnTo>
                    <a:pt x="95484" y="359308"/>
                  </a:lnTo>
                  <a:lnTo>
                    <a:pt x="134512" y="380518"/>
                  </a:lnTo>
                  <a:lnTo>
                    <a:pt x="179025" y="399589"/>
                  </a:lnTo>
                  <a:lnTo>
                    <a:pt x="228523" y="416307"/>
                  </a:lnTo>
                  <a:lnTo>
                    <a:pt x="282510" y="430463"/>
                  </a:lnTo>
                  <a:lnTo>
                    <a:pt x="340489" y="441842"/>
                  </a:lnTo>
                  <a:lnTo>
                    <a:pt x="401962" y="450232"/>
                  </a:lnTo>
                  <a:lnTo>
                    <a:pt x="466431" y="455422"/>
                  </a:lnTo>
                  <a:lnTo>
                    <a:pt x="533400" y="457200"/>
                  </a:lnTo>
                  <a:lnTo>
                    <a:pt x="600368" y="455422"/>
                  </a:lnTo>
                  <a:lnTo>
                    <a:pt x="664837" y="450232"/>
                  </a:lnTo>
                  <a:lnTo>
                    <a:pt x="726310" y="441842"/>
                  </a:lnTo>
                  <a:lnTo>
                    <a:pt x="784289" y="430463"/>
                  </a:lnTo>
                  <a:lnTo>
                    <a:pt x="838276" y="416307"/>
                  </a:lnTo>
                  <a:lnTo>
                    <a:pt x="887774" y="399589"/>
                  </a:lnTo>
                  <a:lnTo>
                    <a:pt x="932287" y="380518"/>
                  </a:lnTo>
                  <a:lnTo>
                    <a:pt x="971315" y="359308"/>
                  </a:lnTo>
                  <a:lnTo>
                    <a:pt x="1004363" y="336172"/>
                  </a:lnTo>
                  <a:lnTo>
                    <a:pt x="1050527" y="284966"/>
                  </a:lnTo>
                  <a:lnTo>
                    <a:pt x="1066800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7700" y="25019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533400" y="0"/>
                  </a:moveTo>
                  <a:lnTo>
                    <a:pt x="466431" y="1777"/>
                  </a:lnTo>
                  <a:lnTo>
                    <a:pt x="401962" y="6967"/>
                  </a:lnTo>
                  <a:lnTo>
                    <a:pt x="340489" y="15357"/>
                  </a:lnTo>
                  <a:lnTo>
                    <a:pt x="282510" y="26736"/>
                  </a:lnTo>
                  <a:lnTo>
                    <a:pt x="228523" y="40892"/>
                  </a:lnTo>
                  <a:lnTo>
                    <a:pt x="179025" y="57610"/>
                  </a:lnTo>
                  <a:lnTo>
                    <a:pt x="134512" y="76681"/>
                  </a:lnTo>
                  <a:lnTo>
                    <a:pt x="95484" y="97891"/>
                  </a:lnTo>
                  <a:lnTo>
                    <a:pt x="62436" y="121027"/>
                  </a:lnTo>
                  <a:lnTo>
                    <a:pt x="16272" y="172233"/>
                  </a:lnTo>
                  <a:lnTo>
                    <a:pt x="0" y="228599"/>
                  </a:lnTo>
                  <a:lnTo>
                    <a:pt x="4150" y="257322"/>
                  </a:lnTo>
                  <a:lnTo>
                    <a:pt x="35866" y="311320"/>
                  </a:lnTo>
                  <a:lnTo>
                    <a:pt x="95484" y="359308"/>
                  </a:lnTo>
                  <a:lnTo>
                    <a:pt x="134512" y="380518"/>
                  </a:lnTo>
                  <a:lnTo>
                    <a:pt x="179025" y="399589"/>
                  </a:lnTo>
                  <a:lnTo>
                    <a:pt x="228523" y="416307"/>
                  </a:lnTo>
                  <a:lnTo>
                    <a:pt x="282510" y="430463"/>
                  </a:lnTo>
                  <a:lnTo>
                    <a:pt x="340489" y="441842"/>
                  </a:lnTo>
                  <a:lnTo>
                    <a:pt x="401962" y="450232"/>
                  </a:lnTo>
                  <a:lnTo>
                    <a:pt x="466431" y="455422"/>
                  </a:lnTo>
                  <a:lnTo>
                    <a:pt x="533400" y="457200"/>
                  </a:lnTo>
                  <a:lnTo>
                    <a:pt x="600368" y="455422"/>
                  </a:lnTo>
                  <a:lnTo>
                    <a:pt x="664837" y="450232"/>
                  </a:lnTo>
                  <a:lnTo>
                    <a:pt x="726310" y="441842"/>
                  </a:lnTo>
                  <a:lnTo>
                    <a:pt x="784289" y="430463"/>
                  </a:lnTo>
                  <a:lnTo>
                    <a:pt x="838276" y="416307"/>
                  </a:lnTo>
                  <a:lnTo>
                    <a:pt x="887774" y="399589"/>
                  </a:lnTo>
                  <a:lnTo>
                    <a:pt x="932287" y="380518"/>
                  </a:lnTo>
                  <a:lnTo>
                    <a:pt x="971315" y="359308"/>
                  </a:lnTo>
                  <a:lnTo>
                    <a:pt x="1004363" y="336172"/>
                  </a:lnTo>
                  <a:lnTo>
                    <a:pt x="1050527" y="284966"/>
                  </a:lnTo>
                  <a:lnTo>
                    <a:pt x="1066800" y="228599"/>
                  </a:lnTo>
                  <a:lnTo>
                    <a:pt x="1062649" y="199877"/>
                  </a:lnTo>
                  <a:lnTo>
                    <a:pt x="1030933" y="145879"/>
                  </a:lnTo>
                  <a:lnTo>
                    <a:pt x="971315" y="97891"/>
                  </a:lnTo>
                  <a:lnTo>
                    <a:pt x="932287" y="76681"/>
                  </a:lnTo>
                  <a:lnTo>
                    <a:pt x="887774" y="57610"/>
                  </a:lnTo>
                  <a:lnTo>
                    <a:pt x="838276" y="40892"/>
                  </a:lnTo>
                  <a:lnTo>
                    <a:pt x="784289" y="26736"/>
                  </a:lnTo>
                  <a:lnTo>
                    <a:pt x="726310" y="15357"/>
                  </a:lnTo>
                  <a:lnTo>
                    <a:pt x="664837" y="6967"/>
                  </a:lnTo>
                  <a:lnTo>
                    <a:pt x="600368" y="1777"/>
                  </a:lnTo>
                  <a:lnTo>
                    <a:pt x="5334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99205" y="2590545"/>
            <a:ext cx="847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longitude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78500" y="2806700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685800" y="0"/>
                </a:moveTo>
                <a:lnTo>
                  <a:pt x="615688" y="1177"/>
                </a:lnTo>
                <a:lnTo>
                  <a:pt x="547599" y="4634"/>
                </a:lnTo>
                <a:lnTo>
                  <a:pt x="481879" y="10256"/>
                </a:lnTo>
                <a:lnTo>
                  <a:pt x="418873" y="17930"/>
                </a:lnTo>
                <a:lnTo>
                  <a:pt x="358925" y="27542"/>
                </a:lnTo>
                <a:lnTo>
                  <a:pt x="302381" y="38978"/>
                </a:lnTo>
                <a:lnTo>
                  <a:pt x="249585" y="52123"/>
                </a:lnTo>
                <a:lnTo>
                  <a:pt x="200882" y="66865"/>
                </a:lnTo>
                <a:lnTo>
                  <a:pt x="156617" y="83089"/>
                </a:lnTo>
                <a:lnTo>
                  <a:pt x="117135" y="100682"/>
                </a:lnTo>
                <a:lnTo>
                  <a:pt x="82780" y="119529"/>
                </a:lnTo>
                <a:lnTo>
                  <a:pt x="30835" y="160532"/>
                </a:lnTo>
                <a:lnTo>
                  <a:pt x="3541" y="205187"/>
                </a:lnTo>
                <a:lnTo>
                  <a:pt x="0" y="228600"/>
                </a:lnTo>
                <a:lnTo>
                  <a:pt x="3541" y="252012"/>
                </a:lnTo>
                <a:lnTo>
                  <a:pt x="30835" y="296667"/>
                </a:lnTo>
                <a:lnTo>
                  <a:pt x="82780" y="337670"/>
                </a:lnTo>
                <a:lnTo>
                  <a:pt x="117135" y="356517"/>
                </a:lnTo>
                <a:lnTo>
                  <a:pt x="156617" y="374110"/>
                </a:lnTo>
                <a:lnTo>
                  <a:pt x="200882" y="390334"/>
                </a:lnTo>
                <a:lnTo>
                  <a:pt x="249585" y="405076"/>
                </a:lnTo>
                <a:lnTo>
                  <a:pt x="302381" y="418221"/>
                </a:lnTo>
                <a:lnTo>
                  <a:pt x="358925" y="429657"/>
                </a:lnTo>
                <a:lnTo>
                  <a:pt x="418873" y="439269"/>
                </a:lnTo>
                <a:lnTo>
                  <a:pt x="481879" y="446943"/>
                </a:lnTo>
                <a:lnTo>
                  <a:pt x="547599" y="452565"/>
                </a:lnTo>
                <a:lnTo>
                  <a:pt x="615688" y="456022"/>
                </a:lnTo>
                <a:lnTo>
                  <a:pt x="685800" y="457200"/>
                </a:lnTo>
                <a:lnTo>
                  <a:pt x="755911" y="456022"/>
                </a:lnTo>
                <a:lnTo>
                  <a:pt x="824000" y="452565"/>
                </a:lnTo>
                <a:lnTo>
                  <a:pt x="889720" y="446943"/>
                </a:lnTo>
                <a:lnTo>
                  <a:pt x="952726" y="439269"/>
                </a:lnTo>
                <a:lnTo>
                  <a:pt x="1012674" y="429657"/>
                </a:lnTo>
                <a:lnTo>
                  <a:pt x="1069218" y="418221"/>
                </a:lnTo>
                <a:lnTo>
                  <a:pt x="1122014" y="405076"/>
                </a:lnTo>
                <a:lnTo>
                  <a:pt x="1170717" y="390334"/>
                </a:lnTo>
                <a:lnTo>
                  <a:pt x="1214982" y="374110"/>
                </a:lnTo>
                <a:lnTo>
                  <a:pt x="1254464" y="356517"/>
                </a:lnTo>
                <a:lnTo>
                  <a:pt x="1288819" y="337670"/>
                </a:lnTo>
                <a:lnTo>
                  <a:pt x="1340764" y="296667"/>
                </a:lnTo>
                <a:lnTo>
                  <a:pt x="1368058" y="252012"/>
                </a:lnTo>
                <a:lnTo>
                  <a:pt x="1371600" y="228600"/>
                </a:lnTo>
                <a:lnTo>
                  <a:pt x="1368058" y="205187"/>
                </a:lnTo>
                <a:lnTo>
                  <a:pt x="1340764" y="160532"/>
                </a:lnTo>
                <a:lnTo>
                  <a:pt x="1288819" y="119529"/>
                </a:lnTo>
                <a:lnTo>
                  <a:pt x="1254464" y="100682"/>
                </a:lnTo>
                <a:lnTo>
                  <a:pt x="1214982" y="83089"/>
                </a:lnTo>
                <a:lnTo>
                  <a:pt x="1170717" y="66865"/>
                </a:lnTo>
                <a:lnTo>
                  <a:pt x="1122014" y="52123"/>
                </a:lnTo>
                <a:lnTo>
                  <a:pt x="1069218" y="38978"/>
                </a:lnTo>
                <a:lnTo>
                  <a:pt x="1012674" y="27542"/>
                </a:lnTo>
                <a:lnTo>
                  <a:pt x="952726" y="17930"/>
                </a:lnTo>
                <a:lnTo>
                  <a:pt x="889720" y="10256"/>
                </a:lnTo>
                <a:lnTo>
                  <a:pt x="824000" y="4634"/>
                </a:lnTo>
                <a:lnTo>
                  <a:pt x="755911" y="1177"/>
                </a:lnTo>
                <a:lnTo>
                  <a:pt x="6858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51728" y="2895345"/>
            <a:ext cx="10293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last_visited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63900" y="2501900"/>
            <a:ext cx="2514600" cy="838200"/>
          </a:xfrm>
          <a:custGeom>
            <a:avLst/>
            <a:gdLst/>
            <a:ahLst/>
            <a:cxnLst/>
            <a:rect l="l" t="t" r="r" b="b"/>
            <a:pathLst>
              <a:path w="2514600" h="838200">
                <a:moveTo>
                  <a:pt x="0" y="609600"/>
                </a:moveTo>
                <a:lnTo>
                  <a:pt x="1295400" y="838200"/>
                </a:lnTo>
              </a:path>
              <a:path w="2514600" h="838200">
                <a:moveTo>
                  <a:pt x="457200" y="457200"/>
                </a:moveTo>
                <a:lnTo>
                  <a:pt x="1295400" y="838200"/>
                </a:lnTo>
              </a:path>
              <a:path w="2514600" h="838200">
                <a:moveTo>
                  <a:pt x="2514600" y="533399"/>
                </a:moveTo>
                <a:lnTo>
                  <a:pt x="1295400" y="838200"/>
                </a:lnTo>
              </a:path>
              <a:path w="2514600" h="838200">
                <a:moveTo>
                  <a:pt x="1828800" y="0"/>
                </a:moveTo>
                <a:lnTo>
                  <a:pt x="1758688" y="1177"/>
                </a:lnTo>
                <a:lnTo>
                  <a:pt x="1690599" y="4634"/>
                </a:lnTo>
                <a:lnTo>
                  <a:pt x="1624879" y="10256"/>
                </a:lnTo>
                <a:lnTo>
                  <a:pt x="1561873" y="17930"/>
                </a:lnTo>
                <a:lnTo>
                  <a:pt x="1501925" y="27542"/>
                </a:lnTo>
                <a:lnTo>
                  <a:pt x="1445381" y="38978"/>
                </a:lnTo>
                <a:lnTo>
                  <a:pt x="1392585" y="52123"/>
                </a:lnTo>
                <a:lnTo>
                  <a:pt x="1343882" y="66865"/>
                </a:lnTo>
                <a:lnTo>
                  <a:pt x="1299617" y="83089"/>
                </a:lnTo>
                <a:lnTo>
                  <a:pt x="1260135" y="100682"/>
                </a:lnTo>
                <a:lnTo>
                  <a:pt x="1225780" y="119529"/>
                </a:lnTo>
                <a:lnTo>
                  <a:pt x="1173835" y="160532"/>
                </a:lnTo>
                <a:lnTo>
                  <a:pt x="1146541" y="205187"/>
                </a:lnTo>
                <a:lnTo>
                  <a:pt x="1143000" y="228599"/>
                </a:lnTo>
                <a:lnTo>
                  <a:pt x="1146541" y="252012"/>
                </a:lnTo>
                <a:lnTo>
                  <a:pt x="1173835" y="296667"/>
                </a:lnTo>
                <a:lnTo>
                  <a:pt x="1225780" y="337670"/>
                </a:lnTo>
                <a:lnTo>
                  <a:pt x="1260135" y="356517"/>
                </a:lnTo>
                <a:lnTo>
                  <a:pt x="1299617" y="374110"/>
                </a:lnTo>
                <a:lnTo>
                  <a:pt x="1343882" y="390334"/>
                </a:lnTo>
                <a:lnTo>
                  <a:pt x="1392585" y="405076"/>
                </a:lnTo>
                <a:lnTo>
                  <a:pt x="1445381" y="418221"/>
                </a:lnTo>
                <a:lnTo>
                  <a:pt x="1501925" y="429657"/>
                </a:lnTo>
                <a:lnTo>
                  <a:pt x="1561873" y="439269"/>
                </a:lnTo>
                <a:lnTo>
                  <a:pt x="1624879" y="446943"/>
                </a:lnTo>
                <a:lnTo>
                  <a:pt x="1690599" y="452565"/>
                </a:lnTo>
                <a:lnTo>
                  <a:pt x="1758688" y="456022"/>
                </a:lnTo>
                <a:lnTo>
                  <a:pt x="1828800" y="457200"/>
                </a:lnTo>
                <a:lnTo>
                  <a:pt x="1898911" y="456022"/>
                </a:lnTo>
                <a:lnTo>
                  <a:pt x="1967000" y="452565"/>
                </a:lnTo>
                <a:lnTo>
                  <a:pt x="2032720" y="446943"/>
                </a:lnTo>
                <a:lnTo>
                  <a:pt x="2095726" y="439269"/>
                </a:lnTo>
                <a:lnTo>
                  <a:pt x="2155674" y="429657"/>
                </a:lnTo>
                <a:lnTo>
                  <a:pt x="2212218" y="418221"/>
                </a:lnTo>
                <a:lnTo>
                  <a:pt x="2265014" y="405076"/>
                </a:lnTo>
                <a:lnTo>
                  <a:pt x="2313717" y="390334"/>
                </a:lnTo>
                <a:lnTo>
                  <a:pt x="2357982" y="374110"/>
                </a:lnTo>
                <a:lnTo>
                  <a:pt x="2397464" y="356517"/>
                </a:lnTo>
                <a:lnTo>
                  <a:pt x="2431819" y="337670"/>
                </a:lnTo>
                <a:lnTo>
                  <a:pt x="2483764" y="296667"/>
                </a:lnTo>
                <a:lnTo>
                  <a:pt x="2511058" y="252012"/>
                </a:lnTo>
                <a:lnTo>
                  <a:pt x="2514600" y="228599"/>
                </a:lnTo>
                <a:lnTo>
                  <a:pt x="2511058" y="205187"/>
                </a:lnTo>
                <a:lnTo>
                  <a:pt x="2483764" y="160532"/>
                </a:lnTo>
                <a:lnTo>
                  <a:pt x="2431819" y="119529"/>
                </a:lnTo>
                <a:lnTo>
                  <a:pt x="2397464" y="100682"/>
                </a:lnTo>
                <a:lnTo>
                  <a:pt x="2357982" y="83089"/>
                </a:lnTo>
                <a:lnTo>
                  <a:pt x="2313717" y="66865"/>
                </a:lnTo>
                <a:lnTo>
                  <a:pt x="2265014" y="52123"/>
                </a:lnTo>
                <a:lnTo>
                  <a:pt x="2212218" y="38978"/>
                </a:lnTo>
                <a:lnTo>
                  <a:pt x="2155674" y="27542"/>
                </a:lnTo>
                <a:lnTo>
                  <a:pt x="2095726" y="17930"/>
                </a:lnTo>
                <a:lnTo>
                  <a:pt x="2032720" y="10256"/>
                </a:lnTo>
                <a:lnTo>
                  <a:pt x="1967000" y="4634"/>
                </a:lnTo>
                <a:lnTo>
                  <a:pt x="1898911" y="1177"/>
                </a:lnTo>
                <a:lnTo>
                  <a:pt x="18288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90796" y="2590545"/>
            <a:ext cx="1007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description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59300" y="2959100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53340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9852" y="469900"/>
            <a:ext cx="58991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Entity-Set Examples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609851"/>
            <a:ext cx="720153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 MT"/>
                <a:cs typeface="Arial MT"/>
              </a:rPr>
              <a:t>E-R </a:t>
            </a:r>
            <a:r>
              <a:rPr sz="3200" spc="-10" dirty="0">
                <a:latin typeface="Arial MT"/>
                <a:cs typeface="Arial MT"/>
              </a:rPr>
              <a:t>diagram</a:t>
            </a:r>
            <a:r>
              <a:rPr sz="3200" spc="-5" dirty="0">
                <a:latin typeface="Arial MT"/>
                <a:cs typeface="Arial MT"/>
              </a:rPr>
              <a:t> for </a:t>
            </a:r>
            <a:r>
              <a:rPr sz="3200" spc="-10" dirty="0">
                <a:latin typeface="Arial MT"/>
                <a:cs typeface="Arial MT"/>
              </a:rPr>
              <a:t>customers</a:t>
            </a:r>
            <a:r>
              <a:rPr sz="3200" spc="-5" dirty="0">
                <a:latin typeface="Arial MT"/>
                <a:cs typeface="Arial MT"/>
              </a:rPr>
              <a:t> and </a:t>
            </a:r>
            <a:r>
              <a:rPr sz="3200" spc="-10" dirty="0">
                <a:latin typeface="Arial MT"/>
                <a:cs typeface="Arial MT"/>
              </a:rPr>
              <a:t>loans: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001" y="4145524"/>
            <a:ext cx="7688580" cy="16395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55600" marR="5080" indent="-355600">
              <a:lnSpc>
                <a:spcPct val="119000"/>
              </a:lnSpc>
              <a:spcBef>
                <a:spcPts val="15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 MT"/>
                <a:cs typeface="Arial MT"/>
              </a:rPr>
              <a:t>Convert </a:t>
            </a:r>
            <a:r>
              <a:rPr sz="3200" i="1" spc="-10" dirty="0">
                <a:latin typeface="Arial"/>
                <a:cs typeface="Arial"/>
              </a:rPr>
              <a:t>customer</a:t>
            </a:r>
            <a:r>
              <a:rPr sz="3200" i="1" spc="-5" dirty="0"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and </a:t>
            </a:r>
            <a:r>
              <a:rPr sz="3200" i="1" spc="-10" dirty="0">
                <a:latin typeface="Arial"/>
                <a:cs typeface="Arial"/>
              </a:rPr>
              <a:t>loan</a:t>
            </a:r>
            <a:r>
              <a:rPr sz="3200" i="1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entity-sets: 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customer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800" i="1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street_address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8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city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) </a:t>
            </a:r>
            <a:r>
              <a:rPr sz="2800" spc="-7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loan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800" i="1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,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amount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9900" y="3568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3100" y="2959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6798" y="3047745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30300" y="2273300"/>
            <a:ext cx="2971800" cy="533400"/>
          </a:xfrm>
          <a:custGeom>
            <a:avLst/>
            <a:gdLst/>
            <a:ahLst/>
            <a:cxnLst/>
            <a:rect l="l" t="t" r="r" b="b"/>
            <a:pathLst>
              <a:path w="2971800" h="533400">
                <a:moveTo>
                  <a:pt x="571499" y="76200"/>
                </a:moveTo>
                <a:lnTo>
                  <a:pt x="504881" y="77734"/>
                </a:lnTo>
                <a:lnTo>
                  <a:pt x="440511" y="82224"/>
                </a:lnTo>
                <a:lnTo>
                  <a:pt x="378821" y="89501"/>
                </a:lnTo>
                <a:lnTo>
                  <a:pt x="320239" y="99393"/>
                </a:lnTo>
                <a:lnTo>
                  <a:pt x="265197" y="111731"/>
                </a:lnTo>
                <a:lnTo>
                  <a:pt x="214124" y="126345"/>
                </a:lnTo>
                <a:lnTo>
                  <a:pt x="167449" y="143065"/>
                </a:lnTo>
                <a:lnTo>
                  <a:pt x="125603" y="161721"/>
                </a:lnTo>
                <a:lnTo>
                  <a:pt x="89015" y="182144"/>
                </a:lnTo>
                <a:lnTo>
                  <a:pt x="33335" y="227607"/>
                </a:lnTo>
                <a:lnTo>
                  <a:pt x="3847" y="278096"/>
                </a:lnTo>
                <a:lnTo>
                  <a:pt x="0" y="304800"/>
                </a:lnTo>
                <a:lnTo>
                  <a:pt x="3847" y="331503"/>
                </a:lnTo>
                <a:lnTo>
                  <a:pt x="33335" y="381992"/>
                </a:lnTo>
                <a:lnTo>
                  <a:pt x="89015" y="427455"/>
                </a:lnTo>
                <a:lnTo>
                  <a:pt x="125603" y="447878"/>
                </a:lnTo>
                <a:lnTo>
                  <a:pt x="167449" y="466534"/>
                </a:lnTo>
                <a:lnTo>
                  <a:pt x="214124" y="483254"/>
                </a:lnTo>
                <a:lnTo>
                  <a:pt x="265197" y="497868"/>
                </a:lnTo>
                <a:lnTo>
                  <a:pt x="320239" y="510206"/>
                </a:lnTo>
                <a:lnTo>
                  <a:pt x="378821" y="520098"/>
                </a:lnTo>
                <a:lnTo>
                  <a:pt x="440511" y="527375"/>
                </a:lnTo>
                <a:lnTo>
                  <a:pt x="504881" y="531865"/>
                </a:lnTo>
                <a:lnTo>
                  <a:pt x="571500" y="533400"/>
                </a:lnTo>
                <a:lnTo>
                  <a:pt x="638118" y="531865"/>
                </a:lnTo>
                <a:lnTo>
                  <a:pt x="702488" y="527375"/>
                </a:lnTo>
                <a:lnTo>
                  <a:pt x="764178" y="520098"/>
                </a:lnTo>
                <a:lnTo>
                  <a:pt x="822760" y="510206"/>
                </a:lnTo>
                <a:lnTo>
                  <a:pt x="877802" y="497868"/>
                </a:lnTo>
                <a:lnTo>
                  <a:pt x="928875" y="483254"/>
                </a:lnTo>
                <a:lnTo>
                  <a:pt x="975550" y="466534"/>
                </a:lnTo>
                <a:lnTo>
                  <a:pt x="1017396" y="447878"/>
                </a:lnTo>
                <a:lnTo>
                  <a:pt x="1053984" y="427455"/>
                </a:lnTo>
                <a:lnTo>
                  <a:pt x="1109664" y="381992"/>
                </a:lnTo>
                <a:lnTo>
                  <a:pt x="1139152" y="331503"/>
                </a:lnTo>
                <a:lnTo>
                  <a:pt x="1143000" y="304800"/>
                </a:lnTo>
                <a:lnTo>
                  <a:pt x="1139152" y="278096"/>
                </a:lnTo>
                <a:lnTo>
                  <a:pt x="1109664" y="227607"/>
                </a:lnTo>
                <a:lnTo>
                  <a:pt x="1053984" y="182144"/>
                </a:lnTo>
                <a:lnTo>
                  <a:pt x="1017396" y="161721"/>
                </a:lnTo>
                <a:lnTo>
                  <a:pt x="975550" y="143065"/>
                </a:lnTo>
                <a:lnTo>
                  <a:pt x="928875" y="126345"/>
                </a:lnTo>
                <a:lnTo>
                  <a:pt x="877802" y="111731"/>
                </a:lnTo>
                <a:lnTo>
                  <a:pt x="822760" y="99393"/>
                </a:lnTo>
                <a:lnTo>
                  <a:pt x="764178" y="89501"/>
                </a:lnTo>
                <a:lnTo>
                  <a:pt x="702488" y="82224"/>
                </a:lnTo>
                <a:lnTo>
                  <a:pt x="638118" y="77734"/>
                </a:lnTo>
                <a:lnTo>
                  <a:pt x="571499" y="76200"/>
                </a:lnTo>
                <a:close/>
              </a:path>
              <a:path w="2971800" h="533400">
                <a:moveTo>
                  <a:pt x="2171700" y="0"/>
                </a:moveTo>
                <a:lnTo>
                  <a:pt x="2102653" y="837"/>
                </a:lnTo>
                <a:lnTo>
                  <a:pt x="2035239" y="3303"/>
                </a:lnTo>
                <a:lnTo>
                  <a:pt x="1969699" y="7330"/>
                </a:lnTo>
                <a:lnTo>
                  <a:pt x="1906272" y="12851"/>
                </a:lnTo>
                <a:lnTo>
                  <a:pt x="1845197" y="19797"/>
                </a:lnTo>
                <a:lnTo>
                  <a:pt x="1786716" y="28099"/>
                </a:lnTo>
                <a:lnTo>
                  <a:pt x="1731067" y="37691"/>
                </a:lnTo>
                <a:lnTo>
                  <a:pt x="1678491" y="48504"/>
                </a:lnTo>
                <a:lnTo>
                  <a:pt x="1629229" y="60471"/>
                </a:lnTo>
                <a:lnTo>
                  <a:pt x="1583519" y="73522"/>
                </a:lnTo>
                <a:lnTo>
                  <a:pt x="1541601" y="87591"/>
                </a:lnTo>
                <a:lnTo>
                  <a:pt x="1503717" y="102609"/>
                </a:lnTo>
                <a:lnTo>
                  <a:pt x="1441006" y="135220"/>
                </a:lnTo>
                <a:lnTo>
                  <a:pt x="1397306" y="170812"/>
                </a:lnTo>
                <a:lnTo>
                  <a:pt x="1374536" y="208841"/>
                </a:lnTo>
                <a:lnTo>
                  <a:pt x="1371600" y="228599"/>
                </a:lnTo>
                <a:lnTo>
                  <a:pt x="1374536" y="248358"/>
                </a:lnTo>
                <a:lnTo>
                  <a:pt x="1397306" y="286387"/>
                </a:lnTo>
                <a:lnTo>
                  <a:pt x="1441006" y="321979"/>
                </a:lnTo>
                <a:lnTo>
                  <a:pt x="1503717" y="354590"/>
                </a:lnTo>
                <a:lnTo>
                  <a:pt x="1541601" y="369608"/>
                </a:lnTo>
                <a:lnTo>
                  <a:pt x="1583519" y="383677"/>
                </a:lnTo>
                <a:lnTo>
                  <a:pt x="1629229" y="396728"/>
                </a:lnTo>
                <a:lnTo>
                  <a:pt x="1678491" y="408695"/>
                </a:lnTo>
                <a:lnTo>
                  <a:pt x="1731067" y="419508"/>
                </a:lnTo>
                <a:lnTo>
                  <a:pt x="1786716" y="429100"/>
                </a:lnTo>
                <a:lnTo>
                  <a:pt x="1845197" y="437402"/>
                </a:lnTo>
                <a:lnTo>
                  <a:pt x="1906272" y="444348"/>
                </a:lnTo>
                <a:lnTo>
                  <a:pt x="1969699" y="449869"/>
                </a:lnTo>
                <a:lnTo>
                  <a:pt x="2035239" y="453896"/>
                </a:lnTo>
                <a:lnTo>
                  <a:pt x="2102653" y="456362"/>
                </a:lnTo>
                <a:lnTo>
                  <a:pt x="2171700" y="457199"/>
                </a:lnTo>
                <a:lnTo>
                  <a:pt x="2240746" y="456362"/>
                </a:lnTo>
                <a:lnTo>
                  <a:pt x="2308160" y="453896"/>
                </a:lnTo>
                <a:lnTo>
                  <a:pt x="2373700" y="449869"/>
                </a:lnTo>
                <a:lnTo>
                  <a:pt x="2437127" y="444348"/>
                </a:lnTo>
                <a:lnTo>
                  <a:pt x="2498202" y="437402"/>
                </a:lnTo>
                <a:lnTo>
                  <a:pt x="2556683" y="429100"/>
                </a:lnTo>
                <a:lnTo>
                  <a:pt x="2612332" y="419508"/>
                </a:lnTo>
                <a:lnTo>
                  <a:pt x="2664908" y="408695"/>
                </a:lnTo>
                <a:lnTo>
                  <a:pt x="2714170" y="396728"/>
                </a:lnTo>
                <a:lnTo>
                  <a:pt x="2759880" y="383677"/>
                </a:lnTo>
                <a:lnTo>
                  <a:pt x="2801798" y="369608"/>
                </a:lnTo>
                <a:lnTo>
                  <a:pt x="2839682" y="354590"/>
                </a:lnTo>
                <a:lnTo>
                  <a:pt x="2902393" y="321979"/>
                </a:lnTo>
                <a:lnTo>
                  <a:pt x="2946093" y="286387"/>
                </a:lnTo>
                <a:lnTo>
                  <a:pt x="2968863" y="248358"/>
                </a:lnTo>
                <a:lnTo>
                  <a:pt x="2971800" y="228599"/>
                </a:lnTo>
                <a:lnTo>
                  <a:pt x="2968863" y="208841"/>
                </a:lnTo>
                <a:lnTo>
                  <a:pt x="2946093" y="170812"/>
                </a:lnTo>
                <a:lnTo>
                  <a:pt x="2902393" y="135220"/>
                </a:lnTo>
                <a:lnTo>
                  <a:pt x="2839682" y="102609"/>
                </a:lnTo>
                <a:lnTo>
                  <a:pt x="2801798" y="87591"/>
                </a:lnTo>
                <a:lnTo>
                  <a:pt x="2759880" y="73522"/>
                </a:lnTo>
                <a:lnTo>
                  <a:pt x="2714170" y="60471"/>
                </a:lnTo>
                <a:lnTo>
                  <a:pt x="2664908" y="48504"/>
                </a:lnTo>
                <a:lnTo>
                  <a:pt x="2612332" y="37691"/>
                </a:lnTo>
                <a:lnTo>
                  <a:pt x="2556683" y="28099"/>
                </a:lnTo>
                <a:lnTo>
                  <a:pt x="2498202" y="19797"/>
                </a:lnTo>
                <a:lnTo>
                  <a:pt x="2437127" y="12851"/>
                </a:lnTo>
                <a:lnTo>
                  <a:pt x="2373700" y="7330"/>
                </a:lnTo>
                <a:lnTo>
                  <a:pt x="2308160" y="3303"/>
                </a:lnTo>
                <a:lnTo>
                  <a:pt x="2240746" y="837"/>
                </a:lnTo>
                <a:lnTo>
                  <a:pt x="21717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17977" y="2361945"/>
            <a:ext cx="13709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street_address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63900" y="2959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56000" y="30477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87500" y="2730500"/>
            <a:ext cx="1714500" cy="838200"/>
          </a:xfrm>
          <a:custGeom>
            <a:avLst/>
            <a:gdLst/>
            <a:ahLst/>
            <a:cxnLst/>
            <a:rect l="l" t="t" r="r" b="b"/>
            <a:pathLst>
              <a:path w="1714500" h="838200">
                <a:moveTo>
                  <a:pt x="0" y="457200"/>
                </a:moveTo>
                <a:lnTo>
                  <a:pt x="876300" y="838200"/>
                </a:lnTo>
              </a:path>
              <a:path w="1714500" h="838200">
                <a:moveTo>
                  <a:pt x="114300" y="76200"/>
                </a:moveTo>
                <a:lnTo>
                  <a:pt x="876300" y="838200"/>
                </a:lnTo>
              </a:path>
              <a:path w="1714500" h="838200">
                <a:moveTo>
                  <a:pt x="1714499" y="0"/>
                </a:moveTo>
                <a:lnTo>
                  <a:pt x="876300" y="838200"/>
                </a:lnTo>
              </a:path>
              <a:path w="1714500" h="838200">
                <a:moveTo>
                  <a:pt x="1676399" y="457200"/>
                </a:moveTo>
                <a:lnTo>
                  <a:pt x="876300" y="838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06900" y="3492500"/>
            <a:ext cx="1524000" cy="685800"/>
          </a:xfrm>
          <a:custGeom>
            <a:avLst/>
            <a:gdLst/>
            <a:ahLst/>
            <a:cxnLst/>
            <a:rect l="l" t="t" r="r" b="b"/>
            <a:pathLst>
              <a:path w="1524000" h="685800">
                <a:moveTo>
                  <a:pt x="762000" y="0"/>
                </a:moveTo>
                <a:lnTo>
                  <a:pt x="0" y="342900"/>
                </a:lnTo>
                <a:lnTo>
                  <a:pt x="762000" y="685800"/>
                </a:lnTo>
                <a:lnTo>
                  <a:pt x="1524000" y="342899"/>
                </a:lnTo>
                <a:lnTo>
                  <a:pt x="7620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56150" y="3695446"/>
            <a:ext cx="8267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borrower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64300" y="3568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loan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88100" y="23495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35353" y="2438145"/>
            <a:ext cx="57505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4445" algn="l"/>
              </a:tabLst>
            </a:pPr>
            <a:r>
              <a:rPr sz="1600" i="1" spc="-5" dirty="0">
                <a:latin typeface="Arial"/>
                <a:cs typeface="Arial"/>
              </a:rPr>
              <a:t>nam</a:t>
            </a:r>
            <a:r>
              <a:rPr sz="1600" i="1" dirty="0">
                <a:latin typeface="Arial"/>
                <a:cs typeface="Arial"/>
              </a:rPr>
              <a:t>e	</a:t>
            </a: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78700" y="2654300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533400" y="0"/>
                </a:moveTo>
                <a:lnTo>
                  <a:pt x="466431" y="1777"/>
                </a:lnTo>
                <a:lnTo>
                  <a:pt x="401962" y="6967"/>
                </a:lnTo>
                <a:lnTo>
                  <a:pt x="340489" y="15357"/>
                </a:lnTo>
                <a:lnTo>
                  <a:pt x="282510" y="26736"/>
                </a:lnTo>
                <a:lnTo>
                  <a:pt x="228523" y="40892"/>
                </a:lnTo>
                <a:lnTo>
                  <a:pt x="179025" y="57610"/>
                </a:lnTo>
                <a:lnTo>
                  <a:pt x="134512" y="76681"/>
                </a:lnTo>
                <a:lnTo>
                  <a:pt x="95484" y="97891"/>
                </a:lnTo>
                <a:lnTo>
                  <a:pt x="62436" y="121027"/>
                </a:lnTo>
                <a:lnTo>
                  <a:pt x="16272" y="172233"/>
                </a:lnTo>
                <a:lnTo>
                  <a:pt x="0" y="228599"/>
                </a:lnTo>
                <a:lnTo>
                  <a:pt x="4150" y="257322"/>
                </a:lnTo>
                <a:lnTo>
                  <a:pt x="35866" y="311320"/>
                </a:lnTo>
                <a:lnTo>
                  <a:pt x="95484" y="359308"/>
                </a:lnTo>
                <a:lnTo>
                  <a:pt x="134512" y="380518"/>
                </a:lnTo>
                <a:lnTo>
                  <a:pt x="179025" y="399589"/>
                </a:lnTo>
                <a:lnTo>
                  <a:pt x="228523" y="416307"/>
                </a:lnTo>
                <a:lnTo>
                  <a:pt x="282510" y="430463"/>
                </a:lnTo>
                <a:lnTo>
                  <a:pt x="340489" y="441842"/>
                </a:lnTo>
                <a:lnTo>
                  <a:pt x="401962" y="450232"/>
                </a:lnTo>
                <a:lnTo>
                  <a:pt x="466431" y="455422"/>
                </a:lnTo>
                <a:lnTo>
                  <a:pt x="533400" y="457199"/>
                </a:lnTo>
                <a:lnTo>
                  <a:pt x="600368" y="455422"/>
                </a:lnTo>
                <a:lnTo>
                  <a:pt x="664837" y="450232"/>
                </a:lnTo>
                <a:lnTo>
                  <a:pt x="726310" y="441842"/>
                </a:lnTo>
                <a:lnTo>
                  <a:pt x="784289" y="430463"/>
                </a:lnTo>
                <a:lnTo>
                  <a:pt x="838276" y="416307"/>
                </a:lnTo>
                <a:lnTo>
                  <a:pt x="887774" y="399589"/>
                </a:lnTo>
                <a:lnTo>
                  <a:pt x="932287" y="380518"/>
                </a:lnTo>
                <a:lnTo>
                  <a:pt x="971315" y="359308"/>
                </a:lnTo>
                <a:lnTo>
                  <a:pt x="1004363" y="336172"/>
                </a:lnTo>
                <a:lnTo>
                  <a:pt x="1050527" y="284966"/>
                </a:lnTo>
                <a:lnTo>
                  <a:pt x="1066800" y="228599"/>
                </a:lnTo>
                <a:lnTo>
                  <a:pt x="1062649" y="199877"/>
                </a:lnTo>
                <a:lnTo>
                  <a:pt x="1030933" y="145879"/>
                </a:lnTo>
                <a:lnTo>
                  <a:pt x="971315" y="97891"/>
                </a:lnTo>
                <a:lnTo>
                  <a:pt x="932287" y="76681"/>
                </a:lnTo>
                <a:lnTo>
                  <a:pt x="887774" y="57610"/>
                </a:lnTo>
                <a:lnTo>
                  <a:pt x="838276" y="40892"/>
                </a:lnTo>
                <a:lnTo>
                  <a:pt x="784289" y="26736"/>
                </a:lnTo>
                <a:lnTo>
                  <a:pt x="726310" y="15357"/>
                </a:lnTo>
                <a:lnTo>
                  <a:pt x="664837" y="6967"/>
                </a:lnTo>
                <a:lnTo>
                  <a:pt x="600368" y="1777"/>
                </a:lnTo>
                <a:lnTo>
                  <a:pt x="53340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61071" y="2742945"/>
            <a:ext cx="7029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amount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45300" y="2806700"/>
            <a:ext cx="1066800" cy="762000"/>
          </a:xfrm>
          <a:custGeom>
            <a:avLst/>
            <a:gdLst/>
            <a:ahLst/>
            <a:cxnLst/>
            <a:rect l="l" t="t" r="r" b="b"/>
            <a:pathLst>
              <a:path w="1066800" h="762000">
                <a:moveTo>
                  <a:pt x="0" y="0"/>
                </a:moveTo>
                <a:lnTo>
                  <a:pt x="342900" y="762000"/>
                </a:lnTo>
              </a:path>
              <a:path w="1066800" h="762000">
                <a:moveTo>
                  <a:pt x="1066800" y="304800"/>
                </a:moveTo>
                <a:lnTo>
                  <a:pt x="34290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87700" y="2654300"/>
            <a:ext cx="3276600" cy="1181100"/>
          </a:xfrm>
          <a:custGeom>
            <a:avLst/>
            <a:gdLst/>
            <a:ahLst/>
            <a:cxnLst/>
            <a:rect l="l" t="t" r="r" b="b"/>
            <a:pathLst>
              <a:path w="3276600" h="1181100">
                <a:moveTo>
                  <a:pt x="0" y="1181100"/>
                </a:moveTo>
                <a:lnTo>
                  <a:pt x="1219200" y="1181100"/>
                </a:lnTo>
              </a:path>
              <a:path w="3276600" h="1181100">
                <a:moveTo>
                  <a:pt x="2743200" y="1181099"/>
                </a:moveTo>
                <a:lnTo>
                  <a:pt x="3276600" y="1181099"/>
                </a:lnTo>
              </a:path>
              <a:path w="3276600" h="1181100">
                <a:moveTo>
                  <a:pt x="2019300" y="0"/>
                </a:moveTo>
                <a:lnTo>
                  <a:pt x="1950253" y="837"/>
                </a:lnTo>
                <a:lnTo>
                  <a:pt x="1882839" y="3303"/>
                </a:lnTo>
                <a:lnTo>
                  <a:pt x="1817299" y="7330"/>
                </a:lnTo>
                <a:lnTo>
                  <a:pt x="1753872" y="12851"/>
                </a:lnTo>
                <a:lnTo>
                  <a:pt x="1692797" y="19797"/>
                </a:lnTo>
                <a:lnTo>
                  <a:pt x="1634316" y="28099"/>
                </a:lnTo>
                <a:lnTo>
                  <a:pt x="1578667" y="37691"/>
                </a:lnTo>
                <a:lnTo>
                  <a:pt x="1526091" y="48504"/>
                </a:lnTo>
                <a:lnTo>
                  <a:pt x="1476829" y="60471"/>
                </a:lnTo>
                <a:lnTo>
                  <a:pt x="1431119" y="73522"/>
                </a:lnTo>
                <a:lnTo>
                  <a:pt x="1389201" y="87591"/>
                </a:lnTo>
                <a:lnTo>
                  <a:pt x="1351317" y="102609"/>
                </a:lnTo>
                <a:lnTo>
                  <a:pt x="1288606" y="135220"/>
                </a:lnTo>
                <a:lnTo>
                  <a:pt x="1244906" y="170812"/>
                </a:lnTo>
                <a:lnTo>
                  <a:pt x="1222136" y="208841"/>
                </a:lnTo>
                <a:lnTo>
                  <a:pt x="1219200" y="228600"/>
                </a:lnTo>
                <a:lnTo>
                  <a:pt x="1222136" y="248358"/>
                </a:lnTo>
                <a:lnTo>
                  <a:pt x="1244906" y="286387"/>
                </a:lnTo>
                <a:lnTo>
                  <a:pt x="1288606" y="321979"/>
                </a:lnTo>
                <a:lnTo>
                  <a:pt x="1351317" y="354590"/>
                </a:lnTo>
                <a:lnTo>
                  <a:pt x="1389201" y="369608"/>
                </a:lnTo>
                <a:lnTo>
                  <a:pt x="1431119" y="383677"/>
                </a:lnTo>
                <a:lnTo>
                  <a:pt x="1476829" y="396728"/>
                </a:lnTo>
                <a:lnTo>
                  <a:pt x="1526091" y="408695"/>
                </a:lnTo>
                <a:lnTo>
                  <a:pt x="1578667" y="419508"/>
                </a:lnTo>
                <a:lnTo>
                  <a:pt x="1634316" y="429100"/>
                </a:lnTo>
                <a:lnTo>
                  <a:pt x="1692797" y="437402"/>
                </a:lnTo>
                <a:lnTo>
                  <a:pt x="1753872" y="444348"/>
                </a:lnTo>
                <a:lnTo>
                  <a:pt x="1817299" y="449869"/>
                </a:lnTo>
                <a:lnTo>
                  <a:pt x="1882839" y="453896"/>
                </a:lnTo>
                <a:lnTo>
                  <a:pt x="1950253" y="456362"/>
                </a:lnTo>
                <a:lnTo>
                  <a:pt x="2019300" y="457200"/>
                </a:lnTo>
                <a:lnTo>
                  <a:pt x="2088346" y="456362"/>
                </a:lnTo>
                <a:lnTo>
                  <a:pt x="2155760" y="453896"/>
                </a:lnTo>
                <a:lnTo>
                  <a:pt x="2221300" y="449869"/>
                </a:lnTo>
                <a:lnTo>
                  <a:pt x="2284727" y="444348"/>
                </a:lnTo>
                <a:lnTo>
                  <a:pt x="2345802" y="437402"/>
                </a:lnTo>
                <a:lnTo>
                  <a:pt x="2404283" y="429100"/>
                </a:lnTo>
                <a:lnTo>
                  <a:pt x="2459932" y="419508"/>
                </a:lnTo>
                <a:lnTo>
                  <a:pt x="2512508" y="408695"/>
                </a:lnTo>
                <a:lnTo>
                  <a:pt x="2561770" y="396728"/>
                </a:lnTo>
                <a:lnTo>
                  <a:pt x="2607480" y="383677"/>
                </a:lnTo>
                <a:lnTo>
                  <a:pt x="2649398" y="369608"/>
                </a:lnTo>
                <a:lnTo>
                  <a:pt x="2687282" y="354590"/>
                </a:lnTo>
                <a:lnTo>
                  <a:pt x="2749993" y="321979"/>
                </a:lnTo>
                <a:lnTo>
                  <a:pt x="2793693" y="286387"/>
                </a:lnTo>
                <a:lnTo>
                  <a:pt x="2816463" y="248358"/>
                </a:lnTo>
                <a:lnTo>
                  <a:pt x="2819400" y="228599"/>
                </a:lnTo>
                <a:lnTo>
                  <a:pt x="2816463" y="208841"/>
                </a:lnTo>
                <a:lnTo>
                  <a:pt x="2793693" y="170812"/>
                </a:lnTo>
                <a:lnTo>
                  <a:pt x="2749993" y="135220"/>
                </a:lnTo>
                <a:lnTo>
                  <a:pt x="2687282" y="102609"/>
                </a:lnTo>
                <a:lnTo>
                  <a:pt x="2649398" y="87591"/>
                </a:lnTo>
                <a:lnTo>
                  <a:pt x="2607480" y="73522"/>
                </a:lnTo>
                <a:lnTo>
                  <a:pt x="2561770" y="60471"/>
                </a:lnTo>
                <a:lnTo>
                  <a:pt x="2512508" y="48504"/>
                </a:lnTo>
                <a:lnTo>
                  <a:pt x="2459932" y="37691"/>
                </a:lnTo>
                <a:lnTo>
                  <a:pt x="2404283" y="28099"/>
                </a:lnTo>
                <a:lnTo>
                  <a:pt x="2345802" y="19797"/>
                </a:lnTo>
                <a:lnTo>
                  <a:pt x="2284727" y="12851"/>
                </a:lnTo>
                <a:lnTo>
                  <a:pt x="2221300" y="7330"/>
                </a:lnTo>
                <a:lnTo>
                  <a:pt x="2155760" y="3303"/>
                </a:lnTo>
                <a:lnTo>
                  <a:pt x="2088346" y="837"/>
                </a:lnTo>
                <a:lnTo>
                  <a:pt x="20193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25847" y="2742945"/>
            <a:ext cx="1164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access_date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68900" y="31115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-4762"/>
                </a:moveTo>
                <a:lnTo>
                  <a:pt x="19050" y="385762"/>
                </a:lnTo>
              </a:path>
            </a:pathLst>
          </a:custGeom>
          <a:ln w="47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" y="139700"/>
            <a:ext cx="8458200" cy="1354217"/>
          </a:xfrm>
        </p:spPr>
        <p:txBody>
          <a:bodyPr/>
          <a:lstStyle/>
          <a:p>
            <a:r>
              <a:rPr lang="en-US" dirty="0"/>
              <a:t>Representation of Strong Entity Sets with Complex Attributes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663700"/>
            <a:ext cx="8458199" cy="4739759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For </a:t>
            </a:r>
            <a:r>
              <a:rPr lang="en-IN" dirty="0" smtClean="0"/>
              <a:t>the </a:t>
            </a:r>
            <a:r>
              <a:rPr lang="en-US" dirty="0" smtClean="0"/>
              <a:t>composite </a:t>
            </a:r>
            <a:r>
              <a:rPr lang="en-US" dirty="0"/>
              <a:t>attribute </a:t>
            </a:r>
            <a:r>
              <a:rPr lang="en-US" i="1" dirty="0"/>
              <a:t>name</a:t>
            </a:r>
            <a:r>
              <a:rPr lang="en-US" dirty="0"/>
              <a:t>, the schema generated for </a:t>
            </a:r>
            <a:r>
              <a:rPr lang="en-US" i="1" dirty="0"/>
              <a:t>instructor </a:t>
            </a:r>
            <a:r>
              <a:rPr lang="en-US" dirty="0"/>
              <a:t>contains the </a:t>
            </a:r>
            <a:r>
              <a:rPr lang="en-US" dirty="0" smtClean="0"/>
              <a:t>attributes </a:t>
            </a:r>
            <a:r>
              <a:rPr lang="en-US" i="1" dirty="0" smtClean="0">
                <a:solidFill>
                  <a:srgbClr val="FF0000"/>
                </a:solidFill>
              </a:rPr>
              <a:t>first </a:t>
            </a:r>
            <a:r>
              <a:rPr lang="en-US" i="1" dirty="0">
                <a:solidFill>
                  <a:srgbClr val="FF0000"/>
                </a:solidFill>
              </a:rPr>
              <a:t>name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middle initial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i="1" dirty="0">
                <a:solidFill>
                  <a:srgbClr val="FF0000"/>
                </a:solidFill>
              </a:rPr>
              <a:t>last name</a:t>
            </a:r>
            <a:r>
              <a:rPr lang="en-US" dirty="0"/>
              <a:t>; there is no separate attribute or schema </a:t>
            </a:r>
            <a:r>
              <a:rPr lang="en-US" dirty="0" smtClean="0"/>
              <a:t>for </a:t>
            </a:r>
            <a:r>
              <a:rPr lang="en-US" i="1" dirty="0" smtClean="0"/>
              <a:t>name</a:t>
            </a:r>
            <a:r>
              <a:rPr lang="en-US" dirty="0"/>
              <a:t>. </a:t>
            </a:r>
            <a:endParaRPr lang="en-US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Similarly</a:t>
            </a:r>
            <a:r>
              <a:rPr lang="en-US" dirty="0"/>
              <a:t>, for the composite attribute </a:t>
            </a:r>
            <a:r>
              <a:rPr lang="en-US" i="1" dirty="0">
                <a:solidFill>
                  <a:srgbClr val="FF0000"/>
                </a:solidFill>
              </a:rPr>
              <a:t>address</a:t>
            </a:r>
            <a:r>
              <a:rPr lang="en-US" dirty="0">
                <a:solidFill>
                  <a:srgbClr val="FF0000"/>
                </a:solidFill>
              </a:rPr>
              <a:t>,</a:t>
            </a:r>
            <a:r>
              <a:rPr lang="en-US" dirty="0"/>
              <a:t> the schema generated </a:t>
            </a:r>
            <a:r>
              <a:rPr lang="en-US" dirty="0" smtClean="0"/>
              <a:t>contains the </a:t>
            </a:r>
            <a:r>
              <a:rPr lang="en-US" dirty="0"/>
              <a:t>attributes </a:t>
            </a:r>
            <a:r>
              <a:rPr lang="en-US" i="1" dirty="0">
                <a:solidFill>
                  <a:srgbClr val="FF0000"/>
                </a:solidFill>
              </a:rPr>
              <a:t>street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city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state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i="1" dirty="0">
                <a:solidFill>
                  <a:srgbClr val="FF0000"/>
                </a:solidFill>
              </a:rPr>
              <a:t>postal code</a:t>
            </a:r>
            <a:r>
              <a:rPr lang="en-US" dirty="0"/>
              <a:t>. </a:t>
            </a:r>
            <a:endParaRPr lang="en-US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Since </a:t>
            </a:r>
            <a:r>
              <a:rPr lang="en-US" i="1" dirty="0">
                <a:solidFill>
                  <a:srgbClr val="FF0000"/>
                </a:solidFill>
              </a:rPr>
              <a:t>street</a:t>
            </a:r>
            <a:r>
              <a:rPr lang="en-US" i="1" dirty="0"/>
              <a:t> </a:t>
            </a:r>
            <a:r>
              <a:rPr lang="en-US" dirty="0"/>
              <a:t>is a composite attribute it </a:t>
            </a:r>
            <a:r>
              <a:rPr lang="en-US" dirty="0" smtClean="0"/>
              <a:t>is replaced </a:t>
            </a:r>
            <a:r>
              <a:rPr lang="en-US" dirty="0"/>
              <a:t>by </a:t>
            </a:r>
            <a:r>
              <a:rPr lang="en-US" i="1" dirty="0">
                <a:solidFill>
                  <a:srgbClr val="FF0000"/>
                </a:solidFill>
              </a:rPr>
              <a:t>street number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street name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i="1" dirty="0">
                <a:solidFill>
                  <a:srgbClr val="FF0000"/>
                </a:solidFill>
              </a:rPr>
              <a:t>apt number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50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700" y="444500"/>
            <a:ext cx="8902700" cy="603242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Multivalued attributes </a:t>
            </a:r>
            <a:r>
              <a:rPr lang="en-US" dirty="0"/>
              <a:t>are treated differently from other attributes. </a:t>
            </a:r>
            <a:endParaRPr lang="en-US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We </a:t>
            </a:r>
            <a:r>
              <a:rPr lang="en-US" dirty="0"/>
              <a:t>have </a:t>
            </a:r>
            <a:r>
              <a:rPr lang="en-US" dirty="0" smtClean="0"/>
              <a:t>seen that </a:t>
            </a:r>
            <a:r>
              <a:rPr lang="en-US" dirty="0"/>
              <a:t>attributes in an E-R diagram generally map directly into attributes for the </a:t>
            </a:r>
            <a:r>
              <a:rPr lang="en-US" dirty="0" smtClean="0"/>
              <a:t>appropriate relation </a:t>
            </a:r>
            <a:r>
              <a:rPr lang="en-US" dirty="0"/>
              <a:t>schemas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Multivalued attributes, however, are an exception;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new relation schemas </a:t>
            </a:r>
            <a:r>
              <a:rPr lang="en-US" dirty="0">
                <a:solidFill>
                  <a:srgbClr val="FF0000"/>
                </a:solidFill>
              </a:rPr>
              <a:t>are created </a:t>
            </a:r>
            <a:r>
              <a:rPr lang="en-US" dirty="0"/>
              <a:t>for these </a:t>
            </a:r>
            <a:r>
              <a:rPr lang="en-US" dirty="0" smtClean="0"/>
              <a:t>attributes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FF000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Derived </a:t>
            </a:r>
            <a:r>
              <a:rPr lang="en-US" dirty="0">
                <a:solidFill>
                  <a:srgbClr val="FF0000"/>
                </a:solidFill>
              </a:rPr>
              <a:t>attributes </a:t>
            </a:r>
            <a:r>
              <a:rPr lang="en-US" dirty="0"/>
              <a:t>are not explicitly represented in the relational data model. However</a:t>
            </a:r>
            <a:r>
              <a:rPr lang="en-US" dirty="0" smtClean="0"/>
              <a:t>, they </a:t>
            </a:r>
            <a:r>
              <a:rPr lang="en-US" dirty="0"/>
              <a:t>can be </a:t>
            </a:r>
            <a:r>
              <a:rPr lang="en-US" dirty="0" smtClean="0"/>
              <a:t>represented </a:t>
            </a:r>
            <a:r>
              <a:rPr lang="en-US" dirty="0"/>
              <a:t>as </a:t>
            </a:r>
            <a:r>
              <a:rPr lang="en-US" dirty="0">
                <a:solidFill>
                  <a:srgbClr val="FF0000"/>
                </a:solidFill>
              </a:rPr>
              <a:t>stored procedures, functions, </a:t>
            </a:r>
            <a:r>
              <a:rPr lang="en-US" dirty="0" smtClean="0">
                <a:solidFill>
                  <a:srgbClr val="FF0000"/>
                </a:solidFill>
              </a:rPr>
              <a:t>or methods </a:t>
            </a:r>
            <a:r>
              <a:rPr lang="en-US" dirty="0"/>
              <a:t>in other </a:t>
            </a:r>
            <a:r>
              <a:rPr lang="en-US" dirty="0" smtClean="0"/>
              <a:t>data </a:t>
            </a:r>
            <a:r>
              <a:rPr lang="en-IN" dirty="0" smtClean="0"/>
              <a:t>models</a:t>
            </a:r>
            <a:r>
              <a:rPr lang="en-IN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5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39700"/>
            <a:ext cx="8610600" cy="6463308"/>
          </a:xfrm>
        </p:spPr>
        <p:txBody>
          <a:bodyPr/>
          <a:lstStyle/>
          <a:p>
            <a:r>
              <a:rPr lang="en-US" dirty="0"/>
              <a:t>The relational schema derived from the version of entity set </a:t>
            </a:r>
            <a:r>
              <a:rPr lang="en-US" i="1" dirty="0"/>
              <a:t>instructor </a:t>
            </a:r>
            <a:r>
              <a:rPr lang="en-US" dirty="0"/>
              <a:t>with </a:t>
            </a:r>
            <a:r>
              <a:rPr lang="en-US" dirty="0" smtClean="0"/>
              <a:t>complex attributes</a:t>
            </a:r>
            <a:r>
              <a:rPr lang="en-US" dirty="0"/>
              <a:t>, without including the multivalued attribute, is thus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i="1" dirty="0"/>
              <a:t>instructor </a:t>
            </a:r>
            <a:r>
              <a:rPr lang="en-US" dirty="0"/>
              <a:t>(</a:t>
            </a:r>
            <a:r>
              <a:rPr lang="en-US" i="1" u="sng" dirty="0">
                <a:solidFill>
                  <a:srgbClr val="FF0000"/>
                </a:solidFill>
              </a:rPr>
              <a:t>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first name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middle initial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last name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i="1" dirty="0">
                <a:solidFill>
                  <a:srgbClr val="FF0000"/>
                </a:solidFill>
              </a:rPr>
              <a:t>street number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street name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apt </a:t>
            </a:r>
            <a:r>
              <a:rPr lang="en-US" i="1" dirty="0" err="1" smtClean="0">
                <a:solidFill>
                  <a:srgbClr val="FF0000"/>
                </a:solidFill>
              </a:rPr>
              <a:t>number</a:t>
            </a:r>
            <a:r>
              <a:rPr lang="en-US" dirty="0" err="1" smtClean="0">
                <a:solidFill>
                  <a:srgbClr val="FF0000"/>
                </a:solidFill>
              </a:rPr>
              <a:t>,</a:t>
            </a:r>
            <a:r>
              <a:rPr lang="en-US" i="1" dirty="0" err="1" smtClean="0">
                <a:solidFill>
                  <a:srgbClr val="FF0000"/>
                </a:solidFill>
              </a:rPr>
              <a:t>city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state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postal code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date of birth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pPr algn="just"/>
            <a:r>
              <a:rPr lang="en-US" dirty="0"/>
              <a:t>For a multivalued attribute </a:t>
            </a:r>
            <a:r>
              <a:rPr lang="en-US" i="1" dirty="0"/>
              <a:t>M</a:t>
            </a:r>
            <a:r>
              <a:rPr lang="en-US" dirty="0"/>
              <a:t>, we create a relation schema </a:t>
            </a:r>
            <a:r>
              <a:rPr lang="en-US" i="1" dirty="0"/>
              <a:t>R </a:t>
            </a:r>
            <a:r>
              <a:rPr lang="en-US" dirty="0"/>
              <a:t>with an attribute </a:t>
            </a:r>
            <a:r>
              <a:rPr lang="en-US" i="1" dirty="0" smtClean="0"/>
              <a:t>A </a:t>
            </a:r>
            <a:r>
              <a:rPr lang="en-US" dirty="0" smtClean="0"/>
              <a:t>that </a:t>
            </a:r>
            <a:r>
              <a:rPr lang="en-US" dirty="0"/>
              <a:t>corresponds to </a:t>
            </a:r>
            <a:r>
              <a:rPr lang="en-US" i="1" dirty="0"/>
              <a:t>M </a:t>
            </a:r>
            <a:r>
              <a:rPr lang="en-US" dirty="0"/>
              <a:t>and attributes corresponding to the primary key of the </a:t>
            </a:r>
            <a:r>
              <a:rPr lang="en-US" dirty="0" smtClean="0"/>
              <a:t>entity set </a:t>
            </a:r>
            <a:r>
              <a:rPr lang="en-US" dirty="0"/>
              <a:t>or relationship set of which </a:t>
            </a:r>
            <a:r>
              <a:rPr lang="en-US" i="1" dirty="0"/>
              <a:t>M </a:t>
            </a:r>
            <a:r>
              <a:rPr lang="en-US" dirty="0"/>
              <a:t>is an attribute</a:t>
            </a:r>
            <a:r>
              <a:rPr lang="en-US" dirty="0" smtClean="0"/>
              <a:t>.</a:t>
            </a:r>
          </a:p>
          <a:p>
            <a:pPr algn="just"/>
            <a:endParaRPr lang="en-US" i="1" dirty="0" smtClean="0"/>
          </a:p>
          <a:p>
            <a:pPr algn="just"/>
            <a:r>
              <a:rPr lang="en-US" i="1" dirty="0"/>
              <a:t>	</a:t>
            </a:r>
            <a:r>
              <a:rPr lang="en-US" i="1" dirty="0" smtClean="0">
                <a:solidFill>
                  <a:srgbClr val="FF0000"/>
                </a:solidFill>
              </a:rPr>
              <a:t>instructor </a:t>
            </a:r>
            <a:r>
              <a:rPr lang="en-US" i="1" dirty="0">
                <a:solidFill>
                  <a:srgbClr val="FF0000"/>
                </a:solidFill>
              </a:rPr>
              <a:t>phone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u="sng" dirty="0">
                <a:solidFill>
                  <a:srgbClr val="FF0000"/>
                </a:solidFill>
              </a:rPr>
              <a:t>ID</a:t>
            </a:r>
            <a:r>
              <a:rPr lang="en-US" u="sng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phone number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algn="just"/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7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0466" y="469900"/>
            <a:ext cx="52171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Composite</a:t>
            </a:r>
            <a:r>
              <a:rPr spc="-15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70227"/>
            <a:ext cx="7973695" cy="44856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965" marR="1837689" indent="-342900">
              <a:lnSpc>
                <a:spcPts val="3450"/>
              </a:lnSpc>
              <a:spcBef>
                <a:spcPts val="535"/>
              </a:spcBef>
              <a:buChar char="•"/>
              <a:tabLst>
                <a:tab pos="354965" algn="l"/>
                <a:tab pos="356235" algn="l"/>
              </a:tabLst>
            </a:pPr>
            <a:r>
              <a:rPr sz="3200" spc="-10" dirty="0">
                <a:latin typeface="Arial MT"/>
                <a:cs typeface="Arial MT"/>
              </a:rPr>
              <a:t>Relational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model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doesn’t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handle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composite attributes</a:t>
            </a:r>
            <a:endParaRPr sz="3200">
              <a:latin typeface="Arial MT"/>
              <a:cs typeface="Arial MT"/>
            </a:endParaRPr>
          </a:p>
          <a:p>
            <a:pPr marL="354965" marR="325120" indent="-342900">
              <a:lnSpc>
                <a:spcPts val="345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Arial MT"/>
                <a:cs typeface="Arial MT"/>
              </a:rPr>
              <a:t>When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mapping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E-R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composite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attributes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</a:t>
            </a:r>
            <a:r>
              <a:rPr sz="3200" spc="-10" dirty="0">
                <a:latin typeface="Arial MT"/>
                <a:cs typeface="Arial MT"/>
              </a:rPr>
              <a:t> relation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schema:</a:t>
            </a:r>
            <a:endParaRPr sz="3200">
              <a:latin typeface="Arial MT"/>
              <a:cs typeface="Arial MT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6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Each </a:t>
            </a:r>
            <a:r>
              <a:rPr sz="2800" dirty="0">
                <a:latin typeface="Arial MT"/>
                <a:cs typeface="Arial MT"/>
              </a:rPr>
              <a:t>component attribute maps to a separate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attribute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 schema</a:t>
            </a:r>
            <a:endParaRPr sz="2800">
              <a:latin typeface="Arial MT"/>
              <a:cs typeface="Arial MT"/>
            </a:endParaRPr>
          </a:p>
          <a:p>
            <a:pPr marL="755650" marR="1014730" lvl="1" indent="-285750">
              <a:lnSpc>
                <a:spcPts val="302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simply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can’t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refer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composite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 whole</a:t>
            </a:r>
            <a:endParaRPr sz="2800">
              <a:latin typeface="Arial MT"/>
              <a:cs typeface="Arial MT"/>
            </a:endParaRPr>
          </a:p>
          <a:p>
            <a:pPr marL="755650" marR="320675" lvl="1" indent="-285750">
              <a:lnSpc>
                <a:spcPts val="302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(Can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adjust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mapping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databases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support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composite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types)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37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813" y="469900"/>
            <a:ext cx="726820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Composite</a:t>
            </a:r>
            <a:r>
              <a:rPr dirty="0"/>
              <a:t> </a:t>
            </a:r>
            <a:r>
              <a:rPr spc="-5" dirty="0"/>
              <a:t>Attribute</a:t>
            </a:r>
            <a:r>
              <a:rPr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609851"/>
            <a:ext cx="5150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Arial MT"/>
                <a:cs typeface="Arial MT"/>
              </a:rPr>
              <a:t>Customers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with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addresses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001" y="4530447"/>
            <a:ext cx="7518400" cy="1440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 MT"/>
                <a:cs typeface="Arial MT"/>
              </a:rPr>
              <a:t>Each </a:t>
            </a:r>
            <a:r>
              <a:rPr sz="3200" spc="-10" dirty="0">
                <a:latin typeface="Arial MT"/>
                <a:cs typeface="Arial MT"/>
              </a:rPr>
              <a:t>component</a:t>
            </a:r>
            <a:r>
              <a:rPr sz="3200" spc="-5" dirty="0">
                <a:latin typeface="Arial MT"/>
                <a:cs typeface="Arial MT"/>
              </a:rPr>
              <a:t> 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i="1" spc="-10" dirty="0">
                <a:latin typeface="Arial"/>
                <a:cs typeface="Arial"/>
              </a:rPr>
              <a:t>address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 MT"/>
                <a:cs typeface="Arial MT"/>
              </a:rPr>
              <a:t>becomes</a:t>
            </a:r>
            <a:r>
              <a:rPr sz="3200" spc="-5" dirty="0">
                <a:latin typeface="Arial MT"/>
                <a:cs typeface="Arial MT"/>
              </a:rPr>
              <a:t> a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separate attribute</a:t>
            </a:r>
            <a:endParaRPr sz="3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85"/>
              </a:spcBef>
            </a:pPr>
            <a:r>
              <a:rPr sz="2400" i="1" spc="-5" dirty="0">
                <a:latin typeface="Arial"/>
                <a:cs typeface="Arial"/>
              </a:rPr>
              <a:t>customer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street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city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state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zipcode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0900" y="3568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59300" y="3721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82997" y="3809746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59300" y="3035300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571500" y="0"/>
                </a:moveTo>
                <a:lnTo>
                  <a:pt x="504881" y="1534"/>
                </a:lnTo>
                <a:lnTo>
                  <a:pt x="440511" y="6024"/>
                </a:lnTo>
                <a:lnTo>
                  <a:pt x="378821" y="13301"/>
                </a:lnTo>
                <a:lnTo>
                  <a:pt x="320239" y="23193"/>
                </a:lnTo>
                <a:lnTo>
                  <a:pt x="265197" y="35531"/>
                </a:lnTo>
                <a:lnTo>
                  <a:pt x="214124" y="50145"/>
                </a:lnTo>
                <a:lnTo>
                  <a:pt x="167449" y="66865"/>
                </a:lnTo>
                <a:lnTo>
                  <a:pt x="125603" y="85521"/>
                </a:lnTo>
                <a:lnTo>
                  <a:pt x="89015" y="105944"/>
                </a:lnTo>
                <a:lnTo>
                  <a:pt x="33335" y="151407"/>
                </a:lnTo>
                <a:lnTo>
                  <a:pt x="3847" y="201896"/>
                </a:lnTo>
                <a:lnTo>
                  <a:pt x="0" y="228600"/>
                </a:lnTo>
                <a:lnTo>
                  <a:pt x="3847" y="255303"/>
                </a:lnTo>
                <a:lnTo>
                  <a:pt x="33335" y="305792"/>
                </a:lnTo>
                <a:lnTo>
                  <a:pt x="89015" y="351255"/>
                </a:lnTo>
                <a:lnTo>
                  <a:pt x="125603" y="371678"/>
                </a:lnTo>
                <a:lnTo>
                  <a:pt x="167449" y="390334"/>
                </a:lnTo>
                <a:lnTo>
                  <a:pt x="214124" y="407054"/>
                </a:lnTo>
                <a:lnTo>
                  <a:pt x="265197" y="421668"/>
                </a:lnTo>
                <a:lnTo>
                  <a:pt x="320239" y="434006"/>
                </a:lnTo>
                <a:lnTo>
                  <a:pt x="378821" y="443898"/>
                </a:lnTo>
                <a:lnTo>
                  <a:pt x="440511" y="451175"/>
                </a:lnTo>
                <a:lnTo>
                  <a:pt x="504881" y="455665"/>
                </a:lnTo>
                <a:lnTo>
                  <a:pt x="571500" y="457200"/>
                </a:lnTo>
                <a:lnTo>
                  <a:pt x="638118" y="455665"/>
                </a:lnTo>
                <a:lnTo>
                  <a:pt x="702488" y="451175"/>
                </a:lnTo>
                <a:lnTo>
                  <a:pt x="764178" y="443898"/>
                </a:lnTo>
                <a:lnTo>
                  <a:pt x="822760" y="434006"/>
                </a:lnTo>
                <a:lnTo>
                  <a:pt x="877802" y="421668"/>
                </a:lnTo>
                <a:lnTo>
                  <a:pt x="928875" y="407054"/>
                </a:lnTo>
                <a:lnTo>
                  <a:pt x="975550" y="390334"/>
                </a:lnTo>
                <a:lnTo>
                  <a:pt x="1017396" y="371678"/>
                </a:lnTo>
                <a:lnTo>
                  <a:pt x="1053984" y="351255"/>
                </a:lnTo>
                <a:lnTo>
                  <a:pt x="1109664" y="305792"/>
                </a:lnTo>
                <a:lnTo>
                  <a:pt x="1139152" y="255303"/>
                </a:lnTo>
                <a:lnTo>
                  <a:pt x="1143000" y="228599"/>
                </a:lnTo>
                <a:lnTo>
                  <a:pt x="1139152" y="201896"/>
                </a:lnTo>
                <a:lnTo>
                  <a:pt x="1109664" y="151407"/>
                </a:lnTo>
                <a:lnTo>
                  <a:pt x="1053984" y="105944"/>
                </a:lnTo>
                <a:lnTo>
                  <a:pt x="1017396" y="85521"/>
                </a:lnTo>
                <a:lnTo>
                  <a:pt x="975550" y="66865"/>
                </a:lnTo>
                <a:lnTo>
                  <a:pt x="928875" y="50145"/>
                </a:lnTo>
                <a:lnTo>
                  <a:pt x="877802" y="35531"/>
                </a:lnTo>
                <a:lnTo>
                  <a:pt x="822760" y="23193"/>
                </a:lnTo>
                <a:lnTo>
                  <a:pt x="764178" y="13301"/>
                </a:lnTo>
                <a:lnTo>
                  <a:pt x="702488" y="6024"/>
                </a:lnTo>
                <a:lnTo>
                  <a:pt x="638118" y="1534"/>
                </a:lnTo>
                <a:lnTo>
                  <a:pt x="5715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64353" y="3123945"/>
            <a:ext cx="533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73700" y="3425444"/>
            <a:ext cx="457200" cy="524510"/>
          </a:xfrm>
          <a:custGeom>
            <a:avLst/>
            <a:gdLst/>
            <a:ahLst/>
            <a:cxnLst/>
            <a:rect l="l" t="t" r="r" b="b"/>
            <a:pathLst>
              <a:path w="457200" h="524510">
                <a:moveTo>
                  <a:pt x="0" y="524255"/>
                </a:moveTo>
                <a:lnTo>
                  <a:pt x="457200" y="409955"/>
                </a:lnTo>
              </a:path>
              <a:path w="457200" h="524510">
                <a:moveTo>
                  <a:pt x="61722" y="0"/>
                </a:moveTo>
                <a:lnTo>
                  <a:pt x="457200" y="40995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54700" y="2197100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381000" y="0"/>
                </a:moveTo>
                <a:lnTo>
                  <a:pt x="324723" y="2473"/>
                </a:lnTo>
                <a:lnTo>
                  <a:pt x="271001" y="9659"/>
                </a:lnTo>
                <a:lnTo>
                  <a:pt x="220426" y="21207"/>
                </a:lnTo>
                <a:lnTo>
                  <a:pt x="173589" y="36768"/>
                </a:lnTo>
                <a:lnTo>
                  <a:pt x="131080" y="55990"/>
                </a:lnTo>
                <a:lnTo>
                  <a:pt x="93489" y="78524"/>
                </a:lnTo>
                <a:lnTo>
                  <a:pt x="61408" y="104019"/>
                </a:lnTo>
                <a:lnTo>
                  <a:pt x="35428" y="132124"/>
                </a:lnTo>
                <a:lnTo>
                  <a:pt x="4133" y="194765"/>
                </a:lnTo>
                <a:lnTo>
                  <a:pt x="0" y="228599"/>
                </a:lnTo>
                <a:lnTo>
                  <a:pt x="4133" y="262434"/>
                </a:lnTo>
                <a:lnTo>
                  <a:pt x="35428" y="325075"/>
                </a:lnTo>
                <a:lnTo>
                  <a:pt x="61408" y="353180"/>
                </a:lnTo>
                <a:lnTo>
                  <a:pt x="93489" y="378675"/>
                </a:lnTo>
                <a:lnTo>
                  <a:pt x="131080" y="401209"/>
                </a:lnTo>
                <a:lnTo>
                  <a:pt x="173589" y="420431"/>
                </a:lnTo>
                <a:lnTo>
                  <a:pt x="220426" y="435992"/>
                </a:lnTo>
                <a:lnTo>
                  <a:pt x="271001" y="447540"/>
                </a:lnTo>
                <a:lnTo>
                  <a:pt x="324723" y="454726"/>
                </a:lnTo>
                <a:lnTo>
                  <a:pt x="381000" y="457199"/>
                </a:lnTo>
                <a:lnTo>
                  <a:pt x="437276" y="454726"/>
                </a:lnTo>
                <a:lnTo>
                  <a:pt x="490998" y="447540"/>
                </a:lnTo>
                <a:lnTo>
                  <a:pt x="541573" y="435992"/>
                </a:lnTo>
                <a:lnTo>
                  <a:pt x="588410" y="420431"/>
                </a:lnTo>
                <a:lnTo>
                  <a:pt x="630919" y="401209"/>
                </a:lnTo>
                <a:lnTo>
                  <a:pt x="668510" y="378675"/>
                </a:lnTo>
                <a:lnTo>
                  <a:pt x="700591" y="353180"/>
                </a:lnTo>
                <a:lnTo>
                  <a:pt x="726571" y="325075"/>
                </a:lnTo>
                <a:lnTo>
                  <a:pt x="757866" y="262434"/>
                </a:lnTo>
                <a:lnTo>
                  <a:pt x="762000" y="228599"/>
                </a:lnTo>
                <a:lnTo>
                  <a:pt x="757866" y="194765"/>
                </a:lnTo>
                <a:lnTo>
                  <a:pt x="726571" y="132124"/>
                </a:lnTo>
                <a:lnTo>
                  <a:pt x="700591" y="104019"/>
                </a:lnTo>
                <a:lnTo>
                  <a:pt x="668510" y="78524"/>
                </a:lnTo>
                <a:lnTo>
                  <a:pt x="630919" y="55990"/>
                </a:lnTo>
                <a:lnTo>
                  <a:pt x="588410" y="36768"/>
                </a:lnTo>
                <a:lnTo>
                  <a:pt x="541573" y="21207"/>
                </a:lnTo>
                <a:lnTo>
                  <a:pt x="490998" y="9659"/>
                </a:lnTo>
                <a:lnTo>
                  <a:pt x="437276" y="2473"/>
                </a:lnTo>
                <a:lnTo>
                  <a:pt x="3810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69253" y="2285745"/>
            <a:ext cx="5353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Arial"/>
                <a:cs typeface="Arial"/>
              </a:rPr>
              <a:t>street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35700" y="16637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27800" y="17523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00685" y="2116137"/>
            <a:ext cx="2483485" cy="695325"/>
            <a:chOff x="6500685" y="2116137"/>
            <a:chExt cx="2483485" cy="695325"/>
          </a:xfrm>
        </p:grpSpPr>
        <p:sp>
          <p:nvSpPr>
            <p:cNvPr id="16" name="object 16"/>
            <p:cNvSpPr/>
            <p:nvPr/>
          </p:nvSpPr>
          <p:spPr>
            <a:xfrm>
              <a:off x="6505447" y="2120900"/>
              <a:ext cx="1562100" cy="685800"/>
            </a:xfrm>
            <a:custGeom>
              <a:avLst/>
              <a:gdLst/>
              <a:ahLst/>
              <a:cxnLst/>
              <a:rect l="l" t="t" r="r" b="b"/>
              <a:pathLst>
                <a:path w="1562100" h="685800">
                  <a:moveTo>
                    <a:pt x="0" y="466343"/>
                  </a:moveTo>
                  <a:lnTo>
                    <a:pt x="835151" y="685799"/>
                  </a:lnTo>
                </a:path>
                <a:path w="1562100" h="685800">
                  <a:moveTo>
                    <a:pt x="187451" y="0"/>
                  </a:moveTo>
                  <a:lnTo>
                    <a:pt x="835151" y="685799"/>
                  </a:lnTo>
                </a:path>
                <a:path w="1562100" h="685800">
                  <a:moveTo>
                    <a:pt x="1562100" y="466343"/>
                  </a:moveTo>
                  <a:lnTo>
                    <a:pt x="835151" y="6857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12099" y="21971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1066800" y="228600"/>
                  </a:moveTo>
                  <a:lnTo>
                    <a:pt x="1050527" y="172233"/>
                  </a:lnTo>
                  <a:lnTo>
                    <a:pt x="1004363" y="121027"/>
                  </a:lnTo>
                  <a:lnTo>
                    <a:pt x="971315" y="97891"/>
                  </a:lnTo>
                  <a:lnTo>
                    <a:pt x="932287" y="76681"/>
                  </a:lnTo>
                  <a:lnTo>
                    <a:pt x="887774" y="57610"/>
                  </a:lnTo>
                  <a:lnTo>
                    <a:pt x="838276" y="40892"/>
                  </a:lnTo>
                  <a:lnTo>
                    <a:pt x="784289" y="26736"/>
                  </a:lnTo>
                  <a:lnTo>
                    <a:pt x="726310" y="15357"/>
                  </a:lnTo>
                  <a:lnTo>
                    <a:pt x="664837" y="6967"/>
                  </a:lnTo>
                  <a:lnTo>
                    <a:pt x="600368" y="1777"/>
                  </a:lnTo>
                  <a:lnTo>
                    <a:pt x="533400" y="0"/>
                  </a:lnTo>
                  <a:lnTo>
                    <a:pt x="466431" y="1777"/>
                  </a:lnTo>
                  <a:lnTo>
                    <a:pt x="401962" y="6967"/>
                  </a:lnTo>
                  <a:lnTo>
                    <a:pt x="340489" y="15357"/>
                  </a:lnTo>
                  <a:lnTo>
                    <a:pt x="282510" y="26736"/>
                  </a:lnTo>
                  <a:lnTo>
                    <a:pt x="228523" y="40892"/>
                  </a:lnTo>
                  <a:lnTo>
                    <a:pt x="179025" y="57610"/>
                  </a:lnTo>
                  <a:lnTo>
                    <a:pt x="134512" y="76681"/>
                  </a:lnTo>
                  <a:lnTo>
                    <a:pt x="95484" y="97891"/>
                  </a:lnTo>
                  <a:lnTo>
                    <a:pt x="62436" y="121027"/>
                  </a:lnTo>
                  <a:lnTo>
                    <a:pt x="16272" y="172233"/>
                  </a:lnTo>
                  <a:lnTo>
                    <a:pt x="0" y="228600"/>
                  </a:lnTo>
                  <a:lnTo>
                    <a:pt x="4150" y="257322"/>
                  </a:lnTo>
                  <a:lnTo>
                    <a:pt x="35866" y="311320"/>
                  </a:lnTo>
                  <a:lnTo>
                    <a:pt x="95484" y="359308"/>
                  </a:lnTo>
                  <a:lnTo>
                    <a:pt x="134512" y="380518"/>
                  </a:lnTo>
                  <a:lnTo>
                    <a:pt x="179025" y="399589"/>
                  </a:lnTo>
                  <a:lnTo>
                    <a:pt x="228523" y="416307"/>
                  </a:lnTo>
                  <a:lnTo>
                    <a:pt x="282510" y="430463"/>
                  </a:lnTo>
                  <a:lnTo>
                    <a:pt x="340489" y="441842"/>
                  </a:lnTo>
                  <a:lnTo>
                    <a:pt x="401962" y="450232"/>
                  </a:lnTo>
                  <a:lnTo>
                    <a:pt x="466431" y="455422"/>
                  </a:lnTo>
                  <a:lnTo>
                    <a:pt x="533400" y="457200"/>
                  </a:lnTo>
                  <a:lnTo>
                    <a:pt x="600368" y="455422"/>
                  </a:lnTo>
                  <a:lnTo>
                    <a:pt x="664837" y="450232"/>
                  </a:lnTo>
                  <a:lnTo>
                    <a:pt x="726310" y="441842"/>
                  </a:lnTo>
                  <a:lnTo>
                    <a:pt x="784289" y="430463"/>
                  </a:lnTo>
                  <a:lnTo>
                    <a:pt x="838276" y="416307"/>
                  </a:lnTo>
                  <a:lnTo>
                    <a:pt x="887774" y="399589"/>
                  </a:lnTo>
                  <a:lnTo>
                    <a:pt x="932287" y="380518"/>
                  </a:lnTo>
                  <a:lnTo>
                    <a:pt x="971315" y="359308"/>
                  </a:lnTo>
                  <a:lnTo>
                    <a:pt x="1004363" y="336172"/>
                  </a:lnTo>
                  <a:lnTo>
                    <a:pt x="1050527" y="284966"/>
                  </a:lnTo>
                  <a:lnTo>
                    <a:pt x="1066800" y="228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12099" y="21971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533400" y="0"/>
                  </a:moveTo>
                  <a:lnTo>
                    <a:pt x="466431" y="1777"/>
                  </a:lnTo>
                  <a:lnTo>
                    <a:pt x="401962" y="6967"/>
                  </a:lnTo>
                  <a:lnTo>
                    <a:pt x="340489" y="15357"/>
                  </a:lnTo>
                  <a:lnTo>
                    <a:pt x="282510" y="26736"/>
                  </a:lnTo>
                  <a:lnTo>
                    <a:pt x="228523" y="40892"/>
                  </a:lnTo>
                  <a:lnTo>
                    <a:pt x="179025" y="57610"/>
                  </a:lnTo>
                  <a:lnTo>
                    <a:pt x="134512" y="76681"/>
                  </a:lnTo>
                  <a:lnTo>
                    <a:pt x="95484" y="97891"/>
                  </a:lnTo>
                  <a:lnTo>
                    <a:pt x="62436" y="121027"/>
                  </a:lnTo>
                  <a:lnTo>
                    <a:pt x="16272" y="172233"/>
                  </a:lnTo>
                  <a:lnTo>
                    <a:pt x="0" y="228600"/>
                  </a:lnTo>
                  <a:lnTo>
                    <a:pt x="4150" y="257322"/>
                  </a:lnTo>
                  <a:lnTo>
                    <a:pt x="35866" y="311320"/>
                  </a:lnTo>
                  <a:lnTo>
                    <a:pt x="95484" y="359308"/>
                  </a:lnTo>
                  <a:lnTo>
                    <a:pt x="134512" y="380518"/>
                  </a:lnTo>
                  <a:lnTo>
                    <a:pt x="179025" y="399589"/>
                  </a:lnTo>
                  <a:lnTo>
                    <a:pt x="228523" y="416307"/>
                  </a:lnTo>
                  <a:lnTo>
                    <a:pt x="282510" y="430463"/>
                  </a:lnTo>
                  <a:lnTo>
                    <a:pt x="340489" y="441842"/>
                  </a:lnTo>
                  <a:lnTo>
                    <a:pt x="401962" y="450232"/>
                  </a:lnTo>
                  <a:lnTo>
                    <a:pt x="466431" y="455422"/>
                  </a:lnTo>
                  <a:lnTo>
                    <a:pt x="533400" y="457200"/>
                  </a:lnTo>
                  <a:lnTo>
                    <a:pt x="600368" y="455422"/>
                  </a:lnTo>
                  <a:lnTo>
                    <a:pt x="664837" y="450232"/>
                  </a:lnTo>
                  <a:lnTo>
                    <a:pt x="726310" y="441842"/>
                  </a:lnTo>
                  <a:lnTo>
                    <a:pt x="784289" y="430463"/>
                  </a:lnTo>
                  <a:lnTo>
                    <a:pt x="838276" y="416307"/>
                  </a:lnTo>
                  <a:lnTo>
                    <a:pt x="887774" y="399589"/>
                  </a:lnTo>
                  <a:lnTo>
                    <a:pt x="932287" y="380518"/>
                  </a:lnTo>
                  <a:lnTo>
                    <a:pt x="971315" y="359308"/>
                  </a:lnTo>
                  <a:lnTo>
                    <a:pt x="1004363" y="336172"/>
                  </a:lnTo>
                  <a:lnTo>
                    <a:pt x="1050527" y="284966"/>
                  </a:lnTo>
                  <a:lnTo>
                    <a:pt x="1066800" y="228600"/>
                  </a:lnTo>
                  <a:lnTo>
                    <a:pt x="1062649" y="199877"/>
                  </a:lnTo>
                  <a:lnTo>
                    <a:pt x="1030933" y="145879"/>
                  </a:lnTo>
                  <a:lnTo>
                    <a:pt x="971315" y="97891"/>
                  </a:lnTo>
                  <a:lnTo>
                    <a:pt x="932287" y="76681"/>
                  </a:lnTo>
                  <a:lnTo>
                    <a:pt x="887774" y="57610"/>
                  </a:lnTo>
                  <a:lnTo>
                    <a:pt x="838276" y="40892"/>
                  </a:lnTo>
                  <a:lnTo>
                    <a:pt x="784289" y="26736"/>
                  </a:lnTo>
                  <a:lnTo>
                    <a:pt x="726310" y="15357"/>
                  </a:lnTo>
                  <a:lnTo>
                    <a:pt x="664837" y="6967"/>
                  </a:lnTo>
                  <a:lnTo>
                    <a:pt x="600368" y="1777"/>
                  </a:lnTo>
                  <a:lnTo>
                    <a:pt x="5334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85328" y="2285745"/>
            <a:ext cx="7251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zipcode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302500" y="16637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26019" y="1752345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state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69100" y="21209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990600" y="0"/>
                </a:moveTo>
                <a:lnTo>
                  <a:pt x="571500" y="685799"/>
                </a:lnTo>
              </a:path>
              <a:path w="1143000" h="1143000">
                <a:moveTo>
                  <a:pt x="571500" y="685799"/>
                </a:moveTo>
                <a:lnTo>
                  <a:pt x="504881" y="687334"/>
                </a:lnTo>
                <a:lnTo>
                  <a:pt x="440511" y="691824"/>
                </a:lnTo>
                <a:lnTo>
                  <a:pt x="378821" y="699101"/>
                </a:lnTo>
                <a:lnTo>
                  <a:pt x="320239" y="708993"/>
                </a:lnTo>
                <a:lnTo>
                  <a:pt x="265197" y="721331"/>
                </a:lnTo>
                <a:lnTo>
                  <a:pt x="214124" y="735945"/>
                </a:lnTo>
                <a:lnTo>
                  <a:pt x="167449" y="752665"/>
                </a:lnTo>
                <a:lnTo>
                  <a:pt x="125603" y="771321"/>
                </a:lnTo>
                <a:lnTo>
                  <a:pt x="89015" y="791744"/>
                </a:lnTo>
                <a:lnTo>
                  <a:pt x="33335" y="837207"/>
                </a:lnTo>
                <a:lnTo>
                  <a:pt x="3847" y="887696"/>
                </a:lnTo>
                <a:lnTo>
                  <a:pt x="0" y="914399"/>
                </a:lnTo>
                <a:lnTo>
                  <a:pt x="3847" y="941103"/>
                </a:lnTo>
                <a:lnTo>
                  <a:pt x="33335" y="991592"/>
                </a:lnTo>
                <a:lnTo>
                  <a:pt x="89015" y="1037055"/>
                </a:lnTo>
                <a:lnTo>
                  <a:pt x="125603" y="1057478"/>
                </a:lnTo>
                <a:lnTo>
                  <a:pt x="167449" y="1076134"/>
                </a:lnTo>
                <a:lnTo>
                  <a:pt x="214124" y="1092854"/>
                </a:lnTo>
                <a:lnTo>
                  <a:pt x="265197" y="1107468"/>
                </a:lnTo>
                <a:lnTo>
                  <a:pt x="320239" y="1119806"/>
                </a:lnTo>
                <a:lnTo>
                  <a:pt x="378821" y="1129698"/>
                </a:lnTo>
                <a:lnTo>
                  <a:pt x="440511" y="1136975"/>
                </a:lnTo>
                <a:lnTo>
                  <a:pt x="504881" y="1141465"/>
                </a:lnTo>
                <a:lnTo>
                  <a:pt x="571500" y="1142999"/>
                </a:lnTo>
                <a:lnTo>
                  <a:pt x="638118" y="1141465"/>
                </a:lnTo>
                <a:lnTo>
                  <a:pt x="702488" y="1136975"/>
                </a:lnTo>
                <a:lnTo>
                  <a:pt x="764178" y="1129698"/>
                </a:lnTo>
                <a:lnTo>
                  <a:pt x="822760" y="1119806"/>
                </a:lnTo>
                <a:lnTo>
                  <a:pt x="877802" y="1107468"/>
                </a:lnTo>
                <a:lnTo>
                  <a:pt x="928875" y="1092854"/>
                </a:lnTo>
                <a:lnTo>
                  <a:pt x="975550" y="1076134"/>
                </a:lnTo>
                <a:lnTo>
                  <a:pt x="1017396" y="1057478"/>
                </a:lnTo>
                <a:lnTo>
                  <a:pt x="1053984" y="1037055"/>
                </a:lnTo>
                <a:lnTo>
                  <a:pt x="1109664" y="991592"/>
                </a:lnTo>
                <a:lnTo>
                  <a:pt x="1139152" y="941103"/>
                </a:lnTo>
                <a:lnTo>
                  <a:pt x="1143000" y="914399"/>
                </a:lnTo>
                <a:lnTo>
                  <a:pt x="1139152" y="887696"/>
                </a:lnTo>
                <a:lnTo>
                  <a:pt x="1109664" y="837207"/>
                </a:lnTo>
                <a:lnTo>
                  <a:pt x="1053984" y="791744"/>
                </a:lnTo>
                <a:lnTo>
                  <a:pt x="1017396" y="771321"/>
                </a:lnTo>
                <a:lnTo>
                  <a:pt x="975550" y="752665"/>
                </a:lnTo>
                <a:lnTo>
                  <a:pt x="928875" y="735945"/>
                </a:lnTo>
                <a:lnTo>
                  <a:pt x="877802" y="721331"/>
                </a:lnTo>
                <a:lnTo>
                  <a:pt x="822760" y="708993"/>
                </a:lnTo>
                <a:lnTo>
                  <a:pt x="764178" y="699101"/>
                </a:lnTo>
                <a:lnTo>
                  <a:pt x="702488" y="691824"/>
                </a:lnTo>
                <a:lnTo>
                  <a:pt x="638118" y="687334"/>
                </a:lnTo>
                <a:lnTo>
                  <a:pt x="571500" y="6857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967473" y="2895345"/>
            <a:ext cx="7480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54800" y="3196844"/>
            <a:ext cx="281305" cy="372110"/>
          </a:xfrm>
          <a:custGeom>
            <a:avLst/>
            <a:gdLst/>
            <a:ahLst/>
            <a:cxnLst/>
            <a:rect l="l" t="t" r="r" b="b"/>
            <a:pathLst>
              <a:path w="281304" h="372110">
                <a:moveTo>
                  <a:pt x="0" y="371855"/>
                </a:moveTo>
                <a:lnTo>
                  <a:pt x="28117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1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Multivalued</a:t>
            </a:r>
            <a:r>
              <a:rPr spc="-10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41272"/>
            <a:ext cx="8052434" cy="45319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63500" indent="-343535">
              <a:lnSpc>
                <a:spcPct val="80000"/>
              </a:lnSpc>
              <a:spcBef>
                <a:spcPts val="775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Multivalued attributes require a separate relation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endParaRPr sz="2800">
              <a:latin typeface="Arial MT"/>
              <a:cs typeface="Arial MT"/>
            </a:endParaRPr>
          </a:p>
          <a:p>
            <a:pPr marL="755015" marR="304165" lvl="1" indent="-285750">
              <a:lnSpc>
                <a:spcPts val="2300"/>
              </a:lnSpc>
              <a:spcBef>
                <a:spcPts val="54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multivalued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relational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ts val="3354"/>
              </a:lnSpc>
              <a:spcBef>
                <a:spcPts val="3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multivalued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attribute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M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755015" lvl="1" indent="-285750">
              <a:lnSpc>
                <a:spcPts val="2585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Create a relation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spc="-5" dirty="0">
                <a:latin typeface="Arial MT"/>
                <a:cs typeface="Arial MT"/>
              </a:rPr>
              <a:t>with attribute</a:t>
            </a:r>
            <a:endParaRPr sz="2400">
              <a:latin typeface="Arial MT"/>
              <a:cs typeface="Arial MT"/>
            </a:endParaRPr>
          </a:p>
          <a:p>
            <a:pPr marL="755015">
              <a:lnSpc>
                <a:spcPts val="2590"/>
              </a:lnSpc>
            </a:pP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corresponding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  <a:p>
            <a:pPr marL="1155700" lvl="2" indent="-229235">
              <a:lnSpc>
                <a:spcPts val="2385"/>
              </a:lnSpc>
              <a:buFont typeface="Arial MT"/>
              <a:buChar char="•"/>
              <a:tabLst>
                <a:tab pos="1155065" algn="l"/>
                <a:tab pos="1156335" algn="l"/>
              </a:tabLst>
            </a:pPr>
            <a:r>
              <a:rPr sz="2000" i="1" spc="-5" dirty="0">
                <a:latin typeface="Arial"/>
                <a:cs typeface="Arial"/>
              </a:rPr>
              <a:t>A</a:t>
            </a:r>
            <a:r>
              <a:rPr sz="2000" i="1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single-valued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version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ts val="2865"/>
              </a:lnSpc>
              <a:buChar char="–"/>
              <a:tabLst>
                <a:tab pos="756285" algn="l"/>
                <a:tab pos="3463290" algn="l"/>
              </a:tabLst>
            </a:pPr>
            <a:r>
              <a:rPr sz="2400" spc="-5" dirty="0">
                <a:latin typeface="Arial MT"/>
                <a:cs typeface="Arial MT"/>
              </a:rPr>
              <a:t>Attributes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are:	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475" dirty="0">
                <a:latin typeface="Verdana"/>
                <a:cs typeface="Verdana"/>
              </a:rPr>
              <a:t>(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Arial"/>
                <a:cs typeface="Arial"/>
              </a:rPr>
              <a:t>primary_key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755015" lvl="1" indent="-285750">
              <a:lnSpc>
                <a:spcPts val="2880"/>
              </a:lnSpc>
              <a:spcBef>
                <a:spcPts val="2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 </a:t>
            </a:r>
            <a:r>
              <a:rPr sz="2400" spc="-5" dirty="0">
                <a:latin typeface="Arial MT"/>
                <a:cs typeface="Arial MT"/>
              </a:rPr>
              <a:t>includes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all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1155065" lvl="2" indent="-228600">
              <a:lnSpc>
                <a:spcPts val="2395"/>
              </a:lnSpc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Arial MT"/>
                <a:cs typeface="Arial MT"/>
              </a:rPr>
              <a:t>Each value in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M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for entity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e</a:t>
            </a:r>
            <a:r>
              <a:rPr sz="2000" i="1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must be </a:t>
            </a:r>
            <a:r>
              <a:rPr sz="2000" spc="-10" dirty="0">
                <a:latin typeface="Arial MT"/>
                <a:cs typeface="Arial MT"/>
              </a:rPr>
              <a:t>unique</a:t>
            </a:r>
            <a:endParaRPr sz="2000">
              <a:latin typeface="Arial MT"/>
              <a:cs typeface="Arial MT"/>
            </a:endParaRPr>
          </a:p>
          <a:p>
            <a:pPr marL="755650" marR="5080" lvl="1" indent="-286385">
              <a:lnSpc>
                <a:spcPts val="2300"/>
              </a:lnSpc>
              <a:spcBef>
                <a:spcPts val="55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Foreign</a:t>
            </a:r>
            <a:r>
              <a:rPr sz="2400" dirty="0">
                <a:latin typeface="Arial MT"/>
                <a:cs typeface="Arial MT"/>
              </a:rPr>
              <a:t> key </a:t>
            </a:r>
            <a:r>
              <a:rPr sz="2400" spc="-5" dirty="0">
                <a:latin typeface="Arial MT"/>
                <a:cs typeface="Arial MT"/>
              </a:rPr>
              <a:t>constraint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primary_key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attributes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26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7852" y="469900"/>
            <a:ext cx="74225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Multivalued</a:t>
            </a:r>
            <a:r>
              <a:rPr spc="10" dirty="0"/>
              <a:t> </a:t>
            </a:r>
            <a:r>
              <a:rPr spc="-5" dirty="0"/>
              <a:t>Attribute</a:t>
            </a:r>
            <a:r>
              <a:rPr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611375"/>
            <a:ext cx="33413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Customers with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multiple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addresses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001" y="4004353"/>
            <a:ext cx="7715884" cy="18529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Create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separate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store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address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i="1" spc="-5" dirty="0">
                <a:latin typeface="Arial"/>
                <a:cs typeface="Arial"/>
              </a:rPr>
              <a:t>customer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i="1" spc="-5" dirty="0">
                <a:latin typeface="Arial"/>
                <a:cs typeface="Arial"/>
              </a:rPr>
              <a:t>cust_addrs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street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city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state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spc="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zipcode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Large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primary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aren’t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costly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1300" y="33401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49700" y="34925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73397" y="3581146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49700" y="2806700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571500" y="0"/>
                </a:moveTo>
                <a:lnTo>
                  <a:pt x="504881" y="1534"/>
                </a:lnTo>
                <a:lnTo>
                  <a:pt x="440511" y="6024"/>
                </a:lnTo>
                <a:lnTo>
                  <a:pt x="378821" y="13301"/>
                </a:lnTo>
                <a:lnTo>
                  <a:pt x="320239" y="23193"/>
                </a:lnTo>
                <a:lnTo>
                  <a:pt x="265197" y="35531"/>
                </a:lnTo>
                <a:lnTo>
                  <a:pt x="214124" y="50145"/>
                </a:lnTo>
                <a:lnTo>
                  <a:pt x="167449" y="66865"/>
                </a:lnTo>
                <a:lnTo>
                  <a:pt x="125603" y="85521"/>
                </a:lnTo>
                <a:lnTo>
                  <a:pt x="89015" y="105944"/>
                </a:lnTo>
                <a:lnTo>
                  <a:pt x="33335" y="151407"/>
                </a:lnTo>
                <a:lnTo>
                  <a:pt x="3847" y="201896"/>
                </a:lnTo>
                <a:lnTo>
                  <a:pt x="0" y="228600"/>
                </a:lnTo>
                <a:lnTo>
                  <a:pt x="3847" y="255303"/>
                </a:lnTo>
                <a:lnTo>
                  <a:pt x="33335" y="305792"/>
                </a:lnTo>
                <a:lnTo>
                  <a:pt x="89015" y="351255"/>
                </a:lnTo>
                <a:lnTo>
                  <a:pt x="125603" y="371678"/>
                </a:lnTo>
                <a:lnTo>
                  <a:pt x="167449" y="390334"/>
                </a:lnTo>
                <a:lnTo>
                  <a:pt x="214124" y="407054"/>
                </a:lnTo>
                <a:lnTo>
                  <a:pt x="265197" y="421668"/>
                </a:lnTo>
                <a:lnTo>
                  <a:pt x="320239" y="434006"/>
                </a:lnTo>
                <a:lnTo>
                  <a:pt x="378821" y="443898"/>
                </a:lnTo>
                <a:lnTo>
                  <a:pt x="440511" y="451175"/>
                </a:lnTo>
                <a:lnTo>
                  <a:pt x="504881" y="455665"/>
                </a:lnTo>
                <a:lnTo>
                  <a:pt x="571500" y="457200"/>
                </a:lnTo>
                <a:lnTo>
                  <a:pt x="638118" y="455665"/>
                </a:lnTo>
                <a:lnTo>
                  <a:pt x="702488" y="451175"/>
                </a:lnTo>
                <a:lnTo>
                  <a:pt x="764178" y="443898"/>
                </a:lnTo>
                <a:lnTo>
                  <a:pt x="822760" y="434006"/>
                </a:lnTo>
                <a:lnTo>
                  <a:pt x="877802" y="421668"/>
                </a:lnTo>
                <a:lnTo>
                  <a:pt x="928875" y="407054"/>
                </a:lnTo>
                <a:lnTo>
                  <a:pt x="975550" y="390334"/>
                </a:lnTo>
                <a:lnTo>
                  <a:pt x="1017396" y="371678"/>
                </a:lnTo>
                <a:lnTo>
                  <a:pt x="1053984" y="351255"/>
                </a:lnTo>
                <a:lnTo>
                  <a:pt x="1109664" y="305792"/>
                </a:lnTo>
                <a:lnTo>
                  <a:pt x="1139152" y="255303"/>
                </a:lnTo>
                <a:lnTo>
                  <a:pt x="1143000" y="228600"/>
                </a:lnTo>
                <a:lnTo>
                  <a:pt x="1139152" y="201896"/>
                </a:lnTo>
                <a:lnTo>
                  <a:pt x="1109664" y="151407"/>
                </a:lnTo>
                <a:lnTo>
                  <a:pt x="1053984" y="105944"/>
                </a:lnTo>
                <a:lnTo>
                  <a:pt x="1017396" y="85521"/>
                </a:lnTo>
                <a:lnTo>
                  <a:pt x="975550" y="66865"/>
                </a:lnTo>
                <a:lnTo>
                  <a:pt x="928875" y="50145"/>
                </a:lnTo>
                <a:lnTo>
                  <a:pt x="877802" y="35531"/>
                </a:lnTo>
                <a:lnTo>
                  <a:pt x="822760" y="23193"/>
                </a:lnTo>
                <a:lnTo>
                  <a:pt x="764178" y="13301"/>
                </a:lnTo>
                <a:lnTo>
                  <a:pt x="702488" y="6024"/>
                </a:lnTo>
                <a:lnTo>
                  <a:pt x="638118" y="1534"/>
                </a:lnTo>
                <a:lnTo>
                  <a:pt x="5715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54753" y="2895345"/>
            <a:ext cx="533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64100" y="3196844"/>
            <a:ext cx="457200" cy="524510"/>
          </a:xfrm>
          <a:custGeom>
            <a:avLst/>
            <a:gdLst/>
            <a:ahLst/>
            <a:cxnLst/>
            <a:rect l="l" t="t" r="r" b="b"/>
            <a:pathLst>
              <a:path w="457200" h="524510">
                <a:moveTo>
                  <a:pt x="0" y="524255"/>
                </a:moveTo>
                <a:lnTo>
                  <a:pt x="457200" y="409955"/>
                </a:lnTo>
              </a:path>
              <a:path w="457200" h="524510">
                <a:moveTo>
                  <a:pt x="61722" y="0"/>
                </a:moveTo>
                <a:lnTo>
                  <a:pt x="457200" y="40995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45100" y="1968500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381000" y="0"/>
                </a:moveTo>
                <a:lnTo>
                  <a:pt x="324723" y="2473"/>
                </a:lnTo>
                <a:lnTo>
                  <a:pt x="271001" y="9659"/>
                </a:lnTo>
                <a:lnTo>
                  <a:pt x="220426" y="21207"/>
                </a:lnTo>
                <a:lnTo>
                  <a:pt x="173589" y="36768"/>
                </a:lnTo>
                <a:lnTo>
                  <a:pt x="131080" y="55990"/>
                </a:lnTo>
                <a:lnTo>
                  <a:pt x="93489" y="78524"/>
                </a:lnTo>
                <a:lnTo>
                  <a:pt x="61408" y="104019"/>
                </a:lnTo>
                <a:lnTo>
                  <a:pt x="35428" y="132124"/>
                </a:lnTo>
                <a:lnTo>
                  <a:pt x="4133" y="194765"/>
                </a:lnTo>
                <a:lnTo>
                  <a:pt x="0" y="228599"/>
                </a:lnTo>
                <a:lnTo>
                  <a:pt x="4133" y="262434"/>
                </a:lnTo>
                <a:lnTo>
                  <a:pt x="35428" y="325075"/>
                </a:lnTo>
                <a:lnTo>
                  <a:pt x="61408" y="353180"/>
                </a:lnTo>
                <a:lnTo>
                  <a:pt x="93489" y="378675"/>
                </a:lnTo>
                <a:lnTo>
                  <a:pt x="131080" y="401209"/>
                </a:lnTo>
                <a:lnTo>
                  <a:pt x="173589" y="420431"/>
                </a:lnTo>
                <a:lnTo>
                  <a:pt x="220426" y="435992"/>
                </a:lnTo>
                <a:lnTo>
                  <a:pt x="271001" y="447540"/>
                </a:lnTo>
                <a:lnTo>
                  <a:pt x="324723" y="454726"/>
                </a:lnTo>
                <a:lnTo>
                  <a:pt x="381000" y="457199"/>
                </a:lnTo>
                <a:lnTo>
                  <a:pt x="437276" y="454726"/>
                </a:lnTo>
                <a:lnTo>
                  <a:pt x="490998" y="447540"/>
                </a:lnTo>
                <a:lnTo>
                  <a:pt x="541573" y="435992"/>
                </a:lnTo>
                <a:lnTo>
                  <a:pt x="588410" y="420431"/>
                </a:lnTo>
                <a:lnTo>
                  <a:pt x="630919" y="401209"/>
                </a:lnTo>
                <a:lnTo>
                  <a:pt x="668510" y="378675"/>
                </a:lnTo>
                <a:lnTo>
                  <a:pt x="700591" y="353180"/>
                </a:lnTo>
                <a:lnTo>
                  <a:pt x="726571" y="325075"/>
                </a:lnTo>
                <a:lnTo>
                  <a:pt x="757866" y="262434"/>
                </a:lnTo>
                <a:lnTo>
                  <a:pt x="762000" y="228599"/>
                </a:lnTo>
                <a:lnTo>
                  <a:pt x="757866" y="194765"/>
                </a:lnTo>
                <a:lnTo>
                  <a:pt x="726571" y="132124"/>
                </a:lnTo>
                <a:lnTo>
                  <a:pt x="700591" y="104019"/>
                </a:lnTo>
                <a:lnTo>
                  <a:pt x="668510" y="78524"/>
                </a:lnTo>
                <a:lnTo>
                  <a:pt x="630919" y="55990"/>
                </a:lnTo>
                <a:lnTo>
                  <a:pt x="588410" y="36768"/>
                </a:lnTo>
                <a:lnTo>
                  <a:pt x="541573" y="21207"/>
                </a:lnTo>
                <a:lnTo>
                  <a:pt x="490998" y="9659"/>
                </a:lnTo>
                <a:lnTo>
                  <a:pt x="437276" y="2473"/>
                </a:lnTo>
                <a:lnTo>
                  <a:pt x="3810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59653" y="2057145"/>
            <a:ext cx="5353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Arial"/>
                <a:cs typeface="Arial"/>
              </a:rPr>
              <a:t>street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26100" y="1435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18200" y="15237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91085" y="1887537"/>
            <a:ext cx="2483485" cy="619125"/>
            <a:chOff x="5891085" y="1887537"/>
            <a:chExt cx="2483485" cy="619125"/>
          </a:xfrm>
        </p:grpSpPr>
        <p:sp>
          <p:nvSpPr>
            <p:cNvPr id="16" name="object 16"/>
            <p:cNvSpPr/>
            <p:nvPr/>
          </p:nvSpPr>
          <p:spPr>
            <a:xfrm>
              <a:off x="5895847" y="1892300"/>
              <a:ext cx="1562100" cy="609600"/>
            </a:xfrm>
            <a:custGeom>
              <a:avLst/>
              <a:gdLst/>
              <a:ahLst/>
              <a:cxnLst/>
              <a:rect l="l" t="t" r="r" b="b"/>
              <a:pathLst>
                <a:path w="1562100" h="609600">
                  <a:moveTo>
                    <a:pt x="0" y="466343"/>
                  </a:moveTo>
                  <a:lnTo>
                    <a:pt x="835151" y="609599"/>
                  </a:lnTo>
                </a:path>
                <a:path w="1562100" h="609600">
                  <a:moveTo>
                    <a:pt x="187451" y="0"/>
                  </a:moveTo>
                  <a:lnTo>
                    <a:pt x="835151" y="609599"/>
                  </a:lnTo>
                </a:path>
                <a:path w="1562100" h="609600">
                  <a:moveTo>
                    <a:pt x="1562100" y="466343"/>
                  </a:moveTo>
                  <a:lnTo>
                    <a:pt x="835151" y="6095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02499" y="19685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1066800" y="228599"/>
                  </a:moveTo>
                  <a:lnTo>
                    <a:pt x="1050527" y="172233"/>
                  </a:lnTo>
                  <a:lnTo>
                    <a:pt x="1004363" y="121027"/>
                  </a:lnTo>
                  <a:lnTo>
                    <a:pt x="971315" y="97891"/>
                  </a:lnTo>
                  <a:lnTo>
                    <a:pt x="932287" y="76681"/>
                  </a:lnTo>
                  <a:lnTo>
                    <a:pt x="887774" y="57610"/>
                  </a:lnTo>
                  <a:lnTo>
                    <a:pt x="838276" y="40892"/>
                  </a:lnTo>
                  <a:lnTo>
                    <a:pt x="784289" y="26736"/>
                  </a:lnTo>
                  <a:lnTo>
                    <a:pt x="726310" y="15357"/>
                  </a:lnTo>
                  <a:lnTo>
                    <a:pt x="664837" y="6967"/>
                  </a:lnTo>
                  <a:lnTo>
                    <a:pt x="600368" y="1777"/>
                  </a:lnTo>
                  <a:lnTo>
                    <a:pt x="533400" y="0"/>
                  </a:lnTo>
                  <a:lnTo>
                    <a:pt x="466431" y="1777"/>
                  </a:lnTo>
                  <a:lnTo>
                    <a:pt x="401962" y="6967"/>
                  </a:lnTo>
                  <a:lnTo>
                    <a:pt x="340489" y="15357"/>
                  </a:lnTo>
                  <a:lnTo>
                    <a:pt x="282510" y="26736"/>
                  </a:lnTo>
                  <a:lnTo>
                    <a:pt x="228523" y="40892"/>
                  </a:lnTo>
                  <a:lnTo>
                    <a:pt x="179025" y="57610"/>
                  </a:lnTo>
                  <a:lnTo>
                    <a:pt x="134512" y="76681"/>
                  </a:lnTo>
                  <a:lnTo>
                    <a:pt x="95484" y="97891"/>
                  </a:lnTo>
                  <a:lnTo>
                    <a:pt x="62436" y="121027"/>
                  </a:lnTo>
                  <a:lnTo>
                    <a:pt x="16272" y="172233"/>
                  </a:lnTo>
                  <a:lnTo>
                    <a:pt x="0" y="228599"/>
                  </a:lnTo>
                  <a:lnTo>
                    <a:pt x="4150" y="257322"/>
                  </a:lnTo>
                  <a:lnTo>
                    <a:pt x="35866" y="311320"/>
                  </a:lnTo>
                  <a:lnTo>
                    <a:pt x="95484" y="359308"/>
                  </a:lnTo>
                  <a:lnTo>
                    <a:pt x="134512" y="380518"/>
                  </a:lnTo>
                  <a:lnTo>
                    <a:pt x="179025" y="399589"/>
                  </a:lnTo>
                  <a:lnTo>
                    <a:pt x="228523" y="416307"/>
                  </a:lnTo>
                  <a:lnTo>
                    <a:pt x="282510" y="430463"/>
                  </a:lnTo>
                  <a:lnTo>
                    <a:pt x="340489" y="441842"/>
                  </a:lnTo>
                  <a:lnTo>
                    <a:pt x="401962" y="450232"/>
                  </a:lnTo>
                  <a:lnTo>
                    <a:pt x="466431" y="455422"/>
                  </a:lnTo>
                  <a:lnTo>
                    <a:pt x="533400" y="457199"/>
                  </a:lnTo>
                  <a:lnTo>
                    <a:pt x="600368" y="455422"/>
                  </a:lnTo>
                  <a:lnTo>
                    <a:pt x="664837" y="450232"/>
                  </a:lnTo>
                  <a:lnTo>
                    <a:pt x="726310" y="441842"/>
                  </a:lnTo>
                  <a:lnTo>
                    <a:pt x="784289" y="430463"/>
                  </a:lnTo>
                  <a:lnTo>
                    <a:pt x="838276" y="416307"/>
                  </a:lnTo>
                  <a:lnTo>
                    <a:pt x="887774" y="399589"/>
                  </a:lnTo>
                  <a:lnTo>
                    <a:pt x="932287" y="380518"/>
                  </a:lnTo>
                  <a:lnTo>
                    <a:pt x="971315" y="359308"/>
                  </a:lnTo>
                  <a:lnTo>
                    <a:pt x="1004363" y="336172"/>
                  </a:lnTo>
                  <a:lnTo>
                    <a:pt x="1050527" y="284966"/>
                  </a:lnTo>
                  <a:lnTo>
                    <a:pt x="1066800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02499" y="19685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>
                  <a:moveTo>
                    <a:pt x="533400" y="0"/>
                  </a:moveTo>
                  <a:lnTo>
                    <a:pt x="466431" y="1777"/>
                  </a:lnTo>
                  <a:lnTo>
                    <a:pt x="401962" y="6967"/>
                  </a:lnTo>
                  <a:lnTo>
                    <a:pt x="340489" y="15357"/>
                  </a:lnTo>
                  <a:lnTo>
                    <a:pt x="282510" y="26736"/>
                  </a:lnTo>
                  <a:lnTo>
                    <a:pt x="228523" y="40892"/>
                  </a:lnTo>
                  <a:lnTo>
                    <a:pt x="179025" y="57610"/>
                  </a:lnTo>
                  <a:lnTo>
                    <a:pt x="134512" y="76681"/>
                  </a:lnTo>
                  <a:lnTo>
                    <a:pt x="95484" y="97891"/>
                  </a:lnTo>
                  <a:lnTo>
                    <a:pt x="62436" y="121027"/>
                  </a:lnTo>
                  <a:lnTo>
                    <a:pt x="16272" y="172233"/>
                  </a:lnTo>
                  <a:lnTo>
                    <a:pt x="0" y="228599"/>
                  </a:lnTo>
                  <a:lnTo>
                    <a:pt x="4150" y="257322"/>
                  </a:lnTo>
                  <a:lnTo>
                    <a:pt x="35866" y="311320"/>
                  </a:lnTo>
                  <a:lnTo>
                    <a:pt x="95484" y="359308"/>
                  </a:lnTo>
                  <a:lnTo>
                    <a:pt x="134512" y="380518"/>
                  </a:lnTo>
                  <a:lnTo>
                    <a:pt x="179025" y="399589"/>
                  </a:lnTo>
                  <a:lnTo>
                    <a:pt x="228523" y="416307"/>
                  </a:lnTo>
                  <a:lnTo>
                    <a:pt x="282510" y="430463"/>
                  </a:lnTo>
                  <a:lnTo>
                    <a:pt x="340489" y="441842"/>
                  </a:lnTo>
                  <a:lnTo>
                    <a:pt x="401962" y="450232"/>
                  </a:lnTo>
                  <a:lnTo>
                    <a:pt x="466431" y="455422"/>
                  </a:lnTo>
                  <a:lnTo>
                    <a:pt x="533400" y="457199"/>
                  </a:lnTo>
                  <a:lnTo>
                    <a:pt x="600368" y="455422"/>
                  </a:lnTo>
                  <a:lnTo>
                    <a:pt x="664837" y="450232"/>
                  </a:lnTo>
                  <a:lnTo>
                    <a:pt x="726310" y="441842"/>
                  </a:lnTo>
                  <a:lnTo>
                    <a:pt x="784289" y="430463"/>
                  </a:lnTo>
                  <a:lnTo>
                    <a:pt x="838276" y="416307"/>
                  </a:lnTo>
                  <a:lnTo>
                    <a:pt x="887774" y="399589"/>
                  </a:lnTo>
                  <a:lnTo>
                    <a:pt x="932287" y="380518"/>
                  </a:lnTo>
                  <a:lnTo>
                    <a:pt x="971315" y="359308"/>
                  </a:lnTo>
                  <a:lnTo>
                    <a:pt x="1004363" y="336172"/>
                  </a:lnTo>
                  <a:lnTo>
                    <a:pt x="1050527" y="284966"/>
                  </a:lnTo>
                  <a:lnTo>
                    <a:pt x="1066800" y="228599"/>
                  </a:lnTo>
                  <a:lnTo>
                    <a:pt x="1062649" y="199877"/>
                  </a:lnTo>
                  <a:lnTo>
                    <a:pt x="1030933" y="145879"/>
                  </a:lnTo>
                  <a:lnTo>
                    <a:pt x="971315" y="97891"/>
                  </a:lnTo>
                  <a:lnTo>
                    <a:pt x="932287" y="76681"/>
                  </a:lnTo>
                  <a:lnTo>
                    <a:pt x="887774" y="57610"/>
                  </a:lnTo>
                  <a:lnTo>
                    <a:pt x="838276" y="40892"/>
                  </a:lnTo>
                  <a:lnTo>
                    <a:pt x="784289" y="26736"/>
                  </a:lnTo>
                  <a:lnTo>
                    <a:pt x="726310" y="15357"/>
                  </a:lnTo>
                  <a:lnTo>
                    <a:pt x="664837" y="6967"/>
                  </a:lnTo>
                  <a:lnTo>
                    <a:pt x="600368" y="1777"/>
                  </a:lnTo>
                  <a:lnTo>
                    <a:pt x="5334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75728" y="2057145"/>
            <a:ext cx="7251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zipcode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92900" y="1435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16419" y="1523745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state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83300" y="1892300"/>
            <a:ext cx="1295400" cy="1219200"/>
          </a:xfrm>
          <a:custGeom>
            <a:avLst/>
            <a:gdLst/>
            <a:ahLst/>
            <a:cxnLst/>
            <a:rect l="l" t="t" r="r" b="b"/>
            <a:pathLst>
              <a:path w="1295400" h="1219200">
                <a:moveTo>
                  <a:pt x="1066800" y="0"/>
                </a:moveTo>
                <a:lnTo>
                  <a:pt x="647700" y="609599"/>
                </a:lnTo>
              </a:path>
              <a:path w="1295400" h="1219200">
                <a:moveTo>
                  <a:pt x="647700" y="609599"/>
                </a:moveTo>
                <a:lnTo>
                  <a:pt x="585374" y="610994"/>
                </a:lnTo>
                <a:lnTo>
                  <a:pt x="524714" y="615093"/>
                </a:lnTo>
                <a:lnTo>
                  <a:pt x="465991" y="621769"/>
                </a:lnTo>
                <a:lnTo>
                  <a:pt x="409478" y="630894"/>
                </a:lnTo>
                <a:lnTo>
                  <a:pt x="355449" y="642341"/>
                </a:lnTo>
                <a:lnTo>
                  <a:pt x="304174" y="655982"/>
                </a:lnTo>
                <a:lnTo>
                  <a:pt x="255928" y="671690"/>
                </a:lnTo>
                <a:lnTo>
                  <a:pt x="210982" y="689338"/>
                </a:lnTo>
                <a:lnTo>
                  <a:pt x="169610" y="708797"/>
                </a:lnTo>
                <a:lnTo>
                  <a:pt x="132085" y="729941"/>
                </a:lnTo>
                <a:lnTo>
                  <a:pt x="98678" y="752641"/>
                </a:lnTo>
                <a:lnTo>
                  <a:pt x="45311" y="802203"/>
                </a:lnTo>
                <a:lnTo>
                  <a:pt x="11691" y="856462"/>
                </a:lnTo>
                <a:lnTo>
                  <a:pt x="0" y="914399"/>
                </a:lnTo>
                <a:lnTo>
                  <a:pt x="2968" y="943764"/>
                </a:lnTo>
                <a:lnTo>
                  <a:pt x="25896" y="999990"/>
                </a:lnTo>
                <a:lnTo>
                  <a:pt x="69662" y="1052028"/>
                </a:lnTo>
                <a:lnTo>
                  <a:pt x="132085" y="1098858"/>
                </a:lnTo>
                <a:lnTo>
                  <a:pt x="169610" y="1120002"/>
                </a:lnTo>
                <a:lnTo>
                  <a:pt x="210982" y="1139461"/>
                </a:lnTo>
                <a:lnTo>
                  <a:pt x="255928" y="1157109"/>
                </a:lnTo>
                <a:lnTo>
                  <a:pt x="304174" y="1172817"/>
                </a:lnTo>
                <a:lnTo>
                  <a:pt x="355449" y="1186458"/>
                </a:lnTo>
                <a:lnTo>
                  <a:pt x="409478" y="1197905"/>
                </a:lnTo>
                <a:lnTo>
                  <a:pt x="465991" y="1207030"/>
                </a:lnTo>
                <a:lnTo>
                  <a:pt x="524714" y="1213706"/>
                </a:lnTo>
                <a:lnTo>
                  <a:pt x="585374" y="1217805"/>
                </a:lnTo>
                <a:lnTo>
                  <a:pt x="647700" y="1219199"/>
                </a:lnTo>
                <a:lnTo>
                  <a:pt x="710025" y="1217805"/>
                </a:lnTo>
                <a:lnTo>
                  <a:pt x="770685" y="1213706"/>
                </a:lnTo>
                <a:lnTo>
                  <a:pt x="829408" y="1207030"/>
                </a:lnTo>
                <a:lnTo>
                  <a:pt x="885921" y="1197905"/>
                </a:lnTo>
                <a:lnTo>
                  <a:pt x="939950" y="1186458"/>
                </a:lnTo>
                <a:lnTo>
                  <a:pt x="991225" y="1172817"/>
                </a:lnTo>
                <a:lnTo>
                  <a:pt x="1039471" y="1157109"/>
                </a:lnTo>
                <a:lnTo>
                  <a:pt x="1084417" y="1139461"/>
                </a:lnTo>
                <a:lnTo>
                  <a:pt x="1125789" y="1120002"/>
                </a:lnTo>
                <a:lnTo>
                  <a:pt x="1163314" y="1098858"/>
                </a:lnTo>
                <a:lnTo>
                  <a:pt x="1196721" y="1076158"/>
                </a:lnTo>
                <a:lnTo>
                  <a:pt x="1250088" y="1026596"/>
                </a:lnTo>
                <a:lnTo>
                  <a:pt x="1283708" y="972337"/>
                </a:lnTo>
                <a:lnTo>
                  <a:pt x="1295400" y="914399"/>
                </a:lnTo>
                <a:lnTo>
                  <a:pt x="1292431" y="885035"/>
                </a:lnTo>
                <a:lnTo>
                  <a:pt x="1269503" y="828809"/>
                </a:lnTo>
                <a:lnTo>
                  <a:pt x="1225737" y="776771"/>
                </a:lnTo>
                <a:lnTo>
                  <a:pt x="1163314" y="729941"/>
                </a:lnTo>
                <a:lnTo>
                  <a:pt x="1125789" y="708797"/>
                </a:lnTo>
                <a:lnTo>
                  <a:pt x="1084417" y="689338"/>
                </a:lnTo>
                <a:lnTo>
                  <a:pt x="1039471" y="671690"/>
                </a:lnTo>
                <a:lnTo>
                  <a:pt x="991225" y="655982"/>
                </a:lnTo>
                <a:lnTo>
                  <a:pt x="939950" y="642341"/>
                </a:lnTo>
                <a:lnTo>
                  <a:pt x="885921" y="630894"/>
                </a:lnTo>
                <a:lnTo>
                  <a:pt x="829408" y="621769"/>
                </a:lnTo>
                <a:lnTo>
                  <a:pt x="770685" y="615093"/>
                </a:lnTo>
                <a:lnTo>
                  <a:pt x="710025" y="610994"/>
                </a:lnTo>
                <a:lnTo>
                  <a:pt x="647700" y="609599"/>
                </a:lnTo>
                <a:close/>
              </a:path>
              <a:path w="1295400" h="1219200">
                <a:moveTo>
                  <a:pt x="647700" y="685799"/>
                </a:moveTo>
                <a:lnTo>
                  <a:pt x="581081" y="687334"/>
                </a:lnTo>
                <a:lnTo>
                  <a:pt x="516711" y="691824"/>
                </a:lnTo>
                <a:lnTo>
                  <a:pt x="455021" y="699101"/>
                </a:lnTo>
                <a:lnTo>
                  <a:pt x="396439" y="708993"/>
                </a:lnTo>
                <a:lnTo>
                  <a:pt x="341397" y="721331"/>
                </a:lnTo>
                <a:lnTo>
                  <a:pt x="290324" y="735945"/>
                </a:lnTo>
                <a:lnTo>
                  <a:pt x="243649" y="752665"/>
                </a:lnTo>
                <a:lnTo>
                  <a:pt x="201803" y="771321"/>
                </a:lnTo>
                <a:lnTo>
                  <a:pt x="165215" y="791744"/>
                </a:lnTo>
                <a:lnTo>
                  <a:pt x="109535" y="837207"/>
                </a:lnTo>
                <a:lnTo>
                  <a:pt x="80047" y="887696"/>
                </a:lnTo>
                <a:lnTo>
                  <a:pt x="76200" y="914399"/>
                </a:lnTo>
                <a:lnTo>
                  <a:pt x="80047" y="941103"/>
                </a:lnTo>
                <a:lnTo>
                  <a:pt x="109535" y="991592"/>
                </a:lnTo>
                <a:lnTo>
                  <a:pt x="165215" y="1037055"/>
                </a:lnTo>
                <a:lnTo>
                  <a:pt x="201803" y="1057478"/>
                </a:lnTo>
                <a:lnTo>
                  <a:pt x="243649" y="1076134"/>
                </a:lnTo>
                <a:lnTo>
                  <a:pt x="290324" y="1092854"/>
                </a:lnTo>
                <a:lnTo>
                  <a:pt x="341397" y="1107468"/>
                </a:lnTo>
                <a:lnTo>
                  <a:pt x="396439" y="1119806"/>
                </a:lnTo>
                <a:lnTo>
                  <a:pt x="455021" y="1129698"/>
                </a:lnTo>
                <a:lnTo>
                  <a:pt x="516711" y="1136975"/>
                </a:lnTo>
                <a:lnTo>
                  <a:pt x="581081" y="1141465"/>
                </a:lnTo>
                <a:lnTo>
                  <a:pt x="647700" y="1142999"/>
                </a:lnTo>
                <a:lnTo>
                  <a:pt x="714318" y="1141465"/>
                </a:lnTo>
                <a:lnTo>
                  <a:pt x="778688" y="1136975"/>
                </a:lnTo>
                <a:lnTo>
                  <a:pt x="840378" y="1129698"/>
                </a:lnTo>
                <a:lnTo>
                  <a:pt x="898960" y="1119806"/>
                </a:lnTo>
                <a:lnTo>
                  <a:pt x="954002" y="1107468"/>
                </a:lnTo>
                <a:lnTo>
                  <a:pt x="1005075" y="1092854"/>
                </a:lnTo>
                <a:lnTo>
                  <a:pt x="1051750" y="1076134"/>
                </a:lnTo>
                <a:lnTo>
                  <a:pt x="1093596" y="1057478"/>
                </a:lnTo>
                <a:lnTo>
                  <a:pt x="1130184" y="1037055"/>
                </a:lnTo>
                <a:lnTo>
                  <a:pt x="1185864" y="991592"/>
                </a:lnTo>
                <a:lnTo>
                  <a:pt x="1215352" y="941103"/>
                </a:lnTo>
                <a:lnTo>
                  <a:pt x="1219200" y="914399"/>
                </a:lnTo>
                <a:lnTo>
                  <a:pt x="1215352" y="887696"/>
                </a:lnTo>
                <a:lnTo>
                  <a:pt x="1185864" y="837207"/>
                </a:lnTo>
                <a:lnTo>
                  <a:pt x="1130184" y="791744"/>
                </a:lnTo>
                <a:lnTo>
                  <a:pt x="1093596" y="771321"/>
                </a:lnTo>
                <a:lnTo>
                  <a:pt x="1051750" y="752665"/>
                </a:lnTo>
                <a:lnTo>
                  <a:pt x="1005075" y="735945"/>
                </a:lnTo>
                <a:lnTo>
                  <a:pt x="954002" y="721331"/>
                </a:lnTo>
                <a:lnTo>
                  <a:pt x="898960" y="708993"/>
                </a:lnTo>
                <a:lnTo>
                  <a:pt x="840378" y="699101"/>
                </a:lnTo>
                <a:lnTo>
                  <a:pt x="778688" y="691824"/>
                </a:lnTo>
                <a:lnTo>
                  <a:pt x="714318" y="687334"/>
                </a:lnTo>
                <a:lnTo>
                  <a:pt x="647700" y="6857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57873" y="2666745"/>
            <a:ext cx="7480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45200" y="3022345"/>
            <a:ext cx="227329" cy="318135"/>
          </a:xfrm>
          <a:custGeom>
            <a:avLst/>
            <a:gdLst/>
            <a:ahLst/>
            <a:cxnLst/>
            <a:rect l="l" t="t" r="r" b="b"/>
            <a:pathLst>
              <a:path w="227329" h="318135">
                <a:moveTo>
                  <a:pt x="0" y="317753"/>
                </a:moveTo>
                <a:lnTo>
                  <a:pt x="2270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9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332" y="469900"/>
            <a:ext cx="4314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Weak</a:t>
            </a:r>
            <a:r>
              <a:rPr spc="-35" dirty="0"/>
              <a:t> </a:t>
            </a:r>
            <a:r>
              <a:rPr spc="-5" dirty="0"/>
              <a:t>Entity-Sets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01" y="1576324"/>
            <a:ext cx="8315199" cy="316304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68300" marR="17272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Weak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entity-sets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depend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least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strong </a:t>
            </a:r>
            <a:r>
              <a:rPr sz="2800" spc="-7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 smtClean="0">
                <a:solidFill>
                  <a:srgbClr val="FF0000"/>
                </a:solidFill>
                <a:latin typeface="Arial MT"/>
                <a:cs typeface="Arial MT"/>
              </a:rPr>
              <a:t>entity-set</a:t>
            </a:r>
            <a:endParaRPr lang="en-US" sz="2800" dirty="0" smtClean="0">
              <a:solidFill>
                <a:srgbClr val="FF0000"/>
              </a:solidFill>
              <a:latin typeface="Arial MT"/>
              <a:cs typeface="Arial MT"/>
            </a:endParaRPr>
          </a:p>
          <a:p>
            <a:pPr marL="368300" marR="17272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67665" algn="l"/>
                <a:tab pos="368300" algn="l"/>
              </a:tabLst>
            </a:pPr>
            <a:endParaRPr sz="28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767715" lvl="1" indent="-285750">
              <a:lnSpc>
                <a:spcPct val="100000"/>
              </a:lnSpc>
              <a:spcBef>
                <a:spcPts val="240"/>
              </a:spcBef>
              <a:buChar char="–"/>
              <a:tabLst>
                <a:tab pos="768350" algn="l"/>
              </a:tabLst>
            </a:pPr>
            <a:r>
              <a:rPr sz="2400" b="1" spc="-5" dirty="0">
                <a:latin typeface="Arial MT"/>
                <a:cs typeface="Arial MT"/>
              </a:rPr>
              <a:t>Identifying </a:t>
            </a:r>
            <a:r>
              <a:rPr sz="2400" b="1" dirty="0">
                <a:latin typeface="Arial MT"/>
                <a:cs typeface="Arial MT"/>
              </a:rPr>
              <a:t>entity-set,</a:t>
            </a:r>
            <a:r>
              <a:rPr sz="2400" b="1" spc="-5" dirty="0">
                <a:latin typeface="Arial MT"/>
                <a:cs typeface="Arial MT"/>
              </a:rPr>
              <a:t> or</a:t>
            </a:r>
            <a:r>
              <a:rPr sz="2400" b="1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 MT"/>
                <a:cs typeface="Arial MT"/>
              </a:rPr>
              <a:t>owner </a:t>
            </a:r>
            <a:r>
              <a:rPr sz="2400" b="1" dirty="0">
                <a:latin typeface="Arial MT"/>
                <a:cs typeface="Arial MT"/>
              </a:rPr>
              <a:t>entity-set</a:t>
            </a:r>
          </a:p>
          <a:p>
            <a:pPr marL="768350" marR="384175" lvl="1" indent="-286385">
              <a:lnSpc>
                <a:spcPts val="2580"/>
              </a:lnSpc>
              <a:spcBef>
                <a:spcPts val="615"/>
              </a:spcBef>
              <a:buChar char="–"/>
              <a:tabLst>
                <a:tab pos="768350" algn="l"/>
              </a:tabLst>
            </a:pPr>
            <a:endParaRPr lang="en-US" sz="2400" dirty="0" smtClean="0">
              <a:latin typeface="Arial MT"/>
              <a:cs typeface="Arial MT"/>
            </a:endParaRPr>
          </a:p>
          <a:p>
            <a:pPr marL="768350" marR="384175" lvl="1" indent="-286385">
              <a:lnSpc>
                <a:spcPts val="2580"/>
              </a:lnSpc>
              <a:spcBef>
                <a:spcPts val="615"/>
              </a:spcBef>
              <a:buChar char="–"/>
              <a:tabLst>
                <a:tab pos="768350" algn="l"/>
              </a:tabLst>
            </a:pPr>
            <a:r>
              <a:rPr sz="2400" dirty="0" smtClean="0">
                <a:latin typeface="Arial MT"/>
                <a:cs typeface="Arial MT"/>
              </a:rPr>
              <a:t>Relationship</a:t>
            </a:r>
            <a:r>
              <a:rPr sz="2400" spc="5" dirty="0" smtClean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between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lang="en-US" sz="2400" spc="5" dirty="0" smtClean="0">
                <a:latin typeface="Arial MT"/>
                <a:cs typeface="Arial MT"/>
              </a:rPr>
              <a:t>Weak Entity set and the Identifying entity set is </a:t>
            </a:r>
            <a:r>
              <a:rPr sz="2400" spc="-5" dirty="0" smtClean="0">
                <a:latin typeface="Arial MT"/>
                <a:cs typeface="Arial MT"/>
              </a:rPr>
              <a:t>called</a:t>
            </a:r>
            <a:r>
              <a:rPr sz="2400" dirty="0" smtClean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b="1" spc="-5" dirty="0">
                <a:latin typeface="Arial MT"/>
                <a:cs typeface="Arial MT"/>
              </a:rPr>
              <a:t>identifying </a:t>
            </a:r>
            <a:r>
              <a:rPr sz="2400" b="1" spc="-655" dirty="0">
                <a:latin typeface="Arial MT"/>
                <a:cs typeface="Arial MT"/>
              </a:rPr>
              <a:t> </a:t>
            </a:r>
            <a:r>
              <a:rPr sz="2400" b="1" spc="-5" dirty="0" smtClean="0">
                <a:latin typeface="Arial MT"/>
                <a:cs typeface="Arial MT"/>
              </a:rPr>
              <a:t>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55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358900"/>
            <a:ext cx="8610600" cy="2900794"/>
          </a:xfrm>
        </p:spPr>
        <p:txBody>
          <a:bodyPr/>
          <a:lstStyle/>
          <a:p>
            <a:pPr marL="367665" indent="-342900">
              <a:lnSpc>
                <a:spcPct val="100000"/>
              </a:lnSpc>
              <a:spcBef>
                <a:spcPts val="315"/>
              </a:spcBef>
              <a:buChar char="•"/>
              <a:tabLst>
                <a:tab pos="367665" algn="l"/>
                <a:tab pos="368300" algn="l"/>
              </a:tabLst>
            </a:pPr>
            <a:r>
              <a:rPr lang="en-US" dirty="0">
                <a:solidFill>
                  <a:srgbClr val="FF0000"/>
                </a:solidFill>
              </a:rPr>
              <a:t>Weak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entity-set</a:t>
            </a:r>
            <a:r>
              <a:rPr lang="en-US" spc="-20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lang="en-US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owned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by</a:t>
            </a:r>
            <a:r>
              <a:rPr lang="en-US" spc="-1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strong</a:t>
            </a:r>
            <a:r>
              <a:rPr lang="en-US" spc="-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entity-set</a:t>
            </a:r>
            <a:r>
              <a:rPr lang="en-US" spc="5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68350" lvl="1" indent="-286385">
              <a:lnSpc>
                <a:spcPct val="100000"/>
              </a:lnSpc>
              <a:spcBef>
                <a:spcPts val="280"/>
              </a:spcBef>
              <a:buChar char="–"/>
              <a:tabLst>
                <a:tab pos="768985" algn="l"/>
              </a:tabLst>
            </a:pPr>
            <a:r>
              <a:rPr lang="en-US" sz="2400" spc="-5" dirty="0">
                <a:latin typeface="Arial MT"/>
                <a:cs typeface="Arial MT"/>
              </a:rPr>
              <a:t>Attributes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of</a:t>
            </a:r>
            <a:r>
              <a:rPr lang="en-US" sz="2400" spc="-15" dirty="0">
                <a:latin typeface="Arial MT"/>
                <a:cs typeface="Arial MT"/>
              </a:rPr>
              <a:t> </a:t>
            </a:r>
            <a:r>
              <a:rPr lang="en-US" sz="2400" i="1" dirty="0">
                <a:latin typeface="Arial"/>
                <a:cs typeface="Arial"/>
              </a:rPr>
              <a:t>A</a:t>
            </a:r>
            <a:r>
              <a:rPr lang="en-US" sz="2400" i="1" spc="-1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are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{</a:t>
            </a:r>
            <a:r>
              <a:rPr lang="en-US" sz="2400" i="1" spc="-5" dirty="0">
                <a:latin typeface="Arial"/>
                <a:cs typeface="Arial"/>
              </a:rPr>
              <a:t>a</a:t>
            </a:r>
            <a:r>
              <a:rPr lang="en-US" sz="2400" spc="-7" baseline="-20833" dirty="0">
                <a:latin typeface="Arial MT"/>
                <a:cs typeface="Arial MT"/>
              </a:rPr>
              <a:t>1</a:t>
            </a:r>
            <a:r>
              <a:rPr lang="en-US" sz="2400" spc="-5" dirty="0">
                <a:latin typeface="Arial MT"/>
                <a:cs typeface="Arial MT"/>
              </a:rPr>
              <a:t>,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a</a:t>
            </a:r>
            <a:r>
              <a:rPr lang="en-US" sz="2400" spc="-7" baseline="-20833" dirty="0">
                <a:latin typeface="Arial MT"/>
                <a:cs typeface="Arial MT"/>
              </a:rPr>
              <a:t>2</a:t>
            </a:r>
            <a:r>
              <a:rPr lang="en-US" sz="2400" spc="-5" dirty="0">
                <a:latin typeface="Arial MT"/>
                <a:cs typeface="Arial MT"/>
              </a:rPr>
              <a:t>,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…,</a:t>
            </a:r>
            <a:r>
              <a:rPr lang="en-US" sz="2400" spc="-20" dirty="0">
                <a:latin typeface="Arial MT"/>
                <a:cs typeface="Arial MT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a</a:t>
            </a:r>
            <a:r>
              <a:rPr lang="en-US" sz="2400" i="1" spc="-7" baseline="-20833" dirty="0">
                <a:latin typeface="Arial"/>
                <a:cs typeface="Arial"/>
              </a:rPr>
              <a:t>m</a:t>
            </a:r>
            <a:r>
              <a:rPr lang="en-US" sz="2400" spc="-5" dirty="0">
                <a:latin typeface="Arial MT"/>
                <a:cs typeface="Arial MT"/>
              </a:rPr>
              <a:t>}</a:t>
            </a:r>
            <a:endParaRPr lang="en-US" sz="2400" dirty="0">
              <a:latin typeface="Arial MT"/>
              <a:cs typeface="Arial MT"/>
            </a:endParaRPr>
          </a:p>
          <a:p>
            <a:pPr marL="767715" lvl="1" indent="-285750">
              <a:lnSpc>
                <a:spcPct val="100000"/>
              </a:lnSpc>
              <a:spcBef>
                <a:spcPts val="284"/>
              </a:spcBef>
              <a:buFont typeface="Arial MT"/>
              <a:buChar char="–"/>
              <a:tabLst>
                <a:tab pos="768350" algn="l"/>
              </a:tabLst>
            </a:pPr>
            <a:r>
              <a:rPr lang="en-US" sz="2400" i="1" spc="-5" dirty="0" err="1">
                <a:latin typeface="Arial"/>
                <a:cs typeface="Arial"/>
              </a:rPr>
              <a:t>primary_key</a:t>
            </a:r>
            <a:r>
              <a:rPr lang="en-US" sz="2400" spc="-5" dirty="0">
                <a:latin typeface="Arial MT"/>
                <a:cs typeface="Arial MT"/>
              </a:rPr>
              <a:t>(</a:t>
            </a:r>
            <a:r>
              <a:rPr lang="en-US" sz="2400" i="1" spc="-5" dirty="0">
                <a:latin typeface="Arial"/>
                <a:cs typeface="Arial"/>
              </a:rPr>
              <a:t>B</a:t>
            </a:r>
            <a:r>
              <a:rPr lang="en-US" sz="2400" spc="-5" dirty="0">
                <a:latin typeface="Arial MT"/>
                <a:cs typeface="Arial MT"/>
              </a:rPr>
              <a:t>)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=</a:t>
            </a:r>
            <a:r>
              <a:rPr lang="en-US" sz="2400" spc="-5" dirty="0">
                <a:latin typeface="Arial MT"/>
                <a:cs typeface="Arial MT"/>
              </a:rPr>
              <a:t> {</a:t>
            </a:r>
            <a:r>
              <a:rPr lang="en-US" sz="2400" i="1" spc="-5" dirty="0">
                <a:latin typeface="Arial"/>
                <a:cs typeface="Arial"/>
              </a:rPr>
              <a:t>b</a:t>
            </a:r>
            <a:r>
              <a:rPr lang="en-US" sz="2400" spc="-7" baseline="-20833" dirty="0">
                <a:latin typeface="Arial MT"/>
                <a:cs typeface="Arial MT"/>
              </a:rPr>
              <a:t>1</a:t>
            </a:r>
            <a:r>
              <a:rPr lang="en-US" sz="2400" spc="-5" dirty="0">
                <a:latin typeface="Arial MT"/>
                <a:cs typeface="Arial MT"/>
              </a:rPr>
              <a:t>,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i="1" spc="-5" dirty="0">
                <a:latin typeface="Arial"/>
                <a:cs typeface="Arial"/>
              </a:rPr>
              <a:t>b</a:t>
            </a:r>
            <a:r>
              <a:rPr lang="en-US" sz="2400" spc="-7" baseline="-20833" dirty="0">
                <a:latin typeface="Arial MT"/>
                <a:cs typeface="Arial MT"/>
              </a:rPr>
              <a:t>2</a:t>
            </a:r>
            <a:r>
              <a:rPr lang="en-US" sz="2400" spc="-5" dirty="0">
                <a:latin typeface="Arial MT"/>
                <a:cs typeface="Arial MT"/>
              </a:rPr>
              <a:t>,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…, </a:t>
            </a:r>
            <a:r>
              <a:rPr lang="en-US" sz="2400" i="1" spc="-5" dirty="0" err="1">
                <a:latin typeface="Arial"/>
                <a:cs typeface="Arial"/>
              </a:rPr>
              <a:t>b</a:t>
            </a:r>
            <a:r>
              <a:rPr lang="en-US" sz="2400" i="1" spc="-7" baseline="-20833" dirty="0" err="1">
                <a:latin typeface="Arial"/>
                <a:cs typeface="Arial"/>
              </a:rPr>
              <a:t>n</a:t>
            </a:r>
            <a:r>
              <a:rPr lang="en-US" sz="2400" spc="-5" dirty="0">
                <a:latin typeface="Arial MT"/>
                <a:cs typeface="Arial MT"/>
              </a:rPr>
              <a:t>}</a:t>
            </a:r>
            <a:endParaRPr lang="en-US" sz="2400" dirty="0">
              <a:latin typeface="Arial MT"/>
              <a:cs typeface="Arial MT"/>
            </a:endParaRPr>
          </a:p>
          <a:p>
            <a:pPr marL="767715" lvl="1" indent="-285750">
              <a:lnSpc>
                <a:spcPct val="100000"/>
              </a:lnSpc>
              <a:spcBef>
                <a:spcPts val="270"/>
              </a:spcBef>
              <a:buChar char="–"/>
              <a:tabLst>
                <a:tab pos="768350" algn="l"/>
                <a:tab pos="4258945" algn="l"/>
              </a:tabLst>
            </a:pPr>
            <a:r>
              <a:rPr lang="en-US" sz="2400" dirty="0">
                <a:latin typeface="Arial MT"/>
                <a:cs typeface="Arial MT"/>
              </a:rPr>
              <a:t>Relational</a:t>
            </a:r>
            <a:r>
              <a:rPr lang="en-US" sz="2400" spc="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schema</a:t>
            </a:r>
            <a:r>
              <a:rPr lang="en-US" sz="2400" spc="1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for</a:t>
            </a:r>
            <a:r>
              <a:rPr lang="en-US" sz="2400" spc="15" dirty="0">
                <a:latin typeface="Arial MT"/>
                <a:cs typeface="Arial MT"/>
              </a:rPr>
              <a:t> </a:t>
            </a:r>
            <a:r>
              <a:rPr lang="en-US" sz="2400" i="1" dirty="0">
                <a:latin typeface="Arial"/>
                <a:cs typeface="Arial"/>
              </a:rPr>
              <a:t>A</a:t>
            </a:r>
            <a:r>
              <a:rPr lang="en-US" sz="2400" dirty="0">
                <a:latin typeface="Arial MT"/>
                <a:cs typeface="Arial MT"/>
              </a:rPr>
              <a:t>:	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r>
              <a:rPr lang="en-US"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lang="en-US"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lang="en-US"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lang="en-US"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,…,</a:t>
            </a:r>
            <a:r>
              <a:rPr lang="en-US"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lang="en-US" sz="2400" i="1" spc="-7" baseline="-20833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r>
              <a:rPr lang="en-US"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400" spc="475" dirty="0">
                <a:solidFill>
                  <a:srgbClr val="FF0000"/>
                </a:solidFill>
                <a:latin typeface="Verdana"/>
                <a:cs typeface="Arial MT"/>
              </a:rPr>
              <a:t>U</a:t>
            </a:r>
            <a:r>
              <a:rPr lang="en-US" sz="2400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r>
              <a:rPr lang="en-US"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lang="en-US"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lang="en-US"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lang="en-US"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,…,</a:t>
            </a:r>
            <a:r>
              <a:rPr lang="en-US" sz="2400" i="1" spc="-5" dirty="0" err="1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lang="en-US" sz="2400" i="1" spc="-7" baseline="-20833" dirty="0" err="1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</a:p>
          <a:p>
            <a:pPr marL="7677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68350" algn="l"/>
              </a:tabLst>
            </a:pPr>
            <a:r>
              <a:rPr lang="en-US" sz="2400" dirty="0">
                <a:latin typeface="Arial MT"/>
                <a:cs typeface="Arial MT"/>
              </a:rPr>
              <a:t>Primary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key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of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i="1" dirty="0">
                <a:latin typeface="Arial"/>
                <a:cs typeface="Arial"/>
              </a:rPr>
              <a:t>A</a:t>
            </a:r>
            <a:r>
              <a:rPr lang="en-US" sz="2400" i="1" spc="-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is </a:t>
            </a:r>
            <a:r>
              <a:rPr lang="en-US" sz="2400" i="1" dirty="0">
                <a:latin typeface="Arial"/>
                <a:cs typeface="Arial"/>
              </a:rPr>
              <a:t>discriminator</a:t>
            </a:r>
            <a:r>
              <a:rPr lang="en-US" sz="2400" dirty="0">
                <a:latin typeface="Arial MT"/>
                <a:cs typeface="Arial MT"/>
              </a:rPr>
              <a:t>(</a:t>
            </a:r>
            <a:r>
              <a:rPr lang="en-US" sz="2400" i="1" dirty="0">
                <a:latin typeface="Arial"/>
                <a:cs typeface="Arial"/>
              </a:rPr>
              <a:t>A</a:t>
            </a:r>
            <a:r>
              <a:rPr lang="en-US" sz="2400" dirty="0">
                <a:latin typeface="Arial MT"/>
                <a:cs typeface="Arial MT"/>
              </a:rPr>
              <a:t>)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Narrow"/>
                <a:cs typeface="Arial MT"/>
              </a:rPr>
              <a:t>U </a:t>
            </a:r>
            <a:r>
              <a:rPr lang="en-US" sz="2400" i="1" spc="-5" dirty="0" err="1">
                <a:latin typeface="Arial"/>
                <a:cs typeface="Arial"/>
              </a:rPr>
              <a:t>primary_key</a:t>
            </a:r>
            <a:r>
              <a:rPr lang="en-US" sz="2400" spc="-5" dirty="0">
                <a:latin typeface="Arial MT"/>
                <a:cs typeface="Arial MT"/>
              </a:rPr>
              <a:t>(</a:t>
            </a:r>
            <a:r>
              <a:rPr lang="en-US" sz="2400" i="1" spc="-5" dirty="0">
                <a:latin typeface="Arial"/>
                <a:cs typeface="Arial"/>
              </a:rPr>
              <a:t>B</a:t>
            </a:r>
            <a:r>
              <a:rPr lang="en-US" sz="2400" spc="-5" dirty="0">
                <a:latin typeface="Arial MT"/>
                <a:cs typeface="Arial MT"/>
              </a:rPr>
              <a:t>)</a:t>
            </a:r>
            <a:endParaRPr lang="en-US" sz="2400" dirty="0">
              <a:latin typeface="Arial MT"/>
              <a:cs typeface="Arial MT"/>
            </a:endParaRPr>
          </a:p>
          <a:p>
            <a:pPr marL="767715" lvl="1" indent="-285750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768350" algn="l"/>
              </a:tabLst>
            </a:pPr>
            <a:r>
              <a:rPr lang="en-US" sz="2400" i="1" dirty="0">
                <a:latin typeface="Arial"/>
                <a:cs typeface="Arial"/>
              </a:rPr>
              <a:t>A</a:t>
            </a:r>
            <a:r>
              <a:rPr lang="en-US" sz="2400" i="1" spc="5" dirty="0">
                <a:latin typeface="Arial"/>
                <a:cs typeface="Arial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has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foreign</a:t>
            </a:r>
            <a:r>
              <a:rPr lang="en-US" sz="2400" dirty="0">
                <a:latin typeface="Arial MT"/>
                <a:cs typeface="Arial MT"/>
              </a:rPr>
              <a:t> key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constraint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on</a:t>
            </a:r>
            <a:r>
              <a:rPr lang="en-US" sz="2400" spc="15" dirty="0">
                <a:latin typeface="Arial MT"/>
                <a:cs typeface="Arial MT"/>
              </a:rPr>
              <a:t> </a:t>
            </a:r>
            <a:r>
              <a:rPr lang="en-US" sz="2400" i="1" spc="-5" dirty="0" err="1">
                <a:latin typeface="Arial"/>
                <a:cs typeface="Arial"/>
              </a:rPr>
              <a:t>primary_key</a:t>
            </a:r>
            <a:r>
              <a:rPr lang="en-US" sz="2400" spc="-5" dirty="0">
                <a:latin typeface="Arial MT"/>
                <a:cs typeface="Arial MT"/>
              </a:rPr>
              <a:t>(</a:t>
            </a:r>
            <a:r>
              <a:rPr lang="en-US" sz="2400" i="1" spc="-5" dirty="0">
                <a:latin typeface="Arial"/>
                <a:cs typeface="Arial"/>
              </a:rPr>
              <a:t>B</a:t>
            </a:r>
            <a:r>
              <a:rPr lang="en-US" sz="2400" spc="-5" dirty="0">
                <a:latin typeface="Arial MT"/>
                <a:cs typeface="Arial MT"/>
              </a:rPr>
              <a:t>),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to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i="1" dirty="0">
                <a:latin typeface="Arial"/>
                <a:cs typeface="Arial"/>
              </a:rPr>
              <a:t>B</a:t>
            </a:r>
            <a:endParaRPr lang="en-US" sz="2400" dirty="0">
              <a:latin typeface="Arial"/>
              <a:cs typeface="Arial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01700" y="4635500"/>
            <a:ext cx="7481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spc="-5" dirty="0">
                <a:latin typeface="Arial MT"/>
                <a:cs typeface="Arial MT"/>
              </a:rPr>
              <a:t>A 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discriminator</a:t>
            </a:r>
            <a:r>
              <a:rPr lang="en-US" sz="2400" spc="-5" dirty="0">
                <a:latin typeface="Arial MT"/>
                <a:cs typeface="Arial MT"/>
              </a:rPr>
              <a:t> of a weak entity set is the set of attributes that </a:t>
            </a:r>
            <a:r>
              <a:rPr lang="en-US" sz="2400" spc="-5" dirty="0">
                <a:solidFill>
                  <a:srgbClr val="FF0000"/>
                </a:solidFill>
                <a:latin typeface="Arial MT"/>
                <a:cs typeface="Arial MT"/>
              </a:rPr>
              <a:t>distinguishes among all the entities of a weak entity set.</a:t>
            </a:r>
            <a:r>
              <a:rPr lang="en-US" sz="2400" spc="-5" dirty="0">
                <a:latin typeface="Arial MT"/>
                <a:cs typeface="Arial MT"/>
              </a:rPr>
              <a:t> </a:t>
            </a:r>
            <a:endParaRPr lang="en-IN" sz="2400" spc="-5" dirty="0">
              <a:latin typeface="Arial MT"/>
              <a:cs typeface="Arial M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89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435100"/>
            <a:ext cx="8534400" cy="4308872"/>
          </a:xfrm>
        </p:spPr>
        <p:txBody>
          <a:bodyPr/>
          <a:lstStyle/>
          <a:p>
            <a:pPr algn="just"/>
            <a:r>
              <a:rPr lang="en-US" dirty="0"/>
              <a:t>consider the </a:t>
            </a:r>
            <a:r>
              <a:rPr lang="en-US" u="sng" dirty="0"/>
              <a:t>weak entity set </a:t>
            </a:r>
            <a:r>
              <a:rPr lang="en-US" i="1" dirty="0" smtClean="0">
                <a:solidFill>
                  <a:srgbClr val="FF0000"/>
                </a:solidFill>
              </a:rPr>
              <a:t>section.</a:t>
            </a:r>
            <a:r>
              <a:rPr lang="en-US" dirty="0" smtClean="0"/>
              <a:t> </a:t>
            </a:r>
            <a:r>
              <a:rPr lang="en-US" dirty="0"/>
              <a:t>This entity set has the attributes: </a:t>
            </a:r>
            <a:r>
              <a:rPr lang="en-US" i="1" dirty="0">
                <a:solidFill>
                  <a:srgbClr val="FF0000"/>
                </a:solidFill>
              </a:rPr>
              <a:t>sec 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semester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i="1" dirty="0">
                <a:solidFill>
                  <a:srgbClr val="FF0000"/>
                </a:solidFill>
              </a:rPr>
              <a:t>year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/>
              <a:t>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primary key </a:t>
            </a:r>
            <a:r>
              <a:rPr lang="en-US" dirty="0" smtClean="0"/>
              <a:t>of the </a:t>
            </a:r>
            <a:r>
              <a:rPr lang="en-US" i="1" dirty="0">
                <a:solidFill>
                  <a:srgbClr val="FF0000"/>
                </a:solidFill>
              </a:rPr>
              <a:t>course</a:t>
            </a:r>
            <a:r>
              <a:rPr lang="en-US" i="1" dirty="0"/>
              <a:t> </a:t>
            </a:r>
            <a:r>
              <a:rPr lang="en-US" dirty="0"/>
              <a:t>entity set, on which </a:t>
            </a:r>
            <a:r>
              <a:rPr lang="en-US" i="1" dirty="0"/>
              <a:t>section </a:t>
            </a:r>
            <a:r>
              <a:rPr lang="en-US" dirty="0"/>
              <a:t>depends, is </a:t>
            </a:r>
            <a:r>
              <a:rPr lang="en-US" i="1" dirty="0">
                <a:solidFill>
                  <a:srgbClr val="FF0000"/>
                </a:solidFill>
              </a:rPr>
              <a:t>course id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Thus</a:t>
            </a:r>
            <a:r>
              <a:rPr lang="en-US" dirty="0"/>
              <a:t>, we represent </a:t>
            </a:r>
            <a:r>
              <a:rPr lang="en-US" i="1" dirty="0" smtClean="0"/>
              <a:t>section </a:t>
            </a:r>
            <a:r>
              <a:rPr lang="en-US" dirty="0" smtClean="0"/>
              <a:t>by </a:t>
            </a:r>
            <a:r>
              <a:rPr lang="en-US" dirty="0"/>
              <a:t>a schema with the following attributes:</a:t>
            </a:r>
          </a:p>
          <a:p>
            <a:endParaRPr lang="en-US" i="1" dirty="0" smtClean="0"/>
          </a:p>
          <a:p>
            <a:r>
              <a:rPr lang="en-US" i="1" dirty="0"/>
              <a:t>	</a:t>
            </a:r>
            <a:r>
              <a:rPr lang="en-US" i="1" dirty="0" smtClean="0">
                <a:solidFill>
                  <a:srgbClr val="FF0000"/>
                </a:solidFill>
              </a:rPr>
              <a:t>section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>
                <a:solidFill>
                  <a:srgbClr val="FF0000"/>
                </a:solidFill>
              </a:rPr>
              <a:t>course 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sec id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semester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</a:rPr>
              <a:t>year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29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680" y="469900"/>
            <a:ext cx="63652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Weak Entity-Set 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3126231"/>
            <a:ext cx="8454899" cy="2962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3354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i="1" dirty="0">
                <a:latin typeface="Arial"/>
                <a:cs typeface="Arial"/>
              </a:rPr>
              <a:t>account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schema:</a:t>
            </a:r>
          </a:p>
          <a:p>
            <a:pPr marL="469900">
              <a:lnSpc>
                <a:spcPts val="2875"/>
              </a:lnSpc>
            </a:pPr>
            <a:r>
              <a:rPr sz="2400" i="1" spc="-5" dirty="0">
                <a:latin typeface="Arial"/>
                <a:cs typeface="Arial"/>
              </a:rPr>
              <a:t>account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account_number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balance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ts val="3354"/>
              </a:lnSpc>
              <a:spcBef>
                <a:spcPts val="1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i="1" dirty="0">
                <a:latin typeface="Arial"/>
                <a:cs typeface="Arial"/>
              </a:rPr>
              <a:t>check</a:t>
            </a:r>
            <a:r>
              <a:rPr sz="2800" i="1" spc="-5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schema:</a:t>
            </a:r>
          </a:p>
          <a:p>
            <a:pPr marL="755015" lvl="1" indent="-285750">
              <a:lnSpc>
                <a:spcPts val="2870"/>
              </a:lnSpc>
              <a:buChar char="–"/>
              <a:tabLst>
                <a:tab pos="755650" algn="l"/>
              </a:tabLst>
            </a:pPr>
            <a:r>
              <a:rPr lang="en-US" sz="2400" spc="-5" dirty="0" smtClean="0">
                <a:latin typeface="Arial MT"/>
                <a:cs typeface="Arial MT"/>
              </a:rPr>
              <a:t>  </a:t>
            </a:r>
            <a:r>
              <a:rPr sz="2400" spc="-5" dirty="0" smtClean="0">
                <a:solidFill>
                  <a:srgbClr val="FF0000"/>
                </a:solidFill>
                <a:latin typeface="Arial MT"/>
                <a:cs typeface="Arial MT"/>
              </a:rPr>
              <a:t>Discriminator</a:t>
            </a:r>
            <a:r>
              <a:rPr sz="2400" spc="5" dirty="0" smtClean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check_number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927100" marR="372110" lvl="1" indent="-457200">
              <a:lnSpc>
                <a:spcPts val="2300"/>
              </a:lnSpc>
              <a:spcBef>
                <a:spcPts val="55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Primary key for </a:t>
            </a:r>
            <a:r>
              <a:rPr sz="2400" i="1" spc="-5" dirty="0">
                <a:latin typeface="Arial"/>
                <a:cs typeface="Arial"/>
              </a:rPr>
              <a:t>check </a:t>
            </a:r>
            <a:r>
              <a:rPr sz="2400" dirty="0">
                <a:latin typeface="Arial MT"/>
                <a:cs typeface="Arial MT"/>
              </a:rPr>
              <a:t>is: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account_number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check_number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590"/>
              </a:lnSpc>
              <a:spcBef>
                <a:spcPts val="20"/>
              </a:spcBef>
            </a:pP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account_number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spc="-2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check_number</a:t>
            </a:r>
            <a:r>
              <a:rPr sz="2400" spc="-5" dirty="0" smtClean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lang="en-US" sz="2400" spc="-5" dirty="0" smtClean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 err="1" smtClean="0">
                <a:solidFill>
                  <a:srgbClr val="FF0000"/>
                </a:solidFill>
                <a:latin typeface="Arial"/>
                <a:cs typeface="Arial"/>
              </a:rPr>
              <a:t>check_date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recipient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amount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memo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35700" y="2501900"/>
            <a:ext cx="1219200" cy="685800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0" y="0"/>
                </a:moveTo>
                <a:lnTo>
                  <a:pt x="0" y="685799"/>
                </a:lnTo>
                <a:lnTo>
                  <a:pt x="1219200" y="685799"/>
                </a:lnTo>
                <a:lnTo>
                  <a:pt x="1219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1900" y="2578100"/>
            <a:ext cx="1066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check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87937" y="1277937"/>
            <a:ext cx="3667125" cy="2066925"/>
            <a:chOff x="5087937" y="1277937"/>
            <a:chExt cx="3667125" cy="2066925"/>
          </a:xfrm>
        </p:grpSpPr>
        <p:sp>
          <p:nvSpPr>
            <p:cNvPr id="7" name="object 7"/>
            <p:cNvSpPr/>
            <p:nvPr/>
          </p:nvSpPr>
          <p:spPr>
            <a:xfrm>
              <a:off x="5092700" y="1282700"/>
              <a:ext cx="2286000" cy="990600"/>
            </a:xfrm>
            <a:custGeom>
              <a:avLst/>
              <a:gdLst/>
              <a:ahLst/>
              <a:cxnLst/>
              <a:rect l="l" t="t" r="r" b="b"/>
              <a:pathLst>
                <a:path w="2286000" h="990600">
                  <a:moveTo>
                    <a:pt x="762000" y="533399"/>
                  </a:moveTo>
                  <a:lnTo>
                    <a:pt x="692674" y="534332"/>
                  </a:lnTo>
                  <a:lnTo>
                    <a:pt x="625086" y="537075"/>
                  </a:lnTo>
                  <a:lnTo>
                    <a:pt x="559505" y="541549"/>
                  </a:lnTo>
                  <a:lnTo>
                    <a:pt x="496201" y="547674"/>
                  </a:lnTo>
                  <a:lnTo>
                    <a:pt x="435442" y="555370"/>
                  </a:lnTo>
                  <a:lnTo>
                    <a:pt x="377500" y="564557"/>
                  </a:lnTo>
                  <a:lnTo>
                    <a:pt x="322643" y="575155"/>
                  </a:lnTo>
                  <a:lnTo>
                    <a:pt x="271142" y="587084"/>
                  </a:lnTo>
                  <a:lnTo>
                    <a:pt x="223265" y="600265"/>
                  </a:lnTo>
                  <a:lnTo>
                    <a:pt x="179284" y="614617"/>
                  </a:lnTo>
                  <a:lnTo>
                    <a:pt x="139466" y="630060"/>
                  </a:lnTo>
                  <a:lnTo>
                    <a:pt x="104083" y="646514"/>
                  </a:lnTo>
                  <a:lnTo>
                    <a:pt x="47697" y="682137"/>
                  </a:lnTo>
                  <a:lnTo>
                    <a:pt x="12283" y="720845"/>
                  </a:lnTo>
                  <a:lnTo>
                    <a:pt x="0" y="761999"/>
                  </a:lnTo>
                  <a:lnTo>
                    <a:pt x="3115" y="782842"/>
                  </a:lnTo>
                  <a:lnTo>
                    <a:pt x="27234" y="822854"/>
                  </a:lnTo>
                  <a:lnTo>
                    <a:pt x="73403" y="860099"/>
                  </a:lnTo>
                  <a:lnTo>
                    <a:pt x="139466" y="893939"/>
                  </a:lnTo>
                  <a:lnTo>
                    <a:pt x="179284" y="909382"/>
                  </a:lnTo>
                  <a:lnTo>
                    <a:pt x="223265" y="923734"/>
                  </a:lnTo>
                  <a:lnTo>
                    <a:pt x="271142" y="936915"/>
                  </a:lnTo>
                  <a:lnTo>
                    <a:pt x="322643" y="948844"/>
                  </a:lnTo>
                  <a:lnTo>
                    <a:pt x="377500" y="959442"/>
                  </a:lnTo>
                  <a:lnTo>
                    <a:pt x="435442" y="968629"/>
                  </a:lnTo>
                  <a:lnTo>
                    <a:pt x="496201" y="976325"/>
                  </a:lnTo>
                  <a:lnTo>
                    <a:pt x="559505" y="982450"/>
                  </a:lnTo>
                  <a:lnTo>
                    <a:pt x="625086" y="986924"/>
                  </a:lnTo>
                  <a:lnTo>
                    <a:pt x="692674" y="989667"/>
                  </a:lnTo>
                  <a:lnTo>
                    <a:pt x="762000" y="990599"/>
                  </a:lnTo>
                  <a:lnTo>
                    <a:pt x="831325" y="989667"/>
                  </a:lnTo>
                  <a:lnTo>
                    <a:pt x="898913" y="986924"/>
                  </a:lnTo>
                  <a:lnTo>
                    <a:pt x="964494" y="982450"/>
                  </a:lnTo>
                  <a:lnTo>
                    <a:pt x="1027798" y="976325"/>
                  </a:lnTo>
                  <a:lnTo>
                    <a:pt x="1088557" y="968629"/>
                  </a:lnTo>
                  <a:lnTo>
                    <a:pt x="1146499" y="959442"/>
                  </a:lnTo>
                  <a:lnTo>
                    <a:pt x="1201356" y="948844"/>
                  </a:lnTo>
                  <a:lnTo>
                    <a:pt x="1252857" y="936915"/>
                  </a:lnTo>
                  <a:lnTo>
                    <a:pt x="1300734" y="923734"/>
                  </a:lnTo>
                  <a:lnTo>
                    <a:pt x="1344715" y="909382"/>
                  </a:lnTo>
                  <a:lnTo>
                    <a:pt x="1384533" y="893939"/>
                  </a:lnTo>
                  <a:lnTo>
                    <a:pt x="1419916" y="877485"/>
                  </a:lnTo>
                  <a:lnTo>
                    <a:pt x="1476302" y="841862"/>
                  </a:lnTo>
                  <a:lnTo>
                    <a:pt x="1511716" y="803154"/>
                  </a:lnTo>
                  <a:lnTo>
                    <a:pt x="1524000" y="761999"/>
                  </a:lnTo>
                  <a:lnTo>
                    <a:pt x="1520884" y="741157"/>
                  </a:lnTo>
                  <a:lnTo>
                    <a:pt x="1496765" y="701145"/>
                  </a:lnTo>
                  <a:lnTo>
                    <a:pt x="1450596" y="663900"/>
                  </a:lnTo>
                  <a:lnTo>
                    <a:pt x="1384533" y="630060"/>
                  </a:lnTo>
                  <a:lnTo>
                    <a:pt x="1344715" y="614617"/>
                  </a:lnTo>
                  <a:lnTo>
                    <a:pt x="1300733" y="600265"/>
                  </a:lnTo>
                  <a:lnTo>
                    <a:pt x="1252857" y="587084"/>
                  </a:lnTo>
                  <a:lnTo>
                    <a:pt x="1201356" y="575155"/>
                  </a:lnTo>
                  <a:lnTo>
                    <a:pt x="1146499" y="564557"/>
                  </a:lnTo>
                  <a:lnTo>
                    <a:pt x="1088557" y="555370"/>
                  </a:lnTo>
                  <a:lnTo>
                    <a:pt x="1027798" y="547674"/>
                  </a:lnTo>
                  <a:lnTo>
                    <a:pt x="964494" y="541549"/>
                  </a:lnTo>
                  <a:lnTo>
                    <a:pt x="898913" y="537075"/>
                  </a:lnTo>
                  <a:lnTo>
                    <a:pt x="831325" y="534332"/>
                  </a:lnTo>
                  <a:lnTo>
                    <a:pt x="762000" y="533399"/>
                  </a:lnTo>
                  <a:close/>
                </a:path>
                <a:path w="2286000" h="990600">
                  <a:moveTo>
                    <a:pt x="1714500" y="0"/>
                  </a:moveTo>
                  <a:lnTo>
                    <a:pt x="1647881" y="1534"/>
                  </a:lnTo>
                  <a:lnTo>
                    <a:pt x="1583511" y="6024"/>
                  </a:lnTo>
                  <a:lnTo>
                    <a:pt x="1521821" y="13301"/>
                  </a:lnTo>
                  <a:lnTo>
                    <a:pt x="1463239" y="23193"/>
                  </a:lnTo>
                  <a:lnTo>
                    <a:pt x="1408197" y="35531"/>
                  </a:lnTo>
                  <a:lnTo>
                    <a:pt x="1357124" y="50145"/>
                  </a:lnTo>
                  <a:lnTo>
                    <a:pt x="1310449" y="66865"/>
                  </a:lnTo>
                  <a:lnTo>
                    <a:pt x="1268603" y="85521"/>
                  </a:lnTo>
                  <a:lnTo>
                    <a:pt x="1232015" y="105944"/>
                  </a:lnTo>
                  <a:lnTo>
                    <a:pt x="1176335" y="151407"/>
                  </a:lnTo>
                  <a:lnTo>
                    <a:pt x="1146847" y="201896"/>
                  </a:lnTo>
                  <a:lnTo>
                    <a:pt x="1143000" y="228599"/>
                  </a:lnTo>
                  <a:lnTo>
                    <a:pt x="1146847" y="255303"/>
                  </a:lnTo>
                  <a:lnTo>
                    <a:pt x="1176335" y="305792"/>
                  </a:lnTo>
                  <a:lnTo>
                    <a:pt x="1232015" y="351255"/>
                  </a:lnTo>
                  <a:lnTo>
                    <a:pt x="1268603" y="371678"/>
                  </a:lnTo>
                  <a:lnTo>
                    <a:pt x="1310449" y="390334"/>
                  </a:lnTo>
                  <a:lnTo>
                    <a:pt x="1357124" y="407054"/>
                  </a:lnTo>
                  <a:lnTo>
                    <a:pt x="1408197" y="421668"/>
                  </a:lnTo>
                  <a:lnTo>
                    <a:pt x="1463239" y="434006"/>
                  </a:lnTo>
                  <a:lnTo>
                    <a:pt x="1521821" y="443898"/>
                  </a:lnTo>
                  <a:lnTo>
                    <a:pt x="1583511" y="451175"/>
                  </a:lnTo>
                  <a:lnTo>
                    <a:pt x="1647881" y="455665"/>
                  </a:lnTo>
                  <a:lnTo>
                    <a:pt x="1714500" y="457199"/>
                  </a:lnTo>
                  <a:lnTo>
                    <a:pt x="1781118" y="455665"/>
                  </a:lnTo>
                  <a:lnTo>
                    <a:pt x="1845488" y="451175"/>
                  </a:lnTo>
                  <a:lnTo>
                    <a:pt x="1907178" y="443898"/>
                  </a:lnTo>
                  <a:lnTo>
                    <a:pt x="1965760" y="434006"/>
                  </a:lnTo>
                  <a:lnTo>
                    <a:pt x="2020802" y="421668"/>
                  </a:lnTo>
                  <a:lnTo>
                    <a:pt x="2071875" y="407054"/>
                  </a:lnTo>
                  <a:lnTo>
                    <a:pt x="2118550" y="390334"/>
                  </a:lnTo>
                  <a:lnTo>
                    <a:pt x="2160396" y="371678"/>
                  </a:lnTo>
                  <a:lnTo>
                    <a:pt x="2196984" y="351255"/>
                  </a:lnTo>
                  <a:lnTo>
                    <a:pt x="2252664" y="305792"/>
                  </a:lnTo>
                  <a:lnTo>
                    <a:pt x="2282152" y="255303"/>
                  </a:lnTo>
                  <a:lnTo>
                    <a:pt x="2286000" y="228599"/>
                  </a:lnTo>
                  <a:lnTo>
                    <a:pt x="2282152" y="201896"/>
                  </a:lnTo>
                  <a:lnTo>
                    <a:pt x="2252664" y="151407"/>
                  </a:lnTo>
                  <a:lnTo>
                    <a:pt x="2196984" y="105944"/>
                  </a:lnTo>
                  <a:lnTo>
                    <a:pt x="2160396" y="85521"/>
                  </a:lnTo>
                  <a:lnTo>
                    <a:pt x="2118550" y="66865"/>
                  </a:lnTo>
                  <a:lnTo>
                    <a:pt x="2071875" y="50145"/>
                  </a:lnTo>
                  <a:lnTo>
                    <a:pt x="2020802" y="35531"/>
                  </a:lnTo>
                  <a:lnTo>
                    <a:pt x="1965760" y="23193"/>
                  </a:lnTo>
                  <a:lnTo>
                    <a:pt x="1907178" y="13301"/>
                  </a:lnTo>
                  <a:lnTo>
                    <a:pt x="1845488" y="6024"/>
                  </a:lnTo>
                  <a:lnTo>
                    <a:pt x="1781118" y="1534"/>
                  </a:lnTo>
                  <a:lnTo>
                    <a:pt x="17145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02500" y="1663700"/>
              <a:ext cx="990600" cy="457200"/>
            </a:xfrm>
            <a:custGeom>
              <a:avLst/>
              <a:gdLst/>
              <a:ahLst/>
              <a:cxnLst/>
              <a:rect l="l" t="t" r="r" b="b"/>
              <a:pathLst>
                <a:path w="990600" h="457200">
                  <a:moveTo>
                    <a:pt x="990600" y="228599"/>
                  </a:moveTo>
                  <a:lnTo>
                    <a:pt x="975473" y="172233"/>
                  </a:lnTo>
                  <a:lnTo>
                    <a:pt x="932570" y="121027"/>
                  </a:lnTo>
                  <a:lnTo>
                    <a:pt x="901861" y="97891"/>
                  </a:lnTo>
                  <a:lnTo>
                    <a:pt x="865601" y="76681"/>
                  </a:lnTo>
                  <a:lnTo>
                    <a:pt x="824253" y="57610"/>
                  </a:lnTo>
                  <a:lnTo>
                    <a:pt x="778280" y="40892"/>
                  </a:lnTo>
                  <a:lnTo>
                    <a:pt x="728148" y="26736"/>
                  </a:lnTo>
                  <a:lnTo>
                    <a:pt x="674319" y="15357"/>
                  </a:lnTo>
                  <a:lnTo>
                    <a:pt x="617259" y="6967"/>
                  </a:lnTo>
                  <a:lnTo>
                    <a:pt x="557431" y="1777"/>
                  </a:lnTo>
                  <a:lnTo>
                    <a:pt x="495300" y="0"/>
                  </a:lnTo>
                  <a:lnTo>
                    <a:pt x="433168" y="1777"/>
                  </a:lnTo>
                  <a:lnTo>
                    <a:pt x="373340" y="6967"/>
                  </a:lnTo>
                  <a:lnTo>
                    <a:pt x="316280" y="15357"/>
                  </a:lnTo>
                  <a:lnTo>
                    <a:pt x="262451" y="26736"/>
                  </a:lnTo>
                  <a:lnTo>
                    <a:pt x="212319" y="40892"/>
                  </a:lnTo>
                  <a:lnTo>
                    <a:pt x="166346" y="57610"/>
                  </a:lnTo>
                  <a:lnTo>
                    <a:pt x="124998" y="76681"/>
                  </a:lnTo>
                  <a:lnTo>
                    <a:pt x="88738" y="97891"/>
                  </a:lnTo>
                  <a:lnTo>
                    <a:pt x="58029" y="121027"/>
                  </a:lnTo>
                  <a:lnTo>
                    <a:pt x="15126" y="172233"/>
                  </a:lnTo>
                  <a:lnTo>
                    <a:pt x="0" y="228599"/>
                  </a:lnTo>
                  <a:lnTo>
                    <a:pt x="3858" y="257322"/>
                  </a:lnTo>
                  <a:lnTo>
                    <a:pt x="33337" y="311320"/>
                  </a:lnTo>
                  <a:lnTo>
                    <a:pt x="88738" y="359308"/>
                  </a:lnTo>
                  <a:lnTo>
                    <a:pt x="124998" y="380518"/>
                  </a:lnTo>
                  <a:lnTo>
                    <a:pt x="166346" y="399589"/>
                  </a:lnTo>
                  <a:lnTo>
                    <a:pt x="212319" y="416307"/>
                  </a:lnTo>
                  <a:lnTo>
                    <a:pt x="262451" y="430463"/>
                  </a:lnTo>
                  <a:lnTo>
                    <a:pt x="316280" y="441842"/>
                  </a:lnTo>
                  <a:lnTo>
                    <a:pt x="373340" y="450232"/>
                  </a:lnTo>
                  <a:lnTo>
                    <a:pt x="433168" y="455422"/>
                  </a:lnTo>
                  <a:lnTo>
                    <a:pt x="495300" y="457199"/>
                  </a:lnTo>
                  <a:lnTo>
                    <a:pt x="557431" y="455422"/>
                  </a:lnTo>
                  <a:lnTo>
                    <a:pt x="617259" y="450232"/>
                  </a:lnTo>
                  <a:lnTo>
                    <a:pt x="674319" y="441842"/>
                  </a:lnTo>
                  <a:lnTo>
                    <a:pt x="728148" y="430463"/>
                  </a:lnTo>
                  <a:lnTo>
                    <a:pt x="778280" y="416307"/>
                  </a:lnTo>
                  <a:lnTo>
                    <a:pt x="824253" y="399589"/>
                  </a:lnTo>
                  <a:lnTo>
                    <a:pt x="865601" y="380518"/>
                  </a:lnTo>
                  <a:lnTo>
                    <a:pt x="901861" y="359308"/>
                  </a:lnTo>
                  <a:lnTo>
                    <a:pt x="932570" y="336172"/>
                  </a:lnTo>
                  <a:lnTo>
                    <a:pt x="975473" y="284966"/>
                  </a:lnTo>
                  <a:lnTo>
                    <a:pt x="990600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02500" y="1663700"/>
              <a:ext cx="1447800" cy="1676400"/>
            </a:xfrm>
            <a:custGeom>
              <a:avLst/>
              <a:gdLst/>
              <a:ahLst/>
              <a:cxnLst/>
              <a:rect l="l" t="t" r="r" b="b"/>
              <a:pathLst>
                <a:path w="1447800" h="1676400">
                  <a:moveTo>
                    <a:pt x="495300" y="0"/>
                  </a:moveTo>
                  <a:lnTo>
                    <a:pt x="433168" y="1777"/>
                  </a:lnTo>
                  <a:lnTo>
                    <a:pt x="373340" y="6967"/>
                  </a:lnTo>
                  <a:lnTo>
                    <a:pt x="316280" y="15357"/>
                  </a:lnTo>
                  <a:lnTo>
                    <a:pt x="262451" y="26736"/>
                  </a:lnTo>
                  <a:lnTo>
                    <a:pt x="212319" y="40892"/>
                  </a:lnTo>
                  <a:lnTo>
                    <a:pt x="166346" y="57610"/>
                  </a:lnTo>
                  <a:lnTo>
                    <a:pt x="124998" y="76681"/>
                  </a:lnTo>
                  <a:lnTo>
                    <a:pt x="88738" y="97891"/>
                  </a:lnTo>
                  <a:lnTo>
                    <a:pt x="58029" y="121027"/>
                  </a:lnTo>
                  <a:lnTo>
                    <a:pt x="15126" y="172233"/>
                  </a:lnTo>
                  <a:lnTo>
                    <a:pt x="0" y="228599"/>
                  </a:lnTo>
                  <a:lnTo>
                    <a:pt x="3858" y="257322"/>
                  </a:lnTo>
                  <a:lnTo>
                    <a:pt x="33337" y="311320"/>
                  </a:lnTo>
                  <a:lnTo>
                    <a:pt x="88738" y="359308"/>
                  </a:lnTo>
                  <a:lnTo>
                    <a:pt x="124998" y="380518"/>
                  </a:lnTo>
                  <a:lnTo>
                    <a:pt x="166346" y="399589"/>
                  </a:lnTo>
                  <a:lnTo>
                    <a:pt x="212319" y="416307"/>
                  </a:lnTo>
                  <a:lnTo>
                    <a:pt x="262451" y="430463"/>
                  </a:lnTo>
                  <a:lnTo>
                    <a:pt x="316280" y="441842"/>
                  </a:lnTo>
                  <a:lnTo>
                    <a:pt x="373340" y="450232"/>
                  </a:lnTo>
                  <a:lnTo>
                    <a:pt x="433168" y="455422"/>
                  </a:lnTo>
                  <a:lnTo>
                    <a:pt x="495300" y="457199"/>
                  </a:lnTo>
                  <a:lnTo>
                    <a:pt x="557431" y="455422"/>
                  </a:lnTo>
                  <a:lnTo>
                    <a:pt x="617259" y="450232"/>
                  </a:lnTo>
                  <a:lnTo>
                    <a:pt x="674319" y="441842"/>
                  </a:lnTo>
                  <a:lnTo>
                    <a:pt x="728148" y="430463"/>
                  </a:lnTo>
                  <a:lnTo>
                    <a:pt x="778280" y="416307"/>
                  </a:lnTo>
                  <a:lnTo>
                    <a:pt x="824253" y="399589"/>
                  </a:lnTo>
                  <a:lnTo>
                    <a:pt x="865601" y="380518"/>
                  </a:lnTo>
                  <a:lnTo>
                    <a:pt x="901861" y="359308"/>
                  </a:lnTo>
                  <a:lnTo>
                    <a:pt x="932570" y="336172"/>
                  </a:lnTo>
                  <a:lnTo>
                    <a:pt x="975473" y="284966"/>
                  </a:lnTo>
                  <a:lnTo>
                    <a:pt x="990600" y="228599"/>
                  </a:lnTo>
                  <a:lnTo>
                    <a:pt x="986741" y="199877"/>
                  </a:lnTo>
                  <a:lnTo>
                    <a:pt x="957262" y="145879"/>
                  </a:lnTo>
                  <a:lnTo>
                    <a:pt x="901861" y="97891"/>
                  </a:lnTo>
                  <a:lnTo>
                    <a:pt x="865601" y="76681"/>
                  </a:lnTo>
                  <a:lnTo>
                    <a:pt x="824253" y="57610"/>
                  </a:lnTo>
                  <a:lnTo>
                    <a:pt x="778280" y="40892"/>
                  </a:lnTo>
                  <a:lnTo>
                    <a:pt x="728148" y="26736"/>
                  </a:lnTo>
                  <a:lnTo>
                    <a:pt x="674319" y="15357"/>
                  </a:lnTo>
                  <a:lnTo>
                    <a:pt x="617259" y="6967"/>
                  </a:lnTo>
                  <a:lnTo>
                    <a:pt x="557431" y="1777"/>
                  </a:lnTo>
                  <a:lnTo>
                    <a:pt x="495300" y="0"/>
                  </a:lnTo>
                  <a:close/>
                </a:path>
                <a:path w="1447800" h="1676400">
                  <a:moveTo>
                    <a:pt x="990600" y="533399"/>
                  </a:moveTo>
                  <a:lnTo>
                    <a:pt x="928620" y="535482"/>
                  </a:lnTo>
                  <a:lnTo>
                    <a:pt x="869156" y="541549"/>
                  </a:lnTo>
                  <a:lnTo>
                    <a:pt x="812756" y="551330"/>
                  </a:lnTo>
                  <a:lnTo>
                    <a:pt x="759967" y="564557"/>
                  </a:lnTo>
                  <a:lnTo>
                    <a:pt x="711338" y="580958"/>
                  </a:lnTo>
                  <a:lnTo>
                    <a:pt x="667416" y="600265"/>
                  </a:lnTo>
                  <a:lnTo>
                    <a:pt x="628749" y="622207"/>
                  </a:lnTo>
                  <a:lnTo>
                    <a:pt x="595883" y="646514"/>
                  </a:lnTo>
                  <a:lnTo>
                    <a:pt x="549751" y="701145"/>
                  </a:lnTo>
                  <a:lnTo>
                    <a:pt x="533400" y="761999"/>
                  </a:lnTo>
                  <a:lnTo>
                    <a:pt x="537579" y="793070"/>
                  </a:lnTo>
                  <a:lnTo>
                    <a:pt x="569368" y="851082"/>
                  </a:lnTo>
                  <a:lnTo>
                    <a:pt x="628749" y="901792"/>
                  </a:lnTo>
                  <a:lnTo>
                    <a:pt x="667416" y="923734"/>
                  </a:lnTo>
                  <a:lnTo>
                    <a:pt x="711338" y="943041"/>
                  </a:lnTo>
                  <a:lnTo>
                    <a:pt x="759967" y="959442"/>
                  </a:lnTo>
                  <a:lnTo>
                    <a:pt x="812756" y="972669"/>
                  </a:lnTo>
                  <a:lnTo>
                    <a:pt x="869156" y="982450"/>
                  </a:lnTo>
                  <a:lnTo>
                    <a:pt x="928620" y="988517"/>
                  </a:lnTo>
                  <a:lnTo>
                    <a:pt x="990600" y="990599"/>
                  </a:lnTo>
                  <a:lnTo>
                    <a:pt x="1052579" y="988517"/>
                  </a:lnTo>
                  <a:lnTo>
                    <a:pt x="1112043" y="982450"/>
                  </a:lnTo>
                  <a:lnTo>
                    <a:pt x="1168443" y="972669"/>
                  </a:lnTo>
                  <a:lnTo>
                    <a:pt x="1221232" y="959442"/>
                  </a:lnTo>
                  <a:lnTo>
                    <a:pt x="1269861" y="943041"/>
                  </a:lnTo>
                  <a:lnTo>
                    <a:pt x="1313783" y="923734"/>
                  </a:lnTo>
                  <a:lnTo>
                    <a:pt x="1352450" y="901792"/>
                  </a:lnTo>
                  <a:lnTo>
                    <a:pt x="1385316" y="877485"/>
                  </a:lnTo>
                  <a:lnTo>
                    <a:pt x="1431448" y="822854"/>
                  </a:lnTo>
                  <a:lnTo>
                    <a:pt x="1447800" y="761999"/>
                  </a:lnTo>
                  <a:lnTo>
                    <a:pt x="1443620" y="730929"/>
                  </a:lnTo>
                  <a:lnTo>
                    <a:pt x="1411831" y="672917"/>
                  </a:lnTo>
                  <a:lnTo>
                    <a:pt x="1352450" y="622207"/>
                  </a:lnTo>
                  <a:lnTo>
                    <a:pt x="1313783" y="600265"/>
                  </a:lnTo>
                  <a:lnTo>
                    <a:pt x="1269861" y="580958"/>
                  </a:lnTo>
                  <a:lnTo>
                    <a:pt x="1221232" y="564557"/>
                  </a:lnTo>
                  <a:lnTo>
                    <a:pt x="1168443" y="551330"/>
                  </a:lnTo>
                  <a:lnTo>
                    <a:pt x="1112043" y="541549"/>
                  </a:lnTo>
                  <a:lnTo>
                    <a:pt x="1052579" y="535482"/>
                  </a:lnTo>
                  <a:lnTo>
                    <a:pt x="990600" y="533399"/>
                  </a:lnTo>
                  <a:close/>
                </a:path>
                <a:path w="1447800" h="1676400">
                  <a:moveTo>
                    <a:pt x="990600" y="1219199"/>
                  </a:moveTo>
                  <a:lnTo>
                    <a:pt x="934323" y="1221673"/>
                  </a:lnTo>
                  <a:lnTo>
                    <a:pt x="880601" y="1228859"/>
                  </a:lnTo>
                  <a:lnTo>
                    <a:pt x="830026" y="1240407"/>
                  </a:lnTo>
                  <a:lnTo>
                    <a:pt x="783189" y="1255968"/>
                  </a:lnTo>
                  <a:lnTo>
                    <a:pt x="740680" y="1275190"/>
                  </a:lnTo>
                  <a:lnTo>
                    <a:pt x="703089" y="1297724"/>
                  </a:lnTo>
                  <a:lnTo>
                    <a:pt x="671008" y="1323219"/>
                  </a:lnTo>
                  <a:lnTo>
                    <a:pt x="645028" y="1351324"/>
                  </a:lnTo>
                  <a:lnTo>
                    <a:pt x="613733" y="1413965"/>
                  </a:lnTo>
                  <a:lnTo>
                    <a:pt x="609600" y="1447799"/>
                  </a:lnTo>
                  <a:lnTo>
                    <a:pt x="613733" y="1481634"/>
                  </a:lnTo>
                  <a:lnTo>
                    <a:pt x="645028" y="1544275"/>
                  </a:lnTo>
                  <a:lnTo>
                    <a:pt x="671008" y="1572380"/>
                  </a:lnTo>
                  <a:lnTo>
                    <a:pt x="703089" y="1597875"/>
                  </a:lnTo>
                  <a:lnTo>
                    <a:pt x="740680" y="1620409"/>
                  </a:lnTo>
                  <a:lnTo>
                    <a:pt x="783189" y="1639631"/>
                  </a:lnTo>
                  <a:lnTo>
                    <a:pt x="830026" y="1655192"/>
                  </a:lnTo>
                  <a:lnTo>
                    <a:pt x="880601" y="1666740"/>
                  </a:lnTo>
                  <a:lnTo>
                    <a:pt x="934323" y="1673926"/>
                  </a:lnTo>
                  <a:lnTo>
                    <a:pt x="990600" y="1676399"/>
                  </a:lnTo>
                  <a:lnTo>
                    <a:pt x="1046876" y="1673926"/>
                  </a:lnTo>
                  <a:lnTo>
                    <a:pt x="1100598" y="1666740"/>
                  </a:lnTo>
                  <a:lnTo>
                    <a:pt x="1151173" y="1655192"/>
                  </a:lnTo>
                  <a:lnTo>
                    <a:pt x="1198010" y="1639631"/>
                  </a:lnTo>
                  <a:lnTo>
                    <a:pt x="1240519" y="1620409"/>
                  </a:lnTo>
                  <a:lnTo>
                    <a:pt x="1278110" y="1597875"/>
                  </a:lnTo>
                  <a:lnTo>
                    <a:pt x="1310191" y="1572380"/>
                  </a:lnTo>
                  <a:lnTo>
                    <a:pt x="1336171" y="1544275"/>
                  </a:lnTo>
                  <a:lnTo>
                    <a:pt x="1367466" y="1481634"/>
                  </a:lnTo>
                  <a:lnTo>
                    <a:pt x="1371600" y="1447799"/>
                  </a:lnTo>
                  <a:lnTo>
                    <a:pt x="1367466" y="1413965"/>
                  </a:lnTo>
                  <a:lnTo>
                    <a:pt x="1336171" y="1351324"/>
                  </a:lnTo>
                  <a:lnTo>
                    <a:pt x="1310191" y="1323219"/>
                  </a:lnTo>
                  <a:lnTo>
                    <a:pt x="1278110" y="1297724"/>
                  </a:lnTo>
                  <a:lnTo>
                    <a:pt x="1240519" y="1275190"/>
                  </a:lnTo>
                  <a:lnTo>
                    <a:pt x="1198010" y="1255968"/>
                  </a:lnTo>
                  <a:lnTo>
                    <a:pt x="1151173" y="1240407"/>
                  </a:lnTo>
                  <a:lnTo>
                    <a:pt x="1100598" y="1228859"/>
                  </a:lnTo>
                  <a:lnTo>
                    <a:pt x="1046876" y="1221673"/>
                  </a:lnTo>
                  <a:lnTo>
                    <a:pt x="990600" y="12191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99221" y="2971545"/>
            <a:ext cx="5905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memo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45100" y="1739900"/>
            <a:ext cx="2724150" cy="1371600"/>
          </a:xfrm>
          <a:custGeom>
            <a:avLst/>
            <a:gdLst/>
            <a:ahLst/>
            <a:cxnLst/>
            <a:rect l="l" t="t" r="r" b="b"/>
            <a:pathLst>
              <a:path w="2724150" h="1371600">
                <a:moveTo>
                  <a:pt x="1147572" y="466343"/>
                </a:moveTo>
                <a:lnTo>
                  <a:pt x="1600200" y="761999"/>
                </a:lnTo>
              </a:path>
              <a:path w="2724150" h="1371600">
                <a:moveTo>
                  <a:pt x="1562100" y="0"/>
                </a:moveTo>
                <a:lnTo>
                  <a:pt x="1600200" y="761999"/>
                </a:lnTo>
              </a:path>
              <a:path w="2724150" h="1371600">
                <a:moveTo>
                  <a:pt x="2202179" y="313943"/>
                </a:moveTo>
                <a:lnTo>
                  <a:pt x="1600200" y="761999"/>
                </a:lnTo>
              </a:path>
              <a:path w="2724150" h="1371600">
                <a:moveTo>
                  <a:pt x="2724150" y="847343"/>
                </a:moveTo>
                <a:lnTo>
                  <a:pt x="2209800" y="1104899"/>
                </a:lnTo>
              </a:path>
              <a:path w="2724150" h="1371600">
                <a:moveTo>
                  <a:pt x="2667000" y="1371599"/>
                </a:moveTo>
                <a:lnTo>
                  <a:pt x="2209800" y="1104899"/>
                </a:lnTo>
              </a:path>
              <a:path w="2724150" h="1371600">
                <a:moveTo>
                  <a:pt x="0" y="1143000"/>
                </a:moveTo>
                <a:lnTo>
                  <a:pt x="990600" y="1142999"/>
                </a:lnTo>
              </a:path>
              <a:path w="2724150" h="1371600">
                <a:moveTo>
                  <a:pt x="0" y="1066800"/>
                </a:moveTo>
                <a:lnTo>
                  <a:pt x="990600" y="10667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87500" y="2578100"/>
            <a:ext cx="12954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account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0700" y="1663700"/>
            <a:ext cx="2895600" cy="609600"/>
          </a:xfrm>
          <a:custGeom>
            <a:avLst/>
            <a:gdLst/>
            <a:ahLst/>
            <a:cxnLst/>
            <a:rect l="l" t="t" r="r" b="b"/>
            <a:pathLst>
              <a:path w="2895600" h="609600">
                <a:moveTo>
                  <a:pt x="838199" y="0"/>
                </a:moveTo>
                <a:lnTo>
                  <a:pt x="765824" y="837"/>
                </a:lnTo>
                <a:lnTo>
                  <a:pt x="695168" y="3303"/>
                </a:lnTo>
                <a:lnTo>
                  <a:pt x="626482" y="7330"/>
                </a:lnTo>
                <a:lnTo>
                  <a:pt x="560018" y="12851"/>
                </a:lnTo>
                <a:lnTo>
                  <a:pt x="496025" y="19797"/>
                </a:lnTo>
                <a:lnTo>
                  <a:pt x="434754" y="28099"/>
                </a:lnTo>
                <a:lnTo>
                  <a:pt x="376457" y="37691"/>
                </a:lnTo>
                <a:lnTo>
                  <a:pt x="321382" y="48504"/>
                </a:lnTo>
                <a:lnTo>
                  <a:pt x="269782" y="60471"/>
                </a:lnTo>
                <a:lnTo>
                  <a:pt x="221907" y="73522"/>
                </a:lnTo>
                <a:lnTo>
                  <a:pt x="178007" y="87591"/>
                </a:lnTo>
                <a:lnTo>
                  <a:pt x="138334" y="102609"/>
                </a:lnTo>
                <a:lnTo>
                  <a:pt x="103136" y="118508"/>
                </a:lnTo>
                <a:lnTo>
                  <a:pt x="47175" y="152677"/>
                </a:lnTo>
                <a:lnTo>
                  <a:pt x="12128" y="189556"/>
                </a:lnTo>
                <a:lnTo>
                  <a:pt x="0" y="228600"/>
                </a:lnTo>
                <a:lnTo>
                  <a:pt x="3073" y="248358"/>
                </a:lnTo>
                <a:lnTo>
                  <a:pt x="26912" y="286387"/>
                </a:lnTo>
                <a:lnTo>
                  <a:pt x="72667" y="321979"/>
                </a:lnTo>
                <a:lnTo>
                  <a:pt x="138334" y="354590"/>
                </a:lnTo>
                <a:lnTo>
                  <a:pt x="178007" y="369608"/>
                </a:lnTo>
                <a:lnTo>
                  <a:pt x="221907" y="383677"/>
                </a:lnTo>
                <a:lnTo>
                  <a:pt x="269782" y="396728"/>
                </a:lnTo>
                <a:lnTo>
                  <a:pt x="321382" y="408695"/>
                </a:lnTo>
                <a:lnTo>
                  <a:pt x="376457" y="419508"/>
                </a:lnTo>
                <a:lnTo>
                  <a:pt x="434754" y="429100"/>
                </a:lnTo>
                <a:lnTo>
                  <a:pt x="496025" y="437402"/>
                </a:lnTo>
                <a:lnTo>
                  <a:pt x="560018" y="444348"/>
                </a:lnTo>
                <a:lnTo>
                  <a:pt x="626482" y="449869"/>
                </a:lnTo>
                <a:lnTo>
                  <a:pt x="695168" y="453896"/>
                </a:lnTo>
                <a:lnTo>
                  <a:pt x="765824" y="456362"/>
                </a:lnTo>
                <a:lnTo>
                  <a:pt x="838199" y="457200"/>
                </a:lnTo>
                <a:lnTo>
                  <a:pt x="910575" y="456362"/>
                </a:lnTo>
                <a:lnTo>
                  <a:pt x="981231" y="453896"/>
                </a:lnTo>
                <a:lnTo>
                  <a:pt x="1049917" y="449869"/>
                </a:lnTo>
                <a:lnTo>
                  <a:pt x="1116381" y="444348"/>
                </a:lnTo>
                <a:lnTo>
                  <a:pt x="1180374" y="437402"/>
                </a:lnTo>
                <a:lnTo>
                  <a:pt x="1241645" y="429100"/>
                </a:lnTo>
                <a:lnTo>
                  <a:pt x="1299942" y="419508"/>
                </a:lnTo>
                <a:lnTo>
                  <a:pt x="1355017" y="408695"/>
                </a:lnTo>
                <a:lnTo>
                  <a:pt x="1406617" y="396728"/>
                </a:lnTo>
                <a:lnTo>
                  <a:pt x="1454492" y="383677"/>
                </a:lnTo>
                <a:lnTo>
                  <a:pt x="1498392" y="369608"/>
                </a:lnTo>
                <a:lnTo>
                  <a:pt x="1538065" y="354590"/>
                </a:lnTo>
                <a:lnTo>
                  <a:pt x="1573263" y="338691"/>
                </a:lnTo>
                <a:lnTo>
                  <a:pt x="1629224" y="304522"/>
                </a:lnTo>
                <a:lnTo>
                  <a:pt x="1664271" y="267643"/>
                </a:lnTo>
                <a:lnTo>
                  <a:pt x="1676400" y="228600"/>
                </a:lnTo>
                <a:lnTo>
                  <a:pt x="1673326" y="208841"/>
                </a:lnTo>
                <a:lnTo>
                  <a:pt x="1649487" y="170812"/>
                </a:lnTo>
                <a:lnTo>
                  <a:pt x="1603732" y="135220"/>
                </a:lnTo>
                <a:lnTo>
                  <a:pt x="1538065" y="102609"/>
                </a:lnTo>
                <a:lnTo>
                  <a:pt x="1498392" y="87591"/>
                </a:lnTo>
                <a:lnTo>
                  <a:pt x="1454492" y="73522"/>
                </a:lnTo>
                <a:lnTo>
                  <a:pt x="1406617" y="60471"/>
                </a:lnTo>
                <a:lnTo>
                  <a:pt x="1355017" y="48504"/>
                </a:lnTo>
                <a:lnTo>
                  <a:pt x="1299942" y="37691"/>
                </a:lnTo>
                <a:lnTo>
                  <a:pt x="1241645" y="28099"/>
                </a:lnTo>
                <a:lnTo>
                  <a:pt x="1180374" y="19797"/>
                </a:lnTo>
                <a:lnTo>
                  <a:pt x="1116381" y="12851"/>
                </a:lnTo>
                <a:lnTo>
                  <a:pt x="1049917" y="7330"/>
                </a:lnTo>
                <a:lnTo>
                  <a:pt x="981231" y="3303"/>
                </a:lnTo>
                <a:lnTo>
                  <a:pt x="910575" y="837"/>
                </a:lnTo>
                <a:lnTo>
                  <a:pt x="838199" y="0"/>
                </a:lnTo>
                <a:close/>
              </a:path>
              <a:path w="2895600" h="609600">
                <a:moveTo>
                  <a:pt x="2438400" y="152399"/>
                </a:moveTo>
                <a:lnTo>
                  <a:pt x="2376420" y="154482"/>
                </a:lnTo>
                <a:lnTo>
                  <a:pt x="2316956" y="160549"/>
                </a:lnTo>
                <a:lnTo>
                  <a:pt x="2260556" y="170330"/>
                </a:lnTo>
                <a:lnTo>
                  <a:pt x="2207767" y="183557"/>
                </a:lnTo>
                <a:lnTo>
                  <a:pt x="2159138" y="199958"/>
                </a:lnTo>
                <a:lnTo>
                  <a:pt x="2115216" y="219265"/>
                </a:lnTo>
                <a:lnTo>
                  <a:pt x="2076549" y="241207"/>
                </a:lnTo>
                <a:lnTo>
                  <a:pt x="2043683" y="265514"/>
                </a:lnTo>
                <a:lnTo>
                  <a:pt x="1997551" y="320145"/>
                </a:lnTo>
                <a:lnTo>
                  <a:pt x="1981200" y="380999"/>
                </a:lnTo>
                <a:lnTo>
                  <a:pt x="1985379" y="412070"/>
                </a:lnTo>
                <a:lnTo>
                  <a:pt x="2017168" y="470082"/>
                </a:lnTo>
                <a:lnTo>
                  <a:pt x="2076549" y="520792"/>
                </a:lnTo>
                <a:lnTo>
                  <a:pt x="2115216" y="542734"/>
                </a:lnTo>
                <a:lnTo>
                  <a:pt x="2159138" y="562041"/>
                </a:lnTo>
                <a:lnTo>
                  <a:pt x="2207768" y="578442"/>
                </a:lnTo>
                <a:lnTo>
                  <a:pt x="2260556" y="591669"/>
                </a:lnTo>
                <a:lnTo>
                  <a:pt x="2316956" y="601450"/>
                </a:lnTo>
                <a:lnTo>
                  <a:pt x="2376420" y="607517"/>
                </a:lnTo>
                <a:lnTo>
                  <a:pt x="2438400" y="609599"/>
                </a:lnTo>
                <a:lnTo>
                  <a:pt x="2500379" y="607517"/>
                </a:lnTo>
                <a:lnTo>
                  <a:pt x="2559843" y="601450"/>
                </a:lnTo>
                <a:lnTo>
                  <a:pt x="2616243" y="591669"/>
                </a:lnTo>
                <a:lnTo>
                  <a:pt x="2669032" y="578442"/>
                </a:lnTo>
                <a:lnTo>
                  <a:pt x="2717661" y="562041"/>
                </a:lnTo>
                <a:lnTo>
                  <a:pt x="2761583" y="542734"/>
                </a:lnTo>
                <a:lnTo>
                  <a:pt x="2800250" y="520792"/>
                </a:lnTo>
                <a:lnTo>
                  <a:pt x="2833116" y="496485"/>
                </a:lnTo>
                <a:lnTo>
                  <a:pt x="2879248" y="441854"/>
                </a:lnTo>
                <a:lnTo>
                  <a:pt x="2895600" y="380999"/>
                </a:lnTo>
                <a:lnTo>
                  <a:pt x="2891420" y="349929"/>
                </a:lnTo>
                <a:lnTo>
                  <a:pt x="2859631" y="291917"/>
                </a:lnTo>
                <a:lnTo>
                  <a:pt x="2800250" y="241207"/>
                </a:lnTo>
                <a:lnTo>
                  <a:pt x="2761583" y="219265"/>
                </a:lnTo>
                <a:lnTo>
                  <a:pt x="2717661" y="199958"/>
                </a:lnTo>
                <a:lnTo>
                  <a:pt x="2669031" y="183557"/>
                </a:lnTo>
                <a:lnTo>
                  <a:pt x="2616243" y="170330"/>
                </a:lnTo>
                <a:lnTo>
                  <a:pt x="2559843" y="160549"/>
                </a:lnTo>
                <a:lnTo>
                  <a:pt x="2500379" y="154482"/>
                </a:lnTo>
                <a:lnTo>
                  <a:pt x="243840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0295" y="1234490"/>
            <a:ext cx="8054975" cy="13208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R="1308735" algn="r">
              <a:lnSpc>
                <a:spcPct val="100000"/>
              </a:lnSpc>
              <a:spcBef>
                <a:spcPts val="1180"/>
              </a:spcBef>
            </a:pPr>
            <a:r>
              <a:rPr sz="1600" i="1" spc="-5" dirty="0">
                <a:latin typeface="Arial"/>
                <a:cs typeface="Arial"/>
              </a:rPr>
              <a:t>check_date</a:t>
            </a:r>
            <a:endParaRPr sz="1600">
              <a:latin typeface="Arial"/>
              <a:cs typeface="Arial"/>
            </a:endParaRPr>
          </a:p>
          <a:p>
            <a:pPr marR="442595" algn="ctr">
              <a:lnSpc>
                <a:spcPts val="1560"/>
              </a:lnSpc>
              <a:spcBef>
                <a:spcPts val="1080"/>
              </a:spcBef>
              <a:tabLst>
                <a:tab pos="6811645" algn="l"/>
              </a:tabLst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account_number</a:t>
            </a:r>
            <a:r>
              <a:rPr sz="1600" i="1" spc="-5" dirty="0">
                <a:latin typeface="Arial"/>
                <a:cs typeface="Arial"/>
              </a:rPr>
              <a:t>	recipient</a:t>
            </a:r>
            <a:endParaRPr sz="1600">
              <a:latin typeface="Arial"/>
              <a:cs typeface="Arial"/>
            </a:endParaRPr>
          </a:p>
          <a:p>
            <a:pPr marR="102235" algn="ctr">
              <a:lnSpc>
                <a:spcPts val="1560"/>
              </a:lnSpc>
              <a:tabLst>
                <a:tab pos="2584450" algn="l"/>
              </a:tabLst>
            </a:pPr>
            <a:r>
              <a:rPr sz="1600" i="1" spc="-5" dirty="0">
                <a:latin typeface="Arial"/>
                <a:cs typeface="Arial"/>
              </a:rPr>
              <a:t>balance	</a:t>
            </a:r>
            <a:r>
              <a:rPr sz="1600" i="1" u="dash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check_number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80"/>
              </a:spcBef>
            </a:pPr>
            <a:r>
              <a:rPr sz="1600" i="1" spc="-5" dirty="0">
                <a:latin typeface="Arial"/>
                <a:cs typeface="Arial"/>
              </a:rPr>
              <a:t>amount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16337" y="2344737"/>
            <a:ext cx="1685925" cy="1000125"/>
            <a:chOff x="3716337" y="2344737"/>
            <a:chExt cx="1685925" cy="1000125"/>
          </a:xfrm>
        </p:grpSpPr>
        <p:sp>
          <p:nvSpPr>
            <p:cNvPr id="16" name="object 16"/>
            <p:cNvSpPr/>
            <p:nvPr/>
          </p:nvSpPr>
          <p:spPr>
            <a:xfrm>
              <a:off x="3721100" y="23495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1676400" y="495300"/>
                  </a:moveTo>
                  <a:lnTo>
                    <a:pt x="838200" y="0"/>
                  </a:lnTo>
                  <a:lnTo>
                    <a:pt x="0" y="495300"/>
                  </a:lnTo>
                  <a:lnTo>
                    <a:pt x="838200" y="990600"/>
                  </a:lnTo>
                  <a:lnTo>
                    <a:pt x="1676400" y="495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21100" y="23495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838200" y="0"/>
                  </a:moveTo>
                  <a:lnTo>
                    <a:pt x="0" y="495300"/>
                  </a:lnTo>
                  <a:lnTo>
                    <a:pt x="838200" y="990600"/>
                  </a:lnTo>
                  <a:lnTo>
                    <a:pt x="1676400" y="495300"/>
                  </a:lnTo>
                  <a:lnTo>
                    <a:pt x="8382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73500" y="2425700"/>
              <a:ext cx="1371600" cy="838200"/>
            </a:xfrm>
            <a:custGeom>
              <a:avLst/>
              <a:gdLst/>
              <a:ahLst/>
              <a:cxnLst/>
              <a:rect l="l" t="t" r="r" b="b"/>
              <a:pathLst>
                <a:path w="1371600" h="838200">
                  <a:moveTo>
                    <a:pt x="1371600" y="419100"/>
                  </a:moveTo>
                  <a:lnTo>
                    <a:pt x="685800" y="0"/>
                  </a:lnTo>
                  <a:lnTo>
                    <a:pt x="0" y="419100"/>
                  </a:lnTo>
                  <a:lnTo>
                    <a:pt x="685800" y="838200"/>
                  </a:lnTo>
                  <a:lnTo>
                    <a:pt x="137160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73500" y="2425700"/>
              <a:ext cx="1371600" cy="838200"/>
            </a:xfrm>
            <a:custGeom>
              <a:avLst/>
              <a:gdLst/>
              <a:ahLst/>
              <a:cxnLst/>
              <a:rect l="l" t="t" r="r" b="b"/>
              <a:pathLst>
                <a:path w="1371600" h="838200">
                  <a:moveTo>
                    <a:pt x="685800" y="0"/>
                  </a:moveTo>
                  <a:lnTo>
                    <a:pt x="0" y="419100"/>
                  </a:lnTo>
                  <a:lnTo>
                    <a:pt x="685800" y="838200"/>
                  </a:lnTo>
                  <a:lnTo>
                    <a:pt x="1371600" y="419100"/>
                  </a:lnTo>
                  <a:lnTo>
                    <a:pt x="6858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90923" y="2704845"/>
            <a:ext cx="9410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check_txn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50973" y="2053844"/>
            <a:ext cx="684530" cy="524510"/>
          </a:xfrm>
          <a:custGeom>
            <a:avLst/>
            <a:gdLst/>
            <a:ahLst/>
            <a:cxnLst/>
            <a:rect l="l" t="t" r="r" b="b"/>
            <a:pathLst>
              <a:path w="684530" h="524510">
                <a:moveTo>
                  <a:pt x="0" y="0"/>
                </a:moveTo>
                <a:lnTo>
                  <a:pt x="284226" y="524255"/>
                </a:lnTo>
              </a:path>
              <a:path w="684530" h="524510">
                <a:moveTo>
                  <a:pt x="684276" y="152399"/>
                </a:moveTo>
                <a:lnTo>
                  <a:pt x="284226" y="52425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82900" y="2806700"/>
            <a:ext cx="843280" cy="76200"/>
          </a:xfrm>
          <a:custGeom>
            <a:avLst/>
            <a:gdLst/>
            <a:ahLst/>
            <a:cxnLst/>
            <a:rect l="l" t="t" r="r" b="b"/>
            <a:pathLst>
              <a:path w="843279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1"/>
                </a:lnTo>
                <a:lnTo>
                  <a:pt x="63246" y="33527"/>
                </a:lnTo>
                <a:lnTo>
                  <a:pt x="76200" y="33527"/>
                </a:lnTo>
                <a:close/>
              </a:path>
              <a:path w="843279" h="76200">
                <a:moveTo>
                  <a:pt x="842772" y="38100"/>
                </a:moveTo>
                <a:lnTo>
                  <a:pt x="841248" y="35051"/>
                </a:lnTo>
                <a:lnTo>
                  <a:pt x="838200" y="33527"/>
                </a:lnTo>
                <a:lnTo>
                  <a:pt x="63246" y="33527"/>
                </a:lnTo>
                <a:lnTo>
                  <a:pt x="60198" y="35051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6" y="42672"/>
                </a:lnTo>
                <a:lnTo>
                  <a:pt x="838200" y="42672"/>
                </a:lnTo>
                <a:lnTo>
                  <a:pt x="841248" y="41148"/>
                </a:lnTo>
                <a:lnTo>
                  <a:pt x="842772" y="38100"/>
                </a:lnTo>
                <a:close/>
              </a:path>
              <a:path w="843279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06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580" y="469900"/>
            <a:ext cx="72040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Weak</a:t>
            </a:r>
            <a:r>
              <a:rPr dirty="0"/>
              <a:t> </a:t>
            </a:r>
            <a:r>
              <a:rPr spc="-5" dirty="0"/>
              <a:t>Entity-Set</a:t>
            </a:r>
            <a:r>
              <a:rPr dirty="0"/>
              <a:t> </a:t>
            </a:r>
            <a:r>
              <a:rPr spc="-5" dirty="0"/>
              <a:t>Example</a:t>
            </a:r>
            <a:r>
              <a:rPr spc="5" dirty="0"/>
              <a:t> 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3063748"/>
            <a:ext cx="8454899" cy="30296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1009015" indent="-354965">
              <a:lnSpc>
                <a:spcPct val="998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Schemas for strong entity-sets: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student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username</a:t>
            </a:r>
            <a:r>
              <a:rPr sz="2400" dirty="0">
                <a:latin typeface="Arial MT"/>
                <a:cs typeface="Arial MT"/>
              </a:rPr>
              <a:t>)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assignment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shortname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due_date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url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354965" indent="-342900">
              <a:lnSpc>
                <a:spcPts val="3354"/>
              </a:lnSpc>
              <a:spcBef>
                <a:spcPts val="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Schema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submission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weak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entity-set:</a:t>
            </a:r>
          </a:p>
          <a:p>
            <a:pPr marL="755015" lvl="1" indent="-285750">
              <a:lnSpc>
                <a:spcPts val="2870"/>
              </a:lnSpc>
              <a:buChar char="–"/>
              <a:tabLst>
                <a:tab pos="755650" algn="l"/>
              </a:tabLst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Discriminator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version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5015" lvl="1" indent="-285750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student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assignment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owners!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590"/>
              </a:lnSpc>
            </a:pP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submission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username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spc="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shortname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spc="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version</a:t>
            </a:r>
            <a:r>
              <a:rPr sz="2400" spc="-5" dirty="0" err="1" smtClean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i="1" spc="-5" dirty="0" err="1" smtClean="0">
                <a:solidFill>
                  <a:srgbClr val="FF0000"/>
                </a:solidFill>
                <a:latin typeface="Arial"/>
                <a:cs typeface="Arial"/>
              </a:rPr>
              <a:t>submit_date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2349500"/>
            <a:ext cx="9906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00"/>
              </a:spcBef>
            </a:pPr>
            <a:r>
              <a:rPr sz="1600" i="1" spc="-5" dirty="0">
                <a:latin typeface="Arial"/>
                <a:cs typeface="Arial"/>
              </a:rPr>
              <a:t>student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00" y="2349500"/>
            <a:ext cx="12192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800"/>
              </a:spcBef>
            </a:pPr>
            <a:r>
              <a:rPr sz="1600" i="1" spc="-5" dirty="0">
                <a:latin typeface="Arial"/>
                <a:cs typeface="Arial"/>
              </a:rPr>
              <a:t>assignment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700" y="16637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609600" y="0"/>
                </a:moveTo>
                <a:lnTo>
                  <a:pt x="538483" y="1282"/>
                </a:lnTo>
                <a:lnTo>
                  <a:pt x="469782" y="5034"/>
                </a:lnTo>
                <a:lnTo>
                  <a:pt x="403954" y="11111"/>
                </a:lnTo>
                <a:lnTo>
                  <a:pt x="341455" y="19372"/>
                </a:lnTo>
                <a:lnTo>
                  <a:pt x="282742" y="29671"/>
                </a:lnTo>
                <a:lnTo>
                  <a:pt x="228271" y="41867"/>
                </a:lnTo>
                <a:lnTo>
                  <a:pt x="178498" y="55816"/>
                </a:lnTo>
                <a:lnTo>
                  <a:pt x="133880" y="71374"/>
                </a:lnTo>
                <a:lnTo>
                  <a:pt x="94875" y="88399"/>
                </a:lnTo>
                <a:lnTo>
                  <a:pt x="35524" y="126273"/>
                </a:lnTo>
                <a:lnTo>
                  <a:pt x="4099" y="168293"/>
                </a:lnTo>
                <a:lnTo>
                  <a:pt x="0" y="190500"/>
                </a:lnTo>
                <a:lnTo>
                  <a:pt x="4099" y="212706"/>
                </a:lnTo>
                <a:lnTo>
                  <a:pt x="35524" y="254726"/>
                </a:lnTo>
                <a:lnTo>
                  <a:pt x="94875" y="292600"/>
                </a:lnTo>
                <a:lnTo>
                  <a:pt x="133880" y="309625"/>
                </a:lnTo>
                <a:lnTo>
                  <a:pt x="178498" y="325183"/>
                </a:lnTo>
                <a:lnTo>
                  <a:pt x="228271" y="339132"/>
                </a:lnTo>
                <a:lnTo>
                  <a:pt x="282742" y="351328"/>
                </a:lnTo>
                <a:lnTo>
                  <a:pt x="341455" y="361627"/>
                </a:lnTo>
                <a:lnTo>
                  <a:pt x="403954" y="369888"/>
                </a:lnTo>
                <a:lnTo>
                  <a:pt x="469782" y="375965"/>
                </a:lnTo>
                <a:lnTo>
                  <a:pt x="538483" y="379717"/>
                </a:lnTo>
                <a:lnTo>
                  <a:pt x="609600" y="381000"/>
                </a:lnTo>
                <a:lnTo>
                  <a:pt x="680716" y="379717"/>
                </a:lnTo>
                <a:lnTo>
                  <a:pt x="749417" y="375965"/>
                </a:lnTo>
                <a:lnTo>
                  <a:pt x="815245" y="369888"/>
                </a:lnTo>
                <a:lnTo>
                  <a:pt x="877744" y="361627"/>
                </a:lnTo>
                <a:lnTo>
                  <a:pt x="936457" y="351328"/>
                </a:lnTo>
                <a:lnTo>
                  <a:pt x="990928" y="339132"/>
                </a:lnTo>
                <a:lnTo>
                  <a:pt x="1040701" y="325183"/>
                </a:lnTo>
                <a:lnTo>
                  <a:pt x="1085319" y="309625"/>
                </a:lnTo>
                <a:lnTo>
                  <a:pt x="1124324" y="292600"/>
                </a:lnTo>
                <a:lnTo>
                  <a:pt x="1183675" y="254726"/>
                </a:lnTo>
                <a:lnTo>
                  <a:pt x="1215100" y="212706"/>
                </a:lnTo>
                <a:lnTo>
                  <a:pt x="1219199" y="190500"/>
                </a:lnTo>
                <a:lnTo>
                  <a:pt x="1215100" y="168293"/>
                </a:lnTo>
                <a:lnTo>
                  <a:pt x="1183675" y="126273"/>
                </a:lnTo>
                <a:lnTo>
                  <a:pt x="1124324" y="88399"/>
                </a:lnTo>
                <a:lnTo>
                  <a:pt x="1085319" y="71374"/>
                </a:lnTo>
                <a:lnTo>
                  <a:pt x="1040701" y="55816"/>
                </a:lnTo>
                <a:lnTo>
                  <a:pt x="990928" y="41867"/>
                </a:lnTo>
                <a:lnTo>
                  <a:pt x="936457" y="29671"/>
                </a:lnTo>
                <a:lnTo>
                  <a:pt x="877744" y="19372"/>
                </a:lnTo>
                <a:lnTo>
                  <a:pt x="815245" y="11111"/>
                </a:lnTo>
                <a:lnTo>
                  <a:pt x="749417" y="5034"/>
                </a:lnTo>
                <a:lnTo>
                  <a:pt x="680716" y="1282"/>
                </a:lnTo>
                <a:lnTo>
                  <a:pt x="6096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4700" y="16637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609600" y="0"/>
                </a:moveTo>
                <a:lnTo>
                  <a:pt x="538483" y="1282"/>
                </a:lnTo>
                <a:lnTo>
                  <a:pt x="469782" y="5034"/>
                </a:lnTo>
                <a:lnTo>
                  <a:pt x="403954" y="11111"/>
                </a:lnTo>
                <a:lnTo>
                  <a:pt x="341455" y="19372"/>
                </a:lnTo>
                <a:lnTo>
                  <a:pt x="282742" y="29671"/>
                </a:lnTo>
                <a:lnTo>
                  <a:pt x="228271" y="41867"/>
                </a:lnTo>
                <a:lnTo>
                  <a:pt x="178498" y="55816"/>
                </a:lnTo>
                <a:lnTo>
                  <a:pt x="133880" y="71374"/>
                </a:lnTo>
                <a:lnTo>
                  <a:pt x="94875" y="88399"/>
                </a:lnTo>
                <a:lnTo>
                  <a:pt x="35524" y="126273"/>
                </a:lnTo>
                <a:lnTo>
                  <a:pt x="4099" y="168293"/>
                </a:lnTo>
                <a:lnTo>
                  <a:pt x="0" y="190499"/>
                </a:lnTo>
                <a:lnTo>
                  <a:pt x="4099" y="212706"/>
                </a:lnTo>
                <a:lnTo>
                  <a:pt x="35524" y="254726"/>
                </a:lnTo>
                <a:lnTo>
                  <a:pt x="94875" y="292600"/>
                </a:lnTo>
                <a:lnTo>
                  <a:pt x="133880" y="309625"/>
                </a:lnTo>
                <a:lnTo>
                  <a:pt x="178498" y="325183"/>
                </a:lnTo>
                <a:lnTo>
                  <a:pt x="228271" y="339132"/>
                </a:lnTo>
                <a:lnTo>
                  <a:pt x="282742" y="351328"/>
                </a:lnTo>
                <a:lnTo>
                  <a:pt x="341455" y="361627"/>
                </a:lnTo>
                <a:lnTo>
                  <a:pt x="403954" y="369888"/>
                </a:lnTo>
                <a:lnTo>
                  <a:pt x="469782" y="375965"/>
                </a:lnTo>
                <a:lnTo>
                  <a:pt x="538483" y="379717"/>
                </a:lnTo>
                <a:lnTo>
                  <a:pt x="609600" y="380999"/>
                </a:lnTo>
                <a:lnTo>
                  <a:pt x="680716" y="379717"/>
                </a:lnTo>
                <a:lnTo>
                  <a:pt x="749417" y="375965"/>
                </a:lnTo>
                <a:lnTo>
                  <a:pt x="815245" y="369888"/>
                </a:lnTo>
                <a:lnTo>
                  <a:pt x="877744" y="361627"/>
                </a:lnTo>
                <a:lnTo>
                  <a:pt x="936457" y="351328"/>
                </a:lnTo>
                <a:lnTo>
                  <a:pt x="990928" y="339132"/>
                </a:lnTo>
                <a:lnTo>
                  <a:pt x="1040701" y="325183"/>
                </a:lnTo>
                <a:lnTo>
                  <a:pt x="1085319" y="309625"/>
                </a:lnTo>
                <a:lnTo>
                  <a:pt x="1124324" y="292600"/>
                </a:lnTo>
                <a:lnTo>
                  <a:pt x="1183675" y="254726"/>
                </a:lnTo>
                <a:lnTo>
                  <a:pt x="1215100" y="212706"/>
                </a:lnTo>
                <a:lnTo>
                  <a:pt x="1219200" y="190499"/>
                </a:lnTo>
                <a:lnTo>
                  <a:pt x="1215100" y="168293"/>
                </a:lnTo>
                <a:lnTo>
                  <a:pt x="1183675" y="126273"/>
                </a:lnTo>
                <a:lnTo>
                  <a:pt x="1124324" y="88399"/>
                </a:lnTo>
                <a:lnTo>
                  <a:pt x="1085319" y="71374"/>
                </a:lnTo>
                <a:lnTo>
                  <a:pt x="1040701" y="55816"/>
                </a:lnTo>
                <a:lnTo>
                  <a:pt x="990928" y="41867"/>
                </a:lnTo>
                <a:lnTo>
                  <a:pt x="936457" y="29671"/>
                </a:lnTo>
                <a:lnTo>
                  <a:pt x="877744" y="19372"/>
                </a:lnTo>
                <a:lnTo>
                  <a:pt x="815245" y="11111"/>
                </a:lnTo>
                <a:lnTo>
                  <a:pt x="749417" y="5034"/>
                </a:lnTo>
                <a:lnTo>
                  <a:pt x="680716" y="1282"/>
                </a:lnTo>
                <a:lnTo>
                  <a:pt x="6096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6495" y="1714245"/>
            <a:ext cx="62922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18125" algn="l"/>
              </a:tabLst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username</a:t>
            </a:r>
            <a:r>
              <a:rPr sz="1600" i="1" spc="-5" dirty="0">
                <a:latin typeface="Arial"/>
                <a:cs typeface="Arial"/>
              </a:rPr>
              <a:t>	</a:t>
            </a: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shortname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26300" y="17399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609600" y="0"/>
                </a:moveTo>
                <a:lnTo>
                  <a:pt x="538483" y="1282"/>
                </a:lnTo>
                <a:lnTo>
                  <a:pt x="469782" y="5034"/>
                </a:lnTo>
                <a:lnTo>
                  <a:pt x="403954" y="11111"/>
                </a:lnTo>
                <a:lnTo>
                  <a:pt x="341455" y="19372"/>
                </a:lnTo>
                <a:lnTo>
                  <a:pt x="282742" y="29671"/>
                </a:lnTo>
                <a:lnTo>
                  <a:pt x="228271" y="41867"/>
                </a:lnTo>
                <a:lnTo>
                  <a:pt x="178498" y="55816"/>
                </a:lnTo>
                <a:lnTo>
                  <a:pt x="133880" y="71374"/>
                </a:lnTo>
                <a:lnTo>
                  <a:pt x="94875" y="88399"/>
                </a:lnTo>
                <a:lnTo>
                  <a:pt x="35524" y="126273"/>
                </a:lnTo>
                <a:lnTo>
                  <a:pt x="4099" y="168293"/>
                </a:lnTo>
                <a:lnTo>
                  <a:pt x="0" y="190499"/>
                </a:lnTo>
                <a:lnTo>
                  <a:pt x="4099" y="212706"/>
                </a:lnTo>
                <a:lnTo>
                  <a:pt x="35524" y="254726"/>
                </a:lnTo>
                <a:lnTo>
                  <a:pt x="94875" y="292600"/>
                </a:lnTo>
                <a:lnTo>
                  <a:pt x="133880" y="309625"/>
                </a:lnTo>
                <a:lnTo>
                  <a:pt x="178498" y="325183"/>
                </a:lnTo>
                <a:lnTo>
                  <a:pt x="228271" y="339132"/>
                </a:lnTo>
                <a:lnTo>
                  <a:pt x="282742" y="351328"/>
                </a:lnTo>
                <a:lnTo>
                  <a:pt x="341455" y="361627"/>
                </a:lnTo>
                <a:lnTo>
                  <a:pt x="403954" y="369888"/>
                </a:lnTo>
                <a:lnTo>
                  <a:pt x="469782" y="375965"/>
                </a:lnTo>
                <a:lnTo>
                  <a:pt x="538483" y="379717"/>
                </a:lnTo>
                <a:lnTo>
                  <a:pt x="609600" y="380999"/>
                </a:lnTo>
                <a:lnTo>
                  <a:pt x="680716" y="379717"/>
                </a:lnTo>
                <a:lnTo>
                  <a:pt x="749417" y="375965"/>
                </a:lnTo>
                <a:lnTo>
                  <a:pt x="815245" y="369888"/>
                </a:lnTo>
                <a:lnTo>
                  <a:pt x="877744" y="361627"/>
                </a:lnTo>
                <a:lnTo>
                  <a:pt x="936457" y="351328"/>
                </a:lnTo>
                <a:lnTo>
                  <a:pt x="990928" y="339132"/>
                </a:lnTo>
                <a:lnTo>
                  <a:pt x="1040701" y="325183"/>
                </a:lnTo>
                <a:lnTo>
                  <a:pt x="1085319" y="309625"/>
                </a:lnTo>
                <a:lnTo>
                  <a:pt x="1124324" y="292600"/>
                </a:lnTo>
                <a:lnTo>
                  <a:pt x="1183675" y="254726"/>
                </a:lnTo>
                <a:lnTo>
                  <a:pt x="1215100" y="212706"/>
                </a:lnTo>
                <a:lnTo>
                  <a:pt x="1219200" y="190499"/>
                </a:lnTo>
                <a:lnTo>
                  <a:pt x="1215100" y="168293"/>
                </a:lnTo>
                <a:lnTo>
                  <a:pt x="1183675" y="126273"/>
                </a:lnTo>
                <a:lnTo>
                  <a:pt x="1124324" y="88399"/>
                </a:lnTo>
                <a:lnTo>
                  <a:pt x="1085319" y="71374"/>
                </a:lnTo>
                <a:lnTo>
                  <a:pt x="1040701" y="55816"/>
                </a:lnTo>
                <a:lnTo>
                  <a:pt x="990928" y="41867"/>
                </a:lnTo>
                <a:lnTo>
                  <a:pt x="936457" y="29671"/>
                </a:lnTo>
                <a:lnTo>
                  <a:pt x="877744" y="19372"/>
                </a:lnTo>
                <a:lnTo>
                  <a:pt x="815245" y="11111"/>
                </a:lnTo>
                <a:lnTo>
                  <a:pt x="749417" y="5034"/>
                </a:lnTo>
                <a:lnTo>
                  <a:pt x="680716" y="1282"/>
                </a:lnTo>
                <a:lnTo>
                  <a:pt x="609600" y="0"/>
                </a:lnTo>
                <a:close/>
              </a:path>
              <a:path w="1600200" h="838200">
                <a:moveTo>
                  <a:pt x="1257300" y="457199"/>
                </a:moveTo>
                <a:lnTo>
                  <a:pt x="1195568" y="460270"/>
                </a:lnTo>
                <a:lnTo>
                  <a:pt x="1137506" y="469124"/>
                </a:lnTo>
                <a:lnTo>
                  <a:pt x="1084071" y="483220"/>
                </a:lnTo>
                <a:lnTo>
                  <a:pt x="1036225" y="502021"/>
                </a:lnTo>
                <a:lnTo>
                  <a:pt x="994927" y="524985"/>
                </a:lnTo>
                <a:lnTo>
                  <a:pt x="961135" y="551575"/>
                </a:lnTo>
                <a:lnTo>
                  <a:pt x="935811" y="581250"/>
                </a:lnTo>
                <a:lnTo>
                  <a:pt x="914400" y="647699"/>
                </a:lnTo>
                <a:lnTo>
                  <a:pt x="919912" y="681928"/>
                </a:lnTo>
                <a:lnTo>
                  <a:pt x="961135" y="743824"/>
                </a:lnTo>
                <a:lnTo>
                  <a:pt x="994927" y="770414"/>
                </a:lnTo>
                <a:lnTo>
                  <a:pt x="1036225" y="793378"/>
                </a:lnTo>
                <a:lnTo>
                  <a:pt x="1084071" y="812179"/>
                </a:lnTo>
                <a:lnTo>
                  <a:pt x="1137506" y="826275"/>
                </a:lnTo>
                <a:lnTo>
                  <a:pt x="1195568" y="835129"/>
                </a:lnTo>
                <a:lnTo>
                  <a:pt x="1257300" y="838199"/>
                </a:lnTo>
                <a:lnTo>
                  <a:pt x="1319031" y="835129"/>
                </a:lnTo>
                <a:lnTo>
                  <a:pt x="1377093" y="826275"/>
                </a:lnTo>
                <a:lnTo>
                  <a:pt x="1430528" y="812179"/>
                </a:lnTo>
                <a:lnTo>
                  <a:pt x="1478374" y="793378"/>
                </a:lnTo>
                <a:lnTo>
                  <a:pt x="1519672" y="770414"/>
                </a:lnTo>
                <a:lnTo>
                  <a:pt x="1553464" y="743824"/>
                </a:lnTo>
                <a:lnTo>
                  <a:pt x="1578788" y="714149"/>
                </a:lnTo>
                <a:lnTo>
                  <a:pt x="1600200" y="647699"/>
                </a:lnTo>
                <a:lnTo>
                  <a:pt x="1594687" y="613471"/>
                </a:lnTo>
                <a:lnTo>
                  <a:pt x="1553464" y="551575"/>
                </a:lnTo>
                <a:lnTo>
                  <a:pt x="1519672" y="524985"/>
                </a:lnTo>
                <a:lnTo>
                  <a:pt x="1478374" y="502021"/>
                </a:lnTo>
                <a:lnTo>
                  <a:pt x="1430528" y="483220"/>
                </a:lnTo>
                <a:lnTo>
                  <a:pt x="1377093" y="469124"/>
                </a:lnTo>
                <a:lnTo>
                  <a:pt x="1319031" y="460270"/>
                </a:lnTo>
                <a:lnTo>
                  <a:pt x="1257300" y="4571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58123" y="2247645"/>
            <a:ext cx="2514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url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30300" y="20447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099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663700" y="1735137"/>
            <a:ext cx="6482080" cy="881380"/>
            <a:chOff x="1663700" y="1735137"/>
            <a:chExt cx="6482080" cy="881380"/>
          </a:xfrm>
        </p:grpSpPr>
        <p:sp>
          <p:nvSpPr>
            <p:cNvPr id="13" name="object 13"/>
            <p:cNvSpPr/>
            <p:nvPr/>
          </p:nvSpPr>
          <p:spPr>
            <a:xfrm>
              <a:off x="6896353" y="1989074"/>
              <a:ext cx="1244600" cy="589280"/>
            </a:xfrm>
            <a:custGeom>
              <a:avLst/>
              <a:gdLst/>
              <a:ahLst/>
              <a:cxnLst/>
              <a:rect l="l" t="t" r="r" b="b"/>
              <a:pathLst>
                <a:path w="1244600" h="589280">
                  <a:moveTo>
                    <a:pt x="253746" y="360425"/>
                  </a:moveTo>
                  <a:lnTo>
                    <a:pt x="0" y="0"/>
                  </a:lnTo>
                </a:path>
                <a:path w="1244600" h="589280">
                  <a:moveTo>
                    <a:pt x="253746" y="360425"/>
                  </a:moveTo>
                  <a:lnTo>
                    <a:pt x="507492" y="76199"/>
                  </a:lnTo>
                </a:path>
                <a:path w="1244600" h="589280">
                  <a:moveTo>
                    <a:pt x="863346" y="589025"/>
                  </a:moveTo>
                  <a:lnTo>
                    <a:pt x="1244346" y="3985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7328" y="2540000"/>
              <a:ext cx="233172" cy="76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3700" y="2540000"/>
              <a:ext cx="233172" cy="76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01900" y="1739900"/>
              <a:ext cx="2743200" cy="381000"/>
            </a:xfrm>
            <a:custGeom>
              <a:avLst/>
              <a:gdLst/>
              <a:ahLst/>
              <a:cxnLst/>
              <a:rect l="l" t="t" r="r" b="b"/>
              <a:pathLst>
                <a:path w="2743200" h="381000">
                  <a:moveTo>
                    <a:pt x="685800" y="0"/>
                  </a:moveTo>
                  <a:lnTo>
                    <a:pt x="615688" y="984"/>
                  </a:lnTo>
                  <a:lnTo>
                    <a:pt x="547599" y="3872"/>
                  </a:lnTo>
                  <a:lnTo>
                    <a:pt x="481879" y="8569"/>
                  </a:lnTo>
                  <a:lnTo>
                    <a:pt x="418873" y="14978"/>
                  </a:lnTo>
                  <a:lnTo>
                    <a:pt x="358925" y="23003"/>
                  </a:lnTo>
                  <a:lnTo>
                    <a:pt x="302381" y="32548"/>
                  </a:lnTo>
                  <a:lnTo>
                    <a:pt x="249585" y="43518"/>
                  </a:lnTo>
                  <a:lnTo>
                    <a:pt x="200882" y="55816"/>
                  </a:lnTo>
                  <a:lnTo>
                    <a:pt x="156617" y="69346"/>
                  </a:lnTo>
                  <a:lnTo>
                    <a:pt x="117135" y="84013"/>
                  </a:lnTo>
                  <a:lnTo>
                    <a:pt x="53899" y="116371"/>
                  </a:lnTo>
                  <a:lnTo>
                    <a:pt x="13934" y="152123"/>
                  </a:lnTo>
                  <a:lnTo>
                    <a:pt x="0" y="190499"/>
                  </a:lnTo>
                  <a:lnTo>
                    <a:pt x="3541" y="209968"/>
                  </a:lnTo>
                  <a:lnTo>
                    <a:pt x="30835" y="247128"/>
                  </a:lnTo>
                  <a:lnTo>
                    <a:pt x="82780" y="281279"/>
                  </a:lnTo>
                  <a:lnTo>
                    <a:pt x="156617" y="311653"/>
                  </a:lnTo>
                  <a:lnTo>
                    <a:pt x="200882" y="325183"/>
                  </a:lnTo>
                  <a:lnTo>
                    <a:pt x="249585" y="337481"/>
                  </a:lnTo>
                  <a:lnTo>
                    <a:pt x="302381" y="348451"/>
                  </a:lnTo>
                  <a:lnTo>
                    <a:pt x="358925" y="357996"/>
                  </a:lnTo>
                  <a:lnTo>
                    <a:pt x="418873" y="366021"/>
                  </a:lnTo>
                  <a:lnTo>
                    <a:pt x="481879" y="372430"/>
                  </a:lnTo>
                  <a:lnTo>
                    <a:pt x="547599" y="377127"/>
                  </a:lnTo>
                  <a:lnTo>
                    <a:pt x="615688" y="380015"/>
                  </a:lnTo>
                  <a:lnTo>
                    <a:pt x="685800" y="380999"/>
                  </a:lnTo>
                  <a:lnTo>
                    <a:pt x="755911" y="380015"/>
                  </a:lnTo>
                  <a:lnTo>
                    <a:pt x="824000" y="377127"/>
                  </a:lnTo>
                  <a:lnTo>
                    <a:pt x="889720" y="372430"/>
                  </a:lnTo>
                  <a:lnTo>
                    <a:pt x="952726" y="366021"/>
                  </a:lnTo>
                  <a:lnTo>
                    <a:pt x="1012674" y="357996"/>
                  </a:lnTo>
                  <a:lnTo>
                    <a:pt x="1069218" y="348451"/>
                  </a:lnTo>
                  <a:lnTo>
                    <a:pt x="1122014" y="337481"/>
                  </a:lnTo>
                  <a:lnTo>
                    <a:pt x="1170717" y="325183"/>
                  </a:lnTo>
                  <a:lnTo>
                    <a:pt x="1214982" y="311653"/>
                  </a:lnTo>
                  <a:lnTo>
                    <a:pt x="1254464" y="296986"/>
                  </a:lnTo>
                  <a:lnTo>
                    <a:pt x="1317700" y="264628"/>
                  </a:lnTo>
                  <a:lnTo>
                    <a:pt x="1357665" y="228876"/>
                  </a:lnTo>
                  <a:lnTo>
                    <a:pt x="1371600" y="190499"/>
                  </a:lnTo>
                  <a:lnTo>
                    <a:pt x="1368058" y="171031"/>
                  </a:lnTo>
                  <a:lnTo>
                    <a:pt x="1340764" y="133871"/>
                  </a:lnTo>
                  <a:lnTo>
                    <a:pt x="1288819" y="99720"/>
                  </a:lnTo>
                  <a:lnTo>
                    <a:pt x="1214982" y="69346"/>
                  </a:lnTo>
                  <a:lnTo>
                    <a:pt x="1170717" y="55816"/>
                  </a:lnTo>
                  <a:lnTo>
                    <a:pt x="1122014" y="43518"/>
                  </a:lnTo>
                  <a:lnTo>
                    <a:pt x="1069218" y="32548"/>
                  </a:lnTo>
                  <a:lnTo>
                    <a:pt x="1012674" y="23003"/>
                  </a:lnTo>
                  <a:lnTo>
                    <a:pt x="952726" y="14978"/>
                  </a:lnTo>
                  <a:lnTo>
                    <a:pt x="889720" y="8569"/>
                  </a:lnTo>
                  <a:lnTo>
                    <a:pt x="824000" y="3872"/>
                  </a:lnTo>
                  <a:lnTo>
                    <a:pt x="755911" y="984"/>
                  </a:lnTo>
                  <a:lnTo>
                    <a:pt x="685800" y="0"/>
                  </a:lnTo>
                  <a:close/>
                </a:path>
                <a:path w="2743200" h="381000">
                  <a:moveTo>
                    <a:pt x="2362200" y="0"/>
                  </a:moveTo>
                  <a:lnTo>
                    <a:pt x="2300426" y="2494"/>
                  </a:lnTo>
                  <a:lnTo>
                    <a:pt x="2241816" y="9717"/>
                  </a:lnTo>
                  <a:lnTo>
                    <a:pt x="2187156" y="21273"/>
                  </a:lnTo>
                  <a:lnTo>
                    <a:pt x="2137233" y="36771"/>
                  </a:lnTo>
                  <a:lnTo>
                    <a:pt x="2092832" y="55816"/>
                  </a:lnTo>
                  <a:lnTo>
                    <a:pt x="2054742" y="78016"/>
                  </a:lnTo>
                  <a:lnTo>
                    <a:pt x="2023747" y="102978"/>
                  </a:lnTo>
                  <a:lnTo>
                    <a:pt x="1986189" y="159613"/>
                  </a:lnTo>
                  <a:lnTo>
                    <a:pt x="1981200" y="190499"/>
                  </a:lnTo>
                  <a:lnTo>
                    <a:pt x="1986189" y="221386"/>
                  </a:lnTo>
                  <a:lnTo>
                    <a:pt x="2023747" y="278021"/>
                  </a:lnTo>
                  <a:lnTo>
                    <a:pt x="2054742" y="302983"/>
                  </a:lnTo>
                  <a:lnTo>
                    <a:pt x="2092833" y="325183"/>
                  </a:lnTo>
                  <a:lnTo>
                    <a:pt x="2137233" y="344228"/>
                  </a:lnTo>
                  <a:lnTo>
                    <a:pt x="2187156" y="359726"/>
                  </a:lnTo>
                  <a:lnTo>
                    <a:pt x="2241816" y="371282"/>
                  </a:lnTo>
                  <a:lnTo>
                    <a:pt x="2300426" y="378505"/>
                  </a:lnTo>
                  <a:lnTo>
                    <a:pt x="2362200" y="380999"/>
                  </a:lnTo>
                  <a:lnTo>
                    <a:pt x="2423973" y="378505"/>
                  </a:lnTo>
                  <a:lnTo>
                    <a:pt x="2482583" y="371282"/>
                  </a:lnTo>
                  <a:lnTo>
                    <a:pt x="2537243" y="359726"/>
                  </a:lnTo>
                  <a:lnTo>
                    <a:pt x="2587166" y="344228"/>
                  </a:lnTo>
                  <a:lnTo>
                    <a:pt x="2631567" y="325183"/>
                  </a:lnTo>
                  <a:lnTo>
                    <a:pt x="2669657" y="302983"/>
                  </a:lnTo>
                  <a:lnTo>
                    <a:pt x="2700652" y="278021"/>
                  </a:lnTo>
                  <a:lnTo>
                    <a:pt x="2738210" y="221386"/>
                  </a:lnTo>
                  <a:lnTo>
                    <a:pt x="2743200" y="190499"/>
                  </a:lnTo>
                  <a:lnTo>
                    <a:pt x="2738210" y="159613"/>
                  </a:lnTo>
                  <a:lnTo>
                    <a:pt x="2700652" y="102978"/>
                  </a:lnTo>
                  <a:lnTo>
                    <a:pt x="2669657" y="78016"/>
                  </a:lnTo>
                  <a:lnTo>
                    <a:pt x="2631566" y="55816"/>
                  </a:lnTo>
                  <a:lnTo>
                    <a:pt x="2587166" y="36771"/>
                  </a:lnTo>
                  <a:lnTo>
                    <a:pt x="2537243" y="21273"/>
                  </a:lnTo>
                  <a:lnTo>
                    <a:pt x="2482583" y="9717"/>
                  </a:lnTo>
                  <a:lnTo>
                    <a:pt x="2423973" y="2494"/>
                  </a:lnTo>
                  <a:lnTo>
                    <a:pt x="23622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22550" y="1790445"/>
            <a:ext cx="56508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4700" algn="l"/>
                <a:tab pos="4791075" algn="l"/>
              </a:tabLst>
            </a:pPr>
            <a:r>
              <a:rPr sz="1600" i="1" spc="-5" dirty="0">
                <a:latin typeface="Arial"/>
                <a:cs typeface="Arial"/>
              </a:rPr>
              <a:t>submit_dat</a:t>
            </a:r>
            <a:r>
              <a:rPr sz="1600" i="1" dirty="0">
                <a:latin typeface="Arial"/>
                <a:cs typeface="Arial"/>
              </a:rPr>
              <a:t>e	</a:t>
            </a:r>
            <a:r>
              <a:rPr sz="1600" i="1" spc="-5" dirty="0">
                <a:latin typeface="Arial"/>
                <a:cs typeface="Arial"/>
              </a:rPr>
              <a:t>dat</a:t>
            </a:r>
            <a:r>
              <a:rPr sz="1600" i="1" dirty="0">
                <a:latin typeface="Arial"/>
                <a:cs typeface="Arial"/>
              </a:rPr>
              <a:t>a	</a:t>
            </a:r>
            <a:r>
              <a:rPr sz="1600" i="1" spc="-5" dirty="0">
                <a:latin typeface="Arial"/>
                <a:cs typeface="Arial"/>
              </a:rPr>
              <a:t>due_date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0537" y="2060511"/>
            <a:ext cx="2143125" cy="827405"/>
            <a:chOff x="3030537" y="2060511"/>
            <a:chExt cx="2143125" cy="827405"/>
          </a:xfrm>
        </p:grpSpPr>
        <p:sp>
          <p:nvSpPr>
            <p:cNvPr id="19" name="object 19"/>
            <p:cNvSpPr/>
            <p:nvPr/>
          </p:nvSpPr>
          <p:spPr>
            <a:xfrm>
              <a:off x="3671569" y="2065273"/>
              <a:ext cx="923290" cy="208279"/>
            </a:xfrm>
            <a:custGeom>
              <a:avLst/>
              <a:gdLst/>
              <a:ahLst/>
              <a:cxnLst/>
              <a:rect l="l" t="t" r="r" b="b"/>
              <a:pathLst>
                <a:path w="923289" h="208280">
                  <a:moveTo>
                    <a:pt x="430529" y="208025"/>
                  </a:moveTo>
                  <a:lnTo>
                    <a:pt x="922781" y="0"/>
                  </a:lnTo>
                </a:path>
                <a:path w="923289" h="208280">
                  <a:moveTo>
                    <a:pt x="0" y="0"/>
                  </a:moveTo>
                  <a:lnTo>
                    <a:pt x="430529" y="2080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35300" y="2539999"/>
              <a:ext cx="2133600" cy="76200"/>
            </a:xfrm>
            <a:custGeom>
              <a:avLst/>
              <a:gdLst/>
              <a:ahLst/>
              <a:cxnLst/>
              <a:rect l="l" t="t" r="r" b="b"/>
              <a:pathLst>
                <a:path w="2133600" h="76200">
                  <a:moveTo>
                    <a:pt x="0" y="76200"/>
                  </a:moveTo>
                  <a:lnTo>
                    <a:pt x="381000" y="76200"/>
                  </a:lnTo>
                </a:path>
                <a:path w="2133600" h="76200">
                  <a:moveTo>
                    <a:pt x="0" y="0"/>
                  </a:moveTo>
                  <a:lnTo>
                    <a:pt x="381000" y="0"/>
                  </a:lnTo>
                </a:path>
                <a:path w="2133600" h="76200">
                  <a:moveTo>
                    <a:pt x="1752600" y="76200"/>
                  </a:moveTo>
                  <a:lnTo>
                    <a:pt x="2133600" y="76200"/>
                  </a:lnTo>
                </a:path>
                <a:path w="2133600" h="76200">
                  <a:moveTo>
                    <a:pt x="1752600" y="0"/>
                  </a:moveTo>
                  <a:lnTo>
                    <a:pt x="2133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16300" y="2273299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0" y="609600"/>
                  </a:lnTo>
                  <a:lnTo>
                    <a:pt x="1371600" y="609600"/>
                  </a:lnTo>
                  <a:lnTo>
                    <a:pt x="137160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92500" y="2349500"/>
            <a:ext cx="12192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800"/>
              </a:spcBef>
            </a:pPr>
            <a:r>
              <a:rPr sz="1600" i="1" spc="-5" dirty="0">
                <a:latin typeface="Arial"/>
                <a:cs typeface="Arial"/>
              </a:rPr>
              <a:t>submission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87537" y="1792287"/>
            <a:ext cx="2276475" cy="1171575"/>
            <a:chOff x="1887537" y="1792287"/>
            <a:chExt cx="2276475" cy="1171575"/>
          </a:xfrm>
        </p:grpSpPr>
        <p:sp>
          <p:nvSpPr>
            <p:cNvPr id="24" name="object 24"/>
            <p:cNvSpPr/>
            <p:nvPr/>
          </p:nvSpPr>
          <p:spPr>
            <a:xfrm>
              <a:off x="4102100" y="18161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-4762"/>
                  </a:moveTo>
                  <a:lnTo>
                    <a:pt x="19050" y="461962"/>
                  </a:lnTo>
                </a:path>
              </a:pathLst>
            </a:custGeom>
            <a:ln w="47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92300" y="2197100"/>
              <a:ext cx="1371600" cy="762000"/>
            </a:xfrm>
            <a:custGeom>
              <a:avLst/>
              <a:gdLst/>
              <a:ahLst/>
              <a:cxnLst/>
              <a:rect l="l" t="t" r="r" b="b"/>
              <a:pathLst>
                <a:path w="1371600" h="762000">
                  <a:moveTo>
                    <a:pt x="1371599" y="380999"/>
                  </a:moveTo>
                  <a:lnTo>
                    <a:pt x="685799" y="0"/>
                  </a:lnTo>
                  <a:lnTo>
                    <a:pt x="0" y="381000"/>
                  </a:lnTo>
                  <a:lnTo>
                    <a:pt x="685800" y="762000"/>
                  </a:lnTo>
                  <a:lnTo>
                    <a:pt x="1371599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92300" y="2197100"/>
              <a:ext cx="1371600" cy="762000"/>
            </a:xfrm>
            <a:custGeom>
              <a:avLst/>
              <a:gdLst/>
              <a:ahLst/>
              <a:cxnLst/>
              <a:rect l="l" t="t" r="r" b="b"/>
              <a:pathLst>
                <a:path w="1371600" h="762000">
                  <a:moveTo>
                    <a:pt x="685799" y="0"/>
                  </a:moveTo>
                  <a:lnTo>
                    <a:pt x="0" y="381000"/>
                  </a:lnTo>
                  <a:lnTo>
                    <a:pt x="685800" y="762000"/>
                  </a:lnTo>
                  <a:lnTo>
                    <a:pt x="1371599" y="380999"/>
                  </a:lnTo>
                  <a:lnTo>
                    <a:pt x="68579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44700" y="22733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1066799" y="304799"/>
                  </a:moveTo>
                  <a:lnTo>
                    <a:pt x="533399" y="0"/>
                  </a:lnTo>
                  <a:lnTo>
                    <a:pt x="0" y="304800"/>
                  </a:lnTo>
                  <a:lnTo>
                    <a:pt x="533400" y="609600"/>
                  </a:lnTo>
                  <a:lnTo>
                    <a:pt x="1066799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44700" y="22733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533399" y="0"/>
                  </a:moveTo>
                  <a:lnTo>
                    <a:pt x="0" y="304800"/>
                  </a:lnTo>
                  <a:lnTo>
                    <a:pt x="533400" y="609600"/>
                  </a:lnTo>
                  <a:lnTo>
                    <a:pt x="1066799" y="304799"/>
                  </a:lnTo>
                  <a:lnTo>
                    <a:pt x="53339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266695" y="2438145"/>
            <a:ext cx="623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submit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35537" y="2192337"/>
            <a:ext cx="1381125" cy="771525"/>
            <a:chOff x="4935537" y="2192337"/>
            <a:chExt cx="1381125" cy="771525"/>
          </a:xfrm>
        </p:grpSpPr>
        <p:sp>
          <p:nvSpPr>
            <p:cNvPr id="31" name="object 31"/>
            <p:cNvSpPr/>
            <p:nvPr/>
          </p:nvSpPr>
          <p:spPr>
            <a:xfrm>
              <a:off x="4940300" y="2197100"/>
              <a:ext cx="1371600" cy="762000"/>
            </a:xfrm>
            <a:custGeom>
              <a:avLst/>
              <a:gdLst/>
              <a:ahLst/>
              <a:cxnLst/>
              <a:rect l="l" t="t" r="r" b="b"/>
              <a:pathLst>
                <a:path w="1371600" h="762000">
                  <a:moveTo>
                    <a:pt x="1371600" y="380999"/>
                  </a:moveTo>
                  <a:lnTo>
                    <a:pt x="685800" y="0"/>
                  </a:lnTo>
                  <a:lnTo>
                    <a:pt x="0" y="380999"/>
                  </a:lnTo>
                  <a:lnTo>
                    <a:pt x="685800" y="761999"/>
                  </a:lnTo>
                  <a:lnTo>
                    <a:pt x="1371600" y="38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40300" y="2197100"/>
              <a:ext cx="1371600" cy="762000"/>
            </a:xfrm>
            <a:custGeom>
              <a:avLst/>
              <a:gdLst/>
              <a:ahLst/>
              <a:cxnLst/>
              <a:rect l="l" t="t" r="r" b="b"/>
              <a:pathLst>
                <a:path w="1371600" h="762000">
                  <a:moveTo>
                    <a:pt x="685800" y="0"/>
                  </a:moveTo>
                  <a:lnTo>
                    <a:pt x="0" y="380999"/>
                  </a:lnTo>
                  <a:lnTo>
                    <a:pt x="685800" y="761999"/>
                  </a:lnTo>
                  <a:lnTo>
                    <a:pt x="1371600" y="380999"/>
                  </a:lnTo>
                  <a:lnTo>
                    <a:pt x="6858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92700" y="22733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1066800" y="304799"/>
                  </a:moveTo>
                  <a:lnTo>
                    <a:pt x="533400" y="0"/>
                  </a:lnTo>
                  <a:lnTo>
                    <a:pt x="0" y="304799"/>
                  </a:lnTo>
                  <a:lnTo>
                    <a:pt x="533400" y="609599"/>
                  </a:lnTo>
                  <a:lnTo>
                    <a:pt x="1066800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92700" y="22733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533400" y="0"/>
                  </a:moveTo>
                  <a:lnTo>
                    <a:pt x="0" y="304799"/>
                  </a:lnTo>
                  <a:lnTo>
                    <a:pt x="533400" y="609599"/>
                  </a:lnTo>
                  <a:lnTo>
                    <a:pt x="1066800" y="304799"/>
                  </a:lnTo>
                  <a:lnTo>
                    <a:pt x="5334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01920" y="2438145"/>
            <a:ext cx="8496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complete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16337" y="1430337"/>
            <a:ext cx="847725" cy="390525"/>
            <a:chOff x="3716337" y="1430337"/>
            <a:chExt cx="847725" cy="390525"/>
          </a:xfrm>
        </p:grpSpPr>
        <p:sp>
          <p:nvSpPr>
            <p:cNvPr id="37" name="object 37"/>
            <p:cNvSpPr/>
            <p:nvPr/>
          </p:nvSpPr>
          <p:spPr>
            <a:xfrm>
              <a:off x="3721100" y="1435100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838200" y="190499"/>
                  </a:moveTo>
                  <a:lnTo>
                    <a:pt x="820470" y="135500"/>
                  </a:lnTo>
                  <a:lnTo>
                    <a:pt x="770727" y="86794"/>
                  </a:lnTo>
                  <a:lnTo>
                    <a:pt x="735464" y="65540"/>
                  </a:lnTo>
                  <a:lnTo>
                    <a:pt x="694135" y="46744"/>
                  </a:lnTo>
                  <a:lnTo>
                    <a:pt x="647386" y="30704"/>
                  </a:lnTo>
                  <a:lnTo>
                    <a:pt x="595862" y="17714"/>
                  </a:lnTo>
                  <a:lnTo>
                    <a:pt x="540209" y="8069"/>
                  </a:lnTo>
                  <a:lnTo>
                    <a:pt x="481073" y="2066"/>
                  </a:lnTo>
                  <a:lnTo>
                    <a:pt x="419100" y="0"/>
                  </a:lnTo>
                  <a:lnTo>
                    <a:pt x="357126" y="2066"/>
                  </a:lnTo>
                  <a:lnTo>
                    <a:pt x="297990" y="8069"/>
                  </a:lnTo>
                  <a:lnTo>
                    <a:pt x="242337" y="17714"/>
                  </a:lnTo>
                  <a:lnTo>
                    <a:pt x="190813" y="30704"/>
                  </a:lnTo>
                  <a:lnTo>
                    <a:pt x="144064" y="46744"/>
                  </a:lnTo>
                  <a:lnTo>
                    <a:pt x="102735" y="65540"/>
                  </a:lnTo>
                  <a:lnTo>
                    <a:pt x="67472" y="86794"/>
                  </a:lnTo>
                  <a:lnTo>
                    <a:pt x="17729" y="135500"/>
                  </a:lnTo>
                  <a:lnTo>
                    <a:pt x="0" y="190499"/>
                  </a:lnTo>
                  <a:lnTo>
                    <a:pt x="4539" y="218638"/>
                  </a:lnTo>
                  <a:lnTo>
                    <a:pt x="38922" y="270786"/>
                  </a:lnTo>
                  <a:lnTo>
                    <a:pt x="102735" y="315459"/>
                  </a:lnTo>
                  <a:lnTo>
                    <a:pt x="144064" y="334255"/>
                  </a:lnTo>
                  <a:lnTo>
                    <a:pt x="190813" y="350295"/>
                  </a:lnTo>
                  <a:lnTo>
                    <a:pt x="242337" y="363285"/>
                  </a:lnTo>
                  <a:lnTo>
                    <a:pt x="297990" y="372930"/>
                  </a:lnTo>
                  <a:lnTo>
                    <a:pt x="357126" y="378933"/>
                  </a:lnTo>
                  <a:lnTo>
                    <a:pt x="419100" y="380999"/>
                  </a:lnTo>
                  <a:lnTo>
                    <a:pt x="481073" y="378933"/>
                  </a:lnTo>
                  <a:lnTo>
                    <a:pt x="540209" y="372930"/>
                  </a:lnTo>
                  <a:lnTo>
                    <a:pt x="595862" y="363285"/>
                  </a:lnTo>
                  <a:lnTo>
                    <a:pt x="647386" y="350295"/>
                  </a:lnTo>
                  <a:lnTo>
                    <a:pt x="694135" y="334255"/>
                  </a:lnTo>
                  <a:lnTo>
                    <a:pt x="735464" y="315459"/>
                  </a:lnTo>
                  <a:lnTo>
                    <a:pt x="770727" y="294205"/>
                  </a:lnTo>
                  <a:lnTo>
                    <a:pt x="820470" y="245499"/>
                  </a:lnTo>
                  <a:lnTo>
                    <a:pt x="838200" y="19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21100" y="1435100"/>
              <a:ext cx="838200" cy="381000"/>
            </a:xfrm>
            <a:custGeom>
              <a:avLst/>
              <a:gdLst/>
              <a:ahLst/>
              <a:cxnLst/>
              <a:rect l="l" t="t" r="r" b="b"/>
              <a:pathLst>
                <a:path w="838200" h="381000">
                  <a:moveTo>
                    <a:pt x="419100" y="0"/>
                  </a:moveTo>
                  <a:lnTo>
                    <a:pt x="357126" y="2066"/>
                  </a:lnTo>
                  <a:lnTo>
                    <a:pt x="297990" y="8069"/>
                  </a:lnTo>
                  <a:lnTo>
                    <a:pt x="242337" y="17714"/>
                  </a:lnTo>
                  <a:lnTo>
                    <a:pt x="190813" y="30704"/>
                  </a:lnTo>
                  <a:lnTo>
                    <a:pt x="144064" y="46744"/>
                  </a:lnTo>
                  <a:lnTo>
                    <a:pt x="102735" y="65540"/>
                  </a:lnTo>
                  <a:lnTo>
                    <a:pt x="67472" y="86794"/>
                  </a:lnTo>
                  <a:lnTo>
                    <a:pt x="17729" y="135500"/>
                  </a:lnTo>
                  <a:lnTo>
                    <a:pt x="0" y="190499"/>
                  </a:lnTo>
                  <a:lnTo>
                    <a:pt x="4539" y="218638"/>
                  </a:lnTo>
                  <a:lnTo>
                    <a:pt x="38922" y="270786"/>
                  </a:lnTo>
                  <a:lnTo>
                    <a:pt x="102735" y="315459"/>
                  </a:lnTo>
                  <a:lnTo>
                    <a:pt x="144064" y="334255"/>
                  </a:lnTo>
                  <a:lnTo>
                    <a:pt x="190813" y="350295"/>
                  </a:lnTo>
                  <a:lnTo>
                    <a:pt x="242337" y="363285"/>
                  </a:lnTo>
                  <a:lnTo>
                    <a:pt x="297990" y="372930"/>
                  </a:lnTo>
                  <a:lnTo>
                    <a:pt x="357126" y="378933"/>
                  </a:lnTo>
                  <a:lnTo>
                    <a:pt x="419100" y="380999"/>
                  </a:lnTo>
                  <a:lnTo>
                    <a:pt x="481073" y="378933"/>
                  </a:lnTo>
                  <a:lnTo>
                    <a:pt x="540209" y="372930"/>
                  </a:lnTo>
                  <a:lnTo>
                    <a:pt x="595862" y="363285"/>
                  </a:lnTo>
                  <a:lnTo>
                    <a:pt x="647386" y="350295"/>
                  </a:lnTo>
                  <a:lnTo>
                    <a:pt x="694135" y="334255"/>
                  </a:lnTo>
                  <a:lnTo>
                    <a:pt x="735464" y="315459"/>
                  </a:lnTo>
                  <a:lnTo>
                    <a:pt x="770727" y="294205"/>
                  </a:lnTo>
                  <a:lnTo>
                    <a:pt x="820470" y="245499"/>
                  </a:lnTo>
                  <a:lnTo>
                    <a:pt x="838200" y="190499"/>
                  </a:lnTo>
                  <a:lnTo>
                    <a:pt x="833660" y="162361"/>
                  </a:lnTo>
                  <a:lnTo>
                    <a:pt x="799277" y="110213"/>
                  </a:lnTo>
                  <a:lnTo>
                    <a:pt x="735464" y="65540"/>
                  </a:lnTo>
                  <a:lnTo>
                    <a:pt x="694135" y="46744"/>
                  </a:lnTo>
                  <a:lnTo>
                    <a:pt x="647386" y="30704"/>
                  </a:lnTo>
                  <a:lnTo>
                    <a:pt x="595862" y="17714"/>
                  </a:lnTo>
                  <a:lnTo>
                    <a:pt x="540209" y="8069"/>
                  </a:lnTo>
                  <a:lnTo>
                    <a:pt x="481073" y="2066"/>
                  </a:lnTo>
                  <a:lnTo>
                    <a:pt x="4191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802126" y="1485645"/>
            <a:ext cx="6807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Arial"/>
                <a:cs typeface="Arial"/>
              </a:rPr>
              <a:t>v</a:t>
            </a:r>
            <a:r>
              <a:rPr sz="1600" i="1" u="dash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ers</a:t>
            </a:r>
            <a:r>
              <a:rPr sz="1600" i="1" u="dash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1600" i="1" u="dash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600" i="1" u="dash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3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600" y="469900"/>
            <a:ext cx="61194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Identifying</a:t>
            </a:r>
            <a:r>
              <a:rPr dirty="0"/>
              <a:t> </a:t>
            </a:r>
            <a:r>
              <a:rPr spc="-5" dirty="0"/>
              <a:t>Relationship?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0" y="1570227"/>
            <a:ext cx="8073899" cy="429540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965" marR="343535" indent="-342900" algn="just">
              <a:lnSpc>
                <a:spcPts val="3450"/>
              </a:lnSpc>
              <a:spcBef>
                <a:spcPts val="53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b="1" spc="-10" dirty="0">
                <a:latin typeface="Arial MT"/>
                <a:cs typeface="Arial MT"/>
              </a:rPr>
              <a:t>Identifying</a:t>
            </a:r>
            <a:r>
              <a:rPr sz="3200" b="1" spc="1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 MT"/>
                <a:cs typeface="Arial MT"/>
              </a:rPr>
              <a:t>relationship</a:t>
            </a:r>
            <a:r>
              <a:rPr sz="3200" b="1" spc="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is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many-to-one, </a:t>
            </a:r>
            <a:r>
              <a:rPr sz="3200" spc="-8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no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descriptive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attributes</a:t>
            </a:r>
            <a:endParaRPr sz="32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354965" marR="5080" indent="-342900" algn="just">
              <a:lnSpc>
                <a:spcPts val="345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Relational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schema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weak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entity-set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includes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primary</a:t>
            </a:r>
            <a:r>
              <a:rPr sz="3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3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strong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entity-set</a:t>
            </a:r>
            <a:endParaRPr sz="32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755015" lvl="1" indent="-285750" algn="just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Foreign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constraint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imposed,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too</a:t>
            </a:r>
          </a:p>
          <a:p>
            <a:pPr marL="354965" marR="186055" indent="-342900" algn="just">
              <a:lnSpc>
                <a:spcPts val="3450"/>
              </a:lnSpc>
              <a:spcBef>
                <a:spcPts val="820"/>
              </a:spcBef>
              <a:buChar char="•"/>
              <a:tabLst>
                <a:tab pos="354965" algn="l"/>
                <a:tab pos="356235" algn="l"/>
              </a:tabLst>
            </a:pP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r>
              <a:rPr sz="32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relational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schema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for </a:t>
            </a:r>
            <a:r>
              <a:rPr sz="3200" spc="-8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identifying relationship</a:t>
            </a:r>
            <a:endParaRPr sz="32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755650" marR="555625" lvl="1" indent="-285750" algn="just">
              <a:lnSpc>
                <a:spcPts val="3020"/>
              </a:lnSpc>
              <a:spcBef>
                <a:spcPts val="66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Would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redundant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weak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entity-set’s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relational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 smtClean="0">
                <a:latin typeface="Arial MT"/>
                <a:cs typeface="Arial MT"/>
              </a:rPr>
              <a:t>schema</a:t>
            </a:r>
            <a:r>
              <a:rPr lang="en-US" sz="2800" dirty="0" smtClean="0">
                <a:latin typeface="Arial MT"/>
                <a:cs typeface="Arial MT"/>
              </a:rPr>
              <a:t> </a:t>
            </a:r>
            <a:r>
              <a:rPr sz="2800" dirty="0" smtClean="0">
                <a:latin typeface="Arial MT"/>
                <a:cs typeface="Arial MT"/>
              </a:rPr>
              <a:t>!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84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5088" y="469900"/>
            <a:ext cx="4408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Relationship-Sets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01" y="1534867"/>
            <a:ext cx="8008620" cy="44831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7665" indent="-342900">
              <a:lnSpc>
                <a:spcPct val="100000"/>
              </a:lnSpc>
              <a:spcBef>
                <a:spcPts val="425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dirty="0">
                <a:latin typeface="Arial MT"/>
                <a:cs typeface="Arial MT"/>
              </a:rPr>
              <a:t>Relationship-set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R</a:t>
            </a:r>
            <a:endParaRPr sz="2800" dirty="0">
              <a:latin typeface="Arial"/>
              <a:cs typeface="Arial"/>
            </a:endParaRPr>
          </a:p>
          <a:p>
            <a:pPr marL="767715" marR="165100" lvl="1" indent="-285750">
              <a:lnSpc>
                <a:spcPts val="2580"/>
              </a:lnSpc>
              <a:spcBef>
                <a:spcPts val="620"/>
              </a:spcBef>
              <a:buChar char="–"/>
              <a:tabLst>
                <a:tab pos="768350" algn="l"/>
              </a:tabLst>
            </a:pPr>
            <a:r>
              <a:rPr sz="2400" dirty="0">
                <a:latin typeface="Arial MT"/>
                <a:cs typeface="Arial MT"/>
              </a:rPr>
              <a:t>Assume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participating</a:t>
            </a:r>
            <a:r>
              <a:rPr sz="2400" dirty="0">
                <a:latin typeface="Arial MT"/>
                <a:cs typeface="Arial MT"/>
              </a:rPr>
              <a:t> entity-sets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strong</a:t>
            </a:r>
            <a:r>
              <a:rPr sz="2400" dirty="0">
                <a:latin typeface="Arial MT"/>
                <a:cs typeface="Arial MT"/>
              </a:rPr>
              <a:t> entity-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</a:t>
            </a:r>
            <a:r>
              <a:rPr sz="2400" spc="-10" dirty="0">
                <a:latin typeface="Arial MT"/>
                <a:cs typeface="Arial MT"/>
              </a:rPr>
              <a:t>now</a:t>
            </a:r>
            <a:endParaRPr sz="2400" dirty="0">
              <a:latin typeface="Arial MT"/>
              <a:cs typeface="Arial MT"/>
            </a:endParaRPr>
          </a:p>
          <a:p>
            <a:pPr marL="768350" marR="499745" lvl="1" indent="-286385">
              <a:lnSpc>
                <a:spcPts val="2580"/>
              </a:lnSpc>
              <a:spcBef>
                <a:spcPts val="585"/>
              </a:spcBef>
              <a:buFont typeface="Arial MT"/>
              <a:buChar char="–"/>
              <a:tabLst>
                <a:tab pos="768350" algn="l"/>
              </a:tabLst>
            </a:pP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7" baseline="-20833" dirty="0">
                <a:latin typeface="Arial MT"/>
                <a:cs typeface="Arial MT"/>
              </a:rPr>
              <a:t>1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7" baseline="-20833" dirty="0">
                <a:latin typeface="Arial MT"/>
                <a:cs typeface="Arial MT"/>
              </a:rPr>
              <a:t>2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…,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baseline="-20833" dirty="0">
                <a:latin typeface="Arial"/>
                <a:cs typeface="Arial"/>
              </a:rPr>
              <a:t>m</a:t>
            </a:r>
            <a:r>
              <a:rPr sz="2400" i="1" spc="330" baseline="-20833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union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participating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entity-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sets’</a:t>
            </a:r>
            <a:r>
              <a:rPr sz="2400" spc="-5" dirty="0">
                <a:latin typeface="Arial MT"/>
                <a:cs typeface="Arial MT"/>
              </a:rPr>
              <a:t> primary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attributes</a:t>
            </a:r>
          </a:p>
          <a:p>
            <a:pPr marL="767715" lvl="1" indent="-285750">
              <a:lnSpc>
                <a:spcPct val="100000"/>
              </a:lnSpc>
              <a:spcBef>
                <a:spcPts val="254"/>
              </a:spcBef>
              <a:buFont typeface="Arial MT"/>
              <a:buChar char="–"/>
              <a:tabLst>
                <a:tab pos="768350" algn="l"/>
              </a:tabLst>
            </a:pP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1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2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…,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-7" baseline="-20833" dirty="0">
                <a:latin typeface="Arial"/>
                <a:cs typeface="Arial"/>
              </a:rPr>
              <a:t>n</a:t>
            </a:r>
            <a:r>
              <a:rPr sz="2400" i="1" spc="330" baseline="-20833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 descriptive</a:t>
            </a:r>
            <a:r>
              <a:rPr sz="2400" dirty="0">
                <a:latin typeface="Arial MT"/>
                <a:cs typeface="Arial MT"/>
              </a:rPr>
              <a:t> attributes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(if </a:t>
            </a:r>
            <a:r>
              <a:rPr sz="2400" spc="-10" dirty="0">
                <a:latin typeface="Arial MT"/>
                <a:cs typeface="Arial MT"/>
              </a:rPr>
              <a:t>any)</a:t>
            </a:r>
            <a:endParaRPr sz="2400" dirty="0">
              <a:latin typeface="Arial MT"/>
              <a:cs typeface="Arial MT"/>
            </a:endParaRPr>
          </a:p>
          <a:p>
            <a:pPr marL="368300" indent="-343535">
              <a:lnSpc>
                <a:spcPct val="100000"/>
              </a:lnSpc>
              <a:spcBef>
                <a:spcPts val="340"/>
              </a:spcBef>
              <a:buChar char="•"/>
              <a:tabLst>
                <a:tab pos="367665" algn="l"/>
                <a:tab pos="368935" algn="l"/>
              </a:tabLst>
            </a:pPr>
            <a:r>
              <a:rPr sz="2800" dirty="0">
                <a:latin typeface="Arial MT"/>
                <a:cs typeface="Arial MT"/>
              </a:rPr>
              <a:t>Relational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R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is:</a:t>
            </a:r>
            <a:endParaRPr sz="2800" dirty="0">
              <a:latin typeface="Arial MT"/>
              <a:cs typeface="Arial MT"/>
            </a:endParaRPr>
          </a:p>
          <a:p>
            <a:pPr marL="482600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 …,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i="1" spc="-7" baseline="-20833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} </a:t>
            </a:r>
            <a:r>
              <a:rPr lang="en-IN" sz="2400" spc="-5" dirty="0" smtClean="0">
                <a:solidFill>
                  <a:srgbClr val="FF0000"/>
                </a:solidFill>
                <a:latin typeface="Arial Narrow"/>
                <a:cs typeface="Arial MT"/>
              </a:rPr>
              <a:t>U</a:t>
            </a:r>
            <a:r>
              <a:rPr sz="2400" spc="-175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{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400" spc="-7" baseline="-20833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 …,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400" i="1" spc="-7" baseline="-20833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}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368300" marR="17780" indent="-343535">
              <a:lnSpc>
                <a:spcPts val="3020"/>
              </a:lnSpc>
              <a:spcBef>
                <a:spcPts val="740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dirty="0">
                <a:latin typeface="Arial MT"/>
                <a:cs typeface="Arial MT"/>
              </a:rPr>
              <a:t>{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850" baseline="-20467" dirty="0">
                <a:latin typeface="Arial MT"/>
                <a:cs typeface="Arial MT"/>
              </a:rPr>
              <a:t>1</a:t>
            </a:r>
            <a:r>
              <a:rPr sz="2800" dirty="0">
                <a:latin typeface="Arial MT"/>
                <a:cs typeface="Arial MT"/>
              </a:rPr>
              <a:t>,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850" baseline="-20467" dirty="0">
                <a:latin typeface="Arial MT"/>
                <a:cs typeface="Arial MT"/>
              </a:rPr>
              <a:t>2</a:t>
            </a:r>
            <a:r>
              <a:rPr sz="2800" dirty="0">
                <a:latin typeface="Arial MT"/>
                <a:cs typeface="Arial MT"/>
              </a:rPr>
              <a:t>, </a:t>
            </a:r>
            <a:r>
              <a:rPr sz="2800" spc="-5" dirty="0">
                <a:latin typeface="Arial MT"/>
                <a:cs typeface="Arial MT"/>
              </a:rPr>
              <a:t>…,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50" i="1" spc="-7" baseline="-20467" dirty="0">
                <a:latin typeface="Arial"/>
                <a:cs typeface="Arial"/>
              </a:rPr>
              <a:t>m</a:t>
            </a:r>
            <a:r>
              <a:rPr sz="2800" spc="-5" dirty="0">
                <a:latin typeface="Arial MT"/>
                <a:cs typeface="Arial MT"/>
              </a:rPr>
              <a:t>} </a:t>
            </a:r>
            <a:r>
              <a:rPr sz="2800" dirty="0">
                <a:latin typeface="Arial MT"/>
                <a:cs typeface="Arial MT"/>
              </a:rPr>
              <a:t>is a superkey, but not necessarily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candidate key</a:t>
            </a:r>
          </a:p>
          <a:p>
            <a:pPr marL="767715" lvl="1" indent="-285750">
              <a:lnSpc>
                <a:spcPct val="100000"/>
              </a:lnSpc>
              <a:spcBef>
                <a:spcPts val="240"/>
              </a:spcBef>
              <a:buChar char="–"/>
              <a:tabLst>
                <a:tab pos="76835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Primary key of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depends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’s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mapping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cardinality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887" y="469900"/>
            <a:ext cx="76073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Relationship-Set</a:t>
            </a:r>
            <a:r>
              <a:rPr dirty="0"/>
              <a:t> </a:t>
            </a:r>
            <a:r>
              <a:rPr spc="-5" dirty="0"/>
              <a:t>Primary</a:t>
            </a:r>
            <a:r>
              <a:rPr dirty="0"/>
              <a:t> </a:t>
            </a:r>
            <a:r>
              <a:rPr spc="-5" dirty="0"/>
              <a:t>Keys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0" y="1522047"/>
            <a:ext cx="8150099" cy="43275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Arial MT"/>
                <a:cs typeface="Arial MT"/>
              </a:rPr>
              <a:t>For</a:t>
            </a:r>
            <a:r>
              <a:rPr sz="3200" spc="-10" dirty="0">
                <a:latin typeface="Arial MT"/>
                <a:cs typeface="Arial MT"/>
              </a:rPr>
              <a:t> binary relationship-sets:</a:t>
            </a:r>
            <a:endParaRPr sz="32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33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e.g.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strong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endParaRPr sz="2800" dirty="0">
              <a:latin typeface="Arial"/>
              <a:cs typeface="Arial"/>
            </a:endParaRPr>
          </a:p>
          <a:p>
            <a:pPr marL="755650" marR="71755" lvl="1" indent="-285750">
              <a:lnSpc>
                <a:spcPts val="3020"/>
              </a:lnSpc>
              <a:spcBef>
                <a:spcPts val="72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If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many-to-many mapping</a:t>
            </a:r>
            <a:r>
              <a:rPr sz="2800" dirty="0">
                <a:latin typeface="Arial MT"/>
                <a:cs typeface="Arial MT"/>
              </a:rPr>
              <a:t>, union of all entity-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 primary keys becomes primary key of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relationship-set</a:t>
            </a:r>
          </a:p>
          <a:p>
            <a:pPr marL="1155700" lvl="2" indent="-228600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1155700" algn="l"/>
              </a:tabLst>
            </a:pPr>
            <a:r>
              <a:rPr sz="2400" b="1" i="1" spc="-5" dirty="0">
                <a:latin typeface="Arial"/>
                <a:cs typeface="Arial"/>
              </a:rPr>
              <a:t>primary_key</a:t>
            </a:r>
            <a:r>
              <a:rPr sz="2400" b="1" spc="-5" dirty="0">
                <a:latin typeface="Arial MT"/>
                <a:cs typeface="Arial MT"/>
              </a:rPr>
              <a:t>(</a:t>
            </a:r>
            <a:r>
              <a:rPr sz="2400" b="1" i="1" spc="-5" dirty="0">
                <a:latin typeface="Arial"/>
                <a:cs typeface="Arial"/>
              </a:rPr>
              <a:t>A</a:t>
            </a:r>
            <a:r>
              <a:rPr sz="2400" b="1" spc="-5" dirty="0">
                <a:latin typeface="Arial MT"/>
                <a:cs typeface="Arial MT"/>
              </a:rPr>
              <a:t>)</a:t>
            </a:r>
            <a:r>
              <a:rPr sz="2400" b="1" spc="5" dirty="0">
                <a:latin typeface="Arial MT"/>
                <a:cs typeface="Arial MT"/>
              </a:rPr>
              <a:t> </a:t>
            </a:r>
            <a:r>
              <a:rPr lang="en-US" sz="2400" b="1" spc="5" dirty="0" smtClean="0">
                <a:latin typeface="Arial MT"/>
                <a:cs typeface="Arial MT"/>
              </a:rPr>
              <a:t> and</a:t>
            </a:r>
            <a:r>
              <a:rPr sz="2400" b="1" spc="-165" dirty="0" smtClean="0">
                <a:latin typeface="Verdana"/>
                <a:cs typeface="Verdana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primary_key</a:t>
            </a:r>
            <a:r>
              <a:rPr sz="2400" b="1" spc="-5" dirty="0">
                <a:latin typeface="Arial MT"/>
                <a:cs typeface="Arial MT"/>
              </a:rPr>
              <a:t>(</a:t>
            </a:r>
            <a:r>
              <a:rPr sz="2400" b="1" i="1" spc="-5" dirty="0">
                <a:latin typeface="Arial"/>
                <a:cs typeface="Arial"/>
              </a:rPr>
              <a:t>B</a:t>
            </a:r>
            <a:r>
              <a:rPr sz="2400" b="1" spc="-5" dirty="0">
                <a:latin typeface="Arial MT"/>
                <a:cs typeface="Arial MT"/>
              </a:rPr>
              <a:t>)</a:t>
            </a:r>
            <a:endParaRPr sz="2400" b="1" dirty="0">
              <a:latin typeface="Arial MT"/>
              <a:cs typeface="Arial MT"/>
            </a:endParaRPr>
          </a:p>
          <a:p>
            <a:pPr marL="755650" marR="723265" lvl="1" indent="-285750">
              <a:lnSpc>
                <a:spcPts val="3020"/>
              </a:lnSpc>
              <a:spcBef>
                <a:spcPts val="74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If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one-to-one mapping</a:t>
            </a:r>
            <a:r>
              <a:rPr sz="2800" dirty="0">
                <a:latin typeface="Arial MT"/>
                <a:cs typeface="Arial MT"/>
              </a:rPr>
              <a:t>, either entity-set’s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primary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 acceptable</a:t>
            </a:r>
          </a:p>
          <a:p>
            <a:pPr marL="1155700" lvl="2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</a:tabLst>
            </a:pPr>
            <a:r>
              <a:rPr sz="2400" b="1" i="1" spc="-5" dirty="0">
                <a:latin typeface="Arial"/>
                <a:cs typeface="Arial"/>
              </a:rPr>
              <a:t>primary_key</a:t>
            </a:r>
            <a:r>
              <a:rPr sz="2400" b="1" spc="-5" dirty="0">
                <a:latin typeface="Arial MT"/>
                <a:cs typeface="Arial MT"/>
              </a:rPr>
              <a:t>(</a:t>
            </a:r>
            <a:r>
              <a:rPr sz="2400" b="1" i="1" spc="-5" dirty="0">
                <a:latin typeface="Arial"/>
                <a:cs typeface="Arial"/>
              </a:rPr>
              <a:t>A</a:t>
            </a:r>
            <a:r>
              <a:rPr sz="2400" b="1" spc="-5" dirty="0">
                <a:latin typeface="Arial MT"/>
                <a:cs typeface="Arial MT"/>
              </a:rPr>
              <a:t>),</a:t>
            </a:r>
            <a:r>
              <a:rPr sz="2400" b="1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 MT"/>
                <a:cs typeface="Arial MT"/>
              </a:rPr>
              <a:t>or</a:t>
            </a:r>
            <a:r>
              <a:rPr sz="2400" b="1" spc="15" dirty="0">
                <a:latin typeface="Arial MT"/>
                <a:cs typeface="Arial MT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primary_key</a:t>
            </a:r>
            <a:r>
              <a:rPr sz="2400" b="1" spc="-5" dirty="0">
                <a:latin typeface="Arial MT"/>
                <a:cs typeface="Arial MT"/>
              </a:rPr>
              <a:t>(</a:t>
            </a:r>
            <a:r>
              <a:rPr sz="2400" b="1" i="1" spc="-5" dirty="0">
                <a:latin typeface="Arial"/>
                <a:cs typeface="Arial"/>
              </a:rPr>
              <a:t>B</a:t>
            </a:r>
            <a:r>
              <a:rPr sz="2400" b="1" spc="-5" dirty="0">
                <a:latin typeface="Arial MT"/>
                <a:cs typeface="Arial MT"/>
              </a:rPr>
              <a:t>)</a:t>
            </a:r>
            <a:endParaRPr sz="2400" b="1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280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enforce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candidate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constraint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each!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073" y="501142"/>
            <a:ext cx="76771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Relationship-Set</a:t>
            </a:r>
            <a:r>
              <a:rPr sz="4000" spc="-30" dirty="0"/>
              <a:t> </a:t>
            </a:r>
            <a:r>
              <a:rPr sz="4000" spc="-5" dirty="0"/>
              <a:t>Primary</a:t>
            </a:r>
            <a:r>
              <a:rPr sz="4000" spc="-25" dirty="0"/>
              <a:t> </a:t>
            </a:r>
            <a:r>
              <a:rPr sz="4000" spc="-5" dirty="0"/>
              <a:t>Keys</a:t>
            </a:r>
            <a:r>
              <a:rPr sz="4000" spc="-25" dirty="0"/>
              <a:t> </a:t>
            </a:r>
            <a:r>
              <a:rPr sz="4000" spc="-5" dirty="0"/>
              <a:t>(2)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5900" y="1526325"/>
            <a:ext cx="8686800" cy="40149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many-to-one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one-to-many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mappings:</a:t>
            </a:r>
          </a:p>
          <a:p>
            <a:pPr marL="75501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e.g.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between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strong </a:t>
            </a:r>
            <a:r>
              <a:rPr sz="2400" dirty="0">
                <a:latin typeface="Arial MT"/>
                <a:cs typeface="Arial MT"/>
              </a:rPr>
              <a:t>entity-sets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</a:t>
            </a:r>
          </a:p>
          <a:p>
            <a:pPr marL="755015" marR="24384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Primary key of entity-set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 “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many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” side is primary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key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relationship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4965" algn="l"/>
                <a:tab pos="355600" algn="l"/>
                <a:tab pos="2037714" algn="l"/>
              </a:tabLst>
            </a:pPr>
            <a:r>
              <a:rPr sz="2800" dirty="0">
                <a:latin typeface="Arial MT"/>
                <a:cs typeface="Arial MT"/>
              </a:rPr>
              <a:t>Example:	relationship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R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between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endParaRPr sz="2800" dirty="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One-to-many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mapping,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“many”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side</a:t>
            </a:r>
            <a:endParaRPr sz="2400" dirty="0">
              <a:latin typeface="Arial MT"/>
              <a:cs typeface="Arial MT"/>
            </a:endParaRPr>
          </a:p>
          <a:p>
            <a:pPr marL="755650" marR="5080" lvl="1" indent="-286385">
              <a:lnSpc>
                <a:spcPct val="100600"/>
              </a:lnSpc>
              <a:spcBef>
                <a:spcPts val="53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Schema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contains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primary_key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400" spc="20" dirty="0">
                <a:solidFill>
                  <a:srgbClr val="FF0000"/>
                </a:solidFill>
                <a:latin typeface="Arial MT"/>
                <a:cs typeface="Arial MT"/>
              </a:rPr>
              <a:t>U</a:t>
            </a:r>
            <a:r>
              <a:rPr sz="2400" spc="-155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primary_key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),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plus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any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descriptive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attributes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57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primary_key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 is primary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key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58" y="215900"/>
            <a:ext cx="75774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Relationship-Set</a:t>
            </a:r>
            <a:r>
              <a:rPr dirty="0"/>
              <a:t> </a:t>
            </a:r>
            <a:r>
              <a:rPr spc="-5" dirty="0"/>
              <a:t>Foreign</a:t>
            </a:r>
            <a:r>
              <a:rPr spc="5" dirty="0"/>
              <a:t> </a:t>
            </a:r>
            <a:r>
              <a:rPr spc="-5" dirty="0"/>
              <a:t>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700" y="1511300"/>
            <a:ext cx="7924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Arial MT"/>
                <a:cs typeface="Arial MT"/>
              </a:rPr>
              <a:t>For each </a:t>
            </a:r>
            <a:r>
              <a:rPr lang="en-US" sz="2400" dirty="0">
                <a:latin typeface="Arial MT"/>
                <a:cs typeface="Arial MT"/>
              </a:rPr>
              <a:t>entity set </a:t>
            </a:r>
            <a:r>
              <a:rPr lang="en-US" sz="2400" dirty="0" err="1">
                <a:latin typeface="Arial MT"/>
                <a:cs typeface="Arial MT"/>
              </a:rPr>
              <a:t>Ei</a:t>
            </a:r>
            <a:r>
              <a:rPr lang="en-US" sz="2400" dirty="0">
                <a:latin typeface="Arial MT"/>
                <a:cs typeface="Arial MT"/>
              </a:rPr>
              <a:t> related by relationship set R, we create a foreign-key constraint from relation schema R, with the attributes of R that were derived from primary-key attributes of </a:t>
            </a:r>
            <a:r>
              <a:rPr lang="en-US" sz="2400" dirty="0" err="1">
                <a:latin typeface="Arial MT"/>
                <a:cs typeface="Arial MT"/>
              </a:rPr>
              <a:t>Ei</a:t>
            </a:r>
            <a:r>
              <a:rPr lang="en-US" sz="2400" dirty="0">
                <a:latin typeface="Arial MT"/>
                <a:cs typeface="Arial MT"/>
              </a:rPr>
              <a:t> referencing the primary key of the relation schema representing </a:t>
            </a:r>
            <a:r>
              <a:rPr lang="en-US" sz="2400" dirty="0" err="1">
                <a:latin typeface="Arial MT"/>
                <a:cs typeface="Arial MT"/>
              </a:rPr>
              <a:t>Ei</a:t>
            </a:r>
            <a:r>
              <a:rPr lang="en-US" sz="2400" dirty="0">
                <a:latin typeface="Arial MT"/>
                <a:cs typeface="Arial MT"/>
              </a:rPr>
              <a:t>.</a:t>
            </a:r>
          </a:p>
          <a:p>
            <a:pPr algn="just"/>
            <a:endParaRPr lang="en-US" sz="2400" dirty="0">
              <a:latin typeface="Arial MT"/>
              <a:cs typeface="Arial MT"/>
            </a:endParaRPr>
          </a:p>
          <a:p>
            <a:pPr algn="just"/>
            <a:r>
              <a:rPr lang="en-US" sz="2400" dirty="0" smtClean="0">
                <a:latin typeface="Arial MT"/>
                <a:cs typeface="Arial MT"/>
              </a:rPr>
              <a:t>Example</a:t>
            </a:r>
            <a:r>
              <a:rPr lang="en-US" sz="2400" dirty="0">
                <a:latin typeface="Arial MT"/>
                <a:cs typeface="Arial MT"/>
              </a:rPr>
              <a:t>, we thus create two foreign-key constraints on the advisor relation, with attribute </a:t>
            </a:r>
            <a:r>
              <a:rPr lang="en-US" sz="2400" dirty="0" err="1" smtClean="0">
                <a:latin typeface="Arial MT"/>
                <a:cs typeface="Arial MT"/>
              </a:rPr>
              <a:t>i</a:t>
            </a:r>
            <a:r>
              <a:rPr lang="en-US" sz="2400" dirty="0" err="1">
                <a:latin typeface="Arial MT"/>
                <a:cs typeface="Arial MT"/>
              </a:rPr>
              <a:t>_</a:t>
            </a:r>
            <a:r>
              <a:rPr lang="en-US" sz="2400" dirty="0" err="1" smtClean="0">
                <a:latin typeface="Arial MT"/>
                <a:cs typeface="Arial MT"/>
              </a:rPr>
              <a:t>ID</a:t>
            </a:r>
            <a:r>
              <a:rPr lang="en-US" sz="2400" dirty="0" smtClean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referencing the primary key of instructor and attribute </a:t>
            </a:r>
            <a:r>
              <a:rPr lang="en-US" sz="2400" dirty="0" err="1" smtClean="0">
                <a:latin typeface="Arial MT"/>
                <a:cs typeface="Arial MT"/>
              </a:rPr>
              <a:t>s_ID</a:t>
            </a:r>
            <a:r>
              <a:rPr lang="en-US" sz="2400" dirty="0" smtClean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referencing the primary key of student</a:t>
            </a:r>
            <a:r>
              <a:rPr lang="en-US" sz="2400" dirty="0" smtClean="0">
                <a:latin typeface="Arial MT"/>
                <a:cs typeface="Arial MT"/>
              </a:rPr>
              <a:t>.</a:t>
            </a:r>
          </a:p>
          <a:p>
            <a:pPr algn="just"/>
            <a:endParaRPr lang="en-US" sz="2400" dirty="0">
              <a:latin typeface="Arial MT"/>
              <a:cs typeface="Arial MT"/>
            </a:endParaRPr>
          </a:p>
          <a:p>
            <a:r>
              <a:rPr lang="en-US" sz="2400" i="1" dirty="0"/>
              <a:t>sec course </a:t>
            </a:r>
            <a:r>
              <a:rPr lang="en-US" sz="2400" dirty="0"/>
              <a:t>has foreign keys </a:t>
            </a:r>
            <a:r>
              <a:rPr lang="en-US" sz="2400" dirty="0" smtClean="0"/>
              <a:t>referencing </a:t>
            </a:r>
            <a:r>
              <a:rPr lang="en-US" sz="2400" i="1" dirty="0" smtClean="0"/>
              <a:t>section </a:t>
            </a:r>
            <a:r>
              <a:rPr lang="en-US" sz="2400" dirty="0"/>
              <a:t>and </a:t>
            </a:r>
            <a:r>
              <a:rPr lang="en-US" sz="2400" i="1" dirty="0"/>
              <a:t>classroom</a:t>
            </a:r>
            <a:r>
              <a:rPr lang="en-US" sz="2400" dirty="0"/>
              <a:t>, </a:t>
            </a:r>
            <a:r>
              <a:rPr lang="en-US" sz="2400" i="1" dirty="0">
                <a:solidFill>
                  <a:srgbClr val="FF0000"/>
                </a:solidFill>
              </a:rPr>
              <a:t>teaches</a:t>
            </a:r>
            <a:r>
              <a:rPr lang="en-US" sz="2400" i="1" dirty="0"/>
              <a:t> </a:t>
            </a:r>
            <a:r>
              <a:rPr lang="en-US" sz="2400" dirty="0"/>
              <a:t>has foreign keys </a:t>
            </a:r>
            <a:r>
              <a:rPr lang="en-US" sz="2400" dirty="0" smtClean="0"/>
              <a:t>referencing </a:t>
            </a:r>
            <a:r>
              <a:rPr lang="en-US" sz="2400" i="1" dirty="0"/>
              <a:t>instructor </a:t>
            </a:r>
            <a:r>
              <a:rPr lang="en-US" sz="2400" dirty="0"/>
              <a:t>and </a:t>
            </a:r>
            <a:r>
              <a:rPr lang="en-US" sz="2400" i="1" dirty="0"/>
              <a:t>section</a:t>
            </a:r>
            <a:r>
              <a:rPr lang="en-US" sz="2400" dirty="0"/>
              <a:t>, </a:t>
            </a:r>
            <a:r>
              <a:rPr lang="en-US" sz="2400" dirty="0" smtClean="0"/>
              <a:t>and </a:t>
            </a:r>
            <a:r>
              <a:rPr lang="en-US" sz="2400" i="1" dirty="0" smtClean="0">
                <a:solidFill>
                  <a:srgbClr val="FF0000"/>
                </a:solidFill>
              </a:rPr>
              <a:t>takes</a:t>
            </a:r>
            <a:r>
              <a:rPr lang="en-US" sz="2400" i="1" dirty="0" smtClean="0"/>
              <a:t> </a:t>
            </a:r>
            <a:r>
              <a:rPr lang="en-US" sz="2400" dirty="0"/>
              <a:t>has foreign keys referencing </a:t>
            </a:r>
            <a:r>
              <a:rPr lang="en-US" sz="2400" i="1" dirty="0"/>
              <a:t>student </a:t>
            </a:r>
            <a:r>
              <a:rPr lang="en-US" sz="2400" dirty="0"/>
              <a:t>and </a:t>
            </a:r>
            <a:r>
              <a:rPr lang="en-US" sz="2400" i="1" dirty="0"/>
              <a:t>section</a:t>
            </a:r>
            <a:r>
              <a:rPr lang="en-US" sz="2400" dirty="0"/>
              <a:t>.</a:t>
            </a:r>
            <a:endParaRPr lang="en-IN" sz="2400" dirty="0">
              <a:latin typeface="Arial MT"/>
              <a:cs typeface="Arial M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58" y="215900"/>
            <a:ext cx="75774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Relationship-Set</a:t>
            </a:r>
            <a:r>
              <a:rPr dirty="0"/>
              <a:t> </a:t>
            </a:r>
            <a:r>
              <a:rPr spc="-5" dirty="0"/>
              <a:t>Foreign</a:t>
            </a:r>
            <a:r>
              <a:rPr spc="5" dirty="0"/>
              <a:t> </a:t>
            </a:r>
            <a:r>
              <a:rPr spc="-5" dirty="0"/>
              <a:t>Keys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282700"/>
            <a:ext cx="8065770" cy="453072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42265" marR="26034" indent="-342265" algn="r">
              <a:lnSpc>
                <a:spcPct val="100000"/>
              </a:lnSpc>
              <a:spcBef>
                <a:spcPts val="770"/>
              </a:spcBef>
              <a:buChar char="•"/>
              <a:tabLst>
                <a:tab pos="342265" algn="l"/>
                <a:tab pos="342900" algn="l"/>
              </a:tabLst>
            </a:pPr>
            <a:r>
              <a:rPr sz="2800" dirty="0">
                <a:latin typeface="Arial MT"/>
                <a:cs typeface="Arial MT"/>
              </a:rPr>
              <a:t>Relationship-sets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associate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entities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entity-sets</a:t>
            </a:r>
          </a:p>
          <a:p>
            <a:pPr marL="285750" marR="17780" lvl="1" indent="-285750" algn="r">
              <a:lnSpc>
                <a:spcPct val="100000"/>
              </a:lnSpc>
              <a:spcBef>
                <a:spcPts val="575"/>
              </a:spcBef>
              <a:buChar char="–"/>
              <a:tabLst>
                <a:tab pos="28575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Need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foreign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key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constraints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relation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schema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entity-set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Arial"/>
                <a:cs typeface="Arial"/>
              </a:rPr>
              <a:t>E</a:t>
            </a:r>
            <a:r>
              <a:rPr sz="2850" i="1" spc="-7" baseline="-20467" dirty="0">
                <a:latin typeface="Arial"/>
                <a:cs typeface="Arial"/>
              </a:rPr>
              <a:t>i</a:t>
            </a:r>
            <a:r>
              <a:rPr sz="2850" i="1" spc="359" baseline="-20467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participating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R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</a:p>
          <a:p>
            <a:pPr marL="767715" lvl="1" indent="-285750">
              <a:lnSpc>
                <a:spcPts val="2875"/>
              </a:lnSpc>
              <a:spcBef>
                <a:spcPts val="570"/>
              </a:spcBef>
              <a:buChar char="–"/>
              <a:tabLst>
                <a:tab pos="768350" algn="l"/>
              </a:tabLst>
            </a:pPr>
            <a:r>
              <a:rPr sz="2400" dirty="0">
                <a:latin typeface="Arial MT"/>
                <a:cs typeface="Arial MT"/>
              </a:rPr>
              <a:t>Relation </a:t>
            </a:r>
            <a:r>
              <a:rPr sz="2400" spc="-5" dirty="0">
                <a:latin typeface="Arial MT"/>
                <a:cs typeface="Arial MT"/>
              </a:rPr>
              <a:t>schema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foreign-key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constraint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endParaRPr sz="2400" dirty="0">
              <a:latin typeface="Arial MT"/>
              <a:cs typeface="Arial MT"/>
            </a:endParaRPr>
          </a:p>
          <a:p>
            <a:pPr marL="768350">
              <a:lnSpc>
                <a:spcPts val="2875"/>
              </a:lnSpc>
            </a:pPr>
            <a:r>
              <a:rPr sz="2400" i="1" dirty="0">
                <a:latin typeface="Arial"/>
                <a:cs typeface="Arial"/>
              </a:rPr>
              <a:t>E</a:t>
            </a:r>
            <a:r>
              <a:rPr sz="2400" i="1" baseline="-20833" dirty="0">
                <a:latin typeface="Arial"/>
                <a:cs typeface="Arial"/>
              </a:rPr>
              <a:t>i</a:t>
            </a:r>
            <a:r>
              <a:rPr sz="2400" i="1" spc="315" baseline="-20833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relation,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i="1" spc="-5" dirty="0">
                <a:latin typeface="Arial"/>
                <a:cs typeface="Arial"/>
              </a:rPr>
              <a:t>primary_key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i="1" spc="-7" baseline="-20833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) attributes</a:t>
            </a:r>
            <a:endParaRPr sz="2400" dirty="0">
              <a:latin typeface="Arial MT"/>
              <a:cs typeface="Arial MT"/>
            </a:endParaRPr>
          </a:p>
          <a:p>
            <a:pPr marL="368300" marR="8763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68300" algn="l"/>
                <a:tab pos="368935" algn="l"/>
              </a:tabLst>
            </a:pPr>
            <a:r>
              <a:rPr sz="2800" dirty="0">
                <a:latin typeface="Arial MT"/>
                <a:cs typeface="Arial MT"/>
              </a:rPr>
              <a:t>Relation schema notation doesn’t provide a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mechanism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indicating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foreign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constraints</a:t>
            </a:r>
          </a:p>
          <a:p>
            <a:pPr marL="76771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68350" algn="l"/>
              </a:tabLst>
            </a:pPr>
            <a:r>
              <a:rPr sz="2400" dirty="0">
                <a:latin typeface="Arial MT"/>
                <a:cs typeface="Arial MT"/>
              </a:rPr>
              <a:t>Don’t forget </a:t>
            </a:r>
            <a:r>
              <a:rPr sz="2400" spc="-5" dirty="0">
                <a:latin typeface="Arial MT"/>
                <a:cs typeface="Arial MT"/>
              </a:rPr>
              <a:t>about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foreign</a:t>
            </a:r>
            <a:r>
              <a:rPr sz="2400" dirty="0">
                <a:latin typeface="Arial MT"/>
                <a:cs typeface="Arial MT"/>
              </a:rPr>
              <a:t> keys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candidate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keys!</a:t>
            </a:r>
          </a:p>
          <a:p>
            <a:pPr marL="767715" marR="120777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68350" algn="l"/>
              </a:tabLst>
            </a:pPr>
            <a:r>
              <a:rPr sz="2400" spc="-5" dirty="0">
                <a:latin typeface="Arial MT"/>
                <a:cs typeface="Arial MT"/>
              </a:rPr>
              <a:t>Can specify both foreign key constraints, </a:t>
            </a:r>
            <a:r>
              <a:rPr sz="2400" spc="-10" dirty="0">
                <a:latin typeface="Arial MT"/>
                <a:cs typeface="Arial MT"/>
              </a:rPr>
              <a:t>and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candidate </a:t>
            </a:r>
            <a:r>
              <a:rPr sz="2400" dirty="0">
                <a:latin typeface="Arial MT"/>
                <a:cs typeface="Arial MT"/>
              </a:rPr>
              <a:t>keys,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SQL </a:t>
            </a:r>
            <a:r>
              <a:rPr sz="2400" spc="-5" dirty="0">
                <a:latin typeface="Arial MT"/>
                <a:cs typeface="Arial MT"/>
              </a:rPr>
              <a:t>DDL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2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9436" y="469900"/>
            <a:ext cx="64592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Relationship-Set</a:t>
            </a:r>
            <a:r>
              <a:rPr spc="-1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0" y="3794505"/>
            <a:ext cx="8226299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3354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borrower</a:t>
            </a:r>
            <a:r>
              <a:rPr sz="2800" dirty="0">
                <a:latin typeface="Arial MT"/>
                <a:cs typeface="Arial MT"/>
              </a:rPr>
              <a:t>:</a:t>
            </a:r>
          </a:p>
          <a:p>
            <a:pPr marL="755015" lvl="1" indent="-285750">
              <a:lnSpc>
                <a:spcPts val="2870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customer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cust_id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5015" lvl="1" indent="-286385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loan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i="1" spc="-5" dirty="0">
                <a:latin typeface="Arial"/>
                <a:cs typeface="Arial"/>
              </a:rPr>
              <a:t>loan_id</a:t>
            </a:r>
            <a:endParaRPr sz="2400" dirty="0">
              <a:latin typeface="Arial"/>
              <a:cs typeface="Arial"/>
            </a:endParaRPr>
          </a:p>
          <a:p>
            <a:pPr marL="754380" lvl="1" indent="-285750">
              <a:lnSpc>
                <a:spcPts val="2875"/>
              </a:lnSpc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Descriptive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access_date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4380" lvl="1" indent="-285750">
              <a:lnSpc>
                <a:spcPts val="2875"/>
              </a:lnSpc>
              <a:buFont typeface="Arial MT"/>
              <a:buChar char="–"/>
              <a:tabLst>
                <a:tab pos="755015" algn="l"/>
              </a:tabLst>
            </a:pPr>
            <a:r>
              <a:rPr sz="2400" i="1" spc="-5" dirty="0">
                <a:latin typeface="Arial"/>
                <a:cs typeface="Arial"/>
              </a:rPr>
              <a:t>borrower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mapping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cardinality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b="1" dirty="0" smtClean="0">
                <a:latin typeface="Arial MT"/>
                <a:cs typeface="Arial MT"/>
              </a:rPr>
              <a:t>many-to-many</a:t>
            </a:r>
            <a:endParaRPr lang="en-US" sz="2400" b="1" dirty="0" smtClean="0">
              <a:latin typeface="Arial MT"/>
              <a:cs typeface="Arial MT"/>
            </a:endParaRPr>
          </a:p>
          <a:p>
            <a:pPr marL="239395" algn="ctr">
              <a:lnSpc>
                <a:spcPts val="2880"/>
              </a:lnSpc>
            </a:pPr>
            <a:r>
              <a:rPr sz="2400" i="1" spc="-5" dirty="0" smtClean="0">
                <a:solidFill>
                  <a:srgbClr val="FF0000"/>
                </a:solidFill>
                <a:latin typeface="Arial"/>
                <a:cs typeface="Arial"/>
              </a:rPr>
              <a:t>borrower</a:t>
            </a:r>
            <a:r>
              <a:rPr sz="2400" spc="-5" dirty="0" smtClean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spc="-5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access_date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39900" y="30353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3100" y="24257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6798" y="2514345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0300" y="1816100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571499" y="0"/>
                </a:moveTo>
                <a:lnTo>
                  <a:pt x="504881" y="1534"/>
                </a:lnTo>
                <a:lnTo>
                  <a:pt x="440511" y="6024"/>
                </a:lnTo>
                <a:lnTo>
                  <a:pt x="378821" y="13301"/>
                </a:lnTo>
                <a:lnTo>
                  <a:pt x="320239" y="23193"/>
                </a:lnTo>
                <a:lnTo>
                  <a:pt x="265197" y="35531"/>
                </a:lnTo>
                <a:lnTo>
                  <a:pt x="214124" y="50145"/>
                </a:lnTo>
                <a:lnTo>
                  <a:pt x="167449" y="66865"/>
                </a:lnTo>
                <a:lnTo>
                  <a:pt x="125603" y="85521"/>
                </a:lnTo>
                <a:lnTo>
                  <a:pt x="89015" y="105944"/>
                </a:lnTo>
                <a:lnTo>
                  <a:pt x="33335" y="151407"/>
                </a:lnTo>
                <a:lnTo>
                  <a:pt x="3847" y="201896"/>
                </a:lnTo>
                <a:lnTo>
                  <a:pt x="0" y="228600"/>
                </a:lnTo>
                <a:lnTo>
                  <a:pt x="3847" y="255303"/>
                </a:lnTo>
                <a:lnTo>
                  <a:pt x="33335" y="305792"/>
                </a:lnTo>
                <a:lnTo>
                  <a:pt x="89015" y="351255"/>
                </a:lnTo>
                <a:lnTo>
                  <a:pt x="125603" y="371678"/>
                </a:lnTo>
                <a:lnTo>
                  <a:pt x="167449" y="390334"/>
                </a:lnTo>
                <a:lnTo>
                  <a:pt x="214124" y="407054"/>
                </a:lnTo>
                <a:lnTo>
                  <a:pt x="265197" y="421668"/>
                </a:lnTo>
                <a:lnTo>
                  <a:pt x="320239" y="434006"/>
                </a:lnTo>
                <a:lnTo>
                  <a:pt x="378821" y="443898"/>
                </a:lnTo>
                <a:lnTo>
                  <a:pt x="440511" y="451175"/>
                </a:lnTo>
                <a:lnTo>
                  <a:pt x="504881" y="455665"/>
                </a:lnTo>
                <a:lnTo>
                  <a:pt x="571499" y="457200"/>
                </a:lnTo>
                <a:lnTo>
                  <a:pt x="638118" y="455665"/>
                </a:lnTo>
                <a:lnTo>
                  <a:pt x="702488" y="451175"/>
                </a:lnTo>
                <a:lnTo>
                  <a:pt x="764178" y="443898"/>
                </a:lnTo>
                <a:lnTo>
                  <a:pt x="822760" y="434006"/>
                </a:lnTo>
                <a:lnTo>
                  <a:pt x="877802" y="421668"/>
                </a:lnTo>
                <a:lnTo>
                  <a:pt x="928875" y="407054"/>
                </a:lnTo>
                <a:lnTo>
                  <a:pt x="975550" y="390334"/>
                </a:lnTo>
                <a:lnTo>
                  <a:pt x="1017396" y="371678"/>
                </a:lnTo>
                <a:lnTo>
                  <a:pt x="1053984" y="351255"/>
                </a:lnTo>
                <a:lnTo>
                  <a:pt x="1109664" y="305792"/>
                </a:lnTo>
                <a:lnTo>
                  <a:pt x="1139152" y="255303"/>
                </a:lnTo>
                <a:lnTo>
                  <a:pt x="1142999" y="228600"/>
                </a:lnTo>
                <a:lnTo>
                  <a:pt x="1139152" y="201896"/>
                </a:lnTo>
                <a:lnTo>
                  <a:pt x="1109664" y="151407"/>
                </a:lnTo>
                <a:lnTo>
                  <a:pt x="1053984" y="105944"/>
                </a:lnTo>
                <a:lnTo>
                  <a:pt x="1017396" y="85521"/>
                </a:lnTo>
                <a:lnTo>
                  <a:pt x="975550" y="66865"/>
                </a:lnTo>
                <a:lnTo>
                  <a:pt x="928875" y="50145"/>
                </a:lnTo>
                <a:lnTo>
                  <a:pt x="877802" y="35531"/>
                </a:lnTo>
                <a:lnTo>
                  <a:pt x="822760" y="23193"/>
                </a:lnTo>
                <a:lnTo>
                  <a:pt x="764178" y="13301"/>
                </a:lnTo>
                <a:lnTo>
                  <a:pt x="702488" y="6024"/>
                </a:lnTo>
                <a:lnTo>
                  <a:pt x="638118" y="1534"/>
                </a:lnTo>
                <a:lnTo>
                  <a:pt x="5714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35353" y="1904745"/>
            <a:ext cx="533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01900" y="1739900"/>
            <a:ext cx="1600200" cy="457200"/>
          </a:xfrm>
          <a:custGeom>
            <a:avLst/>
            <a:gdLst/>
            <a:ahLst/>
            <a:cxnLst/>
            <a:rect l="l" t="t" r="r" b="b"/>
            <a:pathLst>
              <a:path w="1600200" h="457200">
                <a:moveTo>
                  <a:pt x="800100" y="0"/>
                </a:moveTo>
                <a:lnTo>
                  <a:pt x="731053" y="837"/>
                </a:lnTo>
                <a:lnTo>
                  <a:pt x="663639" y="3303"/>
                </a:lnTo>
                <a:lnTo>
                  <a:pt x="598099" y="7330"/>
                </a:lnTo>
                <a:lnTo>
                  <a:pt x="534672" y="12851"/>
                </a:lnTo>
                <a:lnTo>
                  <a:pt x="473597" y="19797"/>
                </a:lnTo>
                <a:lnTo>
                  <a:pt x="415116" y="28099"/>
                </a:lnTo>
                <a:lnTo>
                  <a:pt x="359467" y="37691"/>
                </a:lnTo>
                <a:lnTo>
                  <a:pt x="306891" y="48504"/>
                </a:lnTo>
                <a:lnTo>
                  <a:pt x="257629" y="60471"/>
                </a:lnTo>
                <a:lnTo>
                  <a:pt x="211919" y="73522"/>
                </a:lnTo>
                <a:lnTo>
                  <a:pt x="170001" y="87591"/>
                </a:lnTo>
                <a:lnTo>
                  <a:pt x="132117" y="102609"/>
                </a:lnTo>
                <a:lnTo>
                  <a:pt x="69406" y="135220"/>
                </a:lnTo>
                <a:lnTo>
                  <a:pt x="25706" y="170812"/>
                </a:lnTo>
                <a:lnTo>
                  <a:pt x="2936" y="208841"/>
                </a:lnTo>
                <a:lnTo>
                  <a:pt x="0" y="228599"/>
                </a:lnTo>
                <a:lnTo>
                  <a:pt x="2936" y="248358"/>
                </a:lnTo>
                <a:lnTo>
                  <a:pt x="25706" y="286387"/>
                </a:lnTo>
                <a:lnTo>
                  <a:pt x="69406" y="321979"/>
                </a:lnTo>
                <a:lnTo>
                  <a:pt x="132117" y="354590"/>
                </a:lnTo>
                <a:lnTo>
                  <a:pt x="170001" y="369608"/>
                </a:lnTo>
                <a:lnTo>
                  <a:pt x="211919" y="383677"/>
                </a:lnTo>
                <a:lnTo>
                  <a:pt x="257629" y="396728"/>
                </a:lnTo>
                <a:lnTo>
                  <a:pt x="306891" y="408695"/>
                </a:lnTo>
                <a:lnTo>
                  <a:pt x="359467" y="419508"/>
                </a:lnTo>
                <a:lnTo>
                  <a:pt x="415116" y="429100"/>
                </a:lnTo>
                <a:lnTo>
                  <a:pt x="473597" y="437402"/>
                </a:lnTo>
                <a:lnTo>
                  <a:pt x="534672" y="444348"/>
                </a:lnTo>
                <a:lnTo>
                  <a:pt x="598099" y="449869"/>
                </a:lnTo>
                <a:lnTo>
                  <a:pt x="663639" y="453896"/>
                </a:lnTo>
                <a:lnTo>
                  <a:pt x="731053" y="456362"/>
                </a:lnTo>
                <a:lnTo>
                  <a:pt x="800100" y="457199"/>
                </a:lnTo>
                <a:lnTo>
                  <a:pt x="869146" y="456362"/>
                </a:lnTo>
                <a:lnTo>
                  <a:pt x="936560" y="453896"/>
                </a:lnTo>
                <a:lnTo>
                  <a:pt x="1002100" y="449869"/>
                </a:lnTo>
                <a:lnTo>
                  <a:pt x="1065527" y="444348"/>
                </a:lnTo>
                <a:lnTo>
                  <a:pt x="1126602" y="437402"/>
                </a:lnTo>
                <a:lnTo>
                  <a:pt x="1185083" y="429100"/>
                </a:lnTo>
                <a:lnTo>
                  <a:pt x="1240732" y="419508"/>
                </a:lnTo>
                <a:lnTo>
                  <a:pt x="1293308" y="408695"/>
                </a:lnTo>
                <a:lnTo>
                  <a:pt x="1342570" y="396728"/>
                </a:lnTo>
                <a:lnTo>
                  <a:pt x="1388280" y="383677"/>
                </a:lnTo>
                <a:lnTo>
                  <a:pt x="1430198" y="369608"/>
                </a:lnTo>
                <a:lnTo>
                  <a:pt x="1468082" y="354590"/>
                </a:lnTo>
                <a:lnTo>
                  <a:pt x="1530793" y="321979"/>
                </a:lnTo>
                <a:lnTo>
                  <a:pt x="1574493" y="286387"/>
                </a:lnTo>
                <a:lnTo>
                  <a:pt x="1597263" y="248358"/>
                </a:lnTo>
                <a:lnTo>
                  <a:pt x="1600200" y="228599"/>
                </a:lnTo>
                <a:lnTo>
                  <a:pt x="1597263" y="208841"/>
                </a:lnTo>
                <a:lnTo>
                  <a:pt x="1574493" y="170812"/>
                </a:lnTo>
                <a:lnTo>
                  <a:pt x="1530793" y="135220"/>
                </a:lnTo>
                <a:lnTo>
                  <a:pt x="1468082" y="102609"/>
                </a:lnTo>
                <a:lnTo>
                  <a:pt x="1430198" y="87591"/>
                </a:lnTo>
                <a:lnTo>
                  <a:pt x="1388280" y="73522"/>
                </a:lnTo>
                <a:lnTo>
                  <a:pt x="1342570" y="60471"/>
                </a:lnTo>
                <a:lnTo>
                  <a:pt x="1293308" y="48504"/>
                </a:lnTo>
                <a:lnTo>
                  <a:pt x="1240732" y="37691"/>
                </a:lnTo>
                <a:lnTo>
                  <a:pt x="1185083" y="28099"/>
                </a:lnTo>
                <a:lnTo>
                  <a:pt x="1126602" y="19797"/>
                </a:lnTo>
                <a:lnTo>
                  <a:pt x="1065527" y="12851"/>
                </a:lnTo>
                <a:lnTo>
                  <a:pt x="1002100" y="7330"/>
                </a:lnTo>
                <a:lnTo>
                  <a:pt x="936560" y="3303"/>
                </a:lnTo>
                <a:lnTo>
                  <a:pt x="869146" y="837"/>
                </a:lnTo>
                <a:lnTo>
                  <a:pt x="8001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17977" y="1828545"/>
            <a:ext cx="13709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street_address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63900" y="24257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56000" y="25143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87500" y="2197100"/>
            <a:ext cx="1714500" cy="838200"/>
          </a:xfrm>
          <a:custGeom>
            <a:avLst/>
            <a:gdLst/>
            <a:ahLst/>
            <a:cxnLst/>
            <a:rect l="l" t="t" r="r" b="b"/>
            <a:pathLst>
              <a:path w="1714500" h="838200">
                <a:moveTo>
                  <a:pt x="0" y="457200"/>
                </a:moveTo>
                <a:lnTo>
                  <a:pt x="876300" y="838200"/>
                </a:lnTo>
              </a:path>
              <a:path w="1714500" h="838200">
                <a:moveTo>
                  <a:pt x="114299" y="76200"/>
                </a:moveTo>
                <a:lnTo>
                  <a:pt x="876300" y="838200"/>
                </a:lnTo>
              </a:path>
              <a:path w="1714500" h="838200">
                <a:moveTo>
                  <a:pt x="1714499" y="0"/>
                </a:moveTo>
                <a:lnTo>
                  <a:pt x="876300" y="838200"/>
                </a:lnTo>
              </a:path>
              <a:path w="1714500" h="838200">
                <a:moveTo>
                  <a:pt x="1676399" y="457199"/>
                </a:moveTo>
                <a:lnTo>
                  <a:pt x="876300" y="838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06900" y="2959100"/>
            <a:ext cx="1524000" cy="685800"/>
          </a:xfrm>
          <a:custGeom>
            <a:avLst/>
            <a:gdLst/>
            <a:ahLst/>
            <a:cxnLst/>
            <a:rect l="l" t="t" r="r" b="b"/>
            <a:pathLst>
              <a:path w="1524000" h="685800">
                <a:moveTo>
                  <a:pt x="762000" y="0"/>
                </a:moveTo>
                <a:lnTo>
                  <a:pt x="0" y="342900"/>
                </a:lnTo>
                <a:lnTo>
                  <a:pt x="762000" y="685800"/>
                </a:lnTo>
                <a:lnTo>
                  <a:pt x="1524000" y="342899"/>
                </a:lnTo>
                <a:lnTo>
                  <a:pt x="7620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56150" y="3162045"/>
            <a:ext cx="8267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borrower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4300" y="30353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loan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88100" y="1816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07226" y="1904745"/>
            <a:ext cx="6788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78700" y="2120900"/>
            <a:ext cx="1066800" cy="457200"/>
          </a:xfrm>
          <a:custGeom>
            <a:avLst/>
            <a:gdLst/>
            <a:ahLst/>
            <a:cxnLst/>
            <a:rect l="l" t="t" r="r" b="b"/>
            <a:pathLst>
              <a:path w="1066800" h="457200">
                <a:moveTo>
                  <a:pt x="533400" y="0"/>
                </a:moveTo>
                <a:lnTo>
                  <a:pt x="466431" y="1777"/>
                </a:lnTo>
                <a:lnTo>
                  <a:pt x="401962" y="6967"/>
                </a:lnTo>
                <a:lnTo>
                  <a:pt x="340489" y="15357"/>
                </a:lnTo>
                <a:lnTo>
                  <a:pt x="282510" y="26736"/>
                </a:lnTo>
                <a:lnTo>
                  <a:pt x="228523" y="40892"/>
                </a:lnTo>
                <a:lnTo>
                  <a:pt x="179025" y="57610"/>
                </a:lnTo>
                <a:lnTo>
                  <a:pt x="134512" y="76681"/>
                </a:lnTo>
                <a:lnTo>
                  <a:pt x="95484" y="97891"/>
                </a:lnTo>
                <a:lnTo>
                  <a:pt x="62436" y="121027"/>
                </a:lnTo>
                <a:lnTo>
                  <a:pt x="16272" y="172233"/>
                </a:lnTo>
                <a:lnTo>
                  <a:pt x="0" y="228599"/>
                </a:lnTo>
                <a:lnTo>
                  <a:pt x="4150" y="257322"/>
                </a:lnTo>
                <a:lnTo>
                  <a:pt x="35866" y="311320"/>
                </a:lnTo>
                <a:lnTo>
                  <a:pt x="95484" y="359308"/>
                </a:lnTo>
                <a:lnTo>
                  <a:pt x="134512" y="380518"/>
                </a:lnTo>
                <a:lnTo>
                  <a:pt x="179025" y="399589"/>
                </a:lnTo>
                <a:lnTo>
                  <a:pt x="228523" y="416307"/>
                </a:lnTo>
                <a:lnTo>
                  <a:pt x="282510" y="430463"/>
                </a:lnTo>
                <a:lnTo>
                  <a:pt x="340489" y="441842"/>
                </a:lnTo>
                <a:lnTo>
                  <a:pt x="401962" y="450232"/>
                </a:lnTo>
                <a:lnTo>
                  <a:pt x="466431" y="455422"/>
                </a:lnTo>
                <a:lnTo>
                  <a:pt x="533400" y="457199"/>
                </a:lnTo>
                <a:lnTo>
                  <a:pt x="600368" y="455422"/>
                </a:lnTo>
                <a:lnTo>
                  <a:pt x="664837" y="450232"/>
                </a:lnTo>
                <a:lnTo>
                  <a:pt x="726310" y="441842"/>
                </a:lnTo>
                <a:lnTo>
                  <a:pt x="784289" y="430463"/>
                </a:lnTo>
                <a:lnTo>
                  <a:pt x="838276" y="416307"/>
                </a:lnTo>
                <a:lnTo>
                  <a:pt x="887774" y="399589"/>
                </a:lnTo>
                <a:lnTo>
                  <a:pt x="932287" y="380518"/>
                </a:lnTo>
                <a:lnTo>
                  <a:pt x="971315" y="359308"/>
                </a:lnTo>
                <a:lnTo>
                  <a:pt x="1004363" y="336172"/>
                </a:lnTo>
                <a:lnTo>
                  <a:pt x="1050527" y="284966"/>
                </a:lnTo>
                <a:lnTo>
                  <a:pt x="1066800" y="228599"/>
                </a:lnTo>
                <a:lnTo>
                  <a:pt x="1062649" y="199877"/>
                </a:lnTo>
                <a:lnTo>
                  <a:pt x="1030933" y="145879"/>
                </a:lnTo>
                <a:lnTo>
                  <a:pt x="971315" y="97891"/>
                </a:lnTo>
                <a:lnTo>
                  <a:pt x="932287" y="76681"/>
                </a:lnTo>
                <a:lnTo>
                  <a:pt x="887774" y="57610"/>
                </a:lnTo>
                <a:lnTo>
                  <a:pt x="838276" y="40892"/>
                </a:lnTo>
                <a:lnTo>
                  <a:pt x="784289" y="26736"/>
                </a:lnTo>
                <a:lnTo>
                  <a:pt x="726310" y="15357"/>
                </a:lnTo>
                <a:lnTo>
                  <a:pt x="664837" y="6967"/>
                </a:lnTo>
                <a:lnTo>
                  <a:pt x="600368" y="1777"/>
                </a:lnTo>
                <a:lnTo>
                  <a:pt x="5334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61071" y="2209545"/>
            <a:ext cx="7029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amount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45300" y="2273300"/>
            <a:ext cx="1066800" cy="762000"/>
          </a:xfrm>
          <a:custGeom>
            <a:avLst/>
            <a:gdLst/>
            <a:ahLst/>
            <a:cxnLst/>
            <a:rect l="l" t="t" r="r" b="b"/>
            <a:pathLst>
              <a:path w="1066800" h="762000">
                <a:moveTo>
                  <a:pt x="0" y="0"/>
                </a:moveTo>
                <a:lnTo>
                  <a:pt x="342900" y="761999"/>
                </a:lnTo>
              </a:path>
              <a:path w="1066800" h="762000">
                <a:moveTo>
                  <a:pt x="1066800" y="304799"/>
                </a:moveTo>
                <a:lnTo>
                  <a:pt x="342900" y="7619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7700" y="2120900"/>
            <a:ext cx="3276600" cy="1181100"/>
          </a:xfrm>
          <a:custGeom>
            <a:avLst/>
            <a:gdLst/>
            <a:ahLst/>
            <a:cxnLst/>
            <a:rect l="l" t="t" r="r" b="b"/>
            <a:pathLst>
              <a:path w="3276600" h="1181100">
                <a:moveTo>
                  <a:pt x="0" y="1181100"/>
                </a:moveTo>
                <a:lnTo>
                  <a:pt x="1219200" y="1181100"/>
                </a:lnTo>
              </a:path>
              <a:path w="3276600" h="1181100">
                <a:moveTo>
                  <a:pt x="2743200" y="1181099"/>
                </a:moveTo>
                <a:lnTo>
                  <a:pt x="3276600" y="1181099"/>
                </a:lnTo>
              </a:path>
              <a:path w="3276600" h="1181100">
                <a:moveTo>
                  <a:pt x="2019300" y="0"/>
                </a:moveTo>
                <a:lnTo>
                  <a:pt x="1950253" y="837"/>
                </a:lnTo>
                <a:lnTo>
                  <a:pt x="1882839" y="3303"/>
                </a:lnTo>
                <a:lnTo>
                  <a:pt x="1817299" y="7330"/>
                </a:lnTo>
                <a:lnTo>
                  <a:pt x="1753872" y="12851"/>
                </a:lnTo>
                <a:lnTo>
                  <a:pt x="1692797" y="19797"/>
                </a:lnTo>
                <a:lnTo>
                  <a:pt x="1634316" y="28099"/>
                </a:lnTo>
                <a:lnTo>
                  <a:pt x="1578667" y="37691"/>
                </a:lnTo>
                <a:lnTo>
                  <a:pt x="1526091" y="48504"/>
                </a:lnTo>
                <a:lnTo>
                  <a:pt x="1476829" y="60471"/>
                </a:lnTo>
                <a:lnTo>
                  <a:pt x="1431119" y="73522"/>
                </a:lnTo>
                <a:lnTo>
                  <a:pt x="1389201" y="87591"/>
                </a:lnTo>
                <a:lnTo>
                  <a:pt x="1351317" y="102609"/>
                </a:lnTo>
                <a:lnTo>
                  <a:pt x="1288606" y="135220"/>
                </a:lnTo>
                <a:lnTo>
                  <a:pt x="1244906" y="170812"/>
                </a:lnTo>
                <a:lnTo>
                  <a:pt x="1222136" y="208841"/>
                </a:lnTo>
                <a:lnTo>
                  <a:pt x="1219200" y="228599"/>
                </a:lnTo>
                <a:lnTo>
                  <a:pt x="1222136" y="248358"/>
                </a:lnTo>
                <a:lnTo>
                  <a:pt x="1244906" y="286387"/>
                </a:lnTo>
                <a:lnTo>
                  <a:pt x="1288606" y="321979"/>
                </a:lnTo>
                <a:lnTo>
                  <a:pt x="1351317" y="354590"/>
                </a:lnTo>
                <a:lnTo>
                  <a:pt x="1389201" y="369608"/>
                </a:lnTo>
                <a:lnTo>
                  <a:pt x="1431119" y="383677"/>
                </a:lnTo>
                <a:lnTo>
                  <a:pt x="1476829" y="396728"/>
                </a:lnTo>
                <a:lnTo>
                  <a:pt x="1526091" y="408695"/>
                </a:lnTo>
                <a:lnTo>
                  <a:pt x="1578667" y="419508"/>
                </a:lnTo>
                <a:lnTo>
                  <a:pt x="1634316" y="429100"/>
                </a:lnTo>
                <a:lnTo>
                  <a:pt x="1692797" y="437402"/>
                </a:lnTo>
                <a:lnTo>
                  <a:pt x="1753872" y="444348"/>
                </a:lnTo>
                <a:lnTo>
                  <a:pt x="1817299" y="449869"/>
                </a:lnTo>
                <a:lnTo>
                  <a:pt x="1882839" y="453896"/>
                </a:lnTo>
                <a:lnTo>
                  <a:pt x="1950253" y="456362"/>
                </a:lnTo>
                <a:lnTo>
                  <a:pt x="2019300" y="457199"/>
                </a:lnTo>
                <a:lnTo>
                  <a:pt x="2088346" y="456362"/>
                </a:lnTo>
                <a:lnTo>
                  <a:pt x="2155760" y="453896"/>
                </a:lnTo>
                <a:lnTo>
                  <a:pt x="2221300" y="449869"/>
                </a:lnTo>
                <a:lnTo>
                  <a:pt x="2284727" y="444348"/>
                </a:lnTo>
                <a:lnTo>
                  <a:pt x="2345802" y="437402"/>
                </a:lnTo>
                <a:lnTo>
                  <a:pt x="2404283" y="429100"/>
                </a:lnTo>
                <a:lnTo>
                  <a:pt x="2459932" y="419508"/>
                </a:lnTo>
                <a:lnTo>
                  <a:pt x="2512508" y="408695"/>
                </a:lnTo>
                <a:lnTo>
                  <a:pt x="2561770" y="396728"/>
                </a:lnTo>
                <a:lnTo>
                  <a:pt x="2607480" y="383677"/>
                </a:lnTo>
                <a:lnTo>
                  <a:pt x="2649398" y="369608"/>
                </a:lnTo>
                <a:lnTo>
                  <a:pt x="2687282" y="354590"/>
                </a:lnTo>
                <a:lnTo>
                  <a:pt x="2749993" y="321979"/>
                </a:lnTo>
                <a:lnTo>
                  <a:pt x="2793693" y="286387"/>
                </a:lnTo>
                <a:lnTo>
                  <a:pt x="2816463" y="248358"/>
                </a:lnTo>
                <a:lnTo>
                  <a:pt x="2819400" y="228599"/>
                </a:lnTo>
                <a:lnTo>
                  <a:pt x="2816463" y="208841"/>
                </a:lnTo>
                <a:lnTo>
                  <a:pt x="2793693" y="170812"/>
                </a:lnTo>
                <a:lnTo>
                  <a:pt x="2749993" y="135220"/>
                </a:lnTo>
                <a:lnTo>
                  <a:pt x="2687282" y="102609"/>
                </a:lnTo>
                <a:lnTo>
                  <a:pt x="2649398" y="87591"/>
                </a:lnTo>
                <a:lnTo>
                  <a:pt x="2607480" y="73522"/>
                </a:lnTo>
                <a:lnTo>
                  <a:pt x="2561770" y="60471"/>
                </a:lnTo>
                <a:lnTo>
                  <a:pt x="2512508" y="48504"/>
                </a:lnTo>
                <a:lnTo>
                  <a:pt x="2459932" y="37691"/>
                </a:lnTo>
                <a:lnTo>
                  <a:pt x="2404283" y="28099"/>
                </a:lnTo>
                <a:lnTo>
                  <a:pt x="2345802" y="19797"/>
                </a:lnTo>
                <a:lnTo>
                  <a:pt x="2284727" y="12851"/>
                </a:lnTo>
                <a:lnTo>
                  <a:pt x="2221300" y="7330"/>
                </a:lnTo>
                <a:lnTo>
                  <a:pt x="2155760" y="3303"/>
                </a:lnTo>
                <a:lnTo>
                  <a:pt x="2088346" y="837"/>
                </a:lnTo>
                <a:lnTo>
                  <a:pt x="20193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25847" y="2209545"/>
            <a:ext cx="1164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access_date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68900" y="25781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-4762"/>
                </a:moveTo>
                <a:lnTo>
                  <a:pt x="19050" y="385762"/>
                </a:lnTo>
              </a:path>
            </a:pathLst>
          </a:custGeom>
          <a:ln w="47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336" y="469900"/>
            <a:ext cx="72980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Relationship-Set</a:t>
            </a:r>
            <a:r>
              <a:rPr dirty="0"/>
              <a:t> </a:t>
            </a:r>
            <a:r>
              <a:rPr spc="-5" dirty="0"/>
              <a:t>Example</a:t>
            </a:r>
            <a:r>
              <a:rPr spc="5" dirty="0"/>
              <a:t> 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0" y="3154117"/>
            <a:ext cx="8226299" cy="25704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2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employee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entity-set:</a:t>
            </a:r>
          </a:p>
          <a:p>
            <a:pPr marL="469900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Arial"/>
                <a:cs typeface="Arial"/>
              </a:rPr>
              <a:t>employee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34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works_for</a:t>
            </a:r>
            <a:r>
              <a:rPr sz="2800" dirty="0">
                <a:latin typeface="Arial MT"/>
                <a:cs typeface="Arial MT"/>
              </a:rPr>
              <a:t>:</a:t>
            </a: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One-to-many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mapping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manager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worker</a:t>
            </a:r>
            <a:endParaRPr sz="2400" dirty="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</a:tabLst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“Many” side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for </a:t>
            </a:r>
            <a:r>
              <a:rPr sz="2400" spc="-5" dirty="0">
                <a:latin typeface="Arial MT"/>
                <a:cs typeface="Arial MT"/>
              </a:rPr>
              <a:t>primary</a:t>
            </a:r>
            <a:r>
              <a:rPr sz="2400" dirty="0">
                <a:latin typeface="Arial MT"/>
                <a:cs typeface="Arial MT"/>
              </a:rPr>
              <a:t> key</a:t>
            </a:r>
          </a:p>
          <a:p>
            <a:pPr marR="224790" algn="ctr">
              <a:lnSpc>
                <a:spcPct val="100000"/>
              </a:lnSpc>
              <a:spcBef>
                <a:spcPts val="280"/>
              </a:spcBef>
            </a:pP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works_for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manager_id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2500" y="2120900"/>
            <a:ext cx="12954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400"/>
              </a:spcBef>
            </a:pPr>
            <a:r>
              <a:rPr sz="1600" i="1" spc="-5" dirty="0">
                <a:latin typeface="Arial"/>
                <a:cs typeface="Arial"/>
              </a:rPr>
              <a:t>employee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87900" y="1963737"/>
            <a:ext cx="2062480" cy="923925"/>
            <a:chOff x="4787900" y="1963737"/>
            <a:chExt cx="2062480" cy="923925"/>
          </a:xfrm>
        </p:grpSpPr>
        <p:sp>
          <p:nvSpPr>
            <p:cNvPr id="6" name="object 6"/>
            <p:cNvSpPr/>
            <p:nvPr/>
          </p:nvSpPr>
          <p:spPr>
            <a:xfrm>
              <a:off x="4787900" y="25781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900" y="2235200"/>
              <a:ext cx="995680" cy="76200"/>
            </a:xfrm>
            <a:custGeom>
              <a:avLst/>
              <a:gdLst/>
              <a:ahLst/>
              <a:cxnLst/>
              <a:rect l="l" t="t" r="r" b="b"/>
              <a:pathLst>
                <a:path w="995679" h="76200">
                  <a:moveTo>
                    <a:pt x="76200" y="33527"/>
                  </a:moveTo>
                  <a:lnTo>
                    <a:pt x="76200" y="0"/>
                  </a:lnTo>
                  <a:lnTo>
                    <a:pt x="0" y="38099"/>
                  </a:lnTo>
                  <a:lnTo>
                    <a:pt x="58674" y="67436"/>
                  </a:lnTo>
                  <a:lnTo>
                    <a:pt x="58674" y="38099"/>
                  </a:lnTo>
                  <a:lnTo>
                    <a:pt x="60198" y="35051"/>
                  </a:lnTo>
                  <a:lnTo>
                    <a:pt x="63246" y="33527"/>
                  </a:lnTo>
                  <a:lnTo>
                    <a:pt x="76200" y="33527"/>
                  </a:lnTo>
                  <a:close/>
                </a:path>
                <a:path w="995679" h="76200">
                  <a:moveTo>
                    <a:pt x="995172" y="38099"/>
                  </a:moveTo>
                  <a:lnTo>
                    <a:pt x="993648" y="35051"/>
                  </a:lnTo>
                  <a:lnTo>
                    <a:pt x="990600" y="33527"/>
                  </a:lnTo>
                  <a:lnTo>
                    <a:pt x="63246" y="33527"/>
                  </a:lnTo>
                  <a:lnTo>
                    <a:pt x="60198" y="35051"/>
                  </a:lnTo>
                  <a:lnTo>
                    <a:pt x="58674" y="38099"/>
                  </a:lnTo>
                  <a:lnTo>
                    <a:pt x="60198" y="41147"/>
                  </a:lnTo>
                  <a:lnTo>
                    <a:pt x="63246" y="42671"/>
                  </a:lnTo>
                  <a:lnTo>
                    <a:pt x="990600" y="42671"/>
                  </a:lnTo>
                  <a:lnTo>
                    <a:pt x="993648" y="41147"/>
                  </a:lnTo>
                  <a:lnTo>
                    <a:pt x="995172" y="38099"/>
                  </a:lnTo>
                  <a:close/>
                </a:path>
                <a:path w="995679" h="76200">
                  <a:moveTo>
                    <a:pt x="76200" y="76199"/>
                  </a:moveTo>
                  <a:lnTo>
                    <a:pt x="76200" y="42671"/>
                  </a:lnTo>
                  <a:lnTo>
                    <a:pt x="63246" y="42671"/>
                  </a:lnTo>
                  <a:lnTo>
                    <a:pt x="60198" y="41147"/>
                  </a:lnTo>
                  <a:lnTo>
                    <a:pt x="58674" y="38099"/>
                  </a:lnTo>
                  <a:lnTo>
                    <a:pt x="58674" y="67436"/>
                  </a:lnTo>
                  <a:lnTo>
                    <a:pt x="76200" y="761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73700" y="19685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457199"/>
                  </a:moveTo>
                  <a:lnTo>
                    <a:pt x="685800" y="0"/>
                  </a:lnTo>
                  <a:lnTo>
                    <a:pt x="0" y="457199"/>
                  </a:lnTo>
                  <a:lnTo>
                    <a:pt x="685800" y="914399"/>
                  </a:lnTo>
                  <a:lnTo>
                    <a:pt x="1371600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73700" y="19685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685800" y="0"/>
                  </a:moveTo>
                  <a:lnTo>
                    <a:pt x="0" y="457199"/>
                  </a:lnTo>
                  <a:lnTo>
                    <a:pt x="685800" y="914399"/>
                  </a:lnTo>
                  <a:lnTo>
                    <a:pt x="1371600" y="457199"/>
                  </a:lnTo>
                  <a:lnTo>
                    <a:pt x="6858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07126" y="2285745"/>
            <a:ext cx="90614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works_for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4646" y="2005330"/>
            <a:ext cx="7245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10" dirty="0">
                <a:latin typeface="Arial"/>
                <a:cs typeface="Arial"/>
              </a:rPr>
              <a:t>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1758" y="255785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10" dirty="0">
                <a:latin typeface="Arial"/>
                <a:cs typeface="Arial"/>
              </a:rPr>
              <a:t>worker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39900" y="2501900"/>
            <a:ext cx="1524000" cy="457200"/>
          </a:xfrm>
          <a:custGeom>
            <a:avLst/>
            <a:gdLst/>
            <a:ahLst/>
            <a:cxnLst/>
            <a:rect l="l" t="t" r="r" b="b"/>
            <a:pathLst>
              <a:path w="1524000" h="457200">
                <a:moveTo>
                  <a:pt x="762000" y="0"/>
                </a:moveTo>
                <a:lnTo>
                  <a:pt x="692674" y="932"/>
                </a:lnTo>
                <a:lnTo>
                  <a:pt x="625086" y="3675"/>
                </a:lnTo>
                <a:lnTo>
                  <a:pt x="559505" y="8149"/>
                </a:lnTo>
                <a:lnTo>
                  <a:pt x="496201" y="14274"/>
                </a:lnTo>
                <a:lnTo>
                  <a:pt x="435442" y="21970"/>
                </a:lnTo>
                <a:lnTo>
                  <a:pt x="377500" y="31157"/>
                </a:lnTo>
                <a:lnTo>
                  <a:pt x="322643" y="41755"/>
                </a:lnTo>
                <a:lnTo>
                  <a:pt x="271142" y="53684"/>
                </a:lnTo>
                <a:lnTo>
                  <a:pt x="223266" y="66865"/>
                </a:lnTo>
                <a:lnTo>
                  <a:pt x="179284" y="81217"/>
                </a:lnTo>
                <a:lnTo>
                  <a:pt x="139466" y="96660"/>
                </a:lnTo>
                <a:lnTo>
                  <a:pt x="104083" y="113114"/>
                </a:lnTo>
                <a:lnTo>
                  <a:pt x="47697" y="148737"/>
                </a:lnTo>
                <a:lnTo>
                  <a:pt x="12283" y="187445"/>
                </a:lnTo>
                <a:lnTo>
                  <a:pt x="0" y="228600"/>
                </a:lnTo>
                <a:lnTo>
                  <a:pt x="3115" y="249442"/>
                </a:lnTo>
                <a:lnTo>
                  <a:pt x="27234" y="289454"/>
                </a:lnTo>
                <a:lnTo>
                  <a:pt x="73403" y="326699"/>
                </a:lnTo>
                <a:lnTo>
                  <a:pt x="139466" y="360539"/>
                </a:lnTo>
                <a:lnTo>
                  <a:pt x="179284" y="375982"/>
                </a:lnTo>
                <a:lnTo>
                  <a:pt x="223265" y="390334"/>
                </a:lnTo>
                <a:lnTo>
                  <a:pt x="271142" y="403515"/>
                </a:lnTo>
                <a:lnTo>
                  <a:pt x="322643" y="415444"/>
                </a:lnTo>
                <a:lnTo>
                  <a:pt x="377500" y="426042"/>
                </a:lnTo>
                <a:lnTo>
                  <a:pt x="435442" y="435229"/>
                </a:lnTo>
                <a:lnTo>
                  <a:pt x="496201" y="442925"/>
                </a:lnTo>
                <a:lnTo>
                  <a:pt x="559505" y="449050"/>
                </a:lnTo>
                <a:lnTo>
                  <a:pt x="625086" y="453524"/>
                </a:lnTo>
                <a:lnTo>
                  <a:pt x="692674" y="456267"/>
                </a:lnTo>
                <a:lnTo>
                  <a:pt x="762000" y="457200"/>
                </a:lnTo>
                <a:lnTo>
                  <a:pt x="831325" y="456267"/>
                </a:lnTo>
                <a:lnTo>
                  <a:pt x="898913" y="453524"/>
                </a:lnTo>
                <a:lnTo>
                  <a:pt x="964494" y="449050"/>
                </a:lnTo>
                <a:lnTo>
                  <a:pt x="1027798" y="442925"/>
                </a:lnTo>
                <a:lnTo>
                  <a:pt x="1088557" y="435229"/>
                </a:lnTo>
                <a:lnTo>
                  <a:pt x="1146499" y="426042"/>
                </a:lnTo>
                <a:lnTo>
                  <a:pt x="1201356" y="415444"/>
                </a:lnTo>
                <a:lnTo>
                  <a:pt x="1252857" y="403515"/>
                </a:lnTo>
                <a:lnTo>
                  <a:pt x="1300733" y="390334"/>
                </a:lnTo>
                <a:lnTo>
                  <a:pt x="1344715" y="375982"/>
                </a:lnTo>
                <a:lnTo>
                  <a:pt x="1384533" y="360539"/>
                </a:lnTo>
                <a:lnTo>
                  <a:pt x="1419916" y="344085"/>
                </a:lnTo>
                <a:lnTo>
                  <a:pt x="1476302" y="308462"/>
                </a:lnTo>
                <a:lnTo>
                  <a:pt x="1511716" y="269754"/>
                </a:lnTo>
                <a:lnTo>
                  <a:pt x="1523999" y="228599"/>
                </a:lnTo>
                <a:lnTo>
                  <a:pt x="1520884" y="207757"/>
                </a:lnTo>
                <a:lnTo>
                  <a:pt x="1496765" y="167745"/>
                </a:lnTo>
                <a:lnTo>
                  <a:pt x="1450596" y="130500"/>
                </a:lnTo>
                <a:lnTo>
                  <a:pt x="1384533" y="96660"/>
                </a:lnTo>
                <a:lnTo>
                  <a:pt x="1344715" y="81217"/>
                </a:lnTo>
                <a:lnTo>
                  <a:pt x="1300733" y="66865"/>
                </a:lnTo>
                <a:lnTo>
                  <a:pt x="1252857" y="53684"/>
                </a:lnTo>
                <a:lnTo>
                  <a:pt x="1201356" y="41755"/>
                </a:lnTo>
                <a:lnTo>
                  <a:pt x="1146499" y="31157"/>
                </a:lnTo>
                <a:lnTo>
                  <a:pt x="1088557" y="21970"/>
                </a:lnTo>
                <a:lnTo>
                  <a:pt x="1027798" y="14274"/>
                </a:lnTo>
                <a:lnTo>
                  <a:pt x="964494" y="8149"/>
                </a:lnTo>
                <a:lnTo>
                  <a:pt x="898913" y="3675"/>
                </a:lnTo>
                <a:lnTo>
                  <a:pt x="831325" y="932"/>
                </a:lnTo>
                <a:lnTo>
                  <a:pt x="7620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16176" y="2590545"/>
            <a:ext cx="11753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25700" y="1663700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419100" y="0"/>
                </a:moveTo>
                <a:lnTo>
                  <a:pt x="357126" y="2473"/>
                </a:lnTo>
                <a:lnTo>
                  <a:pt x="297990" y="9659"/>
                </a:lnTo>
                <a:lnTo>
                  <a:pt x="242337" y="21207"/>
                </a:lnTo>
                <a:lnTo>
                  <a:pt x="190813" y="36768"/>
                </a:lnTo>
                <a:lnTo>
                  <a:pt x="144064" y="55990"/>
                </a:lnTo>
                <a:lnTo>
                  <a:pt x="102735" y="78524"/>
                </a:lnTo>
                <a:lnTo>
                  <a:pt x="67472" y="104019"/>
                </a:lnTo>
                <a:lnTo>
                  <a:pt x="38922" y="132124"/>
                </a:lnTo>
                <a:lnTo>
                  <a:pt x="4539" y="194765"/>
                </a:lnTo>
                <a:lnTo>
                  <a:pt x="0" y="228600"/>
                </a:lnTo>
                <a:lnTo>
                  <a:pt x="4539" y="262434"/>
                </a:lnTo>
                <a:lnTo>
                  <a:pt x="38922" y="325075"/>
                </a:lnTo>
                <a:lnTo>
                  <a:pt x="67472" y="353180"/>
                </a:lnTo>
                <a:lnTo>
                  <a:pt x="102735" y="378675"/>
                </a:lnTo>
                <a:lnTo>
                  <a:pt x="144064" y="401209"/>
                </a:lnTo>
                <a:lnTo>
                  <a:pt x="190813" y="420431"/>
                </a:lnTo>
                <a:lnTo>
                  <a:pt x="242337" y="435992"/>
                </a:lnTo>
                <a:lnTo>
                  <a:pt x="297990" y="447540"/>
                </a:lnTo>
                <a:lnTo>
                  <a:pt x="357126" y="454726"/>
                </a:lnTo>
                <a:lnTo>
                  <a:pt x="419100" y="457199"/>
                </a:lnTo>
                <a:lnTo>
                  <a:pt x="481073" y="454726"/>
                </a:lnTo>
                <a:lnTo>
                  <a:pt x="540209" y="447540"/>
                </a:lnTo>
                <a:lnTo>
                  <a:pt x="595862" y="435992"/>
                </a:lnTo>
                <a:lnTo>
                  <a:pt x="647386" y="420431"/>
                </a:lnTo>
                <a:lnTo>
                  <a:pt x="694135" y="401209"/>
                </a:lnTo>
                <a:lnTo>
                  <a:pt x="735464" y="378675"/>
                </a:lnTo>
                <a:lnTo>
                  <a:pt x="770727" y="353180"/>
                </a:lnTo>
                <a:lnTo>
                  <a:pt x="799277" y="325075"/>
                </a:lnTo>
                <a:lnTo>
                  <a:pt x="833660" y="262434"/>
                </a:lnTo>
                <a:lnTo>
                  <a:pt x="838200" y="228599"/>
                </a:lnTo>
                <a:lnTo>
                  <a:pt x="833660" y="194765"/>
                </a:lnTo>
                <a:lnTo>
                  <a:pt x="799277" y="132124"/>
                </a:lnTo>
                <a:lnTo>
                  <a:pt x="770727" y="104019"/>
                </a:lnTo>
                <a:lnTo>
                  <a:pt x="735464" y="78524"/>
                </a:lnTo>
                <a:lnTo>
                  <a:pt x="694135" y="55990"/>
                </a:lnTo>
                <a:lnTo>
                  <a:pt x="647386" y="36768"/>
                </a:lnTo>
                <a:lnTo>
                  <a:pt x="595862" y="21207"/>
                </a:lnTo>
                <a:lnTo>
                  <a:pt x="540209" y="9659"/>
                </a:lnTo>
                <a:lnTo>
                  <a:pt x="481073" y="2473"/>
                </a:lnTo>
                <a:lnTo>
                  <a:pt x="4191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79877" y="1752345"/>
            <a:ext cx="533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39872" y="2053844"/>
            <a:ext cx="452755" cy="514350"/>
          </a:xfrm>
          <a:custGeom>
            <a:avLst/>
            <a:gdLst/>
            <a:ahLst/>
            <a:cxnLst/>
            <a:rect l="l" t="t" r="r" b="b"/>
            <a:pathLst>
              <a:path w="452754" h="514350">
                <a:moveTo>
                  <a:pt x="452627" y="371856"/>
                </a:moveTo>
                <a:lnTo>
                  <a:pt x="102107" y="0"/>
                </a:lnTo>
              </a:path>
              <a:path w="452754" h="514350">
                <a:moveTo>
                  <a:pt x="0" y="514350"/>
                </a:moveTo>
                <a:lnTo>
                  <a:pt x="452627" y="3718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4522" y="501142"/>
            <a:ext cx="73685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N-ary</a:t>
            </a:r>
            <a:r>
              <a:rPr sz="4000" spc="-30" dirty="0"/>
              <a:t> </a:t>
            </a:r>
            <a:r>
              <a:rPr sz="4000" dirty="0"/>
              <a:t>Relationship</a:t>
            </a:r>
            <a:r>
              <a:rPr sz="4000" spc="-25" dirty="0"/>
              <a:t> </a:t>
            </a:r>
            <a:r>
              <a:rPr sz="4000" dirty="0"/>
              <a:t>Primary</a:t>
            </a:r>
            <a:r>
              <a:rPr sz="4000" spc="-25" dirty="0"/>
              <a:t> </a:t>
            </a:r>
            <a:r>
              <a:rPr sz="4000" dirty="0"/>
              <a:t>Keys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5900" y="1510359"/>
            <a:ext cx="8454899" cy="428752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6235" algn="l"/>
              </a:tabLst>
            </a:pPr>
            <a:r>
              <a:rPr sz="3200" spc="-5" dirty="0">
                <a:latin typeface="Arial MT"/>
                <a:cs typeface="Arial MT"/>
              </a:rPr>
              <a:t>For </a:t>
            </a:r>
            <a:r>
              <a:rPr sz="3200" spc="-10" dirty="0">
                <a:latin typeface="Arial MT"/>
                <a:cs typeface="Arial MT"/>
              </a:rPr>
              <a:t>degree</a:t>
            </a:r>
            <a:r>
              <a:rPr sz="3200" spc="-5" dirty="0">
                <a:latin typeface="Arial MT"/>
                <a:cs typeface="Arial MT"/>
              </a:rPr>
              <a:t> &gt;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2 </a:t>
            </a:r>
            <a:r>
              <a:rPr sz="3200" spc="-10" dirty="0">
                <a:latin typeface="Arial MT"/>
                <a:cs typeface="Arial MT"/>
              </a:rPr>
              <a:t>relationship-sets:</a:t>
            </a:r>
            <a:endParaRPr sz="3200" dirty="0">
              <a:latin typeface="Arial MT"/>
              <a:cs typeface="Arial MT"/>
            </a:endParaRPr>
          </a:p>
          <a:p>
            <a:pPr marL="755650" marR="318135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If </a:t>
            </a:r>
            <a:r>
              <a:rPr sz="2800" dirty="0">
                <a:latin typeface="Arial MT"/>
                <a:cs typeface="Arial MT"/>
              </a:rPr>
              <a:t>no arrows (“many-to-many” mapping),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relationship-set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primary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union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all </a:t>
            </a:r>
            <a:r>
              <a:rPr sz="2800" spc="-7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participating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entity-sets’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primary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keys</a:t>
            </a:r>
          </a:p>
          <a:p>
            <a:pPr marL="755015" marR="508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If </a:t>
            </a:r>
            <a:r>
              <a:rPr sz="2800" dirty="0">
                <a:latin typeface="Arial MT"/>
                <a:cs typeface="Arial MT"/>
              </a:rPr>
              <a:t>one arrow (“one-to-many” mapping),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relationship-set primary key is union of 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primary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keys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entity-sets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without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arrow</a:t>
            </a:r>
          </a:p>
          <a:p>
            <a:pPr marL="755015" marR="1207135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Don’t </a:t>
            </a:r>
            <a:r>
              <a:rPr sz="2800" dirty="0">
                <a:latin typeface="Arial MT"/>
                <a:cs typeface="Arial MT"/>
              </a:rPr>
              <a:t>allow more than one arrow </a:t>
            </a:r>
            <a:r>
              <a:rPr sz="2800" dirty="0" smtClean="0">
                <a:latin typeface="Arial MT"/>
                <a:cs typeface="Arial MT"/>
              </a:rPr>
              <a:t>for</a:t>
            </a:r>
            <a:r>
              <a:rPr lang="en-US" sz="2800" dirty="0" smtClean="0">
                <a:latin typeface="Arial MT"/>
                <a:cs typeface="Arial MT"/>
              </a:rPr>
              <a:t> r</a:t>
            </a:r>
            <a:r>
              <a:rPr sz="2800" dirty="0" smtClean="0">
                <a:latin typeface="Arial MT"/>
                <a:cs typeface="Arial MT"/>
              </a:rPr>
              <a:t>elationship-sets</a:t>
            </a:r>
            <a:r>
              <a:rPr sz="2800" spc="-10" dirty="0" smtClean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degree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&gt;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722" y="469900"/>
            <a:ext cx="79775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N-ary</a:t>
            </a:r>
            <a:r>
              <a:rPr dirty="0"/>
              <a:t> </a:t>
            </a:r>
            <a:r>
              <a:rPr spc="-5" dirty="0"/>
              <a:t>Relationship-Set</a:t>
            </a:r>
            <a:r>
              <a:rPr spc="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3551999"/>
            <a:ext cx="6480175" cy="25057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Entity-set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schemas: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44"/>
              </a:spcBef>
            </a:pPr>
            <a:r>
              <a:rPr sz="2000" i="1" spc="-5" dirty="0">
                <a:latin typeface="Arial"/>
                <a:cs typeface="Arial"/>
              </a:rPr>
              <a:t>job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title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level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 dirty="0">
              <a:latin typeface="Arial MT"/>
              <a:cs typeface="Arial MT"/>
            </a:endParaRPr>
          </a:p>
          <a:p>
            <a:pPr marL="469900" marR="1191895" indent="-635">
              <a:lnSpc>
                <a:spcPts val="2640"/>
              </a:lnSpc>
              <a:spcBef>
                <a:spcPts val="120"/>
              </a:spcBef>
            </a:pPr>
            <a:r>
              <a:rPr sz="2000" i="1" spc="-5" dirty="0">
                <a:latin typeface="Arial"/>
                <a:cs typeface="Arial"/>
              </a:rPr>
              <a:t>employee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employee_name</a:t>
            </a:r>
            <a:r>
              <a:rPr sz="2000" spc="-5" dirty="0">
                <a:latin typeface="Arial MT"/>
                <a:cs typeface="Arial MT"/>
              </a:rPr>
              <a:t>)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branch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branch_name</a:t>
            </a:r>
            <a:r>
              <a:rPr sz="2000" spc="-5" dirty="0">
                <a:latin typeface="Arial MT"/>
                <a:cs typeface="Arial MT"/>
              </a:rPr>
              <a:t>, </a:t>
            </a:r>
            <a:r>
              <a:rPr sz="2000" i="1" spc="-5" dirty="0">
                <a:latin typeface="Arial"/>
                <a:cs typeface="Arial"/>
              </a:rPr>
              <a:t>branch_city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assets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50"/>
              </a:spcBef>
              <a:buChar char="•"/>
              <a:tabLst>
                <a:tab pos="354965" algn="l"/>
                <a:tab pos="356235" algn="l"/>
              </a:tabLst>
            </a:pPr>
            <a:r>
              <a:rPr sz="2400" dirty="0">
                <a:latin typeface="Arial MT"/>
                <a:cs typeface="Arial MT"/>
              </a:rPr>
              <a:t>Relationship-set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schema:</a:t>
            </a:r>
          </a:p>
          <a:p>
            <a:pPr marL="469900">
              <a:lnSpc>
                <a:spcPct val="100000"/>
              </a:lnSpc>
              <a:spcBef>
                <a:spcPts val="245"/>
              </a:spcBef>
              <a:tabLst>
                <a:tab pos="755015" algn="l"/>
              </a:tabLst>
            </a:pPr>
            <a:r>
              <a:rPr sz="2000" spc="-5" dirty="0">
                <a:latin typeface="Arial MT"/>
                <a:cs typeface="Arial MT"/>
              </a:rPr>
              <a:t>–	Primary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key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includes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entity-sets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non-arrow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links</a:t>
            </a:r>
            <a:endParaRPr sz="2000" dirty="0">
              <a:latin typeface="Arial MT"/>
              <a:cs typeface="Arial MT"/>
            </a:endParaRPr>
          </a:p>
          <a:p>
            <a:pPr marL="299720" algn="ctr">
              <a:lnSpc>
                <a:spcPct val="100000"/>
              </a:lnSpc>
              <a:spcBef>
                <a:spcPts val="229"/>
              </a:spcBef>
            </a:pPr>
            <a:r>
              <a:rPr sz="2000" i="1" spc="-5" dirty="0">
                <a:solidFill>
                  <a:srgbClr val="FF0000"/>
                </a:solidFill>
                <a:latin typeface="Arial"/>
                <a:cs typeface="Arial"/>
              </a:rPr>
              <a:t>works_on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0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0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,</a:t>
            </a:r>
            <a:r>
              <a:rPr sz="2000" u="heavy" spc="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branch_name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0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i="1" spc="-5" dirty="0">
                <a:solidFill>
                  <a:srgbClr val="FF0000"/>
                </a:solidFill>
                <a:latin typeface="Arial"/>
                <a:cs typeface="Arial"/>
              </a:rPr>
              <a:t>title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0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300" y="3035300"/>
            <a:ext cx="12954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employee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2300" y="3035300"/>
            <a:ext cx="1066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branch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2100" y="2044700"/>
            <a:ext cx="1066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job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49700" y="2959100"/>
            <a:ext cx="1371600" cy="685800"/>
          </a:xfrm>
          <a:custGeom>
            <a:avLst/>
            <a:gdLst/>
            <a:ahLst/>
            <a:cxnLst/>
            <a:rect l="l" t="t" r="r" b="b"/>
            <a:pathLst>
              <a:path w="1371600" h="685800">
                <a:moveTo>
                  <a:pt x="685800" y="0"/>
                </a:moveTo>
                <a:lnTo>
                  <a:pt x="0" y="342900"/>
                </a:lnTo>
                <a:lnTo>
                  <a:pt x="685800" y="685800"/>
                </a:lnTo>
                <a:lnTo>
                  <a:pt x="1371600" y="342900"/>
                </a:lnTo>
                <a:lnTo>
                  <a:pt x="6858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89221" y="3162045"/>
            <a:ext cx="8947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works_</a:t>
            </a:r>
            <a:r>
              <a:rPr sz="1600" i="1" spc="-10" dirty="0">
                <a:latin typeface="Arial"/>
                <a:cs typeface="Arial"/>
              </a:rPr>
              <a:t>o</a:t>
            </a:r>
            <a:r>
              <a:rPr sz="1600" i="1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68700" y="2578100"/>
            <a:ext cx="2133600" cy="728980"/>
            <a:chOff x="3568700" y="2578100"/>
            <a:chExt cx="2133600" cy="728980"/>
          </a:xfrm>
        </p:grpSpPr>
        <p:sp>
          <p:nvSpPr>
            <p:cNvPr id="10" name="object 10"/>
            <p:cNvSpPr/>
            <p:nvPr/>
          </p:nvSpPr>
          <p:spPr>
            <a:xfrm>
              <a:off x="3568700" y="3302000"/>
              <a:ext cx="2133600" cy="0"/>
            </a:xfrm>
            <a:custGeom>
              <a:avLst/>
              <a:gdLst/>
              <a:ahLst/>
              <a:cxnLst/>
              <a:rect l="l" t="t" r="r" b="b"/>
              <a:pathLst>
                <a:path w="2133600">
                  <a:moveTo>
                    <a:pt x="0" y="0"/>
                  </a:moveTo>
                  <a:lnTo>
                    <a:pt x="381000" y="0"/>
                  </a:lnTo>
                </a:path>
                <a:path w="2133600">
                  <a:moveTo>
                    <a:pt x="1752600" y="0"/>
                  </a:moveTo>
                  <a:lnTo>
                    <a:pt x="2133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97400" y="2578100"/>
              <a:ext cx="76200" cy="386080"/>
            </a:xfrm>
            <a:custGeom>
              <a:avLst/>
              <a:gdLst/>
              <a:ahLst/>
              <a:cxnLst/>
              <a:rect l="l" t="t" r="r" b="b"/>
              <a:pathLst>
                <a:path w="76200" h="386080">
                  <a:moveTo>
                    <a:pt x="76200" y="76199"/>
                  </a:moveTo>
                  <a:lnTo>
                    <a:pt x="38100" y="0"/>
                  </a:lnTo>
                  <a:lnTo>
                    <a:pt x="0" y="76199"/>
                  </a:lnTo>
                  <a:lnTo>
                    <a:pt x="33527" y="76199"/>
                  </a:lnTo>
                  <a:lnTo>
                    <a:pt x="33527" y="63245"/>
                  </a:lnTo>
                  <a:lnTo>
                    <a:pt x="35051" y="60197"/>
                  </a:lnTo>
                  <a:lnTo>
                    <a:pt x="38100" y="58673"/>
                  </a:lnTo>
                  <a:lnTo>
                    <a:pt x="41148" y="60197"/>
                  </a:lnTo>
                  <a:lnTo>
                    <a:pt x="42672" y="63245"/>
                  </a:lnTo>
                  <a:lnTo>
                    <a:pt x="42672" y="76199"/>
                  </a:lnTo>
                  <a:lnTo>
                    <a:pt x="76200" y="76199"/>
                  </a:lnTo>
                  <a:close/>
                </a:path>
                <a:path w="76200" h="386080">
                  <a:moveTo>
                    <a:pt x="42672" y="76199"/>
                  </a:moveTo>
                  <a:lnTo>
                    <a:pt x="42672" y="63245"/>
                  </a:lnTo>
                  <a:lnTo>
                    <a:pt x="41148" y="60197"/>
                  </a:lnTo>
                  <a:lnTo>
                    <a:pt x="38100" y="58673"/>
                  </a:lnTo>
                  <a:lnTo>
                    <a:pt x="35051" y="60197"/>
                  </a:lnTo>
                  <a:lnTo>
                    <a:pt x="33527" y="63245"/>
                  </a:lnTo>
                  <a:lnTo>
                    <a:pt x="33527" y="76199"/>
                  </a:lnTo>
                  <a:lnTo>
                    <a:pt x="42672" y="76199"/>
                  </a:lnTo>
                  <a:close/>
                </a:path>
                <a:path w="76200" h="386080">
                  <a:moveTo>
                    <a:pt x="42672" y="381000"/>
                  </a:moveTo>
                  <a:lnTo>
                    <a:pt x="42672" y="76199"/>
                  </a:lnTo>
                  <a:lnTo>
                    <a:pt x="33527" y="76199"/>
                  </a:lnTo>
                  <a:lnTo>
                    <a:pt x="33527" y="381000"/>
                  </a:lnTo>
                  <a:lnTo>
                    <a:pt x="35051" y="384048"/>
                  </a:lnTo>
                  <a:lnTo>
                    <a:pt x="38100" y="385572"/>
                  </a:lnTo>
                  <a:lnTo>
                    <a:pt x="41148" y="384048"/>
                  </a:lnTo>
                  <a:lnTo>
                    <a:pt x="42672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644900" y="1282700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  <a:path w="1981200" h="457200">
                <a:moveTo>
                  <a:pt x="1524000" y="0"/>
                </a:moveTo>
                <a:lnTo>
                  <a:pt x="1462020" y="2082"/>
                </a:lnTo>
                <a:lnTo>
                  <a:pt x="1402556" y="8149"/>
                </a:lnTo>
                <a:lnTo>
                  <a:pt x="1346156" y="17930"/>
                </a:lnTo>
                <a:lnTo>
                  <a:pt x="1293367" y="31157"/>
                </a:lnTo>
                <a:lnTo>
                  <a:pt x="1244738" y="47558"/>
                </a:lnTo>
                <a:lnTo>
                  <a:pt x="1200816" y="66865"/>
                </a:lnTo>
                <a:lnTo>
                  <a:pt x="1162149" y="88807"/>
                </a:lnTo>
                <a:lnTo>
                  <a:pt x="1129283" y="113114"/>
                </a:lnTo>
                <a:lnTo>
                  <a:pt x="1083151" y="167745"/>
                </a:lnTo>
                <a:lnTo>
                  <a:pt x="1066800" y="228599"/>
                </a:lnTo>
                <a:lnTo>
                  <a:pt x="1070979" y="259670"/>
                </a:lnTo>
                <a:lnTo>
                  <a:pt x="1102768" y="317682"/>
                </a:lnTo>
                <a:lnTo>
                  <a:pt x="1162149" y="368392"/>
                </a:lnTo>
                <a:lnTo>
                  <a:pt x="1200816" y="390334"/>
                </a:lnTo>
                <a:lnTo>
                  <a:pt x="1244738" y="409641"/>
                </a:lnTo>
                <a:lnTo>
                  <a:pt x="1293368" y="426042"/>
                </a:lnTo>
                <a:lnTo>
                  <a:pt x="1346156" y="439269"/>
                </a:lnTo>
                <a:lnTo>
                  <a:pt x="1402556" y="449050"/>
                </a:lnTo>
                <a:lnTo>
                  <a:pt x="1462020" y="455117"/>
                </a:lnTo>
                <a:lnTo>
                  <a:pt x="1524000" y="457199"/>
                </a:lnTo>
                <a:lnTo>
                  <a:pt x="1585979" y="455117"/>
                </a:lnTo>
                <a:lnTo>
                  <a:pt x="1645443" y="449050"/>
                </a:lnTo>
                <a:lnTo>
                  <a:pt x="1701843" y="439269"/>
                </a:lnTo>
                <a:lnTo>
                  <a:pt x="1754632" y="426042"/>
                </a:lnTo>
                <a:lnTo>
                  <a:pt x="1803261" y="409641"/>
                </a:lnTo>
                <a:lnTo>
                  <a:pt x="1847183" y="390334"/>
                </a:lnTo>
                <a:lnTo>
                  <a:pt x="1885850" y="368392"/>
                </a:lnTo>
                <a:lnTo>
                  <a:pt x="1918716" y="344085"/>
                </a:lnTo>
                <a:lnTo>
                  <a:pt x="1964848" y="289454"/>
                </a:lnTo>
                <a:lnTo>
                  <a:pt x="1981200" y="228599"/>
                </a:lnTo>
                <a:lnTo>
                  <a:pt x="1977020" y="197529"/>
                </a:lnTo>
                <a:lnTo>
                  <a:pt x="1945231" y="139517"/>
                </a:lnTo>
                <a:lnTo>
                  <a:pt x="1885850" y="88807"/>
                </a:lnTo>
                <a:lnTo>
                  <a:pt x="1847183" y="66865"/>
                </a:lnTo>
                <a:lnTo>
                  <a:pt x="1803261" y="47558"/>
                </a:lnTo>
                <a:lnTo>
                  <a:pt x="1754631" y="31157"/>
                </a:lnTo>
                <a:lnTo>
                  <a:pt x="1701843" y="17930"/>
                </a:lnTo>
                <a:lnTo>
                  <a:pt x="1645443" y="8149"/>
                </a:lnTo>
                <a:lnTo>
                  <a:pt x="1585979" y="2082"/>
                </a:lnTo>
                <a:lnTo>
                  <a:pt x="15240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32428" y="1371345"/>
            <a:ext cx="14579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065" algn="l"/>
              </a:tabLst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titl</a:t>
            </a:r>
            <a:r>
              <a:rPr sz="16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1600" i="1" dirty="0">
                <a:latin typeface="Arial"/>
                <a:cs typeface="Arial"/>
              </a:rPr>
              <a:t>	</a:t>
            </a:r>
            <a:r>
              <a:rPr sz="1600" i="1" spc="-5" dirty="0">
                <a:latin typeface="Arial"/>
                <a:cs typeface="Arial"/>
              </a:rPr>
              <a:t>level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25950" y="1672844"/>
            <a:ext cx="2647950" cy="829310"/>
          </a:xfrm>
          <a:custGeom>
            <a:avLst/>
            <a:gdLst/>
            <a:ahLst/>
            <a:cxnLst/>
            <a:rect l="l" t="t" r="r" b="b"/>
            <a:pathLst>
              <a:path w="2647950" h="829310">
                <a:moveTo>
                  <a:pt x="209550" y="371856"/>
                </a:moveTo>
                <a:lnTo>
                  <a:pt x="419100" y="0"/>
                </a:lnTo>
              </a:path>
              <a:path w="2647950" h="829310">
                <a:moveTo>
                  <a:pt x="209550" y="371856"/>
                </a:moveTo>
                <a:lnTo>
                  <a:pt x="0" y="0"/>
                </a:lnTo>
              </a:path>
              <a:path w="2647950" h="829310">
                <a:moveTo>
                  <a:pt x="1885950" y="371856"/>
                </a:moveTo>
                <a:lnTo>
                  <a:pt x="1816624" y="372788"/>
                </a:lnTo>
                <a:lnTo>
                  <a:pt x="1749036" y="375531"/>
                </a:lnTo>
                <a:lnTo>
                  <a:pt x="1683455" y="380005"/>
                </a:lnTo>
                <a:lnTo>
                  <a:pt x="1620151" y="386130"/>
                </a:lnTo>
                <a:lnTo>
                  <a:pt x="1559392" y="393826"/>
                </a:lnTo>
                <a:lnTo>
                  <a:pt x="1501450" y="403013"/>
                </a:lnTo>
                <a:lnTo>
                  <a:pt x="1446593" y="413611"/>
                </a:lnTo>
                <a:lnTo>
                  <a:pt x="1395092" y="425540"/>
                </a:lnTo>
                <a:lnTo>
                  <a:pt x="1347215" y="438721"/>
                </a:lnTo>
                <a:lnTo>
                  <a:pt x="1303234" y="453073"/>
                </a:lnTo>
                <a:lnTo>
                  <a:pt x="1263416" y="468516"/>
                </a:lnTo>
                <a:lnTo>
                  <a:pt x="1228033" y="484970"/>
                </a:lnTo>
                <a:lnTo>
                  <a:pt x="1171647" y="520593"/>
                </a:lnTo>
                <a:lnTo>
                  <a:pt x="1136233" y="559301"/>
                </a:lnTo>
                <a:lnTo>
                  <a:pt x="1123950" y="600456"/>
                </a:lnTo>
                <a:lnTo>
                  <a:pt x="1127065" y="621298"/>
                </a:lnTo>
                <a:lnTo>
                  <a:pt x="1151184" y="661310"/>
                </a:lnTo>
                <a:lnTo>
                  <a:pt x="1197353" y="698555"/>
                </a:lnTo>
                <a:lnTo>
                  <a:pt x="1263416" y="732395"/>
                </a:lnTo>
                <a:lnTo>
                  <a:pt x="1303234" y="747838"/>
                </a:lnTo>
                <a:lnTo>
                  <a:pt x="1347215" y="762190"/>
                </a:lnTo>
                <a:lnTo>
                  <a:pt x="1395092" y="775371"/>
                </a:lnTo>
                <a:lnTo>
                  <a:pt x="1446593" y="787300"/>
                </a:lnTo>
                <a:lnTo>
                  <a:pt x="1501450" y="797898"/>
                </a:lnTo>
                <a:lnTo>
                  <a:pt x="1559392" y="807085"/>
                </a:lnTo>
                <a:lnTo>
                  <a:pt x="1620151" y="814781"/>
                </a:lnTo>
                <a:lnTo>
                  <a:pt x="1683455" y="820906"/>
                </a:lnTo>
                <a:lnTo>
                  <a:pt x="1749036" y="825380"/>
                </a:lnTo>
                <a:lnTo>
                  <a:pt x="1816624" y="828123"/>
                </a:lnTo>
                <a:lnTo>
                  <a:pt x="1885950" y="829056"/>
                </a:lnTo>
                <a:lnTo>
                  <a:pt x="1955275" y="828123"/>
                </a:lnTo>
                <a:lnTo>
                  <a:pt x="2022863" y="825380"/>
                </a:lnTo>
                <a:lnTo>
                  <a:pt x="2088444" y="820906"/>
                </a:lnTo>
                <a:lnTo>
                  <a:pt x="2151748" y="814781"/>
                </a:lnTo>
                <a:lnTo>
                  <a:pt x="2212507" y="807085"/>
                </a:lnTo>
                <a:lnTo>
                  <a:pt x="2270449" y="797898"/>
                </a:lnTo>
                <a:lnTo>
                  <a:pt x="2325306" y="787300"/>
                </a:lnTo>
                <a:lnTo>
                  <a:pt x="2376807" y="775371"/>
                </a:lnTo>
                <a:lnTo>
                  <a:pt x="2424684" y="762190"/>
                </a:lnTo>
                <a:lnTo>
                  <a:pt x="2468665" y="747838"/>
                </a:lnTo>
                <a:lnTo>
                  <a:pt x="2508483" y="732395"/>
                </a:lnTo>
                <a:lnTo>
                  <a:pt x="2543866" y="715941"/>
                </a:lnTo>
                <a:lnTo>
                  <a:pt x="2600252" y="680318"/>
                </a:lnTo>
                <a:lnTo>
                  <a:pt x="2635666" y="641610"/>
                </a:lnTo>
                <a:lnTo>
                  <a:pt x="2647950" y="600456"/>
                </a:lnTo>
                <a:lnTo>
                  <a:pt x="2644834" y="579613"/>
                </a:lnTo>
                <a:lnTo>
                  <a:pt x="2620715" y="539601"/>
                </a:lnTo>
                <a:lnTo>
                  <a:pt x="2574546" y="502356"/>
                </a:lnTo>
                <a:lnTo>
                  <a:pt x="2508483" y="468516"/>
                </a:lnTo>
                <a:lnTo>
                  <a:pt x="2468665" y="453073"/>
                </a:lnTo>
                <a:lnTo>
                  <a:pt x="2424683" y="438721"/>
                </a:lnTo>
                <a:lnTo>
                  <a:pt x="2376807" y="425540"/>
                </a:lnTo>
                <a:lnTo>
                  <a:pt x="2325306" y="413611"/>
                </a:lnTo>
                <a:lnTo>
                  <a:pt x="2270449" y="403013"/>
                </a:lnTo>
                <a:lnTo>
                  <a:pt x="2212507" y="393826"/>
                </a:lnTo>
                <a:lnTo>
                  <a:pt x="2151748" y="386130"/>
                </a:lnTo>
                <a:lnTo>
                  <a:pt x="2088444" y="380005"/>
                </a:lnTo>
                <a:lnTo>
                  <a:pt x="2022863" y="375531"/>
                </a:lnTo>
                <a:lnTo>
                  <a:pt x="1955275" y="372788"/>
                </a:lnTo>
                <a:lnTo>
                  <a:pt x="1885950" y="3718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80455" y="2133345"/>
            <a:ext cx="12668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branch_name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26300" y="31877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78954" y="3276346"/>
            <a:ext cx="6134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assets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30937" y="2420937"/>
            <a:ext cx="2143125" cy="1000125"/>
            <a:chOff x="6230937" y="2420937"/>
            <a:chExt cx="2143125" cy="1000125"/>
          </a:xfrm>
        </p:grpSpPr>
        <p:sp>
          <p:nvSpPr>
            <p:cNvPr id="19" name="object 19"/>
            <p:cNvSpPr/>
            <p:nvPr/>
          </p:nvSpPr>
          <p:spPr>
            <a:xfrm>
              <a:off x="6235700" y="2501900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76200" y="0"/>
                  </a:moveTo>
                  <a:lnTo>
                    <a:pt x="0" y="5333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97700" y="2425700"/>
              <a:ext cx="1371600" cy="457200"/>
            </a:xfrm>
            <a:custGeom>
              <a:avLst/>
              <a:gdLst/>
              <a:ahLst/>
              <a:cxnLst/>
              <a:rect l="l" t="t" r="r" b="b"/>
              <a:pathLst>
                <a:path w="1371600" h="457200">
                  <a:moveTo>
                    <a:pt x="1371600" y="228599"/>
                  </a:moveTo>
                  <a:lnTo>
                    <a:pt x="1357665" y="182460"/>
                  </a:lnTo>
                  <a:lnTo>
                    <a:pt x="1317700" y="139517"/>
                  </a:lnTo>
                  <a:lnTo>
                    <a:pt x="1254464" y="100682"/>
                  </a:lnTo>
                  <a:lnTo>
                    <a:pt x="1214982" y="83089"/>
                  </a:lnTo>
                  <a:lnTo>
                    <a:pt x="1170717" y="66865"/>
                  </a:lnTo>
                  <a:lnTo>
                    <a:pt x="1122014" y="52123"/>
                  </a:lnTo>
                  <a:lnTo>
                    <a:pt x="1069218" y="38978"/>
                  </a:lnTo>
                  <a:lnTo>
                    <a:pt x="1012674" y="27542"/>
                  </a:lnTo>
                  <a:lnTo>
                    <a:pt x="952726" y="17930"/>
                  </a:lnTo>
                  <a:lnTo>
                    <a:pt x="889720" y="10256"/>
                  </a:lnTo>
                  <a:lnTo>
                    <a:pt x="824000" y="4634"/>
                  </a:lnTo>
                  <a:lnTo>
                    <a:pt x="755911" y="1177"/>
                  </a:lnTo>
                  <a:lnTo>
                    <a:pt x="685800" y="0"/>
                  </a:lnTo>
                  <a:lnTo>
                    <a:pt x="615688" y="1177"/>
                  </a:lnTo>
                  <a:lnTo>
                    <a:pt x="547599" y="4634"/>
                  </a:lnTo>
                  <a:lnTo>
                    <a:pt x="481879" y="10256"/>
                  </a:lnTo>
                  <a:lnTo>
                    <a:pt x="418873" y="17930"/>
                  </a:lnTo>
                  <a:lnTo>
                    <a:pt x="358925" y="27542"/>
                  </a:lnTo>
                  <a:lnTo>
                    <a:pt x="302381" y="38978"/>
                  </a:lnTo>
                  <a:lnTo>
                    <a:pt x="249585" y="52123"/>
                  </a:lnTo>
                  <a:lnTo>
                    <a:pt x="200882" y="66865"/>
                  </a:lnTo>
                  <a:lnTo>
                    <a:pt x="156617" y="83089"/>
                  </a:lnTo>
                  <a:lnTo>
                    <a:pt x="117135" y="100682"/>
                  </a:lnTo>
                  <a:lnTo>
                    <a:pt x="82780" y="119529"/>
                  </a:lnTo>
                  <a:lnTo>
                    <a:pt x="30835" y="160532"/>
                  </a:lnTo>
                  <a:lnTo>
                    <a:pt x="3541" y="205187"/>
                  </a:lnTo>
                  <a:lnTo>
                    <a:pt x="0" y="228599"/>
                  </a:lnTo>
                  <a:lnTo>
                    <a:pt x="3541" y="252012"/>
                  </a:lnTo>
                  <a:lnTo>
                    <a:pt x="30835" y="296667"/>
                  </a:lnTo>
                  <a:lnTo>
                    <a:pt x="82780" y="337670"/>
                  </a:lnTo>
                  <a:lnTo>
                    <a:pt x="117135" y="356517"/>
                  </a:lnTo>
                  <a:lnTo>
                    <a:pt x="156617" y="374110"/>
                  </a:lnTo>
                  <a:lnTo>
                    <a:pt x="200882" y="390334"/>
                  </a:lnTo>
                  <a:lnTo>
                    <a:pt x="249585" y="405076"/>
                  </a:lnTo>
                  <a:lnTo>
                    <a:pt x="302381" y="418221"/>
                  </a:lnTo>
                  <a:lnTo>
                    <a:pt x="358925" y="429657"/>
                  </a:lnTo>
                  <a:lnTo>
                    <a:pt x="418873" y="439269"/>
                  </a:lnTo>
                  <a:lnTo>
                    <a:pt x="481879" y="446943"/>
                  </a:lnTo>
                  <a:lnTo>
                    <a:pt x="547599" y="452565"/>
                  </a:lnTo>
                  <a:lnTo>
                    <a:pt x="615688" y="456022"/>
                  </a:lnTo>
                  <a:lnTo>
                    <a:pt x="685800" y="457199"/>
                  </a:lnTo>
                  <a:lnTo>
                    <a:pt x="755911" y="456022"/>
                  </a:lnTo>
                  <a:lnTo>
                    <a:pt x="824000" y="452565"/>
                  </a:lnTo>
                  <a:lnTo>
                    <a:pt x="889720" y="446943"/>
                  </a:lnTo>
                  <a:lnTo>
                    <a:pt x="952726" y="439269"/>
                  </a:lnTo>
                  <a:lnTo>
                    <a:pt x="1012674" y="429657"/>
                  </a:lnTo>
                  <a:lnTo>
                    <a:pt x="1069218" y="418221"/>
                  </a:lnTo>
                  <a:lnTo>
                    <a:pt x="1122014" y="405076"/>
                  </a:lnTo>
                  <a:lnTo>
                    <a:pt x="1170717" y="390334"/>
                  </a:lnTo>
                  <a:lnTo>
                    <a:pt x="1214982" y="374110"/>
                  </a:lnTo>
                  <a:lnTo>
                    <a:pt x="1254464" y="356517"/>
                  </a:lnTo>
                  <a:lnTo>
                    <a:pt x="1288819" y="337670"/>
                  </a:lnTo>
                  <a:lnTo>
                    <a:pt x="1340764" y="296667"/>
                  </a:lnTo>
                  <a:lnTo>
                    <a:pt x="1368058" y="252012"/>
                  </a:lnTo>
                  <a:lnTo>
                    <a:pt x="1371600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69100" y="2425700"/>
              <a:ext cx="1600200" cy="990600"/>
            </a:xfrm>
            <a:custGeom>
              <a:avLst/>
              <a:gdLst/>
              <a:ahLst/>
              <a:cxnLst/>
              <a:rect l="l" t="t" r="r" b="b"/>
              <a:pathLst>
                <a:path w="1600200" h="990600">
                  <a:moveTo>
                    <a:pt x="914400" y="0"/>
                  </a:moveTo>
                  <a:lnTo>
                    <a:pt x="844288" y="1177"/>
                  </a:lnTo>
                  <a:lnTo>
                    <a:pt x="776199" y="4634"/>
                  </a:lnTo>
                  <a:lnTo>
                    <a:pt x="710479" y="10256"/>
                  </a:lnTo>
                  <a:lnTo>
                    <a:pt x="647473" y="17930"/>
                  </a:lnTo>
                  <a:lnTo>
                    <a:pt x="587525" y="27542"/>
                  </a:lnTo>
                  <a:lnTo>
                    <a:pt x="530981" y="38978"/>
                  </a:lnTo>
                  <a:lnTo>
                    <a:pt x="478185" y="52123"/>
                  </a:lnTo>
                  <a:lnTo>
                    <a:pt x="429482" y="66865"/>
                  </a:lnTo>
                  <a:lnTo>
                    <a:pt x="385217" y="83089"/>
                  </a:lnTo>
                  <a:lnTo>
                    <a:pt x="345735" y="100682"/>
                  </a:lnTo>
                  <a:lnTo>
                    <a:pt x="311380" y="119529"/>
                  </a:lnTo>
                  <a:lnTo>
                    <a:pt x="259435" y="160532"/>
                  </a:lnTo>
                  <a:lnTo>
                    <a:pt x="232141" y="205187"/>
                  </a:lnTo>
                  <a:lnTo>
                    <a:pt x="228600" y="228599"/>
                  </a:lnTo>
                  <a:lnTo>
                    <a:pt x="232141" y="252012"/>
                  </a:lnTo>
                  <a:lnTo>
                    <a:pt x="259435" y="296667"/>
                  </a:lnTo>
                  <a:lnTo>
                    <a:pt x="311380" y="337670"/>
                  </a:lnTo>
                  <a:lnTo>
                    <a:pt x="345735" y="356517"/>
                  </a:lnTo>
                  <a:lnTo>
                    <a:pt x="385217" y="374110"/>
                  </a:lnTo>
                  <a:lnTo>
                    <a:pt x="429482" y="390334"/>
                  </a:lnTo>
                  <a:lnTo>
                    <a:pt x="478185" y="405076"/>
                  </a:lnTo>
                  <a:lnTo>
                    <a:pt x="530981" y="418221"/>
                  </a:lnTo>
                  <a:lnTo>
                    <a:pt x="587525" y="429657"/>
                  </a:lnTo>
                  <a:lnTo>
                    <a:pt x="647473" y="439269"/>
                  </a:lnTo>
                  <a:lnTo>
                    <a:pt x="710479" y="446943"/>
                  </a:lnTo>
                  <a:lnTo>
                    <a:pt x="776199" y="452565"/>
                  </a:lnTo>
                  <a:lnTo>
                    <a:pt x="844288" y="456022"/>
                  </a:lnTo>
                  <a:lnTo>
                    <a:pt x="914400" y="457199"/>
                  </a:lnTo>
                  <a:lnTo>
                    <a:pt x="984511" y="456022"/>
                  </a:lnTo>
                  <a:lnTo>
                    <a:pt x="1052600" y="452565"/>
                  </a:lnTo>
                  <a:lnTo>
                    <a:pt x="1118320" y="446943"/>
                  </a:lnTo>
                  <a:lnTo>
                    <a:pt x="1181326" y="439269"/>
                  </a:lnTo>
                  <a:lnTo>
                    <a:pt x="1241274" y="429657"/>
                  </a:lnTo>
                  <a:lnTo>
                    <a:pt x="1297818" y="418221"/>
                  </a:lnTo>
                  <a:lnTo>
                    <a:pt x="1350614" y="405076"/>
                  </a:lnTo>
                  <a:lnTo>
                    <a:pt x="1399317" y="390334"/>
                  </a:lnTo>
                  <a:lnTo>
                    <a:pt x="1443582" y="374110"/>
                  </a:lnTo>
                  <a:lnTo>
                    <a:pt x="1483064" y="356517"/>
                  </a:lnTo>
                  <a:lnTo>
                    <a:pt x="1517419" y="337670"/>
                  </a:lnTo>
                  <a:lnTo>
                    <a:pt x="1569364" y="296667"/>
                  </a:lnTo>
                  <a:lnTo>
                    <a:pt x="1596658" y="252012"/>
                  </a:lnTo>
                  <a:lnTo>
                    <a:pt x="1600200" y="228599"/>
                  </a:lnTo>
                  <a:lnTo>
                    <a:pt x="1596658" y="205187"/>
                  </a:lnTo>
                  <a:lnTo>
                    <a:pt x="1569364" y="160532"/>
                  </a:lnTo>
                  <a:lnTo>
                    <a:pt x="1517419" y="119529"/>
                  </a:lnTo>
                  <a:lnTo>
                    <a:pt x="1483064" y="100682"/>
                  </a:lnTo>
                  <a:lnTo>
                    <a:pt x="1443582" y="83089"/>
                  </a:lnTo>
                  <a:lnTo>
                    <a:pt x="1399317" y="66865"/>
                  </a:lnTo>
                  <a:lnTo>
                    <a:pt x="1350614" y="52123"/>
                  </a:lnTo>
                  <a:lnTo>
                    <a:pt x="1297818" y="38978"/>
                  </a:lnTo>
                  <a:lnTo>
                    <a:pt x="1241274" y="27542"/>
                  </a:lnTo>
                  <a:lnTo>
                    <a:pt x="1181326" y="17930"/>
                  </a:lnTo>
                  <a:lnTo>
                    <a:pt x="1118320" y="10256"/>
                  </a:lnTo>
                  <a:lnTo>
                    <a:pt x="1052600" y="4634"/>
                  </a:lnTo>
                  <a:lnTo>
                    <a:pt x="984511" y="1177"/>
                  </a:lnTo>
                  <a:lnTo>
                    <a:pt x="914400" y="0"/>
                  </a:lnTo>
                  <a:close/>
                </a:path>
                <a:path w="1600200" h="990600">
                  <a:moveTo>
                    <a:pt x="457200" y="990599"/>
                  </a:moveTo>
                  <a:lnTo>
                    <a:pt x="0" y="8762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53402" y="2514345"/>
            <a:ext cx="10642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branch_city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9300" y="2425700"/>
            <a:ext cx="6450330" cy="876300"/>
          </a:xfrm>
          <a:custGeom>
            <a:avLst/>
            <a:gdLst/>
            <a:ahLst/>
            <a:cxnLst/>
            <a:rect l="l" t="t" r="r" b="b"/>
            <a:pathLst>
              <a:path w="6450330" h="876300">
                <a:moveTo>
                  <a:pt x="6019800" y="876299"/>
                </a:moveTo>
                <a:lnTo>
                  <a:pt x="6450330" y="390143"/>
                </a:lnTo>
              </a:path>
              <a:path w="6450330" h="876300">
                <a:moveTo>
                  <a:pt x="761999" y="0"/>
                </a:moveTo>
                <a:lnTo>
                  <a:pt x="692674" y="932"/>
                </a:lnTo>
                <a:lnTo>
                  <a:pt x="625086" y="3675"/>
                </a:lnTo>
                <a:lnTo>
                  <a:pt x="559505" y="8149"/>
                </a:lnTo>
                <a:lnTo>
                  <a:pt x="496201" y="14274"/>
                </a:lnTo>
                <a:lnTo>
                  <a:pt x="435442" y="21970"/>
                </a:lnTo>
                <a:lnTo>
                  <a:pt x="377500" y="31157"/>
                </a:lnTo>
                <a:lnTo>
                  <a:pt x="322643" y="41755"/>
                </a:lnTo>
                <a:lnTo>
                  <a:pt x="271142" y="53684"/>
                </a:lnTo>
                <a:lnTo>
                  <a:pt x="223266" y="66865"/>
                </a:lnTo>
                <a:lnTo>
                  <a:pt x="179284" y="81217"/>
                </a:lnTo>
                <a:lnTo>
                  <a:pt x="139466" y="96660"/>
                </a:lnTo>
                <a:lnTo>
                  <a:pt x="104083" y="113114"/>
                </a:lnTo>
                <a:lnTo>
                  <a:pt x="47697" y="148737"/>
                </a:lnTo>
                <a:lnTo>
                  <a:pt x="12283" y="187445"/>
                </a:lnTo>
                <a:lnTo>
                  <a:pt x="0" y="228600"/>
                </a:lnTo>
                <a:lnTo>
                  <a:pt x="3115" y="249442"/>
                </a:lnTo>
                <a:lnTo>
                  <a:pt x="27234" y="289454"/>
                </a:lnTo>
                <a:lnTo>
                  <a:pt x="73403" y="326699"/>
                </a:lnTo>
                <a:lnTo>
                  <a:pt x="139466" y="360539"/>
                </a:lnTo>
                <a:lnTo>
                  <a:pt x="179284" y="375982"/>
                </a:lnTo>
                <a:lnTo>
                  <a:pt x="223265" y="390334"/>
                </a:lnTo>
                <a:lnTo>
                  <a:pt x="271142" y="403515"/>
                </a:lnTo>
                <a:lnTo>
                  <a:pt x="322643" y="415444"/>
                </a:lnTo>
                <a:lnTo>
                  <a:pt x="377500" y="426042"/>
                </a:lnTo>
                <a:lnTo>
                  <a:pt x="435442" y="435229"/>
                </a:lnTo>
                <a:lnTo>
                  <a:pt x="496201" y="442925"/>
                </a:lnTo>
                <a:lnTo>
                  <a:pt x="559505" y="449050"/>
                </a:lnTo>
                <a:lnTo>
                  <a:pt x="625086" y="453524"/>
                </a:lnTo>
                <a:lnTo>
                  <a:pt x="692674" y="456267"/>
                </a:lnTo>
                <a:lnTo>
                  <a:pt x="762000" y="457200"/>
                </a:lnTo>
                <a:lnTo>
                  <a:pt x="831325" y="456267"/>
                </a:lnTo>
                <a:lnTo>
                  <a:pt x="898913" y="453524"/>
                </a:lnTo>
                <a:lnTo>
                  <a:pt x="964494" y="449050"/>
                </a:lnTo>
                <a:lnTo>
                  <a:pt x="1027798" y="442925"/>
                </a:lnTo>
                <a:lnTo>
                  <a:pt x="1088557" y="435229"/>
                </a:lnTo>
                <a:lnTo>
                  <a:pt x="1146499" y="426042"/>
                </a:lnTo>
                <a:lnTo>
                  <a:pt x="1201356" y="415444"/>
                </a:lnTo>
                <a:lnTo>
                  <a:pt x="1252857" y="403515"/>
                </a:lnTo>
                <a:lnTo>
                  <a:pt x="1300733" y="390334"/>
                </a:lnTo>
                <a:lnTo>
                  <a:pt x="1344715" y="375982"/>
                </a:lnTo>
                <a:lnTo>
                  <a:pt x="1384533" y="360539"/>
                </a:lnTo>
                <a:lnTo>
                  <a:pt x="1419916" y="344085"/>
                </a:lnTo>
                <a:lnTo>
                  <a:pt x="1476302" y="308462"/>
                </a:lnTo>
                <a:lnTo>
                  <a:pt x="1511716" y="269754"/>
                </a:lnTo>
                <a:lnTo>
                  <a:pt x="1524000" y="228600"/>
                </a:lnTo>
                <a:lnTo>
                  <a:pt x="1520884" y="207757"/>
                </a:lnTo>
                <a:lnTo>
                  <a:pt x="1496765" y="167745"/>
                </a:lnTo>
                <a:lnTo>
                  <a:pt x="1450596" y="130500"/>
                </a:lnTo>
                <a:lnTo>
                  <a:pt x="1384533" y="96660"/>
                </a:lnTo>
                <a:lnTo>
                  <a:pt x="1344715" y="81217"/>
                </a:lnTo>
                <a:lnTo>
                  <a:pt x="1300734" y="66865"/>
                </a:lnTo>
                <a:lnTo>
                  <a:pt x="1252857" y="53684"/>
                </a:lnTo>
                <a:lnTo>
                  <a:pt x="1201356" y="41755"/>
                </a:lnTo>
                <a:lnTo>
                  <a:pt x="1146499" y="31157"/>
                </a:lnTo>
                <a:lnTo>
                  <a:pt x="1088557" y="21970"/>
                </a:lnTo>
                <a:lnTo>
                  <a:pt x="1027798" y="14274"/>
                </a:lnTo>
                <a:lnTo>
                  <a:pt x="964494" y="8149"/>
                </a:lnTo>
                <a:lnTo>
                  <a:pt x="898913" y="3675"/>
                </a:lnTo>
                <a:lnTo>
                  <a:pt x="831325" y="932"/>
                </a:lnTo>
                <a:lnTo>
                  <a:pt x="7619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25575" y="2514345"/>
            <a:ext cx="11753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68500" y="1968500"/>
            <a:ext cx="1676400" cy="457200"/>
          </a:xfrm>
          <a:custGeom>
            <a:avLst/>
            <a:gdLst/>
            <a:ahLst/>
            <a:cxnLst/>
            <a:rect l="l" t="t" r="r" b="b"/>
            <a:pathLst>
              <a:path w="1676400" h="457200">
                <a:moveTo>
                  <a:pt x="838200" y="0"/>
                </a:moveTo>
                <a:lnTo>
                  <a:pt x="765824" y="837"/>
                </a:lnTo>
                <a:lnTo>
                  <a:pt x="695168" y="3303"/>
                </a:lnTo>
                <a:lnTo>
                  <a:pt x="626482" y="7330"/>
                </a:lnTo>
                <a:lnTo>
                  <a:pt x="560018" y="12851"/>
                </a:lnTo>
                <a:lnTo>
                  <a:pt x="496025" y="19797"/>
                </a:lnTo>
                <a:lnTo>
                  <a:pt x="434754" y="28099"/>
                </a:lnTo>
                <a:lnTo>
                  <a:pt x="376457" y="37691"/>
                </a:lnTo>
                <a:lnTo>
                  <a:pt x="321382" y="48504"/>
                </a:lnTo>
                <a:lnTo>
                  <a:pt x="269782" y="60471"/>
                </a:lnTo>
                <a:lnTo>
                  <a:pt x="221907" y="73522"/>
                </a:lnTo>
                <a:lnTo>
                  <a:pt x="178007" y="87591"/>
                </a:lnTo>
                <a:lnTo>
                  <a:pt x="138334" y="102609"/>
                </a:lnTo>
                <a:lnTo>
                  <a:pt x="103136" y="118508"/>
                </a:lnTo>
                <a:lnTo>
                  <a:pt x="47175" y="152677"/>
                </a:lnTo>
                <a:lnTo>
                  <a:pt x="12128" y="189556"/>
                </a:lnTo>
                <a:lnTo>
                  <a:pt x="0" y="228600"/>
                </a:lnTo>
                <a:lnTo>
                  <a:pt x="3073" y="248358"/>
                </a:lnTo>
                <a:lnTo>
                  <a:pt x="26912" y="286387"/>
                </a:lnTo>
                <a:lnTo>
                  <a:pt x="72667" y="321979"/>
                </a:lnTo>
                <a:lnTo>
                  <a:pt x="138334" y="354590"/>
                </a:lnTo>
                <a:lnTo>
                  <a:pt x="178007" y="369608"/>
                </a:lnTo>
                <a:lnTo>
                  <a:pt x="221907" y="383677"/>
                </a:lnTo>
                <a:lnTo>
                  <a:pt x="269782" y="396728"/>
                </a:lnTo>
                <a:lnTo>
                  <a:pt x="321382" y="408695"/>
                </a:lnTo>
                <a:lnTo>
                  <a:pt x="376457" y="419508"/>
                </a:lnTo>
                <a:lnTo>
                  <a:pt x="434754" y="429100"/>
                </a:lnTo>
                <a:lnTo>
                  <a:pt x="496025" y="437402"/>
                </a:lnTo>
                <a:lnTo>
                  <a:pt x="560018" y="444348"/>
                </a:lnTo>
                <a:lnTo>
                  <a:pt x="626482" y="449869"/>
                </a:lnTo>
                <a:lnTo>
                  <a:pt x="695168" y="453896"/>
                </a:lnTo>
                <a:lnTo>
                  <a:pt x="765824" y="456362"/>
                </a:lnTo>
                <a:lnTo>
                  <a:pt x="838200" y="457199"/>
                </a:lnTo>
                <a:lnTo>
                  <a:pt x="910575" y="456362"/>
                </a:lnTo>
                <a:lnTo>
                  <a:pt x="981231" y="453896"/>
                </a:lnTo>
                <a:lnTo>
                  <a:pt x="1049917" y="449869"/>
                </a:lnTo>
                <a:lnTo>
                  <a:pt x="1116381" y="444348"/>
                </a:lnTo>
                <a:lnTo>
                  <a:pt x="1180374" y="437402"/>
                </a:lnTo>
                <a:lnTo>
                  <a:pt x="1241645" y="429100"/>
                </a:lnTo>
                <a:lnTo>
                  <a:pt x="1299942" y="419508"/>
                </a:lnTo>
                <a:lnTo>
                  <a:pt x="1355017" y="408695"/>
                </a:lnTo>
                <a:lnTo>
                  <a:pt x="1406617" y="396728"/>
                </a:lnTo>
                <a:lnTo>
                  <a:pt x="1454492" y="383677"/>
                </a:lnTo>
                <a:lnTo>
                  <a:pt x="1498392" y="369608"/>
                </a:lnTo>
                <a:lnTo>
                  <a:pt x="1538065" y="354590"/>
                </a:lnTo>
                <a:lnTo>
                  <a:pt x="1573263" y="338691"/>
                </a:lnTo>
                <a:lnTo>
                  <a:pt x="1629224" y="304522"/>
                </a:lnTo>
                <a:lnTo>
                  <a:pt x="1664271" y="267643"/>
                </a:lnTo>
                <a:lnTo>
                  <a:pt x="1676400" y="228599"/>
                </a:lnTo>
                <a:lnTo>
                  <a:pt x="1673326" y="208841"/>
                </a:lnTo>
                <a:lnTo>
                  <a:pt x="1649487" y="170812"/>
                </a:lnTo>
                <a:lnTo>
                  <a:pt x="1603732" y="135220"/>
                </a:lnTo>
                <a:lnTo>
                  <a:pt x="1538065" y="102609"/>
                </a:lnTo>
                <a:lnTo>
                  <a:pt x="1498392" y="87591"/>
                </a:lnTo>
                <a:lnTo>
                  <a:pt x="1454492" y="73522"/>
                </a:lnTo>
                <a:lnTo>
                  <a:pt x="1406617" y="60471"/>
                </a:lnTo>
                <a:lnTo>
                  <a:pt x="1355017" y="48504"/>
                </a:lnTo>
                <a:lnTo>
                  <a:pt x="1299942" y="37691"/>
                </a:lnTo>
                <a:lnTo>
                  <a:pt x="1241645" y="28099"/>
                </a:lnTo>
                <a:lnTo>
                  <a:pt x="1180374" y="19797"/>
                </a:lnTo>
                <a:lnTo>
                  <a:pt x="1116381" y="12851"/>
                </a:lnTo>
                <a:lnTo>
                  <a:pt x="1049917" y="7330"/>
                </a:lnTo>
                <a:lnTo>
                  <a:pt x="981231" y="3303"/>
                </a:lnTo>
                <a:lnTo>
                  <a:pt x="910575" y="837"/>
                </a:lnTo>
                <a:lnTo>
                  <a:pt x="838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44954" y="2057145"/>
            <a:ext cx="15252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employee_name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73300" y="2425700"/>
            <a:ext cx="647700" cy="609600"/>
          </a:xfrm>
          <a:custGeom>
            <a:avLst/>
            <a:gdLst/>
            <a:ahLst/>
            <a:cxnLst/>
            <a:rect l="l" t="t" r="r" b="b"/>
            <a:pathLst>
              <a:path w="647700" h="609600">
                <a:moveTo>
                  <a:pt x="0" y="228600"/>
                </a:moveTo>
                <a:lnTo>
                  <a:pt x="647699" y="609600"/>
                </a:lnTo>
              </a:path>
              <a:path w="647700" h="609600">
                <a:moveTo>
                  <a:pt x="533399" y="0"/>
                </a:moveTo>
                <a:lnTo>
                  <a:pt x="647699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3504" y="469900"/>
            <a:ext cx="5370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Schema</a:t>
            </a:r>
            <a:r>
              <a:rPr spc="-40" dirty="0"/>
              <a:t> </a:t>
            </a:r>
            <a:r>
              <a:rPr spc="-5" dirty="0"/>
              <a:t>Combination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76324"/>
            <a:ext cx="8031480" cy="44284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Relationship between weak entity-set and strong </a:t>
            </a:r>
            <a:r>
              <a:rPr sz="2800" spc="-7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entity-set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doesn’t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represented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separately</a:t>
            </a: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Arial MT"/>
                <a:cs typeface="Arial MT"/>
              </a:rPr>
              <a:t>Many-to-one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relationship</a:t>
            </a:r>
            <a:endParaRPr sz="24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Weak </a:t>
            </a:r>
            <a:r>
              <a:rPr sz="2400" dirty="0">
                <a:latin typeface="Arial MT"/>
                <a:cs typeface="Arial MT"/>
              </a:rPr>
              <a:t>entity-set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 total </a:t>
            </a:r>
            <a:r>
              <a:rPr sz="2400" spc="-5" dirty="0">
                <a:latin typeface="Arial MT"/>
                <a:cs typeface="Arial MT"/>
              </a:rPr>
              <a:t>participation</a:t>
            </a:r>
            <a:endParaRPr sz="2400" dirty="0">
              <a:latin typeface="Arial MT"/>
              <a:cs typeface="Arial MT"/>
            </a:endParaRPr>
          </a:p>
          <a:p>
            <a:pPr marL="755015" marR="218440" lvl="1" indent="-285750">
              <a:lnSpc>
                <a:spcPts val="2580"/>
              </a:lnSpc>
              <a:spcBef>
                <a:spcPts val="62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Weak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entity-set’s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includes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representation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identifying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relationship</a:t>
            </a:r>
            <a:endParaRPr sz="2400" dirty="0">
              <a:latin typeface="Arial MT"/>
              <a:cs typeface="Arial MT"/>
            </a:endParaRPr>
          </a:p>
          <a:p>
            <a:pPr marL="355600" marR="419734" indent="-343535">
              <a:lnSpc>
                <a:spcPts val="302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Can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apply technique to other relationship-sets </a:t>
            </a:r>
            <a:r>
              <a:rPr sz="2800" spc="-7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many-to-one mapping</a:t>
            </a: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Arial MT"/>
                <a:cs typeface="Arial MT"/>
              </a:rPr>
              <a:t>Entity-sets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spc="-5" dirty="0">
                <a:latin typeface="Arial MT"/>
                <a:cs typeface="Arial MT"/>
              </a:rPr>
              <a:t>with relationship-set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AB</a:t>
            </a:r>
            <a:endParaRPr sz="2400" dirty="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85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Arial MT"/>
                <a:cs typeface="Arial MT"/>
              </a:rPr>
              <a:t>Many-to-one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mapping</a:t>
            </a:r>
            <a:endParaRPr sz="24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’s participation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AB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total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403" y="469900"/>
            <a:ext cx="62096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Schema</a:t>
            </a:r>
            <a:r>
              <a:rPr spc="-10" dirty="0"/>
              <a:t> </a:t>
            </a:r>
            <a:r>
              <a:rPr spc="-5" dirty="0"/>
              <a:t>Combination</a:t>
            </a:r>
            <a:r>
              <a:rPr spc="-10" dirty="0"/>
              <a:t> 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34867"/>
            <a:ext cx="7955915" cy="291938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 smtClean="0">
                <a:solidFill>
                  <a:srgbClr val="FF0000"/>
                </a:solidFill>
                <a:latin typeface="Arial MT"/>
                <a:cs typeface="Arial MT"/>
              </a:rPr>
              <a:t>Generates</a:t>
            </a:r>
            <a:r>
              <a:rPr sz="2800" spc="-15" dirty="0" smtClean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relation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schemas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10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10" dirty="0">
                <a:solidFill>
                  <a:srgbClr val="FF0000"/>
                </a:solidFill>
                <a:latin typeface="Arial"/>
                <a:cs typeface="Arial"/>
              </a:rPr>
              <a:t>AB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AB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primary_key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155065" lvl="2" indent="-228600">
              <a:lnSpc>
                <a:spcPct val="100000"/>
              </a:lnSpc>
              <a:spcBef>
                <a:spcPts val="23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is on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“many”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 side of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mapping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i="1" dirty="0">
                <a:latin typeface="Arial"/>
                <a:cs typeface="Arial"/>
              </a:rPr>
              <a:t>AB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foreign</a:t>
            </a:r>
            <a:r>
              <a:rPr sz="2400" dirty="0">
                <a:latin typeface="Arial MT"/>
                <a:cs typeface="Arial MT"/>
              </a:rPr>
              <a:t> key constraints </a:t>
            </a:r>
            <a:r>
              <a:rPr sz="2400" spc="-5" dirty="0">
                <a:latin typeface="Arial MT"/>
                <a:cs typeface="Arial MT"/>
              </a:rPr>
              <a:t>on both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endParaRPr sz="24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Combine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Arial"/>
                <a:cs typeface="Arial"/>
              </a:rPr>
              <a:t>AB</a:t>
            </a:r>
            <a:r>
              <a:rPr sz="2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relation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schemas</a:t>
            </a: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primary_key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foreign-key</a:t>
            </a:r>
            <a:r>
              <a:rPr sz="2400" dirty="0">
                <a:latin typeface="Arial MT"/>
                <a:cs typeface="Arial MT"/>
              </a:rPr>
              <a:t> constraint, to </a:t>
            </a:r>
            <a:r>
              <a:rPr sz="2400" i="1" dirty="0">
                <a:latin typeface="Arial"/>
                <a:cs typeface="Arial"/>
              </a:rPr>
              <a:t>B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403" y="469900"/>
            <a:ext cx="62096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Schema</a:t>
            </a:r>
            <a:r>
              <a:rPr spc="-10" dirty="0"/>
              <a:t> </a:t>
            </a:r>
            <a:r>
              <a:rPr spc="-5" dirty="0"/>
              <a:t>Combination</a:t>
            </a:r>
            <a:r>
              <a:rPr spc="-10" dirty="0"/>
              <a:t> </a:t>
            </a:r>
            <a:r>
              <a:rPr spc="-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611375"/>
            <a:ext cx="8056245" cy="4288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1271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If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’s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participation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Arial"/>
                <a:cs typeface="Arial"/>
              </a:rPr>
              <a:t>AB</a:t>
            </a:r>
            <a:r>
              <a:rPr sz="28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partial,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still </a:t>
            </a:r>
            <a:r>
              <a:rPr sz="2800" spc="-7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combine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schemas</a:t>
            </a:r>
          </a:p>
          <a:p>
            <a:pPr marL="755015" marR="5080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Arial MT"/>
                <a:cs typeface="Arial MT"/>
              </a:rPr>
              <a:t>Need 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null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 for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primary_key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 attributes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when an</a:t>
            </a:r>
            <a:r>
              <a:rPr sz="2400" dirty="0">
                <a:latin typeface="Arial MT"/>
                <a:cs typeface="Arial MT"/>
              </a:rPr>
              <a:t> entity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maps to no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entity 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endParaRPr sz="24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If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spc="-5" dirty="0">
                <a:solidFill>
                  <a:srgbClr val="FF0000"/>
                </a:solidFill>
                <a:latin typeface="Arial"/>
                <a:cs typeface="Arial"/>
              </a:rPr>
              <a:t>AB</a:t>
            </a:r>
            <a:r>
              <a:rPr sz="28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one-to-one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mapping</a:t>
            </a:r>
            <a:r>
              <a:rPr sz="2800" dirty="0">
                <a:latin typeface="Arial MT"/>
                <a:cs typeface="Arial MT"/>
              </a:rPr>
              <a:t>:</a:t>
            </a:r>
          </a:p>
          <a:p>
            <a:pPr marL="755015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Can </a:t>
            </a:r>
            <a:r>
              <a:rPr sz="2400" spc="-5" dirty="0">
                <a:latin typeface="Arial MT"/>
                <a:cs typeface="Arial MT"/>
              </a:rPr>
              <a:t>also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case</a:t>
            </a:r>
            <a:endParaRPr sz="2400" dirty="0">
              <a:latin typeface="Arial MT"/>
              <a:cs typeface="Arial MT"/>
            </a:endParaRPr>
          </a:p>
          <a:p>
            <a:pPr marL="755015" marR="34671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Could </a:t>
            </a:r>
            <a:r>
              <a:rPr sz="2400" spc="-5" dirty="0">
                <a:latin typeface="Arial MT"/>
                <a:cs typeface="Arial MT"/>
              </a:rPr>
              <a:t>incorporate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AB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into schema 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" dirty="0">
                <a:latin typeface="Arial MT"/>
                <a:cs typeface="Arial MT"/>
              </a:rPr>
              <a:t> or </a:t>
            </a:r>
            <a:r>
              <a:rPr sz="2400" spc="-10" dirty="0">
                <a:latin typeface="Arial MT"/>
                <a:cs typeface="Arial MT"/>
              </a:rPr>
              <a:t>schema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endParaRPr sz="2400" dirty="0">
              <a:latin typeface="Arial"/>
              <a:cs typeface="Arial"/>
            </a:endParaRPr>
          </a:p>
          <a:p>
            <a:pPr marL="755015" marR="22352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When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relationship-set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entity-set,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entity-set’s </a:t>
            </a:r>
            <a:r>
              <a:rPr sz="2400" spc="-5" dirty="0">
                <a:latin typeface="Arial MT"/>
                <a:cs typeface="Arial MT"/>
              </a:rPr>
              <a:t>primary</a:t>
            </a:r>
            <a:r>
              <a:rPr sz="2400" dirty="0">
                <a:latin typeface="Arial MT"/>
                <a:cs typeface="Arial MT"/>
              </a:rPr>
              <a:t> key </a:t>
            </a:r>
            <a:r>
              <a:rPr sz="2400" i="1" spc="-5" dirty="0">
                <a:latin typeface="Arial"/>
                <a:cs typeface="Arial"/>
              </a:rPr>
              <a:t>doesn’t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change!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166" y="469900"/>
            <a:ext cx="7730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Schema-Combination</a:t>
            </a:r>
            <a:r>
              <a:rPr spc="-1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2943642"/>
            <a:ext cx="7498715" cy="30403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3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Manager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mapping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one-to-many</a:t>
            </a:r>
          </a:p>
          <a:p>
            <a:pPr marL="354965" marR="1982470" indent="-354965">
              <a:lnSpc>
                <a:spcPct val="109100"/>
              </a:lnSpc>
              <a:spcBef>
                <a:spcPts val="3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Relation schemas were: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employee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works_for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manager_id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3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Could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combine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into:</a:t>
            </a:r>
          </a:p>
          <a:p>
            <a:pPr marL="469900">
              <a:lnSpc>
                <a:spcPct val="100000"/>
              </a:lnSpc>
              <a:spcBef>
                <a:spcPts val="280"/>
              </a:spcBef>
            </a:pPr>
            <a:r>
              <a:rPr sz="2400" i="1" spc="-5" dirty="0">
                <a:latin typeface="Arial"/>
                <a:cs typeface="Arial"/>
              </a:rPr>
              <a:t>employee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manager_id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null</a:t>
            </a:r>
            <a:r>
              <a:rPr sz="24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employees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manager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2500" y="1892300"/>
            <a:ext cx="12954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400"/>
              </a:spcBef>
            </a:pPr>
            <a:r>
              <a:rPr sz="1600" i="1" spc="-5" dirty="0">
                <a:latin typeface="Arial"/>
                <a:cs typeface="Arial"/>
              </a:rPr>
              <a:t>employee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87900" y="1735137"/>
            <a:ext cx="2062480" cy="923925"/>
            <a:chOff x="4787900" y="1735137"/>
            <a:chExt cx="2062480" cy="923925"/>
          </a:xfrm>
        </p:grpSpPr>
        <p:sp>
          <p:nvSpPr>
            <p:cNvPr id="6" name="object 6"/>
            <p:cNvSpPr/>
            <p:nvPr/>
          </p:nvSpPr>
          <p:spPr>
            <a:xfrm>
              <a:off x="4787900" y="23495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900" y="2006600"/>
              <a:ext cx="995680" cy="76200"/>
            </a:xfrm>
            <a:custGeom>
              <a:avLst/>
              <a:gdLst/>
              <a:ahLst/>
              <a:cxnLst/>
              <a:rect l="l" t="t" r="r" b="b"/>
              <a:pathLst>
                <a:path w="995679" h="76200">
                  <a:moveTo>
                    <a:pt x="76200" y="33527"/>
                  </a:moveTo>
                  <a:lnTo>
                    <a:pt x="76200" y="0"/>
                  </a:lnTo>
                  <a:lnTo>
                    <a:pt x="0" y="38099"/>
                  </a:lnTo>
                  <a:lnTo>
                    <a:pt x="58674" y="67436"/>
                  </a:lnTo>
                  <a:lnTo>
                    <a:pt x="58674" y="38099"/>
                  </a:lnTo>
                  <a:lnTo>
                    <a:pt x="60198" y="35051"/>
                  </a:lnTo>
                  <a:lnTo>
                    <a:pt x="63246" y="33527"/>
                  </a:lnTo>
                  <a:lnTo>
                    <a:pt x="76200" y="33527"/>
                  </a:lnTo>
                  <a:close/>
                </a:path>
                <a:path w="995679" h="76200">
                  <a:moveTo>
                    <a:pt x="995172" y="38099"/>
                  </a:moveTo>
                  <a:lnTo>
                    <a:pt x="993648" y="35051"/>
                  </a:lnTo>
                  <a:lnTo>
                    <a:pt x="990600" y="33527"/>
                  </a:lnTo>
                  <a:lnTo>
                    <a:pt x="63246" y="33527"/>
                  </a:lnTo>
                  <a:lnTo>
                    <a:pt x="60198" y="35051"/>
                  </a:lnTo>
                  <a:lnTo>
                    <a:pt x="58674" y="38099"/>
                  </a:lnTo>
                  <a:lnTo>
                    <a:pt x="60198" y="41147"/>
                  </a:lnTo>
                  <a:lnTo>
                    <a:pt x="63246" y="42671"/>
                  </a:lnTo>
                  <a:lnTo>
                    <a:pt x="990600" y="42671"/>
                  </a:lnTo>
                  <a:lnTo>
                    <a:pt x="993648" y="41147"/>
                  </a:lnTo>
                  <a:lnTo>
                    <a:pt x="995172" y="38099"/>
                  </a:lnTo>
                  <a:close/>
                </a:path>
                <a:path w="995679" h="76200">
                  <a:moveTo>
                    <a:pt x="76200" y="76199"/>
                  </a:moveTo>
                  <a:lnTo>
                    <a:pt x="76200" y="42671"/>
                  </a:lnTo>
                  <a:lnTo>
                    <a:pt x="63246" y="42671"/>
                  </a:lnTo>
                  <a:lnTo>
                    <a:pt x="60198" y="41147"/>
                  </a:lnTo>
                  <a:lnTo>
                    <a:pt x="58674" y="38099"/>
                  </a:lnTo>
                  <a:lnTo>
                    <a:pt x="58674" y="67436"/>
                  </a:lnTo>
                  <a:lnTo>
                    <a:pt x="76200" y="761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73700" y="17399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457199"/>
                  </a:moveTo>
                  <a:lnTo>
                    <a:pt x="685800" y="0"/>
                  </a:lnTo>
                  <a:lnTo>
                    <a:pt x="0" y="457199"/>
                  </a:lnTo>
                  <a:lnTo>
                    <a:pt x="685800" y="914399"/>
                  </a:lnTo>
                  <a:lnTo>
                    <a:pt x="1371600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73700" y="17399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685800" y="0"/>
                  </a:moveTo>
                  <a:lnTo>
                    <a:pt x="0" y="457199"/>
                  </a:lnTo>
                  <a:lnTo>
                    <a:pt x="685800" y="914399"/>
                  </a:lnTo>
                  <a:lnTo>
                    <a:pt x="1371600" y="457199"/>
                  </a:lnTo>
                  <a:lnTo>
                    <a:pt x="6858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07126" y="2057145"/>
            <a:ext cx="90614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works_for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4646" y="1776730"/>
            <a:ext cx="7245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10" dirty="0">
                <a:latin typeface="Arial"/>
                <a:cs typeface="Arial"/>
              </a:rPr>
              <a:t>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1758" y="232925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10" dirty="0">
                <a:latin typeface="Arial"/>
                <a:cs typeface="Arial"/>
              </a:rPr>
              <a:t>worker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39900" y="2273300"/>
            <a:ext cx="1524000" cy="457200"/>
          </a:xfrm>
          <a:custGeom>
            <a:avLst/>
            <a:gdLst/>
            <a:ahLst/>
            <a:cxnLst/>
            <a:rect l="l" t="t" r="r" b="b"/>
            <a:pathLst>
              <a:path w="1524000" h="457200">
                <a:moveTo>
                  <a:pt x="761999" y="0"/>
                </a:moveTo>
                <a:lnTo>
                  <a:pt x="692674" y="932"/>
                </a:lnTo>
                <a:lnTo>
                  <a:pt x="625086" y="3675"/>
                </a:lnTo>
                <a:lnTo>
                  <a:pt x="559505" y="8149"/>
                </a:lnTo>
                <a:lnTo>
                  <a:pt x="496201" y="14274"/>
                </a:lnTo>
                <a:lnTo>
                  <a:pt x="435442" y="21970"/>
                </a:lnTo>
                <a:lnTo>
                  <a:pt x="377500" y="31157"/>
                </a:lnTo>
                <a:lnTo>
                  <a:pt x="322643" y="41755"/>
                </a:lnTo>
                <a:lnTo>
                  <a:pt x="271142" y="53684"/>
                </a:lnTo>
                <a:lnTo>
                  <a:pt x="223266" y="66865"/>
                </a:lnTo>
                <a:lnTo>
                  <a:pt x="179284" y="81217"/>
                </a:lnTo>
                <a:lnTo>
                  <a:pt x="139466" y="96660"/>
                </a:lnTo>
                <a:lnTo>
                  <a:pt x="104083" y="113114"/>
                </a:lnTo>
                <a:lnTo>
                  <a:pt x="47697" y="148737"/>
                </a:lnTo>
                <a:lnTo>
                  <a:pt x="12283" y="187445"/>
                </a:lnTo>
                <a:lnTo>
                  <a:pt x="0" y="228600"/>
                </a:lnTo>
                <a:lnTo>
                  <a:pt x="3115" y="249442"/>
                </a:lnTo>
                <a:lnTo>
                  <a:pt x="27234" y="289454"/>
                </a:lnTo>
                <a:lnTo>
                  <a:pt x="73403" y="326699"/>
                </a:lnTo>
                <a:lnTo>
                  <a:pt x="139466" y="360539"/>
                </a:lnTo>
                <a:lnTo>
                  <a:pt x="179284" y="375982"/>
                </a:lnTo>
                <a:lnTo>
                  <a:pt x="223265" y="390334"/>
                </a:lnTo>
                <a:lnTo>
                  <a:pt x="271142" y="403515"/>
                </a:lnTo>
                <a:lnTo>
                  <a:pt x="322643" y="415444"/>
                </a:lnTo>
                <a:lnTo>
                  <a:pt x="377500" y="426042"/>
                </a:lnTo>
                <a:lnTo>
                  <a:pt x="435442" y="435229"/>
                </a:lnTo>
                <a:lnTo>
                  <a:pt x="496201" y="442925"/>
                </a:lnTo>
                <a:lnTo>
                  <a:pt x="559505" y="449050"/>
                </a:lnTo>
                <a:lnTo>
                  <a:pt x="625086" y="453524"/>
                </a:lnTo>
                <a:lnTo>
                  <a:pt x="692674" y="456267"/>
                </a:lnTo>
                <a:lnTo>
                  <a:pt x="762000" y="457199"/>
                </a:lnTo>
                <a:lnTo>
                  <a:pt x="831325" y="456267"/>
                </a:lnTo>
                <a:lnTo>
                  <a:pt x="898913" y="453524"/>
                </a:lnTo>
                <a:lnTo>
                  <a:pt x="964494" y="449050"/>
                </a:lnTo>
                <a:lnTo>
                  <a:pt x="1027798" y="442925"/>
                </a:lnTo>
                <a:lnTo>
                  <a:pt x="1088557" y="435229"/>
                </a:lnTo>
                <a:lnTo>
                  <a:pt x="1146499" y="426042"/>
                </a:lnTo>
                <a:lnTo>
                  <a:pt x="1201356" y="415444"/>
                </a:lnTo>
                <a:lnTo>
                  <a:pt x="1252857" y="403515"/>
                </a:lnTo>
                <a:lnTo>
                  <a:pt x="1300733" y="390334"/>
                </a:lnTo>
                <a:lnTo>
                  <a:pt x="1344715" y="375982"/>
                </a:lnTo>
                <a:lnTo>
                  <a:pt x="1384533" y="360539"/>
                </a:lnTo>
                <a:lnTo>
                  <a:pt x="1419916" y="344085"/>
                </a:lnTo>
                <a:lnTo>
                  <a:pt x="1476302" y="308462"/>
                </a:lnTo>
                <a:lnTo>
                  <a:pt x="1511716" y="269754"/>
                </a:lnTo>
                <a:lnTo>
                  <a:pt x="1523999" y="228599"/>
                </a:lnTo>
                <a:lnTo>
                  <a:pt x="1520884" y="207757"/>
                </a:lnTo>
                <a:lnTo>
                  <a:pt x="1496765" y="167745"/>
                </a:lnTo>
                <a:lnTo>
                  <a:pt x="1450596" y="130500"/>
                </a:lnTo>
                <a:lnTo>
                  <a:pt x="1384533" y="96660"/>
                </a:lnTo>
                <a:lnTo>
                  <a:pt x="1344715" y="81217"/>
                </a:lnTo>
                <a:lnTo>
                  <a:pt x="1300733" y="66865"/>
                </a:lnTo>
                <a:lnTo>
                  <a:pt x="1252857" y="53684"/>
                </a:lnTo>
                <a:lnTo>
                  <a:pt x="1201356" y="41755"/>
                </a:lnTo>
                <a:lnTo>
                  <a:pt x="1146499" y="31157"/>
                </a:lnTo>
                <a:lnTo>
                  <a:pt x="1088557" y="21970"/>
                </a:lnTo>
                <a:lnTo>
                  <a:pt x="1027798" y="14274"/>
                </a:lnTo>
                <a:lnTo>
                  <a:pt x="964494" y="8149"/>
                </a:lnTo>
                <a:lnTo>
                  <a:pt x="898913" y="3675"/>
                </a:lnTo>
                <a:lnTo>
                  <a:pt x="831325" y="932"/>
                </a:lnTo>
                <a:lnTo>
                  <a:pt x="7619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16176" y="2361945"/>
            <a:ext cx="11753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employee_id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25700" y="1435100"/>
            <a:ext cx="838200" cy="457200"/>
          </a:xfrm>
          <a:custGeom>
            <a:avLst/>
            <a:gdLst/>
            <a:ahLst/>
            <a:cxnLst/>
            <a:rect l="l" t="t" r="r" b="b"/>
            <a:pathLst>
              <a:path w="838200" h="457200">
                <a:moveTo>
                  <a:pt x="419100" y="0"/>
                </a:moveTo>
                <a:lnTo>
                  <a:pt x="357126" y="2473"/>
                </a:lnTo>
                <a:lnTo>
                  <a:pt x="297990" y="9659"/>
                </a:lnTo>
                <a:lnTo>
                  <a:pt x="242337" y="21207"/>
                </a:lnTo>
                <a:lnTo>
                  <a:pt x="190813" y="36768"/>
                </a:lnTo>
                <a:lnTo>
                  <a:pt x="144064" y="55990"/>
                </a:lnTo>
                <a:lnTo>
                  <a:pt x="102735" y="78524"/>
                </a:lnTo>
                <a:lnTo>
                  <a:pt x="67472" y="104019"/>
                </a:lnTo>
                <a:lnTo>
                  <a:pt x="38922" y="132124"/>
                </a:lnTo>
                <a:lnTo>
                  <a:pt x="4539" y="194765"/>
                </a:lnTo>
                <a:lnTo>
                  <a:pt x="0" y="228600"/>
                </a:lnTo>
                <a:lnTo>
                  <a:pt x="4539" y="262434"/>
                </a:lnTo>
                <a:lnTo>
                  <a:pt x="38922" y="325075"/>
                </a:lnTo>
                <a:lnTo>
                  <a:pt x="67472" y="353180"/>
                </a:lnTo>
                <a:lnTo>
                  <a:pt x="102735" y="378675"/>
                </a:lnTo>
                <a:lnTo>
                  <a:pt x="144064" y="401209"/>
                </a:lnTo>
                <a:lnTo>
                  <a:pt x="190813" y="420431"/>
                </a:lnTo>
                <a:lnTo>
                  <a:pt x="242337" y="435992"/>
                </a:lnTo>
                <a:lnTo>
                  <a:pt x="297990" y="447540"/>
                </a:lnTo>
                <a:lnTo>
                  <a:pt x="357126" y="454726"/>
                </a:lnTo>
                <a:lnTo>
                  <a:pt x="419100" y="457199"/>
                </a:lnTo>
                <a:lnTo>
                  <a:pt x="481073" y="454726"/>
                </a:lnTo>
                <a:lnTo>
                  <a:pt x="540209" y="447540"/>
                </a:lnTo>
                <a:lnTo>
                  <a:pt x="595862" y="435992"/>
                </a:lnTo>
                <a:lnTo>
                  <a:pt x="647386" y="420431"/>
                </a:lnTo>
                <a:lnTo>
                  <a:pt x="694135" y="401209"/>
                </a:lnTo>
                <a:lnTo>
                  <a:pt x="735464" y="378675"/>
                </a:lnTo>
                <a:lnTo>
                  <a:pt x="770727" y="353180"/>
                </a:lnTo>
                <a:lnTo>
                  <a:pt x="799277" y="325075"/>
                </a:lnTo>
                <a:lnTo>
                  <a:pt x="833660" y="262434"/>
                </a:lnTo>
                <a:lnTo>
                  <a:pt x="838200" y="228599"/>
                </a:lnTo>
                <a:lnTo>
                  <a:pt x="833660" y="194765"/>
                </a:lnTo>
                <a:lnTo>
                  <a:pt x="799277" y="132124"/>
                </a:lnTo>
                <a:lnTo>
                  <a:pt x="770727" y="104019"/>
                </a:lnTo>
                <a:lnTo>
                  <a:pt x="735464" y="78524"/>
                </a:lnTo>
                <a:lnTo>
                  <a:pt x="694135" y="55990"/>
                </a:lnTo>
                <a:lnTo>
                  <a:pt x="647386" y="36768"/>
                </a:lnTo>
                <a:lnTo>
                  <a:pt x="595862" y="21207"/>
                </a:lnTo>
                <a:lnTo>
                  <a:pt x="540209" y="9659"/>
                </a:lnTo>
                <a:lnTo>
                  <a:pt x="481073" y="2473"/>
                </a:lnTo>
                <a:lnTo>
                  <a:pt x="4191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79877" y="1523745"/>
            <a:ext cx="5334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39872" y="1825244"/>
            <a:ext cx="452755" cy="514350"/>
          </a:xfrm>
          <a:custGeom>
            <a:avLst/>
            <a:gdLst/>
            <a:ahLst/>
            <a:cxnLst/>
            <a:rect l="l" t="t" r="r" b="b"/>
            <a:pathLst>
              <a:path w="452754" h="514350">
                <a:moveTo>
                  <a:pt x="452627" y="371856"/>
                </a:moveTo>
                <a:lnTo>
                  <a:pt x="102107" y="0"/>
                </a:lnTo>
              </a:path>
              <a:path w="452754" h="514350">
                <a:moveTo>
                  <a:pt x="0" y="514350"/>
                </a:moveTo>
                <a:lnTo>
                  <a:pt x="452627" y="3718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6401" y="501142"/>
            <a:ext cx="7764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Schema</a:t>
            </a:r>
            <a:r>
              <a:rPr sz="4000" spc="-35" dirty="0"/>
              <a:t> </a:t>
            </a:r>
            <a:r>
              <a:rPr sz="4000" dirty="0"/>
              <a:t>Combination</a:t>
            </a:r>
            <a:r>
              <a:rPr sz="4000" spc="-30" dirty="0"/>
              <a:t> </a:t>
            </a:r>
            <a:r>
              <a:rPr sz="4000" dirty="0"/>
              <a:t>Example</a:t>
            </a:r>
            <a:r>
              <a:rPr sz="4000" spc="-30" dirty="0"/>
              <a:t> </a:t>
            </a:r>
            <a:r>
              <a:rPr sz="4000" dirty="0"/>
              <a:t>(2)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4001" y="3063748"/>
            <a:ext cx="7874000" cy="2985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54965">
              <a:lnSpc>
                <a:spcPct val="998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One-to-one </a:t>
            </a:r>
            <a:r>
              <a:rPr sz="2800" dirty="0">
                <a:latin typeface="Arial MT"/>
                <a:cs typeface="Arial MT"/>
              </a:rPr>
              <a:t>mapping between customers, loans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customer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street_address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city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loan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amount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875"/>
              </a:lnSpc>
            </a:pPr>
            <a:r>
              <a:rPr sz="2400" i="1" spc="-5" dirty="0">
                <a:latin typeface="Arial"/>
                <a:cs typeface="Arial"/>
              </a:rPr>
              <a:t>borrower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loan_id</a:t>
            </a:r>
            <a:r>
              <a:rPr sz="2400" spc="-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155700" lvl="1" indent="-229235">
              <a:lnSpc>
                <a:spcPts val="2400"/>
              </a:lnSpc>
              <a:buFont typeface="Arial MT"/>
              <a:buChar char="•"/>
              <a:tabLst>
                <a:tab pos="1155065" algn="l"/>
                <a:tab pos="1156335" algn="l"/>
              </a:tabLst>
            </a:pPr>
            <a:r>
              <a:rPr sz="2000" i="1" spc="-5" dirty="0">
                <a:solidFill>
                  <a:srgbClr val="FF0000"/>
                </a:solidFill>
                <a:latin typeface="Arial"/>
                <a:cs typeface="Arial"/>
              </a:rPr>
              <a:t>borrower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could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also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sz="20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i="1" spc="-5" dirty="0">
                <a:solidFill>
                  <a:srgbClr val="FF0000"/>
                </a:solidFill>
                <a:latin typeface="Arial"/>
                <a:cs typeface="Arial"/>
              </a:rPr>
              <a:t>loan_id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0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primary</a:t>
            </a:r>
            <a:r>
              <a:rPr sz="20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endParaRPr sz="20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354965" indent="-342900">
              <a:lnSpc>
                <a:spcPts val="3025"/>
              </a:lnSpc>
              <a:spcBef>
                <a:spcPts val="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Could </a:t>
            </a:r>
            <a:r>
              <a:rPr sz="2800" dirty="0">
                <a:latin typeface="Arial MT"/>
                <a:cs typeface="Arial MT"/>
              </a:rPr>
              <a:t>combine </a:t>
            </a:r>
            <a:r>
              <a:rPr sz="2800" i="1" dirty="0">
                <a:latin typeface="Arial"/>
                <a:cs typeface="Arial"/>
              </a:rPr>
              <a:t>borrower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customer</a:t>
            </a:r>
            <a:endParaRPr sz="2800" dirty="0">
              <a:latin typeface="Arial"/>
              <a:cs typeface="Arial"/>
            </a:endParaRPr>
          </a:p>
          <a:p>
            <a:pPr marL="354965">
              <a:lnSpc>
                <a:spcPts val="3015"/>
              </a:lnSpc>
            </a:pPr>
            <a:r>
              <a:rPr sz="2800" dirty="0">
                <a:latin typeface="Arial MT"/>
                <a:cs typeface="Arial MT"/>
              </a:rPr>
              <a:t>or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loan</a:t>
            </a:r>
            <a:r>
              <a:rPr sz="2800" i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schema</a:t>
            </a:r>
          </a:p>
          <a:p>
            <a:pPr marL="469900">
              <a:lnSpc>
                <a:spcPts val="2875"/>
              </a:lnSpc>
            </a:pP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 it matter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 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choose?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100" y="2425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300" y="1816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199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199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1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399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1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2997" y="1904745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6500" y="1282700"/>
            <a:ext cx="2895600" cy="457200"/>
          </a:xfrm>
          <a:custGeom>
            <a:avLst/>
            <a:gdLst/>
            <a:ahLst/>
            <a:cxnLst/>
            <a:rect l="l" t="t" r="r" b="b"/>
            <a:pathLst>
              <a:path w="2895600" h="457200">
                <a:moveTo>
                  <a:pt x="571500" y="0"/>
                </a:moveTo>
                <a:lnTo>
                  <a:pt x="504881" y="1534"/>
                </a:lnTo>
                <a:lnTo>
                  <a:pt x="440511" y="6024"/>
                </a:lnTo>
                <a:lnTo>
                  <a:pt x="378821" y="13301"/>
                </a:lnTo>
                <a:lnTo>
                  <a:pt x="320239" y="23193"/>
                </a:lnTo>
                <a:lnTo>
                  <a:pt x="265197" y="35531"/>
                </a:lnTo>
                <a:lnTo>
                  <a:pt x="214124" y="50145"/>
                </a:lnTo>
                <a:lnTo>
                  <a:pt x="167449" y="66865"/>
                </a:lnTo>
                <a:lnTo>
                  <a:pt x="125603" y="85521"/>
                </a:lnTo>
                <a:lnTo>
                  <a:pt x="89015" y="105944"/>
                </a:lnTo>
                <a:lnTo>
                  <a:pt x="33335" y="151407"/>
                </a:lnTo>
                <a:lnTo>
                  <a:pt x="3847" y="201896"/>
                </a:lnTo>
                <a:lnTo>
                  <a:pt x="0" y="228600"/>
                </a:lnTo>
                <a:lnTo>
                  <a:pt x="3847" y="255303"/>
                </a:lnTo>
                <a:lnTo>
                  <a:pt x="33335" y="305792"/>
                </a:lnTo>
                <a:lnTo>
                  <a:pt x="89015" y="351255"/>
                </a:lnTo>
                <a:lnTo>
                  <a:pt x="125603" y="371678"/>
                </a:lnTo>
                <a:lnTo>
                  <a:pt x="167449" y="390334"/>
                </a:lnTo>
                <a:lnTo>
                  <a:pt x="214124" y="407054"/>
                </a:lnTo>
                <a:lnTo>
                  <a:pt x="265197" y="421668"/>
                </a:lnTo>
                <a:lnTo>
                  <a:pt x="320239" y="434006"/>
                </a:lnTo>
                <a:lnTo>
                  <a:pt x="378821" y="443898"/>
                </a:lnTo>
                <a:lnTo>
                  <a:pt x="440511" y="451175"/>
                </a:lnTo>
                <a:lnTo>
                  <a:pt x="504881" y="455665"/>
                </a:lnTo>
                <a:lnTo>
                  <a:pt x="571500" y="457200"/>
                </a:lnTo>
                <a:lnTo>
                  <a:pt x="638118" y="455665"/>
                </a:lnTo>
                <a:lnTo>
                  <a:pt x="702488" y="451175"/>
                </a:lnTo>
                <a:lnTo>
                  <a:pt x="764178" y="443898"/>
                </a:lnTo>
                <a:lnTo>
                  <a:pt x="822760" y="434006"/>
                </a:lnTo>
                <a:lnTo>
                  <a:pt x="877802" y="421668"/>
                </a:lnTo>
                <a:lnTo>
                  <a:pt x="928875" y="407054"/>
                </a:lnTo>
                <a:lnTo>
                  <a:pt x="975550" y="390334"/>
                </a:lnTo>
                <a:lnTo>
                  <a:pt x="1017396" y="371678"/>
                </a:lnTo>
                <a:lnTo>
                  <a:pt x="1053984" y="351255"/>
                </a:lnTo>
                <a:lnTo>
                  <a:pt x="1109664" y="305792"/>
                </a:lnTo>
                <a:lnTo>
                  <a:pt x="1139152" y="255303"/>
                </a:lnTo>
                <a:lnTo>
                  <a:pt x="1143000" y="228600"/>
                </a:lnTo>
                <a:lnTo>
                  <a:pt x="1139152" y="201896"/>
                </a:lnTo>
                <a:lnTo>
                  <a:pt x="1109664" y="151407"/>
                </a:lnTo>
                <a:lnTo>
                  <a:pt x="1053984" y="105944"/>
                </a:lnTo>
                <a:lnTo>
                  <a:pt x="1017396" y="85521"/>
                </a:lnTo>
                <a:lnTo>
                  <a:pt x="975550" y="66865"/>
                </a:lnTo>
                <a:lnTo>
                  <a:pt x="928875" y="50145"/>
                </a:lnTo>
                <a:lnTo>
                  <a:pt x="877802" y="35531"/>
                </a:lnTo>
                <a:lnTo>
                  <a:pt x="822760" y="23193"/>
                </a:lnTo>
                <a:lnTo>
                  <a:pt x="764178" y="13301"/>
                </a:lnTo>
                <a:lnTo>
                  <a:pt x="702488" y="6024"/>
                </a:lnTo>
                <a:lnTo>
                  <a:pt x="638118" y="1534"/>
                </a:lnTo>
                <a:lnTo>
                  <a:pt x="571500" y="0"/>
                </a:lnTo>
                <a:close/>
              </a:path>
              <a:path w="2895600" h="457200">
                <a:moveTo>
                  <a:pt x="2095500" y="0"/>
                </a:moveTo>
                <a:lnTo>
                  <a:pt x="2026453" y="837"/>
                </a:lnTo>
                <a:lnTo>
                  <a:pt x="1959039" y="3303"/>
                </a:lnTo>
                <a:lnTo>
                  <a:pt x="1893499" y="7330"/>
                </a:lnTo>
                <a:lnTo>
                  <a:pt x="1830072" y="12851"/>
                </a:lnTo>
                <a:lnTo>
                  <a:pt x="1768997" y="19797"/>
                </a:lnTo>
                <a:lnTo>
                  <a:pt x="1710516" y="28099"/>
                </a:lnTo>
                <a:lnTo>
                  <a:pt x="1654867" y="37691"/>
                </a:lnTo>
                <a:lnTo>
                  <a:pt x="1602291" y="48504"/>
                </a:lnTo>
                <a:lnTo>
                  <a:pt x="1553029" y="60471"/>
                </a:lnTo>
                <a:lnTo>
                  <a:pt x="1507319" y="73522"/>
                </a:lnTo>
                <a:lnTo>
                  <a:pt x="1465401" y="87591"/>
                </a:lnTo>
                <a:lnTo>
                  <a:pt x="1427517" y="102609"/>
                </a:lnTo>
                <a:lnTo>
                  <a:pt x="1364806" y="135220"/>
                </a:lnTo>
                <a:lnTo>
                  <a:pt x="1321106" y="170812"/>
                </a:lnTo>
                <a:lnTo>
                  <a:pt x="1298336" y="208841"/>
                </a:lnTo>
                <a:lnTo>
                  <a:pt x="1295400" y="228599"/>
                </a:lnTo>
                <a:lnTo>
                  <a:pt x="1298336" y="248358"/>
                </a:lnTo>
                <a:lnTo>
                  <a:pt x="1321106" y="286387"/>
                </a:lnTo>
                <a:lnTo>
                  <a:pt x="1364806" y="321979"/>
                </a:lnTo>
                <a:lnTo>
                  <a:pt x="1427517" y="354590"/>
                </a:lnTo>
                <a:lnTo>
                  <a:pt x="1465401" y="369608"/>
                </a:lnTo>
                <a:lnTo>
                  <a:pt x="1507319" y="383677"/>
                </a:lnTo>
                <a:lnTo>
                  <a:pt x="1553029" y="396728"/>
                </a:lnTo>
                <a:lnTo>
                  <a:pt x="1602291" y="408695"/>
                </a:lnTo>
                <a:lnTo>
                  <a:pt x="1654867" y="419508"/>
                </a:lnTo>
                <a:lnTo>
                  <a:pt x="1710516" y="429100"/>
                </a:lnTo>
                <a:lnTo>
                  <a:pt x="1768997" y="437402"/>
                </a:lnTo>
                <a:lnTo>
                  <a:pt x="1830072" y="444348"/>
                </a:lnTo>
                <a:lnTo>
                  <a:pt x="1893499" y="449869"/>
                </a:lnTo>
                <a:lnTo>
                  <a:pt x="1959039" y="453896"/>
                </a:lnTo>
                <a:lnTo>
                  <a:pt x="2026453" y="456362"/>
                </a:lnTo>
                <a:lnTo>
                  <a:pt x="2095500" y="457199"/>
                </a:lnTo>
                <a:lnTo>
                  <a:pt x="2164546" y="456362"/>
                </a:lnTo>
                <a:lnTo>
                  <a:pt x="2231960" y="453896"/>
                </a:lnTo>
                <a:lnTo>
                  <a:pt x="2297500" y="449869"/>
                </a:lnTo>
                <a:lnTo>
                  <a:pt x="2360927" y="444348"/>
                </a:lnTo>
                <a:lnTo>
                  <a:pt x="2422002" y="437402"/>
                </a:lnTo>
                <a:lnTo>
                  <a:pt x="2480483" y="429100"/>
                </a:lnTo>
                <a:lnTo>
                  <a:pt x="2536132" y="419508"/>
                </a:lnTo>
                <a:lnTo>
                  <a:pt x="2588708" y="408695"/>
                </a:lnTo>
                <a:lnTo>
                  <a:pt x="2637970" y="396728"/>
                </a:lnTo>
                <a:lnTo>
                  <a:pt x="2683680" y="383677"/>
                </a:lnTo>
                <a:lnTo>
                  <a:pt x="2725598" y="369608"/>
                </a:lnTo>
                <a:lnTo>
                  <a:pt x="2763482" y="354590"/>
                </a:lnTo>
                <a:lnTo>
                  <a:pt x="2826193" y="321979"/>
                </a:lnTo>
                <a:lnTo>
                  <a:pt x="2869893" y="286387"/>
                </a:lnTo>
                <a:lnTo>
                  <a:pt x="2892663" y="248358"/>
                </a:lnTo>
                <a:lnTo>
                  <a:pt x="2895600" y="228599"/>
                </a:lnTo>
                <a:lnTo>
                  <a:pt x="2892663" y="208841"/>
                </a:lnTo>
                <a:lnTo>
                  <a:pt x="2869893" y="170812"/>
                </a:lnTo>
                <a:lnTo>
                  <a:pt x="2826193" y="135220"/>
                </a:lnTo>
                <a:lnTo>
                  <a:pt x="2763482" y="102609"/>
                </a:lnTo>
                <a:lnTo>
                  <a:pt x="2725598" y="87591"/>
                </a:lnTo>
                <a:lnTo>
                  <a:pt x="2683680" y="73522"/>
                </a:lnTo>
                <a:lnTo>
                  <a:pt x="2637970" y="60471"/>
                </a:lnTo>
                <a:lnTo>
                  <a:pt x="2588708" y="48504"/>
                </a:lnTo>
                <a:lnTo>
                  <a:pt x="2536132" y="37691"/>
                </a:lnTo>
                <a:lnTo>
                  <a:pt x="2480483" y="28099"/>
                </a:lnTo>
                <a:lnTo>
                  <a:pt x="2422002" y="19797"/>
                </a:lnTo>
                <a:lnTo>
                  <a:pt x="2360927" y="12851"/>
                </a:lnTo>
                <a:lnTo>
                  <a:pt x="2297500" y="7330"/>
                </a:lnTo>
                <a:lnTo>
                  <a:pt x="2231960" y="3303"/>
                </a:lnTo>
                <a:lnTo>
                  <a:pt x="2164546" y="837"/>
                </a:lnTo>
                <a:lnTo>
                  <a:pt x="20955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11553" y="1371345"/>
            <a:ext cx="24771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8870" algn="l"/>
              </a:tabLst>
            </a:pPr>
            <a:r>
              <a:rPr sz="1600" i="1" spc="-5" dirty="0">
                <a:latin typeface="Arial"/>
                <a:cs typeface="Arial"/>
              </a:rPr>
              <a:t>name	street_address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40100" y="18923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32200" y="19809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3700" y="1672844"/>
            <a:ext cx="3733800" cy="1362710"/>
          </a:xfrm>
          <a:custGeom>
            <a:avLst/>
            <a:gdLst/>
            <a:ahLst/>
            <a:cxnLst/>
            <a:rect l="l" t="t" r="r" b="b"/>
            <a:pathLst>
              <a:path w="3733800" h="1362710">
                <a:moveTo>
                  <a:pt x="0" y="371856"/>
                </a:moveTo>
                <a:lnTo>
                  <a:pt x="876300" y="752856"/>
                </a:lnTo>
              </a:path>
              <a:path w="3733800" h="1362710">
                <a:moveTo>
                  <a:pt x="518922" y="0"/>
                </a:moveTo>
                <a:lnTo>
                  <a:pt x="876300" y="752856"/>
                </a:lnTo>
              </a:path>
              <a:path w="3733800" h="1362710">
                <a:moveTo>
                  <a:pt x="1072895" y="0"/>
                </a:moveTo>
                <a:lnTo>
                  <a:pt x="876300" y="752856"/>
                </a:lnTo>
              </a:path>
              <a:path w="3733800" h="1362710">
                <a:moveTo>
                  <a:pt x="1676400" y="448056"/>
                </a:moveTo>
                <a:lnTo>
                  <a:pt x="876300" y="752856"/>
                </a:lnTo>
              </a:path>
              <a:path w="3733800" h="1362710">
                <a:moveTo>
                  <a:pt x="3048000" y="676656"/>
                </a:moveTo>
                <a:lnTo>
                  <a:pt x="2362200" y="1019556"/>
                </a:lnTo>
                <a:lnTo>
                  <a:pt x="3048000" y="1362456"/>
                </a:lnTo>
                <a:lnTo>
                  <a:pt x="3733800" y="1019556"/>
                </a:lnTo>
                <a:lnTo>
                  <a:pt x="3048000" y="6766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98950" y="2552445"/>
            <a:ext cx="8267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borrower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9500" y="2425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loan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30900" y="1663700"/>
            <a:ext cx="2209800" cy="457200"/>
          </a:xfrm>
          <a:custGeom>
            <a:avLst/>
            <a:gdLst/>
            <a:ahLst/>
            <a:cxnLst/>
            <a:rect l="l" t="t" r="r" b="b"/>
            <a:pathLst>
              <a:path w="22098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4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  <a:path w="2209800" h="457200">
                <a:moveTo>
                  <a:pt x="1676400" y="0"/>
                </a:moveTo>
                <a:lnTo>
                  <a:pt x="1609431" y="1777"/>
                </a:lnTo>
                <a:lnTo>
                  <a:pt x="1544962" y="6967"/>
                </a:lnTo>
                <a:lnTo>
                  <a:pt x="1483489" y="15357"/>
                </a:lnTo>
                <a:lnTo>
                  <a:pt x="1425510" y="26736"/>
                </a:lnTo>
                <a:lnTo>
                  <a:pt x="1371523" y="40892"/>
                </a:lnTo>
                <a:lnTo>
                  <a:pt x="1322025" y="57610"/>
                </a:lnTo>
                <a:lnTo>
                  <a:pt x="1277512" y="76681"/>
                </a:lnTo>
                <a:lnTo>
                  <a:pt x="1238484" y="97891"/>
                </a:lnTo>
                <a:lnTo>
                  <a:pt x="1205436" y="121027"/>
                </a:lnTo>
                <a:lnTo>
                  <a:pt x="1159272" y="172233"/>
                </a:lnTo>
                <a:lnTo>
                  <a:pt x="1143000" y="228599"/>
                </a:lnTo>
                <a:lnTo>
                  <a:pt x="1147150" y="257322"/>
                </a:lnTo>
                <a:lnTo>
                  <a:pt x="1178866" y="311320"/>
                </a:lnTo>
                <a:lnTo>
                  <a:pt x="1238484" y="359308"/>
                </a:lnTo>
                <a:lnTo>
                  <a:pt x="1277512" y="380518"/>
                </a:lnTo>
                <a:lnTo>
                  <a:pt x="1322025" y="399589"/>
                </a:lnTo>
                <a:lnTo>
                  <a:pt x="1371523" y="416307"/>
                </a:lnTo>
                <a:lnTo>
                  <a:pt x="1425510" y="430463"/>
                </a:lnTo>
                <a:lnTo>
                  <a:pt x="1483489" y="441842"/>
                </a:lnTo>
                <a:lnTo>
                  <a:pt x="1544962" y="450232"/>
                </a:lnTo>
                <a:lnTo>
                  <a:pt x="1609431" y="455422"/>
                </a:lnTo>
                <a:lnTo>
                  <a:pt x="1676400" y="457199"/>
                </a:lnTo>
                <a:lnTo>
                  <a:pt x="1743368" y="455422"/>
                </a:lnTo>
                <a:lnTo>
                  <a:pt x="1807837" y="450232"/>
                </a:lnTo>
                <a:lnTo>
                  <a:pt x="1869310" y="441842"/>
                </a:lnTo>
                <a:lnTo>
                  <a:pt x="1927289" y="430463"/>
                </a:lnTo>
                <a:lnTo>
                  <a:pt x="1981276" y="416307"/>
                </a:lnTo>
                <a:lnTo>
                  <a:pt x="2030774" y="399589"/>
                </a:lnTo>
                <a:lnTo>
                  <a:pt x="2075287" y="380518"/>
                </a:lnTo>
                <a:lnTo>
                  <a:pt x="2114315" y="359308"/>
                </a:lnTo>
                <a:lnTo>
                  <a:pt x="2147363" y="336172"/>
                </a:lnTo>
                <a:lnTo>
                  <a:pt x="2193527" y="284966"/>
                </a:lnTo>
                <a:lnTo>
                  <a:pt x="2209800" y="228599"/>
                </a:lnTo>
                <a:lnTo>
                  <a:pt x="2205649" y="199877"/>
                </a:lnTo>
                <a:lnTo>
                  <a:pt x="2173933" y="145879"/>
                </a:lnTo>
                <a:lnTo>
                  <a:pt x="2114315" y="97891"/>
                </a:lnTo>
                <a:lnTo>
                  <a:pt x="2075287" y="76681"/>
                </a:lnTo>
                <a:lnTo>
                  <a:pt x="2030774" y="57610"/>
                </a:lnTo>
                <a:lnTo>
                  <a:pt x="1981276" y="40892"/>
                </a:lnTo>
                <a:lnTo>
                  <a:pt x="1927289" y="26736"/>
                </a:lnTo>
                <a:lnTo>
                  <a:pt x="1869310" y="15357"/>
                </a:lnTo>
                <a:lnTo>
                  <a:pt x="1807837" y="6967"/>
                </a:lnTo>
                <a:lnTo>
                  <a:pt x="1743368" y="1777"/>
                </a:lnTo>
                <a:lnTo>
                  <a:pt x="16764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50026" y="1752345"/>
            <a:ext cx="19100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8565" algn="l"/>
              </a:tabLst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</a:t>
            </a:r>
            <a:r>
              <a:rPr sz="16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600" i="1" dirty="0">
                <a:latin typeface="Arial"/>
                <a:cs typeface="Arial"/>
              </a:rPr>
              <a:t>	</a:t>
            </a:r>
            <a:r>
              <a:rPr sz="1600" i="1" spc="-5" dirty="0">
                <a:latin typeface="Arial"/>
                <a:cs typeface="Arial"/>
              </a:rPr>
              <a:t>amount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11950" y="2053844"/>
            <a:ext cx="517525" cy="372110"/>
          </a:xfrm>
          <a:custGeom>
            <a:avLst/>
            <a:gdLst/>
            <a:ahLst/>
            <a:cxnLst/>
            <a:rect l="l" t="t" r="r" b="b"/>
            <a:pathLst>
              <a:path w="517525" h="372110">
                <a:moveTo>
                  <a:pt x="0" y="0"/>
                </a:moveTo>
                <a:lnTo>
                  <a:pt x="171450" y="371856"/>
                </a:lnTo>
              </a:path>
              <a:path w="517525" h="372110">
                <a:moveTo>
                  <a:pt x="517398" y="0"/>
                </a:moveTo>
                <a:lnTo>
                  <a:pt x="171450" y="3718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63900" y="2654299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766572" y="38100"/>
                </a:moveTo>
                <a:lnTo>
                  <a:pt x="765048" y="35052"/>
                </a:lnTo>
                <a:lnTo>
                  <a:pt x="762000" y="33528"/>
                </a:lnTo>
                <a:lnTo>
                  <a:pt x="76200" y="33528"/>
                </a:ln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76200" y="76200"/>
                </a:lnTo>
                <a:lnTo>
                  <a:pt x="76200" y="42672"/>
                </a:lnTo>
                <a:lnTo>
                  <a:pt x="762000" y="42672"/>
                </a:lnTo>
                <a:lnTo>
                  <a:pt x="765048" y="41148"/>
                </a:lnTo>
                <a:lnTo>
                  <a:pt x="766572" y="38100"/>
                </a:lnTo>
                <a:close/>
              </a:path>
              <a:path w="2895600" h="76200">
                <a:moveTo>
                  <a:pt x="2895600" y="38100"/>
                </a:moveTo>
                <a:lnTo>
                  <a:pt x="2819400" y="0"/>
                </a:lnTo>
                <a:lnTo>
                  <a:pt x="2819400" y="33528"/>
                </a:lnTo>
                <a:lnTo>
                  <a:pt x="2133600" y="33528"/>
                </a:lnTo>
                <a:lnTo>
                  <a:pt x="2130552" y="35052"/>
                </a:lnTo>
                <a:lnTo>
                  <a:pt x="2129028" y="38100"/>
                </a:lnTo>
                <a:lnTo>
                  <a:pt x="2130552" y="41148"/>
                </a:lnTo>
                <a:lnTo>
                  <a:pt x="2133600" y="42672"/>
                </a:lnTo>
                <a:lnTo>
                  <a:pt x="2819400" y="42672"/>
                </a:lnTo>
                <a:lnTo>
                  <a:pt x="2819400" y="76200"/>
                </a:lnTo>
                <a:lnTo>
                  <a:pt x="2836926" y="67437"/>
                </a:lnTo>
                <a:lnTo>
                  <a:pt x="28956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6401" y="501142"/>
            <a:ext cx="7764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Schema</a:t>
            </a:r>
            <a:r>
              <a:rPr sz="4000" spc="-35" dirty="0"/>
              <a:t> </a:t>
            </a:r>
            <a:r>
              <a:rPr sz="4000" dirty="0"/>
              <a:t>Combination</a:t>
            </a:r>
            <a:r>
              <a:rPr sz="4000" spc="-30" dirty="0"/>
              <a:t> </a:t>
            </a:r>
            <a:r>
              <a:rPr sz="4000" dirty="0"/>
              <a:t>Example</a:t>
            </a:r>
            <a:r>
              <a:rPr sz="4000" spc="-30" dirty="0"/>
              <a:t> </a:t>
            </a:r>
            <a:r>
              <a:rPr sz="4000" dirty="0"/>
              <a:t>(3)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9700" y="3063748"/>
            <a:ext cx="8839199" cy="27186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ts val="3354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latin typeface="Arial MT"/>
                <a:cs typeface="Arial MT"/>
              </a:rPr>
              <a:t>Participation</a:t>
            </a:r>
            <a:r>
              <a:rPr sz="2800" b="1" spc="-1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 MT"/>
                <a:cs typeface="Arial MT"/>
              </a:rPr>
              <a:t>of</a:t>
            </a:r>
            <a:r>
              <a:rPr sz="2800" b="1" spc="-10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loan</a:t>
            </a:r>
            <a:r>
              <a:rPr sz="2800" b="1" i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 MT"/>
                <a:cs typeface="Arial MT"/>
              </a:rPr>
              <a:t>in</a:t>
            </a:r>
            <a:r>
              <a:rPr sz="2800" b="1" spc="-15" dirty="0">
                <a:latin typeface="Arial MT"/>
                <a:cs typeface="Arial MT"/>
              </a:rPr>
              <a:t> </a:t>
            </a:r>
            <a:r>
              <a:rPr sz="2800" b="1" i="1" dirty="0">
                <a:latin typeface="Arial"/>
                <a:cs typeface="Arial"/>
              </a:rPr>
              <a:t>borrower </a:t>
            </a:r>
            <a:r>
              <a:rPr sz="2800" b="1" dirty="0">
                <a:latin typeface="Arial MT"/>
                <a:cs typeface="Arial MT"/>
              </a:rPr>
              <a:t>will</a:t>
            </a:r>
            <a:r>
              <a:rPr sz="2800" b="1" spc="-1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 MT"/>
                <a:cs typeface="Arial MT"/>
              </a:rPr>
              <a:t>be</a:t>
            </a:r>
            <a:r>
              <a:rPr sz="2800" b="1" spc="-1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 MT"/>
                <a:cs typeface="Arial MT"/>
              </a:rPr>
              <a:t>total</a:t>
            </a:r>
          </a:p>
          <a:p>
            <a:pPr marL="755015" lvl="1" indent="-285750">
              <a:lnSpc>
                <a:spcPts val="2585"/>
              </a:lnSpc>
              <a:buChar char="–"/>
              <a:tabLst>
                <a:tab pos="75565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Combining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borrower</a:t>
            </a:r>
            <a:r>
              <a:rPr sz="24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into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customer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would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require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null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5650">
              <a:lnSpc>
                <a:spcPts val="2590"/>
              </a:lnSpc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values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customers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without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loans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354965" marR="457200" indent="-354965">
              <a:lnSpc>
                <a:spcPct val="99800"/>
              </a:lnSpc>
              <a:spcBef>
                <a:spcPts val="1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latin typeface="Arial MT"/>
                <a:cs typeface="Arial MT"/>
              </a:rPr>
              <a:t>Better to combine </a:t>
            </a:r>
            <a:r>
              <a:rPr sz="2800" b="1" i="1" dirty="0">
                <a:latin typeface="Arial"/>
                <a:cs typeface="Arial"/>
              </a:rPr>
              <a:t>borrower </a:t>
            </a:r>
            <a:r>
              <a:rPr sz="2800" b="1" dirty="0">
                <a:latin typeface="Arial MT"/>
                <a:cs typeface="Arial MT"/>
              </a:rPr>
              <a:t>into </a:t>
            </a:r>
            <a:r>
              <a:rPr sz="2800" b="1" i="1" dirty="0">
                <a:latin typeface="Arial"/>
                <a:cs typeface="Arial"/>
              </a:rPr>
              <a:t>loan </a:t>
            </a:r>
            <a:r>
              <a:rPr sz="2800" b="1" dirty="0">
                <a:latin typeface="Arial MT"/>
                <a:cs typeface="Arial MT"/>
              </a:rPr>
              <a:t>schema </a:t>
            </a:r>
            <a:r>
              <a:rPr sz="2800" b="1" spc="-765" dirty="0"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customer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street_address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city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loan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400" i="1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cust_id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, </a:t>
            </a:r>
            <a:r>
              <a:rPr sz="2400" i="1" spc="-5" dirty="0">
                <a:solidFill>
                  <a:srgbClr val="FF0000"/>
                </a:solidFill>
                <a:latin typeface="Arial"/>
                <a:cs typeface="Arial"/>
              </a:rPr>
              <a:t>amount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755015" lvl="1" indent="-285750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b="1" dirty="0">
                <a:latin typeface="Arial MT"/>
                <a:cs typeface="Arial MT"/>
              </a:rPr>
              <a:t>No</a:t>
            </a:r>
            <a:r>
              <a:rPr sz="2400" b="1" spc="-20" dirty="0">
                <a:latin typeface="Arial MT"/>
                <a:cs typeface="Arial MT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null</a:t>
            </a:r>
            <a:r>
              <a:rPr sz="2400" b="1" i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 MT"/>
                <a:cs typeface="Arial MT"/>
              </a:rPr>
              <a:t>values!</a:t>
            </a:r>
            <a:endParaRPr sz="2400" b="1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100" y="2425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300" y="1816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199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199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1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399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1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2997" y="1904745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6500" y="1282700"/>
            <a:ext cx="2895600" cy="457200"/>
          </a:xfrm>
          <a:custGeom>
            <a:avLst/>
            <a:gdLst/>
            <a:ahLst/>
            <a:cxnLst/>
            <a:rect l="l" t="t" r="r" b="b"/>
            <a:pathLst>
              <a:path w="2895600" h="457200">
                <a:moveTo>
                  <a:pt x="571500" y="0"/>
                </a:moveTo>
                <a:lnTo>
                  <a:pt x="504881" y="1534"/>
                </a:lnTo>
                <a:lnTo>
                  <a:pt x="440511" y="6024"/>
                </a:lnTo>
                <a:lnTo>
                  <a:pt x="378821" y="13301"/>
                </a:lnTo>
                <a:lnTo>
                  <a:pt x="320239" y="23193"/>
                </a:lnTo>
                <a:lnTo>
                  <a:pt x="265197" y="35531"/>
                </a:lnTo>
                <a:lnTo>
                  <a:pt x="214124" y="50145"/>
                </a:lnTo>
                <a:lnTo>
                  <a:pt x="167449" y="66865"/>
                </a:lnTo>
                <a:lnTo>
                  <a:pt x="125603" y="85521"/>
                </a:lnTo>
                <a:lnTo>
                  <a:pt x="89015" y="105944"/>
                </a:lnTo>
                <a:lnTo>
                  <a:pt x="33335" y="151407"/>
                </a:lnTo>
                <a:lnTo>
                  <a:pt x="3847" y="201896"/>
                </a:lnTo>
                <a:lnTo>
                  <a:pt x="0" y="228600"/>
                </a:lnTo>
                <a:lnTo>
                  <a:pt x="3847" y="255303"/>
                </a:lnTo>
                <a:lnTo>
                  <a:pt x="33335" y="305792"/>
                </a:lnTo>
                <a:lnTo>
                  <a:pt x="89015" y="351255"/>
                </a:lnTo>
                <a:lnTo>
                  <a:pt x="125603" y="371678"/>
                </a:lnTo>
                <a:lnTo>
                  <a:pt x="167449" y="390334"/>
                </a:lnTo>
                <a:lnTo>
                  <a:pt x="214124" y="407054"/>
                </a:lnTo>
                <a:lnTo>
                  <a:pt x="265197" y="421668"/>
                </a:lnTo>
                <a:lnTo>
                  <a:pt x="320239" y="434006"/>
                </a:lnTo>
                <a:lnTo>
                  <a:pt x="378821" y="443898"/>
                </a:lnTo>
                <a:lnTo>
                  <a:pt x="440511" y="451175"/>
                </a:lnTo>
                <a:lnTo>
                  <a:pt x="504881" y="455665"/>
                </a:lnTo>
                <a:lnTo>
                  <a:pt x="571500" y="457200"/>
                </a:lnTo>
                <a:lnTo>
                  <a:pt x="638118" y="455665"/>
                </a:lnTo>
                <a:lnTo>
                  <a:pt x="702488" y="451175"/>
                </a:lnTo>
                <a:lnTo>
                  <a:pt x="764178" y="443898"/>
                </a:lnTo>
                <a:lnTo>
                  <a:pt x="822760" y="434006"/>
                </a:lnTo>
                <a:lnTo>
                  <a:pt x="877802" y="421668"/>
                </a:lnTo>
                <a:lnTo>
                  <a:pt x="928875" y="407054"/>
                </a:lnTo>
                <a:lnTo>
                  <a:pt x="975550" y="390334"/>
                </a:lnTo>
                <a:lnTo>
                  <a:pt x="1017396" y="371678"/>
                </a:lnTo>
                <a:lnTo>
                  <a:pt x="1053984" y="351255"/>
                </a:lnTo>
                <a:lnTo>
                  <a:pt x="1109664" y="305792"/>
                </a:lnTo>
                <a:lnTo>
                  <a:pt x="1139152" y="255303"/>
                </a:lnTo>
                <a:lnTo>
                  <a:pt x="1143000" y="228600"/>
                </a:lnTo>
                <a:lnTo>
                  <a:pt x="1139152" y="201896"/>
                </a:lnTo>
                <a:lnTo>
                  <a:pt x="1109664" y="151407"/>
                </a:lnTo>
                <a:lnTo>
                  <a:pt x="1053984" y="105944"/>
                </a:lnTo>
                <a:lnTo>
                  <a:pt x="1017396" y="85521"/>
                </a:lnTo>
                <a:lnTo>
                  <a:pt x="975550" y="66865"/>
                </a:lnTo>
                <a:lnTo>
                  <a:pt x="928875" y="50145"/>
                </a:lnTo>
                <a:lnTo>
                  <a:pt x="877802" y="35531"/>
                </a:lnTo>
                <a:lnTo>
                  <a:pt x="822760" y="23193"/>
                </a:lnTo>
                <a:lnTo>
                  <a:pt x="764178" y="13301"/>
                </a:lnTo>
                <a:lnTo>
                  <a:pt x="702488" y="6024"/>
                </a:lnTo>
                <a:lnTo>
                  <a:pt x="638118" y="1534"/>
                </a:lnTo>
                <a:lnTo>
                  <a:pt x="571500" y="0"/>
                </a:lnTo>
                <a:close/>
              </a:path>
              <a:path w="2895600" h="457200">
                <a:moveTo>
                  <a:pt x="2095500" y="0"/>
                </a:moveTo>
                <a:lnTo>
                  <a:pt x="2026453" y="837"/>
                </a:lnTo>
                <a:lnTo>
                  <a:pt x="1959039" y="3303"/>
                </a:lnTo>
                <a:lnTo>
                  <a:pt x="1893499" y="7330"/>
                </a:lnTo>
                <a:lnTo>
                  <a:pt x="1830072" y="12851"/>
                </a:lnTo>
                <a:lnTo>
                  <a:pt x="1768997" y="19797"/>
                </a:lnTo>
                <a:lnTo>
                  <a:pt x="1710516" y="28099"/>
                </a:lnTo>
                <a:lnTo>
                  <a:pt x="1654867" y="37691"/>
                </a:lnTo>
                <a:lnTo>
                  <a:pt x="1602291" y="48504"/>
                </a:lnTo>
                <a:lnTo>
                  <a:pt x="1553029" y="60471"/>
                </a:lnTo>
                <a:lnTo>
                  <a:pt x="1507319" y="73522"/>
                </a:lnTo>
                <a:lnTo>
                  <a:pt x="1465401" y="87591"/>
                </a:lnTo>
                <a:lnTo>
                  <a:pt x="1427517" y="102609"/>
                </a:lnTo>
                <a:lnTo>
                  <a:pt x="1364806" y="135220"/>
                </a:lnTo>
                <a:lnTo>
                  <a:pt x="1321106" y="170812"/>
                </a:lnTo>
                <a:lnTo>
                  <a:pt x="1298336" y="208841"/>
                </a:lnTo>
                <a:lnTo>
                  <a:pt x="1295400" y="228599"/>
                </a:lnTo>
                <a:lnTo>
                  <a:pt x="1298336" y="248358"/>
                </a:lnTo>
                <a:lnTo>
                  <a:pt x="1321106" y="286387"/>
                </a:lnTo>
                <a:lnTo>
                  <a:pt x="1364806" y="321979"/>
                </a:lnTo>
                <a:lnTo>
                  <a:pt x="1427517" y="354590"/>
                </a:lnTo>
                <a:lnTo>
                  <a:pt x="1465401" y="369608"/>
                </a:lnTo>
                <a:lnTo>
                  <a:pt x="1507319" y="383677"/>
                </a:lnTo>
                <a:lnTo>
                  <a:pt x="1553029" y="396728"/>
                </a:lnTo>
                <a:lnTo>
                  <a:pt x="1602291" y="408695"/>
                </a:lnTo>
                <a:lnTo>
                  <a:pt x="1654867" y="419508"/>
                </a:lnTo>
                <a:lnTo>
                  <a:pt x="1710516" y="429100"/>
                </a:lnTo>
                <a:lnTo>
                  <a:pt x="1768997" y="437402"/>
                </a:lnTo>
                <a:lnTo>
                  <a:pt x="1830072" y="444348"/>
                </a:lnTo>
                <a:lnTo>
                  <a:pt x="1893499" y="449869"/>
                </a:lnTo>
                <a:lnTo>
                  <a:pt x="1959039" y="453896"/>
                </a:lnTo>
                <a:lnTo>
                  <a:pt x="2026453" y="456362"/>
                </a:lnTo>
                <a:lnTo>
                  <a:pt x="2095500" y="457199"/>
                </a:lnTo>
                <a:lnTo>
                  <a:pt x="2164546" y="456362"/>
                </a:lnTo>
                <a:lnTo>
                  <a:pt x="2231960" y="453896"/>
                </a:lnTo>
                <a:lnTo>
                  <a:pt x="2297500" y="449869"/>
                </a:lnTo>
                <a:lnTo>
                  <a:pt x="2360927" y="444348"/>
                </a:lnTo>
                <a:lnTo>
                  <a:pt x="2422002" y="437402"/>
                </a:lnTo>
                <a:lnTo>
                  <a:pt x="2480483" y="429100"/>
                </a:lnTo>
                <a:lnTo>
                  <a:pt x="2536132" y="419508"/>
                </a:lnTo>
                <a:lnTo>
                  <a:pt x="2588708" y="408695"/>
                </a:lnTo>
                <a:lnTo>
                  <a:pt x="2637970" y="396728"/>
                </a:lnTo>
                <a:lnTo>
                  <a:pt x="2683680" y="383677"/>
                </a:lnTo>
                <a:lnTo>
                  <a:pt x="2725598" y="369608"/>
                </a:lnTo>
                <a:lnTo>
                  <a:pt x="2763482" y="354590"/>
                </a:lnTo>
                <a:lnTo>
                  <a:pt x="2826193" y="321979"/>
                </a:lnTo>
                <a:lnTo>
                  <a:pt x="2869893" y="286387"/>
                </a:lnTo>
                <a:lnTo>
                  <a:pt x="2892663" y="248358"/>
                </a:lnTo>
                <a:lnTo>
                  <a:pt x="2895600" y="228599"/>
                </a:lnTo>
                <a:lnTo>
                  <a:pt x="2892663" y="208841"/>
                </a:lnTo>
                <a:lnTo>
                  <a:pt x="2869893" y="170812"/>
                </a:lnTo>
                <a:lnTo>
                  <a:pt x="2826193" y="135220"/>
                </a:lnTo>
                <a:lnTo>
                  <a:pt x="2763482" y="102609"/>
                </a:lnTo>
                <a:lnTo>
                  <a:pt x="2725598" y="87591"/>
                </a:lnTo>
                <a:lnTo>
                  <a:pt x="2683680" y="73522"/>
                </a:lnTo>
                <a:lnTo>
                  <a:pt x="2637970" y="60471"/>
                </a:lnTo>
                <a:lnTo>
                  <a:pt x="2588708" y="48504"/>
                </a:lnTo>
                <a:lnTo>
                  <a:pt x="2536132" y="37691"/>
                </a:lnTo>
                <a:lnTo>
                  <a:pt x="2480483" y="28099"/>
                </a:lnTo>
                <a:lnTo>
                  <a:pt x="2422002" y="19797"/>
                </a:lnTo>
                <a:lnTo>
                  <a:pt x="2360927" y="12851"/>
                </a:lnTo>
                <a:lnTo>
                  <a:pt x="2297500" y="7330"/>
                </a:lnTo>
                <a:lnTo>
                  <a:pt x="2231960" y="3303"/>
                </a:lnTo>
                <a:lnTo>
                  <a:pt x="2164546" y="837"/>
                </a:lnTo>
                <a:lnTo>
                  <a:pt x="20955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11553" y="1371345"/>
            <a:ext cx="24771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8870" algn="l"/>
              </a:tabLst>
            </a:pPr>
            <a:r>
              <a:rPr sz="1600" i="1" spc="-5" dirty="0">
                <a:latin typeface="Arial"/>
                <a:cs typeface="Arial"/>
              </a:rPr>
              <a:t>name	street_address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40100" y="18923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32200" y="19809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3700" y="1672844"/>
            <a:ext cx="3733800" cy="1362710"/>
          </a:xfrm>
          <a:custGeom>
            <a:avLst/>
            <a:gdLst/>
            <a:ahLst/>
            <a:cxnLst/>
            <a:rect l="l" t="t" r="r" b="b"/>
            <a:pathLst>
              <a:path w="3733800" h="1362710">
                <a:moveTo>
                  <a:pt x="0" y="371856"/>
                </a:moveTo>
                <a:lnTo>
                  <a:pt x="876300" y="752856"/>
                </a:lnTo>
              </a:path>
              <a:path w="3733800" h="1362710">
                <a:moveTo>
                  <a:pt x="518922" y="0"/>
                </a:moveTo>
                <a:lnTo>
                  <a:pt x="876300" y="752856"/>
                </a:lnTo>
              </a:path>
              <a:path w="3733800" h="1362710">
                <a:moveTo>
                  <a:pt x="1072895" y="0"/>
                </a:moveTo>
                <a:lnTo>
                  <a:pt x="876300" y="752856"/>
                </a:lnTo>
              </a:path>
              <a:path w="3733800" h="1362710">
                <a:moveTo>
                  <a:pt x="1676400" y="448056"/>
                </a:moveTo>
                <a:lnTo>
                  <a:pt x="876300" y="752856"/>
                </a:lnTo>
              </a:path>
              <a:path w="3733800" h="1362710">
                <a:moveTo>
                  <a:pt x="3048000" y="676656"/>
                </a:moveTo>
                <a:lnTo>
                  <a:pt x="2362200" y="1019556"/>
                </a:lnTo>
                <a:lnTo>
                  <a:pt x="3048000" y="1362456"/>
                </a:lnTo>
                <a:lnTo>
                  <a:pt x="3733800" y="1019556"/>
                </a:lnTo>
                <a:lnTo>
                  <a:pt x="3048000" y="6766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98950" y="2552445"/>
            <a:ext cx="8267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borrower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9500" y="2425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loan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30900" y="1663700"/>
            <a:ext cx="2209800" cy="457200"/>
          </a:xfrm>
          <a:custGeom>
            <a:avLst/>
            <a:gdLst/>
            <a:ahLst/>
            <a:cxnLst/>
            <a:rect l="l" t="t" r="r" b="b"/>
            <a:pathLst>
              <a:path w="22098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4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  <a:path w="2209800" h="457200">
                <a:moveTo>
                  <a:pt x="1676400" y="0"/>
                </a:moveTo>
                <a:lnTo>
                  <a:pt x="1609431" y="1777"/>
                </a:lnTo>
                <a:lnTo>
                  <a:pt x="1544962" y="6967"/>
                </a:lnTo>
                <a:lnTo>
                  <a:pt x="1483489" y="15357"/>
                </a:lnTo>
                <a:lnTo>
                  <a:pt x="1425510" y="26736"/>
                </a:lnTo>
                <a:lnTo>
                  <a:pt x="1371523" y="40892"/>
                </a:lnTo>
                <a:lnTo>
                  <a:pt x="1322025" y="57610"/>
                </a:lnTo>
                <a:lnTo>
                  <a:pt x="1277512" y="76681"/>
                </a:lnTo>
                <a:lnTo>
                  <a:pt x="1238484" y="97891"/>
                </a:lnTo>
                <a:lnTo>
                  <a:pt x="1205436" y="121027"/>
                </a:lnTo>
                <a:lnTo>
                  <a:pt x="1159272" y="172233"/>
                </a:lnTo>
                <a:lnTo>
                  <a:pt x="1143000" y="228599"/>
                </a:lnTo>
                <a:lnTo>
                  <a:pt x="1147150" y="257322"/>
                </a:lnTo>
                <a:lnTo>
                  <a:pt x="1178866" y="311320"/>
                </a:lnTo>
                <a:lnTo>
                  <a:pt x="1238484" y="359308"/>
                </a:lnTo>
                <a:lnTo>
                  <a:pt x="1277512" y="380518"/>
                </a:lnTo>
                <a:lnTo>
                  <a:pt x="1322025" y="399589"/>
                </a:lnTo>
                <a:lnTo>
                  <a:pt x="1371523" y="416307"/>
                </a:lnTo>
                <a:lnTo>
                  <a:pt x="1425510" y="430463"/>
                </a:lnTo>
                <a:lnTo>
                  <a:pt x="1483489" y="441842"/>
                </a:lnTo>
                <a:lnTo>
                  <a:pt x="1544962" y="450232"/>
                </a:lnTo>
                <a:lnTo>
                  <a:pt x="1609431" y="455422"/>
                </a:lnTo>
                <a:lnTo>
                  <a:pt x="1676400" y="457199"/>
                </a:lnTo>
                <a:lnTo>
                  <a:pt x="1743368" y="455422"/>
                </a:lnTo>
                <a:lnTo>
                  <a:pt x="1807837" y="450232"/>
                </a:lnTo>
                <a:lnTo>
                  <a:pt x="1869310" y="441842"/>
                </a:lnTo>
                <a:lnTo>
                  <a:pt x="1927289" y="430463"/>
                </a:lnTo>
                <a:lnTo>
                  <a:pt x="1981276" y="416307"/>
                </a:lnTo>
                <a:lnTo>
                  <a:pt x="2030774" y="399589"/>
                </a:lnTo>
                <a:lnTo>
                  <a:pt x="2075287" y="380518"/>
                </a:lnTo>
                <a:lnTo>
                  <a:pt x="2114315" y="359308"/>
                </a:lnTo>
                <a:lnTo>
                  <a:pt x="2147363" y="336172"/>
                </a:lnTo>
                <a:lnTo>
                  <a:pt x="2193527" y="284966"/>
                </a:lnTo>
                <a:lnTo>
                  <a:pt x="2209800" y="228599"/>
                </a:lnTo>
                <a:lnTo>
                  <a:pt x="2205649" y="199877"/>
                </a:lnTo>
                <a:lnTo>
                  <a:pt x="2173933" y="145879"/>
                </a:lnTo>
                <a:lnTo>
                  <a:pt x="2114315" y="97891"/>
                </a:lnTo>
                <a:lnTo>
                  <a:pt x="2075287" y="76681"/>
                </a:lnTo>
                <a:lnTo>
                  <a:pt x="2030774" y="57610"/>
                </a:lnTo>
                <a:lnTo>
                  <a:pt x="1981276" y="40892"/>
                </a:lnTo>
                <a:lnTo>
                  <a:pt x="1927289" y="26736"/>
                </a:lnTo>
                <a:lnTo>
                  <a:pt x="1869310" y="15357"/>
                </a:lnTo>
                <a:lnTo>
                  <a:pt x="1807837" y="6967"/>
                </a:lnTo>
                <a:lnTo>
                  <a:pt x="1743368" y="1777"/>
                </a:lnTo>
                <a:lnTo>
                  <a:pt x="16764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50026" y="1752345"/>
            <a:ext cx="19100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8565" algn="l"/>
              </a:tabLst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</a:t>
            </a:r>
            <a:r>
              <a:rPr sz="16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600" i="1" dirty="0">
                <a:latin typeface="Arial"/>
                <a:cs typeface="Arial"/>
              </a:rPr>
              <a:t>	</a:t>
            </a:r>
            <a:r>
              <a:rPr sz="1600" i="1" spc="-5" dirty="0">
                <a:latin typeface="Arial"/>
                <a:cs typeface="Arial"/>
              </a:rPr>
              <a:t>amount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11950" y="2053844"/>
            <a:ext cx="517525" cy="372110"/>
          </a:xfrm>
          <a:custGeom>
            <a:avLst/>
            <a:gdLst/>
            <a:ahLst/>
            <a:cxnLst/>
            <a:rect l="l" t="t" r="r" b="b"/>
            <a:pathLst>
              <a:path w="517525" h="372110">
                <a:moveTo>
                  <a:pt x="0" y="0"/>
                </a:moveTo>
                <a:lnTo>
                  <a:pt x="171450" y="371856"/>
                </a:lnTo>
              </a:path>
              <a:path w="517525" h="372110">
                <a:moveTo>
                  <a:pt x="517398" y="0"/>
                </a:moveTo>
                <a:lnTo>
                  <a:pt x="171450" y="3718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63900" y="2654299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766572" y="38100"/>
                </a:moveTo>
                <a:lnTo>
                  <a:pt x="765048" y="35052"/>
                </a:lnTo>
                <a:lnTo>
                  <a:pt x="762000" y="33528"/>
                </a:lnTo>
                <a:lnTo>
                  <a:pt x="76200" y="33528"/>
                </a:ln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76200" y="76200"/>
                </a:lnTo>
                <a:lnTo>
                  <a:pt x="76200" y="42672"/>
                </a:lnTo>
                <a:lnTo>
                  <a:pt x="762000" y="42672"/>
                </a:lnTo>
                <a:lnTo>
                  <a:pt x="765048" y="41148"/>
                </a:lnTo>
                <a:lnTo>
                  <a:pt x="766572" y="38100"/>
                </a:lnTo>
                <a:close/>
              </a:path>
              <a:path w="2895600" h="76200">
                <a:moveTo>
                  <a:pt x="2895600" y="38100"/>
                </a:moveTo>
                <a:lnTo>
                  <a:pt x="2819400" y="0"/>
                </a:lnTo>
                <a:lnTo>
                  <a:pt x="2819400" y="33528"/>
                </a:lnTo>
                <a:lnTo>
                  <a:pt x="2133600" y="33528"/>
                </a:lnTo>
                <a:lnTo>
                  <a:pt x="2130552" y="35052"/>
                </a:lnTo>
                <a:lnTo>
                  <a:pt x="2129028" y="38100"/>
                </a:lnTo>
                <a:lnTo>
                  <a:pt x="2130552" y="41148"/>
                </a:lnTo>
                <a:lnTo>
                  <a:pt x="2133600" y="42672"/>
                </a:lnTo>
                <a:lnTo>
                  <a:pt x="2819400" y="42672"/>
                </a:lnTo>
                <a:lnTo>
                  <a:pt x="2819400" y="76200"/>
                </a:lnTo>
                <a:lnTo>
                  <a:pt x="2836926" y="67437"/>
                </a:lnTo>
                <a:lnTo>
                  <a:pt x="28956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6401" y="501142"/>
            <a:ext cx="77641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Schema</a:t>
            </a:r>
            <a:r>
              <a:rPr sz="4000" spc="-35" dirty="0"/>
              <a:t> </a:t>
            </a:r>
            <a:r>
              <a:rPr sz="4000" dirty="0"/>
              <a:t>Combination</a:t>
            </a:r>
            <a:r>
              <a:rPr sz="4000" spc="-30" dirty="0"/>
              <a:t> </a:t>
            </a:r>
            <a:r>
              <a:rPr sz="4000" dirty="0"/>
              <a:t>Example</a:t>
            </a:r>
            <a:r>
              <a:rPr sz="4000" spc="-30" dirty="0"/>
              <a:t> </a:t>
            </a:r>
            <a:r>
              <a:rPr sz="4000" dirty="0"/>
              <a:t>(4)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425"/>
              </a:spcBef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Schema:</a:t>
            </a:r>
          </a:p>
          <a:p>
            <a:pPr marL="469900" marR="1119505" indent="-635">
              <a:lnSpc>
                <a:spcPts val="3160"/>
              </a:lnSpc>
              <a:spcBef>
                <a:spcPts val="155"/>
              </a:spcBef>
            </a:pPr>
            <a:r>
              <a:rPr sz="2400" i="1" spc="-5" dirty="0">
                <a:latin typeface="Arial"/>
                <a:cs typeface="Arial"/>
              </a:rPr>
              <a:t>customer</a:t>
            </a:r>
            <a:r>
              <a:rPr sz="2400" spc="-5" dirty="0"/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r>
              <a:rPr sz="2400" spc="-5" dirty="0"/>
              <a:t>,</a:t>
            </a:r>
            <a:r>
              <a:rPr sz="2400" spc="15" dirty="0"/>
              <a:t> </a:t>
            </a:r>
            <a:r>
              <a:rPr sz="2400" i="1" spc="-5" dirty="0">
                <a:latin typeface="Arial"/>
                <a:cs typeface="Arial"/>
              </a:rPr>
              <a:t>name</a:t>
            </a:r>
            <a:r>
              <a:rPr sz="2400" spc="-5" dirty="0"/>
              <a:t>,</a:t>
            </a:r>
            <a:r>
              <a:rPr sz="2400" spc="20" dirty="0"/>
              <a:t> </a:t>
            </a:r>
            <a:r>
              <a:rPr sz="2400" i="1" spc="-5" dirty="0">
                <a:latin typeface="Arial"/>
                <a:cs typeface="Arial"/>
              </a:rPr>
              <a:t>street_address</a:t>
            </a:r>
            <a:r>
              <a:rPr sz="2400" spc="-5" dirty="0"/>
              <a:t>,</a:t>
            </a:r>
            <a:r>
              <a:rPr sz="2400" spc="15" dirty="0"/>
              <a:t> </a:t>
            </a:r>
            <a:r>
              <a:rPr sz="2400" i="1" spc="-5" dirty="0">
                <a:latin typeface="Arial"/>
                <a:cs typeface="Arial"/>
              </a:rPr>
              <a:t>city</a:t>
            </a:r>
            <a:r>
              <a:rPr sz="2400" spc="-5" dirty="0"/>
              <a:t>) </a:t>
            </a:r>
            <a:r>
              <a:rPr sz="2400" spc="-650" dirty="0"/>
              <a:t> </a:t>
            </a:r>
            <a:r>
              <a:rPr sz="2400" i="1" spc="-5" dirty="0">
                <a:latin typeface="Arial"/>
                <a:cs typeface="Arial"/>
              </a:rPr>
              <a:t>loan</a:t>
            </a:r>
            <a:r>
              <a:rPr sz="2400" spc="-5" dirty="0"/>
              <a:t>(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loan_id</a:t>
            </a:r>
            <a:r>
              <a:rPr sz="2400" spc="-5" dirty="0"/>
              <a:t>, </a:t>
            </a:r>
            <a:r>
              <a:rPr sz="2400" i="1" spc="-5" dirty="0">
                <a:latin typeface="Arial"/>
                <a:cs typeface="Arial"/>
              </a:rPr>
              <a:t>cust_id</a:t>
            </a:r>
            <a:r>
              <a:rPr sz="2400" spc="-5" dirty="0"/>
              <a:t>, </a:t>
            </a:r>
            <a:r>
              <a:rPr sz="2400" i="1" spc="-5" dirty="0">
                <a:latin typeface="Arial"/>
                <a:cs typeface="Arial"/>
              </a:rPr>
              <a:t>amount</a:t>
            </a:r>
            <a:r>
              <a:rPr sz="2400" spc="-5" dirty="0"/>
              <a:t>)</a:t>
            </a:r>
            <a:endParaRPr sz="2400" dirty="0">
              <a:latin typeface="Arial"/>
              <a:cs typeface="Arial"/>
            </a:endParaRPr>
          </a:p>
          <a:p>
            <a:pPr marL="355600" marR="21590" indent="-343535">
              <a:lnSpc>
                <a:spcPts val="303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if,</a:t>
            </a:r>
            <a:r>
              <a:rPr spc="-10" dirty="0"/>
              <a:t> </a:t>
            </a:r>
            <a:r>
              <a:rPr dirty="0">
                <a:solidFill>
                  <a:srgbClr val="FF0000"/>
                </a:solidFill>
              </a:rPr>
              <a:t>after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while,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we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wanted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change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/>
              <a:t>the </a:t>
            </a:r>
            <a:r>
              <a:rPr spc="-765" dirty="0"/>
              <a:t> </a:t>
            </a:r>
            <a:r>
              <a:rPr dirty="0"/>
              <a:t>mapping</a:t>
            </a:r>
            <a:r>
              <a:rPr spc="5" dirty="0"/>
              <a:t> </a:t>
            </a:r>
            <a:r>
              <a:rPr dirty="0"/>
              <a:t>cardinality?</a:t>
            </a:r>
          </a:p>
          <a:p>
            <a:pPr marL="755015" lvl="1" indent="-285750">
              <a:lnSpc>
                <a:spcPct val="100000"/>
              </a:lnSpc>
              <a:spcBef>
                <a:spcPts val="229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Change 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schema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would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significant</a:t>
            </a:r>
            <a:endParaRPr sz="24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84"/>
              </a:spcBef>
              <a:buChar char="–"/>
              <a:tabLst>
                <a:tab pos="755650" algn="l"/>
              </a:tabLst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Would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migrate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existing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schema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6100" y="2425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customer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300" y="18161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199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600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199" y="457200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1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399" y="228600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19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2997" y="1904745"/>
            <a:ext cx="669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cust_id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6500" y="1282700"/>
            <a:ext cx="2895600" cy="457200"/>
          </a:xfrm>
          <a:custGeom>
            <a:avLst/>
            <a:gdLst/>
            <a:ahLst/>
            <a:cxnLst/>
            <a:rect l="l" t="t" r="r" b="b"/>
            <a:pathLst>
              <a:path w="2895600" h="457200">
                <a:moveTo>
                  <a:pt x="571500" y="0"/>
                </a:moveTo>
                <a:lnTo>
                  <a:pt x="504881" y="1534"/>
                </a:lnTo>
                <a:lnTo>
                  <a:pt x="440511" y="6024"/>
                </a:lnTo>
                <a:lnTo>
                  <a:pt x="378821" y="13301"/>
                </a:lnTo>
                <a:lnTo>
                  <a:pt x="320239" y="23193"/>
                </a:lnTo>
                <a:lnTo>
                  <a:pt x="265197" y="35531"/>
                </a:lnTo>
                <a:lnTo>
                  <a:pt x="214124" y="50145"/>
                </a:lnTo>
                <a:lnTo>
                  <a:pt x="167449" y="66865"/>
                </a:lnTo>
                <a:lnTo>
                  <a:pt x="125603" y="85521"/>
                </a:lnTo>
                <a:lnTo>
                  <a:pt x="89015" y="105944"/>
                </a:lnTo>
                <a:lnTo>
                  <a:pt x="33335" y="151407"/>
                </a:lnTo>
                <a:lnTo>
                  <a:pt x="3847" y="201896"/>
                </a:lnTo>
                <a:lnTo>
                  <a:pt x="0" y="228600"/>
                </a:lnTo>
                <a:lnTo>
                  <a:pt x="3847" y="255303"/>
                </a:lnTo>
                <a:lnTo>
                  <a:pt x="33335" y="305792"/>
                </a:lnTo>
                <a:lnTo>
                  <a:pt x="89015" y="351255"/>
                </a:lnTo>
                <a:lnTo>
                  <a:pt x="125603" y="371678"/>
                </a:lnTo>
                <a:lnTo>
                  <a:pt x="167449" y="390334"/>
                </a:lnTo>
                <a:lnTo>
                  <a:pt x="214124" y="407054"/>
                </a:lnTo>
                <a:lnTo>
                  <a:pt x="265197" y="421668"/>
                </a:lnTo>
                <a:lnTo>
                  <a:pt x="320239" y="434006"/>
                </a:lnTo>
                <a:lnTo>
                  <a:pt x="378821" y="443898"/>
                </a:lnTo>
                <a:lnTo>
                  <a:pt x="440511" y="451175"/>
                </a:lnTo>
                <a:lnTo>
                  <a:pt x="504881" y="455665"/>
                </a:lnTo>
                <a:lnTo>
                  <a:pt x="571500" y="457200"/>
                </a:lnTo>
                <a:lnTo>
                  <a:pt x="638118" y="455665"/>
                </a:lnTo>
                <a:lnTo>
                  <a:pt x="702488" y="451175"/>
                </a:lnTo>
                <a:lnTo>
                  <a:pt x="764178" y="443898"/>
                </a:lnTo>
                <a:lnTo>
                  <a:pt x="822760" y="434006"/>
                </a:lnTo>
                <a:lnTo>
                  <a:pt x="877802" y="421668"/>
                </a:lnTo>
                <a:lnTo>
                  <a:pt x="928875" y="407054"/>
                </a:lnTo>
                <a:lnTo>
                  <a:pt x="975550" y="390334"/>
                </a:lnTo>
                <a:lnTo>
                  <a:pt x="1017396" y="371678"/>
                </a:lnTo>
                <a:lnTo>
                  <a:pt x="1053984" y="351255"/>
                </a:lnTo>
                <a:lnTo>
                  <a:pt x="1109664" y="305792"/>
                </a:lnTo>
                <a:lnTo>
                  <a:pt x="1139152" y="255303"/>
                </a:lnTo>
                <a:lnTo>
                  <a:pt x="1143000" y="228600"/>
                </a:lnTo>
                <a:lnTo>
                  <a:pt x="1139152" y="201896"/>
                </a:lnTo>
                <a:lnTo>
                  <a:pt x="1109664" y="151407"/>
                </a:lnTo>
                <a:lnTo>
                  <a:pt x="1053984" y="105944"/>
                </a:lnTo>
                <a:lnTo>
                  <a:pt x="1017396" y="85521"/>
                </a:lnTo>
                <a:lnTo>
                  <a:pt x="975550" y="66865"/>
                </a:lnTo>
                <a:lnTo>
                  <a:pt x="928875" y="50145"/>
                </a:lnTo>
                <a:lnTo>
                  <a:pt x="877802" y="35531"/>
                </a:lnTo>
                <a:lnTo>
                  <a:pt x="822760" y="23193"/>
                </a:lnTo>
                <a:lnTo>
                  <a:pt x="764178" y="13301"/>
                </a:lnTo>
                <a:lnTo>
                  <a:pt x="702488" y="6024"/>
                </a:lnTo>
                <a:lnTo>
                  <a:pt x="638118" y="1534"/>
                </a:lnTo>
                <a:lnTo>
                  <a:pt x="571500" y="0"/>
                </a:lnTo>
                <a:close/>
              </a:path>
              <a:path w="2895600" h="457200">
                <a:moveTo>
                  <a:pt x="2095500" y="0"/>
                </a:moveTo>
                <a:lnTo>
                  <a:pt x="2026453" y="837"/>
                </a:lnTo>
                <a:lnTo>
                  <a:pt x="1959039" y="3303"/>
                </a:lnTo>
                <a:lnTo>
                  <a:pt x="1893499" y="7330"/>
                </a:lnTo>
                <a:lnTo>
                  <a:pt x="1830072" y="12851"/>
                </a:lnTo>
                <a:lnTo>
                  <a:pt x="1768997" y="19797"/>
                </a:lnTo>
                <a:lnTo>
                  <a:pt x="1710516" y="28099"/>
                </a:lnTo>
                <a:lnTo>
                  <a:pt x="1654867" y="37691"/>
                </a:lnTo>
                <a:lnTo>
                  <a:pt x="1602291" y="48504"/>
                </a:lnTo>
                <a:lnTo>
                  <a:pt x="1553029" y="60471"/>
                </a:lnTo>
                <a:lnTo>
                  <a:pt x="1507319" y="73522"/>
                </a:lnTo>
                <a:lnTo>
                  <a:pt x="1465401" y="87591"/>
                </a:lnTo>
                <a:lnTo>
                  <a:pt x="1427517" y="102609"/>
                </a:lnTo>
                <a:lnTo>
                  <a:pt x="1364806" y="135220"/>
                </a:lnTo>
                <a:lnTo>
                  <a:pt x="1321106" y="170812"/>
                </a:lnTo>
                <a:lnTo>
                  <a:pt x="1298336" y="208841"/>
                </a:lnTo>
                <a:lnTo>
                  <a:pt x="1295400" y="228599"/>
                </a:lnTo>
                <a:lnTo>
                  <a:pt x="1298336" y="248358"/>
                </a:lnTo>
                <a:lnTo>
                  <a:pt x="1321106" y="286387"/>
                </a:lnTo>
                <a:lnTo>
                  <a:pt x="1364806" y="321979"/>
                </a:lnTo>
                <a:lnTo>
                  <a:pt x="1427517" y="354590"/>
                </a:lnTo>
                <a:lnTo>
                  <a:pt x="1465401" y="369608"/>
                </a:lnTo>
                <a:lnTo>
                  <a:pt x="1507319" y="383677"/>
                </a:lnTo>
                <a:lnTo>
                  <a:pt x="1553029" y="396728"/>
                </a:lnTo>
                <a:lnTo>
                  <a:pt x="1602291" y="408695"/>
                </a:lnTo>
                <a:lnTo>
                  <a:pt x="1654867" y="419508"/>
                </a:lnTo>
                <a:lnTo>
                  <a:pt x="1710516" y="429100"/>
                </a:lnTo>
                <a:lnTo>
                  <a:pt x="1768997" y="437402"/>
                </a:lnTo>
                <a:lnTo>
                  <a:pt x="1830072" y="444348"/>
                </a:lnTo>
                <a:lnTo>
                  <a:pt x="1893499" y="449869"/>
                </a:lnTo>
                <a:lnTo>
                  <a:pt x="1959039" y="453896"/>
                </a:lnTo>
                <a:lnTo>
                  <a:pt x="2026453" y="456362"/>
                </a:lnTo>
                <a:lnTo>
                  <a:pt x="2095500" y="457199"/>
                </a:lnTo>
                <a:lnTo>
                  <a:pt x="2164546" y="456362"/>
                </a:lnTo>
                <a:lnTo>
                  <a:pt x="2231960" y="453896"/>
                </a:lnTo>
                <a:lnTo>
                  <a:pt x="2297500" y="449869"/>
                </a:lnTo>
                <a:lnTo>
                  <a:pt x="2360927" y="444348"/>
                </a:lnTo>
                <a:lnTo>
                  <a:pt x="2422002" y="437402"/>
                </a:lnTo>
                <a:lnTo>
                  <a:pt x="2480483" y="429100"/>
                </a:lnTo>
                <a:lnTo>
                  <a:pt x="2536132" y="419508"/>
                </a:lnTo>
                <a:lnTo>
                  <a:pt x="2588708" y="408695"/>
                </a:lnTo>
                <a:lnTo>
                  <a:pt x="2637970" y="396728"/>
                </a:lnTo>
                <a:lnTo>
                  <a:pt x="2683680" y="383677"/>
                </a:lnTo>
                <a:lnTo>
                  <a:pt x="2725598" y="369608"/>
                </a:lnTo>
                <a:lnTo>
                  <a:pt x="2763482" y="354590"/>
                </a:lnTo>
                <a:lnTo>
                  <a:pt x="2826193" y="321979"/>
                </a:lnTo>
                <a:lnTo>
                  <a:pt x="2869893" y="286387"/>
                </a:lnTo>
                <a:lnTo>
                  <a:pt x="2892663" y="248358"/>
                </a:lnTo>
                <a:lnTo>
                  <a:pt x="2895600" y="228599"/>
                </a:lnTo>
                <a:lnTo>
                  <a:pt x="2892663" y="208841"/>
                </a:lnTo>
                <a:lnTo>
                  <a:pt x="2869893" y="170812"/>
                </a:lnTo>
                <a:lnTo>
                  <a:pt x="2826193" y="135220"/>
                </a:lnTo>
                <a:lnTo>
                  <a:pt x="2763482" y="102609"/>
                </a:lnTo>
                <a:lnTo>
                  <a:pt x="2725598" y="87591"/>
                </a:lnTo>
                <a:lnTo>
                  <a:pt x="2683680" y="73522"/>
                </a:lnTo>
                <a:lnTo>
                  <a:pt x="2637970" y="60471"/>
                </a:lnTo>
                <a:lnTo>
                  <a:pt x="2588708" y="48504"/>
                </a:lnTo>
                <a:lnTo>
                  <a:pt x="2536132" y="37691"/>
                </a:lnTo>
                <a:lnTo>
                  <a:pt x="2480483" y="28099"/>
                </a:lnTo>
                <a:lnTo>
                  <a:pt x="2422002" y="19797"/>
                </a:lnTo>
                <a:lnTo>
                  <a:pt x="2360927" y="12851"/>
                </a:lnTo>
                <a:lnTo>
                  <a:pt x="2297500" y="7330"/>
                </a:lnTo>
                <a:lnTo>
                  <a:pt x="2231960" y="3303"/>
                </a:lnTo>
                <a:lnTo>
                  <a:pt x="2164546" y="837"/>
                </a:lnTo>
                <a:lnTo>
                  <a:pt x="20955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11553" y="1371345"/>
            <a:ext cx="24771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8870" algn="l"/>
              </a:tabLst>
            </a:pPr>
            <a:r>
              <a:rPr sz="1600" i="1" spc="-5" dirty="0">
                <a:latin typeface="Arial"/>
                <a:cs typeface="Arial"/>
              </a:rPr>
              <a:t>name	street_address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40100" y="189230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3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8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1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32200" y="1980945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city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3700" y="1672844"/>
            <a:ext cx="3733800" cy="1362710"/>
          </a:xfrm>
          <a:custGeom>
            <a:avLst/>
            <a:gdLst/>
            <a:ahLst/>
            <a:cxnLst/>
            <a:rect l="l" t="t" r="r" b="b"/>
            <a:pathLst>
              <a:path w="3733800" h="1362710">
                <a:moveTo>
                  <a:pt x="0" y="371856"/>
                </a:moveTo>
                <a:lnTo>
                  <a:pt x="876300" y="752856"/>
                </a:lnTo>
              </a:path>
              <a:path w="3733800" h="1362710">
                <a:moveTo>
                  <a:pt x="518922" y="0"/>
                </a:moveTo>
                <a:lnTo>
                  <a:pt x="876300" y="752856"/>
                </a:lnTo>
              </a:path>
              <a:path w="3733800" h="1362710">
                <a:moveTo>
                  <a:pt x="1072895" y="0"/>
                </a:moveTo>
                <a:lnTo>
                  <a:pt x="876300" y="752856"/>
                </a:lnTo>
              </a:path>
              <a:path w="3733800" h="1362710">
                <a:moveTo>
                  <a:pt x="1676400" y="448056"/>
                </a:moveTo>
                <a:lnTo>
                  <a:pt x="876300" y="752856"/>
                </a:lnTo>
              </a:path>
              <a:path w="3733800" h="1362710">
                <a:moveTo>
                  <a:pt x="3048000" y="676656"/>
                </a:moveTo>
                <a:lnTo>
                  <a:pt x="2362200" y="1019556"/>
                </a:lnTo>
                <a:lnTo>
                  <a:pt x="3048000" y="1362456"/>
                </a:lnTo>
                <a:lnTo>
                  <a:pt x="3733800" y="1019556"/>
                </a:lnTo>
                <a:lnTo>
                  <a:pt x="3048000" y="6766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98950" y="2552445"/>
            <a:ext cx="8267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Arial"/>
                <a:cs typeface="Arial"/>
              </a:rPr>
              <a:t>borrower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9500" y="24257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600" i="1" spc="-5" dirty="0">
                <a:latin typeface="Arial"/>
                <a:cs typeface="Arial"/>
              </a:rPr>
              <a:t>loan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30900" y="1663700"/>
            <a:ext cx="2209800" cy="457200"/>
          </a:xfrm>
          <a:custGeom>
            <a:avLst/>
            <a:gdLst/>
            <a:ahLst/>
            <a:cxnLst/>
            <a:rect l="l" t="t" r="r" b="b"/>
            <a:pathLst>
              <a:path w="2209800" h="457200">
                <a:moveTo>
                  <a:pt x="457200" y="0"/>
                </a:moveTo>
                <a:lnTo>
                  <a:pt x="395220" y="2082"/>
                </a:lnTo>
                <a:lnTo>
                  <a:pt x="335756" y="8149"/>
                </a:lnTo>
                <a:lnTo>
                  <a:pt x="279356" y="17930"/>
                </a:lnTo>
                <a:lnTo>
                  <a:pt x="226567" y="31157"/>
                </a:lnTo>
                <a:lnTo>
                  <a:pt x="177938" y="47558"/>
                </a:lnTo>
                <a:lnTo>
                  <a:pt x="134016" y="66865"/>
                </a:lnTo>
                <a:lnTo>
                  <a:pt x="95349" y="88807"/>
                </a:lnTo>
                <a:lnTo>
                  <a:pt x="62484" y="113114"/>
                </a:lnTo>
                <a:lnTo>
                  <a:pt x="16351" y="167745"/>
                </a:lnTo>
                <a:lnTo>
                  <a:pt x="0" y="228599"/>
                </a:lnTo>
                <a:lnTo>
                  <a:pt x="4179" y="259670"/>
                </a:lnTo>
                <a:lnTo>
                  <a:pt x="35968" y="317682"/>
                </a:lnTo>
                <a:lnTo>
                  <a:pt x="95349" y="368392"/>
                </a:lnTo>
                <a:lnTo>
                  <a:pt x="134016" y="390334"/>
                </a:lnTo>
                <a:lnTo>
                  <a:pt x="177938" y="409641"/>
                </a:lnTo>
                <a:lnTo>
                  <a:pt x="226567" y="426042"/>
                </a:lnTo>
                <a:lnTo>
                  <a:pt x="279356" y="439269"/>
                </a:lnTo>
                <a:lnTo>
                  <a:pt x="335756" y="449050"/>
                </a:lnTo>
                <a:lnTo>
                  <a:pt x="395220" y="455117"/>
                </a:lnTo>
                <a:lnTo>
                  <a:pt x="457200" y="457199"/>
                </a:lnTo>
                <a:lnTo>
                  <a:pt x="519179" y="455117"/>
                </a:lnTo>
                <a:lnTo>
                  <a:pt x="578643" y="449050"/>
                </a:lnTo>
                <a:lnTo>
                  <a:pt x="635043" y="439269"/>
                </a:lnTo>
                <a:lnTo>
                  <a:pt x="687832" y="426042"/>
                </a:lnTo>
                <a:lnTo>
                  <a:pt x="736461" y="409641"/>
                </a:lnTo>
                <a:lnTo>
                  <a:pt x="780383" y="390334"/>
                </a:lnTo>
                <a:lnTo>
                  <a:pt x="819050" y="368392"/>
                </a:lnTo>
                <a:lnTo>
                  <a:pt x="851916" y="344085"/>
                </a:lnTo>
                <a:lnTo>
                  <a:pt x="898048" y="289454"/>
                </a:lnTo>
                <a:lnTo>
                  <a:pt x="914400" y="228599"/>
                </a:lnTo>
                <a:lnTo>
                  <a:pt x="910220" y="197529"/>
                </a:lnTo>
                <a:lnTo>
                  <a:pt x="878431" y="139517"/>
                </a:lnTo>
                <a:lnTo>
                  <a:pt x="819050" y="88807"/>
                </a:lnTo>
                <a:lnTo>
                  <a:pt x="780383" y="66865"/>
                </a:lnTo>
                <a:lnTo>
                  <a:pt x="736461" y="47558"/>
                </a:lnTo>
                <a:lnTo>
                  <a:pt x="687832" y="31157"/>
                </a:lnTo>
                <a:lnTo>
                  <a:pt x="635043" y="17930"/>
                </a:lnTo>
                <a:lnTo>
                  <a:pt x="578643" y="8149"/>
                </a:lnTo>
                <a:lnTo>
                  <a:pt x="519179" y="2082"/>
                </a:lnTo>
                <a:lnTo>
                  <a:pt x="457200" y="0"/>
                </a:lnTo>
                <a:close/>
              </a:path>
              <a:path w="2209800" h="457200">
                <a:moveTo>
                  <a:pt x="1676400" y="0"/>
                </a:moveTo>
                <a:lnTo>
                  <a:pt x="1609431" y="1777"/>
                </a:lnTo>
                <a:lnTo>
                  <a:pt x="1544962" y="6967"/>
                </a:lnTo>
                <a:lnTo>
                  <a:pt x="1483489" y="15357"/>
                </a:lnTo>
                <a:lnTo>
                  <a:pt x="1425510" y="26736"/>
                </a:lnTo>
                <a:lnTo>
                  <a:pt x="1371523" y="40892"/>
                </a:lnTo>
                <a:lnTo>
                  <a:pt x="1322025" y="57610"/>
                </a:lnTo>
                <a:lnTo>
                  <a:pt x="1277512" y="76681"/>
                </a:lnTo>
                <a:lnTo>
                  <a:pt x="1238484" y="97891"/>
                </a:lnTo>
                <a:lnTo>
                  <a:pt x="1205436" y="121027"/>
                </a:lnTo>
                <a:lnTo>
                  <a:pt x="1159272" y="172233"/>
                </a:lnTo>
                <a:lnTo>
                  <a:pt x="1143000" y="228599"/>
                </a:lnTo>
                <a:lnTo>
                  <a:pt x="1147150" y="257322"/>
                </a:lnTo>
                <a:lnTo>
                  <a:pt x="1178866" y="311320"/>
                </a:lnTo>
                <a:lnTo>
                  <a:pt x="1238484" y="359308"/>
                </a:lnTo>
                <a:lnTo>
                  <a:pt x="1277512" y="380518"/>
                </a:lnTo>
                <a:lnTo>
                  <a:pt x="1322025" y="399589"/>
                </a:lnTo>
                <a:lnTo>
                  <a:pt x="1371523" y="416307"/>
                </a:lnTo>
                <a:lnTo>
                  <a:pt x="1425510" y="430463"/>
                </a:lnTo>
                <a:lnTo>
                  <a:pt x="1483489" y="441842"/>
                </a:lnTo>
                <a:lnTo>
                  <a:pt x="1544962" y="450232"/>
                </a:lnTo>
                <a:lnTo>
                  <a:pt x="1609431" y="455422"/>
                </a:lnTo>
                <a:lnTo>
                  <a:pt x="1676400" y="457199"/>
                </a:lnTo>
                <a:lnTo>
                  <a:pt x="1743368" y="455422"/>
                </a:lnTo>
                <a:lnTo>
                  <a:pt x="1807837" y="450232"/>
                </a:lnTo>
                <a:lnTo>
                  <a:pt x="1869310" y="441842"/>
                </a:lnTo>
                <a:lnTo>
                  <a:pt x="1927289" y="430463"/>
                </a:lnTo>
                <a:lnTo>
                  <a:pt x="1981276" y="416307"/>
                </a:lnTo>
                <a:lnTo>
                  <a:pt x="2030774" y="399589"/>
                </a:lnTo>
                <a:lnTo>
                  <a:pt x="2075287" y="380518"/>
                </a:lnTo>
                <a:lnTo>
                  <a:pt x="2114315" y="359308"/>
                </a:lnTo>
                <a:lnTo>
                  <a:pt x="2147363" y="336172"/>
                </a:lnTo>
                <a:lnTo>
                  <a:pt x="2193527" y="284966"/>
                </a:lnTo>
                <a:lnTo>
                  <a:pt x="2209800" y="228599"/>
                </a:lnTo>
                <a:lnTo>
                  <a:pt x="2205649" y="199877"/>
                </a:lnTo>
                <a:lnTo>
                  <a:pt x="2173933" y="145879"/>
                </a:lnTo>
                <a:lnTo>
                  <a:pt x="2114315" y="97891"/>
                </a:lnTo>
                <a:lnTo>
                  <a:pt x="2075287" y="76681"/>
                </a:lnTo>
                <a:lnTo>
                  <a:pt x="2030774" y="57610"/>
                </a:lnTo>
                <a:lnTo>
                  <a:pt x="1981276" y="40892"/>
                </a:lnTo>
                <a:lnTo>
                  <a:pt x="1927289" y="26736"/>
                </a:lnTo>
                <a:lnTo>
                  <a:pt x="1869310" y="15357"/>
                </a:lnTo>
                <a:lnTo>
                  <a:pt x="1807837" y="6967"/>
                </a:lnTo>
                <a:lnTo>
                  <a:pt x="1743368" y="1777"/>
                </a:lnTo>
                <a:lnTo>
                  <a:pt x="16764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50026" y="1752345"/>
            <a:ext cx="19100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8565" algn="l"/>
              </a:tabLst>
            </a:pPr>
            <a:r>
              <a:rPr sz="1600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loan_i</a:t>
            </a:r>
            <a:r>
              <a:rPr sz="16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600" i="1" dirty="0">
                <a:latin typeface="Arial"/>
                <a:cs typeface="Arial"/>
              </a:rPr>
              <a:t>	</a:t>
            </a:r>
            <a:r>
              <a:rPr sz="1600" i="1" spc="-5" dirty="0">
                <a:latin typeface="Arial"/>
                <a:cs typeface="Arial"/>
              </a:rPr>
              <a:t>amount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11950" y="2053844"/>
            <a:ext cx="517525" cy="372110"/>
          </a:xfrm>
          <a:custGeom>
            <a:avLst/>
            <a:gdLst/>
            <a:ahLst/>
            <a:cxnLst/>
            <a:rect l="l" t="t" r="r" b="b"/>
            <a:pathLst>
              <a:path w="517525" h="372110">
                <a:moveTo>
                  <a:pt x="0" y="0"/>
                </a:moveTo>
                <a:lnTo>
                  <a:pt x="171450" y="371856"/>
                </a:lnTo>
              </a:path>
              <a:path w="517525" h="372110">
                <a:moveTo>
                  <a:pt x="517398" y="0"/>
                </a:moveTo>
                <a:lnTo>
                  <a:pt x="171450" y="3718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63900" y="2654299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766572" y="38100"/>
                </a:moveTo>
                <a:lnTo>
                  <a:pt x="765048" y="35052"/>
                </a:lnTo>
                <a:lnTo>
                  <a:pt x="762000" y="33528"/>
                </a:lnTo>
                <a:lnTo>
                  <a:pt x="76200" y="33528"/>
                </a:ln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76200" y="76200"/>
                </a:lnTo>
                <a:lnTo>
                  <a:pt x="76200" y="42672"/>
                </a:lnTo>
                <a:lnTo>
                  <a:pt x="762000" y="42672"/>
                </a:lnTo>
                <a:lnTo>
                  <a:pt x="765048" y="41148"/>
                </a:lnTo>
                <a:lnTo>
                  <a:pt x="766572" y="38100"/>
                </a:lnTo>
                <a:close/>
              </a:path>
              <a:path w="2895600" h="76200">
                <a:moveTo>
                  <a:pt x="2895600" y="38100"/>
                </a:moveTo>
                <a:lnTo>
                  <a:pt x="2819400" y="0"/>
                </a:lnTo>
                <a:lnTo>
                  <a:pt x="2819400" y="33528"/>
                </a:lnTo>
                <a:lnTo>
                  <a:pt x="2133600" y="33528"/>
                </a:lnTo>
                <a:lnTo>
                  <a:pt x="2130552" y="35052"/>
                </a:lnTo>
                <a:lnTo>
                  <a:pt x="2129028" y="38100"/>
                </a:lnTo>
                <a:lnTo>
                  <a:pt x="2130552" y="41148"/>
                </a:lnTo>
                <a:lnTo>
                  <a:pt x="2133600" y="42672"/>
                </a:lnTo>
                <a:lnTo>
                  <a:pt x="2819400" y="42672"/>
                </a:lnTo>
                <a:lnTo>
                  <a:pt x="2819400" y="76200"/>
                </a:lnTo>
                <a:lnTo>
                  <a:pt x="2836926" y="67437"/>
                </a:lnTo>
                <a:lnTo>
                  <a:pt x="28956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5783" y="469900"/>
            <a:ext cx="69862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Schema</a:t>
            </a:r>
            <a:r>
              <a:rPr spc="-10" dirty="0"/>
              <a:t> </a:t>
            </a:r>
            <a:r>
              <a:rPr spc="-5" dirty="0"/>
              <a:t>Combination Notes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22047"/>
            <a:ext cx="8055609" cy="45472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solidFill>
                  <a:srgbClr val="FF0000"/>
                </a:solidFill>
                <a:latin typeface="Arial MT"/>
                <a:cs typeface="Arial MT"/>
              </a:rPr>
              <a:t>Benefits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of</a:t>
            </a:r>
            <a:r>
              <a:rPr sz="3200" spc="-10" dirty="0">
                <a:latin typeface="Arial MT"/>
                <a:cs typeface="Arial MT"/>
              </a:rPr>
              <a:t> schema combination:</a:t>
            </a:r>
            <a:endParaRPr sz="3200" dirty="0">
              <a:latin typeface="Arial MT"/>
              <a:cs typeface="Arial MT"/>
            </a:endParaRPr>
          </a:p>
          <a:p>
            <a:pPr marL="755650" marR="1235075" lvl="1" indent="-285750">
              <a:lnSpc>
                <a:spcPts val="3020"/>
              </a:lnSpc>
              <a:spcBef>
                <a:spcPts val="72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Eliminate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foreign-key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constraint,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associated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performance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impact</a:t>
            </a:r>
          </a:p>
          <a:p>
            <a:pPr marL="1155700" lvl="2" indent="-229235">
              <a:lnSpc>
                <a:spcPct val="100000"/>
              </a:lnSpc>
              <a:spcBef>
                <a:spcPts val="240"/>
              </a:spcBef>
              <a:buChar char="•"/>
              <a:tabLst>
                <a:tab pos="115633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Constraint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enforcement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155065" lvl="2" indent="-228600">
              <a:lnSpc>
                <a:spcPct val="100000"/>
              </a:lnSpc>
              <a:spcBef>
                <a:spcPts val="280"/>
              </a:spcBef>
              <a:buChar char="•"/>
              <a:tabLst>
                <a:tab pos="11557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Extra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join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operations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queries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34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 MT"/>
                <a:cs typeface="Arial MT"/>
              </a:rPr>
              <a:t>Reduce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storage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requirements</a:t>
            </a:r>
          </a:p>
          <a:p>
            <a:pPr marL="355600" indent="-343535">
              <a:lnSpc>
                <a:spcPct val="100000"/>
              </a:lnSpc>
              <a:spcBef>
                <a:spcPts val="38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Drawbacks</a:t>
            </a:r>
            <a:r>
              <a:rPr sz="3200" spc="-5" dirty="0">
                <a:latin typeface="Arial MT"/>
                <a:cs typeface="Arial MT"/>
              </a:rPr>
              <a:t> of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schema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combination:</a:t>
            </a:r>
            <a:endParaRPr sz="32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33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May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necessitate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use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FF0000"/>
                </a:solidFill>
                <a:latin typeface="Arial"/>
                <a:cs typeface="Arial"/>
              </a:rPr>
              <a:t>null</a:t>
            </a:r>
            <a:r>
              <a:rPr sz="2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values</a:t>
            </a:r>
          </a:p>
          <a:p>
            <a:pPr marL="755650" marR="5080" lvl="1" indent="-285750">
              <a:lnSpc>
                <a:spcPts val="3020"/>
              </a:lnSpc>
              <a:spcBef>
                <a:spcPts val="72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Makes it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harder to change mapping cardinality </a:t>
            </a:r>
            <a:r>
              <a:rPr sz="2800" spc="-7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constraints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9914" y="469900"/>
            <a:ext cx="18580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4001" y="1576324"/>
            <a:ext cx="8008620" cy="42538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954405" indent="-343535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Can </a:t>
            </a:r>
            <a:r>
              <a:rPr sz="2800" dirty="0">
                <a:latin typeface="Arial MT"/>
                <a:cs typeface="Arial MT"/>
              </a:rPr>
              <a:t>map E-R model schemas to relational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very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easily</a:t>
            </a:r>
          </a:p>
          <a:p>
            <a:pPr marL="755015" lvl="1" indent="-285750">
              <a:lnSpc>
                <a:spcPct val="100000"/>
              </a:lnSpc>
              <a:spcBef>
                <a:spcPts val="24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Mapping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straightforward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unambiguous</a:t>
            </a:r>
            <a:endParaRPr sz="2400" dirty="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3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Some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flexibility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optimizing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schemas</a:t>
            </a: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Mapping cardinalities,</a:t>
            </a:r>
            <a:r>
              <a:rPr sz="2400" dirty="0">
                <a:latin typeface="Arial MT"/>
                <a:cs typeface="Arial MT"/>
              </a:rPr>
              <a:t> etc.</a:t>
            </a:r>
          </a:p>
          <a:p>
            <a:pPr marL="354965" indent="-3429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Some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E-R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concepts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expensive</a:t>
            </a: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Multivalued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(especially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composite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ones)</a:t>
            </a:r>
            <a:endParaRPr sz="2400" dirty="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34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Next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time:</a:t>
            </a: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Explore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advanced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E-R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concepts</a:t>
            </a:r>
            <a:endParaRPr sz="2400" dirty="0">
              <a:latin typeface="Arial MT"/>
              <a:cs typeface="Arial MT"/>
            </a:endParaRPr>
          </a:p>
          <a:p>
            <a:pPr marL="755650" lvl="1" indent="-286385">
              <a:lnSpc>
                <a:spcPct val="100000"/>
              </a:lnSpc>
              <a:spcBef>
                <a:spcPts val="280"/>
              </a:spcBef>
              <a:buChar char="–"/>
              <a:tabLst>
                <a:tab pos="756285" algn="l"/>
              </a:tabLst>
            </a:pPr>
            <a:r>
              <a:rPr sz="2400" spc="-5" dirty="0">
                <a:latin typeface="Arial MT"/>
                <a:cs typeface="Arial MT"/>
              </a:rPr>
              <a:t>Generalization/specialization,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aggregation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</TotalTime>
  <Words>2060</Words>
  <Application>Microsoft Office PowerPoint</Application>
  <PresentationFormat>Custom</PresentationFormat>
  <Paragraphs>384</Paragraphs>
  <Slides>36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Converting E-R Diagrams  to Relational Model</vt:lpstr>
      <vt:lpstr>E-R Diagrams</vt:lpstr>
      <vt:lpstr>Strong Entity-Sets</vt:lpstr>
      <vt:lpstr>Entity-Set Examples</vt:lpstr>
      <vt:lpstr>Entity-Set Examples (2)</vt:lpstr>
      <vt:lpstr>Representation of Strong Entity Sets with Complex Attributes</vt:lpstr>
      <vt:lpstr>PowerPoint Presentation</vt:lpstr>
      <vt:lpstr>PowerPoint Presentation</vt:lpstr>
      <vt:lpstr>Composite Attributes</vt:lpstr>
      <vt:lpstr>Composite Attribute Example</vt:lpstr>
      <vt:lpstr>Multivalued Attributes</vt:lpstr>
      <vt:lpstr>Multivalued Attribute Example</vt:lpstr>
      <vt:lpstr>Weak Entity-Sets</vt:lpstr>
      <vt:lpstr>PowerPoint Presentation</vt:lpstr>
      <vt:lpstr>PowerPoint Presentation</vt:lpstr>
      <vt:lpstr>Weak Entity-Set Example</vt:lpstr>
      <vt:lpstr>Weak Entity-Set Example (2)</vt:lpstr>
      <vt:lpstr>Identifying Relationship?</vt:lpstr>
      <vt:lpstr>Relationship-Sets</vt:lpstr>
      <vt:lpstr>Relationship-Set Primary Keys</vt:lpstr>
      <vt:lpstr>Relationship-Set Primary Keys (2)</vt:lpstr>
      <vt:lpstr>Relationship-Set Foreign Keys</vt:lpstr>
      <vt:lpstr>Relationship-Set Foreign Keys</vt:lpstr>
      <vt:lpstr>Relationship-Set Example</vt:lpstr>
      <vt:lpstr>Relationship-Set Example (2)</vt:lpstr>
      <vt:lpstr>N-ary Relationship Primary Keys</vt:lpstr>
      <vt:lpstr>N-ary Relationship-Set Example</vt:lpstr>
      <vt:lpstr>Schema Combination</vt:lpstr>
      <vt:lpstr>Schema Combination (2)</vt:lpstr>
      <vt:lpstr>Schema Combination (3)</vt:lpstr>
      <vt:lpstr>Schema-Combination Example</vt:lpstr>
      <vt:lpstr>Schema Combination Example (2)</vt:lpstr>
      <vt:lpstr>Schema Combination Example (3)</vt:lpstr>
      <vt:lpstr>Schema Combination Example (4)</vt:lpstr>
      <vt:lpstr>Schema Combination Notes</vt:lpstr>
      <vt:lpstr>Review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31</cp:revision>
  <dcterms:created xsi:type="dcterms:W3CDTF">2023-05-09T14:21:57Z</dcterms:created>
  <dcterms:modified xsi:type="dcterms:W3CDTF">2024-08-02T03:19:18Z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2007-02-13T00:00:00Z</vt:filetime>
  </property>
  <property fmtid="{D5CDD505-2E9C-101B-9397-08002B2CF9AE}" pid="3" name="Creator">
    <vt:lpwstr>Acrobat PDFMaker 7.0.5 for PowerPoint</vt:lpwstr>
  </property>
  <property fmtid="{D5CDD505-2E9C-101B-9397-08002B2CF9AE}" pid="4" name="LastSaved">
    <vt:filetime>2023-05-09T00:00:00Z</vt:filetime>
  </property>
</Properties>
</file>