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7"/>
  </p:notesMasterIdLst>
  <p:sldIdLst>
    <p:sldId id="256" r:id="rId2"/>
    <p:sldId id="257" r:id="rId3"/>
    <p:sldId id="269" r:id="rId4"/>
    <p:sldId id="258" r:id="rId5"/>
    <p:sldId id="259" r:id="rId6"/>
    <p:sldId id="260" r:id="rId7"/>
    <p:sldId id="267" r:id="rId8"/>
    <p:sldId id="268" r:id="rId9"/>
    <p:sldId id="270" r:id="rId10"/>
    <p:sldId id="262" r:id="rId11"/>
    <p:sldId id="263" r:id="rId12"/>
    <p:sldId id="264" r:id="rId13"/>
    <p:sldId id="265" r:id="rId14"/>
    <p:sldId id="271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0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1- </a:t>
            </a:r>
            <a:r>
              <a:rPr lang="en-US" dirty="0" err="1" smtClean="0"/>
              <a:t>Catelogs</a:t>
            </a:r>
            <a:endParaRPr lang="en-US" dirty="0" smtClean="0"/>
          </a:p>
          <a:p>
            <a:pPr marL="228600" indent="-228600">
              <a:buAutoNum type="arabicPlain" startAt="2"/>
            </a:pPr>
            <a:r>
              <a:rPr lang="en-US" dirty="0" smtClean="0"/>
              <a:t>Structure – addition of attribute wont work in file system but in </a:t>
            </a:r>
            <a:r>
              <a:rPr lang="en-US" dirty="0" err="1" smtClean="0"/>
              <a:t>dbms</a:t>
            </a:r>
            <a:r>
              <a:rPr lang="en-US" dirty="0" smtClean="0"/>
              <a:t> it facilitates </a:t>
            </a:r>
          </a:p>
          <a:p>
            <a:pPr marL="228600" indent="-228600">
              <a:buAutoNum type="arabicPlain" startAt="2"/>
            </a:pPr>
            <a:r>
              <a:rPr lang="en-US" dirty="0" smtClean="0"/>
              <a:t>View</a:t>
            </a:r>
            <a:r>
              <a:rPr lang="en-US" baseline="0" dirty="0" smtClean="0"/>
              <a:t> – subset of database</a:t>
            </a:r>
          </a:p>
          <a:p>
            <a:pPr marL="228600" indent="-228600">
              <a:buAutoNum type="arabicPlain" startAt="2"/>
            </a:pPr>
            <a:r>
              <a:rPr lang="en-US" baseline="0" dirty="0" smtClean="0"/>
              <a:t>Multi-application – concurrency control s/w –flight ticket booking by agents - OLTP</a:t>
            </a:r>
          </a:p>
          <a:p>
            <a:pPr marL="228600" indent="-228600">
              <a:buAutoNum type="arabicPlain" startAt="2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FB1CC-AE27-4B23-824E-BA8B57FD6C5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9ED2-EBDD-4CD8-ABC2-1DBF705F2977}" type="datetime1">
              <a:rPr lang="en-IN" smtClean="0"/>
              <a:t>18-07-2024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A6C1-568F-497F-9D04-BD35395F8E30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768E-F676-4C13-BBD7-E14FF052AE71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DC6B-6C77-47EB-8A2A-EF797BEB7B53}" type="datetime1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07A3-5CD9-420A-8B0D-744FA45AE77A}" type="datetime1">
              <a:rPr lang="en-IN" smtClean="0"/>
              <a:t>18-07-2024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57170-3286-4DEC-91D1-CD1B8EA0D1F9}" type="datetime1">
              <a:rPr lang="en-IN" smtClean="0"/>
              <a:t>18-07-2024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26DB-D531-4509-BCD6-1096D247B6D1}" type="datetime1">
              <a:rPr lang="en-IN" smtClean="0"/>
              <a:t>18-07-2024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0725-9FC2-4FDE-8B63-6639EB5E2895}" type="datetime1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083-6680-44B6-B995-087F4FAF4C96}" type="datetime1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917-BE57-494B-9E3C-9218DFAE02C0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6933-2781-44DD-B086-91068BF9C989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F803CEE-44BA-4B29-93DB-9EA5F9E0779E}" type="datetime1">
              <a:rPr lang="en-IN" smtClean="0"/>
              <a:t>18-07-2024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3933056"/>
            <a:ext cx="6400800" cy="1600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Dr. T. JOSHVA DEVADAS</a:t>
            </a:r>
          </a:p>
          <a:p>
            <a:r>
              <a:rPr lang="en-US" dirty="0" smtClean="0"/>
              <a:t>Associate </a:t>
            </a:r>
            <a:r>
              <a:rPr lang="en-US" dirty="0" smtClean="0"/>
              <a:t>Professor Senior</a:t>
            </a:r>
            <a:endParaRPr lang="en-US" dirty="0" smtClean="0"/>
          </a:p>
          <a:p>
            <a:r>
              <a:rPr lang="en-US" dirty="0" smtClean="0"/>
              <a:t>SJT Annex- 103 F</a:t>
            </a:r>
          </a:p>
          <a:p>
            <a:r>
              <a:rPr lang="en-US" dirty="0" smtClean="0"/>
              <a:t>Joshvadevadas.t@vit.ac.in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Database Management System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147248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FF0000"/>
                </a:solidFill>
                <a:effectLst/>
                <a:latin typeface="Arial Black" panose="020B0A04020102020204" pitchFamily="34" charset="0"/>
                <a:ea typeface="ＭＳ Ｐゴシック" pitchFamily="34" charset="-128"/>
              </a:rPr>
              <a:t>Database Management System (</a:t>
            </a:r>
            <a:r>
              <a:rPr lang="en-US" sz="4200" b="1" dirty="0" smtClean="0">
                <a:solidFill>
                  <a:srgbClr val="FF0000"/>
                </a:solidFill>
                <a:effectLst/>
                <a:latin typeface="Arial Black" panose="020B0A04020102020204" pitchFamily="34" charset="0"/>
                <a:ea typeface="ＭＳ Ｐゴシック" pitchFamily="34" charset="-128"/>
              </a:rPr>
              <a:t>DBMS</a:t>
            </a:r>
            <a:r>
              <a:rPr lang="en-US" b="1" dirty="0" smtClean="0">
                <a:solidFill>
                  <a:srgbClr val="FF0000"/>
                </a:solidFill>
                <a:effectLst/>
                <a:latin typeface="Arial Black" panose="020B0A04020102020204" pitchFamily="34" charset="0"/>
                <a:ea typeface="ＭＳ Ｐゴシック" pitchFamily="34" charset="-128"/>
              </a:rPr>
              <a:t>)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sz="2700" b="1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Database</a:t>
            </a:r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is a collection of related data.</a:t>
            </a:r>
          </a:p>
          <a:p>
            <a:r>
              <a:rPr lang="en-US" sz="2700" b="1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Data</a:t>
            </a:r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is a known fact that have implicit meaning </a:t>
            </a:r>
          </a:p>
          <a:p>
            <a:r>
              <a:rPr lang="en-US" sz="2700" b="1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DBMS</a:t>
            </a:r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is a software system that facilitate user to design and maintain database. 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It establish a relation </a:t>
            </a:r>
            <a:r>
              <a:rPr lang="en-US" sz="270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entities.</a:t>
            </a:r>
            <a:endParaRPr lang="en-US" sz="27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Ex. A student information Table. Here student is entities and their details are attribute.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It also store information related to data called metadata.</a:t>
            </a:r>
          </a:p>
          <a:p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Databases touch all aspects of our lives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02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a general purpose software system that facilitates the process of defining, constructing and manipulating database for various applications. 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69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13" y="462273"/>
            <a:ext cx="8192282" cy="5643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4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188266" y="6110804"/>
            <a:ext cx="6984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 simplified </a:t>
            </a:r>
            <a:r>
              <a:rPr lang="en-US" sz="2400" b="1" dirty="0" smtClean="0"/>
              <a:t>database system </a:t>
            </a:r>
            <a:r>
              <a:rPr lang="en-US" sz="2400" b="1" dirty="0"/>
              <a:t>environment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588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3399"/>
                </a:solidFill>
              </a:rPr>
              <a:t>Application of DBMS</a:t>
            </a:r>
            <a:endParaRPr lang="en-IN" b="1" dirty="0">
              <a:solidFill>
                <a:srgbClr val="003399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53205957"/>
              </p:ext>
            </p:extLst>
          </p:nvPr>
        </p:nvGraphicFramePr>
        <p:xfrm>
          <a:off x="914400" y="1447800"/>
          <a:ext cx="7772400" cy="50647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865512"/>
                <a:gridCol w="490688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 of  DBMS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Banking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For customer information, account activities, payments, deposits, loans, etc. 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Airlines, Railways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For reservations and schedule information.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Universities,</a:t>
                      </a:r>
                      <a:r>
                        <a:rPr lang="en-US" sz="19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Colleges 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For student information, course registrations, colleges and grades. 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Telecommunications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It helps to keep call records, monthly bills, maintaining balances, etc. 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Finance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For storing information about stock, sales, and purchases of financial instruments like stocks and bonds. 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Sales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Use for storing customer, product &amp; sales information. 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HR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Times New Roman" pitchFamily="18" charset="0"/>
                          <a:cs typeface="Times New Roman" pitchFamily="18" charset="0"/>
                        </a:rPr>
                        <a:t>For information about employees, salaries, payroll, deduction, generation of paychecks, etc. </a:t>
                      </a:r>
                      <a:endParaRPr lang="en-IN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11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Popular DBMS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Software</a:t>
            </a:r>
            <a:endParaRPr lang="en-I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3568" y="1412776"/>
            <a:ext cx="7772400" cy="45720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MySQL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Microsoft Access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Oracle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PostgreSQL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SQLite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IBM DB2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LibreOffice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Base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MariaDB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Microsoft SQL Server etc.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9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3399"/>
                </a:solidFill>
              </a:rPr>
              <a:t>Limitations of file system</a:t>
            </a:r>
            <a:endParaRPr lang="en-IN" b="1" dirty="0">
              <a:solidFill>
                <a:srgbClr val="0033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redundancy and inconsistency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Multiple file formats, duplication of information in different files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Difficulty in accessing data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Need to write a new program to carry out each new task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isolation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— multiple files and formats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Integrity problems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Integrity constraints  (e.g. account balance &gt; 0) become part of program code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Hard to add new constraints or change existing ones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20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3399"/>
                </a:solidFill>
              </a:rPr>
              <a:t>Limitations of file </a:t>
            </a:r>
            <a:r>
              <a:rPr lang="en-US" b="1" dirty="0" smtClean="0">
                <a:solidFill>
                  <a:srgbClr val="003399"/>
                </a:solidFill>
              </a:rPr>
              <a:t>system….</a:t>
            </a:r>
            <a:endParaRPr lang="en-IN" b="1" dirty="0">
              <a:solidFill>
                <a:srgbClr val="0033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Atomicity of updates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Failures may leave database in an inconsistent state with partial updates carried out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E.g. transfer of funds from one account to another should either complete or not happen at all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Concurrent access by multiple users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Concurrent accessed needed for performance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Uncontrolled concurrent accesses can lead to inconsistencies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E.g. two people reading a balance and updating it at the same time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Security problems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86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DBMS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9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Self-Describing Nature of a Database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Insulation between Programs and Data,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and Data Abstraction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 of Multiple Views of the Data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Sharing of Data and Multiuser Transaction Processing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security and removes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redundancy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follows the ACID concept ( Atomicity, Consistency,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Isolation, and Durability).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DBMS supports multi-user environment that allows users to access and manipulate data in parallel.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78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DBMS vs. Flat </a:t>
            </a:r>
            <a:r>
              <a:rPr lang="en-IN" b="1" dirty="0" smtClean="0">
                <a:solidFill>
                  <a:srgbClr val="FF0000"/>
                </a:solidFill>
              </a:rPr>
              <a:t>File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91540224"/>
              </p:ext>
            </p:extLst>
          </p:nvPr>
        </p:nvGraphicFramePr>
        <p:xfrm>
          <a:off x="914400" y="1447800"/>
          <a:ext cx="7772400" cy="3749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DBMS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File Management System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Multi-user access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It does not support multi-user access 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Design to fulfill the need for small and large businesses 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It is only limited to smaller DBMS system. 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Remove redundancy and Integrity 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Redundancy and Integrity issues 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Expensive. But in the long term Total Cost of Ownership is cheap 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It's cheaper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Easy to implement complicated transactions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Times New Roman" pitchFamily="18" charset="0"/>
                          <a:cs typeface="Times New Roman" pitchFamily="18" charset="0"/>
                        </a:rPr>
                        <a:t>No support for complicated transactions</a:t>
                      </a:r>
                      <a:endParaRPr lang="en-IN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2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Actors on the Scene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960108460"/>
              </p:ext>
            </p:extLst>
          </p:nvPr>
        </p:nvGraphicFramePr>
        <p:xfrm>
          <a:off x="914400" y="1447800"/>
          <a:ext cx="7772400" cy="48514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297560"/>
                <a:gridCol w="4474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User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Task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Database Administrator (DBA)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Database Admin is responsible for managing the entire DBMS system. 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Database Designer 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The database designer is responsible for defining the detailed database design, including tables, indexes, views, constraints, triggers, stored procedures, and other database-specific constructs needed to store, retrieve, and delete persistent objects.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Application Programmer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The Application programmers write programs in various programming languages to interact with databases. 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End User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The end users are the people who interact with the database management system. They conduct various operations on database like retrieving, updating, deleting, etc. 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4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Users in a DBMS environment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78080" cy="5005536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End users can—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Casual end users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Occasionally access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database.</a:t>
            </a:r>
          </a:p>
          <a:p>
            <a:pPr marL="32004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Middle or higher level manager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Naive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Parametric end users:  Most of the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tasks are done by the apps.   </a:t>
            </a:r>
          </a:p>
          <a:p>
            <a:pPr marL="32004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Bank clerk who tell us balance, </a:t>
            </a:r>
          </a:p>
          <a:p>
            <a:pPr marL="32004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   Customer representative  who tell us status of work,</a:t>
            </a:r>
          </a:p>
          <a:p>
            <a:pPr marL="32004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   Reservation clerks, etc..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Sophisticated end user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Engineer, scientists, business analytics, etc. who are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familiar with the DBMS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Standalone user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having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own database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8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72494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Advantages of DBMS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1560" y="1412776"/>
            <a:ext cx="8050088" cy="532859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Controlling Redundancy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Restricting Unauthorized Access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Persistent storage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Providing Storage Structures and Search 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Techniques for Efficient 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>Query Processing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Backup and recovery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Provide Multiple user Interface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Represent Complex relationship among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6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14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712968" cy="457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8.    Enforcing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Integrity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constraints</a:t>
            </a:r>
          </a:p>
          <a:p>
            <a:pPr marL="531813" indent="-531813">
              <a:buAutoNum type="arabicPeriod" startAt="9"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  Permitting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Inferencing and Actions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Using</a:t>
            </a:r>
          </a:p>
          <a:p>
            <a:pPr mar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       Rules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Triggers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10. 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Implications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of Using the Database Approach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Enforcing Standards</a:t>
            </a:r>
          </a:p>
          <a:p>
            <a:pPr lvl="2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Reduced Application Development Time</a:t>
            </a:r>
          </a:p>
          <a:p>
            <a:pPr lvl="2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Flexibility.</a:t>
            </a:r>
          </a:p>
          <a:p>
            <a:pPr lvl="2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Availability of Up-to-Date Information</a:t>
            </a:r>
          </a:p>
          <a:p>
            <a:pPr lvl="2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Economies of Scale.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endParaRPr lang="en-IN" sz="32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Advantages of DBMS…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37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Disadvantages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of DBMS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3568" y="1447800"/>
            <a:ext cx="8003232" cy="507754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Hardware and Software of a DBMS is quite high which increases the budget of your organization.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database management systems are often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systems, so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to use the DBMS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organizations, all data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into a single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can be damaged because of electric failure or database is corrupted on the storage media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the same program at a time by many users sometimes lead to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some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can't perform sophisticated calculations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4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1549</TotalTime>
  <Words>879</Words>
  <Application>Microsoft Office PowerPoint</Application>
  <PresentationFormat>On-screen Show (4:3)</PresentationFormat>
  <Paragraphs>147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Equity</vt:lpstr>
      <vt:lpstr>Database Management System </vt:lpstr>
      <vt:lpstr>Database Management System (DBMS)</vt:lpstr>
      <vt:lpstr>PowerPoint Presentation</vt:lpstr>
      <vt:lpstr>PowerPoint Presentation</vt:lpstr>
      <vt:lpstr>Application of DBMS</vt:lpstr>
      <vt:lpstr>Popular DBMS Software</vt:lpstr>
      <vt:lpstr>Limitations of file system</vt:lpstr>
      <vt:lpstr>Limitations of file system….</vt:lpstr>
      <vt:lpstr>Characteristics of DBMS</vt:lpstr>
      <vt:lpstr>DBMS vs. Flat File</vt:lpstr>
      <vt:lpstr>Actors on the Scene</vt:lpstr>
      <vt:lpstr>Users in a DBMS environment </vt:lpstr>
      <vt:lpstr>Advantages of DBMS</vt:lpstr>
      <vt:lpstr>Advantages of DBMS…</vt:lpstr>
      <vt:lpstr>Disadvantages of DBMS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HP</cp:lastModifiedBy>
  <cp:revision>45</cp:revision>
  <dcterms:created xsi:type="dcterms:W3CDTF">2019-05-30T15:49:42Z</dcterms:created>
  <dcterms:modified xsi:type="dcterms:W3CDTF">2024-07-19T02:27:38Z</dcterms:modified>
</cp:coreProperties>
</file>