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  <p:sldMasterId id="2147483768" r:id="rId2"/>
  </p:sldMasterIdLst>
  <p:notesMasterIdLst>
    <p:notesMasterId r:id="rId62"/>
  </p:notesMasterIdLst>
  <p:sldIdLst>
    <p:sldId id="256" r:id="rId3"/>
    <p:sldId id="329" r:id="rId4"/>
    <p:sldId id="319" r:id="rId5"/>
    <p:sldId id="257" r:id="rId6"/>
    <p:sldId id="258" r:id="rId7"/>
    <p:sldId id="269" r:id="rId8"/>
    <p:sldId id="301" r:id="rId9"/>
    <p:sldId id="271" r:id="rId10"/>
    <p:sldId id="304" r:id="rId11"/>
    <p:sldId id="320" r:id="rId12"/>
    <p:sldId id="321" r:id="rId13"/>
    <p:sldId id="322" r:id="rId14"/>
    <p:sldId id="283" r:id="rId15"/>
    <p:sldId id="284" r:id="rId16"/>
    <p:sldId id="285" r:id="rId17"/>
    <p:sldId id="326" r:id="rId18"/>
    <p:sldId id="327" r:id="rId19"/>
    <p:sldId id="273" r:id="rId20"/>
    <p:sldId id="323" r:id="rId21"/>
    <p:sldId id="306" r:id="rId22"/>
    <p:sldId id="324" r:id="rId23"/>
    <p:sldId id="274" r:id="rId24"/>
    <p:sldId id="276" r:id="rId25"/>
    <p:sldId id="275" r:id="rId26"/>
    <p:sldId id="277" r:id="rId27"/>
    <p:sldId id="286" r:id="rId28"/>
    <p:sldId id="278" r:id="rId29"/>
    <p:sldId id="287" r:id="rId30"/>
    <p:sldId id="307" r:id="rId31"/>
    <p:sldId id="325" r:id="rId32"/>
    <p:sldId id="309" r:id="rId33"/>
    <p:sldId id="308" r:id="rId34"/>
    <p:sldId id="279" r:id="rId35"/>
    <p:sldId id="328" r:id="rId36"/>
    <p:sldId id="310" r:id="rId37"/>
    <p:sldId id="311" r:id="rId38"/>
    <p:sldId id="312" r:id="rId39"/>
    <p:sldId id="313" r:id="rId40"/>
    <p:sldId id="314" r:id="rId41"/>
    <p:sldId id="281" r:id="rId42"/>
    <p:sldId id="332" r:id="rId43"/>
    <p:sldId id="282" r:id="rId44"/>
    <p:sldId id="331" r:id="rId45"/>
    <p:sldId id="333" r:id="rId46"/>
    <p:sldId id="288" r:id="rId47"/>
    <p:sldId id="289" r:id="rId48"/>
    <p:sldId id="290" r:id="rId49"/>
    <p:sldId id="291" r:id="rId50"/>
    <p:sldId id="330" r:id="rId51"/>
    <p:sldId id="292" r:id="rId52"/>
    <p:sldId id="293" r:id="rId53"/>
    <p:sldId id="294" r:id="rId54"/>
    <p:sldId id="295" r:id="rId55"/>
    <p:sldId id="296" r:id="rId56"/>
    <p:sldId id="315" r:id="rId57"/>
    <p:sldId id="316" r:id="rId58"/>
    <p:sldId id="317" r:id="rId59"/>
    <p:sldId id="318" r:id="rId60"/>
    <p:sldId id="299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1637" autoAdjust="0"/>
  </p:normalViewPr>
  <p:slideViewPr>
    <p:cSldViewPr>
      <p:cViewPr varScale="1">
        <p:scale>
          <a:sx n="63" d="100"/>
          <a:sy n="63" d="100"/>
        </p:scale>
        <p:origin x="-151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7238B-4390-4646-8EB4-4968ED26515B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FB1CC-AE27-4B23-824E-BA8B57FD6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5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B2D1F-ED13-441D-8E1E-4F813734ED56}" type="slidenum">
              <a:rPr lang="en-GB" smtClean="0">
                <a:solidFill>
                  <a:prstClr val="black"/>
                </a:solidFill>
              </a:rPr>
              <a:pPr/>
              <a:t>13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683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Internal level</a:t>
            </a:r>
            <a:r>
              <a:rPr lang="en-US" dirty="0" smtClean="0"/>
              <a:t>:</a:t>
            </a:r>
            <a:r>
              <a:rPr lang="en-US" baseline="0" dirty="0" smtClean="0"/>
              <a:t> it describe the physical structure of the database. It uses the physical data model and describes the complete details of data storage and access path for the database. </a:t>
            </a:r>
          </a:p>
          <a:p>
            <a:r>
              <a:rPr lang="en-US" b="1" baseline="0" dirty="0" smtClean="0"/>
              <a:t>Conceptual schema</a:t>
            </a:r>
            <a:r>
              <a:rPr lang="en-US" baseline="0" dirty="0" smtClean="0"/>
              <a:t>: 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conceptual schema hides the details of physical storage structures and concentrates on describing entities, data types, relationships, user operations, and constraints. Usually, a representational data model is used to describe the conceptual schema when a database system is implemented.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1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 view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external schema describes the part of the database that a particular user group is interested in and hides the rest of the database from that user group. As in the previous level, each external schema is typically implemented using a representational data model, possibly based on an external</a:t>
            </a:r>
            <a:b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 design in a high-level data model.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BFB1CC-AE27-4B23-824E-BA8B57FD6C58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807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B2D1F-ED13-441D-8E1E-4F813734ED56}" type="slidenum">
              <a:rPr lang="en-GB" smtClean="0">
                <a:solidFill>
                  <a:prstClr val="black"/>
                </a:solidFill>
              </a:rPr>
              <a:pPr/>
              <a:t>40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355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7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E73C21-3221-42AA-9947-32344A79EE93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5685703-99D3-441A-9664-068B7D55E7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3" y="1449304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3" y="1396721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3" y="2976650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2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2352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291676-2A35-4A02-A28D-E9B85054F09D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A66E7-5226-46E2-8AA4-DD87CDDF6E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5732408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7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1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3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CAA5DD-921D-4E01-89AF-73328663E1B7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69414" y="2376831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8" y="2341477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8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22DB203-53BD-4A66-A131-8E122F28CD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53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A3D5A7-DA49-4D94-8750-E36493AB63D4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7E9E24-98C8-4790-8059-B08408F674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137949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1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693E53-2E41-46D2-9DFF-3EE0EA911758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7118FA-6758-4B04-87B1-7524836E87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13207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FC348B-4320-4D57-B1F4-487C6F4E3C26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50985D-E871-467B-8FA9-912AD25698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950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364822-BAB6-4A6E-A77B-68FCD57D007F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C44F47-C26D-4DF8-B735-0BC2D534B2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8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1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19FD52-ACD5-4FD0-8E69-9DCFF3B8B472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FA2E58-85B0-4ED5-854B-A26375D3D9A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155306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1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9C3B8B-3206-4156-98C4-2E7601CFF5B5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09628EDF-0D7D-4C28-A496-6734373B60A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10" y="4650475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12" y="4773226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10" y="66676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798983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3D39A6-D817-4CE5-B3AA-3A5CEC8AC529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4CDFDF-C689-41DC-B757-DBD4A9A79F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968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088BC4-6E1E-436D-8984-367430BE26D0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8066D5-A885-442B-8C08-C8D6964B27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46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B7DF1-CDD9-428A-9EA2-92D4942B4CD5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613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CB766-A4D1-4CF7-B25A-DBFDB0F66B81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942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0BFA3-EDC9-4120-91E0-E72EA6C515F3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239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E515F-00FA-4039-A059-320567725D76}" type="datetime1">
              <a:rPr lang="en-IN" smtClean="0"/>
              <a:t>23-07-2024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125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23FA7-C975-4F39-8BA3-4890F1A13A20}" type="datetime1">
              <a:rPr lang="en-IN" smtClean="0"/>
              <a:t>23-07-2024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035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76E1-E055-4A4D-B28C-8D0DB24A5476}" type="datetime1">
              <a:rPr lang="en-IN" smtClean="0"/>
              <a:t>23-07-2024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3799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55FF-C845-4774-9230-E04EBCA2AFA2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7001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A9446-09F8-4037-BBEA-48F02330C2B3}" type="datetime1">
              <a:rPr lang="en-IN" smtClean="0"/>
              <a:t>23-07-2024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345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D4C7B-B5E7-4BA9-BEBC-919C8EB7FA7C}" type="datetime1">
              <a:rPr lang="en-IN" smtClean="0"/>
              <a:t>23-07-2024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422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DBE18-5904-4E08-96E1-CE6D1056F5F3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7832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552F5-97D5-4687-99C6-5838F4EFA637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43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200" i="1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49"/>
            <a:ext cx="2476500" cy="476251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428D86-2C17-4D2D-A6D1-0D7A73884D76}" type="datetime1">
              <a:rPr lang="en-IN" i="1" smtClean="0">
                <a:solidFill>
                  <a:srgbClr val="696464"/>
                </a:solidFill>
                <a:latin typeface="Verdana" pitchFamily="34" charset="0"/>
              </a:rPr>
              <a:t>23-07-2024</a:t>
            </a:fld>
            <a:endParaRPr lang="en-US" i="1">
              <a:solidFill>
                <a:srgbClr val="696464"/>
              </a:solidFill>
              <a:latin typeface="Verdana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i="1">
              <a:solidFill>
                <a:srgbClr val="696464"/>
              </a:solidFill>
              <a:latin typeface="Verdana" pitchFamily="34" charset="0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D91CF34-CA3F-46F1-ACB2-7073B78A2968}" type="slidenum">
              <a:rPr lang="en-US" i="1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381023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3" grpId="0" build="p"/>
    </p:bldLst>
  </p:timing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08436-2E0D-48C8-80EE-93ED2FDD1712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16119-D660-40DF-B339-D75B54681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86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Database Management System</a:t>
            </a:r>
            <a:br>
              <a:rPr lang="en-US" dirty="0" smtClean="0"/>
            </a:br>
            <a:r>
              <a:rPr lang="en-US" dirty="0" smtClean="0"/>
              <a:t>Data Models </a:t>
            </a:r>
            <a:endParaRPr lang="en-IN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31640" y="3861048"/>
            <a:ext cx="6400800" cy="16002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ctr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latin typeface="Arial Narrow" panose="020B0606020202030204" pitchFamily="34" charset="0"/>
              </a:rPr>
              <a:t>Dr. T. JOSHVA DEVADAS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Associate Professor Senior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SJT Annex- 103 F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Joshvadevadas.t@vit.ac.in</a:t>
            </a:r>
            <a:endParaRPr lang="en-IN" b="1" dirty="0">
              <a:latin typeface="Arial Narrow" panose="020B0606020202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16119-D660-40DF-B339-D75B54681409}" type="slidenum">
              <a:rPr lang="en-IN" smtClean="0"/>
              <a:t>1</a:t>
            </a:fld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B859-E23E-4FBE-B112-0E171D51BC6C}" type="datetime1">
              <a:rPr lang="en-IN" smtClean="0"/>
              <a:t>23-07-2024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29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2564904"/>
            <a:ext cx="7772400" cy="114300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FF"/>
                </a:solidFill>
                <a:latin typeface="Arial Black" panose="020B0A04020102020204" pitchFamily="34" charset="0"/>
              </a:rPr>
              <a:t>Data Models Outline</a:t>
            </a:r>
            <a:endParaRPr lang="en-IN" b="1" dirty="0">
              <a:solidFill>
                <a:srgbClr val="FF00FF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52229-75A0-4320-A618-BD9C3467E85D}" type="datetime1">
              <a:rPr lang="en-IN" smtClean="0"/>
              <a:t>23-07-2024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98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548680"/>
            <a:ext cx="7772400" cy="547112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FF00FF"/>
                </a:solidFill>
                <a:latin typeface="Arial Black" panose="020B0A04020102020204" pitchFamily="34" charset="0"/>
              </a:rPr>
              <a:t>Data Models, Schemas, and Instances</a:t>
            </a:r>
          </a:p>
          <a:p>
            <a:r>
              <a:rPr lang="en-US" b="1" dirty="0">
                <a:solidFill>
                  <a:srgbClr val="FF00FF"/>
                </a:solidFill>
                <a:latin typeface="Arial Black" panose="020B0A04020102020204" pitchFamily="34" charset="0"/>
              </a:rPr>
              <a:t>Three Schema </a:t>
            </a:r>
            <a:r>
              <a:rPr lang="en-US" b="1" dirty="0" smtClean="0">
                <a:solidFill>
                  <a:srgbClr val="FF00FF"/>
                </a:solidFill>
                <a:latin typeface="Arial Black" panose="020B0A04020102020204" pitchFamily="34" charset="0"/>
              </a:rPr>
              <a:t>Architecture</a:t>
            </a:r>
          </a:p>
          <a:p>
            <a:r>
              <a:rPr lang="en-US" b="1" dirty="0">
                <a:solidFill>
                  <a:srgbClr val="FF00FF"/>
                </a:solidFill>
                <a:latin typeface="Arial Black" panose="020B0A04020102020204" pitchFamily="34" charset="0"/>
              </a:rPr>
              <a:t>Data independence </a:t>
            </a:r>
            <a:r>
              <a:rPr lang="en-US" b="1" dirty="0" smtClean="0">
                <a:solidFill>
                  <a:srgbClr val="FF00FF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n-US" sz="2800" dirty="0">
                <a:solidFill>
                  <a:srgbClr val="FF00FF"/>
                </a:solidFill>
                <a:latin typeface="Arial Black" panose="020B0A04020102020204" pitchFamily="34" charset="0"/>
              </a:rPr>
              <a:t>Database System </a:t>
            </a:r>
            <a:r>
              <a:rPr lang="en-US" sz="2800" dirty="0" smtClean="0">
                <a:solidFill>
                  <a:srgbClr val="FF00FF"/>
                </a:solidFill>
                <a:latin typeface="Arial Black" panose="020B0A04020102020204" pitchFamily="34" charset="0"/>
              </a:rPr>
              <a:t>Environment</a:t>
            </a:r>
          </a:p>
          <a:p>
            <a:r>
              <a:rPr lang="en-US" sz="2800" b="1" dirty="0">
                <a:solidFill>
                  <a:srgbClr val="FF00FF"/>
                </a:solidFill>
                <a:latin typeface="Arial Black" panose="020B0A04020102020204" pitchFamily="34" charset="0"/>
              </a:rPr>
              <a:t>Component modules of a DBMS and their </a:t>
            </a:r>
            <a:r>
              <a:rPr lang="en-US" sz="2800" b="1" dirty="0" smtClean="0">
                <a:solidFill>
                  <a:srgbClr val="FF00FF"/>
                </a:solidFill>
                <a:latin typeface="Arial Black" panose="020B0A04020102020204" pitchFamily="34" charset="0"/>
              </a:rPr>
              <a:t>interactions</a:t>
            </a:r>
          </a:p>
          <a:p>
            <a:r>
              <a:rPr lang="en-US" sz="2800" b="1" dirty="0">
                <a:solidFill>
                  <a:srgbClr val="FF00FF"/>
                </a:solidFill>
                <a:latin typeface="Arial Black" panose="020B0A04020102020204" pitchFamily="34" charset="0"/>
              </a:rPr>
              <a:t>DBMS </a:t>
            </a:r>
            <a:r>
              <a:rPr lang="en-US" sz="2800" b="1" dirty="0" smtClean="0">
                <a:solidFill>
                  <a:srgbClr val="FF00FF"/>
                </a:solidFill>
                <a:latin typeface="Arial Black" panose="020B0A04020102020204" pitchFamily="34" charset="0"/>
              </a:rPr>
              <a:t>Architecture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2-tier  and 3-tier architecture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Centralized and </a:t>
            </a:r>
            <a:b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Client-Server DBMS Architectures 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2-Tier and 3-Tier Client-Server Architecture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A Physical Centralized Architecture</a:t>
            </a:r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r>
              <a:rPr lang="en-US" sz="2800" b="1" dirty="0" smtClean="0">
                <a:solidFill>
                  <a:srgbClr val="FF00FF"/>
                </a:solidFill>
                <a:latin typeface="Arial Black" panose="020B0A04020102020204" pitchFamily="34" charset="0"/>
              </a:rPr>
              <a:t>Classification </a:t>
            </a:r>
            <a:r>
              <a:rPr lang="en-US" sz="2800" b="1" dirty="0">
                <a:solidFill>
                  <a:srgbClr val="FF00FF"/>
                </a:solidFill>
                <a:latin typeface="Arial Black" panose="020B0A04020102020204" pitchFamily="34" charset="0"/>
              </a:rPr>
              <a:t>of Database Management Systems</a:t>
            </a:r>
          </a:p>
          <a:p>
            <a:endParaRPr lang="en-US" sz="2800" b="1" dirty="0" smtClean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endParaRPr lang="en-IN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947DB-B550-42E7-9B36-F3E554991B31}" type="datetime1">
              <a:rPr lang="en-IN" smtClean="0"/>
              <a:t>23-07-2024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31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rgbClr val="FF0000"/>
                </a:solidFill>
                <a:effectLst/>
                <a:latin typeface="Arial Black" panose="020B0A04020102020204" pitchFamily="34" charset="0"/>
                <a:ea typeface="ＭＳ Ｐゴシック" pitchFamily="34" charset="-128"/>
              </a:rPr>
              <a:t>Data Models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en-US" sz="27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A data model is the collection of concepts that can be used to describe the structure of the database. </a:t>
            </a:r>
          </a:p>
          <a:p>
            <a:r>
              <a:rPr lang="en-US" sz="27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It is a pictorial representation of Tables.</a:t>
            </a:r>
          </a:p>
          <a:p>
            <a:r>
              <a:rPr lang="en-US" sz="2700" dirty="0" smtClean="0"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Represents relationship between Tables.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data model is defined as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conceptual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physical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logical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levels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also helps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define the relational tables, primary and foreign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keys.</a:t>
            </a:r>
          </a:p>
          <a:p>
            <a:pPr marL="0" indent="0">
              <a:buNone/>
            </a:pPr>
            <a:endParaRPr lang="en-US" sz="2800" dirty="0" smtClean="0"/>
          </a:p>
          <a:p>
            <a:endParaRPr lang="en-US" sz="2700" dirty="0" smtClean="0"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5B9A-AABA-42DC-88B8-A56F32E80E59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02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Categories of Data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M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odel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628802"/>
            <a:ext cx="8291264" cy="489654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Conceptual / High Level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the system contains. </a:t>
            </a:r>
            <a:r>
              <a:rPr lang="en-US" dirty="0"/>
              <a:t>Also called </a:t>
            </a:r>
            <a:r>
              <a:rPr lang="en-US" b="1" i="1" dirty="0">
                <a:solidFill>
                  <a:srgbClr val="FF0000"/>
                </a:solidFill>
              </a:rPr>
              <a:t>entity-based</a:t>
            </a:r>
            <a:r>
              <a:rPr lang="en-US" i="1" dirty="0"/>
              <a:t> </a:t>
            </a:r>
            <a:r>
              <a:rPr lang="en-US" dirty="0"/>
              <a:t>or</a:t>
            </a:r>
            <a:r>
              <a:rPr lang="en-US" i="1" dirty="0"/>
              <a:t> </a:t>
            </a:r>
            <a:r>
              <a:rPr lang="en-US" b="1" i="1" dirty="0">
                <a:solidFill>
                  <a:srgbClr val="FF0000"/>
                </a:solidFill>
              </a:rPr>
              <a:t>object-based</a:t>
            </a:r>
            <a:r>
              <a:rPr lang="en-US" b="1" dirty="0"/>
              <a:t> </a:t>
            </a:r>
            <a:r>
              <a:rPr lang="en-US" dirty="0"/>
              <a:t>data models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Physical / Low Level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How the system will be implemented on DBMS. </a:t>
            </a:r>
          </a:p>
          <a:p>
            <a:pPr lvl="1"/>
            <a:r>
              <a:rPr lang="en-US" dirty="0"/>
              <a:t>Provide concepts that describe details of how data is stored in the computer. These are usually specified in an ad-hoc manner through DBMS design and administration manuals</a:t>
            </a:r>
            <a:r>
              <a:rPr lang="en-US" dirty="0" smtClean="0"/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Representational or Implementation  </a:t>
            </a:r>
          </a:p>
          <a:p>
            <a:pPr lvl="1"/>
            <a:r>
              <a:rPr lang="en-US" dirty="0"/>
              <a:t>e.g. relational data models used in many commercial systems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Logical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How the system should be implemented.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/>
          </a:p>
          <a:p>
            <a:pPr marL="320040" lvl="1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AAF-00C1-4B18-B1CD-6EADEA1971C3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8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Conceptual Model 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conceptual data model identifies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highest-level relationships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between the different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entities.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basic three element of this model is 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Entity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Attribute </a:t>
            </a: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Relationship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marL="320040" lvl="1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78221-23CE-4156-9E14-85BEF090A55E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8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onceptual Data Mod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8352928" cy="6048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F01D8-5969-46F4-9F02-17E530B240CB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71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Arial Black" panose="020B0A04020102020204" pitchFamily="34" charset="0"/>
              </a:rPr>
              <a:t>Physical Data </a:t>
            </a:r>
            <a:r>
              <a:rPr lang="en-IN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Model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2276872"/>
            <a:ext cx="8075240" cy="266429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represents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how the model will be built in the database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shows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all table structures, including column name, column data type, column constraints, primary key, foreign key, and relationships between tables.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9141-195C-4363-A8B1-33415E9A5362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24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404664"/>
            <a:ext cx="7772400" cy="561513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8568952" cy="648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F2329-73DE-45FF-9097-F499977655FD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95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850105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Logical Data Model</a:t>
            </a:r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68760"/>
            <a:ext cx="8147248" cy="5077544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It defines </a:t>
            </a:r>
            <a:r>
              <a:rPr lang="en-US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structure of the data </a:t>
            </a:r>
            <a:r>
              <a:rPr 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elements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set the relationships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them.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describes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data in as much detail as possible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without regard to how they will be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physically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implemented in the database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Features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a logical data model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include: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Includes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all entities and relationships among them.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attributes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 each entity are specified.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primary key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 each entity is specified.</a:t>
            </a:r>
          </a:p>
          <a:p>
            <a:pPr lvl="1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Foreign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keys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(keys identifying the relationship between different entities) are specified.</a:t>
            </a:r>
          </a:p>
          <a:p>
            <a:pPr lvl="1"/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Normalization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occurs at this level.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74937-770E-4AF1-A03E-86B9838ECCD0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35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274639"/>
            <a:ext cx="7859216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Steps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 designing the logical data model</a:t>
            </a:r>
            <a:endParaRPr lang="en-IN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Specify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primary keys for all entities.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relationships between different entities.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all attributes for each entity.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Resolve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many-to-many relationships.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Normalization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1B908-D3DB-4252-843D-7CA049F0B950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41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8964488" cy="6597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D96FB-2CCA-4D7A-96C5-C559C5DA1C4B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20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8C72A9-862C-47D7-B27A-1AAC1E41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7480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Data Model</a:t>
            </a:r>
            <a:endParaRPr lang="en-GB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F6F765F-E4E3-45F0-AE54-D59B1F21A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13188"/>
            <a:ext cx="7886700" cy="5268140"/>
          </a:xfrm>
        </p:spPr>
        <p:txBody>
          <a:bodyPr>
            <a:normAutofit fontScale="85000" lnSpcReduction="20000"/>
          </a:bodyPr>
          <a:lstStyle/>
          <a:p>
            <a:r>
              <a:rPr lang="en-US" sz="3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Model</a:t>
            </a: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tree like structure.</a:t>
            </a: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child has only one parent.</a:t>
            </a: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to many relationship.</a:t>
            </a:r>
          </a:p>
          <a:p>
            <a:r>
              <a:rPr lang="en-US" sz="3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Model </a:t>
            </a: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graph like structure.</a:t>
            </a: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child may have one or more parents.</a:t>
            </a: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many to many data relations.</a:t>
            </a:r>
          </a:p>
          <a:p>
            <a:r>
              <a:rPr lang="en-US" sz="3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Relationship Model</a:t>
            </a:r>
          </a:p>
          <a:p>
            <a:r>
              <a:rPr lang="en-US" sz="3000" b="1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</a:t>
            </a:r>
            <a:r>
              <a:rPr lang="en-US" sz="3000" b="1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  <a:p>
            <a:r>
              <a:rPr lang="en-US" sz="3000" b="1" dirty="0">
                <a:solidFill>
                  <a:srgbClr val="FF00FF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Object-based data models </a:t>
            </a:r>
            <a:r>
              <a:rPr lang="en-US" sz="30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(Object-oriented and Object-relational)</a:t>
            </a:r>
          </a:p>
          <a:p>
            <a:r>
              <a:rPr lang="en-US" sz="3000" b="1" dirty="0" smtClean="0">
                <a:solidFill>
                  <a:srgbClr val="FF00FF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Semi-structured </a:t>
            </a:r>
            <a:r>
              <a:rPr lang="en-US" sz="3000" b="1" dirty="0">
                <a:solidFill>
                  <a:srgbClr val="FF00FF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data model  </a:t>
            </a:r>
            <a:r>
              <a:rPr lang="en-US" sz="300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(XML</a:t>
            </a:r>
            <a:r>
              <a:rPr lang="en-US" sz="3000" dirty="0" smtClean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)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ADB8-9B42-4DC7-B60D-9ED2F1BA5CB4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86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8501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Hierarchical </a:t>
            </a:r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Model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8" y="1196752"/>
            <a:ext cx="8001768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58AC-E16A-4642-9C63-AC2706ECDF99}" type="datetime1">
              <a:rPr lang="en-IN" smtClean="0"/>
              <a:t>23-07-2024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11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85010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Network Model 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525" y="1268760"/>
            <a:ext cx="7577647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EA0BF-D176-4CAD-9702-44DB878FBA10}" type="datetime1">
              <a:rPr lang="en-IN" smtClean="0"/>
              <a:t>23-07-2024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96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Relational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Model 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1628800"/>
            <a:ext cx="8474705" cy="475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3D6E-8BC9-4D28-A572-603333469434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14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778097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Relational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Model 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7362" y="2001044"/>
            <a:ext cx="562927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5DA58-9EE1-41A2-B47E-6081EB42A529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73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050" y="116632"/>
            <a:ext cx="7772400" cy="850105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Schema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8" y="1052736"/>
            <a:ext cx="7772400" cy="4572000"/>
          </a:xfrm>
        </p:spPr>
        <p:txBody>
          <a:bodyPr/>
          <a:lstStyle/>
          <a:p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logical structure of the database </a:t>
            </a:r>
          </a:p>
          <a:p>
            <a:pPr lvl="1"/>
            <a:r>
              <a:rPr lang="en-US" altLang="en-US" sz="2600" dirty="0" smtClean="0">
                <a:latin typeface="Times New Roman" pitchFamily="18" charset="0"/>
                <a:cs typeface="Times New Roman" pitchFamily="18" charset="0"/>
              </a:rPr>
              <a:t>Analogous </a:t>
            </a: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to type information of a variable in a program</a:t>
            </a:r>
          </a:p>
          <a:p>
            <a:pPr lvl="1"/>
            <a:r>
              <a:rPr lang="en-US" altLang="en-US" sz="2600" b="1" dirty="0">
                <a:latin typeface="Times New Roman" pitchFamily="18" charset="0"/>
                <a:cs typeface="Times New Roman" pitchFamily="18" charset="0"/>
              </a:rPr>
              <a:t>Physical schema</a:t>
            </a: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: database design at the physical level</a:t>
            </a:r>
          </a:p>
          <a:p>
            <a:pPr lvl="1"/>
            <a:r>
              <a:rPr lang="en-US" altLang="en-US" sz="2600" b="1" dirty="0">
                <a:latin typeface="Times New Roman" pitchFamily="18" charset="0"/>
                <a:cs typeface="Times New Roman" pitchFamily="18" charset="0"/>
              </a:rPr>
              <a:t>Logical schema</a:t>
            </a:r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: database design at the logical </a:t>
            </a:r>
            <a:r>
              <a:rPr lang="en-US" altLang="en-US" sz="2600" dirty="0" smtClean="0">
                <a:latin typeface="Times New Roman" pitchFamily="18" charset="0"/>
                <a:cs typeface="Times New Roman" pitchFamily="18" charset="0"/>
              </a:rPr>
              <a:t>level</a:t>
            </a:r>
          </a:p>
          <a:p>
            <a:pPr marL="320040" lvl="1" indent="0">
              <a:buNone/>
            </a:pPr>
            <a:endParaRPr lang="en-US" altLang="en-US" sz="26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2332-CFCF-4624-AE57-35480EC192A9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85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2656"/>
            <a:ext cx="7996247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D4511-45C2-494C-AC15-8987AFC18014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019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www.tutorialspoint.com/dbms/images/dbms_schema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39546"/>
            <a:ext cx="7344816" cy="5875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D837-12C7-4B42-8A41-4290B55180C2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471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620688"/>
            <a:ext cx="7641990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9AC50-A960-484F-B6D8-AA3902173517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77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2050" y="116632"/>
            <a:ext cx="7772400" cy="850105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Instance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340768"/>
            <a:ext cx="7772400" cy="468052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en-US" sz="2400" dirty="0">
                <a:latin typeface="Times New Roman" pitchFamily="18" charset="0"/>
                <a:cs typeface="Times New Roman" pitchFamily="18" charset="0"/>
              </a:rPr>
              <a:t>actual content of the database at a particular point in time </a:t>
            </a:r>
            <a:endParaRPr lang="en-US" alt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Database State: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Empty State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At the time of defining the database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Initial State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When  database is first time loaded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Current State</a:t>
            </a:r>
          </a:p>
          <a:p>
            <a:pPr lvl="2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Working stage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C6B9C-499A-400E-8FE4-FDEAA13C9C65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6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63408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Three Schema Architecture 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are three basic characteristics of DBMS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Self describing</a:t>
            </a:r>
          </a:p>
          <a:p>
            <a:pPr lvl="1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Insulation of program and data</a:t>
            </a:r>
          </a:p>
          <a:p>
            <a:pPr lvl="1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Support multiple user views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main objective of this architecture to separate the user application from physical database. </a:t>
            </a:r>
          </a:p>
          <a:p>
            <a:pPr marL="571500" indent="-571500">
              <a:lnSpc>
                <a:spcPct val="90000"/>
              </a:lnSpc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Three-schema architecture </a:t>
            </a:r>
          </a:p>
          <a:p>
            <a:pPr>
              <a:lnSpc>
                <a:spcPct val="90000"/>
              </a:lnSpc>
              <a:buClr>
                <a:schemeClr val="tx1"/>
              </a:buCl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incorporates these characteristics into a DB</a:t>
            </a:r>
          </a:p>
          <a:p>
            <a:pPr>
              <a:lnSpc>
                <a:spcPct val="90000"/>
              </a:lnSpc>
              <a:buClr>
                <a:schemeClr val="tx1"/>
              </a:buCl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separates application program from physical database</a:t>
            </a:r>
          </a:p>
          <a:p>
            <a:pPr>
              <a:lnSpc>
                <a:spcPct val="90000"/>
              </a:lnSpc>
              <a:buClr>
                <a:schemeClr val="tx1"/>
              </a:buClr>
              <a:defRPr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provides users with different levels of data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abstraction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00EA-95B3-4283-B7BB-F50644F4BA6E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77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778097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Three Schema Architecture 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12780"/>
            <a:ext cx="7848872" cy="5040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3D5FF-E0AF-4847-BF10-5E61BE11A2DB}" type="datetime1">
              <a:rPr lang="en-IN" smtClean="0"/>
              <a:t>23-07-2024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55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77809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Three Schema Architecture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524" y="980728"/>
            <a:ext cx="8712968" cy="486152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Defines DBMS schemas at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three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levels: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Internal schema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at the internal level to describe physical storage structures and access paths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indexes). </a:t>
            </a:r>
          </a:p>
          <a:p>
            <a:pPr lvl="2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Typically uses 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physical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data model.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Conceptual schema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at the conceptual level to describe the structure and constraints for the whole database for a community of users. </a:t>
            </a:r>
          </a:p>
          <a:p>
            <a:pPr lvl="2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Uses 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conceptual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or an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implementation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data model.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External schemas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at the external level to describe the various user views. </a:t>
            </a:r>
          </a:p>
          <a:p>
            <a:pPr lvl="2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Usually uses the same data model as the conceptual schema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0DC40-2E3F-4C7E-A593-A80E5FE00E98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81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Three Schema Architecture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772816"/>
            <a:ext cx="7772400" cy="486152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Mappings among schema levels are needed to transform requests and data. 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Programs refer to an external schema, and are mapped by the DBMS to the internal schema for execution.</a:t>
            </a:r>
          </a:p>
          <a:p>
            <a:pPr lvl="1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Data extracted from the internal DBMS level is reformatted to match the user’s external view (e.g. formatting the results of an SQL query for display in a Web page)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4D00D-EB9E-4D53-B7F8-EF3F38CBBF67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17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70608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Data independence 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592" y="1196752"/>
            <a:ext cx="7772400" cy="4572000"/>
          </a:xfrm>
        </p:spPr>
        <p:txBody>
          <a:bodyPr>
            <a:noAutofit/>
          </a:bodyPr>
          <a:lstStyle/>
          <a:p>
            <a:r>
              <a:rPr lang="en-US" alt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Logical Data Independence: 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the ability to modify the conceptual schema without having to change external schema.</a:t>
            </a:r>
            <a:endParaRPr lang="en-US" alt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Physical </a:t>
            </a:r>
            <a:r>
              <a:rPr lang="en-US" alt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Independence</a:t>
            </a:r>
            <a:r>
              <a:rPr lang="en-US" alt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– the ability to modify the physical schema without changing the logical schema</a:t>
            </a:r>
          </a:p>
          <a:p>
            <a:pPr lvl="1"/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Applications depend on the logical schema</a:t>
            </a:r>
          </a:p>
          <a:p>
            <a:pPr lvl="1"/>
            <a:r>
              <a:rPr lang="en-US" altLang="en-US" sz="2600" dirty="0">
                <a:latin typeface="Times New Roman" pitchFamily="18" charset="0"/>
                <a:cs typeface="Times New Roman" pitchFamily="18" charset="0"/>
              </a:rPr>
              <a:t>In general, the interfaces between the various levels and components should be well defined so that changes in some parts do not seriously influence others.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B5B6-2FBD-4F1E-8FA5-5DFBEAB069CA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41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Data independence …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When a schema at a lower level is changed, only the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mappings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between this schema and higher-level schemas need to be changed in a DBMS that fully supports data independence.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higher-level schemas themselves are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unchanged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Hence, the application programs need not be changed since they refer to the external schemas.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BAEB9-BBE7-40D7-8F8D-728F4CD44B6F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21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119063"/>
            <a:ext cx="8715375" cy="661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A3210-87FD-431E-8682-90650DC4210D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235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3" y="476672"/>
            <a:ext cx="8305736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0936-6FDC-4C9A-9D6C-8DCCB13031CF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99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Database System Environment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971600" y="1772816"/>
            <a:ext cx="7772400" cy="457200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DBMS software + OS +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	Compiler of programming (host) language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			= Database system environment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46304" y="6210300"/>
            <a:ext cx="457200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83E6E056-6A5F-4DF3-9484-F365B9B616BE}" type="slidenum">
              <a:rPr lang="en-US" i="0" smtClean="0"/>
              <a:pPr/>
              <a:t>31</a:t>
            </a:fld>
            <a:endParaRPr lang="en-US" i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F7106-8B50-45E1-8E36-CB8DB2D52725}" type="datetime1">
              <a:rPr lang="en-IN" smtClean="0"/>
              <a:t>23-07-2024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05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7" y="0"/>
            <a:ext cx="8928991" cy="6669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27DE4-7B85-413C-9643-E2FC9890E49A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58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2996952"/>
            <a:ext cx="7772400" cy="5620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latin typeface="Arial Black" panose="020B0A04020102020204" pitchFamily="34" charset="0"/>
              </a:rPr>
              <a:t>Computational Model of DBMS</a:t>
            </a:r>
            <a:br>
              <a:rPr lang="en-US" b="1" dirty="0" smtClean="0">
                <a:latin typeface="Arial Black" panose="020B0A04020102020204" pitchFamily="34" charset="0"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Component modules of a DBMS and their interactions</a:t>
            </a:r>
            <a:endParaRPr lang="en-IN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2B96B-75E0-4983-8EE7-A62691BAA649}" type="datetime1">
              <a:rPr lang="en-IN" smtClean="0"/>
              <a:t>23-07-2024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65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260648"/>
            <a:ext cx="8139113" cy="6213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A0B55-4A18-4FC9-8A9D-7F68A2FB5DA9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21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85010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Components of DBMS Software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229600" cy="4525963"/>
          </a:xfrm>
        </p:spPr>
        <p:txBody>
          <a:bodyPr>
            <a:normAutofit/>
          </a:bodyPr>
          <a:lstStyle/>
          <a:p>
            <a:pPr marL="480060" indent="-34290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DDL compiler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processes schema definitions &amp; stores descriptions of the schemas (meta-data) in the DBMS catalog. </a:t>
            </a:r>
          </a:p>
          <a:p>
            <a:pPr marL="480060" indent="-34290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Query compiler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parses a query, validates its correct syntax, name of files, data elements &amp; converts it into internal form.</a:t>
            </a:r>
          </a:p>
          <a:p>
            <a:pPr marL="480060" indent="-34290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Query optimizer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removes redundancy from query, rearranges operations, generates execution plan, selects the optimal execution plan, generates executable code &amp; calls runtime database processor.</a:t>
            </a:r>
          </a:p>
          <a:p>
            <a:pPr marL="137160" indent="0" algn="just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None/>
              <a:defRPr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876256" y="6165304"/>
            <a:ext cx="648072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290A81C6-0820-488A-83F7-229074E56888}" type="slidenum">
              <a:rPr lang="en-US" i="0" smtClean="0"/>
              <a:pPr/>
              <a:t>35</a:t>
            </a:fld>
            <a:endParaRPr lang="en-US" i="0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A4872-0CFD-4981-9E8D-87E5A0EFE391}" type="datetime1">
              <a:rPr lang="en-IN" smtClean="0"/>
              <a:t>23-07-2024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33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85010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Components of DBMS Software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7772400" cy="4933528"/>
          </a:xfrm>
        </p:spPr>
        <p:txBody>
          <a:bodyPr>
            <a:normAutofit/>
          </a:bodyPr>
          <a:lstStyle/>
          <a:p>
            <a:pPr marL="480060" indent="-3429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Pre-compiler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extracts embedded DML statements from application program.</a:t>
            </a:r>
          </a:p>
          <a:p>
            <a:pPr marL="480060" indent="-3429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DML compiler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compiles DML statement and converts it into object code.</a:t>
            </a:r>
          </a:p>
          <a:p>
            <a:pPr marL="480060" indent="-3429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Runtime database processor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executes 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         (a) privileged commands 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         (b) executable query plan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         (c) canned transactions with runtime parameters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         (d) backup, recovery &amp; concurrency control  </a:t>
            </a:r>
          </a:p>
          <a:p>
            <a:pPr marL="480060" indent="-342900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Stored data manager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controls access to data &amp; meta-data.</a:t>
            </a:r>
          </a:p>
          <a:p>
            <a:pPr marL="13716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None/>
              <a:defRPr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00D8-B530-4963-B85D-2AD671C4FF3C}" type="datetime1">
              <a:rPr lang="en-IN" smtClean="0"/>
              <a:t>23-07-2024</a:t>
            </a:fld>
            <a:endParaRPr lang="en-IN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8244408" y="6165304"/>
            <a:ext cx="609272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265193CF-777C-4008-A07B-32DD1AEC7BD7}" type="slidenum">
              <a:rPr lang="en-US" i="0" smtClean="0"/>
              <a:pPr/>
              <a:t>36</a:t>
            </a:fld>
            <a:endParaRPr lang="en-US" i="0" dirty="0" smtClean="0"/>
          </a:p>
        </p:txBody>
      </p:sp>
    </p:spTree>
    <p:extLst>
      <p:ext uri="{BB962C8B-B14F-4D97-AF65-F5344CB8AC3E}">
        <p14:creationId xmlns:p14="http://schemas.microsoft.com/office/powerpoint/2010/main" val="1698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914400" y="274639"/>
            <a:ext cx="7772400" cy="634081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000" b="1" dirty="0" smtClean="0">
                <a:solidFill>
                  <a:srgbClr val="FF0000"/>
                </a:solidFill>
                <a:latin typeface="Arial Black" panose="020B0A04020102020204" pitchFamily="34" charset="0"/>
                <a:cs typeface="Times New Roman" pitchFamily="18" charset="0"/>
              </a:rPr>
              <a:t>Database system utilities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899592" y="980728"/>
            <a:ext cx="7772400" cy="5255096"/>
          </a:xfrm>
        </p:spPr>
        <p:txBody>
          <a:bodyPr>
            <a:normAutofit/>
          </a:bodyPr>
          <a:lstStyle/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Tx/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Most DBMS also has database utilities (apart from modules).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Tx/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Utilities facilitate DBA to manage database system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Tx/>
              <a:buChar char="•"/>
              <a:defRPr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Loading 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Tx/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to load existing data files into the database. 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Tx/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Conversion tool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transfer data from one DBMS into another. 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Char char="§"/>
              <a:defRPr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Backup 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to create a backup copy of the database. </a:t>
            </a:r>
          </a:p>
          <a:p>
            <a:pPr marL="548640" indent="-411480" algn="just" eaLnBrk="1" fontAlgn="auto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(Dump the entire database into tape or other mass storage medium, or incremental backup)</a:t>
            </a:r>
          </a:p>
          <a:p>
            <a:pPr marL="548640" indent="-411480" algn="just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8172400" y="6237312"/>
            <a:ext cx="603504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3F6AA31F-39D7-438D-9499-53D567642888}" type="slidenum">
              <a:rPr lang="en-US" i="0" smtClean="0"/>
              <a:pPr/>
              <a:t>37</a:t>
            </a:fld>
            <a:endParaRPr lang="en-US" i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9A2A1-6E6D-43B5-9027-D05FE9DECB5B}" type="datetime1">
              <a:rPr lang="en-IN" smtClean="0"/>
              <a:t>23-07-2024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68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899592" y="476672"/>
            <a:ext cx="7772400" cy="65293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>
                <a:solidFill>
                  <a:srgbClr val="FF0000"/>
                </a:solidFill>
                <a:latin typeface="Arial Black" panose="020B0A04020102020204" pitchFamily="34" charset="0"/>
                <a:cs typeface="Times New Roman" pitchFamily="18" charset="0"/>
              </a:rPr>
              <a:t>Database system utilities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8006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Database storage reorganization  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to improve performance of a database by reorganizing database files in different organization and creating indexes.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marL="48006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Performance monitoring tool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Monitors usage of the database and provides statistics to the DBA. 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	The DBA uses these statistics to decide whether to reorganize the database files, whether to create index so as to improve performance of the database system.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8244408" y="6237312"/>
            <a:ext cx="601216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4CF41874-F437-4C62-8F18-807603D9270D}" type="slidenum">
              <a:rPr lang="en-US" i="0" smtClean="0"/>
              <a:pPr/>
              <a:t>38</a:t>
            </a:fld>
            <a:endParaRPr lang="en-US" i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70993-6BB5-44E7-98E1-D4288F6FAC68}" type="datetime1">
              <a:rPr lang="en-IN" smtClean="0"/>
              <a:t>23-07-2024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15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000" b="1" dirty="0" smtClean="0">
                <a:solidFill>
                  <a:srgbClr val="FF0000"/>
                </a:solidFill>
                <a:latin typeface="Arial Black" panose="020B0A04020102020204" pitchFamily="34" charset="0"/>
                <a:cs typeface="Times New Roman" pitchFamily="18" charset="0"/>
              </a:rPr>
              <a:t>Database system 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8006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defRPr/>
            </a:pPr>
            <a:r>
              <a:rPr lang="en-US" sz="2200" dirty="0" smtClean="0"/>
              <a:t>Other utilities </a:t>
            </a:r>
          </a:p>
          <a:p>
            <a:pPr marL="548640" indent="-41148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Tx/>
              <a:buNone/>
              <a:defRPr/>
            </a:pPr>
            <a:r>
              <a:rPr lang="en-US" sz="2200" dirty="0" smtClean="0"/>
              <a:t>	Sorting files, data compression, monitoring access by users.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8244408" y="6165304"/>
            <a:ext cx="603504" cy="4572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326944D5-2C72-482E-B27D-5C2E08833147}" type="slidenum">
              <a:rPr lang="en-US" i="0" smtClean="0"/>
              <a:pPr/>
              <a:t>39</a:t>
            </a:fld>
            <a:endParaRPr lang="en-US" i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CFFCD-54FE-4C82-ACC5-DE7A6C0D13D0}" type="datetime1">
              <a:rPr lang="en-IN" smtClean="0"/>
              <a:t>23-07-2024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04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8A484C-CE40-470D-BEA3-C019456E5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774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DBMS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D9126AA-145F-42FA-A5F1-FC8DA4983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39693"/>
            <a:ext cx="8515350" cy="5313643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1-tier Architecture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000" dirty="0"/>
              <a:t>T</a:t>
            </a:r>
            <a:r>
              <a:rPr lang="en-US" sz="2000" dirty="0" smtClean="0"/>
              <a:t>he </a:t>
            </a:r>
            <a:r>
              <a:rPr lang="en-US" sz="2000" dirty="0"/>
              <a:t>database is </a:t>
            </a:r>
            <a:r>
              <a:rPr lang="en-US" sz="2000" b="1" dirty="0">
                <a:solidFill>
                  <a:srgbClr val="FF0000"/>
                </a:solidFill>
              </a:rPr>
              <a:t>directly available to the </a:t>
            </a:r>
            <a:r>
              <a:rPr lang="en-US" sz="2000" b="1" dirty="0" smtClean="0">
                <a:solidFill>
                  <a:srgbClr val="FF0000"/>
                </a:solidFill>
              </a:rPr>
              <a:t>user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storing and retrieving the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000" dirty="0" smtClean="0"/>
              <a:t>Client</a:t>
            </a:r>
            <a:r>
              <a:rPr lang="en-US" sz="2000" dirty="0"/>
              <a:t>, server, and the Database are all present on the same </a:t>
            </a:r>
            <a:r>
              <a:rPr lang="en-US" sz="2000" dirty="0" smtClean="0"/>
              <a:t>machine</a:t>
            </a:r>
          </a:p>
          <a:p>
            <a:pPr marL="320040" lvl="1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2-tier Architecture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End user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does not access the database directly.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Database can access through 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pplication Program Interface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establish interaction via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third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party service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like ODBC, JDBC.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dirty="0"/>
              <a:t>application at the client end directly communicates with the database at the server side. </a:t>
            </a:r>
            <a:endParaRPr lang="en-US" sz="2000" dirty="0" smtClean="0"/>
          </a:p>
          <a:p>
            <a:pPr lvl="1"/>
            <a:r>
              <a:rPr lang="en-US" sz="2000" dirty="0" smtClean="0"/>
              <a:t>On </a:t>
            </a:r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client side, the user interfaces and application programs are run</a:t>
            </a:r>
            <a:r>
              <a:rPr lang="en-US" sz="2000" dirty="0"/>
              <a:t>. </a:t>
            </a:r>
            <a:endParaRPr lang="en-US" sz="2000" dirty="0" smtClean="0"/>
          </a:p>
          <a:p>
            <a:pPr lvl="1"/>
            <a:r>
              <a:rPr lang="en-US" sz="2000" dirty="0" smtClean="0"/>
              <a:t>The </a:t>
            </a:r>
            <a:r>
              <a:rPr lang="en-US" sz="2000" dirty="0"/>
              <a:t>application on the client side establishes a connection with the server side in order to communicate with the DBMS. </a:t>
            </a:r>
            <a:endParaRPr lang="en-US" sz="2000" dirty="0" smtClean="0"/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Desktop application is a good example of 2-tier architecture.</a:t>
            </a:r>
          </a:p>
          <a:p>
            <a:pPr marL="320040" lvl="1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E09A-F1F5-44D1-ADB6-D4F322E7B5F7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225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548680"/>
            <a:ext cx="7772400" cy="5616624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3-tier Architecture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There is another layer between the client and the server</a:t>
            </a:r>
            <a:r>
              <a:rPr lang="en-US" sz="2400" dirty="0"/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Client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does not communicate directly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the server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Instead, it interacts with an </a:t>
            </a:r>
            <a:r>
              <a:rPr lang="en-US" sz="2400" u="sng" dirty="0">
                <a:latin typeface="Times New Roman" pitchFamily="18" charset="0"/>
                <a:cs typeface="Times New Roman" pitchFamily="18" charset="0"/>
              </a:rPr>
              <a:t>application server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which further communicates with the database system and then the query processing and transaction management takes place. </a:t>
            </a:r>
          </a:p>
          <a:p>
            <a:pPr lvl="1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layer present between client and server that manage the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query processing and transaction management.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web based application is one of the example of 3-tier architecture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endParaRPr lang="en-US" sz="1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N-tier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Architecture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provides a client server architecture.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has separate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presentation, processing and data management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functions.</a:t>
            </a:r>
          </a:p>
          <a:p>
            <a:endParaRPr lang="en-IN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C4114-F384-46C9-A7B6-23F52102D832}" type="datetime1">
              <a:rPr lang="en-IN" smtClean="0"/>
              <a:t>23-07-2024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79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2-tier  and 3-tier architecture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7" y="1988840"/>
            <a:ext cx="2525241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959575"/>
            <a:ext cx="3672408" cy="3917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5C1ED-0146-4049-8D83-A4B34D56B1EA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37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" y="1732545"/>
            <a:ext cx="4539327" cy="3410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628800"/>
            <a:ext cx="4422257" cy="3618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31640" y="5247010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2-Tier Architecture	 			3-Tier Architecture</a:t>
            </a:r>
            <a:endParaRPr lang="en-IN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E5B80-FEA0-4E88-92B6-C016B9F8E838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81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08720"/>
            <a:ext cx="8436488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020CE-1D75-4C27-8C7A-9CDB8E443DA1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65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76456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Centralized and </a:t>
            </a:r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Client-Server </a:t>
            </a: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DBMS Architectures 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988840"/>
            <a:ext cx="4464496" cy="432048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Centralized DBMS:</a:t>
            </a:r>
          </a:p>
          <a:p>
            <a:pPr lvl="1" algn="just"/>
            <a:r>
              <a:rPr lang="en-US" dirty="0"/>
              <a:t>Combines everything into single system including- DBMS software, hardware, application programs, and user interface processing software.</a:t>
            </a:r>
          </a:p>
          <a:p>
            <a:pPr lvl="1" algn="just"/>
            <a:r>
              <a:rPr lang="en-US" dirty="0"/>
              <a:t>User can still connect through a remote terminal – however, all processing is done at centralized site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332254"/>
            <a:ext cx="4117721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3C75E-6907-4C48-A8A9-E6391D45F340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25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268" y="188640"/>
            <a:ext cx="9793088" cy="78296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A Physical Centralized Architecture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268760"/>
            <a:ext cx="7272808" cy="5269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9428-0DDE-4461-96C4-DE1761DF8D5D}" type="datetime1">
              <a:rPr lang="en-IN" smtClean="0"/>
              <a:t>23-07-2024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507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2-tier Client-Server Architectures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Specialized Servers with Specialized functions</a:t>
            </a:r>
          </a:p>
          <a:p>
            <a:pPr lvl="1"/>
            <a:r>
              <a:rPr lang="en-US" dirty="0"/>
              <a:t>Print server</a:t>
            </a:r>
          </a:p>
          <a:p>
            <a:pPr lvl="1"/>
            <a:r>
              <a:rPr lang="en-US" dirty="0"/>
              <a:t>File server</a:t>
            </a:r>
          </a:p>
          <a:p>
            <a:pPr lvl="1"/>
            <a:r>
              <a:rPr lang="en-US" dirty="0"/>
              <a:t>DBMS server</a:t>
            </a:r>
          </a:p>
          <a:p>
            <a:pPr lvl="1"/>
            <a:r>
              <a:rPr lang="en-US" dirty="0"/>
              <a:t>Web server</a:t>
            </a:r>
          </a:p>
          <a:p>
            <a:pPr lvl="1"/>
            <a:r>
              <a:rPr lang="en-US" dirty="0"/>
              <a:t>Email server</a:t>
            </a:r>
          </a:p>
          <a:p>
            <a:r>
              <a:rPr lang="en-US" dirty="0"/>
              <a:t>Clients can access the specialized servers as needed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3072-8639-4A55-BE34-F07AD886CC54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58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Logical two-tier client server architecture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32" y="1844824"/>
            <a:ext cx="80486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F829-47FE-4648-B23D-38DC498615AE}" type="datetime1">
              <a:rPr lang="en-IN" smtClean="0"/>
              <a:t>23-07-2024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68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692696"/>
            <a:ext cx="6864449" cy="573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19F45-9570-4EF8-A249-D4A22D0191B7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78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700808"/>
            <a:ext cx="8280920" cy="446449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Provide appropriate interfaces through a client software module to access and utilize the various server resources. </a:t>
            </a:r>
          </a:p>
          <a:p>
            <a:pPr algn="just"/>
            <a:r>
              <a:rPr lang="en-US" dirty="0"/>
              <a:t>Clients may be </a:t>
            </a:r>
            <a:r>
              <a:rPr lang="en-US" b="1" dirty="0"/>
              <a:t>diskless machines or PCs or Workstations with disks</a:t>
            </a:r>
            <a:r>
              <a:rPr lang="en-US" dirty="0"/>
              <a:t> with only the client software installed.</a:t>
            </a:r>
          </a:p>
          <a:p>
            <a:pPr algn="just"/>
            <a:r>
              <a:rPr lang="en-US" dirty="0"/>
              <a:t>Connected to the servers via some form of a network.</a:t>
            </a:r>
          </a:p>
          <a:p>
            <a:pPr lvl="1" algn="just"/>
            <a:r>
              <a:rPr lang="en-US" dirty="0"/>
              <a:t>(LAN: local area network, wireless network, etc</a:t>
            </a:r>
            <a:r>
              <a:rPr lang="en-US" dirty="0" smtClean="0"/>
              <a:t>.)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68327-7208-4A8D-9168-D5B1E06AFB65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600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08720"/>
          </a:xfrm>
        </p:spPr>
        <p:txBody>
          <a:bodyPr/>
          <a:lstStyle/>
          <a:p>
            <a:r>
              <a:rPr lang="en-US" dirty="0"/>
              <a:t>DBMS Server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836712"/>
            <a:ext cx="8147248" cy="5616624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2800" dirty="0"/>
              <a:t>Provides database </a:t>
            </a:r>
            <a:r>
              <a:rPr lang="en-US" sz="2800" b="1" dirty="0">
                <a:solidFill>
                  <a:srgbClr val="FF0000"/>
                </a:solidFill>
              </a:rPr>
              <a:t>query and transaction services</a:t>
            </a:r>
            <a:r>
              <a:rPr lang="en-US" sz="2800" b="1" dirty="0"/>
              <a:t> </a:t>
            </a:r>
            <a:r>
              <a:rPr lang="en-US" sz="2800" dirty="0"/>
              <a:t>to the clients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Relational DBMS servers are often </a:t>
            </a:r>
            <a:r>
              <a:rPr lang="en-US" sz="2800" b="1" dirty="0">
                <a:solidFill>
                  <a:srgbClr val="FF0000"/>
                </a:solidFill>
              </a:rPr>
              <a:t>called SQL servers</a:t>
            </a:r>
            <a:r>
              <a:rPr lang="en-US" sz="2800" dirty="0">
                <a:solidFill>
                  <a:srgbClr val="FF0000"/>
                </a:solidFill>
              </a:rPr>
              <a:t>, </a:t>
            </a:r>
            <a:r>
              <a:rPr lang="en-US" sz="2800" b="1" dirty="0">
                <a:solidFill>
                  <a:srgbClr val="FF0000"/>
                </a:solidFill>
              </a:rPr>
              <a:t>query servers, or transaction servers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Applications running on </a:t>
            </a:r>
            <a:r>
              <a:rPr lang="en-US" sz="2800" b="1" dirty="0">
                <a:solidFill>
                  <a:srgbClr val="FF0000"/>
                </a:solidFill>
              </a:rPr>
              <a:t>clients utilize an Application Program </a:t>
            </a:r>
            <a:r>
              <a:rPr lang="en-US" sz="2800" dirty="0">
                <a:solidFill>
                  <a:srgbClr val="FF0000"/>
                </a:solidFill>
              </a:rPr>
              <a:t>Interface (</a:t>
            </a:r>
            <a:r>
              <a:rPr lang="en-US" sz="2800" b="1" dirty="0">
                <a:solidFill>
                  <a:srgbClr val="FF0000"/>
                </a:solidFill>
              </a:rPr>
              <a:t>API</a:t>
            </a:r>
            <a:r>
              <a:rPr lang="en-US" sz="2800" dirty="0">
                <a:solidFill>
                  <a:srgbClr val="FF0000"/>
                </a:solidFill>
              </a:rPr>
              <a:t>) </a:t>
            </a:r>
            <a:r>
              <a:rPr lang="en-US" sz="2800" dirty="0"/>
              <a:t>to access server databases via </a:t>
            </a:r>
            <a:r>
              <a:rPr lang="en-US" sz="2800" b="1" dirty="0">
                <a:solidFill>
                  <a:srgbClr val="FF0000"/>
                </a:solidFill>
              </a:rPr>
              <a:t>standard interface </a:t>
            </a:r>
            <a:r>
              <a:rPr lang="en-US" sz="2800" dirty="0"/>
              <a:t>such as: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ODBC: Open Database Connectivity standard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JDBC: for Java programming access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Client and server </a:t>
            </a:r>
            <a:r>
              <a:rPr lang="en-US" sz="2800" b="1" dirty="0">
                <a:solidFill>
                  <a:srgbClr val="FF0000"/>
                </a:solidFill>
              </a:rPr>
              <a:t>must install </a:t>
            </a:r>
            <a:r>
              <a:rPr lang="en-US" sz="2800" dirty="0"/>
              <a:t>appropriate client module and server module software for ODBC or </a:t>
            </a:r>
            <a:r>
              <a:rPr lang="en-US" sz="2800" dirty="0" smtClean="0"/>
              <a:t>JDBC.</a:t>
            </a:r>
            <a:endParaRPr lang="en-US" sz="2800" dirty="0"/>
          </a:p>
          <a:p>
            <a:pPr algn="just"/>
            <a:endParaRPr lang="en-IN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9DD6A-BC13-4AA6-816C-9FB2405A76C4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08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Two Tier Client-Server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412776"/>
            <a:ext cx="7772400" cy="4536504"/>
          </a:xfrm>
        </p:spPr>
        <p:txBody>
          <a:bodyPr>
            <a:normAutofit fontScale="92500"/>
          </a:bodyPr>
          <a:lstStyle/>
          <a:p>
            <a:r>
              <a:rPr lang="en-US" dirty="0"/>
              <a:t>A client program </a:t>
            </a:r>
            <a:r>
              <a:rPr lang="en-US" b="1" dirty="0">
                <a:solidFill>
                  <a:srgbClr val="FF0000"/>
                </a:solidFill>
              </a:rPr>
              <a:t>may connect to several DBMSs</a:t>
            </a:r>
            <a:r>
              <a:rPr lang="en-US" dirty="0"/>
              <a:t>, sometimes called the </a:t>
            </a:r>
            <a:r>
              <a:rPr lang="en-US" b="1" dirty="0">
                <a:solidFill>
                  <a:srgbClr val="FF0000"/>
                </a:solidFill>
              </a:rPr>
              <a:t>data sources</a:t>
            </a:r>
            <a:r>
              <a:rPr lang="en-US" dirty="0"/>
              <a:t>.</a:t>
            </a:r>
          </a:p>
          <a:p>
            <a:r>
              <a:rPr lang="en-US" dirty="0"/>
              <a:t>In general, data sources can be files or other non-DBMS software that manages data.</a:t>
            </a:r>
          </a:p>
          <a:p>
            <a:r>
              <a:rPr lang="en-US" dirty="0"/>
              <a:t>Other variations of clients are possible: e.g., in some object DBMSs, </a:t>
            </a:r>
            <a:r>
              <a:rPr lang="en-US" dirty="0">
                <a:solidFill>
                  <a:srgbClr val="FF0000"/>
                </a:solidFill>
              </a:rPr>
              <a:t>more functionality is transferred to clients</a:t>
            </a:r>
            <a:r>
              <a:rPr lang="en-US" dirty="0"/>
              <a:t> including data dictionary functions, optimization and recovery across multiple servers, etc.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59F44-41EA-4D45-B76C-48292F913753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21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24340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Three Tier Client-Server Architecture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361459"/>
          </a:xfrm>
        </p:spPr>
        <p:txBody>
          <a:bodyPr>
            <a:noAutofit/>
          </a:bodyPr>
          <a:lstStyle/>
          <a:p>
            <a:pPr algn="just"/>
            <a:r>
              <a:rPr lang="en-US" sz="2800" dirty="0">
                <a:solidFill>
                  <a:srgbClr val="FF0000"/>
                </a:solidFill>
              </a:rPr>
              <a:t>Common for Web applications</a:t>
            </a:r>
          </a:p>
          <a:p>
            <a:pPr algn="just"/>
            <a:r>
              <a:rPr lang="en-US" sz="2800" dirty="0"/>
              <a:t>Intermediate Layer called </a:t>
            </a:r>
            <a:r>
              <a:rPr lang="en-US" sz="2800" b="1" dirty="0">
                <a:solidFill>
                  <a:srgbClr val="FF0000"/>
                </a:solidFill>
              </a:rPr>
              <a:t>Application Server or Web Server</a:t>
            </a:r>
            <a:r>
              <a:rPr lang="en-US" sz="2800" dirty="0"/>
              <a:t>: </a:t>
            </a:r>
          </a:p>
          <a:p>
            <a:pPr lvl="1" algn="just"/>
            <a:r>
              <a:rPr lang="en-US" dirty="0"/>
              <a:t>Stores the web connectivity software and the business logic part of the application used to access the corresponding data from the database server</a:t>
            </a:r>
          </a:p>
          <a:p>
            <a:pPr lvl="1" algn="just"/>
            <a:r>
              <a:rPr lang="en-US" dirty="0"/>
              <a:t>Acts like a </a:t>
            </a:r>
            <a:r>
              <a:rPr lang="en-US" b="1" dirty="0"/>
              <a:t>conduit for sending partially processed data </a:t>
            </a:r>
            <a:r>
              <a:rPr lang="en-US" dirty="0"/>
              <a:t>between the </a:t>
            </a:r>
            <a:r>
              <a:rPr lang="en-US" u="sng" dirty="0"/>
              <a:t>database server and the client.</a:t>
            </a:r>
          </a:p>
          <a:p>
            <a:pPr algn="just"/>
            <a:r>
              <a:rPr lang="en-US" sz="2800" dirty="0"/>
              <a:t>Three-tier Architecture Can </a:t>
            </a:r>
            <a:r>
              <a:rPr lang="en-US" sz="2800" b="1" dirty="0"/>
              <a:t>Enhance Security</a:t>
            </a:r>
            <a:r>
              <a:rPr lang="en-US" sz="2800" dirty="0"/>
              <a:t>: </a:t>
            </a:r>
          </a:p>
          <a:p>
            <a:pPr lvl="1" algn="just"/>
            <a:r>
              <a:rPr lang="en-US" b="1" dirty="0"/>
              <a:t>Database server only accessible via middle tier</a:t>
            </a:r>
          </a:p>
          <a:p>
            <a:pPr lvl="1" algn="just"/>
            <a:r>
              <a:rPr lang="en-US" b="1" dirty="0"/>
              <a:t>Clients cannot directly access database server</a:t>
            </a:r>
          </a:p>
          <a:p>
            <a:pPr marL="0" indent="0" algn="just">
              <a:buNone/>
            </a:pPr>
            <a:endParaRPr lang="en-IN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25C1-BD96-403A-9FC5-E6082122EF53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19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Three-tier client-server architecture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52667"/>
            <a:ext cx="8096250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6367-1370-42BB-A3A3-BB805B1DCC33}" type="datetime1">
              <a:rPr lang="en-IN" smtClean="0"/>
              <a:t>23-07-2024</a:t>
            </a:fld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43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0648"/>
            <a:ext cx="9144000" cy="652935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FF0000"/>
                </a:solidFill>
              </a:rPr>
              <a:t>Classification of Database Management Systems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758E0679-8700-4FEB-B49A-5D688452D7CC}" type="slidenum">
              <a:rPr lang="en-US" i="0" smtClean="0">
                <a:solidFill>
                  <a:prstClr val="black"/>
                </a:solidFill>
              </a:rPr>
              <a:pPr/>
              <a:t>55</a:t>
            </a:fld>
            <a:endParaRPr lang="en-US" i="0" smtClean="0">
              <a:solidFill>
                <a:prstClr val="black"/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7544" y="980728"/>
            <a:ext cx="8229600" cy="5400600"/>
          </a:xfrm>
        </p:spPr>
        <p:txBody>
          <a:bodyPr>
            <a:normAutofit/>
          </a:bodyPr>
          <a:lstStyle/>
          <a:p>
            <a:pPr marL="609600" indent="-60960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1)  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Classification based on data model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RDBMS, OODBMS (based on object model),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Many legacy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applications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still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run on database systems based on the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hierarchical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network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data</a:t>
            </a:r>
          </a:p>
          <a:p>
            <a:pPr marL="0" indent="0">
              <a:buNone/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    models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609600" indent="-60960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2)  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Number of users at a time</a:t>
            </a:r>
          </a:p>
          <a:p>
            <a:pPr marL="609600" indent="-609600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a) Single-user DBMS – support one user at a time </a:t>
            </a:r>
          </a:p>
          <a:p>
            <a:pPr marL="609600" indent="-609600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b) Multi user DBMS – multiple user can access the database simultaneously</a:t>
            </a:r>
          </a:p>
          <a:p>
            <a:pPr marL="609600" indent="-609600" eaLnBrk="1" hangingPunct="1">
              <a:lnSpc>
                <a:spcPct val="15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5D7D1F-BE78-4A35-8E33-E000604E05B1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07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74639"/>
            <a:ext cx="8507288" cy="706089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0000"/>
                </a:solidFill>
              </a:rPr>
              <a:t>Classification of Database Management </a:t>
            </a:r>
            <a:r>
              <a:rPr lang="en-US" sz="2800" b="1" dirty="0" smtClean="0">
                <a:solidFill>
                  <a:srgbClr val="FF0000"/>
                </a:solidFill>
              </a:rPr>
              <a:t>System…</a:t>
            </a:r>
            <a:endParaRPr lang="en-US" sz="2800" b="1" dirty="0" smtClean="0">
              <a:solidFill>
                <a:srgbClr val="FF0000"/>
              </a:solidFill>
            </a:endParaRP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F64C4BE7-007D-4DAF-A97A-88D6F69B78D6}" type="slidenum">
              <a:rPr lang="en-US" i="0" smtClean="0">
                <a:solidFill>
                  <a:prstClr val="black"/>
                </a:solidFill>
              </a:rPr>
              <a:pPr/>
              <a:t>56</a:t>
            </a:fld>
            <a:endParaRPr lang="en-US" i="0" smtClean="0">
              <a:solidFill>
                <a:prstClr val="black"/>
              </a:solidFill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23528" y="1124744"/>
            <a:ext cx="8640960" cy="4895056"/>
          </a:xfrm>
        </p:spPr>
        <p:txBody>
          <a:bodyPr>
            <a:normAutofit lnSpcReduction="10000"/>
          </a:bodyPr>
          <a:lstStyle/>
          <a:p>
            <a:pPr marL="571500" indent="-571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3)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Number of sites over which the database is distributed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71500" indent="-5715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a) Centralized DBMS– Database stored in a single computer.</a:t>
            </a:r>
          </a:p>
          <a:p>
            <a:pPr marL="571500" indent="-571500" eaLnBrk="1" hangingPunct="1">
              <a:lnSpc>
                <a:spcPct val="150000"/>
              </a:lnSpc>
              <a:buFontTx/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b) 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Distributed DBMS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– database and DBMS software distributed over many sites, connected by a computer network.</a:t>
            </a:r>
          </a:p>
          <a:p>
            <a:pPr marL="571500" indent="-571500" eaLnBrk="1" hangingPunct="1">
              <a:lnSpc>
                <a:spcPct val="150000"/>
              </a:lnSpc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Homogeneous DDBMS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(Same DBMS at all sites) </a:t>
            </a:r>
          </a:p>
          <a:p>
            <a:pPr marL="571500" indent="-571500" eaLnBrk="1" hangingPunct="1">
              <a:lnSpc>
                <a:spcPct val="150000"/>
              </a:lnSpc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Heterogeneous DDBMS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(Different DBMS at different sites).</a:t>
            </a:r>
          </a:p>
          <a:p>
            <a:pPr marL="571500" indent="-571500" eaLnBrk="1" hangingPunct="1">
              <a:lnSpc>
                <a:spcPct val="150000"/>
              </a:lnSpc>
              <a:buFontTx/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Federated DBS/Multi database system = DDBMS </a:t>
            </a:r>
          </a:p>
          <a:p>
            <a:pPr marL="571500" indent="-571500" eaLnBrk="1" hangingPunct="1">
              <a:lnSpc>
                <a:spcPct val="150000"/>
              </a:lnSpc>
              <a:buFontTx/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+ heterogeneous DBMS + participating sites with local autonomy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133893-4967-4A54-A9D7-2123812822A3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57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4628858B-1C2B-4F1B-9B8C-18D32E808C40}" type="slidenum">
              <a:rPr lang="en-US" i="0" smtClean="0">
                <a:solidFill>
                  <a:prstClr val="black"/>
                </a:solidFill>
              </a:rPr>
              <a:pPr/>
              <a:t>57</a:t>
            </a:fld>
            <a:endParaRPr lang="en-US" i="0" smtClean="0">
              <a:solidFill>
                <a:prstClr val="black"/>
              </a:solidFill>
            </a:endParaRPr>
          </a:p>
        </p:txBody>
      </p:sp>
      <p:sp>
        <p:nvSpPr>
          <p:cNvPr id="3379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51520" y="980728"/>
            <a:ext cx="8712968" cy="5039072"/>
          </a:xfrm>
        </p:spPr>
        <p:txBody>
          <a:bodyPr>
            <a:noAutofit/>
          </a:bodyPr>
          <a:lstStyle/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Wingdings 2" pitchFamily="18" charset="2"/>
              <a:buNone/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Special-purpose &amp; general-purpose</a:t>
            </a:r>
          </a:p>
          <a:p>
            <a:pPr marL="571500" indent="-5715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Airline reservation system, telephone directory system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special- purpose DBMS</a:t>
            </a: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5)  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Cost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is difficult to propose a classification of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DBMSs based 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cost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" pitchFamily="2" charset="2"/>
              <a:buNone/>
              <a:defRPr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Today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we have open source (free) DBMS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products like </a:t>
            </a:r>
            <a:r>
              <a:rPr lang="en-US" sz="2800" u="sng" dirty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800" u="sng" dirty="0" err="1" smtClean="0">
                <a:latin typeface="Times New Roman" pitchFamily="18" charset="0"/>
                <a:cs typeface="Times New Roman" pitchFamily="18" charset="0"/>
              </a:rPr>
              <a:t>PostgreSQL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that are supported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by third-party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vendors with additional services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2CA65A7-D383-42A9-A422-BCB1FE3BB927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74639"/>
            <a:ext cx="8507288" cy="706089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0000"/>
                </a:solidFill>
              </a:rPr>
              <a:t>Classification of Database Management </a:t>
            </a:r>
            <a:r>
              <a:rPr lang="en-US" sz="2800" b="1" dirty="0" smtClean="0">
                <a:solidFill>
                  <a:srgbClr val="FF0000"/>
                </a:solidFill>
              </a:rPr>
              <a:t>System…</a:t>
            </a:r>
            <a:endParaRPr lang="en-US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0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>
            <a:prstTxWarp prst="textNoShape">
              <a:avLst/>
            </a:prstTxWarp>
          </a:bodyPr>
          <a:lstStyle>
            <a:lvl1pPr>
              <a:defRPr sz="1200" i="1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 sz="1200" i="1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 sz="1200" i="1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i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88FE9E58-A242-4AE1-ADD3-4EF69AFF4B0C}" type="slidenum">
              <a:rPr lang="en-US" i="0" smtClean="0">
                <a:solidFill>
                  <a:prstClr val="black"/>
                </a:solidFill>
              </a:rPr>
              <a:pPr/>
              <a:t>58</a:t>
            </a:fld>
            <a:endParaRPr lang="en-US" i="0" smtClean="0">
              <a:solidFill>
                <a:prstClr val="black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1052736"/>
            <a:ext cx="8291264" cy="4967064"/>
          </a:xfrm>
        </p:spPr>
        <p:txBody>
          <a:bodyPr>
            <a:noAutofit/>
          </a:bodyPr>
          <a:lstStyle/>
          <a:p>
            <a:pPr marL="480060" indent="-342900" algn="just">
              <a:buClr>
                <a:schemeClr val="tx1">
                  <a:shade val="95000"/>
                </a:schemeClr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giant systems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are being sold in 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modular form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with components to handle distribution, replication, parallel processing, mobile capability, and so on, and with </a:t>
            </a:r>
            <a:r>
              <a:rPr lang="en-US" sz="2400" u="sng" dirty="0" smtClean="0">
                <a:latin typeface="Times New Roman" pitchFamily="18" charset="0"/>
                <a:cs typeface="Times New Roman" pitchFamily="18" charset="0"/>
              </a:rPr>
              <a:t>a large number of parameters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that must be defined for the configuration.</a:t>
            </a:r>
          </a:p>
          <a:p>
            <a:pPr marL="480060" indent="-342900" algn="just">
              <a:buClr>
                <a:schemeClr val="tx1">
                  <a:shade val="95000"/>
                </a:schemeClr>
              </a:buClr>
              <a:defRPr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Furthermore, they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are sold in the form of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licenses –  </a:t>
            </a:r>
          </a:p>
          <a:p>
            <a:pPr marL="754380" lvl="1" indent="-342900" algn="just">
              <a:buClr>
                <a:schemeClr val="tx1">
                  <a:shade val="95000"/>
                </a:schemeClr>
              </a:buClr>
              <a:defRPr/>
            </a:pPr>
            <a:r>
              <a:rPr 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site </a:t>
            </a:r>
            <a:r>
              <a:rPr lang="en-US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license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allow unlimited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 of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database system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any number </a:t>
            </a:r>
            <a:r>
              <a:rPr lang="en-US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 copies running at </a:t>
            </a:r>
            <a:r>
              <a:rPr 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 customer site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754380" lvl="1" indent="-342900" algn="just">
              <a:buClr>
                <a:schemeClr val="tx1">
                  <a:shade val="95000"/>
                </a:schemeClr>
              </a:buClr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Another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type of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license </a:t>
            </a:r>
            <a:r>
              <a:rPr lang="en-US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limits the number </a:t>
            </a:r>
            <a:r>
              <a:rPr lang="en-US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 concurrent users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754380" lvl="1" indent="-342900" algn="just">
              <a:buClr>
                <a:schemeClr val="tx1">
                  <a:shade val="95000"/>
                </a:schemeClr>
              </a:buClr>
              <a:defRPr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Standalone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single user versions of some systems like </a:t>
            </a:r>
            <a:r>
              <a:rPr lang="en-US" i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Microsoft Access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are sold per copy or included in the overall configuration of a desktop or laptop.</a:t>
            </a:r>
          </a:p>
          <a:p>
            <a:pPr marL="548640" indent="-411480" algn="just" eaLnBrk="1" fontAlgn="auto" hangingPunct="1">
              <a:spcAft>
                <a:spcPts val="0"/>
              </a:spcAft>
              <a:buClr>
                <a:schemeClr val="tx1">
                  <a:shade val="95000"/>
                </a:schemeClr>
              </a:buClr>
              <a:buFont typeface="Wingdings 2"/>
              <a:buChar char=""/>
              <a:defRPr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tx1">
                  <a:shade val="95000"/>
                </a:schemeClr>
              </a:buClr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92E600-7DFD-44D7-97B6-5F5BE3A14B04}" type="datetime1">
              <a:rPr lang="en-IN" smtClean="0">
                <a:solidFill>
                  <a:srgbClr val="696464"/>
                </a:solidFill>
              </a:rPr>
              <a:t>23-07-2024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74639"/>
            <a:ext cx="8507288" cy="706089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0000"/>
                </a:solidFill>
              </a:rPr>
              <a:t>Classification of Database Management </a:t>
            </a:r>
            <a:r>
              <a:rPr lang="en-US" sz="2800" b="1" dirty="0" smtClean="0">
                <a:solidFill>
                  <a:srgbClr val="FF0000"/>
                </a:solidFill>
              </a:rPr>
              <a:t>System…</a:t>
            </a:r>
            <a:endParaRPr lang="en-US" sz="28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35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Cost considerations for DBMSs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712968" cy="442947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Cost Range: from free </a:t>
            </a:r>
            <a:r>
              <a:rPr lang="en-US" sz="2800" dirty="0">
                <a:solidFill>
                  <a:srgbClr val="FF0000"/>
                </a:solidFill>
              </a:rPr>
              <a:t>open-source systems </a:t>
            </a:r>
            <a:r>
              <a:rPr lang="en-US" sz="2800" dirty="0"/>
              <a:t>to </a:t>
            </a:r>
            <a:r>
              <a:rPr lang="en-US" sz="2800" dirty="0">
                <a:solidFill>
                  <a:srgbClr val="FF0000"/>
                </a:solidFill>
              </a:rPr>
              <a:t>configurations costing millions of dollars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Examples of free relational DBMSs: MySQL, </a:t>
            </a:r>
            <a:r>
              <a:rPr lang="en-US" sz="2800" dirty="0" err="1"/>
              <a:t>PostgreSQL</a:t>
            </a:r>
            <a:r>
              <a:rPr lang="en-US" sz="2800" dirty="0"/>
              <a:t>, others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Commercial DBMS offer additional specialized modules, e.g. time-series module, spatial data module, document module, XML module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These offer additional specialized functionality when purchased separately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Sometimes called cartridges (e.g., in </a:t>
            </a:r>
            <a:r>
              <a:rPr lang="en-US" dirty="0">
                <a:solidFill>
                  <a:srgbClr val="FF0000"/>
                </a:solidFill>
              </a:rPr>
              <a:t>Oracle</a:t>
            </a:r>
            <a:r>
              <a:rPr lang="en-US" dirty="0"/>
              <a:t>) or blades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Different licensing options: site license, maximum number of concurrent users (seat license), single user, etc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FB01-6857-4EAC-8979-7917106A27E8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7F554-53DC-4718-AEA2-3CB10C870BB1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88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3650</TotalTime>
  <Words>2236</Words>
  <Application>Microsoft Office PowerPoint</Application>
  <PresentationFormat>On-screen Show (4:3)</PresentationFormat>
  <Paragraphs>377</Paragraphs>
  <Slides>59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1" baseType="lpstr">
      <vt:lpstr>1_Equity</vt:lpstr>
      <vt:lpstr>Office Theme</vt:lpstr>
      <vt:lpstr>Database Management System Data Models </vt:lpstr>
      <vt:lpstr>Data Models Outline</vt:lpstr>
      <vt:lpstr>PowerPoint Presentation</vt:lpstr>
      <vt:lpstr>Data Models</vt:lpstr>
      <vt:lpstr>Categories of Data Model</vt:lpstr>
      <vt:lpstr>Conceptual Model </vt:lpstr>
      <vt:lpstr>PowerPoint Presentation</vt:lpstr>
      <vt:lpstr>Physical Data Model</vt:lpstr>
      <vt:lpstr>PowerPoint Presentation</vt:lpstr>
      <vt:lpstr>Logical Data Model</vt:lpstr>
      <vt:lpstr>Steps for designing the logical data model</vt:lpstr>
      <vt:lpstr>PowerPoint Presentation</vt:lpstr>
      <vt:lpstr>Data Model</vt:lpstr>
      <vt:lpstr>Hierarchical Model</vt:lpstr>
      <vt:lpstr>Network Model </vt:lpstr>
      <vt:lpstr>Relational Model </vt:lpstr>
      <vt:lpstr>Relational Model </vt:lpstr>
      <vt:lpstr>Schema</vt:lpstr>
      <vt:lpstr>PowerPoint Presentation</vt:lpstr>
      <vt:lpstr>PowerPoint Presentation</vt:lpstr>
      <vt:lpstr>PowerPoint Presentation</vt:lpstr>
      <vt:lpstr>Instance</vt:lpstr>
      <vt:lpstr>Three Schema Architecture </vt:lpstr>
      <vt:lpstr>Three Schema Architecture </vt:lpstr>
      <vt:lpstr>Three Schema Architecture </vt:lpstr>
      <vt:lpstr>Three Schema Architecture </vt:lpstr>
      <vt:lpstr>Data independence </vt:lpstr>
      <vt:lpstr>Data independence …</vt:lpstr>
      <vt:lpstr>PowerPoint Presentation</vt:lpstr>
      <vt:lpstr>PowerPoint Presentation</vt:lpstr>
      <vt:lpstr>Database System Environment</vt:lpstr>
      <vt:lpstr>PowerPoint Presentation</vt:lpstr>
      <vt:lpstr>Computational Model of DBMS   Component modules of a DBMS and their interactions</vt:lpstr>
      <vt:lpstr>PowerPoint Presentation</vt:lpstr>
      <vt:lpstr>Components of DBMS Software</vt:lpstr>
      <vt:lpstr>Components of DBMS Software</vt:lpstr>
      <vt:lpstr>Database system utilities</vt:lpstr>
      <vt:lpstr>Database system utilities</vt:lpstr>
      <vt:lpstr>Database system utilities</vt:lpstr>
      <vt:lpstr>DBMS Architecture</vt:lpstr>
      <vt:lpstr>PowerPoint Presentation</vt:lpstr>
      <vt:lpstr>2-tier  and 3-tier architecture</vt:lpstr>
      <vt:lpstr>PowerPoint Presentation</vt:lpstr>
      <vt:lpstr>PowerPoint Presentation</vt:lpstr>
      <vt:lpstr>Centralized and Client-Server DBMS Architectures </vt:lpstr>
      <vt:lpstr>A Physical Centralized Architecture</vt:lpstr>
      <vt:lpstr>Basic 2-tier Client-Server Architectures</vt:lpstr>
      <vt:lpstr>Logical two-tier client server architecture</vt:lpstr>
      <vt:lpstr>PowerPoint Presentation</vt:lpstr>
      <vt:lpstr>Client</vt:lpstr>
      <vt:lpstr>DBMS Server</vt:lpstr>
      <vt:lpstr>Two Tier Client-Server Architecture</vt:lpstr>
      <vt:lpstr>Three Tier Client-Server Architecture</vt:lpstr>
      <vt:lpstr>Three-tier client-server architecture</vt:lpstr>
      <vt:lpstr>Classification of Database Management Systems</vt:lpstr>
      <vt:lpstr>Classification of Database Management System…</vt:lpstr>
      <vt:lpstr>Classification of Database Management System…</vt:lpstr>
      <vt:lpstr>Classification of Database Management System…</vt:lpstr>
      <vt:lpstr>Cost considerations for DBMSs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</dc:title>
  <dc:creator>Admin</dc:creator>
  <cp:lastModifiedBy>HP</cp:lastModifiedBy>
  <cp:revision>130</cp:revision>
  <dcterms:created xsi:type="dcterms:W3CDTF">2019-05-30T15:49:42Z</dcterms:created>
  <dcterms:modified xsi:type="dcterms:W3CDTF">2024-07-24T02:17:54Z</dcterms:modified>
</cp:coreProperties>
</file>