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56" r:id="rId2"/>
    <p:sldId id="292" r:id="rId3"/>
    <p:sldId id="293" r:id="rId4"/>
    <p:sldId id="294" r:id="rId5"/>
    <p:sldId id="295" r:id="rId6"/>
    <p:sldId id="296" r:id="rId7"/>
    <p:sldId id="298" r:id="rId8"/>
    <p:sldId id="299" r:id="rId9"/>
    <p:sldId id="300" r:id="rId10"/>
    <p:sldId id="303" r:id="rId11"/>
    <p:sldId id="301" r:id="rId12"/>
    <p:sldId id="302" r:id="rId13"/>
    <p:sldId id="297" r:id="rId14"/>
    <p:sldId id="305" r:id="rId15"/>
    <p:sldId id="306" r:id="rId16"/>
    <p:sldId id="307" r:id="rId17"/>
    <p:sldId id="308" r:id="rId18"/>
    <p:sldId id="309" r:id="rId19"/>
    <p:sldId id="310" r:id="rId20"/>
    <p:sldId id="311" r:id="rId21"/>
    <p:sldId id="312" r:id="rId22"/>
    <p:sldId id="313" r:id="rId23"/>
    <p:sldId id="314" r:id="rId24"/>
    <p:sldId id="304" r:id="rId25"/>
    <p:sldId id="315" r:id="rId26"/>
    <p:sldId id="316" r:id="rId27"/>
    <p:sldId id="317" r:id="rId28"/>
    <p:sldId id="318" r:id="rId29"/>
    <p:sldId id="319" r:id="rId30"/>
    <p:sldId id="321" r:id="rId31"/>
    <p:sldId id="322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2527" autoAdjust="0"/>
  </p:normalViewPr>
  <p:slideViewPr>
    <p:cSldViewPr>
      <p:cViewPr>
        <p:scale>
          <a:sx n="110" d="100"/>
          <a:sy n="110" d="100"/>
        </p:scale>
        <p:origin x="-132" y="2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5B893E-64D9-4387-BD32-4FC38370537E}" type="datetimeFigureOut">
              <a:rPr lang="en-IN" smtClean="0"/>
              <a:t>07-08-2024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C8E864-319B-4A4B-8134-A9D94D4A5B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5265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96506-E1A2-4A7C-A51E-725520E0F7FC}" type="datetime1">
              <a:rPr lang="en-US" smtClean="0"/>
              <a:t>8/7/2024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F8D08-2D89-46C4-8D52-92EA89140C1F}" type="datetime1">
              <a:rPr lang="en-US" smtClean="0"/>
              <a:t>8/7/2024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4ECE2-B3A4-4732-850D-435E44314A20}" type="datetime1">
              <a:rPr lang="en-US" smtClean="0"/>
              <a:t>8/7/2024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A8FA2-EF55-488C-8297-577D2731359D}" type="datetime1">
              <a:rPr lang="en-US" smtClean="0"/>
              <a:t>8/7/2024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7DDDD-09BD-4427-995D-1C59B8E3A699}" type="datetime1">
              <a:rPr lang="en-US" smtClean="0"/>
              <a:t>8/7/2024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77AD9-15F9-49CC-8346-832BD1E41C0A}" type="datetime1">
              <a:rPr lang="en-US" smtClean="0"/>
              <a:t>8/7/2024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B8113-B31E-4F92-A995-47E2A1F6D131}" type="datetime1">
              <a:rPr lang="en-US" smtClean="0"/>
              <a:t>8/7/2024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5CAA1-847D-4B8C-A484-7BA828F76E94}" type="datetime1">
              <a:rPr lang="en-US" smtClean="0"/>
              <a:t>8/7/2024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F9CF-C6F9-4770-9558-2220BF9A1F78}" type="datetime1">
              <a:rPr lang="en-US" smtClean="0"/>
              <a:t>8/7/2024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2698F-A04B-4D33-AE0D-97A55E369340}" type="datetime1">
              <a:rPr lang="en-US" smtClean="0"/>
              <a:t>8/7/2024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6CB14-E7FD-4198-9EBA-55A8A4D1640F}" type="datetime1">
              <a:rPr lang="en-US" smtClean="0"/>
              <a:t>8/7/2024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3E902523-B7D0-4A83-9A35-F1C65A49D57A}" type="datetime1">
              <a:rPr lang="en-US" smtClean="0"/>
              <a:t>8/7/2024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Database Design – Schema Refinement - Guidelines for Relational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429000"/>
            <a:ext cx="3733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/>
              <a:t>MODULE 3</a:t>
            </a:r>
            <a:endParaRPr lang="en-IN" sz="4400" b="1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1219200" y="4231844"/>
            <a:ext cx="6400800" cy="1600200"/>
          </a:xfrm>
        </p:spPr>
        <p:txBody>
          <a:bodyPr/>
          <a:lstStyle/>
          <a:p>
            <a:r>
              <a:rPr lang="en-US" dirty="0" smtClean="0"/>
              <a:t>T. JOSHVA DEVADAS</a:t>
            </a:r>
          </a:p>
          <a:p>
            <a:r>
              <a:rPr lang="en-US" dirty="0" smtClean="0"/>
              <a:t>PROFESSOR </a:t>
            </a:r>
          </a:p>
          <a:p>
            <a:r>
              <a:rPr lang="en-US" dirty="0" smtClean="0"/>
              <a:t>SJT ANNEX 103F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6397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Features of Good Relational Designs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2544" y="838200"/>
            <a:ext cx="8592855" cy="6019800"/>
          </a:xfrm>
        </p:spPr>
        <p:txBody>
          <a:bodyPr/>
          <a:lstStyle/>
          <a:p>
            <a:r>
              <a:rPr lang="en-US" dirty="0" smtClean="0"/>
              <a:t>Let us consider the university Database schema</a:t>
            </a:r>
          </a:p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99" t="29958" r="26493" b="30127"/>
          <a:stretch/>
        </p:blipFill>
        <p:spPr bwMode="auto">
          <a:xfrm>
            <a:off x="82446" y="1066800"/>
            <a:ext cx="9061554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154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381000"/>
            <a:ext cx="7772400" cy="4572000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Suppose that we had started out when designing the university enterprise with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schema </a:t>
            </a:r>
            <a:r>
              <a:rPr lang="en-IN" i="1" dirty="0">
                <a:latin typeface="Calibri" panose="020F0502020204030204" pitchFamily="34" charset="0"/>
                <a:cs typeface="Calibri" panose="020F0502020204030204" pitchFamily="34" charset="0"/>
              </a:rPr>
              <a:t>in dep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in dep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salary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dept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name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building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budget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This represents the result of a natural join on the relations corresponding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to  </a:t>
            </a:r>
            <a:r>
              <a:rPr lang="en-US" i="1" dirty="0" smtClean="0">
                <a:latin typeface="Calibri" panose="020F0502020204030204" pitchFamily="34" charset="0"/>
                <a:cs typeface="Calibri" panose="020F0502020204030204" pitchFamily="34" charset="0"/>
              </a:rPr>
              <a:t>instructor </a:t>
            </a: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IN" i="1" dirty="0">
                <a:latin typeface="Calibri" panose="020F0502020204030204" pitchFamily="34" charset="0"/>
                <a:cs typeface="Calibri" panose="020F0502020204030204" pitchFamily="34" charset="0"/>
              </a:rPr>
              <a:t>department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62" t="29966" r="27026" b="32191"/>
          <a:stretch/>
        </p:blipFill>
        <p:spPr bwMode="auto">
          <a:xfrm>
            <a:off x="1447800" y="2667000"/>
            <a:ext cx="6096000" cy="3376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101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304800"/>
            <a:ext cx="8763000" cy="6553200"/>
          </a:xfrm>
        </p:spPr>
        <p:txBody>
          <a:bodyPr>
            <a:normAutofit/>
          </a:bodyPr>
          <a:lstStyle/>
          <a:p>
            <a:pPr algn="just"/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Notice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that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we have to repeat the department information (“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building” and “budget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”) once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for each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instructor in the department. 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example, the information about the Comp. Sci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. department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(Taylor, 100000) is included in the tuples of instructors Katz, Srinivasan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Brandt</a:t>
            </a: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It is important that all these tuples agree as to the budget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amount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since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otherwise our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database would be inconsistent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In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our original design using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instructor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department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, we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stored the amount of each budget exactly once. 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This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suggests that using </a:t>
            </a:r>
            <a:r>
              <a:rPr lang="en-US" i="1" dirty="0" smtClean="0">
                <a:latin typeface="Calibri" panose="020F0502020204030204" pitchFamily="34" charset="0"/>
                <a:cs typeface="Calibri" panose="020F0502020204030204" pitchFamily="34" charset="0"/>
              </a:rPr>
              <a:t>in dep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is a bad idea since it stores the budget amounts redundantly and runs the risk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that some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user might update the budget amount in one tuple but not all, and thus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create </a:t>
            </a: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inconsistency.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106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304800"/>
            <a:ext cx="7772400" cy="5715000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Moreover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inserting a new department may cause issues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because it need at least one instructor at the university.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tuples in the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in dep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table require values for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salary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This means that we cannot record information about the newly created department until the first instructor is hired for the new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department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 the old design, the schema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department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can handle this, but under the revised design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, we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would have to create a tuple with a null value for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building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budget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overcome this issue we are going for schema refinement</a:t>
            </a:r>
            <a:endParaRPr lang="en-IN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96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15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Schema Refinement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6200" y="990600"/>
            <a:ext cx="8915400" cy="57912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Schema Refinement refers to refine the schema by using some technique. 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best technique of schema refinement is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decomposition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 general, a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schema that exhibits repetition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of information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may have to be decomposed into several smaller schemas</a:t>
            </a:r>
            <a:endParaRPr lang="en-IN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Normalization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or Schema Refinement is a technique of organizing the data in the database. 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It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is a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systematic approach of decomposing tables to eliminate data redundancy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and undesirable characteristics like Insertion, Update and Deletion Anomalies. 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Redundancy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refers to repetition of same data or duplicate copies of same data stored in different locations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Anomalies</a:t>
            </a: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Anomalies refers to the problems occurred after poorly planned and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normalized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databases where all the data is stored in one table which is sometimes called a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flat file database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2400" y="6324600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599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228600"/>
            <a:ext cx="7772400" cy="57150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 decompositions of schemas are helpful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 Consider an extreme case in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which all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schemas consist of one attribute. 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interesting relationships of any kind 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could be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expressed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Now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consider a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less extreme case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where we choose to decompose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IN" i="1" dirty="0" smtClean="0">
                <a:latin typeface="Calibri" panose="020F0502020204030204" pitchFamily="34" charset="0"/>
                <a:cs typeface="Calibri" panose="020F0502020204030204" pitchFamily="34" charset="0"/>
              </a:rPr>
              <a:t>employee </a:t>
            </a: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schema.</a:t>
            </a:r>
          </a:p>
          <a:p>
            <a:pPr marL="0" indent="0">
              <a:buNone/>
            </a:pPr>
            <a:r>
              <a:rPr lang="en-US" i="1" dirty="0" smtClean="0">
                <a:latin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n-US" i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employee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street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city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salary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indent="0">
              <a:buNone/>
            </a:pP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   into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following two schemas:</a:t>
            </a:r>
          </a:p>
          <a:p>
            <a:pPr marL="0" indent="0">
              <a:buNone/>
            </a:pPr>
            <a:r>
              <a:rPr lang="en-IN" i="1" dirty="0" smtClean="0">
                <a:latin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n-IN" i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employee1 </a:t>
            </a:r>
            <a:r>
              <a:rPr lang="en-IN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lang="en-IN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IN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endParaRPr lang="en-IN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i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employee2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street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city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salary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 </a:t>
            </a:r>
            <a:endParaRPr lang="en-US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784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228600"/>
            <a:ext cx="8458200" cy="6629400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flaw in this decomposition arises from the possibility that the enterprise has two employees with the same name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Each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person would have a unique employee-id,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which is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why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ID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can serve as the primary key. As an example, let us assume two employees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, both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named Kim, work at the university and have the following tuples in the relation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on schema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employee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 the original design:</a:t>
            </a:r>
          </a:p>
          <a:p>
            <a:pPr marL="0" indent="0">
              <a:buNone/>
            </a:pP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		(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57766, Kim, Main,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Perryridge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75000)</a:t>
            </a:r>
          </a:p>
          <a:p>
            <a:pPr marL="0" indent="0">
              <a:buNone/>
            </a:pP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		(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98776, Kim, North, Hampton, 67000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resulting tuples using the schemas resulting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from the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decomposition, and the result if we attempted to regenerate the original tuples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using a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natural join. 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As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we see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, the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two original tuples appear in the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result along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with two new tuples that incorrectly mix data values pertaining to the two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employees named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Kim. 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Although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we have more tuples, we actually have less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information </a:t>
            </a: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in 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following 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sense.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308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sz="quarter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35" t="21598" r="27961" b="9320"/>
          <a:stretch/>
        </p:blipFill>
        <p:spPr bwMode="auto">
          <a:xfrm>
            <a:off x="-3132" y="152400"/>
            <a:ext cx="6270532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5426901" y="381000"/>
            <a:ext cx="3733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Loss of information via a bad decomposition</a:t>
            </a:r>
            <a:endParaRPr lang="en-IN" sz="2800" b="1" dirty="0"/>
          </a:p>
        </p:txBody>
      </p:sp>
      <p:sp>
        <p:nvSpPr>
          <p:cNvPr id="5" name="Rectangle 4"/>
          <p:cNvSpPr/>
          <p:nvPr/>
        </p:nvSpPr>
        <p:spPr>
          <a:xfrm>
            <a:off x="141962" y="5451901"/>
            <a:ext cx="8763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We shall refer to such 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decompositions as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being </a:t>
            </a:r>
            <a:r>
              <a:rPr lang="en-US" sz="24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lossy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decompositions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and, conversely, to those that are not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 </a:t>
            </a:r>
            <a:r>
              <a:rPr lang="en-US" sz="24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lossless decompositions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716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742" y="457200"/>
            <a:ext cx="8103344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030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227"/>
            <a:ext cx="7772400" cy="792162"/>
          </a:xfrm>
        </p:spPr>
        <p:txBody>
          <a:bodyPr/>
          <a:lstStyle/>
          <a:p>
            <a:r>
              <a:rPr lang="en-IN" b="1" dirty="0"/>
              <a:t>Lossless Decomposition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685800"/>
            <a:ext cx="8686800" cy="6019800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Let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R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be a relation schema and let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1 and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2 form a decomposition of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—that is,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viewing </a:t>
            </a:r>
            <a:r>
              <a:rPr lang="en-US" i="1" dirty="0" smtClean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1, and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2 as sets of attributes,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R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=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1 ∪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2. 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We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say that the decomposition is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a lossless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decomposition if there is no loss of information by replacing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R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with two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relation </a:t>
            </a: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schemas </a:t>
            </a:r>
            <a:r>
              <a:rPr lang="en-IN" i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1 and </a:t>
            </a:r>
            <a:r>
              <a:rPr lang="en-IN" i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More precisely, we </a:t>
            </a: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say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decomposition is lossless if, for all legal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database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instances, relation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r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contains the same set of tuples as the result of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following 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SQL query</a:t>
            </a: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select * 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from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(select </a:t>
            </a:r>
            <a:r>
              <a:rPr lang="en-US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from r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IN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natural join (</a:t>
            </a:r>
            <a:r>
              <a:rPr lang="en-IN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select </a:t>
            </a:r>
            <a:r>
              <a:rPr lang="en-IN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IN" baseline="-25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IN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from r)</a:t>
            </a:r>
            <a:endParaRPr lang="en-IN" dirty="0" smtClean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 other words, if we project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r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onto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and compute the natural join of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the projection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results, we get back exactly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			</a:t>
            </a:r>
            <a:r>
              <a:rPr lang="el-GR" dirty="0" smtClean="0">
                <a:latin typeface="Calibri" panose="020F0502020204030204" pitchFamily="34" charset="0"/>
                <a:cs typeface="Calibri" panose="020F0502020204030204" pitchFamily="34" charset="0"/>
              </a:rPr>
              <a:t>Π</a:t>
            </a:r>
            <a:r>
              <a:rPr lang="en-IN" i="1" dirty="0" smtClean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IN" baseline="-25000" dirty="0" smtClean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IN" i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) ⋈ 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Π</a:t>
            </a:r>
            <a:r>
              <a:rPr lang="en-IN" i="1" dirty="0" smtClean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IN" baseline="-25000" dirty="0" smtClean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i="1" dirty="0" smtClean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) = </a:t>
            </a:r>
            <a:r>
              <a:rPr lang="en-IN" i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629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Conversely, a decomposition is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lossy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if when we compute the natural join of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the projection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results, we get a proper superset of the original relation. 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This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is stated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more briefly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 the relational algebra as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marL="0" indent="0">
              <a:buNone/>
            </a:pPr>
            <a:r>
              <a:rPr lang="en-IN" i="1" dirty="0" smtClean="0">
                <a:latin typeface="Calibri" panose="020F0502020204030204" pitchFamily="34" charset="0"/>
                <a:cs typeface="Calibri" panose="020F0502020204030204" pitchFamily="34" charset="0"/>
              </a:rPr>
              <a:t>		r </a:t>
            </a:r>
            <a:r>
              <a:rPr lang="en-IN" i="1" dirty="0">
                <a:latin typeface="Calibri" panose="020F0502020204030204" pitchFamily="34" charset="0"/>
                <a:cs typeface="Calibri" panose="020F0502020204030204" pitchFamily="34" charset="0"/>
              </a:rPr>
              <a:t>⊂ 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Π</a:t>
            </a:r>
            <a:r>
              <a:rPr lang="en-IN" i="1" dirty="0" smtClean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IN" baseline="-25000" dirty="0" smtClean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IN" i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) ⋈ 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Π</a:t>
            </a:r>
            <a:r>
              <a:rPr lang="en-IN" i="1" dirty="0" smtClean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IN" baseline="-25000" dirty="0" smtClean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IN" i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038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Design guidelines for Relational </a:t>
            </a:r>
            <a:r>
              <a:rPr lang="en-US" dirty="0"/>
              <a:t>S</a:t>
            </a:r>
            <a:r>
              <a:rPr lang="en-US" dirty="0" smtClean="0"/>
              <a:t>chema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informal guidelines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that may be used as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measures to determine the quality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of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relation </a:t>
            </a: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schema 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design:</a:t>
            </a:r>
            <a:endParaRPr lang="en-IN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31520" lvl="1" indent="-457200">
              <a:buFont typeface="+mj-lt"/>
              <a:buAutoNum type="arabicPeriod"/>
            </a:pP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Making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sure that the semantics of the attributes is clear in the schema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Reducing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redundant information in tuples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Reducing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NULL values in tuples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Disallowing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possibility of generating spurious tuples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These measures are not always independent of one another, as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104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sz="quarter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21" t="19592" r="20386" b="13620"/>
          <a:stretch/>
        </p:blipFill>
        <p:spPr bwMode="auto">
          <a:xfrm>
            <a:off x="3352800" y="381000"/>
            <a:ext cx="5181600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04800" y="-19833"/>
            <a:ext cx="8610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1. Imparting </a:t>
            </a:r>
            <a:r>
              <a:rPr lang="en-US" sz="36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Clear Semantics to Attributes in Relations</a:t>
            </a:r>
            <a:endParaRPr lang="en-IN" sz="36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057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28599"/>
            <a:ext cx="6172200" cy="5980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199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38200" y="457200"/>
            <a:ext cx="7772400" cy="581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Guideline </a:t>
            </a:r>
            <a:r>
              <a:rPr lang="en-IN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  <a:p>
            <a:endParaRPr lang="en-IN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Design a relation schema so that </a:t>
            </a:r>
            <a:r>
              <a:rPr lang="en-US" sz="2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is easy to explain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its meaning. </a:t>
            </a:r>
            <a:endParaRPr lang="en-US" sz="28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 </a:t>
            </a:r>
            <a:r>
              <a:rPr lang="en-US" sz="2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 </a:t>
            </a:r>
            <a:r>
              <a:rPr lang="en-US" sz="28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combine attributes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from multiple </a:t>
            </a:r>
            <a:r>
              <a:rPr lang="en-US" sz="2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entity types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relationship types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into a </a:t>
            </a:r>
            <a:r>
              <a:rPr lang="en-US" sz="2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single relation</a:t>
            </a:r>
            <a:r>
              <a:rPr lang="en-US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Intuitively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, if a relation schema corresponds to one entity type or one </a:t>
            </a:r>
            <a:r>
              <a:rPr lang="en-US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relationship type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, it is straightforward to interpret and to explain its meaning. </a:t>
            </a:r>
            <a:endParaRPr lang="en-US" sz="28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Otherwise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, if </a:t>
            </a:r>
            <a:r>
              <a:rPr lang="en-US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the relation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corresponds to a </a:t>
            </a:r>
            <a:r>
              <a:rPr lang="en-US" sz="2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mixture of multiple entities and relationships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semantic ambiguities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will result and the </a:t>
            </a:r>
            <a:r>
              <a:rPr lang="en-US" sz="2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relation cannot be easily explained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369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Violation of Guideline 1</a:t>
            </a:r>
            <a:endParaRPr lang="en-IN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00"/>
            <a:ext cx="8150806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036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274638"/>
            <a:ext cx="9067800" cy="1143000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2. Redundant </a:t>
            </a:r>
            <a:r>
              <a:rPr lang="en-IN" b="1" dirty="0"/>
              <a:t>Information in </a:t>
            </a:r>
            <a:r>
              <a:rPr lang="en-IN" b="1" dirty="0" smtClean="0"/>
              <a:t>Tuples and </a:t>
            </a:r>
            <a:r>
              <a:rPr lang="en-IN" b="1" dirty="0"/>
              <a:t>Update Anomalies</a:t>
            </a:r>
            <a:endParaRPr lang="en-IN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295400"/>
            <a:ext cx="5692036" cy="5437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052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7724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Anomalies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762000"/>
            <a:ext cx="8458200" cy="58674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Insert Anomaly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To insert a new employee tuple into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EMP_DEPT</a:t>
            </a:r>
          </a:p>
          <a:p>
            <a:pPr lvl="1" algn="just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It is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difficult to insert a new department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that has no employees as yet in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IN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EMP_DEPT </a:t>
            </a:r>
            <a:r>
              <a:rPr lang="en-IN" sz="3200" dirty="0">
                <a:latin typeface="Calibri" panose="020F0502020204030204" pitchFamily="34" charset="0"/>
                <a:cs typeface="Calibri" panose="020F0502020204030204" pitchFamily="34" charset="0"/>
              </a:rPr>
              <a:t>relation.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Deletion Anomaly</a:t>
            </a:r>
          </a:p>
          <a:p>
            <a:pPr lvl="1" algn="just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If we delete from EMP_DEPT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an employee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tuple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that happens to represent the last employee working for a 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particular department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the information concerning that department is lost from the database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Modification Anomaly</a:t>
            </a:r>
          </a:p>
          <a:p>
            <a:pPr lvl="1" algn="just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if we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change the value of one of 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attributes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a particular 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department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 we must 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update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tuples of </a:t>
            </a:r>
            <a:r>
              <a:rPr lang="en-US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employees who work in that department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; otherwise,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the database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will become inconsistent. 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725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7772400" cy="1143000"/>
          </a:xfrm>
        </p:spPr>
        <p:txBody>
          <a:bodyPr/>
          <a:lstStyle/>
          <a:p>
            <a:r>
              <a:rPr lang="en-IN" b="1" dirty="0"/>
              <a:t>Guideline 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676400"/>
            <a:ext cx="8458200" cy="4572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Design the base relation schemas so that no insertion, deletion, or 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modification anomalies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are present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 the relations. 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If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any anomalies are present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note 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them clearly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 make sure that the programs that update the database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will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operate </a:t>
            </a: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correctly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868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152400"/>
            <a:ext cx="7772400" cy="1143000"/>
          </a:xfrm>
        </p:spPr>
        <p:txBody>
          <a:bodyPr/>
          <a:lstStyle/>
          <a:p>
            <a:r>
              <a:rPr lang="en-IN" b="1" dirty="0" smtClean="0"/>
              <a:t>3. NULL </a:t>
            </a:r>
            <a:r>
              <a:rPr lang="en-IN" b="1" dirty="0"/>
              <a:t>Values in Tuples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990600"/>
            <a:ext cx="8458200" cy="5562600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 some schema designs we may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group many attributes together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into a “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” relation.</a:t>
            </a:r>
          </a:p>
          <a:p>
            <a:pPr algn="just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If many of the attributes do not apply to all tuples in the relation, we end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up with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many NULLs in those tuples. 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This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can waste space at the storage level and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may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also lead to problems with understanding the meaning of the attributes and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with specifying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JOIN operations at the logical level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Another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problem with NULLs is 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to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account for them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when aggregate operations such as COUNT or SUM are applied.</a:t>
            </a:r>
          </a:p>
          <a:p>
            <a:pPr algn="just"/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SELECT and JOIN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operations involve comparisons; if NULL values are present,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results 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may become </a:t>
            </a:r>
            <a:r>
              <a:rPr lang="en-IN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unpredictable</a:t>
            </a:r>
            <a:r>
              <a:rPr lang="en-IN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N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490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914400"/>
            <a:ext cx="8077200" cy="5105400"/>
          </a:xfrm>
        </p:spPr>
        <p:txBody>
          <a:bodyPr>
            <a:no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NULLs can have multiple interpretations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such 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as the following:</a:t>
            </a:r>
          </a:p>
          <a:p>
            <a:pPr marL="274320" lvl="1" indent="0">
              <a:buNone/>
            </a:pPr>
            <a:r>
              <a:rPr lang="en-US" sz="2600" dirty="0" smtClean="0">
                <a:latin typeface="Calibri" panose="020F0502020204030204" pitchFamily="34" charset="0"/>
                <a:cs typeface="Calibri" panose="020F0502020204030204" pitchFamily="34" charset="0"/>
              </a:rPr>
              <a:t>■ </a:t>
            </a:r>
            <a:r>
              <a:rPr lang="en-US" sz="2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attribute </a:t>
            </a:r>
            <a:r>
              <a:rPr lang="en-US" sz="26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does not apply </a:t>
            </a:r>
            <a:r>
              <a:rPr lang="en-US" sz="2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this tuple</a:t>
            </a:r>
            <a:r>
              <a:rPr lang="en-US" sz="26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  </a:t>
            </a:r>
            <a:r>
              <a:rPr lang="en-US" sz="2600" dirty="0" smtClean="0">
                <a:latin typeface="Calibri" panose="020F0502020204030204" pitchFamily="34" charset="0"/>
                <a:cs typeface="Calibri" panose="020F0502020204030204" pitchFamily="34" charset="0"/>
              </a:rPr>
              <a:t>                                     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lang="en-US" sz="2600" dirty="0" smtClean="0">
                <a:latin typeface="Calibri" panose="020F0502020204030204" pitchFamily="34" charset="0"/>
                <a:cs typeface="Calibri" panose="020F0502020204030204" pitchFamily="34" charset="0"/>
              </a:rPr>
              <a:t>ex :  </a:t>
            </a:r>
            <a:r>
              <a:rPr lang="en-US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Visa_status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may </a:t>
            </a:r>
            <a:r>
              <a:rPr lang="en-US" sz="2600" dirty="0" smtClean="0">
                <a:latin typeface="Calibri" panose="020F0502020204030204" pitchFamily="34" charset="0"/>
                <a:cs typeface="Calibri" panose="020F0502020204030204" pitchFamily="34" charset="0"/>
              </a:rPr>
              <a:t>not </a:t>
            </a:r>
            <a:r>
              <a:rPr lang="en-IN" sz="2600" dirty="0" smtClean="0">
                <a:latin typeface="Calibri" panose="020F0502020204030204" pitchFamily="34" charset="0"/>
                <a:cs typeface="Calibri" panose="020F0502020204030204" pitchFamily="34" charset="0"/>
              </a:rPr>
              <a:t>apply </a:t>
            </a:r>
            <a:r>
              <a:rPr lang="en-IN" sz="2600" dirty="0">
                <a:latin typeface="Calibri" panose="020F0502020204030204" pitchFamily="34" charset="0"/>
                <a:cs typeface="Calibri" panose="020F0502020204030204" pitchFamily="34" charset="0"/>
              </a:rPr>
              <a:t>to U.S. students.</a:t>
            </a:r>
          </a:p>
          <a:p>
            <a:pPr marL="274320" lvl="1" indent="0">
              <a:buNone/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■ </a:t>
            </a:r>
            <a:r>
              <a:rPr lang="en-US" sz="2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attribute value for this tuple is </a:t>
            </a:r>
            <a:r>
              <a:rPr lang="en-US" sz="26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unknown</a:t>
            </a:r>
            <a:r>
              <a:rPr lang="en-US" sz="26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                                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lang="en-US" sz="2600" dirty="0" smtClean="0">
                <a:latin typeface="Calibri" panose="020F0502020204030204" pitchFamily="34" charset="0"/>
                <a:cs typeface="Calibri" panose="020F0502020204030204" pitchFamily="34" charset="0"/>
              </a:rPr>
              <a:t>ex: 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6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Date_of_birth</a:t>
            </a:r>
            <a:r>
              <a:rPr lang="en-US" sz="2600" dirty="0" smtClean="0">
                <a:latin typeface="Calibri" panose="020F0502020204030204" pitchFamily="34" charset="0"/>
                <a:cs typeface="Calibri" panose="020F0502020204030204" pitchFamily="34" charset="0"/>
              </a:rPr>
              <a:t> may 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be unknown for an employee.</a:t>
            </a:r>
          </a:p>
          <a:p>
            <a:pPr marL="274320" lvl="1" indent="0">
              <a:buNone/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■</a:t>
            </a:r>
            <a:r>
              <a:rPr lang="en-US" sz="2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The value is </a:t>
            </a:r>
            <a:r>
              <a:rPr lang="en-US" sz="26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known but absent</a:t>
            </a:r>
            <a:r>
              <a:rPr lang="en-US" sz="2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 that is, it has not been recorded yet. 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lang="en-US" sz="2600" dirty="0" smtClean="0">
                <a:latin typeface="Calibri" panose="020F0502020204030204" pitchFamily="34" charset="0"/>
                <a:cs typeface="Calibri" panose="020F0502020204030204" pitchFamily="34" charset="0"/>
              </a:rPr>
              <a:t>ex : the </a:t>
            </a:r>
            <a:r>
              <a:rPr lang="en-US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Home_Phone_Number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for an employee may exist, but may not </a:t>
            </a:r>
            <a:r>
              <a:rPr lang="en-US" sz="2600" dirty="0" smtClean="0">
                <a:latin typeface="Calibri" panose="020F0502020204030204" pitchFamily="34" charset="0"/>
                <a:cs typeface="Calibri" panose="020F0502020204030204" pitchFamily="34" charset="0"/>
              </a:rPr>
              <a:t>be </a:t>
            </a:r>
            <a:r>
              <a:rPr lang="en-IN" sz="2600" dirty="0" smtClean="0">
                <a:latin typeface="Calibri" panose="020F0502020204030204" pitchFamily="34" charset="0"/>
                <a:cs typeface="Calibri" panose="020F0502020204030204" pitchFamily="34" charset="0"/>
              </a:rPr>
              <a:t>available </a:t>
            </a:r>
            <a:r>
              <a:rPr lang="en-IN" sz="2600" dirty="0">
                <a:latin typeface="Calibri" panose="020F0502020204030204" pitchFamily="34" charset="0"/>
                <a:cs typeface="Calibri" panose="020F0502020204030204" pitchFamily="34" charset="0"/>
              </a:rPr>
              <a:t>and recorded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188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Guideline 3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828800"/>
            <a:ext cx="7772400" cy="4191000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As far as possible,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avoid placing attributes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 a base relation whose values may 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frequently be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NULL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NULLs are unavoidable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make sure that they </a:t>
            </a:r>
            <a:r>
              <a:rPr lang="en-IN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apply </a:t>
            </a:r>
            <a:r>
              <a:rPr lang="en-IN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</a:t>
            </a:r>
            <a:r>
              <a:rPr lang="en-IN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exceptional 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cases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only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and do not apply to a majority of tuples in the relation.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959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4.Generation </a:t>
            </a:r>
            <a:r>
              <a:rPr lang="en-IN" b="1" dirty="0"/>
              <a:t>of Spurious Tuples</a:t>
            </a:r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371600"/>
            <a:ext cx="5947117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113" y="2286000"/>
            <a:ext cx="2981325" cy="26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714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685800"/>
            <a:ext cx="8044485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529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241" y="30271"/>
            <a:ext cx="7328359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222020" y="5233873"/>
            <a:ext cx="892198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 of applying NATURAL JOIN to the </a:t>
            </a:r>
            <a:r>
              <a:rPr lang="en-US" sz="26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tuples in </a:t>
            </a:r>
            <a:r>
              <a:rPr lang="en-US" sz="2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EMP_PROJ1 and </a:t>
            </a:r>
            <a:r>
              <a:rPr lang="en-US" sz="26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EMP_LOCS  </a:t>
            </a:r>
            <a:r>
              <a:rPr lang="en-US" sz="2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Generated </a:t>
            </a:r>
            <a:r>
              <a:rPr lang="en-US" sz="26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spurious tuples </a:t>
            </a:r>
            <a:r>
              <a:rPr lang="en-US" sz="2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are marked by asterisks</a:t>
            </a:r>
            <a:r>
              <a:rPr lang="en-US" sz="2600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 They </a:t>
            </a:r>
            <a:r>
              <a:rPr lang="en-US" sz="2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represent spurious information that is not valid.</a:t>
            </a:r>
            <a:endParaRPr lang="en-IN" sz="26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0" y="6400800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807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14400"/>
            <a:ext cx="7772400" cy="4572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Decomposing EMP_PROJ into EMP_LOCS and EMP_PROJ1 is undesirable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because when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we JOIN them back using NATURAL JOIN,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are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 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getting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correct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original information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This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is because in this case </a:t>
            </a:r>
            <a:r>
              <a:rPr lang="en-US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Plocation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is the attribute that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relates EMP_LOCS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and EMP_PROJ1, and </a:t>
            </a:r>
            <a:r>
              <a:rPr lang="en-US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Plocation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is neither a primary key nor a 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foreign key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 either EMP_LOCS or EMP_PROJ1.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306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65563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Guideline </a:t>
            </a:r>
            <a:r>
              <a:rPr lang="en-IN" b="1" dirty="0" smtClean="0"/>
              <a:t>4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143000"/>
            <a:ext cx="7772400" cy="4038600"/>
          </a:xfrm>
        </p:spPr>
        <p:txBody>
          <a:bodyPr/>
          <a:lstStyle/>
          <a:p>
            <a:pPr algn="just"/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Design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relation schemas so that they can be joined with equality conditions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on attributes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that are appropriately related (primary key, foreign key) pairs in a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way that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guarantees that no spurious tuples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are generated. 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Avoid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relations that 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contain matching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attributes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that are not (foreign key, primary key) combinations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because joining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on such attributes may produce spurious tuples.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141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991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Summary and Discussion of Design Guidelines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458200" cy="4800600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Anomalies that cause redundant work to be done during insertion into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and modification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of a relation, and that may cause accidental loss of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information during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 deletion from a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relation</a:t>
            </a:r>
          </a:p>
          <a:p>
            <a:pPr algn="just"/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Waste of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storage space due to NULLs and the difficulty of performing selections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, aggregation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operations, and joins due to NULL values</a:t>
            </a:r>
          </a:p>
          <a:p>
            <a:pPr algn="just"/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Generation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of invalid and spurious data during joins on base relations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with matched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attributes that may not represent a proper (foreign key,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primary </a:t>
            </a: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relationship.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373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Schema Refinement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Normalization</a:t>
            </a:r>
          </a:p>
          <a:p>
            <a:pPr lvl="1"/>
            <a:r>
              <a:rPr lang="en-US" sz="2600" dirty="0" smtClean="0">
                <a:latin typeface="Calibri" panose="020F0502020204030204" pitchFamily="34" charset="0"/>
                <a:cs typeface="Calibri" panose="020F0502020204030204" pitchFamily="34" charset="0"/>
              </a:rPr>
              <a:t>Data analysis technique to design a Database system</a:t>
            </a:r>
          </a:p>
          <a:p>
            <a:pPr lvl="1"/>
            <a:r>
              <a:rPr lang="en-US" sz="2600" dirty="0" smtClean="0">
                <a:latin typeface="Calibri" panose="020F0502020204030204" pitchFamily="34" charset="0"/>
                <a:cs typeface="Calibri" panose="020F0502020204030204" pitchFamily="34" charset="0"/>
              </a:rPr>
              <a:t>Abnormal data to normal data</a:t>
            </a:r>
          </a:p>
          <a:p>
            <a:pPr lvl="1"/>
            <a:r>
              <a:rPr lang="en-US" sz="2600" dirty="0" smtClean="0">
                <a:latin typeface="Calibri" panose="020F0502020204030204" pitchFamily="34" charset="0"/>
                <a:cs typeface="Calibri" panose="020F0502020204030204" pitchFamily="34" charset="0"/>
              </a:rPr>
              <a:t>Properties</a:t>
            </a:r>
          </a:p>
          <a:p>
            <a:pPr lvl="2"/>
            <a:r>
              <a:rPr lang="en-US" sz="2600" dirty="0" smtClean="0">
                <a:latin typeface="Calibri" panose="020F0502020204030204" pitchFamily="34" charset="0"/>
                <a:cs typeface="Calibri" panose="020F0502020204030204" pitchFamily="34" charset="0"/>
              </a:rPr>
              <a:t>No redundancy</a:t>
            </a:r>
          </a:p>
          <a:p>
            <a:pPr lvl="2"/>
            <a:r>
              <a:rPr lang="en-US" sz="2600" dirty="0" smtClean="0">
                <a:latin typeface="Calibri" panose="020F0502020204030204" pitchFamily="34" charset="0"/>
                <a:cs typeface="Calibri" panose="020F0502020204030204" pitchFamily="34" charset="0"/>
              </a:rPr>
              <a:t>No update anomaly  </a:t>
            </a:r>
          </a:p>
          <a:p>
            <a:pPr lvl="2"/>
            <a:endParaRPr lang="en-US" sz="26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>
              <a:buNone/>
            </a:pPr>
            <a:endParaRPr lang="en-US" sz="26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>
              <a:buNone/>
            </a:pP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004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Schema Refinement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Normalization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600" dirty="0" smtClean="0">
                <a:latin typeface="Calibri" panose="020F0502020204030204" pitchFamily="34" charset="0"/>
                <a:cs typeface="Calibri" panose="020F0502020204030204" pitchFamily="34" charset="0"/>
              </a:rPr>
              <a:t>Functional Dependencies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600" dirty="0" smtClean="0">
                <a:latin typeface="Calibri" panose="020F0502020204030204" pitchFamily="34" charset="0"/>
                <a:cs typeface="Calibri" panose="020F0502020204030204" pitchFamily="34" charset="0"/>
              </a:rPr>
              <a:t>Finding the key attribute</a:t>
            </a:r>
          </a:p>
          <a:p>
            <a:pPr marL="457200" lvl="1" indent="0">
              <a:buNone/>
            </a:pPr>
            <a:endParaRPr lang="en-US" sz="26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>
              <a:buNone/>
            </a:pPr>
            <a:endParaRPr lang="en-US" sz="26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>
              <a:buNone/>
            </a:pP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90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1047</TotalTime>
  <Words>1676</Words>
  <Application>Microsoft Office PowerPoint</Application>
  <PresentationFormat>On-screen Show (4:3)</PresentationFormat>
  <Paragraphs>150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Equity</vt:lpstr>
      <vt:lpstr>Database Design – Schema Refinement - Guidelines for Relational Schema</vt:lpstr>
      <vt:lpstr>Features of Good Relational Designs</vt:lpstr>
      <vt:lpstr>PowerPoint Presentation</vt:lpstr>
      <vt:lpstr>PowerPoint Presentation</vt:lpstr>
      <vt:lpstr>PowerPoint Presentation</vt:lpstr>
      <vt:lpstr>Schema Refinement</vt:lpstr>
      <vt:lpstr>PowerPoint Presentation</vt:lpstr>
      <vt:lpstr>PowerPoint Presentation</vt:lpstr>
      <vt:lpstr>PowerPoint Presentation</vt:lpstr>
      <vt:lpstr>PowerPoint Presentation</vt:lpstr>
      <vt:lpstr>Lossless Decomposition</vt:lpstr>
      <vt:lpstr>PowerPoint Presentation</vt:lpstr>
      <vt:lpstr>Design guidelines for Relational Schema</vt:lpstr>
      <vt:lpstr>PowerPoint Presentation</vt:lpstr>
      <vt:lpstr>PowerPoint Presentation</vt:lpstr>
      <vt:lpstr>PowerPoint Presentation</vt:lpstr>
      <vt:lpstr>Violation of Guideline 1</vt:lpstr>
      <vt:lpstr>2. Redundant Information in Tuples and Update Anomalies</vt:lpstr>
      <vt:lpstr>Anomalies</vt:lpstr>
      <vt:lpstr>Guideline 2</vt:lpstr>
      <vt:lpstr>3. NULL Values in Tuples</vt:lpstr>
      <vt:lpstr>PowerPoint Presentation</vt:lpstr>
      <vt:lpstr>Guideline 3</vt:lpstr>
      <vt:lpstr>4.Generation of Spurious Tuples</vt:lpstr>
      <vt:lpstr>PowerPoint Presentation</vt:lpstr>
      <vt:lpstr>PowerPoint Presentation</vt:lpstr>
      <vt:lpstr>PowerPoint Presentation</vt:lpstr>
      <vt:lpstr>Guideline 4</vt:lpstr>
      <vt:lpstr>Summary and Discussion of Design Guidelines</vt:lpstr>
      <vt:lpstr>Schema Refinement</vt:lpstr>
      <vt:lpstr>Schema Refinement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Minimal cover on Functional Dependency</dc:title>
  <dc:creator>VIT-Laptop</dc:creator>
  <cp:lastModifiedBy>HP</cp:lastModifiedBy>
  <cp:revision>71</cp:revision>
  <dcterms:created xsi:type="dcterms:W3CDTF">2006-08-16T00:00:00Z</dcterms:created>
  <dcterms:modified xsi:type="dcterms:W3CDTF">2024-08-07T05:09:19Z</dcterms:modified>
</cp:coreProperties>
</file>