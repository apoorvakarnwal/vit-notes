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715000" type="screen16x10"/>
  <p:notesSz cx="9144000" cy="5715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18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85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85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3172B-9DFA-4C9B-9E44-35B4D24095C6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714375"/>
            <a:ext cx="3086100" cy="1928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751138"/>
            <a:ext cx="7315200" cy="22494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429250"/>
            <a:ext cx="3962400" cy="285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5429250"/>
            <a:ext cx="3962400" cy="285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9CD5C-3004-474C-990B-85F521D42C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94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79CD5C-3004-474C-990B-85F521D42C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899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1B25-5EBB-74BD-EF7F-0B6AC74FA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0E271-A5C0-D646-6DE7-B6B58451A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0BE4-635E-E6F8-33CA-3C2B093B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1D81F-FA51-EC2D-C85A-87E475D9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898D-48C1-F459-993F-C19B7755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183249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112F-4B87-9023-AF20-EB4E17234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8448-0528-C677-939B-BCC4C3C6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229D-E9C2-81BF-6950-E8C5B31D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D3D59-101B-BB94-502B-54C6EC75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B6DD-E25F-EEE0-71E0-5E89BB8C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190839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550D-5B92-2A33-79A3-BF4AB462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894AA-2883-D72C-E7D8-29EA5411A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8E17E-E58A-50D7-0F60-2B6C5E3E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6D401-AFF2-BB59-292F-F00EC6AB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D4012-E762-8FF9-D076-EED7286E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231026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FA68-CD79-7DC4-72AE-2BD048C6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065B-DA56-9675-F351-F0F110F6E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705C6-1A46-E006-4D25-3806E9F65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70122-F5A7-3AC2-2893-9B6CE2D9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D4EEC-E032-9521-4B79-996E9D06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76F0-A451-BCD1-D217-F6F04CFC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139217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C2BF-345C-5484-9E7D-98FAC92D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D63BC-4308-777F-99D0-02CD20556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6F68A-634B-0F55-E18E-91A915067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4F8CC-6CF6-C9FB-DF80-A3E061A06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4B7881-A96B-F653-59E3-CA783996D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09DB3-DA28-7B50-8555-9951BC2C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4CFE5-057A-80F3-497B-40BFC949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2FFCD-7EED-494A-145C-4E47250D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64262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69E4-F281-E332-ABA8-8370A2B1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E8E5D-864C-F430-01C5-1184C72C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1B147-FA83-5161-069D-687EECF28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9C2DE-3C56-11CE-8D51-76AE38E0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211354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119AC-622C-5493-49AB-534B59D30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75184-68C4-1DB5-E625-CFBA0138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EF8BE-5FA8-FC39-3CD3-952860EA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651790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EBF91-FF49-1A9F-74B5-1B9C4E0B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4C547-33AC-1726-7D5D-B6E7E4D0B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0F5D7-244F-5D3B-7AAB-34F70D589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D07A-CA28-7F5D-DE77-AC4E86C6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9233A-76A1-9CBB-A9BE-D163C248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2CE00-2964-9027-0288-1C511C42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777760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D689-5986-8143-92F9-7533ABA0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7BEF6-C9B2-7608-15A7-685EB045B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6130B-F331-EE38-2DD5-F8AFBA028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BEE50-DBA1-38E8-FDBA-A571831B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23665-E967-31AF-E7D1-A8C867E0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BAA3-B735-AF01-1EC3-CD1BF6BB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380474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482C-D213-4440-0507-D96E79E3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07364-9C3F-3973-33D8-E3379183C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2E929-E172-5BB5-132D-4E11315A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1EFD6-10D5-593E-E0AE-6E3ED288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28C0D-B056-3244-2854-1D739014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3512427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0B13B-5A73-F686-FB04-79E91D56E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67D64-6438-52B3-9F88-8584C8E92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0452B-9E42-CBFE-47A6-1AFE61E7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D75AA-7F82-190D-EDB2-EDCCD220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7D97E-C65B-B5C2-E14A-F282DE7A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259974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B954C-9358-2AE9-8294-404693DCE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47D30-3322-4312-BE14-9D7A0D19D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7BF58-19E8-5487-18CF-101921B69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90BEA-44EB-9909-6014-976EE0005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0A2BF-8B15-B49C-D4F8-CC5309DE8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60" smtClean="0"/>
              <a:t>‹#›</a:t>
            </a:fld>
            <a:endParaRPr lang="en-IN" spc="-60" dirty="0"/>
          </a:p>
        </p:txBody>
      </p:sp>
    </p:spTree>
    <p:extLst>
      <p:ext uri="{BB962C8B-B14F-4D97-AF65-F5344CB8AC3E}">
        <p14:creationId xmlns:p14="http://schemas.microsoft.com/office/powerpoint/2010/main" val="153267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920" y="1715770"/>
            <a:ext cx="562356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marR="5080" indent="-92710">
              <a:lnSpc>
                <a:spcPct val="100000"/>
              </a:lnSpc>
              <a:spcBef>
                <a:spcPts val="100"/>
              </a:spcBef>
            </a:pPr>
            <a:r>
              <a:rPr sz="5400" spc="-420" dirty="0"/>
              <a:t>D</a:t>
            </a:r>
            <a:r>
              <a:rPr sz="5400" spc="-330" dirty="0"/>
              <a:t>o</a:t>
            </a:r>
            <a:r>
              <a:rPr sz="5400" spc="-220" dirty="0"/>
              <a:t>cu</a:t>
            </a:r>
            <a:r>
              <a:rPr sz="5400" spc="-360" dirty="0"/>
              <a:t>m</a:t>
            </a:r>
            <a:r>
              <a:rPr sz="5400" spc="-250" dirty="0"/>
              <a:t>e</a:t>
            </a:r>
            <a:r>
              <a:rPr sz="5400" spc="-254" dirty="0"/>
              <a:t>n</a:t>
            </a:r>
            <a:r>
              <a:rPr sz="5400" spc="310" dirty="0"/>
              <a:t>t</a:t>
            </a:r>
            <a:r>
              <a:rPr sz="5400" spc="-190" dirty="0"/>
              <a:t>-Orie</a:t>
            </a:r>
            <a:r>
              <a:rPr sz="5400" spc="-240" dirty="0"/>
              <a:t>n</a:t>
            </a:r>
            <a:r>
              <a:rPr sz="5400" spc="-60" dirty="0"/>
              <a:t>ted  </a:t>
            </a:r>
            <a:r>
              <a:rPr sz="5400" spc="-360" dirty="0"/>
              <a:t>Databases </a:t>
            </a:r>
            <a:r>
              <a:rPr sz="5400" spc="-70" dirty="0"/>
              <a:t>in</a:t>
            </a:r>
            <a:r>
              <a:rPr sz="5400" spc="-235" dirty="0"/>
              <a:t> </a:t>
            </a:r>
            <a:r>
              <a:rPr sz="5400" spc="-195" dirty="0"/>
              <a:t>Depth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70433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Outline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20866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3319"/>
            <a:ext cx="2955290" cy="42938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40" dirty="0">
                <a:latin typeface="Arial"/>
                <a:cs typeface="Arial"/>
              </a:rPr>
              <a:t>Introduction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4060"/>
              </a:lnSpc>
              <a:spcBef>
                <a:spcPts val="240"/>
              </a:spcBef>
            </a:pPr>
            <a:r>
              <a:rPr sz="2800" spc="-80" dirty="0">
                <a:latin typeface="Arial"/>
                <a:cs typeface="Arial"/>
              </a:rPr>
              <a:t>What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27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Document  </a:t>
            </a:r>
            <a:r>
              <a:rPr sz="2800" spc="-175" dirty="0">
                <a:latin typeface="Arial"/>
                <a:cs typeface="Arial"/>
              </a:rPr>
              <a:t>DocumentDBs  </a:t>
            </a:r>
            <a:r>
              <a:rPr sz="2800" spc="-160" dirty="0">
                <a:latin typeface="Arial"/>
                <a:cs typeface="Arial"/>
              </a:rPr>
              <a:t>MongoDB</a:t>
            </a:r>
            <a:endParaRPr sz="28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340"/>
              </a:spcBef>
              <a:buChar char="–"/>
              <a:tabLst>
                <a:tab pos="412750" algn="l"/>
              </a:tabLst>
            </a:pPr>
            <a:r>
              <a:rPr sz="2400" spc="-125" dirty="0">
                <a:latin typeface="Arial"/>
                <a:cs typeface="Arial"/>
              </a:rPr>
              <a:t>Data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135" dirty="0">
                <a:latin typeface="Arial"/>
                <a:cs typeface="Arial"/>
              </a:rPr>
              <a:t>Indexes</a:t>
            </a:r>
            <a:endParaRPr sz="24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340" dirty="0">
                <a:latin typeface="Arial"/>
                <a:cs typeface="Arial"/>
              </a:rPr>
              <a:t>CRUD</a:t>
            </a:r>
            <a:endParaRPr sz="24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165" dirty="0">
                <a:latin typeface="Arial"/>
                <a:cs typeface="Arial"/>
              </a:rPr>
              <a:t>Scaling</a:t>
            </a:r>
            <a:endParaRPr sz="24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170" dirty="0">
                <a:latin typeface="Arial"/>
                <a:cs typeface="Arial"/>
              </a:rPr>
              <a:t>Pros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220" dirty="0">
                <a:latin typeface="Arial"/>
                <a:cs typeface="Arial"/>
              </a:rPr>
              <a:t>Cons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61258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Document </a:t>
            </a:r>
            <a:r>
              <a:rPr spc="-505" dirty="0"/>
              <a:t>DB</a:t>
            </a:r>
            <a:r>
              <a:rPr spc="-345" dirty="0"/>
              <a:t> </a:t>
            </a:r>
            <a:r>
              <a:rPr spc="-45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3319"/>
            <a:ext cx="7502525" cy="32448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140" dirty="0">
                <a:latin typeface="Arial"/>
                <a:cs typeface="Arial"/>
              </a:rPr>
              <a:t>Documents </a:t>
            </a:r>
            <a:r>
              <a:rPr sz="2800" spc="-114" dirty="0">
                <a:latin typeface="Arial"/>
                <a:cs typeface="Arial"/>
              </a:rPr>
              <a:t>are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00" dirty="0">
                <a:latin typeface="Arial"/>
                <a:cs typeface="Arial"/>
              </a:rPr>
              <a:t>main</a:t>
            </a:r>
            <a:r>
              <a:rPr sz="2800" spc="-31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concept.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85" dirty="0">
                <a:latin typeface="Arial"/>
                <a:cs typeface="Arial"/>
              </a:rPr>
              <a:t>Document-oriented </a:t>
            </a:r>
            <a:r>
              <a:rPr sz="2800" spc="-145" dirty="0">
                <a:latin typeface="Arial"/>
                <a:cs typeface="Arial"/>
              </a:rPr>
              <a:t>database </a:t>
            </a:r>
            <a:r>
              <a:rPr sz="2800" spc="-114" dirty="0">
                <a:latin typeface="Arial"/>
                <a:cs typeface="Arial"/>
              </a:rPr>
              <a:t>stores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80" dirty="0">
                <a:latin typeface="Arial"/>
                <a:cs typeface="Arial"/>
              </a:rPr>
              <a:t>retrieves  </a:t>
            </a:r>
            <a:r>
              <a:rPr sz="2800" spc="-114" dirty="0">
                <a:latin typeface="Arial"/>
                <a:cs typeface="Arial"/>
              </a:rPr>
              <a:t>documents </a:t>
            </a:r>
            <a:r>
              <a:rPr sz="2800" spc="-185" dirty="0">
                <a:latin typeface="Arial"/>
                <a:cs typeface="Arial"/>
              </a:rPr>
              <a:t>(XML, </a:t>
            </a:r>
            <a:r>
              <a:rPr sz="2800" spc="-350" dirty="0">
                <a:latin typeface="Arial"/>
                <a:cs typeface="Arial"/>
              </a:rPr>
              <a:t>JSON, </a:t>
            </a:r>
            <a:r>
              <a:rPr sz="2800" spc="-370" dirty="0">
                <a:latin typeface="Arial"/>
                <a:cs typeface="Arial"/>
              </a:rPr>
              <a:t>BSON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200" dirty="0">
                <a:latin typeface="Arial"/>
                <a:cs typeface="Arial"/>
              </a:rPr>
              <a:t>so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on).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140" dirty="0">
                <a:latin typeface="Arial"/>
                <a:cs typeface="Arial"/>
              </a:rPr>
              <a:t>Documents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are:</a:t>
            </a:r>
            <a:endParaRPr sz="28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110" dirty="0">
                <a:latin typeface="Arial"/>
                <a:cs typeface="Arial"/>
              </a:rPr>
              <a:t>Self-describing</a:t>
            </a:r>
            <a:endParaRPr sz="2400">
              <a:latin typeface="Arial"/>
              <a:cs typeface="Arial"/>
            </a:endParaRPr>
          </a:p>
          <a:p>
            <a:pPr marL="412750" marR="365125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412750" algn="l"/>
              </a:tabLst>
            </a:pPr>
            <a:r>
              <a:rPr sz="2400" spc="-90" dirty="0">
                <a:latin typeface="Arial"/>
                <a:cs typeface="Arial"/>
              </a:rPr>
              <a:t>Hierarchical </a:t>
            </a:r>
            <a:r>
              <a:rPr sz="2400" spc="-30" dirty="0">
                <a:latin typeface="Arial"/>
                <a:cs typeface="Arial"/>
              </a:rPr>
              <a:t>tree </a:t>
            </a:r>
            <a:r>
              <a:rPr sz="2400" spc="-80" dirty="0">
                <a:latin typeface="Arial"/>
                <a:cs typeface="Arial"/>
              </a:rPr>
              <a:t>data </a:t>
            </a:r>
            <a:r>
              <a:rPr sz="2400" spc="-70" dirty="0">
                <a:latin typeface="Arial"/>
                <a:cs typeface="Arial"/>
              </a:rPr>
              <a:t>structures </a:t>
            </a:r>
            <a:r>
              <a:rPr sz="2400" spc="-125" dirty="0">
                <a:latin typeface="Arial"/>
                <a:cs typeface="Arial"/>
              </a:rPr>
              <a:t>(maps, </a:t>
            </a:r>
            <a:r>
              <a:rPr sz="2400" spc="-60" dirty="0">
                <a:latin typeface="Arial"/>
                <a:cs typeface="Arial"/>
              </a:rPr>
              <a:t>collection</a:t>
            </a:r>
            <a:r>
              <a:rPr sz="2400" spc="-39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  </a:t>
            </a:r>
            <a:r>
              <a:rPr sz="2400" spc="-130" dirty="0">
                <a:latin typeface="Arial"/>
                <a:cs typeface="Arial"/>
              </a:rPr>
              <a:t>scalar </a:t>
            </a:r>
            <a:r>
              <a:rPr sz="2400" spc="-125" dirty="0">
                <a:latin typeface="Arial"/>
                <a:cs typeface="Arial"/>
              </a:rPr>
              <a:t>values)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873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What </a:t>
            </a:r>
            <a:r>
              <a:rPr spc="-229" dirty="0"/>
              <a:t>is </a:t>
            </a:r>
            <a:r>
              <a:rPr spc="-340" dirty="0"/>
              <a:t>a </a:t>
            </a:r>
            <a:r>
              <a:rPr spc="-175" dirty="0"/>
              <a:t>Document</a:t>
            </a:r>
            <a:r>
              <a:rPr spc="-290" dirty="0"/>
              <a:t> </a:t>
            </a:r>
            <a:r>
              <a:rPr spc="-475" dirty="0"/>
              <a:t>DB?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7694930" cy="1761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20" dirty="0">
                <a:latin typeface="Arial"/>
                <a:cs typeface="Arial"/>
              </a:rPr>
              <a:t>Document </a:t>
            </a:r>
            <a:r>
              <a:rPr sz="2800" spc="-165" dirty="0">
                <a:latin typeface="Arial"/>
                <a:cs typeface="Arial"/>
              </a:rPr>
              <a:t>databases </a:t>
            </a:r>
            <a:r>
              <a:rPr sz="2800" spc="-75" dirty="0">
                <a:latin typeface="Arial"/>
                <a:cs typeface="Arial"/>
              </a:rPr>
              <a:t>store </a:t>
            </a:r>
            <a:r>
              <a:rPr sz="2800" spc="-114" dirty="0">
                <a:latin typeface="Arial"/>
                <a:cs typeface="Arial"/>
              </a:rPr>
              <a:t>documents </a:t>
            </a:r>
            <a:r>
              <a:rPr sz="2800" spc="-45" dirty="0">
                <a:latin typeface="Arial"/>
                <a:cs typeface="Arial"/>
              </a:rPr>
              <a:t>in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35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value  </a:t>
            </a:r>
            <a:r>
              <a:rPr sz="2800" spc="-30" dirty="0">
                <a:latin typeface="Arial"/>
                <a:cs typeface="Arial"/>
              </a:rPr>
              <a:t>part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25" dirty="0">
                <a:latin typeface="Arial"/>
                <a:cs typeface="Arial"/>
              </a:rPr>
              <a:t>key-value </a:t>
            </a:r>
            <a:r>
              <a:rPr sz="2800" spc="-75" dirty="0">
                <a:latin typeface="Arial"/>
                <a:cs typeface="Arial"/>
              </a:rPr>
              <a:t>store</a:t>
            </a:r>
            <a:r>
              <a:rPr sz="2800" spc="-55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where: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spc="-114" dirty="0">
                <a:latin typeface="Arial"/>
                <a:cs typeface="Arial"/>
              </a:rPr>
              <a:t>Documents </a:t>
            </a:r>
            <a:r>
              <a:rPr sz="2400" spc="-95" dirty="0">
                <a:latin typeface="Arial"/>
                <a:cs typeface="Arial"/>
              </a:rPr>
              <a:t>are </a:t>
            </a:r>
            <a:r>
              <a:rPr sz="2400" spc="-100" dirty="0">
                <a:latin typeface="Arial"/>
                <a:cs typeface="Arial"/>
              </a:rPr>
              <a:t>indexed </a:t>
            </a:r>
            <a:r>
              <a:rPr sz="2400" spc="-125" dirty="0">
                <a:latin typeface="Arial"/>
                <a:cs typeface="Arial"/>
              </a:rPr>
              <a:t>using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spc="-185" dirty="0">
                <a:latin typeface="Arial"/>
                <a:cs typeface="Arial"/>
              </a:rPr>
              <a:t>BTree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70" dirty="0">
                <a:latin typeface="Arial"/>
                <a:cs typeface="Arial"/>
              </a:rPr>
              <a:t>queried </a:t>
            </a:r>
            <a:r>
              <a:rPr sz="2400" spc="-125" dirty="0">
                <a:latin typeface="Arial"/>
                <a:cs typeface="Arial"/>
              </a:rPr>
              <a:t>using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50" dirty="0">
                <a:latin typeface="Arial"/>
                <a:cs typeface="Arial"/>
              </a:rPr>
              <a:t>JavaScript </a:t>
            </a:r>
            <a:r>
              <a:rPr sz="2400" spc="-75" dirty="0">
                <a:latin typeface="Arial"/>
                <a:cs typeface="Arial"/>
              </a:rPr>
              <a:t>query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engine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700" y="3073400"/>
            <a:ext cx="7239000" cy="215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671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What </a:t>
            </a:r>
            <a:r>
              <a:rPr spc="-229" dirty="0"/>
              <a:t>is </a:t>
            </a:r>
            <a:r>
              <a:rPr spc="-340" dirty="0"/>
              <a:t>a </a:t>
            </a:r>
            <a:r>
              <a:rPr spc="-175" dirty="0"/>
              <a:t>Document</a:t>
            </a:r>
            <a:r>
              <a:rPr spc="-290" dirty="0"/>
              <a:t> </a:t>
            </a:r>
            <a:r>
              <a:rPr spc="-475" dirty="0"/>
              <a:t>DB?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861310"/>
            <a:ext cx="132715" cy="13500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877820"/>
            <a:ext cx="7225030" cy="208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27480">
              <a:lnSpc>
                <a:spcPct val="120800"/>
              </a:lnSpc>
              <a:spcBef>
                <a:spcPts val="100"/>
              </a:spcBef>
            </a:pPr>
            <a:r>
              <a:rPr sz="2400" spc="-114" dirty="0">
                <a:latin typeface="Arial"/>
                <a:cs typeface="Arial"/>
              </a:rPr>
              <a:t>Documents </a:t>
            </a:r>
            <a:r>
              <a:rPr sz="2400" spc="-130" dirty="0">
                <a:latin typeface="Arial"/>
                <a:cs typeface="Arial"/>
              </a:rPr>
              <a:t>have </a:t>
            </a:r>
            <a:r>
              <a:rPr sz="2400" spc="-80" dirty="0">
                <a:latin typeface="Arial"/>
                <a:cs typeface="Arial"/>
              </a:rPr>
              <a:t>differences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their</a:t>
            </a:r>
            <a:r>
              <a:rPr sz="2400" spc="-34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attributes  </a:t>
            </a:r>
            <a:r>
              <a:rPr sz="2400" spc="-80" dirty="0">
                <a:latin typeface="Arial"/>
                <a:cs typeface="Arial"/>
              </a:rPr>
              <a:t>But </a:t>
            </a:r>
            <a:r>
              <a:rPr sz="2400" spc="-120" dirty="0">
                <a:latin typeface="Arial"/>
                <a:cs typeface="Arial"/>
              </a:rPr>
              <a:t>belongs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35" dirty="0">
                <a:latin typeface="Arial"/>
                <a:cs typeface="Arial"/>
              </a:rPr>
              <a:t>the </a:t>
            </a:r>
            <a:r>
              <a:rPr sz="2400" spc="-170" dirty="0">
                <a:latin typeface="Arial"/>
                <a:cs typeface="Arial"/>
              </a:rPr>
              <a:t>same</a:t>
            </a:r>
            <a:r>
              <a:rPr sz="2400" spc="-45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collection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60" dirty="0">
                <a:latin typeface="Arial"/>
                <a:cs typeface="Arial"/>
              </a:rPr>
              <a:t>This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15" dirty="0">
                <a:latin typeface="Arial"/>
                <a:cs typeface="Arial"/>
              </a:rPr>
              <a:t>different </a:t>
            </a:r>
            <a:r>
              <a:rPr sz="2400" spc="-20" dirty="0">
                <a:latin typeface="Arial"/>
                <a:cs typeface="Arial"/>
              </a:rPr>
              <a:t>from </a:t>
            </a:r>
            <a:r>
              <a:rPr sz="2400" spc="-50" dirty="0">
                <a:latin typeface="Arial"/>
                <a:cs typeface="Arial"/>
              </a:rPr>
              <a:t>relational </a:t>
            </a:r>
            <a:r>
              <a:rPr sz="2400" spc="-140" dirty="0">
                <a:latin typeface="Arial"/>
                <a:cs typeface="Arial"/>
              </a:rPr>
              <a:t>databases </a:t>
            </a:r>
            <a:r>
              <a:rPr sz="2400" spc="-70" dirty="0">
                <a:latin typeface="Arial"/>
                <a:cs typeface="Arial"/>
              </a:rPr>
              <a:t>where</a:t>
            </a:r>
            <a:r>
              <a:rPr sz="2400" spc="-39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columns:</a:t>
            </a:r>
            <a:endParaRPr sz="24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114" dirty="0">
                <a:latin typeface="Arial"/>
                <a:cs typeface="Arial"/>
              </a:rPr>
              <a:t>Stores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45" dirty="0">
                <a:latin typeface="Arial"/>
                <a:cs typeface="Arial"/>
              </a:rPr>
              <a:t>same </a:t>
            </a:r>
            <a:r>
              <a:rPr sz="2000" spc="-40" dirty="0">
                <a:latin typeface="Arial"/>
                <a:cs typeface="Arial"/>
              </a:rPr>
              <a:t>type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values</a:t>
            </a:r>
            <a:endParaRPr sz="200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500"/>
              </a:spcBef>
              <a:buChar char="–"/>
              <a:tabLst>
                <a:tab pos="412115" algn="l"/>
                <a:tab pos="412750" algn="l"/>
              </a:tabLst>
            </a:pPr>
            <a:r>
              <a:rPr sz="2000" spc="-105" dirty="0">
                <a:latin typeface="Arial"/>
                <a:cs typeface="Arial"/>
              </a:rPr>
              <a:t>Or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6339" y="1220470"/>
            <a:ext cx="14890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"name": "Phil",  "age": 26,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"status":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"A"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8069" y="946150"/>
            <a:ext cx="2616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6665" algn="l"/>
              </a:tabLst>
            </a:pPr>
            <a:r>
              <a:rPr sz="1800" dirty="0">
                <a:latin typeface="Arial"/>
                <a:cs typeface="Arial"/>
              </a:rPr>
              <a:t>{	{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8069" y="2043429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2670" y="1220470"/>
            <a:ext cx="395224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marR="23399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"name": "Phil",  "age": 26,  </a:t>
            </a:r>
            <a:r>
              <a:rPr sz="1800" spc="-5" dirty="0">
                <a:latin typeface="Arial"/>
                <a:cs typeface="Arial"/>
              </a:rPr>
              <a:t>"status":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"A",</a:t>
            </a:r>
            <a:endParaRPr sz="1800">
              <a:latin typeface="Arial"/>
              <a:cs typeface="Arial"/>
            </a:endParaRPr>
          </a:p>
          <a:p>
            <a:pPr marL="12700" marR="5080" indent="12827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"citiesVisited" </a:t>
            </a:r>
            <a:r>
              <a:rPr sz="1800" dirty="0">
                <a:latin typeface="Arial"/>
                <a:cs typeface="Arial"/>
              </a:rPr>
              <a:t>: </a:t>
            </a:r>
            <a:r>
              <a:rPr sz="1800" spc="-10" dirty="0">
                <a:latin typeface="Arial"/>
                <a:cs typeface="Arial"/>
              </a:rPr>
              <a:t>["Chicago", </a:t>
            </a:r>
            <a:r>
              <a:rPr sz="1800" spc="-5" dirty="0">
                <a:latin typeface="Arial"/>
                <a:cs typeface="Arial"/>
              </a:rPr>
              <a:t>"LA", </a:t>
            </a:r>
            <a:r>
              <a:rPr sz="1800" spc="-10" dirty="0">
                <a:latin typeface="Arial"/>
                <a:cs typeface="Arial"/>
              </a:rPr>
              <a:t>"San  Francisco"]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0"/>
            <a:ext cx="52031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spc="-484" dirty="0"/>
              <a:t>RDBMS </a:t>
            </a:r>
            <a:r>
              <a:rPr sz="4000" spc="-320" dirty="0"/>
              <a:t>vs </a:t>
            </a:r>
            <a:r>
              <a:rPr sz="4000" spc="-160" dirty="0"/>
              <a:t>Document </a:t>
            </a:r>
            <a:r>
              <a:rPr sz="4000" spc="-325" dirty="0"/>
              <a:t>DB:  </a:t>
            </a:r>
            <a:r>
              <a:rPr sz="4000" spc="-155" dirty="0"/>
              <a:t>Terminology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6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414019" y="1543050"/>
            <a:ext cx="7682230" cy="3303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39280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Document</a:t>
            </a:r>
            <a:r>
              <a:rPr spc="-285" dirty="0"/>
              <a:t> </a:t>
            </a:r>
            <a:r>
              <a:rPr spc="-500" dirty="0"/>
              <a:t>DBs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7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20866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3319"/>
            <a:ext cx="2092961" cy="209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2800" spc="-160" dirty="0">
                <a:latin typeface="Arial"/>
                <a:cs typeface="Arial"/>
              </a:rPr>
              <a:t>MongoDB  </a:t>
            </a:r>
            <a:r>
              <a:rPr sz="2800" spc="-245" dirty="0" err="1">
                <a:latin typeface="Arial"/>
                <a:cs typeface="Arial"/>
              </a:rPr>
              <a:t>CouchDB</a:t>
            </a:r>
            <a:r>
              <a:rPr sz="2800" spc="-245" dirty="0">
                <a:latin typeface="Arial"/>
                <a:cs typeface="Arial"/>
              </a:rPr>
              <a:t>  </a:t>
            </a:r>
            <a:r>
              <a:rPr sz="2800" spc="-385" dirty="0" err="1">
                <a:latin typeface="Arial"/>
                <a:cs typeface="Arial"/>
              </a:rPr>
              <a:t>R</a:t>
            </a:r>
            <a:r>
              <a:rPr sz="2800" spc="-290" dirty="0" err="1">
                <a:latin typeface="Arial"/>
                <a:cs typeface="Arial"/>
              </a:rPr>
              <a:t>e</a:t>
            </a:r>
            <a:r>
              <a:rPr sz="2800" spc="150" dirty="0" err="1">
                <a:latin typeface="Arial"/>
                <a:cs typeface="Arial"/>
              </a:rPr>
              <a:t>t</a:t>
            </a:r>
            <a:r>
              <a:rPr sz="2800" spc="-105" dirty="0" err="1">
                <a:latin typeface="Arial"/>
                <a:cs typeface="Arial"/>
              </a:rPr>
              <a:t>h</a:t>
            </a:r>
            <a:r>
              <a:rPr sz="2800" spc="-25" dirty="0" err="1">
                <a:latin typeface="Arial"/>
                <a:cs typeface="Arial"/>
              </a:rPr>
              <a:t>i</a:t>
            </a:r>
            <a:r>
              <a:rPr sz="2800" spc="-65" dirty="0" err="1">
                <a:latin typeface="Arial"/>
                <a:cs typeface="Arial"/>
              </a:rPr>
              <a:t>n</a:t>
            </a:r>
            <a:r>
              <a:rPr sz="2800" spc="-130" dirty="0" err="1">
                <a:latin typeface="Arial"/>
                <a:cs typeface="Arial"/>
              </a:rPr>
              <a:t>k</a:t>
            </a:r>
            <a:r>
              <a:rPr sz="2800" spc="-315" dirty="0" err="1">
                <a:latin typeface="Arial"/>
                <a:cs typeface="Arial"/>
              </a:rPr>
              <a:t>D</a:t>
            </a:r>
            <a:r>
              <a:rPr lang="en-IN" sz="2800" spc="-315" dirty="0">
                <a:latin typeface="Arial"/>
                <a:cs typeface="Arial"/>
              </a:rPr>
              <a:t>B</a:t>
            </a:r>
          </a:p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2800" spc="-254" dirty="0" err="1">
                <a:latin typeface="Arial"/>
                <a:cs typeface="Arial"/>
              </a:rPr>
              <a:t>RavenDB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45050" y="1216660"/>
            <a:ext cx="1663700" cy="67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72050" y="3441700"/>
            <a:ext cx="3695700" cy="127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65700" y="2368550"/>
            <a:ext cx="2133600" cy="825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13844" y="3543300"/>
            <a:ext cx="2731206" cy="17494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22459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60" dirty="0">
                <a:latin typeface="Arial"/>
                <a:cs typeface="Arial"/>
              </a:rPr>
              <a:t>Mongo</a:t>
            </a:r>
            <a:r>
              <a:rPr sz="4000" b="1" spc="-295" dirty="0">
                <a:latin typeface="Arial"/>
                <a:cs typeface="Arial"/>
              </a:rPr>
              <a:t> </a:t>
            </a:r>
            <a:r>
              <a:rPr sz="4000" b="1" spc="-515" dirty="0">
                <a:latin typeface="Arial"/>
                <a:cs typeface="Arial"/>
              </a:rPr>
              <a:t>DB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8</a:t>
            </a:fld>
            <a:endParaRPr spc="-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51536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20" dirty="0">
                <a:latin typeface="Arial"/>
                <a:cs typeface="Arial"/>
              </a:rPr>
              <a:t>Documents: </a:t>
            </a:r>
            <a:r>
              <a:rPr sz="4000" b="1" spc="-215" dirty="0">
                <a:latin typeface="Arial"/>
                <a:cs typeface="Arial"/>
              </a:rPr>
              <a:t>Data</a:t>
            </a:r>
            <a:r>
              <a:rPr sz="4000" b="1" spc="-150" dirty="0">
                <a:latin typeface="Arial"/>
                <a:cs typeface="Arial"/>
              </a:rPr>
              <a:t> </a:t>
            </a:r>
            <a:r>
              <a:rPr sz="4000" b="1" spc="-160" dirty="0">
                <a:latin typeface="Arial"/>
                <a:cs typeface="Arial"/>
              </a:rPr>
              <a:t>Model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9</a:t>
            </a:fld>
            <a:endParaRPr spc="-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559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</a:t>
            </a:r>
            <a:r>
              <a:rPr spc="-229" dirty="0"/>
              <a:t>Data</a:t>
            </a:r>
            <a:r>
              <a:rPr spc="-360" dirty="0"/>
              <a:t> </a:t>
            </a:r>
            <a:r>
              <a:rPr spc="-80" dirty="0"/>
              <a:t>Model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10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79420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163319"/>
            <a:ext cx="7576184" cy="331851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150" dirty="0">
                <a:latin typeface="Arial"/>
                <a:cs typeface="Arial"/>
              </a:rPr>
              <a:t>Data </a:t>
            </a:r>
            <a:r>
              <a:rPr sz="2800" spc="-210" dirty="0">
                <a:latin typeface="Arial"/>
                <a:cs typeface="Arial"/>
              </a:rPr>
              <a:t>has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65" dirty="0">
                <a:latin typeface="Arial"/>
                <a:cs typeface="Arial"/>
              </a:rPr>
              <a:t>flexible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190" dirty="0">
                <a:latin typeface="Arial"/>
                <a:cs typeface="Arial"/>
              </a:rPr>
              <a:t>schema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spc="-185" dirty="0">
                <a:latin typeface="Arial"/>
                <a:cs typeface="Arial"/>
              </a:rPr>
              <a:t>This </a:t>
            </a:r>
            <a:r>
              <a:rPr sz="2800" spc="-135" dirty="0">
                <a:latin typeface="Arial"/>
                <a:cs typeface="Arial"/>
              </a:rPr>
              <a:t>helps </a:t>
            </a:r>
            <a:r>
              <a:rPr sz="2800" spc="-45" dirty="0">
                <a:latin typeface="Arial"/>
                <a:cs typeface="Arial"/>
              </a:rPr>
              <a:t>in </a:t>
            </a:r>
            <a:r>
              <a:rPr sz="2800" spc="-100" dirty="0">
                <a:latin typeface="Arial"/>
                <a:cs typeface="Arial"/>
              </a:rPr>
              <a:t>matching </a:t>
            </a:r>
            <a:r>
              <a:rPr sz="2800" spc="-90" dirty="0">
                <a:latin typeface="Arial"/>
                <a:cs typeface="Arial"/>
              </a:rPr>
              <a:t>document </a:t>
            </a:r>
            <a:r>
              <a:rPr sz="2800" spc="30" dirty="0">
                <a:latin typeface="Arial"/>
                <a:cs typeface="Arial"/>
              </a:rPr>
              <a:t>to</a:t>
            </a:r>
            <a:r>
              <a:rPr sz="2800" spc="-35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objects</a:t>
            </a:r>
            <a:endParaRPr sz="2800" dirty="0">
              <a:latin typeface="Arial"/>
              <a:cs typeface="Arial"/>
            </a:endParaRPr>
          </a:p>
          <a:p>
            <a:pPr marL="412750" marR="5080" indent="-285750">
              <a:lnSpc>
                <a:spcPct val="100000"/>
              </a:lnSpc>
              <a:spcBef>
                <a:spcPts val="600"/>
              </a:spcBef>
            </a:pPr>
            <a:r>
              <a:rPr sz="3600" baseline="3472" dirty="0">
                <a:latin typeface="Arial"/>
                <a:cs typeface="Arial"/>
              </a:rPr>
              <a:t>– </a:t>
            </a:r>
            <a:r>
              <a:rPr sz="2400" spc="-229" dirty="0">
                <a:latin typeface="Arial"/>
                <a:cs typeface="Arial"/>
              </a:rPr>
              <a:t>Each </a:t>
            </a:r>
            <a:r>
              <a:rPr sz="2400" spc="-75" dirty="0">
                <a:latin typeface="Arial"/>
                <a:cs typeface="Arial"/>
              </a:rPr>
              <a:t>document </a:t>
            </a:r>
            <a:r>
              <a:rPr sz="2400" spc="-150" dirty="0">
                <a:latin typeface="Arial"/>
                <a:cs typeface="Arial"/>
              </a:rPr>
              <a:t>can </a:t>
            </a:r>
            <a:r>
              <a:rPr sz="2400" spc="-80" dirty="0">
                <a:latin typeface="Arial"/>
                <a:cs typeface="Arial"/>
              </a:rPr>
              <a:t>match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65" dirty="0">
                <a:latin typeface="Arial"/>
                <a:cs typeface="Arial"/>
              </a:rPr>
              <a:t>fields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5" dirty="0">
                <a:latin typeface="Arial"/>
                <a:cs typeface="Arial"/>
              </a:rPr>
              <a:t>document </a:t>
            </a:r>
            <a:r>
              <a:rPr sz="2400" spc="-130" dirty="0">
                <a:latin typeface="Arial"/>
                <a:cs typeface="Arial"/>
              </a:rPr>
              <a:t>also </a:t>
            </a:r>
            <a:r>
              <a:rPr sz="2400" spc="35" dirty="0">
                <a:latin typeface="Arial"/>
                <a:cs typeface="Arial"/>
              </a:rPr>
              <a:t>if  </a:t>
            </a:r>
            <a:r>
              <a:rPr sz="2400" spc="10" dirty="0">
                <a:latin typeface="Arial"/>
                <a:cs typeface="Arial"/>
              </a:rPr>
              <a:t>with </a:t>
            </a:r>
            <a:r>
              <a:rPr sz="2400" spc="-15" dirty="0">
                <a:latin typeface="Arial"/>
                <a:cs typeface="Arial"/>
              </a:rPr>
              <a:t>different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structure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150" dirty="0">
                <a:solidFill>
                  <a:srgbClr val="FF0000"/>
                </a:solidFill>
                <a:latin typeface="Arial"/>
                <a:cs typeface="Arial"/>
              </a:rPr>
              <a:t>Data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95" dirty="0">
                <a:latin typeface="Arial"/>
                <a:cs typeface="Arial"/>
              </a:rPr>
              <a:t>represented </a:t>
            </a:r>
            <a:r>
              <a:rPr sz="2800" spc="-265" dirty="0">
                <a:latin typeface="Arial"/>
                <a:cs typeface="Arial"/>
              </a:rPr>
              <a:t>as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0000"/>
                </a:solidFill>
                <a:latin typeface="Arial"/>
                <a:cs typeface="Arial"/>
              </a:rPr>
              <a:t>map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spc="-135" dirty="0">
                <a:solidFill>
                  <a:srgbClr val="FF0000"/>
                </a:solidFill>
                <a:latin typeface="Arial"/>
                <a:cs typeface="Arial"/>
              </a:rPr>
              <a:t>Relations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75" dirty="0">
                <a:latin typeface="Arial"/>
                <a:cs typeface="Arial"/>
              </a:rPr>
              <a:t>can </a:t>
            </a:r>
            <a:r>
              <a:rPr sz="2800" spc="-135" dirty="0">
                <a:latin typeface="Arial"/>
                <a:cs typeface="Arial"/>
              </a:rPr>
              <a:t>be </a:t>
            </a:r>
            <a:r>
              <a:rPr sz="2800" spc="-95" dirty="0">
                <a:latin typeface="Arial"/>
                <a:cs typeface="Arial"/>
              </a:rPr>
              <a:t>represented </a:t>
            </a:r>
            <a:r>
              <a:rPr sz="2800" spc="-190" dirty="0">
                <a:latin typeface="Arial"/>
                <a:cs typeface="Arial"/>
              </a:rPr>
              <a:t>as: </a:t>
            </a:r>
            <a:r>
              <a:rPr sz="2800" i="1" spc="-150" dirty="0">
                <a:solidFill>
                  <a:srgbClr val="FF0000"/>
                </a:solidFill>
                <a:latin typeface="Arial"/>
                <a:cs typeface="Arial"/>
              </a:rPr>
              <a:t>references</a:t>
            </a:r>
            <a:r>
              <a:rPr sz="2800" i="1" spc="-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i="1" spc="-165" dirty="0">
                <a:solidFill>
                  <a:srgbClr val="FF0000"/>
                </a:solidFill>
                <a:latin typeface="Arial"/>
                <a:cs typeface="Arial"/>
              </a:rPr>
              <a:t>embedded</a:t>
            </a:r>
            <a:r>
              <a:rPr sz="2800" i="1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i="1" spc="-140" dirty="0">
                <a:solidFill>
                  <a:srgbClr val="FF0000"/>
                </a:solidFill>
                <a:latin typeface="Arial"/>
                <a:cs typeface="Arial"/>
              </a:rPr>
              <a:t>documents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0"/>
            <a:ext cx="501586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320" dirty="0"/>
              <a:t> </a:t>
            </a:r>
            <a:r>
              <a:rPr spc="-130" dirty="0"/>
              <a:t>Structure  </a:t>
            </a:r>
            <a:r>
              <a:rPr spc="-26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11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812800" y="963930"/>
            <a:ext cx="7810500" cy="4751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75901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</a:t>
            </a:r>
            <a:r>
              <a:rPr spc="-130" dirty="0"/>
              <a:t>Structure</a:t>
            </a:r>
            <a:r>
              <a:rPr spc="-340" dirty="0"/>
              <a:t> </a:t>
            </a:r>
            <a:r>
              <a:rPr spc="-254" dirty="0"/>
              <a:t>Embedded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12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736600" y="1052830"/>
            <a:ext cx="7727950" cy="4357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68332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</a:t>
            </a:r>
            <a:r>
              <a:rPr spc="-35" dirty="0"/>
              <a:t>Write</a:t>
            </a:r>
            <a:r>
              <a:rPr spc="-345" dirty="0"/>
              <a:t> </a:t>
            </a:r>
            <a:r>
              <a:rPr spc="-165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13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3531"/>
            <a:ext cx="7313295" cy="21539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Writes </a:t>
            </a:r>
            <a:r>
              <a:rPr sz="2800" spc="-120" dirty="0">
                <a:solidFill>
                  <a:srgbClr val="FF0000"/>
                </a:solidFill>
                <a:latin typeface="Arial"/>
                <a:cs typeface="Arial"/>
              </a:rPr>
              <a:t>are 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atomic </a:t>
            </a:r>
            <a:r>
              <a:rPr sz="2800" spc="-30" dirty="0">
                <a:solidFill>
                  <a:srgbClr val="FF0000"/>
                </a:solidFill>
                <a:latin typeface="Arial"/>
                <a:cs typeface="Arial"/>
              </a:rPr>
              <a:t>at </a:t>
            </a:r>
            <a:r>
              <a:rPr sz="2800" spc="-35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document</a:t>
            </a:r>
            <a:r>
              <a:rPr sz="2800" spc="-5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level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755650" marR="194310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spc="-215" dirty="0">
                <a:latin typeface="Arial"/>
                <a:cs typeface="Arial"/>
              </a:rPr>
              <a:t>A </a:t>
            </a:r>
            <a:r>
              <a:rPr lang="en-US" sz="2400" spc="-21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Denormalized </a:t>
            </a:r>
            <a:r>
              <a:rPr sz="2400" spc="-85" dirty="0">
                <a:latin typeface="Arial"/>
                <a:cs typeface="Arial"/>
              </a:rPr>
              <a:t>data </a:t>
            </a:r>
            <a:r>
              <a:rPr sz="2400" spc="-75" dirty="0">
                <a:latin typeface="Arial"/>
                <a:cs typeface="Arial"/>
              </a:rPr>
              <a:t>model </a:t>
            </a:r>
            <a:r>
              <a:rPr sz="2400" spc="-55" dirty="0">
                <a:latin typeface="Arial"/>
                <a:cs typeface="Arial"/>
              </a:rPr>
              <a:t>facilitates </a:t>
            </a:r>
            <a:r>
              <a:rPr sz="2400" spc="-65" dirty="0">
                <a:latin typeface="Arial"/>
                <a:cs typeface="Arial"/>
              </a:rPr>
              <a:t>atomic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write  </a:t>
            </a:r>
            <a:r>
              <a:rPr sz="2400" spc="-75" dirty="0">
                <a:latin typeface="Arial"/>
                <a:cs typeface="Arial"/>
              </a:rPr>
              <a:t>operations.</a:t>
            </a:r>
            <a:endParaRPr sz="2400" dirty="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90" dirty="0">
                <a:latin typeface="Arial"/>
                <a:cs typeface="Arial"/>
              </a:rPr>
              <a:t>Normalizing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data over </a:t>
            </a:r>
            <a:r>
              <a:rPr sz="2400" spc="-30" dirty="0">
                <a:latin typeface="Arial"/>
                <a:cs typeface="Arial"/>
              </a:rPr>
              <a:t>multiple </a:t>
            </a:r>
            <a:r>
              <a:rPr sz="2400" spc="-60" dirty="0">
                <a:latin typeface="Arial"/>
                <a:cs typeface="Arial"/>
              </a:rPr>
              <a:t>collection </a:t>
            </a:r>
            <a:r>
              <a:rPr sz="2400" spc="-50" dirty="0">
                <a:latin typeface="Arial"/>
                <a:cs typeface="Arial"/>
              </a:rPr>
              <a:t>would  </a:t>
            </a:r>
            <a:r>
              <a:rPr sz="2400" spc="-55" dirty="0">
                <a:latin typeface="Arial"/>
                <a:cs typeface="Arial"/>
              </a:rPr>
              <a:t>require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multiple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write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operation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are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atomic.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6170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315" dirty="0"/>
              <a:t> </a:t>
            </a:r>
            <a:r>
              <a:rPr spc="-105" dirty="0"/>
              <a:t>Growth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14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85340"/>
            <a:ext cx="150495" cy="1054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2965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8027670" cy="327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862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70" dirty="0">
                <a:latin typeface="Arial"/>
                <a:cs typeface="Arial"/>
              </a:rPr>
              <a:t>Each </a:t>
            </a:r>
            <a:r>
              <a:rPr sz="2800" spc="-25" dirty="0">
                <a:latin typeface="Arial"/>
                <a:cs typeface="Arial"/>
              </a:rPr>
              <a:t>time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90" dirty="0">
                <a:latin typeface="Arial"/>
                <a:cs typeface="Arial"/>
              </a:rPr>
              <a:t>document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90" dirty="0">
                <a:latin typeface="Arial"/>
                <a:cs typeface="Arial"/>
              </a:rPr>
              <a:t>updated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19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modification  </a:t>
            </a:r>
            <a:r>
              <a:rPr sz="2800" spc="-120" dirty="0">
                <a:latin typeface="Arial"/>
                <a:cs typeface="Arial"/>
              </a:rPr>
              <a:t>are </a:t>
            </a:r>
            <a:r>
              <a:rPr sz="2800" spc="-110" dirty="0">
                <a:latin typeface="Arial"/>
                <a:cs typeface="Arial"/>
              </a:rPr>
              <a:t>done </a:t>
            </a:r>
            <a:r>
              <a:rPr sz="2800" spc="-155" dirty="0">
                <a:solidFill>
                  <a:srgbClr val="FF0000"/>
                </a:solidFill>
                <a:latin typeface="Arial"/>
                <a:cs typeface="Arial"/>
              </a:rPr>
              <a:t>changing </a:t>
            </a:r>
            <a:r>
              <a:rPr sz="2800" spc="-70" dirty="0">
                <a:solidFill>
                  <a:srgbClr val="FF0000"/>
                </a:solidFill>
                <a:latin typeface="Arial"/>
                <a:cs typeface="Arial"/>
              </a:rPr>
              <a:t>affected</a:t>
            </a:r>
            <a:r>
              <a:rPr sz="2800" spc="-2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attributes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90"/>
              </a:spcBef>
            </a:pPr>
            <a:r>
              <a:rPr sz="2800" spc="-270" dirty="0">
                <a:latin typeface="Arial"/>
                <a:cs typeface="Arial"/>
              </a:rPr>
              <a:t>Each </a:t>
            </a:r>
            <a:r>
              <a:rPr sz="2800" spc="-90" dirty="0">
                <a:latin typeface="Arial"/>
                <a:cs typeface="Arial"/>
              </a:rPr>
              <a:t>document </a:t>
            </a:r>
            <a:r>
              <a:rPr sz="2800" spc="-210" dirty="0">
                <a:latin typeface="Arial"/>
                <a:cs typeface="Arial"/>
              </a:rPr>
              <a:t>has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14" dirty="0">
                <a:solidFill>
                  <a:srgbClr val="FF0000"/>
                </a:solidFill>
                <a:latin typeface="Arial"/>
                <a:cs typeface="Arial"/>
              </a:rPr>
              <a:t>maximum </a:t>
            </a:r>
            <a:r>
              <a:rPr sz="2800" spc="-195" dirty="0">
                <a:solidFill>
                  <a:srgbClr val="FF0000"/>
                </a:solidFill>
                <a:latin typeface="Arial"/>
                <a:cs typeface="Arial"/>
              </a:rPr>
              <a:t>size </a:t>
            </a: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800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FF0000"/>
                </a:solidFill>
                <a:latin typeface="Arial"/>
                <a:cs typeface="Arial"/>
              </a:rPr>
              <a:t>16MB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If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document </a:t>
            </a:r>
            <a:r>
              <a:rPr sz="2800" spc="-195" dirty="0">
                <a:solidFill>
                  <a:srgbClr val="FF0000"/>
                </a:solidFill>
                <a:latin typeface="Arial"/>
                <a:cs typeface="Arial"/>
              </a:rPr>
              <a:t>size </a:t>
            </a:r>
            <a:r>
              <a:rPr sz="2800" spc="-190" dirty="0">
                <a:solidFill>
                  <a:srgbClr val="FF0000"/>
                </a:solidFill>
                <a:latin typeface="Arial"/>
                <a:cs typeface="Arial"/>
              </a:rPr>
              <a:t>exceeds </a:t>
            </a:r>
            <a:r>
              <a:rPr sz="2800" spc="-160" dirty="0">
                <a:latin typeface="Arial"/>
                <a:cs typeface="Arial"/>
              </a:rPr>
              <a:t>MongoDB </a:t>
            </a:r>
            <a:r>
              <a:rPr sz="2800" spc="-110" dirty="0">
                <a:solidFill>
                  <a:srgbClr val="FF0000"/>
                </a:solidFill>
                <a:latin typeface="Arial"/>
                <a:cs typeface="Arial"/>
              </a:rPr>
              <a:t>relocates</a:t>
            </a:r>
            <a:r>
              <a:rPr sz="2800" spc="-3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 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document </a:t>
            </a:r>
            <a:r>
              <a:rPr sz="2800" spc="-85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800" spc="-2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FF0000"/>
                </a:solidFill>
                <a:latin typeface="Arial"/>
                <a:cs typeface="Arial"/>
              </a:rPr>
              <a:t>disk.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55600" marR="149225">
              <a:lnSpc>
                <a:spcPct val="100000"/>
              </a:lnSpc>
              <a:spcBef>
                <a:spcPts val="690"/>
              </a:spcBef>
            </a:pPr>
            <a:r>
              <a:rPr sz="2800" spc="-80" dirty="0">
                <a:latin typeface="Arial"/>
                <a:cs typeface="Arial"/>
              </a:rPr>
              <a:t>In </a:t>
            </a:r>
            <a:r>
              <a:rPr sz="2800" spc="-160" dirty="0">
                <a:latin typeface="Arial"/>
                <a:cs typeface="Arial"/>
              </a:rPr>
              <a:t>MongoDB </a:t>
            </a:r>
            <a:r>
              <a:rPr sz="2800" spc="-120" dirty="0">
                <a:latin typeface="Arial"/>
                <a:cs typeface="Arial"/>
              </a:rPr>
              <a:t>3.0 </a:t>
            </a:r>
            <a:r>
              <a:rPr sz="2800" spc="-60" dirty="0">
                <a:latin typeface="Arial"/>
                <a:cs typeface="Arial"/>
              </a:rPr>
              <a:t>this </a:t>
            </a:r>
            <a:r>
              <a:rPr sz="2800" spc="-75" dirty="0">
                <a:latin typeface="Arial"/>
                <a:cs typeface="Arial"/>
              </a:rPr>
              <a:t>problem </a:t>
            </a:r>
            <a:r>
              <a:rPr sz="2800" spc="-150" dirty="0">
                <a:latin typeface="Arial"/>
                <a:cs typeface="Arial"/>
              </a:rPr>
              <a:t>is </a:t>
            </a:r>
            <a:r>
              <a:rPr sz="2800" spc="-95" dirty="0">
                <a:latin typeface="Arial"/>
                <a:cs typeface="Arial"/>
              </a:rPr>
              <a:t>minimized </a:t>
            </a:r>
            <a:r>
              <a:rPr sz="2800" spc="-150" dirty="0">
                <a:latin typeface="Arial"/>
                <a:cs typeface="Arial"/>
              </a:rPr>
              <a:t>using</a:t>
            </a:r>
            <a:r>
              <a:rPr sz="2800" spc="-45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the  </a:t>
            </a:r>
            <a:r>
              <a:rPr sz="2800" spc="-135" dirty="0">
                <a:solidFill>
                  <a:srgbClr val="FF0000"/>
                </a:solidFill>
                <a:latin typeface="Arial"/>
                <a:cs typeface="Arial"/>
              </a:rPr>
              <a:t>Power 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800" spc="-140" dirty="0">
                <a:solidFill>
                  <a:srgbClr val="FF0000"/>
                </a:solidFill>
                <a:latin typeface="Arial"/>
                <a:cs typeface="Arial"/>
              </a:rPr>
              <a:t>2 </a:t>
            </a:r>
            <a:r>
              <a:rPr sz="2800" spc="-229" dirty="0">
                <a:solidFill>
                  <a:srgbClr val="FF0000"/>
                </a:solidFill>
                <a:latin typeface="Arial"/>
                <a:cs typeface="Arial"/>
              </a:rPr>
              <a:t>Sized</a:t>
            </a:r>
            <a:r>
              <a:rPr sz="2800" spc="-3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Allocation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315" dirty="0"/>
              <a:t> </a:t>
            </a:r>
            <a:r>
              <a:rPr spc="-150" dirty="0"/>
              <a:t>ObjectId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15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387857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163531"/>
            <a:ext cx="7781290" cy="40398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00" dirty="0">
                <a:latin typeface="Arial"/>
                <a:cs typeface="Arial"/>
              </a:rPr>
              <a:t>ObjectId </a:t>
            </a:r>
            <a:r>
              <a:rPr sz="2800" spc="-150" dirty="0">
                <a:latin typeface="Arial"/>
                <a:cs typeface="Arial"/>
              </a:rPr>
              <a:t>is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90" dirty="0">
                <a:latin typeface="Arial"/>
                <a:cs typeface="Arial"/>
              </a:rPr>
              <a:t>12-byte </a:t>
            </a:r>
            <a:r>
              <a:rPr sz="2800" spc="-370" dirty="0">
                <a:latin typeface="Arial"/>
                <a:cs typeface="Arial"/>
              </a:rPr>
              <a:t>BSON </a:t>
            </a:r>
            <a:r>
              <a:rPr lang="en-US" sz="2800" spc="-370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type, </a:t>
            </a:r>
            <a:r>
              <a:rPr sz="2800" spc="-85" dirty="0">
                <a:latin typeface="Arial"/>
                <a:cs typeface="Arial"/>
              </a:rPr>
              <a:t>constructed</a:t>
            </a:r>
            <a:r>
              <a:rPr sz="2800" spc="-505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using:</a:t>
            </a:r>
            <a:endParaRPr sz="2800" dirty="0">
              <a:latin typeface="Arial"/>
              <a:cs typeface="Arial"/>
            </a:endParaRPr>
          </a:p>
          <a:p>
            <a:pPr marL="755650" marR="260985" lvl="1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755650" algn="l"/>
              </a:tabLst>
            </a:pP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4-byte </a:t>
            </a:r>
            <a:r>
              <a:rPr sz="2400" spc="-100" dirty="0">
                <a:latin typeface="Arial"/>
                <a:cs typeface="Arial"/>
              </a:rPr>
              <a:t>value </a:t>
            </a:r>
            <a:r>
              <a:rPr sz="2400" spc="-75" dirty="0">
                <a:latin typeface="Arial"/>
                <a:cs typeface="Arial"/>
              </a:rPr>
              <a:t>representing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60" dirty="0">
                <a:latin typeface="Arial"/>
                <a:cs typeface="Arial"/>
              </a:rPr>
              <a:t>seconds </a:t>
            </a:r>
            <a:r>
              <a:rPr sz="2400" spc="-135" dirty="0">
                <a:latin typeface="Arial"/>
                <a:cs typeface="Arial"/>
              </a:rPr>
              <a:t>since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Unix  epoch,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3-byte </a:t>
            </a:r>
            <a:r>
              <a:rPr sz="2400" spc="-110" dirty="0">
                <a:latin typeface="Arial"/>
                <a:cs typeface="Arial"/>
              </a:rPr>
              <a:t>machine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identifier,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2-byte </a:t>
            </a:r>
            <a:r>
              <a:rPr sz="2400" spc="-140" dirty="0">
                <a:latin typeface="Arial"/>
                <a:cs typeface="Arial"/>
              </a:rPr>
              <a:t>process </a:t>
            </a:r>
            <a:r>
              <a:rPr sz="2400" spc="-45" dirty="0">
                <a:latin typeface="Arial"/>
                <a:cs typeface="Arial"/>
              </a:rPr>
              <a:t>id,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70" dirty="0">
                <a:latin typeface="Arial"/>
                <a:cs typeface="Arial"/>
              </a:rPr>
              <a:t>3-byte </a:t>
            </a:r>
            <a:r>
              <a:rPr sz="2400" spc="-60" dirty="0">
                <a:latin typeface="Arial"/>
                <a:cs typeface="Arial"/>
              </a:rPr>
              <a:t>counter, </a:t>
            </a:r>
            <a:r>
              <a:rPr sz="2400" spc="-55" dirty="0">
                <a:latin typeface="Arial"/>
                <a:cs typeface="Arial"/>
              </a:rPr>
              <a:t>starting </a:t>
            </a:r>
            <a:r>
              <a:rPr sz="2400" spc="10" dirty="0">
                <a:latin typeface="Arial"/>
                <a:cs typeface="Arial"/>
              </a:rPr>
              <a:t>with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random</a:t>
            </a:r>
            <a:r>
              <a:rPr sz="2400" spc="-3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value.</a:t>
            </a:r>
            <a:endParaRPr sz="2400" dirty="0">
              <a:latin typeface="Arial"/>
              <a:cs typeface="Arial"/>
            </a:endParaRPr>
          </a:p>
          <a:p>
            <a:pPr marL="355600" marR="594360">
              <a:lnSpc>
                <a:spcPct val="100000"/>
              </a:lnSpc>
              <a:spcBef>
                <a:spcPts val="700"/>
              </a:spcBef>
            </a:pPr>
            <a:r>
              <a:rPr sz="2800" spc="40" dirty="0">
                <a:latin typeface="Arial"/>
                <a:cs typeface="Arial"/>
              </a:rPr>
              <a:t>It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50" dirty="0">
                <a:latin typeface="Arial"/>
                <a:cs typeface="Arial"/>
              </a:rPr>
              <a:t>an </a:t>
            </a:r>
            <a:r>
              <a:rPr sz="2800" spc="-65" dirty="0">
                <a:latin typeface="Arial"/>
                <a:cs typeface="Arial"/>
              </a:rPr>
              <a:t>interesting </a:t>
            </a:r>
            <a:r>
              <a:rPr sz="2800" spc="-125" dirty="0">
                <a:latin typeface="Arial"/>
                <a:cs typeface="Arial"/>
              </a:rPr>
              <a:t>approach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110" dirty="0">
                <a:latin typeface="Arial"/>
                <a:cs typeface="Arial"/>
              </a:rPr>
              <a:t>generate </a:t>
            </a:r>
            <a:r>
              <a:rPr sz="2800" spc="-190" dirty="0">
                <a:latin typeface="Arial"/>
                <a:cs typeface="Arial"/>
              </a:rPr>
              <a:t>keys  </a:t>
            </a:r>
            <a:r>
              <a:rPr sz="2800" spc="-114" dirty="0">
                <a:latin typeface="Arial"/>
                <a:cs typeface="Arial"/>
              </a:rPr>
              <a:t>considering </a:t>
            </a:r>
            <a:r>
              <a:rPr sz="2800" spc="-5" dirty="0">
                <a:latin typeface="Arial"/>
                <a:cs typeface="Arial"/>
              </a:rPr>
              <a:t>that </a:t>
            </a:r>
            <a:r>
              <a:rPr sz="2800" spc="-114" dirty="0">
                <a:latin typeface="Arial"/>
                <a:cs typeface="Arial"/>
              </a:rPr>
              <a:t>documents </a:t>
            </a:r>
            <a:r>
              <a:rPr sz="2800" spc="-120" dirty="0">
                <a:latin typeface="Arial"/>
                <a:cs typeface="Arial"/>
              </a:rPr>
              <a:t>are </a:t>
            </a:r>
            <a:r>
              <a:rPr sz="2800" spc="-55" dirty="0">
                <a:latin typeface="Arial"/>
                <a:cs typeface="Arial"/>
              </a:rPr>
              <a:t>retrieved</a:t>
            </a:r>
            <a:r>
              <a:rPr sz="2800" spc="-41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using  </a:t>
            </a:r>
            <a:r>
              <a:rPr sz="2800" spc="-90" dirty="0">
                <a:latin typeface="Arial"/>
                <a:cs typeface="Arial"/>
              </a:rPr>
              <a:t>document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queries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44818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20" dirty="0">
                <a:latin typeface="Arial"/>
                <a:cs typeface="Arial"/>
              </a:rPr>
              <a:t>Documents:</a:t>
            </a:r>
            <a:r>
              <a:rPr sz="4000" b="1" spc="-275" dirty="0">
                <a:latin typeface="Arial"/>
                <a:cs typeface="Arial"/>
              </a:rPr>
              <a:t> </a:t>
            </a:r>
            <a:r>
              <a:rPr sz="4000" b="1" spc="-280" dirty="0">
                <a:latin typeface="Arial"/>
                <a:cs typeface="Arial"/>
              </a:rPr>
              <a:t>Indexing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16</a:t>
            </a:fld>
            <a:endParaRPr spc="-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596261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295" dirty="0"/>
              <a:t> </a:t>
            </a:r>
            <a:r>
              <a:rPr lang="en-US" spc="-295" dirty="0"/>
              <a:t> </a:t>
            </a:r>
            <a:r>
              <a:rPr spc="-185" dirty="0"/>
              <a:t>Indexing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17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887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175" y="1174115"/>
            <a:ext cx="7417434" cy="33667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160" dirty="0">
                <a:latin typeface="Arial"/>
                <a:cs typeface="Arial"/>
              </a:rPr>
              <a:t>Indexes </a:t>
            </a:r>
            <a:r>
              <a:rPr sz="2800" spc="-100" dirty="0">
                <a:latin typeface="Arial"/>
                <a:cs typeface="Arial"/>
              </a:rPr>
              <a:t>allows </a:t>
            </a:r>
            <a:r>
              <a:rPr sz="2800" spc="-35" dirty="0">
                <a:latin typeface="Arial"/>
                <a:cs typeface="Arial"/>
              </a:rPr>
              <a:t>efficient </a:t>
            </a:r>
            <a:r>
              <a:rPr sz="2800" spc="-114" dirty="0">
                <a:latin typeface="Arial"/>
                <a:cs typeface="Arial"/>
              </a:rPr>
              <a:t>queries </a:t>
            </a:r>
            <a:r>
              <a:rPr sz="2800" spc="-85" dirty="0">
                <a:latin typeface="Arial"/>
                <a:cs typeface="Arial"/>
              </a:rPr>
              <a:t>on</a:t>
            </a:r>
            <a:r>
              <a:rPr sz="2800" spc="-365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MongoDB.</a:t>
            </a:r>
            <a:endParaRPr sz="2800" dirty="0">
              <a:latin typeface="Arial"/>
              <a:cs typeface="Arial"/>
            </a:endParaRPr>
          </a:p>
          <a:p>
            <a:pPr marL="12700" marR="29845">
              <a:lnSpc>
                <a:spcPts val="3350"/>
              </a:lnSpc>
              <a:spcBef>
                <a:spcPts val="819"/>
              </a:spcBef>
            </a:pPr>
            <a:r>
              <a:rPr sz="2800" spc="-190" dirty="0">
                <a:latin typeface="Arial"/>
                <a:cs typeface="Arial"/>
              </a:rPr>
              <a:t>They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are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70" dirty="0">
                <a:latin typeface="Arial"/>
                <a:cs typeface="Arial"/>
              </a:rPr>
              <a:t>used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limit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number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documents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to  </a:t>
            </a:r>
            <a:r>
              <a:rPr sz="2800" spc="-105" dirty="0">
                <a:latin typeface="Arial"/>
                <a:cs typeface="Arial"/>
              </a:rPr>
              <a:t>inspect</a:t>
            </a:r>
            <a:endParaRPr sz="2800" dirty="0">
              <a:latin typeface="Arial"/>
              <a:cs typeface="Arial"/>
            </a:endParaRPr>
          </a:p>
          <a:p>
            <a:pPr marL="12700" marR="819785">
              <a:lnSpc>
                <a:spcPct val="100000"/>
              </a:lnSpc>
              <a:spcBef>
                <a:spcPts val="590"/>
              </a:spcBef>
            </a:pPr>
            <a:r>
              <a:rPr sz="2800" spc="-100" dirty="0">
                <a:latin typeface="Arial"/>
                <a:cs typeface="Arial"/>
              </a:rPr>
              <a:t>Otherwise, </a:t>
            </a:r>
            <a:r>
              <a:rPr sz="2800" spc="80" dirty="0">
                <a:latin typeface="Arial"/>
                <a:cs typeface="Arial"/>
              </a:rPr>
              <a:t>it </a:t>
            </a:r>
            <a:r>
              <a:rPr sz="2800" spc="-210" dirty="0">
                <a:latin typeface="Arial"/>
                <a:cs typeface="Arial"/>
              </a:rPr>
              <a:t>has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525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scan </a:t>
            </a:r>
            <a:r>
              <a:rPr sz="2800" spc="-114" dirty="0">
                <a:latin typeface="Arial"/>
                <a:cs typeface="Arial"/>
              </a:rPr>
              <a:t>every </a:t>
            </a:r>
            <a:r>
              <a:rPr sz="2800" spc="-90" dirty="0">
                <a:latin typeface="Arial"/>
                <a:cs typeface="Arial"/>
              </a:rPr>
              <a:t>document </a:t>
            </a:r>
            <a:r>
              <a:rPr sz="2800" spc="-45" dirty="0">
                <a:latin typeface="Arial"/>
                <a:cs typeface="Arial"/>
              </a:rPr>
              <a:t>in </a:t>
            </a:r>
            <a:r>
              <a:rPr sz="2800" spc="-220" dirty="0">
                <a:latin typeface="Arial"/>
                <a:cs typeface="Arial"/>
              </a:rPr>
              <a:t>a  </a:t>
            </a:r>
            <a:r>
              <a:rPr sz="2800" spc="-70" dirty="0">
                <a:latin typeface="Arial"/>
                <a:cs typeface="Arial"/>
              </a:rPr>
              <a:t>collection.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</a:pPr>
            <a:r>
              <a:rPr sz="2800" spc="-254" dirty="0">
                <a:latin typeface="Arial"/>
                <a:cs typeface="Arial"/>
              </a:rPr>
              <a:t>By </a:t>
            </a:r>
            <a:r>
              <a:rPr sz="2800" spc="-50" dirty="0">
                <a:latin typeface="Arial"/>
                <a:cs typeface="Arial"/>
              </a:rPr>
              <a:t>default </a:t>
            </a:r>
            <a:r>
              <a:rPr sz="2800" spc="-160" dirty="0">
                <a:solidFill>
                  <a:srgbClr val="FF0000"/>
                </a:solidFill>
                <a:latin typeface="Arial"/>
                <a:cs typeface="Arial"/>
              </a:rPr>
              <a:t>MongoDB </a:t>
            </a:r>
            <a:r>
              <a:rPr sz="2800" spc="-100" dirty="0">
                <a:solidFill>
                  <a:srgbClr val="FF0000"/>
                </a:solidFill>
                <a:latin typeface="Arial"/>
                <a:cs typeface="Arial"/>
              </a:rPr>
              <a:t>create </a:t>
            </a:r>
            <a:r>
              <a:rPr sz="2800" spc="-145" dirty="0">
                <a:solidFill>
                  <a:srgbClr val="FF0000"/>
                </a:solidFill>
                <a:latin typeface="Arial"/>
                <a:cs typeface="Arial"/>
              </a:rPr>
              <a:t>indexes 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only </a:t>
            </a:r>
            <a:r>
              <a:rPr sz="2800" spc="-85" dirty="0">
                <a:solidFill>
                  <a:srgbClr val="FF0000"/>
                </a:solidFill>
                <a:latin typeface="Arial"/>
                <a:cs typeface="Arial"/>
              </a:rPr>
              <a:t>on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800" spc="-3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FF0000"/>
                </a:solidFill>
                <a:latin typeface="Arial"/>
                <a:cs typeface="Arial"/>
              </a:rPr>
              <a:t>_id  </a:t>
            </a:r>
            <a:r>
              <a:rPr sz="2800" spc="-35" dirty="0">
                <a:solidFill>
                  <a:srgbClr val="FF0000"/>
                </a:solidFill>
                <a:latin typeface="Arial"/>
                <a:cs typeface="Arial"/>
              </a:rPr>
              <a:t>field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333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37565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295" dirty="0"/>
              <a:t> </a:t>
            </a:r>
            <a:r>
              <a:rPr spc="-185" dirty="0"/>
              <a:t>Indexing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18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619760" y="1533023"/>
            <a:ext cx="7895590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478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60" dirty="0">
                <a:latin typeface="Arial"/>
                <a:cs typeface="Arial"/>
              </a:rPr>
              <a:t>Indexes </a:t>
            </a:r>
            <a:r>
              <a:rPr sz="2800" spc="-120" dirty="0">
                <a:latin typeface="Arial"/>
                <a:cs typeface="Arial"/>
              </a:rPr>
              <a:t>are </a:t>
            </a:r>
            <a:r>
              <a:rPr sz="2800" spc="-95" dirty="0">
                <a:latin typeface="Arial"/>
                <a:cs typeface="Arial"/>
              </a:rPr>
              <a:t>created </a:t>
            </a:r>
            <a:r>
              <a:rPr sz="2800" spc="-150" dirty="0">
                <a:latin typeface="Arial"/>
                <a:cs typeface="Arial"/>
              </a:rPr>
              <a:t>using </a:t>
            </a:r>
            <a:r>
              <a:rPr sz="2800" spc="-100" dirty="0">
                <a:solidFill>
                  <a:srgbClr val="FF0000"/>
                </a:solidFill>
                <a:latin typeface="Arial"/>
                <a:cs typeface="Arial"/>
              </a:rPr>
              <a:t>B-tree </a:t>
            </a:r>
            <a:r>
              <a:rPr sz="2800" spc="-135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800" spc="-114" dirty="0">
                <a:solidFill>
                  <a:srgbClr val="FF0000"/>
                </a:solidFill>
                <a:latin typeface="Arial"/>
                <a:cs typeface="Arial"/>
              </a:rPr>
              <a:t>stores 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800" spc="-3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of  </a:t>
            </a:r>
            <a:r>
              <a:rPr sz="2800" spc="-80" dirty="0">
                <a:latin typeface="Arial"/>
                <a:cs typeface="Arial"/>
              </a:rPr>
              <a:t>fields ordered </a:t>
            </a:r>
            <a:r>
              <a:rPr sz="2800" spc="-114" dirty="0">
                <a:latin typeface="Arial"/>
                <a:cs typeface="Arial"/>
              </a:rPr>
              <a:t>by</a:t>
            </a:r>
            <a:r>
              <a:rPr sz="2800" spc="-31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values.</a:t>
            </a:r>
            <a:endParaRPr sz="28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80" dirty="0">
                <a:latin typeface="Arial"/>
                <a:cs typeface="Arial"/>
              </a:rPr>
              <a:t>In </a:t>
            </a:r>
            <a:r>
              <a:rPr sz="2800" spc="-55" dirty="0">
                <a:latin typeface="Arial"/>
                <a:cs typeface="Arial"/>
              </a:rPr>
              <a:t>addition </a:t>
            </a:r>
            <a:r>
              <a:rPr sz="2800" spc="-160" dirty="0">
                <a:latin typeface="Arial"/>
                <a:cs typeface="Arial"/>
              </a:rPr>
              <a:t>MongoDB </a:t>
            </a:r>
            <a:r>
              <a:rPr sz="2800" spc="-65" dirty="0">
                <a:solidFill>
                  <a:srgbClr val="FF0000"/>
                </a:solidFill>
                <a:latin typeface="Arial"/>
                <a:cs typeface="Arial"/>
              </a:rPr>
              <a:t>returns 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sorted </a:t>
            </a:r>
            <a:r>
              <a:rPr sz="2800" spc="-100" dirty="0">
                <a:solidFill>
                  <a:srgbClr val="FF0000"/>
                </a:solidFill>
                <a:latin typeface="Arial"/>
                <a:cs typeface="Arial"/>
              </a:rPr>
              <a:t>results </a:t>
            </a:r>
            <a:r>
              <a:rPr sz="2800" spc="-120" dirty="0">
                <a:solidFill>
                  <a:srgbClr val="FF0000"/>
                </a:solidFill>
                <a:latin typeface="Arial"/>
                <a:cs typeface="Arial"/>
              </a:rPr>
              <a:t>by</a:t>
            </a:r>
            <a:r>
              <a:rPr sz="2800" spc="-5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50" dirty="0">
                <a:solidFill>
                  <a:srgbClr val="FF0000"/>
                </a:solidFill>
                <a:latin typeface="Arial"/>
                <a:cs typeface="Arial"/>
              </a:rPr>
              <a:t>using 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</a:t>
            </a:r>
            <a:r>
              <a:rPr sz="28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Arial"/>
                <a:cs typeface="Arial"/>
              </a:rPr>
              <a:t>index.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</a:t>
            </a:r>
            <a:r>
              <a:rPr spc="-295" dirty="0"/>
              <a:t> </a:t>
            </a:r>
            <a:r>
              <a:rPr spc="-185" dirty="0"/>
              <a:t>Indexing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19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88900" y="915669"/>
            <a:ext cx="8890000" cy="44945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584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Index</a:t>
            </a:r>
            <a:r>
              <a:rPr spc="-345" dirty="0"/>
              <a:t> </a:t>
            </a:r>
            <a:r>
              <a:rPr spc="-330" dirty="0"/>
              <a:t>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20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1990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80" dirty="0">
                <a:latin typeface="Arial"/>
                <a:cs typeface="Arial"/>
              </a:rPr>
              <a:t>Single</a:t>
            </a:r>
            <a:r>
              <a:rPr sz="2800" spc="-21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Field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270000"/>
            <a:ext cx="9144000" cy="317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584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Index</a:t>
            </a:r>
            <a:r>
              <a:rPr spc="-345" dirty="0"/>
              <a:t> </a:t>
            </a:r>
            <a:r>
              <a:rPr spc="-330" dirty="0"/>
              <a:t>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21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80016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50" dirty="0">
                <a:latin typeface="Arial"/>
                <a:cs typeface="Arial"/>
              </a:rPr>
              <a:t>Compound </a:t>
            </a:r>
            <a:r>
              <a:rPr sz="2800" spc="-110" dirty="0">
                <a:latin typeface="Arial"/>
                <a:cs typeface="Arial"/>
              </a:rPr>
              <a:t>Index: </a:t>
            </a:r>
            <a:r>
              <a:rPr sz="2800" spc="-114" dirty="0">
                <a:latin typeface="Arial"/>
                <a:cs typeface="Arial"/>
              </a:rPr>
              <a:t>indexed by </a:t>
            </a:r>
            <a:r>
              <a:rPr sz="2800" spc="-40" dirty="0">
                <a:latin typeface="Arial"/>
                <a:cs typeface="Arial"/>
              </a:rPr>
              <a:t>attributes </a:t>
            </a:r>
            <a:r>
              <a:rPr sz="2800" spc="-5" dirty="0">
                <a:latin typeface="Arial"/>
                <a:cs typeface="Arial"/>
              </a:rPr>
              <a:t>(left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53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right)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39900"/>
            <a:ext cx="9144000" cy="330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584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Index</a:t>
            </a:r>
            <a:r>
              <a:rPr spc="-345" dirty="0"/>
              <a:t> </a:t>
            </a:r>
            <a:r>
              <a:rPr spc="-330" dirty="0"/>
              <a:t>Types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3319"/>
            <a:ext cx="3838575" cy="1054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40" dirty="0">
                <a:latin typeface="Arial"/>
                <a:cs typeface="Arial"/>
              </a:rPr>
              <a:t>Multikey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Index:</a:t>
            </a:r>
            <a:endParaRPr sz="2800">
              <a:latin typeface="Arial"/>
              <a:cs typeface="Arial"/>
            </a:endParaRPr>
          </a:p>
          <a:p>
            <a:pPr marL="137795" indent="-125730">
              <a:lnSpc>
                <a:spcPct val="100000"/>
              </a:lnSpc>
              <a:spcBef>
                <a:spcPts val="690"/>
              </a:spcBef>
              <a:buSzPct val="96428"/>
              <a:buChar char="•"/>
              <a:tabLst>
                <a:tab pos="138430" algn="l"/>
              </a:tabLst>
            </a:pP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110" dirty="0">
                <a:latin typeface="Arial"/>
                <a:cs typeface="Arial"/>
              </a:rPr>
              <a:t>index </a:t>
            </a:r>
            <a:r>
              <a:rPr sz="2800" spc="-50" dirty="0">
                <a:latin typeface="Arial"/>
                <a:cs typeface="Arial"/>
              </a:rPr>
              <a:t>content </a:t>
            </a:r>
            <a:r>
              <a:rPr sz="2800" spc="-40" dirty="0">
                <a:latin typeface="Arial"/>
                <a:cs typeface="Arial"/>
              </a:rPr>
              <a:t>in</a:t>
            </a:r>
            <a:r>
              <a:rPr sz="2800" spc="-545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arrays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519430"/>
            <a:ext cx="8940800" cy="507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5841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Documents: Index</a:t>
            </a:r>
            <a:r>
              <a:rPr spc="-345" dirty="0"/>
              <a:t> </a:t>
            </a:r>
            <a:r>
              <a:rPr spc="-330" dirty="0"/>
              <a:t>Types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23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3319"/>
            <a:ext cx="6900545" cy="24231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135" dirty="0">
                <a:solidFill>
                  <a:srgbClr val="FF0000"/>
                </a:solidFill>
                <a:latin typeface="Arial"/>
                <a:cs typeface="Arial"/>
              </a:rPr>
              <a:t>Geospatial </a:t>
            </a:r>
            <a:r>
              <a:rPr sz="2800" spc="-110" dirty="0">
                <a:solidFill>
                  <a:srgbClr val="FF0000"/>
                </a:solidFill>
                <a:latin typeface="Arial"/>
                <a:cs typeface="Arial"/>
              </a:rPr>
              <a:t>Index</a:t>
            </a:r>
            <a:r>
              <a:rPr sz="2800" spc="-110" dirty="0">
                <a:latin typeface="Arial"/>
                <a:cs typeface="Arial"/>
              </a:rPr>
              <a:t>: </a:t>
            </a:r>
            <a:r>
              <a:rPr sz="2800" spc="-120" dirty="0">
                <a:latin typeface="Arial"/>
                <a:cs typeface="Arial"/>
              </a:rPr>
              <a:t>2d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140" dirty="0">
                <a:latin typeface="Arial"/>
                <a:cs typeface="Arial"/>
              </a:rPr>
              <a:t>2sphere</a:t>
            </a:r>
            <a:r>
              <a:rPr sz="2800" spc="-27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indexes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2800" spc="-140" dirty="0">
                <a:solidFill>
                  <a:srgbClr val="FF0000"/>
                </a:solidFill>
                <a:latin typeface="Arial"/>
                <a:cs typeface="Arial"/>
              </a:rPr>
              <a:t>Text </a:t>
            </a:r>
            <a:r>
              <a:rPr sz="2800" spc="-145" dirty="0">
                <a:solidFill>
                  <a:srgbClr val="FF0000"/>
                </a:solidFill>
                <a:latin typeface="Arial"/>
                <a:cs typeface="Arial"/>
              </a:rPr>
              <a:t>Indexes</a:t>
            </a:r>
            <a:r>
              <a:rPr sz="2800" spc="-145" dirty="0">
                <a:latin typeface="Arial"/>
                <a:cs typeface="Arial"/>
              </a:rPr>
              <a:t>: </a:t>
            </a:r>
            <a:r>
              <a:rPr sz="2800" spc="-80" dirty="0">
                <a:latin typeface="Arial"/>
                <a:cs typeface="Arial"/>
              </a:rPr>
              <a:t>performs </a:t>
            </a:r>
            <a:r>
              <a:rPr sz="2800" spc="-75" dirty="0">
                <a:latin typeface="Arial"/>
                <a:cs typeface="Arial"/>
              </a:rPr>
              <a:t>tokenization,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stopwords  </a:t>
            </a:r>
            <a:r>
              <a:rPr sz="2800" spc="-95" dirty="0">
                <a:latin typeface="Arial"/>
                <a:cs typeface="Arial"/>
              </a:rPr>
              <a:t>removal </a:t>
            </a:r>
            <a:r>
              <a:rPr sz="2800" spc="-135" dirty="0">
                <a:latin typeface="Arial"/>
                <a:cs typeface="Arial"/>
              </a:rPr>
              <a:t>and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stemming.</a:t>
            </a:r>
            <a:endParaRPr sz="2800" dirty="0">
              <a:latin typeface="Arial"/>
              <a:cs typeface="Arial"/>
            </a:endParaRPr>
          </a:p>
          <a:p>
            <a:pPr marL="12700" marR="46355">
              <a:lnSpc>
                <a:spcPct val="100000"/>
              </a:lnSpc>
              <a:spcBef>
                <a:spcPts val="700"/>
              </a:spcBef>
            </a:pPr>
            <a:r>
              <a:rPr sz="2800" spc="-195" dirty="0">
                <a:solidFill>
                  <a:srgbClr val="FF0000"/>
                </a:solidFill>
                <a:latin typeface="Arial"/>
                <a:cs typeface="Arial"/>
              </a:rPr>
              <a:t>Hashed </a:t>
            </a:r>
            <a:r>
              <a:rPr sz="2800" spc="-145" dirty="0">
                <a:solidFill>
                  <a:srgbClr val="FF0000"/>
                </a:solidFill>
                <a:latin typeface="Arial"/>
                <a:cs typeface="Arial"/>
              </a:rPr>
              <a:t>Indexes</a:t>
            </a:r>
            <a:r>
              <a:rPr sz="2800" spc="-145" dirty="0">
                <a:latin typeface="Arial"/>
                <a:cs typeface="Arial"/>
              </a:rPr>
              <a:t>: </a:t>
            </a:r>
            <a:r>
              <a:rPr sz="2800" spc="-170" dirty="0">
                <a:latin typeface="Arial"/>
                <a:cs typeface="Arial"/>
              </a:rPr>
              <a:t>used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80" dirty="0">
                <a:latin typeface="Arial"/>
                <a:cs typeface="Arial"/>
              </a:rPr>
              <a:t>provide </a:t>
            </a:r>
            <a:r>
              <a:rPr sz="2800" spc="-155" dirty="0">
                <a:latin typeface="Arial"/>
                <a:cs typeface="Arial"/>
              </a:rPr>
              <a:t>an </a:t>
            </a:r>
            <a:r>
              <a:rPr sz="2800" spc="-180" dirty="0">
                <a:latin typeface="Arial"/>
                <a:cs typeface="Arial"/>
              </a:rPr>
              <a:t>hash</a:t>
            </a:r>
            <a:r>
              <a:rPr sz="2800" spc="-34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based  </a:t>
            </a:r>
            <a:r>
              <a:rPr sz="2800" spc="-130" dirty="0">
                <a:latin typeface="Arial"/>
                <a:cs typeface="Arial"/>
              </a:rPr>
              <a:t>sharding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873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387857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320" dirty="0">
                <a:latin typeface="Arial"/>
                <a:cs typeface="Arial"/>
              </a:rPr>
              <a:t>Documents:</a:t>
            </a:r>
            <a:r>
              <a:rPr sz="4000" b="1" spc="-270" dirty="0">
                <a:latin typeface="Arial"/>
                <a:cs typeface="Arial"/>
              </a:rPr>
              <a:t> </a:t>
            </a:r>
            <a:r>
              <a:rPr sz="4000" b="1" spc="-525" dirty="0">
                <a:latin typeface="Arial"/>
                <a:cs typeface="Arial"/>
              </a:rPr>
              <a:t>CRUD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24</a:t>
            </a:fld>
            <a:endParaRPr spc="-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207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Query </a:t>
            </a:r>
            <a:r>
              <a:rPr spc="-340" dirty="0"/>
              <a:t>a</a:t>
            </a:r>
            <a:r>
              <a:rPr spc="-360" dirty="0"/>
              <a:t> </a:t>
            </a:r>
            <a:r>
              <a:rPr spc="-150" dirty="0"/>
              <a:t>Collection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25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270000" y="1206500"/>
            <a:ext cx="6604000" cy="330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793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9" dirty="0"/>
              <a:t>Q</a:t>
            </a:r>
            <a:r>
              <a:rPr spc="-130" dirty="0"/>
              <a:t>ue</a:t>
            </a:r>
            <a:r>
              <a:rPr spc="-75" dirty="0"/>
              <a:t>r</a:t>
            </a:r>
            <a:r>
              <a:rPr spc="-70" dirty="0"/>
              <a:t>i</a:t>
            </a:r>
            <a:r>
              <a:rPr spc="-160" dirty="0"/>
              <a:t>e</a:t>
            </a:r>
            <a:r>
              <a:rPr spc="-480" dirty="0"/>
              <a:t>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26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17297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1403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7889240" cy="233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4069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45" dirty="0">
                <a:latin typeface="Arial"/>
                <a:cs typeface="Arial"/>
              </a:rPr>
              <a:t>Queries </a:t>
            </a:r>
            <a:r>
              <a:rPr sz="2800" spc="-125" dirty="0">
                <a:latin typeface="Arial"/>
                <a:cs typeface="Arial"/>
              </a:rPr>
              <a:t>specify </a:t>
            </a:r>
            <a:r>
              <a:rPr sz="2800" spc="-50" dirty="0">
                <a:latin typeface="Arial"/>
                <a:cs typeface="Arial"/>
              </a:rPr>
              <a:t>criteria, </a:t>
            </a:r>
            <a:r>
              <a:rPr sz="2800" spc="-25" dirty="0">
                <a:latin typeface="Arial"/>
                <a:cs typeface="Arial"/>
              </a:rPr>
              <a:t>or </a:t>
            </a:r>
            <a:r>
              <a:rPr sz="2800" spc="-55" dirty="0">
                <a:latin typeface="Arial"/>
                <a:cs typeface="Arial"/>
              </a:rPr>
              <a:t>condition </a:t>
            </a:r>
            <a:r>
              <a:rPr sz="2800" dirty="0">
                <a:latin typeface="Arial"/>
                <a:cs typeface="Arial"/>
              </a:rPr>
              <a:t>that</a:t>
            </a:r>
            <a:r>
              <a:rPr sz="2800" spc="-484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identify  </a:t>
            </a:r>
            <a:r>
              <a:rPr sz="2800" spc="-114" dirty="0">
                <a:latin typeface="Arial"/>
                <a:cs typeface="Arial"/>
              </a:rPr>
              <a:t>documents</a:t>
            </a:r>
            <a:endParaRPr sz="2800" dirty="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690"/>
              </a:spcBef>
            </a:pPr>
            <a:r>
              <a:rPr sz="2800" spc="-250" dirty="0">
                <a:latin typeface="Arial"/>
                <a:cs typeface="Arial"/>
              </a:rPr>
              <a:t>A </a:t>
            </a:r>
            <a:r>
              <a:rPr sz="2800" spc="-90" dirty="0">
                <a:latin typeface="Arial"/>
                <a:cs typeface="Arial"/>
              </a:rPr>
              <a:t>query </a:t>
            </a:r>
            <a:r>
              <a:rPr sz="2800" spc="-150" dirty="0">
                <a:latin typeface="Arial"/>
                <a:cs typeface="Arial"/>
              </a:rPr>
              <a:t>may </a:t>
            </a:r>
            <a:r>
              <a:rPr sz="2800" spc="-95" dirty="0">
                <a:latin typeface="Arial"/>
                <a:cs typeface="Arial"/>
              </a:rPr>
              <a:t>include </a:t>
            </a:r>
            <a:r>
              <a:rPr sz="2800" spc="-75" dirty="0">
                <a:latin typeface="Arial"/>
                <a:cs typeface="Arial"/>
              </a:rPr>
              <a:t>projections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125" dirty="0">
                <a:latin typeface="Arial"/>
                <a:cs typeface="Arial"/>
              </a:rPr>
              <a:t>specify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484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fields  </a:t>
            </a:r>
            <a:r>
              <a:rPr sz="2800" spc="30" dirty="0">
                <a:latin typeface="Arial"/>
                <a:cs typeface="Arial"/>
              </a:rPr>
              <a:t>to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return.</a:t>
            </a:r>
            <a:endParaRPr sz="28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700"/>
              </a:spcBef>
            </a:pPr>
            <a:r>
              <a:rPr sz="2800" spc="40" dirty="0">
                <a:latin typeface="Arial"/>
                <a:cs typeface="Arial"/>
              </a:rPr>
              <a:t>It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35" dirty="0">
                <a:latin typeface="Arial"/>
                <a:cs typeface="Arial"/>
              </a:rPr>
              <a:t>possible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56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impose </a:t>
            </a:r>
            <a:r>
              <a:rPr sz="2800" spc="-45" dirty="0">
                <a:latin typeface="Arial"/>
                <a:cs typeface="Arial"/>
              </a:rPr>
              <a:t>limits, </a:t>
            </a:r>
            <a:r>
              <a:rPr sz="2800" spc="-170" dirty="0">
                <a:latin typeface="Arial"/>
                <a:cs typeface="Arial"/>
              </a:rPr>
              <a:t>skips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55" dirty="0">
                <a:latin typeface="Arial"/>
                <a:cs typeface="Arial"/>
              </a:rPr>
              <a:t>sort </a:t>
            </a:r>
            <a:r>
              <a:rPr sz="2800" spc="-95" dirty="0">
                <a:latin typeface="Arial"/>
                <a:cs typeface="Arial"/>
              </a:rPr>
              <a:t>orders.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59282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Query</a:t>
            </a:r>
            <a:r>
              <a:rPr spc="-290" dirty="0"/>
              <a:t> </a:t>
            </a:r>
            <a:r>
              <a:rPr spc="-120" dirty="0"/>
              <a:t>Interface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27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254000" y="1295400"/>
            <a:ext cx="8636000" cy="1435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329" y="2904489"/>
            <a:ext cx="2434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same </a:t>
            </a:r>
            <a:r>
              <a:rPr sz="1800" spc="-10" dirty="0">
                <a:latin typeface="Arial"/>
                <a:cs typeface="Arial"/>
              </a:rPr>
              <a:t>query </a:t>
            </a:r>
            <a:r>
              <a:rPr sz="1800" spc="-5" dirty="0">
                <a:latin typeface="Arial"/>
                <a:cs typeface="Arial"/>
              </a:rPr>
              <a:t>in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SQL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" y="3658870"/>
            <a:ext cx="6985000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5617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Query</a:t>
            </a:r>
            <a:r>
              <a:rPr spc="-325" dirty="0"/>
              <a:t> </a:t>
            </a:r>
            <a:r>
              <a:rPr spc="-190" dirty="0"/>
              <a:t>Behavior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706218" y="1307332"/>
            <a:ext cx="7886700" cy="3875420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316865" marR="1275715">
              <a:lnSpc>
                <a:spcPct val="120800"/>
              </a:lnSpc>
              <a:spcBef>
                <a:spcPts val="100"/>
              </a:spcBef>
            </a:pPr>
            <a:r>
              <a:rPr sz="2400" spc="-65" dirty="0"/>
              <a:t>All </a:t>
            </a:r>
            <a:r>
              <a:rPr sz="2400" spc="-95" dirty="0"/>
              <a:t>queries </a:t>
            </a:r>
            <a:r>
              <a:rPr sz="2400" spc="-35" dirty="0"/>
              <a:t>in </a:t>
            </a:r>
            <a:r>
              <a:rPr sz="2400" spc="-140" dirty="0"/>
              <a:t>MongoDB address </a:t>
            </a:r>
            <a:r>
              <a:rPr sz="2400" spc="-190" dirty="0">
                <a:solidFill>
                  <a:srgbClr val="FF0000"/>
                </a:solidFill>
              </a:rPr>
              <a:t>a </a:t>
            </a:r>
            <a:r>
              <a:rPr sz="2400" spc="-114" dirty="0">
                <a:solidFill>
                  <a:srgbClr val="FF0000"/>
                </a:solidFill>
              </a:rPr>
              <a:t>single </a:t>
            </a:r>
            <a:r>
              <a:rPr sz="2400" spc="-60" dirty="0">
                <a:solidFill>
                  <a:srgbClr val="FF0000"/>
                </a:solidFill>
              </a:rPr>
              <a:t>collection</a:t>
            </a:r>
            <a:r>
              <a:rPr sz="2400" spc="-60" dirty="0"/>
              <a:t>.  </a:t>
            </a:r>
            <a:r>
              <a:rPr sz="2400" spc="-140" dirty="0"/>
              <a:t>We </a:t>
            </a:r>
            <a:r>
              <a:rPr sz="2400" spc="-105" dirty="0"/>
              <a:t>impose </a:t>
            </a:r>
            <a:r>
              <a:rPr sz="2400" spc="-35" dirty="0"/>
              <a:t>limits, </a:t>
            </a:r>
            <a:r>
              <a:rPr sz="2400" spc="-135" dirty="0"/>
              <a:t>skips, </a:t>
            </a:r>
            <a:r>
              <a:rPr sz="2400" spc="-114" dirty="0"/>
              <a:t>and </a:t>
            </a:r>
            <a:r>
              <a:rPr sz="2400" spc="-45" dirty="0"/>
              <a:t>sort</a:t>
            </a:r>
            <a:r>
              <a:rPr sz="2400" spc="-254" dirty="0"/>
              <a:t> </a:t>
            </a:r>
            <a:r>
              <a:rPr sz="2400" spc="-80" dirty="0"/>
              <a:t>orders.</a:t>
            </a:r>
            <a:endParaRPr sz="2400" dirty="0"/>
          </a:p>
          <a:p>
            <a:pPr marL="316865" marR="272415">
              <a:lnSpc>
                <a:spcPct val="100000"/>
              </a:lnSpc>
              <a:spcBef>
                <a:spcPts val="590"/>
              </a:spcBef>
            </a:pPr>
            <a:r>
              <a:rPr sz="2400" spc="-180" dirty="0"/>
              <a:t>The </a:t>
            </a:r>
            <a:r>
              <a:rPr sz="2400" spc="-45" dirty="0"/>
              <a:t>order </a:t>
            </a:r>
            <a:r>
              <a:rPr sz="2400" spc="-10" dirty="0"/>
              <a:t>of </a:t>
            </a:r>
            <a:r>
              <a:rPr sz="2400" spc="-100" dirty="0"/>
              <a:t>documents </a:t>
            </a:r>
            <a:r>
              <a:rPr sz="2400" spc="-40" dirty="0"/>
              <a:t>returned </a:t>
            </a:r>
            <a:r>
              <a:rPr sz="2400" spc="-100" dirty="0"/>
              <a:t>by </a:t>
            </a:r>
            <a:r>
              <a:rPr sz="2400" spc="-190" dirty="0"/>
              <a:t>a </a:t>
            </a:r>
            <a:r>
              <a:rPr sz="2400" spc="-75" dirty="0"/>
              <a:t>query </a:t>
            </a:r>
            <a:r>
              <a:rPr sz="2400" spc="-120" dirty="0"/>
              <a:t>is </a:t>
            </a:r>
            <a:r>
              <a:rPr sz="2400" spc="-10" dirty="0"/>
              <a:t>not</a:t>
            </a:r>
            <a:r>
              <a:rPr sz="2400" spc="-430" dirty="0"/>
              <a:t> </a:t>
            </a:r>
            <a:r>
              <a:rPr sz="2400" spc="-65" dirty="0"/>
              <a:t>defined  </a:t>
            </a:r>
            <a:r>
              <a:rPr sz="2400" spc="-140" dirty="0"/>
              <a:t>unless </a:t>
            </a:r>
            <a:r>
              <a:rPr sz="2400" spc="-90" dirty="0"/>
              <a:t>you </a:t>
            </a:r>
            <a:r>
              <a:rPr sz="2400" spc="-105" dirty="0"/>
              <a:t>specify </a:t>
            </a:r>
            <a:r>
              <a:rPr sz="2400" spc="-190" dirty="0"/>
              <a:t>a</a:t>
            </a:r>
            <a:r>
              <a:rPr sz="2400" spc="-180" dirty="0"/>
              <a:t> </a:t>
            </a:r>
            <a:r>
              <a:rPr sz="2400" i="1" spc="-60" dirty="0">
                <a:latin typeface="Arial"/>
                <a:cs typeface="Arial"/>
              </a:rPr>
              <a:t>sort()</a:t>
            </a:r>
            <a:r>
              <a:rPr sz="2400" spc="-60" dirty="0"/>
              <a:t>.</a:t>
            </a:r>
            <a:endParaRPr sz="2400" dirty="0">
              <a:latin typeface="Arial"/>
              <a:cs typeface="Arial"/>
            </a:endParaRPr>
          </a:p>
          <a:p>
            <a:pPr marL="316865" marR="5080">
              <a:lnSpc>
                <a:spcPct val="100000"/>
              </a:lnSpc>
              <a:spcBef>
                <a:spcPts val="600"/>
              </a:spcBef>
            </a:pPr>
            <a:r>
              <a:rPr sz="2400" spc="-95" dirty="0"/>
              <a:t>Operations </a:t>
            </a:r>
            <a:r>
              <a:rPr sz="2400" dirty="0"/>
              <a:t>that </a:t>
            </a:r>
            <a:r>
              <a:rPr sz="2400" spc="-50" dirty="0"/>
              <a:t>modify </a:t>
            </a:r>
            <a:r>
              <a:rPr sz="2400" spc="-90" dirty="0"/>
              <a:t>existing </a:t>
            </a:r>
            <a:r>
              <a:rPr sz="2400" spc="-95" dirty="0"/>
              <a:t>documents </a:t>
            </a:r>
            <a:r>
              <a:rPr sz="2400" spc="-70" dirty="0"/>
              <a:t>(i.e. </a:t>
            </a:r>
            <a:r>
              <a:rPr sz="2400" spc="-100" dirty="0"/>
              <a:t>updates)</a:t>
            </a:r>
            <a:r>
              <a:rPr sz="2400" spc="-459" dirty="0"/>
              <a:t> </a:t>
            </a:r>
            <a:r>
              <a:rPr sz="2400" spc="-170" dirty="0"/>
              <a:t>use  </a:t>
            </a:r>
            <a:r>
              <a:rPr sz="2400" spc="-30" dirty="0"/>
              <a:t>the </a:t>
            </a:r>
            <a:r>
              <a:rPr sz="2400" spc="-170" dirty="0"/>
              <a:t>same </a:t>
            </a:r>
            <a:r>
              <a:rPr sz="2400" spc="-75" dirty="0"/>
              <a:t>query </a:t>
            </a:r>
            <a:r>
              <a:rPr sz="2400" spc="-114" dirty="0"/>
              <a:t>syntax </a:t>
            </a:r>
            <a:r>
              <a:rPr sz="2400" spc="-225" dirty="0"/>
              <a:t>as </a:t>
            </a:r>
            <a:r>
              <a:rPr sz="2400" spc="-95" dirty="0"/>
              <a:t>queries </a:t>
            </a:r>
            <a:r>
              <a:rPr sz="2400" spc="30" dirty="0"/>
              <a:t>to </a:t>
            </a:r>
            <a:r>
              <a:rPr sz="2400" spc="-100" dirty="0"/>
              <a:t>select </a:t>
            </a:r>
            <a:r>
              <a:rPr sz="2400" spc="-95" dirty="0"/>
              <a:t>documents </a:t>
            </a:r>
            <a:r>
              <a:rPr sz="2400" spc="30" dirty="0"/>
              <a:t>to  </a:t>
            </a:r>
            <a:r>
              <a:rPr sz="2400" spc="-75" dirty="0"/>
              <a:t>update.</a:t>
            </a:r>
            <a:endParaRPr sz="2400" dirty="0"/>
          </a:p>
          <a:p>
            <a:pPr marL="316865" marR="224790">
              <a:lnSpc>
                <a:spcPct val="100000"/>
              </a:lnSpc>
              <a:spcBef>
                <a:spcPts val="600"/>
              </a:spcBef>
            </a:pPr>
            <a:r>
              <a:rPr sz="2400" spc="-75" dirty="0"/>
              <a:t>In </a:t>
            </a:r>
            <a:r>
              <a:rPr sz="2400" spc="-105" dirty="0"/>
              <a:t>aggregation </a:t>
            </a:r>
            <a:r>
              <a:rPr sz="2400" spc="-60" dirty="0"/>
              <a:t>pipeline, </a:t>
            </a:r>
            <a:r>
              <a:rPr sz="2400" spc="-30" dirty="0"/>
              <a:t>the </a:t>
            </a:r>
            <a:r>
              <a:rPr sz="2400" i="1" spc="-85" dirty="0">
                <a:latin typeface="Arial"/>
                <a:cs typeface="Arial"/>
              </a:rPr>
              <a:t>$match </a:t>
            </a:r>
            <a:r>
              <a:rPr sz="2400" spc="-60" dirty="0"/>
              <a:t>pipeline </a:t>
            </a:r>
            <a:r>
              <a:rPr sz="2400" spc="-135" dirty="0"/>
              <a:t>stage</a:t>
            </a:r>
            <a:r>
              <a:rPr sz="2400" spc="-450" dirty="0"/>
              <a:t> </a:t>
            </a:r>
            <a:r>
              <a:rPr sz="2400" spc="-90" dirty="0"/>
              <a:t>provides  </a:t>
            </a:r>
            <a:r>
              <a:rPr sz="2400" spc="-204" dirty="0"/>
              <a:t>access </a:t>
            </a:r>
            <a:r>
              <a:rPr sz="2400" spc="30" dirty="0"/>
              <a:t>to </a:t>
            </a:r>
            <a:r>
              <a:rPr sz="2400" spc="-140" dirty="0"/>
              <a:t>MongoDB</a:t>
            </a:r>
            <a:r>
              <a:rPr sz="2400" spc="-229" dirty="0"/>
              <a:t> </a:t>
            </a:r>
            <a:r>
              <a:rPr sz="2400" spc="-95" dirty="0"/>
              <a:t>queries.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28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56970"/>
            <a:ext cx="132715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92481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0982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1478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Query</a:t>
            </a:r>
            <a:r>
              <a:rPr spc="-325" dirty="0"/>
              <a:t> </a:t>
            </a:r>
            <a:r>
              <a:rPr spc="-180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29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457200" y="1447800"/>
            <a:ext cx="7620000" cy="381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5742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Projections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30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558800" y="1168400"/>
            <a:ext cx="7612380" cy="42252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7392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Cursors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31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0779"/>
            <a:ext cx="7393305" cy="288163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spc="-270" dirty="0">
                <a:latin typeface="Arial"/>
                <a:cs typeface="Arial"/>
              </a:rPr>
              <a:t>Each </a:t>
            </a:r>
            <a:r>
              <a:rPr sz="2800" spc="-135" dirty="0">
                <a:latin typeface="Arial"/>
                <a:cs typeface="Arial"/>
              </a:rPr>
              <a:t>Query </a:t>
            </a:r>
            <a:r>
              <a:rPr sz="2800" spc="-70" dirty="0">
                <a:latin typeface="Arial"/>
                <a:cs typeface="Arial"/>
              </a:rPr>
              <a:t>like </a:t>
            </a:r>
            <a:r>
              <a:rPr sz="2800" i="1" spc="-85" dirty="0">
                <a:latin typeface="Arial"/>
                <a:cs typeface="Arial"/>
              </a:rPr>
              <a:t>db.collection.find() </a:t>
            </a:r>
            <a:r>
              <a:rPr sz="2800" spc="-65" dirty="0">
                <a:latin typeface="Arial"/>
                <a:cs typeface="Arial"/>
              </a:rPr>
              <a:t>returns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cursor</a:t>
            </a:r>
            <a:endParaRPr sz="2800" dirty="0">
              <a:latin typeface="Arial"/>
              <a:cs typeface="Arial"/>
            </a:endParaRPr>
          </a:p>
          <a:p>
            <a:pPr marL="12700" marR="246379">
              <a:lnSpc>
                <a:spcPct val="100000"/>
              </a:lnSpc>
              <a:spcBef>
                <a:spcPts val="700"/>
              </a:spcBef>
            </a:pPr>
            <a:r>
              <a:rPr sz="2800" spc="-215" dirty="0">
                <a:latin typeface="Arial"/>
                <a:cs typeface="Arial"/>
              </a:rPr>
              <a:t>To </a:t>
            </a:r>
            <a:r>
              <a:rPr sz="2800" spc="-240" dirty="0">
                <a:latin typeface="Arial"/>
                <a:cs typeface="Arial"/>
              </a:rPr>
              <a:t>access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10" dirty="0">
                <a:latin typeface="Arial"/>
                <a:cs typeface="Arial"/>
              </a:rPr>
              <a:t>documents, you </a:t>
            </a:r>
            <a:r>
              <a:rPr sz="2800" spc="-130" dirty="0">
                <a:latin typeface="Arial"/>
                <a:cs typeface="Arial"/>
              </a:rPr>
              <a:t>need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30" dirty="0">
                <a:latin typeface="Arial"/>
                <a:cs typeface="Arial"/>
              </a:rPr>
              <a:t>iterate</a:t>
            </a:r>
            <a:r>
              <a:rPr sz="2800" spc="-41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the  </a:t>
            </a:r>
            <a:r>
              <a:rPr sz="2800" spc="-105" dirty="0">
                <a:latin typeface="Arial"/>
                <a:cs typeface="Arial"/>
              </a:rPr>
              <a:t>cursor.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spc="-254" dirty="0">
                <a:latin typeface="Arial"/>
                <a:cs typeface="Arial"/>
              </a:rPr>
              <a:t>By </a:t>
            </a:r>
            <a:r>
              <a:rPr sz="2800" spc="-50" dirty="0">
                <a:latin typeface="Arial"/>
                <a:cs typeface="Arial"/>
              </a:rPr>
              <a:t>default </a:t>
            </a:r>
            <a:r>
              <a:rPr sz="2800" spc="-175" dirty="0">
                <a:latin typeface="Arial"/>
                <a:cs typeface="Arial"/>
              </a:rPr>
              <a:t>MongDB </a:t>
            </a:r>
            <a:r>
              <a:rPr sz="2800" spc="-180" dirty="0">
                <a:latin typeface="Arial"/>
                <a:cs typeface="Arial"/>
              </a:rPr>
              <a:t>closes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cursor</a:t>
            </a:r>
            <a:endParaRPr sz="2800" dirty="0"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590"/>
              </a:spcBef>
              <a:buChar char="–"/>
              <a:tabLst>
                <a:tab pos="412750" algn="l"/>
              </a:tabLst>
            </a:pP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after </a:t>
            </a:r>
            <a:r>
              <a:rPr sz="2400" spc="-120" dirty="0">
                <a:solidFill>
                  <a:srgbClr val="FF0000"/>
                </a:solidFill>
                <a:latin typeface="Arial"/>
                <a:cs typeface="Arial"/>
              </a:rPr>
              <a:t>10 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minutes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3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FF0000"/>
                </a:solidFill>
                <a:latin typeface="Arial"/>
                <a:cs typeface="Arial"/>
              </a:rPr>
              <a:t>inactivity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41275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412750" algn="l"/>
              </a:tabLst>
            </a:pP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or </a:t>
            </a:r>
            <a:r>
              <a:rPr sz="2400" spc="35" dirty="0">
                <a:solidFill>
                  <a:srgbClr val="FF0000"/>
                </a:solidFill>
                <a:latin typeface="Arial"/>
                <a:cs typeface="Arial"/>
              </a:rPr>
              <a:t>if</a:t>
            </a:r>
            <a:r>
              <a:rPr sz="2400" spc="-5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client </a:t>
            </a:r>
            <a:r>
              <a:rPr sz="2400" spc="-175" dirty="0">
                <a:solidFill>
                  <a:srgbClr val="FF0000"/>
                </a:solidFill>
                <a:latin typeface="Arial"/>
                <a:cs typeface="Arial"/>
              </a:rPr>
              <a:t>has </a:t>
            </a:r>
            <a:r>
              <a:rPr sz="2400" spc="-114" dirty="0">
                <a:solidFill>
                  <a:srgbClr val="FF0000"/>
                </a:solidFill>
                <a:latin typeface="Arial"/>
                <a:cs typeface="Arial"/>
              </a:rPr>
              <a:t>exhausted 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400" spc="-90" dirty="0">
                <a:solidFill>
                  <a:srgbClr val="FF0000"/>
                </a:solidFill>
                <a:latin typeface="Arial"/>
                <a:cs typeface="Arial"/>
              </a:rPr>
              <a:t>cursor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873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9" y="4660900"/>
            <a:ext cx="7621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var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myCursor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db.inventory.find().addOption(DBQuery.Option.noTimeout);</a:t>
            </a:r>
            <a:endParaRPr sz="18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1192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Data</a:t>
            </a:r>
            <a:r>
              <a:rPr spc="-265" dirty="0"/>
              <a:t> </a:t>
            </a:r>
            <a:r>
              <a:rPr spc="-60" dirty="0"/>
              <a:t>Modification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17297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11403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7682230" cy="3188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111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50" dirty="0">
                <a:latin typeface="Arial"/>
                <a:cs typeface="Arial"/>
              </a:rPr>
              <a:t>Data </a:t>
            </a:r>
            <a:r>
              <a:rPr sz="2800" spc="-55" dirty="0">
                <a:latin typeface="Arial"/>
                <a:cs typeface="Arial"/>
              </a:rPr>
              <a:t>modification </a:t>
            </a:r>
            <a:r>
              <a:rPr sz="2800" spc="-85" dirty="0">
                <a:latin typeface="Arial"/>
                <a:cs typeface="Arial"/>
              </a:rPr>
              <a:t>refers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85" dirty="0">
                <a:latin typeface="Arial"/>
                <a:cs typeface="Arial"/>
              </a:rPr>
              <a:t>operations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that</a:t>
            </a:r>
            <a:r>
              <a:rPr sz="2800" spc="-5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create, 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update, </a:t>
            </a:r>
            <a:r>
              <a:rPr sz="2800" spc="-25" dirty="0">
                <a:solidFill>
                  <a:srgbClr val="FF0000"/>
                </a:solidFill>
                <a:latin typeface="Arial"/>
                <a:cs typeface="Arial"/>
              </a:rPr>
              <a:t>or 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delete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800" spc="-90" dirty="0">
                <a:latin typeface="Arial"/>
                <a:cs typeface="Arial"/>
              </a:rPr>
              <a:t>. </a:t>
            </a:r>
            <a:r>
              <a:rPr sz="2800" spc="-80" dirty="0">
                <a:latin typeface="Arial"/>
                <a:cs typeface="Arial"/>
              </a:rPr>
              <a:t>In</a:t>
            </a:r>
            <a:r>
              <a:rPr sz="2800" spc="-459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MongoDB.</a:t>
            </a:r>
            <a:endParaRPr sz="2800" dirty="0">
              <a:latin typeface="Arial"/>
              <a:cs typeface="Arial"/>
            </a:endParaRPr>
          </a:p>
          <a:p>
            <a:pPr marL="355600" marR="919480">
              <a:lnSpc>
                <a:spcPct val="100000"/>
              </a:lnSpc>
              <a:spcBef>
                <a:spcPts val="690"/>
              </a:spcBef>
            </a:pPr>
            <a:r>
              <a:rPr sz="2800" spc="-220" dirty="0">
                <a:latin typeface="Arial"/>
                <a:cs typeface="Arial"/>
              </a:rPr>
              <a:t>These </a:t>
            </a:r>
            <a:r>
              <a:rPr sz="2800" spc="-85" dirty="0">
                <a:latin typeface="Arial"/>
                <a:cs typeface="Arial"/>
              </a:rPr>
              <a:t>operations </a:t>
            </a:r>
            <a:r>
              <a:rPr sz="2800" spc="-60" dirty="0">
                <a:latin typeface="Arial"/>
                <a:cs typeface="Arial"/>
              </a:rPr>
              <a:t>modify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95" dirty="0">
                <a:latin typeface="Arial"/>
                <a:cs typeface="Arial"/>
              </a:rPr>
              <a:t>data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540" dirty="0">
                <a:latin typeface="Arial"/>
                <a:cs typeface="Arial"/>
              </a:rPr>
              <a:t> </a:t>
            </a:r>
            <a:r>
              <a:rPr lang="en-US" sz="2800" spc="-54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single  </a:t>
            </a:r>
            <a:r>
              <a:rPr sz="2800" spc="-70" dirty="0">
                <a:latin typeface="Arial"/>
                <a:cs typeface="Arial"/>
              </a:rPr>
              <a:t>collection.</a:t>
            </a:r>
            <a:endParaRPr sz="2800" dirty="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700"/>
              </a:spcBef>
            </a:pPr>
            <a:r>
              <a:rPr sz="2800" spc="-175" dirty="0">
                <a:latin typeface="Arial"/>
                <a:cs typeface="Arial"/>
              </a:rPr>
              <a:t>For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update </a:t>
            </a:r>
            <a:r>
              <a:rPr sz="2800" spc="-130" dirty="0">
                <a:latin typeface="Arial"/>
                <a:cs typeface="Arial"/>
              </a:rPr>
              <a:t>and </a:t>
            </a:r>
            <a:r>
              <a:rPr sz="2800" spc="-75" dirty="0">
                <a:latin typeface="Arial"/>
                <a:cs typeface="Arial"/>
              </a:rPr>
              <a:t>delete </a:t>
            </a:r>
            <a:r>
              <a:rPr sz="2800" spc="-85" dirty="0">
                <a:latin typeface="Arial"/>
                <a:cs typeface="Arial"/>
              </a:rPr>
              <a:t>operations, </a:t>
            </a:r>
            <a:r>
              <a:rPr sz="2800" spc="80" dirty="0">
                <a:latin typeface="Arial"/>
                <a:cs typeface="Arial"/>
              </a:rPr>
              <a:t>it</a:t>
            </a:r>
            <a:r>
              <a:rPr sz="2800" spc="-420" dirty="0">
                <a:latin typeface="Arial"/>
                <a:cs typeface="Arial"/>
              </a:rPr>
              <a:t> </a:t>
            </a:r>
            <a:r>
              <a:rPr sz="2800" spc="-150" dirty="0">
                <a:latin typeface="Arial"/>
                <a:cs typeface="Arial"/>
              </a:rPr>
              <a:t>is </a:t>
            </a:r>
            <a:r>
              <a:rPr sz="2800" spc="-135" dirty="0">
                <a:latin typeface="Arial"/>
                <a:cs typeface="Arial"/>
              </a:rPr>
              <a:t>possible  </a:t>
            </a:r>
            <a:r>
              <a:rPr sz="2800" spc="30" dirty="0">
                <a:latin typeface="Arial"/>
                <a:cs typeface="Arial"/>
              </a:rPr>
              <a:t>to </a:t>
            </a:r>
            <a:r>
              <a:rPr sz="2800" spc="-125" dirty="0">
                <a:latin typeface="Arial"/>
                <a:cs typeface="Arial"/>
              </a:rPr>
              <a:t>specify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45" dirty="0">
                <a:latin typeface="Arial"/>
                <a:cs typeface="Arial"/>
              </a:rPr>
              <a:t>criteria </a:t>
            </a:r>
            <a:r>
              <a:rPr sz="2800" spc="30" dirty="0">
                <a:latin typeface="Arial"/>
                <a:cs typeface="Arial"/>
              </a:rPr>
              <a:t>to </a:t>
            </a:r>
            <a:r>
              <a:rPr sz="2800" spc="-120" dirty="0">
                <a:latin typeface="Arial"/>
                <a:cs typeface="Arial"/>
              </a:rPr>
              <a:t>select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14" dirty="0">
                <a:latin typeface="Arial"/>
                <a:cs typeface="Arial"/>
              </a:rPr>
              <a:t>documents </a:t>
            </a:r>
            <a:r>
              <a:rPr sz="2800" spc="30" dirty="0">
                <a:latin typeface="Arial"/>
                <a:cs typeface="Arial"/>
              </a:rPr>
              <a:t>to  </a:t>
            </a:r>
            <a:r>
              <a:rPr sz="2800" spc="-90" dirty="0">
                <a:latin typeface="Arial"/>
                <a:cs typeface="Arial"/>
              </a:rPr>
              <a:t>update </a:t>
            </a:r>
            <a:r>
              <a:rPr sz="2800" spc="-25" dirty="0">
                <a:latin typeface="Arial"/>
                <a:cs typeface="Arial"/>
              </a:rPr>
              <a:t>or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remove.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3385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I</a:t>
            </a:r>
            <a:r>
              <a:rPr spc="-140" dirty="0"/>
              <a:t>n</a:t>
            </a:r>
            <a:r>
              <a:rPr spc="-480" dirty="0"/>
              <a:t>s</a:t>
            </a:r>
            <a:r>
              <a:rPr spc="-125" dirty="0"/>
              <a:t>e</a:t>
            </a:r>
            <a:r>
              <a:rPr spc="-75" dirty="0"/>
              <a:t>r</a:t>
            </a:r>
            <a:r>
              <a:rPr spc="250" dirty="0"/>
              <a:t>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33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330200" y="951230"/>
            <a:ext cx="6807200" cy="2308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0200" y="3746500"/>
            <a:ext cx="7874000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6719" y="3409950"/>
            <a:ext cx="37642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Which corresponds to the </a:t>
            </a:r>
            <a:r>
              <a:rPr sz="1800" dirty="0">
                <a:latin typeface="Arial"/>
                <a:cs typeface="Arial"/>
              </a:rPr>
              <a:t>SQL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query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70433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U</a:t>
            </a:r>
            <a:r>
              <a:rPr spc="-215" dirty="0"/>
              <a:t>p</a:t>
            </a:r>
            <a:r>
              <a:rPr spc="-95" dirty="0"/>
              <a:t>da</a:t>
            </a:r>
            <a:r>
              <a:rPr spc="-45" dirty="0"/>
              <a:t>t</a:t>
            </a:r>
            <a:r>
              <a:rPr spc="-260" dirty="0"/>
              <a:t>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34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571500" y="1306830"/>
            <a:ext cx="7277100" cy="1824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0400" y="3619500"/>
            <a:ext cx="6350000" cy="127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0196"/>
            <a:ext cx="39065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Update:</a:t>
            </a:r>
            <a:r>
              <a:rPr spc="-310" dirty="0"/>
              <a:t> </a:t>
            </a:r>
            <a:r>
              <a:rPr spc="-28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35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384300" y="1028700"/>
            <a:ext cx="6375400" cy="487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843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Update</a:t>
            </a:r>
            <a:r>
              <a:rPr spc="-295" dirty="0"/>
              <a:t> </a:t>
            </a:r>
            <a:r>
              <a:rPr spc="-195" dirty="0"/>
              <a:t>Behavior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36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408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4861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7973059" cy="273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5913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20" dirty="0">
                <a:latin typeface="Arial"/>
                <a:cs typeface="Arial"/>
              </a:rPr>
              <a:t>By </a:t>
            </a:r>
            <a:r>
              <a:rPr sz="2400" spc="-45" dirty="0">
                <a:latin typeface="Arial"/>
                <a:cs typeface="Arial"/>
              </a:rPr>
              <a:t>default,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0" dirty="0">
                <a:latin typeface="Arial"/>
                <a:cs typeface="Arial"/>
              </a:rPr>
              <a:t>db.collection.update() </a:t>
            </a:r>
            <a:r>
              <a:rPr sz="2400" spc="-55" dirty="0">
                <a:latin typeface="Arial"/>
                <a:cs typeface="Arial"/>
              </a:rPr>
              <a:t>method </a:t>
            </a:r>
            <a:r>
              <a:rPr sz="2400" spc="-100" dirty="0">
                <a:latin typeface="Arial"/>
                <a:cs typeface="Arial"/>
              </a:rPr>
              <a:t>updates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  </a:t>
            </a:r>
            <a:r>
              <a:rPr sz="2400" spc="-114" dirty="0">
                <a:latin typeface="Arial"/>
                <a:cs typeface="Arial"/>
              </a:rPr>
              <a:t>single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document.</a:t>
            </a:r>
            <a:endParaRPr sz="2400" dirty="0">
              <a:latin typeface="Arial"/>
              <a:cs typeface="Arial"/>
            </a:endParaRPr>
          </a:p>
          <a:p>
            <a:pPr marL="355600" marR="704850">
              <a:lnSpc>
                <a:spcPct val="100000"/>
              </a:lnSpc>
              <a:spcBef>
                <a:spcPts val="600"/>
              </a:spcBef>
            </a:pPr>
            <a:r>
              <a:rPr sz="2400" spc="-100" dirty="0">
                <a:latin typeface="Arial"/>
                <a:cs typeface="Arial"/>
              </a:rPr>
              <a:t>However,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multi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option,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update()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can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update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all  </a:t>
            </a:r>
            <a:r>
              <a:rPr sz="2400" spc="-95" dirty="0">
                <a:latin typeface="Arial"/>
                <a:cs typeface="Arial"/>
              </a:rPr>
              <a:t>documents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collection.</a:t>
            </a:r>
            <a:endParaRPr sz="2400" dirty="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latin typeface="Arial"/>
                <a:cs typeface="Arial"/>
              </a:rPr>
              <a:t>If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update() </a:t>
            </a:r>
            <a:r>
              <a:rPr sz="2400" spc="-55" dirty="0">
                <a:latin typeface="Arial"/>
                <a:cs typeface="Arial"/>
              </a:rPr>
              <a:t>method </a:t>
            </a:r>
            <a:r>
              <a:rPr sz="2400" spc="-100" dirty="0">
                <a:latin typeface="Arial"/>
                <a:cs typeface="Arial"/>
              </a:rPr>
              <a:t>includes </a:t>
            </a:r>
            <a:r>
              <a:rPr sz="2400" spc="-60" dirty="0">
                <a:latin typeface="Arial"/>
                <a:cs typeface="Arial"/>
              </a:rPr>
              <a:t>upsert: </a:t>
            </a:r>
            <a:r>
              <a:rPr sz="2400" spc="-15" dirty="0">
                <a:latin typeface="Arial"/>
                <a:cs typeface="Arial"/>
              </a:rPr>
              <a:t>true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80" dirty="0">
                <a:latin typeface="Arial"/>
                <a:cs typeface="Arial"/>
              </a:rPr>
              <a:t>no  </a:t>
            </a:r>
            <a:r>
              <a:rPr sz="2400" spc="-95" dirty="0">
                <a:latin typeface="Arial"/>
                <a:cs typeface="Arial"/>
              </a:rPr>
              <a:t>documents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match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query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portion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update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operation,  </a:t>
            </a:r>
            <a:r>
              <a:rPr sz="2400" spc="-45" dirty="0">
                <a:latin typeface="Arial"/>
                <a:cs typeface="Arial"/>
              </a:rPr>
              <a:t>then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update </a:t>
            </a:r>
            <a:r>
              <a:rPr sz="2400" spc="-50" dirty="0">
                <a:latin typeface="Arial"/>
                <a:cs typeface="Arial"/>
              </a:rPr>
              <a:t>operation </a:t>
            </a:r>
            <a:r>
              <a:rPr sz="2400" spc="-105" dirty="0">
                <a:latin typeface="Arial"/>
                <a:cs typeface="Arial"/>
              </a:rPr>
              <a:t>creates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new</a:t>
            </a:r>
            <a:r>
              <a:rPr sz="2400" spc="-41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document.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8776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Re</a:t>
            </a:r>
            <a:r>
              <a:rPr spc="-475" dirty="0"/>
              <a:t>m</a:t>
            </a:r>
            <a:r>
              <a:rPr spc="-125" dirty="0"/>
              <a:t>o</a:t>
            </a:r>
            <a:r>
              <a:rPr spc="-245" dirty="0"/>
              <a:t>ve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37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457200" y="1308100"/>
            <a:ext cx="6350000" cy="127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" y="3594100"/>
            <a:ext cx="6350000" cy="1016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41652"/>
            <a:ext cx="401955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Remove</a:t>
            </a:r>
            <a:r>
              <a:rPr spc="-290" dirty="0"/>
              <a:t> </a:t>
            </a:r>
            <a:r>
              <a:rPr lang="en-US" spc="-290" dirty="0"/>
              <a:t> </a:t>
            </a:r>
            <a:r>
              <a:rPr spc="-190" dirty="0"/>
              <a:t>Behavior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38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7759700" cy="1819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54" dirty="0">
                <a:latin typeface="Arial"/>
                <a:cs typeface="Arial"/>
              </a:rPr>
              <a:t>By </a:t>
            </a:r>
            <a:r>
              <a:rPr sz="2800" spc="-55" dirty="0">
                <a:latin typeface="Arial"/>
                <a:cs typeface="Arial"/>
              </a:rPr>
              <a:t>default, </a:t>
            </a:r>
            <a:r>
              <a:rPr sz="2800" i="1" spc="-175" dirty="0">
                <a:latin typeface="Trebuchet MS"/>
                <a:cs typeface="Trebuchet MS"/>
              </a:rPr>
              <a:t>db.collection.remove() </a:t>
            </a:r>
            <a:r>
              <a:rPr sz="2800" spc="-65" dirty="0">
                <a:latin typeface="Arial"/>
                <a:cs typeface="Arial"/>
              </a:rPr>
              <a:t>method </a:t>
            </a:r>
            <a:r>
              <a:rPr sz="2800" spc="-135" dirty="0">
                <a:latin typeface="Arial"/>
                <a:cs typeface="Arial"/>
              </a:rPr>
              <a:t>removes  </a:t>
            </a:r>
            <a:r>
              <a:rPr sz="2800" spc="-60" dirty="0">
                <a:latin typeface="Arial"/>
                <a:cs typeface="Arial"/>
              </a:rPr>
              <a:t>all </a:t>
            </a:r>
            <a:r>
              <a:rPr sz="2800" spc="-114" dirty="0">
                <a:latin typeface="Arial"/>
                <a:cs typeface="Arial"/>
              </a:rPr>
              <a:t>documents </a:t>
            </a:r>
            <a:r>
              <a:rPr sz="2800" spc="-5" dirty="0">
                <a:latin typeface="Arial"/>
                <a:cs typeface="Arial"/>
              </a:rPr>
              <a:t>that </a:t>
            </a:r>
            <a:r>
              <a:rPr sz="2800" spc="-95" dirty="0">
                <a:latin typeface="Arial"/>
                <a:cs typeface="Arial"/>
              </a:rPr>
              <a:t>match </a:t>
            </a:r>
            <a:r>
              <a:rPr sz="2800" spc="-50" dirty="0">
                <a:latin typeface="Arial"/>
                <a:cs typeface="Arial"/>
              </a:rPr>
              <a:t>its</a:t>
            </a:r>
            <a:r>
              <a:rPr sz="2800" spc="-49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query.</a:t>
            </a:r>
            <a:endParaRPr sz="2800" dirty="0">
              <a:latin typeface="Arial"/>
              <a:cs typeface="Arial"/>
            </a:endParaRPr>
          </a:p>
          <a:p>
            <a:pPr marL="355600" marR="762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20" dirty="0">
                <a:latin typeface="Arial"/>
                <a:cs typeface="Arial"/>
              </a:rPr>
              <a:t>However,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65" dirty="0">
                <a:latin typeface="Arial"/>
                <a:cs typeface="Arial"/>
              </a:rPr>
              <a:t>method </a:t>
            </a:r>
            <a:r>
              <a:rPr sz="2800" spc="-175" dirty="0">
                <a:latin typeface="Arial"/>
                <a:cs typeface="Arial"/>
              </a:rPr>
              <a:t>can </a:t>
            </a:r>
            <a:r>
              <a:rPr sz="2800" spc="-130" dirty="0">
                <a:solidFill>
                  <a:srgbClr val="FF0000"/>
                </a:solidFill>
                <a:latin typeface="Arial"/>
                <a:cs typeface="Arial"/>
              </a:rPr>
              <a:t>accept </a:t>
            </a:r>
            <a:r>
              <a:rPr sz="2800" spc="-22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flag </a:t>
            </a:r>
            <a:r>
              <a:rPr sz="2800" spc="35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800" spc="15" dirty="0">
                <a:solidFill>
                  <a:srgbClr val="FF0000"/>
                </a:solidFill>
                <a:latin typeface="Arial"/>
                <a:cs typeface="Arial"/>
              </a:rPr>
              <a:t>limit</a:t>
            </a:r>
            <a:r>
              <a:rPr sz="2800" spc="-4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  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delete </a:t>
            </a:r>
            <a:r>
              <a:rPr sz="2800" spc="-60" dirty="0">
                <a:solidFill>
                  <a:srgbClr val="FF0000"/>
                </a:solidFill>
                <a:latin typeface="Arial"/>
                <a:cs typeface="Arial"/>
              </a:rPr>
              <a:t>operation </a:t>
            </a:r>
            <a:r>
              <a:rPr sz="2800" spc="35" dirty="0">
                <a:latin typeface="Arial"/>
                <a:cs typeface="Arial"/>
              </a:rPr>
              <a:t>to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35" dirty="0">
                <a:latin typeface="Arial"/>
                <a:cs typeface="Arial"/>
              </a:rPr>
              <a:t>single</a:t>
            </a:r>
            <a:r>
              <a:rPr sz="2800" spc="-420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document.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327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Write</a:t>
            </a:r>
            <a:r>
              <a:rPr spc="-285" dirty="0"/>
              <a:t> </a:t>
            </a:r>
            <a:r>
              <a:rPr spc="-254" dirty="0"/>
              <a:t>Concern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39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56970"/>
            <a:ext cx="13271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74750"/>
            <a:ext cx="7706995" cy="32550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30" dirty="0">
                <a:latin typeface="Arial"/>
                <a:cs typeface="Arial"/>
              </a:rPr>
              <a:t>There </a:t>
            </a:r>
            <a:r>
              <a:rPr sz="2400" spc="-100" dirty="0">
                <a:latin typeface="Arial"/>
                <a:cs typeface="Arial"/>
              </a:rPr>
              <a:t>are </a:t>
            </a:r>
            <a:r>
              <a:rPr sz="2400" spc="-15" dirty="0">
                <a:latin typeface="Arial"/>
                <a:cs typeface="Arial"/>
              </a:rPr>
              <a:t>different </a:t>
            </a:r>
            <a:r>
              <a:rPr sz="2400" spc="-110" dirty="0">
                <a:latin typeface="Arial"/>
                <a:cs typeface="Arial"/>
              </a:rPr>
              <a:t>levels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95" dirty="0">
                <a:latin typeface="Arial"/>
                <a:cs typeface="Arial"/>
              </a:rPr>
              <a:t>guarantee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writes</a:t>
            </a:r>
            <a:endParaRPr sz="2400" dirty="0">
              <a:latin typeface="Arial"/>
              <a:cs typeface="Arial"/>
            </a:endParaRPr>
          </a:p>
          <a:p>
            <a:pPr marL="12700" marR="1075055">
              <a:lnSpc>
                <a:spcPct val="100000"/>
              </a:lnSpc>
              <a:spcBef>
                <a:spcPts val="600"/>
              </a:spcBef>
            </a:pPr>
            <a:r>
              <a:rPr sz="2400" spc="-110" dirty="0">
                <a:latin typeface="Arial"/>
                <a:cs typeface="Arial"/>
              </a:rPr>
              <a:t>When 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inserts, </a:t>
            </a:r>
            <a:r>
              <a:rPr sz="2400" spc="-100" dirty="0">
                <a:solidFill>
                  <a:srgbClr val="FF0000"/>
                </a:solidFill>
                <a:latin typeface="Arial"/>
                <a:cs typeface="Arial"/>
              </a:rPr>
              <a:t>updates </a:t>
            </a:r>
            <a:r>
              <a:rPr sz="2400" spc="-114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400" spc="-90" dirty="0">
                <a:solidFill>
                  <a:srgbClr val="FF0000"/>
                </a:solidFill>
                <a:latin typeface="Arial"/>
                <a:cs typeface="Arial"/>
              </a:rPr>
              <a:t>deletes </a:t>
            </a:r>
            <a:r>
              <a:rPr sz="2400" spc="-135" dirty="0">
                <a:solidFill>
                  <a:srgbClr val="FF0000"/>
                </a:solidFill>
                <a:latin typeface="Arial"/>
                <a:cs typeface="Arial"/>
              </a:rPr>
              <a:t>have </a:t>
            </a:r>
            <a:r>
              <a:rPr sz="2400" spc="-19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400" spc="-114" dirty="0">
                <a:solidFill>
                  <a:srgbClr val="FF0000"/>
                </a:solidFill>
                <a:latin typeface="Arial"/>
                <a:cs typeface="Arial"/>
              </a:rPr>
              <a:t>weak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2400" dirty="0">
                <a:latin typeface="Arial"/>
                <a:cs typeface="Arial"/>
              </a:rPr>
              <a:t>  </a:t>
            </a:r>
            <a:r>
              <a:rPr sz="2400" spc="-100" dirty="0">
                <a:latin typeface="Arial"/>
                <a:cs typeface="Arial"/>
              </a:rPr>
              <a:t>concern, </a:t>
            </a:r>
            <a:r>
              <a:rPr sz="2400" dirty="0">
                <a:latin typeface="Arial"/>
                <a:cs typeface="Arial"/>
              </a:rPr>
              <a:t>write </a:t>
            </a:r>
            <a:r>
              <a:rPr sz="2400" spc="-75" dirty="0">
                <a:latin typeface="Arial"/>
                <a:cs typeface="Arial"/>
              </a:rPr>
              <a:t>operations </a:t>
            </a:r>
            <a:r>
              <a:rPr sz="2400" spc="-15" dirty="0">
                <a:latin typeface="Arial"/>
                <a:cs typeface="Arial"/>
              </a:rPr>
              <a:t>return</a:t>
            </a:r>
            <a:r>
              <a:rPr sz="2400" spc="-3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quickly.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sz="2400" spc="-75" dirty="0">
                <a:latin typeface="Arial"/>
                <a:cs typeface="Arial"/>
              </a:rPr>
              <a:t>In </a:t>
            </a:r>
            <a:r>
              <a:rPr sz="2400" spc="-145" dirty="0">
                <a:latin typeface="Arial"/>
                <a:cs typeface="Arial"/>
              </a:rPr>
              <a:t>some </a:t>
            </a:r>
            <a:r>
              <a:rPr sz="2400" spc="-40" dirty="0">
                <a:solidFill>
                  <a:srgbClr val="FF0000"/>
                </a:solidFill>
                <a:latin typeface="Arial"/>
                <a:cs typeface="Arial"/>
              </a:rPr>
              <a:t>failure </a:t>
            </a:r>
            <a:r>
              <a:rPr sz="2400" spc="-190" dirty="0">
                <a:solidFill>
                  <a:srgbClr val="FF0000"/>
                </a:solidFill>
                <a:latin typeface="Arial"/>
                <a:cs typeface="Arial"/>
              </a:rPr>
              <a:t>cases,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 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operations </a:t>
            </a:r>
            <a:r>
              <a:rPr sz="2400" spc="-140" dirty="0">
                <a:solidFill>
                  <a:srgbClr val="FF0000"/>
                </a:solidFill>
                <a:latin typeface="Arial"/>
                <a:cs typeface="Arial"/>
              </a:rPr>
              <a:t>issued </a:t>
            </a:r>
            <a:r>
              <a:rPr sz="2400" spc="10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sz="2400" spc="-114" dirty="0">
                <a:solidFill>
                  <a:srgbClr val="FF0000"/>
                </a:solidFill>
                <a:latin typeface="Arial"/>
                <a:cs typeface="Arial"/>
              </a:rPr>
              <a:t>weak</a:t>
            </a:r>
            <a:r>
              <a:rPr sz="2400" spc="-40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  </a:t>
            </a:r>
            <a:r>
              <a:rPr sz="2400" spc="-125" dirty="0">
                <a:latin typeface="Arial"/>
                <a:cs typeface="Arial"/>
              </a:rPr>
              <a:t>concerns </a:t>
            </a:r>
            <a:r>
              <a:rPr sz="2400" spc="-130" dirty="0">
                <a:latin typeface="Arial"/>
                <a:cs typeface="Arial"/>
              </a:rPr>
              <a:t>may </a:t>
            </a:r>
            <a:r>
              <a:rPr sz="2400" spc="-10" dirty="0">
                <a:latin typeface="Arial"/>
                <a:cs typeface="Arial"/>
              </a:rPr>
              <a:t>not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persist.</a:t>
            </a:r>
            <a:endParaRPr sz="2400" dirty="0">
              <a:latin typeface="Arial"/>
              <a:cs typeface="Arial"/>
            </a:endParaRPr>
          </a:p>
          <a:p>
            <a:pPr marL="12700" marR="598170">
              <a:lnSpc>
                <a:spcPct val="100000"/>
              </a:lnSpc>
              <a:spcBef>
                <a:spcPts val="600"/>
              </a:spcBef>
            </a:pPr>
            <a:r>
              <a:rPr sz="2400" spc="-15" dirty="0">
                <a:latin typeface="Arial"/>
                <a:cs typeface="Arial"/>
              </a:rPr>
              <a:t>With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stronger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</a:t>
            </a:r>
            <a:r>
              <a:rPr sz="2400" spc="-120" dirty="0">
                <a:solidFill>
                  <a:srgbClr val="FF0000"/>
                </a:solidFill>
                <a:latin typeface="Arial"/>
                <a:cs typeface="Arial"/>
              </a:rPr>
              <a:t> concerns,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clients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wait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after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20" dirty="0">
                <a:solidFill>
                  <a:srgbClr val="FF0000"/>
                </a:solidFill>
                <a:latin typeface="Arial"/>
                <a:cs typeface="Arial"/>
              </a:rPr>
              <a:t>sending</a:t>
            </a:r>
            <a:r>
              <a:rPr sz="2400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90" dirty="0">
                <a:solidFill>
                  <a:srgbClr val="FF0000"/>
                </a:solidFill>
                <a:latin typeface="Arial"/>
                <a:cs typeface="Arial"/>
              </a:rPr>
              <a:t>a 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 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operation </a:t>
            </a:r>
            <a:r>
              <a:rPr sz="2400" spc="5" dirty="0">
                <a:latin typeface="Arial"/>
                <a:cs typeface="Arial"/>
              </a:rPr>
              <a:t>for </a:t>
            </a:r>
            <a:r>
              <a:rPr sz="2400" spc="-140" dirty="0">
                <a:latin typeface="Arial"/>
                <a:cs typeface="Arial"/>
              </a:rPr>
              <a:t>MongoDB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confirm 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write  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operations.</a:t>
            </a:r>
            <a:endParaRPr sz="2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8285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29057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7314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Unacknowledged: </a:t>
            </a:r>
            <a:r>
              <a:rPr spc="-120" dirty="0"/>
              <a:t>Default</a:t>
            </a:r>
            <a:r>
              <a:rPr spc="-270" dirty="0"/>
              <a:t> </a:t>
            </a:r>
            <a:r>
              <a:rPr spc="-35" dirty="0"/>
              <a:t>Write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40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168400" y="1181100"/>
            <a:ext cx="5842000" cy="406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362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Acknowledged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41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49679"/>
            <a:ext cx="4406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85" dirty="0">
                <a:latin typeface="Arial"/>
                <a:cs typeface="Arial"/>
              </a:rPr>
              <a:t>This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80" dirty="0">
                <a:latin typeface="Arial"/>
                <a:cs typeface="Arial"/>
              </a:rPr>
              <a:t>defined </a:t>
            </a:r>
            <a:r>
              <a:rPr sz="2800" spc="-45" dirty="0">
                <a:latin typeface="Arial"/>
                <a:cs typeface="Arial"/>
              </a:rPr>
              <a:t>in </a:t>
            </a:r>
            <a:r>
              <a:rPr sz="2800" spc="-35" dirty="0">
                <a:latin typeface="Arial"/>
                <a:cs typeface="Arial"/>
              </a:rPr>
              <a:t>the</a:t>
            </a:r>
            <a:r>
              <a:rPr sz="2800" spc="-36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drivers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1000" y="1460500"/>
            <a:ext cx="5678170" cy="394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2498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J</a:t>
            </a:r>
            <a:r>
              <a:rPr spc="-484" dirty="0"/>
              <a:t>o</a:t>
            </a:r>
            <a:r>
              <a:rPr spc="-140" dirty="0"/>
              <a:t>u</a:t>
            </a:r>
            <a:r>
              <a:rPr spc="-30" dirty="0"/>
              <a:t>r</a:t>
            </a:r>
            <a:r>
              <a:rPr spc="-45" dirty="0"/>
              <a:t>n</a:t>
            </a:r>
            <a:r>
              <a:rPr spc="-165" dirty="0"/>
              <a:t>al</a:t>
            </a:r>
            <a:r>
              <a:rPr spc="-235" dirty="0"/>
              <a:t>e</a:t>
            </a:r>
            <a:r>
              <a:rPr spc="-140" dirty="0"/>
              <a:t>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7842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75" dirty="0">
                <a:latin typeface="Arial"/>
                <a:cs typeface="Arial"/>
              </a:rPr>
              <a:t>Operation </a:t>
            </a:r>
            <a:r>
              <a:rPr sz="2400" spc="-100" dirty="0">
                <a:latin typeface="Arial"/>
                <a:cs typeface="Arial"/>
              </a:rPr>
              <a:t>are </a:t>
            </a:r>
            <a:r>
              <a:rPr sz="2400" spc="-125" dirty="0">
                <a:latin typeface="Arial"/>
                <a:cs typeface="Arial"/>
              </a:rPr>
              <a:t>acknowledges </a:t>
            </a:r>
            <a:r>
              <a:rPr sz="2400" spc="-65" dirty="0">
                <a:latin typeface="Arial"/>
                <a:cs typeface="Arial"/>
              </a:rPr>
              <a:t>only </a:t>
            </a:r>
            <a:r>
              <a:rPr sz="2400" spc="-20" dirty="0">
                <a:latin typeface="Arial"/>
                <a:cs typeface="Arial"/>
              </a:rPr>
              <a:t>after </a:t>
            </a:r>
            <a:r>
              <a:rPr sz="2400" spc="-75" dirty="0">
                <a:latin typeface="Arial"/>
                <a:cs typeface="Arial"/>
              </a:rPr>
              <a:t>operations </a:t>
            </a:r>
            <a:r>
              <a:rPr sz="2400" spc="-95" dirty="0">
                <a:latin typeface="Arial"/>
                <a:cs typeface="Arial"/>
              </a:rPr>
              <a:t>are</a:t>
            </a:r>
            <a:r>
              <a:rPr sz="2400" spc="-430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saved 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journal.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0139" y="1879600"/>
            <a:ext cx="6620509" cy="353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1200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Replica</a:t>
            </a:r>
            <a:r>
              <a:rPr spc="-275" dirty="0"/>
              <a:t> </a:t>
            </a:r>
            <a:r>
              <a:rPr spc="-200" dirty="0"/>
              <a:t>Acknowledged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43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2184400" y="1076960"/>
            <a:ext cx="4084320" cy="424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14890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795" dirty="0">
                <a:latin typeface="Arial"/>
                <a:cs typeface="Arial"/>
              </a:rPr>
              <a:t>S</a:t>
            </a:r>
            <a:r>
              <a:rPr sz="4000" b="1" spc="-565" dirty="0">
                <a:latin typeface="Arial"/>
                <a:cs typeface="Arial"/>
              </a:rPr>
              <a:t>c</a:t>
            </a:r>
            <a:r>
              <a:rPr sz="4000" b="1" spc="-260" dirty="0">
                <a:latin typeface="Arial"/>
                <a:cs typeface="Arial"/>
              </a:rPr>
              <a:t>a</a:t>
            </a:r>
            <a:r>
              <a:rPr sz="4000" b="1" spc="-135" dirty="0">
                <a:latin typeface="Arial"/>
                <a:cs typeface="Arial"/>
              </a:rPr>
              <a:t>l</a:t>
            </a:r>
            <a:r>
              <a:rPr sz="4000" b="1" spc="-125" dirty="0">
                <a:latin typeface="Arial"/>
                <a:cs typeface="Arial"/>
              </a:rPr>
              <a:t>i</a:t>
            </a:r>
            <a:r>
              <a:rPr sz="4000" b="1" spc="-310" dirty="0">
                <a:latin typeface="Arial"/>
                <a:cs typeface="Arial"/>
              </a:rPr>
              <a:t>n</a:t>
            </a:r>
            <a:r>
              <a:rPr sz="4000" b="1" spc="-550" dirty="0">
                <a:latin typeface="Arial"/>
                <a:cs typeface="Arial"/>
              </a:rPr>
              <a:t>g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44</a:t>
            </a:fld>
            <a:endParaRPr spc="-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15970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Scaling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45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8009890" cy="227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04" dirty="0">
                <a:latin typeface="Arial"/>
                <a:cs typeface="Arial"/>
              </a:rPr>
              <a:t>The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idea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55" dirty="0">
                <a:latin typeface="Arial"/>
                <a:cs typeface="Arial"/>
              </a:rPr>
              <a:t>scaling</a:t>
            </a:r>
            <a:r>
              <a:rPr sz="2800" spc="-145" dirty="0">
                <a:latin typeface="Arial"/>
                <a:cs typeface="Arial"/>
              </a:rPr>
              <a:t> is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35" dirty="0">
                <a:latin typeface="Arial"/>
                <a:cs typeface="Arial"/>
              </a:rPr>
              <a:t>add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more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node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cluster 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nodes.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50" dirty="0">
                <a:latin typeface="Arial"/>
                <a:cs typeface="Arial"/>
              </a:rPr>
              <a:t>There </a:t>
            </a:r>
            <a:r>
              <a:rPr sz="2800" spc="-114" dirty="0">
                <a:latin typeface="Arial"/>
                <a:cs typeface="Arial"/>
              </a:rPr>
              <a:t>are </a:t>
            </a:r>
            <a:r>
              <a:rPr sz="2800" spc="15" dirty="0">
                <a:latin typeface="Arial"/>
                <a:cs typeface="Arial"/>
              </a:rPr>
              <a:t>two </a:t>
            </a:r>
            <a:r>
              <a:rPr sz="2800" spc="-20" dirty="0">
                <a:latin typeface="Arial"/>
                <a:cs typeface="Arial"/>
              </a:rPr>
              <a:t>different </a:t>
            </a:r>
            <a:r>
              <a:rPr sz="2800" spc="-65" dirty="0">
                <a:latin typeface="Arial"/>
                <a:cs typeface="Arial"/>
              </a:rPr>
              <a:t>context </a:t>
            </a:r>
            <a:r>
              <a:rPr sz="2800" spc="35" dirty="0">
                <a:latin typeface="Arial"/>
                <a:cs typeface="Arial"/>
              </a:rPr>
              <a:t>to</a:t>
            </a:r>
            <a:r>
              <a:rPr sz="2800" spc="-56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consider: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60" dirty="0">
                <a:latin typeface="Arial"/>
                <a:cs typeface="Arial"/>
              </a:rPr>
              <a:t>Heavy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reads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160" dirty="0">
                <a:latin typeface="Arial"/>
                <a:cs typeface="Arial"/>
              </a:rPr>
              <a:t>Heavy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writes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7612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Scaling: </a:t>
            </a:r>
            <a:r>
              <a:rPr spc="-290" dirty="0"/>
              <a:t>Heavy</a:t>
            </a:r>
            <a:r>
              <a:rPr spc="-260" dirty="0"/>
              <a:t> </a:t>
            </a:r>
            <a:r>
              <a:rPr spc="-405" dirty="0"/>
              <a:t>Reads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46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72820"/>
            <a:ext cx="132715" cy="179323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991869"/>
            <a:ext cx="7390765" cy="215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950">
              <a:lnSpc>
                <a:spcPct val="120500"/>
              </a:lnSpc>
              <a:spcBef>
                <a:spcPts val="100"/>
              </a:spcBef>
            </a:pPr>
            <a:r>
              <a:rPr sz="2400" spc="-165" dirty="0">
                <a:latin typeface="Arial"/>
                <a:cs typeface="Arial"/>
              </a:rPr>
              <a:t>Scaling </a:t>
            </a:r>
            <a:r>
              <a:rPr sz="2400" spc="-85" dirty="0">
                <a:latin typeface="Arial"/>
                <a:cs typeface="Arial"/>
              </a:rPr>
              <a:t>here </a:t>
            </a:r>
            <a:r>
              <a:rPr sz="2400" spc="-150" dirty="0">
                <a:latin typeface="Arial"/>
                <a:cs typeface="Arial"/>
              </a:rPr>
              <a:t>can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114" dirty="0">
                <a:latin typeface="Arial"/>
                <a:cs typeface="Arial"/>
              </a:rPr>
              <a:t>achieved </a:t>
            </a:r>
            <a:r>
              <a:rPr sz="2400" spc="-100" dirty="0">
                <a:latin typeface="Arial"/>
                <a:cs typeface="Arial"/>
              </a:rPr>
              <a:t>by </a:t>
            </a:r>
            <a:r>
              <a:rPr sz="2400" spc="-105" dirty="0">
                <a:latin typeface="Arial"/>
                <a:cs typeface="Arial"/>
              </a:rPr>
              <a:t>adding </a:t>
            </a:r>
            <a:r>
              <a:rPr sz="2400" spc="-70" dirty="0">
                <a:latin typeface="Arial"/>
                <a:cs typeface="Arial"/>
              </a:rPr>
              <a:t>more </a:t>
            </a:r>
            <a:r>
              <a:rPr sz="2400" spc="-95" dirty="0">
                <a:latin typeface="Arial"/>
                <a:cs typeface="Arial"/>
              </a:rPr>
              <a:t>read</a:t>
            </a:r>
            <a:r>
              <a:rPr sz="2400" spc="-235" dirty="0">
                <a:latin typeface="Arial"/>
                <a:cs typeface="Arial"/>
              </a:rPr>
              <a:t> </a:t>
            </a:r>
            <a:r>
              <a:rPr sz="2400" spc="-160" dirty="0">
                <a:latin typeface="Arial"/>
                <a:cs typeface="Arial"/>
              </a:rPr>
              <a:t>slaves  </a:t>
            </a:r>
            <a:r>
              <a:rPr sz="2400" spc="-65" dirty="0">
                <a:latin typeface="Arial"/>
                <a:cs typeface="Arial"/>
              </a:rPr>
              <a:t>All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reads </a:t>
            </a:r>
            <a:r>
              <a:rPr sz="2400" spc="-150" dirty="0">
                <a:latin typeface="Arial"/>
                <a:cs typeface="Arial"/>
              </a:rPr>
              <a:t>can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55" dirty="0">
                <a:latin typeface="Arial"/>
                <a:cs typeface="Arial"/>
              </a:rPr>
              <a:t>directed </a:t>
            </a:r>
            <a:r>
              <a:rPr sz="2400" spc="30" dirty="0">
                <a:latin typeface="Arial"/>
                <a:cs typeface="Arial"/>
              </a:rPr>
              <a:t>to</a:t>
            </a:r>
            <a:r>
              <a:rPr sz="2400" spc="-49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50" dirty="0">
                <a:latin typeface="Arial"/>
                <a:cs typeface="Arial"/>
              </a:rPr>
              <a:t>slaves.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10" dirty="0">
                <a:latin typeface="Arial"/>
                <a:cs typeface="Arial"/>
              </a:rPr>
              <a:t>When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node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added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70" dirty="0">
                <a:latin typeface="Arial"/>
                <a:cs typeface="Arial"/>
              </a:rPr>
              <a:t>it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will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sync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other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nodes.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400" spc="-18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20" dirty="0">
                <a:latin typeface="Arial"/>
                <a:cs typeface="Arial"/>
              </a:rPr>
              <a:t>advantage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this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setting</a:t>
            </a:r>
            <a:r>
              <a:rPr sz="2400" spc="-125" dirty="0">
                <a:latin typeface="Arial"/>
                <a:cs typeface="Arial"/>
              </a:rPr>
              <a:t> is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we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do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need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30" dirty="0">
                <a:latin typeface="Arial"/>
                <a:cs typeface="Arial"/>
              </a:rPr>
              <a:t>to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stop 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cluster.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540" y="3723640"/>
            <a:ext cx="3295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rs.add(“mongo_address:27017”)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4000" y="2870200"/>
            <a:ext cx="3352800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7553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Data</a:t>
            </a:r>
            <a:r>
              <a:rPr spc="-305" dirty="0"/>
              <a:t> </a:t>
            </a:r>
            <a:r>
              <a:rPr spc="-165" dirty="0"/>
              <a:t>Replication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47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27000" y="1168400"/>
            <a:ext cx="8890000" cy="336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3027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Automatic</a:t>
            </a:r>
            <a:r>
              <a:rPr spc="-295" dirty="0"/>
              <a:t> </a:t>
            </a:r>
            <a:r>
              <a:rPr spc="-200" dirty="0"/>
              <a:t>Failover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48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397000" y="965200"/>
            <a:ext cx="5863590" cy="444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9034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Scaling: </a:t>
            </a:r>
            <a:r>
              <a:rPr spc="-290" dirty="0"/>
              <a:t>Heavy</a:t>
            </a:r>
            <a:r>
              <a:rPr spc="-254" dirty="0"/>
              <a:t> </a:t>
            </a:r>
            <a:r>
              <a:rPr spc="-110" dirty="0"/>
              <a:t>Writes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49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1729"/>
            <a:ext cx="150495" cy="10566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163319"/>
            <a:ext cx="7256780" cy="28498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spc="-170" dirty="0">
                <a:latin typeface="Arial"/>
                <a:cs typeface="Arial"/>
              </a:rPr>
              <a:t>We </a:t>
            </a:r>
            <a:r>
              <a:rPr sz="2800" spc="-175" dirty="0">
                <a:latin typeface="Arial"/>
                <a:cs typeface="Arial"/>
              </a:rPr>
              <a:t>can </a:t>
            </a:r>
            <a:r>
              <a:rPr sz="2800" spc="-35" dirty="0">
                <a:latin typeface="Arial"/>
                <a:cs typeface="Arial"/>
              </a:rPr>
              <a:t>start </a:t>
            </a:r>
            <a:r>
              <a:rPr sz="2800" spc="-150" dirty="0">
                <a:latin typeface="Arial"/>
                <a:cs typeface="Arial"/>
              </a:rPr>
              <a:t>using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65" dirty="0">
                <a:solidFill>
                  <a:srgbClr val="FF0000"/>
                </a:solidFill>
                <a:latin typeface="Arial"/>
                <a:cs typeface="Arial"/>
              </a:rPr>
              <a:t>Sharding</a:t>
            </a:r>
            <a:r>
              <a:rPr sz="2800" spc="-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60" dirty="0">
                <a:latin typeface="Arial"/>
                <a:cs typeface="Arial"/>
              </a:rPr>
              <a:t>feature.</a:t>
            </a:r>
            <a:endParaRPr sz="2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sz="2800" spc="-155" dirty="0">
                <a:solidFill>
                  <a:srgbClr val="FF0000"/>
                </a:solidFill>
                <a:latin typeface="Arial"/>
                <a:cs typeface="Arial"/>
              </a:rPr>
              <a:t>Sharding, </a:t>
            </a:r>
            <a:r>
              <a:rPr sz="2800" spc="-25" dirty="0">
                <a:solidFill>
                  <a:srgbClr val="FF0000"/>
                </a:solidFill>
                <a:latin typeface="Arial"/>
                <a:cs typeface="Arial"/>
              </a:rPr>
              <a:t>or </a:t>
            </a:r>
            <a:r>
              <a:rPr sz="2800" spc="-65" dirty="0">
                <a:solidFill>
                  <a:srgbClr val="FF0000"/>
                </a:solidFill>
                <a:latin typeface="Arial"/>
                <a:cs typeface="Arial"/>
              </a:rPr>
              <a:t>horizontal </a:t>
            </a:r>
            <a:r>
              <a:rPr sz="2800" spc="-155" dirty="0">
                <a:solidFill>
                  <a:srgbClr val="FF0000"/>
                </a:solidFill>
                <a:latin typeface="Arial"/>
                <a:cs typeface="Arial"/>
              </a:rPr>
              <a:t>scaling </a:t>
            </a:r>
            <a:r>
              <a:rPr sz="2800" spc="-114" dirty="0">
                <a:solidFill>
                  <a:srgbClr val="FF0000"/>
                </a:solidFill>
                <a:latin typeface="Arial"/>
                <a:cs typeface="Arial"/>
              </a:rPr>
              <a:t>divides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sz="2800" spc="-4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F0000"/>
                </a:solidFill>
                <a:latin typeface="Arial"/>
                <a:cs typeface="Arial"/>
              </a:rPr>
              <a:t>set  </a:t>
            </a:r>
            <a:r>
              <a:rPr sz="2800" spc="-130" dirty="0">
                <a:solidFill>
                  <a:srgbClr val="FF0000"/>
                </a:solidFill>
                <a:latin typeface="Arial"/>
                <a:cs typeface="Arial"/>
              </a:rPr>
              <a:t>and </a:t>
            </a:r>
            <a:r>
              <a:rPr sz="2800" spc="-65" dirty="0">
                <a:solidFill>
                  <a:srgbClr val="FF0000"/>
                </a:solidFill>
                <a:latin typeface="Arial"/>
                <a:cs typeface="Arial"/>
              </a:rPr>
              <a:t>distributes </a:t>
            </a:r>
            <a:r>
              <a:rPr sz="2800" spc="-40" dirty="0">
                <a:solidFill>
                  <a:srgbClr val="FF0000"/>
                </a:solidFill>
                <a:latin typeface="Arial"/>
                <a:cs typeface="Arial"/>
              </a:rPr>
              <a:t>the </a:t>
            </a:r>
            <a:r>
              <a:rPr sz="2800" spc="-95" dirty="0">
                <a:solidFill>
                  <a:srgbClr val="FF0000"/>
                </a:solidFill>
                <a:latin typeface="Arial"/>
                <a:cs typeface="Arial"/>
              </a:rPr>
              <a:t>data </a:t>
            </a:r>
            <a:r>
              <a:rPr sz="2800" spc="-90" dirty="0">
                <a:solidFill>
                  <a:srgbClr val="FF0000"/>
                </a:solidFill>
                <a:latin typeface="Arial"/>
                <a:cs typeface="Arial"/>
              </a:rPr>
              <a:t>over </a:t>
            </a:r>
            <a:r>
              <a:rPr sz="2800" spc="-35" dirty="0">
                <a:solidFill>
                  <a:srgbClr val="FF0000"/>
                </a:solidFill>
                <a:latin typeface="Arial"/>
                <a:cs typeface="Arial"/>
              </a:rPr>
              <a:t>multiple</a:t>
            </a:r>
            <a:r>
              <a:rPr sz="2800" spc="-4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FF0000"/>
                </a:solidFill>
                <a:latin typeface="Arial"/>
                <a:cs typeface="Arial"/>
              </a:rPr>
              <a:t>servers</a:t>
            </a:r>
            <a:r>
              <a:rPr sz="2800" spc="-14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12700" marR="473075">
              <a:lnSpc>
                <a:spcPct val="100000"/>
              </a:lnSpc>
              <a:spcBef>
                <a:spcPts val="700"/>
              </a:spcBef>
            </a:pPr>
            <a:r>
              <a:rPr sz="2800" spc="-270" dirty="0">
                <a:latin typeface="Arial"/>
                <a:cs typeface="Arial"/>
              </a:rPr>
              <a:t>Each </a:t>
            </a:r>
            <a:r>
              <a:rPr sz="2800" spc="-140" dirty="0">
                <a:latin typeface="Arial"/>
                <a:cs typeface="Arial"/>
              </a:rPr>
              <a:t>shard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55" dirty="0">
                <a:latin typeface="Arial"/>
                <a:cs typeface="Arial"/>
              </a:rPr>
              <a:t>an </a:t>
            </a:r>
            <a:r>
              <a:rPr sz="2800" spc="-85" dirty="0">
                <a:latin typeface="Arial"/>
                <a:cs typeface="Arial"/>
              </a:rPr>
              <a:t>independent </a:t>
            </a:r>
            <a:r>
              <a:rPr sz="2800" spc="-140" dirty="0">
                <a:latin typeface="Arial"/>
                <a:cs typeface="Arial"/>
              </a:rPr>
              <a:t>database, </a:t>
            </a:r>
            <a:r>
              <a:rPr sz="2800" spc="-130" dirty="0">
                <a:latin typeface="Arial"/>
                <a:cs typeface="Arial"/>
              </a:rPr>
              <a:t>and  </a:t>
            </a:r>
            <a:r>
              <a:rPr sz="2800" spc="-80" dirty="0">
                <a:latin typeface="Arial"/>
                <a:cs typeface="Arial"/>
              </a:rPr>
              <a:t>collectively,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170" dirty="0">
                <a:latin typeface="Arial"/>
                <a:cs typeface="Arial"/>
              </a:rPr>
              <a:t>shards </a:t>
            </a:r>
            <a:r>
              <a:rPr sz="2800" spc="-155" dirty="0">
                <a:latin typeface="Arial"/>
                <a:cs typeface="Arial"/>
              </a:rPr>
              <a:t>make </a:t>
            </a:r>
            <a:r>
              <a:rPr sz="2800" spc="-90" dirty="0">
                <a:latin typeface="Arial"/>
                <a:cs typeface="Arial"/>
              </a:rPr>
              <a:t>up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35" dirty="0">
                <a:latin typeface="Arial"/>
                <a:cs typeface="Arial"/>
              </a:rPr>
              <a:t>single</a:t>
            </a:r>
            <a:r>
              <a:rPr sz="2800" spc="-280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logical  </a:t>
            </a:r>
            <a:r>
              <a:rPr sz="2800" spc="-140" dirty="0">
                <a:latin typeface="Arial"/>
                <a:cs typeface="Arial"/>
              </a:rPr>
              <a:t>database.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6873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0167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15" dirty="0"/>
              <a:t>S</a:t>
            </a:r>
            <a:r>
              <a:rPr spc="-245" dirty="0"/>
              <a:t>h</a:t>
            </a:r>
            <a:r>
              <a:rPr spc="-235" dirty="0"/>
              <a:t>a</a:t>
            </a:r>
            <a:r>
              <a:rPr spc="-30" dirty="0"/>
              <a:t>r</a:t>
            </a:r>
            <a:r>
              <a:rPr spc="-45" dirty="0"/>
              <a:t>d</a:t>
            </a:r>
            <a:r>
              <a:rPr spc="-165" dirty="0"/>
              <a:t>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50</a:t>
            </a:fld>
            <a:endParaRPr spc="-60" dirty="0"/>
          </a:p>
        </p:txBody>
      </p:sp>
      <p:sp>
        <p:nvSpPr>
          <p:cNvPr id="3" name="object 3"/>
          <p:cNvSpPr/>
          <p:nvPr/>
        </p:nvSpPr>
        <p:spPr>
          <a:xfrm>
            <a:off x="1765300" y="124460"/>
            <a:ext cx="5524500" cy="529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965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Sharding </a:t>
            </a:r>
            <a:r>
              <a:rPr spc="-55" dirty="0"/>
              <a:t>in</a:t>
            </a:r>
            <a:r>
              <a:rPr spc="-305" dirty="0"/>
              <a:t> </a:t>
            </a:r>
            <a:r>
              <a:rPr spc="-240" dirty="0"/>
              <a:t>MongoDB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51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73809"/>
            <a:ext cx="13271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290320"/>
            <a:ext cx="3414395" cy="20828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140" dirty="0">
                <a:latin typeface="Arial"/>
                <a:cs typeface="Arial"/>
              </a:rPr>
              <a:t>Shard: </a:t>
            </a:r>
            <a:r>
              <a:rPr sz="2400" spc="-65" dirty="0">
                <a:latin typeface="Arial"/>
                <a:cs typeface="Arial"/>
              </a:rPr>
              <a:t>store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2400" spc="-110" dirty="0">
                <a:latin typeface="Arial"/>
                <a:cs typeface="Arial"/>
              </a:rPr>
              <a:t>Query Routers: </a:t>
            </a:r>
            <a:r>
              <a:rPr sz="2400" spc="-55" dirty="0">
                <a:latin typeface="Arial"/>
                <a:cs typeface="Arial"/>
              </a:rPr>
              <a:t>interface</a:t>
            </a:r>
            <a:r>
              <a:rPr sz="2400" spc="-204" dirty="0">
                <a:latin typeface="Arial"/>
                <a:cs typeface="Arial"/>
              </a:rPr>
              <a:t> </a:t>
            </a:r>
            <a:r>
              <a:rPr sz="2400" spc="30" dirty="0">
                <a:latin typeface="Arial"/>
                <a:cs typeface="Arial"/>
              </a:rPr>
              <a:t>to  </a:t>
            </a:r>
            <a:r>
              <a:rPr sz="2400" spc="-45" dirty="0">
                <a:latin typeface="Arial"/>
                <a:cs typeface="Arial"/>
              </a:rPr>
              <a:t>client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40" dirty="0">
                <a:latin typeface="Arial"/>
                <a:cs typeface="Arial"/>
              </a:rPr>
              <a:t>direct</a:t>
            </a:r>
            <a:r>
              <a:rPr sz="2400" spc="-23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queries</a:t>
            </a:r>
            <a:endParaRPr sz="2400">
              <a:latin typeface="Arial"/>
              <a:cs typeface="Arial"/>
            </a:endParaRPr>
          </a:p>
          <a:p>
            <a:pPr marL="12700" marR="952500">
              <a:lnSpc>
                <a:spcPct val="100000"/>
              </a:lnSpc>
              <a:spcBef>
                <a:spcPts val="600"/>
              </a:spcBef>
            </a:pPr>
            <a:r>
              <a:rPr sz="2400" spc="-125" dirty="0">
                <a:latin typeface="Arial"/>
                <a:cs typeface="Arial"/>
              </a:rPr>
              <a:t>Config Server: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store  </a:t>
            </a:r>
            <a:r>
              <a:rPr sz="2400" spc="-80" dirty="0">
                <a:latin typeface="Arial"/>
                <a:cs typeface="Arial"/>
              </a:rPr>
              <a:t>cluster’s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metadata.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59842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5300" y="1498600"/>
            <a:ext cx="4838700" cy="331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038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Range </a:t>
            </a:r>
            <a:r>
              <a:rPr spc="-350" dirty="0"/>
              <a:t>Based</a:t>
            </a:r>
            <a:r>
              <a:rPr spc="-135" dirty="0"/>
              <a:t> </a:t>
            </a:r>
            <a:r>
              <a:rPr spc="-245" dirty="0"/>
              <a:t>Sharding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49679"/>
            <a:ext cx="7920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40" dirty="0">
                <a:latin typeface="Arial"/>
                <a:cs typeface="Arial"/>
              </a:rPr>
              <a:t>MongoDB </a:t>
            </a:r>
            <a:r>
              <a:rPr sz="2400" spc="-95" dirty="0">
                <a:latin typeface="Arial"/>
                <a:cs typeface="Arial"/>
              </a:rPr>
              <a:t>divides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85" dirty="0">
                <a:latin typeface="Arial"/>
                <a:cs typeface="Arial"/>
              </a:rPr>
              <a:t>data </a:t>
            </a:r>
            <a:r>
              <a:rPr sz="2400" spc="-90" dirty="0">
                <a:latin typeface="Arial"/>
                <a:cs typeface="Arial"/>
              </a:rPr>
              <a:t>set </a:t>
            </a:r>
            <a:r>
              <a:rPr sz="2400" spc="-5" dirty="0">
                <a:latin typeface="Arial"/>
                <a:cs typeface="Arial"/>
              </a:rPr>
              <a:t>into </a:t>
            </a:r>
            <a:r>
              <a:rPr sz="2400" spc="-140" dirty="0">
                <a:latin typeface="Arial"/>
                <a:cs typeface="Arial"/>
              </a:rPr>
              <a:t>ranges </a:t>
            </a:r>
            <a:r>
              <a:rPr sz="2400" spc="-60" dirty="0">
                <a:latin typeface="Arial"/>
                <a:cs typeface="Arial"/>
              </a:rPr>
              <a:t>determined </a:t>
            </a:r>
            <a:r>
              <a:rPr sz="2400" spc="-100" dirty="0">
                <a:latin typeface="Arial"/>
                <a:cs typeface="Arial"/>
              </a:rPr>
              <a:t>by</a:t>
            </a:r>
            <a:r>
              <a:rPr sz="2400" spc="-48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114" dirty="0">
                <a:latin typeface="Arial"/>
                <a:cs typeface="Arial"/>
              </a:rPr>
              <a:t>shard </a:t>
            </a:r>
            <a:r>
              <a:rPr sz="2400" spc="-125" dirty="0">
                <a:latin typeface="Arial"/>
                <a:cs typeface="Arial"/>
              </a:rPr>
              <a:t>key </a:t>
            </a:r>
            <a:r>
              <a:rPr sz="2400" spc="-130" dirty="0">
                <a:latin typeface="Arial"/>
                <a:cs typeface="Arial"/>
              </a:rPr>
              <a:t>values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65" dirty="0">
                <a:latin typeface="Arial"/>
                <a:cs typeface="Arial"/>
              </a:rPr>
              <a:t>provide </a:t>
            </a:r>
            <a:r>
              <a:rPr sz="2400" spc="-114" dirty="0">
                <a:latin typeface="Arial"/>
                <a:cs typeface="Arial"/>
              </a:rPr>
              <a:t>range </a:t>
            </a:r>
            <a:r>
              <a:rPr sz="2400" spc="-155" dirty="0">
                <a:latin typeface="Arial"/>
                <a:cs typeface="Arial"/>
              </a:rPr>
              <a:t>based</a:t>
            </a:r>
            <a:r>
              <a:rPr sz="2400" spc="-39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partitioning.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000" y="2159000"/>
            <a:ext cx="8890000" cy="292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7612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/>
              <a:t>Hash Based</a:t>
            </a:r>
            <a:r>
              <a:rPr spc="-195" dirty="0"/>
              <a:t> </a:t>
            </a:r>
            <a:r>
              <a:rPr spc="-245" dirty="0"/>
              <a:t>Sharding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53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77171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140" dirty="0">
                <a:latin typeface="Arial"/>
                <a:cs typeface="Arial"/>
              </a:rPr>
              <a:t>MongoDB </a:t>
            </a:r>
            <a:r>
              <a:rPr sz="2400" spc="-100" dirty="0">
                <a:latin typeface="Arial"/>
                <a:cs typeface="Arial"/>
              </a:rPr>
              <a:t>computes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50" dirty="0">
                <a:latin typeface="Arial"/>
                <a:cs typeface="Arial"/>
              </a:rPr>
              <a:t>hash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50" dirty="0">
                <a:latin typeface="Arial"/>
                <a:cs typeface="Arial"/>
              </a:rPr>
              <a:t>field’s </a:t>
            </a:r>
            <a:r>
              <a:rPr sz="2400" spc="-100" dirty="0">
                <a:latin typeface="Arial"/>
                <a:cs typeface="Arial"/>
              </a:rPr>
              <a:t>value,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40" dirty="0">
                <a:latin typeface="Arial"/>
                <a:cs typeface="Arial"/>
              </a:rPr>
              <a:t>then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uses  </a:t>
            </a:r>
            <a:r>
              <a:rPr sz="2400" spc="-100" dirty="0">
                <a:latin typeface="Arial"/>
                <a:cs typeface="Arial"/>
              </a:rPr>
              <a:t>these </a:t>
            </a:r>
            <a:r>
              <a:rPr sz="2400" spc="-170" dirty="0">
                <a:latin typeface="Arial"/>
                <a:cs typeface="Arial"/>
              </a:rPr>
              <a:t>hashes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85" dirty="0">
                <a:latin typeface="Arial"/>
                <a:cs typeface="Arial"/>
              </a:rPr>
              <a:t>create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chunks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7000" y="2235200"/>
            <a:ext cx="8890000" cy="317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58273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Performance</a:t>
            </a:r>
            <a:r>
              <a:rPr spc="-300" dirty="0"/>
              <a:t> </a:t>
            </a:r>
            <a:r>
              <a:rPr spc="-225" dirty="0"/>
              <a:t>Comparison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54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408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4861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7901305" cy="237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532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210" dirty="0">
                <a:latin typeface="Arial"/>
                <a:cs typeface="Arial"/>
              </a:rPr>
              <a:t>Range </a:t>
            </a:r>
            <a:r>
              <a:rPr sz="2400" spc="-150" dirty="0">
                <a:latin typeface="Arial"/>
                <a:cs typeface="Arial"/>
              </a:rPr>
              <a:t>based </a:t>
            </a:r>
            <a:r>
              <a:rPr sz="2400" spc="-35" dirty="0">
                <a:latin typeface="Arial"/>
                <a:cs typeface="Arial"/>
              </a:rPr>
              <a:t>partitioning </a:t>
            </a:r>
            <a:r>
              <a:rPr sz="2400" spc="-85" dirty="0">
                <a:latin typeface="Arial"/>
                <a:cs typeface="Arial"/>
              </a:rPr>
              <a:t>supports </a:t>
            </a:r>
            <a:r>
              <a:rPr sz="2400" spc="-70" dirty="0">
                <a:latin typeface="Arial"/>
                <a:cs typeface="Arial"/>
              </a:rPr>
              <a:t>more </a:t>
            </a:r>
            <a:r>
              <a:rPr sz="2400" spc="-30" dirty="0">
                <a:latin typeface="Arial"/>
                <a:cs typeface="Arial"/>
              </a:rPr>
              <a:t>efficient</a:t>
            </a:r>
            <a:r>
              <a:rPr sz="2400" spc="-21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range  </a:t>
            </a:r>
            <a:r>
              <a:rPr sz="2400" spc="-95" dirty="0">
                <a:latin typeface="Arial"/>
                <a:cs typeface="Arial"/>
              </a:rPr>
              <a:t>queries.</a:t>
            </a:r>
            <a:endParaRPr sz="2400">
              <a:latin typeface="Arial"/>
              <a:cs typeface="Arial"/>
            </a:endParaRPr>
          </a:p>
          <a:p>
            <a:pPr marL="355600" marR="299720">
              <a:lnSpc>
                <a:spcPct val="100000"/>
              </a:lnSpc>
              <a:spcBef>
                <a:spcPts val="600"/>
              </a:spcBef>
            </a:pPr>
            <a:r>
              <a:rPr sz="2400" spc="-100" dirty="0">
                <a:latin typeface="Arial"/>
                <a:cs typeface="Arial"/>
              </a:rPr>
              <a:t>However, </a:t>
            </a:r>
            <a:r>
              <a:rPr sz="2400" spc="-114" dirty="0">
                <a:latin typeface="Arial"/>
                <a:cs typeface="Arial"/>
              </a:rPr>
              <a:t>range </a:t>
            </a:r>
            <a:r>
              <a:rPr sz="2400" spc="-150" dirty="0">
                <a:latin typeface="Arial"/>
                <a:cs typeface="Arial"/>
              </a:rPr>
              <a:t>based </a:t>
            </a:r>
            <a:r>
              <a:rPr sz="2400" spc="-30" dirty="0">
                <a:latin typeface="Arial"/>
                <a:cs typeface="Arial"/>
              </a:rPr>
              <a:t>partitioning </a:t>
            </a:r>
            <a:r>
              <a:rPr sz="2400" spc="-150" dirty="0">
                <a:latin typeface="Arial"/>
                <a:cs typeface="Arial"/>
              </a:rPr>
              <a:t>can </a:t>
            </a:r>
            <a:r>
              <a:rPr sz="2400" spc="-50" dirty="0">
                <a:latin typeface="Arial"/>
                <a:cs typeface="Arial"/>
              </a:rPr>
              <a:t>result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130" dirty="0">
                <a:latin typeface="Arial"/>
                <a:cs typeface="Arial"/>
              </a:rPr>
              <a:t>an</a:t>
            </a:r>
            <a:r>
              <a:rPr sz="2400" spc="-44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uneven  </a:t>
            </a:r>
            <a:r>
              <a:rPr sz="2400" spc="-30" dirty="0">
                <a:latin typeface="Arial"/>
                <a:cs typeface="Arial"/>
              </a:rPr>
              <a:t>distribution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23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  <a:spcBef>
                <a:spcPts val="590"/>
              </a:spcBef>
            </a:pPr>
            <a:r>
              <a:rPr sz="2400" spc="-190" dirty="0">
                <a:latin typeface="Arial"/>
                <a:cs typeface="Arial"/>
              </a:rPr>
              <a:t>Hash </a:t>
            </a:r>
            <a:r>
              <a:rPr sz="2400" spc="-155" dirty="0">
                <a:latin typeface="Arial"/>
                <a:cs typeface="Arial"/>
              </a:rPr>
              <a:t>based </a:t>
            </a:r>
            <a:r>
              <a:rPr sz="2400" spc="-35" dirty="0">
                <a:latin typeface="Arial"/>
                <a:cs typeface="Arial"/>
              </a:rPr>
              <a:t>partitioning, </a:t>
            </a:r>
            <a:r>
              <a:rPr sz="2400" spc="-100" dirty="0">
                <a:latin typeface="Arial"/>
                <a:cs typeface="Arial"/>
              </a:rPr>
              <a:t>by </a:t>
            </a:r>
            <a:r>
              <a:rPr sz="2400" spc="-65" dirty="0">
                <a:latin typeface="Arial"/>
                <a:cs typeface="Arial"/>
              </a:rPr>
              <a:t>contrast, </a:t>
            </a:r>
            <a:r>
              <a:rPr sz="2400" spc="-135" dirty="0">
                <a:latin typeface="Arial"/>
                <a:cs typeface="Arial"/>
              </a:rPr>
              <a:t>ensures </a:t>
            </a:r>
            <a:r>
              <a:rPr sz="2400" spc="-130" dirty="0">
                <a:latin typeface="Arial"/>
                <a:cs typeface="Arial"/>
              </a:rPr>
              <a:t>an </a:t>
            </a:r>
            <a:r>
              <a:rPr sz="2400" spc="-120" dirty="0">
                <a:latin typeface="Arial"/>
                <a:cs typeface="Arial"/>
              </a:rPr>
              <a:t>even  </a:t>
            </a:r>
            <a:r>
              <a:rPr sz="2400" spc="-30" dirty="0">
                <a:latin typeface="Arial"/>
                <a:cs typeface="Arial"/>
              </a:rPr>
              <a:t>distribution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data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at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expense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efficient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range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queries.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369" y="3704590"/>
            <a:ext cx="4366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204" dirty="0">
                <a:latin typeface="Arial"/>
                <a:cs typeface="Arial"/>
              </a:rPr>
              <a:t>Other</a:t>
            </a:r>
            <a:r>
              <a:rPr sz="4000" b="1" spc="-265" dirty="0">
                <a:latin typeface="Arial"/>
                <a:cs typeface="Arial"/>
              </a:rPr>
              <a:t> </a:t>
            </a:r>
            <a:r>
              <a:rPr sz="4000" b="1" spc="-365" dirty="0">
                <a:latin typeface="Arial"/>
                <a:cs typeface="Arial"/>
              </a:rPr>
              <a:t>DocumentDBs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55</a:t>
            </a:fld>
            <a:endParaRPr spc="-6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089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75" dirty="0"/>
              <a:t>CouchDB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56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49020"/>
            <a:ext cx="132715" cy="1351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740660"/>
            <a:ext cx="13271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431029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1066800"/>
            <a:ext cx="7541895" cy="41389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5" dirty="0">
                <a:latin typeface="Arial"/>
                <a:cs typeface="Arial"/>
              </a:rPr>
              <a:t>Written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Erlang.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14" dirty="0">
                <a:latin typeface="Arial"/>
                <a:cs typeface="Arial"/>
              </a:rPr>
              <a:t>Documents </a:t>
            </a:r>
            <a:r>
              <a:rPr sz="2400" spc="-95" dirty="0">
                <a:latin typeface="Arial"/>
                <a:cs typeface="Arial"/>
              </a:rPr>
              <a:t>are </a:t>
            </a:r>
            <a:r>
              <a:rPr sz="2400" spc="-70" dirty="0">
                <a:latin typeface="Arial"/>
                <a:cs typeface="Arial"/>
              </a:rPr>
              <a:t>stored </a:t>
            </a:r>
            <a:r>
              <a:rPr sz="2400" spc="-125" dirty="0">
                <a:latin typeface="Arial"/>
                <a:cs typeface="Arial"/>
              </a:rPr>
              <a:t>using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300" dirty="0">
                <a:latin typeface="Arial"/>
                <a:cs typeface="Arial"/>
              </a:rPr>
              <a:t>JSON.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sz="2400" spc="-18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query </a:t>
            </a:r>
            <a:r>
              <a:rPr sz="2400" spc="-135" dirty="0">
                <a:latin typeface="Arial"/>
                <a:cs typeface="Arial"/>
              </a:rPr>
              <a:t>language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130" dirty="0">
                <a:latin typeface="Arial"/>
                <a:cs typeface="Arial"/>
              </a:rPr>
              <a:t>Javascript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85" dirty="0">
                <a:latin typeface="Arial"/>
                <a:cs typeface="Arial"/>
              </a:rPr>
              <a:t>supports</a:t>
            </a:r>
            <a:r>
              <a:rPr sz="2400" spc="-22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MapReduce  </a:t>
            </a:r>
            <a:r>
              <a:rPr sz="2400" spc="-45" dirty="0">
                <a:latin typeface="Arial"/>
                <a:cs typeface="Arial"/>
              </a:rPr>
              <a:t>integration.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70" dirty="0">
                <a:latin typeface="Arial"/>
                <a:cs typeface="Arial"/>
              </a:rPr>
              <a:t>One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40" dirty="0">
                <a:latin typeface="Arial"/>
                <a:cs typeface="Arial"/>
              </a:rPr>
              <a:t>its </a:t>
            </a:r>
            <a:r>
              <a:rPr sz="2400" spc="-85" dirty="0">
                <a:latin typeface="Arial"/>
                <a:cs typeface="Arial"/>
              </a:rPr>
              <a:t>distinguishing </a:t>
            </a:r>
            <a:r>
              <a:rPr sz="2400" spc="-75" dirty="0">
                <a:latin typeface="Arial"/>
                <a:cs typeface="Arial"/>
              </a:rPr>
              <a:t>features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50" dirty="0">
                <a:latin typeface="Arial"/>
                <a:cs typeface="Arial"/>
              </a:rPr>
              <a:t>multi-master</a:t>
            </a:r>
            <a:r>
              <a:rPr sz="2400" spc="-39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replication.</a:t>
            </a:r>
            <a:endParaRPr sz="2400">
              <a:latin typeface="Arial"/>
              <a:cs typeface="Arial"/>
            </a:endParaRPr>
          </a:p>
          <a:p>
            <a:pPr marL="12700" marR="445770">
              <a:lnSpc>
                <a:spcPct val="100000"/>
              </a:lnSpc>
              <a:spcBef>
                <a:spcPts val="600"/>
              </a:spcBef>
            </a:pPr>
            <a:r>
              <a:rPr sz="2400" spc="-210" dirty="0">
                <a:latin typeface="Arial"/>
                <a:cs typeface="Arial"/>
              </a:rPr>
              <a:t>ACID: </a:t>
            </a:r>
            <a:r>
              <a:rPr sz="2400" spc="35" dirty="0">
                <a:latin typeface="Arial"/>
                <a:cs typeface="Arial"/>
              </a:rPr>
              <a:t>It </a:t>
            </a:r>
            <a:r>
              <a:rPr sz="2400" spc="-70" dirty="0">
                <a:latin typeface="Arial"/>
                <a:cs typeface="Arial"/>
              </a:rPr>
              <a:t>implements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20" dirty="0">
                <a:latin typeface="Arial"/>
                <a:cs typeface="Arial"/>
              </a:rPr>
              <a:t>form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55" dirty="0">
                <a:latin typeface="Arial"/>
                <a:cs typeface="Arial"/>
              </a:rPr>
              <a:t>Multi-Version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Concurrency  </a:t>
            </a:r>
            <a:r>
              <a:rPr sz="2400" spc="-75" dirty="0">
                <a:latin typeface="Arial"/>
                <a:cs typeface="Arial"/>
              </a:rPr>
              <a:t>Control </a:t>
            </a:r>
            <a:r>
              <a:rPr sz="2400" spc="-210" dirty="0">
                <a:latin typeface="Arial"/>
                <a:cs typeface="Arial"/>
              </a:rPr>
              <a:t>(MVCC) </a:t>
            </a:r>
            <a:r>
              <a:rPr sz="2400" spc="-35" dirty="0">
                <a:latin typeface="Arial"/>
                <a:cs typeface="Arial"/>
              </a:rPr>
              <a:t>in </a:t>
            </a:r>
            <a:r>
              <a:rPr sz="2400" spc="-45" dirty="0">
                <a:latin typeface="Arial"/>
                <a:cs typeface="Arial"/>
              </a:rPr>
              <a:t>order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90" dirty="0">
                <a:latin typeface="Arial"/>
                <a:cs typeface="Arial"/>
              </a:rPr>
              <a:t>avoid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need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95" dirty="0">
                <a:latin typeface="Arial"/>
                <a:cs typeface="Arial"/>
              </a:rPr>
              <a:t>lock </a:t>
            </a:r>
            <a:r>
              <a:rPr sz="2400" spc="-35" dirty="0">
                <a:latin typeface="Arial"/>
                <a:cs typeface="Arial"/>
              </a:rPr>
              <a:t>the  </a:t>
            </a:r>
            <a:r>
              <a:rPr sz="2400" spc="-125" dirty="0">
                <a:latin typeface="Arial"/>
                <a:cs typeface="Arial"/>
              </a:rPr>
              <a:t>database </a:t>
            </a:r>
            <a:r>
              <a:rPr sz="2400" spc="-15" dirty="0">
                <a:latin typeface="Arial"/>
                <a:cs typeface="Arial"/>
              </a:rPr>
              <a:t>file </a:t>
            </a:r>
            <a:r>
              <a:rPr sz="2400" spc="-70" dirty="0">
                <a:latin typeface="Arial"/>
                <a:cs typeface="Arial"/>
              </a:rPr>
              <a:t>during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writes.</a:t>
            </a:r>
            <a:endParaRPr sz="2400">
              <a:latin typeface="Arial"/>
              <a:cs typeface="Arial"/>
            </a:endParaRPr>
          </a:p>
          <a:p>
            <a:pPr marL="12700" marR="238125">
              <a:lnSpc>
                <a:spcPct val="100000"/>
              </a:lnSpc>
              <a:spcBef>
                <a:spcPts val="600"/>
              </a:spcBef>
            </a:pPr>
            <a:r>
              <a:rPr sz="2400" spc="-204" dirty="0">
                <a:latin typeface="Arial"/>
                <a:cs typeface="Arial"/>
              </a:rPr>
              <a:t>CouchDB </a:t>
            </a:r>
            <a:r>
              <a:rPr sz="2400" spc="-140" dirty="0">
                <a:latin typeface="Arial"/>
                <a:cs typeface="Arial"/>
              </a:rPr>
              <a:t>does 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114" dirty="0">
                <a:latin typeface="Arial"/>
                <a:cs typeface="Arial"/>
              </a:rPr>
              <a:t>guarantees </a:t>
            </a:r>
            <a:r>
              <a:rPr sz="2400" spc="-75" dirty="0">
                <a:latin typeface="Arial"/>
                <a:cs typeface="Arial"/>
              </a:rPr>
              <a:t>(eventual) </a:t>
            </a:r>
            <a:r>
              <a:rPr sz="2400" spc="-114" dirty="0">
                <a:latin typeface="Arial"/>
                <a:cs typeface="Arial"/>
              </a:rPr>
              <a:t>consistency </a:t>
            </a:r>
            <a:r>
              <a:rPr sz="2400" spc="30" dirty="0">
                <a:latin typeface="Arial"/>
                <a:cs typeface="Arial"/>
              </a:rPr>
              <a:t>to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be  </a:t>
            </a:r>
            <a:r>
              <a:rPr sz="2400" spc="-100" dirty="0">
                <a:latin typeface="Arial"/>
                <a:cs typeface="Arial"/>
              </a:rPr>
              <a:t>able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30" dirty="0">
                <a:latin typeface="Arial"/>
                <a:cs typeface="Arial"/>
              </a:rPr>
              <a:t>to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provide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both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availability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partition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tolerance.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33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CouchDB:</a:t>
            </a:r>
            <a:r>
              <a:rPr spc="-315" dirty="0"/>
              <a:t> </a:t>
            </a:r>
            <a:r>
              <a:rPr spc="-235" dirty="0"/>
              <a:t>Features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57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7517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017520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959859"/>
            <a:ext cx="1504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153159"/>
            <a:ext cx="7949565" cy="327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3815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80" dirty="0">
                <a:latin typeface="Arial"/>
                <a:cs typeface="Arial"/>
              </a:rPr>
              <a:t>Master-Master </a:t>
            </a:r>
            <a:r>
              <a:rPr sz="2800" spc="-110" dirty="0">
                <a:latin typeface="Arial"/>
                <a:cs typeface="Arial"/>
              </a:rPr>
              <a:t>Replication </a:t>
            </a:r>
            <a:r>
              <a:rPr sz="2800" spc="-80" dirty="0">
                <a:latin typeface="Arial"/>
                <a:cs typeface="Arial"/>
              </a:rPr>
              <a:t>- </a:t>
            </a:r>
            <a:r>
              <a:rPr sz="2800" spc="-220" dirty="0">
                <a:latin typeface="Arial"/>
                <a:cs typeface="Arial"/>
              </a:rPr>
              <a:t>Because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40" dirty="0">
                <a:latin typeface="Arial"/>
                <a:cs typeface="Arial"/>
              </a:rPr>
              <a:t>the</a:t>
            </a:r>
            <a:r>
              <a:rPr sz="2800" spc="-35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append-  </a:t>
            </a:r>
            <a:r>
              <a:rPr sz="2800" spc="-75" dirty="0">
                <a:latin typeface="Arial"/>
                <a:cs typeface="Arial"/>
              </a:rPr>
              <a:t>only </a:t>
            </a:r>
            <a:r>
              <a:rPr sz="2800" spc="-90" dirty="0">
                <a:latin typeface="Arial"/>
                <a:cs typeface="Arial"/>
              </a:rPr>
              <a:t>style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30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commits.</a:t>
            </a:r>
            <a:endParaRPr sz="2800">
              <a:latin typeface="Arial"/>
              <a:cs typeface="Arial"/>
            </a:endParaRPr>
          </a:p>
          <a:p>
            <a:pPr marL="355600" marR="491490">
              <a:lnSpc>
                <a:spcPct val="100000"/>
              </a:lnSpc>
              <a:spcBef>
                <a:spcPts val="700"/>
              </a:spcBef>
            </a:pPr>
            <a:r>
              <a:rPr sz="2800" spc="-85" dirty="0">
                <a:latin typeface="Arial"/>
                <a:cs typeface="Arial"/>
              </a:rPr>
              <a:t>Reliability </a:t>
            </a:r>
            <a:r>
              <a:rPr sz="2800" spc="-5" dirty="0">
                <a:latin typeface="Arial"/>
                <a:cs typeface="Arial"/>
              </a:rPr>
              <a:t>of</a:t>
            </a:r>
            <a:r>
              <a:rPr sz="2800" spc="-58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95" dirty="0">
                <a:latin typeface="Arial"/>
                <a:cs typeface="Arial"/>
              </a:rPr>
              <a:t>actual data </a:t>
            </a:r>
            <a:r>
              <a:rPr sz="2800" spc="-80" dirty="0">
                <a:latin typeface="Arial"/>
                <a:cs typeface="Arial"/>
              </a:rPr>
              <a:t>store </a:t>
            </a:r>
            <a:r>
              <a:rPr sz="2800" spc="-145" dirty="0">
                <a:latin typeface="Arial"/>
                <a:cs typeface="Arial"/>
              </a:rPr>
              <a:t>backing </a:t>
            </a:r>
            <a:r>
              <a:rPr sz="2800" spc="-40" dirty="0">
                <a:latin typeface="Arial"/>
                <a:cs typeface="Arial"/>
              </a:rPr>
              <a:t>the </a:t>
            </a:r>
            <a:r>
              <a:rPr sz="2800" spc="-325" dirty="0">
                <a:latin typeface="Arial"/>
                <a:cs typeface="Arial"/>
              </a:rPr>
              <a:t>DB  </a:t>
            </a:r>
            <a:r>
              <a:rPr sz="2800" spc="-204" dirty="0">
                <a:latin typeface="Arial"/>
                <a:cs typeface="Arial"/>
              </a:rPr>
              <a:t>(Log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65" dirty="0">
                <a:latin typeface="Arial"/>
                <a:cs typeface="Arial"/>
              </a:rPr>
              <a:t>Files)</a:t>
            </a:r>
            <a:endParaRPr sz="2800">
              <a:latin typeface="Arial"/>
              <a:cs typeface="Arial"/>
            </a:endParaRPr>
          </a:p>
          <a:p>
            <a:pPr marL="355600" marR="770890">
              <a:lnSpc>
                <a:spcPct val="100000"/>
              </a:lnSpc>
              <a:spcBef>
                <a:spcPts val="700"/>
              </a:spcBef>
            </a:pPr>
            <a:r>
              <a:rPr sz="2800" spc="-45" dirty="0">
                <a:latin typeface="Arial"/>
                <a:cs typeface="Arial"/>
              </a:rPr>
              <a:t>Mobile </a:t>
            </a:r>
            <a:r>
              <a:rPr sz="2800" spc="-30" dirty="0">
                <a:latin typeface="Arial"/>
                <a:cs typeface="Arial"/>
              </a:rPr>
              <a:t>platform </a:t>
            </a:r>
            <a:r>
              <a:rPr sz="2800" spc="-75" dirty="0">
                <a:latin typeface="Arial"/>
                <a:cs typeface="Arial"/>
              </a:rPr>
              <a:t>support. </a:t>
            </a:r>
            <a:r>
              <a:rPr sz="2800" spc="-245" dirty="0">
                <a:latin typeface="Arial"/>
                <a:cs typeface="Arial"/>
              </a:rPr>
              <a:t>CouchDB </a:t>
            </a:r>
            <a:r>
              <a:rPr sz="2800" spc="-90" dirty="0">
                <a:latin typeface="Arial"/>
                <a:cs typeface="Arial"/>
              </a:rPr>
              <a:t>actually</a:t>
            </a:r>
            <a:r>
              <a:rPr sz="2800" spc="-330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has  </a:t>
            </a:r>
            <a:r>
              <a:rPr sz="2800" spc="-95" dirty="0">
                <a:latin typeface="Arial"/>
                <a:cs typeface="Arial"/>
              </a:rPr>
              <a:t>installs </a:t>
            </a:r>
            <a:r>
              <a:rPr sz="2800" spc="10" dirty="0">
                <a:latin typeface="Arial"/>
                <a:cs typeface="Arial"/>
              </a:rPr>
              <a:t>for </a:t>
            </a:r>
            <a:r>
              <a:rPr sz="2800" spc="-305" dirty="0">
                <a:latin typeface="Arial"/>
                <a:cs typeface="Arial"/>
              </a:rPr>
              <a:t>iOS </a:t>
            </a:r>
            <a:r>
              <a:rPr sz="2800" spc="-130" dirty="0">
                <a:latin typeface="Arial"/>
                <a:cs typeface="Arial"/>
              </a:rPr>
              <a:t>and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Android.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690"/>
              </a:spcBef>
            </a:pPr>
            <a:r>
              <a:rPr sz="2800" spc="-355" dirty="0">
                <a:latin typeface="Arial"/>
                <a:cs typeface="Arial"/>
              </a:rPr>
              <a:t>HTTP </a:t>
            </a:r>
            <a:r>
              <a:rPr sz="2800" spc="-495" dirty="0">
                <a:latin typeface="Arial"/>
                <a:cs typeface="Arial"/>
              </a:rPr>
              <a:t>REST </a:t>
            </a:r>
            <a:r>
              <a:rPr sz="2800" spc="-415" dirty="0">
                <a:latin typeface="Arial"/>
                <a:cs typeface="Arial"/>
              </a:rPr>
              <a:t>JSON </a:t>
            </a:r>
            <a:r>
              <a:rPr sz="2800" spc="-50" dirty="0">
                <a:latin typeface="Arial"/>
                <a:cs typeface="Arial"/>
              </a:rPr>
              <a:t>interaction </a:t>
            </a:r>
            <a:r>
              <a:rPr sz="2800" spc="-80" dirty="0">
                <a:latin typeface="Arial"/>
                <a:cs typeface="Arial"/>
              </a:rPr>
              <a:t>only. </a:t>
            </a:r>
            <a:r>
              <a:rPr sz="2800" spc="-155" dirty="0">
                <a:latin typeface="Arial"/>
                <a:cs typeface="Arial"/>
              </a:rPr>
              <a:t>No </a:t>
            </a:r>
            <a:r>
              <a:rPr sz="2800" spc="-85" dirty="0">
                <a:latin typeface="Arial"/>
                <a:cs typeface="Arial"/>
              </a:rPr>
              <a:t>binary</a:t>
            </a:r>
            <a:r>
              <a:rPr sz="2800" spc="-53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protocol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4104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RethinkDB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58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49679"/>
            <a:ext cx="7677784" cy="285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204" dirty="0">
                <a:latin typeface="Arial"/>
                <a:cs typeface="Arial"/>
              </a:rPr>
              <a:t>The </a:t>
            </a:r>
            <a:r>
              <a:rPr sz="2800" spc="-170" dirty="0">
                <a:latin typeface="Arial"/>
                <a:cs typeface="Arial"/>
              </a:rPr>
              <a:t>RethinkDB </a:t>
            </a:r>
            <a:r>
              <a:rPr sz="2800" spc="-120" dirty="0">
                <a:latin typeface="Arial"/>
                <a:cs typeface="Arial"/>
              </a:rPr>
              <a:t>server </a:t>
            </a:r>
            <a:r>
              <a:rPr sz="2800" spc="-150" dirty="0">
                <a:latin typeface="Arial"/>
                <a:cs typeface="Arial"/>
              </a:rPr>
              <a:t>is </a:t>
            </a:r>
            <a:r>
              <a:rPr sz="2800" spc="10" dirty="0">
                <a:latin typeface="Arial"/>
                <a:cs typeface="Arial"/>
              </a:rPr>
              <a:t>written </a:t>
            </a:r>
            <a:r>
              <a:rPr sz="2800" spc="-40" dirty="0">
                <a:latin typeface="Arial"/>
                <a:cs typeface="Arial"/>
              </a:rPr>
              <a:t>in </a:t>
            </a:r>
            <a:r>
              <a:rPr sz="2800" spc="-345" dirty="0">
                <a:latin typeface="Arial"/>
                <a:cs typeface="Arial"/>
              </a:rPr>
              <a:t>C++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120" dirty="0">
                <a:latin typeface="Arial"/>
                <a:cs typeface="Arial"/>
              </a:rPr>
              <a:t>runs </a:t>
            </a:r>
            <a:r>
              <a:rPr sz="2800" spc="-85" dirty="0">
                <a:latin typeface="Arial"/>
                <a:cs typeface="Arial"/>
              </a:rPr>
              <a:t>on  </a:t>
            </a:r>
            <a:r>
              <a:rPr sz="2800" spc="-55" dirty="0">
                <a:latin typeface="Arial"/>
                <a:cs typeface="Arial"/>
              </a:rPr>
              <a:t>32-bit </a:t>
            </a:r>
            <a:r>
              <a:rPr sz="2800" spc="-135" dirty="0">
                <a:latin typeface="Arial"/>
                <a:cs typeface="Arial"/>
              </a:rPr>
              <a:t>and </a:t>
            </a:r>
            <a:r>
              <a:rPr sz="2800" spc="-50" dirty="0">
                <a:latin typeface="Arial"/>
                <a:cs typeface="Arial"/>
              </a:rPr>
              <a:t>64-bit </a:t>
            </a:r>
            <a:r>
              <a:rPr sz="2800" spc="-155" dirty="0">
                <a:latin typeface="Arial"/>
                <a:cs typeface="Arial"/>
              </a:rPr>
              <a:t>Linux</a:t>
            </a:r>
            <a:r>
              <a:rPr sz="2800" spc="-365" dirty="0">
                <a:latin typeface="Arial"/>
                <a:cs typeface="Arial"/>
              </a:rPr>
              <a:t> </a:t>
            </a:r>
            <a:r>
              <a:rPr sz="2800" spc="-160" dirty="0">
                <a:latin typeface="Arial"/>
                <a:cs typeface="Arial"/>
              </a:rPr>
              <a:t>systems.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40" dirty="0">
                <a:latin typeface="Arial"/>
                <a:cs typeface="Arial"/>
              </a:rPr>
              <a:t>It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415" dirty="0">
                <a:latin typeface="Arial"/>
                <a:cs typeface="Arial"/>
              </a:rPr>
              <a:t>JSON </a:t>
            </a:r>
            <a:r>
              <a:rPr sz="2800" spc="-180" dirty="0">
                <a:latin typeface="Arial"/>
                <a:cs typeface="Arial"/>
              </a:rPr>
              <a:t>based</a:t>
            </a:r>
            <a:r>
              <a:rPr sz="2800" spc="-385" dirty="0">
                <a:latin typeface="Arial"/>
                <a:cs typeface="Arial"/>
              </a:rPr>
              <a:t> </a:t>
            </a:r>
            <a:r>
              <a:rPr sz="2800" spc="-140" dirty="0">
                <a:latin typeface="Arial"/>
                <a:cs typeface="Arial"/>
              </a:rPr>
              <a:t>database.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40" dirty="0">
                <a:latin typeface="Arial"/>
                <a:cs typeface="Arial"/>
              </a:rPr>
              <a:t>It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14" dirty="0">
                <a:latin typeface="Arial"/>
                <a:cs typeface="Arial"/>
              </a:rPr>
              <a:t>characterized by </a:t>
            </a:r>
            <a:r>
              <a:rPr sz="2800" spc="-150" dirty="0">
                <a:latin typeface="Arial"/>
                <a:cs typeface="Arial"/>
              </a:rPr>
              <a:t>push </a:t>
            </a:r>
            <a:r>
              <a:rPr sz="2800" spc="-85" dirty="0">
                <a:latin typeface="Arial"/>
                <a:cs typeface="Arial"/>
              </a:rPr>
              <a:t>update</a:t>
            </a:r>
            <a:r>
              <a:rPr sz="2800" spc="-445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queries.</a:t>
            </a:r>
            <a:endParaRPr sz="2800">
              <a:latin typeface="Arial"/>
              <a:cs typeface="Arial"/>
            </a:endParaRPr>
          </a:p>
          <a:p>
            <a:pPr marL="355600" marR="11938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40" dirty="0">
                <a:latin typeface="Arial"/>
                <a:cs typeface="Arial"/>
              </a:rPr>
              <a:t>It </a:t>
            </a:r>
            <a:r>
              <a:rPr sz="2800" spc="-100" dirty="0">
                <a:latin typeface="Arial"/>
                <a:cs typeface="Arial"/>
              </a:rPr>
              <a:t>supports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70" dirty="0">
                <a:latin typeface="Arial"/>
                <a:cs typeface="Arial"/>
              </a:rPr>
              <a:t>MapReduce </a:t>
            </a:r>
            <a:r>
              <a:rPr sz="2800" spc="-95" dirty="0">
                <a:latin typeface="Arial"/>
                <a:cs typeface="Arial"/>
              </a:rPr>
              <a:t>style </a:t>
            </a:r>
            <a:r>
              <a:rPr sz="2800" spc="-210" dirty="0">
                <a:latin typeface="Arial"/>
                <a:cs typeface="Arial"/>
              </a:rPr>
              <a:t>API, </a:t>
            </a:r>
            <a:r>
              <a:rPr sz="2800" spc="-135" dirty="0">
                <a:latin typeface="Arial"/>
                <a:cs typeface="Arial"/>
              </a:rPr>
              <a:t>and</a:t>
            </a:r>
            <a:r>
              <a:rPr sz="2800" spc="-29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geospatial  </a:t>
            </a:r>
            <a:r>
              <a:rPr sz="2800" spc="-110" dirty="0">
                <a:latin typeface="Arial"/>
                <a:cs typeface="Arial"/>
              </a:rPr>
              <a:t>queries.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4392929"/>
            <a:ext cx="6771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r.table('tv_shows').insert([{ </a:t>
            </a:r>
            <a:r>
              <a:rPr sz="1800" spc="-10" dirty="0">
                <a:latin typeface="Arial"/>
                <a:cs typeface="Arial"/>
              </a:rPr>
              <a:t>name: </a:t>
            </a:r>
            <a:r>
              <a:rPr sz="1800" spc="-5" dirty="0">
                <a:latin typeface="Arial"/>
                <a:cs typeface="Arial"/>
              </a:rPr>
              <a:t>'Star </a:t>
            </a:r>
            <a:r>
              <a:rPr sz="1800" dirty="0">
                <a:latin typeface="Arial"/>
                <a:cs typeface="Arial"/>
              </a:rPr>
              <a:t>Trek TNG', </a:t>
            </a:r>
            <a:r>
              <a:rPr sz="1800" spc="-5" dirty="0">
                <a:latin typeface="Arial"/>
                <a:cs typeface="Arial"/>
              </a:rPr>
              <a:t>episodes: </a:t>
            </a:r>
            <a:r>
              <a:rPr sz="1800" spc="-10" dirty="0">
                <a:latin typeface="Arial"/>
                <a:cs typeface="Arial"/>
              </a:rPr>
              <a:t>178</a:t>
            </a:r>
            <a:r>
              <a:rPr sz="1800" spc="-5" dirty="0">
                <a:latin typeface="Arial"/>
                <a:cs typeface="Arial"/>
              </a:rPr>
              <a:t> },</a:t>
            </a:r>
            <a:endParaRPr sz="1800">
              <a:latin typeface="Arial"/>
              <a:cs typeface="Arial"/>
            </a:endParaRPr>
          </a:p>
          <a:p>
            <a:pPr marL="180467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{ </a:t>
            </a:r>
            <a:r>
              <a:rPr sz="1800" spc="-5" dirty="0">
                <a:latin typeface="Arial"/>
                <a:cs typeface="Arial"/>
              </a:rPr>
              <a:t>name: 'Battlestar </a:t>
            </a:r>
            <a:r>
              <a:rPr sz="1800" spc="-10" dirty="0">
                <a:latin typeface="Arial"/>
                <a:cs typeface="Arial"/>
              </a:rPr>
              <a:t>Galactica', episodes: </a:t>
            </a:r>
            <a:r>
              <a:rPr sz="1800" spc="-5" dirty="0">
                <a:latin typeface="Arial"/>
                <a:cs typeface="Arial"/>
              </a:rPr>
              <a:t>75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}])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2068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15" dirty="0"/>
              <a:t>Rav</a:t>
            </a:r>
            <a:r>
              <a:rPr spc="-385" dirty="0"/>
              <a:t>e</a:t>
            </a:r>
            <a:r>
              <a:rPr spc="-270" dirty="0"/>
              <a:t>n</a:t>
            </a:r>
            <a:r>
              <a:rPr spc="-340" dirty="0"/>
              <a:t>D</a:t>
            </a:r>
            <a:r>
              <a:rPr spc="-545" dirty="0"/>
              <a:t>B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59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19479"/>
            <a:ext cx="4394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35" dirty="0">
                <a:latin typeface="Arial"/>
                <a:cs typeface="Arial"/>
              </a:rPr>
              <a:t>It </a:t>
            </a:r>
            <a:r>
              <a:rPr sz="2400" spc="-120" dirty="0">
                <a:latin typeface="Arial"/>
                <a:cs typeface="Arial"/>
              </a:rPr>
              <a:t>is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35" dirty="0">
                <a:latin typeface="Arial"/>
                <a:cs typeface="Arial"/>
              </a:rPr>
              <a:t>DocumentDB </a:t>
            </a:r>
            <a:r>
              <a:rPr sz="2400" spc="10" dirty="0">
                <a:latin typeface="Arial"/>
                <a:cs typeface="Arial"/>
              </a:rPr>
              <a:t>written </a:t>
            </a:r>
            <a:r>
              <a:rPr sz="2400" spc="-35" dirty="0">
                <a:latin typeface="Arial"/>
                <a:cs typeface="Arial"/>
              </a:rPr>
              <a:t>in</a:t>
            </a:r>
            <a:r>
              <a:rPr sz="2400" spc="-430" dirty="0">
                <a:latin typeface="Arial"/>
                <a:cs typeface="Arial"/>
              </a:rPr>
              <a:t> </a:t>
            </a:r>
            <a:r>
              <a:rPr sz="2400" spc="-295" dirty="0">
                <a:latin typeface="Arial"/>
                <a:cs typeface="Arial"/>
              </a:rPr>
              <a:t>C#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7150" y="1358900"/>
            <a:ext cx="6187440" cy="4356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66592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Document Store:</a:t>
            </a:r>
            <a:r>
              <a:rPr spc="-320" dirty="0"/>
              <a:t> </a:t>
            </a:r>
            <a:r>
              <a:rPr spc="-245" dirty="0"/>
              <a:t>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marR="1605915">
              <a:lnSpc>
                <a:spcPct val="120700"/>
              </a:lnSpc>
              <a:spcBef>
                <a:spcPts val="95"/>
              </a:spcBef>
            </a:pPr>
            <a:r>
              <a:rPr spc="-140" dirty="0"/>
              <a:t>Documents </a:t>
            </a:r>
            <a:r>
              <a:rPr spc="-114" dirty="0"/>
              <a:t>are </a:t>
            </a:r>
            <a:r>
              <a:rPr spc="-85" dirty="0"/>
              <a:t>independent </a:t>
            </a:r>
            <a:r>
              <a:rPr spc="-70" dirty="0"/>
              <a:t>units  </a:t>
            </a:r>
            <a:r>
              <a:rPr spc="-80" dirty="0"/>
              <a:t>Application </a:t>
            </a:r>
            <a:r>
              <a:rPr spc="-105" dirty="0"/>
              <a:t>logic </a:t>
            </a:r>
            <a:r>
              <a:rPr spc="-145" dirty="0"/>
              <a:t>is </a:t>
            </a:r>
            <a:r>
              <a:rPr spc="-135" dirty="0"/>
              <a:t>easier </a:t>
            </a:r>
            <a:r>
              <a:rPr spc="30" dirty="0"/>
              <a:t>to </a:t>
            </a:r>
            <a:r>
              <a:rPr spc="-15" dirty="0"/>
              <a:t>write.</a:t>
            </a:r>
            <a:r>
              <a:rPr spc="-475" dirty="0"/>
              <a:t> </a:t>
            </a:r>
            <a:r>
              <a:rPr spc="-275" dirty="0"/>
              <a:t>(JSON).  </a:t>
            </a:r>
            <a:r>
              <a:rPr spc="-235" dirty="0"/>
              <a:t>Schema</a:t>
            </a:r>
            <a:r>
              <a:rPr spc="-145" dirty="0"/>
              <a:t> </a:t>
            </a:r>
            <a:r>
              <a:rPr spc="-155" dirty="0"/>
              <a:t>Free:</a:t>
            </a:r>
          </a:p>
          <a:p>
            <a:pPr marL="716915" marR="154305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17550" algn="l"/>
              </a:tabLst>
            </a:pPr>
            <a:r>
              <a:rPr sz="2400" spc="-65" dirty="0"/>
              <a:t>Unstructured </a:t>
            </a:r>
            <a:r>
              <a:rPr sz="2400" spc="-85" dirty="0"/>
              <a:t>data </a:t>
            </a:r>
            <a:r>
              <a:rPr sz="2400" spc="-150" dirty="0"/>
              <a:t>can </a:t>
            </a:r>
            <a:r>
              <a:rPr sz="2400" spc="-110" dirty="0"/>
              <a:t>be </a:t>
            </a:r>
            <a:r>
              <a:rPr sz="2400" spc="-70" dirty="0"/>
              <a:t>stored </a:t>
            </a:r>
            <a:r>
              <a:rPr sz="2400" spc="-105" dirty="0"/>
              <a:t>easily, </a:t>
            </a:r>
            <a:r>
              <a:rPr sz="2400" spc="-135" dirty="0"/>
              <a:t>since </a:t>
            </a:r>
            <a:r>
              <a:rPr sz="2400" spc="-190" dirty="0"/>
              <a:t>a </a:t>
            </a:r>
            <a:r>
              <a:rPr sz="2400" spc="-75" dirty="0"/>
              <a:t>document  </a:t>
            </a:r>
            <a:r>
              <a:rPr sz="2400" spc="-90" dirty="0"/>
              <a:t>contains </a:t>
            </a:r>
            <a:r>
              <a:rPr sz="2400" spc="-65" dirty="0"/>
              <a:t>whatever </a:t>
            </a:r>
            <a:r>
              <a:rPr sz="2400" spc="-155" dirty="0"/>
              <a:t>keys </a:t>
            </a:r>
            <a:r>
              <a:rPr sz="2400" spc="-114" dirty="0"/>
              <a:t>and </a:t>
            </a:r>
            <a:r>
              <a:rPr sz="2400" spc="-130" dirty="0"/>
              <a:t>values </a:t>
            </a:r>
            <a:r>
              <a:rPr sz="2400" spc="-30" dirty="0"/>
              <a:t>the </a:t>
            </a:r>
            <a:r>
              <a:rPr sz="2400" spc="-65" dirty="0"/>
              <a:t>application </a:t>
            </a:r>
            <a:r>
              <a:rPr sz="2400" spc="-90" dirty="0"/>
              <a:t>logic  </a:t>
            </a:r>
            <a:r>
              <a:rPr sz="2400" spc="-80" dirty="0"/>
              <a:t>requires.</a:t>
            </a:r>
            <a:endParaRPr sz="2400"/>
          </a:p>
          <a:p>
            <a:pPr marL="716915" marR="5080" indent="-285750">
              <a:lnSpc>
                <a:spcPct val="100000"/>
              </a:lnSpc>
              <a:spcBef>
                <a:spcPts val="600"/>
              </a:spcBef>
              <a:buChar char="–"/>
              <a:tabLst>
                <a:tab pos="717550" algn="l"/>
              </a:tabLst>
            </a:pPr>
            <a:r>
              <a:rPr sz="2400" spc="-75" dirty="0"/>
              <a:t>In </a:t>
            </a:r>
            <a:r>
              <a:rPr sz="2400" spc="-45" dirty="0"/>
              <a:t>addition, </a:t>
            </a:r>
            <a:r>
              <a:rPr sz="2400" spc="-85" dirty="0"/>
              <a:t>costly </a:t>
            </a:r>
            <a:r>
              <a:rPr sz="2400" spc="-70" dirty="0"/>
              <a:t>migrations </a:t>
            </a:r>
            <a:r>
              <a:rPr sz="2400" spc="-100" dirty="0"/>
              <a:t>are avoided </a:t>
            </a:r>
            <a:r>
              <a:rPr sz="2400" spc="-135" dirty="0"/>
              <a:t>since </a:t>
            </a:r>
            <a:r>
              <a:rPr sz="2400" spc="-35" dirty="0"/>
              <a:t>the  </a:t>
            </a:r>
            <a:r>
              <a:rPr sz="2400" spc="-125" dirty="0"/>
              <a:t>database </a:t>
            </a:r>
            <a:r>
              <a:rPr sz="2400" spc="-140" dirty="0"/>
              <a:t>does </a:t>
            </a:r>
            <a:r>
              <a:rPr sz="2400" spc="-10" dirty="0"/>
              <a:t>not </a:t>
            </a:r>
            <a:r>
              <a:rPr sz="2400" spc="-110" dirty="0"/>
              <a:t>need </a:t>
            </a:r>
            <a:r>
              <a:rPr sz="2400" spc="30" dirty="0"/>
              <a:t>to</a:t>
            </a:r>
            <a:r>
              <a:rPr sz="2400" spc="-490" dirty="0"/>
              <a:t> </a:t>
            </a:r>
            <a:r>
              <a:rPr sz="2400" spc="-75" dirty="0"/>
              <a:t>know </a:t>
            </a:r>
            <a:r>
              <a:rPr sz="2400" spc="-40" dirty="0"/>
              <a:t>its </a:t>
            </a:r>
            <a:r>
              <a:rPr sz="2400" spc="-30" dirty="0"/>
              <a:t>information </a:t>
            </a:r>
            <a:r>
              <a:rPr sz="2400" spc="-160" dirty="0"/>
              <a:t>schema </a:t>
            </a:r>
            <a:r>
              <a:rPr sz="2400" spc="-35" dirty="0"/>
              <a:t>in  </a:t>
            </a:r>
            <a:r>
              <a:rPr sz="2400" spc="-130" dirty="0"/>
              <a:t>advance.</a:t>
            </a:r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60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02029"/>
            <a:ext cx="150495" cy="157099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"/>
                <a:cs typeface="Arial"/>
              </a:rPr>
              <a:t>•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42468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Suitable </a:t>
            </a:r>
            <a:r>
              <a:rPr spc="-370" dirty="0"/>
              <a:t>Use</a:t>
            </a:r>
            <a:r>
              <a:rPr spc="-310" dirty="0"/>
              <a:t> </a:t>
            </a:r>
            <a:r>
              <a:rPr spc="-484" dirty="0"/>
              <a:t>Cases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61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4089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848610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250950"/>
            <a:ext cx="7440295" cy="237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95" dirty="0">
                <a:latin typeface="Arial"/>
                <a:cs typeface="Arial"/>
              </a:rPr>
              <a:t>Event </a:t>
            </a:r>
            <a:r>
              <a:rPr sz="2400" b="1" spc="-254" dirty="0">
                <a:latin typeface="Arial"/>
                <a:cs typeface="Arial"/>
              </a:rPr>
              <a:t>Logging: </a:t>
            </a:r>
            <a:r>
              <a:rPr sz="2400" spc="-70" dirty="0">
                <a:latin typeface="Arial"/>
                <a:cs typeface="Arial"/>
              </a:rPr>
              <a:t>where </a:t>
            </a:r>
            <a:r>
              <a:rPr sz="2400" spc="-80" dirty="0">
                <a:latin typeface="Arial"/>
                <a:cs typeface="Arial"/>
              </a:rPr>
              <a:t>we </a:t>
            </a:r>
            <a:r>
              <a:rPr sz="2400" spc="-110" dirty="0">
                <a:latin typeface="Arial"/>
                <a:cs typeface="Arial"/>
              </a:rPr>
              <a:t>need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65" dirty="0">
                <a:latin typeface="Arial"/>
                <a:cs typeface="Arial"/>
              </a:rPr>
              <a:t>store </a:t>
            </a:r>
            <a:r>
              <a:rPr sz="2400" spc="-15" dirty="0">
                <a:latin typeface="Arial"/>
                <a:cs typeface="Arial"/>
              </a:rPr>
              <a:t>different </a:t>
            </a:r>
            <a:r>
              <a:rPr sz="2400" spc="-95" dirty="0">
                <a:latin typeface="Arial"/>
                <a:cs typeface="Arial"/>
              </a:rPr>
              <a:t>types</a:t>
            </a:r>
            <a:r>
              <a:rPr sz="2400" spc="-4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  </a:t>
            </a:r>
            <a:r>
              <a:rPr sz="2400" spc="-70" dirty="0">
                <a:latin typeface="Arial"/>
                <a:cs typeface="Arial"/>
              </a:rPr>
              <a:t>event </a:t>
            </a:r>
            <a:r>
              <a:rPr sz="2400" spc="-105" dirty="0">
                <a:latin typeface="Arial"/>
                <a:cs typeface="Arial"/>
              </a:rPr>
              <a:t>(order_processed,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customer_logged).</a:t>
            </a:r>
            <a:endParaRPr sz="2400">
              <a:latin typeface="Arial"/>
              <a:cs typeface="Arial"/>
            </a:endParaRPr>
          </a:p>
          <a:p>
            <a:pPr marL="355600" marR="34290">
              <a:lnSpc>
                <a:spcPct val="100000"/>
              </a:lnSpc>
              <a:spcBef>
                <a:spcPts val="600"/>
              </a:spcBef>
            </a:pPr>
            <a:r>
              <a:rPr sz="2400" b="1" spc="-155" dirty="0">
                <a:latin typeface="Arial"/>
                <a:cs typeface="Arial"/>
              </a:rPr>
              <a:t>Content </a:t>
            </a:r>
            <a:r>
              <a:rPr sz="2400" b="1" spc="-135" dirty="0">
                <a:latin typeface="Arial"/>
                <a:cs typeface="Arial"/>
              </a:rPr>
              <a:t>Management </a:t>
            </a:r>
            <a:r>
              <a:rPr sz="2400" b="1" spc="-210" dirty="0">
                <a:latin typeface="Arial"/>
                <a:cs typeface="Arial"/>
              </a:rPr>
              <a:t>System: </a:t>
            </a:r>
            <a:r>
              <a:rPr sz="2400" spc="-155" dirty="0">
                <a:latin typeface="Arial"/>
                <a:cs typeface="Arial"/>
              </a:rPr>
              <a:t>because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schema-free  </a:t>
            </a:r>
            <a:r>
              <a:rPr sz="2400" spc="-105" dirty="0">
                <a:latin typeface="Arial"/>
                <a:cs typeface="Arial"/>
              </a:rPr>
              <a:t>approach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35" dirty="0">
                <a:latin typeface="Arial"/>
                <a:cs typeface="Arial"/>
              </a:rPr>
              <a:t>well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suited</a:t>
            </a:r>
            <a:endParaRPr sz="2400">
              <a:latin typeface="Arial"/>
              <a:cs typeface="Arial"/>
            </a:endParaRPr>
          </a:p>
          <a:p>
            <a:pPr marL="355600" marR="218440">
              <a:lnSpc>
                <a:spcPct val="100000"/>
              </a:lnSpc>
              <a:spcBef>
                <a:spcPts val="590"/>
              </a:spcBef>
            </a:pPr>
            <a:r>
              <a:rPr sz="2400" b="1" spc="-140" dirty="0">
                <a:latin typeface="Arial"/>
                <a:cs typeface="Arial"/>
              </a:rPr>
              <a:t>Web </a:t>
            </a:r>
            <a:r>
              <a:rPr sz="2400" b="1" spc="-175" dirty="0">
                <a:latin typeface="Arial"/>
                <a:cs typeface="Arial"/>
              </a:rPr>
              <a:t>analytics </a:t>
            </a:r>
            <a:r>
              <a:rPr sz="2400" b="1" spc="-130" dirty="0">
                <a:latin typeface="Arial"/>
                <a:cs typeface="Arial"/>
              </a:rPr>
              <a:t>or </a:t>
            </a:r>
            <a:r>
              <a:rPr sz="2400" b="1" spc="-170" dirty="0">
                <a:latin typeface="Arial"/>
                <a:cs typeface="Arial"/>
              </a:rPr>
              <a:t>Real-Time </a:t>
            </a:r>
            <a:r>
              <a:rPr sz="2400" b="1" spc="-185" dirty="0">
                <a:latin typeface="Arial"/>
                <a:cs typeface="Arial"/>
              </a:rPr>
              <a:t>Analytics: </a:t>
            </a:r>
            <a:r>
              <a:rPr sz="2400" spc="-85" dirty="0">
                <a:latin typeface="Arial"/>
                <a:cs typeface="Arial"/>
              </a:rPr>
              <a:t>useful </a:t>
            </a:r>
            <a:r>
              <a:rPr sz="2400" spc="30" dirty="0">
                <a:latin typeface="Arial"/>
                <a:cs typeface="Arial"/>
              </a:rPr>
              <a:t>to </a:t>
            </a:r>
            <a:r>
              <a:rPr sz="2400" spc="-70" dirty="0">
                <a:latin typeface="Arial"/>
                <a:cs typeface="Arial"/>
              </a:rPr>
              <a:t>update  </a:t>
            </a:r>
            <a:r>
              <a:rPr sz="2400" spc="-85" dirty="0">
                <a:latin typeface="Arial"/>
                <a:cs typeface="Arial"/>
              </a:rPr>
              <a:t>counters, </a:t>
            </a:r>
            <a:r>
              <a:rPr sz="2400" spc="-155" dirty="0">
                <a:latin typeface="Arial"/>
                <a:cs typeface="Arial"/>
              </a:rPr>
              <a:t>page </a:t>
            </a:r>
            <a:r>
              <a:rPr sz="2400" spc="-110" dirty="0">
                <a:latin typeface="Arial"/>
                <a:cs typeface="Arial"/>
              </a:rPr>
              <a:t>views and </a:t>
            </a:r>
            <a:r>
              <a:rPr sz="2400" spc="-75" dirty="0">
                <a:latin typeface="Arial"/>
                <a:cs typeface="Arial"/>
              </a:rPr>
              <a:t>metrics </a:t>
            </a:r>
            <a:r>
              <a:rPr sz="2400" spc="-35" dirty="0">
                <a:latin typeface="Arial"/>
                <a:cs typeface="Arial"/>
              </a:rPr>
              <a:t>in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general.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54000"/>
            <a:ext cx="39477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When </a:t>
            </a:r>
            <a:r>
              <a:rPr spc="-75" dirty="0"/>
              <a:t>Not </a:t>
            </a:r>
            <a:r>
              <a:rPr spc="60" dirty="0"/>
              <a:t>to</a:t>
            </a:r>
            <a:r>
              <a:rPr spc="-480" dirty="0"/>
              <a:t> </a:t>
            </a:r>
            <a:r>
              <a:rPr spc="-370" dirty="0"/>
              <a:t>Use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60" dirty="0"/>
              <a:t>62</a:t>
            </a:fld>
            <a:endParaRPr spc="-6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50950"/>
            <a:ext cx="7935595" cy="193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210" dirty="0">
                <a:latin typeface="Arial"/>
                <a:cs typeface="Arial"/>
              </a:rPr>
              <a:t>Complex </a:t>
            </a:r>
            <a:r>
              <a:rPr sz="2400" b="1" spc="-195" dirty="0">
                <a:latin typeface="Arial"/>
                <a:cs typeface="Arial"/>
              </a:rPr>
              <a:t>Transactions: </a:t>
            </a:r>
            <a:r>
              <a:rPr sz="2400" spc="-85" dirty="0">
                <a:latin typeface="Arial"/>
                <a:cs typeface="Arial"/>
              </a:rPr>
              <a:t>when </a:t>
            </a:r>
            <a:r>
              <a:rPr sz="2400" spc="-90" dirty="0">
                <a:latin typeface="Arial"/>
                <a:cs typeface="Arial"/>
              </a:rPr>
              <a:t>you </a:t>
            </a:r>
            <a:r>
              <a:rPr sz="2400" spc="-110" dirty="0">
                <a:latin typeface="Arial"/>
                <a:cs typeface="Arial"/>
              </a:rPr>
              <a:t>need </a:t>
            </a:r>
            <a:r>
              <a:rPr sz="2400" spc="-65" dirty="0">
                <a:latin typeface="Arial"/>
                <a:cs typeface="Arial"/>
              </a:rPr>
              <a:t>atomic </a:t>
            </a:r>
            <a:r>
              <a:rPr sz="2400" spc="-140" dirty="0">
                <a:latin typeface="Arial"/>
                <a:cs typeface="Arial"/>
              </a:rPr>
              <a:t>cross-  </a:t>
            </a:r>
            <a:r>
              <a:rPr sz="2400" spc="-75" dirty="0">
                <a:latin typeface="Arial"/>
                <a:cs typeface="Arial"/>
              </a:rPr>
              <a:t>document operations, </a:t>
            </a:r>
            <a:r>
              <a:rPr sz="2400" spc="-10" dirty="0">
                <a:latin typeface="Arial"/>
                <a:cs typeface="Arial"/>
              </a:rPr>
              <a:t>but </a:t>
            </a:r>
            <a:r>
              <a:rPr sz="2400" spc="-80" dirty="0">
                <a:latin typeface="Arial"/>
                <a:cs typeface="Arial"/>
              </a:rPr>
              <a:t>we </a:t>
            </a:r>
            <a:r>
              <a:rPr sz="2400" spc="-150" dirty="0">
                <a:latin typeface="Arial"/>
                <a:cs typeface="Arial"/>
              </a:rPr>
              <a:t>can </a:t>
            </a:r>
            <a:r>
              <a:rPr sz="2400" spc="-165" dirty="0">
                <a:latin typeface="Arial"/>
                <a:cs typeface="Arial"/>
              </a:rPr>
              <a:t>use </a:t>
            </a:r>
            <a:r>
              <a:rPr sz="2400" spc="-220" dirty="0">
                <a:latin typeface="Arial"/>
                <a:cs typeface="Arial"/>
              </a:rPr>
              <a:t>RavenDB </a:t>
            </a:r>
            <a:r>
              <a:rPr sz="2400" spc="-25" dirty="0">
                <a:latin typeface="Arial"/>
                <a:cs typeface="Arial"/>
              </a:rPr>
              <a:t>or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140" dirty="0">
                <a:latin typeface="Arial"/>
                <a:cs typeface="Arial"/>
              </a:rPr>
              <a:t>RethinkDB</a:t>
            </a:r>
            <a:endParaRPr sz="2400">
              <a:latin typeface="Arial"/>
              <a:cs typeface="Arial"/>
            </a:endParaRPr>
          </a:p>
          <a:p>
            <a:pPr marL="355600" marR="28702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spc="-175" dirty="0">
                <a:latin typeface="Arial"/>
                <a:cs typeface="Arial"/>
              </a:rPr>
              <a:t>Queries </a:t>
            </a:r>
            <a:r>
              <a:rPr sz="2400" b="1" spc="-180" dirty="0">
                <a:latin typeface="Arial"/>
                <a:cs typeface="Arial"/>
              </a:rPr>
              <a:t>against Varying </a:t>
            </a:r>
            <a:r>
              <a:rPr sz="2400" b="1" spc="-195" dirty="0">
                <a:latin typeface="Arial"/>
                <a:cs typeface="Arial"/>
              </a:rPr>
              <a:t>Aggregate </a:t>
            </a:r>
            <a:r>
              <a:rPr sz="2400" b="1" spc="-155" dirty="0">
                <a:latin typeface="Arial"/>
                <a:cs typeface="Arial"/>
              </a:rPr>
              <a:t>Structure: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80" dirty="0">
                <a:latin typeface="Arial"/>
                <a:cs typeface="Arial"/>
              </a:rPr>
              <a:t>when 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0" dirty="0">
                <a:latin typeface="Arial"/>
                <a:cs typeface="Arial"/>
              </a:rPr>
              <a:t>structure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60" dirty="0">
                <a:latin typeface="Arial"/>
                <a:cs typeface="Arial"/>
              </a:rPr>
              <a:t>your </a:t>
            </a:r>
            <a:r>
              <a:rPr sz="2400" spc="-140" dirty="0">
                <a:latin typeface="Arial"/>
                <a:cs typeface="Arial"/>
              </a:rPr>
              <a:t>aggregates </a:t>
            </a:r>
            <a:r>
              <a:rPr sz="2400" spc="-100" dirty="0">
                <a:latin typeface="Arial"/>
                <a:cs typeface="Arial"/>
              </a:rPr>
              <a:t>vary </a:t>
            </a:r>
            <a:r>
              <a:rPr sz="2400" spc="-155" dirty="0">
                <a:latin typeface="Arial"/>
                <a:cs typeface="Arial"/>
              </a:rPr>
              <a:t>because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80" dirty="0">
                <a:latin typeface="Arial"/>
                <a:cs typeface="Arial"/>
              </a:rPr>
              <a:t>data  continuous data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evolutions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1754</Words>
  <Application>Microsoft Office PowerPoint</Application>
  <PresentationFormat>On-screen Show (16:10)</PresentationFormat>
  <Paragraphs>330</Paragraphs>
  <Slides>62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Trebuchet MS</vt:lpstr>
      <vt:lpstr>Office Theme</vt:lpstr>
      <vt:lpstr>Document-Oriented  Databases in Depth</vt:lpstr>
      <vt:lpstr>Outline</vt:lpstr>
      <vt:lpstr>Document DB introduction</vt:lpstr>
      <vt:lpstr>What is a Document DB?</vt:lpstr>
      <vt:lpstr>What is a Document DB?</vt:lpstr>
      <vt:lpstr>RDBMS vs Document DB:  Terminology</vt:lpstr>
      <vt:lpstr>Document DBs</vt:lpstr>
      <vt:lpstr>Mongo DB</vt:lpstr>
      <vt:lpstr>Documents: Data Model</vt:lpstr>
      <vt:lpstr>Documents: Data Model</vt:lpstr>
      <vt:lpstr>Documents: Structure  References</vt:lpstr>
      <vt:lpstr>Documents: Structure Embedded</vt:lpstr>
      <vt:lpstr>Documents: Write Operations</vt:lpstr>
      <vt:lpstr>Documents: Growth</vt:lpstr>
      <vt:lpstr>Documents: ObjectId</vt:lpstr>
      <vt:lpstr>Documents: Indexing</vt:lpstr>
      <vt:lpstr>Documents:  Indexing</vt:lpstr>
      <vt:lpstr>Documents: Indexing</vt:lpstr>
      <vt:lpstr>Documents: Indexing</vt:lpstr>
      <vt:lpstr>Documents: Index Types</vt:lpstr>
      <vt:lpstr>Documents: Index Types</vt:lpstr>
      <vt:lpstr>Documents: Index Types</vt:lpstr>
      <vt:lpstr>Documents: Index Types</vt:lpstr>
      <vt:lpstr>Documents: CRUD</vt:lpstr>
      <vt:lpstr>Query a Collection</vt:lpstr>
      <vt:lpstr>Queries</vt:lpstr>
      <vt:lpstr>Query Interface</vt:lpstr>
      <vt:lpstr>Query Behavior</vt:lpstr>
      <vt:lpstr>Query Statements</vt:lpstr>
      <vt:lpstr>Projections</vt:lpstr>
      <vt:lpstr>Cursors</vt:lpstr>
      <vt:lpstr>Data Modification</vt:lpstr>
      <vt:lpstr>Insert</vt:lpstr>
      <vt:lpstr>Update</vt:lpstr>
      <vt:lpstr>Update: Example</vt:lpstr>
      <vt:lpstr>Update Behavior</vt:lpstr>
      <vt:lpstr>Remove</vt:lpstr>
      <vt:lpstr>Remove  Behavior</vt:lpstr>
      <vt:lpstr>Write Concern</vt:lpstr>
      <vt:lpstr>Unacknowledged: Default Write</vt:lpstr>
      <vt:lpstr>Acknowledged</vt:lpstr>
      <vt:lpstr>Journaled</vt:lpstr>
      <vt:lpstr>Replica Acknowledged</vt:lpstr>
      <vt:lpstr>Scaling</vt:lpstr>
      <vt:lpstr>Scaling</vt:lpstr>
      <vt:lpstr>Scaling: Heavy Reads</vt:lpstr>
      <vt:lpstr>Data Replication</vt:lpstr>
      <vt:lpstr>Automatic Failover</vt:lpstr>
      <vt:lpstr>Scaling: Heavy Writes</vt:lpstr>
      <vt:lpstr>Sharding</vt:lpstr>
      <vt:lpstr>Sharding in MongoDB</vt:lpstr>
      <vt:lpstr>Range Based Sharding</vt:lpstr>
      <vt:lpstr>Hash Based Sharding</vt:lpstr>
      <vt:lpstr>Performance Comparison</vt:lpstr>
      <vt:lpstr>Other DocumentDBs</vt:lpstr>
      <vt:lpstr>CouchDB</vt:lpstr>
      <vt:lpstr>CouchDB: Features</vt:lpstr>
      <vt:lpstr>RethinkDB</vt:lpstr>
      <vt:lpstr>RavenDB</vt:lpstr>
      <vt:lpstr>Document Store: Advantages</vt:lpstr>
      <vt:lpstr>Suitable Use Cases</vt:lpstr>
      <vt:lpstr>When Not to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Document-Oriented  Databases in Depth</dc:title>
  <cp:lastModifiedBy>Joshva Devadas</cp:lastModifiedBy>
  <cp:revision>4</cp:revision>
  <dcterms:created xsi:type="dcterms:W3CDTF">2020-12-22T09:04:13Z</dcterms:created>
  <dcterms:modified xsi:type="dcterms:W3CDTF">2024-11-18T07:15:25Z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2015-06-06T00:00:00Z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2020-12-22T00:00:00Z</vt:filetime>
  </property>
</Properties>
</file>