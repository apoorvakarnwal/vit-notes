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6" r:id="rId2"/>
    <p:sldId id="310" r:id="rId3"/>
    <p:sldId id="317" r:id="rId4"/>
    <p:sldId id="281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311" r:id="rId14"/>
    <p:sldId id="266" r:id="rId15"/>
    <p:sldId id="286" r:id="rId16"/>
    <p:sldId id="287" r:id="rId17"/>
    <p:sldId id="288" r:id="rId18"/>
    <p:sldId id="276" r:id="rId19"/>
    <p:sldId id="277" r:id="rId20"/>
    <p:sldId id="289" r:id="rId21"/>
    <p:sldId id="290" r:id="rId22"/>
    <p:sldId id="312" r:id="rId23"/>
    <p:sldId id="318" r:id="rId24"/>
    <p:sldId id="313" r:id="rId25"/>
    <p:sldId id="279" r:id="rId26"/>
    <p:sldId id="293" r:id="rId27"/>
    <p:sldId id="314" r:id="rId28"/>
    <p:sldId id="315" r:id="rId29"/>
    <p:sldId id="280" r:id="rId30"/>
    <p:sldId id="292" r:id="rId31"/>
    <p:sldId id="268" r:id="rId32"/>
    <p:sldId id="269" r:id="rId33"/>
    <p:sldId id="270" r:id="rId34"/>
    <p:sldId id="271" r:id="rId35"/>
    <p:sldId id="294" r:id="rId36"/>
    <p:sldId id="272" r:id="rId37"/>
    <p:sldId id="295" r:id="rId38"/>
    <p:sldId id="296" r:id="rId3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-552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E936D-1A5A-48A5-9C0B-F02011F3D3A7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8FB2B-4FFD-4B37-8876-C7EFC4003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7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we know</a:t>
            </a:r>
            <a:r>
              <a:rPr lang="en-US" baseline="0" dirty="0" smtClean="0"/>
              <a:t> A we may find  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A8FB2B-4FFD-4B37-8876-C7EFC40039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58DF-D8F8-4F65-A6BA-3D5AC848360C}" type="datetime1">
              <a:rPr lang="en-US" smtClean="0"/>
              <a:t>8/12/2024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BD3F-D76D-4788-9298-6F8932AB1E90}" type="datetime1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C4D6-FC65-4942-B5E8-F70F0232C33A}" type="datetime1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82AB-D0C8-4630-963E-B321D8BB04F1}" type="datetime1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79C1-96A8-4480-9E19-5ACAF5B8407A}" type="datetime1">
              <a:rPr lang="en-US" smtClean="0"/>
              <a:t>8/12/2024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C89E-DC1F-4EC0-BE4D-FD0BB5178195}" type="datetime1">
              <a:rPr lang="en-US" smtClean="0"/>
              <a:t>8/12/2024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13CC-C503-4392-845C-DFAB3D22DC79}" type="datetime1">
              <a:rPr lang="en-US" smtClean="0"/>
              <a:t>8/12/2024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8F703-EAE6-48DA-8E6F-C489102EE236}" type="datetime1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AC3EA-5CFF-42D0-9D95-FF1BC9FFF3E3}" type="datetime1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886-E65B-45B9-8813-44B4F92079E4}" type="datetime1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6B34-130E-4FA8-9498-0D367FF2F400}" type="datetime1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9433800-8AF0-4C88-AF89-968F37B62965}" type="datetime1">
              <a:rPr lang="en-US" smtClean="0"/>
              <a:t>8/12/2024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8750"/>
            <a:ext cx="8229600" cy="1102519"/>
          </a:xfrm>
        </p:spPr>
        <p:txBody>
          <a:bodyPr>
            <a:normAutofit/>
          </a:bodyPr>
          <a:lstStyle/>
          <a:p>
            <a:r>
              <a:rPr lang="en-US" dirty="0" smtClean="0"/>
              <a:t>Functional dependency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dependency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Functional Dependencies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 smtClean="0"/>
              <a:t>It is a constraint between the 2 sets of attributes from the database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 smtClean="0"/>
              <a:t>It is a property of the semantic of the database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 smtClean="0"/>
              <a:t>DB designers specify the semantics by functional dependencies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/>
              <a:t>Functional dependency defines relationship among attributes of a relation schema.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dirty="0" smtClean="0"/>
              <a:t>Example:</a:t>
            </a:r>
          </a:p>
          <a:p>
            <a:pPr marL="1371600" lvl="2" indent="-514350">
              <a:buNone/>
            </a:pPr>
            <a:r>
              <a:rPr lang="en-US" dirty="0" smtClean="0"/>
              <a:t>	FD:  x -&gt; y       ; x, y are attributes</a:t>
            </a:r>
          </a:p>
          <a:p>
            <a:pPr marL="1371600" lvl="2" indent="-514350">
              <a:buNone/>
            </a:pPr>
            <a:r>
              <a:rPr lang="en-US" dirty="0" smtClean="0"/>
              <a:t>	x </a:t>
            </a:r>
            <a:r>
              <a:rPr lang="en-US" dirty="0" smtClean="0">
                <a:solidFill>
                  <a:srgbClr val="FF0000"/>
                </a:solidFill>
              </a:rPr>
              <a:t>determines</a:t>
            </a:r>
            <a:r>
              <a:rPr lang="en-US" dirty="0" smtClean="0"/>
              <a:t> y  or y </a:t>
            </a:r>
            <a:r>
              <a:rPr lang="en-US" dirty="0" smtClean="0">
                <a:solidFill>
                  <a:srgbClr val="FF0000"/>
                </a:solidFill>
              </a:rPr>
              <a:t>is dependent on </a:t>
            </a:r>
            <a:r>
              <a:rPr lang="en-US" dirty="0" smtClean="0"/>
              <a:t>x</a:t>
            </a:r>
          </a:p>
          <a:p>
            <a:pPr marL="1371600" lvl="2" indent="-514350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49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611189" y="833438"/>
            <a:ext cx="8061325" cy="769144"/>
          </a:xfrm>
          <a:prstGeom prst="rect">
            <a:avLst/>
          </a:prstGeom>
          <a:solidFill>
            <a:srgbClr val="F0F5FE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v"/>
              <a:defRPr sz="2800">
                <a:solidFill>
                  <a:schemeClr val="tx1"/>
                </a:solidFill>
                <a:latin typeface="Times New Roman (Hebrew)" charset="-79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400">
                <a:solidFill>
                  <a:schemeClr val="tx1"/>
                </a:solidFill>
                <a:latin typeface="Times New Roman (Hebrew)" charset="-79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solidFill>
                  <a:schemeClr val="tx1"/>
                </a:solidFill>
                <a:latin typeface="Times New Roman (Hebrew)" charset="-79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CF0E30"/>
              </a:solidFill>
              <a:latin typeface="Times New Roman" pitchFamily="18" charset="0"/>
            </a:endParaRP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8675"/>
          </a:xfrm>
        </p:spPr>
        <p:txBody>
          <a:bodyPr/>
          <a:lstStyle/>
          <a:p>
            <a:pPr algn="ctr"/>
            <a:r>
              <a:rPr lang="en-US" altLang="en-US" sz="3600" smtClean="0">
                <a:solidFill>
                  <a:schemeClr val="accent2"/>
                </a:solidFill>
                <a:latin typeface="Times New Roman" pitchFamily="18" charset="0"/>
              </a:rPr>
              <a:t>Functional Dependency</a:t>
            </a:r>
            <a:endParaRPr lang="en-US" altLang="en-US" smtClean="0"/>
          </a:p>
        </p:txBody>
      </p:sp>
      <p:sp>
        <p:nvSpPr>
          <p:cNvPr id="717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31826" y="853679"/>
            <a:ext cx="8016875" cy="80248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200" b="1" smtClean="0">
                <a:solidFill>
                  <a:srgbClr val="0000FF"/>
                </a:solidFill>
                <a:latin typeface="Times New Roman" pitchFamily="18" charset="0"/>
              </a:rPr>
              <a:t>Formal Definition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: Attribute </a:t>
            </a:r>
            <a:r>
              <a:rPr lang="en-US" altLang="en-US" sz="2200" smtClean="0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 is functionally dependant upon attribute </a:t>
            </a:r>
            <a:r>
              <a:rPr lang="en-US" altLang="en-US" sz="2200" smtClean="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en-US" sz="2200" i="1" smtClean="0">
                <a:solidFill>
                  <a:schemeClr val="tx2"/>
                </a:solidFill>
                <a:latin typeface="Times New Roman" pitchFamily="18" charset="0"/>
              </a:rPr>
              <a:t>(or a collection of attributes)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 if a value of </a:t>
            </a:r>
            <a:r>
              <a:rPr lang="en-US" altLang="en-US" sz="2200" smtClean="0">
                <a:solidFill>
                  <a:schemeClr val="accent2"/>
                </a:solidFill>
                <a:latin typeface="Times New Roman" pitchFamily="18" charset="0"/>
              </a:rPr>
              <a:t>A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 determines a single value of attribute </a:t>
            </a:r>
            <a:r>
              <a:rPr lang="en-US" altLang="en-US" sz="2200" smtClean="0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en-US" altLang="en-US" sz="2200" smtClean="0">
                <a:solidFill>
                  <a:schemeClr val="tx2"/>
                </a:solidFill>
                <a:latin typeface="Times New Roman" pitchFamily="18" charset="0"/>
              </a:rPr>
              <a:t> at any one time.</a:t>
            </a:r>
          </a:p>
        </p:txBody>
      </p:sp>
      <p:sp>
        <p:nvSpPr>
          <p:cNvPr id="7173" name="Rectangle 23"/>
          <p:cNvSpPr>
            <a:spLocks noChangeArrowheads="1"/>
          </p:cNvSpPr>
          <p:nvPr/>
        </p:nvSpPr>
        <p:spPr bwMode="auto">
          <a:xfrm>
            <a:off x="600076" y="1713309"/>
            <a:ext cx="8072438" cy="956281"/>
          </a:xfrm>
          <a:prstGeom prst="rect">
            <a:avLst/>
          </a:prstGeom>
          <a:solidFill>
            <a:srgbClr val="F0F5FE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v"/>
              <a:defRPr sz="2800">
                <a:solidFill>
                  <a:schemeClr val="tx1"/>
                </a:solidFill>
                <a:latin typeface="Times New Roman (Hebrew)" charset="-79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400">
                <a:solidFill>
                  <a:schemeClr val="tx1"/>
                </a:solidFill>
                <a:latin typeface="Times New Roman (Hebrew)" charset="-79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solidFill>
                  <a:schemeClr val="tx1"/>
                </a:solidFill>
                <a:latin typeface="Times New Roman (Hebrew)" charset="-79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CF0E30"/>
              </a:solidFill>
              <a:latin typeface="Times New Roman" pitchFamily="18" charset="0"/>
            </a:endParaRPr>
          </a:p>
        </p:txBody>
      </p:sp>
      <p:sp>
        <p:nvSpPr>
          <p:cNvPr id="7174" name="Rectangle 24"/>
          <p:cNvSpPr>
            <a:spLocks noChangeArrowheads="1"/>
          </p:cNvSpPr>
          <p:nvPr/>
        </p:nvSpPr>
        <p:spPr bwMode="auto">
          <a:xfrm>
            <a:off x="620714" y="1733551"/>
            <a:ext cx="8051800" cy="93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v"/>
              <a:defRPr sz="2800">
                <a:solidFill>
                  <a:schemeClr val="tx1"/>
                </a:solidFill>
                <a:latin typeface="Times New Roman (Hebrew)" charset="-79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400">
                <a:solidFill>
                  <a:schemeClr val="tx1"/>
                </a:solidFill>
                <a:latin typeface="Times New Roman (Hebrew)" charset="-79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solidFill>
                  <a:schemeClr val="tx1"/>
                </a:solidFill>
                <a:latin typeface="Times New Roman (Hebrew)" charset="-79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 (Hebrew)" charset="-79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200" b="1" dirty="0">
                <a:solidFill>
                  <a:srgbClr val="0000FF"/>
                </a:solidFill>
                <a:latin typeface="Times New Roman" pitchFamily="18" charset="0"/>
              </a:rPr>
              <a:t>Formal Notation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</a:rPr>
              <a:t>:  </a:t>
            </a:r>
            <a:r>
              <a:rPr lang="en-US" altLang="en-US" sz="2200" b="1" dirty="0">
                <a:solidFill>
                  <a:schemeClr val="accent2"/>
                </a:solidFill>
                <a:latin typeface="Times New Roman" pitchFamily="18" charset="0"/>
              </a:rPr>
              <a:t>A </a:t>
            </a:r>
            <a:r>
              <a:rPr lang="en-US" altLang="en-US" sz="22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 B</a:t>
            </a:r>
            <a:r>
              <a:rPr lang="en-US" alt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This should be read as </a:t>
            </a:r>
            <a:r>
              <a:rPr lang="en-US" altLang="en-US" sz="22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‘A determines B’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or </a:t>
            </a:r>
            <a:r>
              <a:rPr lang="en-US" altLang="en-US" sz="22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‘B is functionally </a:t>
            </a:r>
            <a:r>
              <a:rPr lang="en-US" altLang="en-US" sz="2200" b="1" dirty="0" err="1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dependant</a:t>
            </a:r>
            <a:r>
              <a:rPr lang="en-US" altLang="en-US" sz="22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on A’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. </a:t>
            </a:r>
            <a:r>
              <a:rPr lang="en-US" alt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is called the </a:t>
            </a:r>
            <a:r>
              <a:rPr lang="en-US" altLang="en-US" sz="2200" i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determinant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and </a:t>
            </a:r>
            <a:r>
              <a:rPr lang="en-US" altLang="en-US" sz="22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is called the </a:t>
            </a:r>
            <a:r>
              <a:rPr lang="en-US" altLang="en-US" sz="2200" i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object of the determinant</a:t>
            </a:r>
            <a:r>
              <a:rPr lang="en-US" altLang="en-US" sz="22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.</a:t>
            </a:r>
            <a:endParaRPr lang="en-US" altLang="en-US" sz="22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8261" y="2669591"/>
            <a:ext cx="3359151" cy="1676400"/>
            <a:chOff x="542442" y="2800350"/>
            <a:chExt cx="3359151" cy="1676400"/>
          </a:xfrm>
        </p:grpSpPr>
        <p:sp>
          <p:nvSpPr>
            <p:cNvPr id="7180" name="Text Box 33"/>
            <p:cNvSpPr txBox="1">
              <a:spLocks noChangeArrowheads="1"/>
            </p:cNvSpPr>
            <p:nvPr/>
          </p:nvSpPr>
          <p:spPr bwMode="auto">
            <a:xfrm>
              <a:off x="621817" y="3152775"/>
              <a:ext cx="3262313" cy="13239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pitchFamily="2" charset="2"/>
                <a:buChar char="v"/>
                <a:defRPr sz="2800">
                  <a:solidFill>
                    <a:schemeClr val="tx1"/>
                  </a:solidFill>
                  <a:latin typeface="Times New Roman (Hebrew)" charset="-79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400">
                  <a:solidFill>
                    <a:schemeClr val="tx1"/>
                  </a:solidFill>
                  <a:latin typeface="Times New Roman (Hebrew)" charset="-79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2000"/>
                <a:buFont typeface="Monotype Sorts" pitchFamily="2" charset="2"/>
                <a:buChar char="u"/>
                <a:defRPr sz="2000">
                  <a:solidFill>
                    <a:schemeClr val="tx1"/>
                  </a:solidFill>
                  <a:latin typeface="Times New Roman (Hebrew)" charset="-79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staffNo</a:t>
              </a:r>
              <a:r>
                <a:rPr lang="en-GB" alt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  job           </a:t>
              </a:r>
              <a:r>
                <a:rPr lang="en-GB" alt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dept</a:t>
              </a:r>
              <a:r>
                <a:rPr lang="en-GB" alt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   </a:t>
              </a:r>
              <a:r>
                <a:rPr lang="en-GB" alt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dname</a:t>
              </a:r>
              <a:r>
                <a:rPr lang="en-GB" alt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       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dirty="0">
                  <a:solidFill>
                    <a:srgbClr val="0000FF"/>
                  </a:solidFill>
                  <a:latin typeface="Times New Roman" pitchFamily="18" charset="0"/>
                </a:rPr>
                <a:t>SL10     Salesman  10      Sales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dirty="0">
                  <a:solidFill>
                    <a:srgbClr val="0000FF"/>
                  </a:solidFill>
                  <a:latin typeface="Times New Roman" pitchFamily="18" charset="0"/>
                </a:rPr>
                <a:t>SA51    Manager    20     Accounts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dirty="0">
                  <a:solidFill>
                    <a:srgbClr val="0000FF"/>
                  </a:solidFill>
                  <a:latin typeface="Times New Roman" pitchFamily="18" charset="0"/>
                </a:rPr>
                <a:t>DS40    Clerk         20      Accounts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600" dirty="0">
                  <a:solidFill>
                    <a:srgbClr val="0000FF"/>
                  </a:solidFill>
                  <a:latin typeface="Times New Roman" pitchFamily="18" charset="0"/>
                </a:rPr>
                <a:t>OS45    Clerk         30      Operations</a:t>
              </a:r>
            </a:p>
          </p:txBody>
        </p:sp>
        <p:grpSp>
          <p:nvGrpSpPr>
            <p:cNvPr id="7181" name="Group 49"/>
            <p:cNvGrpSpPr>
              <a:grpSpLocks/>
            </p:cNvGrpSpPr>
            <p:nvPr/>
          </p:nvGrpSpPr>
          <p:grpSpPr bwMode="auto">
            <a:xfrm>
              <a:off x="607530" y="3459956"/>
              <a:ext cx="3294063" cy="713184"/>
              <a:chOff x="377" y="2856"/>
              <a:chExt cx="2075" cy="599"/>
            </a:xfrm>
          </p:grpSpPr>
          <p:sp>
            <p:nvSpPr>
              <p:cNvPr id="7186" name="Line 37"/>
              <p:cNvSpPr>
                <a:spLocks noChangeShapeType="1"/>
              </p:cNvSpPr>
              <p:nvPr/>
            </p:nvSpPr>
            <p:spPr bwMode="auto">
              <a:xfrm>
                <a:off x="401" y="2856"/>
                <a:ext cx="203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187" name="Line 38"/>
              <p:cNvSpPr>
                <a:spLocks noChangeShapeType="1"/>
              </p:cNvSpPr>
              <p:nvPr/>
            </p:nvSpPr>
            <p:spPr bwMode="auto">
              <a:xfrm>
                <a:off x="377" y="3026"/>
                <a:ext cx="204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188" name="Line 39"/>
              <p:cNvSpPr>
                <a:spLocks noChangeShapeType="1"/>
              </p:cNvSpPr>
              <p:nvPr/>
            </p:nvSpPr>
            <p:spPr bwMode="auto">
              <a:xfrm>
                <a:off x="395" y="3248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189" name="Line 41"/>
              <p:cNvSpPr>
                <a:spLocks noChangeShapeType="1"/>
              </p:cNvSpPr>
              <p:nvPr/>
            </p:nvSpPr>
            <p:spPr bwMode="auto">
              <a:xfrm>
                <a:off x="403" y="3454"/>
                <a:ext cx="204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7182" name="Line 34"/>
            <p:cNvSpPr>
              <a:spLocks noChangeShapeType="1"/>
            </p:cNvSpPr>
            <p:nvPr/>
          </p:nvSpPr>
          <p:spPr bwMode="auto">
            <a:xfrm flipH="1">
              <a:off x="2715730" y="3174206"/>
              <a:ext cx="0" cy="1229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83" name="Line 35"/>
            <p:cNvSpPr>
              <a:spLocks noChangeShapeType="1"/>
            </p:cNvSpPr>
            <p:nvPr/>
          </p:nvSpPr>
          <p:spPr bwMode="auto">
            <a:xfrm>
              <a:off x="1366355" y="3151584"/>
              <a:ext cx="0" cy="1283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84" name="Line 36"/>
            <p:cNvSpPr>
              <a:spLocks noChangeShapeType="1"/>
            </p:cNvSpPr>
            <p:nvPr/>
          </p:nvSpPr>
          <p:spPr bwMode="auto">
            <a:xfrm>
              <a:off x="2214080" y="3163491"/>
              <a:ext cx="0" cy="13132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85" name="Text Box 43"/>
            <p:cNvSpPr txBox="1">
              <a:spLocks noChangeArrowheads="1"/>
            </p:cNvSpPr>
            <p:nvPr/>
          </p:nvSpPr>
          <p:spPr bwMode="auto">
            <a:xfrm>
              <a:off x="542442" y="2800350"/>
              <a:ext cx="11652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pitchFamily="2" charset="2"/>
                <a:buChar char="v"/>
                <a:defRPr sz="2800">
                  <a:solidFill>
                    <a:schemeClr val="tx1"/>
                  </a:solidFill>
                  <a:latin typeface="Times New Roman (Hebrew)" charset="-79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400">
                  <a:solidFill>
                    <a:schemeClr val="tx1"/>
                  </a:solidFill>
                  <a:latin typeface="Times New Roman (Hebrew)" charset="-79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2000"/>
                <a:buFont typeface="Monotype Sorts" pitchFamily="2" charset="2"/>
                <a:buChar char="u"/>
                <a:defRPr sz="2000">
                  <a:solidFill>
                    <a:schemeClr val="tx1"/>
                  </a:solidFill>
                  <a:latin typeface="Times New Roman (Hebrew)" charset="-79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rgbClr val="CF0E30"/>
                  </a:solidFill>
                  <a:latin typeface="Times New Roman" pitchFamily="18" charset="0"/>
                </a:rPr>
                <a:t>Example:</a:t>
              </a:r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4953000" y="2815829"/>
            <a:ext cx="2911475" cy="1559719"/>
            <a:chOff x="3120" y="2365"/>
            <a:chExt cx="1834" cy="1310"/>
          </a:xfrm>
        </p:grpSpPr>
        <p:sp>
          <p:nvSpPr>
            <p:cNvPr id="7177" name="Rectangle 45"/>
            <p:cNvSpPr>
              <a:spLocks noChangeArrowheads="1"/>
            </p:cNvSpPr>
            <p:nvPr/>
          </p:nvSpPr>
          <p:spPr bwMode="auto">
            <a:xfrm>
              <a:off x="3120" y="2365"/>
              <a:ext cx="1834" cy="10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pitchFamily="2" charset="2"/>
                <a:buChar char="v"/>
                <a:defRPr sz="2800">
                  <a:solidFill>
                    <a:schemeClr val="tx1"/>
                  </a:solidFill>
                  <a:latin typeface="Times New Roman (Hebrew)" charset="-79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400">
                  <a:solidFill>
                    <a:schemeClr val="tx1"/>
                  </a:solidFill>
                  <a:latin typeface="Times New Roman (Hebrew)" charset="-79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2000"/>
                <a:buFont typeface="Monotype Sorts" pitchFamily="2" charset="2"/>
                <a:buChar char="u"/>
                <a:defRPr sz="2000">
                  <a:solidFill>
                    <a:schemeClr val="tx1"/>
                  </a:solidFill>
                  <a:latin typeface="Times New Roman (Hebrew)" charset="-79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CF0E30"/>
                </a:solidFill>
                <a:latin typeface="Times New Roman" pitchFamily="18" charset="0"/>
              </a:endParaRPr>
            </a:p>
          </p:txBody>
        </p:sp>
        <p:sp>
          <p:nvSpPr>
            <p:cNvPr id="7178" name="Text Box 42"/>
            <p:cNvSpPr txBox="1">
              <a:spLocks noChangeArrowheads="1"/>
            </p:cNvSpPr>
            <p:nvPr/>
          </p:nvSpPr>
          <p:spPr bwMode="auto">
            <a:xfrm>
              <a:off x="3179" y="2563"/>
              <a:ext cx="1316" cy="1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pitchFamily="2" charset="2"/>
                <a:buChar char="v"/>
                <a:defRPr sz="2800">
                  <a:solidFill>
                    <a:schemeClr val="tx1"/>
                  </a:solidFill>
                  <a:latin typeface="Times New Roman (Hebrew)" charset="-79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400">
                  <a:solidFill>
                    <a:schemeClr val="tx1"/>
                  </a:solidFill>
                  <a:latin typeface="Times New Roman (Hebrew)" charset="-79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2000"/>
                <a:buFont typeface="Monotype Sorts" pitchFamily="2" charset="2"/>
                <a:buChar char="u"/>
                <a:defRPr sz="2000">
                  <a:solidFill>
                    <a:schemeClr val="tx1"/>
                  </a:solidFill>
                  <a:latin typeface="Times New Roman (Hebrew)" charset="-79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2"/>
                  </a:solidFill>
                  <a:latin typeface="Times New Roman" pitchFamily="18" charset="0"/>
                </a:rPr>
                <a:t>staffNo </a:t>
              </a:r>
              <a:r>
                <a:rPr lang="en-US" altLang="en-US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 job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staffNo </a:t>
              </a:r>
              <a:r>
                <a:rPr lang="en-US" altLang="en-US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 dept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>
                  <a:solidFill>
                    <a:schemeClr val="tx2"/>
                  </a:solidFill>
                  <a:latin typeface="Times New Roman" pitchFamily="18" charset="0"/>
                </a:rPr>
                <a:t>staffNo </a:t>
              </a:r>
              <a:r>
                <a:rPr lang="en-US" altLang="en-US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 dname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dept </a:t>
              </a:r>
              <a:r>
                <a:rPr lang="en-US" altLang="en-US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</a:t>
              </a:r>
              <a:r>
                <a:rPr lang="en-US" altLang="en-US" sz="2000">
                  <a:solidFill>
                    <a:schemeClr val="tx2"/>
                  </a:solidFill>
                  <a:latin typeface="Times New Roman" pitchFamily="18" charset="0"/>
                  <a:sym typeface="Symbol" pitchFamily="18" charset="2"/>
                </a:rPr>
                <a:t> dname</a:t>
              </a:r>
              <a:r>
                <a:rPr lang="en-US" altLang="en-US" sz="1800">
                  <a:solidFill>
                    <a:srgbClr val="CF0E30"/>
                  </a:solidFill>
                  <a:latin typeface="Times New Roman" pitchFamily="18" charset="0"/>
                  <a:sym typeface="Symbol" pitchFamily="18" charset="2"/>
                </a:rPr>
                <a:t>	 </a:t>
              </a:r>
              <a:endParaRPr lang="en-GB" altLang="en-US" sz="1800">
                <a:solidFill>
                  <a:srgbClr val="CF0E30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179" name="Text Box 44"/>
            <p:cNvSpPr txBox="1">
              <a:spLocks noChangeArrowheads="1"/>
            </p:cNvSpPr>
            <p:nvPr/>
          </p:nvSpPr>
          <p:spPr bwMode="auto">
            <a:xfrm>
              <a:off x="3193" y="2365"/>
              <a:ext cx="175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pitchFamily="2" charset="2"/>
                <a:buChar char="v"/>
                <a:defRPr sz="2800">
                  <a:solidFill>
                    <a:schemeClr val="tx1"/>
                  </a:solidFill>
                  <a:latin typeface="Times New Roman (Hebrew)" charset="-79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400">
                  <a:solidFill>
                    <a:schemeClr val="tx1"/>
                  </a:solidFill>
                  <a:latin typeface="Times New Roman (Hebrew)" charset="-79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2000"/>
                <a:buFont typeface="Monotype Sorts" pitchFamily="2" charset="2"/>
                <a:buChar char="u"/>
                <a:defRPr sz="2000">
                  <a:solidFill>
                    <a:schemeClr val="tx1"/>
                  </a:solidFill>
                  <a:latin typeface="Times New Roman (Hebrew)" charset="-79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 (Hebrew)" charset="-79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2000" u="sng">
                  <a:solidFill>
                    <a:srgbClr val="CF0E30"/>
                  </a:solidFill>
                  <a:latin typeface="Times New Roman" pitchFamily="18" charset="0"/>
                </a:rPr>
                <a:t>Functional Dependencies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60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Formal definition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771900"/>
          </a:xfrm>
        </p:spPr>
        <p:txBody>
          <a:bodyPr>
            <a:normAutofit/>
          </a:bodyPr>
          <a:lstStyle/>
          <a:p>
            <a:pPr marL="137160" indent="0" algn="just">
              <a:buNone/>
            </a:pPr>
            <a:r>
              <a:rPr lang="en-US" sz="2200" b="1" dirty="0" smtClean="0">
                <a:solidFill>
                  <a:srgbClr val="FF0000"/>
                </a:solidFill>
              </a:rPr>
              <a:t>Definition : </a:t>
            </a:r>
            <a:r>
              <a:rPr lang="en-US" sz="2200" dirty="0" smtClean="0"/>
              <a:t>If </a:t>
            </a:r>
            <a:r>
              <a:rPr lang="en-US" sz="2200" dirty="0"/>
              <a:t>R be a relation schema and X and Y are two subsets of R then we say that X </a:t>
            </a:r>
            <a:r>
              <a:rPr lang="en-US" sz="2200" dirty="0">
                <a:solidFill>
                  <a:srgbClr val="FF0000"/>
                </a:solidFill>
              </a:rPr>
              <a:t>functionally determines </a:t>
            </a:r>
            <a:r>
              <a:rPr lang="en-US" sz="2200" dirty="0"/>
              <a:t>Y (X </a:t>
            </a:r>
            <a:r>
              <a:rPr lang="en-US" sz="2200" dirty="0">
                <a:sym typeface="Wingdings" pitchFamily="2" charset="2"/>
              </a:rPr>
              <a:t> Y) </a:t>
            </a:r>
            <a:r>
              <a:rPr lang="en-US" sz="2200" dirty="0"/>
              <a:t>if for any pair of tuple t1 and t2 belonging to any state r(R) whenever t1[X] = t2[X], we must have t1[Y]=t2[Y] .</a:t>
            </a:r>
          </a:p>
          <a:p>
            <a:r>
              <a:rPr lang="en-US" sz="2200" dirty="0"/>
              <a:t>This means that the values of the Y component of a tuple in r depend on, or are determined by, the values of the X component; alternatively, the values of the X component of a tuple uniquely (or functionally) determine the values of the Y component.  </a:t>
            </a:r>
          </a:p>
          <a:p>
            <a:r>
              <a:rPr lang="en-US" sz="2200" dirty="0"/>
              <a:t>We also say that there is a functional dependency from X to Y, or that Y is </a:t>
            </a:r>
            <a:r>
              <a:rPr lang="en-IN" sz="2200" dirty="0"/>
              <a:t>functionally dependent on X.</a:t>
            </a:r>
            <a:endParaRPr lang="en-US" sz="2200" dirty="0"/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5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22" y="574478"/>
            <a:ext cx="8803178" cy="260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5" y="336353"/>
            <a:ext cx="922713" cy="22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9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6" y="231322"/>
            <a:ext cx="7069974" cy="4513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72" y="57150"/>
            <a:ext cx="897774" cy="17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7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2687" y="1123950"/>
            <a:ext cx="6361113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00200" y="2571750"/>
            <a:ext cx="4948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1600" i="0" dirty="0"/>
              <a:t>{</a:t>
            </a:r>
            <a:r>
              <a:rPr lang="en-US" sz="1600" i="0" dirty="0" err="1"/>
              <a:t>Ssn</a:t>
            </a:r>
            <a:r>
              <a:rPr lang="en-US" sz="1600" i="0" dirty="0"/>
              <a:t>} </a:t>
            </a:r>
            <a:r>
              <a:rPr lang="en-US" sz="1600" i="0" dirty="0">
                <a:sym typeface="Wingdings" pitchFamily="2" charset="2"/>
              </a:rPr>
              <a:t> {</a:t>
            </a:r>
            <a:r>
              <a:rPr lang="en-US" sz="1600" i="0" dirty="0" err="1">
                <a:sym typeface="Wingdings" pitchFamily="2" charset="2"/>
              </a:rPr>
              <a:t>Ename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Bdate</a:t>
            </a:r>
            <a:r>
              <a:rPr lang="en-US" sz="1600" i="0" dirty="0">
                <a:sym typeface="Wingdings" pitchFamily="2" charset="2"/>
              </a:rPr>
              <a:t>, Address, </a:t>
            </a:r>
            <a:r>
              <a:rPr lang="en-US" sz="1600" i="0" dirty="0" err="1">
                <a:sym typeface="Wingdings" pitchFamily="2" charset="2"/>
              </a:rPr>
              <a:t>Dnumber</a:t>
            </a:r>
            <a:r>
              <a:rPr lang="en-US" sz="1600" i="0" dirty="0">
                <a:sym typeface="Wingdings" pitchFamily="2" charset="2"/>
              </a:rPr>
              <a:t>}</a:t>
            </a:r>
          </a:p>
          <a:p>
            <a:r>
              <a:rPr lang="en-US" sz="1600" i="0" dirty="0">
                <a:sym typeface="Wingdings" pitchFamily="2" charset="2"/>
              </a:rPr>
              <a:t>{</a:t>
            </a:r>
            <a:r>
              <a:rPr lang="en-US" sz="1600" i="0" dirty="0" err="1">
                <a:sym typeface="Wingdings" pitchFamily="2" charset="2"/>
              </a:rPr>
              <a:t>Dnumber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Dname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Dmgr_ssn</a:t>
            </a:r>
            <a:r>
              <a:rPr lang="en-US" sz="1600" i="0" dirty="0">
                <a:sym typeface="Wingdings" pitchFamily="2" charset="2"/>
              </a:rPr>
              <a:t>}</a:t>
            </a:r>
            <a:endParaRPr lang="en-US" sz="1600" i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2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71550"/>
            <a:ext cx="6248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09800" y="2655887"/>
            <a:ext cx="45307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sz="1600" i="0" dirty="0"/>
              <a:t>FD1:  {</a:t>
            </a:r>
            <a:r>
              <a:rPr lang="en-US" sz="1600" i="0" dirty="0" err="1"/>
              <a:t>Ssn</a:t>
            </a:r>
            <a:r>
              <a:rPr lang="en-US" sz="1600" i="0" dirty="0"/>
              <a:t>, </a:t>
            </a:r>
            <a:r>
              <a:rPr lang="en-US" sz="1600" i="0" dirty="0" err="1"/>
              <a:t>Pnumber</a:t>
            </a:r>
            <a:r>
              <a:rPr lang="en-US" sz="1600" i="0" dirty="0"/>
              <a:t>} </a:t>
            </a:r>
            <a:r>
              <a:rPr lang="en-US" sz="1600" i="0" dirty="0">
                <a:sym typeface="Wingdings" pitchFamily="2" charset="2"/>
              </a:rPr>
              <a:t> {Hours}</a:t>
            </a:r>
          </a:p>
          <a:p>
            <a:r>
              <a:rPr lang="en-US" sz="1600" i="0" dirty="0">
                <a:sym typeface="Wingdings" pitchFamily="2" charset="2"/>
              </a:rPr>
              <a:t>FD2:  {</a:t>
            </a:r>
            <a:r>
              <a:rPr lang="en-US" sz="1600" i="0" dirty="0" err="1">
                <a:sym typeface="Wingdings" pitchFamily="2" charset="2"/>
              </a:rPr>
              <a:t>Ssn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Ename</a:t>
            </a:r>
            <a:r>
              <a:rPr lang="en-US" sz="1600" i="0" dirty="0">
                <a:sym typeface="Wingdings" pitchFamily="2" charset="2"/>
              </a:rPr>
              <a:t>}</a:t>
            </a:r>
          </a:p>
          <a:p>
            <a:r>
              <a:rPr lang="en-US" sz="1600" i="0" dirty="0">
                <a:sym typeface="Wingdings" pitchFamily="2" charset="2"/>
              </a:rPr>
              <a:t>FD3:  {</a:t>
            </a:r>
            <a:r>
              <a:rPr lang="en-US" sz="1600" i="0" dirty="0" err="1">
                <a:sym typeface="Wingdings" pitchFamily="2" charset="2"/>
              </a:rPr>
              <a:t>Pnumber</a:t>
            </a:r>
            <a:r>
              <a:rPr lang="en-US" sz="1600" i="0" dirty="0">
                <a:sym typeface="Wingdings" pitchFamily="2" charset="2"/>
              </a:rPr>
              <a:t>}  {</a:t>
            </a:r>
            <a:r>
              <a:rPr lang="en-US" sz="1600" i="0" dirty="0" err="1">
                <a:sym typeface="Wingdings" pitchFamily="2" charset="2"/>
              </a:rPr>
              <a:t>Pname</a:t>
            </a:r>
            <a:r>
              <a:rPr lang="en-US" sz="1600" i="0" dirty="0">
                <a:sym typeface="Wingdings" pitchFamily="2" charset="2"/>
              </a:rPr>
              <a:t>, </a:t>
            </a:r>
            <a:r>
              <a:rPr lang="en-US" sz="1600" i="0" dirty="0" err="1">
                <a:sym typeface="Wingdings" pitchFamily="2" charset="2"/>
              </a:rPr>
              <a:t>Plocation</a:t>
            </a:r>
            <a:r>
              <a:rPr lang="en-US" sz="1600" i="0" dirty="0">
                <a:sym typeface="Wingdings" pitchFamily="2" charset="2"/>
              </a:rPr>
              <a:t>}  </a:t>
            </a:r>
            <a:endParaRPr lang="en-US" sz="1600" i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8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Armstrong’s </a:t>
            </a:r>
            <a:r>
              <a:rPr lang="en-US" sz="4000" dirty="0"/>
              <a:t>rules (axioms)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3100" dirty="0"/>
              <a:t>Assume that R is a relation schema and X, Y and </a:t>
            </a:r>
            <a:r>
              <a:rPr lang="en-US" sz="3100" dirty="0" smtClean="0"/>
              <a:t>Z </a:t>
            </a:r>
          </a:p>
          <a:p>
            <a:pPr>
              <a:buNone/>
            </a:pPr>
            <a:r>
              <a:rPr lang="en-US" sz="3100" dirty="0" smtClean="0"/>
              <a:t>are subsets </a:t>
            </a:r>
            <a:r>
              <a:rPr lang="en-US" sz="3100" dirty="0"/>
              <a:t>of R. </a:t>
            </a:r>
          </a:p>
          <a:p>
            <a:pPr>
              <a:buNone/>
            </a:pPr>
            <a:endParaRPr lang="en-US" sz="3100" b="1" dirty="0"/>
          </a:p>
          <a:p>
            <a:pPr>
              <a:buNone/>
            </a:pPr>
            <a:r>
              <a:rPr lang="en-US" sz="3100" b="1" dirty="0"/>
              <a:t>Reflexivity </a:t>
            </a:r>
            <a:r>
              <a:rPr lang="en-US" sz="3100" b="1" dirty="0" smtClean="0"/>
              <a:t>rule: </a:t>
            </a:r>
            <a:r>
              <a:rPr lang="en-US" sz="3100" dirty="0" smtClean="0"/>
              <a:t>If </a:t>
            </a:r>
            <a:r>
              <a:rPr lang="en-US" sz="3100" dirty="0"/>
              <a:t>X is a super set of Y then X </a:t>
            </a:r>
            <a:r>
              <a:rPr lang="en-US" sz="3100" dirty="0">
                <a:sym typeface="Wingdings" pitchFamily="2" charset="2"/>
              </a:rPr>
              <a:t> Y.</a:t>
            </a:r>
            <a:endParaRPr lang="en-US" sz="3100" b="1" dirty="0">
              <a:sym typeface="Wingdings" pitchFamily="2" charset="2"/>
            </a:endParaRPr>
          </a:p>
          <a:p>
            <a:pPr>
              <a:buNone/>
            </a:pPr>
            <a:endParaRPr lang="en-US" sz="3100" b="1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3100" b="1" dirty="0" smtClean="0">
                <a:sym typeface="Wingdings" pitchFamily="2" charset="2"/>
              </a:rPr>
              <a:t>Augmentation rule: </a:t>
            </a:r>
            <a:r>
              <a:rPr lang="en-US" sz="3100" dirty="0" smtClean="0">
                <a:sym typeface="Wingdings" pitchFamily="2" charset="2"/>
              </a:rPr>
              <a:t>If </a:t>
            </a:r>
            <a:r>
              <a:rPr lang="en-US" sz="3100" dirty="0">
                <a:sym typeface="Wingdings" pitchFamily="2" charset="2"/>
              </a:rPr>
              <a:t>X  Y then XZ  YZ. </a:t>
            </a:r>
            <a:endParaRPr lang="en-US" sz="3100" b="1" dirty="0"/>
          </a:p>
          <a:p>
            <a:pPr>
              <a:buNone/>
            </a:pPr>
            <a:endParaRPr lang="en-US" sz="3100" b="1" dirty="0" smtClean="0"/>
          </a:p>
          <a:p>
            <a:pPr>
              <a:buNone/>
            </a:pPr>
            <a:r>
              <a:rPr lang="en-US" sz="3100" b="1" dirty="0" smtClean="0"/>
              <a:t>Transitivity rule: </a:t>
            </a:r>
            <a:r>
              <a:rPr lang="en-US" sz="3100" dirty="0" smtClean="0">
                <a:sym typeface="Wingdings" pitchFamily="2" charset="2"/>
              </a:rPr>
              <a:t>If </a:t>
            </a:r>
            <a:r>
              <a:rPr lang="en-US" sz="3100" dirty="0">
                <a:sym typeface="Wingdings" pitchFamily="2" charset="2"/>
              </a:rPr>
              <a:t>X  Y &amp; Y  Z then X  Z.</a:t>
            </a:r>
            <a:endParaRPr lang="en-US" sz="3100" b="1" dirty="0"/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7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Additional </a:t>
            </a:r>
            <a:r>
              <a:rPr lang="en-US" sz="4000" dirty="0" smtClean="0"/>
              <a:t>rules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Union </a:t>
            </a:r>
            <a:r>
              <a:rPr lang="en-US" b="1" dirty="0" smtClean="0"/>
              <a:t>rule: 	 </a:t>
            </a:r>
            <a:r>
              <a:rPr lang="en-US" dirty="0" smtClean="0"/>
              <a:t>If </a:t>
            </a:r>
            <a:r>
              <a:rPr lang="en-US" dirty="0"/>
              <a:t>X </a:t>
            </a:r>
            <a:r>
              <a:rPr lang="en-US" dirty="0">
                <a:sym typeface="Wingdings" pitchFamily="2" charset="2"/>
              </a:rPr>
              <a:t> Y and X  Z then X  </a:t>
            </a:r>
            <a:r>
              <a:rPr lang="en-US" dirty="0" smtClean="0">
                <a:sym typeface="Wingdings" pitchFamily="2" charset="2"/>
              </a:rPr>
              <a:t>YZ</a:t>
            </a:r>
          </a:p>
          <a:p>
            <a:pPr>
              <a:buNone/>
            </a:pPr>
            <a:endParaRPr lang="en-US" b="1" dirty="0">
              <a:sym typeface="Wingdings" pitchFamily="2" charset="2"/>
            </a:endParaRPr>
          </a:p>
          <a:p>
            <a:pPr>
              <a:buNone/>
            </a:pPr>
            <a:r>
              <a:rPr lang="en-US" b="1" dirty="0" smtClean="0">
                <a:sym typeface="Wingdings" pitchFamily="2" charset="2"/>
              </a:rPr>
              <a:t>Decomposition rule:  </a:t>
            </a:r>
            <a:r>
              <a:rPr lang="en-US" dirty="0" smtClean="0">
                <a:sym typeface="Wingdings" pitchFamily="2" charset="2"/>
              </a:rPr>
              <a:t>If </a:t>
            </a:r>
            <a:r>
              <a:rPr lang="en-US" dirty="0">
                <a:sym typeface="Wingdings" pitchFamily="2" charset="2"/>
              </a:rPr>
              <a:t>X  YZ then </a:t>
            </a:r>
            <a:r>
              <a:rPr lang="en-US" dirty="0"/>
              <a:t>X </a:t>
            </a:r>
            <a:r>
              <a:rPr lang="en-US" dirty="0">
                <a:sym typeface="Wingdings" pitchFamily="2" charset="2"/>
              </a:rPr>
              <a:t> Y and X  </a:t>
            </a:r>
            <a:r>
              <a:rPr lang="en-US" dirty="0" smtClean="0">
                <a:sym typeface="Wingdings" pitchFamily="2" charset="2"/>
              </a:rPr>
              <a:t>Z</a:t>
            </a:r>
          </a:p>
          <a:p>
            <a:pPr>
              <a:buNone/>
            </a:pPr>
            <a:endParaRPr lang="en-US" b="1" dirty="0">
              <a:sym typeface="Wingdings" pitchFamily="2" charset="2"/>
            </a:endParaRPr>
          </a:p>
          <a:p>
            <a:pPr>
              <a:buNone/>
            </a:pPr>
            <a:r>
              <a:rPr lang="en-US" b="1" dirty="0" smtClean="0">
                <a:sym typeface="Wingdings" pitchFamily="2" charset="2"/>
              </a:rPr>
              <a:t>Pseudo </a:t>
            </a:r>
            <a:r>
              <a:rPr lang="en-US" b="1" dirty="0">
                <a:sym typeface="Wingdings" pitchFamily="2" charset="2"/>
              </a:rPr>
              <a:t>transitivity </a:t>
            </a:r>
            <a:r>
              <a:rPr lang="en-US" b="1" dirty="0" smtClean="0">
                <a:sym typeface="Wingdings" pitchFamily="2" charset="2"/>
              </a:rPr>
              <a:t>rule: </a:t>
            </a:r>
          </a:p>
          <a:p>
            <a:pPr>
              <a:buNone/>
            </a:pPr>
            <a:r>
              <a:rPr lang="en-US" sz="2600" b="1" dirty="0">
                <a:sym typeface="Wingdings" pitchFamily="2" charset="2"/>
              </a:rPr>
              <a:t>	</a:t>
            </a:r>
            <a:r>
              <a:rPr lang="en-US" sz="2600" b="1" dirty="0" smtClean="0">
                <a:sym typeface="Wingdings" pitchFamily="2" charset="2"/>
              </a:rPr>
              <a:t>	</a:t>
            </a:r>
            <a:r>
              <a:rPr lang="en-US" sz="2600" dirty="0" smtClean="0">
                <a:sym typeface="Wingdings" pitchFamily="2" charset="2"/>
              </a:rPr>
              <a:t>If </a:t>
            </a:r>
            <a:r>
              <a:rPr lang="en-US" sz="2600" dirty="0">
                <a:sym typeface="Wingdings" pitchFamily="2" charset="2"/>
              </a:rPr>
              <a:t>X  Y and YZ  </a:t>
            </a:r>
            <a:r>
              <a:rPr lang="en-US" sz="2600" dirty="0" smtClean="0">
                <a:sym typeface="Wingdings" pitchFamily="2" charset="2"/>
              </a:rPr>
              <a:t>V then  </a:t>
            </a:r>
            <a:r>
              <a:rPr lang="en-US" sz="2600" dirty="0">
                <a:sym typeface="Wingdings" pitchFamily="2" charset="2"/>
              </a:rPr>
              <a:t>XZ  V </a:t>
            </a:r>
            <a:endParaRPr lang="en-US" sz="26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b="1" dirty="0" smtClean="0">
                <a:sym typeface="Wingdings" pitchFamily="2" charset="2"/>
              </a:rPr>
              <a:t>Composition rule: </a:t>
            </a:r>
            <a:r>
              <a:rPr lang="en-US" dirty="0" smtClean="0">
                <a:sym typeface="Wingdings" pitchFamily="2" charset="2"/>
              </a:rPr>
              <a:t>If </a:t>
            </a:r>
            <a:r>
              <a:rPr lang="en-US" dirty="0">
                <a:sym typeface="Wingdings" pitchFamily="2" charset="2"/>
              </a:rPr>
              <a:t>X  Y and V  W then XV  YW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5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Closure</a:t>
            </a:r>
            <a:r>
              <a:rPr lang="en-US" sz="4000" dirty="0"/>
              <a:t> of a set of attributes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Assume that X is a subset of a schema R &amp;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is a set of functional dependencies that hold on R.</a:t>
            </a:r>
          </a:p>
          <a:p>
            <a:r>
              <a:rPr lang="en-US" dirty="0"/>
              <a:t>Closure of X is denoted by X</a:t>
            </a:r>
            <a:r>
              <a:rPr lang="en-US" baseline="30000" dirty="0"/>
              <a:t>+</a:t>
            </a:r>
            <a:r>
              <a:rPr lang="en-US" dirty="0"/>
              <a:t>.</a:t>
            </a:r>
          </a:p>
          <a:p>
            <a:r>
              <a:rPr lang="en-US" dirty="0"/>
              <a:t>Closure of X (X</a:t>
            </a:r>
            <a:r>
              <a:rPr lang="en-US" baseline="30000" dirty="0"/>
              <a:t>+</a:t>
            </a:r>
            <a:r>
              <a:rPr lang="en-US" dirty="0"/>
              <a:t>)</a:t>
            </a:r>
            <a:r>
              <a:rPr lang="en-US" baseline="30000" dirty="0"/>
              <a:t> </a:t>
            </a:r>
            <a:r>
              <a:rPr lang="en-US" dirty="0"/>
              <a:t>is the </a:t>
            </a:r>
            <a:r>
              <a:rPr lang="en-US" dirty="0">
                <a:solidFill>
                  <a:srgbClr val="FF0000"/>
                </a:solidFill>
              </a:rPr>
              <a:t>maximal (biggest) super set of X </a:t>
            </a:r>
            <a:r>
              <a:rPr lang="en-US" dirty="0"/>
              <a:t>such that X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X</a:t>
            </a:r>
            <a:r>
              <a:rPr lang="en-US" baseline="30000" dirty="0" smtClean="0"/>
              <a:t>+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Closure is a set of attributes that are functionally determines by the attribute set</a:t>
            </a:r>
            <a:endParaRPr lang="en-US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 for computing X</a:t>
            </a:r>
            <a:r>
              <a:rPr lang="en-US" sz="4000" baseline="30000" dirty="0"/>
              <a:t>+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dirty="0"/>
              <a:t>Given R &amp;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>
                <a:latin typeface="Arial Unicode MS" pitchFamily="34" charset="-128"/>
              </a:rPr>
              <a:t> </a:t>
            </a:r>
            <a:r>
              <a:rPr lang="en-US" dirty="0"/>
              <a:t>find X</a:t>
            </a:r>
            <a:r>
              <a:rPr lang="en-US" baseline="30000" dirty="0"/>
              <a:t>+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Algorithm:</a:t>
            </a:r>
            <a:r>
              <a:rPr lang="en-US" b="1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Begin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X</a:t>
            </a:r>
            <a:r>
              <a:rPr lang="en-US" baseline="30000" dirty="0"/>
              <a:t>+ </a:t>
            </a:r>
            <a:r>
              <a:rPr lang="en-US" dirty="0"/>
              <a:t>:= X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Repeat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For each functional dependency Y </a:t>
            </a:r>
            <a:r>
              <a:rPr lang="en-US" dirty="0">
                <a:sym typeface="Wingdings" pitchFamily="2" charset="2"/>
              </a:rPr>
              <a:t> Z </a:t>
            </a:r>
            <a:r>
              <a:rPr lang="el-GR" dirty="0">
                <a:cs typeface="Arial" charset="0"/>
                <a:sym typeface="Wingdings" pitchFamily="2" charset="2"/>
              </a:rPr>
              <a:t>ε</a:t>
            </a:r>
            <a:r>
              <a:rPr lang="en-US" dirty="0">
                <a:cs typeface="Arial" charset="0"/>
                <a:sym typeface="Wingdings" pitchFamily="2" charset="2"/>
              </a:rPr>
              <a:t> </a:t>
            </a:r>
            <a:r>
              <a:rPr lang="en-US" dirty="0">
                <a:latin typeface="Script MT Bold" pitchFamily="66" charset="0"/>
                <a:cs typeface="Arial" charset="0"/>
                <a:sym typeface="Wingdings" pitchFamily="2" charset="2"/>
              </a:rPr>
              <a:t>F</a:t>
            </a:r>
            <a:r>
              <a:rPr lang="en-US" dirty="0">
                <a:cs typeface="Arial" charset="0"/>
                <a:sym typeface="Wingdings" pitchFamily="2" charset="2"/>
              </a:rPr>
              <a:t>,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cs typeface="Arial" charset="0"/>
                <a:sym typeface="Wingdings" pitchFamily="2" charset="2"/>
              </a:rPr>
              <a:t>			if X</a:t>
            </a:r>
            <a:r>
              <a:rPr lang="en-US" baseline="30000" dirty="0">
                <a:cs typeface="Arial" charset="0"/>
                <a:sym typeface="Wingdings" pitchFamily="2" charset="2"/>
              </a:rPr>
              <a:t>+ </a:t>
            </a:r>
            <a:r>
              <a:rPr lang="en-US" dirty="0">
                <a:cs typeface="Arial" charset="0"/>
                <a:sym typeface="Wingdings" pitchFamily="2" charset="2"/>
              </a:rPr>
              <a:t>contains Y then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cs typeface="Arial" charset="0"/>
                <a:sym typeface="Wingdings" pitchFamily="2" charset="2"/>
              </a:rPr>
              <a:t>				X</a:t>
            </a:r>
            <a:r>
              <a:rPr lang="en-US" baseline="30000" dirty="0">
                <a:cs typeface="Arial" charset="0"/>
                <a:sym typeface="Wingdings" pitchFamily="2" charset="2"/>
              </a:rPr>
              <a:t>+</a:t>
            </a:r>
            <a:r>
              <a:rPr lang="en-US" dirty="0">
                <a:cs typeface="Arial" charset="0"/>
                <a:sym typeface="Wingdings" pitchFamily="2" charset="2"/>
              </a:rPr>
              <a:t> := X</a:t>
            </a:r>
            <a:r>
              <a:rPr lang="en-US" baseline="30000" dirty="0" smtClean="0">
                <a:cs typeface="Arial" charset="0"/>
                <a:sym typeface="Wingdings" pitchFamily="2" charset="2"/>
              </a:rPr>
              <a:t>+ </a:t>
            </a:r>
            <a:r>
              <a:rPr lang="en-US" dirty="0" smtClean="0"/>
              <a:t> </a:t>
            </a:r>
            <a:r>
              <a:rPr lang="en-US" dirty="0" smtClean="0">
                <a:latin typeface="Arial Narrow"/>
              </a:rPr>
              <a:t>U </a:t>
            </a:r>
            <a:r>
              <a:rPr lang="en-US" dirty="0" smtClean="0">
                <a:cs typeface="Arial" charset="0"/>
                <a:sym typeface="Wingdings" pitchFamily="2" charset="2"/>
              </a:rPr>
              <a:t>Z</a:t>
            </a:r>
            <a:endParaRPr lang="en-US" dirty="0">
              <a:cs typeface="Arial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cs typeface="Arial" charset="0"/>
                <a:sym typeface="Wingdings" pitchFamily="2" charset="2"/>
              </a:rPr>
              <a:t>		Until X</a:t>
            </a:r>
            <a:r>
              <a:rPr lang="en-US" baseline="30000" dirty="0">
                <a:cs typeface="Arial" charset="0"/>
                <a:sym typeface="Wingdings" pitchFamily="2" charset="2"/>
              </a:rPr>
              <a:t>+</a:t>
            </a:r>
            <a:r>
              <a:rPr lang="en-US" dirty="0">
                <a:cs typeface="Arial" charset="0"/>
                <a:sym typeface="Wingdings" pitchFamily="2" charset="2"/>
              </a:rPr>
              <a:t> does not change. </a:t>
            </a:r>
            <a:r>
              <a:rPr lang="en-US" baseline="30000" dirty="0">
                <a:cs typeface="Arial" charset="0"/>
                <a:sym typeface="Wingdings" pitchFamily="2" charset="2"/>
              </a:rPr>
              <a:t> 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End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7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dirty="0" smtClean="0"/>
              <a:t>Example: 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00150"/>
            <a:ext cx="8305800" cy="3657600"/>
          </a:xfrm>
        </p:spPr>
        <p:txBody>
          <a:bodyPr>
            <a:normAutofit lnSpcReduction="10000"/>
          </a:bodyPr>
          <a:lstStyle/>
          <a:p>
            <a:pPr marL="971550" lvl="1" indent="-514350">
              <a:buNone/>
            </a:pPr>
            <a:r>
              <a:rPr lang="en-US" dirty="0" smtClean="0"/>
              <a:t>Let R={A,B,C,D,E} </a:t>
            </a:r>
          </a:p>
          <a:p>
            <a:pPr marL="971550" lvl="1" indent="-514350">
              <a:buNone/>
            </a:pP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 </a:t>
            </a:r>
            <a:r>
              <a:rPr lang="en-US" dirty="0" smtClean="0"/>
              <a:t>A -&gt; B , </a:t>
            </a:r>
            <a:r>
              <a:rPr lang="en-US" dirty="0"/>
              <a:t>A -&gt; C</a:t>
            </a:r>
            <a:r>
              <a:rPr lang="en-US" dirty="0" smtClean="0"/>
              <a:t>; B -&gt; D; C -&gt; D; D -&gt; E }</a:t>
            </a:r>
          </a:p>
          <a:p>
            <a:pPr marL="971550" lvl="1" indent="-514350">
              <a:buNone/>
            </a:pPr>
            <a:r>
              <a:rPr lang="en-US" dirty="0" smtClean="0"/>
              <a:t>Find A</a:t>
            </a:r>
            <a:r>
              <a:rPr lang="en-US" baseline="30000" dirty="0" smtClean="0"/>
              <a:t>+</a:t>
            </a:r>
          </a:p>
          <a:p>
            <a:pPr marL="971550" lvl="1" indent="-514350">
              <a:buNone/>
            </a:pPr>
            <a:r>
              <a:rPr lang="en-US" dirty="0" smtClean="0"/>
              <a:t>Step-1: A</a:t>
            </a:r>
            <a:r>
              <a:rPr lang="en-US" baseline="30000" dirty="0" smtClean="0"/>
              <a:t>+</a:t>
            </a:r>
            <a:r>
              <a:rPr lang="en-US" dirty="0" smtClean="0"/>
              <a:t>  = { A }	</a:t>
            </a:r>
          </a:p>
          <a:p>
            <a:pPr marL="971550" lvl="1" indent="-514350">
              <a:buNone/>
            </a:pPr>
            <a:r>
              <a:rPr lang="en-US" dirty="0" smtClean="0"/>
              <a:t>Step-2: A</a:t>
            </a:r>
            <a:r>
              <a:rPr lang="en-US" baseline="30000" dirty="0" smtClean="0"/>
              <a:t>+ </a:t>
            </a:r>
            <a:r>
              <a:rPr lang="en-US" dirty="0" smtClean="0"/>
              <a:t> = { A , B , C}</a:t>
            </a:r>
          </a:p>
          <a:p>
            <a:pPr marL="971550" lvl="1" indent="-514350">
              <a:buNone/>
            </a:pPr>
            <a:r>
              <a:rPr lang="en-US" dirty="0" smtClean="0"/>
              <a:t>Step-3: A</a:t>
            </a:r>
            <a:r>
              <a:rPr lang="en-US" baseline="30000" dirty="0" smtClean="0"/>
              <a:t>+ </a:t>
            </a:r>
            <a:r>
              <a:rPr lang="en-US" dirty="0" smtClean="0"/>
              <a:t> = { A , B, C, D}</a:t>
            </a:r>
          </a:p>
          <a:p>
            <a:pPr marL="971550" lvl="1" indent="-514350">
              <a:buNone/>
            </a:pPr>
            <a:r>
              <a:rPr lang="en-US" dirty="0" smtClean="0"/>
              <a:t>Step-4: A</a:t>
            </a:r>
            <a:r>
              <a:rPr lang="en-US" baseline="30000" dirty="0" smtClean="0"/>
              <a:t>+</a:t>
            </a:r>
            <a:r>
              <a:rPr lang="en-US" dirty="0" smtClean="0"/>
              <a:t>  = { A , B, C, D}</a:t>
            </a:r>
          </a:p>
          <a:p>
            <a:pPr marL="971550" lvl="1" indent="-514350">
              <a:buNone/>
            </a:pPr>
            <a:r>
              <a:rPr lang="en-US" dirty="0" smtClean="0"/>
              <a:t>Step-5: A</a:t>
            </a:r>
            <a:r>
              <a:rPr lang="en-US" baseline="30000" dirty="0" smtClean="0"/>
              <a:t>+</a:t>
            </a:r>
            <a:r>
              <a:rPr lang="en-US" dirty="0" smtClean="0"/>
              <a:t>  = { A , B, C, D, E}</a:t>
            </a:r>
          </a:p>
          <a:p>
            <a:pPr marL="971550" lvl="1" indent="-514350">
              <a:buNone/>
            </a:pPr>
            <a:r>
              <a:rPr lang="en-US" dirty="0" smtClean="0"/>
              <a:t>Similarly find B</a:t>
            </a:r>
            <a:r>
              <a:rPr lang="en-US" baseline="30000" dirty="0" smtClean="0"/>
              <a:t>+</a:t>
            </a:r>
            <a:r>
              <a:rPr lang="en-US" dirty="0" smtClean="0"/>
              <a:t>, C</a:t>
            </a:r>
            <a:r>
              <a:rPr lang="en-US" baseline="30000" dirty="0" smtClean="0"/>
              <a:t>+</a:t>
            </a:r>
            <a:r>
              <a:rPr lang="en-US" dirty="0" smtClean="0"/>
              <a:t>, D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</a:p>
          <a:p>
            <a:pPr marL="971550" lvl="1" indent="-514350">
              <a:buNone/>
            </a:pPr>
            <a:endParaRPr lang="en-US" dirty="0" smtClean="0"/>
          </a:p>
          <a:p>
            <a:pPr marL="971550" lvl="1" indent="-514350">
              <a:buNone/>
            </a:pPr>
            <a:endParaRPr lang="en-US" dirty="0" smtClean="0"/>
          </a:p>
          <a:p>
            <a:pPr marL="971550" lvl="1" indent="-514350">
              <a:buNone/>
            </a:pPr>
            <a:endParaRPr lang="en-US" dirty="0" smtClean="0"/>
          </a:p>
          <a:p>
            <a:pPr marL="971550" lvl="1" indent="-514350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7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047750"/>
            <a:ext cx="7772400" cy="3429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R(A, B, C, G, H, I)</a:t>
            </a:r>
          </a:p>
          <a:p>
            <a:pPr>
              <a:buNone/>
            </a:pP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B, A  C, CG  H, CG  I, B  </a:t>
            </a:r>
            <a:r>
              <a:rPr lang="en-US" dirty="0" smtClean="0">
                <a:sym typeface="Wingdings" pitchFamily="2" charset="2"/>
              </a:rPr>
              <a:t>H},  </a:t>
            </a:r>
          </a:p>
          <a:p>
            <a:pPr>
              <a:buNone/>
            </a:pPr>
            <a:r>
              <a:rPr lang="en-US" dirty="0" smtClean="0"/>
              <a:t>Find out (i) A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en-US" dirty="0" smtClean="0"/>
              <a:t>&amp; (ii) (AG)</a:t>
            </a:r>
            <a:r>
              <a:rPr lang="en-US" baseline="30000" dirty="0" smtClean="0"/>
              <a:t>+</a:t>
            </a:r>
          </a:p>
          <a:p>
            <a:pPr>
              <a:buNone/>
            </a:pP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6846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Closure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085850"/>
            <a:ext cx="8382000" cy="36957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R(A, B, C, G, H, I)</a:t>
            </a:r>
          </a:p>
          <a:p>
            <a:pPr>
              <a:buNone/>
            </a:pP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A  C, CG  H, CG  I, B  H},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</a:t>
            </a:r>
            <a:r>
              <a:rPr lang="en-US" baseline="30000" dirty="0"/>
              <a:t>+ </a:t>
            </a:r>
            <a:r>
              <a:rPr lang="en-US" dirty="0"/>
              <a:t>= A</a:t>
            </a:r>
          </a:p>
          <a:p>
            <a:pPr>
              <a:buNone/>
            </a:pPr>
            <a:r>
              <a:rPr lang="en-US" dirty="0"/>
              <a:t>Since A </a:t>
            </a:r>
            <a:r>
              <a:rPr lang="en-US" dirty="0">
                <a:sym typeface="Wingdings" pitchFamily="2" charset="2"/>
              </a:rPr>
              <a:t> B so </a:t>
            </a:r>
            <a:r>
              <a:rPr lang="en-US" dirty="0"/>
              <a:t>A</a:t>
            </a:r>
            <a:r>
              <a:rPr lang="en-US" baseline="30000" dirty="0"/>
              <a:t>+ </a:t>
            </a:r>
            <a:r>
              <a:rPr lang="en-US" dirty="0"/>
              <a:t>= AB</a:t>
            </a:r>
          </a:p>
          <a:p>
            <a:pPr>
              <a:buNone/>
            </a:pPr>
            <a:r>
              <a:rPr lang="en-US" dirty="0"/>
              <a:t>Since A </a:t>
            </a:r>
            <a:r>
              <a:rPr lang="en-US" dirty="0">
                <a:sym typeface="Wingdings" pitchFamily="2" charset="2"/>
              </a:rPr>
              <a:t> C so </a:t>
            </a:r>
            <a:r>
              <a:rPr lang="en-US" dirty="0"/>
              <a:t>A</a:t>
            </a:r>
            <a:r>
              <a:rPr lang="en-US" baseline="30000" dirty="0"/>
              <a:t>+ </a:t>
            </a:r>
            <a:r>
              <a:rPr lang="en-US" dirty="0"/>
              <a:t>= ABC</a:t>
            </a:r>
          </a:p>
          <a:p>
            <a:pPr>
              <a:buNone/>
            </a:pPr>
            <a:r>
              <a:rPr lang="en-US" dirty="0"/>
              <a:t>Consider CG </a:t>
            </a:r>
            <a:r>
              <a:rPr lang="en-US" dirty="0">
                <a:sym typeface="Wingdings" pitchFamily="2" charset="2"/>
              </a:rPr>
              <a:t> H, CG is not a subset of 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so 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remains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unaltered</a:t>
            </a:r>
            <a:r>
              <a:rPr lang="en-US" baseline="30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/>
              <a:t>Consider CG </a:t>
            </a:r>
            <a:r>
              <a:rPr lang="en-US" dirty="0">
                <a:sym typeface="Wingdings" pitchFamily="2" charset="2"/>
              </a:rPr>
              <a:t> I, CG is not a subset of A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so 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remains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unaltered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Consider B  H, B is a subset of 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so 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 smtClean="0">
                <a:sym typeface="Wingdings" pitchFamily="2" charset="2"/>
              </a:rPr>
              <a:t>ABCH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723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Closure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137160" indent="0">
              <a:buNone/>
            </a:pPr>
            <a:r>
              <a:rPr lang="en-US" dirty="0"/>
              <a:t>R(A, B, C, G, H, I)</a:t>
            </a:r>
          </a:p>
          <a:p>
            <a:pPr marL="137160" indent="0">
              <a:buNone/>
            </a:pP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A  C, CG  H, CG  I, B  H},  </a:t>
            </a:r>
            <a:endParaRPr lang="en-US" dirty="0" smtClean="0"/>
          </a:p>
          <a:p>
            <a:pPr marL="137160" indent="0">
              <a:buNone/>
            </a:pPr>
            <a:r>
              <a:rPr lang="en-US" dirty="0" smtClean="0"/>
              <a:t>(AG)</a:t>
            </a:r>
            <a:r>
              <a:rPr lang="en-US" baseline="30000" dirty="0" smtClean="0"/>
              <a:t>+</a:t>
            </a:r>
            <a:r>
              <a:rPr lang="en-US" dirty="0" smtClean="0"/>
              <a:t> = AG</a:t>
            </a:r>
          </a:p>
          <a:p>
            <a:pPr marL="137160" indent="0">
              <a:buNone/>
            </a:pPr>
            <a:r>
              <a:rPr lang="en-US" dirty="0"/>
              <a:t>	</a:t>
            </a:r>
            <a:r>
              <a:rPr lang="en-US" dirty="0" smtClean="0"/>
              <a:t>= AGB  ( because of A </a:t>
            </a:r>
            <a:r>
              <a:rPr lang="en-US" dirty="0" smtClean="0">
                <a:sym typeface="Wingdings" pitchFamily="2" charset="2"/>
              </a:rPr>
              <a:t> B)</a:t>
            </a:r>
          </a:p>
          <a:p>
            <a:pPr marL="137160" indent="0"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= AGBC (because of A  C)</a:t>
            </a:r>
          </a:p>
          <a:p>
            <a:pPr marL="137160" indent="0"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= AGBCH </a:t>
            </a:r>
            <a:r>
              <a:rPr lang="en-US" dirty="0">
                <a:sym typeface="Wingdings" pitchFamily="2" charset="2"/>
              </a:rPr>
              <a:t>(because </a:t>
            </a:r>
            <a:r>
              <a:rPr lang="en-US" dirty="0" smtClean="0">
                <a:sym typeface="Wingdings" pitchFamily="2" charset="2"/>
              </a:rPr>
              <a:t>of CG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H)</a:t>
            </a:r>
          </a:p>
          <a:p>
            <a:pPr marL="137160" indent="0"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= AGBCHI </a:t>
            </a:r>
            <a:r>
              <a:rPr lang="en-US" dirty="0">
                <a:sym typeface="Wingdings" pitchFamily="2" charset="2"/>
              </a:rPr>
              <a:t>(because </a:t>
            </a:r>
            <a:r>
              <a:rPr lang="en-US" dirty="0" smtClean="0">
                <a:sym typeface="Wingdings" pitchFamily="2" charset="2"/>
              </a:rPr>
              <a:t>of CG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I)</a:t>
            </a:r>
          </a:p>
          <a:p>
            <a:pPr marL="137160" indent="0">
              <a:buNone/>
            </a:pP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which remains unaltered despite B  H</a:t>
            </a:r>
          </a:p>
          <a:p>
            <a:pPr marL="137160" indent="0">
              <a:buNone/>
            </a:pPr>
            <a:r>
              <a:rPr lang="en-US" dirty="0" smtClean="0">
                <a:sym typeface="Wingdings" pitchFamily="2" charset="2"/>
              </a:rPr>
              <a:t>(AG)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R</a:t>
            </a:r>
            <a:endParaRPr lang="en-US" dirty="0">
              <a:sym typeface="Wingdings" pitchFamily="2" charset="2"/>
            </a:endParaRPr>
          </a:p>
          <a:p>
            <a:pPr marL="137160" indent="0">
              <a:buNone/>
            </a:pPr>
            <a:endParaRPr lang="en-US" dirty="0">
              <a:sym typeface="Wingdings" pitchFamily="2" charset="2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95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Super Key &amp; 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the closure of the attributes/set of attributes determines all the attributes of the relation then it is the super key</a:t>
            </a:r>
          </a:p>
          <a:p>
            <a:r>
              <a:rPr lang="en-US" dirty="0" smtClean="0"/>
              <a:t>Since (AG)</a:t>
            </a:r>
            <a:r>
              <a:rPr lang="en-US" baseline="30000" dirty="0" smtClean="0"/>
              <a:t>+</a:t>
            </a:r>
            <a:r>
              <a:rPr lang="en-US" dirty="0" smtClean="0"/>
              <a:t> = R hence </a:t>
            </a:r>
            <a:r>
              <a:rPr lang="en-US" dirty="0" smtClean="0">
                <a:solidFill>
                  <a:srgbClr val="FF0000"/>
                </a:solidFill>
              </a:rPr>
              <a:t>AG is a super key of R</a:t>
            </a:r>
          </a:p>
          <a:p>
            <a:r>
              <a:rPr lang="en-US" dirty="0" smtClean="0"/>
              <a:t>To find out whether it is a key, we have seen that A</a:t>
            </a:r>
            <a:r>
              <a:rPr lang="en-US" baseline="30000" dirty="0" smtClean="0"/>
              <a:t>+ </a:t>
            </a:r>
            <a:r>
              <a:rPr lang="en-US" dirty="0" smtClean="0"/>
              <a:t>≠ R &amp; also note that G</a:t>
            </a:r>
            <a:r>
              <a:rPr lang="en-US" baseline="30000" dirty="0" smtClean="0"/>
              <a:t>+</a:t>
            </a:r>
            <a:r>
              <a:rPr lang="en-US" dirty="0" smtClean="0"/>
              <a:t> ≠ R</a:t>
            </a:r>
          </a:p>
          <a:p>
            <a:r>
              <a:rPr lang="en-US" dirty="0" smtClean="0"/>
              <a:t>So </a:t>
            </a:r>
            <a:r>
              <a:rPr lang="en-US" dirty="0" smtClean="0">
                <a:solidFill>
                  <a:srgbClr val="FF0000"/>
                </a:solidFill>
              </a:rPr>
              <a:t>AG is a key of 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If X is a subset of a relation schema R then X is a super key of R if X</a:t>
            </a:r>
            <a:r>
              <a:rPr lang="en-US" baseline="30000" dirty="0" smtClean="0">
                <a:solidFill>
                  <a:srgbClr val="FF0000"/>
                </a:solidFill>
              </a:rPr>
              <a:t>+ </a:t>
            </a:r>
            <a:r>
              <a:rPr lang="en-US" dirty="0" smtClean="0">
                <a:solidFill>
                  <a:srgbClr val="FF0000"/>
                </a:solidFill>
              </a:rPr>
              <a:t>= 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4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71500">
              <a:buNone/>
            </a:pPr>
            <a:r>
              <a:rPr lang="en-US" dirty="0"/>
              <a:t>Input:  A relation schema R and a set of functional</a:t>
            </a:r>
          </a:p>
          <a:p>
            <a:pPr marL="571500" indent="-571500">
              <a:buNone/>
            </a:pPr>
            <a:r>
              <a:rPr lang="en-US" dirty="0"/>
              <a:t>dependencies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on the attributes of R. </a:t>
            </a:r>
          </a:p>
          <a:p>
            <a:pPr marL="0" indent="0">
              <a:buNone/>
            </a:pPr>
            <a:r>
              <a:rPr lang="en-US" dirty="0" smtClean="0"/>
              <a:t>1. Set </a:t>
            </a:r>
            <a:r>
              <a:rPr lang="en-US" dirty="0"/>
              <a:t>K := R;</a:t>
            </a:r>
          </a:p>
          <a:p>
            <a:pPr marL="0" indent="0">
              <a:buNone/>
            </a:pPr>
            <a:r>
              <a:rPr lang="en-US" dirty="0" smtClean="0"/>
              <a:t>2. For </a:t>
            </a:r>
            <a:r>
              <a:rPr lang="en-US" dirty="0"/>
              <a:t>each attribute A in K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Begin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Compute </a:t>
            </a:r>
            <a:r>
              <a:rPr lang="en-US" dirty="0"/>
              <a:t>(K – A)</a:t>
            </a:r>
            <a:r>
              <a:rPr lang="en-US" baseline="30000" dirty="0"/>
              <a:t>+ </a:t>
            </a:r>
            <a:r>
              <a:rPr lang="en-US" dirty="0"/>
              <a:t>with respect to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(K – A)</a:t>
            </a:r>
            <a:r>
              <a:rPr lang="en-US" baseline="30000" dirty="0">
                <a:solidFill>
                  <a:srgbClr val="FF0000"/>
                </a:solidFill>
              </a:rPr>
              <a:t>+ </a:t>
            </a:r>
            <a:r>
              <a:rPr lang="en-US" dirty="0">
                <a:solidFill>
                  <a:srgbClr val="FF0000"/>
                </a:solidFill>
              </a:rPr>
              <a:t>contains all the attributes in R,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smtClean="0"/>
              <a:t>	then </a:t>
            </a:r>
            <a:r>
              <a:rPr lang="en-US" dirty="0"/>
              <a:t>set K := K – {A};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End.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4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R(A</a:t>
            </a:r>
            <a:r>
              <a:rPr lang="en-US" dirty="0"/>
              <a:t>, B, C, D, E</a:t>
            </a:r>
            <a:r>
              <a:rPr lang="en-US" dirty="0" smtClean="0"/>
              <a:t>) &amp;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 = {</a:t>
            </a:r>
            <a:r>
              <a:rPr lang="en-US" dirty="0"/>
              <a:t>A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C, </a:t>
            </a:r>
            <a:r>
              <a:rPr lang="en-US" dirty="0" smtClean="0"/>
              <a:t>C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D, B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E}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 smtClean="0"/>
              <a:t>Find </a:t>
            </a:r>
            <a:r>
              <a:rPr lang="en-US" dirty="0"/>
              <a:t>out a key of R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 smtClean="0"/>
              <a:t>Answer: Key = AB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Initialize K := ABCDE.</a:t>
            </a:r>
          </a:p>
          <a:p>
            <a:pPr marL="0" indent="0">
              <a:buNone/>
            </a:pPr>
            <a:r>
              <a:rPr lang="en-US" dirty="0"/>
              <a:t>Suppose that we remove A from ABCDE and compute (BCDE)</a:t>
            </a:r>
            <a:r>
              <a:rPr lang="en-US" baseline="30000" dirty="0"/>
              <a:t>+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We find that (BCDE)</a:t>
            </a:r>
            <a:r>
              <a:rPr lang="en-US" baseline="30000" dirty="0"/>
              <a:t>+ </a:t>
            </a:r>
            <a:r>
              <a:rPr lang="en-US" dirty="0"/>
              <a:t>=</a:t>
            </a:r>
            <a:r>
              <a:rPr lang="en-US" baseline="30000" dirty="0"/>
              <a:t> </a:t>
            </a:r>
            <a:r>
              <a:rPr lang="en-US" dirty="0"/>
              <a:t>(BCDE)</a:t>
            </a:r>
            <a:r>
              <a:rPr lang="en-US" baseline="30000" dirty="0"/>
              <a:t> </a:t>
            </a:r>
            <a:r>
              <a:rPr lang="en-US" dirty="0"/>
              <a:t>≠ R and hence A cannot be</a:t>
            </a:r>
          </a:p>
          <a:p>
            <a:pPr marL="0" indent="0">
              <a:buNone/>
            </a:pPr>
            <a:r>
              <a:rPr lang="en-US" dirty="0"/>
              <a:t>removed from ABCDE. </a:t>
            </a:r>
          </a:p>
          <a:p>
            <a:pPr marL="0" indent="0">
              <a:buNone/>
            </a:pPr>
            <a:r>
              <a:rPr lang="en-US" dirty="0"/>
              <a:t>Suppose that we remove B from ABCDE and compute (ACDE)</a:t>
            </a:r>
            <a:r>
              <a:rPr lang="en-US" baseline="30000" dirty="0"/>
              <a:t>+</a:t>
            </a:r>
            <a:r>
              <a:rPr lang="en-US" dirty="0"/>
              <a:t>.</a:t>
            </a:r>
            <a:r>
              <a:rPr lang="en-US" baseline="-25000" dirty="0"/>
              <a:t> </a:t>
            </a:r>
          </a:p>
          <a:p>
            <a:pPr marL="0" indent="0">
              <a:buNone/>
            </a:pPr>
            <a:r>
              <a:rPr lang="en-US" dirty="0"/>
              <a:t>We find that (ACDE)</a:t>
            </a:r>
            <a:r>
              <a:rPr lang="en-US" baseline="30000" dirty="0"/>
              <a:t>+ </a:t>
            </a:r>
            <a:r>
              <a:rPr lang="en-US" dirty="0"/>
              <a:t>= ACDE ≠ R and hence B too cannot be</a:t>
            </a:r>
          </a:p>
          <a:p>
            <a:pPr marL="0" indent="0">
              <a:buNone/>
            </a:pPr>
            <a:r>
              <a:rPr lang="en-US" dirty="0"/>
              <a:t>removed from ABCDE. </a:t>
            </a:r>
          </a:p>
          <a:p>
            <a:pPr marL="0" indent="0">
              <a:buNone/>
            </a:pPr>
            <a:r>
              <a:rPr lang="en-US" dirty="0"/>
              <a:t>Suppose that we remove C from ABCDE and compute (ABDE)</a:t>
            </a:r>
            <a:r>
              <a:rPr lang="en-US" baseline="30000" dirty="0"/>
              <a:t>+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We find that (ABDE)</a:t>
            </a:r>
            <a:r>
              <a:rPr lang="en-US" baseline="30000" dirty="0"/>
              <a:t>+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ABDEC = R and hence C can be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removed from ABCDE</a:t>
            </a:r>
            <a:r>
              <a:rPr lang="en-US" dirty="0"/>
              <a:t>.  </a:t>
            </a:r>
            <a:r>
              <a:rPr lang="en-US" dirty="0">
                <a:solidFill>
                  <a:srgbClr val="FF0000"/>
                </a:solidFill>
              </a:rPr>
              <a:t>So K is now reduced to ABDE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1950"/>
            <a:ext cx="4144963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17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71550"/>
            <a:ext cx="7772400" cy="3429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Suppose that we remove D from ABDE </a:t>
            </a:r>
            <a:r>
              <a:rPr lang="en-US" sz="2000" dirty="0" smtClean="0"/>
              <a:t>and   compute </a:t>
            </a:r>
            <a:r>
              <a:rPr lang="en-US" sz="2000" dirty="0"/>
              <a:t>(ABE)</a:t>
            </a:r>
            <a:r>
              <a:rPr lang="en-US" sz="2000" baseline="30000" dirty="0"/>
              <a:t>+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We find that (ABE)</a:t>
            </a:r>
            <a:r>
              <a:rPr lang="en-US" sz="2000" baseline="30000" dirty="0"/>
              <a:t>+</a:t>
            </a:r>
            <a:r>
              <a:rPr lang="en-US" sz="2000" dirty="0"/>
              <a:t> = ABECD = R and </a:t>
            </a:r>
            <a:r>
              <a:rPr lang="en-US" sz="2000" dirty="0">
                <a:solidFill>
                  <a:srgbClr val="FF0000"/>
                </a:solidFill>
              </a:rPr>
              <a:t>hence D can be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removed from ABDE. </a:t>
            </a:r>
            <a:r>
              <a:rPr lang="en-US" sz="2000" dirty="0"/>
              <a:t> So K is reduced to ABE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Suppose that we remove E </a:t>
            </a:r>
            <a:r>
              <a:rPr lang="en-US" sz="2000" dirty="0" smtClean="0"/>
              <a:t>from  ABE </a:t>
            </a:r>
            <a:r>
              <a:rPr lang="en-US" sz="2000" dirty="0"/>
              <a:t>and </a:t>
            </a:r>
            <a:r>
              <a:rPr lang="en-US" sz="2000" dirty="0" smtClean="0"/>
              <a:t>compute  (</a:t>
            </a:r>
            <a:r>
              <a:rPr lang="en-US" sz="2000" dirty="0"/>
              <a:t>AB)</a:t>
            </a:r>
            <a:r>
              <a:rPr lang="en-US" sz="2000" baseline="30000" dirty="0"/>
              <a:t>+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We find that (AB)</a:t>
            </a:r>
            <a:r>
              <a:rPr lang="en-US" sz="2000" baseline="30000" dirty="0"/>
              <a:t>+</a:t>
            </a:r>
            <a:r>
              <a:rPr lang="en-US" sz="2000" dirty="0"/>
              <a:t> = ABCDE = R and </a:t>
            </a:r>
            <a:r>
              <a:rPr lang="en-US" sz="2000" dirty="0">
                <a:solidFill>
                  <a:srgbClr val="FF0000"/>
                </a:solidFill>
              </a:rPr>
              <a:t>hence E can be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removed from ABE. 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FF0000"/>
                </a:solidFill>
              </a:rPr>
              <a:t>So a key of the relation schema R is AB.</a:t>
            </a:r>
          </a:p>
        </p:txBody>
      </p:sp>
    </p:spTree>
    <p:extLst>
      <p:ext uri="{BB962C8B-B14F-4D97-AF65-F5344CB8AC3E}">
        <p14:creationId xmlns:p14="http://schemas.microsoft.com/office/powerpoint/2010/main" val="188114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5979"/>
            <a:ext cx="8153400" cy="53697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Find the </a:t>
            </a:r>
            <a:r>
              <a:rPr lang="en-US" dirty="0" err="1" smtClean="0"/>
              <a:t>Superkeys</a:t>
            </a:r>
            <a:r>
              <a:rPr lang="en-US" dirty="0" smtClean="0"/>
              <a:t> and Candidate Keys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22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742950"/>
            <a:ext cx="6324600" cy="429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649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71550"/>
            <a:ext cx="8229600" cy="35433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R(A</a:t>
            </a:r>
            <a:r>
              <a:rPr lang="en-US" dirty="0"/>
              <a:t>, B, C, D, </a:t>
            </a:r>
            <a:r>
              <a:rPr lang="en-US" dirty="0" smtClean="0"/>
              <a:t>E, H) &amp;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 = {</a:t>
            </a:r>
            <a:r>
              <a:rPr lang="en-US" dirty="0"/>
              <a:t>A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B, BC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D, E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C,</a:t>
            </a:r>
            <a:r>
              <a:rPr lang="en-US" dirty="0"/>
              <a:t> </a:t>
            </a:r>
            <a:r>
              <a:rPr lang="en-US" dirty="0" smtClean="0"/>
              <a:t>D</a:t>
            </a:r>
            <a:r>
              <a:rPr lang="en-US" dirty="0" smtClean="0">
                <a:sym typeface="Wingdings" pitchFamily="2" charset="2"/>
              </a:rPr>
              <a:t>A</a:t>
            </a:r>
            <a:r>
              <a:rPr lang="en-US" dirty="0" smtClean="0"/>
              <a:t> }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 smtClean="0"/>
              <a:t>Find </a:t>
            </a:r>
            <a:r>
              <a:rPr lang="en-US" dirty="0"/>
              <a:t>out </a:t>
            </a:r>
            <a:r>
              <a:rPr lang="en-US" dirty="0" smtClean="0"/>
              <a:t>the candidate </a:t>
            </a:r>
            <a:r>
              <a:rPr lang="en-US" dirty="0"/>
              <a:t>key of R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9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24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3350"/>
            <a:ext cx="88392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40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R(A, B, C, D) &amp;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B, B  C, C  BD}. 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Find out </a:t>
            </a:r>
            <a:r>
              <a:rPr lang="en-US" dirty="0" smtClean="0">
                <a:sym typeface="Wingdings" pitchFamily="2" charset="2"/>
              </a:rPr>
              <a:t> candidate key(s</a:t>
            </a:r>
            <a:r>
              <a:rPr lang="en-US" dirty="0">
                <a:sym typeface="Wingdings" pitchFamily="2" charset="2"/>
              </a:rPr>
              <a:t>) of R</a:t>
            </a:r>
            <a:r>
              <a:rPr lang="en-US" dirty="0" smtClean="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295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ABCD</a:t>
            </a:r>
            <a:r>
              <a:rPr lang="en-US" baseline="30000" dirty="0" smtClean="0">
                <a:sym typeface="Wingdings" pitchFamily="2" charset="2"/>
              </a:rPr>
              <a:t>+ </a:t>
            </a:r>
            <a:r>
              <a:rPr lang="en-US" dirty="0" smtClean="0">
                <a:sym typeface="Wingdings" pitchFamily="2" charset="2"/>
              </a:rPr>
              <a:t>= R </a:t>
            </a: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ACD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R</a:t>
            </a:r>
            <a:endParaRPr lang="en-US" dirty="0" smtClean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AD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R</a:t>
            </a: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ABCD = R and so A is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B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BCD ≠ R and so B cannot be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C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CBD ≠ R and so C cannot be a key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The super keys are :  ABCD, ACD, AD, A</a:t>
            </a: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The minimal super key is the candidate key, so R has one minimal super key and it is A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8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R(A, B, C, D, E, G, H) &amp; </a:t>
            </a:r>
          </a:p>
          <a:p>
            <a:pPr marL="0" indent="0">
              <a:buNone/>
            </a:pP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</a:t>
            </a:r>
            <a:r>
              <a:rPr lang="en-US" dirty="0" smtClean="0"/>
              <a:t>A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B, B  ACE, </a:t>
            </a:r>
            <a:r>
              <a:rPr lang="en-US" dirty="0" smtClean="0">
                <a:sym typeface="Wingdings" pitchFamily="2" charset="2"/>
              </a:rPr>
              <a:t>C  </a:t>
            </a:r>
            <a:r>
              <a:rPr lang="en-US" dirty="0">
                <a:sym typeface="Wingdings" pitchFamily="2" charset="2"/>
              </a:rPr>
              <a:t>BGD, G  DH}. </a:t>
            </a:r>
            <a:endParaRPr lang="en-US" dirty="0" smtClean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Find out Candidate key(s) of R.</a:t>
            </a: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=AB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  ABCE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  ABCEGD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  ABCEGDH=R</a:t>
            </a:r>
            <a:endParaRPr lang="en-US" dirty="0">
              <a:sym typeface="Wingdings" pitchFamily="2" charset="2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9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ABCEGDH = R and so A is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B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BACEGDH = R &amp; so B is also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C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CBGDHAE = R and so C also is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G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GDH and so G is not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So there are three keys of R and they are A, B and C.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6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R(A, B, C, D, E) &amp; </a:t>
            </a:r>
          </a:p>
          <a:p>
            <a:pPr marL="0" indent="0">
              <a:buNone/>
            </a:pPr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B, B  A, B  C, D  A}. 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Find out key(s) of R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6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= ABC ≠ R so A cannot be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B</a:t>
            </a:r>
            <a:r>
              <a:rPr lang="en-US" baseline="30000" dirty="0">
                <a:sym typeface="Wingdings" pitchFamily="2" charset="2"/>
              </a:rPr>
              <a:t>+ </a:t>
            </a:r>
            <a:r>
              <a:rPr lang="en-US" dirty="0">
                <a:sym typeface="Wingdings" pitchFamily="2" charset="2"/>
              </a:rPr>
              <a:t>= BAC ≠ R, so B cannot be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D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DABC ≠ R and so D cannot be a key.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(DE)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DEABC = R and so DE is a key of 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4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Inference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 &amp; </a:t>
            </a:r>
            <a:r>
              <a:rPr lang="en-US" dirty="0" smtClean="0">
                <a:latin typeface="Script MT Bold" pitchFamily="66" charset="0"/>
              </a:rPr>
              <a:t>F</a:t>
            </a:r>
          </a:p>
          <a:p>
            <a:r>
              <a:rPr lang="en-US" dirty="0" smtClean="0"/>
              <a:t>X </a:t>
            </a:r>
            <a:r>
              <a:rPr lang="en-US" dirty="0" smtClean="0">
                <a:sym typeface="Wingdings" pitchFamily="2" charset="2"/>
              </a:rPr>
              <a:t> Y not a member of </a:t>
            </a:r>
            <a:r>
              <a:rPr lang="en-US" dirty="0" smtClean="0">
                <a:latin typeface="Script MT Bold" pitchFamily="66" charset="0"/>
              </a:rPr>
              <a:t>F</a:t>
            </a:r>
          </a:p>
          <a:p>
            <a:r>
              <a:rPr lang="en-US" dirty="0" smtClean="0"/>
              <a:t>Is it possible to infer X </a:t>
            </a:r>
            <a:r>
              <a:rPr lang="en-US" dirty="0" smtClean="0">
                <a:sym typeface="Wingdings" pitchFamily="2" charset="2"/>
              </a:rPr>
              <a:t> Y from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?</a:t>
            </a:r>
          </a:p>
          <a:p>
            <a:r>
              <a:rPr lang="en-US" dirty="0" smtClean="0"/>
              <a:t>Find out X</a:t>
            </a:r>
            <a:r>
              <a:rPr lang="en-US" baseline="30000" dirty="0" smtClean="0"/>
              <a:t>+ </a:t>
            </a:r>
            <a:r>
              <a:rPr lang="en-US" dirty="0" smtClean="0"/>
              <a:t>with respect to </a:t>
            </a:r>
            <a:r>
              <a:rPr lang="en-US" dirty="0" smtClean="0">
                <a:latin typeface="Script MT Bold" pitchFamily="66" charset="0"/>
              </a:rPr>
              <a:t>F</a:t>
            </a:r>
          </a:p>
          <a:p>
            <a:r>
              <a:rPr lang="en-US" dirty="0" smtClean="0"/>
              <a:t>If X</a:t>
            </a:r>
            <a:r>
              <a:rPr lang="en-US" baseline="30000" dirty="0" smtClean="0"/>
              <a:t>+</a:t>
            </a:r>
            <a:r>
              <a:rPr lang="en-US" dirty="0" smtClean="0"/>
              <a:t> contains Y then X </a:t>
            </a:r>
            <a:r>
              <a:rPr lang="en-US" dirty="0" smtClean="0">
                <a:sym typeface="Wingdings" pitchFamily="2" charset="2"/>
              </a:rPr>
              <a:t> Y can be inferred from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.</a:t>
            </a:r>
          </a:p>
          <a:p>
            <a:endParaRPr lang="en-US" dirty="0">
              <a:latin typeface="Script MT Bold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88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Script MT Bold" pitchFamily="66" charset="0"/>
              </a:rPr>
              <a:t>F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C, AC  D, E  AD, E  H}</a:t>
            </a:r>
          </a:p>
          <a:p>
            <a:r>
              <a:rPr lang="en-US" dirty="0">
                <a:sym typeface="Wingdings" pitchFamily="2" charset="2"/>
              </a:rPr>
              <a:t>A  </a:t>
            </a:r>
            <a:r>
              <a:rPr lang="en-US" dirty="0" smtClean="0">
                <a:sym typeface="Wingdings" pitchFamily="2" charset="2"/>
              </a:rPr>
              <a:t>CD – Can it be inferred from </a:t>
            </a:r>
            <a:r>
              <a:rPr lang="en-US" dirty="0">
                <a:latin typeface="Script MT Bold" pitchFamily="66" charset="0"/>
              </a:rPr>
              <a:t>F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 smtClean="0">
                <a:sym typeface="Wingdings" pitchFamily="2" charset="2"/>
              </a:rPr>
              <a:t>ACD</a:t>
            </a:r>
          </a:p>
          <a:p>
            <a:r>
              <a:rPr lang="en-US" dirty="0">
                <a:sym typeface="Wingdings" pitchFamily="2" charset="2"/>
              </a:rPr>
              <a:t>A  </a:t>
            </a:r>
            <a:r>
              <a:rPr lang="en-US" dirty="0" smtClean="0">
                <a:sym typeface="Wingdings" pitchFamily="2" charset="2"/>
              </a:rPr>
              <a:t>CD can be inferred </a:t>
            </a:r>
            <a:r>
              <a:rPr lang="en-US" dirty="0">
                <a:latin typeface="Script MT Bold" pitchFamily="66" charset="0"/>
              </a:rPr>
              <a:t>F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E  </a:t>
            </a:r>
            <a:r>
              <a:rPr lang="en-US" dirty="0" smtClean="0">
                <a:sym typeface="Wingdings" pitchFamily="2" charset="2"/>
              </a:rPr>
              <a:t>AH </a:t>
            </a:r>
            <a:r>
              <a:rPr lang="en-US" dirty="0">
                <a:sym typeface="Wingdings" pitchFamily="2" charset="2"/>
              </a:rPr>
              <a:t>can be </a:t>
            </a:r>
            <a:r>
              <a:rPr lang="en-US" dirty="0" smtClean="0">
                <a:sym typeface="Wingdings" pitchFamily="2" charset="2"/>
              </a:rPr>
              <a:t>inferred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dirty="0" smtClean="0"/>
              <a:t>,</a:t>
            </a:r>
            <a:r>
              <a:rPr lang="en-US" dirty="0" smtClean="0">
                <a:latin typeface="Script MT Bold" pitchFamily="66" charset="0"/>
              </a:rPr>
              <a:t> </a:t>
            </a:r>
            <a:r>
              <a:rPr lang="en-US" dirty="0" smtClean="0"/>
              <a:t>because E</a:t>
            </a:r>
            <a:r>
              <a:rPr lang="en-US" baseline="30000" dirty="0" smtClean="0"/>
              <a:t>+</a:t>
            </a:r>
            <a:r>
              <a:rPr lang="en-US" dirty="0" smtClean="0"/>
              <a:t> = </a:t>
            </a:r>
            <a:r>
              <a:rPr lang="en-US" dirty="0" smtClean="0"/>
              <a:t>EADCH</a:t>
            </a:r>
            <a:r>
              <a:rPr lang="en-US" dirty="0" smtClean="0">
                <a:latin typeface="Script MT Bold" pitchFamily="66" charset="0"/>
              </a:rPr>
              <a:t> 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2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Equivalence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R,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1</a:t>
            </a:r>
            <a:r>
              <a:rPr lang="en-US" dirty="0" smtClean="0"/>
              <a:t> &amp;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2</a:t>
            </a:r>
          </a:p>
          <a:p>
            <a:r>
              <a:rPr lang="en-US" dirty="0">
                <a:latin typeface="Script MT Bold" pitchFamily="66" charset="0"/>
              </a:rPr>
              <a:t>F</a:t>
            </a:r>
            <a:r>
              <a:rPr lang="en-US" baseline="-25000" dirty="0">
                <a:latin typeface="Script MT Bold" pitchFamily="66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≡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2</a:t>
            </a:r>
          </a:p>
          <a:p>
            <a:r>
              <a:rPr lang="en-US" dirty="0" smtClean="0"/>
              <a:t>Two sets of functional dependency are said to be equivalent </a:t>
            </a:r>
            <a:r>
              <a:rPr lang="en-US" dirty="0" smtClean="0">
                <a:solidFill>
                  <a:srgbClr val="FF0000"/>
                </a:solidFill>
              </a:rPr>
              <a:t>if every functional dependency of one set can be derived from the other set of functional dependency.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4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R(A, B, C, D),</a:t>
            </a: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Times New Roman" pitchFamily="18" charset="0"/>
              </a:rPr>
              <a:t>1</a:t>
            </a:r>
            <a:r>
              <a:rPr lang="en-US" dirty="0" smtClean="0"/>
              <a:t>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B  C, AC  D</a:t>
            </a:r>
            <a:r>
              <a:rPr lang="en-US" dirty="0" smtClean="0">
                <a:sym typeface="Wingdings" pitchFamily="2" charset="2"/>
              </a:rPr>
              <a:t>},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latin typeface="Times New Roman" pitchFamily="18" charset="0"/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= {A  B, B  C, A  D</a:t>
            </a:r>
            <a:r>
              <a:rPr lang="en-US" dirty="0" smtClean="0">
                <a:sym typeface="Wingdings" pitchFamily="2" charset="2"/>
              </a:rPr>
              <a:t>}.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sym typeface="Wingdings" pitchFamily="2" charset="2"/>
              </a:rPr>
              <a:t>Are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equivalent?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8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find that the functional dependency A </a:t>
            </a:r>
            <a:r>
              <a:rPr lang="en-US" dirty="0">
                <a:sym typeface="Wingdings" pitchFamily="2" charset="2"/>
              </a:rPr>
              <a:t>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because</a:t>
            </a:r>
          </a:p>
          <a:p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with respect to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is</a:t>
            </a:r>
          </a:p>
          <a:p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:= A = AB = ABC = ABCD which contains D and hence A  D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r>
              <a:rPr lang="en-US" dirty="0">
                <a:sym typeface="Wingdings" pitchFamily="2" charset="2"/>
              </a:rPr>
              <a:t>Again AC 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because</a:t>
            </a:r>
          </a:p>
          <a:p>
            <a:r>
              <a:rPr lang="en-US" dirty="0">
                <a:sym typeface="Wingdings" pitchFamily="2" charset="2"/>
              </a:rPr>
              <a:t>(AC)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with respect to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is </a:t>
            </a:r>
          </a:p>
          <a:p>
            <a:r>
              <a:rPr lang="en-US" dirty="0">
                <a:sym typeface="Wingdings" pitchFamily="2" charset="2"/>
              </a:rPr>
              <a:t>(AC)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:= AC = ABC = ABCD which contains D and hence AC 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r>
              <a:rPr lang="en-US" dirty="0">
                <a:sym typeface="Wingdings" pitchFamily="2" charset="2"/>
              </a:rPr>
              <a:t>Hence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and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are equivalent.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0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R(A, B, C)</a:t>
            </a:r>
          </a:p>
          <a:p>
            <a:r>
              <a:rPr lang="en-US" dirty="0">
                <a:latin typeface="Script MT Bold" pitchFamily="66" charset="0"/>
              </a:rPr>
              <a:t>F</a:t>
            </a:r>
            <a:r>
              <a:rPr lang="en-US" baseline="-25000" dirty="0"/>
              <a:t>1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A  C}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= {A  B, B  C</a:t>
            </a:r>
            <a:r>
              <a:rPr lang="en-US" dirty="0" smtClean="0">
                <a:sym typeface="Wingdings" pitchFamily="2" charset="2"/>
              </a:rPr>
              <a:t>}</a:t>
            </a:r>
          </a:p>
          <a:p>
            <a:r>
              <a:rPr lang="en-US" dirty="0">
                <a:sym typeface="Wingdings" pitchFamily="2" charset="2"/>
              </a:rPr>
              <a:t>Are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equivalent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4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2476500"/>
          </a:xfrm>
        </p:spPr>
        <p:txBody>
          <a:bodyPr/>
          <a:lstStyle/>
          <a:p>
            <a:r>
              <a:rPr lang="en-US" dirty="0" smtClean="0"/>
              <a:t>The first functional dependency in the two sets are the same</a:t>
            </a:r>
          </a:p>
          <a:p>
            <a:r>
              <a:rPr lang="en-US" dirty="0" smtClean="0"/>
              <a:t>Consider A </a:t>
            </a:r>
            <a:r>
              <a:rPr lang="en-US" dirty="0" smtClean="0">
                <a:sym typeface="Wingdings" pitchFamily="2" charset="2"/>
              </a:rPr>
              <a:t> C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Compute </a:t>
            </a:r>
            <a:r>
              <a:rPr lang="en-US" dirty="0" smtClean="0"/>
              <a:t>A</a:t>
            </a:r>
            <a:r>
              <a:rPr lang="en-US" baseline="30000" dirty="0" smtClean="0"/>
              <a:t>+</a:t>
            </a:r>
            <a:r>
              <a:rPr lang="en-US" dirty="0" smtClean="0"/>
              <a:t> w.r.t.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</a:p>
          <a:p>
            <a:r>
              <a:rPr lang="en-US" dirty="0" smtClean="0"/>
              <a:t>A</a:t>
            </a:r>
            <a:r>
              <a:rPr lang="en-US" baseline="30000" dirty="0" smtClean="0"/>
              <a:t>+</a:t>
            </a:r>
            <a:r>
              <a:rPr lang="en-US" dirty="0" smtClean="0"/>
              <a:t> = ABC </a:t>
            </a:r>
          </a:p>
          <a:p>
            <a:r>
              <a:rPr lang="en-US" dirty="0" smtClean="0"/>
              <a:t>hence A </a:t>
            </a:r>
            <a:r>
              <a:rPr lang="en-US" dirty="0" smtClean="0">
                <a:sym typeface="Wingdings" pitchFamily="2" charset="2"/>
              </a:rPr>
              <a:t> C can be derived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32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Solution….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B </a:t>
            </a:r>
            <a:r>
              <a:rPr lang="en-US" dirty="0" smtClean="0">
                <a:sym typeface="Wingdings" pitchFamily="2" charset="2"/>
              </a:rPr>
              <a:t> C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</a:p>
          <a:p>
            <a:r>
              <a:rPr lang="en-US" dirty="0" smtClean="0">
                <a:sym typeface="Wingdings" pitchFamily="2" charset="2"/>
              </a:rPr>
              <a:t>Compute B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w.r.t.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B</a:t>
            </a:r>
            <a:r>
              <a:rPr lang="en-US" baseline="30000" dirty="0" smtClean="0">
                <a:sym typeface="Wingdings" pitchFamily="2" charset="2"/>
              </a:rPr>
              <a:t>+ </a:t>
            </a:r>
            <a:r>
              <a:rPr lang="en-US" dirty="0" smtClean="0">
                <a:sym typeface="Wingdings" pitchFamily="2" charset="2"/>
              </a:rPr>
              <a:t>= B which does not contain C</a:t>
            </a:r>
          </a:p>
          <a:p>
            <a:r>
              <a:rPr lang="en-US" dirty="0" smtClean="0">
                <a:sym typeface="Wingdings" pitchFamily="2" charset="2"/>
              </a:rPr>
              <a:t>Hence B  C cannot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So </a:t>
            </a: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and </a:t>
            </a: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are not equivalent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88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3195</TotalTime>
  <Words>1927</Words>
  <Application>Microsoft Office PowerPoint</Application>
  <PresentationFormat>On-screen Show (16:9)</PresentationFormat>
  <Paragraphs>270</Paragraphs>
  <Slides>38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Equity</vt:lpstr>
      <vt:lpstr>Functional dependency </vt:lpstr>
      <vt:lpstr>Functional dependency</vt:lpstr>
      <vt:lpstr>Functional Dependency</vt:lpstr>
      <vt:lpstr>Formal definition</vt:lpstr>
      <vt:lpstr>PowerPoint Presentation</vt:lpstr>
      <vt:lpstr>PowerPoint Presentation</vt:lpstr>
      <vt:lpstr>PowerPoint Presentation</vt:lpstr>
      <vt:lpstr>PowerPoint Presentation</vt:lpstr>
      <vt:lpstr>Armstrong’s rules (axioms)</vt:lpstr>
      <vt:lpstr>Additional rules</vt:lpstr>
      <vt:lpstr>Closure of a set of attributes</vt:lpstr>
      <vt:lpstr>Algorithm for computing X+</vt:lpstr>
      <vt:lpstr>Example: </vt:lpstr>
      <vt:lpstr>Example</vt:lpstr>
      <vt:lpstr>Closure</vt:lpstr>
      <vt:lpstr>Closure</vt:lpstr>
      <vt:lpstr>Super Key &amp; Key</vt:lpstr>
      <vt:lpstr>Key</vt:lpstr>
      <vt:lpstr>Example</vt:lpstr>
      <vt:lpstr>Key</vt:lpstr>
      <vt:lpstr>Key</vt:lpstr>
      <vt:lpstr>Find the Superkeys and Candidate Keys</vt:lpstr>
      <vt:lpstr>Example</vt:lpstr>
      <vt:lpstr>PowerPoint Presentation</vt:lpstr>
      <vt:lpstr>Example</vt:lpstr>
      <vt:lpstr>Key</vt:lpstr>
      <vt:lpstr>Example</vt:lpstr>
      <vt:lpstr>Key</vt:lpstr>
      <vt:lpstr>Example</vt:lpstr>
      <vt:lpstr>Key</vt:lpstr>
      <vt:lpstr>Inference</vt:lpstr>
      <vt:lpstr>Example</vt:lpstr>
      <vt:lpstr>Equivalence</vt:lpstr>
      <vt:lpstr>Example</vt:lpstr>
      <vt:lpstr>Solution</vt:lpstr>
      <vt:lpstr>Example</vt:lpstr>
      <vt:lpstr>Solution</vt:lpstr>
      <vt:lpstr>Solution….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dependency</dc:title>
  <dc:creator>Admin</dc:creator>
  <cp:lastModifiedBy>HP</cp:lastModifiedBy>
  <cp:revision>125</cp:revision>
  <dcterms:created xsi:type="dcterms:W3CDTF">2020-01-24T07:52:33Z</dcterms:created>
  <dcterms:modified xsi:type="dcterms:W3CDTF">2024-08-12T01:23:52Z</dcterms:modified>
</cp:coreProperties>
</file>