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81" r:id="rId3"/>
    <p:sldId id="290" r:id="rId4"/>
    <p:sldId id="291" r:id="rId5"/>
    <p:sldId id="316" r:id="rId6"/>
    <p:sldId id="292" r:id="rId7"/>
    <p:sldId id="324" r:id="rId8"/>
    <p:sldId id="293" r:id="rId9"/>
    <p:sldId id="294" r:id="rId10"/>
    <p:sldId id="288" r:id="rId11"/>
    <p:sldId id="315" r:id="rId12"/>
    <p:sldId id="298" r:id="rId13"/>
    <p:sldId id="299" r:id="rId14"/>
    <p:sldId id="300" r:id="rId15"/>
    <p:sldId id="301" r:id="rId16"/>
    <p:sldId id="311" r:id="rId17"/>
    <p:sldId id="312" r:id="rId18"/>
    <p:sldId id="313" r:id="rId19"/>
    <p:sldId id="302" r:id="rId20"/>
    <p:sldId id="303" r:id="rId21"/>
    <p:sldId id="304" r:id="rId22"/>
    <p:sldId id="297" r:id="rId23"/>
    <p:sldId id="305" r:id="rId24"/>
    <p:sldId id="264" r:id="rId25"/>
    <p:sldId id="265" r:id="rId26"/>
    <p:sldId id="266" r:id="rId27"/>
    <p:sldId id="282" r:id="rId28"/>
    <p:sldId id="268" r:id="rId29"/>
    <p:sldId id="269" r:id="rId30"/>
    <p:sldId id="283" r:id="rId31"/>
    <p:sldId id="314" r:id="rId32"/>
    <p:sldId id="285" r:id="rId33"/>
    <p:sldId id="274" r:id="rId34"/>
    <p:sldId id="317" r:id="rId35"/>
    <p:sldId id="275" r:id="rId36"/>
    <p:sldId id="276" r:id="rId37"/>
    <p:sldId id="277" r:id="rId38"/>
    <p:sldId id="278" r:id="rId39"/>
    <p:sldId id="319" r:id="rId40"/>
    <p:sldId id="322" r:id="rId41"/>
    <p:sldId id="323" r:id="rId42"/>
    <p:sldId id="320" r:id="rId43"/>
    <p:sldId id="321" r:id="rId44"/>
    <p:sldId id="318" r:id="rId45"/>
    <p:sldId id="325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65" d="100"/>
          <a:sy n="65" d="100"/>
        </p:scale>
        <p:origin x="-14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83C64-8A90-49B4-9F04-119FE0AB6B9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37857-10EF-4BD1-86F0-27532E4990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8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B2D1F-ED13-441D-8E1E-4F813734ED56}" type="slidenum">
              <a:rPr lang="en-GB" smtClean="0">
                <a:solidFill>
                  <a:prstClr val="black"/>
                </a:solidFill>
              </a:rPr>
              <a:pPr/>
              <a:t>10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566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37857-10EF-4BD1-86F0-27532E49909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11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B2D1F-ED13-441D-8E1E-4F813734ED56}" type="slidenum">
              <a:rPr lang="en-GB" smtClean="0">
                <a:solidFill>
                  <a:prstClr val="black"/>
                </a:solidFill>
              </a:rPr>
              <a:pPr/>
              <a:t>22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814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B2D1F-ED13-441D-8E1E-4F813734ED56}" type="slidenum">
              <a:rPr lang="en-GB" smtClean="0">
                <a:solidFill>
                  <a:prstClr val="black"/>
                </a:solidFill>
              </a:rPr>
              <a:pPr/>
              <a:t>23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814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36600-55B6-4714-A7A2-FC6E6482EC39}" type="datetime1">
              <a:rPr lang="en-US" smtClean="0"/>
              <a:t>7/30/2024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17A4-48C1-462B-9C28-EF181F3B607D}" type="datetime1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540E-6887-4EAC-ABBD-E51EB30A985A}" type="datetime1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94347-7758-4730-B599-21F39F4B553F}" type="datetime1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038C-DACC-46BD-8856-783170D9AE3B}" type="datetime1">
              <a:rPr lang="en-US" smtClean="0"/>
              <a:t>7/30/2024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1652C-2244-4F6B-8EB6-F42908B232DA}" type="datetime1">
              <a:rPr lang="en-US" smtClean="0"/>
              <a:t>7/30/2024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E0AD-6A54-48F4-A6B6-321DEB19DAA0}" type="datetime1">
              <a:rPr lang="en-US" smtClean="0"/>
              <a:t>7/30/2024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6A33-8B7A-4FFB-A9B7-B411C53A2FB8}" type="datetime1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26924-F318-40DA-A378-3A8B31ADD7FC}" type="datetime1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36EA-0F74-40E4-90BF-4A9CB483B449}" type="datetime1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A33BF-11EB-450E-8DFD-3653BE8B6F28}" type="datetime1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DA29C54-A7AD-4DA0-9BC2-E9F322082B50}" type="datetime1">
              <a:rPr lang="en-US" smtClean="0"/>
              <a:t>7/30/2024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91000"/>
            <a:ext cx="6400800" cy="1600200"/>
          </a:xfrm>
        </p:spPr>
        <p:txBody>
          <a:bodyPr/>
          <a:lstStyle/>
          <a:p>
            <a:r>
              <a:rPr lang="en-US" dirty="0" smtClean="0"/>
              <a:t>Dr. T. </a:t>
            </a:r>
            <a:r>
              <a:rPr lang="en-US" dirty="0" err="1" smtClean="0"/>
              <a:t>Joshva</a:t>
            </a:r>
            <a:r>
              <a:rPr lang="en-US" dirty="0" smtClean="0"/>
              <a:t> </a:t>
            </a:r>
            <a:r>
              <a:rPr lang="en-US" dirty="0" err="1" smtClean="0"/>
              <a:t>Devadas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Relationship in ER-Model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Entity Set</a:t>
            </a:r>
          </a:p>
          <a:p>
            <a:r>
              <a:rPr lang="en-US" dirty="0" smtClean="0"/>
              <a:t>Attributes and its types </a:t>
            </a:r>
          </a:p>
          <a:p>
            <a:r>
              <a:rPr lang="en-US" dirty="0" smtClean="0"/>
              <a:t>Mapping Cardinality</a:t>
            </a:r>
          </a:p>
          <a:p>
            <a:r>
              <a:rPr lang="en-US" dirty="0" smtClean="0"/>
              <a:t>Binary and Ternary </a:t>
            </a:r>
            <a:r>
              <a:rPr lang="en-US" dirty="0"/>
              <a:t>relationship</a:t>
            </a:r>
          </a:p>
          <a:p>
            <a:r>
              <a:rPr lang="en-US" dirty="0" smtClean="0"/>
              <a:t>Participation constraints</a:t>
            </a:r>
          </a:p>
          <a:p>
            <a:r>
              <a:rPr lang="en-US" dirty="0" smtClean="0"/>
              <a:t>Structural constraints</a:t>
            </a:r>
          </a:p>
          <a:p>
            <a:r>
              <a:rPr lang="en-US" dirty="0" smtClean="0"/>
              <a:t>Recursive relationship &amp; role name</a:t>
            </a:r>
          </a:p>
          <a:p>
            <a:r>
              <a:rPr lang="en-US" dirty="0" smtClean="0"/>
              <a:t>Weak entity set</a:t>
            </a:r>
          </a:p>
          <a:p>
            <a:r>
              <a:rPr lang="en-US" dirty="0" smtClean="0"/>
              <a:t>ER diagram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 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 entity set is a set of entities of the same type that share the same properties</a:t>
            </a:r>
            <a:r>
              <a:rPr lang="en-US" dirty="0" smtClean="0"/>
              <a:t>, or </a:t>
            </a:r>
            <a:r>
              <a:rPr lang="en-US" dirty="0"/>
              <a:t>attributes.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set of all people who are instructors at a given university, for example</a:t>
            </a:r>
            <a:r>
              <a:rPr lang="en-US" dirty="0" smtClean="0"/>
              <a:t>, can </a:t>
            </a:r>
            <a:r>
              <a:rPr lang="en-US" dirty="0"/>
              <a:t>be defined as the entity set instructor. </a:t>
            </a:r>
            <a:endParaRPr lang="en-US" dirty="0" smtClean="0"/>
          </a:p>
          <a:p>
            <a:r>
              <a:rPr lang="en-US" dirty="0" smtClean="0"/>
              <a:t>Similarly</a:t>
            </a:r>
            <a:r>
              <a:rPr lang="en-US" dirty="0"/>
              <a:t>, the entity set student </a:t>
            </a:r>
            <a:r>
              <a:rPr lang="en-US" dirty="0" smtClean="0"/>
              <a:t>might represent </a:t>
            </a:r>
            <a:r>
              <a:rPr lang="en-US" dirty="0"/>
              <a:t>the set of all students in the university.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6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/>
          <a:lstStyle/>
          <a:p>
            <a:r>
              <a:rPr lang="en-US" dirty="0"/>
              <a:t>An entity is represented by a set of attributes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Attributes are descriptive </a:t>
            </a:r>
            <a:r>
              <a:rPr lang="en-US" dirty="0" smtClean="0"/>
              <a:t>properties possessed </a:t>
            </a:r>
            <a:r>
              <a:rPr lang="en-US" dirty="0"/>
              <a:t>by each member of an entity set.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entity may have its own value for each attribute. </a:t>
            </a:r>
            <a:endParaRPr lang="en-US" dirty="0" smtClean="0"/>
          </a:p>
          <a:p>
            <a:r>
              <a:rPr lang="en-US" dirty="0" smtClean="0"/>
              <a:t>Possible attributes </a:t>
            </a:r>
            <a:r>
              <a:rPr lang="en-US" dirty="0"/>
              <a:t>of the </a:t>
            </a:r>
            <a:r>
              <a:rPr lang="en-US" i="1" dirty="0"/>
              <a:t>instructor </a:t>
            </a:r>
            <a:r>
              <a:rPr lang="en-US" dirty="0"/>
              <a:t>entity set are </a:t>
            </a:r>
            <a:endParaRPr lang="en-US" dirty="0" smtClean="0"/>
          </a:p>
          <a:p>
            <a:pPr marL="0" indent="0">
              <a:buNone/>
            </a:pPr>
            <a:endParaRPr lang="en-US" sz="1000" i="1" dirty="0"/>
          </a:p>
          <a:p>
            <a:pPr marL="0" indent="0">
              <a:buNone/>
            </a:pPr>
            <a:r>
              <a:rPr lang="en-US" i="1" dirty="0" smtClean="0"/>
              <a:t>	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 err="1"/>
              <a:t>dept</a:t>
            </a:r>
            <a:r>
              <a:rPr lang="en-US" i="1" dirty="0"/>
              <a:t> name</a:t>
            </a:r>
            <a:r>
              <a:rPr lang="en-US" dirty="0"/>
              <a:t>, and </a:t>
            </a:r>
            <a:r>
              <a:rPr lang="en-US" i="1" dirty="0"/>
              <a:t>salary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49" t="28939" r="33380" b="52739"/>
          <a:stretch/>
        </p:blipFill>
        <p:spPr bwMode="auto">
          <a:xfrm>
            <a:off x="2819400" y="4648200"/>
            <a:ext cx="3457184" cy="134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7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ER model Notations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698" y="990600"/>
            <a:ext cx="5835804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7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Relationship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relationship is an association among several entities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relationship set is a set </a:t>
            </a:r>
            <a:r>
              <a:rPr lang="en-US" dirty="0" smtClean="0"/>
              <a:t>of relationships </a:t>
            </a:r>
            <a:r>
              <a:rPr lang="en-US" dirty="0"/>
              <a:t>of the same type</a:t>
            </a:r>
            <a:r>
              <a:rPr lang="en-US" dirty="0" smtClean="0"/>
              <a:t>.</a:t>
            </a:r>
          </a:p>
          <a:p>
            <a:r>
              <a:rPr lang="en-US" dirty="0"/>
              <a:t>For example, we can define a relationship </a:t>
            </a:r>
            <a:r>
              <a:rPr lang="en-US" i="1" dirty="0"/>
              <a:t>advisor </a:t>
            </a:r>
            <a:r>
              <a:rPr lang="en-US" dirty="0"/>
              <a:t>that associates instructor Katz with student Shankar. </a:t>
            </a:r>
            <a:r>
              <a:rPr lang="en-US" dirty="0" smtClean="0"/>
              <a:t>This </a:t>
            </a:r>
            <a:r>
              <a:rPr lang="en-US" dirty="0"/>
              <a:t>relationship specifies that Katz is an advisor to student Shankar. </a:t>
            </a:r>
          </a:p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161773"/>
            <a:ext cx="452437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5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Associative Entities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 descr="Enrollment associative entity tab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124199"/>
            <a:ext cx="4705350" cy="33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rollment associative entity ER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24200"/>
            <a:ext cx="3571875" cy="282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09600" y="1371600"/>
            <a:ext cx="8229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Associative entities are used when you need a relationship to be involved in a relationship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For a normal many-to-many relationship between Student and Course, we would use just a diamond. However, if we want to associate Enrollment with Teacher, we can turn Enrollment into an associative entity</a:t>
            </a:r>
            <a:r>
              <a:rPr lang="en-US" dirty="0" smtClean="0"/>
              <a:t>.</a:t>
            </a:r>
          </a:p>
          <a:p>
            <a:r>
              <a:rPr lang="en-US" dirty="0"/>
              <a:t>	</a:t>
            </a:r>
            <a:r>
              <a:rPr lang="en-US" dirty="0" smtClean="0"/>
              <a:t>			         </a:t>
            </a:r>
            <a:r>
              <a:rPr lang="en-US" b="1" dirty="0" smtClean="0"/>
              <a:t>Physically the database looks like this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5019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 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Formally, a </a:t>
            </a:r>
            <a:r>
              <a:rPr lang="en-US" b="1" dirty="0"/>
              <a:t>relationship set </a:t>
            </a:r>
            <a:r>
              <a:rPr lang="en-US" dirty="0"/>
              <a:t>is a mathematical relation on </a:t>
            </a:r>
            <a:r>
              <a:rPr lang="en-US" i="1" dirty="0"/>
              <a:t>n </a:t>
            </a:r>
            <a:r>
              <a:rPr lang="en-US" dirty="0"/>
              <a:t>≥ 2 (possibly </a:t>
            </a:r>
            <a:r>
              <a:rPr lang="en-US" dirty="0" smtClean="0"/>
              <a:t>non distinct) entity </a:t>
            </a:r>
            <a:r>
              <a:rPr lang="en-US" dirty="0"/>
              <a:t>sets.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i="1" dirty="0"/>
              <a:t>E</a:t>
            </a:r>
            <a:r>
              <a:rPr lang="en-US" dirty="0"/>
              <a:t>1, </a:t>
            </a:r>
            <a:r>
              <a:rPr lang="en-US" i="1" dirty="0"/>
              <a:t>E</a:t>
            </a:r>
            <a:r>
              <a:rPr lang="en-US" dirty="0"/>
              <a:t>2,…, </a:t>
            </a:r>
            <a:r>
              <a:rPr lang="en-US" i="1" dirty="0" err="1"/>
              <a:t>En</a:t>
            </a:r>
            <a:r>
              <a:rPr lang="en-US" i="1" dirty="0"/>
              <a:t> </a:t>
            </a:r>
            <a:r>
              <a:rPr lang="en-US" dirty="0"/>
              <a:t>are entity sets, then a relationship set </a:t>
            </a:r>
            <a:r>
              <a:rPr lang="en-US" i="1" dirty="0"/>
              <a:t>R </a:t>
            </a:r>
            <a:r>
              <a:rPr lang="en-US" dirty="0"/>
              <a:t>is a </a:t>
            </a:r>
            <a:r>
              <a:rPr lang="en-US" dirty="0" smtClean="0"/>
              <a:t>subset </a:t>
            </a:r>
            <a:r>
              <a:rPr lang="en-IN" dirty="0" smtClean="0"/>
              <a:t>of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 {(</a:t>
            </a:r>
            <a:r>
              <a:rPr lang="en-IN" i="1" dirty="0"/>
              <a:t>e</a:t>
            </a:r>
            <a:r>
              <a:rPr lang="en-IN" dirty="0"/>
              <a:t>1, </a:t>
            </a:r>
            <a:r>
              <a:rPr lang="en-IN" i="1" dirty="0"/>
              <a:t>e</a:t>
            </a:r>
            <a:r>
              <a:rPr lang="en-IN" dirty="0"/>
              <a:t>2,…, </a:t>
            </a:r>
            <a:r>
              <a:rPr lang="en-IN" i="1" dirty="0" err="1"/>
              <a:t>en</a:t>
            </a:r>
            <a:r>
              <a:rPr lang="en-IN" dirty="0"/>
              <a:t>) | </a:t>
            </a:r>
            <a:r>
              <a:rPr lang="en-IN" i="1" dirty="0"/>
              <a:t>e</a:t>
            </a:r>
            <a:r>
              <a:rPr lang="en-IN" dirty="0"/>
              <a:t>1 ∈ </a:t>
            </a:r>
            <a:r>
              <a:rPr lang="en-IN" i="1" dirty="0"/>
              <a:t>E</a:t>
            </a:r>
            <a:r>
              <a:rPr lang="en-IN" dirty="0"/>
              <a:t>1, </a:t>
            </a:r>
            <a:r>
              <a:rPr lang="en-IN" i="1" dirty="0"/>
              <a:t>e</a:t>
            </a:r>
            <a:r>
              <a:rPr lang="en-IN" dirty="0"/>
              <a:t>2 ∈ </a:t>
            </a:r>
            <a:r>
              <a:rPr lang="en-IN" i="1" dirty="0"/>
              <a:t>E</a:t>
            </a:r>
            <a:r>
              <a:rPr lang="en-IN" dirty="0"/>
              <a:t>2,…, </a:t>
            </a:r>
            <a:r>
              <a:rPr lang="en-IN" i="1" dirty="0" err="1"/>
              <a:t>en</a:t>
            </a:r>
            <a:r>
              <a:rPr lang="en-IN" i="1" dirty="0"/>
              <a:t> </a:t>
            </a:r>
            <a:r>
              <a:rPr lang="en-IN" dirty="0"/>
              <a:t>∈ </a:t>
            </a:r>
            <a:r>
              <a:rPr lang="en-IN" i="1" dirty="0" err="1"/>
              <a:t>En</a:t>
            </a: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dirty="0" smtClean="0"/>
              <a:t>               where </a:t>
            </a:r>
            <a:r>
              <a:rPr lang="en-US" dirty="0"/>
              <a:t>(</a:t>
            </a:r>
            <a:r>
              <a:rPr lang="en-US" i="1" dirty="0"/>
              <a:t>e</a:t>
            </a:r>
            <a:r>
              <a:rPr lang="en-US" dirty="0"/>
              <a:t>1, </a:t>
            </a:r>
            <a:r>
              <a:rPr lang="en-US" i="1" dirty="0"/>
              <a:t>e</a:t>
            </a:r>
            <a:r>
              <a:rPr lang="en-US" dirty="0"/>
              <a:t>2,…, </a:t>
            </a:r>
            <a:r>
              <a:rPr lang="en-US" i="1" dirty="0" err="1"/>
              <a:t>en</a:t>
            </a:r>
            <a:r>
              <a:rPr lang="en-US" dirty="0"/>
              <a:t>) is a relationship instance.</a:t>
            </a:r>
          </a:p>
          <a:p>
            <a:r>
              <a:rPr lang="en-US" dirty="0"/>
              <a:t>The association between entity sets is referred to as participation; i.e., the </a:t>
            </a:r>
            <a:r>
              <a:rPr lang="en-US" dirty="0" smtClean="0"/>
              <a:t>entity </a:t>
            </a:r>
            <a:r>
              <a:rPr lang="en-IN" dirty="0" smtClean="0"/>
              <a:t>sets </a:t>
            </a:r>
            <a:r>
              <a:rPr lang="en-IN" i="1" dirty="0"/>
              <a:t>E</a:t>
            </a:r>
            <a:r>
              <a:rPr lang="en-IN" dirty="0"/>
              <a:t>1, </a:t>
            </a:r>
            <a:r>
              <a:rPr lang="en-IN" i="1" dirty="0"/>
              <a:t>E</a:t>
            </a:r>
            <a:r>
              <a:rPr lang="en-IN" dirty="0"/>
              <a:t>2,…, </a:t>
            </a:r>
            <a:r>
              <a:rPr lang="en-IN" i="1" dirty="0" err="1"/>
              <a:t>En</a:t>
            </a:r>
            <a:r>
              <a:rPr lang="en-IN" i="1" dirty="0"/>
              <a:t> </a:t>
            </a:r>
            <a:r>
              <a:rPr lang="en-IN" b="1" dirty="0"/>
              <a:t>participate</a:t>
            </a:r>
            <a:r>
              <a:rPr lang="en-IN" dirty="0"/>
              <a:t> in relationship set </a:t>
            </a:r>
            <a:r>
              <a:rPr lang="en-IN" i="1" dirty="0"/>
              <a:t>R</a:t>
            </a:r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7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indicators</a:t>
            </a:r>
            <a:endParaRPr lang="en-IN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81200"/>
            <a:ext cx="5064633" cy="228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2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95D7AAF-C424-40E9-A83B-7CDB4EEB1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373" y="2966070"/>
            <a:ext cx="4224131" cy="1543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8DA77C-4A95-401A-ACEA-F5BAB43E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04800"/>
            <a:ext cx="7886700" cy="681797"/>
          </a:xfrm>
        </p:spPr>
        <p:txBody>
          <a:bodyPr>
            <a:normAutofit fontScale="90000"/>
          </a:bodyPr>
          <a:lstStyle/>
          <a:p>
            <a:r>
              <a:rPr lang="en-US" dirty="0"/>
              <a:t>Degree of Relationship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C495A6-EEF6-48EB-BE05-BE57D2188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84" y="1245461"/>
            <a:ext cx="8296689" cy="4984267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Unary Relationship</a:t>
            </a:r>
          </a:p>
          <a:p>
            <a:pPr lvl="1"/>
            <a:r>
              <a:rPr lang="en-US" dirty="0"/>
              <a:t>Relationship among one entity set.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</a:t>
            </a:r>
            <a:r>
              <a:rPr lang="en-GB" dirty="0"/>
              <a:t>inary Relationship</a:t>
            </a:r>
          </a:p>
          <a:p>
            <a:pPr lvl="1"/>
            <a:r>
              <a:rPr lang="en-US" dirty="0"/>
              <a:t>R</a:t>
            </a:r>
            <a:r>
              <a:rPr lang="en-GB" dirty="0"/>
              <a:t>elationship among two </a:t>
            </a:r>
            <a:r>
              <a:rPr lang="en-GB" dirty="0" smtClean="0"/>
              <a:t>entities </a:t>
            </a:r>
            <a:r>
              <a:rPr lang="en-GB" dirty="0"/>
              <a:t>set.</a:t>
            </a: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</a:t>
            </a:r>
            <a:r>
              <a:rPr lang="en-GB" dirty="0"/>
              <a:t>ernary Relationship</a:t>
            </a:r>
          </a:p>
          <a:p>
            <a:pPr lvl="1"/>
            <a:r>
              <a:rPr lang="en-US" dirty="0"/>
              <a:t>R</a:t>
            </a:r>
            <a:r>
              <a:rPr lang="en-GB" dirty="0"/>
              <a:t>elationship among 3 entities set.</a:t>
            </a:r>
          </a:p>
          <a:p>
            <a:pPr lvl="1"/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</a:t>
            </a:r>
            <a:r>
              <a:rPr lang="en-GB" dirty="0"/>
              <a:t>-</a:t>
            </a:r>
            <a:r>
              <a:rPr lang="en-GB" dirty="0" err="1"/>
              <a:t>ary</a:t>
            </a:r>
            <a:r>
              <a:rPr lang="en-GB" dirty="0"/>
              <a:t> Relationship :</a:t>
            </a:r>
          </a:p>
          <a:p>
            <a:pPr lvl="1"/>
            <a:r>
              <a:rPr lang="en-US" dirty="0"/>
              <a:t>Relationship between n number of entities set.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F2E7592-DB3C-44EF-9E26-21E2D5C07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575" y="828675"/>
            <a:ext cx="3281466" cy="1828800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5076056" y="4594981"/>
            <a:ext cx="4114801" cy="1930363"/>
            <a:chOff x="4810540" y="4200528"/>
            <a:chExt cx="4114801" cy="1930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F0D75C41-91FC-4879-AAC5-43F4E49537A7}"/>
                </a:ext>
              </a:extLst>
            </p:cNvPr>
            <p:cNvSpPr/>
            <p:nvPr/>
          </p:nvSpPr>
          <p:spPr>
            <a:xfrm>
              <a:off x="4810540" y="4386469"/>
              <a:ext cx="974035" cy="58309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Professor</a:t>
              </a:r>
              <a:endParaRPr lang="en-GB" dirty="0">
                <a:solidFill>
                  <a:srgbClr val="00B050"/>
                </a:solidFill>
              </a:endParaRPr>
            </a:p>
          </p:txBody>
        </p:sp>
        <p:sp>
          <p:nvSpPr>
            <p:cNvPr id="8" name="Diamond 7">
              <a:extLst>
                <a:ext uri="{FF2B5EF4-FFF2-40B4-BE49-F238E27FC236}">
                  <a16:creationId xmlns:a16="http://schemas.microsoft.com/office/drawing/2014/main" xmlns="" id="{8CA9B818-52D4-4336-8B17-26CF61495980}"/>
                </a:ext>
              </a:extLst>
            </p:cNvPr>
            <p:cNvSpPr/>
            <p:nvPr/>
          </p:nvSpPr>
          <p:spPr>
            <a:xfrm>
              <a:off x="6346912" y="4200528"/>
              <a:ext cx="1385732" cy="994327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Teaches</a:t>
              </a:r>
              <a:endParaRPr lang="en-GB" dirty="0">
                <a:solidFill>
                  <a:srgbClr val="00B05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CF8957C4-979D-41D0-A95B-69AFBE95B729}"/>
                </a:ext>
              </a:extLst>
            </p:cNvPr>
            <p:cNvSpPr/>
            <p:nvPr/>
          </p:nvSpPr>
          <p:spPr>
            <a:xfrm>
              <a:off x="7951306" y="4406140"/>
              <a:ext cx="974035" cy="58309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Courses</a:t>
              </a:r>
              <a:endParaRPr lang="en-GB" dirty="0">
                <a:solidFill>
                  <a:srgbClr val="00B05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37C78D4E-183D-4F3F-B12E-FE9ADE51632E}"/>
                </a:ext>
              </a:extLst>
            </p:cNvPr>
            <p:cNvSpPr/>
            <p:nvPr/>
          </p:nvSpPr>
          <p:spPr>
            <a:xfrm>
              <a:off x="6552760" y="5547795"/>
              <a:ext cx="974035" cy="58309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Semester</a:t>
              </a:r>
              <a:endParaRPr lang="en-GB" dirty="0">
                <a:solidFill>
                  <a:srgbClr val="00B050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04202AD1-9846-4E1A-AEEB-56BC42B0615F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 flipV="1">
              <a:off x="7732643" y="4697691"/>
              <a:ext cx="218661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AAB85B22-0DC2-4D01-89D5-1BA6259B3570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5784575" y="4678017"/>
              <a:ext cx="562337" cy="196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395E6AD8-3049-4B6F-916E-F2C8BF2AB802}"/>
                </a:ext>
              </a:extLst>
            </p:cNvPr>
            <p:cNvCxnSpPr>
              <a:stCxn id="8" idx="2"/>
              <a:endCxn id="10" idx="0"/>
            </p:cNvCxnSpPr>
            <p:nvPr/>
          </p:nvCxnSpPr>
          <p:spPr>
            <a:xfrm flipH="1">
              <a:off x="7039778" y="5194855"/>
              <a:ext cx="1" cy="3529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1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Binary Relationship and Cardinality ratio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1447800" y="2514600"/>
            <a:ext cx="6638441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4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Ternary Relationship </a:t>
            </a:r>
            <a:endParaRPr lang="en-IN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751585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9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Attributes</a:t>
            </a:r>
            <a:endParaRPr lang="en-IN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770769"/>
            <a:ext cx="51339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66800" y="1524000"/>
            <a:ext cx="6705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Simple </a:t>
            </a:r>
            <a:r>
              <a:rPr lang="en-US" sz="2800" dirty="0" smtClean="0">
                <a:solidFill>
                  <a:srgbClr val="FF0000"/>
                </a:solidFill>
              </a:rPr>
              <a:t>attributes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  <a:r>
              <a:rPr lang="en-US" sz="2800" dirty="0" smtClean="0"/>
              <a:t>the </a:t>
            </a:r>
            <a:r>
              <a:rPr lang="en-US" sz="2800" dirty="0"/>
              <a:t>attributes have </a:t>
            </a:r>
            <a:r>
              <a:rPr lang="en-US" sz="2800" dirty="0" smtClean="0"/>
              <a:t>been simple</a:t>
            </a:r>
            <a:r>
              <a:rPr lang="en-US" sz="2800" dirty="0"/>
              <a:t>; that is, they have not been divided into subparts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 </a:t>
            </a:r>
            <a:r>
              <a:rPr lang="en-US" sz="2800" dirty="0">
                <a:solidFill>
                  <a:srgbClr val="FF0000"/>
                </a:solidFill>
              </a:rPr>
              <a:t>Composite attributes</a:t>
            </a:r>
            <a:r>
              <a:rPr lang="en-US" sz="2800" dirty="0"/>
              <a:t>, </a:t>
            </a:r>
            <a:r>
              <a:rPr lang="en-US" sz="2800" dirty="0" smtClean="0"/>
              <a:t>on the </a:t>
            </a:r>
            <a:r>
              <a:rPr lang="en-US" sz="2800" dirty="0"/>
              <a:t>other hand, can be divided into subparts (i.e., other attributes).</a:t>
            </a:r>
            <a:endParaRPr lang="en-IN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1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-2088" y="381000"/>
            <a:ext cx="8839200" cy="62484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</a:rPr>
              <a:t>Single-valued </a:t>
            </a:r>
            <a:r>
              <a:rPr lang="en-US" sz="2000" b="1" dirty="0" smtClean="0">
                <a:solidFill>
                  <a:srgbClr val="FF0000"/>
                </a:solidFill>
              </a:rPr>
              <a:t>attributes :</a:t>
            </a:r>
            <a:r>
              <a:rPr lang="en-US" sz="2000" dirty="0" smtClean="0"/>
              <a:t> all have a </a:t>
            </a:r>
            <a:r>
              <a:rPr lang="en-US" sz="2000" dirty="0"/>
              <a:t>single value for a particular entity. For instance, the student ID attribute for </a:t>
            </a:r>
            <a:r>
              <a:rPr lang="en-US" sz="2000" dirty="0" smtClean="0"/>
              <a:t>a specific </a:t>
            </a:r>
            <a:r>
              <a:rPr lang="en-US" sz="2000" dirty="0"/>
              <a:t>student entity refers to only one student ID. Such </a:t>
            </a:r>
            <a:r>
              <a:rPr lang="en-US" sz="2000" dirty="0" smtClean="0"/>
              <a:t>attributes </a:t>
            </a:r>
            <a:r>
              <a:rPr lang="en-US" sz="2000" dirty="0"/>
              <a:t>are said to be single valued. </a:t>
            </a:r>
            <a:endParaRPr lang="en-US" sz="2000" dirty="0" smtClean="0"/>
          </a:p>
          <a:p>
            <a:pPr algn="just"/>
            <a:r>
              <a:rPr lang="en-US" sz="2000" b="1" dirty="0" smtClean="0">
                <a:solidFill>
                  <a:srgbClr val="FF0000"/>
                </a:solidFill>
              </a:rPr>
              <a:t>Multivalued attributes :</a:t>
            </a:r>
            <a:r>
              <a:rPr lang="en-US" sz="2000" dirty="0" smtClean="0"/>
              <a:t>There </a:t>
            </a:r>
            <a:r>
              <a:rPr lang="en-US" sz="2000" dirty="0"/>
              <a:t>may be instances where an attribute has a set of values </a:t>
            </a:r>
            <a:r>
              <a:rPr lang="en-US" sz="2000" dirty="0" smtClean="0"/>
              <a:t>or a </a:t>
            </a:r>
            <a:r>
              <a:rPr lang="en-US" sz="2000" dirty="0"/>
              <a:t>specific entity. </a:t>
            </a:r>
            <a:r>
              <a:rPr lang="en-US" sz="2000" dirty="0" smtClean="0"/>
              <a:t>An </a:t>
            </a:r>
            <a:r>
              <a:rPr lang="en-US" sz="2000" dirty="0"/>
              <a:t>entity set </a:t>
            </a:r>
            <a:r>
              <a:rPr lang="en-US" sz="2000" dirty="0" smtClean="0"/>
              <a:t>has a </a:t>
            </a:r>
            <a:r>
              <a:rPr lang="en-US" sz="2000" dirty="0"/>
              <a:t>phone number </a:t>
            </a:r>
            <a:r>
              <a:rPr lang="en-US" sz="2000" dirty="0" smtClean="0"/>
              <a:t>attribute,  the person  </a:t>
            </a:r>
            <a:r>
              <a:rPr lang="en-US" sz="2000" dirty="0"/>
              <a:t>may have zero, </a:t>
            </a:r>
            <a:r>
              <a:rPr lang="en-US" sz="2000" dirty="0" smtClean="0"/>
              <a:t>one</a:t>
            </a:r>
            <a:r>
              <a:rPr lang="en-US" sz="2000" dirty="0"/>
              <a:t>, or several phone numbers, and </a:t>
            </a:r>
            <a:r>
              <a:rPr lang="en-US" sz="2000" dirty="0" smtClean="0"/>
              <a:t>different persons  </a:t>
            </a:r>
            <a:r>
              <a:rPr lang="en-US" sz="2000" dirty="0"/>
              <a:t>may have different numbers of </a:t>
            </a:r>
            <a:r>
              <a:rPr lang="en-US" sz="2000" dirty="0" smtClean="0"/>
              <a:t>phones</a:t>
            </a:r>
            <a:r>
              <a:rPr lang="en-US" sz="2000" dirty="0"/>
              <a:t>. This type of attribute is said </a:t>
            </a:r>
            <a:r>
              <a:rPr lang="en-US" sz="2000" dirty="0" smtClean="0"/>
              <a:t>to be </a:t>
            </a:r>
            <a:r>
              <a:rPr lang="en-US" sz="2000" dirty="0"/>
              <a:t>multivalued. </a:t>
            </a:r>
            <a:endParaRPr lang="en-US" sz="2000" dirty="0" smtClean="0"/>
          </a:p>
          <a:p>
            <a:r>
              <a:rPr lang="en-US" sz="2000" dirty="0" smtClean="0"/>
              <a:t>Another example is Dependents of an employee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Derived attributes : </a:t>
            </a:r>
            <a:r>
              <a:rPr lang="en-US" sz="2000" dirty="0" smtClean="0"/>
              <a:t>The </a:t>
            </a:r>
            <a:r>
              <a:rPr lang="en-US" sz="2000" dirty="0"/>
              <a:t>value for this type of attribute can be derived from the </a:t>
            </a:r>
            <a:r>
              <a:rPr lang="en-US" sz="2000" dirty="0" smtClean="0"/>
              <a:t>values of </a:t>
            </a:r>
            <a:r>
              <a:rPr lang="en-US" sz="2000" dirty="0"/>
              <a:t>other related attributes or entities. </a:t>
            </a:r>
            <a:endParaRPr lang="en-US" sz="2000" dirty="0" smtClean="0"/>
          </a:p>
          <a:p>
            <a:pPr algn="just"/>
            <a:r>
              <a:rPr lang="en-US" sz="2000" dirty="0" smtClean="0"/>
              <a:t>For </a:t>
            </a:r>
            <a:r>
              <a:rPr lang="en-US" sz="2000" dirty="0"/>
              <a:t>instance, let us say that the </a:t>
            </a:r>
            <a:r>
              <a:rPr lang="en-US" sz="2000" dirty="0" smtClean="0"/>
              <a:t>instructor entity </a:t>
            </a:r>
            <a:r>
              <a:rPr lang="en-US" sz="2000" dirty="0"/>
              <a:t>set has an attribute students advised, which represents how many </a:t>
            </a:r>
            <a:r>
              <a:rPr lang="en-US" sz="2000" dirty="0" smtClean="0"/>
              <a:t>students an </a:t>
            </a:r>
            <a:r>
              <a:rPr lang="en-US" sz="2000" dirty="0"/>
              <a:t>instructor advises. We can derive the value for this </a:t>
            </a:r>
            <a:r>
              <a:rPr lang="en-US" sz="2000" dirty="0" smtClean="0"/>
              <a:t>attribute </a:t>
            </a:r>
            <a:r>
              <a:rPr lang="en-US" sz="2000" dirty="0"/>
              <a:t>by counting </a:t>
            </a:r>
            <a:r>
              <a:rPr lang="en-US" sz="2000" dirty="0" smtClean="0"/>
              <a:t>the number </a:t>
            </a:r>
            <a:r>
              <a:rPr lang="en-US" sz="2000" dirty="0"/>
              <a:t>of student entities associated with that instructor.</a:t>
            </a:r>
          </a:p>
          <a:p>
            <a:pPr algn="just"/>
            <a:r>
              <a:rPr lang="en-US" sz="2000" dirty="0"/>
              <a:t>As another example, </a:t>
            </a:r>
            <a:r>
              <a:rPr lang="en-US" sz="2000" dirty="0" smtClean="0"/>
              <a:t> suppose </a:t>
            </a:r>
            <a:r>
              <a:rPr lang="en-US" sz="2000" dirty="0"/>
              <a:t>that the instructor entity set has an attribute </a:t>
            </a:r>
            <a:r>
              <a:rPr lang="en-US" sz="2000" dirty="0" smtClean="0"/>
              <a:t>age that indicates </a:t>
            </a:r>
            <a:r>
              <a:rPr lang="en-US" sz="2000" dirty="0"/>
              <a:t>the instructor’s age. If the instructor entity set also has an </a:t>
            </a:r>
            <a:r>
              <a:rPr lang="en-US" sz="2000" dirty="0" smtClean="0"/>
              <a:t>attribute  date </a:t>
            </a:r>
            <a:r>
              <a:rPr lang="en-US" sz="2000" dirty="0"/>
              <a:t>of birth, we can calculate age from date of birth and the current date. Thus</a:t>
            </a:r>
            <a:r>
              <a:rPr lang="en-US" sz="2000" dirty="0" smtClean="0"/>
              <a:t>, age </a:t>
            </a:r>
            <a:r>
              <a:rPr lang="en-US" sz="2000" dirty="0"/>
              <a:t>is a derived </a:t>
            </a:r>
            <a:r>
              <a:rPr lang="en-US" sz="2000" dirty="0" smtClean="0"/>
              <a:t>attribute</a:t>
            </a:r>
            <a:r>
              <a:rPr lang="en-US" sz="2000" dirty="0"/>
              <a:t>. In this case, date of birth may be referred to as a </a:t>
            </a:r>
            <a:r>
              <a:rPr lang="en-US" sz="2000" dirty="0" smtClean="0"/>
              <a:t>base attribute</a:t>
            </a:r>
            <a:r>
              <a:rPr lang="en-US" sz="2000" dirty="0"/>
              <a:t>, or a stored </a:t>
            </a:r>
            <a:r>
              <a:rPr lang="en-US" sz="2000" dirty="0" smtClean="0"/>
              <a:t>attribute</a:t>
            </a:r>
            <a:r>
              <a:rPr lang="en-US" sz="2000" dirty="0"/>
              <a:t>. The value of a derived attribute is not stored but </a:t>
            </a:r>
            <a:r>
              <a:rPr lang="en-US" sz="2000" dirty="0" smtClean="0"/>
              <a:t>is computed </a:t>
            </a:r>
            <a:r>
              <a:rPr lang="en-US" sz="2000" dirty="0"/>
              <a:t>when required.</a:t>
            </a:r>
            <a:endParaRPr lang="en-IN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3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83966"/>
            <a:ext cx="6858000" cy="587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3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858621" cy="225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>
            <a:normAutofit/>
          </a:bodyPr>
          <a:lstStyle/>
          <a:p>
            <a:r>
              <a:rPr lang="en-US" dirty="0" smtClean="0"/>
              <a:t>Descriptive attributes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302032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 relationship may also have attributes called </a:t>
            </a:r>
            <a:r>
              <a:rPr lang="en-US" sz="2000" b="1" dirty="0"/>
              <a:t>descriptive attributes. </a:t>
            </a:r>
            <a:endParaRPr lang="en-US" sz="2000" b="1" dirty="0" smtClean="0"/>
          </a:p>
          <a:p>
            <a:pPr algn="just"/>
            <a:r>
              <a:rPr lang="en-US" sz="2000" dirty="0"/>
              <a:t>In an Entity-Relationship (ER) model, descriptive attributes are </a:t>
            </a:r>
            <a:r>
              <a:rPr lang="en-US" sz="2000" b="1" dirty="0"/>
              <a:t>properties or characteristics that further define the relationship between entities</a:t>
            </a:r>
            <a:r>
              <a:rPr lang="en-US" sz="2000" dirty="0"/>
              <a:t>. They are not associated with individual entities themselves, but rather with the connection between them.</a:t>
            </a:r>
            <a:endParaRPr lang="en-US" sz="2000" b="1" dirty="0" smtClean="0"/>
          </a:p>
          <a:p>
            <a:r>
              <a:rPr lang="en-US" sz="2000" dirty="0" smtClean="0"/>
              <a:t>As </a:t>
            </a:r>
            <a:r>
              <a:rPr lang="en-US" sz="2000" dirty="0"/>
              <a:t>an </a:t>
            </a:r>
            <a:r>
              <a:rPr lang="en-US" sz="2000" dirty="0" smtClean="0"/>
              <a:t>example of </a:t>
            </a:r>
            <a:r>
              <a:rPr lang="en-US" sz="2000" dirty="0"/>
              <a:t>descriptive attributes for relationships, consider the relationship set </a:t>
            </a:r>
            <a:r>
              <a:rPr lang="en-US" sz="2000" b="1" i="1" dirty="0"/>
              <a:t>takes</a:t>
            </a:r>
            <a:r>
              <a:rPr lang="en-US" sz="2000" i="1" dirty="0"/>
              <a:t> </a:t>
            </a:r>
            <a:r>
              <a:rPr lang="en-US" sz="2000" dirty="0"/>
              <a:t>which </a:t>
            </a:r>
            <a:r>
              <a:rPr lang="en-US" sz="2000" dirty="0" smtClean="0"/>
              <a:t>relates entity </a:t>
            </a:r>
            <a:r>
              <a:rPr lang="en-US" sz="2000" dirty="0"/>
              <a:t>sets </a:t>
            </a:r>
            <a:r>
              <a:rPr lang="en-US" sz="2000" i="1" dirty="0"/>
              <a:t>student </a:t>
            </a:r>
            <a:r>
              <a:rPr lang="en-US" sz="2000" dirty="0"/>
              <a:t>and </a:t>
            </a:r>
            <a:r>
              <a:rPr lang="en-US" sz="2000" i="1" dirty="0"/>
              <a:t>section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We </a:t>
            </a:r>
            <a:r>
              <a:rPr lang="en-US" sz="2000" dirty="0"/>
              <a:t>may wish to store a </a:t>
            </a:r>
            <a:r>
              <a:rPr lang="en-US" sz="2000" b="1" dirty="0"/>
              <a:t>descriptive attribute </a:t>
            </a:r>
            <a:r>
              <a:rPr lang="en-US" sz="2000" b="1" i="1" dirty="0" smtClean="0"/>
              <a:t>grade </a:t>
            </a:r>
            <a:r>
              <a:rPr lang="en-US" sz="2000" dirty="0" smtClean="0"/>
              <a:t>with </a:t>
            </a:r>
            <a:r>
              <a:rPr lang="en-US" sz="2000" dirty="0"/>
              <a:t>the relationship to record the grade that a student received in a course offering.</a:t>
            </a: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050" name="Picture 2" descr="Computer Science and Engineering - Tutorials, Notes, MCQs, Questions and  Answers: Descriptive attribute or Relationship attribute in Entity  Relationship Mod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475" y="3924300"/>
            <a:ext cx="44291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76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 for relationship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685800"/>
          </a:xfrm>
        </p:spPr>
        <p:txBody>
          <a:bodyPr/>
          <a:lstStyle/>
          <a:p>
            <a:r>
              <a:rPr lang="en-US" dirty="0" smtClean="0"/>
              <a:t>Properties of the association of entities</a:t>
            </a:r>
            <a:endParaRPr lang="en-US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362200"/>
            <a:ext cx="5805487" cy="215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5343" y="4920641"/>
            <a:ext cx="7467600" cy="98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Attributes for relationship types-Examples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676400"/>
            <a:ext cx="62198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4267200"/>
            <a:ext cx="731373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2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38410"/>
            <a:ext cx="444817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Mapping Cardinalities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28625" y="3544215"/>
            <a:ext cx="848677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One-to-one. </a:t>
            </a:r>
            <a:r>
              <a:rPr lang="en-US" sz="2800" dirty="0"/>
              <a:t>An entity in A is associated with </a:t>
            </a:r>
            <a:r>
              <a:rPr lang="en-US" sz="2800" b="1" dirty="0"/>
              <a:t>at most one </a:t>
            </a:r>
            <a:r>
              <a:rPr lang="en-US" sz="2800" dirty="0"/>
              <a:t>entity in B, and an </a:t>
            </a:r>
            <a:r>
              <a:rPr lang="en-US" sz="2800" dirty="0" smtClean="0"/>
              <a:t>entity in </a:t>
            </a:r>
            <a:r>
              <a:rPr lang="en-US" sz="2800" dirty="0"/>
              <a:t>B is associated with at most one entity in A. </a:t>
            </a:r>
            <a:endParaRPr lang="en-US" sz="2800" dirty="0" smtClean="0"/>
          </a:p>
          <a:p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One-to-many</a:t>
            </a:r>
            <a:r>
              <a:rPr lang="en-US" sz="2800" b="1" dirty="0">
                <a:solidFill>
                  <a:srgbClr val="FF0000"/>
                </a:solidFill>
              </a:rPr>
              <a:t>. </a:t>
            </a:r>
            <a:r>
              <a:rPr lang="en-US" sz="2800" dirty="0"/>
              <a:t>An entity in A is associated with </a:t>
            </a:r>
            <a:r>
              <a:rPr lang="en-US" sz="2800" b="1" dirty="0"/>
              <a:t>any number </a:t>
            </a:r>
            <a:r>
              <a:rPr lang="en-US" sz="2800" dirty="0"/>
              <a:t>(zero or more) of </a:t>
            </a:r>
            <a:r>
              <a:rPr lang="en-US" sz="2800" dirty="0" smtClean="0"/>
              <a:t>entities in </a:t>
            </a:r>
            <a:r>
              <a:rPr lang="en-US" sz="2800" dirty="0"/>
              <a:t>B. An entity in B, however, can be associated with at most one entity in A.</a:t>
            </a:r>
          </a:p>
          <a:p>
            <a:endParaRPr lang="en-IN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9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77825"/>
            <a:ext cx="4419600" cy="259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04800" y="3124200"/>
            <a:ext cx="8610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Many-to-one</a:t>
            </a:r>
            <a:r>
              <a:rPr lang="en-US" sz="2400" dirty="0"/>
              <a:t>. An entity in A is associated with </a:t>
            </a:r>
            <a:r>
              <a:rPr lang="en-US" sz="2400" b="1" dirty="0"/>
              <a:t>at most one entity </a:t>
            </a:r>
            <a:r>
              <a:rPr lang="en-US" sz="2400" dirty="0"/>
              <a:t>in B. An </a:t>
            </a:r>
            <a:r>
              <a:rPr lang="en-US" sz="2400" dirty="0" smtClean="0"/>
              <a:t>entity in </a:t>
            </a:r>
            <a:r>
              <a:rPr lang="en-US" sz="2400" dirty="0"/>
              <a:t>B, however, can be associated with </a:t>
            </a:r>
            <a:r>
              <a:rPr lang="en-US" sz="2400" b="1" dirty="0"/>
              <a:t>any number </a:t>
            </a:r>
            <a:r>
              <a:rPr lang="en-US" sz="2400" dirty="0"/>
              <a:t>(zero or more) of entities in A.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Many-to-many</a:t>
            </a:r>
            <a:r>
              <a:rPr lang="en-US" sz="2400" b="1" dirty="0">
                <a:solidFill>
                  <a:srgbClr val="FF0000"/>
                </a:solidFill>
              </a:rPr>
              <a:t>. </a:t>
            </a:r>
            <a:r>
              <a:rPr lang="en-US" sz="2400" dirty="0"/>
              <a:t>An entity in </a:t>
            </a:r>
            <a:r>
              <a:rPr lang="en-US" sz="2400" i="1" dirty="0"/>
              <a:t>A </a:t>
            </a:r>
            <a:r>
              <a:rPr lang="en-US" sz="2400" dirty="0"/>
              <a:t>is associated with </a:t>
            </a:r>
            <a:r>
              <a:rPr lang="en-US" sz="2400" b="1" dirty="0"/>
              <a:t>any number </a:t>
            </a:r>
            <a:r>
              <a:rPr lang="en-US" sz="2400" dirty="0"/>
              <a:t>(zero or more) </a:t>
            </a:r>
            <a:r>
              <a:rPr lang="en-US" sz="2400" dirty="0" smtClean="0"/>
              <a:t>of entities </a:t>
            </a:r>
            <a:r>
              <a:rPr lang="en-US" sz="2400" dirty="0"/>
              <a:t>in </a:t>
            </a:r>
            <a:r>
              <a:rPr lang="en-US" sz="2400" i="1" dirty="0"/>
              <a:t>B</a:t>
            </a:r>
            <a:r>
              <a:rPr lang="en-US" sz="2400" dirty="0"/>
              <a:t>, and an entity in </a:t>
            </a:r>
            <a:r>
              <a:rPr lang="en-US" sz="2400" i="1" dirty="0"/>
              <a:t>B </a:t>
            </a:r>
            <a:r>
              <a:rPr lang="en-US" sz="2400" dirty="0"/>
              <a:t>is associated with </a:t>
            </a:r>
            <a:r>
              <a:rPr lang="en-US" sz="2400" b="1" dirty="0"/>
              <a:t>any number </a:t>
            </a:r>
            <a:r>
              <a:rPr lang="en-US" sz="2400" dirty="0"/>
              <a:t>(zero or more) </a:t>
            </a:r>
            <a:r>
              <a:rPr lang="en-US" sz="2400" dirty="0" smtClean="0"/>
              <a:t>of entities </a:t>
            </a:r>
            <a:r>
              <a:rPr lang="en-US" sz="2400" dirty="0"/>
              <a:t>in </a:t>
            </a:r>
            <a:r>
              <a:rPr lang="en-US" sz="2400" i="1" dirty="0"/>
              <a:t>A</a:t>
            </a:r>
            <a:r>
              <a:rPr lang="en-US" sz="2400" dirty="0"/>
              <a:t>. </a:t>
            </a:r>
            <a:endParaRPr lang="en-IN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9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5181600" cy="6361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47380" y="45702"/>
            <a:ext cx="42682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N" sz="3200" dirty="0" smtClean="0">
                <a:solidFill>
                  <a:srgbClr val="FF0000"/>
                </a:solidFill>
              </a:rPr>
              <a:t>Relationship </a:t>
            </a:r>
            <a:r>
              <a:rPr lang="en-IN" sz="3200" dirty="0">
                <a:solidFill>
                  <a:srgbClr val="FF0000"/>
                </a:solidFill>
              </a:rPr>
              <a:t>cardinalities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0" y="2057400"/>
            <a:ext cx="3581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indicates that an instructor may advise many students, but a student may </a:t>
            </a:r>
            <a:r>
              <a:rPr lang="en-US" dirty="0" smtClean="0"/>
              <a:t>have</a:t>
            </a:r>
            <a:r>
              <a:rPr lang="en-IN" dirty="0" smtClean="0"/>
              <a:t>at </a:t>
            </a:r>
            <a:r>
              <a:rPr lang="en-IN" dirty="0"/>
              <a:t>most one advisor.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609600"/>
            <a:ext cx="3581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directed lines to </a:t>
            </a:r>
            <a:r>
              <a:rPr lang="en-US" i="1" dirty="0"/>
              <a:t>instructor </a:t>
            </a:r>
            <a:r>
              <a:rPr lang="en-US" dirty="0"/>
              <a:t>and </a:t>
            </a:r>
            <a:r>
              <a:rPr lang="en-US" i="1" dirty="0"/>
              <a:t>student </a:t>
            </a:r>
            <a:r>
              <a:rPr lang="en-US" dirty="0" smtClean="0"/>
              <a:t>indicate that </a:t>
            </a:r>
            <a:r>
              <a:rPr lang="en-US" dirty="0"/>
              <a:t>an instructor may advise at most one student, and a student may have at </a:t>
            </a:r>
            <a:r>
              <a:rPr lang="en-US" dirty="0" smtClean="0"/>
              <a:t>most </a:t>
            </a:r>
            <a:r>
              <a:rPr lang="en-IN" dirty="0" smtClean="0"/>
              <a:t>one </a:t>
            </a:r>
            <a:r>
              <a:rPr lang="en-IN" dirty="0"/>
              <a:t>advisor.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3505200"/>
            <a:ext cx="3733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indicates that an instructor may advise at most one student, </a:t>
            </a:r>
            <a:r>
              <a:rPr lang="en-US" dirty="0" smtClean="0"/>
              <a:t>but a </a:t>
            </a:r>
            <a:r>
              <a:rPr lang="en-US" dirty="0"/>
              <a:t>student may </a:t>
            </a:r>
            <a:r>
              <a:rPr lang="en-US" dirty="0" smtClean="0"/>
              <a:t>have </a:t>
            </a:r>
            <a:r>
              <a:rPr lang="en-US" dirty="0"/>
              <a:t>many advisors.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257800" y="5105400"/>
            <a:ext cx="3581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indicates that an </a:t>
            </a:r>
            <a:r>
              <a:rPr lang="en-US" dirty="0" smtClean="0"/>
              <a:t>instructor may advise </a:t>
            </a:r>
            <a:r>
              <a:rPr lang="en-US" dirty="0"/>
              <a:t>many students, and a student may have many advisors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3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838642-4802-46AC-9CFB-BBC81D85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5529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Mapping Cardinalities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46638-BA7E-4A27-87B5-0DDA7ED1A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0421"/>
            <a:ext cx="7886700" cy="5156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Identify the mapping Cardinalities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One to </a:t>
            </a:r>
            <a:r>
              <a:rPr lang="en-US" dirty="0" smtClean="0"/>
              <a:t>One    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                      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sz="1500" dirty="0" smtClean="0">
                <a:solidFill>
                  <a:srgbClr val="00B050"/>
                </a:solidFill>
              </a:rPr>
              <a:t>                                                   </a:t>
            </a:r>
          </a:p>
          <a:p>
            <a:r>
              <a:rPr lang="en-US" dirty="0" smtClean="0"/>
              <a:t>One to Many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US" dirty="0"/>
          </a:p>
          <a:p>
            <a:r>
              <a:rPr lang="en-US" dirty="0"/>
              <a:t>Many to Many </a:t>
            </a:r>
          </a:p>
          <a:p>
            <a:pPr lvl="1"/>
            <a:endParaRPr lang="en-US" dirty="0"/>
          </a:p>
          <a:p>
            <a:r>
              <a:rPr lang="en-US" dirty="0"/>
              <a:t>Many to One 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025" y="3639855"/>
            <a:ext cx="48958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950" y="1447800"/>
            <a:ext cx="454342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025" y="5105400"/>
            <a:ext cx="47053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200" y="2491375"/>
            <a:ext cx="44481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3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838642-4802-46AC-9CFB-BBC81D85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5529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Mapping Cardinalities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46638-BA7E-4A27-87B5-0DDA7ED1A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0421"/>
            <a:ext cx="7886700" cy="5156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Identify the mapping Cardinalities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One to </a:t>
            </a:r>
            <a:r>
              <a:rPr lang="en-US" dirty="0" smtClean="0"/>
              <a:t>One    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                      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sz="1500" dirty="0" smtClean="0">
                <a:solidFill>
                  <a:srgbClr val="00B050"/>
                </a:solidFill>
              </a:rPr>
              <a:t>                                                   </a:t>
            </a:r>
          </a:p>
          <a:p>
            <a:r>
              <a:rPr lang="en-US" dirty="0" smtClean="0"/>
              <a:t>One to Many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US" dirty="0"/>
          </a:p>
          <a:p>
            <a:r>
              <a:rPr lang="en-US" dirty="0"/>
              <a:t>Many to Many </a:t>
            </a:r>
          </a:p>
          <a:p>
            <a:pPr lvl="1"/>
            <a:endParaRPr lang="en-US" dirty="0"/>
          </a:p>
          <a:p>
            <a:r>
              <a:rPr lang="en-US" dirty="0"/>
              <a:t>Many to One 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39B1A1-4BAD-42C4-B3C7-20DDB553A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199" y="1600200"/>
            <a:ext cx="4939749" cy="1159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A269EBF-FFED-463C-8A54-663978690B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287" y="5096185"/>
            <a:ext cx="4506153" cy="1112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E643FD-F2EE-4CEA-9BBA-C1007EF0AC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671" y="3973796"/>
            <a:ext cx="4671391" cy="99763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BB6A185-39F9-4B10-84C7-FF4FEEA4568B}"/>
              </a:ext>
            </a:extLst>
          </p:cNvPr>
          <p:cNvSpPr/>
          <p:nvPr/>
        </p:nvSpPr>
        <p:spPr>
          <a:xfrm>
            <a:off x="4035289" y="3074506"/>
            <a:ext cx="1033670" cy="424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B050"/>
                </a:solidFill>
              </a:rPr>
              <a:t>Professor</a:t>
            </a:r>
            <a:endParaRPr lang="en-GB" sz="1500" b="1" dirty="0">
              <a:solidFill>
                <a:srgbClr val="00B05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755EEF7-0318-45FD-800D-B1733664916D}"/>
              </a:ext>
            </a:extLst>
          </p:cNvPr>
          <p:cNvSpPr/>
          <p:nvPr/>
        </p:nvSpPr>
        <p:spPr>
          <a:xfrm>
            <a:off x="7636981" y="3005346"/>
            <a:ext cx="1033670" cy="424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B050"/>
                </a:solidFill>
              </a:rPr>
              <a:t>Subjects</a:t>
            </a:r>
            <a:endParaRPr lang="en-GB" sz="1500" b="1" dirty="0">
              <a:solidFill>
                <a:srgbClr val="00B050"/>
              </a:solidFill>
            </a:endParaRP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xmlns="" id="{7071757C-F0AB-4668-B15E-70BBE7ACEB4F}"/>
              </a:ext>
            </a:extLst>
          </p:cNvPr>
          <p:cNvSpPr/>
          <p:nvPr/>
        </p:nvSpPr>
        <p:spPr>
          <a:xfrm>
            <a:off x="5647290" y="2922469"/>
            <a:ext cx="1389616" cy="66851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B050"/>
                </a:solidFill>
              </a:rPr>
              <a:t>Teaches</a:t>
            </a:r>
            <a:endParaRPr lang="en-GB" sz="1500" b="1" dirty="0">
              <a:solidFill>
                <a:srgbClr val="00B05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91AE8C2E-9273-42E9-911B-3508701CDFA3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5068959" y="3256724"/>
            <a:ext cx="578332" cy="30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B35840AB-2894-4FE7-8805-16559A0AAE89}"/>
              </a:ext>
            </a:extLst>
          </p:cNvPr>
          <p:cNvCxnSpPr>
            <a:stCxn id="14" idx="3"/>
            <a:endCxn id="13" idx="1"/>
          </p:cNvCxnSpPr>
          <p:nvPr/>
        </p:nvCxnSpPr>
        <p:spPr>
          <a:xfrm flipV="1">
            <a:off x="7036904" y="3217726"/>
            <a:ext cx="600075" cy="38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20073" y="299695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48909" y="298766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n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Binary Relationship and Cardinality ratio-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382000" cy="5136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Binary Relationship and Cardinality ratio-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24000"/>
            <a:ext cx="8610600" cy="5171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Binary Relationship and Cardinality ratio-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24000"/>
            <a:ext cx="8610600" cy="5220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Participation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990600"/>
            <a:ext cx="8229600" cy="1295400"/>
          </a:xfrm>
        </p:spPr>
        <p:txBody>
          <a:bodyPr/>
          <a:lstStyle/>
          <a:p>
            <a:pPr lvl="1"/>
            <a:r>
              <a:rPr lang="en-US" dirty="0" smtClean="0"/>
              <a:t>An entity set may participate in a relation either totally or partially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1238" y="1535808"/>
            <a:ext cx="68294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276600"/>
            <a:ext cx="7264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Participation constraints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590800"/>
            <a:ext cx="6324600" cy="2024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Participation constraints</a:t>
            </a:r>
            <a:br>
              <a:rPr lang="en-US" dirty="0" smtClean="0"/>
            </a:br>
            <a:r>
              <a:rPr lang="en-US" dirty="0" smtClean="0"/>
              <a:t>Examples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1151519" y="1447800"/>
            <a:ext cx="729816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Structural Constraints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57400"/>
            <a:ext cx="8382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352800"/>
            <a:ext cx="8258426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"/>
            <a:ext cx="700453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5800" y="2519819"/>
            <a:ext cx="7924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line between advisor and student has a </a:t>
            </a:r>
            <a:r>
              <a:rPr lang="en-US" sz="2800" dirty="0" smtClean="0"/>
              <a:t>cardinality constraint </a:t>
            </a:r>
            <a:r>
              <a:rPr lang="en-US" sz="2800" dirty="0"/>
              <a:t>of 1..1, meaning the minimum and the maximum cardinality </a:t>
            </a:r>
            <a:r>
              <a:rPr lang="en-US" sz="2800" dirty="0" smtClean="0"/>
              <a:t>are both </a:t>
            </a:r>
            <a:r>
              <a:rPr lang="en-US" sz="2800" dirty="0"/>
              <a:t>1. </a:t>
            </a:r>
            <a:r>
              <a:rPr lang="en-US" sz="2800" dirty="0" smtClean="0"/>
              <a:t>That </a:t>
            </a:r>
            <a:r>
              <a:rPr lang="en-US" sz="2800" dirty="0"/>
              <a:t>is, each student must have exactly one advisor. 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limit 0.. ∗ on </a:t>
            </a:r>
            <a:r>
              <a:rPr lang="en-US" sz="2800" dirty="0" smtClean="0"/>
              <a:t>the line </a:t>
            </a:r>
            <a:r>
              <a:rPr lang="en-US" sz="2800" dirty="0"/>
              <a:t>between </a:t>
            </a:r>
            <a:r>
              <a:rPr lang="en-US" sz="2800" dirty="0" smtClean="0"/>
              <a:t>instructor </a:t>
            </a:r>
            <a:r>
              <a:rPr lang="en-US" sz="2800"/>
              <a:t>and </a:t>
            </a:r>
            <a:r>
              <a:rPr lang="en-US" sz="2800" smtClean="0"/>
              <a:t>student </a:t>
            </a:r>
            <a:r>
              <a:rPr lang="en-US" sz="2800" dirty="0"/>
              <a:t>indicates that an instructor can have zero or </a:t>
            </a:r>
            <a:r>
              <a:rPr lang="en-US" sz="2800" dirty="0" smtClean="0"/>
              <a:t>more students</a:t>
            </a:r>
            <a:r>
              <a:rPr lang="en-US" sz="2800" dirty="0"/>
              <a:t>.</a:t>
            </a:r>
            <a:endParaRPr lang="en-IN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Recursive Relationship &amp; Role Name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1523999"/>
          </a:xfrm>
        </p:spPr>
        <p:txBody>
          <a:bodyPr>
            <a:normAutofit/>
          </a:bodyPr>
          <a:lstStyle/>
          <a:p>
            <a:r>
              <a:rPr lang="en-US" dirty="0" smtClean="0"/>
              <a:t>An entity set relating to itself.</a:t>
            </a:r>
          </a:p>
          <a:p>
            <a:r>
              <a:rPr lang="en-US" dirty="0" smtClean="0"/>
              <a:t>Role name is used to specify the exact role in which the entity participate in the relationship</a:t>
            </a:r>
          </a:p>
          <a:p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581400"/>
            <a:ext cx="70795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Weak Entity set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1447800" y="1676400"/>
            <a:ext cx="661035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838200" y="3962400"/>
            <a:ext cx="7924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A weak entity set </a:t>
            </a:r>
            <a:r>
              <a:rPr lang="en-US" sz="2400" dirty="0" smtClean="0">
                <a:latin typeface="Arial Narrow" panose="020B0606020202030204" pitchFamily="34" charset="0"/>
              </a:rPr>
              <a:t>is one </a:t>
            </a:r>
            <a:r>
              <a:rPr lang="en-US" sz="2400" dirty="0">
                <a:latin typeface="Arial Narrow" panose="020B0606020202030204" pitchFamily="34" charset="0"/>
              </a:rPr>
              <a:t>whose existence is dependent on another entity set, called its </a:t>
            </a:r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identifying entity set</a:t>
            </a:r>
            <a:r>
              <a:rPr lang="en-US" sz="2400" dirty="0" smtClean="0">
                <a:latin typeface="Arial Narrow" panose="020B0606020202030204" pitchFamily="34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I</a:t>
            </a:r>
            <a:r>
              <a:rPr lang="en-US" sz="2400" dirty="0" smtClean="0">
                <a:latin typeface="Arial Narrow" panose="020B0606020202030204" pitchFamily="34" charset="0"/>
              </a:rPr>
              <a:t>nstead </a:t>
            </a:r>
            <a:r>
              <a:rPr lang="en-US" sz="2400" dirty="0">
                <a:latin typeface="Arial Narrow" panose="020B0606020202030204" pitchFamily="34" charset="0"/>
              </a:rPr>
              <a:t>of associating a primary key with a weak entity, we use the primary key of </a:t>
            </a:r>
            <a:r>
              <a:rPr lang="en-US" sz="2400" dirty="0" smtClean="0">
                <a:latin typeface="Arial Narrow" panose="020B0606020202030204" pitchFamily="34" charset="0"/>
              </a:rPr>
              <a:t>the identifying </a:t>
            </a:r>
            <a:r>
              <a:rPr lang="en-US" sz="2400" dirty="0">
                <a:latin typeface="Arial Narrow" panose="020B0606020202030204" pitchFamily="34" charset="0"/>
              </a:rPr>
              <a:t>entity, along with extra attributes, called </a:t>
            </a:r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discriminator attributes </a:t>
            </a:r>
            <a:r>
              <a:rPr lang="en-US" sz="2400" dirty="0">
                <a:latin typeface="Arial Narrow" panose="020B0606020202030204" pitchFamily="34" charset="0"/>
              </a:rPr>
              <a:t>to </a:t>
            </a:r>
            <a:r>
              <a:rPr lang="en-US" sz="2400" dirty="0" smtClean="0">
                <a:latin typeface="Arial Narrow" panose="020B0606020202030204" pitchFamily="34" charset="0"/>
              </a:rPr>
              <a:t>uniquely identify </a:t>
            </a:r>
            <a:r>
              <a:rPr lang="en-US" sz="2400" dirty="0">
                <a:latin typeface="Arial Narrow" panose="020B0606020202030204" pitchFamily="34" charset="0"/>
              </a:rPr>
              <a:t>a weak entity. </a:t>
            </a:r>
            <a:endParaRPr lang="en-US" sz="2400" dirty="0" smtClean="0">
              <a:latin typeface="Arial Narrow" panose="020B0606020202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 Narrow" panose="020B0606020202030204" pitchFamily="34" charset="0"/>
              </a:rPr>
              <a:t>An </a:t>
            </a:r>
            <a:r>
              <a:rPr lang="en-US" sz="2400" dirty="0">
                <a:latin typeface="Arial Narrow" panose="020B0606020202030204" pitchFamily="34" charset="0"/>
              </a:rPr>
              <a:t>entity set that is not a weak entity set is termed a strong </a:t>
            </a:r>
            <a:r>
              <a:rPr lang="en-US" sz="2400" dirty="0" smtClean="0">
                <a:latin typeface="Arial Narrow" panose="020B0606020202030204" pitchFamily="34" charset="0"/>
              </a:rPr>
              <a:t>entity set</a:t>
            </a:r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200"/>
            <a:ext cx="7374139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6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Weak Entity set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762125"/>
            <a:ext cx="805815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 Diagram construction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13770"/>
            <a:ext cx="8610600" cy="499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8756258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 Diagram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1473102" y="1447800"/>
            <a:ext cx="665499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Removing Redundant Attributes in Entity Sets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8610600" cy="4572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entity set instructor includes the attributes </a:t>
            </a:r>
            <a:r>
              <a:rPr lang="en-US" sz="2800" dirty="0">
                <a:solidFill>
                  <a:srgbClr val="FF0000"/>
                </a:solidFill>
              </a:rPr>
              <a:t>ID, name, </a:t>
            </a:r>
            <a:r>
              <a:rPr lang="en-US" sz="2800" dirty="0" err="1">
                <a:solidFill>
                  <a:srgbClr val="FF0000"/>
                </a:solidFill>
              </a:rPr>
              <a:t>dept</a:t>
            </a:r>
            <a:r>
              <a:rPr lang="en-US" sz="2800" dirty="0">
                <a:solidFill>
                  <a:srgbClr val="FF0000"/>
                </a:solidFill>
              </a:rPr>
              <a:t> name, and </a:t>
            </a:r>
            <a:r>
              <a:rPr lang="en-US" sz="2800" dirty="0" err="1">
                <a:solidFill>
                  <a:srgbClr val="FF0000"/>
                </a:solidFill>
              </a:rPr>
              <a:t>salary</a:t>
            </a:r>
            <a:r>
              <a:rPr lang="en-US" sz="2800" dirty="0" err="1"/>
              <a:t>,with</a:t>
            </a:r>
            <a:r>
              <a:rPr lang="en-US" sz="2800" dirty="0"/>
              <a:t> ID forming the primary key.</a:t>
            </a:r>
          </a:p>
          <a:p>
            <a:pPr algn="just"/>
            <a:r>
              <a:rPr lang="en-US" sz="2800" dirty="0"/>
              <a:t>• The entity set department includes the attributes </a:t>
            </a:r>
            <a:r>
              <a:rPr lang="en-US" sz="2800" dirty="0" err="1">
                <a:solidFill>
                  <a:srgbClr val="FF0000"/>
                </a:solidFill>
              </a:rPr>
              <a:t>dept</a:t>
            </a:r>
            <a:r>
              <a:rPr lang="en-US" sz="2800" dirty="0">
                <a:solidFill>
                  <a:srgbClr val="FF0000"/>
                </a:solidFill>
              </a:rPr>
              <a:t> name, building, and </a:t>
            </a:r>
            <a:r>
              <a:rPr lang="en-US" sz="2800" dirty="0" err="1">
                <a:solidFill>
                  <a:srgbClr val="FF0000"/>
                </a:solidFill>
              </a:rPr>
              <a:t>budget</a:t>
            </a:r>
            <a:r>
              <a:rPr lang="en-US" sz="2800" dirty="0" err="1"/>
              <a:t>,with</a:t>
            </a:r>
            <a:r>
              <a:rPr lang="en-US" sz="2800" dirty="0"/>
              <a:t> </a:t>
            </a:r>
            <a:r>
              <a:rPr lang="en-US" sz="2800" dirty="0" err="1"/>
              <a:t>dept</a:t>
            </a:r>
            <a:r>
              <a:rPr lang="en-US" sz="2800" dirty="0"/>
              <a:t> name forming the primary key.</a:t>
            </a:r>
          </a:p>
          <a:p>
            <a:r>
              <a:rPr lang="en-US" sz="2800" dirty="0"/>
              <a:t>Each instructor has an associated department using a </a:t>
            </a:r>
            <a:r>
              <a:rPr lang="en-US" sz="2800" dirty="0" err="1"/>
              <a:t>relationshipset</a:t>
            </a:r>
            <a:r>
              <a:rPr lang="en-US" sz="2800" dirty="0"/>
              <a:t> </a:t>
            </a:r>
            <a:r>
              <a:rPr lang="en-US" sz="2800" dirty="0" err="1"/>
              <a:t>inst</a:t>
            </a:r>
            <a:r>
              <a:rPr lang="en-US" sz="2800" dirty="0"/>
              <a:t> </a:t>
            </a:r>
            <a:r>
              <a:rPr lang="en-US" sz="2800" dirty="0" err="1"/>
              <a:t>dept</a:t>
            </a:r>
            <a:r>
              <a:rPr lang="en-US" sz="2800" dirty="0"/>
              <a:t> relating instructor and department.</a:t>
            </a:r>
          </a:p>
          <a:p>
            <a:pPr algn="just"/>
            <a:r>
              <a:rPr lang="en-US" sz="2800" dirty="0"/>
              <a:t>The attribute </a:t>
            </a:r>
            <a:r>
              <a:rPr lang="en-US" sz="2800" dirty="0" err="1">
                <a:solidFill>
                  <a:srgbClr val="FF0000"/>
                </a:solidFill>
              </a:rPr>
              <a:t>dept</a:t>
            </a:r>
            <a:r>
              <a:rPr lang="en-US" sz="2800" dirty="0">
                <a:solidFill>
                  <a:srgbClr val="FF0000"/>
                </a:solidFill>
              </a:rPr>
              <a:t> name </a:t>
            </a:r>
            <a:r>
              <a:rPr lang="en-US" sz="2800" dirty="0"/>
              <a:t>appears in both entity sets. Since it is the primary key for the entity set department, </a:t>
            </a:r>
            <a:r>
              <a:rPr lang="en-US" sz="2800" dirty="0">
                <a:solidFill>
                  <a:srgbClr val="FF0000"/>
                </a:solidFill>
              </a:rPr>
              <a:t>it is redundant in the entity set instructor and needs to be </a:t>
            </a:r>
            <a:r>
              <a:rPr lang="en-IN" sz="2800" dirty="0">
                <a:solidFill>
                  <a:srgbClr val="FF0000"/>
                </a:solidFill>
              </a:rPr>
              <a:t>removed</a:t>
            </a:r>
            <a:r>
              <a:rPr lang="en-IN"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5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of an ER Diagram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14400"/>
            <a:ext cx="89154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9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sz="3600" dirty="0" smtClean="0"/>
              <a:t>Construct an ER diagram for a University Database.  Assume the nature and functionality identify appropriate entity and relationship sets and build an ER model for the same</a:t>
            </a:r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2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8458200" cy="5943600"/>
          </a:xfrm>
        </p:spPr>
        <p:txBody>
          <a:bodyPr>
            <a:normAutofit/>
          </a:bodyPr>
          <a:lstStyle/>
          <a:p>
            <a:r>
              <a:rPr lang="en-US" dirty="0"/>
              <a:t>A good </a:t>
            </a:r>
            <a:r>
              <a:rPr lang="en-US" dirty="0">
                <a:solidFill>
                  <a:srgbClr val="FF0000"/>
                </a:solidFill>
              </a:rPr>
              <a:t>entity-relationship design does not contain redundant attributes</a:t>
            </a:r>
            <a:r>
              <a:rPr lang="en-US" dirty="0"/>
              <a:t>. For </a:t>
            </a:r>
            <a:r>
              <a:rPr lang="en-US" dirty="0" smtClean="0"/>
              <a:t>our university </a:t>
            </a:r>
            <a:r>
              <a:rPr lang="en-US" dirty="0"/>
              <a:t>example, we list the entity sets and their attributes below, with primary </a:t>
            </a:r>
            <a:r>
              <a:rPr lang="en-US" dirty="0" smtClean="0"/>
              <a:t>keys </a:t>
            </a:r>
            <a:r>
              <a:rPr lang="en-IN" dirty="0" smtClean="0"/>
              <a:t>underlined</a:t>
            </a:r>
            <a:r>
              <a:rPr lang="en-IN" dirty="0"/>
              <a:t>:</a:t>
            </a:r>
          </a:p>
          <a:p>
            <a:pPr>
              <a:spcAft>
                <a:spcPts val="1200"/>
              </a:spcAft>
            </a:pPr>
            <a:r>
              <a:rPr lang="en-US" i="1" dirty="0" smtClean="0"/>
              <a:t>classroom</a:t>
            </a:r>
            <a:r>
              <a:rPr lang="en-US" dirty="0"/>
              <a:t>: </a:t>
            </a:r>
            <a:r>
              <a:rPr lang="en-US" dirty="0" smtClean="0"/>
              <a:t>with </a:t>
            </a:r>
            <a:r>
              <a:rPr lang="en-US" dirty="0"/>
              <a:t>attributes (</a:t>
            </a:r>
            <a:r>
              <a:rPr lang="en-US" i="1" u="sng" dirty="0"/>
              <a:t>building</a:t>
            </a:r>
            <a:r>
              <a:rPr lang="en-US" dirty="0"/>
              <a:t>, </a:t>
            </a:r>
            <a:r>
              <a:rPr lang="en-US" i="1" u="sng" dirty="0"/>
              <a:t>room number</a:t>
            </a:r>
            <a:r>
              <a:rPr lang="en-US" dirty="0"/>
              <a:t>, </a:t>
            </a:r>
            <a:r>
              <a:rPr lang="en-US" i="1" dirty="0"/>
              <a:t>capacity</a:t>
            </a:r>
            <a:r>
              <a:rPr lang="en-US" dirty="0" smtClean="0"/>
              <a:t>)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i="1" dirty="0" smtClean="0"/>
              <a:t>department</a:t>
            </a:r>
            <a:r>
              <a:rPr lang="en-US" dirty="0"/>
              <a:t>: with attributes (</a:t>
            </a:r>
            <a:r>
              <a:rPr lang="en-US" i="1" u="sng" dirty="0" err="1"/>
              <a:t>dept</a:t>
            </a:r>
            <a:r>
              <a:rPr lang="en-US" i="1" u="sng" dirty="0"/>
              <a:t> name</a:t>
            </a:r>
            <a:r>
              <a:rPr lang="en-US" dirty="0"/>
              <a:t>, </a:t>
            </a:r>
            <a:r>
              <a:rPr lang="en-US" i="1" dirty="0"/>
              <a:t>building</a:t>
            </a:r>
            <a:r>
              <a:rPr lang="en-US" dirty="0"/>
              <a:t>, </a:t>
            </a:r>
            <a:r>
              <a:rPr lang="en-US" i="1" dirty="0"/>
              <a:t>budget</a:t>
            </a:r>
            <a:r>
              <a:rPr lang="en-US" dirty="0" smtClean="0"/>
              <a:t>)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i="1" dirty="0" smtClean="0"/>
              <a:t>course</a:t>
            </a:r>
            <a:r>
              <a:rPr lang="en-US" dirty="0"/>
              <a:t>: with attributes (</a:t>
            </a:r>
            <a:r>
              <a:rPr lang="en-US" i="1" u="sng" dirty="0"/>
              <a:t>course id</a:t>
            </a:r>
            <a:r>
              <a:rPr lang="en-US" dirty="0"/>
              <a:t>, </a:t>
            </a:r>
            <a:r>
              <a:rPr lang="en-US" i="1" dirty="0"/>
              <a:t>title</a:t>
            </a:r>
            <a:r>
              <a:rPr lang="en-US" dirty="0"/>
              <a:t>, </a:t>
            </a:r>
            <a:r>
              <a:rPr lang="en-US" i="1" dirty="0"/>
              <a:t>credits</a:t>
            </a:r>
            <a:r>
              <a:rPr lang="en-US" dirty="0" smtClean="0"/>
              <a:t>)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i="1" dirty="0" smtClean="0"/>
              <a:t>instructor</a:t>
            </a:r>
            <a:r>
              <a:rPr lang="en-US" dirty="0"/>
              <a:t>: with attributes (</a:t>
            </a:r>
            <a:r>
              <a:rPr lang="en-US" i="1" u="sng" dirty="0"/>
              <a:t>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salary</a:t>
            </a:r>
            <a:r>
              <a:rPr lang="en-US" dirty="0" smtClean="0"/>
              <a:t>)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i="1" dirty="0" smtClean="0"/>
              <a:t>section</a:t>
            </a:r>
            <a:r>
              <a:rPr lang="en-US" dirty="0"/>
              <a:t>: with attributes (</a:t>
            </a:r>
            <a:r>
              <a:rPr lang="en-US" i="1" u="sng" dirty="0"/>
              <a:t>course id</a:t>
            </a:r>
            <a:r>
              <a:rPr lang="en-US" dirty="0"/>
              <a:t>, </a:t>
            </a:r>
            <a:r>
              <a:rPr lang="en-US" i="1" u="sng" dirty="0"/>
              <a:t>sec id</a:t>
            </a:r>
            <a:r>
              <a:rPr lang="en-US" dirty="0"/>
              <a:t>, </a:t>
            </a:r>
            <a:r>
              <a:rPr lang="en-US" i="1" u="sng" dirty="0"/>
              <a:t>semester</a:t>
            </a:r>
            <a:r>
              <a:rPr lang="en-US" dirty="0"/>
              <a:t>, </a:t>
            </a:r>
            <a:r>
              <a:rPr lang="en-US" i="1" u="sng" dirty="0"/>
              <a:t>year</a:t>
            </a:r>
            <a:r>
              <a:rPr lang="en-US" dirty="0" smtClean="0"/>
              <a:t>)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i="1" dirty="0" smtClean="0"/>
              <a:t>student</a:t>
            </a:r>
            <a:r>
              <a:rPr lang="en-US" dirty="0"/>
              <a:t>: with attributes (</a:t>
            </a:r>
            <a:r>
              <a:rPr lang="en-US" i="1" u="sng" dirty="0"/>
              <a:t>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tot cred</a:t>
            </a:r>
            <a:r>
              <a:rPr lang="en-US" dirty="0" smtClean="0"/>
              <a:t>)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i="1" dirty="0" smtClean="0"/>
              <a:t>time </a:t>
            </a:r>
            <a:r>
              <a:rPr lang="en-US" i="1" dirty="0"/>
              <a:t>slot</a:t>
            </a:r>
            <a:r>
              <a:rPr lang="en-US" dirty="0"/>
              <a:t>: with attributes (</a:t>
            </a:r>
            <a:r>
              <a:rPr lang="en-US" i="1" u="sng" dirty="0"/>
              <a:t>time slot id</a:t>
            </a:r>
            <a:r>
              <a:rPr lang="en-US" dirty="0"/>
              <a:t>, {(</a:t>
            </a:r>
            <a:r>
              <a:rPr lang="en-US" i="1" dirty="0"/>
              <a:t>day</a:t>
            </a:r>
            <a:r>
              <a:rPr lang="en-US" dirty="0"/>
              <a:t>, </a:t>
            </a:r>
            <a:r>
              <a:rPr lang="en-US" i="1" dirty="0"/>
              <a:t>start time</a:t>
            </a:r>
            <a:r>
              <a:rPr lang="en-US" dirty="0"/>
              <a:t>, </a:t>
            </a:r>
            <a:r>
              <a:rPr lang="en-US" i="1" dirty="0"/>
              <a:t>end time</a:t>
            </a:r>
            <a:r>
              <a:rPr lang="en-US" dirty="0"/>
              <a:t>) </a:t>
            </a:r>
            <a:r>
              <a:rPr lang="en-US" dirty="0" smtClean="0"/>
              <a:t>})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7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381000"/>
            <a:ext cx="7772400" cy="563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relationship sets in our design are listed below:</a:t>
            </a:r>
          </a:p>
          <a:p>
            <a:r>
              <a:rPr lang="en-US" dirty="0" smtClean="0"/>
              <a:t> </a:t>
            </a:r>
            <a:r>
              <a:rPr lang="en-US" i="1" dirty="0" err="1"/>
              <a:t>inst</a:t>
            </a:r>
            <a:r>
              <a:rPr lang="en-US" i="1" dirty="0"/>
              <a:t> </a:t>
            </a:r>
            <a:r>
              <a:rPr lang="en-US" i="1" dirty="0" err="1"/>
              <a:t>dept</a:t>
            </a:r>
            <a:r>
              <a:rPr lang="en-US" dirty="0"/>
              <a:t>: relating instructors with departments.</a:t>
            </a:r>
          </a:p>
          <a:p>
            <a:r>
              <a:rPr lang="en-US" dirty="0" smtClean="0"/>
              <a:t> </a:t>
            </a:r>
            <a:r>
              <a:rPr lang="en-US" i="1" dirty="0"/>
              <a:t>stud </a:t>
            </a:r>
            <a:r>
              <a:rPr lang="en-US" i="1" dirty="0" err="1"/>
              <a:t>dept</a:t>
            </a:r>
            <a:r>
              <a:rPr lang="en-US" dirty="0"/>
              <a:t>: relating students with </a:t>
            </a:r>
            <a:r>
              <a:rPr lang="en-US" dirty="0" smtClean="0"/>
              <a:t>departments</a:t>
            </a:r>
          </a:p>
          <a:p>
            <a:r>
              <a:rPr lang="en-US" i="1" dirty="0"/>
              <a:t>teaches</a:t>
            </a:r>
            <a:r>
              <a:rPr lang="en-US" dirty="0"/>
              <a:t>: relating instructors with sections.</a:t>
            </a:r>
          </a:p>
          <a:p>
            <a:r>
              <a:rPr lang="en-US" i="1" dirty="0" smtClean="0"/>
              <a:t>takes</a:t>
            </a:r>
            <a:r>
              <a:rPr lang="en-US" dirty="0"/>
              <a:t>: relating students with sections, with a descriptive attribute </a:t>
            </a:r>
            <a:r>
              <a:rPr lang="en-US" i="1" dirty="0"/>
              <a:t>grade</a:t>
            </a:r>
            <a:r>
              <a:rPr lang="en-US" dirty="0"/>
              <a:t>.</a:t>
            </a:r>
          </a:p>
          <a:p>
            <a:r>
              <a:rPr lang="en-US" i="1" dirty="0" smtClean="0"/>
              <a:t>course </a:t>
            </a:r>
            <a:r>
              <a:rPr lang="en-US" i="1" dirty="0" err="1"/>
              <a:t>dept</a:t>
            </a:r>
            <a:r>
              <a:rPr lang="en-US" dirty="0"/>
              <a:t>: relating courses with departments.</a:t>
            </a:r>
          </a:p>
          <a:p>
            <a:r>
              <a:rPr lang="en-US" i="1" dirty="0" smtClean="0"/>
              <a:t>sec </a:t>
            </a:r>
            <a:r>
              <a:rPr lang="en-US" i="1" dirty="0"/>
              <a:t>course</a:t>
            </a:r>
            <a:r>
              <a:rPr lang="en-US" dirty="0"/>
              <a:t>: relating sections with courses.</a:t>
            </a:r>
          </a:p>
          <a:p>
            <a:r>
              <a:rPr lang="en-US" i="1" dirty="0" smtClean="0"/>
              <a:t>sec </a:t>
            </a:r>
            <a:r>
              <a:rPr lang="en-US" i="1" dirty="0"/>
              <a:t>class</a:t>
            </a:r>
            <a:r>
              <a:rPr lang="en-US" dirty="0"/>
              <a:t>: relating sections with classrooms.</a:t>
            </a:r>
          </a:p>
          <a:p>
            <a:r>
              <a:rPr lang="en-US" i="1" dirty="0" smtClean="0"/>
              <a:t>sec </a:t>
            </a:r>
            <a:r>
              <a:rPr lang="en-US" i="1" dirty="0"/>
              <a:t>time slot</a:t>
            </a:r>
            <a:r>
              <a:rPr lang="en-US" dirty="0"/>
              <a:t>: relating sections with time slots.</a:t>
            </a:r>
          </a:p>
          <a:p>
            <a:r>
              <a:rPr lang="en-US" i="1" dirty="0" smtClean="0"/>
              <a:t>advisor</a:t>
            </a:r>
            <a:r>
              <a:rPr lang="en-US" dirty="0"/>
              <a:t>: relating students with instructors.</a:t>
            </a:r>
          </a:p>
          <a:p>
            <a:r>
              <a:rPr lang="en-US" i="1" dirty="0" err="1" smtClean="0"/>
              <a:t>prereq</a:t>
            </a:r>
            <a:r>
              <a:rPr lang="en-US" dirty="0"/>
              <a:t>: relating courses with prerequisite courses.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8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"/>
            <a:ext cx="7696200" cy="614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7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/>
          <a:lstStyle/>
          <a:p>
            <a:r>
              <a:rPr lang="en-US" dirty="0" smtClean="0"/>
              <a:t>Exercise :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Arial Narrow" panose="020B0606020202030204" pitchFamily="34" charset="0"/>
              </a:rPr>
              <a:t>Construct an E-R diagram for a car insurance company whose customers </a:t>
            </a:r>
            <a:r>
              <a:rPr lang="en-US" sz="2800" dirty="0" smtClean="0">
                <a:latin typeface="Arial Narrow" panose="020B0606020202030204" pitchFamily="34" charset="0"/>
              </a:rPr>
              <a:t>own one </a:t>
            </a:r>
            <a:r>
              <a:rPr lang="en-US" sz="2800" dirty="0">
                <a:latin typeface="Arial Narrow" panose="020B0606020202030204" pitchFamily="34" charset="0"/>
              </a:rPr>
              <a:t>or more cars each. Each car has associated with it zero to any number </a:t>
            </a:r>
            <a:r>
              <a:rPr lang="en-US" sz="2800" dirty="0" smtClean="0">
                <a:latin typeface="Arial Narrow" panose="020B0606020202030204" pitchFamily="34" charset="0"/>
              </a:rPr>
              <a:t>of recorded </a:t>
            </a:r>
            <a:r>
              <a:rPr lang="en-US" sz="2800" dirty="0">
                <a:latin typeface="Arial Narrow" panose="020B0606020202030204" pitchFamily="34" charset="0"/>
              </a:rPr>
              <a:t>accidents. Each insurance policy covers one or more cars and has </a:t>
            </a:r>
            <a:r>
              <a:rPr lang="en-US" sz="2800" dirty="0" smtClean="0">
                <a:latin typeface="Arial Narrow" panose="020B0606020202030204" pitchFamily="34" charset="0"/>
              </a:rPr>
              <a:t>one or </a:t>
            </a:r>
            <a:r>
              <a:rPr lang="en-US" sz="2800" dirty="0">
                <a:latin typeface="Arial Narrow" panose="020B0606020202030204" pitchFamily="34" charset="0"/>
              </a:rPr>
              <a:t>more premium payments associated with it. Each payment is for a </a:t>
            </a:r>
            <a:r>
              <a:rPr lang="en-US" sz="2800" dirty="0" smtClean="0">
                <a:latin typeface="Arial Narrow" panose="020B0606020202030204" pitchFamily="34" charset="0"/>
              </a:rPr>
              <a:t>particular period </a:t>
            </a:r>
            <a:r>
              <a:rPr lang="en-US" sz="2800" dirty="0">
                <a:latin typeface="Arial Narrow" panose="020B0606020202030204" pitchFamily="34" charset="0"/>
              </a:rPr>
              <a:t>of time, and has an associated due date, and the date when the </a:t>
            </a:r>
            <a:r>
              <a:rPr lang="en-US" sz="2800" dirty="0" smtClean="0">
                <a:latin typeface="Arial Narrow" panose="020B0606020202030204" pitchFamily="34" charset="0"/>
              </a:rPr>
              <a:t>payment was </a:t>
            </a:r>
            <a:r>
              <a:rPr lang="en-US" sz="2800" dirty="0">
                <a:latin typeface="Arial Narrow" panose="020B0606020202030204" pitchFamily="34" charset="0"/>
              </a:rPr>
              <a:t>received.</a:t>
            </a:r>
            <a:endParaRPr lang="en-IN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290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2487</TotalTime>
  <Words>1711</Words>
  <Application>Microsoft Office PowerPoint</Application>
  <PresentationFormat>On-screen Show (4:3)</PresentationFormat>
  <Paragraphs>212</Paragraphs>
  <Slides>45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Equity</vt:lpstr>
      <vt:lpstr>Relationship in ER-Model</vt:lpstr>
      <vt:lpstr>PowerPoint Presentation</vt:lpstr>
      <vt:lpstr>Entity Set</vt:lpstr>
      <vt:lpstr>Attributes</vt:lpstr>
      <vt:lpstr>ER model Notations</vt:lpstr>
      <vt:lpstr>Relationship</vt:lpstr>
      <vt:lpstr>Associative Entities</vt:lpstr>
      <vt:lpstr>Relationship set</vt:lpstr>
      <vt:lpstr>Role indicators</vt:lpstr>
      <vt:lpstr>Degree of Relationship</vt:lpstr>
      <vt:lpstr>Binary Relationship and Cardinality ratio</vt:lpstr>
      <vt:lpstr>Ternary Relationship </vt:lpstr>
      <vt:lpstr>Types of Attributes</vt:lpstr>
      <vt:lpstr>PowerPoint Presentation</vt:lpstr>
      <vt:lpstr>PowerPoint Presentation</vt:lpstr>
      <vt:lpstr>Descriptive attributes</vt:lpstr>
      <vt:lpstr>Attributes for relationship types</vt:lpstr>
      <vt:lpstr>Attributes for relationship types-Examples</vt:lpstr>
      <vt:lpstr>Mapping Cardinalities</vt:lpstr>
      <vt:lpstr>PowerPoint Presentation</vt:lpstr>
      <vt:lpstr>PowerPoint Presentation</vt:lpstr>
      <vt:lpstr>Mapping Cardinalities</vt:lpstr>
      <vt:lpstr>Mapping Cardinalities</vt:lpstr>
      <vt:lpstr>Binary Relationship and Cardinality ratio- Examples</vt:lpstr>
      <vt:lpstr>Binary Relationship and Cardinality ratio- Examples</vt:lpstr>
      <vt:lpstr>Binary Relationship and Cardinality ratio- Examples</vt:lpstr>
      <vt:lpstr>Participation constraints</vt:lpstr>
      <vt:lpstr>Participation constraints</vt:lpstr>
      <vt:lpstr>Participation constraints Examples</vt:lpstr>
      <vt:lpstr>Structural Constraints</vt:lpstr>
      <vt:lpstr>PowerPoint Presentation</vt:lpstr>
      <vt:lpstr>Recursive Relationship &amp; Role Name</vt:lpstr>
      <vt:lpstr>Weak Entity set</vt:lpstr>
      <vt:lpstr>PowerPoint Presentation</vt:lpstr>
      <vt:lpstr>Weak Entity set</vt:lpstr>
      <vt:lpstr>ER Diagram construction</vt:lpstr>
      <vt:lpstr>ER Diagram</vt:lpstr>
      <vt:lpstr>ER Diagram</vt:lpstr>
      <vt:lpstr>Removing Redundant Attributes in Entity Sets</vt:lpstr>
      <vt:lpstr>Example of an ER Diagram</vt:lpstr>
      <vt:lpstr>PowerPoint Presentation</vt:lpstr>
      <vt:lpstr>PowerPoint Presentation</vt:lpstr>
      <vt:lpstr>PowerPoint Presentation</vt:lpstr>
      <vt:lpstr>PowerPoint Presentation</vt:lpstr>
      <vt:lpstr>Exercise :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Entity- Relationship Model</dc:title>
  <dc:creator>VIT-Laptop</dc:creator>
  <cp:lastModifiedBy>HP</cp:lastModifiedBy>
  <cp:revision>72</cp:revision>
  <dcterms:created xsi:type="dcterms:W3CDTF">2006-08-16T00:00:00Z</dcterms:created>
  <dcterms:modified xsi:type="dcterms:W3CDTF">2024-07-30T15:44:57Z</dcterms:modified>
</cp:coreProperties>
</file>