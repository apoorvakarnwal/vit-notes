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65" r:id="rId4"/>
    <p:sldId id="266" r:id="rId5"/>
    <p:sldId id="286" r:id="rId6"/>
    <p:sldId id="296" r:id="rId7"/>
    <p:sldId id="285" r:id="rId8"/>
    <p:sldId id="275" r:id="rId9"/>
    <p:sldId id="276" r:id="rId10"/>
    <p:sldId id="297" r:id="rId11"/>
    <p:sldId id="278" r:id="rId12"/>
    <p:sldId id="295" r:id="rId13"/>
    <p:sldId id="279" r:id="rId14"/>
    <p:sldId id="288" r:id="rId15"/>
    <p:sldId id="289" r:id="rId16"/>
    <p:sldId id="290" r:id="rId17"/>
    <p:sldId id="291" r:id="rId18"/>
    <p:sldId id="282" r:id="rId19"/>
    <p:sldId id="281" r:id="rId20"/>
    <p:sldId id="283" r:id="rId21"/>
    <p:sldId id="292" r:id="rId22"/>
    <p:sldId id="271" r:id="rId23"/>
    <p:sldId id="272" r:id="rId24"/>
    <p:sldId id="280" r:id="rId25"/>
    <p:sldId id="273" r:id="rId26"/>
    <p:sldId id="274" r:id="rId27"/>
    <p:sldId id="298" r:id="rId28"/>
    <p:sldId id="299" r:id="rId29"/>
    <p:sldId id="301" r:id="rId30"/>
    <p:sldId id="302"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EE9EE7E-A615-4E64-BE13-563FFB8DF2FA}" type="datetimeFigureOut">
              <a:rPr lang="en-IN" smtClean="0"/>
              <a:t>05-08-2024</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87C83ED2-A50A-421F-91E8-49D824A44952}" type="slidenum">
              <a:rPr lang="en-IN" smtClean="0"/>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EE9EE7E-A615-4E64-BE13-563FFB8DF2FA}" type="datetimeFigureOut">
              <a:rPr lang="en-IN" smtClean="0"/>
              <a:t>05-08-2024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C83ED2-A50A-421F-91E8-49D824A44952}" type="slidenum">
              <a:rPr lang="en-IN" smtClean="0"/>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EE9EE7E-A615-4E64-BE13-563FFB8DF2FA}" type="datetimeFigureOut">
              <a:rPr lang="en-IN" smtClean="0"/>
              <a:t>05-08-2024</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87C83ED2-A50A-421F-91E8-49D824A44952}"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EE9EE7E-A615-4E64-BE13-563FFB8DF2FA}" type="datetimeFigureOut">
              <a:rPr lang="en-IN" smtClean="0"/>
              <a:t>05-08-2024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C83ED2-A50A-421F-91E8-49D824A44952}"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EE9EE7E-A615-4E64-BE13-563FFB8DF2FA}" type="datetimeFigureOut">
              <a:rPr lang="en-IN" smtClean="0"/>
              <a:t>05-08-2024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7C83ED2-A50A-421F-91E8-49D824A44952}"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EE9EE7E-A615-4E64-BE13-563FFB8DF2FA}" type="datetimeFigureOut">
              <a:rPr lang="en-IN" smtClean="0"/>
              <a:t>05-08-2024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7C83ED2-A50A-421F-91E8-49D824A4495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E9EE7E-A615-4E64-BE13-563FFB8DF2FA}" type="datetimeFigureOut">
              <a:rPr lang="en-IN" smtClean="0"/>
              <a:t>05-08-2024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7C83ED2-A50A-421F-91E8-49D824A4495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EE9EE7E-A615-4E64-BE13-563FFB8DF2FA}" type="datetimeFigureOut">
              <a:rPr lang="en-IN" smtClean="0"/>
              <a:t>05-08-2024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C83ED2-A50A-421F-91E8-49D824A44952}"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EE9EE7E-A615-4E64-BE13-563FFB8DF2FA}" type="datetimeFigureOut">
              <a:rPr lang="en-IN" smtClean="0"/>
              <a:t>05-08-2024</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87C83ED2-A50A-421F-91E8-49D824A44952}"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EE9EE7E-A615-4E64-BE13-563FFB8DF2FA}" type="datetimeFigureOut">
              <a:rPr lang="en-IN" smtClean="0"/>
              <a:t>05-08-2024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C83ED2-A50A-421F-91E8-49D824A4495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EE9EE7E-A615-4E64-BE13-563FFB8DF2FA}" type="datetimeFigureOut">
              <a:rPr lang="en-IN" smtClean="0"/>
              <a:t>05-08-2024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C83ED2-A50A-421F-91E8-49D824A4495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EE9EE7E-A615-4E64-BE13-563FFB8DF2FA}" type="datetimeFigureOut">
              <a:rPr lang="en-IN" smtClean="0"/>
              <a:t>05-08-2024</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87C83ED2-A50A-421F-91E8-49D824A4495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03648" y="3501008"/>
            <a:ext cx="6400800" cy="1600200"/>
          </a:xfrm>
        </p:spPr>
        <p:txBody>
          <a:bodyPr/>
          <a:lstStyle/>
          <a:p>
            <a:r>
              <a:rPr lang="en-US" dirty="0" smtClean="0"/>
              <a:t>T. JOSHVA DEVADAS</a:t>
            </a:r>
          </a:p>
          <a:p>
            <a:r>
              <a:rPr lang="en-US" dirty="0" smtClean="0"/>
              <a:t>PROFESSOR </a:t>
            </a:r>
          </a:p>
          <a:p>
            <a:r>
              <a:rPr lang="en-US" dirty="0" smtClean="0"/>
              <a:t>SJT </a:t>
            </a:r>
            <a:r>
              <a:rPr lang="en-US" dirty="0" smtClean="0"/>
              <a:t>ANNEX 103F</a:t>
            </a:r>
            <a:endParaRPr lang="en-IN" dirty="0"/>
          </a:p>
        </p:txBody>
      </p:sp>
      <p:sp>
        <p:nvSpPr>
          <p:cNvPr id="2" name="Title 1"/>
          <p:cNvSpPr>
            <a:spLocks noGrp="1"/>
          </p:cNvSpPr>
          <p:nvPr>
            <p:ph type="ctrTitle"/>
          </p:nvPr>
        </p:nvSpPr>
        <p:spPr/>
        <p:txBody>
          <a:bodyPr/>
          <a:lstStyle/>
          <a:p>
            <a:r>
              <a:rPr lang="en-US" dirty="0" smtClean="0"/>
              <a:t>Extended ER features</a:t>
            </a:r>
            <a:endParaRPr lang="en-IN" dirty="0"/>
          </a:p>
        </p:txBody>
      </p:sp>
    </p:spTree>
    <p:extLst>
      <p:ext uri="{BB962C8B-B14F-4D97-AF65-F5344CB8AC3E}">
        <p14:creationId xmlns:p14="http://schemas.microsoft.com/office/powerpoint/2010/main" val="39364229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US" dirty="0"/>
              <a:t>EER is a high-level data model that incorporates the extensions to the original ER model</a:t>
            </a:r>
            <a:r>
              <a:rPr lang="en-US" dirty="0" smtClean="0"/>
              <a:t>. </a:t>
            </a:r>
          </a:p>
          <a:p>
            <a:r>
              <a:rPr lang="en-US" b="1" dirty="0" smtClean="0"/>
              <a:t>It </a:t>
            </a:r>
            <a:r>
              <a:rPr lang="en-US" b="1" dirty="0"/>
              <a:t>is a diagrammatic technique for displaying the following </a:t>
            </a:r>
            <a:r>
              <a:rPr lang="en-US" b="1" dirty="0" smtClean="0"/>
              <a:t>concepts</a:t>
            </a:r>
          </a:p>
          <a:p>
            <a:pPr lvl="1"/>
            <a:r>
              <a:rPr lang="en-US" dirty="0" smtClean="0">
                <a:solidFill>
                  <a:srgbClr val="FF0000"/>
                </a:solidFill>
              </a:rPr>
              <a:t>Sub </a:t>
            </a:r>
            <a:r>
              <a:rPr lang="en-US" dirty="0">
                <a:solidFill>
                  <a:srgbClr val="FF0000"/>
                </a:solidFill>
              </a:rPr>
              <a:t>Class and Super Class</a:t>
            </a:r>
          </a:p>
          <a:p>
            <a:pPr lvl="1"/>
            <a:r>
              <a:rPr lang="en-US" dirty="0">
                <a:solidFill>
                  <a:srgbClr val="FF0000"/>
                </a:solidFill>
              </a:rPr>
              <a:t>Specialization and Generalization</a:t>
            </a:r>
          </a:p>
          <a:p>
            <a:pPr lvl="1"/>
            <a:r>
              <a:rPr lang="en-US" dirty="0">
                <a:solidFill>
                  <a:srgbClr val="FF0000"/>
                </a:solidFill>
              </a:rPr>
              <a:t>Union or Category</a:t>
            </a:r>
          </a:p>
          <a:p>
            <a:pPr lvl="1"/>
            <a:r>
              <a:rPr lang="en-US" dirty="0">
                <a:solidFill>
                  <a:srgbClr val="FF0000"/>
                </a:solidFill>
              </a:rPr>
              <a:t>Aggregation</a:t>
            </a:r>
          </a:p>
          <a:p>
            <a:r>
              <a:rPr lang="en-US" dirty="0"/>
              <a:t>These concepts are used when the comes in EER schema and the resulting schema diagrams called as EER Diagrams.</a:t>
            </a:r>
            <a:endParaRPr lang="en-IN" dirty="0"/>
          </a:p>
        </p:txBody>
      </p:sp>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a:t>
            </a:fld>
            <a:endParaRPr lang="en-US" altLang="en-US"/>
          </a:p>
        </p:txBody>
      </p:sp>
    </p:spTree>
    <p:extLst>
      <p:ext uri="{BB962C8B-B14F-4D97-AF65-F5344CB8AC3E}">
        <p14:creationId xmlns:p14="http://schemas.microsoft.com/office/powerpoint/2010/main" val="27508038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71400"/>
            <a:ext cx="7772400" cy="922114"/>
          </a:xfrm>
        </p:spPr>
        <p:txBody>
          <a:bodyPr>
            <a:normAutofit/>
          </a:bodyPr>
          <a:lstStyle/>
          <a:p>
            <a:r>
              <a:rPr lang="en-US" sz="4800" b="1" dirty="0"/>
              <a:t>A. Sub Class and Super </a:t>
            </a:r>
            <a:r>
              <a:rPr lang="en-US" sz="4800" b="1" dirty="0" smtClean="0"/>
              <a:t>Class</a:t>
            </a:r>
            <a:endParaRPr lang="en-IN" sz="4800" dirty="0"/>
          </a:p>
        </p:txBody>
      </p:sp>
      <p:sp>
        <p:nvSpPr>
          <p:cNvPr id="3" name="Content Placeholder 2"/>
          <p:cNvSpPr>
            <a:spLocks noGrp="1"/>
          </p:cNvSpPr>
          <p:nvPr>
            <p:ph sz="quarter" idx="1"/>
          </p:nvPr>
        </p:nvSpPr>
        <p:spPr>
          <a:xfrm>
            <a:off x="19910" y="692696"/>
            <a:ext cx="9232610" cy="5976664"/>
          </a:xfrm>
        </p:spPr>
        <p:txBody>
          <a:bodyPr>
            <a:noAutofit/>
          </a:bodyPr>
          <a:lstStyle/>
          <a:p>
            <a:r>
              <a:rPr lang="en-US" sz="2800" dirty="0" smtClean="0"/>
              <a:t>Sub class </a:t>
            </a:r>
            <a:r>
              <a:rPr lang="en-US" sz="2800" dirty="0"/>
              <a:t>and Super class relationship leads the concept of Inheritance</a:t>
            </a:r>
            <a:r>
              <a:rPr lang="en-US" sz="2800" dirty="0" smtClean="0"/>
              <a:t>. The </a:t>
            </a:r>
            <a:r>
              <a:rPr lang="en-US" sz="2800" dirty="0"/>
              <a:t>relationship between sub class and super class is denoted with  symbol a </a:t>
            </a:r>
            <a:r>
              <a:rPr lang="en-US" sz="2800" b="1" dirty="0">
                <a:solidFill>
                  <a:srgbClr val="FF0000"/>
                </a:solidFill>
              </a:rPr>
              <a:t>hollow arrow-head pointing from the specialized entity to the other entity </a:t>
            </a:r>
          </a:p>
          <a:p>
            <a:r>
              <a:rPr lang="en-US" sz="2800" b="1" dirty="0" smtClean="0">
                <a:solidFill>
                  <a:srgbClr val="FF0000"/>
                </a:solidFill>
              </a:rPr>
              <a:t>Super Class : </a:t>
            </a:r>
            <a:r>
              <a:rPr lang="en-US" sz="2800" dirty="0" smtClean="0"/>
              <a:t>Super </a:t>
            </a:r>
            <a:r>
              <a:rPr lang="en-US" sz="2800" dirty="0"/>
              <a:t>class is an entity type that has a relationship with one or more subtypes.</a:t>
            </a:r>
          </a:p>
          <a:p>
            <a:r>
              <a:rPr lang="en-US" sz="2800" dirty="0"/>
              <a:t>An entity cannot exist in database merely by being member of any super class</a:t>
            </a:r>
            <a:r>
              <a:rPr lang="en-US" sz="2800" dirty="0" smtClean="0"/>
              <a:t>. </a:t>
            </a:r>
            <a:r>
              <a:rPr lang="en-US" sz="2800" u="sng" dirty="0" smtClean="0"/>
              <a:t>For </a:t>
            </a:r>
            <a:r>
              <a:rPr lang="en-US" sz="2800" u="sng" dirty="0"/>
              <a:t>example</a:t>
            </a:r>
            <a:r>
              <a:rPr lang="en-US" sz="2800" dirty="0"/>
              <a:t>: </a:t>
            </a:r>
            <a:r>
              <a:rPr lang="en-US" sz="2800" b="1" dirty="0"/>
              <a:t>Shape</a:t>
            </a:r>
            <a:r>
              <a:rPr lang="en-US" sz="2800" dirty="0"/>
              <a:t> super class is having sub groups as </a:t>
            </a:r>
            <a:r>
              <a:rPr lang="en-US" sz="2800" b="1" dirty="0"/>
              <a:t>Square, Circle, Triangle</a:t>
            </a:r>
            <a:r>
              <a:rPr lang="en-US" sz="2800" dirty="0"/>
              <a:t>.</a:t>
            </a:r>
          </a:p>
          <a:p>
            <a:r>
              <a:rPr lang="en-US" sz="2800" b="1" dirty="0" smtClean="0">
                <a:solidFill>
                  <a:srgbClr val="FF0000"/>
                </a:solidFill>
              </a:rPr>
              <a:t>Sub Class : </a:t>
            </a:r>
            <a:r>
              <a:rPr lang="en-US" sz="2800" dirty="0" smtClean="0"/>
              <a:t>Sub </a:t>
            </a:r>
            <a:r>
              <a:rPr lang="en-US" sz="2800" dirty="0"/>
              <a:t>class is a group of entities with unique attributes.</a:t>
            </a:r>
          </a:p>
          <a:p>
            <a:r>
              <a:rPr lang="en-US" sz="2800" dirty="0"/>
              <a:t>Sub class </a:t>
            </a:r>
            <a:r>
              <a:rPr lang="en-US" sz="2800" u="sng" dirty="0" smtClean="0">
                <a:solidFill>
                  <a:srgbClr val="FF0000"/>
                </a:solidFill>
              </a:rPr>
              <a:t>inherit </a:t>
            </a:r>
            <a:r>
              <a:rPr lang="en-US" sz="2800" u="sng" dirty="0">
                <a:solidFill>
                  <a:srgbClr val="FF0000"/>
                </a:solidFill>
              </a:rPr>
              <a:t>properties and attributes</a:t>
            </a:r>
            <a:r>
              <a:rPr lang="en-US" sz="2800" dirty="0"/>
              <a:t> from its super class.</a:t>
            </a:r>
            <a:br>
              <a:rPr lang="en-US" sz="2800" dirty="0"/>
            </a:br>
            <a:r>
              <a:rPr lang="en-US" sz="2800" b="1" dirty="0"/>
              <a:t>For example:</a:t>
            </a:r>
            <a:r>
              <a:rPr lang="en-US" sz="2800" dirty="0"/>
              <a:t> Square, Circle, Triangle are the sub class of Shape super class.</a:t>
            </a:r>
          </a:p>
          <a:p>
            <a:r>
              <a:rPr lang="en-US" sz="2800" dirty="0"/>
              <a:t/>
            </a:r>
            <a:br>
              <a:rPr lang="en-US" sz="2800" dirty="0"/>
            </a:br>
            <a:endParaRPr lang="en-IN" sz="2800" dirty="0"/>
          </a:p>
        </p:txBody>
      </p:sp>
      <p:sp>
        <p:nvSpPr>
          <p:cNvPr id="4" name="Slide Number Placeholder 5"/>
          <p:cNvSpPr>
            <a:spLocks noGrp="1"/>
          </p:cNvSpPr>
          <p:nvPr>
            <p:ph type="sldNum" sz="quarter" idx="12"/>
          </p:nvPr>
        </p:nvSpPr>
        <p:spPr>
          <a:xfrm>
            <a:off x="8363272" y="6210300"/>
            <a:ext cx="457200" cy="457200"/>
          </a:xfrm>
        </p:spPr>
        <p:txBody>
          <a:bodyPr/>
          <a:lstStyle/>
          <a:p>
            <a:fld id="{B99A9720-9669-4622-9DDA-6A5C4126B66A}" type="slidenum">
              <a:rPr lang="en-US" altLang="en-US"/>
              <a:pPr/>
              <a:t>3</a:t>
            </a:fld>
            <a:endParaRPr lang="en-US" altLang="en-US"/>
          </a:p>
        </p:txBody>
      </p:sp>
    </p:spTree>
    <p:extLst>
      <p:ext uri="{BB962C8B-B14F-4D97-AF65-F5344CB8AC3E}">
        <p14:creationId xmlns:p14="http://schemas.microsoft.com/office/powerpoint/2010/main" val="25426587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331640" y="908721"/>
            <a:ext cx="6489695"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4</a:t>
            </a:fld>
            <a:endParaRPr lang="en-US" altLang="en-US"/>
          </a:p>
        </p:txBody>
      </p:sp>
    </p:spTree>
    <p:extLst>
      <p:ext uri="{BB962C8B-B14F-4D97-AF65-F5344CB8AC3E}">
        <p14:creationId xmlns:p14="http://schemas.microsoft.com/office/powerpoint/2010/main" val="6641069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 y="266700"/>
            <a:ext cx="9067800" cy="632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5</a:t>
            </a:fld>
            <a:endParaRPr lang="en-US" altLang="en-US"/>
          </a:p>
        </p:txBody>
      </p:sp>
    </p:spTree>
    <p:extLst>
      <p:ext uri="{BB962C8B-B14F-4D97-AF65-F5344CB8AC3E}">
        <p14:creationId xmlns:p14="http://schemas.microsoft.com/office/powerpoint/2010/main" val="19348414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smtClean="0"/>
              <a:t>Constraints and its Types</a:t>
            </a:r>
            <a:endParaRPr lang="en-IN" sz="4800" b="1" dirty="0"/>
          </a:p>
        </p:txBody>
      </p:sp>
      <p:sp>
        <p:nvSpPr>
          <p:cNvPr id="3" name="Content Placeholder 2"/>
          <p:cNvSpPr>
            <a:spLocks noGrp="1"/>
          </p:cNvSpPr>
          <p:nvPr>
            <p:ph sz="quarter" idx="1"/>
          </p:nvPr>
        </p:nvSpPr>
        <p:spPr>
          <a:xfrm>
            <a:off x="914400" y="1916832"/>
            <a:ext cx="7772400" cy="4102968"/>
          </a:xfrm>
        </p:spPr>
        <p:txBody>
          <a:bodyPr/>
          <a:lstStyle/>
          <a:p>
            <a:r>
              <a:rPr lang="en-US" sz="3200" dirty="0"/>
              <a:t>There are three constraints that may apply to a specialization/generalization: </a:t>
            </a:r>
            <a:endParaRPr lang="en-US" sz="3200" dirty="0" smtClean="0"/>
          </a:p>
          <a:p>
            <a:pPr lvl="2"/>
            <a:r>
              <a:rPr lang="en-US" sz="2800" b="1" dirty="0" smtClean="0">
                <a:solidFill>
                  <a:srgbClr val="FF0000"/>
                </a:solidFill>
              </a:rPr>
              <a:t>Disjoint </a:t>
            </a:r>
            <a:r>
              <a:rPr lang="en-US" sz="2800" b="1" dirty="0">
                <a:solidFill>
                  <a:srgbClr val="FF0000"/>
                </a:solidFill>
              </a:rPr>
              <a:t>C</a:t>
            </a:r>
            <a:r>
              <a:rPr lang="en-US" sz="2800" b="1" dirty="0" smtClean="0">
                <a:solidFill>
                  <a:srgbClr val="FF0000"/>
                </a:solidFill>
              </a:rPr>
              <a:t>onstraints </a:t>
            </a:r>
            <a:r>
              <a:rPr lang="en-US" sz="2800" b="1" dirty="0">
                <a:solidFill>
                  <a:srgbClr val="FF0000"/>
                </a:solidFill>
              </a:rPr>
              <a:t>and </a:t>
            </a:r>
            <a:endParaRPr lang="en-US" sz="2800" b="1" dirty="0" smtClean="0">
              <a:solidFill>
                <a:srgbClr val="FF0000"/>
              </a:solidFill>
            </a:endParaRPr>
          </a:p>
          <a:p>
            <a:pPr lvl="2"/>
            <a:r>
              <a:rPr lang="en-US" sz="2800" b="1" dirty="0" smtClean="0">
                <a:solidFill>
                  <a:srgbClr val="FF0000"/>
                </a:solidFill>
              </a:rPr>
              <a:t>Completeness Constraints.</a:t>
            </a:r>
          </a:p>
          <a:p>
            <a:pPr lvl="2"/>
            <a:r>
              <a:rPr lang="en-US" sz="2800" b="1" dirty="0">
                <a:solidFill>
                  <a:srgbClr val="FF0000"/>
                </a:solidFill>
              </a:rPr>
              <a:t>Membership Constraints</a:t>
            </a:r>
          </a:p>
          <a:p>
            <a:pPr marL="274320" lvl="1" indent="0">
              <a:buNone/>
            </a:pPr>
            <a:r>
              <a:rPr lang="en-US" dirty="0"/>
              <a:t/>
            </a:r>
            <a:br>
              <a:rPr lang="en-US" dirty="0"/>
            </a:br>
            <a:endParaRPr lang="en-IN" dirty="0"/>
          </a:p>
        </p:txBody>
      </p:sp>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6</a:t>
            </a:fld>
            <a:endParaRPr lang="en-US" altLang="en-US"/>
          </a:p>
        </p:txBody>
      </p:sp>
    </p:spTree>
    <p:extLst>
      <p:ext uri="{BB962C8B-B14F-4D97-AF65-F5344CB8AC3E}">
        <p14:creationId xmlns:p14="http://schemas.microsoft.com/office/powerpoint/2010/main" val="34249799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Disjointness</a:t>
            </a:r>
            <a:r>
              <a:rPr lang="en-US" b="1" dirty="0" smtClean="0"/>
              <a:t> Constraints </a:t>
            </a:r>
            <a:r>
              <a:rPr lang="en-US" b="1" dirty="0"/>
              <a:t>on Specialization and Generalization</a:t>
            </a:r>
            <a:r>
              <a:rPr lang="en-US" dirty="0"/>
              <a:t> </a:t>
            </a:r>
            <a:endParaRPr lang="en-IN" dirty="0"/>
          </a:p>
        </p:txBody>
      </p:sp>
      <p:sp>
        <p:nvSpPr>
          <p:cNvPr id="3" name="Content Placeholder 2"/>
          <p:cNvSpPr>
            <a:spLocks noGrp="1"/>
          </p:cNvSpPr>
          <p:nvPr>
            <p:ph sz="quarter" idx="1"/>
          </p:nvPr>
        </p:nvSpPr>
        <p:spPr>
          <a:xfrm>
            <a:off x="914400" y="1340768"/>
            <a:ext cx="7772400" cy="5256584"/>
          </a:xfrm>
        </p:spPr>
        <p:txBody>
          <a:bodyPr>
            <a:normAutofit fontScale="92500"/>
          </a:bodyPr>
          <a:lstStyle/>
          <a:p>
            <a:r>
              <a:rPr lang="en-US" dirty="0" smtClean="0">
                <a:latin typeface="Times New Roman" pitchFamily="18" charset="0"/>
                <a:cs typeface="Times New Roman" pitchFamily="18" charset="0"/>
              </a:rPr>
              <a:t>There are two type of constraints  in specializations.</a:t>
            </a:r>
          </a:p>
          <a:p>
            <a:r>
              <a:rPr lang="en-US" b="1" dirty="0" err="1" smtClean="0">
                <a:solidFill>
                  <a:srgbClr val="FF0000"/>
                </a:solidFill>
                <a:latin typeface="Times New Roman" pitchFamily="18" charset="0"/>
                <a:cs typeface="Times New Roman" pitchFamily="18" charset="0"/>
              </a:rPr>
              <a:t>Disjointness</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specifies that the subclasses of the </a:t>
            </a:r>
            <a:r>
              <a:rPr lang="en-US" dirty="0" smtClean="0">
                <a:latin typeface="Times New Roman" pitchFamily="18" charset="0"/>
                <a:cs typeface="Times New Roman" pitchFamily="18" charset="0"/>
              </a:rPr>
              <a:t>specialization  must </a:t>
            </a:r>
            <a:r>
              <a:rPr lang="en-US" dirty="0">
                <a:latin typeface="Times New Roman" pitchFamily="18" charset="0"/>
                <a:cs typeface="Times New Roman" pitchFamily="18" charset="0"/>
              </a:rPr>
              <a:t>be disjoint. </a:t>
            </a:r>
            <a:r>
              <a:rPr lang="en-US" dirty="0" smtClean="0">
                <a:latin typeface="Times New Roman" pitchFamily="18" charset="0"/>
                <a:cs typeface="Times New Roman" pitchFamily="18" charset="0"/>
              </a:rPr>
              <a:t> The notation of disjoint constraint is </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There are four further possible constraints on specialization</a:t>
            </a:r>
          </a:p>
          <a:p>
            <a:pPr lvl="1"/>
            <a:r>
              <a:rPr lang="en-US" dirty="0" smtClean="0">
                <a:latin typeface="Times New Roman" pitchFamily="18" charset="0"/>
                <a:cs typeface="Times New Roman" pitchFamily="18" charset="0"/>
              </a:rPr>
              <a:t>Disjoint total</a:t>
            </a:r>
          </a:p>
          <a:p>
            <a:pPr lvl="1"/>
            <a:r>
              <a:rPr lang="en-US" dirty="0" smtClean="0">
                <a:latin typeface="Times New Roman" pitchFamily="18" charset="0"/>
                <a:cs typeface="Times New Roman" pitchFamily="18" charset="0"/>
              </a:rPr>
              <a:t>Disjoint partial</a:t>
            </a:r>
          </a:p>
          <a:p>
            <a:pPr lvl="1"/>
            <a:r>
              <a:rPr lang="en-US" dirty="0" smtClean="0">
                <a:latin typeface="Times New Roman" pitchFamily="18" charset="0"/>
                <a:cs typeface="Times New Roman" pitchFamily="18" charset="0"/>
              </a:rPr>
              <a:t>Overlapping total</a:t>
            </a:r>
          </a:p>
          <a:p>
            <a:pPr lvl="1"/>
            <a:r>
              <a:rPr lang="en-US" dirty="0" smtClean="0">
                <a:latin typeface="Times New Roman" pitchFamily="18" charset="0"/>
                <a:cs typeface="Times New Roman" pitchFamily="18" charset="0"/>
              </a:rPr>
              <a:t>Overlapping partial</a:t>
            </a:r>
          </a:p>
          <a:p>
            <a:r>
              <a:rPr lang="en-US" b="1" dirty="0" smtClean="0">
                <a:solidFill>
                  <a:srgbClr val="FF0000"/>
                </a:solidFill>
                <a:latin typeface="Times New Roman" pitchFamily="18" charset="0"/>
                <a:cs typeface="Times New Roman" pitchFamily="18" charset="0"/>
              </a:rPr>
              <a:t>Completeness</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lvl="1"/>
            <a:r>
              <a:rPr lang="en-US" dirty="0"/>
              <a:t>D</a:t>
            </a:r>
            <a:r>
              <a:rPr lang="en-US" dirty="0" smtClean="0"/>
              <a:t>ecide </a:t>
            </a:r>
            <a:r>
              <a:rPr lang="en-US" dirty="0"/>
              <a:t>whether a </a:t>
            </a:r>
            <a:r>
              <a:rPr lang="en-US" dirty="0" err="1"/>
              <a:t>supertype</a:t>
            </a:r>
            <a:r>
              <a:rPr lang="en-US" dirty="0"/>
              <a:t> instance must also be a member of at least one subtype.</a:t>
            </a:r>
            <a:endParaRPr lang="en-US" dirty="0" smtClean="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4" name="Oval 3"/>
          <p:cNvSpPr/>
          <p:nvPr/>
        </p:nvSpPr>
        <p:spPr>
          <a:xfrm>
            <a:off x="4139952" y="2636912"/>
            <a:ext cx="504056" cy="504056"/>
          </a:xfrm>
          <a:prstGeom prst="ellipse">
            <a:avLst/>
          </a:prstGeom>
          <a:no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800" b="1" dirty="0" smtClean="0">
                <a:solidFill>
                  <a:schemeClr val="tx1"/>
                </a:solidFill>
              </a:rPr>
              <a:t>D</a:t>
            </a:r>
            <a:endParaRPr lang="en-IN" sz="2800" b="1" dirty="0">
              <a:solidFill>
                <a:schemeClr val="tx1"/>
              </a:solidFill>
            </a:endParaRPr>
          </a:p>
        </p:txBody>
      </p:sp>
      <p:sp>
        <p:nvSpPr>
          <p:cNvPr id="5"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7</a:t>
            </a:fld>
            <a:endParaRPr lang="en-US" altLang="en-US"/>
          </a:p>
        </p:txBody>
      </p:sp>
    </p:spTree>
    <p:extLst>
      <p:ext uri="{BB962C8B-B14F-4D97-AF65-F5344CB8AC3E}">
        <p14:creationId xmlns:p14="http://schemas.microsoft.com/office/powerpoint/2010/main" val="8110659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06090"/>
          </a:xfrm>
        </p:spPr>
        <p:txBody>
          <a:bodyPr>
            <a:normAutofit fontScale="90000"/>
          </a:bodyPr>
          <a:lstStyle/>
          <a:p>
            <a:r>
              <a:rPr lang="en-US" dirty="0" smtClean="0"/>
              <a:t>Disjoint Constraint</a:t>
            </a:r>
            <a:endParaRPr lang="en-IN" dirty="0"/>
          </a:p>
        </p:txBody>
      </p:sp>
      <p:sp>
        <p:nvSpPr>
          <p:cNvPr id="3" name="Content Placeholder 2"/>
          <p:cNvSpPr>
            <a:spLocks noGrp="1"/>
          </p:cNvSpPr>
          <p:nvPr>
            <p:ph sz="quarter" idx="1"/>
          </p:nvPr>
        </p:nvSpPr>
        <p:spPr>
          <a:xfrm>
            <a:off x="683568" y="980728"/>
            <a:ext cx="7772400" cy="4030960"/>
          </a:xfrm>
        </p:spPr>
        <p:txBody>
          <a:bodyPr/>
          <a:lstStyle/>
          <a:p>
            <a:r>
              <a:rPr lang="en-US" altLang="en-US" b="1" dirty="0"/>
              <a:t>Disjoint (d) </a:t>
            </a:r>
          </a:p>
          <a:p>
            <a:pPr lvl="1">
              <a:buFontTx/>
              <a:buChar char="•"/>
            </a:pPr>
            <a:r>
              <a:rPr lang="en-US" altLang="en-US" dirty="0"/>
              <a:t>The subclasses must have disjoint sets of entities </a:t>
            </a:r>
          </a:p>
          <a:p>
            <a:r>
              <a:rPr lang="en-US" altLang="en-US" b="1" dirty="0"/>
              <a:t>Overlap (o) </a:t>
            </a:r>
          </a:p>
          <a:p>
            <a:pPr lvl="1">
              <a:buFontTx/>
              <a:buChar char="•"/>
            </a:pPr>
            <a:r>
              <a:rPr lang="en-US" altLang="en-US" dirty="0"/>
              <a:t>The subclasses may have overlapping sets of entities </a:t>
            </a:r>
          </a:p>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68959"/>
            <a:ext cx="4320480" cy="337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3068959"/>
            <a:ext cx="4042822" cy="337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a:xfrm>
            <a:off x="146304" y="6356176"/>
            <a:ext cx="457200" cy="457200"/>
          </a:xfrm>
        </p:spPr>
        <p:txBody>
          <a:bodyPr/>
          <a:lstStyle/>
          <a:p>
            <a:fld id="{B99A9720-9669-4622-9DDA-6A5C4126B66A}" type="slidenum">
              <a:rPr lang="en-US" altLang="en-US"/>
              <a:pPr/>
              <a:t>8</a:t>
            </a:fld>
            <a:endParaRPr lang="en-US" altLang="en-US"/>
          </a:p>
        </p:txBody>
      </p:sp>
    </p:spTree>
    <p:extLst>
      <p:ext uri="{BB962C8B-B14F-4D97-AF65-F5344CB8AC3E}">
        <p14:creationId xmlns:p14="http://schemas.microsoft.com/office/powerpoint/2010/main" val="3505390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420051968"/>
              </p:ext>
            </p:extLst>
          </p:nvPr>
        </p:nvGraphicFramePr>
        <p:xfrm>
          <a:off x="395536" y="332656"/>
          <a:ext cx="8640960" cy="6259222"/>
        </p:xfrm>
        <a:graphic>
          <a:graphicData uri="http://schemas.openxmlformats.org/presentationml/2006/ole">
            <mc:AlternateContent xmlns:mc="http://schemas.openxmlformats.org/markup-compatibility/2006">
              <mc:Choice xmlns:v="urn:schemas-microsoft-com:vml" Requires="v">
                <p:oleObj spid="_x0000_s5146" name="Photo Editor Photo" r:id="rId3" imgW="7516274" imgH="6485714" progId="MSPhotoEd.3">
                  <p:embed/>
                </p:oleObj>
              </mc:Choice>
              <mc:Fallback>
                <p:oleObj name="Photo Editor Photo" r:id="rId3" imgW="7516274" imgH="6485714" progId="MSPhotoEd.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332656"/>
                        <a:ext cx="8640960" cy="6259222"/>
                      </a:xfrm>
                      <a:prstGeom prst="rect">
                        <a:avLst/>
                      </a:prstGeom>
                      <a:noFill/>
                      <a:ln>
                        <a:noFill/>
                      </a:ln>
                      <a:effectLst/>
                    </p:spPr>
                  </p:pic>
                </p:oleObj>
              </mc:Fallback>
            </mc:AlternateContent>
          </a:graphicData>
        </a:graphic>
      </p:graphicFrame>
      <p:sp>
        <p:nvSpPr>
          <p:cNvPr id="5" name="Rectangle 4"/>
          <p:cNvSpPr/>
          <p:nvPr/>
        </p:nvSpPr>
        <p:spPr>
          <a:xfrm>
            <a:off x="0" y="1556792"/>
            <a:ext cx="2520280" cy="2308324"/>
          </a:xfrm>
          <a:prstGeom prst="rect">
            <a:avLst/>
          </a:prstGeom>
        </p:spPr>
        <p:txBody>
          <a:bodyPr wrap="square">
            <a:spAutoFit/>
          </a:bodyPr>
          <a:lstStyle/>
          <a:p>
            <a:r>
              <a:rPr lang="en-US" altLang="en-US" sz="2400" b="1" dirty="0">
                <a:solidFill>
                  <a:srgbClr val="FF0000"/>
                </a:solidFill>
              </a:rPr>
              <a:t>An attribute-defined specialization on the </a:t>
            </a:r>
            <a:r>
              <a:rPr lang="en-US" altLang="en-US" sz="2400" b="1" dirty="0" err="1">
                <a:solidFill>
                  <a:srgbClr val="FF0000"/>
                </a:solidFill>
              </a:rPr>
              <a:t>JobType</a:t>
            </a:r>
            <a:r>
              <a:rPr lang="en-US" altLang="en-US" sz="2400" b="1" dirty="0">
                <a:solidFill>
                  <a:srgbClr val="FF0000"/>
                </a:solidFill>
              </a:rPr>
              <a:t> attribute of EMPLOYEE.</a:t>
            </a:r>
            <a:endParaRPr lang="en-IN" sz="2400" b="1" dirty="0">
              <a:solidFill>
                <a:srgbClr val="FF0000"/>
              </a:solidFill>
            </a:endParaRPr>
          </a:p>
        </p:txBody>
      </p:sp>
      <p:sp>
        <p:nvSpPr>
          <p:cNvPr id="6" name="Slide Number Placeholder 5"/>
          <p:cNvSpPr>
            <a:spLocks noGrp="1"/>
          </p:cNvSpPr>
          <p:nvPr>
            <p:ph type="sldNum" sz="quarter" idx="12"/>
          </p:nvPr>
        </p:nvSpPr>
        <p:spPr>
          <a:xfrm>
            <a:off x="35496" y="6356176"/>
            <a:ext cx="457200" cy="457200"/>
          </a:xfrm>
        </p:spPr>
        <p:txBody>
          <a:bodyPr/>
          <a:lstStyle/>
          <a:p>
            <a:fld id="{B99A9720-9669-4622-9DDA-6A5C4126B66A}" type="slidenum">
              <a:rPr lang="en-US" altLang="en-US"/>
              <a:pPr/>
              <a:t>9</a:t>
            </a:fld>
            <a:endParaRPr lang="en-US" altLang="en-US"/>
          </a:p>
        </p:txBody>
      </p:sp>
    </p:spTree>
    <p:extLst>
      <p:ext uri="{BB962C8B-B14F-4D97-AF65-F5344CB8AC3E}">
        <p14:creationId xmlns:p14="http://schemas.microsoft.com/office/powerpoint/2010/main" val="10128405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51520" y="1412776"/>
            <a:ext cx="7265096"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026968" y="260648"/>
            <a:ext cx="2880320" cy="1569660"/>
          </a:xfrm>
          <a:prstGeom prst="rect">
            <a:avLst/>
          </a:prstGeom>
        </p:spPr>
        <p:txBody>
          <a:bodyPr wrap="square">
            <a:spAutoFit/>
          </a:bodyPr>
          <a:lstStyle/>
          <a:p>
            <a:r>
              <a:rPr lang="en-US" sz="2400" dirty="0">
                <a:solidFill>
                  <a:srgbClr val="FF0000"/>
                </a:solidFill>
              </a:rPr>
              <a:t>Notation for specialization with overlapping (</a:t>
            </a:r>
            <a:r>
              <a:rPr lang="en-US" sz="2400" dirty="0" err="1">
                <a:solidFill>
                  <a:srgbClr val="FF0000"/>
                </a:solidFill>
              </a:rPr>
              <a:t>nondisjoint</a:t>
            </a:r>
            <a:r>
              <a:rPr lang="en-US" sz="2400" dirty="0">
                <a:solidFill>
                  <a:srgbClr val="FF0000"/>
                </a:solidFill>
              </a:rPr>
              <a:t>) subclasses.</a:t>
            </a:r>
            <a:endParaRPr lang="en-IN" sz="2400" dirty="0">
              <a:solidFill>
                <a:srgbClr val="FF0000"/>
              </a:solidFill>
            </a:endParaRPr>
          </a:p>
        </p:txBody>
      </p:sp>
      <p:sp>
        <p:nvSpPr>
          <p:cNvPr id="5"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10</a:t>
            </a:fld>
            <a:endParaRPr lang="en-US" altLang="en-US"/>
          </a:p>
        </p:txBody>
      </p:sp>
    </p:spTree>
    <p:extLst>
      <p:ext uri="{BB962C8B-B14F-4D97-AF65-F5344CB8AC3E}">
        <p14:creationId xmlns:p14="http://schemas.microsoft.com/office/powerpoint/2010/main" val="42246455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D9C3CD4-11E9-4FC5-96EA-A9FE1A20F348}" type="slidenum">
              <a:rPr lang="en-US" altLang="en-US"/>
              <a:pPr/>
              <a:t>11</a:t>
            </a:fld>
            <a:endParaRPr lang="en-US" altLang="en-US"/>
          </a:p>
        </p:txBody>
      </p:sp>
      <p:sp>
        <p:nvSpPr>
          <p:cNvPr id="27650" name="Rectangle 2"/>
          <p:cNvSpPr>
            <a:spLocks noGrp="1" noChangeArrowheads="1"/>
          </p:cNvSpPr>
          <p:nvPr>
            <p:ph type="title"/>
          </p:nvPr>
        </p:nvSpPr>
        <p:spPr>
          <a:xfrm>
            <a:off x="755576" y="548680"/>
            <a:ext cx="7772400" cy="762000"/>
          </a:xfrm>
        </p:spPr>
        <p:txBody>
          <a:bodyPr>
            <a:normAutofit fontScale="90000"/>
          </a:bodyPr>
          <a:lstStyle/>
          <a:p>
            <a:r>
              <a:rPr lang="en-US" altLang="en-US" b="1" dirty="0"/>
              <a:t/>
            </a:r>
            <a:br>
              <a:rPr lang="en-US" altLang="en-US" b="1" dirty="0"/>
            </a:br>
            <a:r>
              <a:rPr lang="en-US" altLang="en-US" b="1" dirty="0"/>
              <a:t>Completeness Constraints</a:t>
            </a:r>
          </a:p>
        </p:txBody>
      </p:sp>
      <p:sp>
        <p:nvSpPr>
          <p:cNvPr id="27651" name="Rectangle 3"/>
          <p:cNvSpPr>
            <a:spLocks noGrp="1" noChangeArrowheads="1"/>
          </p:cNvSpPr>
          <p:nvPr>
            <p:ph type="body" idx="1"/>
          </p:nvPr>
        </p:nvSpPr>
        <p:spPr>
          <a:xfrm>
            <a:off x="685800" y="1916832"/>
            <a:ext cx="7772400" cy="4179168"/>
          </a:xfrm>
        </p:spPr>
        <p:txBody>
          <a:bodyPr/>
          <a:lstStyle/>
          <a:p>
            <a:r>
              <a:rPr lang="en-US" altLang="en-US" sz="3600" b="1" dirty="0"/>
              <a:t>Partial</a:t>
            </a:r>
            <a:r>
              <a:rPr lang="en-US" altLang="en-US" b="1" dirty="0"/>
              <a:t> </a:t>
            </a:r>
          </a:p>
          <a:p>
            <a:pPr lvl="1">
              <a:buFontTx/>
              <a:buChar char="•"/>
            </a:pPr>
            <a:r>
              <a:rPr lang="en-US" altLang="en-US" sz="3200" dirty="0"/>
              <a:t>An entity may not belong to any of the subclasses (single-line) </a:t>
            </a:r>
          </a:p>
          <a:p>
            <a:r>
              <a:rPr lang="en-US" altLang="en-US" sz="3600" b="1" dirty="0"/>
              <a:t>Total </a:t>
            </a:r>
          </a:p>
          <a:p>
            <a:pPr lvl="1">
              <a:buFontTx/>
              <a:buChar char="•"/>
            </a:pPr>
            <a:r>
              <a:rPr lang="en-US" altLang="en-US" sz="3200" dirty="0"/>
              <a:t>Every entity in the superclass must be a member of some subclass (double-edge) </a:t>
            </a:r>
          </a:p>
          <a:p>
            <a:endParaRPr lang="en-US" altLang="en-US" dirty="0"/>
          </a:p>
        </p:txBody>
      </p:sp>
    </p:spTree>
    <p:extLst>
      <p:ext uri="{BB962C8B-B14F-4D97-AF65-F5344CB8AC3E}">
        <p14:creationId xmlns:p14="http://schemas.microsoft.com/office/powerpoint/2010/main" val="16077410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996028"/>
            <a:ext cx="4320480"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2" y="829451"/>
            <a:ext cx="4572000" cy="3753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55576" y="4869160"/>
            <a:ext cx="7488832" cy="1077218"/>
          </a:xfrm>
          <a:prstGeom prst="rect">
            <a:avLst/>
          </a:prstGeom>
          <a:noFill/>
        </p:spPr>
        <p:txBody>
          <a:bodyPr wrap="square" rtlCol="0">
            <a:spAutoFit/>
          </a:bodyPr>
          <a:lstStyle/>
          <a:p>
            <a:pPr algn="ctr"/>
            <a:r>
              <a:rPr lang="en-US" sz="3200" dirty="0" smtClean="0">
                <a:solidFill>
                  <a:srgbClr val="FF0000"/>
                </a:solidFill>
              </a:rPr>
              <a:t>Total                                      Partial</a:t>
            </a:r>
          </a:p>
          <a:p>
            <a:pPr algn="ctr"/>
            <a:r>
              <a:rPr lang="en-US" sz="3200" dirty="0" smtClean="0">
                <a:solidFill>
                  <a:srgbClr val="FF0000"/>
                </a:solidFill>
              </a:rPr>
              <a:t>(Specialization)                       (Generalization)</a:t>
            </a:r>
            <a:endParaRPr lang="en-IN" sz="3200" dirty="0">
              <a:solidFill>
                <a:srgbClr val="FF0000"/>
              </a:solidFill>
            </a:endParaRPr>
          </a:p>
        </p:txBody>
      </p:sp>
      <p:sp>
        <p:nvSpPr>
          <p:cNvPr id="5"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12</a:t>
            </a:fld>
            <a:endParaRPr lang="en-US" altLang="en-US"/>
          </a:p>
        </p:txBody>
      </p:sp>
    </p:spTree>
    <p:extLst>
      <p:ext uri="{BB962C8B-B14F-4D97-AF65-F5344CB8AC3E}">
        <p14:creationId xmlns:p14="http://schemas.microsoft.com/office/powerpoint/2010/main" val="30977679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46304" y="6237312"/>
            <a:ext cx="457200" cy="457200"/>
          </a:xfrm>
        </p:spPr>
        <p:txBody>
          <a:bodyPr/>
          <a:lstStyle/>
          <a:p>
            <a:fld id="{B99A9720-9669-4622-9DDA-6A5C4126B66A}" type="slidenum">
              <a:rPr lang="en-US" altLang="en-US"/>
              <a:pPr/>
              <a:t>13</a:t>
            </a:fld>
            <a:endParaRPr lang="en-US" altLang="en-US"/>
          </a:p>
        </p:txBody>
      </p:sp>
      <p:sp>
        <p:nvSpPr>
          <p:cNvPr id="28674" name="Rectangle 2"/>
          <p:cNvSpPr>
            <a:spLocks noGrp="1" noChangeArrowheads="1"/>
          </p:cNvSpPr>
          <p:nvPr>
            <p:ph type="title"/>
          </p:nvPr>
        </p:nvSpPr>
        <p:spPr>
          <a:xfrm>
            <a:off x="914400" y="274638"/>
            <a:ext cx="7772400" cy="778098"/>
          </a:xfrm>
        </p:spPr>
        <p:txBody>
          <a:bodyPr>
            <a:normAutofit fontScale="90000"/>
          </a:bodyPr>
          <a:lstStyle/>
          <a:p>
            <a:r>
              <a:rPr lang="en-US" altLang="en-US" b="1" dirty="0"/>
              <a:t/>
            </a:r>
            <a:br>
              <a:rPr lang="en-US" altLang="en-US" b="1" dirty="0"/>
            </a:br>
            <a:r>
              <a:rPr lang="en-US" altLang="en-US" b="1" dirty="0"/>
              <a:t>Membership Constraints</a:t>
            </a:r>
          </a:p>
        </p:txBody>
      </p:sp>
      <p:sp>
        <p:nvSpPr>
          <p:cNvPr id="28675" name="Rectangle 3"/>
          <p:cNvSpPr>
            <a:spLocks noGrp="1" noChangeArrowheads="1"/>
          </p:cNvSpPr>
          <p:nvPr>
            <p:ph type="body" idx="1"/>
          </p:nvPr>
        </p:nvSpPr>
        <p:spPr>
          <a:xfrm>
            <a:off x="899592" y="1556792"/>
            <a:ext cx="7772400" cy="4572000"/>
          </a:xfrm>
        </p:spPr>
        <p:txBody>
          <a:bodyPr>
            <a:normAutofit lnSpcReduction="10000"/>
          </a:bodyPr>
          <a:lstStyle/>
          <a:p>
            <a:r>
              <a:rPr lang="en-US" altLang="en-US" sz="3600" b="1" dirty="0">
                <a:solidFill>
                  <a:srgbClr val="FF0000"/>
                </a:solidFill>
              </a:rPr>
              <a:t>Predicate defined subclasses </a:t>
            </a:r>
          </a:p>
          <a:p>
            <a:pPr lvl="1">
              <a:buFontTx/>
              <a:buChar char="•"/>
            </a:pPr>
            <a:r>
              <a:rPr lang="en-US" altLang="en-US" sz="3200" dirty="0"/>
              <a:t>The subclass is defined through a </a:t>
            </a:r>
            <a:r>
              <a:rPr lang="en-US" altLang="en-US" sz="3200" dirty="0">
                <a:solidFill>
                  <a:srgbClr val="FF0000"/>
                </a:solidFill>
              </a:rPr>
              <a:t>predicate</a:t>
            </a:r>
            <a:r>
              <a:rPr lang="en-US" altLang="en-US" sz="3200" dirty="0"/>
              <a:t> on the attributes of the superclass </a:t>
            </a:r>
          </a:p>
          <a:p>
            <a:pPr lvl="1">
              <a:buFontTx/>
              <a:buChar char="•"/>
            </a:pPr>
            <a:r>
              <a:rPr lang="en-US" altLang="en-US" sz="3200" b="1" dirty="0"/>
              <a:t>Attribute defined subclasses </a:t>
            </a:r>
          </a:p>
          <a:p>
            <a:pPr lvl="1">
              <a:buFontTx/>
              <a:buChar char="•"/>
            </a:pPr>
            <a:r>
              <a:rPr lang="en-US" altLang="en-US" sz="3200" dirty="0"/>
              <a:t>The subclasses in the specialization are all defined by the </a:t>
            </a:r>
            <a:r>
              <a:rPr lang="en-US" altLang="en-US" sz="3200" dirty="0">
                <a:solidFill>
                  <a:srgbClr val="FF0000"/>
                </a:solidFill>
              </a:rPr>
              <a:t>same attribute of the superclass </a:t>
            </a:r>
          </a:p>
          <a:p>
            <a:pPr lvl="1">
              <a:buFontTx/>
              <a:buChar char="•"/>
            </a:pPr>
            <a:r>
              <a:rPr lang="en-US" altLang="en-US" sz="3200" b="1" dirty="0"/>
              <a:t>User defined subclasses </a:t>
            </a:r>
          </a:p>
          <a:p>
            <a:pPr lvl="1">
              <a:buFontTx/>
              <a:buChar char="•"/>
            </a:pPr>
            <a:r>
              <a:rPr lang="en-US" altLang="en-US" sz="3200" dirty="0"/>
              <a:t>Membership in the subclasses is determined at the </a:t>
            </a:r>
            <a:r>
              <a:rPr lang="en-US" altLang="en-US" sz="3200" dirty="0">
                <a:solidFill>
                  <a:srgbClr val="FF0000"/>
                </a:solidFill>
              </a:rPr>
              <a:t>insertion operation level </a:t>
            </a:r>
          </a:p>
          <a:p>
            <a:pPr lvl="1">
              <a:buFontTx/>
              <a:buChar char="•"/>
            </a:pPr>
            <a:endParaRPr lang="en-US" altLang="en-US" dirty="0"/>
          </a:p>
          <a:p>
            <a:endParaRPr lang="en-US" altLang="en-US" dirty="0"/>
          </a:p>
        </p:txBody>
      </p:sp>
    </p:spTree>
    <p:extLst>
      <p:ext uri="{BB962C8B-B14F-4D97-AF65-F5344CB8AC3E}">
        <p14:creationId xmlns:p14="http://schemas.microsoft.com/office/powerpoint/2010/main" val="998197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60648"/>
            <a:ext cx="7772400" cy="1143000"/>
          </a:xfrm>
        </p:spPr>
        <p:txBody>
          <a:bodyPr>
            <a:normAutofit/>
          </a:bodyPr>
          <a:lstStyle/>
          <a:p>
            <a:r>
              <a:rPr lang="en-US" sz="6000" b="1" dirty="0" smtClean="0"/>
              <a:t>Specialization</a:t>
            </a:r>
            <a:endParaRPr lang="en-IN" sz="6000" b="1" dirty="0"/>
          </a:p>
        </p:txBody>
      </p:sp>
      <p:sp>
        <p:nvSpPr>
          <p:cNvPr id="3" name="Content Placeholder 2"/>
          <p:cNvSpPr>
            <a:spLocks noGrp="1"/>
          </p:cNvSpPr>
          <p:nvPr>
            <p:ph sz="quarter" idx="1"/>
          </p:nvPr>
        </p:nvSpPr>
        <p:spPr>
          <a:xfrm>
            <a:off x="251520" y="1447800"/>
            <a:ext cx="8435280" cy="5221560"/>
          </a:xfrm>
        </p:spPr>
        <p:txBody>
          <a:bodyPr>
            <a:noAutofit/>
          </a:bodyPr>
          <a:lstStyle/>
          <a:p>
            <a:pPr lvl="0"/>
            <a:r>
              <a:rPr lang="en-US" sz="3200" dirty="0"/>
              <a:t>An entity set may include subgroupings of entities that are distinct in some way from other entities in the set. </a:t>
            </a:r>
            <a:endParaRPr lang="en-IN" sz="3200" dirty="0"/>
          </a:p>
          <a:p>
            <a:pPr lvl="0"/>
            <a:r>
              <a:rPr lang="en-US" sz="3200" b="1" dirty="0"/>
              <a:t>Specialization </a:t>
            </a:r>
            <a:r>
              <a:rPr lang="en-US" sz="3200" dirty="0"/>
              <a:t>is the process of defining a </a:t>
            </a:r>
            <a:r>
              <a:rPr lang="en-US" sz="3200" i="1" dirty="0"/>
              <a:t>set of subclasses </a:t>
            </a:r>
            <a:r>
              <a:rPr lang="en-US" sz="3200" dirty="0"/>
              <a:t>of an entity type.  This entity type is called the </a:t>
            </a:r>
            <a:r>
              <a:rPr lang="en-US" sz="3200" b="1" dirty="0"/>
              <a:t>superclass </a:t>
            </a:r>
            <a:r>
              <a:rPr lang="en-US" sz="3200" dirty="0"/>
              <a:t>of the specialization. </a:t>
            </a:r>
            <a:endParaRPr lang="en-IN" sz="3200" dirty="0"/>
          </a:p>
          <a:p>
            <a:pPr lvl="0"/>
            <a:r>
              <a:rPr lang="en-US" sz="3200" dirty="0"/>
              <a:t>It is a </a:t>
            </a:r>
            <a:r>
              <a:rPr lang="en-US" sz="3200" b="1" dirty="0"/>
              <a:t>top down approach</a:t>
            </a:r>
            <a:r>
              <a:rPr lang="en-US" sz="3200" dirty="0"/>
              <a:t>, in which one higher entity can be broken down into two lower level entity.</a:t>
            </a:r>
            <a:endParaRPr lang="en-IN" sz="3200" dirty="0"/>
          </a:p>
          <a:p>
            <a:pPr lvl="0"/>
            <a:r>
              <a:rPr lang="en-US" sz="3200" dirty="0"/>
              <a:t>It maximizes the difference between the members of an entity by identifying the unique characteristic or attributes of each member.</a:t>
            </a:r>
            <a:endParaRPr lang="en-IN" sz="3200" dirty="0"/>
          </a:p>
          <a:p>
            <a:pPr algn="just"/>
            <a:r>
              <a:rPr lang="en-US" sz="3200" dirty="0" smtClean="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14</a:t>
            </a:fld>
            <a:endParaRPr lang="en-US" altLang="en-US"/>
          </a:p>
        </p:txBody>
      </p:sp>
    </p:spTree>
    <p:extLst>
      <p:ext uri="{BB962C8B-B14F-4D97-AF65-F5344CB8AC3E}">
        <p14:creationId xmlns:p14="http://schemas.microsoft.com/office/powerpoint/2010/main" val="4526454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67544" y="404664"/>
            <a:ext cx="8424936" cy="6120680"/>
          </a:xfrm>
        </p:spPr>
        <p:txBody>
          <a:bodyPr>
            <a:normAutofit/>
          </a:bodyPr>
          <a:lstStyle/>
          <a:p>
            <a:r>
              <a:rPr lang="en-US" dirty="0" smtClean="0"/>
              <a:t>In </a:t>
            </a:r>
            <a:r>
              <a:rPr lang="en-US" dirty="0"/>
              <a:t>terms of an E-R diagram, specialization is depicted by a </a:t>
            </a:r>
            <a:r>
              <a:rPr lang="en-US" b="1" dirty="0">
                <a:solidFill>
                  <a:srgbClr val="FF0000"/>
                </a:solidFill>
              </a:rPr>
              <a:t>hollow arrow-head pointing from the specialized entity to the other entity </a:t>
            </a:r>
          </a:p>
          <a:p>
            <a:pPr lvl="0"/>
            <a:endParaRPr lang="en-US" dirty="0" smtClean="0"/>
          </a:p>
          <a:p>
            <a:pPr lvl="0"/>
            <a:r>
              <a:rPr lang="en-US" dirty="0" smtClean="0"/>
              <a:t>The </a:t>
            </a:r>
            <a:r>
              <a:rPr lang="en-US" dirty="0"/>
              <a:t>specialization of </a:t>
            </a:r>
            <a:r>
              <a:rPr lang="en-US" i="1" dirty="0">
                <a:solidFill>
                  <a:srgbClr val="FF0000"/>
                </a:solidFill>
              </a:rPr>
              <a:t>person</a:t>
            </a:r>
            <a:r>
              <a:rPr lang="en-US" i="1" dirty="0"/>
              <a:t> </a:t>
            </a:r>
            <a:r>
              <a:rPr lang="en-US" dirty="0"/>
              <a:t>allows us to distinguish among person entities according to whether they correspond to </a:t>
            </a:r>
            <a:r>
              <a:rPr lang="en-US" dirty="0">
                <a:solidFill>
                  <a:srgbClr val="FF0000"/>
                </a:solidFill>
              </a:rPr>
              <a:t>employees</a:t>
            </a:r>
            <a:r>
              <a:rPr lang="en-US" dirty="0"/>
              <a:t> or </a:t>
            </a:r>
            <a:r>
              <a:rPr lang="en-US" dirty="0">
                <a:solidFill>
                  <a:srgbClr val="FF0000"/>
                </a:solidFill>
              </a:rPr>
              <a:t>students</a:t>
            </a:r>
            <a:r>
              <a:rPr lang="en-US" dirty="0"/>
              <a:t>: </a:t>
            </a:r>
            <a:endParaRPr lang="en-IN" dirty="0"/>
          </a:p>
          <a:p>
            <a:pPr lvl="0"/>
            <a:endParaRPr lang="en-US" dirty="0" smtClean="0"/>
          </a:p>
          <a:p>
            <a:pPr lvl="0"/>
            <a:r>
              <a:rPr lang="en-US" dirty="0" smtClean="0"/>
              <a:t>In </a:t>
            </a:r>
            <a:r>
              <a:rPr lang="en-US" dirty="0"/>
              <a:t>general, a person could be an employee, a student, both, or neither</a:t>
            </a:r>
            <a:r>
              <a:rPr lang="en-US" dirty="0" smtClean="0"/>
              <a:t>.</a:t>
            </a:r>
          </a:p>
          <a:p>
            <a:pPr lvl="0"/>
            <a:endParaRPr lang="en-IN" dirty="0"/>
          </a:p>
          <a:p>
            <a:r>
              <a:rPr lang="en-US" dirty="0" smtClean="0"/>
              <a:t>We </a:t>
            </a:r>
            <a:r>
              <a:rPr lang="en-US" dirty="0"/>
              <a:t>refer to this relationship as the </a:t>
            </a:r>
            <a:r>
              <a:rPr lang="en-US" b="1" dirty="0">
                <a:solidFill>
                  <a:srgbClr val="FF0000"/>
                </a:solidFill>
              </a:rPr>
              <a:t>ISA</a:t>
            </a:r>
            <a:r>
              <a:rPr lang="en-US" dirty="0"/>
              <a:t> relationship, which stands for “</a:t>
            </a:r>
            <a:r>
              <a:rPr lang="en-US" b="1" dirty="0">
                <a:solidFill>
                  <a:srgbClr val="FF0000"/>
                </a:solidFill>
              </a:rPr>
              <a:t>is a</a:t>
            </a:r>
            <a:r>
              <a:rPr lang="en-US" dirty="0"/>
              <a:t>” and represents, for example, that an instructor “</a:t>
            </a:r>
            <a:r>
              <a:rPr lang="en-US" b="1" dirty="0">
                <a:solidFill>
                  <a:srgbClr val="FF0000"/>
                </a:solidFill>
              </a:rPr>
              <a:t>is a</a:t>
            </a:r>
            <a:r>
              <a:rPr lang="en-US" dirty="0"/>
              <a:t>” employee.</a:t>
            </a:r>
            <a:endParaRPr lang="en-IN" dirty="0"/>
          </a:p>
          <a:p>
            <a:endParaRPr lang="en-IN" dirty="0"/>
          </a:p>
        </p:txBody>
      </p:sp>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15</a:t>
            </a:fld>
            <a:endParaRPr lang="en-US" altLang="en-US"/>
          </a:p>
        </p:txBody>
      </p:sp>
    </p:spTree>
    <p:extLst>
      <p:ext uri="{BB962C8B-B14F-4D97-AF65-F5344CB8AC3E}">
        <p14:creationId xmlns:p14="http://schemas.microsoft.com/office/powerpoint/2010/main" val="3545214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95536" y="1447800"/>
            <a:ext cx="8291264" cy="5410200"/>
          </a:xfrm>
        </p:spPr>
        <p:txBody>
          <a:bodyPr>
            <a:noAutofit/>
          </a:bodyPr>
          <a:lstStyle/>
          <a:p>
            <a:r>
              <a:rPr lang="en-US" sz="2400" dirty="0" smtClean="0">
                <a:latin typeface="Times New Roman" pitchFamily="18" charset="0"/>
                <a:cs typeface="Times New Roman" pitchFamily="18" charset="0"/>
              </a:rPr>
              <a:t>An entities B is said to be a subclass of another entity A. If and only if it shares an “</a:t>
            </a:r>
            <a:r>
              <a:rPr lang="en-US" sz="2400" b="1" dirty="0" smtClean="0">
                <a:solidFill>
                  <a:srgbClr val="FF0000"/>
                </a:solidFill>
                <a:latin typeface="Times New Roman" pitchFamily="18" charset="0"/>
                <a:cs typeface="Times New Roman" pitchFamily="18" charset="0"/>
              </a:rPr>
              <a:t>is-a</a:t>
            </a:r>
            <a:r>
              <a:rPr lang="en-US" sz="2400" dirty="0" smtClean="0">
                <a:latin typeface="Times New Roman" pitchFamily="18" charset="0"/>
                <a:cs typeface="Times New Roman" pitchFamily="18" charset="0"/>
              </a:rPr>
              <a:t>” relationship with A.</a:t>
            </a:r>
          </a:p>
          <a:p>
            <a:r>
              <a:rPr lang="en-US" sz="2400" dirty="0" smtClean="0">
                <a:latin typeface="Times New Roman" pitchFamily="18" charset="0"/>
                <a:cs typeface="Times New Roman" pitchFamily="18" charset="0"/>
              </a:rPr>
              <a:t>Example: 	</a:t>
            </a:r>
            <a:r>
              <a:rPr lang="en-US" sz="2400" i="1" dirty="0" smtClean="0">
                <a:latin typeface="Times New Roman" pitchFamily="18" charset="0"/>
                <a:cs typeface="Times New Roman" pitchFamily="18" charset="0"/>
              </a:rPr>
              <a:t>Car “</a:t>
            </a:r>
            <a:r>
              <a:rPr lang="en-US" sz="2400" b="1" i="1" dirty="0" smtClean="0">
                <a:latin typeface="Times New Roman" pitchFamily="18" charset="0"/>
                <a:cs typeface="Times New Roman" pitchFamily="18" charset="0"/>
              </a:rPr>
              <a:t>is-a</a:t>
            </a:r>
            <a:r>
              <a:rPr lang="en-US" sz="2400" i="1" dirty="0" smtClean="0">
                <a:latin typeface="Times New Roman" pitchFamily="18" charset="0"/>
                <a:cs typeface="Times New Roman" pitchFamily="18" charset="0"/>
              </a:rPr>
              <a:t>” vehicle.</a:t>
            </a:r>
            <a:endParaRPr lang="en-IN" sz="2400" i="1" dirty="0" smtClean="0">
              <a:latin typeface="Times New Roman" pitchFamily="18" charset="0"/>
              <a:cs typeface="Times New Roman" pitchFamily="18" charset="0"/>
            </a:endParaRPr>
          </a:p>
          <a:p>
            <a:pPr marL="0" indent="0">
              <a:buNone/>
            </a:pPr>
            <a:r>
              <a:rPr lang="en-US" sz="2400" i="1" dirty="0">
                <a:latin typeface="Times New Roman" pitchFamily="18" charset="0"/>
                <a:cs typeface="Times New Roman" pitchFamily="18" charset="0"/>
              </a:rPr>
              <a:t>	</a:t>
            </a:r>
            <a:r>
              <a:rPr lang="en-US" sz="2400" i="1" dirty="0" smtClean="0">
                <a:latin typeface="Times New Roman" pitchFamily="18" charset="0"/>
                <a:cs typeface="Times New Roman" pitchFamily="18" charset="0"/>
              </a:rPr>
              <a:t>	Manager “</a:t>
            </a:r>
            <a:r>
              <a:rPr lang="en-US" sz="2400" b="1" i="1" dirty="0" smtClean="0">
                <a:latin typeface="Times New Roman" pitchFamily="18" charset="0"/>
                <a:cs typeface="Times New Roman" pitchFamily="18" charset="0"/>
              </a:rPr>
              <a:t>is-a</a:t>
            </a:r>
            <a:r>
              <a:rPr lang="en-US" sz="2400" i="1" dirty="0" smtClean="0">
                <a:latin typeface="Times New Roman" pitchFamily="18" charset="0"/>
                <a:cs typeface="Times New Roman" pitchFamily="18" charset="0"/>
              </a:rPr>
              <a:t>” Employee</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An entity of class B is said to be a </a:t>
            </a:r>
            <a:r>
              <a:rPr lang="en-US" sz="2400" b="1" dirty="0" smtClean="0">
                <a:solidFill>
                  <a:srgbClr val="FF0000"/>
                </a:solidFill>
                <a:latin typeface="Times New Roman" pitchFamily="18" charset="0"/>
                <a:cs typeface="Times New Roman" pitchFamily="18" charset="0"/>
              </a:rPr>
              <a:t>specialization</a:t>
            </a:r>
            <a:r>
              <a:rPr lang="en-US" sz="2400" dirty="0" smtClean="0">
                <a:latin typeface="Times New Roman" pitchFamily="18" charset="0"/>
                <a:cs typeface="Times New Roman" pitchFamily="18" charset="0"/>
              </a:rPr>
              <a:t> of entities of class A. </a:t>
            </a:r>
          </a:p>
          <a:p>
            <a:r>
              <a:rPr lang="en-US" sz="2400" dirty="0" smtClean="0">
                <a:latin typeface="Times New Roman" pitchFamily="18" charset="0"/>
                <a:cs typeface="Times New Roman" pitchFamily="18" charset="0"/>
              </a:rPr>
              <a:t>Conversely, entities of class A are </a:t>
            </a:r>
            <a:r>
              <a:rPr lang="en-US" sz="2400" b="1" dirty="0" smtClean="0">
                <a:solidFill>
                  <a:srgbClr val="FF0000"/>
                </a:solidFill>
                <a:latin typeface="Times New Roman" pitchFamily="18" charset="0"/>
                <a:cs typeface="Times New Roman" pitchFamily="18" charset="0"/>
              </a:rPr>
              <a:t>generalization</a:t>
            </a:r>
            <a:r>
              <a:rPr lang="en-US" sz="2400" dirty="0" smtClean="0">
                <a:latin typeface="Times New Roman" pitchFamily="18" charset="0"/>
                <a:cs typeface="Times New Roman" pitchFamily="18" charset="0"/>
              </a:rPr>
              <a:t> of the class B entities. </a:t>
            </a:r>
          </a:p>
        </p:txBody>
      </p:sp>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16</a:t>
            </a:fld>
            <a:endParaRPr lang="en-US" altLang="en-US"/>
          </a:p>
        </p:txBody>
      </p:sp>
    </p:spTree>
    <p:extLst>
      <p:ext uri="{BB962C8B-B14F-4D97-AF65-F5344CB8AC3E}">
        <p14:creationId xmlns:p14="http://schemas.microsoft.com/office/powerpoint/2010/main" val="26281958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920381" y="260648"/>
            <a:ext cx="5256584" cy="60519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692696"/>
            <a:ext cx="3665413" cy="4711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17</a:t>
            </a:fld>
            <a:endParaRPr lang="en-US" altLang="en-US"/>
          </a:p>
        </p:txBody>
      </p:sp>
    </p:spTree>
    <p:extLst>
      <p:ext uri="{BB962C8B-B14F-4D97-AF65-F5344CB8AC3E}">
        <p14:creationId xmlns:p14="http://schemas.microsoft.com/office/powerpoint/2010/main" val="27232235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04" y="188640"/>
            <a:ext cx="8761413"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01820" y="5914055"/>
            <a:ext cx="8761412" cy="646331"/>
          </a:xfrm>
          <a:prstGeom prst="rect">
            <a:avLst/>
          </a:prstGeom>
        </p:spPr>
        <p:txBody>
          <a:bodyPr wrap="square">
            <a:spAutoFit/>
          </a:bodyPr>
          <a:lstStyle/>
          <a:p>
            <a:pPr algn="ctr"/>
            <a:r>
              <a:rPr lang="en-US" b="1" dirty="0"/>
              <a:t>A specialization lattice with the shared subclass </a:t>
            </a:r>
            <a:r>
              <a:rPr lang="en-US" b="1" dirty="0" smtClean="0"/>
              <a:t>ENGINEERING_MANAGER </a:t>
            </a:r>
          </a:p>
          <a:p>
            <a:pPr algn="ctr"/>
            <a:r>
              <a:rPr lang="en-US" b="1" dirty="0" smtClean="0"/>
              <a:t>( with Multiple Inheritance )</a:t>
            </a:r>
            <a:endParaRPr lang="en-IN" b="1" dirty="0"/>
          </a:p>
        </p:txBody>
      </p:sp>
      <p:sp>
        <p:nvSpPr>
          <p:cNvPr id="5"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18</a:t>
            </a:fld>
            <a:endParaRPr lang="en-US" altLang="en-US"/>
          </a:p>
        </p:txBody>
      </p:sp>
    </p:spTree>
    <p:extLst>
      <p:ext uri="{BB962C8B-B14F-4D97-AF65-F5344CB8AC3E}">
        <p14:creationId xmlns:p14="http://schemas.microsoft.com/office/powerpoint/2010/main" val="3343692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71600" y="6021288"/>
            <a:ext cx="7632848" cy="646331"/>
          </a:xfrm>
          <a:prstGeom prst="rect">
            <a:avLst/>
          </a:prstGeom>
        </p:spPr>
        <p:txBody>
          <a:bodyPr wrap="square">
            <a:spAutoFit/>
          </a:bodyPr>
          <a:lstStyle/>
          <a:p>
            <a:pPr algn="ctr"/>
            <a:r>
              <a:rPr lang="en-US" b="1" dirty="0"/>
              <a:t>A specialization lattice (with multiple inheritance) for a UNIVERSITY database</a:t>
            </a:r>
            <a:endParaRPr lang="en-IN" b="1" dirty="0"/>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60648"/>
            <a:ext cx="7848872" cy="575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19</a:t>
            </a:fld>
            <a:endParaRPr lang="en-US" altLang="en-US"/>
          </a:p>
        </p:txBody>
      </p:sp>
    </p:spTree>
    <p:extLst>
      <p:ext uri="{BB962C8B-B14F-4D97-AF65-F5344CB8AC3E}">
        <p14:creationId xmlns:p14="http://schemas.microsoft.com/office/powerpoint/2010/main" val="7321499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683568" y="1196752"/>
            <a:ext cx="8136904" cy="5400600"/>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dirty="0"/>
              <a:t>Multiple entity sets are synthesized into a higher-level entity set, based on common features (bottom-up).</a:t>
            </a:r>
            <a:endParaRPr lang="en-US" dirty="0" smtClean="0"/>
          </a:p>
          <a:p>
            <a:r>
              <a:rPr lang="en-US" dirty="0" smtClean="0"/>
              <a:t>Generalization is the process of generalizing the entities which contain the properties of all the generalized entities.</a:t>
            </a:r>
          </a:p>
          <a:p>
            <a:r>
              <a:rPr lang="en-US" dirty="0" smtClean="0"/>
              <a:t>It is a </a:t>
            </a:r>
            <a:r>
              <a:rPr lang="en-US" b="1" dirty="0" smtClean="0">
                <a:solidFill>
                  <a:srgbClr val="FF0000"/>
                </a:solidFill>
              </a:rPr>
              <a:t>bottom approach</a:t>
            </a:r>
            <a:r>
              <a:rPr lang="en-US" dirty="0" smtClean="0"/>
              <a:t>, in which two lower level entities combine to form a higher level entity.</a:t>
            </a:r>
          </a:p>
          <a:p>
            <a:r>
              <a:rPr lang="en-US" dirty="0" smtClean="0"/>
              <a:t>Generalization is the reverse process of Specialization.</a:t>
            </a:r>
          </a:p>
          <a:p>
            <a:r>
              <a:rPr lang="en-US" dirty="0" smtClean="0"/>
              <a:t>It defines a general entity type from a set of specialized entity type.</a:t>
            </a:r>
          </a:p>
          <a:p>
            <a:r>
              <a:rPr lang="en-US" dirty="0" smtClean="0"/>
              <a:t>It minimizes the difference between the entities by identifying the common features.</a:t>
            </a:r>
            <a:br>
              <a:rPr lang="en-US" dirty="0" smtClean="0"/>
            </a:br>
            <a:r>
              <a:rPr lang="en-US" b="1" dirty="0" smtClean="0"/>
              <a:t>For example:</a:t>
            </a:r>
            <a:endParaRPr lang="en-US" dirty="0" smtClean="0"/>
          </a:p>
          <a:p>
            <a:endParaRPr lang="en-IN" dirty="0"/>
          </a:p>
        </p:txBody>
      </p:sp>
      <p:sp>
        <p:nvSpPr>
          <p:cNvPr id="2" name="Rectangle 1"/>
          <p:cNvSpPr/>
          <p:nvPr/>
        </p:nvSpPr>
        <p:spPr>
          <a:xfrm>
            <a:off x="888603" y="476672"/>
            <a:ext cx="3829575" cy="923330"/>
          </a:xfrm>
          <a:prstGeom prst="rect">
            <a:avLst/>
          </a:prstGeom>
        </p:spPr>
        <p:txBody>
          <a:bodyPr wrap="none">
            <a:spAutoFit/>
          </a:bodyPr>
          <a:lstStyle/>
          <a:p>
            <a:r>
              <a:rPr lang="en-IN" sz="5400" dirty="0"/>
              <a:t>Generalization</a:t>
            </a:r>
          </a:p>
        </p:txBody>
      </p:sp>
      <p:sp>
        <p:nvSpPr>
          <p:cNvPr id="5"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20</a:t>
            </a:fld>
            <a:endParaRPr lang="en-US" altLang="en-US"/>
          </a:p>
        </p:txBody>
      </p:sp>
    </p:spTree>
    <p:extLst>
      <p:ext uri="{BB962C8B-B14F-4D97-AF65-F5344CB8AC3E}">
        <p14:creationId xmlns:p14="http://schemas.microsoft.com/office/powerpoint/2010/main" val="19440523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02697"/>
            <a:ext cx="6264696" cy="5601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6660232" y="402698"/>
            <a:ext cx="2267744" cy="1938992"/>
          </a:xfrm>
          <a:prstGeom prst="rect">
            <a:avLst/>
          </a:prstGeom>
        </p:spPr>
        <p:txBody>
          <a:bodyPr wrap="square">
            <a:spAutoFit/>
          </a:bodyPr>
          <a:lstStyle/>
          <a:p>
            <a:r>
              <a:rPr lang="en-US" sz="2400" b="1" dirty="0"/>
              <a:t>In the </a:t>
            </a:r>
            <a:r>
              <a:rPr lang="en-US" sz="2400" b="1" dirty="0" smtClean="0"/>
              <a:t>example</a:t>
            </a:r>
            <a:r>
              <a:rPr lang="en-US" sz="2400" b="1" dirty="0"/>
              <a:t>, Tiger, Lion, Elephant can all be generalized as Animals.</a:t>
            </a:r>
          </a:p>
        </p:txBody>
      </p:sp>
      <p:sp>
        <p:nvSpPr>
          <p:cNvPr id="5"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21</a:t>
            </a:fld>
            <a:endParaRPr lang="en-US" altLang="en-US"/>
          </a:p>
        </p:txBody>
      </p:sp>
    </p:spTree>
    <p:extLst>
      <p:ext uri="{BB962C8B-B14F-4D97-AF65-F5344CB8AC3E}">
        <p14:creationId xmlns:p14="http://schemas.microsoft.com/office/powerpoint/2010/main" val="34952424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4082"/>
          </a:xfrm>
        </p:spPr>
        <p:txBody>
          <a:bodyPr>
            <a:normAutofit fontScale="90000"/>
          </a:bodyPr>
          <a:lstStyle/>
          <a:p>
            <a:r>
              <a:rPr lang="en-US" b="1" dirty="0"/>
              <a:t> Category or </a:t>
            </a:r>
            <a:r>
              <a:rPr lang="en-US" b="1" dirty="0" smtClean="0"/>
              <a:t>Union</a:t>
            </a:r>
            <a:endParaRPr lang="en-IN" dirty="0"/>
          </a:p>
        </p:txBody>
      </p:sp>
      <p:sp>
        <p:nvSpPr>
          <p:cNvPr id="3" name="Content Placeholder 2"/>
          <p:cNvSpPr>
            <a:spLocks noGrp="1"/>
          </p:cNvSpPr>
          <p:nvPr>
            <p:ph sz="quarter" idx="1"/>
          </p:nvPr>
        </p:nvSpPr>
        <p:spPr>
          <a:xfrm>
            <a:off x="539552" y="908720"/>
            <a:ext cx="8496944" cy="5472608"/>
          </a:xfrm>
        </p:spPr>
        <p:txBody>
          <a:bodyPr>
            <a:noAutofit/>
          </a:bodyPr>
          <a:lstStyle/>
          <a:p>
            <a:pPr algn="just"/>
            <a:r>
              <a:rPr lang="en-US" sz="2800" dirty="0" smtClean="0"/>
              <a:t>Category </a:t>
            </a:r>
            <a:r>
              <a:rPr lang="en-US" sz="2800" dirty="0"/>
              <a:t>represents a single super class or </a:t>
            </a:r>
            <a:r>
              <a:rPr lang="en-US" sz="2800" b="1" dirty="0">
                <a:solidFill>
                  <a:srgbClr val="FF0000"/>
                </a:solidFill>
              </a:rPr>
              <a:t>sub class relationship with more than one super class.</a:t>
            </a:r>
          </a:p>
          <a:p>
            <a:pPr algn="just"/>
            <a:endParaRPr lang="en-US" sz="2800" dirty="0" smtClean="0"/>
          </a:p>
          <a:p>
            <a:pPr algn="just"/>
            <a:r>
              <a:rPr lang="en-US" sz="2800" dirty="0" smtClean="0"/>
              <a:t>It </a:t>
            </a:r>
            <a:r>
              <a:rPr lang="en-US" sz="2800" dirty="0"/>
              <a:t>can be a total or partial participation.</a:t>
            </a:r>
            <a:br>
              <a:rPr lang="en-US" sz="2800" dirty="0"/>
            </a:br>
            <a:r>
              <a:rPr lang="en-US" sz="2800" b="1" dirty="0"/>
              <a:t>For example</a:t>
            </a:r>
            <a:r>
              <a:rPr lang="en-US" sz="2800" dirty="0"/>
              <a:t> Car booking, Car owner can be a person, a bank (holds a possession on a Car) or a company. </a:t>
            </a:r>
            <a:endParaRPr lang="en-US" sz="2800" dirty="0" smtClean="0"/>
          </a:p>
          <a:p>
            <a:pPr marL="0" indent="0" algn="just">
              <a:buNone/>
            </a:pPr>
            <a:endParaRPr lang="en-US" sz="2800" dirty="0" smtClean="0"/>
          </a:p>
          <a:p>
            <a:pPr algn="just"/>
            <a:r>
              <a:rPr lang="en-US" sz="2800" dirty="0" smtClean="0"/>
              <a:t>Category </a:t>
            </a:r>
            <a:r>
              <a:rPr lang="en-US" sz="2800" dirty="0"/>
              <a:t>(sub class) → Owner is a subset of the union of the three super classes → Company, Bank, and Person. A </a:t>
            </a:r>
            <a:r>
              <a:rPr lang="en-US" sz="2800" b="1" dirty="0">
                <a:solidFill>
                  <a:srgbClr val="FF0000"/>
                </a:solidFill>
              </a:rPr>
              <a:t>Category member must exist in at least one of its super classes.</a:t>
            </a:r>
          </a:p>
          <a:p>
            <a:pPr marL="0" indent="0" algn="just">
              <a:buNone/>
            </a:pPr>
            <a:r>
              <a:rPr lang="en-US" sz="2800" dirty="0"/>
              <a:t/>
            </a:r>
            <a:br>
              <a:rPr lang="en-US" sz="2800" dirty="0"/>
            </a:br>
            <a:endParaRPr lang="en-IN" sz="2800" dirty="0"/>
          </a:p>
        </p:txBody>
      </p:sp>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22</a:t>
            </a:fld>
            <a:endParaRPr lang="en-US" altLang="en-US"/>
          </a:p>
        </p:txBody>
      </p:sp>
    </p:spTree>
    <p:extLst>
      <p:ext uri="{BB962C8B-B14F-4D97-AF65-F5344CB8AC3E}">
        <p14:creationId xmlns:p14="http://schemas.microsoft.com/office/powerpoint/2010/main" val="15127128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187624" y="836712"/>
            <a:ext cx="6999918"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23</a:t>
            </a:fld>
            <a:endParaRPr lang="en-US" altLang="en-US"/>
          </a:p>
        </p:txBody>
      </p:sp>
    </p:spTree>
    <p:extLst>
      <p:ext uri="{BB962C8B-B14F-4D97-AF65-F5344CB8AC3E}">
        <p14:creationId xmlns:p14="http://schemas.microsoft.com/office/powerpoint/2010/main" val="24356268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2142278582"/>
              </p:ext>
            </p:extLst>
          </p:nvPr>
        </p:nvGraphicFramePr>
        <p:xfrm>
          <a:off x="251520" y="260648"/>
          <a:ext cx="8712968" cy="5715000"/>
        </p:xfrm>
        <a:graphic>
          <a:graphicData uri="http://schemas.openxmlformats.org/presentationml/2006/ole">
            <mc:AlternateContent xmlns:mc="http://schemas.openxmlformats.org/markup-compatibility/2006">
              <mc:Choice xmlns:v="urn:schemas-microsoft-com:vml" Requires="v">
                <p:oleObj spid="_x0000_s7194" name="Photo Editor Photo" r:id="rId3" imgW="5630061" imgH="7819048" progId="MSPhotoEd.3">
                  <p:embed/>
                </p:oleObj>
              </mc:Choice>
              <mc:Fallback>
                <p:oleObj name="Photo Editor Photo" r:id="rId3" imgW="5630061" imgH="7819048" progId="MSPhotoEd.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260648"/>
                        <a:ext cx="8712968" cy="5715000"/>
                      </a:xfrm>
                      <a:prstGeom prst="rect">
                        <a:avLst/>
                      </a:prstGeom>
                      <a:noFill/>
                      <a:ln>
                        <a:noFill/>
                      </a:ln>
                      <a:effectLst/>
                    </p:spPr>
                  </p:pic>
                </p:oleObj>
              </mc:Fallback>
            </mc:AlternateContent>
          </a:graphicData>
        </a:graphic>
      </p:graphicFrame>
      <p:sp>
        <p:nvSpPr>
          <p:cNvPr id="5" name="Rectangle 4"/>
          <p:cNvSpPr/>
          <p:nvPr/>
        </p:nvSpPr>
        <p:spPr>
          <a:xfrm>
            <a:off x="539552" y="5962054"/>
            <a:ext cx="8280920" cy="923330"/>
          </a:xfrm>
          <a:prstGeom prst="rect">
            <a:avLst/>
          </a:prstGeom>
        </p:spPr>
        <p:txBody>
          <a:bodyPr wrap="square">
            <a:spAutoFit/>
          </a:bodyPr>
          <a:lstStyle/>
          <a:p>
            <a:pPr algn="ctr"/>
            <a:r>
              <a:rPr lang="en-US" b="1" dirty="0" smtClean="0"/>
              <a:t>Illustration </a:t>
            </a:r>
            <a:r>
              <a:rPr lang="en-US" b="1" dirty="0"/>
              <a:t>of how to represent the UNION of two or more entity types/classes using the category notation. Two categories are shown: OWNER and REGISTERED_VEHICLE.</a:t>
            </a:r>
            <a:endParaRPr lang="en-IN" b="1" dirty="0"/>
          </a:p>
        </p:txBody>
      </p:sp>
      <p:sp>
        <p:nvSpPr>
          <p:cNvPr id="6"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24</a:t>
            </a:fld>
            <a:endParaRPr lang="en-US" altLang="en-US"/>
          </a:p>
        </p:txBody>
      </p:sp>
    </p:spTree>
    <p:extLst>
      <p:ext uri="{BB962C8B-B14F-4D97-AF65-F5344CB8AC3E}">
        <p14:creationId xmlns:p14="http://schemas.microsoft.com/office/powerpoint/2010/main" val="20328348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7772400" cy="850106"/>
          </a:xfrm>
        </p:spPr>
        <p:txBody>
          <a:bodyPr>
            <a:normAutofit/>
          </a:bodyPr>
          <a:lstStyle/>
          <a:p>
            <a:r>
              <a:rPr lang="en-US" b="1" dirty="0" smtClean="0"/>
              <a:t>Aggregation</a:t>
            </a:r>
            <a:endParaRPr lang="en-IN" dirty="0"/>
          </a:p>
        </p:txBody>
      </p:sp>
      <p:sp>
        <p:nvSpPr>
          <p:cNvPr id="3" name="Content Placeholder 2"/>
          <p:cNvSpPr>
            <a:spLocks noGrp="1"/>
          </p:cNvSpPr>
          <p:nvPr>
            <p:ph sz="quarter" idx="1"/>
          </p:nvPr>
        </p:nvSpPr>
        <p:spPr>
          <a:xfrm>
            <a:off x="251520" y="1196752"/>
            <a:ext cx="8784976" cy="4572000"/>
          </a:xfrm>
        </p:spPr>
        <p:txBody>
          <a:bodyPr>
            <a:noAutofit/>
          </a:bodyPr>
          <a:lstStyle/>
          <a:p>
            <a:r>
              <a:rPr lang="en-US" sz="2800" dirty="0"/>
              <a:t>Aggregation refers to the process by which entities are combined to form a single meaningful entity. </a:t>
            </a:r>
            <a:endParaRPr lang="en-US" sz="2800" dirty="0" smtClean="0"/>
          </a:p>
          <a:p>
            <a:r>
              <a:rPr lang="en-US" sz="2800" dirty="0" smtClean="0"/>
              <a:t>The </a:t>
            </a:r>
            <a:r>
              <a:rPr lang="en-US" sz="2800" dirty="0"/>
              <a:t>specific entities are combined because </a:t>
            </a:r>
            <a:r>
              <a:rPr lang="en-US" sz="2800" dirty="0">
                <a:solidFill>
                  <a:srgbClr val="FF0000"/>
                </a:solidFill>
              </a:rPr>
              <a:t>they do not make sense on their own. </a:t>
            </a:r>
            <a:endParaRPr lang="en-US" sz="2800" dirty="0" smtClean="0">
              <a:solidFill>
                <a:srgbClr val="FF0000"/>
              </a:solidFill>
            </a:endParaRPr>
          </a:p>
          <a:p>
            <a:r>
              <a:rPr lang="en-US" sz="2800" dirty="0" smtClean="0"/>
              <a:t>To </a:t>
            </a:r>
            <a:r>
              <a:rPr lang="en-US" sz="2800" dirty="0"/>
              <a:t>establish a single entity, aggregation creates a relationship that combines these entities.</a:t>
            </a:r>
            <a:endParaRPr lang="en-US" sz="2800" dirty="0" smtClean="0"/>
          </a:p>
          <a:p>
            <a:r>
              <a:rPr lang="en-US" sz="2800" dirty="0" smtClean="0">
                <a:solidFill>
                  <a:srgbClr val="FF0000"/>
                </a:solidFill>
              </a:rPr>
              <a:t>Aggregation </a:t>
            </a:r>
            <a:r>
              <a:rPr lang="en-US" sz="2800" dirty="0">
                <a:solidFill>
                  <a:srgbClr val="FF0000"/>
                </a:solidFill>
              </a:rPr>
              <a:t>is a process that represent a relationship between a whole object and its component parts.</a:t>
            </a:r>
          </a:p>
          <a:p>
            <a:r>
              <a:rPr lang="en-US" sz="2800" dirty="0"/>
              <a:t>It abstracts a relationship between objects and viewing the relationship as an object.</a:t>
            </a:r>
          </a:p>
          <a:p>
            <a:r>
              <a:rPr lang="en-US" sz="2800" dirty="0"/>
              <a:t>It is a process when two entity is treated as a single entity.</a:t>
            </a:r>
          </a:p>
          <a:p>
            <a:pPr marL="0" indent="0">
              <a:buNone/>
            </a:pPr>
            <a:r>
              <a:rPr lang="en-US" sz="2800" dirty="0"/>
              <a:t/>
            </a:r>
            <a:br>
              <a:rPr lang="en-US" sz="2800" dirty="0"/>
            </a:br>
            <a:endParaRPr lang="en-IN" sz="2800" dirty="0"/>
          </a:p>
        </p:txBody>
      </p:sp>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25</a:t>
            </a:fld>
            <a:endParaRPr lang="en-US" altLang="en-US"/>
          </a:p>
        </p:txBody>
      </p:sp>
    </p:spTree>
    <p:extLst>
      <p:ext uri="{BB962C8B-B14F-4D97-AF65-F5344CB8AC3E}">
        <p14:creationId xmlns:p14="http://schemas.microsoft.com/office/powerpoint/2010/main" val="38604152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187624" y="404664"/>
            <a:ext cx="5616624" cy="57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300192" y="3068959"/>
            <a:ext cx="2627784" cy="1200329"/>
          </a:xfrm>
          <a:prstGeom prst="rect">
            <a:avLst/>
          </a:prstGeom>
        </p:spPr>
        <p:txBody>
          <a:bodyPr wrap="square">
            <a:spAutoFit/>
          </a:bodyPr>
          <a:lstStyle/>
          <a:p>
            <a:r>
              <a:rPr lang="en-US" dirty="0"/>
              <a:t>In the </a:t>
            </a:r>
            <a:r>
              <a:rPr lang="en-US" dirty="0" smtClean="0"/>
              <a:t>example</a:t>
            </a:r>
            <a:r>
              <a:rPr lang="en-US" dirty="0"/>
              <a:t>, the relation between College and Course is acting as an Entity in Relation with Student.</a:t>
            </a:r>
            <a:endParaRPr lang="en-IN" dirty="0"/>
          </a:p>
        </p:txBody>
      </p:sp>
      <p:sp>
        <p:nvSpPr>
          <p:cNvPr id="5"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26</a:t>
            </a:fld>
            <a:endParaRPr lang="en-US" altLang="en-US"/>
          </a:p>
        </p:txBody>
      </p:sp>
    </p:spTree>
    <p:extLst>
      <p:ext uri="{BB962C8B-B14F-4D97-AF65-F5344CB8AC3E}">
        <p14:creationId xmlns:p14="http://schemas.microsoft.com/office/powerpoint/2010/main" val="33649880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Mapping specialization/generalization to relational </a:t>
            </a:r>
            <a:r>
              <a:rPr lang="en-US" dirty="0" smtClean="0"/>
              <a:t>tables</a:t>
            </a:r>
            <a:endParaRPr lang="en-IN" dirty="0"/>
          </a:p>
        </p:txBody>
      </p:sp>
      <p:sp>
        <p:nvSpPr>
          <p:cNvPr id="3" name="Content Placeholder 2"/>
          <p:cNvSpPr>
            <a:spLocks noGrp="1"/>
          </p:cNvSpPr>
          <p:nvPr>
            <p:ph sz="quarter" idx="1"/>
          </p:nvPr>
        </p:nvSpPr>
        <p:spPr>
          <a:xfrm>
            <a:off x="539552" y="1447800"/>
            <a:ext cx="8424936" cy="4572000"/>
          </a:xfrm>
        </p:spPr>
        <p:txBody>
          <a:bodyPr/>
          <a:lstStyle/>
          <a:p>
            <a:r>
              <a:rPr lang="en-US" dirty="0"/>
              <a:t>Specialization/generalization relationship can be mapped to relational tables in three methods. </a:t>
            </a:r>
            <a:endParaRPr lang="en-US" dirty="0" smtClean="0"/>
          </a:p>
          <a:p>
            <a:r>
              <a:rPr lang="en-US" dirty="0" smtClean="0"/>
              <a:t>To </a:t>
            </a:r>
            <a:r>
              <a:rPr lang="en-US" dirty="0"/>
              <a:t>demonstrate the methods, we will take the student, postgraduate and undergraduate relationship. </a:t>
            </a:r>
            <a:endParaRPr lang="en-US" dirty="0" smtClean="0"/>
          </a:p>
          <a:p>
            <a:r>
              <a:rPr lang="en-US" dirty="0" smtClean="0"/>
              <a:t>A </a:t>
            </a:r>
            <a:r>
              <a:rPr lang="en-US" dirty="0"/>
              <a:t>student in the university has a registration number and a name. </a:t>
            </a:r>
            <a:endParaRPr lang="en-US" dirty="0" smtClean="0"/>
          </a:p>
          <a:p>
            <a:r>
              <a:rPr lang="en-US" dirty="0" smtClean="0"/>
              <a:t>Only </a:t>
            </a:r>
            <a:r>
              <a:rPr lang="en-US" dirty="0"/>
              <a:t>postgraduate students have supervisors. Undergraduates accumulates points through </a:t>
            </a:r>
            <a:r>
              <a:rPr lang="en-US" dirty="0" smtClean="0"/>
              <a:t>their coursework</a:t>
            </a:r>
            <a:r>
              <a:rPr lang="en-US" dirty="0"/>
              <a:t>.</a:t>
            </a:r>
            <a:endParaRPr lang="en-IN" dirty="0"/>
          </a:p>
        </p:txBody>
      </p:sp>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27</a:t>
            </a:fld>
            <a:endParaRPr lang="en-US" altLang="en-US"/>
          </a:p>
        </p:txBody>
      </p:sp>
    </p:spTree>
    <p:extLst>
      <p:ext uri="{BB962C8B-B14F-4D97-AF65-F5344CB8AC3E}">
        <p14:creationId xmlns:p14="http://schemas.microsoft.com/office/powerpoint/2010/main" val="15794820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975" y="260648"/>
            <a:ext cx="6840760" cy="3597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79512" y="3501008"/>
            <a:ext cx="4572000" cy="1754326"/>
          </a:xfrm>
          <a:prstGeom prst="rect">
            <a:avLst/>
          </a:prstGeom>
        </p:spPr>
        <p:txBody>
          <a:bodyPr>
            <a:spAutoFit/>
          </a:bodyPr>
          <a:lstStyle/>
          <a:p>
            <a:r>
              <a:rPr lang="en-US" b="1" dirty="0"/>
              <a:t>Method 1</a:t>
            </a:r>
            <a:endParaRPr lang="en-US" dirty="0"/>
          </a:p>
          <a:p>
            <a:r>
              <a:rPr lang="en-US" b="1" dirty="0"/>
              <a:t>All the entities in the relationship are mapped to individual tables</a:t>
            </a:r>
            <a:r>
              <a:rPr lang="en-US" dirty="0"/>
              <a:t>.</a:t>
            </a:r>
          </a:p>
          <a:p>
            <a:r>
              <a:rPr lang="en-US" dirty="0"/>
              <a:t>Student (</a:t>
            </a:r>
            <a:r>
              <a:rPr lang="en-US" i="1" dirty="0" err="1"/>
              <a:t>Regno</a:t>
            </a:r>
            <a:r>
              <a:rPr lang="en-US" dirty="0"/>
              <a:t>, name)</a:t>
            </a:r>
          </a:p>
          <a:p>
            <a:r>
              <a:rPr lang="en-US" dirty="0" err="1"/>
              <a:t>PosGrad</a:t>
            </a:r>
            <a:r>
              <a:rPr lang="en-US" dirty="0"/>
              <a:t> (</a:t>
            </a:r>
            <a:r>
              <a:rPr lang="en-US" i="1" dirty="0" err="1"/>
              <a:t>Regno</a:t>
            </a:r>
            <a:r>
              <a:rPr lang="en-US" dirty="0"/>
              <a:t>, supervisor)</a:t>
            </a:r>
          </a:p>
          <a:p>
            <a:r>
              <a:rPr lang="en-US" dirty="0" err="1"/>
              <a:t>UnderGrad</a:t>
            </a:r>
            <a:r>
              <a:rPr lang="en-US" dirty="0"/>
              <a:t> (</a:t>
            </a:r>
            <a:r>
              <a:rPr lang="en-US" i="1" dirty="0" err="1"/>
              <a:t>Regno</a:t>
            </a:r>
            <a:r>
              <a:rPr lang="en-US" dirty="0"/>
              <a:t>, points)</a:t>
            </a:r>
          </a:p>
        </p:txBody>
      </p:sp>
      <p:sp>
        <p:nvSpPr>
          <p:cNvPr id="5" name="Rectangle 4"/>
          <p:cNvSpPr/>
          <p:nvPr/>
        </p:nvSpPr>
        <p:spPr>
          <a:xfrm>
            <a:off x="4572000" y="3573016"/>
            <a:ext cx="4572000" cy="1754326"/>
          </a:xfrm>
          <a:prstGeom prst="rect">
            <a:avLst/>
          </a:prstGeom>
        </p:spPr>
        <p:txBody>
          <a:bodyPr>
            <a:spAutoFit/>
          </a:bodyPr>
          <a:lstStyle/>
          <a:p>
            <a:r>
              <a:rPr lang="en-US" b="1" dirty="0"/>
              <a:t>Method 2</a:t>
            </a:r>
            <a:endParaRPr lang="en-US" dirty="0"/>
          </a:p>
          <a:p>
            <a:r>
              <a:rPr lang="en-US" b="1" dirty="0"/>
              <a:t>Only subclasses are mapped to tables</a:t>
            </a:r>
            <a:r>
              <a:rPr lang="en-US" dirty="0"/>
              <a:t>. The attributes in the superclass are duplicated in all subclasses.</a:t>
            </a:r>
          </a:p>
          <a:p>
            <a:r>
              <a:rPr lang="en-US" dirty="0" err="1"/>
              <a:t>PosGrad</a:t>
            </a:r>
            <a:r>
              <a:rPr lang="en-US" dirty="0"/>
              <a:t> (</a:t>
            </a:r>
            <a:r>
              <a:rPr lang="en-US" i="1" dirty="0" err="1"/>
              <a:t>Regno</a:t>
            </a:r>
            <a:r>
              <a:rPr lang="en-US" dirty="0"/>
              <a:t>, name, supervisor)</a:t>
            </a:r>
          </a:p>
          <a:p>
            <a:r>
              <a:rPr lang="en-US" dirty="0" err="1"/>
              <a:t>UnderGrad</a:t>
            </a:r>
            <a:r>
              <a:rPr lang="en-US" dirty="0"/>
              <a:t> (</a:t>
            </a:r>
            <a:r>
              <a:rPr lang="en-US" i="1" dirty="0" err="1"/>
              <a:t>Regno</a:t>
            </a:r>
            <a:r>
              <a:rPr lang="en-US" dirty="0"/>
              <a:t>, name, points)</a:t>
            </a:r>
          </a:p>
        </p:txBody>
      </p:sp>
      <p:sp>
        <p:nvSpPr>
          <p:cNvPr id="6" name="Rectangle 5"/>
          <p:cNvSpPr/>
          <p:nvPr/>
        </p:nvSpPr>
        <p:spPr>
          <a:xfrm>
            <a:off x="1659981" y="5229200"/>
            <a:ext cx="5864347" cy="1200329"/>
          </a:xfrm>
          <a:prstGeom prst="rect">
            <a:avLst/>
          </a:prstGeom>
        </p:spPr>
        <p:txBody>
          <a:bodyPr wrap="square">
            <a:spAutoFit/>
          </a:bodyPr>
          <a:lstStyle/>
          <a:p>
            <a:r>
              <a:rPr lang="en-US" dirty="0"/>
              <a:t>Method 3</a:t>
            </a:r>
          </a:p>
          <a:p>
            <a:r>
              <a:rPr lang="en-US" b="1" dirty="0" smtClean="0"/>
              <a:t>Only </a:t>
            </a:r>
            <a:r>
              <a:rPr lang="en-US" b="1" dirty="0"/>
              <a:t>the superclass is mapped to a table. The attributes in the subclasses are taken to the superclass.</a:t>
            </a:r>
          </a:p>
          <a:p>
            <a:r>
              <a:rPr lang="en-US" dirty="0" smtClean="0"/>
              <a:t>Student </a:t>
            </a:r>
            <a:r>
              <a:rPr lang="en-US" dirty="0"/>
              <a:t>(</a:t>
            </a:r>
            <a:r>
              <a:rPr lang="en-US" dirty="0" err="1"/>
              <a:t>Regno</a:t>
            </a:r>
            <a:r>
              <a:rPr lang="en-US" dirty="0"/>
              <a:t>, name, supervisor, points)</a:t>
            </a:r>
            <a:endParaRPr lang="en-IN" dirty="0"/>
          </a:p>
        </p:txBody>
      </p:sp>
      <p:sp>
        <p:nvSpPr>
          <p:cNvPr id="7"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28</a:t>
            </a:fld>
            <a:endParaRPr lang="en-US" altLang="en-US"/>
          </a:p>
        </p:txBody>
      </p:sp>
    </p:spTree>
    <p:extLst>
      <p:ext uri="{BB962C8B-B14F-4D97-AF65-F5344CB8AC3E}">
        <p14:creationId xmlns:p14="http://schemas.microsoft.com/office/powerpoint/2010/main" val="38143044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Features of EER </a:t>
            </a:r>
            <a:r>
              <a:rPr lang="en-US" sz="4800" b="1" dirty="0" smtClean="0"/>
              <a:t>Model</a:t>
            </a:r>
            <a:endParaRPr lang="en-IN" sz="4800" b="1" dirty="0"/>
          </a:p>
        </p:txBody>
      </p:sp>
      <p:sp>
        <p:nvSpPr>
          <p:cNvPr id="3" name="Content Placeholder 2"/>
          <p:cNvSpPr>
            <a:spLocks noGrp="1"/>
          </p:cNvSpPr>
          <p:nvPr>
            <p:ph sz="quarter" idx="1"/>
          </p:nvPr>
        </p:nvSpPr>
        <p:spPr>
          <a:xfrm>
            <a:off x="971600" y="1844824"/>
            <a:ext cx="7772400" cy="4572000"/>
          </a:xfrm>
        </p:spPr>
        <p:txBody>
          <a:bodyPr/>
          <a:lstStyle/>
          <a:p>
            <a:r>
              <a:rPr lang="en-US" dirty="0" smtClean="0"/>
              <a:t>EER </a:t>
            </a:r>
            <a:r>
              <a:rPr lang="en-US" dirty="0"/>
              <a:t>creates a design more accurate to database schemas.</a:t>
            </a:r>
          </a:p>
          <a:p>
            <a:r>
              <a:rPr lang="en-US" dirty="0"/>
              <a:t>It reflects the data properties and constraints more precisely.</a:t>
            </a:r>
          </a:p>
          <a:p>
            <a:r>
              <a:rPr lang="en-US" dirty="0"/>
              <a:t>It includes all modeling concepts of the ER model.</a:t>
            </a:r>
          </a:p>
          <a:p>
            <a:r>
              <a:rPr lang="en-US" dirty="0"/>
              <a:t>Diagrammatic technique helps for displaying the EER schema.</a:t>
            </a:r>
          </a:p>
          <a:p>
            <a:r>
              <a:rPr lang="en-US" dirty="0"/>
              <a:t>It includes the concept of specialization and generalization.</a:t>
            </a:r>
          </a:p>
          <a:p>
            <a:r>
              <a:rPr lang="en-US" dirty="0"/>
              <a:t>It is used to represent a collection of objects that is union of objects of different of different entity types.</a:t>
            </a:r>
          </a:p>
          <a:p>
            <a:endParaRPr lang="en-IN" dirty="0"/>
          </a:p>
        </p:txBody>
      </p:sp>
      <p:sp>
        <p:nvSpPr>
          <p:cNvPr id="4" name="Slide Number Placeholder 5"/>
          <p:cNvSpPr>
            <a:spLocks noGrp="1"/>
          </p:cNvSpPr>
          <p:nvPr>
            <p:ph type="sldNum" sz="quarter" idx="12"/>
          </p:nvPr>
        </p:nvSpPr>
        <p:spPr>
          <a:xfrm>
            <a:off x="146304" y="6210300"/>
            <a:ext cx="457200" cy="457200"/>
          </a:xfrm>
        </p:spPr>
        <p:txBody>
          <a:bodyPr/>
          <a:lstStyle/>
          <a:p>
            <a:fld id="{B99A9720-9669-4622-9DDA-6A5C4126B66A}" type="slidenum">
              <a:rPr lang="en-US" altLang="en-US"/>
              <a:pPr/>
              <a:t>29</a:t>
            </a:fld>
            <a:endParaRPr lang="en-US" altLang="en-US"/>
          </a:p>
        </p:txBody>
      </p:sp>
    </p:spTree>
    <p:extLst>
      <p:ext uri="{BB962C8B-B14F-4D97-AF65-F5344CB8AC3E}">
        <p14:creationId xmlns:p14="http://schemas.microsoft.com/office/powerpoint/2010/main" val="6798718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036496" cy="634082"/>
          </a:xfrm>
        </p:spPr>
        <p:txBody>
          <a:bodyPr>
            <a:noAutofit/>
          </a:bodyPr>
          <a:lstStyle/>
          <a:p>
            <a:pPr algn="ctr"/>
            <a:r>
              <a:rPr lang="en-US" sz="4400" b="1" dirty="0" smtClean="0"/>
              <a:t>Theory Digital Assignment 1  and 2</a:t>
            </a:r>
            <a:endParaRPr lang="en-IN" sz="4400" b="1" dirty="0"/>
          </a:p>
        </p:txBody>
      </p:sp>
      <p:sp>
        <p:nvSpPr>
          <p:cNvPr id="3" name="Content Placeholder 2"/>
          <p:cNvSpPr>
            <a:spLocks noGrp="1"/>
          </p:cNvSpPr>
          <p:nvPr>
            <p:ph sz="quarter" idx="1"/>
          </p:nvPr>
        </p:nvSpPr>
        <p:spPr>
          <a:xfrm>
            <a:off x="107504" y="908720"/>
            <a:ext cx="8928992" cy="5688632"/>
          </a:xfrm>
        </p:spPr>
        <p:txBody>
          <a:bodyPr>
            <a:normAutofit fontScale="62500" lnSpcReduction="20000"/>
          </a:bodyPr>
          <a:lstStyle/>
          <a:p>
            <a:pPr lvl="0" algn="just"/>
            <a:r>
              <a:rPr lang="en-IN" sz="3400" dirty="0"/>
              <a:t>Although you always wanted to be an artist, you ended up being an expert on databases. Your old love is still there, however, so you set up a database company, Art Base that builds a product for art galleries. The core of this product is a database with a schema that captures all the information that galleries need to maintain. Galleries keep information about artists, their names (which are unique), birthplaces, age, and style of art.  For each piece of artwork, the artist, the year it was made, its unique title, its type of art (e.g., painting, lithograph, sculpture, photograph), and its price must be stored. Pieces of artwork are also classified into groups of various kinds, for example, portraits, still </a:t>
            </a:r>
            <a:r>
              <a:rPr lang="en-IN" sz="3400" dirty="0" err="1"/>
              <a:t>lifes</a:t>
            </a:r>
            <a:r>
              <a:rPr lang="en-IN" sz="3400" dirty="0"/>
              <a:t>, works by Picasso, or works of the 19th century; a given piece may belong to more than one group.  Each group is identified by a name (like those just given) that describes the group. Finally, galleries keep information about customers. For each customer, galleries keep that person’s unique name, address, total amount of dollars spent in the gallery (very important!), and the artists and groups of art that the customer tends to like. </a:t>
            </a:r>
          </a:p>
          <a:p>
            <a:pPr algn="just"/>
            <a:r>
              <a:rPr lang="en-IN" sz="3400" dirty="0"/>
              <a:t>Draw the ER diagram for the </a:t>
            </a:r>
            <a:r>
              <a:rPr lang="en-IN" sz="3400" dirty="0" smtClean="0"/>
              <a:t>database</a:t>
            </a:r>
            <a:r>
              <a:rPr lang="en-IN" sz="3400" dirty="0"/>
              <a:t> </a:t>
            </a:r>
            <a:r>
              <a:rPr lang="en-IN" sz="3400" dirty="0" smtClean="0"/>
              <a:t>and apply </a:t>
            </a:r>
            <a:r>
              <a:rPr lang="en-US" sz="3400" dirty="0" smtClean="0"/>
              <a:t>Extended ER </a:t>
            </a:r>
            <a:r>
              <a:rPr lang="en-US" sz="3400" dirty="0" err="1" smtClean="0"/>
              <a:t>digarams</a:t>
            </a:r>
            <a:r>
              <a:rPr lang="en-US" sz="3400" dirty="0" smtClean="0"/>
              <a:t> features whenever possible</a:t>
            </a:r>
            <a:endParaRPr lang="en-IN" sz="3400" dirty="0" smtClean="0"/>
          </a:p>
          <a:p>
            <a:pPr algn="just"/>
            <a:r>
              <a:rPr lang="en-US" sz="3400" dirty="0" smtClean="0"/>
              <a:t>Convert the Drawn ER diagram into Relational Schema</a:t>
            </a:r>
            <a:endParaRPr lang="en-IN" sz="3400" dirty="0"/>
          </a:p>
          <a:p>
            <a:pPr algn="just"/>
            <a:endParaRPr lang="en-IN" dirty="0"/>
          </a:p>
        </p:txBody>
      </p:sp>
      <p:sp>
        <p:nvSpPr>
          <p:cNvPr id="4" name="Slide Number Placeholder 5"/>
          <p:cNvSpPr>
            <a:spLocks noGrp="1"/>
          </p:cNvSpPr>
          <p:nvPr>
            <p:ph type="sldNum" sz="quarter" idx="12"/>
          </p:nvPr>
        </p:nvSpPr>
        <p:spPr>
          <a:xfrm>
            <a:off x="298376" y="6210300"/>
            <a:ext cx="457200" cy="457200"/>
          </a:xfrm>
        </p:spPr>
        <p:txBody>
          <a:bodyPr/>
          <a:lstStyle/>
          <a:p>
            <a:fld id="{B99A9720-9669-4622-9DDA-6A5C4126B66A}" type="slidenum">
              <a:rPr lang="en-US" altLang="en-US"/>
              <a:pPr/>
              <a:t>30</a:t>
            </a:fld>
            <a:endParaRPr lang="en-US" altLang="en-US"/>
          </a:p>
        </p:txBody>
      </p:sp>
    </p:spTree>
    <p:extLst>
      <p:ext uri="{BB962C8B-B14F-4D97-AF65-F5344CB8AC3E}">
        <p14:creationId xmlns:p14="http://schemas.microsoft.com/office/powerpoint/2010/main" val="39652240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525</TotalTime>
  <Words>1245</Words>
  <Application>Microsoft Office PowerPoint</Application>
  <PresentationFormat>On-screen Show (4:3)</PresentationFormat>
  <Paragraphs>159</Paragraphs>
  <Slides>30</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2" baseType="lpstr">
      <vt:lpstr>Equity</vt:lpstr>
      <vt:lpstr>Photo Editor Photo</vt:lpstr>
      <vt:lpstr>Extended ER features</vt:lpstr>
      <vt:lpstr>PowerPoint Presentation</vt:lpstr>
      <vt:lpstr>A. Sub Class and Super Class</vt:lpstr>
      <vt:lpstr>PowerPoint Presentation</vt:lpstr>
      <vt:lpstr>PowerPoint Presentation</vt:lpstr>
      <vt:lpstr>Constraints and its Types</vt:lpstr>
      <vt:lpstr>Disjointness Constraints on Specialization and Generalization </vt:lpstr>
      <vt:lpstr>Disjoint Constraint</vt:lpstr>
      <vt:lpstr>PowerPoint Presentation</vt:lpstr>
      <vt:lpstr>PowerPoint Presentation</vt:lpstr>
      <vt:lpstr> Completeness Constraints</vt:lpstr>
      <vt:lpstr>PowerPoint Presentation</vt:lpstr>
      <vt:lpstr> Membership Constraints</vt:lpstr>
      <vt:lpstr>Specialization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Category or Union</vt:lpstr>
      <vt:lpstr>PowerPoint Presentation</vt:lpstr>
      <vt:lpstr>PowerPoint Presentation</vt:lpstr>
      <vt:lpstr>Aggregation</vt:lpstr>
      <vt:lpstr>PowerPoint Presentation</vt:lpstr>
      <vt:lpstr>Mapping specialization/generalization to relational tables</vt:lpstr>
      <vt:lpstr>PowerPoint Presentation</vt:lpstr>
      <vt:lpstr>Features of EER Model</vt:lpstr>
      <vt:lpstr>Theory Digital Assignment 1  and 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ER features</dc:title>
  <dc:creator>HP</dc:creator>
  <cp:lastModifiedBy>HP</cp:lastModifiedBy>
  <cp:revision>35</cp:revision>
  <dcterms:created xsi:type="dcterms:W3CDTF">2023-05-11T17:38:00Z</dcterms:created>
  <dcterms:modified xsi:type="dcterms:W3CDTF">2024-08-05T08:30:20Z</dcterms:modified>
</cp:coreProperties>
</file>