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1"/>
  </p:notesMasterIdLst>
  <p:sldIdLst>
    <p:sldId id="256" r:id="rId2"/>
    <p:sldId id="288" r:id="rId3"/>
    <p:sldId id="289" r:id="rId4"/>
    <p:sldId id="270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92" r:id="rId13"/>
    <p:sldId id="290" r:id="rId14"/>
    <p:sldId id="291" r:id="rId15"/>
    <p:sldId id="286" r:id="rId16"/>
    <p:sldId id="284" r:id="rId17"/>
    <p:sldId id="271" r:id="rId18"/>
    <p:sldId id="287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02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7238B-4390-4646-8EB4-4968ED26515B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FB1CC-AE27-4B23-824E-BA8B57FD6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F6A820A-2CAB-46E0-A5A3-DD492961C18D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E-clxa0snImohti6MAPFjvroHvgg8Lu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3573016"/>
            <a:ext cx="6400800" cy="2304256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Arial Narrow" panose="020B0606020202030204" pitchFamily="34" charset="0"/>
              </a:rPr>
              <a:t>Dr.  T. Joshva Devadas</a:t>
            </a:r>
          </a:p>
          <a:p>
            <a:r>
              <a:rPr lang="en-US" sz="3200" b="1" dirty="0" smtClean="0">
                <a:latin typeface="Arial Narrow" panose="020B0606020202030204" pitchFamily="34" charset="0"/>
              </a:rPr>
              <a:t>Associate Professor </a:t>
            </a:r>
            <a:r>
              <a:rPr lang="en-US" sz="3200" b="1" dirty="0" err="1" smtClean="0">
                <a:latin typeface="Arial Narrow" panose="020B0606020202030204" pitchFamily="34" charset="0"/>
              </a:rPr>
              <a:t>Sr</a:t>
            </a:r>
            <a:r>
              <a:rPr lang="en-US" sz="3200" b="1" dirty="0" smtClean="0">
                <a:latin typeface="Arial Narrow" panose="020B0606020202030204" pitchFamily="34" charset="0"/>
              </a:rPr>
              <a:t>, SCOPE</a:t>
            </a:r>
          </a:p>
          <a:p>
            <a:r>
              <a:rPr lang="en-US" sz="3200" b="1" dirty="0" smtClean="0">
                <a:latin typeface="Arial Narrow" panose="020B0606020202030204" pitchFamily="34" charset="0"/>
              </a:rPr>
              <a:t>SJT Annex- 103 F</a:t>
            </a:r>
          </a:p>
          <a:p>
            <a:r>
              <a:rPr lang="en-US" sz="3200" b="1" dirty="0" smtClean="0">
                <a:latin typeface="Arial Narrow" panose="020B0606020202030204" pitchFamily="34" charset="0"/>
              </a:rPr>
              <a:t>Joshvadevadas.t@vit.ac.in</a:t>
            </a:r>
            <a:endParaRPr lang="en-IN" sz="3200" b="1" dirty="0">
              <a:latin typeface="Arial Narrow" panose="020B0606020202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 smtClean="0">
                <a:latin typeface="Arial Narrow" panose="020B0606020202030204" pitchFamily="34" charset="0"/>
              </a:rPr>
              <a:t>BCSE 302L</a:t>
            </a:r>
            <a:br>
              <a:rPr lang="en-US" sz="5400" dirty="0" smtClean="0">
                <a:latin typeface="Arial Narrow" panose="020B0606020202030204" pitchFamily="34" charset="0"/>
              </a:rPr>
            </a:br>
            <a:r>
              <a:rPr lang="en-US" sz="5400" dirty="0" smtClean="0">
                <a:latin typeface="Arial Narrow" panose="020B0606020202030204" pitchFamily="34" charset="0"/>
              </a:rPr>
              <a:t>Database </a:t>
            </a:r>
            <a:r>
              <a:rPr lang="en-US" sz="5400" dirty="0" smtClean="0">
                <a:latin typeface="Arial Narrow" panose="020B0606020202030204" pitchFamily="34" charset="0"/>
              </a:rPr>
              <a:t>Systems </a:t>
            </a:r>
            <a:endParaRPr lang="en-IN" sz="5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29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Course 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6152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Arial Narrow" panose="020B0606020202030204" pitchFamily="34" charset="0"/>
              </a:rPr>
              <a:t>1.To </a:t>
            </a:r>
            <a:r>
              <a:rPr lang="en-US" dirty="0">
                <a:latin typeface="Arial Narrow" panose="020B0606020202030204" pitchFamily="34" charset="0"/>
              </a:rPr>
              <a:t>understand the concepts of File system and structure of the database; Designing </a:t>
            </a:r>
            <a:r>
              <a:rPr lang="en-US" dirty="0" smtClean="0">
                <a:latin typeface="Arial Narrow" panose="020B0606020202030204" pitchFamily="34" charset="0"/>
              </a:rPr>
              <a:t>an Entity-Relationship </a:t>
            </a:r>
            <a:r>
              <a:rPr lang="en-US" dirty="0">
                <a:latin typeface="Arial Narrow" panose="020B0606020202030204" pitchFamily="34" charset="0"/>
              </a:rPr>
              <a:t>model for a real-life application and Mapping a database </a:t>
            </a:r>
            <a:r>
              <a:rPr lang="en-US" dirty="0" smtClean="0">
                <a:latin typeface="Arial Narrow" panose="020B0606020202030204" pitchFamily="34" charset="0"/>
              </a:rPr>
              <a:t>schema </a:t>
            </a:r>
            <a:r>
              <a:rPr lang="en-IN" dirty="0" smtClean="0">
                <a:latin typeface="Arial Narrow" panose="020B0606020202030204" pitchFamily="34" charset="0"/>
              </a:rPr>
              <a:t>from </a:t>
            </a:r>
            <a:r>
              <a:rPr lang="en-IN" dirty="0">
                <a:latin typeface="Arial Narrow" panose="020B0606020202030204" pitchFamily="34" charset="0"/>
              </a:rPr>
              <a:t>the ER model.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2. To differentiate various normal forms, evaluate relational schemas for design </a:t>
            </a:r>
            <a:r>
              <a:rPr lang="en-US" dirty="0" smtClean="0">
                <a:latin typeface="Arial Narrow" panose="020B0606020202030204" pitchFamily="34" charset="0"/>
              </a:rPr>
              <a:t>qualities </a:t>
            </a:r>
            <a:r>
              <a:rPr lang="en-IN" dirty="0" smtClean="0">
                <a:latin typeface="Arial Narrow" panose="020B0606020202030204" pitchFamily="34" charset="0"/>
              </a:rPr>
              <a:t>and </a:t>
            </a:r>
            <a:r>
              <a:rPr lang="en-IN" dirty="0">
                <a:latin typeface="Arial Narrow" panose="020B0606020202030204" pitchFamily="34" charset="0"/>
              </a:rPr>
              <a:t>optimize a query.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3. To impart the working methodologies of transaction management, </a:t>
            </a:r>
            <a:r>
              <a:rPr lang="en-US" dirty="0" smtClean="0">
                <a:latin typeface="Arial Narrow" panose="020B0606020202030204" pitchFamily="34" charset="0"/>
              </a:rPr>
              <a:t>understand concurrency </a:t>
            </a:r>
            <a:r>
              <a:rPr lang="en-US" dirty="0">
                <a:latin typeface="Arial Narrow" panose="020B0606020202030204" pitchFamily="34" charset="0"/>
              </a:rPr>
              <a:t>control, recovery, indexing, access methods and fundamental view </a:t>
            </a:r>
            <a:r>
              <a:rPr lang="en-US" dirty="0" smtClean="0">
                <a:latin typeface="Arial Narrow" panose="020B0606020202030204" pitchFamily="34" charset="0"/>
              </a:rPr>
              <a:t>on unstructured </a:t>
            </a:r>
            <a:r>
              <a:rPr lang="en-US" dirty="0">
                <a:latin typeface="Arial Narrow" panose="020B0606020202030204" pitchFamily="34" charset="0"/>
              </a:rPr>
              <a:t>data and its management.</a:t>
            </a:r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14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-243408"/>
            <a:ext cx="77724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Course Outcome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980728"/>
            <a:ext cx="8568952" cy="561662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On completion of this course, student should be able to:</a:t>
            </a:r>
          </a:p>
          <a:p>
            <a:pPr marL="457200" indent="-457200" algn="just">
              <a:buAutoNum type="arabicPeriod"/>
            </a:pPr>
            <a:r>
              <a:rPr lang="en-US" sz="2400" dirty="0" smtClean="0">
                <a:latin typeface="Arial Narrow" panose="020B0606020202030204" pitchFamily="34" charset="0"/>
              </a:rPr>
              <a:t>Comprehend </a:t>
            </a:r>
            <a:r>
              <a:rPr lang="en-US" sz="2400" dirty="0">
                <a:latin typeface="Arial Narrow" panose="020B0606020202030204" pitchFamily="34" charset="0"/>
              </a:rPr>
              <a:t>the role of database management system in an organization and </a:t>
            </a:r>
            <a:r>
              <a:rPr lang="en-US" sz="2400" dirty="0" smtClean="0">
                <a:latin typeface="Arial Narrow" panose="020B0606020202030204" pitchFamily="34" charset="0"/>
              </a:rPr>
              <a:t>design the </a:t>
            </a:r>
            <a:r>
              <a:rPr lang="en-US" sz="2400" dirty="0">
                <a:latin typeface="Arial Narrow" panose="020B0606020202030204" pitchFamily="34" charset="0"/>
              </a:rPr>
              <a:t>structure and operation of the relational data model</a:t>
            </a:r>
            <a:r>
              <a:rPr lang="en-US" sz="2400" dirty="0" smtClean="0">
                <a:latin typeface="Arial Narrow" panose="020B0606020202030204" pitchFamily="34" charset="0"/>
              </a:rPr>
              <a:t>.</a:t>
            </a:r>
          </a:p>
          <a:p>
            <a:pPr marL="457200" indent="-457200" algn="just">
              <a:buAutoNum type="arabicPeriod"/>
            </a:pPr>
            <a:endParaRPr lang="en-US" sz="1000" dirty="0">
              <a:latin typeface="Arial Narrow" panose="020B0606020202030204" pitchFamily="34" charset="0"/>
            </a:endParaRPr>
          </a:p>
          <a:p>
            <a:pPr marL="450850" indent="-45085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2. </a:t>
            </a:r>
            <a:r>
              <a:rPr lang="en-US" sz="2400" dirty="0" smtClean="0">
                <a:latin typeface="Arial Narrow" panose="020B0606020202030204" pitchFamily="34" charset="0"/>
              </a:rPr>
              <a:t>  Develop </a:t>
            </a:r>
            <a:r>
              <a:rPr lang="en-US" sz="2400" dirty="0">
                <a:latin typeface="Arial Narrow" panose="020B0606020202030204" pitchFamily="34" charset="0"/>
              </a:rPr>
              <a:t>a database project depending on the business requirements, </a:t>
            </a:r>
            <a:r>
              <a:rPr lang="en-US" sz="2400" dirty="0" smtClean="0">
                <a:latin typeface="Arial Narrow" panose="020B0606020202030204" pitchFamily="34" charset="0"/>
              </a:rPr>
              <a:t>considering various </a:t>
            </a:r>
            <a:r>
              <a:rPr lang="en-US" sz="2400" dirty="0">
                <a:latin typeface="Arial Narrow" panose="020B0606020202030204" pitchFamily="34" charset="0"/>
              </a:rPr>
              <a:t>design issues</a:t>
            </a:r>
            <a:r>
              <a:rPr lang="en-US" sz="24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just">
              <a:buNone/>
            </a:pPr>
            <a:endParaRPr lang="en-US" sz="10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3. </a:t>
            </a:r>
            <a:r>
              <a:rPr lang="en-US" sz="2400" dirty="0" smtClean="0">
                <a:latin typeface="Arial Narrow" panose="020B0606020202030204" pitchFamily="34" charset="0"/>
              </a:rPr>
              <a:t>  List </a:t>
            </a:r>
            <a:r>
              <a:rPr lang="en-US" sz="2400" dirty="0">
                <a:latin typeface="Arial Narrow" panose="020B0606020202030204" pitchFamily="34" charset="0"/>
              </a:rPr>
              <a:t>the concepts of indexing and accessing methods.</a:t>
            </a:r>
          </a:p>
          <a:p>
            <a:pPr marL="0" indent="0" algn="just">
              <a:buNone/>
            </a:pPr>
            <a:endParaRPr lang="en-US" sz="1000" dirty="0" smtClean="0">
              <a:latin typeface="Arial Narrow" panose="020B0606020202030204" pitchFamily="34" charset="0"/>
            </a:endParaRPr>
          </a:p>
          <a:p>
            <a:pPr marL="450850" indent="-450850" algn="just">
              <a:buNone/>
            </a:pPr>
            <a:r>
              <a:rPr lang="en-US" sz="2400" dirty="0" smtClean="0">
                <a:latin typeface="Arial Narrow" panose="020B0606020202030204" pitchFamily="34" charset="0"/>
              </a:rPr>
              <a:t>4</a:t>
            </a:r>
            <a:r>
              <a:rPr lang="en-US" sz="2400" dirty="0">
                <a:latin typeface="Arial Narrow" panose="020B0606020202030204" pitchFamily="34" charset="0"/>
              </a:rPr>
              <a:t>. </a:t>
            </a:r>
            <a:r>
              <a:rPr lang="en-US" sz="2400" dirty="0" smtClean="0">
                <a:latin typeface="Arial Narrow" panose="020B0606020202030204" pitchFamily="34" charset="0"/>
              </a:rPr>
              <a:t>Explain </a:t>
            </a:r>
            <a:r>
              <a:rPr lang="en-US" sz="2400" dirty="0">
                <a:latin typeface="Arial Narrow" panose="020B0606020202030204" pitchFamily="34" charset="0"/>
              </a:rPr>
              <a:t>the concept of a database transaction processing and comprehend the </a:t>
            </a:r>
            <a:r>
              <a:rPr lang="en-US" sz="2400" dirty="0" smtClean="0">
                <a:latin typeface="Arial Narrow" panose="020B0606020202030204" pitchFamily="34" charset="0"/>
              </a:rPr>
              <a:t>concept of </a:t>
            </a:r>
            <a:r>
              <a:rPr lang="en-US" sz="2400" dirty="0">
                <a:latin typeface="Arial Narrow" panose="020B0606020202030204" pitchFamily="34" charset="0"/>
              </a:rPr>
              <a:t>database facilities including concurrency control, backup and recovery</a:t>
            </a:r>
            <a:r>
              <a:rPr lang="en-US" sz="24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just">
              <a:buNone/>
            </a:pPr>
            <a:endParaRPr lang="en-US" sz="1000" dirty="0">
              <a:latin typeface="Arial Narrow" panose="020B0606020202030204" pitchFamily="34" charset="0"/>
            </a:endParaRPr>
          </a:p>
          <a:p>
            <a:pPr marL="450850" indent="-45085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5. </a:t>
            </a:r>
            <a:r>
              <a:rPr lang="en-US" sz="2400" dirty="0" smtClean="0">
                <a:latin typeface="Arial Narrow" panose="020B0606020202030204" pitchFamily="34" charset="0"/>
              </a:rPr>
              <a:t>  Review </a:t>
            </a:r>
            <a:r>
              <a:rPr lang="en-US" sz="2400" dirty="0">
                <a:latin typeface="Arial Narrow" panose="020B0606020202030204" pitchFamily="34" charset="0"/>
              </a:rPr>
              <a:t>the fundamental view on unstructured data and describe other </a:t>
            </a:r>
            <a:r>
              <a:rPr lang="en-US" sz="2400" dirty="0" smtClean="0">
                <a:latin typeface="Arial Narrow" panose="020B0606020202030204" pitchFamily="34" charset="0"/>
              </a:rPr>
              <a:t>emerging database </a:t>
            </a:r>
            <a:r>
              <a:rPr lang="en-US" sz="2400" dirty="0">
                <a:latin typeface="Arial Narrow" panose="020B0606020202030204" pitchFamily="34" charset="0"/>
              </a:rPr>
              <a:t>technologies.</a:t>
            </a:r>
            <a:endParaRPr lang="en-IN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750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772400" cy="70609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Course Component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908720"/>
            <a:ext cx="8712968" cy="5616624"/>
          </a:xfrm>
        </p:spPr>
        <p:txBody>
          <a:bodyPr>
            <a:normAutofit fontScale="77500" lnSpcReduction="20000"/>
          </a:bodyPr>
          <a:lstStyle/>
          <a:p>
            <a:pPr marL="1609725" indent="-1609725"/>
            <a:r>
              <a:rPr lang="en-US" dirty="0" smtClean="0">
                <a:latin typeface="Arial Narrow" panose="020B0606020202030204" pitchFamily="34" charset="0"/>
                <a:cs typeface="Times New Roman" pitchFamily="18" charset="0"/>
              </a:rPr>
              <a:t>Theory Component 3 credit.</a:t>
            </a:r>
          </a:p>
          <a:p>
            <a:pPr marL="1609725" indent="-1609725"/>
            <a:r>
              <a:rPr lang="en-US" dirty="0">
                <a:latin typeface="Arial Narrow" panose="020B0606020202030204" pitchFamily="34" charset="0"/>
                <a:cs typeface="Times New Roman" pitchFamily="18" charset="0"/>
              </a:rPr>
              <a:t> </a:t>
            </a:r>
            <a:r>
              <a:rPr lang="en-US" dirty="0" smtClean="0">
                <a:latin typeface="Arial Narrow" panose="020B0606020202030204" pitchFamily="34" charset="0"/>
                <a:cs typeface="Times New Roman" pitchFamily="18" charset="0"/>
              </a:rPr>
              <a:t>Lab Component 1 credit.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Books:  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  <a:cs typeface="Times New Roman" pitchFamily="18" charset="0"/>
              </a:rPr>
              <a:t>1. R. </a:t>
            </a:r>
            <a:r>
              <a:rPr lang="en-US" dirty="0" err="1">
                <a:latin typeface="Arial Narrow" panose="020B0606020202030204" pitchFamily="34" charset="0"/>
                <a:cs typeface="Times New Roman" pitchFamily="18" charset="0"/>
              </a:rPr>
              <a:t>Elmasri</a:t>
            </a:r>
            <a:r>
              <a:rPr lang="en-US" dirty="0">
                <a:latin typeface="Arial Narrow" panose="020B0606020202030204" pitchFamily="34" charset="0"/>
                <a:cs typeface="Times New Roman" pitchFamily="18" charset="0"/>
              </a:rPr>
              <a:t> &amp; S. B. </a:t>
            </a:r>
            <a:r>
              <a:rPr lang="en-US" dirty="0" err="1">
                <a:latin typeface="Arial Narrow" panose="020B0606020202030204" pitchFamily="34" charset="0"/>
                <a:cs typeface="Times New Roman" pitchFamily="18" charset="0"/>
              </a:rPr>
              <a:t>Navathe</a:t>
            </a:r>
            <a:r>
              <a:rPr lang="en-US" dirty="0">
                <a:latin typeface="Arial Narrow" panose="020B0606020202030204" pitchFamily="34" charset="0"/>
                <a:cs typeface="Times New Roman" pitchFamily="18" charset="0"/>
              </a:rPr>
              <a:t>, Fundamentals of Database Systems, Addison Wesley, </a:t>
            </a:r>
            <a:r>
              <a:rPr lang="en-US" dirty="0" smtClean="0">
                <a:latin typeface="Arial Narrow" panose="020B0606020202030204" pitchFamily="34" charset="0"/>
                <a:cs typeface="Times New Roman" pitchFamily="18" charset="0"/>
              </a:rPr>
              <a:t>7</a:t>
            </a:r>
            <a:r>
              <a:rPr lang="en-US" baseline="30000" dirty="0" smtClean="0">
                <a:latin typeface="Arial Narrow" panose="020B0606020202030204" pitchFamily="34" charset="0"/>
                <a:cs typeface="Times New Roman" pitchFamily="18" charset="0"/>
              </a:rPr>
              <a:t>th</a:t>
            </a:r>
            <a:r>
              <a:rPr lang="en-US" dirty="0" smtClean="0">
                <a:latin typeface="Arial Narrow" panose="020B0606020202030204" pitchFamily="34" charset="0"/>
                <a:cs typeface="Times New Roman" pitchFamily="18" charset="0"/>
              </a:rPr>
              <a:t> Edition</a:t>
            </a:r>
            <a:r>
              <a:rPr lang="en-US" dirty="0">
                <a:latin typeface="Arial Narrow" panose="020B0606020202030204" pitchFamily="34" charset="0"/>
                <a:cs typeface="Times New Roman" pitchFamily="18" charset="0"/>
              </a:rPr>
              <a:t>, </a:t>
            </a:r>
            <a:r>
              <a:rPr lang="en-US" dirty="0" smtClean="0">
                <a:latin typeface="Arial Narrow" panose="020B0606020202030204" pitchFamily="34" charset="0"/>
                <a:cs typeface="Times New Roman" pitchFamily="18" charset="0"/>
              </a:rPr>
              <a:t>2016.</a:t>
            </a:r>
          </a:p>
          <a:p>
            <a:pPr marL="0" indent="0">
              <a:buNone/>
            </a:pPr>
            <a:r>
              <a:rPr lang="en-US" dirty="0" smtClean="0">
                <a:latin typeface="Arial Narrow" panose="020B0606020202030204" pitchFamily="34" charset="0"/>
                <a:cs typeface="Times New Roman" pitchFamily="18" charset="0"/>
              </a:rPr>
              <a:t>2. A. </a:t>
            </a:r>
            <a:r>
              <a:rPr lang="en-US" dirty="0" err="1" smtClean="0">
                <a:latin typeface="Arial Narrow" panose="020B0606020202030204" pitchFamily="34" charset="0"/>
                <a:cs typeface="Times New Roman" pitchFamily="18" charset="0"/>
              </a:rPr>
              <a:t>Siberschatz</a:t>
            </a:r>
            <a:r>
              <a:rPr lang="en-US" dirty="0" smtClean="0">
                <a:latin typeface="Arial Narrow" panose="020B0606020202030204" pitchFamily="34" charset="0"/>
                <a:cs typeface="Times New Roman" pitchFamily="18" charset="0"/>
              </a:rPr>
              <a:t>, H. F. </a:t>
            </a:r>
            <a:r>
              <a:rPr lang="en-US" dirty="0" err="1" smtClean="0">
                <a:latin typeface="Arial Narrow" panose="020B0606020202030204" pitchFamily="34" charset="0"/>
                <a:cs typeface="Times New Roman" pitchFamily="18" charset="0"/>
              </a:rPr>
              <a:t>Korth</a:t>
            </a:r>
            <a:r>
              <a:rPr lang="en-US" dirty="0" smtClean="0">
                <a:latin typeface="Arial Narrow" panose="020B0606020202030204" pitchFamily="34" charset="0"/>
                <a:cs typeface="Times New Roman" pitchFamily="18" charset="0"/>
              </a:rPr>
              <a:t> and S. </a:t>
            </a:r>
            <a:r>
              <a:rPr lang="en-US" dirty="0" err="1" smtClean="0">
                <a:latin typeface="Arial Narrow" panose="020B0606020202030204" pitchFamily="34" charset="0"/>
                <a:cs typeface="Times New Roman" pitchFamily="18" charset="0"/>
              </a:rPr>
              <a:t>Sudarshan</a:t>
            </a:r>
            <a:r>
              <a:rPr lang="en-US" dirty="0" smtClean="0">
                <a:latin typeface="Arial Narrow" panose="020B0606020202030204" pitchFamily="34" charset="0"/>
                <a:cs typeface="Times New Roman" pitchFamily="18" charset="0"/>
              </a:rPr>
              <a:t>, Database System Concept, TMH 7</a:t>
            </a:r>
            <a:r>
              <a:rPr lang="en-US" baseline="30000" dirty="0" smtClean="0">
                <a:latin typeface="Arial Narrow" panose="020B0606020202030204" pitchFamily="34" charset="0"/>
                <a:cs typeface="Times New Roman" pitchFamily="18" charset="0"/>
              </a:rPr>
              <a:t>th</a:t>
            </a:r>
            <a:r>
              <a:rPr lang="en-US" dirty="0" smtClean="0">
                <a:latin typeface="Arial Narrow" panose="020B0606020202030204" pitchFamily="34" charset="0"/>
                <a:cs typeface="Times New Roman" pitchFamily="18" charset="0"/>
              </a:rPr>
              <a:t> Edition, 2019.</a:t>
            </a:r>
          </a:p>
          <a:p>
            <a:pPr marL="0" indent="0">
              <a:buNone/>
            </a:pPr>
            <a:r>
              <a:rPr lang="en-US" dirty="0" smtClean="0">
                <a:latin typeface="Arial Narrow" panose="020B0606020202030204" pitchFamily="34" charset="0"/>
              </a:rPr>
              <a:t>3. Raghu </a:t>
            </a:r>
            <a:r>
              <a:rPr lang="en-US" dirty="0">
                <a:latin typeface="Arial Narrow" panose="020B0606020202030204" pitchFamily="34" charset="0"/>
              </a:rPr>
              <a:t>Ramakrishnan, Database Management Systems, </a:t>
            </a:r>
            <a:r>
              <a:rPr lang="en-US" dirty="0" err="1">
                <a:latin typeface="Arial Narrow" panose="020B0606020202030204" pitchFamily="34" charset="0"/>
              </a:rPr>
              <a:t>Mcgraw-Hill</a:t>
            </a:r>
            <a:r>
              <a:rPr lang="en-US" dirty="0">
                <a:latin typeface="Arial Narrow" panose="020B0606020202030204" pitchFamily="34" charset="0"/>
              </a:rPr>
              <a:t>, 4th Edition, 2018</a:t>
            </a:r>
            <a:endParaRPr lang="en-US" dirty="0" smtClean="0">
              <a:latin typeface="Arial Narrow" panose="020B0606020202030204" pitchFamily="34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 Narrow" panose="020B0606020202030204" pitchFamily="34" charset="0"/>
                <a:cs typeface="Times New Roman" pitchFamily="18" charset="0"/>
              </a:rPr>
              <a:t>4. </a:t>
            </a:r>
            <a:r>
              <a:rPr lang="en-US" dirty="0" err="1">
                <a:latin typeface="Arial Narrow" panose="020B0606020202030204" pitchFamily="34" charset="0"/>
              </a:rPr>
              <a:t>C.J.Date</a:t>
            </a:r>
            <a:r>
              <a:rPr lang="en-US" dirty="0">
                <a:latin typeface="Arial Narrow" panose="020B0606020202030204" pitchFamily="34" charset="0"/>
              </a:rPr>
              <a:t>, </a:t>
            </a:r>
            <a:r>
              <a:rPr lang="en-US" dirty="0" err="1">
                <a:latin typeface="Arial Narrow" panose="020B0606020202030204" pitchFamily="34" charset="0"/>
              </a:rPr>
              <a:t>A.Kannan</a:t>
            </a:r>
            <a:r>
              <a:rPr lang="en-US" dirty="0">
                <a:latin typeface="Arial Narrow" panose="020B0606020202030204" pitchFamily="34" charset="0"/>
              </a:rPr>
              <a:t>, </a:t>
            </a:r>
            <a:r>
              <a:rPr lang="en-US" dirty="0" err="1">
                <a:latin typeface="Arial Narrow" panose="020B0606020202030204" pitchFamily="34" charset="0"/>
              </a:rPr>
              <a:t>S.Swamynathan</a:t>
            </a:r>
            <a:r>
              <a:rPr lang="en-US" dirty="0">
                <a:latin typeface="Arial Narrow" panose="020B0606020202030204" pitchFamily="34" charset="0"/>
              </a:rPr>
              <a:t>,” An Introduction to Database Systems”, Pearson</a:t>
            </a:r>
            <a:r>
              <a:rPr lang="en-US" dirty="0" smtClean="0">
                <a:latin typeface="Arial Narrow" panose="020B0606020202030204" pitchFamily="34" charset="0"/>
              </a:rPr>
              <a:t>, </a:t>
            </a:r>
            <a:r>
              <a:rPr lang="en-IN" dirty="0" smtClean="0">
                <a:latin typeface="Arial Narrow" panose="020B0606020202030204" pitchFamily="34" charset="0"/>
              </a:rPr>
              <a:t>Eighth </a:t>
            </a:r>
            <a:r>
              <a:rPr lang="en-IN" dirty="0">
                <a:latin typeface="Arial Narrow" panose="020B0606020202030204" pitchFamily="34" charset="0"/>
              </a:rPr>
              <a:t>Edition, 2006</a:t>
            </a:r>
            <a:r>
              <a:rPr lang="en-IN" dirty="0" smtClean="0">
                <a:latin typeface="Arial Narrow" panose="020B0606020202030204" pitchFamily="34" charset="0"/>
              </a:rPr>
              <a:t>.</a:t>
            </a:r>
          </a:p>
          <a:p>
            <a:pPr marL="0" indent="0">
              <a:buNone/>
            </a:pPr>
            <a:r>
              <a:rPr lang="en-IN" dirty="0" smtClean="0">
                <a:latin typeface="Arial Narrow" panose="020B0606020202030204" pitchFamily="34" charset="0"/>
              </a:rPr>
              <a:t>5. Gerardus </a:t>
            </a:r>
            <a:r>
              <a:rPr lang="en-IN" dirty="0" err="1">
                <a:latin typeface="Arial Narrow" panose="020B0606020202030204" pitchFamily="34" charset="0"/>
              </a:rPr>
              <a:t>Blokdyk</a:t>
            </a:r>
            <a:r>
              <a:rPr lang="en-IN" dirty="0">
                <a:latin typeface="Arial Narrow" panose="020B0606020202030204" pitchFamily="34" charset="0"/>
              </a:rPr>
              <a:t>, NoSQL Databases A Complete Guide, 5STARCooks, 2021</a:t>
            </a:r>
            <a:endParaRPr lang="en-US" dirty="0" smtClean="0">
              <a:latin typeface="Arial Narrow" panose="020B0606020202030204" pitchFamily="34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Link for Book :</a:t>
            </a:r>
          </a:p>
          <a:p>
            <a:pPr marL="0" indent="0"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  <a:hlinkClick r:id="rId2"/>
              </a:rPr>
              <a:t>https://</a:t>
            </a:r>
            <a:r>
              <a:rPr lang="en-IN" dirty="0" smtClean="0">
                <a:latin typeface="Times New Roman" pitchFamily="18" charset="0"/>
                <a:cs typeface="Times New Roman" pitchFamily="18" charset="0"/>
                <a:hlinkClick r:id="rId2"/>
              </a:rPr>
              <a:t>drive.google.com/drive/folders/1E-clxa0snImohti6MAPFjvroHvgg8Lul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55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692696"/>
            <a:ext cx="8136904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US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Module:1 </a:t>
            </a:r>
            <a:r>
              <a:rPr lang="en-US" b="1" dirty="0" smtClean="0">
                <a:solidFill>
                  <a:srgbClr val="3366CC"/>
                </a:solidFill>
              </a:rPr>
              <a:t/>
            </a:r>
            <a:br>
              <a:rPr lang="en-US" b="1" dirty="0" smtClean="0">
                <a:solidFill>
                  <a:srgbClr val="3366CC"/>
                </a:solidFill>
              </a:rPr>
            </a:br>
            <a:r>
              <a:rPr lang="en-US" b="1" dirty="0" smtClean="0">
                <a:solidFill>
                  <a:srgbClr val="3366CC"/>
                </a:solidFill>
              </a:rPr>
              <a:t>DATABASE </a:t>
            </a:r>
            <a:r>
              <a:rPr lang="en-US" b="1" dirty="0">
                <a:solidFill>
                  <a:srgbClr val="3366CC"/>
                </a:solidFill>
              </a:rPr>
              <a:t>SYSTEMS CONCEPTS AND ARCHITECTURE </a:t>
            </a:r>
            <a:r>
              <a:rPr lang="en-US" b="1" dirty="0" smtClean="0">
                <a:solidFill>
                  <a:srgbClr val="3366CC"/>
                </a:solidFill>
              </a:rPr>
              <a:t>                           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4 </a:t>
            </a:r>
            <a:r>
              <a:rPr lang="en-US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Hrs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2132856"/>
            <a:ext cx="8496944" cy="403244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/>
              <a:t> </a:t>
            </a:r>
            <a:r>
              <a:rPr lang="en-US" sz="2400" dirty="0" smtClean="0">
                <a:latin typeface="Arial Narrow" panose="020B0606020202030204" pitchFamily="34" charset="0"/>
              </a:rPr>
              <a:t>Need </a:t>
            </a:r>
            <a:r>
              <a:rPr lang="en-US" sz="2400" dirty="0">
                <a:latin typeface="Arial Narrow" panose="020B0606020202030204" pitchFamily="34" charset="0"/>
              </a:rPr>
              <a:t>for database systems – Characteristics of Database Approach – Advantages </a:t>
            </a:r>
            <a:r>
              <a:rPr lang="en-US" sz="2400" dirty="0" smtClean="0">
                <a:latin typeface="Arial Narrow" panose="020B0606020202030204" pitchFamily="34" charset="0"/>
              </a:rPr>
              <a:t>of using </a:t>
            </a:r>
            <a:r>
              <a:rPr lang="en-US" sz="2400" dirty="0">
                <a:latin typeface="Arial Narrow" panose="020B0606020202030204" pitchFamily="34" charset="0"/>
              </a:rPr>
              <a:t>DBMS approach - Actors on the Database Management Scene: </a:t>
            </a:r>
            <a:r>
              <a:rPr lang="en-US" sz="2400" dirty="0" smtClean="0">
                <a:latin typeface="Arial Narrow" panose="020B0606020202030204" pitchFamily="34" charset="0"/>
              </a:rPr>
              <a:t>Database Administrator </a:t>
            </a:r>
            <a:r>
              <a:rPr lang="en-US" sz="2400" dirty="0">
                <a:latin typeface="Arial Narrow" panose="020B0606020202030204" pitchFamily="34" charset="0"/>
              </a:rPr>
              <a:t>- Classification of database management systems - Data Models </a:t>
            </a:r>
            <a:r>
              <a:rPr lang="en-US" sz="2400" dirty="0" smtClean="0">
                <a:latin typeface="Arial Narrow" panose="020B0606020202030204" pitchFamily="34" charset="0"/>
              </a:rPr>
              <a:t>– Schemas and </a:t>
            </a:r>
            <a:r>
              <a:rPr lang="en-US" sz="2400" dirty="0">
                <a:latin typeface="Arial Narrow" panose="020B0606020202030204" pitchFamily="34" charset="0"/>
              </a:rPr>
              <a:t>Instances - Three-Schema Architecture - The Database System Environment </a:t>
            </a:r>
            <a:r>
              <a:rPr lang="en-US" sz="2400" dirty="0" smtClean="0">
                <a:latin typeface="Arial Narrow" panose="020B0606020202030204" pitchFamily="34" charset="0"/>
              </a:rPr>
              <a:t>- Centralized </a:t>
            </a:r>
            <a:r>
              <a:rPr lang="en-US" sz="2400" dirty="0">
                <a:latin typeface="Arial Narrow" panose="020B0606020202030204" pitchFamily="34" charset="0"/>
              </a:rPr>
              <a:t>and </a:t>
            </a:r>
            <a:r>
              <a:rPr lang="en-US" sz="2400" dirty="0" smtClean="0">
                <a:latin typeface="Arial Narrow" panose="020B0606020202030204" pitchFamily="34" charset="0"/>
              </a:rPr>
              <a:t>Client/Server </a:t>
            </a:r>
            <a:r>
              <a:rPr lang="en-US" sz="2400" dirty="0">
                <a:latin typeface="Arial Narrow" panose="020B0606020202030204" pitchFamily="34" charset="0"/>
              </a:rPr>
              <a:t>Architectures for DBMSs – Overall Architecture </a:t>
            </a:r>
            <a:r>
              <a:rPr lang="en-US" sz="2400" dirty="0" smtClean="0">
                <a:latin typeface="Arial Narrow" panose="020B0606020202030204" pitchFamily="34" charset="0"/>
              </a:rPr>
              <a:t>of </a:t>
            </a:r>
            <a:r>
              <a:rPr lang="en-IN" sz="2400" dirty="0" smtClean="0">
                <a:latin typeface="Arial Narrow" panose="020B0606020202030204" pitchFamily="34" charset="0"/>
              </a:rPr>
              <a:t>Database </a:t>
            </a:r>
            <a:r>
              <a:rPr lang="en-IN" sz="2400" dirty="0">
                <a:latin typeface="Arial Narrow" panose="020B0606020202030204" pitchFamily="34" charset="0"/>
              </a:rPr>
              <a:t>Management Systems</a:t>
            </a:r>
            <a:r>
              <a:rPr lang="en-US" sz="2400" dirty="0" smtClean="0">
                <a:latin typeface="Arial Narrow" panose="020B0606020202030204" pitchFamily="34" charset="0"/>
              </a:rPr>
              <a:t>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6234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764704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 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Module:2 </a:t>
            </a: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>
                <a:solidFill>
                  <a:srgbClr val="3366CC"/>
                </a:solidFill>
              </a:rPr>
              <a:t>Relational </a:t>
            </a:r>
            <a:r>
              <a:rPr lang="en-IN" b="1" dirty="0">
                <a:solidFill>
                  <a:srgbClr val="3366CC"/>
                </a:solidFill>
              </a:rPr>
              <a:t>Model and E-R </a:t>
            </a:r>
            <a:r>
              <a:rPr lang="en-IN" b="1" dirty="0" err="1" smtClean="0">
                <a:solidFill>
                  <a:srgbClr val="3366CC"/>
                </a:solidFill>
              </a:rPr>
              <a:t>Modeling</a:t>
            </a:r>
            <a:r>
              <a:rPr lang="en-IN" b="1" dirty="0">
                <a:solidFill>
                  <a:srgbClr val="3366CC"/>
                </a:solidFill>
              </a:rPr>
              <a:t/>
            </a:r>
            <a:br>
              <a:rPr lang="en-IN" b="1" dirty="0">
                <a:solidFill>
                  <a:srgbClr val="3366CC"/>
                </a:solidFill>
              </a:rPr>
            </a:br>
            <a:r>
              <a:rPr lang="en-IN" b="1" dirty="0" smtClean="0">
                <a:solidFill>
                  <a:srgbClr val="3366CC"/>
                </a:solidFill>
              </a:rPr>
              <a:t>                                                      </a:t>
            </a:r>
            <a:r>
              <a:rPr lang="en-IN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6 Hrs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99592" y="2060848"/>
            <a:ext cx="7772400" cy="3349352"/>
          </a:xfrm>
        </p:spPr>
        <p:txBody>
          <a:bodyPr>
            <a:normAutofit fontScale="92500" lnSpcReduction="20000"/>
          </a:bodyPr>
          <a:lstStyle/>
          <a:p>
            <a:pPr algn="just"/>
            <a:endParaRPr lang="en-IN" dirty="0"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</a:rPr>
              <a:t> Relational Model: Candidate Keys, Primary Keys, Foreign Keys - Integrity Constraints </a:t>
            </a:r>
            <a:r>
              <a:rPr lang="en-US" dirty="0" smtClean="0">
                <a:latin typeface="Arial Narrow" panose="020B0606020202030204" pitchFamily="34" charset="0"/>
              </a:rPr>
              <a:t>- Handling </a:t>
            </a:r>
            <a:r>
              <a:rPr lang="en-US" dirty="0">
                <a:latin typeface="Arial Narrow" panose="020B0606020202030204" pitchFamily="34" charset="0"/>
              </a:rPr>
              <a:t>of Nulls - Entity Relationship Model: Types of Attributes, Relationships</a:t>
            </a:r>
            <a:r>
              <a:rPr lang="en-US" dirty="0" smtClean="0">
                <a:latin typeface="Arial Narrow" panose="020B0606020202030204" pitchFamily="34" charset="0"/>
              </a:rPr>
              <a:t>, Structural </a:t>
            </a:r>
            <a:r>
              <a:rPr lang="en-US" dirty="0">
                <a:latin typeface="Arial Narrow" panose="020B0606020202030204" pitchFamily="34" charset="0"/>
              </a:rPr>
              <a:t>Constraints, Relational model Constraints – Mapping ER model to a </a:t>
            </a:r>
            <a:r>
              <a:rPr lang="en-US" dirty="0" smtClean="0">
                <a:latin typeface="Arial Narrow" panose="020B0606020202030204" pitchFamily="34" charset="0"/>
              </a:rPr>
              <a:t>relational </a:t>
            </a:r>
            <a:r>
              <a:rPr lang="en-IN" dirty="0" smtClean="0">
                <a:latin typeface="Arial Narrow" panose="020B0606020202030204" pitchFamily="34" charset="0"/>
              </a:rPr>
              <a:t>schema </a:t>
            </a:r>
            <a:r>
              <a:rPr lang="en-IN" dirty="0">
                <a:latin typeface="Arial Narrow" panose="020B0606020202030204" pitchFamily="34" charset="0"/>
              </a:rPr>
              <a:t>– Extended ER Model - Generalization – Specialization – Aggregations.</a:t>
            </a:r>
          </a:p>
        </p:txBody>
      </p:sp>
    </p:spTree>
    <p:extLst>
      <p:ext uri="{BB962C8B-B14F-4D97-AF65-F5344CB8AC3E}">
        <p14:creationId xmlns:p14="http://schemas.microsoft.com/office/powerpoint/2010/main" val="237498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692696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Module:3 </a:t>
            </a:r>
            <a:r>
              <a:rPr lang="en-IN" dirty="0">
                <a:latin typeface="Arial Black" panose="020B0A04020102020204" pitchFamily="34" charset="0"/>
              </a:rPr>
              <a:t>	</a:t>
            </a:r>
            <a:r>
              <a:rPr lang="en-IN" dirty="0" smtClean="0">
                <a:latin typeface="Arial Black" panose="020B0A04020102020204" pitchFamily="34" charset="0"/>
              </a:rPr>
              <a:t/>
            </a:r>
            <a:br>
              <a:rPr lang="en-IN" dirty="0" smtClean="0">
                <a:latin typeface="Arial Black" panose="020B0A04020102020204" pitchFamily="34" charset="0"/>
              </a:rPr>
            </a:br>
            <a:r>
              <a:rPr lang="en-IN" b="1" dirty="0" smtClean="0">
                <a:solidFill>
                  <a:srgbClr val="3366CC"/>
                </a:solidFill>
              </a:rPr>
              <a:t>Relational </a:t>
            </a:r>
            <a:r>
              <a:rPr lang="en-IN" b="1" dirty="0">
                <a:solidFill>
                  <a:srgbClr val="3366CC"/>
                </a:solidFill>
              </a:rPr>
              <a:t>Database Design	</a:t>
            </a:r>
            <a:r>
              <a:rPr lang="en-IN" b="1" dirty="0" smtClean="0">
                <a:solidFill>
                  <a:srgbClr val="3366CC"/>
                </a:solidFill>
                <a:latin typeface="Arial Black" panose="020B0A04020102020204" pitchFamily="34" charset="0"/>
              </a:rPr>
              <a:t>     </a:t>
            </a:r>
            <a:r>
              <a:rPr lang="en-IN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6 Hrs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8840"/>
            <a:ext cx="7772400" cy="40309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Arial Narrow" panose="020B0606020202030204" pitchFamily="34" charset="0"/>
              </a:rPr>
              <a:t> </a:t>
            </a:r>
            <a:r>
              <a:rPr lang="en-IN" sz="2400" dirty="0">
                <a:latin typeface="Arial Narrow" panose="020B0606020202030204" pitchFamily="34" charset="0"/>
              </a:rPr>
              <a:t>Database Design – Schema Refinement - Guidelines for Relational Schema </a:t>
            </a:r>
            <a:r>
              <a:rPr lang="en-IN" sz="2400" dirty="0" smtClean="0">
                <a:latin typeface="Arial Narrow" panose="020B0606020202030204" pitchFamily="34" charset="0"/>
              </a:rPr>
              <a:t>– Functional </a:t>
            </a:r>
            <a:r>
              <a:rPr lang="en-US" sz="2400" dirty="0" smtClean="0">
                <a:latin typeface="Arial Narrow" panose="020B0606020202030204" pitchFamily="34" charset="0"/>
              </a:rPr>
              <a:t>dependencies </a:t>
            </a:r>
            <a:r>
              <a:rPr lang="en-US" sz="2400" dirty="0">
                <a:latin typeface="Arial Narrow" panose="020B0606020202030204" pitchFamily="34" charset="0"/>
              </a:rPr>
              <a:t>- Axioms on Functional Dependencies- Normalization: First, Second </a:t>
            </a:r>
            <a:r>
              <a:rPr lang="en-US" sz="2400" dirty="0" smtClean="0">
                <a:latin typeface="Arial Narrow" panose="020B0606020202030204" pitchFamily="34" charset="0"/>
              </a:rPr>
              <a:t>and Third </a:t>
            </a:r>
            <a:r>
              <a:rPr lang="en-US" sz="2400" dirty="0">
                <a:latin typeface="Arial Narrow" panose="020B0606020202030204" pitchFamily="34" charset="0"/>
              </a:rPr>
              <a:t>Normal Forms - Boyce </a:t>
            </a:r>
            <a:r>
              <a:rPr lang="en-US" sz="2400" dirty="0" err="1">
                <a:latin typeface="Arial Narrow" panose="020B0606020202030204" pitchFamily="34" charset="0"/>
              </a:rPr>
              <a:t>Codd</a:t>
            </a:r>
            <a:r>
              <a:rPr lang="en-US" sz="2400" dirty="0">
                <a:latin typeface="Arial Narrow" panose="020B0606020202030204" pitchFamily="34" charset="0"/>
              </a:rPr>
              <a:t> Normal Form, Multi-valued dependency and </a:t>
            </a:r>
            <a:r>
              <a:rPr lang="en-US" sz="2400" dirty="0" smtClean="0">
                <a:latin typeface="Arial Narrow" panose="020B0606020202030204" pitchFamily="34" charset="0"/>
              </a:rPr>
              <a:t>Fourth Normal </a:t>
            </a:r>
            <a:r>
              <a:rPr lang="en-US" sz="2400" dirty="0">
                <a:latin typeface="Arial Narrow" panose="020B0606020202030204" pitchFamily="34" charset="0"/>
              </a:rPr>
              <a:t>form - Join dependency and Fifth Normal </a:t>
            </a:r>
            <a:r>
              <a:rPr lang="en-US" sz="2400" dirty="0" smtClean="0">
                <a:latin typeface="Arial Narrow" panose="020B0606020202030204" pitchFamily="34" charset="0"/>
              </a:rPr>
              <a:t>form.</a:t>
            </a:r>
            <a:endParaRPr lang="en-IN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84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620688"/>
            <a:ext cx="7916416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Module:4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3366CC"/>
                </a:solidFill>
              </a:rPr>
              <a:t>Physical </a:t>
            </a:r>
            <a:r>
              <a:rPr lang="en-US" b="1" dirty="0">
                <a:solidFill>
                  <a:srgbClr val="3366CC"/>
                </a:solidFill>
              </a:rPr>
              <a:t>Database Design and </a:t>
            </a:r>
            <a:r>
              <a:rPr lang="en-US" b="1" dirty="0" smtClean="0">
                <a:solidFill>
                  <a:srgbClr val="3366CC"/>
                </a:solidFill>
              </a:rPr>
              <a:t>Query </a:t>
            </a:r>
            <a:r>
              <a:rPr lang="en-IN" b="1" dirty="0" smtClean="0">
                <a:solidFill>
                  <a:srgbClr val="3366CC"/>
                </a:solidFill>
              </a:rPr>
              <a:t>Processing                                    </a:t>
            </a:r>
            <a:r>
              <a:rPr lang="en-IN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8 Hrs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447800"/>
            <a:ext cx="8568952" cy="4572000"/>
          </a:xfrm>
        </p:spPr>
        <p:txBody>
          <a:bodyPr>
            <a:normAutofit/>
          </a:bodyPr>
          <a:lstStyle/>
          <a:p>
            <a:endParaRPr lang="en-IN" dirty="0"/>
          </a:p>
          <a:p>
            <a:pPr algn="just">
              <a:lnSpc>
                <a:spcPct val="150000"/>
              </a:lnSpc>
            </a:pPr>
            <a:r>
              <a:rPr lang="en-IN" dirty="0"/>
              <a:t> </a:t>
            </a:r>
            <a:r>
              <a:rPr lang="en-US" sz="2400" dirty="0">
                <a:latin typeface="Arial Narrow" panose="020B0606020202030204" pitchFamily="34" charset="0"/>
              </a:rPr>
              <a:t>File Organization - Indexing: Single level indexing, multi-level indexing, </a:t>
            </a:r>
            <a:r>
              <a:rPr lang="en-US" sz="2400" dirty="0" smtClean="0">
                <a:latin typeface="Arial Narrow" panose="020B0606020202030204" pitchFamily="34" charset="0"/>
              </a:rPr>
              <a:t>dynamic multilevel </a:t>
            </a:r>
            <a:r>
              <a:rPr lang="en-US" sz="2400" dirty="0">
                <a:latin typeface="Arial Narrow" panose="020B0606020202030204" pitchFamily="34" charset="0"/>
              </a:rPr>
              <a:t>Indexing - B+ Tree Indexing – Hashing Techniques: Static and Dynamic </a:t>
            </a:r>
            <a:r>
              <a:rPr lang="en-US" sz="2400" dirty="0" smtClean="0">
                <a:latin typeface="Arial Narrow" panose="020B0606020202030204" pitchFamily="34" charset="0"/>
              </a:rPr>
              <a:t>Hashing</a:t>
            </a:r>
            <a:r>
              <a:rPr lang="en-IN" sz="2400" dirty="0" smtClean="0">
                <a:latin typeface="Arial Narrow" panose="020B0606020202030204" pitchFamily="34" charset="0"/>
              </a:rPr>
              <a:t>– </a:t>
            </a:r>
            <a:r>
              <a:rPr lang="en-IN" sz="2400" dirty="0">
                <a:latin typeface="Arial Narrow" panose="020B0606020202030204" pitchFamily="34" charset="0"/>
              </a:rPr>
              <a:t>Relational Algebra - Translating SQL Queries into R</a:t>
            </a:r>
            <a:r>
              <a:rPr lang="en-IN" sz="2400" dirty="0" smtClean="0">
                <a:latin typeface="Arial Narrow" panose="020B0606020202030204" pitchFamily="34" charset="0"/>
              </a:rPr>
              <a:t>elational </a:t>
            </a:r>
            <a:r>
              <a:rPr lang="en-IN" sz="2400" dirty="0">
                <a:latin typeface="Arial Narrow" panose="020B0606020202030204" pitchFamily="34" charset="0"/>
              </a:rPr>
              <a:t>Algebra </a:t>
            </a:r>
            <a:r>
              <a:rPr lang="en-IN" sz="2400" dirty="0" smtClean="0">
                <a:latin typeface="Arial Narrow" panose="020B0606020202030204" pitchFamily="34" charset="0"/>
              </a:rPr>
              <a:t>– Query </a:t>
            </a:r>
            <a:r>
              <a:rPr lang="en-US" sz="2400" dirty="0" smtClean="0">
                <a:latin typeface="Arial Narrow" panose="020B0606020202030204" pitchFamily="34" charset="0"/>
              </a:rPr>
              <a:t>Processing </a:t>
            </a:r>
            <a:r>
              <a:rPr lang="en-US" sz="2400" dirty="0">
                <a:latin typeface="Arial Narrow" panose="020B0606020202030204" pitchFamily="34" charset="0"/>
              </a:rPr>
              <a:t>– Query Optimization: Algebraic Query Optimization, Heuristic </a:t>
            </a:r>
            <a:r>
              <a:rPr lang="en-US" sz="2400" dirty="0" smtClean="0">
                <a:latin typeface="Arial Narrow" panose="020B0606020202030204" pitchFamily="34" charset="0"/>
              </a:rPr>
              <a:t>query optimization </a:t>
            </a:r>
            <a:r>
              <a:rPr lang="en-US" sz="2400" dirty="0">
                <a:latin typeface="Arial Narrow" panose="020B0606020202030204" pitchFamily="34" charset="0"/>
              </a:rPr>
              <a:t>Rules, Join Query Optimization using Indexing and Hashing - Tuple </a:t>
            </a:r>
            <a:r>
              <a:rPr lang="en-US" sz="2400" dirty="0" smtClean="0">
                <a:latin typeface="Arial Narrow" panose="020B0606020202030204" pitchFamily="34" charset="0"/>
              </a:rPr>
              <a:t>Relational </a:t>
            </a:r>
            <a:r>
              <a:rPr lang="en-IN" sz="2400" dirty="0" smtClean="0">
                <a:latin typeface="Arial Narrow" panose="020B0606020202030204" pitchFamily="34" charset="0"/>
              </a:rPr>
              <a:t>Calculus</a:t>
            </a:r>
            <a:r>
              <a:rPr lang="en-IN" sz="2400" dirty="0">
                <a:latin typeface="Arial Narrow" panose="020B0606020202030204" pitchFamily="34" charset="0"/>
              </a:rPr>
              <a:t>.</a:t>
            </a:r>
            <a:r>
              <a:rPr lang="en-IN" dirty="0"/>
              <a:t>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655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978080" cy="1570186"/>
          </a:xfrm>
        </p:spPr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Module:5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IN" b="1" dirty="0" smtClean="0">
                <a:solidFill>
                  <a:srgbClr val="3366CC"/>
                </a:solidFill>
              </a:rPr>
              <a:t>Transaction </a:t>
            </a:r>
            <a:r>
              <a:rPr lang="en-IN" b="1" dirty="0">
                <a:solidFill>
                  <a:srgbClr val="3366CC"/>
                </a:solidFill>
              </a:rPr>
              <a:t>Processing and Recovery</a:t>
            </a:r>
            <a:r>
              <a:rPr lang="en-US" dirty="0"/>
              <a:t>	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				      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8 </a:t>
            </a:r>
            <a:r>
              <a:rPr lang="en-US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Hrs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27584" y="2132856"/>
            <a:ext cx="7772400" cy="417497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</a:rPr>
              <a:t>Introduction to Transaction Processing – Transaction concepts: ACID Properties </a:t>
            </a:r>
            <a:r>
              <a:rPr lang="en-US" sz="2400" dirty="0" smtClean="0">
                <a:latin typeface="Arial Narrow" panose="020B0606020202030204" pitchFamily="34" charset="0"/>
              </a:rPr>
              <a:t>of Transactions</a:t>
            </a:r>
            <a:r>
              <a:rPr lang="en-US" sz="2400" dirty="0">
                <a:latin typeface="Arial Narrow" panose="020B0606020202030204" pitchFamily="34" charset="0"/>
              </a:rPr>
              <a:t>, Transaction States - Serial and Serializable Schedules - Schedules based </a:t>
            </a:r>
            <a:r>
              <a:rPr lang="en-US" sz="2400" dirty="0" smtClean="0">
                <a:latin typeface="Arial Narrow" panose="020B0606020202030204" pitchFamily="34" charset="0"/>
              </a:rPr>
              <a:t>on recoverability </a:t>
            </a:r>
            <a:r>
              <a:rPr lang="en-US" sz="2400" dirty="0">
                <a:latin typeface="Arial Narrow" panose="020B0606020202030204" pitchFamily="34" charset="0"/>
              </a:rPr>
              <a:t>– Schedules based on Serializability - Conflict Serializabilty </a:t>
            </a:r>
            <a:r>
              <a:rPr lang="en-US" sz="2400" dirty="0" smtClean="0">
                <a:latin typeface="Arial Narrow" panose="020B0606020202030204" pitchFamily="34" charset="0"/>
              </a:rPr>
              <a:t>– Recovery Concepts</a:t>
            </a:r>
            <a:r>
              <a:rPr lang="en-US" sz="2400" dirty="0">
                <a:latin typeface="Arial Narrow" panose="020B0606020202030204" pitchFamily="34" charset="0"/>
              </a:rPr>
              <a:t>: Log Based Recovery Protocols, Recovery based on deferred update, </a:t>
            </a:r>
            <a:r>
              <a:rPr lang="en-US" sz="2400" dirty="0" smtClean="0">
                <a:latin typeface="Arial Narrow" panose="020B0606020202030204" pitchFamily="34" charset="0"/>
              </a:rPr>
              <a:t>Recovery techniques </a:t>
            </a:r>
            <a:r>
              <a:rPr lang="en-US" sz="2400" dirty="0">
                <a:latin typeface="Arial Narrow" panose="020B0606020202030204" pitchFamily="34" charset="0"/>
              </a:rPr>
              <a:t>based on immediate update – Shadow Paging Algorithm	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44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54868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Arial Black" panose="020B0A04020102020204" pitchFamily="34" charset="0"/>
              </a:rPr>
              <a:t>Module:6</a:t>
            </a:r>
            <a:r>
              <a:rPr lang="en-IN" b="1" dirty="0"/>
              <a:t> </a:t>
            </a: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>
                <a:solidFill>
                  <a:srgbClr val="3366CC"/>
                </a:solidFill>
              </a:rPr>
              <a:t>Concurrency </a:t>
            </a:r>
            <a:r>
              <a:rPr lang="en-IN" b="1" dirty="0">
                <a:solidFill>
                  <a:srgbClr val="3366CC"/>
                </a:solidFill>
              </a:rPr>
              <a:t>Control In </a:t>
            </a:r>
            <a:r>
              <a:rPr lang="en-IN" b="1" dirty="0" smtClean="0">
                <a:solidFill>
                  <a:srgbClr val="3366CC"/>
                </a:solidFill>
              </a:rPr>
              <a:t>Transaction Processing                                    </a:t>
            </a:r>
            <a:r>
              <a:rPr lang="en-IN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8 Hrs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9552" y="1772816"/>
            <a:ext cx="8352928" cy="486003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Arial Narrow" panose="020B0606020202030204" pitchFamily="34" charset="0"/>
              </a:rPr>
              <a:t>Concurrent Transactions – Lost Update Problem - Concurrency Control Techniques: </a:t>
            </a:r>
            <a:r>
              <a:rPr lang="en-IN" sz="2400" dirty="0" smtClean="0">
                <a:latin typeface="Arial Narrow" panose="020B0606020202030204" pitchFamily="34" charset="0"/>
              </a:rPr>
              <a:t>Time </a:t>
            </a:r>
            <a:r>
              <a:rPr lang="en-US" sz="2400" dirty="0" smtClean="0">
                <a:latin typeface="Arial Narrow" panose="020B0606020202030204" pitchFamily="34" charset="0"/>
              </a:rPr>
              <a:t>Stamp </a:t>
            </a:r>
            <a:r>
              <a:rPr lang="en-US" sz="2400" dirty="0">
                <a:latin typeface="Arial Narrow" panose="020B0606020202030204" pitchFamily="34" charset="0"/>
              </a:rPr>
              <a:t>Based Protocols, Thomas Write Rule, Lock Based Protocols, Lock </a:t>
            </a:r>
            <a:r>
              <a:rPr lang="en-US" sz="2400" dirty="0" smtClean="0">
                <a:latin typeface="Arial Narrow" panose="020B0606020202030204" pitchFamily="34" charset="0"/>
              </a:rPr>
              <a:t>Compatibility Matrix</a:t>
            </a:r>
            <a:r>
              <a:rPr lang="en-US" sz="2400" dirty="0">
                <a:latin typeface="Arial Narrow" panose="020B0606020202030204" pitchFamily="34" charset="0"/>
              </a:rPr>
              <a:t>, - Two-Phase Locking Protocol - Lock Conversions - Graph Based Protocols </a:t>
            </a:r>
            <a:r>
              <a:rPr lang="en-US" sz="2400" dirty="0" smtClean="0">
                <a:latin typeface="Arial Narrow" panose="020B0606020202030204" pitchFamily="34" charset="0"/>
              </a:rPr>
              <a:t>for Concurrency </a:t>
            </a:r>
            <a:r>
              <a:rPr lang="en-US" sz="2400" dirty="0">
                <a:latin typeface="Arial Narrow" panose="020B0606020202030204" pitchFamily="34" charset="0"/>
              </a:rPr>
              <a:t>Control - Tree Protocol for Concurrency Control – Deadlocks Based on </a:t>
            </a:r>
            <a:r>
              <a:rPr lang="en-US" sz="2400" dirty="0" smtClean="0">
                <a:latin typeface="Arial Narrow" panose="020B0606020202030204" pitchFamily="34" charset="0"/>
              </a:rPr>
              <a:t>Locks in </a:t>
            </a:r>
            <a:r>
              <a:rPr lang="en-US" sz="2400" dirty="0">
                <a:latin typeface="Arial Narrow" panose="020B0606020202030204" pitchFamily="34" charset="0"/>
              </a:rPr>
              <a:t>Transactions – Deadlock Handling Techniques – Transaction Deadlock </a:t>
            </a:r>
            <a:r>
              <a:rPr lang="en-US" sz="2400" dirty="0" smtClean="0">
                <a:latin typeface="Arial Narrow" panose="020B0606020202030204" pitchFamily="34" charset="0"/>
              </a:rPr>
              <a:t>Detection Techniques </a:t>
            </a:r>
            <a:r>
              <a:rPr lang="en-US" sz="2400" dirty="0">
                <a:latin typeface="Arial Narrow" panose="020B0606020202030204" pitchFamily="34" charset="0"/>
              </a:rPr>
              <a:t>– Transaction Deadlock Prevention Techniques – Multi-Granularity Locking </a:t>
            </a:r>
            <a:r>
              <a:rPr lang="en-US" sz="2400" dirty="0" smtClean="0">
                <a:latin typeface="Arial Narrow" panose="020B0606020202030204" pitchFamily="34" charset="0"/>
              </a:rPr>
              <a:t>for </a:t>
            </a:r>
            <a:r>
              <a:rPr lang="en-IN" sz="2400" dirty="0" smtClean="0">
                <a:latin typeface="Arial Narrow" panose="020B0606020202030204" pitchFamily="34" charset="0"/>
              </a:rPr>
              <a:t>avoiding </a:t>
            </a:r>
            <a:r>
              <a:rPr lang="en-IN" sz="2400" dirty="0">
                <a:latin typeface="Arial Narrow" panose="020B0606020202030204" pitchFamily="34" charset="0"/>
              </a:rPr>
              <a:t>Transaction Deadlocks</a:t>
            </a:r>
          </a:p>
        </p:txBody>
      </p:sp>
    </p:spTree>
    <p:extLst>
      <p:ext uri="{BB962C8B-B14F-4D97-AF65-F5344CB8AC3E}">
        <p14:creationId xmlns:p14="http://schemas.microsoft.com/office/powerpoint/2010/main" val="117913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1143000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FF0000"/>
                </a:solidFill>
                <a:latin typeface="Arial Black" panose="020B0A04020102020204" pitchFamily="34" charset="0"/>
              </a:rPr>
              <a:t>Module:7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en-IN" b="1" dirty="0" smtClean="0">
                <a:solidFill>
                  <a:srgbClr val="3366CC"/>
                </a:solidFill>
              </a:rPr>
              <a:t>NOSQL </a:t>
            </a:r>
            <a:r>
              <a:rPr lang="en-IN" b="1" dirty="0">
                <a:solidFill>
                  <a:srgbClr val="3366CC"/>
                </a:solidFill>
              </a:rPr>
              <a:t>Database </a:t>
            </a:r>
            <a:r>
              <a:rPr lang="en-IN" b="1" dirty="0" smtClean="0">
                <a:solidFill>
                  <a:srgbClr val="3366CC"/>
                </a:solidFill>
              </a:rPr>
              <a:t>Management      </a:t>
            </a:r>
            <a:r>
              <a:rPr lang="fr-FR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3 </a:t>
            </a:r>
            <a:r>
              <a:rPr lang="fr-FR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Hrs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204864"/>
            <a:ext cx="7772400" cy="3814936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Arial Narrow" panose="020B0606020202030204" pitchFamily="34" charset="0"/>
              </a:rPr>
              <a:t>Introduction, Need of NoSQL, CAP Theorem, different NoSQL data models: Key-value </a:t>
            </a:r>
            <a:r>
              <a:rPr lang="en-IN" sz="2400" dirty="0" smtClean="0">
                <a:latin typeface="Arial Narrow" panose="020B0606020202030204" pitchFamily="34" charset="0"/>
              </a:rPr>
              <a:t>data stores</a:t>
            </a:r>
            <a:r>
              <a:rPr lang="en-IN" sz="2400" dirty="0">
                <a:latin typeface="Arial Narrow" panose="020B0606020202030204" pitchFamily="34" charset="0"/>
              </a:rPr>
              <a:t>, </a:t>
            </a:r>
            <a:r>
              <a:rPr lang="en-IN" sz="2400" dirty="0" smtClean="0">
                <a:latin typeface="Arial Narrow" panose="020B0606020202030204" pitchFamily="34" charset="0"/>
              </a:rPr>
              <a:t>Columnar </a:t>
            </a:r>
            <a:r>
              <a:rPr lang="en-IN" sz="2400" dirty="0">
                <a:latin typeface="Arial Narrow" panose="020B0606020202030204" pitchFamily="34" charset="0"/>
              </a:rPr>
              <a:t>families, Document databases, Graph databases 	</a:t>
            </a:r>
          </a:p>
          <a:p>
            <a:pPr marL="0" indent="0" algn="just">
              <a:buNone/>
            </a:pPr>
            <a:endParaRPr lang="en-IN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55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76064" y="2246966"/>
            <a:ext cx="7772400" cy="187220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69043" y="2636912"/>
            <a:ext cx="81479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  <a:latin typeface="Arial Black" panose="020B0A04020102020204" pitchFamily="34" charset="0"/>
              </a:rPr>
              <a:t>BCSE302P </a:t>
            </a:r>
            <a:endParaRPr lang="en-IN" sz="3600" dirty="0" smtClean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IN" sz="3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Database </a:t>
            </a:r>
            <a:r>
              <a:rPr lang="en-IN" sz="3600" dirty="0">
                <a:solidFill>
                  <a:srgbClr val="002060"/>
                </a:solidFill>
                <a:latin typeface="Arial Black" panose="020B0A04020102020204" pitchFamily="34" charset="0"/>
              </a:rPr>
              <a:t>Systems </a:t>
            </a:r>
            <a:r>
              <a:rPr lang="en-IN" sz="3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Lab</a:t>
            </a:r>
          </a:p>
          <a:p>
            <a:pPr algn="r"/>
            <a:r>
              <a:rPr lang="en-IN" sz="3600" dirty="0" smtClean="0"/>
              <a:t> </a:t>
            </a:r>
            <a:r>
              <a:rPr lang="en-IN" sz="3600" b="1" dirty="0" smtClean="0">
                <a:solidFill>
                  <a:srgbClr val="FF0000"/>
                </a:solidFill>
              </a:rPr>
              <a:t>L </a:t>
            </a:r>
            <a:r>
              <a:rPr lang="en-IN" sz="3600" b="1" dirty="0">
                <a:solidFill>
                  <a:srgbClr val="FF0000"/>
                </a:solidFill>
              </a:rPr>
              <a:t>T P C</a:t>
            </a:r>
          </a:p>
          <a:p>
            <a:pPr algn="r"/>
            <a:r>
              <a:rPr lang="en-IN" sz="3600" b="1" dirty="0">
                <a:solidFill>
                  <a:srgbClr val="FF0000"/>
                </a:solidFill>
              </a:rPr>
              <a:t>0 0 2 1</a:t>
            </a:r>
            <a:endParaRPr lang="en-IN" sz="36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6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Course 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6152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 Narrow" panose="020B0606020202030204" pitchFamily="34" charset="0"/>
              </a:rPr>
              <a:t>1. Basic </a:t>
            </a:r>
            <a:r>
              <a:rPr lang="en-US" sz="2400" dirty="0">
                <a:latin typeface="Arial Narrow" panose="020B0606020202030204" pitchFamily="34" charset="0"/>
              </a:rPr>
              <a:t>ability to understand the concepts of File system and structure of the </a:t>
            </a:r>
            <a:r>
              <a:rPr lang="en-US" sz="2400" dirty="0" smtClean="0">
                <a:latin typeface="Arial Narrow" panose="020B0606020202030204" pitchFamily="34" charset="0"/>
              </a:rPr>
              <a:t>database; Designing </a:t>
            </a:r>
            <a:r>
              <a:rPr lang="en-US" sz="2400" dirty="0">
                <a:latin typeface="Arial Narrow" panose="020B0606020202030204" pitchFamily="34" charset="0"/>
              </a:rPr>
              <a:t>an Entity-Relationship model for a real-life application and Mapping </a:t>
            </a:r>
            <a:r>
              <a:rPr lang="en-US" sz="2400" dirty="0" smtClean="0">
                <a:latin typeface="Arial Narrow" panose="020B0606020202030204" pitchFamily="34" charset="0"/>
              </a:rPr>
              <a:t>a database </a:t>
            </a:r>
            <a:r>
              <a:rPr lang="en-US" sz="2400" dirty="0">
                <a:latin typeface="Arial Narrow" panose="020B0606020202030204" pitchFamily="34" charset="0"/>
              </a:rPr>
              <a:t>schema from the ER model.</a:t>
            </a: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2. Differentiate various normal forms, evaluate relational schemas for design qualities </a:t>
            </a:r>
            <a:r>
              <a:rPr lang="en-US" sz="2400" dirty="0" smtClean="0">
                <a:latin typeface="Arial Narrow" panose="020B0606020202030204" pitchFamily="34" charset="0"/>
              </a:rPr>
              <a:t>and </a:t>
            </a:r>
            <a:r>
              <a:rPr lang="en-IN" sz="2400" dirty="0" smtClean="0">
                <a:latin typeface="Arial Narrow" panose="020B0606020202030204" pitchFamily="34" charset="0"/>
              </a:rPr>
              <a:t>optimize </a:t>
            </a:r>
            <a:r>
              <a:rPr lang="en-IN" sz="2400" dirty="0">
                <a:latin typeface="Arial Narrow" panose="020B0606020202030204" pitchFamily="34" charset="0"/>
              </a:rPr>
              <a:t>a query.</a:t>
            </a: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3. Explain the working methodologies of transaction management and give a </a:t>
            </a:r>
            <a:r>
              <a:rPr lang="en-US" sz="2400" dirty="0" smtClean="0">
                <a:latin typeface="Arial Narrow" panose="020B0606020202030204" pitchFamily="34" charset="0"/>
              </a:rPr>
              <a:t>solution during </a:t>
            </a:r>
            <a:r>
              <a:rPr lang="en-US" sz="2400" dirty="0">
                <a:latin typeface="Arial Narrow" panose="020B0606020202030204" pitchFamily="34" charset="0"/>
              </a:rPr>
              <a:t>a transaction failure. Understand the basic concepts on concurrency control</a:t>
            </a:r>
            <a:r>
              <a:rPr lang="en-US" sz="2400" dirty="0" smtClean="0">
                <a:latin typeface="Arial Narrow" panose="020B0606020202030204" pitchFamily="34" charset="0"/>
              </a:rPr>
              <a:t>, recovery</a:t>
            </a:r>
            <a:r>
              <a:rPr lang="en-US" sz="2400" dirty="0">
                <a:latin typeface="Arial Narrow" panose="020B0606020202030204" pitchFamily="34" charset="0"/>
              </a:rPr>
              <a:t>, indexing, access methods and fundamental view on unstructured data and </a:t>
            </a:r>
            <a:r>
              <a:rPr lang="en-US" sz="2400" dirty="0" smtClean="0">
                <a:latin typeface="Arial Narrow" panose="020B0606020202030204" pitchFamily="34" charset="0"/>
              </a:rPr>
              <a:t>its </a:t>
            </a:r>
            <a:r>
              <a:rPr lang="en-IN" sz="2400" dirty="0" smtClean="0">
                <a:latin typeface="Arial Narrow" panose="020B0606020202030204" pitchFamily="34" charset="0"/>
              </a:rPr>
              <a:t>management</a:t>
            </a:r>
            <a:r>
              <a:rPr lang="en-IN" sz="2400" dirty="0">
                <a:latin typeface="Arial Narrow" panose="020B0606020202030204" pitchFamily="34" charset="0"/>
              </a:rPr>
              <a:t>.</a:t>
            </a:r>
            <a:r>
              <a:rPr lang="en-US" sz="2400" dirty="0" smtClean="0">
                <a:latin typeface="Arial Narrow" panose="020B0606020202030204" pitchFamily="34" charset="0"/>
              </a:rPr>
              <a:t>.</a:t>
            </a:r>
            <a:endParaRPr lang="en-IN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31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-243408"/>
            <a:ext cx="77724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Course Outcome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556792"/>
            <a:ext cx="8568952" cy="32403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2400" dirty="0">
                <a:latin typeface="Arial Narrow" panose="020B0606020202030204" pitchFamily="34" charset="0"/>
              </a:rPr>
              <a:t>On completion of this course, student should be able to: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>
                <a:latin typeface="Arial Narrow" panose="020B0606020202030204" pitchFamily="34" charset="0"/>
              </a:rPr>
              <a:t>1.   Design </a:t>
            </a:r>
            <a:r>
              <a:rPr lang="en-US" sz="2400" dirty="0">
                <a:latin typeface="Arial Narrow" panose="020B0606020202030204" pitchFamily="34" charset="0"/>
              </a:rPr>
              <a:t>the structure and operation of the relational data model.</a:t>
            </a:r>
          </a:p>
          <a:p>
            <a:pPr marL="273050" indent="-273050" algn="just">
              <a:lnSpc>
                <a:spcPct val="200000"/>
              </a:lnSpc>
            </a:pPr>
            <a:r>
              <a:rPr lang="en-US" sz="2400" dirty="0" smtClean="0">
                <a:latin typeface="Arial Narrow" panose="020B0606020202030204" pitchFamily="34" charset="0"/>
              </a:rPr>
              <a:t>2. Examine </a:t>
            </a:r>
            <a:r>
              <a:rPr lang="en-US" sz="2400" dirty="0">
                <a:latin typeface="Arial Narrow" panose="020B0606020202030204" pitchFamily="34" charset="0"/>
              </a:rPr>
              <a:t>the data requirements of the real world and design a database </a:t>
            </a:r>
            <a:r>
              <a:rPr lang="en-US" sz="2400" dirty="0" smtClean="0">
                <a:latin typeface="Arial Narrow" panose="020B0606020202030204" pitchFamily="34" charset="0"/>
              </a:rPr>
              <a:t>management </a:t>
            </a:r>
            <a:r>
              <a:rPr lang="en-IN" sz="2400" dirty="0" smtClean="0">
                <a:latin typeface="Arial Narrow" panose="020B0606020202030204" pitchFamily="34" charset="0"/>
              </a:rPr>
              <a:t>system</a:t>
            </a:r>
            <a:r>
              <a:rPr lang="en-IN" sz="2400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015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Lab Indicative </a:t>
            </a:r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772816"/>
            <a:ext cx="7772400" cy="4246984"/>
          </a:xfrm>
        </p:spPr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1. Data Definition and Data Manipulation </a:t>
            </a:r>
            <a:r>
              <a:rPr lang="en-US" dirty="0" smtClean="0">
                <a:latin typeface="Arial Narrow" panose="020B0606020202030204" pitchFamily="34" charset="0"/>
              </a:rPr>
              <a:t>Language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2</a:t>
            </a:r>
            <a:r>
              <a:rPr lang="en-US" dirty="0">
                <a:latin typeface="Arial Narrow" panose="020B0606020202030204" pitchFamily="34" charset="0"/>
              </a:rPr>
              <a:t>. Constraints </a:t>
            </a:r>
            <a:endParaRPr lang="en-US" dirty="0" smtClean="0">
              <a:latin typeface="Arial Narrow" panose="020B0606020202030204" pitchFamily="34" charset="0"/>
            </a:endParaRPr>
          </a:p>
          <a:p>
            <a:r>
              <a:rPr lang="en-US" dirty="0" smtClean="0">
                <a:latin typeface="Arial Narrow" panose="020B0606020202030204" pitchFamily="34" charset="0"/>
              </a:rPr>
              <a:t>3</a:t>
            </a:r>
            <a:r>
              <a:rPr lang="en-US" dirty="0">
                <a:latin typeface="Arial Narrow" panose="020B0606020202030204" pitchFamily="34" charset="0"/>
              </a:rPr>
              <a:t>. Single row functions </a:t>
            </a:r>
            <a:endParaRPr lang="en-US" dirty="0" smtClean="0">
              <a:latin typeface="Arial Narrow" panose="020B0606020202030204" pitchFamily="34" charset="0"/>
            </a:endParaRPr>
          </a:p>
          <a:p>
            <a:r>
              <a:rPr lang="en-US" dirty="0" smtClean="0">
                <a:latin typeface="Arial Narrow" panose="020B0606020202030204" pitchFamily="34" charset="0"/>
              </a:rPr>
              <a:t>4</a:t>
            </a:r>
            <a:r>
              <a:rPr lang="en-US" dirty="0">
                <a:latin typeface="Arial Narrow" panose="020B0606020202030204" pitchFamily="34" charset="0"/>
              </a:rPr>
              <a:t>. Operators and group functions </a:t>
            </a:r>
            <a:endParaRPr lang="en-US" dirty="0" smtClean="0">
              <a:latin typeface="Arial Narrow" panose="020B0606020202030204" pitchFamily="34" charset="0"/>
            </a:endParaRPr>
          </a:p>
          <a:p>
            <a:r>
              <a:rPr lang="en-US" dirty="0" smtClean="0">
                <a:latin typeface="Arial Narrow" panose="020B0606020202030204" pitchFamily="34" charset="0"/>
              </a:rPr>
              <a:t>5</a:t>
            </a:r>
            <a:r>
              <a:rPr lang="en-US" dirty="0">
                <a:latin typeface="Arial Narrow" panose="020B0606020202030204" pitchFamily="34" charset="0"/>
              </a:rPr>
              <a:t>. Sub query, views and joins </a:t>
            </a:r>
            <a:endParaRPr lang="en-US" dirty="0" smtClean="0">
              <a:latin typeface="Arial Narrow" panose="020B0606020202030204" pitchFamily="34" charset="0"/>
            </a:endParaRPr>
          </a:p>
          <a:p>
            <a:r>
              <a:rPr lang="en-US" dirty="0" smtClean="0">
                <a:latin typeface="Arial Narrow" panose="020B0606020202030204" pitchFamily="34" charset="0"/>
              </a:rPr>
              <a:t>6</a:t>
            </a:r>
            <a:r>
              <a:rPr lang="en-US" dirty="0">
                <a:latin typeface="Arial Narrow" panose="020B0606020202030204" pitchFamily="34" charset="0"/>
              </a:rPr>
              <a:t>. High Level Language Extensions - Procedures, Functions, Cursors and Triggers</a:t>
            </a:r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01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692696"/>
            <a:ext cx="8564488" cy="5472608"/>
          </a:xfrm>
        </p:spPr>
        <p:txBody>
          <a:bodyPr>
            <a:normAutofit fontScale="70000" lnSpcReduction="20000"/>
          </a:bodyPr>
          <a:lstStyle/>
          <a:p>
            <a:r>
              <a:rPr lang="en-US" sz="3400" b="1" dirty="0">
                <a:solidFill>
                  <a:srgbClr val="FF0000"/>
                </a:solidFill>
                <a:latin typeface="Arial Narrow" panose="020B0606020202030204" pitchFamily="34" charset="0"/>
              </a:rPr>
              <a:t>List of Challenging Experiments (Indicative) </a:t>
            </a:r>
            <a:endParaRPr lang="en-US" sz="3400" b="1" dirty="0" smtClean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sz="3400" dirty="0">
                <a:latin typeface="Arial Narrow" panose="020B0606020202030204" pitchFamily="34" charset="0"/>
              </a:rPr>
              <a:t>	</a:t>
            </a:r>
          </a:p>
          <a:p>
            <a:r>
              <a:rPr lang="en-US" sz="3400" dirty="0">
                <a:latin typeface="Arial Narrow" panose="020B0606020202030204" pitchFamily="34" charset="0"/>
              </a:rPr>
              <a:t>1. 	DDL and DML 	</a:t>
            </a:r>
            <a:r>
              <a:rPr lang="en-US" sz="3400" dirty="0" smtClean="0">
                <a:latin typeface="Arial Narrow" panose="020B0606020202030204" pitchFamily="34" charset="0"/>
              </a:rPr>
              <a:t>				3 </a:t>
            </a:r>
            <a:r>
              <a:rPr lang="en-US" sz="3400" dirty="0">
                <a:latin typeface="Arial Narrow" panose="020B0606020202030204" pitchFamily="34" charset="0"/>
              </a:rPr>
              <a:t>hours 	</a:t>
            </a:r>
          </a:p>
          <a:p>
            <a:r>
              <a:rPr lang="en-US" sz="3400" dirty="0">
                <a:latin typeface="Arial Narrow" panose="020B0606020202030204" pitchFamily="34" charset="0"/>
              </a:rPr>
              <a:t>2. 	Single row and aggregate functions 	</a:t>
            </a:r>
            <a:r>
              <a:rPr lang="en-US" sz="3400" dirty="0" smtClean="0">
                <a:latin typeface="Arial Narrow" panose="020B0606020202030204" pitchFamily="34" charset="0"/>
              </a:rPr>
              <a:t>	3 </a:t>
            </a:r>
            <a:r>
              <a:rPr lang="en-US" sz="3400" dirty="0">
                <a:latin typeface="Arial Narrow" panose="020B0606020202030204" pitchFamily="34" charset="0"/>
              </a:rPr>
              <a:t>hours 	</a:t>
            </a:r>
          </a:p>
          <a:p>
            <a:r>
              <a:rPr lang="en-US" sz="3400" dirty="0">
                <a:latin typeface="Arial Narrow" panose="020B0606020202030204" pitchFamily="34" charset="0"/>
              </a:rPr>
              <a:t>3. 	Joins and Sub queries 	</a:t>
            </a:r>
            <a:r>
              <a:rPr lang="en-US" sz="3400" dirty="0" smtClean="0">
                <a:latin typeface="Arial Narrow" panose="020B0606020202030204" pitchFamily="34" charset="0"/>
              </a:rPr>
              <a:t>			3 </a:t>
            </a:r>
            <a:r>
              <a:rPr lang="en-US" sz="3400" dirty="0">
                <a:latin typeface="Arial Narrow" panose="020B0606020202030204" pitchFamily="34" charset="0"/>
              </a:rPr>
              <a:t>hours 	</a:t>
            </a:r>
          </a:p>
          <a:p>
            <a:r>
              <a:rPr lang="en-US" sz="3400" dirty="0">
                <a:latin typeface="Arial Narrow" panose="020B0606020202030204" pitchFamily="34" charset="0"/>
              </a:rPr>
              <a:t>4. 	Anonymous blocks and control structures </a:t>
            </a:r>
            <a:r>
              <a:rPr lang="en-US" sz="3400" dirty="0" smtClean="0">
                <a:latin typeface="Arial Narrow" panose="020B0606020202030204" pitchFamily="34" charset="0"/>
              </a:rPr>
              <a:t>	3 </a:t>
            </a:r>
            <a:r>
              <a:rPr lang="en-US" sz="3400" dirty="0">
                <a:latin typeface="Arial Narrow" panose="020B0606020202030204" pitchFamily="34" charset="0"/>
              </a:rPr>
              <a:t>hours 	</a:t>
            </a:r>
          </a:p>
          <a:p>
            <a:r>
              <a:rPr lang="en-IN" sz="3400" dirty="0">
                <a:latin typeface="Arial Narrow" panose="020B0606020202030204" pitchFamily="34" charset="0"/>
              </a:rPr>
              <a:t>5. 	Iterations 	</a:t>
            </a:r>
            <a:r>
              <a:rPr lang="en-IN" sz="3400" dirty="0" smtClean="0">
                <a:latin typeface="Arial Narrow" panose="020B0606020202030204" pitchFamily="34" charset="0"/>
              </a:rPr>
              <a:t>				3 </a:t>
            </a:r>
            <a:r>
              <a:rPr lang="en-IN" sz="3400" dirty="0">
                <a:latin typeface="Arial Narrow" panose="020B0606020202030204" pitchFamily="34" charset="0"/>
              </a:rPr>
              <a:t>hours 	</a:t>
            </a:r>
          </a:p>
          <a:p>
            <a:r>
              <a:rPr lang="en-IN" sz="3400" dirty="0">
                <a:latin typeface="Arial Narrow" panose="020B0606020202030204" pitchFamily="34" charset="0"/>
              </a:rPr>
              <a:t>6. 	Cursors 	</a:t>
            </a:r>
            <a:r>
              <a:rPr lang="en-IN" sz="3400" dirty="0" smtClean="0">
                <a:latin typeface="Arial Narrow" panose="020B0606020202030204" pitchFamily="34" charset="0"/>
              </a:rPr>
              <a:t>				3 </a:t>
            </a:r>
            <a:r>
              <a:rPr lang="en-IN" sz="3400" dirty="0">
                <a:latin typeface="Arial Narrow" panose="020B0606020202030204" pitchFamily="34" charset="0"/>
              </a:rPr>
              <a:t>hours 	</a:t>
            </a:r>
          </a:p>
          <a:p>
            <a:r>
              <a:rPr lang="en-US" sz="3400" dirty="0">
                <a:latin typeface="Arial Narrow" panose="020B0606020202030204" pitchFamily="34" charset="0"/>
              </a:rPr>
              <a:t>7. 	Functions </a:t>
            </a:r>
            <a:r>
              <a:rPr lang="en-US" sz="3400" dirty="0" smtClean="0">
                <a:latin typeface="Arial Narrow" panose="020B0606020202030204" pitchFamily="34" charset="0"/>
              </a:rPr>
              <a:t>	</a:t>
            </a:r>
            <a:r>
              <a:rPr lang="en-US" sz="3400" dirty="0">
                <a:latin typeface="Arial Narrow" panose="020B0606020202030204" pitchFamily="34" charset="0"/>
              </a:rPr>
              <a:t>	</a:t>
            </a:r>
            <a:r>
              <a:rPr lang="en-US" sz="3400" dirty="0" smtClean="0">
                <a:latin typeface="Arial Narrow" panose="020B0606020202030204" pitchFamily="34" charset="0"/>
              </a:rPr>
              <a:t>			3 </a:t>
            </a:r>
            <a:r>
              <a:rPr lang="en-US" sz="3400" dirty="0">
                <a:latin typeface="Arial Narrow" panose="020B0606020202030204" pitchFamily="34" charset="0"/>
              </a:rPr>
              <a:t>hours 	</a:t>
            </a:r>
            <a:endParaRPr lang="en-US" sz="3400" dirty="0" smtClean="0">
              <a:latin typeface="Arial Narrow" panose="020B0606020202030204" pitchFamily="34" charset="0"/>
            </a:endParaRPr>
          </a:p>
          <a:p>
            <a:r>
              <a:rPr lang="en-US" sz="3400" dirty="0" smtClean="0">
                <a:latin typeface="Arial Narrow" panose="020B0606020202030204" pitchFamily="34" charset="0"/>
              </a:rPr>
              <a:t>8.  	Procedures 					3 hours</a:t>
            </a:r>
            <a:endParaRPr lang="en-US" sz="3400" dirty="0">
              <a:latin typeface="Arial Narrow" panose="020B0606020202030204" pitchFamily="34" charset="0"/>
            </a:endParaRPr>
          </a:p>
          <a:p>
            <a:r>
              <a:rPr lang="en-US" sz="3400" dirty="0" smtClean="0">
                <a:latin typeface="Arial Narrow" panose="020B0606020202030204" pitchFamily="34" charset="0"/>
              </a:rPr>
              <a:t>9. </a:t>
            </a:r>
            <a:r>
              <a:rPr lang="en-US" sz="3400" dirty="0">
                <a:latin typeface="Arial Narrow" panose="020B0606020202030204" pitchFamily="34" charset="0"/>
              </a:rPr>
              <a:t>	Exception Handling and triggers 	</a:t>
            </a:r>
            <a:r>
              <a:rPr lang="en-US" sz="3400" dirty="0" smtClean="0">
                <a:latin typeface="Arial Narrow" panose="020B0606020202030204" pitchFamily="34" charset="0"/>
              </a:rPr>
              <a:t>		3 </a:t>
            </a:r>
            <a:r>
              <a:rPr lang="en-US" sz="3400" dirty="0">
                <a:latin typeface="Arial Narrow" panose="020B0606020202030204" pitchFamily="34" charset="0"/>
              </a:rPr>
              <a:t>hours 	</a:t>
            </a:r>
          </a:p>
          <a:p>
            <a:r>
              <a:rPr lang="en-US" sz="3400" dirty="0" smtClean="0">
                <a:latin typeface="Arial Narrow" panose="020B0606020202030204" pitchFamily="34" charset="0"/>
              </a:rPr>
              <a:t>10.    Packages					3 hours</a:t>
            </a:r>
            <a:r>
              <a:rPr lang="en-US" sz="3400" dirty="0">
                <a:latin typeface="Arial Narrow" panose="020B0606020202030204" pitchFamily="34" charset="0"/>
              </a:rPr>
              <a:t>	</a:t>
            </a:r>
          </a:p>
          <a:p>
            <a:endParaRPr lang="en-US" sz="3400" b="1" dirty="0" smtClean="0">
              <a:latin typeface="Arial Narrow" panose="020B0606020202030204" pitchFamily="34" charset="0"/>
            </a:endParaRPr>
          </a:p>
          <a:p>
            <a:r>
              <a:rPr lang="en-US" sz="3400" b="1" dirty="0" smtClean="0">
                <a:latin typeface="Arial Narrow" panose="020B0606020202030204" pitchFamily="34" charset="0"/>
              </a:rPr>
              <a:t>Total </a:t>
            </a:r>
            <a:r>
              <a:rPr lang="en-US" sz="3400" b="1" dirty="0">
                <a:latin typeface="Arial Narrow" panose="020B0606020202030204" pitchFamily="34" charset="0"/>
              </a:rPr>
              <a:t>Laboratory Hours </a:t>
            </a:r>
            <a:r>
              <a:rPr lang="en-US" sz="3400" dirty="0">
                <a:latin typeface="Arial Narrow" panose="020B0606020202030204" pitchFamily="34" charset="0"/>
              </a:rPr>
              <a:t>	</a:t>
            </a:r>
            <a:r>
              <a:rPr lang="en-US" sz="3400" b="1" dirty="0">
                <a:latin typeface="Arial Narrow" panose="020B0606020202030204" pitchFamily="34" charset="0"/>
              </a:rPr>
              <a:t>30 hours </a:t>
            </a:r>
            <a:r>
              <a:rPr lang="en-US" sz="2800" dirty="0">
                <a:latin typeface="Arial Narrow" panose="020B0606020202030204" pitchFamily="34" charset="0"/>
              </a:rPr>
              <a:t>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30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50106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Assessment </a:t>
            </a:r>
            <a:r>
              <a:rPr lang="en-US" dirty="0" smtClean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Rubrics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9552" y="1340768"/>
            <a:ext cx="8208912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>
                <a:latin typeface="Arial Narrow" panose="020B0606020202030204" pitchFamily="34" charset="0"/>
                <a:cs typeface="Times New Roman" pitchFamily="18" charset="0"/>
              </a:rPr>
              <a:t>DA1</a:t>
            </a:r>
            <a:r>
              <a:rPr lang="en-US" sz="3200" dirty="0" smtClean="0">
                <a:latin typeface="Arial Narrow" panose="020B0606020202030204" pitchFamily="34" charset="0"/>
                <a:cs typeface="Times New Roman" pitchFamily="18" charset="0"/>
              </a:rPr>
              <a:t>: </a:t>
            </a:r>
            <a:r>
              <a:rPr lang="en-US" sz="3200" b="1" dirty="0" smtClean="0">
                <a:latin typeface="Arial Narrow" panose="020B0606020202030204" pitchFamily="34" charset="0"/>
                <a:cs typeface="Times New Roman" pitchFamily="18" charset="0"/>
              </a:rPr>
              <a:t>AFTER CAT2		 { 10 Marks }</a:t>
            </a:r>
          </a:p>
          <a:p>
            <a:pPr>
              <a:lnSpc>
                <a:spcPct val="150000"/>
              </a:lnSpc>
            </a:pPr>
            <a:r>
              <a:rPr lang="en-US" sz="3200" b="1" dirty="0" smtClean="0">
                <a:latin typeface="Arial Narrow" panose="020B0606020202030204" pitchFamily="34" charset="0"/>
                <a:cs typeface="Times New Roman" pitchFamily="18" charset="0"/>
              </a:rPr>
              <a:t>Quiz 1:  After CAT </a:t>
            </a:r>
            <a:r>
              <a:rPr lang="en-US" sz="3200" b="1" dirty="0">
                <a:latin typeface="Arial Narrow" panose="020B0606020202030204" pitchFamily="34" charset="0"/>
                <a:cs typeface="Times New Roman" pitchFamily="18" charset="0"/>
              </a:rPr>
              <a:t>1		 { 10 Marks }</a:t>
            </a:r>
            <a:endParaRPr lang="en-US" sz="3200" b="1" dirty="0" smtClean="0">
              <a:latin typeface="Arial Narrow" panose="020B0606020202030204" pitchFamily="34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 smtClean="0">
                <a:latin typeface="Arial Narrow" panose="020B0606020202030204" pitchFamily="34" charset="0"/>
                <a:cs typeface="Times New Roman" pitchFamily="18" charset="0"/>
              </a:rPr>
              <a:t>Quiz 2 : After CAT </a:t>
            </a:r>
            <a:r>
              <a:rPr lang="en-US" sz="3200" b="1" dirty="0">
                <a:latin typeface="Arial Narrow" panose="020B0606020202030204" pitchFamily="34" charset="0"/>
                <a:cs typeface="Times New Roman" pitchFamily="18" charset="0"/>
              </a:rPr>
              <a:t>2		 { 10 Marks }</a:t>
            </a:r>
            <a:endParaRPr lang="en-US" sz="3200" b="1" dirty="0" smtClean="0">
              <a:latin typeface="Arial Narrow" panose="020B0606020202030204" pitchFamily="34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 smtClean="0">
                <a:latin typeface="Arial Narrow" panose="020B0606020202030204" pitchFamily="34" charset="0"/>
                <a:cs typeface="Times New Roman" pitchFamily="18" charset="0"/>
              </a:rPr>
              <a:t>CAT1</a:t>
            </a:r>
            <a:r>
              <a:rPr lang="en-US" sz="3200" dirty="0" smtClean="0">
                <a:latin typeface="Arial Narrow" panose="020B0606020202030204" pitchFamily="34" charset="0"/>
                <a:cs typeface="Times New Roman" pitchFamily="18" charset="0"/>
              </a:rPr>
              <a:t>:				 </a:t>
            </a:r>
            <a:r>
              <a:rPr lang="en-US" sz="3200" b="1" dirty="0" smtClean="0">
                <a:latin typeface="Arial Narrow" panose="020B0606020202030204" pitchFamily="34" charset="0"/>
                <a:cs typeface="Times New Roman" pitchFamily="18" charset="0"/>
              </a:rPr>
              <a:t>{ </a:t>
            </a:r>
            <a:r>
              <a:rPr lang="en-US" sz="3200" b="1" dirty="0" smtClean="0">
                <a:latin typeface="Arial Narrow" panose="020B0606020202030204" pitchFamily="34" charset="0"/>
                <a:cs typeface="Times New Roman" pitchFamily="18" charset="0"/>
              </a:rPr>
              <a:t>15 </a:t>
            </a:r>
            <a:r>
              <a:rPr lang="en-US" sz="3200" b="1" dirty="0">
                <a:latin typeface="Arial Narrow" panose="020B0606020202030204" pitchFamily="34" charset="0"/>
                <a:cs typeface="Times New Roman" pitchFamily="18" charset="0"/>
              </a:rPr>
              <a:t>Marks }</a:t>
            </a:r>
          </a:p>
          <a:p>
            <a:pPr>
              <a:lnSpc>
                <a:spcPct val="150000"/>
              </a:lnSpc>
              <a:tabLst>
                <a:tab pos="4749800" algn="l"/>
              </a:tabLst>
            </a:pPr>
            <a:r>
              <a:rPr lang="en-US" sz="3200" b="1" dirty="0" smtClean="0">
                <a:latin typeface="Arial Narrow" panose="020B0606020202030204" pitchFamily="34" charset="0"/>
                <a:cs typeface="Times New Roman" pitchFamily="18" charset="0"/>
              </a:rPr>
              <a:t>CAT2</a:t>
            </a:r>
            <a:r>
              <a:rPr lang="en-US" sz="3200" dirty="0" smtClean="0">
                <a:latin typeface="Arial Narrow" panose="020B0606020202030204" pitchFamily="34" charset="0"/>
                <a:cs typeface="Times New Roman" pitchFamily="18" charset="0"/>
              </a:rPr>
              <a:t>:                                     </a:t>
            </a:r>
            <a:r>
              <a:rPr lang="en-US" sz="3200" b="1" smtClean="0">
                <a:latin typeface="Arial Narrow" panose="020B0606020202030204" pitchFamily="34" charset="0"/>
                <a:cs typeface="Times New Roman" pitchFamily="18" charset="0"/>
              </a:rPr>
              <a:t>{ </a:t>
            </a:r>
            <a:r>
              <a:rPr lang="en-US" sz="3200" b="1" smtClean="0">
                <a:latin typeface="Arial Narrow" panose="020B0606020202030204" pitchFamily="34" charset="0"/>
                <a:cs typeface="Times New Roman" pitchFamily="18" charset="0"/>
              </a:rPr>
              <a:t>15 </a:t>
            </a:r>
            <a:r>
              <a:rPr lang="en-US" sz="3200" b="1" dirty="0">
                <a:latin typeface="Arial Narrow" panose="020B0606020202030204" pitchFamily="34" charset="0"/>
                <a:cs typeface="Times New Roman" pitchFamily="18" charset="0"/>
              </a:rPr>
              <a:t>Marks }</a:t>
            </a:r>
          </a:p>
          <a:p>
            <a:pPr>
              <a:lnSpc>
                <a:spcPct val="150000"/>
              </a:lnSpc>
            </a:pPr>
            <a:r>
              <a:rPr lang="en-US" sz="3200" b="1" dirty="0" smtClean="0">
                <a:latin typeface="Arial Narrow" panose="020B0606020202030204" pitchFamily="34" charset="0"/>
                <a:cs typeface="Times New Roman" pitchFamily="18" charset="0"/>
              </a:rPr>
              <a:t>FAT</a:t>
            </a:r>
            <a:r>
              <a:rPr lang="en-US" sz="3200" dirty="0" smtClean="0">
                <a:latin typeface="Arial Narrow" panose="020B0606020202030204" pitchFamily="34" charset="0"/>
                <a:cs typeface="Times New Roman" pitchFamily="18" charset="0"/>
              </a:rPr>
              <a:t>: </a:t>
            </a:r>
            <a:r>
              <a:rPr lang="en-US" sz="3200" dirty="0">
                <a:latin typeface="Arial Narrow" panose="020B0606020202030204" pitchFamily="34" charset="0"/>
                <a:cs typeface="Times New Roman" pitchFamily="18" charset="0"/>
              </a:rPr>
              <a:t>As per the announcement </a:t>
            </a:r>
            <a:r>
              <a:rPr lang="en-US" sz="3200" dirty="0" smtClean="0">
                <a:latin typeface="Arial Narrow" panose="020B0606020202030204" pitchFamily="34" charset="0"/>
                <a:cs typeface="Times New Roman" pitchFamily="18" charset="0"/>
              </a:rPr>
              <a:t> by </a:t>
            </a:r>
            <a:r>
              <a:rPr lang="en-US" sz="3200" dirty="0">
                <a:latin typeface="Arial Narrow" panose="020B0606020202030204" pitchFamily="34" charset="0"/>
                <a:cs typeface="Times New Roman" pitchFamily="18" charset="0"/>
              </a:rPr>
              <a:t>the </a:t>
            </a:r>
            <a:r>
              <a:rPr lang="en-US" sz="3200" dirty="0" smtClean="0">
                <a:latin typeface="Arial Narrow" panose="020B0606020202030204" pitchFamily="34" charset="0"/>
                <a:cs typeface="Times New Roman" pitchFamily="18" charset="0"/>
              </a:rPr>
              <a:t>University</a:t>
            </a:r>
          </a:p>
          <a:p>
            <a:pPr marL="0" indent="0">
              <a:buNone/>
            </a:pPr>
            <a:endParaRPr lang="en-IN" sz="3200" dirty="0">
              <a:latin typeface="Arial Narrow" panose="020B0606020202030204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03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639762"/>
          </a:xfrm>
        </p:spPr>
        <p:txBody>
          <a:bodyPr>
            <a:normAutofit fontScale="90000"/>
          </a:bodyPr>
          <a:lstStyle/>
          <a:p>
            <a:r>
              <a:rPr lang="en-IN" alt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Contact Information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sz="quarter" idx="1"/>
          </p:nvPr>
        </p:nvSpPr>
        <p:spPr>
          <a:xfrm>
            <a:off x="683568" y="1371600"/>
            <a:ext cx="7560840" cy="4648200"/>
          </a:xfrm>
        </p:spPr>
        <p:txBody>
          <a:bodyPr/>
          <a:lstStyle/>
          <a:p>
            <a:pPr marL="0" indent="0">
              <a:buFont typeface="Wingdings 2" pitchFamily="18" charset="2"/>
              <a:buNone/>
            </a:pPr>
            <a:r>
              <a:rPr lang="en-IN" altLang="en-US" sz="3200" dirty="0" smtClean="0">
                <a:latin typeface="Arial Narrow" panose="020B0606020202030204" pitchFamily="34" charset="0"/>
              </a:rPr>
              <a:t>Office Cabin: </a:t>
            </a:r>
            <a:r>
              <a:rPr lang="en-IN" altLang="en-US" sz="3200" b="1" dirty="0" smtClean="0">
                <a:latin typeface="Arial Narrow" panose="020B0606020202030204" pitchFamily="34" charset="0"/>
              </a:rPr>
              <a:t>SJT Annex (WTP) 103 F</a:t>
            </a:r>
          </a:p>
          <a:p>
            <a:pPr marL="0" indent="0">
              <a:buFont typeface="Wingdings 2" pitchFamily="18" charset="2"/>
              <a:buNone/>
            </a:pPr>
            <a:r>
              <a:rPr lang="en-IN" altLang="en-US" sz="3200" dirty="0" smtClean="0">
                <a:latin typeface="Arial Narrow" panose="020B0606020202030204" pitchFamily="34" charset="0"/>
              </a:rPr>
              <a:t>Email: </a:t>
            </a:r>
            <a:r>
              <a:rPr lang="en-IN" altLang="en-US" sz="3200" b="1" dirty="0" smtClean="0">
                <a:latin typeface="Arial Narrow" panose="020B0606020202030204" pitchFamily="34" charset="0"/>
              </a:rPr>
              <a:t>joshvadevadas.t@vit.ac.in</a:t>
            </a:r>
          </a:p>
          <a:p>
            <a:pPr marL="0" indent="0">
              <a:buFont typeface="Wingdings 2" pitchFamily="18" charset="2"/>
              <a:buNone/>
            </a:pPr>
            <a:r>
              <a:rPr lang="en-IN" altLang="en-US" sz="3200" dirty="0" smtClean="0">
                <a:latin typeface="Arial Narrow" panose="020B0606020202030204" pitchFamily="34" charset="0"/>
              </a:rPr>
              <a:t>Mobile Number: </a:t>
            </a:r>
            <a:r>
              <a:rPr lang="en-IN" altLang="en-US" sz="3200" b="1" dirty="0" smtClean="0">
                <a:latin typeface="Arial Narrow" panose="020B0606020202030204" pitchFamily="34" charset="0"/>
              </a:rPr>
              <a:t>97895 60120</a:t>
            </a:r>
          </a:p>
          <a:p>
            <a:pPr marL="0" indent="0">
              <a:buFont typeface="Wingdings 2" pitchFamily="18" charset="2"/>
              <a:buNone/>
            </a:pPr>
            <a:endParaRPr lang="en-IN" altLang="en-US" dirty="0" smtClean="0"/>
          </a:p>
          <a:p>
            <a:pPr marL="0" indent="0">
              <a:buFont typeface="Wingdings 2" pitchFamily="18" charset="2"/>
              <a:buNone/>
            </a:pPr>
            <a:r>
              <a:rPr lang="en-IN" alt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Open Hours:</a:t>
            </a:r>
          </a:p>
          <a:p>
            <a:pPr marL="0" indent="0">
              <a:buFont typeface="Wingdings 2" pitchFamily="18" charset="2"/>
              <a:buNone/>
            </a:pPr>
            <a:r>
              <a:rPr lang="en-IN" altLang="en-US" sz="3200" b="1" dirty="0" smtClean="0">
                <a:latin typeface="Arial Narrow" panose="020B0606020202030204" pitchFamily="34" charset="0"/>
              </a:rPr>
              <a:t>Monday: 10:00 am to 11</a:t>
            </a:r>
            <a:r>
              <a:rPr lang="en-IN" altLang="en-US" sz="3200" b="1" dirty="0" smtClean="0">
                <a:latin typeface="Arial Narrow" panose="020B0606020202030204" pitchFamily="34" charset="0"/>
                <a:sym typeface="Wingdings" pitchFamily="2" charset="2"/>
              </a:rPr>
              <a:t>:00 am</a:t>
            </a:r>
          </a:p>
          <a:p>
            <a:pPr marL="0" indent="0">
              <a:buFont typeface="Wingdings 2" pitchFamily="18" charset="2"/>
              <a:buNone/>
            </a:pPr>
            <a:r>
              <a:rPr lang="en-IN" altLang="en-US" sz="3200" b="1" dirty="0" smtClean="0">
                <a:latin typeface="Arial Narrow" panose="020B0606020202030204" pitchFamily="34" charset="0"/>
                <a:sym typeface="Wingdings" pitchFamily="2" charset="2"/>
              </a:rPr>
              <a:t>Wednesday: </a:t>
            </a:r>
            <a:r>
              <a:rPr lang="en-IN" altLang="en-US" sz="3200" b="1" dirty="0" smtClean="0">
                <a:latin typeface="Arial Narrow" panose="020B0606020202030204" pitchFamily="34" charset="0"/>
              </a:rPr>
              <a:t>11:00 am to 12</a:t>
            </a:r>
            <a:r>
              <a:rPr lang="en-IN" altLang="en-US" sz="3200" b="1" dirty="0" smtClean="0">
                <a:latin typeface="Arial Narrow" panose="020B0606020202030204" pitchFamily="34" charset="0"/>
                <a:sym typeface="Wingdings" pitchFamily="2" charset="2"/>
              </a:rPr>
              <a:t>:00 Noon</a:t>
            </a:r>
          </a:p>
          <a:p>
            <a:pPr marL="0" indent="0">
              <a:buFont typeface="Wingdings 2" pitchFamily="18" charset="2"/>
              <a:buNone/>
            </a:pPr>
            <a:endParaRPr lang="en-I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41BDE82-7711-4322-9AF0-375876927178}" type="datetime3">
              <a:rPr lang="en-US"/>
              <a:pPr>
                <a:defRPr/>
              </a:pPr>
              <a:t>15 July 2024</a:t>
            </a:fld>
            <a:endParaRPr lang="en-US"/>
          </a:p>
        </p:txBody>
      </p:sp>
      <p:sp>
        <p:nvSpPr>
          <p:cNvPr id="7173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 sz="2600">
                <a:solidFill>
                  <a:schemeClr val="tx1"/>
                </a:solidFill>
                <a:latin typeface="Perpetua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itchFamily="18" charset="2"/>
              <a:buChar char=""/>
              <a:defRPr sz="2400">
                <a:solidFill>
                  <a:schemeClr val="tx1"/>
                </a:solidFill>
                <a:latin typeface="Perpetua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Perpetua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Perpetua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29B8F6-7013-4A70-8389-543488DDE42B}" type="slidenum">
              <a:rPr lang="en-US" altLang="en-US" sz="1400" smtClean="0">
                <a:solidFill>
                  <a:srgbClr val="FFFFFF"/>
                </a:solidFill>
                <a:latin typeface="Franklin Gothic Book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 smtClean="0">
              <a:solidFill>
                <a:srgbClr val="FFFFFF"/>
              </a:solidFill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1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3608" y="4797152"/>
            <a:ext cx="7772400" cy="1143000"/>
          </a:xfrm>
        </p:spPr>
        <p:txBody>
          <a:bodyPr>
            <a:normAutofit/>
          </a:bodyPr>
          <a:lstStyle/>
          <a:p>
            <a:pPr algn="r"/>
            <a:r>
              <a:rPr lang="en-US" sz="6000" b="1" dirty="0" smtClean="0">
                <a:solidFill>
                  <a:srgbClr val="3366CC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IN" sz="6000" b="1" dirty="0">
              <a:solidFill>
                <a:srgbClr val="3366C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93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1054</TotalTime>
  <Words>979</Words>
  <Application>Microsoft Office PowerPoint</Application>
  <PresentationFormat>On-screen Show (4:3)</PresentationFormat>
  <Paragraphs>101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Equity</vt:lpstr>
      <vt:lpstr>BCSE 302L Database Systems </vt:lpstr>
      <vt:lpstr>Course Objectives</vt:lpstr>
      <vt:lpstr>Course Outcome</vt:lpstr>
      <vt:lpstr>Course Component</vt:lpstr>
      <vt:lpstr>     Module:1  DATABASE SYSTEMS CONCEPTS AND ARCHITECTURE                            4 Hrs</vt:lpstr>
      <vt:lpstr>       Module:2  Relational Model and E-R Modeling                                                       6 Hrs</vt:lpstr>
      <vt:lpstr> Module:3   Relational Database Design      6 Hrs</vt:lpstr>
      <vt:lpstr>  Module:4  Physical Database Design and Query Processing                                    8 Hrs</vt:lpstr>
      <vt:lpstr> Module:5  Transaction Processing and Recovery              8 Hrs</vt:lpstr>
      <vt:lpstr>Module:6  Concurrency Control In Transaction Processing                                    8 Hrs</vt:lpstr>
      <vt:lpstr>Module:7  NOSQL Database Management      3 Hrs</vt:lpstr>
      <vt:lpstr>PowerPoint Presentation</vt:lpstr>
      <vt:lpstr>Course Objectives</vt:lpstr>
      <vt:lpstr>Course Outcome</vt:lpstr>
      <vt:lpstr>Lab Indicative Experiments</vt:lpstr>
      <vt:lpstr>PowerPoint Presentation</vt:lpstr>
      <vt:lpstr>Assessment  Rubrics</vt:lpstr>
      <vt:lpstr>Contact Information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</dc:title>
  <dc:creator>Admin</dc:creator>
  <cp:lastModifiedBy>HP</cp:lastModifiedBy>
  <cp:revision>95</cp:revision>
  <dcterms:created xsi:type="dcterms:W3CDTF">2019-05-30T15:49:42Z</dcterms:created>
  <dcterms:modified xsi:type="dcterms:W3CDTF">2024-07-15T01:01:09Z</dcterms:modified>
</cp:coreProperties>
</file>