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56" r:id="rId2"/>
    <p:sldId id="280" r:id="rId3"/>
    <p:sldId id="257" r:id="rId4"/>
    <p:sldId id="258" r:id="rId5"/>
    <p:sldId id="259" r:id="rId6"/>
    <p:sldId id="260" r:id="rId7"/>
    <p:sldId id="261" r:id="rId8"/>
    <p:sldId id="262" r:id="rId9"/>
    <p:sldId id="263" r:id="rId10"/>
    <p:sldId id="281" r:id="rId11"/>
    <p:sldId id="282" r:id="rId12"/>
    <p:sldId id="264" r:id="rId13"/>
    <p:sldId id="266" r:id="rId14"/>
    <p:sldId id="267" r:id="rId15"/>
    <p:sldId id="268" r:id="rId16"/>
    <p:sldId id="269" r:id="rId17"/>
    <p:sldId id="270" r:id="rId18"/>
    <p:sldId id="271" r:id="rId19"/>
    <p:sldId id="272" r:id="rId20"/>
    <p:sldId id="273" r:id="rId21"/>
    <p:sldId id="274" r:id="rId22"/>
    <p:sldId id="283" r:id="rId23"/>
    <p:sldId id="288" r:id="rId24"/>
    <p:sldId id="285" r:id="rId25"/>
    <p:sldId id="286" r:id="rId26"/>
    <p:sldId id="287" r:id="rId27"/>
    <p:sldId id="290" r:id="rId28"/>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00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p:cViewPr varScale="1">
        <p:scale>
          <a:sx n="62" d="100"/>
          <a:sy n="62" d="100"/>
        </p:scale>
        <p:origin x="-1512" y="-84"/>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284C5CA-B1A6-4F15-960D-CA7738C9C27B}" type="datetimeFigureOut">
              <a:rPr lang="en-IN" smtClean="0"/>
              <a:t>30-09-2021</a:t>
            </a:fld>
            <a:endParaRPr lang="en-IN"/>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E17C58DB-A76E-4C60-B6F0-63909F165809}" type="slidenum">
              <a:rPr lang="en-IN" smtClean="0"/>
              <a:t>‹#›</a:t>
            </a:fld>
            <a:endParaRPr lang="en-IN"/>
          </a:p>
        </p:txBody>
      </p:sp>
    </p:spTree>
    <p:extLst>
      <p:ext uri="{BB962C8B-B14F-4D97-AF65-F5344CB8AC3E}">
        <p14:creationId xmlns:p14="http://schemas.microsoft.com/office/powerpoint/2010/main" val="1179863446"/>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IN" dirty="0"/>
          </a:p>
        </p:txBody>
      </p:sp>
      <p:sp>
        <p:nvSpPr>
          <p:cNvPr id="4" name="Slide Number Placeholder 3"/>
          <p:cNvSpPr>
            <a:spLocks noGrp="1"/>
          </p:cNvSpPr>
          <p:nvPr>
            <p:ph type="sldNum" sz="quarter" idx="10"/>
          </p:nvPr>
        </p:nvSpPr>
        <p:spPr/>
        <p:txBody>
          <a:bodyPr/>
          <a:lstStyle/>
          <a:p>
            <a:fld id="{E17C58DB-A76E-4C60-B6F0-63909F165809}" type="slidenum">
              <a:rPr lang="en-IN" smtClean="0"/>
              <a:t>2</a:t>
            </a:fld>
            <a:endParaRPr lang="en-IN"/>
          </a:p>
        </p:txBody>
      </p:sp>
    </p:spTree>
    <p:extLst>
      <p:ext uri="{BB962C8B-B14F-4D97-AF65-F5344CB8AC3E}">
        <p14:creationId xmlns:p14="http://schemas.microsoft.com/office/powerpoint/2010/main" val="217641429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IN"/>
          </a:p>
        </p:txBody>
      </p:sp>
      <p:sp>
        <p:nvSpPr>
          <p:cNvPr id="4" name="Date Placeholder 3"/>
          <p:cNvSpPr>
            <a:spLocks noGrp="1"/>
          </p:cNvSpPr>
          <p:nvPr>
            <p:ph type="dt" sz="half" idx="10"/>
          </p:nvPr>
        </p:nvSpPr>
        <p:spPr/>
        <p:txBody>
          <a:bodyPr/>
          <a:lstStyle/>
          <a:p>
            <a:fld id="{54E008D6-B06C-4D84-A7E5-3897CB8D6EEB}" type="datetime1">
              <a:rPr lang="en-IN" smtClean="0"/>
              <a:t>30-09-2021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FA66C70-CE05-4916-AD71-CDCD291485E5}" type="slidenum">
              <a:rPr lang="en-IN" smtClean="0"/>
              <a:t>‹#›</a:t>
            </a:fld>
            <a:endParaRPr lang="en-IN"/>
          </a:p>
        </p:txBody>
      </p:sp>
    </p:spTree>
    <p:extLst>
      <p:ext uri="{BB962C8B-B14F-4D97-AF65-F5344CB8AC3E}">
        <p14:creationId xmlns:p14="http://schemas.microsoft.com/office/powerpoint/2010/main" val="146623135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185EC800-AB63-4CDB-B408-8BB8BEFFD0E0}" type="datetime1">
              <a:rPr lang="en-IN" smtClean="0"/>
              <a:t>30-09-2021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FA66C70-CE05-4916-AD71-CDCD291485E5}" type="slidenum">
              <a:rPr lang="en-IN" smtClean="0"/>
              <a:t>‹#›</a:t>
            </a:fld>
            <a:endParaRPr lang="en-IN"/>
          </a:p>
        </p:txBody>
      </p:sp>
    </p:spTree>
    <p:extLst>
      <p:ext uri="{BB962C8B-B14F-4D97-AF65-F5344CB8AC3E}">
        <p14:creationId xmlns:p14="http://schemas.microsoft.com/office/powerpoint/2010/main" val="62459585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CFB6E8F9-12B0-4449-9C00-B95F0BEFD5D0}" type="datetime1">
              <a:rPr lang="en-IN" smtClean="0"/>
              <a:t>30-09-2021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FA66C70-CE05-4916-AD71-CDCD291485E5}" type="slidenum">
              <a:rPr lang="en-IN" smtClean="0"/>
              <a:t>‹#›</a:t>
            </a:fld>
            <a:endParaRPr lang="en-IN"/>
          </a:p>
        </p:txBody>
      </p:sp>
    </p:spTree>
    <p:extLst>
      <p:ext uri="{BB962C8B-B14F-4D97-AF65-F5344CB8AC3E}">
        <p14:creationId xmlns:p14="http://schemas.microsoft.com/office/powerpoint/2010/main" val="382906965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Date Placeholder 4"/>
          <p:cNvSpPr>
            <a:spLocks noGrp="1"/>
          </p:cNvSpPr>
          <p:nvPr>
            <p:ph type="dt" sz="half" idx="10"/>
          </p:nvPr>
        </p:nvSpPr>
        <p:spPr/>
        <p:txBody>
          <a:bodyPr/>
          <a:lstStyle/>
          <a:p>
            <a:fld id="{BB750CF3-F7A8-4C06-80ED-986A294494FD}" type="datetime1">
              <a:rPr lang="en-IN" smtClean="0"/>
              <a:t>30-09-2021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FA66C70-CE05-4916-AD71-CDCD291485E5}" type="slidenum">
              <a:rPr lang="en-IN" smtClean="0"/>
              <a:t>‹#›</a:t>
            </a:fld>
            <a:endParaRPr lang="en-IN"/>
          </a:p>
        </p:txBody>
      </p:sp>
    </p:spTree>
    <p:extLst>
      <p:ext uri="{BB962C8B-B14F-4D97-AF65-F5344CB8AC3E}">
        <p14:creationId xmlns:p14="http://schemas.microsoft.com/office/powerpoint/2010/main" val="321989912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7" name="Date Placeholder 6"/>
          <p:cNvSpPr>
            <a:spLocks noGrp="1"/>
          </p:cNvSpPr>
          <p:nvPr>
            <p:ph type="dt" sz="half" idx="10"/>
          </p:nvPr>
        </p:nvSpPr>
        <p:spPr/>
        <p:txBody>
          <a:bodyPr/>
          <a:lstStyle/>
          <a:p>
            <a:fld id="{090AEDA8-B3F2-40A1-A8AA-FC3F16AB9632}" type="datetime1">
              <a:rPr lang="en-IN" smtClean="0"/>
              <a:t>30-09-2021</a:t>
            </a:fld>
            <a:endParaRPr lang="en-IN"/>
          </a:p>
        </p:txBody>
      </p:sp>
      <p:sp>
        <p:nvSpPr>
          <p:cNvPr id="8" name="Footer Placeholder 7"/>
          <p:cNvSpPr>
            <a:spLocks noGrp="1"/>
          </p:cNvSpPr>
          <p:nvPr>
            <p:ph type="ftr" sz="quarter" idx="11"/>
          </p:nvPr>
        </p:nvSpPr>
        <p:spPr/>
        <p:txBody>
          <a:bodyPr/>
          <a:lstStyle/>
          <a:p>
            <a:endParaRPr lang="en-IN"/>
          </a:p>
        </p:txBody>
      </p:sp>
      <p:sp>
        <p:nvSpPr>
          <p:cNvPr id="9" name="Slide Number Placeholder 8"/>
          <p:cNvSpPr>
            <a:spLocks noGrp="1"/>
          </p:cNvSpPr>
          <p:nvPr>
            <p:ph type="sldNum" sz="quarter" idx="12"/>
          </p:nvPr>
        </p:nvSpPr>
        <p:spPr/>
        <p:txBody>
          <a:bodyPr/>
          <a:lstStyle/>
          <a:p>
            <a:fld id="{0FA66C70-CE05-4916-AD71-CDCD291485E5}" type="slidenum">
              <a:rPr lang="en-IN" smtClean="0"/>
              <a:t>‹#›</a:t>
            </a:fld>
            <a:endParaRPr lang="en-IN"/>
          </a:p>
        </p:txBody>
      </p:sp>
    </p:spTree>
    <p:extLst>
      <p:ext uri="{BB962C8B-B14F-4D97-AF65-F5344CB8AC3E}">
        <p14:creationId xmlns:p14="http://schemas.microsoft.com/office/powerpoint/2010/main" val="134623800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Date Placeholder 2"/>
          <p:cNvSpPr>
            <a:spLocks noGrp="1"/>
          </p:cNvSpPr>
          <p:nvPr>
            <p:ph type="dt" sz="half" idx="10"/>
          </p:nvPr>
        </p:nvSpPr>
        <p:spPr/>
        <p:txBody>
          <a:bodyPr/>
          <a:lstStyle/>
          <a:p>
            <a:fld id="{7D37763A-3664-4F2C-B58A-54A5F5BE9F7F}" type="datetime1">
              <a:rPr lang="en-IN" smtClean="0"/>
              <a:t>30-09-2021</a:t>
            </a:fld>
            <a:endParaRPr lang="en-IN"/>
          </a:p>
        </p:txBody>
      </p:sp>
      <p:sp>
        <p:nvSpPr>
          <p:cNvPr id="4" name="Footer Placeholder 3"/>
          <p:cNvSpPr>
            <a:spLocks noGrp="1"/>
          </p:cNvSpPr>
          <p:nvPr>
            <p:ph type="ftr" sz="quarter" idx="11"/>
          </p:nvPr>
        </p:nvSpPr>
        <p:spPr/>
        <p:txBody>
          <a:bodyPr/>
          <a:lstStyle/>
          <a:p>
            <a:endParaRPr lang="en-IN"/>
          </a:p>
        </p:txBody>
      </p:sp>
      <p:sp>
        <p:nvSpPr>
          <p:cNvPr id="5" name="Slide Number Placeholder 4"/>
          <p:cNvSpPr>
            <a:spLocks noGrp="1"/>
          </p:cNvSpPr>
          <p:nvPr>
            <p:ph type="sldNum" sz="quarter" idx="12"/>
          </p:nvPr>
        </p:nvSpPr>
        <p:spPr/>
        <p:txBody>
          <a:bodyPr/>
          <a:lstStyle/>
          <a:p>
            <a:fld id="{0FA66C70-CE05-4916-AD71-CDCD291485E5}" type="slidenum">
              <a:rPr lang="en-IN" smtClean="0"/>
              <a:t>‹#›</a:t>
            </a:fld>
            <a:endParaRPr lang="en-IN"/>
          </a:p>
        </p:txBody>
      </p:sp>
    </p:spTree>
    <p:extLst>
      <p:ext uri="{BB962C8B-B14F-4D97-AF65-F5344CB8AC3E}">
        <p14:creationId xmlns:p14="http://schemas.microsoft.com/office/powerpoint/2010/main" val="74508539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389555D4-9AB9-44D0-A923-8A7E7F5238AC}" type="datetime1">
              <a:rPr lang="en-IN" smtClean="0"/>
              <a:t>30-09-2021</a:t>
            </a:fld>
            <a:endParaRPr lang="en-IN"/>
          </a:p>
        </p:txBody>
      </p:sp>
      <p:sp>
        <p:nvSpPr>
          <p:cNvPr id="3" name="Footer Placeholder 2"/>
          <p:cNvSpPr>
            <a:spLocks noGrp="1"/>
          </p:cNvSpPr>
          <p:nvPr>
            <p:ph type="ftr" sz="quarter" idx="11"/>
          </p:nvPr>
        </p:nvSpPr>
        <p:spPr/>
        <p:txBody>
          <a:bodyPr/>
          <a:lstStyle/>
          <a:p>
            <a:endParaRPr lang="en-IN"/>
          </a:p>
        </p:txBody>
      </p:sp>
      <p:sp>
        <p:nvSpPr>
          <p:cNvPr id="4" name="Slide Number Placeholder 3"/>
          <p:cNvSpPr>
            <a:spLocks noGrp="1"/>
          </p:cNvSpPr>
          <p:nvPr>
            <p:ph type="sldNum" sz="quarter" idx="12"/>
          </p:nvPr>
        </p:nvSpPr>
        <p:spPr/>
        <p:txBody>
          <a:bodyPr/>
          <a:lstStyle/>
          <a:p>
            <a:fld id="{0FA66C70-CE05-4916-AD71-CDCD291485E5}" type="slidenum">
              <a:rPr lang="en-IN" smtClean="0"/>
              <a:t>‹#›</a:t>
            </a:fld>
            <a:endParaRPr lang="en-IN"/>
          </a:p>
        </p:txBody>
      </p:sp>
    </p:spTree>
    <p:extLst>
      <p:ext uri="{BB962C8B-B14F-4D97-AF65-F5344CB8AC3E}">
        <p14:creationId xmlns:p14="http://schemas.microsoft.com/office/powerpoint/2010/main" val="2360969626"/>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F908508F-06C6-47BD-AF6E-533F770FD5B7}" type="datetime1">
              <a:rPr lang="en-IN" smtClean="0"/>
              <a:t>30-09-2021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FA66C70-CE05-4916-AD71-CDCD291485E5}" type="slidenum">
              <a:rPr lang="en-IN" smtClean="0"/>
              <a:t>‹#›</a:t>
            </a:fld>
            <a:endParaRPr lang="en-IN"/>
          </a:p>
        </p:txBody>
      </p:sp>
    </p:spTree>
    <p:extLst>
      <p:ext uri="{BB962C8B-B14F-4D97-AF65-F5344CB8AC3E}">
        <p14:creationId xmlns:p14="http://schemas.microsoft.com/office/powerpoint/2010/main" val="2875521959"/>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B9831750-109C-41E6-95C1-2C320C4D6741}" type="datetime1">
              <a:rPr lang="en-IN" smtClean="0"/>
              <a:t>30-09-2021</a:t>
            </a:fld>
            <a:endParaRPr lang="en-IN"/>
          </a:p>
        </p:txBody>
      </p:sp>
      <p:sp>
        <p:nvSpPr>
          <p:cNvPr id="6" name="Footer Placeholder 5"/>
          <p:cNvSpPr>
            <a:spLocks noGrp="1"/>
          </p:cNvSpPr>
          <p:nvPr>
            <p:ph type="ftr" sz="quarter" idx="11"/>
          </p:nvPr>
        </p:nvSpPr>
        <p:spPr/>
        <p:txBody>
          <a:bodyPr/>
          <a:lstStyle/>
          <a:p>
            <a:endParaRPr lang="en-IN"/>
          </a:p>
        </p:txBody>
      </p:sp>
      <p:sp>
        <p:nvSpPr>
          <p:cNvPr id="7" name="Slide Number Placeholder 6"/>
          <p:cNvSpPr>
            <a:spLocks noGrp="1"/>
          </p:cNvSpPr>
          <p:nvPr>
            <p:ph type="sldNum" sz="quarter" idx="12"/>
          </p:nvPr>
        </p:nvSpPr>
        <p:spPr/>
        <p:txBody>
          <a:bodyPr/>
          <a:lstStyle/>
          <a:p>
            <a:fld id="{0FA66C70-CE05-4916-AD71-CDCD291485E5}" type="slidenum">
              <a:rPr lang="en-IN" smtClean="0"/>
              <a:t>‹#›</a:t>
            </a:fld>
            <a:endParaRPr lang="en-IN"/>
          </a:p>
        </p:txBody>
      </p:sp>
    </p:spTree>
    <p:extLst>
      <p:ext uri="{BB962C8B-B14F-4D97-AF65-F5344CB8AC3E}">
        <p14:creationId xmlns:p14="http://schemas.microsoft.com/office/powerpoint/2010/main" val="183423216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1919621A-7620-45C1-BECA-FDA4833D3069}" type="datetime1">
              <a:rPr lang="en-IN" smtClean="0"/>
              <a:t>30-09-2021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FA66C70-CE05-4916-AD71-CDCD291485E5}" type="slidenum">
              <a:rPr lang="en-IN" smtClean="0"/>
              <a:t>‹#›</a:t>
            </a:fld>
            <a:endParaRPr lang="en-IN"/>
          </a:p>
        </p:txBody>
      </p:sp>
    </p:spTree>
    <p:extLst>
      <p:ext uri="{BB962C8B-B14F-4D97-AF65-F5344CB8AC3E}">
        <p14:creationId xmlns:p14="http://schemas.microsoft.com/office/powerpoint/2010/main" val="884032207"/>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10"/>
          </p:nvPr>
        </p:nvSpPr>
        <p:spPr/>
        <p:txBody>
          <a:bodyPr/>
          <a:lstStyle/>
          <a:p>
            <a:fld id="{AA79ECB8-C05F-456D-B0DC-26C0764E8E83}" type="datetime1">
              <a:rPr lang="en-IN" smtClean="0"/>
              <a:t>30-09-2021</a:t>
            </a:fld>
            <a:endParaRPr lang="en-IN"/>
          </a:p>
        </p:txBody>
      </p:sp>
      <p:sp>
        <p:nvSpPr>
          <p:cNvPr id="5" name="Footer Placeholder 4"/>
          <p:cNvSpPr>
            <a:spLocks noGrp="1"/>
          </p:cNvSpPr>
          <p:nvPr>
            <p:ph type="ftr" sz="quarter" idx="11"/>
          </p:nvPr>
        </p:nvSpPr>
        <p:spPr/>
        <p:txBody>
          <a:bodyPr/>
          <a:lstStyle/>
          <a:p>
            <a:endParaRPr lang="en-IN"/>
          </a:p>
        </p:txBody>
      </p:sp>
      <p:sp>
        <p:nvSpPr>
          <p:cNvPr id="6" name="Slide Number Placeholder 5"/>
          <p:cNvSpPr>
            <a:spLocks noGrp="1"/>
          </p:cNvSpPr>
          <p:nvPr>
            <p:ph type="sldNum" sz="quarter" idx="12"/>
          </p:nvPr>
        </p:nvSpPr>
        <p:spPr/>
        <p:txBody>
          <a:bodyPr/>
          <a:lstStyle/>
          <a:p>
            <a:fld id="{0FA66C70-CE05-4916-AD71-CDCD291485E5}" type="slidenum">
              <a:rPr lang="en-IN" smtClean="0"/>
              <a:t>‹#›</a:t>
            </a:fld>
            <a:endParaRPr lang="en-IN"/>
          </a:p>
        </p:txBody>
      </p:sp>
    </p:spTree>
    <p:extLst>
      <p:ext uri="{BB962C8B-B14F-4D97-AF65-F5344CB8AC3E}">
        <p14:creationId xmlns:p14="http://schemas.microsoft.com/office/powerpoint/2010/main" val="295134386"/>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IN"/>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IN"/>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B2BC467-63BC-46B4-8A72-36A53FBC31AD}" type="datetime1">
              <a:rPr lang="en-IN" smtClean="0"/>
              <a:t>30-09-2021</a:t>
            </a:fld>
            <a:endParaRPr lang="en-IN"/>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0FA66C70-CE05-4916-AD71-CDCD291485E5}" type="slidenum">
              <a:rPr lang="en-IN" smtClean="0"/>
              <a:t>‹#›</a:t>
            </a:fld>
            <a:endParaRPr lang="en-IN"/>
          </a:p>
        </p:txBody>
      </p:sp>
    </p:spTree>
    <p:extLst>
      <p:ext uri="{BB962C8B-B14F-4D97-AF65-F5344CB8AC3E}">
        <p14:creationId xmlns:p14="http://schemas.microsoft.com/office/powerpoint/2010/main" val="21436238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IN" b="1" dirty="0" smtClean="0">
                <a:solidFill>
                  <a:srgbClr val="FF00FF"/>
                </a:solidFill>
              </a:rPr>
              <a:t>Heuristics in Query Processing</a:t>
            </a:r>
            <a:endParaRPr lang="en-IN" b="1" dirty="0">
              <a:solidFill>
                <a:srgbClr val="FF00FF"/>
              </a:solidFill>
            </a:endParaRPr>
          </a:p>
        </p:txBody>
      </p:sp>
      <p:sp>
        <p:nvSpPr>
          <p:cNvPr id="3" name="Subtitle 2"/>
          <p:cNvSpPr>
            <a:spLocks noGrp="1"/>
          </p:cNvSpPr>
          <p:nvPr>
            <p:ph type="subTitle" idx="1"/>
          </p:nvPr>
        </p:nvSpPr>
        <p:spPr/>
        <p:txBody>
          <a:bodyPr/>
          <a:lstStyle/>
          <a:p>
            <a:endParaRPr lang="en-IN"/>
          </a:p>
        </p:txBody>
      </p:sp>
      <p:sp>
        <p:nvSpPr>
          <p:cNvPr id="4" name="Slide Number Placeholder 3"/>
          <p:cNvSpPr>
            <a:spLocks noGrp="1"/>
          </p:cNvSpPr>
          <p:nvPr>
            <p:ph type="sldNum" sz="quarter" idx="12"/>
          </p:nvPr>
        </p:nvSpPr>
        <p:spPr/>
        <p:txBody>
          <a:bodyPr/>
          <a:lstStyle/>
          <a:p>
            <a:fld id="{0FA66C70-CE05-4916-AD71-CDCD291485E5}" type="slidenum">
              <a:rPr lang="en-IN" smtClean="0"/>
              <a:t>1</a:t>
            </a:fld>
            <a:endParaRPr lang="en-IN"/>
          </a:p>
        </p:txBody>
      </p:sp>
    </p:spTree>
    <p:extLst>
      <p:ext uri="{BB962C8B-B14F-4D97-AF65-F5344CB8AC3E}">
        <p14:creationId xmlns:p14="http://schemas.microsoft.com/office/powerpoint/2010/main" val="1898246660"/>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251520" y="332656"/>
            <a:ext cx="8676456" cy="5632311"/>
          </a:xfrm>
          <a:prstGeom prst="rect">
            <a:avLst/>
          </a:prstGeom>
        </p:spPr>
        <p:txBody>
          <a:bodyPr wrap="square">
            <a:spAutoFit/>
          </a:bodyPr>
          <a:lstStyle/>
          <a:p>
            <a:r>
              <a:rPr lang="en-US" sz="2800" dirty="0" smtClean="0"/>
              <a:t> </a:t>
            </a:r>
            <a:r>
              <a:rPr lang="en-US" sz="2800" dirty="0"/>
              <a:t>It is an activity conducted by the query optimizer to select the best available strategy for executing the query. </a:t>
            </a:r>
          </a:p>
          <a:p>
            <a:r>
              <a:rPr lang="en-US" sz="3200" b="1" dirty="0">
                <a:solidFill>
                  <a:srgbClr val="FF0000"/>
                </a:solidFill>
              </a:rPr>
              <a:t>1. Query Trees and Heuristics for Query Optimization </a:t>
            </a:r>
            <a:endParaRPr lang="en-US" sz="3200" dirty="0">
              <a:solidFill>
                <a:srgbClr val="FF0000"/>
              </a:solidFill>
            </a:endParaRPr>
          </a:p>
          <a:p>
            <a:pPr marL="457200" indent="-457200" algn="just">
              <a:buFont typeface="Wingdings" pitchFamily="2" charset="2"/>
              <a:buChar char="Ø"/>
            </a:pPr>
            <a:r>
              <a:rPr lang="en-US" sz="2800" dirty="0" smtClean="0"/>
              <a:t> </a:t>
            </a:r>
            <a:r>
              <a:rPr lang="en-US" sz="3000" dirty="0">
                <a:solidFill>
                  <a:srgbClr val="FF0000"/>
                </a:solidFill>
              </a:rPr>
              <a:t>Apply heuristic rules </a:t>
            </a:r>
            <a:r>
              <a:rPr lang="en-US" sz="3000" dirty="0"/>
              <a:t>to modify the internal representation of the query </a:t>
            </a:r>
          </a:p>
          <a:p>
            <a:pPr marL="457200" indent="-457200" algn="just">
              <a:buFont typeface="Wingdings" pitchFamily="2" charset="2"/>
              <a:buChar char="Ø"/>
            </a:pPr>
            <a:r>
              <a:rPr lang="en-US" sz="3000" dirty="0" smtClean="0"/>
              <a:t> </a:t>
            </a:r>
            <a:r>
              <a:rPr lang="en-US" sz="3000" dirty="0"/>
              <a:t>The scanner and parser of an SQL query first generates a data structure that corresponds to an initial query representation </a:t>
            </a:r>
          </a:p>
          <a:p>
            <a:pPr marL="457200" indent="-457200" algn="just">
              <a:buFont typeface="Wingdings" pitchFamily="2" charset="2"/>
              <a:buChar char="Ø"/>
            </a:pPr>
            <a:r>
              <a:rPr lang="en-US" sz="3000" dirty="0" smtClean="0"/>
              <a:t> </a:t>
            </a:r>
            <a:r>
              <a:rPr lang="en-US" sz="3000" dirty="0"/>
              <a:t>It is optimized according to some </a:t>
            </a:r>
            <a:r>
              <a:rPr lang="en-US" sz="3000" dirty="0">
                <a:solidFill>
                  <a:srgbClr val="FF0000"/>
                </a:solidFill>
              </a:rPr>
              <a:t>heuristics rules </a:t>
            </a:r>
          </a:p>
          <a:p>
            <a:pPr marL="457200" indent="-457200" algn="just">
              <a:buFont typeface="Wingdings" pitchFamily="2" charset="2"/>
              <a:buChar char="Ø"/>
            </a:pPr>
            <a:r>
              <a:rPr lang="en-US" sz="3000" dirty="0" smtClean="0"/>
              <a:t>This </a:t>
            </a:r>
            <a:r>
              <a:rPr lang="en-US" sz="3000" dirty="0"/>
              <a:t>leads an optimized query representation, which corresponds to the </a:t>
            </a:r>
            <a:r>
              <a:rPr lang="en-US" sz="3000" dirty="0">
                <a:solidFill>
                  <a:srgbClr val="FF0000"/>
                </a:solidFill>
              </a:rPr>
              <a:t>query execution strategy </a:t>
            </a:r>
          </a:p>
        </p:txBody>
      </p:sp>
      <p:sp>
        <p:nvSpPr>
          <p:cNvPr id="3" name="Slide Number Placeholder 2"/>
          <p:cNvSpPr>
            <a:spLocks noGrp="1"/>
          </p:cNvSpPr>
          <p:nvPr>
            <p:ph type="sldNum" sz="quarter" idx="12"/>
          </p:nvPr>
        </p:nvSpPr>
        <p:spPr/>
        <p:txBody>
          <a:bodyPr/>
          <a:lstStyle/>
          <a:p>
            <a:fld id="{0FA66C70-CE05-4916-AD71-CDCD291485E5}" type="slidenum">
              <a:rPr lang="en-IN" smtClean="0"/>
              <a:t>2</a:t>
            </a:fld>
            <a:endParaRPr lang="en-IN"/>
          </a:p>
        </p:txBody>
      </p:sp>
    </p:spTree>
    <p:extLst>
      <p:ext uri="{BB962C8B-B14F-4D97-AF65-F5344CB8AC3E}">
        <p14:creationId xmlns:p14="http://schemas.microsoft.com/office/powerpoint/2010/main" val="2903086539"/>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p:txBody>
          <a:bodyPr/>
          <a:lstStyle/>
          <a:p>
            <a:pPr marL="457200" indent="-457200" algn="just">
              <a:buFont typeface="Wingdings" pitchFamily="2" charset="2"/>
              <a:buChar char="Ø"/>
            </a:pPr>
            <a:r>
              <a:rPr lang="en-US" dirty="0">
                <a:solidFill>
                  <a:srgbClr val="FF0000"/>
                </a:solidFill>
              </a:rPr>
              <a:t>Query tree </a:t>
            </a:r>
            <a:r>
              <a:rPr lang="en-US" dirty="0"/>
              <a:t>is used to represent relational algebra, query graph is used to represent relational calculus </a:t>
            </a:r>
          </a:p>
          <a:p>
            <a:pPr algn="just">
              <a:buFont typeface="Wingdings" pitchFamily="2" charset="2"/>
              <a:buChar char="Ø"/>
            </a:pPr>
            <a:r>
              <a:rPr lang="en-US" dirty="0" smtClean="0"/>
              <a:t>whereas </a:t>
            </a:r>
            <a:r>
              <a:rPr lang="en-US" dirty="0"/>
              <a:t>a</a:t>
            </a:r>
            <a:r>
              <a:rPr lang="en-US" i="1" dirty="0"/>
              <a:t> </a:t>
            </a:r>
            <a:r>
              <a:rPr lang="en-US" i="1" dirty="0">
                <a:solidFill>
                  <a:srgbClr val="FF0000"/>
                </a:solidFill>
              </a:rPr>
              <a:t>query graph</a:t>
            </a:r>
            <a:r>
              <a:rPr lang="en-US" i="1" dirty="0"/>
              <a:t> </a:t>
            </a:r>
            <a:r>
              <a:rPr lang="en-US" dirty="0"/>
              <a:t>is</a:t>
            </a:r>
            <a:r>
              <a:rPr lang="en-US" i="1" dirty="0"/>
              <a:t> </a:t>
            </a:r>
            <a:r>
              <a:rPr lang="en-US" dirty="0"/>
              <a:t>used to represent a </a:t>
            </a:r>
            <a:r>
              <a:rPr lang="en-US" i="1" dirty="0"/>
              <a:t>relational calculus expression</a:t>
            </a:r>
            <a:r>
              <a:rPr lang="en-US" dirty="0"/>
              <a:t>.</a:t>
            </a:r>
            <a:endParaRPr lang="en-IN" dirty="0"/>
          </a:p>
        </p:txBody>
      </p:sp>
      <p:sp>
        <p:nvSpPr>
          <p:cNvPr id="4" name="Slide Number Placeholder 3"/>
          <p:cNvSpPr>
            <a:spLocks noGrp="1"/>
          </p:cNvSpPr>
          <p:nvPr>
            <p:ph type="sldNum" sz="quarter" idx="12"/>
          </p:nvPr>
        </p:nvSpPr>
        <p:spPr/>
        <p:txBody>
          <a:bodyPr/>
          <a:lstStyle/>
          <a:p>
            <a:fld id="{0FA66C70-CE05-4916-AD71-CDCD291485E5}" type="slidenum">
              <a:rPr lang="en-IN" smtClean="0"/>
              <a:t>3</a:t>
            </a:fld>
            <a:endParaRPr lang="en-IN"/>
          </a:p>
        </p:txBody>
      </p:sp>
    </p:spTree>
    <p:extLst>
      <p:ext uri="{BB962C8B-B14F-4D97-AF65-F5344CB8AC3E}">
        <p14:creationId xmlns:p14="http://schemas.microsoft.com/office/powerpoint/2010/main" val="2120245052"/>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endParaRPr lang="en-IN"/>
          </a:p>
        </p:txBody>
      </p:sp>
      <p:sp>
        <p:nvSpPr>
          <p:cNvPr id="3" name="Content Placeholder 2"/>
          <p:cNvSpPr>
            <a:spLocks noGrp="1"/>
          </p:cNvSpPr>
          <p:nvPr>
            <p:ph idx="1"/>
          </p:nvPr>
        </p:nvSpPr>
        <p:spPr>
          <a:xfrm>
            <a:off x="251520" y="1600200"/>
            <a:ext cx="8435280" cy="4525963"/>
          </a:xfrm>
        </p:spPr>
        <p:txBody>
          <a:bodyPr/>
          <a:lstStyle/>
          <a:p>
            <a:pPr algn="just"/>
            <a:r>
              <a:rPr lang="en-US" dirty="0" smtClean="0"/>
              <a:t>How </a:t>
            </a:r>
            <a:r>
              <a:rPr lang="en-US" dirty="0"/>
              <a:t>heuristic optimization rules are applied to convert an initial query tree into </a:t>
            </a:r>
            <a:r>
              <a:rPr lang="en-US" dirty="0" smtClean="0"/>
              <a:t>an</a:t>
            </a:r>
            <a:r>
              <a:rPr lang="en-US" dirty="0"/>
              <a:t> </a:t>
            </a:r>
            <a:r>
              <a:rPr lang="en-US" b="1" dirty="0">
                <a:solidFill>
                  <a:srgbClr val="FF0000"/>
                </a:solidFill>
              </a:rPr>
              <a:t>equivalent query tree</a:t>
            </a:r>
            <a:r>
              <a:rPr lang="en-US" dirty="0">
                <a:solidFill>
                  <a:srgbClr val="FF0000"/>
                </a:solidFill>
              </a:rPr>
              <a:t>,</a:t>
            </a:r>
            <a:r>
              <a:rPr lang="en-US" dirty="0"/>
              <a:t> </a:t>
            </a:r>
            <a:endParaRPr lang="en-US" dirty="0" smtClean="0"/>
          </a:p>
          <a:p>
            <a:pPr algn="just"/>
            <a:endParaRPr lang="en-US" dirty="0"/>
          </a:p>
          <a:p>
            <a:pPr algn="just"/>
            <a:r>
              <a:rPr lang="en-US" dirty="0" smtClean="0"/>
              <a:t>which </a:t>
            </a:r>
            <a:r>
              <a:rPr lang="en-US" dirty="0"/>
              <a:t>represents a different relational algebra expression</a:t>
            </a:r>
            <a:r>
              <a:rPr lang="en-US" b="1" dirty="0"/>
              <a:t> </a:t>
            </a:r>
            <a:r>
              <a:rPr lang="en-US" dirty="0"/>
              <a:t>that is more efficient to execute but gives the same result as the original tree.</a:t>
            </a:r>
            <a:endParaRPr lang="en-IN" dirty="0"/>
          </a:p>
        </p:txBody>
      </p:sp>
      <p:sp>
        <p:nvSpPr>
          <p:cNvPr id="4" name="Slide Number Placeholder 3"/>
          <p:cNvSpPr>
            <a:spLocks noGrp="1"/>
          </p:cNvSpPr>
          <p:nvPr>
            <p:ph type="sldNum" sz="quarter" idx="12"/>
          </p:nvPr>
        </p:nvSpPr>
        <p:spPr/>
        <p:txBody>
          <a:bodyPr/>
          <a:lstStyle/>
          <a:p>
            <a:fld id="{0FA66C70-CE05-4916-AD71-CDCD291485E5}" type="slidenum">
              <a:rPr lang="en-IN" smtClean="0"/>
              <a:t>4</a:t>
            </a:fld>
            <a:endParaRPr lang="en-IN"/>
          </a:p>
        </p:txBody>
      </p:sp>
    </p:spTree>
    <p:extLst>
      <p:ext uri="{BB962C8B-B14F-4D97-AF65-F5344CB8AC3E}">
        <p14:creationId xmlns:p14="http://schemas.microsoft.com/office/powerpoint/2010/main" val="2007341354"/>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solidFill>
                  <a:srgbClr val="FF0000"/>
                </a:solidFill>
              </a:rPr>
              <a:t>Notation for Query Trees and Query Graphs</a:t>
            </a:r>
            <a:endParaRPr lang="en-IN" dirty="0">
              <a:solidFill>
                <a:srgbClr val="FF0000"/>
              </a:solidFill>
            </a:endParaRPr>
          </a:p>
        </p:txBody>
      </p:sp>
      <p:sp>
        <p:nvSpPr>
          <p:cNvPr id="3" name="Content Placeholder 2"/>
          <p:cNvSpPr>
            <a:spLocks noGrp="1"/>
          </p:cNvSpPr>
          <p:nvPr>
            <p:ph idx="1"/>
          </p:nvPr>
        </p:nvSpPr>
        <p:spPr/>
        <p:txBody>
          <a:bodyPr/>
          <a:lstStyle/>
          <a:p>
            <a:r>
              <a:rPr lang="en-US" dirty="0"/>
              <a:t>A </a:t>
            </a:r>
            <a:r>
              <a:rPr lang="en-US" b="1" dirty="0"/>
              <a:t>query tree</a:t>
            </a:r>
            <a:r>
              <a:rPr lang="en-US" dirty="0"/>
              <a:t> is a tree data structure that corresponds to a relational algebra expression</a:t>
            </a:r>
            <a:r>
              <a:rPr lang="en-US" dirty="0" smtClean="0"/>
              <a:t>.</a:t>
            </a:r>
          </a:p>
          <a:p>
            <a:pPr marL="0" indent="0">
              <a:buNone/>
            </a:pPr>
            <a:endParaRPr lang="en-US" dirty="0" smtClean="0"/>
          </a:p>
          <a:p>
            <a:pPr algn="just"/>
            <a:r>
              <a:rPr lang="en-US" dirty="0" smtClean="0"/>
              <a:t> </a:t>
            </a:r>
            <a:r>
              <a:rPr lang="en-US" dirty="0"/>
              <a:t>It represents the input relations of the query as</a:t>
            </a:r>
            <a:r>
              <a:rPr lang="en-US" dirty="0">
                <a:solidFill>
                  <a:srgbClr val="FF0000"/>
                </a:solidFill>
              </a:rPr>
              <a:t> </a:t>
            </a:r>
            <a:r>
              <a:rPr lang="en-US" i="1" dirty="0">
                <a:solidFill>
                  <a:srgbClr val="FF0000"/>
                </a:solidFill>
              </a:rPr>
              <a:t>leaf nodes</a:t>
            </a:r>
            <a:r>
              <a:rPr lang="en-US" dirty="0"/>
              <a:t> of the tree, and </a:t>
            </a:r>
            <a:r>
              <a:rPr lang="en-US" dirty="0" smtClean="0"/>
              <a:t>represents </a:t>
            </a:r>
            <a:r>
              <a:rPr lang="en-US" dirty="0"/>
              <a:t>the relational algebra operations as </a:t>
            </a:r>
            <a:r>
              <a:rPr lang="en-US" dirty="0">
                <a:solidFill>
                  <a:srgbClr val="FF0000"/>
                </a:solidFill>
              </a:rPr>
              <a:t>internal nodes. </a:t>
            </a:r>
            <a:endParaRPr lang="en-IN" dirty="0">
              <a:solidFill>
                <a:srgbClr val="FF0000"/>
              </a:solidFill>
            </a:endParaRPr>
          </a:p>
        </p:txBody>
      </p:sp>
      <p:sp>
        <p:nvSpPr>
          <p:cNvPr id="4" name="Slide Number Placeholder 3"/>
          <p:cNvSpPr>
            <a:spLocks noGrp="1"/>
          </p:cNvSpPr>
          <p:nvPr>
            <p:ph type="sldNum" sz="quarter" idx="12"/>
          </p:nvPr>
        </p:nvSpPr>
        <p:spPr/>
        <p:txBody>
          <a:bodyPr/>
          <a:lstStyle/>
          <a:p>
            <a:fld id="{0FA66C70-CE05-4916-AD71-CDCD291485E5}" type="slidenum">
              <a:rPr lang="en-IN" smtClean="0"/>
              <a:t>5</a:t>
            </a:fld>
            <a:endParaRPr lang="en-IN"/>
          </a:p>
        </p:txBody>
      </p:sp>
    </p:spTree>
    <p:extLst>
      <p:ext uri="{BB962C8B-B14F-4D97-AF65-F5344CB8AC3E}">
        <p14:creationId xmlns:p14="http://schemas.microsoft.com/office/powerpoint/2010/main" val="1140362550"/>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0"/>
            <a:ext cx="8229600" cy="6126163"/>
          </a:xfrm>
        </p:spPr>
        <p:txBody>
          <a:bodyPr>
            <a:normAutofit lnSpcReduction="10000"/>
          </a:bodyPr>
          <a:lstStyle/>
          <a:p>
            <a:pPr algn="just"/>
            <a:r>
              <a:rPr lang="en-US" dirty="0"/>
              <a:t>An </a:t>
            </a:r>
            <a:r>
              <a:rPr lang="en-US" dirty="0">
                <a:solidFill>
                  <a:srgbClr val="FF0000"/>
                </a:solidFill>
              </a:rPr>
              <a:t>execution of the query </a:t>
            </a:r>
            <a:r>
              <a:rPr lang="en-US" dirty="0"/>
              <a:t>tree consists of </a:t>
            </a:r>
            <a:r>
              <a:rPr lang="en-US" b="1" u="sng" dirty="0"/>
              <a:t>executing</a:t>
            </a:r>
            <a:r>
              <a:rPr lang="en-US" dirty="0"/>
              <a:t> an internal node operation whenever its operands are available and then </a:t>
            </a:r>
            <a:r>
              <a:rPr lang="en-US" b="1" u="sng" dirty="0"/>
              <a:t>replacing</a:t>
            </a:r>
            <a:r>
              <a:rPr lang="en-US" dirty="0"/>
              <a:t> that internal node by the relation that results from executing the operation</a:t>
            </a:r>
            <a:r>
              <a:rPr lang="en-US" dirty="0" smtClean="0"/>
              <a:t>.</a:t>
            </a:r>
          </a:p>
          <a:p>
            <a:pPr algn="just"/>
            <a:r>
              <a:rPr lang="en-US" dirty="0" smtClean="0"/>
              <a:t> </a:t>
            </a:r>
            <a:r>
              <a:rPr lang="en-US" dirty="0"/>
              <a:t>The order of execution of operations</a:t>
            </a:r>
            <a:r>
              <a:rPr lang="en-US" dirty="0">
                <a:solidFill>
                  <a:srgbClr val="FF0000"/>
                </a:solidFill>
              </a:rPr>
              <a:t> </a:t>
            </a:r>
            <a:r>
              <a:rPr lang="en-US" i="1" dirty="0">
                <a:solidFill>
                  <a:srgbClr val="FF0000"/>
                </a:solidFill>
              </a:rPr>
              <a:t>starts at the leaf nodes</a:t>
            </a:r>
            <a:r>
              <a:rPr lang="en-US" dirty="0"/>
              <a:t>, which represents the input database relations for the query, and </a:t>
            </a:r>
            <a:r>
              <a:rPr lang="en-US" i="1" dirty="0">
                <a:solidFill>
                  <a:srgbClr val="FF0000"/>
                </a:solidFill>
              </a:rPr>
              <a:t>ends at the root</a:t>
            </a:r>
            <a:r>
              <a:rPr lang="en-US" dirty="0">
                <a:solidFill>
                  <a:srgbClr val="FF0000"/>
                </a:solidFill>
              </a:rPr>
              <a:t> </a:t>
            </a:r>
            <a:r>
              <a:rPr lang="en-US" i="1" dirty="0">
                <a:solidFill>
                  <a:srgbClr val="FF0000"/>
                </a:solidFill>
              </a:rPr>
              <a:t>node</a:t>
            </a:r>
            <a:r>
              <a:rPr lang="en-US" dirty="0"/>
              <a:t>, which represents the final operation of the query. </a:t>
            </a:r>
            <a:endParaRPr lang="en-US" dirty="0" smtClean="0"/>
          </a:p>
          <a:p>
            <a:pPr algn="just"/>
            <a:r>
              <a:rPr lang="en-US" dirty="0" smtClean="0"/>
              <a:t>The </a:t>
            </a:r>
            <a:r>
              <a:rPr lang="en-US" dirty="0">
                <a:solidFill>
                  <a:srgbClr val="FF0000"/>
                </a:solidFill>
              </a:rPr>
              <a:t>execution terminates</a:t>
            </a:r>
            <a:r>
              <a:rPr lang="en-US" i="1" dirty="0"/>
              <a:t> </a:t>
            </a:r>
            <a:r>
              <a:rPr lang="en-US" dirty="0"/>
              <a:t>when the root node operation is executed and produces the result relation for the query.</a:t>
            </a:r>
            <a:endParaRPr lang="en-IN" dirty="0"/>
          </a:p>
        </p:txBody>
      </p:sp>
      <p:sp>
        <p:nvSpPr>
          <p:cNvPr id="2" name="Slide Number Placeholder 1"/>
          <p:cNvSpPr>
            <a:spLocks noGrp="1"/>
          </p:cNvSpPr>
          <p:nvPr>
            <p:ph type="sldNum" sz="quarter" idx="12"/>
          </p:nvPr>
        </p:nvSpPr>
        <p:spPr/>
        <p:txBody>
          <a:bodyPr/>
          <a:lstStyle/>
          <a:p>
            <a:fld id="{0FA66C70-CE05-4916-AD71-CDCD291485E5}" type="slidenum">
              <a:rPr lang="en-IN" smtClean="0"/>
              <a:t>6</a:t>
            </a:fld>
            <a:endParaRPr lang="en-IN"/>
          </a:p>
        </p:txBody>
      </p:sp>
    </p:spTree>
    <p:extLst>
      <p:ext uri="{BB962C8B-B14F-4D97-AF65-F5344CB8AC3E}">
        <p14:creationId xmlns:p14="http://schemas.microsoft.com/office/powerpoint/2010/main" val="3658683273"/>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88640"/>
            <a:ext cx="8229600" cy="5937523"/>
          </a:xfrm>
        </p:spPr>
        <p:txBody>
          <a:bodyPr/>
          <a:lstStyle/>
          <a:p>
            <a:r>
              <a:rPr lang="en-US" dirty="0">
                <a:solidFill>
                  <a:srgbClr val="FF0000"/>
                </a:solidFill>
              </a:rPr>
              <a:t>For every project located in ‘Stafford’, retrieve the project number, the controlling department number, and the department manager’s last name, address, and birthdate</a:t>
            </a:r>
            <a:r>
              <a:rPr lang="en-US" dirty="0"/>
              <a:t>. </a:t>
            </a:r>
            <a:endParaRPr lang="en-US" dirty="0" smtClean="0"/>
          </a:p>
          <a:p>
            <a:endParaRPr lang="en-IN"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28" y="2126744"/>
            <a:ext cx="8628769" cy="439248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Slide Number Placeholder 1"/>
          <p:cNvSpPr>
            <a:spLocks noGrp="1"/>
          </p:cNvSpPr>
          <p:nvPr>
            <p:ph type="sldNum" sz="quarter" idx="12"/>
          </p:nvPr>
        </p:nvSpPr>
        <p:spPr/>
        <p:txBody>
          <a:bodyPr/>
          <a:lstStyle/>
          <a:p>
            <a:fld id="{0FA66C70-CE05-4916-AD71-CDCD291485E5}" type="slidenum">
              <a:rPr lang="en-IN" smtClean="0"/>
              <a:t>7</a:t>
            </a:fld>
            <a:endParaRPr lang="en-IN"/>
          </a:p>
        </p:txBody>
      </p:sp>
    </p:spTree>
    <p:extLst>
      <p:ext uri="{BB962C8B-B14F-4D97-AF65-F5344CB8AC3E}">
        <p14:creationId xmlns:p14="http://schemas.microsoft.com/office/powerpoint/2010/main" val="589908931"/>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107504" y="188640"/>
            <a:ext cx="8928992" cy="6552728"/>
          </a:xfrm>
        </p:spPr>
        <p:txBody>
          <a:bodyPr>
            <a:normAutofit fontScale="92500" lnSpcReduction="10000"/>
          </a:bodyPr>
          <a:lstStyle/>
          <a:p>
            <a:endParaRPr lang="en-US" sz="1200" dirty="0" smtClean="0"/>
          </a:p>
          <a:p>
            <a:endParaRPr lang="en-US" sz="1200" dirty="0"/>
          </a:p>
          <a:p>
            <a:endParaRPr lang="en-US" sz="1200" dirty="0" smtClean="0"/>
          </a:p>
          <a:p>
            <a:endParaRPr lang="en-US" sz="1200" dirty="0"/>
          </a:p>
          <a:p>
            <a:endParaRPr lang="en-US" sz="1200" dirty="0" smtClean="0"/>
          </a:p>
          <a:p>
            <a:endParaRPr lang="en-US" sz="1200" dirty="0"/>
          </a:p>
          <a:p>
            <a:endParaRPr lang="en-US" sz="1200" dirty="0" smtClean="0"/>
          </a:p>
          <a:p>
            <a:endParaRPr lang="en-US" sz="1200" dirty="0"/>
          </a:p>
          <a:p>
            <a:endParaRPr lang="en-US" sz="1200" dirty="0" smtClean="0"/>
          </a:p>
          <a:p>
            <a:endParaRPr lang="en-US" sz="1200" dirty="0"/>
          </a:p>
          <a:p>
            <a:endParaRPr lang="en-US" sz="1200" dirty="0" smtClean="0"/>
          </a:p>
          <a:p>
            <a:endParaRPr lang="en-US" sz="1200" dirty="0"/>
          </a:p>
          <a:p>
            <a:endParaRPr lang="en-US" sz="1200" dirty="0" smtClean="0"/>
          </a:p>
          <a:p>
            <a:endParaRPr lang="en-US" sz="1200" dirty="0"/>
          </a:p>
          <a:p>
            <a:endParaRPr lang="en-US" sz="1200" dirty="0" smtClean="0"/>
          </a:p>
          <a:p>
            <a:endParaRPr lang="en-US" sz="1200" dirty="0"/>
          </a:p>
          <a:p>
            <a:endParaRPr lang="en-US" sz="1200" dirty="0" smtClean="0"/>
          </a:p>
          <a:p>
            <a:endParaRPr lang="en-US" sz="1200" dirty="0"/>
          </a:p>
          <a:p>
            <a:endParaRPr lang="en-US" sz="1200" dirty="0" smtClean="0"/>
          </a:p>
          <a:p>
            <a:r>
              <a:rPr lang="en-US" sz="2600" dirty="0" smtClean="0"/>
              <a:t>In </a:t>
            </a:r>
            <a:r>
              <a:rPr lang="en-US" sz="2600" dirty="0"/>
              <a:t>Figure </a:t>
            </a:r>
            <a:r>
              <a:rPr lang="en-US" sz="2600" dirty="0" smtClean="0"/>
              <a:t> </a:t>
            </a:r>
            <a:r>
              <a:rPr lang="en-US" sz="2600" dirty="0"/>
              <a:t>the leaf nodes P, D, and E represent the </a:t>
            </a:r>
            <a:r>
              <a:rPr lang="en-US" sz="2600" dirty="0" smtClean="0"/>
              <a:t>three relations  PROJECT DEPARTMENT,  and EMPLOYEE.  The </a:t>
            </a:r>
            <a:r>
              <a:rPr lang="en-US" sz="2600" dirty="0"/>
              <a:t>internal tree nodes represent the </a:t>
            </a:r>
            <a:r>
              <a:rPr lang="en-US" sz="2600" i="1" dirty="0"/>
              <a:t>relational algebra operations</a:t>
            </a:r>
            <a:r>
              <a:rPr lang="en-US" sz="2600" dirty="0"/>
              <a:t> of the expression. </a:t>
            </a:r>
            <a:endParaRPr lang="en-US" sz="2600" dirty="0" smtClean="0"/>
          </a:p>
          <a:p>
            <a:r>
              <a:rPr lang="en-US" sz="2400" dirty="0" smtClean="0"/>
              <a:t>When </a:t>
            </a:r>
            <a:r>
              <a:rPr lang="en-US" sz="2400" dirty="0"/>
              <a:t>this query tree is executed, the node marked (1) in Figure </a:t>
            </a:r>
            <a:r>
              <a:rPr lang="en-US" sz="2400" dirty="0" smtClean="0"/>
              <a:t> </a:t>
            </a:r>
            <a:r>
              <a:rPr lang="en-US" sz="2400" dirty="0"/>
              <a:t>must begin execution before node (2) because some resulting tuples of operation (1) must be available before we can begin executing operation (2). Similarly, node (2) must begin executing and producing results before node (3) can start execution, and so on.</a:t>
            </a:r>
            <a:endParaRPr lang="en-IN" sz="2400" dirty="0"/>
          </a:p>
        </p:txBody>
      </p:sp>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71600" y="-27815"/>
            <a:ext cx="6552728" cy="363857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Slide Number Placeholder 1"/>
          <p:cNvSpPr>
            <a:spLocks noGrp="1"/>
          </p:cNvSpPr>
          <p:nvPr>
            <p:ph type="sldNum" sz="quarter" idx="12"/>
          </p:nvPr>
        </p:nvSpPr>
        <p:spPr/>
        <p:txBody>
          <a:bodyPr/>
          <a:lstStyle/>
          <a:p>
            <a:fld id="{0FA66C70-CE05-4916-AD71-CDCD291485E5}" type="slidenum">
              <a:rPr lang="en-IN" smtClean="0"/>
              <a:t>8</a:t>
            </a:fld>
            <a:endParaRPr lang="en-IN"/>
          </a:p>
        </p:txBody>
      </p:sp>
    </p:spTree>
    <p:extLst>
      <p:ext uri="{BB962C8B-B14F-4D97-AF65-F5344CB8AC3E}">
        <p14:creationId xmlns:p14="http://schemas.microsoft.com/office/powerpoint/2010/main" val="63779589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332656"/>
            <a:ext cx="8229600" cy="5793507"/>
          </a:xfrm>
        </p:spPr>
        <p:txBody>
          <a:bodyPr/>
          <a:lstStyle/>
          <a:p>
            <a:endParaRPr lang="en-IN" dirty="0"/>
          </a:p>
        </p:txBody>
      </p:sp>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591" y="476672"/>
            <a:ext cx="7821893" cy="446449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3075"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87624" y="5301208"/>
            <a:ext cx="6480720" cy="4191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Slide Number Placeholder 1"/>
          <p:cNvSpPr>
            <a:spLocks noGrp="1"/>
          </p:cNvSpPr>
          <p:nvPr>
            <p:ph type="sldNum" sz="quarter" idx="12"/>
          </p:nvPr>
        </p:nvSpPr>
        <p:spPr/>
        <p:txBody>
          <a:bodyPr/>
          <a:lstStyle/>
          <a:p>
            <a:fld id="{0FA66C70-CE05-4916-AD71-CDCD291485E5}" type="slidenum">
              <a:rPr lang="en-IN" smtClean="0"/>
              <a:t>9</a:t>
            </a:fld>
            <a:endParaRPr lang="en-IN"/>
          </a:p>
        </p:txBody>
      </p:sp>
    </p:spTree>
    <p:extLst>
      <p:ext uri="{BB962C8B-B14F-4D97-AF65-F5344CB8AC3E}">
        <p14:creationId xmlns:p14="http://schemas.microsoft.com/office/powerpoint/2010/main" val="418297814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43608" y="264096"/>
            <a:ext cx="7128792" cy="3336975"/>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51" name="Picture 3"/>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043608" y="3760440"/>
            <a:ext cx="6984775" cy="247552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Slide Number Placeholder 1"/>
          <p:cNvSpPr>
            <a:spLocks noGrp="1"/>
          </p:cNvSpPr>
          <p:nvPr>
            <p:ph type="sldNum" sz="quarter" idx="12"/>
          </p:nvPr>
        </p:nvSpPr>
        <p:spPr/>
        <p:txBody>
          <a:bodyPr/>
          <a:lstStyle/>
          <a:p>
            <a:fld id="{0FA66C70-CE05-4916-AD71-CDCD291485E5}" type="slidenum">
              <a:rPr lang="en-IN" smtClean="0"/>
              <a:t>10</a:t>
            </a:fld>
            <a:endParaRPr lang="en-IN"/>
          </a:p>
        </p:txBody>
      </p:sp>
    </p:spTree>
    <p:extLst>
      <p:ext uri="{BB962C8B-B14F-4D97-AF65-F5344CB8AC3E}">
        <p14:creationId xmlns:p14="http://schemas.microsoft.com/office/powerpoint/2010/main" val="1903921047"/>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1640" y="188639"/>
            <a:ext cx="6768752" cy="641803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Slide Number Placeholder 1"/>
          <p:cNvSpPr>
            <a:spLocks noGrp="1"/>
          </p:cNvSpPr>
          <p:nvPr>
            <p:ph type="sldNum" sz="quarter" idx="12"/>
          </p:nvPr>
        </p:nvSpPr>
        <p:spPr/>
        <p:txBody>
          <a:bodyPr/>
          <a:lstStyle/>
          <a:p>
            <a:fld id="{0FA66C70-CE05-4916-AD71-CDCD291485E5}" type="slidenum">
              <a:rPr lang="en-IN" smtClean="0"/>
              <a:t>11</a:t>
            </a:fld>
            <a:endParaRPr lang="en-IN"/>
          </a:p>
        </p:txBody>
      </p:sp>
    </p:spTree>
    <p:extLst>
      <p:ext uri="{BB962C8B-B14F-4D97-AF65-F5344CB8AC3E}">
        <p14:creationId xmlns:p14="http://schemas.microsoft.com/office/powerpoint/2010/main" val="931728640"/>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b="1" dirty="0"/>
              <a:t> Heuristic Optimization of Query Trees</a:t>
            </a:r>
            <a:endParaRPr lang="en-IN" dirty="0"/>
          </a:p>
        </p:txBody>
      </p:sp>
      <p:sp>
        <p:nvSpPr>
          <p:cNvPr id="3" name="Content Placeholder 2"/>
          <p:cNvSpPr>
            <a:spLocks noGrp="1"/>
          </p:cNvSpPr>
          <p:nvPr>
            <p:ph idx="1"/>
          </p:nvPr>
        </p:nvSpPr>
        <p:spPr>
          <a:xfrm>
            <a:off x="457200" y="1196752"/>
            <a:ext cx="8229600" cy="4464496"/>
          </a:xfrm>
        </p:spPr>
        <p:txBody>
          <a:bodyPr>
            <a:normAutofit/>
          </a:bodyPr>
          <a:lstStyle/>
          <a:p>
            <a:r>
              <a:rPr lang="en-US" dirty="0" smtClean="0"/>
              <a:t>The </a:t>
            </a:r>
            <a:r>
              <a:rPr lang="en-US" dirty="0"/>
              <a:t>query parser will typically generate a standard </a:t>
            </a:r>
            <a:r>
              <a:rPr lang="en-US" b="1" dirty="0">
                <a:solidFill>
                  <a:srgbClr val="FF0000"/>
                </a:solidFill>
              </a:rPr>
              <a:t>initial query tree</a:t>
            </a:r>
            <a:r>
              <a:rPr lang="en-US" dirty="0"/>
              <a:t> to correspond to an SQL query, without doing any optimization</a:t>
            </a:r>
            <a:r>
              <a:rPr lang="en-US" dirty="0" smtClean="0"/>
              <a:t>.</a:t>
            </a:r>
          </a:p>
          <a:p>
            <a:pPr marL="0" indent="0">
              <a:buNone/>
            </a:pPr>
            <a:endParaRPr lang="en-US" dirty="0" smtClean="0"/>
          </a:p>
          <a:p>
            <a:r>
              <a:rPr lang="en-US" dirty="0"/>
              <a:t>The heuristic query optimizer will transform this initial query tree into an equivalent </a:t>
            </a:r>
            <a:r>
              <a:rPr lang="en-US" b="1" dirty="0">
                <a:solidFill>
                  <a:srgbClr val="FF0000"/>
                </a:solidFill>
              </a:rPr>
              <a:t>final query tree</a:t>
            </a:r>
            <a:r>
              <a:rPr lang="en-US" dirty="0"/>
              <a:t> that is efficient to execute.</a:t>
            </a:r>
            <a:endParaRPr lang="en-IN" dirty="0"/>
          </a:p>
          <a:p>
            <a:pPr marL="0" indent="0">
              <a:buNone/>
            </a:pPr>
            <a:r>
              <a:rPr lang="en-US" dirty="0" smtClean="0"/>
              <a:t> </a:t>
            </a:r>
          </a:p>
        </p:txBody>
      </p:sp>
      <p:sp>
        <p:nvSpPr>
          <p:cNvPr id="4" name="Slide Number Placeholder 3"/>
          <p:cNvSpPr>
            <a:spLocks noGrp="1"/>
          </p:cNvSpPr>
          <p:nvPr>
            <p:ph type="sldNum" sz="quarter" idx="12"/>
          </p:nvPr>
        </p:nvSpPr>
        <p:spPr/>
        <p:txBody>
          <a:bodyPr/>
          <a:lstStyle/>
          <a:p>
            <a:fld id="{0FA66C70-CE05-4916-AD71-CDCD291485E5}" type="slidenum">
              <a:rPr lang="en-IN" smtClean="0"/>
              <a:t>12</a:t>
            </a:fld>
            <a:endParaRPr lang="en-IN"/>
          </a:p>
        </p:txBody>
      </p:sp>
    </p:spTree>
    <p:extLst>
      <p:ext uri="{BB962C8B-B14F-4D97-AF65-F5344CB8AC3E}">
        <p14:creationId xmlns:p14="http://schemas.microsoft.com/office/powerpoint/2010/main" val="3968410550"/>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323528" y="836712"/>
            <a:ext cx="8229600" cy="4525963"/>
          </a:xfrm>
        </p:spPr>
        <p:txBody>
          <a:bodyPr>
            <a:normAutofit fontScale="92500" lnSpcReduction="20000"/>
          </a:bodyPr>
          <a:lstStyle/>
          <a:p>
            <a:r>
              <a:rPr lang="en-US" dirty="0"/>
              <a:t>The optimizer must include </a:t>
            </a:r>
            <a:r>
              <a:rPr lang="en-US" dirty="0">
                <a:solidFill>
                  <a:srgbClr val="FF0000"/>
                </a:solidFill>
              </a:rPr>
              <a:t>rules for </a:t>
            </a:r>
            <a:r>
              <a:rPr lang="en-US" i="1" dirty="0">
                <a:solidFill>
                  <a:srgbClr val="FF0000"/>
                </a:solidFill>
              </a:rPr>
              <a:t>equivalence among relational algebra expressions</a:t>
            </a:r>
            <a:r>
              <a:rPr lang="en-US" i="1" dirty="0"/>
              <a:t> </a:t>
            </a:r>
            <a:r>
              <a:rPr lang="en-US" dirty="0"/>
              <a:t>that can be applied to transform the initial tree into the final, optimized query</a:t>
            </a:r>
            <a:r>
              <a:rPr lang="en-US" i="1" dirty="0"/>
              <a:t> </a:t>
            </a:r>
            <a:r>
              <a:rPr lang="en-US" dirty="0"/>
              <a:t>tree. </a:t>
            </a:r>
            <a:endParaRPr lang="en-US" dirty="0" smtClean="0"/>
          </a:p>
          <a:p>
            <a:endParaRPr lang="en-US" dirty="0"/>
          </a:p>
          <a:p>
            <a:r>
              <a:rPr lang="en-US" dirty="0" smtClean="0"/>
              <a:t>First </a:t>
            </a:r>
            <a:r>
              <a:rPr lang="en-US" dirty="0"/>
              <a:t>we discuss informally how a query tree is transformed by using heuristics, </a:t>
            </a:r>
            <a:endParaRPr lang="en-US" dirty="0" smtClean="0"/>
          </a:p>
          <a:p>
            <a:endParaRPr lang="en-US" dirty="0"/>
          </a:p>
          <a:p>
            <a:r>
              <a:rPr lang="en-US" dirty="0" smtClean="0"/>
              <a:t>and </a:t>
            </a:r>
            <a:r>
              <a:rPr lang="en-US" dirty="0"/>
              <a:t>then we discuss general transformation rules and show how they can be used in an algebraic heuristic optimizer.</a:t>
            </a:r>
            <a:endParaRPr lang="en-IN" dirty="0"/>
          </a:p>
        </p:txBody>
      </p:sp>
      <p:sp>
        <p:nvSpPr>
          <p:cNvPr id="2" name="Slide Number Placeholder 1"/>
          <p:cNvSpPr>
            <a:spLocks noGrp="1"/>
          </p:cNvSpPr>
          <p:nvPr>
            <p:ph type="sldNum" sz="quarter" idx="12"/>
          </p:nvPr>
        </p:nvSpPr>
        <p:spPr/>
        <p:txBody>
          <a:bodyPr/>
          <a:lstStyle/>
          <a:p>
            <a:fld id="{0FA66C70-CE05-4916-AD71-CDCD291485E5}" type="slidenum">
              <a:rPr lang="en-IN" smtClean="0"/>
              <a:t>13</a:t>
            </a:fld>
            <a:endParaRPr lang="en-IN"/>
          </a:p>
        </p:txBody>
      </p:sp>
    </p:spTree>
    <p:extLst>
      <p:ext uri="{BB962C8B-B14F-4D97-AF65-F5344CB8AC3E}">
        <p14:creationId xmlns:p14="http://schemas.microsoft.com/office/powerpoint/2010/main" val="2329881784"/>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pPr algn="just"/>
            <a:r>
              <a:rPr lang="en-US" sz="3200" i="1" dirty="0" smtClean="0">
                <a:solidFill>
                  <a:srgbClr val="FF0000"/>
                </a:solidFill>
              </a:rPr>
              <a:t>Find the last names of employees born after 1957 who work on a</a:t>
            </a:r>
            <a:r>
              <a:rPr lang="en-US" sz="3200" dirty="0" smtClean="0">
                <a:solidFill>
                  <a:srgbClr val="FF0000"/>
                </a:solidFill>
              </a:rPr>
              <a:t> </a:t>
            </a:r>
            <a:r>
              <a:rPr lang="en-US" sz="3200" i="1" dirty="0" smtClean="0">
                <a:solidFill>
                  <a:srgbClr val="FF0000"/>
                </a:solidFill>
              </a:rPr>
              <a:t>project named ‘Aquarius’</a:t>
            </a:r>
            <a:r>
              <a:rPr lang="en-US" sz="3200" dirty="0" smtClean="0">
                <a:solidFill>
                  <a:srgbClr val="FF0000"/>
                </a:solidFill>
              </a:rPr>
              <a:t>.</a:t>
            </a:r>
            <a:endParaRPr lang="en-IN" sz="3200" dirty="0">
              <a:solidFill>
                <a:srgbClr val="FF0000"/>
              </a:solidFill>
            </a:endParaRPr>
          </a:p>
        </p:txBody>
      </p:sp>
      <p:sp>
        <p:nvSpPr>
          <p:cNvPr id="3" name="Content Placeholder 2"/>
          <p:cNvSpPr>
            <a:spLocks noGrp="1"/>
          </p:cNvSpPr>
          <p:nvPr>
            <p:ph idx="1"/>
          </p:nvPr>
        </p:nvSpPr>
        <p:spPr>
          <a:xfrm>
            <a:off x="251520" y="1628800"/>
            <a:ext cx="8686800" cy="4525963"/>
          </a:xfrm>
        </p:spPr>
        <p:txBody>
          <a:bodyPr>
            <a:normAutofit/>
          </a:bodyPr>
          <a:lstStyle/>
          <a:p>
            <a:r>
              <a:rPr lang="en-US" dirty="0" smtClean="0"/>
              <a:t>This query can be specified in SQL as follows:</a:t>
            </a:r>
          </a:p>
          <a:p>
            <a:pPr marL="0" indent="0">
              <a:buNone/>
            </a:pPr>
            <a:endParaRPr lang="en-US" dirty="0" smtClean="0"/>
          </a:p>
          <a:p>
            <a:r>
              <a:rPr lang="en-US" dirty="0"/>
              <a:t> SELECT  </a:t>
            </a:r>
            <a:r>
              <a:rPr lang="en-US" dirty="0" err="1" smtClean="0"/>
              <a:t>Lname</a:t>
            </a:r>
            <a:r>
              <a:rPr lang="en-US" dirty="0"/>
              <a:t> </a:t>
            </a:r>
            <a:r>
              <a:rPr lang="en-US" dirty="0" smtClean="0"/>
              <a:t>FROM EMPLOYEE, WORKS_ON, PROJECT Where </a:t>
            </a:r>
            <a:r>
              <a:rPr lang="en-US" dirty="0" err="1" smtClean="0"/>
              <a:t>Pname</a:t>
            </a:r>
            <a:r>
              <a:rPr lang="en-US" dirty="0" smtClean="0"/>
              <a:t>=‘Aquarius’ and </a:t>
            </a:r>
            <a:r>
              <a:rPr lang="en-US" dirty="0" err="1" smtClean="0"/>
              <a:t>Pnumber</a:t>
            </a:r>
            <a:r>
              <a:rPr lang="en-US" dirty="0" smtClean="0"/>
              <a:t> =</a:t>
            </a:r>
            <a:r>
              <a:rPr lang="en-US" dirty="0" err="1" smtClean="0"/>
              <a:t>Pno</a:t>
            </a:r>
            <a:r>
              <a:rPr lang="en-US" dirty="0" smtClean="0"/>
              <a:t> and </a:t>
            </a:r>
            <a:r>
              <a:rPr lang="en-US" dirty="0" err="1" smtClean="0"/>
              <a:t>Essn</a:t>
            </a:r>
            <a:r>
              <a:rPr lang="en-US" dirty="0" smtClean="0"/>
              <a:t>=</a:t>
            </a:r>
            <a:r>
              <a:rPr lang="en-US" dirty="0" err="1" smtClean="0"/>
              <a:t>Ssn</a:t>
            </a:r>
            <a:r>
              <a:rPr lang="en-US" dirty="0" smtClean="0"/>
              <a:t> and </a:t>
            </a:r>
            <a:r>
              <a:rPr lang="en-US" dirty="0" err="1" smtClean="0"/>
              <a:t>Bdate</a:t>
            </a:r>
            <a:r>
              <a:rPr lang="en-US" dirty="0" smtClean="0"/>
              <a:t> &gt; ‘1957-12-31’</a:t>
            </a:r>
            <a:endParaRPr lang="en-IN" dirty="0"/>
          </a:p>
        </p:txBody>
      </p:sp>
      <p:sp>
        <p:nvSpPr>
          <p:cNvPr id="4" name="Slide Number Placeholder 3"/>
          <p:cNvSpPr>
            <a:spLocks noGrp="1"/>
          </p:cNvSpPr>
          <p:nvPr>
            <p:ph type="sldNum" sz="quarter" idx="12"/>
          </p:nvPr>
        </p:nvSpPr>
        <p:spPr/>
        <p:txBody>
          <a:bodyPr/>
          <a:lstStyle/>
          <a:p>
            <a:fld id="{0FA66C70-CE05-4916-AD71-CDCD291485E5}" type="slidenum">
              <a:rPr lang="en-IN" smtClean="0"/>
              <a:t>14</a:t>
            </a:fld>
            <a:endParaRPr lang="en-IN"/>
          </a:p>
        </p:txBody>
      </p:sp>
    </p:spTree>
    <p:extLst>
      <p:ext uri="{BB962C8B-B14F-4D97-AF65-F5344CB8AC3E}">
        <p14:creationId xmlns:p14="http://schemas.microsoft.com/office/powerpoint/2010/main" val="3424862944"/>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260648"/>
            <a:ext cx="8229600" cy="5865515"/>
          </a:xfrm>
        </p:spPr>
        <p:txBody>
          <a:bodyPr>
            <a:normAutofit fontScale="77500" lnSpcReduction="20000"/>
          </a:bodyPr>
          <a:lstStyle/>
          <a:p>
            <a:pPr marL="0" indent="0" algn="ctr">
              <a:buNone/>
            </a:pPr>
            <a:r>
              <a:rPr lang="en-US" sz="4600" b="1" dirty="0">
                <a:solidFill>
                  <a:srgbClr val="FF0000"/>
                </a:solidFill>
              </a:rPr>
              <a:t>Steps in converting a query tree during heuristic optimization.</a:t>
            </a:r>
          </a:p>
          <a:p>
            <a:endParaRPr lang="en-US" dirty="0"/>
          </a:p>
          <a:p>
            <a:pPr marL="514350" indent="-514350">
              <a:buFont typeface="+mj-lt"/>
              <a:buAutoNum type="arabicPeriod"/>
            </a:pPr>
            <a:r>
              <a:rPr lang="en-US" dirty="0"/>
              <a:t> </a:t>
            </a:r>
            <a:r>
              <a:rPr lang="en-US" b="1" dirty="0">
                <a:latin typeface="+mj-lt"/>
              </a:rPr>
              <a:t> Initial (canonical) query tree for SQL query Q.</a:t>
            </a:r>
          </a:p>
          <a:p>
            <a:pPr marL="514350" indent="-514350">
              <a:buFont typeface="+mj-lt"/>
              <a:buAutoNum type="arabicPeriod"/>
            </a:pPr>
            <a:endParaRPr lang="en-US" b="1" dirty="0">
              <a:latin typeface="+mj-lt"/>
            </a:endParaRPr>
          </a:p>
          <a:p>
            <a:pPr marL="514350" indent="-514350">
              <a:buFont typeface="+mj-lt"/>
              <a:buAutoNum type="arabicPeriod"/>
            </a:pPr>
            <a:r>
              <a:rPr lang="en-US" b="1" dirty="0">
                <a:latin typeface="+mj-lt"/>
              </a:rPr>
              <a:t>  Moving </a:t>
            </a:r>
            <a:r>
              <a:rPr lang="en-US" b="1" u="sng" dirty="0">
                <a:latin typeface="+mj-lt"/>
              </a:rPr>
              <a:t>SELECT</a:t>
            </a:r>
            <a:r>
              <a:rPr lang="en-US" b="1" dirty="0">
                <a:latin typeface="+mj-lt"/>
              </a:rPr>
              <a:t> operations down the query tree.</a:t>
            </a:r>
          </a:p>
          <a:p>
            <a:pPr marL="514350" indent="-514350">
              <a:buFont typeface="+mj-lt"/>
              <a:buAutoNum type="arabicPeriod"/>
            </a:pPr>
            <a:endParaRPr lang="en-US" b="1" dirty="0">
              <a:latin typeface="+mj-lt"/>
            </a:endParaRPr>
          </a:p>
          <a:p>
            <a:pPr marL="514350" indent="-514350">
              <a:buFont typeface="+mj-lt"/>
              <a:buAutoNum type="arabicPeriod"/>
            </a:pPr>
            <a:r>
              <a:rPr lang="en-US" b="1" dirty="0">
                <a:latin typeface="+mj-lt"/>
              </a:rPr>
              <a:t>  Applying the more </a:t>
            </a:r>
            <a:r>
              <a:rPr lang="en-US" b="1" u="sng" dirty="0">
                <a:latin typeface="+mj-lt"/>
              </a:rPr>
              <a:t>restrictive SELECT </a:t>
            </a:r>
            <a:r>
              <a:rPr lang="en-US" b="1" dirty="0">
                <a:latin typeface="+mj-lt"/>
              </a:rPr>
              <a:t>operation first.</a:t>
            </a:r>
          </a:p>
          <a:p>
            <a:pPr marL="514350" indent="-514350">
              <a:buFont typeface="+mj-lt"/>
              <a:buAutoNum type="arabicPeriod"/>
            </a:pPr>
            <a:endParaRPr lang="en-US" b="1" dirty="0">
              <a:latin typeface="+mj-lt"/>
            </a:endParaRPr>
          </a:p>
          <a:p>
            <a:pPr marL="514350" indent="-514350">
              <a:buFont typeface="+mj-lt"/>
              <a:buAutoNum type="arabicPeriod"/>
            </a:pPr>
            <a:r>
              <a:rPr lang="en-US" b="1" dirty="0">
                <a:latin typeface="+mj-lt"/>
              </a:rPr>
              <a:t> </a:t>
            </a:r>
            <a:r>
              <a:rPr lang="en-US" b="1" dirty="0" smtClean="0">
                <a:latin typeface="+mj-lt"/>
              </a:rPr>
              <a:t>Replacing </a:t>
            </a:r>
            <a:r>
              <a:rPr lang="en-US" b="1" u="sng" dirty="0">
                <a:latin typeface="+mj-lt"/>
              </a:rPr>
              <a:t>CARTESIAN PRODUCT </a:t>
            </a:r>
            <a:r>
              <a:rPr lang="en-US" b="1" dirty="0">
                <a:latin typeface="+mj-lt"/>
              </a:rPr>
              <a:t>and </a:t>
            </a:r>
            <a:r>
              <a:rPr lang="en-US" b="1" u="sng" dirty="0">
                <a:latin typeface="+mj-lt"/>
              </a:rPr>
              <a:t>SELECT</a:t>
            </a:r>
            <a:r>
              <a:rPr lang="en-US" b="1" dirty="0">
                <a:latin typeface="+mj-lt"/>
              </a:rPr>
              <a:t> with </a:t>
            </a:r>
            <a:r>
              <a:rPr lang="en-US" b="1" u="sng" dirty="0">
                <a:latin typeface="+mj-lt"/>
              </a:rPr>
              <a:t>JOIN</a:t>
            </a:r>
            <a:r>
              <a:rPr lang="en-US" b="1" dirty="0">
                <a:latin typeface="+mj-lt"/>
              </a:rPr>
              <a:t> </a:t>
            </a:r>
            <a:r>
              <a:rPr lang="en-US" b="1" dirty="0" smtClean="0">
                <a:latin typeface="+mj-lt"/>
              </a:rPr>
              <a:t>  </a:t>
            </a:r>
          </a:p>
          <a:p>
            <a:pPr marL="0" indent="0">
              <a:buNone/>
            </a:pPr>
            <a:r>
              <a:rPr lang="en-US" b="1" dirty="0">
                <a:latin typeface="+mj-lt"/>
              </a:rPr>
              <a:t> </a:t>
            </a:r>
            <a:r>
              <a:rPr lang="en-US" b="1" dirty="0" smtClean="0">
                <a:latin typeface="+mj-lt"/>
              </a:rPr>
              <a:t>             operations</a:t>
            </a:r>
            <a:r>
              <a:rPr lang="en-US" b="1" dirty="0">
                <a:latin typeface="+mj-lt"/>
              </a:rPr>
              <a:t>.</a:t>
            </a:r>
          </a:p>
          <a:p>
            <a:pPr marL="0" indent="0">
              <a:buNone/>
            </a:pPr>
            <a:r>
              <a:rPr lang="en-US" b="1" dirty="0">
                <a:latin typeface="+mj-lt"/>
              </a:rPr>
              <a:t> </a:t>
            </a:r>
          </a:p>
          <a:p>
            <a:pPr marL="0" indent="0">
              <a:buNone/>
            </a:pPr>
            <a:r>
              <a:rPr lang="en-US" b="1" dirty="0" smtClean="0">
                <a:latin typeface="+mj-lt"/>
              </a:rPr>
              <a:t>5.     Moving </a:t>
            </a:r>
            <a:r>
              <a:rPr lang="en-US" b="1" u="sng" dirty="0">
                <a:latin typeface="+mj-lt"/>
              </a:rPr>
              <a:t>PROJECT</a:t>
            </a:r>
            <a:r>
              <a:rPr lang="en-US" b="1" dirty="0">
                <a:latin typeface="+mj-lt"/>
              </a:rPr>
              <a:t> operations down the query tree</a:t>
            </a:r>
            <a:r>
              <a:rPr lang="en-US" b="1" dirty="0" smtClean="0">
                <a:latin typeface="+mj-lt"/>
              </a:rPr>
              <a:t>.  </a:t>
            </a:r>
            <a:endParaRPr lang="en-US" b="1" dirty="0">
              <a:latin typeface="+mj-lt"/>
            </a:endParaRPr>
          </a:p>
          <a:p>
            <a:endParaRPr lang="en-IN" dirty="0"/>
          </a:p>
        </p:txBody>
      </p:sp>
      <p:sp>
        <p:nvSpPr>
          <p:cNvPr id="2" name="Slide Number Placeholder 1"/>
          <p:cNvSpPr>
            <a:spLocks noGrp="1"/>
          </p:cNvSpPr>
          <p:nvPr>
            <p:ph type="sldNum" sz="quarter" idx="12"/>
          </p:nvPr>
        </p:nvSpPr>
        <p:spPr/>
        <p:txBody>
          <a:bodyPr/>
          <a:lstStyle/>
          <a:p>
            <a:fld id="{0FA66C70-CE05-4916-AD71-CDCD291485E5}" type="slidenum">
              <a:rPr lang="en-IN" smtClean="0"/>
              <a:t>15</a:t>
            </a:fld>
            <a:endParaRPr lang="en-IN"/>
          </a:p>
        </p:txBody>
      </p:sp>
    </p:spTree>
    <p:extLst>
      <p:ext uri="{BB962C8B-B14F-4D97-AF65-F5344CB8AC3E}">
        <p14:creationId xmlns:p14="http://schemas.microsoft.com/office/powerpoint/2010/main" val="1080508379"/>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09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1560" y="620688"/>
            <a:ext cx="7632848" cy="554461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811560" y="116632"/>
            <a:ext cx="7416824" cy="369332"/>
          </a:xfrm>
          <a:prstGeom prst="rect">
            <a:avLst/>
          </a:prstGeom>
          <a:noFill/>
        </p:spPr>
        <p:txBody>
          <a:bodyPr wrap="square" rtlCol="0">
            <a:spAutoFit/>
          </a:bodyPr>
          <a:lstStyle/>
          <a:p>
            <a:pPr algn="ctr"/>
            <a:r>
              <a:rPr lang="en-IN" b="1" dirty="0" smtClean="0">
                <a:solidFill>
                  <a:srgbClr val="FF0000"/>
                </a:solidFill>
              </a:rPr>
              <a:t>Initial (Canonical) Query tree for the given SQL</a:t>
            </a:r>
            <a:endParaRPr lang="en-IN" b="1" dirty="0">
              <a:solidFill>
                <a:srgbClr val="FF0000"/>
              </a:solidFill>
            </a:endParaRPr>
          </a:p>
        </p:txBody>
      </p:sp>
      <p:sp>
        <p:nvSpPr>
          <p:cNvPr id="3" name="Slide Number Placeholder 2"/>
          <p:cNvSpPr>
            <a:spLocks noGrp="1"/>
          </p:cNvSpPr>
          <p:nvPr>
            <p:ph type="sldNum" sz="quarter" idx="12"/>
          </p:nvPr>
        </p:nvSpPr>
        <p:spPr/>
        <p:txBody>
          <a:bodyPr/>
          <a:lstStyle/>
          <a:p>
            <a:fld id="{0FA66C70-CE05-4916-AD71-CDCD291485E5}" type="slidenum">
              <a:rPr lang="en-IN" smtClean="0"/>
              <a:t>16</a:t>
            </a:fld>
            <a:endParaRPr lang="en-IN"/>
          </a:p>
        </p:txBody>
      </p:sp>
    </p:spTree>
    <p:extLst>
      <p:ext uri="{BB962C8B-B14F-4D97-AF65-F5344CB8AC3E}">
        <p14:creationId xmlns:p14="http://schemas.microsoft.com/office/powerpoint/2010/main" val="2549344129"/>
      </p:ext>
    </p:extLst>
  </p:cSld>
  <p:clrMapOvr>
    <a:masterClrMapping/>
  </p:clrMapOvr>
  <p:timing>
    <p:tnLst>
      <p:par>
        <p:cTn id="1" dur="indefinite" restart="never" nodeType="tmRoot"/>
      </p:par>
    </p:tnLst>
  </p:timing>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122"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5536" y="733346"/>
            <a:ext cx="8064896" cy="54006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1334696" y="364014"/>
            <a:ext cx="6871928" cy="369332"/>
          </a:xfrm>
          <a:prstGeom prst="rect">
            <a:avLst/>
          </a:prstGeom>
          <a:noFill/>
        </p:spPr>
        <p:txBody>
          <a:bodyPr wrap="square" rtlCol="0">
            <a:spAutoFit/>
          </a:bodyPr>
          <a:lstStyle/>
          <a:p>
            <a:pPr algn="ctr"/>
            <a:r>
              <a:rPr lang="en-IN" b="1" dirty="0" smtClean="0">
                <a:solidFill>
                  <a:srgbClr val="FF0000"/>
                </a:solidFill>
              </a:rPr>
              <a:t>Moving SELECT operation down in the Query Tree</a:t>
            </a:r>
            <a:endParaRPr lang="en-IN" b="1" dirty="0">
              <a:solidFill>
                <a:srgbClr val="FF0000"/>
              </a:solidFill>
            </a:endParaRPr>
          </a:p>
        </p:txBody>
      </p:sp>
      <p:sp>
        <p:nvSpPr>
          <p:cNvPr id="2" name="Slide Number Placeholder 1"/>
          <p:cNvSpPr>
            <a:spLocks noGrp="1"/>
          </p:cNvSpPr>
          <p:nvPr>
            <p:ph type="sldNum" sz="quarter" idx="12"/>
          </p:nvPr>
        </p:nvSpPr>
        <p:spPr/>
        <p:txBody>
          <a:bodyPr/>
          <a:lstStyle/>
          <a:p>
            <a:fld id="{0FA66C70-CE05-4916-AD71-CDCD291485E5}" type="slidenum">
              <a:rPr lang="en-IN" smtClean="0"/>
              <a:t>17</a:t>
            </a:fld>
            <a:endParaRPr lang="en-IN"/>
          </a:p>
        </p:txBody>
      </p:sp>
    </p:spTree>
    <p:extLst>
      <p:ext uri="{BB962C8B-B14F-4D97-AF65-F5344CB8AC3E}">
        <p14:creationId xmlns:p14="http://schemas.microsoft.com/office/powerpoint/2010/main" val="1593917153"/>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614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93440" y="692696"/>
            <a:ext cx="7966992" cy="5184576"/>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1475656" y="75982"/>
            <a:ext cx="6984776" cy="369332"/>
          </a:xfrm>
          <a:prstGeom prst="rect">
            <a:avLst/>
          </a:prstGeom>
          <a:noFill/>
        </p:spPr>
        <p:txBody>
          <a:bodyPr wrap="square" rtlCol="0">
            <a:spAutoFit/>
          </a:bodyPr>
          <a:lstStyle/>
          <a:p>
            <a:pPr algn="ctr"/>
            <a:r>
              <a:rPr lang="en-IN" b="1" dirty="0" smtClean="0">
                <a:solidFill>
                  <a:srgbClr val="FF0000"/>
                </a:solidFill>
              </a:rPr>
              <a:t>Applying more restrictive SELECT operation first</a:t>
            </a:r>
            <a:endParaRPr lang="en-IN" b="1" dirty="0">
              <a:solidFill>
                <a:srgbClr val="FF0000"/>
              </a:solidFill>
            </a:endParaRPr>
          </a:p>
        </p:txBody>
      </p:sp>
      <p:sp>
        <p:nvSpPr>
          <p:cNvPr id="2" name="Slide Number Placeholder 1"/>
          <p:cNvSpPr>
            <a:spLocks noGrp="1"/>
          </p:cNvSpPr>
          <p:nvPr>
            <p:ph type="sldNum" sz="quarter" idx="12"/>
          </p:nvPr>
        </p:nvSpPr>
        <p:spPr/>
        <p:txBody>
          <a:bodyPr/>
          <a:lstStyle/>
          <a:p>
            <a:fld id="{0FA66C70-CE05-4916-AD71-CDCD291485E5}" type="slidenum">
              <a:rPr lang="en-IN" smtClean="0"/>
              <a:t>18</a:t>
            </a:fld>
            <a:endParaRPr lang="en-IN"/>
          </a:p>
        </p:txBody>
      </p:sp>
    </p:spTree>
    <p:extLst>
      <p:ext uri="{BB962C8B-B14F-4D97-AF65-F5344CB8AC3E}">
        <p14:creationId xmlns:p14="http://schemas.microsoft.com/office/powerpoint/2010/main" val="142573550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99592" y="620688"/>
            <a:ext cx="7632848" cy="460851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TextBox 3"/>
          <p:cNvSpPr txBox="1"/>
          <p:nvPr/>
        </p:nvSpPr>
        <p:spPr>
          <a:xfrm>
            <a:off x="1403648" y="247516"/>
            <a:ext cx="7128792" cy="369332"/>
          </a:xfrm>
          <a:prstGeom prst="rect">
            <a:avLst/>
          </a:prstGeom>
          <a:noFill/>
        </p:spPr>
        <p:txBody>
          <a:bodyPr wrap="square" rtlCol="0">
            <a:spAutoFit/>
          </a:bodyPr>
          <a:lstStyle/>
          <a:p>
            <a:pPr algn="ctr"/>
            <a:r>
              <a:rPr lang="en-IN" b="1" dirty="0" smtClean="0">
                <a:solidFill>
                  <a:srgbClr val="FF0000"/>
                </a:solidFill>
              </a:rPr>
              <a:t>Replacing Cartesian Cross Product and Select with JOIN</a:t>
            </a:r>
            <a:endParaRPr lang="en-IN" b="1" dirty="0">
              <a:solidFill>
                <a:srgbClr val="FF0000"/>
              </a:solidFill>
            </a:endParaRPr>
          </a:p>
        </p:txBody>
      </p:sp>
      <p:sp>
        <p:nvSpPr>
          <p:cNvPr id="2" name="Slide Number Placeholder 1"/>
          <p:cNvSpPr>
            <a:spLocks noGrp="1"/>
          </p:cNvSpPr>
          <p:nvPr>
            <p:ph type="sldNum" sz="quarter" idx="12"/>
          </p:nvPr>
        </p:nvSpPr>
        <p:spPr/>
        <p:txBody>
          <a:bodyPr/>
          <a:lstStyle/>
          <a:p>
            <a:fld id="{0FA66C70-CE05-4916-AD71-CDCD291485E5}" type="slidenum">
              <a:rPr lang="en-IN" smtClean="0"/>
              <a:t>19</a:t>
            </a:fld>
            <a:endParaRPr lang="en-IN"/>
          </a:p>
        </p:txBody>
      </p:sp>
    </p:spTree>
    <p:extLst>
      <p:ext uri="{BB962C8B-B14F-4D97-AF65-F5344CB8AC3E}">
        <p14:creationId xmlns:p14="http://schemas.microsoft.com/office/powerpoint/2010/main" val="2106826827"/>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528" y="404664"/>
            <a:ext cx="8098705" cy="537776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2" name="TextBox 1"/>
          <p:cNvSpPr txBox="1"/>
          <p:nvPr/>
        </p:nvSpPr>
        <p:spPr>
          <a:xfrm>
            <a:off x="971600" y="219998"/>
            <a:ext cx="7306617" cy="369332"/>
          </a:xfrm>
          <a:prstGeom prst="rect">
            <a:avLst/>
          </a:prstGeom>
          <a:noFill/>
        </p:spPr>
        <p:txBody>
          <a:bodyPr wrap="square" rtlCol="0">
            <a:spAutoFit/>
          </a:bodyPr>
          <a:lstStyle/>
          <a:p>
            <a:pPr algn="ctr"/>
            <a:r>
              <a:rPr lang="en-IN" b="1" dirty="0" smtClean="0">
                <a:solidFill>
                  <a:srgbClr val="FF0000"/>
                </a:solidFill>
              </a:rPr>
              <a:t>Moving PROJECT operation down the Query Tree</a:t>
            </a:r>
            <a:endParaRPr lang="en-IN" b="1" dirty="0">
              <a:solidFill>
                <a:srgbClr val="FF0000"/>
              </a:solidFill>
            </a:endParaRPr>
          </a:p>
        </p:txBody>
      </p:sp>
      <p:sp>
        <p:nvSpPr>
          <p:cNvPr id="3" name="Slide Number Placeholder 2"/>
          <p:cNvSpPr>
            <a:spLocks noGrp="1"/>
          </p:cNvSpPr>
          <p:nvPr>
            <p:ph type="sldNum" sz="quarter" idx="12"/>
          </p:nvPr>
        </p:nvSpPr>
        <p:spPr/>
        <p:txBody>
          <a:bodyPr/>
          <a:lstStyle/>
          <a:p>
            <a:fld id="{0FA66C70-CE05-4916-AD71-CDCD291485E5}" type="slidenum">
              <a:rPr lang="en-IN" smtClean="0"/>
              <a:t>20</a:t>
            </a:fld>
            <a:endParaRPr lang="en-IN"/>
          </a:p>
        </p:txBody>
      </p:sp>
    </p:spTree>
    <p:extLst>
      <p:ext uri="{BB962C8B-B14F-4D97-AF65-F5344CB8AC3E}">
        <p14:creationId xmlns:p14="http://schemas.microsoft.com/office/powerpoint/2010/main" val="3999467757"/>
      </p:ext>
    </p:extLst>
  </p:cSld>
  <p:clrMapOvr>
    <a:masterClrMapping/>
  </p:clrMapOvr>
  <p:timing>
    <p:tnLst>
      <p:par>
        <p:cTn id="1" dur="indefinite" restart="never" nodeType="tmRoot"/>
      </p:par>
    </p:tnLst>
  </p:timing>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US" dirty="0">
                <a:solidFill>
                  <a:srgbClr val="FF0000"/>
                </a:solidFill>
              </a:rPr>
              <a:t>General Transformation Rules for Relational Algebra Operations</a:t>
            </a:r>
            <a:endParaRPr lang="en-IN" dirty="0">
              <a:solidFill>
                <a:srgbClr val="FF0000"/>
              </a:solidFill>
            </a:endParaRPr>
          </a:p>
        </p:txBody>
      </p:sp>
      <p:sp>
        <p:nvSpPr>
          <p:cNvPr id="3" name="Content Placeholder 2"/>
          <p:cNvSpPr>
            <a:spLocks noGrp="1"/>
          </p:cNvSpPr>
          <p:nvPr>
            <p:ph idx="1"/>
          </p:nvPr>
        </p:nvSpPr>
        <p:spPr/>
        <p:txBody>
          <a:bodyPr>
            <a:normAutofit fontScale="92500"/>
          </a:bodyPr>
          <a:lstStyle/>
          <a:p>
            <a:r>
              <a:rPr lang="en-US" dirty="0"/>
              <a:t>There are many rules for transforming relational algebra operations into equivalent ones. </a:t>
            </a:r>
            <a:endParaRPr lang="en-US" dirty="0" smtClean="0"/>
          </a:p>
          <a:p>
            <a:r>
              <a:rPr lang="en-US" dirty="0" smtClean="0"/>
              <a:t>For </a:t>
            </a:r>
            <a:r>
              <a:rPr lang="en-US" dirty="0"/>
              <a:t>query optimization purposes, we are interested in the meaning of the operations and the resulting relations. </a:t>
            </a:r>
            <a:endParaRPr lang="en-US" dirty="0" smtClean="0"/>
          </a:p>
          <a:p>
            <a:r>
              <a:rPr lang="en-US" dirty="0" smtClean="0"/>
              <a:t>Hence</a:t>
            </a:r>
            <a:r>
              <a:rPr lang="en-US" dirty="0"/>
              <a:t>, if two relations have the same set of attributes in a </a:t>
            </a:r>
            <a:r>
              <a:rPr lang="en-US" i="1" dirty="0"/>
              <a:t>different order</a:t>
            </a:r>
            <a:r>
              <a:rPr lang="en-US" dirty="0"/>
              <a:t> but the two relations represent the same information, we consider the relations to be equivalent.</a:t>
            </a:r>
            <a:endParaRPr lang="en-IN" dirty="0"/>
          </a:p>
        </p:txBody>
      </p:sp>
      <p:sp>
        <p:nvSpPr>
          <p:cNvPr id="4" name="Slide Number Placeholder 3"/>
          <p:cNvSpPr>
            <a:spLocks noGrp="1"/>
          </p:cNvSpPr>
          <p:nvPr>
            <p:ph type="sldNum" sz="quarter" idx="12"/>
          </p:nvPr>
        </p:nvSpPr>
        <p:spPr/>
        <p:txBody>
          <a:bodyPr/>
          <a:lstStyle/>
          <a:p>
            <a:fld id="{0FA66C70-CE05-4916-AD71-CDCD291485E5}" type="slidenum">
              <a:rPr lang="en-IN" smtClean="0"/>
              <a:t>21</a:t>
            </a:fld>
            <a:endParaRPr lang="en-IN"/>
          </a:p>
        </p:txBody>
      </p:sp>
    </p:spTree>
    <p:extLst>
      <p:ext uri="{BB962C8B-B14F-4D97-AF65-F5344CB8AC3E}">
        <p14:creationId xmlns:p14="http://schemas.microsoft.com/office/powerpoint/2010/main" val="3527864811"/>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5536" y="332656"/>
            <a:ext cx="8496944" cy="5970865"/>
          </a:xfrm>
          <a:prstGeom prst="rect">
            <a:avLst/>
          </a:prstGeom>
        </p:spPr>
        <p:txBody>
          <a:bodyPr wrap="square">
            <a:spAutoFit/>
          </a:bodyPr>
          <a:lstStyle/>
          <a:p>
            <a:r>
              <a:rPr lang="en-US" sz="2400" b="1" u="sng" dirty="0">
                <a:solidFill>
                  <a:srgbClr val="FF0000"/>
                </a:solidFill>
              </a:rPr>
              <a:t>General Transformation Rules for Relational Algebra Operations </a:t>
            </a:r>
          </a:p>
          <a:p>
            <a:r>
              <a:rPr lang="en-US" dirty="0">
                <a:latin typeface="Times New Roman" pitchFamily="18" charset="0"/>
                <a:cs typeface="Times New Roman" pitchFamily="18" charset="0"/>
              </a:rPr>
              <a:t>1</a:t>
            </a:r>
            <a:r>
              <a:rPr lang="en-US" sz="2400" dirty="0">
                <a:latin typeface="Times New Roman" pitchFamily="18" charset="0"/>
                <a:cs typeface="Times New Roman" pitchFamily="18" charset="0"/>
              </a:rPr>
              <a:t>. A conjunctive selection condition can be broken up into a </a:t>
            </a:r>
            <a:r>
              <a:rPr lang="en-US" sz="2400" u="sng" dirty="0">
                <a:latin typeface="Times New Roman" pitchFamily="18" charset="0"/>
                <a:cs typeface="Times New Roman" pitchFamily="18" charset="0"/>
              </a:rPr>
              <a:t>cascade of individual σ </a:t>
            </a:r>
            <a:r>
              <a:rPr lang="en-US" sz="2400" dirty="0">
                <a:latin typeface="Times New Roman" pitchFamily="18" charset="0"/>
                <a:cs typeface="Times New Roman" pitchFamily="18" charset="0"/>
              </a:rPr>
              <a:t>operations. </a:t>
            </a:r>
          </a:p>
          <a:p>
            <a:r>
              <a:rPr lang="el-GR" sz="2800" dirty="0" smtClean="0"/>
              <a:t>σ </a:t>
            </a:r>
            <a:r>
              <a:rPr lang="el-GR" sz="2800" dirty="0"/>
              <a:t>c1 AND c2 AND c3 (R) = σ c1 (σ c2 (σ c3 (R))) </a:t>
            </a:r>
          </a:p>
          <a:p>
            <a:endParaRPr lang="en-US" dirty="0" smtClean="0">
              <a:latin typeface="Times New Roman" pitchFamily="18" charset="0"/>
              <a:cs typeface="Times New Roman" pitchFamily="18" charset="0"/>
            </a:endParaRPr>
          </a:p>
          <a:p>
            <a:r>
              <a:rPr lang="en-US" dirty="0" smtClean="0">
                <a:latin typeface="Times New Roman" pitchFamily="18" charset="0"/>
                <a:cs typeface="Times New Roman" pitchFamily="18" charset="0"/>
              </a:rPr>
              <a:t>2</a:t>
            </a:r>
            <a:r>
              <a:rPr lang="en-US" dirty="0">
                <a:latin typeface="Times New Roman" pitchFamily="18" charset="0"/>
                <a:cs typeface="Times New Roman" pitchFamily="18" charset="0"/>
              </a:rPr>
              <a:t>. </a:t>
            </a:r>
            <a:r>
              <a:rPr lang="en-US" sz="2400" u="sng" dirty="0">
                <a:latin typeface="Times New Roman" pitchFamily="18" charset="0"/>
                <a:cs typeface="Times New Roman" pitchFamily="18" charset="0"/>
              </a:rPr>
              <a:t>Commutative of σ </a:t>
            </a:r>
            <a:r>
              <a:rPr lang="en-US" sz="2400" dirty="0">
                <a:latin typeface="Times New Roman" pitchFamily="18" charset="0"/>
                <a:cs typeface="Times New Roman" pitchFamily="18" charset="0"/>
              </a:rPr>
              <a:t>: The σ operator is commutative, </a:t>
            </a:r>
          </a:p>
          <a:p>
            <a:r>
              <a:rPr lang="el-GR" sz="2800" dirty="0" smtClean="0"/>
              <a:t>σ </a:t>
            </a:r>
            <a:r>
              <a:rPr lang="el-GR" sz="2800" dirty="0"/>
              <a:t>c1 (σ c2 (R)) = σ c2 (σ c1 (R)) </a:t>
            </a:r>
          </a:p>
          <a:p>
            <a:endParaRPr lang="en-IN" dirty="0" smtClean="0"/>
          </a:p>
          <a:p>
            <a:r>
              <a:rPr lang="en-IN" dirty="0" smtClean="0">
                <a:latin typeface="Times New Roman" pitchFamily="18" charset="0"/>
                <a:cs typeface="Times New Roman" pitchFamily="18" charset="0"/>
              </a:rPr>
              <a:t>3</a:t>
            </a:r>
            <a:r>
              <a:rPr lang="en-IN" dirty="0">
                <a:latin typeface="Times New Roman" pitchFamily="18" charset="0"/>
                <a:cs typeface="Times New Roman" pitchFamily="18" charset="0"/>
              </a:rPr>
              <a:t>. </a:t>
            </a:r>
            <a:r>
              <a:rPr lang="en-IN" sz="2400" u="sng" dirty="0">
                <a:latin typeface="Times New Roman" pitchFamily="18" charset="0"/>
                <a:cs typeface="Times New Roman" pitchFamily="18" charset="0"/>
              </a:rPr>
              <a:t>Cascade of </a:t>
            </a:r>
            <a:r>
              <a:rPr lang="el-GR" sz="2400" u="sng" dirty="0">
                <a:latin typeface="Times New Roman" pitchFamily="18" charset="0"/>
                <a:cs typeface="Times New Roman" pitchFamily="18" charset="0"/>
              </a:rPr>
              <a:t>Π </a:t>
            </a:r>
          </a:p>
          <a:p>
            <a:r>
              <a:rPr lang="pt-BR" sz="2800" dirty="0" smtClean="0"/>
              <a:t>ΠList1 </a:t>
            </a:r>
            <a:r>
              <a:rPr lang="pt-BR" sz="2800" dirty="0"/>
              <a:t>(ΠList2 ……(ΠListn (R) ) = ΠList1 (R ) </a:t>
            </a:r>
          </a:p>
          <a:p>
            <a:endParaRPr lang="en-US" dirty="0" smtClean="0"/>
          </a:p>
          <a:p>
            <a:r>
              <a:rPr lang="en-US" dirty="0" smtClean="0">
                <a:latin typeface="Times New Roman" pitchFamily="18" charset="0"/>
                <a:cs typeface="Times New Roman" pitchFamily="18" charset="0"/>
              </a:rPr>
              <a:t>4</a:t>
            </a:r>
            <a:r>
              <a:rPr lang="en-US" dirty="0">
                <a:latin typeface="Times New Roman" pitchFamily="18" charset="0"/>
                <a:cs typeface="Times New Roman" pitchFamily="18" charset="0"/>
              </a:rPr>
              <a:t>. </a:t>
            </a:r>
            <a:r>
              <a:rPr lang="en-US" sz="2400" u="sng" dirty="0">
                <a:latin typeface="Times New Roman" pitchFamily="18" charset="0"/>
                <a:cs typeface="Times New Roman" pitchFamily="18" charset="0"/>
              </a:rPr>
              <a:t>Commuting σ with Π </a:t>
            </a:r>
            <a:r>
              <a:rPr lang="en-US" sz="2400" dirty="0">
                <a:latin typeface="Times New Roman" pitchFamily="18" charset="0"/>
                <a:cs typeface="Times New Roman" pitchFamily="18" charset="0"/>
              </a:rPr>
              <a:t>If the selection condition c involves only those attributes A1, A2, …An in the projection list, the two operators can be commuted </a:t>
            </a:r>
          </a:p>
          <a:p>
            <a:endParaRPr lang="en-IN" sz="2400" dirty="0"/>
          </a:p>
          <a:p>
            <a:r>
              <a:rPr lang="pt-BR" sz="2800" dirty="0"/>
              <a:t>Π&lt;A1, A2, …An&gt; (σ (R) ) = σ ( Π&lt;A1, A2, …An&gt; (R) ) </a:t>
            </a:r>
          </a:p>
        </p:txBody>
      </p:sp>
      <p:sp>
        <p:nvSpPr>
          <p:cNvPr id="3" name="Slide Number Placeholder 2"/>
          <p:cNvSpPr>
            <a:spLocks noGrp="1"/>
          </p:cNvSpPr>
          <p:nvPr>
            <p:ph type="sldNum" sz="quarter" idx="12"/>
          </p:nvPr>
        </p:nvSpPr>
        <p:spPr/>
        <p:txBody>
          <a:bodyPr/>
          <a:lstStyle/>
          <a:p>
            <a:fld id="{0FA66C70-CE05-4916-AD71-CDCD291485E5}" type="slidenum">
              <a:rPr lang="en-IN" smtClean="0"/>
              <a:t>22</a:t>
            </a:fld>
            <a:endParaRPr lang="en-IN"/>
          </a:p>
        </p:txBody>
      </p:sp>
    </p:spTree>
    <p:extLst>
      <p:ext uri="{BB962C8B-B14F-4D97-AF65-F5344CB8AC3E}">
        <p14:creationId xmlns:p14="http://schemas.microsoft.com/office/powerpoint/2010/main" val="1269944037"/>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412454" y="180022"/>
            <a:ext cx="7128792" cy="3139321"/>
          </a:xfrm>
          <a:prstGeom prst="rect">
            <a:avLst/>
          </a:prstGeom>
        </p:spPr>
        <p:txBody>
          <a:bodyPr wrap="square">
            <a:spAutoFit/>
          </a:bodyPr>
          <a:lstStyle/>
          <a:p>
            <a:endParaRPr lang="en-IN" dirty="0"/>
          </a:p>
          <a:p>
            <a:r>
              <a:rPr lang="en-US" sz="2000" u="sng" dirty="0"/>
              <a:t>5. </a:t>
            </a:r>
            <a:r>
              <a:rPr lang="en-US" sz="2000" u="sng" dirty="0" err="1"/>
              <a:t>Commutativity</a:t>
            </a:r>
            <a:r>
              <a:rPr lang="en-US" sz="2000" u="sng" dirty="0"/>
              <a:t> </a:t>
            </a:r>
            <a:r>
              <a:rPr lang="en-US" sz="2000" u="sng" dirty="0" smtClean="0"/>
              <a:t>of       and </a:t>
            </a:r>
            <a:r>
              <a:rPr lang="en-US" sz="2000" u="sng" dirty="0"/>
              <a:t>X </a:t>
            </a:r>
          </a:p>
          <a:p>
            <a:r>
              <a:rPr lang="en-IN" sz="2000" dirty="0"/>
              <a:t>R </a:t>
            </a:r>
            <a:r>
              <a:rPr lang="en-IN" sz="2000" dirty="0" smtClean="0"/>
              <a:t>     S </a:t>
            </a:r>
            <a:r>
              <a:rPr lang="en-IN" sz="2000" dirty="0"/>
              <a:t>= </a:t>
            </a:r>
            <a:r>
              <a:rPr lang="en-IN" sz="2000" dirty="0" smtClean="0"/>
              <a:t>S       </a:t>
            </a:r>
            <a:r>
              <a:rPr lang="en-IN" sz="2000" dirty="0"/>
              <a:t>R </a:t>
            </a:r>
          </a:p>
          <a:p>
            <a:r>
              <a:rPr lang="pt-BR" sz="2000" dirty="0"/>
              <a:t>R X S = S X R </a:t>
            </a:r>
            <a:endParaRPr lang="pt-BR" sz="2000" dirty="0" smtClean="0"/>
          </a:p>
          <a:p>
            <a:endParaRPr lang="pt-BR" sz="2000" dirty="0"/>
          </a:p>
          <a:p>
            <a:r>
              <a:rPr lang="en-US" sz="2000" u="sng" dirty="0"/>
              <a:t>6. Commuting σ c with </a:t>
            </a:r>
          </a:p>
          <a:p>
            <a:endParaRPr lang="en-IN" sz="2000" u="sng" dirty="0"/>
          </a:p>
          <a:p>
            <a:r>
              <a:rPr lang="en-US" sz="2000" dirty="0"/>
              <a:t>If the attributes in the selection condition c involve only the attributes of the one of the relation being joined then </a:t>
            </a:r>
          </a:p>
          <a:p>
            <a:r>
              <a:rPr lang="pt-BR" sz="2000" dirty="0"/>
              <a:t>σ </a:t>
            </a:r>
            <a:r>
              <a:rPr lang="pt-BR" sz="2000" baseline="-25000" dirty="0"/>
              <a:t>c </a:t>
            </a:r>
            <a:r>
              <a:rPr lang="pt-BR" sz="2000" dirty="0"/>
              <a:t>( </a:t>
            </a:r>
            <a:r>
              <a:rPr lang="pt-BR" sz="2000" dirty="0" smtClean="0"/>
              <a:t>R     </a:t>
            </a:r>
            <a:r>
              <a:rPr lang="pt-BR" sz="2000" dirty="0"/>
              <a:t>S) = (σ </a:t>
            </a:r>
            <a:r>
              <a:rPr lang="pt-BR" sz="2000" baseline="-25000" dirty="0"/>
              <a:t>c </a:t>
            </a:r>
            <a:r>
              <a:rPr lang="pt-BR" sz="2000" dirty="0"/>
              <a:t>( R ) </a:t>
            </a:r>
            <a:r>
              <a:rPr lang="pt-BR" sz="2000" dirty="0" smtClean="0"/>
              <a:t>)     </a:t>
            </a:r>
            <a:r>
              <a:rPr lang="pt-BR" sz="2000" dirty="0"/>
              <a:t>S </a:t>
            </a:r>
            <a:endParaRPr lang="en-IN" sz="2000" dirty="0"/>
          </a:p>
        </p:txBody>
      </p:sp>
      <p:pic>
        <p:nvPicPr>
          <p:cNvPr id="1026"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96320" y="759807"/>
            <a:ext cx="622300" cy="493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414696" y="723176"/>
            <a:ext cx="622300" cy="493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83768" y="404664"/>
            <a:ext cx="622300" cy="493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7"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976850" y="5805264"/>
            <a:ext cx="622300" cy="493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8"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27784" y="2852936"/>
            <a:ext cx="622300" cy="493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9"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030868" y="2863749"/>
            <a:ext cx="622300" cy="493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0"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38116" y="5805264"/>
            <a:ext cx="622300" cy="493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1"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94918" y="4022537"/>
            <a:ext cx="622300" cy="493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3" name="Rectangle 2"/>
          <p:cNvSpPr/>
          <p:nvPr/>
        </p:nvSpPr>
        <p:spPr>
          <a:xfrm>
            <a:off x="251125" y="3396823"/>
            <a:ext cx="8696050" cy="2862322"/>
          </a:xfrm>
          <a:prstGeom prst="rect">
            <a:avLst/>
          </a:prstGeom>
        </p:spPr>
        <p:txBody>
          <a:bodyPr wrap="square">
            <a:spAutoFit/>
          </a:bodyPr>
          <a:lstStyle/>
          <a:p>
            <a:r>
              <a:rPr lang="en-US" sz="2000" dirty="0"/>
              <a:t>if the selection condition c is c1 AND c2, c1 involves only attributes in R and c2 involves only attributes in S then </a:t>
            </a:r>
          </a:p>
          <a:p>
            <a:r>
              <a:rPr lang="pt-BR" sz="2000" dirty="0"/>
              <a:t>σ </a:t>
            </a:r>
            <a:r>
              <a:rPr lang="pt-BR" sz="2000" baseline="-25000" dirty="0"/>
              <a:t>c </a:t>
            </a:r>
            <a:r>
              <a:rPr lang="pt-BR" sz="2000" dirty="0"/>
              <a:t>( </a:t>
            </a:r>
            <a:r>
              <a:rPr lang="pt-BR" sz="2000" dirty="0" smtClean="0"/>
              <a:t>R       S</a:t>
            </a:r>
            <a:r>
              <a:rPr lang="pt-BR" sz="2000" dirty="0"/>
              <a:t>) = (σ</a:t>
            </a:r>
            <a:r>
              <a:rPr lang="pt-BR" sz="2000" baseline="-25000" dirty="0"/>
              <a:t> c1 </a:t>
            </a:r>
            <a:r>
              <a:rPr lang="pt-BR" sz="2000" dirty="0"/>
              <a:t>( R </a:t>
            </a:r>
            <a:r>
              <a:rPr lang="pt-BR" sz="2000" dirty="0" smtClean="0"/>
              <a:t>))       </a:t>
            </a:r>
            <a:r>
              <a:rPr lang="pt-BR" sz="2000" dirty="0" smtClean="0"/>
              <a:t>  (</a:t>
            </a:r>
            <a:r>
              <a:rPr lang="pt-BR" sz="2000" dirty="0"/>
              <a:t>σ </a:t>
            </a:r>
            <a:r>
              <a:rPr lang="pt-BR" sz="2000" baseline="-25000" dirty="0"/>
              <a:t>c2 </a:t>
            </a:r>
            <a:r>
              <a:rPr lang="pt-BR" sz="2000" dirty="0"/>
              <a:t>( S )) </a:t>
            </a:r>
            <a:endParaRPr lang="pt-BR" sz="2000" dirty="0" smtClean="0"/>
          </a:p>
          <a:p>
            <a:endParaRPr lang="pt-BR" sz="2000" dirty="0"/>
          </a:p>
          <a:p>
            <a:r>
              <a:rPr lang="en-IN" sz="2000" u="sng" dirty="0"/>
              <a:t>7. Commuting </a:t>
            </a:r>
            <a:r>
              <a:rPr lang="el-GR" sz="2000" u="sng" dirty="0"/>
              <a:t>Π </a:t>
            </a:r>
            <a:r>
              <a:rPr lang="en-IN" sz="2000" u="sng" dirty="0"/>
              <a:t>with </a:t>
            </a:r>
          </a:p>
          <a:p>
            <a:r>
              <a:rPr lang="en-US" sz="2000" dirty="0" smtClean="0"/>
              <a:t>Suppose </a:t>
            </a:r>
            <a:r>
              <a:rPr lang="en-US" sz="2000" dirty="0"/>
              <a:t>L = (A1, A2, …,An, B1, B2, ..</a:t>
            </a:r>
            <a:r>
              <a:rPr lang="en-US" sz="2000" dirty="0" err="1"/>
              <a:t>Bn</a:t>
            </a:r>
            <a:r>
              <a:rPr lang="en-US" sz="2000" dirty="0"/>
              <a:t>) where </a:t>
            </a:r>
            <a:r>
              <a:rPr lang="en-US" sz="2000" dirty="0" smtClean="0"/>
              <a:t>(</a:t>
            </a:r>
            <a:r>
              <a:rPr lang="en-US" sz="2000" dirty="0"/>
              <a:t>A1, A2, …, An) are attributes of R </a:t>
            </a:r>
          </a:p>
          <a:p>
            <a:r>
              <a:rPr lang="en-US" sz="2000" dirty="0"/>
              <a:t>(B1, B2, …, </a:t>
            </a:r>
            <a:r>
              <a:rPr lang="en-US" sz="2000" dirty="0" err="1"/>
              <a:t>Bn</a:t>
            </a:r>
            <a:r>
              <a:rPr lang="en-US" sz="2000" dirty="0"/>
              <a:t>) are attributes of S, </a:t>
            </a:r>
          </a:p>
          <a:p>
            <a:r>
              <a:rPr lang="en-US" sz="2000" dirty="0"/>
              <a:t>If the join condition only involves attributes in L, then </a:t>
            </a:r>
          </a:p>
          <a:p>
            <a:r>
              <a:rPr lang="pt-BR" sz="2000" dirty="0"/>
              <a:t>Π</a:t>
            </a:r>
            <a:r>
              <a:rPr lang="pt-BR" sz="2000" baseline="-25000" dirty="0"/>
              <a:t>L</a:t>
            </a:r>
            <a:r>
              <a:rPr lang="pt-BR" sz="2000" dirty="0"/>
              <a:t> (R </a:t>
            </a:r>
            <a:r>
              <a:rPr lang="pt-BR" sz="2000" dirty="0" smtClean="0"/>
              <a:t>     </a:t>
            </a:r>
            <a:r>
              <a:rPr lang="pt-BR" sz="2000" baseline="-25000" dirty="0" smtClean="0"/>
              <a:t>c </a:t>
            </a:r>
            <a:r>
              <a:rPr lang="pt-BR" sz="2000" dirty="0"/>
              <a:t>S ) = ( Π&lt;A1, A2, …An&gt; (R) ) </a:t>
            </a:r>
            <a:r>
              <a:rPr lang="pt-BR" sz="2000" dirty="0" smtClean="0"/>
              <a:t>     ( </a:t>
            </a:r>
            <a:r>
              <a:rPr lang="pt-BR" sz="2000" dirty="0"/>
              <a:t>Π&lt;B1, B2, …Bn&gt; (S) ) </a:t>
            </a:r>
          </a:p>
        </p:txBody>
      </p:sp>
      <p:pic>
        <p:nvPicPr>
          <p:cNvPr id="14"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81548" y="4581128"/>
            <a:ext cx="622300" cy="493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1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907470" y="4005064"/>
            <a:ext cx="622300" cy="493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13" name="Slide Number Placeholder 12"/>
          <p:cNvSpPr>
            <a:spLocks noGrp="1"/>
          </p:cNvSpPr>
          <p:nvPr>
            <p:ph type="sldNum" sz="quarter" idx="12"/>
          </p:nvPr>
        </p:nvSpPr>
        <p:spPr/>
        <p:txBody>
          <a:bodyPr/>
          <a:lstStyle/>
          <a:p>
            <a:fld id="{0FA66C70-CE05-4916-AD71-CDCD291485E5}" type="slidenum">
              <a:rPr lang="en-IN" smtClean="0"/>
              <a:t>23</a:t>
            </a:fld>
            <a:endParaRPr lang="en-IN"/>
          </a:p>
        </p:txBody>
      </p:sp>
    </p:spTree>
    <p:extLst>
      <p:ext uri="{BB962C8B-B14F-4D97-AF65-F5344CB8AC3E}">
        <p14:creationId xmlns:p14="http://schemas.microsoft.com/office/powerpoint/2010/main" val="3252453509"/>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755576" y="332656"/>
            <a:ext cx="8064896" cy="5693866"/>
          </a:xfrm>
          <a:prstGeom prst="rect">
            <a:avLst/>
          </a:prstGeom>
        </p:spPr>
        <p:txBody>
          <a:bodyPr wrap="square">
            <a:spAutoFit/>
          </a:bodyPr>
          <a:lstStyle/>
          <a:p>
            <a:endParaRPr lang="en-IN" sz="2800" dirty="0"/>
          </a:p>
          <a:p>
            <a:r>
              <a:rPr lang="en-US" sz="2800" dirty="0"/>
              <a:t>8</a:t>
            </a:r>
            <a:r>
              <a:rPr lang="en-US" sz="2800" u="sng" dirty="0"/>
              <a:t>. </a:t>
            </a:r>
            <a:r>
              <a:rPr lang="en-US" sz="2800" u="sng" dirty="0" err="1"/>
              <a:t>Commutativity</a:t>
            </a:r>
            <a:r>
              <a:rPr lang="en-US" sz="2800" u="sng" dirty="0"/>
              <a:t> of set operations</a:t>
            </a:r>
            <a:r>
              <a:rPr lang="en-US" sz="2800" dirty="0"/>
              <a:t>. The set operations union and intersection is commutative but difference is not </a:t>
            </a:r>
          </a:p>
          <a:p>
            <a:endParaRPr lang="en-IN" sz="2800" dirty="0"/>
          </a:p>
          <a:p>
            <a:r>
              <a:rPr lang="en-US" sz="2800" dirty="0"/>
              <a:t>9. </a:t>
            </a:r>
            <a:r>
              <a:rPr lang="en-US" sz="2800" u="sng" dirty="0"/>
              <a:t>Associativity of JOIN</a:t>
            </a:r>
            <a:r>
              <a:rPr lang="en-US" sz="2800" dirty="0"/>
              <a:t>, X, Union and Intersection: These are individually associative </a:t>
            </a:r>
          </a:p>
          <a:p>
            <a:r>
              <a:rPr lang="pt-BR" sz="2800" dirty="0"/>
              <a:t>(R φ S ) φ T = R φ (S φ T) </a:t>
            </a:r>
            <a:endParaRPr lang="pt-BR" sz="2800" dirty="0" smtClean="0"/>
          </a:p>
          <a:p>
            <a:endParaRPr lang="pt-BR" sz="2800" dirty="0"/>
          </a:p>
          <a:p>
            <a:r>
              <a:rPr lang="en-US" sz="2800" dirty="0"/>
              <a:t>10. </a:t>
            </a:r>
            <a:r>
              <a:rPr lang="en-US" sz="2800" u="sng" dirty="0"/>
              <a:t>Commuting selection with set operations</a:t>
            </a:r>
            <a:r>
              <a:rPr lang="en-US" sz="2800" dirty="0"/>
              <a:t>: the σ operation commutes with union and intersection </a:t>
            </a:r>
          </a:p>
          <a:p>
            <a:endParaRPr lang="en-IN" sz="2800" dirty="0"/>
          </a:p>
          <a:p>
            <a:r>
              <a:rPr lang="pt-BR" sz="2800" dirty="0"/>
              <a:t>σ (R φ S ) = (σ (R)) φ (σ (S)) </a:t>
            </a:r>
          </a:p>
        </p:txBody>
      </p:sp>
      <p:sp>
        <p:nvSpPr>
          <p:cNvPr id="3" name="Slide Number Placeholder 2"/>
          <p:cNvSpPr>
            <a:spLocks noGrp="1"/>
          </p:cNvSpPr>
          <p:nvPr>
            <p:ph type="sldNum" sz="quarter" idx="12"/>
          </p:nvPr>
        </p:nvSpPr>
        <p:spPr/>
        <p:txBody>
          <a:bodyPr/>
          <a:lstStyle/>
          <a:p>
            <a:fld id="{0FA66C70-CE05-4916-AD71-CDCD291485E5}" type="slidenum">
              <a:rPr lang="en-IN" smtClean="0"/>
              <a:t>24</a:t>
            </a:fld>
            <a:endParaRPr lang="en-IN"/>
          </a:p>
        </p:txBody>
      </p:sp>
    </p:spTree>
    <p:extLst>
      <p:ext uri="{BB962C8B-B14F-4D97-AF65-F5344CB8AC3E}">
        <p14:creationId xmlns:p14="http://schemas.microsoft.com/office/powerpoint/2010/main" val="1773393538"/>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5536" y="-138301"/>
            <a:ext cx="4572000" cy="830997"/>
          </a:xfrm>
          <a:prstGeom prst="rect">
            <a:avLst/>
          </a:prstGeom>
        </p:spPr>
        <p:txBody>
          <a:bodyPr>
            <a:spAutoFit/>
          </a:bodyPr>
          <a:lstStyle/>
          <a:p>
            <a:endParaRPr lang="en-IN" sz="2400" dirty="0"/>
          </a:p>
          <a:p>
            <a:r>
              <a:rPr lang="en-US" sz="2400" dirty="0"/>
              <a:t>11. The Π commutes with union </a:t>
            </a:r>
          </a:p>
        </p:txBody>
      </p:sp>
      <p:sp>
        <p:nvSpPr>
          <p:cNvPr id="3" name="Rectangle 2"/>
          <p:cNvSpPr/>
          <p:nvPr/>
        </p:nvSpPr>
        <p:spPr>
          <a:xfrm>
            <a:off x="395536" y="739973"/>
            <a:ext cx="8568952" cy="5632311"/>
          </a:xfrm>
          <a:prstGeom prst="rect">
            <a:avLst/>
          </a:prstGeom>
        </p:spPr>
        <p:txBody>
          <a:bodyPr wrap="square">
            <a:spAutoFit/>
          </a:bodyPr>
          <a:lstStyle/>
          <a:p>
            <a:r>
              <a:rPr lang="pt-BR" sz="2400" dirty="0"/>
              <a:t>ΠL (R U S ) = ( ΠL (R) ) U ( ΠL (S) ) </a:t>
            </a:r>
            <a:endParaRPr lang="pt-BR" sz="2400" dirty="0" smtClean="0"/>
          </a:p>
          <a:p>
            <a:endParaRPr lang="pt-BR" sz="2400" dirty="0"/>
          </a:p>
          <a:p>
            <a:r>
              <a:rPr lang="en-US" sz="2400" dirty="0"/>
              <a:t>12. Converting a σ and X sequence into a JOIN </a:t>
            </a:r>
          </a:p>
          <a:p>
            <a:r>
              <a:rPr lang="pt-BR" sz="2400" dirty="0" smtClean="0"/>
              <a:t>σ</a:t>
            </a:r>
            <a:r>
              <a:rPr lang="pt-BR" sz="2400" baseline="-25000" dirty="0" smtClean="0"/>
              <a:t>c</a:t>
            </a:r>
            <a:r>
              <a:rPr lang="pt-BR" sz="2400" dirty="0" smtClean="0"/>
              <a:t> (R X S) = (R    </a:t>
            </a:r>
            <a:r>
              <a:rPr lang="pt-BR" sz="2400" baseline="-25000" dirty="0" smtClean="0"/>
              <a:t>c</a:t>
            </a:r>
            <a:r>
              <a:rPr lang="pt-BR" sz="2400" dirty="0" smtClean="0"/>
              <a:t> S) </a:t>
            </a:r>
          </a:p>
          <a:p>
            <a:endParaRPr lang="en-US" sz="2400" dirty="0" smtClean="0"/>
          </a:p>
          <a:p>
            <a:r>
              <a:rPr lang="en-US" sz="2400" dirty="0" smtClean="0"/>
              <a:t>13</a:t>
            </a:r>
            <a:r>
              <a:rPr lang="en-US" sz="2400" dirty="0"/>
              <a:t>. Pushing σ in conjunction with set difference </a:t>
            </a:r>
          </a:p>
          <a:p>
            <a:r>
              <a:rPr lang="pt-BR" sz="2400" dirty="0" smtClean="0"/>
              <a:t>σ</a:t>
            </a:r>
            <a:r>
              <a:rPr lang="pt-BR" sz="2400" baseline="-25000" dirty="0" smtClean="0"/>
              <a:t>c</a:t>
            </a:r>
            <a:r>
              <a:rPr lang="pt-BR" sz="2400" dirty="0" smtClean="0"/>
              <a:t> </a:t>
            </a:r>
            <a:r>
              <a:rPr lang="pt-BR" sz="2400" dirty="0"/>
              <a:t>(R - S) = σ</a:t>
            </a:r>
            <a:r>
              <a:rPr lang="pt-BR" sz="2400" baseline="-25000" dirty="0"/>
              <a:t>c</a:t>
            </a:r>
            <a:r>
              <a:rPr lang="pt-BR" sz="2400" dirty="0"/>
              <a:t> (R ) - σ</a:t>
            </a:r>
            <a:r>
              <a:rPr lang="pt-BR" sz="2400" baseline="-25000" dirty="0"/>
              <a:t>c </a:t>
            </a:r>
            <a:r>
              <a:rPr lang="pt-BR" sz="2400" dirty="0"/>
              <a:t>(S) </a:t>
            </a:r>
          </a:p>
          <a:p>
            <a:r>
              <a:rPr lang="en-US" sz="2400" dirty="0"/>
              <a:t>However, selection may be applied to </a:t>
            </a:r>
            <a:r>
              <a:rPr lang="en-US" sz="2400" u="sng" dirty="0"/>
              <a:t>only one relation</a:t>
            </a:r>
            <a:r>
              <a:rPr lang="en-US" sz="2400" dirty="0"/>
              <a:t>. </a:t>
            </a:r>
          </a:p>
          <a:p>
            <a:r>
              <a:rPr lang="pt-BR" sz="2400" dirty="0"/>
              <a:t>σ</a:t>
            </a:r>
            <a:r>
              <a:rPr lang="pt-BR" sz="2400" baseline="-25000" dirty="0"/>
              <a:t>c </a:t>
            </a:r>
            <a:r>
              <a:rPr lang="pt-BR" sz="2400" dirty="0"/>
              <a:t>(R - S) = σ</a:t>
            </a:r>
            <a:r>
              <a:rPr lang="pt-BR" sz="2400" baseline="-25000" dirty="0"/>
              <a:t>c</a:t>
            </a:r>
            <a:r>
              <a:rPr lang="pt-BR" sz="2400" dirty="0"/>
              <a:t> (R ) - S </a:t>
            </a:r>
          </a:p>
          <a:p>
            <a:endParaRPr lang="en-US" sz="2400" dirty="0" smtClean="0"/>
          </a:p>
          <a:p>
            <a:r>
              <a:rPr lang="en-US" sz="2400" dirty="0" smtClean="0"/>
              <a:t>14</a:t>
            </a:r>
            <a:r>
              <a:rPr lang="en-US" sz="2400" dirty="0"/>
              <a:t>. Pushing σ to only one argument in ῃ </a:t>
            </a:r>
          </a:p>
          <a:p>
            <a:r>
              <a:rPr lang="en-US" sz="2400" dirty="0" smtClean="0"/>
              <a:t>If </a:t>
            </a:r>
            <a:r>
              <a:rPr lang="en-US" sz="2400" dirty="0"/>
              <a:t>in the condition </a:t>
            </a:r>
            <a:r>
              <a:rPr lang="en-US" sz="2400" dirty="0" err="1"/>
              <a:t>σc</a:t>
            </a:r>
            <a:r>
              <a:rPr lang="en-US" sz="2400" dirty="0"/>
              <a:t> all attributes are from relation R, then </a:t>
            </a:r>
          </a:p>
          <a:p>
            <a:r>
              <a:rPr lang="pt-BR" sz="2400" dirty="0"/>
              <a:t>σ</a:t>
            </a:r>
            <a:r>
              <a:rPr lang="pt-BR" sz="2400" baseline="-25000" dirty="0"/>
              <a:t>c</a:t>
            </a:r>
            <a:r>
              <a:rPr lang="pt-BR" sz="2400" dirty="0"/>
              <a:t> (R ῃ S) = σ</a:t>
            </a:r>
            <a:r>
              <a:rPr lang="pt-BR" sz="2400" baseline="-25000" dirty="0"/>
              <a:t>c</a:t>
            </a:r>
            <a:r>
              <a:rPr lang="pt-BR" sz="2400" dirty="0"/>
              <a:t> (R ) ῃ S </a:t>
            </a:r>
          </a:p>
          <a:p>
            <a:endParaRPr lang="en-US" sz="2400" dirty="0" smtClean="0"/>
          </a:p>
          <a:p>
            <a:r>
              <a:rPr lang="en-US" sz="2400" dirty="0" smtClean="0"/>
              <a:t>15</a:t>
            </a:r>
            <a:r>
              <a:rPr lang="en-US" sz="2400" dirty="0"/>
              <a:t>. If S is empty, RUS = R </a:t>
            </a:r>
          </a:p>
        </p:txBody>
      </p:sp>
      <p:pic>
        <p:nvPicPr>
          <p:cNvPr id="5" name="Picture 2"/>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077492" y="1844824"/>
            <a:ext cx="622300" cy="493713"/>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sp>
        <p:nvSpPr>
          <p:cNvPr id="4" name="Slide Number Placeholder 3"/>
          <p:cNvSpPr>
            <a:spLocks noGrp="1"/>
          </p:cNvSpPr>
          <p:nvPr>
            <p:ph type="sldNum" sz="quarter" idx="12"/>
          </p:nvPr>
        </p:nvSpPr>
        <p:spPr/>
        <p:txBody>
          <a:bodyPr/>
          <a:lstStyle/>
          <a:p>
            <a:fld id="{0FA66C70-CE05-4916-AD71-CDCD291485E5}" type="slidenum">
              <a:rPr lang="en-IN" smtClean="0"/>
              <a:t>25</a:t>
            </a:fld>
            <a:endParaRPr lang="en-IN"/>
          </a:p>
        </p:txBody>
      </p:sp>
    </p:spTree>
    <p:extLst>
      <p:ext uri="{BB962C8B-B14F-4D97-AF65-F5344CB8AC3E}">
        <p14:creationId xmlns:p14="http://schemas.microsoft.com/office/powerpoint/2010/main" val="570375835"/>
      </p:ext>
    </p:extLst>
  </p:cSld>
  <p:clrMapOvr>
    <a:masterClrMapping/>
  </p:clrMapOvr>
  <p:timing>
    <p:tnLst>
      <p:par>
        <p:cTn id="1" dur="indefinite" restart="never" nodeType="tmRoot"/>
      </p:par>
    </p:tnLst>
  </p:timing>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Rectangle 1"/>
          <p:cNvSpPr/>
          <p:nvPr/>
        </p:nvSpPr>
        <p:spPr>
          <a:xfrm>
            <a:off x="395536" y="260648"/>
            <a:ext cx="8172400" cy="5632311"/>
          </a:xfrm>
          <a:prstGeom prst="rect">
            <a:avLst/>
          </a:prstGeom>
        </p:spPr>
        <p:txBody>
          <a:bodyPr wrap="square">
            <a:spAutoFit/>
          </a:bodyPr>
          <a:lstStyle/>
          <a:p>
            <a:r>
              <a:rPr lang="en-US" sz="2400" b="1" dirty="0">
                <a:solidFill>
                  <a:srgbClr val="FF0000"/>
                </a:solidFill>
              </a:rPr>
              <a:t>Outline of a heuristic optimization algorithm </a:t>
            </a:r>
          </a:p>
          <a:p>
            <a:r>
              <a:rPr lang="en-US" sz="2400" dirty="0"/>
              <a:t>1. Using rule 1, break up the </a:t>
            </a:r>
            <a:r>
              <a:rPr lang="en-US" sz="2400" b="1" dirty="0"/>
              <a:t>select operation</a:t>
            </a:r>
            <a:r>
              <a:rPr lang="en-US" sz="2400" dirty="0"/>
              <a:t>, this will allow </a:t>
            </a:r>
            <a:r>
              <a:rPr lang="en-US" sz="2400" b="1" dirty="0"/>
              <a:t>moving selection down </a:t>
            </a:r>
            <a:r>
              <a:rPr lang="en-US" sz="2400" dirty="0"/>
              <a:t>the tree at different branches </a:t>
            </a:r>
          </a:p>
          <a:p>
            <a:r>
              <a:rPr lang="en-US" sz="2400" dirty="0"/>
              <a:t>2. Using rules 2, 4, 6, 10, 13, 14 move each </a:t>
            </a:r>
            <a:r>
              <a:rPr lang="en-US" sz="2400" b="1" dirty="0"/>
              <a:t>select operation as far down </a:t>
            </a:r>
            <a:r>
              <a:rPr lang="en-US" sz="2400" dirty="0"/>
              <a:t>the query tree as is permitted by the attributes </a:t>
            </a:r>
          </a:p>
          <a:p>
            <a:r>
              <a:rPr lang="en-US" sz="2400" dirty="0"/>
              <a:t>3. Using rule 5 and 9, </a:t>
            </a:r>
            <a:r>
              <a:rPr lang="en-US" sz="2400" b="1" dirty="0"/>
              <a:t>rearrange the leaf nodes </a:t>
            </a:r>
          </a:p>
          <a:p>
            <a:r>
              <a:rPr lang="en-US" sz="2400" dirty="0"/>
              <a:t>4. Using rule 12</a:t>
            </a:r>
            <a:r>
              <a:rPr lang="en-US" sz="2400" b="1" dirty="0"/>
              <a:t>, combine X with a selection and JOIN </a:t>
            </a:r>
          </a:p>
          <a:p>
            <a:r>
              <a:rPr lang="en-US" sz="2400" dirty="0"/>
              <a:t>5. Using rule 3, 4, 7, 11 </a:t>
            </a:r>
            <a:r>
              <a:rPr lang="en-US" sz="2400" b="1" dirty="0"/>
              <a:t>cascading of projection</a:t>
            </a:r>
            <a:r>
              <a:rPr lang="en-US" sz="2400" dirty="0"/>
              <a:t>, breakdown and move down the tree </a:t>
            </a:r>
          </a:p>
          <a:p>
            <a:r>
              <a:rPr lang="en-US" sz="2400" dirty="0"/>
              <a:t>6. Reduce the size of intermediate results; perform </a:t>
            </a:r>
            <a:r>
              <a:rPr lang="en-US" sz="2400" b="1" dirty="0"/>
              <a:t>selection as early as possible </a:t>
            </a:r>
          </a:p>
          <a:p>
            <a:r>
              <a:rPr lang="en-US" sz="2400" dirty="0"/>
              <a:t>7. Use </a:t>
            </a:r>
            <a:r>
              <a:rPr lang="en-US" sz="2400" b="1" dirty="0"/>
              <a:t>projection attributes as early as possible</a:t>
            </a:r>
            <a:r>
              <a:rPr lang="en-US" sz="2400" dirty="0"/>
              <a:t> to reduce number of attributes </a:t>
            </a:r>
          </a:p>
          <a:p>
            <a:r>
              <a:rPr lang="en-US" sz="2400" dirty="0"/>
              <a:t>8. Execute </a:t>
            </a:r>
            <a:r>
              <a:rPr lang="en-US" sz="2400" b="1" dirty="0"/>
              <a:t>select and join</a:t>
            </a:r>
            <a:r>
              <a:rPr lang="en-US" sz="2400" dirty="0"/>
              <a:t> operations that are more restrictive or result in less tuples </a:t>
            </a:r>
          </a:p>
        </p:txBody>
      </p:sp>
      <p:sp>
        <p:nvSpPr>
          <p:cNvPr id="3" name="Slide Number Placeholder 2"/>
          <p:cNvSpPr>
            <a:spLocks noGrp="1"/>
          </p:cNvSpPr>
          <p:nvPr>
            <p:ph type="sldNum" sz="quarter" idx="12"/>
          </p:nvPr>
        </p:nvSpPr>
        <p:spPr/>
        <p:txBody>
          <a:bodyPr/>
          <a:lstStyle/>
          <a:p>
            <a:fld id="{0FA66C70-CE05-4916-AD71-CDCD291485E5}" type="slidenum">
              <a:rPr lang="en-IN" smtClean="0"/>
              <a:t>26</a:t>
            </a:fld>
            <a:endParaRPr lang="en-IN"/>
          </a:p>
        </p:txBody>
      </p:sp>
    </p:spTree>
    <p:extLst>
      <p:ext uri="{BB962C8B-B14F-4D97-AF65-F5344CB8AC3E}">
        <p14:creationId xmlns:p14="http://schemas.microsoft.com/office/powerpoint/2010/main" val="3368787763"/>
      </p:ext>
    </p:extLst>
  </p:cSld>
  <p:clrMapOvr>
    <a:masterClrMapping/>
  </p:clrMapOvr>
  <p:timing>
    <p:tnLst>
      <p:par>
        <p:cTn id="1" dur="indefinite" restart="never" nodeType="tmRoot"/>
      </p:par>
    </p:tnLst>
  </p:timing>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43408"/>
            <a:ext cx="8229600" cy="1143000"/>
          </a:xfrm>
        </p:spPr>
        <p:txBody>
          <a:bodyPr>
            <a:normAutofit fontScale="90000"/>
          </a:bodyPr>
          <a:lstStyle/>
          <a:p>
            <a:r>
              <a:rPr lang="en-IN" dirty="0" smtClean="0">
                <a:solidFill>
                  <a:srgbClr val="FF0000"/>
                </a:solidFill>
              </a:rPr>
              <a:t/>
            </a:r>
            <a:br>
              <a:rPr lang="en-IN" dirty="0" smtClean="0">
                <a:solidFill>
                  <a:srgbClr val="FF0000"/>
                </a:solidFill>
              </a:rPr>
            </a:br>
            <a:r>
              <a:rPr lang="en-US" dirty="0">
                <a:solidFill>
                  <a:srgbClr val="FF0000"/>
                </a:solidFill>
              </a:rPr>
              <a:t>Cost components for query execution </a:t>
            </a:r>
            <a:r>
              <a:rPr lang="en-US" dirty="0" smtClean="0">
                <a:solidFill>
                  <a:srgbClr val="FF0000"/>
                </a:solidFill>
              </a:rPr>
              <a:t/>
            </a:r>
            <a:br>
              <a:rPr lang="en-US" dirty="0" smtClean="0">
                <a:solidFill>
                  <a:srgbClr val="FF0000"/>
                </a:solidFill>
              </a:rPr>
            </a:br>
            <a:endParaRPr lang="en-IN" dirty="0">
              <a:solidFill>
                <a:srgbClr val="FF0000"/>
              </a:solidFill>
            </a:endParaRPr>
          </a:p>
        </p:txBody>
      </p:sp>
      <p:sp>
        <p:nvSpPr>
          <p:cNvPr id="3" name="Slide Number Placeholder 2"/>
          <p:cNvSpPr>
            <a:spLocks noGrp="1"/>
          </p:cNvSpPr>
          <p:nvPr>
            <p:ph type="sldNum" sz="quarter" idx="12"/>
          </p:nvPr>
        </p:nvSpPr>
        <p:spPr/>
        <p:txBody>
          <a:bodyPr/>
          <a:lstStyle/>
          <a:p>
            <a:fld id="{0FA66C70-CE05-4916-AD71-CDCD291485E5}" type="slidenum">
              <a:rPr lang="en-IN" smtClean="0"/>
              <a:t>27</a:t>
            </a:fld>
            <a:endParaRPr lang="en-IN"/>
          </a:p>
        </p:txBody>
      </p:sp>
      <p:sp>
        <p:nvSpPr>
          <p:cNvPr id="4" name="TextBox 3"/>
          <p:cNvSpPr txBox="1"/>
          <p:nvPr/>
        </p:nvSpPr>
        <p:spPr>
          <a:xfrm>
            <a:off x="145976" y="692696"/>
            <a:ext cx="8784976" cy="5693866"/>
          </a:xfrm>
          <a:prstGeom prst="rect">
            <a:avLst/>
          </a:prstGeom>
          <a:noFill/>
        </p:spPr>
        <p:txBody>
          <a:bodyPr wrap="square" rtlCol="0">
            <a:spAutoFit/>
          </a:bodyPr>
          <a:lstStyle/>
          <a:p>
            <a:r>
              <a:rPr lang="en-US" sz="2800" dirty="0" smtClean="0"/>
              <a:t>1</a:t>
            </a:r>
            <a:r>
              <a:rPr lang="en-US" sz="2800" dirty="0"/>
              <a:t>. </a:t>
            </a:r>
            <a:r>
              <a:rPr lang="en-US" sz="2800" b="1" dirty="0"/>
              <a:t>Access cost to disk </a:t>
            </a:r>
            <a:r>
              <a:rPr lang="en-US" sz="2800" dirty="0"/>
              <a:t>(disk I/O, searching for a record, access structures, hashing, indexes, file allocation methods, etc.. </a:t>
            </a:r>
          </a:p>
          <a:p>
            <a:r>
              <a:rPr lang="en-US" sz="2800" dirty="0"/>
              <a:t>2. </a:t>
            </a:r>
            <a:r>
              <a:rPr lang="en-US" sz="2800" b="1" dirty="0"/>
              <a:t>Disk storage cost</a:t>
            </a:r>
            <a:r>
              <a:rPr lang="en-US" sz="2800" dirty="0"/>
              <a:t>: any intermediate file storage cost </a:t>
            </a:r>
          </a:p>
          <a:p>
            <a:r>
              <a:rPr lang="en-US" sz="2800" dirty="0"/>
              <a:t>3. </a:t>
            </a:r>
            <a:r>
              <a:rPr lang="en-US" sz="2800" b="1" dirty="0"/>
              <a:t>Computation cost: </a:t>
            </a:r>
            <a:r>
              <a:rPr lang="en-US" sz="2800" dirty="0"/>
              <a:t>CPU time (processing time), searching, merging, performing computations on fields, etc. </a:t>
            </a:r>
          </a:p>
          <a:p>
            <a:r>
              <a:rPr lang="en-US" sz="2800" dirty="0"/>
              <a:t>4. </a:t>
            </a:r>
            <a:r>
              <a:rPr lang="en-US" sz="2800" b="1" dirty="0"/>
              <a:t>Memory usage cost</a:t>
            </a:r>
            <a:r>
              <a:rPr lang="en-US" sz="2800" dirty="0"/>
              <a:t>: no of buffers </a:t>
            </a:r>
          </a:p>
          <a:p>
            <a:r>
              <a:rPr lang="en-US" sz="2800" dirty="0"/>
              <a:t>5. </a:t>
            </a:r>
            <a:r>
              <a:rPr lang="en-US" sz="2800" b="1" dirty="0"/>
              <a:t>Communication cost</a:t>
            </a:r>
            <a:r>
              <a:rPr lang="en-US" sz="2800" dirty="0"/>
              <a:t>: cost of shipping data from the source of query location to the server </a:t>
            </a:r>
          </a:p>
          <a:p>
            <a:endParaRPr lang="en-IN" sz="2800" dirty="0"/>
          </a:p>
          <a:p>
            <a:r>
              <a:rPr lang="en-US" sz="2800" dirty="0"/>
              <a:t>Minimize access cost to disk…for large databases </a:t>
            </a:r>
          </a:p>
          <a:p>
            <a:r>
              <a:rPr lang="en-US" sz="2800" dirty="0"/>
              <a:t>For small database, it is stored in memory </a:t>
            </a:r>
            <a:endParaRPr lang="en-IN" sz="2800" dirty="0"/>
          </a:p>
        </p:txBody>
      </p:sp>
    </p:spTree>
    <p:extLst>
      <p:ext uri="{BB962C8B-B14F-4D97-AF65-F5344CB8AC3E}">
        <p14:creationId xmlns:p14="http://schemas.microsoft.com/office/powerpoint/2010/main" val="539530249"/>
      </p:ext>
    </p:extLst>
  </p:cSld>
  <p:clrMapOvr>
    <a:masterClrMapping/>
  </p:clrMapOvr>
  <p:timing>
    <p:tnLst>
      <p:par>
        <p:cTn id="1" dur="indefinite" restart="never" nodeType="tmRoot"/>
      </p:par>
    </p:tnLst>
  </p:timing>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1166</TotalTime>
  <Words>1161</Words>
  <Application>Microsoft Office PowerPoint</Application>
  <PresentationFormat>On-screen Show (4:3)</PresentationFormat>
  <Paragraphs>178</Paragraphs>
  <Slides>27</Slides>
  <Notes>1</Notes>
  <HiddenSlides>0</HiddenSlides>
  <MMClips>0</MMClips>
  <ScaleCrop>false</ScaleCrop>
  <HeadingPairs>
    <vt:vector size="4" baseType="variant">
      <vt:variant>
        <vt:lpstr>Theme</vt:lpstr>
      </vt:variant>
      <vt:variant>
        <vt:i4>1</vt:i4>
      </vt:variant>
      <vt:variant>
        <vt:lpstr>Slide Titles</vt:lpstr>
      </vt:variant>
      <vt:variant>
        <vt:i4>27</vt:i4>
      </vt:variant>
    </vt:vector>
  </HeadingPairs>
  <TitlesOfParts>
    <vt:vector size="28" baseType="lpstr">
      <vt:lpstr>Office Theme</vt:lpstr>
      <vt:lpstr>Heuristics in Query Processing</vt:lpstr>
      <vt:lpstr>PowerPoint Presentation</vt:lpstr>
      <vt:lpstr>PowerPoint Presentation</vt:lpstr>
      <vt:lpstr>PowerPoint Presentation</vt:lpstr>
      <vt:lpstr>Notation for Query Trees and Query Graphs</vt:lpstr>
      <vt:lpstr>PowerPoint Presentation</vt:lpstr>
      <vt:lpstr>PowerPoint Presentation</vt:lpstr>
      <vt:lpstr>PowerPoint Presentation</vt:lpstr>
      <vt:lpstr>PowerPoint Presentation</vt:lpstr>
      <vt:lpstr>PowerPoint Presentation</vt:lpstr>
      <vt:lpstr>PowerPoint Presentation</vt:lpstr>
      <vt:lpstr> Heuristic Optimization of Query Trees</vt:lpstr>
      <vt:lpstr>PowerPoint Presentation</vt:lpstr>
      <vt:lpstr>Find the last names of employees born after 1957 who work on a project named ‘Aquarius’.</vt:lpstr>
      <vt:lpstr>PowerPoint Presentation</vt:lpstr>
      <vt:lpstr>PowerPoint Presentation</vt:lpstr>
      <vt:lpstr>PowerPoint Presentation</vt:lpstr>
      <vt:lpstr>PowerPoint Presentation</vt:lpstr>
      <vt:lpstr>PowerPoint Presentation</vt:lpstr>
      <vt:lpstr>PowerPoint Presentation</vt:lpstr>
      <vt:lpstr>General Transformation Rules for Relational Algebra Operations</vt:lpstr>
      <vt:lpstr>PowerPoint Presentation</vt:lpstr>
      <vt:lpstr>PowerPoint Presentation</vt:lpstr>
      <vt:lpstr>PowerPoint Presentation</vt:lpstr>
      <vt:lpstr>PowerPoint Presentation</vt:lpstr>
      <vt:lpstr>PowerPoint Presentation</vt:lpstr>
      <vt:lpstr> Cost components for query execution  </vt:lpstr>
    </vt:vector>
  </TitlesOfParts>
  <Company>HP</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Heuristics in Query Processing</dc:title>
  <dc:creator>Admin</dc:creator>
  <cp:lastModifiedBy>Admin</cp:lastModifiedBy>
  <cp:revision>39</cp:revision>
  <dcterms:created xsi:type="dcterms:W3CDTF">2021-09-28T13:54:50Z</dcterms:created>
  <dcterms:modified xsi:type="dcterms:W3CDTF">2021-09-30T05:16:27Z</dcterms:modified>
</cp:coreProperties>
</file>