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0"/>
  </p:notesMasterIdLst>
  <p:sldIdLst>
    <p:sldId id="256" r:id="rId2"/>
    <p:sldId id="271" r:id="rId3"/>
    <p:sldId id="272" r:id="rId4"/>
    <p:sldId id="273" r:id="rId5"/>
    <p:sldId id="274" r:id="rId6"/>
    <p:sldId id="257" r:id="rId7"/>
    <p:sldId id="269" r:id="rId8"/>
    <p:sldId id="258" r:id="rId9"/>
    <p:sldId id="259" r:id="rId10"/>
    <p:sldId id="260" r:id="rId11"/>
    <p:sldId id="267" r:id="rId12"/>
    <p:sldId id="268" r:id="rId13"/>
    <p:sldId id="261" r:id="rId14"/>
    <p:sldId id="262" r:id="rId15"/>
    <p:sldId id="263" r:id="rId16"/>
    <p:sldId id="264" r:id="rId17"/>
    <p:sldId id="265" r:id="rId18"/>
    <p:sldId id="266"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E7238B-4390-4646-8EB4-4968ED26515B}" type="datetimeFigureOut">
              <a:rPr lang="en-IN" smtClean="0"/>
              <a:t>09-07-2024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BFB1CC-AE27-4B23-824E-BA8B57FD6C58}" type="slidenum">
              <a:rPr lang="en-IN" smtClean="0"/>
              <a:t>‹#›</a:t>
            </a:fld>
            <a:endParaRPr lang="en-IN"/>
          </a:p>
        </p:txBody>
      </p:sp>
    </p:spTree>
    <p:extLst>
      <p:ext uri="{BB962C8B-B14F-4D97-AF65-F5344CB8AC3E}">
        <p14:creationId xmlns:p14="http://schemas.microsoft.com/office/powerpoint/2010/main" val="385057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BFB1CC-AE27-4B23-824E-BA8B57FD6C58}" type="slidenum">
              <a:rPr lang="en-IN" smtClean="0"/>
              <a:t>3</a:t>
            </a:fld>
            <a:endParaRPr lang="en-IN"/>
          </a:p>
        </p:txBody>
      </p:sp>
    </p:spTree>
    <p:extLst>
      <p:ext uri="{BB962C8B-B14F-4D97-AF65-F5344CB8AC3E}">
        <p14:creationId xmlns:p14="http://schemas.microsoft.com/office/powerpoint/2010/main" val="2545704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EBFB1CC-AE27-4B23-824E-BA8B57FD6C58}" type="slidenum">
              <a:rPr lang="en-IN" smtClean="0"/>
              <a:t>13</a:t>
            </a:fld>
            <a:endParaRPr lang="en-IN"/>
          </a:p>
        </p:txBody>
      </p:sp>
    </p:spTree>
    <p:extLst>
      <p:ext uri="{BB962C8B-B14F-4D97-AF65-F5344CB8AC3E}">
        <p14:creationId xmlns:p14="http://schemas.microsoft.com/office/powerpoint/2010/main" val="889199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6F6A820A-2CAB-46E0-A5A3-DD492961C18D}" type="datetimeFigureOut">
              <a:rPr lang="en-IN" smtClean="0"/>
              <a:t>09-07-2024</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5D16119-D660-40DF-B339-D75B54681409}" type="slidenum">
              <a:rPr lang="en-IN" smtClean="0"/>
              <a:t>‹#›</a:t>
            </a:fld>
            <a:endParaRPr lang="en-IN"/>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09-07-2024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F6A820A-2CAB-46E0-A5A3-DD492961C18D}" type="datetimeFigureOut">
              <a:rPr lang="en-IN" smtClean="0"/>
              <a:t>09-07-2024</a:t>
            </a:fld>
            <a:endParaRPr lang="en-IN"/>
          </a:p>
        </p:txBody>
      </p:sp>
      <p:sp>
        <p:nvSpPr>
          <p:cNvPr id="5" name="Footer Placeholder 4"/>
          <p:cNvSpPr>
            <a:spLocks noGrp="1"/>
          </p:cNvSpPr>
          <p:nvPr>
            <p:ph type="ftr" sz="quarter" idx="11"/>
          </p:nvPr>
        </p:nvSpPr>
        <p:spPr>
          <a:xfrm>
            <a:off x="800100" y="6172200"/>
            <a:ext cx="4000500" cy="457200"/>
          </a:xfrm>
        </p:spPr>
        <p:txBody>
          <a:bodyPr/>
          <a:lstStyle/>
          <a:p>
            <a:endParaRPr lang="en-IN"/>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5D16119-D660-40DF-B339-D75B54681409}"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F6A820A-2CAB-46E0-A5A3-DD492961C18D}" type="datetimeFigureOut">
              <a:rPr lang="en-IN" smtClean="0"/>
              <a:t>09-07-2024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6F6A820A-2CAB-46E0-A5A3-DD492961C18D}" type="datetimeFigureOut">
              <a:rPr lang="en-IN" smtClean="0"/>
              <a:t>09-07-2024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D16119-D660-40DF-B339-D75B54681409}" type="slidenum">
              <a:rPr lang="en-IN" smtClean="0"/>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F6A820A-2CAB-46E0-A5A3-DD492961C18D}" type="datetimeFigureOut">
              <a:rPr lang="en-IN" smtClean="0"/>
              <a:t>09-07-2024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6A820A-2CAB-46E0-A5A3-DD492961C18D}" type="datetimeFigureOut">
              <a:rPr lang="en-IN" smtClean="0"/>
              <a:t>09-07-2024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F6A820A-2CAB-46E0-A5A3-DD492961C18D}" type="datetimeFigureOut">
              <a:rPr lang="en-IN" smtClean="0"/>
              <a:t>09-07-2024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F6A820A-2CAB-46E0-A5A3-DD492961C18D}" type="datetimeFigureOut">
              <a:rPr lang="en-IN" smtClean="0"/>
              <a:t>09-07-2024</a:t>
            </a:fld>
            <a:endParaRPr lang="en-IN"/>
          </a:p>
        </p:txBody>
      </p:sp>
      <p:sp>
        <p:nvSpPr>
          <p:cNvPr id="6" name="Footer Placeholder 5"/>
          <p:cNvSpPr>
            <a:spLocks noGrp="1"/>
          </p:cNvSpPr>
          <p:nvPr>
            <p:ph type="ftr" sz="quarter" idx="11"/>
          </p:nvPr>
        </p:nvSpPr>
        <p:spPr>
          <a:xfrm>
            <a:off x="914400" y="6172200"/>
            <a:ext cx="3886200" cy="457200"/>
          </a:xfrm>
        </p:spPr>
        <p:txBody>
          <a:bodyPr/>
          <a:lstStyle/>
          <a:p>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B5D16119-D660-40DF-B339-D75B54681409}" type="slidenum">
              <a:rPr lang="en-IN" smtClean="0"/>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09-07-2024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09-07-2024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6F6A820A-2CAB-46E0-A5A3-DD492961C18D}" type="datetimeFigureOut">
              <a:rPr lang="en-IN" smtClean="0"/>
              <a:t>09-07-2024</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5D16119-D660-40DF-B339-D75B5468140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Dr. </a:t>
            </a:r>
            <a:r>
              <a:rPr lang="en-US" dirty="0" err="1" smtClean="0"/>
              <a:t>Anand</a:t>
            </a:r>
            <a:r>
              <a:rPr lang="en-US" dirty="0" smtClean="0"/>
              <a:t> </a:t>
            </a:r>
            <a:r>
              <a:rPr lang="en-US" dirty="0" err="1" smtClean="0"/>
              <a:t>Bihari</a:t>
            </a:r>
            <a:endParaRPr lang="en-US" dirty="0" smtClean="0"/>
          </a:p>
          <a:p>
            <a:r>
              <a:rPr lang="en-US" dirty="0" smtClean="0"/>
              <a:t>SJT Annex- 203N</a:t>
            </a:r>
          </a:p>
          <a:p>
            <a:r>
              <a:rPr lang="en-US" dirty="0"/>
              <a:t>a</a:t>
            </a:r>
            <a:r>
              <a:rPr lang="en-US" dirty="0" smtClean="0"/>
              <a:t>nand.bihari@vit.ac.in</a:t>
            </a:r>
            <a:endParaRPr lang="en-IN" dirty="0"/>
          </a:p>
        </p:txBody>
      </p:sp>
      <p:sp>
        <p:nvSpPr>
          <p:cNvPr id="2" name="Title 1"/>
          <p:cNvSpPr>
            <a:spLocks noGrp="1"/>
          </p:cNvSpPr>
          <p:nvPr>
            <p:ph type="ctrTitle"/>
          </p:nvPr>
        </p:nvSpPr>
        <p:spPr/>
        <p:txBody>
          <a:bodyPr/>
          <a:lstStyle/>
          <a:p>
            <a:r>
              <a:rPr lang="en-US" dirty="0" smtClean="0"/>
              <a:t>Database Management System </a:t>
            </a:r>
            <a:endParaRPr lang="en-IN" dirty="0"/>
          </a:p>
        </p:txBody>
      </p:sp>
    </p:spTree>
    <p:extLst>
      <p:ext uri="{BB962C8B-B14F-4D97-AF65-F5344CB8AC3E}">
        <p14:creationId xmlns:p14="http://schemas.microsoft.com/office/powerpoint/2010/main" val="22732915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275732-0316-4BDA-9208-1D5F00426476}"/>
              </a:ext>
            </a:extLst>
          </p:cNvPr>
          <p:cNvSpPr>
            <a:spLocks noGrp="1"/>
          </p:cNvSpPr>
          <p:nvPr>
            <p:ph type="title"/>
          </p:nvPr>
        </p:nvSpPr>
        <p:spPr/>
        <p:txBody>
          <a:bodyPr/>
          <a:lstStyle/>
          <a:p>
            <a:r>
              <a:rPr lang="en-US" dirty="0"/>
              <a:t>What is Data?</a:t>
            </a:r>
          </a:p>
        </p:txBody>
      </p:sp>
      <p:sp>
        <p:nvSpPr>
          <p:cNvPr id="3" name="Content Placeholder 2">
            <a:extLst>
              <a:ext uri="{FF2B5EF4-FFF2-40B4-BE49-F238E27FC236}">
                <a16:creationId xmlns:a16="http://schemas.microsoft.com/office/drawing/2014/main" xmlns="" id="{AD5A8D6F-A17B-47A6-906F-63B71DAEA9D7}"/>
              </a:ext>
            </a:extLst>
          </p:cNvPr>
          <p:cNvSpPr>
            <a:spLocks noGrp="1"/>
          </p:cNvSpPr>
          <p:nvPr>
            <p:ph idx="1"/>
          </p:nvPr>
        </p:nvSpPr>
        <p:spPr/>
        <p:txBody>
          <a:bodyPr>
            <a:noAutofit/>
          </a:bodyPr>
          <a:lstStyle/>
          <a:p>
            <a:pPr algn="just"/>
            <a:r>
              <a:rPr lang="en-US" sz="2300" dirty="0">
                <a:latin typeface="Times New Roman" pitchFamily="18" charset="0"/>
                <a:cs typeface="Times New Roman" pitchFamily="18" charset="0"/>
              </a:rPr>
              <a:t>Data can be any information, thought, or media that is being transferred from one person to another. Everything we say or communicate is the form of data. In computers, it can be used in many forms like raw text, numbers, characters, bytes, images, etc.</a:t>
            </a:r>
          </a:p>
          <a:p>
            <a:pPr algn="just"/>
            <a:r>
              <a:rPr lang="en-US" sz="2300" dirty="0">
                <a:latin typeface="Times New Roman" pitchFamily="18" charset="0"/>
                <a:cs typeface="Times New Roman" pitchFamily="18" charset="0"/>
              </a:rPr>
              <a:t>Data can be text or numbers or bytes and bits inside the memory of electronic devices. Every possible communication is data transmission, data is the most crucial part of the computer world.</a:t>
            </a:r>
          </a:p>
          <a:p>
            <a:pPr algn="just"/>
            <a:r>
              <a:rPr lang="en-US" sz="2300" dirty="0" smtClean="0">
                <a:latin typeface="Times New Roman" pitchFamily="18" charset="0"/>
                <a:cs typeface="Times New Roman" pitchFamily="18" charset="0"/>
              </a:rPr>
              <a:t>Example</a:t>
            </a:r>
            <a:r>
              <a:rPr lang="en-US" sz="2300" dirty="0">
                <a:latin typeface="Times New Roman" pitchFamily="18" charset="0"/>
                <a:cs typeface="Times New Roman" pitchFamily="18" charset="0"/>
              </a:rPr>
              <a:t>: Name, Address, Zip, SSN are characteristics or information about a person.</a:t>
            </a:r>
          </a:p>
          <a:p>
            <a:pPr marL="0" indent="0" algn="just">
              <a:buNone/>
            </a:pP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endParaRPr lang="en-US" sz="2300" dirty="0">
              <a:latin typeface="Times New Roman" pitchFamily="18" charset="0"/>
              <a:cs typeface="Times New Roman" pitchFamily="18" charset="0"/>
            </a:endParaRPr>
          </a:p>
        </p:txBody>
      </p:sp>
    </p:spTree>
    <p:extLst>
      <p:ext uri="{BB962C8B-B14F-4D97-AF65-F5344CB8AC3E}">
        <p14:creationId xmlns:p14="http://schemas.microsoft.com/office/powerpoint/2010/main" val="1148764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data</a:t>
            </a:r>
            <a:endParaRPr lang="en-US" dirty="0"/>
          </a:p>
        </p:txBody>
      </p:sp>
      <p:sp>
        <p:nvSpPr>
          <p:cNvPr id="3" name="Content Placeholder 2"/>
          <p:cNvSpPr>
            <a:spLocks noGrp="1"/>
          </p:cNvSpPr>
          <p:nvPr>
            <p:ph sz="quarter" idx="1"/>
          </p:nvPr>
        </p:nvSpPr>
        <p:spPr>
          <a:xfrm>
            <a:off x="914400" y="1447800"/>
            <a:ext cx="7772400" cy="5005536"/>
          </a:xfrm>
        </p:spPr>
        <p:txBody>
          <a:bodyPr>
            <a:normAutofit/>
          </a:bodyPr>
          <a:lstStyle/>
          <a:p>
            <a:r>
              <a:rPr lang="en-US" sz="2300" b="1" dirty="0" smtClean="0">
                <a:solidFill>
                  <a:srgbClr val="FF0000"/>
                </a:solidFill>
                <a:latin typeface="Times New Roman" pitchFamily="18" charset="0"/>
                <a:cs typeface="Times New Roman" pitchFamily="18" charset="0"/>
              </a:rPr>
              <a:t>Unstructured Data</a:t>
            </a:r>
          </a:p>
          <a:p>
            <a:r>
              <a:rPr lang="en-US" sz="2300" b="1" dirty="0" smtClean="0">
                <a:solidFill>
                  <a:srgbClr val="FF0000"/>
                </a:solidFill>
                <a:latin typeface="Times New Roman" pitchFamily="18" charset="0"/>
                <a:cs typeface="Times New Roman" pitchFamily="18" charset="0"/>
              </a:rPr>
              <a:t>Structured Data</a:t>
            </a:r>
          </a:p>
          <a:p>
            <a:r>
              <a:rPr lang="en-US" sz="2300" b="1" dirty="0" smtClean="0">
                <a:solidFill>
                  <a:srgbClr val="FF0000"/>
                </a:solidFill>
                <a:latin typeface="Times New Roman" pitchFamily="18" charset="0"/>
                <a:cs typeface="Times New Roman" pitchFamily="18" charset="0"/>
              </a:rPr>
              <a:t>Semi Structured Data</a:t>
            </a:r>
          </a:p>
          <a:p>
            <a:pPr algn="just"/>
            <a:r>
              <a:rPr lang="en-US" sz="2300" b="1" dirty="0">
                <a:solidFill>
                  <a:srgbClr val="FF0000"/>
                </a:solidFill>
                <a:latin typeface="Times New Roman" pitchFamily="18" charset="0"/>
                <a:cs typeface="Times New Roman" pitchFamily="18" charset="0"/>
              </a:rPr>
              <a:t>Unstructured </a:t>
            </a:r>
            <a:r>
              <a:rPr lang="en-US" sz="2300" b="1" dirty="0" smtClean="0">
                <a:solidFill>
                  <a:srgbClr val="FF0000"/>
                </a:solidFill>
                <a:latin typeface="Times New Roman" pitchFamily="18" charset="0"/>
                <a:cs typeface="Times New Roman" pitchFamily="18" charset="0"/>
              </a:rPr>
              <a:t>Data</a:t>
            </a:r>
            <a:r>
              <a:rPr lang="en-US" sz="2300" b="1" dirty="0">
                <a:solidFill>
                  <a:srgbClr val="FF0000"/>
                </a:solidFill>
                <a:latin typeface="Times New Roman" pitchFamily="18" charset="0"/>
                <a:cs typeface="Times New Roman" pitchFamily="18" charset="0"/>
              </a:rPr>
              <a:t>: </a:t>
            </a:r>
            <a:r>
              <a:rPr lang="en-US" sz="2300" dirty="0">
                <a:latin typeface="Times New Roman" pitchFamily="18" charset="0"/>
                <a:cs typeface="Times New Roman" pitchFamily="18" charset="0"/>
              </a:rPr>
              <a:t>Unstructured data is a data which is not organized in a predefined manner or does not have a predefined data model, thus it is not a good fit for a mainstream relational </a:t>
            </a:r>
            <a:r>
              <a:rPr lang="en-US" sz="2300" dirty="0" smtClean="0">
                <a:latin typeface="Times New Roman" pitchFamily="18" charset="0"/>
                <a:cs typeface="Times New Roman" pitchFamily="18" charset="0"/>
              </a:rPr>
              <a:t>database.</a:t>
            </a:r>
          </a:p>
          <a:p>
            <a:pPr algn="just"/>
            <a:r>
              <a:rPr lang="en-US" sz="2300" b="1" dirty="0" smtClean="0">
                <a:latin typeface="Times New Roman" pitchFamily="18" charset="0"/>
                <a:cs typeface="Times New Roman" pitchFamily="18" charset="0"/>
              </a:rPr>
              <a:t>Example</a:t>
            </a:r>
            <a:r>
              <a:rPr lang="en-US" sz="2300" dirty="0">
                <a:latin typeface="Times New Roman" pitchFamily="18" charset="0"/>
                <a:cs typeface="Times New Roman" pitchFamily="18" charset="0"/>
              </a:rPr>
              <a:t>: Word, PDF, Text, Media logs</a:t>
            </a:r>
            <a:r>
              <a:rPr lang="en-US" sz="2300" dirty="0" smtClean="0">
                <a:latin typeface="Times New Roman" pitchFamily="18" charset="0"/>
                <a:cs typeface="Times New Roman" pitchFamily="18" charset="0"/>
              </a:rPr>
              <a:t>.</a:t>
            </a:r>
          </a:p>
          <a:p>
            <a:pPr algn="just"/>
            <a:r>
              <a:rPr lang="en-US" sz="2300" b="1" dirty="0">
                <a:latin typeface="Times New Roman" pitchFamily="18" charset="0"/>
                <a:cs typeface="Times New Roman" pitchFamily="18" charset="0"/>
              </a:rPr>
              <a:t>Tools for working with Unstructured Data</a:t>
            </a:r>
            <a:r>
              <a:rPr lang="en-US" sz="2300" dirty="0">
                <a:latin typeface="Times New Roman" pitchFamily="18" charset="0"/>
                <a:cs typeface="Times New Roman" pitchFamily="18" charset="0"/>
              </a:rPr>
              <a:t>: </a:t>
            </a:r>
            <a:r>
              <a:rPr lang="en-US" sz="2300" dirty="0" err="1" smtClean="0">
                <a:latin typeface="Times New Roman" pitchFamily="18" charset="0"/>
                <a:cs typeface="Times New Roman" pitchFamily="18" charset="0"/>
              </a:rPr>
              <a:t>MongoDB</a:t>
            </a:r>
            <a:r>
              <a:rPr lang="en-US" sz="2300" dirty="0">
                <a:latin typeface="Times New Roman" pitchFamily="18" charset="0"/>
                <a:cs typeface="Times New Roman" pitchFamily="18" charset="0"/>
              </a:rPr>
              <a:t>, </a:t>
            </a:r>
            <a:r>
              <a:rPr lang="en-US" sz="2300" dirty="0" err="1" smtClean="0">
                <a:latin typeface="Times New Roman" pitchFamily="18" charset="0"/>
                <a:cs typeface="Times New Roman" pitchFamily="18" charset="0"/>
              </a:rPr>
              <a:t>Hadoop</a:t>
            </a:r>
            <a:r>
              <a:rPr lang="en-US" sz="2300" dirty="0">
                <a:latin typeface="Times New Roman" pitchFamily="18" charset="0"/>
                <a:cs typeface="Times New Roman" pitchFamily="18" charset="0"/>
              </a:rPr>
              <a:t>, Data </a:t>
            </a:r>
            <a:r>
              <a:rPr lang="en-US" sz="2300" dirty="0" smtClean="0">
                <a:latin typeface="Times New Roman" pitchFamily="18" charset="0"/>
                <a:cs typeface="Times New Roman" pitchFamily="18" charset="0"/>
              </a:rPr>
              <a:t>Lake.</a:t>
            </a:r>
          </a:p>
          <a:p>
            <a:pPr algn="just"/>
            <a:r>
              <a:rPr lang="en-US" sz="2300" b="1" dirty="0">
                <a:latin typeface="Times New Roman" pitchFamily="18" charset="0"/>
                <a:cs typeface="Times New Roman" pitchFamily="18" charset="0"/>
              </a:rPr>
              <a:t>Unstructured Data Use Cases</a:t>
            </a:r>
            <a:r>
              <a:rPr lang="en-US" sz="2300" dirty="0">
                <a:latin typeface="Times New Roman" pitchFamily="18" charset="0"/>
                <a:cs typeface="Times New Roman" pitchFamily="18" charset="0"/>
              </a:rPr>
              <a:t>: Data Mining, Predictive Data </a:t>
            </a:r>
            <a:r>
              <a:rPr lang="en-US" sz="2300" dirty="0" smtClean="0">
                <a:latin typeface="Times New Roman" pitchFamily="18" charset="0"/>
                <a:cs typeface="Times New Roman" pitchFamily="18" charset="0"/>
              </a:rPr>
              <a:t>Analytics, </a:t>
            </a:r>
            <a:r>
              <a:rPr lang="en-US" sz="2300" dirty="0" err="1" smtClean="0">
                <a:latin typeface="Times New Roman" pitchFamily="18" charset="0"/>
                <a:cs typeface="Times New Roman" pitchFamily="18" charset="0"/>
              </a:rPr>
              <a:t>Chatbots</a:t>
            </a:r>
            <a:r>
              <a:rPr lang="en-US" sz="2300" b="1" dirty="0" smtClean="0">
                <a:latin typeface="Times New Roman" pitchFamily="18" charset="0"/>
                <a:cs typeface="Times New Roman" pitchFamily="18" charset="0"/>
              </a:rPr>
              <a:t>. </a:t>
            </a:r>
            <a:endParaRPr lang="en-US" sz="2300" dirty="0">
              <a:latin typeface="Times New Roman" pitchFamily="18" charset="0"/>
              <a:cs typeface="Times New Roman" pitchFamily="18" charset="0"/>
            </a:endParaRPr>
          </a:p>
          <a:p>
            <a:endParaRPr lang="en-US" sz="23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203308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908720"/>
            <a:ext cx="7772400" cy="5111080"/>
          </a:xfrm>
        </p:spPr>
        <p:txBody>
          <a:bodyPr>
            <a:normAutofit/>
          </a:bodyPr>
          <a:lstStyle/>
          <a:p>
            <a:pPr algn="just"/>
            <a:r>
              <a:rPr lang="en-US" sz="2300" b="1" dirty="0">
                <a:solidFill>
                  <a:srgbClr val="FF0000"/>
                </a:solidFill>
                <a:latin typeface="Times New Roman" pitchFamily="18" charset="0"/>
                <a:cs typeface="Times New Roman" pitchFamily="18" charset="0"/>
              </a:rPr>
              <a:t>Structured data </a:t>
            </a:r>
            <a:r>
              <a:rPr lang="en-US" sz="2300" dirty="0">
                <a:latin typeface="Times New Roman" pitchFamily="18" charset="0"/>
                <a:cs typeface="Times New Roman" pitchFamily="18" charset="0"/>
              </a:rPr>
              <a:t>– </a:t>
            </a:r>
          </a:p>
          <a:p>
            <a:pPr algn="just"/>
            <a:r>
              <a:rPr lang="en-US" sz="2300" dirty="0">
                <a:latin typeface="Times New Roman" pitchFamily="18" charset="0"/>
                <a:cs typeface="Times New Roman" pitchFamily="18" charset="0"/>
              </a:rPr>
              <a:t>Structured data is data whose elements are addressable for effective analysis. It has been organized into a formatted repository that is typically a database. It concerns all data which can be stored in database SQL in a table with rows and columns. They have relational keys and can easily be mapped into pre-designed </a:t>
            </a:r>
            <a:r>
              <a:rPr lang="en-US" sz="2300" dirty="0" smtClean="0">
                <a:latin typeface="Times New Roman" pitchFamily="18" charset="0"/>
                <a:cs typeface="Times New Roman" pitchFamily="18" charset="0"/>
              </a:rPr>
              <a:t>fields. </a:t>
            </a:r>
          </a:p>
          <a:p>
            <a:pPr algn="just"/>
            <a:r>
              <a:rPr lang="en-US" sz="2300" b="1" dirty="0" smtClean="0">
                <a:latin typeface="Times New Roman" pitchFamily="18" charset="0"/>
                <a:cs typeface="Times New Roman" pitchFamily="18" charset="0"/>
              </a:rPr>
              <a:t>Example</a:t>
            </a:r>
            <a:r>
              <a:rPr lang="en-US" sz="2300" dirty="0">
                <a:latin typeface="Times New Roman" pitchFamily="18" charset="0"/>
                <a:cs typeface="Times New Roman" pitchFamily="18" charset="0"/>
              </a:rPr>
              <a:t>: Relational data. </a:t>
            </a:r>
            <a:endParaRPr lang="en-US" sz="2300" dirty="0" smtClean="0">
              <a:latin typeface="Times New Roman" pitchFamily="18" charset="0"/>
              <a:cs typeface="Times New Roman" pitchFamily="18" charset="0"/>
            </a:endParaRPr>
          </a:p>
          <a:p>
            <a:pPr algn="just"/>
            <a:r>
              <a:rPr lang="en-US" sz="2300" b="1" dirty="0">
                <a:latin typeface="Times New Roman" pitchFamily="18" charset="0"/>
                <a:cs typeface="Times New Roman" pitchFamily="18" charset="0"/>
              </a:rPr>
              <a:t>Tools for working with Structured Data</a:t>
            </a:r>
            <a:r>
              <a:rPr lang="en-US" sz="2300" dirty="0">
                <a:latin typeface="Times New Roman" pitchFamily="18" charset="0"/>
                <a:cs typeface="Times New Roman" pitchFamily="18" charset="0"/>
              </a:rPr>
              <a:t>: </a:t>
            </a:r>
            <a:r>
              <a:rPr lang="en-US" sz="2300" dirty="0" err="1" smtClean="0">
                <a:latin typeface="Times New Roman" pitchFamily="18" charset="0"/>
                <a:cs typeface="Times New Roman" pitchFamily="18" charset="0"/>
              </a:rPr>
              <a:t>PostgreSQL</a:t>
            </a:r>
            <a:r>
              <a:rPr lang="en-US" sz="2300" dirty="0">
                <a:latin typeface="Times New Roman" pitchFamily="18" charset="0"/>
                <a:cs typeface="Times New Roman" pitchFamily="18" charset="0"/>
              </a:rPr>
              <a:t>, SQLite, MySQL, Oracle, Microsoft SQL </a:t>
            </a:r>
            <a:r>
              <a:rPr lang="en-US" sz="2300" dirty="0" smtClean="0">
                <a:latin typeface="Times New Roman" pitchFamily="18" charset="0"/>
                <a:cs typeface="Times New Roman" pitchFamily="18" charset="0"/>
              </a:rPr>
              <a:t>Server, etc.</a:t>
            </a:r>
          </a:p>
          <a:p>
            <a:pPr algn="just"/>
            <a:r>
              <a:rPr lang="en-US" sz="2300" b="1" dirty="0">
                <a:latin typeface="Times New Roman" pitchFamily="18" charset="0"/>
                <a:cs typeface="Times New Roman" pitchFamily="18" charset="0"/>
              </a:rPr>
              <a:t>Structured Data Use Cases</a:t>
            </a:r>
            <a:r>
              <a:rPr lang="en-US" sz="2300" dirty="0">
                <a:latin typeface="Times New Roman" pitchFamily="18" charset="0"/>
                <a:cs typeface="Times New Roman" pitchFamily="18" charset="0"/>
              </a:rPr>
              <a:t>: Customer Relationship Management, Online Booking, </a:t>
            </a:r>
            <a:r>
              <a:rPr lang="en-US" sz="2300" dirty="0" smtClean="0">
                <a:latin typeface="Times New Roman" pitchFamily="18" charset="0"/>
                <a:cs typeface="Times New Roman" pitchFamily="18" charset="0"/>
              </a:rPr>
              <a:t>Accounting, etc.</a:t>
            </a:r>
            <a:endParaRPr lang="en-US" sz="2300" dirty="0">
              <a:latin typeface="Times New Roman" pitchFamily="18" charset="0"/>
              <a:cs typeface="Times New Roman" pitchFamily="18" charset="0"/>
            </a:endParaRPr>
          </a:p>
        </p:txBody>
      </p:sp>
    </p:spTree>
    <p:extLst>
      <p:ext uri="{BB962C8B-B14F-4D97-AF65-F5344CB8AC3E}">
        <p14:creationId xmlns:p14="http://schemas.microsoft.com/office/powerpoint/2010/main" val="3533164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548680"/>
            <a:ext cx="7772400" cy="5832648"/>
          </a:xfrm>
        </p:spPr>
        <p:txBody>
          <a:bodyPr>
            <a:normAutofit lnSpcReduction="10000"/>
          </a:bodyPr>
          <a:lstStyle/>
          <a:p>
            <a:pPr algn="just"/>
            <a:r>
              <a:rPr lang="en-US" sz="2300" b="1" dirty="0">
                <a:solidFill>
                  <a:srgbClr val="FF0000"/>
                </a:solidFill>
                <a:latin typeface="Times New Roman" pitchFamily="18" charset="0"/>
                <a:cs typeface="Times New Roman" pitchFamily="18" charset="0"/>
              </a:rPr>
              <a:t>Semi-Structured Data</a:t>
            </a:r>
          </a:p>
          <a:p>
            <a:pPr algn="just"/>
            <a:r>
              <a:rPr lang="en-US" sz="2300" dirty="0" smtClean="0">
                <a:latin typeface="Times New Roman" pitchFamily="18" charset="0"/>
                <a:cs typeface="Times New Roman" pitchFamily="18" charset="0"/>
              </a:rPr>
              <a:t>Semi-Structured </a:t>
            </a:r>
            <a:r>
              <a:rPr lang="en-US" sz="2300" dirty="0">
                <a:latin typeface="Times New Roman" pitchFamily="18" charset="0"/>
                <a:cs typeface="Times New Roman" pitchFamily="18" charset="0"/>
              </a:rPr>
              <a:t>data contains elements of both structured and unstructured, it’s schema is not fixed as structured data and with the help of metadata (which enables users to define some partial structure or hierarchy), it can be organized to some extent so not unorganized as unstructured data. Metadata includes tags and other markers just like in JSON, XML, or CSV which separates the elements and enforces the hierarchy, but the size of the element varies and order is not important. </a:t>
            </a:r>
            <a:endParaRPr lang="en-US" sz="2300" dirty="0" smtClean="0">
              <a:latin typeface="Times New Roman" pitchFamily="18" charset="0"/>
              <a:cs typeface="Times New Roman" pitchFamily="18" charset="0"/>
            </a:endParaRPr>
          </a:p>
          <a:p>
            <a:pPr algn="just"/>
            <a:r>
              <a:rPr lang="en-US" sz="2300" dirty="0">
                <a:latin typeface="Times New Roman" pitchFamily="18" charset="0"/>
                <a:cs typeface="Times New Roman" pitchFamily="18" charset="0"/>
              </a:rPr>
              <a:t>Tools for working with Semi-Structured Data: Cassandra, </a:t>
            </a:r>
            <a:r>
              <a:rPr lang="en-US" sz="2300" dirty="0" err="1" smtClean="0">
                <a:latin typeface="Times New Roman" pitchFamily="18" charset="0"/>
                <a:cs typeface="Times New Roman" pitchFamily="18" charset="0"/>
              </a:rPr>
              <a:t>MongoDB</a:t>
            </a:r>
            <a:r>
              <a:rPr lang="en-US" sz="2300" dirty="0" smtClean="0">
                <a:latin typeface="Times New Roman" pitchFamily="18" charset="0"/>
                <a:cs typeface="Times New Roman" pitchFamily="18" charset="0"/>
              </a:rPr>
              <a:t>, etc.</a:t>
            </a:r>
          </a:p>
          <a:p>
            <a:pPr algn="just"/>
            <a:r>
              <a:rPr lang="en-US" sz="2300" dirty="0">
                <a:latin typeface="Times New Roman" pitchFamily="18" charset="0"/>
                <a:cs typeface="Times New Roman" pitchFamily="18" charset="0"/>
              </a:rPr>
              <a:t> Semi-Structured Data Use Cases: </a:t>
            </a:r>
            <a:r>
              <a:rPr lang="en-US" sz="2300" dirty="0" smtClean="0">
                <a:latin typeface="Times New Roman" pitchFamily="18" charset="0"/>
                <a:cs typeface="Times New Roman" pitchFamily="18" charset="0"/>
              </a:rPr>
              <a:t>E-commerce;</a:t>
            </a:r>
          </a:p>
          <a:p>
            <a:pPr algn="just"/>
            <a:r>
              <a:rPr lang="en-US" sz="2300" dirty="0">
                <a:latin typeface="Times New Roman" pitchFamily="18" charset="0"/>
                <a:cs typeface="Times New Roman" pitchFamily="18" charset="0"/>
              </a:rPr>
              <a:t>For mobile phones: {“storage”: “64GB”, “network”: “5G”, “color”: “black”}</a:t>
            </a:r>
          </a:p>
          <a:p>
            <a:pPr algn="just"/>
            <a:r>
              <a:rPr lang="en-US" sz="2300" dirty="0">
                <a:latin typeface="Times New Roman" pitchFamily="18" charset="0"/>
                <a:cs typeface="Times New Roman" pitchFamily="18" charset="0"/>
              </a:rPr>
              <a:t>For books: {“publisher”: “Oxford Press”, “writer”: “John Doe”, “pages”: 250}</a:t>
            </a:r>
          </a:p>
        </p:txBody>
      </p:sp>
    </p:spTree>
    <p:extLst>
      <p:ext uri="{BB962C8B-B14F-4D97-AF65-F5344CB8AC3E}">
        <p14:creationId xmlns:p14="http://schemas.microsoft.com/office/powerpoint/2010/main" val="3605087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effectLst/>
                <a:ea typeface="ＭＳ Ｐゴシック" pitchFamily="34" charset="-128"/>
              </a:rPr>
              <a:t>Database Management System (</a:t>
            </a:r>
            <a:r>
              <a:rPr lang="en-US" sz="4200" dirty="0" smtClean="0">
                <a:effectLst/>
                <a:ea typeface="ＭＳ Ｐゴシック" pitchFamily="34" charset="-128"/>
              </a:rPr>
              <a:t>DBMS</a:t>
            </a:r>
            <a:r>
              <a:rPr lang="en-US" dirty="0" smtClean="0">
                <a:effectLst/>
                <a:ea typeface="ＭＳ Ｐゴシック" pitchFamily="34" charset="-128"/>
              </a:rPr>
              <a:t>)</a:t>
            </a:r>
            <a:endParaRPr lang="en-IN" dirty="0"/>
          </a:p>
        </p:txBody>
      </p:sp>
      <p:sp>
        <p:nvSpPr>
          <p:cNvPr id="3" name="Content Placeholder 2"/>
          <p:cNvSpPr>
            <a:spLocks noGrp="1"/>
          </p:cNvSpPr>
          <p:nvPr>
            <p:ph sz="quarter" idx="1"/>
          </p:nvPr>
        </p:nvSpPr>
        <p:spPr>
          <a:xfrm>
            <a:off x="457200" y="1600200"/>
            <a:ext cx="8229600" cy="4781128"/>
          </a:xfrm>
        </p:spPr>
        <p:txBody>
          <a:bodyPr>
            <a:normAutofit/>
          </a:bodyPr>
          <a:lstStyle/>
          <a:p>
            <a:r>
              <a:rPr lang="en-US" sz="2700" b="1" dirty="0" smtClean="0">
                <a:latin typeface="Times New Roman" pitchFamily="18" charset="0"/>
                <a:ea typeface="ＭＳ Ｐゴシック" pitchFamily="34" charset="-128"/>
                <a:cs typeface="Times New Roman" pitchFamily="18" charset="0"/>
              </a:rPr>
              <a:t>Database</a:t>
            </a:r>
            <a:r>
              <a:rPr lang="en-US" sz="2700" dirty="0" smtClean="0">
                <a:latin typeface="Times New Roman" pitchFamily="18" charset="0"/>
                <a:ea typeface="ＭＳ Ｐゴシック" pitchFamily="34" charset="-128"/>
                <a:cs typeface="Times New Roman" pitchFamily="18" charset="0"/>
              </a:rPr>
              <a:t> is a collection of related data.</a:t>
            </a:r>
          </a:p>
          <a:p>
            <a:r>
              <a:rPr lang="en-US" sz="2700" b="1" dirty="0" smtClean="0">
                <a:latin typeface="Times New Roman" pitchFamily="18" charset="0"/>
                <a:ea typeface="ＭＳ Ｐゴシック" pitchFamily="34" charset="-128"/>
                <a:cs typeface="Times New Roman" pitchFamily="18" charset="0"/>
              </a:rPr>
              <a:t>Data</a:t>
            </a:r>
            <a:r>
              <a:rPr lang="en-US" sz="2700" dirty="0" smtClean="0">
                <a:latin typeface="Times New Roman" pitchFamily="18" charset="0"/>
                <a:ea typeface="ＭＳ Ｐゴシック" pitchFamily="34" charset="-128"/>
                <a:cs typeface="Times New Roman" pitchFamily="18" charset="0"/>
              </a:rPr>
              <a:t> is a known fact that have implicit meaning </a:t>
            </a:r>
          </a:p>
          <a:p>
            <a:r>
              <a:rPr lang="en-US" sz="2700" b="1" dirty="0" smtClean="0">
                <a:latin typeface="Times New Roman" pitchFamily="18" charset="0"/>
                <a:ea typeface="ＭＳ Ｐゴシック" pitchFamily="34" charset="-128"/>
                <a:cs typeface="Times New Roman" pitchFamily="18" charset="0"/>
              </a:rPr>
              <a:t>DBMS</a:t>
            </a:r>
            <a:r>
              <a:rPr lang="en-US" sz="2700" dirty="0" smtClean="0">
                <a:latin typeface="Times New Roman" pitchFamily="18" charset="0"/>
                <a:ea typeface="ＭＳ Ｐゴシック" pitchFamily="34" charset="-128"/>
                <a:cs typeface="Times New Roman" pitchFamily="18" charset="0"/>
              </a:rPr>
              <a:t> is a software system that facilitate user to design and maintain database. </a:t>
            </a:r>
          </a:p>
          <a:p>
            <a:r>
              <a:rPr lang="en-US" sz="2700" dirty="0">
                <a:latin typeface="Times New Roman" pitchFamily="18" charset="0"/>
                <a:cs typeface="Times New Roman" pitchFamily="18" charset="0"/>
              </a:rPr>
              <a:t>It establish a relation </a:t>
            </a:r>
            <a:r>
              <a:rPr lang="en-US" sz="2700">
                <a:latin typeface="Times New Roman" pitchFamily="18" charset="0"/>
                <a:cs typeface="Times New Roman" pitchFamily="18" charset="0"/>
              </a:rPr>
              <a:t>between </a:t>
            </a:r>
            <a:r>
              <a:rPr lang="en-US" sz="2700" smtClean="0">
                <a:latin typeface="Times New Roman" pitchFamily="18" charset="0"/>
                <a:cs typeface="Times New Roman" pitchFamily="18" charset="0"/>
              </a:rPr>
              <a:t>entities.</a:t>
            </a:r>
            <a:endParaRPr lang="en-US" sz="2700" dirty="0">
              <a:latin typeface="Times New Roman" pitchFamily="18" charset="0"/>
              <a:cs typeface="Times New Roman" pitchFamily="18" charset="0"/>
            </a:endParaRPr>
          </a:p>
          <a:p>
            <a:pPr lvl="1"/>
            <a:r>
              <a:rPr lang="en-US" sz="2700" dirty="0">
                <a:latin typeface="Times New Roman" pitchFamily="18" charset="0"/>
                <a:cs typeface="Times New Roman" pitchFamily="18" charset="0"/>
              </a:rPr>
              <a:t>Ex. A student information Table. Here student is entities and their details are attribute.</a:t>
            </a:r>
          </a:p>
          <a:p>
            <a:r>
              <a:rPr lang="en-US" sz="2700" dirty="0">
                <a:latin typeface="Times New Roman" pitchFamily="18" charset="0"/>
                <a:cs typeface="Times New Roman" pitchFamily="18" charset="0"/>
              </a:rPr>
              <a:t>It also store information related to data called metadata.</a:t>
            </a:r>
          </a:p>
          <a:p>
            <a:r>
              <a:rPr lang="en-US" sz="2700" dirty="0" smtClean="0">
                <a:latin typeface="Times New Roman" pitchFamily="18" charset="0"/>
                <a:ea typeface="ＭＳ Ｐゴシック" pitchFamily="34" charset="-128"/>
                <a:cs typeface="Times New Roman" pitchFamily="18" charset="0"/>
              </a:rPr>
              <a:t>Databases touch all aspects of our lives</a:t>
            </a:r>
          </a:p>
        </p:txBody>
      </p:sp>
    </p:spTree>
    <p:extLst>
      <p:ext uri="{BB962C8B-B14F-4D97-AF65-F5344CB8AC3E}">
        <p14:creationId xmlns:p14="http://schemas.microsoft.com/office/powerpoint/2010/main" val="36230293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sz="quarter" idx="1"/>
          </p:nvPr>
        </p:nvSpPr>
        <p:spPr/>
        <p:txBody>
          <a:bodyPr/>
          <a:lstStyle/>
          <a:p>
            <a:r>
              <a:rPr lang="en-US" dirty="0" smtClean="0">
                <a:latin typeface="Times New Roman" pitchFamily="18" charset="0"/>
                <a:cs typeface="Times New Roman" pitchFamily="18" charset="0"/>
              </a:rPr>
              <a:t>It is a general purpose software system that facilitates the process of defining, constructing and manipulating database for various applications. </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573699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a:xfrm>
            <a:off x="914400" y="260647"/>
            <a:ext cx="7772400" cy="5995245"/>
          </a:xfrm>
        </p:spPr>
        <p:txBody>
          <a:bodyPr/>
          <a:lstStyle/>
          <a:p>
            <a:endParaRPr lang="en-IN"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332656"/>
            <a:ext cx="8712968" cy="6264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8870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of DBMS</a:t>
            </a:r>
            <a:endParaRPr lang="en-IN" dirty="0"/>
          </a:p>
        </p:txBody>
      </p:sp>
      <p:graphicFrame>
        <p:nvGraphicFramePr>
          <p:cNvPr id="6" name="Content Placeholder 5"/>
          <p:cNvGraphicFramePr>
            <a:graphicFrameLocks noGrp="1"/>
          </p:cNvGraphicFramePr>
          <p:nvPr>
            <p:ph sz="quarter" idx="1"/>
            <p:extLst>
              <p:ext uri="{D42A27DB-BD31-4B8C-83A1-F6EECF244321}">
                <p14:modId xmlns:p14="http://schemas.microsoft.com/office/powerpoint/2010/main" val="2053205957"/>
              </p:ext>
            </p:extLst>
          </p:nvPr>
        </p:nvGraphicFramePr>
        <p:xfrm>
          <a:off x="914400" y="1447800"/>
          <a:ext cx="7772400" cy="5064760"/>
        </p:xfrm>
        <a:graphic>
          <a:graphicData uri="http://schemas.openxmlformats.org/drawingml/2006/table">
            <a:tbl>
              <a:tblPr firstRow="1" bandRow="1">
                <a:tableStyleId>{17292A2E-F333-43FB-9621-5CBBE7FDCDCB}</a:tableStyleId>
              </a:tblPr>
              <a:tblGrid>
                <a:gridCol w="2865512"/>
                <a:gridCol w="4906888"/>
              </a:tblGrid>
              <a:tr h="370840">
                <a:tc>
                  <a:txBody>
                    <a:bodyPr/>
                    <a:lstStyle/>
                    <a:p>
                      <a:r>
                        <a:rPr lang="en-US" dirty="0" smtClean="0"/>
                        <a:t>Sector</a:t>
                      </a:r>
                      <a:endParaRPr lang="en-IN" dirty="0"/>
                    </a:p>
                  </a:txBody>
                  <a:tcPr/>
                </a:tc>
                <a:tc>
                  <a:txBody>
                    <a:bodyPr/>
                    <a:lstStyle/>
                    <a:p>
                      <a:r>
                        <a:rPr lang="en-US" dirty="0" smtClean="0"/>
                        <a:t>Use of  DBMS</a:t>
                      </a:r>
                      <a:endParaRPr lang="en-IN" dirty="0"/>
                    </a:p>
                  </a:txBody>
                  <a:tcPr/>
                </a:tc>
              </a:tr>
              <a:tr h="370840">
                <a:tc>
                  <a:txBody>
                    <a:bodyPr/>
                    <a:lstStyle/>
                    <a:p>
                      <a:r>
                        <a:rPr lang="en-US" sz="1900" dirty="0" smtClean="0">
                          <a:latin typeface="Times New Roman" pitchFamily="18" charset="0"/>
                          <a:cs typeface="Times New Roman" pitchFamily="18" charset="0"/>
                        </a:rPr>
                        <a:t>Banking</a:t>
                      </a:r>
                      <a:endParaRPr lang="en-IN" sz="1900" dirty="0">
                        <a:latin typeface="Times New Roman" pitchFamily="18" charset="0"/>
                        <a:cs typeface="Times New Roman" pitchFamily="18" charset="0"/>
                      </a:endParaRPr>
                    </a:p>
                  </a:txBody>
                  <a:tcPr/>
                </a:tc>
                <a:tc>
                  <a:txBody>
                    <a:bodyPr/>
                    <a:lstStyle/>
                    <a:p>
                      <a:r>
                        <a:rPr lang="en-IN" sz="1900" dirty="0" smtClean="0">
                          <a:latin typeface="Times New Roman" pitchFamily="18" charset="0"/>
                          <a:cs typeface="Times New Roman" pitchFamily="18" charset="0"/>
                        </a:rPr>
                        <a:t>For customer information, account activities, payments, deposits, loans, etc. </a:t>
                      </a:r>
                      <a:endParaRPr lang="en-IN" sz="1900" dirty="0">
                        <a:latin typeface="Times New Roman" pitchFamily="18" charset="0"/>
                        <a:cs typeface="Times New Roman" pitchFamily="18" charset="0"/>
                      </a:endParaRPr>
                    </a:p>
                  </a:txBody>
                  <a:tcPr/>
                </a:tc>
              </a:tr>
              <a:tr h="370840">
                <a:tc>
                  <a:txBody>
                    <a:bodyPr/>
                    <a:lstStyle/>
                    <a:p>
                      <a:r>
                        <a:rPr lang="en-US" sz="1900" dirty="0" smtClean="0">
                          <a:latin typeface="Times New Roman" pitchFamily="18" charset="0"/>
                          <a:cs typeface="Times New Roman" pitchFamily="18" charset="0"/>
                        </a:rPr>
                        <a:t>Airlines, Railways</a:t>
                      </a:r>
                      <a:endParaRPr lang="en-IN" sz="1900" dirty="0">
                        <a:latin typeface="Times New Roman" pitchFamily="18" charset="0"/>
                        <a:cs typeface="Times New Roman" pitchFamily="18" charset="0"/>
                      </a:endParaRPr>
                    </a:p>
                  </a:txBody>
                  <a:tcPr/>
                </a:tc>
                <a:tc>
                  <a:txBody>
                    <a:bodyPr/>
                    <a:lstStyle/>
                    <a:p>
                      <a:r>
                        <a:rPr lang="en-US" sz="1900" dirty="0" smtClean="0">
                          <a:latin typeface="Times New Roman" pitchFamily="18" charset="0"/>
                          <a:cs typeface="Times New Roman" pitchFamily="18" charset="0"/>
                        </a:rPr>
                        <a:t>For reservations and schedule information.</a:t>
                      </a:r>
                      <a:endParaRPr lang="en-IN" sz="1900" dirty="0">
                        <a:latin typeface="Times New Roman" pitchFamily="18" charset="0"/>
                        <a:cs typeface="Times New Roman" pitchFamily="18" charset="0"/>
                      </a:endParaRPr>
                    </a:p>
                  </a:txBody>
                  <a:tcPr/>
                </a:tc>
              </a:tr>
              <a:tr h="370840">
                <a:tc>
                  <a:txBody>
                    <a:bodyPr/>
                    <a:lstStyle/>
                    <a:p>
                      <a:r>
                        <a:rPr lang="en-US" sz="1900" dirty="0" smtClean="0">
                          <a:latin typeface="Times New Roman" pitchFamily="18" charset="0"/>
                          <a:cs typeface="Times New Roman" pitchFamily="18" charset="0"/>
                        </a:rPr>
                        <a:t>Universities,</a:t>
                      </a:r>
                      <a:r>
                        <a:rPr lang="en-US" sz="1900" baseline="0" dirty="0" smtClean="0">
                          <a:latin typeface="Times New Roman" pitchFamily="18" charset="0"/>
                          <a:cs typeface="Times New Roman" pitchFamily="18" charset="0"/>
                        </a:rPr>
                        <a:t> Colleges </a:t>
                      </a:r>
                      <a:endParaRPr lang="en-IN" sz="1900" dirty="0">
                        <a:latin typeface="Times New Roman" pitchFamily="18" charset="0"/>
                        <a:cs typeface="Times New Roman" pitchFamily="18" charset="0"/>
                      </a:endParaRPr>
                    </a:p>
                  </a:txBody>
                  <a:tcPr/>
                </a:tc>
                <a:tc>
                  <a:txBody>
                    <a:bodyPr/>
                    <a:lstStyle/>
                    <a:p>
                      <a:r>
                        <a:rPr lang="en-US" sz="1900" dirty="0" smtClean="0">
                          <a:latin typeface="Times New Roman" pitchFamily="18" charset="0"/>
                          <a:cs typeface="Times New Roman" pitchFamily="18" charset="0"/>
                        </a:rPr>
                        <a:t>For student information, course registrations, colleges and grades. </a:t>
                      </a:r>
                      <a:endParaRPr lang="en-IN" sz="1900" dirty="0">
                        <a:latin typeface="Times New Roman" pitchFamily="18" charset="0"/>
                        <a:cs typeface="Times New Roman" pitchFamily="18" charset="0"/>
                      </a:endParaRPr>
                    </a:p>
                  </a:txBody>
                  <a:tcPr/>
                </a:tc>
              </a:tr>
              <a:tr h="370840">
                <a:tc>
                  <a:txBody>
                    <a:bodyPr/>
                    <a:lstStyle/>
                    <a:p>
                      <a:r>
                        <a:rPr lang="en-US" sz="1900" dirty="0" smtClean="0">
                          <a:latin typeface="Times New Roman" pitchFamily="18" charset="0"/>
                          <a:cs typeface="Times New Roman" pitchFamily="18" charset="0"/>
                        </a:rPr>
                        <a:t>Telecommunications</a:t>
                      </a:r>
                      <a:endParaRPr lang="en-IN" sz="1900" dirty="0">
                        <a:latin typeface="Times New Roman" pitchFamily="18" charset="0"/>
                        <a:cs typeface="Times New Roman" pitchFamily="18" charset="0"/>
                      </a:endParaRPr>
                    </a:p>
                  </a:txBody>
                  <a:tcPr/>
                </a:tc>
                <a:tc>
                  <a:txBody>
                    <a:bodyPr/>
                    <a:lstStyle/>
                    <a:p>
                      <a:r>
                        <a:rPr lang="en-US" sz="1900" dirty="0" smtClean="0">
                          <a:latin typeface="Times New Roman" pitchFamily="18" charset="0"/>
                          <a:cs typeface="Times New Roman" pitchFamily="18" charset="0"/>
                        </a:rPr>
                        <a:t>It helps to keep call records, monthly bills, maintaining balances, etc. </a:t>
                      </a:r>
                      <a:endParaRPr lang="en-IN" sz="1900" dirty="0">
                        <a:latin typeface="Times New Roman" pitchFamily="18" charset="0"/>
                        <a:cs typeface="Times New Roman" pitchFamily="18" charset="0"/>
                      </a:endParaRPr>
                    </a:p>
                  </a:txBody>
                  <a:tcPr/>
                </a:tc>
              </a:tr>
              <a:tr h="370840">
                <a:tc>
                  <a:txBody>
                    <a:bodyPr/>
                    <a:lstStyle/>
                    <a:p>
                      <a:r>
                        <a:rPr lang="en-US" sz="1900" dirty="0" smtClean="0">
                          <a:latin typeface="Times New Roman" pitchFamily="18" charset="0"/>
                          <a:cs typeface="Times New Roman" pitchFamily="18" charset="0"/>
                        </a:rPr>
                        <a:t>Finance</a:t>
                      </a:r>
                      <a:endParaRPr lang="en-IN" sz="1900" dirty="0">
                        <a:latin typeface="Times New Roman" pitchFamily="18" charset="0"/>
                        <a:cs typeface="Times New Roman" pitchFamily="18" charset="0"/>
                      </a:endParaRPr>
                    </a:p>
                  </a:txBody>
                  <a:tcPr/>
                </a:tc>
                <a:tc>
                  <a:txBody>
                    <a:bodyPr/>
                    <a:lstStyle/>
                    <a:p>
                      <a:r>
                        <a:rPr lang="en-US" sz="1900" dirty="0" smtClean="0">
                          <a:latin typeface="Times New Roman" pitchFamily="18" charset="0"/>
                          <a:cs typeface="Times New Roman" pitchFamily="18" charset="0"/>
                        </a:rPr>
                        <a:t>For storing information about stock, sales, and purchases of financial instruments like stocks and bonds. </a:t>
                      </a:r>
                      <a:endParaRPr lang="en-IN" sz="1900" dirty="0">
                        <a:latin typeface="Times New Roman" pitchFamily="18" charset="0"/>
                        <a:cs typeface="Times New Roman" pitchFamily="18" charset="0"/>
                      </a:endParaRPr>
                    </a:p>
                  </a:txBody>
                  <a:tcPr/>
                </a:tc>
              </a:tr>
              <a:tr h="370840">
                <a:tc>
                  <a:txBody>
                    <a:bodyPr/>
                    <a:lstStyle/>
                    <a:p>
                      <a:r>
                        <a:rPr lang="en-US" sz="1900" dirty="0" smtClean="0">
                          <a:latin typeface="Times New Roman" pitchFamily="18" charset="0"/>
                          <a:cs typeface="Times New Roman" pitchFamily="18" charset="0"/>
                        </a:rPr>
                        <a:t>Sales</a:t>
                      </a:r>
                      <a:endParaRPr lang="en-IN" sz="1900" dirty="0">
                        <a:latin typeface="Times New Roman" pitchFamily="18" charset="0"/>
                        <a:cs typeface="Times New Roman" pitchFamily="18" charset="0"/>
                      </a:endParaRPr>
                    </a:p>
                  </a:txBody>
                  <a:tcPr/>
                </a:tc>
                <a:tc>
                  <a:txBody>
                    <a:bodyPr/>
                    <a:lstStyle/>
                    <a:p>
                      <a:r>
                        <a:rPr lang="en-US" sz="1900" dirty="0" smtClean="0">
                          <a:latin typeface="Times New Roman" pitchFamily="18" charset="0"/>
                          <a:cs typeface="Times New Roman" pitchFamily="18" charset="0"/>
                        </a:rPr>
                        <a:t>Use for storing customer, product &amp; sales information. </a:t>
                      </a:r>
                      <a:endParaRPr lang="en-IN" sz="1900" dirty="0">
                        <a:latin typeface="Times New Roman" pitchFamily="18" charset="0"/>
                        <a:cs typeface="Times New Roman" pitchFamily="18" charset="0"/>
                      </a:endParaRPr>
                    </a:p>
                  </a:txBody>
                  <a:tcPr/>
                </a:tc>
              </a:tr>
              <a:tr h="370840">
                <a:tc>
                  <a:txBody>
                    <a:bodyPr/>
                    <a:lstStyle/>
                    <a:p>
                      <a:r>
                        <a:rPr lang="en-US" sz="1900" dirty="0" smtClean="0">
                          <a:latin typeface="Times New Roman" pitchFamily="18" charset="0"/>
                          <a:cs typeface="Times New Roman" pitchFamily="18" charset="0"/>
                        </a:rPr>
                        <a:t>HR</a:t>
                      </a:r>
                      <a:endParaRPr lang="en-IN" sz="1900" dirty="0">
                        <a:latin typeface="Times New Roman" pitchFamily="18" charset="0"/>
                        <a:cs typeface="Times New Roman" pitchFamily="18" charset="0"/>
                      </a:endParaRPr>
                    </a:p>
                  </a:txBody>
                  <a:tcPr/>
                </a:tc>
                <a:tc>
                  <a:txBody>
                    <a:bodyPr/>
                    <a:lstStyle/>
                    <a:p>
                      <a:r>
                        <a:rPr lang="en-US" sz="1900" dirty="0" smtClean="0">
                          <a:latin typeface="Times New Roman" pitchFamily="18" charset="0"/>
                          <a:cs typeface="Times New Roman" pitchFamily="18" charset="0"/>
                        </a:rPr>
                        <a:t>For information about employees, salaries, payroll, deduction, generation of paychecks, etc. </a:t>
                      </a:r>
                      <a:endParaRPr lang="en-IN" sz="1900"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19891131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latin typeface="Times New Roman" pitchFamily="18" charset="0"/>
                <a:cs typeface="Times New Roman" pitchFamily="18" charset="0"/>
              </a:rPr>
              <a:t>Popular DBMS </a:t>
            </a:r>
            <a:r>
              <a:rPr lang="en-IN" b="1" dirty="0" smtClean="0">
                <a:latin typeface="Times New Roman" pitchFamily="18" charset="0"/>
                <a:cs typeface="Times New Roman" pitchFamily="18" charset="0"/>
              </a:rPr>
              <a:t>Software</a:t>
            </a:r>
            <a:endParaRPr lang="en-IN"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r>
              <a:rPr lang="en-IN" dirty="0">
                <a:latin typeface="Times New Roman" pitchFamily="18" charset="0"/>
                <a:cs typeface="Times New Roman" pitchFamily="18" charset="0"/>
              </a:rPr>
              <a:t>MySQL</a:t>
            </a:r>
          </a:p>
          <a:p>
            <a:r>
              <a:rPr lang="en-IN" dirty="0">
                <a:latin typeface="Times New Roman" pitchFamily="18" charset="0"/>
                <a:cs typeface="Times New Roman" pitchFamily="18" charset="0"/>
              </a:rPr>
              <a:t>Microsoft Access</a:t>
            </a:r>
          </a:p>
          <a:p>
            <a:r>
              <a:rPr lang="en-IN" dirty="0">
                <a:latin typeface="Times New Roman" pitchFamily="18" charset="0"/>
                <a:cs typeface="Times New Roman" pitchFamily="18" charset="0"/>
              </a:rPr>
              <a:t>Oracle</a:t>
            </a:r>
          </a:p>
          <a:p>
            <a:r>
              <a:rPr lang="en-IN" dirty="0" err="1">
                <a:latin typeface="Times New Roman" pitchFamily="18" charset="0"/>
                <a:cs typeface="Times New Roman" pitchFamily="18" charset="0"/>
              </a:rPr>
              <a:t>PostgreSQL</a:t>
            </a:r>
            <a:endParaRPr lang="en-IN" dirty="0">
              <a:latin typeface="Times New Roman" pitchFamily="18" charset="0"/>
              <a:cs typeface="Times New Roman" pitchFamily="18" charset="0"/>
            </a:endParaRPr>
          </a:p>
          <a:p>
            <a:r>
              <a:rPr lang="en-IN" dirty="0" smtClean="0">
                <a:latin typeface="Times New Roman" pitchFamily="18" charset="0"/>
                <a:cs typeface="Times New Roman" pitchFamily="18" charset="0"/>
              </a:rPr>
              <a:t>SQLite</a:t>
            </a:r>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IBM DB2</a:t>
            </a:r>
          </a:p>
          <a:p>
            <a:r>
              <a:rPr lang="en-IN" dirty="0" err="1">
                <a:latin typeface="Times New Roman" pitchFamily="18" charset="0"/>
                <a:cs typeface="Times New Roman" pitchFamily="18" charset="0"/>
              </a:rPr>
              <a:t>LibreOffice</a:t>
            </a:r>
            <a:r>
              <a:rPr lang="en-IN" dirty="0">
                <a:latin typeface="Times New Roman" pitchFamily="18" charset="0"/>
                <a:cs typeface="Times New Roman" pitchFamily="18" charset="0"/>
              </a:rPr>
              <a:t> Base</a:t>
            </a:r>
          </a:p>
          <a:p>
            <a:r>
              <a:rPr lang="en-IN" dirty="0" err="1">
                <a:latin typeface="Times New Roman" pitchFamily="18" charset="0"/>
                <a:cs typeface="Times New Roman" pitchFamily="18" charset="0"/>
              </a:rPr>
              <a:t>MariaDB</a:t>
            </a:r>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Microsoft SQL Server etc.</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91966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Limitations of file system</a:t>
            </a:r>
            <a:endParaRPr lang="en-IN" dirty="0"/>
          </a:p>
        </p:txBody>
      </p:sp>
      <p:sp>
        <p:nvSpPr>
          <p:cNvPr id="3" name="Content Placeholder 2"/>
          <p:cNvSpPr>
            <a:spLocks noGrp="1"/>
          </p:cNvSpPr>
          <p:nvPr>
            <p:ph sz="quarter" idx="1"/>
          </p:nvPr>
        </p:nvSpPr>
        <p:spPr/>
        <p:txBody>
          <a:bodyPr>
            <a:normAutofit/>
          </a:bodyPr>
          <a:lstStyle/>
          <a:p>
            <a:r>
              <a:rPr lang="en-US" dirty="0">
                <a:solidFill>
                  <a:srgbClr val="FF0000"/>
                </a:solidFill>
                <a:latin typeface="Times New Roman" pitchFamily="18" charset="0"/>
                <a:cs typeface="Times New Roman" pitchFamily="18" charset="0"/>
              </a:rPr>
              <a:t>Data redundancy and inconsistency</a:t>
            </a:r>
          </a:p>
          <a:p>
            <a:pPr lvl="1"/>
            <a:r>
              <a:rPr lang="en-US" dirty="0">
                <a:latin typeface="Times New Roman" pitchFamily="18" charset="0"/>
                <a:cs typeface="Times New Roman" pitchFamily="18" charset="0"/>
              </a:rPr>
              <a:t>Multiple file formats, duplication of information in different files</a:t>
            </a:r>
          </a:p>
          <a:p>
            <a:r>
              <a:rPr lang="en-US" dirty="0">
                <a:solidFill>
                  <a:srgbClr val="FF0000"/>
                </a:solidFill>
                <a:latin typeface="Times New Roman" pitchFamily="18" charset="0"/>
                <a:cs typeface="Times New Roman" pitchFamily="18" charset="0"/>
              </a:rPr>
              <a:t>Difficulty in accessing data </a:t>
            </a:r>
          </a:p>
          <a:p>
            <a:pPr lvl="1"/>
            <a:r>
              <a:rPr lang="en-US" dirty="0">
                <a:latin typeface="Times New Roman" pitchFamily="18" charset="0"/>
                <a:cs typeface="Times New Roman" pitchFamily="18" charset="0"/>
              </a:rPr>
              <a:t>Need to write a new program to carry out each new task</a:t>
            </a:r>
          </a:p>
          <a:p>
            <a:r>
              <a:rPr lang="en-US" dirty="0">
                <a:solidFill>
                  <a:srgbClr val="FF0000"/>
                </a:solidFill>
                <a:latin typeface="Times New Roman" pitchFamily="18" charset="0"/>
                <a:cs typeface="Times New Roman" pitchFamily="18" charset="0"/>
              </a:rPr>
              <a:t>Data isolation — multiple files and formats</a:t>
            </a:r>
          </a:p>
          <a:p>
            <a:pPr lvl="1"/>
            <a:r>
              <a:rPr lang="en-US" dirty="0">
                <a:latin typeface="Times New Roman" pitchFamily="18" charset="0"/>
                <a:cs typeface="Times New Roman" pitchFamily="18" charset="0"/>
              </a:rPr>
              <a:t>Integrity problems</a:t>
            </a:r>
          </a:p>
          <a:p>
            <a:pPr lvl="1"/>
            <a:r>
              <a:rPr lang="en-US" dirty="0">
                <a:latin typeface="Times New Roman" pitchFamily="18" charset="0"/>
                <a:cs typeface="Times New Roman" pitchFamily="18" charset="0"/>
              </a:rPr>
              <a:t>Integrity constraints  (e.g. account balance &gt; 0) become part of program code</a:t>
            </a:r>
          </a:p>
          <a:p>
            <a:pPr lvl="1"/>
            <a:r>
              <a:rPr lang="en-US" dirty="0">
                <a:latin typeface="Times New Roman" pitchFamily="18" charset="0"/>
                <a:cs typeface="Times New Roman" pitchFamily="18" charset="0"/>
              </a:rPr>
              <a:t>Hard to add new constraints or change existing ones</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151204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lnSpcReduction="10000"/>
          </a:bodyPr>
          <a:lstStyle/>
          <a:p>
            <a:r>
              <a:rPr lang="en-US" dirty="0">
                <a:solidFill>
                  <a:srgbClr val="FF0000"/>
                </a:solidFill>
                <a:latin typeface="Times New Roman" pitchFamily="18" charset="0"/>
                <a:cs typeface="Times New Roman" pitchFamily="18" charset="0"/>
              </a:rPr>
              <a:t>Atomicity of updates</a:t>
            </a:r>
          </a:p>
          <a:p>
            <a:pPr lvl="1"/>
            <a:r>
              <a:rPr lang="en-US" dirty="0">
                <a:latin typeface="Times New Roman" pitchFamily="18" charset="0"/>
                <a:cs typeface="Times New Roman" pitchFamily="18" charset="0"/>
              </a:rPr>
              <a:t>Failures may leave database in an inconsistent state with partial updates carried out</a:t>
            </a:r>
          </a:p>
          <a:p>
            <a:pPr lvl="1"/>
            <a:r>
              <a:rPr lang="en-US" dirty="0">
                <a:latin typeface="Times New Roman" pitchFamily="18" charset="0"/>
                <a:cs typeface="Times New Roman" pitchFamily="18" charset="0"/>
              </a:rPr>
              <a:t>E.g. transfer of funds from one account to another should either complete or not happen at all</a:t>
            </a:r>
          </a:p>
          <a:p>
            <a:r>
              <a:rPr lang="en-US" dirty="0">
                <a:solidFill>
                  <a:srgbClr val="FF0000"/>
                </a:solidFill>
                <a:latin typeface="Times New Roman" pitchFamily="18" charset="0"/>
                <a:cs typeface="Times New Roman" pitchFamily="18" charset="0"/>
              </a:rPr>
              <a:t>Concurrent access by multiple users</a:t>
            </a:r>
          </a:p>
          <a:p>
            <a:pPr lvl="1"/>
            <a:r>
              <a:rPr lang="en-US" dirty="0">
                <a:latin typeface="Times New Roman" pitchFamily="18" charset="0"/>
                <a:cs typeface="Times New Roman" pitchFamily="18" charset="0"/>
              </a:rPr>
              <a:t>Concurrent accessed needed for performance</a:t>
            </a:r>
          </a:p>
          <a:p>
            <a:pPr lvl="1"/>
            <a:r>
              <a:rPr lang="en-US" dirty="0">
                <a:latin typeface="Times New Roman" pitchFamily="18" charset="0"/>
                <a:cs typeface="Times New Roman" pitchFamily="18" charset="0"/>
              </a:rPr>
              <a:t>Uncontrolled concurrent accesses can lead to inconsistencies</a:t>
            </a:r>
          </a:p>
          <a:p>
            <a:pPr lvl="1"/>
            <a:r>
              <a:rPr lang="en-US" dirty="0">
                <a:latin typeface="Times New Roman" pitchFamily="18" charset="0"/>
                <a:cs typeface="Times New Roman" pitchFamily="18" charset="0"/>
              </a:rPr>
              <a:t>E.g. two people reading a balance and updating it at the same time</a:t>
            </a:r>
          </a:p>
          <a:p>
            <a:r>
              <a:rPr lang="en-US" dirty="0">
                <a:solidFill>
                  <a:srgbClr val="FF0000"/>
                </a:solidFill>
                <a:latin typeface="Times New Roman" pitchFamily="18" charset="0"/>
                <a:cs typeface="Times New Roman" pitchFamily="18" charset="0"/>
              </a:rPr>
              <a:t>Security problems</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36866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00" b="1" dirty="0">
                <a:latin typeface="Times New Roman" pitchFamily="18" charset="0"/>
                <a:cs typeface="Times New Roman" pitchFamily="18" charset="0"/>
              </a:rPr>
              <a:t>Characteristics of </a:t>
            </a:r>
            <a:r>
              <a:rPr lang="en-US" sz="3700" b="1" dirty="0" smtClean="0">
                <a:latin typeface="Times New Roman" pitchFamily="18" charset="0"/>
                <a:cs typeface="Times New Roman" pitchFamily="18" charset="0"/>
              </a:rPr>
              <a:t>DBMS</a:t>
            </a:r>
            <a:endParaRPr lang="en-IN" sz="3700"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fontScale="92500" lnSpcReduction="10000"/>
          </a:bodyPr>
          <a:lstStyle/>
          <a:p>
            <a:r>
              <a:rPr lang="en-US" dirty="0">
                <a:latin typeface="Times New Roman" pitchFamily="18" charset="0"/>
                <a:cs typeface="Times New Roman" pitchFamily="18" charset="0"/>
              </a:rPr>
              <a:t> Provides security and removes redundancy</a:t>
            </a: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Self-describing </a:t>
            </a:r>
            <a:r>
              <a:rPr lang="en-US" dirty="0">
                <a:latin typeface="Times New Roman" pitchFamily="18" charset="0"/>
                <a:cs typeface="Times New Roman" pitchFamily="18" charset="0"/>
              </a:rPr>
              <a:t>nature of a database system</a:t>
            </a: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Insulation </a:t>
            </a:r>
            <a:r>
              <a:rPr lang="en-US" dirty="0">
                <a:latin typeface="Times New Roman" pitchFamily="18" charset="0"/>
                <a:cs typeface="Times New Roman" pitchFamily="18" charset="0"/>
              </a:rPr>
              <a:t>between programs and data abstraction</a:t>
            </a: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Support </a:t>
            </a:r>
            <a:r>
              <a:rPr lang="en-US" dirty="0">
                <a:latin typeface="Times New Roman" pitchFamily="18" charset="0"/>
                <a:cs typeface="Times New Roman" pitchFamily="18" charset="0"/>
              </a:rPr>
              <a:t>of multiple views of the data</a:t>
            </a: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Sharing </a:t>
            </a:r>
            <a:r>
              <a:rPr lang="en-US" dirty="0">
                <a:latin typeface="Times New Roman" pitchFamily="18" charset="0"/>
                <a:cs typeface="Times New Roman" pitchFamily="18" charset="0"/>
              </a:rPr>
              <a:t>of data and multiuser transaction processing</a:t>
            </a: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DBMS </a:t>
            </a:r>
            <a:r>
              <a:rPr lang="en-US" dirty="0">
                <a:latin typeface="Times New Roman" pitchFamily="18" charset="0"/>
                <a:cs typeface="Times New Roman" pitchFamily="18" charset="0"/>
              </a:rPr>
              <a:t>allows entities and relations among them to </a:t>
            </a:r>
            <a:r>
              <a:rPr lang="en-US" dirty="0" smtClean="0">
                <a:latin typeface="Times New Roman" pitchFamily="18" charset="0"/>
                <a:cs typeface="Times New Roman" pitchFamily="18" charset="0"/>
              </a:rPr>
              <a:t>       </a:t>
            </a:r>
          </a:p>
          <a:p>
            <a:pPr marL="0" indent="0">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form </a:t>
            </a:r>
            <a:r>
              <a:rPr lang="en-US" dirty="0">
                <a:latin typeface="Times New Roman" pitchFamily="18" charset="0"/>
                <a:cs typeface="Times New Roman" pitchFamily="18" charset="0"/>
              </a:rPr>
              <a:t>tables.</a:t>
            </a: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It </a:t>
            </a:r>
            <a:r>
              <a:rPr lang="en-US" dirty="0">
                <a:latin typeface="Times New Roman" pitchFamily="18" charset="0"/>
                <a:cs typeface="Times New Roman" pitchFamily="18" charset="0"/>
              </a:rPr>
              <a:t>follows the ACID concept ( Atomicity, Consistency, </a:t>
            </a:r>
            <a:endParaRPr lang="en-US" dirty="0" smtClean="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Isolation</a:t>
            </a:r>
            <a:r>
              <a:rPr lang="en-US" dirty="0">
                <a:latin typeface="Times New Roman" pitchFamily="18" charset="0"/>
                <a:cs typeface="Times New Roman" pitchFamily="18" charset="0"/>
              </a:rPr>
              <a:t>, and Durability).</a:t>
            </a: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DBMS </a:t>
            </a:r>
            <a:r>
              <a:rPr lang="en-US" dirty="0">
                <a:latin typeface="Times New Roman" pitchFamily="18" charset="0"/>
                <a:cs typeface="Times New Roman" pitchFamily="18" charset="0"/>
              </a:rPr>
              <a:t>supports multi-user environment that allows users to access and manipulate data in parallel.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78355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DBMS vs. Flat </a:t>
            </a:r>
            <a:r>
              <a:rPr lang="en-IN" b="1" dirty="0" smtClean="0"/>
              <a:t>File</a:t>
            </a:r>
            <a:endParaRPr lang="en-IN"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2791540224"/>
              </p:ext>
            </p:extLst>
          </p:nvPr>
        </p:nvGraphicFramePr>
        <p:xfrm>
          <a:off x="914400" y="1447800"/>
          <a:ext cx="7772400" cy="3749040"/>
        </p:xfrm>
        <a:graphic>
          <a:graphicData uri="http://schemas.openxmlformats.org/drawingml/2006/table">
            <a:tbl>
              <a:tblPr firstRow="1" bandRow="1">
                <a:tableStyleId>{17292A2E-F333-43FB-9621-5CBBE7FDCDCB}</a:tableStyleId>
              </a:tblPr>
              <a:tblGrid>
                <a:gridCol w="3886200"/>
                <a:gridCol w="3886200"/>
              </a:tblGrid>
              <a:tr h="370840">
                <a:tc>
                  <a:txBody>
                    <a:bodyPr/>
                    <a:lstStyle/>
                    <a:p>
                      <a:r>
                        <a:rPr lang="en-US" sz="2100" dirty="0" smtClean="0">
                          <a:latin typeface="Times New Roman" pitchFamily="18" charset="0"/>
                          <a:cs typeface="Times New Roman" pitchFamily="18" charset="0"/>
                        </a:rPr>
                        <a:t>DBMS</a:t>
                      </a:r>
                      <a:endParaRPr lang="en-IN" sz="2100" dirty="0">
                        <a:latin typeface="Times New Roman" pitchFamily="18" charset="0"/>
                        <a:cs typeface="Times New Roman" pitchFamily="18" charset="0"/>
                      </a:endParaRPr>
                    </a:p>
                  </a:txBody>
                  <a:tcPr/>
                </a:tc>
                <a:tc>
                  <a:txBody>
                    <a:bodyPr/>
                    <a:lstStyle/>
                    <a:p>
                      <a:r>
                        <a:rPr lang="en-US" sz="2100" dirty="0" smtClean="0">
                          <a:latin typeface="Times New Roman" pitchFamily="18" charset="0"/>
                          <a:cs typeface="Times New Roman" pitchFamily="18" charset="0"/>
                        </a:rPr>
                        <a:t>File Management System</a:t>
                      </a:r>
                      <a:endParaRPr lang="en-IN" sz="2100" dirty="0">
                        <a:latin typeface="Times New Roman" pitchFamily="18" charset="0"/>
                        <a:cs typeface="Times New Roman" pitchFamily="18" charset="0"/>
                      </a:endParaRPr>
                    </a:p>
                  </a:txBody>
                  <a:tcPr/>
                </a:tc>
              </a:tr>
              <a:tr h="370840">
                <a:tc>
                  <a:txBody>
                    <a:bodyPr/>
                    <a:lstStyle/>
                    <a:p>
                      <a:r>
                        <a:rPr lang="en-IN" sz="2100" dirty="0" smtClean="0">
                          <a:latin typeface="Times New Roman" pitchFamily="18" charset="0"/>
                          <a:cs typeface="Times New Roman" pitchFamily="18" charset="0"/>
                        </a:rPr>
                        <a:t>Multi-user access</a:t>
                      </a:r>
                      <a:endParaRPr lang="en-IN" sz="2100" dirty="0">
                        <a:latin typeface="Times New Roman" pitchFamily="18" charset="0"/>
                        <a:cs typeface="Times New Roman" pitchFamily="18" charset="0"/>
                      </a:endParaRPr>
                    </a:p>
                  </a:txBody>
                  <a:tcPr/>
                </a:tc>
                <a:tc>
                  <a:txBody>
                    <a:bodyPr/>
                    <a:lstStyle/>
                    <a:p>
                      <a:r>
                        <a:rPr lang="en-US" sz="2100" dirty="0" smtClean="0">
                          <a:latin typeface="Times New Roman" pitchFamily="18" charset="0"/>
                          <a:cs typeface="Times New Roman" pitchFamily="18" charset="0"/>
                        </a:rPr>
                        <a:t>It does not support multi-user access </a:t>
                      </a:r>
                      <a:endParaRPr lang="en-IN" sz="2100" dirty="0">
                        <a:latin typeface="Times New Roman" pitchFamily="18" charset="0"/>
                        <a:cs typeface="Times New Roman" pitchFamily="18" charset="0"/>
                      </a:endParaRPr>
                    </a:p>
                  </a:txBody>
                  <a:tcPr/>
                </a:tc>
              </a:tr>
              <a:tr h="370840">
                <a:tc>
                  <a:txBody>
                    <a:bodyPr/>
                    <a:lstStyle/>
                    <a:p>
                      <a:r>
                        <a:rPr lang="en-US" sz="2100" dirty="0" smtClean="0">
                          <a:latin typeface="Times New Roman" pitchFamily="18" charset="0"/>
                          <a:cs typeface="Times New Roman" pitchFamily="18" charset="0"/>
                        </a:rPr>
                        <a:t>Design to fulfill the need for small and large businesses </a:t>
                      </a:r>
                      <a:endParaRPr lang="en-IN" sz="2100" dirty="0">
                        <a:latin typeface="Times New Roman" pitchFamily="18" charset="0"/>
                        <a:cs typeface="Times New Roman" pitchFamily="18" charset="0"/>
                      </a:endParaRPr>
                    </a:p>
                  </a:txBody>
                  <a:tcPr/>
                </a:tc>
                <a:tc>
                  <a:txBody>
                    <a:bodyPr/>
                    <a:lstStyle/>
                    <a:p>
                      <a:r>
                        <a:rPr lang="en-US" sz="2100" dirty="0" smtClean="0">
                          <a:latin typeface="Times New Roman" pitchFamily="18" charset="0"/>
                          <a:cs typeface="Times New Roman" pitchFamily="18" charset="0"/>
                        </a:rPr>
                        <a:t>It is only limited to smaller DBMS system. </a:t>
                      </a:r>
                      <a:endParaRPr lang="en-IN" sz="2100" dirty="0">
                        <a:latin typeface="Times New Roman" pitchFamily="18" charset="0"/>
                        <a:cs typeface="Times New Roman" pitchFamily="18" charset="0"/>
                      </a:endParaRPr>
                    </a:p>
                  </a:txBody>
                  <a:tcPr/>
                </a:tc>
              </a:tr>
              <a:tr h="370840">
                <a:tc>
                  <a:txBody>
                    <a:bodyPr/>
                    <a:lstStyle/>
                    <a:p>
                      <a:r>
                        <a:rPr lang="en-IN" sz="2100" dirty="0" smtClean="0">
                          <a:latin typeface="Times New Roman" pitchFamily="18" charset="0"/>
                          <a:cs typeface="Times New Roman" pitchFamily="18" charset="0"/>
                        </a:rPr>
                        <a:t>Remove redundancy and Integrity </a:t>
                      </a:r>
                      <a:endParaRPr lang="en-IN" sz="2100" dirty="0">
                        <a:latin typeface="Times New Roman" pitchFamily="18" charset="0"/>
                        <a:cs typeface="Times New Roman" pitchFamily="18" charset="0"/>
                      </a:endParaRPr>
                    </a:p>
                  </a:txBody>
                  <a:tcPr/>
                </a:tc>
                <a:tc>
                  <a:txBody>
                    <a:bodyPr/>
                    <a:lstStyle/>
                    <a:p>
                      <a:r>
                        <a:rPr lang="en-IN" sz="2100" dirty="0" smtClean="0">
                          <a:latin typeface="Times New Roman" pitchFamily="18" charset="0"/>
                          <a:cs typeface="Times New Roman" pitchFamily="18" charset="0"/>
                        </a:rPr>
                        <a:t>Redundancy and Integrity issues </a:t>
                      </a:r>
                      <a:endParaRPr lang="en-IN" sz="2100" dirty="0">
                        <a:latin typeface="Times New Roman" pitchFamily="18" charset="0"/>
                        <a:cs typeface="Times New Roman" pitchFamily="18" charset="0"/>
                      </a:endParaRPr>
                    </a:p>
                  </a:txBody>
                  <a:tcPr/>
                </a:tc>
              </a:tr>
              <a:tr h="370840">
                <a:tc>
                  <a:txBody>
                    <a:bodyPr/>
                    <a:lstStyle/>
                    <a:p>
                      <a:r>
                        <a:rPr lang="en-US" sz="2100" dirty="0" smtClean="0">
                          <a:latin typeface="Times New Roman" pitchFamily="18" charset="0"/>
                          <a:cs typeface="Times New Roman" pitchFamily="18" charset="0"/>
                        </a:rPr>
                        <a:t>Expensive. But in the long term Total Cost of Ownership is cheap </a:t>
                      </a:r>
                      <a:endParaRPr lang="en-IN" sz="2100" dirty="0">
                        <a:latin typeface="Times New Roman" pitchFamily="18" charset="0"/>
                        <a:cs typeface="Times New Roman" pitchFamily="18" charset="0"/>
                      </a:endParaRPr>
                    </a:p>
                  </a:txBody>
                  <a:tcPr/>
                </a:tc>
                <a:tc>
                  <a:txBody>
                    <a:bodyPr/>
                    <a:lstStyle/>
                    <a:p>
                      <a:r>
                        <a:rPr lang="en-IN" sz="2100" dirty="0" smtClean="0">
                          <a:latin typeface="Times New Roman" pitchFamily="18" charset="0"/>
                          <a:cs typeface="Times New Roman" pitchFamily="18" charset="0"/>
                        </a:rPr>
                        <a:t>It's cheaper</a:t>
                      </a:r>
                      <a:endParaRPr lang="en-IN" sz="2100" dirty="0">
                        <a:latin typeface="Times New Roman" pitchFamily="18" charset="0"/>
                        <a:cs typeface="Times New Roman" pitchFamily="18" charset="0"/>
                      </a:endParaRPr>
                    </a:p>
                  </a:txBody>
                  <a:tcPr/>
                </a:tc>
              </a:tr>
              <a:tr h="370840">
                <a:tc>
                  <a:txBody>
                    <a:bodyPr/>
                    <a:lstStyle/>
                    <a:p>
                      <a:r>
                        <a:rPr lang="en-US" sz="2100" dirty="0" smtClean="0">
                          <a:latin typeface="Times New Roman" pitchFamily="18" charset="0"/>
                          <a:cs typeface="Times New Roman" pitchFamily="18" charset="0"/>
                        </a:rPr>
                        <a:t>Easy to implement complicated transactions</a:t>
                      </a:r>
                      <a:endParaRPr lang="en-IN" sz="2100" dirty="0">
                        <a:latin typeface="Times New Roman" pitchFamily="18" charset="0"/>
                        <a:cs typeface="Times New Roman" pitchFamily="18" charset="0"/>
                      </a:endParaRPr>
                    </a:p>
                  </a:txBody>
                  <a:tcPr/>
                </a:tc>
                <a:tc>
                  <a:txBody>
                    <a:bodyPr/>
                    <a:lstStyle/>
                    <a:p>
                      <a:r>
                        <a:rPr lang="en-US" sz="2100" dirty="0" smtClean="0">
                          <a:latin typeface="Times New Roman" pitchFamily="18" charset="0"/>
                          <a:cs typeface="Times New Roman" pitchFamily="18" charset="0"/>
                        </a:rPr>
                        <a:t>No support for complicated transactions</a:t>
                      </a:r>
                      <a:endParaRPr lang="en-IN" sz="2100"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35733210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Users in a DBMS environment </a:t>
            </a:r>
            <a:endParaRPr lang="en-IN"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379147918"/>
              </p:ext>
            </p:extLst>
          </p:nvPr>
        </p:nvGraphicFramePr>
        <p:xfrm>
          <a:off x="914400" y="1447800"/>
          <a:ext cx="7772400" cy="4851400"/>
        </p:xfrm>
        <a:graphic>
          <a:graphicData uri="http://schemas.openxmlformats.org/drawingml/2006/table">
            <a:tbl>
              <a:tblPr firstRow="1" bandRow="1">
                <a:tableStyleId>{17292A2E-F333-43FB-9621-5CBBE7FDCDCB}</a:tableStyleId>
              </a:tblPr>
              <a:tblGrid>
                <a:gridCol w="3297560"/>
                <a:gridCol w="4474840"/>
              </a:tblGrid>
              <a:tr h="370840">
                <a:tc>
                  <a:txBody>
                    <a:bodyPr/>
                    <a:lstStyle/>
                    <a:p>
                      <a:r>
                        <a:rPr lang="en-US" dirty="0" smtClean="0">
                          <a:latin typeface="Times New Roman" pitchFamily="18" charset="0"/>
                          <a:cs typeface="Times New Roman" pitchFamily="18" charset="0"/>
                        </a:rPr>
                        <a:t>User</a:t>
                      </a:r>
                      <a:endParaRPr lang="en-IN"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Task</a:t>
                      </a:r>
                      <a:endParaRPr lang="en-IN"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Database Administrator (DBA)</a:t>
                      </a:r>
                      <a:endParaRPr lang="en-IN"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Database Admin is responsible for managing the entire DBMS system. </a:t>
                      </a:r>
                      <a:endParaRPr lang="en-IN"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Database Designer </a:t>
                      </a:r>
                      <a:endParaRPr lang="en-IN"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The database designer is responsible for defining the detailed database design, including tables, indexes, views, constraints, triggers, stored procedures, and other database-specific constructs needed to store, retrieve, and delete persistent objects.</a:t>
                      </a:r>
                      <a:endParaRPr lang="en-IN"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Application Programmer</a:t>
                      </a:r>
                      <a:endParaRPr lang="en-IN"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The Application programmers write programs in various programming languages to interact with databases. </a:t>
                      </a:r>
                      <a:endParaRPr lang="en-IN"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End User</a:t>
                      </a:r>
                      <a:endParaRPr lang="en-IN"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The end users are the people who interact with the database management system. They conduct various operations on database like retrieving, updating, deleting, etc. </a:t>
                      </a:r>
                      <a:endParaRPr lang="en-IN"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7511480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Users in a DBMS environment </a:t>
            </a:r>
            <a:endParaRPr lang="en-IN" dirty="0"/>
          </a:p>
        </p:txBody>
      </p:sp>
      <p:sp>
        <p:nvSpPr>
          <p:cNvPr id="3" name="Content Placeholder 2"/>
          <p:cNvSpPr>
            <a:spLocks noGrp="1"/>
          </p:cNvSpPr>
          <p:nvPr>
            <p:ph sz="quarter" idx="1"/>
          </p:nvPr>
        </p:nvSpPr>
        <p:spPr>
          <a:xfrm>
            <a:off x="914400" y="1447800"/>
            <a:ext cx="7978080" cy="4572000"/>
          </a:xfrm>
        </p:spPr>
        <p:txBody>
          <a:bodyPr>
            <a:noAutofit/>
          </a:bodyPr>
          <a:lstStyle/>
          <a:p>
            <a:r>
              <a:rPr lang="en-US" sz="2400" b="1" dirty="0" smtClean="0">
                <a:latin typeface="Times New Roman" pitchFamily="18" charset="0"/>
                <a:cs typeface="Times New Roman" pitchFamily="18" charset="0"/>
              </a:rPr>
              <a:t>End users can</a:t>
            </a:r>
            <a:r>
              <a:rPr lang="en-US" sz="2400" dirty="0" smtClean="0">
                <a:latin typeface="Times New Roman" pitchFamily="18" charset="0"/>
                <a:cs typeface="Times New Roman" pitchFamily="18" charset="0"/>
              </a:rPr>
              <a:t>—</a:t>
            </a:r>
          </a:p>
          <a:p>
            <a:pPr lvl="1"/>
            <a:r>
              <a:rPr lang="en-US" b="1" dirty="0" smtClean="0">
                <a:solidFill>
                  <a:srgbClr val="0070C0"/>
                </a:solidFill>
                <a:latin typeface="Times New Roman" pitchFamily="18" charset="0"/>
                <a:cs typeface="Times New Roman" pitchFamily="18" charset="0"/>
              </a:rPr>
              <a:t>Casual end users</a:t>
            </a:r>
            <a:r>
              <a:rPr lang="en-US" dirty="0" smtClean="0">
                <a:latin typeface="Times New Roman" pitchFamily="18" charset="0"/>
                <a:cs typeface="Times New Roman" pitchFamily="18" charset="0"/>
              </a:rPr>
              <a:t>: Occasionally access the database.</a:t>
            </a:r>
          </a:p>
          <a:p>
            <a:pPr marL="320040" lvl="1" indent="0">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Ex</a:t>
            </a:r>
            <a:r>
              <a:rPr lang="en-US" dirty="0" smtClean="0">
                <a:latin typeface="Times New Roman" pitchFamily="18" charset="0"/>
                <a:cs typeface="Times New Roman" pitchFamily="18" charset="0"/>
              </a:rPr>
              <a:t>. Middle or higher level manager</a:t>
            </a:r>
          </a:p>
          <a:p>
            <a:pPr lvl="1"/>
            <a:r>
              <a:rPr lang="en-US" b="1" dirty="0" smtClean="0">
                <a:solidFill>
                  <a:srgbClr val="0070C0"/>
                </a:solidFill>
                <a:latin typeface="Times New Roman" pitchFamily="18" charset="0"/>
                <a:cs typeface="Times New Roman" pitchFamily="18" charset="0"/>
              </a:rPr>
              <a:t>Naive or Parametric end users</a:t>
            </a:r>
            <a:r>
              <a:rPr lang="en-US" dirty="0" smtClean="0">
                <a:latin typeface="Times New Roman" pitchFamily="18" charset="0"/>
                <a:cs typeface="Times New Roman" pitchFamily="18" charset="0"/>
              </a:rPr>
              <a:t>:  Most of the tasks are done by the apps.   </a:t>
            </a:r>
          </a:p>
          <a:p>
            <a:pPr marL="320040" lvl="1" indent="0">
              <a:buNone/>
            </a:pPr>
            <a:r>
              <a:rPr lang="en-US" dirty="0">
                <a:latin typeface="Times New Roman" pitchFamily="18" charset="0"/>
                <a:cs typeface="Times New Roman" pitchFamily="18" charset="0"/>
              </a:rPr>
              <a:t>	</a:t>
            </a:r>
            <a:r>
              <a:rPr lang="en-US" b="1" dirty="0" smtClean="0">
                <a:latin typeface="Times New Roman" pitchFamily="18" charset="0"/>
                <a:cs typeface="Times New Roman" pitchFamily="18" charset="0"/>
              </a:rPr>
              <a:t>Ex</a:t>
            </a:r>
            <a:r>
              <a:rPr lang="en-US" dirty="0" smtClean="0">
                <a:latin typeface="Times New Roman" pitchFamily="18" charset="0"/>
                <a:cs typeface="Times New Roman" pitchFamily="18" charset="0"/>
              </a:rPr>
              <a:t>. Bank clerk who tell us balance, </a:t>
            </a:r>
          </a:p>
          <a:p>
            <a:pPr marL="320040" lvl="1" indent="0">
              <a:buNone/>
            </a:pPr>
            <a:r>
              <a:rPr lang="en-US" dirty="0" smtClean="0">
                <a:latin typeface="Times New Roman" pitchFamily="18" charset="0"/>
                <a:cs typeface="Times New Roman" pitchFamily="18" charset="0"/>
              </a:rPr>
              <a:t>	      Customer representative  who tell us status of work,</a:t>
            </a:r>
          </a:p>
          <a:p>
            <a:pPr marL="320040" lvl="1" indent="0">
              <a:buNone/>
            </a:pPr>
            <a:r>
              <a:rPr lang="en-US" dirty="0" smtClean="0">
                <a:latin typeface="Times New Roman" pitchFamily="18" charset="0"/>
                <a:cs typeface="Times New Roman" pitchFamily="18" charset="0"/>
              </a:rPr>
              <a:t>	      Reservation clerks, etc..</a:t>
            </a:r>
          </a:p>
          <a:p>
            <a:pPr lvl="1"/>
            <a:r>
              <a:rPr lang="en-US" b="1" dirty="0" smtClean="0">
                <a:solidFill>
                  <a:srgbClr val="0070C0"/>
                </a:solidFill>
                <a:latin typeface="Times New Roman" pitchFamily="18" charset="0"/>
                <a:cs typeface="Times New Roman" pitchFamily="18" charset="0"/>
              </a:rPr>
              <a:t>Sophisticated end user</a:t>
            </a:r>
            <a:r>
              <a:rPr lang="en-US" dirty="0" smtClean="0">
                <a:latin typeface="Times New Roman" pitchFamily="18" charset="0"/>
                <a:cs typeface="Times New Roman" pitchFamily="18" charset="0"/>
              </a:rPr>
              <a:t>: Engineer, scientists, business analytics, etc. who are familiar with the DBMS.</a:t>
            </a:r>
          </a:p>
          <a:p>
            <a:pPr lvl="1"/>
            <a:r>
              <a:rPr lang="en-US" b="1" dirty="0" smtClean="0">
                <a:solidFill>
                  <a:srgbClr val="0070C0"/>
                </a:solidFill>
                <a:latin typeface="Times New Roman" pitchFamily="18" charset="0"/>
                <a:cs typeface="Times New Roman" pitchFamily="18" charset="0"/>
              </a:rPr>
              <a:t>Standalone user</a:t>
            </a:r>
            <a:r>
              <a:rPr lang="en-US" dirty="0" smtClean="0">
                <a:latin typeface="Times New Roman" pitchFamily="18" charset="0"/>
                <a:cs typeface="Times New Roman" pitchFamily="18" charset="0"/>
              </a:rPr>
              <a:t>: having own database.</a:t>
            </a:r>
          </a:p>
        </p:txBody>
      </p:sp>
    </p:spTree>
    <p:extLst>
      <p:ext uri="{BB962C8B-B14F-4D97-AF65-F5344CB8AC3E}">
        <p14:creationId xmlns:p14="http://schemas.microsoft.com/office/powerpoint/2010/main" val="35412832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DBMS</a:t>
            </a:r>
            <a:endParaRPr lang="en-IN" dirty="0"/>
          </a:p>
        </p:txBody>
      </p:sp>
      <p:sp>
        <p:nvSpPr>
          <p:cNvPr id="3" name="Content Placeholder 2"/>
          <p:cNvSpPr>
            <a:spLocks noGrp="1"/>
          </p:cNvSpPr>
          <p:nvPr>
            <p:ph sz="quarter" idx="1"/>
          </p:nvPr>
        </p:nvSpPr>
        <p:spPr/>
        <p:txBody>
          <a:bodyPr/>
          <a:lstStyle/>
          <a:p>
            <a:r>
              <a:rPr lang="en-US" dirty="0" smtClean="0">
                <a:latin typeface="Times New Roman" pitchFamily="18" charset="0"/>
                <a:cs typeface="Times New Roman" pitchFamily="18" charset="0"/>
              </a:rPr>
              <a:t>Controlling Redundancy </a:t>
            </a:r>
          </a:p>
          <a:p>
            <a:r>
              <a:rPr lang="en-US" dirty="0" smtClean="0">
                <a:latin typeface="Times New Roman" pitchFamily="18" charset="0"/>
                <a:cs typeface="Times New Roman" pitchFamily="18" charset="0"/>
              </a:rPr>
              <a:t>Restricting Unauthorized Access</a:t>
            </a:r>
          </a:p>
          <a:p>
            <a:r>
              <a:rPr lang="en-US" dirty="0" smtClean="0">
                <a:latin typeface="Times New Roman" pitchFamily="18" charset="0"/>
                <a:cs typeface="Times New Roman" pitchFamily="18" charset="0"/>
              </a:rPr>
              <a:t>Persistent storage</a:t>
            </a:r>
          </a:p>
          <a:p>
            <a:r>
              <a:rPr lang="en-US" dirty="0" smtClean="0">
                <a:latin typeface="Times New Roman" pitchFamily="18" charset="0"/>
                <a:cs typeface="Times New Roman" pitchFamily="18" charset="0"/>
              </a:rPr>
              <a:t>Backup and recovery</a:t>
            </a:r>
          </a:p>
          <a:p>
            <a:r>
              <a:rPr lang="en-US" dirty="0" smtClean="0">
                <a:latin typeface="Times New Roman" pitchFamily="18" charset="0"/>
                <a:cs typeface="Times New Roman" pitchFamily="18" charset="0"/>
              </a:rPr>
              <a:t>Multiple user Interface</a:t>
            </a:r>
          </a:p>
          <a:p>
            <a:r>
              <a:rPr lang="en-US" dirty="0" smtClean="0">
                <a:latin typeface="Times New Roman" pitchFamily="18" charset="0"/>
                <a:cs typeface="Times New Roman" pitchFamily="18" charset="0"/>
              </a:rPr>
              <a:t>Complex relationship among data</a:t>
            </a:r>
          </a:p>
          <a:p>
            <a:r>
              <a:rPr lang="en-US" dirty="0" smtClean="0">
                <a:latin typeface="Times New Roman" pitchFamily="18" charset="0"/>
                <a:cs typeface="Times New Roman" pitchFamily="18" charset="0"/>
              </a:rPr>
              <a:t>Enforcing Integrity constraints</a:t>
            </a:r>
          </a:p>
          <a:p>
            <a:endParaRPr lang="en-US" dirty="0" smtClean="0"/>
          </a:p>
        </p:txBody>
      </p:sp>
    </p:spTree>
    <p:extLst>
      <p:ext uri="{BB962C8B-B14F-4D97-AF65-F5344CB8AC3E}">
        <p14:creationId xmlns:p14="http://schemas.microsoft.com/office/powerpoint/2010/main" val="31251663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 of DBMS</a:t>
            </a:r>
            <a:endParaRPr lang="en-IN" dirty="0"/>
          </a:p>
        </p:txBody>
      </p:sp>
      <p:sp>
        <p:nvSpPr>
          <p:cNvPr id="3" name="Content Placeholder 2"/>
          <p:cNvSpPr>
            <a:spLocks noGrp="1"/>
          </p:cNvSpPr>
          <p:nvPr>
            <p:ph sz="quarter" idx="1"/>
          </p:nvPr>
        </p:nvSpPr>
        <p:spPr/>
        <p:txBody>
          <a:bodyPr>
            <a:normAutofit lnSpcReduction="10000"/>
          </a:bodyPr>
          <a:lstStyle/>
          <a:p>
            <a:r>
              <a:rPr lang="en-US" dirty="0"/>
              <a:t>Cost of Hardware and Software of a DBMS is quite high which increases the budget of your organization.</a:t>
            </a:r>
          </a:p>
          <a:p>
            <a:r>
              <a:rPr lang="en-US" dirty="0"/>
              <a:t>Most database management systems are often complex systems, so the training for users to use the DBMS is required. </a:t>
            </a:r>
          </a:p>
          <a:p>
            <a:r>
              <a:rPr lang="en-US" dirty="0"/>
              <a:t>In some organizations, all data is integrated into a single database which can be damaged because of electric failure or database is corrupted on the storage media</a:t>
            </a:r>
          </a:p>
          <a:p>
            <a:r>
              <a:rPr lang="en-US" dirty="0"/>
              <a:t>Use of the same program at a time by many users sometimes lead to the loss of some data.</a:t>
            </a:r>
          </a:p>
          <a:p>
            <a:r>
              <a:rPr lang="en-US" dirty="0"/>
              <a:t>DBMS can't perform sophisticated calculations </a:t>
            </a:r>
          </a:p>
        </p:txBody>
      </p:sp>
    </p:spTree>
    <p:extLst>
      <p:ext uri="{BB962C8B-B14F-4D97-AF65-F5344CB8AC3E}">
        <p14:creationId xmlns:p14="http://schemas.microsoft.com/office/powerpoint/2010/main" val="18716484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374</TotalTime>
  <Words>1235</Words>
  <Application>Microsoft Office PowerPoint</Application>
  <PresentationFormat>On-screen Show (4:3)</PresentationFormat>
  <Paragraphs>142</Paragraphs>
  <Slides>18</Slides>
  <Notes>2</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Equity</vt:lpstr>
      <vt:lpstr>Database Management System </vt:lpstr>
      <vt:lpstr>What is Data?</vt:lpstr>
      <vt:lpstr>Types of data</vt:lpstr>
      <vt:lpstr>PowerPoint Presentation</vt:lpstr>
      <vt:lpstr>PowerPoint Presentation</vt:lpstr>
      <vt:lpstr>Database Management System (DBMS)</vt:lpstr>
      <vt:lpstr>PowerPoint Presentation</vt:lpstr>
      <vt:lpstr>PowerPoint Presentation</vt:lpstr>
      <vt:lpstr>Application of DBMS</vt:lpstr>
      <vt:lpstr>Popular DBMS Software</vt:lpstr>
      <vt:lpstr>Limitations of file system</vt:lpstr>
      <vt:lpstr>PowerPoint Presentation</vt:lpstr>
      <vt:lpstr>Characteristics of DBMS</vt:lpstr>
      <vt:lpstr>DBMS vs. Flat File</vt:lpstr>
      <vt:lpstr>Users in a DBMS environment </vt:lpstr>
      <vt:lpstr>Users in a DBMS environment </vt:lpstr>
      <vt:lpstr>Advantages of DBMS</vt:lpstr>
      <vt:lpstr>Disadvantages of DBMS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dc:title>
  <dc:creator>Admin</dc:creator>
  <cp:lastModifiedBy>DELL</cp:lastModifiedBy>
  <cp:revision>28</cp:revision>
  <dcterms:created xsi:type="dcterms:W3CDTF">2019-05-30T15:49:42Z</dcterms:created>
  <dcterms:modified xsi:type="dcterms:W3CDTF">2024-07-09T09:41:29Z</dcterms:modified>
</cp:coreProperties>
</file>