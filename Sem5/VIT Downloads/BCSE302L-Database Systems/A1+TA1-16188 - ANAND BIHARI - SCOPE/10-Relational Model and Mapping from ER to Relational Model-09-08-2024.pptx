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0"/>
  </p:notesMasterIdLst>
  <p:sldIdLst>
    <p:sldId id="256" r:id="rId2"/>
    <p:sldId id="257" r:id="rId3"/>
    <p:sldId id="258" r:id="rId4"/>
    <p:sldId id="259" r:id="rId5"/>
    <p:sldId id="272" r:id="rId6"/>
    <p:sldId id="260" r:id="rId7"/>
    <p:sldId id="261" r:id="rId8"/>
    <p:sldId id="262" r:id="rId9"/>
    <p:sldId id="263" r:id="rId10"/>
    <p:sldId id="264" r:id="rId11"/>
    <p:sldId id="265" r:id="rId12"/>
    <p:sldId id="267" r:id="rId13"/>
    <p:sldId id="268" r:id="rId14"/>
    <p:sldId id="271" r:id="rId15"/>
    <p:sldId id="273" r:id="rId16"/>
    <p:sldId id="274" r:id="rId17"/>
    <p:sldId id="269" r:id="rId18"/>
    <p:sldId id="270"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30D3DE-5626-4968-9948-7A4831E891D6}">
          <p14:sldIdLst>
            <p14:sldId id="256"/>
            <p14:sldId id="257"/>
            <p14:sldId id="258"/>
            <p14:sldId id="259"/>
            <p14:sldId id="272"/>
            <p14:sldId id="260"/>
            <p14:sldId id="261"/>
            <p14:sldId id="262"/>
            <p14:sldId id="263"/>
            <p14:sldId id="264"/>
            <p14:sldId id="265"/>
            <p14:sldId id="267"/>
            <p14:sldId id="268"/>
            <p14:sldId id="271"/>
            <p14:sldId id="273"/>
            <p14:sldId id="274"/>
            <p14:sldId id="269"/>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59" autoAdjust="0"/>
    <p:restoredTop sz="86477" autoAdjust="0"/>
  </p:normalViewPr>
  <p:slideViewPr>
    <p:cSldViewPr>
      <p:cViewPr>
        <p:scale>
          <a:sx n="66" d="100"/>
          <a:sy n="66" d="100"/>
        </p:scale>
        <p:origin x="-1272" y="-72"/>
      </p:cViewPr>
      <p:guideLst>
        <p:guide orient="horz" pos="2160"/>
        <p:guide pos="2880"/>
      </p:guideLst>
    </p:cSldViewPr>
  </p:slideViewPr>
  <p:outlineViewPr>
    <p:cViewPr>
      <p:scale>
        <a:sx n="33" d="100"/>
        <a:sy n="33" d="100"/>
      </p:scale>
      <p:origin x="0" y="165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E7238B-4390-4646-8EB4-4968ED26515B}" type="datetimeFigureOut">
              <a:rPr lang="en-IN" smtClean="0"/>
              <a:t>08-08-2024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BFB1CC-AE27-4B23-824E-BA8B57FD6C58}" type="slidenum">
              <a:rPr lang="en-IN" smtClean="0"/>
              <a:t>‹#›</a:t>
            </a:fld>
            <a:endParaRPr lang="en-IN"/>
          </a:p>
        </p:txBody>
      </p:sp>
    </p:spTree>
    <p:extLst>
      <p:ext uri="{BB962C8B-B14F-4D97-AF65-F5344CB8AC3E}">
        <p14:creationId xmlns:p14="http://schemas.microsoft.com/office/powerpoint/2010/main" val="385057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EBFB1CC-AE27-4B23-824E-BA8B57FD6C58}" type="slidenum">
              <a:rPr lang="en-IN" smtClean="0"/>
              <a:t>9</a:t>
            </a:fld>
            <a:endParaRPr lang="en-IN"/>
          </a:p>
        </p:txBody>
      </p:sp>
    </p:spTree>
    <p:extLst>
      <p:ext uri="{BB962C8B-B14F-4D97-AF65-F5344CB8AC3E}">
        <p14:creationId xmlns:p14="http://schemas.microsoft.com/office/powerpoint/2010/main" val="1920374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EBFB1CC-AE27-4B23-824E-BA8B57FD6C58}" type="slidenum">
              <a:rPr lang="en-IN" smtClean="0"/>
              <a:t>11</a:t>
            </a:fld>
            <a:endParaRPr lang="en-IN"/>
          </a:p>
        </p:txBody>
      </p:sp>
    </p:spTree>
    <p:extLst>
      <p:ext uri="{BB962C8B-B14F-4D97-AF65-F5344CB8AC3E}">
        <p14:creationId xmlns:p14="http://schemas.microsoft.com/office/powerpoint/2010/main" val="2250453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CEB2D1F-ED13-441D-8E1E-4F813734ED56}" type="slidenum">
              <a:rPr lang="en-GB" smtClean="0"/>
              <a:t>12</a:t>
            </a:fld>
            <a:endParaRPr lang="en-GB"/>
          </a:p>
        </p:txBody>
      </p:sp>
    </p:spTree>
    <p:extLst>
      <p:ext uri="{BB962C8B-B14F-4D97-AF65-F5344CB8AC3E}">
        <p14:creationId xmlns:p14="http://schemas.microsoft.com/office/powerpoint/2010/main" val="3017633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CEB2D1F-ED13-441D-8E1E-4F813734ED56}" type="slidenum">
              <a:rPr lang="en-GB" smtClean="0"/>
              <a:t>14</a:t>
            </a:fld>
            <a:endParaRPr lang="en-GB"/>
          </a:p>
        </p:txBody>
      </p:sp>
    </p:spTree>
    <p:extLst>
      <p:ext uri="{BB962C8B-B14F-4D97-AF65-F5344CB8AC3E}">
        <p14:creationId xmlns:p14="http://schemas.microsoft.com/office/powerpoint/2010/main" val="285276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63"/>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6F6A820A-2CAB-46E0-A5A3-DD492961C18D}" type="datetimeFigureOut">
              <a:rPr lang="en-IN" smtClean="0"/>
              <a:t>08-08-2024</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5D16119-D660-40DF-B339-D75B54681409}" type="slidenum">
              <a:rPr lang="en-IN" smtClean="0"/>
              <a:t>‹#›</a:t>
            </a:fld>
            <a:endParaRPr lang="en-IN"/>
          </a:p>
        </p:txBody>
      </p:sp>
      <p:sp>
        <p:nvSpPr>
          <p:cNvPr id="7" name="Rectangle 6"/>
          <p:cNvSpPr/>
          <p:nvPr/>
        </p:nvSpPr>
        <p:spPr>
          <a:xfrm>
            <a:off x="62933" y="1449311"/>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3"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3"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8"/>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08-08-2024</a:t>
            </a:fld>
            <a:endParaRPr lang="en-IN"/>
          </a:p>
        </p:txBody>
      </p:sp>
      <p:sp>
        <p:nvSpPr>
          <p:cNvPr id="5" name="Footer Placeholder 4"/>
          <p:cNvSpPr>
            <a:spLocks noGrp="1"/>
          </p:cNvSpPr>
          <p:nvPr>
            <p:ph type="ftr" sz="quarter" idx="11"/>
          </p:nvPr>
        </p:nvSpPr>
        <p:spPr/>
        <p:txBody>
          <a:bodyPr/>
          <a:lstStyle/>
          <a:p>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63"/>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8"/>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F6A820A-2CAB-46E0-A5A3-DD492961C18D}" type="datetimeFigureOut">
              <a:rPr lang="en-IN" smtClean="0"/>
              <a:t>08-08-2024</a:t>
            </a:fld>
            <a:endParaRPr lang="en-IN"/>
          </a:p>
        </p:txBody>
      </p:sp>
      <p:sp>
        <p:nvSpPr>
          <p:cNvPr id="5" name="Footer Placeholder 4"/>
          <p:cNvSpPr>
            <a:spLocks noGrp="1"/>
          </p:cNvSpPr>
          <p:nvPr>
            <p:ph type="ftr" sz="quarter" idx="11"/>
          </p:nvPr>
        </p:nvSpPr>
        <p:spPr>
          <a:xfrm>
            <a:off x="800100" y="6172200"/>
            <a:ext cx="4000500" cy="457200"/>
          </a:xfrm>
        </p:spPr>
        <p:txBody>
          <a:bodyPr/>
          <a:lstStyle/>
          <a:p>
            <a:endParaRPr lang="en-IN"/>
          </a:p>
        </p:txBody>
      </p:sp>
      <p:sp>
        <p:nvSpPr>
          <p:cNvPr id="7" name="Rectangle 6"/>
          <p:cNvSpPr/>
          <p:nvPr/>
        </p:nvSpPr>
        <p:spPr>
          <a:xfrm flipV="1">
            <a:off x="69413"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50" y="2341483"/>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10"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5D16119-D660-40DF-B339-D75B54681409}"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F6A820A-2CAB-46E0-A5A3-DD492961C18D}" type="datetimeFigureOut">
              <a:rPr lang="en-IN" smtClean="0"/>
              <a:t>08-08-2024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6F6A820A-2CAB-46E0-A5A3-DD492961C18D}" type="datetimeFigureOut">
              <a:rPr lang="en-IN" smtClean="0"/>
              <a:t>08-08-2024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D16119-D660-40DF-B339-D75B54681409}" type="slidenum">
              <a:rPr lang="en-IN" smtClean="0"/>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F6A820A-2CAB-46E0-A5A3-DD492961C18D}" type="datetimeFigureOut">
              <a:rPr lang="en-IN" smtClean="0"/>
              <a:t>08-08-2024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6A820A-2CAB-46E0-A5A3-DD492961C18D}" type="datetimeFigureOut">
              <a:rPr lang="en-IN" smtClean="0"/>
              <a:t>08-08-2024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F6A820A-2CAB-46E0-A5A3-DD492961C18D}" type="datetimeFigureOut">
              <a:rPr lang="en-IN" smtClean="0"/>
              <a:t>08-08-2024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F6A820A-2CAB-46E0-A5A3-DD492961C18D}" type="datetimeFigureOut">
              <a:rPr lang="en-IN" smtClean="0"/>
              <a:t>08-08-2024</a:t>
            </a:fld>
            <a:endParaRPr lang="en-IN"/>
          </a:p>
        </p:txBody>
      </p:sp>
      <p:sp>
        <p:nvSpPr>
          <p:cNvPr id="6" name="Footer Placeholder 5"/>
          <p:cNvSpPr>
            <a:spLocks noGrp="1"/>
          </p:cNvSpPr>
          <p:nvPr>
            <p:ph type="ftr" sz="quarter" idx="11"/>
          </p:nvPr>
        </p:nvSpPr>
        <p:spPr>
          <a:xfrm>
            <a:off x="914400" y="6172200"/>
            <a:ext cx="3886200" cy="457200"/>
          </a:xfrm>
        </p:spPr>
        <p:txBody>
          <a:bodyPr/>
          <a:lstStyle/>
          <a:p>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B5D16119-D660-40DF-B339-D75B54681409}" type="slidenum">
              <a:rPr lang="en-IN" smtClean="0"/>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10" y="4650482"/>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4" y="4773232"/>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12" y="66683"/>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08-08-2024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9"/>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8"/>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08-08-2024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6F6A820A-2CAB-46E0-A5A3-DD492961C18D}" type="datetimeFigureOut">
              <a:rPr lang="en-IN" smtClean="0"/>
              <a:t>08-08-2024</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5D16119-D660-40DF-B339-D75B5468140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3268960"/>
            <a:ext cx="6400800" cy="1600200"/>
          </a:xfrm>
        </p:spPr>
        <p:txBody>
          <a:bodyPr/>
          <a:lstStyle/>
          <a:p>
            <a:r>
              <a:rPr lang="en-US" dirty="0" smtClean="0"/>
              <a:t>Dr. </a:t>
            </a:r>
            <a:r>
              <a:rPr lang="en-US" dirty="0" err="1" smtClean="0"/>
              <a:t>Anand</a:t>
            </a:r>
            <a:r>
              <a:rPr lang="en-US" dirty="0" smtClean="0"/>
              <a:t> </a:t>
            </a:r>
            <a:r>
              <a:rPr lang="en-US" dirty="0" err="1" smtClean="0"/>
              <a:t>Bihari</a:t>
            </a:r>
            <a:endParaRPr lang="en-US" dirty="0" smtClean="0"/>
          </a:p>
          <a:p>
            <a:r>
              <a:rPr lang="en-US" dirty="0" smtClean="0"/>
              <a:t>SJT Annex- 203N</a:t>
            </a:r>
          </a:p>
          <a:p>
            <a:r>
              <a:rPr lang="en-US" dirty="0"/>
              <a:t>a</a:t>
            </a:r>
            <a:r>
              <a:rPr lang="en-US" dirty="0" smtClean="0"/>
              <a:t>nand.bihari@vit.ac.in</a:t>
            </a:r>
            <a:endParaRPr lang="en-IN" dirty="0"/>
          </a:p>
        </p:txBody>
      </p:sp>
      <p:sp>
        <p:nvSpPr>
          <p:cNvPr id="2" name="Title 1"/>
          <p:cNvSpPr>
            <a:spLocks noGrp="1"/>
          </p:cNvSpPr>
          <p:nvPr>
            <p:ph type="ctrTitle"/>
          </p:nvPr>
        </p:nvSpPr>
        <p:spPr/>
        <p:txBody>
          <a:bodyPr/>
          <a:lstStyle/>
          <a:p>
            <a:r>
              <a:rPr lang="en-US" dirty="0" smtClean="0"/>
              <a:t>Relational Data Model</a:t>
            </a:r>
            <a:endParaRPr lang="en-IN" dirty="0"/>
          </a:p>
        </p:txBody>
      </p:sp>
    </p:spTree>
    <p:extLst>
      <p:ext uri="{BB962C8B-B14F-4D97-AF65-F5344CB8AC3E}">
        <p14:creationId xmlns:p14="http://schemas.microsoft.com/office/powerpoint/2010/main" val="22732915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Data Model</a:t>
            </a:r>
            <a:endParaRPr lang="en-IN" dirty="0"/>
          </a:p>
        </p:txBody>
      </p:sp>
      <p:sp>
        <p:nvSpPr>
          <p:cNvPr id="3" name="Content Placeholder 2"/>
          <p:cNvSpPr>
            <a:spLocks noGrp="1"/>
          </p:cNvSpPr>
          <p:nvPr>
            <p:ph sz="quarter" idx="1"/>
          </p:nvPr>
        </p:nvSpPr>
        <p:spPr/>
        <p:txBody>
          <a:bodyPr/>
          <a:lstStyle/>
          <a:p>
            <a:r>
              <a:rPr lang="en-US" dirty="0" smtClean="0">
                <a:latin typeface="Times New Roman" pitchFamily="18" charset="0"/>
                <a:cs typeface="Times New Roman" pitchFamily="18" charset="0"/>
              </a:rPr>
              <a:t>It represents the database as a collection of relations. </a:t>
            </a:r>
          </a:p>
          <a:p>
            <a:r>
              <a:rPr lang="en-US" dirty="0">
                <a:latin typeface="Times New Roman" pitchFamily="18" charset="0"/>
                <a:cs typeface="Times New Roman" pitchFamily="18" charset="0"/>
              </a:rPr>
              <a:t>Relational Model was proposed by </a:t>
            </a:r>
            <a:r>
              <a:rPr lang="en-US" b="1" dirty="0">
                <a:latin typeface="Times New Roman" pitchFamily="18" charset="0"/>
                <a:cs typeface="Times New Roman" pitchFamily="18" charset="0"/>
              </a:rPr>
              <a:t>E.F. </a:t>
            </a:r>
            <a:r>
              <a:rPr lang="en-US" b="1" dirty="0" err="1">
                <a:latin typeface="Times New Roman" pitchFamily="18" charset="0"/>
                <a:cs typeface="Times New Roman" pitchFamily="18" charset="0"/>
              </a:rPr>
              <a:t>Codd</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to model data in the form of relations or tables. </a:t>
            </a:r>
            <a:endParaRPr lang="en-US" dirty="0" smtClean="0">
              <a:latin typeface="Times New Roman" pitchFamily="18" charset="0"/>
              <a:cs typeface="Times New Roman" pitchFamily="18" charset="0"/>
            </a:endParaRPr>
          </a:p>
          <a:p>
            <a:r>
              <a:rPr lang="en-US" dirty="0">
                <a:latin typeface="Times New Roman" pitchFamily="18" charset="0"/>
                <a:cs typeface="Times New Roman" pitchFamily="18" charset="0"/>
              </a:rPr>
              <a:t>Relational Model represents how data is stored in Relational Databases</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The standard database model for most transactional database today.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7053831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332656"/>
            <a:ext cx="9036495" cy="5904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48270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Model Terminology</a:t>
            </a:r>
            <a:endParaRPr lang="en-IN" dirty="0"/>
          </a:p>
        </p:txBody>
      </p:sp>
      <p:sp>
        <p:nvSpPr>
          <p:cNvPr id="3" name="Content Placeholder 2"/>
          <p:cNvSpPr>
            <a:spLocks noGrp="1"/>
          </p:cNvSpPr>
          <p:nvPr>
            <p:ph sz="quarter" idx="1"/>
          </p:nvPr>
        </p:nvSpPr>
        <p:spPr>
          <a:xfrm>
            <a:off x="914400" y="1447800"/>
            <a:ext cx="8050088" cy="5005536"/>
          </a:xfrm>
        </p:spPr>
        <p:txBody>
          <a:bodyPr>
            <a:normAutofit/>
          </a:bodyPr>
          <a:lstStyle/>
          <a:p>
            <a:pPr>
              <a:spcAft>
                <a:spcPts val="600"/>
              </a:spcAft>
            </a:pPr>
            <a:r>
              <a:rPr lang="en-US" sz="2400" b="1" dirty="0" smtClean="0">
                <a:latin typeface="Times New Roman" pitchFamily="18" charset="0"/>
                <a:cs typeface="Times New Roman" pitchFamily="18" charset="0"/>
              </a:rPr>
              <a:t>Relation</a:t>
            </a:r>
            <a:r>
              <a:rPr lang="en-US" sz="2400" dirty="0" smtClean="0">
                <a:latin typeface="Times New Roman" pitchFamily="18" charset="0"/>
                <a:cs typeface="Times New Roman" pitchFamily="18" charset="0"/>
              </a:rPr>
              <a:t> : Table is called relation.</a:t>
            </a:r>
          </a:p>
          <a:p>
            <a:pPr>
              <a:spcAft>
                <a:spcPts val="600"/>
              </a:spcAft>
            </a:pPr>
            <a:r>
              <a:rPr lang="en-US" sz="2400" b="1" dirty="0" smtClean="0">
                <a:latin typeface="Times New Roman" pitchFamily="18" charset="0"/>
                <a:cs typeface="Times New Roman" pitchFamily="18" charset="0"/>
              </a:rPr>
              <a:t>Tuple</a:t>
            </a:r>
            <a:r>
              <a:rPr lang="en-US" sz="2400" dirty="0" smtClean="0">
                <a:latin typeface="Times New Roman" pitchFamily="18" charset="0"/>
                <a:cs typeface="Times New Roman" pitchFamily="18" charset="0"/>
              </a:rPr>
              <a:t>: Row is called tuple.</a:t>
            </a:r>
          </a:p>
          <a:p>
            <a:pPr>
              <a:spcAft>
                <a:spcPts val="600"/>
              </a:spcAft>
            </a:pPr>
            <a:r>
              <a:rPr lang="en-US" sz="2400" b="1" dirty="0" smtClean="0">
                <a:latin typeface="Times New Roman" pitchFamily="18" charset="0"/>
                <a:cs typeface="Times New Roman" pitchFamily="18" charset="0"/>
              </a:rPr>
              <a:t>Attribute</a:t>
            </a:r>
            <a:r>
              <a:rPr lang="en-US" sz="2400" dirty="0" smtClean="0">
                <a:latin typeface="Times New Roman" pitchFamily="18" charset="0"/>
                <a:cs typeface="Times New Roman" pitchFamily="18" charset="0"/>
              </a:rPr>
              <a:t>: A column header is called attribute.</a:t>
            </a:r>
          </a:p>
          <a:p>
            <a:pPr>
              <a:spcAft>
                <a:spcPts val="600"/>
              </a:spcAft>
            </a:pPr>
            <a:r>
              <a:rPr lang="en-US" sz="2400" b="1" dirty="0" smtClean="0">
                <a:latin typeface="Times New Roman" pitchFamily="18" charset="0"/>
                <a:cs typeface="Times New Roman" pitchFamily="18" charset="0"/>
              </a:rPr>
              <a:t>Domain</a:t>
            </a:r>
            <a:r>
              <a:rPr lang="en-US" sz="2400" dirty="0" smtClean="0">
                <a:latin typeface="Times New Roman" pitchFamily="18" charset="0"/>
                <a:cs typeface="Times New Roman" pitchFamily="18" charset="0"/>
              </a:rPr>
              <a:t>: Set of atomic value (Scope of the attribute). Ex. A valid roll number,  set of all integer, etc. </a:t>
            </a:r>
          </a:p>
          <a:p>
            <a:pPr>
              <a:spcAft>
                <a:spcPts val="600"/>
              </a:spcAft>
            </a:pPr>
            <a:r>
              <a:rPr lang="en-US" sz="2400" b="1" dirty="0" smtClean="0">
                <a:latin typeface="Times New Roman" pitchFamily="18" charset="0"/>
                <a:cs typeface="Times New Roman" pitchFamily="18" charset="0"/>
              </a:rPr>
              <a:t>Degree</a:t>
            </a:r>
            <a:r>
              <a:rPr lang="en-US" sz="2400" dirty="0">
                <a:latin typeface="Times New Roman" pitchFamily="18" charset="0"/>
                <a:cs typeface="Times New Roman" pitchFamily="18" charset="0"/>
              </a:rPr>
              <a:t>: The total number of attributes which in the relation is called the degree of the relation. </a:t>
            </a:r>
            <a:endParaRPr lang="en-US" sz="2400" dirty="0" smtClean="0">
              <a:latin typeface="Times New Roman" pitchFamily="18" charset="0"/>
              <a:cs typeface="Times New Roman" pitchFamily="18" charset="0"/>
            </a:endParaRPr>
          </a:p>
          <a:p>
            <a:pPr>
              <a:spcAft>
                <a:spcPts val="600"/>
              </a:spcAft>
            </a:pPr>
            <a:r>
              <a:rPr lang="en-US" sz="2400" b="1" dirty="0">
                <a:latin typeface="Times New Roman" pitchFamily="18" charset="0"/>
                <a:cs typeface="Times New Roman" pitchFamily="18" charset="0"/>
              </a:rPr>
              <a:t>Cardinality</a:t>
            </a:r>
            <a:r>
              <a:rPr lang="en-US" sz="2400" dirty="0">
                <a:latin typeface="Times New Roman" pitchFamily="18" charset="0"/>
                <a:cs typeface="Times New Roman" pitchFamily="18" charset="0"/>
              </a:rPr>
              <a:t>: Total number of rows present in the Table. </a:t>
            </a:r>
            <a:endParaRPr lang="en-US" sz="2400" dirty="0" smtClean="0">
              <a:latin typeface="Times New Roman" pitchFamily="18" charset="0"/>
              <a:cs typeface="Times New Roman" pitchFamily="18" charset="0"/>
            </a:endParaRPr>
          </a:p>
          <a:p>
            <a:pPr>
              <a:spcAft>
                <a:spcPts val="600"/>
              </a:spcAft>
            </a:pPr>
            <a:r>
              <a:rPr lang="en-US" sz="2400" b="1" dirty="0">
                <a:latin typeface="Times New Roman" pitchFamily="18" charset="0"/>
                <a:cs typeface="Times New Roman" pitchFamily="18" charset="0"/>
              </a:rPr>
              <a:t>Cartesian product </a:t>
            </a:r>
            <a:r>
              <a:rPr lang="en-US" sz="2400" dirty="0">
                <a:latin typeface="Times New Roman" pitchFamily="18" charset="0"/>
                <a:cs typeface="Times New Roman" pitchFamily="18" charset="0"/>
              </a:rPr>
              <a:t>specifies all possible combinations of values from the underlying domains.</a:t>
            </a:r>
            <a:endParaRPr lang="en-US" sz="2400" dirty="0" smtClean="0">
              <a:latin typeface="Times New Roman" pitchFamily="18" charset="0"/>
              <a:cs typeface="Times New Roman" pitchFamily="18" charset="0"/>
            </a:endParaRPr>
          </a:p>
          <a:p>
            <a:pPr>
              <a:spcAft>
                <a:spcPts val="600"/>
              </a:spcAft>
            </a:pPr>
            <a:endParaRPr lang="en-US" sz="2400" dirty="0" smtClean="0">
              <a:latin typeface="Times New Roman" pitchFamily="18" charset="0"/>
              <a:cs typeface="Times New Roman" pitchFamily="18" charset="0"/>
            </a:endParaRPr>
          </a:p>
          <a:p>
            <a:pPr>
              <a:spcAft>
                <a:spcPts val="600"/>
              </a:spcAft>
            </a:pPr>
            <a:endParaRPr lang="en-US" sz="2400" dirty="0" smtClean="0">
              <a:latin typeface="Times New Roman" pitchFamily="18" charset="0"/>
              <a:cs typeface="Times New Roman" pitchFamily="18" charset="0"/>
            </a:endParaRPr>
          </a:p>
          <a:p>
            <a:pPr>
              <a:spcAft>
                <a:spcPts val="600"/>
              </a:spcAft>
            </a:pP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224191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r>
              <a:rPr lang="en-US" dirty="0" smtClean="0"/>
              <a:t>R– Relation 1</a:t>
            </a:r>
          </a:p>
          <a:p>
            <a:r>
              <a:rPr lang="en-US" dirty="0" smtClean="0"/>
              <a:t>S- Relation 2</a:t>
            </a:r>
          </a:p>
          <a:p>
            <a:r>
              <a:rPr lang="en-US" dirty="0" smtClean="0"/>
              <a:t>T= R x S</a:t>
            </a:r>
          </a:p>
          <a:p>
            <a:r>
              <a:rPr lang="en-US" dirty="0" smtClean="0"/>
              <a:t>Cardinality of R=4</a:t>
            </a:r>
          </a:p>
          <a:p>
            <a:r>
              <a:rPr lang="en-US" dirty="0" smtClean="0"/>
              <a:t>Cardinality of S=5</a:t>
            </a:r>
          </a:p>
          <a:p>
            <a:r>
              <a:rPr lang="en-US" smtClean="0"/>
              <a:t>Cardinality of T= 4 x 5 =20.</a:t>
            </a:r>
            <a:endParaRPr lang="en-IN"/>
          </a:p>
        </p:txBody>
      </p:sp>
    </p:spTree>
    <p:extLst>
      <p:ext uri="{BB962C8B-B14F-4D97-AF65-F5344CB8AC3E}">
        <p14:creationId xmlns:p14="http://schemas.microsoft.com/office/powerpoint/2010/main" val="201090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 Schema and Instance</a:t>
            </a:r>
            <a:endParaRPr lang="en-IN" dirty="0"/>
          </a:p>
        </p:txBody>
      </p:sp>
      <p:sp>
        <p:nvSpPr>
          <p:cNvPr id="3" name="Content Placeholder 2"/>
          <p:cNvSpPr>
            <a:spLocks noGrp="1"/>
          </p:cNvSpPr>
          <p:nvPr>
            <p:ph sz="quarter" idx="1"/>
          </p:nvPr>
        </p:nvSpPr>
        <p:spPr/>
        <p:txBody>
          <a:bodyPr>
            <a:normAutofit/>
          </a:bodyPr>
          <a:lstStyle/>
          <a:p>
            <a:r>
              <a:rPr lang="en-US" altLang="en-US" sz="2400" i="1" dirty="0">
                <a:latin typeface="Times New Roman" pitchFamily="18" charset="0"/>
                <a:ea typeface="ＭＳ Ｐゴシック" pitchFamily="34" charset="-128"/>
                <a:cs typeface="Times New Roman" pitchFamily="18" charset="0"/>
              </a:rPr>
              <a:t>A</a:t>
            </a:r>
            <a:r>
              <a:rPr lang="en-US" altLang="en-US" sz="2400" baseline="-25000" dirty="0">
                <a:latin typeface="Times New Roman" pitchFamily="18" charset="0"/>
                <a:ea typeface="ＭＳ Ｐゴシック" pitchFamily="34" charset="-128"/>
                <a:cs typeface="Times New Roman" pitchFamily="18" charset="0"/>
              </a:rPr>
              <a:t>1</a:t>
            </a:r>
            <a:r>
              <a:rPr lang="en-US" altLang="en-US" sz="2400" dirty="0">
                <a:latin typeface="Times New Roman" pitchFamily="18" charset="0"/>
                <a:ea typeface="ＭＳ Ｐゴシック" pitchFamily="34" charset="-128"/>
                <a:cs typeface="Times New Roman" pitchFamily="18" charset="0"/>
              </a:rPr>
              <a:t>, </a:t>
            </a:r>
            <a:r>
              <a:rPr lang="en-US" altLang="en-US" sz="2400" i="1" dirty="0">
                <a:latin typeface="Times New Roman" pitchFamily="18" charset="0"/>
                <a:ea typeface="ＭＳ Ｐゴシック" pitchFamily="34" charset="-128"/>
                <a:cs typeface="Times New Roman" pitchFamily="18" charset="0"/>
              </a:rPr>
              <a:t>A</a:t>
            </a:r>
            <a:r>
              <a:rPr lang="en-US" altLang="en-US" sz="2400" baseline="-25000" dirty="0">
                <a:latin typeface="Times New Roman" pitchFamily="18" charset="0"/>
                <a:ea typeface="ＭＳ Ｐゴシック" pitchFamily="34" charset="-128"/>
                <a:cs typeface="Times New Roman" pitchFamily="18" charset="0"/>
              </a:rPr>
              <a:t>2</a:t>
            </a:r>
            <a:r>
              <a:rPr lang="en-US" altLang="en-US" sz="2400" dirty="0">
                <a:latin typeface="Times New Roman" pitchFamily="18" charset="0"/>
                <a:ea typeface="ＭＳ Ｐゴシック" pitchFamily="34" charset="-128"/>
                <a:cs typeface="Times New Roman" pitchFamily="18" charset="0"/>
              </a:rPr>
              <a:t>, …, </a:t>
            </a:r>
            <a:r>
              <a:rPr lang="en-US" altLang="en-US" sz="2400" i="1" dirty="0">
                <a:latin typeface="Times New Roman" pitchFamily="18" charset="0"/>
                <a:ea typeface="ＭＳ Ｐゴシック" pitchFamily="34" charset="-128"/>
                <a:cs typeface="Times New Roman" pitchFamily="18" charset="0"/>
              </a:rPr>
              <a:t>A</a:t>
            </a:r>
            <a:r>
              <a:rPr lang="en-US" altLang="en-US" sz="2400" i="1" baseline="-25000" dirty="0">
                <a:latin typeface="Times New Roman" pitchFamily="18" charset="0"/>
                <a:ea typeface="ＭＳ Ｐゴシック" pitchFamily="34" charset="-128"/>
                <a:cs typeface="Times New Roman" pitchFamily="18" charset="0"/>
              </a:rPr>
              <a:t>n</a:t>
            </a:r>
            <a:r>
              <a:rPr lang="en-US" altLang="en-US" sz="2400" i="1" dirty="0">
                <a:latin typeface="Times New Roman" pitchFamily="18" charset="0"/>
                <a:ea typeface="ＭＳ Ｐゴシック" pitchFamily="34" charset="-128"/>
                <a:cs typeface="Times New Roman" pitchFamily="18" charset="0"/>
              </a:rPr>
              <a:t> </a:t>
            </a:r>
            <a:r>
              <a:rPr lang="en-US" altLang="en-US" sz="2400" dirty="0">
                <a:latin typeface="Times New Roman" pitchFamily="18" charset="0"/>
                <a:ea typeface="ＭＳ Ｐゴシック" pitchFamily="34" charset="-128"/>
                <a:cs typeface="Times New Roman" pitchFamily="18" charset="0"/>
              </a:rPr>
              <a:t>are </a:t>
            </a:r>
            <a:r>
              <a:rPr lang="en-US" altLang="en-US" sz="2400" i="1" dirty="0" smtClean="0">
                <a:latin typeface="Times New Roman" pitchFamily="18" charset="0"/>
                <a:ea typeface="ＭＳ Ｐゴシック" pitchFamily="34" charset="-128"/>
                <a:cs typeface="Times New Roman" pitchFamily="18" charset="0"/>
              </a:rPr>
              <a:t>attributes</a:t>
            </a:r>
            <a:endParaRPr lang="en-US" altLang="en-US" sz="2400" dirty="0">
              <a:latin typeface="Times New Roman" pitchFamily="18" charset="0"/>
              <a:ea typeface="ＭＳ Ｐゴシック" pitchFamily="34" charset="-128"/>
              <a:cs typeface="Times New Roman" pitchFamily="18" charset="0"/>
            </a:endParaRPr>
          </a:p>
          <a:p>
            <a:r>
              <a:rPr lang="en-US" altLang="en-US" sz="2400" i="1" dirty="0">
                <a:latin typeface="Times New Roman" pitchFamily="18" charset="0"/>
                <a:ea typeface="ＭＳ Ｐゴシック" pitchFamily="34" charset="-128"/>
                <a:cs typeface="Times New Roman" pitchFamily="18" charset="0"/>
              </a:rPr>
              <a:t>R</a:t>
            </a:r>
            <a:r>
              <a:rPr lang="en-US" altLang="en-US" sz="2400" dirty="0">
                <a:latin typeface="Times New Roman" pitchFamily="18" charset="0"/>
                <a:ea typeface="ＭＳ Ｐゴシック" pitchFamily="34" charset="-128"/>
                <a:cs typeface="Times New Roman" pitchFamily="18" charset="0"/>
              </a:rPr>
              <a:t> = (</a:t>
            </a:r>
            <a:r>
              <a:rPr lang="en-US" altLang="en-US" sz="2400" i="1" dirty="0">
                <a:latin typeface="Times New Roman" pitchFamily="18" charset="0"/>
                <a:ea typeface="ＭＳ Ｐゴシック" pitchFamily="34" charset="-128"/>
                <a:cs typeface="Times New Roman" pitchFamily="18" charset="0"/>
              </a:rPr>
              <a:t>A</a:t>
            </a:r>
            <a:r>
              <a:rPr lang="en-US" altLang="en-US" sz="2400" baseline="-25000" dirty="0">
                <a:latin typeface="Times New Roman" pitchFamily="18" charset="0"/>
                <a:ea typeface="ＭＳ Ｐゴシック" pitchFamily="34" charset="-128"/>
                <a:cs typeface="Times New Roman" pitchFamily="18" charset="0"/>
              </a:rPr>
              <a:t>1</a:t>
            </a:r>
            <a:r>
              <a:rPr lang="en-US" altLang="en-US" sz="2400" dirty="0">
                <a:latin typeface="Times New Roman" pitchFamily="18" charset="0"/>
                <a:ea typeface="ＭＳ Ｐゴシック" pitchFamily="34" charset="-128"/>
                <a:cs typeface="Times New Roman" pitchFamily="18" charset="0"/>
              </a:rPr>
              <a:t>, </a:t>
            </a:r>
            <a:r>
              <a:rPr lang="en-US" altLang="en-US" sz="2400" i="1" dirty="0">
                <a:latin typeface="Times New Roman" pitchFamily="18" charset="0"/>
                <a:ea typeface="ＭＳ Ｐゴシック" pitchFamily="34" charset="-128"/>
                <a:cs typeface="Times New Roman" pitchFamily="18" charset="0"/>
              </a:rPr>
              <a:t>A</a:t>
            </a:r>
            <a:r>
              <a:rPr lang="en-US" altLang="en-US" sz="2400" baseline="-25000" dirty="0">
                <a:latin typeface="Times New Roman" pitchFamily="18" charset="0"/>
                <a:ea typeface="ＭＳ Ｐゴシック" pitchFamily="34" charset="-128"/>
                <a:cs typeface="Times New Roman" pitchFamily="18" charset="0"/>
              </a:rPr>
              <a:t>2</a:t>
            </a:r>
            <a:r>
              <a:rPr lang="en-US" altLang="en-US" sz="2400" dirty="0">
                <a:latin typeface="Times New Roman" pitchFamily="18" charset="0"/>
                <a:ea typeface="ＭＳ Ｐゴシック" pitchFamily="34" charset="-128"/>
                <a:cs typeface="Times New Roman" pitchFamily="18" charset="0"/>
              </a:rPr>
              <a:t>, …, </a:t>
            </a:r>
            <a:r>
              <a:rPr lang="en-US" altLang="en-US" sz="2400" i="1" dirty="0">
                <a:latin typeface="Times New Roman" pitchFamily="18" charset="0"/>
                <a:ea typeface="ＭＳ Ｐゴシック" pitchFamily="34" charset="-128"/>
                <a:cs typeface="Times New Roman" pitchFamily="18" charset="0"/>
              </a:rPr>
              <a:t>A</a:t>
            </a:r>
            <a:r>
              <a:rPr lang="en-US" altLang="en-US" sz="2400" i="1" baseline="-25000" dirty="0">
                <a:latin typeface="Times New Roman" pitchFamily="18" charset="0"/>
                <a:ea typeface="ＭＳ Ｐゴシック" pitchFamily="34" charset="-128"/>
                <a:cs typeface="Times New Roman" pitchFamily="18" charset="0"/>
              </a:rPr>
              <a:t>n</a:t>
            </a:r>
            <a:r>
              <a:rPr lang="en-US" altLang="en-US" sz="2400" dirty="0">
                <a:latin typeface="Times New Roman" pitchFamily="18" charset="0"/>
                <a:ea typeface="ＭＳ Ｐゴシック" pitchFamily="34" charset="-128"/>
                <a:cs typeface="Times New Roman" pitchFamily="18" charset="0"/>
              </a:rPr>
              <a:t> ) is a </a:t>
            </a:r>
            <a:r>
              <a:rPr lang="en-US" altLang="en-US" sz="2400" i="1" dirty="0">
                <a:latin typeface="Times New Roman" pitchFamily="18" charset="0"/>
                <a:ea typeface="ＭＳ Ｐゴシック" pitchFamily="34" charset="-128"/>
                <a:cs typeface="Times New Roman" pitchFamily="18" charset="0"/>
              </a:rPr>
              <a:t>relation schema</a:t>
            </a:r>
          </a:p>
          <a:p>
            <a:pPr>
              <a:lnSpc>
                <a:spcPct val="120000"/>
              </a:lnSpc>
              <a:buFont typeface="Monotype Sorts" charset="2"/>
              <a:buNone/>
            </a:pPr>
            <a:r>
              <a:rPr lang="en-US" altLang="en-US" sz="2400" dirty="0">
                <a:latin typeface="Times New Roman" pitchFamily="18" charset="0"/>
                <a:ea typeface="ＭＳ Ｐゴシック" pitchFamily="34" charset="-128"/>
                <a:cs typeface="Times New Roman" pitchFamily="18" charset="0"/>
              </a:rPr>
              <a:t>	Example</a:t>
            </a:r>
            <a:r>
              <a:rPr lang="en-US" altLang="en-US" sz="2400" dirty="0" smtClean="0">
                <a:latin typeface="Times New Roman" pitchFamily="18" charset="0"/>
                <a:ea typeface="ＭＳ Ｐゴシック" pitchFamily="34" charset="-128"/>
                <a:cs typeface="Times New Roman" pitchFamily="18" charset="0"/>
              </a:rPr>
              <a:t>: </a:t>
            </a:r>
            <a:r>
              <a:rPr lang="en-US" altLang="en-US" sz="2400" i="1" dirty="0" smtClean="0">
                <a:latin typeface="Times New Roman" pitchFamily="18" charset="0"/>
                <a:ea typeface="ＭＳ Ｐゴシック" pitchFamily="34" charset="-128"/>
                <a:cs typeface="Times New Roman" pitchFamily="18" charset="0"/>
              </a:rPr>
              <a:t>instructor </a:t>
            </a:r>
            <a:r>
              <a:rPr lang="en-US" altLang="en-US" sz="2400" dirty="0" smtClean="0">
                <a:latin typeface="Times New Roman" pitchFamily="18" charset="0"/>
                <a:ea typeface="ＭＳ Ｐゴシック" pitchFamily="34" charset="-128"/>
                <a:cs typeface="Times New Roman" pitchFamily="18" charset="0"/>
              </a:rPr>
              <a:t> </a:t>
            </a:r>
            <a:r>
              <a:rPr lang="en-US" altLang="en-US" sz="2400" dirty="0">
                <a:latin typeface="Times New Roman" pitchFamily="18" charset="0"/>
                <a:ea typeface="ＭＳ Ｐゴシック" pitchFamily="34" charset="-128"/>
                <a:cs typeface="Times New Roman" pitchFamily="18" charset="0"/>
              </a:rPr>
              <a:t>= (</a:t>
            </a:r>
            <a:r>
              <a:rPr lang="en-US" altLang="en-US" sz="2400" i="1" dirty="0">
                <a:latin typeface="Times New Roman" pitchFamily="18" charset="0"/>
                <a:ea typeface="ＭＳ Ｐゴシック" pitchFamily="34" charset="-128"/>
                <a:cs typeface="Times New Roman" pitchFamily="18" charset="0"/>
              </a:rPr>
              <a:t>ID,  name, </a:t>
            </a:r>
            <a:r>
              <a:rPr lang="en-US" altLang="en-US" sz="2400" i="1" dirty="0" err="1">
                <a:latin typeface="Times New Roman" pitchFamily="18" charset="0"/>
                <a:ea typeface="ＭＳ Ｐゴシック" pitchFamily="34" charset="-128"/>
                <a:cs typeface="Times New Roman" pitchFamily="18" charset="0"/>
              </a:rPr>
              <a:t>dept_name</a:t>
            </a:r>
            <a:r>
              <a:rPr lang="en-US" altLang="en-US" sz="2400" i="1" dirty="0">
                <a:latin typeface="Times New Roman" pitchFamily="18" charset="0"/>
                <a:ea typeface="ＭＳ Ｐゴシック" pitchFamily="34" charset="-128"/>
                <a:cs typeface="Times New Roman" pitchFamily="18" charset="0"/>
              </a:rPr>
              <a:t>, salary</a:t>
            </a:r>
            <a:r>
              <a:rPr lang="en-US" altLang="en-US" sz="2400" dirty="0">
                <a:latin typeface="Times New Roman" pitchFamily="18" charset="0"/>
                <a:ea typeface="ＭＳ Ｐゴシック" pitchFamily="34" charset="-128"/>
                <a:cs typeface="Times New Roman" pitchFamily="18" charset="0"/>
              </a:rPr>
              <a:t>)</a:t>
            </a:r>
          </a:p>
          <a:p>
            <a:pPr>
              <a:lnSpc>
                <a:spcPct val="120000"/>
              </a:lnSpc>
            </a:pPr>
            <a:r>
              <a:rPr lang="en-US" altLang="en-US" sz="2400" dirty="0" smtClean="0">
                <a:latin typeface="Times New Roman" pitchFamily="18" charset="0"/>
                <a:ea typeface="ＭＳ Ｐゴシック" pitchFamily="34" charset="-128"/>
                <a:cs typeface="Times New Roman" pitchFamily="18" charset="0"/>
              </a:rPr>
              <a:t>Formally, given sets </a:t>
            </a:r>
            <a:r>
              <a:rPr lang="en-US" altLang="en-US" sz="2400" i="1" dirty="0" smtClean="0">
                <a:latin typeface="Times New Roman" pitchFamily="18" charset="0"/>
                <a:ea typeface="ＭＳ Ｐゴシック" pitchFamily="34" charset="-128"/>
                <a:cs typeface="Times New Roman" pitchFamily="18" charset="0"/>
              </a:rPr>
              <a:t>D</a:t>
            </a:r>
            <a:r>
              <a:rPr lang="en-US" altLang="en-US" sz="2400" baseline="-25000" dirty="0" smtClean="0">
                <a:latin typeface="Times New Roman" pitchFamily="18" charset="0"/>
                <a:ea typeface="ＭＳ Ｐゴシック" pitchFamily="34" charset="-128"/>
                <a:cs typeface="Times New Roman" pitchFamily="18" charset="0"/>
              </a:rPr>
              <a:t>1</a:t>
            </a:r>
            <a:r>
              <a:rPr lang="en-US" altLang="en-US" sz="2400" dirty="0" smtClean="0">
                <a:latin typeface="Times New Roman" pitchFamily="18" charset="0"/>
                <a:ea typeface="ＭＳ Ｐゴシック" pitchFamily="34" charset="-128"/>
                <a:cs typeface="Times New Roman" pitchFamily="18" charset="0"/>
              </a:rPr>
              <a:t>, </a:t>
            </a:r>
            <a:r>
              <a:rPr lang="en-US" altLang="en-US" sz="2400" i="1" dirty="0" smtClean="0">
                <a:latin typeface="Times New Roman" pitchFamily="18" charset="0"/>
                <a:ea typeface="ＭＳ Ｐゴシック" pitchFamily="34" charset="-128"/>
                <a:cs typeface="Times New Roman" pitchFamily="18" charset="0"/>
              </a:rPr>
              <a:t>D</a:t>
            </a:r>
            <a:r>
              <a:rPr lang="en-US" altLang="en-US" sz="2400" baseline="-25000" dirty="0" smtClean="0">
                <a:latin typeface="Times New Roman" pitchFamily="18" charset="0"/>
                <a:ea typeface="ＭＳ Ｐゴシック" pitchFamily="34" charset="-128"/>
                <a:cs typeface="Times New Roman" pitchFamily="18" charset="0"/>
              </a:rPr>
              <a:t>2</a:t>
            </a:r>
            <a:r>
              <a:rPr lang="en-US" altLang="en-US" sz="2400" dirty="0" smtClean="0">
                <a:latin typeface="Times New Roman" pitchFamily="18" charset="0"/>
                <a:ea typeface="ＭＳ Ｐゴシック" pitchFamily="34" charset="-128"/>
                <a:cs typeface="Times New Roman" pitchFamily="18" charset="0"/>
              </a:rPr>
              <a:t>, …. </a:t>
            </a:r>
            <a:r>
              <a:rPr lang="en-US" altLang="en-US" sz="2400" i="1" dirty="0" err="1" smtClean="0">
                <a:latin typeface="Times New Roman" pitchFamily="18" charset="0"/>
                <a:ea typeface="ＭＳ Ｐゴシック" pitchFamily="34" charset="-128"/>
                <a:cs typeface="Times New Roman" pitchFamily="18" charset="0"/>
              </a:rPr>
              <a:t>D</a:t>
            </a:r>
            <a:r>
              <a:rPr lang="en-US" altLang="en-US" sz="2400" i="1" baseline="-25000" dirty="0" err="1" smtClean="0">
                <a:latin typeface="Times New Roman" pitchFamily="18" charset="0"/>
                <a:ea typeface="ＭＳ Ｐゴシック" pitchFamily="34" charset="-128"/>
                <a:cs typeface="Times New Roman" pitchFamily="18" charset="0"/>
              </a:rPr>
              <a:t>n</a:t>
            </a:r>
            <a:r>
              <a:rPr lang="en-US" altLang="en-US" sz="2400" dirty="0" smtClean="0">
                <a:latin typeface="Times New Roman" pitchFamily="18" charset="0"/>
                <a:ea typeface="ＭＳ Ｐゴシック" pitchFamily="34" charset="-128"/>
                <a:cs typeface="Times New Roman" pitchFamily="18" charset="0"/>
              </a:rPr>
              <a:t> a </a:t>
            </a:r>
            <a:r>
              <a:rPr lang="en-US" altLang="en-US" sz="2400" b="1" dirty="0" smtClean="0">
                <a:solidFill>
                  <a:srgbClr val="000099"/>
                </a:solidFill>
                <a:latin typeface="Times New Roman" pitchFamily="18" charset="0"/>
                <a:ea typeface="ＭＳ Ｐゴシック" pitchFamily="34" charset="-128"/>
                <a:cs typeface="Times New Roman" pitchFamily="18" charset="0"/>
              </a:rPr>
              <a:t>relation</a:t>
            </a:r>
            <a:r>
              <a:rPr lang="en-US" altLang="en-US" sz="2400" i="1" dirty="0" smtClean="0">
                <a:solidFill>
                  <a:srgbClr val="008000"/>
                </a:solidFill>
                <a:latin typeface="Times New Roman" pitchFamily="18" charset="0"/>
                <a:ea typeface="ＭＳ Ｐゴシック" pitchFamily="34" charset="-128"/>
                <a:cs typeface="Times New Roman" pitchFamily="18" charset="0"/>
              </a:rPr>
              <a:t> </a:t>
            </a:r>
            <a:r>
              <a:rPr lang="en-US" altLang="en-US" sz="2400" b="1" i="1" dirty="0" smtClean="0">
                <a:solidFill>
                  <a:srgbClr val="000000"/>
                </a:solidFill>
                <a:latin typeface="Times New Roman" pitchFamily="18" charset="0"/>
                <a:ea typeface="ＭＳ Ｐゴシック" pitchFamily="34" charset="-128"/>
                <a:cs typeface="Times New Roman" pitchFamily="18" charset="0"/>
              </a:rPr>
              <a:t>r</a:t>
            </a:r>
            <a:r>
              <a:rPr lang="en-US" altLang="en-US" sz="2400" dirty="0" smtClean="0">
                <a:latin typeface="Times New Roman" pitchFamily="18" charset="0"/>
                <a:ea typeface="ＭＳ Ｐゴシック" pitchFamily="34" charset="-128"/>
                <a:cs typeface="Times New Roman" pitchFamily="18" charset="0"/>
              </a:rPr>
              <a:t> is a subset of    </a:t>
            </a:r>
            <a:r>
              <a:rPr lang="en-US" altLang="en-US" sz="2400" i="1" dirty="0" smtClean="0">
                <a:latin typeface="Times New Roman" pitchFamily="18" charset="0"/>
                <a:ea typeface="ＭＳ Ｐゴシック" pitchFamily="34" charset="-128"/>
                <a:cs typeface="Times New Roman" pitchFamily="18" charset="0"/>
              </a:rPr>
              <a:t>D</a:t>
            </a:r>
            <a:r>
              <a:rPr lang="en-US" altLang="en-US" sz="2400" baseline="-25000" dirty="0" smtClean="0">
                <a:latin typeface="Times New Roman" pitchFamily="18" charset="0"/>
                <a:ea typeface="ＭＳ Ｐゴシック" pitchFamily="34" charset="-128"/>
                <a:cs typeface="Times New Roman" pitchFamily="18" charset="0"/>
              </a:rPr>
              <a:t>1</a:t>
            </a:r>
            <a:r>
              <a:rPr lang="en-US" altLang="en-US" sz="2400" dirty="0" smtClean="0">
                <a:latin typeface="Times New Roman" pitchFamily="18" charset="0"/>
                <a:ea typeface="ＭＳ Ｐゴシック" pitchFamily="34" charset="-128"/>
                <a:cs typeface="Times New Roman" pitchFamily="18" charset="0"/>
              </a:rPr>
              <a:t> x  </a:t>
            </a:r>
            <a:r>
              <a:rPr lang="en-US" altLang="en-US" sz="2400" i="1" dirty="0" smtClean="0">
                <a:latin typeface="Times New Roman" pitchFamily="18" charset="0"/>
                <a:ea typeface="ＭＳ Ｐゴシック" pitchFamily="34" charset="-128"/>
                <a:cs typeface="Times New Roman" pitchFamily="18" charset="0"/>
              </a:rPr>
              <a:t>D</a:t>
            </a:r>
            <a:r>
              <a:rPr lang="en-US" altLang="en-US" sz="2400" baseline="-25000" dirty="0" smtClean="0">
                <a:latin typeface="Times New Roman" pitchFamily="18" charset="0"/>
                <a:ea typeface="ＭＳ Ｐゴシック" pitchFamily="34" charset="-128"/>
                <a:cs typeface="Times New Roman" pitchFamily="18" charset="0"/>
              </a:rPr>
              <a:t>2 </a:t>
            </a:r>
            <a:r>
              <a:rPr lang="en-US" altLang="en-US" sz="2400" dirty="0" smtClean="0">
                <a:latin typeface="Times New Roman" pitchFamily="18" charset="0"/>
                <a:ea typeface="ＭＳ Ｐゴシック" pitchFamily="34" charset="-128"/>
                <a:cs typeface="Times New Roman" pitchFamily="18" charset="0"/>
              </a:rPr>
              <a:t> x … x </a:t>
            </a:r>
            <a:r>
              <a:rPr lang="en-US" altLang="en-US" sz="2400" i="1" dirty="0" err="1" smtClean="0">
                <a:latin typeface="Times New Roman" pitchFamily="18" charset="0"/>
                <a:ea typeface="ＭＳ Ｐゴシック" pitchFamily="34" charset="-128"/>
                <a:cs typeface="Times New Roman" pitchFamily="18" charset="0"/>
              </a:rPr>
              <a:t>D</a:t>
            </a:r>
            <a:r>
              <a:rPr lang="en-US" altLang="en-US" sz="2400" i="1" baseline="-25000" dirty="0" err="1" smtClean="0">
                <a:latin typeface="Times New Roman" pitchFamily="18" charset="0"/>
                <a:ea typeface="ＭＳ Ｐゴシック" pitchFamily="34" charset="-128"/>
                <a:cs typeface="Times New Roman" pitchFamily="18" charset="0"/>
              </a:rPr>
              <a:t>n</a:t>
            </a:r>
            <a:endParaRPr lang="en-US" altLang="en-US" sz="2400" i="1" baseline="-25000" dirty="0" smtClean="0">
              <a:latin typeface="Times New Roman" pitchFamily="18" charset="0"/>
              <a:ea typeface="ＭＳ Ｐゴシック" pitchFamily="34" charset="-128"/>
              <a:cs typeface="Times New Roman" pitchFamily="18" charset="0"/>
            </a:endParaRPr>
          </a:p>
          <a:p>
            <a:pPr>
              <a:lnSpc>
                <a:spcPct val="120000"/>
              </a:lnSpc>
            </a:pPr>
            <a:r>
              <a:rPr lang="en-US" altLang="en-US" sz="2400" dirty="0" smtClean="0">
                <a:latin typeface="Times New Roman" pitchFamily="18" charset="0"/>
                <a:ea typeface="ＭＳ Ｐゴシック" pitchFamily="34" charset="-128"/>
                <a:cs typeface="Times New Roman" pitchFamily="18" charset="0"/>
              </a:rPr>
              <a:t/>
            </a:r>
            <a:br>
              <a:rPr lang="en-US" altLang="en-US" sz="2400" dirty="0" smtClean="0">
                <a:latin typeface="Times New Roman" pitchFamily="18" charset="0"/>
                <a:ea typeface="ＭＳ Ｐゴシック" pitchFamily="34" charset="-128"/>
                <a:cs typeface="Times New Roman" pitchFamily="18" charset="0"/>
              </a:rPr>
            </a:br>
            <a:endParaRPr lang="en-US" altLang="en-US" sz="2400" dirty="0" smtClean="0">
              <a:latin typeface="Times New Roman" pitchFamily="18" charset="0"/>
              <a:ea typeface="ＭＳ Ｐゴシック" pitchFamily="34" charset="-128"/>
              <a:cs typeface="Times New Roman" pitchFamily="18" charset="0"/>
            </a:endParaRPr>
          </a:p>
          <a:p>
            <a:pPr>
              <a:lnSpc>
                <a:spcPct val="120000"/>
              </a:lnSpc>
            </a:pPr>
            <a:r>
              <a:rPr lang="en-US" altLang="en-US" sz="2400" dirty="0" smtClean="0">
                <a:latin typeface="Times New Roman" pitchFamily="18" charset="0"/>
                <a:ea typeface="ＭＳ Ｐゴシック" pitchFamily="34" charset="-128"/>
                <a:cs typeface="Times New Roman" pitchFamily="18" charset="0"/>
              </a:rPr>
              <a:t>Thus</a:t>
            </a:r>
            <a:r>
              <a:rPr lang="en-US" altLang="en-US" sz="2400" dirty="0">
                <a:latin typeface="Times New Roman" pitchFamily="18" charset="0"/>
                <a:ea typeface="ＭＳ Ｐゴシック" pitchFamily="34" charset="-128"/>
                <a:cs typeface="Times New Roman" pitchFamily="18" charset="0"/>
              </a:rPr>
              <a:t>, a relation is a set of </a:t>
            </a:r>
            <a:r>
              <a:rPr lang="en-US" altLang="en-US" sz="2400" i="1" dirty="0">
                <a:latin typeface="Times New Roman" pitchFamily="18" charset="0"/>
                <a:ea typeface="ＭＳ Ｐゴシック" pitchFamily="34" charset="-128"/>
                <a:cs typeface="Times New Roman" pitchFamily="18" charset="0"/>
              </a:rPr>
              <a:t>n</a:t>
            </a:r>
            <a:r>
              <a:rPr lang="en-US" altLang="en-US" sz="2400" dirty="0">
                <a:latin typeface="Times New Roman" pitchFamily="18" charset="0"/>
                <a:ea typeface="ＭＳ Ｐゴシック" pitchFamily="34" charset="-128"/>
                <a:cs typeface="Times New Roman" pitchFamily="18" charset="0"/>
              </a:rPr>
              <a:t>-tuples (</a:t>
            </a:r>
            <a:r>
              <a:rPr lang="en-US" altLang="en-US" sz="2400" i="1" dirty="0">
                <a:latin typeface="Times New Roman" pitchFamily="18" charset="0"/>
                <a:ea typeface="ＭＳ Ｐゴシック" pitchFamily="34" charset="-128"/>
                <a:cs typeface="Times New Roman" pitchFamily="18" charset="0"/>
              </a:rPr>
              <a:t>a</a:t>
            </a:r>
            <a:r>
              <a:rPr lang="en-US" altLang="en-US" sz="2400" baseline="-25000" dirty="0">
                <a:latin typeface="Times New Roman" pitchFamily="18" charset="0"/>
                <a:ea typeface="ＭＳ Ｐゴシック" pitchFamily="34" charset="-128"/>
                <a:cs typeface="Times New Roman" pitchFamily="18" charset="0"/>
              </a:rPr>
              <a:t>1</a:t>
            </a:r>
            <a:r>
              <a:rPr lang="en-US" altLang="en-US" sz="2400" dirty="0">
                <a:latin typeface="Times New Roman" pitchFamily="18" charset="0"/>
                <a:ea typeface="ＭＳ Ｐゴシック" pitchFamily="34" charset="-128"/>
                <a:cs typeface="Times New Roman" pitchFamily="18" charset="0"/>
              </a:rPr>
              <a:t>,</a:t>
            </a:r>
            <a:r>
              <a:rPr lang="en-US" altLang="en-US" sz="2400" i="1" dirty="0">
                <a:latin typeface="Times New Roman" pitchFamily="18" charset="0"/>
                <a:ea typeface="ＭＳ Ｐゴシック" pitchFamily="34" charset="-128"/>
                <a:cs typeface="Times New Roman" pitchFamily="18" charset="0"/>
              </a:rPr>
              <a:t> a</a:t>
            </a:r>
            <a:r>
              <a:rPr lang="en-US" altLang="en-US" sz="2400" baseline="-25000" dirty="0">
                <a:latin typeface="Times New Roman" pitchFamily="18" charset="0"/>
                <a:ea typeface="ＭＳ Ｐゴシック" pitchFamily="34" charset="-128"/>
                <a:cs typeface="Times New Roman" pitchFamily="18" charset="0"/>
              </a:rPr>
              <a:t>2</a:t>
            </a:r>
            <a:r>
              <a:rPr lang="en-US" altLang="en-US" sz="2400" dirty="0">
                <a:latin typeface="Times New Roman" pitchFamily="18" charset="0"/>
                <a:ea typeface="ＭＳ Ｐゴシック" pitchFamily="34" charset="-128"/>
                <a:cs typeface="Times New Roman" pitchFamily="18" charset="0"/>
              </a:rPr>
              <a:t>, …, </a:t>
            </a:r>
            <a:r>
              <a:rPr lang="en-US" altLang="en-US" sz="2400" i="1" dirty="0">
                <a:latin typeface="Times New Roman" pitchFamily="18" charset="0"/>
                <a:ea typeface="ＭＳ Ｐゴシック" pitchFamily="34" charset="-128"/>
                <a:cs typeface="Times New Roman" pitchFamily="18" charset="0"/>
              </a:rPr>
              <a:t>a</a:t>
            </a:r>
            <a:r>
              <a:rPr lang="en-US" altLang="en-US" sz="2400" i="1" baseline="-25000" dirty="0">
                <a:latin typeface="Times New Roman" pitchFamily="18" charset="0"/>
                <a:ea typeface="ＭＳ Ｐゴシック" pitchFamily="34" charset="-128"/>
                <a:cs typeface="Times New Roman" pitchFamily="18" charset="0"/>
              </a:rPr>
              <a:t>n</a:t>
            </a:r>
            <a:r>
              <a:rPr lang="en-US" altLang="en-US" sz="2400" dirty="0">
                <a:latin typeface="Times New Roman" pitchFamily="18" charset="0"/>
                <a:ea typeface="ＭＳ Ｐゴシック" pitchFamily="34" charset="-128"/>
                <a:cs typeface="Times New Roman" pitchFamily="18" charset="0"/>
              </a:rPr>
              <a:t>) where each </a:t>
            </a:r>
            <a:r>
              <a:rPr lang="en-US" altLang="en-US" sz="2400" i="1" dirty="0" err="1">
                <a:latin typeface="Times New Roman" pitchFamily="18" charset="0"/>
                <a:ea typeface="ＭＳ Ｐゴシック" pitchFamily="34" charset="-128"/>
                <a:cs typeface="Times New Roman" pitchFamily="18" charset="0"/>
              </a:rPr>
              <a:t>a</a:t>
            </a:r>
            <a:r>
              <a:rPr lang="en-US" altLang="en-US" sz="2400" i="1" baseline="-25000" dirty="0" err="1">
                <a:latin typeface="Times New Roman" pitchFamily="18" charset="0"/>
                <a:ea typeface="ＭＳ Ｐゴシック" pitchFamily="34" charset="-128"/>
                <a:cs typeface="Times New Roman" pitchFamily="18" charset="0"/>
              </a:rPr>
              <a:t>i</a:t>
            </a:r>
            <a:r>
              <a:rPr lang="en-US" altLang="en-US" sz="2400" dirty="0">
                <a:latin typeface="Times New Roman" pitchFamily="18" charset="0"/>
                <a:ea typeface="ＭＳ Ｐゴシック" pitchFamily="34" charset="-128"/>
                <a:cs typeface="Times New Roman" pitchFamily="18" charset="0"/>
              </a:rPr>
              <a:t>  </a:t>
            </a:r>
            <a:r>
              <a:rPr lang="en-US" altLang="en-US" sz="2400" dirty="0">
                <a:latin typeface="Times New Roman" pitchFamily="18" charset="0"/>
                <a:ea typeface="ＭＳ Ｐゴシック" pitchFamily="34" charset="-128"/>
                <a:cs typeface="Times New Roman" pitchFamily="18" charset="0"/>
                <a:sym typeface="Symbol" pitchFamily="18" charset="2"/>
              </a:rPr>
              <a:t> </a:t>
            </a:r>
            <a:r>
              <a:rPr lang="en-US" altLang="en-US" sz="2400" i="1" dirty="0">
                <a:latin typeface="Times New Roman" pitchFamily="18" charset="0"/>
                <a:ea typeface="ＭＳ Ｐゴシック" pitchFamily="34" charset="-128"/>
                <a:cs typeface="Times New Roman" pitchFamily="18" charset="0"/>
                <a:sym typeface="Symbol" pitchFamily="18" charset="2"/>
              </a:rPr>
              <a:t>D</a:t>
            </a:r>
            <a:r>
              <a:rPr lang="en-US" altLang="en-US" sz="2400" i="1" baseline="-25000" dirty="0">
                <a:latin typeface="Times New Roman" pitchFamily="18" charset="0"/>
                <a:ea typeface="ＭＳ Ｐゴシック" pitchFamily="34" charset="-128"/>
                <a:cs typeface="Times New Roman" pitchFamily="18" charset="0"/>
                <a:sym typeface="Symbol" pitchFamily="18" charset="2"/>
              </a:rPr>
              <a:t>i</a:t>
            </a:r>
            <a:endParaRPr lang="en-US" altLang="en-US" sz="2400" i="1" dirty="0">
              <a:latin typeface="Times New Roman" pitchFamily="18" charset="0"/>
              <a:ea typeface="ＭＳ Ｐゴシック" pitchFamily="34" charset="-128"/>
              <a:cs typeface="Times New Roman" pitchFamily="18" charset="0"/>
              <a:sym typeface="Symbol" pitchFamily="18" charset="2"/>
            </a:endParaRPr>
          </a:p>
          <a:p>
            <a:endParaRPr lang="en-IN"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9" y="4005064"/>
            <a:ext cx="6624736"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93222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of Relations</a:t>
            </a:r>
            <a:endParaRPr lang="en-IN" dirty="0"/>
          </a:p>
        </p:txBody>
      </p:sp>
      <p:sp>
        <p:nvSpPr>
          <p:cNvPr id="3" name="Content Placeholder 2"/>
          <p:cNvSpPr>
            <a:spLocks noGrp="1"/>
          </p:cNvSpPr>
          <p:nvPr>
            <p:ph sz="quarter" idx="1"/>
          </p:nvPr>
        </p:nvSpPr>
        <p:spPr>
          <a:xfrm>
            <a:off x="914400" y="1447800"/>
            <a:ext cx="7772400" cy="4645496"/>
          </a:xfrm>
        </p:spPr>
        <p:txBody>
          <a:bodyPr>
            <a:normAutofit fontScale="92500"/>
          </a:bodyPr>
          <a:lstStyle/>
          <a:p>
            <a:pPr>
              <a:lnSpc>
                <a:spcPct val="110000"/>
              </a:lnSpc>
              <a:spcAft>
                <a:spcPts val="600"/>
              </a:spcAft>
            </a:pPr>
            <a:r>
              <a:rPr lang="en-US" dirty="0" smtClean="0">
                <a:latin typeface="Times New Roman" pitchFamily="18" charset="0"/>
                <a:cs typeface="Times New Roman" pitchFamily="18" charset="0"/>
              </a:rPr>
              <a:t>Ordering of tuples: Mathematically,  tuples in relations don’t have ordering (although in reality they do have order when stored in files or disk).</a:t>
            </a:r>
          </a:p>
          <a:p>
            <a:pPr>
              <a:lnSpc>
                <a:spcPct val="110000"/>
              </a:lnSpc>
              <a:spcAft>
                <a:spcPts val="600"/>
              </a:spcAft>
            </a:pPr>
            <a:r>
              <a:rPr lang="en-US" dirty="0" smtClean="0">
                <a:latin typeface="Times New Roman" pitchFamily="18" charset="0"/>
                <a:cs typeface="Times New Roman" pitchFamily="18" charset="0"/>
              </a:rPr>
              <a:t>Ordering of attributes: Attributes within a tuple have to maintain order if they are stored as tuples. </a:t>
            </a:r>
          </a:p>
          <a:p>
            <a:pPr>
              <a:lnSpc>
                <a:spcPct val="110000"/>
              </a:lnSpc>
              <a:spcAft>
                <a:spcPts val="600"/>
              </a:spcAft>
            </a:pPr>
            <a:r>
              <a:rPr lang="en-US" dirty="0" smtClean="0">
                <a:latin typeface="Times New Roman" pitchFamily="18" charset="0"/>
                <a:cs typeface="Times New Roman" pitchFamily="18" charset="0"/>
              </a:rPr>
              <a:t>A relation </a:t>
            </a:r>
            <a:r>
              <a:rPr lang="en-US" dirty="0">
                <a:latin typeface="Times New Roman" pitchFamily="18" charset="0"/>
                <a:cs typeface="Times New Roman" pitchFamily="18" charset="0"/>
              </a:rPr>
              <a:t>schema R = {A</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 A</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 ..., A</a:t>
            </a:r>
            <a:r>
              <a:rPr lang="en-US" baseline="-25000" dirty="0">
                <a:latin typeface="Times New Roman" pitchFamily="18" charset="0"/>
                <a:cs typeface="Times New Roman" pitchFamily="18" charset="0"/>
              </a:rPr>
              <a:t>n</a:t>
            </a:r>
            <a:r>
              <a:rPr lang="en-US" dirty="0">
                <a:latin typeface="Times New Roman" pitchFamily="18" charset="0"/>
                <a:cs typeface="Times New Roman" pitchFamily="18" charset="0"/>
              </a:rPr>
              <a:t>} is </a:t>
            </a:r>
            <a:r>
              <a:rPr lang="en-US" dirty="0" smtClean="0">
                <a:latin typeface="Times New Roman" pitchFamily="18" charset="0"/>
                <a:cs typeface="Times New Roman" pitchFamily="18" charset="0"/>
              </a:rPr>
              <a:t>a  set </a:t>
            </a:r>
            <a:r>
              <a:rPr lang="en-US" dirty="0">
                <a:latin typeface="Times New Roman" pitchFamily="18" charset="0"/>
                <a:cs typeface="Times New Roman" pitchFamily="18" charset="0"/>
              </a:rPr>
              <a:t>of </a:t>
            </a:r>
            <a:r>
              <a:rPr lang="en-US" dirty="0" smtClean="0">
                <a:latin typeface="Times New Roman" pitchFamily="18" charset="0"/>
                <a:cs typeface="Times New Roman" pitchFamily="18" charset="0"/>
              </a:rPr>
              <a:t>attributes, </a:t>
            </a:r>
            <a:r>
              <a:rPr lang="en-US" dirty="0">
                <a:latin typeface="Times New Roman" pitchFamily="18" charset="0"/>
                <a:cs typeface="Times New Roman" pitchFamily="18" charset="0"/>
              </a:rPr>
              <a:t>and a relation state r(R) is a finite set of </a:t>
            </a:r>
            <a:r>
              <a:rPr lang="en-US" dirty="0" smtClean="0">
                <a:latin typeface="Times New Roman" pitchFamily="18" charset="0"/>
                <a:cs typeface="Times New Roman" pitchFamily="18" charset="0"/>
              </a:rPr>
              <a:t>mappings r </a:t>
            </a:r>
            <a:r>
              <a:rPr lang="en-US" dirty="0">
                <a:latin typeface="Times New Roman" pitchFamily="18" charset="0"/>
                <a:cs typeface="Times New Roman" pitchFamily="18" charset="0"/>
              </a:rPr>
              <a:t>= {t</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 t</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 ..., t</a:t>
            </a:r>
            <a:r>
              <a:rPr lang="en-US" baseline="-25000" dirty="0">
                <a:latin typeface="Times New Roman" pitchFamily="18" charset="0"/>
                <a:cs typeface="Times New Roman" pitchFamily="18" charset="0"/>
              </a:rPr>
              <a:t>m</a:t>
            </a:r>
            <a:r>
              <a:rPr lang="en-US" dirty="0">
                <a:latin typeface="Times New Roman" pitchFamily="18" charset="0"/>
                <a:cs typeface="Times New Roman" pitchFamily="18" charset="0"/>
              </a:rPr>
              <a:t>}, where each tuple </a:t>
            </a:r>
            <a:r>
              <a:rPr lang="en-US" dirty="0" err="1">
                <a:latin typeface="Times New Roman" pitchFamily="18" charset="0"/>
                <a:cs typeface="Times New Roman" pitchFamily="18" charset="0"/>
              </a:rPr>
              <a:t>t</a:t>
            </a:r>
            <a:r>
              <a:rPr lang="en-US" baseline="-25000" dirty="0" err="1">
                <a:latin typeface="Times New Roman" pitchFamily="18" charset="0"/>
                <a:cs typeface="Times New Roman" pitchFamily="18" charset="0"/>
              </a:rPr>
              <a:t>i</a:t>
            </a:r>
            <a:r>
              <a:rPr lang="en-US" dirty="0">
                <a:latin typeface="Times New Roman" pitchFamily="18" charset="0"/>
                <a:cs typeface="Times New Roman" pitchFamily="18" charset="0"/>
              </a:rPr>
              <a:t> is a mapping from R to D, and D is the </a:t>
            </a:r>
            <a:r>
              <a:rPr lang="en-US" dirty="0" smtClean="0">
                <a:latin typeface="Times New Roman" pitchFamily="18" charset="0"/>
                <a:cs typeface="Times New Roman" pitchFamily="18" charset="0"/>
              </a:rPr>
              <a:t>union of </a:t>
            </a:r>
            <a:r>
              <a:rPr lang="en-US" dirty="0">
                <a:latin typeface="Times New Roman" pitchFamily="18" charset="0"/>
                <a:cs typeface="Times New Roman" pitchFamily="18" charset="0"/>
              </a:rPr>
              <a:t>the attribute domains; that is, D = </a:t>
            </a:r>
            <a:r>
              <a:rPr lang="en-US" dirty="0" err="1">
                <a:latin typeface="Times New Roman" pitchFamily="18" charset="0"/>
                <a:cs typeface="Times New Roman" pitchFamily="18" charset="0"/>
              </a:rPr>
              <a:t>dom</a:t>
            </a:r>
            <a:r>
              <a:rPr lang="en-US" dirty="0">
                <a:latin typeface="Times New Roman" pitchFamily="18" charset="0"/>
                <a:cs typeface="Times New Roman" pitchFamily="18" charset="0"/>
              </a:rPr>
              <a:t>(A</a:t>
            </a:r>
            <a:r>
              <a:rPr lang="en-US" baseline="-25000" dirty="0">
                <a:latin typeface="Times New Roman" pitchFamily="18" charset="0"/>
                <a:cs typeface="Times New Roman" pitchFamily="18" charset="0"/>
              </a:rPr>
              <a:t>1</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dom</a:t>
            </a:r>
            <a:r>
              <a:rPr lang="en-US" dirty="0">
                <a:latin typeface="Times New Roman" pitchFamily="18" charset="0"/>
                <a:cs typeface="Times New Roman" pitchFamily="18" charset="0"/>
              </a:rPr>
              <a:t>(A</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 ∪ ...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dom</a:t>
            </a:r>
            <a:r>
              <a:rPr lang="en-US" dirty="0" smtClean="0">
                <a:latin typeface="Times New Roman" pitchFamily="18" charset="0"/>
                <a:cs typeface="Times New Roman" pitchFamily="18" charset="0"/>
              </a:rPr>
              <a:t>(A</a:t>
            </a:r>
            <a:r>
              <a:rPr lang="en-US" baseline="-25000" dirty="0" smtClean="0">
                <a:latin typeface="Times New Roman" pitchFamily="18" charset="0"/>
                <a:cs typeface="Times New Roman" pitchFamily="18" charset="0"/>
              </a:rPr>
              <a:t>n</a:t>
            </a:r>
            <a:r>
              <a:rPr lang="en-US" dirty="0" smtClean="0">
                <a:latin typeface="Times New Roman" pitchFamily="18" charset="0"/>
                <a:cs typeface="Times New Roman" pitchFamily="18" charset="0"/>
              </a:rPr>
              <a:t>).</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8801165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Relations</a:t>
            </a:r>
            <a:endParaRPr lang="en-IN" dirty="0"/>
          </a:p>
        </p:txBody>
      </p:sp>
      <p:sp>
        <p:nvSpPr>
          <p:cNvPr id="3" name="Content Placeholder 2"/>
          <p:cNvSpPr>
            <a:spLocks noGrp="1"/>
          </p:cNvSpPr>
          <p:nvPr>
            <p:ph sz="quarter" idx="1"/>
          </p:nvPr>
        </p:nvSpPr>
        <p:spPr/>
        <p:txBody>
          <a:bodyPr/>
          <a:lstStyle/>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556792"/>
            <a:ext cx="8928992"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21700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Relations</a:t>
            </a:r>
            <a:endParaRPr lang="en-IN" b="1" dirty="0"/>
          </a:p>
        </p:txBody>
      </p:sp>
      <p:sp>
        <p:nvSpPr>
          <p:cNvPr id="3" name="Content Placeholder 2"/>
          <p:cNvSpPr>
            <a:spLocks noGrp="1"/>
          </p:cNvSpPr>
          <p:nvPr>
            <p:ph sz="quarter" idx="1"/>
          </p:nvPr>
        </p:nvSpPr>
        <p:spPr/>
        <p:txBody>
          <a:bodyPr/>
          <a:lstStyle/>
          <a:p>
            <a:r>
              <a:rPr lang="en-US" dirty="0" smtClean="0"/>
              <a:t>Values of Tuples: </a:t>
            </a:r>
            <a:r>
              <a:rPr lang="en-US" dirty="0"/>
              <a:t>Each value that makes up a tuple is atomic and cannot be further subdivided. This is also called first normal form</a:t>
            </a:r>
            <a:endParaRPr lang="en-IN" dirty="0"/>
          </a:p>
          <a:p>
            <a:r>
              <a:rPr lang="en-US" dirty="0" smtClean="0"/>
              <a:t> </a:t>
            </a:r>
            <a:endParaRPr lang="en-IN" dirty="0"/>
          </a:p>
        </p:txBody>
      </p:sp>
    </p:spTree>
    <p:extLst>
      <p:ext uri="{BB962C8B-B14F-4D97-AF65-F5344CB8AC3E}">
        <p14:creationId xmlns:p14="http://schemas.microsoft.com/office/powerpoint/2010/main" val="30221417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Constraints </a:t>
            </a:r>
            <a:endParaRPr lang="en-IN" dirty="0"/>
          </a:p>
        </p:txBody>
      </p:sp>
      <p:sp>
        <p:nvSpPr>
          <p:cNvPr id="3" name="Content Placeholder 2"/>
          <p:cNvSpPr>
            <a:spLocks noGrp="1"/>
          </p:cNvSpPr>
          <p:nvPr>
            <p:ph sz="quarter" idx="1"/>
          </p:nvPr>
        </p:nvSpPr>
        <p:spPr/>
        <p:txBody>
          <a:bodyPr/>
          <a:lstStyle/>
          <a:p>
            <a:r>
              <a:rPr lang="en-US" dirty="0" smtClean="0"/>
              <a:t>Domain constraints </a:t>
            </a:r>
          </a:p>
          <a:p>
            <a:r>
              <a:rPr lang="en-US" dirty="0" smtClean="0"/>
              <a:t>Key constraints </a:t>
            </a:r>
          </a:p>
          <a:p>
            <a:r>
              <a:rPr lang="en-IN" dirty="0"/>
              <a:t>Referential integrity </a:t>
            </a:r>
            <a:r>
              <a:rPr lang="en-IN" dirty="0" smtClean="0"/>
              <a:t>constraints</a:t>
            </a:r>
          </a:p>
          <a:p>
            <a:r>
              <a:rPr lang="en-US" dirty="0" smtClean="0"/>
              <a:t>Other types of constraints</a:t>
            </a:r>
          </a:p>
          <a:p>
            <a:pPr lvl="1"/>
            <a:r>
              <a:rPr lang="en-US" dirty="0" smtClean="0"/>
              <a:t>Trigger, Assertions, etc..</a:t>
            </a:r>
            <a:endParaRPr lang="en-IN" dirty="0"/>
          </a:p>
        </p:txBody>
      </p:sp>
    </p:spTree>
    <p:extLst>
      <p:ext uri="{BB962C8B-B14F-4D97-AF65-F5344CB8AC3E}">
        <p14:creationId xmlns:p14="http://schemas.microsoft.com/office/powerpoint/2010/main" val="32781955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Domain Constraints </a:t>
            </a:r>
            <a:endParaRPr lang="en-IN" dirty="0"/>
          </a:p>
        </p:txBody>
      </p:sp>
      <p:sp>
        <p:nvSpPr>
          <p:cNvPr id="3" name="Content Placeholder 2"/>
          <p:cNvSpPr>
            <a:spLocks noGrp="1"/>
          </p:cNvSpPr>
          <p:nvPr>
            <p:ph sz="quarter" idx="1"/>
          </p:nvPr>
        </p:nvSpPr>
        <p:spPr/>
        <p:txBody>
          <a:bodyPr/>
          <a:lstStyle/>
          <a:p>
            <a:r>
              <a:rPr lang="en-US" dirty="0" smtClean="0"/>
              <a:t>A domain constraints  specifies that value of each attribute must be atomic and a member of </a:t>
            </a:r>
            <a:r>
              <a:rPr lang="en-US" dirty="0" err="1" smtClean="0"/>
              <a:t>dom</a:t>
            </a:r>
            <a:r>
              <a:rPr lang="en-US" dirty="0" smtClean="0"/>
              <a:t>(A). </a:t>
            </a:r>
          </a:p>
          <a:p>
            <a:r>
              <a:rPr lang="en-US" dirty="0"/>
              <a:t>These are attribute level constraints. </a:t>
            </a:r>
            <a:endParaRPr lang="en-US" dirty="0" smtClean="0"/>
          </a:p>
          <a:p>
            <a:r>
              <a:rPr lang="en-US" dirty="0" smtClean="0"/>
              <a:t>An </a:t>
            </a:r>
            <a:r>
              <a:rPr lang="en-US" dirty="0"/>
              <a:t>attribute can only take values which lie inside the domain range. </a:t>
            </a:r>
            <a:r>
              <a:rPr lang="en-US" dirty="0" err="1"/>
              <a:t>e.g</a:t>
            </a:r>
            <a:r>
              <a:rPr lang="en-US" dirty="0"/>
              <a:t>,; If a constrains AGE&gt;0 is applied on STUDENT relation, inserting negative value of AGE will result in failure.</a:t>
            </a:r>
            <a:endParaRPr lang="en-IN" dirty="0"/>
          </a:p>
        </p:txBody>
      </p:sp>
    </p:spTree>
    <p:extLst>
      <p:ext uri="{BB962C8B-B14F-4D97-AF65-F5344CB8AC3E}">
        <p14:creationId xmlns:p14="http://schemas.microsoft.com/office/powerpoint/2010/main" val="41160867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31AAA1-653A-46F4-95B4-198F70212118}"/>
              </a:ext>
            </a:extLst>
          </p:cNvPr>
          <p:cNvSpPr>
            <a:spLocks noGrp="1"/>
          </p:cNvSpPr>
          <p:nvPr>
            <p:ph type="title"/>
          </p:nvPr>
        </p:nvSpPr>
        <p:spPr>
          <a:xfrm>
            <a:off x="628650" y="365126"/>
            <a:ext cx="7886700" cy="708301"/>
          </a:xfrm>
        </p:spPr>
        <p:txBody>
          <a:bodyPr>
            <a:normAutofit fontScale="90000"/>
          </a:bodyPr>
          <a:lstStyle/>
          <a:p>
            <a:r>
              <a:rPr lang="en-US" dirty="0"/>
              <a:t>Key Constraints</a:t>
            </a:r>
            <a:endParaRPr lang="en-GB" dirty="0"/>
          </a:p>
        </p:txBody>
      </p:sp>
      <p:sp>
        <p:nvSpPr>
          <p:cNvPr id="3" name="Content Placeholder 2">
            <a:extLst>
              <a:ext uri="{FF2B5EF4-FFF2-40B4-BE49-F238E27FC236}">
                <a16:creationId xmlns:a16="http://schemas.microsoft.com/office/drawing/2014/main" xmlns="" id="{3719F1CA-67FC-45B8-A73C-F8E48C99BAE6}"/>
              </a:ext>
            </a:extLst>
          </p:cNvPr>
          <p:cNvSpPr>
            <a:spLocks noGrp="1"/>
          </p:cNvSpPr>
          <p:nvPr>
            <p:ph idx="1"/>
          </p:nvPr>
        </p:nvSpPr>
        <p:spPr>
          <a:xfrm>
            <a:off x="628650" y="1179443"/>
            <a:ext cx="7886700" cy="4997520"/>
          </a:xfrm>
        </p:spPr>
        <p:txBody>
          <a:bodyPr>
            <a:normAutofit fontScale="85000" lnSpcReduction="10000"/>
          </a:bodyPr>
          <a:lstStyle/>
          <a:p>
            <a:r>
              <a:rPr lang="en-US" b="1" dirty="0"/>
              <a:t>Primary Key</a:t>
            </a:r>
            <a:r>
              <a:rPr lang="en-US" dirty="0"/>
              <a:t>:  Attribute takes unique value without null</a:t>
            </a:r>
          </a:p>
          <a:p>
            <a:r>
              <a:rPr lang="en-US" b="1" dirty="0"/>
              <a:t>Unique Key</a:t>
            </a:r>
            <a:r>
              <a:rPr lang="en-US" dirty="0"/>
              <a:t>: Attributes takes unique value with null</a:t>
            </a:r>
          </a:p>
          <a:p>
            <a:r>
              <a:rPr lang="en-US" b="1" dirty="0"/>
              <a:t>Candidate Key</a:t>
            </a:r>
            <a:r>
              <a:rPr lang="en-US" dirty="0"/>
              <a:t>: </a:t>
            </a:r>
          </a:p>
          <a:p>
            <a:pPr lvl="1"/>
            <a:r>
              <a:rPr lang="en-US" dirty="0"/>
              <a:t>A candidate key is a column, or set of columns, in a table that can uniquely identify any database record without referring to any other data.</a:t>
            </a:r>
          </a:p>
          <a:p>
            <a:r>
              <a:rPr lang="en-US" b="1" dirty="0"/>
              <a:t>Super Key</a:t>
            </a:r>
            <a:r>
              <a:rPr lang="en-US" dirty="0"/>
              <a:t>: </a:t>
            </a:r>
          </a:p>
          <a:p>
            <a:pPr lvl="1"/>
            <a:r>
              <a:rPr lang="en-US" dirty="0"/>
              <a:t>The set of attributes which can uniquely identify a tuple is known as Super Key.</a:t>
            </a:r>
          </a:p>
          <a:p>
            <a:r>
              <a:rPr lang="en-US" dirty="0"/>
              <a:t>Composite Key: A set of Primary key in a relation is called composite key. </a:t>
            </a:r>
          </a:p>
          <a:p>
            <a:r>
              <a:rPr lang="en-US" b="1" dirty="0"/>
              <a:t>Alternate Key: </a:t>
            </a:r>
          </a:p>
          <a:p>
            <a:pPr lvl="1"/>
            <a:r>
              <a:rPr lang="en-US" dirty="0"/>
              <a:t>The candidate key other than primary key is called as alternate key.</a:t>
            </a:r>
          </a:p>
          <a:p>
            <a:r>
              <a:rPr lang="en-US" b="1" dirty="0"/>
              <a:t>Foreign Key</a:t>
            </a:r>
            <a:r>
              <a:rPr lang="en-US" dirty="0"/>
              <a:t>: </a:t>
            </a:r>
          </a:p>
          <a:p>
            <a:pPr lvl="1"/>
            <a:r>
              <a:rPr lang="en-US" dirty="0"/>
              <a:t>If an attribute can only take the values which are present as values of some other attribute, it will be foreign key to the attribute to which it refers.</a:t>
            </a:r>
            <a:endParaRPr lang="en-GB" dirty="0"/>
          </a:p>
        </p:txBody>
      </p:sp>
      <p:sp>
        <p:nvSpPr>
          <p:cNvPr id="4" name="Slide Number Placeholder 3">
            <a:extLst>
              <a:ext uri="{FF2B5EF4-FFF2-40B4-BE49-F238E27FC236}">
                <a16:creationId xmlns:a16="http://schemas.microsoft.com/office/drawing/2014/main" xmlns="" id="{8A1F515F-2333-4730-AF34-B561DBFCDE56}"/>
              </a:ext>
            </a:extLst>
          </p:cNvPr>
          <p:cNvSpPr>
            <a:spLocks noGrp="1"/>
          </p:cNvSpPr>
          <p:nvPr>
            <p:ph type="sldNum" sz="quarter" idx="4294967295"/>
          </p:nvPr>
        </p:nvSpPr>
        <p:spPr>
          <a:xfrm>
            <a:off x="6457950" y="6356351"/>
            <a:ext cx="2057400" cy="365125"/>
          </a:xfrm>
          <a:prstGeom prst="rect">
            <a:avLst/>
          </a:prstGeom>
        </p:spPr>
        <p:txBody>
          <a:bodyPr/>
          <a:lstStyle/>
          <a:p>
            <a:fld id="{15C8BAA3-5B96-48BC-A9E0-9EC337741AE5}" type="slidenum">
              <a:rPr lang="en-GB" smtClean="0"/>
              <a:t>12</a:t>
            </a:fld>
            <a:endParaRPr lang="en-GB"/>
          </a:p>
        </p:txBody>
      </p:sp>
    </p:spTree>
    <p:extLst>
      <p:ext uri="{BB962C8B-B14F-4D97-AF65-F5344CB8AC3E}">
        <p14:creationId xmlns:p14="http://schemas.microsoft.com/office/powerpoint/2010/main" val="14311590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9FC9DE-BF01-4A17-A7AB-C10FB3688329}"/>
              </a:ext>
            </a:extLst>
          </p:cNvPr>
          <p:cNvSpPr>
            <a:spLocks noGrp="1"/>
          </p:cNvSpPr>
          <p:nvPr>
            <p:ph type="title"/>
          </p:nvPr>
        </p:nvSpPr>
        <p:spPr/>
        <p:txBody>
          <a:bodyPr/>
          <a:lstStyle/>
          <a:p>
            <a:endParaRPr lang="en-GB"/>
          </a:p>
        </p:txBody>
      </p:sp>
      <p:pic>
        <p:nvPicPr>
          <p:cNvPr id="6" name="Content Placeholder 5">
            <a:extLst>
              <a:ext uri="{FF2B5EF4-FFF2-40B4-BE49-F238E27FC236}">
                <a16:creationId xmlns:a16="http://schemas.microsoft.com/office/drawing/2014/main" xmlns="" id="{51317CFB-6C50-4584-8522-3A2A0CDC43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5557" y="1690689"/>
            <a:ext cx="7692886" cy="4214191"/>
          </a:xfrm>
        </p:spPr>
      </p:pic>
      <p:sp>
        <p:nvSpPr>
          <p:cNvPr id="4" name="Slide Number Placeholder 3">
            <a:extLst>
              <a:ext uri="{FF2B5EF4-FFF2-40B4-BE49-F238E27FC236}">
                <a16:creationId xmlns:a16="http://schemas.microsoft.com/office/drawing/2014/main" xmlns="" id="{2E256FD3-C74D-45E1-8DFF-78211C0BEAA8}"/>
              </a:ext>
            </a:extLst>
          </p:cNvPr>
          <p:cNvSpPr>
            <a:spLocks noGrp="1"/>
          </p:cNvSpPr>
          <p:nvPr>
            <p:ph type="sldNum" sz="quarter" idx="4294967295"/>
          </p:nvPr>
        </p:nvSpPr>
        <p:spPr>
          <a:xfrm>
            <a:off x="6457950" y="6356351"/>
            <a:ext cx="2057400" cy="365125"/>
          </a:xfrm>
          <a:prstGeom prst="rect">
            <a:avLst/>
          </a:prstGeom>
        </p:spPr>
        <p:txBody>
          <a:bodyPr/>
          <a:lstStyle/>
          <a:p>
            <a:fld id="{15C8BAA3-5B96-48BC-A9E0-9EC337741AE5}" type="slidenum">
              <a:rPr lang="en-GB" smtClean="0"/>
              <a:t>13</a:t>
            </a:fld>
            <a:endParaRPr lang="en-GB"/>
          </a:p>
        </p:txBody>
      </p:sp>
    </p:spTree>
    <p:extLst>
      <p:ext uri="{BB962C8B-B14F-4D97-AF65-F5344CB8AC3E}">
        <p14:creationId xmlns:p14="http://schemas.microsoft.com/office/powerpoint/2010/main" val="37305686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359FC1-6EF5-409D-A5BA-C6334C83C471}"/>
              </a:ext>
            </a:extLst>
          </p:cNvPr>
          <p:cNvSpPr>
            <a:spLocks noGrp="1"/>
          </p:cNvSpPr>
          <p:nvPr>
            <p:ph type="title"/>
          </p:nvPr>
        </p:nvSpPr>
        <p:spPr>
          <a:xfrm>
            <a:off x="628650" y="365126"/>
            <a:ext cx="7886700" cy="840823"/>
          </a:xfrm>
        </p:spPr>
        <p:txBody>
          <a:bodyPr/>
          <a:lstStyle/>
          <a:p>
            <a:r>
              <a:rPr lang="en-US" dirty="0"/>
              <a:t>Anomalies </a:t>
            </a:r>
            <a:endParaRPr lang="en-GB" dirty="0"/>
          </a:p>
        </p:txBody>
      </p:sp>
      <p:sp>
        <p:nvSpPr>
          <p:cNvPr id="3" name="Content Placeholder 2">
            <a:extLst>
              <a:ext uri="{FF2B5EF4-FFF2-40B4-BE49-F238E27FC236}">
                <a16:creationId xmlns:a16="http://schemas.microsoft.com/office/drawing/2014/main" xmlns="" id="{10739779-8A5C-4406-9B5B-2A08C0FCE505}"/>
              </a:ext>
            </a:extLst>
          </p:cNvPr>
          <p:cNvSpPr>
            <a:spLocks noGrp="1"/>
          </p:cNvSpPr>
          <p:nvPr>
            <p:ph idx="1"/>
          </p:nvPr>
        </p:nvSpPr>
        <p:spPr>
          <a:xfrm>
            <a:off x="628650" y="1205949"/>
            <a:ext cx="7886700" cy="4971015"/>
          </a:xfrm>
        </p:spPr>
        <p:txBody>
          <a:bodyPr/>
          <a:lstStyle/>
          <a:p>
            <a:r>
              <a:rPr lang="en-US" dirty="0"/>
              <a:t>An anomaly is an irregularity, or something which deviates from the expected or normal state.</a:t>
            </a:r>
          </a:p>
          <a:p>
            <a:r>
              <a:rPr lang="en-US" dirty="0"/>
              <a:t>Insertion Anomaly: </a:t>
            </a:r>
          </a:p>
          <a:p>
            <a:pPr lvl="1"/>
            <a:r>
              <a:rPr lang="en-US" dirty="0"/>
              <a:t>If a tuple is inserted in referencing relation and referencing attribute value is not present in referenced attribute, it will not allow inserting in referencing relation.</a:t>
            </a:r>
          </a:p>
          <a:p>
            <a:r>
              <a:rPr lang="en-US" dirty="0"/>
              <a:t>Deletion/Updation Anomaly: </a:t>
            </a:r>
          </a:p>
          <a:p>
            <a:pPr lvl="1"/>
            <a:r>
              <a:rPr lang="en-US" dirty="0"/>
              <a:t>If a tuple is deleted or updated from referenced relation and referenced attribute value is used by referencing attribute in referencing relation, it will not allow deleting the tuple from referenced relation.</a:t>
            </a:r>
            <a:endParaRPr lang="en-GB" dirty="0"/>
          </a:p>
        </p:txBody>
      </p:sp>
      <p:sp>
        <p:nvSpPr>
          <p:cNvPr id="4" name="Slide Number Placeholder 3">
            <a:extLst>
              <a:ext uri="{FF2B5EF4-FFF2-40B4-BE49-F238E27FC236}">
                <a16:creationId xmlns:a16="http://schemas.microsoft.com/office/drawing/2014/main" xmlns="" id="{CD7DF5DC-AEB0-43E2-B620-9288CB1ADDD5}"/>
              </a:ext>
            </a:extLst>
          </p:cNvPr>
          <p:cNvSpPr>
            <a:spLocks noGrp="1"/>
          </p:cNvSpPr>
          <p:nvPr>
            <p:ph type="sldNum" sz="quarter" idx="4294967295"/>
          </p:nvPr>
        </p:nvSpPr>
        <p:spPr>
          <a:xfrm>
            <a:off x="6457950" y="6356351"/>
            <a:ext cx="2057400" cy="365125"/>
          </a:xfrm>
          <a:prstGeom prst="rect">
            <a:avLst/>
          </a:prstGeom>
        </p:spPr>
        <p:txBody>
          <a:bodyPr/>
          <a:lstStyle/>
          <a:p>
            <a:fld id="{15C8BAA3-5B96-48BC-A9E0-9EC337741AE5}" type="slidenum">
              <a:rPr lang="en-GB" smtClean="0"/>
              <a:t>14</a:t>
            </a:fld>
            <a:endParaRPr lang="en-GB"/>
          </a:p>
        </p:txBody>
      </p:sp>
    </p:spTree>
    <p:extLst>
      <p:ext uri="{BB962C8B-B14F-4D97-AF65-F5344CB8AC3E}">
        <p14:creationId xmlns:p14="http://schemas.microsoft.com/office/powerpoint/2010/main" val="29828574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116632"/>
            <a:ext cx="7772400" cy="868958"/>
          </a:xfrm>
        </p:spPr>
        <p:txBody>
          <a:bodyPr>
            <a:normAutofit/>
          </a:bodyPr>
          <a:lstStyle/>
          <a:p>
            <a:r>
              <a:rPr lang="en-US" b="1" dirty="0" err="1"/>
              <a:t>Codd</a:t>
            </a:r>
            <a:r>
              <a:rPr lang="en-US" b="1" dirty="0"/>
              <a:t> Rules in </a:t>
            </a:r>
            <a:r>
              <a:rPr lang="en-US" b="1" dirty="0" smtClean="0"/>
              <a:t>DBMS</a:t>
            </a:r>
            <a:endParaRPr lang="en-US" dirty="0"/>
          </a:p>
        </p:txBody>
      </p:sp>
      <p:sp>
        <p:nvSpPr>
          <p:cNvPr id="3" name="Content Placeholder 2"/>
          <p:cNvSpPr>
            <a:spLocks noGrp="1"/>
          </p:cNvSpPr>
          <p:nvPr>
            <p:ph sz="quarter" idx="1"/>
          </p:nvPr>
        </p:nvSpPr>
        <p:spPr>
          <a:xfrm>
            <a:off x="467544" y="908720"/>
            <a:ext cx="8424936" cy="5544616"/>
          </a:xfrm>
        </p:spPr>
        <p:txBody>
          <a:bodyPr>
            <a:noAutofit/>
          </a:bodyPr>
          <a:lstStyle/>
          <a:p>
            <a:pPr algn="just"/>
            <a:r>
              <a:rPr lang="en-US" sz="2000" dirty="0" smtClean="0">
                <a:latin typeface="Times New Roman" pitchFamily="18" charset="0"/>
                <a:cs typeface="Times New Roman" pitchFamily="18" charset="0"/>
              </a:rPr>
              <a:t>Edgar </a:t>
            </a:r>
            <a:r>
              <a:rPr lang="en-US" sz="2000" dirty="0">
                <a:latin typeface="Times New Roman" pitchFamily="18" charset="0"/>
                <a:cs typeface="Times New Roman" pitchFamily="18" charset="0"/>
              </a:rPr>
              <a:t>F. </a:t>
            </a:r>
            <a:r>
              <a:rPr lang="en-US" sz="2000" dirty="0" err="1">
                <a:latin typeface="Times New Roman" pitchFamily="18" charset="0"/>
                <a:cs typeface="Times New Roman" pitchFamily="18" charset="0"/>
              </a:rPr>
              <a:t>Codd</a:t>
            </a:r>
            <a:r>
              <a:rPr lang="en-US" sz="2000" dirty="0">
                <a:latin typeface="Times New Roman" pitchFamily="18" charset="0"/>
                <a:cs typeface="Times New Roman" pitchFamily="18" charset="0"/>
              </a:rPr>
              <a:t>, the creator of the relational model proposed </a:t>
            </a:r>
            <a:r>
              <a:rPr lang="en-US" sz="2000" b="1" dirty="0">
                <a:latin typeface="Times New Roman" pitchFamily="18" charset="0"/>
                <a:cs typeface="Times New Roman" pitchFamily="18" charset="0"/>
              </a:rPr>
              <a:t>13 rules known as </a:t>
            </a:r>
            <a:r>
              <a:rPr lang="en-US" sz="2000" b="1" dirty="0" err="1">
                <a:latin typeface="Times New Roman" pitchFamily="18" charset="0"/>
                <a:cs typeface="Times New Roman" pitchFamily="18" charset="0"/>
              </a:rPr>
              <a:t>Codd</a:t>
            </a:r>
            <a:r>
              <a:rPr lang="en-US" sz="2000" b="1" dirty="0">
                <a:latin typeface="Times New Roman" pitchFamily="18" charset="0"/>
                <a:cs typeface="Times New Roman" pitchFamily="18" charset="0"/>
              </a:rPr>
              <a:t> Rules</a:t>
            </a:r>
            <a:r>
              <a:rPr lang="en-US" sz="2000" dirty="0">
                <a:latin typeface="Times New Roman" pitchFamily="18" charset="0"/>
                <a:cs typeface="Times New Roman" pitchFamily="18" charset="0"/>
              </a:rPr>
              <a:t> that state:</a:t>
            </a:r>
          </a:p>
          <a:p>
            <a:pPr algn="just"/>
            <a:r>
              <a:rPr lang="en-US" sz="2000" dirty="0">
                <a:latin typeface="Times New Roman" pitchFamily="18" charset="0"/>
                <a:cs typeface="Times New Roman" pitchFamily="18" charset="0"/>
              </a:rPr>
              <a:t>For a database to be considered as a perfect relational database, it must follow the following rules:</a:t>
            </a:r>
          </a:p>
          <a:p>
            <a:pPr algn="just"/>
            <a:r>
              <a:rPr lang="en-US" sz="2000" b="1" dirty="0">
                <a:latin typeface="Times New Roman" pitchFamily="18" charset="0"/>
                <a:cs typeface="Times New Roman" pitchFamily="18" charset="0"/>
              </a:rPr>
              <a:t>Foundation Rule -</a:t>
            </a:r>
            <a:r>
              <a:rPr lang="en-US" sz="2000" dirty="0">
                <a:latin typeface="Times New Roman" pitchFamily="18" charset="0"/>
                <a:cs typeface="Times New Roman" pitchFamily="18" charset="0"/>
              </a:rPr>
              <a:t> The database must be able to manage data in relational form.</a:t>
            </a:r>
          </a:p>
          <a:p>
            <a:pPr algn="just"/>
            <a:r>
              <a:rPr lang="en-US" sz="2000" b="1" dirty="0">
                <a:latin typeface="Times New Roman" pitchFamily="18" charset="0"/>
                <a:cs typeface="Times New Roman" pitchFamily="18" charset="0"/>
              </a:rPr>
              <a:t>Information Rule -</a:t>
            </a:r>
            <a:r>
              <a:rPr lang="en-US" sz="2000" dirty="0">
                <a:latin typeface="Times New Roman" pitchFamily="18" charset="0"/>
                <a:cs typeface="Times New Roman" pitchFamily="18" charset="0"/>
              </a:rPr>
              <a:t> All data stored in the database must exist as a value of some table cell.</a:t>
            </a:r>
          </a:p>
          <a:p>
            <a:pPr algn="just"/>
            <a:r>
              <a:rPr lang="en-US" sz="2000" b="1" dirty="0">
                <a:latin typeface="Times New Roman" pitchFamily="18" charset="0"/>
                <a:cs typeface="Times New Roman" pitchFamily="18" charset="0"/>
              </a:rPr>
              <a:t>Guaranteed Access Rule -</a:t>
            </a:r>
            <a:r>
              <a:rPr lang="en-US" sz="2000" dirty="0">
                <a:latin typeface="Times New Roman" pitchFamily="18" charset="0"/>
                <a:cs typeface="Times New Roman" pitchFamily="18" charset="0"/>
              </a:rPr>
              <a:t> Every unique data element should be accessible by only a combination of the table name, primary key value, and the column name.</a:t>
            </a:r>
          </a:p>
          <a:p>
            <a:pPr algn="just"/>
            <a:r>
              <a:rPr lang="en-US" sz="2000" b="1" dirty="0">
                <a:latin typeface="Times New Roman" pitchFamily="18" charset="0"/>
                <a:cs typeface="Times New Roman" pitchFamily="18" charset="0"/>
              </a:rPr>
              <a:t>Systematic Treatment of NULL values -</a:t>
            </a:r>
            <a:r>
              <a:rPr lang="en-US" sz="2000" dirty="0">
                <a:latin typeface="Times New Roman" pitchFamily="18" charset="0"/>
                <a:cs typeface="Times New Roman" pitchFamily="18" charset="0"/>
              </a:rPr>
              <a:t> Database must support NULL values.</a:t>
            </a:r>
          </a:p>
          <a:p>
            <a:pPr algn="just"/>
            <a:r>
              <a:rPr lang="en-US" sz="2000" b="1" dirty="0">
                <a:latin typeface="Times New Roman" pitchFamily="18" charset="0"/>
                <a:cs typeface="Times New Roman" pitchFamily="18" charset="0"/>
              </a:rPr>
              <a:t>Active Online Catalog -</a:t>
            </a:r>
            <a:r>
              <a:rPr lang="en-US" sz="2000" dirty="0">
                <a:latin typeface="Times New Roman" pitchFamily="18" charset="0"/>
                <a:cs typeface="Times New Roman" pitchFamily="18" charset="0"/>
              </a:rPr>
              <a:t> The organization of the database must exist in an online catalog that can be queried by authorized users.</a:t>
            </a:r>
          </a:p>
          <a:p>
            <a:pPr algn="just"/>
            <a:r>
              <a:rPr lang="en-US" sz="2000" b="1" dirty="0" smtClean="0">
                <a:latin typeface="Times New Roman" pitchFamily="18" charset="0"/>
                <a:cs typeface="Times New Roman" pitchFamily="18" charset="0"/>
              </a:rPr>
              <a:t>View </a:t>
            </a:r>
            <a:r>
              <a:rPr lang="en-US" sz="2000" b="1" dirty="0">
                <a:latin typeface="Times New Roman" pitchFamily="18" charset="0"/>
                <a:cs typeface="Times New Roman" pitchFamily="18" charset="0"/>
              </a:rPr>
              <a:t>Updating Rule -</a:t>
            </a:r>
            <a:r>
              <a:rPr lang="en-US" sz="2000" dirty="0">
                <a:latin typeface="Times New Roman" pitchFamily="18" charset="0"/>
                <a:cs typeface="Times New Roman" pitchFamily="18" charset="0"/>
              </a:rPr>
              <a:t> All views should be theoretically and practically updatable by the system</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81799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79512" y="332656"/>
            <a:ext cx="8784976" cy="6048672"/>
          </a:xfrm>
        </p:spPr>
        <p:txBody>
          <a:bodyPr>
            <a:noAutofit/>
          </a:bodyPr>
          <a:lstStyle/>
          <a:p>
            <a:pPr algn="just"/>
            <a:r>
              <a:rPr lang="en-US" sz="2100" b="1" dirty="0">
                <a:latin typeface="Times New Roman" pitchFamily="18" charset="0"/>
                <a:cs typeface="Times New Roman" pitchFamily="18" charset="0"/>
              </a:rPr>
              <a:t>Comprehensive Data Sub-Language Rule - </a:t>
            </a:r>
            <a:r>
              <a:rPr lang="en-US" sz="2100" dirty="0">
                <a:latin typeface="Times New Roman" pitchFamily="18" charset="0"/>
                <a:cs typeface="Times New Roman" pitchFamily="18" charset="0"/>
              </a:rPr>
              <a:t>Database must support at least one language that supports: data definition, view definition, data manipulation, integrity constraints, authorization, and transaction boundaries.</a:t>
            </a:r>
          </a:p>
          <a:p>
            <a:pPr algn="just"/>
            <a:r>
              <a:rPr lang="en-US" sz="2100" b="1" dirty="0" smtClean="0">
                <a:latin typeface="Times New Roman" pitchFamily="18" charset="0"/>
                <a:cs typeface="Times New Roman" pitchFamily="18" charset="0"/>
              </a:rPr>
              <a:t>Relational </a:t>
            </a:r>
            <a:r>
              <a:rPr lang="en-US" sz="2100" b="1" dirty="0">
                <a:latin typeface="Times New Roman" pitchFamily="18" charset="0"/>
                <a:cs typeface="Times New Roman" pitchFamily="18" charset="0"/>
              </a:rPr>
              <a:t>Level Operation Rule -</a:t>
            </a:r>
            <a:r>
              <a:rPr lang="en-US" sz="2100" dirty="0">
                <a:latin typeface="Times New Roman" pitchFamily="18" charset="0"/>
                <a:cs typeface="Times New Roman" pitchFamily="18" charset="0"/>
              </a:rPr>
              <a:t> The database must support high-level insertion, </a:t>
            </a:r>
            <a:r>
              <a:rPr lang="en-US" sz="2100" dirty="0" err="1">
                <a:latin typeface="Times New Roman" pitchFamily="18" charset="0"/>
                <a:cs typeface="Times New Roman" pitchFamily="18" charset="0"/>
              </a:rPr>
              <a:t>updation</a:t>
            </a:r>
            <a:r>
              <a:rPr lang="en-US" sz="2100" dirty="0">
                <a:latin typeface="Times New Roman" pitchFamily="18" charset="0"/>
                <a:cs typeface="Times New Roman" pitchFamily="18" charset="0"/>
              </a:rPr>
              <a:t>, and deletion operations.</a:t>
            </a:r>
          </a:p>
          <a:p>
            <a:pPr algn="just"/>
            <a:r>
              <a:rPr lang="en-US" sz="2100" b="1" dirty="0">
                <a:latin typeface="Times New Roman" pitchFamily="18" charset="0"/>
                <a:cs typeface="Times New Roman" pitchFamily="18" charset="0"/>
              </a:rPr>
              <a:t>Physical Data Independence Rule -</a:t>
            </a:r>
            <a:r>
              <a:rPr lang="en-US" sz="2100" dirty="0">
                <a:latin typeface="Times New Roman" pitchFamily="18" charset="0"/>
                <a:cs typeface="Times New Roman" pitchFamily="18" charset="0"/>
              </a:rPr>
              <a:t> Data stored in the database must be independent of the applications that can access it i.e., the data stored in the database must not depend on any other data or an application.</a:t>
            </a:r>
          </a:p>
          <a:p>
            <a:pPr algn="just"/>
            <a:r>
              <a:rPr lang="en-US" sz="2100" b="1" dirty="0">
                <a:latin typeface="Times New Roman" pitchFamily="18" charset="0"/>
                <a:cs typeface="Times New Roman" pitchFamily="18" charset="0"/>
              </a:rPr>
              <a:t>Logical Data Independence Rule -</a:t>
            </a:r>
            <a:r>
              <a:rPr lang="en-US" sz="2100" dirty="0">
                <a:latin typeface="Times New Roman" pitchFamily="18" charset="0"/>
                <a:cs typeface="Times New Roman" pitchFamily="18" charset="0"/>
              </a:rPr>
              <a:t> Any change in the logical representation of the data (structure of the tables) must not affect the user's view.</a:t>
            </a:r>
          </a:p>
          <a:p>
            <a:pPr algn="just"/>
            <a:r>
              <a:rPr lang="en-US" sz="2100" b="1" dirty="0">
                <a:latin typeface="Times New Roman" pitchFamily="18" charset="0"/>
                <a:cs typeface="Times New Roman" pitchFamily="18" charset="0"/>
              </a:rPr>
              <a:t>Integrity independence -</a:t>
            </a:r>
            <a:r>
              <a:rPr lang="en-US" sz="2100" dirty="0">
                <a:latin typeface="Times New Roman" pitchFamily="18" charset="0"/>
                <a:cs typeface="Times New Roman" pitchFamily="18" charset="0"/>
              </a:rPr>
              <a:t> Changing the integrity constraints at the database level should not reflect any change at the application level.</a:t>
            </a:r>
          </a:p>
          <a:p>
            <a:pPr algn="just"/>
            <a:r>
              <a:rPr lang="en-US" sz="2100" b="1" dirty="0">
                <a:latin typeface="Times New Roman" pitchFamily="18" charset="0"/>
                <a:cs typeface="Times New Roman" pitchFamily="18" charset="0"/>
              </a:rPr>
              <a:t>Distribution independence -</a:t>
            </a:r>
            <a:r>
              <a:rPr lang="en-US" sz="2100" dirty="0">
                <a:latin typeface="Times New Roman" pitchFamily="18" charset="0"/>
                <a:cs typeface="Times New Roman" pitchFamily="18" charset="0"/>
              </a:rPr>
              <a:t> The database must work properly even if the data is stored in multiple locations or is being used by multiple end-users.</a:t>
            </a:r>
          </a:p>
          <a:p>
            <a:pPr algn="just"/>
            <a:r>
              <a:rPr lang="en-US" sz="2100" b="1" dirty="0">
                <a:latin typeface="Times New Roman" pitchFamily="18" charset="0"/>
                <a:cs typeface="Times New Roman" pitchFamily="18" charset="0"/>
              </a:rPr>
              <a:t>Non-subversion Rule -</a:t>
            </a:r>
            <a:r>
              <a:rPr lang="en-US" sz="2100" dirty="0">
                <a:latin typeface="Times New Roman" pitchFamily="18" charset="0"/>
                <a:cs typeface="Times New Roman" pitchFamily="18" charset="0"/>
              </a:rPr>
              <a:t> Accessing the data by low-level relational language should not be able to bypass the integrity rules and constraints expressed in the high-level relational language</a:t>
            </a:r>
            <a:r>
              <a:rPr lang="en-US" sz="2100" dirty="0" smtClean="0">
                <a:latin typeface="Times New Roman" pitchFamily="18" charset="0"/>
                <a:cs typeface="Times New Roman" pitchFamily="18" charset="0"/>
              </a:rPr>
              <a:t>.</a:t>
            </a:r>
            <a:endParaRPr lang="en-US" sz="2100" dirty="0">
              <a:latin typeface="Times New Roman" pitchFamily="18" charset="0"/>
              <a:cs typeface="Times New Roman" pitchFamily="18" charset="0"/>
            </a:endParaRPr>
          </a:p>
        </p:txBody>
      </p:sp>
    </p:spTree>
    <p:extLst>
      <p:ext uri="{BB962C8B-B14F-4D97-AF65-F5344CB8AC3E}">
        <p14:creationId xmlns:p14="http://schemas.microsoft.com/office/powerpoint/2010/main" val="4250333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Relational Model</a:t>
            </a:r>
            <a:endParaRPr lang="en-IN" dirty="0"/>
          </a:p>
        </p:txBody>
      </p:sp>
      <p:sp>
        <p:nvSpPr>
          <p:cNvPr id="3" name="Content Placeholder 2"/>
          <p:cNvSpPr>
            <a:spLocks noGrp="1"/>
          </p:cNvSpPr>
          <p:nvPr>
            <p:ph sz="quarter" idx="1"/>
          </p:nvPr>
        </p:nvSpPr>
        <p:spPr>
          <a:xfrm>
            <a:off x="914400" y="1447800"/>
            <a:ext cx="7772400" cy="4789512"/>
          </a:xfrm>
        </p:spPr>
        <p:txBody>
          <a:bodyPr>
            <a:normAutofit fontScale="85000" lnSpcReduction="20000"/>
          </a:bodyPr>
          <a:lstStyle/>
          <a:p>
            <a:pPr>
              <a:spcAft>
                <a:spcPts val="600"/>
              </a:spcAft>
            </a:pPr>
            <a:r>
              <a:rPr lang="en-US" b="1" dirty="0" smtClean="0">
                <a:latin typeface="Times New Roman" pitchFamily="18" charset="0"/>
                <a:cs typeface="Times New Roman" pitchFamily="18" charset="0"/>
              </a:rPr>
              <a:t>Simplicity</a:t>
            </a:r>
            <a:r>
              <a:rPr lang="en-US" dirty="0">
                <a:latin typeface="Times New Roman" pitchFamily="18" charset="0"/>
                <a:cs typeface="Times New Roman" pitchFamily="18" charset="0"/>
              </a:rPr>
              <a:t>: A relational data model is simpler than the hierarchical and network model.</a:t>
            </a:r>
          </a:p>
          <a:p>
            <a:pPr>
              <a:spcAft>
                <a:spcPts val="600"/>
              </a:spcAft>
            </a:pPr>
            <a:r>
              <a:rPr lang="en-US" b="1" dirty="0" smtClean="0">
                <a:latin typeface="Times New Roman" pitchFamily="18" charset="0"/>
                <a:cs typeface="Times New Roman" pitchFamily="18" charset="0"/>
              </a:rPr>
              <a:t>Structural </a:t>
            </a:r>
            <a:r>
              <a:rPr lang="en-US" b="1" dirty="0">
                <a:latin typeface="Times New Roman" pitchFamily="18" charset="0"/>
                <a:cs typeface="Times New Roman" pitchFamily="18" charset="0"/>
              </a:rPr>
              <a:t>Independence</a:t>
            </a:r>
            <a:r>
              <a:rPr lang="en-US" dirty="0">
                <a:latin typeface="Times New Roman" pitchFamily="18" charset="0"/>
                <a:cs typeface="Times New Roman" pitchFamily="18" charset="0"/>
              </a:rPr>
              <a:t>: The relational database is only concerned with data and not with a structure. This can improve the performance of the model.</a:t>
            </a:r>
          </a:p>
          <a:p>
            <a:pPr>
              <a:spcAft>
                <a:spcPts val="600"/>
              </a:spcAft>
            </a:pPr>
            <a:r>
              <a:rPr lang="en-US" b="1" dirty="0" smtClean="0">
                <a:latin typeface="Times New Roman" pitchFamily="18" charset="0"/>
                <a:cs typeface="Times New Roman" pitchFamily="18" charset="0"/>
              </a:rPr>
              <a:t>Easy </a:t>
            </a:r>
            <a:r>
              <a:rPr lang="en-US" b="1" dirty="0">
                <a:latin typeface="Times New Roman" pitchFamily="18" charset="0"/>
                <a:cs typeface="Times New Roman" pitchFamily="18" charset="0"/>
              </a:rPr>
              <a:t>to use</a:t>
            </a:r>
            <a:r>
              <a:rPr lang="en-US" dirty="0">
                <a:latin typeface="Times New Roman" pitchFamily="18" charset="0"/>
                <a:cs typeface="Times New Roman" pitchFamily="18" charset="0"/>
              </a:rPr>
              <a:t>: The relational model is easy as tables consisting of rows and columns is quite natural and simple to </a:t>
            </a:r>
            <a:r>
              <a:rPr lang="en-US" dirty="0" smtClean="0">
                <a:latin typeface="Times New Roman" pitchFamily="18" charset="0"/>
                <a:cs typeface="Times New Roman" pitchFamily="18" charset="0"/>
              </a:rPr>
              <a:t>understand.</a:t>
            </a:r>
            <a:endParaRPr lang="en-US" dirty="0">
              <a:latin typeface="Times New Roman" pitchFamily="18" charset="0"/>
              <a:cs typeface="Times New Roman" pitchFamily="18" charset="0"/>
            </a:endParaRPr>
          </a:p>
          <a:p>
            <a:pPr>
              <a:spcAft>
                <a:spcPts val="600"/>
              </a:spcAft>
            </a:pPr>
            <a:r>
              <a:rPr lang="en-US" b="1" dirty="0" smtClean="0">
                <a:latin typeface="Times New Roman" pitchFamily="18" charset="0"/>
                <a:cs typeface="Times New Roman" pitchFamily="18" charset="0"/>
              </a:rPr>
              <a:t>Query </a:t>
            </a:r>
            <a:r>
              <a:rPr lang="en-US" b="1" dirty="0">
                <a:latin typeface="Times New Roman" pitchFamily="18" charset="0"/>
                <a:cs typeface="Times New Roman" pitchFamily="18" charset="0"/>
              </a:rPr>
              <a:t>capability:</a:t>
            </a:r>
            <a:r>
              <a:rPr lang="en-US" dirty="0">
                <a:latin typeface="Times New Roman" pitchFamily="18" charset="0"/>
                <a:cs typeface="Times New Roman" pitchFamily="18" charset="0"/>
              </a:rPr>
              <a:t> It makes possible for a high-level query language like SQL to avoid complex database navigation.</a:t>
            </a:r>
          </a:p>
          <a:p>
            <a:pPr>
              <a:spcAft>
                <a:spcPts val="600"/>
              </a:spcAft>
            </a:pPr>
            <a:r>
              <a:rPr lang="en-US" b="1" dirty="0" smtClean="0">
                <a:latin typeface="Times New Roman" pitchFamily="18" charset="0"/>
                <a:cs typeface="Times New Roman" pitchFamily="18" charset="0"/>
              </a:rPr>
              <a:t>Data </a:t>
            </a:r>
            <a:r>
              <a:rPr lang="en-US" b="1" dirty="0">
                <a:latin typeface="Times New Roman" pitchFamily="18" charset="0"/>
                <a:cs typeface="Times New Roman" pitchFamily="18" charset="0"/>
              </a:rPr>
              <a:t>independence:</a:t>
            </a:r>
            <a:r>
              <a:rPr lang="en-US" dirty="0">
                <a:latin typeface="Times New Roman" pitchFamily="18" charset="0"/>
                <a:cs typeface="Times New Roman" pitchFamily="18" charset="0"/>
              </a:rPr>
              <a:t> The structure of a database can be changed without having to change any application.</a:t>
            </a:r>
          </a:p>
          <a:p>
            <a:pPr>
              <a:spcAft>
                <a:spcPts val="600"/>
              </a:spcAft>
            </a:pPr>
            <a:r>
              <a:rPr lang="en-US" b="1" dirty="0" smtClean="0">
                <a:latin typeface="Times New Roman" pitchFamily="18" charset="0"/>
                <a:cs typeface="Times New Roman" pitchFamily="18" charset="0"/>
              </a:rPr>
              <a:t>Scalable</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Regarding a number of records, or rows, and the number of fields, a </a:t>
            </a:r>
            <a:r>
              <a:rPr lang="en-US" dirty="0" smtClean="0">
                <a:latin typeface="Times New Roman" pitchFamily="18" charset="0"/>
                <a:cs typeface="Times New Roman" pitchFamily="18" charset="0"/>
              </a:rPr>
              <a:t>database </a:t>
            </a:r>
            <a:r>
              <a:rPr lang="en-US" dirty="0">
                <a:latin typeface="Times New Roman" pitchFamily="18" charset="0"/>
                <a:cs typeface="Times New Roman" pitchFamily="18" charset="0"/>
              </a:rPr>
              <a:t>should be enlarged to enhance its usability.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1945065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Disadvantages of </a:t>
            </a:r>
            <a:r>
              <a:rPr lang="en-US" dirty="0" smtClean="0"/>
              <a:t>Relational </a:t>
            </a:r>
            <a:r>
              <a:rPr lang="en-US" dirty="0"/>
              <a:t>model</a:t>
            </a:r>
            <a:endParaRPr lang="en-IN" dirty="0"/>
          </a:p>
        </p:txBody>
      </p:sp>
      <p:sp>
        <p:nvSpPr>
          <p:cNvPr id="3" name="Content Placeholder 2"/>
          <p:cNvSpPr>
            <a:spLocks noGrp="1"/>
          </p:cNvSpPr>
          <p:nvPr>
            <p:ph sz="quarter" idx="1"/>
          </p:nvPr>
        </p:nvSpPr>
        <p:spPr/>
        <p:txBody>
          <a:bodyPr/>
          <a:lstStyle/>
          <a:p>
            <a:r>
              <a:rPr lang="en-US" dirty="0" smtClean="0">
                <a:latin typeface="Times New Roman" pitchFamily="18" charset="0"/>
                <a:cs typeface="Times New Roman" pitchFamily="18" charset="0"/>
              </a:rPr>
              <a:t>Few </a:t>
            </a:r>
            <a:r>
              <a:rPr lang="en-US" dirty="0">
                <a:latin typeface="Times New Roman" pitchFamily="18" charset="0"/>
                <a:cs typeface="Times New Roman" pitchFamily="18" charset="0"/>
              </a:rPr>
              <a:t>relational databases have limits on field lengths which can't be exceeded.</a:t>
            </a:r>
          </a:p>
          <a:p>
            <a:r>
              <a:rPr lang="en-US" dirty="0" smtClean="0">
                <a:latin typeface="Times New Roman" pitchFamily="18" charset="0"/>
                <a:cs typeface="Times New Roman" pitchFamily="18" charset="0"/>
              </a:rPr>
              <a:t>Relational </a:t>
            </a:r>
            <a:r>
              <a:rPr lang="en-US" dirty="0">
                <a:latin typeface="Times New Roman" pitchFamily="18" charset="0"/>
                <a:cs typeface="Times New Roman" pitchFamily="18" charset="0"/>
              </a:rPr>
              <a:t>databases can sometimes become complex as the amount of data grows, and the relations between pieces of data become more complicated.</a:t>
            </a:r>
          </a:p>
          <a:p>
            <a:r>
              <a:rPr lang="en-US" dirty="0" smtClean="0">
                <a:latin typeface="Times New Roman" pitchFamily="18" charset="0"/>
                <a:cs typeface="Times New Roman" pitchFamily="18" charset="0"/>
              </a:rPr>
              <a:t>Complex </a:t>
            </a:r>
            <a:r>
              <a:rPr lang="en-US" dirty="0">
                <a:latin typeface="Times New Roman" pitchFamily="18" charset="0"/>
                <a:cs typeface="Times New Roman" pitchFamily="18" charset="0"/>
              </a:rPr>
              <a:t>relational database systems may lead to isolated databases where the information cannot be shared from one system to another.</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83720948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4315</TotalTime>
  <Words>1227</Words>
  <Application>Microsoft Office PowerPoint</Application>
  <PresentationFormat>On-screen Show (4:3)</PresentationFormat>
  <Paragraphs>101</Paragraphs>
  <Slides>18</Slides>
  <Notes>4</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Equity</vt:lpstr>
      <vt:lpstr>Relational Data Model</vt:lpstr>
      <vt:lpstr>Relational Data Model</vt:lpstr>
      <vt:lpstr>PowerPoint Presentation</vt:lpstr>
      <vt:lpstr>Relational Model Terminology</vt:lpstr>
      <vt:lpstr>PowerPoint Presentation</vt:lpstr>
      <vt:lpstr>Relation Schema and Instance</vt:lpstr>
      <vt:lpstr>Characteristics of Relations</vt:lpstr>
      <vt:lpstr>Characteristics of Relations</vt:lpstr>
      <vt:lpstr>Characteristics of Relations</vt:lpstr>
      <vt:lpstr>Relational Constraints </vt:lpstr>
      <vt:lpstr>Domain Constraints </vt:lpstr>
      <vt:lpstr>Key Constraints</vt:lpstr>
      <vt:lpstr>PowerPoint Presentation</vt:lpstr>
      <vt:lpstr>Anomalies </vt:lpstr>
      <vt:lpstr>Codd Rules in DBMS</vt:lpstr>
      <vt:lpstr>PowerPoint Presentation</vt:lpstr>
      <vt:lpstr>Advantages of Relational Model</vt:lpstr>
      <vt:lpstr>Disadvantages of Relational model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dc:title>
  <dc:creator>Admin</dc:creator>
  <cp:lastModifiedBy>DELL</cp:lastModifiedBy>
  <cp:revision>124</cp:revision>
  <dcterms:created xsi:type="dcterms:W3CDTF">2019-05-30T15:49:42Z</dcterms:created>
  <dcterms:modified xsi:type="dcterms:W3CDTF">2024-08-08T09:20:16Z</dcterms:modified>
</cp:coreProperties>
</file>