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25"/>
  </p:notesMasterIdLst>
  <p:sldIdLst>
    <p:sldId id="279" r:id="rId2"/>
    <p:sldId id="280" r:id="rId3"/>
    <p:sldId id="267" r:id="rId4"/>
    <p:sldId id="260" r:id="rId5"/>
    <p:sldId id="274" r:id="rId6"/>
    <p:sldId id="261" r:id="rId7"/>
    <p:sldId id="262" r:id="rId8"/>
    <p:sldId id="275" r:id="rId9"/>
    <p:sldId id="277" r:id="rId10"/>
    <p:sldId id="281" r:id="rId11"/>
    <p:sldId id="271" r:id="rId12"/>
    <p:sldId id="278" r:id="rId13"/>
    <p:sldId id="282" r:id="rId14"/>
    <p:sldId id="283" r:id="rId15"/>
    <p:sldId id="285" r:id="rId16"/>
    <p:sldId id="284" r:id="rId17"/>
    <p:sldId id="286" r:id="rId18"/>
    <p:sldId id="287" r:id="rId19"/>
    <p:sldId id="288" r:id="rId20"/>
    <p:sldId id="289" r:id="rId21"/>
    <p:sldId id="299" r:id="rId22"/>
    <p:sldId id="300" r:id="rId23"/>
    <p:sldId id="290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8E98FCB6-361B-4969-8AE0-B48E6BF0C2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77433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18-Sep-24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CC644DC-B1E0-4B1E-90DD-AC85F39665C0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18-Sep-24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39F5FB-2866-466B-8844-F4E53898B179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18-Sep-24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9CD52696-39FD-464E-9E9F-30142E64104B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18-Sep-24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A7978C-E29E-4A3E-B870-D01099E7E714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18-Sep-24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5114F-8DB1-4560-A668-34F9A8460493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18-Sep-24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C4D198-FFA7-40B0-929B-1813948BEAFE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18-Sep-24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9A4BAC-DB96-4189-AFE6-9E8B61ADD673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18-Sep-24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F452BB-4BE4-4575-914E-07FD51B45D79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18-Sep-24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6DA3CFC8-B8CD-4EAE-9E0B-D3BF1E3E6E85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18-Sep-24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E8D182-03EE-4028-8E83-9BF3CF5C9F13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18-Sep-24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3A5F27-F8EE-4630-A17F-BA099AF7316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fld id="{564CF2E0-CCC4-4E1E-9902-C3C36AB3FDA4}" type="datetimeFigureOut">
              <a:rPr lang="en-US" smtClean="0"/>
              <a:t>18-Sep-24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F9F4F362-3B06-429E-B28B-CC20F63F64EF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en.wikipedia.org/wiki/Sequence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1ADFD0-8A1B-4AE2-B3B1-E8A611BCE3AC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File Organization &amp; </a:t>
            </a:r>
            <a:r>
              <a:rPr lang="en-GB" b="1" dirty="0" smtClean="0"/>
              <a:t>Indexing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kern="0" dirty="0">
                <a:solidFill>
                  <a:srgbClr val="FF0000"/>
                </a:solidFill>
              </a:rPr>
              <a:t>DBMS stores data on hard </a:t>
            </a:r>
            <a:r>
              <a:rPr lang="en-GB" kern="0" dirty="0" smtClean="0">
                <a:solidFill>
                  <a:srgbClr val="FF0000"/>
                </a:solidFill>
              </a:rPr>
              <a:t>disks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3C1899-F631-4C8B-BD44-B13AF492C0F3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GB" sz="2300" kern="0" dirty="0">
                <a:latin typeface="Times New Roman" pitchFamily="18" charset="0"/>
                <a:cs typeface="Times New Roman" pitchFamily="18" charset="0"/>
              </a:rPr>
              <a:t>This means that data needs to be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GB" sz="2300" kern="0" dirty="0">
                <a:latin typeface="Times New Roman" pitchFamily="18" charset="0"/>
                <a:cs typeface="Times New Roman" pitchFamily="18" charset="0"/>
              </a:rPr>
              <a:t>read from the hard disk into memory (RAM)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GB" sz="2300" kern="0" dirty="0">
                <a:latin typeface="Times New Roman" pitchFamily="18" charset="0"/>
                <a:cs typeface="Times New Roman" pitchFamily="18" charset="0"/>
              </a:rPr>
              <a:t>Written from the memory onto the hard disk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GB" sz="2300" kern="0" dirty="0">
                <a:latin typeface="Times New Roman" pitchFamily="18" charset="0"/>
                <a:cs typeface="Times New Roman" pitchFamily="18" charset="0"/>
              </a:rPr>
              <a:t>Because I/O disk operations are slow </a:t>
            </a:r>
            <a:r>
              <a:rPr lang="en-GB" sz="2300" u="sng" kern="0" dirty="0">
                <a:latin typeface="Times New Roman" pitchFamily="18" charset="0"/>
                <a:cs typeface="Times New Roman" pitchFamily="18" charset="0"/>
              </a:rPr>
              <a:t>query performance</a:t>
            </a:r>
            <a:r>
              <a:rPr lang="en-GB" sz="2300" kern="0" dirty="0">
                <a:latin typeface="Times New Roman" pitchFamily="18" charset="0"/>
                <a:cs typeface="Times New Roman" pitchFamily="18" charset="0"/>
              </a:rPr>
              <a:t> depends upon how data is stored on hard disks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GB" sz="2300" kern="0" dirty="0">
                <a:latin typeface="Times New Roman" pitchFamily="18" charset="0"/>
                <a:cs typeface="Times New Roman" pitchFamily="18" charset="0"/>
              </a:rPr>
              <a:t>The lowest component of the DBMS performs storage management activities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GB" sz="2300" kern="0" dirty="0">
                <a:latin typeface="Times New Roman" pitchFamily="18" charset="0"/>
                <a:cs typeface="Times New Roman" pitchFamily="18" charset="0"/>
              </a:rPr>
              <a:t>Other DBMS components need not know how these low level activities are performed</a:t>
            </a:r>
          </a:p>
          <a:p>
            <a:endParaRPr lang="en-US" dirty="0"/>
          </a:p>
        </p:txBody>
      </p:sp>
      <p:sp>
        <p:nvSpPr>
          <p:cNvPr id="3" name="Slide Number Placeholder 4"/>
          <p:cNvSpPr txBox="1">
            <a:spLocks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fld id="{0B0CC303-CE4C-4C3C-85DD-4E1E97E60419}" type="slidenum">
              <a:rPr lang="en-GB" sz="1400">
                <a:cs typeface="+mn-cs"/>
              </a:rPr>
              <a:pPr algn="r">
                <a:defRPr/>
              </a:pPr>
              <a:t>2</a:t>
            </a:fld>
            <a:endParaRPr lang="en-GB" sz="1400"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-828600" y="476672"/>
            <a:ext cx="8229600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 lang="en-GB" sz="40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4000" smtClean="0">
                <a:solidFill>
                  <a:srgbClr val="FF0000"/>
                </a:solidFill>
              </a:rPr>
              <a:t>Basics of Data storage on hard disk</a:t>
            </a:r>
          </a:p>
        </p:txBody>
      </p:sp>
      <p:sp>
        <p:nvSpPr>
          <p:cNvPr id="614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84535B-FC28-4AD7-98DE-CD57CE8B1824}" type="slidenum">
              <a:rPr lang="en-GB" smtClean="0"/>
              <a:pPr>
                <a:defRPr/>
              </a:pPr>
              <a:t>3</a:t>
            </a:fld>
            <a:endParaRPr lang="en-GB" smtClean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9552" y="1447800"/>
            <a:ext cx="3528392" cy="4572000"/>
          </a:xfrm>
        </p:spPr>
        <p:txBody>
          <a:bodyPr>
            <a:normAutofit fontScale="92500"/>
          </a:bodyPr>
          <a:lstStyle/>
          <a:p>
            <a:pPr algn="just" eaLnBrk="1" hangingPunct="1"/>
            <a:r>
              <a:rPr lang="en-GB" dirty="0" smtClean="0"/>
              <a:t>A disk is organized into a number of blocks or pages</a:t>
            </a:r>
          </a:p>
          <a:p>
            <a:pPr algn="just" eaLnBrk="1" hangingPunct="1"/>
            <a:r>
              <a:rPr lang="en-GB" dirty="0" smtClean="0"/>
              <a:t>A page is the unit of exchange between the disk and the main memory</a:t>
            </a:r>
          </a:p>
          <a:p>
            <a:pPr algn="just" eaLnBrk="1" hangingPunct="1"/>
            <a:r>
              <a:rPr lang="en-GB" dirty="0" smtClean="0"/>
              <a:t>A collection of pages is known as a </a:t>
            </a:r>
            <a:r>
              <a:rPr lang="en-GB" b="1" u="sng" dirty="0" smtClean="0"/>
              <a:t>file</a:t>
            </a:r>
          </a:p>
          <a:p>
            <a:pPr algn="just" eaLnBrk="1" hangingPunct="1"/>
            <a:r>
              <a:rPr lang="en-GB" dirty="0" smtClean="0"/>
              <a:t>DBMS stores data in one or more files on the hard disk</a:t>
            </a:r>
          </a:p>
          <a:p>
            <a:pPr algn="just" eaLnBrk="1" hangingPunct="1"/>
            <a:endParaRPr lang="en-GB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556792"/>
            <a:ext cx="4680520" cy="448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>
                <a:solidFill>
                  <a:srgbClr val="FF0000"/>
                </a:solidFill>
              </a:rPr>
              <a:t>File Organization</a:t>
            </a:r>
          </a:p>
        </p:txBody>
      </p:sp>
      <p:sp>
        <p:nvSpPr>
          <p:cNvPr id="819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65863"/>
            <a:ext cx="2133600" cy="476250"/>
          </a:xfrm>
        </p:spPr>
        <p:txBody>
          <a:bodyPr/>
          <a:lstStyle/>
          <a:p>
            <a:pPr>
              <a:defRPr/>
            </a:pPr>
            <a:fld id="{D6668186-9AB0-4D00-B3B1-01042ED7B9A6}" type="slidenum">
              <a:rPr lang="en-GB" smtClean="0"/>
              <a:pPr>
                <a:defRPr/>
              </a:pPr>
              <a:t>4</a:t>
            </a:fld>
            <a:endParaRPr lang="en-GB" smtClean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The physical arrangement of data in a file into records and pages on the disk</a:t>
            </a:r>
          </a:p>
          <a:p>
            <a:pPr algn="just" eaLnBrk="1" hangingPunct="1">
              <a:lnSpc>
                <a:spcPct val="80000"/>
              </a:lnSpc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File organization determines the set of access methods for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Storing and retrieving records from a file</a:t>
            </a:r>
          </a:p>
          <a:p>
            <a:pPr algn="just" eaLnBrk="1" hangingPunct="1">
              <a:lnSpc>
                <a:spcPct val="80000"/>
              </a:lnSpc>
            </a:pPr>
            <a:endParaRPr lang="en-GB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We study three types of file organization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GB" sz="20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Unordered or Heap files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GB" sz="20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Ordered or sequential files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GB" sz="20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Hash files</a:t>
            </a:r>
          </a:p>
          <a:p>
            <a:pPr lvl="1" algn="just" eaLnBrk="1" hangingPunct="1">
              <a:lnSpc>
                <a:spcPct val="80000"/>
              </a:lnSpc>
            </a:pPr>
            <a:endParaRPr lang="en-GB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We examine each of them in terms of the operations we perform on the database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GB" sz="2000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Insert a new record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GB" sz="2000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Search for a record (or update a record)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GB" sz="2000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Delete a record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C3300"/>
                </a:solidFill>
              </a:rPr>
              <a:t>Organization of Records in </a:t>
            </a:r>
            <a:r>
              <a:rPr lang="en-US" b="1" dirty="0" smtClean="0">
                <a:solidFill>
                  <a:srgbClr val="CC3300"/>
                </a:solidFill>
              </a:rPr>
              <a:t>Files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4FB917-71AB-4E2D-8497-77B95BA80CE4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 indent="-342900">
              <a:lnSpc>
                <a:spcPct val="95000"/>
              </a:lnSpc>
              <a:buClr>
                <a:srgbClr val="CC3300"/>
              </a:buClr>
              <a:buFontTx/>
              <a:buChar char="•"/>
              <a:defRPr/>
            </a:pPr>
            <a:r>
              <a:rPr lang="en-US" sz="2300" b="1" dirty="0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</a:rPr>
              <a:t>Heap</a:t>
            </a:r>
            <a:r>
              <a:rPr lang="en-US" sz="23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a record can be placed anywhere in the file where there is space</a:t>
            </a:r>
          </a:p>
          <a:p>
            <a:pPr lvl="1" indent="-342900">
              <a:lnSpc>
                <a:spcPct val="95000"/>
              </a:lnSpc>
              <a:buClr>
                <a:srgbClr val="CC3300"/>
              </a:buClr>
              <a:buFontTx/>
              <a:buChar char="•"/>
              <a:defRPr/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lvl="1" indent="-342900">
              <a:lnSpc>
                <a:spcPct val="95000"/>
              </a:lnSpc>
              <a:buClr>
                <a:srgbClr val="CC3300"/>
              </a:buClr>
              <a:buFontTx/>
              <a:buChar char="•"/>
              <a:defRPr/>
            </a:pPr>
            <a:r>
              <a:rPr lang="en-US" sz="2300" b="1" dirty="0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</a:rPr>
              <a:t>Sequential </a:t>
            </a:r>
            <a:r>
              <a:rPr lang="en-US" sz="23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store records in sequential order, based on the value of the search key of each record.</a:t>
            </a:r>
          </a:p>
          <a:p>
            <a:pPr lvl="1" indent="-342900">
              <a:lnSpc>
                <a:spcPct val="95000"/>
              </a:lnSpc>
              <a:buClr>
                <a:srgbClr val="CC3300"/>
              </a:buClr>
              <a:buFontTx/>
              <a:buChar char="•"/>
              <a:defRPr/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lvl="1" indent="-342900">
              <a:lnSpc>
                <a:spcPct val="95000"/>
              </a:lnSpc>
              <a:buClr>
                <a:srgbClr val="CC3300"/>
              </a:buClr>
              <a:buFontTx/>
              <a:buChar char="•"/>
              <a:defRPr/>
            </a:pPr>
            <a:r>
              <a:rPr lang="en-US" sz="2300" b="1" dirty="0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</a:rPr>
              <a:t>Hashing</a:t>
            </a:r>
            <a:r>
              <a:rPr lang="en-US" sz="23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</a:t>
            </a:r>
          </a:p>
          <a:p>
            <a:pPr lvl="1" indent="-342900">
              <a:lnSpc>
                <a:spcPct val="95000"/>
              </a:lnSpc>
              <a:buClr>
                <a:srgbClr val="CC3300"/>
              </a:buClr>
              <a:defRPr/>
            </a:pPr>
            <a:r>
              <a:rPr lang="en-US" sz="23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3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function computed on some attribute of each record</a:t>
            </a:r>
            <a:r>
              <a:rPr lang="en-US" sz="23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indent="-342900">
              <a:lnSpc>
                <a:spcPct val="95000"/>
              </a:lnSpc>
              <a:buClr>
                <a:srgbClr val="CC3300"/>
              </a:buClr>
              <a:defRPr/>
            </a:pPr>
            <a:r>
              <a:rPr lang="en-US" sz="23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3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term hash indicates splitting of key into pieces.</a:t>
            </a:r>
          </a:p>
          <a:p>
            <a:pPr lvl="1" indent="-342900">
              <a:lnSpc>
                <a:spcPct val="95000"/>
              </a:lnSpc>
              <a:buClr>
                <a:srgbClr val="CC3300"/>
              </a:buClr>
              <a:defRPr/>
            </a:pPr>
            <a:r>
              <a:rPr lang="en-US" sz="23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Records </a:t>
            </a:r>
            <a:r>
              <a:rPr lang="en-US" sz="23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 each relation may be stored in a separate file.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>
                <a:solidFill>
                  <a:srgbClr val="FF0000"/>
                </a:solidFill>
              </a:rPr>
              <a:t>Unordered Or Heap File</a:t>
            </a:r>
          </a:p>
        </p:txBody>
      </p:sp>
      <p:sp>
        <p:nvSpPr>
          <p:cNvPr id="92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14824-9663-4BCF-8E33-70973681D471}" type="slidenum">
              <a:rPr lang="en-GB" smtClean="0"/>
              <a:pPr>
                <a:defRPr/>
              </a:pPr>
              <a:t>6</a:t>
            </a:fld>
            <a:endParaRPr lang="en-GB" smtClean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Records are stored in the same order in which they are created</a:t>
            </a:r>
          </a:p>
          <a:p>
            <a:pPr algn="just" eaLnBrk="1" hangingPunct="1">
              <a:lnSpc>
                <a:spcPct val="90000"/>
              </a:lnSpc>
            </a:pPr>
            <a:endParaRPr lang="en-GB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GB" sz="24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Insert operation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Fast – because the incoming record is written at the end of the last page of the file</a:t>
            </a:r>
          </a:p>
          <a:p>
            <a:pPr lvl="1" algn="just" eaLnBrk="1" hangingPunct="1">
              <a:lnSpc>
                <a:spcPct val="90000"/>
              </a:lnSpc>
            </a:pPr>
            <a:endParaRPr lang="en-GB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GB" sz="24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Search (or update) operation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Slow – because linear search is performed on pages</a:t>
            </a:r>
          </a:p>
          <a:p>
            <a:pPr lvl="1" algn="just" eaLnBrk="1" hangingPunct="1">
              <a:lnSpc>
                <a:spcPct val="90000"/>
              </a:lnSpc>
            </a:pPr>
            <a:endParaRPr lang="en-GB" sz="2000" dirty="0" smtClean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GB" sz="24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Delete Operation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Slow – because the record to be deleted is first searched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Deleting the record creates a hole in the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>
                <a:solidFill>
                  <a:srgbClr val="FF0000"/>
                </a:solidFill>
              </a:rPr>
              <a:t>Ordered or Sequential File</a:t>
            </a:r>
          </a:p>
        </p:txBody>
      </p:sp>
      <p:sp>
        <p:nvSpPr>
          <p:cNvPr id="1024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ECB588-3C5A-4D54-BE09-64F5EEEC20CC}" type="slidenum">
              <a:rPr lang="en-GB" smtClean="0"/>
              <a:pPr>
                <a:defRPr/>
              </a:pPr>
              <a:t>7</a:t>
            </a:fld>
            <a:endParaRPr lang="en-GB" smtClean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en-GB" sz="2100" dirty="0" smtClean="0">
                <a:latin typeface="Times New Roman" pitchFamily="18" charset="0"/>
                <a:cs typeface="Times New Roman" pitchFamily="18" charset="0"/>
              </a:rPr>
              <a:t>Records are </a:t>
            </a:r>
            <a:r>
              <a:rPr lang="en-GB" sz="2100" u="sng" dirty="0" smtClean="0">
                <a:latin typeface="Times New Roman" pitchFamily="18" charset="0"/>
                <a:cs typeface="Times New Roman" pitchFamily="18" charset="0"/>
              </a:rPr>
              <a:t>sorted</a:t>
            </a:r>
            <a:r>
              <a:rPr lang="en-GB" sz="2100" dirty="0" smtClean="0">
                <a:latin typeface="Times New Roman" pitchFamily="18" charset="0"/>
                <a:cs typeface="Times New Roman" pitchFamily="18" charset="0"/>
              </a:rPr>
              <a:t> on the values of one or more fields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100" b="1" i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Ordering field </a:t>
            </a:r>
            <a:r>
              <a:rPr lang="en-GB" sz="2100" dirty="0" smtClean="0">
                <a:latin typeface="Times New Roman" pitchFamily="18" charset="0"/>
                <a:cs typeface="Times New Roman" pitchFamily="18" charset="0"/>
              </a:rPr>
              <a:t>– the field on which the records are sorted</a:t>
            </a:r>
          </a:p>
          <a:p>
            <a:pPr eaLnBrk="1" hangingPunct="1">
              <a:lnSpc>
                <a:spcPct val="80000"/>
              </a:lnSpc>
            </a:pPr>
            <a:endParaRPr lang="en-GB" sz="2100" b="1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GB" sz="21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Search (or update) Operation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100" dirty="0" smtClean="0">
                <a:latin typeface="Times New Roman" pitchFamily="18" charset="0"/>
                <a:cs typeface="Times New Roman" pitchFamily="18" charset="0"/>
              </a:rPr>
              <a:t>Fast – because binary search is performed on sorted records</a:t>
            </a:r>
          </a:p>
          <a:p>
            <a:pPr lvl="1" eaLnBrk="1" hangingPunct="1">
              <a:lnSpc>
                <a:spcPct val="80000"/>
              </a:lnSpc>
            </a:pPr>
            <a:endParaRPr lang="en-GB" sz="2100" b="1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GB" sz="21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Delete Operation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100" dirty="0" smtClean="0">
                <a:latin typeface="Times New Roman" pitchFamily="18" charset="0"/>
                <a:cs typeface="Times New Roman" pitchFamily="18" charset="0"/>
              </a:rPr>
              <a:t>Fast – because searching the record is fast</a:t>
            </a:r>
          </a:p>
          <a:p>
            <a:pPr eaLnBrk="1" hangingPunct="1">
              <a:lnSpc>
                <a:spcPct val="80000"/>
              </a:lnSpc>
            </a:pPr>
            <a:endParaRPr lang="en-GB" sz="2100" b="1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GB" sz="21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Insert Operation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100" dirty="0" smtClean="0">
                <a:latin typeface="Times New Roman" pitchFamily="18" charset="0"/>
                <a:cs typeface="Times New Roman" pitchFamily="18" charset="0"/>
              </a:rPr>
              <a:t>Poor – because if we insert the new record in the correct position 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100" dirty="0" smtClean="0">
                <a:latin typeface="Times New Roman" pitchFamily="18" charset="0"/>
                <a:cs typeface="Times New Roman" pitchFamily="18" charset="0"/>
              </a:rPr>
              <a:t>we need to shift more than half the subsequent records in the file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100" dirty="0" smtClean="0">
                <a:latin typeface="Times New Roman" pitchFamily="18" charset="0"/>
                <a:cs typeface="Times New Roman" pitchFamily="18" charset="0"/>
              </a:rPr>
              <a:t>Alternatively an ‘</a:t>
            </a:r>
            <a:r>
              <a:rPr lang="en-GB" sz="21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overflow file</a:t>
            </a:r>
            <a:r>
              <a:rPr lang="en-GB" sz="2100" dirty="0" smtClean="0">
                <a:latin typeface="Times New Roman" pitchFamily="18" charset="0"/>
                <a:cs typeface="Times New Roman" pitchFamily="18" charset="0"/>
              </a:rPr>
              <a:t>’ is created which contains all the new records as a heap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100" dirty="0" smtClean="0">
                <a:latin typeface="Times New Roman" pitchFamily="18" charset="0"/>
                <a:cs typeface="Times New Roman" pitchFamily="18" charset="0"/>
              </a:rPr>
              <a:t>Periodically overflow file is merged with the main 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164263"/>
            <a:ext cx="2133600" cy="476250"/>
          </a:xfrm>
        </p:spPr>
        <p:txBody>
          <a:bodyPr/>
          <a:lstStyle/>
          <a:p>
            <a:pPr>
              <a:defRPr/>
            </a:pPr>
            <a:fld id="{E645F67F-3BE5-4EE5-BA3B-74CC4366BF03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  <p:sp>
        <p:nvSpPr>
          <p:cNvPr id="3" name="Rectangle 4"/>
          <p:cNvSpPr txBox="1">
            <a:spLocks noChangeArrowheads="1"/>
          </p:cNvSpPr>
          <p:nvPr/>
        </p:nvSpPr>
        <p:spPr>
          <a:xfrm>
            <a:off x="785813" y="0"/>
            <a:ext cx="6870700" cy="1600200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3200" b="1" u="sng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Sequential access</a:t>
            </a:r>
            <a:r>
              <a:rPr lang="en-US" sz="3200" u="sng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u="sng" kern="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u="sng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random access</a:t>
            </a:r>
            <a:r>
              <a:rPr lang="en-US" sz="3200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. </a:t>
            </a: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>
          <a:xfrm>
            <a:off x="4457700" y="928688"/>
            <a:ext cx="4506913" cy="5380037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en-US" sz="2400" b="1" kern="0" dirty="0">
                <a:latin typeface="+mn-lt"/>
                <a:cs typeface="+mn-cs"/>
              </a:rPr>
              <a:t>sequential access</a:t>
            </a:r>
            <a:r>
              <a:rPr lang="en-US" sz="2400" kern="0" dirty="0">
                <a:latin typeface="+mn-lt"/>
                <a:cs typeface="+mn-cs"/>
              </a:rPr>
              <a:t> means that a group of elements is accessed predetermined, ordered </a:t>
            </a:r>
            <a:r>
              <a:rPr lang="en-US" sz="2400" kern="0" dirty="0">
                <a:latin typeface="+mn-lt"/>
                <a:cs typeface="+mn-cs"/>
                <a:hlinkClick r:id="rId2" tooltip="Sequence"/>
              </a:rPr>
              <a:t>sequence</a:t>
            </a:r>
            <a:r>
              <a:rPr lang="en-US" sz="2400" kern="0" dirty="0">
                <a:latin typeface="+mn-lt"/>
                <a:cs typeface="+mn-cs"/>
              </a:rPr>
              <a:t> </a:t>
            </a: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endParaRPr lang="en-US" sz="2400" kern="0" dirty="0">
              <a:latin typeface="+mn-lt"/>
              <a:cs typeface="+mn-cs"/>
            </a:endParaRPr>
          </a:p>
          <a:p>
            <a:pPr marL="342900" indent="-342900" algn="just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en-US" sz="2400" b="1" u="sng" kern="0" dirty="0">
                <a:latin typeface="+mn-lt"/>
              </a:rPr>
              <a:t>Random Access</a:t>
            </a:r>
            <a:r>
              <a:rPr lang="en-US" sz="2400" b="1" kern="0" dirty="0">
                <a:latin typeface="+mn-lt"/>
              </a:rPr>
              <a:t> </a:t>
            </a:r>
            <a:r>
              <a:rPr lang="en-US" sz="2400" kern="0" dirty="0">
                <a:latin typeface="+mn-lt"/>
              </a:rPr>
              <a:t>files will be spited in to pieces and will be stored wherever spaces available. </a:t>
            </a:r>
          </a:p>
          <a:p>
            <a:pPr marL="342900" indent="-342900" algn="just" eaLnBrk="0" hangingPunct="0">
              <a:spcBef>
                <a:spcPct val="20000"/>
              </a:spcBef>
              <a:buFontTx/>
              <a:buChar char="•"/>
              <a:defRPr/>
            </a:pPr>
            <a:endParaRPr lang="en-US" sz="2400" kern="0" dirty="0">
              <a:latin typeface="+mn-lt"/>
            </a:endParaRPr>
          </a:p>
          <a:p>
            <a:pPr marL="342900" indent="-342900" algn="just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en-US" sz="2400" u="sng" kern="0" dirty="0">
                <a:latin typeface="+mn-lt"/>
              </a:rPr>
              <a:t>Sequential file</a:t>
            </a:r>
            <a:r>
              <a:rPr lang="en-US" sz="2400" kern="0" dirty="0">
                <a:latin typeface="+mn-lt"/>
              </a:rPr>
              <a:t> may load faster and </a:t>
            </a:r>
            <a:r>
              <a:rPr lang="en-US" sz="2400" u="sng" kern="0" dirty="0">
                <a:latin typeface="+mn-lt"/>
              </a:rPr>
              <a:t>random access</a:t>
            </a:r>
            <a:r>
              <a:rPr lang="en-US" sz="2400" kern="0" dirty="0">
                <a:latin typeface="+mn-lt"/>
              </a:rPr>
              <a:t> files</a:t>
            </a:r>
            <a:r>
              <a:rPr lang="en-US" sz="2400" kern="0" dirty="0"/>
              <a:t> may take time</a:t>
            </a:r>
            <a:endParaRPr lang="en-US" sz="2400" kern="0" dirty="0">
              <a:latin typeface="+mn-lt"/>
              <a:cs typeface="+mn-cs"/>
            </a:endParaRPr>
          </a:p>
        </p:txBody>
      </p:sp>
      <p:pic>
        <p:nvPicPr>
          <p:cNvPr id="9221" name="Picture 7" descr="600px-Random_vs_sequential_access_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47838"/>
            <a:ext cx="42291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8664CC-CD33-4A45-9C42-131DB737A044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  <p:sp>
        <p:nvSpPr>
          <p:cNvPr id="3" name="Slide Number Placeholder 4"/>
          <p:cNvSpPr txBox="1">
            <a:spLocks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fld id="{39452D41-A0E9-4959-96E7-EEA10C506F67}" type="slidenum">
              <a:rPr lang="en-GB" sz="1400">
                <a:cs typeface="+mn-cs"/>
              </a:rPr>
              <a:pPr algn="r">
                <a:defRPr/>
              </a:pPr>
              <a:t>9</a:t>
            </a:fld>
            <a:endParaRPr lang="en-GB" sz="1400" dirty="0"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GB" sz="4400" ker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Hash File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7200" y="1125538"/>
            <a:ext cx="8229600" cy="4525962"/>
          </a:xfrm>
          <a:prstGeom prst="rect">
            <a:avLst/>
          </a:prstGeom>
        </p:spPr>
        <p:txBody>
          <a:bodyPr/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GB" sz="2200" kern="0" dirty="0">
                <a:latin typeface="Times New Roman" pitchFamily="18" charset="0"/>
                <a:cs typeface="Times New Roman" pitchFamily="18" charset="0"/>
              </a:rPr>
              <a:t>Is an array of buckets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GB" sz="2200" kern="0" dirty="0">
                <a:latin typeface="Times New Roman" pitchFamily="18" charset="0"/>
                <a:cs typeface="Times New Roman" pitchFamily="18" charset="0"/>
              </a:rPr>
              <a:t>Given a record, k   a hash function, </a:t>
            </a:r>
            <a:r>
              <a:rPr lang="en-GB" sz="2200" b="1" kern="0" dirty="0">
                <a:latin typeface="Times New Roman" pitchFamily="18" charset="0"/>
                <a:cs typeface="Times New Roman" pitchFamily="18" charset="0"/>
              </a:rPr>
              <a:t>h(k)</a:t>
            </a:r>
            <a:r>
              <a:rPr lang="en-GB" sz="2200" kern="0" dirty="0">
                <a:latin typeface="Times New Roman" pitchFamily="18" charset="0"/>
                <a:cs typeface="Times New Roman" pitchFamily="18" charset="0"/>
              </a:rPr>
              <a:t> computes the index of the bucket in which record </a:t>
            </a:r>
            <a:r>
              <a:rPr lang="en-GB" sz="2200" b="1" kern="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GB" sz="2200" kern="0" dirty="0">
                <a:latin typeface="Times New Roman" pitchFamily="18" charset="0"/>
                <a:cs typeface="Times New Roman" pitchFamily="18" charset="0"/>
              </a:rPr>
              <a:t> belongs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GB" sz="2200" kern="0" dirty="0">
                <a:latin typeface="Times New Roman" pitchFamily="18" charset="0"/>
                <a:cs typeface="Times New Roman" pitchFamily="18" charset="0"/>
              </a:rPr>
              <a:t>h uses one or more fields in the record called hash fields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GB" sz="2200" kern="0" dirty="0">
                <a:latin typeface="Times New Roman" pitchFamily="18" charset="0"/>
                <a:cs typeface="Times New Roman" pitchFamily="18" charset="0"/>
              </a:rPr>
              <a:t>Hash key - the key of the file when it is used by the hash function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GB" sz="2200" b="1" kern="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h(K)=K mod M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endParaRPr lang="en-GB" sz="2200" b="1" kern="0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GB" sz="2200" kern="0" dirty="0">
                <a:latin typeface="Times New Roman" pitchFamily="18" charset="0"/>
                <a:cs typeface="Times New Roman" pitchFamily="18" charset="0"/>
              </a:rPr>
              <a:t>Example hash function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GB" sz="2200" kern="0" dirty="0">
                <a:latin typeface="Times New Roman" pitchFamily="18" charset="0"/>
                <a:cs typeface="Times New Roman" pitchFamily="18" charset="0"/>
              </a:rPr>
              <a:t>Assume that the staff last name is used as the hash field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GB" sz="2200" kern="0" dirty="0">
                <a:latin typeface="Times New Roman" pitchFamily="18" charset="0"/>
                <a:cs typeface="Times New Roman" pitchFamily="18" charset="0"/>
              </a:rPr>
              <a:t>Assume also that the hash file size is 26 buckets - each bucket corresponding to each of the letters from the alphabet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GB" sz="2200" kern="0" dirty="0">
                <a:latin typeface="Times New Roman" pitchFamily="18" charset="0"/>
                <a:cs typeface="Times New Roman" pitchFamily="18" charset="0"/>
              </a:rPr>
              <a:t>Then a hash function can be defined which computes the bucket address (index) based on the first letter in the last name.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4A2F3B-B0D3-4418-8AE0-63B8EE5B574E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827088" y="1363663"/>
            <a:ext cx="7561262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bucket is a unit of storage containing one or more records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(a  bucket is typically a disk block). 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Hash function is used to locate records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 access, insertion as well  as deletion.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Hashing is an effective technique to calculate direct location of data record on the disk without using index structure.</a:t>
            </a:r>
          </a:p>
          <a:p>
            <a:pPr algn="just"/>
            <a:endParaRPr lang="en-US" dirty="0"/>
          </a:p>
        </p:txBody>
      </p:sp>
      <p:pic>
        <p:nvPicPr>
          <p:cNvPr id="1126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692150"/>
            <a:ext cx="7561262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Hash File </a:t>
            </a:r>
          </a:p>
        </p:txBody>
      </p:sp>
      <p:sp>
        <p:nvSpPr>
          <p:cNvPr id="1229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4934D4-2892-4EA9-A8AA-783014ADA149}" type="slidenum">
              <a:rPr lang="en-GB" smtClean="0"/>
              <a:pPr>
                <a:defRPr/>
              </a:pPr>
              <a:t>11</a:t>
            </a:fld>
            <a:endParaRPr lang="en-GB" smtClean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Insert Operation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Fast – because the hash function computes the index of the bucket to which the record belongs</a:t>
            </a:r>
          </a:p>
          <a:p>
            <a:pPr lvl="2" eaLnBrk="1" hangingPunct="1">
              <a:lnSpc>
                <a:spcPct val="80000"/>
              </a:lnSpc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If that bucket is full you go to the next free one</a:t>
            </a:r>
          </a:p>
          <a:p>
            <a:pPr eaLnBrk="1" hangingPunct="1">
              <a:lnSpc>
                <a:spcPct val="8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Search Operation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Fast – because the hash function computes the index of the bucket</a:t>
            </a:r>
          </a:p>
          <a:p>
            <a:pPr eaLnBrk="1" hangingPunct="1">
              <a:lnSpc>
                <a:spcPct val="80000"/>
              </a:lnSpc>
            </a:pPr>
            <a:endParaRPr lang="en-GB" sz="2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Delete Operation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Fast – once again for the same reason of hashing function being able to locate the record quick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20A6A-E3F5-4EF7-9275-BB1785304376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785813" y="642938"/>
            <a:ext cx="7643812" cy="538609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n-lt"/>
              </a:rPr>
              <a:t>Internal Hashing: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000" u="sng" dirty="0" smtClean="0">
                <a:latin typeface="Times New Roman" pitchFamily="18" charset="0"/>
                <a:cs typeface="Times New Roman" pitchFamily="18" charset="0"/>
              </a:rPr>
              <a:t>Opening </a:t>
            </a:r>
            <a:r>
              <a:rPr lang="en-US" sz="2000" u="sng" dirty="0">
                <a:latin typeface="Times New Roman" pitchFamily="18" charset="0"/>
                <a:cs typeface="Times New Roman" pitchFamily="18" charset="0"/>
              </a:rPr>
              <a:t>Addressing: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-Proceeding from occupied position specified by the hash address, program check the subsequent position in order until an unused empty position is found.</a:t>
            </a:r>
          </a:p>
          <a:p>
            <a:pPr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2000" u="sng" dirty="0">
                <a:latin typeface="Times New Roman" pitchFamily="18" charset="0"/>
                <a:cs typeface="Times New Roman" pitchFamily="18" charset="0"/>
              </a:rPr>
              <a:t>Chaining</a:t>
            </a:r>
          </a:p>
          <a:p>
            <a:pPr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-Various overflow locations are kept, usually by extending the array with number of overflow position</a:t>
            </a:r>
          </a:p>
          <a:p>
            <a:pPr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-A pointer field is added to each record location.</a:t>
            </a:r>
          </a:p>
          <a:p>
            <a:pPr>
              <a:buFont typeface="Arial" pitchFamily="34" charset="0"/>
              <a:buChar char="•"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2000" u="sng" dirty="0">
                <a:latin typeface="Times New Roman" pitchFamily="18" charset="0"/>
                <a:cs typeface="Times New Roman" pitchFamily="18" charset="0"/>
              </a:rPr>
              <a:t>Multiple hashing:</a:t>
            </a:r>
          </a:p>
          <a:p>
            <a:pPr>
              <a:buFont typeface="Arial" pitchFamily="34" charset="0"/>
              <a:buChar char="•"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External Hashing:</a:t>
            </a:r>
          </a:p>
          <a:p>
            <a:pPr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 Hashing for disk  file is called  External Hashing</a:t>
            </a:r>
          </a:p>
          <a:p>
            <a:pPr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 The Goal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of good hashing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function is to distribute the record uniformly over the address space so as to minimize collisions.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593C92-347D-482A-A0B8-A00BE7AC77C7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  <p:sp>
        <p:nvSpPr>
          <p:cNvPr id="14339" name="Rectangle 2"/>
          <p:cNvSpPr>
            <a:spLocks noChangeArrowheads="1"/>
          </p:cNvSpPr>
          <p:nvPr/>
        </p:nvSpPr>
        <p:spPr bwMode="auto">
          <a:xfrm>
            <a:off x="611188" y="620713"/>
            <a:ext cx="1787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Static Hashing</a:t>
            </a:r>
          </a:p>
        </p:txBody>
      </p:sp>
      <p:pic>
        <p:nvPicPr>
          <p:cNvPr id="1434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6288" y="260350"/>
            <a:ext cx="4291012" cy="312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41" name="Rectangle 3"/>
          <p:cNvSpPr>
            <a:spLocks noChangeArrowheads="1"/>
          </p:cNvSpPr>
          <p:nvPr/>
        </p:nvSpPr>
        <p:spPr bwMode="auto">
          <a:xfrm>
            <a:off x="468313" y="4508500"/>
            <a:ext cx="4117975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/>
              <a:t>Dynamic Hashing</a:t>
            </a:r>
          </a:p>
          <a:p>
            <a:r>
              <a:rPr lang="en-US"/>
              <a:t>Dynamic hashing provides a mechanism in which data buckets are added and removed dynamically and on-demand</a:t>
            </a:r>
            <a:r>
              <a:rPr lang="en-US" b="1">
                <a:solidFill>
                  <a:srgbClr val="FF0000"/>
                </a:solidFill>
              </a:rPr>
              <a:t>(extended hashing)</a:t>
            </a:r>
          </a:p>
        </p:txBody>
      </p:sp>
      <p:sp>
        <p:nvSpPr>
          <p:cNvPr id="14342" name="Rectangle 4"/>
          <p:cNvSpPr>
            <a:spLocks noChangeArrowheads="1"/>
          </p:cNvSpPr>
          <p:nvPr/>
        </p:nvSpPr>
        <p:spPr bwMode="auto">
          <a:xfrm>
            <a:off x="611188" y="1882775"/>
            <a:ext cx="35290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i="1">
                <a:solidFill>
                  <a:srgbClr val="FF0000"/>
                </a:solidFill>
              </a:rPr>
              <a:t>!!! ….Problem with static hashing is that it does not expand or shrink dynamically as the size of database grows or shrinks….???</a:t>
            </a:r>
          </a:p>
        </p:txBody>
      </p:sp>
      <p:pic>
        <p:nvPicPr>
          <p:cNvPr id="143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3324225"/>
            <a:ext cx="4022725" cy="299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04813"/>
            <a:ext cx="4953000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FCCB2C-69DB-4660-BB6F-5E130AB2FDFA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  <p:sp>
        <p:nvSpPr>
          <p:cNvPr id="15364" name="Rectangle 2"/>
          <p:cNvSpPr>
            <a:spLocks noChangeArrowheads="1"/>
          </p:cNvSpPr>
          <p:nvPr/>
        </p:nvSpPr>
        <p:spPr bwMode="auto">
          <a:xfrm>
            <a:off x="107950" y="717550"/>
            <a:ext cx="4319588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/>
              <a:t>Overflow Chaining:</a:t>
            </a:r>
            <a:r>
              <a:rPr lang="en-US"/>
              <a:t> When buckets are full, a new bucket is allocated for the same hash result and is linked after the previous one.</a:t>
            </a:r>
          </a:p>
          <a:p>
            <a:r>
              <a:rPr lang="en-US"/>
              <a:t> </a:t>
            </a:r>
            <a:r>
              <a:rPr lang="en-US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This mechanism is called Closed Hashing.</a:t>
            </a:r>
          </a:p>
        </p:txBody>
      </p:sp>
      <p:pic>
        <p:nvPicPr>
          <p:cNvPr id="1536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3789363"/>
            <a:ext cx="3333750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107950" y="3797300"/>
            <a:ext cx="45720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/>
              <a:t>Linear Probing:</a:t>
            </a:r>
            <a:r>
              <a:rPr lang="en-US" dirty="0"/>
              <a:t> When hash function generates an address at which data is already stored, the next free bucket is allocated to it.</a:t>
            </a:r>
          </a:p>
          <a:p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This mechanism is called Open Hashing.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8FCD32-5790-4EED-A729-A13F09AB764E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0" y="188913"/>
            <a:ext cx="8640763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Hash file organization of account file, using branch_name as key</a:t>
            </a:r>
          </a:p>
          <a:p>
            <a:endParaRPr lang="en-US"/>
          </a:p>
          <a:p>
            <a:r>
              <a:rPr lang="en-US"/>
              <a:t>For a string search - key, the binary representations of  all the characters in the  string could be added and the sum modulo the number of buckets could be returned</a:t>
            </a:r>
          </a:p>
          <a:p>
            <a:endParaRPr lang="en-US"/>
          </a:p>
        </p:txBody>
      </p:sp>
      <p:sp>
        <p:nvSpPr>
          <p:cNvPr id="16388" name="Slide Number Placeholder 1"/>
          <p:cNvSpPr txBox="1">
            <a:spLocks/>
          </p:cNvSpPr>
          <p:nvPr/>
        </p:nvSpPr>
        <p:spPr bwMode="auto">
          <a:xfrm>
            <a:off x="6540500" y="8218488"/>
            <a:ext cx="1028700" cy="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53401C94-C768-41E5-9050-FFC9A2AF2EF1}" type="slidenum">
              <a:rPr lang="en-GB" sz="1400"/>
              <a:pPr algn="r" eaLnBrk="1" hangingPunct="1"/>
              <a:t>15</a:t>
            </a:fld>
            <a:endParaRPr lang="en-GB" sz="140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1476375" y="1639888"/>
            <a:ext cx="6919913" cy="30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2400" dirty="0"/>
              <a:t>Use of Extendable Hash Structure:  Example </a:t>
            </a:r>
          </a:p>
        </p:txBody>
      </p:sp>
      <p:sp>
        <p:nvSpPr>
          <p:cNvPr id="16390" name="Text Box 3"/>
          <p:cNvSpPr txBox="1">
            <a:spLocks noChangeArrowheads="1"/>
          </p:cNvSpPr>
          <p:nvPr/>
        </p:nvSpPr>
        <p:spPr bwMode="auto">
          <a:xfrm>
            <a:off x="684213" y="6400800"/>
            <a:ext cx="71278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000">
                <a:latin typeface="Helvetica" pitchFamily="34" charset="0"/>
              </a:rPr>
              <a:t>Initial Hash structure, bucket size = 2</a:t>
            </a:r>
          </a:p>
        </p:txBody>
      </p:sp>
      <p:pic>
        <p:nvPicPr>
          <p:cNvPr id="1639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6" t="35373" r="1994" b="36702"/>
          <a:stretch>
            <a:fillRect/>
          </a:stretch>
        </p:blipFill>
        <p:spPr bwMode="auto">
          <a:xfrm>
            <a:off x="2411413" y="4868863"/>
            <a:ext cx="6534150" cy="141605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2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8" t="25542" r="4880" b="26506"/>
          <a:stretch>
            <a:fillRect/>
          </a:stretch>
        </p:blipFill>
        <p:spPr bwMode="auto">
          <a:xfrm>
            <a:off x="323850" y="2205038"/>
            <a:ext cx="6434138" cy="2484437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604838"/>
            <a:ext cx="7848600" cy="549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CB54B6-02A4-4B81-A9BF-31E31D6A86F7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  <p:pic>
        <p:nvPicPr>
          <p:cNvPr id="1843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620713"/>
            <a:ext cx="7948612" cy="504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FE274-707F-455A-A68D-DF147A9276BE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  <p:pic>
        <p:nvPicPr>
          <p:cNvPr id="1945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4313"/>
            <a:ext cx="7923213" cy="609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F649C2-BED1-464F-9002-35C12096BC50}" type="slidenum">
              <a:rPr lang="en-GB" smtClean="0"/>
              <a:pPr>
                <a:defRPr/>
              </a:pPr>
              <a:t>19</a:t>
            </a:fld>
            <a:endParaRPr lang="en-GB"/>
          </a:p>
        </p:txBody>
      </p:sp>
      <p:pic>
        <p:nvPicPr>
          <p:cNvPr id="2048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0"/>
            <a:ext cx="7632700" cy="659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8A1A7E-EEA6-4411-9D95-54CF051F9B0D}" type="slidenum">
              <a:rPr lang="en-GB" smtClean="0"/>
              <a:pPr>
                <a:defRPr/>
              </a:pPr>
              <a:t>20</a:t>
            </a:fld>
            <a:endParaRPr lang="en-GB"/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539750" y="188913"/>
            <a:ext cx="8064500" cy="581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sz="2400" b="1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Indexing</a:t>
            </a:r>
          </a:p>
          <a:p>
            <a:pPr algn="just"/>
            <a:endParaRPr lang="en-US" sz="2400" b="1" u="sng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>
                <a:latin typeface="Times New Roman" pitchFamily="18" charset="0"/>
                <a:cs typeface="Times New Roman" pitchFamily="18" charset="0"/>
              </a:rPr>
              <a:t>• Index File (same idea as textbook index) : auxiliary structure designed to speed up access to desired data.</a:t>
            </a:r>
          </a:p>
          <a:p>
            <a:pPr algn="just"/>
            <a:r>
              <a:rPr lang="en-US" sz="200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Indexing field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: field on which the index file is defined.</a:t>
            </a:r>
          </a:p>
          <a:p>
            <a:pPr algn="just"/>
            <a:endParaRPr lang="en-US" sz="20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>
                <a:latin typeface="Times New Roman" pitchFamily="18" charset="0"/>
                <a:cs typeface="Times New Roman" pitchFamily="18" charset="0"/>
              </a:rPr>
              <a:t>• Index file stores each value of the index field along with </a:t>
            </a:r>
            <a:r>
              <a:rPr lang="en-US" sz="20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pointer</a:t>
            </a:r>
          </a:p>
          <a:p>
            <a:pPr algn="just"/>
            <a:r>
              <a:rPr lang="en-US" sz="200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(eg:page no.)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pointer(s) to block(s) that contain record(s) with that field value or pointer to the record with that field value</a:t>
            </a:r>
            <a:r>
              <a:rPr lang="en-US" sz="2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:&lt;</a:t>
            </a:r>
            <a:r>
              <a:rPr lang="en-US" sz="20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Indexing Field</a:t>
            </a:r>
            <a:r>
              <a:rPr lang="en-US" sz="2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Pointer</a:t>
            </a:r>
            <a:r>
              <a:rPr lang="en-US" sz="2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algn="just"/>
            <a:endParaRPr lang="en-US" sz="20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>
                <a:latin typeface="Times New Roman" pitchFamily="18" charset="0"/>
                <a:cs typeface="Times New Roman" pitchFamily="18" charset="0"/>
              </a:rPr>
              <a:t>• To find a record in the data file based on a certain selection criterion on an indexing field , we initially access the index file, which will allow the access of the record on the data file.</a:t>
            </a:r>
          </a:p>
          <a:p>
            <a:pPr algn="just"/>
            <a:endParaRPr lang="en-US" sz="20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>
                <a:latin typeface="Times New Roman" pitchFamily="18" charset="0"/>
                <a:cs typeface="Times New Roman" pitchFamily="18" charset="0"/>
              </a:rPr>
              <a:t>• Index file much smaller than the data file =&gt; searching will be fast.</a:t>
            </a:r>
          </a:p>
          <a:p>
            <a:pPr algn="just"/>
            <a:endParaRPr lang="en-US" sz="20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>
                <a:latin typeface="Times New Roman" pitchFamily="18" charset="0"/>
                <a:cs typeface="Times New Roman" pitchFamily="18" charset="0"/>
              </a:rPr>
              <a:t>• Indexing important for file systems and DBMSs:</a:t>
            </a:r>
          </a:p>
          <a:p>
            <a:pPr algn="just"/>
            <a:endParaRPr lang="en-US" sz="2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C7685D-95F3-48D1-99C8-BC0F169CDAA6}" type="slidenum">
              <a:rPr lang="en-GB" smtClean="0"/>
              <a:pPr>
                <a:defRPr/>
              </a:pPr>
              <a:t>21</a:t>
            </a:fld>
            <a:endParaRPr lang="en-GB"/>
          </a:p>
        </p:txBody>
      </p:sp>
      <p:sp>
        <p:nvSpPr>
          <p:cNvPr id="22531" name="Rectangle 2"/>
          <p:cNvSpPr>
            <a:spLocks noGrp="1" noChangeArrowheads="1"/>
          </p:cNvSpPr>
          <p:nvPr/>
        </p:nvSpPr>
        <p:spPr bwMode="auto">
          <a:xfrm>
            <a:off x="457200" y="5032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Choosing Indexing Technique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/>
        </p:nvSpPr>
        <p:spPr bwMode="auto">
          <a:xfrm>
            <a:off x="457200" y="18288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Five Factors involved when choosing the indexing technique:</a:t>
            </a:r>
            <a:endParaRPr lang="en-US" altLang="zh-CN" sz="320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320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access type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320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access time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320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insertion time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320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deletion time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320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space overhead</a:t>
            </a:r>
            <a:endParaRPr lang="en-US" sz="32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31C3DB-9F75-4557-AD0F-303BE9E58B60}" type="slidenum">
              <a:rPr lang="en-GB" smtClean="0"/>
              <a:pPr>
                <a:defRPr/>
              </a:pPr>
              <a:t>22</a:t>
            </a:fld>
            <a:endParaRPr lang="en-GB"/>
          </a:p>
        </p:txBody>
      </p:sp>
      <p:sp>
        <p:nvSpPr>
          <p:cNvPr id="23555" name="Rectangle 2"/>
          <p:cNvSpPr>
            <a:spLocks noGrp="1" noChangeArrowheads="1"/>
          </p:cNvSpPr>
          <p:nvPr/>
        </p:nvSpPr>
        <p:spPr bwMode="auto">
          <a:xfrm>
            <a:off x="457200" y="5032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Two Types of Indices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/>
        </p:nvSpPr>
        <p:spPr bwMode="auto">
          <a:xfrm>
            <a:off x="457200" y="18288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zh-CN" sz="320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zh-CN" sz="3200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Ordered index </a:t>
            </a:r>
            <a:r>
              <a:rPr lang="en-US" altLang="zh-CN" sz="320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(Primary index or clustering index) – which is used to access data sorted by order of values.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zh-CN" sz="320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zh-CN" sz="3200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Hash index </a:t>
            </a:r>
            <a:r>
              <a:rPr lang="en-US" altLang="zh-CN" sz="320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(secondary index or non-clustering index ) - used to access data that is distributed uniformly across a range of buckets.</a:t>
            </a:r>
            <a:endParaRPr lang="en-US" sz="320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2FE87D-943C-4C1B-83C7-4AC0B00857AD}" type="slidenum">
              <a:rPr lang="en-GB" smtClean="0"/>
              <a:pPr>
                <a:defRPr/>
              </a:pPr>
              <a:t>23</a:t>
            </a:fld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441325" y="260350"/>
            <a:ext cx="8137525" cy="62785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Types of Indexes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Indexes on </a:t>
            </a:r>
            <a:r>
              <a:rPr lang="en-US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ordered vs. unordered files</a:t>
            </a:r>
          </a:p>
          <a:p>
            <a:pPr>
              <a:defRPr/>
            </a:pPr>
            <a:endParaRPr lang="en-US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Dense vs. non-dense (i.e. sparse) indexes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- </a:t>
            </a:r>
            <a:r>
              <a:rPr lang="en-US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Dense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An entry in the index file for each record of the data file.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- </a:t>
            </a:r>
            <a:r>
              <a:rPr lang="en-US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Sparse: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only some of the data records are represented in the index, often 		one index entry per block of the data file.</a:t>
            </a:r>
          </a:p>
          <a:p>
            <a:pPr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Primary indexes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vs. </a:t>
            </a:r>
            <a:r>
              <a:rPr lang="en-US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secondary indexes</a:t>
            </a:r>
          </a:p>
          <a:p>
            <a:pPr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Ordered Indexes – Hash indexes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- </a:t>
            </a:r>
            <a:r>
              <a:rPr lang="en-US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Ordered Indexes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indexing fields stored in sorted order.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- </a:t>
            </a:r>
            <a:r>
              <a:rPr lang="en-US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Hash indexes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indexing fields stored using a hash function.</a:t>
            </a:r>
          </a:p>
          <a:p>
            <a:pPr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Single-level vs. multi-level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– </a:t>
            </a:r>
            <a:r>
              <a:rPr lang="en-US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single-level index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an ordered file and is searched using binary search.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– </a:t>
            </a:r>
            <a:r>
              <a:rPr lang="en-US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multi-level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ones are tree-structured that improve the search and require a 		more elaborate search algorithm.</a:t>
            </a:r>
          </a:p>
          <a:p>
            <a:pPr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Index on a </a:t>
            </a:r>
            <a:r>
              <a:rPr lang="en-US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single indexing field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Index on </a:t>
            </a:r>
            <a:r>
              <a:rPr lang="en-US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multiple indexing fields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(i.e. Composite Index).</a:t>
            </a:r>
          </a:p>
          <a:p>
            <a:pPr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1022</TotalTime>
  <Words>1294</Words>
  <Application>Microsoft Office PowerPoint</Application>
  <PresentationFormat>On-screen Show (4:3)</PresentationFormat>
  <Paragraphs>194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Equity</vt:lpstr>
      <vt:lpstr>File Organization &amp; Indexing</vt:lpstr>
      <vt:lpstr>DBMS stores data on hard disks</vt:lpstr>
      <vt:lpstr>Basics of Data storage on hard disk</vt:lpstr>
      <vt:lpstr>File Organization</vt:lpstr>
      <vt:lpstr>Organization of Records in Files</vt:lpstr>
      <vt:lpstr>Unordered Or Heap File</vt:lpstr>
      <vt:lpstr>Ordered or Sequential File</vt:lpstr>
      <vt:lpstr>PowerPoint Presentation</vt:lpstr>
      <vt:lpstr>PowerPoint Presentation</vt:lpstr>
      <vt:lpstr>PowerPoint Presentation</vt:lpstr>
      <vt:lpstr>Hash File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Aberdeen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Organization &amp; Indexing</dc:title>
  <dc:creator>sripada</dc:creator>
  <cp:lastModifiedBy>DELL</cp:lastModifiedBy>
  <cp:revision>242</cp:revision>
  <dcterms:created xsi:type="dcterms:W3CDTF">2004-11-25T11:52:37Z</dcterms:created>
  <dcterms:modified xsi:type="dcterms:W3CDTF">2024-09-18T11:25:34Z</dcterms:modified>
</cp:coreProperties>
</file>