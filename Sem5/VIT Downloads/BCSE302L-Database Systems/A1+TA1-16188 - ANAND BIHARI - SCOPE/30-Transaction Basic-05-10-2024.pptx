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1"/>
  </p:notesMasterIdLst>
  <p:sldIdLst>
    <p:sldId id="256" r:id="rId2"/>
    <p:sldId id="257" r:id="rId3"/>
    <p:sldId id="272" r:id="rId4"/>
    <p:sldId id="273" r:id="rId5"/>
    <p:sldId id="258" r:id="rId6"/>
    <p:sldId id="259" r:id="rId7"/>
    <p:sldId id="260" r:id="rId8"/>
    <p:sldId id="261" r:id="rId9"/>
    <p:sldId id="262" r:id="rId10"/>
    <p:sldId id="263" r:id="rId11"/>
    <p:sldId id="264" r:id="rId12"/>
    <p:sldId id="265" r:id="rId13"/>
    <p:sldId id="271" r:id="rId14"/>
    <p:sldId id="274" r:id="rId15"/>
    <p:sldId id="275" r:id="rId16"/>
    <p:sldId id="276" r:id="rId17"/>
    <p:sldId id="268" r:id="rId18"/>
    <p:sldId id="269" r:id="rId19"/>
    <p:sldId id="270"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2527" autoAdjust="0"/>
  </p:normalViewPr>
  <p:slideViewPr>
    <p:cSldViewPr>
      <p:cViewPr varScale="1">
        <p:scale>
          <a:sx n="68" d="100"/>
          <a:sy n="68" d="100"/>
        </p:scale>
        <p:origin x="-1446" y="-96"/>
      </p:cViewPr>
      <p:guideLst>
        <p:guide orient="horz" pos="2160"/>
        <p:guide pos="2880"/>
      </p:guideLst>
    </p:cSldViewPr>
  </p:slideViewPr>
  <p:outlineViewPr>
    <p:cViewPr>
      <p:scale>
        <a:sx n="33" d="100"/>
        <a:sy n="33" d="100"/>
      </p:scale>
      <p:origin x="0" y="130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04-10-2024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9"/>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6F6A820A-2CAB-46E0-A5A3-DD492961C18D}" type="datetimeFigureOut">
              <a:rPr lang="en-IN" smtClean="0"/>
              <a:t>04-10-2024</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5D16119-D660-40DF-B339-D75B54681409}" type="slidenum">
              <a:rPr lang="en-IN" smtClean="0"/>
              <a:t>‹#›</a:t>
            </a:fld>
            <a:endParaRPr lang="en-IN"/>
          </a:p>
        </p:txBody>
      </p:sp>
      <p:sp>
        <p:nvSpPr>
          <p:cNvPr id="7" name="Rectangle 6"/>
          <p:cNvSpPr/>
          <p:nvPr/>
        </p:nvSpPr>
        <p:spPr>
          <a:xfrm>
            <a:off x="62933" y="1449307"/>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3"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3"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4"/>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9"/>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4"/>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F6A820A-2CAB-46E0-A5A3-DD492961C18D}" type="datetimeFigureOut">
              <a:rPr lang="en-IN" smtClean="0"/>
              <a:t>04-10-2024</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3"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8" y="2341479"/>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8"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F6A820A-2CAB-46E0-A5A3-DD492961C18D}" type="datetimeFigureOut">
              <a:rPr lang="en-IN" smtClean="0"/>
              <a:t>04-10-2024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F6A820A-2CAB-46E0-A5A3-DD492961C18D}" type="datetimeFigureOut">
              <a:rPr lang="en-IN" smtClean="0"/>
              <a:t>04-10-2024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F6A820A-2CAB-46E0-A5A3-DD492961C18D}" type="datetimeFigureOut">
              <a:rPr lang="en-IN" smtClean="0"/>
              <a:t>04-10-2024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A820A-2CAB-46E0-A5A3-DD492961C18D}" type="datetimeFigureOut">
              <a:rPr lang="en-IN" smtClean="0"/>
              <a:t>04-10-2024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04-10-2024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04-10-2024</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10" y="4650478"/>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2" y="4773228"/>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10" y="66679"/>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5"/>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4"/>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04-10-2024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F6A820A-2CAB-46E0-A5A3-DD492961C18D}" type="datetimeFigureOut">
              <a:rPr lang="en-IN" smtClean="0"/>
              <a:t>04-10-2024</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5D16119-D660-40DF-B339-D75B5468140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IN" dirty="0"/>
          </a:p>
        </p:txBody>
      </p:sp>
      <p:sp>
        <p:nvSpPr>
          <p:cNvPr id="2" name="Title 1"/>
          <p:cNvSpPr>
            <a:spLocks noGrp="1"/>
          </p:cNvSpPr>
          <p:nvPr>
            <p:ph type="ctrTitle"/>
          </p:nvPr>
        </p:nvSpPr>
        <p:spPr/>
        <p:txBody>
          <a:bodyPr/>
          <a:lstStyle/>
          <a:p>
            <a:r>
              <a:rPr lang="en-US" dirty="0" smtClean="0"/>
              <a:t>Transaction </a:t>
            </a:r>
            <a:endParaRPr lang="en-IN" dirty="0"/>
          </a:p>
        </p:txBody>
      </p:sp>
    </p:spTree>
    <p:extLst>
      <p:ext uri="{BB962C8B-B14F-4D97-AF65-F5344CB8AC3E}">
        <p14:creationId xmlns:p14="http://schemas.microsoft.com/office/powerpoint/2010/main" val="22732915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ea typeface="ＭＳ Ｐゴシック" pitchFamily="34" charset="-128"/>
              </a:rPr>
              <a:t>Transaction</a:t>
            </a:r>
            <a:endParaRPr lang="en-IN" dirty="0"/>
          </a:p>
        </p:txBody>
      </p:sp>
      <p:sp>
        <p:nvSpPr>
          <p:cNvPr id="3" name="Content Placeholder 2"/>
          <p:cNvSpPr>
            <a:spLocks noGrp="1"/>
          </p:cNvSpPr>
          <p:nvPr>
            <p:ph sz="quarter" idx="1"/>
          </p:nvPr>
        </p:nvSpPr>
        <p:spPr>
          <a:xfrm>
            <a:off x="457200" y="1600200"/>
            <a:ext cx="8229600" cy="4781128"/>
          </a:xfrm>
        </p:spPr>
        <p:txBody>
          <a:bodyPr>
            <a:normAutofit/>
          </a:bodyPr>
          <a:lstStyle/>
          <a:p>
            <a:r>
              <a:rPr lang="en-US" sz="2700" dirty="0" smtClean="0">
                <a:latin typeface="Times New Roman" pitchFamily="18" charset="0"/>
                <a:ea typeface="ＭＳ Ｐゴシック" pitchFamily="34" charset="-128"/>
                <a:cs typeface="Times New Roman" pitchFamily="18" charset="0"/>
              </a:rPr>
              <a:t>A transaction is an atomic unit of  database access, which is either completely executed or not executed at all. </a:t>
            </a:r>
          </a:p>
          <a:p>
            <a:r>
              <a:rPr lang="en-US" sz="2700" dirty="0" smtClean="0">
                <a:latin typeface="Times New Roman" pitchFamily="18" charset="0"/>
                <a:ea typeface="ＭＳ Ｐゴシック" pitchFamily="34" charset="-128"/>
                <a:cs typeface="Times New Roman" pitchFamily="18" charset="0"/>
              </a:rPr>
              <a:t>A transaction is a program that access the database in response to real world events. </a:t>
            </a:r>
          </a:p>
          <a:p>
            <a:r>
              <a:rPr lang="en-US" sz="2700" b="1" dirty="0" smtClean="0">
                <a:latin typeface="Times New Roman" pitchFamily="18" charset="0"/>
                <a:ea typeface="ＭＳ Ｐゴシック" pitchFamily="34" charset="-128"/>
                <a:cs typeface="Times New Roman" pitchFamily="18" charset="0"/>
              </a:rPr>
              <a:t>All or nothing </a:t>
            </a:r>
            <a:r>
              <a:rPr lang="en-US" sz="2700" dirty="0" smtClean="0">
                <a:latin typeface="Times New Roman" pitchFamily="18" charset="0"/>
                <a:ea typeface="ＭＳ Ｐゴシック" pitchFamily="34" charset="-128"/>
                <a:cs typeface="Times New Roman" pitchFamily="18" charset="0"/>
              </a:rPr>
              <a:t>Principle  </a:t>
            </a:r>
          </a:p>
          <a:p>
            <a:r>
              <a:rPr lang="en-US" sz="2700" dirty="0" smtClean="0">
                <a:latin typeface="Times New Roman" pitchFamily="18" charset="0"/>
                <a:ea typeface="ＭＳ Ｐゴシック" pitchFamily="34" charset="-128"/>
                <a:cs typeface="Times New Roman" pitchFamily="18" charset="0"/>
              </a:rPr>
              <a:t>Example : </a:t>
            </a:r>
            <a:r>
              <a:rPr lang="en-US" sz="2700" b="1" dirty="0" smtClean="0">
                <a:latin typeface="Times New Roman" pitchFamily="18" charset="0"/>
                <a:ea typeface="ＭＳ Ｐゴシック" pitchFamily="34" charset="-128"/>
                <a:cs typeface="Times New Roman" pitchFamily="18" charset="0"/>
              </a:rPr>
              <a:t>Fund transfer</a:t>
            </a:r>
            <a:r>
              <a:rPr lang="en-US" sz="2700" dirty="0" smtClean="0">
                <a:latin typeface="Times New Roman" pitchFamily="18" charset="0"/>
                <a:ea typeface="ＭＳ Ｐゴシック" pitchFamily="34" charset="-128"/>
                <a:cs typeface="Times New Roman" pitchFamily="18" charset="0"/>
              </a:rPr>
              <a:t>.</a:t>
            </a:r>
            <a:endParaRPr lang="en-US" sz="2700" dirty="0">
              <a:latin typeface="Times New Roman" pitchFamily="18" charset="0"/>
              <a:ea typeface="ＭＳ Ｐゴシック" pitchFamily="34" charset="-128"/>
              <a:cs typeface="Times New Roman" pitchFamily="18" charset="0"/>
            </a:endParaRPr>
          </a:p>
        </p:txBody>
      </p:sp>
    </p:spTree>
    <p:extLst>
      <p:ext uri="{BB962C8B-B14F-4D97-AF65-F5344CB8AC3E}">
        <p14:creationId xmlns:p14="http://schemas.microsoft.com/office/powerpoint/2010/main" val="3623029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9552" y="44624"/>
            <a:ext cx="8147248" cy="6408712"/>
          </a:xfrm>
        </p:spPr>
        <p:txBody>
          <a:bodyPr>
            <a:noAutofit/>
          </a:bodyPr>
          <a:lstStyle/>
          <a:p>
            <a:pPr algn="just">
              <a:lnSpc>
                <a:spcPct val="90000"/>
              </a:lnSpc>
              <a:spcBef>
                <a:spcPts val="600"/>
              </a:spcBef>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b="1" dirty="0">
                <a:latin typeface="Times New Roman" pitchFamily="18" charset="0"/>
                <a:ea typeface="Tahoma" pitchFamily="34" charset="0"/>
                <a:cs typeface="Times New Roman" pitchFamily="18" charset="0"/>
              </a:rPr>
              <a:t>Transaction: </a:t>
            </a:r>
            <a:r>
              <a:rPr lang="en-US" sz="2000" dirty="0">
                <a:latin typeface="Times New Roman" pitchFamily="18" charset="0"/>
                <a:ea typeface="Tahoma" pitchFamily="34" charset="0"/>
                <a:cs typeface="Times New Roman" pitchFamily="18" charset="0"/>
              </a:rPr>
              <a:t>An executing program (process) that includes one or more database access operations</a:t>
            </a:r>
          </a:p>
          <a:p>
            <a:pPr marL="800100" lvl="1" indent="-342900" algn="just">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dirty="0">
                <a:latin typeface="Times New Roman" pitchFamily="18" charset="0"/>
                <a:ea typeface="Tahoma" pitchFamily="34" charset="0"/>
                <a:cs typeface="Times New Roman" pitchFamily="18" charset="0"/>
              </a:rPr>
              <a:t>Read operations (database retrieval, such as SQL SELECT)</a:t>
            </a:r>
          </a:p>
          <a:p>
            <a:pPr marL="800100" lvl="1" indent="-342900" algn="just">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dirty="0">
                <a:latin typeface="Times New Roman" pitchFamily="18" charset="0"/>
                <a:ea typeface="Tahoma" pitchFamily="34" charset="0"/>
                <a:cs typeface="Times New Roman" pitchFamily="18" charset="0"/>
              </a:rPr>
              <a:t>Write operations (modify database, such as SQL INSERT, UPDATE, DELETE)</a:t>
            </a:r>
          </a:p>
          <a:p>
            <a:pPr marL="800100" lvl="1" indent="-342900" algn="just">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dirty="0">
                <a:latin typeface="Times New Roman" pitchFamily="18" charset="0"/>
                <a:ea typeface="Tahoma" pitchFamily="34" charset="0"/>
                <a:cs typeface="Times New Roman" pitchFamily="18" charset="0"/>
              </a:rPr>
              <a:t>Transaction: A logical unit of database processing</a:t>
            </a:r>
          </a:p>
          <a:p>
            <a:pPr marL="800100" lvl="1" indent="-342900" algn="just">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dirty="0">
                <a:latin typeface="Times New Roman" pitchFamily="18" charset="0"/>
                <a:ea typeface="Tahoma" pitchFamily="34" charset="0"/>
                <a:cs typeface="Times New Roman" pitchFamily="18" charset="0"/>
              </a:rPr>
              <a:t>Example: Bank balance transfer of $100 dollars from a checking account to a saving account in a BANK database</a:t>
            </a:r>
          </a:p>
          <a:p>
            <a:pPr algn="just">
              <a:lnSpc>
                <a:spcPct val="90000"/>
              </a:lnSpc>
              <a:spcBef>
                <a:spcPts val="600"/>
              </a:spcBef>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dirty="0">
                <a:latin typeface="Times New Roman" pitchFamily="18" charset="0"/>
                <a:ea typeface="Tahoma" pitchFamily="34" charset="0"/>
                <a:cs typeface="Times New Roman" pitchFamily="18" charset="0"/>
              </a:rPr>
              <a:t> </a:t>
            </a:r>
            <a:r>
              <a:rPr lang="en-US" sz="2000" b="1" dirty="0">
                <a:latin typeface="Times New Roman" pitchFamily="18" charset="0"/>
                <a:ea typeface="Tahoma" pitchFamily="34" charset="0"/>
                <a:cs typeface="Times New Roman" pitchFamily="18" charset="0"/>
              </a:rPr>
              <a:t>Note:</a:t>
            </a:r>
            <a:r>
              <a:rPr lang="en-US" sz="2000" dirty="0">
                <a:latin typeface="Times New Roman" pitchFamily="18" charset="0"/>
                <a:ea typeface="Tahoma" pitchFamily="34" charset="0"/>
                <a:cs typeface="Times New Roman" pitchFamily="18" charset="0"/>
              </a:rPr>
              <a:t> Each execution of a program is a </a:t>
            </a:r>
            <a:r>
              <a:rPr lang="en-US" sz="2000" i="1" dirty="0">
                <a:latin typeface="Times New Roman" pitchFamily="18" charset="0"/>
                <a:ea typeface="Tahoma" pitchFamily="34" charset="0"/>
                <a:cs typeface="Times New Roman" pitchFamily="18" charset="0"/>
              </a:rPr>
              <a:t>distinct transaction</a:t>
            </a:r>
            <a:r>
              <a:rPr lang="en-US" sz="2000" dirty="0">
                <a:latin typeface="Times New Roman" pitchFamily="18" charset="0"/>
                <a:ea typeface="Tahoma" pitchFamily="34" charset="0"/>
                <a:cs typeface="Times New Roman" pitchFamily="18" charset="0"/>
              </a:rPr>
              <a:t> with different parameters</a:t>
            </a:r>
          </a:p>
          <a:p>
            <a:pPr marL="800100" lvl="1" indent="-342900" algn="just">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000" dirty="0">
                <a:latin typeface="Times New Roman" pitchFamily="18" charset="0"/>
                <a:ea typeface="Tahoma" pitchFamily="34" charset="0"/>
                <a:cs typeface="Times New Roman" pitchFamily="18" charset="0"/>
              </a:rPr>
              <a:t>Bank transfer program parameters: savings account number, checking account number, transfer amount</a:t>
            </a:r>
          </a:p>
          <a:p>
            <a:r>
              <a:rPr lang="en-US" sz="2000" dirty="0">
                <a:latin typeface="Times New Roman" pitchFamily="18" charset="0"/>
                <a:ea typeface="Tahoma" pitchFamily="34" charset="0"/>
                <a:cs typeface="Times New Roman" pitchFamily="18" charset="0"/>
              </a:rPr>
              <a:t>A transaction (set of operations) may be:</a:t>
            </a:r>
          </a:p>
          <a:p>
            <a:pPr lvl="1"/>
            <a:r>
              <a:rPr lang="en-US" sz="2000" dirty="0">
                <a:latin typeface="Times New Roman" pitchFamily="18" charset="0"/>
                <a:ea typeface="Tahoma" pitchFamily="34" charset="0"/>
                <a:cs typeface="Times New Roman" pitchFamily="18" charset="0"/>
              </a:rPr>
              <a:t>stand-alone, specified in a high level language like SQL submitted interactively, or </a:t>
            </a:r>
          </a:p>
          <a:p>
            <a:pPr lvl="1"/>
            <a:r>
              <a:rPr lang="en-US" sz="2000" dirty="0">
                <a:latin typeface="Times New Roman" pitchFamily="18" charset="0"/>
                <a:ea typeface="Tahoma" pitchFamily="34" charset="0"/>
                <a:cs typeface="Times New Roman" pitchFamily="18" charset="0"/>
              </a:rPr>
              <a:t>consist of database operations embedded within a program (most transactions</a:t>
            </a:r>
            <a:r>
              <a:rPr lang="en-US" sz="1800" dirty="0">
                <a:latin typeface="Times New Roman" pitchFamily="18" charset="0"/>
                <a:ea typeface="Tahoma" pitchFamily="34" charset="0"/>
                <a:cs typeface="Times New Roman" pitchFamily="18" charset="0"/>
              </a:rPr>
              <a:t>)</a:t>
            </a:r>
          </a:p>
          <a:p>
            <a:r>
              <a:rPr lang="en-US" sz="2000" dirty="0">
                <a:latin typeface="Times New Roman" pitchFamily="18" charset="0"/>
                <a:ea typeface="Tahoma" pitchFamily="34" charset="0"/>
                <a:cs typeface="Times New Roman" pitchFamily="18" charset="0"/>
              </a:rPr>
              <a:t>Transaction boundaries: Begin and End transaction.</a:t>
            </a:r>
          </a:p>
          <a:p>
            <a:r>
              <a:rPr lang="en-US" sz="2000" dirty="0">
                <a:latin typeface="Times New Roman" pitchFamily="18" charset="0"/>
                <a:ea typeface="Tahoma" pitchFamily="34" charset="0"/>
                <a:cs typeface="Times New Roman" pitchFamily="18" charset="0"/>
              </a:rPr>
              <a:t>Note: An application program may contain several transactions separated by Begin and End transaction boundaries</a:t>
            </a:r>
          </a:p>
          <a:p>
            <a:endParaRPr lang="en-US" sz="2000" dirty="0">
              <a:latin typeface="Times New Roman" pitchFamily="18" charset="0"/>
              <a:ea typeface="Tahoma" pitchFamily="34" charset="0"/>
              <a:cs typeface="Times New Roman" pitchFamily="18" charset="0"/>
            </a:endParaRPr>
          </a:p>
        </p:txBody>
      </p:sp>
    </p:spTree>
    <p:extLst>
      <p:ext uri="{BB962C8B-B14F-4D97-AF65-F5344CB8AC3E}">
        <p14:creationId xmlns:p14="http://schemas.microsoft.com/office/powerpoint/2010/main" val="22776859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260648"/>
            <a:ext cx="7772400" cy="5759152"/>
          </a:xfrm>
        </p:spPr>
        <p:txBody>
          <a:bodyPr/>
          <a:lstStyle/>
          <a:p>
            <a:pPr marL="331788" indent="-331788" algn="just">
              <a:spcBef>
                <a:spcPts val="7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200" b="1" dirty="0">
                <a:latin typeface="Times New Roman" pitchFamily="18" charset="0"/>
                <a:cs typeface="Times New Roman" pitchFamily="18" charset="0"/>
              </a:rPr>
              <a:t>Transaction Processing Systems:</a:t>
            </a:r>
            <a:r>
              <a:rPr lang="en-US" sz="2200" dirty="0">
                <a:latin typeface="Times New Roman" pitchFamily="18" charset="0"/>
                <a:cs typeface="Times New Roman" pitchFamily="18" charset="0"/>
              </a:rPr>
              <a:t> Large multi-user database systems supporting thousands of </a:t>
            </a:r>
            <a:r>
              <a:rPr lang="en-US" sz="2200" i="1" dirty="0">
                <a:latin typeface="Times New Roman" pitchFamily="18" charset="0"/>
                <a:cs typeface="Times New Roman" pitchFamily="18" charset="0"/>
              </a:rPr>
              <a:t>concurrent transactions</a:t>
            </a:r>
            <a:r>
              <a:rPr lang="en-US" sz="2200" dirty="0">
                <a:latin typeface="Times New Roman" pitchFamily="18" charset="0"/>
                <a:cs typeface="Times New Roman" pitchFamily="18" charset="0"/>
              </a:rPr>
              <a:t> (user processes) per minute</a:t>
            </a:r>
          </a:p>
          <a:p>
            <a:pPr marL="331788" indent="-331788" algn="just">
              <a:spcBef>
                <a:spcPts val="7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200" b="1" dirty="0">
                <a:latin typeface="Times New Roman" pitchFamily="18" charset="0"/>
                <a:cs typeface="Times New Roman" pitchFamily="18" charset="0"/>
              </a:rPr>
              <a:t>Two Modes of Concurrency</a:t>
            </a:r>
          </a:p>
          <a:p>
            <a:pPr marL="731838" lvl="1" indent="-274638" algn="just">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200" b="1" dirty="0">
                <a:latin typeface="Times New Roman" pitchFamily="18" charset="0"/>
                <a:cs typeface="Times New Roman" pitchFamily="18" charset="0"/>
              </a:rPr>
              <a:t>Interleaved processing</a:t>
            </a:r>
            <a:r>
              <a:rPr lang="en-US" sz="2200" dirty="0">
                <a:latin typeface="Times New Roman" pitchFamily="18" charset="0"/>
                <a:cs typeface="Times New Roman" pitchFamily="18" charset="0"/>
              </a:rPr>
              <a:t>: concurrent execution of processes is interleaved in a single CPU</a:t>
            </a:r>
          </a:p>
          <a:p>
            <a:pPr marL="731838" lvl="1" indent="-274638" algn="just">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200" b="1" dirty="0">
                <a:latin typeface="Times New Roman" pitchFamily="18" charset="0"/>
                <a:cs typeface="Times New Roman" pitchFamily="18" charset="0"/>
              </a:rPr>
              <a:t>Parallel processing</a:t>
            </a:r>
            <a:r>
              <a:rPr lang="en-US" sz="2200" dirty="0">
                <a:latin typeface="Times New Roman" pitchFamily="18" charset="0"/>
                <a:cs typeface="Times New Roman" pitchFamily="18" charset="0"/>
              </a:rPr>
              <a:t>: processes are concurrently executed in multiple </a:t>
            </a:r>
            <a:r>
              <a:rPr lang="en-US" sz="2200" dirty="0" smtClean="0">
                <a:latin typeface="Times New Roman" pitchFamily="18" charset="0"/>
                <a:cs typeface="Times New Roman" pitchFamily="18" charset="0"/>
              </a:rPr>
              <a:t>CPUs</a:t>
            </a:r>
            <a:endParaRPr lang="en-US" sz="2200" dirty="0">
              <a:latin typeface="Times New Roman" pitchFamily="18" charset="0"/>
              <a:cs typeface="Times New Roman" pitchFamily="18" charset="0"/>
            </a:endParaRPr>
          </a:p>
          <a:p>
            <a:pPr marL="731838" lvl="1" indent="-274638" algn="just">
              <a:spcBef>
                <a:spcPts val="600"/>
              </a:spcBef>
              <a:buFont typeface="Arial" charset="0"/>
              <a:buChar char="–"/>
              <a:tabLst>
                <a:tab pos="331788" algn="l"/>
                <a:tab pos="444500" algn="l"/>
                <a:tab pos="901700" algn="l"/>
                <a:tab pos="1358900" algn="l"/>
                <a:tab pos="1816100" algn="l"/>
                <a:tab pos="2273300" algn="l"/>
                <a:tab pos="2730500" algn="l"/>
                <a:tab pos="3187700" algn="l"/>
                <a:tab pos="3644900" algn="l"/>
                <a:tab pos="4102100" algn="l"/>
                <a:tab pos="4559300" algn="l"/>
                <a:tab pos="5016500" algn="l"/>
                <a:tab pos="5473700" algn="l"/>
                <a:tab pos="5930900" algn="l"/>
                <a:tab pos="6388100" algn="l"/>
                <a:tab pos="6845300" algn="l"/>
                <a:tab pos="7302500" algn="l"/>
                <a:tab pos="7759700" algn="l"/>
                <a:tab pos="8216900" algn="l"/>
                <a:tab pos="8674100" algn="l"/>
                <a:tab pos="9131300" algn="l"/>
              </a:tabLst>
            </a:pPr>
            <a:r>
              <a:rPr lang="en-US" sz="2200" dirty="0">
                <a:latin typeface="Times New Roman" pitchFamily="18" charset="0"/>
                <a:cs typeface="Times New Roman" pitchFamily="18" charset="0"/>
              </a:rPr>
              <a:t>Basic transaction processing theory assumes interleaved concurrency </a:t>
            </a:r>
          </a:p>
          <a:p>
            <a:endParaRPr lang="en-US" dirty="0"/>
          </a:p>
        </p:txBody>
      </p:sp>
      <p:pic>
        <p:nvPicPr>
          <p:cNvPr id="4" name="Picture 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21733"/>
          <a:stretch/>
        </p:blipFill>
        <p:spPr bwMode="auto">
          <a:xfrm>
            <a:off x="251520" y="4005064"/>
            <a:ext cx="8640959" cy="27273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915226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Transaction	</a:t>
            </a:r>
            <a:endParaRPr lang="en-IN" dirty="0"/>
          </a:p>
        </p:txBody>
      </p:sp>
      <p:sp>
        <p:nvSpPr>
          <p:cNvPr id="3" name="Content Placeholder 2"/>
          <p:cNvSpPr>
            <a:spLocks noGrp="1"/>
          </p:cNvSpPr>
          <p:nvPr>
            <p:ph sz="quarter" idx="1"/>
          </p:nvPr>
        </p:nvSpPr>
        <p:spPr/>
        <p:txBody>
          <a:bodyPr>
            <a:normAutofit/>
          </a:bodyPr>
          <a:lstStyle/>
          <a:p>
            <a:r>
              <a:rPr lang="en-US" sz="2800" dirty="0" smtClean="0">
                <a:latin typeface="Times New Roman" pitchFamily="18" charset="0"/>
                <a:cs typeface="Times New Roman" pitchFamily="18" charset="0"/>
              </a:rPr>
              <a:t>Debit Transaction</a:t>
            </a:r>
          </a:p>
          <a:p>
            <a:pPr lvl="1"/>
            <a:r>
              <a:rPr lang="en-US" sz="2800" dirty="0" smtClean="0">
                <a:latin typeface="Times New Roman" pitchFamily="18" charset="0"/>
                <a:cs typeface="Times New Roman" pitchFamily="18" charset="0"/>
              </a:rPr>
              <a:t>Debit (</a:t>
            </a:r>
            <a:r>
              <a:rPr lang="en-US" sz="2800" dirty="0" err="1" smtClean="0">
                <a:latin typeface="Times New Roman" pitchFamily="18" charset="0"/>
                <a:cs typeface="Times New Roman" pitchFamily="18" charset="0"/>
              </a:rPr>
              <a:t>Account_number</a:t>
            </a:r>
            <a:r>
              <a:rPr lang="en-US" sz="2800" dirty="0" smtClean="0">
                <a:latin typeface="Times New Roman" pitchFamily="18" charset="0"/>
                <a:cs typeface="Times New Roman" pitchFamily="18" charset="0"/>
              </a:rPr>
              <a:t>, balance)</a:t>
            </a:r>
          </a:p>
          <a:p>
            <a:pPr lvl="1"/>
            <a:r>
              <a:rPr lang="en-US" sz="2800" b="1" dirty="0" smtClean="0">
                <a:latin typeface="Times New Roman" pitchFamily="18" charset="0"/>
                <a:cs typeface="Times New Roman" pitchFamily="18" charset="0"/>
              </a:rPr>
              <a:t>Begin Transaction</a:t>
            </a:r>
          </a:p>
          <a:p>
            <a:pPr lvl="1"/>
            <a:r>
              <a:rPr lang="en-US" sz="2800" dirty="0" smtClean="0">
                <a:latin typeface="Times New Roman" pitchFamily="18" charset="0"/>
                <a:cs typeface="Times New Roman" pitchFamily="18" charset="0"/>
              </a:rPr>
              <a:t>Read (</a:t>
            </a:r>
            <a:r>
              <a:rPr lang="en-US" sz="2800" dirty="0" err="1">
                <a:latin typeface="Times New Roman" pitchFamily="18" charset="0"/>
                <a:cs typeface="Times New Roman" pitchFamily="18" charset="0"/>
              </a:rPr>
              <a:t>A</a:t>
            </a:r>
            <a:r>
              <a:rPr lang="en-US" sz="2800" dirty="0" err="1" smtClean="0">
                <a:latin typeface="Times New Roman" pitchFamily="18" charset="0"/>
                <a:cs typeface="Times New Roman" pitchFamily="18" charset="0"/>
              </a:rPr>
              <a:t>ccount_number</a:t>
            </a:r>
            <a:r>
              <a:rPr lang="en-US" sz="2800" dirty="0" smtClean="0">
                <a:latin typeface="Times New Roman" pitchFamily="18" charset="0"/>
                <a:cs typeface="Times New Roman" pitchFamily="18" charset="0"/>
              </a:rPr>
              <a:t>, balance)</a:t>
            </a:r>
          </a:p>
          <a:p>
            <a:pPr lvl="1"/>
            <a:r>
              <a:rPr lang="en-US" sz="2800" dirty="0" smtClean="0">
                <a:latin typeface="Times New Roman" pitchFamily="18" charset="0"/>
                <a:cs typeface="Times New Roman" pitchFamily="18" charset="0"/>
              </a:rPr>
              <a:t>Balance =Balance-</a:t>
            </a:r>
            <a:r>
              <a:rPr lang="en-US" sz="2800" dirty="0" err="1" smtClean="0">
                <a:latin typeface="Times New Roman" pitchFamily="18" charset="0"/>
                <a:cs typeface="Times New Roman" pitchFamily="18" charset="0"/>
              </a:rPr>
              <a:t>Withdrawal_amount</a:t>
            </a:r>
            <a:endParaRPr lang="en-US" sz="2800" dirty="0" smtClean="0">
              <a:latin typeface="Times New Roman" pitchFamily="18" charset="0"/>
              <a:cs typeface="Times New Roman" pitchFamily="18" charset="0"/>
            </a:endParaRPr>
          </a:p>
          <a:p>
            <a:pPr lvl="1"/>
            <a:r>
              <a:rPr lang="en-US" sz="2800" dirty="0" smtClean="0">
                <a:latin typeface="Times New Roman" pitchFamily="18" charset="0"/>
                <a:cs typeface="Times New Roman" pitchFamily="18" charset="0"/>
              </a:rPr>
              <a:t>Write (</a:t>
            </a:r>
            <a:r>
              <a:rPr lang="en-US" sz="2800" dirty="0" err="1" smtClean="0">
                <a:latin typeface="Times New Roman" pitchFamily="18" charset="0"/>
                <a:cs typeface="Times New Roman" pitchFamily="18" charset="0"/>
              </a:rPr>
              <a:t>Account_number</a:t>
            </a:r>
            <a:r>
              <a:rPr lang="en-US" sz="2800" dirty="0" smtClean="0">
                <a:latin typeface="Times New Roman" pitchFamily="18" charset="0"/>
                <a:cs typeface="Times New Roman" pitchFamily="18" charset="0"/>
              </a:rPr>
              <a:t>, Balance)</a:t>
            </a:r>
          </a:p>
          <a:p>
            <a:pPr lvl="1"/>
            <a:r>
              <a:rPr lang="en-US" sz="2800" b="1" dirty="0" smtClean="0">
                <a:latin typeface="Times New Roman" pitchFamily="18" charset="0"/>
                <a:cs typeface="Times New Roman" pitchFamily="18" charset="0"/>
              </a:rPr>
              <a:t>End Transaction</a:t>
            </a:r>
            <a:endParaRPr lang="en-IN"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42341299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sz="quarter" idx="1"/>
          </p:nvPr>
        </p:nvSpPr>
        <p:spPr/>
        <p:txBody>
          <a:bodyPr/>
          <a:lstStyle/>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04460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3980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DBMS Transaction State Diagram</a:t>
            </a:r>
            <a:endParaRPr lang="en-IN" dirty="0"/>
          </a:p>
        </p:txBody>
      </p:sp>
      <p:sp>
        <p:nvSpPr>
          <p:cNvPr id="3" name="Content Placeholder 2"/>
          <p:cNvSpPr>
            <a:spLocks noGrp="1"/>
          </p:cNvSpPr>
          <p:nvPr>
            <p:ph sz="quarter" idx="1"/>
          </p:nvPr>
        </p:nvSpPr>
        <p:spPr/>
        <p:txBody>
          <a:bodyPr/>
          <a:lstStyle/>
          <a:p>
            <a:endParaRPr lang="en-IN"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056" y="1412776"/>
            <a:ext cx="8388424" cy="4896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76033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10000"/>
          </a:bodyPr>
          <a:lstStyle/>
          <a:p>
            <a:pPr algn="just"/>
            <a:r>
              <a:rPr lang="en-US" b="1" dirty="0" smtClean="0">
                <a:latin typeface="Times New Roman" pitchFamily="18" charset="0"/>
                <a:cs typeface="Times New Roman" pitchFamily="18" charset="0"/>
              </a:rPr>
              <a:t>BEGIN_TRANSACTION: T</a:t>
            </a:r>
            <a:r>
              <a:rPr lang="en-US" dirty="0" smtClean="0">
                <a:latin typeface="Times New Roman" pitchFamily="18" charset="0"/>
                <a:cs typeface="Times New Roman" pitchFamily="18" charset="0"/>
              </a:rPr>
              <a:t>his </a:t>
            </a:r>
            <a:r>
              <a:rPr lang="en-US" dirty="0">
                <a:latin typeface="Times New Roman" pitchFamily="18" charset="0"/>
                <a:cs typeface="Times New Roman" pitchFamily="18" charset="0"/>
              </a:rPr>
              <a:t>marks the beginning of transaction execution.</a:t>
            </a:r>
          </a:p>
          <a:p>
            <a:pPr algn="just"/>
            <a:r>
              <a:rPr lang="en-US" b="1" dirty="0">
                <a:latin typeface="Times New Roman" pitchFamily="18" charset="0"/>
                <a:cs typeface="Times New Roman" pitchFamily="18" charset="0"/>
              </a:rPr>
              <a:t>Active </a:t>
            </a:r>
            <a:r>
              <a:rPr lang="en-US" b="1" dirty="0" smtClean="0">
                <a:latin typeface="Times New Roman" pitchFamily="18" charset="0"/>
                <a:cs typeface="Times New Roman" pitchFamily="18" charset="0"/>
              </a:rPr>
              <a:t>State: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A transaction enters into an active state when the execution process begins. During this state read or write operations can be performed. .</a:t>
            </a:r>
          </a:p>
          <a:p>
            <a:pPr algn="just"/>
            <a:r>
              <a:rPr lang="en-US" b="1" dirty="0" smtClean="0">
                <a:latin typeface="Times New Roman" pitchFamily="18" charset="0"/>
                <a:cs typeface="Times New Roman" pitchFamily="18" charset="0"/>
              </a:rPr>
              <a:t>END_TRANSACTION: </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This specifies that READ and WRITE transaction operations have ended and marks the end of transaction execution. However, </a:t>
            </a:r>
            <a:r>
              <a:rPr lang="en-US" dirty="0" smtClean="0">
                <a:latin typeface="Times New Roman" pitchFamily="18" charset="0"/>
                <a:cs typeface="Times New Roman" pitchFamily="18" charset="0"/>
              </a:rPr>
              <a:t>at this </a:t>
            </a:r>
            <a:r>
              <a:rPr lang="en-US" dirty="0">
                <a:latin typeface="Times New Roman" pitchFamily="18" charset="0"/>
                <a:cs typeface="Times New Roman" pitchFamily="18" charset="0"/>
              </a:rPr>
              <a:t>point it may be necessary to check whether the changes introduced by the transaction can be permanently applied to the database (committed) </a:t>
            </a:r>
            <a:r>
              <a:rPr lang="en-US" dirty="0" smtClean="0">
                <a:latin typeface="Times New Roman" pitchFamily="18" charset="0"/>
                <a:cs typeface="Times New Roman" pitchFamily="18" charset="0"/>
              </a:rPr>
              <a:t>or whether </a:t>
            </a:r>
            <a:r>
              <a:rPr lang="en-US" dirty="0">
                <a:latin typeface="Times New Roman" pitchFamily="18" charset="0"/>
                <a:cs typeface="Times New Roman" pitchFamily="18" charset="0"/>
              </a:rPr>
              <a:t>the transaction has to be aborted because it violates </a:t>
            </a:r>
            <a:r>
              <a:rPr lang="en-US" dirty="0" err="1" smtClean="0">
                <a:latin typeface="Times New Roman" pitchFamily="18" charset="0"/>
                <a:cs typeface="Times New Roman" pitchFamily="18" charset="0"/>
              </a:rPr>
              <a:t>serializability</a:t>
            </a:r>
            <a:r>
              <a:rPr lang="en-US" dirty="0" smtClean="0">
                <a:latin typeface="Times New Roman" pitchFamily="18" charset="0"/>
                <a:cs typeface="Times New Roman" pitchFamily="18" charset="0"/>
              </a:rPr>
              <a:t> or </a:t>
            </a:r>
            <a:r>
              <a:rPr lang="en-US" dirty="0">
                <a:latin typeface="Times New Roman" pitchFamily="18" charset="0"/>
                <a:cs typeface="Times New Roman" pitchFamily="18" charset="0"/>
              </a:rPr>
              <a:t>for some other reason.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587126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Autofit/>
          </a:bodyPr>
          <a:lstStyle/>
          <a:p>
            <a:pPr algn="just"/>
            <a:r>
              <a:rPr lang="en-US" sz="2400" b="1" dirty="0">
                <a:latin typeface="Times New Roman" pitchFamily="18" charset="0"/>
                <a:cs typeface="Times New Roman" pitchFamily="18" charset="0"/>
              </a:rPr>
              <a:t>ROLLBACK (or ABORT</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This signals that the transaction has ended unsuccessfully, so that any changes or effects that the transaction may have </a:t>
            </a:r>
            <a:r>
              <a:rPr lang="en-US" sz="2400" dirty="0" smtClean="0">
                <a:latin typeface="Times New Roman" pitchFamily="18" charset="0"/>
                <a:cs typeface="Times New Roman" pitchFamily="18" charset="0"/>
              </a:rPr>
              <a:t>applied to </a:t>
            </a:r>
            <a:r>
              <a:rPr lang="en-US" sz="2400" dirty="0">
                <a:latin typeface="Times New Roman" pitchFamily="18" charset="0"/>
                <a:cs typeface="Times New Roman" pitchFamily="18" charset="0"/>
              </a:rPr>
              <a:t>the database must be undone</a:t>
            </a:r>
            <a:r>
              <a:rPr lang="en-US" sz="2400" dirty="0" smtClean="0">
                <a:latin typeface="Times New Roman" pitchFamily="18" charset="0"/>
                <a:cs typeface="Times New Roman" pitchFamily="18" charset="0"/>
              </a:rPr>
              <a:t>.</a:t>
            </a:r>
          </a:p>
          <a:p>
            <a:pPr algn="just"/>
            <a:r>
              <a:rPr lang="en-US" sz="2400" b="1" dirty="0">
                <a:latin typeface="Times New Roman" pitchFamily="18" charset="0"/>
                <a:cs typeface="Times New Roman" pitchFamily="18" charset="0"/>
              </a:rPr>
              <a:t>Partially </a:t>
            </a:r>
            <a:r>
              <a:rPr lang="en-US" sz="2400" b="1" dirty="0" smtClean="0">
                <a:latin typeface="Times New Roman" pitchFamily="18" charset="0"/>
                <a:cs typeface="Times New Roman" pitchFamily="18" charset="0"/>
              </a:rPr>
              <a:t>Committed</a:t>
            </a:r>
            <a:r>
              <a:rPr lang="en-US" sz="2400" dirty="0" smtClean="0">
                <a:latin typeface="Times New Roman" pitchFamily="18" charset="0"/>
                <a:cs typeface="Times New Roman" pitchFamily="18" charset="0"/>
              </a:rPr>
              <a:t>: A </a:t>
            </a:r>
            <a:r>
              <a:rPr lang="en-US" sz="2400" dirty="0">
                <a:latin typeface="Times New Roman" pitchFamily="18" charset="0"/>
                <a:cs typeface="Times New Roman" pitchFamily="18" charset="0"/>
              </a:rPr>
              <a:t>transaction goes into the partially committed state after the end of a transaction. </a:t>
            </a:r>
            <a:endParaRPr lang="en-US" sz="2400" dirty="0" smtClean="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Committed </a:t>
            </a:r>
            <a:r>
              <a:rPr lang="en-US" sz="2400" b="1" dirty="0" smtClean="0">
                <a:latin typeface="Times New Roman" pitchFamily="18" charset="0"/>
                <a:cs typeface="Times New Roman" pitchFamily="18" charset="0"/>
              </a:rPr>
              <a:t>State</a:t>
            </a:r>
            <a:r>
              <a:rPr lang="en-US" sz="2400" dirty="0" smtClean="0">
                <a:latin typeface="Times New Roman" pitchFamily="18" charset="0"/>
                <a:cs typeface="Times New Roman" pitchFamily="18" charset="0"/>
              </a:rPr>
              <a:t>: When </a:t>
            </a:r>
            <a:r>
              <a:rPr lang="en-US" sz="2400" dirty="0">
                <a:latin typeface="Times New Roman" pitchFamily="18" charset="0"/>
                <a:cs typeface="Times New Roman" pitchFamily="18" charset="0"/>
              </a:rPr>
              <a:t>the transaction is committed to state, it has already completed its execution successfully. Moreover, all of its changes are recorded to the database permanently. </a:t>
            </a:r>
            <a:endParaRPr lang="en-US" sz="2400" dirty="0" smtClean="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Failed </a:t>
            </a:r>
            <a:r>
              <a:rPr lang="en-US" sz="2400" b="1" dirty="0" smtClean="0">
                <a:latin typeface="Times New Roman" pitchFamily="18" charset="0"/>
                <a:cs typeface="Times New Roman" pitchFamily="18" charset="0"/>
              </a:rPr>
              <a:t>State: </a:t>
            </a: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transaction considers failed when any one of the checks fails or if the transaction is aborted while it is in the active state. </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6817987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algn="just"/>
            <a:r>
              <a:rPr lang="en-US" sz="2400" b="1" dirty="0">
                <a:latin typeface="Times New Roman" pitchFamily="18" charset="0"/>
                <a:cs typeface="Times New Roman" pitchFamily="18" charset="0"/>
              </a:rPr>
              <a:t>Terminated </a:t>
            </a:r>
            <a:r>
              <a:rPr lang="en-US" sz="2400" b="1" dirty="0" smtClean="0">
                <a:latin typeface="Times New Roman" pitchFamily="18" charset="0"/>
                <a:cs typeface="Times New Roman" pitchFamily="18" charset="0"/>
              </a:rPr>
              <a:t>State: </a:t>
            </a:r>
            <a:r>
              <a:rPr lang="en-US" sz="2400" dirty="0">
                <a:latin typeface="Times New Roman" pitchFamily="18" charset="0"/>
                <a:cs typeface="Times New Roman" pitchFamily="18" charset="0"/>
              </a:rPr>
              <a:t>	State of transaction reaches terminated state when certain transactions which are leaving the system can't be restarted. </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9969381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normAutofit/>
          </a:bodyPr>
          <a:lstStyle/>
          <a:p>
            <a:r>
              <a:rPr lang="en-IN" b="1" dirty="0"/>
              <a:t>ACID </a:t>
            </a:r>
            <a:r>
              <a:rPr lang="en-IN" b="1" dirty="0" smtClean="0"/>
              <a:t>Properties</a:t>
            </a:r>
            <a:endParaRPr lang="en-IN" dirty="0"/>
          </a:p>
        </p:txBody>
      </p:sp>
      <p:sp>
        <p:nvSpPr>
          <p:cNvPr id="3" name="Content Placeholder 2"/>
          <p:cNvSpPr>
            <a:spLocks noGrp="1"/>
          </p:cNvSpPr>
          <p:nvPr>
            <p:ph sz="quarter" idx="1"/>
          </p:nvPr>
        </p:nvSpPr>
        <p:spPr>
          <a:xfrm>
            <a:off x="914400" y="1124744"/>
            <a:ext cx="7772400" cy="4895056"/>
          </a:xfrm>
        </p:spPr>
        <p:txBody>
          <a:bodyPr>
            <a:noAutofit/>
          </a:bodyPr>
          <a:lstStyle/>
          <a:p>
            <a:pPr algn="just"/>
            <a:r>
              <a:rPr lang="en-US" sz="2400" b="1" dirty="0" smtClean="0">
                <a:latin typeface="Times New Roman" pitchFamily="18" charset="0"/>
                <a:cs typeface="Times New Roman" pitchFamily="18" charset="0"/>
              </a:rPr>
              <a:t>Atomicity</a:t>
            </a:r>
            <a:r>
              <a:rPr lang="en-US" sz="2400" dirty="0">
                <a:latin typeface="Times New Roman" pitchFamily="18" charset="0"/>
                <a:cs typeface="Times New Roman" pitchFamily="18" charset="0"/>
              </a:rPr>
              <a:t>: A transaction is a single unit of operation. You either execute it entirely or do not execute it at all. There cannot be partial execution.</a:t>
            </a:r>
          </a:p>
          <a:p>
            <a:pPr algn="just"/>
            <a:r>
              <a:rPr lang="en-US" sz="2400" b="1" dirty="0" smtClean="0">
                <a:latin typeface="Times New Roman" pitchFamily="18" charset="0"/>
                <a:cs typeface="Times New Roman" pitchFamily="18" charset="0"/>
              </a:rPr>
              <a:t>Consistency</a:t>
            </a:r>
            <a:r>
              <a:rPr lang="en-US" sz="2400" dirty="0">
                <a:latin typeface="Times New Roman" pitchFamily="18" charset="0"/>
                <a:cs typeface="Times New Roman" pitchFamily="18" charset="0"/>
              </a:rPr>
              <a:t>: Once the transaction is executed, it should move from one consistent state to another.</a:t>
            </a:r>
          </a:p>
          <a:p>
            <a:pPr algn="just"/>
            <a:r>
              <a:rPr lang="en-US" sz="2400" b="1" dirty="0" smtClean="0">
                <a:latin typeface="Times New Roman" pitchFamily="18" charset="0"/>
                <a:cs typeface="Times New Roman" pitchFamily="18" charset="0"/>
              </a:rPr>
              <a:t>Isolation</a:t>
            </a:r>
            <a:r>
              <a:rPr lang="en-US" sz="2400" dirty="0">
                <a:latin typeface="Times New Roman" pitchFamily="18" charset="0"/>
                <a:cs typeface="Times New Roman" pitchFamily="18" charset="0"/>
              </a:rPr>
              <a:t>: In a database system where more than one transaction are being executed simultaneously and in parallel, the property of isolation states that all the transactions will be carried out and executed as if it is the only transaction in the system. No transaction will affect the existence of any other transaction..</a:t>
            </a:r>
          </a:p>
          <a:p>
            <a:pPr algn="just"/>
            <a:r>
              <a:rPr lang="en-US" sz="2400" b="1" dirty="0" smtClean="0">
                <a:latin typeface="Times New Roman" pitchFamily="18" charset="0"/>
                <a:cs typeface="Times New Roman" pitchFamily="18" charset="0"/>
              </a:rPr>
              <a:t>Durability</a:t>
            </a:r>
            <a:r>
              <a:rPr lang="en-US" sz="2400" dirty="0">
                <a:latin typeface="Times New Roman" pitchFamily="18" charset="0"/>
                <a:cs typeface="Times New Roman" pitchFamily="18" charset="0"/>
              </a:rPr>
              <a:t>:	· After successful completion of a transaction, the changes in the database should persist. Even in the case of system failures.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5048733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ACID 	</a:t>
            </a:r>
            <a:endParaRPr lang="en-IN" dirty="0"/>
          </a:p>
        </p:txBody>
      </p:sp>
      <p:sp>
        <p:nvSpPr>
          <p:cNvPr id="3" name="Content Placeholder 2"/>
          <p:cNvSpPr>
            <a:spLocks noGrp="1"/>
          </p:cNvSpPr>
          <p:nvPr>
            <p:ph sz="quarter" idx="1"/>
          </p:nvPr>
        </p:nvSpPr>
        <p:spPr/>
        <p:txBody>
          <a:bodyPr/>
          <a:lstStyle/>
          <a:p>
            <a:r>
              <a:rPr lang="en-US" dirty="0"/>
              <a:t>Transaction 1: Begin X=X+50, Y = Y-50 END</a:t>
            </a:r>
          </a:p>
          <a:p>
            <a:r>
              <a:rPr lang="en-US" dirty="0"/>
              <a:t>Transaction 2: Begin X=1.1*X, Y=1.1*Y </a:t>
            </a:r>
            <a:r>
              <a:rPr lang="en-US" dirty="0" smtClean="0"/>
              <a:t>END</a:t>
            </a:r>
          </a:p>
          <a:p>
            <a:endParaRPr lang="en-US" dirty="0"/>
          </a:p>
          <a:p>
            <a:r>
              <a:rPr lang="en-US" dirty="0">
                <a:latin typeface="Times New Roman" pitchFamily="18" charset="0"/>
                <a:cs typeface="Times New Roman" pitchFamily="18" charset="0"/>
              </a:rPr>
              <a:t>Transaction 1 is transferring </a:t>
            </a:r>
            <a:r>
              <a:rPr lang="en-US" dirty="0" err="1" smtClean="0">
                <a:latin typeface="Times New Roman" pitchFamily="18" charset="0"/>
                <a:cs typeface="Times New Roman" pitchFamily="18" charset="0"/>
              </a:rPr>
              <a:t>Rs</a:t>
            </a:r>
            <a:r>
              <a:rPr lang="en-US" dirty="0" smtClean="0">
                <a:latin typeface="Times New Roman" pitchFamily="18" charset="0"/>
                <a:cs typeface="Times New Roman" pitchFamily="18" charset="0"/>
              </a:rPr>
              <a:t>. 50 </a:t>
            </a:r>
            <a:r>
              <a:rPr lang="en-US" dirty="0">
                <a:latin typeface="Times New Roman" pitchFamily="18" charset="0"/>
                <a:cs typeface="Times New Roman" pitchFamily="18" charset="0"/>
              </a:rPr>
              <a:t>from account X to account Y. </a:t>
            </a:r>
          </a:p>
          <a:p>
            <a:r>
              <a:rPr lang="en-US" dirty="0">
                <a:latin typeface="Times New Roman" pitchFamily="18" charset="0"/>
                <a:cs typeface="Times New Roman" pitchFamily="18" charset="0"/>
              </a:rPr>
              <a:t>Transaction 2 is crediting each account with a 10% interest payment. </a:t>
            </a:r>
            <a:endParaRPr lang="en-US" dirty="0" smtClean="0">
              <a:latin typeface="Times New Roman" pitchFamily="18" charset="0"/>
              <a:cs typeface="Times New Roman" pitchFamily="18" charset="0"/>
            </a:endParaRPr>
          </a:p>
          <a:p>
            <a:r>
              <a:rPr lang="en-US" dirty="0">
                <a:latin typeface="Times New Roman" pitchFamily="18" charset="0"/>
                <a:cs typeface="Times New Roman" pitchFamily="18" charset="0"/>
              </a:rPr>
              <a:t>If both transactions are submitted together, there is no guarantee that the Transaction 1 will execute before Transaction 2 or vice versa.</a:t>
            </a:r>
          </a:p>
          <a:p>
            <a:endParaRPr lang="en-IN" dirty="0"/>
          </a:p>
        </p:txBody>
      </p:sp>
    </p:spTree>
    <p:extLst>
      <p:ext uri="{BB962C8B-B14F-4D97-AF65-F5344CB8AC3E}">
        <p14:creationId xmlns:p14="http://schemas.microsoft.com/office/powerpoint/2010/main" val="4667658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dirty="0">
                <a:solidFill>
                  <a:srgbClr val="000000"/>
                </a:solidFill>
                <a:latin typeface="Times New Roman" pitchFamily="18" charset="0"/>
                <a:cs typeface="Times New Roman" pitchFamily="18" charset="0"/>
              </a:rPr>
              <a:t>Example of transaction</a:t>
            </a:r>
          </a:p>
        </p:txBody>
      </p:sp>
      <p:sp>
        <p:nvSpPr>
          <p:cNvPr id="17411" name="Rectangle 3"/>
          <p:cNvSpPr>
            <a:spLocks noGrp="1" noChangeArrowheads="1"/>
          </p:cNvSpPr>
          <p:nvPr>
            <p:ph sz="quarter" idx="1"/>
          </p:nvPr>
        </p:nvSpPr>
        <p:spPr/>
        <p:txBody>
          <a:bodyPr/>
          <a:lstStyle/>
          <a:p>
            <a:r>
              <a:rPr lang="en-GB" sz="2400" dirty="0">
                <a:solidFill>
                  <a:srgbClr val="000000"/>
                </a:solidFill>
                <a:latin typeface="Times New Roman" pitchFamily="18" charset="0"/>
                <a:cs typeface="Times New Roman" pitchFamily="18" charset="0"/>
              </a:rPr>
              <a:t>Transfer </a:t>
            </a:r>
            <a:r>
              <a:rPr lang="en-GB" sz="2400" dirty="0" smtClean="0">
                <a:solidFill>
                  <a:srgbClr val="000000"/>
                </a:solidFill>
                <a:latin typeface="Times New Roman" pitchFamily="18" charset="0"/>
                <a:cs typeface="Times New Roman" pitchFamily="18" charset="0"/>
              </a:rPr>
              <a:t>50 </a:t>
            </a:r>
            <a:r>
              <a:rPr lang="en-GB" sz="2400" dirty="0">
                <a:solidFill>
                  <a:srgbClr val="000000"/>
                </a:solidFill>
                <a:latin typeface="Times New Roman" pitchFamily="18" charset="0"/>
                <a:cs typeface="Times New Roman" pitchFamily="18" charset="0"/>
              </a:rPr>
              <a:t>from account A to account B</a:t>
            </a:r>
          </a:p>
          <a:p>
            <a:pPr lvl="1">
              <a:buFontTx/>
              <a:buNone/>
            </a:pPr>
            <a:endParaRPr lang="en-GB" sz="2000" dirty="0" smtClean="0">
              <a:solidFill>
                <a:srgbClr val="000000"/>
              </a:solidFill>
              <a:latin typeface="Times New Roman" pitchFamily="18" charset="0"/>
              <a:cs typeface="Times New Roman" pitchFamily="18" charset="0"/>
            </a:endParaRPr>
          </a:p>
          <a:p>
            <a:pPr lvl="1">
              <a:buFontTx/>
              <a:buNone/>
            </a:pPr>
            <a:r>
              <a:rPr lang="en-GB" sz="2000" dirty="0" smtClean="0">
                <a:solidFill>
                  <a:srgbClr val="000000"/>
                </a:solidFill>
                <a:latin typeface="Times New Roman" pitchFamily="18" charset="0"/>
                <a:cs typeface="Times New Roman" pitchFamily="18" charset="0"/>
              </a:rPr>
              <a:t>Read(A</a:t>
            </a:r>
            <a:r>
              <a:rPr lang="en-GB" sz="2000" dirty="0">
                <a:solidFill>
                  <a:srgbClr val="000000"/>
                </a:solidFill>
                <a:latin typeface="Times New Roman" pitchFamily="18" charset="0"/>
                <a:cs typeface="Times New Roman" pitchFamily="18" charset="0"/>
              </a:rPr>
              <a:t>)	</a:t>
            </a:r>
          </a:p>
          <a:p>
            <a:pPr lvl="1">
              <a:buFontTx/>
              <a:buNone/>
            </a:pPr>
            <a:r>
              <a:rPr lang="en-GB" sz="2000" dirty="0">
                <a:solidFill>
                  <a:srgbClr val="000000"/>
                </a:solidFill>
                <a:latin typeface="Times New Roman" pitchFamily="18" charset="0"/>
                <a:cs typeface="Times New Roman" pitchFamily="18" charset="0"/>
              </a:rPr>
              <a:t>A = A - 50</a:t>
            </a:r>
          </a:p>
          <a:p>
            <a:pPr lvl="1">
              <a:buFontTx/>
              <a:buNone/>
            </a:pPr>
            <a:r>
              <a:rPr lang="en-GB" sz="2000" dirty="0">
                <a:solidFill>
                  <a:srgbClr val="000000"/>
                </a:solidFill>
                <a:latin typeface="Times New Roman" pitchFamily="18" charset="0"/>
                <a:cs typeface="Times New Roman" pitchFamily="18" charset="0"/>
              </a:rPr>
              <a:t>Write(A)</a:t>
            </a:r>
          </a:p>
          <a:p>
            <a:pPr lvl="1">
              <a:buFontTx/>
              <a:buNone/>
            </a:pPr>
            <a:r>
              <a:rPr lang="en-GB" sz="2000" dirty="0">
                <a:solidFill>
                  <a:srgbClr val="000000"/>
                </a:solidFill>
                <a:latin typeface="Times New Roman" pitchFamily="18" charset="0"/>
                <a:cs typeface="Times New Roman" pitchFamily="18" charset="0"/>
              </a:rPr>
              <a:t>Read(B)</a:t>
            </a:r>
          </a:p>
          <a:p>
            <a:pPr lvl="1">
              <a:buFontTx/>
              <a:buNone/>
            </a:pPr>
            <a:r>
              <a:rPr lang="en-GB" sz="2000" dirty="0">
                <a:solidFill>
                  <a:srgbClr val="000000"/>
                </a:solidFill>
                <a:latin typeface="Times New Roman" pitchFamily="18" charset="0"/>
                <a:cs typeface="Times New Roman" pitchFamily="18" charset="0"/>
              </a:rPr>
              <a:t>B = B+50</a:t>
            </a:r>
          </a:p>
          <a:p>
            <a:pPr lvl="1">
              <a:buFontTx/>
              <a:buNone/>
            </a:pPr>
            <a:r>
              <a:rPr lang="en-GB" sz="2000" dirty="0">
                <a:solidFill>
                  <a:srgbClr val="000000"/>
                </a:solidFill>
                <a:latin typeface="Times New Roman" pitchFamily="18" charset="0"/>
                <a:cs typeface="Times New Roman" pitchFamily="18" charset="0"/>
              </a:rPr>
              <a:t>Write(B)</a:t>
            </a:r>
          </a:p>
        </p:txBody>
      </p:sp>
      <p:sp>
        <p:nvSpPr>
          <p:cNvPr id="17412" name="Rectangle 4"/>
          <p:cNvSpPr>
            <a:spLocks noGrp="1" noChangeArrowheads="1"/>
          </p:cNvSpPr>
          <p:nvPr>
            <p:ph type="body" sz="half" idx="4294967295"/>
          </p:nvPr>
        </p:nvSpPr>
        <p:spPr>
          <a:xfrm>
            <a:off x="4953000" y="2420938"/>
            <a:ext cx="4191000" cy="4191000"/>
          </a:xfrm>
        </p:spPr>
        <p:txBody>
          <a:bodyPr/>
          <a:lstStyle/>
          <a:p>
            <a:pPr lvl="1">
              <a:buFontTx/>
              <a:buNone/>
            </a:pPr>
            <a:r>
              <a:rPr lang="en-GB" sz="2000" b="1" dirty="0">
                <a:solidFill>
                  <a:srgbClr val="000000"/>
                </a:solidFill>
                <a:latin typeface="Times New Roman" pitchFamily="18" charset="0"/>
                <a:cs typeface="Times New Roman" pitchFamily="18" charset="0"/>
              </a:rPr>
              <a:t>Atomicity</a:t>
            </a:r>
            <a:r>
              <a:rPr lang="en-GB" sz="2000" dirty="0">
                <a:solidFill>
                  <a:srgbClr val="000000"/>
                </a:solidFill>
                <a:latin typeface="Times New Roman" pitchFamily="18" charset="0"/>
                <a:cs typeface="Times New Roman" pitchFamily="18" charset="0"/>
              </a:rPr>
              <a:t> - shouldn’t take money from A without giving it to B</a:t>
            </a:r>
          </a:p>
          <a:p>
            <a:pPr lvl="1">
              <a:buFontTx/>
              <a:buNone/>
            </a:pPr>
            <a:r>
              <a:rPr lang="en-GB" sz="2000" b="1" dirty="0">
                <a:solidFill>
                  <a:srgbClr val="000000"/>
                </a:solidFill>
                <a:latin typeface="Times New Roman" pitchFamily="18" charset="0"/>
                <a:cs typeface="Times New Roman" pitchFamily="18" charset="0"/>
              </a:rPr>
              <a:t>Consistency</a:t>
            </a:r>
            <a:r>
              <a:rPr lang="en-GB" sz="2000" dirty="0">
                <a:solidFill>
                  <a:srgbClr val="000000"/>
                </a:solidFill>
                <a:latin typeface="Times New Roman" pitchFamily="18" charset="0"/>
                <a:cs typeface="Times New Roman" pitchFamily="18" charset="0"/>
              </a:rPr>
              <a:t> - money isn’t lost or gained</a:t>
            </a:r>
          </a:p>
          <a:p>
            <a:pPr lvl="1">
              <a:buFontTx/>
              <a:buNone/>
            </a:pPr>
            <a:r>
              <a:rPr lang="en-GB" sz="2000" b="1" dirty="0">
                <a:solidFill>
                  <a:srgbClr val="000000"/>
                </a:solidFill>
                <a:latin typeface="Times New Roman" pitchFamily="18" charset="0"/>
                <a:cs typeface="Times New Roman" pitchFamily="18" charset="0"/>
              </a:rPr>
              <a:t>Isolation</a:t>
            </a:r>
            <a:r>
              <a:rPr lang="en-GB" sz="2000" dirty="0">
                <a:solidFill>
                  <a:srgbClr val="000000"/>
                </a:solidFill>
                <a:latin typeface="Times New Roman" pitchFamily="18" charset="0"/>
                <a:cs typeface="Times New Roman" pitchFamily="18" charset="0"/>
              </a:rPr>
              <a:t> - other queries shouldn’t see A or B change until completion</a:t>
            </a:r>
          </a:p>
          <a:p>
            <a:pPr lvl="1">
              <a:buFontTx/>
              <a:buNone/>
            </a:pPr>
            <a:r>
              <a:rPr lang="en-GB" sz="2000" b="1" dirty="0">
                <a:solidFill>
                  <a:srgbClr val="000000"/>
                </a:solidFill>
                <a:latin typeface="Times New Roman" pitchFamily="18" charset="0"/>
                <a:cs typeface="Times New Roman" pitchFamily="18" charset="0"/>
              </a:rPr>
              <a:t>Durability</a:t>
            </a:r>
            <a:r>
              <a:rPr lang="en-GB" sz="2000" dirty="0">
                <a:solidFill>
                  <a:srgbClr val="000000"/>
                </a:solidFill>
                <a:latin typeface="Times New Roman" pitchFamily="18" charset="0"/>
                <a:cs typeface="Times New Roman" pitchFamily="18" charset="0"/>
              </a:rPr>
              <a:t> - the money does not go back to A</a:t>
            </a:r>
          </a:p>
        </p:txBody>
      </p:sp>
      <p:sp>
        <p:nvSpPr>
          <p:cNvPr id="17413" name="AutoShape 5"/>
          <p:cNvSpPr>
            <a:spLocks/>
          </p:cNvSpPr>
          <p:nvPr/>
        </p:nvSpPr>
        <p:spPr bwMode="auto">
          <a:xfrm>
            <a:off x="2484438" y="2852738"/>
            <a:ext cx="431800" cy="2232025"/>
          </a:xfrm>
          <a:prstGeom prst="rightBrace">
            <a:avLst>
              <a:gd name="adj1" fmla="val 4307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N" sz="2400" smtClean="0">
              <a:solidFill>
                <a:srgbClr val="000000"/>
              </a:solidFill>
              <a:latin typeface="Times New Roman" pitchFamily="18" charset="0"/>
              <a:cs typeface="Times New Roman" pitchFamily="18" charset="0"/>
            </a:endParaRPr>
          </a:p>
        </p:txBody>
      </p:sp>
      <p:sp>
        <p:nvSpPr>
          <p:cNvPr id="17414" name="Text Box 6"/>
          <p:cNvSpPr txBox="1">
            <a:spLocks noChangeArrowheads="1"/>
          </p:cNvSpPr>
          <p:nvPr/>
        </p:nvSpPr>
        <p:spPr bwMode="auto">
          <a:xfrm>
            <a:off x="2843213" y="3716338"/>
            <a:ext cx="1728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50000"/>
              </a:spcBef>
              <a:spcAft>
                <a:spcPct val="0"/>
              </a:spcAft>
            </a:pPr>
            <a:r>
              <a:rPr lang="en-GB" sz="2000" smtClean="0">
                <a:solidFill>
                  <a:srgbClr val="000000"/>
                </a:solidFill>
                <a:latin typeface="Times New Roman" pitchFamily="18" charset="0"/>
                <a:cs typeface="Times New Roman" pitchFamily="18" charset="0"/>
              </a:rPr>
              <a:t>transaction</a:t>
            </a:r>
            <a:endParaRPr lang="en-US" sz="2000" smtClean="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8532837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cs typeface="Times New Roman" pitchFamily="18" charset="0"/>
              </a:rPr>
              <a:t>Basic </a:t>
            </a:r>
            <a:r>
              <a:rPr lang="en-US" dirty="0" smtClean="0">
                <a:cs typeface="Times New Roman" pitchFamily="18" charset="0"/>
              </a:rPr>
              <a:t>operations</a:t>
            </a:r>
            <a:r>
              <a:rPr lang="en-US" i="1" dirty="0" smtClean="0">
                <a:cs typeface="Times New Roman" pitchFamily="18" charset="0"/>
              </a:rPr>
              <a:t> in</a:t>
            </a:r>
            <a:r>
              <a:rPr lang="en-US" dirty="0" smtClean="0">
                <a:cs typeface="Times New Roman" pitchFamily="18" charset="0"/>
              </a:rPr>
              <a:t> </a:t>
            </a:r>
            <a:r>
              <a:rPr lang="en-US" dirty="0">
                <a:cs typeface="Times New Roman" pitchFamily="18" charset="0"/>
              </a:rPr>
              <a:t>Transaction Processing </a:t>
            </a:r>
            <a:endParaRPr lang="en-US" dirty="0"/>
          </a:p>
        </p:txBody>
      </p:sp>
      <p:sp>
        <p:nvSpPr>
          <p:cNvPr id="3" name="Content Placeholder 2"/>
          <p:cNvSpPr>
            <a:spLocks noGrp="1"/>
          </p:cNvSpPr>
          <p:nvPr>
            <p:ph sz="quarter" idx="1"/>
          </p:nvPr>
        </p:nvSpPr>
        <p:spPr/>
        <p:txBody>
          <a:bodyPr>
            <a:normAutofit/>
          </a:bodyPr>
          <a:lstStyle/>
          <a:p>
            <a:pPr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dirty="0">
                <a:latin typeface="Times New Roman" pitchFamily="18" charset="0"/>
                <a:cs typeface="Times New Roman" pitchFamily="18" charset="0"/>
              </a:rPr>
              <a:t>Basic operations on an item </a:t>
            </a:r>
            <a:r>
              <a:rPr lang="en-US" sz="2400" dirty="0" smtClean="0">
                <a:latin typeface="Times New Roman" pitchFamily="18" charset="0"/>
                <a:cs typeface="Times New Roman" pitchFamily="18" charset="0"/>
              </a:rPr>
              <a:t>X:</a:t>
            </a:r>
          </a:p>
          <a:p>
            <a:pPr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smtClean="0">
                <a:latin typeface="Times New Roman" pitchFamily="18" charset="0"/>
                <a:cs typeface="Times New Roman" pitchFamily="18" charset="0"/>
              </a:rPr>
              <a:t>read_item</a:t>
            </a:r>
            <a:r>
              <a:rPr lang="en-US" sz="2400" b="1" dirty="0" smtClean="0">
                <a:latin typeface="Times New Roman" pitchFamily="18" charset="0"/>
                <a:cs typeface="Times New Roman" pitchFamily="18" charset="0"/>
              </a:rPr>
              <a:t>(X)</a:t>
            </a:r>
            <a:r>
              <a:rPr lang="en-US" sz="2400" dirty="0" smtClean="0">
                <a:latin typeface="Times New Roman" pitchFamily="18" charset="0"/>
                <a:cs typeface="Times New Roman" pitchFamily="18" charset="0"/>
              </a:rPr>
              <a:t>: Reads a database item named X into a program variable. To simplify our notation, we assume that </a:t>
            </a:r>
            <a:r>
              <a:rPr lang="en-US" sz="2400" i="1" dirty="0" smtClean="0">
                <a:latin typeface="Times New Roman" pitchFamily="18" charset="0"/>
                <a:cs typeface="Times New Roman" pitchFamily="18" charset="0"/>
              </a:rPr>
              <a:t>the program variable is also named X.</a:t>
            </a:r>
          </a:p>
          <a:p>
            <a:pPr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400" b="1" dirty="0" err="1" smtClean="0">
                <a:latin typeface="Times New Roman" pitchFamily="18" charset="0"/>
                <a:cs typeface="Times New Roman" pitchFamily="18" charset="0"/>
              </a:rPr>
              <a:t>write_item</a:t>
            </a:r>
            <a:r>
              <a:rPr lang="en-US" sz="2400" b="1" dirty="0" smtClean="0">
                <a:latin typeface="Times New Roman" pitchFamily="18" charset="0"/>
                <a:cs typeface="Times New Roman" pitchFamily="18" charset="0"/>
              </a:rPr>
              <a:t>(X</a:t>
            </a:r>
            <a:r>
              <a:rPr lang="en-US" sz="2400" b="1" dirty="0">
                <a:latin typeface="Times New Roman" pitchFamily="18" charset="0"/>
                <a:cs typeface="Times New Roman" pitchFamily="18" charset="0"/>
              </a:rPr>
              <a:t>)</a:t>
            </a:r>
            <a:r>
              <a:rPr lang="en-US" sz="2400" dirty="0">
                <a:latin typeface="Times New Roman" pitchFamily="18" charset="0"/>
                <a:cs typeface="Times New Roman" pitchFamily="18" charset="0"/>
              </a:rPr>
              <a:t>: Writes the value of program variable X into the database item named </a:t>
            </a:r>
            <a:r>
              <a:rPr lang="en-US" sz="2400" dirty="0" smtClean="0">
                <a:latin typeface="Times New Roman" pitchFamily="18" charset="0"/>
                <a:cs typeface="Times New Roman" pitchFamily="18" charset="0"/>
              </a:rPr>
              <a:t>X</a:t>
            </a:r>
          </a:p>
          <a:p>
            <a:pPr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500" b="1" dirty="0" err="1" smtClean="0">
                <a:latin typeface="Times New Roman" pitchFamily="18" charset="0"/>
                <a:cs typeface="Times New Roman" pitchFamily="18" charset="0"/>
              </a:rPr>
              <a:t>read_item</a:t>
            </a:r>
            <a:r>
              <a:rPr lang="en-US" sz="2500" b="1" dirty="0" smtClean="0">
                <a:latin typeface="Times New Roman" pitchFamily="18" charset="0"/>
                <a:cs typeface="Times New Roman" pitchFamily="18" charset="0"/>
              </a:rPr>
              <a:t>(X</a:t>
            </a:r>
            <a:r>
              <a:rPr lang="en-US" sz="2500" b="1" dirty="0">
                <a:latin typeface="Times New Roman" pitchFamily="18" charset="0"/>
                <a:cs typeface="Times New Roman" pitchFamily="18" charset="0"/>
              </a:rPr>
              <a:t>) command includes the following </a:t>
            </a:r>
            <a:r>
              <a:rPr lang="en-US" sz="2500" b="1" dirty="0" smtClean="0">
                <a:latin typeface="Times New Roman" pitchFamily="18" charset="0"/>
                <a:cs typeface="Times New Roman" pitchFamily="18" charset="0"/>
              </a:rPr>
              <a:t>steps:</a:t>
            </a:r>
          </a:p>
          <a:p>
            <a:pPr lvl="1"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300" dirty="0" smtClean="0">
                <a:latin typeface="Times New Roman" pitchFamily="18" charset="0"/>
                <a:cs typeface="Times New Roman" pitchFamily="18" charset="0"/>
              </a:rPr>
              <a:t>Find </a:t>
            </a:r>
            <a:r>
              <a:rPr lang="en-US" sz="2300" dirty="0">
                <a:latin typeface="Times New Roman" pitchFamily="18" charset="0"/>
                <a:cs typeface="Times New Roman" pitchFamily="18" charset="0"/>
              </a:rPr>
              <a:t>the address of the disk block that contains item </a:t>
            </a:r>
            <a:r>
              <a:rPr lang="en-US" sz="2300" dirty="0" smtClean="0">
                <a:latin typeface="Times New Roman" pitchFamily="18" charset="0"/>
                <a:cs typeface="Times New Roman" pitchFamily="18" charset="0"/>
              </a:rPr>
              <a:t>X.</a:t>
            </a:r>
          </a:p>
          <a:p>
            <a:pPr lvl="1"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300" dirty="0" smtClean="0">
                <a:latin typeface="Times New Roman" pitchFamily="18" charset="0"/>
                <a:cs typeface="Times New Roman" pitchFamily="18" charset="0"/>
              </a:rPr>
              <a:t>Copy </a:t>
            </a:r>
            <a:r>
              <a:rPr lang="en-US" sz="2300" dirty="0">
                <a:latin typeface="Times New Roman" pitchFamily="18" charset="0"/>
                <a:cs typeface="Times New Roman" pitchFamily="18" charset="0"/>
              </a:rPr>
              <a:t>that disk block into a buffer in main memory (if that disk block is not already in some main memory buffer</a:t>
            </a:r>
            <a:r>
              <a:rPr lang="en-US" sz="2300" dirty="0" smtClean="0">
                <a:latin typeface="Times New Roman" pitchFamily="18" charset="0"/>
                <a:cs typeface="Times New Roman" pitchFamily="18" charset="0"/>
              </a:rPr>
              <a:t>).</a:t>
            </a:r>
          </a:p>
          <a:p>
            <a:pPr lvl="1" algn="just">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r>
              <a:rPr lang="en-US" sz="2300" dirty="0" smtClean="0">
                <a:latin typeface="Times New Roman" pitchFamily="18" charset="0"/>
                <a:cs typeface="Times New Roman" pitchFamily="18" charset="0"/>
              </a:rPr>
              <a:t>Copy </a:t>
            </a:r>
            <a:r>
              <a:rPr lang="en-US" sz="2300" dirty="0">
                <a:latin typeface="Times New Roman" pitchFamily="18" charset="0"/>
                <a:cs typeface="Times New Roman" pitchFamily="18" charset="0"/>
              </a:rPr>
              <a:t>item X from the buffer to the program variable named X.   </a:t>
            </a:r>
          </a:p>
          <a:p>
            <a:pPr>
              <a:lnSpc>
                <a:spcPct val="90000"/>
              </a:lnSpc>
              <a:spcBef>
                <a:spcPts val="700"/>
              </a:spcBef>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pPr>
            <a:endParaRPr lang="en-US" dirty="0"/>
          </a:p>
        </p:txBody>
      </p:sp>
    </p:spTree>
    <p:extLst>
      <p:ext uri="{BB962C8B-B14F-4D97-AF65-F5344CB8AC3E}">
        <p14:creationId xmlns:p14="http://schemas.microsoft.com/office/powerpoint/2010/main" val="6122999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algn="just"/>
            <a:r>
              <a:rPr lang="en-US" sz="2300" b="1" dirty="0" err="1">
                <a:latin typeface="Times New Roman" pitchFamily="18" charset="0"/>
                <a:cs typeface="Times New Roman" pitchFamily="18" charset="0"/>
              </a:rPr>
              <a:t>write_item</a:t>
            </a:r>
            <a:r>
              <a:rPr lang="en-US" sz="2300" b="1" dirty="0">
                <a:latin typeface="Times New Roman" pitchFamily="18" charset="0"/>
                <a:cs typeface="Times New Roman" pitchFamily="18" charset="0"/>
              </a:rPr>
              <a:t>(X) command includes the following steps:</a:t>
            </a:r>
          </a:p>
          <a:p>
            <a:pPr algn="just"/>
            <a:r>
              <a:rPr lang="en-US" sz="2300" dirty="0">
                <a:latin typeface="Times New Roman" pitchFamily="18" charset="0"/>
                <a:cs typeface="Times New Roman" pitchFamily="18" charset="0"/>
              </a:rPr>
              <a:t>Find the address of the disk block that contains item X.</a:t>
            </a:r>
          </a:p>
          <a:p>
            <a:pPr algn="just"/>
            <a:r>
              <a:rPr lang="en-US" sz="2300" dirty="0">
                <a:latin typeface="Times New Roman" pitchFamily="18" charset="0"/>
                <a:cs typeface="Times New Roman" pitchFamily="18" charset="0"/>
              </a:rPr>
              <a:t>Copy that disk block into a buffer in main memory (if it is not already in some main memory buffer).</a:t>
            </a:r>
          </a:p>
          <a:p>
            <a:pPr algn="just"/>
            <a:r>
              <a:rPr lang="en-US" sz="2300" dirty="0">
                <a:latin typeface="Times New Roman" pitchFamily="18" charset="0"/>
                <a:cs typeface="Times New Roman" pitchFamily="18" charset="0"/>
              </a:rPr>
              <a:t>Copy item X from the program variable named X into its correct location in the buffer.</a:t>
            </a:r>
          </a:p>
          <a:p>
            <a:pPr algn="just"/>
            <a:r>
              <a:rPr lang="en-US" sz="2300" dirty="0">
                <a:latin typeface="Times New Roman" pitchFamily="18" charset="0"/>
                <a:cs typeface="Times New Roman" pitchFamily="18" charset="0"/>
              </a:rPr>
              <a:t>Store the updated block from the buffer back to disk (either immediately or at some later point in time).</a:t>
            </a:r>
          </a:p>
        </p:txBody>
      </p:sp>
    </p:spTree>
    <p:extLst>
      <p:ext uri="{BB962C8B-B14F-4D97-AF65-F5344CB8AC3E}">
        <p14:creationId xmlns:p14="http://schemas.microsoft.com/office/powerpoint/2010/main" val="92622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itchFamily="18" charset="0"/>
              </a:rPr>
              <a:t>Transaction Notation</a:t>
            </a:r>
            <a:endParaRPr lang="en-US" dirty="0"/>
          </a:p>
        </p:txBody>
      </p:sp>
      <p:sp>
        <p:nvSpPr>
          <p:cNvPr id="3" name="Content Placeholder 2"/>
          <p:cNvSpPr>
            <a:spLocks noGrp="1"/>
          </p:cNvSpPr>
          <p:nvPr>
            <p:ph sz="quarter" idx="1"/>
          </p:nvPr>
        </p:nvSpPr>
        <p:spPr/>
        <p:txBody>
          <a:bodyPr/>
          <a:lstStyle/>
          <a:p>
            <a:r>
              <a:rPr lang="en-US" sz="2300" dirty="0">
                <a:latin typeface="Times New Roman" pitchFamily="18" charset="0"/>
                <a:cs typeface="Times New Roman" pitchFamily="18" charset="0"/>
              </a:rPr>
              <a:t>Notation focuses on the read and write operations</a:t>
            </a:r>
          </a:p>
          <a:p>
            <a:r>
              <a:rPr lang="en-US" sz="2300" dirty="0">
                <a:latin typeface="Times New Roman" pitchFamily="18" charset="0"/>
                <a:cs typeface="Times New Roman" pitchFamily="18" charset="0"/>
              </a:rPr>
              <a:t>Can also write in shorthand notation:</a:t>
            </a:r>
          </a:p>
          <a:p>
            <a:r>
              <a:rPr lang="en-US" sz="2300" dirty="0">
                <a:latin typeface="Times New Roman" pitchFamily="18" charset="0"/>
                <a:cs typeface="Times New Roman" pitchFamily="18" charset="0"/>
              </a:rPr>
              <a:t>T1: b1; r1(X); w1(X); r1(Y); w1(Y); e1;</a:t>
            </a:r>
          </a:p>
          <a:p>
            <a:r>
              <a:rPr lang="en-US" sz="2300" dirty="0">
                <a:latin typeface="Times New Roman" pitchFamily="18" charset="0"/>
                <a:cs typeface="Times New Roman" pitchFamily="18" charset="0"/>
              </a:rPr>
              <a:t>T2: b2; r2(Y); w2(Y); e2;</a:t>
            </a:r>
          </a:p>
          <a:p>
            <a:r>
              <a:rPr lang="en-US" sz="2300" dirty="0">
                <a:latin typeface="Times New Roman" pitchFamily="18" charset="0"/>
                <a:cs typeface="Times New Roman" pitchFamily="18" charset="0"/>
              </a:rPr>
              <a:t>bi and </a:t>
            </a:r>
            <a:r>
              <a:rPr lang="en-US" sz="2300" dirty="0" err="1">
                <a:latin typeface="Times New Roman" pitchFamily="18" charset="0"/>
                <a:cs typeface="Times New Roman" pitchFamily="18" charset="0"/>
              </a:rPr>
              <a:t>ei</a:t>
            </a:r>
            <a:r>
              <a:rPr lang="en-US" sz="2300" dirty="0">
                <a:latin typeface="Times New Roman" pitchFamily="18" charset="0"/>
                <a:cs typeface="Times New Roman" pitchFamily="18" charset="0"/>
              </a:rPr>
              <a:t> specify transaction boundaries (begin and end)</a:t>
            </a:r>
          </a:p>
          <a:p>
            <a:r>
              <a:rPr lang="en-US" sz="2300" dirty="0">
                <a:latin typeface="Times New Roman" pitchFamily="18" charset="0"/>
                <a:cs typeface="Times New Roman" pitchFamily="18" charset="0"/>
              </a:rPr>
              <a:t>i specifies a unique transaction identifier (</a:t>
            </a:r>
            <a:r>
              <a:rPr lang="en-US" sz="2300" dirty="0" err="1">
                <a:latin typeface="Times New Roman" pitchFamily="18" charset="0"/>
                <a:cs typeface="Times New Roman" pitchFamily="18" charset="0"/>
              </a:rPr>
              <a:t>TId</a:t>
            </a:r>
            <a:r>
              <a:rPr lang="en-US" sz="2300" dirty="0">
                <a:latin typeface="Times New Roman" pitchFamily="18" charset="0"/>
                <a:cs typeface="Times New Roman" pitchFamily="18" charset="0"/>
              </a:rPr>
              <a:t>)</a:t>
            </a:r>
          </a:p>
          <a:p>
            <a:endParaRPr lang="en-US" dirty="0"/>
          </a:p>
        </p:txBody>
      </p:sp>
      <p:pic>
        <p:nvPicPr>
          <p:cNvPr id="5" name="Picture 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560" r="34283"/>
          <a:stretch/>
        </p:blipFill>
        <p:spPr bwMode="auto">
          <a:xfrm>
            <a:off x="467544" y="4365104"/>
            <a:ext cx="7992888" cy="21018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660360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Failure </a:t>
            </a:r>
            <a:endParaRPr lang="en-IN" dirty="0"/>
          </a:p>
        </p:txBody>
      </p:sp>
      <p:sp>
        <p:nvSpPr>
          <p:cNvPr id="3" name="Content Placeholder 2"/>
          <p:cNvSpPr>
            <a:spLocks noGrp="1"/>
          </p:cNvSpPr>
          <p:nvPr>
            <p:ph sz="quarter" idx="1"/>
          </p:nvPr>
        </p:nvSpPr>
        <p:spPr/>
        <p:txBody>
          <a:bodyPr>
            <a:normAutofit/>
          </a:bodyPr>
          <a:lstStyle/>
          <a:p>
            <a:r>
              <a:rPr lang="en-US" dirty="0" smtClean="0">
                <a:latin typeface="Times New Roman" pitchFamily="18" charset="0"/>
                <a:cs typeface="Times New Roman" pitchFamily="18" charset="0"/>
              </a:rPr>
              <a:t>Computer Failure:</a:t>
            </a:r>
          </a:p>
          <a:p>
            <a:pPr lvl="1"/>
            <a:r>
              <a:rPr lang="en-US" dirty="0">
                <a:latin typeface="Times New Roman" pitchFamily="18" charset="0"/>
                <a:cs typeface="Times New Roman" pitchFamily="18" charset="0"/>
              </a:rPr>
              <a:t>A hardware or software error on computer during transaction </a:t>
            </a:r>
            <a:r>
              <a:rPr lang="en-US" dirty="0" smtClean="0">
                <a:latin typeface="Times New Roman" pitchFamily="18" charset="0"/>
                <a:cs typeface="Times New Roman" pitchFamily="18" charset="0"/>
              </a:rPr>
              <a:t>execution</a:t>
            </a:r>
          </a:p>
          <a:p>
            <a:r>
              <a:rPr lang="en-US" dirty="0" smtClean="0">
                <a:latin typeface="Times New Roman" pitchFamily="18" charset="0"/>
                <a:cs typeface="Times New Roman" pitchFamily="18" charset="0"/>
              </a:rPr>
              <a:t>Transaction Error:</a:t>
            </a:r>
          </a:p>
          <a:p>
            <a:pPr lvl="1"/>
            <a:r>
              <a:rPr lang="en-US" dirty="0" smtClean="0">
                <a:latin typeface="Times New Roman" pitchFamily="18" charset="0"/>
                <a:cs typeface="Times New Roman" pitchFamily="18" charset="0"/>
              </a:rPr>
              <a:t>Failure caused by an operation in the transaction.</a:t>
            </a:r>
          </a:p>
          <a:p>
            <a:pPr lvl="1"/>
            <a:r>
              <a:rPr lang="en-US" dirty="0" smtClean="0">
                <a:latin typeface="Times New Roman" pitchFamily="18" charset="0"/>
                <a:cs typeface="Times New Roman" pitchFamily="18" charset="0"/>
              </a:rPr>
              <a:t>Ex. Divide by zero.</a:t>
            </a:r>
          </a:p>
          <a:p>
            <a:r>
              <a:rPr lang="en-US" dirty="0" smtClean="0">
                <a:latin typeface="Times New Roman" pitchFamily="18" charset="0"/>
                <a:cs typeface="Times New Roman" pitchFamily="18" charset="0"/>
              </a:rPr>
              <a:t>Local Error</a:t>
            </a:r>
          </a:p>
          <a:p>
            <a:pPr lvl="1"/>
            <a:r>
              <a:rPr lang="en-US" dirty="0" smtClean="0">
                <a:latin typeface="Times New Roman" pitchFamily="18" charset="0"/>
                <a:cs typeface="Times New Roman" pitchFamily="18" charset="0"/>
              </a:rPr>
              <a:t>Condition that causes the cancelation of transaction.</a:t>
            </a:r>
          </a:p>
          <a:p>
            <a:pPr lvl="1"/>
            <a:r>
              <a:rPr lang="en-US" dirty="0" smtClean="0">
                <a:latin typeface="Times New Roman" pitchFamily="18" charset="0"/>
                <a:cs typeface="Times New Roman" pitchFamily="18" charset="0"/>
              </a:rPr>
              <a:t>Ex: Data needed for transaction not found</a:t>
            </a:r>
          </a:p>
          <a:p>
            <a:endParaRPr lang="en-US" dirty="0" smtClean="0">
              <a:latin typeface="Times New Roman" pitchFamily="18" charset="0"/>
              <a:cs typeface="Times New Roman" pitchFamily="18" charset="0"/>
            </a:endParaRPr>
          </a:p>
          <a:p>
            <a:pPr marL="320040" lvl="1" indent="0">
              <a:buNone/>
            </a:pPr>
            <a:endParaRPr lang="en-US"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9838567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Failure </a:t>
            </a:r>
            <a:endParaRPr lang="en-IN" dirty="0"/>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Concurrency control enforcement</a:t>
            </a:r>
          </a:p>
          <a:p>
            <a:pPr lvl="1"/>
            <a:r>
              <a:rPr lang="en-US" dirty="0">
                <a:latin typeface="Times New Roman" pitchFamily="18" charset="0"/>
                <a:cs typeface="Times New Roman" pitchFamily="18" charset="0"/>
              </a:rPr>
              <a:t>Transaction may be aborted by the concurrency control method</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Disk Failure: Loss of data blocks during a transaction due to, Say a disk read/write head crash.</a:t>
            </a:r>
          </a:p>
          <a:p>
            <a:r>
              <a:rPr lang="en-US" dirty="0" smtClean="0">
                <a:latin typeface="Times New Roman" pitchFamily="18" charset="0"/>
                <a:cs typeface="Times New Roman" pitchFamily="18" charset="0"/>
              </a:rPr>
              <a:t>Physical problems: </a:t>
            </a:r>
          </a:p>
          <a:p>
            <a:pPr lvl="1"/>
            <a:r>
              <a:rPr lang="en-US" dirty="0" smtClean="0">
                <a:latin typeface="Times New Roman" pitchFamily="18" charset="0"/>
                <a:cs typeface="Times New Roman" pitchFamily="18" charset="0"/>
              </a:rPr>
              <a:t>Problem like Power failure, Fire, etc..</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1509276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Schedule</a:t>
            </a:r>
            <a:endParaRPr lang="en-IN" dirty="0"/>
          </a:p>
        </p:txBody>
      </p:sp>
      <p:sp>
        <p:nvSpPr>
          <p:cNvPr id="3" name="Content Placeholder 2"/>
          <p:cNvSpPr>
            <a:spLocks noGrp="1"/>
          </p:cNvSpPr>
          <p:nvPr>
            <p:ph sz="quarter" idx="1"/>
          </p:nvPr>
        </p:nvSpPr>
        <p:spPr/>
        <p:txBody>
          <a:bodyPr>
            <a:normAutofit fontScale="85000" lnSpcReduction="10000"/>
          </a:bodyPr>
          <a:lstStyle/>
          <a:p>
            <a:pPr algn="just"/>
            <a:r>
              <a:rPr lang="en-US" dirty="0" smtClean="0">
                <a:latin typeface="Times New Roman" pitchFamily="18" charset="0"/>
                <a:cs typeface="Times New Roman" pitchFamily="18" charset="0"/>
              </a:rPr>
              <a:t>A </a:t>
            </a:r>
            <a:r>
              <a:rPr lang="en-US" dirty="0">
                <a:latin typeface="Times New Roman" pitchFamily="18" charset="0"/>
                <a:cs typeface="Times New Roman" pitchFamily="18" charset="0"/>
              </a:rPr>
              <a:t>schedule is a series of operations from one or more transactions. A schedule can be of two types:</a:t>
            </a:r>
          </a:p>
          <a:p>
            <a:pPr algn="just"/>
            <a:r>
              <a:rPr lang="en-US" b="1" dirty="0">
                <a:latin typeface="Times New Roman" pitchFamily="18" charset="0"/>
                <a:cs typeface="Times New Roman" pitchFamily="18" charset="0"/>
              </a:rPr>
              <a:t>Serial Schedule:</a:t>
            </a:r>
            <a:r>
              <a:rPr lang="en-US" dirty="0">
                <a:latin typeface="Times New Roman" pitchFamily="18" charset="0"/>
                <a:cs typeface="Times New Roman" pitchFamily="18" charset="0"/>
              </a:rPr>
              <a:t> When one transaction completely executes before starting another transaction, the schedule is called serial schedule. A serial schedule is always consistent. e.g.; If a schedule S has debit transaction T1 and credit transaction T2, possible serial schedules are T1 followed by T2 (T1-&gt;T2) or T2 followed by T1 ((T1-&gt;T2). A serial schedule has low throughput and less resource utilization.</a:t>
            </a:r>
          </a:p>
          <a:p>
            <a:pPr algn="just"/>
            <a:r>
              <a:rPr lang="en-US" b="1" dirty="0">
                <a:latin typeface="Times New Roman" pitchFamily="18" charset="0"/>
                <a:cs typeface="Times New Roman" pitchFamily="18" charset="0"/>
              </a:rPr>
              <a:t>Concurrent Schedule:</a:t>
            </a:r>
            <a:r>
              <a:rPr lang="en-US" dirty="0">
                <a:latin typeface="Times New Roman" pitchFamily="18" charset="0"/>
                <a:cs typeface="Times New Roman" pitchFamily="18" charset="0"/>
              </a:rPr>
              <a:t> When operations of a transaction are interleaved with operations of other transactions of a schedule, the schedule is called Concurrent schedule. e.g.; Schedule of debit and credit transaction </a:t>
            </a:r>
            <a:r>
              <a:rPr lang="en-US" dirty="0" smtClean="0">
                <a:latin typeface="Times New Roman" pitchFamily="18" charset="0"/>
                <a:cs typeface="Times New Roman" pitchFamily="18" charset="0"/>
              </a:rPr>
              <a:t>should be concurrent </a:t>
            </a:r>
            <a:r>
              <a:rPr lang="en-US" dirty="0">
                <a:latin typeface="Times New Roman" pitchFamily="18" charset="0"/>
                <a:cs typeface="Times New Roman" pitchFamily="18" charset="0"/>
              </a:rPr>
              <a:t>in nature. But concurrency can lead to inconsistency in the database.</a:t>
            </a:r>
            <a:r>
              <a:rPr lang="en-US">
                <a:latin typeface="Times New Roman" pitchFamily="18" charset="0"/>
                <a:cs typeface="Times New Roman" pitchFamily="18" charset="0"/>
              </a:rPr>
              <a:t> </a:t>
            </a:r>
            <a:endParaRPr lang="en-US"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3010390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1496</TotalTime>
  <Words>1251</Words>
  <Application>Microsoft Office PowerPoint</Application>
  <PresentationFormat>On-screen Show (4:3)</PresentationFormat>
  <Paragraphs>105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Equity</vt:lpstr>
      <vt:lpstr>Transaction </vt:lpstr>
      <vt:lpstr>Transaction</vt:lpstr>
      <vt:lpstr>PowerPoint Presentation</vt:lpstr>
      <vt:lpstr>PowerPoint Presentation</vt:lpstr>
      <vt:lpstr>Example of Transaction </vt:lpstr>
      <vt:lpstr>PowerPoint Presentation</vt:lpstr>
      <vt:lpstr>DBMS Transaction State Diagram</vt:lpstr>
      <vt:lpstr>PowerPoint Presentation</vt:lpstr>
      <vt:lpstr>PowerPoint Presentation</vt:lpstr>
      <vt:lpstr>PowerPoint Presentation</vt:lpstr>
      <vt:lpstr>ACID Properties</vt:lpstr>
      <vt:lpstr>Example of ACID  </vt:lpstr>
      <vt:lpstr>Example of transaction</vt:lpstr>
      <vt:lpstr>Basic operations in Transaction Processing </vt:lpstr>
      <vt:lpstr>PowerPoint Presentation</vt:lpstr>
      <vt:lpstr>Transaction Notation</vt:lpstr>
      <vt:lpstr>Types of Failure </vt:lpstr>
      <vt:lpstr>Types of Failure </vt:lpstr>
      <vt:lpstr>Schedule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DELL</cp:lastModifiedBy>
  <cp:revision>70</cp:revision>
  <dcterms:created xsi:type="dcterms:W3CDTF">2019-05-30T15:49:42Z</dcterms:created>
  <dcterms:modified xsi:type="dcterms:W3CDTF">2024-10-04T10:30:38Z</dcterms:modified>
</cp:coreProperties>
</file>