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95" r:id="rId3"/>
    <p:sldId id="257" r:id="rId4"/>
    <p:sldId id="258" r:id="rId5"/>
    <p:sldId id="259" r:id="rId6"/>
    <p:sldId id="288" r:id="rId7"/>
    <p:sldId id="289" r:id="rId8"/>
    <p:sldId id="290" r:id="rId9"/>
    <p:sldId id="291" r:id="rId10"/>
    <p:sldId id="292" r:id="rId11"/>
    <p:sldId id="293" r:id="rId12"/>
    <p:sldId id="294" r:id="rId13"/>
    <p:sldId id="260" r:id="rId14"/>
    <p:sldId id="266" r:id="rId15"/>
    <p:sldId id="268" r:id="rId16"/>
    <p:sldId id="282" r:id="rId17"/>
    <p:sldId id="261" r:id="rId18"/>
    <p:sldId id="283" r:id="rId19"/>
    <p:sldId id="262" r:id="rId20"/>
    <p:sldId id="284" r:id="rId21"/>
    <p:sldId id="263" r:id="rId22"/>
    <p:sldId id="285" r:id="rId23"/>
    <p:sldId id="264" r:id="rId24"/>
    <p:sldId id="286" r:id="rId25"/>
    <p:sldId id="265" r:id="rId26"/>
    <p:sldId id="287" r:id="rId27"/>
    <p:sldId id="275" r:id="rId28"/>
    <p:sldId id="280" r:id="rId29"/>
    <p:sldId id="276" r:id="rId30"/>
    <p:sldId id="277" r:id="rId31"/>
    <p:sldId id="278" r:id="rId32"/>
    <p:sldId id="279" r:id="rId33"/>
    <p:sldId id="271" r:id="rId34"/>
    <p:sldId id="272" r:id="rId35"/>
    <p:sldId id="273" r:id="rId36"/>
    <p:sldId id="274"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0D1CF4F-AE74-4821-94A7-5E08B8455D41}" type="datetimeFigureOut">
              <a:rPr lang="en-US" smtClean="0"/>
              <a:pPr/>
              <a:t>1/6/2023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4AB4AD-F64B-407D-AAE3-BE7AE17447CC}" type="slidenum">
              <a:rPr lang="en-US" smtClean="0"/>
              <a:pPr/>
              <a:t>‹#›</a:t>
            </a:fld>
            <a:endParaRPr lang="en-US"/>
          </a:p>
        </p:txBody>
      </p:sp>
    </p:spTree>
    <p:extLst>
      <p:ext uri="{BB962C8B-B14F-4D97-AF65-F5344CB8AC3E}">
        <p14:creationId xmlns:p14="http://schemas.microsoft.com/office/powerpoint/2010/main" val="3409417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04AB4AD-F64B-407D-AAE3-BE7AE17447CC}" type="slidenum">
              <a:rPr lang="en-US" smtClean="0"/>
              <a:pPr/>
              <a:t>15</a:t>
            </a:fld>
            <a:endParaRPr lang="en-US"/>
          </a:p>
        </p:txBody>
      </p:sp>
    </p:spTree>
    <p:extLst>
      <p:ext uri="{BB962C8B-B14F-4D97-AF65-F5344CB8AC3E}">
        <p14:creationId xmlns:p14="http://schemas.microsoft.com/office/powerpoint/2010/main" val="1826353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C8DC56CF-49CC-4FE6-AFF4-451EBFA9822E}" type="slidenum">
              <a:rPr lang="en-US" smtClean="0">
                <a:cs typeface="Arial" charset="0"/>
              </a:rPr>
              <a:pPr/>
              <a:t>33</a:t>
            </a:fld>
            <a:endParaRPr lang="en-US" smtClean="0">
              <a:cs typeface="Arial"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857027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4000" dirty="0">
                <a:latin typeface="Times New Roman" pitchFamily="18" charset="0"/>
                <a:cs typeface="Times New Roman" pitchFamily="18" charset="0"/>
              </a:rPr>
              <a:t>Query Processing</a:t>
            </a:r>
            <a:br>
              <a:rPr lang="en-US" sz="4000" dirty="0">
                <a:latin typeface="Times New Roman" pitchFamily="18" charset="0"/>
                <a:cs typeface="Times New Roman" pitchFamily="18" charset="0"/>
              </a:rPr>
            </a:br>
            <a:r>
              <a:rPr lang="en-US" altLang="zh-TW" sz="4000" dirty="0">
                <a:latin typeface="Times New Roman" pitchFamily="18" charset="0"/>
                <a:cs typeface="Times New Roman" pitchFamily="18" charset="0"/>
              </a:rPr>
              <a:t>Heuristic Query Optimization</a:t>
            </a:r>
            <a:r>
              <a:rPr lang="en-US" sz="4000" dirty="0"/>
              <a:t/>
            </a:r>
            <a:br>
              <a:rPr lang="en-US" sz="4000" dirty="0"/>
            </a:br>
            <a:endParaRPr lang="en-US" sz="4000"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524000"/>
            <a:ext cx="8229600" cy="4525963"/>
          </a:xfrm>
        </p:spPr>
        <p:txBody>
          <a:bodyPr/>
          <a:lstStyle/>
          <a:p>
            <a:r>
              <a:rPr lang="el-GR" dirty="0" smtClean="0"/>
              <a:t>σ</a:t>
            </a:r>
            <a:r>
              <a:rPr lang="en-US" dirty="0" smtClean="0"/>
              <a:t> </a:t>
            </a:r>
            <a:r>
              <a:rPr lang="en-US" baseline="-25000" dirty="0" smtClean="0"/>
              <a:t>marks &gt;60 </a:t>
            </a:r>
            <a:r>
              <a:rPr lang="en-US" dirty="0" smtClean="0"/>
              <a:t>(</a:t>
            </a:r>
            <a:r>
              <a:rPr lang="el-GR" dirty="0" smtClean="0"/>
              <a:t>π</a:t>
            </a:r>
            <a:r>
              <a:rPr lang="en-US" dirty="0" smtClean="0"/>
              <a:t> </a:t>
            </a:r>
            <a:r>
              <a:rPr lang="en-US" baseline="-25000" dirty="0" smtClean="0"/>
              <a:t>marks</a:t>
            </a:r>
            <a:r>
              <a:rPr lang="en-US" dirty="0" smtClean="0"/>
              <a:t> (</a:t>
            </a:r>
            <a:r>
              <a:rPr lang="en-US" dirty="0" err="1" smtClean="0"/>
              <a:t>student_marks</a:t>
            </a:r>
            <a:r>
              <a:rPr lang="en-US" dirty="0" smtClean="0"/>
              <a:t>))</a:t>
            </a:r>
          </a:p>
          <a:p>
            <a:endParaRPr lang="en-US" dirty="0"/>
          </a:p>
          <a:p>
            <a:r>
              <a:rPr lang="el-GR" dirty="0"/>
              <a:t>π</a:t>
            </a:r>
            <a:r>
              <a:rPr lang="en-US" dirty="0"/>
              <a:t> </a:t>
            </a:r>
            <a:r>
              <a:rPr lang="en-US" baseline="-25000" dirty="0"/>
              <a:t>marks</a:t>
            </a:r>
            <a:r>
              <a:rPr lang="en-US" dirty="0"/>
              <a:t> ( </a:t>
            </a:r>
            <a:r>
              <a:rPr lang="el-GR" dirty="0" smtClean="0"/>
              <a:t>σ</a:t>
            </a:r>
            <a:r>
              <a:rPr lang="en-US" dirty="0" smtClean="0"/>
              <a:t> </a:t>
            </a:r>
            <a:r>
              <a:rPr lang="en-US" baseline="-25000" dirty="0"/>
              <a:t>marks &gt;60</a:t>
            </a:r>
            <a:r>
              <a:rPr lang="en-US" dirty="0"/>
              <a:t> </a:t>
            </a:r>
            <a:r>
              <a:rPr lang="en-US" dirty="0" smtClean="0"/>
              <a:t>(</a:t>
            </a:r>
            <a:r>
              <a:rPr lang="en-US" dirty="0" err="1" smtClean="0"/>
              <a:t>student_marks</a:t>
            </a:r>
            <a:r>
              <a:rPr lang="en-US" dirty="0"/>
              <a:t>))</a:t>
            </a:r>
            <a:endParaRPr lang="en-IN" dirty="0"/>
          </a:p>
          <a:p>
            <a:endParaRPr lang="en-IN" dirty="0"/>
          </a:p>
        </p:txBody>
      </p:sp>
    </p:spTree>
    <p:extLst>
      <p:ext uri="{BB962C8B-B14F-4D97-AF65-F5344CB8AC3E}">
        <p14:creationId xmlns:p14="http://schemas.microsoft.com/office/powerpoint/2010/main" val="383246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Processing a Query</a:t>
            </a:r>
            <a:endParaRPr lang="en-US" dirty="0"/>
          </a:p>
        </p:txBody>
      </p:sp>
      <p:sp>
        <p:nvSpPr>
          <p:cNvPr id="4" name="Rectangle 3"/>
          <p:cNvSpPr>
            <a:spLocks noGrp="1" noChangeArrowheads="1"/>
          </p:cNvSpPr>
          <p:nvPr>
            <p:ph idx="1"/>
          </p:nvPr>
        </p:nvSpPr>
        <p:spPr>
          <a:xfrm>
            <a:off x="457200" y="1371600"/>
            <a:ext cx="8229600" cy="5105400"/>
          </a:xfrm>
        </p:spPr>
        <p:txBody>
          <a:bodyPr>
            <a:normAutofit/>
          </a:bodyPr>
          <a:lstStyle/>
          <a:p>
            <a:pPr marL="457200" indent="-457200" eaLnBrk="1" hangingPunct="1"/>
            <a:r>
              <a:rPr lang="en-US" dirty="0" smtClean="0"/>
              <a:t>Tasks in processing a high-level query</a:t>
            </a:r>
          </a:p>
          <a:p>
            <a:pPr marL="838200" lvl="1" indent="-381000" eaLnBrk="1" hangingPunct="1">
              <a:buFontTx/>
              <a:buAutoNum type="arabicPeriod"/>
            </a:pPr>
            <a:r>
              <a:rPr lang="en-US" sz="2000" dirty="0" smtClean="0"/>
              <a:t>Scanner scans the query and identifies the language tokens</a:t>
            </a:r>
          </a:p>
          <a:p>
            <a:pPr marL="838200" lvl="1" indent="-381000" eaLnBrk="1" hangingPunct="1">
              <a:buFontTx/>
              <a:buAutoNum type="arabicPeriod"/>
            </a:pPr>
            <a:r>
              <a:rPr lang="en-US" sz="2000" dirty="0" smtClean="0"/>
              <a:t>Parser checks syntax  of the query</a:t>
            </a:r>
          </a:p>
          <a:p>
            <a:pPr marL="838200" lvl="1" indent="-381000" eaLnBrk="1" hangingPunct="1">
              <a:buFontTx/>
              <a:buAutoNum type="arabicPeriod"/>
            </a:pPr>
            <a:r>
              <a:rPr lang="en-US" sz="2000" dirty="0" smtClean="0"/>
              <a:t>The query is validated by checking that all attribute names and relation names are valid</a:t>
            </a:r>
          </a:p>
          <a:p>
            <a:pPr marL="838200" lvl="1" indent="-381000" eaLnBrk="1" hangingPunct="1">
              <a:buFontTx/>
              <a:buAutoNum type="arabicPeriod"/>
            </a:pPr>
            <a:r>
              <a:rPr lang="en-US" sz="2000" dirty="0" smtClean="0"/>
              <a:t>An intermediate internal representation for the query is created (query tree or query graph)</a:t>
            </a:r>
          </a:p>
          <a:p>
            <a:pPr marL="838200" lvl="1" indent="-381000" eaLnBrk="1" hangingPunct="1">
              <a:buFontTx/>
              <a:buAutoNum type="arabicPeriod"/>
            </a:pPr>
            <a:r>
              <a:rPr lang="en-US" sz="2000" dirty="0" smtClean="0"/>
              <a:t>Query execution strategy is developed </a:t>
            </a:r>
          </a:p>
          <a:p>
            <a:pPr marL="838200" lvl="1" indent="-381000" eaLnBrk="1" hangingPunct="1">
              <a:buFontTx/>
              <a:buAutoNum type="arabicPeriod"/>
            </a:pPr>
            <a:r>
              <a:rPr lang="en-US" sz="2000" dirty="0" smtClean="0"/>
              <a:t>Query optimizer produces an execution plan</a:t>
            </a:r>
          </a:p>
          <a:p>
            <a:pPr marL="838200" lvl="1" indent="-381000" eaLnBrk="1" hangingPunct="1">
              <a:buFontTx/>
              <a:buAutoNum type="arabicPeriod"/>
            </a:pPr>
            <a:r>
              <a:rPr lang="en-US" sz="2000" dirty="0" smtClean="0"/>
              <a:t>Code generator generates the object code</a:t>
            </a:r>
          </a:p>
          <a:p>
            <a:pPr marL="838200" lvl="1" indent="-381000" eaLnBrk="1" hangingPunct="1">
              <a:buFontTx/>
              <a:buAutoNum type="arabicPeriod"/>
            </a:pPr>
            <a:r>
              <a:rPr lang="en-US" sz="2000" dirty="0" smtClean="0"/>
              <a:t>Runtime database processor executes the code</a:t>
            </a:r>
          </a:p>
          <a:p>
            <a:pPr marL="457200" indent="-457200" eaLnBrk="1" hangingPunct="1"/>
            <a:r>
              <a:rPr lang="en-US" dirty="0" smtClean="0"/>
              <a:t>Query processing and query optimization</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Processing a Query</a:t>
            </a:r>
            <a:endParaRPr lang="en-US" dirty="0"/>
          </a:p>
        </p:txBody>
      </p:sp>
      <p:sp>
        <p:nvSpPr>
          <p:cNvPr id="4" name="Rectangle 3"/>
          <p:cNvSpPr>
            <a:spLocks noGrp="1" noChangeArrowheads="1"/>
          </p:cNvSpPr>
          <p:nvPr>
            <p:ph idx="1"/>
          </p:nvPr>
        </p:nvSpPr>
        <p:spPr>
          <a:xfrm>
            <a:off x="457200" y="1600200"/>
            <a:ext cx="8229600" cy="5257800"/>
          </a:xfrm>
        </p:spPr>
        <p:txBody>
          <a:bodyPr>
            <a:normAutofit/>
          </a:bodyPr>
          <a:lstStyle/>
          <a:p>
            <a:pPr marL="457200" indent="-457200" eaLnBrk="1" hangingPunct="1"/>
            <a:r>
              <a:rPr lang="en-US" dirty="0" smtClean="0"/>
              <a:t>Typical steps in processing a high-level query</a:t>
            </a:r>
          </a:p>
          <a:p>
            <a:pPr marL="1238250" lvl="2" indent="-381000">
              <a:buFontTx/>
              <a:buAutoNum type="arabicPeriod"/>
            </a:pPr>
            <a:r>
              <a:rPr lang="en-US" i="1" dirty="0" smtClean="0"/>
              <a:t>Query  in a high-level query language like SQL</a:t>
            </a:r>
          </a:p>
          <a:p>
            <a:pPr marL="1238250" lvl="2" indent="-381000">
              <a:buFontTx/>
              <a:buAutoNum type="arabicPeriod"/>
            </a:pPr>
            <a:r>
              <a:rPr lang="en-US" b="1" dirty="0" smtClean="0"/>
              <a:t>Scanning, parsing, and validation</a:t>
            </a:r>
          </a:p>
          <a:p>
            <a:pPr marL="1238250" lvl="2" indent="-381000">
              <a:buFontTx/>
              <a:buAutoNum type="arabicPeriod"/>
            </a:pPr>
            <a:r>
              <a:rPr lang="en-US" i="1" dirty="0" smtClean="0"/>
              <a:t>Intermediate-form of query like query tree</a:t>
            </a:r>
          </a:p>
          <a:p>
            <a:pPr marL="1238250" lvl="2" indent="-381000">
              <a:buFontTx/>
              <a:buAutoNum type="arabicPeriod"/>
            </a:pPr>
            <a:r>
              <a:rPr lang="en-US" b="1" dirty="0" smtClean="0"/>
              <a:t>Query optimizer</a:t>
            </a:r>
          </a:p>
          <a:p>
            <a:pPr marL="1238250" lvl="2" indent="-381000">
              <a:buFontTx/>
              <a:buAutoNum type="arabicPeriod"/>
            </a:pPr>
            <a:r>
              <a:rPr lang="en-US" i="1" dirty="0" smtClean="0"/>
              <a:t>Execution plan</a:t>
            </a:r>
          </a:p>
          <a:p>
            <a:pPr marL="1238250" lvl="2" indent="-381000">
              <a:buFontTx/>
              <a:buAutoNum type="arabicPeriod"/>
            </a:pPr>
            <a:r>
              <a:rPr lang="en-US" b="1" dirty="0" smtClean="0"/>
              <a:t>Query code generator</a:t>
            </a:r>
          </a:p>
          <a:p>
            <a:pPr marL="1238250" lvl="2" indent="-381000">
              <a:buFontTx/>
              <a:buAutoNum type="arabicPeriod"/>
            </a:pPr>
            <a:r>
              <a:rPr lang="en-US" i="1" dirty="0" smtClean="0"/>
              <a:t>Object-code for the query</a:t>
            </a:r>
          </a:p>
          <a:p>
            <a:pPr marL="1238250" lvl="2" indent="-381000">
              <a:buFontTx/>
              <a:buAutoNum type="arabicPeriod"/>
            </a:pPr>
            <a:r>
              <a:rPr lang="en-US" b="1" dirty="0" smtClean="0"/>
              <a:t>Run-time database processor</a:t>
            </a:r>
          </a:p>
          <a:p>
            <a:pPr marL="1238250" lvl="2" indent="-381000">
              <a:buFontTx/>
              <a:buAutoNum type="arabicPeriod"/>
            </a:pPr>
            <a:r>
              <a:rPr lang="en-US" i="1" dirty="0" smtClean="0"/>
              <a:t>Results of query</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Processing a Query</a:t>
            </a:r>
            <a:endParaRPr lang="en-US" dirty="0"/>
          </a:p>
        </p:txBody>
      </p:sp>
      <p:pic>
        <p:nvPicPr>
          <p:cNvPr id="4" name="Picture 5" descr="fig15_01"/>
          <p:cNvPicPr>
            <a:picLocks noGrp="1" noChangeAspect="1" noChangeArrowheads="1"/>
          </p:cNvPicPr>
          <p:nvPr>
            <p:ph idx="1"/>
          </p:nvPr>
        </p:nvPicPr>
        <p:blipFill>
          <a:blip r:embed="rId2"/>
          <a:srcRect/>
          <a:stretch>
            <a:fillRect/>
          </a:stretch>
        </p:blipFill>
        <p:spPr bwMode="auto">
          <a:xfrm>
            <a:off x="381000" y="1524000"/>
            <a:ext cx="8305800" cy="52935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1026" name="Picture 2" descr="http://3.bp.blogspot.com/-q8kgpgvYS-E/VCQ6hbin8FI/AAAAAAAABKc/M1JI___HJfw/s1600/queryprocessi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
            <a:ext cx="8839200" cy="670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15106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867400"/>
          </a:xfrm>
        </p:spPr>
        <p:txBody>
          <a:bodyPr/>
          <a:lstStyle/>
          <a:p>
            <a:r>
              <a:rPr lang="en-US" b="1" u="sng" dirty="0"/>
              <a:t>Input:</a:t>
            </a:r>
            <a:endParaRPr lang="en-US" dirty="0"/>
          </a:p>
          <a:p>
            <a:pPr lvl="1"/>
            <a:r>
              <a:rPr lang="en-US" dirty="0"/>
              <a:t>A query written in SQL is given as input to the query processor. </a:t>
            </a:r>
            <a:endParaRPr lang="en-US" dirty="0" smtClean="0"/>
          </a:p>
          <a:p>
            <a:r>
              <a:rPr lang="en-US" b="1" u="sng" dirty="0"/>
              <a:t>Parsing</a:t>
            </a:r>
            <a:endParaRPr lang="en-US" dirty="0"/>
          </a:p>
          <a:p>
            <a:pPr lvl="1"/>
            <a:r>
              <a:rPr lang="en-US" dirty="0"/>
              <a:t>In this step, the parser of the query processor module checks the syntax of the query, the user’s privileges to execute the query, the table names and attribute names, etc. The correct table names, attribute names and the privilege of the users can be taken from the system catalog (data dictionary).</a:t>
            </a:r>
          </a:p>
          <a:p>
            <a:endParaRPr lang="en-IN" dirty="0"/>
          </a:p>
        </p:txBody>
      </p:sp>
    </p:spTree>
    <p:extLst>
      <p:ext uri="{BB962C8B-B14F-4D97-AF65-F5344CB8AC3E}">
        <p14:creationId xmlns:p14="http://schemas.microsoft.com/office/powerpoint/2010/main" val="40885382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172200"/>
          </a:xfrm>
        </p:spPr>
        <p:txBody>
          <a:bodyPr>
            <a:normAutofit/>
          </a:bodyPr>
          <a:lstStyle/>
          <a:p>
            <a:r>
              <a:rPr lang="en-US" b="1" u="sng" dirty="0"/>
              <a:t>Translation</a:t>
            </a:r>
            <a:endParaRPr lang="en-US" dirty="0"/>
          </a:p>
          <a:p>
            <a:pPr lvl="1"/>
            <a:r>
              <a:rPr lang="en-US" dirty="0"/>
              <a:t>If we have written a valid query, then it is converted from high level language SQL to low level instruction in Relational Algebra.</a:t>
            </a:r>
          </a:p>
          <a:p>
            <a:pPr lvl="1"/>
            <a:r>
              <a:rPr lang="en-US" dirty="0"/>
              <a:t>For example, our SQL query can be converted into a Relational Algebra equivalent as follows</a:t>
            </a:r>
            <a:r>
              <a:rPr lang="en-US" dirty="0" smtClean="0"/>
              <a:t>;</a:t>
            </a:r>
          </a:p>
          <a:p>
            <a:pPr lvl="1"/>
            <a:r>
              <a:rPr lang="en-US" dirty="0"/>
              <a:t>SELECT </a:t>
            </a:r>
            <a:r>
              <a:rPr lang="en-US" dirty="0" err="1" smtClean="0"/>
              <a:t>Ename</a:t>
            </a:r>
            <a:r>
              <a:rPr lang="en-US" dirty="0" smtClean="0"/>
              <a:t> FROM </a:t>
            </a:r>
            <a:r>
              <a:rPr lang="en-US" dirty="0"/>
              <a:t>Employee, </a:t>
            </a:r>
            <a:r>
              <a:rPr lang="en-US" dirty="0" err="1" smtClean="0"/>
              <a:t>Proj_Assigned</a:t>
            </a:r>
            <a:r>
              <a:rPr lang="en-US" dirty="0" smtClean="0"/>
              <a:t> WHERE </a:t>
            </a:r>
            <a:r>
              <a:rPr lang="en-US" dirty="0" err="1"/>
              <a:t>Employee.Eno</a:t>
            </a:r>
            <a:r>
              <a:rPr lang="en-US" dirty="0"/>
              <a:t> = </a:t>
            </a:r>
            <a:r>
              <a:rPr lang="en-US" dirty="0" err="1"/>
              <a:t>Proj_Assigned.Eno</a:t>
            </a:r>
            <a:r>
              <a:rPr lang="en-US" dirty="0"/>
              <a:t> AND DOP &gt; 10</a:t>
            </a:r>
            <a:r>
              <a:rPr lang="en-US" dirty="0" smtClean="0"/>
              <a:t>;</a:t>
            </a:r>
            <a:endParaRPr lang="en-US" dirty="0"/>
          </a:p>
          <a:p>
            <a:pPr lvl="1"/>
            <a:r>
              <a:rPr lang="en-US" dirty="0"/>
              <a:t>π</a:t>
            </a:r>
            <a:r>
              <a:rPr lang="en-US" baseline="-25000" dirty="0" err="1"/>
              <a:t>Ename</a:t>
            </a:r>
            <a:r>
              <a:rPr lang="en-US" dirty="0"/>
              <a:t>(</a:t>
            </a:r>
            <a:r>
              <a:rPr lang="en-US" dirty="0" err="1"/>
              <a:t>σ</a:t>
            </a:r>
            <a:r>
              <a:rPr lang="en-US" baseline="-25000" dirty="0" err="1"/>
              <a:t>DOP</a:t>
            </a:r>
            <a:r>
              <a:rPr lang="en-US" baseline="-25000" dirty="0"/>
              <a:t>&gt;10 Λ </a:t>
            </a:r>
            <a:r>
              <a:rPr lang="en-US" baseline="-25000" dirty="0" err="1" smtClean="0"/>
              <a:t>Employee.Eno</a:t>
            </a:r>
            <a:r>
              <a:rPr lang="en-US" baseline="-25000" dirty="0" smtClean="0"/>
              <a:t>=</a:t>
            </a:r>
            <a:r>
              <a:rPr lang="en-US" baseline="-25000" dirty="0" err="1" smtClean="0"/>
              <a:t>Proj_Assigned.Eno</a:t>
            </a:r>
            <a:r>
              <a:rPr lang="en-US" baseline="-25000" dirty="0" smtClean="0"/>
              <a:t> </a:t>
            </a:r>
            <a:r>
              <a:rPr lang="en-US" dirty="0" smtClean="0"/>
              <a:t>(</a:t>
            </a:r>
            <a:r>
              <a:rPr lang="en-US" dirty="0"/>
              <a:t>Employee X </a:t>
            </a:r>
            <a:r>
              <a:rPr lang="en-US" dirty="0" err="1"/>
              <a:t>Prof_Assigned</a:t>
            </a:r>
            <a:r>
              <a:rPr lang="en-US" dirty="0" smtClean="0"/>
              <a:t>))</a:t>
            </a:r>
            <a:endParaRPr lang="en-US" dirty="0"/>
          </a:p>
        </p:txBody>
      </p:sp>
    </p:spTree>
    <p:extLst>
      <p:ext uri="{BB962C8B-B14F-4D97-AF65-F5344CB8AC3E}">
        <p14:creationId xmlns:p14="http://schemas.microsoft.com/office/powerpoint/2010/main" val="32383655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458200" cy="5668963"/>
          </a:xfrm>
        </p:spPr>
        <p:txBody>
          <a:bodyPr/>
          <a:lstStyle/>
          <a:p>
            <a:r>
              <a:rPr lang="en-US" b="1" u="sng" dirty="0"/>
              <a:t>Optimizer</a:t>
            </a:r>
            <a:endParaRPr lang="en-US" dirty="0"/>
          </a:p>
          <a:p>
            <a:pPr lvl="1"/>
            <a:r>
              <a:rPr lang="en-US" dirty="0"/>
              <a:t>Optimizer uses the statistical data stored as part of data dictionary. The statistical data are information about the size of the table, the length of records, the indexes created on the table, etc. Optimizer also checks for the conditions and conditional attributes which are parts of the query.</a:t>
            </a:r>
          </a:p>
          <a:p>
            <a:endParaRPr lang="en-IN" dirty="0"/>
          </a:p>
        </p:txBody>
      </p:sp>
    </p:spTree>
    <p:extLst>
      <p:ext uri="{BB962C8B-B14F-4D97-AF65-F5344CB8AC3E}">
        <p14:creationId xmlns:p14="http://schemas.microsoft.com/office/powerpoint/2010/main" val="9946726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a:bodyPr>
          <a:lstStyle/>
          <a:p>
            <a:r>
              <a:rPr lang="en-US" b="1" u="sng" dirty="0"/>
              <a:t>Execution Plan</a:t>
            </a:r>
            <a:endParaRPr lang="en-US" dirty="0"/>
          </a:p>
          <a:p>
            <a:pPr lvl="1"/>
            <a:r>
              <a:rPr lang="en-US" dirty="0"/>
              <a:t>A query can be expressed in many ways. The query processor module, at this stage, using the information collected in step 3 to find different relational algebra expressions that are equivalent and return the result of the one which we have written already.</a:t>
            </a:r>
          </a:p>
          <a:p>
            <a:pPr lvl="1"/>
            <a:r>
              <a:rPr lang="en-US" dirty="0"/>
              <a:t>For our example, the query written in Relational algebra can also be written as the one given below;</a:t>
            </a:r>
          </a:p>
          <a:p>
            <a:pPr lvl="1"/>
            <a:r>
              <a:rPr lang="en-US" dirty="0"/>
              <a:t>π</a:t>
            </a:r>
            <a:r>
              <a:rPr lang="en-US" baseline="-25000" dirty="0" err="1"/>
              <a:t>Ename</a:t>
            </a:r>
            <a:r>
              <a:rPr lang="en-US" dirty="0"/>
              <a:t>(Employee </a:t>
            </a:r>
            <a:r>
              <a:rPr lang="en-US" b="1" dirty="0"/>
              <a:t>⋈</a:t>
            </a:r>
            <a:r>
              <a:rPr lang="en-US" baseline="-25000" dirty="0" err="1"/>
              <a:t>Eno</a:t>
            </a:r>
            <a:r>
              <a:rPr lang="en-US" dirty="0"/>
              <a:t>  (</a:t>
            </a:r>
            <a:r>
              <a:rPr lang="en-US" dirty="0" err="1"/>
              <a:t>σ</a:t>
            </a:r>
            <a:r>
              <a:rPr lang="en-US" baseline="-25000" dirty="0" err="1"/>
              <a:t>DOP</a:t>
            </a:r>
            <a:r>
              <a:rPr lang="en-US" baseline="-25000" dirty="0"/>
              <a:t>&gt;10 </a:t>
            </a:r>
            <a:r>
              <a:rPr lang="en-US" dirty="0"/>
              <a:t>(</a:t>
            </a:r>
            <a:r>
              <a:rPr lang="en-US" dirty="0" err="1"/>
              <a:t>Prof_Assigned</a:t>
            </a:r>
            <a:r>
              <a:rPr lang="en-US" dirty="0"/>
              <a:t>)))</a:t>
            </a:r>
          </a:p>
          <a:p>
            <a:pPr lvl="1"/>
            <a:r>
              <a:rPr lang="en-US" dirty="0"/>
              <a:t>So far, we have got two execution plans. Only condition is that both plans should give the same result.</a:t>
            </a:r>
          </a:p>
          <a:p>
            <a:endParaRPr lang="en-IN" dirty="0"/>
          </a:p>
        </p:txBody>
      </p:sp>
    </p:spTree>
    <p:extLst>
      <p:ext uri="{BB962C8B-B14F-4D97-AF65-F5344CB8AC3E}">
        <p14:creationId xmlns:p14="http://schemas.microsoft.com/office/powerpoint/2010/main" val="3727107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324600"/>
          </a:xfrm>
        </p:spPr>
        <p:txBody>
          <a:bodyPr>
            <a:normAutofit fontScale="92500" lnSpcReduction="20000"/>
          </a:bodyPr>
          <a:lstStyle/>
          <a:p>
            <a:r>
              <a:rPr lang="en-US" b="1" u="sng" dirty="0"/>
              <a:t>Evaluation</a:t>
            </a:r>
            <a:endParaRPr lang="en-US" dirty="0"/>
          </a:p>
          <a:p>
            <a:pPr lvl="1"/>
            <a:r>
              <a:rPr lang="en-US" sz="3100" dirty="0" smtClean="0"/>
              <a:t>At </a:t>
            </a:r>
            <a:r>
              <a:rPr lang="en-US" sz="3100" dirty="0"/>
              <a:t>this stage, we choose one execution plan of the several we have developed. This Execution plan accesses data from the database to give the final result.</a:t>
            </a:r>
          </a:p>
          <a:p>
            <a:pPr lvl="1"/>
            <a:r>
              <a:rPr lang="en-US" sz="3100" dirty="0"/>
              <a:t>In our example, the second plan may be good. In the first plan, we join two relations (costly operation) then apply the condition (conditions are considered as filters) on the joined relation. This consumes more time as well as space.</a:t>
            </a:r>
          </a:p>
          <a:p>
            <a:pPr lvl="1"/>
            <a:r>
              <a:rPr lang="en-US" sz="3100" dirty="0"/>
              <a:t>In the second plan, we filter one of the tables (</a:t>
            </a:r>
            <a:r>
              <a:rPr lang="en-US" sz="3100" dirty="0" err="1"/>
              <a:t>Proj_Assigned</a:t>
            </a:r>
            <a:r>
              <a:rPr lang="en-US" sz="3100" dirty="0"/>
              <a:t>) and the result is joined with the Employee table. This join may need to compare less number of records. Hence, the second plan is the best (with the information known, not always</a:t>
            </a:r>
            <a:r>
              <a:rPr lang="en-US" sz="3100" dirty="0" smtClean="0"/>
              <a:t>).</a:t>
            </a:r>
            <a:endParaRPr lang="en-IN" dirty="0"/>
          </a:p>
        </p:txBody>
      </p:sp>
    </p:spTree>
    <p:extLst>
      <p:ext uri="{BB962C8B-B14F-4D97-AF65-F5344CB8AC3E}">
        <p14:creationId xmlns:p14="http://schemas.microsoft.com/office/powerpoint/2010/main" val="13602846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4.bp.blogspot.com/-A-wg5QntMxc/VCQ8Xpuyi0I/AAAAAAAABKo/jQkQ4dAV2Kg/s1600/Query_Process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8382000" cy="678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18459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smtClean="0"/>
              <a:t>Heuristic Optimization of Query Trees</a:t>
            </a:r>
            <a:endParaRPr lang="en-US" dirty="0"/>
          </a:p>
        </p:txBody>
      </p:sp>
      <p:sp>
        <p:nvSpPr>
          <p:cNvPr id="4" name="Rectangle 3"/>
          <p:cNvSpPr>
            <a:spLocks noGrp="1" noChangeArrowheads="1"/>
          </p:cNvSpPr>
          <p:nvPr>
            <p:ph idx="1"/>
          </p:nvPr>
        </p:nvSpPr>
        <p:spPr/>
        <p:txBody>
          <a:bodyPr/>
          <a:lstStyle/>
          <a:p>
            <a:pPr eaLnBrk="1" hangingPunct="1">
              <a:buFont typeface="Wingdings" pitchFamily="2" charset="2"/>
              <a:buNone/>
            </a:pPr>
            <a:r>
              <a:rPr lang="en-US" altLang="zh-TW" dirty="0" smtClean="0">
                <a:latin typeface="Arial Narrow" pitchFamily="34" charset="0"/>
              </a:rPr>
              <a:t>Heuristic: Rule that leads to the least cost in most cases</a:t>
            </a:r>
          </a:p>
          <a:p>
            <a:pPr eaLnBrk="1" hangingPunct="1">
              <a:buFont typeface="Wingdings" pitchFamily="2" charset="2"/>
              <a:buNone/>
            </a:pPr>
            <a:endParaRPr lang="en-US" altLang="zh-TW" dirty="0">
              <a:latin typeface="Arial Narrow" pitchFamily="34" charset="0"/>
            </a:endParaRPr>
          </a:p>
          <a:p>
            <a:pPr eaLnBrk="1" hangingPunct="1">
              <a:buFont typeface="Wingdings" pitchFamily="2" charset="2"/>
              <a:buNone/>
            </a:pPr>
            <a:r>
              <a:rPr lang="en-US" altLang="zh-TW" dirty="0" smtClean="0">
                <a:latin typeface="Arial Narrow" pitchFamily="34" charset="0"/>
              </a:rPr>
              <a:t>Query Tree </a:t>
            </a:r>
            <a:r>
              <a:rPr lang="en-US" altLang="zh-TW" dirty="0" smtClean="0">
                <a:solidFill>
                  <a:schemeClr val="accent1"/>
                </a:solidFill>
                <a:latin typeface="Arial Narrow" pitchFamily="34" charset="0"/>
              </a:rPr>
              <a:t>(relational algebra expression)</a:t>
            </a:r>
          </a:p>
          <a:p>
            <a:pPr eaLnBrk="1" hangingPunct="1">
              <a:lnSpc>
                <a:spcPct val="180000"/>
              </a:lnSpc>
              <a:buFont typeface="Wingdings" pitchFamily="2" charset="2"/>
              <a:buNone/>
            </a:pPr>
            <a:r>
              <a:rPr lang="en-US" altLang="zh-TW" dirty="0" smtClean="0">
                <a:latin typeface="Arial Narrow" pitchFamily="34" charset="0"/>
              </a:rPr>
              <a:t>leaf node         :</a:t>
            </a:r>
            <a:r>
              <a:rPr lang="en-US" altLang="zh-TW" dirty="0" smtClean="0">
                <a:solidFill>
                  <a:schemeClr val="accent1"/>
                </a:solidFill>
                <a:latin typeface="Arial Narrow" pitchFamily="34" charset="0"/>
              </a:rPr>
              <a:t>relations</a:t>
            </a:r>
          </a:p>
          <a:p>
            <a:pPr eaLnBrk="1" hangingPunct="1">
              <a:buFont typeface="Wingdings" pitchFamily="2" charset="2"/>
              <a:buNone/>
            </a:pPr>
            <a:r>
              <a:rPr lang="en-US" altLang="zh-TW" dirty="0" smtClean="0">
                <a:latin typeface="Arial Narrow" pitchFamily="34" charset="0"/>
              </a:rPr>
              <a:t>Internal node   :</a:t>
            </a:r>
            <a:r>
              <a:rPr lang="en-US" altLang="zh-TW" dirty="0" smtClean="0">
                <a:solidFill>
                  <a:schemeClr val="accent1"/>
                </a:solidFill>
                <a:latin typeface="Arial Narrow" pitchFamily="34" charset="0"/>
              </a:rPr>
              <a:t>relational algebra operations</a:t>
            </a:r>
          </a:p>
          <a:p>
            <a:pPr eaLnBrk="1" hangingPunct="1">
              <a:buFont typeface="Wingdings" pitchFamily="2" charset="2"/>
              <a:buNone/>
            </a:pPr>
            <a:r>
              <a:rPr lang="en-US" altLang="zh-TW" dirty="0" smtClean="0">
                <a:latin typeface="Arial Narrow" pitchFamily="34" charset="0"/>
              </a:rPr>
              <a:t>execution of query trees:  </a:t>
            </a:r>
            <a:r>
              <a:rPr lang="en-US" altLang="zh-TW" dirty="0" smtClean="0">
                <a:solidFill>
                  <a:schemeClr val="accent1"/>
                </a:solidFill>
                <a:latin typeface="Arial Narrow" pitchFamily="34" charset="0"/>
              </a:rPr>
              <a:t>post order traversal of tree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smtClean="0"/>
              <a:t>Heuristic Optimization of Query Trees-Example</a:t>
            </a:r>
            <a:endParaRPr lang="en-US" dirty="0"/>
          </a:p>
        </p:txBody>
      </p:sp>
      <p:pic>
        <p:nvPicPr>
          <p:cNvPr id="4" name="Picture 5" descr="fig05_05"/>
          <p:cNvPicPr>
            <a:picLocks noGrp="1" noChangeAspect="1" noChangeArrowheads="1"/>
          </p:cNvPicPr>
          <p:nvPr>
            <p:ph idx="1"/>
          </p:nvPr>
        </p:nvPicPr>
        <p:blipFill>
          <a:blip r:embed="rId2"/>
          <a:srcRect/>
          <a:stretch>
            <a:fillRect/>
          </a:stretch>
        </p:blipFill>
        <p:spPr bwMode="auto">
          <a:xfrm>
            <a:off x="304800" y="1524000"/>
            <a:ext cx="8282532" cy="5029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smtClean="0"/>
              <a:t>Heuristic Optimization of Query Trees-Example</a:t>
            </a:r>
            <a:endParaRPr lang="en-US" dirty="0"/>
          </a:p>
        </p:txBody>
      </p:sp>
      <p:sp>
        <p:nvSpPr>
          <p:cNvPr id="4" name="Rectangle 3"/>
          <p:cNvSpPr>
            <a:spLocks noGrp="1" noChangeArrowheads="1"/>
          </p:cNvSpPr>
          <p:nvPr>
            <p:ph idx="1"/>
          </p:nvPr>
        </p:nvSpPr>
        <p:spPr/>
        <p:txBody>
          <a:bodyPr>
            <a:normAutofit fontScale="92500"/>
          </a:bodyPr>
          <a:lstStyle/>
          <a:p>
            <a:pPr eaLnBrk="1" hangingPunct="1"/>
            <a:r>
              <a:rPr lang="en-US" dirty="0" smtClean="0"/>
              <a:t>Query</a:t>
            </a:r>
          </a:p>
          <a:p>
            <a:pPr eaLnBrk="1" hangingPunct="1">
              <a:buFontTx/>
              <a:buNone/>
            </a:pPr>
            <a:r>
              <a:rPr lang="en-US" dirty="0" smtClean="0"/>
              <a:t>	"Find the last names of employees born after 1957 who work on a project named ‘Aquarius’." </a:t>
            </a:r>
          </a:p>
          <a:p>
            <a:pPr lvl="1" eaLnBrk="1" hangingPunct="1">
              <a:buFontTx/>
              <a:buNone/>
            </a:pPr>
            <a:endParaRPr lang="en-US" b="1" dirty="0" smtClean="0"/>
          </a:p>
          <a:p>
            <a:pPr eaLnBrk="1" hangingPunct="1"/>
            <a:r>
              <a:rPr lang="en-US" dirty="0" smtClean="0"/>
              <a:t>SQL</a:t>
            </a:r>
          </a:p>
          <a:p>
            <a:pPr lvl="1" eaLnBrk="1" hangingPunct="1">
              <a:buFontTx/>
              <a:buNone/>
            </a:pPr>
            <a:r>
              <a:rPr lang="en-US" b="1" dirty="0" smtClean="0"/>
              <a:t>SELECT </a:t>
            </a:r>
            <a:r>
              <a:rPr lang="en-US" dirty="0" smtClean="0"/>
              <a:t>LNAME   </a:t>
            </a:r>
          </a:p>
          <a:p>
            <a:pPr lvl="1" eaLnBrk="1" hangingPunct="1">
              <a:buFontTx/>
              <a:buNone/>
            </a:pPr>
            <a:r>
              <a:rPr lang="en-US" b="1" dirty="0" smtClean="0"/>
              <a:t>FROM</a:t>
            </a:r>
            <a:r>
              <a:rPr lang="en-US" dirty="0" smtClean="0"/>
              <a:t> EMPLOYEE, WORKS_ON, PROJECT   </a:t>
            </a:r>
          </a:p>
          <a:p>
            <a:pPr lvl="1" eaLnBrk="1" hangingPunct="1">
              <a:buFontTx/>
              <a:buNone/>
            </a:pPr>
            <a:r>
              <a:rPr lang="en-US" b="1" dirty="0" smtClean="0"/>
              <a:t>WHERE</a:t>
            </a:r>
            <a:r>
              <a:rPr lang="en-US" dirty="0" smtClean="0"/>
              <a:t> PNAME=‘Aquarius’ </a:t>
            </a:r>
            <a:r>
              <a:rPr lang="en-US" b="1" dirty="0" smtClean="0"/>
              <a:t>AND</a:t>
            </a:r>
            <a:r>
              <a:rPr lang="en-US" dirty="0" smtClean="0"/>
              <a:t> PNUMBER=PNO </a:t>
            </a:r>
            <a:r>
              <a:rPr lang="en-US" b="1" dirty="0" smtClean="0"/>
              <a:t>AND</a:t>
            </a:r>
            <a:r>
              <a:rPr lang="en-US" dirty="0" smtClean="0"/>
              <a:t> ESSN=SSN </a:t>
            </a:r>
            <a:r>
              <a:rPr lang="en-US" b="1" dirty="0" smtClean="0"/>
              <a:t>AND</a:t>
            </a:r>
            <a:r>
              <a:rPr lang="en-US" dirty="0" smtClean="0"/>
              <a:t> BDATE.‘1957-12-31’;</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254665" y="2124244"/>
            <a:ext cx="863467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171450" algn="l"/>
                <a:tab pos="228600" algn="l"/>
              </a:tabLst>
            </a:pPr>
            <a:r>
              <a:rPr kumimoji="0" lang="en-US" altLang="en-US" sz="2000" b="0" i="0" u="none" strike="noStrike" cap="none" normalizeH="0" baseline="0" dirty="0" smtClean="0">
                <a:ln>
                  <a:noFill/>
                </a:ln>
                <a:solidFill>
                  <a:schemeClr val="tx1"/>
                </a:solidFill>
                <a:effectLst/>
                <a:ea typeface="Arial" panose="020B0604020202020204" pitchFamily="34" charset="0"/>
                <a:cs typeface="Times New Roman" panose="02020603050405020304" pitchFamily="18" charset="0"/>
              </a:rPr>
              <a:t>Steps in converting a query tree during heuristic optimization.</a:t>
            </a:r>
            <a:endParaRPr kumimoji="0" lang="en-US" alt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171450" algn="l"/>
                <a:tab pos="228600" algn="l"/>
              </a:tabLst>
            </a:pPr>
            <a:r>
              <a:rPr kumimoji="0" lang="en-US" altLang="en-US" sz="2000" b="0" i="0" u="none" strike="noStrike" cap="none" normalizeH="0" baseline="0" dirty="0" smtClean="0">
                <a:ln>
                  <a:noFill/>
                </a:ln>
                <a:solidFill>
                  <a:schemeClr val="tx1"/>
                </a:solidFill>
                <a:effectLst/>
                <a:ea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None/>
              <a:tabLst>
                <a:tab pos="171450" algn="l"/>
                <a:tab pos="228600" algn="l"/>
              </a:tabLst>
            </a:pPr>
            <a:r>
              <a:rPr lang="en-US" altLang="en-US" sz="2000" dirty="0" smtClean="0">
                <a:latin typeface="Times New Roman" panose="02020603050405020304" pitchFamily="18" charset="0"/>
                <a:ea typeface="Arial" panose="020B0604020202020204" pitchFamily="34" charset="0"/>
                <a:cs typeface="Times New Roman" panose="02020603050405020304" pitchFamily="18" charset="0"/>
              </a:rPr>
              <a:t>a) </a:t>
            </a:r>
            <a:r>
              <a:rPr kumimoji="0" lang="en-US" altLang="en-US" sz="2000" b="0" i="0" u="none" strike="noStrike" cap="none" normalizeH="0" baseline="0" dirty="0" smtClean="0">
                <a:ln>
                  <a:noFill/>
                </a:ln>
                <a:solidFill>
                  <a:schemeClr val="tx1"/>
                </a:solidFill>
                <a:effectLst/>
                <a:ea typeface="Arial" panose="020B0604020202020204" pitchFamily="34" charset="0"/>
                <a:cs typeface="Times New Roman" panose="02020603050405020304" pitchFamily="18" charset="0"/>
              </a:rPr>
              <a:t>Initial (canonical) query tree for SQL query Q.</a:t>
            </a:r>
            <a:endParaRPr kumimoji="0" lang="en-US" alt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171450" algn="l"/>
                <a:tab pos="228600" algn="l"/>
              </a:tabLst>
            </a:pPr>
            <a:r>
              <a:rPr kumimoji="0" lang="en-US" altLang="en-US" sz="2000" b="0" i="0" u="none" strike="noStrike" cap="none" normalizeH="0" baseline="0" dirty="0" smtClean="0">
                <a:ln>
                  <a:noFill/>
                </a:ln>
                <a:solidFill>
                  <a:schemeClr val="tx1"/>
                </a:solidFill>
                <a:effectLst/>
                <a:ea typeface="Arial" panose="020B0604020202020204" pitchFamily="34" charset="0"/>
                <a:cs typeface="Times New Roman" panose="02020603050405020304" pitchFamily="18" charset="0"/>
              </a:rPr>
              <a:t> </a:t>
            </a:r>
            <a:endParaRPr kumimoji="0" lang="en-US" alt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None/>
              <a:tabLst>
                <a:tab pos="171450" algn="l"/>
                <a:tab pos="228600" algn="l"/>
              </a:tabLst>
            </a:pPr>
            <a:r>
              <a:rPr lang="en-US" altLang="en-US" sz="2000" dirty="0" smtClean="0">
                <a:latin typeface="Times New Roman" panose="02020603050405020304" pitchFamily="18" charset="0"/>
                <a:ea typeface="Arial" panose="020B0604020202020204" pitchFamily="34" charset="0"/>
                <a:cs typeface="Times New Roman" panose="02020603050405020304" pitchFamily="18" charset="0"/>
              </a:rPr>
              <a:t>b) </a:t>
            </a:r>
            <a:r>
              <a:rPr kumimoji="0" lang="en-US" altLang="en-US" sz="2000" b="0" i="0" u="none" strike="noStrike" cap="none" normalizeH="0" baseline="0" dirty="0" smtClean="0">
                <a:ln>
                  <a:noFill/>
                </a:ln>
                <a:solidFill>
                  <a:schemeClr val="tx1"/>
                </a:solidFill>
                <a:effectLst/>
                <a:ea typeface="Arial" panose="020B0604020202020204" pitchFamily="34" charset="0"/>
                <a:cs typeface="Times New Roman" panose="02020603050405020304" pitchFamily="18" charset="0"/>
              </a:rPr>
              <a:t>Moving SELECT operations down the query tree.</a:t>
            </a:r>
            <a:endParaRPr kumimoji="0" lang="en-US" alt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171450" algn="l"/>
                <a:tab pos="228600" algn="l"/>
              </a:tabLst>
            </a:pPr>
            <a:r>
              <a:rPr kumimoji="0" lang="en-US" altLang="en-US" sz="2000" b="0" i="0" u="none" strike="noStrike" cap="none" normalizeH="0" baseline="0" dirty="0" smtClean="0">
                <a:ln>
                  <a:noFill/>
                </a:ln>
                <a:solidFill>
                  <a:schemeClr val="tx1"/>
                </a:solidFill>
                <a:effectLst/>
                <a:ea typeface="Arial" panose="020B0604020202020204" pitchFamily="34" charset="0"/>
                <a:cs typeface="Times New Roman" panose="02020603050405020304" pitchFamily="18" charset="0"/>
              </a:rPr>
              <a:t> </a:t>
            </a:r>
            <a:endParaRPr kumimoji="0" lang="en-US" alt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None/>
              <a:tabLst>
                <a:tab pos="171450" algn="l"/>
                <a:tab pos="228600" algn="l"/>
              </a:tabLst>
            </a:pPr>
            <a:r>
              <a:rPr lang="en-US" altLang="en-US" sz="2000" dirty="0" smtClean="0">
                <a:latin typeface="Times New Roman" panose="02020603050405020304" pitchFamily="18" charset="0"/>
                <a:ea typeface="Arial" panose="020B0604020202020204" pitchFamily="34" charset="0"/>
                <a:cs typeface="Times New Roman" panose="02020603050405020304" pitchFamily="18" charset="0"/>
              </a:rPr>
              <a:t>c) </a:t>
            </a:r>
            <a:r>
              <a:rPr kumimoji="0" lang="en-US" altLang="en-US" sz="2000" b="0" i="0" u="none" strike="noStrike" cap="none" normalizeH="0" baseline="0" dirty="0" smtClean="0">
                <a:ln>
                  <a:noFill/>
                </a:ln>
                <a:solidFill>
                  <a:schemeClr val="tx1"/>
                </a:solidFill>
                <a:effectLst/>
                <a:ea typeface="Arial" panose="020B0604020202020204" pitchFamily="34" charset="0"/>
                <a:cs typeface="Times New Roman" panose="02020603050405020304" pitchFamily="18" charset="0"/>
              </a:rPr>
              <a:t>Applying the more restrictive SELECT operation first.</a:t>
            </a:r>
            <a:endParaRPr kumimoji="0" lang="en-US" alt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171450" algn="l"/>
                <a:tab pos="228600" algn="l"/>
              </a:tabLst>
            </a:pPr>
            <a:r>
              <a:rPr kumimoji="0" lang="en-US" altLang="en-US" sz="2000" b="0" i="0" u="none" strike="noStrike" cap="none" normalizeH="0" baseline="0" dirty="0" smtClean="0">
                <a:ln>
                  <a:noFill/>
                </a:ln>
                <a:solidFill>
                  <a:schemeClr val="tx1"/>
                </a:solidFill>
                <a:effectLst/>
                <a:ea typeface="Arial" panose="020B0604020202020204" pitchFamily="34" charset="0"/>
                <a:cs typeface="Times New Roman" panose="02020603050405020304" pitchFamily="18" charset="0"/>
              </a:rPr>
              <a:t> </a:t>
            </a:r>
            <a:endParaRPr kumimoji="0" lang="en-US" alt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None/>
              <a:tabLst>
                <a:tab pos="171450" algn="l"/>
                <a:tab pos="228600" algn="l"/>
              </a:tabLst>
            </a:pPr>
            <a:r>
              <a:rPr lang="en-US" altLang="en-US" sz="2000" dirty="0" smtClean="0">
                <a:latin typeface="Times New Roman" panose="02020603050405020304" pitchFamily="18" charset="0"/>
                <a:ea typeface="Arial" panose="020B0604020202020204" pitchFamily="34" charset="0"/>
                <a:cs typeface="Times New Roman" panose="02020603050405020304" pitchFamily="18" charset="0"/>
              </a:rPr>
              <a:t>d) </a:t>
            </a:r>
            <a:r>
              <a:rPr kumimoji="0" lang="en-US" altLang="en-US" sz="2000" b="0" i="0" u="none" strike="noStrike" cap="none" normalizeH="0" baseline="0" dirty="0" smtClean="0">
                <a:ln>
                  <a:noFill/>
                </a:ln>
                <a:solidFill>
                  <a:schemeClr val="tx1"/>
                </a:solidFill>
                <a:effectLst/>
                <a:ea typeface="Arial" panose="020B0604020202020204" pitchFamily="34" charset="0"/>
                <a:cs typeface="Times New Roman" panose="02020603050405020304" pitchFamily="18" charset="0"/>
              </a:rPr>
              <a:t>Replacing CARTESIAN PRODUCT and SELECT with JOIN operations.</a:t>
            </a:r>
            <a:r>
              <a:rPr lang="en-US" altLang="en-US" sz="2000" dirty="0"/>
              <a:t> </a:t>
            </a:r>
            <a:endParaRPr lang="en-US" altLang="en-US" sz="2000" dirty="0" smtClean="0"/>
          </a:p>
          <a:p>
            <a:pPr marL="0" marR="0" lvl="0" indent="0" algn="just" defTabSz="914400" rtl="0" eaLnBrk="0" fontAlgn="base" latinLnBrk="0" hangingPunct="0">
              <a:lnSpc>
                <a:spcPct val="100000"/>
              </a:lnSpc>
              <a:spcBef>
                <a:spcPct val="0"/>
              </a:spcBef>
              <a:spcAft>
                <a:spcPct val="0"/>
              </a:spcAft>
              <a:buClrTx/>
              <a:buSzTx/>
              <a:buNone/>
              <a:tabLst>
                <a:tab pos="171450" algn="l"/>
                <a:tab pos="228600" algn="l"/>
              </a:tabLst>
            </a:pPr>
            <a:endParaRPr kumimoji="0" lang="en-US" altLang="en-US" sz="2000" b="0" i="0" u="none" strike="noStrike" cap="none" normalizeH="0" baseline="0" dirty="0">
              <a:ln>
                <a:noFill/>
              </a:ln>
              <a:solidFill>
                <a:schemeClr val="tx1"/>
              </a:solidFill>
              <a:effectLst/>
              <a:ea typeface="Arial" panose="020B060402020202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tab pos="171450" algn="l"/>
                <a:tab pos="228600" algn="l"/>
              </a:tabLst>
            </a:pPr>
            <a:r>
              <a:rPr lang="en-US" altLang="en-US" sz="2000" dirty="0" smtClean="0">
                <a:ea typeface="Arial" panose="020B0604020202020204" pitchFamily="34" charset="0"/>
                <a:cs typeface="Times New Roman" panose="02020603050405020304" pitchFamily="18" charset="0"/>
              </a:rPr>
              <a:t>e) </a:t>
            </a:r>
            <a:r>
              <a:rPr kumimoji="0" lang="en-US" altLang="en-US" sz="2000" b="0" i="0" u="none" strike="noStrike" cap="none" normalizeH="0" baseline="0" dirty="0" smtClean="0">
                <a:ln>
                  <a:noFill/>
                </a:ln>
                <a:solidFill>
                  <a:schemeClr val="tx1"/>
                </a:solidFill>
                <a:effectLst/>
                <a:ea typeface="Arial" panose="020B0604020202020204" pitchFamily="34" charset="0"/>
                <a:cs typeface="Times New Roman" panose="02020603050405020304" pitchFamily="18" charset="0"/>
              </a:rPr>
              <a:t>Moving PROJECT operations down the query tree</a:t>
            </a:r>
            <a:r>
              <a:rPr kumimoji="0" lang="en-US" altLang="en-US" sz="1800" b="0" i="0" u="none" strike="noStrike" cap="none" normalizeH="0" baseline="0" dirty="0" smtClean="0">
                <a:ln>
                  <a:noFill/>
                </a:ln>
                <a:solidFill>
                  <a:schemeClr val="tx1"/>
                </a:solidFill>
                <a:effectLst/>
                <a:latin typeface="Arial" panose="020B0604020202020204" pitchFamily="34" charset="0"/>
                <a:ea typeface="Arial" panose="020B0604020202020204" pitchFamily="34" charset="0"/>
                <a:cs typeface="Times New Roman" panose="02020603050405020304" pitchFamily="18"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7452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2"/>
          <p:cNvSpPr>
            <a:spLocks noGrp="1"/>
          </p:cNvSpPr>
          <p:nvPr>
            <p:ph type="ftr" sz="quarter" idx="11"/>
          </p:nvPr>
        </p:nvSpPr>
        <p:spPr>
          <a:noFill/>
        </p:spPr>
        <p:txBody>
          <a:bodyPr/>
          <a:lstStyle/>
          <a:p>
            <a:r>
              <a:rPr lang="en-US" altLang="zh-TW" smtClean="0"/>
              <a:t>6-16</a:t>
            </a:r>
          </a:p>
        </p:txBody>
      </p:sp>
      <p:sp>
        <p:nvSpPr>
          <p:cNvPr id="7171" name="Slide Number Placeholder 3"/>
          <p:cNvSpPr>
            <a:spLocks noGrp="1"/>
          </p:cNvSpPr>
          <p:nvPr>
            <p:ph type="sldNum" sz="quarter" idx="12"/>
          </p:nvPr>
        </p:nvSpPr>
        <p:spPr>
          <a:noFill/>
        </p:spPr>
        <p:txBody>
          <a:bodyPr/>
          <a:lstStyle/>
          <a:p>
            <a:r>
              <a:rPr lang="en-US" altLang="zh-TW" smtClean="0"/>
              <a:t>18-</a:t>
            </a:r>
            <a:fld id="{8184269F-DE9C-492D-B4E7-269EC7CCE0C6}" type="slidenum">
              <a:rPr lang="en-US" altLang="zh-TW" smtClean="0"/>
              <a:pPr/>
              <a:t>17</a:t>
            </a:fld>
            <a:endParaRPr lang="en-US" altLang="zh-TW" smtClean="0"/>
          </a:p>
        </p:txBody>
      </p:sp>
      <p:pic>
        <p:nvPicPr>
          <p:cNvPr id="7172" name="Picture 2" descr="C:\My Documents\f18-5.tif"/>
          <p:cNvPicPr>
            <a:picLocks noChangeAspect="1" noChangeArrowheads="1"/>
          </p:cNvPicPr>
          <p:nvPr/>
        </p:nvPicPr>
        <p:blipFill>
          <a:blip r:embed="rId2"/>
          <a:srcRect l="4724" t="12477" r="18504" b="64352"/>
          <a:stretch>
            <a:fillRect/>
          </a:stretch>
        </p:blipFill>
        <p:spPr bwMode="auto">
          <a:xfrm>
            <a:off x="0" y="3352800"/>
            <a:ext cx="8001000" cy="2971800"/>
          </a:xfrm>
          <a:prstGeom prst="rect">
            <a:avLst/>
          </a:prstGeom>
          <a:noFill/>
          <a:ln w="9525">
            <a:noFill/>
            <a:miter lim="800000"/>
            <a:headEnd/>
            <a:tailEnd/>
          </a:ln>
        </p:spPr>
      </p:pic>
      <p:pic>
        <p:nvPicPr>
          <p:cNvPr id="7173" name="Picture 3" descr="C:\My Documents\f18-5.tif"/>
          <p:cNvPicPr>
            <a:picLocks noChangeAspect="1" noChangeArrowheads="1"/>
          </p:cNvPicPr>
          <p:nvPr/>
        </p:nvPicPr>
        <p:blipFill>
          <a:blip r:embed="rId2"/>
          <a:srcRect l="4724" r="18504" b="93465"/>
          <a:stretch>
            <a:fillRect/>
          </a:stretch>
        </p:blipFill>
        <p:spPr bwMode="auto">
          <a:xfrm>
            <a:off x="0" y="1676400"/>
            <a:ext cx="8001000" cy="990600"/>
          </a:xfrm>
          <a:prstGeom prst="rect">
            <a:avLst/>
          </a:prstGeom>
          <a:noFill/>
          <a:ln w="9525">
            <a:noFill/>
            <a:miter lim="800000"/>
            <a:headEnd/>
            <a:tailEnd/>
          </a:ln>
        </p:spPr>
      </p:pic>
      <p:pic>
        <p:nvPicPr>
          <p:cNvPr id="7174" name="Picture 4" descr="C:\My Documents\f18-5.tif"/>
          <p:cNvPicPr>
            <a:picLocks noChangeAspect="1" noChangeArrowheads="1"/>
          </p:cNvPicPr>
          <p:nvPr/>
        </p:nvPicPr>
        <p:blipFill>
          <a:blip r:embed="rId2"/>
          <a:srcRect l="8989" t="8582" r="18504" b="89307"/>
          <a:stretch>
            <a:fillRect/>
          </a:stretch>
        </p:blipFill>
        <p:spPr bwMode="auto">
          <a:xfrm>
            <a:off x="228600" y="2667000"/>
            <a:ext cx="8001000" cy="592138"/>
          </a:xfrm>
          <a:prstGeom prst="rect">
            <a:avLst/>
          </a:prstGeom>
          <a:noFill/>
          <a:ln w="9525" cap="rnd">
            <a:solidFill>
              <a:srgbClr val="336600"/>
            </a:solidFill>
            <a:prstDash val="sysDot"/>
            <a:miter lim="800000"/>
            <a:headEnd/>
            <a:tailEnd/>
          </a:ln>
        </p:spPr>
      </p:pic>
      <p:sp>
        <p:nvSpPr>
          <p:cNvPr id="7175" name="AutoShape 6"/>
          <p:cNvSpPr>
            <a:spLocks/>
          </p:cNvSpPr>
          <p:nvPr/>
        </p:nvSpPr>
        <p:spPr bwMode="auto">
          <a:xfrm>
            <a:off x="1017588" y="3706813"/>
            <a:ext cx="1570037" cy="838200"/>
          </a:xfrm>
          <a:prstGeom prst="borderCallout2">
            <a:avLst>
              <a:gd name="adj1" fmla="val 13634"/>
              <a:gd name="adj2" fmla="val -4852"/>
              <a:gd name="adj3" fmla="val 13634"/>
              <a:gd name="adj4" fmla="val -24366"/>
              <a:gd name="adj5" fmla="val -51514"/>
              <a:gd name="adj6" fmla="val -43986"/>
            </a:avLst>
          </a:prstGeom>
          <a:noFill/>
          <a:ln w="9525">
            <a:solidFill>
              <a:srgbClr val="336600"/>
            </a:solidFill>
            <a:miter lim="800000"/>
            <a:headEnd type="arrow" w="med" len="med"/>
            <a:tailEnd/>
          </a:ln>
        </p:spPr>
        <p:txBody>
          <a:bodyPr lIns="90000" tIns="46800" rIns="90000" bIns="46800"/>
          <a:lstStyle/>
          <a:p>
            <a:r>
              <a:rPr lang="en-US" altLang="zh-TW" baseline="0"/>
              <a:t>Canonical query tree</a:t>
            </a:r>
          </a:p>
        </p:txBody>
      </p:sp>
      <p:sp>
        <p:nvSpPr>
          <p:cNvPr id="7176" name="Text Box 7"/>
          <p:cNvSpPr txBox="1">
            <a:spLocks noChangeArrowheads="1"/>
          </p:cNvSpPr>
          <p:nvPr/>
        </p:nvSpPr>
        <p:spPr bwMode="auto">
          <a:xfrm>
            <a:off x="457202" y="152401"/>
            <a:ext cx="7784032" cy="1571842"/>
          </a:xfrm>
          <a:prstGeom prst="rect">
            <a:avLst/>
          </a:prstGeom>
          <a:noFill/>
          <a:ln w="9525">
            <a:noFill/>
            <a:miter lim="800000"/>
            <a:headEnd/>
            <a:tailEnd/>
          </a:ln>
        </p:spPr>
        <p:txBody>
          <a:bodyPr wrap="none" lIns="90000" tIns="46800" rIns="90000" bIns="46800">
            <a:spAutoFit/>
          </a:bodyPr>
          <a:lstStyle/>
          <a:p>
            <a:pPr algn="l"/>
            <a:r>
              <a:rPr lang="en-US" altLang="zh-TW" baseline="0" dirty="0">
                <a:solidFill>
                  <a:srgbClr val="0000FF"/>
                </a:solidFill>
              </a:rPr>
              <a:t>SELECT</a:t>
            </a:r>
            <a:r>
              <a:rPr lang="en-US" altLang="zh-TW" baseline="0" dirty="0"/>
              <a:t>   </a:t>
            </a:r>
            <a:r>
              <a:rPr lang="en-US" altLang="zh-TW" baseline="0" dirty="0">
                <a:solidFill>
                  <a:schemeClr val="accent1"/>
                </a:solidFill>
              </a:rPr>
              <a:t>LNAME</a:t>
            </a:r>
            <a:br>
              <a:rPr lang="en-US" altLang="zh-TW" baseline="0" dirty="0">
                <a:solidFill>
                  <a:schemeClr val="accent1"/>
                </a:solidFill>
              </a:rPr>
            </a:br>
            <a:r>
              <a:rPr lang="en-US" altLang="zh-TW" baseline="0" dirty="0">
                <a:solidFill>
                  <a:srgbClr val="0000FF"/>
                </a:solidFill>
              </a:rPr>
              <a:t>FROM</a:t>
            </a:r>
            <a:r>
              <a:rPr lang="en-US" altLang="zh-TW" baseline="0" dirty="0"/>
              <a:t>      </a:t>
            </a:r>
            <a:r>
              <a:rPr lang="en-US" altLang="zh-TW" baseline="0" dirty="0">
                <a:solidFill>
                  <a:schemeClr val="accent1"/>
                </a:solidFill>
              </a:rPr>
              <a:t>EMPLOYEE, WORKS_ON, PROJECT</a:t>
            </a:r>
            <a:br>
              <a:rPr lang="en-US" altLang="zh-TW" baseline="0" dirty="0">
                <a:solidFill>
                  <a:schemeClr val="accent1"/>
                </a:solidFill>
              </a:rPr>
            </a:br>
            <a:r>
              <a:rPr lang="en-US" altLang="zh-TW" baseline="0" dirty="0">
                <a:solidFill>
                  <a:srgbClr val="0000FF"/>
                </a:solidFill>
              </a:rPr>
              <a:t>WHERE</a:t>
            </a:r>
            <a:r>
              <a:rPr lang="en-US" altLang="zh-TW" baseline="0" dirty="0"/>
              <a:t>   </a:t>
            </a:r>
            <a:r>
              <a:rPr lang="en-US" altLang="zh-TW" baseline="0" dirty="0">
                <a:solidFill>
                  <a:schemeClr val="accent1"/>
                </a:solidFill>
              </a:rPr>
              <a:t>PNAME=“Aquarius’</a:t>
            </a:r>
            <a:r>
              <a:rPr lang="en-US" altLang="zh-TW" baseline="0" dirty="0"/>
              <a:t> </a:t>
            </a:r>
            <a:r>
              <a:rPr lang="en-US" altLang="zh-TW" baseline="0" dirty="0">
                <a:solidFill>
                  <a:srgbClr val="0000FF"/>
                </a:solidFill>
              </a:rPr>
              <a:t>AND</a:t>
            </a:r>
            <a:r>
              <a:rPr lang="en-US" altLang="zh-TW" baseline="0" dirty="0"/>
              <a:t> </a:t>
            </a:r>
            <a:r>
              <a:rPr lang="en-US" altLang="zh-TW" baseline="0" dirty="0">
                <a:solidFill>
                  <a:schemeClr val="accent1"/>
                </a:solidFill>
              </a:rPr>
              <a:t>PNUMBER=PNO</a:t>
            </a:r>
            <a:r>
              <a:rPr lang="en-US" altLang="zh-TW" baseline="0" dirty="0">
                <a:solidFill>
                  <a:srgbClr val="0000FF"/>
                </a:solidFill>
              </a:rPr>
              <a:t/>
            </a:r>
            <a:br>
              <a:rPr lang="en-US" altLang="zh-TW" baseline="0" dirty="0">
                <a:solidFill>
                  <a:srgbClr val="0000FF"/>
                </a:solidFill>
              </a:rPr>
            </a:br>
            <a:r>
              <a:rPr lang="en-US" altLang="zh-TW" baseline="0" dirty="0">
                <a:solidFill>
                  <a:srgbClr val="0000FF"/>
                </a:solidFill>
              </a:rPr>
              <a:t>                 AND</a:t>
            </a:r>
            <a:r>
              <a:rPr lang="en-US" altLang="zh-TW" baseline="0" dirty="0"/>
              <a:t> </a:t>
            </a:r>
            <a:r>
              <a:rPr lang="en-US" altLang="zh-TW" baseline="0" dirty="0">
                <a:solidFill>
                  <a:schemeClr val="accent1"/>
                </a:solidFill>
              </a:rPr>
              <a:t>ESSN=SSN</a:t>
            </a:r>
            <a:r>
              <a:rPr lang="en-US" altLang="zh-TW" baseline="0" dirty="0"/>
              <a:t> </a:t>
            </a:r>
            <a:r>
              <a:rPr lang="en-US" altLang="zh-TW" baseline="0" dirty="0">
                <a:solidFill>
                  <a:srgbClr val="0000FF"/>
                </a:solidFill>
              </a:rPr>
              <a:t>AND</a:t>
            </a:r>
            <a:r>
              <a:rPr lang="en-US" altLang="zh-TW" baseline="0" dirty="0"/>
              <a:t> </a:t>
            </a:r>
            <a:r>
              <a:rPr lang="en-US" altLang="zh-TW" baseline="0" dirty="0">
                <a:solidFill>
                  <a:schemeClr val="accent1"/>
                </a:solidFill>
              </a:rPr>
              <a:t>BDATE &gt; ‘DEC-31-1957’</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457200" y="2155023"/>
            <a:ext cx="8229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9pPr>
          </a:lstStyle>
          <a:p>
            <a:pPr marL="0" lvl="0" indent="0" algn="just">
              <a:buNone/>
            </a:pPr>
            <a:r>
              <a:rPr lang="en-US" sz="2400" dirty="0" smtClean="0"/>
              <a:t>a) Executing </a:t>
            </a:r>
            <a:r>
              <a:rPr lang="en-US" sz="2400" dirty="0"/>
              <a:t>this tree directly first creates a very large file </a:t>
            </a:r>
            <a:r>
              <a:rPr lang="en-US" sz="2400" dirty="0" smtClean="0"/>
              <a:t>containing </a:t>
            </a:r>
            <a:r>
              <a:rPr lang="en-US" sz="2400" dirty="0"/>
              <a:t>the CARTESIAN PRODUCT of the entire EMPLOYEE, WORKS_ON, and PROJECT files. </a:t>
            </a:r>
            <a:r>
              <a:rPr lang="en-US" sz="2400" dirty="0" smtClean="0"/>
              <a:t>That </a:t>
            </a:r>
            <a:r>
              <a:rPr lang="en-US" sz="2400" dirty="0"/>
              <a:t>is why the initial query tree is never executed, </a:t>
            </a:r>
            <a:r>
              <a:rPr lang="en-US" sz="2400" dirty="0" smtClean="0"/>
              <a:t>but </a:t>
            </a:r>
            <a:r>
              <a:rPr lang="en-US" sz="2400" dirty="0"/>
              <a:t>is transformed into another equivalent tree that is efficient </a:t>
            </a:r>
            <a:r>
              <a:rPr lang="en-US" sz="2400" dirty="0" smtClean="0"/>
              <a:t>to </a:t>
            </a:r>
            <a:r>
              <a:rPr lang="en-US" sz="2400" dirty="0"/>
              <a:t>execute. This particular query needs only one record from the PROJECT relation— for the ‘Aquarius’ project—and only the EMPLOYEE records for those whose date of birth is after ‘1957-12-31’.</a:t>
            </a:r>
            <a:endParaRPr kumimoji="0" lang="en-US" altLang="en-US" sz="24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642851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2"/>
          <p:cNvSpPr>
            <a:spLocks noGrp="1"/>
          </p:cNvSpPr>
          <p:nvPr>
            <p:ph type="ftr" sz="quarter" idx="11"/>
          </p:nvPr>
        </p:nvSpPr>
        <p:spPr>
          <a:noFill/>
        </p:spPr>
        <p:txBody>
          <a:bodyPr/>
          <a:lstStyle/>
          <a:p>
            <a:r>
              <a:rPr lang="en-US" altLang="zh-TW" smtClean="0"/>
              <a:t>6-16</a:t>
            </a:r>
          </a:p>
        </p:txBody>
      </p:sp>
      <p:sp>
        <p:nvSpPr>
          <p:cNvPr id="8195" name="Slide Number Placeholder 3"/>
          <p:cNvSpPr>
            <a:spLocks noGrp="1"/>
          </p:cNvSpPr>
          <p:nvPr>
            <p:ph type="sldNum" sz="quarter" idx="12"/>
          </p:nvPr>
        </p:nvSpPr>
        <p:spPr>
          <a:noFill/>
        </p:spPr>
        <p:txBody>
          <a:bodyPr/>
          <a:lstStyle/>
          <a:p>
            <a:r>
              <a:rPr lang="en-US" altLang="zh-TW" smtClean="0"/>
              <a:t>18-</a:t>
            </a:r>
            <a:fld id="{F32E5D2B-9D33-4E3B-AEE4-5F432416B197}" type="slidenum">
              <a:rPr lang="en-US" altLang="zh-TW" smtClean="0"/>
              <a:pPr/>
              <a:t>19</a:t>
            </a:fld>
            <a:endParaRPr lang="en-US" altLang="zh-TW" smtClean="0"/>
          </a:p>
        </p:txBody>
      </p:sp>
      <p:pic>
        <p:nvPicPr>
          <p:cNvPr id="8196" name="Picture 2" descr="C:\My Documents\f18-5.tif"/>
          <p:cNvPicPr>
            <a:picLocks noChangeAspect="1" noChangeArrowheads="1"/>
          </p:cNvPicPr>
          <p:nvPr/>
        </p:nvPicPr>
        <p:blipFill>
          <a:blip r:embed="rId2"/>
          <a:srcRect l="4721" t="41069" r="35048" b="9294"/>
          <a:stretch>
            <a:fillRect/>
          </a:stretch>
        </p:blipFill>
        <p:spPr bwMode="auto">
          <a:xfrm>
            <a:off x="685800" y="0"/>
            <a:ext cx="6856413" cy="6324600"/>
          </a:xfrm>
          <a:prstGeom prst="rect">
            <a:avLst/>
          </a:prstGeom>
          <a:noFill/>
          <a:ln w="9525">
            <a:noFill/>
            <a:miter lim="800000"/>
            <a:headEnd/>
            <a:tailEnd/>
          </a:ln>
        </p:spPr>
      </p:pic>
      <p:sp>
        <p:nvSpPr>
          <p:cNvPr id="97283" name="Text Box 3"/>
          <p:cNvSpPr txBox="1">
            <a:spLocks noChangeArrowheads="1"/>
          </p:cNvSpPr>
          <p:nvPr/>
        </p:nvSpPr>
        <p:spPr bwMode="auto">
          <a:xfrm>
            <a:off x="304800" y="609601"/>
            <a:ext cx="3789347" cy="833178"/>
          </a:xfrm>
          <a:prstGeom prst="rect">
            <a:avLst/>
          </a:prstGeom>
          <a:noFill/>
          <a:ln w="9525">
            <a:noFill/>
            <a:miter lim="800000"/>
            <a:headEnd/>
            <a:tailEnd/>
          </a:ln>
          <a:effectLst/>
        </p:spPr>
        <p:txBody>
          <a:bodyPr wrap="none" lIns="90000" tIns="46800" rIns="90000" bIns="46800">
            <a:spAutoFit/>
          </a:bodyPr>
          <a:lstStyle/>
          <a:p>
            <a:pPr>
              <a:defRPr/>
            </a:pPr>
            <a:r>
              <a:rPr lang="en-US" altLang="zh-TW" baseline="0">
                <a:solidFill>
                  <a:srgbClr val="0000FF"/>
                </a:solidFill>
                <a:effectLst>
                  <a:outerShdw blurRad="38100" dist="38100" dir="2700000" algn="tl">
                    <a:srgbClr val="C0C0C0"/>
                  </a:outerShdw>
                </a:effectLst>
              </a:rPr>
              <a:t>Moving SELECT operations </a:t>
            </a:r>
            <a:br>
              <a:rPr lang="en-US" altLang="zh-TW" baseline="0">
                <a:solidFill>
                  <a:srgbClr val="0000FF"/>
                </a:solidFill>
                <a:effectLst>
                  <a:outerShdw blurRad="38100" dist="38100" dir="2700000" algn="tl">
                    <a:srgbClr val="C0C0C0"/>
                  </a:outerShdw>
                </a:effectLst>
              </a:rPr>
            </a:br>
            <a:r>
              <a:rPr lang="en-US" altLang="zh-TW" baseline="0">
                <a:solidFill>
                  <a:srgbClr val="0000FF"/>
                </a:solidFill>
                <a:effectLst>
                  <a:outerShdw blurRad="38100" dist="38100" dir="2700000" algn="tl">
                    <a:srgbClr val="C0C0C0"/>
                  </a:outerShdw>
                </a:effectLst>
              </a:rPr>
              <a:t>down the query tree</a:t>
            </a:r>
          </a:p>
        </p:txBody>
      </p:sp>
      <p:sp>
        <p:nvSpPr>
          <p:cNvPr id="8201" name="Oval 10"/>
          <p:cNvSpPr>
            <a:spLocks noChangeArrowheads="1"/>
          </p:cNvSpPr>
          <p:nvPr/>
        </p:nvSpPr>
        <p:spPr bwMode="auto">
          <a:xfrm>
            <a:off x="3124201" y="2895600"/>
            <a:ext cx="255675" cy="479138"/>
          </a:xfrm>
          <a:prstGeom prst="ellipse">
            <a:avLst/>
          </a:prstGeom>
          <a:noFill/>
          <a:ln w="9525">
            <a:solidFill>
              <a:srgbClr val="FF0000"/>
            </a:solidFill>
            <a:round/>
            <a:headEnd/>
            <a:tailEnd/>
          </a:ln>
        </p:spPr>
        <p:txBody>
          <a:bodyPr wrap="none" lIns="90000" tIns="46800" rIns="90000" bIns="46800" anchor="ctr">
            <a:spAutoFit/>
          </a:bodyPr>
          <a:lstStyle/>
          <a:p>
            <a:endParaRPr lang="en-US"/>
          </a:p>
        </p:txBody>
      </p:sp>
      <p:sp>
        <p:nvSpPr>
          <p:cNvPr id="8202" name="Oval 11"/>
          <p:cNvSpPr>
            <a:spLocks noChangeArrowheads="1"/>
          </p:cNvSpPr>
          <p:nvPr/>
        </p:nvSpPr>
        <p:spPr bwMode="auto">
          <a:xfrm>
            <a:off x="5410200" y="2895600"/>
            <a:ext cx="304800" cy="479138"/>
          </a:xfrm>
          <a:prstGeom prst="ellipse">
            <a:avLst/>
          </a:prstGeom>
          <a:noFill/>
          <a:ln w="9525">
            <a:solidFill>
              <a:srgbClr val="FF0000"/>
            </a:solidFill>
            <a:round/>
            <a:headEnd/>
            <a:tailEnd/>
          </a:ln>
        </p:spPr>
        <p:txBody>
          <a:bodyPr lIns="90000" tIns="46800" rIns="90000" bIns="46800" anchor="ctr">
            <a:spAutoFit/>
          </a:bodyPr>
          <a:lstStyle/>
          <a:p>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457200" y="3263019"/>
            <a:ext cx="8229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9pPr>
          </a:lstStyle>
          <a:p>
            <a:pPr marL="0" lvl="0" indent="0" algn="just">
              <a:buNone/>
            </a:pPr>
            <a:r>
              <a:rPr lang="en-US" sz="2400" dirty="0" smtClean="0"/>
              <a:t>(b</a:t>
            </a:r>
            <a:r>
              <a:rPr lang="en-US" sz="2400" dirty="0"/>
              <a:t>) shows an improved query tree that first applies the SELECT operations to reduce the number of tuples that appear in the CARTESIAN PRODUCT.</a:t>
            </a:r>
            <a:endParaRPr kumimoji="0" lang="en-US" altLang="en-US" sz="24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782722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2"/>
          <p:cNvSpPr>
            <a:spLocks noGrp="1"/>
          </p:cNvSpPr>
          <p:nvPr>
            <p:ph type="ftr" sz="quarter" idx="11"/>
          </p:nvPr>
        </p:nvSpPr>
        <p:spPr>
          <a:noFill/>
        </p:spPr>
        <p:txBody>
          <a:bodyPr/>
          <a:lstStyle/>
          <a:p>
            <a:r>
              <a:rPr lang="en-US" altLang="zh-TW" smtClean="0"/>
              <a:t>6-17</a:t>
            </a:r>
          </a:p>
        </p:txBody>
      </p:sp>
      <p:sp>
        <p:nvSpPr>
          <p:cNvPr id="9219" name="Slide Number Placeholder 3"/>
          <p:cNvSpPr>
            <a:spLocks noGrp="1"/>
          </p:cNvSpPr>
          <p:nvPr>
            <p:ph type="sldNum" sz="quarter" idx="12"/>
          </p:nvPr>
        </p:nvSpPr>
        <p:spPr>
          <a:noFill/>
        </p:spPr>
        <p:txBody>
          <a:bodyPr/>
          <a:lstStyle/>
          <a:p>
            <a:r>
              <a:rPr lang="en-US" altLang="zh-TW" smtClean="0"/>
              <a:t>18-</a:t>
            </a:r>
            <a:fld id="{0654EF49-CB22-42A7-8A0D-248064E8B60A}" type="slidenum">
              <a:rPr lang="en-US" altLang="zh-TW" smtClean="0"/>
              <a:pPr/>
              <a:t>21</a:t>
            </a:fld>
            <a:endParaRPr lang="en-US" altLang="zh-TW" smtClean="0"/>
          </a:p>
        </p:txBody>
      </p:sp>
      <p:pic>
        <p:nvPicPr>
          <p:cNvPr id="9220" name="Picture 2" descr="C:\My Documents\f18-5_c.tif"/>
          <p:cNvPicPr>
            <a:picLocks noChangeAspect="1" noChangeArrowheads="1"/>
          </p:cNvPicPr>
          <p:nvPr/>
        </p:nvPicPr>
        <p:blipFill>
          <a:blip r:embed="rId2"/>
          <a:srcRect l="3392" t="1653" r="39502" b="48784"/>
          <a:stretch>
            <a:fillRect/>
          </a:stretch>
        </p:blipFill>
        <p:spPr bwMode="auto">
          <a:xfrm>
            <a:off x="1905000" y="0"/>
            <a:ext cx="7620000" cy="6858000"/>
          </a:xfrm>
          <a:prstGeom prst="rect">
            <a:avLst/>
          </a:prstGeom>
          <a:noFill/>
          <a:ln w="9525">
            <a:noFill/>
            <a:miter lim="800000"/>
            <a:headEnd/>
            <a:tailEnd/>
          </a:ln>
        </p:spPr>
      </p:pic>
      <p:sp>
        <p:nvSpPr>
          <p:cNvPr id="9221" name="Text Box 3"/>
          <p:cNvSpPr txBox="1">
            <a:spLocks noChangeArrowheads="1"/>
          </p:cNvSpPr>
          <p:nvPr/>
        </p:nvSpPr>
        <p:spPr bwMode="auto">
          <a:xfrm>
            <a:off x="609600" y="1"/>
            <a:ext cx="3217525" cy="870111"/>
          </a:xfrm>
          <a:prstGeom prst="rect">
            <a:avLst/>
          </a:prstGeom>
          <a:solidFill>
            <a:schemeClr val="bg1"/>
          </a:solidFill>
          <a:ln w="9525">
            <a:noFill/>
            <a:miter lim="800000"/>
            <a:headEnd/>
            <a:tailEnd/>
          </a:ln>
        </p:spPr>
        <p:txBody>
          <a:bodyPr wrap="none" lIns="90000" tIns="46800" rIns="90000" bIns="46800">
            <a:spAutoFit/>
          </a:bodyPr>
          <a:lstStyle/>
          <a:p>
            <a:pPr algn="l">
              <a:lnSpc>
                <a:spcPct val="140000"/>
              </a:lnSpc>
            </a:pPr>
            <a:r>
              <a:rPr lang="en-US" altLang="zh-TW" baseline="0" dirty="0" smtClean="0">
                <a:solidFill>
                  <a:srgbClr val="0000FF"/>
                </a:solidFill>
              </a:rPr>
              <a:t>(c</a:t>
            </a:r>
            <a:r>
              <a:rPr lang="en-US" altLang="zh-TW" baseline="0" dirty="0">
                <a:solidFill>
                  <a:srgbClr val="0000FF"/>
                </a:solidFill>
              </a:rPr>
              <a:t>) Applying more </a:t>
            </a:r>
            <a:br>
              <a:rPr lang="en-US" altLang="zh-TW" baseline="0" dirty="0">
                <a:solidFill>
                  <a:srgbClr val="0000FF"/>
                </a:solidFill>
              </a:rPr>
            </a:br>
            <a:r>
              <a:rPr lang="en-US" altLang="zh-TW" baseline="0" dirty="0">
                <a:solidFill>
                  <a:srgbClr val="0000FF"/>
                </a:solidFill>
              </a:rPr>
              <a:t>restrictive SELECT operation first</a:t>
            </a:r>
          </a:p>
        </p:txBody>
      </p:sp>
      <p:sp>
        <p:nvSpPr>
          <p:cNvPr id="9222" name="Rectangle 5"/>
          <p:cNvSpPr>
            <a:spLocks noChangeArrowheads="1"/>
          </p:cNvSpPr>
          <p:nvPr/>
        </p:nvSpPr>
        <p:spPr bwMode="auto">
          <a:xfrm>
            <a:off x="5257800" y="1143001"/>
            <a:ext cx="2209800" cy="340735"/>
          </a:xfrm>
          <a:prstGeom prst="rect">
            <a:avLst/>
          </a:prstGeom>
          <a:noFill/>
          <a:ln w="9525" cap="rnd">
            <a:solidFill>
              <a:schemeClr val="accent1"/>
            </a:solidFill>
            <a:prstDash val="sysDot"/>
            <a:miter lim="800000"/>
            <a:headEnd/>
            <a:tailEnd/>
          </a:ln>
        </p:spPr>
        <p:txBody>
          <a:bodyPr lIns="90000" tIns="46800" rIns="90000" bIns="46800" anchor="ctr">
            <a:spAutoFit/>
          </a:bodyPr>
          <a:lstStyle/>
          <a:p>
            <a:endParaRPr lang="en-US"/>
          </a:p>
        </p:txBody>
      </p:sp>
      <p:sp>
        <p:nvSpPr>
          <p:cNvPr id="9223" name="Rectangle 6"/>
          <p:cNvSpPr>
            <a:spLocks noChangeArrowheads="1"/>
          </p:cNvSpPr>
          <p:nvPr/>
        </p:nvSpPr>
        <p:spPr bwMode="auto">
          <a:xfrm>
            <a:off x="3429000" y="3048001"/>
            <a:ext cx="2590800" cy="340735"/>
          </a:xfrm>
          <a:prstGeom prst="rect">
            <a:avLst/>
          </a:prstGeom>
          <a:noFill/>
          <a:ln w="9525" cap="rnd">
            <a:solidFill>
              <a:schemeClr val="accent1"/>
            </a:solidFill>
            <a:prstDash val="sysDot"/>
            <a:miter lim="800000"/>
            <a:headEnd/>
            <a:tailEnd/>
          </a:ln>
        </p:spPr>
        <p:txBody>
          <a:bodyPr lIns="90000" tIns="46800" rIns="90000" bIns="46800" anchor="ctr">
            <a:spAutoFit/>
          </a:bodyPr>
          <a:lstStyle/>
          <a:p>
            <a:endParaRPr lang="en-US"/>
          </a:p>
        </p:txBody>
      </p:sp>
      <p:sp>
        <p:nvSpPr>
          <p:cNvPr id="51211" name="Text Box 11"/>
          <p:cNvSpPr txBox="1">
            <a:spLocks noChangeArrowheads="1"/>
          </p:cNvSpPr>
          <p:nvPr/>
        </p:nvSpPr>
        <p:spPr bwMode="auto">
          <a:xfrm>
            <a:off x="0" y="1143000"/>
            <a:ext cx="5144848" cy="2248950"/>
          </a:xfrm>
          <a:prstGeom prst="rect">
            <a:avLst/>
          </a:prstGeom>
          <a:noFill/>
          <a:ln w="9525">
            <a:noFill/>
            <a:miter lim="800000"/>
            <a:headEnd/>
            <a:tailEnd/>
          </a:ln>
          <a:effectLst/>
        </p:spPr>
        <p:txBody>
          <a:bodyPr wrap="none" lIns="90000" tIns="46800" rIns="90000" bIns="46800">
            <a:spAutoFit/>
          </a:bodyPr>
          <a:lstStyle/>
          <a:p>
            <a:pPr algn="l">
              <a:defRPr/>
            </a:pPr>
            <a:r>
              <a:rPr lang="en-US" altLang="zh-TW" sz="2000" baseline="0" dirty="0">
                <a:solidFill>
                  <a:schemeClr val="accent1"/>
                </a:solidFill>
                <a:effectLst>
                  <a:outerShdw blurRad="38100" dist="38100" dir="2700000" algn="tl">
                    <a:srgbClr val="C0C0C0"/>
                  </a:outerShdw>
                </a:effectLst>
              </a:rPr>
              <a:t>SELECT LNAME</a:t>
            </a:r>
            <a:br>
              <a:rPr lang="en-US" altLang="zh-TW" sz="2000" baseline="0" dirty="0">
                <a:solidFill>
                  <a:schemeClr val="accent1"/>
                </a:solidFill>
                <a:effectLst>
                  <a:outerShdw blurRad="38100" dist="38100" dir="2700000" algn="tl">
                    <a:srgbClr val="C0C0C0"/>
                  </a:outerShdw>
                </a:effectLst>
              </a:rPr>
            </a:br>
            <a:r>
              <a:rPr lang="en-US" altLang="zh-TW" sz="2000" baseline="0" dirty="0">
                <a:solidFill>
                  <a:schemeClr val="accent1"/>
                </a:solidFill>
                <a:effectLst>
                  <a:outerShdw blurRad="38100" dist="38100" dir="2700000" algn="tl">
                    <a:srgbClr val="C0C0C0"/>
                  </a:outerShdw>
                </a:effectLst>
              </a:rPr>
              <a:t>FROM    EMPOYEE, WORKS_ON, PROJECT</a:t>
            </a:r>
            <a:br>
              <a:rPr lang="en-US" altLang="zh-TW" sz="2000" baseline="0" dirty="0">
                <a:solidFill>
                  <a:schemeClr val="accent1"/>
                </a:solidFill>
                <a:effectLst>
                  <a:outerShdw blurRad="38100" dist="38100" dir="2700000" algn="tl">
                    <a:srgbClr val="C0C0C0"/>
                  </a:outerShdw>
                </a:effectLst>
              </a:rPr>
            </a:br>
            <a:r>
              <a:rPr lang="en-US" altLang="zh-TW" sz="2000" baseline="0" dirty="0">
                <a:solidFill>
                  <a:schemeClr val="accent1"/>
                </a:solidFill>
                <a:effectLst>
                  <a:outerShdw blurRad="38100" dist="38100" dir="2700000" algn="tl">
                    <a:srgbClr val="C0C0C0"/>
                  </a:outerShdw>
                </a:effectLst>
              </a:rPr>
              <a:t>WHERE PNAME=‘Aquarius’ AND</a:t>
            </a:r>
            <a:br>
              <a:rPr lang="en-US" altLang="zh-TW" sz="2000" baseline="0" dirty="0">
                <a:solidFill>
                  <a:schemeClr val="accent1"/>
                </a:solidFill>
                <a:effectLst>
                  <a:outerShdw blurRad="38100" dist="38100" dir="2700000" algn="tl">
                    <a:srgbClr val="C0C0C0"/>
                  </a:outerShdw>
                </a:effectLst>
              </a:rPr>
            </a:br>
            <a:r>
              <a:rPr lang="en-US" altLang="zh-TW" sz="2000" baseline="0" dirty="0">
                <a:solidFill>
                  <a:schemeClr val="accent1"/>
                </a:solidFill>
                <a:effectLst>
                  <a:outerShdw blurRad="38100" dist="38100" dir="2700000" algn="tl">
                    <a:srgbClr val="C0C0C0"/>
                  </a:outerShdw>
                </a:effectLst>
              </a:rPr>
              <a:t>               PUMBER=PNO  AND</a:t>
            </a:r>
            <a:br>
              <a:rPr lang="en-US" altLang="zh-TW" sz="2000" baseline="0" dirty="0">
                <a:solidFill>
                  <a:schemeClr val="accent1"/>
                </a:solidFill>
                <a:effectLst>
                  <a:outerShdw blurRad="38100" dist="38100" dir="2700000" algn="tl">
                    <a:srgbClr val="C0C0C0"/>
                  </a:outerShdw>
                </a:effectLst>
              </a:rPr>
            </a:br>
            <a:r>
              <a:rPr lang="en-US" altLang="zh-TW" sz="2000" baseline="0" dirty="0">
                <a:solidFill>
                  <a:schemeClr val="accent1"/>
                </a:solidFill>
                <a:effectLst>
                  <a:outerShdw blurRad="38100" dist="38100" dir="2700000" algn="tl">
                    <a:srgbClr val="C0C0C0"/>
                  </a:outerShdw>
                </a:effectLst>
              </a:rPr>
              <a:t>               ESSN=SSN AND </a:t>
            </a:r>
            <a:br>
              <a:rPr lang="en-US" altLang="zh-TW" sz="2000" baseline="0" dirty="0">
                <a:solidFill>
                  <a:schemeClr val="accent1"/>
                </a:solidFill>
                <a:effectLst>
                  <a:outerShdw blurRad="38100" dist="38100" dir="2700000" algn="tl">
                    <a:srgbClr val="C0C0C0"/>
                  </a:outerShdw>
                </a:effectLst>
              </a:rPr>
            </a:br>
            <a:r>
              <a:rPr lang="en-US" altLang="zh-TW" sz="2000" baseline="0" dirty="0">
                <a:solidFill>
                  <a:schemeClr val="accent1"/>
                </a:solidFill>
                <a:effectLst>
                  <a:outerShdw blurRad="38100" dist="38100" dir="2700000" algn="tl">
                    <a:srgbClr val="C0C0C0"/>
                  </a:outerShdw>
                </a:effectLst>
              </a:rPr>
              <a:t>               BDATE &gt; ‘DEC-31-1957’</a:t>
            </a:r>
          </a:p>
          <a:p>
            <a:pPr algn="l">
              <a:defRPr/>
            </a:pPr>
            <a:endParaRPr lang="en-US" altLang="zh-TW" sz="2000" baseline="0" dirty="0">
              <a:solidFill>
                <a:schemeClr val="accent1"/>
              </a:solidFill>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457200" y="2709021"/>
            <a:ext cx="8229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9pPr>
          </a:lstStyle>
          <a:p>
            <a:pPr marL="0" lvl="0" indent="0" algn="just">
              <a:buNone/>
            </a:pPr>
            <a:r>
              <a:rPr lang="en-US" sz="2400" dirty="0" smtClean="0"/>
              <a:t>c) </a:t>
            </a:r>
            <a:r>
              <a:rPr lang="en-US" sz="2400" dirty="0"/>
              <a:t>A further improvement is achieved by switching the positions of the EMPLOYEE and PROJECT relations in the tree, as shown in Figure </a:t>
            </a:r>
            <a:r>
              <a:rPr lang="en-US" sz="2400" dirty="0" smtClean="0"/>
              <a:t>(c</a:t>
            </a:r>
            <a:r>
              <a:rPr lang="en-US" sz="2400" dirty="0"/>
              <a:t>). This uses the information that </a:t>
            </a:r>
            <a:r>
              <a:rPr lang="en-US" sz="2400" dirty="0" err="1"/>
              <a:t>Pnumber</a:t>
            </a:r>
            <a:r>
              <a:rPr lang="en-US" sz="2400" dirty="0"/>
              <a:t> is a key attribute of the PROJECT relation, and hence the SELECT operation on the PROJECT relation will retrieve a single record only.</a:t>
            </a:r>
            <a:endParaRPr kumimoji="0" lang="en-US" altLang="en-US" sz="24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3509744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2"/>
          <p:cNvSpPr>
            <a:spLocks noGrp="1"/>
          </p:cNvSpPr>
          <p:nvPr>
            <p:ph type="ftr" sz="quarter" idx="11"/>
          </p:nvPr>
        </p:nvSpPr>
        <p:spPr>
          <a:noFill/>
        </p:spPr>
        <p:txBody>
          <a:bodyPr/>
          <a:lstStyle/>
          <a:p>
            <a:r>
              <a:rPr lang="en-US" altLang="zh-TW" smtClean="0"/>
              <a:t>6-17</a:t>
            </a:r>
          </a:p>
        </p:txBody>
      </p:sp>
      <p:sp>
        <p:nvSpPr>
          <p:cNvPr id="10243" name="Slide Number Placeholder 3"/>
          <p:cNvSpPr>
            <a:spLocks noGrp="1"/>
          </p:cNvSpPr>
          <p:nvPr>
            <p:ph type="sldNum" sz="quarter" idx="12"/>
          </p:nvPr>
        </p:nvSpPr>
        <p:spPr>
          <a:noFill/>
        </p:spPr>
        <p:txBody>
          <a:bodyPr/>
          <a:lstStyle/>
          <a:p>
            <a:r>
              <a:rPr lang="en-US" altLang="zh-TW" smtClean="0"/>
              <a:t>18-</a:t>
            </a:r>
            <a:fld id="{BC248C47-4C29-49C8-B07E-7E06348CA413}" type="slidenum">
              <a:rPr lang="en-US" altLang="zh-TW" smtClean="0"/>
              <a:pPr/>
              <a:t>23</a:t>
            </a:fld>
            <a:endParaRPr lang="en-US" altLang="zh-TW" smtClean="0"/>
          </a:p>
        </p:txBody>
      </p:sp>
      <p:pic>
        <p:nvPicPr>
          <p:cNvPr id="10244" name="Picture 2" descr="C:\My Documents\f18-5_c.tif"/>
          <p:cNvPicPr>
            <a:picLocks noChangeAspect="1" noChangeArrowheads="1"/>
          </p:cNvPicPr>
          <p:nvPr/>
        </p:nvPicPr>
        <p:blipFill>
          <a:blip r:embed="rId2"/>
          <a:srcRect t="51538" r="32172" b="12308"/>
          <a:stretch>
            <a:fillRect/>
          </a:stretch>
        </p:blipFill>
        <p:spPr bwMode="auto">
          <a:xfrm>
            <a:off x="838200" y="1371600"/>
            <a:ext cx="7086600" cy="4800600"/>
          </a:xfrm>
          <a:prstGeom prst="rect">
            <a:avLst/>
          </a:prstGeom>
          <a:noFill/>
          <a:ln w="9525">
            <a:noFill/>
            <a:miter lim="800000"/>
            <a:headEnd/>
            <a:tailEnd/>
          </a:ln>
        </p:spPr>
      </p:pic>
      <p:sp>
        <p:nvSpPr>
          <p:cNvPr id="10245" name="Text Box 3"/>
          <p:cNvSpPr txBox="1">
            <a:spLocks noChangeArrowheads="1"/>
          </p:cNvSpPr>
          <p:nvPr/>
        </p:nvSpPr>
        <p:spPr bwMode="auto">
          <a:xfrm>
            <a:off x="457200" y="304800"/>
            <a:ext cx="7811282" cy="463846"/>
          </a:xfrm>
          <a:prstGeom prst="rect">
            <a:avLst/>
          </a:prstGeom>
          <a:noFill/>
          <a:ln w="9525">
            <a:noFill/>
            <a:miter lim="800000"/>
            <a:headEnd/>
            <a:tailEnd/>
          </a:ln>
        </p:spPr>
        <p:txBody>
          <a:bodyPr wrap="none" lIns="90000" tIns="46800" rIns="90000" bIns="46800">
            <a:spAutoFit/>
          </a:bodyPr>
          <a:lstStyle/>
          <a:p>
            <a:r>
              <a:rPr lang="en-US" altLang="zh-TW" baseline="0">
                <a:solidFill>
                  <a:srgbClr val="0000FF"/>
                </a:solidFill>
              </a:rPr>
              <a:t>Replacing CARTESIAN PRODUCT and SELECT with JOIN</a:t>
            </a:r>
          </a:p>
        </p:txBody>
      </p:sp>
      <p:sp>
        <p:nvSpPr>
          <p:cNvPr id="10246" name="Oval 4"/>
          <p:cNvSpPr>
            <a:spLocks noChangeArrowheads="1"/>
          </p:cNvSpPr>
          <p:nvPr/>
        </p:nvSpPr>
        <p:spPr bwMode="auto">
          <a:xfrm>
            <a:off x="4419601" y="1295400"/>
            <a:ext cx="255675" cy="479138"/>
          </a:xfrm>
          <a:prstGeom prst="ellipse">
            <a:avLst/>
          </a:prstGeom>
          <a:noFill/>
          <a:ln w="9525" cap="rnd">
            <a:solidFill>
              <a:schemeClr val="accent1"/>
            </a:solidFill>
            <a:prstDash val="sysDot"/>
            <a:round/>
            <a:headEnd/>
            <a:tailEnd/>
          </a:ln>
        </p:spPr>
        <p:txBody>
          <a:bodyPr wrap="none" lIns="90000" tIns="46800" rIns="90000" bIns="46800" anchor="ctr">
            <a:spAutoFit/>
          </a:bodyPr>
          <a:lstStyle/>
          <a:p>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457200" y="3263018"/>
            <a:ext cx="8229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9pPr>
          </a:lstStyle>
          <a:p>
            <a:pPr marL="0" lvl="0" indent="0" algn="just">
              <a:buNone/>
            </a:pPr>
            <a:r>
              <a:rPr lang="en-US" sz="2400" dirty="0"/>
              <a:t>d</a:t>
            </a:r>
            <a:r>
              <a:rPr lang="en-US" sz="2400" dirty="0" smtClean="0"/>
              <a:t>) </a:t>
            </a:r>
            <a:r>
              <a:rPr lang="en-US" sz="2400" dirty="0"/>
              <a:t>We can further improve the query tree by replacing any CARTESIAN PRODUCT operation that is followed by a join condition with a JOIN operation, as shown in </a:t>
            </a:r>
            <a:r>
              <a:rPr lang="en-US" sz="2400" dirty="0" smtClean="0"/>
              <a:t>Figure(d</a:t>
            </a:r>
            <a:r>
              <a:rPr lang="en-US" sz="2400" dirty="0"/>
              <a:t>).</a:t>
            </a:r>
            <a:endParaRPr kumimoji="0" lang="en-US" altLang="en-US" sz="24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588574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2"/>
          <p:cNvSpPr>
            <a:spLocks noGrp="1"/>
          </p:cNvSpPr>
          <p:nvPr>
            <p:ph type="ftr" sz="quarter" idx="11"/>
          </p:nvPr>
        </p:nvSpPr>
        <p:spPr>
          <a:noFill/>
        </p:spPr>
        <p:txBody>
          <a:bodyPr/>
          <a:lstStyle/>
          <a:p>
            <a:r>
              <a:rPr lang="en-US" altLang="zh-TW" smtClean="0"/>
              <a:t>6-18</a:t>
            </a:r>
          </a:p>
        </p:txBody>
      </p:sp>
      <p:sp>
        <p:nvSpPr>
          <p:cNvPr id="11267" name="Slide Number Placeholder 3"/>
          <p:cNvSpPr>
            <a:spLocks noGrp="1"/>
          </p:cNvSpPr>
          <p:nvPr>
            <p:ph type="sldNum" sz="quarter" idx="12"/>
          </p:nvPr>
        </p:nvSpPr>
        <p:spPr>
          <a:noFill/>
        </p:spPr>
        <p:txBody>
          <a:bodyPr/>
          <a:lstStyle/>
          <a:p>
            <a:r>
              <a:rPr lang="en-US" altLang="zh-TW" smtClean="0"/>
              <a:t>18-</a:t>
            </a:r>
            <a:fld id="{17E2BC14-CAFE-4355-8ACC-F9796BD62DB4}" type="slidenum">
              <a:rPr lang="en-US" altLang="zh-TW" smtClean="0"/>
              <a:pPr/>
              <a:t>25</a:t>
            </a:fld>
            <a:endParaRPr lang="en-US" altLang="zh-TW" smtClean="0"/>
          </a:p>
        </p:txBody>
      </p:sp>
      <p:pic>
        <p:nvPicPr>
          <p:cNvPr id="11268" name="Picture 2" descr="C:\My Documents\f18-5_e.tif"/>
          <p:cNvPicPr>
            <a:picLocks noChangeAspect="1" noChangeArrowheads="1"/>
          </p:cNvPicPr>
          <p:nvPr/>
        </p:nvPicPr>
        <p:blipFill>
          <a:blip r:embed="rId2"/>
          <a:srcRect r="37524" b="12117"/>
          <a:stretch>
            <a:fillRect/>
          </a:stretch>
        </p:blipFill>
        <p:spPr bwMode="auto">
          <a:xfrm>
            <a:off x="533400" y="0"/>
            <a:ext cx="7543800" cy="6248400"/>
          </a:xfrm>
          <a:prstGeom prst="rect">
            <a:avLst/>
          </a:prstGeom>
          <a:noFill/>
          <a:ln w="9525">
            <a:noFill/>
            <a:miter lim="800000"/>
            <a:headEnd/>
            <a:tailEnd/>
          </a:ln>
        </p:spPr>
      </p:pic>
      <p:sp>
        <p:nvSpPr>
          <p:cNvPr id="11269" name="Text Box 3"/>
          <p:cNvSpPr txBox="1">
            <a:spLocks noChangeArrowheads="1"/>
          </p:cNvSpPr>
          <p:nvPr/>
        </p:nvSpPr>
        <p:spPr bwMode="auto">
          <a:xfrm>
            <a:off x="76200" y="609600"/>
            <a:ext cx="4646955" cy="463846"/>
          </a:xfrm>
          <a:prstGeom prst="rect">
            <a:avLst/>
          </a:prstGeom>
          <a:noFill/>
          <a:ln w="9525">
            <a:noFill/>
            <a:miter lim="800000"/>
            <a:headEnd/>
            <a:tailEnd/>
          </a:ln>
        </p:spPr>
        <p:txBody>
          <a:bodyPr wrap="none" lIns="90000" tIns="46800" rIns="90000" bIns="46800">
            <a:spAutoFit/>
          </a:bodyPr>
          <a:lstStyle/>
          <a:p>
            <a:r>
              <a:rPr lang="en-US" altLang="zh-TW" baseline="0">
                <a:solidFill>
                  <a:srgbClr val="0000FF"/>
                </a:solidFill>
              </a:rPr>
              <a:t>Moving PROJECT operations down</a:t>
            </a:r>
          </a:p>
        </p:txBody>
      </p:sp>
      <p:sp>
        <p:nvSpPr>
          <p:cNvPr id="11270" name="Text Box 4"/>
          <p:cNvSpPr txBox="1">
            <a:spLocks noChangeArrowheads="1"/>
          </p:cNvSpPr>
          <p:nvPr/>
        </p:nvSpPr>
        <p:spPr bwMode="auto">
          <a:xfrm>
            <a:off x="3238501" y="5791200"/>
            <a:ext cx="5181909" cy="463846"/>
          </a:xfrm>
          <a:prstGeom prst="rect">
            <a:avLst/>
          </a:prstGeom>
          <a:noFill/>
          <a:ln w="9525">
            <a:noFill/>
            <a:miter lim="800000"/>
            <a:headEnd/>
            <a:tailEnd/>
          </a:ln>
        </p:spPr>
        <p:txBody>
          <a:bodyPr wrap="none" lIns="90000" tIns="46800" rIns="90000" bIns="46800">
            <a:spAutoFit/>
          </a:bodyPr>
          <a:lstStyle/>
          <a:p>
            <a:r>
              <a:rPr lang="en-US" altLang="zh-TW" baseline="0">
                <a:solidFill>
                  <a:srgbClr val="0000FF"/>
                </a:solidFill>
              </a:rPr>
              <a:t>Transformation should keep equivalence</a:t>
            </a:r>
          </a:p>
        </p:txBody>
      </p:sp>
      <p:sp>
        <p:nvSpPr>
          <p:cNvPr id="11271" name="Oval 5"/>
          <p:cNvSpPr>
            <a:spLocks noChangeArrowheads="1"/>
          </p:cNvSpPr>
          <p:nvPr/>
        </p:nvSpPr>
        <p:spPr bwMode="auto">
          <a:xfrm>
            <a:off x="4191000" y="152400"/>
            <a:ext cx="1371600" cy="479138"/>
          </a:xfrm>
          <a:prstGeom prst="ellipse">
            <a:avLst/>
          </a:prstGeom>
          <a:noFill/>
          <a:ln w="9525">
            <a:solidFill>
              <a:srgbClr val="FF0000"/>
            </a:solidFill>
            <a:round/>
            <a:headEnd/>
            <a:tailEnd/>
          </a:ln>
        </p:spPr>
        <p:txBody>
          <a:bodyPr lIns="90000" tIns="46800" rIns="90000" bIns="46800" anchor="ctr">
            <a:spAutoFit/>
          </a:bodyPr>
          <a:lstStyle/>
          <a:p>
            <a:endParaRPr lang="en-US"/>
          </a:p>
        </p:txBody>
      </p:sp>
      <p:sp>
        <p:nvSpPr>
          <p:cNvPr id="11272" name="Oval 6"/>
          <p:cNvSpPr>
            <a:spLocks noChangeArrowheads="1"/>
          </p:cNvSpPr>
          <p:nvPr/>
        </p:nvSpPr>
        <p:spPr bwMode="auto">
          <a:xfrm>
            <a:off x="5486400" y="1981200"/>
            <a:ext cx="2133600" cy="479138"/>
          </a:xfrm>
          <a:prstGeom prst="ellipse">
            <a:avLst/>
          </a:prstGeom>
          <a:noFill/>
          <a:ln w="9525">
            <a:solidFill>
              <a:srgbClr val="FF0000"/>
            </a:solidFill>
            <a:round/>
            <a:headEnd/>
            <a:tailEnd/>
          </a:ln>
        </p:spPr>
        <p:txBody>
          <a:bodyPr lIns="90000" tIns="46800" rIns="90000" bIns="46800" anchor="ctr">
            <a:spAutoFit/>
          </a:bodyPr>
          <a:lstStyle/>
          <a:p>
            <a:endParaRPr lang="en-US"/>
          </a:p>
        </p:txBody>
      </p:sp>
      <p:sp>
        <p:nvSpPr>
          <p:cNvPr id="11273" name="Oval 7"/>
          <p:cNvSpPr>
            <a:spLocks noChangeArrowheads="1"/>
          </p:cNvSpPr>
          <p:nvPr/>
        </p:nvSpPr>
        <p:spPr bwMode="auto">
          <a:xfrm>
            <a:off x="2514600" y="1981200"/>
            <a:ext cx="1371600" cy="479138"/>
          </a:xfrm>
          <a:prstGeom prst="ellipse">
            <a:avLst/>
          </a:prstGeom>
          <a:noFill/>
          <a:ln w="9525">
            <a:solidFill>
              <a:srgbClr val="FF0000"/>
            </a:solidFill>
            <a:round/>
            <a:headEnd/>
            <a:tailEnd/>
          </a:ln>
        </p:spPr>
        <p:txBody>
          <a:bodyPr lIns="90000" tIns="46800" rIns="90000" bIns="46800" anchor="ctr">
            <a:spAutoFit/>
          </a:bodyPr>
          <a:lstStyle/>
          <a:p>
            <a:endParaRPr lang="en-US"/>
          </a:p>
        </p:txBody>
      </p:sp>
      <p:sp>
        <p:nvSpPr>
          <p:cNvPr id="11274" name="Oval 8"/>
          <p:cNvSpPr>
            <a:spLocks noChangeArrowheads="1"/>
          </p:cNvSpPr>
          <p:nvPr/>
        </p:nvSpPr>
        <p:spPr bwMode="auto">
          <a:xfrm>
            <a:off x="3505200" y="4038600"/>
            <a:ext cx="1828800" cy="479138"/>
          </a:xfrm>
          <a:prstGeom prst="ellipse">
            <a:avLst/>
          </a:prstGeom>
          <a:noFill/>
          <a:ln w="9525">
            <a:solidFill>
              <a:srgbClr val="FF0000"/>
            </a:solidFill>
            <a:round/>
            <a:headEnd/>
            <a:tailEnd/>
          </a:ln>
        </p:spPr>
        <p:txBody>
          <a:bodyPr lIns="90000" tIns="46800" rIns="90000" bIns="46800" anchor="ctr">
            <a:spAutoFit/>
          </a:bodyPr>
          <a:lstStyle/>
          <a:p>
            <a:endParaRPr lang="en-US"/>
          </a:p>
        </p:txBody>
      </p:sp>
      <p:sp>
        <p:nvSpPr>
          <p:cNvPr id="11275" name="Oval 9"/>
          <p:cNvSpPr>
            <a:spLocks noChangeArrowheads="1"/>
          </p:cNvSpPr>
          <p:nvPr/>
        </p:nvSpPr>
        <p:spPr bwMode="auto">
          <a:xfrm>
            <a:off x="990600" y="4038600"/>
            <a:ext cx="1828800" cy="479138"/>
          </a:xfrm>
          <a:prstGeom prst="ellipse">
            <a:avLst/>
          </a:prstGeom>
          <a:noFill/>
          <a:ln w="9525">
            <a:solidFill>
              <a:srgbClr val="FF0000"/>
            </a:solidFill>
            <a:round/>
            <a:headEnd/>
            <a:tailEnd/>
          </a:ln>
        </p:spPr>
        <p:txBody>
          <a:bodyPr lIns="90000" tIns="46800" rIns="90000" bIns="46800" anchor="ctr">
            <a:spAutoFit/>
          </a:bodyPr>
          <a:lstStyle/>
          <a:p>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457200" y="2524355"/>
            <a:ext cx="8229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 pos="228600" algn="l"/>
              </a:tabLst>
              <a:defRPr>
                <a:solidFill>
                  <a:schemeClr val="tx1"/>
                </a:solidFill>
                <a:latin typeface="Arial" panose="020B0604020202020204" pitchFamily="34" charset="0"/>
              </a:defRPr>
            </a:lvl9pPr>
          </a:lstStyle>
          <a:p>
            <a:pPr marL="0" lvl="0" indent="0" algn="just">
              <a:buNone/>
            </a:pPr>
            <a:r>
              <a:rPr lang="en-US" sz="2400" dirty="0"/>
              <a:t>e</a:t>
            </a:r>
            <a:r>
              <a:rPr lang="en-US" sz="2400" dirty="0" smtClean="0"/>
              <a:t>) </a:t>
            </a:r>
            <a:r>
              <a:rPr lang="en-US" sz="2400" dirty="0"/>
              <a:t>Another improvement is to keep only the attributes needed by subsequent operations in the intermediate relations, by including PROJECT (π) operations as early as possible in the query tree, as shown in Figure </a:t>
            </a:r>
            <a:r>
              <a:rPr lang="en-US" sz="2400" dirty="0" smtClean="0"/>
              <a:t>(e</a:t>
            </a:r>
            <a:r>
              <a:rPr lang="en-US" sz="2400" dirty="0"/>
              <a:t>). This reduces the attributes (columns) of the intermediate relations, whereas the SELECT operations reduce the number of tuples (records).</a:t>
            </a:r>
            <a:endParaRPr kumimoji="0" lang="en-US" altLang="en-US" sz="24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4031541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36575" y="239713"/>
            <a:ext cx="7772400" cy="1143000"/>
          </a:xfrm>
        </p:spPr>
        <p:txBody>
          <a:bodyPr>
            <a:normAutofit fontScale="90000"/>
          </a:bodyPr>
          <a:lstStyle/>
          <a:p>
            <a:pPr algn="l" eaLnBrk="1" hangingPunct="1"/>
            <a:r>
              <a:rPr lang="en-US" sz="3600" smtClean="0"/>
              <a:t>SQL Query with an Uncorrelated Subquery</a:t>
            </a:r>
            <a:endParaRPr lang="en-US" sz="3600" u="sng" smtClean="0"/>
          </a:p>
        </p:txBody>
      </p:sp>
      <p:sp>
        <p:nvSpPr>
          <p:cNvPr id="33795" name="Rectangle 3"/>
          <p:cNvSpPr>
            <a:spLocks noGrp="1" noChangeArrowheads="1"/>
          </p:cNvSpPr>
          <p:nvPr>
            <p:ph type="body" idx="1"/>
          </p:nvPr>
        </p:nvSpPr>
        <p:spPr>
          <a:xfrm>
            <a:off x="533400" y="1600200"/>
            <a:ext cx="7772400" cy="4114800"/>
          </a:xfrm>
        </p:spPr>
        <p:txBody>
          <a:bodyPr/>
          <a:lstStyle/>
          <a:p>
            <a:pPr eaLnBrk="1" hangingPunct="1">
              <a:lnSpc>
                <a:spcPct val="80000"/>
              </a:lnSpc>
              <a:buFontTx/>
              <a:buNone/>
            </a:pPr>
            <a:r>
              <a:rPr lang="en-US" sz="2400" smtClean="0"/>
              <a:t>Find the movies with stars born in 1960</a:t>
            </a:r>
          </a:p>
          <a:p>
            <a:pPr eaLnBrk="1" hangingPunct="1">
              <a:lnSpc>
                <a:spcPct val="80000"/>
              </a:lnSpc>
              <a:buFontTx/>
              <a:buNone/>
            </a:pPr>
            <a:r>
              <a:rPr lang="en-US" sz="2400" smtClean="0"/>
              <a:t>	MovieStar(</a:t>
            </a:r>
            <a:r>
              <a:rPr lang="en-US" sz="2400" smtClean="0">
                <a:solidFill>
                  <a:schemeClr val="accent2"/>
                </a:solidFill>
              </a:rPr>
              <a:t>name</a:t>
            </a:r>
            <a:r>
              <a:rPr lang="en-US" sz="2400" smtClean="0"/>
              <a:t>, address, gender, birthdate)</a:t>
            </a:r>
          </a:p>
          <a:p>
            <a:pPr eaLnBrk="1" hangingPunct="1">
              <a:lnSpc>
                <a:spcPct val="80000"/>
              </a:lnSpc>
              <a:buFontTx/>
              <a:buNone/>
            </a:pPr>
            <a:r>
              <a:rPr lang="en-US" sz="2400" smtClean="0"/>
              <a:t>    StarsIn(title, year, starName) </a:t>
            </a:r>
          </a:p>
          <a:p>
            <a:pPr eaLnBrk="1" hangingPunct="1">
              <a:lnSpc>
                <a:spcPct val="80000"/>
              </a:lnSpc>
              <a:buFontTx/>
              <a:buNone/>
            </a:pPr>
            <a:endParaRPr lang="en-US" sz="2400" smtClean="0"/>
          </a:p>
          <a:p>
            <a:pPr eaLnBrk="1" hangingPunct="1">
              <a:lnSpc>
                <a:spcPct val="80000"/>
              </a:lnSpc>
              <a:buFontTx/>
              <a:buNone/>
            </a:pPr>
            <a:r>
              <a:rPr lang="en-US" sz="2400" smtClean="0"/>
              <a:t>SELECT title</a:t>
            </a:r>
          </a:p>
          <a:p>
            <a:pPr eaLnBrk="1" hangingPunct="1">
              <a:lnSpc>
                <a:spcPct val="80000"/>
              </a:lnSpc>
              <a:buFontTx/>
              <a:buNone/>
            </a:pPr>
            <a:r>
              <a:rPr lang="en-US" sz="2400" smtClean="0"/>
              <a:t>FROM StarsIn</a:t>
            </a:r>
          </a:p>
          <a:p>
            <a:pPr eaLnBrk="1" hangingPunct="1">
              <a:lnSpc>
                <a:spcPct val="80000"/>
              </a:lnSpc>
              <a:buFontTx/>
              <a:buNone/>
            </a:pPr>
            <a:r>
              <a:rPr lang="en-US" sz="2400" smtClean="0"/>
              <a:t>WHERE starName IN (</a:t>
            </a:r>
          </a:p>
          <a:p>
            <a:pPr eaLnBrk="1" hangingPunct="1">
              <a:lnSpc>
                <a:spcPct val="80000"/>
              </a:lnSpc>
              <a:buFontTx/>
              <a:buNone/>
            </a:pPr>
            <a:r>
              <a:rPr lang="en-US" sz="2400" smtClean="0"/>
              <a:t>		</a:t>
            </a:r>
            <a:r>
              <a:rPr lang="en-US" sz="2400" smtClean="0">
                <a:solidFill>
                  <a:srgbClr val="CC3300"/>
                </a:solidFill>
              </a:rPr>
              <a:t>SELECT name</a:t>
            </a:r>
          </a:p>
          <a:p>
            <a:pPr eaLnBrk="1" hangingPunct="1">
              <a:lnSpc>
                <a:spcPct val="80000"/>
              </a:lnSpc>
              <a:buFontTx/>
              <a:buNone/>
            </a:pPr>
            <a:r>
              <a:rPr lang="en-US" sz="2400" smtClean="0">
                <a:solidFill>
                  <a:srgbClr val="CC3300"/>
                </a:solidFill>
              </a:rPr>
              <a:t>		FROM MovieStar</a:t>
            </a:r>
          </a:p>
          <a:p>
            <a:pPr eaLnBrk="1" hangingPunct="1">
              <a:lnSpc>
                <a:spcPct val="80000"/>
              </a:lnSpc>
              <a:buFontTx/>
              <a:buNone/>
            </a:pPr>
            <a:r>
              <a:rPr lang="en-US" sz="2400" smtClean="0">
                <a:solidFill>
                  <a:srgbClr val="CC3300"/>
                </a:solidFill>
              </a:rPr>
              <a:t>		WHERE birthdate LIKE ‘%1960’</a:t>
            </a:r>
          </a:p>
          <a:p>
            <a:pPr eaLnBrk="1" hangingPunct="1">
              <a:lnSpc>
                <a:spcPct val="80000"/>
              </a:lnSpc>
              <a:buFontTx/>
              <a:buNone/>
            </a:pPr>
            <a:r>
              <a:rPr lang="en-US" sz="240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79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79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795">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795">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79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592138" y="357188"/>
            <a:ext cx="7772400" cy="750887"/>
          </a:xfrm>
          <a:prstGeom prst="rect">
            <a:avLst/>
          </a:prstGeom>
          <a:noFill/>
          <a:ln w="9525">
            <a:noFill/>
            <a:miter lim="800000"/>
            <a:headEnd/>
            <a:tailEnd/>
          </a:ln>
        </p:spPr>
        <p:txBody>
          <a:bodyPr anchor="ctr"/>
          <a:lstStyle/>
          <a:p>
            <a:r>
              <a:rPr lang="en-US" sz="3600">
                <a:solidFill>
                  <a:schemeClr val="tx2"/>
                </a:solidFill>
              </a:rPr>
              <a:t>Parse Tree</a:t>
            </a:r>
            <a:endParaRPr lang="en-US" sz="3600" u="sng">
              <a:solidFill>
                <a:schemeClr val="tx2"/>
              </a:solidFill>
            </a:endParaRPr>
          </a:p>
        </p:txBody>
      </p:sp>
      <p:sp>
        <p:nvSpPr>
          <p:cNvPr id="7171" name="Text Box 3"/>
          <p:cNvSpPr txBox="1">
            <a:spLocks noChangeArrowheads="1"/>
          </p:cNvSpPr>
          <p:nvPr/>
        </p:nvSpPr>
        <p:spPr bwMode="auto">
          <a:xfrm>
            <a:off x="3619500" y="1074738"/>
            <a:ext cx="1123950" cy="366712"/>
          </a:xfrm>
          <a:prstGeom prst="rect">
            <a:avLst/>
          </a:prstGeom>
          <a:noFill/>
          <a:ln w="9525">
            <a:noFill/>
            <a:miter lim="800000"/>
            <a:headEnd/>
            <a:tailEnd/>
          </a:ln>
        </p:spPr>
        <p:txBody>
          <a:bodyPr wrap="none" anchor="ctr">
            <a:spAutoFit/>
          </a:bodyPr>
          <a:lstStyle/>
          <a:p>
            <a:pPr algn="ctr"/>
            <a:r>
              <a:rPr lang="en-US">
                <a:latin typeface="Tahoma" pitchFamily="34" charset="0"/>
              </a:rPr>
              <a:t>&lt;Query&gt;</a:t>
            </a:r>
          </a:p>
        </p:txBody>
      </p:sp>
      <p:sp>
        <p:nvSpPr>
          <p:cNvPr id="7172" name="Text Box 4"/>
          <p:cNvSpPr txBox="1">
            <a:spLocks noChangeArrowheads="1"/>
          </p:cNvSpPr>
          <p:nvPr/>
        </p:nvSpPr>
        <p:spPr bwMode="auto">
          <a:xfrm>
            <a:off x="3684588" y="1660525"/>
            <a:ext cx="969962" cy="366713"/>
          </a:xfrm>
          <a:prstGeom prst="rect">
            <a:avLst/>
          </a:prstGeom>
          <a:noFill/>
          <a:ln w="9525">
            <a:noFill/>
            <a:miter lim="800000"/>
            <a:headEnd/>
            <a:tailEnd/>
          </a:ln>
        </p:spPr>
        <p:txBody>
          <a:bodyPr wrap="none" anchor="ctr">
            <a:spAutoFit/>
          </a:bodyPr>
          <a:lstStyle/>
          <a:p>
            <a:pPr algn="ctr"/>
            <a:r>
              <a:rPr lang="en-US">
                <a:latin typeface="Tahoma" pitchFamily="34" charset="0"/>
              </a:rPr>
              <a:t>&lt;SFW&gt;</a:t>
            </a:r>
            <a:endParaRPr lang="en-US" sz="2400">
              <a:latin typeface="Tahoma" pitchFamily="34" charset="0"/>
            </a:endParaRPr>
          </a:p>
        </p:txBody>
      </p:sp>
      <p:sp>
        <p:nvSpPr>
          <p:cNvPr id="7173" name="Text Box 5"/>
          <p:cNvSpPr txBox="1">
            <a:spLocks noChangeArrowheads="1"/>
          </p:cNvSpPr>
          <p:nvPr/>
        </p:nvSpPr>
        <p:spPr bwMode="auto">
          <a:xfrm>
            <a:off x="527050" y="2246313"/>
            <a:ext cx="7262813" cy="366712"/>
          </a:xfrm>
          <a:prstGeom prst="rect">
            <a:avLst/>
          </a:prstGeom>
          <a:noFill/>
          <a:ln w="9525">
            <a:noFill/>
            <a:miter lim="800000"/>
            <a:headEnd/>
            <a:tailEnd/>
          </a:ln>
        </p:spPr>
        <p:txBody>
          <a:bodyPr wrap="none" anchor="ctr">
            <a:spAutoFit/>
          </a:bodyPr>
          <a:lstStyle/>
          <a:p>
            <a:pPr algn="ctr"/>
            <a:r>
              <a:rPr lang="en-US">
                <a:latin typeface="Tahoma" pitchFamily="34" charset="0"/>
              </a:rPr>
              <a:t>SELECT   &lt;SelList&gt;    FROM    &lt;FromList&gt;     WHERE     &lt;Condition&gt;</a:t>
            </a:r>
            <a:endParaRPr lang="en-US" sz="2400">
              <a:latin typeface="Tahoma" pitchFamily="34" charset="0"/>
            </a:endParaRPr>
          </a:p>
        </p:txBody>
      </p:sp>
      <p:sp>
        <p:nvSpPr>
          <p:cNvPr id="7174" name="Text Box 6"/>
          <p:cNvSpPr txBox="1">
            <a:spLocks noChangeArrowheads="1"/>
          </p:cNvSpPr>
          <p:nvPr/>
        </p:nvSpPr>
        <p:spPr bwMode="auto">
          <a:xfrm>
            <a:off x="1284288" y="2832100"/>
            <a:ext cx="7197725" cy="366713"/>
          </a:xfrm>
          <a:prstGeom prst="rect">
            <a:avLst/>
          </a:prstGeom>
          <a:noFill/>
          <a:ln w="9525">
            <a:noFill/>
            <a:miter lim="800000"/>
            <a:headEnd/>
            <a:tailEnd/>
          </a:ln>
        </p:spPr>
        <p:txBody>
          <a:bodyPr wrap="none" anchor="ctr">
            <a:spAutoFit/>
          </a:bodyPr>
          <a:lstStyle/>
          <a:p>
            <a:r>
              <a:rPr lang="en-US">
                <a:latin typeface="Tahoma" pitchFamily="34" charset="0"/>
              </a:rPr>
              <a:t>&lt;Attribute&gt;              &lt;RelName&gt;                 &lt;Tuple&gt;  IN  &lt;Query&gt;</a:t>
            </a:r>
            <a:endParaRPr lang="en-US" sz="2400">
              <a:latin typeface="Tahoma" pitchFamily="34" charset="0"/>
            </a:endParaRPr>
          </a:p>
        </p:txBody>
      </p:sp>
      <p:sp>
        <p:nvSpPr>
          <p:cNvPr id="7175" name="Text Box 7"/>
          <p:cNvSpPr txBox="1">
            <a:spLocks noChangeArrowheads="1"/>
          </p:cNvSpPr>
          <p:nvPr/>
        </p:nvSpPr>
        <p:spPr bwMode="auto">
          <a:xfrm>
            <a:off x="1716088" y="3417888"/>
            <a:ext cx="7034212" cy="366712"/>
          </a:xfrm>
          <a:prstGeom prst="rect">
            <a:avLst/>
          </a:prstGeom>
          <a:noFill/>
          <a:ln w="9525">
            <a:noFill/>
            <a:miter lim="800000"/>
            <a:headEnd/>
            <a:tailEnd/>
          </a:ln>
        </p:spPr>
        <p:txBody>
          <a:bodyPr wrap="none" anchor="ctr">
            <a:spAutoFit/>
          </a:bodyPr>
          <a:lstStyle/>
          <a:p>
            <a:r>
              <a:rPr lang="en-US">
                <a:latin typeface="Tahoma" pitchFamily="34" charset="0"/>
              </a:rPr>
              <a:t>title                       StarsIn               &lt;Attribute&gt;      (  &lt;Query&gt;  )</a:t>
            </a:r>
            <a:endParaRPr lang="en-US" sz="2400">
              <a:latin typeface="Tahoma" pitchFamily="34" charset="0"/>
            </a:endParaRPr>
          </a:p>
        </p:txBody>
      </p:sp>
      <p:sp>
        <p:nvSpPr>
          <p:cNvPr id="7176" name="Text Box 8"/>
          <p:cNvSpPr txBox="1">
            <a:spLocks noChangeArrowheads="1"/>
          </p:cNvSpPr>
          <p:nvPr/>
        </p:nvSpPr>
        <p:spPr bwMode="auto">
          <a:xfrm>
            <a:off x="5867400" y="3957638"/>
            <a:ext cx="2436813" cy="366712"/>
          </a:xfrm>
          <a:prstGeom prst="rect">
            <a:avLst/>
          </a:prstGeom>
          <a:noFill/>
          <a:ln w="9525">
            <a:noFill/>
            <a:miter lim="800000"/>
            <a:headEnd/>
            <a:tailEnd/>
          </a:ln>
        </p:spPr>
        <p:txBody>
          <a:bodyPr wrap="none" anchor="ctr">
            <a:spAutoFit/>
          </a:bodyPr>
          <a:lstStyle/>
          <a:p>
            <a:r>
              <a:rPr lang="en-US">
                <a:latin typeface="Tahoma" pitchFamily="34" charset="0"/>
              </a:rPr>
              <a:t>starName       &lt;SFW&gt;</a:t>
            </a:r>
            <a:endParaRPr lang="en-US" sz="2400">
              <a:latin typeface="Tahoma" pitchFamily="34" charset="0"/>
            </a:endParaRPr>
          </a:p>
        </p:txBody>
      </p:sp>
      <p:sp>
        <p:nvSpPr>
          <p:cNvPr id="7177" name="Text Box 9"/>
          <p:cNvSpPr txBox="1">
            <a:spLocks noChangeArrowheads="1"/>
          </p:cNvSpPr>
          <p:nvPr/>
        </p:nvSpPr>
        <p:spPr bwMode="auto">
          <a:xfrm>
            <a:off x="1063625" y="4589463"/>
            <a:ext cx="7548563" cy="366712"/>
          </a:xfrm>
          <a:prstGeom prst="rect">
            <a:avLst/>
          </a:prstGeom>
          <a:noFill/>
          <a:ln w="9525">
            <a:noFill/>
            <a:miter lim="800000"/>
            <a:headEnd/>
            <a:tailEnd/>
          </a:ln>
        </p:spPr>
        <p:txBody>
          <a:bodyPr wrap="none" anchor="ctr">
            <a:spAutoFit/>
          </a:bodyPr>
          <a:lstStyle/>
          <a:p>
            <a:r>
              <a:rPr lang="en-US">
                <a:latin typeface="Tahoma" pitchFamily="34" charset="0"/>
              </a:rPr>
              <a:t>SELECT      &lt;SelList&gt;    FROM     &lt;FromList&gt;     WHERE     &lt;Condition&gt;</a:t>
            </a:r>
            <a:endParaRPr lang="en-US" sz="2400">
              <a:latin typeface="Tahoma" pitchFamily="34" charset="0"/>
            </a:endParaRPr>
          </a:p>
        </p:txBody>
      </p:sp>
      <p:sp>
        <p:nvSpPr>
          <p:cNvPr id="7178" name="Text Box 10"/>
          <p:cNvSpPr txBox="1">
            <a:spLocks noChangeArrowheads="1"/>
          </p:cNvSpPr>
          <p:nvPr/>
        </p:nvSpPr>
        <p:spPr bwMode="auto">
          <a:xfrm>
            <a:off x="1836738" y="5162550"/>
            <a:ext cx="7073900" cy="366713"/>
          </a:xfrm>
          <a:prstGeom prst="rect">
            <a:avLst/>
          </a:prstGeom>
          <a:noFill/>
          <a:ln w="9525">
            <a:noFill/>
            <a:miter lim="800000"/>
            <a:headEnd/>
            <a:tailEnd/>
          </a:ln>
        </p:spPr>
        <p:txBody>
          <a:bodyPr wrap="none" anchor="ctr">
            <a:spAutoFit/>
          </a:bodyPr>
          <a:lstStyle/>
          <a:p>
            <a:r>
              <a:rPr lang="en-US">
                <a:latin typeface="Tahoma" pitchFamily="34" charset="0"/>
              </a:rPr>
              <a:t>&lt;Attribute&gt;           &lt;RelName&gt;         &lt;Attribute&gt;  LIKE  &lt;Pattern&gt;</a:t>
            </a:r>
            <a:endParaRPr lang="en-US" sz="2400">
              <a:latin typeface="Tahoma" pitchFamily="34" charset="0"/>
            </a:endParaRPr>
          </a:p>
        </p:txBody>
      </p:sp>
      <p:sp>
        <p:nvSpPr>
          <p:cNvPr id="7179" name="Text Box 11"/>
          <p:cNvSpPr txBox="1">
            <a:spLocks noChangeArrowheads="1"/>
          </p:cNvSpPr>
          <p:nvPr/>
        </p:nvSpPr>
        <p:spPr bwMode="auto">
          <a:xfrm>
            <a:off x="2147888" y="5762625"/>
            <a:ext cx="6569075" cy="366713"/>
          </a:xfrm>
          <a:prstGeom prst="rect">
            <a:avLst/>
          </a:prstGeom>
          <a:noFill/>
          <a:ln w="9525">
            <a:noFill/>
            <a:miter lim="800000"/>
            <a:headEnd/>
            <a:tailEnd/>
          </a:ln>
        </p:spPr>
        <p:txBody>
          <a:bodyPr wrap="none" anchor="ctr">
            <a:spAutoFit/>
          </a:bodyPr>
          <a:lstStyle/>
          <a:p>
            <a:r>
              <a:rPr lang="en-US">
                <a:latin typeface="Tahoma" pitchFamily="34" charset="0"/>
              </a:rPr>
              <a:t>name                 MovieStar              birthDate            ‘%1960’</a:t>
            </a:r>
            <a:endParaRPr lang="en-US" sz="2400">
              <a:latin typeface="Tahoma" pitchFamily="34" charset="0"/>
            </a:endParaRPr>
          </a:p>
        </p:txBody>
      </p:sp>
      <p:sp>
        <p:nvSpPr>
          <p:cNvPr id="7180" name="Line 12"/>
          <p:cNvSpPr>
            <a:spLocks noChangeShapeType="1"/>
          </p:cNvSpPr>
          <p:nvPr/>
        </p:nvSpPr>
        <p:spPr bwMode="auto">
          <a:xfrm>
            <a:off x="4144963" y="1431925"/>
            <a:ext cx="0" cy="231775"/>
          </a:xfrm>
          <a:prstGeom prst="line">
            <a:avLst/>
          </a:prstGeom>
          <a:noFill/>
          <a:ln w="9525">
            <a:solidFill>
              <a:schemeClr val="tx1"/>
            </a:solidFill>
            <a:round/>
            <a:headEnd/>
            <a:tailEnd/>
          </a:ln>
        </p:spPr>
        <p:txBody>
          <a:bodyPr wrap="none" anchor="ctr"/>
          <a:lstStyle/>
          <a:p>
            <a:endParaRPr lang="en-US"/>
          </a:p>
        </p:txBody>
      </p:sp>
      <p:sp>
        <p:nvSpPr>
          <p:cNvPr id="7181" name="Line 13"/>
          <p:cNvSpPr>
            <a:spLocks noChangeShapeType="1"/>
          </p:cNvSpPr>
          <p:nvPr/>
        </p:nvSpPr>
        <p:spPr bwMode="auto">
          <a:xfrm flipH="1">
            <a:off x="1317625" y="1882775"/>
            <a:ext cx="2446338" cy="390525"/>
          </a:xfrm>
          <a:prstGeom prst="line">
            <a:avLst/>
          </a:prstGeom>
          <a:noFill/>
          <a:ln w="9525">
            <a:solidFill>
              <a:schemeClr val="tx1"/>
            </a:solidFill>
            <a:round/>
            <a:headEnd/>
            <a:tailEnd/>
          </a:ln>
        </p:spPr>
        <p:txBody>
          <a:bodyPr wrap="none" anchor="ctr"/>
          <a:lstStyle/>
          <a:p>
            <a:endParaRPr lang="en-US"/>
          </a:p>
        </p:txBody>
      </p:sp>
      <p:sp>
        <p:nvSpPr>
          <p:cNvPr id="7182" name="Line 14"/>
          <p:cNvSpPr>
            <a:spLocks noChangeShapeType="1"/>
          </p:cNvSpPr>
          <p:nvPr/>
        </p:nvSpPr>
        <p:spPr bwMode="auto">
          <a:xfrm flipH="1">
            <a:off x="2378075" y="1939925"/>
            <a:ext cx="1604963" cy="347663"/>
          </a:xfrm>
          <a:prstGeom prst="line">
            <a:avLst/>
          </a:prstGeom>
          <a:noFill/>
          <a:ln w="9525">
            <a:solidFill>
              <a:schemeClr val="tx1"/>
            </a:solidFill>
            <a:round/>
            <a:headEnd/>
            <a:tailEnd/>
          </a:ln>
        </p:spPr>
        <p:txBody>
          <a:bodyPr wrap="none" anchor="ctr"/>
          <a:lstStyle/>
          <a:p>
            <a:endParaRPr lang="en-US"/>
          </a:p>
        </p:txBody>
      </p:sp>
      <p:sp>
        <p:nvSpPr>
          <p:cNvPr id="7183" name="Line 15"/>
          <p:cNvSpPr>
            <a:spLocks noChangeShapeType="1"/>
          </p:cNvSpPr>
          <p:nvPr/>
        </p:nvSpPr>
        <p:spPr bwMode="auto">
          <a:xfrm flipH="1">
            <a:off x="3233738" y="1928813"/>
            <a:ext cx="795337" cy="381000"/>
          </a:xfrm>
          <a:prstGeom prst="line">
            <a:avLst/>
          </a:prstGeom>
          <a:noFill/>
          <a:ln w="9525">
            <a:solidFill>
              <a:schemeClr val="tx1"/>
            </a:solidFill>
            <a:round/>
            <a:headEnd/>
            <a:tailEnd/>
          </a:ln>
        </p:spPr>
        <p:txBody>
          <a:bodyPr wrap="none" anchor="ctr"/>
          <a:lstStyle/>
          <a:p>
            <a:endParaRPr lang="en-US"/>
          </a:p>
        </p:txBody>
      </p:sp>
      <p:sp>
        <p:nvSpPr>
          <p:cNvPr id="7184" name="Line 16"/>
          <p:cNvSpPr>
            <a:spLocks noChangeShapeType="1"/>
          </p:cNvSpPr>
          <p:nvPr/>
        </p:nvSpPr>
        <p:spPr bwMode="auto">
          <a:xfrm>
            <a:off x="4122738" y="1928813"/>
            <a:ext cx="33337" cy="403225"/>
          </a:xfrm>
          <a:prstGeom prst="line">
            <a:avLst/>
          </a:prstGeom>
          <a:noFill/>
          <a:ln w="9525">
            <a:solidFill>
              <a:schemeClr val="tx1"/>
            </a:solidFill>
            <a:round/>
            <a:headEnd/>
            <a:tailEnd/>
          </a:ln>
        </p:spPr>
        <p:txBody>
          <a:bodyPr wrap="none" anchor="ctr"/>
          <a:lstStyle/>
          <a:p>
            <a:endParaRPr lang="en-US"/>
          </a:p>
        </p:txBody>
      </p:sp>
      <p:sp>
        <p:nvSpPr>
          <p:cNvPr id="7185" name="Line 17"/>
          <p:cNvSpPr>
            <a:spLocks noChangeShapeType="1"/>
          </p:cNvSpPr>
          <p:nvPr/>
        </p:nvSpPr>
        <p:spPr bwMode="auto">
          <a:xfrm>
            <a:off x="4249738" y="1963738"/>
            <a:ext cx="1062037" cy="346075"/>
          </a:xfrm>
          <a:prstGeom prst="line">
            <a:avLst/>
          </a:prstGeom>
          <a:noFill/>
          <a:ln w="9525">
            <a:solidFill>
              <a:schemeClr val="tx1"/>
            </a:solidFill>
            <a:round/>
            <a:headEnd/>
            <a:tailEnd/>
          </a:ln>
        </p:spPr>
        <p:txBody>
          <a:bodyPr wrap="none" anchor="ctr"/>
          <a:lstStyle/>
          <a:p>
            <a:endParaRPr lang="en-US"/>
          </a:p>
        </p:txBody>
      </p:sp>
      <p:sp>
        <p:nvSpPr>
          <p:cNvPr id="7186" name="Line 18"/>
          <p:cNvSpPr>
            <a:spLocks noChangeShapeType="1"/>
          </p:cNvSpPr>
          <p:nvPr/>
        </p:nvSpPr>
        <p:spPr bwMode="auto">
          <a:xfrm>
            <a:off x="4549775" y="1917700"/>
            <a:ext cx="2054225" cy="357188"/>
          </a:xfrm>
          <a:prstGeom prst="line">
            <a:avLst/>
          </a:prstGeom>
          <a:noFill/>
          <a:ln w="9525">
            <a:solidFill>
              <a:schemeClr val="tx1"/>
            </a:solidFill>
            <a:round/>
            <a:headEnd/>
            <a:tailEnd/>
          </a:ln>
        </p:spPr>
        <p:txBody>
          <a:bodyPr wrap="none" anchor="ctr"/>
          <a:lstStyle/>
          <a:p>
            <a:endParaRPr lang="en-US"/>
          </a:p>
        </p:txBody>
      </p:sp>
      <p:sp>
        <p:nvSpPr>
          <p:cNvPr id="7187" name="Line 19"/>
          <p:cNvSpPr>
            <a:spLocks noChangeShapeType="1"/>
          </p:cNvSpPr>
          <p:nvPr/>
        </p:nvSpPr>
        <p:spPr bwMode="auto">
          <a:xfrm>
            <a:off x="2044700" y="2563813"/>
            <a:ext cx="0" cy="346075"/>
          </a:xfrm>
          <a:prstGeom prst="line">
            <a:avLst/>
          </a:prstGeom>
          <a:noFill/>
          <a:ln w="9525">
            <a:solidFill>
              <a:schemeClr val="tx1"/>
            </a:solidFill>
            <a:round/>
            <a:headEnd/>
            <a:tailEnd/>
          </a:ln>
        </p:spPr>
        <p:txBody>
          <a:bodyPr wrap="none" anchor="ctr"/>
          <a:lstStyle/>
          <a:p>
            <a:endParaRPr lang="en-US"/>
          </a:p>
        </p:txBody>
      </p:sp>
      <p:sp>
        <p:nvSpPr>
          <p:cNvPr id="7188" name="Line 20"/>
          <p:cNvSpPr>
            <a:spLocks noChangeShapeType="1"/>
          </p:cNvSpPr>
          <p:nvPr/>
        </p:nvSpPr>
        <p:spPr bwMode="auto">
          <a:xfrm flipH="1">
            <a:off x="4237038" y="2563813"/>
            <a:ext cx="80962" cy="311150"/>
          </a:xfrm>
          <a:prstGeom prst="line">
            <a:avLst/>
          </a:prstGeom>
          <a:noFill/>
          <a:ln w="9525">
            <a:solidFill>
              <a:schemeClr val="tx1"/>
            </a:solidFill>
            <a:round/>
            <a:headEnd/>
            <a:tailEnd/>
          </a:ln>
        </p:spPr>
        <p:txBody>
          <a:bodyPr wrap="none" anchor="ctr"/>
          <a:lstStyle/>
          <a:p>
            <a:endParaRPr lang="en-US"/>
          </a:p>
        </p:txBody>
      </p:sp>
      <p:sp>
        <p:nvSpPr>
          <p:cNvPr id="7189" name="Line 21"/>
          <p:cNvSpPr>
            <a:spLocks noChangeShapeType="1"/>
          </p:cNvSpPr>
          <p:nvPr/>
        </p:nvSpPr>
        <p:spPr bwMode="auto">
          <a:xfrm flipH="1">
            <a:off x="6546850" y="2563813"/>
            <a:ext cx="346075" cy="323850"/>
          </a:xfrm>
          <a:prstGeom prst="line">
            <a:avLst/>
          </a:prstGeom>
          <a:noFill/>
          <a:ln w="9525">
            <a:solidFill>
              <a:schemeClr val="tx1"/>
            </a:solidFill>
            <a:round/>
            <a:headEnd/>
            <a:tailEnd/>
          </a:ln>
        </p:spPr>
        <p:txBody>
          <a:bodyPr wrap="none" anchor="ctr"/>
          <a:lstStyle/>
          <a:p>
            <a:endParaRPr lang="en-US"/>
          </a:p>
        </p:txBody>
      </p:sp>
      <p:sp>
        <p:nvSpPr>
          <p:cNvPr id="7190" name="Line 22"/>
          <p:cNvSpPr>
            <a:spLocks noChangeShapeType="1"/>
          </p:cNvSpPr>
          <p:nvPr/>
        </p:nvSpPr>
        <p:spPr bwMode="auto">
          <a:xfrm>
            <a:off x="7100888" y="2540000"/>
            <a:ext cx="80962" cy="369888"/>
          </a:xfrm>
          <a:prstGeom prst="line">
            <a:avLst/>
          </a:prstGeom>
          <a:noFill/>
          <a:ln w="9525">
            <a:solidFill>
              <a:schemeClr val="tx1"/>
            </a:solidFill>
            <a:round/>
            <a:headEnd/>
            <a:tailEnd/>
          </a:ln>
        </p:spPr>
        <p:txBody>
          <a:bodyPr wrap="none" anchor="ctr"/>
          <a:lstStyle/>
          <a:p>
            <a:endParaRPr lang="en-US"/>
          </a:p>
        </p:txBody>
      </p:sp>
      <p:sp>
        <p:nvSpPr>
          <p:cNvPr id="7191" name="Line 23"/>
          <p:cNvSpPr>
            <a:spLocks noChangeShapeType="1"/>
          </p:cNvSpPr>
          <p:nvPr/>
        </p:nvSpPr>
        <p:spPr bwMode="auto">
          <a:xfrm>
            <a:off x="7493000" y="2540000"/>
            <a:ext cx="346075" cy="358775"/>
          </a:xfrm>
          <a:prstGeom prst="line">
            <a:avLst/>
          </a:prstGeom>
          <a:noFill/>
          <a:ln w="9525">
            <a:solidFill>
              <a:schemeClr val="tx1"/>
            </a:solidFill>
            <a:round/>
            <a:headEnd/>
            <a:tailEnd/>
          </a:ln>
        </p:spPr>
        <p:txBody>
          <a:bodyPr wrap="none" anchor="ctr"/>
          <a:lstStyle/>
          <a:p>
            <a:endParaRPr lang="en-US"/>
          </a:p>
        </p:txBody>
      </p:sp>
      <p:sp>
        <p:nvSpPr>
          <p:cNvPr id="7192" name="Line 24"/>
          <p:cNvSpPr>
            <a:spLocks noChangeShapeType="1"/>
          </p:cNvSpPr>
          <p:nvPr/>
        </p:nvSpPr>
        <p:spPr bwMode="auto">
          <a:xfrm>
            <a:off x="2020888" y="3152775"/>
            <a:ext cx="0" cy="300038"/>
          </a:xfrm>
          <a:prstGeom prst="line">
            <a:avLst/>
          </a:prstGeom>
          <a:noFill/>
          <a:ln w="9525">
            <a:solidFill>
              <a:schemeClr val="tx1"/>
            </a:solidFill>
            <a:round/>
            <a:headEnd/>
            <a:tailEnd/>
          </a:ln>
        </p:spPr>
        <p:txBody>
          <a:bodyPr wrap="none" anchor="ctr"/>
          <a:lstStyle/>
          <a:p>
            <a:endParaRPr lang="en-US"/>
          </a:p>
        </p:txBody>
      </p:sp>
      <p:sp>
        <p:nvSpPr>
          <p:cNvPr id="7193" name="Line 25"/>
          <p:cNvSpPr>
            <a:spLocks noChangeShapeType="1"/>
          </p:cNvSpPr>
          <p:nvPr/>
        </p:nvSpPr>
        <p:spPr bwMode="auto">
          <a:xfrm>
            <a:off x="4191000" y="3163888"/>
            <a:ext cx="0" cy="346075"/>
          </a:xfrm>
          <a:prstGeom prst="line">
            <a:avLst/>
          </a:prstGeom>
          <a:noFill/>
          <a:ln w="9525">
            <a:solidFill>
              <a:schemeClr val="tx1"/>
            </a:solidFill>
            <a:round/>
            <a:headEnd/>
            <a:tailEnd/>
          </a:ln>
        </p:spPr>
        <p:txBody>
          <a:bodyPr wrap="none" anchor="ctr"/>
          <a:lstStyle/>
          <a:p>
            <a:endParaRPr lang="en-US"/>
          </a:p>
        </p:txBody>
      </p:sp>
      <p:sp>
        <p:nvSpPr>
          <p:cNvPr id="7194" name="Line 26"/>
          <p:cNvSpPr>
            <a:spLocks noChangeShapeType="1"/>
          </p:cNvSpPr>
          <p:nvPr/>
        </p:nvSpPr>
        <p:spPr bwMode="auto">
          <a:xfrm flipH="1">
            <a:off x="6302375" y="3163888"/>
            <a:ext cx="104775" cy="311150"/>
          </a:xfrm>
          <a:prstGeom prst="line">
            <a:avLst/>
          </a:prstGeom>
          <a:noFill/>
          <a:ln w="9525">
            <a:solidFill>
              <a:schemeClr val="tx1"/>
            </a:solidFill>
            <a:round/>
            <a:headEnd/>
            <a:tailEnd/>
          </a:ln>
        </p:spPr>
        <p:txBody>
          <a:bodyPr wrap="none" anchor="ctr"/>
          <a:lstStyle/>
          <a:p>
            <a:endParaRPr lang="en-US"/>
          </a:p>
        </p:txBody>
      </p:sp>
      <p:sp>
        <p:nvSpPr>
          <p:cNvPr id="7195" name="Line 27"/>
          <p:cNvSpPr>
            <a:spLocks noChangeShapeType="1"/>
          </p:cNvSpPr>
          <p:nvPr/>
        </p:nvSpPr>
        <p:spPr bwMode="auto">
          <a:xfrm flipH="1">
            <a:off x="7342188" y="3163888"/>
            <a:ext cx="381000" cy="300037"/>
          </a:xfrm>
          <a:prstGeom prst="line">
            <a:avLst/>
          </a:prstGeom>
          <a:noFill/>
          <a:ln w="9525">
            <a:solidFill>
              <a:schemeClr val="tx1"/>
            </a:solidFill>
            <a:round/>
            <a:headEnd/>
            <a:tailEnd/>
          </a:ln>
        </p:spPr>
        <p:txBody>
          <a:bodyPr wrap="none" anchor="ctr"/>
          <a:lstStyle/>
          <a:p>
            <a:endParaRPr lang="en-US"/>
          </a:p>
        </p:txBody>
      </p:sp>
      <p:sp>
        <p:nvSpPr>
          <p:cNvPr id="7196" name="Line 28"/>
          <p:cNvSpPr>
            <a:spLocks noChangeShapeType="1"/>
          </p:cNvSpPr>
          <p:nvPr/>
        </p:nvSpPr>
        <p:spPr bwMode="auto">
          <a:xfrm>
            <a:off x="7850188" y="3152775"/>
            <a:ext cx="22225" cy="334963"/>
          </a:xfrm>
          <a:prstGeom prst="line">
            <a:avLst/>
          </a:prstGeom>
          <a:noFill/>
          <a:ln w="9525">
            <a:solidFill>
              <a:schemeClr val="tx1"/>
            </a:solidFill>
            <a:round/>
            <a:headEnd/>
            <a:tailEnd/>
          </a:ln>
        </p:spPr>
        <p:txBody>
          <a:bodyPr wrap="none" anchor="ctr"/>
          <a:lstStyle/>
          <a:p>
            <a:endParaRPr lang="en-US"/>
          </a:p>
        </p:txBody>
      </p:sp>
      <p:sp>
        <p:nvSpPr>
          <p:cNvPr id="7197" name="Line 29"/>
          <p:cNvSpPr>
            <a:spLocks noChangeShapeType="1"/>
          </p:cNvSpPr>
          <p:nvPr/>
        </p:nvSpPr>
        <p:spPr bwMode="auto">
          <a:xfrm>
            <a:off x="7977188" y="3117850"/>
            <a:ext cx="600075" cy="346075"/>
          </a:xfrm>
          <a:prstGeom prst="line">
            <a:avLst/>
          </a:prstGeom>
          <a:noFill/>
          <a:ln w="9525">
            <a:solidFill>
              <a:schemeClr val="tx1"/>
            </a:solidFill>
            <a:round/>
            <a:headEnd/>
            <a:tailEnd/>
          </a:ln>
        </p:spPr>
        <p:txBody>
          <a:bodyPr wrap="none" anchor="ctr"/>
          <a:lstStyle/>
          <a:p>
            <a:endParaRPr lang="en-US"/>
          </a:p>
        </p:txBody>
      </p:sp>
      <p:sp>
        <p:nvSpPr>
          <p:cNvPr id="7198" name="Line 30"/>
          <p:cNvSpPr>
            <a:spLocks noChangeShapeType="1"/>
          </p:cNvSpPr>
          <p:nvPr/>
        </p:nvSpPr>
        <p:spPr bwMode="auto">
          <a:xfrm>
            <a:off x="6302375" y="3741738"/>
            <a:ext cx="23813" cy="276225"/>
          </a:xfrm>
          <a:prstGeom prst="line">
            <a:avLst/>
          </a:prstGeom>
          <a:noFill/>
          <a:ln w="9525">
            <a:solidFill>
              <a:schemeClr val="tx1"/>
            </a:solidFill>
            <a:round/>
            <a:headEnd/>
            <a:tailEnd/>
          </a:ln>
        </p:spPr>
        <p:txBody>
          <a:bodyPr wrap="none" anchor="ctr"/>
          <a:lstStyle/>
          <a:p>
            <a:endParaRPr lang="en-US"/>
          </a:p>
        </p:txBody>
      </p:sp>
      <p:sp>
        <p:nvSpPr>
          <p:cNvPr id="7199" name="Line 31"/>
          <p:cNvSpPr>
            <a:spLocks noChangeShapeType="1"/>
          </p:cNvSpPr>
          <p:nvPr/>
        </p:nvSpPr>
        <p:spPr bwMode="auto">
          <a:xfrm flipH="1">
            <a:off x="7826375" y="3741738"/>
            <a:ext cx="80963" cy="265112"/>
          </a:xfrm>
          <a:prstGeom prst="line">
            <a:avLst/>
          </a:prstGeom>
          <a:noFill/>
          <a:ln w="9525">
            <a:solidFill>
              <a:schemeClr val="tx1"/>
            </a:solidFill>
            <a:round/>
            <a:headEnd/>
            <a:tailEnd/>
          </a:ln>
        </p:spPr>
        <p:txBody>
          <a:bodyPr wrap="none" anchor="ctr"/>
          <a:lstStyle/>
          <a:p>
            <a:endParaRPr lang="en-US"/>
          </a:p>
        </p:txBody>
      </p:sp>
      <p:sp>
        <p:nvSpPr>
          <p:cNvPr id="7200" name="Line 32"/>
          <p:cNvSpPr>
            <a:spLocks noChangeShapeType="1"/>
          </p:cNvSpPr>
          <p:nvPr/>
        </p:nvSpPr>
        <p:spPr bwMode="auto">
          <a:xfrm flipH="1">
            <a:off x="1835150" y="4214813"/>
            <a:ext cx="5715000" cy="403225"/>
          </a:xfrm>
          <a:prstGeom prst="line">
            <a:avLst/>
          </a:prstGeom>
          <a:noFill/>
          <a:ln w="9525">
            <a:solidFill>
              <a:schemeClr val="tx1"/>
            </a:solidFill>
            <a:round/>
            <a:headEnd/>
            <a:tailEnd/>
          </a:ln>
        </p:spPr>
        <p:txBody>
          <a:bodyPr wrap="none" anchor="ctr"/>
          <a:lstStyle/>
          <a:p>
            <a:endParaRPr lang="en-US"/>
          </a:p>
        </p:txBody>
      </p:sp>
      <p:sp>
        <p:nvSpPr>
          <p:cNvPr id="7201" name="Line 33"/>
          <p:cNvSpPr>
            <a:spLocks noChangeShapeType="1"/>
          </p:cNvSpPr>
          <p:nvPr/>
        </p:nvSpPr>
        <p:spPr bwMode="auto">
          <a:xfrm flipH="1">
            <a:off x="3105150" y="4249738"/>
            <a:ext cx="4548188" cy="403225"/>
          </a:xfrm>
          <a:prstGeom prst="line">
            <a:avLst/>
          </a:prstGeom>
          <a:noFill/>
          <a:ln w="9525">
            <a:solidFill>
              <a:schemeClr val="tx1"/>
            </a:solidFill>
            <a:round/>
            <a:headEnd/>
            <a:tailEnd/>
          </a:ln>
        </p:spPr>
        <p:txBody>
          <a:bodyPr wrap="none" anchor="ctr"/>
          <a:lstStyle/>
          <a:p>
            <a:endParaRPr lang="en-US"/>
          </a:p>
        </p:txBody>
      </p:sp>
      <p:sp>
        <p:nvSpPr>
          <p:cNvPr id="7202" name="Line 34"/>
          <p:cNvSpPr>
            <a:spLocks noChangeShapeType="1"/>
          </p:cNvSpPr>
          <p:nvPr/>
        </p:nvSpPr>
        <p:spPr bwMode="auto">
          <a:xfrm flipH="1">
            <a:off x="4225925" y="4249738"/>
            <a:ext cx="3543300" cy="427037"/>
          </a:xfrm>
          <a:prstGeom prst="line">
            <a:avLst/>
          </a:prstGeom>
          <a:noFill/>
          <a:ln w="9525">
            <a:solidFill>
              <a:schemeClr val="tx1"/>
            </a:solidFill>
            <a:round/>
            <a:headEnd/>
            <a:tailEnd/>
          </a:ln>
        </p:spPr>
        <p:txBody>
          <a:bodyPr wrap="none" anchor="ctr"/>
          <a:lstStyle/>
          <a:p>
            <a:endParaRPr lang="en-US"/>
          </a:p>
        </p:txBody>
      </p:sp>
      <p:sp>
        <p:nvSpPr>
          <p:cNvPr id="7203" name="Line 35"/>
          <p:cNvSpPr>
            <a:spLocks noChangeShapeType="1"/>
          </p:cNvSpPr>
          <p:nvPr/>
        </p:nvSpPr>
        <p:spPr bwMode="auto">
          <a:xfrm flipH="1">
            <a:off x="5518150" y="4260850"/>
            <a:ext cx="2308225" cy="392113"/>
          </a:xfrm>
          <a:prstGeom prst="line">
            <a:avLst/>
          </a:prstGeom>
          <a:noFill/>
          <a:ln w="9525">
            <a:solidFill>
              <a:schemeClr val="tx1"/>
            </a:solidFill>
            <a:round/>
            <a:headEnd/>
            <a:tailEnd/>
          </a:ln>
        </p:spPr>
        <p:txBody>
          <a:bodyPr wrap="none" anchor="ctr"/>
          <a:lstStyle/>
          <a:p>
            <a:endParaRPr lang="en-US"/>
          </a:p>
        </p:txBody>
      </p:sp>
      <p:sp>
        <p:nvSpPr>
          <p:cNvPr id="7204" name="Line 36"/>
          <p:cNvSpPr>
            <a:spLocks noChangeShapeType="1"/>
          </p:cNvSpPr>
          <p:nvPr/>
        </p:nvSpPr>
        <p:spPr bwMode="auto">
          <a:xfrm flipH="1">
            <a:off x="6591300" y="4260850"/>
            <a:ext cx="1293813" cy="381000"/>
          </a:xfrm>
          <a:prstGeom prst="line">
            <a:avLst/>
          </a:prstGeom>
          <a:noFill/>
          <a:ln w="9525">
            <a:solidFill>
              <a:schemeClr val="tx1"/>
            </a:solidFill>
            <a:round/>
            <a:headEnd/>
            <a:tailEnd/>
          </a:ln>
        </p:spPr>
        <p:txBody>
          <a:bodyPr wrap="none" anchor="ctr"/>
          <a:lstStyle/>
          <a:p>
            <a:endParaRPr lang="en-US"/>
          </a:p>
        </p:txBody>
      </p:sp>
      <p:sp>
        <p:nvSpPr>
          <p:cNvPr id="7205" name="Line 37"/>
          <p:cNvSpPr>
            <a:spLocks noChangeShapeType="1"/>
          </p:cNvSpPr>
          <p:nvPr/>
        </p:nvSpPr>
        <p:spPr bwMode="auto">
          <a:xfrm>
            <a:off x="7953375" y="4260850"/>
            <a:ext cx="12700" cy="392113"/>
          </a:xfrm>
          <a:prstGeom prst="line">
            <a:avLst/>
          </a:prstGeom>
          <a:noFill/>
          <a:ln w="9525">
            <a:solidFill>
              <a:schemeClr val="tx1"/>
            </a:solidFill>
            <a:round/>
            <a:headEnd/>
            <a:tailEnd/>
          </a:ln>
        </p:spPr>
        <p:txBody>
          <a:bodyPr wrap="none" anchor="ctr"/>
          <a:lstStyle/>
          <a:p>
            <a:endParaRPr lang="en-US"/>
          </a:p>
        </p:txBody>
      </p:sp>
      <p:sp>
        <p:nvSpPr>
          <p:cNvPr id="7206" name="Line 38"/>
          <p:cNvSpPr>
            <a:spLocks noChangeShapeType="1"/>
          </p:cNvSpPr>
          <p:nvPr/>
        </p:nvSpPr>
        <p:spPr bwMode="auto">
          <a:xfrm flipH="1">
            <a:off x="2643188" y="4918075"/>
            <a:ext cx="139700" cy="288925"/>
          </a:xfrm>
          <a:prstGeom prst="line">
            <a:avLst/>
          </a:prstGeom>
          <a:noFill/>
          <a:ln w="9525">
            <a:solidFill>
              <a:schemeClr val="tx1"/>
            </a:solidFill>
            <a:round/>
            <a:headEnd/>
            <a:tailEnd/>
          </a:ln>
        </p:spPr>
        <p:txBody>
          <a:bodyPr wrap="none" anchor="ctr"/>
          <a:lstStyle/>
          <a:p>
            <a:endParaRPr lang="en-US"/>
          </a:p>
        </p:txBody>
      </p:sp>
      <p:sp>
        <p:nvSpPr>
          <p:cNvPr id="7207" name="Line 39"/>
          <p:cNvSpPr>
            <a:spLocks noChangeShapeType="1"/>
          </p:cNvSpPr>
          <p:nvPr/>
        </p:nvSpPr>
        <p:spPr bwMode="auto">
          <a:xfrm flipH="1">
            <a:off x="4699000" y="4906963"/>
            <a:ext cx="346075" cy="334962"/>
          </a:xfrm>
          <a:prstGeom prst="line">
            <a:avLst/>
          </a:prstGeom>
          <a:noFill/>
          <a:ln w="9525">
            <a:solidFill>
              <a:schemeClr val="tx1"/>
            </a:solidFill>
            <a:round/>
            <a:headEnd/>
            <a:tailEnd/>
          </a:ln>
        </p:spPr>
        <p:txBody>
          <a:bodyPr wrap="none" anchor="ctr"/>
          <a:lstStyle/>
          <a:p>
            <a:endParaRPr lang="en-US"/>
          </a:p>
        </p:txBody>
      </p:sp>
      <p:sp>
        <p:nvSpPr>
          <p:cNvPr id="7208" name="Line 40"/>
          <p:cNvSpPr>
            <a:spLocks noChangeShapeType="1"/>
          </p:cNvSpPr>
          <p:nvPr/>
        </p:nvSpPr>
        <p:spPr bwMode="auto">
          <a:xfrm flipH="1">
            <a:off x="6545263" y="4872038"/>
            <a:ext cx="1039812" cy="358775"/>
          </a:xfrm>
          <a:prstGeom prst="line">
            <a:avLst/>
          </a:prstGeom>
          <a:noFill/>
          <a:ln w="9525">
            <a:solidFill>
              <a:schemeClr val="tx1"/>
            </a:solidFill>
            <a:round/>
            <a:headEnd/>
            <a:tailEnd/>
          </a:ln>
        </p:spPr>
        <p:txBody>
          <a:bodyPr wrap="none" anchor="ctr"/>
          <a:lstStyle/>
          <a:p>
            <a:endParaRPr lang="en-US"/>
          </a:p>
        </p:txBody>
      </p:sp>
      <p:sp>
        <p:nvSpPr>
          <p:cNvPr id="7209" name="Line 41"/>
          <p:cNvSpPr>
            <a:spLocks noChangeShapeType="1"/>
          </p:cNvSpPr>
          <p:nvPr/>
        </p:nvSpPr>
        <p:spPr bwMode="auto">
          <a:xfrm flipH="1">
            <a:off x="7445375" y="4895850"/>
            <a:ext cx="277813" cy="323850"/>
          </a:xfrm>
          <a:prstGeom prst="line">
            <a:avLst/>
          </a:prstGeom>
          <a:noFill/>
          <a:ln w="9525">
            <a:solidFill>
              <a:schemeClr val="tx1"/>
            </a:solidFill>
            <a:round/>
            <a:headEnd/>
            <a:tailEnd/>
          </a:ln>
        </p:spPr>
        <p:txBody>
          <a:bodyPr wrap="none" anchor="ctr"/>
          <a:lstStyle/>
          <a:p>
            <a:endParaRPr lang="en-US"/>
          </a:p>
        </p:txBody>
      </p:sp>
      <p:sp>
        <p:nvSpPr>
          <p:cNvPr id="7210" name="Line 42"/>
          <p:cNvSpPr>
            <a:spLocks noChangeShapeType="1"/>
          </p:cNvSpPr>
          <p:nvPr/>
        </p:nvSpPr>
        <p:spPr bwMode="auto">
          <a:xfrm>
            <a:off x="7885113" y="4884738"/>
            <a:ext cx="357187" cy="346075"/>
          </a:xfrm>
          <a:prstGeom prst="line">
            <a:avLst/>
          </a:prstGeom>
          <a:noFill/>
          <a:ln w="9525">
            <a:solidFill>
              <a:schemeClr val="tx1"/>
            </a:solidFill>
            <a:round/>
            <a:headEnd/>
            <a:tailEnd/>
          </a:ln>
        </p:spPr>
        <p:txBody>
          <a:bodyPr wrap="none" anchor="ctr"/>
          <a:lstStyle/>
          <a:p>
            <a:endParaRPr lang="en-US"/>
          </a:p>
        </p:txBody>
      </p:sp>
      <p:sp>
        <p:nvSpPr>
          <p:cNvPr id="7211" name="Line 43"/>
          <p:cNvSpPr>
            <a:spLocks noChangeShapeType="1"/>
          </p:cNvSpPr>
          <p:nvPr/>
        </p:nvSpPr>
        <p:spPr bwMode="auto">
          <a:xfrm flipH="1">
            <a:off x="2447925" y="5495925"/>
            <a:ext cx="22225" cy="346075"/>
          </a:xfrm>
          <a:prstGeom prst="line">
            <a:avLst/>
          </a:prstGeom>
          <a:noFill/>
          <a:ln w="9525">
            <a:solidFill>
              <a:schemeClr val="tx1"/>
            </a:solidFill>
            <a:round/>
            <a:headEnd/>
            <a:tailEnd/>
          </a:ln>
        </p:spPr>
        <p:txBody>
          <a:bodyPr wrap="none" anchor="ctr"/>
          <a:lstStyle/>
          <a:p>
            <a:endParaRPr lang="en-US"/>
          </a:p>
        </p:txBody>
      </p:sp>
      <p:sp>
        <p:nvSpPr>
          <p:cNvPr id="7212" name="Line 44"/>
          <p:cNvSpPr>
            <a:spLocks noChangeShapeType="1"/>
          </p:cNvSpPr>
          <p:nvPr/>
        </p:nvSpPr>
        <p:spPr bwMode="auto">
          <a:xfrm flipH="1">
            <a:off x="4467225" y="5519738"/>
            <a:ext cx="34925" cy="300037"/>
          </a:xfrm>
          <a:prstGeom prst="line">
            <a:avLst/>
          </a:prstGeom>
          <a:noFill/>
          <a:ln w="9525">
            <a:solidFill>
              <a:schemeClr val="tx1"/>
            </a:solidFill>
            <a:round/>
            <a:headEnd/>
            <a:tailEnd/>
          </a:ln>
        </p:spPr>
        <p:txBody>
          <a:bodyPr wrap="none" anchor="ctr"/>
          <a:lstStyle/>
          <a:p>
            <a:endParaRPr lang="en-US"/>
          </a:p>
        </p:txBody>
      </p:sp>
      <p:sp>
        <p:nvSpPr>
          <p:cNvPr id="7213" name="Line 45"/>
          <p:cNvSpPr>
            <a:spLocks noChangeShapeType="1"/>
          </p:cNvSpPr>
          <p:nvPr/>
        </p:nvSpPr>
        <p:spPr bwMode="auto">
          <a:xfrm>
            <a:off x="6383338" y="5461000"/>
            <a:ext cx="0" cy="334963"/>
          </a:xfrm>
          <a:prstGeom prst="line">
            <a:avLst/>
          </a:prstGeom>
          <a:noFill/>
          <a:ln w="9525">
            <a:solidFill>
              <a:schemeClr val="tx1"/>
            </a:solidFill>
            <a:round/>
            <a:headEnd/>
            <a:tailEnd/>
          </a:ln>
        </p:spPr>
        <p:txBody>
          <a:bodyPr wrap="none" anchor="ctr"/>
          <a:lstStyle/>
          <a:p>
            <a:endParaRPr lang="en-US"/>
          </a:p>
        </p:txBody>
      </p:sp>
      <p:sp>
        <p:nvSpPr>
          <p:cNvPr id="7214" name="Line 46"/>
          <p:cNvSpPr>
            <a:spLocks noChangeShapeType="1"/>
          </p:cNvSpPr>
          <p:nvPr/>
        </p:nvSpPr>
        <p:spPr bwMode="auto">
          <a:xfrm>
            <a:off x="8231188" y="5495925"/>
            <a:ext cx="0" cy="300038"/>
          </a:xfrm>
          <a:prstGeom prst="line">
            <a:avLst/>
          </a:prstGeom>
          <a:noFill/>
          <a:ln w="9525">
            <a:solidFill>
              <a:schemeClr val="tx1"/>
            </a:solidFill>
            <a:round/>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65125" y="206375"/>
            <a:ext cx="8372475" cy="889000"/>
          </a:xfrm>
          <a:prstGeom prst="rect">
            <a:avLst/>
          </a:prstGeom>
          <a:noFill/>
          <a:ln w="9525">
            <a:noFill/>
            <a:miter lim="800000"/>
            <a:headEnd/>
            <a:tailEnd/>
          </a:ln>
        </p:spPr>
        <p:txBody>
          <a:bodyPr anchor="ctr"/>
          <a:lstStyle/>
          <a:p>
            <a:r>
              <a:rPr lang="en-US" sz="3200">
                <a:solidFill>
                  <a:schemeClr val="tx2"/>
                </a:solidFill>
              </a:rPr>
              <a:t>Generating Relational Algebra</a:t>
            </a:r>
            <a:endParaRPr lang="en-US" sz="3600" u="sng">
              <a:solidFill>
                <a:schemeClr val="tx2"/>
              </a:solidFill>
            </a:endParaRPr>
          </a:p>
        </p:txBody>
      </p:sp>
      <p:grpSp>
        <p:nvGrpSpPr>
          <p:cNvPr id="2" name="Group 3"/>
          <p:cNvGrpSpPr>
            <a:grpSpLocks/>
          </p:cNvGrpSpPr>
          <p:nvPr/>
        </p:nvGrpSpPr>
        <p:grpSpPr bwMode="auto">
          <a:xfrm>
            <a:off x="1998663" y="1001713"/>
            <a:ext cx="6305550" cy="4514850"/>
            <a:chOff x="1259" y="631"/>
            <a:chExt cx="3972" cy="2844"/>
          </a:xfrm>
        </p:grpSpPr>
        <p:sp>
          <p:nvSpPr>
            <p:cNvPr id="8196" name="Text Box 4"/>
            <p:cNvSpPr txBox="1">
              <a:spLocks noChangeArrowheads="1"/>
            </p:cNvSpPr>
            <p:nvPr/>
          </p:nvSpPr>
          <p:spPr bwMode="auto">
            <a:xfrm>
              <a:off x="2299" y="631"/>
              <a:ext cx="679" cy="442"/>
            </a:xfrm>
            <a:prstGeom prst="rect">
              <a:avLst/>
            </a:prstGeom>
            <a:noFill/>
            <a:ln w="9525">
              <a:noFill/>
              <a:miter lim="800000"/>
              <a:headEnd/>
              <a:tailEnd/>
            </a:ln>
          </p:spPr>
          <p:txBody>
            <a:bodyPr wrap="none" anchor="ctr">
              <a:spAutoFit/>
            </a:bodyPr>
            <a:lstStyle/>
            <a:p>
              <a:pPr algn="ctr"/>
              <a:r>
                <a:rPr lang="en-US" sz="4000">
                  <a:latin typeface="Tahoma" pitchFamily="34" charset="0"/>
                  <a:sym typeface="Symbol" pitchFamily="18" charset="2"/>
                </a:rPr>
                <a:t></a:t>
              </a:r>
              <a:r>
                <a:rPr lang="en-US" sz="2400">
                  <a:latin typeface="Tahoma" pitchFamily="34" charset="0"/>
                </a:rPr>
                <a:t>title</a:t>
              </a:r>
            </a:p>
          </p:txBody>
        </p:sp>
        <p:sp>
          <p:nvSpPr>
            <p:cNvPr id="8197" name="Text Box 5"/>
            <p:cNvSpPr txBox="1">
              <a:spLocks noChangeArrowheads="1"/>
            </p:cNvSpPr>
            <p:nvPr/>
          </p:nvSpPr>
          <p:spPr bwMode="auto">
            <a:xfrm>
              <a:off x="2456" y="1154"/>
              <a:ext cx="309" cy="442"/>
            </a:xfrm>
            <a:prstGeom prst="rect">
              <a:avLst/>
            </a:prstGeom>
            <a:noFill/>
            <a:ln w="9525">
              <a:noFill/>
              <a:miter lim="800000"/>
              <a:headEnd/>
              <a:tailEnd/>
            </a:ln>
          </p:spPr>
          <p:txBody>
            <a:bodyPr wrap="none" anchor="ctr">
              <a:spAutoFit/>
            </a:bodyPr>
            <a:lstStyle/>
            <a:p>
              <a:pPr algn="ctr"/>
              <a:r>
                <a:rPr lang="en-US" sz="4000">
                  <a:latin typeface="Tahoma" pitchFamily="34" charset="0"/>
                  <a:sym typeface="Symbol" pitchFamily="18" charset="2"/>
                </a:rPr>
                <a:t></a:t>
              </a:r>
            </a:p>
          </p:txBody>
        </p:sp>
        <p:sp>
          <p:nvSpPr>
            <p:cNvPr id="8198" name="Text Box 6"/>
            <p:cNvSpPr txBox="1">
              <a:spLocks noChangeArrowheads="1"/>
            </p:cNvSpPr>
            <p:nvPr/>
          </p:nvSpPr>
          <p:spPr bwMode="auto">
            <a:xfrm>
              <a:off x="1259" y="1683"/>
              <a:ext cx="2971" cy="288"/>
            </a:xfrm>
            <a:prstGeom prst="rect">
              <a:avLst/>
            </a:prstGeom>
            <a:noFill/>
            <a:ln w="9525">
              <a:noFill/>
              <a:miter lim="800000"/>
              <a:headEnd/>
              <a:tailEnd/>
            </a:ln>
          </p:spPr>
          <p:txBody>
            <a:bodyPr wrap="none" anchor="ctr">
              <a:spAutoFit/>
            </a:bodyPr>
            <a:lstStyle/>
            <a:p>
              <a:pPr algn="ctr"/>
              <a:r>
                <a:rPr lang="en-US" sz="2400">
                  <a:latin typeface="Tahoma" pitchFamily="34" charset="0"/>
                </a:rPr>
                <a:t>StarsIn                    &lt;condition&gt;</a:t>
              </a:r>
            </a:p>
          </p:txBody>
        </p:sp>
        <p:sp>
          <p:nvSpPr>
            <p:cNvPr id="8199" name="Text Box 7"/>
            <p:cNvSpPr txBox="1">
              <a:spLocks noChangeArrowheads="1"/>
            </p:cNvSpPr>
            <p:nvPr/>
          </p:nvSpPr>
          <p:spPr bwMode="auto">
            <a:xfrm>
              <a:off x="2131" y="2005"/>
              <a:ext cx="2274" cy="442"/>
            </a:xfrm>
            <a:prstGeom prst="rect">
              <a:avLst/>
            </a:prstGeom>
            <a:noFill/>
            <a:ln w="9525">
              <a:noFill/>
              <a:miter lim="800000"/>
              <a:headEnd/>
              <a:tailEnd/>
            </a:ln>
          </p:spPr>
          <p:txBody>
            <a:bodyPr wrap="none" anchor="ctr">
              <a:spAutoFit/>
            </a:bodyPr>
            <a:lstStyle/>
            <a:p>
              <a:pPr algn="ctr"/>
              <a:r>
                <a:rPr lang="en-US" sz="2400">
                  <a:latin typeface="Tahoma" pitchFamily="34" charset="0"/>
                </a:rPr>
                <a:t>&lt;tuple&gt;      IN   </a:t>
              </a:r>
              <a:r>
                <a:rPr lang="en-US" sz="4000">
                  <a:latin typeface="Tahoma" pitchFamily="34" charset="0"/>
                  <a:sym typeface="Symbol" pitchFamily="18" charset="2"/>
                </a:rPr>
                <a:t></a:t>
              </a:r>
              <a:r>
                <a:rPr lang="en-US" sz="2400">
                  <a:latin typeface="Tahoma" pitchFamily="34" charset="0"/>
                </a:rPr>
                <a:t>name</a:t>
              </a:r>
            </a:p>
          </p:txBody>
        </p:sp>
        <p:sp>
          <p:nvSpPr>
            <p:cNvPr id="8200" name="Text Box 8"/>
            <p:cNvSpPr txBox="1">
              <a:spLocks noChangeArrowheads="1"/>
            </p:cNvSpPr>
            <p:nvPr/>
          </p:nvSpPr>
          <p:spPr bwMode="auto">
            <a:xfrm>
              <a:off x="1729" y="2514"/>
              <a:ext cx="3141" cy="442"/>
            </a:xfrm>
            <a:prstGeom prst="rect">
              <a:avLst/>
            </a:prstGeom>
            <a:noFill/>
            <a:ln w="9525">
              <a:noFill/>
              <a:miter lim="800000"/>
              <a:headEnd/>
              <a:tailEnd/>
            </a:ln>
          </p:spPr>
          <p:txBody>
            <a:bodyPr wrap="none" anchor="ctr">
              <a:spAutoFit/>
            </a:bodyPr>
            <a:lstStyle/>
            <a:p>
              <a:pPr algn="ctr"/>
              <a:r>
                <a:rPr lang="en-US" sz="2400">
                  <a:latin typeface="Tahoma" pitchFamily="34" charset="0"/>
                </a:rPr>
                <a:t>&lt;attribute&gt;      </a:t>
              </a:r>
              <a:r>
                <a:rPr lang="en-US" sz="4000">
                  <a:latin typeface="Tahoma" pitchFamily="34" charset="0"/>
                  <a:sym typeface="Symbol" pitchFamily="18" charset="2"/>
                </a:rPr>
                <a:t></a:t>
              </a:r>
              <a:r>
                <a:rPr lang="en-US">
                  <a:latin typeface="Tahoma" pitchFamily="34" charset="0"/>
                </a:rPr>
                <a:t>birthdate LIKE ‘%1960’</a:t>
              </a:r>
            </a:p>
          </p:txBody>
        </p:sp>
        <p:sp>
          <p:nvSpPr>
            <p:cNvPr id="8201" name="Text Box 9"/>
            <p:cNvSpPr txBox="1">
              <a:spLocks noChangeArrowheads="1"/>
            </p:cNvSpPr>
            <p:nvPr/>
          </p:nvSpPr>
          <p:spPr bwMode="auto">
            <a:xfrm>
              <a:off x="1954" y="3187"/>
              <a:ext cx="2541" cy="288"/>
            </a:xfrm>
            <a:prstGeom prst="rect">
              <a:avLst/>
            </a:prstGeom>
            <a:noFill/>
            <a:ln w="9525">
              <a:noFill/>
              <a:miter lim="800000"/>
              <a:headEnd/>
              <a:tailEnd/>
            </a:ln>
          </p:spPr>
          <p:txBody>
            <a:bodyPr wrap="none" anchor="ctr">
              <a:spAutoFit/>
            </a:bodyPr>
            <a:lstStyle/>
            <a:p>
              <a:pPr algn="ctr"/>
              <a:r>
                <a:rPr lang="en-US" sz="2400">
                  <a:latin typeface="Tahoma" pitchFamily="34" charset="0"/>
                </a:rPr>
                <a:t>starName             MovieStar</a:t>
              </a:r>
            </a:p>
          </p:txBody>
        </p:sp>
        <p:sp>
          <p:nvSpPr>
            <p:cNvPr id="8202" name="Line 10"/>
            <p:cNvSpPr>
              <a:spLocks noChangeShapeType="1"/>
            </p:cNvSpPr>
            <p:nvPr/>
          </p:nvSpPr>
          <p:spPr bwMode="auto">
            <a:xfrm>
              <a:off x="2610" y="1019"/>
              <a:ext cx="0" cy="276"/>
            </a:xfrm>
            <a:prstGeom prst="line">
              <a:avLst/>
            </a:prstGeom>
            <a:noFill/>
            <a:ln w="9525">
              <a:solidFill>
                <a:schemeClr val="tx1"/>
              </a:solidFill>
              <a:round/>
              <a:headEnd/>
              <a:tailEnd/>
            </a:ln>
          </p:spPr>
          <p:txBody>
            <a:bodyPr wrap="none" anchor="ctr"/>
            <a:lstStyle/>
            <a:p>
              <a:endParaRPr lang="en-US"/>
            </a:p>
          </p:txBody>
        </p:sp>
        <p:sp>
          <p:nvSpPr>
            <p:cNvPr id="8203" name="Line 11"/>
            <p:cNvSpPr>
              <a:spLocks noChangeShapeType="1"/>
            </p:cNvSpPr>
            <p:nvPr/>
          </p:nvSpPr>
          <p:spPr bwMode="auto">
            <a:xfrm flipH="1">
              <a:off x="1846" y="1455"/>
              <a:ext cx="626" cy="269"/>
            </a:xfrm>
            <a:prstGeom prst="line">
              <a:avLst/>
            </a:prstGeom>
            <a:noFill/>
            <a:ln w="9525">
              <a:solidFill>
                <a:schemeClr val="tx1"/>
              </a:solidFill>
              <a:round/>
              <a:headEnd/>
              <a:tailEnd/>
            </a:ln>
          </p:spPr>
          <p:txBody>
            <a:bodyPr wrap="none" anchor="ctr"/>
            <a:lstStyle/>
            <a:p>
              <a:endParaRPr lang="en-US"/>
            </a:p>
          </p:txBody>
        </p:sp>
        <p:sp>
          <p:nvSpPr>
            <p:cNvPr id="8204" name="Line 12"/>
            <p:cNvSpPr>
              <a:spLocks noChangeShapeType="1"/>
            </p:cNvSpPr>
            <p:nvPr/>
          </p:nvSpPr>
          <p:spPr bwMode="auto">
            <a:xfrm>
              <a:off x="2704" y="1470"/>
              <a:ext cx="524" cy="254"/>
            </a:xfrm>
            <a:prstGeom prst="line">
              <a:avLst/>
            </a:prstGeom>
            <a:noFill/>
            <a:ln w="9525">
              <a:solidFill>
                <a:schemeClr val="tx1"/>
              </a:solidFill>
              <a:round/>
              <a:headEnd/>
              <a:tailEnd/>
            </a:ln>
          </p:spPr>
          <p:txBody>
            <a:bodyPr wrap="none" anchor="ctr"/>
            <a:lstStyle/>
            <a:p>
              <a:endParaRPr lang="en-US"/>
            </a:p>
          </p:txBody>
        </p:sp>
        <p:sp>
          <p:nvSpPr>
            <p:cNvPr id="8205" name="Line 13"/>
            <p:cNvSpPr>
              <a:spLocks noChangeShapeType="1"/>
            </p:cNvSpPr>
            <p:nvPr/>
          </p:nvSpPr>
          <p:spPr bwMode="auto">
            <a:xfrm flipH="1">
              <a:off x="2784" y="1928"/>
              <a:ext cx="517" cy="269"/>
            </a:xfrm>
            <a:prstGeom prst="line">
              <a:avLst/>
            </a:prstGeom>
            <a:noFill/>
            <a:ln w="9525">
              <a:solidFill>
                <a:schemeClr val="tx1"/>
              </a:solidFill>
              <a:round/>
              <a:headEnd/>
              <a:tailEnd/>
            </a:ln>
          </p:spPr>
          <p:txBody>
            <a:bodyPr wrap="none" anchor="ctr"/>
            <a:lstStyle/>
            <a:p>
              <a:endParaRPr lang="en-US"/>
            </a:p>
          </p:txBody>
        </p:sp>
        <p:sp>
          <p:nvSpPr>
            <p:cNvPr id="8206" name="Line 14"/>
            <p:cNvSpPr>
              <a:spLocks noChangeShapeType="1"/>
            </p:cNvSpPr>
            <p:nvPr/>
          </p:nvSpPr>
          <p:spPr bwMode="auto">
            <a:xfrm flipH="1">
              <a:off x="3381" y="1928"/>
              <a:ext cx="58" cy="240"/>
            </a:xfrm>
            <a:prstGeom prst="line">
              <a:avLst/>
            </a:prstGeom>
            <a:noFill/>
            <a:ln w="9525">
              <a:solidFill>
                <a:schemeClr val="tx1"/>
              </a:solidFill>
              <a:round/>
              <a:headEnd/>
              <a:tailEnd/>
            </a:ln>
          </p:spPr>
          <p:txBody>
            <a:bodyPr wrap="none" anchor="ctr"/>
            <a:lstStyle/>
            <a:p>
              <a:endParaRPr lang="en-US"/>
            </a:p>
          </p:txBody>
        </p:sp>
        <p:sp>
          <p:nvSpPr>
            <p:cNvPr id="8207" name="Line 15"/>
            <p:cNvSpPr>
              <a:spLocks noChangeShapeType="1"/>
            </p:cNvSpPr>
            <p:nvPr/>
          </p:nvSpPr>
          <p:spPr bwMode="auto">
            <a:xfrm>
              <a:off x="3650" y="1928"/>
              <a:ext cx="152" cy="153"/>
            </a:xfrm>
            <a:prstGeom prst="line">
              <a:avLst/>
            </a:prstGeom>
            <a:noFill/>
            <a:ln w="9525">
              <a:solidFill>
                <a:schemeClr val="tx1"/>
              </a:solidFill>
              <a:round/>
              <a:headEnd/>
              <a:tailEnd/>
            </a:ln>
          </p:spPr>
          <p:txBody>
            <a:bodyPr wrap="none" anchor="ctr"/>
            <a:lstStyle/>
            <a:p>
              <a:endParaRPr lang="en-US"/>
            </a:p>
          </p:txBody>
        </p:sp>
        <p:sp>
          <p:nvSpPr>
            <p:cNvPr id="8208" name="Line 16"/>
            <p:cNvSpPr>
              <a:spLocks noChangeShapeType="1"/>
            </p:cNvSpPr>
            <p:nvPr/>
          </p:nvSpPr>
          <p:spPr bwMode="auto">
            <a:xfrm flipH="1">
              <a:off x="2370" y="2430"/>
              <a:ext cx="94" cy="269"/>
            </a:xfrm>
            <a:prstGeom prst="line">
              <a:avLst/>
            </a:prstGeom>
            <a:noFill/>
            <a:ln w="9525">
              <a:solidFill>
                <a:schemeClr val="tx1"/>
              </a:solidFill>
              <a:round/>
              <a:headEnd/>
              <a:tailEnd/>
            </a:ln>
          </p:spPr>
          <p:txBody>
            <a:bodyPr wrap="none" anchor="ctr"/>
            <a:lstStyle/>
            <a:p>
              <a:endParaRPr lang="en-US"/>
            </a:p>
          </p:txBody>
        </p:sp>
        <p:sp>
          <p:nvSpPr>
            <p:cNvPr id="8209" name="Line 17"/>
            <p:cNvSpPr>
              <a:spLocks noChangeShapeType="1"/>
            </p:cNvSpPr>
            <p:nvPr/>
          </p:nvSpPr>
          <p:spPr bwMode="auto">
            <a:xfrm>
              <a:off x="2341" y="2910"/>
              <a:ext cx="0" cy="305"/>
            </a:xfrm>
            <a:prstGeom prst="line">
              <a:avLst/>
            </a:prstGeom>
            <a:noFill/>
            <a:ln w="9525">
              <a:solidFill>
                <a:schemeClr val="tx1"/>
              </a:solidFill>
              <a:round/>
              <a:headEnd/>
              <a:tailEnd/>
            </a:ln>
          </p:spPr>
          <p:txBody>
            <a:bodyPr wrap="none" anchor="ctr"/>
            <a:lstStyle/>
            <a:p>
              <a:endParaRPr lang="en-US"/>
            </a:p>
          </p:txBody>
        </p:sp>
        <p:sp>
          <p:nvSpPr>
            <p:cNvPr id="8210" name="Line 18"/>
            <p:cNvSpPr>
              <a:spLocks noChangeShapeType="1"/>
            </p:cNvSpPr>
            <p:nvPr/>
          </p:nvSpPr>
          <p:spPr bwMode="auto">
            <a:xfrm>
              <a:off x="3890" y="2408"/>
              <a:ext cx="0" cy="291"/>
            </a:xfrm>
            <a:prstGeom prst="line">
              <a:avLst/>
            </a:prstGeom>
            <a:noFill/>
            <a:ln w="9525">
              <a:solidFill>
                <a:schemeClr val="tx1"/>
              </a:solidFill>
              <a:round/>
              <a:headEnd/>
              <a:tailEnd/>
            </a:ln>
          </p:spPr>
          <p:txBody>
            <a:bodyPr wrap="none" anchor="ctr"/>
            <a:lstStyle/>
            <a:p>
              <a:endParaRPr lang="en-US"/>
            </a:p>
          </p:txBody>
        </p:sp>
        <p:sp>
          <p:nvSpPr>
            <p:cNvPr id="8211" name="Line 19"/>
            <p:cNvSpPr>
              <a:spLocks noChangeShapeType="1"/>
            </p:cNvSpPr>
            <p:nvPr/>
          </p:nvSpPr>
          <p:spPr bwMode="auto">
            <a:xfrm>
              <a:off x="3882" y="2903"/>
              <a:ext cx="0" cy="334"/>
            </a:xfrm>
            <a:prstGeom prst="line">
              <a:avLst/>
            </a:prstGeom>
            <a:noFill/>
            <a:ln w="9525">
              <a:solidFill>
                <a:schemeClr val="tx1"/>
              </a:solidFill>
              <a:round/>
              <a:headEnd/>
              <a:tailEnd/>
            </a:ln>
          </p:spPr>
          <p:txBody>
            <a:bodyPr wrap="none" anchor="ctr"/>
            <a:lstStyle/>
            <a:p>
              <a:endParaRPr lang="en-US"/>
            </a:p>
          </p:txBody>
        </p:sp>
        <p:sp>
          <p:nvSpPr>
            <p:cNvPr id="8212" name="Text Box 20"/>
            <p:cNvSpPr txBox="1">
              <a:spLocks noChangeArrowheads="1"/>
            </p:cNvSpPr>
            <p:nvPr/>
          </p:nvSpPr>
          <p:spPr bwMode="auto">
            <a:xfrm>
              <a:off x="3408" y="1008"/>
              <a:ext cx="1823" cy="250"/>
            </a:xfrm>
            <a:prstGeom prst="rect">
              <a:avLst/>
            </a:prstGeom>
            <a:noFill/>
            <a:ln w="9525">
              <a:noFill/>
              <a:miter lim="800000"/>
              <a:headEnd/>
              <a:tailEnd/>
            </a:ln>
          </p:spPr>
          <p:txBody>
            <a:bodyPr wrap="none">
              <a:spAutoFit/>
            </a:bodyPr>
            <a:lstStyle/>
            <a:p>
              <a:pPr eaLnBrk="0" hangingPunct="0"/>
              <a:r>
                <a:rPr lang="en-US" sz="2000">
                  <a:solidFill>
                    <a:srgbClr val="CC3300"/>
                  </a:solidFill>
                </a:rPr>
                <a:t>Two-argument selection</a:t>
              </a:r>
            </a:p>
          </p:txBody>
        </p:sp>
        <p:sp>
          <p:nvSpPr>
            <p:cNvPr id="8213" name="Line 21"/>
            <p:cNvSpPr>
              <a:spLocks noChangeShapeType="1"/>
            </p:cNvSpPr>
            <p:nvPr/>
          </p:nvSpPr>
          <p:spPr bwMode="auto">
            <a:xfrm flipH="1">
              <a:off x="2784" y="1152"/>
              <a:ext cx="576" cy="192"/>
            </a:xfrm>
            <a:prstGeom prst="line">
              <a:avLst/>
            </a:prstGeom>
            <a:noFill/>
            <a:ln w="44450">
              <a:solidFill>
                <a:schemeClr val="tx1"/>
              </a:solidFill>
              <a:round/>
              <a:headEnd/>
              <a:tailEnd type="triangle" w="med" len="med"/>
            </a:ln>
          </p:spPr>
          <p:txBody>
            <a:bodyPr/>
            <a:lstStyle/>
            <a:p>
              <a:endParaRPr lang="en-US"/>
            </a:p>
          </p:txBody>
        </p:sp>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65125" y="206375"/>
            <a:ext cx="8372475" cy="889000"/>
          </a:xfrm>
          <a:prstGeom prst="rect">
            <a:avLst/>
          </a:prstGeom>
          <a:noFill/>
          <a:ln w="9525">
            <a:noFill/>
            <a:miter lim="800000"/>
            <a:headEnd/>
            <a:tailEnd/>
          </a:ln>
        </p:spPr>
        <p:txBody>
          <a:bodyPr anchor="ctr"/>
          <a:lstStyle/>
          <a:p>
            <a:r>
              <a:rPr lang="en-US" sz="3600" u="sng">
                <a:solidFill>
                  <a:schemeClr val="tx2"/>
                </a:solidFill>
              </a:rPr>
              <a:t>Applying the Rewrite Rule</a:t>
            </a:r>
          </a:p>
        </p:txBody>
      </p:sp>
      <p:sp>
        <p:nvSpPr>
          <p:cNvPr id="9219" name="Text Box 3"/>
          <p:cNvSpPr txBox="1">
            <a:spLocks noChangeArrowheads="1"/>
          </p:cNvSpPr>
          <p:nvPr/>
        </p:nvSpPr>
        <p:spPr bwMode="auto">
          <a:xfrm>
            <a:off x="1754188" y="1219200"/>
            <a:ext cx="996950" cy="701675"/>
          </a:xfrm>
          <a:prstGeom prst="rect">
            <a:avLst/>
          </a:prstGeom>
          <a:noFill/>
          <a:ln w="9525">
            <a:noFill/>
            <a:miter lim="800000"/>
            <a:headEnd/>
            <a:tailEnd/>
          </a:ln>
        </p:spPr>
        <p:txBody>
          <a:bodyPr wrap="none" anchor="ctr">
            <a:spAutoFit/>
          </a:bodyPr>
          <a:lstStyle/>
          <a:p>
            <a:pPr algn="ctr"/>
            <a:r>
              <a:rPr lang="en-US" sz="4000">
                <a:latin typeface="Tahoma" pitchFamily="34" charset="0"/>
                <a:sym typeface="Symbol" pitchFamily="18" charset="2"/>
              </a:rPr>
              <a:t></a:t>
            </a:r>
            <a:r>
              <a:rPr lang="en-US" sz="2000">
                <a:latin typeface="Tahoma" pitchFamily="34" charset="0"/>
              </a:rPr>
              <a:t>title</a:t>
            </a:r>
          </a:p>
        </p:txBody>
      </p:sp>
      <p:sp>
        <p:nvSpPr>
          <p:cNvPr id="9220" name="Text Box 4"/>
          <p:cNvSpPr txBox="1">
            <a:spLocks noChangeArrowheads="1"/>
          </p:cNvSpPr>
          <p:nvPr/>
        </p:nvSpPr>
        <p:spPr bwMode="auto">
          <a:xfrm>
            <a:off x="1987550" y="2016125"/>
            <a:ext cx="490538" cy="703263"/>
          </a:xfrm>
          <a:prstGeom prst="rect">
            <a:avLst/>
          </a:prstGeom>
          <a:noFill/>
          <a:ln w="9525">
            <a:noFill/>
            <a:miter lim="800000"/>
            <a:headEnd/>
            <a:tailEnd/>
          </a:ln>
        </p:spPr>
        <p:txBody>
          <a:bodyPr wrap="none" anchor="ctr">
            <a:spAutoFit/>
          </a:bodyPr>
          <a:lstStyle/>
          <a:p>
            <a:pPr algn="ctr"/>
            <a:r>
              <a:rPr lang="en-US" sz="4000">
                <a:latin typeface="Tahoma" pitchFamily="34" charset="0"/>
                <a:sym typeface="Symbol" pitchFamily="18" charset="2"/>
              </a:rPr>
              <a:t></a:t>
            </a:r>
          </a:p>
        </p:txBody>
      </p:sp>
      <p:sp>
        <p:nvSpPr>
          <p:cNvPr id="9221" name="Text Box 5"/>
          <p:cNvSpPr txBox="1">
            <a:spLocks noChangeArrowheads="1"/>
          </p:cNvSpPr>
          <p:nvPr/>
        </p:nvSpPr>
        <p:spPr bwMode="auto">
          <a:xfrm>
            <a:off x="333375" y="2830513"/>
            <a:ext cx="3987800" cy="457200"/>
          </a:xfrm>
          <a:prstGeom prst="rect">
            <a:avLst/>
          </a:prstGeom>
          <a:noFill/>
          <a:ln w="9525">
            <a:noFill/>
            <a:miter lim="800000"/>
            <a:headEnd/>
            <a:tailEnd/>
          </a:ln>
        </p:spPr>
        <p:txBody>
          <a:bodyPr anchor="ctr">
            <a:spAutoFit/>
          </a:bodyPr>
          <a:lstStyle/>
          <a:p>
            <a:pPr algn="ctr"/>
            <a:r>
              <a:rPr lang="en-US" sz="2000">
                <a:latin typeface="Tahoma" pitchFamily="34" charset="0"/>
              </a:rPr>
              <a:t>StarsIn    &lt;condition</a:t>
            </a:r>
            <a:r>
              <a:rPr lang="en-US" sz="2400">
                <a:latin typeface="Tahoma" pitchFamily="34" charset="0"/>
              </a:rPr>
              <a:t>&gt;</a:t>
            </a:r>
          </a:p>
        </p:txBody>
      </p:sp>
      <p:sp>
        <p:nvSpPr>
          <p:cNvPr id="9222" name="Text Box 6"/>
          <p:cNvSpPr txBox="1">
            <a:spLocks noChangeArrowheads="1"/>
          </p:cNvSpPr>
          <p:nvPr/>
        </p:nvSpPr>
        <p:spPr bwMode="auto">
          <a:xfrm>
            <a:off x="1208088" y="3409950"/>
            <a:ext cx="2984500" cy="519113"/>
          </a:xfrm>
          <a:prstGeom prst="rect">
            <a:avLst/>
          </a:prstGeom>
          <a:noFill/>
          <a:ln w="9525">
            <a:noFill/>
            <a:miter lim="800000"/>
            <a:headEnd/>
            <a:tailEnd/>
          </a:ln>
        </p:spPr>
        <p:txBody>
          <a:bodyPr wrap="none" anchor="ctr">
            <a:spAutoFit/>
          </a:bodyPr>
          <a:lstStyle/>
          <a:p>
            <a:pPr algn="ctr"/>
            <a:r>
              <a:rPr lang="en-US" sz="2000">
                <a:latin typeface="Tahoma" pitchFamily="34" charset="0"/>
              </a:rPr>
              <a:t>&lt;tuple&gt;      IN   </a:t>
            </a:r>
            <a:r>
              <a:rPr lang="en-US" sz="2800">
                <a:latin typeface="Tahoma" pitchFamily="34" charset="0"/>
                <a:sym typeface="Symbol" pitchFamily="18" charset="2"/>
              </a:rPr>
              <a:t></a:t>
            </a:r>
            <a:r>
              <a:rPr lang="en-US" sz="2000">
                <a:latin typeface="Tahoma" pitchFamily="34" charset="0"/>
              </a:rPr>
              <a:t>name</a:t>
            </a:r>
          </a:p>
        </p:txBody>
      </p:sp>
      <p:sp>
        <p:nvSpPr>
          <p:cNvPr id="9223" name="Text Box 7"/>
          <p:cNvSpPr txBox="1">
            <a:spLocks noChangeArrowheads="1"/>
          </p:cNvSpPr>
          <p:nvPr/>
        </p:nvSpPr>
        <p:spPr bwMode="auto">
          <a:xfrm>
            <a:off x="808038" y="4206875"/>
            <a:ext cx="4662487" cy="519113"/>
          </a:xfrm>
          <a:prstGeom prst="rect">
            <a:avLst/>
          </a:prstGeom>
          <a:noFill/>
          <a:ln w="9525">
            <a:noFill/>
            <a:miter lim="800000"/>
            <a:headEnd/>
            <a:tailEnd/>
          </a:ln>
        </p:spPr>
        <p:txBody>
          <a:bodyPr wrap="none" anchor="ctr">
            <a:spAutoFit/>
          </a:bodyPr>
          <a:lstStyle/>
          <a:p>
            <a:pPr algn="ctr"/>
            <a:r>
              <a:rPr lang="en-US" sz="2000">
                <a:latin typeface="Tahoma" pitchFamily="34" charset="0"/>
              </a:rPr>
              <a:t>&lt;attribute&gt;      </a:t>
            </a:r>
            <a:r>
              <a:rPr lang="en-US" sz="2800" b="1">
                <a:latin typeface="Tahoma" pitchFamily="34" charset="0"/>
                <a:sym typeface="Symbol" pitchFamily="18" charset="2"/>
              </a:rPr>
              <a:t></a:t>
            </a:r>
            <a:r>
              <a:rPr lang="en-US" sz="2800" baseline="-25000">
                <a:latin typeface="Tahoma" pitchFamily="34" charset="0"/>
                <a:sym typeface="Symbol" pitchFamily="18" charset="2"/>
              </a:rPr>
              <a:t>birthdate LIKE ‘%1960’</a:t>
            </a:r>
            <a:endParaRPr lang="en-US" sz="2800" baseline="-25000">
              <a:latin typeface="Tahoma" pitchFamily="34" charset="0"/>
            </a:endParaRPr>
          </a:p>
        </p:txBody>
      </p:sp>
      <p:sp>
        <p:nvSpPr>
          <p:cNvPr id="9224" name="Text Box 8"/>
          <p:cNvSpPr txBox="1">
            <a:spLocks noChangeArrowheads="1"/>
          </p:cNvSpPr>
          <p:nvPr/>
        </p:nvSpPr>
        <p:spPr bwMode="auto">
          <a:xfrm>
            <a:off x="1209675" y="5157788"/>
            <a:ext cx="2917825" cy="396875"/>
          </a:xfrm>
          <a:prstGeom prst="rect">
            <a:avLst/>
          </a:prstGeom>
          <a:noFill/>
          <a:ln w="9525">
            <a:noFill/>
            <a:miter lim="800000"/>
            <a:headEnd/>
            <a:tailEnd/>
          </a:ln>
        </p:spPr>
        <p:txBody>
          <a:bodyPr wrap="none" anchor="ctr">
            <a:spAutoFit/>
          </a:bodyPr>
          <a:lstStyle/>
          <a:p>
            <a:pPr algn="ctr"/>
            <a:r>
              <a:rPr lang="en-US" sz="2000">
                <a:latin typeface="Tahoma" pitchFamily="34" charset="0"/>
              </a:rPr>
              <a:t>starName       MovieStar</a:t>
            </a:r>
          </a:p>
        </p:txBody>
      </p:sp>
      <p:sp>
        <p:nvSpPr>
          <p:cNvPr id="9225" name="Line 9"/>
          <p:cNvSpPr>
            <a:spLocks noChangeShapeType="1"/>
          </p:cNvSpPr>
          <p:nvPr/>
        </p:nvSpPr>
        <p:spPr bwMode="auto">
          <a:xfrm>
            <a:off x="2230438" y="1824038"/>
            <a:ext cx="0" cy="422275"/>
          </a:xfrm>
          <a:prstGeom prst="line">
            <a:avLst/>
          </a:prstGeom>
          <a:noFill/>
          <a:ln w="9525">
            <a:solidFill>
              <a:schemeClr val="tx1"/>
            </a:solidFill>
            <a:round/>
            <a:headEnd/>
            <a:tailEnd/>
          </a:ln>
        </p:spPr>
        <p:txBody>
          <a:bodyPr wrap="none" anchor="ctr"/>
          <a:lstStyle/>
          <a:p>
            <a:endParaRPr lang="en-US"/>
          </a:p>
        </p:txBody>
      </p:sp>
      <p:sp>
        <p:nvSpPr>
          <p:cNvPr id="9226" name="Line 10"/>
          <p:cNvSpPr>
            <a:spLocks noChangeShapeType="1"/>
          </p:cNvSpPr>
          <p:nvPr/>
        </p:nvSpPr>
        <p:spPr bwMode="auto">
          <a:xfrm flipH="1">
            <a:off x="1689100" y="2490788"/>
            <a:ext cx="444500" cy="409575"/>
          </a:xfrm>
          <a:prstGeom prst="line">
            <a:avLst/>
          </a:prstGeom>
          <a:noFill/>
          <a:ln w="9525">
            <a:solidFill>
              <a:schemeClr val="tx1"/>
            </a:solidFill>
            <a:round/>
            <a:headEnd/>
            <a:tailEnd/>
          </a:ln>
        </p:spPr>
        <p:txBody>
          <a:bodyPr wrap="none" anchor="ctr"/>
          <a:lstStyle/>
          <a:p>
            <a:endParaRPr lang="en-US"/>
          </a:p>
        </p:txBody>
      </p:sp>
      <p:sp>
        <p:nvSpPr>
          <p:cNvPr id="9227" name="Line 11"/>
          <p:cNvSpPr>
            <a:spLocks noChangeShapeType="1"/>
          </p:cNvSpPr>
          <p:nvPr/>
        </p:nvSpPr>
        <p:spPr bwMode="auto">
          <a:xfrm>
            <a:off x="2298700" y="2513013"/>
            <a:ext cx="371475" cy="387350"/>
          </a:xfrm>
          <a:prstGeom prst="line">
            <a:avLst/>
          </a:prstGeom>
          <a:noFill/>
          <a:ln w="9525">
            <a:solidFill>
              <a:schemeClr val="tx1"/>
            </a:solidFill>
            <a:round/>
            <a:headEnd/>
            <a:tailEnd/>
          </a:ln>
        </p:spPr>
        <p:txBody>
          <a:bodyPr wrap="none" anchor="ctr"/>
          <a:lstStyle/>
          <a:p>
            <a:endParaRPr lang="en-US"/>
          </a:p>
        </p:txBody>
      </p:sp>
      <p:sp>
        <p:nvSpPr>
          <p:cNvPr id="9228" name="Line 12"/>
          <p:cNvSpPr>
            <a:spLocks noChangeShapeType="1"/>
          </p:cNvSpPr>
          <p:nvPr/>
        </p:nvSpPr>
        <p:spPr bwMode="auto">
          <a:xfrm flipH="1">
            <a:off x="2209800" y="3200400"/>
            <a:ext cx="366713" cy="411163"/>
          </a:xfrm>
          <a:prstGeom prst="line">
            <a:avLst/>
          </a:prstGeom>
          <a:noFill/>
          <a:ln w="9525">
            <a:solidFill>
              <a:schemeClr val="tx1"/>
            </a:solidFill>
            <a:round/>
            <a:headEnd/>
            <a:tailEnd/>
          </a:ln>
        </p:spPr>
        <p:txBody>
          <a:bodyPr wrap="none" anchor="ctr"/>
          <a:lstStyle/>
          <a:p>
            <a:endParaRPr lang="en-US"/>
          </a:p>
        </p:txBody>
      </p:sp>
      <p:sp>
        <p:nvSpPr>
          <p:cNvPr id="9229" name="Line 13"/>
          <p:cNvSpPr>
            <a:spLocks noChangeShapeType="1"/>
          </p:cNvSpPr>
          <p:nvPr/>
        </p:nvSpPr>
        <p:spPr bwMode="auto">
          <a:xfrm flipH="1">
            <a:off x="2778125" y="3213100"/>
            <a:ext cx="42863" cy="366713"/>
          </a:xfrm>
          <a:prstGeom prst="line">
            <a:avLst/>
          </a:prstGeom>
          <a:noFill/>
          <a:ln w="9525">
            <a:solidFill>
              <a:schemeClr val="tx1"/>
            </a:solidFill>
            <a:round/>
            <a:headEnd/>
            <a:tailEnd/>
          </a:ln>
        </p:spPr>
        <p:txBody>
          <a:bodyPr wrap="none" anchor="ctr"/>
          <a:lstStyle/>
          <a:p>
            <a:endParaRPr lang="en-US"/>
          </a:p>
        </p:txBody>
      </p:sp>
      <p:sp>
        <p:nvSpPr>
          <p:cNvPr id="9230" name="Line 14"/>
          <p:cNvSpPr>
            <a:spLocks noChangeShapeType="1"/>
          </p:cNvSpPr>
          <p:nvPr/>
        </p:nvSpPr>
        <p:spPr bwMode="auto">
          <a:xfrm flipH="1">
            <a:off x="1752600" y="3886200"/>
            <a:ext cx="65088" cy="411163"/>
          </a:xfrm>
          <a:prstGeom prst="line">
            <a:avLst/>
          </a:prstGeom>
          <a:noFill/>
          <a:ln w="9525">
            <a:solidFill>
              <a:schemeClr val="tx1"/>
            </a:solidFill>
            <a:round/>
            <a:headEnd/>
            <a:tailEnd/>
          </a:ln>
        </p:spPr>
        <p:txBody>
          <a:bodyPr wrap="none" anchor="ctr"/>
          <a:lstStyle/>
          <a:p>
            <a:endParaRPr lang="en-US"/>
          </a:p>
        </p:txBody>
      </p:sp>
      <p:sp>
        <p:nvSpPr>
          <p:cNvPr id="9231" name="Line 15"/>
          <p:cNvSpPr>
            <a:spLocks noChangeShapeType="1"/>
          </p:cNvSpPr>
          <p:nvPr/>
        </p:nvSpPr>
        <p:spPr bwMode="auto">
          <a:xfrm>
            <a:off x="1752600" y="4648200"/>
            <a:ext cx="0" cy="465138"/>
          </a:xfrm>
          <a:prstGeom prst="line">
            <a:avLst/>
          </a:prstGeom>
          <a:noFill/>
          <a:ln w="9525">
            <a:solidFill>
              <a:schemeClr val="tx1"/>
            </a:solidFill>
            <a:round/>
            <a:headEnd/>
            <a:tailEnd/>
          </a:ln>
        </p:spPr>
        <p:txBody>
          <a:bodyPr wrap="none" anchor="ctr"/>
          <a:lstStyle/>
          <a:p>
            <a:endParaRPr lang="en-US"/>
          </a:p>
        </p:txBody>
      </p:sp>
      <p:sp>
        <p:nvSpPr>
          <p:cNvPr id="9232" name="Line 16"/>
          <p:cNvSpPr>
            <a:spLocks noChangeShapeType="1"/>
          </p:cNvSpPr>
          <p:nvPr/>
        </p:nvSpPr>
        <p:spPr bwMode="auto">
          <a:xfrm>
            <a:off x="3505200" y="3962400"/>
            <a:ext cx="0" cy="444500"/>
          </a:xfrm>
          <a:prstGeom prst="line">
            <a:avLst/>
          </a:prstGeom>
          <a:noFill/>
          <a:ln w="9525">
            <a:solidFill>
              <a:schemeClr val="tx1"/>
            </a:solidFill>
            <a:round/>
            <a:headEnd/>
            <a:tailEnd/>
          </a:ln>
        </p:spPr>
        <p:txBody>
          <a:bodyPr wrap="none" anchor="ctr"/>
          <a:lstStyle/>
          <a:p>
            <a:endParaRPr lang="en-US"/>
          </a:p>
        </p:txBody>
      </p:sp>
      <p:sp>
        <p:nvSpPr>
          <p:cNvPr id="9233" name="Line 17"/>
          <p:cNvSpPr>
            <a:spLocks noChangeShapeType="1"/>
          </p:cNvSpPr>
          <p:nvPr/>
        </p:nvSpPr>
        <p:spPr bwMode="auto">
          <a:xfrm>
            <a:off x="3429000" y="4724400"/>
            <a:ext cx="0" cy="509588"/>
          </a:xfrm>
          <a:prstGeom prst="line">
            <a:avLst/>
          </a:prstGeom>
          <a:noFill/>
          <a:ln w="9525">
            <a:solidFill>
              <a:schemeClr val="tx1"/>
            </a:solidFill>
            <a:round/>
            <a:headEnd/>
            <a:tailEnd/>
          </a:ln>
        </p:spPr>
        <p:txBody>
          <a:bodyPr wrap="none" anchor="ctr"/>
          <a:lstStyle/>
          <a:p>
            <a:endParaRPr lang="en-US"/>
          </a:p>
        </p:txBody>
      </p:sp>
      <p:sp>
        <p:nvSpPr>
          <p:cNvPr id="9234" name="AutoShape 18"/>
          <p:cNvSpPr>
            <a:spLocks noChangeArrowheads="1"/>
          </p:cNvSpPr>
          <p:nvPr/>
        </p:nvSpPr>
        <p:spPr bwMode="auto">
          <a:xfrm>
            <a:off x="4114800" y="2819400"/>
            <a:ext cx="976313" cy="485775"/>
          </a:xfrm>
          <a:prstGeom prst="rightArrow">
            <a:avLst>
              <a:gd name="adj1" fmla="val 50000"/>
              <a:gd name="adj2" fmla="val 50245"/>
            </a:avLst>
          </a:prstGeom>
          <a:solidFill>
            <a:schemeClr val="tx2"/>
          </a:solidFill>
          <a:ln w="9525">
            <a:solidFill>
              <a:schemeClr val="tx1"/>
            </a:solidFill>
            <a:miter lim="800000"/>
            <a:headEnd/>
            <a:tailEnd/>
          </a:ln>
        </p:spPr>
        <p:txBody>
          <a:bodyPr wrap="none" anchor="ctr"/>
          <a:lstStyle/>
          <a:p>
            <a:endParaRPr lang="en-US"/>
          </a:p>
        </p:txBody>
      </p:sp>
      <p:sp>
        <p:nvSpPr>
          <p:cNvPr id="9235" name="Line 19"/>
          <p:cNvSpPr>
            <a:spLocks noChangeShapeType="1"/>
          </p:cNvSpPr>
          <p:nvPr/>
        </p:nvSpPr>
        <p:spPr bwMode="auto">
          <a:xfrm>
            <a:off x="3124200" y="3200400"/>
            <a:ext cx="304800" cy="304800"/>
          </a:xfrm>
          <a:prstGeom prst="line">
            <a:avLst/>
          </a:prstGeom>
          <a:noFill/>
          <a:ln w="9525">
            <a:solidFill>
              <a:schemeClr val="tx1"/>
            </a:solidFill>
            <a:round/>
            <a:headEnd/>
            <a:tailEnd/>
          </a:ln>
        </p:spPr>
        <p:txBody>
          <a:bodyPr/>
          <a:lstStyle/>
          <a:p>
            <a:endParaRPr lang="en-US"/>
          </a:p>
        </p:txBody>
      </p:sp>
      <p:grpSp>
        <p:nvGrpSpPr>
          <p:cNvPr id="2" name="Group 20"/>
          <p:cNvGrpSpPr>
            <a:grpSpLocks/>
          </p:cNvGrpSpPr>
          <p:nvPr/>
        </p:nvGrpSpPr>
        <p:grpSpPr bwMode="auto">
          <a:xfrm>
            <a:off x="5165725" y="990600"/>
            <a:ext cx="3529013" cy="5105400"/>
            <a:chOff x="3254" y="624"/>
            <a:chExt cx="2223" cy="3216"/>
          </a:xfrm>
        </p:grpSpPr>
        <p:sp>
          <p:nvSpPr>
            <p:cNvPr id="9237" name="Text Box 21"/>
            <p:cNvSpPr txBox="1">
              <a:spLocks noChangeArrowheads="1"/>
            </p:cNvSpPr>
            <p:nvPr/>
          </p:nvSpPr>
          <p:spPr bwMode="auto">
            <a:xfrm>
              <a:off x="3668" y="624"/>
              <a:ext cx="628" cy="442"/>
            </a:xfrm>
            <a:prstGeom prst="rect">
              <a:avLst/>
            </a:prstGeom>
            <a:noFill/>
            <a:ln w="9525">
              <a:noFill/>
              <a:miter lim="800000"/>
              <a:headEnd/>
              <a:tailEnd/>
            </a:ln>
          </p:spPr>
          <p:txBody>
            <a:bodyPr wrap="none" anchor="ctr">
              <a:spAutoFit/>
            </a:bodyPr>
            <a:lstStyle/>
            <a:p>
              <a:pPr algn="ctr"/>
              <a:r>
                <a:rPr lang="en-US" sz="4000">
                  <a:latin typeface="Tahoma" pitchFamily="34" charset="0"/>
                  <a:sym typeface="Symbol" pitchFamily="18" charset="2"/>
                </a:rPr>
                <a:t></a:t>
              </a:r>
              <a:r>
                <a:rPr lang="en-US" sz="2000">
                  <a:latin typeface="Tahoma" pitchFamily="34" charset="0"/>
                </a:rPr>
                <a:t>title</a:t>
              </a:r>
            </a:p>
          </p:txBody>
        </p:sp>
        <p:sp>
          <p:nvSpPr>
            <p:cNvPr id="9238" name="Text Box 22"/>
            <p:cNvSpPr txBox="1">
              <a:spLocks noChangeArrowheads="1"/>
            </p:cNvSpPr>
            <p:nvPr/>
          </p:nvSpPr>
          <p:spPr bwMode="auto">
            <a:xfrm>
              <a:off x="3270" y="1046"/>
              <a:ext cx="1376" cy="442"/>
            </a:xfrm>
            <a:prstGeom prst="rect">
              <a:avLst/>
            </a:prstGeom>
            <a:noFill/>
            <a:ln w="9525">
              <a:noFill/>
              <a:miter lim="800000"/>
              <a:headEnd/>
              <a:tailEnd/>
            </a:ln>
          </p:spPr>
          <p:txBody>
            <a:bodyPr wrap="none" anchor="ctr">
              <a:spAutoFit/>
            </a:bodyPr>
            <a:lstStyle/>
            <a:p>
              <a:pPr algn="ctr"/>
              <a:r>
                <a:rPr lang="en-US" sz="4000">
                  <a:latin typeface="Tahoma" pitchFamily="34" charset="0"/>
                  <a:sym typeface="Symbol" pitchFamily="18" charset="2"/>
                </a:rPr>
                <a:t></a:t>
              </a:r>
              <a:r>
                <a:rPr lang="en-US">
                  <a:latin typeface="Tahoma" pitchFamily="34" charset="0"/>
                </a:rPr>
                <a:t>starName=name</a:t>
              </a:r>
              <a:endParaRPr lang="en-US" sz="4000">
                <a:latin typeface="Tahoma" pitchFamily="34" charset="0"/>
                <a:sym typeface="Symbol" pitchFamily="18" charset="2"/>
              </a:endParaRPr>
            </a:p>
          </p:txBody>
        </p:sp>
        <p:sp>
          <p:nvSpPr>
            <p:cNvPr id="9239" name="Text Box 23"/>
            <p:cNvSpPr txBox="1">
              <a:spLocks noChangeArrowheads="1"/>
            </p:cNvSpPr>
            <p:nvPr/>
          </p:nvSpPr>
          <p:spPr bwMode="auto">
            <a:xfrm>
              <a:off x="3254" y="2105"/>
              <a:ext cx="1265" cy="288"/>
            </a:xfrm>
            <a:prstGeom prst="rect">
              <a:avLst/>
            </a:prstGeom>
            <a:noFill/>
            <a:ln w="9525">
              <a:noFill/>
              <a:miter lim="800000"/>
              <a:headEnd/>
              <a:tailEnd/>
            </a:ln>
          </p:spPr>
          <p:txBody>
            <a:bodyPr wrap="none" anchor="ctr">
              <a:spAutoFit/>
            </a:bodyPr>
            <a:lstStyle/>
            <a:p>
              <a:pPr algn="ctr"/>
              <a:r>
                <a:rPr lang="en-US" sz="2000">
                  <a:latin typeface="Tahoma" pitchFamily="34" charset="0"/>
                </a:rPr>
                <a:t>StarsIn</a:t>
              </a:r>
              <a:r>
                <a:rPr lang="en-US" sz="2400">
                  <a:latin typeface="Tahoma" pitchFamily="34" charset="0"/>
                </a:rPr>
                <a:t>         </a:t>
              </a:r>
              <a:r>
                <a:rPr lang="el-GR" sz="2400">
                  <a:latin typeface="Tahoma" pitchFamily="34" charset="0"/>
                  <a:cs typeface="Tahoma" pitchFamily="34" charset="0"/>
                </a:rPr>
                <a:t>δ</a:t>
              </a:r>
            </a:p>
          </p:txBody>
        </p:sp>
        <p:sp>
          <p:nvSpPr>
            <p:cNvPr id="9240" name="Text Box 24"/>
            <p:cNvSpPr txBox="1">
              <a:spLocks noChangeArrowheads="1"/>
            </p:cNvSpPr>
            <p:nvPr/>
          </p:nvSpPr>
          <p:spPr bwMode="auto">
            <a:xfrm>
              <a:off x="3696" y="2880"/>
              <a:ext cx="1781" cy="442"/>
            </a:xfrm>
            <a:prstGeom prst="rect">
              <a:avLst/>
            </a:prstGeom>
            <a:noFill/>
            <a:ln w="9525">
              <a:noFill/>
              <a:miter lim="800000"/>
              <a:headEnd/>
              <a:tailEnd/>
            </a:ln>
          </p:spPr>
          <p:txBody>
            <a:bodyPr wrap="none" anchor="ctr">
              <a:spAutoFit/>
            </a:bodyPr>
            <a:lstStyle/>
            <a:p>
              <a:pPr algn="ctr"/>
              <a:r>
                <a:rPr lang="en-US" sz="4000">
                  <a:latin typeface="Tahoma" pitchFamily="34" charset="0"/>
                  <a:sym typeface="Symbol" pitchFamily="18" charset="2"/>
                </a:rPr>
                <a:t></a:t>
              </a:r>
              <a:r>
                <a:rPr lang="en-US">
                  <a:latin typeface="Tahoma" pitchFamily="34" charset="0"/>
                </a:rPr>
                <a:t>birthdate LIKE ‘%1960’</a:t>
              </a:r>
            </a:p>
          </p:txBody>
        </p:sp>
        <p:sp>
          <p:nvSpPr>
            <p:cNvPr id="9241" name="Text Box 25"/>
            <p:cNvSpPr txBox="1">
              <a:spLocks noChangeArrowheads="1"/>
            </p:cNvSpPr>
            <p:nvPr/>
          </p:nvSpPr>
          <p:spPr bwMode="auto">
            <a:xfrm>
              <a:off x="3984" y="3552"/>
              <a:ext cx="872" cy="288"/>
            </a:xfrm>
            <a:prstGeom prst="rect">
              <a:avLst/>
            </a:prstGeom>
            <a:noFill/>
            <a:ln w="9525">
              <a:noFill/>
              <a:miter lim="800000"/>
              <a:headEnd/>
              <a:tailEnd/>
            </a:ln>
          </p:spPr>
          <p:txBody>
            <a:bodyPr wrap="none" anchor="ctr">
              <a:spAutoFit/>
            </a:bodyPr>
            <a:lstStyle/>
            <a:p>
              <a:pPr algn="ctr"/>
              <a:r>
                <a:rPr lang="en-US" sz="2400">
                  <a:latin typeface="Tahoma" pitchFamily="34" charset="0"/>
                </a:rPr>
                <a:t> </a:t>
              </a:r>
              <a:r>
                <a:rPr lang="en-US" sz="2000">
                  <a:latin typeface="Tahoma" pitchFamily="34" charset="0"/>
                </a:rPr>
                <a:t>MovieStar</a:t>
              </a:r>
            </a:p>
          </p:txBody>
        </p:sp>
        <p:sp>
          <p:nvSpPr>
            <p:cNvPr id="9242" name="Line 26"/>
            <p:cNvSpPr>
              <a:spLocks noChangeShapeType="1"/>
            </p:cNvSpPr>
            <p:nvPr/>
          </p:nvSpPr>
          <p:spPr bwMode="auto">
            <a:xfrm>
              <a:off x="3954" y="1012"/>
              <a:ext cx="0" cy="254"/>
            </a:xfrm>
            <a:prstGeom prst="line">
              <a:avLst/>
            </a:prstGeom>
            <a:noFill/>
            <a:ln w="9525">
              <a:solidFill>
                <a:schemeClr val="tx1"/>
              </a:solidFill>
              <a:round/>
              <a:headEnd/>
              <a:tailEnd/>
            </a:ln>
          </p:spPr>
          <p:txBody>
            <a:bodyPr wrap="none" anchor="ctr"/>
            <a:lstStyle/>
            <a:p>
              <a:endParaRPr lang="en-US"/>
            </a:p>
          </p:txBody>
        </p:sp>
        <p:sp>
          <p:nvSpPr>
            <p:cNvPr id="9243" name="Line 27"/>
            <p:cNvSpPr>
              <a:spLocks noChangeShapeType="1"/>
            </p:cNvSpPr>
            <p:nvPr/>
          </p:nvSpPr>
          <p:spPr bwMode="auto">
            <a:xfrm flipH="1">
              <a:off x="3975" y="1433"/>
              <a:ext cx="1" cy="218"/>
            </a:xfrm>
            <a:prstGeom prst="line">
              <a:avLst/>
            </a:prstGeom>
            <a:noFill/>
            <a:ln w="9525">
              <a:solidFill>
                <a:schemeClr val="tx1"/>
              </a:solidFill>
              <a:round/>
              <a:headEnd/>
              <a:tailEnd/>
            </a:ln>
          </p:spPr>
          <p:txBody>
            <a:bodyPr wrap="none" anchor="ctr"/>
            <a:lstStyle/>
            <a:p>
              <a:endParaRPr lang="en-US"/>
            </a:p>
          </p:txBody>
        </p:sp>
        <p:sp>
          <p:nvSpPr>
            <p:cNvPr id="9244" name="Line 28"/>
            <p:cNvSpPr>
              <a:spLocks noChangeShapeType="1"/>
            </p:cNvSpPr>
            <p:nvPr/>
          </p:nvSpPr>
          <p:spPr bwMode="auto">
            <a:xfrm>
              <a:off x="4412" y="2394"/>
              <a:ext cx="0" cy="291"/>
            </a:xfrm>
            <a:prstGeom prst="line">
              <a:avLst/>
            </a:prstGeom>
            <a:noFill/>
            <a:ln w="9525">
              <a:solidFill>
                <a:schemeClr val="tx1"/>
              </a:solidFill>
              <a:round/>
              <a:headEnd/>
              <a:tailEnd/>
            </a:ln>
          </p:spPr>
          <p:txBody>
            <a:bodyPr wrap="none" anchor="ctr"/>
            <a:lstStyle/>
            <a:p>
              <a:endParaRPr lang="en-US"/>
            </a:p>
          </p:txBody>
        </p:sp>
        <p:sp>
          <p:nvSpPr>
            <p:cNvPr id="9245" name="Line 29"/>
            <p:cNvSpPr>
              <a:spLocks noChangeShapeType="1"/>
            </p:cNvSpPr>
            <p:nvPr/>
          </p:nvSpPr>
          <p:spPr bwMode="auto">
            <a:xfrm>
              <a:off x="4416" y="3216"/>
              <a:ext cx="0" cy="334"/>
            </a:xfrm>
            <a:prstGeom prst="line">
              <a:avLst/>
            </a:prstGeom>
            <a:noFill/>
            <a:ln w="9525">
              <a:solidFill>
                <a:schemeClr val="tx1"/>
              </a:solidFill>
              <a:round/>
              <a:headEnd/>
              <a:tailEnd/>
            </a:ln>
          </p:spPr>
          <p:txBody>
            <a:bodyPr wrap="none" anchor="ctr"/>
            <a:lstStyle/>
            <a:p>
              <a:endParaRPr lang="en-US"/>
            </a:p>
          </p:txBody>
        </p:sp>
        <p:sp>
          <p:nvSpPr>
            <p:cNvPr id="9246" name="Text Box 30"/>
            <p:cNvSpPr txBox="1">
              <a:spLocks noChangeArrowheads="1"/>
            </p:cNvSpPr>
            <p:nvPr/>
          </p:nvSpPr>
          <p:spPr bwMode="auto">
            <a:xfrm>
              <a:off x="3825" y="1526"/>
              <a:ext cx="292" cy="442"/>
            </a:xfrm>
            <a:prstGeom prst="rect">
              <a:avLst/>
            </a:prstGeom>
            <a:noFill/>
            <a:ln w="9525">
              <a:noFill/>
              <a:miter lim="800000"/>
              <a:headEnd/>
              <a:tailEnd/>
            </a:ln>
          </p:spPr>
          <p:txBody>
            <a:bodyPr wrap="none" anchor="ctr">
              <a:spAutoFit/>
            </a:bodyPr>
            <a:lstStyle/>
            <a:p>
              <a:pPr algn="ctr"/>
              <a:r>
                <a:rPr lang="en-US" sz="4000" b="1">
                  <a:latin typeface="Tahoma" pitchFamily="34" charset="0"/>
                  <a:sym typeface="Symbol" pitchFamily="18" charset="2"/>
                </a:rPr>
                <a:t></a:t>
              </a:r>
              <a:endParaRPr lang="en-US" sz="2400">
                <a:latin typeface="Tahoma" pitchFamily="34" charset="0"/>
              </a:endParaRPr>
            </a:p>
          </p:txBody>
        </p:sp>
        <p:sp>
          <p:nvSpPr>
            <p:cNvPr id="9247" name="Line 31"/>
            <p:cNvSpPr>
              <a:spLocks noChangeShapeType="1"/>
            </p:cNvSpPr>
            <p:nvPr/>
          </p:nvSpPr>
          <p:spPr bwMode="auto">
            <a:xfrm flipH="1">
              <a:off x="3518" y="1855"/>
              <a:ext cx="335" cy="284"/>
            </a:xfrm>
            <a:prstGeom prst="line">
              <a:avLst/>
            </a:prstGeom>
            <a:noFill/>
            <a:ln w="9525">
              <a:solidFill>
                <a:schemeClr val="tx1"/>
              </a:solidFill>
              <a:round/>
              <a:headEnd/>
              <a:tailEnd/>
            </a:ln>
          </p:spPr>
          <p:txBody>
            <a:bodyPr wrap="none" anchor="ctr"/>
            <a:lstStyle/>
            <a:p>
              <a:endParaRPr lang="en-US"/>
            </a:p>
          </p:txBody>
        </p:sp>
        <p:sp>
          <p:nvSpPr>
            <p:cNvPr id="9248" name="Line 32"/>
            <p:cNvSpPr>
              <a:spLocks noChangeShapeType="1"/>
            </p:cNvSpPr>
            <p:nvPr/>
          </p:nvSpPr>
          <p:spPr bwMode="auto">
            <a:xfrm>
              <a:off x="4064" y="1899"/>
              <a:ext cx="327" cy="189"/>
            </a:xfrm>
            <a:prstGeom prst="line">
              <a:avLst/>
            </a:prstGeom>
            <a:noFill/>
            <a:ln w="9525">
              <a:solidFill>
                <a:schemeClr val="tx1"/>
              </a:solidFill>
              <a:round/>
              <a:headEnd/>
              <a:tailEnd/>
            </a:ln>
          </p:spPr>
          <p:txBody>
            <a:bodyPr wrap="none" anchor="ctr"/>
            <a:lstStyle/>
            <a:p>
              <a:endParaRPr lang="en-US"/>
            </a:p>
          </p:txBody>
        </p:sp>
        <p:sp>
          <p:nvSpPr>
            <p:cNvPr id="9249" name="Text Box 33"/>
            <p:cNvSpPr txBox="1">
              <a:spLocks noChangeArrowheads="1"/>
            </p:cNvSpPr>
            <p:nvPr/>
          </p:nvSpPr>
          <p:spPr bwMode="auto">
            <a:xfrm>
              <a:off x="4128" y="2544"/>
              <a:ext cx="679" cy="327"/>
            </a:xfrm>
            <a:prstGeom prst="rect">
              <a:avLst/>
            </a:prstGeom>
            <a:noFill/>
            <a:ln w="9525">
              <a:noFill/>
              <a:miter lim="800000"/>
              <a:headEnd/>
              <a:tailEnd/>
            </a:ln>
          </p:spPr>
          <p:txBody>
            <a:bodyPr wrap="none" anchor="ctr">
              <a:spAutoFit/>
            </a:bodyPr>
            <a:lstStyle/>
            <a:p>
              <a:pPr algn="ctr"/>
              <a:r>
                <a:rPr lang="en-US" sz="2800">
                  <a:latin typeface="Tahoma" pitchFamily="34" charset="0"/>
                  <a:sym typeface="Symbol" pitchFamily="18" charset="2"/>
                </a:rPr>
                <a:t></a:t>
              </a:r>
              <a:r>
                <a:rPr lang="en-US" sz="2000">
                  <a:latin typeface="Tahoma" pitchFamily="34" charset="0"/>
                </a:rPr>
                <a:t>name</a:t>
              </a:r>
            </a:p>
          </p:txBody>
        </p:sp>
        <p:sp>
          <p:nvSpPr>
            <p:cNvPr id="9250" name="Line 34"/>
            <p:cNvSpPr>
              <a:spLocks noChangeShapeType="1"/>
            </p:cNvSpPr>
            <p:nvPr/>
          </p:nvSpPr>
          <p:spPr bwMode="auto">
            <a:xfrm>
              <a:off x="4416" y="2784"/>
              <a:ext cx="0" cy="240"/>
            </a:xfrm>
            <a:prstGeom prst="line">
              <a:avLst/>
            </a:prstGeom>
            <a:noFill/>
            <a:ln w="9525">
              <a:solidFill>
                <a:schemeClr val="tx1"/>
              </a:solidFill>
              <a:round/>
              <a:headEnd/>
              <a:tailEnd/>
            </a:ln>
          </p:spPr>
          <p:txBody>
            <a:bodyPr/>
            <a:lstStyle/>
            <a:p>
              <a:endParaRPr lang="en-US"/>
            </a:p>
          </p:txBody>
        </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365125" y="206375"/>
            <a:ext cx="8372475" cy="889000"/>
          </a:xfrm>
          <a:prstGeom prst="rect">
            <a:avLst/>
          </a:prstGeom>
          <a:noFill/>
          <a:ln w="9525">
            <a:noFill/>
            <a:miter lim="800000"/>
            <a:headEnd/>
            <a:tailEnd/>
          </a:ln>
        </p:spPr>
        <p:txBody>
          <a:bodyPr anchor="ctr"/>
          <a:lstStyle/>
          <a:p>
            <a:r>
              <a:rPr lang="en-US" sz="3200">
                <a:solidFill>
                  <a:schemeClr val="tx2"/>
                </a:solidFill>
              </a:rPr>
              <a:t>Improving the Logical Query Plan</a:t>
            </a:r>
            <a:endParaRPr lang="en-US" sz="3600" u="sng">
              <a:solidFill>
                <a:schemeClr val="tx2"/>
              </a:solidFill>
            </a:endParaRPr>
          </a:p>
        </p:txBody>
      </p:sp>
      <p:grpSp>
        <p:nvGrpSpPr>
          <p:cNvPr id="2" name="Group 3"/>
          <p:cNvGrpSpPr>
            <a:grpSpLocks/>
          </p:cNvGrpSpPr>
          <p:nvPr/>
        </p:nvGrpSpPr>
        <p:grpSpPr bwMode="auto">
          <a:xfrm>
            <a:off x="4800600" y="1219200"/>
            <a:ext cx="4187825" cy="4514850"/>
            <a:chOff x="1664" y="631"/>
            <a:chExt cx="2638" cy="2844"/>
          </a:xfrm>
        </p:grpSpPr>
        <p:sp>
          <p:nvSpPr>
            <p:cNvPr id="10262" name="Text Box 4"/>
            <p:cNvSpPr txBox="1">
              <a:spLocks noChangeArrowheads="1"/>
            </p:cNvSpPr>
            <p:nvPr/>
          </p:nvSpPr>
          <p:spPr bwMode="auto">
            <a:xfrm>
              <a:off x="2299" y="631"/>
              <a:ext cx="679" cy="442"/>
            </a:xfrm>
            <a:prstGeom prst="rect">
              <a:avLst/>
            </a:prstGeom>
            <a:noFill/>
            <a:ln w="9525">
              <a:noFill/>
              <a:miter lim="800000"/>
              <a:headEnd/>
              <a:tailEnd/>
            </a:ln>
          </p:spPr>
          <p:txBody>
            <a:bodyPr wrap="none" anchor="ctr">
              <a:spAutoFit/>
            </a:bodyPr>
            <a:lstStyle/>
            <a:p>
              <a:pPr algn="ctr"/>
              <a:r>
                <a:rPr lang="en-US" sz="4000">
                  <a:latin typeface="Tahoma" pitchFamily="34" charset="0"/>
                  <a:sym typeface="Symbol" pitchFamily="18" charset="2"/>
                </a:rPr>
                <a:t></a:t>
              </a:r>
              <a:r>
                <a:rPr lang="en-US" sz="2400">
                  <a:latin typeface="Tahoma" pitchFamily="34" charset="0"/>
                </a:rPr>
                <a:t>title</a:t>
              </a:r>
            </a:p>
          </p:txBody>
        </p:sp>
        <p:sp>
          <p:nvSpPr>
            <p:cNvPr id="10263" name="Text Box 5"/>
            <p:cNvSpPr txBox="1">
              <a:spLocks noChangeArrowheads="1"/>
            </p:cNvSpPr>
            <p:nvPr/>
          </p:nvSpPr>
          <p:spPr bwMode="auto">
            <a:xfrm>
              <a:off x="2066" y="1456"/>
              <a:ext cx="1183" cy="231"/>
            </a:xfrm>
            <a:prstGeom prst="rect">
              <a:avLst/>
            </a:prstGeom>
            <a:noFill/>
            <a:ln w="9525">
              <a:noFill/>
              <a:miter lim="800000"/>
              <a:headEnd/>
              <a:tailEnd/>
            </a:ln>
          </p:spPr>
          <p:txBody>
            <a:bodyPr wrap="none" anchor="ctr">
              <a:spAutoFit/>
            </a:bodyPr>
            <a:lstStyle/>
            <a:p>
              <a:pPr algn="ctr"/>
              <a:r>
                <a:rPr lang="en-US">
                  <a:latin typeface="Tahoma" pitchFamily="34" charset="0"/>
                </a:rPr>
                <a:t>starName=name</a:t>
              </a:r>
              <a:endParaRPr lang="en-US" sz="4000">
                <a:latin typeface="Tahoma" pitchFamily="34" charset="0"/>
                <a:sym typeface="Symbol" pitchFamily="18" charset="2"/>
              </a:endParaRPr>
            </a:p>
          </p:txBody>
        </p:sp>
        <p:sp>
          <p:nvSpPr>
            <p:cNvPr id="10264" name="Text Box 6"/>
            <p:cNvSpPr txBox="1">
              <a:spLocks noChangeArrowheads="1"/>
            </p:cNvSpPr>
            <p:nvPr/>
          </p:nvSpPr>
          <p:spPr bwMode="auto">
            <a:xfrm>
              <a:off x="1664" y="1999"/>
              <a:ext cx="2638" cy="442"/>
            </a:xfrm>
            <a:prstGeom prst="rect">
              <a:avLst/>
            </a:prstGeom>
            <a:noFill/>
            <a:ln w="9525">
              <a:noFill/>
              <a:miter lim="800000"/>
              <a:headEnd/>
              <a:tailEnd/>
            </a:ln>
          </p:spPr>
          <p:txBody>
            <a:bodyPr wrap="none" anchor="ctr">
              <a:spAutoFit/>
            </a:bodyPr>
            <a:lstStyle/>
            <a:p>
              <a:pPr algn="ctr"/>
              <a:r>
                <a:rPr lang="en-US" sz="2400">
                  <a:latin typeface="Tahoma" pitchFamily="34" charset="0"/>
                </a:rPr>
                <a:t>StarsIn       </a:t>
              </a:r>
              <a:r>
                <a:rPr lang="en-US" sz="4000">
                  <a:latin typeface="Tahoma" pitchFamily="34" charset="0"/>
                  <a:sym typeface="Symbol" pitchFamily="18" charset="2"/>
                </a:rPr>
                <a:t></a:t>
              </a:r>
              <a:r>
                <a:rPr lang="en-US" sz="2400">
                  <a:latin typeface="Tahoma" pitchFamily="34" charset="0"/>
                </a:rPr>
                <a:t>name             </a:t>
              </a:r>
            </a:p>
          </p:txBody>
        </p:sp>
        <p:sp>
          <p:nvSpPr>
            <p:cNvPr id="10265" name="Text Box 7"/>
            <p:cNvSpPr txBox="1">
              <a:spLocks noChangeArrowheads="1"/>
            </p:cNvSpPr>
            <p:nvPr/>
          </p:nvSpPr>
          <p:spPr bwMode="auto">
            <a:xfrm>
              <a:off x="2409" y="2514"/>
              <a:ext cx="1781" cy="442"/>
            </a:xfrm>
            <a:prstGeom prst="rect">
              <a:avLst/>
            </a:prstGeom>
            <a:noFill/>
            <a:ln w="9525">
              <a:noFill/>
              <a:miter lim="800000"/>
              <a:headEnd/>
              <a:tailEnd/>
            </a:ln>
          </p:spPr>
          <p:txBody>
            <a:bodyPr wrap="none" anchor="ctr">
              <a:spAutoFit/>
            </a:bodyPr>
            <a:lstStyle/>
            <a:p>
              <a:pPr algn="ctr"/>
              <a:r>
                <a:rPr lang="en-US" sz="4000">
                  <a:latin typeface="Tahoma" pitchFamily="34" charset="0"/>
                  <a:sym typeface="Symbol" pitchFamily="18" charset="2"/>
                </a:rPr>
                <a:t></a:t>
              </a:r>
              <a:r>
                <a:rPr lang="en-US">
                  <a:latin typeface="Tahoma" pitchFamily="34" charset="0"/>
                </a:rPr>
                <a:t>birthdate LIKE ‘%1960’</a:t>
              </a:r>
            </a:p>
          </p:txBody>
        </p:sp>
        <p:sp>
          <p:nvSpPr>
            <p:cNvPr id="10266" name="Text Box 8"/>
            <p:cNvSpPr txBox="1">
              <a:spLocks noChangeArrowheads="1"/>
            </p:cNvSpPr>
            <p:nvPr/>
          </p:nvSpPr>
          <p:spPr bwMode="auto">
            <a:xfrm>
              <a:off x="2719" y="3187"/>
              <a:ext cx="1010" cy="288"/>
            </a:xfrm>
            <a:prstGeom prst="rect">
              <a:avLst/>
            </a:prstGeom>
            <a:noFill/>
            <a:ln w="9525">
              <a:noFill/>
              <a:miter lim="800000"/>
              <a:headEnd/>
              <a:tailEnd/>
            </a:ln>
          </p:spPr>
          <p:txBody>
            <a:bodyPr wrap="none" anchor="ctr">
              <a:spAutoFit/>
            </a:bodyPr>
            <a:lstStyle/>
            <a:p>
              <a:pPr algn="ctr"/>
              <a:r>
                <a:rPr lang="en-US" sz="2400">
                  <a:latin typeface="Tahoma" pitchFamily="34" charset="0"/>
                </a:rPr>
                <a:t> MovieStar</a:t>
              </a:r>
            </a:p>
          </p:txBody>
        </p:sp>
        <p:sp>
          <p:nvSpPr>
            <p:cNvPr id="10267" name="Line 9"/>
            <p:cNvSpPr>
              <a:spLocks noChangeShapeType="1"/>
            </p:cNvSpPr>
            <p:nvPr/>
          </p:nvSpPr>
          <p:spPr bwMode="auto">
            <a:xfrm>
              <a:off x="2610" y="1019"/>
              <a:ext cx="0" cy="254"/>
            </a:xfrm>
            <a:prstGeom prst="line">
              <a:avLst/>
            </a:prstGeom>
            <a:noFill/>
            <a:ln w="9525">
              <a:solidFill>
                <a:schemeClr val="tx1"/>
              </a:solidFill>
              <a:round/>
              <a:headEnd/>
              <a:tailEnd/>
            </a:ln>
          </p:spPr>
          <p:txBody>
            <a:bodyPr wrap="none" anchor="ctr"/>
            <a:lstStyle/>
            <a:p>
              <a:endParaRPr lang="en-US"/>
            </a:p>
          </p:txBody>
        </p:sp>
        <p:sp>
          <p:nvSpPr>
            <p:cNvPr id="10268" name="Line 10"/>
            <p:cNvSpPr>
              <a:spLocks noChangeShapeType="1"/>
            </p:cNvSpPr>
            <p:nvPr/>
          </p:nvSpPr>
          <p:spPr bwMode="auto">
            <a:xfrm>
              <a:off x="3068" y="2401"/>
              <a:ext cx="0" cy="291"/>
            </a:xfrm>
            <a:prstGeom prst="line">
              <a:avLst/>
            </a:prstGeom>
            <a:noFill/>
            <a:ln w="9525">
              <a:solidFill>
                <a:schemeClr val="tx1"/>
              </a:solidFill>
              <a:round/>
              <a:headEnd/>
              <a:tailEnd/>
            </a:ln>
          </p:spPr>
          <p:txBody>
            <a:bodyPr wrap="none" anchor="ctr"/>
            <a:lstStyle/>
            <a:p>
              <a:endParaRPr lang="en-US"/>
            </a:p>
          </p:txBody>
        </p:sp>
        <p:sp>
          <p:nvSpPr>
            <p:cNvPr id="10269" name="Line 11"/>
            <p:cNvSpPr>
              <a:spLocks noChangeShapeType="1"/>
            </p:cNvSpPr>
            <p:nvPr/>
          </p:nvSpPr>
          <p:spPr bwMode="auto">
            <a:xfrm>
              <a:off x="3061" y="2925"/>
              <a:ext cx="0" cy="334"/>
            </a:xfrm>
            <a:prstGeom prst="line">
              <a:avLst/>
            </a:prstGeom>
            <a:noFill/>
            <a:ln w="9525">
              <a:solidFill>
                <a:schemeClr val="tx1"/>
              </a:solidFill>
              <a:round/>
              <a:headEnd/>
              <a:tailEnd/>
            </a:ln>
          </p:spPr>
          <p:txBody>
            <a:bodyPr wrap="none" anchor="ctr"/>
            <a:lstStyle/>
            <a:p>
              <a:endParaRPr lang="en-US"/>
            </a:p>
          </p:txBody>
        </p:sp>
        <p:sp>
          <p:nvSpPr>
            <p:cNvPr id="10270" name="Line 12"/>
            <p:cNvSpPr>
              <a:spLocks noChangeShapeType="1"/>
            </p:cNvSpPr>
            <p:nvPr/>
          </p:nvSpPr>
          <p:spPr bwMode="auto">
            <a:xfrm flipH="1">
              <a:off x="2174" y="1695"/>
              <a:ext cx="335" cy="451"/>
            </a:xfrm>
            <a:prstGeom prst="line">
              <a:avLst/>
            </a:prstGeom>
            <a:noFill/>
            <a:ln w="9525">
              <a:solidFill>
                <a:schemeClr val="tx1"/>
              </a:solidFill>
              <a:round/>
              <a:headEnd/>
              <a:tailEnd/>
            </a:ln>
          </p:spPr>
          <p:txBody>
            <a:bodyPr wrap="none" anchor="ctr"/>
            <a:lstStyle/>
            <a:p>
              <a:endParaRPr lang="en-US"/>
            </a:p>
          </p:txBody>
        </p:sp>
        <p:sp>
          <p:nvSpPr>
            <p:cNvPr id="10271" name="Line 13"/>
            <p:cNvSpPr>
              <a:spLocks noChangeShapeType="1"/>
            </p:cNvSpPr>
            <p:nvPr/>
          </p:nvSpPr>
          <p:spPr bwMode="auto">
            <a:xfrm>
              <a:off x="2792" y="1717"/>
              <a:ext cx="255" cy="378"/>
            </a:xfrm>
            <a:prstGeom prst="line">
              <a:avLst/>
            </a:prstGeom>
            <a:noFill/>
            <a:ln w="9525">
              <a:solidFill>
                <a:schemeClr val="tx1"/>
              </a:solidFill>
              <a:round/>
              <a:headEnd/>
              <a:tailEnd/>
            </a:ln>
          </p:spPr>
          <p:txBody>
            <a:bodyPr wrap="none" anchor="ctr"/>
            <a:lstStyle/>
            <a:p>
              <a:endParaRPr lang="en-US"/>
            </a:p>
          </p:txBody>
        </p:sp>
        <p:sp>
          <p:nvSpPr>
            <p:cNvPr id="10272" name="AutoShape 14"/>
            <p:cNvSpPr>
              <a:spLocks noChangeArrowheads="1"/>
            </p:cNvSpPr>
            <p:nvPr/>
          </p:nvSpPr>
          <p:spPr bwMode="auto">
            <a:xfrm rot="-5400000">
              <a:off x="2517" y="1228"/>
              <a:ext cx="192" cy="336"/>
            </a:xfrm>
            <a:prstGeom prst="flowChartCollate">
              <a:avLst/>
            </a:prstGeom>
            <a:solidFill>
              <a:schemeClr val="bg1"/>
            </a:solidFill>
            <a:ln w="9525">
              <a:solidFill>
                <a:schemeClr val="tx1"/>
              </a:solidFill>
              <a:miter lim="800000"/>
              <a:headEnd/>
              <a:tailEnd/>
            </a:ln>
          </p:spPr>
          <p:txBody>
            <a:bodyPr wrap="none" anchor="ctr"/>
            <a:lstStyle/>
            <a:p>
              <a:endParaRPr lang="en-US"/>
            </a:p>
          </p:txBody>
        </p:sp>
      </p:grpSp>
      <p:grpSp>
        <p:nvGrpSpPr>
          <p:cNvPr id="3" name="Group 15"/>
          <p:cNvGrpSpPr>
            <a:grpSpLocks/>
          </p:cNvGrpSpPr>
          <p:nvPr/>
        </p:nvGrpSpPr>
        <p:grpSpPr bwMode="auto">
          <a:xfrm>
            <a:off x="838200" y="914400"/>
            <a:ext cx="3503613" cy="5105400"/>
            <a:chOff x="3270" y="624"/>
            <a:chExt cx="2207" cy="3216"/>
          </a:xfrm>
        </p:grpSpPr>
        <p:sp>
          <p:nvSpPr>
            <p:cNvPr id="10248" name="Text Box 16"/>
            <p:cNvSpPr txBox="1">
              <a:spLocks noChangeArrowheads="1"/>
            </p:cNvSpPr>
            <p:nvPr/>
          </p:nvSpPr>
          <p:spPr bwMode="auto">
            <a:xfrm>
              <a:off x="3668" y="624"/>
              <a:ext cx="628" cy="442"/>
            </a:xfrm>
            <a:prstGeom prst="rect">
              <a:avLst/>
            </a:prstGeom>
            <a:noFill/>
            <a:ln w="9525">
              <a:noFill/>
              <a:miter lim="800000"/>
              <a:headEnd/>
              <a:tailEnd/>
            </a:ln>
          </p:spPr>
          <p:txBody>
            <a:bodyPr wrap="none" anchor="ctr">
              <a:spAutoFit/>
            </a:bodyPr>
            <a:lstStyle/>
            <a:p>
              <a:pPr algn="ctr"/>
              <a:r>
                <a:rPr lang="en-US" sz="4000">
                  <a:latin typeface="Tahoma" pitchFamily="34" charset="0"/>
                  <a:sym typeface="Symbol" pitchFamily="18" charset="2"/>
                </a:rPr>
                <a:t></a:t>
              </a:r>
              <a:r>
                <a:rPr lang="en-US" sz="2000">
                  <a:latin typeface="Tahoma" pitchFamily="34" charset="0"/>
                </a:rPr>
                <a:t>title</a:t>
              </a:r>
            </a:p>
          </p:txBody>
        </p:sp>
        <p:sp>
          <p:nvSpPr>
            <p:cNvPr id="10249" name="Text Box 17"/>
            <p:cNvSpPr txBox="1">
              <a:spLocks noChangeArrowheads="1"/>
            </p:cNvSpPr>
            <p:nvPr/>
          </p:nvSpPr>
          <p:spPr bwMode="auto">
            <a:xfrm>
              <a:off x="3270" y="1046"/>
              <a:ext cx="1376" cy="442"/>
            </a:xfrm>
            <a:prstGeom prst="rect">
              <a:avLst/>
            </a:prstGeom>
            <a:noFill/>
            <a:ln w="9525">
              <a:noFill/>
              <a:miter lim="800000"/>
              <a:headEnd/>
              <a:tailEnd/>
            </a:ln>
          </p:spPr>
          <p:txBody>
            <a:bodyPr wrap="none" anchor="ctr">
              <a:spAutoFit/>
            </a:bodyPr>
            <a:lstStyle/>
            <a:p>
              <a:pPr algn="ctr"/>
              <a:r>
                <a:rPr lang="en-US" sz="4000">
                  <a:latin typeface="Tahoma" pitchFamily="34" charset="0"/>
                  <a:sym typeface="Symbol" pitchFamily="18" charset="2"/>
                </a:rPr>
                <a:t></a:t>
              </a:r>
              <a:r>
                <a:rPr lang="en-US">
                  <a:latin typeface="Tahoma" pitchFamily="34" charset="0"/>
                </a:rPr>
                <a:t>starName=name</a:t>
              </a:r>
              <a:endParaRPr lang="en-US" sz="4000">
                <a:latin typeface="Tahoma" pitchFamily="34" charset="0"/>
                <a:sym typeface="Symbol" pitchFamily="18" charset="2"/>
              </a:endParaRPr>
            </a:p>
          </p:txBody>
        </p:sp>
        <p:sp>
          <p:nvSpPr>
            <p:cNvPr id="10250" name="Text Box 18"/>
            <p:cNvSpPr txBox="1">
              <a:spLocks noChangeArrowheads="1"/>
            </p:cNvSpPr>
            <p:nvPr/>
          </p:nvSpPr>
          <p:spPr bwMode="auto">
            <a:xfrm>
              <a:off x="3314" y="2105"/>
              <a:ext cx="1145" cy="288"/>
            </a:xfrm>
            <a:prstGeom prst="rect">
              <a:avLst/>
            </a:prstGeom>
            <a:noFill/>
            <a:ln w="9525">
              <a:noFill/>
              <a:miter lim="800000"/>
              <a:headEnd/>
              <a:tailEnd/>
            </a:ln>
          </p:spPr>
          <p:txBody>
            <a:bodyPr wrap="none" anchor="ctr">
              <a:spAutoFit/>
            </a:bodyPr>
            <a:lstStyle/>
            <a:p>
              <a:pPr algn="ctr"/>
              <a:r>
                <a:rPr lang="en-US" sz="2000">
                  <a:latin typeface="Tahoma" pitchFamily="34" charset="0"/>
                </a:rPr>
                <a:t>StarsIn</a:t>
              </a:r>
              <a:r>
                <a:rPr lang="en-US" sz="2400">
                  <a:latin typeface="Tahoma" pitchFamily="34" charset="0"/>
                </a:rPr>
                <a:t>       </a:t>
              </a:r>
              <a:r>
                <a:rPr lang="el-GR" sz="2400">
                  <a:latin typeface="Tahoma" pitchFamily="34" charset="0"/>
                  <a:cs typeface="Tahoma" pitchFamily="34" charset="0"/>
                </a:rPr>
                <a:t>δ</a:t>
              </a:r>
            </a:p>
          </p:txBody>
        </p:sp>
        <p:sp>
          <p:nvSpPr>
            <p:cNvPr id="10251" name="Text Box 19"/>
            <p:cNvSpPr txBox="1">
              <a:spLocks noChangeArrowheads="1"/>
            </p:cNvSpPr>
            <p:nvPr/>
          </p:nvSpPr>
          <p:spPr bwMode="auto">
            <a:xfrm>
              <a:off x="3696" y="2880"/>
              <a:ext cx="1781" cy="442"/>
            </a:xfrm>
            <a:prstGeom prst="rect">
              <a:avLst/>
            </a:prstGeom>
            <a:noFill/>
            <a:ln w="9525">
              <a:noFill/>
              <a:miter lim="800000"/>
              <a:headEnd/>
              <a:tailEnd/>
            </a:ln>
          </p:spPr>
          <p:txBody>
            <a:bodyPr wrap="none" anchor="ctr">
              <a:spAutoFit/>
            </a:bodyPr>
            <a:lstStyle/>
            <a:p>
              <a:pPr algn="ctr"/>
              <a:r>
                <a:rPr lang="en-US" sz="4000">
                  <a:latin typeface="Tahoma" pitchFamily="34" charset="0"/>
                  <a:sym typeface="Symbol" pitchFamily="18" charset="2"/>
                </a:rPr>
                <a:t></a:t>
              </a:r>
              <a:r>
                <a:rPr lang="en-US">
                  <a:latin typeface="Tahoma" pitchFamily="34" charset="0"/>
                </a:rPr>
                <a:t>birthdate LIKE ‘%1960’</a:t>
              </a:r>
            </a:p>
          </p:txBody>
        </p:sp>
        <p:sp>
          <p:nvSpPr>
            <p:cNvPr id="10252" name="Text Box 20"/>
            <p:cNvSpPr txBox="1">
              <a:spLocks noChangeArrowheads="1"/>
            </p:cNvSpPr>
            <p:nvPr/>
          </p:nvSpPr>
          <p:spPr bwMode="auto">
            <a:xfrm>
              <a:off x="3984" y="3552"/>
              <a:ext cx="872" cy="288"/>
            </a:xfrm>
            <a:prstGeom prst="rect">
              <a:avLst/>
            </a:prstGeom>
            <a:noFill/>
            <a:ln w="9525">
              <a:noFill/>
              <a:miter lim="800000"/>
              <a:headEnd/>
              <a:tailEnd/>
            </a:ln>
          </p:spPr>
          <p:txBody>
            <a:bodyPr wrap="none" anchor="ctr">
              <a:spAutoFit/>
            </a:bodyPr>
            <a:lstStyle/>
            <a:p>
              <a:pPr algn="ctr"/>
              <a:r>
                <a:rPr lang="en-US" sz="2400">
                  <a:latin typeface="Tahoma" pitchFamily="34" charset="0"/>
                </a:rPr>
                <a:t> </a:t>
              </a:r>
              <a:r>
                <a:rPr lang="en-US" sz="2000">
                  <a:latin typeface="Tahoma" pitchFamily="34" charset="0"/>
                </a:rPr>
                <a:t>MovieStar</a:t>
              </a:r>
            </a:p>
          </p:txBody>
        </p:sp>
        <p:sp>
          <p:nvSpPr>
            <p:cNvPr id="10253" name="Line 21"/>
            <p:cNvSpPr>
              <a:spLocks noChangeShapeType="1"/>
            </p:cNvSpPr>
            <p:nvPr/>
          </p:nvSpPr>
          <p:spPr bwMode="auto">
            <a:xfrm>
              <a:off x="3954" y="1012"/>
              <a:ext cx="0" cy="254"/>
            </a:xfrm>
            <a:prstGeom prst="line">
              <a:avLst/>
            </a:prstGeom>
            <a:noFill/>
            <a:ln w="9525">
              <a:solidFill>
                <a:schemeClr val="tx1"/>
              </a:solidFill>
              <a:round/>
              <a:headEnd/>
              <a:tailEnd/>
            </a:ln>
          </p:spPr>
          <p:txBody>
            <a:bodyPr wrap="none" anchor="ctr"/>
            <a:lstStyle/>
            <a:p>
              <a:endParaRPr lang="en-US"/>
            </a:p>
          </p:txBody>
        </p:sp>
        <p:sp>
          <p:nvSpPr>
            <p:cNvPr id="10254" name="Line 22"/>
            <p:cNvSpPr>
              <a:spLocks noChangeShapeType="1"/>
            </p:cNvSpPr>
            <p:nvPr/>
          </p:nvSpPr>
          <p:spPr bwMode="auto">
            <a:xfrm flipH="1">
              <a:off x="3975" y="1433"/>
              <a:ext cx="1" cy="218"/>
            </a:xfrm>
            <a:prstGeom prst="line">
              <a:avLst/>
            </a:prstGeom>
            <a:noFill/>
            <a:ln w="9525">
              <a:solidFill>
                <a:schemeClr val="tx1"/>
              </a:solidFill>
              <a:round/>
              <a:headEnd/>
              <a:tailEnd/>
            </a:ln>
          </p:spPr>
          <p:txBody>
            <a:bodyPr wrap="none" anchor="ctr"/>
            <a:lstStyle/>
            <a:p>
              <a:endParaRPr lang="en-US"/>
            </a:p>
          </p:txBody>
        </p:sp>
        <p:sp>
          <p:nvSpPr>
            <p:cNvPr id="10255" name="Line 23"/>
            <p:cNvSpPr>
              <a:spLocks noChangeShapeType="1"/>
            </p:cNvSpPr>
            <p:nvPr/>
          </p:nvSpPr>
          <p:spPr bwMode="auto">
            <a:xfrm>
              <a:off x="4412" y="2394"/>
              <a:ext cx="0" cy="291"/>
            </a:xfrm>
            <a:prstGeom prst="line">
              <a:avLst/>
            </a:prstGeom>
            <a:noFill/>
            <a:ln w="9525">
              <a:solidFill>
                <a:schemeClr val="tx1"/>
              </a:solidFill>
              <a:round/>
              <a:headEnd/>
              <a:tailEnd/>
            </a:ln>
          </p:spPr>
          <p:txBody>
            <a:bodyPr wrap="none" anchor="ctr"/>
            <a:lstStyle/>
            <a:p>
              <a:endParaRPr lang="en-US"/>
            </a:p>
          </p:txBody>
        </p:sp>
        <p:sp>
          <p:nvSpPr>
            <p:cNvPr id="10256" name="Line 24"/>
            <p:cNvSpPr>
              <a:spLocks noChangeShapeType="1"/>
            </p:cNvSpPr>
            <p:nvPr/>
          </p:nvSpPr>
          <p:spPr bwMode="auto">
            <a:xfrm>
              <a:off x="4416" y="3216"/>
              <a:ext cx="0" cy="334"/>
            </a:xfrm>
            <a:prstGeom prst="line">
              <a:avLst/>
            </a:prstGeom>
            <a:noFill/>
            <a:ln w="9525">
              <a:solidFill>
                <a:schemeClr val="tx1"/>
              </a:solidFill>
              <a:round/>
              <a:headEnd/>
              <a:tailEnd/>
            </a:ln>
          </p:spPr>
          <p:txBody>
            <a:bodyPr wrap="none" anchor="ctr"/>
            <a:lstStyle/>
            <a:p>
              <a:endParaRPr lang="en-US"/>
            </a:p>
          </p:txBody>
        </p:sp>
        <p:sp>
          <p:nvSpPr>
            <p:cNvPr id="10257" name="Text Box 25"/>
            <p:cNvSpPr txBox="1">
              <a:spLocks noChangeArrowheads="1"/>
            </p:cNvSpPr>
            <p:nvPr/>
          </p:nvSpPr>
          <p:spPr bwMode="auto">
            <a:xfrm>
              <a:off x="3825" y="1526"/>
              <a:ext cx="292" cy="442"/>
            </a:xfrm>
            <a:prstGeom prst="rect">
              <a:avLst/>
            </a:prstGeom>
            <a:noFill/>
            <a:ln w="9525">
              <a:noFill/>
              <a:miter lim="800000"/>
              <a:headEnd/>
              <a:tailEnd/>
            </a:ln>
          </p:spPr>
          <p:txBody>
            <a:bodyPr wrap="none" anchor="ctr">
              <a:spAutoFit/>
            </a:bodyPr>
            <a:lstStyle/>
            <a:p>
              <a:pPr algn="ctr"/>
              <a:r>
                <a:rPr lang="en-US" sz="4000" b="1">
                  <a:latin typeface="Tahoma" pitchFamily="34" charset="0"/>
                  <a:sym typeface="Symbol" pitchFamily="18" charset="2"/>
                </a:rPr>
                <a:t></a:t>
              </a:r>
              <a:endParaRPr lang="en-US" sz="2400">
                <a:latin typeface="Tahoma" pitchFamily="34" charset="0"/>
              </a:endParaRPr>
            </a:p>
          </p:txBody>
        </p:sp>
        <p:sp>
          <p:nvSpPr>
            <p:cNvPr id="10258" name="Line 26"/>
            <p:cNvSpPr>
              <a:spLocks noChangeShapeType="1"/>
            </p:cNvSpPr>
            <p:nvPr/>
          </p:nvSpPr>
          <p:spPr bwMode="auto">
            <a:xfrm flipH="1">
              <a:off x="3518" y="1855"/>
              <a:ext cx="335" cy="284"/>
            </a:xfrm>
            <a:prstGeom prst="line">
              <a:avLst/>
            </a:prstGeom>
            <a:noFill/>
            <a:ln w="9525">
              <a:solidFill>
                <a:schemeClr val="tx1"/>
              </a:solidFill>
              <a:round/>
              <a:headEnd/>
              <a:tailEnd/>
            </a:ln>
          </p:spPr>
          <p:txBody>
            <a:bodyPr wrap="none" anchor="ctr"/>
            <a:lstStyle/>
            <a:p>
              <a:endParaRPr lang="en-US"/>
            </a:p>
          </p:txBody>
        </p:sp>
        <p:sp>
          <p:nvSpPr>
            <p:cNvPr id="10259" name="Line 27"/>
            <p:cNvSpPr>
              <a:spLocks noChangeShapeType="1"/>
            </p:cNvSpPr>
            <p:nvPr/>
          </p:nvSpPr>
          <p:spPr bwMode="auto">
            <a:xfrm>
              <a:off x="4064" y="1899"/>
              <a:ext cx="327" cy="189"/>
            </a:xfrm>
            <a:prstGeom prst="line">
              <a:avLst/>
            </a:prstGeom>
            <a:noFill/>
            <a:ln w="9525">
              <a:solidFill>
                <a:schemeClr val="tx1"/>
              </a:solidFill>
              <a:round/>
              <a:headEnd/>
              <a:tailEnd/>
            </a:ln>
          </p:spPr>
          <p:txBody>
            <a:bodyPr wrap="none" anchor="ctr"/>
            <a:lstStyle/>
            <a:p>
              <a:endParaRPr lang="en-US"/>
            </a:p>
          </p:txBody>
        </p:sp>
        <p:sp>
          <p:nvSpPr>
            <p:cNvPr id="10260" name="Text Box 28"/>
            <p:cNvSpPr txBox="1">
              <a:spLocks noChangeArrowheads="1"/>
            </p:cNvSpPr>
            <p:nvPr/>
          </p:nvSpPr>
          <p:spPr bwMode="auto">
            <a:xfrm>
              <a:off x="4128" y="2544"/>
              <a:ext cx="679" cy="327"/>
            </a:xfrm>
            <a:prstGeom prst="rect">
              <a:avLst/>
            </a:prstGeom>
            <a:noFill/>
            <a:ln w="9525">
              <a:noFill/>
              <a:miter lim="800000"/>
              <a:headEnd/>
              <a:tailEnd/>
            </a:ln>
          </p:spPr>
          <p:txBody>
            <a:bodyPr wrap="none" anchor="ctr">
              <a:spAutoFit/>
            </a:bodyPr>
            <a:lstStyle/>
            <a:p>
              <a:pPr algn="ctr"/>
              <a:r>
                <a:rPr lang="en-US" sz="2800">
                  <a:latin typeface="Tahoma" pitchFamily="34" charset="0"/>
                  <a:sym typeface="Symbol" pitchFamily="18" charset="2"/>
                </a:rPr>
                <a:t></a:t>
              </a:r>
              <a:r>
                <a:rPr lang="en-US" sz="2000">
                  <a:latin typeface="Tahoma" pitchFamily="34" charset="0"/>
                </a:rPr>
                <a:t>name</a:t>
              </a:r>
            </a:p>
          </p:txBody>
        </p:sp>
        <p:sp>
          <p:nvSpPr>
            <p:cNvPr id="10261" name="Line 29"/>
            <p:cNvSpPr>
              <a:spLocks noChangeShapeType="1"/>
            </p:cNvSpPr>
            <p:nvPr/>
          </p:nvSpPr>
          <p:spPr bwMode="auto">
            <a:xfrm>
              <a:off x="4416" y="2784"/>
              <a:ext cx="0" cy="240"/>
            </a:xfrm>
            <a:prstGeom prst="line">
              <a:avLst/>
            </a:prstGeom>
            <a:noFill/>
            <a:ln w="9525">
              <a:solidFill>
                <a:schemeClr val="tx1"/>
              </a:solidFill>
              <a:round/>
              <a:headEnd/>
              <a:tailEnd/>
            </a:ln>
          </p:spPr>
          <p:txBody>
            <a:bodyPr/>
            <a:lstStyle/>
            <a:p>
              <a:endParaRPr lang="en-US"/>
            </a:p>
          </p:txBody>
        </p:sp>
      </p:grpSp>
      <p:sp>
        <p:nvSpPr>
          <p:cNvPr id="38942" name="AutoShape 30"/>
          <p:cNvSpPr>
            <a:spLocks/>
          </p:cNvSpPr>
          <p:nvPr/>
        </p:nvSpPr>
        <p:spPr bwMode="auto">
          <a:xfrm>
            <a:off x="3124200" y="1981200"/>
            <a:ext cx="381000" cy="1066800"/>
          </a:xfrm>
          <a:prstGeom prst="rightBrace">
            <a:avLst>
              <a:gd name="adj1" fmla="val 23333"/>
              <a:gd name="adj2" fmla="val 50000"/>
            </a:avLst>
          </a:prstGeom>
          <a:noFill/>
          <a:ln w="44450">
            <a:solidFill>
              <a:srgbClr val="CC3300"/>
            </a:solidFill>
            <a:round/>
            <a:headEnd/>
            <a:tailEnd/>
          </a:ln>
        </p:spPr>
        <p:txBody>
          <a:bodyPr wrap="none" anchor="ctr"/>
          <a:lstStyle/>
          <a:p>
            <a:pPr algn="ctr" eaLnBrk="0" hangingPunct="0"/>
            <a:endParaRPr lang="en-US">
              <a:solidFill>
                <a:srgbClr val="CC3300"/>
              </a:solidFill>
            </a:endParaRPr>
          </a:p>
        </p:txBody>
      </p:sp>
      <p:sp>
        <p:nvSpPr>
          <p:cNvPr id="38943" name="Line 31"/>
          <p:cNvSpPr>
            <a:spLocks noChangeShapeType="1"/>
          </p:cNvSpPr>
          <p:nvPr/>
        </p:nvSpPr>
        <p:spPr bwMode="auto">
          <a:xfrm>
            <a:off x="3581400" y="2514600"/>
            <a:ext cx="2133600" cy="0"/>
          </a:xfrm>
          <a:prstGeom prst="line">
            <a:avLst/>
          </a:prstGeom>
          <a:noFill/>
          <a:ln w="44450">
            <a:solidFill>
              <a:srgbClr val="CC3300"/>
            </a:solidFill>
            <a:round/>
            <a:headEnd/>
            <a:tailEnd type="triangle" w="med" len="med"/>
          </a:ln>
        </p:spPr>
        <p:txBody>
          <a:bodyPr/>
          <a:lstStyle/>
          <a:p>
            <a:endParaRPr lang="en-US"/>
          </a:p>
        </p:txBody>
      </p:sp>
      <p:sp>
        <p:nvSpPr>
          <p:cNvPr id="38944" name="AutoShape 32"/>
          <p:cNvSpPr>
            <a:spLocks noChangeArrowheads="1"/>
          </p:cNvSpPr>
          <p:nvPr/>
        </p:nvSpPr>
        <p:spPr bwMode="auto">
          <a:xfrm>
            <a:off x="2895600" y="3276600"/>
            <a:ext cx="976313" cy="485775"/>
          </a:xfrm>
          <a:prstGeom prst="leftArrow">
            <a:avLst>
              <a:gd name="adj1" fmla="val 50000"/>
              <a:gd name="adj2" fmla="val 50245"/>
            </a:avLst>
          </a:prstGeom>
          <a:solidFill>
            <a:srgbClr val="CC3300"/>
          </a:solidFill>
          <a:ln w="9525">
            <a:solidFill>
              <a:schemeClr val="tx1"/>
            </a:solidFill>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9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38942"/>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38943"/>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389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42" grpId="0" animBg="1"/>
      <p:bldP spid="38942" grpId="1" animBg="1"/>
      <p:bldP spid="38943" grpId="0" animBg="1"/>
      <p:bldP spid="38943" grpId="1" animBg="1"/>
      <p:bldP spid="3894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Date Placeholder 3"/>
          <p:cNvSpPr>
            <a:spLocks noGrp="1"/>
          </p:cNvSpPr>
          <p:nvPr>
            <p:ph type="dt" sz="quarter" idx="10"/>
          </p:nvPr>
        </p:nvSpPr>
        <p:spPr/>
        <p:txBody>
          <a:bodyPr/>
          <a:lstStyle/>
          <a:p>
            <a:pPr>
              <a:defRPr/>
            </a:pPr>
            <a:r>
              <a:rPr lang="en-US" smtClean="0"/>
              <a:t>ICS 424 - 01 (072)</a:t>
            </a:r>
          </a:p>
        </p:txBody>
      </p:sp>
      <p:sp>
        <p:nvSpPr>
          <p:cNvPr id="13315" name="Footer Placeholder 4"/>
          <p:cNvSpPr>
            <a:spLocks noGrp="1"/>
          </p:cNvSpPr>
          <p:nvPr>
            <p:ph type="ftr" sz="quarter" idx="11"/>
          </p:nvPr>
        </p:nvSpPr>
        <p:spPr/>
        <p:txBody>
          <a:bodyPr/>
          <a:lstStyle/>
          <a:p>
            <a:pPr>
              <a:defRPr/>
            </a:pPr>
            <a:r>
              <a:rPr lang="en-US" smtClean="0"/>
              <a:t>Query Processing and Optimization</a:t>
            </a:r>
          </a:p>
        </p:txBody>
      </p:sp>
      <p:sp>
        <p:nvSpPr>
          <p:cNvPr id="13316" name="Slide Number Placeholder 5"/>
          <p:cNvSpPr>
            <a:spLocks noGrp="1"/>
          </p:cNvSpPr>
          <p:nvPr>
            <p:ph type="sldNum" sz="quarter" idx="12"/>
          </p:nvPr>
        </p:nvSpPr>
        <p:spPr/>
        <p:txBody>
          <a:bodyPr/>
          <a:lstStyle/>
          <a:p>
            <a:pPr>
              <a:defRPr/>
            </a:pPr>
            <a:fld id="{B1B86FBC-5B21-4E55-A8FB-B0A1FF1A2704}" type="slidenum">
              <a:rPr lang="ar-SA" smtClean="0"/>
              <a:pPr>
                <a:defRPr/>
              </a:pPr>
              <a:t>32</a:t>
            </a:fld>
            <a:endParaRPr lang="en-US" smtClean="0"/>
          </a:p>
        </p:txBody>
      </p:sp>
      <p:sp>
        <p:nvSpPr>
          <p:cNvPr id="13317" name="Rectangle 2"/>
          <p:cNvSpPr>
            <a:spLocks noGrp="1" noChangeArrowheads="1"/>
          </p:cNvSpPr>
          <p:nvPr>
            <p:ph type="title"/>
          </p:nvPr>
        </p:nvSpPr>
        <p:spPr/>
        <p:txBody>
          <a:bodyPr/>
          <a:lstStyle/>
          <a:p>
            <a:pPr eaLnBrk="1" hangingPunct="1"/>
            <a:r>
              <a:rPr lang="en-US" smtClean="0"/>
              <a:t>SQL Queries and Relational Algebra </a:t>
            </a:r>
            <a:r>
              <a:rPr lang="en-US" sz="2000" smtClean="0"/>
              <a:t>(1)</a:t>
            </a:r>
          </a:p>
        </p:txBody>
      </p:sp>
      <p:sp>
        <p:nvSpPr>
          <p:cNvPr id="13318" name="Rectangle 3"/>
          <p:cNvSpPr>
            <a:spLocks noGrp="1" noChangeArrowheads="1"/>
          </p:cNvSpPr>
          <p:nvPr>
            <p:ph type="body" idx="1"/>
          </p:nvPr>
        </p:nvSpPr>
        <p:spPr>
          <a:xfrm>
            <a:off x="685800" y="1143000"/>
            <a:ext cx="7772400" cy="4572000"/>
          </a:xfrm>
        </p:spPr>
        <p:txBody>
          <a:bodyPr>
            <a:normAutofit fontScale="92500"/>
          </a:bodyPr>
          <a:lstStyle/>
          <a:p>
            <a:pPr eaLnBrk="1" hangingPunct="1"/>
            <a:r>
              <a:rPr lang="en-US" smtClean="0"/>
              <a:t>Example</a:t>
            </a:r>
          </a:p>
          <a:p>
            <a:pPr eaLnBrk="1" hangingPunct="1">
              <a:buFontTx/>
              <a:buNone/>
            </a:pPr>
            <a:r>
              <a:rPr lang="en-US" smtClean="0"/>
              <a:t>	</a:t>
            </a:r>
            <a:r>
              <a:rPr lang="en-US" smtClean="0">
                <a:latin typeface="Arial" charset="0"/>
              </a:rPr>
              <a:t>SELECT	Lname, Fname</a:t>
            </a:r>
          </a:p>
          <a:p>
            <a:pPr eaLnBrk="1" hangingPunct="1">
              <a:buFontTx/>
              <a:buNone/>
            </a:pPr>
            <a:r>
              <a:rPr lang="en-US" smtClean="0">
                <a:latin typeface="Arial" charset="0"/>
              </a:rPr>
              <a:t>	FROM EMPLOYEE</a:t>
            </a:r>
          </a:p>
          <a:p>
            <a:pPr eaLnBrk="1" hangingPunct="1">
              <a:buFontTx/>
              <a:buNone/>
            </a:pPr>
            <a:r>
              <a:rPr lang="en-US" smtClean="0">
                <a:latin typeface="Arial" charset="0"/>
              </a:rPr>
              <a:t>	WHERE Salary &gt; ( SELECT MAX(Salary)</a:t>
            </a:r>
          </a:p>
          <a:p>
            <a:pPr eaLnBrk="1" hangingPunct="1">
              <a:buFontTx/>
              <a:buNone/>
            </a:pPr>
            <a:r>
              <a:rPr lang="en-US" smtClean="0">
                <a:latin typeface="Arial" charset="0"/>
              </a:rPr>
              <a:t>				   FROM EMPLOYEE</a:t>
            </a:r>
          </a:p>
          <a:p>
            <a:pPr eaLnBrk="1" hangingPunct="1">
              <a:buFontTx/>
              <a:buNone/>
            </a:pPr>
            <a:r>
              <a:rPr lang="en-US" smtClean="0">
                <a:latin typeface="Arial" charset="0"/>
              </a:rPr>
              <a:t>				   WHERE Dno = 5	)	</a:t>
            </a:r>
          </a:p>
          <a:p>
            <a:pPr eaLnBrk="1" hangingPunct="1"/>
            <a:r>
              <a:rPr lang="en-US" smtClean="0">
                <a:cs typeface="Times New Roman" pitchFamily="18" charset="0"/>
              </a:rPr>
              <a:t>Inner block and outer block	</a:t>
            </a:r>
            <a:r>
              <a:rPr lang="en-US" smtClean="0">
                <a:latin typeface="Arial" charset="0"/>
              </a:rPr>
              <a:t>			</a:t>
            </a:r>
          </a:p>
          <a:p>
            <a:pPr eaLnBrk="1" hangingPunct="1">
              <a:buFontTx/>
              <a:buNone/>
            </a:pPr>
            <a:endParaRPr lang="en-US"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Date Placeholder 3"/>
          <p:cNvSpPr>
            <a:spLocks noGrp="1"/>
          </p:cNvSpPr>
          <p:nvPr>
            <p:ph type="dt" sz="quarter" idx="10"/>
          </p:nvPr>
        </p:nvSpPr>
        <p:spPr/>
        <p:txBody>
          <a:bodyPr/>
          <a:lstStyle/>
          <a:p>
            <a:pPr>
              <a:defRPr/>
            </a:pPr>
            <a:r>
              <a:rPr lang="en-US" smtClean="0"/>
              <a:t>ICS 424 - 01 (072)</a:t>
            </a:r>
          </a:p>
        </p:txBody>
      </p:sp>
      <p:sp>
        <p:nvSpPr>
          <p:cNvPr id="14339" name="Footer Placeholder 4"/>
          <p:cNvSpPr>
            <a:spLocks noGrp="1"/>
          </p:cNvSpPr>
          <p:nvPr>
            <p:ph type="ftr" sz="quarter" idx="11"/>
          </p:nvPr>
        </p:nvSpPr>
        <p:spPr/>
        <p:txBody>
          <a:bodyPr/>
          <a:lstStyle/>
          <a:p>
            <a:pPr>
              <a:defRPr/>
            </a:pPr>
            <a:r>
              <a:rPr lang="en-US" smtClean="0"/>
              <a:t>Query Processing and Optimization</a:t>
            </a:r>
          </a:p>
        </p:txBody>
      </p:sp>
      <p:sp>
        <p:nvSpPr>
          <p:cNvPr id="14340" name="Slide Number Placeholder 5"/>
          <p:cNvSpPr>
            <a:spLocks noGrp="1"/>
          </p:cNvSpPr>
          <p:nvPr>
            <p:ph type="sldNum" sz="quarter" idx="12"/>
          </p:nvPr>
        </p:nvSpPr>
        <p:spPr/>
        <p:txBody>
          <a:bodyPr/>
          <a:lstStyle/>
          <a:p>
            <a:pPr>
              <a:defRPr/>
            </a:pPr>
            <a:fld id="{BF921FD4-8DCF-4E2C-A955-8CAC5100826C}" type="slidenum">
              <a:rPr lang="ar-SA" smtClean="0"/>
              <a:pPr>
                <a:defRPr/>
              </a:pPr>
              <a:t>33</a:t>
            </a:fld>
            <a:endParaRPr lang="en-US" smtClean="0"/>
          </a:p>
        </p:txBody>
      </p:sp>
      <p:sp>
        <p:nvSpPr>
          <p:cNvPr id="14341" name="Rectangle 2"/>
          <p:cNvSpPr>
            <a:spLocks noGrp="1" noChangeArrowheads="1"/>
          </p:cNvSpPr>
          <p:nvPr>
            <p:ph type="title"/>
          </p:nvPr>
        </p:nvSpPr>
        <p:spPr/>
        <p:txBody>
          <a:bodyPr/>
          <a:lstStyle/>
          <a:p>
            <a:pPr eaLnBrk="1" hangingPunct="1"/>
            <a:r>
              <a:rPr lang="en-US" sz="2800" smtClean="0"/>
              <a:t>Translating SQL Queries into Relational Algebra</a:t>
            </a:r>
          </a:p>
        </p:txBody>
      </p:sp>
      <p:sp>
        <p:nvSpPr>
          <p:cNvPr id="14342" name="Rectangle 3"/>
          <p:cNvSpPr>
            <a:spLocks noGrp="1" noChangeArrowheads="1"/>
          </p:cNvSpPr>
          <p:nvPr>
            <p:ph type="body" idx="1"/>
          </p:nvPr>
        </p:nvSpPr>
        <p:spPr>
          <a:xfrm>
            <a:off x="762000" y="1295400"/>
            <a:ext cx="7912100" cy="1676400"/>
          </a:xfrm>
          <a:ln>
            <a:solidFill>
              <a:schemeClr val="tx1"/>
            </a:solidFill>
          </a:ln>
        </p:spPr>
        <p:txBody>
          <a:bodyPr>
            <a:normAutofit lnSpcReduction="10000"/>
          </a:bodyPr>
          <a:lstStyle/>
          <a:p>
            <a:pPr marL="0" indent="0" eaLnBrk="1" hangingPunct="1">
              <a:lnSpc>
                <a:spcPct val="90000"/>
              </a:lnSpc>
              <a:buClr>
                <a:srgbClr val="FF0000"/>
              </a:buClr>
              <a:buFont typeface="Wingdings" pitchFamily="2" charset="2"/>
              <a:buNone/>
            </a:pPr>
            <a:r>
              <a:rPr lang="en-US" sz="2000" b="1" dirty="0" smtClean="0"/>
              <a:t>SELECT</a:t>
            </a:r>
            <a:r>
              <a:rPr lang="en-US" sz="2000" dirty="0" smtClean="0"/>
              <a:t> 	LNAME, FNAME</a:t>
            </a:r>
          </a:p>
          <a:p>
            <a:pPr marL="0" indent="0" eaLnBrk="1" hangingPunct="1">
              <a:lnSpc>
                <a:spcPct val="90000"/>
              </a:lnSpc>
              <a:buClr>
                <a:srgbClr val="FF0000"/>
              </a:buClr>
              <a:buFont typeface="Wingdings" pitchFamily="2" charset="2"/>
              <a:buNone/>
            </a:pPr>
            <a:r>
              <a:rPr lang="en-US" sz="2000" b="1" dirty="0" smtClean="0"/>
              <a:t>FROM</a:t>
            </a:r>
            <a:r>
              <a:rPr lang="en-US" sz="2000" dirty="0" smtClean="0"/>
              <a:t> 		EMPLOYEE</a:t>
            </a:r>
          </a:p>
          <a:p>
            <a:pPr marL="0" indent="0" eaLnBrk="1" hangingPunct="1">
              <a:lnSpc>
                <a:spcPct val="90000"/>
              </a:lnSpc>
              <a:buClr>
                <a:srgbClr val="FF0000"/>
              </a:buClr>
              <a:buFont typeface="Wingdings" pitchFamily="2" charset="2"/>
              <a:buNone/>
            </a:pPr>
            <a:r>
              <a:rPr lang="en-US" sz="2000" b="1" dirty="0" smtClean="0"/>
              <a:t>WHERE</a:t>
            </a:r>
            <a:r>
              <a:rPr lang="en-US" sz="2000" dirty="0" smtClean="0"/>
              <a:t> 	&gt; (	</a:t>
            </a:r>
            <a:r>
              <a:rPr lang="en-US" sz="2000" b="1" dirty="0" smtClean="0"/>
              <a:t>SELECT</a:t>
            </a:r>
            <a:r>
              <a:rPr lang="en-US" sz="2000" dirty="0" smtClean="0"/>
              <a:t> 	MAX (SALARY)</a:t>
            </a:r>
          </a:p>
          <a:p>
            <a:pPr marL="0" indent="0">
              <a:lnSpc>
                <a:spcPct val="90000"/>
              </a:lnSpc>
              <a:buClr>
                <a:srgbClr val="FF0000"/>
              </a:buClr>
              <a:buNone/>
            </a:pPr>
            <a:r>
              <a:rPr lang="en-US" sz="2000" dirty="0" smtClean="0"/>
              <a:t>	SALARY 			</a:t>
            </a:r>
            <a:r>
              <a:rPr lang="en-US" sz="2000" b="1" dirty="0" smtClean="0"/>
              <a:t>FROM</a:t>
            </a:r>
            <a:r>
              <a:rPr lang="en-US" sz="2000" dirty="0" smtClean="0"/>
              <a:t>		EMPLOYEE</a:t>
            </a:r>
          </a:p>
          <a:p>
            <a:pPr marL="0" indent="0" eaLnBrk="1" hangingPunct="1">
              <a:lnSpc>
                <a:spcPct val="90000"/>
              </a:lnSpc>
              <a:buClr>
                <a:srgbClr val="FF0000"/>
              </a:buClr>
              <a:buFont typeface="Wingdings" pitchFamily="2" charset="2"/>
              <a:buNone/>
            </a:pPr>
            <a:r>
              <a:rPr lang="en-US" sz="2000" dirty="0" smtClean="0"/>
              <a:t>				</a:t>
            </a:r>
            <a:r>
              <a:rPr lang="en-US" sz="2000" b="1" dirty="0" smtClean="0"/>
              <a:t>WHERE</a:t>
            </a:r>
            <a:r>
              <a:rPr lang="en-US" sz="2000" dirty="0" smtClean="0"/>
              <a:t> 	DNO = 5);</a:t>
            </a:r>
          </a:p>
        </p:txBody>
      </p:sp>
      <p:sp>
        <p:nvSpPr>
          <p:cNvPr id="14343" name="Text Box 4"/>
          <p:cNvSpPr txBox="1">
            <a:spLocks noChangeArrowheads="1"/>
          </p:cNvSpPr>
          <p:nvPr/>
        </p:nvSpPr>
        <p:spPr bwMode="auto">
          <a:xfrm>
            <a:off x="4876800" y="3810000"/>
            <a:ext cx="4025900" cy="1046163"/>
          </a:xfrm>
          <a:prstGeom prst="rect">
            <a:avLst/>
          </a:prstGeom>
          <a:noFill/>
          <a:ln w="9525">
            <a:solidFill>
              <a:schemeClr val="bg2"/>
            </a:solidFill>
            <a:miter lim="800000"/>
            <a:headEnd/>
            <a:tailEnd/>
          </a:ln>
        </p:spPr>
        <p:txBody>
          <a:bodyPr>
            <a:spAutoFit/>
          </a:bodyPr>
          <a:lstStyle/>
          <a:p>
            <a:pPr>
              <a:lnSpc>
                <a:spcPct val="90000"/>
              </a:lnSpc>
              <a:spcBef>
                <a:spcPct val="20000"/>
              </a:spcBef>
              <a:buClr>
                <a:srgbClr val="FF0000"/>
              </a:buClr>
              <a:buFont typeface="Wingdings" pitchFamily="2" charset="2"/>
              <a:buNone/>
            </a:pPr>
            <a:r>
              <a:rPr lang="en-US" sz="2000" b="1" dirty="0"/>
              <a:t>SELECT</a:t>
            </a:r>
            <a:r>
              <a:rPr lang="en-US" sz="2000" dirty="0"/>
              <a:t>	MAX (SALARY)</a:t>
            </a:r>
          </a:p>
          <a:p>
            <a:pPr>
              <a:lnSpc>
                <a:spcPct val="90000"/>
              </a:lnSpc>
              <a:spcBef>
                <a:spcPct val="20000"/>
              </a:spcBef>
              <a:buClr>
                <a:srgbClr val="FF0000"/>
              </a:buClr>
              <a:buFont typeface="Wingdings" pitchFamily="2" charset="2"/>
              <a:buNone/>
            </a:pPr>
            <a:r>
              <a:rPr lang="en-US" sz="2000" b="1" dirty="0"/>
              <a:t>FROM</a:t>
            </a:r>
            <a:r>
              <a:rPr lang="en-US" sz="2000" dirty="0"/>
              <a:t>		EMPLOYEE</a:t>
            </a:r>
          </a:p>
          <a:p>
            <a:pPr>
              <a:lnSpc>
                <a:spcPct val="90000"/>
              </a:lnSpc>
              <a:spcBef>
                <a:spcPct val="20000"/>
              </a:spcBef>
              <a:buClr>
                <a:srgbClr val="FF0000"/>
              </a:buClr>
              <a:buFont typeface="Wingdings" pitchFamily="2" charset="2"/>
              <a:buNone/>
            </a:pPr>
            <a:r>
              <a:rPr lang="en-US" sz="2000" b="1" dirty="0"/>
              <a:t>WHERE</a:t>
            </a:r>
            <a:r>
              <a:rPr lang="en-US" sz="2000" dirty="0"/>
              <a:t> 	DNO = 5</a:t>
            </a:r>
          </a:p>
        </p:txBody>
      </p:sp>
      <p:sp>
        <p:nvSpPr>
          <p:cNvPr id="14344" name="Text Box 5"/>
          <p:cNvSpPr txBox="1">
            <a:spLocks noChangeArrowheads="1"/>
          </p:cNvSpPr>
          <p:nvPr/>
        </p:nvSpPr>
        <p:spPr bwMode="auto">
          <a:xfrm>
            <a:off x="533400" y="3810000"/>
            <a:ext cx="4140200" cy="1136650"/>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20000"/>
              </a:spcBef>
              <a:buClr>
                <a:srgbClr val="FF0000"/>
              </a:buClr>
              <a:buFont typeface="Wingdings" pitchFamily="2" charset="2"/>
              <a:buNone/>
            </a:pPr>
            <a:r>
              <a:rPr lang="en-US" sz="2000" b="1" dirty="0" smtClean="0">
                <a:solidFill>
                  <a:schemeClr val="tx1"/>
                </a:solidFill>
              </a:rPr>
              <a:t>SELECT</a:t>
            </a:r>
            <a:r>
              <a:rPr lang="en-US" sz="2000" dirty="0" smtClean="0">
                <a:solidFill>
                  <a:schemeClr val="tx1"/>
                </a:solidFill>
              </a:rPr>
              <a:t> </a:t>
            </a:r>
            <a:r>
              <a:rPr lang="en-US" sz="2000" dirty="0">
                <a:solidFill>
                  <a:schemeClr val="tx1"/>
                </a:solidFill>
              </a:rPr>
              <a:t>	LNAME, FNAME</a:t>
            </a:r>
          </a:p>
          <a:p>
            <a:pPr>
              <a:spcBef>
                <a:spcPct val="20000"/>
              </a:spcBef>
              <a:buClr>
                <a:srgbClr val="FF0000"/>
              </a:buClr>
              <a:buFont typeface="Wingdings" pitchFamily="2" charset="2"/>
              <a:buNone/>
            </a:pPr>
            <a:r>
              <a:rPr lang="en-US" sz="2000" b="1" dirty="0" smtClean="0">
                <a:solidFill>
                  <a:schemeClr val="tx1"/>
                </a:solidFill>
              </a:rPr>
              <a:t>FROM</a:t>
            </a:r>
            <a:r>
              <a:rPr lang="en-US" sz="2000" dirty="0" smtClean="0">
                <a:solidFill>
                  <a:schemeClr val="tx1"/>
                </a:solidFill>
              </a:rPr>
              <a:t> </a:t>
            </a:r>
            <a:r>
              <a:rPr lang="en-US" sz="2000" dirty="0">
                <a:solidFill>
                  <a:schemeClr val="tx1"/>
                </a:solidFill>
              </a:rPr>
              <a:t>		EMPLOYEE</a:t>
            </a:r>
          </a:p>
          <a:p>
            <a:pPr>
              <a:spcBef>
                <a:spcPct val="20000"/>
              </a:spcBef>
              <a:buClr>
                <a:srgbClr val="FF0000"/>
              </a:buClr>
              <a:buFont typeface="Wingdings" pitchFamily="2" charset="2"/>
              <a:buNone/>
            </a:pPr>
            <a:r>
              <a:rPr lang="en-US" sz="2000" b="1" dirty="0">
                <a:solidFill>
                  <a:schemeClr val="tx1"/>
                </a:solidFill>
              </a:rPr>
              <a:t>WHERE</a:t>
            </a:r>
            <a:r>
              <a:rPr lang="en-US" sz="2000" dirty="0">
                <a:solidFill>
                  <a:schemeClr val="tx1"/>
                </a:solidFill>
              </a:rPr>
              <a:t> 	SALARY &gt; C</a:t>
            </a:r>
          </a:p>
        </p:txBody>
      </p:sp>
      <p:sp>
        <p:nvSpPr>
          <p:cNvPr id="14345" name="Line 7"/>
          <p:cNvSpPr>
            <a:spLocks noChangeShapeType="1"/>
          </p:cNvSpPr>
          <p:nvPr/>
        </p:nvSpPr>
        <p:spPr bwMode="auto">
          <a:xfrm>
            <a:off x="2514600" y="3276600"/>
            <a:ext cx="4191000" cy="1588"/>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lstStyle/>
          <a:p>
            <a:endParaRPr lang="en-US"/>
          </a:p>
        </p:txBody>
      </p:sp>
      <p:sp>
        <p:nvSpPr>
          <p:cNvPr id="14346" name="Line 8"/>
          <p:cNvSpPr>
            <a:spLocks noChangeShapeType="1"/>
          </p:cNvSpPr>
          <p:nvPr/>
        </p:nvSpPr>
        <p:spPr bwMode="auto">
          <a:xfrm>
            <a:off x="4648200" y="2971800"/>
            <a:ext cx="0" cy="304800"/>
          </a:xfrm>
          <a:prstGeom prst="line">
            <a:avLst/>
          </a:prstGeom>
          <a:ln>
            <a:headEnd/>
            <a:tailEnd type="triangle" w="med" len="med"/>
          </a:ln>
        </p:spPr>
        <p:style>
          <a:lnRef idx="1">
            <a:schemeClr val="dk1"/>
          </a:lnRef>
          <a:fillRef idx="0">
            <a:schemeClr val="dk1"/>
          </a:fillRef>
          <a:effectRef idx="0">
            <a:schemeClr val="dk1"/>
          </a:effectRef>
          <a:fontRef idx="minor">
            <a:schemeClr val="tx1"/>
          </a:fontRef>
        </p:style>
        <p:txBody>
          <a:bodyPr wrap="none"/>
          <a:lstStyle/>
          <a:p>
            <a:endParaRPr lang="en-US"/>
          </a:p>
        </p:txBody>
      </p:sp>
      <p:sp>
        <p:nvSpPr>
          <p:cNvPr id="14347" name="Line 9"/>
          <p:cNvSpPr>
            <a:spLocks noChangeShapeType="1"/>
          </p:cNvSpPr>
          <p:nvPr/>
        </p:nvSpPr>
        <p:spPr bwMode="auto">
          <a:xfrm>
            <a:off x="2514600" y="3276600"/>
            <a:ext cx="1588" cy="406400"/>
          </a:xfrm>
          <a:prstGeom prst="line">
            <a:avLst/>
          </a:prstGeom>
          <a:ln>
            <a:headEnd/>
            <a:tailEnd type="triangle" w="med" len="med"/>
          </a:ln>
        </p:spPr>
        <p:style>
          <a:lnRef idx="1">
            <a:schemeClr val="dk1"/>
          </a:lnRef>
          <a:fillRef idx="0">
            <a:schemeClr val="dk1"/>
          </a:fillRef>
          <a:effectRef idx="0">
            <a:schemeClr val="dk1"/>
          </a:effectRef>
          <a:fontRef idx="minor">
            <a:schemeClr val="tx1"/>
          </a:fontRef>
        </p:style>
        <p:txBody>
          <a:bodyPr wrap="none"/>
          <a:lstStyle/>
          <a:p>
            <a:endParaRPr lang="en-US"/>
          </a:p>
        </p:txBody>
      </p:sp>
      <p:sp>
        <p:nvSpPr>
          <p:cNvPr id="14348" name="Line 10"/>
          <p:cNvSpPr>
            <a:spLocks noChangeShapeType="1"/>
          </p:cNvSpPr>
          <p:nvPr/>
        </p:nvSpPr>
        <p:spPr bwMode="auto">
          <a:xfrm>
            <a:off x="6705600" y="3276600"/>
            <a:ext cx="1588" cy="406400"/>
          </a:xfrm>
          <a:prstGeom prst="line">
            <a:avLst/>
          </a:prstGeom>
          <a:ln>
            <a:headEnd/>
            <a:tailEnd type="triangle" w="med" len="med"/>
          </a:ln>
        </p:spPr>
        <p:style>
          <a:lnRef idx="1">
            <a:schemeClr val="dk1"/>
          </a:lnRef>
          <a:fillRef idx="0">
            <a:schemeClr val="dk1"/>
          </a:fillRef>
          <a:effectRef idx="0">
            <a:schemeClr val="dk1"/>
          </a:effectRef>
          <a:fontRef idx="minor">
            <a:schemeClr val="tx1"/>
          </a:fontRef>
        </p:style>
        <p:txBody>
          <a:bodyPr wrap="none"/>
          <a:lstStyle/>
          <a:p>
            <a:endParaRPr lang="en-US"/>
          </a:p>
        </p:txBody>
      </p:sp>
      <p:sp>
        <p:nvSpPr>
          <p:cNvPr id="14349" name="Text Box 11"/>
          <p:cNvSpPr txBox="1">
            <a:spLocks noChangeArrowheads="1"/>
          </p:cNvSpPr>
          <p:nvPr/>
        </p:nvSpPr>
        <p:spPr bwMode="auto">
          <a:xfrm>
            <a:off x="381000" y="5410200"/>
            <a:ext cx="4292600" cy="400110"/>
          </a:xfrm>
          <a:prstGeom prst="rect">
            <a:avLst/>
          </a:prstGeom>
          <a:noFill/>
          <a:ln w="9525">
            <a:solidFill>
              <a:schemeClr val="bg2"/>
            </a:solidFill>
            <a:miter lim="800000"/>
            <a:headEnd/>
            <a:tailEnd/>
          </a:ln>
        </p:spPr>
        <p:txBody>
          <a:bodyPr>
            <a:spAutoFit/>
          </a:bodyPr>
          <a:lstStyle/>
          <a:p>
            <a:pPr>
              <a:spcBef>
                <a:spcPct val="50000"/>
              </a:spcBef>
            </a:pPr>
            <a:r>
              <a:rPr lang="en-US" dirty="0" err="1">
                <a:latin typeface="Lucida Grande" pitchFamily="71" charset="0"/>
                <a:cs typeface="Times New Roman" pitchFamily="18" charset="0"/>
              </a:rPr>
              <a:t>π</a:t>
            </a:r>
            <a:r>
              <a:rPr lang="en-US" sz="1800" baseline="-25000" dirty="0" err="1"/>
              <a:t>LNAME</a:t>
            </a:r>
            <a:r>
              <a:rPr lang="en-US" sz="1800" baseline="-25000" dirty="0"/>
              <a:t>, FNAME</a:t>
            </a:r>
            <a:r>
              <a:rPr lang="en-US" sz="2000" baseline="-25000" dirty="0"/>
              <a:t> </a:t>
            </a:r>
            <a:r>
              <a:rPr lang="en-US" sz="2000" dirty="0"/>
              <a:t>(</a:t>
            </a:r>
            <a:r>
              <a:rPr lang="en-US" dirty="0" err="1">
                <a:latin typeface="Lucida Grande" pitchFamily="71" charset="0"/>
                <a:cs typeface="Times New Roman" pitchFamily="18" charset="0"/>
              </a:rPr>
              <a:t>σ</a:t>
            </a:r>
            <a:r>
              <a:rPr lang="en-US" sz="1800" baseline="-25000" dirty="0" err="1">
                <a:cs typeface="Times New Roman" pitchFamily="18" charset="0"/>
              </a:rPr>
              <a:t>SALARY</a:t>
            </a:r>
            <a:r>
              <a:rPr lang="en-US" sz="1800" baseline="-25000" dirty="0">
                <a:cs typeface="Times New Roman" pitchFamily="18" charset="0"/>
              </a:rPr>
              <a:t>&gt;C</a:t>
            </a:r>
            <a:r>
              <a:rPr lang="en-US" sz="2000" dirty="0">
                <a:cs typeface="Times New Roman" pitchFamily="18" charset="0"/>
              </a:rPr>
              <a:t>(EMPLOYEE))</a:t>
            </a:r>
            <a:endParaRPr lang="en-US" sz="2000" baseline="-25000" dirty="0"/>
          </a:p>
        </p:txBody>
      </p:sp>
      <p:sp>
        <p:nvSpPr>
          <p:cNvPr id="14350" name="Text Box 12"/>
          <p:cNvSpPr txBox="1">
            <a:spLocks noChangeArrowheads="1"/>
          </p:cNvSpPr>
          <p:nvPr/>
        </p:nvSpPr>
        <p:spPr bwMode="auto">
          <a:xfrm>
            <a:off x="4953000" y="5410200"/>
            <a:ext cx="3860800" cy="400110"/>
          </a:xfrm>
          <a:prstGeom prst="rect">
            <a:avLst/>
          </a:prstGeom>
          <a:noFill/>
          <a:ln w="9525">
            <a:solidFill>
              <a:schemeClr val="bg2"/>
            </a:solidFill>
            <a:miter lim="800000"/>
            <a:headEnd/>
            <a:tailEnd/>
          </a:ln>
        </p:spPr>
        <p:txBody>
          <a:bodyPr>
            <a:spAutoFit/>
          </a:bodyPr>
          <a:lstStyle/>
          <a:p>
            <a:pPr>
              <a:spcBef>
                <a:spcPct val="50000"/>
              </a:spcBef>
            </a:pPr>
            <a:r>
              <a:rPr lang="en-US" sz="2000" dirty="0">
                <a:latin typeface="Arial" charset="0"/>
              </a:rPr>
              <a:t>ℱ</a:t>
            </a:r>
            <a:r>
              <a:rPr lang="en-US" sz="1800" baseline="-25000" dirty="0"/>
              <a:t>MAX SALARY</a:t>
            </a:r>
            <a:r>
              <a:rPr lang="en-US" sz="2000" baseline="-25000" dirty="0"/>
              <a:t> </a:t>
            </a:r>
            <a:r>
              <a:rPr lang="en-US" sz="2000" dirty="0"/>
              <a:t>(</a:t>
            </a:r>
            <a:r>
              <a:rPr lang="en-US" dirty="0" err="1">
                <a:latin typeface="Lucida Grande" pitchFamily="71" charset="0"/>
                <a:cs typeface="Times New Roman" pitchFamily="18" charset="0"/>
              </a:rPr>
              <a:t>σ</a:t>
            </a:r>
            <a:r>
              <a:rPr lang="en-US" sz="1800" baseline="-25000" dirty="0" err="1">
                <a:cs typeface="Times New Roman" pitchFamily="18" charset="0"/>
              </a:rPr>
              <a:t>DNO</a:t>
            </a:r>
            <a:r>
              <a:rPr lang="en-US" sz="1800" baseline="-25000" dirty="0">
                <a:cs typeface="Times New Roman" pitchFamily="18" charset="0"/>
              </a:rPr>
              <a:t>=5 </a:t>
            </a:r>
            <a:r>
              <a:rPr lang="en-US" sz="2000" dirty="0">
                <a:cs typeface="Times New Roman" pitchFamily="18" charset="0"/>
              </a:rPr>
              <a:t>(EMPLOYEE))</a:t>
            </a:r>
          </a:p>
        </p:txBody>
      </p:sp>
      <p:sp>
        <p:nvSpPr>
          <p:cNvPr id="14351" name="AutoShape 13"/>
          <p:cNvSpPr>
            <a:spLocks noChangeArrowheads="1"/>
          </p:cNvSpPr>
          <p:nvPr/>
        </p:nvSpPr>
        <p:spPr bwMode="auto">
          <a:xfrm>
            <a:off x="2362200" y="4953000"/>
            <a:ext cx="342900" cy="412750"/>
          </a:xfrm>
          <a:prstGeom prst="downArrow">
            <a:avLst>
              <a:gd name="adj1" fmla="val 50000"/>
              <a:gd name="adj2" fmla="val 30093"/>
            </a:avLst>
          </a:prstGeom>
          <a:noFill/>
          <a:ln w="9525">
            <a:solidFill>
              <a:schemeClr val="bg2"/>
            </a:solidFill>
            <a:miter lim="800000"/>
            <a:headEnd/>
            <a:tailEnd/>
          </a:ln>
        </p:spPr>
        <p:txBody>
          <a:bodyPr wrap="none" anchor="ctr"/>
          <a:lstStyle/>
          <a:p>
            <a:pPr algn="ctr"/>
            <a:endParaRPr lang="en-US" dirty="0"/>
          </a:p>
        </p:txBody>
      </p:sp>
      <p:sp>
        <p:nvSpPr>
          <p:cNvPr id="14352" name="AutoShape 14"/>
          <p:cNvSpPr>
            <a:spLocks noChangeArrowheads="1"/>
          </p:cNvSpPr>
          <p:nvPr/>
        </p:nvSpPr>
        <p:spPr bwMode="auto">
          <a:xfrm>
            <a:off x="6553200" y="4876800"/>
            <a:ext cx="342900" cy="466725"/>
          </a:xfrm>
          <a:prstGeom prst="downArrow">
            <a:avLst>
              <a:gd name="adj1" fmla="val 50000"/>
              <a:gd name="adj2" fmla="val 34028"/>
            </a:avLst>
          </a:prstGeom>
          <a:noFill/>
          <a:ln w="9525">
            <a:solidFill>
              <a:schemeClr val="bg2"/>
            </a:solidFill>
            <a:miter lim="800000"/>
            <a:headEnd/>
            <a:tailEnd/>
          </a:ln>
        </p:spPr>
        <p:txBody>
          <a:bodyPr wrap="none" anchor="ctr"/>
          <a:lstStyle/>
          <a:p>
            <a:pPr algn="ctr"/>
            <a:endParaRPr lang="en-US">
              <a:solidFill>
                <a:schemeClr val="bg2"/>
              </a:solidFill>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Date Placeholder 3"/>
          <p:cNvSpPr>
            <a:spLocks noGrp="1"/>
          </p:cNvSpPr>
          <p:nvPr>
            <p:ph type="dt" sz="quarter" idx="10"/>
          </p:nvPr>
        </p:nvSpPr>
        <p:spPr/>
        <p:txBody>
          <a:bodyPr/>
          <a:lstStyle/>
          <a:p>
            <a:pPr>
              <a:defRPr/>
            </a:pPr>
            <a:r>
              <a:rPr lang="en-US" smtClean="0"/>
              <a:t>ICS 424 - 01 (072)</a:t>
            </a:r>
          </a:p>
        </p:txBody>
      </p:sp>
      <p:sp>
        <p:nvSpPr>
          <p:cNvPr id="15363" name="Footer Placeholder 4"/>
          <p:cNvSpPr>
            <a:spLocks noGrp="1"/>
          </p:cNvSpPr>
          <p:nvPr>
            <p:ph type="ftr" sz="quarter" idx="11"/>
          </p:nvPr>
        </p:nvSpPr>
        <p:spPr/>
        <p:txBody>
          <a:bodyPr/>
          <a:lstStyle/>
          <a:p>
            <a:pPr>
              <a:defRPr/>
            </a:pPr>
            <a:r>
              <a:rPr lang="en-US" smtClean="0"/>
              <a:t>Query Processing and Optimization</a:t>
            </a:r>
          </a:p>
        </p:txBody>
      </p:sp>
      <p:sp>
        <p:nvSpPr>
          <p:cNvPr id="15364" name="Slide Number Placeholder 5"/>
          <p:cNvSpPr>
            <a:spLocks noGrp="1"/>
          </p:cNvSpPr>
          <p:nvPr>
            <p:ph type="sldNum" sz="quarter" idx="12"/>
          </p:nvPr>
        </p:nvSpPr>
        <p:spPr/>
        <p:txBody>
          <a:bodyPr/>
          <a:lstStyle/>
          <a:p>
            <a:pPr>
              <a:defRPr/>
            </a:pPr>
            <a:fld id="{DDB993CE-2249-4445-AE2D-80EBA1467945}" type="slidenum">
              <a:rPr lang="ar-SA" smtClean="0"/>
              <a:pPr>
                <a:defRPr/>
              </a:pPr>
              <a:t>34</a:t>
            </a:fld>
            <a:endParaRPr lang="en-US" smtClean="0"/>
          </a:p>
        </p:txBody>
      </p:sp>
      <p:sp>
        <p:nvSpPr>
          <p:cNvPr id="15365" name="Rectangle 2"/>
          <p:cNvSpPr>
            <a:spLocks noGrp="1" noChangeArrowheads="1"/>
          </p:cNvSpPr>
          <p:nvPr>
            <p:ph type="title"/>
          </p:nvPr>
        </p:nvSpPr>
        <p:spPr/>
        <p:txBody>
          <a:bodyPr/>
          <a:lstStyle/>
          <a:p>
            <a:pPr eaLnBrk="1" hangingPunct="1"/>
            <a:r>
              <a:rPr lang="en-US" smtClean="0"/>
              <a:t>SQL Queries and Relational Algebra </a:t>
            </a:r>
            <a:r>
              <a:rPr lang="en-US" sz="2000" smtClean="0"/>
              <a:t>(2)</a:t>
            </a:r>
          </a:p>
        </p:txBody>
      </p:sp>
      <p:sp>
        <p:nvSpPr>
          <p:cNvPr id="15366" name="Rectangle 3"/>
          <p:cNvSpPr>
            <a:spLocks noGrp="1" noChangeArrowheads="1"/>
          </p:cNvSpPr>
          <p:nvPr>
            <p:ph type="body" idx="1"/>
          </p:nvPr>
        </p:nvSpPr>
        <p:spPr/>
        <p:txBody>
          <a:bodyPr>
            <a:normAutofit fontScale="92500" lnSpcReduction="20000"/>
          </a:bodyPr>
          <a:lstStyle/>
          <a:p>
            <a:pPr eaLnBrk="1" hangingPunct="1">
              <a:lnSpc>
                <a:spcPct val="90000"/>
              </a:lnSpc>
            </a:pPr>
            <a:r>
              <a:rPr lang="en-US" sz="2400" smtClean="0">
                <a:cs typeface="Times New Roman" pitchFamily="18" charset="0"/>
              </a:rPr>
              <a:t>Uncorrelated nested queries Vs Correlated nested queries</a:t>
            </a:r>
          </a:p>
          <a:p>
            <a:pPr eaLnBrk="1" hangingPunct="1">
              <a:lnSpc>
                <a:spcPct val="90000"/>
              </a:lnSpc>
            </a:pPr>
            <a:r>
              <a:rPr lang="en-US" sz="2400" smtClean="0">
                <a:cs typeface="Times New Roman" pitchFamily="18" charset="0"/>
              </a:rPr>
              <a:t>Example</a:t>
            </a:r>
          </a:p>
          <a:p>
            <a:pPr eaLnBrk="1" hangingPunct="1">
              <a:lnSpc>
                <a:spcPct val="90000"/>
              </a:lnSpc>
              <a:buFontTx/>
              <a:buNone/>
            </a:pPr>
            <a:r>
              <a:rPr lang="en-US" sz="2400" smtClean="0"/>
              <a:t>	</a:t>
            </a:r>
            <a:r>
              <a:rPr lang="en-US" sz="2000" smtClean="0">
                <a:latin typeface="Arial" charset="0"/>
              </a:rPr>
              <a:t>Retrieve the name of each employee who works on all  the projects controlled by department number 5.</a:t>
            </a:r>
          </a:p>
          <a:p>
            <a:pPr lvl="1" eaLnBrk="1" hangingPunct="1">
              <a:lnSpc>
                <a:spcPct val="90000"/>
              </a:lnSpc>
              <a:buFontTx/>
              <a:buNone/>
            </a:pPr>
            <a:r>
              <a:rPr lang="en-US" sz="2000" smtClean="0"/>
              <a:t/>
            </a:r>
            <a:br>
              <a:rPr lang="en-US" sz="2000" smtClean="0"/>
            </a:br>
            <a:r>
              <a:rPr lang="en-US" sz="2000" smtClean="0"/>
              <a:t>		</a:t>
            </a:r>
            <a:r>
              <a:rPr lang="en-US" smtClean="0">
                <a:latin typeface="Arial" charset="0"/>
              </a:rPr>
              <a:t>SELECT 	FNAME, LNAME</a:t>
            </a:r>
            <a:br>
              <a:rPr lang="en-US" smtClean="0">
                <a:latin typeface="Arial" charset="0"/>
              </a:rPr>
            </a:br>
            <a:r>
              <a:rPr lang="en-US" smtClean="0">
                <a:latin typeface="Arial" charset="0"/>
              </a:rPr>
              <a:t>		FROM		EMPLOYEE</a:t>
            </a:r>
            <a:br>
              <a:rPr lang="en-US" smtClean="0">
                <a:latin typeface="Arial" charset="0"/>
              </a:rPr>
            </a:br>
            <a:r>
              <a:rPr lang="en-US" smtClean="0">
                <a:latin typeface="Arial" charset="0"/>
              </a:rPr>
              <a:t>		WHERE  ( 	(SELECT	PNO</a:t>
            </a:r>
            <a:br>
              <a:rPr lang="en-US" smtClean="0">
                <a:latin typeface="Arial" charset="0"/>
              </a:rPr>
            </a:br>
            <a:r>
              <a:rPr lang="en-US" smtClean="0">
                <a:latin typeface="Arial" charset="0"/>
              </a:rPr>
              <a:t>		   		FROM		WORKS_ON</a:t>
            </a:r>
            <a:br>
              <a:rPr lang="en-US" smtClean="0">
                <a:latin typeface="Arial" charset="0"/>
              </a:rPr>
            </a:br>
            <a:r>
              <a:rPr lang="en-US" smtClean="0">
                <a:latin typeface="Arial" charset="0"/>
              </a:rPr>
              <a:t>		   		WHERE	SSN=ESSN)</a:t>
            </a:r>
            <a:br>
              <a:rPr lang="en-US" smtClean="0">
                <a:latin typeface="Arial" charset="0"/>
              </a:rPr>
            </a:br>
            <a:r>
              <a:rPr lang="en-US" smtClean="0">
                <a:latin typeface="Arial" charset="0"/>
              </a:rPr>
              <a:t>		   			CONTAINS</a:t>
            </a:r>
            <a:br>
              <a:rPr lang="en-US" smtClean="0">
                <a:latin typeface="Arial" charset="0"/>
              </a:rPr>
            </a:br>
            <a:r>
              <a:rPr lang="en-US" smtClean="0">
                <a:latin typeface="Arial" charset="0"/>
              </a:rPr>
              <a:t>		  		(SELECT	PNUMBER</a:t>
            </a:r>
            <a:br>
              <a:rPr lang="en-US" smtClean="0">
                <a:latin typeface="Arial" charset="0"/>
              </a:rPr>
            </a:br>
            <a:r>
              <a:rPr lang="en-US" smtClean="0">
                <a:latin typeface="Arial" charset="0"/>
              </a:rPr>
              <a:t>		   		FROM		PROJECT</a:t>
            </a:r>
            <a:br>
              <a:rPr lang="en-US" smtClean="0">
                <a:latin typeface="Arial" charset="0"/>
              </a:rPr>
            </a:br>
            <a:r>
              <a:rPr lang="en-US" smtClean="0">
                <a:latin typeface="Arial" charset="0"/>
              </a:rPr>
              <a:t>		   		WHERE	DNUM=5) )</a:t>
            </a:r>
          </a:p>
          <a:p>
            <a:pPr eaLnBrk="1" hangingPunct="1">
              <a:lnSpc>
                <a:spcPct val="90000"/>
              </a:lnSpc>
              <a:buFontTx/>
              <a:buNone/>
            </a:pPr>
            <a:endParaRPr lang="en-US" sz="2400" smtClean="0">
              <a:latin typeface="Arial"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Date Placeholder 3"/>
          <p:cNvSpPr>
            <a:spLocks noGrp="1"/>
          </p:cNvSpPr>
          <p:nvPr>
            <p:ph type="dt" sz="quarter" idx="10"/>
          </p:nvPr>
        </p:nvSpPr>
        <p:spPr/>
        <p:txBody>
          <a:bodyPr/>
          <a:lstStyle/>
          <a:p>
            <a:pPr>
              <a:defRPr/>
            </a:pPr>
            <a:r>
              <a:rPr lang="en-US" smtClean="0"/>
              <a:t>ICS 424 - 01 (072)</a:t>
            </a:r>
          </a:p>
        </p:txBody>
      </p:sp>
      <p:sp>
        <p:nvSpPr>
          <p:cNvPr id="16387" name="Footer Placeholder 4"/>
          <p:cNvSpPr>
            <a:spLocks noGrp="1"/>
          </p:cNvSpPr>
          <p:nvPr>
            <p:ph type="ftr" sz="quarter" idx="11"/>
          </p:nvPr>
        </p:nvSpPr>
        <p:spPr/>
        <p:txBody>
          <a:bodyPr/>
          <a:lstStyle/>
          <a:p>
            <a:pPr>
              <a:defRPr/>
            </a:pPr>
            <a:r>
              <a:rPr lang="en-US" smtClean="0"/>
              <a:t>Query Processing and Optimization</a:t>
            </a:r>
          </a:p>
        </p:txBody>
      </p:sp>
      <p:sp>
        <p:nvSpPr>
          <p:cNvPr id="16388" name="Slide Number Placeholder 5"/>
          <p:cNvSpPr>
            <a:spLocks noGrp="1"/>
          </p:cNvSpPr>
          <p:nvPr>
            <p:ph type="sldNum" sz="quarter" idx="12"/>
          </p:nvPr>
        </p:nvSpPr>
        <p:spPr/>
        <p:txBody>
          <a:bodyPr/>
          <a:lstStyle/>
          <a:p>
            <a:pPr>
              <a:defRPr/>
            </a:pPr>
            <a:fld id="{25B65E4F-C140-413F-8C58-D4083D5C35DA}" type="slidenum">
              <a:rPr lang="ar-SA" smtClean="0"/>
              <a:pPr>
                <a:defRPr/>
              </a:pPr>
              <a:t>35</a:t>
            </a:fld>
            <a:endParaRPr lang="en-US" smtClean="0"/>
          </a:p>
        </p:txBody>
      </p:sp>
      <p:sp>
        <p:nvSpPr>
          <p:cNvPr id="16389" name="Rectangle 2"/>
          <p:cNvSpPr>
            <a:spLocks noGrp="1" noChangeArrowheads="1"/>
          </p:cNvSpPr>
          <p:nvPr>
            <p:ph type="title"/>
          </p:nvPr>
        </p:nvSpPr>
        <p:spPr/>
        <p:txBody>
          <a:bodyPr/>
          <a:lstStyle/>
          <a:p>
            <a:pPr eaLnBrk="1" hangingPunct="1"/>
            <a:r>
              <a:rPr lang="en-US" smtClean="0"/>
              <a:t>SQL Queries and Relational Algebra </a:t>
            </a:r>
            <a:r>
              <a:rPr lang="en-US" sz="2000" smtClean="0"/>
              <a:t>(3)</a:t>
            </a:r>
          </a:p>
        </p:txBody>
      </p:sp>
      <p:sp>
        <p:nvSpPr>
          <p:cNvPr id="16390" name="Rectangle 3"/>
          <p:cNvSpPr>
            <a:spLocks noGrp="1" noChangeArrowheads="1"/>
          </p:cNvSpPr>
          <p:nvPr>
            <p:ph type="body" idx="1"/>
          </p:nvPr>
        </p:nvSpPr>
        <p:spPr>
          <a:xfrm>
            <a:off x="457200" y="990600"/>
            <a:ext cx="8458200" cy="5181600"/>
          </a:xfrm>
        </p:spPr>
        <p:txBody>
          <a:bodyPr/>
          <a:lstStyle/>
          <a:p>
            <a:pPr eaLnBrk="1" hangingPunct="1">
              <a:lnSpc>
                <a:spcPct val="90000"/>
              </a:lnSpc>
            </a:pPr>
            <a:r>
              <a:rPr lang="en-US" sz="2400" smtClean="0"/>
              <a:t>Example</a:t>
            </a:r>
          </a:p>
          <a:p>
            <a:pPr lvl="1" eaLnBrk="1" hangingPunct="1">
              <a:lnSpc>
                <a:spcPct val="90000"/>
              </a:lnSpc>
              <a:buFontTx/>
              <a:buNone/>
            </a:pPr>
            <a:r>
              <a:rPr lang="en-US" sz="2200" smtClean="0"/>
              <a:t>	For every project located in ‘Stafford’, retrieve the project number, the controlling department number and the department manager’s last name, address and birthdate.</a:t>
            </a:r>
          </a:p>
          <a:p>
            <a:pPr eaLnBrk="1" hangingPunct="1">
              <a:lnSpc>
                <a:spcPct val="90000"/>
              </a:lnSpc>
            </a:pPr>
            <a:r>
              <a:rPr lang="en-US" sz="2400" smtClean="0"/>
              <a:t>SQL query:</a:t>
            </a:r>
          </a:p>
          <a:p>
            <a:pPr eaLnBrk="1" hangingPunct="1">
              <a:lnSpc>
                <a:spcPct val="90000"/>
              </a:lnSpc>
              <a:buFontTx/>
              <a:buNone/>
            </a:pPr>
            <a:r>
              <a:rPr lang="en-US" sz="2600" smtClean="0"/>
              <a:t>	</a:t>
            </a:r>
            <a:r>
              <a:rPr lang="en-US" sz="1800" smtClean="0">
                <a:latin typeface="Arial" charset="0"/>
              </a:rPr>
              <a:t>SELECT  	P.NUMBER,P.DNUM,E.LNAME, E.ADDRESS, E.BDATE	</a:t>
            </a:r>
          </a:p>
          <a:p>
            <a:pPr eaLnBrk="1" hangingPunct="1">
              <a:lnSpc>
                <a:spcPct val="90000"/>
              </a:lnSpc>
              <a:buFontTx/>
              <a:buNone/>
            </a:pPr>
            <a:r>
              <a:rPr lang="en-US" sz="1800" smtClean="0">
                <a:latin typeface="Arial" charset="0"/>
              </a:rPr>
              <a:t>	FROM	PROJECT AS P,DEPARTMENT AS D, EMPLOYEE AS E</a:t>
            </a:r>
          </a:p>
          <a:p>
            <a:pPr eaLnBrk="1" hangingPunct="1">
              <a:lnSpc>
                <a:spcPct val="90000"/>
              </a:lnSpc>
              <a:buFontTx/>
              <a:buNone/>
            </a:pPr>
            <a:r>
              <a:rPr lang="en-US" sz="1800" smtClean="0">
                <a:latin typeface="Arial" charset="0"/>
              </a:rPr>
              <a:t>	WHERE  	P.DNUM=D.DNUMBER AND D.MGRSSN=E.SSN AND			P.PLOCATION=‘STAFFORD’;</a:t>
            </a:r>
          </a:p>
          <a:p>
            <a:pPr eaLnBrk="1" hangingPunct="1">
              <a:lnSpc>
                <a:spcPct val="90000"/>
              </a:lnSpc>
            </a:pPr>
            <a:r>
              <a:rPr lang="en-US" smtClean="0"/>
              <a:t>Relation algebra</a:t>
            </a:r>
            <a:r>
              <a:rPr lang="en-US" sz="2400" smtClean="0"/>
              <a:t>:</a:t>
            </a:r>
          </a:p>
          <a:p>
            <a:pPr lvl="1" eaLnBrk="1" hangingPunct="1">
              <a:lnSpc>
                <a:spcPct val="90000"/>
              </a:lnSpc>
              <a:buFontTx/>
              <a:buNone/>
            </a:pPr>
            <a:r>
              <a:rPr lang="en-US" sz="2600" b="1" smtClean="0">
                <a:latin typeface="Symbol" pitchFamily="18" charset="2"/>
              </a:rPr>
              <a:t></a:t>
            </a:r>
            <a:r>
              <a:rPr lang="en-US" sz="2200" baseline="-25000" smtClean="0"/>
              <a:t>PNUMBER, DNUM, LNAME, ADDRESS, BDATE</a:t>
            </a:r>
            <a:r>
              <a:rPr lang="en-US" sz="2200" smtClean="0"/>
              <a:t> (((</a:t>
            </a:r>
            <a:r>
              <a:rPr lang="en-US" sz="2600" b="1" smtClean="0">
                <a:latin typeface="Symbol" pitchFamily="18" charset="2"/>
              </a:rPr>
              <a:t></a:t>
            </a:r>
            <a:r>
              <a:rPr lang="en-US" sz="2200" baseline="-25000" smtClean="0"/>
              <a:t>PLOCATION=‘STAFFORD’</a:t>
            </a:r>
            <a:r>
              <a:rPr lang="en-US" sz="2200" smtClean="0"/>
              <a:t>(PROJECT))</a:t>
            </a:r>
            <a:br>
              <a:rPr lang="en-US" sz="2200" smtClean="0"/>
            </a:br>
            <a:r>
              <a:rPr lang="en-US" sz="2200" smtClean="0"/>
              <a:t>	</a:t>
            </a:r>
            <a:r>
              <a:rPr lang="en-US" sz="2200" baseline="-25000" smtClean="0"/>
              <a:t>DNUM=DNUMBER</a:t>
            </a:r>
            <a:r>
              <a:rPr lang="en-US" sz="2200" smtClean="0"/>
              <a:t> (DEPARTMENT))    </a:t>
            </a:r>
            <a:r>
              <a:rPr lang="en-US" sz="2200" baseline="-25000" smtClean="0"/>
              <a:t>  MGRSSN=SSN</a:t>
            </a:r>
            <a:r>
              <a:rPr lang="en-US" sz="2200" smtClean="0"/>
              <a:t> (EMPLOYEE))</a:t>
            </a:r>
          </a:p>
          <a:p>
            <a:pPr eaLnBrk="1" hangingPunct="1">
              <a:lnSpc>
                <a:spcPct val="90000"/>
              </a:lnSpc>
              <a:buFontTx/>
              <a:buNone/>
            </a:pPr>
            <a:r>
              <a:rPr lang="en-US" sz="2400" smtClean="0"/>
              <a:t>	</a:t>
            </a:r>
          </a:p>
          <a:p>
            <a:pPr eaLnBrk="1" hangingPunct="1">
              <a:lnSpc>
                <a:spcPct val="90000"/>
              </a:lnSpc>
            </a:pPr>
            <a:endParaRPr lang="en-US" sz="1800" smtClean="0">
              <a:latin typeface="Arial" charset="0"/>
            </a:endParaRPr>
          </a:p>
          <a:p>
            <a:pPr eaLnBrk="1" hangingPunct="1">
              <a:lnSpc>
                <a:spcPct val="90000"/>
              </a:lnSpc>
            </a:pPr>
            <a:endParaRPr lang="en-US" sz="1800" smtClean="0">
              <a:latin typeface="Arial"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Date Placeholder 2"/>
          <p:cNvSpPr>
            <a:spLocks noGrp="1"/>
          </p:cNvSpPr>
          <p:nvPr>
            <p:ph type="dt" sz="quarter" idx="10"/>
          </p:nvPr>
        </p:nvSpPr>
        <p:spPr/>
        <p:txBody>
          <a:bodyPr/>
          <a:lstStyle/>
          <a:p>
            <a:pPr>
              <a:defRPr/>
            </a:pPr>
            <a:r>
              <a:rPr lang="en-US" smtClean="0"/>
              <a:t>ICS 424 - 01 (072)</a:t>
            </a:r>
          </a:p>
        </p:txBody>
      </p:sp>
      <p:sp>
        <p:nvSpPr>
          <p:cNvPr id="17411" name="Footer Placeholder 3"/>
          <p:cNvSpPr>
            <a:spLocks noGrp="1"/>
          </p:cNvSpPr>
          <p:nvPr>
            <p:ph type="ftr" sz="quarter" idx="11"/>
          </p:nvPr>
        </p:nvSpPr>
        <p:spPr/>
        <p:txBody>
          <a:bodyPr/>
          <a:lstStyle/>
          <a:p>
            <a:pPr>
              <a:defRPr/>
            </a:pPr>
            <a:r>
              <a:rPr lang="en-US" smtClean="0"/>
              <a:t>Query Processing and Optimization</a:t>
            </a:r>
          </a:p>
        </p:txBody>
      </p:sp>
      <p:sp>
        <p:nvSpPr>
          <p:cNvPr id="17412" name="Slide Number Placeholder 4"/>
          <p:cNvSpPr>
            <a:spLocks noGrp="1"/>
          </p:cNvSpPr>
          <p:nvPr>
            <p:ph type="sldNum" sz="quarter" idx="12"/>
          </p:nvPr>
        </p:nvSpPr>
        <p:spPr/>
        <p:txBody>
          <a:bodyPr/>
          <a:lstStyle/>
          <a:p>
            <a:pPr>
              <a:defRPr/>
            </a:pPr>
            <a:fld id="{876F64D1-D538-4CCF-AFB7-CDBA08003F38}" type="slidenum">
              <a:rPr lang="ar-SA" smtClean="0"/>
              <a:pPr>
                <a:defRPr/>
              </a:pPr>
              <a:t>36</a:t>
            </a:fld>
            <a:endParaRPr lang="en-US" smtClean="0"/>
          </a:p>
        </p:txBody>
      </p:sp>
      <p:sp>
        <p:nvSpPr>
          <p:cNvPr id="17413" name="Rectangle 2"/>
          <p:cNvSpPr>
            <a:spLocks noGrp="1" noChangeArrowheads="1"/>
          </p:cNvSpPr>
          <p:nvPr>
            <p:ph type="title"/>
          </p:nvPr>
        </p:nvSpPr>
        <p:spPr/>
        <p:txBody>
          <a:bodyPr/>
          <a:lstStyle/>
          <a:p>
            <a:pPr eaLnBrk="1" hangingPunct="1"/>
            <a:r>
              <a:rPr lang="en-US" smtClean="0"/>
              <a:t>SQL Queries and Relational Algebra </a:t>
            </a:r>
            <a:r>
              <a:rPr lang="en-US" sz="2000" smtClean="0"/>
              <a:t>(4)</a:t>
            </a:r>
          </a:p>
        </p:txBody>
      </p:sp>
      <p:pic>
        <p:nvPicPr>
          <p:cNvPr id="17414" name="Picture 4" descr="fig15_04a"/>
          <p:cNvPicPr>
            <a:picLocks noChangeAspect="1" noChangeArrowheads="1"/>
          </p:cNvPicPr>
          <p:nvPr/>
        </p:nvPicPr>
        <p:blipFill>
          <a:blip r:embed="rId2"/>
          <a:srcRect/>
          <a:stretch>
            <a:fillRect/>
          </a:stretch>
        </p:blipFill>
        <p:spPr bwMode="auto">
          <a:xfrm>
            <a:off x="1524000" y="1143000"/>
            <a:ext cx="5791200" cy="4876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589</TotalTime>
  <Words>1284</Words>
  <Application>Microsoft Office PowerPoint</Application>
  <PresentationFormat>On-screen Show (4:3)</PresentationFormat>
  <Paragraphs>209</Paragraphs>
  <Slides>36</Slides>
  <Notes>2</Notes>
  <HiddenSlides>1</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Query Processing Heuristic Query Optimization </vt:lpstr>
      <vt:lpstr>PowerPoint Presentation</vt:lpstr>
      <vt:lpstr>Processing a Query</vt:lpstr>
      <vt:lpstr>Processing a Query</vt:lpstr>
      <vt:lpstr>Processing a Query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Heuristic Optimization of Query Trees</vt:lpstr>
      <vt:lpstr>Heuristic Optimization of Query Trees-Example</vt:lpstr>
      <vt:lpstr>Heuristic Optimization of Query Trees-Example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SQL Query with an Uncorrelated Subquery</vt:lpstr>
      <vt:lpstr>PowerPoint Presentation</vt:lpstr>
      <vt:lpstr>PowerPoint Presentation</vt:lpstr>
      <vt:lpstr>PowerPoint Presentation</vt:lpstr>
      <vt:lpstr>PowerPoint Presentation</vt:lpstr>
      <vt:lpstr>SQL Queries and Relational Algebra (1)</vt:lpstr>
      <vt:lpstr>Translating SQL Queries into Relational Algebra</vt:lpstr>
      <vt:lpstr>SQL Queries and Relational Algebra (2)</vt:lpstr>
      <vt:lpstr>SQL Queries and Relational Algebra (3)</vt:lpstr>
      <vt:lpstr>SQL Queries and Relational Algebra (4)</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Query Processing Heuristic Query Optimization</dc:title>
  <dc:creator>VIT-Laptop</dc:creator>
  <cp:lastModifiedBy>Admin</cp:lastModifiedBy>
  <cp:revision>36</cp:revision>
  <dcterms:created xsi:type="dcterms:W3CDTF">2006-08-16T00:00:00Z</dcterms:created>
  <dcterms:modified xsi:type="dcterms:W3CDTF">2023-01-06T06:41:49Z</dcterms:modified>
</cp:coreProperties>
</file>