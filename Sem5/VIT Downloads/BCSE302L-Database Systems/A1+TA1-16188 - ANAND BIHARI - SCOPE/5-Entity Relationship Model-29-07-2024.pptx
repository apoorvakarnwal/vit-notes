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1" r:id="rId3"/>
    <p:sldId id="258" r:id="rId4"/>
    <p:sldId id="286" r:id="rId5"/>
    <p:sldId id="302" r:id="rId6"/>
    <p:sldId id="297" r:id="rId7"/>
    <p:sldId id="298" r:id="rId8"/>
    <p:sldId id="287" r:id="rId9"/>
    <p:sldId id="288" r:id="rId10"/>
    <p:sldId id="289" r:id="rId11"/>
    <p:sldId id="290" r:id="rId12"/>
    <p:sldId id="291" r:id="rId13"/>
    <p:sldId id="284" r:id="rId14"/>
    <p:sldId id="292" r:id="rId15"/>
    <p:sldId id="259" r:id="rId16"/>
    <p:sldId id="296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19" autoAdjust="0"/>
    <p:restoredTop sz="92517" autoAdjust="0"/>
  </p:normalViewPr>
  <p:slideViewPr>
    <p:cSldViewPr>
      <p:cViewPr varScale="1">
        <p:scale>
          <a:sx n="118" d="100"/>
          <a:sy n="118" d="100"/>
        </p:scale>
        <p:origin x="92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144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B2751-ED93-44D5-8B11-EE61C9B1646E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A144C-472B-483D-BE5E-B547EF24C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98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154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30171" indent="-280835" defTabSz="911154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23340" indent="-224668" defTabSz="911154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572677" indent="-224668" defTabSz="911154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22013" indent="-224668" defTabSz="911154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471349" indent="-224668" defTabSz="91115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20685" indent="-224668" defTabSz="91115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370021" indent="-224668" defTabSz="91115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19357" indent="-224668" defTabSz="91115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2298E3-52AF-4F84-BC83-1D80A0E7F6B5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9" y="4344025"/>
            <a:ext cx="5032363" cy="41129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FB1CC-AE27-4B23-824E-BA8B57FD6C5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5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3" y="1449311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3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3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8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8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3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50" y="2341483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10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0" y="4650482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4" y="4773232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2" y="66683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9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8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23/11/24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Anand</a:t>
            </a:r>
            <a:r>
              <a:rPr lang="en-US" dirty="0"/>
              <a:t> </a:t>
            </a:r>
            <a:r>
              <a:rPr lang="en-US" dirty="0" err="1"/>
              <a:t>Bihari</a:t>
            </a:r>
            <a:endParaRPr lang="en-US" dirty="0"/>
          </a:p>
          <a:p>
            <a:r>
              <a:rPr lang="en-US" dirty="0"/>
              <a:t>SJT Annex- 203N</a:t>
            </a:r>
          </a:p>
          <a:p>
            <a:r>
              <a:rPr lang="en-US" dirty="0"/>
              <a:t>anand.bihari@vit.ac.in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Entities Relationship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Relationship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The ER data mode was developed to facilitate database design by allowing specification of an </a:t>
            </a:r>
            <a:r>
              <a:rPr lang="en-US" alt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enterprise schema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that represents the overall logical structure of a database.</a:t>
            </a:r>
          </a:p>
          <a:p>
            <a:pPr algn="just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The ER data model employs three basic concepts: </a:t>
            </a:r>
          </a:p>
          <a:p>
            <a:pPr lvl="1" algn="just"/>
            <a:r>
              <a:rPr lang="en-US" altLang="en-US" sz="26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entity sets,</a:t>
            </a:r>
          </a:p>
          <a:p>
            <a:pPr lvl="1" algn="just"/>
            <a:r>
              <a:rPr lang="en-US" altLang="en-US" sz="26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relationship sets, </a:t>
            </a:r>
          </a:p>
          <a:p>
            <a:pPr lvl="1" algn="just"/>
            <a:r>
              <a:rPr lang="en-US" altLang="en-US" sz="26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attributes.</a:t>
            </a:r>
          </a:p>
          <a:p>
            <a:pPr algn="just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The ER model also has an associated diagrammatic representation, the </a:t>
            </a:r>
            <a:r>
              <a:rPr lang="en-US" alt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ER diagram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, which can express the overall logical structure of a database graphically.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5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Relationship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is defined to represent the relationship between different stakeholders.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Here Student is an entity.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ID, Name, age and address are attributes.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Address is also an entities.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12976"/>
            <a:ext cx="8136904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465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and Attribute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alt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entity</a:t>
            </a:r>
            <a:r>
              <a:rPr lang="en-US" alt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is an object that exists and is distinguishable from other objects.</a:t>
            </a:r>
          </a:p>
          <a:p>
            <a:pPr lvl="1" algn="just"/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Example:  specific person, company, event, plant</a:t>
            </a: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alt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entity set</a:t>
            </a:r>
            <a:r>
              <a:rPr lang="en-US" alt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is a set of entities of the same type that share the same properties.</a:t>
            </a:r>
          </a:p>
          <a:p>
            <a:pPr lvl="1" algn="just"/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Example: set of all persons, companies, trees, holidays</a:t>
            </a: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An entity is represented by a set of attributes; i.e., descriptive properties possessed by all members of an entity set.</a:t>
            </a:r>
          </a:p>
          <a:p>
            <a:pPr lvl="1" algn="just"/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Example: </a:t>
            </a:r>
          </a:p>
          <a:p>
            <a:pPr lvl="1" algn="just">
              <a:buFont typeface="Monotype Sorts" charset="2"/>
              <a:buNone/>
            </a:pPr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     	</a:t>
            </a:r>
            <a:r>
              <a:rPr lang="en-US" altLang="en-US" sz="2200" i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instructor = </a:t>
            </a:r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(</a:t>
            </a:r>
            <a:r>
              <a:rPr lang="en-US" altLang="en-US" sz="2200" i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ID, name, salary </a:t>
            </a:r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)</a:t>
            </a:r>
            <a:br>
              <a:rPr lang="en-US" altLang="en-US" sz="2200" i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</a:br>
            <a:r>
              <a:rPr lang="en-US" altLang="en-US" sz="2200" i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	course= </a:t>
            </a:r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(</a:t>
            </a:r>
            <a:r>
              <a:rPr lang="en-US" altLang="en-US" sz="2200" i="1" dirty="0" err="1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course_id</a:t>
            </a:r>
            <a:r>
              <a:rPr lang="en-US" altLang="en-US" sz="2200" i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, title, credits</a:t>
            </a:r>
            <a:r>
              <a:rPr lang="en-US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)</a:t>
            </a:r>
            <a:endParaRPr lang="en-US" altLang="en-US" sz="2200" i="1" dirty="0">
              <a:solidFill>
                <a:schemeClr val="tx2"/>
              </a:solidFill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 algn="just"/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A subset of the attributes form a  </a:t>
            </a:r>
            <a:r>
              <a:rPr lang="en-US" alt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primary key </a:t>
            </a:r>
            <a:r>
              <a:rPr lang="en-US" altLang="en-US" sz="2200" dirty="0">
                <a:latin typeface="Times New Roman" pitchFamily="18" charset="0"/>
                <a:cs typeface="Times New Roman" pitchFamily="18" charset="0"/>
              </a:rPr>
              <a:t>of the entity set; i.e., uniquely identifying each member of the set.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5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Franklin Gothic Book (Headings)"/>
                <a:ea typeface="ＭＳ Ｐゴシック" charset="-128"/>
              </a:rPr>
              <a:t>Entity Sets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8" name="Picture 4" descr="https://s3.ap-south-1.amazonaws.com/afteracademy-server-uploads/what-is-an-entity-entity-type-and-entity-set-entity-set-example-63baca2f9d50207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61"/>
            <a:ext cx="7992888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81615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796950"/>
          </a:xfrm>
        </p:spPr>
        <p:txBody>
          <a:bodyPr/>
          <a:lstStyle/>
          <a:p>
            <a:r>
              <a:rPr lang="en-US" dirty="0"/>
              <a:t>Entity  type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792087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8570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https://techdifferences.com/wp-content/uploads/2016/12/Strong-entity-and-weak-entit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56992"/>
            <a:ext cx="727280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s3.ap-south-1.amazonaws.com/afteracademy-server-uploads/what-is-an-entity-entity-type-and-entity-set-weak-entity-example-d5677f16eb8d6f9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36" y="260648"/>
            <a:ext cx="8924925" cy="345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14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Attribute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Composite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simple attributes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Single valued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multi valued attributes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Stored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derived attributes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Null attributes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Complex attribute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22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Composite Attribute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Composite attribute can be divided into smaller subparts, which represent more basic attributes with independent meaning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(street address(number, name, door no.), city,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state,zip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</a:t>
            </a: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	Qualification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 degree name, year, college name)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924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Single valued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multi valued attributes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Simple attribute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Attributes are indivisible or atomic values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phone number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Single value attribute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Single value for a particular attribute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 age, place of birth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 Value attribute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If multiple values are there for a particular attribute.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degree,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course_enrolled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email 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51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32656"/>
            <a:ext cx="7772400" cy="5687144"/>
          </a:xfrm>
        </p:spPr>
        <p:txBody>
          <a:bodyPr/>
          <a:lstStyle/>
          <a:p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Stored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derived attributes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Two ( or more) attributes are related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age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attributes of a person.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Basic salary and total salary.</a:t>
            </a:r>
          </a:p>
          <a:p>
            <a:pPr lvl="2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/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Null Value Attribute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college degree (if person did not complete the degree, then the value will be null)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Complex Attribute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Composite and multi valued attributes are nested.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{Phone address( phone(area code,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phno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))}</a:t>
            </a:r>
          </a:p>
        </p:txBody>
      </p:sp>
    </p:spTree>
    <p:extLst>
      <p:ext uri="{BB962C8B-B14F-4D97-AF65-F5344CB8AC3E}">
        <p14:creationId xmlns:p14="http://schemas.microsoft.com/office/powerpoint/2010/main" val="164314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3200" dirty="0"/>
              <a:t>Key Attribute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An attribute or collection of attributes whose values uniquely identify an entity in the entity set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reg_no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emp_id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hotel_id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55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56537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Key is an attribute or collection of attributes that uniquely identifies an entity among entity set. 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example, the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roll_number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of a student makes him/her identifiable among students. There are mainly three types of keys: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Super Key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− A set of attributes (one or more) that collectively identifies an entity in an entity set.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Candidate Key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− A minimal super key is called a candidate key. An entity set may have more than one candidate key.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Primary Key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− A primary key is one of the candidate keys chosen by the database designer to uniquely identify the entity set. 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96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2134959"/>
            <a:ext cx="7772400" cy="319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168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8098"/>
          </a:xfrm>
        </p:spPr>
        <p:txBody>
          <a:bodyPr/>
          <a:lstStyle/>
          <a:p>
            <a:r>
              <a:rPr lang="en-US" dirty="0"/>
              <a:t>ER-Diagram Symbol and meaning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Entities or Strong entities		Weak entities</a:t>
            </a:r>
          </a:p>
          <a:p>
            <a:pPr lvl="8"/>
            <a:r>
              <a:rPr lang="en-US" sz="1200" dirty="0"/>
              <a:t>(having key attribute)</a:t>
            </a:r>
            <a:r>
              <a:rPr lang="en-US" dirty="0"/>
              <a:t>				</a:t>
            </a:r>
            <a:r>
              <a:rPr lang="en-US" sz="1200" dirty="0"/>
              <a:t>(No key attribute)</a:t>
            </a:r>
          </a:p>
          <a:p>
            <a:endParaRPr lang="en-US" dirty="0"/>
          </a:p>
          <a:p>
            <a:r>
              <a:rPr lang="en-US" dirty="0"/>
              <a:t> Attribute		Multi-valued attribute    Key Attribute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Derived attribute 		Composite attribute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7704" y="1998186"/>
            <a:ext cx="129614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144" y="1998186"/>
            <a:ext cx="129614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976281" y="2070194"/>
            <a:ext cx="1079873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907704" y="3284984"/>
            <a:ext cx="936104" cy="792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4324165" y="3235925"/>
            <a:ext cx="936104" cy="792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4427985" y="3284984"/>
            <a:ext cx="728464" cy="6924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7033504" y="3194716"/>
            <a:ext cx="936104" cy="792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Key</a:t>
            </a:r>
            <a:endParaRPr lang="en-IN" b="1" u="sng" dirty="0"/>
          </a:p>
        </p:txBody>
      </p:sp>
      <p:sp>
        <p:nvSpPr>
          <p:cNvPr id="8" name="Oval 7"/>
          <p:cNvSpPr/>
          <p:nvPr/>
        </p:nvSpPr>
        <p:spPr>
          <a:xfrm>
            <a:off x="1531912" y="5157192"/>
            <a:ext cx="1296144" cy="720080"/>
          </a:xfrm>
          <a:prstGeom prst="ellipse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  <a:endParaRPr lang="en-IN" dirty="0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10" y="4941172"/>
            <a:ext cx="4028257" cy="1612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504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2091"/>
          </a:xfrm>
        </p:spPr>
        <p:txBody>
          <a:bodyPr>
            <a:normAutofit fontScale="90000"/>
          </a:bodyPr>
          <a:lstStyle/>
          <a:p>
            <a:r>
              <a:rPr lang="en-US" dirty="0"/>
              <a:t>Entity- Relationship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Grp="1"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836729"/>
            <a:ext cx="8134672" cy="554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2157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ER-Diagram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Design an ER schema diagram of Library management system.</a:t>
            </a:r>
          </a:p>
          <a:p>
            <a:r>
              <a:rPr lang="en-US" dirty="0"/>
              <a:t>Design an ER schema diagram of student information management system.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66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2999</TotalTime>
  <Words>683</Words>
  <Application>Microsoft Macintosh PowerPoint</Application>
  <PresentationFormat>On-screen Show (4:3)</PresentationFormat>
  <Paragraphs>85</Paragraphs>
  <Slides>17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Franklin Gothic Book</vt:lpstr>
      <vt:lpstr>Franklin Gothic Book (Headings)</vt:lpstr>
      <vt:lpstr>Monotype Sorts</vt:lpstr>
      <vt:lpstr>Perpetua</vt:lpstr>
      <vt:lpstr>Times New Roman</vt:lpstr>
      <vt:lpstr>Wingdings 2</vt:lpstr>
      <vt:lpstr>Equity</vt:lpstr>
      <vt:lpstr>Entities Relationship Model</vt:lpstr>
      <vt:lpstr>Entities Relationship Model</vt:lpstr>
      <vt:lpstr>Entities Relationship Model</vt:lpstr>
      <vt:lpstr>Entities and Attribute</vt:lpstr>
      <vt:lpstr>Entity Sets</vt:lpstr>
      <vt:lpstr>Entity  type</vt:lpstr>
      <vt:lpstr>PowerPoint Presentation</vt:lpstr>
      <vt:lpstr>Attribute types</vt:lpstr>
      <vt:lpstr>Composite Attribute</vt:lpstr>
      <vt:lpstr>Single valued vs multi valued attributes</vt:lpstr>
      <vt:lpstr>PowerPoint Presentation</vt:lpstr>
      <vt:lpstr>Key Attribute </vt:lpstr>
      <vt:lpstr>Keys</vt:lpstr>
      <vt:lpstr>PowerPoint Presentation</vt:lpstr>
      <vt:lpstr>ER-Diagram Symbol and meaning </vt:lpstr>
      <vt:lpstr>Entity- Relationship Model</vt:lpstr>
      <vt:lpstr>ER-Diagram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Apoorva Karnwal</cp:lastModifiedBy>
  <cp:revision>106</cp:revision>
  <dcterms:created xsi:type="dcterms:W3CDTF">2019-05-30T15:49:42Z</dcterms:created>
  <dcterms:modified xsi:type="dcterms:W3CDTF">2024-11-23T17:27:02Z</dcterms:modified>
</cp:coreProperties>
</file>