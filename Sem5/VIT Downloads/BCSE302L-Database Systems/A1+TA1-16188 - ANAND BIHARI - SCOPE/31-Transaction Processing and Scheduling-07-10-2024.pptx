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6"/>
  </p:notesMasterIdLst>
  <p:sldIdLst>
    <p:sldId id="256" r:id="rId2"/>
    <p:sldId id="270" r:id="rId3"/>
    <p:sldId id="283" r:id="rId4"/>
    <p:sldId id="271" r:id="rId5"/>
    <p:sldId id="284" r:id="rId6"/>
    <p:sldId id="272" r:id="rId7"/>
    <p:sldId id="281" r:id="rId8"/>
    <p:sldId id="257" r:id="rId9"/>
    <p:sldId id="259" r:id="rId10"/>
    <p:sldId id="260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9" r:id="rId25"/>
    <p:sldId id="300" r:id="rId26"/>
    <p:sldId id="302" r:id="rId27"/>
    <p:sldId id="303" r:id="rId28"/>
    <p:sldId id="304" r:id="rId29"/>
    <p:sldId id="306" r:id="rId30"/>
    <p:sldId id="308" r:id="rId31"/>
    <p:sldId id="320" r:id="rId32"/>
    <p:sldId id="310" r:id="rId33"/>
    <p:sldId id="321" r:id="rId34"/>
    <p:sldId id="311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279" r:id="rId43"/>
    <p:sldId id="280" r:id="rId44"/>
    <p:sldId id="261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8AF12-D325-40C2-9DDB-58873E3A44D9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28E8B-D324-4F62-9D14-6E4FFD485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90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5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77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87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981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08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185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8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0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493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697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800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90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107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209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41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51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61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824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029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23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541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64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745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84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950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053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155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6875" cy="41068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8488" cy="11334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13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F22A218-F406-43D8-A5BB-EA567009E3BE}" type="datetimeFigureOut">
              <a:rPr lang="en-US" smtClean="0"/>
              <a:pPr/>
              <a:t>09-Oct-24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76CD9E9-6E8E-42A7-99DF-2E24DB768F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Transaction Processing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in Transaction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Lost update problem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Unrepeatable Read Problem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Dirty read problem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Phantom Read Problem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Lost update problem / Write-Write conflict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Occurs when two transactions update the same data item, but both read the same original value before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update.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" r="48491"/>
          <a:stretch/>
        </p:blipFill>
        <p:spPr bwMode="auto">
          <a:xfrm>
            <a:off x="851769" y="2209800"/>
            <a:ext cx="4482231" cy="332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562600" y="2362200"/>
            <a:ext cx="3352800" cy="316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8" t="54547" r="5130" b="19498"/>
          <a:stretch/>
        </p:blipFill>
        <p:spPr bwMode="auto">
          <a:xfrm>
            <a:off x="1447800" y="5601220"/>
            <a:ext cx="2981194" cy="751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710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Temporary Update (or Dirty Read) Problem.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occurs when one transaction T1 updates a database item X, which is accessed (read) by another transaction T2;  then T1 fails for some reason; X was (read) by T2 before its value is changed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back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(rolled back or UNDONE) after T1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fails.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5"/>
          <a:stretch/>
        </p:blipFill>
        <p:spPr bwMode="auto">
          <a:xfrm>
            <a:off x="152400" y="2895600"/>
            <a:ext cx="5020849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2895598"/>
            <a:ext cx="3173465" cy="3394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5596524"/>
            <a:ext cx="4062412" cy="103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Unrepeatable Read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 transaction T1 may read an item (say, available seats on a flight); later, T1 may read the same item again and get a different value because another transaction T2 has updated the item (reserved seats on the flight) between the two reads by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T1. 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6990" y="3352800"/>
            <a:ext cx="335541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DBMS Concurrency Contr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152773"/>
            <a:ext cx="4648200" cy="370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22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Phantom Read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phantom read problem occurs when a transaction reads a variable once but when it tries to read that same variable again, an error occurs saying that the variable does not exist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3352800" cy="318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>
            <a:normAutofit/>
          </a:bodyPr>
          <a:lstStyle/>
          <a:p>
            <a:r>
              <a:rPr lang="en-US" dirty="0"/>
              <a:t>The Incorrect Summary </a:t>
            </a:r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18433" name="Rectangle 1"/>
          <p:cNvSpPr>
            <a:spLocks noGrp="1" noChangeArrowheads="1"/>
          </p:cNvSpPr>
          <p:nvPr>
            <p:ph sz="quarter" idx="1"/>
          </p:nvPr>
        </p:nvSpPr>
        <p:spPr>
          <a:xfrm>
            <a:off x="609600" y="1066800"/>
            <a:ext cx="8077200" cy="4953000"/>
          </a:xfrm>
        </p:spPr>
        <p:txBody>
          <a:bodyPr lIns="90000" tIns="46800" rIns="90000" bIns="46800" anchor="t"/>
          <a:lstStyle/>
          <a:p>
            <a:pPr marL="354012" indent="-342900" algn="just">
              <a:spcBef>
                <a:spcPts val="600"/>
              </a:spcBef>
              <a:buClrTx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One transaction is calculating an aggregate summary function on a number of records (for example, sum (total) of all bank account balances) while other transactions are updating some of these records (for example, transferring a large amount between two accounts, the aggregate function may read some values before they are updated and others after they are updated. </a:t>
            </a:r>
          </a:p>
          <a:p>
            <a:pPr marL="354012" indent="-342900">
              <a:spcBef>
                <a:spcPts val="600"/>
              </a:spcBef>
              <a:buClrTx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endParaRPr lang="en-US" sz="2400" dirty="0" smtClean="0">
              <a:latin typeface="Palatino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00400"/>
            <a:ext cx="822960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2718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Schedules and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 a system with a number of simultaneous transactions, a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schedule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 the total order of execution of operations. Given a schedule S comprising of n transactions, say T1, T2, T3………..Tn; for any transaction Ti, the operations in Ti must execute as laid down in the schedule S.</a:t>
            </a:r>
          </a:p>
          <a:p>
            <a:pPr algn="just"/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Transaction schedule (or history):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When transactions are executing concurrently in an interleaved fashion, the </a:t>
            </a:r>
            <a:r>
              <a:rPr lang="en-US" sz="2300" i="1" dirty="0">
                <a:latin typeface="Times New Roman" pitchFamily="18" charset="0"/>
                <a:cs typeface="Times New Roman" pitchFamily="18" charset="0"/>
              </a:rPr>
              <a:t>order of execution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of operations from the various transactions forms what is known as a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transaction schedule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(or history). 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Types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of Schedules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Serial Schedules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Parallel Schedules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Schedules and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2667000"/>
          </a:xfrm>
        </p:spPr>
        <p:txBody>
          <a:bodyPr>
            <a:normAutofit/>
          </a:bodyPr>
          <a:lstStyle/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Types of Schedules</a:t>
            </a:r>
          </a:p>
          <a:p>
            <a:pPr lvl="1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Serial Schedules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 a serial schedule, at any point of time, only one transaction is active, i.e. there is no overlapping of transactions.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429000"/>
            <a:ext cx="6248400" cy="239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Schedules and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2895599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Types of Schedules</a:t>
            </a:r>
          </a:p>
          <a:p>
            <a:pPr lvl="1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Parallel Schedules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In parallel schedules, more than one transactions are active simultaneously, i.e. the transactions contain operations that overlap at time.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4114800"/>
            <a:ext cx="6400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575"/>
            <a:ext cx="7162800" cy="663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87562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685800"/>
            <a:ext cx="7772400" cy="731838"/>
          </a:xfrm>
        </p:spPr>
        <p:txBody>
          <a:bodyPr lIns="92160" tIns="46080" rIns="92160" bIns="46080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dirty="0" smtClean="0">
                <a:cs typeface="Times New Roman" pitchFamily="18" charset="0"/>
              </a:rPr>
              <a:t>Schedules of Transactions (cont.)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8077200" cy="4876800"/>
          </a:xfrm>
        </p:spPr>
        <p:txBody>
          <a:bodyPr lIns="90000" tIns="46800" rIns="90000" bIns="46800">
            <a:noAutofit/>
          </a:bodyPr>
          <a:lstStyle/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Schedules can also be displayed in more compact notation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Order of operations from left to right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Include only read (r) and write (w) operations, with transaction id (1, 2, …) and item name (X, Y, …)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Can also include other operations such as b (begin), e (end), c (commit), a (abort)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Schedules in Figure 21.5 would be displayed as follows:</a:t>
            </a:r>
          </a:p>
          <a:p>
            <a:pPr marL="1477963" lvl="1" indent="-563563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A: r1(X); w1(X); r1(Y); w1(Y); r2(X); w2(x);</a:t>
            </a:r>
          </a:p>
          <a:p>
            <a:pPr marL="1477963" lvl="1" indent="-563563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B: r2(X); w2(X); r1(X); w1(X); r1(Y); w1(Y);</a:t>
            </a:r>
          </a:p>
          <a:p>
            <a:pPr marL="1477963" lvl="1" indent="-563563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C: r1(X); r2(X); w1(X); r1(Y); w2(X); w1(Y);</a:t>
            </a:r>
          </a:p>
          <a:p>
            <a:pPr marL="1477963" lvl="1" indent="-563563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D: r1(X); w1(X); r2(X); w2(X); r1(Y); w1(Y);</a:t>
            </a:r>
          </a:p>
        </p:txBody>
      </p:sp>
    </p:spTree>
    <p:extLst>
      <p:ext uri="{BB962C8B-B14F-4D97-AF65-F5344CB8AC3E}">
        <p14:creationId xmlns:p14="http://schemas.microsoft.com/office/powerpoint/2010/main" val="20988437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Schedules of Transactions (cont.)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Formal definition of a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schedule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(or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history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 S of n transactions T1, T2, ...,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An ordering of all the operations of the transactions subject to the constraint that, for each transaction Ti that participates in S, the operations of Ti in S must appear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in the same order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in which they occur in Ti.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Note: Operations from other transactions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Tj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u="sng" dirty="0" smtClean="0">
                <a:latin typeface="Times New Roman" pitchFamily="18" charset="0"/>
                <a:cs typeface="Times New Roman" pitchFamily="18" charset="0"/>
              </a:rPr>
              <a:t>can be interleaved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with the operations of Ti in S. </a:t>
            </a:r>
          </a:p>
        </p:txBody>
      </p:sp>
    </p:spTree>
    <p:extLst>
      <p:ext uri="{BB962C8B-B14F-4D97-AF65-F5344CB8AC3E}">
        <p14:creationId xmlns:p14="http://schemas.microsoft.com/office/powerpoint/2010/main" val="150338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Schedules of Transactions (cont.)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Generally very large number of possible schedules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Some schedules are easy to recover from after a failure, while others are not. 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Some schedules produce correct results, while others produce incorrect results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Schedules are classifying based on ease of recovery (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recoverability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 and correctness (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00584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 lIns="90000" tIns="46800" rIns="90000" bIns="46800">
            <a:normAutofit/>
          </a:bodyPr>
          <a:lstStyle/>
          <a:p>
            <a:pPr indent="-331788" algn="just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Schedules classified into two main classes: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Recoverable schedule: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One where no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committed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transaction needs to be rolled back (aborted).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 schedule S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recoverable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if no transaction T in S commits until all transactions T’ that have written an item that T reads have committed.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Non-recoverable schedule: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 schedule where a committed transaction may have to be rolled back during recovery.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This violates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Durability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from ACID properties (a committed transaction cannot be rolled back) and so non-recoverable schedules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should not be allowed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87310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Autofit/>
          </a:bodyPr>
          <a:lstStyle/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u="sng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31788" indent="-331788" algn="just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Schedule A: r1(X); </a:t>
            </a:r>
            <a:r>
              <a:rPr lang="en-US" sz="2300" u="sng" dirty="0">
                <a:latin typeface="Times New Roman" pitchFamily="18" charset="0"/>
                <a:cs typeface="Times New Roman" pitchFamily="18" charset="0"/>
              </a:rPr>
              <a:t>w1(X)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300" u="sng" dirty="0">
                <a:latin typeface="Times New Roman" pitchFamily="18" charset="0"/>
                <a:cs typeface="Times New Roman" pitchFamily="18" charset="0"/>
              </a:rPr>
              <a:t>r2(X)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; w2(X); </a:t>
            </a:r>
            <a:r>
              <a:rPr lang="en-US" sz="2300" u="sng" dirty="0">
                <a:latin typeface="Times New Roman" pitchFamily="18" charset="0"/>
                <a:cs typeface="Times New Roman" pitchFamily="18" charset="0"/>
              </a:rPr>
              <a:t>c2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; r1(Y); w1(Y); c1 (or a1)</a:t>
            </a:r>
          </a:p>
          <a:p>
            <a:pPr marL="331788" indent="-331788" algn="just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Schedule B: r1(X); w1(X); r2(X); w2(X); r1(Y); w1(Y); c1 (or a1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), c2;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Schedule A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non-recoverable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because T2 reads the value of X that was written by T1, but then T2 commits before T1 commits or aborts 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make it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recoverable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the commit of T2 (c2) must be delayed until T1 either commits, or aborts (Schedule B)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T1 commits, T2 can commit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T1 aborts, T2 must also abort because it read a value that was written by T1; this value must be undone (reset to its old value) when T1 is aborted  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known as </a:t>
            </a:r>
            <a:r>
              <a:rPr lang="en-US" sz="23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cascading rollback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484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indent="-331788" algn="just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Recoverable schedules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can be further refined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schedule: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 schedule in which a transaction T2 cannot read an item X until the transaction T1 that last wrote X has committed.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set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schedules is a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subset of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the set of recoverable schedules.</a:t>
            </a:r>
          </a:p>
          <a:p>
            <a:pPr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600"/>
              </a:spcBef>
              <a:buClr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	Schedules requiring cascaded rollback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A schedule in which an uncommitted transaction T2 that read an item that was written by a failed transaction T1 must be rolled back. </a:t>
            </a:r>
          </a:p>
        </p:txBody>
      </p:sp>
    </p:spTree>
    <p:extLst>
      <p:ext uri="{BB962C8B-B14F-4D97-AF65-F5344CB8AC3E}">
        <p14:creationId xmlns:p14="http://schemas.microsoft.com/office/powerpoint/2010/main" val="6102209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 lIns="90000" tIns="46800" rIns="90000" bIns="46800">
            <a:noAutofit/>
          </a:bodyPr>
          <a:lstStyle/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u="sng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31788" indent="-331788" algn="just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Schedule B: r1(X); w1(X); </a:t>
            </a:r>
            <a:r>
              <a:rPr lang="en-US" sz="2300" u="sng" dirty="0">
                <a:latin typeface="Times New Roman" pitchFamily="18" charset="0"/>
                <a:cs typeface="Times New Roman" pitchFamily="18" charset="0"/>
              </a:rPr>
              <a:t>r2(X)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; w2(X); r1(Y); w1(Y); c1 (or a1);</a:t>
            </a:r>
          </a:p>
          <a:p>
            <a:pPr marL="331788" indent="-331788" algn="just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Schedule C: r1(X); w1(X); r1(Y); w1(Y); c1; </a:t>
            </a:r>
            <a:r>
              <a:rPr lang="en-US" sz="2300" u="sng" dirty="0">
                <a:latin typeface="Times New Roman" pitchFamily="18" charset="0"/>
                <a:cs typeface="Times New Roman" pitchFamily="18" charset="0"/>
              </a:rPr>
              <a:t>r2(X)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; w2(X); ... 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Schedule B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because T2 reads the value of X that was written by T1 before T1 commits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T1 aborts (fails), T2 must also be aborted (rolled back) resulting in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cascading rollback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make it 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the r2(X) of T2 must be delayed until T1 commits (or aborts and rolls back the value of X to its previous value) – see Schedule C</a:t>
            </a:r>
          </a:p>
          <a:p>
            <a:pPr marL="331788" indent="-3317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1522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indent="-331788" algn="just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schedules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can be further refined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Strict schedule: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 schedule in which a transaction T2 can neither read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nor write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an item X until the transaction T1 that last wrote X has committed.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set of strict schedules is a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subset of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the set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schedules.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blind writes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are not allowed, all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schedules are also strict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Blind write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A write operation w2(X) that is not preceded by a read r2(X). </a:t>
            </a:r>
          </a:p>
        </p:txBody>
      </p:sp>
    </p:spTree>
    <p:extLst>
      <p:ext uri="{BB962C8B-B14F-4D97-AF65-F5344CB8AC3E}">
        <p14:creationId xmlns:p14="http://schemas.microsoft.com/office/powerpoint/2010/main" val="1752875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608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8001000" cy="4572000"/>
          </a:xfrm>
        </p:spPr>
        <p:txBody>
          <a:bodyPr lIns="90000" tIns="46800" rIns="90000" bIns="46800">
            <a:noAutofit/>
          </a:bodyPr>
          <a:lstStyle/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u="sng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31788" indent="-331788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Schedule C: r1(X); w1(X); r1(Y); w1(Y); c1; r2(X); w2(X); …</a:t>
            </a:r>
          </a:p>
          <a:p>
            <a:pPr marL="331788" indent="-331788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Schedule D: r1(X); w1(X);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w3(X);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r1(Y); w1(Y); c1; r2(X); w2(X); …</a:t>
            </a:r>
          </a:p>
          <a:p>
            <a:pPr marL="331788" indent="-331788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Schedule E: r1(X); w1(X); r1(Y); w1(Y); c1;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w3(X);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r2(X); w2(X); …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C is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also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strict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(because it has no blind writes)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Schedule D is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but not strict (because of the blind write w3(X), which writes the value of X before T1 commits)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make it strict, w3(X) must be delayed until after T1 commits – see Schedule E</a:t>
            </a:r>
          </a:p>
          <a:p>
            <a:pPr marL="331788" indent="-331788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669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Recoverability (cont.)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/>
          <a:lstStyle/>
          <a:p>
            <a:pPr marL="334963" indent="-331788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800" b="1" u="sng" dirty="0" smtClean="0">
                <a:cs typeface="Times New Roman" pitchFamily="18" charset="0"/>
              </a:rPr>
              <a:t>Summary:</a:t>
            </a:r>
            <a:r>
              <a:rPr lang="en-US" sz="2400" dirty="0" smtClean="0">
                <a:cs typeface="Times New Roman" pitchFamily="18" charset="0"/>
              </a:rPr>
              <a:t> </a:t>
            </a:r>
          </a:p>
          <a:p>
            <a:pPr marL="334963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Many schedules can exist for a set of transactions</a:t>
            </a:r>
          </a:p>
          <a:p>
            <a:pPr marL="334963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set of all possible schedules can be partitioned into two subsets: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recoverable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non-recoverable</a:t>
            </a:r>
          </a:p>
          <a:p>
            <a:pPr marL="334963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subset of the recoverable schedules are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34963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blind writes are allowed, a subset of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schedules are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strict</a:t>
            </a:r>
          </a:p>
          <a:p>
            <a:pPr marL="334963" indent="-331788" algn="just" eaLnBrk="1" hangingPunct="1">
              <a:lnSpc>
                <a:spcPct val="90000"/>
              </a:lnSpc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blind writes are not allowed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the set of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cascadeless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schedules is the same as the set of strict schedules</a:t>
            </a:r>
          </a:p>
          <a:p>
            <a:pPr marL="334963" indent="-331788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endParaRPr lang="en-US" sz="2400" dirty="0" smtClean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197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Among the large set of possible schedules, we want to characterize which schedules are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guaranteed to give a correct result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consistency preservation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property of the ACID properties states that: each transaction if executed on its own (from start to finish) will transform a consistent state of the database into another consistent state. 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Hence, each transaction is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correct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on its own</a:t>
            </a:r>
          </a:p>
        </p:txBody>
      </p:sp>
    </p:spTree>
    <p:extLst>
      <p:ext uri="{BB962C8B-B14F-4D97-AF65-F5344CB8AC3E}">
        <p14:creationId xmlns:p14="http://schemas.microsoft.com/office/powerpoint/2010/main" val="27111370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4915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3400" y="1447800"/>
            <a:ext cx="8153400" cy="5257800"/>
          </a:xfrm>
        </p:spPr>
        <p:txBody>
          <a:bodyPr lIns="90000" tIns="46800" rIns="90000" bIns="46800">
            <a:normAutofit fontScale="92500" lnSpcReduction="10000"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Serial schedule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A schedule S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serial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if, for every transaction T participating in the schedule, all the operations of T are executed consecutively (without interleaving of operations from other transactions) in the schedule. Otherwise, the schedule is called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non-serial.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Based on the consistency preservation property,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any serial schedule will produce a correct result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(assuming no inter-dependencies among different transactions)</a:t>
            </a:r>
          </a:p>
          <a:p>
            <a:pPr>
              <a:spcBef>
                <a:spcPts val="700"/>
              </a:spcBef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Serial schedules are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not feasible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for performance reasons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spcBef>
                <a:spcPts val="700"/>
              </a:spcBef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 interleaving of operations</a:t>
            </a:r>
          </a:p>
          <a:p>
            <a:pPr lvl="1">
              <a:spcBef>
                <a:spcPts val="700"/>
              </a:spcBef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Long transactions force other transactions to wait</a:t>
            </a:r>
          </a:p>
          <a:p>
            <a:pPr lvl="1">
              <a:spcBef>
                <a:spcPts val="700"/>
              </a:spcBef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System cannot switch to other transaction when a transaction is waiting for disk I/O or any other event</a:t>
            </a:r>
          </a:p>
          <a:p>
            <a:pPr lvl="1">
              <a:spcBef>
                <a:spcPts val="700"/>
              </a:spcBef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Need to allow concurrency with interleaving without sacrificing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correctness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506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schedule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A schedule S is 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if it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equivalent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to some serial schedule of the same n transactions.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Question: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How do we define equivalence of schedules?</a:t>
            </a:r>
          </a:p>
        </p:txBody>
      </p:sp>
    </p:spTree>
    <p:extLst>
      <p:ext uri="{BB962C8B-B14F-4D97-AF65-F5344CB8AC3E}">
        <p14:creationId xmlns:p14="http://schemas.microsoft.com/office/powerpoint/2010/main" val="30554100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487362"/>
          </a:xfrm>
        </p:spPr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 smtClean="0">
                <a:cs typeface="Times New Roman" pitchFamily="18" charset="0"/>
              </a:rPr>
              <a:t>Equivalence of Schedules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762000"/>
            <a:ext cx="7772400" cy="5257800"/>
          </a:xfrm>
        </p:spPr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Result equivalent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Two schedules are called result equivalent if they produce the same final state of the database.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Difficult to determine without analyzing the internal operations of the transactions, which is not feasible in general.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May also get result equivalence by chance for a particular input parameter even though schedules are not equivalent in general.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62400"/>
            <a:ext cx="7543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44727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Equivalence of Schedules (cont.)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Conflict equivalent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Two schedules are conflict equivalent if the relative order of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any two conflicting operations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 the same in both schedules.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Commonly used definition of schedule equivalence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Two operations are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conflicting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if:</a:t>
            </a:r>
          </a:p>
          <a:p>
            <a:pPr marL="1481138" lvl="1" indent="-566738" algn="just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They access the same data item X</a:t>
            </a:r>
          </a:p>
          <a:p>
            <a:pPr marL="1481138" lvl="1" indent="-566738" algn="just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They are from two different transactions</a:t>
            </a:r>
          </a:p>
          <a:p>
            <a:pPr marL="1481138" lvl="1" indent="-566738" algn="just" eaLnBrk="1" hangingPunct="1">
              <a:buFont typeface="Times New Roman" pitchFamily="18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At least one is a write operation</a:t>
            </a:r>
          </a:p>
          <a:p>
            <a:pPr marL="331788" indent="-331788" algn="just" eaLnBrk="1" hangingPunct="1"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Read-Write conflict example: r1(X) and w2(X)</a:t>
            </a:r>
          </a:p>
          <a:p>
            <a:pPr marL="331788" indent="-331788" algn="just" eaLnBrk="1" hangingPunct="1"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Write-write conflict example: w1(Y) and w2(Y)</a:t>
            </a:r>
          </a:p>
        </p:txBody>
      </p:sp>
    </p:spTree>
    <p:extLst>
      <p:ext uri="{BB962C8B-B14F-4D97-AF65-F5344CB8AC3E}">
        <p14:creationId xmlns:p14="http://schemas.microsoft.com/office/powerpoint/2010/main" val="1537091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Equivalence of Schedules (cont.)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/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Changing the order of conflicting operations generally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causes a different outcome. 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changing r1(X); w2(X) to w2(X); r1(X) means that T1 will read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a different value for X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changing w1(Y); w2(Y) to w2(Y); w1(Y) means that the final value for Y in the database can be different.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Note that read operations are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not conflicting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; changing r1(Z); r2(Z) to r2(Z); r1(Z) does not change the outcome.</a:t>
            </a:r>
          </a:p>
        </p:txBody>
      </p:sp>
    </p:spTree>
    <p:extLst>
      <p:ext uri="{BB962C8B-B14F-4D97-AF65-F5344CB8AC3E}">
        <p14:creationId xmlns:p14="http://schemas.microsoft.com/office/powerpoint/2010/main" val="1601018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Scedules Based on Serializability (cont.)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Conflict equivalence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of schedules is used to determine which schedules are correct in general 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schedule S is said to be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if it is conflict equivalent to some serial schedule S’.</a:t>
            </a:r>
          </a:p>
          <a:p>
            <a:pPr marL="331788" indent="-331788" algn="just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schedule is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considered to be correct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because it is equivalent to a serial schedule, and any serial schedule is considered to be correct</a:t>
            </a:r>
          </a:p>
          <a:p>
            <a:pPr marL="731838" lvl="1" indent="-274638" algn="just">
              <a:spcBef>
                <a:spcPts val="600"/>
              </a:spcBef>
              <a:buClr>
                <a:srgbClr val="FF0000"/>
              </a:buClr>
              <a:buFont typeface="Palatino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will leave the database in a consistent state. </a:t>
            </a:r>
          </a:p>
          <a:p>
            <a:pPr marL="731838" lvl="1" indent="-274638" algn="just">
              <a:spcBef>
                <a:spcPts val="600"/>
              </a:spcBef>
              <a:buClr>
                <a:srgbClr val="FF0000"/>
              </a:buClr>
              <a:buFont typeface="Palatino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interleaving is appropriate and will result in a state as if the transactions were serially executed, yet will achieve efficiency due to concurrent execution and interleaving of operations from different transactions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6495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 generally hard to check at run-time:</a:t>
            </a:r>
          </a:p>
          <a:p>
            <a:pPr marL="731838" lvl="1" indent="-274638" algn="just" eaLnBrk="1" hangingPunct="1">
              <a:buFont typeface="Arial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Interleaving of operations is generally handled by the operating system through the process scheduler. </a:t>
            </a:r>
          </a:p>
          <a:p>
            <a:pPr marL="731838" lvl="1" indent="-274638" algn="just" eaLnBrk="1" hangingPunct="1">
              <a:buFont typeface="Arial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Difficult to determine beforehand how the operations in a schedule will be interleaved. </a:t>
            </a:r>
          </a:p>
          <a:p>
            <a:pPr marL="731838" lvl="1" indent="-274638" algn="just" eaLnBrk="1" hangingPunct="1">
              <a:buFont typeface="Arial" charset="0"/>
              <a:buChar char="–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Transactions are continuously started and terminated</a:t>
            </a:r>
          </a:p>
          <a:p>
            <a:pPr indent="-331788" algn="just">
              <a:lnSpc>
                <a:spcPct val="90000"/>
              </a:lnSpc>
              <a:spcBef>
                <a:spcPts val="7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DBMS concurrency control subsystem will enforce the protocol rules and thus guarantee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of schedules</a:t>
            </a:r>
          </a:p>
          <a:p>
            <a:pPr indent="-331788" algn="just">
              <a:lnSpc>
                <a:spcPct val="90000"/>
              </a:lnSpc>
              <a:spcBef>
                <a:spcPts val="700"/>
              </a:spcBef>
              <a:buFont typeface="Arial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Current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approach used in most DBMSs: </a:t>
            </a:r>
          </a:p>
          <a:p>
            <a:pPr marL="731838" lvl="1" indent="-274638" algn="just">
              <a:lnSpc>
                <a:spcPct val="90000"/>
              </a:lnSpc>
              <a:spcBef>
                <a:spcPts val="600"/>
              </a:spcBef>
              <a:buFont typeface="Arial" charset="0"/>
              <a:buChar char="–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Use of locks with two phase locking</a:t>
            </a:r>
          </a:p>
        </p:txBody>
      </p:sp>
    </p:spTree>
    <p:extLst>
      <p:ext uri="{BB962C8B-B14F-4D97-AF65-F5344CB8AC3E}">
        <p14:creationId xmlns:p14="http://schemas.microsoft.com/office/powerpoint/2010/main" val="27536712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 lIns="92160" tIns="46080" rIns="92160" bIns="46080"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cs typeface="Times New Roman" pitchFamily="18" charset="0"/>
              </a:rPr>
              <a:t>Testing for </a:t>
            </a:r>
            <a:r>
              <a:rPr lang="en-US" b="1" dirty="0" smtClean="0">
                <a:cs typeface="Times New Roman" pitchFamily="18" charset="0"/>
              </a:rPr>
              <a:t>conflict </a:t>
            </a:r>
            <a:r>
              <a:rPr lang="en-US" b="1" dirty="0" err="1" smtClean="0">
                <a:cs typeface="Times New Roman" pitchFamily="18" charset="0"/>
              </a:rPr>
              <a:t>serializability</a:t>
            </a:r>
            <a:r>
              <a:rPr lang="en-US" b="1" dirty="0" smtClean="0">
                <a:cs typeface="Times New Roman" pitchFamily="18" charset="0"/>
              </a:rPr>
              <a:t> </a:t>
            </a:r>
            <a:endParaRPr lang="en-US" sz="4000" dirty="0" smtClean="0">
              <a:cs typeface="Times New Roman" pitchFamily="18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1066800"/>
            <a:ext cx="8610600" cy="4953000"/>
          </a:xfrm>
        </p:spPr>
        <p:txBody>
          <a:bodyPr lIns="90000" tIns="46800" rIns="90000" bIns="46800">
            <a:normAutofit/>
          </a:bodyPr>
          <a:lstStyle/>
          <a:p>
            <a:pPr marL="354012" indent="-342900" algn="just">
              <a:spcBef>
                <a:spcPts val="6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Looks at only r(X) and w(X) operations in a schedule.</a:t>
            </a:r>
          </a:p>
          <a:p>
            <a:pPr marL="354012" indent="-342900" algn="just">
              <a:spcBef>
                <a:spcPts val="6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Constructs a precedence graph (serialization graph) –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one node for each transaction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, plus directed edges </a:t>
            </a:r>
          </a:p>
          <a:p>
            <a:pPr marL="354012" indent="-342900" algn="just">
              <a:spcBef>
                <a:spcPts val="6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edge is created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from T</a:t>
            </a:r>
            <a:r>
              <a:rPr lang="en-US" sz="2100" baseline="-30000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100" baseline="-30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if one of the operations in T</a:t>
            </a:r>
            <a:r>
              <a:rPr lang="en-US" sz="2100" baseline="-30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appears before a conflicting operation in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100" baseline="-30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endParaRPr lang="en-US" sz="2100" baseline="-30000" dirty="0" smtClean="0">
              <a:latin typeface="Times New Roman" pitchFamily="18" charset="0"/>
              <a:cs typeface="Times New Roman" pitchFamily="18" charset="0"/>
            </a:endParaRPr>
          </a:p>
          <a:p>
            <a:pPr marL="354012" indent="-342900" algn="just">
              <a:spcBef>
                <a:spcPts val="6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The schedule</a:t>
            </a:r>
            <a:r>
              <a:rPr lang="en-US" sz="2100" baseline="-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1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if and only if the precedence graph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has no cycles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405" y="3276600"/>
            <a:ext cx="762939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7007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839200" cy="64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91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610599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36733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678"/>
            <a:ext cx="71628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01" y="1676400"/>
            <a:ext cx="4741101" cy="4140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752600"/>
            <a:ext cx="441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204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2942"/>
            <a:ext cx="8610600" cy="6492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23109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View equivalence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A less restrictive definition of equivalence of schedules than conflict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when blind writes are allowed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331788" indent="-331788" algn="just" eaLnBrk="1" hangingPunct="1">
              <a:spcBef>
                <a:spcPts val="700"/>
              </a:spcBef>
              <a:buFont typeface="Arial" charset="0"/>
              <a:buChar char="•"/>
              <a:tabLst>
                <a:tab pos="331788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View 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definition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based on view equivalence. A schedule is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view </a:t>
            </a:r>
            <a:r>
              <a:rPr lang="en-US" sz="2300" i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it is 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view equivalent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a serial schedule. </a:t>
            </a:r>
          </a:p>
        </p:txBody>
      </p:sp>
    </p:spTree>
    <p:extLst>
      <p:ext uri="{BB962C8B-B14F-4D97-AF65-F5344CB8AC3E}">
        <p14:creationId xmlns:p14="http://schemas.microsoft.com/office/powerpoint/2010/main" val="1918483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66563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533400" indent="-5222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Two schedules are said to be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view equivalent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if the following three conditions hold: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same set of transactions participates in S and S’, and S and S’ include the same operations of those transactions.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For any operation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 of Ti in S, if the value of X read was written by an operation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Wj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Tj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(or if it is the original value of X before the schedule started), the same condition must hold for the value of X read by operation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 of Ti in S’.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Times New Roman" pitchFamily="18" charset="0"/>
              <a:buChar char="•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the operation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Wk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(Y)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 the last operation to write item Y in S, then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Wk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(Y) of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Tk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must also be the last operation to write item Y in S’. </a:t>
            </a:r>
          </a:p>
        </p:txBody>
      </p:sp>
    </p:spTree>
    <p:extLst>
      <p:ext uri="{BB962C8B-B14F-4D97-AF65-F5344CB8AC3E}">
        <p14:creationId xmlns:p14="http://schemas.microsoft.com/office/powerpoint/2010/main" val="40629900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533400" indent="-522288" algn="just" eaLnBrk="1" hangingPunct="1">
              <a:spcBef>
                <a:spcPts val="700"/>
              </a:spcBef>
              <a:buClrTx/>
              <a:buFontTx/>
              <a:buNone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The premise behind view equivalence:</a:t>
            </a:r>
          </a:p>
          <a:p>
            <a:pPr marL="533400" indent="-522288" algn="just" eaLnBrk="1" hangingPunct="1"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Each read operation of a transaction reads the result of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the same write operation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in both schedules.</a:t>
            </a:r>
          </a:p>
          <a:p>
            <a:pPr marL="533400" indent="-522288" algn="just" eaLnBrk="1" hangingPunct="1"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“The view”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read operations are said to see the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same view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in both schedules.</a:t>
            </a:r>
          </a:p>
          <a:p>
            <a:pPr marL="533400" indent="-522288" algn="just" eaLnBrk="1" hangingPunct="1"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final write operation on each item is the same on both schedules resulting in the same final database state in case of blind writes.</a:t>
            </a:r>
          </a:p>
        </p:txBody>
      </p:sp>
    </p:spTree>
    <p:extLst>
      <p:ext uri="{BB962C8B-B14F-4D97-AF65-F5344CB8AC3E}">
        <p14:creationId xmlns:p14="http://schemas.microsoft.com/office/powerpoint/2010/main" val="36015791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533400" indent="-522288" algn="just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Relationship between view and conflict equivalence: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two are same under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constrained write assumption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(no blind writes allowed)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stricter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than view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when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blind writes occur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(a schedule that is view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 not necessarily conflict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33400" indent="-522288" algn="just" eaLnBrk="1" hangingPunct="1">
              <a:lnSpc>
                <a:spcPct val="90000"/>
              </a:lnSpc>
              <a:spcBef>
                <a:spcPts val="700"/>
              </a:spcBef>
              <a:buClr>
                <a:srgbClr val="FF0000"/>
              </a:buClr>
              <a:buFont typeface="Wingdings" charset="2"/>
              <a:buChar char=""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Any conflict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schedule is also view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but not vice versa. </a:t>
            </a:r>
          </a:p>
        </p:txBody>
      </p:sp>
    </p:spTree>
    <p:extLst>
      <p:ext uri="{BB962C8B-B14F-4D97-AF65-F5344CB8AC3E}">
        <p14:creationId xmlns:p14="http://schemas.microsoft.com/office/powerpoint/2010/main" val="24873487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 lnSpcReduction="10000"/>
          </a:bodyPr>
          <a:lstStyle/>
          <a:p>
            <a:pPr marL="354012" indent="-342900" algn="just">
              <a:lnSpc>
                <a:spcPct val="90000"/>
              </a:lnSpc>
              <a:spcBef>
                <a:spcPts val="7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Relationship between view and conflict equivalence (</a:t>
            </a:r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Consider the following schedule of three transactions </a:t>
            </a: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T1: r1(X); w1(X); 	T2: w2(X); 	and  	T3: w3(X):</a:t>
            </a: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Schedule Sa: r1(X); w2(X); w1(X); w3(X); c1; c2; c3;</a:t>
            </a: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 Sa, the operations w2(X) and w3(X) are blind writes, since T2 and T3 do not read the value of X. </a:t>
            </a: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354012" indent="-342900" algn="just">
              <a:lnSpc>
                <a:spcPct val="90000"/>
              </a:lnSpc>
              <a:spcBef>
                <a:spcPts val="600"/>
              </a:spcBef>
              <a:buClrTx/>
              <a:tabLst>
                <a:tab pos="533400" algn="l"/>
                <a:tab pos="646113" algn="l"/>
                <a:tab pos="1103313" algn="l"/>
                <a:tab pos="1560513" algn="l"/>
                <a:tab pos="2017713" algn="l"/>
                <a:tab pos="2474913" algn="l"/>
                <a:tab pos="2932113" algn="l"/>
                <a:tab pos="3389313" algn="l"/>
                <a:tab pos="3846513" algn="l"/>
                <a:tab pos="4303713" algn="l"/>
                <a:tab pos="4760913" algn="l"/>
                <a:tab pos="5218113" algn="l"/>
                <a:tab pos="5675313" algn="l"/>
                <a:tab pos="6132513" algn="l"/>
                <a:tab pos="6589713" algn="l"/>
                <a:tab pos="7046913" algn="l"/>
                <a:tab pos="7504113" algn="l"/>
                <a:tab pos="7961313" algn="l"/>
                <a:tab pos="8418513" algn="l"/>
                <a:tab pos="8875713" algn="l"/>
                <a:tab pos="93329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Sa is </a:t>
            </a:r>
            <a:r>
              <a:rPr lang="en-US" sz="2300" b="1" u="sng" dirty="0" smtClean="0">
                <a:latin typeface="Times New Roman" pitchFamily="18" charset="0"/>
                <a:cs typeface="Times New Roman" pitchFamily="18" charset="0"/>
              </a:rPr>
              <a:t>view </a:t>
            </a:r>
            <a:r>
              <a:rPr lang="en-US" sz="2300" b="1" u="sng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since it is view equivalent to the serial schedule T1, T2, T3. However, Sa is </a:t>
            </a:r>
            <a:r>
              <a:rPr lang="en-US" sz="2300" b="1" u="sng" dirty="0" smtClean="0">
                <a:latin typeface="Times New Roman" pitchFamily="18" charset="0"/>
                <a:cs typeface="Times New Roman" pitchFamily="18" charset="0"/>
              </a:rPr>
              <a:t>not conflict </a:t>
            </a:r>
            <a:r>
              <a:rPr lang="en-US" sz="2300" b="1" u="sng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since it is not conflict equivalent to any serial schedule.</a:t>
            </a:r>
          </a:p>
        </p:txBody>
      </p:sp>
    </p:spTree>
    <p:extLst>
      <p:ext uri="{BB962C8B-B14F-4D97-AF65-F5344CB8AC3E}">
        <p14:creationId xmlns:p14="http://schemas.microsoft.com/office/powerpoint/2010/main" val="818483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70659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/>
          </a:bodyPr>
          <a:lstStyle/>
          <a:p>
            <a:pPr marL="609600" indent="-598488" algn="just" eaLnBrk="1" hangingPunct="1">
              <a:spcBef>
                <a:spcPts val="7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Other Types of Equivalence of Schedules </a:t>
            </a:r>
          </a:p>
          <a:p>
            <a:pPr marL="354012" indent="-342900" algn="just">
              <a:spcBef>
                <a:spcPts val="7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Under special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semantic constraints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schedules that are otherwise not conflict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may work correctly</a:t>
            </a:r>
          </a:p>
          <a:p>
            <a:pPr marL="354012" indent="-342900" algn="just">
              <a:spcBef>
                <a:spcPts val="700"/>
              </a:spcBef>
              <a:buClr>
                <a:srgbClr val="FF0000"/>
              </a:buClr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Using commutative operations of addition and subtraction (which can be done in any order) certain non-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transactions may work correctly; known as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debit-credit transactions</a:t>
            </a:r>
          </a:p>
        </p:txBody>
      </p:sp>
    </p:spTree>
    <p:extLst>
      <p:ext uri="{BB962C8B-B14F-4D97-AF65-F5344CB8AC3E}">
        <p14:creationId xmlns:p14="http://schemas.microsoft.com/office/powerpoint/2010/main" val="42096878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smtClean="0">
                <a:cs typeface="Times New Roman" pitchFamily="18" charset="0"/>
              </a:rPr>
              <a:t>Characterizing Schedules based on Serializability (cont.)</a:t>
            </a:r>
          </a:p>
        </p:txBody>
      </p:sp>
      <p:sp>
        <p:nvSpPr>
          <p:cNvPr id="71683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 lIns="90000" tIns="46800" rIns="90000" bIns="46800">
            <a:normAutofit fontScale="92500" lnSpcReduction="10000"/>
          </a:bodyPr>
          <a:lstStyle/>
          <a:p>
            <a:pPr marL="609600" indent="-598488" algn="just" eaLnBrk="1" hangingPunct="1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Other Types of Equivalence of Schedules (cont.)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0" indent="11113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88975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bank credit/debit transactions on a given item are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separable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commutative.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the following schedule S for the two transactions: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: r1(X); w1(X); r2(Y); w2(Y); r1(Y); w1(Y); r2(X); w2(X);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conflict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serializability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it is not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11113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1913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However, if it came from a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read,update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write) sequence as follows: 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r1(X); X := X – 10; w1(X); r2(Y); Y := Y – 20; w2(Y); r1(Y); 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 := Y + 10; w1(Y); r2(X); X := X + 20; w2(X);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Sequence explanation: debit, debit, credit, credit.</a:t>
            </a:r>
          </a:p>
          <a:p>
            <a:pPr marL="609600" indent="-598488" algn="just" eaLnBrk="1" hangingPunct="1">
              <a:lnSpc>
                <a:spcPct val="90000"/>
              </a:lnSpc>
              <a:spcBef>
                <a:spcPts val="600"/>
              </a:spcBef>
              <a:buClrTx/>
              <a:buFontTx/>
              <a:buNone/>
              <a:tabLst>
                <a:tab pos="609600" algn="l"/>
                <a:tab pos="722313" algn="l"/>
                <a:tab pos="1179513" algn="l"/>
                <a:tab pos="1636713" algn="l"/>
                <a:tab pos="2093913" algn="l"/>
                <a:tab pos="2551113" algn="l"/>
                <a:tab pos="3008313" algn="l"/>
                <a:tab pos="3465513" algn="l"/>
                <a:tab pos="3922713" algn="l"/>
                <a:tab pos="4379913" algn="l"/>
                <a:tab pos="4837113" algn="l"/>
                <a:tab pos="5294313" algn="l"/>
                <a:tab pos="5751513" algn="l"/>
                <a:tab pos="6208713" algn="l"/>
                <a:tab pos="6665913" algn="l"/>
                <a:tab pos="7123113" algn="l"/>
                <a:tab pos="7580313" algn="l"/>
                <a:tab pos="8037513" algn="l"/>
                <a:tab pos="8494713" algn="l"/>
                <a:tab pos="8951913" algn="l"/>
                <a:tab pos="9409113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correct schedule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for the given semantics</a:t>
            </a:r>
          </a:p>
        </p:txBody>
      </p:sp>
    </p:spTree>
    <p:extLst>
      <p:ext uri="{BB962C8B-B14F-4D97-AF65-F5344CB8AC3E}">
        <p14:creationId xmlns:p14="http://schemas.microsoft.com/office/powerpoint/2010/main" val="14655825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sz="3200" b="1" smtClean="0"/>
              <a:t>Characterizing Schedules based on Recoverability</a:t>
            </a:r>
            <a:endParaRPr lang="en-US" altLang="ar-SA" b="1" smtClean="0"/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E402E-02F6-4CA2-9870-7A93B6FFA3C8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Type of schedules :</a:t>
            </a:r>
          </a:p>
          <a:p>
            <a:pPr lvl="1" algn="just"/>
            <a:r>
              <a:rPr lang="en-US" altLang="ar-SA" sz="2300" b="1" dirty="0" smtClean="0">
                <a:latin typeface="Times New Roman" pitchFamily="18" charset="0"/>
                <a:cs typeface="Times New Roman" pitchFamily="18" charset="0"/>
              </a:rPr>
              <a:t>recoverable schedule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 : once a transaction T is 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committed, 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it should never </a:t>
            </a:r>
            <a:r>
              <a:rPr lang="en-US" altLang="ar-SA" sz="2300" dirty="0" err="1" smtClean="0">
                <a:latin typeface="Times New Roman" pitchFamily="18" charset="0"/>
                <a:cs typeface="Times New Roman" pitchFamily="18" charset="0"/>
              </a:rPr>
              <a:t>rollbacked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 algn="just"/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. If no transaction T in S commits until all transactions T’ that have written an item that T reads have committed.</a:t>
            </a:r>
          </a:p>
          <a:p>
            <a:pPr lvl="2" algn="just"/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It is possible for Cascading rollback to occur when an 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uncommitted </a:t>
            </a:r>
            <a:r>
              <a:rPr lang="en-US" altLang="ar-SA" sz="2300" dirty="0" smtClean="0">
                <a:latin typeface="Times New Roman" pitchFamily="18" charset="0"/>
                <a:cs typeface="Times New Roman" pitchFamily="18" charset="0"/>
              </a:rPr>
              <a:t>transaction has to be rolled back.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smtClean="0"/>
              <a:t>Examples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6DB7F0-4FF1-41A4-9C5A-44365AC7D5AE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1- S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(y);w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(x);c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;w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(y);c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Recoverable schedule, even it suffers from the lost update problem [w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(x)]</a:t>
            </a:r>
          </a:p>
          <a:p>
            <a:pPr algn="just">
              <a:buFontTx/>
              <a:buNone/>
            </a:pP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2-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300" baseline="-25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 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 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 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 r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(y);w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(x);c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;a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Tx/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Non-recoverable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schedule. Why?</a:t>
            </a:r>
          </a:p>
          <a:p>
            <a:pPr algn="just">
              <a:buFontTx/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T2 reads x from T1, and then T2 commits before T1 commits. If T1 aborts, then T2 must be aborted after had been committed.</a:t>
            </a:r>
          </a:p>
          <a:p>
            <a:pPr>
              <a:buFontTx/>
              <a:buNone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Schedules and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Conflict in Schedules</a:t>
            </a:r>
          </a:p>
          <a:p>
            <a:pPr lvl="1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a schedule comprising of multiple transactions, a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conflict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occurs when two active transactions perform non-compatible operations. Two operations are said to be in conflict, when all of the following three conditions exists simultaneously −</a:t>
            </a:r>
          </a:p>
          <a:p>
            <a:pPr lvl="2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two operations are parts of different transactions.</a:t>
            </a:r>
          </a:p>
          <a:p>
            <a:pPr lvl="2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Both the operations access the same data item.</a:t>
            </a:r>
          </a:p>
          <a:p>
            <a:pPr lvl="2"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At least one of the operations is a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write_item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() operation, i.e. it tries to modify the data item.</a:t>
            </a:r>
          </a:p>
          <a:p>
            <a:pPr lvl="1"/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2708</TotalTime>
  <Words>2845</Words>
  <Application>Microsoft Office PowerPoint</Application>
  <PresentationFormat>On-screen Show (4:3)</PresentationFormat>
  <Paragraphs>213</Paragraphs>
  <Slides>44</Slides>
  <Notes>30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Equity</vt:lpstr>
      <vt:lpstr>Transaction Processing</vt:lpstr>
      <vt:lpstr>Problems in Transaction Processing</vt:lpstr>
      <vt:lpstr>Lost update problem / Write-Write conflict Problem</vt:lpstr>
      <vt:lpstr>The Temporary Update (or Dirty Read) Problem. </vt:lpstr>
      <vt:lpstr>Unrepeatable Read Problem</vt:lpstr>
      <vt:lpstr>Phantom Read Problem</vt:lpstr>
      <vt:lpstr>The Incorrect Summary Problem</vt:lpstr>
      <vt:lpstr>Schedules and Conflicts</vt:lpstr>
      <vt:lpstr>Schedules and Conflicts</vt:lpstr>
      <vt:lpstr>Schedules and Conflicts</vt:lpstr>
      <vt:lpstr>PowerPoint Presentation</vt:lpstr>
      <vt:lpstr>Schedules of Transactions (cont.)</vt:lpstr>
      <vt:lpstr>Schedules of Transactions (cont.)</vt:lpstr>
      <vt:lpstr>Schedules of Transactions (cont.)</vt:lpstr>
      <vt:lpstr>Characterizing Schedules based on Recoverability</vt:lpstr>
      <vt:lpstr>Characterizing Schedules Based on Recoverability (cont.)</vt:lpstr>
      <vt:lpstr>Characterizing Schedules based on Recoverability (cont.)</vt:lpstr>
      <vt:lpstr>Characterizing Schedules Based on Recoverability (cont.)</vt:lpstr>
      <vt:lpstr>Characterizing Schedules based on Recoverability (cont.)</vt:lpstr>
      <vt:lpstr>Characterizing Schedules Based on Recoverability (cont.)</vt:lpstr>
      <vt:lpstr>Characterizing Schedules Based on Recoverability (cont.)</vt:lpstr>
      <vt:lpstr>Characterizing Schedules based on Serializability</vt:lpstr>
      <vt:lpstr>Characterizing Schedules based on Serializability (cont.)</vt:lpstr>
      <vt:lpstr>Characterizing Schedules based on Serializability (cont.)</vt:lpstr>
      <vt:lpstr>Equivalence of Schedules</vt:lpstr>
      <vt:lpstr>Equivalence of Schedules (cont.)</vt:lpstr>
      <vt:lpstr>Equivalence of Schedules (cont.)</vt:lpstr>
      <vt:lpstr>Characterizing Scedules Based on Serializability (cont.)</vt:lpstr>
      <vt:lpstr>Characterizing Schedules based on Serializability (cont.)</vt:lpstr>
      <vt:lpstr>Testing for conflict serializability </vt:lpstr>
      <vt:lpstr>PowerPoint Presentation</vt:lpstr>
      <vt:lpstr>PowerPoint Presentation</vt:lpstr>
      <vt:lpstr>PowerPoint Presentation</vt:lpstr>
      <vt:lpstr>PowerPoint Presentation</vt:lpstr>
      <vt:lpstr>Characterizing Schedules based on Serializability (cont.)</vt:lpstr>
      <vt:lpstr>Characterizing Schedules based on Serializability (cont.)</vt:lpstr>
      <vt:lpstr>Characterizing Schedules based on Serializability (cont.)</vt:lpstr>
      <vt:lpstr>Characterizing Schedules based on Serializability (cont.)</vt:lpstr>
      <vt:lpstr>Characterizing Schedules based on Serializability (cont.)</vt:lpstr>
      <vt:lpstr>Characterizing Schedules based on Serializability (cont.)</vt:lpstr>
      <vt:lpstr>Characterizing Schedules based on Serializability (cont.)</vt:lpstr>
      <vt:lpstr>Characterizing Schedules based on Recoverability</vt:lpstr>
      <vt:lpstr>Examples</vt:lpstr>
      <vt:lpstr>Schedules and Conflicts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Processing</dc:title>
  <dc:creator>VIT-Laptop</dc:creator>
  <cp:lastModifiedBy>DELL</cp:lastModifiedBy>
  <cp:revision>102</cp:revision>
  <dcterms:created xsi:type="dcterms:W3CDTF">2017-10-09T03:51:49Z</dcterms:created>
  <dcterms:modified xsi:type="dcterms:W3CDTF">2024-10-09T08:36:46Z</dcterms:modified>
</cp:coreProperties>
</file>