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99" r:id="rId3"/>
    <p:sldId id="257" r:id="rId4"/>
    <p:sldId id="258" r:id="rId5"/>
    <p:sldId id="295" r:id="rId6"/>
    <p:sldId id="296" r:id="rId7"/>
    <p:sldId id="297" r:id="rId8"/>
    <p:sldId id="298" r:id="rId9"/>
    <p:sldId id="300" r:id="rId10"/>
    <p:sldId id="301" r:id="rId11"/>
    <p:sldId id="302" r:id="rId12"/>
    <p:sldId id="303" r:id="rId13"/>
    <p:sldId id="290" r:id="rId14"/>
    <p:sldId id="261" r:id="rId15"/>
    <p:sldId id="262" r:id="rId16"/>
    <p:sldId id="264" r:id="rId17"/>
    <p:sldId id="268" r:id="rId18"/>
    <p:sldId id="266" r:id="rId19"/>
    <p:sldId id="270" r:id="rId20"/>
    <p:sldId id="271" r:id="rId21"/>
    <p:sldId id="259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14-Aug-24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14-Aug-24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14-Aug-24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14-Aug-24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14-Aug-24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Schema </a:t>
            </a:r>
            <a:r>
              <a:rPr lang="en-US" dirty="0" smtClean="0"/>
              <a:t>Refinement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382000" cy="51054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Relational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schema refinement is a process used to improve the design of a database schema to reduce redundancy and eliminate anomalies. Here are the key steps involved: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Identify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Functional Dependencies (FDs)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These are constraints between two sets of attributes in a relation. For example, if attribute A determines attribute B, then B is functionally dependent on A.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Decompose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Relations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Based on the identified FDs, decompose the relations into smaller, more manageable tables. This helps in reducing redundancy and avoiding anomalies like update, insertion, and deletion anomalies.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Normalization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This involves organizing the attributes and relations of a database to minimize redundancy. The process typically involves several normal forms (1NF, 2NF, 3NF, BCNF, etc.), each with specific rules to follow12.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Check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for Lossless Join and Dependency Preservation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Ensure that the decomposition of relations does not result in loss of information and that all functional dependencies are preserved.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004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Guidelines for the Relational Schema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Functional dependencies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Normalization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Boyce Code Normal form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 valued dependency and Fourth Normal form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Join dependency and Fifth Normal form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Informal Design Guidelines for Relational Schema.</a:t>
            </a:r>
          </a:p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The Schema Refinement refers to refine the schema by using some technique. </a:t>
            </a: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The best technique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of schema refinement is decomposition.</a:t>
            </a:r>
          </a:p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Normalization means “split the tables into small tables which will contain less number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of attributes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in such a way that table design must not contain any problem of inserting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, deleting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, updating anomalies and guarantees no redundancy”.</a:t>
            </a:r>
          </a:p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Normalization or Schema Refinement is a technique of organizing the data in the database.</a:t>
            </a:r>
          </a:p>
          <a:p>
            <a:pPr algn="just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It is a systematic approach of decomposing tables to eliminate data redundancy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and undesirable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characteristics like Insertion, Update and Deletion Anomalies.</a:t>
            </a:r>
          </a:p>
          <a:p>
            <a:pPr algn="just"/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Redundancy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: refers to repetition of same data or duplicate copies of same data stored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in different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locations.</a:t>
            </a:r>
          </a:p>
          <a:p>
            <a:pPr algn="just"/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Anomalies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: Anomalies refers to the problems occurred after poorly planned and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normalized databases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where all the data is stored in one table which is sometimes called a flat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file database.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Anomalies refers to the problems occurred after poorly planned and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un-normalized databases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where all the data is stored in one table which is sometimes called a flat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file database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 Let us consider such type of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schema.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971800"/>
            <a:ext cx="74676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342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52400"/>
            <a:ext cx="7772400" cy="5867400"/>
          </a:xfrm>
        </p:spPr>
        <p:txBody>
          <a:bodyPr>
            <a:normAutofit/>
          </a:bodyPr>
          <a:lstStyle/>
          <a:p>
            <a:pPr algn="just"/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Insertion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anomalies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: It may not be possible to store some information unless some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other information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is stored as well.</a:t>
            </a:r>
          </a:p>
          <a:p>
            <a:pPr algn="just"/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Redundant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storage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: some information is stored repeatedly</a:t>
            </a:r>
          </a:p>
          <a:p>
            <a:pPr algn="just"/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pdate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anomalies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: If one copy of redundant data is updated, then inconsistency is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created unless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all redundant copies of data are updated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Deletion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anomalies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: It may not be possible to delete some information without losing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some other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information as well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Problem in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updation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updation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anomaly – If there is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updation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in the fee from 5000 to 7000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 then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we have to update FEE column in all the rows, else data will become inconsistent.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572000"/>
            <a:ext cx="75438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6176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304800"/>
            <a:ext cx="7772400" cy="5715000"/>
          </a:xfrm>
        </p:spPr>
        <p:txBody>
          <a:bodyPr>
            <a:normAutofit/>
          </a:bodyPr>
          <a:lstStyle/>
          <a:p>
            <a:pPr algn="just"/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Insertion Anomaly and Deletion Anomaly-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These anomalies exist only due to redundancy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 otherwise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they do not exist.</a:t>
            </a:r>
          </a:p>
          <a:p>
            <a:pPr algn="just"/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Insertion Anomalies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: New course is introduced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CA,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But no student is there who is having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CA subject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85714"/>
            <a:ext cx="7315200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4442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382000" cy="5791200"/>
          </a:xfrm>
        </p:spPr>
        <p:txBody>
          <a:bodyPr>
            <a:normAutofit/>
          </a:bodyPr>
          <a:lstStyle/>
          <a:p>
            <a:pPr algn="just"/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Deletion Anomaly</a:t>
            </a: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Deletion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of S3 student cause the deletion of course. Because of deletion of some data forced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to delete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some other useful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data.</a:t>
            </a:r>
          </a:p>
          <a:p>
            <a:pPr algn="just"/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Solutions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To Anomalies : Decomposition of Tables – Schema Refinement,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990600"/>
            <a:ext cx="37719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971800"/>
            <a:ext cx="6691247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4429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53000"/>
          </a:xfrm>
        </p:spPr>
        <p:txBody>
          <a:bodyPr>
            <a:no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only way to avoid the repetition-of-information problem in the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relation schema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is to decompose it into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two or more schemas.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Not all decompositions are good.  Suppose we decompose</a:t>
            </a:r>
          </a:p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employee(ID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name, street, city, salary)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into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employee1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(ID, name)</a:t>
            </a:r>
          </a:p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employee2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(name, street, city, salary)</a:t>
            </a:r>
          </a:p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problem arises when we have two employees with the same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name.</a:t>
            </a:r>
          </a:p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Types of decomposition:</a:t>
            </a:r>
          </a:p>
          <a:p>
            <a:pPr algn="just"/>
            <a:r>
              <a:rPr lang="en-US" sz="2300" b="1" dirty="0" err="1" smtClean="0">
                <a:latin typeface="Times New Roman" pitchFamily="18" charset="0"/>
                <a:cs typeface="Times New Roman" pitchFamily="18" charset="0"/>
              </a:rPr>
              <a:t>Lossy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 Decomposition</a:t>
            </a:r>
          </a:p>
          <a:p>
            <a:pPr algn="just"/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Lossless Decomposition</a:t>
            </a:r>
            <a:endParaRPr lang="en-US" sz="23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687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68362"/>
          </a:xfrm>
        </p:spPr>
        <p:txBody>
          <a:bodyPr/>
          <a:lstStyle/>
          <a:p>
            <a:r>
              <a:rPr lang="en-US" dirty="0" err="1" smtClean="0"/>
              <a:t>Lossy</a:t>
            </a:r>
            <a:r>
              <a:rPr lang="en-US" dirty="0" smtClean="0"/>
              <a:t> Decomposition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8279704" cy="523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1059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Lossless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 be a relation schema and let 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en-US" sz="2200" i="1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en-US" sz="2200" i="1" baseline="-25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form a decomposition of R . That is R = 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en-US" sz="2200" i="1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en-US" sz="2200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alt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We say that the decomposition is a </a:t>
            </a:r>
            <a:r>
              <a:rPr lang="en-US" alt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lossless decomposition 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if there is no loss of information by replacing  R with the two relation schemas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altLang="en-US" sz="2200" i="1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lang="en-US" altLang="en-US" sz="22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en-US" sz="2200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altLang="en-US" sz="22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Formally,</a:t>
            </a:r>
          </a:p>
          <a:p>
            <a:pPr algn="just">
              <a:buFont typeface="Monotype Sorts" pitchFamily="-84" charset="2"/>
              <a:buNone/>
            </a:pPr>
            <a:r>
              <a:rPr lang="en-US" altLang="en-US" sz="22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             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R</a:t>
            </a:r>
            <a:r>
              <a:rPr lang="en-US" altLang="en-US" sz="2200" baseline="-500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1</a:t>
            </a:r>
            <a:r>
              <a:rPr lang="en-US" altLang="en-US" sz="22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 (r)      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R</a:t>
            </a:r>
            <a:r>
              <a:rPr lang="en-US" altLang="en-US" sz="2200" baseline="-500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2</a:t>
            </a:r>
            <a:r>
              <a:rPr lang="en-US" altLang="en-US" sz="22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 (r) = 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r</a:t>
            </a:r>
          </a:p>
          <a:p>
            <a:pPr algn="just"/>
            <a:r>
              <a:rPr lang="en-US" altLang="en-US" sz="22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And,  conversely a decomposition is </a:t>
            </a:r>
            <a:r>
              <a:rPr lang="en-US" altLang="en-US" sz="2200" dirty="0" err="1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lossy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if</a:t>
            </a:r>
            <a:endParaRPr lang="en-US" altLang="en-US" sz="2200" i="1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Monotype Sorts" pitchFamily="-84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     r     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R</a:t>
            </a:r>
            <a:r>
              <a:rPr lang="en-US" altLang="en-US" sz="2200" baseline="-500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1</a:t>
            </a:r>
            <a:r>
              <a:rPr lang="en-US" altLang="en-US" sz="22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 (r)      </a:t>
            </a:r>
            <a:r>
              <a:rPr lang="en-US" altLang="en-US" sz="2200" baseline="-250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R</a:t>
            </a:r>
            <a:r>
              <a:rPr lang="en-US" altLang="en-US" sz="2200" baseline="-500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2</a:t>
            </a:r>
            <a:r>
              <a:rPr lang="en-US" altLang="en-US" sz="22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 (r) = 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r</a:t>
            </a:r>
            <a:r>
              <a:rPr lang="en-US" altLang="en-US" sz="2200" dirty="0">
                <a:latin typeface="Times New Roman" panose="02020603050405020304" pitchFamily="18" charset="0"/>
                <a:cs typeface="Times New Roman" pitchFamily="18" charset="0"/>
                <a:sym typeface="Symbol" panose="05050102010706020507" pitchFamily="18" charset="2"/>
              </a:rPr>
              <a:t> </a:t>
            </a:r>
            <a:endParaRPr lang="en-US" alt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133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 of Lossless Decomposition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Decomposition of 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R = (A, B, C)</a:t>
            </a:r>
            <a:br>
              <a:rPr lang="en-US" altLang="en-US" sz="2400" i="1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	R</a:t>
            </a:r>
            <a:r>
              <a:rPr lang="en-US" altLang="en-US" sz="2400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 = (A, B)	R</a:t>
            </a:r>
            <a:r>
              <a:rPr lang="en-US" alt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2400" i="1" dirty="0">
                <a:latin typeface="Times New Roman" pitchFamily="18" charset="0"/>
                <a:cs typeface="Times New Roman" pitchFamily="18" charset="0"/>
              </a:rPr>
              <a:t> = (B, C)</a:t>
            </a:r>
            <a:endParaRPr lang="en-US" alt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C:\Users\as668\Desktop\Judi\7_02 fig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19400"/>
            <a:ext cx="6096000" cy="2723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006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Informal Design Guidelines for Relational Schema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1.Semantics of the Attributes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2.Reducing the Redundant Value 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Tuples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3.Reducing Null values 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Tuples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4.Dissallowing spurious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Tuples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1.Semantics of the Attributes </a:t>
            </a:r>
          </a:p>
          <a:p>
            <a:pPr lvl="1"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Whenever we are going to form relational schema there should be some meaning among the attributes. This meaning is called semantics.</a:t>
            </a:r>
          </a:p>
          <a:p>
            <a:pPr lvl="1"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This semantics relates one attribute to another with some relation.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4038600"/>
            <a:ext cx="57785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267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2. Reducing the Redundant Value in Tuples</a:t>
            </a:r>
          </a:p>
          <a:p>
            <a:pPr lvl="1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Mixing attributes of multiple entities may cause problems </a:t>
            </a:r>
          </a:p>
          <a:p>
            <a:pPr lvl="1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Information is stored redundantly wasting storage </a:t>
            </a:r>
          </a:p>
          <a:p>
            <a:pPr lvl="1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Problems with update anomalies </a:t>
            </a:r>
          </a:p>
          <a:p>
            <a:pPr lvl="2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Insertion anomalies </a:t>
            </a:r>
          </a:p>
          <a:p>
            <a:pPr lvl="2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Deletion anomalies </a:t>
            </a:r>
          </a:p>
          <a:p>
            <a:pPr lvl="2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Modification anomalies </a:t>
            </a:r>
          </a:p>
          <a:p>
            <a:pPr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512" y="4516677"/>
            <a:ext cx="433387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0512" y="4821477"/>
            <a:ext cx="3200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8912" y="5888277"/>
            <a:ext cx="8763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Informal Design Guidelines for Relational Schema</a:t>
            </a:r>
          </a:p>
          <a:p>
            <a:pPr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2. Reducing the Redundant Value in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Tuples</a:t>
            </a: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Here whenever if we insert the tuples there may be ‘N’ students in one department, so Dept No, Dept Name values are repeated ‘N’ times which leads to data redundancy. </a:t>
            </a:r>
          </a:p>
          <a:p>
            <a:pPr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9149751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Informal Design Guidelines for Relational Schema</a:t>
            </a:r>
          </a:p>
          <a:p>
            <a:pPr algn="just"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2. Reducing the Redundant Value in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Tuples</a:t>
            </a: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If we delete the last student of a dept, then whole information about that department will be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deleted.</a:t>
            </a:r>
          </a:p>
          <a:p>
            <a:pPr lvl="1"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Another problem is update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anamolies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i.e. if we insert new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dept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that has no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students.</a:t>
            </a:r>
          </a:p>
          <a:p>
            <a:pPr lvl="1"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If we change the value of one of the attributes of a particular table the we must update  the tuples of all the students belonging to that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dept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else Database will become  inconsistent. </a:t>
            </a: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Relations should be designed such that their tuples will have as few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NULL values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as possible </a:t>
            </a:r>
          </a:p>
          <a:p>
            <a:pPr lvl="1"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Attributes that are NULL frequently could be placed in separate relations (with the primary key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5943600"/>
          </a:xfrm>
        </p:spPr>
        <p:txBody>
          <a:bodyPr>
            <a:normAutofit/>
          </a:bodyPr>
          <a:lstStyle/>
          <a:p>
            <a:r>
              <a:rPr lang="en-US" dirty="0" smtClean="0"/>
              <a:t>Informal Design Guidelines for Relational Schema</a:t>
            </a:r>
          </a:p>
          <a:p>
            <a:pPr>
              <a:buNone/>
            </a:pPr>
            <a:r>
              <a:rPr lang="en-US" dirty="0" smtClean="0"/>
              <a:t>4. </a:t>
            </a:r>
            <a:r>
              <a:rPr lang="en-US" dirty="0" err="1" smtClean="0"/>
              <a:t>Dissallowing</a:t>
            </a:r>
            <a:r>
              <a:rPr lang="en-US" dirty="0" smtClean="0"/>
              <a:t> spurious </a:t>
            </a:r>
            <a:r>
              <a:rPr lang="en-US" dirty="0" err="1" smtClean="0"/>
              <a:t>Tuples</a:t>
            </a:r>
            <a:endParaRPr lang="en-US" dirty="0" smtClean="0"/>
          </a:p>
          <a:p>
            <a:pPr>
              <a:buNone/>
            </a:pPr>
            <a:r>
              <a:rPr lang="en-US" dirty="0" err="1" smtClean="0"/>
              <a:t>Emp</a:t>
            </a:r>
            <a:r>
              <a:rPr lang="en-US" dirty="0" smtClean="0"/>
              <a:t>_ Loc			</a:t>
            </a:r>
            <a:r>
              <a:rPr lang="en-US" dirty="0" err="1" smtClean="0"/>
              <a:t>Emp</a:t>
            </a:r>
            <a:r>
              <a:rPr lang="en-US" dirty="0" smtClean="0"/>
              <a:t>_ </a:t>
            </a:r>
            <a:r>
              <a:rPr lang="en-US" dirty="0" err="1" smtClean="0"/>
              <a:t>Proj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4191000"/>
          <a:ext cx="2590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295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Ploc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RAJA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SJT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KUMAR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SIVA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SJT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…..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81400" y="4191000"/>
          <a:ext cx="5334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333500"/>
                <a:gridCol w="1333500"/>
                <a:gridCol w="13335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SSN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Ploc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SJT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SJT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5943600"/>
          </a:xfrm>
        </p:spPr>
        <p:txBody>
          <a:bodyPr>
            <a:normAutofit/>
          </a:bodyPr>
          <a:lstStyle/>
          <a:p>
            <a:r>
              <a:rPr lang="en-US" dirty="0" smtClean="0"/>
              <a:t>Informal Design Guidelines for Relational Schema</a:t>
            </a:r>
          </a:p>
          <a:p>
            <a:pPr>
              <a:buNone/>
            </a:pPr>
            <a:r>
              <a:rPr lang="en-US" dirty="0" smtClean="0"/>
              <a:t>4. </a:t>
            </a:r>
            <a:r>
              <a:rPr lang="en-US" dirty="0" err="1" smtClean="0"/>
              <a:t>Dissallowing</a:t>
            </a:r>
            <a:r>
              <a:rPr lang="en-US" dirty="0" smtClean="0"/>
              <a:t> spurious </a:t>
            </a:r>
            <a:r>
              <a:rPr lang="en-US" dirty="0" err="1" smtClean="0"/>
              <a:t>Tuples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354278"/>
              </p:ext>
            </p:extLst>
          </p:nvPr>
        </p:nvGraphicFramePr>
        <p:xfrm>
          <a:off x="1219200" y="2971800"/>
          <a:ext cx="5334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SSN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Ploc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RAJA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SJT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KUMAR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103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46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RAJA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SJT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….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Normalization</a:t>
            </a:r>
          </a:p>
          <a:p>
            <a:pPr lvl="1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Data analysis technique to design a Database system</a:t>
            </a:r>
          </a:p>
          <a:p>
            <a:pPr lvl="1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Abnormal data to normal data</a:t>
            </a:r>
          </a:p>
          <a:p>
            <a:pPr lvl="1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Properties</a:t>
            </a:r>
          </a:p>
          <a:p>
            <a:pPr lvl="2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No redundancy</a:t>
            </a:r>
          </a:p>
          <a:p>
            <a:pPr lvl="2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No update anomaly  </a:t>
            </a:r>
          </a:p>
          <a:p>
            <a:pPr lvl="2"/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Normalization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Functional Dependencies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Finding the key attribute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880</TotalTime>
  <Words>984</Words>
  <Application>Microsoft Office PowerPoint</Application>
  <PresentationFormat>On-screen Show (4:3)</PresentationFormat>
  <Paragraphs>167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Equity</vt:lpstr>
      <vt:lpstr>Schema Refinement</vt:lpstr>
      <vt:lpstr>Schema Refinement</vt:lpstr>
      <vt:lpstr>Schema Refinement</vt:lpstr>
      <vt:lpstr>Schema Refinement</vt:lpstr>
      <vt:lpstr>Anomalies</vt:lpstr>
      <vt:lpstr>PowerPoint Presentation</vt:lpstr>
      <vt:lpstr>PowerPoint Presentation</vt:lpstr>
      <vt:lpstr>PowerPoint Presentation</vt:lpstr>
      <vt:lpstr>Decomposition</vt:lpstr>
      <vt:lpstr>Lossy Decomposition</vt:lpstr>
      <vt:lpstr>Lossless Decomposition</vt:lpstr>
      <vt:lpstr>Example of Lossless Decomposition</vt:lpstr>
      <vt:lpstr>Schema Refinement</vt:lpstr>
      <vt:lpstr>Schema Refinement</vt:lpstr>
      <vt:lpstr>Schema Refinement</vt:lpstr>
      <vt:lpstr>Schema Refinement</vt:lpstr>
      <vt:lpstr>PowerPoint Presentation</vt:lpstr>
      <vt:lpstr>Schema Refinement</vt:lpstr>
      <vt:lpstr>Schema Refinement</vt:lpstr>
      <vt:lpstr>Schema Refinement</vt:lpstr>
      <vt:lpstr>Schema Refinement</vt:lpstr>
      <vt:lpstr>Schema Refinement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Module-3</dc:title>
  <dc:creator>VIT-Laptop</dc:creator>
  <cp:lastModifiedBy>DELL</cp:lastModifiedBy>
  <cp:revision>57</cp:revision>
  <dcterms:created xsi:type="dcterms:W3CDTF">2006-08-16T00:00:00Z</dcterms:created>
  <dcterms:modified xsi:type="dcterms:W3CDTF">2024-08-14T06:20:56Z</dcterms:modified>
</cp:coreProperties>
</file>