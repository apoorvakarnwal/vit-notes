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1" r:id="rId1"/>
  </p:sldMasterIdLst>
  <p:notesMasterIdLst>
    <p:notesMasterId r:id="rId33"/>
  </p:notesMasterIdLst>
  <p:sldIdLst>
    <p:sldId id="256" r:id="rId2"/>
    <p:sldId id="292" r:id="rId3"/>
    <p:sldId id="257" r:id="rId4"/>
    <p:sldId id="260" r:id="rId5"/>
    <p:sldId id="272" r:id="rId6"/>
    <p:sldId id="299" r:id="rId7"/>
    <p:sldId id="258" r:id="rId8"/>
    <p:sldId id="298" r:id="rId9"/>
    <p:sldId id="288" r:id="rId10"/>
    <p:sldId id="287" r:id="rId11"/>
    <p:sldId id="293" r:id="rId12"/>
    <p:sldId id="294" r:id="rId13"/>
    <p:sldId id="295" r:id="rId14"/>
    <p:sldId id="262" r:id="rId15"/>
    <p:sldId id="263" r:id="rId16"/>
    <p:sldId id="264" r:id="rId17"/>
    <p:sldId id="279" r:id="rId18"/>
    <p:sldId id="265" r:id="rId19"/>
    <p:sldId id="267" r:id="rId20"/>
    <p:sldId id="278" r:id="rId21"/>
    <p:sldId id="276" r:id="rId22"/>
    <p:sldId id="289" r:id="rId23"/>
    <p:sldId id="290" r:id="rId24"/>
    <p:sldId id="280" r:id="rId25"/>
    <p:sldId id="282" r:id="rId26"/>
    <p:sldId id="283" r:id="rId27"/>
    <p:sldId id="284" r:id="rId28"/>
    <p:sldId id="285" r:id="rId29"/>
    <p:sldId id="286" r:id="rId30"/>
    <p:sldId id="271" r:id="rId31"/>
    <p:sldId id="281" r:id="rId3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51" autoAdjust="0"/>
    <p:restoredTop sz="94681" autoAdjust="0"/>
  </p:normalViewPr>
  <p:slideViewPr>
    <p:cSldViewPr>
      <p:cViewPr>
        <p:scale>
          <a:sx n="77" d="100"/>
          <a:sy n="77" d="100"/>
        </p:scale>
        <p:origin x="-94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 smtClean="0"/>
              <a:t>Click to edit Master text styles</a:t>
            </a:r>
          </a:p>
          <a:p>
            <a:pPr lvl="1"/>
            <a:r>
              <a:rPr lang="en-US" altLang="zh-TW" noProof="0" smtClean="0"/>
              <a:t>Second level</a:t>
            </a:r>
          </a:p>
          <a:p>
            <a:pPr lvl="2"/>
            <a:r>
              <a:rPr lang="en-US" altLang="zh-TW" noProof="0" smtClean="0"/>
              <a:t>Third level</a:t>
            </a:r>
          </a:p>
          <a:p>
            <a:pPr lvl="3"/>
            <a:r>
              <a:rPr lang="en-US" altLang="zh-TW" noProof="0" smtClean="0"/>
              <a:t>Fourth level</a:t>
            </a:r>
          </a:p>
          <a:p>
            <a:pPr lvl="4"/>
            <a:r>
              <a:rPr lang="en-US" altLang="zh-TW" noProof="0" smtClean="0"/>
              <a:t>Fifth level</a:t>
            </a:r>
          </a:p>
        </p:txBody>
      </p:sp>
      <p:sp>
        <p:nvSpPr>
          <p:cNvPr id="2457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7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8C82EDC6-049E-4FFE-BFA6-873702B754B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90425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5ABE42-21E1-4E58-87A5-CE2B42E1387F}" type="slidenum">
              <a:rPr lang="zh-TW" altLang="en-US" smtClean="0"/>
              <a:pPr/>
              <a:t>1</a:t>
            </a:fld>
            <a:endParaRPr lang="en-US" altLang="zh-TW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FC35D0-C4B2-4C47-A1D1-689FFFC904DE}" type="slidenum">
              <a:rPr lang="zh-TW" altLang="en-US" smtClean="0"/>
              <a:pPr/>
              <a:t>3</a:t>
            </a:fld>
            <a:endParaRPr lang="en-US" altLang="zh-TW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CE6CA3-C625-4C77-9694-25B34394DFAF}" type="slidenum">
              <a:rPr lang="zh-TW" altLang="en-US" smtClean="0"/>
              <a:pPr/>
              <a:t>4</a:t>
            </a:fld>
            <a:endParaRPr lang="en-US" altLang="zh-TW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969102-BA5E-48AC-A108-F15639EBC8E2}" type="slidenum">
              <a:rPr lang="zh-TW" altLang="en-US" smtClean="0"/>
              <a:pPr/>
              <a:t>5</a:t>
            </a:fld>
            <a:endParaRPr lang="en-US" altLang="zh-TW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3DE77E-2294-4681-92C4-7819F5E7BC36}" type="slidenum">
              <a:rPr lang="zh-TW" altLang="en-US" smtClean="0"/>
              <a:pPr/>
              <a:t>7</a:t>
            </a:fld>
            <a:endParaRPr lang="en-US" altLang="zh-TW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1FEEC3-DABB-4D8A-8332-5A0D369CE57E}" type="slidenum">
              <a:rPr lang="zh-TW" altLang="en-US" smtClean="0"/>
              <a:pPr/>
              <a:t>8</a:t>
            </a:fld>
            <a:endParaRPr lang="en-US" altLang="zh-TW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AC9871-CD52-486D-9EDB-2D8617867CEB}" type="slidenum">
              <a:rPr lang="zh-TW" altLang="en-US" smtClean="0"/>
              <a:pPr/>
              <a:t>14</a:t>
            </a:fld>
            <a:endParaRPr lang="en-US" altLang="zh-TW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D96D74-5AB4-440A-9605-80F7076AAAA5}" type="slidenum">
              <a:rPr lang="zh-TW" altLang="en-US" smtClean="0"/>
              <a:pPr/>
              <a:t>15</a:t>
            </a:fld>
            <a:endParaRPr lang="en-US" altLang="zh-TW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5A6AB1-E035-4C6B-9A90-1E52AE0E6856}" type="slidenum">
              <a:rPr lang="zh-TW" altLang="en-US" smtClean="0"/>
              <a:pPr/>
              <a:t>16</a:t>
            </a:fld>
            <a:endParaRPr lang="en-US" altLang="zh-TW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92C9DC-BC0F-4679-9249-0227C9D04DCE}" type="slidenum">
              <a:rPr lang="zh-TW" altLang="en-US" smtClean="0"/>
              <a:pPr/>
              <a:t>18</a:t>
            </a:fld>
            <a:endParaRPr lang="en-US" altLang="zh-TW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F48F28-7575-41EE-868E-91E3A1FC1307}" type="slidenum">
              <a:rPr lang="zh-TW" altLang="en-US" smtClean="0"/>
              <a:pPr/>
              <a:t>19</a:t>
            </a:fld>
            <a:endParaRPr lang="en-US" altLang="zh-TW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55FDA6-03EE-4366-A938-B2FE5897F8DB}" type="slidenum">
              <a:rPr lang="zh-TW" altLang="en-US" smtClean="0"/>
              <a:pPr/>
              <a:t>30</a:t>
            </a:fld>
            <a:endParaRPr lang="en-US" altLang="zh-TW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468D126-1E33-468C-815F-25348DDC87B2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4CBC0B-A592-410C-999C-11C329ED92F4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70CA595B-04FB-4922-A7D2-C914131D4B3E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77889C-606F-456E-B3DA-918CEB351EFC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DA2DAB-D760-4BDB-BA80-7D772C7F8706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857D0F-6475-4248-B091-378FE5E3B56A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042BD1-6815-4C2B-9D15-15E091718225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F2F0BB-E2D0-4BA9-891B-D4D6E112F6E5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DE73A7CA-7F10-4C42-9065-20741EA51577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77EE17-4048-4C95-8004-64733FF25450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FFCF90-ECBE-441E-96A9-4B9035621B2D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B59A0B-5A82-42AE-9F58-AC7CC2E231E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A65B2513-18E9-42F3-B441-0F624946292B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sfu.ca/CC/354/zaiane/material/notes/Chapter7/node8.html" TargetMode="External"/><Relationship Id="rId2" Type="http://schemas.openxmlformats.org/officeDocument/2006/relationships/hyperlink" Target="http://www.cs.hmc.edu/courses/2004/spring/cs133/decomp.6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is.win.tue.nl/~aaerts/2M400/pdf/ColNotes7.pdf" TargetMode="External"/><Relationship Id="rId4" Type="http://schemas.openxmlformats.org/officeDocument/2006/relationships/hyperlink" Target="http://clem.mscd.edu/~tuckerp/CSI3310/C15.1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74" name="Rectangle 10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b="1" dirty="0" smtClean="0">
                <a:latin typeface="Times New Roman" pitchFamily="18" charset="0"/>
                <a:ea typeface="新細明體" pitchFamily="18" charset="-120"/>
              </a:rPr>
              <a:t>Decomposition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functional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decomposition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the process of breaking down the functions of an organization into progressively greater (finer and finer) levels of detail.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Decomposition helps in eliminating some of the problems of bad design such as redundancy, inconsistencies and anomalies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When a relation in the relational model is not appropriate normal form then the decomposition of a relation is required. In a database, breaking down the table into multiple tables termed as decomposition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600" b="1" smtClean="0">
                <a:latin typeface="Times New Roman" pitchFamily="18" charset="0"/>
                <a:ea typeface="新細明體" pitchFamily="18" charset="-120"/>
              </a:rPr>
              <a:t>Undesirable Properties of Bad Design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新細明體" pitchFamily="18" charset="-120"/>
              </a:rPr>
              <a:t>Redundancy, resulting in waste of space and complicated updates (inconsistencies.)</a:t>
            </a:r>
          </a:p>
          <a:p>
            <a:pPr eaLnBrk="1" hangingPunct="1"/>
            <a:r>
              <a:rPr lang="en-US" altLang="zh-TW" dirty="0" smtClean="0">
                <a:latin typeface="Times New Roman" pitchFamily="18" charset="0"/>
                <a:ea typeface="新細明體" pitchFamily="18" charset="-120"/>
              </a:rPr>
              <a:t>Inability to represent certain information – ex Null values.</a:t>
            </a:r>
          </a:p>
          <a:p>
            <a:pPr eaLnBrk="1" hangingPunct="1"/>
            <a:r>
              <a:rPr lang="en-US" altLang="zh-TW" dirty="0" smtClean="0">
                <a:latin typeface="Times New Roman" pitchFamily="18" charset="0"/>
                <a:ea typeface="新細明體" pitchFamily="18" charset="-120"/>
              </a:rPr>
              <a:t>Loss of information.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600" b="1" smtClean="0">
                <a:latin typeface="Times New Roman" pitchFamily="18" charset="0"/>
                <a:ea typeface="新細明體" pitchFamily="18" charset="-120"/>
              </a:rPr>
              <a:t>How to avoid ?</a:t>
            </a:r>
            <a:r>
              <a:rPr lang="en-US" altLang="zh-TW" b="1" smtClean="0">
                <a:latin typeface="Times New Roman" pitchFamily="18" charset="0"/>
                <a:ea typeface="新細明體" pitchFamily="18" charset="-120"/>
              </a:rPr>
              <a:t> 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400" dirty="0" smtClean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dirty="0" smtClean="0">
                <a:latin typeface="Times New Roman" pitchFamily="18" charset="0"/>
                <a:ea typeface="新細明體" pitchFamily="18" charset="-120"/>
              </a:rPr>
              <a:t>Properties of information repetition and null values suggest  -- Decomposition of relation schema.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 smtClean="0">
              <a:latin typeface="Times New Roman" pitchFamily="18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dirty="0" smtClean="0">
                <a:latin typeface="Times New Roman" pitchFamily="18" charset="0"/>
                <a:ea typeface="新細明體" pitchFamily="18" charset="-120"/>
              </a:rPr>
              <a:t>Properties of information loss  -- Non-</a:t>
            </a:r>
            <a:r>
              <a:rPr lang="en-US" altLang="zh-TW" dirty="0" err="1" smtClean="0">
                <a:latin typeface="Times New Roman" pitchFamily="18" charset="0"/>
                <a:ea typeface="新細明體" pitchFamily="18" charset="-120"/>
              </a:rPr>
              <a:t>lossy</a:t>
            </a:r>
            <a:r>
              <a:rPr lang="en-US" altLang="zh-TW" dirty="0" smtClean="0">
                <a:latin typeface="Times New Roman" pitchFamily="18" charset="0"/>
                <a:ea typeface="新細明體" pitchFamily="18" charset="-120"/>
              </a:rPr>
              <a:t>-join decomposition.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 smtClean="0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3600" b="1" dirty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sz="3600" b="1" dirty="0" smtClean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rPr>
              <a:t>roperties </a:t>
            </a:r>
            <a:r>
              <a:rPr lang="en-US" altLang="zh-TW" sz="3600" b="1" dirty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rPr>
              <a:t>of a relational decomposition</a:t>
            </a:r>
            <a:endParaRPr lang="en-US" altLang="zh-TW" sz="3600" b="1" dirty="0" smtClean="0">
              <a:solidFill>
                <a:schemeClr val="tx1"/>
              </a:solidFill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 Attribute Preservation.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 Dependency preservation.</a:t>
            </a:r>
          </a:p>
          <a:p>
            <a:pPr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Non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Additive Join Property:</a:t>
            </a:r>
            <a:r>
              <a:rPr lang="en-US" altLang="zh-TW" dirty="0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 Minimal redundancy</a:t>
            </a:r>
            <a:r>
              <a:rPr lang="en-US" altLang="zh-TW" dirty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or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No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redundancy</a:t>
            </a:r>
          </a:p>
          <a:p>
            <a:pPr>
              <a:buFont typeface="Wingdings" pitchFamily="2" charset="2"/>
              <a:buChar char="Ø"/>
            </a:pPr>
            <a:r>
              <a:rPr lang="en-US" altLang="zh-TW" dirty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Lossless </a:t>
            </a:r>
            <a:r>
              <a:rPr lang="en-US" altLang="zh-TW" dirty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Join:</a:t>
            </a:r>
            <a:endParaRPr lang="en-US" altLang="zh-TW" dirty="0" smtClean="0">
              <a:latin typeface="Times New Roman" pitchFamily="18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  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Attribute Preservation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610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b="1" dirty="0" smtClean="0">
                <a:latin typeface="Times New Roman" pitchFamily="18" charset="0"/>
                <a:ea typeface="新細明體" pitchFamily="18" charset="-120"/>
              </a:rPr>
              <a:t>1. Lossless Join Decomposition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latin typeface="Times New Roman" pitchFamily="18" charset="0"/>
                <a:ea typeface="新細明體" pitchFamily="18" charset="-120"/>
              </a:rPr>
              <a:t>One of the properties of bad design suggests to decompose a relation into smaller relations.</a:t>
            </a:r>
          </a:p>
          <a:p>
            <a:pPr eaLnBrk="1" hangingPunct="1"/>
            <a:r>
              <a:rPr lang="en-US" altLang="zh-TW" smtClean="0">
                <a:latin typeface="Times New Roman" pitchFamily="18" charset="0"/>
                <a:ea typeface="新細明體" pitchFamily="18" charset="-120"/>
              </a:rPr>
              <a:t>Must achieve lossless-join decomposition.</a:t>
            </a:r>
          </a:p>
          <a:p>
            <a:pPr eaLnBrk="1" hangingPunct="1">
              <a:buFont typeface="Wingdings" pitchFamily="2" charset="2"/>
              <a:buNone/>
            </a:pPr>
            <a:endParaRPr lang="zh-TW" altLang="en-US" smtClean="0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600" b="1" dirty="0" smtClean="0">
                <a:latin typeface="Times New Roman" pitchFamily="18" charset="0"/>
                <a:ea typeface="新細明體" pitchFamily="18" charset="-120"/>
              </a:rPr>
              <a:t>1. Lossless Join Decomposition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2286000"/>
            <a:ext cx="7772400" cy="4230688"/>
          </a:xfrm>
        </p:spPr>
        <p:txBody>
          <a:bodyPr/>
          <a:lstStyle/>
          <a:p>
            <a:pPr eaLnBrk="1" hangingPunct="1"/>
            <a:r>
              <a:rPr lang="en-US" altLang="zh-TW" smtClean="0">
                <a:latin typeface="Times New Roman" pitchFamily="18" charset="0"/>
                <a:ea typeface="新細明體" pitchFamily="18" charset="-120"/>
                <a:cs typeface="Arial" charset="0"/>
              </a:rPr>
              <a:t>Definition: </a:t>
            </a:r>
          </a:p>
          <a:p>
            <a:pPr lvl="1" eaLnBrk="1" hangingPunct="1"/>
            <a:r>
              <a:rPr lang="en-US" altLang="zh-TW" sz="3200" smtClean="0">
                <a:latin typeface="Times New Roman" pitchFamily="18" charset="0"/>
                <a:ea typeface="新細明體" pitchFamily="18" charset="-120"/>
                <a:cs typeface="Arial" charset="0"/>
              </a:rPr>
              <a:t>Let { R1, R2 } be a decomposition of R (R1 U R2 = R); the decomposition is lossless if for every legal instance r of R: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3200" smtClean="0">
                <a:latin typeface="Times New Roman" pitchFamily="18" charset="0"/>
                <a:ea typeface="新細明體" pitchFamily="18" charset="-120"/>
                <a:cs typeface="Arial" charset="0"/>
              </a:rPr>
              <a:t>			r = </a:t>
            </a:r>
            <a:r>
              <a:rPr lang="el-GR" altLang="zh-TW" sz="3200" smtClean="0">
                <a:latin typeface="Times New Roman" pitchFamily="18" charset="0"/>
                <a:cs typeface="Arial" charset="0"/>
              </a:rPr>
              <a:t>Π</a:t>
            </a:r>
            <a:r>
              <a:rPr lang="en-US" altLang="zh-TW" sz="3200" smtClean="0">
                <a:latin typeface="Times New Roman" pitchFamily="18" charset="0"/>
                <a:ea typeface="新細明體" pitchFamily="18" charset="-120"/>
              </a:rPr>
              <a:t>R1(r) |X| </a:t>
            </a:r>
            <a:r>
              <a:rPr lang="el-GR" altLang="zh-TW" sz="3200" smtClean="0">
                <a:latin typeface="Times New Roman" pitchFamily="18" charset="0"/>
                <a:cs typeface="Arial" charset="0"/>
              </a:rPr>
              <a:t>Π</a:t>
            </a:r>
            <a:r>
              <a:rPr lang="en-US" altLang="zh-TW" sz="3200" smtClean="0">
                <a:latin typeface="Times New Roman" pitchFamily="18" charset="0"/>
                <a:ea typeface="新細明體" pitchFamily="18" charset="-120"/>
              </a:rPr>
              <a:t>R2(r)</a:t>
            </a:r>
            <a:endParaRPr lang="ar-SA" altLang="zh-TW" sz="3200" smtClean="0">
              <a:latin typeface="Times New Roman" pitchFamily="18" charset="0"/>
              <a:cs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>
                <a:latin typeface="Times New Roman" pitchFamily="18" charset="0"/>
                <a:ea typeface="新細明體" pitchFamily="18" charset="-120"/>
              </a:rPr>
              <a:t>1. Lossless Join Decomposition</a:t>
            </a:r>
            <a:endParaRPr lang="en-US" dirty="0"/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590800"/>
            <a:ext cx="6574227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295400" y="4191000"/>
            <a:ext cx="723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R1= A , B    R2=A ,C</a:t>
            </a:r>
          </a:p>
          <a:p>
            <a:r>
              <a:rPr lang="en-US" dirty="0" smtClean="0"/>
              <a:t>R1 R2= A</a:t>
            </a:r>
          </a:p>
          <a:p>
            <a:r>
              <a:rPr lang="en-US" dirty="0" smtClean="0"/>
              <a:t>R1-R2= B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>
                <a:latin typeface="Times New Roman" pitchFamily="18" charset="0"/>
                <a:ea typeface="新細明體" pitchFamily="18" charset="-120"/>
              </a:rPr>
              <a:t>1. Lossless Join Decomposition</a:t>
            </a:r>
            <a:endParaRPr lang="en-US" dirty="0"/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2438399"/>
            <a:ext cx="6934200" cy="3626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533400"/>
            <a:ext cx="4419600" cy="26669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200" y="0"/>
            <a:ext cx="42672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66800" y="3286125"/>
            <a:ext cx="7067550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71628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114800"/>
            <a:ext cx="8915400" cy="2201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>
                <a:latin typeface="Times New Roman" pitchFamily="18" charset="0"/>
                <a:ea typeface="新細明體" pitchFamily="18" charset="-120"/>
              </a:rPr>
              <a:t>1. Lossless Join Decomposition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905000"/>
            <a:ext cx="8610600" cy="2762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600" b="1" smtClean="0">
                <a:latin typeface="Times New Roman" pitchFamily="18" charset="0"/>
                <a:ea typeface="新細明體" pitchFamily="18" charset="-120"/>
              </a:rPr>
              <a:t>Testing Lossless Join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zh-TW" sz="2400" dirty="0" smtClean="0">
                <a:latin typeface="Times New Roman" pitchFamily="18" charset="0"/>
                <a:ea typeface="新細明體" pitchFamily="18" charset="-120"/>
              </a:rPr>
              <a:t>Lossless join property is necessary if the decomposed relation is to be recovered from its decomposition.</a:t>
            </a:r>
          </a:p>
          <a:p>
            <a:pPr eaLnBrk="1" hangingPunct="1"/>
            <a:r>
              <a:rPr lang="en-US" altLang="zh-TW" sz="2400" dirty="0" smtClean="0">
                <a:latin typeface="Times New Roman" pitchFamily="18" charset="0"/>
                <a:ea typeface="新細明體" pitchFamily="18" charset="-120"/>
              </a:rPr>
              <a:t>Let R be a schema and F be a set of FD’s on R, and </a:t>
            </a:r>
            <a:r>
              <a:rPr lang="el-GR" altLang="zh-TW" sz="2400" dirty="0" smtClean="0">
                <a:latin typeface="Times New Roman" pitchFamily="18" charset="0"/>
                <a:cs typeface="Arial" charset="0"/>
              </a:rPr>
              <a:t>α</a:t>
            </a:r>
            <a:r>
              <a:rPr lang="en-US" altLang="zh-TW" sz="2400" dirty="0" smtClean="0">
                <a:latin typeface="Times New Roman" pitchFamily="18" charset="0"/>
                <a:ea typeface="新細明體" pitchFamily="18" charset="-120"/>
                <a:cs typeface="Arial" charset="0"/>
              </a:rPr>
              <a:t> = (R1, R2) be a decomposition of R. Then </a:t>
            </a:r>
            <a:r>
              <a:rPr lang="el-GR" altLang="zh-TW" sz="2400" dirty="0" smtClean="0">
                <a:latin typeface="Times New Roman" pitchFamily="18" charset="0"/>
                <a:cs typeface="Arial" charset="0"/>
              </a:rPr>
              <a:t>α</a:t>
            </a:r>
            <a:r>
              <a:rPr lang="en-US" altLang="zh-TW" sz="2400" dirty="0" smtClean="0">
                <a:latin typeface="Times New Roman" pitchFamily="18" charset="0"/>
                <a:ea typeface="新細明體" pitchFamily="18" charset="-120"/>
              </a:rPr>
              <a:t> has a lossless join with respect to F </a:t>
            </a:r>
            <a:r>
              <a:rPr lang="en-US" altLang="zh-TW" sz="2400" dirty="0" err="1" smtClean="0">
                <a:latin typeface="Times New Roman" pitchFamily="18" charset="0"/>
                <a:ea typeface="新細明體" pitchFamily="18" charset="-120"/>
              </a:rPr>
              <a:t>iff</a:t>
            </a:r>
            <a:r>
              <a:rPr lang="en-US" altLang="zh-TW" sz="2400" dirty="0" smtClean="0">
                <a:latin typeface="Times New Roman" pitchFamily="18" charset="0"/>
                <a:ea typeface="新細明體" pitchFamily="18" charset="-12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 smtClean="0">
                <a:latin typeface="Times New Roman" pitchFamily="18" charset="0"/>
                <a:ea typeface="新細明體" pitchFamily="18" charset="-120"/>
              </a:rPr>
              <a:t>    		R1 ∩ R2 -&gt; ( R1 - R2 )   or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 smtClean="0">
                <a:latin typeface="Times New Roman" pitchFamily="18" charset="0"/>
                <a:ea typeface="新細明體" pitchFamily="18" charset="-120"/>
              </a:rPr>
              <a:t>    		R2 ∩ R1 -&gt; ( R2 - R1 )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 smtClean="0">
                <a:latin typeface="Times New Roman" pitchFamily="18" charset="0"/>
                <a:ea typeface="新細明體" pitchFamily="18" charset="-120"/>
              </a:rPr>
              <a:t>    where such FD exist in Closure of F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 smtClean="0">
                <a:latin typeface="Times New Roman" pitchFamily="18" charset="0"/>
                <a:ea typeface="新細明體" pitchFamily="18" charset="-120"/>
              </a:rPr>
              <a:t>This is a sufficient condition, but not a necessary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 smtClean="0">
                <a:latin typeface="Times New Roman" pitchFamily="18" charset="0"/>
                <a:ea typeface="新細明體" pitchFamily="18" charset="-120"/>
              </a:rPr>
              <a:t>       condition.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600" b="1" smtClean="0">
                <a:latin typeface="Times New Roman" pitchFamily="18" charset="0"/>
                <a:ea typeface="新細明體" pitchFamily="18" charset="-120"/>
              </a:rPr>
              <a:t>Example of L-J Decomposition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smtClean="0">
                <a:latin typeface="Times New Roman" pitchFamily="18" charset="0"/>
                <a:ea typeface="新細明體" pitchFamily="18" charset="-120"/>
              </a:rPr>
              <a:t>From the previous example : R = (ABC)  F = {A -&gt; B}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smtClean="0">
                <a:latin typeface="Times New Roman" pitchFamily="18" charset="0"/>
                <a:ea typeface="新細明體" pitchFamily="18" charset="-120"/>
              </a:rPr>
              <a:t>	R1 = (AB), R2 = (AC)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smtClean="0">
                <a:latin typeface="Times New Roman" pitchFamily="18" charset="0"/>
                <a:ea typeface="新細明體" pitchFamily="18" charset="-120"/>
              </a:rPr>
              <a:t>	R1</a:t>
            </a:r>
            <a:r>
              <a:rPr lang="en-US" altLang="zh-TW" sz="2400" smtClean="0">
                <a:latin typeface="Times New Roman" pitchFamily="18" charset="0"/>
                <a:ea typeface="新細明體" pitchFamily="18" charset="-120"/>
                <a:cs typeface="Arial" charset="0"/>
              </a:rPr>
              <a:t>∩ R2 = A, R1- R2 = B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smtClean="0">
                <a:latin typeface="Times New Roman" pitchFamily="18" charset="0"/>
                <a:ea typeface="新細明體" pitchFamily="18" charset="-120"/>
                <a:cs typeface="Arial" charset="0"/>
              </a:rPr>
              <a:t>	check A -&gt; B in F ?  Yes.  Therefore lossless 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smtClean="0">
                <a:latin typeface="Times New Roman" pitchFamily="18" charset="0"/>
                <a:ea typeface="新細明體" pitchFamily="18" charset="-120"/>
              </a:rPr>
              <a:t>	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smtClean="0">
                <a:latin typeface="Times New Roman" pitchFamily="18" charset="0"/>
                <a:ea typeface="新細明體" pitchFamily="18" charset="-120"/>
              </a:rPr>
              <a:t>	R1 = (AB), R2 = (BC)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smtClean="0">
                <a:latin typeface="Times New Roman" pitchFamily="18" charset="0"/>
                <a:ea typeface="新細明體" pitchFamily="18" charset="-120"/>
              </a:rPr>
              <a:t>	R1∩ R2 = B, R1 - R2 = A , R2 - R1= C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smtClean="0">
                <a:latin typeface="Times New Roman" pitchFamily="18" charset="0"/>
                <a:ea typeface="新細明體" pitchFamily="18" charset="-120"/>
              </a:rPr>
              <a:t>	check B -&gt; A in F ? NO 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smtClean="0">
                <a:latin typeface="Times New Roman" pitchFamily="18" charset="0"/>
                <a:ea typeface="新細明體" pitchFamily="18" charset="-120"/>
              </a:rPr>
              <a:t>	check B -&gt; C in F ? NO 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smtClean="0">
                <a:latin typeface="Times New Roman" pitchFamily="18" charset="0"/>
                <a:ea typeface="新細明體" pitchFamily="18" charset="-120"/>
              </a:rPr>
              <a:t>	So, this is lossy join.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600" b="1" smtClean="0">
                <a:latin typeface="Times New Roman" pitchFamily="18" charset="0"/>
                <a:ea typeface="新細明體" pitchFamily="18" charset="-120"/>
              </a:rPr>
              <a:t>Another example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2800" smtClean="0">
                <a:latin typeface="Times New Roman" pitchFamily="18" charset="0"/>
                <a:ea typeface="新細明體" pitchFamily="18" charset="-120"/>
              </a:rPr>
              <a:t>R = (City, Street, Zip)       F = {CS -&gt; Z, Z -&gt; C}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2400" smtClean="0">
              <a:latin typeface="Times New Roman" pitchFamily="18" charset="0"/>
              <a:ea typeface="新細明體" pitchFamily="18" charset="-12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smtClean="0">
                <a:latin typeface="Times New Roman" pitchFamily="18" charset="0"/>
                <a:ea typeface="新細明體" pitchFamily="18" charset="-120"/>
              </a:rPr>
              <a:t>R1 = (CZ)   R2 = (SZ)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smtClean="0">
                <a:latin typeface="Times New Roman" pitchFamily="18" charset="0"/>
                <a:ea typeface="新細明體" pitchFamily="18" charset="-120"/>
              </a:rPr>
              <a:t>R1 </a:t>
            </a:r>
            <a:r>
              <a:rPr lang="en-US" altLang="zh-TW" sz="2400" smtClean="0">
                <a:latin typeface="Times New Roman" pitchFamily="18" charset="0"/>
                <a:ea typeface="新細明體" pitchFamily="18" charset="-120"/>
                <a:cs typeface="Arial" charset="0"/>
              </a:rPr>
              <a:t>∩ R2 = Z  , R1 – R2 = (C)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smtClean="0">
                <a:latin typeface="Times New Roman" pitchFamily="18" charset="0"/>
                <a:ea typeface="新細明體" pitchFamily="18" charset="-120"/>
                <a:cs typeface="Arial" charset="0"/>
              </a:rPr>
              <a:t>check Z -&gt; C in F ?  Yes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2400" smtClean="0">
              <a:latin typeface="Times New Roman" pitchFamily="18" charset="0"/>
              <a:ea typeface="新細明體" pitchFamily="18" charset="-12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smtClean="0">
                <a:latin typeface="Times New Roman" pitchFamily="18" charset="0"/>
                <a:ea typeface="新細明體" pitchFamily="18" charset="-120"/>
                <a:cs typeface="Arial" charset="0"/>
              </a:rPr>
              <a:t>Therefore, the decomposition to be (CZ) (SZ) is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i="1" smtClean="0">
                <a:latin typeface="Times New Roman" pitchFamily="18" charset="0"/>
                <a:ea typeface="新細明體" pitchFamily="18" charset="-120"/>
                <a:cs typeface="Arial" charset="0"/>
              </a:rPr>
              <a:t>lossless join decomposition.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2400" smtClean="0">
              <a:latin typeface="Times New Roman" pitchFamily="18" charset="0"/>
              <a:ea typeface="新細明體" pitchFamily="18" charset="-12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TW" sz="2400" smtClean="0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 smtClean="0">
                <a:latin typeface="Times New Roman" pitchFamily="18" charset="0"/>
                <a:ea typeface="新細明體" pitchFamily="18" charset="-120"/>
              </a:rPr>
              <a:t>2. Dependency preservation.</a:t>
            </a:r>
            <a:endParaRPr lang="en-US" altLang="zh-TW" sz="3600" b="1" dirty="0" smtClean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b="1" dirty="0" smtClean="0">
                <a:latin typeface="Times New Roman" pitchFamily="18" charset="0"/>
                <a:ea typeface="新細明體" pitchFamily="18" charset="-120"/>
              </a:rPr>
              <a:t>Why do we preserve the dependency?</a:t>
            </a:r>
            <a:endParaRPr lang="en-US" altLang="zh-TW" dirty="0" smtClean="0">
              <a:latin typeface="Times New Roman" pitchFamily="18" charset="0"/>
              <a:ea typeface="新細明體" pitchFamily="18" charset="-120"/>
            </a:endParaRPr>
          </a:p>
          <a:p>
            <a:pPr lvl="1"/>
            <a:r>
              <a:rPr lang="en-US" altLang="zh-TW" dirty="0" smtClean="0">
                <a:latin typeface="Times New Roman" pitchFamily="18" charset="0"/>
                <a:ea typeface="新細明體" pitchFamily="18" charset="-120"/>
              </a:rPr>
              <a:t>We would like to check easily that updates to the database do not result in illegal relations being created.</a:t>
            </a:r>
          </a:p>
          <a:p>
            <a:pPr lvl="1"/>
            <a:r>
              <a:rPr lang="en-US" altLang="zh-TW" dirty="0" smtClean="0">
                <a:latin typeface="Times New Roman" pitchFamily="18" charset="0"/>
                <a:ea typeface="新細明體" pitchFamily="18" charset="-120"/>
              </a:rPr>
              <a:t>It would be nice if our design allowed us to check updates without having to compute natural joins. </a:t>
            </a:r>
            <a:endParaRPr lang="zh-TW" altLang="en-US" dirty="0" smtClean="0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200" b="1" smtClean="0">
                <a:latin typeface="Times New Roman" pitchFamily="18" charset="0"/>
                <a:ea typeface="新細明體" pitchFamily="18" charset="-120"/>
              </a:rPr>
              <a:t>Dependency Preservation Decomposition</a:t>
            </a:r>
          </a:p>
        </p:txBody>
      </p:sp>
      <p:sp>
        <p:nvSpPr>
          <p:cNvPr id="14339" name="Rectangle 5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zh-TW" sz="2400" smtClean="0">
                <a:latin typeface="Times New Roman" pitchFamily="18" charset="0"/>
                <a:ea typeface="新細明體" pitchFamily="18" charset="-120"/>
              </a:rPr>
              <a:t>Definition: Each FD specified in F either appears directly in one of the relations in the decomposition, or be inferred from FDs that appear in some relation.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2800" i="1" smtClean="0">
              <a:ea typeface="新細明體" pitchFamily="18" charset="-120"/>
            </a:endParaRPr>
          </a:p>
        </p:txBody>
      </p:sp>
      <p:pic>
        <p:nvPicPr>
          <p:cNvPr id="14340" name="Picture 7" descr="decomposition preserv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95400" y="3429000"/>
            <a:ext cx="7239000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200" b="1" smtClean="0">
                <a:ea typeface="新細明體" pitchFamily="18" charset="-120"/>
              </a:rPr>
              <a:t>Test of Dependency Preservation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zh-TW" sz="2600" dirty="0" smtClean="0">
                <a:latin typeface="Times New Roman" pitchFamily="18" charset="0"/>
                <a:ea typeface="ＭＳ Ｐゴシック" pitchFamily="34" charset="-128"/>
              </a:rPr>
              <a:t>If a decomposition is not dependency-preserving, some dependency is lost in the decomposition.</a:t>
            </a:r>
            <a:endParaRPr lang="en-US" altLang="zh-TW" sz="2600" dirty="0" smtClean="0">
              <a:latin typeface="Times New Roman" pitchFamily="18" charset="0"/>
              <a:ea typeface="新細明體" pitchFamily="18" charset="-120"/>
            </a:endParaRPr>
          </a:p>
          <a:p>
            <a:pPr algn="just" eaLnBrk="1" hangingPunct="1"/>
            <a:r>
              <a:rPr lang="en-US" altLang="zh-TW" sz="2600" dirty="0" smtClean="0">
                <a:latin typeface="Times New Roman" pitchFamily="18" charset="0"/>
                <a:ea typeface="ＭＳ Ｐゴシック" pitchFamily="34" charset="-128"/>
              </a:rPr>
              <a:t>One way to verify that a dependency is not lost is to take joins of two or more relations in the decomposition to get a relation that contains all of the attributes in the dependency under consideration and then check that the dependency holds on the result of the joins.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TW" sz="2800" dirty="0" smtClean="0">
              <a:latin typeface="Times New Roman" pitchFamily="18" charset="0"/>
              <a:ea typeface="ＭＳ Ｐゴシック" pitchFamily="34" charset="-128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TW" sz="2800" dirty="0" smtClean="0">
              <a:ea typeface="ＭＳ Ｐゴシック" pitchFamily="34" charset="-12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200" b="1" smtClean="0">
                <a:ea typeface="新細明體" pitchFamily="18" charset="-120"/>
              </a:rPr>
              <a:t>Test of Dependency Preservation II</a:t>
            </a:r>
            <a:endParaRPr lang="zh-TW" altLang="en-US" sz="3200" b="1" smtClean="0">
              <a:ea typeface="新細明體" pitchFamily="18" charset="-120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latin typeface="Times New Roman" pitchFamily="18" charset="0"/>
                <a:ea typeface="新細明體" pitchFamily="18" charset="-120"/>
              </a:rPr>
              <a:t>Find </a:t>
            </a:r>
            <a:r>
              <a:rPr lang="en-US" altLang="zh-TW" i="1" smtClean="0">
                <a:latin typeface="Times New Roman" pitchFamily="18" charset="0"/>
                <a:ea typeface="新細明體" pitchFamily="18" charset="-120"/>
              </a:rPr>
              <a:t>F</a:t>
            </a:r>
            <a:r>
              <a:rPr lang="en-US" altLang="zh-TW" smtClean="0">
                <a:latin typeface="Times New Roman" pitchFamily="18" charset="0"/>
                <a:ea typeface="新細明體" pitchFamily="18" charset="-120"/>
              </a:rPr>
              <a:t> - </a:t>
            </a:r>
            <a:r>
              <a:rPr lang="en-US" altLang="zh-TW" i="1" smtClean="0">
                <a:latin typeface="Times New Roman" pitchFamily="18" charset="0"/>
                <a:ea typeface="新細明體" pitchFamily="18" charset="-120"/>
              </a:rPr>
              <a:t>F</a:t>
            </a:r>
            <a:r>
              <a:rPr lang="en-US" altLang="zh-TW" smtClean="0">
                <a:latin typeface="Times New Roman" pitchFamily="18" charset="0"/>
                <a:ea typeface="新細明體" pitchFamily="18" charset="-120"/>
              </a:rPr>
              <a:t>', the functional dependencies not checkable in one relation.</a:t>
            </a:r>
          </a:p>
          <a:p>
            <a:pPr eaLnBrk="1" hangingPunct="1"/>
            <a:r>
              <a:rPr lang="en-US" altLang="zh-TW" smtClean="0">
                <a:latin typeface="Times New Roman" pitchFamily="18" charset="0"/>
                <a:ea typeface="新細明體" pitchFamily="18" charset="-120"/>
              </a:rPr>
              <a:t>See whether this set is obtainable from </a:t>
            </a:r>
            <a:r>
              <a:rPr lang="en-US" altLang="zh-TW" i="1" smtClean="0">
                <a:latin typeface="Times New Roman" pitchFamily="18" charset="0"/>
                <a:ea typeface="新細明體" pitchFamily="18" charset="-120"/>
              </a:rPr>
              <a:t>F</a:t>
            </a:r>
            <a:r>
              <a:rPr lang="en-US" altLang="zh-TW" smtClean="0">
                <a:latin typeface="Times New Roman" pitchFamily="18" charset="0"/>
                <a:ea typeface="新細明體" pitchFamily="18" charset="-120"/>
              </a:rPr>
              <a:t>' by using Armstrong's Axioms.</a:t>
            </a:r>
          </a:p>
          <a:p>
            <a:pPr eaLnBrk="1" hangingPunct="1"/>
            <a:r>
              <a:rPr lang="en-US" altLang="zh-TW" smtClean="0">
                <a:latin typeface="Times New Roman" pitchFamily="18" charset="0"/>
                <a:ea typeface="新細明體" pitchFamily="18" charset="-120"/>
              </a:rPr>
              <a:t>This should take a great deal less work, as we have (usually) just a few functional dependencies to work on.</a:t>
            </a:r>
            <a:r>
              <a:rPr lang="en-US" altLang="zh-TW" smtClean="0">
                <a:ea typeface="新細明體" pitchFamily="18" charset="-120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600" b="1" smtClean="0">
                <a:latin typeface="Times New Roman" pitchFamily="18" charset="0"/>
                <a:ea typeface="新細明體" pitchFamily="18" charset="-120"/>
              </a:rPr>
              <a:t>Dependency Preserving Example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dirty="0" smtClean="0">
                <a:latin typeface="Times New Roman" pitchFamily="18" charset="0"/>
                <a:ea typeface="新細明體" pitchFamily="18" charset="-120"/>
              </a:rPr>
              <a:t>Consider relation ABCD, with FD’s 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 smtClean="0">
                <a:latin typeface="Times New Roman" pitchFamily="18" charset="0"/>
                <a:ea typeface="新細明體" pitchFamily="18" charset="-120"/>
              </a:rPr>
              <a:t>	A -&gt;B, B -&gt;C, C -&gt;D</a:t>
            </a:r>
          </a:p>
          <a:p>
            <a:pPr eaLnBrk="1" hangingPunct="1">
              <a:lnSpc>
                <a:spcPct val="90000"/>
              </a:lnSpc>
              <a:buNone/>
            </a:pPr>
            <a:endParaRPr lang="en-US" altLang="zh-TW" dirty="0" smtClean="0">
              <a:latin typeface="Times New Roman" pitchFamily="18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 smtClean="0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600" b="1" smtClean="0">
                <a:latin typeface="Times New Roman" pitchFamily="18" charset="0"/>
                <a:ea typeface="新細明體" pitchFamily="18" charset="-120"/>
              </a:rPr>
              <a:t>Dependency Preserving Example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dirty="0" smtClean="0">
                <a:latin typeface="Times New Roman" pitchFamily="18" charset="0"/>
                <a:ea typeface="新細明體" pitchFamily="18" charset="-120"/>
              </a:rPr>
              <a:t>Consider relation ABCD, with FD’s 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 smtClean="0">
                <a:latin typeface="Times New Roman" pitchFamily="18" charset="0"/>
                <a:ea typeface="新細明體" pitchFamily="18" charset="-120"/>
              </a:rPr>
              <a:t>	A -&gt;B, B -&gt;C, C -&gt;D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dirty="0" smtClean="0">
                <a:latin typeface="Times New Roman" pitchFamily="18" charset="0"/>
                <a:ea typeface="新細明體" pitchFamily="18" charset="-120"/>
              </a:rPr>
              <a:t>Decompose into two relations: ABC and CD.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600" b="1" smtClean="0">
                <a:latin typeface="Times New Roman" pitchFamily="18" charset="0"/>
                <a:ea typeface="新細明體" pitchFamily="18" charset="-120"/>
              </a:rPr>
              <a:t>Dependency Preserving Example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dirty="0" smtClean="0">
                <a:latin typeface="Times New Roman" pitchFamily="18" charset="0"/>
                <a:ea typeface="新細明體" pitchFamily="18" charset="-120"/>
              </a:rPr>
              <a:t>Consider relation ABCD, with FD’s 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 smtClean="0">
                <a:latin typeface="Times New Roman" pitchFamily="18" charset="0"/>
                <a:ea typeface="新細明體" pitchFamily="18" charset="-120"/>
              </a:rPr>
              <a:t>	A -&gt;B, B -&gt;C, C -&gt;D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dirty="0" smtClean="0">
                <a:latin typeface="Times New Roman" pitchFamily="18" charset="0"/>
                <a:ea typeface="新細明體" pitchFamily="18" charset="-120"/>
              </a:rPr>
              <a:t>Decompose into two relations: ABC and CD.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dirty="0" smtClean="0">
                <a:latin typeface="Times New Roman" pitchFamily="18" charset="0"/>
                <a:ea typeface="新細明體" pitchFamily="18" charset="-120"/>
              </a:rPr>
              <a:t>ABC supports the FD’s A-&gt;B, B-&gt;C.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dirty="0" smtClean="0">
                <a:latin typeface="Times New Roman" pitchFamily="18" charset="0"/>
                <a:ea typeface="新細明體" pitchFamily="18" charset="-120"/>
              </a:rPr>
              <a:t>CD supports the FD C-&gt;D.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dirty="0" smtClean="0">
                <a:latin typeface="Times New Roman" pitchFamily="18" charset="0"/>
                <a:ea typeface="新細明體" pitchFamily="18" charset="-120"/>
              </a:rPr>
              <a:t>All the original dependencies are preserved.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 smtClean="0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600" b="1" smtClean="0">
                <a:latin typeface="Times New Roman" pitchFamily="18" charset="0"/>
                <a:ea typeface="新細明體" pitchFamily="18" charset="-120"/>
              </a:rPr>
              <a:t>Non-Dependency Preserving Example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zh-TW" sz="2800" smtClean="0">
                <a:latin typeface="Times New Roman" pitchFamily="18" charset="0"/>
                <a:ea typeface="新細明體" pitchFamily="18" charset="-120"/>
              </a:rPr>
              <a:t>Consider relation ABCD, with FD’s: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800" smtClean="0">
                <a:latin typeface="Times New Roman" pitchFamily="18" charset="0"/>
                <a:ea typeface="新細明體" pitchFamily="18" charset="-120"/>
              </a:rPr>
              <a:t>	A -&gt;B, B -&gt;C, C-&gt;D</a:t>
            </a:r>
          </a:p>
          <a:p>
            <a:pPr eaLnBrk="1" hangingPunct="1"/>
            <a:r>
              <a:rPr lang="en-US" altLang="zh-TW" sz="2800" smtClean="0">
                <a:latin typeface="Times New Roman" pitchFamily="18" charset="0"/>
                <a:ea typeface="新細明體" pitchFamily="18" charset="-120"/>
              </a:rPr>
              <a:t>Decompose into two relations: ACD and BC.</a:t>
            </a:r>
          </a:p>
          <a:p>
            <a:pPr eaLnBrk="1" hangingPunct="1"/>
            <a:r>
              <a:rPr lang="en-US" altLang="zh-TW" sz="2800" smtClean="0">
                <a:latin typeface="Times New Roman" pitchFamily="18" charset="0"/>
                <a:ea typeface="新細明體" pitchFamily="18" charset="-120"/>
              </a:rPr>
              <a:t>ACD supports the FD B -&gt;C and implied FD A -&gt;C.</a:t>
            </a:r>
          </a:p>
          <a:p>
            <a:pPr eaLnBrk="1" hangingPunct="1"/>
            <a:r>
              <a:rPr lang="en-US" altLang="zh-TW" sz="2800" smtClean="0">
                <a:latin typeface="Times New Roman" pitchFamily="18" charset="0"/>
                <a:ea typeface="新細明體" pitchFamily="18" charset="-120"/>
              </a:rPr>
              <a:t>BC supports the FD B-&gt;C.</a:t>
            </a:r>
          </a:p>
          <a:p>
            <a:pPr eaLnBrk="1" hangingPunct="1"/>
            <a:r>
              <a:rPr lang="en-US" altLang="zh-TW" sz="2800" smtClean="0">
                <a:latin typeface="Times New Roman" pitchFamily="18" charset="0"/>
                <a:ea typeface="新細明體" pitchFamily="18" charset="-120"/>
              </a:rPr>
              <a:t>However, no relation supports A -&gt;B.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800" smtClean="0">
                <a:latin typeface="Times New Roman" pitchFamily="18" charset="0"/>
                <a:ea typeface="新細明體" pitchFamily="18" charset="-120"/>
              </a:rPr>
              <a:t>	So the dependency is not preserved.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2800" smtClean="0">
              <a:latin typeface="Times New Roman" pitchFamily="18" charset="0"/>
              <a:ea typeface="新細明體" pitchFamily="18" charset="-120"/>
            </a:endParaRPr>
          </a:p>
          <a:p>
            <a:pPr eaLnBrk="1" hangingPunct="1"/>
            <a:endParaRPr lang="en-US" altLang="zh-TW" sz="2800" smtClean="0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600" b="1" smtClean="0">
                <a:latin typeface="Times New Roman" pitchFamily="18" charset="0"/>
                <a:ea typeface="新細明體" pitchFamily="18" charset="-120"/>
              </a:rPr>
              <a:t>Minimal Redundancy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latin typeface="Times New Roman" pitchFamily="18" charset="0"/>
                <a:ea typeface="新細明體" pitchFamily="18" charset="-120"/>
              </a:rPr>
              <a:t>In order to achieve the lack of redundancy, we do some decomposition which is represented by several normal forms.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mtClean="0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sz="3200" b="1" smtClean="0">
                <a:latin typeface="Times New Roman" pitchFamily="18" charset="0"/>
                <a:ea typeface="新細明體" pitchFamily="18" charset="-120"/>
              </a:rPr>
              <a:t>Normal Form Decompositions </a:t>
            </a:r>
            <a:br>
              <a:rPr lang="en-US" altLang="zh-TW" sz="3200" b="1" smtClean="0">
                <a:latin typeface="Times New Roman" pitchFamily="18" charset="0"/>
                <a:ea typeface="新細明體" pitchFamily="18" charset="-120"/>
              </a:rPr>
            </a:br>
            <a:r>
              <a:rPr lang="en-US" altLang="zh-TW" sz="3200" b="1" smtClean="0">
                <a:latin typeface="Times New Roman" pitchFamily="18" charset="0"/>
                <a:ea typeface="新細明體" pitchFamily="18" charset="-120"/>
              </a:rPr>
              <a:t>Comparison</a:t>
            </a:r>
            <a:r>
              <a:rPr lang="en-US" altLang="zh-TW" sz="2400" smtClean="0">
                <a:ea typeface="新細明體" pitchFamily="18" charset="-120"/>
              </a:rPr>
              <a:t> 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3NF Decomposition: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lossless.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Dependency preserving.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BCNF Decomposition: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Lossless.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Not necessarily dependency-preserving.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Component relations are all BCNF, and thus 3NF.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4NF Decomposition: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Lossless.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Not necessarily are all 4NF, and thus BCNF and 3NF.</a:t>
            </a:r>
          </a:p>
          <a:p>
            <a:pPr eaLnBrk="1" hangingPunct="1">
              <a:lnSpc>
                <a:spcPct val="80000"/>
              </a:lnSpc>
            </a:pPr>
            <a:endParaRPr lang="en-US" altLang="zh-TW" sz="2000" smtClean="0">
              <a:latin typeface="Times New Roman" pitchFamily="18" charset="0"/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No decomposition is guaranteed to preserve all multi-value dependencies.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600" b="1" smtClean="0">
                <a:latin typeface="Times New Roman" pitchFamily="18" charset="0"/>
                <a:ea typeface="新細明體" pitchFamily="18" charset="-120"/>
              </a:rPr>
              <a:t>Lossless Check Example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82688" y="2017713"/>
            <a:ext cx="6970712" cy="1258887"/>
          </a:xfrm>
        </p:spPr>
        <p:txBody>
          <a:bodyPr/>
          <a:lstStyle/>
          <a:p>
            <a:pPr eaLnBrk="1" hangingPunct="1"/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Consider five attributes: ABCDE</a:t>
            </a:r>
          </a:p>
          <a:p>
            <a:pPr eaLnBrk="1" hangingPunct="1"/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Three relations: ABC, AD, BDE</a:t>
            </a:r>
          </a:p>
          <a:p>
            <a:pPr eaLnBrk="1" hangingPunct="1"/>
            <a:r>
              <a:rPr lang="en-US" altLang="zh-TW" sz="2000" smtClean="0">
                <a:latin typeface="Times New Roman" pitchFamily="18" charset="0"/>
                <a:ea typeface="新細明體" pitchFamily="18" charset="-120"/>
              </a:rPr>
              <a:t>FD’s: A -&gt;BD, B -&gt;E</a:t>
            </a:r>
          </a:p>
          <a:p>
            <a:pPr eaLnBrk="1" hangingPunct="1"/>
            <a:endParaRPr lang="en-US" altLang="zh-TW" sz="2000" smtClean="0">
              <a:latin typeface="Times New Roman" pitchFamily="18" charset="0"/>
              <a:ea typeface="新細明體" pitchFamily="18" charset="-120"/>
            </a:endParaRPr>
          </a:p>
        </p:txBody>
      </p:sp>
      <p:graphicFrame>
        <p:nvGraphicFramePr>
          <p:cNvPr id="275533" name="Group 77"/>
          <p:cNvGraphicFramePr>
            <a:graphicFrameLocks noGrp="1"/>
          </p:cNvGraphicFramePr>
          <p:nvPr>
            <p:ph sz="half" idx="2"/>
          </p:nvPr>
        </p:nvGraphicFramePr>
        <p:xfrm>
          <a:off x="1371600" y="3581400"/>
          <a:ext cx="6400800" cy="2527300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631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TW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ABC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b14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b23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BDE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b33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600" b="1" smtClean="0">
                <a:latin typeface="Times New Roman" pitchFamily="18" charset="0"/>
                <a:ea typeface="新細明體" pitchFamily="18" charset="-120"/>
              </a:rPr>
              <a:t>Lossless Check Example</a:t>
            </a:r>
            <a:r>
              <a:rPr lang="en-US" altLang="zh-TW" sz="4000" b="1" smtClean="0">
                <a:latin typeface="Times New Roman" pitchFamily="18" charset="0"/>
                <a:ea typeface="新細明體" pitchFamily="18" charset="-120"/>
              </a:rPr>
              <a:t> </a:t>
            </a:r>
            <a:endParaRPr lang="zh-TW" altLang="en-US" sz="4000" b="1" smtClean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zh-TW" altLang="en-US" smtClean="0">
              <a:ea typeface="新細明體" pitchFamily="18" charset="-120"/>
            </a:endParaRPr>
          </a:p>
          <a:p>
            <a:pPr eaLnBrk="1" hangingPunct="1">
              <a:buFont typeface="Wingdings" pitchFamily="2" charset="2"/>
              <a:buNone/>
            </a:pPr>
            <a:endParaRPr lang="zh-TW" altLang="en-US" smtClean="0">
              <a:ea typeface="新細明體" pitchFamily="18" charset="-120"/>
            </a:endParaRPr>
          </a:p>
          <a:p>
            <a:pPr eaLnBrk="1" hangingPunct="1">
              <a:buFont typeface="Wingdings" pitchFamily="2" charset="2"/>
              <a:buNone/>
            </a:pPr>
            <a:endParaRPr lang="zh-TW" altLang="en-US" smtClean="0">
              <a:ea typeface="新細明體" pitchFamily="18" charset="-120"/>
            </a:endParaRPr>
          </a:p>
          <a:p>
            <a:pPr eaLnBrk="1" hangingPunct="1">
              <a:buFont typeface="Wingdings" pitchFamily="2" charset="2"/>
              <a:buNone/>
            </a:pPr>
            <a:endParaRPr lang="zh-TW" altLang="en-US" smtClean="0">
              <a:ea typeface="新細明體" pitchFamily="18" charset="-120"/>
            </a:endParaRPr>
          </a:p>
          <a:p>
            <a:pPr eaLnBrk="1" hangingPunct="1">
              <a:buFont typeface="Wingdings" pitchFamily="2" charset="2"/>
              <a:buNone/>
            </a:pPr>
            <a:endParaRPr lang="zh-TW" altLang="en-US" smtClean="0">
              <a:ea typeface="新細明體" pitchFamily="18" charset="-120"/>
            </a:endParaRPr>
          </a:p>
        </p:txBody>
      </p:sp>
      <p:pic>
        <p:nvPicPr>
          <p:cNvPr id="22532" name="Picture 4" descr="check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2286000"/>
            <a:ext cx="6324600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3" name="Picture 5" descr="check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8800" y="4495800"/>
            <a:ext cx="6248400" cy="187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50963" y="617538"/>
            <a:ext cx="7793037" cy="1143000"/>
          </a:xfrm>
        </p:spPr>
        <p:txBody>
          <a:bodyPr/>
          <a:lstStyle/>
          <a:p>
            <a:pPr eaLnBrk="1" hangingPunct="1"/>
            <a:r>
              <a:rPr lang="en-US" altLang="zh-TW" sz="3600" b="1" smtClean="0">
                <a:latin typeface="Times New Roman" pitchFamily="18" charset="0"/>
                <a:ea typeface="新細明體" pitchFamily="18" charset="-120"/>
              </a:rPr>
              <a:t>Lossless Check Example</a:t>
            </a:r>
            <a:endParaRPr lang="zh-TW" altLang="en-US" sz="3600" b="1" smtClean="0">
              <a:latin typeface="Times New Roman" pitchFamily="18" charset="0"/>
              <a:ea typeface="新細明體" pitchFamily="18" charset="-120"/>
            </a:endParaRPr>
          </a:p>
        </p:txBody>
      </p:sp>
      <p:pic>
        <p:nvPicPr>
          <p:cNvPr id="23555" name="Picture 4" descr="check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2133600"/>
            <a:ext cx="63246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6" name="Picture 5" descr="check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81200" y="4038600"/>
            <a:ext cx="63246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600" b="1" smtClean="0">
                <a:latin typeface="Times New Roman" pitchFamily="18" charset="0"/>
                <a:ea typeface="新細明體" pitchFamily="18" charset="-120"/>
              </a:rPr>
              <a:t>Conclusion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latin typeface="Times New Roman" pitchFamily="18" charset="0"/>
                <a:ea typeface="新細明體" pitchFamily="18" charset="-120"/>
              </a:rPr>
              <a:t>Decompositions should always be lossless.</a:t>
            </a:r>
          </a:p>
          <a:p>
            <a:pPr eaLnBrk="1" hangingPunct="1"/>
            <a:r>
              <a:rPr lang="en-US" altLang="zh-TW" smtClean="0">
                <a:latin typeface="Times New Roman" pitchFamily="18" charset="0"/>
                <a:ea typeface="新細明體" pitchFamily="18" charset="-120"/>
              </a:rPr>
              <a:t>Decompositions should be dependency preserving whenever possible.</a:t>
            </a:r>
          </a:p>
          <a:p>
            <a:pPr eaLnBrk="1" hangingPunct="1"/>
            <a:r>
              <a:rPr lang="en-US" altLang="zh-TW" smtClean="0">
                <a:latin typeface="Times New Roman" pitchFamily="18" charset="0"/>
                <a:ea typeface="新細明體" pitchFamily="18" charset="-120"/>
              </a:rPr>
              <a:t>We have to perform the normal decomposition to make sure we get rid of the minimal redundant information.</a:t>
            </a:r>
          </a:p>
          <a:p>
            <a:pPr eaLnBrk="1" hangingPunct="1"/>
            <a:endParaRPr lang="en-US" altLang="zh-TW" smtClean="0"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600" b="1" smtClean="0">
                <a:latin typeface="Times New Roman" pitchFamily="18" charset="0"/>
                <a:ea typeface="新細明體" pitchFamily="18" charset="-120"/>
              </a:rPr>
              <a:t>Reference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zh-TW" sz="2400" dirty="0" smtClean="0">
                <a:ea typeface="新細明體" pitchFamily="18" charset="-120"/>
                <a:hlinkClick r:id="rId2"/>
              </a:rPr>
              <a:t>http://www.cs.hmc.edu/courses/2004/spring/cs133/decomp.6.pdf</a:t>
            </a:r>
            <a:endParaRPr lang="en-US" altLang="zh-TW" sz="2400" dirty="0" smtClean="0">
              <a:ea typeface="新細明體" pitchFamily="18" charset="-120"/>
            </a:endParaRPr>
          </a:p>
          <a:p>
            <a:pPr eaLnBrk="1" hangingPunct="1"/>
            <a:r>
              <a:rPr lang="en-US" altLang="zh-TW" sz="2400" dirty="0" smtClean="0">
                <a:ea typeface="新細明體" pitchFamily="18" charset="-120"/>
                <a:hlinkClick r:id="rId3"/>
              </a:rPr>
              <a:t>http://www.cs.sfu.ca/CC/354/zaiane/material/notes/Chapter7/node8.html</a:t>
            </a:r>
            <a:endParaRPr lang="en-US" altLang="zh-TW" sz="2400" dirty="0" smtClean="0">
              <a:ea typeface="新細明體" pitchFamily="18" charset="-120"/>
            </a:endParaRPr>
          </a:p>
          <a:p>
            <a:pPr eaLnBrk="1" hangingPunct="1"/>
            <a:r>
              <a:rPr lang="en-US" altLang="zh-TW" sz="2400" dirty="0" smtClean="0">
                <a:ea typeface="新細明體" pitchFamily="18" charset="-120"/>
                <a:hlinkClick r:id="rId4"/>
              </a:rPr>
              <a:t>http://clem.mscd.edu/~tuckerp/CSI3310/C15.1.html</a:t>
            </a:r>
            <a:endParaRPr lang="en-US" altLang="zh-TW" sz="2400" dirty="0" smtClean="0">
              <a:ea typeface="新細明體" pitchFamily="18" charset="-120"/>
            </a:endParaRPr>
          </a:p>
          <a:p>
            <a:pPr eaLnBrk="1" hangingPunct="1"/>
            <a:r>
              <a:rPr lang="en-US" altLang="zh-TW" sz="2400" dirty="0" smtClean="0">
                <a:ea typeface="新細明體" pitchFamily="18" charset="-120"/>
                <a:hlinkClick r:id="rId5"/>
              </a:rPr>
              <a:t>http://wwwis.win.tue.nl/~aaerts/2M400/pdf/ColNotes7.pdf</a:t>
            </a:r>
            <a:endParaRPr lang="en-US" altLang="zh-TW" sz="2400" dirty="0" smtClean="0">
              <a:ea typeface="新細明體" pitchFamily="18" charset="-120"/>
            </a:endParaRPr>
          </a:p>
          <a:p>
            <a:pPr eaLnBrk="1" hangingPunct="1"/>
            <a:endParaRPr lang="en-US" altLang="zh-TW" sz="2400" dirty="0" smtClean="0">
              <a:ea typeface="新細明體" pitchFamily="18" charset="-120"/>
            </a:endParaRPr>
          </a:p>
          <a:p>
            <a:pPr eaLnBrk="1" hangingPunct="1"/>
            <a:endParaRPr lang="en-US" altLang="zh-TW" sz="2400" dirty="0" smtClean="0">
              <a:ea typeface="新細明體" pitchFamily="18" charset="-120"/>
            </a:endParaRPr>
          </a:p>
          <a:p>
            <a:pPr eaLnBrk="1" hangingPunct="1"/>
            <a:endParaRPr lang="zh-TW" altLang="en-US" sz="2400" dirty="0" smtClean="0">
              <a:ea typeface="新細明體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3650</TotalTime>
  <Words>865</Words>
  <Application>Microsoft Office PowerPoint</Application>
  <PresentationFormat>On-screen Show (4:3)</PresentationFormat>
  <Paragraphs>168</Paragraphs>
  <Slides>31</Slides>
  <Notes>12</Notes>
  <HiddenSlides>8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Equity</vt:lpstr>
      <vt:lpstr>Decomposition</vt:lpstr>
      <vt:lpstr>PowerPoint Presentation</vt:lpstr>
      <vt:lpstr>Undesirable Properties of Bad Design</vt:lpstr>
      <vt:lpstr>How to avoid ? </vt:lpstr>
      <vt:lpstr>Properties of a relational decomposition</vt:lpstr>
      <vt:lpstr>Attribute Preservation</vt:lpstr>
      <vt:lpstr>1. Lossless Join Decomposition</vt:lpstr>
      <vt:lpstr>1. Lossless Join Decomposition</vt:lpstr>
      <vt:lpstr>1. Lossless Join Decomposition</vt:lpstr>
      <vt:lpstr>1. Lossless Join Decomposition</vt:lpstr>
      <vt:lpstr>PowerPoint Presentation</vt:lpstr>
      <vt:lpstr>PowerPoint Presentation</vt:lpstr>
      <vt:lpstr>1. Lossless Join Decomposition</vt:lpstr>
      <vt:lpstr>Testing Lossless Join</vt:lpstr>
      <vt:lpstr>Example of L-J Decomposition</vt:lpstr>
      <vt:lpstr>Another example</vt:lpstr>
      <vt:lpstr>2. Dependency preservation.</vt:lpstr>
      <vt:lpstr>Dependency Preservation Decomposition</vt:lpstr>
      <vt:lpstr>Test of Dependency Preservation</vt:lpstr>
      <vt:lpstr>Test of Dependency Preservation II</vt:lpstr>
      <vt:lpstr>Dependency Preserving Example</vt:lpstr>
      <vt:lpstr>Dependency Preserving Example</vt:lpstr>
      <vt:lpstr>Dependency Preserving Example</vt:lpstr>
      <vt:lpstr>Non-Dependency Preserving Example</vt:lpstr>
      <vt:lpstr>Minimal Redundancy</vt:lpstr>
      <vt:lpstr>Normal Form Decompositions  Comparison </vt:lpstr>
      <vt:lpstr>Lossless Check Example</vt:lpstr>
      <vt:lpstr>Lossless Check Example </vt:lpstr>
      <vt:lpstr>Lossless Check Example</vt:lpstr>
      <vt:lpstr>Conclusion</vt:lpstr>
      <vt:lpstr>Reference</vt:lpstr>
    </vt:vector>
  </TitlesOfParts>
  <Company>Mel Chen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Decomposition</dc:title>
  <dc:creator>Mel Chen</dc:creator>
  <cp:lastModifiedBy>DELL</cp:lastModifiedBy>
  <cp:revision>49</cp:revision>
  <dcterms:created xsi:type="dcterms:W3CDTF">2005-10-26T05:27:32Z</dcterms:created>
  <dcterms:modified xsi:type="dcterms:W3CDTF">2024-08-23T07:13:02Z</dcterms:modified>
</cp:coreProperties>
</file>