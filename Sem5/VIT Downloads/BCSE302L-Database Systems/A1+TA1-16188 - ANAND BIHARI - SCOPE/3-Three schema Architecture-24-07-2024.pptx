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56"/>
  </p:notesMasterIdLst>
  <p:sldIdLst>
    <p:sldId id="256" r:id="rId3"/>
    <p:sldId id="257" r:id="rId4"/>
    <p:sldId id="258" r:id="rId5"/>
    <p:sldId id="269" r:id="rId6"/>
    <p:sldId id="301" r:id="rId7"/>
    <p:sldId id="270" r:id="rId8"/>
    <p:sldId id="302" r:id="rId9"/>
    <p:sldId id="303" r:id="rId10"/>
    <p:sldId id="271" r:id="rId11"/>
    <p:sldId id="304" r:id="rId12"/>
    <p:sldId id="283" r:id="rId13"/>
    <p:sldId id="284" r:id="rId14"/>
    <p:sldId id="285" r:id="rId15"/>
    <p:sldId id="320" r:id="rId16"/>
    <p:sldId id="321" r:id="rId17"/>
    <p:sldId id="322" r:id="rId18"/>
    <p:sldId id="323" r:id="rId19"/>
    <p:sldId id="324" r:id="rId20"/>
    <p:sldId id="273" r:id="rId21"/>
    <p:sldId id="306" r:id="rId22"/>
    <p:sldId id="274" r:id="rId23"/>
    <p:sldId id="276" r:id="rId24"/>
    <p:sldId id="275" r:id="rId25"/>
    <p:sldId id="277" r:id="rId26"/>
    <p:sldId id="286" r:id="rId27"/>
    <p:sldId id="278" r:id="rId28"/>
    <p:sldId id="287" r:id="rId29"/>
    <p:sldId id="307" r:id="rId30"/>
    <p:sldId id="309" r:id="rId31"/>
    <p:sldId id="308" r:id="rId32"/>
    <p:sldId id="279" r:id="rId33"/>
    <p:sldId id="310" r:id="rId34"/>
    <p:sldId id="311" r:id="rId35"/>
    <p:sldId id="312" r:id="rId36"/>
    <p:sldId id="313" r:id="rId37"/>
    <p:sldId id="314" r:id="rId38"/>
    <p:sldId id="281" r:id="rId39"/>
    <p:sldId id="282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315" r:id="rId50"/>
    <p:sldId id="316" r:id="rId51"/>
    <p:sldId id="317" r:id="rId52"/>
    <p:sldId id="318" r:id="rId53"/>
    <p:sldId id="299" r:id="rId54"/>
    <p:sldId id="319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1637" autoAdjust="0"/>
  </p:normalViewPr>
  <p:slideViewPr>
    <p:cSldViewPr>
      <p:cViewPr varScale="1">
        <p:scale>
          <a:sx n="67" d="100"/>
          <a:sy n="67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11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68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Internal level</a:t>
            </a:r>
            <a:r>
              <a:rPr lang="en-US" dirty="0" smtClean="0"/>
              <a:t>:</a:t>
            </a:r>
            <a:r>
              <a:rPr lang="en-US" baseline="0" dirty="0" smtClean="0"/>
              <a:t> it describe the physical structure of the database. It uses the physical data model and describes the complete details of data storage and access path for the database. </a:t>
            </a:r>
          </a:p>
          <a:p>
            <a:r>
              <a:rPr lang="en-US" b="1" baseline="0" dirty="0" smtClean="0"/>
              <a:t>Conceptual schema</a:t>
            </a:r>
            <a:r>
              <a:rPr lang="en-US" baseline="0" dirty="0" smtClean="0"/>
              <a:t>: 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conceptual schema hides the details of physical storage structures and concentrates on describing entities, data types, relationships, user operations, and constraints. Usually, a representational data model is used to describe the conceptual schema when a database system is implemented.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view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external schema describes the part of the database that a particular user group is interested in and hides the rest of the database from that user group. As in the previous level, each external schema is typically implemented using a representational data model, possibly based on an external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 design in a high-level data model.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FB1CC-AE27-4B23-824E-BA8B57FD6C5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0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37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355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62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6" y="1449307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6" y="1396722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6" y="2976651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7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62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5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9"/>
            <a:ext cx="7772400" cy="1338263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7" y="2376831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52" y="2341482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12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1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1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1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14" y="4650481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6" y="4773231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4" y="66680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7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4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7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5685703-99D3-441A-9664-068B7D55E7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3" y="1449304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3" y="1396721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3" y="2976650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2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2352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A66E7-5226-46E2-8AA4-DD87CDDF6E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73240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7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1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3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4" y="2376831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8" y="2341477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8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22DB203-53BD-4A66-A131-8E122F28CD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53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E9E24-98C8-4790-8059-B08408F674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3794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1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7118FA-6758-4B04-87B1-7524836E87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13207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50985D-E871-467B-8FA9-912AD25698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95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C44F47-C26D-4DF8-B735-0BC2D534B2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83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1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FA2E58-85B0-4ED5-854B-A26375D3D9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15530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1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09628EDF-0D7D-4C28-A496-6734373B60A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10" y="4650475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2" y="4773226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0" y="66676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79898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CDFDF-C689-41DC-B757-DBD4A9A79F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96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8066D5-A885-442B-8C08-C8D6964B27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46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49"/>
            <a:ext cx="2476500" cy="476251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6A820A-2CAB-46E0-A5A3-DD492961C18D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49"/>
            <a:ext cx="2476500" cy="476251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i="1">
              <a:solidFill>
                <a:srgbClr val="696464"/>
              </a:solidFill>
              <a:latin typeface="Verdana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i="1">
              <a:solidFill>
                <a:srgbClr val="696464"/>
              </a:solidFill>
              <a:latin typeface="Verdana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91CF34-CA3F-46F1-ACB2-7073B78A2968}" type="slidenum">
              <a:rPr lang="en-US" i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81023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3" grpId="0" build="p"/>
    </p:bld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Anand</a:t>
            </a:r>
            <a:r>
              <a:rPr lang="en-US" dirty="0" smtClean="0"/>
              <a:t> </a:t>
            </a:r>
            <a:r>
              <a:rPr lang="en-US" dirty="0" err="1" smtClean="0"/>
              <a:t>Bihari</a:t>
            </a:r>
            <a:endParaRPr lang="en-US" dirty="0" smtClean="0"/>
          </a:p>
          <a:p>
            <a:r>
              <a:rPr lang="en-US" dirty="0" smtClean="0"/>
              <a:t>SJT Annex- 203N</a:t>
            </a:r>
          </a:p>
          <a:p>
            <a:r>
              <a:rPr lang="en-US" dirty="0"/>
              <a:t>a</a:t>
            </a:r>
            <a:r>
              <a:rPr lang="en-US" dirty="0" smtClean="0"/>
              <a:t>nand.bihari@vit.ac.in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Management System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effectLst/>
                <a:ea typeface="ＭＳ Ｐゴシック" pitchFamily="34" charset="-128"/>
              </a:rPr>
              <a:t>Data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A data model is the collection of concepts that can be used to describe the structure of the database. </a:t>
            </a:r>
          </a:p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It is a pictorial representation of Tables.</a:t>
            </a:r>
          </a:p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Represents relationship between Tables.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data model is defined as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physical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logical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levels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also helps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define the relational tables, primary and foreign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keys.</a:t>
            </a:r>
          </a:p>
          <a:p>
            <a:pPr marL="0" indent="0">
              <a:buNone/>
            </a:pPr>
            <a:endParaRPr lang="en-US" sz="2800" dirty="0" smtClean="0"/>
          </a:p>
          <a:p>
            <a:endParaRPr lang="en-US" sz="27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2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Data </a:t>
            </a:r>
            <a:r>
              <a:rPr lang="en-US" dirty="0"/>
              <a:t>M</a:t>
            </a:r>
            <a:r>
              <a:rPr lang="en-US" dirty="0" smtClean="0"/>
              <a:t>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28802"/>
            <a:ext cx="7772400" cy="462709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Conceptual 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the system contains.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Also called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entity-based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object-based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models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Logical 	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the system should be implemented.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Physical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How the system will be implemented on DBMS. 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Provide concepts that describe details of how data is stored in the computer. These are usually specified in an ad-hoc manner through DBMS design and administration manuals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Representational or Implementation  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e.g. relational data models used in many commercial systems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8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Model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conceptual data model identifies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highest-level relationships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between the different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entities.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basic three element of this model is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Entity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Attribute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Relationship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320040" lvl="1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onceptual Data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352928" cy="604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71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Logical Data Model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defines the structure of the data elements and set the relationships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them.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describes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data in as much detail as possible, without regard to how they will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physically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in the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Features of a logical data model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entities and relationships among them.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attributes for each entity are specified.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primary key for each entity is specified.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Foreign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keys (keys identifying the relationship between different entities) are specified.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Normalization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occurs at this level.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73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designing the logical data model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primary keys for all entities.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relationships between different entities.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attributes for each entity.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Resolve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many-to-many relationships.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Normalization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82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964488" cy="659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663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Physical Data </a:t>
            </a:r>
            <a:r>
              <a:rPr lang="en-IN" b="1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represents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the model will be built in the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shows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table structures, including column name, column data type, column constraints, primary key, foreign key, and relationships between tables.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24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404664"/>
            <a:ext cx="7772400" cy="56151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568952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495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8C72A9-862C-47D7-B27A-1AAC1E41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48059"/>
          </a:xfrm>
        </p:spPr>
        <p:txBody>
          <a:bodyPr/>
          <a:lstStyle/>
          <a:p>
            <a:r>
              <a:rPr lang="en-US" dirty="0"/>
              <a:t>Data 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6F765F-E4E3-45F0-AE54-D59B1F21AD7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8650" y="1113188"/>
            <a:ext cx="7886700" cy="5484164"/>
          </a:xfrm>
        </p:spPr>
        <p:txBody>
          <a:bodyPr>
            <a:noAutofit/>
          </a:bodyPr>
          <a:lstStyle/>
          <a:p>
            <a:r>
              <a:rPr lang="en-US" sz="23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Hierarchical Model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It is a tree like structure.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child has only one parent.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One to many relationship.</a:t>
            </a:r>
          </a:p>
          <a:p>
            <a:r>
              <a:rPr lang="en-US" sz="23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Network Model 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It is a graph like structure.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child may have one or more parents.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It uses many to many data relations.</a:t>
            </a:r>
          </a:p>
          <a:p>
            <a:r>
              <a:rPr lang="en-US" sz="23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Entities Relationship Model</a:t>
            </a:r>
          </a:p>
          <a:p>
            <a:r>
              <a:rPr lang="en-US" sz="23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Relational </a:t>
            </a:r>
            <a:r>
              <a:rPr lang="en-US" sz="23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</a:p>
          <a:p>
            <a:r>
              <a:rPr lang="en-US" sz="2300" b="1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Object-based data models (Object-oriented and Object-relational)</a:t>
            </a:r>
          </a:p>
          <a:p>
            <a:r>
              <a:rPr lang="en-US" sz="2300" b="1" dirty="0" smtClean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Semi-structured </a:t>
            </a:r>
            <a:r>
              <a:rPr lang="en-US" sz="2300" b="1" dirty="0">
                <a:solidFill>
                  <a:srgbClr val="0070C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data model  (XML)</a:t>
            </a:r>
          </a:p>
          <a:p>
            <a:endParaRPr lang="en-GB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86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Hierarchical </a:t>
            </a:r>
            <a:r>
              <a:rPr lang="en-US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1556792"/>
            <a:ext cx="800176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11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Model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03390"/>
            <a:ext cx="6120680" cy="4245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9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ranklin Gothic Book (Headings)"/>
                <a:cs typeface="Times New Roman" pitchFamily="18" charset="0"/>
              </a:rPr>
              <a:t>Entities Relationship </a:t>
            </a:r>
            <a:r>
              <a:rPr lang="en-US" dirty="0" smtClean="0">
                <a:latin typeface="Franklin Gothic Book (Headings)"/>
                <a:cs typeface="Times New Roman" pitchFamily="18" charset="0"/>
              </a:rPr>
              <a:t>Model</a:t>
            </a:r>
            <a:endParaRPr lang="en-US" dirty="0">
              <a:latin typeface="Franklin Gothic Book (Headings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www.simplilearn.com/ice9/free_resources_article_thumb/ERDiagramsInDBMS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800"/>
            <a:ext cx="784887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49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data:image/png;base64,iVBORw0KGgoAAAANSUhEUgAAAQsAAAC8CAMAAABYM3sZAAABLFBMVEX////59u12X4ni1ecAAAD59+zo5d769/D///54Xot9bYtvWYPm2Ou7q8b///x2XYjXzdj18/bY1dF2YIfb19nIyMj4+Piglqh1dXXc3Nzw8PDn5+fOzs7//PRtbW1cSm+2trasrKyioqJaWlrTxtiDg4NPT09mZmawsLCampqSkpIrKyt5eXlAQEBJSUlnZ2fDuskXFxc1NTUfHx/u6+OcnZXc2dLY1N7Jwc718Pjj2uaim6ZSTVSUkJawqbOIhX9yaHhsU4FqVnltWXeEcJSUg56DcJinlrLdzuGHfZOrorWId5eWjaGYiKerobfJxs6jj7FgQ3GZk6SEgZGCdI5dSmy+q8k+NkFQSlZlXGZ+eIIoIi22sbnt5PVeV2A7Nz4hHhdfXVhKR0FxcmqqND1uAAAT6klEQVR4nO2dCUPaytrHBx1BxAoKk5L1ZDEsYYtIUILA0bbXFlt9T9t7z9HX5fb1+3+H95kAFUmCoILY5t9KlplJZn55Zs0kQShQoECBAgUKFCjQ3MUQdniTIylvfwJh/A7BE/5naOdg7M8di65iOp3Wf0aWx9pglRBIMi57h6piDn4ZSRIgjCQNA1Rxvr/GYoku0jg35EwkOB+EQjqc2OAQ54RmJYlHjJIuKi/JDTsaJIbH2YHDLobEsj5RK2FqFwymrHSMhSGnHFb7ayxOO8dkuSFnxTlfhR4ftANnpBsViALnuKSfLWXTaweSnKVXTtWyMsSsAldOq8goj7Em8Vq+74AkLVWROCSktWyOsnDsAuKeoj8C4nSN2ggrZdPAgjHoVp9FTktxGUPWjD6LPOJLWEEFTC8EAywwTzHwCjWjVH5MXGfPgoeoCUjD+QqWKYt0RS1jmexgQ6VWrmG9gg2IOt6BDKRn1QwkdsCiVJXUnTIWAEi+hAmkydDAubALvtg+CwMTSDCYgTJggQgcqYAVg3LBmR1dL5QwTzDOqi9atOxQw8zDNdRkFWsc5BGGIwbWoUhwrNzJNZBf4DIyuEoLRAOSOGBRzmHKMEUzBvhUIL05rBCclg1s8EMsNCTDMQcsWMhbBVyt4gzHYwlMUClDNjVoVNSxsZ01C3UHzILgQrmcKVK7qODdKsS7AEUCsEjhIs0SPZOuoiLeKQ2xKIGZcxpOqViGrQwkm7JQcBUOlh9mkYVy+I4FzQ70gHlsAH2wJiDPQgnEAo4XZcEIkB4OZ+CaQ/QrHFwzoceCARbUGDhc6LPgIPXsEIsqIjLkIgEsAXAWZZzli1h1+LG5+3bxk4XOgzGl4IApVnNYIJkACz4vCbwMZ3o5AQeoBnd75XuFRrpK13RaPeyyEFEVO4UjLWPBW5luSYM6tRfzDDinYfcux+z2cpzuLPp1qsMiM2DhHA6sqJc5q1y/Fi9gSmioRnsJCcT5gTJLEOCHNo8EgaHbtI1ENxmBVpn0p/dH22NCrxYlzoKlDS9OcFIhpDgaFsJwvYPRxhdD15hek4sjQt+n0FvpeepFQ3hJEv3mxSLpRXEEChQoUKBAgQIFChRo0bRKfzZeOhaLotWNjdWXjsOiaCOwip/aQH9+X1tYtefKYhX9EY0vqg7fzpXFBrBYWlTF58lilbJ46RT7K2Bxp4DFnQIWd1o4Fsml6NHhYTQai0eX4ktL0WQsFod91CkaPYouRWOx2GFsKRldOoomYQNckklIx1H0CPbHk1HwFYvSJQQ8gvBL9DBL0XdwuOQrY7EUfW9v7q0l949iS/EYVHRv9iH1cYogntyOJWPbDb6RODw8/GAnY4enexQHJPb98r9svrGXjAOpYxt+Y7HPpydXdDsZP4olDz+eJB+qwRaPRSzR+GSb++ht98N7M/nFTNiHXfMkaZ6aayY6PYqefEbNT2/Mky+oaybbjcNj80t8KWYm1tDnD+hN8o357nTz6Nh8u9aw3+5Fv5vt2Jd2txszl8GoxhvG4rE4PEUN8902etvofkGfUILZO948Qx+QvZkw0Rtq/ujkTWK/8QElNre7jWN0ht7HY43uGto30ecEb9vdxsnVV/RhM3WKTsDTfhcl0Okn9C76gGEsHItk8uRTd9P+vPnXJrDobv5h7iW4hP0ZJff3TiB0Mr6GvnzaawCLP7qNLm9uJvj/iS2hz+8BivnXJrtnnzaSZw20tmd+gPB/dTe7m/+mqL4vvTYW0Zjd+Jyy36KTxt4Z+oq6jT1z8+v+J7S2b5+gz1CMrqFPV2eXjU+oa+91G21wfA+28nkNrZ2i71eJbvu0YW5+Q2v23lswp+Ye2Mkfje53tPZA0bl4LJbiawk+sXZib7+1E/Y7006YRwm+u2ZDSZC0Px4CC/vkGJw+2Lb9/fjju23ejMVjdve9/f4wsX1i2x+OE9+p+6ndtZOn/F7y+OPRx+O3jaPXV49A1QFVRjx2CMtDpwZ16pAjqBGWDg9pLXtEa5VD8HEIfqPgCwrc0yu6Bf5gEYWdh4Ogh/RYEPCjGXug6Fw8FtBYcMq4aC93J2mzIk7XYQ1qxWQ8Gqc7qI9BWRgHh+QxQBrUmslkPOmkO+ocjLY24scP5ZAFZNFrOiXpvyFBsyrZJ0NTmKSulEBv6UBy/DvEAA7139v+6e+hknPOLCbps0d7rYBoMt6/pg6BpWTPVhxnwBJ3kETpknrqJx8COSSXaGDIbHFqMrBOWQwOPEaxubJY3UD/js5ezsjMdEFexC7+HVtczZfFKjr+z5updTp9kMeE+Y85VxYImevTa3tOYRLPl0y+N11s/PRjc315am1PH+QxYZ6TRaFcgV9GXwQW65OEGYnKc7LIoJKs6oxAlLwuIFjLG0oOyfftpM9iKiKzYjEa5vlYMBjLRqUspPVyNS+peiaF81JZKNx/cmjAog8DcunyukPmjo6L03OxoCddH5zbfTWekQWXQQjsIaUbrMZpWb6YKtGZ/EMPA7F3LMz2nrPyNdGE5SXdM4hSovkgi4S5bO+PJeTFwm631+1mYrl5CfS3P86SBS0oVBbxqsIbnC7gcg52MNUhH3JV6LNYP9AwrVGW/zbP7eWrnW9Xib+vlnul+f6fV+v9VR8W6yZO2N++Dor/n0Y2noV9ncH2jfaPWS1/W1/fbboCPWd54SWVPsdBKlJPGGt9FtcJ8x/7+nwPWEBqDqqX9k1zu2teXF+cn/1907b//Gf7QgJMPiyqJbvZ2v/nwkxfX39bPz/Yf5iF3by+2m5d2HZbb59ffS1dzJ0FN1xaEMgwfRbnhd39i1alfbBPWZQS/2seXJ+dN7F0cdA+OLtpZUrtcut83ZvF8n62edBs3VyWmqWD5k0zU3JdZDeL9X/27auDVhWf44PtBE7fXM2eBctwxMeJ7h/YRfOgddE+b/+zT/NIYS+xW5ba17CjddE8PytdlC8vS8uD2LrSZV5ftXCrcHbTbF7s34Dn9gQsrpvtPw8uL29arav1C621k5g9Cz1V9WOB7lhIl2cXbVw+O29fmKZ5bZrt8xbGLal90brAWL8s4Nb15aA4deWR7eb6ests/X3ebrf3W/vnNxOwWE4cHOybN9fbZhvM0r76Zo56mAGLXRkJOxIxoL3hz6LZAjWbrebXVl+w3vz69Wvza5Mu4Q+8+OWR9UHhuj5Yc/nwqEfugjgHcLs/PwvMo5KeRaV8cdRpdWMVmSPxGqtlHxYP64XbWn1VyI5SzSs8izmX2+rG79If6YlwKMWn84h49UsexeJR13ghWAwkeT/kdJmYXvtzCnM2KxYegiyCtsTI1ApPH+RRYXxexjAzba2EPLTy88fDbSXs7TBOEZ8wK34nAZf5s/CJSsiXRSgUjkxJgrLwDuPPIrQwLCCOviiekcXKig+MBWIxPrHPyALO5JdJF4SFWK+LK0JErE3EgpYftDhwvPuUCz4sIrUtut99nsVhsXXbqXesTu2/Nc8UjKQrcisqRBRDshUSQ52NSESMiJOykNSOKP6QXf4XhcWK2IE0WRtWzapFvCx4JF2iUeuIarpGlKIV6RTD9eyWHJInYREJd9CtGNkirozisCCsu6n8AixqHQsBC+/cPJouoipEVsKWUsttSWHltqZYMrl/qf3sIifdiqK85cMCO29OeFEWIdK5rRfV29APdyS9WIT+W9vqSFuWpabDnYhxqxr1/xNH8pEPi1CxXgfuoicLVsHSPC3Dk4VYD4shEqqR+oMsnNUwDVEL14QwpDlcq4cj9dFE+9Q9VlgM17Z87CKFMqgyx5fLeLIYxNun7hytK1ZC/WZCxAmwEnGFW/FrdzrmE3FnxT4LHiFZm8/bIjb82hfjNXX7YsWXhW+IuzY4UzTmwWL1USz87H18mOn836tThcwcTIOymDpdkWlZ0CwzNb/IvfaFPv6m8HMI8ggJT6/6nMIMtbXYzLgB7OeQk0fmMBbh2MV0Iej/e+3OvOT7Csnn0lzKzieWFz3xGflXYTFdGM/+iJKdbcvrNbFAnKbMn4XY+3N1H3t6RhaiOPiZhAVtec3wjY9eLCI1aBqTnBiyRpvSfiygzR0J0yLBz8z8WEBnP1K3LNfYgG+fnZFm1yh3RR5iJVbqaSGfk62tW0/LcKVrRTQ6G1uWKIqdiEgvs6sX481CtIixJSo5nz57ir4HzxVjQhvlfF5VB1Dyz1XBeF3IsLVhdUIhAxFrUhaWItcsOUvyRSt0K7n7Fz4sDKLKolWUXLWMw0KWdj1u9iFGBhbqzk8W5ecqUb1Y1AzUsWo1KydveKHwyCOiFbJk61YJG1zHiuQjodExXb8+u/wDOqqrgmtgq2cXKs4U03nBs4jIMGAQaq66y2lMfkfhS4Unm4f3WI5k1X78CN/qxsR5pCYWlU7H6ogdWdJqrtFtHxY1yxJl+faHOw69PCJkEMPLekXKC6MXP8sDjmxeF4wsu1s0hGdofXiVFzTP04W77+3Dwuk+OKOctLTx6IL7jvHVRXo2j05+v7wYzCNiZV3LGmQIiMSirJxR9HxeEzBktZxXdppC8+ynTh3GXY+wuWJGM/qvc6f3zCu6XNWRjOSszFae2PR4xPgFveJT30N80viFCwgu3W2RZ3vXtmMXK1MKWEwbAv4/IownC84oy0ObzLN12CgLn7aljyIQxentfWq7iPi0tVhJ67/LXtAUbRgK0gSX72lZzGv8YusRYUZZEK34s3otMBqpqIgDy2AQA2UsV0JPlfecg7HX7AXGtUCMmlHvMgSvIQ2KUoJLqlxgNWM3i57eU3kl/VRe1+5a4znIImn63QaUQWlF26kocpGg9JMHRV8FCyFbHEoopcJnUIbLaXq6ymEZc9ki3f7FWVC7lzPGUDKZsoOoSj8bwtCnYQT4x+YYweeTKnNn8WChM5aF//gFW0TG/cY1V+0VC/zoyLjx9IENz/GLkBwR61Dbyt53ztzpCodWwiv9JKx4DXr4sBBJPRIKy7JrAkaPBYML6ZFBz6f3wKZg4YxfyLf1okVkuTNZ30zswP+aCD0Skfbsau5QPn12Wb2tiYpCXC49FtXRb3WwVZ9kzIYFTau1anVCEUPsTDh+IeZrJBsx0nWrGLIs1TBcozk+dlEv/RBF68cPH7uATip77yEPzyntM2VRM5Bl1GqWGJlwXEu0OiRNCB0Jy1W28vWOqwTxG9cKK1tieGNLHnXxbHfKlZmi8M4jt0YnfHtb7xgT5xFR7JCOZBFxq9gxIh3XdfZhoXTSYZIzfO3inlTX5P5Zs3BUj4jhsEhHdD0cPdJVC63UxHqNLuqw4Z6L5ld21muhsOh9mlEW+mxvtz9uzsE87rOHXP3U9ExvjbyqPjv9/tjsWUx5uR55jZ84lpN5Yo/8YdE8Mu0988hcnhO4f5+dqc5+MsorGb/gCvOZzTf9+MX0fbNHjF8M16lsdeYzL/ospkuWo/n22YXZNjZfEwuSfSgJvwkLBilz/NioP4sV32GJ5x6/8Dl5hCVyfi5zO/1YOBNxe21waFt7Pvbj7o+E65Far9FGB21X3I9O+T1LU69BiLrP8yOshOf62VUvuxCL+U5Y0snGhH0zUc3nIp0NemfUuZsquif0+I1fGFnojhi3rkczHBYCxqVZT2V8iAXts3dqEaOu5Cdj0UnLG51OjVgC6dSJKIeLo7PdfVh0IkQWRVL0fJZGVOf8lWZPFhZlsWJUparnU1audG1EOvUf9VxxS05b9dsttRgeHQTyySPhYqkuipHiRH32+bOg4xc/5PSWDnkkMtn8i5okV8IGnUsRKsu58I5YyXXESewC+uy3Yl1Rpcnna82VhSPZefzO7466K11hmXqlk9dqJAI2AS3uER9+Y3yAry4S92kWiMX4G84ec5SG1sJe+cp3TqPPKRaIxXiNbyt4tjWeZ67rq2PhqdfBYkH7qa777HPQY8YvHjMW8ZgwMx/LGtGmp9BmKuXtssn47Hd0Oc7RT0Jq0zsacxq2uNPqhktI3cXlVeR22Oh/A8wjjOMmYP8w3kGoK493CuzIIRfoq2saLhe9LXQV5PtRtOrwmw/vh/FN3GYu6xlsY0yYmWnVQ0hj+XypQlZd7v5hVpGcKVe9HHpX2u0fIU4tazLSZdcBeyeZOwtv0V4Rp5Sz8hSZlmOKaIpRWtYoS0439JV8up2RNU2ZOH3c5Hc8Bb2kz7ueeLoYImn5yTrPE7JgSDFjvBJjcEsoapNEfhIWjFzR1PmOSzy7WD3zoFFzDz1ezCtaNjffF3zMSHxek8i4stQ1oeye2LyWHhv8lYlXNU32vbBjWKQmMKvXJ0bOZnyqFj8WJF1+vWXlQyJSyatq4b3uZsjZ8msvKx+SUKy6rrWLBadk/GzoFxOrV++XAfdZ8Gpm5rNpFkmsMdyt4obJ8NI87/MEChTodYinVSbz67WkHiG9sAO/3NOfZXn9IlmU4nTCaSlG4JW8ojKKzrO6/NLxegnR5/80ZZfPSpwk42y6wGLd0H5PFhmeVaqoymtpLk2KsqyrGp8W3G/s/x3E4l1WxnnGIBgLeTYnK3lGT+MZT2UPFOg1iKjQXR3all1v+iG/S05hChziME+flyVO753I/Y5a6ieT0i8+cjEQ/YpHViMyxgbGanaXqEJhVwDjUDCWlR2FL+8geY6vqH1J5WVEcFZHhozUHFsiJEMMLqOzBoFloWgI5Rx98Pi3kKKiqpKrIlVGOYUFIykRnWh5VRIEncNEJTnMCLN/CelCiC0hA6wDCSxiWfrhMJmVJI6T0iwvOK/zyaoo/buM5xgPTlyX5/fAQ6BAgQIFChQoUKBAgQIFChQoUKBAgX4t/T90JfCVdYKp3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png;base64,iVBORw0KGgoAAAANSUhEUgAAAQsAAAC8CAMAAABYM3sZAAABLFBMVEX////59u12X4ni1ecAAAD59+zo5d769/D///54Xot9bYtvWYPm2Ou7q8b///x2XYjXzdj18/bY1dF2YIfb19nIyMj4+Piglqh1dXXc3Nzw8PDn5+fOzs7//PRtbW1cSm+2trasrKyioqJaWlrTxtiDg4NPT09mZmawsLCampqSkpIrKyt5eXlAQEBJSUlnZ2fDuskXFxc1NTUfHx/u6+OcnZXc2dLY1N7Jwc718Pjj2uaim6ZSTVSUkJawqbOIhX9yaHhsU4FqVnltWXeEcJSUg56DcJinlrLdzuGHfZOrorWId5eWjaGYiKerobfJxs6jj7FgQ3GZk6SEgZGCdI5dSmy+q8k+NkFQSlZlXGZ+eIIoIi22sbnt5PVeV2A7Nz4hHhdfXVhKR0FxcmqqND1uAAAT6klEQVR4nO2dCUPaytrHBx1BxAoKk5L1ZDEsYYtIUILA0bbXFlt9T9t7z9HX5fb1+3+H95kAFUmCoILY5t9KlplJZn55Zs0kQShQoECBAgUKFCjQ3MUQdniTIylvfwJh/A7BE/5naOdg7M8di65iOp3Wf0aWx9pglRBIMi57h6piDn4ZSRIgjCQNA1Rxvr/GYoku0jg35EwkOB+EQjqc2OAQ54RmJYlHjJIuKi/JDTsaJIbH2YHDLobEsj5RK2FqFwymrHSMhSGnHFb7ayxOO8dkuSFnxTlfhR4ftANnpBsViALnuKSfLWXTaweSnKVXTtWyMsSsAldOq8goj7Em8Vq+74AkLVWROCSktWyOsnDsAuKeoj8C4nSN2ggrZdPAgjHoVp9FTktxGUPWjD6LPOJLWEEFTC8EAywwTzHwCjWjVH5MXGfPgoeoCUjD+QqWKYt0RS1jmexgQ6VWrmG9gg2IOt6BDKRn1QwkdsCiVJXUnTIWAEi+hAmkydDAubALvtg+CwMTSDCYgTJggQgcqYAVg3LBmR1dL5QwTzDOqi9atOxQw8zDNdRkFWsc5BGGIwbWoUhwrNzJNZBf4DIyuEoLRAOSOGBRzmHKMEUzBvhUIL05rBCclg1s8EMsNCTDMQcsWMhbBVyt4gzHYwlMUClDNjVoVNSxsZ01C3UHzILgQrmcKVK7qODdKsS7AEUCsEjhIs0SPZOuoiLeKQ2xKIGZcxpOqViGrQwkm7JQcBUOlh9mkYVy+I4FzQ70gHlsAH2wJiDPQgnEAo4XZcEIkB4OZ+CaQ/QrHFwzoceCARbUGDhc6LPgIPXsEIsqIjLkIgEsAXAWZZzli1h1+LG5+3bxk4XOgzGl4IApVnNYIJkACz4vCbwMZ3o5AQeoBnd75XuFRrpK13RaPeyyEFEVO4UjLWPBW5luSYM6tRfzDDinYfcux+z2cpzuLPp1qsMiM2DhHA6sqJc5q1y/Fi9gSmioRnsJCcT5gTJLEOCHNo8EgaHbtI1ENxmBVpn0p/dH22NCrxYlzoKlDS9OcFIhpDgaFsJwvYPRxhdD15hek4sjQt+n0FvpeepFQ3hJEv3mxSLpRXEEChQoUKBAgQIFChRo0bRKfzZeOhaLotWNjdWXjsOiaCOwip/aQH9+X1tYtefKYhX9EY0vqg7fzpXFBrBYWlTF58lilbJ46RT7K2Bxp4DFnQIWd1o4Fsml6NHhYTQai0eX4ktL0WQsFod91CkaPYouRWOx2GFsKRldOoomYQNckklIx1H0CPbHk1HwFYvSJQQ8gvBL9DBL0XdwuOQrY7EUfW9v7q0l949iS/EYVHRv9iH1cYogntyOJWPbDb6RODw8/GAnY4enexQHJPb98r9svrGXjAOpYxt+Y7HPpydXdDsZP4olDz+eJB+qwRaPRSzR+GSb++ht98N7M/nFTNiHXfMkaZ6aayY6PYqefEbNT2/Mky+oaybbjcNj80t8KWYm1tDnD+hN8o357nTz6Nh8u9aw3+5Fv5vt2Jd2txszl8GoxhvG4rE4PEUN8902etvofkGfUILZO948Qx+QvZkw0Rtq/ujkTWK/8QElNre7jWN0ht7HY43uGto30ecEb9vdxsnVV/RhM3WKTsDTfhcl0Okn9C76gGEsHItk8uRTd9P+vPnXJrDobv5h7iW4hP0ZJff3TiB0Mr6GvnzaawCLP7qNLm9uJvj/iS2hz+8BivnXJrtnnzaSZw20tmd+gPB/dTe7m/+mqL4vvTYW0Zjd+Jyy36KTxt4Z+oq6jT1z8+v+J7S2b5+gz1CMrqFPV2eXjU+oa+91G21wfA+28nkNrZ2i71eJbvu0YW5+Q2v23lswp+Ye2Mkfje53tPZA0bl4LJbiawk+sXZib7+1E/Y7006YRwm+u2ZDSZC0Px4CC/vkGJw+2Lb9/fjju23ejMVjdve9/f4wsX1i2x+OE9+p+6ndtZOn/F7y+OPRx+O3jaPXV49A1QFVRjx2CMtDpwZ16pAjqBGWDg9pLXtEa5VD8HEIfqPgCwrc0yu6Bf5gEYWdh4Ogh/RYEPCjGXug6Fw8FtBYcMq4aC93J2mzIk7XYQ1qxWQ8Gqc7qI9BWRgHh+QxQBrUmslkPOmkO+ocjLY24scP5ZAFZNFrOiXpvyFBsyrZJ0NTmKSulEBv6UBy/DvEAA7139v+6e+hknPOLCbps0d7rYBoMt6/pg6BpWTPVhxnwBJ3kETpknrqJx8COSSXaGDIbHFqMrBOWQwOPEaxubJY3UD/js5ezsjMdEFexC7+HVtczZfFKjr+z5updTp9kMeE+Y85VxYImevTa3tOYRLPl0y+N11s/PRjc315am1PH+QxYZ6TRaFcgV9GXwQW65OEGYnKc7LIoJKs6oxAlLwuIFjLG0oOyfftpM9iKiKzYjEa5vlYMBjLRqUspPVyNS+peiaF81JZKNx/cmjAog8DcunyukPmjo6L03OxoCddH5zbfTWekQWXQQjsIaUbrMZpWb6YKtGZ/EMPA7F3LMz2nrPyNdGE5SXdM4hSovkgi4S5bO+PJeTFwm631+1mYrl5CfS3P86SBS0oVBbxqsIbnC7gcg52MNUhH3JV6LNYP9AwrVGW/zbP7eWrnW9Xib+vlnul+f6fV+v9VR8W6yZO2N++Dor/n0Y2noV9ncH2jfaPWS1/W1/fbboCPWd54SWVPsdBKlJPGGt9FtcJ8x/7+nwPWEBqDqqX9k1zu2teXF+cn/1907b//Gf7QgJMPiyqJbvZ2v/nwkxfX39bPz/Yf5iF3by+2m5d2HZbb59ffS1dzJ0FN1xaEMgwfRbnhd39i1alfbBPWZQS/2seXJ+dN7F0cdA+OLtpZUrtcut83ZvF8n62edBs3VyWmqWD5k0zU3JdZDeL9X/27auDVhWf44PtBE7fXM2eBctwxMeJ7h/YRfOgddE+b/+zT/NIYS+xW5ba17CjddE8PytdlC8vS8uD2LrSZV5ftXCrcHbTbF7s34Dn9gQsrpvtPw8uL29arav1C621k5g9Cz1V9WOB7lhIl2cXbVw+O29fmKZ5bZrt8xbGLal90brAWL8s4Nb15aA4deWR7eb6ests/X3ebrf3W/vnNxOwWE4cHOybN9fbZhvM0r76Zo56mAGLXRkJOxIxoL3hz6LZAjWbrebXVl+w3vz69Wvza5Mu4Q+8+OWR9UHhuj5Yc/nwqEfugjgHcLs/PwvMo5KeRaV8cdRpdWMVmSPxGqtlHxYP64XbWn1VyI5SzSs8izmX2+rG79If6YlwKMWn84h49UsexeJR13ghWAwkeT/kdJmYXvtzCnM2KxYegiyCtsTI1ApPH+RRYXxexjAzba2EPLTy88fDbSXs7TBOEZ8wK34nAZf5s/CJSsiXRSgUjkxJgrLwDuPPIrQwLCCOviiekcXKig+MBWIxPrHPyALO5JdJF4SFWK+LK0JErE3EgpYftDhwvPuUCz4sIrUtut99nsVhsXXbqXesTu2/Nc8UjKQrcisqRBRDshUSQ52NSESMiJOykNSOKP6QXf4XhcWK2IE0WRtWzapFvCx4JF2iUeuIarpGlKIV6RTD9eyWHJInYREJd9CtGNkirozisCCsu6n8AixqHQsBC+/cPJouoipEVsKWUsttSWHltqZYMrl/qf3sIifdiqK85cMCO29OeFEWIdK5rRfV29APdyS9WIT+W9vqSFuWpabDnYhxqxr1/xNH8pEPi1CxXgfuoicLVsHSPC3Dk4VYD4shEqqR+oMsnNUwDVEL14QwpDlcq4cj9dFE+9Q9VlgM17Z87CKFMqgyx5fLeLIYxNun7hytK1ZC/WZCxAmwEnGFW/FrdzrmE3FnxT4LHiFZm8/bIjb82hfjNXX7YsWXhW+IuzY4UzTmwWL1USz87H18mOn836tThcwcTIOymDpdkWlZ0CwzNb/IvfaFPv6m8HMI8ggJT6/6nMIMtbXYzLgB7OeQk0fmMBbh2MV0Iej/e+3OvOT7Csnn0lzKzieWFz3xGflXYTFdGM/+iJKdbcvrNbFAnKbMn4XY+3N1H3t6RhaiOPiZhAVtec3wjY9eLCI1aBqTnBiyRpvSfiygzR0J0yLBz8z8WEBnP1K3LNfYgG+fnZFm1yh3RR5iJVbqaSGfk62tW0/LcKVrRTQ6G1uWKIqdiEgvs6sX481CtIixJSo5nz57ir4HzxVjQhvlfF5VB1Dyz1XBeF3IsLVhdUIhAxFrUhaWItcsOUvyRSt0K7n7Fz4sDKLKolWUXLWMw0KWdj1u9iFGBhbqzk8W5ecqUb1Y1AzUsWo1KydveKHwyCOiFbJk61YJG1zHiuQjodExXb8+u/wDOqqrgmtgq2cXKs4U03nBs4jIMGAQaq66y2lMfkfhS4Unm4f3WI5k1X78CN/qxsR5pCYWlU7H6ogdWdJqrtFtHxY1yxJl+faHOw69PCJkEMPLekXKC6MXP8sDjmxeF4wsu1s0hGdofXiVFzTP04W77+3Dwuk+OKOctLTx6IL7jvHVRXo2j05+v7wYzCNiZV3LGmQIiMSirJxR9HxeEzBktZxXdppC8+ynTh3GXY+wuWJGM/qvc6f3zCu6XNWRjOSszFae2PR4xPgFveJT30N80viFCwgu3W2RZ3vXtmMXK1MKWEwbAv4/IownC84oy0ObzLN12CgLn7aljyIQxentfWq7iPi0tVhJ67/LXtAUbRgK0gSX72lZzGv8YusRYUZZEK34s3otMBqpqIgDy2AQA2UsV0JPlfecg7HX7AXGtUCMmlHvMgSvIQ2KUoJLqlxgNWM3i57eU3kl/VRe1+5a4znIImn63QaUQWlF26kocpGg9JMHRV8FCyFbHEoopcJnUIbLaXq6ymEZc9ki3f7FWVC7lzPGUDKZsoOoSj8bwtCnYQT4x+YYweeTKnNn8WChM5aF//gFW0TG/cY1V+0VC/zoyLjx9IENz/GLkBwR61Dbyt53ztzpCodWwiv9JKx4DXr4sBBJPRIKy7JrAkaPBYML6ZFBz6f3wKZg4YxfyLf1okVkuTNZ30zswP+aCD0Skfbsau5QPn12Wb2tiYpCXC49FtXRb3WwVZ9kzIYFTau1anVCEUPsTDh+IeZrJBsx0nWrGLIs1TBcozk+dlEv/RBF68cPH7uATip77yEPzyntM2VRM5Bl1GqWGJlwXEu0OiRNCB0Jy1W28vWOqwTxG9cKK1tieGNLHnXxbHfKlZmi8M4jt0YnfHtb7xgT5xFR7JCOZBFxq9gxIh3XdfZhoXTSYZIzfO3inlTX5P5Zs3BUj4jhsEhHdD0cPdJVC63UxHqNLuqw4Z6L5ld21muhsOh9mlEW+mxvtz9uzsE87rOHXP3U9ExvjbyqPjv9/tjsWUx5uR55jZ84lpN5Yo/8YdE8Mu0988hcnhO4f5+dqc5+MsorGb/gCvOZzTf9+MX0fbNHjF8M16lsdeYzL/ospkuWo/n22YXZNjZfEwuSfSgJvwkLBilz/NioP4sV32GJ5x6/8Dl5hCVyfi5zO/1YOBNxe21waFt7Pvbj7o+E65Far9FGB21X3I9O+T1LU69BiLrP8yOshOf62VUvuxCL+U5Y0snGhH0zUc3nIp0NemfUuZsquif0+I1fGFnojhi3rkczHBYCxqVZT2V8iAXts3dqEaOu5Cdj0UnLG51OjVgC6dSJKIeLo7PdfVh0IkQWRVL0fJZGVOf8lWZPFhZlsWJUparnU1audG1EOvUf9VxxS05b9dsttRgeHQTyySPhYqkuipHiRH32+bOg4xc/5PSWDnkkMtn8i5okV8IGnUsRKsu58I5YyXXESewC+uy3Yl1Rpcnna82VhSPZefzO7466K11hmXqlk9dqJAI2AS3uER9+Y3yAry4S92kWiMX4G84ec5SG1sJe+cp3TqPPKRaIxXiNbyt4tjWeZ67rq2PhqdfBYkH7qa777HPQY8YvHjMW8ZgwMx/LGtGmp9BmKuXtssn47Hd0Oc7RT0Jq0zsacxq2uNPqhktI3cXlVeR22Oh/A8wjjOMmYP8w3kGoK493CuzIIRfoq2saLhe9LXQV5PtRtOrwmw/vh/FN3GYu6xlsY0yYmWnVQ0hj+XypQlZd7v5hVpGcKVe9HHpX2u0fIU4tazLSZdcBeyeZOwtv0V4Rp5Sz8hSZlmOKaIpRWtYoS0439JV8up2RNU2ZOH3c5Hc8Bb2kz7ueeLoYImn5yTrPE7JgSDFjvBJjcEsoapNEfhIWjFzR1PmOSzy7WD3zoFFzDz1ezCtaNjffF3zMSHxek8i4stQ1oeye2LyWHhv8lYlXNU32vbBjWKQmMKvXJ0bOZnyqFj8WJF1+vWXlQyJSyatq4b3uZsjZ8msvKx+SUKy6rrWLBadk/GzoFxOrV++XAfdZ8Gpm5rNpFkmsMdyt4obJ8NI87/MEChTodYinVSbz67WkHiG9sAO/3NOfZXn9IlmU4nTCaSlG4JW8ojKKzrO6/NLxegnR5/80ZZfPSpwk42y6wGLd0H5PFhmeVaqoymtpLk2KsqyrGp8W3G/s/x3E4l1WxnnGIBgLeTYnK3lGT+MZT2UPFOg1iKjQXR3all1v+iG/S05hChziME+flyVO753I/Y5a6ieT0i8+cjEQ/YpHViMyxgbGanaXqEJhVwDjUDCWlR2FL+8geY6vqH1J5WVEcFZHhozUHFsiJEMMLqOzBoFloWgI5Rx98Pi3kKKiqpKrIlVGOYUFIykRnWh5VRIEncNEJTnMCLN/CelCiC0hA6wDCSxiWfrhMJmVJI6T0iwvOK/zyaoo/buM5xgPTlyX5/fAQ6BAgQIFChQoUKBAgQIFChQoUKBAgX4t/T90JfCVdYKp3Q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https://www.boardinfinity.com/blog/content/images/2022/12/Your-paragraph-text--90-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25" b="7738"/>
          <a:stretch/>
        </p:blipFill>
        <p:spPr bwMode="auto">
          <a:xfrm>
            <a:off x="307975" y="1556792"/>
            <a:ext cx="8584505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055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922113"/>
          </a:xfrm>
        </p:spPr>
        <p:txBody>
          <a:bodyPr/>
          <a:lstStyle/>
          <a:p>
            <a:r>
              <a:rPr lang="en-US" dirty="0" smtClean="0"/>
              <a:t>Relational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96752"/>
            <a:ext cx="7955496" cy="5263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7929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Based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media.geeksforgeeks.org/wp-content/uploads/20201224205618/o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4824"/>
            <a:ext cx="7704856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8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Semi Structured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s://raw.githubusercontent.com/alexeygrigorev/wiki-figures/master/ufrt/xml/semi-structured-ex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7056784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17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logical structure of the database </a:t>
            </a:r>
          </a:p>
          <a:p>
            <a:pPr lvl="1"/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Analogous 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to type information of a variable in a program</a:t>
            </a:r>
          </a:p>
          <a:p>
            <a:pPr lvl="1"/>
            <a:r>
              <a:rPr lang="en-US" altLang="en-US" sz="2600" b="1" dirty="0">
                <a:latin typeface="Times New Roman" pitchFamily="18" charset="0"/>
                <a:cs typeface="Times New Roman" pitchFamily="18" charset="0"/>
              </a:rPr>
              <a:t>Physical schema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: database design at the physical level</a:t>
            </a:r>
          </a:p>
          <a:p>
            <a:pPr lvl="1"/>
            <a:r>
              <a:rPr lang="en-US" altLang="en-US" sz="2600" b="1" dirty="0">
                <a:latin typeface="Times New Roman" pitchFamily="18" charset="0"/>
                <a:cs typeface="Times New Roman" pitchFamily="18" charset="0"/>
              </a:rPr>
              <a:t>Logical schema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: database design at the logical </a:t>
            </a:r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level</a:t>
            </a:r>
          </a:p>
          <a:p>
            <a:pPr marL="320040" lvl="1" indent="0">
              <a:buNone/>
            </a:pPr>
            <a:endParaRPr lang="en-US" altLang="en-US" sz="26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8" y="4028930"/>
            <a:ext cx="7848872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985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https://www.tutorialspoint.com/dbms/images/dbms_schema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6632"/>
            <a:ext cx="7920880" cy="633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47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764704"/>
            <a:ext cx="7772400" cy="525509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400" b="1" dirty="0" smtClean="0">
                <a:latin typeface="Times New Roman" pitchFamily="18" charset="0"/>
                <a:cs typeface="Times New Roman" pitchFamily="18" charset="0"/>
              </a:rPr>
              <a:t>Instances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: The 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actual content of the database at a particular point in time 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Database State: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Empty State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 the time of defining the database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Initial State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 database is first time loaded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Current State</a:t>
            </a:r>
          </a:p>
          <a:p>
            <a:pPr lvl="2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Working stage</a:t>
            </a:r>
          </a:p>
        </p:txBody>
      </p:sp>
    </p:spTree>
    <p:extLst>
      <p:ext uri="{BB962C8B-B14F-4D97-AF65-F5344CB8AC3E}">
        <p14:creationId xmlns:p14="http://schemas.microsoft.com/office/powerpoint/2010/main" val="133216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Schema Architecture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three basic characteristics of DBMS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Self describing</a:t>
            </a: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Insulation of program and data</a:t>
            </a: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Support multiple user views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main objective of this architecture to separate the user application from physical database. </a:t>
            </a:r>
          </a:p>
          <a:p>
            <a:pPr marL="571500" indent="-571500">
              <a:lnSpc>
                <a:spcPct val="90000"/>
              </a:lnSpc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Three-schema architecture </a:t>
            </a: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incorporates these characteristics into a DB</a:t>
            </a: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separates application program from physical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provides users with different levels of data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abstraction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77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Schema Architecture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12780"/>
            <a:ext cx="7848872" cy="504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655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Schema Architecture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15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Defines DBMS schemas at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levels: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Internal schema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at the internal level to describe physical storage structures and access paths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indexes). 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Typically uses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physical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model.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Conceptual schema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at the conceptual level to describe the structure and constraints for the whole database for a community of users. 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Uses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model.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External schemas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at the external level to describe the various user views. 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Usually uses the same data model as the conceptual schema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1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Schema Architecture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615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Mappings among schema levels are needed to transform requests and data. 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Programs refer to an external schema, and are mapped by the DBMS to the internal schema for execution.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 extracted from the internal DBMS level is reformatted to match the user’s external view (e.g. formatting the results of an SQL query for display in a Web page)</a:t>
            </a:r>
          </a:p>
        </p:txBody>
      </p:sp>
    </p:spTree>
    <p:extLst>
      <p:ext uri="{BB962C8B-B14F-4D97-AF65-F5344CB8AC3E}">
        <p14:creationId xmlns:p14="http://schemas.microsoft.com/office/powerpoint/2010/main" val="27611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independence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Logical Data Independence: 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ability to modify the conceptual schema without having to change external schema.</a:t>
            </a:r>
            <a:endParaRPr lang="en-US" alt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Physical 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Data Independence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– the ability to modify the physical schema without changing the logical schema</a:t>
            </a:r>
          </a:p>
          <a:p>
            <a:pPr lvl="1"/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Applications depend on the logical schema</a:t>
            </a:r>
          </a:p>
          <a:p>
            <a:pPr lvl="1"/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In general, the interfaces between the various levels and components should be well defined so that changes in some parts do not seriously influence others.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41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independence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a schema at a lower level is changed, only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mappings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between this schema and higher-level schemas need to be changed in a DBMS that fully supports data independence.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higher-level schemas themselves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unchanged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Hence, the application programs need not be changed since they refer to the external schemas.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1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https://www.guru99.com/images/1/042919_0417_DataIndepen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16632"/>
            <a:ext cx="8784976" cy="662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235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smtClean="0"/>
              <a:t>Database System Environment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83E6E056-6A5F-4DF3-9484-F365B9B616BE}" type="slidenum">
              <a:rPr lang="en-US" i="0" smtClean="0"/>
              <a:pPr/>
              <a:t>29</a:t>
            </a:fld>
            <a:endParaRPr lang="en-US" i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DBMS software + OS +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Compiler of programming (host) language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		= Database system environment</a:t>
            </a:r>
          </a:p>
        </p:txBody>
      </p:sp>
    </p:spTree>
    <p:extLst>
      <p:ext uri="{BB962C8B-B14F-4D97-AF65-F5344CB8AC3E}">
        <p14:creationId xmlns:p14="http://schemas.microsoft.com/office/powerpoint/2010/main" val="309405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7" y="476672"/>
            <a:ext cx="8928991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9581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7"/>
            <a:ext cx="7772400" cy="5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Computational Model of DBMS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836712"/>
            <a:ext cx="7772400" cy="518308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2703"/>
            <a:ext cx="8136904" cy="590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65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/>
              <a:t>Components of DBMS Software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290A81C6-0820-488A-83F7-229074E56888}" type="slidenum">
              <a:rPr lang="en-US" i="0" smtClean="0"/>
              <a:pPr/>
              <a:t>32</a:t>
            </a:fld>
            <a:endParaRPr lang="en-US" i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80060" indent="-34290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DDL compiler processes schema definitions &amp; stores descriptions of the schemas (meta-data) in the DBMS catalog. </a:t>
            </a:r>
          </a:p>
          <a:p>
            <a:pPr marL="480060" indent="-34290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Query compiler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parses a query, validates its correct syntax, name of files, data elements &amp; converts it into internal form.</a:t>
            </a:r>
          </a:p>
          <a:p>
            <a:pPr marL="480060" indent="-34290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Query optimizer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removes redundancy from query, rearranges operations, generates execution plan, selects the optimal execution plan, generates executable code &amp; calls runtime database processor.</a:t>
            </a:r>
          </a:p>
          <a:p>
            <a:pPr marL="137160" indent="0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None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33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Components of DBMS Software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265193CF-777C-4008-A07B-32DD1AEC7BD7}" type="slidenum">
              <a:rPr lang="en-US" i="0" smtClean="0"/>
              <a:pPr/>
              <a:t>33</a:t>
            </a:fld>
            <a:endParaRPr lang="en-US" i="0" smtClean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Pre-compiler extracts embedded DML statements from application program.</a:t>
            </a:r>
          </a:p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DML compiler compiles DML statement and converts it into object code.</a:t>
            </a:r>
          </a:p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Runtime database processor executes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(a) privileged commands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(b) executable query plan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(c) canned transactions with runtime parameters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(d) backup, recovery &amp; concurrency control  </a:t>
            </a:r>
          </a:p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Stored data manager controls access to data &amp; meta-data.</a:t>
            </a:r>
          </a:p>
          <a:p>
            <a:pPr marL="548640" indent="-4114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Database system utilities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3F6AA31F-39D7-438D-9499-53D567642888}" type="slidenum">
              <a:rPr lang="en-US" i="0" smtClean="0"/>
              <a:pPr/>
              <a:t>34</a:t>
            </a:fld>
            <a:endParaRPr lang="en-US" i="0" smtClean="0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Most DBMS also has database utilities (apart from modules).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Utilities facilitate DBA to manage database system.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Char char="•"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Loading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to load existing data files into the database.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Conversion tool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transfer data from one DBMS into another.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Char char="§"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Backup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to create a backup copy of the database.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(Dump the entire database into tape or other mass storage medium, or incremental backup)</a:t>
            </a:r>
          </a:p>
          <a:p>
            <a:pPr marL="548640" indent="-411480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Database system utilities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CF41874-F437-4C62-8F18-807603D9270D}" type="slidenum">
              <a:rPr lang="en-US" i="0" smtClean="0"/>
              <a:pPr/>
              <a:t>35</a:t>
            </a:fld>
            <a:endParaRPr lang="en-US" i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48006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Database storage reorganization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to improve performance of a database by reorganizing database files in different organization and creating indexes.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8006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Performance monitoring tool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Monitors usage of the database and provides statistics to the DBA.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The DBA uses these statistics to decide whether to reorganize the database files, whether to create index so as to improve performance of the database system.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15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Database system utilities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326944D5-2C72-482E-B27D-5C2E08833147}" type="slidenum">
              <a:rPr lang="en-US" i="0" smtClean="0"/>
              <a:pPr/>
              <a:t>36</a:t>
            </a:fld>
            <a:endParaRPr lang="en-US" i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8006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200" dirty="0" smtClean="0"/>
              <a:t>Other utilities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200" dirty="0" smtClean="0"/>
              <a:t>	Sorting files, data compression, monitoring access by users.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047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8A484C-CE40-470D-BEA3-C019456E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74563"/>
          </a:xfrm>
        </p:spPr>
        <p:txBody>
          <a:bodyPr/>
          <a:lstStyle/>
          <a:p>
            <a:r>
              <a:rPr lang="en-US" dirty="0"/>
              <a:t>DBMS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9126AA-145F-42FA-A5F1-FC8DA4983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8650" y="1139693"/>
            <a:ext cx="7886700" cy="503727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1-tier Architecture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Database is directly available for storing and retrieving the data.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2-tier Architecture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End user does not access the database directly.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Database can access through third party service like ODBC, JDBC.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Desktop application is a good example of 2-tier architecture.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3-tier Architecture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Client does not communicate directly to the server.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layer present between client and server that manage the query processing and transaction management.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web based application is one of the example of 3-tier architecture.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N-tier Architecture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provides a client server architecture.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has separate presentation, processing and data management functions.</a:t>
            </a:r>
          </a:p>
          <a:p>
            <a:pPr marL="514350" indent="-514350">
              <a:buFont typeface="+mj-lt"/>
              <a:buAutoNum type="arabicPeriod"/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22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2-tier  and 3-tier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1988840"/>
            <a:ext cx="2525241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959575"/>
            <a:ext cx="3672408" cy="3917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437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Centralized and </a:t>
            </a:r>
            <a:br>
              <a:rPr lang="en-US" dirty="0"/>
            </a:br>
            <a:r>
              <a:rPr lang="en-US" dirty="0"/>
              <a:t>Client-Server DBMS Architectures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Centralized DBMS:</a:t>
            </a:r>
          </a:p>
          <a:p>
            <a:pPr lvl="1"/>
            <a:r>
              <a:rPr lang="en-US" dirty="0"/>
              <a:t>Combines everything into single system including- DBMS software, hardware, application programs, and user interface processing software.</a:t>
            </a:r>
          </a:p>
          <a:p>
            <a:pPr lvl="1"/>
            <a:r>
              <a:rPr lang="en-US" dirty="0"/>
              <a:t>User can still connect through a remote terminal – however, all processing is done at centralized site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50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Physical Centralized Architecture</a:t>
            </a:r>
            <a:endParaRPr lang="en-IN" dirty="0"/>
          </a:p>
        </p:txBody>
      </p:sp>
      <p:pic>
        <p:nvPicPr>
          <p:cNvPr id="4" name="Picture 4" descr="fig02_0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1561" y="1447800"/>
            <a:ext cx="8352928" cy="48615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6507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2-tier Client-Server Architectures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Specialized Servers with Specialized functions</a:t>
            </a:r>
          </a:p>
          <a:p>
            <a:pPr lvl="1"/>
            <a:r>
              <a:rPr lang="en-US" dirty="0"/>
              <a:t>Print server</a:t>
            </a:r>
          </a:p>
          <a:p>
            <a:pPr lvl="1"/>
            <a:r>
              <a:rPr lang="en-US" dirty="0"/>
              <a:t>File server</a:t>
            </a:r>
          </a:p>
          <a:p>
            <a:pPr lvl="1"/>
            <a:r>
              <a:rPr lang="en-US" dirty="0"/>
              <a:t>DBMS server</a:t>
            </a:r>
          </a:p>
          <a:p>
            <a:pPr lvl="1"/>
            <a:r>
              <a:rPr lang="en-US" dirty="0"/>
              <a:t>Web server</a:t>
            </a:r>
          </a:p>
          <a:p>
            <a:pPr lvl="1"/>
            <a:r>
              <a:rPr lang="en-US" dirty="0"/>
              <a:t>Email server</a:t>
            </a:r>
          </a:p>
          <a:p>
            <a:r>
              <a:rPr lang="en-US" dirty="0"/>
              <a:t>Clients can access the specialized servers as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584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 two-tier client server architecture</a:t>
            </a:r>
            <a:endParaRPr lang="en-IN" dirty="0"/>
          </a:p>
        </p:txBody>
      </p:sp>
      <p:pic>
        <p:nvPicPr>
          <p:cNvPr id="4" name="Picture 4" descr="fig02_0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5576" y="2204864"/>
            <a:ext cx="7772400" cy="29523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9682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Provide appropriate interfaces through a client software module to access and utilize the various server resources. </a:t>
            </a:r>
          </a:p>
          <a:p>
            <a:r>
              <a:rPr lang="en-US" dirty="0"/>
              <a:t>Clients may be diskless machines or PCs or Workstations with disks with only the client software installed.</a:t>
            </a:r>
          </a:p>
          <a:p>
            <a:r>
              <a:rPr lang="en-US" dirty="0"/>
              <a:t>Connected to the servers via some form of a network.</a:t>
            </a:r>
          </a:p>
          <a:p>
            <a:pPr lvl="1"/>
            <a:r>
              <a:rPr lang="en-US" dirty="0"/>
              <a:t>(LAN: local area network, wireless network,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600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Server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Provides database query and transaction services to the clients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Relational DBMS servers are often called SQL servers, query servers, or transaction servers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Applications running on clients utilize an Application Program Interface (</a:t>
            </a:r>
            <a:r>
              <a:rPr lang="en-US" sz="2400" b="1" dirty="0"/>
              <a:t>API</a:t>
            </a:r>
            <a:r>
              <a:rPr lang="en-US" sz="2400" dirty="0"/>
              <a:t>) to access server databases via standard interface such as: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ODBC: Open Database Connectivity standard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JDBC: for Java programming access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Client and server must install appropriate client module and server module software for ODBC or JDBC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089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Tier Client-Server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client program may connect to several DBMSs, sometimes called the data sources.</a:t>
            </a:r>
          </a:p>
          <a:p>
            <a:r>
              <a:rPr lang="en-US" dirty="0"/>
              <a:t>In general, data sources can be files or other non-DBMS software that manages data.</a:t>
            </a:r>
          </a:p>
          <a:p>
            <a:r>
              <a:rPr lang="en-US" dirty="0"/>
              <a:t>Other variations of clients are possible: e.g., in some object DBMSs, more functionality is transferred to clients including data dictionary functions, optimization and recovery across multiple servers,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2140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Tier Client-Server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Common for Web applications</a:t>
            </a:r>
          </a:p>
          <a:p>
            <a:r>
              <a:rPr lang="en-US" sz="2400" dirty="0"/>
              <a:t>Intermediate Layer called Application Server or Web Server: </a:t>
            </a:r>
          </a:p>
          <a:p>
            <a:pPr lvl="1"/>
            <a:r>
              <a:rPr lang="en-US" sz="2200" dirty="0"/>
              <a:t>Stores the web connectivity software and the business logic part of the application used to access the corresponding data from the database server</a:t>
            </a:r>
          </a:p>
          <a:p>
            <a:pPr lvl="1"/>
            <a:r>
              <a:rPr lang="en-US" sz="2200" dirty="0"/>
              <a:t>Acts like a conduit for sending partially processed data between the database server and the client.</a:t>
            </a:r>
          </a:p>
          <a:p>
            <a:r>
              <a:rPr lang="en-US" sz="2400" dirty="0"/>
              <a:t>Three-tier Architecture Can Enhance Security: </a:t>
            </a:r>
          </a:p>
          <a:p>
            <a:pPr lvl="1"/>
            <a:r>
              <a:rPr lang="en-US" sz="2200" dirty="0"/>
              <a:t>Database server only accessible via middle tier</a:t>
            </a:r>
          </a:p>
          <a:p>
            <a:pPr lvl="1"/>
            <a:r>
              <a:rPr lang="en-US" sz="2200" dirty="0"/>
              <a:t>Clients cannot directly access database server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197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Three-tier client-server architecture</a:t>
            </a:r>
            <a:endParaRPr lang="en-IN" dirty="0"/>
          </a:p>
        </p:txBody>
      </p:sp>
      <p:pic>
        <p:nvPicPr>
          <p:cNvPr id="4" name="Picture 4" descr="fig02_0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46613"/>
            <a:ext cx="7772400" cy="47347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24365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smtClean="0"/>
              <a:t>Classification of Database Management Systems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758E0679-8700-4FEB-B49A-5D688452D7CC}" type="slidenum">
              <a:rPr lang="en-US" i="0" smtClean="0">
                <a:solidFill>
                  <a:prstClr val="black"/>
                </a:solidFill>
              </a:rPr>
              <a:pPr/>
              <a:t>48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22969"/>
            <a:ext cx="8229600" cy="4525433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1)   Classification based on data model – 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RDBMS, OODBMS (based on object model), DBS based on hierarchical model, DBS based on network model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2)   Number of users at a time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a) Single-user DBMS – support one user at a time 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b) Multi user DBMS – multiple user can access the database simultaneously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0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smtClean="0"/>
              <a:t>Classification of Database Management Systems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F64C4BE7-007D-4DAF-A97A-88D6F69B78D6}" type="slidenum">
              <a:rPr lang="en-US" i="0" smtClean="0">
                <a:solidFill>
                  <a:prstClr val="black"/>
                </a:solidFill>
              </a:rPr>
              <a:pPr/>
              <a:t>49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3)  Number of sites over which the database is distributed.</a:t>
            </a:r>
          </a:p>
          <a:p>
            <a:pPr marL="571500" indent="-571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a) Centralized DBMS– Database stored in a single computer.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b) Distributed DBMS – database and DBMS software distributed over many sites, connected by a computer network.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Homogeneous DDBMS (Same DBMS at all sites) 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Heterogeneous DDBMS (Different DBMS at different sites).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Federated DBS/Multi database system = DDBMS 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+ heterogeneous DBMS + participating sites with local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autonomy.</a:t>
            </a:r>
          </a:p>
        </p:txBody>
      </p:sp>
    </p:spTree>
    <p:extLst>
      <p:ext uri="{BB962C8B-B14F-4D97-AF65-F5344CB8AC3E}">
        <p14:creationId xmlns:p14="http://schemas.microsoft.com/office/powerpoint/2010/main" val="368557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smtClean="0"/>
              <a:t>Classification of Database Management Systems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628858B-1C2B-4F1B-9B8C-18D32E808C40}" type="slidenum">
              <a:rPr lang="en-US" i="0" smtClean="0">
                <a:solidFill>
                  <a:prstClr val="black"/>
                </a:solidFill>
              </a:rPr>
              <a:pPr/>
              <a:t>50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 2" pitchFamily="18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4) Special-purpose &amp; general-purpose</a:t>
            </a: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Airline reservation system, telephone directory system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special- purpose DBMS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5)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Cost  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difficult to propose a classification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DBMSs based 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cost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Today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have open source (free) DBMS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products like </a:t>
            </a:r>
            <a:r>
              <a:rPr lang="en-US" sz="2200" u="sng" dirty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u="sng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that are supported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by third-party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vendors with additional services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90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smtClean="0"/>
              <a:t>Classification of DBMS based on Cost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88FE9E58-A242-4AE1-ADD3-4EF69AFF4B0C}" type="slidenum">
              <a:rPr lang="en-US" i="0" smtClean="0">
                <a:solidFill>
                  <a:prstClr val="black"/>
                </a:solidFill>
              </a:rPr>
              <a:pPr/>
              <a:t>51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80060" indent="-342900">
              <a:buClr>
                <a:schemeClr val="tx1">
                  <a:shade val="95000"/>
                </a:schemeClr>
              </a:buClr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giant systems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are being sold in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modular form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with components to handle distribution, replication, parallel processing, mobile capability, and so on, and with </a:t>
            </a:r>
            <a:r>
              <a:rPr lang="en-US" sz="2200" u="sng" dirty="0" smtClean="0">
                <a:latin typeface="Times New Roman" pitchFamily="18" charset="0"/>
                <a:cs typeface="Times New Roman" pitchFamily="18" charset="0"/>
              </a:rPr>
              <a:t>a large number of parameters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that must be defined for the configuration.</a:t>
            </a:r>
          </a:p>
          <a:p>
            <a:pPr marL="480060" indent="-342900">
              <a:buClr>
                <a:schemeClr val="tx1">
                  <a:shade val="95000"/>
                </a:schemeClr>
              </a:buClr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Furthermore, they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sold in the form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licenses –  </a:t>
            </a:r>
          </a:p>
          <a:p>
            <a:pPr marL="754380" lvl="1" indent="-342900">
              <a:buClr>
                <a:schemeClr val="tx1">
                  <a:shade val="95000"/>
                </a:schemeClr>
              </a:buClr>
              <a:defRPr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site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license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allow unlimited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database system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any number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of copies running at 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the customer site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54380" lvl="1" indent="-342900">
              <a:buClr>
                <a:schemeClr val="tx1">
                  <a:shade val="95000"/>
                </a:schemeClr>
              </a:buClr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Another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type of license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limits the number 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of concurrent users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54380" lvl="1" indent="-342900">
              <a:buClr>
                <a:schemeClr val="tx1">
                  <a:shade val="95000"/>
                </a:schemeClr>
              </a:buClr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Standalone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single user versions of some systems like </a:t>
            </a:r>
            <a:r>
              <a:rPr lang="en-US" sz="2000" i="1" u="sng" dirty="0">
                <a:latin typeface="Times New Roman" pitchFamily="18" charset="0"/>
                <a:cs typeface="Times New Roman" pitchFamily="18" charset="0"/>
              </a:rPr>
              <a:t>Microsoft Access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sold per copy or included in the overall configuration of a desktop or laptop.</a:t>
            </a:r>
          </a:p>
          <a:p>
            <a:pPr marL="548640" indent="-4114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>
                  <a:shade val="95000"/>
                </a:schemeClr>
              </a:buCl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5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considerations for DBMSs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Cost Range: from free open-source systems to configurations costing millions of dollars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Examples of free relational DBMSs: MySQL, </a:t>
            </a:r>
            <a:r>
              <a:rPr lang="en-US" sz="2400" dirty="0" err="1"/>
              <a:t>PostgreSQL</a:t>
            </a:r>
            <a:r>
              <a:rPr lang="en-US" sz="2400" dirty="0"/>
              <a:t>, others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Commercial DBMS offer additional specialized modules, e.g. time-series module, spatial data module, document module, XML module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These offer additional specialized functionality when purchased separately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Sometimes called cartridges (e.g., in Oracle) or blades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Different licensing options: site license, maximum number of concurrent users (seat license), single user, etc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28828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"/>
            <a:ext cx="7992888" cy="659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Database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97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</TotalTime>
  <Words>1985</Words>
  <Application>Microsoft Office PowerPoint</Application>
  <PresentationFormat>On-screen Show (4:3)</PresentationFormat>
  <Paragraphs>251</Paragraphs>
  <Slides>53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Equity</vt:lpstr>
      <vt:lpstr>1_Equity</vt:lpstr>
      <vt:lpstr>Database Management System </vt:lpstr>
      <vt:lpstr>Data Models</vt:lpstr>
      <vt:lpstr>Type of Data Model</vt:lpstr>
      <vt:lpstr>Conceptual Model </vt:lpstr>
      <vt:lpstr>PowerPoint Presentation</vt:lpstr>
      <vt:lpstr>Logical Data Model</vt:lpstr>
      <vt:lpstr>Steps for designing the logical data model</vt:lpstr>
      <vt:lpstr>PowerPoint Presentation</vt:lpstr>
      <vt:lpstr>Physical Data Model</vt:lpstr>
      <vt:lpstr>PowerPoint Presentation</vt:lpstr>
      <vt:lpstr>Data Model</vt:lpstr>
      <vt:lpstr>Hierarchical Model</vt:lpstr>
      <vt:lpstr>Network Model </vt:lpstr>
      <vt:lpstr>Entities Relationship Model</vt:lpstr>
      <vt:lpstr>Relational Model</vt:lpstr>
      <vt:lpstr>Relational Model</vt:lpstr>
      <vt:lpstr>Object Based Data Model</vt:lpstr>
      <vt:lpstr>Semi Structured Data Model</vt:lpstr>
      <vt:lpstr>Schema</vt:lpstr>
      <vt:lpstr>PowerPoint Presentation</vt:lpstr>
      <vt:lpstr>PowerPoint Presentation</vt:lpstr>
      <vt:lpstr>Three Schema Architecture </vt:lpstr>
      <vt:lpstr>Three Schema Architecture </vt:lpstr>
      <vt:lpstr>Three Schema Architecture </vt:lpstr>
      <vt:lpstr>Three Schema Architecture </vt:lpstr>
      <vt:lpstr>Data independence </vt:lpstr>
      <vt:lpstr>Data independence </vt:lpstr>
      <vt:lpstr>PowerPoint Presentation</vt:lpstr>
      <vt:lpstr>Database System Environment</vt:lpstr>
      <vt:lpstr>PowerPoint Presentation</vt:lpstr>
      <vt:lpstr>Computational Model of DBMS</vt:lpstr>
      <vt:lpstr>Components of DBMS Software</vt:lpstr>
      <vt:lpstr>Components of DBMS Software</vt:lpstr>
      <vt:lpstr>Database system utilities</vt:lpstr>
      <vt:lpstr>Database system utilities</vt:lpstr>
      <vt:lpstr>Database system utilities</vt:lpstr>
      <vt:lpstr>DBMS Architecture</vt:lpstr>
      <vt:lpstr>2-tier  and 3-tier architecture</vt:lpstr>
      <vt:lpstr>Centralized and  Client-Server DBMS Architectures </vt:lpstr>
      <vt:lpstr>A Physical Centralized Architecture</vt:lpstr>
      <vt:lpstr>Basic 2-tier Client-Server Architectures</vt:lpstr>
      <vt:lpstr>Logical two-tier client server architecture</vt:lpstr>
      <vt:lpstr>Client</vt:lpstr>
      <vt:lpstr>DBMS Server</vt:lpstr>
      <vt:lpstr>Two Tier Client-Server Architecture</vt:lpstr>
      <vt:lpstr>Three Tier Client-Server Architecture</vt:lpstr>
      <vt:lpstr>Three-tier client-server architecture</vt:lpstr>
      <vt:lpstr>Classification of Database Management Systems</vt:lpstr>
      <vt:lpstr>Classification of Database Management Systems</vt:lpstr>
      <vt:lpstr>Classification of Database Management Systems</vt:lpstr>
      <vt:lpstr>Classification of DBMS based on Cost</vt:lpstr>
      <vt:lpstr>Cost considerations for DBMSs</vt:lpstr>
      <vt:lpstr>Database Design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DELL</cp:lastModifiedBy>
  <cp:revision>82</cp:revision>
  <dcterms:created xsi:type="dcterms:W3CDTF">2019-05-30T15:49:42Z</dcterms:created>
  <dcterms:modified xsi:type="dcterms:W3CDTF">2024-07-22T04:30:30Z</dcterms:modified>
</cp:coreProperties>
</file>