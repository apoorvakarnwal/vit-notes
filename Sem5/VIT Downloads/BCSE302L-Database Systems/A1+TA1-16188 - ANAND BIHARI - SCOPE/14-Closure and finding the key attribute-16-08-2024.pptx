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71"/>
  </p:notesMasterIdLst>
  <p:sldIdLst>
    <p:sldId id="256" r:id="rId2"/>
    <p:sldId id="310" r:id="rId3"/>
    <p:sldId id="264" r:id="rId4"/>
    <p:sldId id="265" r:id="rId5"/>
    <p:sldId id="266" r:id="rId6"/>
    <p:sldId id="286" r:id="rId7"/>
    <p:sldId id="287" r:id="rId8"/>
    <p:sldId id="311" r:id="rId9"/>
    <p:sldId id="313" r:id="rId10"/>
    <p:sldId id="312" r:id="rId11"/>
    <p:sldId id="314" r:id="rId12"/>
    <p:sldId id="315" r:id="rId13"/>
    <p:sldId id="288" r:id="rId14"/>
    <p:sldId id="276" r:id="rId15"/>
    <p:sldId id="277" r:id="rId16"/>
    <p:sldId id="290" r:id="rId17"/>
    <p:sldId id="278" r:id="rId18"/>
    <p:sldId id="279" r:id="rId19"/>
    <p:sldId id="293" r:id="rId20"/>
    <p:sldId id="292" r:id="rId21"/>
    <p:sldId id="268" r:id="rId22"/>
    <p:sldId id="269" r:id="rId23"/>
    <p:sldId id="270" r:id="rId24"/>
    <p:sldId id="271" r:id="rId25"/>
    <p:sldId id="294" r:id="rId26"/>
    <p:sldId id="272" r:id="rId27"/>
    <p:sldId id="295" r:id="rId28"/>
    <p:sldId id="296" r:id="rId29"/>
    <p:sldId id="273" r:id="rId30"/>
    <p:sldId id="297" r:id="rId31"/>
    <p:sldId id="299" r:id="rId32"/>
    <p:sldId id="298" r:id="rId33"/>
    <p:sldId id="274" r:id="rId34"/>
    <p:sldId id="316" r:id="rId35"/>
    <p:sldId id="317" r:id="rId36"/>
    <p:sldId id="319" r:id="rId37"/>
    <p:sldId id="320" r:id="rId38"/>
    <p:sldId id="321" r:id="rId39"/>
    <p:sldId id="322" r:id="rId40"/>
    <p:sldId id="323" r:id="rId41"/>
    <p:sldId id="324" r:id="rId42"/>
    <p:sldId id="325" r:id="rId43"/>
    <p:sldId id="326" r:id="rId44"/>
    <p:sldId id="327" r:id="rId45"/>
    <p:sldId id="328" r:id="rId46"/>
    <p:sldId id="329" r:id="rId47"/>
    <p:sldId id="330" r:id="rId48"/>
    <p:sldId id="331" r:id="rId49"/>
    <p:sldId id="333" r:id="rId50"/>
    <p:sldId id="334" r:id="rId51"/>
    <p:sldId id="335" r:id="rId52"/>
    <p:sldId id="336" r:id="rId53"/>
    <p:sldId id="337" r:id="rId54"/>
    <p:sldId id="338" r:id="rId55"/>
    <p:sldId id="275" r:id="rId56"/>
    <p:sldId id="300" r:id="rId57"/>
    <p:sldId id="282" r:id="rId58"/>
    <p:sldId id="283" r:id="rId59"/>
    <p:sldId id="284" r:id="rId60"/>
    <p:sldId id="301" r:id="rId61"/>
    <p:sldId id="302" r:id="rId62"/>
    <p:sldId id="303" r:id="rId63"/>
    <p:sldId id="304" r:id="rId64"/>
    <p:sldId id="305" r:id="rId65"/>
    <p:sldId id="306" r:id="rId66"/>
    <p:sldId id="285" r:id="rId67"/>
    <p:sldId id="307" r:id="rId68"/>
    <p:sldId id="308" r:id="rId69"/>
    <p:sldId id="309" r:id="rId70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90" d="100"/>
          <a:sy n="90" d="100"/>
        </p:scale>
        <p:origin x="-816" y="-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DE936D-1A5A-48A5-9C0B-F02011F3D3A7}" type="datetimeFigureOut">
              <a:rPr lang="en-US" smtClean="0"/>
              <a:t>19-Aug-24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A8FB2B-4FFD-4B37-8876-C7EFC40039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7769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2" y="52318"/>
            <a:ext cx="9013372" cy="501915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1" y="2400300"/>
            <a:ext cx="6400800" cy="120015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E58DF-D8F8-4F65-A6BA-3D5AC848360C}" type="datetime1">
              <a:rPr lang="en-US" smtClean="0"/>
              <a:t>19-Aug-24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B. K. Ray, VIT, Vellore</a:t>
            </a:r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0B1B1DC0-5783-4F1A-A0D1-155778440E9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932" y="1086978"/>
            <a:ext cx="9021538" cy="114551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2" y="1047541"/>
            <a:ext cx="9021538" cy="90435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2" y="2232488"/>
            <a:ext cx="9021538" cy="82899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129448"/>
            <a:ext cx="8229600" cy="1102519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BBD3F-D76D-4788-9298-6F8932AB1E90}" type="datetime1">
              <a:rPr lang="en-US" smtClean="0"/>
              <a:t>19-Aug-24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B. K. Ray, VIT, Vellore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B1DC0-5783-4F1A-A0D1-155778440E9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1" y="1085850"/>
            <a:ext cx="7772400" cy="3429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2" y="52318"/>
            <a:ext cx="9013372" cy="501915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4" y="714376"/>
            <a:ext cx="7772400" cy="1021556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4" y="1910954"/>
            <a:ext cx="7772400" cy="1003697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6C4D6-FC65-4942-B5E8-F70F0232C33A}" type="datetime1">
              <a:rPr lang="en-US" smtClean="0"/>
              <a:t>19-Aug-24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4629150"/>
            <a:ext cx="4000500" cy="342900"/>
          </a:xfrm>
        </p:spPr>
        <p:txBody>
          <a:bodyPr/>
          <a:lstStyle/>
          <a:p>
            <a:r>
              <a:rPr lang="en-US" smtClean="0"/>
              <a:t>Dr. B. K. Ray, VIT, Vellore</a:t>
            </a:r>
            <a:endParaRPr lang="en-US"/>
          </a:p>
        </p:txBody>
      </p:sp>
      <p:sp>
        <p:nvSpPr>
          <p:cNvPr id="7" name="Rectangle 6"/>
          <p:cNvSpPr/>
          <p:nvPr/>
        </p:nvSpPr>
        <p:spPr>
          <a:xfrm flipV="1">
            <a:off x="69413" y="1782623"/>
            <a:ext cx="9013515" cy="6858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7" y="1756108"/>
            <a:ext cx="9013781" cy="3428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8" y="1851660"/>
            <a:ext cx="9014620" cy="3429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5" y="4656582"/>
            <a:ext cx="457200" cy="342900"/>
          </a:xfrm>
        </p:spPr>
        <p:txBody>
          <a:bodyPr/>
          <a:lstStyle/>
          <a:p>
            <a:fld id="{0B1B1DC0-5783-4F1A-A0D1-155778440E93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D82AB-D0C8-4630-963E-B321D8BB04F1}" type="datetime1">
              <a:rPr lang="en-US" smtClean="0"/>
              <a:t>19-Aug-24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B. K. Ray, VIT, Vellore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B1DC0-5783-4F1A-A0D1-155778440E9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1" y="1085850"/>
            <a:ext cx="3749040" cy="3429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1" y="1085850"/>
            <a:ext cx="3749040" cy="3429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1" y="204788"/>
            <a:ext cx="7772400" cy="85725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1" y="1085850"/>
            <a:ext cx="3733801" cy="5715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085850"/>
            <a:ext cx="3733801" cy="5715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779C1-96A8-4480-9E19-5ACAF5B8407A}" type="datetime1">
              <a:rPr lang="en-US" smtClean="0"/>
              <a:t>19-Aug-24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B. K. Ray, VIT, Vellore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B1DC0-5783-4F1A-A0D1-155778440E9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1" y="1685925"/>
            <a:ext cx="3733801" cy="291465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1685925"/>
            <a:ext cx="3733801" cy="291465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5C89E-DC1F-4EC0-BE4D-FD0BB5178195}" type="datetime1">
              <a:rPr lang="en-US" smtClean="0"/>
              <a:t>19-Aug-24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B. K. Ray, VIT, Vellore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B1DC0-5783-4F1A-A0D1-155778440E9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513CC-C503-4392-845C-DFAB3D22DC79}" type="datetime1">
              <a:rPr lang="en-US" smtClean="0"/>
              <a:t>19-Aug-24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B. K. Ray, VIT, Vellore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B1DC0-5783-4F1A-A0D1-155778440E9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7" y="52316"/>
            <a:ext cx="9013372" cy="5020056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1" y="204788"/>
            <a:ext cx="7772400" cy="85725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1" y="1200150"/>
            <a:ext cx="1905001" cy="337185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8F703-EAE6-48DA-8E6F-C489102EE236}" type="datetime1">
              <a:rPr lang="en-US" smtClean="0"/>
              <a:t>19-Aug-24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B. K. Ray, VIT, Vellore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B1DC0-5783-4F1A-A0D1-155778440E9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799" y="1200150"/>
            <a:ext cx="5715001" cy="337185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675413"/>
            <a:ext cx="7315200" cy="391716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4084369"/>
            <a:ext cx="7315200" cy="51435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AC3EA-5CFF-42D0-9D95-FF1BC9FFF3E3}" type="datetime1">
              <a:rPr lang="en-US" smtClean="0"/>
              <a:t>19-Aug-24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4629150"/>
            <a:ext cx="3886201" cy="342900"/>
          </a:xfrm>
        </p:spPr>
        <p:txBody>
          <a:bodyPr/>
          <a:lstStyle/>
          <a:p>
            <a:r>
              <a:rPr lang="en-US" smtClean="0"/>
              <a:t>Dr. B. K. Ray, VIT, Vellore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5" y="4656582"/>
            <a:ext cx="457200" cy="342900"/>
          </a:xfrm>
        </p:spPr>
        <p:txBody>
          <a:bodyPr/>
          <a:lstStyle/>
          <a:p>
            <a:fld id="{0B1B1DC0-5783-4F1A-A0D1-155778440E9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8306" y="3512666"/>
            <a:ext cx="9006841" cy="6858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10" y="3487857"/>
            <a:ext cx="9006638" cy="3428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3" y="3579919"/>
            <a:ext cx="9006636" cy="3660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9" y="50007"/>
            <a:ext cx="9001874" cy="3436144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85886-E65B-45B9-8813-44B4F92079E4}" type="datetime1">
              <a:rPr lang="en-US" smtClean="0"/>
              <a:t>19-Aug-24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B. K. Ray, VIT, Vellore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B1DC0-5783-4F1A-A0D1-155778440E9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1" y="205981"/>
            <a:ext cx="2011680" cy="4388644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1" y="205980"/>
            <a:ext cx="5562601" cy="4388644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66B34-130E-4FA8-9498-0D367FF2F400}" type="datetime1">
              <a:rPr lang="en-US" smtClean="0"/>
              <a:t>19-Aug-24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B. K. Ray, VIT, Vellore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B1DC0-5783-4F1A-A0D1-155778440E9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7" y="52316"/>
            <a:ext cx="9013372" cy="5020056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1" y="205979"/>
            <a:ext cx="7772400" cy="85725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1" y="1085850"/>
            <a:ext cx="7772400" cy="3429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2" y="4643437"/>
            <a:ext cx="2476500" cy="357188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89433800-8AF0-4C88-AF89-968F37B62965}" type="datetime1">
              <a:rPr lang="en-US" smtClean="0"/>
              <a:t>19-Aug-24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4629150"/>
            <a:ext cx="3962400" cy="3429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Dr. B. K. Ray, VIT, Vellore</a:t>
            </a:r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5" y="4657725"/>
            <a:ext cx="457200" cy="3429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0B1B1DC0-5783-4F1A-A0D1-155778440E93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B1DC0-5783-4F1A-A0D1-155778440E93}" type="slidenum">
              <a:rPr lang="en-US" smtClean="0"/>
              <a:t>1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Functional dependency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995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Attribute </a:t>
            </a:r>
            <a:r>
              <a:rPr lang="en-US" dirty="0" smtClean="0"/>
              <a:t>Closure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B1DC0-5783-4F1A-A0D1-155778440E93}" type="slidenum">
              <a:rPr lang="en-US" smtClean="0"/>
              <a:t>2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Attribute </a:t>
            </a: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closure of an attribute set can be defined as set of attributes which can be functionally determined from it. </a:t>
            </a:r>
          </a:p>
          <a:p>
            <a:pPr algn="just"/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How </a:t>
            </a: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to find attribute closure of an attribute set?</a:t>
            </a:r>
          </a:p>
          <a:p>
            <a:pPr algn="just"/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To </a:t>
            </a: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find attribute closure of an attribute set: </a:t>
            </a:r>
          </a:p>
          <a:p>
            <a:pPr lvl="1" algn="just"/>
            <a:r>
              <a:rPr lang="en-US" sz="1900" dirty="0" smtClean="0">
                <a:latin typeface="Times New Roman" pitchFamily="18" charset="0"/>
                <a:cs typeface="Times New Roman" pitchFamily="18" charset="0"/>
              </a:rPr>
              <a:t>Add </a:t>
            </a:r>
            <a:r>
              <a:rPr lang="en-US" sz="1900" dirty="0">
                <a:latin typeface="Times New Roman" pitchFamily="18" charset="0"/>
                <a:cs typeface="Times New Roman" pitchFamily="18" charset="0"/>
              </a:rPr>
              <a:t>elements of attribute set to the result set.</a:t>
            </a:r>
          </a:p>
          <a:p>
            <a:pPr lvl="1" algn="just"/>
            <a:r>
              <a:rPr lang="en-US" sz="1900" dirty="0" smtClean="0">
                <a:latin typeface="Times New Roman" pitchFamily="18" charset="0"/>
                <a:cs typeface="Times New Roman" pitchFamily="18" charset="0"/>
              </a:rPr>
              <a:t>Recursively </a:t>
            </a:r>
            <a:r>
              <a:rPr lang="en-US" sz="1900" dirty="0">
                <a:latin typeface="Times New Roman" pitchFamily="18" charset="0"/>
                <a:cs typeface="Times New Roman" pitchFamily="18" charset="0"/>
              </a:rPr>
              <a:t>add elements to the result set which can be functionally determined from the elements of the result set.</a:t>
            </a:r>
          </a:p>
          <a:p>
            <a:pPr algn="just"/>
            <a:endParaRPr lang="en-US" sz="21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3873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Closure of a set of attributes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B1DC0-5783-4F1A-A0D1-155778440E93}" type="slidenum">
              <a:rPr lang="en-US" smtClean="0"/>
              <a:t>3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Assume that X is a subset of a schema R &amp; F is a set of functional dependencies that hold on R.</a:t>
            </a:r>
          </a:p>
          <a:p>
            <a:pPr algn="just"/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Closure of X is denoted by X</a:t>
            </a:r>
            <a:r>
              <a:rPr lang="en-US" sz="2100" baseline="30000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Closure of X (X</a:t>
            </a:r>
            <a:r>
              <a:rPr lang="en-US" sz="2100" baseline="30000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100" baseline="30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is the maximal (biggest) super set of X such that X </a:t>
            </a:r>
            <a:r>
              <a:rPr lang="en-US" sz="21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</a:t>
            </a: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 X</a:t>
            </a:r>
            <a:r>
              <a:rPr lang="en-US" sz="2100" baseline="30000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13716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676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Algorithm for computing X</a:t>
            </a:r>
            <a:r>
              <a:rPr lang="en-US" sz="4000" baseline="30000" dirty="0"/>
              <a:t>+</a:t>
            </a:r>
            <a:endParaRPr lang="en-US" sz="4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B1DC0-5783-4F1A-A0D1-155778440E93}" type="slidenum">
              <a:rPr lang="en-US" smtClean="0"/>
              <a:t>4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Font typeface="Wingdings" pitchFamily="2" charset="2"/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Given R &amp; F find X</a:t>
            </a:r>
            <a:r>
              <a:rPr lang="en-US" baseline="30000" dirty="0">
                <a:latin typeface="Times New Roman" pitchFamily="18" charset="0"/>
                <a:cs typeface="Times New Roman" pitchFamily="18" charset="0"/>
              </a:rPr>
              <a:t>+</a:t>
            </a:r>
          </a:p>
          <a:p>
            <a:pPr>
              <a:buFont typeface="Wingdings" pitchFamily="2" charset="2"/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Algorithm: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>
              <a:buFont typeface="Wingdings" pitchFamily="2" charset="2"/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	Begin</a:t>
            </a:r>
          </a:p>
          <a:p>
            <a:pPr>
              <a:buFont typeface="Wingdings" pitchFamily="2" charset="2"/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	X</a:t>
            </a:r>
            <a:r>
              <a:rPr lang="en-US" baseline="30000" dirty="0">
                <a:latin typeface="Times New Roman" pitchFamily="18" charset="0"/>
                <a:cs typeface="Times New Roman" pitchFamily="18" charset="0"/>
              </a:rPr>
              <a:t>+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:= X</a:t>
            </a:r>
          </a:p>
          <a:p>
            <a:pPr>
              <a:buFont typeface="Wingdings" pitchFamily="2" charset="2"/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	Repeat</a:t>
            </a:r>
          </a:p>
          <a:p>
            <a:pPr>
              <a:buFont typeface="Wingdings" pitchFamily="2" charset="2"/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	For each functional dependency Y 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Z </a:t>
            </a:r>
            <a:r>
              <a:rPr lang="el-GR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ε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F, </a:t>
            </a:r>
          </a:p>
          <a:p>
            <a:pPr>
              <a:buFont typeface="Wingdings" pitchFamily="2" charset="2"/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			if X</a:t>
            </a:r>
            <a:r>
              <a:rPr lang="en-US" baseline="300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+ 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contains Y then </a:t>
            </a:r>
          </a:p>
          <a:p>
            <a:pPr>
              <a:buFont typeface="Wingdings" pitchFamily="2" charset="2"/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				X</a:t>
            </a:r>
            <a:r>
              <a:rPr lang="en-US" baseline="300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+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:= X</a:t>
            </a:r>
            <a:r>
              <a:rPr lang="en-US" baseline="300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+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Z</a:t>
            </a:r>
          </a:p>
          <a:p>
            <a:pPr>
              <a:buFont typeface="Wingdings" pitchFamily="2" charset="2"/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		Until X</a:t>
            </a:r>
            <a:r>
              <a:rPr lang="en-US" baseline="300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+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does not change. </a:t>
            </a:r>
            <a:r>
              <a:rPr lang="en-US" baseline="300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>
              <a:buFont typeface="Wingdings" pitchFamily="2" charset="2"/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	End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1767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Example</a:t>
            </a:r>
            <a:endParaRPr lang="en-US" sz="4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B1DC0-5783-4F1A-A0D1-155778440E93}" type="slidenum">
              <a:rPr lang="en-US" smtClean="0"/>
              <a:t>5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R(A, B, C, G, H, I)</a:t>
            </a:r>
          </a:p>
          <a:p>
            <a:pPr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F = {A 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B, A  C, CG  H, CG  I, B 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H},  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Find out (i) A</a:t>
            </a:r>
            <a:r>
              <a:rPr lang="en-US" baseline="30000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&amp; (ii) (AG)</a:t>
            </a:r>
            <a:r>
              <a:rPr lang="en-US" baseline="30000" dirty="0" smtClean="0">
                <a:latin typeface="Times New Roman" pitchFamily="18" charset="0"/>
                <a:cs typeface="Times New Roman" pitchFamily="18" charset="0"/>
              </a:rPr>
              <a:t>+</a:t>
            </a:r>
          </a:p>
          <a:p>
            <a:pPr>
              <a:buNone/>
            </a:pPr>
            <a:endParaRPr lang="en-US" baseline="30000" dirty="0"/>
          </a:p>
        </p:txBody>
      </p:sp>
    </p:spTree>
    <p:extLst>
      <p:ext uri="{BB962C8B-B14F-4D97-AF65-F5344CB8AC3E}">
        <p14:creationId xmlns:p14="http://schemas.microsoft.com/office/powerpoint/2010/main" val="3684616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Closure</a:t>
            </a:r>
            <a:endParaRPr lang="en-US" sz="4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B1DC0-5783-4F1A-A0D1-155778440E93}" type="slidenum">
              <a:rPr lang="en-US" smtClean="0"/>
              <a:t>6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1" y="1085850"/>
            <a:ext cx="7772400" cy="38481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F = {A </a:t>
            </a:r>
            <a:r>
              <a:rPr lang="en-US" sz="21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B, A  C, CG  H, CG  I, B  H},  </a:t>
            </a:r>
            <a:endParaRPr lang="en-US" sz="21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100" baseline="30000" dirty="0">
                <a:latin typeface="Times New Roman" pitchFamily="18" charset="0"/>
                <a:cs typeface="Times New Roman" pitchFamily="18" charset="0"/>
              </a:rPr>
              <a:t>+ </a:t>
            </a: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= A</a:t>
            </a:r>
          </a:p>
          <a:p>
            <a:pPr>
              <a:buNone/>
            </a:pP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Since A </a:t>
            </a:r>
            <a:r>
              <a:rPr lang="en-US" sz="21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B so </a:t>
            </a: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100" baseline="30000" dirty="0">
                <a:latin typeface="Times New Roman" pitchFamily="18" charset="0"/>
                <a:cs typeface="Times New Roman" pitchFamily="18" charset="0"/>
              </a:rPr>
              <a:t>+ </a:t>
            </a: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= AB</a:t>
            </a:r>
          </a:p>
          <a:p>
            <a:pPr>
              <a:buNone/>
            </a:pP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Since A </a:t>
            </a:r>
            <a:r>
              <a:rPr lang="en-US" sz="21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C so </a:t>
            </a: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100" baseline="30000" dirty="0">
                <a:latin typeface="Times New Roman" pitchFamily="18" charset="0"/>
                <a:cs typeface="Times New Roman" pitchFamily="18" charset="0"/>
              </a:rPr>
              <a:t>+ </a:t>
            </a: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= ABC</a:t>
            </a:r>
          </a:p>
          <a:p>
            <a:pPr>
              <a:buNone/>
            </a:pP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Consider CG </a:t>
            </a:r>
            <a:r>
              <a:rPr lang="en-US" sz="21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H, CG is not a subset of A</a:t>
            </a:r>
            <a:r>
              <a:rPr lang="en-US" sz="2100" baseline="300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+</a:t>
            </a:r>
            <a:r>
              <a:rPr lang="en-US" sz="21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so A</a:t>
            </a:r>
            <a:r>
              <a:rPr lang="en-US" sz="2100" baseline="300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+</a:t>
            </a:r>
            <a:r>
              <a:rPr lang="en-US" sz="21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remains </a:t>
            </a:r>
            <a:r>
              <a:rPr lang="en-US" sz="21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unaltered</a:t>
            </a:r>
            <a:r>
              <a:rPr lang="en-US" sz="2100" baseline="300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endParaRPr lang="en-US" sz="2100" baseline="30000" dirty="0"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  <a:p>
            <a:pPr>
              <a:buNone/>
            </a:pP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Consider CG </a:t>
            </a:r>
            <a:r>
              <a:rPr lang="en-US" sz="21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I, CG is not a subset of A</a:t>
            </a:r>
            <a:r>
              <a:rPr lang="en-US" sz="2100" baseline="300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+ </a:t>
            </a:r>
            <a:r>
              <a:rPr lang="en-US" sz="21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so A</a:t>
            </a:r>
            <a:r>
              <a:rPr lang="en-US" sz="2100" baseline="300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+</a:t>
            </a:r>
            <a:r>
              <a:rPr lang="en-US" sz="21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remains </a:t>
            </a:r>
            <a:r>
              <a:rPr lang="en-US" sz="21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unaltered </a:t>
            </a:r>
            <a:endParaRPr lang="en-US" sz="2100" dirty="0"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  <a:p>
            <a:pPr>
              <a:buNone/>
            </a:pPr>
            <a:r>
              <a:rPr lang="en-US" sz="21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Consider B  H, B is a subset of A</a:t>
            </a:r>
            <a:r>
              <a:rPr lang="en-US" sz="2100" baseline="300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+</a:t>
            </a:r>
            <a:r>
              <a:rPr lang="en-US" sz="21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so </a:t>
            </a:r>
            <a:r>
              <a:rPr lang="en-US" sz="21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A</a:t>
            </a:r>
            <a:r>
              <a:rPr lang="en-US" sz="2100" b="1" baseline="30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+</a:t>
            </a:r>
            <a:r>
              <a:rPr lang="en-US" sz="21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= </a:t>
            </a:r>
            <a:r>
              <a:rPr lang="en-US" sz="21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ABCH</a:t>
            </a:r>
            <a:endParaRPr lang="en-US" sz="21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527239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Closure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B1DC0-5783-4F1A-A0D1-155778440E93}" type="slidenum">
              <a:rPr lang="en-US" smtClean="0"/>
              <a:t>7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pPr marL="13716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F = {A 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B, A  C, CG  H, CG  I, B  H}, 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137160" indent="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(AG)</a:t>
            </a:r>
            <a:r>
              <a:rPr lang="en-US" baseline="30000" dirty="0" smtClean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= AG</a:t>
            </a:r>
          </a:p>
          <a:p>
            <a:pPr marL="13716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= AGB  ( because of A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B)</a:t>
            </a:r>
          </a:p>
          <a:p>
            <a:pPr marL="13716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	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= AGBC (because of A  C)</a:t>
            </a:r>
          </a:p>
          <a:p>
            <a:pPr marL="13716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	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= AGBCH 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(because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of CG 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H)</a:t>
            </a:r>
          </a:p>
          <a:p>
            <a:pPr marL="13716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	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= AGBCHI 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(because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of CG 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I)</a:t>
            </a:r>
          </a:p>
          <a:p>
            <a:pPr marL="137160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	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which remains unaltered despite B  H</a:t>
            </a:r>
          </a:p>
          <a:p>
            <a:pPr marL="137160" indent="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(AG)</a:t>
            </a:r>
            <a:r>
              <a:rPr lang="en-US" baseline="300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+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= R</a:t>
            </a:r>
            <a:endParaRPr lang="en-US" dirty="0"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  <a:p>
            <a:pPr marL="137160" indent="0">
              <a:buNone/>
            </a:pPr>
            <a:endParaRPr lang="en-US" dirty="0">
              <a:sym typeface="Wingdings" pitchFamily="2" charset="2"/>
            </a:endParaRPr>
          </a:p>
          <a:p>
            <a:pPr marL="13716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0954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381000" y="209550"/>
            <a:ext cx="8534400" cy="4724400"/>
          </a:xfrm>
        </p:spPr>
        <p:txBody>
          <a:bodyPr>
            <a:normAutofit/>
          </a:bodyPr>
          <a:lstStyle/>
          <a:p>
            <a:pPr algn="just"/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Question: In a schema with attributes A, B, C, D, E following set of functional dependencies are </a:t>
            </a: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given { </a:t>
            </a: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A→B, A→C, CD→E, B→D, E→A</a:t>
            </a: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}, Which </a:t>
            </a: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of the following dependencies is not implied by the above set? (GATE CS 2005).</a:t>
            </a:r>
          </a:p>
          <a:p>
            <a:pPr marL="0" indent="0" algn="just">
              <a:buNone/>
            </a:pP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	(a) CD</a:t>
            </a: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AC</a:t>
            </a:r>
          </a:p>
          <a:p>
            <a:pPr marL="0" indent="0" algn="just">
              <a:buNone/>
            </a:pP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(b) BD</a:t>
            </a: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CD</a:t>
            </a:r>
          </a:p>
          <a:p>
            <a:pPr marL="0" indent="0" algn="just">
              <a:buNone/>
            </a:pP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(c) BC</a:t>
            </a: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CD</a:t>
            </a:r>
          </a:p>
          <a:p>
            <a:pPr marL="0" indent="0" algn="just">
              <a:buNone/>
            </a:pP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(d) AC</a:t>
            </a: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→</a:t>
            </a: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BC</a:t>
            </a:r>
            <a:endParaRPr lang="en-US" sz="21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4297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B1DC0-5783-4F1A-A0D1-155778440E93}" type="slidenum">
              <a:rPr lang="en-US" smtClean="0"/>
              <a:t>9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914401" y="1085850"/>
            <a:ext cx="7772400" cy="3619500"/>
          </a:xfrm>
        </p:spPr>
        <p:txBody>
          <a:bodyPr>
            <a:normAutofit/>
          </a:bodyPr>
          <a:lstStyle/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Option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(a):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Closure set of CD = CDEAB. Therefore CD-&gt;AC can be derived from the given set of FDs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Option (b): Closure set of BD = BD. Therefore BD-&gt;CD cannot be derived from the given set of FDs.</a:t>
            </a:r>
          </a:p>
          <a:p>
            <a:pPr algn="just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Option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(c): Closure set of BC = BCDEA. Therefore BC-&gt;CD can be derived from the given set of FDs. 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Option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(d): Closure set of AC = ACBDE. Therefore AC-&gt;BC can be derived from the given set of FDs. </a:t>
            </a:r>
          </a:p>
        </p:txBody>
      </p:sp>
    </p:spTree>
    <p:extLst>
      <p:ext uri="{BB962C8B-B14F-4D97-AF65-F5344CB8AC3E}">
        <p14:creationId xmlns:p14="http://schemas.microsoft.com/office/powerpoint/2010/main" val="2942741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381000" y="285750"/>
            <a:ext cx="8534400" cy="4648200"/>
          </a:xfrm>
        </p:spPr>
        <p:txBody>
          <a:bodyPr>
            <a:normAutofit/>
          </a:bodyPr>
          <a:lstStyle/>
          <a:p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Option (a) 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CD→AC,</a:t>
            </a:r>
          </a:p>
          <a:p>
            <a:pPr lvl="1"/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CD </a:t>
            </a: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can determine C and D(can determine themselves) and E(as CD→E, given in FD set) . Therefore, (CD)+=CDE</a:t>
            </a:r>
          </a:p>
          <a:p>
            <a:pPr lvl="1"/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Now </a:t>
            </a: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E can determine A (as E→A), (CD)+=CDEA</a:t>
            </a:r>
          </a:p>
          <a:p>
            <a:pPr lvl="1"/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With </a:t>
            </a: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the help of A, we can determine B, (CD)+=</a:t>
            </a: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CDEAB So</a:t>
            </a: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,(CD)+=</a:t>
            </a: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ABCDE</a:t>
            </a:r>
          </a:p>
          <a:p>
            <a:pPr lvl="1"/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We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can clearly see that with CD, AC can be determined. Therefore, CD→AC holds true.</a:t>
            </a:r>
          </a:p>
          <a:p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Option (b),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BD→CD,</a:t>
            </a:r>
          </a:p>
          <a:p>
            <a:pPr lvl="1"/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On taking BD closure (BD)+=BD as they can determine themselves only, no other dependencies in the FD </a:t>
            </a: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set for B and D.</a:t>
            </a:r>
            <a:endParaRPr lang="en-US" sz="2100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We can see that BD→CD does not hold; hence B is the correct option</a:t>
            </a: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1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168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B1DC0-5783-4F1A-A0D1-155778440E93}" type="slidenum">
              <a:rPr lang="en-US" smtClean="0"/>
              <a:t>11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609600" y="285750"/>
            <a:ext cx="8381999" cy="4572000"/>
          </a:xfrm>
        </p:spPr>
        <p:txBody>
          <a:bodyPr>
            <a:normAutofit fontScale="92500" lnSpcReduction="20000"/>
          </a:bodyPr>
          <a:lstStyle/>
          <a:p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Option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(c)  BC→CD,</a:t>
            </a:r>
            <a:endParaRPr lang="en-US" sz="2300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BC can’t </a:t>
            </a: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determine </a:t>
            </a: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any attribute.  But B determines D. </a:t>
            </a: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Therefore, </a:t>
            </a: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(BC)+=BCD</a:t>
            </a:r>
            <a:endParaRPr lang="en-US" sz="2100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Now </a:t>
            </a: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CD </a:t>
            </a: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can determine </a:t>
            </a: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E </a:t>
            </a: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(as , CD→E</a:t>
            </a: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), </a:t>
            </a: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(BC)+=</a:t>
            </a: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BCDE</a:t>
            </a:r>
            <a:endParaRPr lang="en-US" sz="2100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With </a:t>
            </a: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the help of </a:t>
            </a: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E, </a:t>
            </a: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we can determine </a:t>
            </a: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A, </a:t>
            </a: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(BC)+=</a:t>
            </a: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BCDEA</a:t>
            </a:r>
            <a:endParaRPr lang="en-US" sz="2100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We can clearly see that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the CD is present in the closure.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Therefore, BC→CD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holds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true.</a:t>
            </a:r>
          </a:p>
          <a:p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Option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(d), AC→BC,</a:t>
            </a:r>
            <a:endParaRPr lang="en-US" sz="2300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AC </a:t>
            </a: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can’t determine any attribute.  But </a:t>
            </a: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determines </a:t>
            </a: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B and C. </a:t>
            </a: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Therefore, </a:t>
            </a: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(AC</a:t>
            </a: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)+=</a:t>
            </a: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BC</a:t>
            </a:r>
            <a:endParaRPr lang="en-US" sz="2100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Now </a:t>
            </a: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B </a:t>
            </a: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can determine </a:t>
            </a: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D </a:t>
            </a: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(as , B</a:t>
            </a: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→D), (AC</a:t>
            </a: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)+=</a:t>
            </a: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BCD</a:t>
            </a:r>
            <a:endParaRPr lang="en-US" sz="2100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CD can determine E (as , CD→E)</a:t>
            </a: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(AC)+=</a:t>
            </a: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BCDE</a:t>
            </a:r>
          </a:p>
          <a:p>
            <a:pPr lvl="1"/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With the help of E, we can determine A, (AC)+=</a:t>
            </a: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BCDEA </a:t>
            </a:r>
          </a:p>
          <a:p>
            <a:pPr lvl="1"/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We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can clearly see that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the BC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is present in the closure. Therefore, AC→BC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holds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true.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1656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B1DC0-5783-4F1A-A0D1-155778440E93}" type="slidenum">
              <a:rPr lang="en-US" smtClean="0"/>
              <a:t>12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914401" y="209550"/>
            <a:ext cx="7772400" cy="4305300"/>
          </a:xfrm>
        </p:spPr>
        <p:txBody>
          <a:bodyPr>
            <a:normAutofit/>
          </a:bodyPr>
          <a:lstStyle/>
          <a:p>
            <a:pPr algn="just"/>
            <a:r>
              <a:rPr lang="en-US" sz="2100" b="1" dirty="0">
                <a:latin typeface="Times New Roman" pitchFamily="18" charset="0"/>
                <a:cs typeface="Times New Roman" pitchFamily="18" charset="0"/>
              </a:rPr>
              <a:t>Question: </a:t>
            </a: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The following functional dependencies are given</a:t>
            </a: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100" b="1" dirty="0" smtClean="0">
                <a:latin typeface="Times New Roman" pitchFamily="18" charset="0"/>
                <a:cs typeface="Times New Roman" pitchFamily="18" charset="0"/>
              </a:rPr>
              <a:t>{</a:t>
            </a:r>
            <a:r>
              <a:rPr lang="en-US" sz="2100" b="1" dirty="0">
                <a:latin typeface="Times New Roman" pitchFamily="18" charset="0"/>
                <a:cs typeface="Times New Roman" pitchFamily="18" charset="0"/>
              </a:rPr>
              <a:t>AB→CD, AF→D, DE→F, C→G, F→E, G→</a:t>
            </a:r>
            <a:r>
              <a:rPr lang="en-US" sz="2100" b="1" dirty="0" smtClean="0">
                <a:latin typeface="Times New Roman" pitchFamily="18" charset="0"/>
                <a:cs typeface="Times New Roman" pitchFamily="18" charset="0"/>
              </a:rPr>
              <a:t>A}</a:t>
            </a: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. Which </a:t>
            </a:r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one of the following options is false? (</a:t>
            </a:r>
            <a:r>
              <a:rPr lang="en-US" sz="2100" b="1" dirty="0">
                <a:latin typeface="Times New Roman" pitchFamily="18" charset="0"/>
                <a:cs typeface="Times New Roman" pitchFamily="18" charset="0"/>
              </a:rPr>
              <a:t>GATE 2006)</a:t>
            </a:r>
            <a:endParaRPr lang="en-US" sz="21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CF+ = {ACDEFG}                             </a:t>
            </a:r>
          </a:p>
          <a:p>
            <a:pPr algn="just"/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BG+ = {ABCDG}</a:t>
            </a:r>
          </a:p>
          <a:p>
            <a:pPr algn="just"/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AF+ = {ACDEFG}                      </a:t>
            </a:r>
          </a:p>
          <a:p>
            <a:pPr algn="just"/>
            <a:r>
              <a:rPr lang="en-US" sz="2100" dirty="0">
                <a:latin typeface="Times New Roman" pitchFamily="18" charset="0"/>
                <a:cs typeface="Times New Roman" pitchFamily="18" charset="0"/>
              </a:rPr>
              <a:t>AB+ = {ABCDFG}</a:t>
            </a:r>
          </a:p>
          <a:p>
            <a:endParaRPr lang="en-US" sz="21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4051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Super Key &amp; Key</a:t>
            </a:r>
            <a:endParaRPr lang="en-US" sz="4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B1DC0-5783-4F1A-A0D1-155778440E93}" type="slidenum">
              <a:rPr lang="en-US" smtClean="0"/>
              <a:t>13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Since (AG)</a:t>
            </a:r>
            <a:r>
              <a:rPr lang="en-US" sz="2100" baseline="30000" dirty="0" smtClean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 = R hence AG is a super key of R</a:t>
            </a:r>
          </a:p>
          <a:p>
            <a:pPr algn="just"/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To find out whether it is a key, we have seen that A</a:t>
            </a:r>
            <a:r>
              <a:rPr lang="en-US" sz="2100" baseline="30000" dirty="0" smtClean="0">
                <a:latin typeface="Times New Roman" pitchFamily="18" charset="0"/>
                <a:cs typeface="Times New Roman" pitchFamily="18" charset="0"/>
              </a:rPr>
              <a:t>+ </a:t>
            </a: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≠ R &amp; also note that G</a:t>
            </a:r>
            <a:r>
              <a:rPr lang="en-US" sz="2100" baseline="30000" dirty="0" smtClean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 ≠ R</a:t>
            </a:r>
          </a:p>
          <a:p>
            <a:pPr algn="just"/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So AG is a key of R</a:t>
            </a:r>
          </a:p>
          <a:p>
            <a:pPr algn="just"/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If X is a subset of a relation schema R then X is a super key of R if X</a:t>
            </a:r>
            <a:r>
              <a:rPr lang="en-US" sz="2100" baseline="30000" dirty="0" smtClean="0">
                <a:latin typeface="Times New Roman" pitchFamily="18" charset="0"/>
                <a:cs typeface="Times New Roman" pitchFamily="18" charset="0"/>
              </a:rPr>
              <a:t>+ </a:t>
            </a: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= R</a:t>
            </a:r>
            <a:endParaRPr lang="en-US" sz="21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8443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Key</a:t>
            </a:r>
            <a:endParaRPr lang="en-US" sz="4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B1DC0-5783-4F1A-A0D1-155778440E93}" type="slidenum">
              <a:rPr lang="en-US" smtClean="0"/>
              <a:t>14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pPr marL="571500" indent="-571500">
              <a:buNone/>
            </a:pPr>
            <a:r>
              <a:rPr lang="en-US" sz="2500" dirty="0">
                <a:latin typeface="Times New Roman" pitchFamily="18" charset="0"/>
                <a:cs typeface="Times New Roman" pitchFamily="18" charset="0"/>
              </a:rPr>
              <a:t>Input:  A relation schema R and a set of functional</a:t>
            </a:r>
          </a:p>
          <a:p>
            <a:pPr marL="571500" indent="-571500">
              <a:buNone/>
            </a:pPr>
            <a:r>
              <a:rPr lang="en-US" sz="2500" dirty="0">
                <a:latin typeface="Times New Roman" pitchFamily="18" charset="0"/>
                <a:cs typeface="Times New Roman" pitchFamily="18" charset="0"/>
              </a:rPr>
              <a:t>dependencies F on the attributes of R. </a:t>
            </a:r>
          </a:p>
          <a:p>
            <a:pPr marL="0" indent="0">
              <a:buNone/>
            </a:pP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1. Set </a:t>
            </a:r>
            <a:r>
              <a:rPr lang="en-US" sz="2500" dirty="0">
                <a:latin typeface="Times New Roman" pitchFamily="18" charset="0"/>
                <a:cs typeface="Times New Roman" pitchFamily="18" charset="0"/>
              </a:rPr>
              <a:t>K := R;</a:t>
            </a:r>
          </a:p>
          <a:p>
            <a:pPr marL="0" indent="0">
              <a:buNone/>
            </a:pP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2. For </a:t>
            </a:r>
            <a:r>
              <a:rPr lang="en-US" sz="2500" dirty="0">
                <a:latin typeface="Times New Roman" pitchFamily="18" charset="0"/>
                <a:cs typeface="Times New Roman" pitchFamily="18" charset="0"/>
              </a:rPr>
              <a:t>each attribute A in K </a:t>
            </a:r>
            <a:endParaRPr lang="en-US" sz="25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5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Begin</a:t>
            </a:r>
            <a:endParaRPr lang="en-US" sz="25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5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	Compute </a:t>
            </a:r>
            <a:r>
              <a:rPr lang="en-US" sz="2500" dirty="0">
                <a:latin typeface="Times New Roman" pitchFamily="18" charset="0"/>
                <a:cs typeface="Times New Roman" pitchFamily="18" charset="0"/>
              </a:rPr>
              <a:t>(K – A)</a:t>
            </a:r>
            <a:r>
              <a:rPr lang="en-US" sz="2500" baseline="30000" dirty="0">
                <a:latin typeface="Times New Roman" pitchFamily="18" charset="0"/>
                <a:cs typeface="Times New Roman" pitchFamily="18" charset="0"/>
              </a:rPr>
              <a:t>+ </a:t>
            </a:r>
            <a:r>
              <a:rPr lang="en-US" sz="2500" dirty="0">
                <a:latin typeface="Times New Roman" pitchFamily="18" charset="0"/>
                <a:cs typeface="Times New Roman" pitchFamily="18" charset="0"/>
              </a:rPr>
              <a:t>with respect to F;</a:t>
            </a:r>
          </a:p>
          <a:p>
            <a:pPr marL="0" indent="0">
              <a:buNone/>
            </a:pPr>
            <a:r>
              <a:rPr lang="en-US" sz="25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	If </a:t>
            </a:r>
            <a:r>
              <a:rPr lang="en-US" sz="2500" dirty="0">
                <a:latin typeface="Times New Roman" pitchFamily="18" charset="0"/>
                <a:cs typeface="Times New Roman" pitchFamily="18" charset="0"/>
              </a:rPr>
              <a:t>(K – A)</a:t>
            </a:r>
            <a:r>
              <a:rPr lang="en-US" sz="2500" baseline="30000" dirty="0">
                <a:latin typeface="Times New Roman" pitchFamily="18" charset="0"/>
                <a:cs typeface="Times New Roman" pitchFamily="18" charset="0"/>
              </a:rPr>
              <a:t>+ </a:t>
            </a:r>
            <a:r>
              <a:rPr lang="en-US" sz="2500" dirty="0">
                <a:latin typeface="Times New Roman" pitchFamily="18" charset="0"/>
                <a:cs typeface="Times New Roman" pitchFamily="18" charset="0"/>
              </a:rPr>
              <a:t>contains all the attributes in R,</a:t>
            </a:r>
          </a:p>
          <a:p>
            <a:pPr marL="0" indent="0">
              <a:buNone/>
            </a:pPr>
            <a:r>
              <a:rPr lang="en-US" sz="2500" dirty="0">
                <a:latin typeface="Times New Roman" pitchFamily="18" charset="0"/>
                <a:cs typeface="Times New Roman" pitchFamily="18" charset="0"/>
              </a:rPr>
              <a:t>			</a:t>
            </a: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	then </a:t>
            </a:r>
            <a:r>
              <a:rPr lang="en-US" sz="2500" dirty="0">
                <a:latin typeface="Times New Roman" pitchFamily="18" charset="0"/>
                <a:cs typeface="Times New Roman" pitchFamily="18" charset="0"/>
              </a:rPr>
              <a:t>set K := K – {A};</a:t>
            </a:r>
          </a:p>
          <a:p>
            <a:pPr marL="0" indent="0">
              <a:buNone/>
            </a:pPr>
            <a:r>
              <a:rPr lang="en-US" sz="25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End.</a:t>
            </a:r>
            <a:endParaRPr lang="en-US" sz="2500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9747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33350"/>
            <a:ext cx="7772400" cy="460771"/>
          </a:xfrm>
        </p:spPr>
        <p:txBody>
          <a:bodyPr>
            <a:normAutofit fontScale="90000"/>
          </a:bodyPr>
          <a:lstStyle/>
          <a:p>
            <a:r>
              <a:rPr lang="en-US" sz="4000" dirty="0" smtClean="0"/>
              <a:t>Example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33400" y="590550"/>
            <a:ext cx="8305800" cy="4343400"/>
          </a:xfrm>
        </p:spPr>
        <p:txBody>
          <a:bodyPr>
            <a:normAutofit fontScale="85000" lnSpcReduction="20000"/>
          </a:bodyPr>
          <a:lstStyle/>
          <a:p>
            <a:r>
              <a:rPr lang="en-US" sz="25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R(A</a:t>
            </a:r>
            <a:r>
              <a:rPr lang="en-US" sz="25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, B, C, D, E</a:t>
            </a:r>
            <a:r>
              <a:rPr lang="en-US" sz="25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) &amp; F = {</a:t>
            </a:r>
            <a:r>
              <a:rPr lang="en-US" sz="25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5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</a:t>
            </a:r>
            <a:r>
              <a:rPr lang="en-US" sz="25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5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C, </a:t>
            </a:r>
            <a:r>
              <a:rPr lang="en-US" sz="25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 </a:t>
            </a:r>
            <a:r>
              <a:rPr lang="en-US" sz="25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</a:t>
            </a:r>
            <a:r>
              <a:rPr lang="en-US" sz="25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D, B </a:t>
            </a:r>
            <a:r>
              <a:rPr lang="en-US" sz="25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</a:t>
            </a:r>
            <a:r>
              <a:rPr lang="en-US" sz="25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E}Find </a:t>
            </a:r>
            <a:r>
              <a:rPr lang="en-US" sz="25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out a key of R</a:t>
            </a:r>
            <a:r>
              <a:rPr lang="en-US" sz="25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en-US" sz="24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Solution: </a:t>
            </a:r>
          </a:p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Initialize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K := ABCDE.</a:t>
            </a:r>
          </a:p>
          <a:p>
            <a:pPr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Suppose that we remove A from ABCDE and compute (BCDE)</a:t>
            </a:r>
            <a:r>
              <a:rPr lang="en-US" sz="2400" baseline="30000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We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find that (BCDE)</a:t>
            </a:r>
            <a:r>
              <a:rPr lang="en-US" sz="2400" baseline="30000" dirty="0">
                <a:latin typeface="Times New Roman" pitchFamily="18" charset="0"/>
                <a:cs typeface="Times New Roman" pitchFamily="18" charset="0"/>
              </a:rPr>
              <a:t>+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sz="2400" baseline="30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(BCDE)</a:t>
            </a:r>
            <a:r>
              <a:rPr lang="en-US" sz="2400" baseline="30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≠ R and hence A cannot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be removed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from ABCDE. </a:t>
            </a:r>
          </a:p>
          <a:p>
            <a:pPr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Suppose that we remove B from ABCDE and compute (ACDE)</a:t>
            </a:r>
            <a:r>
              <a:rPr lang="en-US" sz="2400" baseline="30000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We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find that (ACDE)</a:t>
            </a:r>
            <a:r>
              <a:rPr lang="en-US" sz="2400" baseline="30000" dirty="0">
                <a:latin typeface="Times New Roman" pitchFamily="18" charset="0"/>
                <a:cs typeface="Times New Roman" pitchFamily="18" charset="0"/>
              </a:rPr>
              <a:t>+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= ACDE ≠ R and hence B too cannot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be removed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from ABCDE. </a:t>
            </a:r>
          </a:p>
          <a:p>
            <a:pPr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Suppose that we remove C from ABCDE and compute (ABDE)</a:t>
            </a:r>
            <a:r>
              <a:rPr lang="en-US" sz="2400" baseline="30000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We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find that (ABDE)</a:t>
            </a:r>
            <a:r>
              <a:rPr lang="en-US" sz="2400" baseline="30000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= ABDEC = R and hence C can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be removed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from ABCDE.  So K is now reduced to ABDE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Suppose that we remove D from ABDE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and compute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(ABE)</a:t>
            </a:r>
            <a:r>
              <a:rPr lang="en-US" sz="2400" baseline="30000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sz="2400" baseline="30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We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find that (ABE)</a:t>
            </a:r>
            <a:r>
              <a:rPr lang="en-US" sz="2400" baseline="30000" dirty="0">
                <a:latin typeface="Times New Roman" pitchFamily="18" charset="0"/>
                <a:cs typeface="Times New Roman" pitchFamily="18" charset="0"/>
              </a:rPr>
              <a:t>+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sz="2400" baseline="30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ABECD = R and hence D can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be removed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from ABDE.  So K is reduced to ABE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None/>
            </a:pPr>
            <a:endParaRPr lang="en-US" sz="2100" dirty="0">
              <a:latin typeface="Times New Roman" pitchFamily="18" charset="0"/>
              <a:cs typeface="Times New Roman" pitchFamily="18" charset="0"/>
            </a:endParaRPr>
          </a:p>
          <a:p>
            <a:endParaRPr lang="en-US" sz="21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690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Key</a:t>
            </a:r>
            <a:endParaRPr lang="en-US" sz="4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B1DC0-5783-4F1A-A0D1-155778440E93}" type="slidenum">
              <a:rPr lang="en-US" smtClean="0"/>
              <a:t>16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Suppose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that we remove E from ABE and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compute(AB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200" baseline="30000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sz="2200" baseline="30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We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find that (AB)</a:t>
            </a:r>
            <a:r>
              <a:rPr lang="en-US" sz="2200" baseline="30000" dirty="0">
                <a:latin typeface="Times New Roman" pitchFamily="18" charset="0"/>
                <a:cs typeface="Times New Roman" pitchFamily="18" charset="0"/>
              </a:rPr>
              <a:t>+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= ABCDE = R and hence E can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be removed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from ABE.  </a:t>
            </a:r>
          </a:p>
          <a:p>
            <a:pPr algn="just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So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 key of the relation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schema R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is AB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1145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15"/>
            <a:ext cx="7772400" cy="625079"/>
          </a:xfrm>
        </p:spPr>
        <p:txBody>
          <a:bodyPr>
            <a:normAutofit fontScale="90000"/>
          </a:bodyPr>
          <a:lstStyle/>
          <a:p>
            <a:r>
              <a:rPr lang="en-US" sz="4000" dirty="0" smtClean="0"/>
              <a:t>Example</a:t>
            </a:r>
            <a:endParaRPr lang="en-US" sz="4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B1DC0-5783-4F1A-A0D1-155778440E93}" type="slidenum">
              <a:rPr lang="en-US" smtClean="0"/>
              <a:t>17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1" y="666750"/>
            <a:ext cx="7772400" cy="43434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R(A, B, C, D, E, G, H) &amp; </a:t>
            </a:r>
            <a:r>
              <a:rPr lang="en-US" sz="23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 </a:t>
            </a:r>
            <a:r>
              <a:rPr lang="en-US" sz="23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= {</a:t>
            </a:r>
            <a:r>
              <a:rPr lang="en-US" sz="23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3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</a:t>
            </a:r>
            <a:r>
              <a:rPr lang="en-US" sz="23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B, B  ACE, </a:t>
            </a:r>
            <a:r>
              <a:rPr lang="en-US" sz="23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C  </a:t>
            </a:r>
            <a:r>
              <a:rPr lang="en-US" sz="23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BGD, G  DH}. </a:t>
            </a:r>
            <a:r>
              <a:rPr lang="en-US" sz="23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Find out key(s) of R.</a:t>
            </a:r>
          </a:p>
          <a:p>
            <a:pPr marL="0" indent="0">
              <a:buNone/>
            </a:pPr>
            <a:r>
              <a:rPr lang="en-US" sz="23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Solution: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Find the closure of each elements that holds the dependency. </a:t>
            </a:r>
            <a:endParaRPr lang="en-US" sz="2300" b="1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  <a:p>
            <a:pPr marL="0" indent="0">
              <a:buNone/>
            </a:pPr>
            <a:r>
              <a:rPr lang="en-US" sz="23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A+=AB</a:t>
            </a:r>
          </a:p>
          <a:p>
            <a:pPr marL="0" indent="0">
              <a:buNone/>
            </a:pPr>
            <a:r>
              <a:rPr lang="en-US" sz="23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       ABCE</a:t>
            </a:r>
          </a:p>
          <a:p>
            <a:pPr marL="0" indent="0">
              <a:buNone/>
            </a:pPr>
            <a:r>
              <a:rPr lang="en-US" sz="23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       ABCEGD</a:t>
            </a:r>
          </a:p>
          <a:p>
            <a:pPr marL="0" indent="0">
              <a:buNone/>
            </a:pPr>
            <a:r>
              <a:rPr lang="en-US" sz="23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       ABCEGDH=R</a:t>
            </a:r>
          </a:p>
          <a:p>
            <a:pPr marL="0" indent="0">
              <a:buNone/>
            </a:pPr>
            <a:r>
              <a:rPr lang="en-US" sz="23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A</a:t>
            </a:r>
            <a:r>
              <a:rPr lang="en-US" sz="2300" baseline="300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+</a:t>
            </a:r>
            <a:r>
              <a:rPr lang="en-US" sz="23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= ABCEGDH = R and so A is a key.</a:t>
            </a:r>
          </a:p>
          <a:p>
            <a:pPr marL="0" indent="0">
              <a:buNone/>
            </a:pPr>
            <a:r>
              <a:rPr lang="en-US" sz="23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B</a:t>
            </a:r>
            <a:r>
              <a:rPr lang="en-US" sz="2300" baseline="300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+ </a:t>
            </a:r>
            <a:r>
              <a:rPr lang="en-US" sz="23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= BACEGDH = R &amp; so B is also a key.</a:t>
            </a:r>
          </a:p>
          <a:p>
            <a:pPr marL="0" indent="0">
              <a:buNone/>
            </a:pPr>
            <a:r>
              <a:rPr lang="en-US" sz="23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C</a:t>
            </a:r>
            <a:r>
              <a:rPr lang="en-US" sz="2300" baseline="300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+</a:t>
            </a:r>
            <a:r>
              <a:rPr lang="en-US" sz="23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= CBGDHAE = R and so C also is a key.</a:t>
            </a:r>
          </a:p>
          <a:p>
            <a:pPr marL="0" indent="0">
              <a:buNone/>
            </a:pPr>
            <a:r>
              <a:rPr lang="en-US" sz="23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G</a:t>
            </a:r>
            <a:r>
              <a:rPr lang="en-US" sz="2300" baseline="300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+</a:t>
            </a:r>
            <a:r>
              <a:rPr lang="en-US" sz="23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= GDH and so G is not a key.</a:t>
            </a:r>
          </a:p>
          <a:p>
            <a:pPr marL="0" indent="0">
              <a:buNone/>
            </a:pPr>
            <a:r>
              <a:rPr lang="en-US" sz="23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So there are three keys of R and they are A, B and C. </a:t>
            </a:r>
          </a:p>
          <a:p>
            <a:pPr marL="137160" indent="0">
              <a:buNone/>
            </a:pPr>
            <a:endParaRPr lang="en-US" sz="21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4826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Example</a:t>
            </a:r>
            <a:endParaRPr lang="en-US" sz="4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B1DC0-5783-4F1A-A0D1-155778440E93}" type="slidenum">
              <a:rPr lang="en-US" smtClean="0"/>
              <a:t>18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457200" indent="-457200">
              <a:buAutoNum type="arabicParenBoth"/>
            </a:pP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R(A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, B, C, D) &amp; F = {A </a:t>
            </a:r>
            <a:r>
              <a:rPr lang="en-US" sz="23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B, B  C, C  BD}.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Find </a:t>
            </a:r>
            <a:r>
              <a:rPr lang="en-US" sz="23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out key(s) of R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.</a:t>
            </a:r>
          </a:p>
          <a:p>
            <a:pPr marL="457200" indent="-457200">
              <a:buFont typeface="Wingdings 2"/>
              <a:buAutoNum type="arabicParenBoth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R(A, B, C, D, E) &amp;  F = {A </a:t>
            </a:r>
            <a:r>
              <a:rPr lang="en-US" sz="24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B, B  A, B  C, D  A}. Find out key(s) of R.</a:t>
            </a:r>
          </a:p>
          <a:p>
            <a:pPr marL="457200" indent="-457200">
              <a:buAutoNum type="arabicParenBoth"/>
            </a:pPr>
            <a:endParaRPr lang="en-US" sz="2300" dirty="0" smtClean="0"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202959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Solution (1)</a:t>
            </a:r>
            <a:endParaRPr lang="en-US" sz="4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B1DC0-5783-4F1A-A0D1-155778440E93}" type="slidenum">
              <a:rPr lang="en-US" smtClean="0"/>
              <a:t>19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3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A</a:t>
            </a:r>
            <a:r>
              <a:rPr lang="en-US" sz="2300" baseline="300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+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= ABCD = R and so A is a key.</a:t>
            </a:r>
          </a:p>
          <a:p>
            <a:pPr marL="0" indent="0">
              <a:buNone/>
            </a:pPr>
            <a:r>
              <a:rPr lang="en-US" sz="23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B</a:t>
            </a:r>
            <a:r>
              <a:rPr lang="en-US" sz="2300" baseline="300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+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= BCD ≠ R and so B cannot be a key.</a:t>
            </a:r>
          </a:p>
          <a:p>
            <a:pPr marL="0" indent="0">
              <a:buNone/>
            </a:pPr>
            <a:r>
              <a:rPr lang="en-US" sz="23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C</a:t>
            </a:r>
            <a:r>
              <a:rPr lang="en-US" sz="2300" baseline="300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+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= CBD ≠ R and so C cannot be a key.</a:t>
            </a:r>
          </a:p>
          <a:p>
            <a:pPr marL="0" indent="0">
              <a:buNone/>
            </a:pPr>
            <a:r>
              <a:rPr lang="en-US" sz="23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So R has one key and it is A.</a:t>
            </a:r>
            <a:endParaRPr lang="en-US" sz="23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3583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Solution (2)</a:t>
            </a:r>
            <a:endParaRPr lang="en-US" sz="4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B1DC0-5783-4F1A-A0D1-155778440E93}" type="slidenum">
              <a:rPr lang="en-US" smtClean="0"/>
              <a:t>20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3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A</a:t>
            </a:r>
            <a:r>
              <a:rPr lang="en-US" sz="2300" baseline="300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+</a:t>
            </a:r>
            <a:r>
              <a:rPr lang="en-US" sz="23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= ABC ≠ R so A cannot be a key.</a:t>
            </a:r>
          </a:p>
          <a:p>
            <a:pPr marL="0" indent="0">
              <a:buNone/>
            </a:pPr>
            <a:r>
              <a:rPr lang="en-US" sz="23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B</a:t>
            </a:r>
            <a:r>
              <a:rPr lang="en-US" sz="2300" baseline="300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+ </a:t>
            </a:r>
            <a:r>
              <a:rPr lang="en-US" sz="23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= BAC ≠ R, so B cannot be a key.</a:t>
            </a:r>
          </a:p>
          <a:p>
            <a:pPr marL="0" indent="0">
              <a:buNone/>
            </a:pPr>
            <a:r>
              <a:rPr lang="en-US" sz="23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D</a:t>
            </a:r>
            <a:r>
              <a:rPr lang="en-US" sz="2300" baseline="300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+</a:t>
            </a:r>
            <a:r>
              <a:rPr lang="en-US" sz="23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= DABC ≠ R and so D cannot be a key.</a:t>
            </a:r>
          </a:p>
          <a:p>
            <a:pPr marL="0" indent="0">
              <a:buNone/>
            </a:pPr>
            <a:r>
              <a:rPr lang="en-US" sz="23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(DE)</a:t>
            </a:r>
            <a:r>
              <a:rPr lang="en-US" sz="2300" baseline="300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+</a:t>
            </a:r>
            <a:r>
              <a:rPr lang="en-US" sz="23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= DEABC = R and so DE is a key of R.</a:t>
            </a:r>
            <a:endParaRPr lang="en-US" sz="2300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1449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Inference</a:t>
            </a:r>
            <a:endParaRPr lang="en-US" sz="4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B1DC0-5783-4F1A-A0D1-155778440E93}" type="slidenum">
              <a:rPr lang="en-US" smtClean="0"/>
              <a:t>21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R &amp; F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X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Y not a member of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F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Is it possible to infer X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Y from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F?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Find out X</a:t>
            </a:r>
            <a:r>
              <a:rPr lang="en-US" sz="2200" baseline="30000" dirty="0" smtClean="0">
                <a:latin typeface="Times New Roman" pitchFamily="18" charset="0"/>
                <a:cs typeface="Times New Roman" pitchFamily="18" charset="0"/>
              </a:rPr>
              <a:t>+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with respect to F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If X</a:t>
            </a:r>
            <a:r>
              <a:rPr lang="en-US" sz="2200" baseline="30000" dirty="0" smtClean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contains Y then X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Y can be inferred from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F.</a:t>
            </a:r>
          </a:p>
          <a:p>
            <a:endParaRPr lang="en-US" dirty="0">
              <a:latin typeface="Script MT Bold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8883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Example</a:t>
            </a:r>
            <a:endParaRPr lang="en-US" sz="4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B1DC0-5783-4F1A-A0D1-155778440E93}" type="slidenum">
              <a:rPr lang="en-US" smtClean="0"/>
              <a:t>22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F = {A </a:t>
            </a:r>
            <a:r>
              <a:rPr lang="en-US" sz="23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C, AC  D, E  AD, E  H}</a:t>
            </a:r>
          </a:p>
          <a:p>
            <a:r>
              <a:rPr lang="en-US" sz="23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A 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CD – Can it be inferred from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?</a:t>
            </a:r>
          </a:p>
          <a:p>
            <a:r>
              <a:rPr lang="en-US" sz="23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A</a:t>
            </a:r>
            <a:r>
              <a:rPr lang="en-US" sz="2300" baseline="300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+</a:t>
            </a:r>
            <a:r>
              <a:rPr lang="en-US" sz="23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=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ACD</a:t>
            </a:r>
          </a:p>
          <a:p>
            <a:r>
              <a:rPr lang="en-US" sz="23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A 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CD can be inferred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F</a:t>
            </a:r>
            <a:endParaRPr lang="en-US" sz="2300" dirty="0" smtClean="0"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  <a:p>
            <a:r>
              <a:rPr lang="en-US" sz="23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E 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AH </a:t>
            </a:r>
            <a:r>
              <a:rPr lang="en-US" sz="23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can be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inferred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F, because E</a:t>
            </a:r>
            <a:r>
              <a:rPr lang="en-US" sz="2300" baseline="30000" dirty="0" smtClean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 = ACDH </a:t>
            </a:r>
            <a:endParaRPr lang="en-US" sz="2300" dirty="0"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9628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Equivalence</a:t>
            </a:r>
            <a:endParaRPr lang="en-US" sz="4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B1DC0-5783-4F1A-A0D1-155778440E93}" type="slidenum">
              <a:rPr lang="en-US" smtClean="0"/>
              <a:t>23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R, </a:t>
            </a:r>
            <a:r>
              <a:rPr lang="en-US" dirty="0" smtClean="0">
                <a:latin typeface="Script MT Bold" pitchFamily="66" charset="0"/>
              </a:rPr>
              <a:t>F</a:t>
            </a:r>
            <a:r>
              <a:rPr lang="en-US" baseline="-25000" dirty="0" smtClean="0">
                <a:latin typeface="Script MT Bold" pitchFamily="66" charset="0"/>
              </a:rPr>
              <a:t>1</a:t>
            </a:r>
            <a:r>
              <a:rPr lang="en-US" dirty="0" smtClean="0"/>
              <a:t> &amp; </a:t>
            </a:r>
            <a:r>
              <a:rPr lang="en-US" dirty="0" smtClean="0">
                <a:latin typeface="Script MT Bold" pitchFamily="66" charset="0"/>
              </a:rPr>
              <a:t>F</a:t>
            </a:r>
            <a:r>
              <a:rPr lang="en-US" baseline="-25000" dirty="0" smtClean="0">
                <a:latin typeface="Script MT Bold" pitchFamily="66" charset="0"/>
              </a:rPr>
              <a:t>2</a:t>
            </a:r>
          </a:p>
          <a:p>
            <a:r>
              <a:rPr lang="en-US" dirty="0">
                <a:latin typeface="Script MT Bold" pitchFamily="66" charset="0"/>
              </a:rPr>
              <a:t>F</a:t>
            </a:r>
            <a:r>
              <a:rPr lang="en-US" baseline="-25000" dirty="0">
                <a:latin typeface="Script MT Bold" pitchFamily="66" charset="0"/>
              </a:rPr>
              <a:t>1</a:t>
            </a:r>
            <a:r>
              <a:rPr lang="en-US" dirty="0"/>
              <a:t> </a:t>
            </a:r>
            <a:r>
              <a:rPr lang="en-US" dirty="0" smtClean="0"/>
              <a:t>≡ </a:t>
            </a:r>
            <a:r>
              <a:rPr lang="en-US" dirty="0" smtClean="0">
                <a:latin typeface="Script MT Bold" pitchFamily="66" charset="0"/>
              </a:rPr>
              <a:t>F</a:t>
            </a:r>
            <a:r>
              <a:rPr lang="en-US" baseline="-25000" dirty="0" smtClean="0">
                <a:latin typeface="Script MT Bold" pitchFamily="66" charset="0"/>
              </a:rPr>
              <a:t>2</a:t>
            </a:r>
          </a:p>
          <a:p>
            <a:r>
              <a:rPr lang="en-US" dirty="0" smtClean="0"/>
              <a:t>Two sets of functional dependency are said to be equivalent if every functional dependency of one set can be derived from the other set of functional dependency.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5649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Example</a:t>
            </a:r>
            <a:endParaRPr lang="en-US" sz="4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B1DC0-5783-4F1A-A0D1-155778440E93}" type="slidenum">
              <a:rPr lang="en-US" smtClean="0"/>
              <a:t>24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en-US" dirty="0" smtClean="0"/>
              <a:t>R(A, B, C, D),</a:t>
            </a:r>
          </a:p>
          <a:p>
            <a:pPr>
              <a:buFont typeface="Wingdings" pitchFamily="2" charset="2"/>
              <a:buNone/>
            </a:pPr>
            <a:r>
              <a:rPr lang="en-US" dirty="0" smtClean="0">
                <a:latin typeface="Script MT Bold" pitchFamily="66" charset="0"/>
              </a:rPr>
              <a:t>F</a:t>
            </a:r>
            <a:r>
              <a:rPr lang="en-US" baseline="-25000" dirty="0" smtClean="0">
                <a:latin typeface="Times New Roman" pitchFamily="18" charset="0"/>
              </a:rPr>
              <a:t>1</a:t>
            </a:r>
            <a:r>
              <a:rPr lang="en-US" dirty="0" smtClean="0"/>
              <a:t> </a:t>
            </a:r>
            <a:r>
              <a:rPr lang="en-US" dirty="0"/>
              <a:t>= {A </a:t>
            </a:r>
            <a:r>
              <a:rPr lang="en-US" dirty="0">
                <a:sym typeface="Wingdings" pitchFamily="2" charset="2"/>
              </a:rPr>
              <a:t> B, B  C, AC  D</a:t>
            </a:r>
            <a:r>
              <a:rPr lang="en-US" dirty="0" smtClean="0">
                <a:sym typeface="Wingdings" pitchFamily="2" charset="2"/>
              </a:rPr>
              <a:t>},</a:t>
            </a:r>
            <a:endParaRPr lang="en-US" dirty="0">
              <a:sym typeface="Wingdings" pitchFamily="2" charset="2"/>
            </a:endParaRPr>
          </a:p>
          <a:p>
            <a:pPr>
              <a:buFont typeface="Wingdings" pitchFamily="2" charset="2"/>
              <a:buNone/>
            </a:pPr>
            <a:r>
              <a:rPr lang="en-US" dirty="0" smtClean="0">
                <a:latin typeface="Script MT Bold" pitchFamily="66" charset="0"/>
                <a:sym typeface="Wingdings" pitchFamily="2" charset="2"/>
              </a:rPr>
              <a:t>F</a:t>
            </a:r>
            <a:r>
              <a:rPr lang="en-US" baseline="-25000" dirty="0" smtClean="0">
                <a:latin typeface="Times New Roman" pitchFamily="18" charset="0"/>
                <a:sym typeface="Wingdings" pitchFamily="2" charset="2"/>
              </a:rPr>
              <a:t>2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>
                <a:sym typeface="Wingdings" pitchFamily="2" charset="2"/>
              </a:rPr>
              <a:t>= {A  B, B  C, A  D</a:t>
            </a:r>
            <a:r>
              <a:rPr lang="en-US" dirty="0" smtClean="0">
                <a:sym typeface="Wingdings" pitchFamily="2" charset="2"/>
              </a:rPr>
              <a:t>}.</a:t>
            </a:r>
            <a:endParaRPr lang="en-US" dirty="0">
              <a:sym typeface="Wingdings" pitchFamily="2" charset="2"/>
            </a:endParaRPr>
          </a:p>
          <a:p>
            <a:pPr>
              <a:buFont typeface="Wingdings" pitchFamily="2" charset="2"/>
              <a:buNone/>
            </a:pPr>
            <a:r>
              <a:rPr lang="en-US" dirty="0">
                <a:sym typeface="Wingdings" pitchFamily="2" charset="2"/>
              </a:rPr>
              <a:t>Are </a:t>
            </a:r>
            <a:r>
              <a:rPr lang="en-US" dirty="0">
                <a:latin typeface="Script MT Bold" pitchFamily="66" charset="0"/>
                <a:sym typeface="Wingdings" pitchFamily="2" charset="2"/>
              </a:rPr>
              <a:t>F</a:t>
            </a:r>
            <a:r>
              <a:rPr lang="en-US" baseline="-25000" dirty="0">
                <a:sym typeface="Wingdings" pitchFamily="2" charset="2"/>
              </a:rPr>
              <a:t>1</a:t>
            </a:r>
            <a:r>
              <a:rPr lang="en-US" dirty="0">
                <a:sym typeface="Wingdings" pitchFamily="2" charset="2"/>
              </a:rPr>
              <a:t> &amp; </a:t>
            </a:r>
            <a:r>
              <a:rPr lang="en-US" dirty="0">
                <a:latin typeface="Script MT Bold" pitchFamily="66" charset="0"/>
                <a:sym typeface="Wingdings" pitchFamily="2" charset="2"/>
              </a:rPr>
              <a:t>F</a:t>
            </a:r>
            <a:r>
              <a:rPr lang="en-US" baseline="-25000" dirty="0">
                <a:sym typeface="Wingdings" pitchFamily="2" charset="2"/>
              </a:rPr>
              <a:t>2</a:t>
            </a:r>
            <a:r>
              <a:rPr lang="en-US" dirty="0">
                <a:sym typeface="Wingdings" pitchFamily="2" charset="2"/>
              </a:rPr>
              <a:t> equivalent?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5285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Solution</a:t>
            </a:r>
            <a:endParaRPr lang="en-US" sz="4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B1DC0-5783-4F1A-A0D1-155778440E93}" type="slidenum">
              <a:rPr lang="en-US" smtClean="0"/>
              <a:t>25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We find that the functional dependency A </a:t>
            </a:r>
            <a:r>
              <a:rPr lang="en-US" dirty="0">
                <a:sym typeface="Wingdings" pitchFamily="2" charset="2"/>
              </a:rPr>
              <a:t> D of </a:t>
            </a:r>
            <a:r>
              <a:rPr lang="en-US" dirty="0">
                <a:latin typeface="Script MT Bold" pitchFamily="66" charset="0"/>
                <a:sym typeface="Wingdings" pitchFamily="2" charset="2"/>
              </a:rPr>
              <a:t>F</a:t>
            </a:r>
            <a:r>
              <a:rPr lang="en-US" baseline="-25000" dirty="0">
                <a:sym typeface="Wingdings" pitchFamily="2" charset="2"/>
              </a:rPr>
              <a:t>2</a:t>
            </a:r>
            <a:r>
              <a:rPr lang="en-US" dirty="0">
                <a:sym typeface="Wingdings" pitchFamily="2" charset="2"/>
              </a:rPr>
              <a:t> can be inferred from </a:t>
            </a:r>
            <a:r>
              <a:rPr lang="en-US" dirty="0">
                <a:latin typeface="Script MT Bold" pitchFamily="66" charset="0"/>
                <a:sym typeface="Wingdings" pitchFamily="2" charset="2"/>
              </a:rPr>
              <a:t>F</a:t>
            </a:r>
            <a:r>
              <a:rPr lang="en-US" baseline="-25000" dirty="0">
                <a:sym typeface="Wingdings" pitchFamily="2" charset="2"/>
              </a:rPr>
              <a:t>1</a:t>
            </a:r>
            <a:r>
              <a:rPr lang="en-US" dirty="0">
                <a:sym typeface="Wingdings" pitchFamily="2" charset="2"/>
              </a:rPr>
              <a:t> because</a:t>
            </a:r>
          </a:p>
          <a:p>
            <a:r>
              <a:rPr lang="en-US" dirty="0">
                <a:sym typeface="Wingdings" pitchFamily="2" charset="2"/>
              </a:rPr>
              <a:t>A</a:t>
            </a:r>
            <a:r>
              <a:rPr lang="en-US" baseline="30000" dirty="0">
                <a:sym typeface="Wingdings" pitchFamily="2" charset="2"/>
              </a:rPr>
              <a:t>+</a:t>
            </a:r>
            <a:r>
              <a:rPr lang="en-US" dirty="0">
                <a:sym typeface="Wingdings" pitchFamily="2" charset="2"/>
              </a:rPr>
              <a:t> with respect to </a:t>
            </a:r>
            <a:r>
              <a:rPr lang="en-US" dirty="0">
                <a:latin typeface="Script MT Bold" pitchFamily="66" charset="0"/>
                <a:sym typeface="Wingdings" pitchFamily="2" charset="2"/>
              </a:rPr>
              <a:t>F</a:t>
            </a:r>
            <a:r>
              <a:rPr lang="en-US" baseline="-25000" dirty="0">
                <a:sym typeface="Wingdings" pitchFamily="2" charset="2"/>
              </a:rPr>
              <a:t>1</a:t>
            </a:r>
            <a:r>
              <a:rPr lang="en-US" dirty="0">
                <a:sym typeface="Wingdings" pitchFamily="2" charset="2"/>
              </a:rPr>
              <a:t> is</a:t>
            </a:r>
          </a:p>
          <a:p>
            <a:r>
              <a:rPr lang="en-US" dirty="0">
                <a:sym typeface="Wingdings" pitchFamily="2" charset="2"/>
              </a:rPr>
              <a:t>A</a:t>
            </a:r>
            <a:r>
              <a:rPr lang="en-US" baseline="30000" dirty="0">
                <a:sym typeface="Wingdings" pitchFamily="2" charset="2"/>
              </a:rPr>
              <a:t>+</a:t>
            </a:r>
            <a:r>
              <a:rPr lang="en-US" dirty="0">
                <a:sym typeface="Wingdings" pitchFamily="2" charset="2"/>
              </a:rPr>
              <a:t> := A = AB = ABC = ABCD which contains D and hence A  D can be inferred from </a:t>
            </a:r>
            <a:r>
              <a:rPr lang="en-US" dirty="0">
                <a:latin typeface="Script MT Bold" pitchFamily="66" charset="0"/>
                <a:sym typeface="Wingdings" pitchFamily="2" charset="2"/>
              </a:rPr>
              <a:t>F</a:t>
            </a:r>
            <a:r>
              <a:rPr lang="en-US" baseline="-25000" dirty="0">
                <a:sym typeface="Wingdings" pitchFamily="2" charset="2"/>
              </a:rPr>
              <a:t>1</a:t>
            </a:r>
            <a:r>
              <a:rPr lang="en-US" dirty="0">
                <a:sym typeface="Wingdings" pitchFamily="2" charset="2"/>
              </a:rPr>
              <a:t>.</a:t>
            </a:r>
          </a:p>
          <a:p>
            <a:r>
              <a:rPr lang="en-US" dirty="0">
                <a:sym typeface="Wingdings" pitchFamily="2" charset="2"/>
              </a:rPr>
              <a:t>Again AC  D of </a:t>
            </a:r>
            <a:r>
              <a:rPr lang="en-US" dirty="0">
                <a:latin typeface="Script MT Bold" pitchFamily="66" charset="0"/>
                <a:sym typeface="Wingdings" pitchFamily="2" charset="2"/>
              </a:rPr>
              <a:t>F</a:t>
            </a:r>
            <a:r>
              <a:rPr lang="en-US" baseline="-25000" dirty="0">
                <a:sym typeface="Wingdings" pitchFamily="2" charset="2"/>
              </a:rPr>
              <a:t>1</a:t>
            </a:r>
            <a:r>
              <a:rPr lang="en-US" dirty="0">
                <a:sym typeface="Wingdings" pitchFamily="2" charset="2"/>
              </a:rPr>
              <a:t> can be inferred from </a:t>
            </a:r>
            <a:r>
              <a:rPr lang="en-US" dirty="0">
                <a:latin typeface="Script MT Bold" pitchFamily="66" charset="0"/>
                <a:sym typeface="Wingdings" pitchFamily="2" charset="2"/>
              </a:rPr>
              <a:t>F</a:t>
            </a:r>
            <a:r>
              <a:rPr lang="en-US" baseline="-25000" dirty="0">
                <a:sym typeface="Wingdings" pitchFamily="2" charset="2"/>
              </a:rPr>
              <a:t>2</a:t>
            </a:r>
            <a:r>
              <a:rPr lang="en-US" dirty="0">
                <a:sym typeface="Wingdings" pitchFamily="2" charset="2"/>
              </a:rPr>
              <a:t> because</a:t>
            </a:r>
          </a:p>
          <a:p>
            <a:r>
              <a:rPr lang="en-US" dirty="0">
                <a:sym typeface="Wingdings" pitchFamily="2" charset="2"/>
              </a:rPr>
              <a:t>(AC)</a:t>
            </a:r>
            <a:r>
              <a:rPr lang="en-US" baseline="30000" dirty="0">
                <a:sym typeface="Wingdings" pitchFamily="2" charset="2"/>
              </a:rPr>
              <a:t>+</a:t>
            </a:r>
            <a:r>
              <a:rPr lang="en-US" dirty="0">
                <a:sym typeface="Wingdings" pitchFamily="2" charset="2"/>
              </a:rPr>
              <a:t> with respect to </a:t>
            </a:r>
            <a:r>
              <a:rPr lang="en-US" dirty="0">
                <a:latin typeface="Script MT Bold" pitchFamily="66" charset="0"/>
                <a:sym typeface="Wingdings" pitchFamily="2" charset="2"/>
              </a:rPr>
              <a:t>F</a:t>
            </a:r>
            <a:r>
              <a:rPr lang="en-US" baseline="-25000" dirty="0">
                <a:sym typeface="Wingdings" pitchFamily="2" charset="2"/>
              </a:rPr>
              <a:t>2</a:t>
            </a:r>
            <a:r>
              <a:rPr lang="en-US" dirty="0">
                <a:sym typeface="Wingdings" pitchFamily="2" charset="2"/>
              </a:rPr>
              <a:t> is </a:t>
            </a:r>
          </a:p>
          <a:p>
            <a:r>
              <a:rPr lang="en-US" dirty="0">
                <a:sym typeface="Wingdings" pitchFamily="2" charset="2"/>
              </a:rPr>
              <a:t>(AC)</a:t>
            </a:r>
            <a:r>
              <a:rPr lang="en-US" baseline="30000" dirty="0">
                <a:sym typeface="Wingdings" pitchFamily="2" charset="2"/>
              </a:rPr>
              <a:t>+</a:t>
            </a:r>
            <a:r>
              <a:rPr lang="en-US" dirty="0">
                <a:sym typeface="Wingdings" pitchFamily="2" charset="2"/>
              </a:rPr>
              <a:t> := AC = ABC = ABCD which contains D and hence AC  D of </a:t>
            </a:r>
            <a:r>
              <a:rPr lang="en-US" dirty="0">
                <a:latin typeface="Script MT Bold" pitchFamily="66" charset="0"/>
                <a:sym typeface="Wingdings" pitchFamily="2" charset="2"/>
              </a:rPr>
              <a:t>F</a:t>
            </a:r>
            <a:r>
              <a:rPr lang="en-US" baseline="-25000" dirty="0">
                <a:sym typeface="Wingdings" pitchFamily="2" charset="2"/>
              </a:rPr>
              <a:t>1</a:t>
            </a:r>
            <a:r>
              <a:rPr lang="en-US" dirty="0">
                <a:sym typeface="Wingdings" pitchFamily="2" charset="2"/>
              </a:rPr>
              <a:t> can be inferred from </a:t>
            </a:r>
            <a:r>
              <a:rPr lang="en-US" dirty="0">
                <a:latin typeface="Script MT Bold" pitchFamily="66" charset="0"/>
                <a:sym typeface="Wingdings" pitchFamily="2" charset="2"/>
              </a:rPr>
              <a:t>F</a:t>
            </a:r>
            <a:r>
              <a:rPr lang="en-US" baseline="-25000" dirty="0">
                <a:sym typeface="Wingdings" pitchFamily="2" charset="2"/>
              </a:rPr>
              <a:t>2</a:t>
            </a:r>
            <a:r>
              <a:rPr lang="en-US" dirty="0">
                <a:sym typeface="Wingdings" pitchFamily="2" charset="2"/>
              </a:rPr>
              <a:t>.</a:t>
            </a:r>
          </a:p>
          <a:p>
            <a:r>
              <a:rPr lang="en-US" dirty="0">
                <a:sym typeface="Wingdings" pitchFamily="2" charset="2"/>
              </a:rPr>
              <a:t>Hence </a:t>
            </a:r>
            <a:r>
              <a:rPr lang="en-US" dirty="0">
                <a:latin typeface="Script MT Bold" pitchFamily="66" charset="0"/>
                <a:sym typeface="Wingdings" pitchFamily="2" charset="2"/>
              </a:rPr>
              <a:t>F</a:t>
            </a:r>
            <a:r>
              <a:rPr lang="en-US" baseline="-25000" dirty="0">
                <a:sym typeface="Wingdings" pitchFamily="2" charset="2"/>
              </a:rPr>
              <a:t>1</a:t>
            </a:r>
            <a:r>
              <a:rPr lang="en-US" dirty="0">
                <a:sym typeface="Wingdings" pitchFamily="2" charset="2"/>
              </a:rPr>
              <a:t> and </a:t>
            </a:r>
            <a:r>
              <a:rPr lang="en-US" dirty="0">
                <a:latin typeface="Script MT Bold" pitchFamily="66" charset="0"/>
                <a:sym typeface="Wingdings" pitchFamily="2" charset="2"/>
              </a:rPr>
              <a:t>F</a:t>
            </a:r>
            <a:r>
              <a:rPr lang="en-US" baseline="-25000" dirty="0">
                <a:sym typeface="Wingdings" pitchFamily="2" charset="2"/>
              </a:rPr>
              <a:t>2</a:t>
            </a:r>
            <a:r>
              <a:rPr lang="en-US" dirty="0">
                <a:sym typeface="Wingdings" pitchFamily="2" charset="2"/>
              </a:rPr>
              <a:t> are equivalent. 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6808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Example</a:t>
            </a:r>
            <a:endParaRPr lang="en-US" sz="4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B1DC0-5783-4F1A-A0D1-155778440E93}" type="slidenum">
              <a:rPr lang="en-US" smtClean="0"/>
              <a:t>26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R(A, B, C)</a:t>
            </a:r>
          </a:p>
          <a:p>
            <a:r>
              <a:rPr lang="en-US" dirty="0">
                <a:latin typeface="Script MT Bold" pitchFamily="66" charset="0"/>
              </a:rPr>
              <a:t>F</a:t>
            </a:r>
            <a:r>
              <a:rPr lang="en-US" baseline="-25000" dirty="0"/>
              <a:t>1 </a:t>
            </a:r>
            <a:r>
              <a:rPr lang="en-US" dirty="0"/>
              <a:t>= {A </a:t>
            </a:r>
            <a:r>
              <a:rPr lang="en-US" dirty="0">
                <a:sym typeface="Wingdings" pitchFamily="2" charset="2"/>
              </a:rPr>
              <a:t> B, A  C} &amp; </a:t>
            </a:r>
            <a:r>
              <a:rPr lang="en-US" dirty="0">
                <a:latin typeface="Script MT Bold" pitchFamily="66" charset="0"/>
                <a:sym typeface="Wingdings" pitchFamily="2" charset="2"/>
              </a:rPr>
              <a:t>F</a:t>
            </a:r>
            <a:r>
              <a:rPr lang="en-US" baseline="-25000" dirty="0">
                <a:sym typeface="Wingdings" pitchFamily="2" charset="2"/>
              </a:rPr>
              <a:t>2</a:t>
            </a:r>
            <a:r>
              <a:rPr lang="en-US" dirty="0">
                <a:sym typeface="Wingdings" pitchFamily="2" charset="2"/>
              </a:rPr>
              <a:t> = {A  B, B  C</a:t>
            </a:r>
            <a:r>
              <a:rPr lang="en-US" dirty="0" smtClean="0">
                <a:sym typeface="Wingdings" pitchFamily="2" charset="2"/>
              </a:rPr>
              <a:t>}</a:t>
            </a:r>
          </a:p>
          <a:p>
            <a:r>
              <a:rPr lang="en-US" dirty="0">
                <a:sym typeface="Wingdings" pitchFamily="2" charset="2"/>
              </a:rPr>
              <a:t>Are </a:t>
            </a:r>
            <a:r>
              <a:rPr lang="en-US" dirty="0">
                <a:latin typeface="Script MT Bold" pitchFamily="66" charset="0"/>
                <a:sym typeface="Wingdings" pitchFamily="2" charset="2"/>
              </a:rPr>
              <a:t>F</a:t>
            </a:r>
            <a:r>
              <a:rPr lang="en-US" baseline="-25000" dirty="0">
                <a:sym typeface="Wingdings" pitchFamily="2" charset="2"/>
              </a:rPr>
              <a:t>1</a:t>
            </a:r>
            <a:r>
              <a:rPr lang="en-US" dirty="0">
                <a:sym typeface="Wingdings" pitchFamily="2" charset="2"/>
              </a:rPr>
              <a:t> &amp; </a:t>
            </a:r>
            <a:r>
              <a:rPr lang="en-US" dirty="0">
                <a:latin typeface="Script MT Bold" pitchFamily="66" charset="0"/>
                <a:sym typeface="Wingdings" pitchFamily="2" charset="2"/>
              </a:rPr>
              <a:t>F</a:t>
            </a:r>
            <a:r>
              <a:rPr lang="en-US" baseline="-25000" dirty="0">
                <a:sym typeface="Wingdings" pitchFamily="2" charset="2"/>
              </a:rPr>
              <a:t>2</a:t>
            </a:r>
            <a:r>
              <a:rPr lang="en-US" dirty="0">
                <a:sym typeface="Wingdings" pitchFamily="2" charset="2"/>
              </a:rPr>
              <a:t> equivalent</a:t>
            </a:r>
            <a:r>
              <a:rPr lang="en-US" dirty="0" smtClean="0">
                <a:sym typeface="Wingdings" pitchFamily="2" charset="2"/>
              </a:rPr>
              <a:t>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8044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Solution</a:t>
            </a:r>
            <a:endParaRPr lang="en-US" sz="4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B1DC0-5783-4F1A-A0D1-155778440E93}" type="slidenum">
              <a:rPr lang="en-US" smtClean="0"/>
              <a:t>27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The first functional dependency in the two sets are the same</a:t>
            </a:r>
          </a:p>
          <a:p>
            <a:r>
              <a:rPr lang="en-US" dirty="0" smtClean="0"/>
              <a:t>Consider A </a:t>
            </a:r>
            <a:r>
              <a:rPr lang="en-US" dirty="0" smtClean="0">
                <a:sym typeface="Wingdings" pitchFamily="2" charset="2"/>
              </a:rPr>
              <a:t> C of </a:t>
            </a:r>
            <a:r>
              <a:rPr lang="en-US" dirty="0">
                <a:latin typeface="Script MT Bold" pitchFamily="66" charset="0"/>
                <a:sym typeface="Wingdings" pitchFamily="2" charset="2"/>
              </a:rPr>
              <a:t>F</a:t>
            </a:r>
            <a:r>
              <a:rPr lang="en-US" baseline="-25000" dirty="0" smtClean="0">
                <a:sym typeface="Wingdings" pitchFamily="2" charset="2"/>
              </a:rPr>
              <a:t>1</a:t>
            </a:r>
          </a:p>
          <a:p>
            <a:r>
              <a:rPr lang="en-US" dirty="0" smtClean="0">
                <a:sym typeface="Wingdings" pitchFamily="2" charset="2"/>
              </a:rPr>
              <a:t>Compute </a:t>
            </a:r>
            <a:r>
              <a:rPr lang="en-US" dirty="0" smtClean="0"/>
              <a:t>A</a:t>
            </a:r>
            <a:r>
              <a:rPr lang="en-US" baseline="30000" dirty="0" smtClean="0"/>
              <a:t>+</a:t>
            </a:r>
            <a:r>
              <a:rPr lang="en-US" dirty="0" smtClean="0"/>
              <a:t> w.r.t. </a:t>
            </a:r>
            <a:r>
              <a:rPr lang="en-US" dirty="0">
                <a:latin typeface="Script MT Bold" pitchFamily="66" charset="0"/>
                <a:sym typeface="Wingdings" pitchFamily="2" charset="2"/>
              </a:rPr>
              <a:t>F</a:t>
            </a:r>
            <a:r>
              <a:rPr lang="en-US" baseline="-25000" dirty="0" smtClean="0"/>
              <a:t>2</a:t>
            </a:r>
            <a:r>
              <a:rPr lang="en-US" dirty="0" smtClean="0"/>
              <a:t> </a:t>
            </a:r>
          </a:p>
          <a:p>
            <a:r>
              <a:rPr lang="en-US" dirty="0" smtClean="0"/>
              <a:t>A</a:t>
            </a:r>
            <a:r>
              <a:rPr lang="en-US" baseline="30000" dirty="0" smtClean="0"/>
              <a:t>+</a:t>
            </a:r>
            <a:r>
              <a:rPr lang="en-US" dirty="0" smtClean="0"/>
              <a:t> = ABC </a:t>
            </a:r>
          </a:p>
          <a:p>
            <a:r>
              <a:rPr lang="en-US" dirty="0" smtClean="0"/>
              <a:t>hence A </a:t>
            </a:r>
            <a:r>
              <a:rPr lang="en-US" dirty="0" smtClean="0">
                <a:sym typeface="Wingdings" pitchFamily="2" charset="2"/>
              </a:rPr>
              <a:t> C can be derived from </a:t>
            </a:r>
            <a:r>
              <a:rPr lang="en-US" dirty="0">
                <a:latin typeface="Script MT Bold" pitchFamily="66" charset="0"/>
                <a:sym typeface="Wingdings" pitchFamily="2" charset="2"/>
              </a:rPr>
              <a:t>F</a:t>
            </a:r>
            <a:r>
              <a:rPr lang="en-US" baseline="-25000" dirty="0" smtClean="0">
                <a:sym typeface="Wingdings" pitchFamily="2" charset="2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26324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Solution</a:t>
            </a:r>
            <a:endParaRPr lang="en-US" sz="4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B1DC0-5783-4F1A-A0D1-155778440E93}" type="slidenum">
              <a:rPr lang="en-US" smtClean="0"/>
              <a:t>28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Consider B </a:t>
            </a:r>
            <a:r>
              <a:rPr lang="en-US" dirty="0" smtClean="0">
                <a:sym typeface="Wingdings" pitchFamily="2" charset="2"/>
              </a:rPr>
              <a:t> C of </a:t>
            </a:r>
            <a:r>
              <a:rPr lang="en-US" dirty="0">
                <a:latin typeface="Script MT Bold" pitchFamily="66" charset="0"/>
                <a:sym typeface="Wingdings" pitchFamily="2" charset="2"/>
              </a:rPr>
              <a:t>F</a:t>
            </a:r>
            <a:r>
              <a:rPr lang="en-US" baseline="-25000" dirty="0" smtClean="0">
                <a:sym typeface="Wingdings" pitchFamily="2" charset="2"/>
              </a:rPr>
              <a:t>2</a:t>
            </a:r>
          </a:p>
          <a:p>
            <a:r>
              <a:rPr lang="en-US" dirty="0" smtClean="0">
                <a:sym typeface="Wingdings" pitchFamily="2" charset="2"/>
              </a:rPr>
              <a:t>Compute B</a:t>
            </a:r>
            <a:r>
              <a:rPr lang="en-US" baseline="30000" dirty="0" smtClean="0">
                <a:sym typeface="Wingdings" pitchFamily="2" charset="2"/>
              </a:rPr>
              <a:t>+</a:t>
            </a:r>
            <a:r>
              <a:rPr lang="en-US" dirty="0" smtClean="0">
                <a:sym typeface="Wingdings" pitchFamily="2" charset="2"/>
              </a:rPr>
              <a:t> w.r.t. </a:t>
            </a:r>
            <a:r>
              <a:rPr lang="en-US" dirty="0">
                <a:latin typeface="Script MT Bold" pitchFamily="66" charset="0"/>
                <a:sym typeface="Wingdings" pitchFamily="2" charset="2"/>
              </a:rPr>
              <a:t>F</a:t>
            </a:r>
            <a:r>
              <a:rPr lang="en-US" baseline="-25000" dirty="0" smtClean="0">
                <a:sym typeface="Wingdings" pitchFamily="2" charset="2"/>
              </a:rPr>
              <a:t>1</a:t>
            </a:r>
          </a:p>
          <a:p>
            <a:r>
              <a:rPr lang="en-US" dirty="0" smtClean="0">
                <a:sym typeface="Wingdings" pitchFamily="2" charset="2"/>
              </a:rPr>
              <a:t>B</a:t>
            </a:r>
            <a:r>
              <a:rPr lang="en-US" baseline="30000" dirty="0" smtClean="0">
                <a:sym typeface="Wingdings" pitchFamily="2" charset="2"/>
              </a:rPr>
              <a:t>+ </a:t>
            </a:r>
            <a:r>
              <a:rPr lang="en-US" dirty="0" smtClean="0">
                <a:sym typeface="Wingdings" pitchFamily="2" charset="2"/>
              </a:rPr>
              <a:t>= B which does not contain C</a:t>
            </a:r>
          </a:p>
          <a:p>
            <a:r>
              <a:rPr lang="en-US" dirty="0" smtClean="0">
                <a:sym typeface="Wingdings" pitchFamily="2" charset="2"/>
              </a:rPr>
              <a:t>Hence B  C cannot be inferred from </a:t>
            </a:r>
            <a:r>
              <a:rPr lang="en-US" dirty="0">
                <a:latin typeface="Script MT Bold" pitchFamily="66" charset="0"/>
                <a:sym typeface="Wingdings" pitchFamily="2" charset="2"/>
              </a:rPr>
              <a:t>F</a:t>
            </a:r>
            <a:r>
              <a:rPr lang="en-US" baseline="-25000" dirty="0" smtClean="0">
                <a:sym typeface="Wingdings" pitchFamily="2" charset="2"/>
              </a:rPr>
              <a:t>1</a:t>
            </a:r>
          </a:p>
          <a:p>
            <a:r>
              <a:rPr lang="en-US" dirty="0" smtClean="0">
                <a:sym typeface="Wingdings" pitchFamily="2" charset="2"/>
              </a:rPr>
              <a:t>So </a:t>
            </a:r>
            <a:r>
              <a:rPr lang="en-US" dirty="0" smtClean="0">
                <a:latin typeface="Script MT Bold" pitchFamily="66" charset="0"/>
                <a:sym typeface="Wingdings" pitchFamily="2" charset="2"/>
              </a:rPr>
              <a:t>F</a:t>
            </a:r>
            <a:r>
              <a:rPr lang="en-US" baseline="-25000" dirty="0" smtClean="0">
                <a:sym typeface="Wingdings" pitchFamily="2" charset="2"/>
              </a:rPr>
              <a:t>1</a:t>
            </a:r>
            <a:r>
              <a:rPr lang="en-US" dirty="0" smtClean="0">
                <a:sym typeface="Wingdings" pitchFamily="2" charset="2"/>
              </a:rPr>
              <a:t> and </a:t>
            </a:r>
            <a:r>
              <a:rPr lang="en-US" dirty="0" smtClean="0">
                <a:latin typeface="Script MT Bold" pitchFamily="66" charset="0"/>
                <a:sym typeface="Wingdings" pitchFamily="2" charset="2"/>
              </a:rPr>
              <a:t>F</a:t>
            </a:r>
            <a:r>
              <a:rPr lang="en-US" baseline="-25000" dirty="0" smtClean="0">
                <a:sym typeface="Wingdings" pitchFamily="2" charset="2"/>
              </a:rPr>
              <a:t>2</a:t>
            </a:r>
            <a:r>
              <a:rPr lang="en-US" dirty="0" smtClean="0">
                <a:sym typeface="Wingdings" pitchFamily="2" charset="2"/>
              </a:rPr>
              <a:t> are not equivalent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882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Example</a:t>
            </a:r>
            <a:endParaRPr lang="en-US" sz="4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B1DC0-5783-4F1A-A0D1-155778440E93}" type="slidenum">
              <a:rPr lang="en-US" smtClean="0"/>
              <a:t>29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en-US" dirty="0" smtClean="0"/>
              <a:t>R(A, B, C, D, E, H),</a:t>
            </a:r>
          </a:p>
          <a:p>
            <a:pPr>
              <a:buFont typeface="Wingdings" pitchFamily="2" charset="2"/>
              <a:buNone/>
            </a:pPr>
            <a:r>
              <a:rPr lang="en-US" dirty="0" smtClean="0">
                <a:latin typeface="Script MT Bold" pitchFamily="66" charset="0"/>
              </a:rPr>
              <a:t>F</a:t>
            </a:r>
            <a:r>
              <a:rPr lang="en-US" baseline="-25000" dirty="0" smtClean="0"/>
              <a:t>1</a:t>
            </a:r>
            <a:r>
              <a:rPr lang="en-US" dirty="0" smtClean="0"/>
              <a:t> </a:t>
            </a:r>
            <a:r>
              <a:rPr lang="en-US" dirty="0"/>
              <a:t>= {A </a:t>
            </a:r>
            <a:r>
              <a:rPr lang="en-US" dirty="0">
                <a:sym typeface="Wingdings" pitchFamily="2" charset="2"/>
              </a:rPr>
              <a:t> C, AC  D, E  AD, E  H</a:t>
            </a:r>
            <a:r>
              <a:rPr lang="en-US" dirty="0" smtClean="0">
                <a:sym typeface="Wingdings" pitchFamily="2" charset="2"/>
              </a:rPr>
              <a:t>},</a:t>
            </a:r>
            <a:endParaRPr lang="en-US" dirty="0">
              <a:sym typeface="Wingdings" pitchFamily="2" charset="2"/>
            </a:endParaRPr>
          </a:p>
          <a:p>
            <a:pPr>
              <a:buFont typeface="Wingdings" pitchFamily="2" charset="2"/>
              <a:buNone/>
            </a:pPr>
            <a:r>
              <a:rPr lang="en-US" dirty="0">
                <a:latin typeface="Script MT Bold" pitchFamily="66" charset="0"/>
              </a:rPr>
              <a:t>F</a:t>
            </a:r>
            <a:r>
              <a:rPr lang="en-US" baseline="-25000" dirty="0"/>
              <a:t>2</a:t>
            </a:r>
            <a:r>
              <a:rPr lang="en-US" dirty="0"/>
              <a:t> = {A </a:t>
            </a:r>
            <a:r>
              <a:rPr lang="en-US" dirty="0">
                <a:sym typeface="Wingdings" pitchFamily="2" charset="2"/>
              </a:rPr>
              <a:t> CD, E  AH</a:t>
            </a:r>
            <a:r>
              <a:rPr lang="en-US" dirty="0" smtClean="0">
                <a:sym typeface="Wingdings" pitchFamily="2" charset="2"/>
              </a:rPr>
              <a:t>}.</a:t>
            </a:r>
          </a:p>
          <a:p>
            <a:pPr>
              <a:buNone/>
            </a:pPr>
            <a:r>
              <a:rPr lang="en-US" dirty="0">
                <a:sym typeface="Wingdings" pitchFamily="2" charset="2"/>
              </a:rPr>
              <a:t>Are </a:t>
            </a:r>
            <a:r>
              <a:rPr lang="en-US" dirty="0">
                <a:latin typeface="Script MT Bold" pitchFamily="66" charset="0"/>
                <a:sym typeface="Wingdings" pitchFamily="2" charset="2"/>
              </a:rPr>
              <a:t>F</a:t>
            </a:r>
            <a:r>
              <a:rPr lang="en-US" baseline="-25000" dirty="0">
                <a:sym typeface="Wingdings" pitchFamily="2" charset="2"/>
              </a:rPr>
              <a:t>1</a:t>
            </a:r>
            <a:r>
              <a:rPr lang="en-US" dirty="0">
                <a:sym typeface="Wingdings" pitchFamily="2" charset="2"/>
              </a:rPr>
              <a:t> &amp; </a:t>
            </a:r>
            <a:r>
              <a:rPr lang="en-US" dirty="0">
                <a:latin typeface="Script MT Bold" pitchFamily="66" charset="0"/>
                <a:sym typeface="Wingdings" pitchFamily="2" charset="2"/>
              </a:rPr>
              <a:t>F</a:t>
            </a:r>
            <a:r>
              <a:rPr lang="en-US" baseline="-25000" dirty="0">
                <a:sym typeface="Wingdings" pitchFamily="2" charset="2"/>
              </a:rPr>
              <a:t>2</a:t>
            </a:r>
            <a:r>
              <a:rPr lang="en-US" dirty="0">
                <a:sym typeface="Wingdings" pitchFamily="2" charset="2"/>
              </a:rPr>
              <a:t> equivalent</a:t>
            </a:r>
            <a:r>
              <a:rPr lang="en-US" dirty="0" smtClean="0">
                <a:sym typeface="Wingdings" pitchFamily="2" charset="2"/>
              </a:rPr>
              <a:t>?</a:t>
            </a:r>
          </a:p>
          <a:p>
            <a:pPr>
              <a:buFont typeface="Wingdings" pitchFamily="2" charset="2"/>
              <a:buNone/>
            </a:pPr>
            <a:endParaRPr lang="en-US" dirty="0">
              <a:sym typeface="Wingdings" pitchFamily="2" charset="2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8566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Solution</a:t>
            </a:r>
            <a:endParaRPr lang="en-US" sz="4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B1DC0-5783-4F1A-A0D1-155778440E93}" type="slidenum">
              <a:rPr lang="en-US" smtClean="0"/>
              <a:t>30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 first functional dependency of the two sets are the same.</a:t>
            </a:r>
          </a:p>
          <a:p>
            <a:r>
              <a:rPr lang="en-IN" dirty="0" smtClean="0"/>
              <a:t>Consider ABCD </a:t>
            </a:r>
            <a:r>
              <a:rPr lang="en-IN" dirty="0" smtClean="0">
                <a:sym typeface="Wingdings" pitchFamily="2" charset="2"/>
              </a:rPr>
              <a:t> E of </a:t>
            </a:r>
            <a:r>
              <a:rPr lang="en-IN" dirty="0" smtClean="0">
                <a:latin typeface="Script MT Bold" pitchFamily="66" charset="0"/>
                <a:sym typeface="Wingdings" pitchFamily="2" charset="2"/>
              </a:rPr>
              <a:t>F</a:t>
            </a:r>
            <a:r>
              <a:rPr lang="en-IN" baseline="-25000" dirty="0" smtClean="0">
                <a:sym typeface="Wingdings" pitchFamily="2" charset="2"/>
              </a:rPr>
              <a:t>1</a:t>
            </a:r>
          </a:p>
          <a:p>
            <a:r>
              <a:rPr lang="en-IN" dirty="0" smtClean="0"/>
              <a:t>(ABCD</a:t>
            </a:r>
            <a:r>
              <a:rPr lang="en-IN" dirty="0"/>
              <a:t>)</a:t>
            </a:r>
            <a:r>
              <a:rPr lang="en-IN" baseline="30000" dirty="0"/>
              <a:t>+</a:t>
            </a:r>
            <a:r>
              <a:rPr lang="en-IN" dirty="0"/>
              <a:t> with respect to </a:t>
            </a:r>
            <a:r>
              <a:rPr lang="en-IN" dirty="0">
                <a:latin typeface="Script MT Bold" pitchFamily="66" charset="0"/>
                <a:sym typeface="Wingdings" pitchFamily="2" charset="2"/>
              </a:rPr>
              <a:t>F</a:t>
            </a:r>
            <a:r>
              <a:rPr lang="en-IN" baseline="-25000" dirty="0" smtClean="0"/>
              <a:t>2</a:t>
            </a:r>
            <a:r>
              <a:rPr lang="en-IN" dirty="0" smtClean="0"/>
              <a:t> </a:t>
            </a:r>
          </a:p>
          <a:p>
            <a:r>
              <a:rPr lang="en-IN" dirty="0" smtClean="0"/>
              <a:t>= </a:t>
            </a:r>
            <a:r>
              <a:rPr lang="en-IN" dirty="0"/>
              <a:t>ABCDE which contains E </a:t>
            </a:r>
          </a:p>
          <a:p>
            <a:r>
              <a:rPr lang="en-IN" dirty="0"/>
              <a:t>H</a:t>
            </a:r>
            <a:r>
              <a:rPr lang="en-IN" dirty="0" smtClean="0"/>
              <a:t>ence </a:t>
            </a:r>
            <a:r>
              <a:rPr lang="en-IN" dirty="0"/>
              <a:t>ABCD </a:t>
            </a:r>
            <a:r>
              <a:rPr lang="en-IN" dirty="0">
                <a:sym typeface="Wingdings"/>
              </a:rPr>
              <a:t></a:t>
            </a:r>
            <a:r>
              <a:rPr lang="en-IN" dirty="0"/>
              <a:t> E can be inferred from </a:t>
            </a:r>
            <a:r>
              <a:rPr lang="en-IN" dirty="0">
                <a:latin typeface="Script MT Bold" pitchFamily="66" charset="0"/>
                <a:sym typeface="Wingdings" pitchFamily="2" charset="2"/>
              </a:rPr>
              <a:t>F</a:t>
            </a:r>
            <a:r>
              <a:rPr lang="en-IN" baseline="-25000" dirty="0" smtClean="0"/>
              <a:t>2</a:t>
            </a:r>
            <a:r>
              <a:rPr lang="en-IN" dirty="0"/>
              <a:t>. </a:t>
            </a:r>
            <a:endParaRPr lang="en-US" dirty="0"/>
          </a:p>
          <a:p>
            <a:pPr marL="13716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8109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Solution</a:t>
            </a:r>
            <a:endParaRPr lang="en-US" sz="4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B1DC0-5783-4F1A-A0D1-155778440E93}" type="slidenum">
              <a:rPr lang="en-US" smtClean="0"/>
              <a:t>31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IN" dirty="0"/>
              <a:t>Consider EF </a:t>
            </a:r>
            <a:r>
              <a:rPr lang="en-IN" dirty="0">
                <a:sym typeface="Wingdings" pitchFamily="2" charset="2"/>
              </a:rPr>
              <a:t> G of </a:t>
            </a:r>
            <a:r>
              <a:rPr lang="en-IN" dirty="0">
                <a:latin typeface="Script MT Bold" pitchFamily="66" charset="0"/>
                <a:sym typeface="Wingdings" pitchFamily="2" charset="2"/>
              </a:rPr>
              <a:t>F</a:t>
            </a:r>
            <a:r>
              <a:rPr lang="en-IN" dirty="0">
                <a:sym typeface="Wingdings" pitchFamily="2" charset="2"/>
              </a:rPr>
              <a:t>1</a:t>
            </a:r>
          </a:p>
          <a:p>
            <a:r>
              <a:rPr lang="en-IN" dirty="0"/>
              <a:t>(EF)</a:t>
            </a:r>
            <a:r>
              <a:rPr lang="en-IN" baseline="30000" dirty="0"/>
              <a:t>+</a:t>
            </a:r>
            <a:r>
              <a:rPr lang="en-IN" dirty="0"/>
              <a:t> with respect to </a:t>
            </a:r>
            <a:r>
              <a:rPr lang="en-IN" dirty="0">
                <a:latin typeface="Script MT Bold" pitchFamily="66" charset="0"/>
                <a:sym typeface="Wingdings" pitchFamily="2" charset="2"/>
              </a:rPr>
              <a:t>F</a:t>
            </a:r>
            <a:r>
              <a:rPr lang="en-IN" baseline="-25000" dirty="0"/>
              <a:t>2</a:t>
            </a:r>
            <a:r>
              <a:rPr lang="en-IN" dirty="0"/>
              <a:t> </a:t>
            </a:r>
          </a:p>
          <a:p>
            <a:r>
              <a:rPr lang="en-IN" dirty="0"/>
              <a:t>= EFGH which contains G </a:t>
            </a:r>
          </a:p>
          <a:p>
            <a:r>
              <a:rPr lang="en-IN" dirty="0"/>
              <a:t>hence EF </a:t>
            </a:r>
            <a:r>
              <a:rPr lang="en-IN" dirty="0">
                <a:sym typeface="Wingdings"/>
              </a:rPr>
              <a:t></a:t>
            </a:r>
            <a:r>
              <a:rPr lang="en-IN" dirty="0"/>
              <a:t> G can be inferred from </a:t>
            </a:r>
            <a:r>
              <a:rPr lang="en-IN" dirty="0">
                <a:latin typeface="Script MT Bold" pitchFamily="66" charset="0"/>
                <a:sym typeface="Wingdings" pitchFamily="2" charset="2"/>
              </a:rPr>
              <a:t>F</a:t>
            </a:r>
            <a:r>
              <a:rPr lang="en-IN" baseline="-25000" dirty="0"/>
              <a:t>2</a:t>
            </a:r>
            <a:r>
              <a:rPr lang="en-IN" dirty="0"/>
              <a:t>.</a:t>
            </a:r>
            <a:endParaRPr lang="en-US" dirty="0"/>
          </a:p>
          <a:p>
            <a:pPr marL="13716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5515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Solution</a:t>
            </a:r>
            <a:endParaRPr lang="en-US" sz="4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B1DC0-5783-4F1A-A0D1-155778440E93}" type="slidenum">
              <a:rPr lang="en-US" smtClean="0"/>
              <a:t>32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IN" dirty="0"/>
              <a:t>Consider ABCDF </a:t>
            </a:r>
            <a:r>
              <a:rPr lang="en-IN" dirty="0">
                <a:sym typeface="Wingdings" pitchFamily="2" charset="2"/>
              </a:rPr>
              <a:t> EG of </a:t>
            </a:r>
            <a:r>
              <a:rPr lang="en-IN" dirty="0">
                <a:latin typeface="Script MT Bold" pitchFamily="66" charset="0"/>
              </a:rPr>
              <a:t>F</a:t>
            </a:r>
            <a:r>
              <a:rPr lang="en-IN" baseline="-25000" dirty="0" smtClean="0">
                <a:sym typeface="Wingdings" pitchFamily="2" charset="2"/>
              </a:rPr>
              <a:t>1</a:t>
            </a:r>
            <a:endParaRPr lang="en-IN" baseline="-25000" dirty="0">
              <a:sym typeface="Wingdings" pitchFamily="2" charset="2"/>
            </a:endParaRPr>
          </a:p>
          <a:p>
            <a:r>
              <a:rPr lang="en-IN" dirty="0"/>
              <a:t>(ABCDF)</a:t>
            </a:r>
            <a:r>
              <a:rPr lang="en-IN" baseline="30000" dirty="0"/>
              <a:t>+</a:t>
            </a:r>
            <a:r>
              <a:rPr lang="en-IN" dirty="0"/>
              <a:t> with respect to </a:t>
            </a:r>
            <a:r>
              <a:rPr lang="en-IN" dirty="0">
                <a:latin typeface="Script MT Bold" pitchFamily="66" charset="0"/>
              </a:rPr>
              <a:t>F</a:t>
            </a:r>
            <a:r>
              <a:rPr lang="en-IN" baseline="-25000" dirty="0" smtClean="0"/>
              <a:t>2</a:t>
            </a:r>
            <a:r>
              <a:rPr lang="en-IN" dirty="0" smtClean="0"/>
              <a:t> </a:t>
            </a:r>
          </a:p>
          <a:p>
            <a:r>
              <a:rPr lang="en-IN" dirty="0" smtClean="0"/>
              <a:t>= </a:t>
            </a:r>
            <a:r>
              <a:rPr lang="en-IN" dirty="0"/>
              <a:t>ABCDEFGH which contains EG </a:t>
            </a:r>
          </a:p>
          <a:p>
            <a:r>
              <a:rPr lang="en-IN" dirty="0"/>
              <a:t>H</a:t>
            </a:r>
            <a:r>
              <a:rPr lang="en-IN" dirty="0" smtClean="0"/>
              <a:t>ence </a:t>
            </a:r>
            <a:r>
              <a:rPr lang="en-IN" dirty="0"/>
              <a:t>ABCDF </a:t>
            </a:r>
            <a:r>
              <a:rPr lang="en-IN" dirty="0">
                <a:sym typeface="Wingdings"/>
              </a:rPr>
              <a:t></a:t>
            </a:r>
            <a:r>
              <a:rPr lang="en-IN" dirty="0"/>
              <a:t> EG can be inferred from </a:t>
            </a:r>
            <a:r>
              <a:rPr lang="en-IN" dirty="0">
                <a:latin typeface="Script MT Bold" pitchFamily="66" charset="0"/>
              </a:rPr>
              <a:t>F</a:t>
            </a:r>
            <a:r>
              <a:rPr lang="en-IN" baseline="-25000" dirty="0" smtClean="0"/>
              <a:t>2</a:t>
            </a:r>
            <a:r>
              <a:rPr lang="en-IN" dirty="0"/>
              <a:t>.</a:t>
            </a:r>
            <a:endParaRPr lang="en-US" dirty="0"/>
          </a:p>
          <a:p>
            <a:r>
              <a:rPr lang="en-IN" dirty="0"/>
              <a:t>Thus all functional dependencies in </a:t>
            </a:r>
            <a:r>
              <a:rPr lang="en-IN" dirty="0">
                <a:latin typeface="Script MT Bold" pitchFamily="66" charset="0"/>
              </a:rPr>
              <a:t>F</a:t>
            </a:r>
            <a:r>
              <a:rPr lang="en-IN" baseline="-25000" dirty="0" smtClean="0"/>
              <a:t>1</a:t>
            </a:r>
            <a:r>
              <a:rPr lang="en-IN" dirty="0" smtClean="0"/>
              <a:t> </a:t>
            </a:r>
            <a:r>
              <a:rPr lang="en-IN" dirty="0"/>
              <a:t>can be inferred from </a:t>
            </a:r>
            <a:r>
              <a:rPr lang="en-IN" dirty="0" smtClean="0">
                <a:latin typeface="Script MT Bold" pitchFamily="66" charset="0"/>
              </a:rPr>
              <a:t>F</a:t>
            </a:r>
            <a:r>
              <a:rPr lang="en-IN" baseline="-25000" dirty="0" smtClean="0"/>
              <a:t>2</a:t>
            </a:r>
            <a:r>
              <a:rPr lang="en-IN" dirty="0"/>
              <a:t>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6208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Minimal cover</a:t>
            </a:r>
            <a:endParaRPr lang="en-US" sz="4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B1DC0-5783-4F1A-A0D1-155778440E93}" type="slidenum">
              <a:rPr lang="en-US" smtClean="0"/>
              <a:t>33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 (functional dependency set)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G (in canonical form)</a:t>
            </a:r>
          </a:p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If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all functional dependencies of G are in canonical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form.</a:t>
            </a:r>
          </a:p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No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functional dependency of G has extraneous attribute. 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No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functional dependency can be removed from G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0339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Extraneous Attributes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B1DC0-5783-4F1A-A0D1-155778440E93}" type="slidenum">
              <a:rPr lang="en-US" smtClean="0"/>
              <a:t>34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Consider F, and a functional dependency, A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“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Extraneous”: Are there any attributes in A or B that can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be safely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removed ?</a:t>
            </a:r>
          </a:p>
          <a:p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Without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changing the constraints implied by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F.</a:t>
            </a:r>
            <a:endParaRPr lang="en-US" sz="23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609095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if an Attribute is Extraneous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B1DC0-5783-4F1A-A0D1-155778440E93}" type="slidenum">
              <a:rPr lang="en-US" smtClean="0"/>
              <a:t>35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914401" y="1085850"/>
            <a:ext cx="7772400" cy="3771900"/>
          </a:xfrm>
        </p:spPr>
        <p:txBody>
          <a:bodyPr>
            <a:noAutofit/>
          </a:bodyPr>
          <a:lstStyle/>
          <a:p>
            <a:r>
              <a:rPr lang="en-US" sz="2200" dirty="0">
                <a:latin typeface="TT219t00"/>
              </a:rPr>
              <a:t>Consider a set </a:t>
            </a:r>
            <a:r>
              <a:rPr lang="en-US" sz="2200" dirty="0">
                <a:latin typeface="TT218t00"/>
              </a:rPr>
              <a:t>F </a:t>
            </a:r>
            <a:r>
              <a:rPr lang="en-US" sz="2200" dirty="0">
                <a:latin typeface="TT219t00"/>
              </a:rPr>
              <a:t>of functional dependencies and </a:t>
            </a:r>
            <a:r>
              <a:rPr lang="en-US" sz="2200" dirty="0" smtClean="0">
                <a:latin typeface="TT219t00"/>
              </a:rPr>
              <a:t>the functional </a:t>
            </a:r>
            <a:r>
              <a:rPr lang="en-US" sz="2200" dirty="0">
                <a:latin typeface="TT219t00"/>
              </a:rPr>
              <a:t>dependency </a:t>
            </a:r>
            <a:r>
              <a:rPr lang="en-US" sz="2200" dirty="0" smtClean="0">
                <a:latin typeface="Symbol"/>
              </a:rPr>
              <a:t>a--&gt;b </a:t>
            </a:r>
            <a:r>
              <a:rPr lang="en-US" sz="2200" dirty="0">
                <a:latin typeface="TT219t00"/>
              </a:rPr>
              <a:t>in </a:t>
            </a:r>
            <a:r>
              <a:rPr lang="en-US" sz="2200" dirty="0">
                <a:latin typeface="TT218t00"/>
              </a:rPr>
              <a:t>F</a:t>
            </a:r>
            <a:r>
              <a:rPr lang="en-US" sz="2200" dirty="0">
                <a:latin typeface="TT219t00"/>
              </a:rPr>
              <a:t>.</a:t>
            </a:r>
          </a:p>
          <a:p>
            <a:r>
              <a:rPr lang="en-US" sz="2200" dirty="0" smtClean="0">
                <a:latin typeface="TT219t00"/>
              </a:rPr>
              <a:t>To </a:t>
            </a:r>
            <a:r>
              <a:rPr lang="en-US" sz="2200" dirty="0">
                <a:latin typeface="TT219t00"/>
              </a:rPr>
              <a:t>test if attribute A </a:t>
            </a:r>
            <a:r>
              <a:rPr lang="en-US" sz="2200" dirty="0">
                <a:latin typeface="Symbol"/>
              </a:rPr>
              <a:t>Î a </a:t>
            </a:r>
            <a:r>
              <a:rPr lang="en-US" sz="2200" dirty="0">
                <a:latin typeface="TT219t00"/>
              </a:rPr>
              <a:t>is extraneous in </a:t>
            </a:r>
            <a:r>
              <a:rPr lang="en-US" sz="2200" dirty="0">
                <a:latin typeface="Symbol"/>
              </a:rPr>
              <a:t>a</a:t>
            </a:r>
          </a:p>
          <a:p>
            <a:pPr lvl="1"/>
            <a:r>
              <a:rPr lang="en-US" sz="2000" dirty="0" smtClean="0">
                <a:latin typeface="TT219t00"/>
              </a:rPr>
              <a:t>compute </a:t>
            </a:r>
            <a:r>
              <a:rPr lang="en-US" sz="2000" dirty="0">
                <a:latin typeface="TT219t00"/>
              </a:rPr>
              <a:t>({</a:t>
            </a:r>
            <a:r>
              <a:rPr lang="en-US" sz="2000" dirty="0">
                <a:latin typeface="Symbol"/>
              </a:rPr>
              <a:t>a</a:t>
            </a:r>
            <a:r>
              <a:rPr lang="en-US" sz="2000" dirty="0">
                <a:latin typeface="TT219t00"/>
              </a:rPr>
              <a:t>} – A)</a:t>
            </a:r>
            <a:r>
              <a:rPr lang="en-US" sz="2000" baseline="30000" dirty="0">
                <a:latin typeface="TT219t00"/>
              </a:rPr>
              <a:t>+</a:t>
            </a:r>
            <a:r>
              <a:rPr lang="en-US" sz="2000" dirty="0">
                <a:latin typeface="TT219t00"/>
              </a:rPr>
              <a:t> using the dependencies in </a:t>
            </a:r>
            <a:r>
              <a:rPr lang="en-US" sz="2000" dirty="0">
                <a:latin typeface="TT218t00"/>
              </a:rPr>
              <a:t>F</a:t>
            </a:r>
          </a:p>
          <a:p>
            <a:pPr lvl="1"/>
            <a:r>
              <a:rPr lang="en-US" sz="2000" dirty="0" smtClean="0">
                <a:latin typeface="TT219t00"/>
              </a:rPr>
              <a:t>check </a:t>
            </a:r>
            <a:r>
              <a:rPr lang="en-US" sz="2000" dirty="0">
                <a:latin typeface="TT219t00"/>
              </a:rPr>
              <a:t>that ({</a:t>
            </a:r>
            <a:r>
              <a:rPr lang="en-US" sz="2000" dirty="0">
                <a:latin typeface="Symbol"/>
              </a:rPr>
              <a:t>a</a:t>
            </a:r>
            <a:r>
              <a:rPr lang="en-US" sz="2000" dirty="0">
                <a:latin typeface="TT219t00"/>
              </a:rPr>
              <a:t>} – A)+ contains A; if it does, </a:t>
            </a:r>
            <a:r>
              <a:rPr lang="en-US" sz="2000" dirty="0">
                <a:latin typeface="TT218t00"/>
              </a:rPr>
              <a:t>A </a:t>
            </a:r>
            <a:r>
              <a:rPr lang="en-US" sz="2000" dirty="0">
                <a:latin typeface="TT219t00"/>
              </a:rPr>
              <a:t>is extraneous</a:t>
            </a:r>
          </a:p>
          <a:p>
            <a:r>
              <a:rPr lang="en-US" sz="2200" dirty="0" smtClean="0">
                <a:latin typeface="TT219t00"/>
              </a:rPr>
              <a:t>To </a:t>
            </a:r>
            <a:r>
              <a:rPr lang="en-US" sz="2200" dirty="0">
                <a:latin typeface="TT219t00"/>
              </a:rPr>
              <a:t>test if attribute </a:t>
            </a:r>
            <a:r>
              <a:rPr lang="en-US" sz="2200" dirty="0">
                <a:latin typeface="TT218t00"/>
              </a:rPr>
              <a:t>A </a:t>
            </a:r>
            <a:r>
              <a:rPr lang="en-US" sz="2200" dirty="0">
                <a:latin typeface="Symbol"/>
              </a:rPr>
              <a:t>Î b </a:t>
            </a:r>
            <a:r>
              <a:rPr lang="en-US" sz="2200" dirty="0">
                <a:latin typeface="TT219t00"/>
              </a:rPr>
              <a:t>is extraneous in </a:t>
            </a:r>
            <a:r>
              <a:rPr lang="en-US" sz="2200" dirty="0">
                <a:latin typeface="Symbol"/>
              </a:rPr>
              <a:t>b</a:t>
            </a:r>
          </a:p>
          <a:p>
            <a:pPr lvl="1"/>
            <a:r>
              <a:rPr lang="en-US" sz="2000" dirty="0" smtClean="0">
                <a:latin typeface="TT219t00"/>
              </a:rPr>
              <a:t>compute </a:t>
            </a:r>
            <a:r>
              <a:rPr lang="en-US" sz="2000" dirty="0">
                <a:latin typeface="Symbol"/>
              </a:rPr>
              <a:t>a</a:t>
            </a:r>
            <a:r>
              <a:rPr lang="en-US" sz="2000" dirty="0">
                <a:latin typeface="TT219t00"/>
              </a:rPr>
              <a:t>+ using only the dependencies </a:t>
            </a:r>
            <a:r>
              <a:rPr lang="en-US" sz="2000" dirty="0" smtClean="0">
                <a:latin typeface="TT219t00"/>
              </a:rPr>
              <a:t>in </a:t>
            </a:r>
            <a:r>
              <a:rPr lang="it-IT" sz="2000" dirty="0" smtClean="0">
                <a:latin typeface="TT219t00"/>
              </a:rPr>
              <a:t>F</a:t>
            </a:r>
            <a:r>
              <a:rPr lang="it-IT" sz="2000" dirty="0">
                <a:latin typeface="TT219t00"/>
              </a:rPr>
              <a:t>’ = (</a:t>
            </a:r>
            <a:r>
              <a:rPr lang="it-IT" sz="2000" dirty="0">
                <a:latin typeface="TT218t00"/>
              </a:rPr>
              <a:t>F </a:t>
            </a:r>
            <a:r>
              <a:rPr lang="it-IT" sz="2000" dirty="0">
                <a:latin typeface="TT219t00"/>
              </a:rPr>
              <a:t>– {</a:t>
            </a:r>
            <a:r>
              <a:rPr lang="it-IT" sz="2000" dirty="0" smtClean="0">
                <a:latin typeface="Symbol"/>
              </a:rPr>
              <a:t>a--&gt;b</a:t>
            </a:r>
            <a:r>
              <a:rPr lang="it-IT" sz="2000" dirty="0">
                <a:latin typeface="TT219t00"/>
              </a:rPr>
              <a:t>}) </a:t>
            </a:r>
            <a:r>
              <a:rPr lang="it-IT" sz="2000" dirty="0">
                <a:latin typeface="Symbol"/>
              </a:rPr>
              <a:t>È </a:t>
            </a:r>
            <a:r>
              <a:rPr lang="it-IT" sz="2000" dirty="0">
                <a:latin typeface="TT219t00"/>
              </a:rPr>
              <a:t>{</a:t>
            </a:r>
            <a:r>
              <a:rPr lang="it-IT" sz="2000" dirty="0" smtClean="0">
                <a:latin typeface="Symbol"/>
              </a:rPr>
              <a:t>a--&gt;</a:t>
            </a:r>
            <a:r>
              <a:rPr lang="it-IT" sz="2000" dirty="0" smtClean="0">
                <a:latin typeface="TT218t00"/>
              </a:rPr>
              <a:t>(</a:t>
            </a:r>
            <a:r>
              <a:rPr lang="it-IT" sz="2000" dirty="0">
                <a:latin typeface="Symbol"/>
              </a:rPr>
              <a:t>b </a:t>
            </a:r>
            <a:r>
              <a:rPr lang="it-IT" sz="2000" dirty="0">
                <a:latin typeface="TT219t00"/>
              </a:rPr>
              <a:t>– </a:t>
            </a:r>
            <a:r>
              <a:rPr lang="it-IT" sz="2000" dirty="0">
                <a:latin typeface="TT218t00"/>
              </a:rPr>
              <a:t>A</a:t>
            </a:r>
            <a:r>
              <a:rPr lang="it-IT" sz="2000" dirty="0">
                <a:latin typeface="TT219t00"/>
              </a:rPr>
              <a:t>)},</a:t>
            </a:r>
          </a:p>
          <a:p>
            <a:pPr lvl="1"/>
            <a:r>
              <a:rPr lang="en-US" sz="2000" dirty="0" smtClean="0">
                <a:latin typeface="TT219t00"/>
              </a:rPr>
              <a:t>check </a:t>
            </a:r>
            <a:r>
              <a:rPr lang="en-US" sz="2000" dirty="0">
                <a:latin typeface="TT219t00"/>
              </a:rPr>
              <a:t>that </a:t>
            </a:r>
            <a:r>
              <a:rPr lang="en-US" sz="2000" dirty="0">
                <a:latin typeface="Symbol"/>
              </a:rPr>
              <a:t>a</a:t>
            </a:r>
            <a:r>
              <a:rPr lang="en-US" sz="2000" dirty="0">
                <a:latin typeface="TT219t00"/>
              </a:rPr>
              <a:t>+ contains </a:t>
            </a:r>
            <a:r>
              <a:rPr lang="en-US" sz="2000" dirty="0">
                <a:latin typeface="TT218t00"/>
              </a:rPr>
              <a:t>A; </a:t>
            </a:r>
            <a:r>
              <a:rPr lang="en-US" sz="2000" dirty="0">
                <a:latin typeface="TT219t00"/>
              </a:rPr>
              <a:t>if it does</a:t>
            </a:r>
            <a:r>
              <a:rPr lang="en-US" sz="2000" dirty="0">
                <a:latin typeface="TT218t00"/>
              </a:rPr>
              <a:t>, A </a:t>
            </a:r>
            <a:r>
              <a:rPr lang="en-US" sz="2000" dirty="0">
                <a:latin typeface="TT219t00"/>
              </a:rPr>
              <a:t>is extraneous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85953571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Computing Canonical </a:t>
            </a:r>
            <a:r>
              <a:rPr lang="en-US" dirty="0" smtClean="0"/>
              <a:t>Cover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B1DC0-5783-4F1A-A0D1-155778440E93}" type="slidenum">
              <a:rPr lang="en-US" smtClean="0"/>
              <a:t>36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609600" y="1085850"/>
            <a:ext cx="8000999" cy="3429000"/>
          </a:xfrm>
        </p:spPr>
        <p:txBody>
          <a:bodyPr>
            <a:noAutofit/>
          </a:bodyPr>
          <a:lstStyle/>
          <a:p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R = {A,B,C,D,E,F,G,H}</a:t>
            </a:r>
          </a:p>
          <a:p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F = {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AC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G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EG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BC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CG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BD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ACD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CE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AG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}</a:t>
            </a:r>
            <a:endParaRPr lang="en-US" sz="23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Find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the canonical cover of F.</a:t>
            </a:r>
          </a:p>
          <a:p>
            <a:pPr marL="274320" lvl="1" indent="0">
              <a:buNone/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1. Simplify all RHS (Decomposition)</a:t>
            </a:r>
          </a:p>
          <a:p>
            <a:pPr marL="274320" lvl="1" indent="0">
              <a:buNone/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2. For all FDs on LHS find a redundant (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extraneous)attribute</a:t>
            </a:r>
            <a:endParaRPr lang="en-US" sz="2300" dirty="0">
              <a:latin typeface="Times New Roman" pitchFamily="18" charset="0"/>
              <a:cs typeface="Times New Roman" pitchFamily="18" charset="0"/>
            </a:endParaRPr>
          </a:p>
          <a:p>
            <a:pPr marL="274320" lvl="1" indent="0">
              <a:buNone/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3. Eliminate all redundant FDs</a:t>
            </a:r>
          </a:p>
          <a:p>
            <a:pPr marL="274320" lvl="1" indent="0">
              <a:buNone/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4. Apply Union if needed</a:t>
            </a:r>
          </a:p>
          <a:p>
            <a:pPr marL="274320" lvl="1" indent="0">
              <a:buNone/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5. The result is Fc</a:t>
            </a:r>
            <a:endParaRPr lang="en-US" sz="23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842507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B1DC0-5783-4F1A-A0D1-155778440E93}" type="slidenum">
              <a:rPr lang="en-US" smtClean="0"/>
              <a:t>37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914401" y="285750"/>
            <a:ext cx="7772400" cy="42291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Simplify the RHS</a:t>
            </a:r>
          </a:p>
          <a:p>
            <a:r>
              <a:rPr lang="en-US" dirty="0" smtClean="0"/>
              <a:t>AC</a:t>
            </a:r>
            <a:r>
              <a:rPr lang="en-US" dirty="0" smtClean="0">
                <a:sym typeface="Wingdings" pitchFamily="2" charset="2"/>
              </a:rPr>
              <a:t></a:t>
            </a:r>
            <a:r>
              <a:rPr lang="en-US" dirty="0" smtClean="0"/>
              <a:t>G</a:t>
            </a:r>
            <a:endParaRPr lang="en-US" dirty="0"/>
          </a:p>
          <a:p>
            <a:r>
              <a:rPr lang="en-US" dirty="0" smtClean="0"/>
              <a:t>D</a:t>
            </a:r>
            <a:r>
              <a:rPr lang="en-US" dirty="0" smtClean="0">
                <a:sym typeface="Wingdings" pitchFamily="2" charset="2"/>
              </a:rPr>
              <a:t></a:t>
            </a:r>
            <a:r>
              <a:rPr lang="en-US" dirty="0" smtClean="0"/>
              <a:t> </a:t>
            </a:r>
            <a:r>
              <a:rPr lang="en-US" dirty="0"/>
              <a:t>E</a:t>
            </a:r>
          </a:p>
          <a:p>
            <a:r>
              <a:rPr lang="en-US" dirty="0" smtClean="0"/>
              <a:t>D</a:t>
            </a:r>
            <a:r>
              <a:rPr lang="en-US" dirty="0" smtClean="0">
                <a:sym typeface="Wingdings" pitchFamily="2" charset="2"/>
              </a:rPr>
              <a:t></a:t>
            </a:r>
            <a:r>
              <a:rPr lang="en-US" dirty="0" smtClean="0"/>
              <a:t>G</a:t>
            </a:r>
            <a:endParaRPr lang="en-US" dirty="0"/>
          </a:p>
          <a:p>
            <a:r>
              <a:rPr lang="en-US" dirty="0" smtClean="0"/>
              <a:t>BC</a:t>
            </a:r>
            <a:r>
              <a:rPr lang="en-US" dirty="0" smtClean="0">
                <a:sym typeface="Wingdings" pitchFamily="2" charset="2"/>
              </a:rPr>
              <a:t></a:t>
            </a:r>
            <a:r>
              <a:rPr lang="en-US" dirty="0" smtClean="0"/>
              <a:t> </a:t>
            </a:r>
            <a:r>
              <a:rPr lang="en-US" dirty="0"/>
              <a:t>D</a:t>
            </a:r>
          </a:p>
          <a:p>
            <a:r>
              <a:rPr lang="en-US" dirty="0"/>
              <a:t>CG </a:t>
            </a:r>
            <a:r>
              <a:rPr lang="en-US" dirty="0" smtClean="0">
                <a:sym typeface="Wingdings" pitchFamily="2" charset="2"/>
              </a:rPr>
              <a:t></a:t>
            </a:r>
            <a:r>
              <a:rPr lang="en-US" dirty="0" smtClean="0"/>
              <a:t>B</a:t>
            </a:r>
            <a:endParaRPr lang="en-US" dirty="0"/>
          </a:p>
          <a:p>
            <a:r>
              <a:rPr lang="en-US" dirty="0"/>
              <a:t>CG </a:t>
            </a:r>
            <a:r>
              <a:rPr lang="en-US" dirty="0" smtClean="0">
                <a:sym typeface="Wingdings" pitchFamily="2" charset="2"/>
              </a:rPr>
              <a:t></a:t>
            </a:r>
            <a:r>
              <a:rPr lang="en-US" dirty="0" smtClean="0"/>
              <a:t>D</a:t>
            </a:r>
            <a:endParaRPr lang="en-US" dirty="0"/>
          </a:p>
          <a:p>
            <a:r>
              <a:rPr lang="en-US" dirty="0"/>
              <a:t>ACD </a:t>
            </a:r>
            <a:r>
              <a:rPr lang="en-US" dirty="0" smtClean="0">
                <a:sym typeface="Wingdings" pitchFamily="2" charset="2"/>
              </a:rPr>
              <a:t></a:t>
            </a:r>
            <a:r>
              <a:rPr lang="en-US" dirty="0" smtClean="0"/>
              <a:t>B</a:t>
            </a:r>
            <a:endParaRPr lang="en-US" dirty="0"/>
          </a:p>
          <a:p>
            <a:r>
              <a:rPr lang="en-US" dirty="0"/>
              <a:t>CE </a:t>
            </a:r>
            <a:r>
              <a:rPr lang="en-US" dirty="0" smtClean="0">
                <a:sym typeface="Wingdings" pitchFamily="2" charset="2"/>
              </a:rPr>
              <a:t></a:t>
            </a:r>
            <a:r>
              <a:rPr lang="en-US" dirty="0" smtClean="0"/>
              <a:t>A</a:t>
            </a:r>
            <a:endParaRPr lang="en-US" dirty="0"/>
          </a:p>
          <a:p>
            <a:r>
              <a:rPr lang="en-US" dirty="0"/>
              <a:t>CE </a:t>
            </a:r>
            <a:r>
              <a:rPr lang="en-US" dirty="0" smtClean="0">
                <a:sym typeface="Wingdings" pitchFamily="2" charset="2"/>
              </a:rPr>
              <a:t></a:t>
            </a:r>
            <a:r>
              <a:rPr lang="en-US" dirty="0" smtClean="0"/>
              <a:t>G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505200" y="133350"/>
            <a:ext cx="541020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Find the extraneous attribute in this FD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D?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(AC)</a:t>
            </a:r>
            <a:r>
              <a:rPr lang="en-US" sz="2000" baseline="30000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ACGB, so we got B; D is extraneous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and can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be safely eliminated.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Rewrite the new FD as AC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B</a:t>
            </a:r>
          </a:p>
          <a:p>
            <a:pPr marL="342900" indent="-342900" algn="just">
              <a:buFont typeface="Arial" pitchFamily="34" charset="0"/>
              <a:buChar char="•"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A? C?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000" baseline="30000" dirty="0" smtClean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A, so can’t get G; C is not extraneous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000" baseline="30000" dirty="0" smtClean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C, so can’t get G; A is not extraneous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Keep this FD as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is</a:t>
            </a:r>
          </a:p>
          <a:p>
            <a:pPr marL="342900" indent="-342900">
              <a:buFont typeface="Arial" pitchFamily="34" charset="0"/>
              <a:buChar char="•"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B? C?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000" baseline="30000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B, so can’t get D; C is not extraneous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000" baseline="30000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C, so can’t get D; B is not extraneous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Keep this FD as is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719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B1DC0-5783-4F1A-A0D1-155778440E93}" type="slidenum">
              <a:rPr lang="en-US" smtClean="0"/>
              <a:t>38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914401" y="133350"/>
            <a:ext cx="7772400" cy="4648200"/>
          </a:xfrm>
        </p:spPr>
        <p:txBody>
          <a:bodyPr>
            <a:normAutofit fontScale="92500" lnSpcReduction="20000"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G? C?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000" baseline="30000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C, so can’t get B; G is not extraneous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G</a:t>
            </a:r>
            <a:r>
              <a:rPr lang="en-US" sz="2000" baseline="30000" dirty="0" smtClean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G, so can’t get B; C is not extraneous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Keep this FD as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is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If we continue we will not find any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extraneous attribute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on LHS of any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FD.</a:t>
            </a:r>
          </a:p>
          <a:p>
            <a:r>
              <a:rPr lang="en-US" sz="2000" dirty="0"/>
              <a:t>AC </a:t>
            </a:r>
            <a:r>
              <a:rPr lang="en-US" sz="2000" dirty="0" smtClean="0">
                <a:sym typeface="Wingdings" pitchFamily="2" charset="2"/>
              </a:rPr>
              <a:t></a:t>
            </a:r>
            <a:r>
              <a:rPr lang="en-US" sz="2000" dirty="0" smtClean="0"/>
              <a:t>G</a:t>
            </a:r>
            <a:endParaRPr lang="en-US" sz="2000" dirty="0"/>
          </a:p>
          <a:p>
            <a:r>
              <a:rPr lang="en-US" sz="2000" dirty="0"/>
              <a:t>D </a:t>
            </a:r>
            <a:r>
              <a:rPr lang="en-US" sz="2000" dirty="0" smtClean="0">
                <a:sym typeface="Wingdings" pitchFamily="2" charset="2"/>
              </a:rPr>
              <a:t></a:t>
            </a:r>
            <a:r>
              <a:rPr lang="en-US" sz="2000" dirty="0" smtClean="0"/>
              <a:t>E </a:t>
            </a:r>
          </a:p>
          <a:p>
            <a:r>
              <a:rPr lang="en-US" sz="2000" dirty="0"/>
              <a:t>D </a:t>
            </a:r>
            <a:r>
              <a:rPr lang="en-US" sz="2000" dirty="0" smtClean="0">
                <a:sym typeface="Wingdings" pitchFamily="2" charset="2"/>
              </a:rPr>
              <a:t></a:t>
            </a:r>
            <a:r>
              <a:rPr lang="en-US" sz="2000" dirty="0" smtClean="0"/>
              <a:t>G </a:t>
            </a:r>
            <a:endParaRPr lang="en-US" sz="2000" dirty="0"/>
          </a:p>
          <a:p>
            <a:r>
              <a:rPr lang="en-US" sz="2000" dirty="0" smtClean="0"/>
              <a:t>BC </a:t>
            </a:r>
            <a:r>
              <a:rPr lang="en-US" sz="2000" dirty="0" smtClean="0">
                <a:sym typeface="Wingdings" pitchFamily="2" charset="2"/>
              </a:rPr>
              <a:t></a:t>
            </a:r>
            <a:r>
              <a:rPr lang="en-US" sz="2000" dirty="0" smtClean="0"/>
              <a:t> </a:t>
            </a:r>
            <a:r>
              <a:rPr lang="en-US" sz="2000" dirty="0"/>
              <a:t>D</a:t>
            </a:r>
          </a:p>
          <a:p>
            <a:r>
              <a:rPr lang="en-US" sz="2000" dirty="0" smtClean="0"/>
              <a:t>CG </a:t>
            </a:r>
            <a:r>
              <a:rPr lang="en-US" sz="2000" dirty="0" smtClean="0">
                <a:sym typeface="Wingdings" pitchFamily="2" charset="2"/>
              </a:rPr>
              <a:t></a:t>
            </a:r>
            <a:r>
              <a:rPr lang="en-US" sz="2000" dirty="0" smtClean="0"/>
              <a:t> </a:t>
            </a:r>
            <a:r>
              <a:rPr lang="en-US" sz="2000" dirty="0"/>
              <a:t>B</a:t>
            </a:r>
          </a:p>
          <a:p>
            <a:r>
              <a:rPr lang="en-US" sz="2000" dirty="0" smtClean="0"/>
              <a:t>CG </a:t>
            </a:r>
            <a:r>
              <a:rPr lang="en-US" sz="2000" dirty="0" smtClean="0">
                <a:sym typeface="Wingdings" pitchFamily="2" charset="2"/>
              </a:rPr>
              <a:t></a:t>
            </a:r>
            <a:r>
              <a:rPr lang="en-US" sz="2000" dirty="0" smtClean="0"/>
              <a:t> </a:t>
            </a:r>
            <a:r>
              <a:rPr lang="en-US" sz="2000" dirty="0"/>
              <a:t>D</a:t>
            </a:r>
          </a:p>
          <a:p>
            <a:r>
              <a:rPr lang="en-US" sz="2000" dirty="0"/>
              <a:t>AC </a:t>
            </a:r>
            <a:r>
              <a:rPr lang="en-US" sz="2000" dirty="0" smtClean="0">
                <a:sym typeface="Wingdings" pitchFamily="2" charset="2"/>
              </a:rPr>
              <a:t></a:t>
            </a:r>
            <a:r>
              <a:rPr lang="en-US" sz="2000" dirty="0" smtClean="0"/>
              <a:t>B</a:t>
            </a:r>
            <a:endParaRPr lang="en-US" sz="2000" dirty="0"/>
          </a:p>
          <a:p>
            <a:r>
              <a:rPr lang="en-US" sz="2000" dirty="0"/>
              <a:t>CE </a:t>
            </a:r>
            <a:r>
              <a:rPr lang="en-US" sz="2000" dirty="0" smtClean="0">
                <a:sym typeface="Wingdings" pitchFamily="2" charset="2"/>
              </a:rPr>
              <a:t></a:t>
            </a:r>
            <a:r>
              <a:rPr lang="en-US" sz="2000" dirty="0" smtClean="0"/>
              <a:t>A</a:t>
            </a:r>
            <a:endParaRPr lang="en-US" sz="2000" dirty="0"/>
          </a:p>
          <a:p>
            <a:r>
              <a:rPr lang="en-US" sz="2000" dirty="0" smtClean="0"/>
              <a:t>CE </a:t>
            </a:r>
            <a:r>
              <a:rPr lang="en-US" sz="2000" dirty="0" smtClean="0">
                <a:sym typeface="Wingdings" pitchFamily="2" charset="2"/>
              </a:rPr>
              <a:t></a:t>
            </a:r>
            <a:r>
              <a:rPr lang="en-US" sz="2000" dirty="0" smtClean="0"/>
              <a:t> </a:t>
            </a:r>
            <a:r>
              <a:rPr lang="en-US" sz="2000" dirty="0"/>
              <a:t>G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743200" y="1727180"/>
            <a:ext cx="60198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Find the redundant FDs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G and AC B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(AC)</a:t>
            </a:r>
            <a:r>
              <a:rPr lang="en-US" baseline="30000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ACBDEG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; we got G 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Remove the AC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entire FD from the list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CG)+  CGDEAB ; so we got B from other FDs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Remove CG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the entire FD from the list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CE)+  CEGD ; so we could not get A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from other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FDs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Keep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A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FD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in the list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CE)+  CEABDG ; so we got G from other FDs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Remove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CE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G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FD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from the list.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856895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B1DC0-5783-4F1A-A0D1-155778440E93}" type="slidenum">
              <a:rPr lang="en-US" smtClean="0"/>
              <a:t>39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914401" y="1085850"/>
            <a:ext cx="7772400" cy="3848100"/>
          </a:xfrm>
        </p:spPr>
        <p:txBody>
          <a:bodyPr>
            <a:normAutofit/>
          </a:bodyPr>
          <a:lstStyle/>
          <a:p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D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E</a:t>
            </a:r>
            <a:endParaRPr lang="en-US" sz="23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D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G</a:t>
            </a:r>
            <a:endParaRPr lang="en-US" sz="23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BC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D</a:t>
            </a:r>
            <a:endParaRPr lang="en-US" sz="23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CG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B</a:t>
            </a:r>
            <a:endParaRPr lang="en-US" sz="23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AC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B</a:t>
            </a:r>
            <a:endParaRPr lang="en-US" sz="23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CE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A</a:t>
            </a:r>
          </a:p>
          <a:p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Apply union (if any) on the remaining </a:t>
            </a:r>
            <a:r>
              <a:rPr lang="en-US" sz="2300" dirty="0" err="1" smtClean="0">
                <a:latin typeface="Times New Roman" pitchFamily="18" charset="0"/>
                <a:cs typeface="Times New Roman" pitchFamily="18" charset="0"/>
              </a:rPr>
              <a:t>Fds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/>
              <a:t>D</a:t>
            </a:r>
            <a:r>
              <a:rPr lang="en-US" sz="2400" dirty="0" smtClean="0">
                <a:sym typeface="Wingdings" pitchFamily="2" charset="2"/>
              </a:rPr>
              <a:t></a:t>
            </a:r>
            <a:r>
              <a:rPr lang="en-US" sz="2400" dirty="0" smtClean="0"/>
              <a:t>EG</a:t>
            </a:r>
            <a:endParaRPr lang="en-US" sz="23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673865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Find the canonical cover of F</a:t>
            </a:r>
            <a:r>
              <a:rPr lang="en-US" dirty="0" smtClean="0"/>
              <a:t>: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B1DC0-5783-4F1A-A0D1-155778440E93}" type="slidenum">
              <a:rPr lang="en-US" smtClean="0"/>
              <a:t>40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R = {A,B,C,D,E,F,G,H}</a:t>
            </a:r>
          </a:p>
          <a:p>
            <a:pPr algn="just"/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F = {AC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G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EG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BC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CG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BD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ACD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CE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AG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pPr algn="just"/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FC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= {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AC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EG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BC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CG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CE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pPr algn="just"/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Computing Canonical Cover</a:t>
            </a:r>
          </a:p>
          <a:p>
            <a:pPr algn="just"/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FC ={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AC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EG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BC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CG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CE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pPr algn="just"/>
            <a:r>
              <a:rPr lang="en-US" sz="2300" baseline="30000" dirty="0" smtClean="0">
                <a:latin typeface="Times New Roman" pitchFamily="18" charset="0"/>
                <a:cs typeface="Times New Roman" pitchFamily="18" charset="0"/>
              </a:rPr>
              <a:t>*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Different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order of considering the extraneous attributes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can result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in different FC</a:t>
            </a:r>
            <a:endParaRPr lang="en-US" sz="23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776358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05979"/>
            <a:ext cx="8153399" cy="857250"/>
          </a:xfrm>
        </p:spPr>
        <p:txBody>
          <a:bodyPr>
            <a:normAutofit/>
          </a:bodyPr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pPr marL="514350" indent="-514350">
              <a:buAutoNum type="arabicParenR"/>
            </a:pPr>
            <a:r>
              <a:rPr lang="en-US" dirty="0" smtClean="0"/>
              <a:t>R={ A,B,C,D,E,F}</a:t>
            </a:r>
          </a:p>
          <a:p>
            <a:pPr marL="514350" indent="-514350">
              <a:buNone/>
            </a:pPr>
            <a:r>
              <a:rPr lang="en-US" dirty="0" smtClean="0"/>
              <a:t>		FD={ AB-&gt;D, B-&gt;C, AE-&gt;B, A-&gt;D, D-&gt;EF}</a:t>
            </a:r>
          </a:p>
          <a:p>
            <a:pPr marL="514350" indent="-514350">
              <a:buNone/>
            </a:pPr>
            <a:r>
              <a:rPr lang="en-US" dirty="0" smtClean="0"/>
              <a:t>Step-1: </a:t>
            </a:r>
          </a:p>
          <a:p>
            <a:pPr marL="514350" indent="-514350">
              <a:buNone/>
            </a:pPr>
            <a:r>
              <a:rPr lang="en-US" dirty="0" smtClean="0"/>
              <a:t>	AB-&gt;D</a:t>
            </a:r>
          </a:p>
          <a:p>
            <a:pPr marL="514350" indent="-514350">
              <a:buNone/>
            </a:pPr>
            <a:r>
              <a:rPr lang="en-US" dirty="0" smtClean="0"/>
              <a:t>	B-&gt;C</a:t>
            </a:r>
          </a:p>
          <a:p>
            <a:pPr marL="514350" indent="-514350">
              <a:buNone/>
            </a:pPr>
            <a:r>
              <a:rPr lang="en-US" dirty="0" smtClean="0"/>
              <a:t>	AE-&gt;B</a:t>
            </a:r>
          </a:p>
          <a:p>
            <a:pPr marL="514350" indent="-514350">
              <a:buNone/>
            </a:pPr>
            <a:r>
              <a:rPr lang="en-US" dirty="0" smtClean="0"/>
              <a:t>	A-&gt;D</a:t>
            </a:r>
          </a:p>
          <a:p>
            <a:pPr marL="514350" indent="-514350">
              <a:buNone/>
            </a:pPr>
            <a:r>
              <a:rPr lang="en-US" dirty="0" smtClean="0"/>
              <a:t>	D-&gt;E</a:t>
            </a:r>
          </a:p>
          <a:p>
            <a:pPr marL="514350" indent="-514350">
              <a:buNone/>
            </a:pPr>
            <a:r>
              <a:rPr lang="en-US" dirty="0" smtClean="0"/>
              <a:t>	D-&gt;F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0500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pPr marL="514350" indent="-514350">
              <a:buAutoNum type="arabicParenR"/>
            </a:pPr>
            <a:r>
              <a:rPr lang="en-US" dirty="0" smtClean="0"/>
              <a:t>R={ A,B,C,D,E,F}</a:t>
            </a:r>
          </a:p>
          <a:p>
            <a:pPr marL="514350" indent="-514350">
              <a:buNone/>
            </a:pPr>
            <a:r>
              <a:rPr lang="en-US" dirty="0" smtClean="0"/>
              <a:t>		FD={ AB-&gt;D, B-&gt;C, AE-&gt;B, A-&gt;D, D-&gt;EF}</a:t>
            </a:r>
          </a:p>
          <a:p>
            <a:pPr marL="514350" indent="-514350">
              <a:buNone/>
            </a:pPr>
            <a:r>
              <a:rPr lang="en-US" dirty="0" smtClean="0"/>
              <a:t>Step-2: </a:t>
            </a:r>
          </a:p>
          <a:p>
            <a:pPr marL="514350" indent="-514350">
              <a:buNone/>
            </a:pPr>
            <a:r>
              <a:rPr lang="en-US" dirty="0" smtClean="0"/>
              <a:t>	AB-&gt;D==========</a:t>
            </a:r>
            <a:r>
              <a:rPr lang="en-US" dirty="0" smtClean="0">
                <a:sym typeface="Wingdings" pitchFamily="2" charset="2"/>
              </a:rPr>
              <a:t> A+, B+</a:t>
            </a:r>
          </a:p>
          <a:p>
            <a:pPr marL="514350" indent="-514350">
              <a:buNone/>
            </a:pPr>
            <a:r>
              <a:rPr lang="en-US" dirty="0" smtClean="0">
                <a:sym typeface="Wingdings" pitchFamily="2" charset="2"/>
              </a:rPr>
              <a:t>	A+={A,D,E,F,B,C}</a:t>
            </a:r>
          </a:p>
          <a:p>
            <a:pPr marL="514350" indent="-514350">
              <a:buNone/>
            </a:pPr>
            <a:r>
              <a:rPr lang="en-US" dirty="0" smtClean="0">
                <a:sym typeface="Wingdings" pitchFamily="2" charset="2"/>
              </a:rPr>
              <a:t>	B+={B,C}</a:t>
            </a:r>
          </a:p>
          <a:p>
            <a:pPr marL="514350" indent="-514350">
              <a:buNone/>
            </a:pPr>
            <a:r>
              <a:rPr lang="en-US" dirty="0" smtClean="0">
                <a:sym typeface="Wingdings" pitchFamily="2" charset="2"/>
              </a:rPr>
              <a:t>	remove B in the above FD</a:t>
            </a:r>
          </a:p>
          <a:p>
            <a:pPr marL="514350" indent="-514350">
              <a:buNone/>
            </a:pPr>
            <a:r>
              <a:rPr lang="en-US" dirty="0" smtClean="0">
                <a:sym typeface="Wingdings" pitchFamily="2" charset="2"/>
              </a:rPr>
              <a:t>	i.e.,  A-&gt;D</a:t>
            </a:r>
            <a:endParaRPr lang="en-US" dirty="0" smtClean="0"/>
          </a:p>
          <a:p>
            <a:pPr marL="514350" indent="-514350">
              <a:buNone/>
            </a:pPr>
            <a:r>
              <a:rPr lang="en-US" dirty="0" smtClean="0"/>
              <a:t>	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093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pPr marL="514350" indent="-514350">
              <a:buAutoNum type="arabicParenR"/>
            </a:pPr>
            <a:r>
              <a:rPr lang="en-US" dirty="0" smtClean="0"/>
              <a:t>R={ A,B,C,D,E,F}</a:t>
            </a:r>
          </a:p>
          <a:p>
            <a:pPr marL="514350" indent="-514350">
              <a:buNone/>
            </a:pPr>
            <a:r>
              <a:rPr lang="en-US" dirty="0" smtClean="0"/>
              <a:t>		FD={ AB-&gt;D, B-&gt;C, AE-&gt;B, A-&gt;D, D-&gt;EF}</a:t>
            </a:r>
          </a:p>
          <a:p>
            <a:pPr marL="514350" indent="-514350">
              <a:buNone/>
            </a:pPr>
            <a:r>
              <a:rPr lang="en-US" dirty="0" smtClean="0"/>
              <a:t>Step-2: </a:t>
            </a:r>
          </a:p>
          <a:p>
            <a:pPr marL="514350" indent="-514350">
              <a:buNone/>
            </a:pPr>
            <a:r>
              <a:rPr lang="en-US" dirty="0" smtClean="0"/>
              <a:t>	AE-&gt;B==========</a:t>
            </a:r>
            <a:r>
              <a:rPr lang="en-US" dirty="0" smtClean="0">
                <a:sym typeface="Wingdings" pitchFamily="2" charset="2"/>
              </a:rPr>
              <a:t> A+, E+</a:t>
            </a:r>
          </a:p>
          <a:p>
            <a:pPr marL="514350" indent="-514350">
              <a:buNone/>
            </a:pPr>
            <a:r>
              <a:rPr lang="en-US" dirty="0" smtClean="0">
                <a:sym typeface="Wingdings" pitchFamily="2" charset="2"/>
              </a:rPr>
              <a:t>	A+={A,D,E,F,B,C}</a:t>
            </a:r>
          </a:p>
          <a:p>
            <a:pPr marL="514350" indent="-514350">
              <a:buNone/>
            </a:pPr>
            <a:r>
              <a:rPr lang="en-US" dirty="0" smtClean="0">
                <a:sym typeface="Wingdings" pitchFamily="2" charset="2"/>
              </a:rPr>
              <a:t>	E+={E}</a:t>
            </a:r>
          </a:p>
          <a:p>
            <a:pPr marL="514350" indent="-514350">
              <a:buNone/>
            </a:pPr>
            <a:r>
              <a:rPr lang="en-US" dirty="0" smtClean="0">
                <a:sym typeface="Wingdings" pitchFamily="2" charset="2"/>
              </a:rPr>
              <a:t>	remove E in the above FD</a:t>
            </a:r>
          </a:p>
          <a:p>
            <a:pPr marL="514350" indent="-514350">
              <a:buNone/>
            </a:pPr>
            <a:r>
              <a:rPr lang="en-US" dirty="0" smtClean="0">
                <a:sym typeface="Wingdings" pitchFamily="2" charset="2"/>
              </a:rPr>
              <a:t>	i.e.,  A-&gt;B</a:t>
            </a:r>
            <a:endParaRPr lang="en-US" dirty="0" smtClean="0"/>
          </a:p>
          <a:p>
            <a:pPr marL="514350" indent="-514350">
              <a:buNone/>
            </a:pPr>
            <a:r>
              <a:rPr lang="en-US" dirty="0" smtClean="0"/>
              <a:t>	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4657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pPr marL="514350" indent="-514350">
              <a:buAutoNum type="arabicParenR"/>
            </a:pPr>
            <a:r>
              <a:rPr lang="en-US" dirty="0" smtClean="0"/>
              <a:t>R={ A,B,C,D,E,F}</a:t>
            </a:r>
          </a:p>
          <a:p>
            <a:pPr marL="514350" indent="-514350">
              <a:buNone/>
            </a:pPr>
            <a:r>
              <a:rPr lang="en-US" dirty="0" smtClean="0"/>
              <a:t>		FD={ AB-&gt;D, B-&gt;C, AE-&gt;B, A-&gt;D, D-&gt;EF}</a:t>
            </a:r>
          </a:p>
          <a:p>
            <a:pPr marL="514350" indent="-514350">
              <a:buNone/>
            </a:pPr>
            <a:r>
              <a:rPr lang="en-US" dirty="0" smtClean="0"/>
              <a:t>Step-2: </a:t>
            </a:r>
          </a:p>
          <a:p>
            <a:pPr marL="514350" indent="-514350">
              <a:buNone/>
            </a:pPr>
            <a:r>
              <a:rPr lang="en-US" dirty="0" smtClean="0"/>
              <a:t>	A-&gt;D</a:t>
            </a:r>
          </a:p>
          <a:p>
            <a:pPr marL="514350" indent="-514350">
              <a:buNone/>
            </a:pPr>
            <a:r>
              <a:rPr lang="en-US" dirty="0" smtClean="0"/>
              <a:t>	B-&gt;C</a:t>
            </a:r>
          </a:p>
          <a:p>
            <a:pPr marL="514350" indent="-514350">
              <a:buNone/>
            </a:pPr>
            <a:r>
              <a:rPr lang="en-US" dirty="0" smtClean="0"/>
              <a:t>	A-&gt;B</a:t>
            </a:r>
          </a:p>
          <a:p>
            <a:pPr marL="514350" indent="-514350"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FF0000"/>
                </a:solidFill>
              </a:rPr>
              <a:t>A-&gt;D</a:t>
            </a:r>
          </a:p>
          <a:p>
            <a:pPr marL="514350" indent="-514350">
              <a:buNone/>
            </a:pPr>
            <a:r>
              <a:rPr lang="en-US" dirty="0" smtClean="0"/>
              <a:t>	D-&gt;E</a:t>
            </a:r>
          </a:p>
          <a:p>
            <a:pPr marL="514350" indent="-514350">
              <a:buNone/>
            </a:pPr>
            <a:r>
              <a:rPr lang="en-US" dirty="0" smtClean="0"/>
              <a:t>	D-&gt;F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7739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pPr marL="514350" indent="-514350">
              <a:buAutoNum type="arabicParenR"/>
            </a:pPr>
            <a:r>
              <a:rPr lang="en-US" dirty="0" smtClean="0"/>
              <a:t>R={ A,B,C,D,E,F}</a:t>
            </a:r>
          </a:p>
          <a:p>
            <a:pPr marL="514350" indent="-514350">
              <a:buNone/>
            </a:pPr>
            <a:r>
              <a:rPr lang="en-US" dirty="0" smtClean="0"/>
              <a:t>		FD={ AB-&gt;D, B-&gt;C, AE-&gt;B, A-&gt;D, D-&gt;EF}</a:t>
            </a:r>
          </a:p>
          <a:p>
            <a:pPr marL="514350" indent="-514350">
              <a:buNone/>
            </a:pPr>
            <a:r>
              <a:rPr lang="en-US" dirty="0" smtClean="0"/>
              <a:t>Step-3: </a:t>
            </a:r>
          </a:p>
          <a:p>
            <a:pPr marL="514350" indent="-514350">
              <a:buNone/>
            </a:pPr>
            <a:r>
              <a:rPr lang="en-US" dirty="0" smtClean="0"/>
              <a:t>	A-&gt;D</a:t>
            </a:r>
          </a:p>
          <a:p>
            <a:pPr marL="514350" indent="-514350">
              <a:buNone/>
            </a:pPr>
            <a:r>
              <a:rPr lang="en-US" dirty="0" smtClean="0"/>
              <a:t>	B-&gt;C</a:t>
            </a:r>
          </a:p>
          <a:p>
            <a:pPr marL="514350" indent="-514350">
              <a:buNone/>
            </a:pPr>
            <a:r>
              <a:rPr lang="en-US" dirty="0" smtClean="0"/>
              <a:t>	A-&gt;B</a:t>
            </a:r>
          </a:p>
          <a:p>
            <a:pPr marL="514350" indent="-514350">
              <a:buNone/>
            </a:pPr>
            <a:r>
              <a:rPr lang="en-US" dirty="0" smtClean="0"/>
              <a:t>	D-&gt;E</a:t>
            </a:r>
          </a:p>
          <a:p>
            <a:pPr marL="514350" indent="-514350">
              <a:buNone/>
            </a:pPr>
            <a:r>
              <a:rPr lang="en-US" dirty="0" smtClean="0"/>
              <a:t>	D-&gt;F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2866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pPr marL="514350" indent="-514350">
              <a:buAutoNum type="arabicParenR"/>
            </a:pPr>
            <a:r>
              <a:rPr lang="en-US" dirty="0" smtClean="0"/>
              <a:t>R={ A,B,C,D,E,F}</a:t>
            </a:r>
          </a:p>
          <a:p>
            <a:pPr marL="514350" indent="-514350">
              <a:buNone/>
            </a:pPr>
            <a:r>
              <a:rPr lang="en-US" dirty="0" smtClean="0"/>
              <a:t>		FD={ AB-&gt;D, B-&gt;C, AE-&gt;B, A-&gt;D, D-&gt;EF}</a:t>
            </a:r>
          </a:p>
          <a:p>
            <a:pPr marL="514350" indent="-514350">
              <a:buNone/>
            </a:pPr>
            <a:r>
              <a:rPr lang="en-US" dirty="0" smtClean="0"/>
              <a:t>Step-3: </a:t>
            </a:r>
          </a:p>
          <a:p>
            <a:pPr marL="514350" indent="-514350">
              <a:buNone/>
            </a:pPr>
            <a:r>
              <a:rPr lang="en-US" dirty="0" smtClean="0"/>
              <a:t>	A-&gt;D</a:t>
            </a:r>
          </a:p>
          <a:p>
            <a:pPr marL="514350" indent="-514350">
              <a:buNone/>
            </a:pPr>
            <a:r>
              <a:rPr lang="en-US" dirty="0" smtClean="0"/>
              <a:t>	B-&gt;C</a:t>
            </a:r>
          </a:p>
          <a:p>
            <a:pPr marL="514350" indent="-514350">
              <a:buNone/>
            </a:pPr>
            <a:r>
              <a:rPr lang="en-US" dirty="0" smtClean="0"/>
              <a:t>	A-&gt;B</a:t>
            </a:r>
          </a:p>
          <a:p>
            <a:pPr marL="514350" indent="-514350">
              <a:buNone/>
            </a:pPr>
            <a:r>
              <a:rPr lang="en-US" dirty="0" smtClean="0"/>
              <a:t>	D-&gt;E</a:t>
            </a:r>
          </a:p>
          <a:p>
            <a:pPr marL="514350" indent="-514350">
              <a:buNone/>
            </a:pPr>
            <a:r>
              <a:rPr lang="en-US" dirty="0" smtClean="0"/>
              <a:t>	D-&gt;F</a:t>
            </a:r>
          </a:p>
          <a:p>
            <a:pPr marL="514350" indent="-514350">
              <a:buNone/>
            </a:pPr>
            <a:r>
              <a:rPr lang="en-US" dirty="0" smtClean="0"/>
              <a:t>Find A+ from the above FD except A-&gt;D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9526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pPr marL="514350" indent="-514350">
              <a:buAutoNum type="arabicParenR"/>
            </a:pPr>
            <a:r>
              <a:rPr lang="en-US" dirty="0" smtClean="0"/>
              <a:t>R={ A,B,C,D,E,F}</a:t>
            </a:r>
          </a:p>
          <a:p>
            <a:pPr marL="514350" indent="-514350">
              <a:buNone/>
            </a:pPr>
            <a:r>
              <a:rPr lang="en-US" dirty="0" smtClean="0"/>
              <a:t>		FD={ AB-&gt;D, B-&gt;C, AE-&gt;B, A-&gt;D, D-&gt;EF}</a:t>
            </a:r>
          </a:p>
          <a:p>
            <a:pPr marL="514350" indent="-514350">
              <a:buNone/>
            </a:pPr>
            <a:r>
              <a:rPr lang="en-US" dirty="0" smtClean="0"/>
              <a:t>Step-3: </a:t>
            </a:r>
          </a:p>
          <a:p>
            <a:pPr marL="514350" indent="-514350">
              <a:buNone/>
            </a:pPr>
            <a:r>
              <a:rPr lang="en-US" dirty="0" smtClean="0"/>
              <a:t>	A-&gt;D</a:t>
            </a:r>
          </a:p>
          <a:p>
            <a:pPr marL="514350" indent="-514350">
              <a:buNone/>
            </a:pPr>
            <a:r>
              <a:rPr lang="en-US" dirty="0" smtClean="0"/>
              <a:t>	B-&gt;C</a:t>
            </a:r>
          </a:p>
          <a:p>
            <a:pPr marL="514350" indent="-514350">
              <a:buNone/>
            </a:pPr>
            <a:r>
              <a:rPr lang="en-US" dirty="0" smtClean="0"/>
              <a:t>	A-&gt;B</a:t>
            </a:r>
          </a:p>
          <a:p>
            <a:pPr marL="514350" indent="-514350">
              <a:buNone/>
            </a:pPr>
            <a:r>
              <a:rPr lang="en-US" dirty="0" smtClean="0"/>
              <a:t>	D-&gt;E</a:t>
            </a:r>
          </a:p>
          <a:p>
            <a:pPr marL="514350" indent="-514350">
              <a:buNone/>
            </a:pPr>
            <a:r>
              <a:rPr lang="en-US" dirty="0" smtClean="0"/>
              <a:t>	D-&gt;F</a:t>
            </a:r>
          </a:p>
          <a:p>
            <a:pPr marL="514350" indent="-514350">
              <a:buNone/>
            </a:pPr>
            <a:r>
              <a:rPr lang="en-US" dirty="0" smtClean="0"/>
              <a:t>Find B+ from the above FD except B-&gt;C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108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pPr marL="514350" indent="-514350">
              <a:buAutoNum type="arabicParenR"/>
            </a:pPr>
            <a:r>
              <a:rPr lang="en-US" dirty="0" smtClean="0"/>
              <a:t>R={ A,B,C,D,E,F}</a:t>
            </a:r>
          </a:p>
          <a:p>
            <a:pPr marL="514350" indent="-514350">
              <a:buNone/>
            </a:pPr>
            <a:r>
              <a:rPr lang="en-US" dirty="0" smtClean="0"/>
              <a:t>		FD={ AB-&gt;D, B-&gt;C, AE-&gt;B, A-&gt;D, D-&gt;EF}</a:t>
            </a:r>
          </a:p>
          <a:p>
            <a:pPr marL="514350" indent="-514350">
              <a:buNone/>
            </a:pPr>
            <a:r>
              <a:rPr lang="en-US" dirty="0" smtClean="0"/>
              <a:t>Step-3: </a:t>
            </a:r>
          </a:p>
          <a:p>
            <a:pPr marL="514350" indent="-514350">
              <a:buNone/>
            </a:pPr>
            <a:r>
              <a:rPr lang="en-US" dirty="0" smtClean="0"/>
              <a:t>	A-&gt;D</a:t>
            </a:r>
          </a:p>
          <a:p>
            <a:pPr marL="514350" indent="-514350">
              <a:buNone/>
            </a:pPr>
            <a:r>
              <a:rPr lang="en-US" dirty="0" smtClean="0"/>
              <a:t>	B-&gt;C</a:t>
            </a:r>
          </a:p>
          <a:p>
            <a:pPr marL="514350" indent="-514350">
              <a:buNone/>
            </a:pPr>
            <a:r>
              <a:rPr lang="en-US" dirty="0" smtClean="0"/>
              <a:t>	A-&gt;B</a:t>
            </a:r>
          </a:p>
          <a:p>
            <a:pPr marL="514350" indent="-514350">
              <a:buNone/>
            </a:pPr>
            <a:r>
              <a:rPr lang="en-US" dirty="0" smtClean="0"/>
              <a:t>	D-&gt;E</a:t>
            </a:r>
          </a:p>
          <a:p>
            <a:pPr marL="514350" indent="-514350">
              <a:buNone/>
            </a:pPr>
            <a:r>
              <a:rPr lang="en-US" dirty="0" smtClean="0"/>
              <a:t>	D-&gt;F</a:t>
            </a:r>
          </a:p>
          <a:p>
            <a:pPr marL="514350" indent="-514350">
              <a:buNone/>
            </a:pPr>
            <a:r>
              <a:rPr lang="en-US" dirty="0" smtClean="0"/>
              <a:t>Find A+ from the above FD except A-&gt;B</a:t>
            </a:r>
          </a:p>
          <a:p>
            <a:pPr marL="514350" indent="-514350">
              <a:buNone/>
            </a:pPr>
            <a:r>
              <a:rPr lang="en-US" dirty="0" smtClean="0"/>
              <a:t>……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8003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pPr marL="514350" indent="-514350">
              <a:buNone/>
            </a:pPr>
            <a:r>
              <a:rPr lang="en-US" dirty="0" smtClean="0"/>
              <a:t>3) R={ A,B,C,D,E}</a:t>
            </a:r>
          </a:p>
          <a:p>
            <a:pPr marL="514350" indent="-514350">
              <a:buNone/>
            </a:pPr>
            <a:r>
              <a:rPr lang="en-US" dirty="0" smtClean="0"/>
              <a:t>		FD={ A-&gt;D, BC-&gt;AD, C-&gt;B, E-&gt;A, E-&gt;D}</a:t>
            </a:r>
          </a:p>
          <a:p>
            <a:pPr marL="514350" indent="-514350">
              <a:buNone/>
            </a:pPr>
            <a:r>
              <a:rPr lang="en-US" dirty="0" smtClean="0"/>
              <a:t>Step-1:</a:t>
            </a:r>
          </a:p>
          <a:p>
            <a:pPr marL="514350" indent="-514350">
              <a:buNone/>
            </a:pPr>
            <a:r>
              <a:rPr lang="en-US" dirty="0" smtClean="0"/>
              <a:t>	A-&gt;D</a:t>
            </a:r>
          </a:p>
          <a:p>
            <a:pPr marL="514350" indent="-514350">
              <a:buNone/>
            </a:pPr>
            <a:r>
              <a:rPr lang="en-US" dirty="0" smtClean="0"/>
              <a:t>	BC-&gt;A</a:t>
            </a:r>
          </a:p>
          <a:p>
            <a:pPr marL="514350" indent="-514350">
              <a:buNone/>
            </a:pPr>
            <a:r>
              <a:rPr lang="en-US" dirty="0" smtClean="0"/>
              <a:t>	BC-&gt;D</a:t>
            </a:r>
          </a:p>
          <a:p>
            <a:pPr marL="514350" indent="-514350">
              <a:buNone/>
            </a:pPr>
            <a:r>
              <a:rPr lang="en-US" dirty="0" smtClean="0"/>
              <a:t>	C-&gt;B</a:t>
            </a:r>
          </a:p>
          <a:p>
            <a:pPr marL="514350" indent="-514350">
              <a:buNone/>
            </a:pPr>
            <a:r>
              <a:rPr lang="en-US" dirty="0" smtClean="0"/>
              <a:t>	E-&gt;A</a:t>
            </a:r>
          </a:p>
          <a:p>
            <a:pPr marL="514350" indent="-514350">
              <a:buNone/>
            </a:pPr>
            <a:r>
              <a:rPr lang="en-US" dirty="0" smtClean="0"/>
              <a:t>	E-&gt;D</a:t>
            </a:r>
          </a:p>
        </p:txBody>
      </p:sp>
    </p:spTree>
    <p:extLst>
      <p:ext uri="{BB962C8B-B14F-4D97-AF65-F5344CB8AC3E}">
        <p14:creationId xmlns:p14="http://schemas.microsoft.com/office/powerpoint/2010/main" val="964272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514350" indent="-514350">
              <a:buNone/>
            </a:pPr>
            <a:r>
              <a:rPr lang="en-US" dirty="0" smtClean="0"/>
              <a:t>3) R={ A,B,C,D,E}</a:t>
            </a:r>
          </a:p>
          <a:p>
            <a:pPr marL="514350" indent="-514350">
              <a:buNone/>
            </a:pPr>
            <a:r>
              <a:rPr lang="en-US" dirty="0" smtClean="0"/>
              <a:t>		FD={ A-&gt;D, BC-&gt;AD, C-&gt;B, E-&gt;A, E-&gt;D}</a:t>
            </a:r>
          </a:p>
          <a:p>
            <a:pPr marL="514350" indent="-514350">
              <a:buNone/>
            </a:pPr>
            <a:r>
              <a:rPr lang="en-US" dirty="0" smtClean="0"/>
              <a:t>Step-2:</a:t>
            </a:r>
          </a:p>
          <a:p>
            <a:pPr marL="514350" indent="-514350">
              <a:buNone/>
            </a:pPr>
            <a:endParaRPr lang="en-US" dirty="0" smtClean="0"/>
          </a:p>
          <a:p>
            <a:pPr marL="514350" indent="-514350">
              <a:buNone/>
            </a:pPr>
            <a:r>
              <a:rPr lang="en-US" dirty="0" smtClean="0"/>
              <a:t>BC-&gt;A============</a:t>
            </a:r>
            <a:r>
              <a:rPr lang="en-US" dirty="0" smtClean="0">
                <a:sym typeface="Wingdings" pitchFamily="2" charset="2"/>
              </a:rPr>
              <a:t> B+, C+</a:t>
            </a:r>
          </a:p>
          <a:p>
            <a:pPr marL="514350" indent="-514350">
              <a:buNone/>
            </a:pPr>
            <a:r>
              <a:rPr lang="en-US" dirty="0" smtClean="0"/>
              <a:t>BC-&gt;D============</a:t>
            </a:r>
            <a:r>
              <a:rPr lang="en-US" dirty="0" smtClean="0">
                <a:sym typeface="Wingdings" pitchFamily="2" charset="2"/>
              </a:rPr>
              <a:t> B+, C+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808604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pPr marL="514350" indent="-514350">
              <a:buNone/>
            </a:pPr>
            <a:r>
              <a:rPr lang="en-US" dirty="0" smtClean="0"/>
              <a:t>3) R={ A,B,C,D,E}</a:t>
            </a:r>
          </a:p>
          <a:p>
            <a:pPr marL="514350" indent="-514350">
              <a:buNone/>
            </a:pPr>
            <a:r>
              <a:rPr lang="en-US" dirty="0" smtClean="0"/>
              <a:t>		FD={ A-&gt;D, BC-&gt;AD, C-&gt;B, E-&gt;A, E-&gt;D}</a:t>
            </a:r>
          </a:p>
          <a:p>
            <a:pPr marL="514350" indent="-514350">
              <a:buNone/>
            </a:pPr>
            <a:r>
              <a:rPr lang="en-US" dirty="0" smtClean="0"/>
              <a:t>Step-2:</a:t>
            </a:r>
          </a:p>
          <a:p>
            <a:pPr marL="514350" indent="-514350">
              <a:buNone/>
            </a:pPr>
            <a:endParaRPr lang="en-US" dirty="0" smtClean="0"/>
          </a:p>
          <a:p>
            <a:pPr marL="514350" indent="-514350">
              <a:buNone/>
            </a:pPr>
            <a:r>
              <a:rPr lang="en-US" dirty="0" smtClean="0"/>
              <a:t>BC-&gt;A============</a:t>
            </a:r>
            <a:r>
              <a:rPr lang="en-US" dirty="0" smtClean="0">
                <a:sym typeface="Wingdings" pitchFamily="2" charset="2"/>
              </a:rPr>
              <a:t> B+, C+</a:t>
            </a:r>
          </a:p>
          <a:p>
            <a:pPr marL="514350" indent="-514350">
              <a:buNone/>
            </a:pPr>
            <a:r>
              <a:rPr lang="en-US" dirty="0" smtClean="0">
                <a:sym typeface="Wingdings" pitchFamily="2" charset="2"/>
              </a:rPr>
              <a:t>B+={B}</a:t>
            </a:r>
          </a:p>
          <a:p>
            <a:pPr marL="514350" indent="-514350">
              <a:buNone/>
            </a:pPr>
            <a:r>
              <a:rPr lang="en-US" dirty="0" smtClean="0">
                <a:sym typeface="Wingdings" pitchFamily="2" charset="2"/>
              </a:rPr>
              <a:t>C+={C,B,A,D}</a:t>
            </a:r>
          </a:p>
          <a:p>
            <a:pPr marL="514350" indent="-514350">
              <a:buNone/>
            </a:pPr>
            <a:r>
              <a:rPr lang="en-US" dirty="0" smtClean="0">
                <a:sym typeface="Wingdings" pitchFamily="2" charset="2"/>
              </a:rPr>
              <a:t>So C-&gt;A</a:t>
            </a:r>
          </a:p>
          <a:p>
            <a:pPr marL="514350" indent="-514350">
              <a:buNone/>
            </a:pPr>
            <a:endParaRPr lang="en-US" dirty="0" smtClean="0"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930727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pPr marL="514350" indent="-514350">
              <a:buNone/>
            </a:pPr>
            <a:r>
              <a:rPr lang="en-US" dirty="0" smtClean="0"/>
              <a:t>3) R={ A,B,C,D,E}</a:t>
            </a:r>
          </a:p>
          <a:p>
            <a:pPr marL="514350" indent="-514350">
              <a:buNone/>
            </a:pPr>
            <a:r>
              <a:rPr lang="en-US" dirty="0" smtClean="0"/>
              <a:t>		FD={ A-&gt;D, BC-&gt;AD, C-&gt;B, E-&gt;A, E-&gt;D}</a:t>
            </a:r>
          </a:p>
          <a:p>
            <a:pPr marL="514350" indent="-514350">
              <a:buNone/>
            </a:pPr>
            <a:r>
              <a:rPr lang="en-US" dirty="0" smtClean="0">
                <a:solidFill>
                  <a:srgbClr val="FF0000"/>
                </a:solidFill>
              </a:rPr>
              <a:t>Step-2:</a:t>
            </a:r>
          </a:p>
          <a:p>
            <a:pPr marL="514350" indent="-514350">
              <a:buNone/>
            </a:pPr>
            <a:r>
              <a:rPr lang="en-US" dirty="0" smtClean="0"/>
              <a:t>BC-&gt;A============</a:t>
            </a:r>
            <a:r>
              <a:rPr lang="en-US" dirty="0" smtClean="0">
                <a:sym typeface="Wingdings" pitchFamily="2" charset="2"/>
              </a:rPr>
              <a:t> B+, C+</a:t>
            </a:r>
          </a:p>
          <a:p>
            <a:pPr marL="514350" indent="-514350">
              <a:buNone/>
            </a:pPr>
            <a:r>
              <a:rPr lang="en-US" dirty="0" smtClean="0">
                <a:sym typeface="Wingdings" pitchFamily="2" charset="2"/>
              </a:rPr>
              <a:t>B+={B}</a:t>
            </a:r>
          </a:p>
          <a:p>
            <a:pPr marL="514350" indent="-514350">
              <a:buNone/>
            </a:pPr>
            <a:r>
              <a:rPr lang="en-US" dirty="0" smtClean="0">
                <a:sym typeface="Wingdings" pitchFamily="2" charset="2"/>
              </a:rPr>
              <a:t>C+={C,B,A,D}</a:t>
            </a:r>
          </a:p>
          <a:p>
            <a:pPr marL="514350" indent="-514350">
              <a:buNone/>
            </a:pPr>
            <a:r>
              <a:rPr lang="en-US" dirty="0" smtClean="0">
                <a:sym typeface="Wingdings" pitchFamily="2" charset="2"/>
              </a:rPr>
              <a:t>So C-&gt;A</a:t>
            </a:r>
          </a:p>
          <a:p>
            <a:pPr marL="514350" indent="-514350">
              <a:buNone/>
            </a:pPr>
            <a:r>
              <a:rPr lang="en-US" dirty="0" smtClean="0">
                <a:sym typeface="Wingdings" pitchFamily="2" charset="2"/>
              </a:rPr>
              <a:t>Similarly , </a:t>
            </a:r>
          </a:p>
          <a:p>
            <a:pPr marL="514350" indent="-514350">
              <a:buNone/>
            </a:pPr>
            <a:r>
              <a:rPr lang="en-US" dirty="0" smtClean="0"/>
              <a:t>BC-&gt;D============</a:t>
            </a:r>
            <a:r>
              <a:rPr lang="en-US" dirty="0" smtClean="0">
                <a:sym typeface="Wingdings" pitchFamily="2" charset="2"/>
              </a:rPr>
              <a:t> B+, C+</a:t>
            </a:r>
          </a:p>
          <a:p>
            <a:pPr marL="514350" indent="-514350">
              <a:buNone/>
            </a:pPr>
            <a:r>
              <a:rPr lang="en-US" dirty="0" smtClean="0">
                <a:sym typeface="Wingdings" pitchFamily="2" charset="2"/>
              </a:rPr>
              <a:t>So C-&gt;D</a:t>
            </a:r>
            <a:endParaRPr lang="en-US" dirty="0" smtClean="0"/>
          </a:p>
          <a:p>
            <a:pPr marL="514350" indent="-514350">
              <a:buNone/>
            </a:pPr>
            <a:endParaRPr lang="en-US" dirty="0" smtClean="0">
              <a:sym typeface="Wingdings" pitchFamily="2" charset="2"/>
            </a:endParaRPr>
          </a:p>
          <a:p>
            <a:pPr marL="514350" indent="-514350">
              <a:buNone/>
            </a:pPr>
            <a:endParaRPr lang="en-US" dirty="0" smtClean="0"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588026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pPr marL="514350" indent="-514350">
              <a:buNone/>
            </a:pPr>
            <a:r>
              <a:rPr lang="en-US" dirty="0" smtClean="0"/>
              <a:t>3) R={ A,B,C,D,E}</a:t>
            </a:r>
          </a:p>
          <a:p>
            <a:pPr marL="514350" indent="-514350">
              <a:buNone/>
            </a:pPr>
            <a:r>
              <a:rPr lang="en-US" dirty="0" smtClean="0"/>
              <a:t>		FD={ A-&gt;D, BC-&gt;AD, C-&gt;B, E-&gt;A, E-&gt;D}</a:t>
            </a:r>
          </a:p>
          <a:p>
            <a:pPr marL="514350" indent="-514350">
              <a:buNone/>
            </a:pPr>
            <a:r>
              <a:rPr lang="en-US" dirty="0" smtClean="0">
                <a:solidFill>
                  <a:srgbClr val="FF0000"/>
                </a:solidFill>
                <a:sym typeface="Wingdings" pitchFamily="2" charset="2"/>
              </a:rPr>
              <a:t>Step-3:</a:t>
            </a:r>
          </a:p>
          <a:p>
            <a:pPr marL="514350" indent="-514350">
              <a:buNone/>
            </a:pPr>
            <a:r>
              <a:rPr lang="en-US" dirty="0" smtClean="0">
                <a:sym typeface="Wingdings" pitchFamily="2" charset="2"/>
              </a:rPr>
              <a:t>A-&gt;D</a:t>
            </a:r>
          </a:p>
          <a:p>
            <a:pPr marL="514350" indent="-514350">
              <a:buNone/>
            </a:pPr>
            <a:r>
              <a:rPr lang="en-US" dirty="0" smtClean="0">
                <a:sym typeface="Wingdings" pitchFamily="2" charset="2"/>
              </a:rPr>
              <a:t>C-&gt;A</a:t>
            </a:r>
          </a:p>
          <a:p>
            <a:pPr marL="514350" indent="-514350">
              <a:buNone/>
            </a:pPr>
            <a:r>
              <a:rPr lang="en-US" dirty="0" smtClean="0">
                <a:sym typeface="Wingdings" pitchFamily="2" charset="2"/>
              </a:rPr>
              <a:t>C-&gt;D</a:t>
            </a:r>
          </a:p>
          <a:p>
            <a:pPr marL="514350" indent="-514350">
              <a:buNone/>
            </a:pPr>
            <a:r>
              <a:rPr lang="en-US" dirty="0" smtClean="0">
                <a:sym typeface="Wingdings" pitchFamily="2" charset="2"/>
              </a:rPr>
              <a:t>C-&gt;B</a:t>
            </a:r>
          </a:p>
          <a:p>
            <a:pPr marL="514350" indent="-514350">
              <a:buNone/>
            </a:pPr>
            <a:r>
              <a:rPr lang="en-US" dirty="0" smtClean="0">
                <a:sym typeface="Wingdings" pitchFamily="2" charset="2"/>
              </a:rPr>
              <a:t>E-&gt;A</a:t>
            </a:r>
          </a:p>
          <a:p>
            <a:pPr marL="514350" indent="-514350">
              <a:buNone/>
            </a:pPr>
            <a:r>
              <a:rPr lang="en-US" dirty="0" smtClean="0">
                <a:sym typeface="Wingdings" pitchFamily="2" charset="2"/>
              </a:rPr>
              <a:t>E-&gt;D</a:t>
            </a:r>
          </a:p>
        </p:txBody>
      </p:sp>
    </p:spTree>
    <p:extLst>
      <p:ext uri="{BB962C8B-B14F-4D97-AF65-F5344CB8AC3E}">
        <p14:creationId xmlns:p14="http://schemas.microsoft.com/office/powerpoint/2010/main" val="4287802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pPr marL="514350" indent="-514350">
              <a:buNone/>
            </a:pPr>
            <a:r>
              <a:rPr lang="en-US" dirty="0" smtClean="0"/>
              <a:t>3) R={ A,B,C,D,E}</a:t>
            </a:r>
          </a:p>
          <a:p>
            <a:pPr marL="514350" indent="-514350">
              <a:buNone/>
            </a:pPr>
            <a:r>
              <a:rPr lang="en-US" dirty="0" smtClean="0"/>
              <a:t>		FD={ A-&gt;D, BC-&gt;AD, C-&gt;B, E-&gt;A, E-&gt;D}</a:t>
            </a:r>
          </a:p>
          <a:p>
            <a:pPr marL="514350" indent="-514350">
              <a:buNone/>
            </a:pPr>
            <a:r>
              <a:rPr lang="en-US" dirty="0" smtClean="0">
                <a:solidFill>
                  <a:srgbClr val="FF0000"/>
                </a:solidFill>
                <a:sym typeface="Wingdings" pitchFamily="2" charset="2"/>
              </a:rPr>
              <a:t>Step-3:</a:t>
            </a:r>
          </a:p>
          <a:p>
            <a:pPr marL="514350" indent="-514350">
              <a:buNone/>
            </a:pPr>
            <a:r>
              <a:rPr lang="en-US" dirty="0" smtClean="0">
                <a:sym typeface="Wingdings" pitchFamily="2" charset="2"/>
              </a:rPr>
              <a:t>	A-&gt;D</a:t>
            </a:r>
          </a:p>
          <a:p>
            <a:pPr marL="514350" indent="-514350">
              <a:buNone/>
            </a:pPr>
            <a:r>
              <a:rPr lang="en-US" dirty="0" smtClean="0">
                <a:sym typeface="Wingdings" pitchFamily="2" charset="2"/>
              </a:rPr>
              <a:t>	C-&gt;A</a:t>
            </a:r>
          </a:p>
          <a:p>
            <a:pPr marL="514350" indent="-514350">
              <a:buNone/>
            </a:pPr>
            <a:r>
              <a:rPr lang="en-US" dirty="0" smtClean="0">
                <a:solidFill>
                  <a:srgbClr val="FF0000"/>
                </a:solidFill>
                <a:sym typeface="Wingdings" pitchFamily="2" charset="2"/>
              </a:rPr>
              <a:t>	C-&gt;D</a:t>
            </a:r>
          </a:p>
          <a:p>
            <a:pPr marL="514350" indent="-514350">
              <a:buNone/>
            </a:pPr>
            <a:r>
              <a:rPr lang="en-US" dirty="0" smtClean="0">
                <a:sym typeface="Wingdings" pitchFamily="2" charset="2"/>
              </a:rPr>
              <a:t>	C-&gt;B</a:t>
            </a:r>
          </a:p>
          <a:p>
            <a:pPr marL="514350" indent="-514350">
              <a:buNone/>
            </a:pPr>
            <a:r>
              <a:rPr lang="en-US" dirty="0" smtClean="0">
                <a:sym typeface="Wingdings" pitchFamily="2" charset="2"/>
              </a:rPr>
              <a:t>	E-&gt;A</a:t>
            </a:r>
          </a:p>
          <a:p>
            <a:pPr marL="514350" indent="-514350">
              <a:buNone/>
            </a:pPr>
            <a:r>
              <a:rPr lang="en-US" dirty="0" smtClean="0">
                <a:solidFill>
                  <a:srgbClr val="FF0000"/>
                </a:solidFill>
                <a:sym typeface="Wingdings" pitchFamily="2" charset="2"/>
              </a:rPr>
              <a:t>	E-&gt;D</a:t>
            </a:r>
          </a:p>
        </p:txBody>
      </p:sp>
    </p:spTree>
    <p:extLst>
      <p:ext uri="{BB962C8B-B14F-4D97-AF65-F5344CB8AC3E}">
        <p14:creationId xmlns:p14="http://schemas.microsoft.com/office/powerpoint/2010/main" val="2168876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Example</a:t>
            </a:r>
            <a:endParaRPr lang="en-US" sz="4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B1DC0-5783-4F1A-A0D1-155778440E93}" type="slidenum">
              <a:rPr lang="en-US" smtClean="0"/>
              <a:t>55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R(A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B, C) &amp; </a:t>
            </a:r>
          </a:p>
          <a:p>
            <a:pPr>
              <a:buFont typeface="Wingdings" pitchFamily="2" charset="2"/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F = {A 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BC, B  C, A  B, AB  C}.</a:t>
            </a:r>
          </a:p>
          <a:p>
            <a:pPr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Find a minimal cover of F. </a:t>
            </a:r>
            <a:endParaRPr lang="en-US" dirty="0" smtClean="0"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  <a:p>
            <a:pPr>
              <a:buNone/>
            </a:pPr>
            <a:endParaRPr lang="en-US" dirty="0"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  <a:p>
            <a:pPr>
              <a:buFont typeface="Wingdings" pitchFamily="2" charset="2"/>
              <a:buNone/>
            </a:pPr>
            <a:endParaRPr lang="en-US" dirty="0"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884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Solution</a:t>
            </a:r>
            <a:endParaRPr lang="en-US" sz="4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B1DC0-5783-4F1A-A0D1-155778440E93}" type="slidenum">
              <a:rPr lang="en-US" smtClean="0"/>
              <a:t>56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The set F = {A </a:t>
            </a:r>
            <a:r>
              <a:rPr lang="en-US" sz="23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BC, B  C, A  B, AB  C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} is </a:t>
            </a:r>
            <a:r>
              <a:rPr lang="en-US" sz="23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reduced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to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F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= {A </a:t>
            </a:r>
            <a:r>
              <a:rPr lang="en-US" sz="23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B, A  C, B  C, AB  C} (by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converting all functional </a:t>
            </a:r>
            <a:r>
              <a:rPr lang="en-US" sz="23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dependencies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into canonical </a:t>
            </a:r>
            <a:r>
              <a:rPr lang="en-US" sz="23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form). </a:t>
            </a:r>
          </a:p>
          <a:p>
            <a:pPr>
              <a:defRPr/>
            </a:pPr>
            <a:r>
              <a:rPr lang="en-US" sz="23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We also find that B can be removed from the left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hand </a:t>
            </a:r>
            <a:r>
              <a:rPr lang="en-US" sz="23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side of AB  C.</a:t>
            </a:r>
          </a:p>
          <a:p>
            <a:pPr>
              <a:defRPr/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So F = {A </a:t>
            </a:r>
            <a:r>
              <a:rPr lang="en-US" sz="23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B, B  C, A  C}</a:t>
            </a:r>
          </a:p>
          <a:p>
            <a:pPr>
              <a:defRPr/>
            </a:pPr>
            <a:r>
              <a:rPr lang="en-US" sz="23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But A  C can be inferred from {A  B, B  C},</a:t>
            </a:r>
          </a:p>
          <a:p>
            <a:pPr>
              <a:defRPr/>
            </a:pPr>
            <a:r>
              <a:rPr lang="en-US" sz="23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And we get  G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 = {A </a:t>
            </a:r>
            <a:r>
              <a:rPr lang="en-US" sz="23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B, B  C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}.</a:t>
            </a:r>
            <a:endParaRPr lang="en-US" sz="2300" dirty="0"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653960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Example</a:t>
            </a:r>
            <a:endParaRPr lang="en-US" sz="4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B1DC0-5783-4F1A-A0D1-155778440E93}" type="slidenum">
              <a:rPr lang="en-US" smtClean="0"/>
              <a:t>57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137160" indent="0">
              <a:buNone/>
              <a:defRPr/>
            </a:pPr>
            <a:r>
              <a:rPr lang="en-US" dirty="0"/>
              <a:t>Find </a:t>
            </a:r>
            <a:r>
              <a:rPr lang="en-US" dirty="0" smtClean="0"/>
              <a:t>out a </a:t>
            </a:r>
            <a:r>
              <a:rPr lang="en-US" dirty="0"/>
              <a:t>minimal cover of 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dirty="0">
                <a:latin typeface="Script MT Bold" pitchFamily="66" charset="0"/>
              </a:rPr>
              <a:t>	F</a:t>
            </a:r>
            <a:r>
              <a:rPr lang="en-US" dirty="0"/>
              <a:t> = {</a:t>
            </a:r>
            <a:r>
              <a:rPr lang="en-US" dirty="0" smtClean="0"/>
              <a:t>B </a:t>
            </a:r>
            <a:r>
              <a:rPr lang="en-US" dirty="0" smtClean="0">
                <a:sym typeface="Wingdings" pitchFamily="2" charset="2"/>
              </a:rPr>
              <a:t></a:t>
            </a:r>
            <a:r>
              <a:rPr lang="en-US" dirty="0">
                <a:sym typeface="Wingdings" pitchFamily="2" charset="2"/>
              </a:rPr>
              <a:t>A, </a:t>
            </a:r>
            <a:r>
              <a:rPr lang="en-US" dirty="0" smtClean="0">
                <a:sym typeface="Wingdings" pitchFamily="2" charset="2"/>
              </a:rPr>
              <a:t>D  </a:t>
            </a:r>
            <a:r>
              <a:rPr lang="en-US" dirty="0">
                <a:sym typeface="Wingdings" pitchFamily="2" charset="2"/>
              </a:rPr>
              <a:t>A, AB  D}. </a:t>
            </a:r>
            <a:endParaRPr lang="en-US" dirty="0" smtClean="0">
              <a:sym typeface="Wingdings" pitchFamily="2" charset="2"/>
            </a:endParaRPr>
          </a:p>
          <a:p>
            <a:pPr marL="0" indent="0">
              <a:buFont typeface="Wingdings" pitchFamily="2" charset="2"/>
              <a:buNone/>
              <a:defRPr/>
            </a:pPr>
            <a:endParaRPr lang="en-US" dirty="0">
              <a:sym typeface="Wingdings" pitchFamily="2" charset="2"/>
            </a:endParaRPr>
          </a:p>
          <a:p>
            <a:pPr marL="0" indent="0">
              <a:buFont typeface="Wingdings" pitchFamily="2" charset="2"/>
              <a:buNone/>
              <a:defRPr/>
            </a:pPr>
            <a:r>
              <a:rPr lang="en-US" dirty="0">
                <a:sym typeface="Wingdings" pitchFamily="2" charset="2"/>
              </a:rPr>
              <a:t>Answer: </a:t>
            </a:r>
            <a:r>
              <a:rPr lang="en-US" dirty="0">
                <a:latin typeface="Script MT Bold" pitchFamily="66" charset="0"/>
                <a:sym typeface="Wingdings" pitchFamily="2" charset="2"/>
              </a:rPr>
              <a:t>G</a:t>
            </a:r>
            <a:r>
              <a:rPr lang="en-US" dirty="0">
                <a:sym typeface="Wingdings" pitchFamily="2" charset="2"/>
              </a:rPr>
              <a:t> = </a:t>
            </a:r>
            <a:r>
              <a:rPr lang="en-US" dirty="0"/>
              <a:t>{D </a:t>
            </a:r>
            <a:r>
              <a:rPr lang="en-US" dirty="0">
                <a:sym typeface="Wingdings" pitchFamily="2" charset="2"/>
              </a:rPr>
              <a:t> A, B  D} 	     		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9181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Example</a:t>
            </a:r>
            <a:endParaRPr lang="en-US" sz="4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B1DC0-5783-4F1A-A0D1-155778440E93}" type="slidenum">
              <a:rPr lang="en-US" smtClean="0"/>
              <a:t>58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137160" indent="0">
              <a:buNone/>
              <a:defRPr/>
            </a:pPr>
            <a:r>
              <a:rPr lang="en-US" dirty="0"/>
              <a:t>Find </a:t>
            </a:r>
            <a:r>
              <a:rPr lang="en-US" dirty="0" smtClean="0"/>
              <a:t>out a </a:t>
            </a:r>
            <a:r>
              <a:rPr lang="en-US" dirty="0"/>
              <a:t>minimal cover of 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dirty="0">
                <a:latin typeface="Script MT Bold" pitchFamily="66" charset="0"/>
              </a:rPr>
              <a:t>	F</a:t>
            </a:r>
            <a:r>
              <a:rPr lang="en-US" dirty="0"/>
              <a:t> = {A </a:t>
            </a:r>
            <a:r>
              <a:rPr lang="en-US" dirty="0">
                <a:sym typeface="Wingdings" pitchFamily="2" charset="2"/>
              </a:rPr>
              <a:t> B, B  C, AC  D</a:t>
            </a:r>
            <a:r>
              <a:rPr lang="en-US" dirty="0" smtClean="0">
                <a:sym typeface="Wingdings" pitchFamily="2" charset="2"/>
              </a:rPr>
              <a:t>}.</a:t>
            </a:r>
          </a:p>
          <a:p>
            <a:pPr marL="0" indent="0">
              <a:buFont typeface="Wingdings" pitchFamily="2" charset="2"/>
              <a:buNone/>
              <a:defRPr/>
            </a:pPr>
            <a:endParaRPr lang="en-US" dirty="0">
              <a:sym typeface="Wingdings" pitchFamily="2" charset="2"/>
            </a:endParaRPr>
          </a:p>
          <a:p>
            <a:r>
              <a:rPr lang="en-US" dirty="0">
                <a:sym typeface="Wingdings" pitchFamily="2" charset="2"/>
              </a:rPr>
              <a:t>Answer: </a:t>
            </a:r>
            <a:r>
              <a:rPr lang="en-US" dirty="0">
                <a:latin typeface="Script MT Bold" pitchFamily="66" charset="0"/>
                <a:sym typeface="Wingdings" pitchFamily="2" charset="2"/>
              </a:rPr>
              <a:t>G</a:t>
            </a:r>
            <a:r>
              <a:rPr lang="en-US" dirty="0">
                <a:sym typeface="Wingdings" pitchFamily="2" charset="2"/>
              </a:rPr>
              <a:t> = </a:t>
            </a:r>
            <a:r>
              <a:rPr lang="en-US" dirty="0"/>
              <a:t>{A </a:t>
            </a:r>
            <a:r>
              <a:rPr lang="en-US" dirty="0">
                <a:sym typeface="Wingdings" pitchFamily="2" charset="2"/>
              </a:rPr>
              <a:t> B, B  C</a:t>
            </a:r>
            <a:r>
              <a:rPr lang="en-US">
                <a:sym typeface="Wingdings" pitchFamily="2" charset="2"/>
              </a:rPr>
              <a:t>, </a:t>
            </a:r>
            <a:r>
              <a:rPr lang="en-US" dirty="0">
                <a:sym typeface="Wingdings" pitchFamily="2" charset="2"/>
              </a:rPr>
              <a:t>A</a:t>
            </a:r>
            <a:r>
              <a:rPr lang="en-US" smtClean="0">
                <a:sym typeface="Wingdings" pitchFamily="2" charset="2"/>
              </a:rPr>
              <a:t> </a:t>
            </a:r>
            <a:r>
              <a:rPr lang="en-US" dirty="0">
                <a:sym typeface="Wingdings" pitchFamily="2" charset="2"/>
              </a:rPr>
              <a:t> D}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224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Example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B1DC0-5783-4F1A-A0D1-155778440E93}" type="slidenum">
              <a:rPr lang="en-US" smtClean="0"/>
              <a:t>59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137160" indent="0">
              <a:buNone/>
            </a:pPr>
            <a:r>
              <a:rPr lang="en-IN" dirty="0"/>
              <a:t>Find out a minimal cover </a:t>
            </a:r>
            <a:r>
              <a:rPr lang="en-IN" dirty="0" smtClean="0"/>
              <a:t>of </a:t>
            </a:r>
          </a:p>
          <a:p>
            <a:pPr marL="137160" indent="0">
              <a:buNone/>
            </a:pPr>
            <a:r>
              <a:rPr lang="en-IN" dirty="0" smtClean="0">
                <a:latin typeface="Script MT Bold" pitchFamily="66" charset="0"/>
              </a:rPr>
              <a:t>F</a:t>
            </a:r>
            <a:r>
              <a:rPr lang="en-IN" dirty="0" smtClean="0"/>
              <a:t> </a:t>
            </a:r>
            <a:r>
              <a:rPr lang="en-IN" dirty="0"/>
              <a:t>= {A </a:t>
            </a:r>
            <a:r>
              <a:rPr lang="en-IN" dirty="0">
                <a:sym typeface="Wingdings"/>
              </a:rPr>
              <a:t></a:t>
            </a:r>
            <a:r>
              <a:rPr lang="en-IN" dirty="0"/>
              <a:t> BCE, AB </a:t>
            </a:r>
            <a:r>
              <a:rPr lang="en-IN" dirty="0">
                <a:sym typeface="Wingdings"/>
              </a:rPr>
              <a:t></a:t>
            </a:r>
            <a:r>
              <a:rPr lang="en-IN" dirty="0"/>
              <a:t> DE, BI </a:t>
            </a:r>
            <a:r>
              <a:rPr lang="en-IN" dirty="0">
                <a:sym typeface="Wingdings"/>
              </a:rPr>
              <a:t></a:t>
            </a:r>
            <a:r>
              <a:rPr lang="en-IN" dirty="0"/>
              <a:t> J</a:t>
            </a:r>
            <a:r>
              <a:rPr lang="en-IN" dirty="0" smtClean="0"/>
              <a:t>}.</a:t>
            </a:r>
          </a:p>
          <a:p>
            <a:pPr marL="137160" indent="0">
              <a:buNone/>
            </a:pPr>
            <a:r>
              <a:rPr lang="en-IN" sz="2600" dirty="0" smtClean="0"/>
              <a:t>Answer: </a:t>
            </a:r>
            <a:r>
              <a:rPr lang="en-IN" sz="2600" dirty="0">
                <a:latin typeface="Script MT Bold" pitchFamily="66" charset="0"/>
              </a:rPr>
              <a:t>G</a:t>
            </a:r>
            <a:r>
              <a:rPr lang="en-IN" sz="2600" dirty="0"/>
              <a:t> = {A </a:t>
            </a:r>
            <a:r>
              <a:rPr lang="en-IN" sz="2600" dirty="0">
                <a:sym typeface="Wingdings"/>
              </a:rPr>
              <a:t></a:t>
            </a:r>
            <a:r>
              <a:rPr lang="en-IN" sz="2600" dirty="0"/>
              <a:t> B, A </a:t>
            </a:r>
            <a:r>
              <a:rPr lang="en-IN" sz="2600" dirty="0">
                <a:sym typeface="Wingdings"/>
              </a:rPr>
              <a:t></a:t>
            </a:r>
            <a:r>
              <a:rPr lang="en-IN" sz="2600" dirty="0"/>
              <a:t> C, A </a:t>
            </a:r>
            <a:r>
              <a:rPr lang="en-IN" sz="2600" dirty="0">
                <a:sym typeface="Wingdings"/>
              </a:rPr>
              <a:t></a:t>
            </a:r>
            <a:r>
              <a:rPr lang="en-IN" sz="2600" dirty="0"/>
              <a:t> D, A </a:t>
            </a:r>
            <a:r>
              <a:rPr lang="en-IN" sz="2600" dirty="0">
                <a:sym typeface="Wingdings"/>
              </a:rPr>
              <a:t></a:t>
            </a:r>
            <a:r>
              <a:rPr lang="en-IN" sz="2600" dirty="0"/>
              <a:t> E, BI </a:t>
            </a:r>
            <a:r>
              <a:rPr lang="en-IN" sz="2600" dirty="0">
                <a:sym typeface="Wingdings"/>
              </a:rPr>
              <a:t></a:t>
            </a:r>
            <a:r>
              <a:rPr lang="en-IN" sz="2600" dirty="0"/>
              <a:t> </a:t>
            </a:r>
            <a:r>
              <a:rPr lang="en-IN" sz="2600" dirty="0" smtClean="0"/>
              <a:t>J } </a:t>
            </a:r>
          </a:p>
          <a:p>
            <a:pPr marL="137160" indent="0">
              <a:buNone/>
            </a:pPr>
            <a:r>
              <a:rPr lang="en-US" dirty="0" smtClean="0"/>
              <a:t>A—BCDE</a:t>
            </a:r>
          </a:p>
        </p:txBody>
      </p:sp>
    </p:spTree>
    <p:extLst>
      <p:ext uri="{BB962C8B-B14F-4D97-AF65-F5344CB8AC3E}">
        <p14:creationId xmlns:p14="http://schemas.microsoft.com/office/powerpoint/2010/main" val="3106557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Solution</a:t>
            </a:r>
            <a:endParaRPr lang="en-US" sz="4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B1DC0-5783-4F1A-A0D1-155778440E93}" type="slidenum">
              <a:rPr lang="en-US" smtClean="0"/>
              <a:t>60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>
                <a:latin typeface="Script MT Bold" pitchFamily="66" charset="0"/>
              </a:rPr>
              <a:t>F</a:t>
            </a:r>
            <a:r>
              <a:rPr lang="en-IN" dirty="0"/>
              <a:t> = {A </a:t>
            </a:r>
            <a:r>
              <a:rPr lang="en-IN" dirty="0">
                <a:sym typeface="Wingdings"/>
              </a:rPr>
              <a:t></a:t>
            </a:r>
            <a:r>
              <a:rPr lang="en-IN" dirty="0"/>
              <a:t> BCE, AB </a:t>
            </a:r>
            <a:r>
              <a:rPr lang="en-IN" dirty="0">
                <a:sym typeface="Wingdings"/>
              </a:rPr>
              <a:t></a:t>
            </a:r>
            <a:r>
              <a:rPr lang="en-IN" dirty="0"/>
              <a:t> DE, BI </a:t>
            </a:r>
            <a:r>
              <a:rPr lang="en-IN" dirty="0">
                <a:sym typeface="Wingdings"/>
              </a:rPr>
              <a:t></a:t>
            </a:r>
            <a:r>
              <a:rPr lang="en-IN" dirty="0"/>
              <a:t> J</a:t>
            </a:r>
            <a:r>
              <a:rPr lang="en-IN" dirty="0" smtClean="0"/>
              <a:t>}</a:t>
            </a:r>
          </a:p>
          <a:p>
            <a:r>
              <a:rPr lang="en-IN" sz="2500" dirty="0">
                <a:latin typeface="Script MT Bold" pitchFamily="66" charset="0"/>
              </a:rPr>
              <a:t>F</a:t>
            </a:r>
            <a:r>
              <a:rPr lang="en-IN" sz="2500" dirty="0"/>
              <a:t> = {A </a:t>
            </a:r>
            <a:r>
              <a:rPr lang="en-IN" sz="2500" dirty="0">
                <a:sym typeface="Wingdings"/>
              </a:rPr>
              <a:t></a:t>
            </a:r>
            <a:r>
              <a:rPr lang="en-IN" sz="2500" dirty="0"/>
              <a:t> </a:t>
            </a:r>
            <a:r>
              <a:rPr lang="en-IN" sz="2500" dirty="0" smtClean="0"/>
              <a:t>B, </a:t>
            </a:r>
            <a:r>
              <a:rPr lang="en-IN" sz="2500" dirty="0"/>
              <a:t>A </a:t>
            </a:r>
            <a:r>
              <a:rPr lang="en-IN" sz="2500" dirty="0">
                <a:sym typeface="Wingdings"/>
              </a:rPr>
              <a:t></a:t>
            </a:r>
            <a:r>
              <a:rPr lang="en-IN" sz="2500" dirty="0"/>
              <a:t> </a:t>
            </a:r>
            <a:r>
              <a:rPr lang="en-IN" sz="2500" dirty="0" smtClean="0"/>
              <a:t>C, </a:t>
            </a:r>
            <a:r>
              <a:rPr lang="en-IN" sz="2500" dirty="0"/>
              <a:t>A </a:t>
            </a:r>
            <a:r>
              <a:rPr lang="en-IN" sz="2500" dirty="0">
                <a:sym typeface="Wingdings"/>
              </a:rPr>
              <a:t></a:t>
            </a:r>
            <a:r>
              <a:rPr lang="en-IN" sz="2500" dirty="0"/>
              <a:t> </a:t>
            </a:r>
            <a:r>
              <a:rPr lang="en-IN" sz="2500" dirty="0" smtClean="0"/>
              <a:t>E</a:t>
            </a:r>
            <a:r>
              <a:rPr lang="en-IN" sz="2500" dirty="0"/>
              <a:t>, </a:t>
            </a:r>
            <a:r>
              <a:rPr lang="en-IN" sz="2500" dirty="0" smtClean="0"/>
              <a:t>AB </a:t>
            </a:r>
            <a:r>
              <a:rPr lang="en-IN" sz="2500" dirty="0">
                <a:sym typeface="Wingdings"/>
              </a:rPr>
              <a:t></a:t>
            </a:r>
            <a:r>
              <a:rPr lang="en-IN" sz="2500" dirty="0"/>
              <a:t> </a:t>
            </a:r>
            <a:r>
              <a:rPr lang="en-IN" sz="2500" dirty="0" smtClean="0"/>
              <a:t>D, </a:t>
            </a:r>
            <a:r>
              <a:rPr lang="en-IN" sz="2500" dirty="0"/>
              <a:t>AB </a:t>
            </a:r>
            <a:r>
              <a:rPr lang="en-IN" sz="2500" dirty="0">
                <a:sym typeface="Wingdings"/>
              </a:rPr>
              <a:t></a:t>
            </a:r>
            <a:r>
              <a:rPr lang="en-IN" sz="2500" dirty="0"/>
              <a:t> </a:t>
            </a:r>
            <a:r>
              <a:rPr lang="en-IN" sz="2500" dirty="0" smtClean="0"/>
              <a:t>E</a:t>
            </a:r>
            <a:r>
              <a:rPr lang="en-IN" sz="2500" dirty="0"/>
              <a:t>, </a:t>
            </a:r>
            <a:r>
              <a:rPr lang="en-IN" sz="2500" dirty="0" smtClean="0"/>
              <a:t>BI </a:t>
            </a:r>
            <a:r>
              <a:rPr lang="en-IN" sz="2500" dirty="0">
                <a:sym typeface="Wingdings"/>
              </a:rPr>
              <a:t></a:t>
            </a:r>
            <a:r>
              <a:rPr lang="en-IN" sz="2500" dirty="0"/>
              <a:t> J</a:t>
            </a:r>
            <a:r>
              <a:rPr lang="en-IN" sz="2500" dirty="0" smtClean="0"/>
              <a:t>}</a:t>
            </a:r>
          </a:p>
          <a:p>
            <a:r>
              <a:rPr lang="en-IN" sz="2500" dirty="0">
                <a:latin typeface="Script MT Bold" pitchFamily="66" charset="0"/>
              </a:rPr>
              <a:t>F</a:t>
            </a:r>
            <a:r>
              <a:rPr lang="en-IN" sz="2500" dirty="0"/>
              <a:t> = {A </a:t>
            </a:r>
            <a:r>
              <a:rPr lang="en-IN" sz="2500" dirty="0">
                <a:sym typeface="Wingdings"/>
              </a:rPr>
              <a:t></a:t>
            </a:r>
            <a:r>
              <a:rPr lang="en-IN" sz="2500" dirty="0"/>
              <a:t> B, A </a:t>
            </a:r>
            <a:r>
              <a:rPr lang="en-IN" sz="2500" dirty="0">
                <a:sym typeface="Wingdings"/>
              </a:rPr>
              <a:t></a:t>
            </a:r>
            <a:r>
              <a:rPr lang="en-IN" sz="2500" dirty="0"/>
              <a:t> C, A </a:t>
            </a:r>
            <a:r>
              <a:rPr lang="en-IN" sz="2500" dirty="0">
                <a:sym typeface="Wingdings"/>
              </a:rPr>
              <a:t></a:t>
            </a:r>
            <a:r>
              <a:rPr lang="en-IN" sz="2500" dirty="0"/>
              <a:t> E, AB </a:t>
            </a:r>
            <a:r>
              <a:rPr lang="en-IN" sz="2500" dirty="0">
                <a:sym typeface="Wingdings"/>
              </a:rPr>
              <a:t></a:t>
            </a:r>
            <a:r>
              <a:rPr lang="en-IN" sz="2500" dirty="0"/>
              <a:t> D, </a:t>
            </a:r>
            <a:r>
              <a:rPr lang="en-IN" sz="2500" dirty="0" smtClean="0"/>
              <a:t>BI </a:t>
            </a:r>
            <a:r>
              <a:rPr lang="en-IN" sz="2500" dirty="0">
                <a:sym typeface="Wingdings"/>
              </a:rPr>
              <a:t></a:t>
            </a:r>
            <a:r>
              <a:rPr lang="en-IN" sz="2500" dirty="0"/>
              <a:t> J</a:t>
            </a:r>
            <a:r>
              <a:rPr lang="en-IN" sz="2500" dirty="0" smtClean="0"/>
              <a:t>}</a:t>
            </a:r>
          </a:p>
          <a:p>
            <a:r>
              <a:rPr lang="en-IN" sz="2500" dirty="0" smtClean="0"/>
              <a:t>B</a:t>
            </a:r>
            <a:r>
              <a:rPr lang="en-IN" sz="2500" baseline="30000" dirty="0" smtClean="0"/>
              <a:t>+</a:t>
            </a:r>
            <a:r>
              <a:rPr lang="en-IN" sz="2500" dirty="0" smtClean="0"/>
              <a:t> w.r.t. </a:t>
            </a:r>
            <a:r>
              <a:rPr lang="en-IN" sz="2500" dirty="0" smtClean="0">
                <a:latin typeface="Script MT Bold" pitchFamily="66" charset="0"/>
              </a:rPr>
              <a:t>F</a:t>
            </a:r>
            <a:r>
              <a:rPr lang="en-IN" sz="2500" dirty="0" smtClean="0"/>
              <a:t> = B. So A in AB </a:t>
            </a:r>
            <a:r>
              <a:rPr lang="en-IN" sz="2500" dirty="0" smtClean="0">
                <a:sym typeface="Wingdings" pitchFamily="2" charset="2"/>
              </a:rPr>
              <a:t> D is not an extraneous attribute</a:t>
            </a:r>
          </a:p>
          <a:p>
            <a:r>
              <a:rPr lang="en-IN" sz="2500" dirty="0" smtClean="0">
                <a:sym typeface="Wingdings" pitchFamily="2" charset="2"/>
              </a:rPr>
              <a:t>A</a:t>
            </a:r>
            <a:r>
              <a:rPr lang="en-IN" sz="2500" baseline="30000" dirty="0" smtClean="0">
                <a:sym typeface="Wingdings" pitchFamily="2" charset="2"/>
              </a:rPr>
              <a:t>+ </a:t>
            </a:r>
            <a:r>
              <a:rPr lang="en-IN" sz="2500" dirty="0" smtClean="0">
                <a:sym typeface="Wingdings" pitchFamily="2" charset="2"/>
              </a:rPr>
              <a:t>w.r.t. </a:t>
            </a:r>
            <a:r>
              <a:rPr lang="en-IN" sz="2500" dirty="0">
                <a:latin typeface="Script MT Bold" pitchFamily="66" charset="0"/>
              </a:rPr>
              <a:t>F</a:t>
            </a:r>
            <a:r>
              <a:rPr lang="en-IN" sz="2500" dirty="0" smtClean="0">
                <a:sym typeface="Wingdings" pitchFamily="2" charset="2"/>
              </a:rPr>
              <a:t> = ABD which contains D. Hence A  D can be derived from F. So B is an extraneous attribute in AB  D. Hence</a:t>
            </a:r>
            <a:endParaRPr lang="en-IN" sz="2500" dirty="0" smtClean="0"/>
          </a:p>
          <a:p>
            <a:r>
              <a:rPr lang="en-IN" sz="2500" dirty="0">
                <a:latin typeface="Script MT Bold" pitchFamily="66" charset="0"/>
              </a:rPr>
              <a:t>F</a:t>
            </a:r>
            <a:r>
              <a:rPr lang="en-IN" sz="2500" dirty="0"/>
              <a:t> = {A </a:t>
            </a:r>
            <a:r>
              <a:rPr lang="en-IN" sz="2500" dirty="0">
                <a:sym typeface="Wingdings"/>
              </a:rPr>
              <a:t></a:t>
            </a:r>
            <a:r>
              <a:rPr lang="en-IN" sz="2500" dirty="0"/>
              <a:t> B, A </a:t>
            </a:r>
            <a:r>
              <a:rPr lang="en-IN" sz="2500" dirty="0">
                <a:sym typeface="Wingdings"/>
              </a:rPr>
              <a:t></a:t>
            </a:r>
            <a:r>
              <a:rPr lang="en-IN" sz="2500" dirty="0"/>
              <a:t> C, A </a:t>
            </a:r>
            <a:r>
              <a:rPr lang="en-IN" sz="2500" dirty="0">
                <a:sym typeface="Wingdings"/>
              </a:rPr>
              <a:t></a:t>
            </a:r>
            <a:r>
              <a:rPr lang="en-IN" sz="2500" dirty="0"/>
              <a:t> E, </a:t>
            </a:r>
            <a:r>
              <a:rPr lang="en-IN" sz="2500" dirty="0" smtClean="0"/>
              <a:t>A </a:t>
            </a:r>
            <a:r>
              <a:rPr lang="en-IN" sz="2500" dirty="0">
                <a:sym typeface="Wingdings"/>
              </a:rPr>
              <a:t></a:t>
            </a:r>
            <a:r>
              <a:rPr lang="en-IN" sz="2500" dirty="0"/>
              <a:t> D, </a:t>
            </a:r>
            <a:r>
              <a:rPr lang="en-IN" sz="2500" dirty="0" smtClean="0"/>
              <a:t>BI </a:t>
            </a:r>
            <a:r>
              <a:rPr lang="en-IN" sz="2500" dirty="0">
                <a:sym typeface="Wingdings"/>
              </a:rPr>
              <a:t></a:t>
            </a:r>
            <a:r>
              <a:rPr lang="en-IN" sz="2500" dirty="0"/>
              <a:t> J}</a:t>
            </a:r>
          </a:p>
          <a:p>
            <a:endParaRPr lang="en-IN" sz="2500" dirty="0"/>
          </a:p>
          <a:p>
            <a:endParaRPr lang="en-US" sz="2500" dirty="0" smtClean="0"/>
          </a:p>
          <a:p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481877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Solution</a:t>
            </a:r>
            <a:endParaRPr lang="en-US" sz="4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B1DC0-5783-4F1A-A0D1-155778440E93}" type="slidenum">
              <a:rPr lang="en-US" smtClean="0"/>
              <a:t>61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To test whether A </a:t>
            </a:r>
            <a:r>
              <a:rPr lang="en-US" dirty="0" smtClean="0">
                <a:sym typeface="Wingdings" pitchFamily="2" charset="2"/>
              </a:rPr>
              <a:t> B is an extra functional dependency in </a:t>
            </a:r>
            <a:r>
              <a:rPr lang="en-IN" dirty="0">
                <a:latin typeface="Script MT Bold" pitchFamily="66" charset="0"/>
              </a:rPr>
              <a:t>F</a:t>
            </a:r>
            <a:r>
              <a:rPr lang="en-US" dirty="0" smtClean="0">
                <a:sym typeface="Wingdings" pitchFamily="2" charset="2"/>
              </a:rPr>
              <a:t> </a:t>
            </a:r>
          </a:p>
          <a:p>
            <a:r>
              <a:rPr lang="en-US" dirty="0" smtClean="0"/>
              <a:t>Compute A</a:t>
            </a:r>
            <a:r>
              <a:rPr lang="en-US" baseline="30000" dirty="0" smtClean="0"/>
              <a:t>+</a:t>
            </a:r>
            <a:r>
              <a:rPr lang="en-US" dirty="0" smtClean="0"/>
              <a:t> w.r.t. </a:t>
            </a:r>
          </a:p>
          <a:p>
            <a:r>
              <a:rPr lang="en-IN" dirty="0">
                <a:latin typeface="Script MT Bold" pitchFamily="66" charset="0"/>
              </a:rPr>
              <a:t>F'</a:t>
            </a:r>
            <a:r>
              <a:rPr lang="en-IN" dirty="0" smtClean="0"/>
              <a:t> </a:t>
            </a:r>
            <a:r>
              <a:rPr lang="en-IN" dirty="0"/>
              <a:t>= </a:t>
            </a:r>
            <a:r>
              <a:rPr lang="en-IN" dirty="0" smtClean="0"/>
              <a:t>{A </a:t>
            </a:r>
            <a:r>
              <a:rPr lang="en-IN" dirty="0">
                <a:sym typeface="Wingdings"/>
              </a:rPr>
              <a:t></a:t>
            </a:r>
            <a:r>
              <a:rPr lang="en-IN" dirty="0"/>
              <a:t> C, A </a:t>
            </a:r>
            <a:r>
              <a:rPr lang="en-IN" dirty="0">
                <a:sym typeface="Wingdings"/>
              </a:rPr>
              <a:t></a:t>
            </a:r>
            <a:r>
              <a:rPr lang="en-IN" dirty="0"/>
              <a:t> E, A </a:t>
            </a:r>
            <a:r>
              <a:rPr lang="en-IN" dirty="0">
                <a:sym typeface="Wingdings"/>
              </a:rPr>
              <a:t></a:t>
            </a:r>
            <a:r>
              <a:rPr lang="en-IN" dirty="0"/>
              <a:t> D, BI </a:t>
            </a:r>
            <a:r>
              <a:rPr lang="en-IN" dirty="0">
                <a:sym typeface="Wingdings"/>
              </a:rPr>
              <a:t></a:t>
            </a:r>
            <a:r>
              <a:rPr lang="en-IN" dirty="0"/>
              <a:t> J</a:t>
            </a:r>
            <a:r>
              <a:rPr lang="en-IN" dirty="0" smtClean="0"/>
              <a:t>}</a:t>
            </a:r>
          </a:p>
          <a:p>
            <a:r>
              <a:rPr lang="en-IN" dirty="0" smtClean="0"/>
              <a:t>A</a:t>
            </a:r>
            <a:r>
              <a:rPr lang="en-IN" baseline="30000" dirty="0" smtClean="0"/>
              <a:t>+</a:t>
            </a:r>
            <a:r>
              <a:rPr lang="en-IN" dirty="0" smtClean="0"/>
              <a:t> = ACED which cannot contain B</a:t>
            </a:r>
            <a:endParaRPr lang="en-IN" dirty="0"/>
          </a:p>
          <a:p>
            <a:r>
              <a:rPr lang="en-US" dirty="0" smtClean="0"/>
              <a:t> Hence A </a:t>
            </a:r>
            <a:r>
              <a:rPr lang="en-US" dirty="0" smtClean="0">
                <a:sym typeface="Wingdings" pitchFamily="2" charset="2"/>
              </a:rPr>
              <a:t> B is not an extra functional dependency of </a:t>
            </a:r>
            <a:r>
              <a:rPr lang="en-IN" dirty="0">
                <a:latin typeface="Script MT Bold" pitchFamily="66" charset="0"/>
              </a:rPr>
              <a:t>F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8447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Solution</a:t>
            </a:r>
            <a:endParaRPr lang="en-US" sz="4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B1DC0-5783-4F1A-A0D1-155778440E93}" type="slidenum">
              <a:rPr lang="en-US" smtClean="0"/>
              <a:t>62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To test whether A </a:t>
            </a:r>
            <a:r>
              <a:rPr lang="en-US" dirty="0">
                <a:sym typeface="Wingdings" pitchFamily="2" charset="2"/>
              </a:rPr>
              <a:t> </a:t>
            </a:r>
            <a:r>
              <a:rPr lang="en-US" dirty="0" smtClean="0">
                <a:sym typeface="Wingdings" pitchFamily="2" charset="2"/>
              </a:rPr>
              <a:t>C </a:t>
            </a:r>
            <a:r>
              <a:rPr lang="en-US" dirty="0">
                <a:sym typeface="Wingdings" pitchFamily="2" charset="2"/>
              </a:rPr>
              <a:t>is an extra functional dependency in </a:t>
            </a:r>
            <a:r>
              <a:rPr lang="en-IN" dirty="0">
                <a:latin typeface="Script MT Bold" pitchFamily="66" charset="0"/>
              </a:rPr>
              <a:t>F</a:t>
            </a:r>
            <a:r>
              <a:rPr lang="en-US" dirty="0" smtClean="0">
                <a:sym typeface="Wingdings" pitchFamily="2" charset="2"/>
              </a:rPr>
              <a:t> </a:t>
            </a:r>
            <a:endParaRPr lang="en-US" dirty="0">
              <a:sym typeface="Wingdings" pitchFamily="2" charset="2"/>
            </a:endParaRPr>
          </a:p>
          <a:p>
            <a:r>
              <a:rPr lang="en-US" dirty="0"/>
              <a:t>Compute A</a:t>
            </a:r>
            <a:r>
              <a:rPr lang="en-US" baseline="30000" dirty="0"/>
              <a:t>+</a:t>
            </a:r>
            <a:r>
              <a:rPr lang="en-US" dirty="0"/>
              <a:t> w.r.t. </a:t>
            </a:r>
          </a:p>
          <a:p>
            <a:r>
              <a:rPr lang="en-IN" dirty="0">
                <a:latin typeface="Script MT Bold" pitchFamily="66" charset="0"/>
              </a:rPr>
              <a:t>F'</a:t>
            </a:r>
            <a:r>
              <a:rPr lang="en-IN" dirty="0"/>
              <a:t> = {A </a:t>
            </a:r>
            <a:r>
              <a:rPr lang="en-IN" dirty="0">
                <a:sym typeface="Wingdings"/>
              </a:rPr>
              <a:t></a:t>
            </a:r>
            <a:r>
              <a:rPr lang="en-IN" dirty="0"/>
              <a:t> </a:t>
            </a:r>
            <a:r>
              <a:rPr lang="en-IN" dirty="0" smtClean="0"/>
              <a:t>B, </a:t>
            </a:r>
            <a:r>
              <a:rPr lang="en-IN" dirty="0"/>
              <a:t>A </a:t>
            </a:r>
            <a:r>
              <a:rPr lang="en-IN" dirty="0">
                <a:sym typeface="Wingdings"/>
              </a:rPr>
              <a:t></a:t>
            </a:r>
            <a:r>
              <a:rPr lang="en-IN" dirty="0"/>
              <a:t> E, A </a:t>
            </a:r>
            <a:r>
              <a:rPr lang="en-IN" dirty="0">
                <a:sym typeface="Wingdings"/>
              </a:rPr>
              <a:t></a:t>
            </a:r>
            <a:r>
              <a:rPr lang="en-IN" dirty="0"/>
              <a:t> D, BI </a:t>
            </a:r>
            <a:r>
              <a:rPr lang="en-IN" dirty="0">
                <a:sym typeface="Wingdings"/>
              </a:rPr>
              <a:t></a:t>
            </a:r>
            <a:r>
              <a:rPr lang="en-IN" dirty="0"/>
              <a:t> J}</a:t>
            </a:r>
          </a:p>
          <a:p>
            <a:r>
              <a:rPr lang="en-IN" dirty="0"/>
              <a:t>A</a:t>
            </a:r>
            <a:r>
              <a:rPr lang="en-IN" baseline="30000" dirty="0"/>
              <a:t>+</a:t>
            </a:r>
            <a:r>
              <a:rPr lang="en-IN" dirty="0"/>
              <a:t> = </a:t>
            </a:r>
            <a:r>
              <a:rPr lang="en-IN" dirty="0" smtClean="0"/>
              <a:t>ABED </a:t>
            </a:r>
            <a:r>
              <a:rPr lang="en-IN" dirty="0"/>
              <a:t>which cannot contain </a:t>
            </a:r>
            <a:r>
              <a:rPr lang="en-IN" dirty="0" smtClean="0"/>
              <a:t>C</a:t>
            </a:r>
            <a:endParaRPr lang="en-IN" dirty="0"/>
          </a:p>
          <a:p>
            <a:r>
              <a:rPr lang="en-US" dirty="0"/>
              <a:t> Hence A </a:t>
            </a:r>
            <a:r>
              <a:rPr lang="en-US" dirty="0">
                <a:sym typeface="Wingdings" pitchFamily="2" charset="2"/>
              </a:rPr>
              <a:t> </a:t>
            </a:r>
            <a:r>
              <a:rPr lang="en-US" dirty="0" smtClean="0">
                <a:sym typeface="Wingdings" pitchFamily="2" charset="2"/>
              </a:rPr>
              <a:t>C </a:t>
            </a:r>
            <a:r>
              <a:rPr lang="en-US" dirty="0">
                <a:sym typeface="Wingdings" pitchFamily="2" charset="2"/>
              </a:rPr>
              <a:t>is not an extra functional dependency </a:t>
            </a:r>
            <a:r>
              <a:rPr lang="en-US" dirty="0" smtClean="0">
                <a:sym typeface="Wingdings" pitchFamily="2" charset="2"/>
              </a:rPr>
              <a:t>of </a:t>
            </a:r>
            <a:r>
              <a:rPr lang="en-IN" dirty="0">
                <a:latin typeface="Script MT Bold" pitchFamily="66" charset="0"/>
              </a:rPr>
              <a:t>F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767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Solution</a:t>
            </a:r>
            <a:endParaRPr lang="en-US" sz="4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B1DC0-5783-4F1A-A0D1-155778440E93}" type="slidenum">
              <a:rPr lang="en-US" smtClean="0"/>
              <a:t>63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To test whether A </a:t>
            </a:r>
            <a:r>
              <a:rPr lang="en-US" dirty="0">
                <a:sym typeface="Wingdings" pitchFamily="2" charset="2"/>
              </a:rPr>
              <a:t> </a:t>
            </a:r>
            <a:r>
              <a:rPr lang="en-US" dirty="0" smtClean="0">
                <a:sym typeface="Wingdings" pitchFamily="2" charset="2"/>
              </a:rPr>
              <a:t>E </a:t>
            </a:r>
            <a:r>
              <a:rPr lang="en-US" dirty="0">
                <a:sym typeface="Wingdings" pitchFamily="2" charset="2"/>
              </a:rPr>
              <a:t>is an extra functional dependency in </a:t>
            </a:r>
            <a:r>
              <a:rPr lang="en-IN" dirty="0">
                <a:latin typeface="Script MT Bold" pitchFamily="66" charset="0"/>
              </a:rPr>
              <a:t>F</a:t>
            </a:r>
            <a:endParaRPr lang="en-US" dirty="0">
              <a:sym typeface="Wingdings" pitchFamily="2" charset="2"/>
            </a:endParaRPr>
          </a:p>
          <a:p>
            <a:r>
              <a:rPr lang="en-US" dirty="0"/>
              <a:t>Compute A</a:t>
            </a:r>
            <a:r>
              <a:rPr lang="en-US" baseline="30000" dirty="0"/>
              <a:t>+</a:t>
            </a:r>
            <a:r>
              <a:rPr lang="en-US" dirty="0"/>
              <a:t> w.r.t. </a:t>
            </a:r>
          </a:p>
          <a:p>
            <a:r>
              <a:rPr lang="en-IN" dirty="0">
                <a:latin typeface="Script MT Bold" pitchFamily="66" charset="0"/>
              </a:rPr>
              <a:t>F'</a:t>
            </a:r>
            <a:r>
              <a:rPr lang="en-IN" dirty="0"/>
              <a:t> = {A </a:t>
            </a:r>
            <a:r>
              <a:rPr lang="en-IN" dirty="0">
                <a:sym typeface="Wingdings"/>
              </a:rPr>
              <a:t></a:t>
            </a:r>
            <a:r>
              <a:rPr lang="en-IN" dirty="0"/>
              <a:t> B, A </a:t>
            </a:r>
            <a:r>
              <a:rPr lang="en-IN" dirty="0">
                <a:sym typeface="Wingdings"/>
              </a:rPr>
              <a:t></a:t>
            </a:r>
            <a:r>
              <a:rPr lang="en-IN" dirty="0"/>
              <a:t> </a:t>
            </a:r>
            <a:r>
              <a:rPr lang="en-IN" dirty="0" smtClean="0"/>
              <a:t>C, </a:t>
            </a:r>
            <a:r>
              <a:rPr lang="en-IN" dirty="0"/>
              <a:t>A </a:t>
            </a:r>
            <a:r>
              <a:rPr lang="en-IN" dirty="0">
                <a:sym typeface="Wingdings"/>
              </a:rPr>
              <a:t></a:t>
            </a:r>
            <a:r>
              <a:rPr lang="en-IN" dirty="0"/>
              <a:t> D, BI </a:t>
            </a:r>
            <a:r>
              <a:rPr lang="en-IN" dirty="0">
                <a:sym typeface="Wingdings"/>
              </a:rPr>
              <a:t></a:t>
            </a:r>
            <a:r>
              <a:rPr lang="en-IN" dirty="0"/>
              <a:t> J}</a:t>
            </a:r>
          </a:p>
          <a:p>
            <a:r>
              <a:rPr lang="en-IN" dirty="0"/>
              <a:t>A</a:t>
            </a:r>
            <a:r>
              <a:rPr lang="en-IN" baseline="30000" dirty="0"/>
              <a:t>+ </a:t>
            </a:r>
            <a:r>
              <a:rPr lang="en-IN" dirty="0"/>
              <a:t>= </a:t>
            </a:r>
            <a:r>
              <a:rPr lang="en-IN" dirty="0" smtClean="0"/>
              <a:t>ABCD </a:t>
            </a:r>
            <a:r>
              <a:rPr lang="en-IN" dirty="0"/>
              <a:t>which cannot contain </a:t>
            </a:r>
            <a:r>
              <a:rPr lang="en-IN" dirty="0" smtClean="0"/>
              <a:t>E</a:t>
            </a:r>
            <a:endParaRPr lang="en-IN" dirty="0"/>
          </a:p>
          <a:p>
            <a:r>
              <a:rPr lang="en-US" dirty="0"/>
              <a:t> Hence A </a:t>
            </a:r>
            <a:r>
              <a:rPr lang="en-US" dirty="0">
                <a:sym typeface="Wingdings" pitchFamily="2" charset="2"/>
              </a:rPr>
              <a:t> </a:t>
            </a:r>
            <a:r>
              <a:rPr lang="en-US" dirty="0" smtClean="0">
                <a:sym typeface="Wingdings" pitchFamily="2" charset="2"/>
              </a:rPr>
              <a:t>E </a:t>
            </a:r>
            <a:r>
              <a:rPr lang="en-US" dirty="0">
                <a:sym typeface="Wingdings" pitchFamily="2" charset="2"/>
              </a:rPr>
              <a:t>is not an extra functional dependency </a:t>
            </a:r>
            <a:r>
              <a:rPr lang="en-US" dirty="0" smtClean="0">
                <a:sym typeface="Wingdings" pitchFamily="2" charset="2"/>
              </a:rPr>
              <a:t>of </a:t>
            </a:r>
            <a:r>
              <a:rPr lang="en-IN" dirty="0">
                <a:latin typeface="Script MT Bold" pitchFamily="66" charset="0"/>
              </a:rPr>
              <a:t>F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4898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Solution</a:t>
            </a:r>
            <a:endParaRPr lang="en-US" sz="4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B1DC0-5783-4F1A-A0D1-155778440E93}" type="slidenum">
              <a:rPr lang="en-US" smtClean="0"/>
              <a:t>64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To test whether A </a:t>
            </a:r>
            <a:r>
              <a:rPr lang="en-US" dirty="0">
                <a:sym typeface="Wingdings" pitchFamily="2" charset="2"/>
              </a:rPr>
              <a:t> </a:t>
            </a:r>
            <a:r>
              <a:rPr lang="en-US" dirty="0" smtClean="0">
                <a:sym typeface="Wingdings" pitchFamily="2" charset="2"/>
              </a:rPr>
              <a:t>D </a:t>
            </a:r>
            <a:r>
              <a:rPr lang="en-US" dirty="0">
                <a:sym typeface="Wingdings" pitchFamily="2" charset="2"/>
              </a:rPr>
              <a:t>is an extra functional dependency in </a:t>
            </a:r>
            <a:r>
              <a:rPr lang="en-IN" dirty="0">
                <a:latin typeface="Script MT Bold" pitchFamily="66" charset="0"/>
              </a:rPr>
              <a:t>F</a:t>
            </a:r>
            <a:r>
              <a:rPr lang="en-US" dirty="0" smtClean="0">
                <a:sym typeface="Wingdings" pitchFamily="2" charset="2"/>
              </a:rPr>
              <a:t> </a:t>
            </a:r>
            <a:endParaRPr lang="en-US" dirty="0">
              <a:sym typeface="Wingdings" pitchFamily="2" charset="2"/>
            </a:endParaRPr>
          </a:p>
          <a:p>
            <a:r>
              <a:rPr lang="en-US" dirty="0"/>
              <a:t>Compute A</a:t>
            </a:r>
            <a:r>
              <a:rPr lang="en-US" baseline="30000" dirty="0"/>
              <a:t>+ </a:t>
            </a:r>
            <a:r>
              <a:rPr lang="en-US" dirty="0"/>
              <a:t>w.r.t. </a:t>
            </a:r>
          </a:p>
          <a:p>
            <a:r>
              <a:rPr lang="en-IN" dirty="0">
                <a:latin typeface="Script MT Bold" pitchFamily="66" charset="0"/>
              </a:rPr>
              <a:t>F'</a:t>
            </a:r>
            <a:r>
              <a:rPr lang="en-IN" dirty="0"/>
              <a:t> = {A </a:t>
            </a:r>
            <a:r>
              <a:rPr lang="en-IN" dirty="0">
                <a:sym typeface="Wingdings"/>
              </a:rPr>
              <a:t></a:t>
            </a:r>
            <a:r>
              <a:rPr lang="en-IN" dirty="0"/>
              <a:t> B, A </a:t>
            </a:r>
            <a:r>
              <a:rPr lang="en-IN" dirty="0">
                <a:sym typeface="Wingdings"/>
              </a:rPr>
              <a:t></a:t>
            </a:r>
            <a:r>
              <a:rPr lang="en-IN" dirty="0"/>
              <a:t> C, A </a:t>
            </a:r>
            <a:r>
              <a:rPr lang="en-IN" dirty="0">
                <a:sym typeface="Wingdings"/>
              </a:rPr>
              <a:t></a:t>
            </a:r>
            <a:r>
              <a:rPr lang="en-IN" dirty="0"/>
              <a:t> </a:t>
            </a:r>
            <a:r>
              <a:rPr lang="en-IN" dirty="0" smtClean="0"/>
              <a:t>E, </a:t>
            </a:r>
            <a:r>
              <a:rPr lang="en-IN" dirty="0"/>
              <a:t>BI </a:t>
            </a:r>
            <a:r>
              <a:rPr lang="en-IN" dirty="0">
                <a:sym typeface="Wingdings"/>
              </a:rPr>
              <a:t></a:t>
            </a:r>
            <a:r>
              <a:rPr lang="en-IN" dirty="0"/>
              <a:t> J}</a:t>
            </a:r>
          </a:p>
          <a:p>
            <a:r>
              <a:rPr lang="en-IN" dirty="0"/>
              <a:t>A</a:t>
            </a:r>
            <a:r>
              <a:rPr lang="en-IN" baseline="30000" dirty="0"/>
              <a:t>+ </a:t>
            </a:r>
            <a:r>
              <a:rPr lang="en-IN" dirty="0"/>
              <a:t>= </a:t>
            </a:r>
            <a:r>
              <a:rPr lang="en-IN" dirty="0" smtClean="0"/>
              <a:t>ABCE </a:t>
            </a:r>
            <a:r>
              <a:rPr lang="en-IN" dirty="0"/>
              <a:t>which cannot contain </a:t>
            </a:r>
            <a:r>
              <a:rPr lang="en-IN" dirty="0" smtClean="0"/>
              <a:t>D</a:t>
            </a:r>
            <a:endParaRPr lang="en-IN" dirty="0"/>
          </a:p>
          <a:p>
            <a:r>
              <a:rPr lang="en-US" dirty="0"/>
              <a:t> Hence A </a:t>
            </a:r>
            <a:r>
              <a:rPr lang="en-US" dirty="0">
                <a:sym typeface="Wingdings" pitchFamily="2" charset="2"/>
              </a:rPr>
              <a:t> </a:t>
            </a:r>
            <a:r>
              <a:rPr lang="en-US" dirty="0" smtClean="0">
                <a:sym typeface="Wingdings" pitchFamily="2" charset="2"/>
              </a:rPr>
              <a:t>D </a:t>
            </a:r>
            <a:r>
              <a:rPr lang="en-US" dirty="0">
                <a:sym typeface="Wingdings" pitchFamily="2" charset="2"/>
              </a:rPr>
              <a:t>is not an extra functional dependency </a:t>
            </a:r>
            <a:r>
              <a:rPr lang="en-US" dirty="0" smtClean="0">
                <a:sym typeface="Wingdings" pitchFamily="2" charset="2"/>
              </a:rPr>
              <a:t>of </a:t>
            </a:r>
            <a:r>
              <a:rPr lang="en-IN" dirty="0">
                <a:latin typeface="Script MT Bold" pitchFamily="66" charset="0"/>
              </a:rPr>
              <a:t>F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449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Solution</a:t>
            </a:r>
            <a:endParaRPr lang="en-US" sz="4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B1DC0-5783-4F1A-A0D1-155778440E93}" type="slidenum">
              <a:rPr lang="en-US" smtClean="0"/>
              <a:t>65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To test whether </a:t>
            </a:r>
            <a:r>
              <a:rPr lang="en-IN" dirty="0"/>
              <a:t>BI </a:t>
            </a:r>
            <a:r>
              <a:rPr lang="en-IN" dirty="0">
                <a:sym typeface="Wingdings"/>
              </a:rPr>
              <a:t></a:t>
            </a:r>
            <a:r>
              <a:rPr lang="en-IN" dirty="0"/>
              <a:t> J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>
                <a:sym typeface="Wingdings" pitchFamily="2" charset="2"/>
              </a:rPr>
              <a:t>is an extra functional dependency in </a:t>
            </a:r>
            <a:r>
              <a:rPr lang="en-IN" dirty="0">
                <a:latin typeface="Script MT Bold" pitchFamily="66" charset="0"/>
              </a:rPr>
              <a:t>F</a:t>
            </a:r>
            <a:r>
              <a:rPr lang="en-US" dirty="0" smtClean="0">
                <a:sym typeface="Wingdings" pitchFamily="2" charset="2"/>
              </a:rPr>
              <a:t> </a:t>
            </a:r>
            <a:endParaRPr lang="en-US" dirty="0">
              <a:sym typeface="Wingdings" pitchFamily="2" charset="2"/>
            </a:endParaRPr>
          </a:p>
          <a:p>
            <a:r>
              <a:rPr lang="en-US" dirty="0"/>
              <a:t>Compute </a:t>
            </a:r>
            <a:r>
              <a:rPr lang="en-US" dirty="0" smtClean="0"/>
              <a:t>(BI)</a:t>
            </a:r>
            <a:r>
              <a:rPr lang="en-US" baseline="30000" dirty="0" smtClean="0"/>
              <a:t>+</a:t>
            </a:r>
            <a:r>
              <a:rPr lang="en-US" dirty="0" smtClean="0"/>
              <a:t> </a:t>
            </a:r>
            <a:r>
              <a:rPr lang="en-US" dirty="0"/>
              <a:t>w.r.t. </a:t>
            </a:r>
          </a:p>
          <a:p>
            <a:r>
              <a:rPr lang="en-IN" dirty="0">
                <a:latin typeface="Script MT Bold" pitchFamily="66" charset="0"/>
              </a:rPr>
              <a:t>F'</a:t>
            </a:r>
            <a:r>
              <a:rPr lang="en-IN" dirty="0"/>
              <a:t> = {A </a:t>
            </a:r>
            <a:r>
              <a:rPr lang="en-IN" dirty="0">
                <a:sym typeface="Wingdings"/>
              </a:rPr>
              <a:t></a:t>
            </a:r>
            <a:r>
              <a:rPr lang="en-IN" dirty="0"/>
              <a:t> B, A </a:t>
            </a:r>
            <a:r>
              <a:rPr lang="en-IN" dirty="0">
                <a:sym typeface="Wingdings"/>
              </a:rPr>
              <a:t></a:t>
            </a:r>
            <a:r>
              <a:rPr lang="en-IN" dirty="0"/>
              <a:t> C, A </a:t>
            </a:r>
            <a:r>
              <a:rPr lang="en-IN" dirty="0">
                <a:sym typeface="Wingdings"/>
              </a:rPr>
              <a:t></a:t>
            </a:r>
            <a:r>
              <a:rPr lang="en-IN" dirty="0"/>
              <a:t> D, </a:t>
            </a:r>
            <a:r>
              <a:rPr lang="en-IN" dirty="0" smtClean="0"/>
              <a:t>A </a:t>
            </a:r>
            <a:r>
              <a:rPr lang="en-IN" dirty="0" smtClean="0">
                <a:sym typeface="Wingdings" pitchFamily="2" charset="2"/>
              </a:rPr>
              <a:t> E</a:t>
            </a:r>
            <a:r>
              <a:rPr lang="en-IN" dirty="0" smtClean="0"/>
              <a:t>}</a:t>
            </a:r>
            <a:endParaRPr lang="en-IN" dirty="0"/>
          </a:p>
          <a:p>
            <a:r>
              <a:rPr lang="en-IN" dirty="0" smtClean="0"/>
              <a:t>(BI)</a:t>
            </a:r>
            <a:r>
              <a:rPr lang="en-IN" baseline="30000" dirty="0" smtClean="0"/>
              <a:t>+ </a:t>
            </a:r>
            <a:r>
              <a:rPr lang="en-IN" dirty="0"/>
              <a:t>= </a:t>
            </a:r>
            <a:r>
              <a:rPr lang="en-IN" dirty="0" smtClean="0"/>
              <a:t>BI </a:t>
            </a:r>
            <a:r>
              <a:rPr lang="en-IN" dirty="0"/>
              <a:t>which cannot contain </a:t>
            </a:r>
            <a:r>
              <a:rPr lang="en-IN" dirty="0" smtClean="0"/>
              <a:t>J</a:t>
            </a:r>
            <a:endParaRPr lang="en-IN" dirty="0"/>
          </a:p>
          <a:p>
            <a:r>
              <a:rPr lang="en-US" dirty="0"/>
              <a:t> Hence </a:t>
            </a:r>
            <a:r>
              <a:rPr lang="en-US" dirty="0" smtClean="0"/>
              <a:t>BI </a:t>
            </a:r>
            <a:r>
              <a:rPr lang="en-US" dirty="0">
                <a:sym typeface="Wingdings" pitchFamily="2" charset="2"/>
              </a:rPr>
              <a:t> </a:t>
            </a:r>
            <a:r>
              <a:rPr lang="en-US" dirty="0" smtClean="0">
                <a:sym typeface="Wingdings" pitchFamily="2" charset="2"/>
              </a:rPr>
              <a:t>J </a:t>
            </a:r>
            <a:r>
              <a:rPr lang="en-US" dirty="0">
                <a:sym typeface="Wingdings" pitchFamily="2" charset="2"/>
              </a:rPr>
              <a:t>is not an extra functional dependency </a:t>
            </a:r>
            <a:r>
              <a:rPr lang="en-US" dirty="0" smtClean="0">
                <a:sym typeface="Wingdings" pitchFamily="2" charset="2"/>
              </a:rPr>
              <a:t>of </a:t>
            </a:r>
            <a:r>
              <a:rPr lang="en-IN" dirty="0" smtClean="0">
                <a:latin typeface="Script MT Bold" pitchFamily="66" charset="0"/>
              </a:rPr>
              <a:t>F</a:t>
            </a:r>
          </a:p>
          <a:p>
            <a:r>
              <a:rPr lang="en-IN" dirty="0" smtClean="0"/>
              <a:t>Hence </a:t>
            </a:r>
            <a:r>
              <a:rPr lang="en-IN" dirty="0">
                <a:latin typeface="Script MT Bold" pitchFamily="66" charset="0"/>
              </a:rPr>
              <a:t>G</a:t>
            </a:r>
            <a:r>
              <a:rPr lang="en-IN" dirty="0"/>
              <a:t> = {A </a:t>
            </a:r>
            <a:r>
              <a:rPr lang="en-IN" dirty="0">
                <a:sym typeface="Wingdings"/>
              </a:rPr>
              <a:t></a:t>
            </a:r>
            <a:r>
              <a:rPr lang="en-IN" dirty="0"/>
              <a:t> B, A </a:t>
            </a:r>
            <a:r>
              <a:rPr lang="en-IN" dirty="0">
                <a:sym typeface="Wingdings"/>
              </a:rPr>
              <a:t></a:t>
            </a:r>
            <a:r>
              <a:rPr lang="en-IN" dirty="0"/>
              <a:t> C, A </a:t>
            </a:r>
            <a:r>
              <a:rPr lang="en-IN" dirty="0">
                <a:sym typeface="Wingdings"/>
              </a:rPr>
              <a:t></a:t>
            </a:r>
            <a:r>
              <a:rPr lang="en-IN" dirty="0"/>
              <a:t> D, A </a:t>
            </a:r>
            <a:r>
              <a:rPr lang="en-IN" dirty="0">
                <a:sym typeface="Wingdings"/>
              </a:rPr>
              <a:t></a:t>
            </a:r>
            <a:r>
              <a:rPr lang="en-IN" dirty="0"/>
              <a:t> E, BI </a:t>
            </a:r>
            <a:r>
              <a:rPr lang="en-IN" dirty="0">
                <a:sym typeface="Wingdings"/>
              </a:rPr>
              <a:t></a:t>
            </a:r>
            <a:r>
              <a:rPr lang="en-IN" dirty="0"/>
              <a:t> J }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9399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Example</a:t>
            </a:r>
            <a:endParaRPr lang="en-US" sz="4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B1DC0-5783-4F1A-A0D1-155778440E93}" type="slidenum">
              <a:rPr lang="en-US" smtClean="0"/>
              <a:t>66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137160" indent="0">
              <a:buNone/>
            </a:pPr>
            <a:r>
              <a:rPr lang="en-IN" dirty="0" smtClean="0"/>
              <a:t>Find out a minimal cover of</a:t>
            </a:r>
          </a:p>
          <a:p>
            <a:pPr marL="137160" indent="0">
              <a:buNone/>
            </a:pPr>
            <a:r>
              <a:rPr lang="en-IN" dirty="0" smtClean="0">
                <a:latin typeface="Script MT Bold" pitchFamily="66" charset="0"/>
              </a:rPr>
              <a:t>F</a:t>
            </a:r>
            <a:r>
              <a:rPr lang="en-IN" dirty="0" smtClean="0"/>
              <a:t> </a:t>
            </a:r>
            <a:r>
              <a:rPr lang="en-IN" dirty="0"/>
              <a:t>= {A </a:t>
            </a:r>
            <a:r>
              <a:rPr lang="en-IN" dirty="0">
                <a:sym typeface="Wingdings"/>
              </a:rPr>
              <a:t></a:t>
            </a:r>
            <a:r>
              <a:rPr lang="en-IN" dirty="0"/>
              <a:t> B, ABCD </a:t>
            </a:r>
            <a:r>
              <a:rPr lang="en-IN" dirty="0">
                <a:sym typeface="Wingdings"/>
              </a:rPr>
              <a:t></a:t>
            </a:r>
            <a:r>
              <a:rPr lang="en-IN" dirty="0"/>
              <a:t> E, EF </a:t>
            </a:r>
            <a:r>
              <a:rPr lang="en-IN" dirty="0">
                <a:sym typeface="Wingdings"/>
              </a:rPr>
              <a:t></a:t>
            </a:r>
            <a:r>
              <a:rPr lang="en-IN" dirty="0"/>
              <a:t> GH, ACDF </a:t>
            </a:r>
            <a:r>
              <a:rPr lang="en-IN" dirty="0">
                <a:sym typeface="Wingdings"/>
              </a:rPr>
              <a:t></a:t>
            </a:r>
            <a:r>
              <a:rPr lang="en-IN" dirty="0"/>
              <a:t> EG</a:t>
            </a:r>
            <a:r>
              <a:rPr lang="en-IN" dirty="0" smtClean="0"/>
              <a:t>}.</a:t>
            </a:r>
          </a:p>
          <a:p>
            <a:pPr marL="137160" indent="0">
              <a:buNone/>
            </a:pPr>
            <a:endParaRPr lang="en-IN" dirty="0"/>
          </a:p>
          <a:p>
            <a:pPr marL="137160" indent="0">
              <a:buNone/>
            </a:pPr>
            <a:r>
              <a:rPr lang="en-IN" dirty="0"/>
              <a:t>Answer: </a:t>
            </a:r>
            <a:r>
              <a:rPr lang="en-IN" dirty="0">
                <a:latin typeface="Script MT Bold" pitchFamily="66" charset="0"/>
              </a:rPr>
              <a:t>G</a:t>
            </a:r>
            <a:r>
              <a:rPr lang="en-IN" dirty="0"/>
              <a:t> = {A </a:t>
            </a:r>
            <a:r>
              <a:rPr lang="en-IN" dirty="0">
                <a:sym typeface="Wingdings"/>
              </a:rPr>
              <a:t></a:t>
            </a:r>
            <a:r>
              <a:rPr lang="en-IN" dirty="0"/>
              <a:t> B, ACD </a:t>
            </a:r>
            <a:r>
              <a:rPr lang="en-IN" dirty="0">
                <a:sym typeface="Wingdings"/>
              </a:rPr>
              <a:t></a:t>
            </a:r>
            <a:r>
              <a:rPr lang="en-IN" dirty="0"/>
              <a:t> E, EF </a:t>
            </a:r>
            <a:r>
              <a:rPr lang="en-IN" dirty="0">
                <a:sym typeface="Wingdings"/>
              </a:rPr>
              <a:t></a:t>
            </a:r>
            <a:r>
              <a:rPr lang="en-IN" dirty="0"/>
              <a:t> G, EF </a:t>
            </a:r>
            <a:r>
              <a:rPr lang="en-IN" dirty="0">
                <a:sym typeface="Wingdings"/>
              </a:rPr>
              <a:t></a:t>
            </a:r>
            <a:r>
              <a:rPr lang="en-IN" dirty="0"/>
              <a:t> H}</a:t>
            </a:r>
            <a:endParaRPr lang="en-US" dirty="0"/>
          </a:p>
          <a:p>
            <a:pPr marL="13716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1159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Solution</a:t>
            </a:r>
            <a:endParaRPr lang="en-US" sz="4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B1DC0-5783-4F1A-A0D1-155778440E93}" type="slidenum">
              <a:rPr lang="en-US" smtClean="0"/>
              <a:t>67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137160" indent="0">
              <a:buNone/>
            </a:pPr>
            <a:r>
              <a:rPr lang="en-IN" dirty="0"/>
              <a:t>Converting all functional dependencies into canonical form we </a:t>
            </a:r>
            <a:r>
              <a:rPr lang="en-IN" dirty="0" smtClean="0"/>
              <a:t>have{A </a:t>
            </a:r>
            <a:r>
              <a:rPr lang="en-IN" dirty="0">
                <a:sym typeface="Wingdings"/>
              </a:rPr>
              <a:t></a:t>
            </a:r>
            <a:r>
              <a:rPr lang="en-IN" dirty="0"/>
              <a:t> B, ABCD </a:t>
            </a:r>
            <a:r>
              <a:rPr lang="en-IN" dirty="0">
                <a:sym typeface="Wingdings"/>
              </a:rPr>
              <a:t></a:t>
            </a:r>
            <a:r>
              <a:rPr lang="en-IN" dirty="0"/>
              <a:t> E, EF </a:t>
            </a:r>
            <a:r>
              <a:rPr lang="en-IN" dirty="0">
                <a:sym typeface="Wingdings"/>
              </a:rPr>
              <a:t></a:t>
            </a:r>
            <a:r>
              <a:rPr lang="en-IN" dirty="0"/>
              <a:t> G, EF </a:t>
            </a:r>
            <a:r>
              <a:rPr lang="en-IN" dirty="0">
                <a:sym typeface="Wingdings"/>
              </a:rPr>
              <a:t></a:t>
            </a:r>
            <a:r>
              <a:rPr lang="en-IN" dirty="0"/>
              <a:t> H, ACDF </a:t>
            </a:r>
            <a:r>
              <a:rPr lang="en-IN" dirty="0">
                <a:sym typeface="Wingdings"/>
              </a:rPr>
              <a:t></a:t>
            </a:r>
            <a:r>
              <a:rPr lang="en-IN" dirty="0"/>
              <a:t> E, ACDF </a:t>
            </a:r>
            <a:r>
              <a:rPr lang="en-IN" dirty="0">
                <a:sym typeface="Wingdings"/>
              </a:rPr>
              <a:t></a:t>
            </a:r>
            <a:r>
              <a:rPr lang="en-IN" dirty="0"/>
              <a:t> G}</a:t>
            </a:r>
            <a:endParaRPr lang="en-US" dirty="0"/>
          </a:p>
          <a:p>
            <a:pPr marL="137160" indent="0">
              <a:buNone/>
            </a:pPr>
            <a:r>
              <a:rPr lang="en-IN" dirty="0"/>
              <a:t>(ACD)</a:t>
            </a:r>
            <a:r>
              <a:rPr lang="en-IN" baseline="30000" dirty="0"/>
              <a:t>+</a:t>
            </a:r>
            <a:r>
              <a:rPr lang="en-IN" dirty="0"/>
              <a:t> = ABCDE which contains E and hence the attribute B in the left hand side of ABCD </a:t>
            </a:r>
            <a:r>
              <a:rPr lang="en-IN" dirty="0">
                <a:sym typeface="Wingdings"/>
              </a:rPr>
              <a:t></a:t>
            </a:r>
            <a:r>
              <a:rPr lang="en-IN" dirty="0"/>
              <a:t> E is an extraneous attribute and hence the above set of functional dependency reduces to</a:t>
            </a:r>
            <a:endParaRPr lang="en-US" dirty="0"/>
          </a:p>
          <a:p>
            <a:pPr marL="137160" indent="0">
              <a:buNone/>
            </a:pPr>
            <a:r>
              <a:rPr lang="en-IN" dirty="0" smtClean="0"/>
              <a:t>{</a:t>
            </a:r>
            <a:r>
              <a:rPr lang="en-IN" dirty="0"/>
              <a:t>A </a:t>
            </a:r>
            <a:r>
              <a:rPr lang="en-IN" dirty="0">
                <a:sym typeface="Wingdings"/>
              </a:rPr>
              <a:t></a:t>
            </a:r>
            <a:r>
              <a:rPr lang="en-IN" dirty="0"/>
              <a:t> B, ACD </a:t>
            </a:r>
            <a:r>
              <a:rPr lang="en-IN" dirty="0">
                <a:sym typeface="Wingdings"/>
              </a:rPr>
              <a:t></a:t>
            </a:r>
            <a:r>
              <a:rPr lang="en-IN" dirty="0"/>
              <a:t> E, EF </a:t>
            </a:r>
            <a:r>
              <a:rPr lang="en-IN" dirty="0">
                <a:sym typeface="Wingdings"/>
              </a:rPr>
              <a:t></a:t>
            </a:r>
            <a:r>
              <a:rPr lang="en-IN" dirty="0"/>
              <a:t> G, EF </a:t>
            </a:r>
            <a:r>
              <a:rPr lang="en-IN" dirty="0">
                <a:sym typeface="Wingdings"/>
              </a:rPr>
              <a:t></a:t>
            </a:r>
            <a:r>
              <a:rPr lang="en-IN" dirty="0"/>
              <a:t> H, ACDF </a:t>
            </a:r>
            <a:r>
              <a:rPr lang="en-IN" dirty="0">
                <a:sym typeface="Wingdings"/>
              </a:rPr>
              <a:t></a:t>
            </a:r>
            <a:r>
              <a:rPr lang="en-IN" dirty="0"/>
              <a:t> E, ACDF </a:t>
            </a:r>
            <a:r>
              <a:rPr lang="en-IN" dirty="0">
                <a:sym typeface="Wingdings"/>
              </a:rPr>
              <a:t></a:t>
            </a:r>
            <a:r>
              <a:rPr lang="en-IN" dirty="0"/>
              <a:t> G}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2786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Solution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B1DC0-5783-4F1A-A0D1-155778440E93}" type="slidenum">
              <a:rPr lang="en-US" smtClean="0"/>
              <a:t>68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 marL="137160" indent="0">
              <a:buNone/>
            </a:pPr>
            <a:r>
              <a:rPr lang="en-IN" dirty="0"/>
              <a:t>Considering ACD </a:t>
            </a:r>
            <a:r>
              <a:rPr lang="en-IN" dirty="0">
                <a:sym typeface="Wingdings"/>
              </a:rPr>
              <a:t></a:t>
            </a:r>
            <a:r>
              <a:rPr lang="en-IN" dirty="0"/>
              <a:t> E and ACDF </a:t>
            </a:r>
            <a:r>
              <a:rPr lang="en-IN" dirty="0">
                <a:sym typeface="Wingdings"/>
              </a:rPr>
              <a:t></a:t>
            </a:r>
            <a:r>
              <a:rPr lang="en-IN" dirty="0"/>
              <a:t> E, it is clear that the attribute F in ACDF </a:t>
            </a:r>
            <a:r>
              <a:rPr lang="en-IN" dirty="0">
                <a:sym typeface="Wingdings"/>
              </a:rPr>
              <a:t></a:t>
            </a:r>
            <a:r>
              <a:rPr lang="en-IN" dirty="0"/>
              <a:t> E is an extraneous attribute and so the set of functional dependency reduces to </a:t>
            </a:r>
            <a:r>
              <a:rPr lang="en-IN" dirty="0" smtClean="0"/>
              <a:t>{</a:t>
            </a:r>
            <a:r>
              <a:rPr lang="en-IN" dirty="0"/>
              <a:t>A </a:t>
            </a:r>
            <a:r>
              <a:rPr lang="en-IN" dirty="0">
                <a:sym typeface="Wingdings"/>
              </a:rPr>
              <a:t></a:t>
            </a:r>
            <a:r>
              <a:rPr lang="en-IN" dirty="0"/>
              <a:t> B, ACD </a:t>
            </a:r>
            <a:r>
              <a:rPr lang="en-IN" dirty="0">
                <a:sym typeface="Wingdings"/>
              </a:rPr>
              <a:t></a:t>
            </a:r>
            <a:r>
              <a:rPr lang="en-IN" dirty="0"/>
              <a:t> E, EF </a:t>
            </a:r>
            <a:r>
              <a:rPr lang="en-IN" dirty="0">
                <a:sym typeface="Wingdings"/>
              </a:rPr>
              <a:t></a:t>
            </a:r>
            <a:r>
              <a:rPr lang="en-IN" dirty="0"/>
              <a:t> G, EF </a:t>
            </a:r>
            <a:r>
              <a:rPr lang="en-IN" dirty="0">
                <a:sym typeface="Wingdings"/>
              </a:rPr>
              <a:t></a:t>
            </a:r>
            <a:r>
              <a:rPr lang="en-IN" dirty="0"/>
              <a:t> H, ACDF </a:t>
            </a:r>
            <a:r>
              <a:rPr lang="en-IN" dirty="0">
                <a:sym typeface="Wingdings"/>
              </a:rPr>
              <a:t></a:t>
            </a:r>
            <a:r>
              <a:rPr lang="en-IN" dirty="0"/>
              <a:t> G</a:t>
            </a:r>
            <a:r>
              <a:rPr lang="en-IN" dirty="0" smtClean="0"/>
              <a:t>}.</a:t>
            </a:r>
            <a:r>
              <a:rPr lang="en-US" dirty="0" smtClean="0"/>
              <a:t> </a:t>
            </a:r>
            <a:r>
              <a:rPr lang="en-IN" dirty="0" smtClean="0"/>
              <a:t>We </a:t>
            </a:r>
            <a:r>
              <a:rPr lang="en-IN" dirty="0"/>
              <a:t>find that (ACDF)</a:t>
            </a:r>
            <a:r>
              <a:rPr lang="en-IN" baseline="30000" dirty="0"/>
              <a:t>+</a:t>
            </a:r>
            <a:r>
              <a:rPr lang="en-IN" dirty="0"/>
              <a:t> with respect to </a:t>
            </a:r>
            <a:r>
              <a:rPr lang="en-IN" dirty="0" smtClean="0"/>
              <a:t>{</a:t>
            </a:r>
            <a:r>
              <a:rPr lang="en-IN" dirty="0"/>
              <a:t>A </a:t>
            </a:r>
            <a:r>
              <a:rPr lang="en-IN" dirty="0">
                <a:sym typeface="Wingdings"/>
              </a:rPr>
              <a:t></a:t>
            </a:r>
            <a:r>
              <a:rPr lang="en-IN" dirty="0"/>
              <a:t> B, ACD </a:t>
            </a:r>
            <a:r>
              <a:rPr lang="en-IN" dirty="0">
                <a:sym typeface="Wingdings"/>
              </a:rPr>
              <a:t></a:t>
            </a:r>
            <a:r>
              <a:rPr lang="en-IN" dirty="0"/>
              <a:t> E, EF </a:t>
            </a:r>
            <a:r>
              <a:rPr lang="en-IN" dirty="0">
                <a:sym typeface="Wingdings"/>
              </a:rPr>
              <a:t></a:t>
            </a:r>
            <a:r>
              <a:rPr lang="en-IN" dirty="0"/>
              <a:t> G, EF </a:t>
            </a:r>
            <a:r>
              <a:rPr lang="en-IN" dirty="0">
                <a:sym typeface="Wingdings"/>
              </a:rPr>
              <a:t></a:t>
            </a:r>
            <a:r>
              <a:rPr lang="en-IN" dirty="0"/>
              <a:t> H} </a:t>
            </a:r>
            <a:r>
              <a:rPr lang="en-IN" dirty="0" smtClean="0"/>
              <a:t>is </a:t>
            </a:r>
            <a:r>
              <a:rPr lang="en-IN" dirty="0"/>
              <a:t>ACDFEGH and </a:t>
            </a:r>
            <a:r>
              <a:rPr lang="en-IN" dirty="0" smtClean="0"/>
              <a:t>hence </a:t>
            </a:r>
            <a:r>
              <a:rPr lang="en-IN" dirty="0"/>
              <a:t>ACDF </a:t>
            </a:r>
            <a:r>
              <a:rPr lang="en-IN" dirty="0">
                <a:sym typeface="Wingdings"/>
              </a:rPr>
              <a:t></a:t>
            </a:r>
            <a:r>
              <a:rPr lang="en-IN" dirty="0"/>
              <a:t> G can be derived from </a:t>
            </a:r>
            <a:r>
              <a:rPr lang="en-IN" dirty="0" smtClean="0"/>
              <a:t>{</a:t>
            </a:r>
            <a:r>
              <a:rPr lang="en-IN" dirty="0"/>
              <a:t>A </a:t>
            </a:r>
            <a:r>
              <a:rPr lang="en-IN" dirty="0">
                <a:sym typeface="Wingdings"/>
              </a:rPr>
              <a:t></a:t>
            </a:r>
            <a:r>
              <a:rPr lang="en-IN" dirty="0"/>
              <a:t> B, ACD </a:t>
            </a:r>
            <a:r>
              <a:rPr lang="en-IN" dirty="0">
                <a:sym typeface="Wingdings"/>
              </a:rPr>
              <a:t></a:t>
            </a:r>
            <a:r>
              <a:rPr lang="en-IN" dirty="0"/>
              <a:t> E, EF </a:t>
            </a:r>
            <a:r>
              <a:rPr lang="en-IN" dirty="0">
                <a:sym typeface="Wingdings"/>
              </a:rPr>
              <a:t></a:t>
            </a:r>
            <a:r>
              <a:rPr lang="en-IN" dirty="0"/>
              <a:t> G, EF </a:t>
            </a:r>
            <a:r>
              <a:rPr lang="en-IN" dirty="0">
                <a:sym typeface="Wingdings"/>
              </a:rPr>
              <a:t></a:t>
            </a:r>
            <a:r>
              <a:rPr lang="en-IN" dirty="0"/>
              <a:t> H} and </a:t>
            </a:r>
            <a:r>
              <a:rPr lang="en-IN" dirty="0" smtClean="0"/>
              <a:t>so </a:t>
            </a:r>
            <a:r>
              <a:rPr lang="en-IN" dirty="0"/>
              <a:t>the set of functional dependency reduces </a:t>
            </a:r>
            <a:r>
              <a:rPr lang="en-IN" dirty="0" smtClean="0"/>
              <a:t>to {A </a:t>
            </a:r>
            <a:r>
              <a:rPr lang="en-IN" dirty="0">
                <a:sym typeface="Wingdings"/>
              </a:rPr>
              <a:t></a:t>
            </a:r>
            <a:r>
              <a:rPr lang="en-IN" dirty="0"/>
              <a:t> B, ACD </a:t>
            </a:r>
            <a:r>
              <a:rPr lang="en-IN" dirty="0">
                <a:sym typeface="Wingdings"/>
              </a:rPr>
              <a:t></a:t>
            </a:r>
            <a:r>
              <a:rPr lang="en-IN" dirty="0"/>
              <a:t> E, EF </a:t>
            </a:r>
            <a:r>
              <a:rPr lang="en-IN" dirty="0">
                <a:sym typeface="Wingdings"/>
              </a:rPr>
              <a:t></a:t>
            </a:r>
            <a:r>
              <a:rPr lang="en-IN" dirty="0"/>
              <a:t> G, EF </a:t>
            </a:r>
            <a:r>
              <a:rPr lang="en-IN" dirty="0">
                <a:sym typeface="Wingdings"/>
              </a:rPr>
              <a:t></a:t>
            </a:r>
            <a:r>
              <a:rPr lang="en-IN" dirty="0"/>
              <a:t> H}. 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0627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Solution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B1DC0-5783-4F1A-A0D1-155778440E93}" type="slidenum">
              <a:rPr lang="en-US" smtClean="0"/>
              <a:t>69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137160" indent="0">
              <a:buNone/>
            </a:pPr>
            <a:r>
              <a:rPr lang="en-IN" dirty="0"/>
              <a:t>No functional dependency can now be removed from this set and no functional dependency has extraneous attribute on its left hand side. So the minimal cover of the set </a:t>
            </a:r>
            <a:r>
              <a:rPr lang="en-IN" dirty="0">
                <a:latin typeface="Script MT Bold" pitchFamily="66" charset="0"/>
              </a:rPr>
              <a:t>F </a:t>
            </a:r>
            <a:r>
              <a:rPr lang="en-IN" dirty="0"/>
              <a:t>is </a:t>
            </a:r>
            <a:r>
              <a:rPr lang="en-IN" dirty="0">
                <a:latin typeface="Script MT Bold" pitchFamily="66" charset="0"/>
              </a:rPr>
              <a:t>G</a:t>
            </a:r>
            <a:r>
              <a:rPr lang="en-IN" dirty="0"/>
              <a:t> = {A </a:t>
            </a:r>
            <a:r>
              <a:rPr lang="en-IN" dirty="0">
                <a:sym typeface="Wingdings"/>
              </a:rPr>
              <a:t></a:t>
            </a:r>
            <a:r>
              <a:rPr lang="en-IN" dirty="0"/>
              <a:t> B, ACD </a:t>
            </a:r>
            <a:r>
              <a:rPr lang="en-IN" dirty="0">
                <a:sym typeface="Wingdings"/>
              </a:rPr>
              <a:t></a:t>
            </a:r>
            <a:r>
              <a:rPr lang="en-IN" dirty="0"/>
              <a:t> E, EF </a:t>
            </a:r>
            <a:r>
              <a:rPr lang="en-IN" dirty="0">
                <a:sym typeface="Wingdings"/>
              </a:rPr>
              <a:t></a:t>
            </a:r>
            <a:r>
              <a:rPr lang="en-IN" dirty="0"/>
              <a:t> G, EF </a:t>
            </a:r>
            <a:r>
              <a:rPr lang="en-IN" dirty="0">
                <a:sym typeface="Wingdings"/>
              </a:rPr>
              <a:t></a:t>
            </a:r>
            <a:r>
              <a:rPr lang="en-IN" dirty="0"/>
              <a:t> H}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0575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1271</TotalTime>
  <Words>3919</Words>
  <Application>Microsoft Office PowerPoint</Application>
  <PresentationFormat>On-screen Show (16:9)</PresentationFormat>
  <Paragraphs>538</Paragraphs>
  <Slides>69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69</vt:i4>
      </vt:variant>
    </vt:vector>
  </HeadingPairs>
  <TitlesOfParts>
    <vt:vector size="70" baseType="lpstr">
      <vt:lpstr>Equity</vt:lpstr>
      <vt:lpstr>Functional dependency </vt:lpstr>
      <vt:lpstr>Attribute Closure</vt:lpstr>
      <vt:lpstr>Closure of a set of attributes</vt:lpstr>
      <vt:lpstr>Algorithm for computing X+</vt:lpstr>
      <vt:lpstr>Example</vt:lpstr>
      <vt:lpstr>Closure</vt:lpstr>
      <vt:lpstr>Closure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Super Key &amp; Key</vt:lpstr>
      <vt:lpstr>Key</vt:lpstr>
      <vt:lpstr>Example</vt:lpstr>
      <vt:lpstr>Key</vt:lpstr>
      <vt:lpstr>Example</vt:lpstr>
      <vt:lpstr>Example</vt:lpstr>
      <vt:lpstr>Solution (1)</vt:lpstr>
      <vt:lpstr>Solution (2)</vt:lpstr>
      <vt:lpstr>Inference</vt:lpstr>
      <vt:lpstr>Example</vt:lpstr>
      <vt:lpstr>Equivalence</vt:lpstr>
      <vt:lpstr>Example</vt:lpstr>
      <vt:lpstr>Solution</vt:lpstr>
      <vt:lpstr>Example</vt:lpstr>
      <vt:lpstr>Solution</vt:lpstr>
      <vt:lpstr>Solution</vt:lpstr>
      <vt:lpstr>Example</vt:lpstr>
      <vt:lpstr>Solution</vt:lpstr>
      <vt:lpstr>Solution</vt:lpstr>
      <vt:lpstr>Solution</vt:lpstr>
      <vt:lpstr>Minimal cover</vt:lpstr>
      <vt:lpstr>Extraneous Attributes</vt:lpstr>
      <vt:lpstr>Testing if an Attribute is Extraneous</vt:lpstr>
      <vt:lpstr>Computing Canonical Cover</vt:lpstr>
      <vt:lpstr>PowerPoint Presentation</vt:lpstr>
      <vt:lpstr>PowerPoint Presentation</vt:lpstr>
      <vt:lpstr>PowerPoint Presentation</vt:lpstr>
      <vt:lpstr>Find the canonical cover of F:</vt:lpstr>
      <vt:lpstr>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</vt:lpstr>
      <vt:lpstr>Solution</vt:lpstr>
      <vt:lpstr>Example</vt:lpstr>
      <vt:lpstr>Example</vt:lpstr>
      <vt:lpstr>Example</vt:lpstr>
      <vt:lpstr>Solution</vt:lpstr>
      <vt:lpstr>Solution</vt:lpstr>
      <vt:lpstr>Solution</vt:lpstr>
      <vt:lpstr>Solution</vt:lpstr>
      <vt:lpstr>Solution</vt:lpstr>
      <vt:lpstr>Solution</vt:lpstr>
      <vt:lpstr>Example</vt:lpstr>
      <vt:lpstr>Solution</vt:lpstr>
      <vt:lpstr>Solution</vt:lpstr>
      <vt:lpstr>Solution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Functional dependency</dc:title>
  <dc:creator>Admin</dc:creator>
  <cp:lastModifiedBy>DELL</cp:lastModifiedBy>
  <cp:revision>166</cp:revision>
  <dcterms:created xsi:type="dcterms:W3CDTF">2020-01-24T07:52:33Z</dcterms:created>
  <dcterms:modified xsi:type="dcterms:W3CDTF">2024-08-19T07:22:21Z</dcterms:modified>
</cp:coreProperties>
</file>