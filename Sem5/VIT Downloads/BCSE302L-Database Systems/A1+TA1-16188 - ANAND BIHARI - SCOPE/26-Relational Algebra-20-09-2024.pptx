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309" r:id="rId4"/>
    <p:sldId id="310" r:id="rId5"/>
    <p:sldId id="258" r:id="rId6"/>
    <p:sldId id="275" r:id="rId7"/>
    <p:sldId id="259" r:id="rId8"/>
    <p:sldId id="261" r:id="rId9"/>
    <p:sldId id="278" r:id="rId10"/>
    <p:sldId id="262" r:id="rId11"/>
    <p:sldId id="263" r:id="rId12"/>
    <p:sldId id="264" r:id="rId13"/>
    <p:sldId id="276" r:id="rId14"/>
    <p:sldId id="277" r:id="rId15"/>
    <p:sldId id="265" r:id="rId16"/>
    <p:sldId id="266" r:id="rId17"/>
    <p:sldId id="267" r:id="rId18"/>
    <p:sldId id="268" r:id="rId19"/>
    <p:sldId id="279" r:id="rId20"/>
    <p:sldId id="269" r:id="rId21"/>
    <p:sldId id="270" r:id="rId22"/>
    <p:sldId id="283" r:id="rId23"/>
    <p:sldId id="271" r:id="rId24"/>
    <p:sldId id="272" r:id="rId25"/>
    <p:sldId id="280" r:id="rId26"/>
    <p:sldId id="282" r:id="rId27"/>
    <p:sldId id="273" r:id="rId28"/>
    <p:sldId id="274"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24" autoAdjust="0"/>
  </p:normalViewPr>
  <p:slideViewPr>
    <p:cSldViewPr>
      <p:cViewPr>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5" Type="http://schemas.openxmlformats.org/officeDocument/2006/relationships/image" Target="../media/image20.emf"/><Relationship Id="rId4"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079DEB-D738-45F4-B6A0-5D0AB3DCBA7B}" type="datetimeFigureOut">
              <a:rPr lang="en-US" smtClean="0"/>
              <a:pPr/>
              <a:t>20-Sep-24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ED2326-20E4-4E39-A2E5-32F9CB2BAC90}" type="slidenum">
              <a:rPr lang="en-US" smtClean="0"/>
              <a:pPr/>
              <a:t>‹#›</a:t>
            </a:fld>
            <a:endParaRPr lang="en-US"/>
          </a:p>
        </p:txBody>
      </p:sp>
    </p:spTree>
    <p:extLst>
      <p:ext uri="{BB962C8B-B14F-4D97-AF65-F5344CB8AC3E}">
        <p14:creationId xmlns:p14="http://schemas.microsoft.com/office/powerpoint/2010/main" val="163112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36BF19-2F6E-4ABF-B00A-5AEA96D9736B}" type="slidenum">
              <a:rPr lang="en-US"/>
              <a:pPr/>
              <a:t>6</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15653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BCC53B-4A5E-42D8-A45E-8A6152282C24}" type="slidenum">
              <a:rPr lang="en-US"/>
              <a:pPr/>
              <a:t>22</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53844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E43C8A-8E7E-4814-A484-770CF9DCBD79}" type="slidenum">
              <a:rPr lang="en-US"/>
              <a:pPr/>
              <a:t>26</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17980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149A6A-0834-4467-AF7F-49E476F70ED6}" type="slidenum">
              <a:rPr lang="en-US"/>
              <a:pPr/>
              <a:t>29</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85463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46E0D5-73CA-466A-AB2B-E9901B160545}" type="slidenum">
              <a:rPr lang="en-US"/>
              <a:pPr/>
              <a:t>30</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42830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FE388B-9397-4B08-B6A0-9E32350E6B56}" type="slidenum">
              <a:rPr lang="en-US"/>
              <a:pPr/>
              <a:t>31</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00049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20-Sep-24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20-Sep-24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Footer Placeholder 4"/>
          <p:cNvSpPr>
            <a:spLocks noGrp="1"/>
          </p:cNvSpPr>
          <p:nvPr>
            <p:ph type="ftr" sz="quarter" idx="10"/>
          </p:nvPr>
        </p:nvSpPr>
        <p:spPr>
          <a:xfrm>
            <a:off x="633413" y="6453188"/>
            <a:ext cx="2895600" cy="403225"/>
          </a:xfrm>
        </p:spPr>
        <p:txBody>
          <a:bodyPr/>
          <a:lstStyle>
            <a:lvl1pPr>
              <a:defRPr>
                <a:solidFill>
                  <a:schemeClr val="tx1"/>
                </a:solidFill>
              </a:defRPr>
            </a:lvl1pPr>
          </a:lstStyle>
          <a:p>
            <a:endParaRPr lang="en-US"/>
          </a:p>
          <a:p>
            <a:endParaRPr lang="en-US"/>
          </a:p>
        </p:txBody>
      </p:sp>
      <p:sp>
        <p:nvSpPr>
          <p:cNvPr id="6" name="Slide Number Placeholder 5"/>
          <p:cNvSpPr>
            <a:spLocks noGrp="1"/>
          </p:cNvSpPr>
          <p:nvPr>
            <p:ph type="sldNum" sz="quarter" idx="11"/>
          </p:nvPr>
        </p:nvSpPr>
        <p:spPr>
          <a:xfrm>
            <a:off x="6553200" y="6172200"/>
            <a:ext cx="1905000" cy="457200"/>
          </a:xfrm>
        </p:spPr>
        <p:txBody>
          <a:bodyPr/>
          <a:lstStyle>
            <a:lvl1pPr>
              <a:defRPr/>
            </a:lvl1pPr>
          </a:lstStyle>
          <a:p>
            <a:fld id="{F0DF3BF5-6A9D-4CF1-9395-B66929BD8B3E}"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0"/>
          </p:nvPr>
        </p:nvSpPr>
        <p:spPr>
          <a:xfrm>
            <a:off x="633413" y="6453188"/>
            <a:ext cx="2895600" cy="403225"/>
          </a:xfrm>
        </p:spPr>
        <p:txBody>
          <a:bodyPr/>
          <a:lstStyle>
            <a:lvl1pPr>
              <a:defRPr>
                <a:solidFill>
                  <a:schemeClr val="tx1"/>
                </a:solidFill>
              </a:defRPr>
            </a:lvl1pPr>
          </a:lstStyle>
          <a:p>
            <a:endParaRPr lang="en-US"/>
          </a:p>
          <a:p>
            <a:endParaRPr lang="en-US"/>
          </a:p>
        </p:txBody>
      </p:sp>
      <p:sp>
        <p:nvSpPr>
          <p:cNvPr id="7" name="Slide Number Placeholder 6"/>
          <p:cNvSpPr>
            <a:spLocks noGrp="1"/>
          </p:cNvSpPr>
          <p:nvPr>
            <p:ph type="sldNum" sz="quarter" idx="11"/>
          </p:nvPr>
        </p:nvSpPr>
        <p:spPr>
          <a:xfrm>
            <a:off x="6553200" y="6172200"/>
            <a:ext cx="1905000" cy="457200"/>
          </a:xfrm>
        </p:spPr>
        <p:txBody>
          <a:bodyPr/>
          <a:lstStyle>
            <a:lvl1pPr>
              <a:defRPr/>
            </a:lvl1pPr>
          </a:lstStyle>
          <a:p>
            <a:fld id="{A6FAC75C-1B54-46CA-881D-26F78E25703A}"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20-Sep-24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Microsoft_Word_97_-_2003_Document3.doc"/><Relationship Id="rId3" Type="http://schemas.openxmlformats.org/officeDocument/2006/relationships/notesSlide" Target="../notesSlides/notesSlide1.xml"/><Relationship Id="rId7" Type="http://schemas.openxmlformats.org/officeDocument/2006/relationships/image" Target="../media/image2.e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Microsoft_Word_97_-_2003_Document2.doc"/><Relationship Id="rId5" Type="http://schemas.openxmlformats.org/officeDocument/2006/relationships/image" Target="../media/image1.emf"/><Relationship Id="rId4" Type="http://schemas.openxmlformats.org/officeDocument/2006/relationships/oleObject" Target="../embeddings/Microsoft_Word_97_-_2003_Document1.doc"/><Relationship Id="rId9"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Microsoft_Word_97_-_2003_Document6.doc"/><Relationship Id="rId3" Type="http://schemas.openxmlformats.org/officeDocument/2006/relationships/notesSlide" Target="../notesSlides/notesSlide2.xml"/><Relationship Id="rId7" Type="http://schemas.openxmlformats.org/officeDocument/2006/relationships/image" Target="../media/image11.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Microsoft_Word_97_-_2003_Document5.doc"/><Relationship Id="rId11" Type="http://schemas.openxmlformats.org/officeDocument/2006/relationships/image" Target="../media/image13.wmf"/><Relationship Id="rId5" Type="http://schemas.openxmlformats.org/officeDocument/2006/relationships/image" Target="../media/image10.emf"/><Relationship Id="rId10" Type="http://schemas.openxmlformats.org/officeDocument/2006/relationships/oleObject" Target="../embeddings/oleObject1.bin"/><Relationship Id="rId4" Type="http://schemas.openxmlformats.org/officeDocument/2006/relationships/oleObject" Target="../embeddings/Microsoft_Word_97_-_2003_Document4.doc"/><Relationship Id="rId9" Type="http://schemas.openxmlformats.org/officeDocument/2006/relationships/image" Target="../media/image12.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Microsoft_Word_97_-_2003_Document9.doc"/><Relationship Id="rId13" Type="http://schemas.openxmlformats.org/officeDocument/2006/relationships/image" Target="../media/image20.emf"/><Relationship Id="rId3" Type="http://schemas.openxmlformats.org/officeDocument/2006/relationships/notesSlide" Target="../notesSlides/notesSlide3.xml"/><Relationship Id="rId7" Type="http://schemas.openxmlformats.org/officeDocument/2006/relationships/image" Target="../media/image17.emf"/><Relationship Id="rId12" Type="http://schemas.openxmlformats.org/officeDocument/2006/relationships/oleObject" Target="../embeddings/Microsoft_Word_97_-_2003_Document10.doc"/><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Microsoft_Word_97_-_2003_Document8.doc"/><Relationship Id="rId11" Type="http://schemas.openxmlformats.org/officeDocument/2006/relationships/image" Target="../media/image19.wmf"/><Relationship Id="rId5" Type="http://schemas.openxmlformats.org/officeDocument/2006/relationships/image" Target="../media/image16.emf"/><Relationship Id="rId10" Type="http://schemas.openxmlformats.org/officeDocument/2006/relationships/oleObject" Target="../embeddings/oleObject2.bin"/><Relationship Id="rId4" Type="http://schemas.openxmlformats.org/officeDocument/2006/relationships/oleObject" Target="../embeddings/Microsoft_Word_97_-_2003_Document7.doc"/><Relationship Id="rId9" Type="http://schemas.openxmlformats.org/officeDocument/2006/relationships/image" Target="../media/image1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Microsoft_Word_97_-_2003_Document13.doc"/><Relationship Id="rId3" Type="http://schemas.openxmlformats.org/officeDocument/2006/relationships/notesSlide" Target="../notesSlides/notesSlide5.xml"/><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Microsoft_Word_97_-_2003_Document12.doc"/><Relationship Id="rId5" Type="http://schemas.openxmlformats.org/officeDocument/2006/relationships/image" Target="../media/image21.emf"/><Relationship Id="rId4" Type="http://schemas.openxmlformats.org/officeDocument/2006/relationships/oleObject" Target="../embeddings/Microsoft_Word_97_-_2003_Document11.doc"/><Relationship Id="rId9" Type="http://schemas.openxmlformats.org/officeDocument/2006/relationships/image" Target="../media/image23.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Microsoft_Word_97_-_2003_Document15.doc"/><Relationship Id="rId3" Type="http://schemas.openxmlformats.org/officeDocument/2006/relationships/notesSlide" Target="../notesSlides/notesSlide6.xml"/><Relationship Id="rId7" Type="http://schemas.openxmlformats.org/officeDocument/2006/relationships/image" Target="../media/image25.e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Microsoft_Word_97_-_2003_Document14.doc"/><Relationship Id="rId5" Type="http://schemas.openxmlformats.org/officeDocument/2006/relationships/image" Target="../media/image24.wmf"/><Relationship Id="rId4" Type="http://schemas.openxmlformats.org/officeDocument/2006/relationships/oleObject" Target="../embeddings/oleObject3.bin"/><Relationship Id="rId9" Type="http://schemas.openxmlformats.org/officeDocument/2006/relationships/image" Target="../media/image2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27.wmf"/><Relationship Id="rId4"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Relational Algebra</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Relational Algebra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txBody>
          <a:bodyPr>
            <a:normAutofit/>
          </a:bodyPr>
          <a:lstStyle/>
          <a:p>
            <a:pPr algn="just"/>
            <a:r>
              <a:rPr lang="en-US" dirty="0" smtClean="0"/>
              <a:t>Relational algebra is a procedural query language, which takes instances of relations as input and yields instances of relations as output. It uses operators to perform queries.</a:t>
            </a:r>
          </a:p>
          <a:p>
            <a:pPr algn="just"/>
            <a:r>
              <a:rPr lang="en-US" dirty="0" smtClean="0"/>
              <a:t> An operator can be either </a:t>
            </a:r>
            <a:r>
              <a:rPr lang="en-US" b="1" dirty="0" smtClean="0"/>
              <a:t>unary</a:t>
            </a:r>
            <a:r>
              <a:rPr lang="en-US" dirty="0" smtClean="0"/>
              <a:t> or </a:t>
            </a:r>
            <a:r>
              <a:rPr lang="en-US" b="1" dirty="0" smtClean="0"/>
              <a:t>binary</a:t>
            </a:r>
            <a:r>
              <a:rPr lang="en-US" dirty="0" smtClean="0"/>
              <a:t>. They accept relations as their input and yield relations as their output. </a:t>
            </a:r>
          </a:p>
          <a:p>
            <a:pPr algn="just"/>
            <a:r>
              <a:rPr lang="en-US" dirty="0" smtClean="0"/>
              <a:t>Relational algebra is performed recursively on a relation and intermediate results are also considered relations.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12"/>
          </p:nvPr>
        </p:nvSpPr>
        <p:spPr>
          <a:noFill/>
        </p:spPr>
        <p:txBody>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fld id="{EC736704-5307-4438-B50D-616055CCC2BC}" type="slidenum">
              <a:rPr lang="en-US" sz="1400" smtClean="0"/>
              <a:pPr/>
              <a:t>3</a:t>
            </a:fld>
            <a:endParaRPr lang="en-US" sz="1400" smtClean="0"/>
          </a:p>
        </p:txBody>
      </p:sp>
      <p:sp>
        <p:nvSpPr>
          <p:cNvPr id="6147" name="Rectangle 2"/>
          <p:cNvSpPr>
            <a:spLocks noGrp="1" noChangeArrowheads="1"/>
          </p:cNvSpPr>
          <p:nvPr>
            <p:ph type="title"/>
          </p:nvPr>
        </p:nvSpPr>
        <p:spPr>
          <a:xfrm>
            <a:off x="685800" y="0"/>
            <a:ext cx="7772400" cy="1143000"/>
          </a:xfrm>
          <a:solidFill>
            <a:srgbClr val="FFFFFF"/>
          </a:solidFill>
        </p:spPr>
        <p:txBody>
          <a:bodyPr/>
          <a:lstStyle/>
          <a:p>
            <a:r>
              <a:rPr lang="en-US" smtClean="0"/>
              <a:t>Relational Algebra in a DBMS</a:t>
            </a:r>
          </a:p>
        </p:txBody>
      </p:sp>
      <p:sp>
        <p:nvSpPr>
          <p:cNvPr id="6148" name="Rectangle 3"/>
          <p:cNvSpPr>
            <a:spLocks noChangeArrowheads="1"/>
          </p:cNvSpPr>
          <p:nvPr/>
        </p:nvSpPr>
        <p:spPr bwMode="auto">
          <a:xfrm>
            <a:off x="1143000" y="2667000"/>
            <a:ext cx="990600" cy="5334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parser</a:t>
            </a:r>
          </a:p>
        </p:txBody>
      </p:sp>
      <p:sp>
        <p:nvSpPr>
          <p:cNvPr id="6149" name="Text Box 6"/>
          <p:cNvSpPr txBox="1">
            <a:spLocks noChangeArrowheads="1"/>
          </p:cNvSpPr>
          <p:nvPr/>
        </p:nvSpPr>
        <p:spPr bwMode="auto">
          <a:xfrm>
            <a:off x="457200" y="2005013"/>
            <a:ext cx="70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sz="1800"/>
              <a:t>SQL</a:t>
            </a:r>
          </a:p>
          <a:p>
            <a:r>
              <a:rPr lang="en-US" sz="1800"/>
              <a:t>query</a:t>
            </a:r>
            <a:endParaRPr lang="en-US"/>
          </a:p>
        </p:txBody>
      </p:sp>
      <p:sp>
        <p:nvSpPr>
          <p:cNvPr id="6150" name="Text Box 7"/>
          <p:cNvSpPr txBox="1">
            <a:spLocks noChangeArrowheads="1"/>
          </p:cNvSpPr>
          <p:nvPr/>
        </p:nvSpPr>
        <p:spPr bwMode="auto">
          <a:xfrm>
            <a:off x="2286000" y="1905000"/>
            <a:ext cx="105568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sz="1600"/>
              <a:t>Relational</a:t>
            </a:r>
          </a:p>
          <a:p>
            <a:r>
              <a:rPr lang="en-US" sz="1600"/>
              <a:t>algebra</a:t>
            </a:r>
          </a:p>
          <a:p>
            <a:r>
              <a:rPr lang="en-US" sz="1600"/>
              <a:t>expression</a:t>
            </a:r>
            <a:endParaRPr lang="en-US" sz="1800"/>
          </a:p>
        </p:txBody>
      </p:sp>
      <p:sp>
        <p:nvSpPr>
          <p:cNvPr id="6151" name="Rectangle 8"/>
          <p:cNvSpPr>
            <a:spLocks noChangeArrowheads="1"/>
          </p:cNvSpPr>
          <p:nvPr/>
        </p:nvSpPr>
        <p:spPr bwMode="auto">
          <a:xfrm>
            <a:off x="3886200" y="1600200"/>
            <a:ext cx="1055688"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t>Optimized</a:t>
            </a:r>
          </a:p>
          <a:p>
            <a:r>
              <a:rPr lang="en-US" sz="1600"/>
              <a:t>Relational</a:t>
            </a:r>
          </a:p>
          <a:p>
            <a:r>
              <a:rPr lang="en-US" sz="1600"/>
              <a:t>algebra</a:t>
            </a:r>
          </a:p>
          <a:p>
            <a:r>
              <a:rPr lang="en-US" sz="1600"/>
              <a:t>expression</a:t>
            </a:r>
          </a:p>
        </p:txBody>
      </p:sp>
      <p:sp>
        <p:nvSpPr>
          <p:cNvPr id="6152" name="Rectangle 9"/>
          <p:cNvSpPr>
            <a:spLocks noChangeArrowheads="1"/>
          </p:cNvSpPr>
          <p:nvPr/>
        </p:nvSpPr>
        <p:spPr bwMode="auto">
          <a:xfrm>
            <a:off x="3581400" y="2667000"/>
            <a:ext cx="457200" cy="5334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53" name="Rectangle 10"/>
          <p:cNvSpPr>
            <a:spLocks noChangeArrowheads="1"/>
          </p:cNvSpPr>
          <p:nvPr/>
        </p:nvSpPr>
        <p:spPr bwMode="auto">
          <a:xfrm>
            <a:off x="4800600" y="2667000"/>
            <a:ext cx="457200" cy="5334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54" name="AutoShape 11"/>
          <p:cNvSpPr>
            <a:spLocks/>
          </p:cNvSpPr>
          <p:nvPr/>
        </p:nvSpPr>
        <p:spPr bwMode="auto">
          <a:xfrm rot="16205753" flipV="1">
            <a:off x="4156869" y="2472531"/>
            <a:ext cx="609600" cy="2217738"/>
          </a:xfrm>
          <a:prstGeom prst="leftBrace">
            <a:avLst>
              <a:gd name="adj1" fmla="val 3031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55" name="Text Box 12"/>
          <p:cNvSpPr txBox="1">
            <a:spLocks noChangeArrowheads="1"/>
          </p:cNvSpPr>
          <p:nvPr/>
        </p:nvSpPr>
        <p:spPr bwMode="auto">
          <a:xfrm>
            <a:off x="3581400" y="3913188"/>
            <a:ext cx="204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a:t>Query </a:t>
            </a:r>
            <a:r>
              <a:rPr lang="en-US" sz="2400"/>
              <a:t>optimizer</a:t>
            </a:r>
          </a:p>
        </p:txBody>
      </p:sp>
      <p:sp>
        <p:nvSpPr>
          <p:cNvPr id="6156" name="Rectangle 13"/>
          <p:cNvSpPr>
            <a:spLocks noChangeArrowheads="1"/>
          </p:cNvSpPr>
          <p:nvPr/>
        </p:nvSpPr>
        <p:spPr bwMode="auto">
          <a:xfrm>
            <a:off x="6400800" y="2438400"/>
            <a:ext cx="1371600" cy="9906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Code</a:t>
            </a:r>
          </a:p>
          <a:p>
            <a:pPr algn="ctr"/>
            <a:r>
              <a:rPr lang="en-US"/>
              <a:t>generator</a:t>
            </a:r>
          </a:p>
        </p:txBody>
      </p:sp>
      <p:sp>
        <p:nvSpPr>
          <p:cNvPr id="6157" name="Text Box 15"/>
          <p:cNvSpPr txBox="1">
            <a:spLocks noChangeArrowheads="1"/>
          </p:cNvSpPr>
          <p:nvPr/>
        </p:nvSpPr>
        <p:spPr bwMode="auto">
          <a:xfrm>
            <a:off x="5410200" y="1828800"/>
            <a:ext cx="97631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sz="1600"/>
              <a:t>Query</a:t>
            </a:r>
          </a:p>
          <a:p>
            <a:r>
              <a:rPr lang="en-US" sz="1600"/>
              <a:t>execution</a:t>
            </a:r>
          </a:p>
          <a:p>
            <a:r>
              <a:rPr lang="en-US" sz="1600"/>
              <a:t>plan</a:t>
            </a:r>
            <a:endParaRPr lang="en-US" sz="1800"/>
          </a:p>
        </p:txBody>
      </p:sp>
      <p:sp>
        <p:nvSpPr>
          <p:cNvPr id="6158" name="Text Box 16"/>
          <p:cNvSpPr txBox="1">
            <a:spLocks noChangeArrowheads="1"/>
          </p:cNvSpPr>
          <p:nvPr/>
        </p:nvSpPr>
        <p:spPr bwMode="auto">
          <a:xfrm>
            <a:off x="7848600" y="1828800"/>
            <a:ext cx="10890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sz="1600"/>
              <a:t>Executable</a:t>
            </a:r>
          </a:p>
          <a:p>
            <a:r>
              <a:rPr lang="en-US" sz="1600"/>
              <a:t>code</a:t>
            </a:r>
            <a:endParaRPr lang="en-US" sz="1800"/>
          </a:p>
        </p:txBody>
      </p:sp>
      <p:sp>
        <p:nvSpPr>
          <p:cNvPr id="6159" name="Line 17"/>
          <p:cNvSpPr>
            <a:spLocks noChangeShapeType="1"/>
          </p:cNvSpPr>
          <p:nvPr/>
        </p:nvSpPr>
        <p:spPr bwMode="auto">
          <a:xfrm>
            <a:off x="457200" y="28956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0" name="Line 19"/>
          <p:cNvSpPr>
            <a:spLocks noChangeShapeType="1"/>
          </p:cNvSpPr>
          <p:nvPr/>
        </p:nvSpPr>
        <p:spPr bwMode="auto">
          <a:xfrm>
            <a:off x="2133600" y="28956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1" name="Line 21"/>
          <p:cNvSpPr>
            <a:spLocks noChangeShapeType="1"/>
          </p:cNvSpPr>
          <p:nvPr/>
        </p:nvSpPr>
        <p:spPr bwMode="auto">
          <a:xfrm>
            <a:off x="4038600" y="28956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2" name="Line 22"/>
          <p:cNvSpPr>
            <a:spLocks noChangeShapeType="1"/>
          </p:cNvSpPr>
          <p:nvPr/>
        </p:nvSpPr>
        <p:spPr bwMode="auto">
          <a:xfrm>
            <a:off x="5257800" y="28956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3" name="Line 26"/>
          <p:cNvSpPr>
            <a:spLocks noChangeShapeType="1"/>
          </p:cNvSpPr>
          <p:nvPr/>
        </p:nvSpPr>
        <p:spPr bwMode="auto">
          <a:xfrm>
            <a:off x="7772400" y="28956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4" name="AutoShape 27"/>
          <p:cNvSpPr>
            <a:spLocks/>
          </p:cNvSpPr>
          <p:nvPr/>
        </p:nvSpPr>
        <p:spPr bwMode="auto">
          <a:xfrm rot="-5400000">
            <a:off x="4000500" y="1181100"/>
            <a:ext cx="762000" cy="7239000"/>
          </a:xfrm>
          <a:prstGeom prst="leftBrace">
            <a:avLst>
              <a:gd name="adj1" fmla="val 79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65" name="Text Box 28"/>
          <p:cNvSpPr txBox="1">
            <a:spLocks noChangeArrowheads="1"/>
          </p:cNvSpPr>
          <p:nvPr/>
        </p:nvSpPr>
        <p:spPr bwMode="auto">
          <a:xfrm>
            <a:off x="3794125" y="5505450"/>
            <a:ext cx="1336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r>
              <a:rPr lang="en-US" sz="3200"/>
              <a:t>DBMS</a:t>
            </a:r>
          </a:p>
        </p:txBody>
      </p:sp>
    </p:spTree>
    <p:extLst>
      <p:ext uri="{BB962C8B-B14F-4D97-AF65-F5344CB8AC3E}">
        <p14:creationId xmlns:p14="http://schemas.microsoft.com/office/powerpoint/2010/main" val="2160631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lvl1pPr>
              <a:defRPr sz="2000">
                <a:solidFill>
                  <a:schemeClr val="tx1"/>
                </a:solidFill>
                <a:latin typeface="Times New Roman" pitchFamily="18" charset="0"/>
              </a:defRPr>
            </a:lvl1pPr>
            <a:lvl2pPr marL="742950" indent="-285750">
              <a:defRPr sz="2000">
                <a:solidFill>
                  <a:schemeClr val="tx1"/>
                </a:solidFill>
                <a:latin typeface="Times New Roman" pitchFamily="18" charset="0"/>
              </a:defRPr>
            </a:lvl2pPr>
            <a:lvl3pPr marL="1143000" indent="-228600">
              <a:defRPr sz="2000">
                <a:solidFill>
                  <a:schemeClr val="tx1"/>
                </a:solidFill>
                <a:latin typeface="Times New Roman" pitchFamily="18" charset="0"/>
              </a:defRPr>
            </a:lvl3pPr>
            <a:lvl4pPr marL="1600200" indent="-228600">
              <a:defRPr sz="2000">
                <a:solidFill>
                  <a:schemeClr val="tx1"/>
                </a:solidFill>
                <a:latin typeface="Times New Roman" pitchFamily="18" charset="0"/>
              </a:defRPr>
            </a:lvl4pPr>
            <a:lvl5pPr marL="2057400" indent="-22860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fld id="{CCFEE8E7-245A-4333-B676-05BCF29329B9}" type="slidenum">
              <a:rPr lang="en-US" sz="1400" smtClean="0"/>
              <a:pPr/>
              <a:t>4</a:t>
            </a:fld>
            <a:endParaRPr lang="en-US" sz="1400" smtClean="0"/>
          </a:p>
        </p:txBody>
      </p:sp>
      <p:sp>
        <p:nvSpPr>
          <p:cNvPr id="5123" name="Rectangle 2"/>
          <p:cNvSpPr>
            <a:spLocks noGrp="1" noChangeArrowheads="1"/>
          </p:cNvSpPr>
          <p:nvPr>
            <p:ph type="title"/>
          </p:nvPr>
        </p:nvSpPr>
        <p:spPr/>
        <p:txBody>
          <a:bodyPr/>
          <a:lstStyle/>
          <a:p>
            <a:r>
              <a:rPr lang="en-US" smtClean="0"/>
              <a:t>Relational Algebra</a:t>
            </a:r>
          </a:p>
        </p:txBody>
      </p:sp>
      <p:sp>
        <p:nvSpPr>
          <p:cNvPr id="6147" name="Rectangle 3"/>
          <p:cNvSpPr>
            <a:spLocks noGrp="1" noChangeArrowheads="1"/>
          </p:cNvSpPr>
          <p:nvPr>
            <p:ph type="body" idx="1"/>
          </p:nvPr>
        </p:nvSpPr>
        <p:spPr/>
        <p:txBody>
          <a:bodyPr/>
          <a:lstStyle/>
          <a:p>
            <a:pPr>
              <a:defRPr/>
            </a:pPr>
            <a:r>
              <a:rPr lang="en-US" sz="2800" i="1" smtClean="0"/>
              <a:t>Domain</a:t>
            </a:r>
            <a:r>
              <a:rPr lang="en-US" sz="2800" smtClean="0"/>
              <a:t>: set of relations</a:t>
            </a:r>
          </a:p>
          <a:p>
            <a:pPr>
              <a:defRPr/>
            </a:pPr>
            <a:r>
              <a:rPr lang="en-US" sz="2800" i="1" smtClean="0"/>
              <a:t>Basic operators</a:t>
            </a:r>
            <a:r>
              <a:rPr lang="en-US" sz="2800" smtClean="0"/>
              <a:t>: </a:t>
            </a:r>
            <a:r>
              <a:rPr lang="en-US" sz="2800" smtClean="0">
                <a:effectLst>
                  <a:outerShdw blurRad="38100" dist="38100" dir="2700000" algn="tl">
                    <a:srgbClr val="C0C0C0"/>
                  </a:outerShdw>
                </a:effectLst>
              </a:rPr>
              <a:t>select</a:t>
            </a:r>
            <a:r>
              <a:rPr lang="en-US" sz="2800" smtClean="0"/>
              <a:t>, </a:t>
            </a:r>
            <a:r>
              <a:rPr lang="en-US" sz="2800" smtClean="0">
                <a:effectLst>
                  <a:outerShdw blurRad="38100" dist="38100" dir="2700000" algn="tl">
                    <a:srgbClr val="C0C0C0"/>
                  </a:outerShdw>
                </a:effectLst>
              </a:rPr>
              <a:t>project</a:t>
            </a:r>
            <a:r>
              <a:rPr lang="en-US" sz="2800" smtClean="0"/>
              <a:t>, </a:t>
            </a:r>
            <a:r>
              <a:rPr lang="en-US" sz="2800" smtClean="0">
                <a:effectLst>
                  <a:outerShdw blurRad="38100" dist="38100" dir="2700000" algn="tl">
                    <a:srgbClr val="C0C0C0"/>
                  </a:outerShdw>
                </a:effectLst>
              </a:rPr>
              <a:t>union</a:t>
            </a:r>
            <a:r>
              <a:rPr lang="en-US" sz="2800" smtClean="0"/>
              <a:t>, </a:t>
            </a:r>
            <a:r>
              <a:rPr lang="en-US" sz="2800" smtClean="0">
                <a:effectLst>
                  <a:outerShdw blurRad="38100" dist="38100" dir="2700000" algn="tl">
                    <a:srgbClr val="C0C0C0"/>
                  </a:outerShdw>
                </a:effectLst>
              </a:rPr>
              <a:t>set</a:t>
            </a:r>
            <a:r>
              <a:rPr lang="en-US" sz="2800" smtClean="0"/>
              <a:t> </a:t>
            </a:r>
            <a:r>
              <a:rPr lang="en-US" sz="2800" smtClean="0">
                <a:effectLst>
                  <a:outerShdw blurRad="38100" dist="38100" dir="2700000" algn="tl">
                    <a:srgbClr val="C0C0C0"/>
                  </a:outerShdw>
                </a:effectLst>
              </a:rPr>
              <a:t>difference</a:t>
            </a:r>
            <a:r>
              <a:rPr lang="en-US" sz="2800" smtClean="0"/>
              <a:t>, </a:t>
            </a:r>
            <a:r>
              <a:rPr lang="en-US" sz="2800" smtClean="0">
                <a:effectLst>
                  <a:outerShdw blurRad="38100" dist="38100" dir="2700000" algn="tl">
                    <a:srgbClr val="C0C0C0"/>
                  </a:outerShdw>
                </a:effectLst>
              </a:rPr>
              <a:t>Cartesian</a:t>
            </a:r>
            <a:r>
              <a:rPr lang="en-US" sz="2800" smtClean="0"/>
              <a:t> </a:t>
            </a:r>
            <a:r>
              <a:rPr lang="en-US" sz="2800" smtClean="0">
                <a:effectLst>
                  <a:outerShdw blurRad="38100" dist="38100" dir="2700000" algn="tl">
                    <a:srgbClr val="C0C0C0"/>
                  </a:outerShdw>
                </a:effectLst>
              </a:rPr>
              <a:t>product</a:t>
            </a:r>
          </a:p>
          <a:p>
            <a:pPr>
              <a:defRPr/>
            </a:pPr>
            <a:r>
              <a:rPr lang="en-US" sz="2800" i="1" smtClean="0"/>
              <a:t>Derived operators</a:t>
            </a:r>
            <a:r>
              <a:rPr lang="en-US" sz="2800" smtClean="0"/>
              <a:t>: </a:t>
            </a:r>
            <a:r>
              <a:rPr lang="en-US" sz="2800" smtClean="0">
                <a:effectLst>
                  <a:outerShdw blurRad="38100" dist="38100" dir="2700000" algn="tl">
                    <a:srgbClr val="C0C0C0"/>
                  </a:outerShdw>
                </a:effectLst>
              </a:rPr>
              <a:t>set intersection</a:t>
            </a:r>
            <a:r>
              <a:rPr lang="en-US" sz="2800" smtClean="0"/>
              <a:t>, </a:t>
            </a:r>
            <a:r>
              <a:rPr lang="en-US" sz="2800" smtClean="0">
                <a:effectLst>
                  <a:outerShdw blurRad="38100" dist="38100" dir="2700000" algn="tl">
                    <a:srgbClr val="C0C0C0"/>
                  </a:outerShdw>
                </a:effectLst>
              </a:rPr>
              <a:t>division</a:t>
            </a:r>
            <a:r>
              <a:rPr lang="en-US" sz="2800" smtClean="0"/>
              <a:t>, </a:t>
            </a:r>
            <a:r>
              <a:rPr lang="en-US" sz="2800" smtClean="0">
                <a:effectLst>
                  <a:outerShdw blurRad="38100" dist="38100" dir="2700000" algn="tl">
                    <a:srgbClr val="C0C0C0"/>
                  </a:outerShdw>
                </a:effectLst>
              </a:rPr>
              <a:t>join</a:t>
            </a:r>
          </a:p>
          <a:p>
            <a:pPr>
              <a:defRPr/>
            </a:pPr>
            <a:r>
              <a:rPr lang="en-US" sz="2800" i="1" smtClean="0"/>
              <a:t>Procedural</a:t>
            </a:r>
            <a:r>
              <a:rPr lang="en-US" sz="2800" smtClean="0"/>
              <a:t>: Relational expression specifies query by describing an algorithm (the sequence in which operators are applied) for determining the result of an expression</a:t>
            </a:r>
          </a:p>
        </p:txBody>
      </p:sp>
    </p:spTree>
    <p:extLst>
      <p:ext uri="{BB962C8B-B14F-4D97-AF65-F5344CB8AC3E}">
        <p14:creationId xmlns:p14="http://schemas.microsoft.com/office/powerpoint/2010/main" val="37924284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Relational Algebra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txBody>
          <a:bodyPr>
            <a:normAutofit/>
          </a:bodyPr>
          <a:lstStyle/>
          <a:p>
            <a:pPr algn="just"/>
            <a:r>
              <a:rPr lang="en-US" dirty="0" smtClean="0"/>
              <a:t>The fundamental operations of relational algebra are as follows:</a:t>
            </a:r>
          </a:p>
          <a:p>
            <a:pPr lvl="1"/>
            <a:r>
              <a:rPr lang="en-US" dirty="0" smtClean="0"/>
              <a:t>Select</a:t>
            </a:r>
          </a:p>
          <a:p>
            <a:pPr lvl="1"/>
            <a:r>
              <a:rPr lang="en-US" dirty="0" smtClean="0"/>
              <a:t>Project</a:t>
            </a:r>
          </a:p>
          <a:p>
            <a:pPr lvl="1"/>
            <a:r>
              <a:rPr lang="en-US" dirty="0" smtClean="0"/>
              <a:t>Union</a:t>
            </a:r>
          </a:p>
          <a:p>
            <a:pPr lvl="1"/>
            <a:r>
              <a:rPr lang="en-US" dirty="0" smtClean="0"/>
              <a:t>Set different</a:t>
            </a:r>
          </a:p>
          <a:p>
            <a:pPr lvl="1"/>
            <a:r>
              <a:rPr lang="en-US" dirty="0" smtClean="0"/>
              <a:t>Intersection</a:t>
            </a:r>
          </a:p>
          <a:p>
            <a:pPr lvl="1"/>
            <a:r>
              <a:rPr lang="en-US" dirty="0" smtClean="0"/>
              <a:t>Cartesian product</a:t>
            </a:r>
          </a:p>
          <a:p>
            <a:pPr lvl="1"/>
            <a:r>
              <a:rPr lang="en-US" dirty="0" smtClean="0"/>
              <a:t>Rename</a:t>
            </a:r>
          </a:p>
          <a:p>
            <a:pPr lvl="1"/>
            <a:r>
              <a:rPr lang="en-US" dirty="0" smtClean="0"/>
              <a:t>Join</a:t>
            </a:r>
          </a:p>
          <a:p>
            <a:pPr lvl="1"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a:xfrm>
            <a:off x="-990600" y="66675"/>
            <a:ext cx="7772400" cy="1143000"/>
          </a:xfrm>
          <a:noFill/>
          <a:ln/>
        </p:spPr>
        <p:txBody>
          <a:bodyPr/>
          <a:lstStyle/>
          <a:p>
            <a:r>
              <a:rPr lang="en-US" dirty="0"/>
              <a:t>Example Instances</a:t>
            </a:r>
          </a:p>
        </p:txBody>
      </p:sp>
      <p:sp>
        <p:nvSpPr>
          <p:cNvPr id="15" name="Footer Placeholder 4"/>
          <p:cNvSpPr>
            <a:spLocks noGrp="1"/>
          </p:cNvSpPr>
          <p:nvPr>
            <p:ph type="ftr" sz="quarter" idx="10"/>
          </p:nvPr>
        </p:nvSpPr>
        <p:spPr/>
        <p:txBody>
          <a:bodyPr/>
          <a:lstStyle/>
          <a:p>
            <a:endParaRPr lang="en-US"/>
          </a:p>
          <a:p>
            <a:endParaRPr lang="en-US">
              <a:solidFill>
                <a:schemeClr val="tx2"/>
              </a:solidFill>
            </a:endParaRPr>
          </a:p>
        </p:txBody>
      </p:sp>
      <p:sp>
        <p:nvSpPr>
          <p:cNvPr id="14338"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pSp>
        <p:nvGrpSpPr>
          <p:cNvPr id="2" name="Group 5"/>
          <p:cNvGrpSpPr>
            <a:grpSpLocks/>
          </p:cNvGrpSpPr>
          <p:nvPr/>
        </p:nvGrpSpPr>
        <p:grpSpPr bwMode="auto">
          <a:xfrm>
            <a:off x="4822825" y="336550"/>
            <a:ext cx="4322763" cy="6127750"/>
            <a:chOff x="3038" y="212"/>
            <a:chExt cx="2723" cy="3860"/>
          </a:xfrm>
        </p:grpSpPr>
        <p:grpSp>
          <p:nvGrpSpPr>
            <p:cNvPr id="3" name="Group 6"/>
            <p:cNvGrpSpPr>
              <a:grpSpLocks/>
            </p:cNvGrpSpPr>
            <p:nvPr/>
          </p:nvGrpSpPr>
          <p:grpSpPr bwMode="auto">
            <a:xfrm>
              <a:off x="3038" y="1254"/>
              <a:ext cx="2723" cy="2818"/>
              <a:chOff x="3038" y="1254"/>
              <a:chExt cx="2723" cy="2818"/>
            </a:xfrm>
          </p:grpSpPr>
          <p:graphicFrame>
            <p:nvGraphicFramePr>
              <p:cNvPr id="14343" name="Object 7"/>
              <p:cNvGraphicFramePr>
                <a:graphicFrameLocks/>
              </p:cNvGraphicFramePr>
              <p:nvPr/>
            </p:nvGraphicFramePr>
            <p:xfrm>
              <a:off x="3039" y="1254"/>
              <a:ext cx="2617" cy="1324"/>
            </p:xfrm>
            <a:graphic>
              <a:graphicData uri="http://schemas.openxmlformats.org/presentationml/2006/ole">
                <mc:AlternateContent xmlns:mc="http://schemas.openxmlformats.org/markup-compatibility/2006">
                  <mc:Choice xmlns:v="urn:schemas-microsoft-com:vml" Requires="v">
                    <p:oleObj spid="_x0000_s4252" name="Document" r:id="rId4" imgW="4165600" imgH="2108200" progId="Word.Document.8">
                      <p:embed/>
                    </p:oleObj>
                  </mc:Choice>
                  <mc:Fallback>
                    <p:oleObj name="Document" r:id="rId4" imgW="4165600" imgH="2108200" progId="Word.Document.8">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9" y="1254"/>
                            <a:ext cx="2617" cy="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4" name="Object 8"/>
              <p:cNvGraphicFramePr>
                <a:graphicFrameLocks/>
              </p:cNvGraphicFramePr>
              <p:nvPr/>
            </p:nvGraphicFramePr>
            <p:xfrm>
              <a:off x="3038" y="2680"/>
              <a:ext cx="2723" cy="1392"/>
            </p:xfrm>
            <a:graphic>
              <a:graphicData uri="http://schemas.openxmlformats.org/presentationml/2006/ole">
                <mc:AlternateContent xmlns:mc="http://schemas.openxmlformats.org/markup-compatibility/2006">
                  <mc:Choice xmlns:v="urn:schemas-microsoft-com:vml" Requires="v">
                    <p:oleObj spid="_x0000_s4253" name="Document" r:id="rId6" imgW="4343400" imgH="2222500" progId="Word.Document.8">
                      <p:embed/>
                    </p:oleObj>
                  </mc:Choice>
                  <mc:Fallback>
                    <p:oleObj name="Document" r:id="rId6" imgW="4343400" imgH="2222500" progId="Word.Document.8">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8" y="2680"/>
                            <a:ext cx="2723" cy="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4345" name="Object 9"/>
            <p:cNvGraphicFramePr>
              <a:graphicFrameLocks/>
            </p:cNvGraphicFramePr>
            <p:nvPr/>
          </p:nvGraphicFramePr>
          <p:xfrm>
            <a:off x="3551" y="212"/>
            <a:ext cx="2099" cy="1007"/>
          </p:xfrm>
          <a:graphic>
            <a:graphicData uri="http://schemas.openxmlformats.org/presentationml/2006/ole">
              <mc:AlternateContent xmlns:mc="http://schemas.openxmlformats.org/markup-compatibility/2006">
                <mc:Choice xmlns:v="urn:schemas-microsoft-com:vml" Requires="v">
                  <p:oleObj spid="_x0000_s4254" name="Document" r:id="rId8" imgW="3340100" imgH="1612900" progId="Word.Document.8">
                    <p:embed/>
                  </p:oleObj>
                </mc:Choice>
                <mc:Fallback>
                  <p:oleObj name="Document" r:id="rId8" imgW="3340100" imgH="1612900" progId="Word.Document.8">
                    <p:embed/>
                    <p:pic>
                      <p:nvPicPr>
                        <p:cNvPr id="0" name="Picture 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1" y="212"/>
                          <a:ext cx="2099" cy="1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6" name="Rectangle 10"/>
          <p:cNvSpPr>
            <a:spLocks noChangeArrowheads="1"/>
          </p:cNvSpPr>
          <p:nvPr/>
        </p:nvSpPr>
        <p:spPr bwMode="auto">
          <a:xfrm>
            <a:off x="5011738" y="366713"/>
            <a:ext cx="557212"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R1</a:t>
            </a:r>
          </a:p>
        </p:txBody>
      </p:sp>
      <p:sp>
        <p:nvSpPr>
          <p:cNvPr id="14347" name="Rectangle 11"/>
          <p:cNvSpPr>
            <a:spLocks noChangeArrowheads="1"/>
          </p:cNvSpPr>
          <p:nvPr/>
        </p:nvSpPr>
        <p:spPr bwMode="auto">
          <a:xfrm>
            <a:off x="4251325" y="2120900"/>
            <a:ext cx="506413" cy="458788"/>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S1</a:t>
            </a:r>
          </a:p>
        </p:txBody>
      </p:sp>
      <p:sp>
        <p:nvSpPr>
          <p:cNvPr id="14348" name="Rectangle 12"/>
          <p:cNvSpPr>
            <a:spLocks noChangeArrowheads="1"/>
          </p:cNvSpPr>
          <p:nvPr/>
        </p:nvSpPr>
        <p:spPr bwMode="auto">
          <a:xfrm>
            <a:off x="4252913" y="4252913"/>
            <a:ext cx="506412"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S2</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It selects </a:t>
            </a:r>
            <a:r>
              <a:rPr lang="en-US" dirty="0" err="1" smtClean="0"/>
              <a:t>tuples</a:t>
            </a:r>
            <a:r>
              <a:rPr lang="en-US" dirty="0" smtClean="0"/>
              <a:t> that satisfy the given predicate from a relation.</a:t>
            </a:r>
          </a:p>
          <a:p>
            <a:pPr lvl="1"/>
            <a:r>
              <a:rPr lang="en-US" b="1" dirty="0" smtClean="0"/>
              <a:t>Notation</a:t>
            </a:r>
            <a:r>
              <a:rPr lang="en-US" dirty="0" smtClean="0"/>
              <a:t> : </a:t>
            </a:r>
            <a:r>
              <a:rPr lang="el-GR" dirty="0" smtClean="0"/>
              <a:t>σ</a:t>
            </a:r>
            <a:r>
              <a:rPr lang="en-US" i="1" baseline="-25000" dirty="0" smtClean="0"/>
              <a:t>p</a:t>
            </a:r>
            <a:r>
              <a:rPr lang="en-US" dirty="0" smtClean="0"/>
              <a:t>(r)</a:t>
            </a:r>
          </a:p>
          <a:p>
            <a:pPr lvl="1" algn="just"/>
            <a:r>
              <a:rPr lang="en-US" dirty="0" smtClean="0"/>
              <a:t>Where </a:t>
            </a:r>
            <a:r>
              <a:rPr lang="en-US" b="1" dirty="0" smtClean="0"/>
              <a:t>σ</a:t>
            </a:r>
            <a:r>
              <a:rPr lang="en-US" dirty="0" smtClean="0"/>
              <a:t> stands for selection predicate and </a:t>
            </a:r>
            <a:r>
              <a:rPr lang="en-US" b="1" dirty="0" smtClean="0"/>
              <a:t>r</a:t>
            </a:r>
            <a:r>
              <a:rPr lang="en-US" dirty="0" smtClean="0"/>
              <a:t> stands for relation. </a:t>
            </a:r>
            <a:r>
              <a:rPr lang="en-US" i="1" dirty="0" smtClean="0"/>
              <a:t>p</a:t>
            </a:r>
            <a:r>
              <a:rPr lang="en-US" dirty="0" smtClean="0"/>
              <a:t> is prepositional logic formula which may use connectors like </a:t>
            </a:r>
            <a:r>
              <a:rPr lang="en-US" b="1" dirty="0" smtClean="0"/>
              <a:t>and, or,</a:t>
            </a:r>
            <a:r>
              <a:rPr lang="en-US" dirty="0" smtClean="0"/>
              <a:t> and </a:t>
            </a:r>
            <a:r>
              <a:rPr lang="en-US" b="1" dirty="0" smtClean="0"/>
              <a:t>not</a:t>
            </a:r>
            <a:r>
              <a:rPr lang="en-US" dirty="0" smtClean="0"/>
              <a:t>. These terms may use relational operators like =, ≠, ≥, &lt; ,  &gt;,  ≤.</a:t>
            </a:r>
            <a:endParaRPr lang="el-GR" b="1" dirty="0" smtClean="0"/>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l-GR" dirty="0" smtClean="0"/>
              <a:t>σ</a:t>
            </a:r>
            <a:r>
              <a:rPr lang="en-US" i="1" baseline="-25000" dirty="0" smtClean="0"/>
              <a:t>subject = "database"</a:t>
            </a:r>
            <a:r>
              <a:rPr lang="en-US" dirty="0" smtClean="0"/>
              <a:t>(Books)</a:t>
            </a:r>
          </a:p>
          <a:p>
            <a:pPr lvl="1" algn="just"/>
            <a:endParaRPr lang="en-US" dirty="0" smtClean="0"/>
          </a:p>
          <a:p>
            <a:pPr lvl="1" algn="just"/>
            <a:r>
              <a:rPr lang="en-US" dirty="0" smtClean="0"/>
              <a:t>Selects </a:t>
            </a:r>
            <a:r>
              <a:rPr lang="en-US" dirty="0" err="1" smtClean="0"/>
              <a:t>tuples</a:t>
            </a:r>
            <a:r>
              <a:rPr lang="en-US" dirty="0" smtClean="0"/>
              <a:t> from books where subject is 'database'.                </a:t>
            </a:r>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rotWithShape="1">
          <a:blip r:embed="rId2"/>
          <a:srcRect l="12298" r="12162"/>
          <a:stretch/>
        </p:blipFill>
        <p:spPr bwMode="auto">
          <a:xfrm>
            <a:off x="76200" y="76200"/>
            <a:ext cx="8991600" cy="655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n-US" dirty="0" err="1" smtClean="0"/>
              <a:t>σ</a:t>
            </a:r>
            <a:r>
              <a:rPr lang="en-US" baseline="-25000" dirty="0" err="1" smtClean="0"/>
              <a:t>subject</a:t>
            </a:r>
            <a:r>
              <a:rPr lang="en-US" baseline="-25000" dirty="0" smtClean="0"/>
              <a:t> = "database" and price = "450"</a:t>
            </a:r>
            <a:r>
              <a:rPr lang="en-US" dirty="0" smtClean="0"/>
              <a:t>(Books)</a:t>
            </a:r>
          </a:p>
          <a:p>
            <a:pPr lvl="1" algn="just"/>
            <a:endParaRPr lang="en-US" dirty="0" smtClean="0"/>
          </a:p>
          <a:p>
            <a:pPr lvl="1" algn="just"/>
            <a:r>
              <a:rPr lang="en-US" dirty="0" smtClean="0"/>
              <a:t>Selects </a:t>
            </a:r>
            <a:r>
              <a:rPr lang="en-US" dirty="0" err="1" smtClean="0"/>
              <a:t>tuples</a:t>
            </a:r>
            <a:r>
              <a:rPr lang="en-US" dirty="0" smtClean="0"/>
              <a:t> from books where subject is 'database' and 'price' is 450.</a:t>
            </a:r>
          </a:p>
          <a:p>
            <a:pPr lvl="1" algn="just">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n-US" dirty="0" err="1" smtClean="0"/>
              <a:t>σ</a:t>
            </a:r>
            <a:r>
              <a:rPr lang="en-US" baseline="-25000" dirty="0" err="1" smtClean="0"/>
              <a:t>subject</a:t>
            </a:r>
            <a:r>
              <a:rPr lang="en-US" baseline="-25000" dirty="0" smtClean="0"/>
              <a:t> = "database" and price = "450" or year &gt; "2010"</a:t>
            </a:r>
            <a:r>
              <a:rPr lang="en-US" dirty="0" smtClean="0"/>
              <a:t>(Books)</a:t>
            </a:r>
          </a:p>
          <a:p>
            <a:pPr lvl="1" algn="just">
              <a:buNone/>
            </a:pPr>
            <a:endParaRPr lang="en-US" dirty="0" smtClean="0"/>
          </a:p>
          <a:p>
            <a:pPr lvl="1" algn="just"/>
            <a:r>
              <a:rPr lang="en-US" dirty="0" smtClean="0"/>
              <a:t>Selects </a:t>
            </a:r>
            <a:r>
              <a:rPr lang="en-US" dirty="0" err="1" smtClean="0"/>
              <a:t>tuples</a:t>
            </a:r>
            <a:r>
              <a:rPr lang="en-US" dirty="0" smtClean="0"/>
              <a:t> from books where subject is 'database' and 'price' is 450 or those books published after 2010.</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Project Operation (∏)</a:t>
            </a:r>
          </a:p>
          <a:p>
            <a:pPr lvl="1"/>
            <a:r>
              <a:rPr lang="en-US" dirty="0" smtClean="0"/>
              <a:t>It projects column(s) that satisfy a given predicate.</a:t>
            </a:r>
          </a:p>
          <a:p>
            <a:pPr lvl="1"/>
            <a:r>
              <a:rPr lang="en-US" dirty="0" smtClean="0"/>
              <a:t>Notation : ∏</a:t>
            </a:r>
            <a:r>
              <a:rPr lang="en-US" baseline="-25000" dirty="0" smtClean="0"/>
              <a:t>A1, A2, An</a:t>
            </a:r>
            <a:r>
              <a:rPr lang="en-US" dirty="0" smtClean="0"/>
              <a:t> (r)</a:t>
            </a:r>
          </a:p>
          <a:p>
            <a:pPr lvl="1">
              <a:buNone/>
            </a:pPr>
            <a:r>
              <a:rPr lang="en-US" dirty="0" smtClean="0"/>
              <a:t>	Where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 are attribute names of relation </a:t>
            </a:r>
            <a:r>
              <a:rPr lang="en-US" b="1" dirty="0" smtClean="0"/>
              <a:t>r</a:t>
            </a:r>
            <a:r>
              <a:rPr lang="en-US" dirty="0" smtClean="0"/>
              <a:t>.</a:t>
            </a:r>
          </a:p>
          <a:p>
            <a:pPr lvl="1"/>
            <a:r>
              <a:rPr lang="en-US" dirty="0" smtClean="0"/>
              <a:t>Duplicate rows are automatically eliminated, as relation is a set.</a:t>
            </a:r>
          </a:p>
          <a:p>
            <a:pPr lvl="1"/>
            <a:endParaRPr lang="en-US" b="1" dirty="0" smtClean="0"/>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152401" y="304800"/>
            <a:ext cx="8991600" cy="624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Project Operation (∏)</a:t>
            </a:r>
          </a:p>
          <a:p>
            <a:pPr lvl="1"/>
            <a:r>
              <a:rPr lang="en-US" dirty="0" smtClean="0"/>
              <a:t>Example</a:t>
            </a:r>
          </a:p>
          <a:p>
            <a:pPr lvl="1">
              <a:buNone/>
            </a:pPr>
            <a:r>
              <a:rPr lang="en-US" dirty="0" smtClean="0"/>
              <a:t>			∏</a:t>
            </a:r>
            <a:r>
              <a:rPr lang="en-US" baseline="-25000" dirty="0" smtClean="0"/>
              <a:t>subject, author</a:t>
            </a:r>
            <a:r>
              <a:rPr lang="en-US" dirty="0" smtClean="0"/>
              <a:t> (Books)</a:t>
            </a:r>
          </a:p>
          <a:p>
            <a:pPr lvl="1" algn="just"/>
            <a:r>
              <a:rPr lang="en-US" dirty="0" smtClean="0"/>
              <a:t>Selects and projects columns named as subject and author from the relation Books.			</a:t>
            </a:r>
            <a:endParaRPr lang="en-US" b="1" dirty="0" smtClean="0"/>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normAutofit/>
          </a:bodyPr>
          <a:lstStyle/>
          <a:p>
            <a:r>
              <a:rPr lang="en-US" b="1" dirty="0" smtClean="0"/>
              <a:t>Union Operation (∪)</a:t>
            </a:r>
          </a:p>
          <a:p>
            <a:pPr lvl="1" algn="just"/>
            <a:r>
              <a:rPr lang="en-US" dirty="0" smtClean="0"/>
              <a:t>It performs binary union between two given relations and is defined as			</a:t>
            </a:r>
            <a:endParaRPr lang="en-US" b="1" dirty="0" smtClean="0"/>
          </a:p>
          <a:p>
            <a:pPr lvl="1" algn="just">
              <a:buNone/>
            </a:pPr>
            <a:endParaRPr lang="en-US" dirty="0" smtClean="0"/>
          </a:p>
          <a:p>
            <a:pPr lvl="1" algn="just">
              <a:buNone/>
            </a:pPr>
            <a:r>
              <a:rPr lang="en-US" dirty="0" smtClean="0"/>
              <a:t>			r ∪ s = { t | t ∈ r or t ∈ s}</a:t>
            </a:r>
          </a:p>
          <a:p>
            <a:pPr lvl="1" algn="just">
              <a:buNone/>
            </a:pPr>
            <a:endParaRPr lang="en-US" dirty="0" smtClean="0"/>
          </a:p>
          <a:p>
            <a:pPr lvl="1"/>
            <a:r>
              <a:rPr lang="en-US" b="1" dirty="0" smtClean="0"/>
              <a:t>Notation</a:t>
            </a:r>
            <a:r>
              <a:rPr lang="en-US" dirty="0" smtClean="0"/>
              <a:t> : r U s </a:t>
            </a:r>
          </a:p>
          <a:p>
            <a:pPr lvl="1" algn="just">
              <a:buNone/>
            </a:pPr>
            <a:r>
              <a:rPr lang="en-US" dirty="0" smtClean="0"/>
              <a:t>	Where </a:t>
            </a:r>
            <a:r>
              <a:rPr lang="en-US" b="1" dirty="0" smtClean="0"/>
              <a:t>r</a:t>
            </a:r>
            <a:r>
              <a:rPr lang="en-US" dirty="0" smtClean="0"/>
              <a:t> and </a:t>
            </a:r>
            <a:r>
              <a:rPr lang="en-US" b="1" dirty="0" smtClean="0"/>
              <a:t>s</a:t>
            </a:r>
            <a:r>
              <a:rPr lang="en-US" dirty="0" smtClean="0"/>
              <a:t> are either database relations or relation result set (temporary relation).</a:t>
            </a:r>
          </a:p>
          <a:p>
            <a:pPr lvl="1" algn="just">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normAutofit/>
          </a:bodyPr>
          <a:lstStyle/>
          <a:p>
            <a:r>
              <a:rPr lang="en-US" b="1" dirty="0" smtClean="0"/>
              <a:t>Union Operation (∪)</a:t>
            </a:r>
          </a:p>
          <a:p>
            <a:pPr lvl="1" algn="just"/>
            <a:r>
              <a:rPr lang="en-US" dirty="0" smtClean="0"/>
              <a:t>For a union operation to be valid, the following conditions must hold:</a:t>
            </a:r>
          </a:p>
          <a:p>
            <a:pPr lvl="2"/>
            <a:r>
              <a:rPr lang="en-US" sz="2800" b="1" dirty="0" smtClean="0"/>
              <a:t>r</a:t>
            </a:r>
            <a:r>
              <a:rPr lang="en-US" sz="2800" dirty="0" smtClean="0"/>
              <a:t>, and </a:t>
            </a:r>
            <a:r>
              <a:rPr lang="en-US" sz="2800" b="1" dirty="0" smtClean="0"/>
              <a:t>s</a:t>
            </a:r>
            <a:r>
              <a:rPr lang="en-US" sz="2800" dirty="0" smtClean="0"/>
              <a:t> must have the same number of attributes.</a:t>
            </a:r>
          </a:p>
          <a:p>
            <a:pPr lvl="2"/>
            <a:r>
              <a:rPr lang="en-US" sz="2800" dirty="0" smtClean="0"/>
              <a:t>Attribute domains must be compatible.</a:t>
            </a:r>
          </a:p>
          <a:p>
            <a:pPr lvl="2"/>
            <a:r>
              <a:rPr lang="en-US" sz="2800" dirty="0" smtClean="0"/>
              <a:t>Duplicate </a:t>
            </a:r>
            <a:r>
              <a:rPr lang="en-US" sz="2800" dirty="0" err="1" smtClean="0"/>
              <a:t>tuples</a:t>
            </a:r>
            <a:r>
              <a:rPr lang="en-US" sz="2800" dirty="0" smtClean="0"/>
              <a:t> are automatically eliminated.</a:t>
            </a:r>
          </a:p>
          <a:p>
            <a:pPr lvl="2" algn="just"/>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1143000"/>
          </a:xfrm>
        </p:spPr>
        <p:txBody>
          <a:bodyPr>
            <a:normAutofit/>
          </a:bodyPr>
          <a:lstStyle/>
          <a:p>
            <a:r>
              <a:rPr lang="en-US" b="1" dirty="0" smtClean="0"/>
              <a:t>Union Operation (∪)</a:t>
            </a:r>
          </a:p>
          <a:p>
            <a:pPr lvl="1" algn="just"/>
            <a:r>
              <a:rPr lang="en-US" dirty="0" smtClean="0"/>
              <a:t>Example</a:t>
            </a:r>
          </a:p>
          <a:p>
            <a:pPr lvl="1" algn="just">
              <a:buNone/>
            </a:pPr>
            <a:endParaRPr lang="en-US" sz="2800" dirty="0" smtClean="0"/>
          </a:p>
          <a:p>
            <a:pPr lvl="2" algn="just"/>
            <a:endParaRPr lang="en-US" dirty="0"/>
          </a:p>
        </p:txBody>
      </p:sp>
      <p:pic>
        <p:nvPicPr>
          <p:cNvPr id="1027" name="Picture 3"/>
          <p:cNvPicPr>
            <a:picLocks noChangeAspect="1" noChangeArrowheads="1"/>
          </p:cNvPicPr>
          <p:nvPr/>
        </p:nvPicPr>
        <p:blipFill>
          <a:blip r:embed="rId2"/>
          <a:srcRect/>
          <a:stretch>
            <a:fillRect/>
          </a:stretch>
        </p:blipFill>
        <p:spPr bwMode="auto">
          <a:xfrm>
            <a:off x="1676400" y="2971800"/>
            <a:ext cx="6172200" cy="20341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5" name="Picture 3"/>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0"/>
            <a:ext cx="8229600" cy="4876799"/>
          </a:xfrm>
        </p:spPr>
        <p:txBody>
          <a:bodyPr>
            <a:normAutofit/>
          </a:bodyPr>
          <a:lstStyle/>
          <a:p>
            <a:r>
              <a:rPr lang="en-US" b="1" dirty="0" smtClean="0"/>
              <a:t>Union Operation (∪)</a:t>
            </a:r>
          </a:p>
          <a:p>
            <a:pPr lvl="1" algn="just"/>
            <a:r>
              <a:rPr lang="en-US" dirty="0" smtClean="0"/>
              <a:t>Example</a:t>
            </a:r>
          </a:p>
          <a:p>
            <a:pPr lvl="1" algn="just">
              <a:buNone/>
            </a:pPr>
            <a:r>
              <a:rPr lang="en-US" dirty="0" smtClean="0"/>
              <a:t>		∏ </a:t>
            </a:r>
            <a:r>
              <a:rPr lang="en-US" baseline="-25000" dirty="0" smtClean="0"/>
              <a:t>author</a:t>
            </a:r>
            <a:r>
              <a:rPr lang="en-US" dirty="0" smtClean="0"/>
              <a:t> (Books) ∪ ∏ </a:t>
            </a:r>
            <a:r>
              <a:rPr lang="en-US" baseline="-25000" dirty="0" smtClean="0"/>
              <a:t>author</a:t>
            </a:r>
            <a:r>
              <a:rPr lang="en-US" dirty="0" smtClean="0"/>
              <a:t> (Articles)</a:t>
            </a:r>
          </a:p>
          <a:p>
            <a:pPr lvl="1" algn="just">
              <a:buNone/>
            </a:pPr>
            <a:endParaRPr lang="en-US" dirty="0" smtClean="0"/>
          </a:p>
          <a:p>
            <a:pPr lvl="1" algn="just">
              <a:buNone/>
            </a:pPr>
            <a:r>
              <a:rPr lang="en-US" dirty="0" smtClean="0"/>
              <a:t>	Projects the names of the authors who have either written a book or an article or both.</a:t>
            </a:r>
          </a:p>
          <a:p>
            <a:pPr lvl="1" algn="just">
              <a:buNone/>
            </a:pPr>
            <a:endParaRPr lang="en-US" sz="2800" dirty="0" smtClean="0"/>
          </a:p>
          <a:p>
            <a:pPr lvl="2" algn="just"/>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2133600"/>
          </a:xfrm>
        </p:spPr>
        <p:txBody>
          <a:bodyPr>
            <a:normAutofit/>
          </a:bodyPr>
          <a:lstStyle/>
          <a:p>
            <a:r>
              <a:rPr lang="en-US" b="1" dirty="0" smtClean="0"/>
              <a:t>Intersection Operation </a:t>
            </a:r>
          </a:p>
          <a:p>
            <a:pPr lvl="1"/>
            <a:r>
              <a:rPr lang="en-US" dirty="0" smtClean="0">
                <a:cs typeface="Times New Roman" pitchFamily="18" charset="0"/>
              </a:rPr>
              <a:t>Takes </a:t>
            </a:r>
            <a:r>
              <a:rPr lang="en-GB" dirty="0" smtClean="0">
                <a:cs typeface="Times New Roman" pitchFamily="18" charset="0"/>
              </a:rPr>
              <a:t>the set of rows that are common to each relation</a:t>
            </a:r>
            <a:endParaRPr lang="en-US" dirty="0" smtClean="0">
              <a:cs typeface="Times New Roman" pitchFamily="18" charset="0"/>
            </a:endParaRPr>
          </a:p>
          <a:p>
            <a:pPr lvl="1"/>
            <a:r>
              <a:rPr lang="en-GB" dirty="0" smtClean="0">
                <a:cs typeface="Times New Roman" pitchFamily="18" charset="0"/>
              </a:rPr>
              <a:t>Participating relations must be </a:t>
            </a:r>
            <a:r>
              <a:rPr lang="en-GB" u="sng" dirty="0" smtClean="0">
                <a:cs typeface="Times New Roman" pitchFamily="18" charset="0"/>
              </a:rPr>
              <a:t>compatible</a:t>
            </a:r>
          </a:p>
          <a:p>
            <a:pPr lvl="1"/>
            <a:endParaRPr lang="en-GB" dirty="0" smtClean="0">
              <a:cs typeface="Times New Roman" pitchFamily="18" charset="0"/>
            </a:endParaRPr>
          </a:p>
        </p:txBody>
      </p:sp>
      <p:pic>
        <p:nvPicPr>
          <p:cNvPr id="2051" name="Picture 3"/>
          <p:cNvPicPr>
            <a:picLocks noChangeAspect="1" noChangeArrowheads="1"/>
          </p:cNvPicPr>
          <p:nvPr/>
        </p:nvPicPr>
        <p:blipFill>
          <a:blip r:embed="rId2"/>
          <a:srcRect/>
          <a:stretch>
            <a:fillRect/>
          </a:stretch>
        </p:blipFill>
        <p:spPr bwMode="auto">
          <a:xfrm>
            <a:off x="1295400" y="3886200"/>
            <a:ext cx="7157258"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a:xfrm>
            <a:off x="1096963" y="0"/>
            <a:ext cx="3810000" cy="1638300"/>
          </a:xfrm>
          <a:noFill/>
          <a:ln/>
        </p:spPr>
        <p:txBody>
          <a:bodyPr/>
          <a:lstStyle/>
          <a:p>
            <a:r>
              <a:rPr lang="en-US"/>
              <a:t>Intersection</a:t>
            </a:r>
          </a:p>
        </p:txBody>
      </p:sp>
      <p:sp>
        <p:nvSpPr>
          <p:cNvPr id="24581" name="Rectangle 5"/>
          <p:cNvSpPr>
            <a:spLocks noGrp="1" noChangeArrowheads="1"/>
          </p:cNvSpPr>
          <p:nvPr>
            <p:ph type="body" sz="half" idx="1"/>
          </p:nvPr>
        </p:nvSpPr>
        <p:spPr>
          <a:xfrm>
            <a:off x="152400" y="1752600"/>
            <a:ext cx="4343400" cy="4648200"/>
          </a:xfrm>
          <a:noFill/>
          <a:ln/>
        </p:spPr>
        <p:txBody>
          <a:bodyPr/>
          <a:lstStyle/>
          <a:p>
            <a:pPr>
              <a:buFontTx/>
              <a:buNone/>
            </a:pPr>
            <a:r>
              <a:rPr lang="en-US" sz="2000"/>
              <a:t> </a:t>
            </a:r>
          </a:p>
        </p:txBody>
      </p:sp>
      <p:sp>
        <p:nvSpPr>
          <p:cNvPr id="12" name="Footer Placeholder 4"/>
          <p:cNvSpPr>
            <a:spLocks noGrp="1"/>
          </p:cNvSpPr>
          <p:nvPr>
            <p:ph type="ftr" sz="quarter" idx="10"/>
          </p:nvPr>
        </p:nvSpPr>
        <p:spPr/>
        <p:txBody>
          <a:bodyPr/>
          <a:lstStyle/>
          <a:p>
            <a:endParaRPr lang="en-US"/>
          </a:p>
          <a:p>
            <a:endParaRPr lang="en-US">
              <a:solidFill>
                <a:schemeClr val="tx2"/>
              </a:solidFill>
            </a:endParaRPr>
          </a:p>
        </p:txBody>
      </p:sp>
      <p:sp>
        <p:nvSpPr>
          <p:cNvPr id="24578"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4579"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aphicFrame>
        <p:nvGraphicFramePr>
          <p:cNvPr id="24582" name="Object 6"/>
          <p:cNvGraphicFramePr>
            <a:graphicFrameLocks/>
          </p:cNvGraphicFramePr>
          <p:nvPr/>
        </p:nvGraphicFramePr>
        <p:xfrm>
          <a:off x="198438" y="1354138"/>
          <a:ext cx="4154487" cy="2101850"/>
        </p:xfrm>
        <a:graphic>
          <a:graphicData uri="http://schemas.openxmlformats.org/presentationml/2006/ole">
            <mc:AlternateContent xmlns:mc="http://schemas.openxmlformats.org/markup-compatibility/2006">
              <mc:Choice xmlns:v="urn:schemas-microsoft-com:vml" Requires="v">
                <p:oleObj spid="_x0000_s12494" name="Document" r:id="rId4" imgW="4165600" imgH="2108200" progId="Word.Document.8">
                  <p:embed/>
                </p:oleObj>
              </mc:Choice>
              <mc:Fallback>
                <p:oleObj name="Document" r:id="rId4" imgW="4165600" imgH="2108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438" y="1354138"/>
                        <a:ext cx="4154487"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3" name="Object 7"/>
          <p:cNvGraphicFramePr>
            <a:graphicFrameLocks/>
          </p:cNvGraphicFramePr>
          <p:nvPr/>
        </p:nvGraphicFramePr>
        <p:xfrm>
          <a:off x="211138" y="3971925"/>
          <a:ext cx="4322762" cy="2209800"/>
        </p:xfrm>
        <a:graphic>
          <a:graphicData uri="http://schemas.openxmlformats.org/presentationml/2006/ole">
            <mc:AlternateContent xmlns:mc="http://schemas.openxmlformats.org/markup-compatibility/2006">
              <mc:Choice xmlns:v="urn:schemas-microsoft-com:vml" Requires="v">
                <p:oleObj spid="_x0000_s12495" name="Document" r:id="rId6" imgW="4343400" imgH="2222500" progId="Word.Document.8">
                  <p:embed/>
                </p:oleObj>
              </mc:Choice>
              <mc:Fallback>
                <p:oleObj name="Document" r:id="rId6" imgW="4343400" imgH="22225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138" y="3971925"/>
                        <a:ext cx="4322762"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4" name="Text Box 8"/>
          <p:cNvSpPr txBox="1">
            <a:spLocks noChangeArrowheads="1"/>
          </p:cNvSpPr>
          <p:nvPr/>
        </p:nvSpPr>
        <p:spPr bwMode="auto">
          <a:xfrm>
            <a:off x="1725613" y="3394075"/>
            <a:ext cx="1173162" cy="458788"/>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S1</a:t>
            </a:r>
            <a:endParaRPr lang="en-US" sz="2400">
              <a:solidFill>
                <a:srgbClr val="CF0E30"/>
              </a:solidFill>
              <a:latin typeface="Book Antiqua" pitchFamily="18" charset="0"/>
            </a:endParaRPr>
          </a:p>
        </p:txBody>
      </p:sp>
      <p:sp>
        <p:nvSpPr>
          <p:cNvPr id="24585" name="Text Box 9"/>
          <p:cNvSpPr txBox="1">
            <a:spLocks noChangeArrowheads="1"/>
          </p:cNvSpPr>
          <p:nvPr/>
        </p:nvSpPr>
        <p:spPr bwMode="auto">
          <a:xfrm>
            <a:off x="1878013" y="6157913"/>
            <a:ext cx="1173162"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S2</a:t>
            </a:r>
            <a:endParaRPr lang="en-US" sz="2400">
              <a:solidFill>
                <a:srgbClr val="CF0E30"/>
              </a:solidFill>
              <a:latin typeface="Book Antiqua" pitchFamily="18" charset="0"/>
            </a:endParaRPr>
          </a:p>
        </p:txBody>
      </p:sp>
      <p:graphicFrame>
        <p:nvGraphicFramePr>
          <p:cNvPr id="24586" name="Object 10"/>
          <p:cNvGraphicFramePr>
            <a:graphicFrameLocks/>
          </p:cNvGraphicFramePr>
          <p:nvPr/>
        </p:nvGraphicFramePr>
        <p:xfrm>
          <a:off x="4738688" y="2779713"/>
          <a:ext cx="4265612" cy="1395412"/>
        </p:xfrm>
        <a:graphic>
          <a:graphicData uri="http://schemas.openxmlformats.org/presentationml/2006/ole">
            <mc:AlternateContent xmlns:mc="http://schemas.openxmlformats.org/markup-compatibility/2006">
              <mc:Choice xmlns:v="urn:schemas-microsoft-com:vml" Requires="v">
                <p:oleObj spid="_x0000_s12496" name="Document" r:id="rId8" imgW="4673600" imgH="1536700" progId="Word.Document.8">
                  <p:embed/>
                </p:oleObj>
              </mc:Choice>
              <mc:Fallback>
                <p:oleObj name="Document" r:id="rId8" imgW="4673600" imgH="15367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8688" y="2779713"/>
                        <a:ext cx="4265612" cy="139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7" name="Object 11"/>
          <p:cNvGraphicFramePr>
            <a:graphicFrameLocks/>
          </p:cNvGraphicFramePr>
          <p:nvPr/>
        </p:nvGraphicFramePr>
        <p:xfrm>
          <a:off x="5322888" y="4348163"/>
          <a:ext cx="3248025" cy="817562"/>
        </p:xfrm>
        <a:graphic>
          <a:graphicData uri="http://schemas.openxmlformats.org/presentationml/2006/ole">
            <mc:AlternateContent xmlns:mc="http://schemas.openxmlformats.org/markup-compatibility/2006">
              <mc:Choice xmlns:v="urn:schemas-microsoft-com:vml" Requires="v">
                <p:oleObj spid="_x0000_s12497" name="Equation" r:id="rId10" imgW="1661760" imgH="474480" progId="Equation.3">
                  <p:embed/>
                </p:oleObj>
              </mc:Choice>
              <mc:Fallback>
                <p:oleObj name="Equation" r:id="rId10" imgW="1661760" imgH="474480" progId="Equation.3">
                  <p:embed/>
                  <p:pic>
                    <p:nvPicPr>
                      <p:cNvPr id="0" name="Picture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22888" y="4348163"/>
                        <a:ext cx="3248025" cy="81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586"/>
                                        </p:tgtEl>
                                        <p:attrNameLst>
                                          <p:attrName>style.visibility</p:attrName>
                                        </p:attrNameLst>
                                      </p:cBhvr>
                                      <p:to>
                                        <p:strVal val="visible"/>
                                      </p:to>
                                    </p:set>
                                    <p:animEffect transition="in" filter="dissolve">
                                      <p:cBhvr>
                                        <p:cTn id="7" dur="500"/>
                                        <p:tgtEl>
                                          <p:spTgt spid="24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0"/>
            <a:ext cx="8229600" cy="4648199"/>
          </a:xfrm>
        </p:spPr>
        <p:txBody>
          <a:bodyPr>
            <a:normAutofit/>
          </a:bodyPr>
          <a:lstStyle/>
          <a:p>
            <a:r>
              <a:rPr lang="en-US" b="1" dirty="0" smtClean="0"/>
              <a:t>Set Difference (−)</a:t>
            </a:r>
          </a:p>
          <a:p>
            <a:pPr lvl="1"/>
            <a:r>
              <a:rPr lang="en-US" dirty="0" smtClean="0"/>
              <a:t>The result of set difference operation is </a:t>
            </a:r>
            <a:r>
              <a:rPr lang="en-US" dirty="0" err="1" smtClean="0"/>
              <a:t>tuples</a:t>
            </a:r>
            <a:r>
              <a:rPr lang="en-US" dirty="0" smtClean="0"/>
              <a:t>, which are present in one relation but are not in the second relation.</a:t>
            </a:r>
          </a:p>
          <a:p>
            <a:pPr lvl="1"/>
            <a:r>
              <a:rPr lang="en-US" b="1" dirty="0" smtClean="0"/>
              <a:t>Notation</a:t>
            </a:r>
            <a:r>
              <a:rPr lang="en-US" dirty="0" smtClean="0"/>
              <a:t> :  </a:t>
            </a:r>
            <a:r>
              <a:rPr lang="en-US" b="1" dirty="0" smtClean="0"/>
              <a:t>r</a:t>
            </a:r>
            <a:r>
              <a:rPr lang="en-US" dirty="0" smtClean="0"/>
              <a:t> − </a:t>
            </a:r>
            <a:r>
              <a:rPr lang="en-US" b="1" dirty="0" smtClean="0"/>
              <a:t>s</a:t>
            </a:r>
            <a:endParaRPr lang="en-US" dirty="0" smtClean="0"/>
          </a:p>
          <a:p>
            <a:pPr lvl="1"/>
            <a:r>
              <a:rPr lang="en-US" dirty="0" smtClean="0"/>
              <a:t>Finds all the </a:t>
            </a:r>
            <a:r>
              <a:rPr lang="en-US" dirty="0" err="1" smtClean="0"/>
              <a:t>tuples</a:t>
            </a:r>
            <a:r>
              <a:rPr lang="en-US" dirty="0" smtClean="0"/>
              <a:t> that are present in </a:t>
            </a:r>
            <a:r>
              <a:rPr lang="en-US" b="1" dirty="0" smtClean="0"/>
              <a:t>r</a:t>
            </a:r>
            <a:r>
              <a:rPr lang="en-US" dirty="0" smtClean="0"/>
              <a:t> but not in </a:t>
            </a:r>
            <a:r>
              <a:rPr lang="en-US" b="1" dirty="0" smtClean="0"/>
              <a:t>s</a:t>
            </a:r>
            <a:r>
              <a:rPr lang="en-US" dirty="0" smtClean="0"/>
              <a:t>.</a:t>
            </a:r>
          </a:p>
          <a:p>
            <a:pPr lvl="1"/>
            <a:endParaRPr lang="en-GB" dirty="0" smtClean="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1142999"/>
          </a:xfrm>
        </p:spPr>
        <p:txBody>
          <a:bodyPr>
            <a:normAutofit/>
          </a:bodyPr>
          <a:lstStyle/>
          <a:p>
            <a:r>
              <a:rPr lang="en-US" b="1" dirty="0" smtClean="0"/>
              <a:t>Set Difference (−)</a:t>
            </a:r>
          </a:p>
          <a:p>
            <a:pPr lvl="1"/>
            <a:r>
              <a:rPr lang="en-US" dirty="0" smtClean="0"/>
              <a:t>Example</a:t>
            </a:r>
          </a:p>
          <a:p>
            <a:pPr lvl="1"/>
            <a:endParaRPr lang="en-GB" dirty="0" smtClean="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219200" y="2971800"/>
            <a:ext cx="6858000" cy="23259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1096963" y="0"/>
            <a:ext cx="3810000" cy="1638300"/>
          </a:xfrm>
          <a:noFill/>
          <a:ln/>
        </p:spPr>
        <p:txBody>
          <a:bodyPr/>
          <a:lstStyle/>
          <a:p>
            <a:r>
              <a:rPr lang="en-US"/>
              <a:t>Set Difference</a:t>
            </a:r>
          </a:p>
        </p:txBody>
      </p:sp>
      <p:sp>
        <p:nvSpPr>
          <p:cNvPr id="20485" name="Rectangle 5"/>
          <p:cNvSpPr>
            <a:spLocks noGrp="1" noChangeArrowheads="1"/>
          </p:cNvSpPr>
          <p:nvPr>
            <p:ph type="body" sz="half" idx="1"/>
          </p:nvPr>
        </p:nvSpPr>
        <p:spPr>
          <a:xfrm>
            <a:off x="152400" y="1752600"/>
            <a:ext cx="4343400" cy="4648200"/>
          </a:xfrm>
          <a:noFill/>
          <a:ln/>
        </p:spPr>
        <p:txBody>
          <a:bodyPr/>
          <a:lstStyle/>
          <a:p>
            <a:pPr>
              <a:buFontTx/>
              <a:buNone/>
            </a:pPr>
            <a:r>
              <a:rPr lang="en-US" sz="2000"/>
              <a:t> </a:t>
            </a:r>
          </a:p>
        </p:txBody>
      </p:sp>
      <p:sp>
        <p:nvSpPr>
          <p:cNvPr id="14" name="Footer Placeholder 4"/>
          <p:cNvSpPr>
            <a:spLocks noGrp="1"/>
          </p:cNvSpPr>
          <p:nvPr>
            <p:ph type="ftr" sz="quarter" idx="10"/>
          </p:nvPr>
        </p:nvSpPr>
        <p:spPr/>
        <p:txBody>
          <a:bodyPr/>
          <a:lstStyle/>
          <a:p>
            <a:endParaRPr lang="en-US"/>
          </a:p>
          <a:p>
            <a:endParaRPr lang="en-US">
              <a:solidFill>
                <a:schemeClr val="tx2"/>
              </a:solidFill>
            </a:endParaRPr>
          </a:p>
        </p:txBody>
      </p:sp>
      <p:sp>
        <p:nvSpPr>
          <p:cNvPr id="20482"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0483"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aphicFrame>
        <p:nvGraphicFramePr>
          <p:cNvPr id="20486" name="Object 6"/>
          <p:cNvGraphicFramePr>
            <a:graphicFrameLocks/>
          </p:cNvGraphicFramePr>
          <p:nvPr/>
        </p:nvGraphicFramePr>
        <p:xfrm>
          <a:off x="355600" y="1354138"/>
          <a:ext cx="4154488" cy="2101850"/>
        </p:xfrm>
        <a:graphic>
          <a:graphicData uri="http://schemas.openxmlformats.org/presentationml/2006/ole">
            <mc:AlternateContent xmlns:mc="http://schemas.openxmlformats.org/markup-compatibility/2006">
              <mc:Choice xmlns:v="urn:schemas-microsoft-com:vml" Requires="v">
                <p:oleObj spid="_x0000_s11521" name="Document" r:id="rId4" imgW="4165600" imgH="2108200" progId="Word.Document.8">
                  <p:embed/>
                </p:oleObj>
              </mc:Choice>
              <mc:Fallback>
                <p:oleObj name="Document" r:id="rId4" imgW="4165600" imgH="2108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00" y="1354138"/>
                        <a:ext cx="4154488"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7"/>
          <p:cNvGraphicFramePr>
            <a:graphicFrameLocks/>
          </p:cNvGraphicFramePr>
          <p:nvPr/>
        </p:nvGraphicFramePr>
        <p:xfrm>
          <a:off x="382588" y="3971925"/>
          <a:ext cx="4322762" cy="2209800"/>
        </p:xfrm>
        <a:graphic>
          <a:graphicData uri="http://schemas.openxmlformats.org/presentationml/2006/ole">
            <mc:AlternateContent xmlns:mc="http://schemas.openxmlformats.org/markup-compatibility/2006">
              <mc:Choice xmlns:v="urn:schemas-microsoft-com:vml" Requires="v">
                <p:oleObj spid="_x0000_s11522" name="Document" r:id="rId6" imgW="4343400" imgH="2222500" progId="Word.Document.8">
                  <p:embed/>
                </p:oleObj>
              </mc:Choice>
              <mc:Fallback>
                <p:oleObj name="Document" r:id="rId6" imgW="4343400" imgH="22225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588" y="3971925"/>
                        <a:ext cx="4322762"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8" name="Text Box 8"/>
          <p:cNvSpPr txBox="1">
            <a:spLocks noChangeArrowheads="1"/>
          </p:cNvSpPr>
          <p:nvPr/>
        </p:nvSpPr>
        <p:spPr bwMode="auto">
          <a:xfrm>
            <a:off x="1725613" y="3394075"/>
            <a:ext cx="1173162" cy="458788"/>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S1</a:t>
            </a:r>
            <a:endParaRPr lang="en-US" sz="2400">
              <a:solidFill>
                <a:srgbClr val="CF0E30"/>
              </a:solidFill>
              <a:latin typeface="Book Antiqua" pitchFamily="18" charset="0"/>
            </a:endParaRPr>
          </a:p>
        </p:txBody>
      </p:sp>
      <p:sp>
        <p:nvSpPr>
          <p:cNvPr id="20489" name="Text Box 9"/>
          <p:cNvSpPr txBox="1">
            <a:spLocks noChangeArrowheads="1"/>
          </p:cNvSpPr>
          <p:nvPr/>
        </p:nvSpPr>
        <p:spPr bwMode="auto">
          <a:xfrm>
            <a:off x="1878013" y="6157913"/>
            <a:ext cx="1173162"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S2</a:t>
            </a:r>
            <a:endParaRPr lang="en-US" sz="2400">
              <a:solidFill>
                <a:srgbClr val="CF0E30"/>
              </a:solidFill>
              <a:latin typeface="Book Antiqua" pitchFamily="18" charset="0"/>
            </a:endParaRPr>
          </a:p>
        </p:txBody>
      </p:sp>
      <p:graphicFrame>
        <p:nvGraphicFramePr>
          <p:cNvPr id="20490" name="Object 10"/>
          <p:cNvGraphicFramePr>
            <a:graphicFrameLocks/>
          </p:cNvGraphicFramePr>
          <p:nvPr/>
        </p:nvGraphicFramePr>
        <p:xfrm>
          <a:off x="4702175" y="1355725"/>
          <a:ext cx="4259263" cy="1079500"/>
        </p:xfrm>
        <a:graphic>
          <a:graphicData uri="http://schemas.openxmlformats.org/presentationml/2006/ole">
            <mc:AlternateContent xmlns:mc="http://schemas.openxmlformats.org/markup-compatibility/2006">
              <mc:Choice xmlns:v="urn:schemas-microsoft-com:vml" Requires="v">
                <p:oleObj spid="_x0000_s11523" name="Document" r:id="rId8" imgW="4711700" imgH="1206500" progId="Word.Document.8">
                  <p:embed/>
                </p:oleObj>
              </mc:Choice>
              <mc:Fallback>
                <p:oleObj name="Document" r:id="rId8" imgW="4711700" imgH="12065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2175" y="1355725"/>
                        <a:ext cx="4259263"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1" name="Object 11"/>
          <p:cNvGraphicFramePr>
            <a:graphicFrameLocks/>
          </p:cNvGraphicFramePr>
          <p:nvPr/>
        </p:nvGraphicFramePr>
        <p:xfrm>
          <a:off x="6337300" y="2544763"/>
          <a:ext cx="1566863" cy="388937"/>
        </p:xfrm>
        <a:graphic>
          <a:graphicData uri="http://schemas.openxmlformats.org/presentationml/2006/ole">
            <mc:AlternateContent xmlns:mc="http://schemas.openxmlformats.org/markup-compatibility/2006">
              <mc:Choice xmlns:v="urn:schemas-microsoft-com:vml" Requires="v">
                <p:oleObj spid="_x0000_s11524" name="Equation" r:id="rId10" imgW="1581120" imgH="403200" progId="Equation.3">
                  <p:embed/>
                </p:oleObj>
              </mc:Choice>
              <mc:Fallback>
                <p:oleObj name="Equation" r:id="rId10" imgW="1581120" imgH="403200" progId="Equation.3">
                  <p:embed/>
                  <p:pic>
                    <p:nvPicPr>
                      <p:cNvPr id="0" name="Picture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37300" y="2544763"/>
                        <a:ext cx="1566863"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2" name="Text Box 12"/>
          <p:cNvSpPr txBox="1">
            <a:spLocks noChangeArrowheads="1"/>
          </p:cNvSpPr>
          <p:nvPr/>
        </p:nvSpPr>
        <p:spPr bwMode="auto">
          <a:xfrm>
            <a:off x="6223000" y="5348288"/>
            <a:ext cx="1403350" cy="579437"/>
          </a:xfrm>
          <a:prstGeom prst="rect">
            <a:avLst/>
          </a:prstGeom>
          <a:noFill/>
          <a:ln w="12700">
            <a:noFill/>
            <a:miter lim="800000"/>
            <a:headEnd type="none" w="sm" len="sm"/>
            <a:tailEnd type="none" w="sm" len="sm"/>
          </a:ln>
          <a:effectLst/>
        </p:spPr>
        <p:txBody>
          <a:bodyPr wrap="none">
            <a:spAutoFit/>
          </a:bodyPr>
          <a:lstStyle/>
          <a:p>
            <a:pPr eaLnBrk="0" hangingPunct="0"/>
            <a:r>
              <a:rPr lang="en-US" sz="3200" i="1">
                <a:latin typeface="Times New Roman" pitchFamily="18" charset="0"/>
              </a:rPr>
              <a:t>S2 – S1</a:t>
            </a:r>
          </a:p>
        </p:txBody>
      </p:sp>
      <p:graphicFrame>
        <p:nvGraphicFramePr>
          <p:cNvPr id="20493" name="Object 13"/>
          <p:cNvGraphicFramePr>
            <a:graphicFrameLocks/>
          </p:cNvGraphicFramePr>
          <p:nvPr/>
        </p:nvGraphicFramePr>
        <p:xfrm>
          <a:off x="4775200" y="4105275"/>
          <a:ext cx="4338638" cy="1449388"/>
        </p:xfrm>
        <a:graphic>
          <a:graphicData uri="http://schemas.openxmlformats.org/presentationml/2006/ole">
            <mc:AlternateContent xmlns:mc="http://schemas.openxmlformats.org/markup-compatibility/2006">
              <mc:Choice xmlns:v="urn:schemas-microsoft-com:vml" Requires="v">
                <p:oleObj spid="_x0000_s11525" name="Document" r:id="rId12" imgW="4343400" imgH="1447800" progId="Word.Document.8">
                  <p:embed/>
                </p:oleObj>
              </mc:Choice>
              <mc:Fallback>
                <p:oleObj name="Document" r:id="rId12" imgW="4343400" imgH="1447800" progId="Word.Document.8">
                  <p:embed/>
                  <p:pic>
                    <p:nvPicPr>
                      <p:cNvPr id="0" name="Picture 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75200" y="4105275"/>
                        <a:ext cx="4338638"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90"/>
                                        </p:tgtEl>
                                        <p:attrNameLst>
                                          <p:attrName>style.visibility</p:attrName>
                                        </p:attrNameLst>
                                      </p:cBhvr>
                                      <p:to>
                                        <p:strVal val="visible"/>
                                      </p:to>
                                    </p:set>
                                    <p:animEffect transition="in" filter="dissolve">
                                      <p:cBhvr>
                                        <p:cTn id="7" dur="500"/>
                                        <p:tgtEl>
                                          <p:spTgt spid="204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0492"/>
                                        </p:tgtEl>
                                        <p:attrNameLst>
                                          <p:attrName>style.visibility</p:attrName>
                                        </p:attrNameLst>
                                      </p:cBhvr>
                                      <p:to>
                                        <p:strVal val="visible"/>
                                      </p:to>
                                    </p:set>
                                    <p:anim calcmode="lin" valueType="num">
                                      <p:cBhvr additive="base">
                                        <p:cTn id="12" dur="500" fill="hold"/>
                                        <p:tgtEl>
                                          <p:spTgt spid="20492"/>
                                        </p:tgtEl>
                                        <p:attrNameLst>
                                          <p:attrName>ppt_x</p:attrName>
                                        </p:attrNameLst>
                                      </p:cBhvr>
                                      <p:tavLst>
                                        <p:tav tm="0">
                                          <p:val>
                                            <p:strVal val="0-#ppt_w/2"/>
                                          </p:val>
                                        </p:tav>
                                        <p:tav tm="100000">
                                          <p:val>
                                            <p:strVal val="#ppt_x"/>
                                          </p:val>
                                        </p:tav>
                                      </p:tavLst>
                                    </p:anim>
                                    <p:anim calcmode="lin" valueType="num">
                                      <p:cBhvr additive="base">
                                        <p:cTn id="13" dur="500" fill="hold"/>
                                        <p:tgtEl>
                                          <p:spTgt spid="2049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0493"/>
                                        </p:tgtEl>
                                        <p:attrNameLst>
                                          <p:attrName>style.visibility</p:attrName>
                                        </p:attrNameLst>
                                      </p:cBhvr>
                                      <p:to>
                                        <p:strVal val="visible"/>
                                      </p:to>
                                    </p:set>
                                    <p:animEffect transition="in" filter="dissolve">
                                      <p:cBhvr>
                                        <p:cTn id="18" dur="5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4724399"/>
          </a:xfrm>
        </p:spPr>
        <p:txBody>
          <a:bodyPr>
            <a:normAutofit/>
          </a:bodyPr>
          <a:lstStyle/>
          <a:p>
            <a:r>
              <a:rPr lang="en-US" b="1" dirty="0" smtClean="0"/>
              <a:t>Set Difference (−)</a:t>
            </a:r>
          </a:p>
          <a:p>
            <a:pPr lvl="1"/>
            <a:r>
              <a:rPr lang="en-US" dirty="0" smtClean="0"/>
              <a:t>Example</a:t>
            </a:r>
          </a:p>
          <a:p>
            <a:pPr lvl="1">
              <a:buNone/>
            </a:pPr>
            <a:r>
              <a:rPr lang="en-US" dirty="0" smtClean="0"/>
              <a:t>			∏ </a:t>
            </a:r>
            <a:r>
              <a:rPr lang="en-US" baseline="-25000" dirty="0" smtClean="0"/>
              <a:t>author</a:t>
            </a:r>
            <a:r>
              <a:rPr lang="en-US" dirty="0" smtClean="0"/>
              <a:t> (Books) − ∏ </a:t>
            </a:r>
            <a:r>
              <a:rPr lang="en-US" baseline="-25000" dirty="0" smtClean="0"/>
              <a:t>author</a:t>
            </a:r>
            <a:r>
              <a:rPr lang="en-US" dirty="0" smtClean="0"/>
              <a:t> (Articles)</a:t>
            </a:r>
          </a:p>
          <a:p>
            <a:pPr lvl="1">
              <a:buNone/>
            </a:pPr>
            <a:endParaRPr lang="en-US" dirty="0" smtClean="0"/>
          </a:p>
          <a:p>
            <a:pPr lvl="1">
              <a:buNone/>
            </a:pPr>
            <a:r>
              <a:rPr lang="en-US" dirty="0" smtClean="0"/>
              <a:t>	Provides the name of authors who have written books but not articles.</a:t>
            </a:r>
          </a:p>
          <a:p>
            <a:pPr lvl="1"/>
            <a:endParaRPr lang="en-GB" dirty="0" smtClean="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4724399"/>
          </a:xfrm>
        </p:spPr>
        <p:txBody>
          <a:bodyPr>
            <a:normAutofit/>
          </a:bodyPr>
          <a:lstStyle/>
          <a:p>
            <a:r>
              <a:rPr lang="en-US" b="1" dirty="0" smtClean="0"/>
              <a:t>Cartesian Product (</a:t>
            </a:r>
            <a:r>
              <a:rPr lang="el-GR" b="1" dirty="0" smtClean="0"/>
              <a:t>Χ)</a:t>
            </a:r>
          </a:p>
          <a:p>
            <a:pPr lvl="1"/>
            <a:r>
              <a:rPr lang="en-US" dirty="0" smtClean="0"/>
              <a:t>Combines information of two different relations into one. </a:t>
            </a:r>
          </a:p>
          <a:p>
            <a:pPr lvl="1"/>
            <a:r>
              <a:rPr lang="en-US" b="1" dirty="0" smtClean="0"/>
              <a:t>Notation</a:t>
            </a:r>
            <a:r>
              <a:rPr lang="en-US" dirty="0" smtClean="0"/>
              <a:t> : r Χ s</a:t>
            </a:r>
          </a:p>
          <a:p>
            <a:pPr lvl="1"/>
            <a:r>
              <a:rPr lang="en-US" dirty="0" smtClean="0"/>
              <a:t>Where </a:t>
            </a:r>
            <a:r>
              <a:rPr lang="en-US" b="1" dirty="0" smtClean="0"/>
              <a:t>r</a:t>
            </a:r>
            <a:r>
              <a:rPr lang="en-US" dirty="0" smtClean="0"/>
              <a:t> and </a:t>
            </a:r>
            <a:r>
              <a:rPr lang="en-US" b="1" dirty="0" smtClean="0"/>
              <a:t>s</a:t>
            </a:r>
            <a:r>
              <a:rPr lang="en-US" dirty="0" smtClean="0"/>
              <a:t> are relations and their output will be defined as :</a:t>
            </a:r>
          </a:p>
          <a:p>
            <a:pPr lvl="1">
              <a:buNone/>
            </a:pPr>
            <a:r>
              <a:rPr lang="en-US" dirty="0" smtClean="0"/>
              <a:t>			r Χ s = { q t | q ∈ r and t ∈ s}</a:t>
            </a:r>
          </a:p>
          <a:p>
            <a:pPr lvl="1"/>
            <a:endParaRPr lang="en-GB" dirty="0" smtClean="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xfrm>
            <a:off x="1095375" y="80963"/>
            <a:ext cx="7772400" cy="1104900"/>
          </a:xfrm>
          <a:noFill/>
          <a:ln/>
        </p:spPr>
        <p:txBody>
          <a:bodyPr/>
          <a:lstStyle/>
          <a:p>
            <a:r>
              <a:rPr lang="en-US"/>
              <a:t>Cross-Product</a:t>
            </a:r>
          </a:p>
        </p:txBody>
      </p:sp>
      <p:sp>
        <p:nvSpPr>
          <p:cNvPr id="21509" name="Rectangle 5"/>
          <p:cNvSpPr>
            <a:spLocks noGrp="1" noChangeArrowheads="1"/>
          </p:cNvSpPr>
          <p:nvPr>
            <p:ph idx="1"/>
          </p:nvPr>
        </p:nvSpPr>
        <p:spPr>
          <a:xfrm>
            <a:off x="0" y="1143000"/>
            <a:ext cx="9144000" cy="4076700"/>
          </a:xfrm>
          <a:noFill/>
          <a:ln/>
        </p:spPr>
        <p:txBody>
          <a:bodyPr/>
          <a:lstStyle/>
          <a:p>
            <a:r>
              <a:rPr lang="en-US" sz="2800" b="0" dirty="0"/>
              <a:t>S1 </a:t>
            </a:r>
            <a:r>
              <a:rPr lang="en-US" sz="2800" b="0" dirty="0">
                <a:sym typeface="Symbol" pitchFamily="18" charset="2"/>
              </a:rPr>
              <a:t></a:t>
            </a:r>
            <a:r>
              <a:rPr lang="en-US" sz="2800" b="0" dirty="0"/>
              <a:t> R1: Each row of S1 paired with each row of R1.</a:t>
            </a:r>
          </a:p>
          <a:p>
            <a:r>
              <a:rPr lang="en-US" sz="2800" b="0" dirty="0"/>
              <a:t>Q: How many rows in the result?</a:t>
            </a:r>
          </a:p>
          <a:p>
            <a:r>
              <a:rPr lang="en-US" sz="2800" b="0" i="1" dirty="0">
                <a:solidFill>
                  <a:schemeClr val="accent2"/>
                </a:solidFill>
              </a:rPr>
              <a:t>Result schema </a:t>
            </a:r>
            <a:r>
              <a:rPr lang="en-US" sz="2800" b="0" dirty="0"/>
              <a:t>has one field per field of S1 and R1, with field names `inherited’ if possible.</a:t>
            </a:r>
          </a:p>
          <a:p>
            <a:pPr lvl="1"/>
            <a:r>
              <a:rPr lang="en-US" sz="2800" i="1" dirty="0"/>
              <a:t>May have a naming conflict</a:t>
            </a:r>
            <a:r>
              <a:rPr lang="en-US" sz="2800" dirty="0"/>
              <a:t>:  Both S1 and R1 have a field with the same </a:t>
            </a:r>
            <a:r>
              <a:rPr lang="en-US" sz="2800"/>
              <a:t>name</a:t>
            </a:r>
            <a:r>
              <a:rPr lang="en-US" sz="2800" smtClean="0"/>
              <a:t>.</a:t>
            </a:r>
            <a:endParaRPr lang="en-US" sz="2800" dirty="0"/>
          </a:p>
        </p:txBody>
      </p:sp>
      <p:sp>
        <p:nvSpPr>
          <p:cNvPr id="7" name="Footer Placeholder 3"/>
          <p:cNvSpPr>
            <a:spLocks noGrp="1"/>
          </p:cNvSpPr>
          <p:nvPr>
            <p:ph type="ftr" sz="quarter" idx="11"/>
          </p:nvPr>
        </p:nvSpPr>
        <p:spPr/>
        <p:txBody>
          <a:bodyPr/>
          <a:lstStyle/>
          <a:p>
            <a:endParaRPr lang="en-US"/>
          </a:p>
          <a:p>
            <a:endParaRPr lang="en-US">
              <a:solidFill>
                <a:schemeClr val="tx2"/>
              </a:solidFill>
            </a:endParaRPr>
          </a:p>
        </p:txBody>
      </p:sp>
      <p:sp>
        <p:nvSpPr>
          <p:cNvPr id="21506"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1507"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5838" y="95250"/>
            <a:ext cx="7772400" cy="1143000"/>
          </a:xfrm>
        </p:spPr>
        <p:txBody>
          <a:bodyPr/>
          <a:lstStyle/>
          <a:p>
            <a:r>
              <a:rPr lang="en-US"/>
              <a:t>Cross Product Example</a:t>
            </a:r>
          </a:p>
        </p:txBody>
      </p:sp>
      <p:sp>
        <p:nvSpPr>
          <p:cNvPr id="9" name="Footer Placeholder 3"/>
          <p:cNvSpPr>
            <a:spLocks noGrp="1"/>
          </p:cNvSpPr>
          <p:nvPr>
            <p:ph type="ftr" sz="quarter" idx="11"/>
          </p:nvPr>
        </p:nvSpPr>
        <p:spPr/>
        <p:txBody>
          <a:bodyPr/>
          <a:lstStyle/>
          <a:p>
            <a:endParaRPr lang="en-US"/>
          </a:p>
          <a:p>
            <a:endParaRPr lang="en-US">
              <a:solidFill>
                <a:schemeClr val="tx2"/>
              </a:solidFill>
            </a:endParaRPr>
          </a:p>
        </p:txBody>
      </p:sp>
      <p:graphicFrame>
        <p:nvGraphicFramePr>
          <p:cNvPr id="22531" name="Object 3"/>
          <p:cNvGraphicFramePr>
            <a:graphicFrameLocks/>
          </p:cNvGraphicFramePr>
          <p:nvPr/>
        </p:nvGraphicFramePr>
        <p:xfrm>
          <a:off x="2127250" y="3781425"/>
          <a:ext cx="6910388" cy="2846388"/>
        </p:xfrm>
        <a:graphic>
          <a:graphicData uri="http://schemas.openxmlformats.org/presentationml/2006/ole">
            <mc:AlternateContent xmlns:mc="http://schemas.openxmlformats.org/markup-compatibility/2006">
              <mc:Choice xmlns:v="urn:schemas-microsoft-com:vml" Requires="v">
                <p:oleObj spid="_x0000_s13467" name="Document" r:id="rId4" imgW="9715500" imgH="4013200" progId="Word.Document.8">
                  <p:embed/>
                </p:oleObj>
              </mc:Choice>
              <mc:Fallback>
                <p:oleObj name="Document" r:id="rId4" imgW="9715500" imgH="4013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7250" y="3781425"/>
                        <a:ext cx="6910388" cy="284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2" name="Object 4"/>
          <p:cNvGraphicFramePr>
            <a:graphicFrameLocks/>
          </p:cNvGraphicFramePr>
          <p:nvPr/>
        </p:nvGraphicFramePr>
        <p:xfrm>
          <a:off x="4759325" y="1047750"/>
          <a:ext cx="4154488" cy="2101850"/>
        </p:xfrm>
        <a:graphic>
          <a:graphicData uri="http://schemas.openxmlformats.org/presentationml/2006/ole">
            <mc:AlternateContent xmlns:mc="http://schemas.openxmlformats.org/markup-compatibility/2006">
              <mc:Choice xmlns:v="urn:schemas-microsoft-com:vml" Requires="v">
                <p:oleObj spid="_x0000_s13468" name="Document" r:id="rId6" imgW="4165600" imgH="2108200" progId="Word.Document.8">
                  <p:embed/>
                </p:oleObj>
              </mc:Choice>
              <mc:Fallback>
                <p:oleObj name="Document" r:id="rId6" imgW="4165600" imgH="21082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9325" y="1047750"/>
                        <a:ext cx="4154488"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5"/>
          <p:cNvGraphicFramePr>
            <a:graphicFrameLocks/>
          </p:cNvGraphicFramePr>
          <p:nvPr/>
        </p:nvGraphicFramePr>
        <p:xfrm>
          <a:off x="376238" y="1193800"/>
          <a:ext cx="3319462" cy="1598613"/>
        </p:xfrm>
        <a:graphic>
          <a:graphicData uri="http://schemas.openxmlformats.org/presentationml/2006/ole">
            <mc:AlternateContent xmlns:mc="http://schemas.openxmlformats.org/markup-compatibility/2006">
              <mc:Choice xmlns:v="urn:schemas-microsoft-com:vml" Requires="v">
                <p:oleObj spid="_x0000_s13469" name="Document" r:id="rId8" imgW="3327400" imgH="1612900" progId="Word.Document.8">
                  <p:embed/>
                </p:oleObj>
              </mc:Choice>
              <mc:Fallback>
                <p:oleObj name="Document" r:id="rId8" imgW="3327400" imgH="16129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6238" y="1193800"/>
                        <a:ext cx="3319462"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6"/>
          <p:cNvSpPr txBox="1">
            <a:spLocks noChangeArrowheads="1"/>
          </p:cNvSpPr>
          <p:nvPr/>
        </p:nvSpPr>
        <p:spPr bwMode="auto">
          <a:xfrm>
            <a:off x="1660525" y="2887663"/>
            <a:ext cx="889000"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R1</a:t>
            </a:r>
            <a:endParaRPr lang="en-US" sz="2400">
              <a:solidFill>
                <a:srgbClr val="CF0E30"/>
              </a:solidFill>
              <a:latin typeface="Book Antiqua" pitchFamily="18" charset="0"/>
            </a:endParaRPr>
          </a:p>
        </p:txBody>
      </p:sp>
      <p:sp>
        <p:nvSpPr>
          <p:cNvPr id="22535" name="Text Box 7"/>
          <p:cNvSpPr txBox="1">
            <a:spLocks noChangeArrowheads="1"/>
          </p:cNvSpPr>
          <p:nvPr/>
        </p:nvSpPr>
        <p:spPr bwMode="auto">
          <a:xfrm>
            <a:off x="6461125" y="3055938"/>
            <a:ext cx="522288" cy="458787"/>
          </a:xfrm>
          <a:prstGeom prst="rect">
            <a:avLst/>
          </a:prstGeom>
          <a:noFill/>
          <a:ln w="12700">
            <a:noFill/>
            <a:miter lim="800000"/>
            <a:headEnd type="none" w="sm" len="sm"/>
            <a:tailEnd type="none" w="sm" len="sm"/>
          </a:ln>
          <a:effectLst/>
        </p:spPr>
        <p:txBody>
          <a:bodyPr wrap="none">
            <a:spAutoFit/>
          </a:bodyPr>
          <a:lstStyle/>
          <a:p>
            <a:pPr eaLnBrk="0" hangingPunct="0"/>
            <a:r>
              <a:rPr lang="en-US" sz="2400" b="1">
                <a:latin typeface="Book Antiqua" pitchFamily="18" charset="0"/>
              </a:rPr>
              <a:t>S1</a:t>
            </a:r>
            <a:endParaRPr lang="en-US" sz="2400">
              <a:solidFill>
                <a:srgbClr val="CF0E30"/>
              </a:solidFill>
              <a:latin typeface="Book Antiqua" pitchFamily="18" charset="0"/>
            </a:endParaRPr>
          </a:p>
        </p:txBody>
      </p:sp>
      <p:sp>
        <p:nvSpPr>
          <p:cNvPr id="22536" name="Text Box 8"/>
          <p:cNvSpPr txBox="1">
            <a:spLocks noChangeArrowheads="1"/>
          </p:cNvSpPr>
          <p:nvPr/>
        </p:nvSpPr>
        <p:spPr bwMode="auto">
          <a:xfrm>
            <a:off x="365125" y="4537075"/>
            <a:ext cx="1749197" cy="523220"/>
          </a:xfrm>
          <a:prstGeom prst="rect">
            <a:avLst/>
          </a:prstGeom>
          <a:noFill/>
          <a:ln w="12700">
            <a:noFill/>
            <a:miter lim="800000"/>
            <a:headEnd type="none" w="sm" len="sm"/>
            <a:tailEnd type="none" w="sm" len="sm"/>
          </a:ln>
          <a:effectLst/>
        </p:spPr>
        <p:txBody>
          <a:bodyPr wrap="none">
            <a:spAutoFit/>
          </a:bodyPr>
          <a:lstStyle/>
          <a:p>
            <a:pPr eaLnBrk="0" hangingPunct="0"/>
            <a:r>
              <a:rPr lang="en-US" sz="2800" b="1" dirty="0">
                <a:latin typeface="Book Antiqua" pitchFamily="18" charset="0"/>
              </a:rPr>
              <a:t>S</a:t>
            </a:r>
            <a:r>
              <a:rPr lang="en-US" sz="2800" b="1" dirty="0" smtClean="0">
                <a:latin typeface="Book Antiqua" pitchFamily="18" charset="0"/>
              </a:rPr>
              <a:t>1 </a:t>
            </a:r>
            <a:r>
              <a:rPr lang="en-US" sz="2800" b="1" dirty="0">
                <a:latin typeface="Book Antiqua" pitchFamily="18" charset="0"/>
              </a:rPr>
              <a:t>X </a:t>
            </a:r>
            <a:r>
              <a:rPr lang="en-US" sz="2800" b="1" dirty="0" smtClean="0">
                <a:latin typeface="Book Antiqua" pitchFamily="18" charset="0"/>
              </a:rPr>
              <a:t>R1 </a:t>
            </a:r>
            <a:r>
              <a:rPr lang="en-US" sz="2800" b="1" dirty="0">
                <a:latin typeface="Book Antiqua"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dissolve">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19200" y="152400"/>
            <a:ext cx="7772400" cy="685800"/>
          </a:xfrm>
        </p:spPr>
        <p:txBody>
          <a:bodyPr>
            <a:normAutofit fontScale="90000"/>
          </a:bodyPr>
          <a:lstStyle/>
          <a:p>
            <a:r>
              <a:rPr lang="en-US"/>
              <a:t>Example: Joining Two Tables</a:t>
            </a:r>
          </a:p>
        </p:txBody>
      </p:sp>
      <p:sp>
        <p:nvSpPr>
          <p:cNvPr id="40963" name="Rectangle 3"/>
          <p:cNvSpPr>
            <a:spLocks noGrp="1" noChangeArrowheads="1"/>
          </p:cNvSpPr>
          <p:nvPr>
            <p:ph type="body" sz="half" idx="1"/>
          </p:nvPr>
        </p:nvSpPr>
        <p:spPr>
          <a:xfrm>
            <a:off x="228600" y="2895600"/>
            <a:ext cx="8534400" cy="3962400"/>
          </a:xfrm>
        </p:spPr>
        <p:txBody>
          <a:bodyPr>
            <a:normAutofit/>
          </a:bodyPr>
          <a:lstStyle/>
          <a:p>
            <a:pPr lvl="1">
              <a:lnSpc>
                <a:spcPct val="90000"/>
              </a:lnSpc>
              <a:buFontTx/>
              <a:buNone/>
            </a:pPr>
            <a:endParaRPr lang="en-US" sz="2000" dirty="0"/>
          </a:p>
          <a:p>
            <a:pPr>
              <a:lnSpc>
                <a:spcPct val="90000"/>
              </a:lnSpc>
            </a:pPr>
            <a:r>
              <a:rPr lang="en-US" sz="2000" dirty="0"/>
              <a:t>Relational Algebra</a:t>
            </a:r>
          </a:p>
          <a:p>
            <a:pPr lvl="1">
              <a:lnSpc>
                <a:spcPct val="90000"/>
              </a:lnSpc>
            </a:pPr>
            <a:endParaRPr lang="en-US" sz="2000" dirty="0"/>
          </a:p>
          <a:p>
            <a:pPr lvl="1">
              <a:lnSpc>
                <a:spcPct val="90000"/>
              </a:lnSpc>
              <a:buNone/>
            </a:pPr>
            <a:endParaRPr lang="en-US" sz="2000" dirty="0"/>
          </a:p>
        </p:txBody>
      </p:sp>
      <p:graphicFrame>
        <p:nvGraphicFramePr>
          <p:cNvPr id="40978" name="Object 18"/>
          <p:cNvGraphicFramePr>
            <a:graphicFrameLocks noGrp="1" noChangeAspect="1"/>
          </p:cNvGraphicFramePr>
          <p:nvPr>
            <p:ph sz="quarter" idx="2"/>
            <p:extLst>
              <p:ext uri="{D42A27DB-BD31-4B8C-83A1-F6EECF244321}">
                <p14:modId xmlns:p14="http://schemas.microsoft.com/office/powerpoint/2010/main" val="2996087545"/>
              </p:ext>
            </p:extLst>
          </p:nvPr>
        </p:nvGraphicFramePr>
        <p:xfrm>
          <a:off x="2082800" y="4267200"/>
          <a:ext cx="4737100" cy="457200"/>
        </p:xfrm>
        <a:graphic>
          <a:graphicData uri="http://schemas.openxmlformats.org/presentationml/2006/ole">
            <mc:AlternateContent xmlns:mc="http://schemas.openxmlformats.org/markup-compatibility/2006">
              <mc:Choice xmlns:v="urn:schemas-microsoft-com:vml" Requires="v">
                <p:oleObj spid="_x0000_s14492" name="Equation" r:id="rId4" imgW="4736880" imgH="457200" progId="Equation.3">
                  <p:embed/>
                </p:oleObj>
              </mc:Choice>
              <mc:Fallback>
                <p:oleObj name="Equation" r:id="rId4" imgW="4736880" imgH="457200" progId="Equation.3">
                  <p:embed/>
                  <p:pic>
                    <p:nvPicPr>
                      <p:cNvPr id="0" name="Picture 4"/>
                      <p:cNvPicPr>
                        <a:picLocks noChangeAspect="1" noChangeArrowheads="1"/>
                      </p:cNvPicPr>
                      <p:nvPr/>
                    </p:nvPicPr>
                    <p:blipFill>
                      <a:blip r:embed="rId5"/>
                      <a:srcRect/>
                      <a:stretch>
                        <a:fillRect/>
                      </a:stretch>
                    </p:blipFill>
                    <p:spPr bwMode="auto">
                      <a:xfrm>
                        <a:off x="2082800" y="4267200"/>
                        <a:ext cx="473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Footer Placeholder 5"/>
          <p:cNvSpPr>
            <a:spLocks noGrp="1"/>
          </p:cNvSpPr>
          <p:nvPr>
            <p:ph type="ftr" sz="quarter" idx="10"/>
          </p:nvPr>
        </p:nvSpPr>
        <p:spPr/>
        <p:txBody>
          <a:bodyPr/>
          <a:lstStyle/>
          <a:p>
            <a:endParaRPr lang="en-US"/>
          </a:p>
          <a:p>
            <a:endParaRPr lang="en-US">
              <a:solidFill>
                <a:schemeClr val="tx2"/>
              </a:solidFill>
            </a:endParaRPr>
          </a:p>
        </p:txBody>
      </p:sp>
      <p:graphicFrame>
        <p:nvGraphicFramePr>
          <p:cNvPr id="40964" name="Object 4"/>
          <p:cNvGraphicFramePr>
            <a:graphicFrameLocks/>
          </p:cNvGraphicFramePr>
          <p:nvPr/>
        </p:nvGraphicFramePr>
        <p:xfrm>
          <a:off x="4665663" y="1704975"/>
          <a:ext cx="4478337" cy="1285875"/>
        </p:xfrm>
        <a:graphic>
          <a:graphicData uri="http://schemas.openxmlformats.org/presentationml/2006/ole">
            <mc:AlternateContent xmlns:mc="http://schemas.openxmlformats.org/markup-compatibility/2006">
              <mc:Choice xmlns:v="urn:schemas-microsoft-com:vml" Requires="v">
                <p:oleObj spid="_x0000_s14493" name="Document" r:id="rId6" imgW="6971203" imgH="2498505" progId="Word.Document.8">
                  <p:embed/>
                </p:oleObj>
              </mc:Choice>
              <mc:Fallback>
                <p:oleObj name="Document" r:id="rId6" imgW="6971203" imgH="2498505" progId="Word.Document.8">
                  <p:embed/>
                  <p:pic>
                    <p:nvPicPr>
                      <p:cNvPr id="0" name="Picture 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5663" y="1704975"/>
                        <a:ext cx="4478337"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5" name="Object 5"/>
          <p:cNvGraphicFramePr>
            <a:graphicFrameLocks/>
          </p:cNvGraphicFramePr>
          <p:nvPr/>
        </p:nvGraphicFramePr>
        <p:xfrm>
          <a:off x="1112838" y="1246188"/>
          <a:ext cx="3421062" cy="1797050"/>
        </p:xfrm>
        <a:graphic>
          <a:graphicData uri="http://schemas.openxmlformats.org/presentationml/2006/ole">
            <mc:AlternateContent xmlns:mc="http://schemas.openxmlformats.org/markup-compatibility/2006">
              <mc:Choice xmlns:v="urn:schemas-microsoft-com:vml" Requires="v">
                <p:oleObj spid="_x0000_s14494" name="Document" r:id="rId8" imgW="4721543" imgH="2472592" progId="Word.Document.8">
                  <p:embed/>
                </p:oleObj>
              </mc:Choice>
              <mc:Fallback>
                <p:oleObj name="Document" r:id="rId8" imgW="4721543" imgH="2472592" progId="Word.Document.8">
                  <p:embed/>
                  <p:pic>
                    <p:nvPicPr>
                      <p:cNvPr id="0" name="Picture 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2838" y="1246188"/>
                        <a:ext cx="3421062"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0" name="Rectangle 10"/>
          <p:cNvSpPr>
            <a:spLocks noChangeArrowheads="1"/>
          </p:cNvSpPr>
          <p:nvPr/>
        </p:nvSpPr>
        <p:spPr bwMode="auto">
          <a:xfrm>
            <a:off x="1066800" y="838200"/>
            <a:ext cx="1344613" cy="458788"/>
          </a:xfrm>
          <a:prstGeom prst="rect">
            <a:avLst/>
          </a:prstGeom>
          <a:noFill/>
          <a:ln w="9525">
            <a:noFill/>
            <a:miter lim="800000"/>
            <a:headEnd/>
            <a:tailEnd/>
          </a:ln>
          <a:effectLst/>
        </p:spPr>
        <p:txBody>
          <a:bodyPr wrap="none" lIns="92075" tIns="46038" rIns="92075" bIns="46038">
            <a:spAutoFit/>
          </a:bodyPr>
          <a:lstStyle/>
          <a:p>
            <a:pPr eaLnBrk="0" hangingPunct="0"/>
            <a:r>
              <a:rPr lang="en-US" sz="2400">
                <a:solidFill>
                  <a:srgbClr val="CF0E30"/>
                </a:solidFill>
                <a:latin typeface="Book Antiqua" pitchFamily="18" charset="0"/>
              </a:rPr>
              <a:t>Enrolled</a:t>
            </a:r>
          </a:p>
        </p:txBody>
      </p:sp>
      <p:sp>
        <p:nvSpPr>
          <p:cNvPr id="40971" name="Rectangle 11"/>
          <p:cNvSpPr>
            <a:spLocks noChangeArrowheads="1"/>
          </p:cNvSpPr>
          <p:nvPr/>
        </p:nvSpPr>
        <p:spPr bwMode="auto">
          <a:xfrm>
            <a:off x="4646613" y="1293813"/>
            <a:ext cx="1366837"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a:solidFill>
                  <a:srgbClr val="CF0E30"/>
                </a:solidFill>
                <a:latin typeface="Book Antiqua" pitchFamily="18" charset="0"/>
              </a:rPr>
              <a:t>Students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JOIN</a:t>
            </a:r>
            <a:endParaRPr lang="en-US"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SQL Join is used to fetch data from two or more tables, which is joined to appear as single set of data. It is used for combining column from two or more tables by using values common to both tables.</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JOIN</a:t>
            </a:r>
            <a:endParaRPr lang="en-US"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Inner</a:t>
            </a:r>
          </a:p>
          <a:p>
            <a:r>
              <a:rPr lang="en-US" dirty="0" smtClean="0"/>
              <a:t>Outer</a:t>
            </a:r>
          </a:p>
          <a:p>
            <a:r>
              <a:rPr lang="en-US" dirty="0" smtClean="0"/>
              <a:t>Left</a:t>
            </a:r>
          </a:p>
          <a:p>
            <a:r>
              <a:rPr lang="en-US" dirty="0" smtClean="0"/>
              <a:t>Right</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Cross JOIN or Cartesian Product</a:t>
            </a:r>
            <a:endParaRPr lang="en-US" b="1"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This type of JOIN returns the </a:t>
            </a:r>
            <a:r>
              <a:rPr lang="en-US" dirty="0" err="1" smtClean="0"/>
              <a:t>cartesian</a:t>
            </a:r>
            <a:r>
              <a:rPr lang="en-US" dirty="0" smtClean="0"/>
              <a:t> product of rows from the tables in Join. It will return a table which consists of records which combines each row from the first table with each row of the second table.</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838200"/>
          </a:xfrm>
        </p:spPr>
        <p:txBody>
          <a:bodyPr>
            <a:normAutofit/>
          </a:bodyPr>
          <a:lstStyle/>
          <a:p>
            <a:r>
              <a:rPr lang="en-US" b="1" dirty="0" smtClean="0"/>
              <a:t>Example of Cross JOIN</a:t>
            </a:r>
            <a:endParaRPr lang="en-US" b="1" dirty="0"/>
          </a:p>
        </p:txBody>
      </p:sp>
      <p:pic>
        <p:nvPicPr>
          <p:cNvPr id="54274" name="Picture 2"/>
          <p:cNvPicPr>
            <a:picLocks noChangeAspect="1" noChangeArrowheads="1"/>
          </p:cNvPicPr>
          <p:nvPr/>
        </p:nvPicPr>
        <p:blipFill>
          <a:blip r:embed="rId3"/>
          <a:srcRect/>
          <a:stretch>
            <a:fillRect/>
          </a:stretch>
        </p:blipFill>
        <p:spPr bwMode="auto">
          <a:xfrm>
            <a:off x="533400" y="914400"/>
            <a:ext cx="8449541" cy="4495800"/>
          </a:xfrm>
          <a:prstGeom prst="rect">
            <a:avLst/>
          </a:prstGeom>
          <a:noFill/>
          <a:ln w="9525">
            <a:noFill/>
            <a:miter lim="800000"/>
            <a:headEnd/>
            <a:tailEnd/>
          </a:ln>
          <a:effectLst/>
        </p:spPr>
      </p:pic>
      <p:graphicFrame>
        <p:nvGraphicFramePr>
          <p:cNvPr id="4" name="Object 3"/>
          <p:cNvGraphicFramePr>
            <a:graphicFrameLocks noGrp="1" noChangeAspect="1"/>
          </p:cNvGraphicFramePr>
          <p:nvPr>
            <p:extLst>
              <p:ext uri="{D42A27DB-BD31-4B8C-83A1-F6EECF244321}">
                <p14:modId xmlns:p14="http://schemas.microsoft.com/office/powerpoint/2010/main" val="622392565"/>
              </p:ext>
            </p:extLst>
          </p:nvPr>
        </p:nvGraphicFramePr>
        <p:xfrm>
          <a:off x="2895600" y="5575300"/>
          <a:ext cx="3060700" cy="431800"/>
        </p:xfrm>
        <a:graphic>
          <a:graphicData uri="http://schemas.openxmlformats.org/presentationml/2006/ole">
            <mc:AlternateContent xmlns:mc="http://schemas.openxmlformats.org/markup-compatibility/2006">
              <mc:Choice xmlns:v="urn:schemas-microsoft-com:vml" Requires="v">
                <p:oleObj spid="_x0000_s15408" name="Equation" r:id="rId4" imgW="3060360" imgH="431640" progId="Equation.3">
                  <p:embed/>
                </p:oleObj>
              </mc:Choice>
              <mc:Fallback>
                <p:oleObj name="Equation" r:id="rId4" imgW="3060360" imgH="431640" progId="Equation.3">
                  <p:embed/>
                  <p:pic>
                    <p:nvPicPr>
                      <p:cNvPr id="0" name="Object 18"/>
                      <p:cNvPicPr>
                        <a:picLocks noGrp="1" noChangeAspect="1" noChangeArrowheads="1"/>
                      </p:cNvPicPr>
                      <p:nvPr/>
                    </p:nvPicPr>
                    <p:blipFill>
                      <a:blip r:embed="rId5"/>
                      <a:srcRect/>
                      <a:stretch>
                        <a:fillRect/>
                      </a:stretch>
                    </p:blipFill>
                    <p:spPr bwMode="auto">
                      <a:xfrm>
                        <a:off x="2895600" y="5575300"/>
                        <a:ext cx="3060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5298" name="Picture 2"/>
          <p:cNvPicPr>
            <a:picLocks noGrp="1" noChangeAspect="1" noChangeArrowheads="1"/>
          </p:cNvPicPr>
          <p:nvPr>
            <p:ph idx="1"/>
          </p:nvPr>
        </p:nvPicPr>
        <p:blipFill>
          <a:blip r:embed="rId2"/>
          <a:srcRect/>
          <a:stretch>
            <a:fillRect/>
          </a:stretch>
        </p:blipFill>
        <p:spPr bwMode="auto">
          <a:xfrm>
            <a:off x="0" y="0"/>
            <a:ext cx="9144000" cy="656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INNER Join or EQUI Join</a:t>
            </a:r>
            <a:endParaRPr lang="en-US" dirty="0"/>
          </a:p>
        </p:txBody>
      </p:sp>
      <p:sp>
        <p:nvSpPr>
          <p:cNvPr id="3" name="Content Placeholder 2"/>
          <p:cNvSpPr>
            <a:spLocks noGrp="1"/>
          </p:cNvSpPr>
          <p:nvPr>
            <p:ph idx="1"/>
          </p:nvPr>
        </p:nvSpPr>
        <p:spPr/>
        <p:txBody>
          <a:bodyPr/>
          <a:lstStyle/>
          <a:p>
            <a:r>
              <a:rPr lang="en-US" dirty="0" smtClean="0"/>
              <a:t>This is a simple JOIN in which the result is based on matched data as per the equality condition specified in the SQL query.</a:t>
            </a:r>
          </a:p>
          <a:p>
            <a:r>
              <a:rPr lang="en-US" dirty="0" smtClean="0"/>
              <a:t>Inner Join Syntax is,</a:t>
            </a:r>
          </a:p>
          <a:p>
            <a:pPr>
              <a:buNone/>
            </a:pPr>
            <a:r>
              <a:rPr lang="en-US" dirty="0" smtClean="0"/>
              <a:t>	SELECT column-name-list FROM table-name1 INNER JOIN table-name2 WHERE table-name1.column-name = table-name2.column-name;</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INNER JOIN</a:t>
            </a:r>
            <a:endParaRPr lang="en-US" dirty="0"/>
          </a:p>
        </p:txBody>
      </p:sp>
      <p:pic>
        <p:nvPicPr>
          <p:cNvPr id="56322" name="Picture 2"/>
          <p:cNvPicPr>
            <a:picLocks noGrp="1" noChangeAspect="1" noChangeArrowheads="1"/>
          </p:cNvPicPr>
          <p:nvPr>
            <p:ph idx="1"/>
          </p:nvPr>
        </p:nvPicPr>
        <p:blipFill>
          <a:blip r:embed="rId2"/>
          <a:srcRect/>
          <a:stretch>
            <a:fillRect/>
          </a:stretch>
        </p:blipFill>
        <p:spPr bwMode="auto">
          <a:xfrm>
            <a:off x="0" y="1295399"/>
            <a:ext cx="9144000" cy="55973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INNER JOIN</a:t>
            </a:r>
            <a:endParaRPr lang="en-US" dirty="0"/>
          </a:p>
        </p:txBody>
      </p:sp>
      <p:pic>
        <p:nvPicPr>
          <p:cNvPr id="57346" name="Picture 2"/>
          <p:cNvPicPr>
            <a:picLocks noGrp="1" noChangeAspect="1" noChangeArrowheads="1"/>
          </p:cNvPicPr>
          <p:nvPr>
            <p:ph idx="1"/>
          </p:nvPr>
        </p:nvPicPr>
        <p:blipFill>
          <a:blip r:embed="rId2"/>
          <a:srcRect/>
          <a:stretch>
            <a:fillRect/>
          </a:stretch>
        </p:blipFill>
        <p:spPr bwMode="auto">
          <a:xfrm>
            <a:off x="304800" y="1676400"/>
            <a:ext cx="8824452" cy="3810000"/>
          </a:xfrm>
          <a:prstGeom prst="rect">
            <a:avLst/>
          </a:prstGeom>
          <a:noFill/>
          <a:ln w="9525">
            <a:noFill/>
            <a:miter lim="800000"/>
            <a:headEnd/>
            <a:tailEnd/>
          </a:ln>
          <a:effectLst/>
        </p:spPr>
      </p:pic>
      <p:sp>
        <p:nvSpPr>
          <p:cNvPr id="3" name="TextBox 2"/>
          <p:cNvSpPr txBox="1"/>
          <p:nvPr/>
        </p:nvSpPr>
        <p:spPr>
          <a:xfrm>
            <a:off x="762000" y="5075872"/>
            <a:ext cx="7772400" cy="1477328"/>
          </a:xfrm>
          <a:prstGeom prst="rect">
            <a:avLst/>
          </a:prstGeom>
          <a:noFill/>
        </p:spPr>
        <p:txBody>
          <a:bodyPr wrap="square" rtlCol="0">
            <a:spAutoFit/>
          </a:bodyPr>
          <a:lstStyle/>
          <a:p>
            <a:r>
              <a:rPr lang="en-US" sz="2400" dirty="0" smtClean="0"/>
              <a:t>Class           </a:t>
            </a:r>
            <a:r>
              <a:rPr lang="en-US" sz="2400" baseline="-25000" dirty="0" smtClean="0"/>
              <a:t>class.id=class_info.id</a:t>
            </a:r>
            <a:r>
              <a:rPr lang="en-US" sz="2400" dirty="0" smtClean="0"/>
              <a:t>  </a:t>
            </a:r>
            <a:r>
              <a:rPr lang="en-US" sz="2400" dirty="0" err="1" smtClean="0"/>
              <a:t>Class_info</a:t>
            </a:r>
            <a:endParaRPr lang="en-US" sz="2400" dirty="0" smtClean="0"/>
          </a:p>
          <a:p>
            <a:endParaRPr lang="en-US" sz="2400" dirty="0" smtClean="0"/>
          </a:p>
          <a:p>
            <a:r>
              <a:rPr lang="el-GR" sz="2400" dirty="0" smtClean="0"/>
              <a:t>ρ</a:t>
            </a:r>
            <a:r>
              <a:rPr lang="en-US" sz="2400" baseline="-25000" dirty="0" smtClean="0"/>
              <a:t>cl</a:t>
            </a:r>
            <a:r>
              <a:rPr lang="en-US" sz="2400" dirty="0" smtClean="0"/>
              <a:t>(Class)          </a:t>
            </a:r>
            <a:r>
              <a:rPr lang="en-US" sz="2400" baseline="-25000" dirty="0" smtClean="0"/>
              <a:t>cl.id=cli.id</a:t>
            </a:r>
            <a:r>
              <a:rPr lang="en-US" sz="2400" dirty="0" smtClean="0"/>
              <a:t> </a:t>
            </a:r>
            <a:r>
              <a:rPr lang="el-GR" sz="2400" dirty="0"/>
              <a:t>ρ</a:t>
            </a:r>
            <a:r>
              <a:rPr lang="en-US" sz="2400" baseline="-25000" dirty="0" smtClean="0"/>
              <a:t>cli</a:t>
            </a:r>
            <a:r>
              <a:rPr lang="en-US" sz="2400" dirty="0" smtClean="0"/>
              <a:t>(</a:t>
            </a:r>
            <a:r>
              <a:rPr lang="en-US" sz="2400" dirty="0" err="1" smtClean="0"/>
              <a:t>Class_info</a:t>
            </a:r>
            <a:r>
              <a:rPr lang="en-US" sz="2400" dirty="0" smtClean="0"/>
              <a:t>)</a:t>
            </a:r>
            <a:endParaRPr lang="en-US" sz="2400" dirty="0"/>
          </a:p>
          <a:p>
            <a:endParaRPr lang="en-IN"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181600"/>
            <a:ext cx="6159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6211" y="5791200"/>
            <a:ext cx="6159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Natural JOIN</a:t>
            </a:r>
            <a:endParaRPr lang="en-US" dirty="0"/>
          </a:p>
        </p:txBody>
      </p:sp>
      <p:sp>
        <p:nvSpPr>
          <p:cNvPr id="3" name="Content Placeholder 2"/>
          <p:cNvSpPr>
            <a:spLocks noGrp="1"/>
          </p:cNvSpPr>
          <p:nvPr>
            <p:ph idx="1"/>
          </p:nvPr>
        </p:nvSpPr>
        <p:spPr/>
        <p:txBody>
          <a:bodyPr/>
          <a:lstStyle/>
          <a:p>
            <a:r>
              <a:rPr lang="en-US" dirty="0" smtClean="0"/>
              <a:t>Natural Join is a type of Inner join which is based on column having same name and same data type present in both the tables to be joined.</a:t>
            </a:r>
          </a:p>
          <a:p>
            <a:r>
              <a:rPr lang="en-US" dirty="0" smtClean="0"/>
              <a:t>The syntax for Natural Join is,</a:t>
            </a:r>
          </a:p>
          <a:p>
            <a:pPr>
              <a:buNone/>
            </a:pPr>
            <a:r>
              <a:rPr lang="en-US" dirty="0" smtClean="0"/>
              <a:t>	SELECT * FROM table-name1 NATURAL JOIN table-name2;</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Natural JOIN</a:t>
            </a:r>
            <a:endParaRPr lang="en-US" dirty="0"/>
          </a:p>
        </p:txBody>
      </p:sp>
      <p:pic>
        <p:nvPicPr>
          <p:cNvPr id="58370" name="Picture 2"/>
          <p:cNvPicPr>
            <a:picLocks noGrp="1" noChangeAspect="1" noChangeArrowheads="1"/>
          </p:cNvPicPr>
          <p:nvPr>
            <p:ph idx="1"/>
          </p:nvPr>
        </p:nvPicPr>
        <p:blipFill>
          <a:blip r:embed="rId2"/>
          <a:srcRect/>
          <a:stretch>
            <a:fillRect/>
          </a:stretch>
        </p:blipFill>
        <p:spPr bwMode="auto">
          <a:xfrm>
            <a:off x="0" y="1371599"/>
            <a:ext cx="8839200" cy="54031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b="1" dirty="0" smtClean="0"/>
              <a:t>Example of Natural JOIN</a:t>
            </a:r>
            <a:endParaRPr lang="en-US" dirty="0"/>
          </a:p>
        </p:txBody>
      </p:sp>
      <p:sp>
        <p:nvSpPr>
          <p:cNvPr id="3" name="Content Placeholder 2"/>
          <p:cNvSpPr>
            <a:spLocks noGrp="1"/>
          </p:cNvSpPr>
          <p:nvPr>
            <p:ph idx="1"/>
          </p:nvPr>
        </p:nvSpPr>
        <p:spPr/>
        <p:txBody>
          <a:bodyPr/>
          <a:lstStyle/>
          <a:p>
            <a:endParaRPr lang="en-US"/>
          </a:p>
        </p:txBody>
      </p:sp>
      <p:pic>
        <p:nvPicPr>
          <p:cNvPr id="59394" name="Picture 2"/>
          <p:cNvPicPr>
            <a:picLocks noChangeAspect="1" noChangeArrowheads="1"/>
          </p:cNvPicPr>
          <p:nvPr/>
        </p:nvPicPr>
        <p:blipFill>
          <a:blip r:embed="rId2"/>
          <a:srcRect/>
          <a:stretch>
            <a:fillRect/>
          </a:stretch>
        </p:blipFill>
        <p:spPr bwMode="auto">
          <a:xfrm>
            <a:off x="0" y="762000"/>
            <a:ext cx="9144000" cy="5410201"/>
          </a:xfrm>
          <a:prstGeom prst="rect">
            <a:avLst/>
          </a:prstGeom>
          <a:noFill/>
          <a:ln w="9525">
            <a:noFill/>
            <a:miter lim="800000"/>
            <a:headEnd/>
            <a:tailEnd/>
          </a:ln>
          <a:effectLst/>
        </p:spPr>
      </p:pic>
      <p:sp>
        <p:nvSpPr>
          <p:cNvPr id="4" name="TextBox 3"/>
          <p:cNvSpPr txBox="1"/>
          <p:nvPr/>
        </p:nvSpPr>
        <p:spPr>
          <a:xfrm>
            <a:off x="304800" y="5943600"/>
            <a:ext cx="8382000" cy="523220"/>
          </a:xfrm>
          <a:prstGeom prst="rect">
            <a:avLst/>
          </a:prstGeom>
          <a:noFill/>
        </p:spPr>
        <p:txBody>
          <a:bodyPr wrap="square" rtlCol="0">
            <a:spAutoFit/>
          </a:bodyPr>
          <a:lstStyle/>
          <a:p>
            <a:pPr algn="ctr"/>
            <a:r>
              <a:rPr lang="en-IN" sz="2800" b="1" dirty="0" smtClean="0"/>
              <a:t>Class ⋈ </a:t>
            </a:r>
            <a:r>
              <a:rPr lang="en-IN" sz="2800" b="1" dirty="0" err="1"/>
              <a:t>C</a:t>
            </a:r>
            <a:r>
              <a:rPr lang="en-IN" sz="2800" b="1" dirty="0" err="1" smtClean="0"/>
              <a:t>lass_info</a:t>
            </a:r>
            <a:endParaRPr lang="en-IN"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OUTER JOIN</a:t>
            </a:r>
            <a:endParaRPr lang="en-US" dirty="0"/>
          </a:p>
        </p:txBody>
      </p:sp>
      <p:sp>
        <p:nvSpPr>
          <p:cNvPr id="3" name="Content Placeholder 2"/>
          <p:cNvSpPr>
            <a:spLocks noGrp="1"/>
          </p:cNvSpPr>
          <p:nvPr>
            <p:ph idx="1"/>
          </p:nvPr>
        </p:nvSpPr>
        <p:spPr/>
        <p:txBody>
          <a:bodyPr/>
          <a:lstStyle/>
          <a:p>
            <a:r>
              <a:rPr lang="en-US" dirty="0" smtClean="0"/>
              <a:t>Outer Join is based on both matched and unmatched data. Outer Joins subdivide further into, </a:t>
            </a:r>
          </a:p>
          <a:p>
            <a:pPr lvl="1"/>
            <a:r>
              <a:rPr lang="en-US" dirty="0" smtClean="0"/>
              <a:t>Left Outer Join</a:t>
            </a:r>
          </a:p>
          <a:p>
            <a:pPr lvl="1"/>
            <a:r>
              <a:rPr lang="en-US" dirty="0" smtClean="0"/>
              <a:t>Right Outer Join</a:t>
            </a:r>
          </a:p>
          <a:p>
            <a:pPr lvl="1"/>
            <a:r>
              <a:rPr lang="en-US" dirty="0" smtClean="0"/>
              <a:t>Full Outer Join</a:t>
            </a: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200400"/>
            <a:ext cx="8382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071" y="3709988"/>
            <a:ext cx="89535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2071" y="4287838"/>
            <a:ext cx="790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LEFT Outer Join</a:t>
            </a:r>
            <a:endParaRPr lang="en-US" dirty="0"/>
          </a:p>
        </p:txBody>
      </p:sp>
      <p:sp>
        <p:nvSpPr>
          <p:cNvPr id="3" name="Content Placeholder 2"/>
          <p:cNvSpPr>
            <a:spLocks noGrp="1"/>
          </p:cNvSpPr>
          <p:nvPr>
            <p:ph idx="1"/>
          </p:nvPr>
        </p:nvSpPr>
        <p:spPr/>
        <p:txBody>
          <a:bodyPr>
            <a:normAutofit lnSpcReduction="10000"/>
          </a:bodyPr>
          <a:lstStyle/>
          <a:p>
            <a:r>
              <a:rPr lang="en-US" dirty="0" smtClean="0"/>
              <a:t>The left outer join returns a result set table with the </a:t>
            </a:r>
            <a:r>
              <a:rPr lang="en-US" b="1" dirty="0" smtClean="0"/>
              <a:t>matched data</a:t>
            </a:r>
            <a:r>
              <a:rPr lang="en-US" dirty="0" smtClean="0"/>
              <a:t> from the two tables and then the remaining rows of the </a:t>
            </a:r>
            <a:r>
              <a:rPr lang="en-US" b="1" dirty="0" smtClean="0"/>
              <a:t>left</a:t>
            </a:r>
            <a:r>
              <a:rPr lang="en-US" dirty="0" smtClean="0"/>
              <a:t> table and null from the </a:t>
            </a:r>
            <a:r>
              <a:rPr lang="en-US" b="1" dirty="0" smtClean="0"/>
              <a:t>right</a:t>
            </a:r>
            <a:r>
              <a:rPr lang="en-US" dirty="0" smtClean="0"/>
              <a:t> table's columns.</a:t>
            </a:r>
          </a:p>
          <a:p>
            <a:r>
              <a:rPr lang="en-US" dirty="0" smtClean="0"/>
              <a:t>Syntax for Left Outer Join is,</a:t>
            </a:r>
          </a:p>
          <a:p>
            <a:pPr>
              <a:buNone/>
            </a:pPr>
            <a:r>
              <a:rPr lang="en-US" dirty="0" smtClean="0"/>
              <a:t>	SELECT column-name-list FROM table-name1 LEFT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Left Outer Join</a:t>
            </a:r>
            <a:endParaRPr lang="en-US" dirty="0"/>
          </a:p>
        </p:txBody>
      </p:sp>
      <p:pic>
        <p:nvPicPr>
          <p:cNvPr id="60418" name="Picture 2"/>
          <p:cNvPicPr>
            <a:picLocks noGrp="1" noChangeAspect="1" noChangeArrowheads="1"/>
          </p:cNvPicPr>
          <p:nvPr>
            <p:ph idx="1"/>
          </p:nvPr>
        </p:nvPicPr>
        <p:blipFill>
          <a:blip r:embed="rId2"/>
          <a:srcRect/>
          <a:stretch>
            <a:fillRect/>
          </a:stretch>
        </p:blipFill>
        <p:spPr bwMode="auto">
          <a:xfrm>
            <a:off x="0" y="1219200"/>
            <a:ext cx="8915400" cy="54573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42" name="Picture 2"/>
          <p:cNvPicPr>
            <a:picLocks noGrp="1" noChangeAspect="1" noChangeArrowheads="1"/>
          </p:cNvPicPr>
          <p:nvPr>
            <p:ph idx="1"/>
          </p:nvPr>
        </p:nvPicPr>
        <p:blipFill>
          <a:blip r:embed="rId2"/>
          <a:srcRect/>
          <a:stretch>
            <a:fillRect/>
          </a:stretch>
        </p:blipFill>
        <p:spPr bwMode="auto">
          <a:xfrm>
            <a:off x="0" y="0"/>
            <a:ext cx="8882948" cy="5867400"/>
          </a:xfrm>
          <a:prstGeom prst="rect">
            <a:avLst/>
          </a:prstGeom>
          <a:noFill/>
          <a:ln w="9525">
            <a:noFill/>
            <a:miter lim="800000"/>
            <a:headEnd/>
            <a:tailEnd/>
          </a:ln>
          <a:effectLst/>
        </p:spPr>
      </p:pic>
      <p:sp>
        <p:nvSpPr>
          <p:cNvPr id="3" name="TextBox 2"/>
          <p:cNvSpPr txBox="1"/>
          <p:nvPr/>
        </p:nvSpPr>
        <p:spPr>
          <a:xfrm>
            <a:off x="439057" y="58674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952945"/>
            <a:ext cx="8382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RIGHT Outer Join</a:t>
            </a:r>
            <a:endParaRPr lang="en-US" dirty="0"/>
          </a:p>
        </p:txBody>
      </p:sp>
      <p:sp>
        <p:nvSpPr>
          <p:cNvPr id="3" name="Content Placeholder 2"/>
          <p:cNvSpPr>
            <a:spLocks noGrp="1"/>
          </p:cNvSpPr>
          <p:nvPr>
            <p:ph idx="1"/>
          </p:nvPr>
        </p:nvSpPr>
        <p:spPr/>
        <p:txBody>
          <a:bodyPr>
            <a:normAutofit fontScale="92500"/>
          </a:bodyPr>
          <a:lstStyle/>
          <a:p>
            <a:r>
              <a:rPr lang="en-US" dirty="0" smtClean="0"/>
              <a:t>The right outer join returns a result set table with the </a:t>
            </a:r>
            <a:r>
              <a:rPr lang="en-US" b="1" dirty="0" smtClean="0"/>
              <a:t>matched data</a:t>
            </a:r>
            <a:r>
              <a:rPr lang="en-US" dirty="0" smtClean="0"/>
              <a:t> from the two tables being joined, then the remaining rows of the </a:t>
            </a:r>
            <a:r>
              <a:rPr lang="en-US" b="1" dirty="0" smtClean="0"/>
              <a:t>right</a:t>
            </a:r>
            <a:r>
              <a:rPr lang="en-US" dirty="0" smtClean="0"/>
              <a:t> table and null for the remaining </a:t>
            </a:r>
            <a:r>
              <a:rPr lang="en-US" b="1" dirty="0" smtClean="0"/>
              <a:t>left</a:t>
            </a:r>
            <a:r>
              <a:rPr lang="en-US" dirty="0" smtClean="0"/>
              <a:t> table's columns.</a:t>
            </a:r>
          </a:p>
          <a:p>
            <a:r>
              <a:rPr lang="en-US" dirty="0" smtClean="0"/>
              <a:t>Syntax for Right Outer Join is,</a:t>
            </a:r>
          </a:p>
          <a:p>
            <a:pPr>
              <a:buNone/>
            </a:pPr>
            <a:r>
              <a:rPr lang="en-US" dirty="0" smtClean="0"/>
              <a:t>	SELECT column-name-list FROM table-name1 RIGHT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2466" name="Picture 2"/>
          <p:cNvPicPr>
            <a:picLocks noGrp="1" noChangeAspect="1" noChangeArrowheads="1"/>
          </p:cNvPicPr>
          <p:nvPr>
            <p:ph idx="1"/>
          </p:nvPr>
        </p:nvPicPr>
        <p:blipFill>
          <a:blip r:embed="rId2"/>
          <a:srcRect/>
          <a:stretch>
            <a:fillRect/>
          </a:stretch>
        </p:blipFill>
        <p:spPr bwMode="auto">
          <a:xfrm>
            <a:off x="0" y="0"/>
            <a:ext cx="8763000" cy="64507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3490" name="Picture 2"/>
          <p:cNvPicPr>
            <a:picLocks noChangeAspect="1" noChangeArrowheads="1"/>
          </p:cNvPicPr>
          <p:nvPr/>
        </p:nvPicPr>
        <p:blipFill>
          <a:blip r:embed="rId2"/>
          <a:srcRect/>
          <a:stretch>
            <a:fillRect/>
          </a:stretch>
        </p:blipFill>
        <p:spPr bwMode="auto">
          <a:xfrm>
            <a:off x="0" y="-1"/>
            <a:ext cx="9144000" cy="6172201"/>
          </a:xfrm>
          <a:prstGeom prst="rect">
            <a:avLst/>
          </a:prstGeom>
          <a:noFill/>
          <a:ln w="9525">
            <a:noFill/>
            <a:miter lim="800000"/>
            <a:headEnd/>
            <a:tailEnd/>
          </a:ln>
          <a:effectLst/>
        </p:spPr>
      </p:pic>
      <p:sp>
        <p:nvSpPr>
          <p:cNvPr id="5" name="TextBox 4"/>
          <p:cNvSpPr txBox="1"/>
          <p:nvPr/>
        </p:nvSpPr>
        <p:spPr>
          <a:xfrm>
            <a:off x="457200" y="59436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985581"/>
            <a:ext cx="7620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Full Outer Join</a:t>
            </a:r>
            <a:endParaRPr lang="en-US" dirty="0"/>
          </a:p>
        </p:txBody>
      </p:sp>
      <p:sp>
        <p:nvSpPr>
          <p:cNvPr id="3" name="Content Placeholder 2"/>
          <p:cNvSpPr>
            <a:spLocks noGrp="1"/>
          </p:cNvSpPr>
          <p:nvPr>
            <p:ph idx="1"/>
          </p:nvPr>
        </p:nvSpPr>
        <p:spPr/>
        <p:txBody>
          <a:bodyPr>
            <a:normAutofit lnSpcReduction="10000"/>
          </a:bodyPr>
          <a:lstStyle/>
          <a:p>
            <a:r>
              <a:rPr lang="en-US" dirty="0" smtClean="0"/>
              <a:t>The full outer join returns a </a:t>
            </a:r>
            <a:r>
              <a:rPr lang="en-US" dirty="0" err="1" smtClean="0"/>
              <a:t>resultset</a:t>
            </a:r>
            <a:r>
              <a:rPr lang="en-US" dirty="0" smtClean="0"/>
              <a:t> table with the </a:t>
            </a:r>
            <a:r>
              <a:rPr lang="en-US" b="1" dirty="0" smtClean="0"/>
              <a:t>matched data</a:t>
            </a:r>
            <a:r>
              <a:rPr lang="en-US" dirty="0" smtClean="0"/>
              <a:t> of two table then remaining rows of both </a:t>
            </a:r>
            <a:r>
              <a:rPr lang="en-US" b="1" dirty="0" smtClean="0"/>
              <a:t>left</a:t>
            </a:r>
            <a:r>
              <a:rPr lang="en-US" dirty="0" smtClean="0"/>
              <a:t> table and then the </a:t>
            </a:r>
            <a:r>
              <a:rPr lang="en-US" b="1" dirty="0" smtClean="0"/>
              <a:t>right</a:t>
            </a:r>
            <a:r>
              <a:rPr lang="en-US" dirty="0" smtClean="0"/>
              <a:t> table.</a:t>
            </a:r>
          </a:p>
          <a:p>
            <a:r>
              <a:rPr lang="en-US" dirty="0" smtClean="0"/>
              <a:t>Syntax of Full Outer Join is,</a:t>
            </a:r>
          </a:p>
          <a:p>
            <a:pPr>
              <a:buNone/>
            </a:pPr>
            <a:r>
              <a:rPr lang="en-US" dirty="0" smtClean="0"/>
              <a:t>`	SELECT column-name-list FROM table-name1 FULL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4514" name="Picture 2"/>
          <p:cNvPicPr>
            <a:picLocks noChangeAspect="1" noChangeArrowheads="1"/>
          </p:cNvPicPr>
          <p:nvPr/>
        </p:nvPicPr>
        <p:blipFill>
          <a:blip r:embed="rId2"/>
          <a:srcRect/>
          <a:stretch>
            <a:fillRect/>
          </a:stretch>
        </p:blipFill>
        <p:spPr bwMode="auto">
          <a:xfrm>
            <a:off x="0" y="152400"/>
            <a:ext cx="9144000" cy="5867400"/>
          </a:xfrm>
          <a:prstGeom prst="rect">
            <a:avLst/>
          </a:prstGeom>
          <a:noFill/>
          <a:ln w="9525">
            <a:noFill/>
            <a:miter lim="800000"/>
            <a:headEnd/>
            <a:tailEnd/>
          </a:ln>
          <a:effectLst/>
        </p:spPr>
      </p:pic>
      <p:sp>
        <p:nvSpPr>
          <p:cNvPr id="5" name="TextBox 4"/>
          <p:cNvSpPr txBox="1"/>
          <p:nvPr/>
        </p:nvSpPr>
        <p:spPr>
          <a:xfrm>
            <a:off x="457200" y="59436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6019800"/>
            <a:ext cx="790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84062089"/>
              </p:ext>
            </p:extLst>
          </p:nvPr>
        </p:nvGraphicFramePr>
        <p:xfrm>
          <a:off x="457200" y="152404"/>
          <a:ext cx="8534400" cy="6602476"/>
        </p:xfrm>
        <a:graphic>
          <a:graphicData uri="http://schemas.openxmlformats.org/drawingml/2006/table">
            <a:tbl>
              <a:tblPr/>
              <a:tblGrid>
                <a:gridCol w="2895600"/>
                <a:gridCol w="5638800"/>
              </a:tblGrid>
              <a:tr h="1026511">
                <a:tc>
                  <a:txBody>
                    <a:bodyPr/>
                    <a:lstStyle/>
                    <a:p>
                      <a:r>
                        <a:rPr lang="en-IN" sz="2200" dirty="0">
                          <a:latin typeface="Times New Roman" pitchFamily="18" charset="0"/>
                          <a:cs typeface="Times New Roman" pitchFamily="18" charset="0"/>
                        </a:rPr>
                        <a:t>Select(</a:t>
                      </a:r>
                      <a:r>
                        <a:rPr lang="el-GR" sz="2200" dirty="0">
                          <a:latin typeface="Times New Roman" pitchFamily="18" charset="0"/>
                          <a:cs typeface="Times New Roman" pitchFamily="18" charset="0"/>
                        </a:rPr>
                        <a:t>σ)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SELECT operation is used for selecting a subset of the tuples according to a given selection condition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Projection(</a:t>
                      </a:r>
                      <a:r>
                        <a:rPr lang="el-GR" sz="2200" dirty="0">
                          <a:latin typeface="Times New Roman" pitchFamily="18" charset="0"/>
                          <a:cs typeface="Times New Roman" pitchFamily="18" charset="0"/>
                        </a:rPr>
                        <a:t>π)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projection eliminates all attributes of the input relation but those mentioned in the projection list.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Union Operation(∪)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UNION is symbolized by symbol. It includes all tuples that are in tables A or in B. </a:t>
                      </a:r>
                    </a:p>
                  </a:txBody>
                  <a:tcPr marL="37098" marR="37098" marT="18549" marB="18549" anchor="ctr">
                    <a:lnL>
                      <a:noFill/>
                    </a:lnL>
                    <a:lnR>
                      <a:noFill/>
                    </a:lnR>
                    <a:lnT>
                      <a:noFill/>
                    </a:lnT>
                    <a:lnB>
                      <a:noFill/>
                    </a:lnB>
                  </a:tcPr>
                </a:tc>
              </a:tr>
              <a:tr h="1026511">
                <a:tc>
                  <a:txBody>
                    <a:bodyPr/>
                    <a:lstStyle/>
                    <a:p>
                      <a:r>
                        <a:rPr lang="en-IN" sz="2200">
                          <a:latin typeface="Times New Roman" pitchFamily="18" charset="0"/>
                          <a:cs typeface="Times New Roman" pitchFamily="18" charset="0"/>
                        </a:rPr>
                        <a:t>Set Difference(-)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 Symbol denotes it. The result of A - B, is a relation which includes all tuples that are in A but not in B.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Intersection(∩)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Intersection defines a relation consisting of a set of all tuple that are in both A and B. </a:t>
                      </a:r>
                    </a:p>
                  </a:txBody>
                  <a:tcPr marL="37098" marR="37098" marT="18549" marB="18549" anchor="ctr">
                    <a:lnL>
                      <a:noFill/>
                    </a:lnL>
                    <a:lnR>
                      <a:noFill/>
                    </a:lnR>
                    <a:lnT>
                      <a:noFill/>
                    </a:lnT>
                    <a:lnB>
                      <a:noFill/>
                    </a:lnB>
                  </a:tcPr>
                </a:tc>
              </a:tr>
              <a:tr h="710320">
                <a:tc>
                  <a:txBody>
                    <a:bodyPr/>
                    <a:lstStyle/>
                    <a:p>
                      <a:r>
                        <a:rPr lang="en-IN" sz="2200">
                          <a:latin typeface="Times New Roman" pitchFamily="18" charset="0"/>
                          <a:cs typeface="Times New Roman" pitchFamily="18" charset="0"/>
                        </a:rPr>
                        <a:t>Cartesian Product(X)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Cartesian operation is helpful to merge columns from two relations. </a:t>
                      </a:r>
                    </a:p>
                  </a:txBody>
                  <a:tcPr marL="37098" marR="37098" marT="18549" marB="18549" anchor="ctr">
                    <a:lnL>
                      <a:noFill/>
                    </a:lnL>
                    <a:lnR>
                      <a:noFill/>
                    </a:lnR>
                    <a:lnT>
                      <a:noFill/>
                    </a:lnT>
                    <a:lnB>
                      <a:noFill/>
                    </a:lnB>
                  </a:tcPr>
                </a:tc>
              </a:tr>
              <a:tr h="710320">
                <a:tc>
                  <a:txBody>
                    <a:bodyPr/>
                    <a:lstStyle/>
                    <a:p>
                      <a:r>
                        <a:rPr lang="en-IN" sz="2200">
                          <a:latin typeface="Times New Roman" pitchFamily="18" charset="0"/>
                          <a:cs typeface="Times New Roman" pitchFamily="18" charset="0"/>
                        </a:rPr>
                        <a:t>Inner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Inner join, includes only those tuples that satisfy the matching criteria. </a:t>
                      </a:r>
                    </a:p>
                  </a:txBody>
                  <a:tcPr marL="37098" marR="37098" marT="18549" marB="18549" anchor="ctr">
                    <a:lnL>
                      <a:noFill/>
                    </a:lnL>
                    <a:lnR>
                      <a:noFill/>
                    </a:lnR>
                    <a:lnT>
                      <a:noFill/>
                    </a:lnT>
                    <a:lnB>
                      <a:noFill/>
                    </a:lnB>
                  </a:tcPr>
                </a:tc>
              </a:tr>
            </a:tbl>
          </a:graphicData>
        </a:graphic>
      </p:graphicFrame>
    </p:spTree>
    <p:extLst>
      <p:ext uri="{BB962C8B-B14F-4D97-AF65-F5344CB8AC3E}">
        <p14:creationId xmlns:p14="http://schemas.microsoft.com/office/powerpoint/2010/main" val="16783925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7442262"/>
              </p:ext>
            </p:extLst>
          </p:nvPr>
        </p:nvGraphicFramePr>
        <p:xfrm>
          <a:off x="381000" y="533400"/>
          <a:ext cx="8458200" cy="6019798"/>
        </p:xfrm>
        <a:graphic>
          <a:graphicData uri="http://schemas.openxmlformats.org/drawingml/2006/table">
            <a:tbl>
              <a:tblPr/>
              <a:tblGrid>
                <a:gridCol w="2438400"/>
                <a:gridCol w="6019800"/>
              </a:tblGrid>
              <a:tr h="757438">
                <a:tc>
                  <a:txBody>
                    <a:bodyPr/>
                    <a:lstStyle/>
                    <a:p>
                      <a:r>
                        <a:rPr lang="en-IN" sz="2200" dirty="0">
                          <a:latin typeface="Times New Roman" pitchFamily="18" charset="0"/>
                          <a:cs typeface="Times New Roman" pitchFamily="18" charset="0"/>
                        </a:rPr>
                        <a:t>Theta Join(</a:t>
                      </a:r>
                      <a:r>
                        <a:rPr lang="el-GR" sz="2200" dirty="0">
                          <a:latin typeface="Times New Roman" pitchFamily="18" charset="0"/>
                          <a:cs typeface="Times New Roman" pitchFamily="18" charset="0"/>
                        </a:rPr>
                        <a:t>θ)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general case of JOIN operation is called a Theta join. It is denoted by symbol θ. </a:t>
                      </a:r>
                    </a:p>
                  </a:txBody>
                  <a:tcPr marL="37098" marR="37098" marT="18549" marB="18549" anchor="ctr">
                    <a:lnL>
                      <a:noFill/>
                    </a:lnL>
                    <a:lnR>
                      <a:noFill/>
                    </a:lnR>
                    <a:lnT>
                      <a:noFill/>
                    </a:lnT>
                    <a:lnB>
                      <a:noFill/>
                    </a:lnB>
                  </a:tcPr>
                </a:tc>
              </a:tr>
              <a:tr h="757438">
                <a:tc>
                  <a:txBody>
                    <a:bodyPr/>
                    <a:lstStyle/>
                    <a:p>
                      <a:r>
                        <a:rPr lang="en-IN" sz="2200">
                          <a:latin typeface="Times New Roman" pitchFamily="18" charset="0"/>
                          <a:cs typeface="Times New Roman" pitchFamily="18" charset="0"/>
                        </a:rPr>
                        <a:t>EQUI Join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When a theta join uses only equivalence condition, it becomes a equi join. </a:t>
                      </a:r>
                    </a:p>
                  </a:txBody>
                  <a:tcPr marL="37098" marR="37098" marT="18549" marB="18549" anchor="ctr">
                    <a:lnL>
                      <a:noFill/>
                    </a:lnL>
                    <a:lnR>
                      <a:noFill/>
                    </a:lnR>
                    <a:lnT>
                      <a:noFill/>
                    </a:lnT>
                    <a:lnB>
                      <a:noFill/>
                    </a:lnB>
                  </a:tcPr>
                </a:tc>
              </a:tr>
              <a:tr h="1116304">
                <a:tc>
                  <a:txBody>
                    <a:bodyPr/>
                    <a:lstStyle/>
                    <a:p>
                      <a:r>
                        <a:rPr lang="en-IN" sz="2200">
                          <a:latin typeface="Times New Roman" pitchFamily="18" charset="0"/>
                          <a:cs typeface="Times New Roman" pitchFamily="18" charset="0"/>
                        </a:rPr>
                        <a:t>Natural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Natural join can only be performed if there is a common attribute (column) between the relations. </a:t>
                      </a:r>
                    </a:p>
                  </a:txBody>
                  <a:tcPr marL="37098" marR="37098" marT="18549" marB="18549" anchor="ctr">
                    <a:lnL>
                      <a:noFill/>
                    </a:lnL>
                    <a:lnR>
                      <a:noFill/>
                    </a:lnR>
                    <a:lnT>
                      <a:noFill/>
                    </a:lnT>
                    <a:lnB>
                      <a:noFill/>
                    </a:lnB>
                  </a:tcPr>
                </a:tc>
              </a:tr>
              <a:tr h="757438">
                <a:tc>
                  <a:txBody>
                    <a:bodyPr/>
                    <a:lstStyle/>
                    <a:p>
                      <a:r>
                        <a:rPr lang="en-IN" sz="2200">
                          <a:latin typeface="Times New Roman" pitchFamily="18" charset="0"/>
                          <a:cs typeface="Times New Roman" pitchFamily="18" charset="0"/>
                        </a:rPr>
                        <a:t>Outer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an outer join, along with tuples that satisfy the matching criteria. </a:t>
                      </a:r>
                    </a:p>
                  </a:txBody>
                  <a:tcPr marL="37098" marR="37098" marT="18549" marB="18549" anchor="ctr">
                    <a:lnL>
                      <a:noFill/>
                    </a:lnL>
                    <a:lnR>
                      <a:noFill/>
                    </a:lnR>
                    <a:lnT>
                      <a:noFill/>
                    </a:lnT>
                    <a:lnB>
                      <a:noFill/>
                    </a:lnB>
                  </a:tcPr>
                </a:tc>
              </a:tr>
              <a:tr h="757438">
                <a:tc>
                  <a:txBody>
                    <a:bodyPr/>
                    <a:lstStyle/>
                    <a:p>
                      <a:r>
                        <a:rPr lang="en-IN" sz="2200" dirty="0">
                          <a:latin typeface="Times New Roman" pitchFamily="18" charset="0"/>
                          <a:cs typeface="Times New Roman" pitchFamily="18" charset="0"/>
                        </a:rPr>
                        <a:t>Left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In the left outer join, operation allows keeping all tuple in the left relation. </a:t>
                      </a:r>
                    </a:p>
                  </a:txBody>
                  <a:tcPr marL="37098" marR="37098" marT="18549" marB="18549" anchor="ctr">
                    <a:lnL>
                      <a:noFill/>
                    </a:lnL>
                    <a:lnR>
                      <a:noFill/>
                    </a:lnR>
                    <a:lnT>
                      <a:noFill/>
                    </a:lnT>
                    <a:lnB>
                      <a:noFill/>
                    </a:lnB>
                  </a:tcPr>
                </a:tc>
              </a:tr>
              <a:tr h="757438">
                <a:tc>
                  <a:txBody>
                    <a:bodyPr/>
                    <a:lstStyle/>
                    <a:p>
                      <a:r>
                        <a:rPr lang="en-IN" sz="2200" dirty="0">
                          <a:latin typeface="Times New Roman" pitchFamily="18" charset="0"/>
                          <a:cs typeface="Times New Roman" pitchFamily="18" charset="0"/>
                        </a:rPr>
                        <a:t>Right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the right outer join, operation allows keeping all tuple in the right relation. </a:t>
                      </a:r>
                    </a:p>
                  </a:txBody>
                  <a:tcPr marL="37098" marR="37098" marT="18549" marB="18549" anchor="ctr">
                    <a:lnL>
                      <a:noFill/>
                    </a:lnL>
                    <a:lnR>
                      <a:noFill/>
                    </a:lnR>
                    <a:lnT>
                      <a:noFill/>
                    </a:lnT>
                    <a:lnB>
                      <a:noFill/>
                    </a:lnB>
                  </a:tcPr>
                </a:tc>
              </a:tr>
              <a:tr h="1116304">
                <a:tc>
                  <a:txBody>
                    <a:bodyPr/>
                    <a:lstStyle/>
                    <a:p>
                      <a:r>
                        <a:rPr lang="en-IN" sz="2200" dirty="0">
                          <a:latin typeface="Times New Roman" pitchFamily="18" charset="0"/>
                          <a:cs typeface="Times New Roman" pitchFamily="18" charset="0"/>
                        </a:rPr>
                        <a:t>Full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a full outer join, all tuples from both relations are included in the result irrespective of the matching condition. </a:t>
                      </a:r>
                    </a:p>
                  </a:txBody>
                  <a:tcPr marL="37098" marR="37098" marT="18549" marB="18549" anchor="ctr">
                    <a:lnL>
                      <a:noFill/>
                    </a:lnL>
                    <a:lnR>
                      <a:noFill/>
                    </a:lnR>
                    <a:lnT>
                      <a:noFill/>
                    </a:lnT>
                    <a:lnB>
                      <a:noFill/>
                    </a:lnB>
                  </a:tcPr>
                </a:tc>
              </a:tr>
            </a:tbl>
          </a:graphicData>
        </a:graphic>
      </p:graphicFrame>
    </p:spTree>
    <p:extLst>
      <p:ext uri="{BB962C8B-B14F-4D97-AF65-F5344CB8AC3E}">
        <p14:creationId xmlns:p14="http://schemas.microsoft.com/office/powerpoint/2010/main" val="18675640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1221</TotalTime>
  <Words>1279</Words>
  <Application>Microsoft Office PowerPoint</Application>
  <PresentationFormat>On-screen Show (4:3)</PresentationFormat>
  <Paragraphs>232</Paragraphs>
  <Slides>53</Slides>
  <Notes>6</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56" baseType="lpstr">
      <vt:lpstr>Office Theme</vt:lpstr>
      <vt:lpstr>Document</vt:lpstr>
      <vt:lpstr>Equation</vt:lpstr>
      <vt:lpstr>Relational Algebra</vt:lpstr>
      <vt:lpstr>Relational Algebra</vt:lpstr>
      <vt:lpstr>Relational Algebra in a DBMS</vt:lpstr>
      <vt:lpstr>Relational Algebra</vt:lpstr>
      <vt:lpstr>Relational Algebra</vt:lpstr>
      <vt:lpstr>Example Instances</vt:lpstr>
      <vt:lpstr>Relational Algebra</vt:lpstr>
      <vt:lpstr>Relational Algebra</vt:lpstr>
      <vt:lpstr>PowerPoint Presentation</vt:lpstr>
      <vt:lpstr>Relational Algebra</vt:lpstr>
      <vt:lpstr>Relational Algebra</vt:lpstr>
      <vt:lpstr>Relational Algebra</vt:lpstr>
      <vt:lpstr>PowerPoint Presentation</vt:lpstr>
      <vt:lpstr>PowerPoint Presentation</vt:lpstr>
      <vt:lpstr>Relational Algebra</vt:lpstr>
      <vt:lpstr>Relational Algebra</vt:lpstr>
      <vt:lpstr>Relational Algebra</vt:lpstr>
      <vt:lpstr>Relational Algebra</vt:lpstr>
      <vt:lpstr>PowerPoint Presentation</vt:lpstr>
      <vt:lpstr>Relational Algebra</vt:lpstr>
      <vt:lpstr>Relational Algebra</vt:lpstr>
      <vt:lpstr>Intersection</vt:lpstr>
      <vt:lpstr>Relational Algebra</vt:lpstr>
      <vt:lpstr>Relational Algebra</vt:lpstr>
      <vt:lpstr>PowerPoint Presentation</vt:lpstr>
      <vt:lpstr>Set Difference</vt:lpstr>
      <vt:lpstr>Relational Algebra</vt:lpstr>
      <vt:lpstr>Relational Algebra</vt:lpstr>
      <vt:lpstr>Cross-Product</vt:lpstr>
      <vt:lpstr>Cross Product Example</vt:lpstr>
      <vt:lpstr>Example: Joining Two Tables</vt:lpstr>
      <vt:lpstr>JOIN</vt:lpstr>
      <vt:lpstr>Types of JOIN</vt:lpstr>
      <vt:lpstr>Cross JOIN or Cartesian Product</vt:lpstr>
      <vt:lpstr>Example of Cross JOIN</vt:lpstr>
      <vt:lpstr>PowerPoint Presentation</vt:lpstr>
      <vt:lpstr>INNER Join or EQUI Join</vt:lpstr>
      <vt:lpstr>Example of INNER JOIN</vt:lpstr>
      <vt:lpstr>Example of INNER JOIN</vt:lpstr>
      <vt:lpstr>Natural JOIN</vt:lpstr>
      <vt:lpstr>Example of Natural JOIN</vt:lpstr>
      <vt:lpstr>Example of Natural JOIN</vt:lpstr>
      <vt:lpstr>OUTER JOIN</vt:lpstr>
      <vt:lpstr>LEFT Outer Join</vt:lpstr>
      <vt:lpstr>Example of Left Outer Join</vt:lpstr>
      <vt:lpstr>PowerPoint Presentation</vt:lpstr>
      <vt:lpstr>RIGHT Outer Join</vt:lpstr>
      <vt:lpstr>PowerPoint Presentation</vt:lpstr>
      <vt:lpstr>PowerPoint Presentation</vt:lpstr>
      <vt:lpstr>Full Outer Join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Algebra</dc:title>
  <dc:creator>VIT-Laptop</dc:creator>
  <cp:lastModifiedBy>DELL</cp:lastModifiedBy>
  <cp:revision>80</cp:revision>
  <dcterms:created xsi:type="dcterms:W3CDTF">2006-08-16T00:00:00Z</dcterms:created>
  <dcterms:modified xsi:type="dcterms:W3CDTF">2024-09-20T11:26:39Z</dcterms:modified>
</cp:coreProperties>
</file>