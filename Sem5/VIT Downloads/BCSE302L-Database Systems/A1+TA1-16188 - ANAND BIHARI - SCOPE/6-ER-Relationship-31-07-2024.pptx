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37"/>
  </p:notesMasterIdLst>
  <p:sldIdLst>
    <p:sldId id="256" r:id="rId2"/>
    <p:sldId id="281" r:id="rId3"/>
    <p:sldId id="286" r:id="rId4"/>
    <p:sldId id="287" r:id="rId5"/>
    <p:sldId id="288" r:id="rId6"/>
    <p:sldId id="260" r:id="rId7"/>
    <p:sldId id="261" r:id="rId8"/>
    <p:sldId id="262" r:id="rId9"/>
    <p:sldId id="263" r:id="rId10"/>
    <p:sldId id="264" r:id="rId11"/>
    <p:sldId id="265" r:id="rId12"/>
    <p:sldId id="266" r:id="rId13"/>
    <p:sldId id="282" r:id="rId14"/>
    <p:sldId id="268" r:id="rId15"/>
    <p:sldId id="269" r:id="rId16"/>
    <p:sldId id="283" r:id="rId17"/>
    <p:sldId id="284" r:id="rId18"/>
    <p:sldId id="272" r:id="rId19"/>
    <p:sldId id="285" r:id="rId20"/>
    <p:sldId id="274" r:id="rId21"/>
    <p:sldId id="275" r:id="rId22"/>
    <p:sldId id="276" r:id="rId23"/>
    <p:sldId id="277" r:id="rId24"/>
    <p:sldId id="278" r:id="rId25"/>
    <p:sldId id="279" r:id="rId26"/>
    <p:sldId id="280" r:id="rId27"/>
    <p:sldId id="292" r:id="rId28"/>
    <p:sldId id="293" r:id="rId29"/>
    <p:sldId id="297" r:id="rId30"/>
    <p:sldId id="294" r:id="rId31"/>
    <p:sldId id="295" r:id="rId32"/>
    <p:sldId id="296" r:id="rId33"/>
    <p:sldId id="289" r:id="rId34"/>
    <p:sldId id="290" r:id="rId35"/>
    <p:sldId id="291" r:id="rId36"/>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368" autoAdjust="0"/>
    <p:restoredTop sz="94660"/>
  </p:normalViewPr>
  <p:slideViewPr>
    <p:cSldViewPr>
      <p:cViewPr>
        <p:scale>
          <a:sx n="70" d="100"/>
          <a:sy n="70" d="100"/>
        </p:scale>
        <p:origin x="-1392" y="-7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viewProps" Target="viewProps.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notesMaster" Target="notesMasters/notesMaster1.xml"/><Relationship Id="rId40"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6B383C64-8A90-49B4-9F04-119FE0AB6B91}" type="datetimeFigureOut">
              <a:rPr lang="en-IN" smtClean="0"/>
              <a:t>02-08-2024</a:t>
            </a:fld>
            <a:endParaRPr lang="en-IN"/>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3EE37857-10EF-4BD1-86F0-27532E49909D}" type="slidenum">
              <a:rPr lang="en-IN" smtClean="0"/>
              <a:t>‹#›</a:t>
            </a:fld>
            <a:endParaRPr lang="en-IN"/>
          </a:p>
        </p:txBody>
      </p:sp>
    </p:spTree>
    <p:extLst>
      <p:ext uri="{BB962C8B-B14F-4D97-AF65-F5344CB8AC3E}">
        <p14:creationId xmlns:p14="http://schemas.microsoft.com/office/powerpoint/2010/main" val="8218040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85800"/>
            <a:ext cx="4572000" cy="3429000"/>
          </a:xfrm>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fld id="{9CEB2D1F-ED13-441D-8E1E-4F813734ED56}" type="slidenum">
              <a:rPr lang="en-GB" smtClean="0">
                <a:solidFill>
                  <a:prstClr val="black"/>
                </a:solidFill>
              </a:rPr>
              <a:pPr/>
              <a:t>4</a:t>
            </a:fld>
            <a:endParaRPr lang="en-GB">
              <a:solidFill>
                <a:prstClr val="black"/>
              </a:solidFill>
            </a:endParaRPr>
          </a:p>
        </p:txBody>
      </p:sp>
    </p:spTree>
    <p:extLst>
      <p:ext uri="{BB962C8B-B14F-4D97-AF65-F5344CB8AC3E}">
        <p14:creationId xmlns:p14="http://schemas.microsoft.com/office/powerpoint/2010/main" val="184481432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85800"/>
            <a:ext cx="4572000" cy="3429000"/>
          </a:xfrm>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fld id="{9CEB2D1F-ED13-441D-8E1E-4F813734ED56}" type="slidenum">
              <a:rPr lang="en-GB" smtClean="0">
                <a:solidFill>
                  <a:prstClr val="black"/>
                </a:solidFill>
              </a:rPr>
              <a:pPr/>
              <a:t>5</a:t>
            </a:fld>
            <a:endParaRPr lang="en-GB">
              <a:solidFill>
                <a:prstClr val="black"/>
              </a:solidFill>
            </a:endParaRPr>
          </a:p>
        </p:txBody>
      </p:sp>
    </p:spTree>
    <p:extLst>
      <p:ext uri="{BB962C8B-B14F-4D97-AF65-F5344CB8AC3E}">
        <p14:creationId xmlns:p14="http://schemas.microsoft.com/office/powerpoint/2010/main" val="344656678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Ref idx="1003">
        <a:schemeClr val="bg1"/>
      </p:bgRef>
    </p:bg>
    <p:spTree>
      <p:nvGrpSpPr>
        <p:cNvPr id="1" name=""/>
        <p:cNvGrpSpPr/>
        <p:nvPr/>
      </p:nvGrpSpPr>
      <p:grpSpPr>
        <a:xfrm>
          <a:off x="0" y="0"/>
          <a:ext cx="0" cy="0"/>
          <a:chOff x="0" y="0"/>
          <a:chExt cx="0" cy="0"/>
        </a:xfrm>
      </p:grpSpPr>
      <p:sp>
        <p:nvSpPr>
          <p:cNvPr id="12" name="Rectangle 11"/>
          <p:cNvSpPr/>
          <p:nvPr/>
        </p:nvSpPr>
        <p:spPr>
          <a:xfrm>
            <a:off x="0" y="0"/>
            <a:ext cx="9144000" cy="6858000"/>
          </a:xfrm>
          <a:prstGeom prst="rect">
            <a:avLst/>
          </a:prstGeom>
          <a:solidFill>
            <a:srgbClr val="FFFFFF"/>
          </a:solidFill>
          <a:ln w="1270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useBgFill="1">
        <p:nvSpPr>
          <p:cNvPr id="13" name="Rounded Rectangle 12"/>
          <p:cNvSpPr/>
          <p:nvPr/>
        </p:nvSpPr>
        <p:spPr>
          <a:xfrm>
            <a:off x="65313" y="69755"/>
            <a:ext cx="9013372" cy="6692201"/>
          </a:xfrm>
          <a:prstGeom prst="roundRect">
            <a:avLst>
              <a:gd name="adj" fmla="val 4929"/>
            </a:avLst>
          </a:prstGeom>
          <a:ln w="6350" cap="sq" cmpd="sng" algn="ctr">
            <a:solidFill>
              <a:schemeClr val="tx1">
                <a:alpha val="100000"/>
              </a:schemeClr>
            </a:solidFill>
            <a:prstDash val="solid"/>
          </a:ln>
          <a:effectLst/>
        </p:spPr>
        <p:style>
          <a:lnRef idx="3">
            <a:schemeClr val="lt1"/>
          </a:lnRef>
          <a:fillRef idx="1001">
            <a:schemeClr val="lt1"/>
          </a:fillRef>
          <a:effectRef idx="1">
            <a:schemeClr val="accent1"/>
          </a:effectRef>
          <a:fontRef idx="minor">
            <a:schemeClr val="lt1"/>
          </a:fontRef>
        </p:style>
        <p:txBody>
          <a:bodyPr anchor="ctr"/>
          <a:lstStyle/>
          <a:p>
            <a:pPr algn="ctr" eaLnBrk="1" latinLnBrk="0" hangingPunct="1"/>
            <a:endParaRPr kumimoji="0" lang="en-US"/>
          </a:p>
        </p:txBody>
      </p:sp>
      <p:sp>
        <p:nvSpPr>
          <p:cNvPr id="9" name="Subtitle 8"/>
          <p:cNvSpPr>
            <a:spLocks noGrp="1"/>
          </p:cNvSpPr>
          <p:nvPr>
            <p:ph type="subTitle" idx="1"/>
          </p:nvPr>
        </p:nvSpPr>
        <p:spPr>
          <a:xfrm>
            <a:off x="1295400" y="3200400"/>
            <a:ext cx="6400800" cy="1600200"/>
          </a:xfrm>
        </p:spPr>
        <p:txBody>
          <a:bodyPr/>
          <a:lstStyle>
            <a:lvl1pPr marL="0" indent="0" algn="ctr">
              <a:buNone/>
              <a:defRPr sz="2600">
                <a:solidFill>
                  <a:schemeClr val="tx2"/>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smtClean="0"/>
              <a:t>Click to edit Master subtitle style</a:t>
            </a:r>
            <a:endParaRPr kumimoji="0" lang="en-US"/>
          </a:p>
        </p:txBody>
      </p:sp>
      <p:sp>
        <p:nvSpPr>
          <p:cNvPr id="28" name="Date Placeholder 27"/>
          <p:cNvSpPr>
            <a:spLocks noGrp="1"/>
          </p:cNvSpPr>
          <p:nvPr>
            <p:ph type="dt" sz="half" idx="10"/>
          </p:nvPr>
        </p:nvSpPr>
        <p:spPr/>
        <p:txBody>
          <a:bodyPr/>
          <a:lstStyle/>
          <a:p>
            <a:fld id="{1D8BD707-D9CF-40AE-B4C6-C98DA3205C09}" type="datetimeFigureOut">
              <a:rPr lang="en-US" smtClean="0"/>
              <a:pPr/>
              <a:t>02-Aug-24</a:t>
            </a:fld>
            <a:endParaRPr lang="en-US"/>
          </a:p>
        </p:txBody>
      </p:sp>
      <p:sp>
        <p:nvSpPr>
          <p:cNvPr id="17" name="Footer Placeholder 16"/>
          <p:cNvSpPr>
            <a:spLocks noGrp="1"/>
          </p:cNvSpPr>
          <p:nvPr>
            <p:ph type="ftr" sz="quarter" idx="11"/>
          </p:nvPr>
        </p:nvSpPr>
        <p:spPr/>
        <p:txBody>
          <a:bodyPr/>
          <a:lstStyle/>
          <a:p>
            <a:endParaRPr lang="en-US"/>
          </a:p>
        </p:txBody>
      </p:sp>
      <p:sp>
        <p:nvSpPr>
          <p:cNvPr id="29" name="Slide Number Placeholder 28"/>
          <p:cNvSpPr>
            <a:spLocks noGrp="1"/>
          </p:cNvSpPr>
          <p:nvPr>
            <p:ph type="sldNum" sz="quarter" idx="12"/>
          </p:nvPr>
        </p:nvSpPr>
        <p:spPr/>
        <p:txBody>
          <a:bodyPr lIns="0" tIns="0" rIns="0" bIns="0">
            <a:noAutofit/>
          </a:bodyPr>
          <a:lstStyle>
            <a:lvl1pPr>
              <a:defRPr sz="1400">
                <a:solidFill>
                  <a:srgbClr val="FFFFFF"/>
                </a:solidFill>
              </a:defRPr>
            </a:lvl1pPr>
          </a:lstStyle>
          <a:p>
            <a:fld id="{B6F15528-21DE-4FAA-801E-634DDDAF4B2B}" type="slidenum">
              <a:rPr lang="en-US" smtClean="0"/>
              <a:pPr/>
              <a:t>‹#›</a:t>
            </a:fld>
            <a:endParaRPr lang="en-US"/>
          </a:p>
        </p:txBody>
      </p:sp>
      <p:sp>
        <p:nvSpPr>
          <p:cNvPr id="7" name="Rectangle 6"/>
          <p:cNvSpPr/>
          <p:nvPr/>
        </p:nvSpPr>
        <p:spPr>
          <a:xfrm>
            <a:off x="62931" y="1449303"/>
            <a:ext cx="9021537" cy="1527349"/>
          </a:xfrm>
          <a:prstGeom prst="rect">
            <a:avLst/>
          </a:prstGeom>
          <a:solidFill>
            <a:schemeClr val="accent1">
              <a:alpha val="10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0" name="Rectangle 9"/>
          <p:cNvSpPr/>
          <p:nvPr/>
        </p:nvSpPr>
        <p:spPr>
          <a:xfrm>
            <a:off x="62931" y="1396720"/>
            <a:ext cx="9021537" cy="120580"/>
          </a:xfrm>
          <a:prstGeom prst="rect">
            <a:avLst/>
          </a:prstGeom>
          <a:solidFill>
            <a:schemeClr val="accent1">
              <a:tint val="6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1" name="Rectangle 10"/>
          <p:cNvSpPr/>
          <p:nvPr/>
        </p:nvSpPr>
        <p:spPr>
          <a:xfrm>
            <a:off x="62931" y="2976649"/>
            <a:ext cx="9021537" cy="110532"/>
          </a:xfrm>
          <a:prstGeom prst="rect">
            <a:avLst/>
          </a:prstGeom>
          <a:solidFill>
            <a:schemeClr val="accent5"/>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Title 7"/>
          <p:cNvSpPr>
            <a:spLocks noGrp="1"/>
          </p:cNvSpPr>
          <p:nvPr>
            <p:ph type="ctrTitle"/>
          </p:nvPr>
        </p:nvSpPr>
        <p:spPr>
          <a:xfrm>
            <a:off x="457200" y="1505930"/>
            <a:ext cx="8229600" cy="1470025"/>
          </a:xfrm>
        </p:spPr>
        <p:txBody>
          <a:bodyPr anchor="ctr"/>
          <a:lstStyle>
            <a:lvl1pPr algn="ctr">
              <a:defRPr lang="en-US" dirty="0">
                <a:solidFill>
                  <a:srgbClr val="FFFFFF"/>
                </a:solidFill>
              </a:defRPr>
            </a:lvl1pPr>
          </a:lstStyle>
          <a:p>
            <a:r>
              <a:rPr kumimoji="0" lang="en-US" smtClean="0"/>
              <a:t>Click to edit Master title style</a:t>
            </a:r>
            <a:endParaRPr kumimoji="0" lang="en-US"/>
          </a:p>
        </p:txBody>
      </p:sp>
    </p:spTree>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4" name="Date Placeholder 3"/>
          <p:cNvSpPr>
            <a:spLocks noGrp="1"/>
          </p:cNvSpPr>
          <p:nvPr>
            <p:ph type="dt" sz="half" idx="10"/>
          </p:nvPr>
        </p:nvSpPr>
        <p:spPr/>
        <p:txBody>
          <a:bodyPr/>
          <a:lstStyle/>
          <a:p>
            <a:fld id="{1D8BD707-D9CF-40AE-B4C6-C98DA3205C09}" type="datetimeFigureOut">
              <a:rPr lang="en-US" smtClean="0"/>
              <a:pPr/>
              <a:t>02-Aug-24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
        <p:nvSpPr>
          <p:cNvPr id="8" name="Content Placeholder 7"/>
          <p:cNvSpPr>
            <a:spLocks noGrp="1"/>
          </p:cNvSpPr>
          <p:nvPr>
            <p:ph sz="quarter" idx="1"/>
          </p:nvPr>
        </p:nvSpPr>
        <p:spPr>
          <a:xfrm>
            <a:off x="914400" y="1447800"/>
            <a:ext cx="7772400" cy="4572000"/>
          </a:xfrm>
        </p:spPr>
        <p:txBody>
          <a:bodyPr vert="horz"/>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Ref idx="1003">
        <a:schemeClr val="bg1"/>
      </p:bgRef>
    </p:bg>
    <p:spTree>
      <p:nvGrpSpPr>
        <p:cNvPr id="1" name=""/>
        <p:cNvGrpSpPr/>
        <p:nvPr/>
      </p:nvGrpSpPr>
      <p:grpSpPr>
        <a:xfrm>
          <a:off x="0" y="0"/>
          <a:ext cx="0" cy="0"/>
          <a:chOff x="0" y="0"/>
          <a:chExt cx="0" cy="0"/>
        </a:xfrm>
      </p:grpSpPr>
      <p:sp>
        <p:nvSpPr>
          <p:cNvPr id="11" name="Rectangle 10"/>
          <p:cNvSpPr/>
          <p:nvPr/>
        </p:nvSpPr>
        <p:spPr>
          <a:xfrm>
            <a:off x="0" y="0"/>
            <a:ext cx="9144000" cy="6858000"/>
          </a:xfrm>
          <a:prstGeom prst="rect">
            <a:avLst/>
          </a:prstGeom>
          <a:solidFill>
            <a:srgbClr val="FFFFFF"/>
          </a:solidFill>
          <a:ln w="1270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useBgFill="1">
        <p:nvSpPr>
          <p:cNvPr id="10" name="Rounded Rectangle 9"/>
          <p:cNvSpPr/>
          <p:nvPr/>
        </p:nvSpPr>
        <p:spPr>
          <a:xfrm>
            <a:off x="65313" y="69755"/>
            <a:ext cx="9013372" cy="6692201"/>
          </a:xfrm>
          <a:prstGeom prst="roundRect">
            <a:avLst>
              <a:gd name="adj" fmla="val 4929"/>
            </a:avLst>
          </a:prstGeom>
          <a:ln w="6350" cap="sq" cmpd="sng" algn="ctr">
            <a:solidFill>
              <a:schemeClr val="tx1">
                <a:alpha val="100000"/>
              </a:schemeClr>
            </a:solidFill>
            <a:prstDash val="solid"/>
          </a:ln>
          <a:effectLst/>
        </p:spPr>
        <p:style>
          <a:lnRef idx="3">
            <a:schemeClr val="lt1"/>
          </a:lnRef>
          <a:fillRef idx="1003">
            <a:schemeClr val="lt1"/>
          </a:fillRef>
          <a:effectRef idx="1">
            <a:schemeClr val="accent1"/>
          </a:effectRef>
          <a:fontRef idx="minor">
            <a:schemeClr val="lt1"/>
          </a:fontRef>
        </p:style>
        <p:txBody>
          <a:bodyPr anchor="ctr"/>
          <a:lstStyle/>
          <a:p>
            <a:pPr algn="ctr" eaLnBrk="1" latinLnBrk="0" hangingPunct="1"/>
            <a:endParaRPr kumimoji="0" lang="en-US"/>
          </a:p>
        </p:txBody>
      </p:sp>
      <p:sp>
        <p:nvSpPr>
          <p:cNvPr id="2" name="Title 1"/>
          <p:cNvSpPr>
            <a:spLocks noGrp="1"/>
          </p:cNvSpPr>
          <p:nvPr>
            <p:ph type="title"/>
          </p:nvPr>
        </p:nvSpPr>
        <p:spPr>
          <a:xfrm>
            <a:off x="722313" y="952500"/>
            <a:ext cx="7772400" cy="1362075"/>
          </a:xfrm>
        </p:spPr>
        <p:txBody>
          <a:bodyPr anchor="b" anchorCtr="0"/>
          <a:lstStyle>
            <a:lvl1pPr algn="l">
              <a:buNone/>
              <a:defRPr sz="4000" b="0" cap="none"/>
            </a:lvl1pPr>
          </a:lstStyle>
          <a:p>
            <a:r>
              <a:rPr kumimoji="0" lang="en-US" smtClean="0"/>
              <a:t>Click to edit Master title style</a:t>
            </a:r>
            <a:endParaRPr kumimoji="0" lang="en-US"/>
          </a:p>
        </p:txBody>
      </p:sp>
      <p:sp>
        <p:nvSpPr>
          <p:cNvPr id="3" name="Text Placeholder 2"/>
          <p:cNvSpPr>
            <a:spLocks noGrp="1"/>
          </p:cNvSpPr>
          <p:nvPr>
            <p:ph type="body" idx="1"/>
          </p:nvPr>
        </p:nvSpPr>
        <p:spPr>
          <a:xfrm>
            <a:off x="722313" y="2547938"/>
            <a:ext cx="7772400" cy="1338262"/>
          </a:xfrm>
        </p:spPr>
        <p:txBody>
          <a:bodyPr anchor="t" anchorCtr="0"/>
          <a:lstStyle>
            <a:lvl1pPr marL="0" indent="0">
              <a:buNone/>
              <a:defRPr sz="2400">
                <a:solidFill>
                  <a:schemeClr val="tx1">
                    <a:tint val="75000"/>
                  </a:schemeClr>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02-Aug-24</a:t>
            </a:fld>
            <a:endParaRPr lang="en-US"/>
          </a:p>
        </p:txBody>
      </p:sp>
      <p:sp>
        <p:nvSpPr>
          <p:cNvPr id="5" name="Footer Placeholder 4"/>
          <p:cNvSpPr>
            <a:spLocks noGrp="1"/>
          </p:cNvSpPr>
          <p:nvPr>
            <p:ph type="ftr" sz="quarter" idx="11"/>
          </p:nvPr>
        </p:nvSpPr>
        <p:spPr>
          <a:xfrm>
            <a:off x="800100" y="6172200"/>
            <a:ext cx="4000500" cy="457200"/>
          </a:xfrm>
        </p:spPr>
        <p:txBody>
          <a:bodyPr/>
          <a:lstStyle/>
          <a:p>
            <a:endParaRPr lang="en-US"/>
          </a:p>
        </p:txBody>
      </p:sp>
      <p:sp>
        <p:nvSpPr>
          <p:cNvPr id="7" name="Rectangle 6"/>
          <p:cNvSpPr/>
          <p:nvPr/>
        </p:nvSpPr>
        <p:spPr>
          <a:xfrm flipV="1">
            <a:off x="69412" y="2376830"/>
            <a:ext cx="9013515" cy="91440"/>
          </a:xfrm>
          <a:prstGeom prst="rect">
            <a:avLst/>
          </a:prstGeom>
          <a:solidFill>
            <a:schemeClr val="accent1">
              <a:alpha val="10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Rectangle 7"/>
          <p:cNvSpPr/>
          <p:nvPr/>
        </p:nvSpPr>
        <p:spPr>
          <a:xfrm>
            <a:off x="69146" y="2341475"/>
            <a:ext cx="9013781" cy="45719"/>
          </a:xfrm>
          <a:prstGeom prst="rect">
            <a:avLst/>
          </a:prstGeom>
          <a:solidFill>
            <a:schemeClr val="accent1">
              <a:tint val="6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9" name="Rectangle 8"/>
          <p:cNvSpPr/>
          <p:nvPr/>
        </p:nvSpPr>
        <p:spPr>
          <a:xfrm>
            <a:off x="68306" y="2468880"/>
            <a:ext cx="9014621" cy="45720"/>
          </a:xfrm>
          <a:prstGeom prst="rect">
            <a:avLst/>
          </a:prstGeom>
          <a:solidFill>
            <a:schemeClr val="accent5"/>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6" name="Slide Number Placeholder 5"/>
          <p:cNvSpPr>
            <a:spLocks noGrp="1"/>
          </p:cNvSpPr>
          <p:nvPr>
            <p:ph type="sldNum" sz="quarter" idx="12"/>
          </p:nvPr>
        </p:nvSpPr>
        <p:spPr>
          <a:xfrm>
            <a:off x="146304" y="6208776"/>
            <a:ext cx="457200" cy="457200"/>
          </a:xfrm>
        </p:spPr>
        <p:txBody>
          <a:bodyPr/>
          <a:lstStyle/>
          <a:p>
            <a:fld id="{B6F15528-21DE-4FAA-801E-634DDDAF4B2B}" type="slidenum">
              <a:rPr lang="en-US" smtClean="0"/>
              <a:pPr/>
              <a:t>‹#›</a:t>
            </a:fld>
            <a:endParaRPr lang="en-US"/>
          </a:p>
        </p:txBody>
      </p:sp>
    </p:spTree>
  </p:cSld>
  <p:clrMapOvr>
    <a:overrideClrMapping bg1="lt1" tx1="dk1" bg2="lt2" tx2="dk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5" name="Date Placeholder 4"/>
          <p:cNvSpPr>
            <a:spLocks noGrp="1"/>
          </p:cNvSpPr>
          <p:nvPr>
            <p:ph type="dt" sz="half" idx="10"/>
          </p:nvPr>
        </p:nvSpPr>
        <p:spPr/>
        <p:txBody>
          <a:bodyPr/>
          <a:lstStyle/>
          <a:p>
            <a:fld id="{1D8BD707-D9CF-40AE-B4C6-C98DA3205C09}" type="datetimeFigureOut">
              <a:rPr lang="en-US" smtClean="0"/>
              <a:pPr/>
              <a:t>02-Aug-24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
        <p:nvSpPr>
          <p:cNvPr id="9" name="Content Placeholder 8"/>
          <p:cNvSpPr>
            <a:spLocks noGrp="1"/>
          </p:cNvSpPr>
          <p:nvPr>
            <p:ph sz="quarter" idx="1"/>
          </p:nvPr>
        </p:nvSpPr>
        <p:spPr>
          <a:xfrm>
            <a:off x="914400" y="1447800"/>
            <a:ext cx="3749040" cy="4572000"/>
          </a:xfrm>
        </p:spPr>
        <p:txBody>
          <a:bodyPr vert="horz"/>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11" name="Content Placeholder 10"/>
          <p:cNvSpPr>
            <a:spLocks noGrp="1"/>
          </p:cNvSpPr>
          <p:nvPr>
            <p:ph sz="quarter" idx="2"/>
          </p:nvPr>
        </p:nvSpPr>
        <p:spPr>
          <a:xfrm>
            <a:off x="4933950" y="1447800"/>
            <a:ext cx="3749040" cy="4572000"/>
          </a:xfrm>
        </p:spPr>
        <p:txBody>
          <a:bodyPr vert="horz"/>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914400" y="273050"/>
            <a:ext cx="7772400" cy="1143000"/>
          </a:xfrm>
        </p:spPr>
        <p:txBody>
          <a:bodyPr anchor="b" anchorCtr="0"/>
          <a:lstStyle>
            <a:lvl1pPr>
              <a:defRPr/>
            </a:lvl1pPr>
          </a:lstStyle>
          <a:p>
            <a:r>
              <a:rPr kumimoji="0" lang="en-US" smtClean="0"/>
              <a:t>Click to edit Master title style</a:t>
            </a:r>
            <a:endParaRPr kumimoji="0" lang="en-US"/>
          </a:p>
        </p:txBody>
      </p:sp>
      <p:sp>
        <p:nvSpPr>
          <p:cNvPr id="3" name="Text Placeholder 2"/>
          <p:cNvSpPr>
            <a:spLocks noGrp="1"/>
          </p:cNvSpPr>
          <p:nvPr>
            <p:ph type="body" idx="1"/>
          </p:nvPr>
        </p:nvSpPr>
        <p:spPr>
          <a:xfrm>
            <a:off x="914400" y="1447800"/>
            <a:ext cx="3733800" cy="762000"/>
          </a:xfrm>
          <a:noFill/>
          <a:ln w="12700" cap="sq" cmpd="sng" algn="ctr">
            <a:noFill/>
            <a:prstDash val="solid"/>
          </a:ln>
        </p:spPr>
        <p:txBody>
          <a:bodyPr lIns="91440" anchor="b" anchorCtr="0">
            <a:noAutofit/>
          </a:bodyPr>
          <a:lstStyle>
            <a:lvl1pPr marL="0" indent="0">
              <a:buNone/>
              <a:defRPr sz="2400" b="1">
                <a:solidFill>
                  <a:schemeClr val="accent1"/>
                </a:solidFill>
                <a:latin typeface="+mj-lt"/>
                <a:ea typeface="+mj-ea"/>
                <a:cs typeface="+mj-cs"/>
              </a:defRPr>
            </a:lvl1pPr>
            <a:lvl2pPr>
              <a:buNone/>
              <a:defRPr sz="2000" b="1"/>
            </a:lvl2pPr>
            <a:lvl3pPr>
              <a:buNone/>
              <a:defRPr sz="1800" b="1"/>
            </a:lvl3pPr>
            <a:lvl4pPr>
              <a:buNone/>
              <a:defRPr sz="1600" b="1"/>
            </a:lvl4pPr>
            <a:lvl5pPr>
              <a:buNone/>
              <a:defRPr sz="1600" b="1"/>
            </a:lvl5pPr>
          </a:lstStyle>
          <a:p>
            <a:pPr lvl="0" eaLnBrk="1" latinLnBrk="0" hangingPunct="1"/>
            <a:r>
              <a:rPr kumimoji="0" lang="en-US" smtClean="0"/>
              <a:t>Click to edit Master text styles</a:t>
            </a:r>
          </a:p>
        </p:txBody>
      </p:sp>
      <p:sp>
        <p:nvSpPr>
          <p:cNvPr id="4" name="Text Placeholder 3"/>
          <p:cNvSpPr>
            <a:spLocks noGrp="1"/>
          </p:cNvSpPr>
          <p:nvPr>
            <p:ph type="body" sz="half" idx="3"/>
          </p:nvPr>
        </p:nvSpPr>
        <p:spPr>
          <a:xfrm>
            <a:off x="4953000" y="1447800"/>
            <a:ext cx="3733800" cy="762000"/>
          </a:xfrm>
          <a:noFill/>
          <a:ln w="12700" cap="sq" cmpd="sng" algn="ctr">
            <a:noFill/>
            <a:prstDash val="solid"/>
          </a:ln>
        </p:spPr>
        <p:txBody>
          <a:bodyPr lIns="91440" anchor="b" anchorCtr="0">
            <a:noAutofit/>
          </a:bodyPr>
          <a:lstStyle>
            <a:lvl1pPr marL="0" indent="0">
              <a:buNone/>
              <a:defRPr sz="2400" b="1">
                <a:solidFill>
                  <a:schemeClr val="accent1"/>
                </a:solidFill>
                <a:latin typeface="+mj-lt"/>
                <a:ea typeface="+mj-ea"/>
                <a:cs typeface="+mj-cs"/>
              </a:defRPr>
            </a:lvl1pPr>
            <a:lvl2pPr>
              <a:buNone/>
              <a:defRPr sz="2000" b="1"/>
            </a:lvl2pPr>
            <a:lvl3pPr>
              <a:buNone/>
              <a:defRPr sz="1800" b="1"/>
            </a:lvl3pPr>
            <a:lvl4pPr>
              <a:buNone/>
              <a:defRPr sz="1600" b="1"/>
            </a:lvl4pPr>
            <a:lvl5pPr>
              <a:buNone/>
              <a:defRPr sz="1600" b="1"/>
            </a:lvl5pPr>
          </a:lstStyle>
          <a:p>
            <a:pPr lvl="0" eaLnBrk="1" latinLnBrk="0" hangingPunct="1"/>
            <a:r>
              <a:rPr kumimoji="0" lang="en-US" smtClean="0"/>
              <a:t>Click to edit Master text styles</a:t>
            </a:r>
          </a:p>
        </p:txBody>
      </p:sp>
      <p:sp>
        <p:nvSpPr>
          <p:cNvPr id="7" name="Date Placeholder 6"/>
          <p:cNvSpPr>
            <a:spLocks noGrp="1"/>
          </p:cNvSpPr>
          <p:nvPr>
            <p:ph type="dt" sz="half" idx="10"/>
          </p:nvPr>
        </p:nvSpPr>
        <p:spPr/>
        <p:txBody>
          <a:bodyPr/>
          <a:lstStyle/>
          <a:p>
            <a:fld id="{1D8BD707-D9CF-40AE-B4C6-C98DA3205C09}" type="datetimeFigureOut">
              <a:rPr lang="en-US" smtClean="0"/>
              <a:pPr/>
              <a:t>02-Aug-24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
        <p:nvSpPr>
          <p:cNvPr id="11" name="Content Placeholder 10"/>
          <p:cNvSpPr>
            <a:spLocks noGrp="1"/>
          </p:cNvSpPr>
          <p:nvPr>
            <p:ph sz="half" idx="2"/>
          </p:nvPr>
        </p:nvSpPr>
        <p:spPr>
          <a:xfrm>
            <a:off x="914400" y="2247900"/>
            <a:ext cx="3733800" cy="3886200"/>
          </a:xfrm>
        </p:spPr>
        <p:txBody>
          <a:bodyPr vert="horz"/>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13" name="Content Placeholder 12"/>
          <p:cNvSpPr>
            <a:spLocks noGrp="1"/>
          </p:cNvSpPr>
          <p:nvPr>
            <p:ph sz="half" idx="4"/>
          </p:nvPr>
        </p:nvSpPr>
        <p:spPr>
          <a:xfrm>
            <a:off x="4953000" y="2247900"/>
            <a:ext cx="3733800" cy="3886200"/>
          </a:xfrm>
        </p:spPr>
        <p:txBody>
          <a:bodyPr vert="horz"/>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Date Placeholder 2"/>
          <p:cNvSpPr>
            <a:spLocks noGrp="1"/>
          </p:cNvSpPr>
          <p:nvPr>
            <p:ph type="dt" sz="half" idx="10"/>
          </p:nvPr>
        </p:nvSpPr>
        <p:spPr/>
        <p:txBody>
          <a:bodyPr/>
          <a:lstStyle/>
          <a:p>
            <a:fld id="{1D8BD707-D9CF-40AE-B4C6-C98DA3205C09}" type="datetimeFigureOut">
              <a:rPr lang="en-US" smtClean="0"/>
              <a:pPr/>
              <a:t>02-Aug-24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02-Aug-24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8" name="Rectangle 7"/>
          <p:cNvSpPr/>
          <p:nvPr/>
        </p:nvSpPr>
        <p:spPr>
          <a:xfrm>
            <a:off x="0" y="0"/>
            <a:ext cx="9144000" cy="6858000"/>
          </a:xfrm>
          <a:prstGeom prst="rect">
            <a:avLst/>
          </a:prstGeom>
          <a:solidFill>
            <a:srgbClr val="FFFFFF"/>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useBgFill="1">
        <p:nvSpPr>
          <p:cNvPr id="9" name="Rounded Rectangle 8"/>
          <p:cNvSpPr/>
          <p:nvPr/>
        </p:nvSpPr>
        <p:spPr>
          <a:xfrm>
            <a:off x="64008" y="69755"/>
            <a:ext cx="9013372" cy="6693408"/>
          </a:xfrm>
          <a:prstGeom prst="roundRect">
            <a:avLst>
              <a:gd name="adj" fmla="val 4929"/>
            </a:avLst>
          </a:prstGeom>
          <a:ln w="6350" cap="sq" cmpd="sng" algn="ctr">
            <a:solidFill>
              <a:schemeClr val="tx1">
                <a:alpha val="100000"/>
              </a:schemeClr>
            </a:solidFill>
            <a:prstDash val="solid"/>
          </a:ln>
          <a:effectLst/>
        </p:spPr>
        <p:style>
          <a:lnRef idx="3">
            <a:schemeClr val="lt1"/>
          </a:lnRef>
          <a:fillRef idx="1001">
            <a:schemeClr val="lt1"/>
          </a:fillRef>
          <a:effectRef idx="1">
            <a:schemeClr val="accent1"/>
          </a:effectRef>
          <a:fontRef idx="minor">
            <a:schemeClr val="lt1"/>
          </a:fontRef>
        </p:style>
        <p:txBody>
          <a:bodyPr anchor="ctr"/>
          <a:lstStyle/>
          <a:p>
            <a:pPr algn="ctr" eaLnBrk="1" latinLnBrk="0" hangingPunct="1"/>
            <a:endParaRPr kumimoji="0" lang="en-US"/>
          </a:p>
        </p:txBody>
      </p:sp>
      <p:sp>
        <p:nvSpPr>
          <p:cNvPr id="2" name="Title 1"/>
          <p:cNvSpPr>
            <a:spLocks noGrp="1"/>
          </p:cNvSpPr>
          <p:nvPr>
            <p:ph type="title"/>
          </p:nvPr>
        </p:nvSpPr>
        <p:spPr>
          <a:xfrm>
            <a:off x="914400" y="273050"/>
            <a:ext cx="7772400" cy="1143000"/>
          </a:xfrm>
        </p:spPr>
        <p:txBody>
          <a:bodyPr anchor="b" anchorCtr="0"/>
          <a:lstStyle>
            <a:lvl1pPr algn="l">
              <a:buNone/>
              <a:defRPr sz="4000" b="0"/>
            </a:lvl1pPr>
          </a:lstStyle>
          <a:p>
            <a:r>
              <a:rPr kumimoji="0" lang="en-US" smtClean="0"/>
              <a:t>Click to edit Master title style</a:t>
            </a:r>
            <a:endParaRPr kumimoji="0" lang="en-US"/>
          </a:p>
        </p:txBody>
      </p:sp>
      <p:sp>
        <p:nvSpPr>
          <p:cNvPr id="3" name="Text Placeholder 2"/>
          <p:cNvSpPr>
            <a:spLocks noGrp="1"/>
          </p:cNvSpPr>
          <p:nvPr>
            <p:ph type="body" idx="2"/>
          </p:nvPr>
        </p:nvSpPr>
        <p:spPr>
          <a:xfrm>
            <a:off x="914400" y="1600200"/>
            <a:ext cx="1905000" cy="4495800"/>
          </a:xfrm>
        </p:spPr>
        <p:txBody>
          <a:bodyPr/>
          <a:lstStyle>
            <a:lvl1pPr marL="0" indent="0">
              <a:buNone/>
              <a:defRPr sz="1800"/>
            </a:lvl1pPr>
            <a:lvl2pPr>
              <a:buNone/>
              <a:defRPr sz="1200"/>
            </a:lvl2pPr>
            <a:lvl3pPr>
              <a:buNone/>
              <a:defRPr sz="1000"/>
            </a:lvl3pPr>
            <a:lvl4pPr>
              <a:buNone/>
              <a:defRPr sz="900"/>
            </a:lvl4pPr>
            <a:lvl5pPr>
              <a:buNone/>
              <a:defRPr sz="900"/>
            </a:lvl5pPr>
          </a:lstStyle>
          <a:p>
            <a:pPr lvl="0" eaLnBrk="1" latinLnBrk="0" hangingPunct="1"/>
            <a:r>
              <a:rPr kumimoji="0"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02-Aug-24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
        <p:nvSpPr>
          <p:cNvPr id="11" name="Content Placeholder 10"/>
          <p:cNvSpPr>
            <a:spLocks noGrp="1"/>
          </p:cNvSpPr>
          <p:nvPr>
            <p:ph sz="quarter" idx="1"/>
          </p:nvPr>
        </p:nvSpPr>
        <p:spPr>
          <a:xfrm>
            <a:off x="2971800" y="1600200"/>
            <a:ext cx="5715000" cy="4495800"/>
          </a:xfrm>
        </p:spPr>
        <p:txBody>
          <a:bodyPr vert="horz"/>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14400" y="4900550"/>
            <a:ext cx="7315200" cy="522288"/>
          </a:xfrm>
        </p:spPr>
        <p:txBody>
          <a:bodyPr anchor="ctr">
            <a:noAutofit/>
          </a:bodyPr>
          <a:lstStyle>
            <a:lvl1pPr algn="l">
              <a:buNone/>
              <a:defRPr sz="2800" b="0"/>
            </a:lvl1pPr>
          </a:lstStyle>
          <a:p>
            <a:r>
              <a:rPr kumimoji="0" lang="en-US" smtClean="0"/>
              <a:t>Click to edit Master title style</a:t>
            </a:r>
            <a:endParaRPr kumimoji="0" lang="en-US"/>
          </a:p>
        </p:txBody>
      </p:sp>
      <p:sp>
        <p:nvSpPr>
          <p:cNvPr id="4" name="Text Placeholder 3"/>
          <p:cNvSpPr>
            <a:spLocks noGrp="1"/>
          </p:cNvSpPr>
          <p:nvPr>
            <p:ph type="body" sz="half" idx="2"/>
          </p:nvPr>
        </p:nvSpPr>
        <p:spPr>
          <a:xfrm>
            <a:off x="914400" y="5445825"/>
            <a:ext cx="7315200" cy="685800"/>
          </a:xfrm>
        </p:spPr>
        <p:txBody>
          <a:bodyPr/>
          <a:lstStyle>
            <a:lvl1pPr marL="0" indent="0">
              <a:buFontTx/>
              <a:buNone/>
              <a:defRPr sz="1600"/>
            </a:lvl1pPr>
            <a:lvl2pPr>
              <a:defRPr sz="1200"/>
            </a:lvl2pPr>
            <a:lvl3pPr>
              <a:defRPr sz="1000"/>
            </a:lvl3pPr>
            <a:lvl4pPr>
              <a:defRPr sz="900"/>
            </a:lvl4pPr>
            <a:lvl5pPr>
              <a:defRPr sz="900"/>
            </a:lvl5pPr>
          </a:lstStyle>
          <a:p>
            <a:pPr lvl="0" eaLnBrk="1" latinLnBrk="0" hangingPunct="1"/>
            <a:r>
              <a:rPr kumimoji="0"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02-Aug-24</a:t>
            </a:fld>
            <a:endParaRPr lang="en-US"/>
          </a:p>
        </p:txBody>
      </p:sp>
      <p:sp>
        <p:nvSpPr>
          <p:cNvPr id="6" name="Footer Placeholder 5"/>
          <p:cNvSpPr>
            <a:spLocks noGrp="1"/>
          </p:cNvSpPr>
          <p:nvPr>
            <p:ph type="ftr" sz="quarter" idx="11"/>
          </p:nvPr>
        </p:nvSpPr>
        <p:spPr>
          <a:xfrm>
            <a:off x="914400" y="6172200"/>
            <a:ext cx="3886200" cy="457200"/>
          </a:xfrm>
        </p:spPr>
        <p:txBody>
          <a:bodyPr/>
          <a:lstStyle/>
          <a:p>
            <a:endParaRPr lang="en-US"/>
          </a:p>
        </p:txBody>
      </p:sp>
      <p:sp>
        <p:nvSpPr>
          <p:cNvPr id="7" name="Slide Number Placeholder 6"/>
          <p:cNvSpPr>
            <a:spLocks noGrp="1"/>
          </p:cNvSpPr>
          <p:nvPr>
            <p:ph type="sldNum" sz="quarter" idx="12"/>
          </p:nvPr>
        </p:nvSpPr>
        <p:spPr>
          <a:xfrm>
            <a:off x="146304" y="6208776"/>
            <a:ext cx="457200" cy="457200"/>
          </a:xfrm>
        </p:spPr>
        <p:txBody>
          <a:bodyPr/>
          <a:lstStyle/>
          <a:p>
            <a:fld id="{B6F15528-21DE-4FAA-801E-634DDDAF4B2B}" type="slidenum">
              <a:rPr lang="en-US" smtClean="0"/>
              <a:pPr/>
              <a:t>‹#›</a:t>
            </a:fld>
            <a:endParaRPr lang="en-US"/>
          </a:p>
        </p:txBody>
      </p:sp>
      <p:sp>
        <p:nvSpPr>
          <p:cNvPr id="11" name="Rectangle 10"/>
          <p:cNvSpPr/>
          <p:nvPr/>
        </p:nvSpPr>
        <p:spPr>
          <a:xfrm flipV="1">
            <a:off x="68307" y="4683555"/>
            <a:ext cx="9006840" cy="91440"/>
          </a:xfrm>
          <a:prstGeom prst="rect">
            <a:avLst/>
          </a:prstGeom>
          <a:solidFill>
            <a:schemeClr val="accent1">
              <a:alpha val="10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2" name="Rectangle 11"/>
          <p:cNvSpPr/>
          <p:nvPr/>
        </p:nvSpPr>
        <p:spPr>
          <a:xfrm>
            <a:off x="68508" y="4650474"/>
            <a:ext cx="9006639" cy="45719"/>
          </a:xfrm>
          <a:prstGeom prst="rect">
            <a:avLst/>
          </a:prstGeom>
          <a:solidFill>
            <a:schemeClr val="accent1">
              <a:tint val="6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3" name="Rectangle 12"/>
          <p:cNvSpPr/>
          <p:nvPr/>
        </p:nvSpPr>
        <p:spPr>
          <a:xfrm>
            <a:off x="68510" y="4773224"/>
            <a:ext cx="9006637" cy="48807"/>
          </a:xfrm>
          <a:prstGeom prst="rect">
            <a:avLst/>
          </a:prstGeom>
          <a:solidFill>
            <a:schemeClr val="accent5"/>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3" name="Picture Placeholder 2"/>
          <p:cNvSpPr>
            <a:spLocks noGrp="1"/>
          </p:cNvSpPr>
          <p:nvPr>
            <p:ph type="pic" idx="1"/>
          </p:nvPr>
        </p:nvSpPr>
        <p:spPr>
          <a:xfrm>
            <a:off x="68308" y="66675"/>
            <a:ext cx="9001873" cy="4581525"/>
          </a:xfrm>
          <a:prstGeom prst="round2SameRect">
            <a:avLst>
              <a:gd name="adj1" fmla="val 7101"/>
              <a:gd name="adj2" fmla="val 0"/>
            </a:avLst>
          </a:prstGeom>
          <a:solidFill>
            <a:schemeClr val="bg2"/>
          </a:solidFill>
          <a:ln w="6350">
            <a:solidFill>
              <a:schemeClr val="tx1"/>
            </a:solidFill>
          </a:ln>
        </p:spPr>
        <p:txBody>
          <a:bodyPr/>
          <a:lstStyle>
            <a:lvl1pPr marL="0" indent="0">
              <a:buNone/>
              <a:defRPr sz="3200"/>
            </a:lvl1pPr>
          </a:lstStyle>
          <a:p>
            <a:r>
              <a:rPr kumimoji="0" lang="en-US" smtClean="0"/>
              <a:t>Click icon to add picture</a:t>
            </a:r>
            <a:endParaRPr kumimoji="0"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1D8BD707-D9CF-40AE-B4C6-C98DA3205C09}" type="datetimeFigureOut">
              <a:rPr lang="en-US" smtClean="0"/>
              <a:pPr/>
              <a:t>02-Aug-24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41"/>
            <a:ext cx="2011680" cy="5851525"/>
          </a:xfrm>
        </p:spPr>
        <p:txBody>
          <a:bodyPr vert="eaVert"/>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a:xfrm>
            <a:off x="914400" y="274640"/>
            <a:ext cx="5562600" cy="5851525"/>
          </a:xfrm>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1D8BD707-D9CF-40AE-B4C6-C98DA3205C09}" type="datetimeFigureOut">
              <a:rPr lang="en-US" smtClean="0"/>
              <a:pPr/>
              <a:t>02-Aug-24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9" name="Rectangle 8"/>
          <p:cNvSpPr/>
          <p:nvPr/>
        </p:nvSpPr>
        <p:spPr>
          <a:xfrm>
            <a:off x="0" y="0"/>
            <a:ext cx="9144000" cy="6858000"/>
          </a:xfrm>
          <a:prstGeom prst="rect">
            <a:avLst/>
          </a:prstGeom>
          <a:solidFill>
            <a:srgbClr val="FFFFFF"/>
          </a:solidFill>
          <a:ln w="1270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useBgFill="1">
        <p:nvSpPr>
          <p:cNvPr id="8" name="Rounded Rectangle 7"/>
          <p:cNvSpPr/>
          <p:nvPr/>
        </p:nvSpPr>
        <p:spPr>
          <a:xfrm>
            <a:off x="64008" y="69755"/>
            <a:ext cx="9013372" cy="6693408"/>
          </a:xfrm>
          <a:prstGeom prst="roundRect">
            <a:avLst>
              <a:gd name="adj" fmla="val 4929"/>
            </a:avLst>
          </a:prstGeom>
          <a:ln w="6350" cap="sq" cmpd="sng" algn="ctr">
            <a:solidFill>
              <a:schemeClr val="tx1">
                <a:alpha val="100000"/>
              </a:schemeClr>
            </a:solidFill>
            <a:prstDash val="solid"/>
          </a:ln>
          <a:effectLst/>
        </p:spPr>
        <p:style>
          <a:lnRef idx="3">
            <a:schemeClr val="lt1"/>
          </a:lnRef>
          <a:fillRef idx="1001">
            <a:schemeClr val="lt1"/>
          </a:fillRef>
          <a:effectRef idx="1">
            <a:schemeClr val="accent1"/>
          </a:effectRef>
          <a:fontRef idx="minor">
            <a:schemeClr val="lt1"/>
          </a:fontRef>
        </p:style>
        <p:txBody>
          <a:bodyPr anchor="ctr"/>
          <a:lstStyle/>
          <a:p>
            <a:pPr algn="ctr" eaLnBrk="1" latinLnBrk="0" hangingPunct="1"/>
            <a:endParaRPr kumimoji="0" lang="en-US"/>
          </a:p>
        </p:txBody>
      </p:sp>
      <p:sp>
        <p:nvSpPr>
          <p:cNvPr id="22" name="Title Placeholder 21"/>
          <p:cNvSpPr>
            <a:spLocks noGrp="1"/>
          </p:cNvSpPr>
          <p:nvPr>
            <p:ph type="title"/>
          </p:nvPr>
        </p:nvSpPr>
        <p:spPr>
          <a:xfrm>
            <a:off x="914400" y="274638"/>
            <a:ext cx="7772400" cy="1143000"/>
          </a:xfrm>
          <a:prstGeom prst="rect">
            <a:avLst/>
          </a:prstGeom>
        </p:spPr>
        <p:txBody>
          <a:bodyPr bIns="91440" anchor="b" anchorCtr="0">
            <a:normAutofit/>
          </a:bodyPr>
          <a:lstStyle/>
          <a:p>
            <a:r>
              <a:rPr kumimoji="0" lang="en-US" smtClean="0"/>
              <a:t>Click to edit Master title style</a:t>
            </a:r>
            <a:endParaRPr kumimoji="0" lang="en-US"/>
          </a:p>
        </p:txBody>
      </p:sp>
      <p:sp>
        <p:nvSpPr>
          <p:cNvPr id="13" name="Text Placeholder 12"/>
          <p:cNvSpPr>
            <a:spLocks noGrp="1"/>
          </p:cNvSpPr>
          <p:nvPr>
            <p:ph type="body" idx="1"/>
          </p:nvPr>
        </p:nvSpPr>
        <p:spPr>
          <a:xfrm>
            <a:off x="914400" y="1447800"/>
            <a:ext cx="7772400" cy="4572000"/>
          </a:xfrm>
          <a:prstGeom prst="rect">
            <a:avLst/>
          </a:prstGeom>
        </p:spPr>
        <p:txBody>
          <a:bodyPr>
            <a:normAutofit/>
          </a:bodyPr>
          <a:lstStyle/>
          <a:p>
            <a:pPr lvl="0" eaLnBrk="1" latinLnBrk="0" hangingPunct="1"/>
            <a:r>
              <a:rPr kumimoji="0" lang="en-US" smtClean="0"/>
              <a:t>Click to edit Master text styles</a:t>
            </a:r>
          </a:p>
          <a:p>
            <a:pPr lvl="1" eaLnBrk="1" latinLnBrk="0" hangingPunct="1"/>
            <a:r>
              <a:rPr kumimoji="0" lang="en-US" smtClean="0"/>
              <a:t>Second level</a:t>
            </a:r>
          </a:p>
          <a:p>
            <a:pPr lvl="2" eaLnBrk="1" latinLnBrk="0" hangingPunct="1"/>
            <a:r>
              <a:rPr kumimoji="0" lang="en-US" smtClean="0"/>
              <a:t>Third level</a:t>
            </a:r>
          </a:p>
          <a:p>
            <a:pPr lvl="3" eaLnBrk="1" latinLnBrk="0" hangingPunct="1"/>
            <a:r>
              <a:rPr kumimoji="0" lang="en-US" smtClean="0"/>
              <a:t>Fourth level</a:t>
            </a:r>
          </a:p>
          <a:p>
            <a:pPr lvl="4" eaLnBrk="1" latinLnBrk="0" hangingPunct="1"/>
            <a:r>
              <a:rPr kumimoji="0" lang="en-US" smtClean="0"/>
              <a:t>Fifth level</a:t>
            </a:r>
            <a:endParaRPr kumimoji="0" lang="en-US"/>
          </a:p>
        </p:txBody>
      </p:sp>
      <p:sp>
        <p:nvSpPr>
          <p:cNvPr id="14" name="Date Placeholder 13"/>
          <p:cNvSpPr>
            <a:spLocks noGrp="1"/>
          </p:cNvSpPr>
          <p:nvPr>
            <p:ph type="dt" sz="half" idx="2"/>
          </p:nvPr>
        </p:nvSpPr>
        <p:spPr>
          <a:xfrm>
            <a:off x="6172200" y="6191250"/>
            <a:ext cx="2476500" cy="476250"/>
          </a:xfrm>
          <a:prstGeom prst="rect">
            <a:avLst/>
          </a:prstGeom>
        </p:spPr>
        <p:txBody>
          <a:bodyPr anchor="ctr" anchorCtr="0"/>
          <a:lstStyle>
            <a:lvl1pPr algn="r" eaLnBrk="1" latinLnBrk="0" hangingPunct="1">
              <a:defRPr kumimoji="0" sz="1400">
                <a:solidFill>
                  <a:schemeClr val="tx2"/>
                </a:solidFill>
              </a:defRPr>
            </a:lvl1pPr>
          </a:lstStyle>
          <a:p>
            <a:fld id="{1D8BD707-D9CF-40AE-B4C6-C98DA3205C09}" type="datetimeFigureOut">
              <a:rPr lang="en-US" smtClean="0"/>
              <a:pPr/>
              <a:t>02-Aug-24</a:t>
            </a:fld>
            <a:endParaRPr lang="en-US"/>
          </a:p>
        </p:txBody>
      </p:sp>
      <p:sp>
        <p:nvSpPr>
          <p:cNvPr id="3" name="Footer Placeholder 2"/>
          <p:cNvSpPr>
            <a:spLocks noGrp="1"/>
          </p:cNvSpPr>
          <p:nvPr>
            <p:ph type="ftr" sz="quarter" idx="3"/>
          </p:nvPr>
        </p:nvSpPr>
        <p:spPr>
          <a:xfrm>
            <a:off x="914400" y="6172200"/>
            <a:ext cx="3962400" cy="457200"/>
          </a:xfrm>
          <a:prstGeom prst="rect">
            <a:avLst/>
          </a:prstGeom>
        </p:spPr>
        <p:txBody>
          <a:bodyPr anchor="ctr" anchorCtr="0"/>
          <a:lstStyle>
            <a:lvl1pPr eaLnBrk="1" latinLnBrk="0" hangingPunct="1">
              <a:defRPr kumimoji="0" sz="1400">
                <a:solidFill>
                  <a:schemeClr val="tx2"/>
                </a:solidFill>
              </a:defRPr>
            </a:lvl1pPr>
          </a:lstStyle>
          <a:p>
            <a:endParaRPr lang="en-US"/>
          </a:p>
        </p:txBody>
      </p:sp>
      <p:sp>
        <p:nvSpPr>
          <p:cNvPr id="23" name="Slide Number Placeholder 22"/>
          <p:cNvSpPr>
            <a:spLocks noGrp="1"/>
          </p:cNvSpPr>
          <p:nvPr>
            <p:ph type="sldNum" sz="quarter" idx="4"/>
          </p:nvPr>
        </p:nvSpPr>
        <p:spPr>
          <a:xfrm>
            <a:off x="146304" y="6210300"/>
            <a:ext cx="457200" cy="457200"/>
          </a:xfrm>
          <a:prstGeom prst="ellipse">
            <a:avLst/>
          </a:prstGeom>
          <a:solidFill>
            <a:schemeClr val="accent1"/>
          </a:solidFill>
        </p:spPr>
        <p:txBody>
          <a:bodyPr wrap="none" lIns="0" tIns="0" rIns="0" bIns="0" anchor="ctr" anchorCtr="1">
            <a:noAutofit/>
          </a:bodyPr>
          <a:lstStyle>
            <a:lvl1pPr algn="ctr" eaLnBrk="1" latinLnBrk="0" hangingPunct="1">
              <a:defRPr kumimoji="0" sz="1400">
                <a:solidFill>
                  <a:srgbClr val="FFFFFF"/>
                </a:solidFill>
                <a:latin typeface="+mj-lt"/>
                <a:ea typeface="+mj-ea"/>
                <a:cs typeface="+mj-cs"/>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rtl="0" eaLnBrk="1" latinLnBrk="0" hangingPunct="1">
        <a:spcBef>
          <a:spcPct val="0"/>
        </a:spcBef>
        <a:buNone/>
        <a:defRPr kumimoji="0" sz="4000" kern="1200">
          <a:solidFill>
            <a:schemeClr val="tx2"/>
          </a:solidFill>
          <a:latin typeface="+mj-lt"/>
          <a:ea typeface="+mj-ea"/>
          <a:cs typeface="+mj-cs"/>
        </a:defRPr>
      </a:lvl1pPr>
    </p:titleStyle>
    <p:bodyStyle>
      <a:lvl1pPr marL="274320" indent="-274320" algn="l" rtl="0" eaLnBrk="1" latinLnBrk="0" hangingPunct="1">
        <a:spcBef>
          <a:spcPts val="580"/>
        </a:spcBef>
        <a:buClr>
          <a:schemeClr val="accent1"/>
        </a:buClr>
        <a:buSzPct val="85000"/>
        <a:buFont typeface="Wingdings 2"/>
        <a:buChar char=""/>
        <a:defRPr kumimoji="0" sz="2600" kern="1200">
          <a:solidFill>
            <a:schemeClr val="tx1"/>
          </a:solidFill>
          <a:latin typeface="+mn-lt"/>
          <a:ea typeface="+mn-ea"/>
          <a:cs typeface="+mn-cs"/>
        </a:defRPr>
      </a:lvl1pPr>
      <a:lvl2pPr marL="548640" indent="-228600" algn="l" rtl="0" eaLnBrk="1" latinLnBrk="0" hangingPunct="1">
        <a:spcBef>
          <a:spcPts val="370"/>
        </a:spcBef>
        <a:buClr>
          <a:schemeClr val="accent2"/>
        </a:buClr>
        <a:buSzPct val="85000"/>
        <a:buFont typeface="Wingdings 2"/>
        <a:buChar char=""/>
        <a:defRPr kumimoji="0" sz="2400" kern="1200">
          <a:solidFill>
            <a:schemeClr val="tx1"/>
          </a:solidFill>
          <a:latin typeface="+mn-lt"/>
          <a:ea typeface="+mn-ea"/>
          <a:cs typeface="+mn-cs"/>
        </a:defRPr>
      </a:lvl2pPr>
      <a:lvl3pPr marL="822960" indent="-228600" algn="l" rtl="0" eaLnBrk="1" latinLnBrk="0" hangingPunct="1">
        <a:spcBef>
          <a:spcPts val="370"/>
        </a:spcBef>
        <a:buClr>
          <a:schemeClr val="accent1">
            <a:tint val="60000"/>
          </a:schemeClr>
        </a:buClr>
        <a:buSzPct val="85000"/>
        <a:buFont typeface="Wingdings 2"/>
        <a:buChar char=""/>
        <a:defRPr kumimoji="0" sz="2000" kern="1200">
          <a:solidFill>
            <a:schemeClr val="tx1"/>
          </a:solidFill>
          <a:latin typeface="+mn-lt"/>
          <a:ea typeface="+mn-ea"/>
          <a:cs typeface="+mn-cs"/>
        </a:defRPr>
      </a:lvl3pPr>
      <a:lvl4pPr marL="1097280" indent="-228600" algn="l" rtl="0" eaLnBrk="1" latinLnBrk="0" hangingPunct="1">
        <a:spcBef>
          <a:spcPts val="370"/>
        </a:spcBef>
        <a:buClr>
          <a:schemeClr val="accent3"/>
        </a:buClr>
        <a:buSzPct val="80000"/>
        <a:buFont typeface="Wingdings 2"/>
        <a:buChar char=""/>
        <a:defRPr kumimoji="0" sz="2000" kern="1200">
          <a:solidFill>
            <a:schemeClr val="tx1"/>
          </a:solidFill>
          <a:latin typeface="+mn-lt"/>
          <a:ea typeface="+mn-ea"/>
          <a:cs typeface="+mn-cs"/>
        </a:defRPr>
      </a:lvl4pPr>
      <a:lvl5pPr marL="1371600" indent="-228600" algn="l" rtl="0" eaLnBrk="1" latinLnBrk="0" hangingPunct="1">
        <a:spcBef>
          <a:spcPts val="370"/>
        </a:spcBef>
        <a:buClr>
          <a:schemeClr val="accent3"/>
        </a:buClr>
        <a:buFontTx/>
        <a:buChar char="o"/>
        <a:defRPr kumimoji="0" sz="2000" kern="1200">
          <a:solidFill>
            <a:schemeClr val="tx1"/>
          </a:solidFill>
          <a:latin typeface="+mn-lt"/>
          <a:ea typeface="+mn-ea"/>
          <a:cs typeface="+mn-cs"/>
        </a:defRPr>
      </a:lvl5pPr>
      <a:lvl6pPr marL="1645920" indent="-228600" algn="l" rtl="0" eaLnBrk="1" latinLnBrk="0" hangingPunct="1">
        <a:spcBef>
          <a:spcPts val="370"/>
        </a:spcBef>
        <a:buClr>
          <a:schemeClr val="accent3"/>
        </a:buClr>
        <a:buChar char="•"/>
        <a:defRPr kumimoji="0" sz="1800" kern="1200" baseline="0">
          <a:solidFill>
            <a:schemeClr val="tx1"/>
          </a:solidFill>
          <a:latin typeface="+mn-lt"/>
          <a:ea typeface="+mn-ea"/>
          <a:cs typeface="+mn-cs"/>
        </a:defRPr>
      </a:lvl6pPr>
      <a:lvl7pPr marL="1920240" indent="-228600" algn="l" rtl="0" eaLnBrk="1" latinLnBrk="0" hangingPunct="1">
        <a:spcBef>
          <a:spcPts val="370"/>
        </a:spcBef>
        <a:buClr>
          <a:schemeClr val="accent2"/>
        </a:buClr>
        <a:buChar char="•"/>
        <a:defRPr kumimoji="0" sz="1800" kern="1200">
          <a:solidFill>
            <a:schemeClr val="tx1"/>
          </a:solidFill>
          <a:latin typeface="+mn-lt"/>
          <a:ea typeface="+mn-ea"/>
          <a:cs typeface="+mn-cs"/>
        </a:defRPr>
      </a:lvl7pPr>
      <a:lvl8pPr marL="2194560" indent="-228600" algn="l" rtl="0" eaLnBrk="1" latinLnBrk="0" hangingPunct="1">
        <a:spcBef>
          <a:spcPts val="370"/>
        </a:spcBef>
        <a:buClr>
          <a:schemeClr val="accent1">
            <a:tint val="60000"/>
          </a:schemeClr>
        </a:buClr>
        <a:buChar char="•"/>
        <a:defRPr kumimoji="0" sz="1800" kern="1200">
          <a:solidFill>
            <a:schemeClr val="tx1"/>
          </a:solidFill>
          <a:latin typeface="+mn-lt"/>
          <a:ea typeface="+mn-ea"/>
          <a:cs typeface="+mn-cs"/>
        </a:defRPr>
      </a:lvl8pPr>
      <a:lvl9pPr marL="2468880" indent="-228600" algn="l" rtl="0" eaLnBrk="1" latinLnBrk="0" hangingPunct="1">
        <a:spcBef>
          <a:spcPts val="370"/>
        </a:spcBef>
        <a:buClr>
          <a:schemeClr val="accent2">
            <a:tint val="60000"/>
          </a:schemeClr>
        </a:buClr>
        <a:buChar char="•"/>
        <a:defRPr kumimoji="0" sz="1800" kern="120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2.xml"/><Relationship Id="rId5" Type="http://schemas.openxmlformats.org/officeDocument/2006/relationships/image" Target="../media/image5.png"/><Relationship Id="rId4" Type="http://schemas.openxmlformats.org/officeDocument/2006/relationships/image" Target="../media/image4.png"/></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p:txBody>
          <a:bodyPr/>
          <a:lstStyle/>
          <a:p>
            <a:endParaRPr lang="en-US"/>
          </a:p>
        </p:txBody>
      </p:sp>
      <p:sp>
        <p:nvSpPr>
          <p:cNvPr id="2" name="Title 1"/>
          <p:cNvSpPr>
            <a:spLocks noGrp="1"/>
          </p:cNvSpPr>
          <p:nvPr>
            <p:ph type="ctrTitle"/>
          </p:nvPr>
        </p:nvSpPr>
        <p:spPr/>
        <p:txBody>
          <a:bodyPr/>
          <a:lstStyle/>
          <a:p>
            <a:r>
              <a:rPr lang="en-US" dirty="0" smtClean="0"/>
              <a:t>Relationship in ER-Model</a:t>
            </a:r>
            <a:endParaRPr lang="en-US" dirty="0"/>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sz="quarter" idx="1"/>
          </p:nvPr>
        </p:nvSpPr>
        <p:spPr>
          <a:xfrm>
            <a:off x="457200" y="1447800"/>
            <a:ext cx="8229600" cy="4525963"/>
          </a:xfrm>
        </p:spPr>
        <p:txBody>
          <a:bodyPr>
            <a:normAutofit/>
          </a:bodyPr>
          <a:lstStyle/>
          <a:p>
            <a:r>
              <a:rPr lang="en-US" dirty="0" smtClean="0"/>
              <a:t>Cardinalitity Ratio</a:t>
            </a:r>
          </a:p>
          <a:p>
            <a:r>
              <a:rPr lang="en-US" dirty="0" smtClean="0"/>
              <a:t>Participation constraints</a:t>
            </a:r>
          </a:p>
          <a:p>
            <a:r>
              <a:rPr lang="en-US" dirty="0" smtClean="0"/>
              <a:t>Structural constraints</a:t>
            </a:r>
          </a:p>
          <a:p>
            <a:r>
              <a:rPr lang="en-US" dirty="0" smtClean="0"/>
              <a:t>Attributes for relationship types</a:t>
            </a:r>
          </a:p>
          <a:p>
            <a:r>
              <a:rPr lang="en-US" dirty="0" smtClean="0"/>
              <a:t>Recursive relationship &amp; role name</a:t>
            </a:r>
          </a:p>
          <a:p>
            <a:r>
              <a:rPr lang="en-US" dirty="0" smtClean="0"/>
              <a:t>Weak entity set</a:t>
            </a:r>
          </a:p>
          <a:p>
            <a:r>
              <a:rPr lang="en-US" dirty="0" smtClean="0"/>
              <a:t>ER diagram</a:t>
            </a:r>
          </a:p>
          <a:p>
            <a:r>
              <a:rPr lang="en-US" dirty="0" smtClean="0"/>
              <a:t>Ternary relationship</a:t>
            </a:r>
          </a:p>
          <a:p>
            <a:endParaRPr lang="en-US" dirty="0" smtClean="0"/>
          </a:p>
          <a:p>
            <a:endParaRPr lang="en-US" dirty="0"/>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Relationship between entities </a:t>
            </a:r>
            <a:endParaRPr lang="en-IN" dirty="0"/>
          </a:p>
        </p:txBody>
      </p:sp>
      <p:sp>
        <p:nvSpPr>
          <p:cNvPr id="3" name="Content Placeholder 2"/>
          <p:cNvSpPr>
            <a:spLocks noGrp="1"/>
          </p:cNvSpPr>
          <p:nvPr>
            <p:ph sz="quarter" idx="1"/>
          </p:nvPr>
        </p:nvSpPr>
        <p:spPr/>
        <p:txBody>
          <a:bodyPr/>
          <a:lstStyle/>
          <a:p>
            <a:endParaRPr lang="en-IN" dirty="0"/>
          </a:p>
        </p:txBody>
      </p:sp>
      <p:pic>
        <p:nvPicPr>
          <p:cNvPr id="409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87626" y="1988840"/>
            <a:ext cx="7416824" cy="403244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732098286"/>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A4838642-4802-46AC-9CFB-BBC81D85C8BE}"/>
              </a:ext>
            </a:extLst>
          </p:cNvPr>
          <p:cNvSpPr>
            <a:spLocks noGrp="1"/>
          </p:cNvSpPr>
          <p:nvPr>
            <p:ph type="title"/>
          </p:nvPr>
        </p:nvSpPr>
        <p:spPr>
          <a:xfrm>
            <a:off x="628650" y="365126"/>
            <a:ext cx="7886700" cy="655292"/>
          </a:xfrm>
        </p:spPr>
        <p:txBody>
          <a:bodyPr>
            <a:normAutofit fontScale="90000"/>
          </a:bodyPr>
          <a:lstStyle/>
          <a:p>
            <a:r>
              <a:rPr lang="en-IN" b="1" dirty="0"/>
              <a:t>ER Diagram: Relationship</a:t>
            </a:r>
            <a:endParaRPr lang="en-GB" dirty="0"/>
          </a:p>
        </p:txBody>
      </p:sp>
      <p:sp>
        <p:nvSpPr>
          <p:cNvPr id="3" name="Content Placeholder 2">
            <a:extLst>
              <a:ext uri="{FF2B5EF4-FFF2-40B4-BE49-F238E27FC236}">
                <a16:creationId xmlns:a16="http://schemas.microsoft.com/office/drawing/2014/main" xmlns="" id="{5BF46638-BA7E-4A27-87B5-0DDA7ED1A8B5}"/>
              </a:ext>
            </a:extLst>
          </p:cNvPr>
          <p:cNvSpPr>
            <a:spLocks noGrp="1"/>
          </p:cNvSpPr>
          <p:nvPr>
            <p:ph idx="1"/>
          </p:nvPr>
        </p:nvSpPr>
        <p:spPr>
          <a:xfrm>
            <a:off x="628650" y="1020421"/>
            <a:ext cx="7886700" cy="5156545"/>
          </a:xfrm>
        </p:spPr>
        <p:txBody>
          <a:bodyPr>
            <a:normAutofit/>
          </a:bodyPr>
          <a:lstStyle/>
          <a:p>
            <a:pPr marL="0" indent="0">
              <a:buNone/>
            </a:pPr>
            <a:r>
              <a:rPr lang="en-US" dirty="0">
                <a:latin typeface="Times New Roman" pitchFamily="18" charset="0"/>
                <a:cs typeface="Times New Roman" pitchFamily="18" charset="0"/>
              </a:rPr>
              <a:t>The Relationship may:</a:t>
            </a:r>
          </a:p>
          <a:p>
            <a:pPr marL="0" indent="0">
              <a:buNone/>
            </a:pPr>
            <a:endParaRPr lang="en-US" dirty="0"/>
          </a:p>
          <a:p>
            <a:r>
              <a:rPr lang="en-US" dirty="0"/>
              <a:t>One to </a:t>
            </a:r>
            <a:r>
              <a:rPr lang="en-US" dirty="0" smtClean="0"/>
              <a:t>One    </a:t>
            </a:r>
          </a:p>
          <a:p>
            <a:pPr marL="0" indent="0">
              <a:buNone/>
            </a:pPr>
            <a:r>
              <a:rPr lang="en-US" dirty="0" smtClean="0"/>
              <a:t>                                                                         </a:t>
            </a:r>
            <a:r>
              <a:rPr lang="en-US" dirty="0" smtClean="0">
                <a:solidFill>
                  <a:srgbClr val="00B050"/>
                </a:solidFill>
              </a:rPr>
              <a:t> </a:t>
            </a:r>
            <a:r>
              <a:rPr lang="en-US" sz="1500" dirty="0" smtClean="0">
                <a:solidFill>
                  <a:srgbClr val="00B050"/>
                </a:solidFill>
              </a:rPr>
              <a:t>                                                   </a:t>
            </a:r>
          </a:p>
          <a:p>
            <a:r>
              <a:rPr lang="en-US" dirty="0" smtClean="0"/>
              <a:t>One to Many</a:t>
            </a:r>
          </a:p>
          <a:p>
            <a:pPr marL="0" indent="0">
              <a:buNone/>
            </a:pPr>
            <a:endParaRPr lang="en-US" dirty="0" smtClean="0"/>
          </a:p>
          <a:p>
            <a:pPr lvl="1"/>
            <a:endParaRPr lang="en-US" dirty="0"/>
          </a:p>
          <a:p>
            <a:r>
              <a:rPr lang="en-US" dirty="0"/>
              <a:t>Many to Many </a:t>
            </a:r>
          </a:p>
          <a:p>
            <a:pPr lvl="1"/>
            <a:endParaRPr lang="en-US" dirty="0"/>
          </a:p>
          <a:p>
            <a:r>
              <a:rPr lang="en-US" dirty="0"/>
              <a:t>Many to One </a:t>
            </a:r>
            <a:endParaRPr lang="en-GB" dirty="0"/>
          </a:p>
        </p:txBody>
      </p:sp>
      <p:pic>
        <p:nvPicPr>
          <p:cNvPr id="5" name="Picture 4">
            <a:extLst>
              <a:ext uri="{FF2B5EF4-FFF2-40B4-BE49-F238E27FC236}">
                <a16:creationId xmlns:a16="http://schemas.microsoft.com/office/drawing/2014/main" xmlns="" id="{3E39B1A1-4BAD-42C4-B3C7-20DDB553A6C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886199" y="1829489"/>
            <a:ext cx="4939749" cy="1159240"/>
          </a:xfrm>
          <a:prstGeom prst="rect">
            <a:avLst/>
          </a:prstGeom>
        </p:spPr>
      </p:pic>
      <p:pic>
        <p:nvPicPr>
          <p:cNvPr id="7" name="Picture 6">
            <a:extLst>
              <a:ext uri="{FF2B5EF4-FFF2-40B4-BE49-F238E27FC236}">
                <a16:creationId xmlns:a16="http://schemas.microsoft.com/office/drawing/2014/main" xmlns="" id="{4A269EBF-FFED-463C-8A54-663978690BD4}"/>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035287" y="5096185"/>
            <a:ext cx="4506153" cy="1112768"/>
          </a:xfrm>
          <a:prstGeom prst="rect">
            <a:avLst/>
          </a:prstGeom>
        </p:spPr>
      </p:pic>
      <p:pic>
        <p:nvPicPr>
          <p:cNvPr id="9" name="Picture 8">
            <a:extLst>
              <a:ext uri="{FF2B5EF4-FFF2-40B4-BE49-F238E27FC236}">
                <a16:creationId xmlns:a16="http://schemas.microsoft.com/office/drawing/2014/main" xmlns="" id="{23E643FD-F2EE-4CEA-9BBA-C1007EF0AC49}"/>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3952671" y="3973796"/>
            <a:ext cx="4671391" cy="997639"/>
          </a:xfrm>
          <a:prstGeom prst="rect">
            <a:avLst/>
          </a:prstGeom>
        </p:spPr>
      </p:pic>
      <p:sp>
        <p:nvSpPr>
          <p:cNvPr id="12" name="Rectangle 11">
            <a:extLst>
              <a:ext uri="{FF2B5EF4-FFF2-40B4-BE49-F238E27FC236}">
                <a16:creationId xmlns:a16="http://schemas.microsoft.com/office/drawing/2014/main" xmlns="" id="{5BB6A185-39F9-4B10-84C7-FF4FEEA4568B}"/>
              </a:ext>
            </a:extLst>
          </p:cNvPr>
          <p:cNvSpPr/>
          <p:nvPr/>
        </p:nvSpPr>
        <p:spPr>
          <a:xfrm>
            <a:off x="4035289" y="3074506"/>
            <a:ext cx="1033670" cy="424760"/>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sz="1500" b="1" dirty="0">
                <a:solidFill>
                  <a:srgbClr val="00B050"/>
                </a:solidFill>
              </a:rPr>
              <a:t>Professor</a:t>
            </a:r>
            <a:endParaRPr lang="en-GB" sz="1500" b="1" dirty="0">
              <a:solidFill>
                <a:srgbClr val="00B050"/>
              </a:solidFill>
            </a:endParaRPr>
          </a:p>
        </p:txBody>
      </p:sp>
      <p:sp>
        <p:nvSpPr>
          <p:cNvPr id="13" name="Rectangle 12">
            <a:extLst>
              <a:ext uri="{FF2B5EF4-FFF2-40B4-BE49-F238E27FC236}">
                <a16:creationId xmlns:a16="http://schemas.microsoft.com/office/drawing/2014/main" xmlns="" id="{E755EEF7-0318-45FD-800D-B1733664916D}"/>
              </a:ext>
            </a:extLst>
          </p:cNvPr>
          <p:cNvSpPr/>
          <p:nvPr/>
        </p:nvSpPr>
        <p:spPr>
          <a:xfrm>
            <a:off x="7636981" y="3005346"/>
            <a:ext cx="1033670" cy="424760"/>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sz="1500" b="1" dirty="0">
                <a:solidFill>
                  <a:srgbClr val="00B050"/>
                </a:solidFill>
              </a:rPr>
              <a:t>Subjects</a:t>
            </a:r>
            <a:endParaRPr lang="en-GB" sz="1500" b="1" dirty="0">
              <a:solidFill>
                <a:srgbClr val="00B050"/>
              </a:solidFill>
            </a:endParaRPr>
          </a:p>
        </p:txBody>
      </p:sp>
      <p:sp>
        <p:nvSpPr>
          <p:cNvPr id="14" name="Diamond 13">
            <a:extLst>
              <a:ext uri="{FF2B5EF4-FFF2-40B4-BE49-F238E27FC236}">
                <a16:creationId xmlns:a16="http://schemas.microsoft.com/office/drawing/2014/main" xmlns="" id="{7071757C-F0AB-4668-B15E-70BBE7ACEB4F}"/>
              </a:ext>
            </a:extLst>
          </p:cNvPr>
          <p:cNvSpPr/>
          <p:nvPr/>
        </p:nvSpPr>
        <p:spPr>
          <a:xfrm>
            <a:off x="5647290" y="2922469"/>
            <a:ext cx="1389616" cy="668510"/>
          </a:xfrm>
          <a:prstGeom prst="diamond">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sz="1500" b="1" dirty="0">
                <a:solidFill>
                  <a:srgbClr val="00B050"/>
                </a:solidFill>
              </a:rPr>
              <a:t>Teaches</a:t>
            </a:r>
            <a:endParaRPr lang="en-GB" sz="1500" b="1" dirty="0">
              <a:solidFill>
                <a:srgbClr val="00B050"/>
              </a:solidFill>
            </a:endParaRPr>
          </a:p>
        </p:txBody>
      </p:sp>
      <p:cxnSp>
        <p:nvCxnSpPr>
          <p:cNvPr id="16" name="Straight Connector 15">
            <a:extLst>
              <a:ext uri="{FF2B5EF4-FFF2-40B4-BE49-F238E27FC236}">
                <a16:creationId xmlns:a16="http://schemas.microsoft.com/office/drawing/2014/main" xmlns="" id="{91AE8C2E-9273-42E9-911B-3508701CDFA3}"/>
              </a:ext>
            </a:extLst>
          </p:cNvPr>
          <p:cNvCxnSpPr>
            <a:stCxn id="12" idx="3"/>
            <a:endCxn id="14" idx="1"/>
          </p:cNvCxnSpPr>
          <p:nvPr/>
        </p:nvCxnSpPr>
        <p:spPr>
          <a:xfrm flipV="1">
            <a:off x="5068959" y="3256724"/>
            <a:ext cx="578332" cy="30162"/>
          </a:xfrm>
          <a:prstGeom prst="line">
            <a:avLst/>
          </a:prstGeom>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xmlns="" id="{B35840AB-2894-4FE7-8805-16559A0AAE89}"/>
              </a:ext>
            </a:extLst>
          </p:cNvPr>
          <p:cNvCxnSpPr>
            <a:stCxn id="14" idx="3"/>
            <a:endCxn id="13" idx="1"/>
          </p:cNvCxnSpPr>
          <p:nvPr/>
        </p:nvCxnSpPr>
        <p:spPr>
          <a:xfrm flipV="1">
            <a:off x="7036904" y="3217726"/>
            <a:ext cx="600075" cy="38998"/>
          </a:xfrm>
          <a:prstGeom prst="line">
            <a:avLst/>
          </a:prstGeom>
        </p:spPr>
        <p:style>
          <a:lnRef idx="1">
            <a:schemeClr val="accent1"/>
          </a:lnRef>
          <a:fillRef idx="0">
            <a:schemeClr val="accent1"/>
          </a:fillRef>
          <a:effectRef idx="0">
            <a:schemeClr val="accent1"/>
          </a:effectRef>
          <a:fontRef idx="minor">
            <a:schemeClr val="tx1"/>
          </a:fontRef>
        </p:style>
      </p:cxnSp>
      <p:sp>
        <p:nvSpPr>
          <p:cNvPr id="6" name="TextBox 5"/>
          <p:cNvSpPr txBox="1"/>
          <p:nvPr/>
        </p:nvSpPr>
        <p:spPr>
          <a:xfrm>
            <a:off x="5220073" y="2996952"/>
            <a:ext cx="288032" cy="369332"/>
          </a:xfrm>
          <a:prstGeom prst="rect">
            <a:avLst/>
          </a:prstGeom>
          <a:noFill/>
        </p:spPr>
        <p:txBody>
          <a:bodyPr wrap="square" rtlCol="0">
            <a:spAutoFit/>
          </a:bodyPr>
          <a:lstStyle/>
          <a:p>
            <a:r>
              <a:rPr lang="en-US" dirty="0" smtClean="0">
                <a:solidFill>
                  <a:schemeClr val="accent6"/>
                </a:solidFill>
              </a:rPr>
              <a:t>1</a:t>
            </a:r>
            <a:endParaRPr lang="en-IN" dirty="0">
              <a:solidFill>
                <a:schemeClr val="accent6"/>
              </a:solidFill>
            </a:endParaRPr>
          </a:p>
        </p:txBody>
      </p:sp>
      <p:sp>
        <p:nvSpPr>
          <p:cNvPr id="17" name="TextBox 16"/>
          <p:cNvSpPr txBox="1"/>
          <p:nvPr/>
        </p:nvSpPr>
        <p:spPr>
          <a:xfrm>
            <a:off x="7048909" y="2987660"/>
            <a:ext cx="288032" cy="369332"/>
          </a:xfrm>
          <a:prstGeom prst="rect">
            <a:avLst/>
          </a:prstGeom>
          <a:noFill/>
        </p:spPr>
        <p:txBody>
          <a:bodyPr wrap="square" rtlCol="0">
            <a:spAutoFit/>
          </a:bodyPr>
          <a:lstStyle/>
          <a:p>
            <a:r>
              <a:rPr lang="en-US" dirty="0" smtClean="0">
                <a:solidFill>
                  <a:schemeClr val="accent6"/>
                </a:solidFill>
              </a:rPr>
              <a:t>n</a:t>
            </a:r>
            <a:endParaRPr lang="en-IN" dirty="0">
              <a:solidFill>
                <a:schemeClr val="accent6"/>
              </a:solidFill>
            </a:endParaRPr>
          </a:p>
        </p:txBody>
      </p:sp>
    </p:spTree>
    <p:extLst>
      <p:ext uri="{BB962C8B-B14F-4D97-AF65-F5344CB8AC3E}">
        <p14:creationId xmlns:p14="http://schemas.microsoft.com/office/powerpoint/2010/main" val="3435446415"/>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xmlns="" id="{C95D7AAF-C424-40E9-A83B-7CDB4EEB17C4}"/>
              </a:ext>
            </a:extLst>
          </p:cNvPr>
          <p:cNvPicPr>
            <a:picLocks noChangeAspect="1"/>
          </p:cNvPicPr>
          <p:nvPr/>
        </p:nvPicPr>
        <p:blipFill>
          <a:blip r:embed="rId3"/>
          <a:stretch>
            <a:fillRect/>
          </a:stretch>
        </p:blipFill>
        <p:spPr>
          <a:xfrm>
            <a:off x="4884373" y="2966070"/>
            <a:ext cx="4224131" cy="1543050"/>
          </a:xfrm>
          <a:prstGeom prst="rect">
            <a:avLst/>
          </a:prstGeom>
        </p:spPr>
      </p:pic>
      <p:sp>
        <p:nvSpPr>
          <p:cNvPr id="2" name="Title 1">
            <a:extLst>
              <a:ext uri="{FF2B5EF4-FFF2-40B4-BE49-F238E27FC236}">
                <a16:creationId xmlns:a16="http://schemas.microsoft.com/office/drawing/2014/main" xmlns="" id="{1D8DA77C-4A95-401A-ACEA-F5BAB43E7F0C}"/>
              </a:ext>
            </a:extLst>
          </p:cNvPr>
          <p:cNvSpPr>
            <a:spLocks noGrp="1"/>
          </p:cNvSpPr>
          <p:nvPr>
            <p:ph type="title"/>
          </p:nvPr>
        </p:nvSpPr>
        <p:spPr>
          <a:xfrm>
            <a:off x="628650" y="365128"/>
            <a:ext cx="7886700" cy="681797"/>
          </a:xfrm>
        </p:spPr>
        <p:txBody>
          <a:bodyPr>
            <a:normAutofit fontScale="90000"/>
          </a:bodyPr>
          <a:lstStyle/>
          <a:p>
            <a:r>
              <a:rPr lang="en-US" dirty="0"/>
              <a:t>Degree of Relationship</a:t>
            </a:r>
            <a:endParaRPr lang="en-GB" dirty="0"/>
          </a:p>
        </p:txBody>
      </p:sp>
      <p:sp>
        <p:nvSpPr>
          <p:cNvPr id="3" name="Content Placeholder 2">
            <a:extLst>
              <a:ext uri="{FF2B5EF4-FFF2-40B4-BE49-F238E27FC236}">
                <a16:creationId xmlns:a16="http://schemas.microsoft.com/office/drawing/2014/main" xmlns="" id="{27C495A6-EEF6-48EB-BE05-BE57D21880D5}"/>
              </a:ext>
            </a:extLst>
          </p:cNvPr>
          <p:cNvSpPr>
            <a:spLocks noGrp="1"/>
          </p:cNvSpPr>
          <p:nvPr>
            <p:ph idx="1"/>
          </p:nvPr>
        </p:nvSpPr>
        <p:spPr>
          <a:xfrm>
            <a:off x="628651" y="1192699"/>
            <a:ext cx="8296689" cy="4984267"/>
          </a:xfrm>
        </p:spPr>
        <p:txBody>
          <a:bodyPr>
            <a:normAutofit lnSpcReduction="10000"/>
          </a:bodyPr>
          <a:lstStyle/>
          <a:p>
            <a:pPr marL="514350" indent="-514350">
              <a:buFont typeface="+mj-lt"/>
              <a:buAutoNum type="arabicPeriod"/>
            </a:pPr>
            <a:r>
              <a:rPr lang="en-US" dirty="0"/>
              <a:t>Unary Relationship</a:t>
            </a:r>
          </a:p>
          <a:p>
            <a:pPr lvl="1"/>
            <a:r>
              <a:rPr lang="en-US" dirty="0"/>
              <a:t>Relationship among one entity set.</a:t>
            </a:r>
          </a:p>
          <a:p>
            <a:pPr marL="457200" lvl="1" indent="0">
              <a:buNone/>
            </a:pPr>
            <a:endParaRPr lang="en-US" dirty="0"/>
          </a:p>
          <a:p>
            <a:pPr marL="457200" lvl="1" indent="0">
              <a:buNone/>
            </a:pPr>
            <a:endParaRPr lang="en-GB" dirty="0"/>
          </a:p>
          <a:p>
            <a:pPr marL="514350" indent="-514350">
              <a:buFont typeface="+mj-lt"/>
              <a:buAutoNum type="arabicPeriod"/>
            </a:pPr>
            <a:r>
              <a:rPr lang="en-US" dirty="0"/>
              <a:t>B</a:t>
            </a:r>
            <a:r>
              <a:rPr lang="en-GB" dirty="0"/>
              <a:t>inary Relationship</a:t>
            </a:r>
          </a:p>
          <a:p>
            <a:pPr lvl="1"/>
            <a:r>
              <a:rPr lang="en-US" dirty="0"/>
              <a:t>R</a:t>
            </a:r>
            <a:r>
              <a:rPr lang="en-GB" dirty="0"/>
              <a:t>elationship among two </a:t>
            </a:r>
            <a:r>
              <a:rPr lang="en-GB" dirty="0" smtClean="0"/>
              <a:t>entities </a:t>
            </a:r>
            <a:r>
              <a:rPr lang="en-GB" dirty="0"/>
              <a:t>set.</a:t>
            </a:r>
          </a:p>
          <a:p>
            <a:pPr marL="457200" lvl="1" indent="0">
              <a:buNone/>
            </a:pPr>
            <a:endParaRPr lang="en-GB" dirty="0"/>
          </a:p>
          <a:p>
            <a:pPr marL="514350" indent="-514350">
              <a:buFont typeface="+mj-lt"/>
              <a:buAutoNum type="arabicPeriod"/>
            </a:pPr>
            <a:r>
              <a:rPr lang="en-US" dirty="0"/>
              <a:t>T</a:t>
            </a:r>
            <a:r>
              <a:rPr lang="en-GB" dirty="0"/>
              <a:t>ernary Relationship</a:t>
            </a:r>
          </a:p>
          <a:p>
            <a:pPr lvl="1"/>
            <a:r>
              <a:rPr lang="en-US" dirty="0"/>
              <a:t>R</a:t>
            </a:r>
            <a:r>
              <a:rPr lang="en-GB" dirty="0"/>
              <a:t>elationship among 3 entities set.</a:t>
            </a:r>
          </a:p>
          <a:p>
            <a:pPr lvl="1"/>
            <a:endParaRPr lang="en-GB" dirty="0"/>
          </a:p>
          <a:p>
            <a:pPr marL="514350" indent="-514350">
              <a:buFont typeface="+mj-lt"/>
              <a:buAutoNum type="arabicPeriod"/>
            </a:pPr>
            <a:r>
              <a:rPr lang="en-US" dirty="0"/>
              <a:t>N</a:t>
            </a:r>
            <a:r>
              <a:rPr lang="en-GB" dirty="0"/>
              <a:t>-</a:t>
            </a:r>
            <a:r>
              <a:rPr lang="en-GB" dirty="0" err="1"/>
              <a:t>ary</a:t>
            </a:r>
            <a:r>
              <a:rPr lang="en-GB" dirty="0"/>
              <a:t> Relationship :</a:t>
            </a:r>
          </a:p>
          <a:p>
            <a:pPr lvl="1"/>
            <a:r>
              <a:rPr lang="en-US" dirty="0"/>
              <a:t>Relationship between n number of entities set.</a:t>
            </a:r>
            <a:endParaRPr lang="en-GB" dirty="0"/>
          </a:p>
        </p:txBody>
      </p:sp>
      <p:pic>
        <p:nvPicPr>
          <p:cNvPr id="5" name="Picture 4">
            <a:extLst>
              <a:ext uri="{FF2B5EF4-FFF2-40B4-BE49-F238E27FC236}">
                <a16:creationId xmlns:a16="http://schemas.microsoft.com/office/drawing/2014/main" xmlns="" id="{EF2E7592-DB3C-44EF-9E26-21E2D5C075E9}"/>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784575" y="828675"/>
            <a:ext cx="3281466" cy="1828800"/>
          </a:xfrm>
          <a:prstGeom prst="rect">
            <a:avLst/>
          </a:prstGeom>
        </p:spPr>
      </p:pic>
      <p:grpSp>
        <p:nvGrpSpPr>
          <p:cNvPr id="15" name="Group 14"/>
          <p:cNvGrpSpPr/>
          <p:nvPr/>
        </p:nvGrpSpPr>
        <p:grpSpPr>
          <a:xfrm>
            <a:off x="5076056" y="4594981"/>
            <a:ext cx="4114801" cy="1930363"/>
            <a:chOff x="4810540" y="4200528"/>
            <a:chExt cx="4114801" cy="1930363"/>
          </a:xfrm>
        </p:grpSpPr>
        <p:sp>
          <p:nvSpPr>
            <p:cNvPr id="7" name="Rectangle 6">
              <a:extLst>
                <a:ext uri="{FF2B5EF4-FFF2-40B4-BE49-F238E27FC236}">
                  <a16:creationId xmlns:a16="http://schemas.microsoft.com/office/drawing/2014/main" xmlns="" id="{F0D75C41-91FC-4879-AAC5-43F4E49537A7}"/>
                </a:ext>
              </a:extLst>
            </p:cNvPr>
            <p:cNvSpPr/>
            <p:nvPr/>
          </p:nvSpPr>
          <p:spPr>
            <a:xfrm>
              <a:off x="4810540" y="4386469"/>
              <a:ext cx="974035" cy="583096"/>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solidFill>
                    <a:srgbClr val="00B050"/>
                  </a:solidFill>
                </a:rPr>
                <a:t>Professor</a:t>
              </a:r>
              <a:endParaRPr lang="en-GB" dirty="0">
                <a:solidFill>
                  <a:srgbClr val="00B050"/>
                </a:solidFill>
              </a:endParaRPr>
            </a:p>
          </p:txBody>
        </p:sp>
        <p:sp>
          <p:nvSpPr>
            <p:cNvPr id="8" name="Diamond 7">
              <a:extLst>
                <a:ext uri="{FF2B5EF4-FFF2-40B4-BE49-F238E27FC236}">
                  <a16:creationId xmlns:a16="http://schemas.microsoft.com/office/drawing/2014/main" xmlns="" id="{8CA9B818-52D4-4336-8B17-26CF61495980}"/>
                </a:ext>
              </a:extLst>
            </p:cNvPr>
            <p:cNvSpPr/>
            <p:nvPr/>
          </p:nvSpPr>
          <p:spPr>
            <a:xfrm>
              <a:off x="6346912" y="4200528"/>
              <a:ext cx="1385732" cy="994327"/>
            </a:xfrm>
            <a:prstGeom prst="diamond">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solidFill>
                    <a:srgbClr val="00B050"/>
                  </a:solidFill>
                </a:rPr>
                <a:t>Teaches</a:t>
              </a:r>
              <a:endParaRPr lang="en-GB" dirty="0">
                <a:solidFill>
                  <a:srgbClr val="00B050"/>
                </a:solidFill>
              </a:endParaRPr>
            </a:p>
          </p:txBody>
        </p:sp>
        <p:sp>
          <p:nvSpPr>
            <p:cNvPr id="9" name="Rectangle 8">
              <a:extLst>
                <a:ext uri="{FF2B5EF4-FFF2-40B4-BE49-F238E27FC236}">
                  <a16:creationId xmlns:a16="http://schemas.microsoft.com/office/drawing/2014/main" xmlns="" id="{CF8957C4-979D-41D0-A95B-69AFBE95B729}"/>
                </a:ext>
              </a:extLst>
            </p:cNvPr>
            <p:cNvSpPr/>
            <p:nvPr/>
          </p:nvSpPr>
          <p:spPr>
            <a:xfrm>
              <a:off x="7951306" y="4406140"/>
              <a:ext cx="974035" cy="583096"/>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solidFill>
                    <a:srgbClr val="00B050"/>
                  </a:solidFill>
                </a:rPr>
                <a:t>Courses</a:t>
              </a:r>
              <a:endParaRPr lang="en-GB" dirty="0">
                <a:solidFill>
                  <a:srgbClr val="00B050"/>
                </a:solidFill>
              </a:endParaRPr>
            </a:p>
          </p:txBody>
        </p:sp>
        <p:sp>
          <p:nvSpPr>
            <p:cNvPr id="10" name="Rectangle 9">
              <a:extLst>
                <a:ext uri="{FF2B5EF4-FFF2-40B4-BE49-F238E27FC236}">
                  <a16:creationId xmlns:a16="http://schemas.microsoft.com/office/drawing/2014/main" xmlns="" id="{37C78D4E-183D-4F3F-B12E-FE9ADE51632E}"/>
                </a:ext>
              </a:extLst>
            </p:cNvPr>
            <p:cNvSpPr/>
            <p:nvPr/>
          </p:nvSpPr>
          <p:spPr>
            <a:xfrm>
              <a:off x="6552760" y="5547795"/>
              <a:ext cx="974035" cy="583096"/>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solidFill>
                    <a:srgbClr val="00B050"/>
                  </a:solidFill>
                </a:rPr>
                <a:t>Semester</a:t>
              </a:r>
              <a:endParaRPr lang="en-GB" dirty="0">
                <a:solidFill>
                  <a:srgbClr val="00B050"/>
                </a:solidFill>
              </a:endParaRPr>
            </a:p>
          </p:txBody>
        </p:sp>
        <p:cxnSp>
          <p:nvCxnSpPr>
            <p:cNvPr id="14" name="Straight Connector 13">
              <a:extLst>
                <a:ext uri="{FF2B5EF4-FFF2-40B4-BE49-F238E27FC236}">
                  <a16:creationId xmlns:a16="http://schemas.microsoft.com/office/drawing/2014/main" xmlns="" id="{04202AD1-9846-4E1A-AEEB-56BC42B0615F}"/>
                </a:ext>
              </a:extLst>
            </p:cNvPr>
            <p:cNvCxnSpPr>
              <a:stCxn id="8" idx="3"/>
              <a:endCxn id="9" idx="1"/>
            </p:cNvCxnSpPr>
            <p:nvPr/>
          </p:nvCxnSpPr>
          <p:spPr>
            <a:xfrm flipV="1">
              <a:off x="7732643" y="4697691"/>
              <a:ext cx="218661" cy="1"/>
            </a:xfrm>
            <a:prstGeom prst="line">
              <a:avLst/>
            </a:prstGeom>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xmlns="" id="{AAB85B22-0DC2-4D01-89D5-1BA6259B3570}"/>
                </a:ext>
              </a:extLst>
            </p:cNvPr>
            <p:cNvCxnSpPr>
              <a:stCxn id="7" idx="3"/>
              <a:endCxn id="8" idx="1"/>
            </p:cNvCxnSpPr>
            <p:nvPr/>
          </p:nvCxnSpPr>
          <p:spPr>
            <a:xfrm>
              <a:off x="5784575" y="4678017"/>
              <a:ext cx="562337" cy="19672"/>
            </a:xfrm>
            <a:prstGeom prst="line">
              <a:avLst/>
            </a:prstGeom>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xmlns="" id="{395E6AD8-3049-4B6F-916E-F2C8BF2AB802}"/>
                </a:ext>
              </a:extLst>
            </p:cNvPr>
            <p:cNvCxnSpPr>
              <a:stCxn id="8" idx="2"/>
              <a:endCxn id="10" idx="0"/>
            </p:cNvCxnSpPr>
            <p:nvPr/>
          </p:nvCxnSpPr>
          <p:spPr>
            <a:xfrm flipH="1">
              <a:off x="7039778" y="5194855"/>
              <a:ext cx="1" cy="352943"/>
            </a:xfrm>
            <a:prstGeom prst="line">
              <a:avLst/>
            </a:prstGeom>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500715769"/>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14400" y="533400"/>
            <a:ext cx="7772400" cy="1143000"/>
          </a:xfrm>
        </p:spPr>
        <p:txBody>
          <a:bodyPr>
            <a:normAutofit fontScale="90000"/>
          </a:bodyPr>
          <a:lstStyle/>
          <a:p>
            <a:r>
              <a:rPr lang="en-US" dirty="0" smtClean="0"/>
              <a:t>Binary Relationship and Cardinality ratio</a:t>
            </a:r>
            <a:endParaRPr lang="en-US" dirty="0"/>
          </a:p>
        </p:txBody>
      </p:sp>
      <p:pic>
        <p:nvPicPr>
          <p:cNvPr id="4098" name="Picture 2"/>
          <p:cNvPicPr>
            <a:picLocks noGrp="1" noChangeAspect="1" noChangeArrowheads="1"/>
          </p:cNvPicPr>
          <p:nvPr>
            <p:ph sz="quarter" idx="1"/>
          </p:nvPr>
        </p:nvPicPr>
        <p:blipFill>
          <a:blip r:embed="rId2"/>
          <a:stretch>
            <a:fillRect/>
          </a:stretch>
        </p:blipFill>
        <p:spPr bwMode="auto">
          <a:xfrm>
            <a:off x="2352675" y="3171825"/>
            <a:ext cx="4895850" cy="1123950"/>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Binary Relationship and Cardinality ratio</a:t>
            </a:r>
            <a:endParaRPr lang="en-US" dirty="0"/>
          </a:p>
        </p:txBody>
      </p:sp>
      <p:pic>
        <p:nvPicPr>
          <p:cNvPr id="4098" name="Picture 2"/>
          <p:cNvPicPr>
            <a:picLocks noGrp="1" noChangeAspect="1" noChangeArrowheads="1"/>
          </p:cNvPicPr>
          <p:nvPr>
            <p:ph sz="quarter" idx="1"/>
          </p:nvPr>
        </p:nvPicPr>
        <p:blipFill>
          <a:blip r:embed="rId2"/>
          <a:srcRect/>
          <a:stretch>
            <a:fillRect/>
          </a:stretch>
        </p:blipFill>
        <p:spPr bwMode="auto">
          <a:xfrm>
            <a:off x="1447800" y="1905000"/>
            <a:ext cx="6306518" cy="1447800"/>
          </a:xfrm>
          <a:prstGeom prst="rect">
            <a:avLst/>
          </a:prstGeom>
          <a:noFill/>
          <a:ln w="9525">
            <a:noFill/>
            <a:miter lim="800000"/>
            <a:headEnd/>
            <a:tailEnd/>
          </a:ln>
          <a:effectLst/>
        </p:spPr>
      </p:pic>
      <p:pic>
        <p:nvPicPr>
          <p:cNvPr id="5122" name="Picture 2"/>
          <p:cNvPicPr>
            <a:picLocks noChangeAspect="1" noChangeArrowheads="1"/>
          </p:cNvPicPr>
          <p:nvPr/>
        </p:nvPicPr>
        <p:blipFill>
          <a:blip r:embed="rId3"/>
          <a:srcRect/>
          <a:stretch>
            <a:fillRect/>
          </a:stretch>
        </p:blipFill>
        <p:spPr bwMode="auto">
          <a:xfrm>
            <a:off x="152400" y="3657600"/>
            <a:ext cx="8763000" cy="1752600"/>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Binary Relationship and Cardinality ratio</a:t>
            </a:r>
            <a:endParaRPr lang="en-US" dirty="0"/>
          </a:p>
        </p:txBody>
      </p:sp>
      <p:pic>
        <p:nvPicPr>
          <p:cNvPr id="6146" name="Picture 2"/>
          <p:cNvPicPr>
            <a:picLocks noChangeAspect="1" noChangeArrowheads="1"/>
          </p:cNvPicPr>
          <p:nvPr/>
        </p:nvPicPr>
        <p:blipFill>
          <a:blip r:embed="rId2"/>
          <a:srcRect/>
          <a:stretch>
            <a:fillRect/>
          </a:stretch>
        </p:blipFill>
        <p:spPr bwMode="auto">
          <a:xfrm>
            <a:off x="914400" y="1828801"/>
            <a:ext cx="6858000" cy="2961736"/>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Binary Relationship and Cardinality ratio</a:t>
            </a:r>
            <a:endParaRPr lang="en-US" dirty="0"/>
          </a:p>
        </p:txBody>
      </p:sp>
      <p:sp>
        <p:nvSpPr>
          <p:cNvPr id="3" name="Content Placeholder 2"/>
          <p:cNvSpPr>
            <a:spLocks noGrp="1"/>
          </p:cNvSpPr>
          <p:nvPr>
            <p:ph sz="quarter" idx="1"/>
          </p:nvPr>
        </p:nvSpPr>
        <p:spPr/>
        <p:txBody>
          <a:bodyPr/>
          <a:lstStyle/>
          <a:p>
            <a:endParaRPr lang="en-US"/>
          </a:p>
        </p:txBody>
      </p:sp>
      <p:pic>
        <p:nvPicPr>
          <p:cNvPr id="7170" name="Picture 2"/>
          <p:cNvPicPr>
            <a:picLocks noChangeAspect="1" noChangeArrowheads="1"/>
          </p:cNvPicPr>
          <p:nvPr/>
        </p:nvPicPr>
        <p:blipFill>
          <a:blip r:embed="rId2"/>
          <a:srcRect/>
          <a:stretch>
            <a:fillRect/>
          </a:stretch>
        </p:blipFill>
        <p:spPr bwMode="auto">
          <a:xfrm>
            <a:off x="304800" y="1600200"/>
            <a:ext cx="8382000" cy="4702629"/>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Binary Relationship and Cardinality ratio- Examples</a:t>
            </a:r>
            <a:endParaRPr lang="en-US" dirty="0"/>
          </a:p>
        </p:txBody>
      </p:sp>
      <p:sp>
        <p:nvSpPr>
          <p:cNvPr id="3" name="Content Placeholder 2"/>
          <p:cNvSpPr>
            <a:spLocks noGrp="1"/>
          </p:cNvSpPr>
          <p:nvPr>
            <p:ph sz="quarter" idx="1"/>
          </p:nvPr>
        </p:nvSpPr>
        <p:spPr/>
        <p:txBody>
          <a:bodyPr/>
          <a:lstStyle/>
          <a:p>
            <a:endParaRPr lang="en-US"/>
          </a:p>
        </p:txBody>
      </p:sp>
      <p:pic>
        <p:nvPicPr>
          <p:cNvPr id="8194" name="Picture 2"/>
          <p:cNvPicPr>
            <a:picLocks noChangeAspect="1" noChangeArrowheads="1"/>
          </p:cNvPicPr>
          <p:nvPr/>
        </p:nvPicPr>
        <p:blipFill>
          <a:blip r:embed="rId2"/>
          <a:srcRect/>
          <a:stretch>
            <a:fillRect/>
          </a:stretch>
        </p:blipFill>
        <p:spPr bwMode="auto">
          <a:xfrm>
            <a:off x="457200" y="1600200"/>
            <a:ext cx="8382000" cy="5136662"/>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Binary Relationship and Cardinality ratio- Examples</a:t>
            </a:r>
            <a:endParaRPr lang="en-US" dirty="0"/>
          </a:p>
        </p:txBody>
      </p:sp>
      <p:sp>
        <p:nvSpPr>
          <p:cNvPr id="3" name="Content Placeholder 2"/>
          <p:cNvSpPr>
            <a:spLocks noGrp="1"/>
          </p:cNvSpPr>
          <p:nvPr>
            <p:ph sz="quarter" idx="1"/>
          </p:nvPr>
        </p:nvSpPr>
        <p:spPr/>
        <p:txBody>
          <a:bodyPr/>
          <a:lstStyle/>
          <a:p>
            <a:endParaRPr lang="en-US"/>
          </a:p>
        </p:txBody>
      </p:sp>
      <p:pic>
        <p:nvPicPr>
          <p:cNvPr id="9218" name="Picture 2"/>
          <p:cNvPicPr>
            <a:picLocks noChangeAspect="1" noChangeArrowheads="1"/>
          </p:cNvPicPr>
          <p:nvPr/>
        </p:nvPicPr>
        <p:blipFill>
          <a:blip r:embed="rId2"/>
          <a:srcRect/>
          <a:stretch>
            <a:fillRect/>
          </a:stretch>
        </p:blipFill>
        <p:spPr bwMode="auto">
          <a:xfrm>
            <a:off x="228600" y="1524000"/>
            <a:ext cx="8610600" cy="5171120"/>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Binary Relationship and Cardinality ratio- Examples</a:t>
            </a:r>
            <a:endParaRPr lang="en-US" dirty="0"/>
          </a:p>
        </p:txBody>
      </p:sp>
      <p:sp>
        <p:nvSpPr>
          <p:cNvPr id="3" name="Content Placeholder 2"/>
          <p:cNvSpPr>
            <a:spLocks noGrp="1"/>
          </p:cNvSpPr>
          <p:nvPr>
            <p:ph sz="quarter" idx="1"/>
          </p:nvPr>
        </p:nvSpPr>
        <p:spPr/>
        <p:txBody>
          <a:bodyPr/>
          <a:lstStyle/>
          <a:p>
            <a:endParaRPr lang="en-US"/>
          </a:p>
        </p:txBody>
      </p:sp>
      <p:pic>
        <p:nvPicPr>
          <p:cNvPr id="10242" name="Picture 2"/>
          <p:cNvPicPr>
            <a:picLocks noChangeAspect="1" noChangeArrowheads="1"/>
          </p:cNvPicPr>
          <p:nvPr/>
        </p:nvPicPr>
        <p:blipFill>
          <a:blip r:embed="rId2"/>
          <a:srcRect/>
          <a:stretch>
            <a:fillRect/>
          </a:stretch>
        </p:blipFill>
        <p:spPr bwMode="auto">
          <a:xfrm>
            <a:off x="304800" y="1524000"/>
            <a:ext cx="8610600" cy="5220967"/>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Participation constraints</a:t>
            </a:r>
          </a:p>
        </p:txBody>
      </p:sp>
      <p:sp>
        <p:nvSpPr>
          <p:cNvPr id="3" name="Content Placeholder 2"/>
          <p:cNvSpPr>
            <a:spLocks noGrp="1"/>
          </p:cNvSpPr>
          <p:nvPr>
            <p:ph sz="quarter" idx="1"/>
          </p:nvPr>
        </p:nvSpPr>
        <p:spPr>
          <a:xfrm>
            <a:off x="457200" y="1600201"/>
            <a:ext cx="8229600" cy="1600200"/>
          </a:xfrm>
        </p:spPr>
        <p:txBody>
          <a:bodyPr/>
          <a:lstStyle/>
          <a:p>
            <a:pPr lvl="1"/>
            <a:r>
              <a:rPr lang="en-US" dirty="0" smtClean="0"/>
              <a:t>An entity set may participate in a relation either totally or partially</a:t>
            </a:r>
            <a:endParaRPr lang="en-US" dirty="0"/>
          </a:p>
        </p:txBody>
      </p:sp>
      <p:pic>
        <p:nvPicPr>
          <p:cNvPr id="1026" name="Picture 2"/>
          <p:cNvPicPr>
            <a:picLocks noChangeAspect="1" noChangeArrowheads="1"/>
          </p:cNvPicPr>
          <p:nvPr/>
        </p:nvPicPr>
        <p:blipFill>
          <a:blip r:embed="rId2"/>
          <a:srcRect/>
          <a:stretch>
            <a:fillRect/>
          </a:stretch>
        </p:blipFill>
        <p:spPr bwMode="auto">
          <a:xfrm>
            <a:off x="1143000" y="3200400"/>
            <a:ext cx="6829425" cy="1552575"/>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Participation constraints</a:t>
            </a:r>
          </a:p>
        </p:txBody>
      </p:sp>
      <p:pic>
        <p:nvPicPr>
          <p:cNvPr id="2051" name="Picture 3"/>
          <p:cNvPicPr>
            <a:picLocks noChangeAspect="1" noChangeArrowheads="1"/>
          </p:cNvPicPr>
          <p:nvPr/>
        </p:nvPicPr>
        <p:blipFill>
          <a:blip r:embed="rId2"/>
          <a:srcRect/>
          <a:stretch>
            <a:fillRect/>
          </a:stretch>
        </p:blipFill>
        <p:spPr bwMode="auto">
          <a:xfrm>
            <a:off x="1371600" y="2590800"/>
            <a:ext cx="6324600" cy="2024351"/>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14400" y="274638"/>
            <a:ext cx="8001000" cy="1143000"/>
          </a:xfrm>
        </p:spPr>
        <p:txBody>
          <a:bodyPr>
            <a:normAutofit fontScale="90000"/>
          </a:bodyPr>
          <a:lstStyle/>
          <a:p>
            <a:r>
              <a:rPr lang="en-US" dirty="0" smtClean="0"/>
              <a:t>Participation constraints</a:t>
            </a:r>
            <a:br>
              <a:rPr lang="en-US" dirty="0" smtClean="0"/>
            </a:br>
            <a:r>
              <a:rPr lang="en-US" dirty="0" smtClean="0"/>
              <a:t>Examples</a:t>
            </a:r>
            <a:endParaRPr lang="en-US" dirty="0"/>
          </a:p>
        </p:txBody>
      </p:sp>
      <p:pic>
        <p:nvPicPr>
          <p:cNvPr id="3074" name="Picture 2"/>
          <p:cNvPicPr>
            <a:picLocks noGrp="1" noChangeAspect="1" noChangeArrowheads="1"/>
          </p:cNvPicPr>
          <p:nvPr>
            <p:ph sz="quarter" idx="1"/>
          </p:nvPr>
        </p:nvPicPr>
        <p:blipFill>
          <a:blip r:embed="rId2"/>
          <a:stretch>
            <a:fillRect/>
          </a:stretch>
        </p:blipFill>
        <p:spPr bwMode="auto">
          <a:xfrm>
            <a:off x="1151519" y="1447800"/>
            <a:ext cx="7298161" cy="4572000"/>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Structural Constraints</a:t>
            </a:r>
            <a:endParaRPr lang="en-US" dirty="0"/>
          </a:p>
        </p:txBody>
      </p:sp>
      <p:pic>
        <p:nvPicPr>
          <p:cNvPr id="11266" name="Picture 2"/>
          <p:cNvPicPr>
            <a:picLocks noGrp="1" noChangeAspect="1" noChangeArrowheads="1"/>
          </p:cNvPicPr>
          <p:nvPr>
            <p:ph sz="quarter" idx="1"/>
          </p:nvPr>
        </p:nvPicPr>
        <p:blipFill>
          <a:blip r:embed="rId2"/>
          <a:srcRect/>
          <a:stretch>
            <a:fillRect/>
          </a:stretch>
        </p:blipFill>
        <p:spPr bwMode="auto">
          <a:xfrm>
            <a:off x="457200" y="2057400"/>
            <a:ext cx="8382000" cy="838200"/>
          </a:xfrm>
          <a:prstGeom prst="rect">
            <a:avLst/>
          </a:prstGeom>
          <a:noFill/>
          <a:ln w="9525">
            <a:noFill/>
            <a:miter lim="800000"/>
            <a:headEnd/>
            <a:tailEnd/>
          </a:ln>
          <a:effectLst/>
        </p:spPr>
      </p:pic>
      <p:pic>
        <p:nvPicPr>
          <p:cNvPr id="11267" name="Picture 3"/>
          <p:cNvPicPr>
            <a:picLocks noChangeAspect="1" noChangeArrowheads="1"/>
          </p:cNvPicPr>
          <p:nvPr/>
        </p:nvPicPr>
        <p:blipFill>
          <a:blip r:embed="rId3"/>
          <a:srcRect/>
          <a:stretch>
            <a:fillRect/>
          </a:stretch>
        </p:blipFill>
        <p:spPr bwMode="auto">
          <a:xfrm>
            <a:off x="533400" y="3352800"/>
            <a:ext cx="8258426" cy="895350"/>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Attributes for relationship types</a:t>
            </a:r>
            <a:endParaRPr lang="en-US" dirty="0"/>
          </a:p>
        </p:txBody>
      </p:sp>
      <p:sp>
        <p:nvSpPr>
          <p:cNvPr id="3" name="Content Placeholder 2"/>
          <p:cNvSpPr>
            <a:spLocks noGrp="1"/>
          </p:cNvSpPr>
          <p:nvPr>
            <p:ph sz="quarter" idx="1"/>
          </p:nvPr>
        </p:nvSpPr>
        <p:spPr>
          <a:xfrm>
            <a:off x="457200" y="1600201"/>
            <a:ext cx="8229600" cy="685800"/>
          </a:xfrm>
        </p:spPr>
        <p:txBody>
          <a:bodyPr/>
          <a:lstStyle/>
          <a:p>
            <a:r>
              <a:rPr lang="en-US" dirty="0" smtClean="0"/>
              <a:t>Properties of the association of entities</a:t>
            </a:r>
            <a:endParaRPr lang="en-US" dirty="0"/>
          </a:p>
        </p:txBody>
      </p:sp>
      <p:pic>
        <p:nvPicPr>
          <p:cNvPr id="12291" name="Picture 3"/>
          <p:cNvPicPr>
            <a:picLocks noChangeAspect="1" noChangeArrowheads="1"/>
          </p:cNvPicPr>
          <p:nvPr/>
        </p:nvPicPr>
        <p:blipFill>
          <a:blip r:embed="rId2"/>
          <a:srcRect/>
          <a:stretch>
            <a:fillRect/>
          </a:stretch>
        </p:blipFill>
        <p:spPr bwMode="auto">
          <a:xfrm>
            <a:off x="1676400" y="2362200"/>
            <a:ext cx="5805487" cy="2154504"/>
          </a:xfrm>
          <a:prstGeom prst="rect">
            <a:avLst/>
          </a:prstGeom>
          <a:noFill/>
          <a:ln w="9525">
            <a:noFill/>
            <a:miter lim="800000"/>
            <a:headEnd/>
            <a:tailEnd/>
          </a:ln>
          <a:effectLst/>
        </p:spPr>
      </p:pic>
      <p:pic>
        <p:nvPicPr>
          <p:cNvPr id="12292" name="Picture 4"/>
          <p:cNvPicPr>
            <a:picLocks noChangeAspect="1" noChangeArrowheads="1"/>
          </p:cNvPicPr>
          <p:nvPr/>
        </p:nvPicPr>
        <p:blipFill>
          <a:blip r:embed="rId3"/>
          <a:srcRect/>
          <a:stretch>
            <a:fillRect/>
          </a:stretch>
        </p:blipFill>
        <p:spPr bwMode="auto">
          <a:xfrm>
            <a:off x="1447800" y="4953000"/>
            <a:ext cx="7467600" cy="987163"/>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Attributes for relationship types-Examples</a:t>
            </a:r>
            <a:endParaRPr lang="en-US" dirty="0"/>
          </a:p>
        </p:txBody>
      </p:sp>
      <p:pic>
        <p:nvPicPr>
          <p:cNvPr id="13314" name="Picture 2"/>
          <p:cNvPicPr>
            <a:picLocks noGrp="1" noChangeAspect="1" noChangeArrowheads="1"/>
          </p:cNvPicPr>
          <p:nvPr>
            <p:ph sz="quarter" idx="1"/>
          </p:nvPr>
        </p:nvPicPr>
        <p:blipFill>
          <a:blip r:embed="rId2"/>
          <a:srcRect/>
          <a:stretch>
            <a:fillRect/>
          </a:stretch>
        </p:blipFill>
        <p:spPr bwMode="auto">
          <a:xfrm>
            <a:off x="1447800" y="1676400"/>
            <a:ext cx="6219825" cy="2105025"/>
          </a:xfrm>
          <a:prstGeom prst="rect">
            <a:avLst/>
          </a:prstGeom>
          <a:noFill/>
          <a:ln w="9525">
            <a:noFill/>
            <a:miter lim="800000"/>
            <a:headEnd/>
            <a:tailEnd/>
          </a:ln>
          <a:effectLst/>
        </p:spPr>
      </p:pic>
      <p:pic>
        <p:nvPicPr>
          <p:cNvPr id="13316" name="Picture 4"/>
          <p:cNvPicPr>
            <a:picLocks noChangeAspect="1" noChangeArrowheads="1"/>
          </p:cNvPicPr>
          <p:nvPr/>
        </p:nvPicPr>
        <p:blipFill>
          <a:blip r:embed="rId3"/>
          <a:srcRect/>
          <a:stretch>
            <a:fillRect/>
          </a:stretch>
        </p:blipFill>
        <p:spPr bwMode="auto">
          <a:xfrm>
            <a:off x="914400" y="4267200"/>
            <a:ext cx="7313735" cy="2133600"/>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Recursive Relationship &amp; Role Name</a:t>
            </a:r>
            <a:endParaRPr lang="en-US" dirty="0"/>
          </a:p>
        </p:txBody>
      </p:sp>
      <p:sp>
        <p:nvSpPr>
          <p:cNvPr id="3" name="Content Placeholder 2"/>
          <p:cNvSpPr>
            <a:spLocks noGrp="1"/>
          </p:cNvSpPr>
          <p:nvPr>
            <p:ph sz="quarter" idx="1"/>
          </p:nvPr>
        </p:nvSpPr>
        <p:spPr>
          <a:xfrm>
            <a:off x="457200" y="1600201"/>
            <a:ext cx="8229600" cy="1523999"/>
          </a:xfrm>
        </p:spPr>
        <p:txBody>
          <a:bodyPr>
            <a:normAutofit/>
          </a:bodyPr>
          <a:lstStyle/>
          <a:p>
            <a:r>
              <a:rPr lang="en-US" dirty="0" smtClean="0"/>
              <a:t>An entity set relating to itself.</a:t>
            </a:r>
          </a:p>
          <a:p>
            <a:r>
              <a:rPr lang="en-US" dirty="0" smtClean="0"/>
              <a:t>Role name is used to specify the exact role in which the entity participate in the relationship</a:t>
            </a:r>
          </a:p>
          <a:p>
            <a:endParaRPr lang="en-US" dirty="0"/>
          </a:p>
        </p:txBody>
      </p:sp>
      <p:pic>
        <p:nvPicPr>
          <p:cNvPr id="14338" name="Picture 2"/>
          <p:cNvPicPr>
            <a:picLocks noChangeAspect="1" noChangeArrowheads="1"/>
          </p:cNvPicPr>
          <p:nvPr/>
        </p:nvPicPr>
        <p:blipFill>
          <a:blip r:embed="rId2"/>
          <a:srcRect/>
          <a:stretch>
            <a:fillRect/>
          </a:stretch>
        </p:blipFill>
        <p:spPr bwMode="auto">
          <a:xfrm>
            <a:off x="1143000" y="3581400"/>
            <a:ext cx="7079500" cy="2057400"/>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Weak Entity set</a:t>
            </a:r>
            <a:endParaRPr lang="en-US" dirty="0"/>
          </a:p>
        </p:txBody>
      </p:sp>
      <p:pic>
        <p:nvPicPr>
          <p:cNvPr id="15362" name="Picture 2"/>
          <p:cNvPicPr>
            <a:picLocks noGrp="1" noChangeAspect="1" noChangeArrowheads="1"/>
          </p:cNvPicPr>
          <p:nvPr>
            <p:ph sz="quarter" idx="1"/>
          </p:nvPr>
        </p:nvPicPr>
        <p:blipFill>
          <a:blip r:embed="rId2"/>
          <a:stretch>
            <a:fillRect/>
          </a:stretch>
        </p:blipFill>
        <p:spPr bwMode="auto">
          <a:xfrm>
            <a:off x="1495425" y="2652712"/>
            <a:ext cx="6610350" cy="2162175"/>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Weak Entity set</a:t>
            </a:r>
            <a:endParaRPr lang="en-US" dirty="0"/>
          </a:p>
        </p:txBody>
      </p:sp>
      <p:pic>
        <p:nvPicPr>
          <p:cNvPr id="16386" name="Picture 2"/>
          <p:cNvPicPr>
            <a:picLocks noChangeAspect="1" noChangeArrowheads="1"/>
          </p:cNvPicPr>
          <p:nvPr/>
        </p:nvPicPr>
        <p:blipFill>
          <a:blip r:embed="rId2"/>
          <a:srcRect/>
          <a:stretch>
            <a:fillRect/>
          </a:stretch>
        </p:blipFill>
        <p:spPr bwMode="auto">
          <a:xfrm>
            <a:off x="533400" y="1523999"/>
            <a:ext cx="8153400" cy="3613111"/>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ER Diagram</a:t>
            </a:r>
            <a:endParaRPr lang="en-US" dirty="0"/>
          </a:p>
        </p:txBody>
      </p:sp>
      <p:sp>
        <p:nvSpPr>
          <p:cNvPr id="3" name="Content Placeholder 2"/>
          <p:cNvSpPr>
            <a:spLocks noGrp="1"/>
          </p:cNvSpPr>
          <p:nvPr>
            <p:ph sz="quarter" idx="1"/>
          </p:nvPr>
        </p:nvSpPr>
        <p:spPr/>
        <p:txBody>
          <a:bodyPr/>
          <a:lstStyle/>
          <a:p>
            <a:endParaRPr lang="en-US"/>
          </a:p>
        </p:txBody>
      </p:sp>
      <p:pic>
        <p:nvPicPr>
          <p:cNvPr id="17410" name="Picture 2"/>
          <p:cNvPicPr>
            <a:picLocks noChangeAspect="1" noChangeArrowheads="1"/>
          </p:cNvPicPr>
          <p:nvPr/>
        </p:nvPicPr>
        <p:blipFill>
          <a:blip r:embed="rId2"/>
          <a:srcRect/>
          <a:stretch>
            <a:fillRect/>
          </a:stretch>
        </p:blipFill>
        <p:spPr bwMode="auto">
          <a:xfrm>
            <a:off x="381000" y="1613770"/>
            <a:ext cx="8610600" cy="4995645"/>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ER Diagram</a:t>
            </a:r>
            <a:endParaRPr lang="en-US" dirty="0"/>
          </a:p>
        </p:txBody>
      </p:sp>
      <p:sp>
        <p:nvSpPr>
          <p:cNvPr id="3" name="Content Placeholder 2"/>
          <p:cNvSpPr>
            <a:spLocks noGrp="1"/>
          </p:cNvSpPr>
          <p:nvPr>
            <p:ph sz="quarter" idx="1"/>
          </p:nvPr>
        </p:nvSpPr>
        <p:spPr/>
        <p:txBody>
          <a:bodyPr/>
          <a:lstStyle/>
          <a:p>
            <a:endParaRPr lang="en-US"/>
          </a:p>
        </p:txBody>
      </p:sp>
      <p:pic>
        <p:nvPicPr>
          <p:cNvPr id="18434" name="Picture 2"/>
          <p:cNvPicPr>
            <a:picLocks noChangeAspect="1" noChangeArrowheads="1"/>
          </p:cNvPicPr>
          <p:nvPr/>
        </p:nvPicPr>
        <p:blipFill>
          <a:blip r:embed="rId2"/>
          <a:srcRect/>
          <a:stretch>
            <a:fillRect/>
          </a:stretch>
        </p:blipFill>
        <p:spPr bwMode="auto">
          <a:xfrm>
            <a:off x="228600" y="1447800"/>
            <a:ext cx="8756258" cy="4876800"/>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ER Diagram</a:t>
            </a:r>
            <a:endParaRPr lang="en-US" dirty="0"/>
          </a:p>
        </p:txBody>
      </p:sp>
      <p:pic>
        <p:nvPicPr>
          <p:cNvPr id="19458" name="Picture 2"/>
          <p:cNvPicPr>
            <a:picLocks noGrp="1" noChangeAspect="1" noChangeArrowheads="1"/>
          </p:cNvPicPr>
          <p:nvPr>
            <p:ph sz="quarter" idx="1"/>
          </p:nvPr>
        </p:nvPicPr>
        <p:blipFill>
          <a:blip r:embed="rId2"/>
          <a:stretch>
            <a:fillRect/>
          </a:stretch>
        </p:blipFill>
        <p:spPr bwMode="auto">
          <a:xfrm>
            <a:off x="1473102" y="1447800"/>
            <a:ext cx="6654996" cy="4572000"/>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ER Diagram</a:t>
            </a:r>
            <a:endParaRPr lang="en-US" dirty="0"/>
          </a:p>
        </p:txBody>
      </p:sp>
      <p:sp>
        <p:nvSpPr>
          <p:cNvPr id="4" name="Content Placeholder 3"/>
          <p:cNvSpPr>
            <a:spLocks noGrp="1"/>
          </p:cNvSpPr>
          <p:nvPr>
            <p:ph sz="quarter" idx="1"/>
          </p:nvPr>
        </p:nvSpPr>
        <p:spPr/>
        <p:txBody>
          <a:bodyPr/>
          <a:lstStyle/>
          <a:p>
            <a:endParaRPr lang="en-US"/>
          </a:p>
        </p:txBody>
      </p:sp>
      <p:pic>
        <p:nvPicPr>
          <p:cNvPr id="20482" name="Picture 2"/>
          <p:cNvPicPr>
            <a:picLocks noChangeAspect="1" noChangeArrowheads="1"/>
          </p:cNvPicPr>
          <p:nvPr/>
        </p:nvPicPr>
        <p:blipFill>
          <a:blip r:embed="rId2"/>
          <a:srcRect/>
          <a:stretch>
            <a:fillRect/>
          </a:stretch>
        </p:blipFill>
        <p:spPr bwMode="auto">
          <a:xfrm>
            <a:off x="152400" y="1429011"/>
            <a:ext cx="8915400" cy="5317340"/>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Ternary Relationship</a:t>
            </a:r>
            <a:endParaRPr lang="en-US" dirty="0"/>
          </a:p>
        </p:txBody>
      </p:sp>
      <p:pic>
        <p:nvPicPr>
          <p:cNvPr id="21506" name="Picture 2"/>
          <p:cNvPicPr>
            <a:picLocks noGrp="1" noChangeAspect="1" noChangeArrowheads="1"/>
          </p:cNvPicPr>
          <p:nvPr>
            <p:ph sz="quarter" idx="1"/>
          </p:nvPr>
        </p:nvPicPr>
        <p:blipFill>
          <a:blip r:embed="rId2"/>
          <a:stretch>
            <a:fillRect/>
          </a:stretch>
        </p:blipFill>
        <p:spPr bwMode="auto">
          <a:xfrm>
            <a:off x="1228725" y="1828800"/>
            <a:ext cx="7143750" cy="3810000"/>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14400" y="152400"/>
            <a:ext cx="7772400" cy="731838"/>
          </a:xfrm>
        </p:spPr>
        <p:txBody>
          <a:bodyPr>
            <a:normAutofit fontScale="90000"/>
          </a:bodyPr>
          <a:lstStyle/>
          <a:p>
            <a:r>
              <a:rPr lang="en-US" dirty="0">
                <a:latin typeface="Times New Roman" pitchFamily="18" charset="0"/>
                <a:cs typeface="Times New Roman" pitchFamily="18" charset="0"/>
              </a:rPr>
              <a:t>Flight </a:t>
            </a:r>
            <a:r>
              <a:rPr lang="en-US" dirty="0" smtClean="0">
                <a:latin typeface="Times New Roman" pitchFamily="18" charset="0"/>
                <a:cs typeface="Times New Roman" pitchFamily="18" charset="0"/>
              </a:rPr>
              <a:t>Database Example</a:t>
            </a:r>
            <a:endParaRPr lang="en-US" dirty="0"/>
          </a:p>
        </p:txBody>
      </p:sp>
      <p:sp>
        <p:nvSpPr>
          <p:cNvPr id="3" name="Content Placeholder 2"/>
          <p:cNvSpPr>
            <a:spLocks noGrp="1"/>
          </p:cNvSpPr>
          <p:nvPr>
            <p:ph sz="quarter" idx="1"/>
          </p:nvPr>
        </p:nvSpPr>
        <p:spPr>
          <a:xfrm>
            <a:off x="533400" y="914400"/>
            <a:ext cx="8153400" cy="5486400"/>
          </a:xfrm>
        </p:spPr>
        <p:txBody>
          <a:bodyPr>
            <a:noAutofit/>
          </a:bodyPr>
          <a:lstStyle/>
          <a:p>
            <a:pPr algn="just"/>
            <a:r>
              <a:rPr lang="en-US" sz="2300" dirty="0" smtClean="0">
                <a:latin typeface="Times New Roman" pitchFamily="18" charset="0"/>
                <a:cs typeface="Times New Roman" pitchFamily="18" charset="0"/>
              </a:rPr>
              <a:t>The </a:t>
            </a:r>
            <a:r>
              <a:rPr lang="en-US" sz="2300" dirty="0">
                <a:latin typeface="Times New Roman" pitchFamily="18" charset="0"/>
                <a:cs typeface="Times New Roman" pitchFamily="18" charset="0"/>
              </a:rPr>
              <a:t>flight database stores details about an airline’s fleet, flights, and seat bookings. Again, it’s a hugely simplified version of what a real airline would use, but the principles are the same.</a:t>
            </a:r>
          </a:p>
          <a:p>
            <a:pPr algn="just"/>
            <a:r>
              <a:rPr lang="en-US" sz="2300" b="1" dirty="0" smtClean="0">
                <a:latin typeface="Times New Roman" pitchFamily="18" charset="0"/>
                <a:cs typeface="Times New Roman" pitchFamily="18" charset="0"/>
              </a:rPr>
              <a:t>Consider </a:t>
            </a:r>
            <a:r>
              <a:rPr lang="en-US" sz="2300" b="1" dirty="0">
                <a:latin typeface="Times New Roman" pitchFamily="18" charset="0"/>
                <a:cs typeface="Times New Roman" pitchFamily="18" charset="0"/>
              </a:rPr>
              <a:t>the following requirements list</a:t>
            </a:r>
            <a:r>
              <a:rPr lang="en-US" sz="2300" dirty="0">
                <a:latin typeface="Times New Roman" pitchFamily="18" charset="0"/>
                <a:cs typeface="Times New Roman" pitchFamily="18" charset="0"/>
              </a:rPr>
              <a:t>:</a:t>
            </a:r>
          </a:p>
          <a:p>
            <a:pPr lvl="1" algn="just"/>
            <a:r>
              <a:rPr lang="en-US" sz="2100" dirty="0" smtClean="0">
                <a:latin typeface="Times New Roman" pitchFamily="18" charset="0"/>
                <a:cs typeface="Times New Roman" pitchFamily="18" charset="0"/>
              </a:rPr>
              <a:t>The </a:t>
            </a:r>
            <a:r>
              <a:rPr lang="en-US" sz="2100" dirty="0">
                <a:latin typeface="Times New Roman" pitchFamily="18" charset="0"/>
                <a:cs typeface="Times New Roman" pitchFamily="18" charset="0"/>
              </a:rPr>
              <a:t>airline has one or more airplanes.</a:t>
            </a:r>
          </a:p>
          <a:p>
            <a:pPr lvl="1" algn="just"/>
            <a:r>
              <a:rPr lang="en-US" sz="2100" dirty="0" smtClean="0">
                <a:latin typeface="Times New Roman" pitchFamily="18" charset="0"/>
                <a:cs typeface="Times New Roman" pitchFamily="18" charset="0"/>
              </a:rPr>
              <a:t>An </a:t>
            </a:r>
            <a:r>
              <a:rPr lang="en-US" sz="2100" dirty="0">
                <a:latin typeface="Times New Roman" pitchFamily="18" charset="0"/>
                <a:cs typeface="Times New Roman" pitchFamily="18" charset="0"/>
              </a:rPr>
              <a:t>airplane has a model number, a unique registration number, and the capacity to take one or more passengers.</a:t>
            </a:r>
          </a:p>
          <a:p>
            <a:pPr lvl="1" algn="just"/>
            <a:r>
              <a:rPr lang="en-US" sz="2100" dirty="0" smtClean="0">
                <a:latin typeface="Times New Roman" pitchFamily="18" charset="0"/>
                <a:cs typeface="Times New Roman" pitchFamily="18" charset="0"/>
              </a:rPr>
              <a:t>An </a:t>
            </a:r>
            <a:r>
              <a:rPr lang="en-US" sz="2100" dirty="0">
                <a:latin typeface="Times New Roman" pitchFamily="18" charset="0"/>
                <a:cs typeface="Times New Roman" pitchFamily="18" charset="0"/>
              </a:rPr>
              <a:t>airplane flight has a unique flight number, a departure airport, a destination airport, a departure date and time, and an arrival date and time.</a:t>
            </a:r>
          </a:p>
          <a:p>
            <a:pPr lvl="1" algn="just"/>
            <a:r>
              <a:rPr lang="en-US" sz="2100" dirty="0" smtClean="0">
                <a:latin typeface="Times New Roman" pitchFamily="18" charset="0"/>
                <a:cs typeface="Times New Roman" pitchFamily="18" charset="0"/>
              </a:rPr>
              <a:t>Each </a:t>
            </a:r>
            <a:r>
              <a:rPr lang="en-US" sz="2100" dirty="0">
                <a:latin typeface="Times New Roman" pitchFamily="18" charset="0"/>
                <a:cs typeface="Times New Roman" pitchFamily="18" charset="0"/>
              </a:rPr>
              <a:t>flight is carried out by a single airplane.</a:t>
            </a:r>
          </a:p>
          <a:p>
            <a:pPr lvl="1" algn="just"/>
            <a:r>
              <a:rPr lang="en-US" sz="2100" dirty="0" smtClean="0">
                <a:latin typeface="Times New Roman" pitchFamily="18" charset="0"/>
                <a:cs typeface="Times New Roman" pitchFamily="18" charset="0"/>
              </a:rPr>
              <a:t>A </a:t>
            </a:r>
            <a:r>
              <a:rPr lang="en-US" sz="2100" dirty="0">
                <a:latin typeface="Times New Roman" pitchFamily="18" charset="0"/>
                <a:cs typeface="Times New Roman" pitchFamily="18" charset="0"/>
              </a:rPr>
              <a:t>passenger has given names, a surname, and a unique email address.</a:t>
            </a:r>
          </a:p>
          <a:p>
            <a:pPr lvl="1" algn="just"/>
            <a:r>
              <a:rPr lang="en-US" sz="2100" dirty="0" smtClean="0">
                <a:latin typeface="Times New Roman" pitchFamily="18" charset="0"/>
                <a:cs typeface="Times New Roman" pitchFamily="18" charset="0"/>
              </a:rPr>
              <a:t>A </a:t>
            </a:r>
            <a:r>
              <a:rPr lang="en-US" sz="2100" dirty="0">
                <a:latin typeface="Times New Roman" pitchFamily="18" charset="0"/>
                <a:cs typeface="Times New Roman" pitchFamily="18" charset="0"/>
              </a:rPr>
              <a:t>passenger can book a seat on a flight.</a:t>
            </a:r>
          </a:p>
        </p:txBody>
      </p:sp>
    </p:spTree>
    <p:extLst>
      <p:ext uri="{BB962C8B-B14F-4D97-AF65-F5344CB8AC3E}">
        <p14:creationId xmlns:p14="http://schemas.microsoft.com/office/powerpoint/2010/main" val="262359675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sz="quarter" idx="1"/>
          </p:nvPr>
        </p:nvSpPr>
        <p:spPr/>
        <p:txBody>
          <a:bodyPr/>
          <a:lstStyle/>
          <a:p>
            <a:endParaRPr lang="en-US"/>
          </a:p>
        </p:txBody>
      </p:sp>
      <p:pic>
        <p:nvPicPr>
          <p:cNvPr id="2050" name="Picture 2" descr="The ER diagram of the flight database"/>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8600" y="228600"/>
            <a:ext cx="8686800" cy="64008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86508935"/>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
          </p:nvPr>
        </p:nvSpPr>
        <p:spPr>
          <a:xfrm>
            <a:off x="304800" y="228600"/>
            <a:ext cx="8382000" cy="5791200"/>
          </a:xfrm>
        </p:spPr>
        <p:txBody>
          <a:bodyPr>
            <a:noAutofit/>
          </a:bodyPr>
          <a:lstStyle/>
          <a:p>
            <a:pPr algn="just"/>
            <a:r>
              <a:rPr lang="en-US" sz="2000" dirty="0" smtClean="0">
                <a:latin typeface="Times New Roman" pitchFamily="18" charset="0"/>
                <a:cs typeface="Times New Roman" pitchFamily="18" charset="0"/>
              </a:rPr>
              <a:t>An </a:t>
            </a:r>
            <a:r>
              <a:rPr lang="en-US" sz="2000" dirty="0">
                <a:latin typeface="Times New Roman" pitchFamily="18" charset="0"/>
                <a:cs typeface="Times New Roman" pitchFamily="18" charset="0"/>
              </a:rPr>
              <a:t>Airplane is uniquely identified by its </a:t>
            </a:r>
            <a:r>
              <a:rPr lang="en-US" sz="2000" dirty="0" err="1">
                <a:latin typeface="Times New Roman" pitchFamily="18" charset="0"/>
                <a:cs typeface="Times New Roman" pitchFamily="18" charset="0"/>
              </a:rPr>
              <a:t>RegistrationNumber</a:t>
            </a:r>
            <a:r>
              <a:rPr lang="en-US" sz="2000" dirty="0">
                <a:latin typeface="Times New Roman" pitchFamily="18" charset="0"/>
                <a:cs typeface="Times New Roman" pitchFamily="18" charset="0"/>
              </a:rPr>
              <a:t>, so we use this as the primary key.</a:t>
            </a:r>
          </a:p>
          <a:p>
            <a:pPr algn="just"/>
            <a:r>
              <a:rPr lang="en-US" sz="2000" dirty="0" smtClean="0">
                <a:latin typeface="Times New Roman" pitchFamily="18" charset="0"/>
                <a:cs typeface="Times New Roman" pitchFamily="18" charset="0"/>
              </a:rPr>
              <a:t>A </a:t>
            </a:r>
            <a:r>
              <a:rPr lang="en-US" sz="2000" dirty="0">
                <a:latin typeface="Times New Roman" pitchFamily="18" charset="0"/>
                <a:cs typeface="Times New Roman" pitchFamily="18" charset="0"/>
              </a:rPr>
              <a:t>Flight is uniquely identified by its </a:t>
            </a:r>
            <a:r>
              <a:rPr lang="en-US" sz="2000" dirty="0" err="1">
                <a:latin typeface="Times New Roman" pitchFamily="18" charset="0"/>
                <a:cs typeface="Times New Roman" pitchFamily="18" charset="0"/>
              </a:rPr>
              <a:t>FlightNumber</a:t>
            </a:r>
            <a:r>
              <a:rPr lang="en-US" sz="2000" dirty="0">
                <a:latin typeface="Times New Roman" pitchFamily="18" charset="0"/>
                <a:cs typeface="Times New Roman" pitchFamily="18" charset="0"/>
              </a:rPr>
              <a:t>, so we use the flight number as the primary key. The departure and destination airports are captured in the From and To attributes, and we have separate attributes for the departure and arrival date and time.</a:t>
            </a:r>
          </a:p>
          <a:p>
            <a:pPr algn="just"/>
            <a:r>
              <a:rPr lang="en-US" sz="2000" dirty="0" smtClean="0">
                <a:latin typeface="Times New Roman" pitchFamily="18" charset="0"/>
                <a:cs typeface="Times New Roman" pitchFamily="18" charset="0"/>
              </a:rPr>
              <a:t>Because </a:t>
            </a:r>
            <a:r>
              <a:rPr lang="en-US" sz="2000" dirty="0">
                <a:latin typeface="Times New Roman" pitchFamily="18" charset="0"/>
                <a:cs typeface="Times New Roman" pitchFamily="18" charset="0"/>
              </a:rPr>
              <a:t>no two passengers will share an email address, we can use the </a:t>
            </a:r>
            <a:r>
              <a:rPr lang="en-US" sz="2000" dirty="0" err="1">
                <a:latin typeface="Times New Roman" pitchFamily="18" charset="0"/>
                <a:cs typeface="Times New Roman" pitchFamily="18" charset="0"/>
              </a:rPr>
              <a:t>EmailAddress</a:t>
            </a:r>
            <a:r>
              <a:rPr lang="en-US" sz="2000" dirty="0">
                <a:latin typeface="Times New Roman" pitchFamily="18" charset="0"/>
                <a:cs typeface="Times New Roman" pitchFamily="18" charset="0"/>
              </a:rPr>
              <a:t> as the primary key for the Passenger entity.</a:t>
            </a:r>
          </a:p>
          <a:p>
            <a:pPr algn="just"/>
            <a:r>
              <a:rPr lang="en-US" sz="2000" dirty="0" smtClean="0">
                <a:latin typeface="Times New Roman" pitchFamily="18" charset="0"/>
                <a:cs typeface="Times New Roman" pitchFamily="18" charset="0"/>
              </a:rPr>
              <a:t>An </a:t>
            </a:r>
            <a:r>
              <a:rPr lang="en-US" sz="2000" dirty="0">
                <a:latin typeface="Times New Roman" pitchFamily="18" charset="0"/>
                <a:cs typeface="Times New Roman" pitchFamily="18" charset="0"/>
              </a:rPr>
              <a:t>airplane can be involved in any number of flights, while each flight uses exactly one airplane, so the Flies relationship between the Airplane and Flight relationships has cardinality 1:N; because a flight cannot exist without an airplane, the Flight entity participates totally in this relationship.</a:t>
            </a:r>
          </a:p>
          <a:p>
            <a:pPr algn="just"/>
            <a:r>
              <a:rPr lang="en-US" sz="2000" dirty="0" smtClean="0">
                <a:latin typeface="Times New Roman" pitchFamily="18" charset="0"/>
                <a:cs typeface="Times New Roman" pitchFamily="18" charset="0"/>
              </a:rPr>
              <a:t> </a:t>
            </a:r>
            <a:r>
              <a:rPr lang="en-US" sz="2000" dirty="0">
                <a:latin typeface="Times New Roman" pitchFamily="18" charset="0"/>
                <a:cs typeface="Times New Roman" pitchFamily="18" charset="0"/>
              </a:rPr>
              <a:t>A passenger can book any number of flights, while a flight can be booked by any number of passengers. As discussed earlier in Intermediate Entities,” we could specify an M:N Books relationship between the Passenger and Flight relationship, but considering the issue more carefully shows that there is a hidden entity here: the booking itself. We capture this by creating the intermediate entity Booking and 1:N relationships between it and the Passenger and Flight entities. Identifying such entities allows us to get a better picture of the requirements. </a:t>
            </a:r>
          </a:p>
        </p:txBody>
      </p:sp>
    </p:spTree>
    <p:extLst>
      <p:ext uri="{BB962C8B-B14F-4D97-AF65-F5344CB8AC3E}">
        <p14:creationId xmlns:p14="http://schemas.microsoft.com/office/powerpoint/2010/main" val="159540332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
          </p:nvPr>
        </p:nvSpPr>
        <p:spPr>
          <a:xfrm>
            <a:off x="457200" y="228600"/>
            <a:ext cx="8458200" cy="6781800"/>
          </a:xfrm>
        </p:spPr>
        <p:txBody>
          <a:bodyPr>
            <a:normAutofit fontScale="77500" lnSpcReduction="20000"/>
          </a:bodyPr>
          <a:lstStyle/>
          <a:p>
            <a:r>
              <a:rPr lang="en-US" sz="2900" b="1" dirty="0">
                <a:latin typeface="Times New Roman" pitchFamily="18" charset="0"/>
                <a:cs typeface="Times New Roman" pitchFamily="18" charset="0"/>
              </a:rPr>
              <a:t>The University Database</a:t>
            </a:r>
          </a:p>
          <a:p>
            <a:pPr algn="just"/>
            <a:r>
              <a:rPr lang="en-US" sz="2900" dirty="0" smtClean="0">
                <a:latin typeface="Times New Roman" pitchFamily="18" charset="0"/>
                <a:cs typeface="Times New Roman" pitchFamily="18" charset="0"/>
              </a:rPr>
              <a:t>The </a:t>
            </a:r>
            <a:r>
              <a:rPr lang="en-US" sz="2900" dirty="0">
                <a:latin typeface="Times New Roman" pitchFamily="18" charset="0"/>
                <a:cs typeface="Times New Roman" pitchFamily="18" charset="0"/>
              </a:rPr>
              <a:t>university database stores details about university students, courses, the semester a student took a particular course (and his mark and grade if he completed it), and what degree program each student is enrolled in. The database is a long way from one that’d be suitable for a large tertiary </a:t>
            </a:r>
            <a:r>
              <a:rPr lang="en-US" sz="2900" dirty="0" smtClean="0">
                <a:latin typeface="Times New Roman" pitchFamily="18" charset="0"/>
                <a:cs typeface="Times New Roman" pitchFamily="18" charset="0"/>
              </a:rPr>
              <a:t>institution</a:t>
            </a:r>
            <a:r>
              <a:rPr lang="en-US" dirty="0" smtClean="0">
                <a:latin typeface="Times New Roman" pitchFamily="18" charset="0"/>
                <a:cs typeface="Times New Roman" pitchFamily="18" charset="0"/>
              </a:rPr>
              <a:t>.</a:t>
            </a:r>
          </a:p>
          <a:p>
            <a:pPr algn="just"/>
            <a:r>
              <a:rPr lang="en-US" b="1" dirty="0">
                <a:solidFill>
                  <a:srgbClr val="FF0000"/>
                </a:solidFill>
                <a:latin typeface="Times New Roman" pitchFamily="18" charset="0"/>
                <a:cs typeface="Times New Roman" pitchFamily="18" charset="0"/>
              </a:rPr>
              <a:t>Consider the following requirements list:</a:t>
            </a:r>
          </a:p>
          <a:p>
            <a:pPr lvl="1" algn="just"/>
            <a:r>
              <a:rPr lang="en-US" sz="2700" dirty="0" smtClean="0">
                <a:latin typeface="Times New Roman" pitchFamily="18" charset="0"/>
                <a:cs typeface="Times New Roman" pitchFamily="18" charset="0"/>
              </a:rPr>
              <a:t>The </a:t>
            </a:r>
            <a:r>
              <a:rPr lang="en-US" sz="2700" dirty="0">
                <a:latin typeface="Times New Roman" pitchFamily="18" charset="0"/>
                <a:cs typeface="Times New Roman" pitchFamily="18" charset="0"/>
              </a:rPr>
              <a:t>university offers one or more programs.</a:t>
            </a:r>
          </a:p>
          <a:p>
            <a:pPr lvl="1" algn="just"/>
            <a:r>
              <a:rPr lang="en-US" sz="2700" dirty="0" smtClean="0">
                <a:latin typeface="Times New Roman" pitchFamily="18" charset="0"/>
                <a:cs typeface="Times New Roman" pitchFamily="18" charset="0"/>
              </a:rPr>
              <a:t>A </a:t>
            </a:r>
            <a:r>
              <a:rPr lang="en-US" sz="2700" dirty="0">
                <a:latin typeface="Times New Roman" pitchFamily="18" charset="0"/>
                <a:cs typeface="Times New Roman" pitchFamily="18" charset="0"/>
              </a:rPr>
              <a:t>program is made up of one or more courses.</a:t>
            </a:r>
          </a:p>
          <a:p>
            <a:pPr lvl="1" algn="just"/>
            <a:r>
              <a:rPr lang="en-US" sz="2700" dirty="0" smtClean="0">
                <a:latin typeface="Times New Roman" pitchFamily="18" charset="0"/>
                <a:cs typeface="Times New Roman" pitchFamily="18" charset="0"/>
              </a:rPr>
              <a:t>A </a:t>
            </a:r>
            <a:r>
              <a:rPr lang="en-US" sz="2700" dirty="0">
                <a:latin typeface="Times New Roman" pitchFamily="18" charset="0"/>
                <a:cs typeface="Times New Roman" pitchFamily="18" charset="0"/>
              </a:rPr>
              <a:t>student must enroll in a program.</a:t>
            </a:r>
          </a:p>
          <a:p>
            <a:pPr lvl="1" algn="just"/>
            <a:r>
              <a:rPr lang="en-US" sz="2700" dirty="0" smtClean="0">
                <a:latin typeface="Times New Roman" pitchFamily="18" charset="0"/>
                <a:cs typeface="Times New Roman" pitchFamily="18" charset="0"/>
              </a:rPr>
              <a:t>A </a:t>
            </a:r>
            <a:r>
              <a:rPr lang="en-US" sz="2700" dirty="0">
                <a:latin typeface="Times New Roman" pitchFamily="18" charset="0"/>
                <a:cs typeface="Times New Roman" pitchFamily="18" charset="0"/>
              </a:rPr>
              <a:t>student takes the courses that are part of her program.</a:t>
            </a:r>
          </a:p>
          <a:p>
            <a:pPr lvl="1" algn="just"/>
            <a:r>
              <a:rPr lang="en-US" sz="2700" dirty="0" smtClean="0">
                <a:latin typeface="Times New Roman" pitchFamily="18" charset="0"/>
                <a:cs typeface="Times New Roman" pitchFamily="18" charset="0"/>
              </a:rPr>
              <a:t>A </a:t>
            </a:r>
            <a:r>
              <a:rPr lang="en-US" sz="2700" dirty="0">
                <a:latin typeface="Times New Roman" pitchFamily="18" charset="0"/>
                <a:cs typeface="Times New Roman" pitchFamily="18" charset="0"/>
              </a:rPr>
              <a:t>program has a name, a program identifier, the total credit points required to graduate, and the year it commenced.</a:t>
            </a:r>
          </a:p>
          <a:p>
            <a:pPr lvl="1" algn="just"/>
            <a:r>
              <a:rPr lang="en-US" sz="2700" dirty="0" smtClean="0">
                <a:latin typeface="Times New Roman" pitchFamily="18" charset="0"/>
                <a:cs typeface="Times New Roman" pitchFamily="18" charset="0"/>
              </a:rPr>
              <a:t>A </a:t>
            </a:r>
            <a:r>
              <a:rPr lang="en-US" sz="2700" dirty="0">
                <a:latin typeface="Times New Roman" pitchFamily="18" charset="0"/>
                <a:cs typeface="Times New Roman" pitchFamily="18" charset="0"/>
              </a:rPr>
              <a:t>course has a name, a course identifier, a credit point value, and the year it commenced.</a:t>
            </a:r>
          </a:p>
          <a:p>
            <a:pPr lvl="1" algn="just"/>
            <a:r>
              <a:rPr lang="en-US" sz="2700" dirty="0" smtClean="0">
                <a:latin typeface="Times New Roman" pitchFamily="18" charset="0"/>
                <a:cs typeface="Times New Roman" pitchFamily="18" charset="0"/>
              </a:rPr>
              <a:t>Students </a:t>
            </a:r>
            <a:r>
              <a:rPr lang="en-US" sz="2700" dirty="0">
                <a:latin typeface="Times New Roman" pitchFamily="18" charset="0"/>
                <a:cs typeface="Times New Roman" pitchFamily="18" charset="0"/>
              </a:rPr>
              <a:t>have one or more given names, a surname, a student identifier, a date of birth, and the year they first enrolled. We can treat all given names as a single object—for example, “John Paul.”</a:t>
            </a:r>
          </a:p>
          <a:p>
            <a:pPr lvl="1" algn="just"/>
            <a:r>
              <a:rPr lang="en-US" sz="2700" dirty="0" smtClean="0">
                <a:latin typeface="Times New Roman" pitchFamily="18" charset="0"/>
                <a:cs typeface="Times New Roman" pitchFamily="18" charset="0"/>
              </a:rPr>
              <a:t>When </a:t>
            </a:r>
            <a:r>
              <a:rPr lang="en-US" sz="2700" dirty="0">
                <a:latin typeface="Times New Roman" pitchFamily="18" charset="0"/>
                <a:cs typeface="Times New Roman" pitchFamily="18" charset="0"/>
              </a:rPr>
              <a:t>a student takes a course, the year and semester he attempted it are recorded. When he finishes the course, a grade (such as A or B) and a mark (such as 60 percent) are recorded.</a:t>
            </a:r>
          </a:p>
          <a:p>
            <a:pPr lvl="1" algn="just"/>
            <a:r>
              <a:rPr lang="en-US" sz="2700" dirty="0" smtClean="0">
                <a:latin typeface="Times New Roman" pitchFamily="18" charset="0"/>
                <a:cs typeface="Times New Roman" pitchFamily="18" charset="0"/>
              </a:rPr>
              <a:t>Each </a:t>
            </a:r>
            <a:r>
              <a:rPr lang="en-US" sz="2700" dirty="0">
                <a:latin typeface="Times New Roman" pitchFamily="18" charset="0"/>
                <a:cs typeface="Times New Roman" pitchFamily="18" charset="0"/>
              </a:rPr>
              <a:t>course in a program is sequenced into a year (for example, year 1) and a semester (for example, semester 1).</a:t>
            </a:r>
          </a:p>
        </p:txBody>
      </p:sp>
    </p:spTree>
    <p:extLst>
      <p:ext uri="{BB962C8B-B14F-4D97-AF65-F5344CB8AC3E}">
        <p14:creationId xmlns:p14="http://schemas.microsoft.com/office/powerpoint/2010/main" val="2096826403"/>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sz="quarter" idx="1"/>
          </p:nvPr>
        </p:nvSpPr>
        <p:spPr/>
        <p:txBody>
          <a:bodyPr/>
          <a:lstStyle/>
          <a:p>
            <a:endParaRPr lang="en-US"/>
          </a:p>
        </p:txBody>
      </p:sp>
      <p:pic>
        <p:nvPicPr>
          <p:cNvPr id="3074" name="Picture 2" descr="The ER diagram of the university database"/>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8600" y="152400"/>
            <a:ext cx="8686800" cy="6477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4668772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
          </p:nvPr>
        </p:nvSpPr>
        <p:spPr>
          <a:xfrm>
            <a:off x="457200" y="304800"/>
            <a:ext cx="8229600" cy="6248400"/>
          </a:xfrm>
        </p:spPr>
        <p:txBody>
          <a:bodyPr>
            <a:normAutofit fontScale="62500" lnSpcReduction="20000"/>
          </a:bodyPr>
          <a:lstStyle/>
          <a:p>
            <a:pPr algn="just"/>
            <a:r>
              <a:rPr lang="en-US" sz="3200" dirty="0">
                <a:latin typeface="Times New Roman" pitchFamily="18" charset="0"/>
                <a:cs typeface="Times New Roman" pitchFamily="18" charset="0"/>
              </a:rPr>
              <a:t>In </a:t>
            </a:r>
            <a:r>
              <a:rPr lang="en-US" sz="3200" dirty="0" smtClean="0">
                <a:latin typeface="Times New Roman" pitchFamily="18" charset="0"/>
                <a:cs typeface="Times New Roman" pitchFamily="18" charset="0"/>
              </a:rPr>
              <a:t>this design</a:t>
            </a:r>
            <a:r>
              <a:rPr lang="en-US" sz="3200" dirty="0">
                <a:latin typeface="Times New Roman" pitchFamily="18" charset="0"/>
                <a:cs typeface="Times New Roman" pitchFamily="18" charset="0"/>
              </a:rPr>
              <a:t>: </a:t>
            </a:r>
          </a:p>
          <a:p>
            <a:pPr algn="just"/>
            <a:r>
              <a:rPr lang="en-US" sz="3200" dirty="0">
                <a:latin typeface="Times New Roman" pitchFamily="18" charset="0"/>
                <a:cs typeface="Times New Roman" pitchFamily="18" charset="0"/>
              </a:rPr>
              <a:t>Student is a strong entity, with an identifier, </a:t>
            </a:r>
            <a:r>
              <a:rPr lang="en-US" sz="3200" dirty="0" err="1">
                <a:latin typeface="Times New Roman" pitchFamily="18" charset="0"/>
                <a:cs typeface="Times New Roman" pitchFamily="18" charset="0"/>
              </a:rPr>
              <a:t>student_id</a:t>
            </a:r>
            <a:r>
              <a:rPr lang="en-US" sz="3200" dirty="0">
                <a:latin typeface="Times New Roman" pitchFamily="18" charset="0"/>
                <a:cs typeface="Times New Roman" pitchFamily="18" charset="0"/>
              </a:rPr>
              <a:t>, created to be the primary key used to distinguish between students (remember, we could have several students with the same name).</a:t>
            </a:r>
          </a:p>
          <a:p>
            <a:pPr algn="just"/>
            <a:r>
              <a:rPr lang="en-US" sz="3200" dirty="0">
                <a:latin typeface="Times New Roman" pitchFamily="18" charset="0"/>
                <a:cs typeface="Times New Roman" pitchFamily="18" charset="0"/>
              </a:rPr>
              <a:t>Program is a strong entity, with the identifier </a:t>
            </a:r>
            <a:r>
              <a:rPr lang="en-US" sz="3200" dirty="0" err="1">
                <a:latin typeface="Times New Roman" pitchFamily="18" charset="0"/>
                <a:cs typeface="Times New Roman" pitchFamily="18" charset="0"/>
              </a:rPr>
              <a:t>program_id</a:t>
            </a:r>
            <a:r>
              <a:rPr lang="en-US" sz="3200" dirty="0">
                <a:latin typeface="Times New Roman" pitchFamily="18" charset="0"/>
                <a:cs typeface="Times New Roman" pitchFamily="18" charset="0"/>
              </a:rPr>
              <a:t> as the primary key used to distinguish between programs.</a:t>
            </a:r>
          </a:p>
          <a:p>
            <a:pPr algn="just"/>
            <a:r>
              <a:rPr lang="en-US" sz="3200" dirty="0">
                <a:latin typeface="Times New Roman" pitchFamily="18" charset="0"/>
                <a:cs typeface="Times New Roman" pitchFamily="18" charset="0"/>
              </a:rPr>
              <a:t>Each student must be enrolled in a program, so the Student entity participates totally in the many-to-one </a:t>
            </a:r>
            <a:r>
              <a:rPr lang="en-US" sz="3200" dirty="0" err="1">
                <a:latin typeface="Times New Roman" pitchFamily="18" charset="0"/>
                <a:cs typeface="Times New Roman" pitchFamily="18" charset="0"/>
              </a:rPr>
              <a:t>EnrollsIn</a:t>
            </a:r>
            <a:r>
              <a:rPr lang="en-US" sz="3200" dirty="0">
                <a:latin typeface="Times New Roman" pitchFamily="18" charset="0"/>
                <a:cs typeface="Times New Roman" pitchFamily="18" charset="0"/>
              </a:rPr>
              <a:t> relationship with Program. A program can exist without having any enrolled students, so it participates partially in this relationship.</a:t>
            </a:r>
          </a:p>
          <a:p>
            <a:pPr algn="just"/>
            <a:r>
              <a:rPr lang="en-US" sz="3200" dirty="0">
                <a:latin typeface="Times New Roman" pitchFamily="18" charset="0"/>
                <a:cs typeface="Times New Roman" pitchFamily="18" charset="0"/>
              </a:rPr>
              <a:t>A Course has meaning only in the context of a Program, so it’s a weak entity, with </a:t>
            </a:r>
            <a:r>
              <a:rPr lang="en-US" sz="3200" dirty="0" err="1">
                <a:latin typeface="Times New Roman" pitchFamily="18" charset="0"/>
                <a:cs typeface="Times New Roman" pitchFamily="18" charset="0"/>
              </a:rPr>
              <a:t>course_id</a:t>
            </a:r>
            <a:r>
              <a:rPr lang="en-US" sz="3200" dirty="0">
                <a:latin typeface="Times New Roman" pitchFamily="18" charset="0"/>
                <a:cs typeface="Times New Roman" pitchFamily="18" charset="0"/>
              </a:rPr>
              <a:t> as a weak key. This means that a Course is uniquely identified using its </a:t>
            </a:r>
            <a:r>
              <a:rPr lang="en-US" sz="3200" dirty="0" err="1">
                <a:latin typeface="Times New Roman" pitchFamily="18" charset="0"/>
                <a:cs typeface="Times New Roman" pitchFamily="18" charset="0"/>
              </a:rPr>
              <a:t>course_id</a:t>
            </a:r>
            <a:r>
              <a:rPr lang="en-US" sz="3200" dirty="0">
                <a:latin typeface="Times New Roman" pitchFamily="18" charset="0"/>
                <a:cs typeface="Times New Roman" pitchFamily="18" charset="0"/>
              </a:rPr>
              <a:t> and the </a:t>
            </a:r>
            <a:r>
              <a:rPr lang="en-US" sz="3200" dirty="0" err="1">
                <a:latin typeface="Times New Roman" pitchFamily="18" charset="0"/>
                <a:cs typeface="Times New Roman" pitchFamily="18" charset="0"/>
              </a:rPr>
              <a:t>program_id</a:t>
            </a:r>
            <a:r>
              <a:rPr lang="en-US" sz="3200" dirty="0">
                <a:latin typeface="Times New Roman" pitchFamily="18" charset="0"/>
                <a:cs typeface="Times New Roman" pitchFamily="18" charset="0"/>
              </a:rPr>
              <a:t> of its owning program.</a:t>
            </a:r>
          </a:p>
          <a:p>
            <a:pPr algn="just"/>
            <a:r>
              <a:rPr lang="en-US" sz="3200" dirty="0">
                <a:latin typeface="Times New Roman" pitchFamily="18" charset="0"/>
                <a:cs typeface="Times New Roman" pitchFamily="18" charset="0"/>
              </a:rPr>
              <a:t>As a weak entity, Course participates totally in the many-to-one identifying relationship with its owning Program. This relationship has Year and Semester attributes that identify its sequence position.</a:t>
            </a:r>
          </a:p>
          <a:p>
            <a:pPr algn="just"/>
            <a:r>
              <a:rPr lang="en-US" sz="3200" dirty="0">
                <a:latin typeface="Times New Roman" pitchFamily="18" charset="0"/>
                <a:cs typeface="Times New Roman" pitchFamily="18" charset="0"/>
              </a:rPr>
              <a:t>Student and Course are related through the many-to-many Attempts relationships; a course can exist without a student, and a student can be enrolled without attempting any courses, so the participation is not total.</a:t>
            </a:r>
          </a:p>
          <a:p>
            <a:pPr algn="just"/>
            <a:r>
              <a:rPr lang="en-US" sz="3200" dirty="0">
                <a:latin typeface="Times New Roman" pitchFamily="18" charset="0"/>
                <a:cs typeface="Times New Roman" pitchFamily="18" charset="0"/>
              </a:rPr>
              <a:t>When a student attempts a course, there are attributes to capture the Year and Semester, and the Mark and Grade.</a:t>
            </a:r>
          </a:p>
          <a:p>
            <a:endParaRPr lang="en-US" dirty="0"/>
          </a:p>
        </p:txBody>
      </p:sp>
    </p:spTree>
    <p:extLst>
      <p:ext uri="{BB962C8B-B14F-4D97-AF65-F5344CB8AC3E}">
        <p14:creationId xmlns:p14="http://schemas.microsoft.com/office/powerpoint/2010/main" val="113001150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
          </p:nvPr>
        </p:nvSpPr>
        <p:spPr>
          <a:xfrm>
            <a:off x="228600" y="228600"/>
            <a:ext cx="8763000" cy="6400800"/>
          </a:xfrm>
        </p:spPr>
        <p:txBody>
          <a:bodyPr>
            <a:noAutofit/>
          </a:bodyPr>
          <a:lstStyle/>
          <a:p>
            <a:pPr algn="just"/>
            <a:r>
              <a:rPr lang="en-US" sz="2200" b="1" dirty="0">
                <a:latin typeface="Times New Roman" pitchFamily="18" charset="0"/>
                <a:cs typeface="Times New Roman" pitchFamily="18" charset="0"/>
              </a:rPr>
              <a:t>The Music Database</a:t>
            </a:r>
          </a:p>
          <a:p>
            <a:pPr algn="just"/>
            <a:r>
              <a:rPr lang="en-US" sz="2200" dirty="0" smtClean="0">
                <a:latin typeface="Times New Roman" pitchFamily="18" charset="0"/>
                <a:cs typeface="Times New Roman" pitchFamily="18" charset="0"/>
              </a:rPr>
              <a:t>The </a:t>
            </a:r>
            <a:r>
              <a:rPr lang="en-US" sz="2200" dirty="0">
                <a:latin typeface="Times New Roman" pitchFamily="18" charset="0"/>
                <a:cs typeface="Times New Roman" pitchFamily="18" charset="0"/>
              </a:rPr>
              <a:t>music database stores details of a personal music library, and could be used to manage your MP3, CD, or vinyl collection. Because this database is for a personal collection, it’s relatively simple and stores only the relationships between artists, albums, and tracks. It ignores the requirements of many music genres, making it most useful for storing popular music and less useful for storing jazz or classical music. </a:t>
            </a:r>
          </a:p>
          <a:p>
            <a:pPr algn="just"/>
            <a:r>
              <a:rPr lang="en-US" sz="2200" dirty="0">
                <a:latin typeface="Times New Roman" pitchFamily="18" charset="0"/>
                <a:cs typeface="Times New Roman" pitchFamily="18" charset="0"/>
              </a:rPr>
              <a:t>We first draw up a clear list of requirements for our database</a:t>
            </a:r>
            <a:r>
              <a:rPr lang="en-US" sz="2200" dirty="0" smtClean="0">
                <a:latin typeface="Times New Roman" pitchFamily="18" charset="0"/>
                <a:cs typeface="Times New Roman" pitchFamily="18" charset="0"/>
              </a:rPr>
              <a:t>:</a:t>
            </a:r>
          </a:p>
          <a:p>
            <a:pPr lvl="1"/>
            <a:r>
              <a:rPr lang="en-US" sz="2000" dirty="0">
                <a:latin typeface="Times New Roman" pitchFamily="18" charset="0"/>
                <a:cs typeface="Times New Roman" pitchFamily="18" charset="0"/>
              </a:rPr>
              <a:t>The collection consists of albums.</a:t>
            </a:r>
          </a:p>
          <a:p>
            <a:pPr lvl="1"/>
            <a:r>
              <a:rPr lang="en-US" sz="2000" dirty="0">
                <a:latin typeface="Times New Roman" pitchFamily="18" charset="0"/>
                <a:cs typeface="Times New Roman" pitchFamily="18" charset="0"/>
              </a:rPr>
              <a:t>An album is made by exactly one artist.</a:t>
            </a:r>
          </a:p>
          <a:p>
            <a:pPr lvl="1"/>
            <a:r>
              <a:rPr lang="en-US" sz="2000" dirty="0">
                <a:latin typeface="Times New Roman" pitchFamily="18" charset="0"/>
                <a:cs typeface="Times New Roman" pitchFamily="18" charset="0"/>
              </a:rPr>
              <a:t>An artist makes one or more albums.</a:t>
            </a:r>
          </a:p>
          <a:p>
            <a:pPr lvl="1"/>
            <a:r>
              <a:rPr lang="en-US" sz="2000" dirty="0">
                <a:latin typeface="Times New Roman" pitchFamily="18" charset="0"/>
                <a:cs typeface="Times New Roman" pitchFamily="18" charset="0"/>
              </a:rPr>
              <a:t>An album contains one or more tracks</a:t>
            </a:r>
          </a:p>
          <a:p>
            <a:pPr lvl="1"/>
            <a:r>
              <a:rPr lang="en-US" sz="2000" dirty="0">
                <a:latin typeface="Times New Roman" pitchFamily="18" charset="0"/>
                <a:cs typeface="Times New Roman" pitchFamily="18" charset="0"/>
              </a:rPr>
              <a:t>Artists, albums, and tracks each have a name.</a:t>
            </a:r>
          </a:p>
          <a:p>
            <a:pPr lvl="1"/>
            <a:r>
              <a:rPr lang="en-US" sz="2000" dirty="0">
                <a:latin typeface="Times New Roman" pitchFamily="18" charset="0"/>
                <a:cs typeface="Times New Roman" pitchFamily="18" charset="0"/>
              </a:rPr>
              <a:t>Each track is on exactly one album.</a:t>
            </a:r>
          </a:p>
          <a:p>
            <a:pPr lvl="1"/>
            <a:r>
              <a:rPr lang="en-US" sz="2000" dirty="0">
                <a:latin typeface="Times New Roman" pitchFamily="18" charset="0"/>
                <a:cs typeface="Times New Roman" pitchFamily="18" charset="0"/>
              </a:rPr>
              <a:t>Each track has a time length, measured in seconds.</a:t>
            </a:r>
          </a:p>
          <a:p>
            <a:pPr lvl="1"/>
            <a:r>
              <a:rPr lang="en-US" sz="2000" dirty="0">
                <a:latin typeface="Times New Roman" pitchFamily="18" charset="0"/>
                <a:cs typeface="Times New Roman" pitchFamily="18" charset="0"/>
              </a:rPr>
              <a:t>When a track is played, the date and time the playback began (to the nearest second) should be recorded; this is used for reporting when a track was last played, as well as the number of times music by an artist, from an album, or a track has been played.</a:t>
            </a:r>
          </a:p>
          <a:p>
            <a:pPr algn="just"/>
            <a:r>
              <a:rPr lang="en-US" sz="2200" dirty="0" smtClean="0">
                <a:latin typeface="Times New Roman" pitchFamily="18" charset="0"/>
                <a:cs typeface="Times New Roman" pitchFamily="18" charset="0"/>
              </a:rPr>
              <a:t> </a:t>
            </a:r>
            <a:endParaRPr lang="en-US" sz="2200" dirty="0">
              <a:latin typeface="Times New Roman" pitchFamily="18" charset="0"/>
              <a:cs typeface="Times New Roman" pitchFamily="18" charset="0"/>
            </a:endParaRPr>
          </a:p>
        </p:txBody>
      </p:sp>
    </p:spTree>
    <p:extLst>
      <p:ext uri="{BB962C8B-B14F-4D97-AF65-F5344CB8AC3E}">
        <p14:creationId xmlns:p14="http://schemas.microsoft.com/office/powerpoint/2010/main" val="2303323055"/>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
          </p:nvPr>
        </p:nvSpPr>
        <p:spPr>
          <a:xfrm>
            <a:off x="914400" y="152400"/>
            <a:ext cx="7772400" cy="5867400"/>
          </a:xfrm>
        </p:spPr>
        <p:txBody>
          <a:bodyPr>
            <a:normAutofit/>
          </a:bodyPr>
          <a:lstStyle/>
          <a:p>
            <a:pPr algn="just"/>
            <a:r>
              <a:rPr lang="en-US" sz="2300" dirty="0">
                <a:latin typeface="Times New Roman" pitchFamily="18" charset="0"/>
                <a:cs typeface="Times New Roman" pitchFamily="18" charset="0"/>
              </a:rPr>
              <a:t>There’s no requirement to capture composers, group members or sidemen, recording date or location, the source media, or any other details of artists, albums, or tracks</a:t>
            </a:r>
            <a:r>
              <a:rPr lang="en-US" sz="2300" dirty="0" smtClean="0">
                <a:latin typeface="Times New Roman" pitchFamily="18" charset="0"/>
                <a:cs typeface="Times New Roman" pitchFamily="18" charset="0"/>
              </a:rPr>
              <a:t>.</a:t>
            </a:r>
          </a:p>
          <a:p>
            <a:pPr algn="just"/>
            <a:r>
              <a:rPr lang="en-US" sz="2300" dirty="0" smtClean="0">
                <a:latin typeface="Times New Roman" pitchFamily="18" charset="0"/>
                <a:cs typeface="Times New Roman" pitchFamily="18" charset="0"/>
              </a:rPr>
              <a:t>It </a:t>
            </a:r>
            <a:r>
              <a:rPr lang="en-US" sz="2300" dirty="0">
                <a:latin typeface="Times New Roman" pitchFamily="18" charset="0"/>
                <a:cs typeface="Times New Roman" pitchFamily="18" charset="0"/>
              </a:rPr>
              <a:t>consists of only </a:t>
            </a:r>
            <a:r>
              <a:rPr lang="en-US" sz="2300" b="1" dirty="0">
                <a:solidFill>
                  <a:srgbClr val="FF0000"/>
                </a:solidFill>
                <a:latin typeface="Times New Roman" pitchFamily="18" charset="0"/>
                <a:cs typeface="Times New Roman" pitchFamily="18" charset="0"/>
              </a:rPr>
              <a:t>one-to-many relationships</a:t>
            </a:r>
            <a:r>
              <a:rPr lang="en-US" sz="2300" dirty="0">
                <a:latin typeface="Times New Roman" pitchFamily="18" charset="0"/>
                <a:cs typeface="Times New Roman" pitchFamily="18" charset="0"/>
              </a:rPr>
              <a:t>: one artist can make many albums, one album can contain many tracks, and one track can be played many times. </a:t>
            </a:r>
            <a:endParaRPr lang="en-US" sz="2300" dirty="0" smtClean="0">
              <a:latin typeface="Times New Roman" pitchFamily="18" charset="0"/>
              <a:cs typeface="Times New Roman" pitchFamily="18" charset="0"/>
            </a:endParaRPr>
          </a:p>
          <a:p>
            <a:pPr algn="just"/>
            <a:r>
              <a:rPr lang="en-US" sz="2300" dirty="0" smtClean="0">
                <a:latin typeface="Times New Roman" pitchFamily="18" charset="0"/>
                <a:cs typeface="Times New Roman" pitchFamily="18" charset="0"/>
              </a:rPr>
              <a:t>Conversely</a:t>
            </a:r>
            <a:r>
              <a:rPr lang="en-US" sz="2300" dirty="0">
                <a:latin typeface="Times New Roman" pitchFamily="18" charset="0"/>
                <a:cs typeface="Times New Roman" pitchFamily="18" charset="0"/>
              </a:rPr>
              <a:t>, each play is associated with one track, a track is on one album, and an album is by one artist. </a:t>
            </a:r>
            <a:endParaRPr lang="en-US" sz="2300" dirty="0" smtClean="0">
              <a:latin typeface="Times New Roman" pitchFamily="18" charset="0"/>
              <a:cs typeface="Times New Roman" pitchFamily="18" charset="0"/>
            </a:endParaRPr>
          </a:p>
          <a:p>
            <a:pPr algn="just"/>
            <a:r>
              <a:rPr lang="en-US" sz="2300" dirty="0" smtClean="0">
                <a:latin typeface="Times New Roman" pitchFamily="18" charset="0"/>
                <a:cs typeface="Times New Roman" pitchFamily="18" charset="0"/>
              </a:rPr>
              <a:t>The </a:t>
            </a:r>
            <a:r>
              <a:rPr lang="en-US" sz="2300" dirty="0">
                <a:latin typeface="Times New Roman" pitchFamily="18" charset="0"/>
                <a:cs typeface="Times New Roman" pitchFamily="18" charset="0"/>
              </a:rPr>
              <a:t>attributes are straightforward: </a:t>
            </a:r>
            <a:r>
              <a:rPr lang="en-US" sz="2300" dirty="0">
                <a:solidFill>
                  <a:srgbClr val="FF0000"/>
                </a:solidFill>
                <a:latin typeface="Times New Roman" pitchFamily="18" charset="0"/>
                <a:cs typeface="Times New Roman" pitchFamily="18" charset="0"/>
              </a:rPr>
              <a:t>artists</a:t>
            </a:r>
            <a:r>
              <a:rPr lang="en-US" sz="2300" dirty="0">
                <a:latin typeface="Times New Roman" pitchFamily="18" charset="0"/>
                <a:cs typeface="Times New Roman" pitchFamily="18" charset="0"/>
              </a:rPr>
              <a:t>, </a:t>
            </a:r>
            <a:r>
              <a:rPr lang="en-US" sz="2300" dirty="0">
                <a:solidFill>
                  <a:srgbClr val="FF0000"/>
                </a:solidFill>
                <a:latin typeface="Times New Roman" pitchFamily="18" charset="0"/>
                <a:cs typeface="Times New Roman" pitchFamily="18" charset="0"/>
              </a:rPr>
              <a:t>albums</a:t>
            </a:r>
            <a:r>
              <a:rPr lang="en-US" sz="2300" dirty="0">
                <a:latin typeface="Times New Roman" pitchFamily="18" charset="0"/>
                <a:cs typeface="Times New Roman" pitchFamily="18" charset="0"/>
              </a:rPr>
              <a:t>, and </a:t>
            </a:r>
            <a:r>
              <a:rPr lang="en-US" sz="2300" dirty="0">
                <a:solidFill>
                  <a:srgbClr val="FF0000"/>
                </a:solidFill>
                <a:latin typeface="Times New Roman" pitchFamily="18" charset="0"/>
                <a:cs typeface="Times New Roman" pitchFamily="18" charset="0"/>
              </a:rPr>
              <a:t>tracks</a:t>
            </a:r>
            <a:r>
              <a:rPr lang="en-US" sz="2300" dirty="0">
                <a:latin typeface="Times New Roman" pitchFamily="18" charset="0"/>
                <a:cs typeface="Times New Roman" pitchFamily="18" charset="0"/>
              </a:rPr>
              <a:t> have names, as well as identifiers to uniquely identify each entity. </a:t>
            </a:r>
            <a:endParaRPr lang="en-US" sz="2300" dirty="0" smtClean="0">
              <a:latin typeface="Times New Roman" pitchFamily="18" charset="0"/>
              <a:cs typeface="Times New Roman" pitchFamily="18" charset="0"/>
            </a:endParaRPr>
          </a:p>
          <a:p>
            <a:pPr algn="just"/>
            <a:r>
              <a:rPr lang="en-US" sz="2300" dirty="0" smtClean="0">
                <a:latin typeface="Times New Roman" pitchFamily="18" charset="0"/>
                <a:cs typeface="Times New Roman" pitchFamily="18" charset="0"/>
              </a:rPr>
              <a:t>The </a:t>
            </a:r>
            <a:r>
              <a:rPr lang="en-US" sz="2300" dirty="0">
                <a:latin typeface="Times New Roman" pitchFamily="18" charset="0"/>
                <a:cs typeface="Times New Roman" pitchFamily="18" charset="0"/>
              </a:rPr>
              <a:t>track entity has a time attribute to store the duration, and the played entity has a timestamp to store when the track was played.</a:t>
            </a:r>
          </a:p>
        </p:txBody>
      </p:sp>
    </p:spTree>
    <p:extLst>
      <p:ext uri="{BB962C8B-B14F-4D97-AF65-F5344CB8AC3E}">
        <p14:creationId xmlns:p14="http://schemas.microsoft.com/office/powerpoint/2010/main" val="917887307"/>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sz="quarter" idx="1"/>
          </p:nvPr>
        </p:nvSpPr>
        <p:spPr/>
        <p:txBody>
          <a:bodyPr/>
          <a:lstStyle/>
          <a:p>
            <a:endParaRPr lang="en-US"/>
          </a:p>
        </p:txBody>
      </p:sp>
      <p:pic>
        <p:nvPicPr>
          <p:cNvPr id="1026" name="Picture 2" descr="The ER diagram of the music database"/>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4800" y="76200"/>
            <a:ext cx="8534400" cy="64008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68529619"/>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Equity">
  <a:themeElements>
    <a:clrScheme name="Equity">
      <a:dk1>
        <a:sysClr val="windowText" lastClr="000000"/>
      </a:dk1>
      <a:lt1>
        <a:sysClr val="window" lastClr="FFFFFF"/>
      </a:lt1>
      <a:dk2>
        <a:srgbClr val="696464"/>
      </a:dk2>
      <a:lt2>
        <a:srgbClr val="E9E5DC"/>
      </a:lt2>
      <a:accent1>
        <a:srgbClr val="D34817"/>
      </a:accent1>
      <a:accent2>
        <a:srgbClr val="9B2D1F"/>
      </a:accent2>
      <a:accent3>
        <a:srgbClr val="A28E6A"/>
      </a:accent3>
      <a:accent4>
        <a:srgbClr val="956251"/>
      </a:accent4>
      <a:accent5>
        <a:srgbClr val="918485"/>
      </a:accent5>
      <a:accent6>
        <a:srgbClr val="855D5D"/>
      </a:accent6>
      <a:hlink>
        <a:srgbClr val="CC9900"/>
      </a:hlink>
      <a:folHlink>
        <a:srgbClr val="96A9A9"/>
      </a:folHlink>
    </a:clrScheme>
    <a:fontScheme name="Equity">
      <a:majorFont>
        <a:latin typeface="Franklin Gothic Book"/>
        <a:ea typeface=""/>
        <a:cs typeface=""/>
        <a:font script="Grek" typeface="Calibri"/>
        <a:font script="Cyrl" typeface="Calibri"/>
        <a:font script="Jpan" typeface="HGｺﾞｼｯｸM"/>
        <a:font script="Hang" typeface="바탕"/>
        <a:font script="Hans" typeface="幼圆"/>
        <a:font script="Hant" typeface="微軟正黑體"/>
        <a:font script="Arab" typeface="Tahoma"/>
        <a:font script="Hebr" typeface="Aharoni"/>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Perpetua"/>
        <a:ea typeface=""/>
        <a:cs typeface=""/>
        <a:font script="Grek" typeface="Cambria"/>
        <a:font script="Cyrl" typeface="Cambria"/>
        <a:font script="Jpan" typeface="HG創英ﾌﾟﾚｾﾞﾝｽEB"/>
        <a:font script="Hang" typeface="맑은 고딕"/>
        <a:font script="Hans" typeface="宋体"/>
        <a:font script="Hant" typeface="新細明體"/>
        <a:font script="Arab" typeface="Times New Roman"/>
        <a:font script="Hebr" typeface="Aharoni"/>
        <a:font script="Thai" typeface="Eucrosia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Equity">
      <a:fillStyleLst>
        <a:solidFill>
          <a:schemeClr val="phClr"/>
        </a:solidFill>
        <a:blipFill>
          <a:blip xmlns:r="http://schemas.openxmlformats.org/officeDocument/2006/relationships" r:embed="rId1">
            <a:duotone>
              <a:schemeClr val="phClr">
                <a:tint val="30000"/>
                <a:satMod val="300000"/>
              </a:schemeClr>
              <a:schemeClr val="phClr">
                <a:tint val="40000"/>
                <a:satMod val="200000"/>
              </a:schemeClr>
            </a:duotone>
          </a:blip>
          <a:tile tx="0" ty="0" sx="70000" sy="70000" flip="none" algn="ctr"/>
        </a:blipFill>
        <a:blipFill>
          <a:blip xmlns:r="http://schemas.openxmlformats.org/officeDocument/2006/relationships" r:embed="rId1">
            <a:duotone>
              <a:schemeClr val="phClr">
                <a:shade val="22000"/>
                <a:satMod val="160000"/>
              </a:schemeClr>
              <a:schemeClr val="phClr">
                <a:shade val="45000"/>
                <a:satMod val="100000"/>
              </a:schemeClr>
            </a:duotone>
          </a:blip>
          <a:tile tx="0" ty="0" sx="65000" sy="65000" flip="none" algn="ctr"/>
        </a:blipFill>
      </a:fillStyleLst>
      <a:lnStyleLst>
        <a:ln w="9525" cap="flat" cmpd="sng" algn="ctr">
          <a:solidFill>
            <a:schemeClr val="phClr">
              <a:shade val="60000"/>
              <a:satMod val="110000"/>
            </a:schemeClr>
          </a:solidFill>
          <a:prstDash val="solid"/>
        </a:ln>
        <a:ln w="12700" cap="flat" cmpd="sng" algn="ctr">
          <a:solidFill>
            <a:schemeClr val="phClr"/>
          </a:solidFill>
          <a:prstDash val="solid"/>
        </a:ln>
        <a:ln w="38100" cap="flat" cmpd="sng" algn="ctr">
          <a:solidFill>
            <a:schemeClr val="phClr"/>
          </a:solidFill>
          <a:prstDash val="solid"/>
        </a:ln>
      </a:lnStyleLst>
      <a:effectStyleLst>
        <a:effectStyle>
          <a:effectLst>
            <a:outerShdw blurRad="38100" dist="25400" dir="5400000" algn="t" rotWithShape="0">
              <a:srgbClr val="000000">
                <a:alpha val="50000"/>
              </a:srgbClr>
            </a:outerShdw>
          </a:effectLst>
        </a:effectStyle>
        <a:effectStyle>
          <a:effectLst>
            <a:outerShdw blurRad="38100" dist="25400" dir="5400000" algn="t" rotWithShape="0">
              <a:srgbClr val="000000">
                <a:alpha val="50000"/>
              </a:srgbClr>
            </a:outerShdw>
          </a:effectLst>
        </a:effectStyle>
        <a:effectStyle>
          <a:effectLst>
            <a:outerShdw blurRad="50800" dist="50800" dir="5400000" algn="t" rotWithShape="0">
              <a:srgbClr val="000000">
                <a:alpha val="60000"/>
              </a:srgbClr>
            </a:outerShdw>
          </a:effectLst>
          <a:scene3d>
            <a:camera prst="isometricBottomUp" fov="0">
              <a:rot lat="0" lon="0" rev="0"/>
            </a:camera>
            <a:lightRig rig="soft" dir="b">
              <a:rot lat="0" lon="0" rev="9000000"/>
            </a:lightRig>
          </a:scene3d>
          <a:sp3d contourW="35000" prstMaterial="matte">
            <a:bevelT w="45000" h="38100" prst="convex"/>
            <a:contourClr>
              <a:schemeClr val="phClr">
                <a:tint val="10000"/>
                <a:satMod val="130000"/>
              </a:schemeClr>
            </a:contourClr>
          </a:sp3d>
        </a:effectStyle>
      </a:effectStyleLst>
      <a:bgFillStyleLst>
        <a:solidFill>
          <a:schemeClr val="phClr"/>
        </a:solidFill>
        <a:gradFill rotWithShape="1">
          <a:gsLst>
            <a:gs pos="0">
              <a:schemeClr val="phClr">
                <a:shade val="40000"/>
                <a:satMod val="165000"/>
              </a:schemeClr>
            </a:gs>
            <a:gs pos="50000">
              <a:schemeClr val="phClr">
                <a:shade val="80000"/>
                <a:satMod val="155000"/>
              </a:schemeClr>
            </a:gs>
            <a:gs pos="100000">
              <a:schemeClr val="phClr">
                <a:tint val="95000"/>
                <a:satMod val="200000"/>
              </a:schemeClr>
            </a:gs>
          </a:gsLst>
          <a:lin ang="16200000" scaled="1"/>
        </a:gradFill>
        <a:blipFill>
          <a:blip xmlns:r="http://schemas.openxmlformats.org/officeDocument/2006/relationships" r:embed="rId1">
            <a:duotone>
              <a:schemeClr val="phClr">
                <a:tint val="95000"/>
                <a:satMod val="200000"/>
              </a:schemeClr>
              <a:schemeClr val="phClr">
                <a:shade val="80000"/>
                <a:satMod val="100000"/>
              </a:schemeClr>
            </a:duotone>
          </a:blip>
          <a:tile tx="0" ty="0" sx="55000" sy="55000" flip="none" algn="tl"/>
        </a:blip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Equity</Template>
  <TotalTime>272</TotalTime>
  <Words>1452</Words>
  <Application>Microsoft Office PowerPoint</Application>
  <PresentationFormat>On-screen Show (4:3)</PresentationFormat>
  <Paragraphs>121</Paragraphs>
  <Slides>35</Slides>
  <Notes>2</Notes>
  <HiddenSlides>0</HiddenSlides>
  <MMClips>0</MMClips>
  <ScaleCrop>false</ScaleCrop>
  <HeadingPairs>
    <vt:vector size="4" baseType="variant">
      <vt:variant>
        <vt:lpstr>Theme</vt:lpstr>
      </vt:variant>
      <vt:variant>
        <vt:i4>1</vt:i4>
      </vt:variant>
      <vt:variant>
        <vt:lpstr>Slide Titles</vt:lpstr>
      </vt:variant>
      <vt:variant>
        <vt:i4>35</vt:i4>
      </vt:variant>
    </vt:vector>
  </HeadingPairs>
  <TitlesOfParts>
    <vt:vector size="36" baseType="lpstr">
      <vt:lpstr>Equity</vt:lpstr>
      <vt:lpstr>Relationship in ER-Model</vt:lpstr>
      <vt:lpstr>PowerPoint Presentation</vt:lpstr>
      <vt:lpstr>Relationship between entities </vt:lpstr>
      <vt:lpstr>ER Diagram: Relationship</vt:lpstr>
      <vt:lpstr>Degree of Relationship</vt:lpstr>
      <vt:lpstr>Binary Relationship and Cardinality ratio</vt:lpstr>
      <vt:lpstr>Binary Relationship and Cardinality ratio</vt:lpstr>
      <vt:lpstr>Binary Relationship and Cardinality ratio</vt:lpstr>
      <vt:lpstr>Binary Relationship and Cardinality ratio</vt:lpstr>
      <vt:lpstr>Binary Relationship and Cardinality ratio- Examples</vt:lpstr>
      <vt:lpstr>Binary Relationship and Cardinality ratio- Examples</vt:lpstr>
      <vt:lpstr>Binary Relationship and Cardinality ratio- Examples</vt:lpstr>
      <vt:lpstr>Participation constraints</vt:lpstr>
      <vt:lpstr>Participation constraints</vt:lpstr>
      <vt:lpstr>Participation constraints Examples</vt:lpstr>
      <vt:lpstr>Structural Constraints</vt:lpstr>
      <vt:lpstr>Attributes for relationship types</vt:lpstr>
      <vt:lpstr>Attributes for relationship types-Examples</vt:lpstr>
      <vt:lpstr>Recursive Relationship &amp; Role Name</vt:lpstr>
      <vt:lpstr>Weak Entity set</vt:lpstr>
      <vt:lpstr>Weak Entity set</vt:lpstr>
      <vt:lpstr>ER Diagram</vt:lpstr>
      <vt:lpstr>ER Diagram</vt:lpstr>
      <vt:lpstr>ER Diagram</vt:lpstr>
      <vt:lpstr>ER Diagram</vt:lpstr>
      <vt:lpstr>Ternary Relationship</vt:lpstr>
      <vt:lpstr>Flight Database Example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Entity- Relationship Model</dc:title>
  <dc:creator>VIT-Laptop</dc:creator>
  <cp:lastModifiedBy>DELL</cp:lastModifiedBy>
  <cp:revision>42</cp:revision>
  <dcterms:created xsi:type="dcterms:W3CDTF">2006-08-16T00:00:00Z</dcterms:created>
  <dcterms:modified xsi:type="dcterms:W3CDTF">2024-08-02T10:07:07Z</dcterms:modified>
</cp:coreProperties>
</file>