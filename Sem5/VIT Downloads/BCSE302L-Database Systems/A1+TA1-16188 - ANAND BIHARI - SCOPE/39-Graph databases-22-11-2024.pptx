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0" r:id="rId3"/>
    <p:sldId id="263" r:id="rId4"/>
    <p:sldId id="276" r:id="rId5"/>
    <p:sldId id="261" r:id="rId6"/>
    <p:sldId id="262" r:id="rId7"/>
    <p:sldId id="267" r:id="rId8"/>
    <p:sldId id="268" r:id="rId9"/>
    <p:sldId id="265" r:id="rId10"/>
    <p:sldId id="269" r:id="rId11"/>
    <p:sldId id="274" r:id="rId12"/>
    <p:sldId id="275" r:id="rId13"/>
    <p:sldId id="270" r:id="rId14"/>
    <p:sldId id="271" r:id="rId15"/>
    <p:sldId id="273" r:id="rId16"/>
    <p:sldId id="26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302"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41FEDE00-C9E9-4412-931F-6B2336DDC3FF}" type="datetimeFigureOut">
              <a:rPr lang="en-US" smtClean="0"/>
              <a:pPr/>
              <a:t>22-Nov-24</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A0D732E9-FA7F-435C-963E-EDE4BF957C8A}"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41FEDE00-C9E9-4412-931F-6B2336DDC3FF}" type="datetimeFigureOut">
              <a:rPr lang="en-US" smtClean="0"/>
              <a:pPr/>
              <a:t>22-Nov-24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732E9-FA7F-435C-963E-EDE4BF957C8A}"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1FEDE00-C9E9-4412-931F-6B2336DDC3FF}" type="datetimeFigureOut">
              <a:rPr lang="en-US" smtClean="0"/>
              <a:pPr/>
              <a:t>22-Nov-24</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A0D732E9-FA7F-435C-963E-EDE4BF957C8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41FEDE00-C9E9-4412-931F-6B2336DDC3FF}" type="datetimeFigureOut">
              <a:rPr lang="en-US" smtClean="0"/>
              <a:pPr/>
              <a:t>22-Nov-24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732E9-FA7F-435C-963E-EDE4BF957C8A}"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41FEDE00-C9E9-4412-931F-6B2336DDC3FF}" type="datetimeFigureOut">
              <a:rPr lang="en-US" smtClean="0"/>
              <a:pPr/>
              <a:t>22-Nov-24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D732E9-FA7F-435C-963E-EDE4BF957C8A}"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1FEDE00-C9E9-4412-931F-6B2336DDC3FF}" type="datetimeFigureOut">
              <a:rPr lang="en-US" smtClean="0"/>
              <a:pPr/>
              <a:t>22-Nov-24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FEDE00-C9E9-4412-931F-6B2336DDC3FF}" type="datetimeFigureOut">
              <a:rPr lang="en-US" smtClean="0"/>
              <a:pPr/>
              <a:t>22-Nov-24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1FEDE00-C9E9-4412-931F-6B2336DDC3FF}" type="datetimeFigureOut">
              <a:rPr lang="en-US" smtClean="0"/>
              <a:pPr/>
              <a:t>22-Nov-24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732E9-FA7F-435C-963E-EDE4BF957C8A}"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1FEDE00-C9E9-4412-931F-6B2336DDC3FF}" type="datetimeFigureOut">
              <a:rPr lang="en-US" smtClean="0"/>
              <a:pPr/>
              <a:t>22-Nov-24</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A0D732E9-FA7F-435C-963E-EDE4BF957C8A}"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1FEDE00-C9E9-4412-931F-6B2336DDC3FF}" type="datetimeFigureOut">
              <a:rPr lang="en-US" smtClean="0"/>
              <a:pPr/>
              <a:t>22-Nov-24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1FEDE00-C9E9-4412-931F-6B2336DDC3FF}" type="datetimeFigureOut">
              <a:rPr lang="en-US" smtClean="0"/>
              <a:pPr/>
              <a:t>22-Nov-24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41FEDE00-C9E9-4412-931F-6B2336DDC3FF}" type="datetimeFigureOut">
              <a:rPr lang="en-US" smtClean="0"/>
              <a:pPr/>
              <a:t>22-Nov-24</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A0D732E9-FA7F-435C-963E-EDE4BF957C8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Resource_Description_Framework"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2" name="Title 1"/>
          <p:cNvSpPr>
            <a:spLocks noGrp="1"/>
          </p:cNvSpPr>
          <p:nvPr>
            <p:ph type="ctrTitle"/>
          </p:nvPr>
        </p:nvSpPr>
        <p:spPr/>
        <p:txBody>
          <a:bodyPr/>
          <a:lstStyle/>
          <a:p>
            <a:r>
              <a:rPr lang="en-US" dirty="0" smtClean="0"/>
              <a:t>Graph Databases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Pitfalls of Relational Databases :  </a:t>
            </a:r>
          </a:p>
        </p:txBody>
      </p:sp>
      <p:sp>
        <p:nvSpPr>
          <p:cNvPr id="4" name="Content Placeholder 3"/>
          <p:cNvSpPr>
            <a:spLocks noGrp="1"/>
          </p:cNvSpPr>
          <p:nvPr>
            <p:ph sz="quarter" idx="1"/>
          </p:nvPr>
        </p:nvSpPr>
        <p:spPr>
          <a:xfrm>
            <a:off x="457200" y="1447800"/>
            <a:ext cx="8229600" cy="4572000"/>
          </a:xfrm>
        </p:spPr>
        <p:txBody>
          <a:bodyPr>
            <a:noAutofit/>
          </a:bodyPr>
          <a:lstStyle/>
          <a:p>
            <a:pPr algn="just">
              <a:buFont typeface="Arial" pitchFamily="34" charset="0"/>
              <a:buChar char="•"/>
            </a:pPr>
            <a:r>
              <a:rPr lang="en-US" sz="2300" dirty="0" smtClean="0">
                <a:latin typeface="Times New Roman" pitchFamily="18" charset="0"/>
                <a:ea typeface="Tahoma" pitchFamily="34" charset="0"/>
                <a:cs typeface="Times New Roman" pitchFamily="18" charset="0"/>
              </a:rPr>
              <a:t>Relational </a:t>
            </a:r>
            <a:r>
              <a:rPr lang="en-US" sz="2300" dirty="0">
                <a:latin typeface="Times New Roman" pitchFamily="18" charset="0"/>
                <a:ea typeface="Tahoma" pitchFamily="34" charset="0"/>
                <a:cs typeface="Times New Roman" pitchFamily="18" charset="0"/>
              </a:rPr>
              <a:t>databases were initially designed to codify paper forms and tabular      structures.</a:t>
            </a:r>
          </a:p>
          <a:p>
            <a:pPr algn="just">
              <a:buFont typeface="Arial" pitchFamily="34" charset="0"/>
              <a:buChar char="•"/>
            </a:pPr>
            <a:r>
              <a:rPr lang="en-US" sz="2300" dirty="0" smtClean="0">
                <a:latin typeface="Times New Roman" pitchFamily="18" charset="0"/>
                <a:ea typeface="Tahoma" pitchFamily="34" charset="0"/>
                <a:cs typeface="Times New Roman" pitchFamily="18" charset="0"/>
              </a:rPr>
              <a:t> </a:t>
            </a:r>
            <a:r>
              <a:rPr lang="en-US" sz="2300" dirty="0">
                <a:latin typeface="Times New Roman" pitchFamily="18" charset="0"/>
                <a:ea typeface="Tahoma" pitchFamily="34" charset="0"/>
                <a:cs typeface="Times New Roman" pitchFamily="18" charset="0"/>
              </a:rPr>
              <a:t>As outlier data multiplies, and the overall structure of the dataset becomes more complex and less uniform, the relational model becomes burdened with large join tables, sparsely populated rows, and lots of null-checking logic. </a:t>
            </a:r>
          </a:p>
          <a:p>
            <a:pPr algn="just">
              <a:buFont typeface="Arial" pitchFamily="34" charset="0"/>
              <a:buChar char="•"/>
            </a:pPr>
            <a:r>
              <a:rPr lang="en-US" sz="2300" dirty="0" smtClean="0">
                <a:latin typeface="Times New Roman" pitchFamily="18" charset="0"/>
                <a:ea typeface="Tahoma" pitchFamily="34" charset="0"/>
                <a:cs typeface="Times New Roman" pitchFamily="18" charset="0"/>
              </a:rPr>
              <a:t>The </a:t>
            </a:r>
            <a:r>
              <a:rPr lang="en-US" sz="2300" dirty="0">
                <a:latin typeface="Times New Roman" pitchFamily="18" charset="0"/>
                <a:ea typeface="Tahoma" pitchFamily="34" charset="0"/>
                <a:cs typeface="Times New Roman" pitchFamily="18" charset="0"/>
              </a:rPr>
              <a:t>rise in connectedness translates in the relational world into increased joins, which impede performance and make it difficult for us to evolve an existing database in response to changing business needs.</a:t>
            </a:r>
          </a:p>
          <a:p>
            <a:pPr algn="just">
              <a:buFont typeface="Arial" pitchFamily="34" charset="0"/>
              <a:buChar char="•"/>
            </a:pPr>
            <a:r>
              <a:rPr lang="en-US" sz="2300" dirty="0" smtClean="0">
                <a:latin typeface="Times New Roman" pitchFamily="18" charset="0"/>
                <a:ea typeface="Tahoma" pitchFamily="34" charset="0"/>
                <a:cs typeface="Times New Roman" pitchFamily="18" charset="0"/>
              </a:rPr>
              <a:t>High </a:t>
            </a:r>
            <a:r>
              <a:rPr lang="en-US" sz="2300" dirty="0">
                <a:latin typeface="Times New Roman" pitchFamily="18" charset="0"/>
                <a:ea typeface="Tahoma" pitchFamily="34" charset="0"/>
                <a:cs typeface="Times New Roman" pitchFamily="18" charset="0"/>
              </a:rPr>
              <a:t>Costs in some cases where expensive joins are required.</a:t>
            </a:r>
          </a:p>
          <a:p>
            <a:pPr algn="just">
              <a:buFont typeface="Arial" pitchFamily="34" charset="0"/>
              <a:buChar char="•"/>
            </a:pPr>
            <a:r>
              <a:rPr lang="en-US" sz="2300" dirty="0" smtClean="0">
                <a:latin typeface="Times New Roman" pitchFamily="18" charset="0"/>
                <a:ea typeface="Tahoma" pitchFamily="34" charset="0"/>
                <a:cs typeface="Times New Roman" pitchFamily="18" charset="0"/>
              </a:rPr>
              <a:t>Foreign </a:t>
            </a:r>
            <a:r>
              <a:rPr lang="en-US" sz="2300" dirty="0">
                <a:latin typeface="Times New Roman" pitchFamily="18" charset="0"/>
                <a:ea typeface="Tahoma" pitchFamily="34" charset="0"/>
                <a:cs typeface="Times New Roman" pitchFamily="18" charset="0"/>
              </a:rPr>
              <a:t>key constraints add additional development and maintenance overhead just to make the database </a:t>
            </a:r>
            <a:r>
              <a:rPr lang="en-US" sz="2300" dirty="0" smtClean="0">
                <a:latin typeface="Times New Roman" pitchFamily="18" charset="0"/>
                <a:ea typeface="Tahoma" pitchFamily="34" charset="0"/>
                <a:cs typeface="Times New Roman" pitchFamily="18" charset="0"/>
              </a:rPr>
              <a:t>work. </a:t>
            </a:r>
            <a:endParaRPr lang="en-US" sz="2300" dirty="0">
              <a:latin typeface="Times New Roman" pitchFamily="18" charset="0"/>
              <a:ea typeface="Tahom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7" name="Object 1"/>
          <p:cNvGraphicFramePr>
            <a:graphicFrameLocks noChangeAspect="1"/>
          </p:cNvGraphicFramePr>
          <p:nvPr>
            <p:extLst>
              <p:ext uri="{D42A27DB-BD31-4B8C-83A1-F6EECF244321}">
                <p14:modId xmlns:p14="http://schemas.microsoft.com/office/powerpoint/2010/main" val="1189930591"/>
              </p:ext>
            </p:extLst>
          </p:nvPr>
        </p:nvGraphicFramePr>
        <p:xfrm>
          <a:off x="3429000" y="3200400"/>
          <a:ext cx="3962400" cy="2967465"/>
        </p:xfrm>
        <a:graphic>
          <a:graphicData uri="http://schemas.openxmlformats.org/presentationml/2006/ole">
            <mc:AlternateContent xmlns:mc="http://schemas.openxmlformats.org/markup-compatibility/2006">
              <mc:Choice xmlns:v="urn:schemas-microsoft-com:vml" Requires="v">
                <p:oleObj spid="_x0000_s4131" name="Picture" r:id="rId3" imgW="7619048" imgH="5704762" progId="StaticDib">
                  <p:embed/>
                </p:oleObj>
              </mc:Choice>
              <mc:Fallback>
                <p:oleObj name="Picture" r:id="rId3" imgW="7619048" imgH="5704762" progId="StaticDib">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200400"/>
                        <a:ext cx="3962400" cy="2967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Box 3"/>
          <p:cNvSpPr txBox="1"/>
          <p:nvPr/>
        </p:nvSpPr>
        <p:spPr>
          <a:xfrm>
            <a:off x="3048000" y="6291955"/>
            <a:ext cx="5562600" cy="369332"/>
          </a:xfrm>
          <a:prstGeom prst="rect">
            <a:avLst/>
          </a:prstGeom>
          <a:noFill/>
        </p:spPr>
        <p:txBody>
          <a:bodyPr wrap="square" rtlCol="0">
            <a:spAutoFit/>
          </a:bodyPr>
          <a:lstStyle/>
          <a:p>
            <a:r>
              <a:rPr lang="en-US" dirty="0" smtClean="0"/>
              <a:t>Relationship between users of a social networking </a:t>
            </a:r>
            <a:endParaRPr lang="en-US" dirty="0"/>
          </a:p>
        </p:txBody>
      </p:sp>
      <p:sp>
        <p:nvSpPr>
          <p:cNvPr id="3" name="Title 2"/>
          <p:cNvSpPr>
            <a:spLocks noGrp="1"/>
          </p:cNvSpPr>
          <p:nvPr>
            <p:ph type="title"/>
          </p:nvPr>
        </p:nvSpPr>
        <p:spPr>
          <a:xfrm>
            <a:off x="914400" y="274638"/>
            <a:ext cx="7772400" cy="639762"/>
          </a:xfrm>
        </p:spPr>
        <p:txBody>
          <a:bodyPr>
            <a:normAutofit fontScale="90000"/>
          </a:bodyPr>
          <a:lstStyle/>
          <a:p>
            <a:r>
              <a:rPr lang="en-US" b="1" dirty="0"/>
              <a:t>Graph Databases definition </a:t>
            </a:r>
            <a:r>
              <a:rPr lang="en-US" b="1" dirty="0" smtClean="0"/>
              <a:t>:</a:t>
            </a:r>
            <a:endParaRPr lang="en-US" dirty="0"/>
          </a:p>
        </p:txBody>
      </p:sp>
      <p:sp>
        <p:nvSpPr>
          <p:cNvPr id="5" name="Content Placeholder 4"/>
          <p:cNvSpPr>
            <a:spLocks noGrp="1"/>
          </p:cNvSpPr>
          <p:nvPr>
            <p:ph sz="quarter" idx="1"/>
          </p:nvPr>
        </p:nvSpPr>
        <p:spPr>
          <a:xfrm>
            <a:off x="457200" y="914400"/>
            <a:ext cx="8382000" cy="5105400"/>
          </a:xfrm>
        </p:spPr>
        <p:txBody>
          <a:bodyPr>
            <a:normAutofit/>
          </a:bodyPr>
          <a:lstStyle/>
          <a:p>
            <a:pPr algn="just">
              <a:buFont typeface="Arial" pitchFamily="34" charset="0"/>
              <a:buChar char="•"/>
            </a:pPr>
            <a:r>
              <a:rPr lang="en-US" sz="2300" dirty="0" smtClean="0">
                <a:latin typeface="Times New Roman" pitchFamily="18" charset="0"/>
                <a:cs typeface="Times New Roman" pitchFamily="18" charset="0"/>
              </a:rPr>
              <a:t>A </a:t>
            </a:r>
            <a:r>
              <a:rPr lang="en-US" sz="2300" dirty="0">
                <a:latin typeface="Times New Roman" pitchFamily="18" charset="0"/>
                <a:cs typeface="Times New Roman" pitchFamily="18" charset="0"/>
              </a:rPr>
              <a:t>graph database, also called a graph-oriented database, is a type of </a:t>
            </a:r>
            <a:r>
              <a:rPr lang="en-US" sz="2300" dirty="0" err="1">
                <a:latin typeface="Times New Roman" pitchFamily="18" charset="0"/>
                <a:cs typeface="Times New Roman" pitchFamily="18" charset="0"/>
              </a:rPr>
              <a:t>NoSQL</a:t>
            </a:r>
            <a:r>
              <a:rPr lang="en-US" sz="2300" dirty="0">
                <a:latin typeface="Times New Roman" pitchFamily="18" charset="0"/>
                <a:cs typeface="Times New Roman" pitchFamily="18" charset="0"/>
              </a:rPr>
              <a:t> database that uses graph theory to store, map and query relationships. </a:t>
            </a:r>
          </a:p>
          <a:p>
            <a:pPr algn="just">
              <a:buFont typeface="Arial" pitchFamily="34" charset="0"/>
              <a:buChar char="•"/>
            </a:pPr>
            <a:r>
              <a:rPr lang="en-US" sz="2300" dirty="0" smtClean="0">
                <a:latin typeface="Times New Roman" pitchFamily="18" charset="0"/>
                <a:cs typeface="Times New Roman" pitchFamily="18" charset="0"/>
              </a:rPr>
              <a:t>Based </a:t>
            </a:r>
            <a:r>
              <a:rPr lang="en-US" sz="2300" dirty="0">
                <a:latin typeface="Times New Roman" pitchFamily="18" charset="0"/>
                <a:cs typeface="Times New Roman" pitchFamily="18" charset="0"/>
              </a:rPr>
              <a:t>upon the concept of a mathematical graph, a graph database contains a collection of nodes and edges. A node represents an object, and an edge represents the connection or relationship between two objects.</a:t>
            </a:r>
          </a:p>
          <a:p>
            <a:pPr algn="just"/>
            <a:endParaRPr lang="en-US" sz="23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b="1" dirty="0">
                <a:latin typeface="Times New Roman" pitchFamily="18" charset="0"/>
                <a:cs typeface="Times New Roman" pitchFamily="18" charset="0"/>
              </a:rPr>
              <a:t>Components </a:t>
            </a:r>
            <a:r>
              <a:rPr lang="en-US" b="1" dirty="0" smtClean="0">
                <a:latin typeface="Times New Roman" pitchFamily="18" charset="0"/>
                <a:cs typeface="Times New Roman" pitchFamily="18" charset="0"/>
              </a:rPr>
              <a:t>:</a:t>
            </a:r>
            <a:endParaRPr lang="en-US" dirty="0"/>
          </a:p>
        </p:txBody>
      </p:sp>
      <p:sp>
        <p:nvSpPr>
          <p:cNvPr id="4" name="Content Placeholder 3"/>
          <p:cNvSpPr>
            <a:spLocks noGrp="1"/>
          </p:cNvSpPr>
          <p:nvPr>
            <p:ph sz="quarter" idx="1"/>
          </p:nvPr>
        </p:nvSpPr>
        <p:spPr>
          <a:xfrm>
            <a:off x="381000" y="1447800"/>
            <a:ext cx="8305800" cy="4572000"/>
          </a:xfrm>
        </p:spPr>
        <p:txBody>
          <a:bodyPr>
            <a:noAutofit/>
          </a:bodyPr>
          <a:lstStyle/>
          <a:p>
            <a:pPr algn="just">
              <a:buFont typeface="Arial" pitchFamily="34" charset="0"/>
              <a:buChar char="•"/>
            </a:pPr>
            <a:r>
              <a:rPr lang="en-US" sz="2300" b="1" dirty="0" smtClean="0">
                <a:latin typeface="Times New Roman" pitchFamily="18" charset="0"/>
                <a:cs typeface="Times New Roman" pitchFamily="18" charset="0"/>
              </a:rPr>
              <a:t>Node </a:t>
            </a:r>
            <a:r>
              <a:rPr lang="en-US" sz="2300" dirty="0">
                <a:latin typeface="Times New Roman" pitchFamily="18" charset="0"/>
                <a:cs typeface="Times New Roman" pitchFamily="18" charset="0"/>
              </a:rPr>
              <a:t>: </a:t>
            </a:r>
          </a:p>
          <a:p>
            <a:pPr lvl="1" algn="just">
              <a:buFont typeface="Wingdings" pitchFamily="2" charset="2"/>
              <a:buChar char="Ø"/>
            </a:pPr>
            <a:r>
              <a:rPr lang="en-US" sz="2100" dirty="0">
                <a:latin typeface="Times New Roman" pitchFamily="18" charset="0"/>
                <a:cs typeface="Times New Roman" pitchFamily="18" charset="0"/>
              </a:rPr>
              <a:t>Nodes represent entities or instances such as people, businesses, accounts, or any other  item to be tracked. </a:t>
            </a:r>
          </a:p>
          <a:p>
            <a:pPr lvl="1" algn="just">
              <a:buFont typeface="Wingdings" pitchFamily="2" charset="2"/>
              <a:buChar char="Ø"/>
            </a:pPr>
            <a:r>
              <a:rPr lang="en-US" sz="2100" dirty="0" smtClean="0">
                <a:latin typeface="Times New Roman" pitchFamily="18" charset="0"/>
                <a:cs typeface="Times New Roman" pitchFamily="18" charset="0"/>
              </a:rPr>
              <a:t>Each </a:t>
            </a:r>
            <a:r>
              <a:rPr lang="en-US" sz="2100" dirty="0">
                <a:latin typeface="Times New Roman" pitchFamily="18" charset="0"/>
                <a:cs typeface="Times New Roman" pitchFamily="18" charset="0"/>
              </a:rPr>
              <a:t>node is identified by a unique  identifier that expresses key value pair.</a:t>
            </a:r>
          </a:p>
          <a:p>
            <a:pPr algn="just">
              <a:buFont typeface="Arial" pitchFamily="34" charset="0"/>
              <a:buChar char="•"/>
            </a:pPr>
            <a:r>
              <a:rPr lang="en-US" sz="2300" b="1" dirty="0" smtClean="0">
                <a:latin typeface="Times New Roman" pitchFamily="18" charset="0"/>
                <a:cs typeface="Times New Roman" pitchFamily="18" charset="0"/>
              </a:rPr>
              <a:t>Edge </a:t>
            </a:r>
            <a:r>
              <a:rPr lang="en-US" sz="2300" b="1" dirty="0">
                <a:latin typeface="Times New Roman" pitchFamily="18" charset="0"/>
                <a:cs typeface="Times New Roman" pitchFamily="18" charset="0"/>
              </a:rPr>
              <a:t>:</a:t>
            </a:r>
            <a:endParaRPr lang="en-US" sz="2300" dirty="0">
              <a:latin typeface="Times New Roman" pitchFamily="18" charset="0"/>
              <a:cs typeface="Times New Roman" pitchFamily="18" charset="0"/>
            </a:endParaRPr>
          </a:p>
          <a:p>
            <a:pPr lvl="1" algn="just">
              <a:buFont typeface="Wingdings" pitchFamily="2" charset="2"/>
              <a:buChar char="Ø"/>
            </a:pPr>
            <a:r>
              <a:rPr lang="en-US" sz="2100" dirty="0">
                <a:latin typeface="Times New Roman" pitchFamily="18" charset="0"/>
                <a:cs typeface="Times New Roman" pitchFamily="18" charset="0"/>
              </a:rPr>
              <a:t>Edge is the line that connects nodes to other nodes; representing the relationship between them.</a:t>
            </a:r>
          </a:p>
          <a:p>
            <a:pPr lvl="1" algn="just">
              <a:buFont typeface="Wingdings" pitchFamily="2" charset="2"/>
              <a:buChar char="Ø"/>
            </a:pPr>
            <a:r>
              <a:rPr lang="en-US" sz="2100" dirty="0" smtClean="0">
                <a:latin typeface="Times New Roman" pitchFamily="18" charset="0"/>
                <a:cs typeface="Times New Roman" pitchFamily="18" charset="0"/>
              </a:rPr>
              <a:t>Edges </a:t>
            </a:r>
            <a:r>
              <a:rPr lang="en-US" sz="2100" dirty="0">
                <a:latin typeface="Times New Roman" pitchFamily="18" charset="0"/>
                <a:cs typeface="Times New Roman" pitchFamily="18" charset="0"/>
              </a:rPr>
              <a:t>are the key concept in graph databases, representing an abstraction that is not directly implemented in a relational model or a document-store model.</a:t>
            </a:r>
          </a:p>
          <a:p>
            <a:pPr algn="just">
              <a:buFont typeface="Arial" pitchFamily="34" charset="0"/>
              <a:buChar char="•"/>
            </a:pPr>
            <a:r>
              <a:rPr lang="en-US" sz="2300" b="1" dirty="0" smtClean="0">
                <a:latin typeface="Times New Roman" pitchFamily="18" charset="0"/>
                <a:cs typeface="Times New Roman" pitchFamily="18" charset="0"/>
              </a:rPr>
              <a:t>Properties </a:t>
            </a:r>
            <a:r>
              <a:rPr lang="en-US" sz="2300" dirty="0">
                <a:latin typeface="Times New Roman" pitchFamily="18" charset="0"/>
                <a:cs typeface="Times New Roman" pitchFamily="18" charset="0"/>
              </a:rPr>
              <a:t>:</a:t>
            </a:r>
          </a:p>
          <a:p>
            <a:pPr lvl="1" algn="just">
              <a:buFont typeface="Wingdings" pitchFamily="2" charset="2"/>
              <a:buChar char="Ø"/>
            </a:pPr>
            <a:r>
              <a:rPr lang="en-US" sz="2100" dirty="0">
                <a:latin typeface="Times New Roman" pitchFamily="18" charset="0"/>
                <a:cs typeface="Times New Roman" pitchFamily="18" charset="0"/>
              </a:rPr>
              <a:t>Properties are germane information to nodes. </a:t>
            </a:r>
          </a:p>
          <a:p>
            <a:pPr lvl="1" algn="just">
              <a:buFont typeface="Wingdings" pitchFamily="2" charset="2"/>
              <a:buChar char="Ø"/>
            </a:pPr>
            <a:r>
              <a:rPr lang="en-US" sz="2100" dirty="0" smtClean="0">
                <a:latin typeface="Times New Roman" pitchFamily="18" charset="0"/>
                <a:cs typeface="Times New Roman" pitchFamily="18" charset="0"/>
              </a:rPr>
              <a:t>Example </a:t>
            </a:r>
            <a:r>
              <a:rPr lang="en-US" sz="2100" dirty="0">
                <a:latin typeface="Times New Roman" pitchFamily="18" charset="0"/>
                <a:cs typeface="Times New Roman" pitchFamily="18" charset="0"/>
              </a:rPr>
              <a:t>: Facebook  is a website, word starting with letter F ,etc</a:t>
            </a:r>
            <a:r>
              <a:rPr lang="en-US" sz="2100" dirty="0" smtClean="0">
                <a:latin typeface="Times New Roman" pitchFamily="18" charset="0"/>
                <a:cs typeface="Times New Roman" pitchFamily="18" charset="0"/>
              </a:rPr>
              <a:t>.</a:t>
            </a:r>
            <a:endParaRPr lang="en-US" sz="21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extLst>
              <p:ext uri="{D42A27DB-BD31-4B8C-83A1-F6EECF244321}">
                <p14:modId xmlns:p14="http://schemas.microsoft.com/office/powerpoint/2010/main" val="104953241"/>
              </p:ext>
            </p:extLst>
          </p:nvPr>
        </p:nvGraphicFramePr>
        <p:xfrm>
          <a:off x="85859" y="1066800"/>
          <a:ext cx="9058141" cy="4019550"/>
        </p:xfrm>
        <a:graphic>
          <a:graphicData uri="http://schemas.openxmlformats.org/presentationml/2006/ole">
            <mc:AlternateContent xmlns:mc="http://schemas.openxmlformats.org/markup-compatibility/2006">
              <mc:Choice xmlns:v="urn:schemas-microsoft-com:vml" Requires="v">
                <p:oleObj spid="_x0000_s2084" name="Picture" r:id="rId3" imgW="23247619" imgH="10314286" progId="StaticDib">
                  <p:embed/>
                </p:oleObj>
              </mc:Choice>
              <mc:Fallback>
                <p:oleObj name="Picture" r:id="rId3" imgW="23247619" imgH="10314286" progId="StaticDib">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59" y="1066800"/>
                        <a:ext cx="9058141" cy="401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81000"/>
            <a:ext cx="8610600" cy="6463308"/>
          </a:xfrm>
          <a:prstGeom prst="rect">
            <a:avLst/>
          </a:prstGeom>
          <a:noFill/>
        </p:spPr>
        <p:txBody>
          <a:bodyPr wrap="square" rtlCol="0">
            <a:spAutoFit/>
          </a:bodyPr>
          <a:lstStyle/>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
        <p:nvSpPr>
          <p:cNvPr id="3" name="Title 2"/>
          <p:cNvSpPr>
            <a:spLocks noGrp="1"/>
          </p:cNvSpPr>
          <p:nvPr>
            <p:ph type="title"/>
          </p:nvPr>
        </p:nvSpPr>
        <p:spPr/>
        <p:txBody>
          <a:bodyPr>
            <a:normAutofit/>
          </a:bodyPr>
          <a:lstStyle/>
          <a:p>
            <a:r>
              <a:rPr lang="en-US" b="1" dirty="0">
                <a:latin typeface="Times New Roman" pitchFamily="18" charset="0"/>
                <a:cs typeface="Times New Roman" pitchFamily="18" charset="0"/>
              </a:rPr>
              <a:t>Properties of Graph Databases </a:t>
            </a:r>
            <a:r>
              <a:rPr lang="en-US" b="1" dirty="0" smtClean="0">
                <a:latin typeface="Times New Roman" pitchFamily="18" charset="0"/>
                <a:cs typeface="Times New Roman" pitchFamily="18" charset="0"/>
              </a:rPr>
              <a:t>:</a:t>
            </a:r>
            <a:endParaRPr lang="en-US" dirty="0"/>
          </a:p>
        </p:txBody>
      </p:sp>
      <p:sp>
        <p:nvSpPr>
          <p:cNvPr id="4" name="Content Placeholder 3"/>
          <p:cNvSpPr>
            <a:spLocks noGrp="1"/>
          </p:cNvSpPr>
          <p:nvPr>
            <p:ph sz="quarter" idx="1"/>
          </p:nvPr>
        </p:nvSpPr>
        <p:spPr>
          <a:xfrm>
            <a:off x="533400" y="1447800"/>
            <a:ext cx="8153400" cy="4953000"/>
          </a:xfrm>
        </p:spPr>
        <p:txBody>
          <a:bodyPr>
            <a:noAutofit/>
          </a:bodyPr>
          <a:lstStyle/>
          <a:p>
            <a:pPr algn="just">
              <a:buFont typeface="Arial" pitchFamily="34" charset="0"/>
              <a:buChar char="•"/>
            </a:pPr>
            <a:r>
              <a:rPr lang="en-US" sz="2300" b="1" dirty="0" smtClean="0">
                <a:latin typeface="Times New Roman" pitchFamily="18" charset="0"/>
                <a:cs typeface="Times New Roman" pitchFamily="18" charset="0"/>
              </a:rPr>
              <a:t>The </a:t>
            </a:r>
            <a:r>
              <a:rPr lang="en-US" sz="2300" b="1" dirty="0">
                <a:latin typeface="Times New Roman" pitchFamily="18" charset="0"/>
                <a:cs typeface="Times New Roman" pitchFamily="18" charset="0"/>
              </a:rPr>
              <a:t>underlying storage :</a:t>
            </a:r>
            <a:r>
              <a:rPr lang="en-US" sz="2300" dirty="0">
                <a:latin typeface="Times New Roman" pitchFamily="18" charset="0"/>
                <a:cs typeface="Times New Roman" pitchFamily="18" charset="0"/>
              </a:rPr>
              <a:t> Two types of storages – Native and Non-native.</a:t>
            </a:r>
          </a:p>
          <a:p>
            <a:pPr algn="just">
              <a:buFont typeface="Wingdings" pitchFamily="2" charset="2"/>
              <a:buChar char="Ø"/>
            </a:pPr>
            <a:r>
              <a:rPr lang="en-US" sz="2300" dirty="0">
                <a:latin typeface="Times New Roman" pitchFamily="18" charset="0"/>
                <a:cs typeface="Times New Roman" pitchFamily="18" charset="0"/>
              </a:rPr>
              <a:t> When built specifically for storing graph-like data, it is known as </a:t>
            </a:r>
            <a:r>
              <a:rPr lang="en-US" sz="2300" b="1" dirty="0">
                <a:latin typeface="Times New Roman" pitchFamily="18" charset="0"/>
                <a:cs typeface="Times New Roman" pitchFamily="18" charset="0"/>
              </a:rPr>
              <a:t>native</a:t>
            </a:r>
            <a:r>
              <a:rPr lang="en-US" sz="2300" dirty="0">
                <a:latin typeface="Times New Roman" pitchFamily="18" charset="0"/>
                <a:cs typeface="Times New Roman" pitchFamily="18" charset="0"/>
              </a:rPr>
              <a:t> graph storage.</a:t>
            </a:r>
          </a:p>
          <a:p>
            <a:pPr algn="just">
              <a:buFont typeface="Wingdings" pitchFamily="2" charset="2"/>
              <a:buChar char="Ø"/>
            </a:pPr>
            <a:r>
              <a:rPr lang="en-US" sz="2300" dirty="0" smtClean="0">
                <a:latin typeface="Times New Roman" pitchFamily="18" charset="0"/>
                <a:cs typeface="Times New Roman" pitchFamily="18" charset="0"/>
              </a:rPr>
              <a:t> </a:t>
            </a:r>
            <a:r>
              <a:rPr lang="en-US" sz="2300" dirty="0">
                <a:latin typeface="Times New Roman" pitchFamily="18" charset="0"/>
                <a:cs typeface="Times New Roman" pitchFamily="18" charset="0"/>
              </a:rPr>
              <a:t>Graph databases with native graph storage are optimized for graphs in every aspect, ensuring that data is stored efficiently by writing nodes and relationships close to each other.</a:t>
            </a:r>
          </a:p>
          <a:p>
            <a:pPr algn="just">
              <a:buFont typeface="Wingdings" pitchFamily="2" charset="2"/>
              <a:buChar char="Ø"/>
            </a:pPr>
            <a:r>
              <a:rPr lang="en-US" sz="2300" dirty="0" smtClean="0">
                <a:latin typeface="Times New Roman" pitchFamily="18" charset="0"/>
                <a:cs typeface="Times New Roman" pitchFamily="18" charset="0"/>
              </a:rPr>
              <a:t>Graph </a:t>
            </a:r>
            <a:r>
              <a:rPr lang="en-US" sz="2300" dirty="0">
                <a:latin typeface="Times New Roman" pitchFamily="18" charset="0"/>
                <a:cs typeface="Times New Roman" pitchFamily="18" charset="0"/>
              </a:rPr>
              <a:t>storage is classified as </a:t>
            </a:r>
            <a:r>
              <a:rPr lang="en-US" sz="2300" b="1" dirty="0">
                <a:latin typeface="Times New Roman" pitchFamily="18" charset="0"/>
                <a:cs typeface="Times New Roman" pitchFamily="18" charset="0"/>
              </a:rPr>
              <a:t>non-native</a:t>
            </a:r>
            <a:r>
              <a:rPr lang="en-US" sz="2300" dirty="0">
                <a:latin typeface="Times New Roman" pitchFamily="18" charset="0"/>
                <a:cs typeface="Times New Roman" pitchFamily="18" charset="0"/>
              </a:rPr>
              <a:t> when the storage comes from an outside source, such as a relational , wide-column or other </a:t>
            </a:r>
            <a:r>
              <a:rPr lang="en-US" sz="2300" dirty="0" err="1">
                <a:latin typeface="Times New Roman" pitchFamily="18" charset="0"/>
                <a:cs typeface="Times New Roman" pitchFamily="18" charset="0"/>
              </a:rPr>
              <a:t>NoSQL</a:t>
            </a:r>
            <a:r>
              <a:rPr lang="en-US" sz="2300" dirty="0">
                <a:latin typeface="Times New Roman" pitchFamily="18" charset="0"/>
                <a:cs typeface="Times New Roman" pitchFamily="18" charset="0"/>
              </a:rPr>
              <a:t> databases.</a:t>
            </a:r>
          </a:p>
          <a:p>
            <a:pPr algn="just">
              <a:buFont typeface="Wingdings" pitchFamily="2" charset="2"/>
              <a:buChar char="Ø"/>
            </a:pPr>
            <a:r>
              <a:rPr lang="en-US" sz="2300" dirty="0" smtClean="0">
                <a:latin typeface="Times New Roman" pitchFamily="18" charset="0"/>
                <a:cs typeface="Times New Roman" pitchFamily="18" charset="0"/>
              </a:rPr>
              <a:t> </a:t>
            </a:r>
            <a:r>
              <a:rPr lang="en-US" sz="2300" dirty="0">
                <a:latin typeface="Times New Roman" pitchFamily="18" charset="0"/>
                <a:cs typeface="Times New Roman" pitchFamily="18" charset="0"/>
              </a:rPr>
              <a:t>These databases store data about nodes and relationships, which may end up far apart in actual storage. This non-native approach leads to latent results as their storage layer is not optimized for graphs</a:t>
            </a:r>
            <a:r>
              <a:rPr lang="en-US" sz="2300" dirty="0" smtClean="0">
                <a:latin typeface="Times New Roman" pitchFamily="18" charset="0"/>
                <a:cs typeface="Times New Roman" pitchFamily="18" charset="0"/>
              </a:rPr>
              <a:t>.</a:t>
            </a:r>
          </a:p>
          <a:p>
            <a:pPr marL="0" indent="0" algn="just">
              <a:buNone/>
            </a:pP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endParaRPr lang="en-US" sz="23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1"/>
            <a:ext cx="8534400" cy="5355312"/>
          </a:xfrm>
          <a:prstGeom prst="rect">
            <a:avLst/>
          </a:prstGeom>
          <a:noFill/>
        </p:spPr>
        <p:txBody>
          <a:bodyPr wrap="square" rtlCol="0">
            <a:spAutoFit/>
          </a:bodyPr>
          <a:lstStyle/>
          <a:p>
            <a:r>
              <a:rPr lang="en-US" dirty="0" smtClean="0"/>
              <a:t/>
            </a:r>
            <a:br>
              <a:rPr lang="en-US" dirty="0" smtClean="0"/>
            </a:b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
        <p:nvSpPr>
          <p:cNvPr id="4" name="Content Placeholder 3"/>
          <p:cNvSpPr>
            <a:spLocks noGrp="1"/>
          </p:cNvSpPr>
          <p:nvPr>
            <p:ph sz="quarter" idx="1"/>
          </p:nvPr>
        </p:nvSpPr>
        <p:spPr>
          <a:xfrm>
            <a:off x="304800" y="152401"/>
            <a:ext cx="8382000" cy="5867399"/>
          </a:xfrm>
        </p:spPr>
        <p:txBody>
          <a:bodyPr>
            <a:noAutofit/>
          </a:bodyPr>
          <a:lstStyle/>
          <a:p>
            <a:pPr algn="just">
              <a:buFont typeface="Arial" pitchFamily="34" charset="0"/>
              <a:buChar char="•"/>
            </a:pPr>
            <a:r>
              <a:rPr lang="en-US" sz="2300" b="1" dirty="0" smtClean="0">
                <a:latin typeface="Times New Roman" pitchFamily="18" charset="0"/>
                <a:cs typeface="Times New Roman" pitchFamily="18" charset="0"/>
              </a:rPr>
              <a:t>The </a:t>
            </a:r>
            <a:r>
              <a:rPr lang="en-US" sz="2300" b="1" dirty="0">
                <a:latin typeface="Times New Roman" pitchFamily="18" charset="0"/>
                <a:cs typeface="Times New Roman" pitchFamily="18" charset="0"/>
              </a:rPr>
              <a:t>processing engine : </a:t>
            </a:r>
          </a:p>
          <a:p>
            <a:pPr algn="just">
              <a:buFont typeface="Wingdings" pitchFamily="2" charset="2"/>
              <a:buChar char="Ø"/>
            </a:pPr>
            <a:r>
              <a:rPr lang="en-US" sz="2300" dirty="0" smtClean="0">
                <a:latin typeface="Times New Roman" pitchFamily="18" charset="0"/>
                <a:cs typeface="Times New Roman" pitchFamily="18" charset="0"/>
              </a:rPr>
              <a:t>Native</a:t>
            </a:r>
            <a:r>
              <a:rPr lang="en-US" sz="2300" dirty="0">
                <a:latin typeface="Times New Roman" pitchFamily="18" charset="0"/>
                <a:cs typeface="Times New Roman" pitchFamily="18" charset="0"/>
              </a:rPr>
              <a:t> graph processing is another key element of graph technology, referring to how a graph database processes database operations, including both storage and queries. </a:t>
            </a:r>
          </a:p>
          <a:p>
            <a:pPr algn="just">
              <a:buFont typeface="Wingdings" pitchFamily="2" charset="2"/>
              <a:buChar char="Ø"/>
            </a:pPr>
            <a:r>
              <a:rPr lang="en-US" sz="2300" dirty="0" smtClean="0">
                <a:latin typeface="Times New Roman" pitchFamily="18" charset="0"/>
                <a:cs typeface="Times New Roman" pitchFamily="18" charset="0"/>
              </a:rPr>
              <a:t>Index-free </a:t>
            </a:r>
            <a:r>
              <a:rPr lang="en-US" sz="2300" dirty="0">
                <a:latin typeface="Times New Roman" pitchFamily="18" charset="0"/>
                <a:cs typeface="Times New Roman" pitchFamily="18" charset="0"/>
              </a:rPr>
              <a:t>adjacency is the key differentiator of native graph processing.</a:t>
            </a:r>
          </a:p>
          <a:p>
            <a:pPr algn="just">
              <a:buFont typeface="Wingdings" pitchFamily="2" charset="2"/>
              <a:buChar char="Ø"/>
            </a:pPr>
            <a:r>
              <a:rPr lang="en-US" sz="2300" dirty="0" smtClean="0">
                <a:latin typeface="Times New Roman" pitchFamily="18" charset="0"/>
                <a:cs typeface="Times New Roman" pitchFamily="18" charset="0"/>
              </a:rPr>
              <a:t>Index-free </a:t>
            </a:r>
            <a:r>
              <a:rPr lang="en-US" sz="2300" dirty="0">
                <a:latin typeface="Times New Roman" pitchFamily="18" charset="0"/>
                <a:cs typeface="Times New Roman" pitchFamily="18" charset="0"/>
              </a:rPr>
              <a:t>adjacency means that connected nodes physically “point” to each other in the database.</a:t>
            </a:r>
          </a:p>
          <a:p>
            <a:pPr algn="just"/>
            <a:r>
              <a:rPr lang="en-US" sz="2300" dirty="0">
                <a:latin typeface="Times New Roman" pitchFamily="18" charset="0"/>
                <a:cs typeface="Times New Roman" pitchFamily="18" charset="0"/>
              </a:rPr>
              <a:t> </a:t>
            </a:r>
            <a:r>
              <a:rPr lang="en-US" sz="2300" dirty="0" smtClean="0">
                <a:latin typeface="Times New Roman" pitchFamily="18" charset="0"/>
                <a:cs typeface="Times New Roman" pitchFamily="18" charset="0"/>
              </a:rPr>
              <a:t>A </a:t>
            </a:r>
            <a:r>
              <a:rPr lang="en-US" sz="2300" dirty="0">
                <a:latin typeface="Times New Roman" pitchFamily="18" charset="0"/>
                <a:cs typeface="Times New Roman" pitchFamily="18" charset="0"/>
              </a:rPr>
              <a:t>significant performance is obtained by the use of index-free adjacency .</a:t>
            </a:r>
          </a:p>
          <a:p>
            <a:pPr algn="just">
              <a:buFont typeface="Wingdings" pitchFamily="2" charset="2"/>
              <a:buChar char="Ø"/>
            </a:pPr>
            <a:r>
              <a:rPr lang="en-US" sz="2300" dirty="0">
                <a:latin typeface="Times New Roman" pitchFamily="18" charset="0"/>
                <a:cs typeface="Times New Roman" pitchFamily="18" charset="0"/>
              </a:rPr>
              <a:t> Index-free adjacency speeds up processing by ensuring that each node is stored directly to its adjacent nodes and relationships. Then, during query processing index-free adjacency ensures lightning-fast retrieval without a heavy reliance on indexes.</a:t>
            </a:r>
          </a:p>
          <a:p>
            <a:pPr algn="just">
              <a:buFont typeface="Wingdings" pitchFamily="2" charset="2"/>
              <a:buChar char="Ø"/>
            </a:pPr>
            <a:r>
              <a:rPr lang="en-US" sz="2300" dirty="0" smtClean="0">
                <a:latin typeface="Times New Roman" pitchFamily="18" charset="0"/>
                <a:cs typeface="Times New Roman" pitchFamily="18" charset="0"/>
              </a:rPr>
              <a:t>Non-native </a:t>
            </a:r>
            <a:r>
              <a:rPr lang="en-US" sz="2300" dirty="0">
                <a:latin typeface="Times New Roman" pitchFamily="18" charset="0"/>
                <a:cs typeface="Times New Roman" pitchFamily="18" charset="0"/>
              </a:rPr>
              <a:t>graph processing often uses a large number of indexes in order to </a:t>
            </a:r>
            <a:r>
              <a:rPr lang="en-US" sz="2300" dirty="0" smtClean="0">
                <a:latin typeface="Times New Roman" pitchFamily="18" charset="0"/>
                <a:cs typeface="Times New Roman" pitchFamily="18" charset="0"/>
              </a:rPr>
              <a:t>complete </a:t>
            </a:r>
            <a:r>
              <a:rPr lang="en-US" sz="2300" dirty="0">
                <a:latin typeface="Times New Roman" pitchFamily="18" charset="0"/>
                <a:cs typeface="Times New Roman" pitchFamily="18" charset="0"/>
              </a:rPr>
              <a:t>a read or write transaction, significantly slowing down the operation.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685800" y="228600"/>
            <a:ext cx="8229600" cy="6629400"/>
          </a:xfrm>
        </p:spPr>
        <p:txBody>
          <a:bodyPr>
            <a:noAutofit/>
          </a:bodyPr>
          <a:lstStyle/>
          <a:p>
            <a:pPr algn="just"/>
            <a:r>
              <a:rPr lang="en-US" sz="2200" b="1" dirty="0">
                <a:latin typeface="Times New Roman" pitchFamily="18" charset="0"/>
                <a:cs typeface="Times New Roman" pitchFamily="18" charset="0"/>
              </a:rPr>
              <a:t>Native </a:t>
            </a:r>
            <a:r>
              <a:rPr lang="en-US" sz="2200" b="1" dirty="0" err="1">
                <a:latin typeface="Times New Roman" pitchFamily="18" charset="0"/>
                <a:cs typeface="Times New Roman" pitchFamily="18" charset="0"/>
              </a:rPr>
              <a:t>vs</a:t>
            </a:r>
            <a:r>
              <a:rPr lang="en-US" sz="2200" b="1" dirty="0">
                <a:latin typeface="Times New Roman" pitchFamily="18" charset="0"/>
                <a:cs typeface="Times New Roman" pitchFamily="18" charset="0"/>
              </a:rPr>
              <a:t> Non Native :</a:t>
            </a:r>
          </a:p>
          <a:p>
            <a:pPr algn="just"/>
            <a:r>
              <a:rPr lang="en-US" sz="2200" dirty="0" smtClean="0">
                <a:latin typeface="Times New Roman" pitchFamily="18" charset="0"/>
                <a:cs typeface="Times New Roman" pitchFamily="18" charset="0"/>
              </a:rPr>
              <a:t>Datasets </a:t>
            </a:r>
            <a:r>
              <a:rPr lang="en-US" sz="2200" dirty="0">
                <a:latin typeface="Times New Roman" pitchFamily="18" charset="0"/>
                <a:cs typeface="Times New Roman" pitchFamily="18" charset="0"/>
              </a:rPr>
              <a:t>tend to </a:t>
            </a:r>
            <a:r>
              <a:rPr lang="en-US" sz="2200" dirty="0" err="1">
                <a:latin typeface="Times New Roman" pitchFamily="18" charset="0"/>
                <a:cs typeface="Times New Roman" pitchFamily="18" charset="0"/>
              </a:rPr>
              <a:t>growover</a:t>
            </a:r>
            <a:r>
              <a:rPr lang="en-US" sz="2200" dirty="0">
                <a:latin typeface="Times New Roman" pitchFamily="18" charset="0"/>
                <a:cs typeface="Times New Roman" pitchFamily="18" charset="0"/>
              </a:rPr>
              <a:t> time, and today’s datasets are more unstructured, interconnected and interrelated than ever before.</a:t>
            </a:r>
          </a:p>
          <a:p>
            <a:pPr algn="just">
              <a:buFont typeface="Wingdings" pitchFamily="2" charset="2"/>
              <a:buChar char="Ø"/>
            </a:pPr>
            <a:r>
              <a:rPr lang="en-US" sz="2200" dirty="0">
                <a:latin typeface="Times New Roman" pitchFamily="18" charset="0"/>
                <a:cs typeface="Times New Roman" pitchFamily="18" charset="0"/>
              </a:rPr>
              <a:t>The performance of non-native graph processing cripples under larger datasets.</a:t>
            </a:r>
          </a:p>
          <a:p>
            <a:pPr algn="just">
              <a:buFont typeface="Wingdings" pitchFamily="2" charset="2"/>
              <a:buChar char="Ø"/>
            </a:pPr>
            <a:r>
              <a:rPr lang="en-US" sz="2200" dirty="0" smtClean="0">
                <a:latin typeface="Times New Roman" pitchFamily="18" charset="0"/>
                <a:cs typeface="Times New Roman" pitchFamily="18" charset="0"/>
              </a:rPr>
              <a:t>As </a:t>
            </a:r>
            <a:r>
              <a:rPr lang="en-US" sz="2200" dirty="0">
                <a:latin typeface="Times New Roman" pitchFamily="18" charset="0"/>
                <a:cs typeface="Times New Roman" pitchFamily="18" charset="0"/>
              </a:rPr>
              <a:t>more data is added to the database, many queries that would slow with size in a non-native graph database remain lithe and speedy in a native context.</a:t>
            </a:r>
          </a:p>
          <a:p>
            <a:pPr algn="just">
              <a:buFont typeface="Wingdings" pitchFamily="2" charset="2"/>
              <a:buChar char="Ø"/>
            </a:pPr>
            <a:r>
              <a:rPr lang="en-US" sz="2200" dirty="0" smtClean="0">
                <a:latin typeface="Times New Roman" pitchFamily="18" charset="0"/>
                <a:cs typeface="Times New Roman" pitchFamily="18" charset="0"/>
              </a:rPr>
              <a:t>Native </a:t>
            </a:r>
            <a:r>
              <a:rPr lang="en-US" sz="2200" dirty="0">
                <a:latin typeface="Times New Roman" pitchFamily="18" charset="0"/>
                <a:cs typeface="Times New Roman" pitchFamily="18" charset="0"/>
              </a:rPr>
              <a:t>graph scaling takes advantage of a large number of optimizations in storage and processing to yield a highly efficient approach.</a:t>
            </a:r>
          </a:p>
          <a:p>
            <a:pPr algn="just">
              <a:buFont typeface="Wingdings" pitchFamily="2" charset="2"/>
              <a:buChar char="Ø"/>
            </a:pPr>
            <a:r>
              <a:rPr lang="en-US" sz="2200" dirty="0" smtClean="0">
                <a:latin typeface="Times New Roman" pitchFamily="18" charset="0"/>
                <a:cs typeface="Times New Roman" pitchFamily="18" charset="0"/>
              </a:rPr>
              <a:t>Non-native </a:t>
            </a:r>
            <a:r>
              <a:rPr lang="en-US" sz="2200" dirty="0">
                <a:latin typeface="Times New Roman" pitchFamily="18" charset="0"/>
                <a:cs typeface="Times New Roman" pitchFamily="18" charset="0"/>
              </a:rPr>
              <a:t>uses brute force to solve the problem, requiring more hardware  and resulting in lower latencies, especially for larger graphs.</a:t>
            </a:r>
          </a:p>
          <a:p>
            <a:pPr algn="just"/>
            <a:r>
              <a:rPr lang="en-US" sz="2200" dirty="0">
                <a:latin typeface="Times New Roman" pitchFamily="18" charset="0"/>
                <a:cs typeface="Times New Roman" pitchFamily="18" charset="0"/>
              </a:rPr>
              <a:t> The importance of native vs. non-native graph technology depends on the particular needs of your application, but for enterprises hoping to leverage the connections in their data, native graph database technology is critical for </a:t>
            </a:r>
            <a:r>
              <a:rPr lang="en-US" sz="2200" dirty="0" smtClean="0">
                <a:latin typeface="Times New Roman" pitchFamily="18" charset="0"/>
                <a:cs typeface="Times New Roman" pitchFamily="18" charset="0"/>
              </a:rPr>
              <a:t>success. </a:t>
            </a:r>
            <a:endParaRPr lang="en-US" sz="2200" b="1"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447800"/>
            <a:ext cx="8382000" cy="5078313"/>
          </a:xfrm>
          <a:prstGeom prst="rect">
            <a:avLst/>
          </a:prstGeom>
          <a:no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pic>
        <p:nvPicPr>
          <p:cNvPr id="4" name="Picture 3" descr="compute engines.JPG"/>
          <p:cNvPicPr>
            <a:picLocks noChangeAspect="1"/>
          </p:cNvPicPr>
          <p:nvPr/>
        </p:nvPicPr>
        <p:blipFill>
          <a:blip r:embed="rId2" cstate="print"/>
          <a:stretch>
            <a:fillRect/>
          </a:stretch>
        </p:blipFill>
        <p:spPr>
          <a:xfrm>
            <a:off x="4343400" y="4571999"/>
            <a:ext cx="4572000" cy="1954113"/>
          </a:xfrm>
          <a:prstGeom prst="rect">
            <a:avLst/>
          </a:prstGeom>
        </p:spPr>
      </p:pic>
      <p:sp>
        <p:nvSpPr>
          <p:cNvPr id="5" name="Title 4"/>
          <p:cNvSpPr>
            <a:spLocks noGrp="1"/>
          </p:cNvSpPr>
          <p:nvPr>
            <p:ph type="title"/>
          </p:nvPr>
        </p:nvSpPr>
        <p:spPr/>
        <p:txBody>
          <a:bodyPr>
            <a:normAutofit/>
          </a:bodyPr>
          <a:lstStyle/>
          <a:p>
            <a:r>
              <a:rPr lang="en-US" b="1" dirty="0"/>
              <a:t>Graph Compute Engines </a:t>
            </a:r>
            <a:r>
              <a:rPr lang="en-US" b="1" dirty="0" smtClean="0"/>
              <a:t>:</a:t>
            </a:r>
            <a:endParaRPr lang="en-US" dirty="0"/>
          </a:p>
        </p:txBody>
      </p:sp>
      <p:sp>
        <p:nvSpPr>
          <p:cNvPr id="6" name="Content Placeholder 5"/>
          <p:cNvSpPr>
            <a:spLocks noGrp="1"/>
          </p:cNvSpPr>
          <p:nvPr>
            <p:ph sz="quarter" idx="1"/>
          </p:nvPr>
        </p:nvSpPr>
        <p:spPr/>
        <p:txBody>
          <a:bodyPr>
            <a:noAutofit/>
          </a:bodyPr>
          <a:lstStyle/>
          <a:p>
            <a:pPr algn="just"/>
            <a:r>
              <a:rPr lang="en-US" sz="2300" dirty="0" smtClean="0">
                <a:latin typeface="Times New Roman" pitchFamily="18" charset="0"/>
                <a:cs typeface="Times New Roman" pitchFamily="18" charset="0"/>
              </a:rPr>
              <a:t>A </a:t>
            </a:r>
            <a:r>
              <a:rPr lang="en-US" sz="2300" dirty="0">
                <a:latin typeface="Times New Roman" pitchFamily="18" charset="0"/>
                <a:cs typeface="Times New Roman" pitchFamily="18" charset="0"/>
              </a:rPr>
              <a:t>graph compute engine is a technology that enables global graph computational algorithms to be run against large </a:t>
            </a:r>
            <a:r>
              <a:rPr lang="en-US" sz="2300" dirty="0" smtClean="0">
                <a:latin typeface="Times New Roman" pitchFamily="18" charset="0"/>
                <a:cs typeface="Times New Roman" pitchFamily="18" charset="0"/>
              </a:rPr>
              <a:t>datasets.</a:t>
            </a:r>
          </a:p>
          <a:p>
            <a:pPr algn="just"/>
            <a:r>
              <a:rPr lang="en-US" sz="2300" dirty="0" smtClean="0">
                <a:latin typeface="Times New Roman" pitchFamily="18" charset="0"/>
                <a:cs typeface="Times New Roman" pitchFamily="18" charset="0"/>
              </a:rPr>
              <a:t>Graph </a:t>
            </a:r>
            <a:r>
              <a:rPr lang="en-US" sz="2300" dirty="0">
                <a:latin typeface="Times New Roman" pitchFamily="18" charset="0"/>
                <a:cs typeface="Times New Roman" pitchFamily="18" charset="0"/>
              </a:rPr>
              <a:t>compute engines are designed to do things like identify clusters in your data, or answer questions such as, “how many relationships, on average, does everyone in a social network have?” </a:t>
            </a:r>
          </a:p>
          <a:p>
            <a:pPr algn="just"/>
            <a:r>
              <a:rPr lang="en-US" sz="2300" dirty="0" smtClean="0">
                <a:latin typeface="Times New Roman" pitchFamily="18" charset="0"/>
                <a:cs typeface="Times New Roman" pitchFamily="18" charset="0"/>
              </a:rPr>
              <a:t>High </a:t>
            </a:r>
            <a:r>
              <a:rPr lang="en-US" sz="2300" dirty="0">
                <a:latin typeface="Times New Roman" pitchFamily="18" charset="0"/>
                <a:cs typeface="Times New Roman" pitchFamily="18" charset="0"/>
              </a:rPr>
              <a:t>level view of graph compute engine deployment.</a:t>
            </a:r>
          </a:p>
          <a:p>
            <a:pPr algn="just"/>
            <a:r>
              <a:rPr lang="en-US" sz="2300" dirty="0" smtClean="0">
                <a:latin typeface="Times New Roman" pitchFamily="18" charset="0"/>
                <a:cs typeface="Times New Roman" pitchFamily="18" charset="0"/>
              </a:rPr>
              <a:t>Common Architecture</a:t>
            </a:r>
            <a:endParaRPr lang="en-US" sz="23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4" name="Content Placeholder 3"/>
          <p:cNvSpPr>
            <a:spLocks noGrp="1"/>
          </p:cNvSpPr>
          <p:nvPr>
            <p:ph sz="quarter" idx="1"/>
          </p:nvPr>
        </p:nvSpPr>
        <p:spPr/>
        <p:txBody>
          <a:bodyPr>
            <a:normAutofit/>
          </a:bodyPr>
          <a:lstStyle/>
          <a:p>
            <a:r>
              <a:rPr lang="en-US" sz="2300" b="1" dirty="0">
                <a:latin typeface="Times New Roman" pitchFamily="18" charset="0"/>
                <a:cs typeface="Times New Roman" pitchFamily="18" charset="0"/>
              </a:rPr>
              <a:t>Power of Graph databases :</a:t>
            </a:r>
          </a:p>
          <a:p>
            <a:pPr>
              <a:buFont typeface="Wingdings" pitchFamily="2" charset="2"/>
              <a:buChar char="Ø"/>
            </a:pPr>
            <a:r>
              <a:rPr lang="en-US" sz="2300" dirty="0" smtClean="0">
                <a:latin typeface="Times New Roman" pitchFamily="18" charset="0"/>
                <a:cs typeface="Times New Roman" pitchFamily="18" charset="0"/>
              </a:rPr>
              <a:t>Performance </a:t>
            </a:r>
            <a:endParaRPr lang="en-US" sz="2300" dirty="0">
              <a:latin typeface="Times New Roman" pitchFamily="18" charset="0"/>
              <a:cs typeface="Times New Roman" pitchFamily="18" charset="0"/>
            </a:endParaRPr>
          </a:p>
          <a:p>
            <a:pPr>
              <a:buFont typeface="Wingdings" pitchFamily="2" charset="2"/>
              <a:buChar char="Ø"/>
            </a:pPr>
            <a:r>
              <a:rPr lang="en-US" sz="2300" dirty="0" smtClean="0">
                <a:latin typeface="Times New Roman" pitchFamily="18" charset="0"/>
                <a:cs typeface="Times New Roman" pitchFamily="18" charset="0"/>
              </a:rPr>
              <a:t>Flexibility</a:t>
            </a:r>
            <a:endParaRPr lang="en-US" sz="2300" dirty="0">
              <a:latin typeface="Times New Roman" pitchFamily="18" charset="0"/>
              <a:cs typeface="Times New Roman" pitchFamily="18" charset="0"/>
            </a:endParaRPr>
          </a:p>
          <a:p>
            <a:pPr>
              <a:buFont typeface="Wingdings" pitchFamily="2" charset="2"/>
              <a:buChar char="Ø"/>
            </a:pPr>
            <a:r>
              <a:rPr lang="en-US" sz="2300" dirty="0" smtClean="0">
                <a:latin typeface="Times New Roman" pitchFamily="18" charset="0"/>
                <a:cs typeface="Times New Roman" pitchFamily="18" charset="0"/>
              </a:rPr>
              <a:t>Agility</a:t>
            </a:r>
            <a:endParaRPr lang="en-US" sz="2300" dirty="0">
              <a:latin typeface="Times New Roman" pitchFamily="18" charset="0"/>
              <a:cs typeface="Times New Roman" pitchFamily="18" charset="0"/>
            </a:endParaRPr>
          </a:p>
          <a:p>
            <a:r>
              <a:rPr lang="en-US" sz="2300" b="1" dirty="0" smtClean="0">
                <a:latin typeface="Times New Roman" pitchFamily="18" charset="0"/>
                <a:cs typeface="Times New Roman" pitchFamily="18" charset="0"/>
              </a:rPr>
              <a:t>Use </a:t>
            </a:r>
            <a:r>
              <a:rPr lang="en-US" sz="2300" b="1" dirty="0">
                <a:latin typeface="Times New Roman" pitchFamily="18" charset="0"/>
                <a:cs typeface="Times New Roman" pitchFamily="18" charset="0"/>
              </a:rPr>
              <a:t>cases :</a:t>
            </a:r>
          </a:p>
          <a:p>
            <a:pPr>
              <a:buFont typeface="Wingdings" pitchFamily="2" charset="2"/>
              <a:buChar char="Ø"/>
            </a:pPr>
            <a:r>
              <a:rPr lang="en-US" sz="2300" dirty="0" smtClean="0">
                <a:latin typeface="Times New Roman" pitchFamily="18" charset="0"/>
                <a:cs typeface="Times New Roman" pitchFamily="18" charset="0"/>
              </a:rPr>
              <a:t>Social</a:t>
            </a:r>
            <a:endParaRPr lang="en-US" sz="2300" dirty="0">
              <a:latin typeface="Times New Roman" pitchFamily="18" charset="0"/>
              <a:cs typeface="Times New Roman" pitchFamily="18" charset="0"/>
            </a:endParaRPr>
          </a:p>
          <a:p>
            <a:pPr>
              <a:buFont typeface="Wingdings" pitchFamily="2" charset="2"/>
              <a:buChar char="Ø"/>
            </a:pPr>
            <a:r>
              <a:rPr lang="en-US" sz="2300" dirty="0" smtClean="0">
                <a:latin typeface="Times New Roman" pitchFamily="18" charset="0"/>
                <a:cs typeface="Times New Roman" pitchFamily="18" charset="0"/>
              </a:rPr>
              <a:t>Recommendations </a:t>
            </a:r>
            <a:endParaRPr lang="en-US" sz="2300" dirty="0">
              <a:latin typeface="Times New Roman" pitchFamily="18" charset="0"/>
              <a:cs typeface="Times New Roman" pitchFamily="18" charset="0"/>
            </a:endParaRPr>
          </a:p>
          <a:p>
            <a:pPr>
              <a:buFont typeface="Wingdings" pitchFamily="2" charset="2"/>
              <a:buChar char="Ø"/>
            </a:pPr>
            <a:r>
              <a:rPr lang="en-US" sz="2300" dirty="0" smtClean="0">
                <a:latin typeface="Times New Roman" pitchFamily="18" charset="0"/>
                <a:cs typeface="Times New Roman" pitchFamily="18" charset="0"/>
              </a:rPr>
              <a:t>Geo</a:t>
            </a:r>
            <a:endParaRPr lang="en-US" sz="2300" dirty="0">
              <a:latin typeface="Times New Roman" pitchFamily="18" charset="0"/>
              <a:cs typeface="Times New Roman" pitchFamily="18" charset="0"/>
            </a:endParaRPr>
          </a:p>
          <a:p>
            <a:pPr>
              <a:buFont typeface="Wingdings" pitchFamily="2" charset="2"/>
              <a:buChar char="Ø"/>
            </a:pPr>
            <a:r>
              <a:rPr lang="en-US" sz="2300" dirty="0" smtClean="0">
                <a:latin typeface="Times New Roman" pitchFamily="18" charset="0"/>
                <a:cs typeface="Times New Roman" pitchFamily="18" charset="0"/>
              </a:rPr>
              <a:t>Master </a:t>
            </a:r>
            <a:r>
              <a:rPr lang="en-US" sz="2300" dirty="0">
                <a:latin typeface="Times New Roman" pitchFamily="18" charset="0"/>
                <a:cs typeface="Times New Roman" pitchFamily="18" charset="0"/>
              </a:rPr>
              <a:t>Data Management</a:t>
            </a:r>
          </a:p>
          <a:p>
            <a:pPr>
              <a:buFont typeface="Wingdings" pitchFamily="2" charset="2"/>
              <a:buChar char="Ø"/>
            </a:pPr>
            <a:r>
              <a:rPr lang="en-US" sz="2300" dirty="0" smtClean="0">
                <a:latin typeface="Times New Roman" pitchFamily="18" charset="0"/>
                <a:cs typeface="Times New Roman" pitchFamily="18" charset="0"/>
              </a:rPr>
              <a:t>Network </a:t>
            </a:r>
            <a:r>
              <a:rPr lang="en-US" sz="2300" dirty="0">
                <a:latin typeface="Times New Roman" pitchFamily="18" charset="0"/>
                <a:cs typeface="Times New Roman" pitchFamily="18" charset="0"/>
              </a:rPr>
              <a:t>and Data Center </a:t>
            </a:r>
            <a:r>
              <a:rPr lang="en-US" sz="2300" dirty="0" smtClean="0">
                <a:latin typeface="Times New Roman" pitchFamily="18" charset="0"/>
                <a:cs typeface="Times New Roman" pitchFamily="18" charset="0"/>
              </a:rPr>
              <a:t>Management</a:t>
            </a:r>
            <a:endParaRPr lang="en-US" sz="23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600"/>
            <a:ext cx="7924800" cy="369332"/>
          </a:xfrm>
          <a:prstGeom prst="rect">
            <a:avLst/>
          </a:prstGeom>
          <a:noFill/>
        </p:spPr>
        <p:txBody>
          <a:bodyPr wrap="square" rtlCol="0">
            <a:spAutoFit/>
          </a:bodyPr>
          <a:lstStyle/>
          <a:p>
            <a:r>
              <a:rPr lang="en-US" b="1" dirty="0" smtClean="0"/>
              <a:t>Real World example </a:t>
            </a:r>
            <a:r>
              <a:rPr lang="en-US" dirty="0" smtClean="0"/>
              <a:t>:</a:t>
            </a:r>
            <a:endParaRPr lang="en-US" dirty="0"/>
          </a:p>
        </p:txBody>
      </p:sp>
      <p:pic>
        <p:nvPicPr>
          <p:cNvPr id="3" name="Picture 2" descr="Talent.JPG"/>
          <p:cNvPicPr>
            <a:picLocks noChangeAspect="1"/>
          </p:cNvPicPr>
          <p:nvPr/>
        </p:nvPicPr>
        <p:blipFill>
          <a:blip r:embed="rId2" cstate="print"/>
          <a:stretch>
            <a:fillRect/>
          </a:stretch>
        </p:blipFill>
        <p:spPr>
          <a:xfrm>
            <a:off x="1219200" y="838200"/>
            <a:ext cx="6756400" cy="4724400"/>
          </a:xfrm>
          <a:prstGeom prst="rect">
            <a:avLst/>
          </a:prstGeom>
        </p:spPr>
      </p:pic>
      <p:sp>
        <p:nvSpPr>
          <p:cNvPr id="4" name="TextBox 3"/>
          <p:cNvSpPr txBox="1"/>
          <p:nvPr/>
        </p:nvSpPr>
        <p:spPr>
          <a:xfrm>
            <a:off x="1219200" y="5562600"/>
            <a:ext cx="6705600" cy="369332"/>
          </a:xfrm>
          <a:prstGeom prst="rect">
            <a:avLst/>
          </a:prstGeom>
          <a:noFill/>
        </p:spPr>
        <p:txBody>
          <a:bodyPr wrap="square" rtlCol="0">
            <a:spAutoFit/>
          </a:bodyPr>
          <a:lstStyle/>
          <a:p>
            <a:r>
              <a:rPr lang="en-US" dirty="0" smtClean="0"/>
              <a:t>Social Network</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ttern.JPG"/>
          <p:cNvPicPr>
            <a:picLocks noChangeAspect="1"/>
          </p:cNvPicPr>
          <p:nvPr/>
        </p:nvPicPr>
        <p:blipFill>
          <a:blip r:embed="rId2" cstate="print"/>
          <a:stretch>
            <a:fillRect/>
          </a:stretch>
        </p:blipFill>
        <p:spPr>
          <a:xfrm>
            <a:off x="1676400" y="1"/>
            <a:ext cx="5662507" cy="2895600"/>
          </a:xfrm>
          <a:prstGeom prst="rect">
            <a:avLst/>
          </a:prstGeom>
        </p:spPr>
      </p:pic>
      <p:pic>
        <p:nvPicPr>
          <p:cNvPr id="3" name="Picture 2" descr="matching.JPG"/>
          <p:cNvPicPr>
            <a:picLocks noChangeAspect="1"/>
          </p:cNvPicPr>
          <p:nvPr/>
        </p:nvPicPr>
        <p:blipFill>
          <a:blip r:embed="rId3" cstate="print"/>
          <a:stretch>
            <a:fillRect/>
          </a:stretch>
        </p:blipFill>
        <p:spPr>
          <a:xfrm>
            <a:off x="1676400" y="3200400"/>
            <a:ext cx="5867400" cy="3130327"/>
          </a:xfrm>
          <a:prstGeom prst="rect">
            <a:avLst/>
          </a:prstGeom>
        </p:spPr>
      </p:pic>
      <p:sp>
        <p:nvSpPr>
          <p:cNvPr id="4" name="TextBox 3"/>
          <p:cNvSpPr txBox="1"/>
          <p:nvPr/>
        </p:nvSpPr>
        <p:spPr>
          <a:xfrm>
            <a:off x="1676400" y="2895600"/>
            <a:ext cx="5410200" cy="369332"/>
          </a:xfrm>
          <a:prstGeom prst="rect">
            <a:avLst/>
          </a:prstGeom>
          <a:noFill/>
        </p:spPr>
        <p:txBody>
          <a:bodyPr wrap="square" rtlCol="0">
            <a:spAutoFit/>
          </a:bodyPr>
          <a:lstStyle/>
          <a:p>
            <a:r>
              <a:rPr lang="en-US" dirty="0" smtClean="0"/>
              <a:t>Pattern to find who shares same interests</a:t>
            </a:r>
            <a:endParaRPr lang="en-US" dirty="0"/>
          </a:p>
        </p:txBody>
      </p:sp>
      <p:sp>
        <p:nvSpPr>
          <p:cNvPr id="5" name="TextBox 4"/>
          <p:cNvSpPr txBox="1"/>
          <p:nvPr/>
        </p:nvSpPr>
        <p:spPr>
          <a:xfrm>
            <a:off x="1676400" y="6248400"/>
            <a:ext cx="5638800" cy="369332"/>
          </a:xfrm>
          <a:prstGeom prst="rect">
            <a:avLst/>
          </a:prstGeom>
          <a:noFill/>
        </p:spPr>
        <p:txBody>
          <a:bodyPr wrap="square" rtlCol="0">
            <a:spAutoFit/>
          </a:bodyPr>
          <a:lstStyle/>
          <a:p>
            <a:r>
              <a:rPr lang="en-US" dirty="0" smtClean="0"/>
              <a:t>Colleagues who share Sarah’s interests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152400"/>
            <a:ext cx="7772400" cy="639762"/>
          </a:xfrm>
        </p:spPr>
        <p:txBody>
          <a:bodyPr>
            <a:normAutofit fontScale="90000"/>
          </a:bodyPr>
          <a:lstStyle/>
          <a:p>
            <a:r>
              <a:rPr lang="en-US" b="1" dirty="0"/>
              <a:t>Some of the graph databases </a:t>
            </a:r>
            <a:r>
              <a:rPr lang="en-US" b="1" dirty="0" smtClean="0"/>
              <a:t>:</a:t>
            </a:r>
            <a:endParaRPr lang="en-US" dirty="0"/>
          </a:p>
        </p:txBody>
      </p:sp>
      <p:sp>
        <p:nvSpPr>
          <p:cNvPr id="4" name="Content Placeholder 3"/>
          <p:cNvSpPr>
            <a:spLocks noGrp="1"/>
          </p:cNvSpPr>
          <p:nvPr>
            <p:ph sz="quarter" idx="1"/>
          </p:nvPr>
        </p:nvSpPr>
        <p:spPr>
          <a:xfrm>
            <a:off x="457200" y="838200"/>
            <a:ext cx="8229600" cy="5181600"/>
          </a:xfrm>
        </p:spPr>
        <p:txBody>
          <a:bodyPr>
            <a:noAutofit/>
          </a:bodyPr>
          <a:lstStyle/>
          <a:p>
            <a:pPr algn="just">
              <a:buFont typeface="Arial" pitchFamily="34" charset="0"/>
              <a:buChar char="•"/>
            </a:pPr>
            <a:r>
              <a:rPr lang="en-US" sz="2100" b="1" cap="all" dirty="0" smtClean="0">
                <a:latin typeface="Times New Roman" pitchFamily="18" charset="0"/>
                <a:cs typeface="Times New Roman" pitchFamily="18" charset="0"/>
              </a:rPr>
              <a:t>NEO4J </a:t>
            </a:r>
            <a:r>
              <a:rPr lang="en-US" sz="2100" b="1" cap="all" dirty="0">
                <a:latin typeface="Times New Roman" pitchFamily="18" charset="0"/>
                <a:cs typeface="Times New Roman" pitchFamily="18" charset="0"/>
              </a:rPr>
              <a:t>:</a:t>
            </a:r>
          </a:p>
          <a:p>
            <a:pPr algn="just">
              <a:buFont typeface="Wingdings" pitchFamily="2" charset="2"/>
              <a:buChar char="Ø"/>
            </a:pPr>
            <a:r>
              <a:rPr lang="en-US" sz="2100" dirty="0">
                <a:latin typeface="Times New Roman" pitchFamily="18" charset="0"/>
                <a:cs typeface="Times New Roman" pitchFamily="18" charset="0"/>
              </a:rPr>
              <a:t>It is highly </a:t>
            </a:r>
            <a:r>
              <a:rPr lang="en-US" sz="2100" dirty="0" smtClean="0">
                <a:latin typeface="Times New Roman" pitchFamily="18" charset="0"/>
                <a:cs typeface="Times New Roman" pitchFamily="18" charset="0"/>
              </a:rPr>
              <a:t>performance, </a:t>
            </a:r>
            <a:r>
              <a:rPr lang="en-US" sz="2100" dirty="0">
                <a:latin typeface="Times New Roman" pitchFamily="18" charset="0"/>
                <a:cs typeface="Times New Roman" pitchFamily="18" charset="0"/>
              </a:rPr>
              <a:t>scalable, and flexible. It is equipped with a rich UI, called the Neo4j browser, that is used for queries, visualization, and data interaction. It has compatibility with most programming platforms like Java, </a:t>
            </a:r>
            <a:r>
              <a:rPr lang="en-US" sz="2100" dirty="0" err="1">
                <a:latin typeface="Times New Roman" pitchFamily="18" charset="0"/>
                <a:cs typeface="Times New Roman" pitchFamily="18" charset="0"/>
              </a:rPr>
              <a:t>Nodejs</a:t>
            </a:r>
            <a:r>
              <a:rPr lang="en-US" sz="2100" dirty="0">
                <a:latin typeface="Times New Roman" pitchFamily="18" charset="0"/>
                <a:cs typeface="Times New Roman" pitchFamily="18" charset="0"/>
              </a:rPr>
              <a:t>, PHP, Python, .NET, etc. </a:t>
            </a:r>
          </a:p>
          <a:p>
            <a:pPr algn="just">
              <a:buFont typeface="Wingdings" pitchFamily="2" charset="2"/>
              <a:buChar char="Ø"/>
            </a:pPr>
            <a:r>
              <a:rPr lang="en-US" sz="2100" dirty="0">
                <a:latin typeface="Times New Roman" pitchFamily="18" charset="0"/>
                <a:cs typeface="Times New Roman" pitchFamily="18" charset="0"/>
              </a:rPr>
              <a:t>It supports the Cypher query language, whose syntax naturally depicts data and relationships.</a:t>
            </a:r>
          </a:p>
          <a:p>
            <a:pPr algn="just">
              <a:buFont typeface="Wingdings" pitchFamily="2" charset="2"/>
              <a:buChar char="Ø"/>
            </a:pPr>
            <a:r>
              <a:rPr lang="en-US" sz="2100" dirty="0">
                <a:latin typeface="Times New Roman" pitchFamily="18" charset="0"/>
                <a:cs typeface="Times New Roman" pitchFamily="18" charset="0"/>
              </a:rPr>
              <a:t> It has a good integration support with Apache Spark, </a:t>
            </a:r>
            <a:r>
              <a:rPr lang="en-US" sz="2100" dirty="0" smtClean="0">
                <a:latin typeface="Times New Roman" pitchFamily="18" charset="0"/>
                <a:cs typeface="Times New Roman" pitchFamily="18" charset="0"/>
              </a:rPr>
              <a:t>Elastic search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MongoDB</a:t>
            </a:r>
            <a:r>
              <a:rPr lang="en-US" sz="2100" dirty="0">
                <a:latin typeface="Times New Roman" pitchFamily="18" charset="0"/>
                <a:cs typeface="Times New Roman" pitchFamily="18" charset="0"/>
              </a:rPr>
              <a:t>, Cassandra, and </a:t>
            </a:r>
            <a:r>
              <a:rPr lang="en-US" sz="2100" dirty="0" err="1">
                <a:latin typeface="Times New Roman" pitchFamily="18" charset="0"/>
                <a:cs typeface="Times New Roman" pitchFamily="18" charset="0"/>
              </a:rPr>
              <a:t>Docker</a:t>
            </a:r>
            <a:r>
              <a:rPr lang="en-US" sz="2100" dirty="0">
                <a:latin typeface="Times New Roman" pitchFamily="18" charset="0"/>
                <a:cs typeface="Times New Roman" pitchFamily="18" charset="0"/>
              </a:rPr>
              <a:t>. </a:t>
            </a:r>
          </a:p>
          <a:p>
            <a:pPr algn="just">
              <a:buFont typeface="Arial" pitchFamily="34" charset="0"/>
              <a:buChar char="•"/>
            </a:pPr>
            <a:r>
              <a:rPr lang="en-US" sz="2100" b="1" cap="all" dirty="0" smtClean="0">
                <a:latin typeface="Times New Roman" pitchFamily="18" charset="0"/>
                <a:cs typeface="Times New Roman" pitchFamily="18" charset="0"/>
              </a:rPr>
              <a:t>ORIENT </a:t>
            </a:r>
            <a:r>
              <a:rPr lang="en-US" sz="2100" b="1" cap="all" dirty="0">
                <a:latin typeface="Times New Roman" pitchFamily="18" charset="0"/>
                <a:cs typeface="Times New Roman" pitchFamily="18" charset="0"/>
              </a:rPr>
              <a:t>DB :</a:t>
            </a:r>
          </a:p>
          <a:p>
            <a:pPr algn="just">
              <a:buFont typeface="Wingdings" pitchFamily="2" charset="2"/>
              <a:buChar char="Ø"/>
            </a:pPr>
            <a:r>
              <a:rPr lang="en-US" sz="2100" dirty="0">
                <a:latin typeface="Times New Roman" pitchFamily="18" charset="0"/>
                <a:cs typeface="Times New Roman" pitchFamily="18" charset="0"/>
              </a:rPr>
              <a:t>Orient DB is a high speed, scalable, and reliable </a:t>
            </a:r>
            <a:r>
              <a:rPr lang="en-US" sz="2100" dirty="0" err="1">
                <a:latin typeface="Times New Roman" pitchFamily="18" charset="0"/>
                <a:cs typeface="Times New Roman" pitchFamily="18" charset="0"/>
              </a:rPr>
              <a:t>GraphDB</a:t>
            </a:r>
            <a:r>
              <a:rPr lang="en-US" sz="2100" dirty="0">
                <a:latin typeface="Times New Roman" pitchFamily="18" charset="0"/>
                <a:cs typeface="Times New Roman" pitchFamily="18" charset="0"/>
              </a:rPr>
              <a:t>. It has a high and constant traversing speed that is not affected by database size.</a:t>
            </a:r>
          </a:p>
          <a:p>
            <a:pPr algn="just">
              <a:buFont typeface="Wingdings" pitchFamily="2" charset="2"/>
              <a:buChar char="Ø"/>
            </a:pPr>
            <a:r>
              <a:rPr lang="en-US" sz="2100" dirty="0">
                <a:latin typeface="Times New Roman" pitchFamily="18" charset="0"/>
                <a:cs typeface="Times New Roman" pitchFamily="18" charset="0"/>
              </a:rPr>
              <a:t> User, role, and record level security is built-in. It has a good compatibility with most programming platforms like Java, </a:t>
            </a:r>
            <a:r>
              <a:rPr lang="en-US" sz="2100" dirty="0" err="1">
                <a:latin typeface="Times New Roman" pitchFamily="18" charset="0"/>
                <a:cs typeface="Times New Roman" pitchFamily="18" charset="0"/>
              </a:rPr>
              <a:t>Nodejs</a:t>
            </a:r>
            <a:r>
              <a:rPr lang="en-US" sz="2100" dirty="0">
                <a:latin typeface="Times New Roman" pitchFamily="18" charset="0"/>
                <a:cs typeface="Times New Roman" pitchFamily="18" charset="0"/>
              </a:rPr>
              <a:t>, PHP, Python, .NET, etc. It has a strong community support and is licensed under Apache 2</a:t>
            </a:r>
            <a:r>
              <a:rPr lang="en-US" sz="2100" dirty="0" smtClean="0">
                <a:latin typeface="Times New Roman" pitchFamily="18" charset="0"/>
                <a:cs typeface="Times New Roman" pitchFamily="18" charset="0"/>
              </a:rPr>
              <a:t>.</a:t>
            </a:r>
            <a:endParaRPr lang="en-US" sz="21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28600"/>
            <a:ext cx="7924800" cy="6555641"/>
          </a:xfrm>
          <a:prstGeom prst="rect">
            <a:avLst/>
          </a:prstGeom>
          <a:noFill/>
        </p:spPr>
        <p:txBody>
          <a:bodyPr wrap="square" rtlCol="0">
            <a:spAutoFit/>
          </a:bodyPr>
          <a:lstStyle/>
          <a:p>
            <a:pPr algn="just">
              <a:buFont typeface="Arial" pitchFamily="34" charset="0"/>
              <a:buChar char="•"/>
            </a:pPr>
            <a:r>
              <a:rPr lang="en-US" sz="2100" b="1" cap="all" dirty="0" smtClean="0">
                <a:latin typeface="Times New Roman" pitchFamily="18" charset="0"/>
                <a:cs typeface="Times New Roman" pitchFamily="18" charset="0"/>
              </a:rPr>
              <a:t>TITAN DB :</a:t>
            </a:r>
            <a:endParaRPr lang="en-US" sz="2100" b="1" cap="all" dirty="0">
              <a:latin typeface="Times New Roman" pitchFamily="18" charset="0"/>
              <a:cs typeface="Times New Roman" pitchFamily="18" charset="0"/>
            </a:endParaRPr>
          </a:p>
          <a:p>
            <a:pPr algn="just">
              <a:buFont typeface="Wingdings" pitchFamily="2" charset="2"/>
              <a:buChar char="Ø"/>
            </a:pPr>
            <a:r>
              <a:rPr lang="en-US" sz="2100" dirty="0">
                <a:latin typeface="Times New Roman" pitchFamily="18" charset="0"/>
                <a:cs typeface="Times New Roman" pitchFamily="18" charset="0"/>
              </a:rPr>
              <a:t>Titan DB is highly scalable and can store and query graphs containing hundreds of billions of vertices and edges distributed across a multi-machine cluster. </a:t>
            </a:r>
            <a:endParaRPr lang="en-US" sz="2100" dirty="0" smtClean="0">
              <a:latin typeface="Times New Roman" pitchFamily="18" charset="0"/>
              <a:cs typeface="Times New Roman" pitchFamily="18" charset="0"/>
            </a:endParaRPr>
          </a:p>
          <a:p>
            <a:pPr algn="just">
              <a:buFont typeface="Wingdings" pitchFamily="2" charset="2"/>
              <a:buChar char="Ø"/>
            </a:pPr>
            <a:r>
              <a:rPr lang="en-US" sz="2100" dirty="0" smtClean="0">
                <a:latin typeface="Times New Roman" pitchFamily="18" charset="0"/>
                <a:cs typeface="Times New Roman" pitchFamily="18" charset="0"/>
              </a:rPr>
              <a:t>Titan </a:t>
            </a:r>
            <a:r>
              <a:rPr lang="en-US" sz="2100" dirty="0">
                <a:latin typeface="Times New Roman" pitchFamily="18" charset="0"/>
                <a:cs typeface="Times New Roman" pitchFamily="18" charset="0"/>
              </a:rPr>
              <a:t>DB is transactional and supports various backend stores like Cassandra, </a:t>
            </a:r>
            <a:r>
              <a:rPr lang="en-US" sz="2100" dirty="0" err="1">
                <a:latin typeface="Times New Roman" pitchFamily="18" charset="0"/>
                <a:cs typeface="Times New Roman" pitchFamily="18" charset="0"/>
              </a:rPr>
              <a:t>HBase</a:t>
            </a:r>
            <a:r>
              <a:rPr lang="en-US" sz="2100" dirty="0">
                <a:latin typeface="Times New Roman" pitchFamily="18" charset="0"/>
                <a:cs typeface="Times New Roman" pitchFamily="18" charset="0"/>
              </a:rPr>
              <a:t>, and </a:t>
            </a:r>
            <a:r>
              <a:rPr lang="en-US" sz="2100" dirty="0" err="1">
                <a:latin typeface="Times New Roman" pitchFamily="18" charset="0"/>
                <a:cs typeface="Times New Roman" pitchFamily="18" charset="0"/>
              </a:rPr>
              <a:t>BerkeleyDB</a:t>
            </a:r>
            <a:r>
              <a:rPr lang="en-US" sz="2100" dirty="0">
                <a:latin typeface="Times New Roman" pitchFamily="18" charset="0"/>
                <a:cs typeface="Times New Roman" pitchFamily="18" charset="0"/>
              </a:rPr>
              <a:t>. </a:t>
            </a:r>
            <a:endParaRPr lang="en-US" sz="2100" dirty="0" smtClean="0">
              <a:latin typeface="Times New Roman" pitchFamily="18" charset="0"/>
              <a:cs typeface="Times New Roman" pitchFamily="18" charset="0"/>
            </a:endParaRPr>
          </a:p>
          <a:p>
            <a:pPr algn="just">
              <a:buFont typeface="Wingdings" pitchFamily="2" charset="2"/>
              <a:buChar char="Ø"/>
            </a:pPr>
            <a:r>
              <a:rPr lang="en-US" sz="2100" dirty="0" smtClean="0">
                <a:latin typeface="Times New Roman" pitchFamily="18" charset="0"/>
                <a:cs typeface="Times New Roman" pitchFamily="18" charset="0"/>
              </a:rPr>
              <a:t>It </a:t>
            </a:r>
            <a:r>
              <a:rPr lang="en-US" sz="2100" dirty="0">
                <a:latin typeface="Times New Roman" pitchFamily="18" charset="0"/>
                <a:cs typeface="Times New Roman" pitchFamily="18" charset="0"/>
              </a:rPr>
              <a:t>supports integration with Elastic Search, </a:t>
            </a:r>
            <a:r>
              <a:rPr lang="en-US" sz="2100" dirty="0" err="1">
                <a:latin typeface="Times New Roman" pitchFamily="18" charset="0"/>
                <a:cs typeface="Times New Roman" pitchFamily="18" charset="0"/>
              </a:rPr>
              <a:t>Lucene</a:t>
            </a:r>
            <a:r>
              <a:rPr lang="en-US" sz="2100" dirty="0">
                <a:latin typeface="Times New Roman" pitchFamily="18" charset="0"/>
                <a:cs typeface="Times New Roman" pitchFamily="18" charset="0"/>
              </a:rPr>
              <a:t>, and </a:t>
            </a:r>
            <a:r>
              <a:rPr lang="en-US" sz="2100" dirty="0" err="1">
                <a:latin typeface="Times New Roman" pitchFamily="18" charset="0"/>
                <a:cs typeface="Times New Roman" pitchFamily="18" charset="0"/>
              </a:rPr>
              <a:t>Solr</a:t>
            </a:r>
            <a:r>
              <a:rPr lang="en-US" sz="2100" dirty="0">
                <a:latin typeface="Times New Roman" pitchFamily="18" charset="0"/>
                <a:cs typeface="Times New Roman" pitchFamily="18" charset="0"/>
              </a:rPr>
              <a:t>, and also supports the Gremlin query language. It is licensed under Apache 2.</a:t>
            </a:r>
          </a:p>
          <a:p>
            <a:pPr algn="just">
              <a:buFont typeface="Arial" pitchFamily="34" charset="0"/>
              <a:buChar char="•"/>
            </a:pPr>
            <a:r>
              <a:rPr lang="en-US" sz="2100" b="1" cap="all" dirty="0" smtClean="0">
                <a:latin typeface="Times New Roman" pitchFamily="18" charset="0"/>
                <a:cs typeface="Times New Roman" pitchFamily="18" charset="0"/>
              </a:rPr>
              <a:t>APACHE </a:t>
            </a:r>
            <a:r>
              <a:rPr lang="en-US" sz="2100" b="1" cap="all" dirty="0" smtClean="0">
                <a:latin typeface="Times New Roman" pitchFamily="18" charset="0"/>
                <a:cs typeface="Times New Roman" pitchFamily="18" charset="0"/>
              </a:rPr>
              <a:t>GIRAPH :</a:t>
            </a:r>
            <a:endParaRPr lang="en-US" sz="2100" b="1" cap="all" dirty="0">
              <a:latin typeface="Times New Roman" pitchFamily="18" charset="0"/>
              <a:cs typeface="Times New Roman" pitchFamily="18" charset="0"/>
            </a:endParaRPr>
          </a:p>
          <a:p>
            <a:pPr algn="just">
              <a:buFont typeface="Wingdings" pitchFamily="2" charset="2"/>
              <a:buChar char="Ø"/>
            </a:pPr>
            <a:r>
              <a:rPr lang="en-US" sz="2100" dirty="0">
                <a:latin typeface="Times New Roman" pitchFamily="18" charset="0"/>
                <a:cs typeface="Times New Roman" pitchFamily="18" charset="0"/>
              </a:rPr>
              <a:t>It is an Iterative Graph processing framework backed by Apache </a:t>
            </a:r>
            <a:r>
              <a:rPr lang="en-US" sz="2100" dirty="0" err="1">
                <a:latin typeface="Times New Roman" pitchFamily="18" charset="0"/>
                <a:cs typeface="Times New Roman" pitchFamily="18" charset="0"/>
              </a:rPr>
              <a:t>Hadoop</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Giraph</a:t>
            </a:r>
            <a:r>
              <a:rPr lang="en-US" sz="2100" dirty="0">
                <a:latin typeface="Times New Roman" pitchFamily="18" charset="0"/>
                <a:cs typeface="Times New Roman" pitchFamily="18" charset="0"/>
              </a:rPr>
              <a:t> jobs are highly scalable as they run on </a:t>
            </a:r>
            <a:r>
              <a:rPr lang="en-US" sz="2100" dirty="0" err="1">
                <a:latin typeface="Times New Roman" pitchFamily="18" charset="0"/>
                <a:cs typeface="Times New Roman" pitchFamily="18" charset="0"/>
              </a:rPr>
              <a:t>Hadoop</a:t>
            </a:r>
            <a:r>
              <a:rPr lang="en-US" sz="2100" dirty="0">
                <a:latin typeface="Times New Roman" pitchFamily="18" charset="0"/>
                <a:cs typeface="Times New Roman" pitchFamily="18" charset="0"/>
              </a:rPr>
              <a:t> Cluster</a:t>
            </a:r>
            <a:r>
              <a:rPr lang="en-US" sz="2100" dirty="0" smtClean="0">
                <a:latin typeface="Times New Roman" pitchFamily="18" charset="0"/>
                <a:cs typeface="Times New Roman" pitchFamily="18" charset="0"/>
              </a:rPr>
              <a:t>.</a:t>
            </a:r>
          </a:p>
          <a:p>
            <a:pPr algn="just">
              <a:buFont typeface="Wingdings" pitchFamily="2" charset="2"/>
              <a:buChar char="Ø"/>
            </a:pPr>
            <a:r>
              <a:rPr lang="en-US" sz="2100" dirty="0" smtClean="0">
                <a:latin typeface="Times New Roman" pitchFamily="18" charset="0"/>
                <a:cs typeface="Times New Roman" pitchFamily="18" charset="0"/>
              </a:rPr>
              <a:t> </a:t>
            </a:r>
            <a:r>
              <a:rPr lang="en-US" sz="2100" dirty="0" err="1">
                <a:latin typeface="Times New Roman" pitchFamily="18" charset="0"/>
                <a:cs typeface="Times New Roman" pitchFamily="18" charset="0"/>
              </a:rPr>
              <a:t>Giraph</a:t>
            </a:r>
            <a:r>
              <a:rPr lang="en-US" sz="2100" dirty="0">
                <a:latin typeface="Times New Roman" pitchFamily="18" charset="0"/>
                <a:cs typeface="Times New Roman" pitchFamily="18" charset="0"/>
              </a:rPr>
              <a:t> can greatly increase the efficiency of graph computation on a huge dataset. It is licensed under Apache 2. </a:t>
            </a:r>
            <a:endParaRPr lang="en-US" sz="2100" dirty="0" smtClean="0">
              <a:latin typeface="Times New Roman" pitchFamily="18" charset="0"/>
              <a:cs typeface="Times New Roman" pitchFamily="18" charset="0"/>
            </a:endParaRPr>
          </a:p>
          <a:p>
            <a:pPr algn="just">
              <a:buFont typeface="Arial" pitchFamily="34" charset="0"/>
              <a:buChar char="•"/>
            </a:pPr>
            <a:endParaRPr lang="en-US" sz="2100" b="1" dirty="0" smtClean="0">
              <a:latin typeface="Times New Roman" pitchFamily="18" charset="0"/>
              <a:cs typeface="Times New Roman" pitchFamily="18" charset="0"/>
            </a:endParaRPr>
          </a:p>
          <a:p>
            <a:pPr algn="just">
              <a:buFont typeface="Arial" pitchFamily="34" charset="0"/>
              <a:buChar char="•"/>
            </a:pPr>
            <a:r>
              <a:rPr lang="en-US" sz="2100" b="1" dirty="0" smtClean="0">
                <a:latin typeface="Times New Roman" pitchFamily="18" charset="0"/>
                <a:cs typeface="Times New Roman" pitchFamily="18" charset="0"/>
              </a:rPr>
              <a:t>Apache </a:t>
            </a:r>
            <a:r>
              <a:rPr lang="en-US" sz="2100" b="1" dirty="0" err="1" smtClean="0">
                <a:latin typeface="Times New Roman" pitchFamily="18" charset="0"/>
                <a:cs typeface="Times New Roman" pitchFamily="18" charset="0"/>
              </a:rPr>
              <a:t>TinkerPop</a:t>
            </a:r>
            <a:r>
              <a:rPr lang="en-US" sz="2100" b="1" dirty="0" smtClean="0">
                <a:latin typeface="Times New Roman" pitchFamily="18" charset="0"/>
                <a:cs typeface="Times New Roman" pitchFamily="18" charset="0"/>
              </a:rPr>
              <a:t> :</a:t>
            </a:r>
          </a:p>
          <a:p>
            <a:pPr algn="just">
              <a:buFont typeface="Wingdings" pitchFamily="2" charset="2"/>
              <a:buChar char="Ø"/>
            </a:pPr>
            <a:r>
              <a:rPr lang="en-US" sz="2100" dirty="0" smtClean="0">
                <a:latin typeface="Times New Roman" pitchFamily="18" charset="0"/>
                <a:cs typeface="Times New Roman" pitchFamily="18" charset="0"/>
              </a:rPr>
              <a:t>It </a:t>
            </a:r>
            <a:r>
              <a:rPr lang="en-US" sz="2100" dirty="0">
                <a:latin typeface="Times New Roman" pitchFamily="18" charset="0"/>
                <a:cs typeface="Times New Roman" pitchFamily="18" charset="0"/>
              </a:rPr>
              <a:t>is an open source, vendor-agnostic, graph computing framework distributed under the commercial friendly Apache2 license. When a data system is </a:t>
            </a:r>
            <a:r>
              <a:rPr lang="en-US" sz="2100" dirty="0" err="1">
                <a:latin typeface="Times New Roman" pitchFamily="18" charset="0"/>
                <a:cs typeface="Times New Roman" pitchFamily="18" charset="0"/>
              </a:rPr>
              <a:t>TinkerPop</a:t>
            </a:r>
            <a:r>
              <a:rPr lang="en-US" sz="2100" dirty="0">
                <a:latin typeface="Times New Roman" pitchFamily="18" charset="0"/>
                <a:cs typeface="Times New Roman" pitchFamily="18" charset="0"/>
              </a:rPr>
              <a:t>-enabled, its users are able to model their domain as a graph and analyze that graph using the Gremlin graph traversal language</a:t>
            </a:r>
            <a:r>
              <a:rPr lang="en-US" sz="2100" dirty="0" smtClean="0">
                <a:latin typeface="Times New Roman" pitchFamily="18" charset="0"/>
                <a:cs typeface="Times New Roman" pitchFamily="18" charset="0"/>
              </a:rPr>
              <a:t>.</a:t>
            </a:r>
            <a:endParaRPr lang="en-US" sz="21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158889"/>
            <a:ext cx="8382000" cy="6817251"/>
          </a:xfrm>
          <a:prstGeom prst="rect">
            <a:avLst/>
          </a:prstGeom>
          <a:noFill/>
        </p:spPr>
        <p:txBody>
          <a:bodyPr wrap="square" rtlCol="0">
            <a:spAutoFit/>
          </a:bodyPr>
          <a:lstStyle/>
          <a:p>
            <a:r>
              <a:rPr lang="en-US" sz="2300" b="1" dirty="0" smtClean="0">
                <a:latin typeface="Times New Roman" pitchFamily="18" charset="0"/>
                <a:cs typeface="Times New Roman" pitchFamily="18" charset="0"/>
              </a:rPr>
              <a:t>Some of the popular graph query languages :</a:t>
            </a:r>
          </a:p>
          <a:p>
            <a:pPr>
              <a:buFont typeface="Wingdings" pitchFamily="2" charset="2"/>
              <a:buChar char="Ø"/>
            </a:pPr>
            <a:r>
              <a:rPr lang="en-US" sz="2300" dirty="0" smtClean="0">
                <a:latin typeface="Times New Roman" pitchFamily="18" charset="0"/>
                <a:cs typeface="Times New Roman" pitchFamily="18" charset="0"/>
              </a:rPr>
              <a:t>A </a:t>
            </a:r>
            <a:r>
              <a:rPr lang="en-US" sz="2300" dirty="0">
                <a:latin typeface="Times New Roman" pitchFamily="18" charset="0"/>
                <a:cs typeface="Times New Roman" pitchFamily="18" charset="0"/>
              </a:rPr>
              <a:t>great advantage of graph queries is that they eliminate the need to join multiple tables to find those relationships between your data points because the relationships are embedded in the data itself</a:t>
            </a:r>
            <a:r>
              <a:rPr lang="en-US" sz="2300" dirty="0" smtClean="0">
                <a:latin typeface="Times New Roman" pitchFamily="18" charset="0"/>
                <a:cs typeface="Times New Roman" pitchFamily="18" charset="0"/>
              </a:rPr>
              <a:t>.</a:t>
            </a:r>
          </a:p>
          <a:p>
            <a:pPr fontAlgn="base">
              <a:buFont typeface="Wingdings" pitchFamily="2" charset="2"/>
              <a:buChar char="Ø"/>
            </a:pPr>
            <a:r>
              <a:rPr lang="en-US" sz="2300" b="1" dirty="0" smtClean="0">
                <a:latin typeface="Times New Roman" pitchFamily="18" charset="0"/>
                <a:cs typeface="Times New Roman" pitchFamily="18" charset="0"/>
              </a:rPr>
              <a:t>Cypher </a:t>
            </a:r>
            <a:r>
              <a:rPr lang="en-US" sz="2300" b="1" dirty="0" smtClean="0">
                <a:latin typeface="Times New Roman" pitchFamily="18" charset="0"/>
                <a:cs typeface="Times New Roman" pitchFamily="18" charset="0"/>
              </a:rPr>
              <a:t>:</a:t>
            </a:r>
            <a:endParaRPr lang="en-US" sz="2300" b="1" dirty="0">
              <a:latin typeface="Times New Roman" pitchFamily="18" charset="0"/>
              <a:cs typeface="Times New Roman" pitchFamily="18" charset="0"/>
            </a:endParaRPr>
          </a:p>
          <a:p>
            <a:pPr fontAlgn="base"/>
            <a:r>
              <a:rPr lang="en-US" sz="2300" dirty="0" err="1" smtClean="0">
                <a:latin typeface="Times New Roman" pitchFamily="18" charset="0"/>
                <a:cs typeface="Times New Roman" pitchFamily="18" charset="0"/>
              </a:rPr>
              <a:t>Cypher</a:t>
            </a:r>
            <a:r>
              <a:rPr lang="en-US" sz="2300" dirty="0">
                <a:latin typeface="Times New Roman" pitchFamily="18" charset="0"/>
                <a:cs typeface="Times New Roman" pitchFamily="18" charset="0"/>
              </a:rPr>
              <a:t> is a very popular declarative query language that was invented by the folks at Neo4j. Its popularity stems from its resemblance to SQL, so those with SQL experience will feel right at home</a:t>
            </a:r>
            <a:r>
              <a:rPr lang="en-US" sz="2300" dirty="0" smtClean="0">
                <a:latin typeface="Times New Roman" pitchFamily="18" charset="0"/>
                <a:cs typeface="Times New Roman" pitchFamily="18" charset="0"/>
              </a:rPr>
              <a:t>.</a:t>
            </a:r>
          </a:p>
          <a:p>
            <a:pPr fontAlgn="base">
              <a:buFont typeface="Wingdings" pitchFamily="2" charset="2"/>
              <a:buChar char="Ø"/>
            </a:pPr>
            <a:r>
              <a:rPr lang="en-US" sz="2300" b="1" dirty="0" smtClean="0">
                <a:latin typeface="Times New Roman" pitchFamily="18" charset="0"/>
                <a:cs typeface="Times New Roman" pitchFamily="18" charset="0"/>
              </a:rPr>
              <a:t>SPARQL </a:t>
            </a:r>
            <a:r>
              <a:rPr lang="en-US" sz="2300" b="1" dirty="0" smtClean="0">
                <a:latin typeface="Times New Roman" pitchFamily="18" charset="0"/>
                <a:cs typeface="Times New Roman" pitchFamily="18" charset="0"/>
              </a:rPr>
              <a:t>:</a:t>
            </a:r>
            <a:endParaRPr lang="en-US" sz="2300" b="1" dirty="0">
              <a:latin typeface="Times New Roman" pitchFamily="18" charset="0"/>
              <a:cs typeface="Times New Roman" pitchFamily="18" charset="0"/>
            </a:endParaRPr>
          </a:p>
          <a:p>
            <a:pPr fontAlgn="base"/>
            <a:r>
              <a:rPr lang="en-US" sz="2300" dirty="0" smtClean="0">
                <a:latin typeface="Times New Roman" pitchFamily="18" charset="0"/>
                <a:cs typeface="Times New Roman" pitchFamily="18" charset="0"/>
              </a:rPr>
              <a:t>SPARQL</a:t>
            </a:r>
            <a:r>
              <a:rPr lang="en-US" sz="2300" dirty="0">
                <a:latin typeface="Times New Roman" pitchFamily="18" charset="0"/>
                <a:cs typeface="Times New Roman" pitchFamily="18" charset="0"/>
              </a:rPr>
              <a:t> is SQL-like declarative query language that was created by W3C to query </a:t>
            </a:r>
            <a:r>
              <a:rPr lang="en-US" sz="2300" dirty="0" smtClean="0">
                <a:latin typeface="Times New Roman" pitchFamily="18" charset="0"/>
                <a:cs typeface="Times New Roman" pitchFamily="18" charset="0"/>
              </a:rPr>
              <a:t>RDF (Resource Description Framework</a:t>
            </a:r>
            <a:r>
              <a:rPr lang="en-US" sz="2300" dirty="0" smtClean="0">
                <a:latin typeface="Times New Roman" pitchFamily="18" charset="0"/>
                <a:cs typeface="Times New Roman" pitchFamily="18" charset="0"/>
                <a:hlinkClick r:id="rId2"/>
              </a:rPr>
              <a:t>)</a:t>
            </a:r>
            <a:r>
              <a:rPr lang="en-US" sz="2300" dirty="0">
                <a:latin typeface="Times New Roman" pitchFamily="18" charset="0"/>
                <a:cs typeface="Times New Roman" pitchFamily="18" charset="0"/>
              </a:rPr>
              <a:t> </a:t>
            </a:r>
            <a:r>
              <a:rPr lang="en-US" sz="2300" dirty="0" smtClean="0">
                <a:latin typeface="Times New Roman" pitchFamily="18" charset="0"/>
                <a:cs typeface="Times New Roman" pitchFamily="18" charset="0"/>
              </a:rPr>
              <a:t>graphs.</a:t>
            </a:r>
          </a:p>
          <a:p>
            <a:pPr fontAlgn="base">
              <a:buFont typeface="Wingdings" pitchFamily="2" charset="2"/>
              <a:buChar char="Ø"/>
            </a:pPr>
            <a:r>
              <a:rPr lang="en-US" sz="2300" b="1" dirty="0" err="1" smtClean="0">
                <a:latin typeface="Times New Roman" pitchFamily="18" charset="0"/>
                <a:cs typeface="Times New Roman" pitchFamily="18" charset="0"/>
              </a:rPr>
              <a:t>GraphQL</a:t>
            </a:r>
            <a:r>
              <a:rPr lang="en-US" sz="2300" b="1" dirty="0" smtClean="0">
                <a:latin typeface="Times New Roman" pitchFamily="18" charset="0"/>
                <a:cs typeface="Times New Roman" pitchFamily="18" charset="0"/>
              </a:rPr>
              <a:t> </a:t>
            </a:r>
            <a:r>
              <a:rPr lang="en-US" sz="2300" b="1" dirty="0" smtClean="0">
                <a:latin typeface="Times New Roman" pitchFamily="18" charset="0"/>
                <a:cs typeface="Times New Roman" pitchFamily="18" charset="0"/>
              </a:rPr>
              <a:t>:</a:t>
            </a:r>
            <a:endParaRPr lang="en-US" sz="2300" b="1" dirty="0">
              <a:latin typeface="Times New Roman" pitchFamily="18" charset="0"/>
              <a:cs typeface="Times New Roman" pitchFamily="18" charset="0"/>
            </a:endParaRPr>
          </a:p>
          <a:p>
            <a:pPr fontAlgn="base"/>
            <a:r>
              <a:rPr lang="en-US" sz="2300" dirty="0" err="1" smtClean="0">
                <a:latin typeface="Times New Roman" pitchFamily="18" charset="0"/>
                <a:cs typeface="Times New Roman" pitchFamily="18" charset="0"/>
              </a:rPr>
              <a:t>GraphQL</a:t>
            </a:r>
            <a:r>
              <a:rPr lang="en-US" sz="2300" dirty="0">
                <a:latin typeface="Times New Roman" pitchFamily="18" charset="0"/>
                <a:cs typeface="Times New Roman" pitchFamily="18" charset="0"/>
              </a:rPr>
              <a:t> (created by </a:t>
            </a:r>
            <a:r>
              <a:rPr lang="en-US" sz="2300" dirty="0" err="1">
                <a:latin typeface="Times New Roman" pitchFamily="18" charset="0"/>
                <a:cs typeface="Times New Roman" pitchFamily="18" charset="0"/>
              </a:rPr>
              <a:t>Facebook</a:t>
            </a:r>
            <a:r>
              <a:rPr lang="en-US" sz="2300" dirty="0">
                <a:latin typeface="Times New Roman" pitchFamily="18" charset="0"/>
                <a:cs typeface="Times New Roman" pitchFamily="18" charset="0"/>
              </a:rPr>
              <a:t>) is a query language for APIs that isn’t specific to graph databases. Users define the structure of the data they need and they get exactly what they asked for. </a:t>
            </a:r>
            <a:r>
              <a:rPr lang="en-US" sz="2300" dirty="0" err="1">
                <a:latin typeface="Times New Roman" pitchFamily="18" charset="0"/>
                <a:cs typeface="Times New Roman" pitchFamily="18" charset="0"/>
              </a:rPr>
              <a:t>GraphQL</a:t>
            </a:r>
            <a:r>
              <a:rPr lang="en-US" sz="2300" dirty="0">
                <a:latin typeface="Times New Roman" pitchFamily="18" charset="0"/>
                <a:cs typeface="Times New Roman" pitchFamily="18" charset="0"/>
              </a:rPr>
              <a:t> queries are organized as types and fields, and not as endpoints. By varying the request object, you can determine what gets returned by the server</a:t>
            </a:r>
            <a:r>
              <a:rPr lang="en-US" sz="2300" dirty="0" smtClean="0">
                <a:latin typeface="Times New Roman" pitchFamily="18" charset="0"/>
                <a:cs typeface="Times New Roman" pitchFamily="18" charset="0"/>
              </a:rPr>
              <a:t>.</a:t>
            </a:r>
            <a:endParaRPr lang="en-US" sz="23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52400"/>
            <a:ext cx="7848600" cy="6463308"/>
          </a:xfrm>
          <a:prstGeom prst="rect">
            <a:avLst/>
          </a:prstGeom>
          <a:noFill/>
        </p:spPr>
        <p:txBody>
          <a:bodyPr wrap="square" rtlCol="0">
            <a:spAutoFit/>
          </a:bodyPr>
          <a:lstStyle/>
          <a:p>
            <a:pPr algn="just" fontAlgn="base">
              <a:buFont typeface="Arial" pitchFamily="34" charset="0"/>
              <a:buChar char="•"/>
            </a:pPr>
            <a:r>
              <a:rPr lang="en-US" sz="2300" b="1" dirty="0">
                <a:latin typeface="Times New Roman" pitchFamily="18" charset="0"/>
                <a:cs typeface="Times New Roman" pitchFamily="18" charset="0"/>
              </a:rPr>
              <a:t>Gremlin</a:t>
            </a:r>
          </a:p>
          <a:p>
            <a:pPr algn="just" fontAlgn="base"/>
            <a:r>
              <a:rPr lang="en-US" sz="2300" dirty="0" err="1" smtClean="0">
                <a:latin typeface="Times New Roman" pitchFamily="18" charset="0"/>
                <a:cs typeface="Times New Roman" pitchFamily="18" charset="0"/>
              </a:rPr>
              <a:t>Germlin</a:t>
            </a:r>
            <a:r>
              <a:rPr lang="en-US" sz="2300" dirty="0">
                <a:latin typeface="Times New Roman" pitchFamily="18" charset="0"/>
                <a:cs typeface="Times New Roman" pitchFamily="18" charset="0"/>
              </a:rPr>
              <a:t> was created in 2009 and is the query language for Apache </a:t>
            </a:r>
            <a:r>
              <a:rPr lang="en-US" sz="2300" dirty="0" err="1" smtClean="0">
                <a:latin typeface="Times New Roman" pitchFamily="18" charset="0"/>
                <a:cs typeface="Times New Roman" pitchFamily="18" charset="0"/>
              </a:rPr>
              <a:t>TinkerPop</a:t>
            </a:r>
            <a:r>
              <a:rPr lang="en-US" sz="2300" dirty="0" smtClean="0">
                <a:latin typeface="Times New Roman" pitchFamily="18" charset="0"/>
                <a:cs typeface="Times New Roman" pitchFamily="18" charset="0"/>
              </a:rPr>
              <a:t>. </a:t>
            </a:r>
            <a:r>
              <a:rPr lang="en-US" sz="2300" dirty="0">
                <a:latin typeface="Times New Roman" pitchFamily="18" charset="0"/>
                <a:cs typeface="Times New Roman" pitchFamily="18" charset="0"/>
              </a:rPr>
              <a:t>It is a graph traversal DSL (Domain Specific Language) that can be either declarative or </a:t>
            </a:r>
            <a:r>
              <a:rPr lang="en-US" sz="2300" dirty="0" smtClean="0">
                <a:latin typeface="Times New Roman" pitchFamily="18" charset="0"/>
                <a:cs typeface="Times New Roman" pitchFamily="18" charset="0"/>
              </a:rPr>
              <a:t>imperative. </a:t>
            </a:r>
            <a:r>
              <a:rPr lang="en-US" sz="2300" dirty="0">
                <a:latin typeface="Times New Roman" pitchFamily="18" charset="0"/>
                <a:cs typeface="Times New Roman" pitchFamily="18" charset="0"/>
              </a:rPr>
              <a:t>Gremlin is Groovy-based, but has many language variants that allow developers to write Gremlin queries natively in many modern programming languages such as Java, JavaScript, Python, </a:t>
            </a:r>
            <a:r>
              <a:rPr lang="en-US" sz="2300" dirty="0" err="1">
                <a:latin typeface="Times New Roman" pitchFamily="18" charset="0"/>
                <a:cs typeface="Times New Roman" pitchFamily="18" charset="0"/>
              </a:rPr>
              <a:t>Scala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Clojure</a:t>
            </a:r>
            <a:r>
              <a:rPr lang="en-US" sz="2300" dirty="0">
                <a:latin typeface="Times New Roman" pitchFamily="18" charset="0"/>
                <a:cs typeface="Times New Roman" pitchFamily="18" charset="0"/>
              </a:rPr>
              <a:t> and Groovy.</a:t>
            </a:r>
          </a:p>
          <a:p>
            <a:pPr algn="just"/>
            <a:endParaRPr lang="en-US" sz="2300" dirty="0">
              <a:latin typeface="Times New Roman" pitchFamily="18" charset="0"/>
              <a:cs typeface="Times New Roman" pitchFamily="18" charset="0"/>
            </a:endParaRPr>
          </a:p>
          <a:p>
            <a:pPr algn="just"/>
            <a:r>
              <a:rPr lang="en-US" sz="2300" b="1" dirty="0" smtClean="0">
                <a:latin typeface="Times New Roman" pitchFamily="18" charset="0"/>
                <a:cs typeface="Times New Roman" pitchFamily="18" charset="0"/>
              </a:rPr>
              <a:t>Applications :</a:t>
            </a:r>
          </a:p>
          <a:p>
            <a:pPr algn="just"/>
            <a:endParaRPr lang="en-US" sz="2300" b="1" dirty="0">
              <a:latin typeface="Times New Roman" pitchFamily="18" charset="0"/>
              <a:cs typeface="Times New Roman" pitchFamily="18" charset="0"/>
            </a:endParaRPr>
          </a:p>
          <a:p>
            <a:pPr algn="just">
              <a:buFont typeface="Wingdings" pitchFamily="2" charset="2"/>
              <a:buChar char="Ø"/>
            </a:pPr>
            <a:r>
              <a:rPr lang="en-US" sz="2300" dirty="0">
                <a:latin typeface="Times New Roman" pitchFamily="18" charset="0"/>
                <a:cs typeface="Times New Roman" pitchFamily="18" charset="0"/>
              </a:rPr>
              <a:t>Fraud </a:t>
            </a:r>
            <a:r>
              <a:rPr lang="en-US" sz="2300" dirty="0" smtClean="0">
                <a:latin typeface="Times New Roman" pitchFamily="18" charset="0"/>
                <a:cs typeface="Times New Roman" pitchFamily="18" charset="0"/>
              </a:rPr>
              <a:t>Detection</a:t>
            </a:r>
          </a:p>
          <a:p>
            <a:pPr algn="just">
              <a:buFont typeface="Wingdings" pitchFamily="2" charset="2"/>
              <a:buChar char="Ø"/>
            </a:pPr>
            <a:r>
              <a:rPr lang="en-US" sz="2300" dirty="0" smtClean="0">
                <a:latin typeface="Times New Roman" pitchFamily="18" charset="0"/>
                <a:cs typeface="Times New Roman" pitchFamily="18" charset="0"/>
              </a:rPr>
              <a:t>Real-time </a:t>
            </a:r>
            <a:r>
              <a:rPr lang="en-US" sz="2300" dirty="0">
                <a:latin typeface="Times New Roman" pitchFamily="18" charset="0"/>
                <a:cs typeface="Times New Roman" pitchFamily="18" charset="0"/>
              </a:rPr>
              <a:t>Recommendation </a:t>
            </a:r>
            <a:r>
              <a:rPr lang="en-US" sz="2300" dirty="0" smtClean="0">
                <a:latin typeface="Times New Roman" pitchFamily="18" charset="0"/>
                <a:cs typeface="Times New Roman" pitchFamily="18" charset="0"/>
              </a:rPr>
              <a:t>Engines</a:t>
            </a:r>
          </a:p>
          <a:p>
            <a:pPr algn="just">
              <a:buFont typeface="Wingdings" pitchFamily="2" charset="2"/>
              <a:buChar char="Ø"/>
            </a:pPr>
            <a:r>
              <a:rPr lang="en-US" sz="2300" dirty="0" smtClean="0">
                <a:latin typeface="Times New Roman" pitchFamily="18" charset="0"/>
                <a:cs typeface="Times New Roman" pitchFamily="18" charset="0"/>
              </a:rPr>
              <a:t>Master </a:t>
            </a:r>
            <a:r>
              <a:rPr lang="en-US" sz="2300" dirty="0">
                <a:latin typeface="Times New Roman" pitchFamily="18" charset="0"/>
                <a:cs typeface="Times New Roman" pitchFamily="18" charset="0"/>
              </a:rPr>
              <a:t>Data </a:t>
            </a:r>
            <a:r>
              <a:rPr lang="en-US" sz="2300" dirty="0" smtClean="0">
                <a:latin typeface="Times New Roman" pitchFamily="18" charset="0"/>
                <a:cs typeface="Times New Roman" pitchFamily="18" charset="0"/>
              </a:rPr>
              <a:t>Management</a:t>
            </a:r>
          </a:p>
          <a:p>
            <a:pPr algn="just">
              <a:buFont typeface="Wingdings" pitchFamily="2" charset="2"/>
              <a:buChar char="Ø"/>
            </a:pPr>
            <a:r>
              <a:rPr lang="en-US" sz="2300" dirty="0" smtClean="0">
                <a:latin typeface="Times New Roman" pitchFamily="18" charset="0"/>
                <a:cs typeface="Times New Roman" pitchFamily="18" charset="0"/>
              </a:rPr>
              <a:t>Empowering </a:t>
            </a:r>
            <a:r>
              <a:rPr lang="en-US" sz="2300" dirty="0">
                <a:latin typeface="Times New Roman" pitchFamily="18" charset="0"/>
                <a:cs typeface="Times New Roman" pitchFamily="18" charset="0"/>
              </a:rPr>
              <a:t>Network &amp; IT </a:t>
            </a:r>
            <a:r>
              <a:rPr lang="en-US" sz="2300" dirty="0" smtClean="0">
                <a:latin typeface="Times New Roman" pitchFamily="18" charset="0"/>
                <a:cs typeface="Times New Roman" pitchFamily="18" charset="0"/>
              </a:rPr>
              <a:t>Operations</a:t>
            </a:r>
          </a:p>
          <a:p>
            <a:pPr algn="just">
              <a:buFont typeface="Wingdings" pitchFamily="2" charset="2"/>
              <a:buChar char="Ø"/>
            </a:pPr>
            <a:r>
              <a:rPr lang="en-US" sz="2300" dirty="0" smtClean="0">
                <a:latin typeface="Times New Roman" pitchFamily="18" charset="0"/>
                <a:cs typeface="Times New Roman" pitchFamily="18" charset="0"/>
              </a:rPr>
              <a:t>Identity </a:t>
            </a:r>
            <a:r>
              <a:rPr lang="en-US" sz="2300" dirty="0">
                <a:latin typeface="Times New Roman" pitchFamily="18" charset="0"/>
                <a:cs typeface="Times New Roman" pitchFamily="18" charset="0"/>
              </a:rPr>
              <a:t>&amp; Access </a:t>
            </a:r>
            <a:r>
              <a:rPr lang="en-US" sz="2300" dirty="0" smtClean="0">
                <a:latin typeface="Times New Roman" pitchFamily="18" charset="0"/>
                <a:cs typeface="Times New Roman" pitchFamily="18" charset="0"/>
              </a:rPr>
              <a:t>Management</a:t>
            </a:r>
          </a:p>
          <a:p>
            <a:pPr algn="just">
              <a:buFont typeface="Wingdings" pitchFamily="2" charset="2"/>
              <a:buChar char="Ø"/>
            </a:pPr>
            <a:r>
              <a:rPr lang="en-US" sz="2300" dirty="0" smtClean="0">
                <a:latin typeface="Times New Roman" pitchFamily="18" charset="0"/>
                <a:cs typeface="Times New Roman" pitchFamily="18" charset="0"/>
              </a:rPr>
              <a:t>Further </a:t>
            </a:r>
            <a:r>
              <a:rPr lang="en-US" sz="2300" dirty="0">
                <a:latin typeface="Times New Roman" pitchFamily="18" charset="0"/>
                <a:cs typeface="Times New Roman" pitchFamily="18" charset="0"/>
              </a:rPr>
              <a:t>Reading</a:t>
            </a:r>
          </a:p>
          <a:p>
            <a:pPr algn="just"/>
            <a:endParaRPr lang="en-US" sz="23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831</TotalTime>
  <Words>709</Words>
  <Application>Microsoft Office PowerPoint</Application>
  <PresentationFormat>On-screen Show (4:3)</PresentationFormat>
  <Paragraphs>151</Paragraphs>
  <Slides>16</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18" baseType="lpstr">
      <vt:lpstr>Equity</vt:lpstr>
      <vt:lpstr>Picture</vt:lpstr>
      <vt:lpstr>Graph Databases</vt:lpstr>
      <vt:lpstr>Pitfalls of Relational Databases :  </vt:lpstr>
      <vt:lpstr>Graph Databases definition :</vt:lpstr>
      <vt:lpstr>Components :</vt:lpstr>
      <vt:lpstr>PowerPoint Presentation</vt:lpstr>
      <vt:lpstr>Properties of Graph Databases :</vt:lpstr>
      <vt:lpstr>PowerPoint Presentation</vt:lpstr>
      <vt:lpstr>PowerPoint Presentation</vt:lpstr>
      <vt:lpstr>Graph Compute Engines :</vt:lpstr>
      <vt:lpstr>PowerPoint Presentation</vt:lpstr>
      <vt:lpstr>PowerPoint Presentation</vt:lpstr>
      <vt:lpstr>PowerPoint Presentation</vt:lpstr>
      <vt:lpstr>Some of the graph databases :</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Databases</dc:title>
  <dc:creator>LENOVO-PC</dc:creator>
  <cp:lastModifiedBy>DELL</cp:lastModifiedBy>
  <cp:revision>57</cp:revision>
  <dcterms:created xsi:type="dcterms:W3CDTF">2019-10-08T10:11:43Z</dcterms:created>
  <dcterms:modified xsi:type="dcterms:W3CDTF">2024-11-22T05:40:16Z</dcterms:modified>
</cp:coreProperties>
</file>