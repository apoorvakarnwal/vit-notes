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9" r:id="rId9"/>
    <p:sldId id="261" r:id="rId10"/>
    <p:sldId id="264" r:id="rId11"/>
    <p:sldId id="270" r:id="rId12"/>
    <p:sldId id="265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59" autoAdjust="0"/>
    <p:restoredTop sz="86477" autoAdjust="0"/>
  </p:normalViewPr>
  <p:slideViewPr>
    <p:cSldViewPr>
      <p:cViewPr varScale="1">
        <p:scale>
          <a:sx n="63" d="100"/>
          <a:sy n="63" d="100"/>
        </p:scale>
        <p:origin x="-1362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5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E7238B-4390-4646-8EB4-4968ED26515B}" type="datetimeFigureOut">
              <a:rPr lang="en-IN" smtClean="0"/>
              <a:t>22-07-2020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FB1CC-AE27-4B23-824E-BA8B57FD6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57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63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22-07-2020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2933" y="1449311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3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3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8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22-07-2020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63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8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22-07-2020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 flipV="1">
            <a:off x="69413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50" y="2341483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10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22-07-2020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22-07-2020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22-07-2020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22-07-2020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22-07-2020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22-07-2020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10" y="4650482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4" y="4773232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12" y="66683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22-07-2020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9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8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22-07-2020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F6A820A-2CAB-46E0-A5A3-DD492961C18D}" type="datetimeFigureOut">
              <a:rPr lang="en-IN" smtClean="0"/>
              <a:t>22-07-2020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Dr. </a:t>
            </a:r>
            <a:r>
              <a:rPr lang="en-US" dirty="0" err="1" smtClean="0"/>
              <a:t>Anand</a:t>
            </a:r>
            <a:r>
              <a:rPr lang="en-US" dirty="0" smtClean="0"/>
              <a:t> </a:t>
            </a:r>
            <a:r>
              <a:rPr lang="en-US" dirty="0" err="1" smtClean="0"/>
              <a:t>Bihari</a:t>
            </a:r>
            <a:endParaRPr lang="en-US" dirty="0" smtClean="0"/>
          </a:p>
          <a:p>
            <a:r>
              <a:rPr lang="en-US" dirty="0" smtClean="0"/>
              <a:t>SJT Annex- 203N</a:t>
            </a:r>
          </a:p>
          <a:p>
            <a:r>
              <a:rPr lang="en-US" dirty="0"/>
              <a:t>a</a:t>
            </a:r>
            <a:r>
              <a:rPr lang="en-US" dirty="0" smtClean="0"/>
              <a:t>nand.bihari@vit.ac.in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Keys in DBMS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3291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What are Keys?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DBMS key is an attribute or set of an attribute which helps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 to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identify a row(tuple) in a relation(table).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 real-world application, a table could contain thousands of records. Moreover, the records could be duplicated. Keys ensure that you can uniquely identify a table record despite these challenges.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allow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 to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find the relation between two tables.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Keys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help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 to uniquely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identify a row in a table by a combination of one or more columns in that table.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Help you to enforce identity and integrity in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relationship.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238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Keys in Database Management </a:t>
            </a:r>
            <a:r>
              <a:rPr lang="en-US" b="1" dirty="0" smtClean="0"/>
              <a:t>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DBMS has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following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seven types of Keys each have their different functionality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Super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Key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Primary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Key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Candidate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Key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Alternate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Key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Foreign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Key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Compound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Key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Composite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Key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Surrogate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Key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567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Super </a:t>
            </a:r>
            <a:r>
              <a:rPr lang="en-IN" b="1" dirty="0" smtClean="0"/>
              <a:t>key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05536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 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uper key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a group of single or multiple keys which identifies rows in a table.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Super key may have additional attributes that are not needed for unique identification.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Super Keys are </a:t>
            </a:r>
          </a:p>
          <a:p>
            <a:pPr lvl="1"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EmpSSN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lvl="1"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EmpNum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lvl="1"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EmpSSN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EmpNum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lvl="1"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EmpSSN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Empname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lvl="1"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EmpNum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Empname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lvl="1" algn="just"/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IN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EmpSSN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EmpNum</a:t>
            </a:r>
            <a:r>
              <a:rPr lang="en-IN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Empname</a:t>
            </a:r>
            <a:r>
              <a:rPr lang="en-IN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663619"/>
              </p:ext>
            </p:extLst>
          </p:nvPr>
        </p:nvGraphicFramePr>
        <p:xfrm>
          <a:off x="4015862" y="2924944"/>
          <a:ext cx="5108103" cy="1706880"/>
        </p:xfrm>
        <a:graphic>
          <a:graphicData uri="http://schemas.openxmlformats.org/drawingml/2006/table">
            <a:tbl>
              <a:tblPr/>
              <a:tblGrid>
                <a:gridCol w="1702701"/>
                <a:gridCol w="1702701"/>
                <a:gridCol w="1702701"/>
              </a:tblGrid>
              <a:tr h="0">
                <a:tc>
                  <a:txBody>
                    <a:bodyPr/>
                    <a:lstStyle/>
                    <a:p>
                      <a:r>
                        <a:rPr lang="en-IN" sz="2200" b="1" dirty="0" err="1">
                          <a:latin typeface="Times New Roman" pitchFamily="18" charset="0"/>
                          <a:cs typeface="Times New Roman" pitchFamily="18" charset="0"/>
                        </a:rPr>
                        <a:t>EmpSSN</a:t>
                      </a:r>
                      <a:r>
                        <a:rPr lang="en-IN" sz="22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b="1" dirty="0" err="1">
                          <a:latin typeface="Times New Roman" pitchFamily="18" charset="0"/>
                          <a:cs typeface="Times New Roman" pitchFamily="18" charset="0"/>
                        </a:rPr>
                        <a:t>EmpNum</a:t>
                      </a:r>
                      <a:r>
                        <a:rPr lang="en-IN" sz="22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b="1">
                          <a:latin typeface="Times New Roman" pitchFamily="18" charset="0"/>
                          <a:cs typeface="Times New Roman" pitchFamily="18" charset="0"/>
                        </a:rPr>
                        <a:t>Empname</a:t>
                      </a:r>
                      <a:r>
                        <a:rPr lang="en-IN" sz="220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2200" dirty="0">
                          <a:latin typeface="Times New Roman" pitchFamily="18" charset="0"/>
                          <a:cs typeface="Times New Roman" pitchFamily="18" charset="0"/>
                        </a:rPr>
                        <a:t>9812345098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itchFamily="18" charset="0"/>
                          <a:cs typeface="Times New Roman" pitchFamily="18" charset="0"/>
                        </a:rPr>
                        <a:t>AB05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itchFamily="18" charset="0"/>
                          <a:cs typeface="Times New Roman" pitchFamily="18" charset="0"/>
                        </a:rPr>
                        <a:t>Shown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itchFamily="18" charset="0"/>
                          <a:cs typeface="Times New Roman" pitchFamily="18" charset="0"/>
                        </a:rPr>
                        <a:t>9876512345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dirty="0">
                          <a:latin typeface="Times New Roman" pitchFamily="18" charset="0"/>
                          <a:cs typeface="Times New Roman" pitchFamily="18" charset="0"/>
                        </a:rPr>
                        <a:t>AB06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itchFamily="18" charset="0"/>
                          <a:cs typeface="Times New Roman" pitchFamily="18" charset="0"/>
                        </a:rPr>
                        <a:t>Roslyn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itchFamily="18" charset="0"/>
                          <a:cs typeface="Times New Roman" pitchFamily="18" charset="0"/>
                        </a:rPr>
                        <a:t>199937890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dirty="0">
                          <a:latin typeface="Times New Roman" pitchFamily="18" charset="0"/>
                          <a:cs typeface="Times New Roman" pitchFamily="18" charset="0"/>
                        </a:rPr>
                        <a:t>AB07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dirty="0">
                          <a:latin typeface="Times New Roman" pitchFamily="18" charset="0"/>
                          <a:cs typeface="Times New Roman" pitchFamily="18" charset="0"/>
                        </a:rPr>
                        <a:t>James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1906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Primary Key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 column or group of columns in a table which helps us to uniquely identifies every row in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table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called a primary key.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same value can't appear more than once in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table for primary key column.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Rules for defining Primary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key:</a:t>
            </a:r>
          </a:p>
          <a:p>
            <a:pPr lvl="1"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Two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rows can't have the same primary key value</a:t>
            </a:r>
          </a:p>
          <a:p>
            <a:pPr lvl="1"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must for every row to have a primary key value.</a:t>
            </a:r>
          </a:p>
          <a:p>
            <a:pPr lvl="1"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primary key field cannot be null.</a:t>
            </a:r>
          </a:p>
          <a:p>
            <a:pPr lvl="1"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value in a primary key column can never be modified or updated if any foreign key refers to that primary key.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240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Candidate </a:t>
            </a:r>
            <a:r>
              <a:rPr lang="en-IN" b="1" dirty="0" smtClean="0"/>
              <a:t>Key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candidate keys in a table are defined as the set of keys that is minimal and can uniquely identify any data row in the table.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Primary key should be selected from the candidate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keys.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Every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table must have at least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one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candidate key.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Properties of Candidate key: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It must contain unique values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Candidate key may have multiple attributes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Must not contain null values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It should contain minimum fields to ensure uniqueness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Uniquely identify each record in a table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395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2050" name="Picture 2" descr="https://www.guru99.com/images/1/100518_0517_DBMSKeysPri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31649"/>
            <a:ext cx="8568952" cy="5976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195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Super key vs Candidate </a:t>
            </a:r>
            <a:r>
              <a:rPr lang="en-IN" b="1" dirty="0" smtClean="0"/>
              <a:t>Key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All the candidate keys are super keys. </a:t>
            </a:r>
          </a:p>
          <a:p>
            <a:pPr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This is because the candidate keys are chosen out of the super keys.</a:t>
            </a:r>
          </a:p>
          <a:p>
            <a:pPr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How we choose candidate keys from the set of super keys? </a:t>
            </a:r>
          </a:p>
          <a:p>
            <a:pPr marL="0" indent="0" algn="just"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keys from which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cannot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remove any fields. In the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first example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we have not chosen {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Emp_SSN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Emp_Name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} as candidate key because {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Emp_SSN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} alone can identify a unique row in the table and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Emp_Name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is redundant.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550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Alternate </a:t>
            </a:r>
            <a:r>
              <a:rPr lang="en-IN" b="1" dirty="0" smtClean="0"/>
              <a:t>key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All the keys which are not primary key are called an alternate key.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a candidate key which is currently not the primary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key.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However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 table may have single or multiple choices for the primary key.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18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Foreign </a:t>
            </a:r>
            <a:r>
              <a:rPr lang="en-IN" b="1" dirty="0" smtClean="0"/>
              <a:t>key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 foreign key is an attribute value in a table that acts as the primary key in another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table.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Hence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the foreign key is useful in linking together two tables.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should be entered in the foreign key column with great care, as wrongly entered data can invalidate the relationship between the two tables.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779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 descr="DBMS Key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764704"/>
            <a:ext cx="8064896" cy="532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9205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Compound </a:t>
            </a:r>
            <a:r>
              <a:rPr lang="en-IN" b="1" dirty="0" smtClean="0"/>
              <a:t>key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Compound key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is the set of key attributes that allows us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to uniquely recognize a specific record.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possible that each column may be not unique by itself within the database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However, when combined with the other column or columns the combination of composite keys become unique.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40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Composite key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key which has multiple attributes to uniquely identify rows in a table is called a composite key.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difference between compound and the composite key is that any part of the compound key can be a foreign key, but the composite key may or maybe not a part of the foreign key.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532842"/>
              </p:ext>
            </p:extLst>
          </p:nvPr>
        </p:nvGraphicFramePr>
        <p:xfrm>
          <a:off x="971600" y="4149080"/>
          <a:ext cx="7772400" cy="2560320"/>
        </p:xfrm>
        <a:graphic>
          <a:graphicData uri="http://schemas.openxmlformats.org/drawingml/2006/table">
            <a:tbl>
              <a:tblPr/>
              <a:tblGrid>
                <a:gridCol w="1943100"/>
                <a:gridCol w="1943100"/>
                <a:gridCol w="1943100"/>
                <a:gridCol w="1943100"/>
              </a:tblGrid>
              <a:tr h="0">
                <a:tc>
                  <a:txBody>
                    <a:bodyPr/>
                    <a:lstStyle/>
                    <a:p>
                      <a:r>
                        <a:rPr lang="en-IN" sz="2200" b="1" dirty="0" err="1">
                          <a:latin typeface="Times New Roman" pitchFamily="18" charset="0"/>
                          <a:cs typeface="Times New Roman" pitchFamily="18" charset="0"/>
                        </a:rPr>
                        <a:t>OrderNo</a:t>
                      </a:r>
                      <a:r>
                        <a:rPr lang="en-IN" sz="22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b="1">
                          <a:latin typeface="Times New Roman" pitchFamily="18" charset="0"/>
                          <a:cs typeface="Times New Roman" pitchFamily="18" charset="0"/>
                        </a:rPr>
                        <a:t>PorductID</a:t>
                      </a:r>
                      <a:r>
                        <a:rPr lang="en-IN" sz="220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b="1">
                          <a:latin typeface="Times New Roman" pitchFamily="18" charset="0"/>
                          <a:cs typeface="Times New Roman" pitchFamily="18" charset="0"/>
                        </a:rPr>
                        <a:t>Product Name</a:t>
                      </a:r>
                      <a:r>
                        <a:rPr lang="en-IN" sz="220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b="1">
                          <a:latin typeface="Times New Roman" pitchFamily="18" charset="0"/>
                          <a:cs typeface="Times New Roman" pitchFamily="18" charset="0"/>
                        </a:rPr>
                        <a:t>Quantity</a:t>
                      </a:r>
                      <a:r>
                        <a:rPr lang="en-IN" sz="220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2200" dirty="0">
                          <a:latin typeface="Times New Roman" pitchFamily="18" charset="0"/>
                          <a:cs typeface="Times New Roman" pitchFamily="18" charset="0"/>
                        </a:rPr>
                        <a:t>B005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itchFamily="18" charset="0"/>
                          <a:cs typeface="Times New Roman" pitchFamily="18" charset="0"/>
                        </a:rPr>
                        <a:t>JAP102459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itchFamily="18" charset="0"/>
                          <a:cs typeface="Times New Roman" pitchFamily="18" charset="0"/>
                        </a:rPr>
                        <a:t>Mouse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itchFamily="18" charset="0"/>
                          <a:cs typeface="Times New Roman" pitchFamily="18" charset="0"/>
                        </a:rPr>
                        <a:t>5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itchFamily="18" charset="0"/>
                          <a:cs typeface="Times New Roman" pitchFamily="18" charset="0"/>
                        </a:rPr>
                        <a:t>B005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dirty="0">
                          <a:latin typeface="Times New Roman" pitchFamily="18" charset="0"/>
                          <a:cs typeface="Times New Roman" pitchFamily="18" charset="0"/>
                        </a:rPr>
                        <a:t>DKT321573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itchFamily="18" charset="0"/>
                          <a:cs typeface="Times New Roman" pitchFamily="18" charset="0"/>
                        </a:rPr>
                        <a:t>USB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itchFamily="18" charset="0"/>
                          <a:cs typeface="Times New Roman" pitchFamily="18" charset="0"/>
                        </a:rPr>
                        <a:t>10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itchFamily="18" charset="0"/>
                          <a:cs typeface="Times New Roman" pitchFamily="18" charset="0"/>
                        </a:rPr>
                        <a:t>B005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dirty="0">
                          <a:latin typeface="Times New Roman" pitchFamily="18" charset="0"/>
                          <a:cs typeface="Times New Roman" pitchFamily="18" charset="0"/>
                        </a:rPr>
                        <a:t>OMG446789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dirty="0">
                          <a:latin typeface="Times New Roman" pitchFamily="18" charset="0"/>
                          <a:cs typeface="Times New Roman" pitchFamily="18" charset="0"/>
                        </a:rPr>
                        <a:t>LCD Monitor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itchFamily="18" charset="0"/>
                          <a:cs typeface="Times New Roman" pitchFamily="18" charset="0"/>
                        </a:rPr>
                        <a:t>20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itchFamily="18" charset="0"/>
                          <a:cs typeface="Times New Roman" pitchFamily="18" charset="0"/>
                        </a:rPr>
                        <a:t>B004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itchFamily="18" charset="0"/>
                          <a:cs typeface="Times New Roman" pitchFamily="18" charset="0"/>
                        </a:rPr>
                        <a:t>DKT321573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dirty="0">
                          <a:latin typeface="Times New Roman" pitchFamily="18" charset="0"/>
                          <a:cs typeface="Times New Roman" pitchFamily="18" charset="0"/>
                        </a:rPr>
                        <a:t>USB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itchFamily="18" charset="0"/>
                          <a:cs typeface="Times New Roman" pitchFamily="18" charset="0"/>
                        </a:rPr>
                        <a:t>15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itchFamily="18" charset="0"/>
                          <a:cs typeface="Times New Roman" pitchFamily="18" charset="0"/>
                        </a:rPr>
                        <a:t>B002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itchFamily="18" charset="0"/>
                          <a:cs typeface="Times New Roman" pitchFamily="18" charset="0"/>
                        </a:rPr>
                        <a:t>OMG446789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dirty="0">
                          <a:latin typeface="Times New Roman" pitchFamily="18" charset="0"/>
                          <a:cs typeface="Times New Roman" pitchFamily="18" charset="0"/>
                        </a:rPr>
                        <a:t>Laser Printer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dirty="0">
                          <a:latin typeface="Times New Roman" pitchFamily="18" charset="0"/>
                          <a:cs typeface="Times New Roman" pitchFamily="18" charset="0"/>
                        </a:rPr>
                        <a:t>3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3623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Surrogate Key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05536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artificial key which aims to uniquely identify each record is called a surrogate key.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These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kind of key are unique because they are created when you don't have any natural primary key.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do not lend any meaning to the data in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table.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Surrogate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key is usually an integer.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Above, given example, shown shift timings of the different employee.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this example, a surrogate key is needed to uniquely identify each employee.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196706"/>
              </p:ext>
            </p:extLst>
          </p:nvPr>
        </p:nvGraphicFramePr>
        <p:xfrm>
          <a:off x="1187624" y="3284984"/>
          <a:ext cx="7772400" cy="1900808"/>
        </p:xfrm>
        <a:graphic>
          <a:graphicData uri="http://schemas.openxmlformats.org/drawingml/2006/table">
            <a:tbl>
              <a:tblPr/>
              <a:tblGrid>
                <a:gridCol w="1943100"/>
                <a:gridCol w="1943100"/>
                <a:gridCol w="1943100"/>
                <a:gridCol w="1943100"/>
              </a:tblGrid>
              <a:tr h="437768">
                <a:tc>
                  <a:txBody>
                    <a:bodyPr/>
                    <a:lstStyle/>
                    <a:p>
                      <a:r>
                        <a:rPr lang="en-IN" b="1" dirty="0" err="1">
                          <a:latin typeface="Times New Roman" pitchFamily="18" charset="0"/>
                          <a:cs typeface="Times New Roman" pitchFamily="18" charset="0"/>
                        </a:rPr>
                        <a:t>Fname</a:t>
                      </a:r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itchFamily="18" charset="0"/>
                          <a:cs typeface="Times New Roman" pitchFamily="18" charset="0"/>
                        </a:rPr>
                        <a:t>Lastname</a:t>
                      </a:r>
                      <a:r>
                        <a:rPr lang="en-IN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itchFamily="18" charset="0"/>
                          <a:cs typeface="Times New Roman" pitchFamily="18" charset="0"/>
                        </a:rPr>
                        <a:t>Start Time</a:t>
                      </a:r>
                      <a:r>
                        <a:rPr lang="en-IN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itchFamily="18" charset="0"/>
                          <a:cs typeface="Times New Roman" pitchFamily="18" charset="0"/>
                        </a:rPr>
                        <a:t>End Time</a:t>
                      </a:r>
                      <a:r>
                        <a:rPr lang="en-IN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Anne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itchFamily="18" charset="0"/>
                          <a:cs typeface="Times New Roman" pitchFamily="18" charset="0"/>
                        </a:rPr>
                        <a:t>Smith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itchFamily="18" charset="0"/>
                          <a:cs typeface="Times New Roman" pitchFamily="18" charset="0"/>
                        </a:rPr>
                        <a:t>09:00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itchFamily="18" charset="0"/>
                          <a:cs typeface="Times New Roman" pitchFamily="18" charset="0"/>
                        </a:rPr>
                        <a:t>18:00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itchFamily="18" charset="0"/>
                          <a:cs typeface="Times New Roman" pitchFamily="18" charset="0"/>
                        </a:rPr>
                        <a:t>Jack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itchFamily="18" charset="0"/>
                          <a:cs typeface="Times New Roman" pitchFamily="18" charset="0"/>
                        </a:rPr>
                        <a:t>Francis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itchFamily="18" charset="0"/>
                          <a:cs typeface="Times New Roman" pitchFamily="18" charset="0"/>
                        </a:rPr>
                        <a:t>08:00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itchFamily="18" charset="0"/>
                          <a:cs typeface="Times New Roman" pitchFamily="18" charset="0"/>
                        </a:rPr>
                        <a:t>17:00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itchFamily="18" charset="0"/>
                          <a:cs typeface="Times New Roman" pitchFamily="18" charset="0"/>
                        </a:rPr>
                        <a:t>Anna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itchFamily="18" charset="0"/>
                          <a:cs typeface="Times New Roman" pitchFamily="18" charset="0"/>
                        </a:rPr>
                        <a:t>McLean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itchFamily="18" charset="0"/>
                          <a:cs typeface="Times New Roman" pitchFamily="18" charset="0"/>
                        </a:rPr>
                        <a:t>11:00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itchFamily="18" charset="0"/>
                          <a:cs typeface="Times New Roman" pitchFamily="18" charset="0"/>
                        </a:rPr>
                        <a:t>20:00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itchFamily="18" charset="0"/>
                          <a:cs typeface="Times New Roman" pitchFamily="18" charset="0"/>
                        </a:rPr>
                        <a:t>Shown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Times New Roman" pitchFamily="18" charset="0"/>
                          <a:cs typeface="Times New Roman" pitchFamily="18" charset="0"/>
                        </a:rPr>
                        <a:t>Willam</a:t>
                      </a:r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14:00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23:00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6945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3395</TotalTime>
  <Words>854</Words>
  <Application>Microsoft Office PowerPoint</Application>
  <PresentationFormat>On-screen Show (4:3)</PresentationFormat>
  <Paragraphs>140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Equity</vt:lpstr>
      <vt:lpstr>Keys in DBMS</vt:lpstr>
      <vt:lpstr>What are Keys?</vt:lpstr>
      <vt:lpstr>Keys in Database Management System</vt:lpstr>
      <vt:lpstr>Super key</vt:lpstr>
      <vt:lpstr>Primary Key</vt:lpstr>
      <vt:lpstr>Candidate Key</vt:lpstr>
      <vt:lpstr>PowerPoint Presentation</vt:lpstr>
      <vt:lpstr>Super key vs Candidate Key</vt:lpstr>
      <vt:lpstr>Alternate key</vt:lpstr>
      <vt:lpstr>Foreign key</vt:lpstr>
      <vt:lpstr>PowerPoint Presentation</vt:lpstr>
      <vt:lpstr>Compound key</vt:lpstr>
      <vt:lpstr>Composite key</vt:lpstr>
      <vt:lpstr>Surrogate Key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 System</dc:title>
  <dc:creator>Admin</dc:creator>
  <cp:lastModifiedBy>Admin</cp:lastModifiedBy>
  <cp:revision>135</cp:revision>
  <dcterms:created xsi:type="dcterms:W3CDTF">2019-05-30T15:49:42Z</dcterms:created>
  <dcterms:modified xsi:type="dcterms:W3CDTF">2020-07-22T11:32:28Z</dcterms:modified>
</cp:coreProperties>
</file>