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310" r:id="rId9"/>
    <p:sldId id="311" r:id="rId10"/>
    <p:sldId id="312" r:id="rId11"/>
    <p:sldId id="313" r:id="rId12"/>
    <p:sldId id="314" r:id="rId13"/>
    <p:sldId id="315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816" y="-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DE936D-1A5A-48A5-9C0B-F02011F3D3A7}" type="datetimeFigureOut">
              <a:rPr lang="en-US" smtClean="0"/>
              <a:t>14-Aug-24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8FB2B-4FFD-4B37-8876-C7EFC4003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7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2" y="52318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1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58DF-D8F8-4F65-A6BA-3D5AC848360C}" type="datetime1">
              <a:rPr lang="en-US" smtClean="0"/>
              <a:t>14-Aug-24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2" y="1086978"/>
            <a:ext cx="9021538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2" y="1047541"/>
            <a:ext cx="9021538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2" y="2232488"/>
            <a:ext cx="9021538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129448"/>
            <a:ext cx="8229600" cy="1102519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BD3F-D76D-4788-9298-6F8932AB1E90}" type="datetime1">
              <a:rPr lang="en-US" smtClean="0"/>
              <a:t>14-Aug-24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1" y="1085850"/>
            <a:ext cx="777240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2" y="52318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714376"/>
            <a:ext cx="7772400" cy="1021556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1910954"/>
            <a:ext cx="7772400" cy="1003697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6C4D6-FC65-4942-B5E8-F70F0232C33A}" type="datetime1">
              <a:rPr lang="en-US" smtClean="0"/>
              <a:t>14-Aug-24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4629150"/>
            <a:ext cx="4000500" cy="342900"/>
          </a:xfrm>
        </p:spPr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3" y="1782623"/>
            <a:ext cx="9013515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7" y="1756108"/>
            <a:ext cx="9013781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8" y="1851660"/>
            <a:ext cx="9014620" cy="3429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5" y="4656582"/>
            <a:ext cx="457200" cy="342900"/>
          </a:xfrm>
        </p:spPr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82AB-D0C8-4630-963E-B321D8BB04F1}" type="datetime1">
              <a:rPr lang="en-US" smtClean="0"/>
              <a:t>14-Aug-24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1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1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04788"/>
            <a:ext cx="7772400" cy="8572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1" y="1085850"/>
            <a:ext cx="3733801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085850"/>
            <a:ext cx="3733801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79C1-96A8-4480-9E19-5ACAF5B8407A}" type="datetime1">
              <a:rPr lang="en-US" smtClean="0"/>
              <a:t>14-Aug-24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1" y="1685925"/>
            <a:ext cx="3733801" cy="29146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1685925"/>
            <a:ext cx="3733801" cy="29146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C89E-DC1F-4EC0-BE4D-FD0BB5178195}" type="datetime1">
              <a:rPr lang="en-US" smtClean="0"/>
              <a:t>14-Aug-24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13CC-C503-4392-845C-DFAB3D22DC79}" type="datetime1">
              <a:rPr lang="en-US" smtClean="0"/>
              <a:t>14-Aug-24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7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04788"/>
            <a:ext cx="7772400" cy="85725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1" y="1200150"/>
            <a:ext cx="1905001" cy="337185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8F703-EAE6-48DA-8E6F-C489102EE236}" type="datetime1">
              <a:rPr lang="en-US" smtClean="0"/>
              <a:t>14-Aug-24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799" y="1200150"/>
            <a:ext cx="5715001" cy="33718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75413"/>
            <a:ext cx="7315200" cy="391716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84369"/>
            <a:ext cx="7315200" cy="51435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AC3EA-5CFF-42D0-9D95-FF1BC9FFF3E3}" type="datetime1">
              <a:rPr lang="en-US" smtClean="0"/>
              <a:t>14-Aug-24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4629150"/>
            <a:ext cx="3886201" cy="342900"/>
          </a:xfrm>
        </p:spPr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5" y="4656582"/>
            <a:ext cx="457200" cy="342900"/>
          </a:xfrm>
        </p:spPr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6" y="3512666"/>
            <a:ext cx="9006841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10" y="3487857"/>
            <a:ext cx="9006638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3" y="3579919"/>
            <a:ext cx="9006636" cy="3660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9" y="50007"/>
            <a:ext cx="9001874" cy="34361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886-E65B-45B9-8813-44B4F92079E4}" type="datetime1">
              <a:rPr lang="en-US" smtClean="0"/>
              <a:t>14-Aug-24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81"/>
            <a:ext cx="2011680" cy="4388644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1" y="205980"/>
            <a:ext cx="5562601" cy="438864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6B34-130E-4FA8-9498-0D367FF2F400}" type="datetime1">
              <a:rPr lang="en-US" smtClean="0"/>
              <a:t>14-Aug-24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7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1" y="205979"/>
            <a:ext cx="7772400" cy="85725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1" y="1085850"/>
            <a:ext cx="77724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2" y="4643437"/>
            <a:ext cx="2476500" cy="357188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9433800-8AF0-4C88-AF89-968F37B62965}" type="datetime1">
              <a:rPr lang="en-US" smtClean="0"/>
              <a:t>14-Aug-24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5" y="4657725"/>
            <a:ext cx="457200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Functional dependency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99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133350"/>
            <a:ext cx="7772400" cy="625079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Functional dependency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1" y="666751"/>
            <a:ext cx="8077200" cy="4267200"/>
          </a:xfrm>
        </p:spPr>
        <p:txBody>
          <a:bodyPr>
            <a:normAutofit lnSpcReduction="10000"/>
          </a:bodyPr>
          <a:lstStyle/>
          <a:p>
            <a:pPr marL="457200" indent="-457200">
              <a:spcBef>
                <a:spcPts val="0"/>
              </a:spcBef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Functional dependency defines relationship among attributes of a relation schema.</a:t>
            </a:r>
          </a:p>
          <a:p>
            <a:pPr marL="457200" indent="-457200">
              <a:spcBef>
                <a:spcPts val="0"/>
              </a:spcBef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It typically exists between the primary key and non-key attribute within a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table.</a:t>
            </a:r>
          </a:p>
          <a:p>
            <a:pPr marL="457200" indent="-457200">
              <a:spcBef>
                <a:spcPts val="0"/>
              </a:spcBef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is denoted as X → Y, where the attribute set on the left side of the arrow, X is called Determinant, and Y is called the Dependent. </a:t>
            </a: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spcBef>
                <a:spcPts val="0"/>
              </a:spcBef>
            </a:pP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Formal Definition: </a:t>
            </a:r>
          </a:p>
          <a:p>
            <a:pPr marL="457200" indent="-457200">
              <a:spcBef>
                <a:spcPts val="0"/>
              </a:spcBef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If R be a relation schema and X and Y are two subsets of R then we say that X functionally determines Y (X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Y) if for any pair of tuple t1 and t2 belonging to any state r(R) whenever t1[X] = t2[X], we must have t1[Y]=t2[Y] </a:t>
            </a:r>
          </a:p>
          <a:p>
            <a:pPr marL="457200" indent="-457200">
              <a:spcBef>
                <a:spcPts val="0"/>
              </a:spcBef>
            </a:pP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33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04" y="336353"/>
            <a:ext cx="8803179" cy="2606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10247"/>
            <a:ext cx="922713" cy="22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2963932"/>
            <a:ext cx="6361113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371600" y="4324350"/>
            <a:ext cx="49487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sz="1600" i="0" dirty="0"/>
              <a:t>{</a:t>
            </a:r>
            <a:r>
              <a:rPr lang="en-US" sz="1600" i="0" dirty="0" err="1"/>
              <a:t>Ssn</a:t>
            </a:r>
            <a:r>
              <a:rPr lang="en-US" sz="1600" i="0" dirty="0"/>
              <a:t>} </a:t>
            </a:r>
            <a:r>
              <a:rPr lang="en-US" sz="1600" i="0" dirty="0">
                <a:sym typeface="Wingdings" pitchFamily="2" charset="2"/>
              </a:rPr>
              <a:t> {</a:t>
            </a:r>
            <a:r>
              <a:rPr lang="en-US" sz="1600" i="0" dirty="0" err="1">
                <a:sym typeface="Wingdings" pitchFamily="2" charset="2"/>
              </a:rPr>
              <a:t>Ename</a:t>
            </a:r>
            <a:r>
              <a:rPr lang="en-US" sz="1600" i="0" dirty="0">
                <a:sym typeface="Wingdings" pitchFamily="2" charset="2"/>
              </a:rPr>
              <a:t>, </a:t>
            </a:r>
            <a:r>
              <a:rPr lang="en-US" sz="1600" i="0" dirty="0" err="1">
                <a:sym typeface="Wingdings" pitchFamily="2" charset="2"/>
              </a:rPr>
              <a:t>Bdate</a:t>
            </a:r>
            <a:r>
              <a:rPr lang="en-US" sz="1600" i="0" dirty="0">
                <a:sym typeface="Wingdings" pitchFamily="2" charset="2"/>
              </a:rPr>
              <a:t>, Address, </a:t>
            </a:r>
            <a:r>
              <a:rPr lang="en-US" sz="1600" i="0" dirty="0" err="1">
                <a:sym typeface="Wingdings" pitchFamily="2" charset="2"/>
              </a:rPr>
              <a:t>Dnumber</a:t>
            </a:r>
            <a:r>
              <a:rPr lang="en-US" sz="1600" i="0" dirty="0">
                <a:sym typeface="Wingdings" pitchFamily="2" charset="2"/>
              </a:rPr>
              <a:t>}</a:t>
            </a:r>
          </a:p>
          <a:p>
            <a:r>
              <a:rPr lang="en-US" sz="1600" i="0" dirty="0">
                <a:sym typeface="Wingdings" pitchFamily="2" charset="2"/>
              </a:rPr>
              <a:t>{</a:t>
            </a:r>
            <a:r>
              <a:rPr lang="en-US" sz="1600" i="0" dirty="0" err="1">
                <a:sym typeface="Wingdings" pitchFamily="2" charset="2"/>
              </a:rPr>
              <a:t>Dnumber</a:t>
            </a:r>
            <a:r>
              <a:rPr lang="en-US" sz="1600" i="0" dirty="0">
                <a:sym typeface="Wingdings" pitchFamily="2" charset="2"/>
              </a:rPr>
              <a:t>}  {</a:t>
            </a:r>
            <a:r>
              <a:rPr lang="en-US" sz="1600" i="0" dirty="0" err="1">
                <a:sym typeface="Wingdings" pitchFamily="2" charset="2"/>
              </a:rPr>
              <a:t>Dname</a:t>
            </a:r>
            <a:r>
              <a:rPr lang="en-US" sz="1600" i="0" dirty="0">
                <a:sym typeface="Wingdings" pitchFamily="2" charset="2"/>
              </a:rPr>
              <a:t>, </a:t>
            </a:r>
            <a:r>
              <a:rPr lang="en-US" sz="1600" i="0" dirty="0" err="1">
                <a:sym typeface="Wingdings" pitchFamily="2" charset="2"/>
              </a:rPr>
              <a:t>Dmgr_ssn</a:t>
            </a:r>
            <a:r>
              <a:rPr lang="en-US" sz="1600" i="0" dirty="0">
                <a:sym typeface="Wingdings" pitchFamily="2" charset="2"/>
              </a:rPr>
              <a:t>}</a:t>
            </a:r>
            <a:endParaRPr lang="en-US" sz="1600" i="0" dirty="0"/>
          </a:p>
        </p:txBody>
      </p:sp>
    </p:spTree>
    <p:extLst>
      <p:ext uri="{BB962C8B-B14F-4D97-AF65-F5344CB8AC3E}">
        <p14:creationId xmlns:p14="http://schemas.microsoft.com/office/powerpoint/2010/main" val="109789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26" y="231323"/>
            <a:ext cx="7069973" cy="4513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73" y="57151"/>
            <a:ext cx="897774" cy="174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7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2" y="971550"/>
            <a:ext cx="62484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09801" y="2655888"/>
            <a:ext cx="453201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sz="1600" i="0" dirty="0"/>
              <a:t>FD1:  {</a:t>
            </a:r>
            <a:r>
              <a:rPr lang="en-US" sz="1600" i="0" dirty="0" err="1"/>
              <a:t>Ssn</a:t>
            </a:r>
            <a:r>
              <a:rPr lang="en-US" sz="1600" i="0" dirty="0"/>
              <a:t>, </a:t>
            </a:r>
            <a:r>
              <a:rPr lang="en-US" sz="1600" i="0" dirty="0" err="1"/>
              <a:t>Pnumber</a:t>
            </a:r>
            <a:r>
              <a:rPr lang="en-US" sz="1600" i="0" dirty="0"/>
              <a:t>} </a:t>
            </a:r>
            <a:r>
              <a:rPr lang="en-US" sz="1600" i="0" dirty="0">
                <a:sym typeface="Wingdings" pitchFamily="2" charset="2"/>
              </a:rPr>
              <a:t> {Hours}</a:t>
            </a:r>
          </a:p>
          <a:p>
            <a:r>
              <a:rPr lang="en-US" sz="1600" i="0" dirty="0">
                <a:sym typeface="Wingdings" pitchFamily="2" charset="2"/>
              </a:rPr>
              <a:t>FD2:  {</a:t>
            </a:r>
            <a:r>
              <a:rPr lang="en-US" sz="1600" i="0" dirty="0" err="1">
                <a:sym typeface="Wingdings" pitchFamily="2" charset="2"/>
              </a:rPr>
              <a:t>Ssn</a:t>
            </a:r>
            <a:r>
              <a:rPr lang="en-US" sz="1600" i="0" dirty="0">
                <a:sym typeface="Wingdings" pitchFamily="2" charset="2"/>
              </a:rPr>
              <a:t>}  {</a:t>
            </a:r>
            <a:r>
              <a:rPr lang="en-US" sz="1600" i="0" dirty="0" err="1">
                <a:sym typeface="Wingdings" pitchFamily="2" charset="2"/>
              </a:rPr>
              <a:t>Ename</a:t>
            </a:r>
            <a:r>
              <a:rPr lang="en-US" sz="1600" i="0" dirty="0">
                <a:sym typeface="Wingdings" pitchFamily="2" charset="2"/>
              </a:rPr>
              <a:t>}</a:t>
            </a:r>
          </a:p>
          <a:p>
            <a:r>
              <a:rPr lang="en-US" sz="1600" i="0" dirty="0">
                <a:sym typeface="Wingdings" pitchFamily="2" charset="2"/>
              </a:rPr>
              <a:t>FD3:  {</a:t>
            </a:r>
            <a:r>
              <a:rPr lang="en-US" sz="1600" i="0" dirty="0" err="1">
                <a:sym typeface="Wingdings" pitchFamily="2" charset="2"/>
              </a:rPr>
              <a:t>Pnumber</a:t>
            </a:r>
            <a:r>
              <a:rPr lang="en-US" sz="1600" i="0" dirty="0">
                <a:sym typeface="Wingdings" pitchFamily="2" charset="2"/>
              </a:rPr>
              <a:t>}  {</a:t>
            </a:r>
            <a:r>
              <a:rPr lang="en-US" sz="1600" i="0" dirty="0" err="1">
                <a:sym typeface="Wingdings" pitchFamily="2" charset="2"/>
              </a:rPr>
              <a:t>Pname</a:t>
            </a:r>
            <a:r>
              <a:rPr lang="en-US" sz="1600" i="0" dirty="0">
                <a:sym typeface="Wingdings" pitchFamily="2" charset="2"/>
              </a:rPr>
              <a:t>, </a:t>
            </a:r>
            <a:r>
              <a:rPr lang="en-US" sz="1600" i="0" dirty="0" err="1">
                <a:sym typeface="Wingdings" pitchFamily="2" charset="2"/>
              </a:rPr>
              <a:t>Plocation</a:t>
            </a:r>
            <a:r>
              <a:rPr lang="en-US" sz="1600" i="0" dirty="0">
                <a:sym typeface="Wingdings" pitchFamily="2" charset="2"/>
              </a:rPr>
              <a:t>}  </a:t>
            </a:r>
            <a:endParaRPr lang="en-US" sz="1600" i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8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Armstrong’s </a:t>
            </a:r>
            <a:r>
              <a:rPr lang="en-US" sz="4000" dirty="0"/>
              <a:t>rules (axioms)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Assume that R is a relation schema and X, Y and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Z are subsets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of R. </a:t>
            </a:r>
          </a:p>
          <a:p>
            <a:pPr algn="just"/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Reflexivity rule: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X is a super set of Y then X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Y.</a:t>
            </a:r>
            <a:endParaRPr lang="en-US" sz="2300" b="1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r>
              <a:rPr lang="en-US" sz="2300" b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Augmentation rule: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If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  Y then XZ  YZ. </a:t>
            </a:r>
            <a:endParaRPr lang="en-US" sz="23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Transitivity rule: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If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  Y &amp; Y  Z then X  Z.</a:t>
            </a:r>
            <a:endParaRPr lang="en-US" sz="2300" b="1" dirty="0">
              <a:latin typeface="Times New Roman" pitchFamily="18" charset="0"/>
              <a:cs typeface="Times New Roman" pitchFamily="18" charset="0"/>
            </a:endParaRPr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76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Additional </a:t>
            </a:r>
            <a:r>
              <a:rPr lang="en-US" sz="4000" dirty="0" smtClean="0"/>
              <a:t>rules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1" y="1085850"/>
            <a:ext cx="7772400" cy="3695700"/>
          </a:xfrm>
        </p:spPr>
        <p:txBody>
          <a:bodyPr>
            <a:normAutofit/>
          </a:bodyPr>
          <a:lstStyle/>
          <a:p>
            <a:pPr algn="just"/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Union </a:t>
            </a: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rule: 	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Y and X  Z then X 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YZ</a:t>
            </a:r>
          </a:p>
          <a:p>
            <a:pPr algn="just"/>
            <a:r>
              <a:rPr lang="en-US" sz="2100" b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Decomposition rule: 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If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  YZ then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Y and X 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Z</a:t>
            </a:r>
          </a:p>
          <a:p>
            <a:pPr algn="just"/>
            <a:r>
              <a:rPr lang="en-US" sz="2100" b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Pseudo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transitivity </a:t>
            </a:r>
            <a:r>
              <a:rPr lang="en-US" sz="2100" b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rule: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If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  Y and YZ 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 then 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XZ  V </a:t>
            </a:r>
            <a:endParaRPr lang="en-US" sz="21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r>
              <a:rPr lang="en-US" sz="2100" b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Composition rule: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If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  Y and V  W then XV 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YW</a:t>
            </a:r>
          </a:p>
          <a:p>
            <a:pPr algn="just"/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Self Determination: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It is similar to the Axiom of Reflexivity, i.e.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A→A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for any A. </a:t>
            </a:r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100" b="1" dirty="0" err="1" smtClean="0">
                <a:latin typeface="Times New Roman" pitchFamily="18" charset="0"/>
                <a:cs typeface="Times New Roman" pitchFamily="18" charset="0"/>
              </a:rPr>
              <a:t>Extensivity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dirty="0" err="1">
                <a:latin typeface="Times New Roman" pitchFamily="18" charset="0"/>
                <a:cs typeface="Times New Roman" pitchFamily="18" charset="0"/>
              </a:rPr>
              <a:t>Extensivity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is a case of augmentation. If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AC→A,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A→B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, then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AC→B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. Similarly,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AC→ABC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ABC→BC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. This leads to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AC→BC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1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15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Types of Functional Dependencies in DBMS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Trivial functional dependency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Non-Trivial functional dependency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Multivalued functional dependency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Transitive functional dependency</a:t>
            </a:r>
          </a:p>
          <a:p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15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Trivial functional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dependency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1" y="1085850"/>
            <a:ext cx="7772400" cy="392430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Trivial Functional Dependency, a dependent is always a subset of the determinant. i.e. If X → Y and Y is the subset of X, then it is called trivial functional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dependency.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roll_no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name} → name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 trivial functional dependency, since the dependent name is a subset of determinant set {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roll_no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name}. Similarly,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roll_no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roll_no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also an example of trivial functional dependency.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930511"/>
              </p:ext>
            </p:extLst>
          </p:nvPr>
        </p:nvGraphicFramePr>
        <p:xfrm>
          <a:off x="4648200" y="1809750"/>
          <a:ext cx="29718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90600"/>
                <a:gridCol w="990600"/>
                <a:gridCol w="9906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Roll_no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age</a:t>
                      </a:r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abc</a:t>
                      </a:r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17</a:t>
                      </a:r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pqr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44</a:t>
                      </a:r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abc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904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Non-trivial Functional Dependency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In Non-trivial functional dependency, the dependent is strictly not a subset of the determinant. i.e. If X → Y and Y is not a subset of X, then it is called Non-trivial functional dependency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Here, </a:t>
            </a:r>
            <a:r>
              <a:rPr lang="en-US" sz="21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roll_no</a:t>
            </a: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→ name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is a non-trivial functional dependency, since the dependent name is not a subset of determinant </a:t>
            </a:r>
            <a:r>
              <a:rPr lang="en-US" sz="2100" dirty="0" err="1">
                <a:latin typeface="Times New Roman" pitchFamily="18" charset="0"/>
                <a:cs typeface="Times New Roman" pitchFamily="18" charset="0"/>
              </a:rPr>
              <a:t>roll_no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. Similarly, </a:t>
            </a: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1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roll_no</a:t>
            </a: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name} → age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is also a non-trivial functional dependency, since age is not a subset of {</a:t>
            </a:r>
            <a:r>
              <a:rPr lang="en-US" sz="2100" dirty="0" err="1">
                <a:latin typeface="Times New Roman" pitchFamily="18" charset="0"/>
                <a:cs typeface="Times New Roman" pitchFamily="18" charset="0"/>
              </a:rPr>
              <a:t>roll_no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, name} </a:t>
            </a:r>
          </a:p>
        </p:txBody>
      </p:sp>
    </p:spTree>
    <p:extLst>
      <p:ext uri="{BB962C8B-B14F-4D97-AF65-F5344CB8AC3E}">
        <p14:creationId xmlns:p14="http://schemas.microsoft.com/office/powerpoint/2010/main" val="393872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3350"/>
            <a:ext cx="7772400" cy="70127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Multivalued Functional </a:t>
            </a:r>
            <a:r>
              <a:rPr lang="en-US" b="1" dirty="0" smtClean="0"/>
              <a:t>Dependency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895350"/>
            <a:ext cx="8077201" cy="4038600"/>
          </a:xfrm>
        </p:spPr>
        <p:txBody>
          <a:bodyPr>
            <a:normAutofit/>
          </a:bodyPr>
          <a:lstStyle/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In Multivalued functional dependency, entities of the dependent set are not dependent on each other. i.e. If a → {b, c} and there exists no functional dependency between b and c, then it is called a multivalued functional dependency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algn="just"/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Here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1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roll_no</a:t>
            </a: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→ {name, age}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is a multivalued functional dependency, since the dependents name &amp; age are not dependent on each other(i.e. name → age or age → name doesn’t exist !)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531915"/>
              </p:ext>
            </p:extLst>
          </p:nvPr>
        </p:nvGraphicFramePr>
        <p:xfrm>
          <a:off x="4267200" y="1962150"/>
          <a:ext cx="22098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39800"/>
                <a:gridCol w="736600"/>
                <a:gridCol w="53340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roll_no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age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abc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17 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pqr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xyz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abc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80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Transitive Functional </a:t>
            </a:r>
            <a:r>
              <a:rPr lang="en-US" b="1" dirty="0" smtClean="0"/>
              <a:t>Dependency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8600" y="1047750"/>
            <a:ext cx="5715000" cy="38481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transitive functional dependency, dependent is indirectly dependent on determinant. i.e. If a → b &amp; b → c, then according to axiom of transitivity, a → c. This is a transitive functional dependency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Here, </a:t>
            </a:r>
            <a:r>
              <a:rPr lang="en-US" sz="21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enrol_no</a:t>
            </a: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sz="21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dept</a:t>
            </a: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1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dept</a:t>
            </a: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sz="21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building_no</a:t>
            </a: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1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Hence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, according to the axiom of transitivity, </a:t>
            </a:r>
            <a:r>
              <a:rPr lang="en-US" sz="21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enrol_no</a:t>
            </a: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sz="21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building_no</a:t>
            </a: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is a valid functional dependency. </a:t>
            </a:r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is an indirect functional dependency, hence called Transitive functional dependency.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43770"/>
              </p:ext>
            </p:extLst>
          </p:nvPr>
        </p:nvGraphicFramePr>
        <p:xfrm>
          <a:off x="5943600" y="1276350"/>
          <a:ext cx="3124200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91546"/>
                <a:gridCol w="737254"/>
                <a:gridCol w="609600"/>
                <a:gridCol w="6858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enrol_no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dept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building_no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pqr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xyz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abc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53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Fully Functional Dependency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full functional dependency an attribute or a set of attributes uniquely determines another attribute or set of attributes. If a relation R has attributes X, Y, Z with the dependencies X-&gt;Y and X-&gt;Z which states that those dependencies are fully functional.</a:t>
            </a:r>
          </a:p>
          <a:p>
            <a:pPr algn="just"/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Partial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Functional Dependency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partial functional dependency a non key attribute depends on a part of the composite key, rather than the whole key. If a relation R has attributes X, Y, Z where X and Y are the composite key and Z is non key attribute. Then X-&gt;Z is a partial functional dependency in RBDMS.</a:t>
            </a:r>
          </a:p>
        </p:txBody>
      </p:sp>
    </p:spTree>
    <p:extLst>
      <p:ext uri="{BB962C8B-B14F-4D97-AF65-F5344CB8AC3E}">
        <p14:creationId xmlns:p14="http://schemas.microsoft.com/office/powerpoint/2010/main" val="162298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835</TotalTime>
  <Words>795</Words>
  <Application>Microsoft Office PowerPoint</Application>
  <PresentationFormat>On-screen Show (16:9)</PresentationFormat>
  <Paragraphs>114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Equity</vt:lpstr>
      <vt:lpstr>Functional dependency </vt:lpstr>
      <vt:lpstr>Functional dependency</vt:lpstr>
      <vt:lpstr>PowerPoint Presentation</vt:lpstr>
      <vt:lpstr>PowerPoint Presentation</vt:lpstr>
      <vt:lpstr>PowerPoint Presentation</vt:lpstr>
      <vt:lpstr>Armstrong’s rules (axioms)</vt:lpstr>
      <vt:lpstr>Additional rules</vt:lpstr>
      <vt:lpstr>Types of Functional Dependencies in DBMS</vt:lpstr>
      <vt:lpstr>Trivial functional dependency</vt:lpstr>
      <vt:lpstr>Non-trivial Functional Dependency</vt:lpstr>
      <vt:lpstr>Multivalued Functional Dependency</vt:lpstr>
      <vt:lpstr>Transitive Functional Dependency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dependency</dc:title>
  <dc:creator>Admin</dc:creator>
  <cp:lastModifiedBy>DELL</cp:lastModifiedBy>
  <cp:revision>114</cp:revision>
  <dcterms:created xsi:type="dcterms:W3CDTF">2020-01-24T07:52:33Z</dcterms:created>
  <dcterms:modified xsi:type="dcterms:W3CDTF">2024-08-14T06:25:14Z</dcterms:modified>
</cp:coreProperties>
</file>