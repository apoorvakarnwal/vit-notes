
<file path=[Content_Types].xml><?xml version="1.0" encoding="utf-8"?>
<Types xmlns="http://schemas.openxmlformats.org/package/2006/content-types">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27" r:id="rId1"/>
  </p:sldMasterIdLst>
  <p:notesMasterIdLst>
    <p:notesMasterId r:id="rId35"/>
  </p:notesMasterIdLst>
  <p:handoutMasterIdLst>
    <p:handoutMasterId r:id="rId36"/>
  </p:handoutMasterIdLst>
  <p:sldIdLst>
    <p:sldId id="464" r:id="rId2"/>
    <p:sldId id="383" r:id="rId3"/>
    <p:sldId id="330" r:id="rId4"/>
    <p:sldId id="384" r:id="rId5"/>
    <p:sldId id="432" r:id="rId6"/>
    <p:sldId id="433" r:id="rId7"/>
    <p:sldId id="435" r:id="rId8"/>
    <p:sldId id="437" r:id="rId9"/>
    <p:sldId id="438" r:id="rId10"/>
    <p:sldId id="439" r:id="rId11"/>
    <p:sldId id="440" r:id="rId12"/>
    <p:sldId id="443" r:id="rId13"/>
    <p:sldId id="441" r:id="rId14"/>
    <p:sldId id="442" r:id="rId15"/>
    <p:sldId id="444" r:id="rId16"/>
    <p:sldId id="445" r:id="rId17"/>
    <p:sldId id="446" r:id="rId18"/>
    <p:sldId id="448" r:id="rId19"/>
    <p:sldId id="447" r:id="rId20"/>
    <p:sldId id="449" r:id="rId21"/>
    <p:sldId id="450" r:id="rId22"/>
    <p:sldId id="451" r:id="rId23"/>
    <p:sldId id="452" r:id="rId24"/>
    <p:sldId id="453" r:id="rId25"/>
    <p:sldId id="454" r:id="rId26"/>
    <p:sldId id="456" r:id="rId27"/>
    <p:sldId id="457" r:id="rId28"/>
    <p:sldId id="458" r:id="rId29"/>
    <p:sldId id="459" r:id="rId30"/>
    <p:sldId id="460" r:id="rId31"/>
    <p:sldId id="461" r:id="rId32"/>
    <p:sldId id="455" r:id="rId33"/>
    <p:sldId id="462" r:id="rId34"/>
  </p:sldIdLst>
  <p:sldSz cx="9144000" cy="6858000" type="screen4x3"/>
  <p:notesSz cx="6858000" cy="9296400"/>
  <p:defaultTextStyle>
    <a:defPPr>
      <a:defRPr lang="en-US"/>
    </a:defPPr>
    <a:lvl1pPr algn="l" rtl="0" eaLnBrk="0" fontAlgn="base" hangingPunct="0">
      <a:spcBef>
        <a:spcPct val="0"/>
      </a:spcBef>
      <a:spcAft>
        <a:spcPct val="0"/>
      </a:spcAft>
      <a:defRPr sz="24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b="1" kern="1200">
        <a:solidFill>
          <a:schemeClr val="tx1"/>
        </a:solidFill>
        <a:latin typeface="Times New Roman" pitchFamily="18" charset="0"/>
        <a:ea typeface="+mn-ea"/>
        <a:cs typeface="+mn-cs"/>
      </a:defRPr>
    </a:lvl5pPr>
    <a:lvl6pPr marL="2286000" algn="l" defTabSz="914400" rtl="0" eaLnBrk="1" latinLnBrk="0" hangingPunct="1">
      <a:defRPr sz="2400" b="1" kern="1200">
        <a:solidFill>
          <a:schemeClr val="tx1"/>
        </a:solidFill>
        <a:latin typeface="Times New Roman" pitchFamily="18" charset="0"/>
        <a:ea typeface="+mn-ea"/>
        <a:cs typeface="+mn-cs"/>
      </a:defRPr>
    </a:lvl6pPr>
    <a:lvl7pPr marL="2743200" algn="l" defTabSz="914400" rtl="0" eaLnBrk="1" latinLnBrk="0" hangingPunct="1">
      <a:defRPr sz="2400" b="1" kern="1200">
        <a:solidFill>
          <a:schemeClr val="tx1"/>
        </a:solidFill>
        <a:latin typeface="Times New Roman" pitchFamily="18" charset="0"/>
        <a:ea typeface="+mn-ea"/>
        <a:cs typeface="+mn-cs"/>
      </a:defRPr>
    </a:lvl7pPr>
    <a:lvl8pPr marL="3200400" algn="l" defTabSz="914400" rtl="0" eaLnBrk="1" latinLnBrk="0" hangingPunct="1">
      <a:defRPr sz="2400" b="1" kern="1200">
        <a:solidFill>
          <a:schemeClr val="tx1"/>
        </a:solidFill>
        <a:latin typeface="Times New Roman" pitchFamily="18" charset="0"/>
        <a:ea typeface="+mn-ea"/>
        <a:cs typeface="+mn-cs"/>
      </a:defRPr>
    </a:lvl8pPr>
    <a:lvl9pPr marL="3657600" algn="l" defTabSz="914400" rtl="0" eaLnBrk="1" latinLnBrk="0" hangingPunct="1">
      <a:defRPr sz="2400" b="1"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FF33"/>
    <a:srgbClr val="00CC00"/>
    <a:srgbClr val="FF0066"/>
    <a:srgbClr val="FFFF99"/>
    <a:srgbClr val="FF9933"/>
    <a:srgbClr val="0099FF"/>
    <a:srgbClr val="80808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76" autoAdjust="0"/>
    <p:restoredTop sz="90925" autoAdjust="0"/>
  </p:normalViewPr>
  <p:slideViewPr>
    <p:cSldViewPr snapToGrid="0" snapToObjects="1">
      <p:cViewPr>
        <p:scale>
          <a:sx n="70" d="100"/>
          <a:sy n="70" d="100"/>
        </p:scale>
        <p:origin x="-1380" y="-72"/>
      </p:cViewPr>
      <p:guideLst>
        <p:guide orient="horz" pos="1872"/>
        <p:guide orient="horz" pos="4185"/>
        <p:guide pos="2898"/>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33" d="100"/>
        <a:sy n="33" d="100"/>
      </p:scale>
      <p:origin x="0" y="0"/>
    </p:cViewPr>
  </p:sorterViewPr>
  <p:notesViewPr>
    <p:cSldViewPr snapToGrid="0" snapToObjects="1">
      <p:cViewPr varScale="1">
        <p:scale>
          <a:sx n="52" d="100"/>
          <a:sy n="52" d="100"/>
        </p:scale>
        <p:origin x="-2892" y="-9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a:lvl1pPr>
          </a:lstStyle>
          <a:p>
            <a:pPr>
              <a:defRPr/>
            </a:pPr>
            <a:endParaRPr lang="en-US"/>
          </a:p>
        </p:txBody>
      </p:sp>
      <p:sp>
        <p:nvSpPr>
          <p:cNvPr id="15155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vl1pPr>
          </a:lstStyle>
          <a:p>
            <a:pPr>
              <a:defRPr/>
            </a:pPr>
            <a:fld id="{467681BC-C1AF-4FBA-8B63-E7D07DD07300}" type="datetime1">
              <a:rPr lang="en-US"/>
              <a:pPr>
                <a:defRPr/>
              </a:pPr>
              <a:t>13-Nov-24</a:t>
            </a:fld>
            <a:endParaRPr lang="en-US"/>
          </a:p>
        </p:txBody>
      </p:sp>
      <p:sp>
        <p:nvSpPr>
          <p:cNvPr id="15155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a:lvl1pPr>
          </a:lstStyle>
          <a:p>
            <a:pPr>
              <a:defRPr/>
            </a:pPr>
            <a:endParaRPr lang="en-US"/>
          </a:p>
        </p:txBody>
      </p:sp>
      <p:sp>
        <p:nvSpPr>
          <p:cNvPr id="15155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7A13BFA1-F27E-435F-8CA9-01AFC92B3DCD}" type="slidenum">
              <a:rPr lang="en-US" altLang="en-US"/>
              <a:pPr/>
              <a:t>‹#›</a:t>
            </a:fld>
            <a:endParaRPr lang="en-US" altLang="en-US"/>
          </a:p>
        </p:txBody>
      </p:sp>
    </p:spTree>
    <p:extLst>
      <p:ext uri="{BB962C8B-B14F-4D97-AF65-F5344CB8AC3E}">
        <p14:creationId xmlns:p14="http://schemas.microsoft.com/office/powerpoint/2010/main" val="737506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b="0"/>
            </a:lvl1pPr>
          </a:lstStyle>
          <a:p>
            <a:pPr>
              <a:defRPr/>
            </a:pPr>
            <a:endParaRPr lang="en-US"/>
          </a:p>
        </p:txBody>
      </p:sp>
      <p:sp>
        <p:nvSpPr>
          <p:cNvPr id="9219" name="Rectangle 3"/>
          <p:cNvSpPr>
            <a:spLocks noGrp="1" noChangeArrowheads="1"/>
          </p:cNvSpPr>
          <p:nvPr>
            <p:ph type="dt" idx="1"/>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b="0"/>
            </a:lvl1pPr>
          </a:lstStyle>
          <a:p>
            <a:pPr>
              <a:defRPr/>
            </a:pPr>
            <a:fld id="{C20856E9-2F11-4A75-8E65-BB171CE41421}" type="datetime1">
              <a:rPr lang="en-US"/>
              <a:pPr>
                <a:defRPr/>
              </a:pPr>
              <a:t>13-Nov-24</a:t>
            </a:fld>
            <a:endParaRPr lang="en-US"/>
          </a:p>
        </p:txBody>
      </p:sp>
      <p:sp>
        <p:nvSpPr>
          <p:cNvPr id="3076"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22"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b="0"/>
            </a:lvl1pPr>
          </a:lstStyle>
          <a:p>
            <a:pPr>
              <a:defRPr/>
            </a:pPr>
            <a:endParaRPr lang="en-US"/>
          </a:p>
        </p:txBody>
      </p:sp>
      <p:sp>
        <p:nvSpPr>
          <p:cNvPr id="9223"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4A6C1645-74BF-489D-9209-5B20686FA73F}" type="slidenum">
              <a:rPr lang="en-US" altLang="en-US"/>
              <a:pPr/>
              <a:t>‹#›</a:t>
            </a:fld>
            <a:endParaRPr lang="en-US" altLang="en-US"/>
          </a:p>
        </p:txBody>
      </p:sp>
    </p:spTree>
    <p:extLst>
      <p:ext uri="{BB962C8B-B14F-4D97-AF65-F5344CB8AC3E}">
        <p14:creationId xmlns:p14="http://schemas.microsoft.com/office/powerpoint/2010/main" val="811325698"/>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564CF2E0-CCC4-4E1E-9902-C3C36AB3FDA4}" type="datetimeFigureOut">
              <a:rPr lang="en-US" smtClean="0"/>
              <a:t>13-Nov-24</a:t>
            </a:fld>
            <a:endParaRPr lang="en-US"/>
          </a:p>
        </p:txBody>
      </p:sp>
      <p:sp>
        <p:nvSpPr>
          <p:cNvPr id="17" name="Footer Placeholder 16"/>
          <p:cNvSpPr>
            <a:spLocks noGrp="1"/>
          </p:cNvSpPr>
          <p:nvPr>
            <p:ph type="ftr" sz="quarter" idx="11"/>
          </p:nvPr>
        </p:nvSpPr>
        <p:spPr/>
        <p:txBody>
          <a:bodyPr/>
          <a:lstStyle/>
          <a:p>
            <a:endParaRPr kumimoji="0"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564CF2E0-CCC4-4E1E-9902-C3C36AB3FDA4}" type="datetimeFigureOut">
              <a:rPr lang="en-US" smtClean="0"/>
              <a:t>13-Nov-24</a:t>
            </a:fld>
            <a:endParaRPr lang="en-US"/>
          </a:p>
        </p:txBody>
      </p:sp>
      <p:sp>
        <p:nvSpPr>
          <p:cNvPr id="5" name="Footer Placeholder 4"/>
          <p:cNvSpPr>
            <a:spLocks noGrp="1"/>
          </p:cNvSpPr>
          <p:nvPr>
            <p:ph type="ftr" sz="quarter" idx="11"/>
          </p:nvPr>
        </p:nvSpPr>
        <p:spPr/>
        <p:txBody>
          <a:bodyPr/>
          <a:lstStyle/>
          <a:p>
            <a:endParaRPr kumimoji="0"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64CF2E0-CCC4-4E1E-9902-C3C36AB3FDA4}" type="datetimeFigureOut">
              <a:rPr lang="en-US" smtClean="0"/>
              <a:t>13-Nov-24</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kumimoji="0" lang="en-US" dirty="0"/>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64CF2E0-CCC4-4E1E-9902-C3C36AB3FDA4}" type="datetimeFigureOut">
              <a:rPr lang="en-US" smtClean="0"/>
              <a:t>13-Nov-24</a:t>
            </a:fld>
            <a:endParaRPr lang="en-US"/>
          </a:p>
        </p:txBody>
      </p:sp>
      <p:sp>
        <p:nvSpPr>
          <p:cNvPr id="6" name="Footer Placeholder 5"/>
          <p:cNvSpPr>
            <a:spLocks noGrp="1"/>
          </p:cNvSpPr>
          <p:nvPr>
            <p:ph type="ftr" sz="quarter" idx="11"/>
          </p:nvPr>
        </p:nvSpPr>
        <p:spPr/>
        <p:txBody>
          <a:bodyPr/>
          <a:lstStyle/>
          <a:p>
            <a:endParaRPr kumimoji="0"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564CF2E0-CCC4-4E1E-9902-C3C36AB3FDA4}" type="datetimeFigureOut">
              <a:rPr lang="en-US" smtClean="0"/>
              <a:t>13-Nov-24</a:t>
            </a:fld>
            <a:endParaRPr lang="en-US"/>
          </a:p>
        </p:txBody>
      </p:sp>
      <p:sp>
        <p:nvSpPr>
          <p:cNvPr id="8" name="Footer Placeholder 7"/>
          <p:cNvSpPr>
            <a:spLocks noGrp="1"/>
          </p:cNvSpPr>
          <p:nvPr>
            <p:ph type="ftr" sz="quarter" idx="11"/>
          </p:nvPr>
        </p:nvSpPr>
        <p:spPr/>
        <p:txBody>
          <a:bodyPr/>
          <a:lstStyle/>
          <a:p>
            <a:endParaRPr kumimoji="0"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64CF2E0-CCC4-4E1E-9902-C3C36AB3FDA4}" type="datetimeFigureOut">
              <a:rPr lang="en-US" smtClean="0"/>
              <a:t>13-Nov-24</a:t>
            </a:fld>
            <a:endParaRPr lang="en-US"/>
          </a:p>
        </p:txBody>
      </p:sp>
      <p:sp>
        <p:nvSpPr>
          <p:cNvPr id="4" name="Footer Placeholder 3"/>
          <p:cNvSpPr>
            <a:spLocks noGrp="1"/>
          </p:cNvSpPr>
          <p:nvPr>
            <p:ph type="ftr" sz="quarter" idx="11"/>
          </p:nvPr>
        </p:nvSpPr>
        <p:spPr/>
        <p:txBody>
          <a:bodyPr/>
          <a:lstStyle/>
          <a:p>
            <a:endParaRPr kumimoji="0" lang="en-US"/>
          </a:p>
        </p:txBody>
      </p:sp>
    </p:spTree>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CF2E0-CCC4-4E1E-9902-C3C36AB3FDA4}" type="datetimeFigureOut">
              <a:rPr lang="en-US" smtClean="0"/>
              <a:t>13-Nov-24</a:t>
            </a:fld>
            <a:endParaRPr lang="en-US"/>
          </a:p>
        </p:txBody>
      </p:sp>
      <p:sp>
        <p:nvSpPr>
          <p:cNvPr id="3" name="Footer Placeholder 2"/>
          <p:cNvSpPr>
            <a:spLocks noGrp="1"/>
          </p:cNvSpPr>
          <p:nvPr>
            <p:ph type="ftr" sz="quarter" idx="11"/>
          </p:nvPr>
        </p:nvSpPr>
        <p:spPr/>
        <p:txBody>
          <a:bodyPr/>
          <a:lstStyle/>
          <a:p>
            <a:endParaRPr kumimoji="0" lang="en-US"/>
          </a:p>
        </p:txBody>
      </p:sp>
    </p:spTree>
  </p:cSld>
  <p:clrMapOvr>
    <a:masterClrMapping/>
  </p:clrMapOvr>
  <p:timing>
    <p:tnLst>
      <p:par>
        <p:cTn id="1" dur="indefinite" restart="never" nodeType="tmRoot"/>
      </p:par>
    </p:tnLst>
  </p:timing>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64CF2E0-CCC4-4E1E-9902-C3C36AB3FDA4}" type="datetimeFigureOut">
              <a:rPr lang="en-US" smtClean="0"/>
              <a:t>13-Nov-24</a:t>
            </a:fld>
            <a:endParaRPr lang="en-US"/>
          </a:p>
        </p:txBody>
      </p:sp>
      <p:sp>
        <p:nvSpPr>
          <p:cNvPr id="6" name="Footer Placeholder 5"/>
          <p:cNvSpPr>
            <a:spLocks noGrp="1"/>
          </p:cNvSpPr>
          <p:nvPr>
            <p:ph type="ftr" sz="quarter" idx="11"/>
          </p:nvPr>
        </p:nvSpPr>
        <p:spPr/>
        <p:txBody>
          <a:bodyPr/>
          <a:lstStyle/>
          <a:p>
            <a:endParaRPr kumimoji="0"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64CF2E0-CCC4-4E1E-9902-C3C36AB3FDA4}" type="datetimeFigureOut">
              <a:rPr lang="en-US" smtClean="0"/>
              <a:t>13-Nov-24</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kumimoji="0" lang="en-US" dirty="0"/>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4CF2E0-CCC4-4E1E-9902-C3C36AB3FDA4}" type="datetimeFigureOut">
              <a:rPr lang="en-US" smtClean="0"/>
              <a:t>13-Nov-24</a:t>
            </a:fld>
            <a:endParaRPr lang="en-US"/>
          </a:p>
        </p:txBody>
      </p:sp>
      <p:sp>
        <p:nvSpPr>
          <p:cNvPr id="5" name="Footer Placeholder 4"/>
          <p:cNvSpPr>
            <a:spLocks noGrp="1"/>
          </p:cNvSpPr>
          <p:nvPr>
            <p:ph type="ftr" sz="quarter" idx="11"/>
          </p:nvPr>
        </p:nvSpPr>
        <p:spPr/>
        <p:txBody>
          <a:bodyPr/>
          <a:lstStyle/>
          <a:p>
            <a:endParaRPr kumimoji="0" lang="en-US"/>
          </a:p>
        </p:txBody>
      </p:sp>
    </p:spTree>
  </p:cSld>
  <p:clrMapOvr>
    <a:masterClrMapping/>
  </p:clrMapOvr>
  <p:timing>
    <p:tnLst>
      <p:par>
        <p:cTn id="1" dur="indefinite" restart="never" nodeType="tmRoot"/>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64CF2E0-CCC4-4E1E-9902-C3C36AB3FDA4}" type="datetimeFigureOut">
              <a:rPr lang="en-US" smtClean="0"/>
              <a:t>13-Nov-24</a:t>
            </a:fld>
            <a:endParaRPr lang="en-US"/>
          </a:p>
        </p:txBody>
      </p:sp>
      <p:sp>
        <p:nvSpPr>
          <p:cNvPr id="5" name="Footer Placeholder 4"/>
          <p:cNvSpPr>
            <a:spLocks noGrp="1"/>
          </p:cNvSpPr>
          <p:nvPr>
            <p:ph type="ftr" sz="quarter" idx="11"/>
          </p:nvPr>
        </p:nvSpPr>
        <p:spPr/>
        <p:txBody>
          <a:bodyPr/>
          <a:lstStyle/>
          <a:p>
            <a:endParaRPr kumimoji="0" lang="en-US"/>
          </a:p>
        </p:txBody>
      </p:sp>
    </p:spTree>
  </p:cSld>
  <p:clrMapOvr>
    <a:masterClrMapping/>
  </p:clrMapOvr>
  <p:timing>
    <p:tnLst>
      <p:par>
        <p:cTn id="1" dur="indefinite" restart="never" nodeType="tmRoot"/>
      </p:par>
    </p:tnLst>
  </p:timing>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84288" y="609600"/>
            <a:ext cx="7173912"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86484305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lgn="r" eaLnBrk="1" latinLnBrk="0" hangingPunct="1"/>
            <a:fld id="{564CF2E0-CCC4-4E1E-9902-C3C36AB3FDA4}" type="datetimeFigureOut">
              <a:rPr lang="en-US" smtClean="0"/>
              <a:t>13-Nov-24</a:t>
            </a:fld>
            <a:endParaRPr lang="en-US" sz="1400" dirty="0">
              <a:solidFill>
                <a:schemeClr val="tx2"/>
              </a:solidFill>
            </a:endParaRPr>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kumimoji="0" lang="en-US" sz="1400" dirty="0">
              <a:solidFill>
                <a:schemeClr val="tx2"/>
              </a:solidFill>
            </a:endParaRPr>
          </a:p>
        </p:txBody>
      </p:sp>
    </p:spTree>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timing>
    <p:tnLst>
      <p:par>
        <p:cTn id="1" dur="indefinite" restart="never" nodeType="tmRoot"/>
      </p:par>
    </p:tnLst>
  </p:timing>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3.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4.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5.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7.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endParaRPr lang="en-US"/>
          </a:p>
        </p:txBody>
      </p:sp>
      <p:sp>
        <p:nvSpPr>
          <p:cNvPr id="3" name="Slide Number Placeholder 2"/>
          <p:cNvSpPr>
            <a:spLocks noGrp="1"/>
          </p:cNvSpPr>
          <p:nvPr>
            <p:ph type="sldNum" sz="quarter" idx="4294967295"/>
          </p:nvPr>
        </p:nvSpPr>
        <p:spPr>
          <a:xfrm>
            <a:off x="146304" y="6210300"/>
            <a:ext cx="457200" cy="457200"/>
          </a:xfrm>
          <a:prstGeom prst="ellipse">
            <a:avLst/>
          </a:prstGeom>
        </p:spPr>
        <p:txBody>
          <a:bodyPr/>
          <a:lstStyle/>
          <a:p>
            <a:fld id="{6F42FDE4-A7DD-41A7-A0A6-9B649FB43336}" type="slidenum">
              <a:rPr kumimoji="0" lang="en-US" smtClean="0"/>
              <a:t>1</a:t>
            </a:fld>
            <a:endParaRPr kumimoji="0" lang="en-US"/>
          </a:p>
        </p:txBody>
      </p:sp>
      <p:sp>
        <p:nvSpPr>
          <p:cNvPr id="5" name="Title 4"/>
          <p:cNvSpPr>
            <a:spLocks noGrp="1"/>
          </p:cNvSpPr>
          <p:nvPr>
            <p:ph type="ctrTitle"/>
          </p:nvPr>
        </p:nvSpPr>
        <p:spPr/>
        <p:txBody>
          <a:bodyPr/>
          <a:lstStyle/>
          <a:p>
            <a:r>
              <a:rPr lang="en-US" altLang="en-US" b="1" dirty="0"/>
              <a:t>Database Recovery</a:t>
            </a:r>
            <a:endParaRPr lang="en-US" dirty="0"/>
          </a:p>
        </p:txBody>
      </p:sp>
    </p:spTree>
    <p:extLst>
      <p:ext uri="{BB962C8B-B14F-4D97-AF65-F5344CB8AC3E}">
        <p14:creationId xmlns:p14="http://schemas.microsoft.com/office/powerpoint/2010/main" val="978927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sz="3600" b="1" dirty="0" smtClean="0"/>
              <a:t>Database Recovery</a:t>
            </a:r>
          </a:p>
        </p:txBody>
      </p:sp>
      <p:sp>
        <p:nvSpPr>
          <p:cNvPr id="11268" name="Rectangle 3"/>
          <p:cNvSpPr>
            <a:spLocks noGrp="1" noChangeArrowheads="1"/>
          </p:cNvSpPr>
          <p:nvPr>
            <p:ph sz="quarter" idx="1"/>
          </p:nvPr>
        </p:nvSpPr>
        <p:spPr/>
        <p:txBody>
          <a:bodyPr>
            <a:normAutofit/>
          </a:bodyPr>
          <a:lstStyle/>
          <a:p>
            <a:pPr marL="0" indent="0" eaLnBrk="1" hangingPunct="1">
              <a:lnSpc>
                <a:spcPct val="80000"/>
              </a:lnSpc>
              <a:spcBef>
                <a:spcPct val="60000"/>
              </a:spcBef>
              <a:spcAft>
                <a:spcPct val="60000"/>
              </a:spcAft>
              <a:buFont typeface="Wingdings" pitchFamily="2" charset="2"/>
              <a:buNone/>
              <a:tabLst>
                <a:tab pos="571500" algn="l"/>
              </a:tabLst>
            </a:pPr>
            <a:r>
              <a:rPr lang="en-US" altLang="en-US" sz="2200" b="1" dirty="0" smtClean="0">
                <a:latin typeface="Times New Roman" pitchFamily="18" charset="0"/>
                <a:cs typeface="Times New Roman" pitchFamily="18" charset="0"/>
              </a:rPr>
              <a:t>Purpose of Database Recovery</a:t>
            </a:r>
          </a:p>
          <a:p>
            <a:pPr marL="914400" lvl="2" indent="-342900" algn="just" eaLnBrk="1" hangingPunct="1">
              <a:lnSpc>
                <a:spcPct val="80000"/>
              </a:lnSpc>
              <a:buFontTx/>
              <a:buChar char="•"/>
              <a:tabLst>
                <a:tab pos="571500" algn="l"/>
              </a:tabLst>
            </a:pPr>
            <a:r>
              <a:rPr lang="en-US" altLang="en-US" sz="2200" dirty="0" smtClean="0">
                <a:latin typeface="Times New Roman" pitchFamily="18" charset="0"/>
                <a:cs typeface="Times New Roman" pitchFamily="18" charset="0"/>
              </a:rPr>
              <a:t>To bring the database into the last consistent state, which existed prior to the failure.</a:t>
            </a:r>
          </a:p>
          <a:p>
            <a:pPr marL="914400" lvl="2" indent="-342900" algn="just" eaLnBrk="1" hangingPunct="1">
              <a:lnSpc>
                <a:spcPct val="80000"/>
              </a:lnSpc>
              <a:buFontTx/>
              <a:buChar char="•"/>
              <a:tabLst>
                <a:tab pos="571500" algn="l"/>
              </a:tabLst>
            </a:pPr>
            <a:r>
              <a:rPr lang="en-US" altLang="en-US" sz="2200" dirty="0" smtClean="0">
                <a:latin typeface="Times New Roman" pitchFamily="18" charset="0"/>
                <a:cs typeface="Times New Roman" pitchFamily="18" charset="0"/>
              </a:rPr>
              <a:t>To preserve transaction properties (Atomicity, Consistency, Isolation and Durability).</a:t>
            </a:r>
          </a:p>
          <a:p>
            <a:pPr marL="457200" lvl="1" indent="0" algn="just" eaLnBrk="1" hangingPunct="1">
              <a:lnSpc>
                <a:spcPct val="80000"/>
              </a:lnSpc>
              <a:buFontTx/>
              <a:buNone/>
              <a:tabLst>
                <a:tab pos="571500" algn="l"/>
              </a:tabLst>
            </a:pPr>
            <a:endParaRPr lang="en-US" altLang="en-US" sz="2200" dirty="0" smtClean="0">
              <a:latin typeface="Times New Roman" pitchFamily="18" charset="0"/>
              <a:cs typeface="Times New Roman" pitchFamily="18" charset="0"/>
            </a:endParaRPr>
          </a:p>
          <a:p>
            <a:pPr marL="60325" lvl="1" indent="0" algn="just" eaLnBrk="1" hangingPunct="1">
              <a:lnSpc>
                <a:spcPct val="80000"/>
              </a:lnSpc>
              <a:buFontTx/>
              <a:buNone/>
              <a:tabLst>
                <a:tab pos="571500" algn="l"/>
              </a:tabLst>
            </a:pPr>
            <a:r>
              <a:rPr lang="en-US" altLang="en-US" sz="2200" dirty="0" smtClean="0">
                <a:latin typeface="Times New Roman" pitchFamily="18" charset="0"/>
                <a:cs typeface="Times New Roman" pitchFamily="18" charset="0"/>
              </a:rPr>
              <a:t>Example:  If the system crashes before a fund transfer transaction completes its execution, then either one or both accounts may have incorrect value.  Thus, the database must be restored to the state before the transaction modified any of the accounts.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pPr eaLnBrk="1" hangingPunct="1"/>
            <a:r>
              <a:rPr lang="en-US" altLang="en-US" sz="3600" b="1" smtClean="0"/>
              <a:t>Database Recovery</a:t>
            </a:r>
          </a:p>
        </p:txBody>
      </p:sp>
      <p:sp>
        <p:nvSpPr>
          <p:cNvPr id="12292" name="Rectangle 3"/>
          <p:cNvSpPr>
            <a:spLocks noGrp="1" noChangeArrowheads="1"/>
          </p:cNvSpPr>
          <p:nvPr>
            <p:ph sz="quarter" idx="1"/>
          </p:nvPr>
        </p:nvSpPr>
        <p:spPr/>
        <p:txBody>
          <a:bodyPr/>
          <a:lstStyle/>
          <a:p>
            <a:pPr marL="0" indent="0" algn="just" eaLnBrk="1" hangingPunct="1">
              <a:buFont typeface="Wingdings" pitchFamily="2" charset="2"/>
              <a:buNone/>
              <a:tabLst>
                <a:tab pos="635000" algn="l"/>
              </a:tabLst>
            </a:pPr>
            <a:r>
              <a:rPr lang="en-US" altLang="en-US" sz="2300" b="1" dirty="0" smtClean="0">
                <a:latin typeface="Times New Roman" pitchFamily="18" charset="0"/>
                <a:cs typeface="Times New Roman" pitchFamily="18" charset="0"/>
              </a:rPr>
              <a:t>Types of Failure</a:t>
            </a:r>
          </a:p>
          <a:p>
            <a:pPr marL="109538" lvl="1" indent="-109538" algn="just" eaLnBrk="1" hangingPunct="1">
              <a:buFontTx/>
              <a:buNone/>
              <a:tabLst>
                <a:tab pos="0" algn="l"/>
                <a:tab pos="804863" algn="l"/>
              </a:tabLst>
            </a:pPr>
            <a:r>
              <a:rPr lang="en-US" altLang="en-US" sz="2300" dirty="0" smtClean="0">
                <a:latin typeface="Times New Roman" pitchFamily="18" charset="0"/>
                <a:cs typeface="Times New Roman" pitchFamily="18" charset="0"/>
              </a:rPr>
              <a:t>The database may become unavailable for use due to </a:t>
            </a:r>
          </a:p>
          <a:p>
            <a:pPr marL="109538" lvl="1" indent="-109538" algn="just" eaLnBrk="1" hangingPunct="1">
              <a:buFontTx/>
              <a:buChar char="•"/>
              <a:tabLst>
                <a:tab pos="0" algn="l"/>
                <a:tab pos="804863" algn="l"/>
              </a:tabLst>
            </a:pPr>
            <a:r>
              <a:rPr lang="en-US" altLang="en-US" sz="2300" b="1" dirty="0" smtClean="0">
                <a:latin typeface="Times New Roman" pitchFamily="18" charset="0"/>
                <a:cs typeface="Times New Roman" pitchFamily="18" charset="0"/>
              </a:rPr>
              <a:t>Transaction failure</a:t>
            </a:r>
            <a:r>
              <a:rPr lang="en-US" altLang="en-US" sz="2300" dirty="0" smtClean="0">
                <a:latin typeface="Times New Roman" pitchFamily="18" charset="0"/>
                <a:cs typeface="Times New Roman" pitchFamily="18" charset="0"/>
              </a:rPr>
              <a:t>:  Transactions may fail because of incorrect input, deadlock, incorrect synchronization.</a:t>
            </a:r>
          </a:p>
          <a:p>
            <a:pPr marL="109538" lvl="1" indent="-109538" algn="just" eaLnBrk="1" hangingPunct="1">
              <a:buFontTx/>
              <a:buChar char="•"/>
              <a:tabLst>
                <a:tab pos="0" algn="l"/>
                <a:tab pos="804863" algn="l"/>
              </a:tabLst>
            </a:pPr>
            <a:r>
              <a:rPr lang="en-US" altLang="en-US" sz="2300" b="1" dirty="0" smtClean="0">
                <a:latin typeface="Times New Roman" pitchFamily="18" charset="0"/>
                <a:cs typeface="Times New Roman" pitchFamily="18" charset="0"/>
              </a:rPr>
              <a:t>System failure</a:t>
            </a:r>
            <a:r>
              <a:rPr lang="en-US" altLang="en-US" sz="2300" dirty="0" smtClean="0">
                <a:latin typeface="Times New Roman" pitchFamily="18" charset="0"/>
                <a:cs typeface="Times New Roman" pitchFamily="18" charset="0"/>
              </a:rPr>
              <a:t>:  System may fail because of addressing error, application error, operating system fault, RAM failure, etc.</a:t>
            </a:r>
          </a:p>
          <a:p>
            <a:pPr marL="109538" lvl="1" indent="-109538" algn="just" eaLnBrk="1" hangingPunct="1">
              <a:buFontTx/>
              <a:buChar char="•"/>
              <a:tabLst>
                <a:tab pos="0" algn="l"/>
                <a:tab pos="804863" algn="l"/>
              </a:tabLst>
            </a:pPr>
            <a:r>
              <a:rPr lang="en-US" altLang="en-US" sz="2300" b="1" dirty="0" smtClean="0">
                <a:latin typeface="Times New Roman" pitchFamily="18" charset="0"/>
                <a:cs typeface="Times New Roman" pitchFamily="18" charset="0"/>
              </a:rPr>
              <a:t>Media failure</a:t>
            </a:r>
            <a:r>
              <a:rPr lang="en-US" altLang="en-US" sz="2300" dirty="0" smtClean="0">
                <a:latin typeface="Times New Roman" pitchFamily="18" charset="0"/>
                <a:cs typeface="Times New Roman" pitchFamily="18" charset="0"/>
              </a:rPr>
              <a:t>:  Disk head crash, power disruption, etc.</a:t>
            </a:r>
          </a:p>
          <a:p>
            <a:pPr marL="0" indent="0" eaLnBrk="1" hangingPunct="1">
              <a:buFont typeface="Wingdings" pitchFamily="2" charset="2"/>
              <a:buNone/>
              <a:tabLst>
                <a:tab pos="635000" algn="l"/>
              </a:tabLst>
            </a:pPr>
            <a:endParaRPr lang="en-US" altLang="en-US" sz="33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eaLnBrk="1" hangingPunct="1"/>
            <a:r>
              <a:rPr lang="en-US" altLang="en-US" sz="3600" b="1" dirty="0" smtClean="0">
                <a:cs typeface="Times New Roman" pitchFamily="18" charset="0"/>
              </a:rPr>
              <a:t>Database Recovery</a:t>
            </a:r>
            <a:endParaRPr lang="en-US" altLang="en-US" sz="3600" b="1" dirty="0" smtClean="0"/>
          </a:p>
        </p:txBody>
      </p:sp>
      <p:graphicFrame>
        <p:nvGraphicFramePr>
          <p:cNvPr id="13317" name="Object 10"/>
          <p:cNvGraphicFramePr>
            <a:graphicFrameLocks noGrp="1" noChangeAspect="1"/>
          </p:cNvGraphicFramePr>
          <p:nvPr>
            <p:ph sz="quarter" idx="1"/>
            <p:extLst>
              <p:ext uri="{D42A27DB-BD31-4B8C-83A1-F6EECF244321}">
                <p14:modId xmlns:p14="http://schemas.microsoft.com/office/powerpoint/2010/main" val="2874991848"/>
              </p:ext>
            </p:extLst>
          </p:nvPr>
        </p:nvGraphicFramePr>
        <p:xfrm>
          <a:off x="914400" y="3931597"/>
          <a:ext cx="7772400" cy="2387315"/>
        </p:xfrm>
        <a:graphic>
          <a:graphicData uri="http://schemas.openxmlformats.org/presentationml/2006/ole">
            <mc:AlternateContent xmlns:mc="http://schemas.openxmlformats.org/markup-compatibility/2006">
              <mc:Choice xmlns:v="urn:schemas-microsoft-com:vml" Requires="v">
                <p:oleObj spid="_x0000_s13370" name="VISIO" r:id="rId3" imgW="4514088" imgH="1459992" progId="Visio.Drawing.6">
                  <p:embed/>
                </p:oleObj>
              </mc:Choice>
              <mc:Fallback>
                <p:oleObj name="VISIO" r:id="rId3" imgW="4514088" imgH="1459992" progId="Visio.Drawing.6">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3931597"/>
                        <a:ext cx="7772400" cy="2387315"/>
                      </a:xfrm>
                      <a:prstGeom prst="rect">
                        <a:avLst/>
                      </a:prstGeom>
                      <a:noFill/>
                      <a:ln>
                        <a:noFill/>
                      </a:ln>
                      <a:effectLst/>
                    </p:spPr>
                  </p:pic>
                </p:oleObj>
              </mc:Fallback>
            </mc:AlternateContent>
          </a:graphicData>
        </a:graphic>
      </p:graphicFrame>
      <p:sp>
        <p:nvSpPr>
          <p:cNvPr id="13316" name="Rectangle 3"/>
          <p:cNvSpPr>
            <a:spLocks noGrp="1" noChangeArrowheads="1"/>
          </p:cNvSpPr>
          <p:nvPr>
            <p:ph type="body" sz="half" idx="4294967295"/>
          </p:nvPr>
        </p:nvSpPr>
        <p:spPr>
          <a:xfrm>
            <a:off x="450376" y="1524000"/>
            <a:ext cx="8366078" cy="4660900"/>
          </a:xfrm>
        </p:spPr>
        <p:txBody>
          <a:bodyPr/>
          <a:lstStyle/>
          <a:p>
            <a:pPr marL="571500" indent="-571500" eaLnBrk="1" hangingPunct="1">
              <a:lnSpc>
                <a:spcPct val="90000"/>
              </a:lnSpc>
              <a:buFont typeface="Wingdings" pitchFamily="2" charset="2"/>
              <a:buNone/>
              <a:tabLst>
                <a:tab pos="571500" algn="l"/>
              </a:tabLst>
            </a:pPr>
            <a:r>
              <a:rPr lang="en-US" altLang="en-US" sz="2400" b="1" dirty="0" smtClean="0">
                <a:cs typeface="Times New Roman" pitchFamily="18" charset="0"/>
              </a:rPr>
              <a:t>Transaction Log</a:t>
            </a:r>
          </a:p>
          <a:p>
            <a:pPr marL="52388" indent="1588" algn="just" eaLnBrk="1" hangingPunct="1">
              <a:lnSpc>
                <a:spcPct val="90000"/>
              </a:lnSpc>
              <a:buFont typeface="Wingdings" pitchFamily="2" charset="2"/>
              <a:buNone/>
            </a:pPr>
            <a:r>
              <a:rPr lang="en-US" altLang="en-US" sz="2200" dirty="0" smtClean="0">
                <a:latin typeface="Times New Roman" pitchFamily="18" charset="0"/>
                <a:cs typeface="Times New Roman" pitchFamily="18" charset="0"/>
              </a:rPr>
              <a:t>For recovery from any type of failure data values prior to modification (BFIM - </a:t>
            </a:r>
            <a:r>
              <a:rPr lang="en-US" altLang="en-US" sz="2200" dirty="0" err="1" smtClean="0">
                <a:latin typeface="Times New Roman" pitchFamily="18" charset="0"/>
                <a:cs typeface="Times New Roman" pitchFamily="18" charset="0"/>
              </a:rPr>
              <a:t>BeForeImage</a:t>
            </a:r>
            <a:r>
              <a:rPr lang="en-US" altLang="en-US" sz="2200" dirty="0" smtClean="0">
                <a:latin typeface="Times New Roman" pitchFamily="18" charset="0"/>
                <a:cs typeface="Times New Roman" pitchFamily="18" charset="0"/>
              </a:rPr>
              <a:t>) and the new value after modification (AFIM – </a:t>
            </a:r>
            <a:r>
              <a:rPr lang="en-US" altLang="en-US" sz="2200" dirty="0" err="1" smtClean="0">
                <a:latin typeface="Times New Roman" pitchFamily="18" charset="0"/>
                <a:cs typeface="Times New Roman" pitchFamily="18" charset="0"/>
              </a:rPr>
              <a:t>AFter</a:t>
            </a:r>
            <a:r>
              <a:rPr lang="en-US" altLang="en-US" sz="2200" dirty="0" smtClean="0">
                <a:latin typeface="Times New Roman" pitchFamily="18" charset="0"/>
                <a:cs typeface="Times New Roman" pitchFamily="18" charset="0"/>
              </a:rPr>
              <a:t> Image) are required.  These values and other information is stored in a sequential file called Transaction log.  A sample log is given below.  </a:t>
            </a:r>
            <a:r>
              <a:rPr lang="en-US" altLang="en-US" sz="2200" b="1" dirty="0" smtClean="0">
                <a:latin typeface="Times New Roman" pitchFamily="18" charset="0"/>
                <a:cs typeface="Times New Roman" pitchFamily="18" charset="0"/>
              </a:rPr>
              <a:t>Back P</a:t>
            </a:r>
            <a:r>
              <a:rPr lang="en-US" altLang="en-US" sz="2200" dirty="0" smtClean="0">
                <a:latin typeface="Times New Roman" pitchFamily="18" charset="0"/>
                <a:cs typeface="Times New Roman" pitchFamily="18" charset="0"/>
              </a:rPr>
              <a:t> and </a:t>
            </a:r>
            <a:r>
              <a:rPr lang="en-US" altLang="en-US" sz="2200" b="1" dirty="0" smtClean="0">
                <a:latin typeface="Times New Roman" pitchFamily="18" charset="0"/>
                <a:cs typeface="Times New Roman" pitchFamily="18" charset="0"/>
              </a:rPr>
              <a:t>Next P</a:t>
            </a:r>
            <a:r>
              <a:rPr lang="en-US" altLang="en-US" sz="2200" dirty="0" smtClean="0">
                <a:latin typeface="Times New Roman" pitchFamily="18" charset="0"/>
                <a:cs typeface="Times New Roman" pitchFamily="18" charset="0"/>
              </a:rPr>
              <a:t> point to the previous and next log records of the same transaction.</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4340" name="Rectangle 3"/>
          <p:cNvSpPr>
            <a:spLocks noGrp="1" noChangeArrowheads="1"/>
          </p:cNvSpPr>
          <p:nvPr>
            <p:ph sz="quarter" idx="1"/>
          </p:nvPr>
        </p:nvSpPr>
        <p:spPr/>
        <p:txBody>
          <a:bodyPr>
            <a:normAutofit/>
          </a:bodyPr>
          <a:lstStyle/>
          <a:p>
            <a:pPr>
              <a:lnSpc>
                <a:spcPct val="80000"/>
              </a:lnSpc>
              <a:tabLst>
                <a:tab pos="53975" algn="l"/>
              </a:tabLst>
            </a:pPr>
            <a:r>
              <a:rPr lang="en-US" altLang="en-US" sz="2300" b="1" dirty="0" smtClean="0">
                <a:latin typeface="Times New Roman" pitchFamily="18" charset="0"/>
                <a:cs typeface="Times New Roman" pitchFamily="18" charset="0"/>
              </a:rPr>
              <a:t>Data Update</a:t>
            </a:r>
            <a:r>
              <a:rPr lang="en-US" altLang="en-US" sz="2300" dirty="0" smtClean="0">
                <a:latin typeface="Times New Roman" pitchFamily="18" charset="0"/>
                <a:cs typeface="Times New Roman" pitchFamily="18" charset="0"/>
              </a:rPr>
              <a:t> </a:t>
            </a:r>
          </a:p>
          <a:p>
            <a:pPr algn="just">
              <a:lnSpc>
                <a:spcPct val="80000"/>
              </a:lnSpc>
              <a:tabLst>
                <a:tab pos="53975" algn="l"/>
              </a:tabLst>
            </a:pPr>
            <a:r>
              <a:rPr lang="en-US" altLang="en-US" sz="2300" b="1" dirty="0" smtClean="0">
                <a:latin typeface="Times New Roman" pitchFamily="18" charset="0"/>
                <a:cs typeface="Times New Roman" pitchFamily="18" charset="0"/>
              </a:rPr>
              <a:t>Immediate Update</a:t>
            </a:r>
            <a:r>
              <a:rPr lang="en-US" altLang="en-US" sz="2300" dirty="0" smtClean="0">
                <a:latin typeface="Times New Roman" pitchFamily="18" charset="0"/>
                <a:cs typeface="Times New Roman" pitchFamily="18" charset="0"/>
              </a:rPr>
              <a:t>:  As soon as a data item is modified in cache, the disk copy is updated. (UNDO/NO-REDO)</a:t>
            </a:r>
          </a:p>
          <a:p>
            <a:pPr algn="just">
              <a:lnSpc>
                <a:spcPct val="80000"/>
              </a:lnSpc>
              <a:tabLst>
                <a:tab pos="53975" algn="l"/>
              </a:tabLst>
            </a:pPr>
            <a:r>
              <a:rPr lang="en-US" altLang="en-US" sz="2300" b="1" dirty="0" smtClean="0">
                <a:latin typeface="Times New Roman" pitchFamily="18" charset="0"/>
                <a:cs typeface="Times New Roman" pitchFamily="18" charset="0"/>
              </a:rPr>
              <a:t>Deferred Update</a:t>
            </a:r>
            <a:r>
              <a:rPr lang="en-US" altLang="en-US" sz="2300" dirty="0" smtClean="0">
                <a:latin typeface="Times New Roman" pitchFamily="18" charset="0"/>
                <a:cs typeface="Times New Roman" pitchFamily="18" charset="0"/>
              </a:rPr>
              <a:t>:  All modified data items in the cache is written either after a transaction ends its execution or after a fixed number of transactions have completed their execution.(NO-UNDO/REDO)</a:t>
            </a:r>
          </a:p>
          <a:p>
            <a:pPr algn="just">
              <a:lnSpc>
                <a:spcPct val="80000"/>
              </a:lnSpc>
              <a:tabLst>
                <a:tab pos="53975" algn="l"/>
              </a:tabLst>
            </a:pPr>
            <a:r>
              <a:rPr lang="en-US" altLang="en-US" sz="2300" b="1" dirty="0" smtClean="0">
                <a:latin typeface="Times New Roman" pitchFamily="18" charset="0"/>
                <a:cs typeface="Times New Roman" pitchFamily="18" charset="0"/>
              </a:rPr>
              <a:t>Shadow update</a:t>
            </a:r>
            <a:r>
              <a:rPr lang="en-US" altLang="en-US" sz="2300" dirty="0" smtClean="0">
                <a:latin typeface="Times New Roman" pitchFamily="18" charset="0"/>
                <a:cs typeface="Times New Roman" pitchFamily="18" charset="0"/>
              </a:rPr>
              <a:t>:  The modified version of a data item does not overwrite its disk copy but is written at a separate disk location.</a:t>
            </a:r>
          </a:p>
          <a:p>
            <a:pPr algn="just">
              <a:lnSpc>
                <a:spcPct val="80000"/>
              </a:lnSpc>
              <a:tabLst>
                <a:tab pos="53975" algn="l"/>
              </a:tabLst>
            </a:pPr>
            <a:r>
              <a:rPr lang="en-US" altLang="en-US" sz="2300" b="1" dirty="0" smtClean="0">
                <a:latin typeface="Times New Roman" pitchFamily="18" charset="0"/>
                <a:cs typeface="Times New Roman" pitchFamily="18" charset="0"/>
              </a:rPr>
              <a:t>In-place update</a:t>
            </a:r>
            <a:r>
              <a:rPr lang="en-US" altLang="en-US" sz="2300" dirty="0" smtClean="0">
                <a:latin typeface="Times New Roman" pitchFamily="18" charset="0"/>
                <a:cs typeface="Times New Roman" pitchFamily="18" charset="0"/>
              </a:rPr>
              <a:t>: The disk version of the data item is overwritten by the cache version.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5364" name="Rectangle 3"/>
          <p:cNvSpPr>
            <a:spLocks noGrp="1" noChangeArrowheads="1"/>
          </p:cNvSpPr>
          <p:nvPr>
            <p:ph sz="quarter" idx="1"/>
          </p:nvPr>
        </p:nvSpPr>
        <p:spPr/>
        <p:txBody>
          <a:bodyPr/>
          <a:lstStyle/>
          <a:p>
            <a:pPr algn="just">
              <a:tabLst>
                <a:tab pos="685800" algn="l"/>
              </a:tabLst>
            </a:pPr>
            <a:r>
              <a:rPr lang="en-US" altLang="en-US" sz="2300" b="1" dirty="0" smtClean="0">
                <a:latin typeface="Times New Roman" pitchFamily="18" charset="0"/>
                <a:cs typeface="Times New Roman" pitchFamily="18" charset="0"/>
              </a:rPr>
              <a:t>Data Caching</a:t>
            </a:r>
            <a:endParaRPr lang="en-US" altLang="en-US" sz="2300" dirty="0" smtClean="0">
              <a:latin typeface="Times New Roman" pitchFamily="18" charset="0"/>
              <a:cs typeface="Times New Roman" pitchFamily="18" charset="0"/>
            </a:endParaRPr>
          </a:p>
          <a:p>
            <a:pPr marL="342900" lvl="1" indent="-342900" algn="just"/>
            <a:r>
              <a:rPr lang="en-US" altLang="en-US" sz="2300" dirty="0" smtClean="0">
                <a:latin typeface="Times New Roman" pitchFamily="18" charset="0"/>
                <a:cs typeface="Times New Roman" pitchFamily="18" charset="0"/>
              </a:rPr>
              <a:t>Data items to be modified are first stored into database cache by the Cache Manager (CM) and after modification they are flushed (written) to the disk.  The flushing is controlled by </a:t>
            </a:r>
            <a:r>
              <a:rPr lang="en-US" altLang="en-US" sz="2300" b="1" dirty="0" smtClean="0">
                <a:latin typeface="Times New Roman" pitchFamily="18" charset="0"/>
                <a:cs typeface="Times New Roman" pitchFamily="18" charset="0"/>
              </a:rPr>
              <a:t>Modified</a:t>
            </a:r>
            <a:r>
              <a:rPr lang="en-US" altLang="en-US" sz="2300" dirty="0" smtClean="0">
                <a:latin typeface="Times New Roman" pitchFamily="18" charset="0"/>
                <a:cs typeface="Times New Roman" pitchFamily="18" charset="0"/>
              </a:rPr>
              <a:t> and </a:t>
            </a:r>
            <a:r>
              <a:rPr lang="en-US" altLang="en-US" sz="2300" b="1" dirty="0" smtClean="0">
                <a:latin typeface="Times New Roman" pitchFamily="18" charset="0"/>
                <a:cs typeface="Times New Roman" pitchFamily="18" charset="0"/>
              </a:rPr>
              <a:t>Pin-Unpin</a:t>
            </a:r>
            <a:r>
              <a:rPr lang="en-US" altLang="en-US" sz="2300" dirty="0" smtClean="0">
                <a:latin typeface="Times New Roman" pitchFamily="18" charset="0"/>
                <a:cs typeface="Times New Roman" pitchFamily="18" charset="0"/>
              </a:rPr>
              <a:t> bits.</a:t>
            </a:r>
          </a:p>
          <a:p>
            <a:pPr marL="342900" lvl="1" indent="-342900" algn="just"/>
            <a:r>
              <a:rPr lang="en-US" altLang="en-US" sz="2300" b="1" dirty="0" smtClean="0">
                <a:latin typeface="Times New Roman" pitchFamily="18" charset="0"/>
                <a:cs typeface="Times New Roman" pitchFamily="18" charset="0"/>
              </a:rPr>
              <a:t>Pin-Unpin</a:t>
            </a:r>
            <a:r>
              <a:rPr lang="en-US" altLang="en-US" sz="2300" dirty="0" smtClean="0">
                <a:latin typeface="Times New Roman" pitchFamily="18" charset="0"/>
                <a:cs typeface="Times New Roman" pitchFamily="18" charset="0"/>
              </a:rPr>
              <a:t>: Instructs the operating system not to flush the data item.</a:t>
            </a:r>
          </a:p>
          <a:p>
            <a:pPr marL="342900" lvl="1" indent="-342900" algn="just"/>
            <a:r>
              <a:rPr lang="en-US" altLang="en-US" sz="2300" b="1" dirty="0" smtClean="0">
                <a:latin typeface="Times New Roman" pitchFamily="18" charset="0"/>
                <a:cs typeface="Times New Roman" pitchFamily="18" charset="0"/>
              </a:rPr>
              <a:t>Modified</a:t>
            </a:r>
            <a:r>
              <a:rPr lang="en-US" altLang="en-US" sz="2300" dirty="0" smtClean="0">
                <a:latin typeface="Times New Roman" pitchFamily="18" charset="0"/>
                <a:cs typeface="Times New Roman" pitchFamily="18" charset="0"/>
              </a:rPr>
              <a:t>: Indicates the AFIM of the data item.</a:t>
            </a:r>
          </a:p>
          <a:p>
            <a:pPr marL="685800" lvl="1" indent="0" algn="just" eaLnBrk="1" hangingPunct="1">
              <a:buFontTx/>
              <a:buChar char="•"/>
              <a:tabLst>
                <a:tab pos="685800" algn="l"/>
              </a:tabLst>
            </a:pPr>
            <a:endParaRPr lang="en-US" altLang="en-US" sz="2400" dirty="0" smtClean="0">
              <a:cs typeface="Times New Roman" pitchFamily="18" charset="0"/>
            </a:endParaRPr>
          </a:p>
          <a:p>
            <a:pPr marL="685800" lvl="1" indent="0" eaLnBrk="1" hangingPunct="1">
              <a:buFontTx/>
              <a:buChar char="•"/>
              <a:tabLst>
                <a:tab pos="685800" algn="l"/>
              </a:tabLst>
            </a:pPr>
            <a:endParaRPr lang="en-US" altLang="en-US" sz="2400" dirty="0" smtClean="0"/>
          </a:p>
        </p:txBody>
      </p:sp>
    </p:spTree>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a:xfrm>
            <a:off x="1284288" y="609600"/>
            <a:ext cx="7173912" cy="9144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6388" name="Rectangle 3"/>
          <p:cNvSpPr>
            <a:spLocks noGrp="1" noChangeArrowheads="1"/>
          </p:cNvSpPr>
          <p:nvPr>
            <p:ph type="body" sz="half" idx="1"/>
          </p:nvPr>
        </p:nvSpPr>
        <p:spPr>
          <a:xfrm>
            <a:off x="381000" y="1752600"/>
            <a:ext cx="8521700" cy="3771900"/>
          </a:xfrm>
        </p:spPr>
        <p:txBody>
          <a:bodyPr/>
          <a:lstStyle/>
          <a:p>
            <a:pPr>
              <a:tabLst>
                <a:tab pos="685800" algn="l"/>
              </a:tabLst>
            </a:pPr>
            <a:r>
              <a:rPr lang="en-US" altLang="en-US" sz="2400" b="1" dirty="0" smtClean="0">
                <a:latin typeface="Times New Roman" pitchFamily="18" charset="0"/>
                <a:cs typeface="Times New Roman" pitchFamily="18" charset="0"/>
              </a:rPr>
              <a:t>Transaction Roll-back (Undo) and Roll-Forward (Redo)</a:t>
            </a:r>
          </a:p>
          <a:p>
            <a:pPr>
              <a:tabLst>
                <a:tab pos="685800" algn="l"/>
              </a:tabLst>
            </a:pPr>
            <a:r>
              <a:rPr lang="en-US" altLang="en-US" sz="2400" dirty="0" smtClean="0">
                <a:latin typeface="Times New Roman" pitchFamily="18" charset="0"/>
                <a:cs typeface="Times New Roman" pitchFamily="18" charset="0"/>
              </a:rPr>
              <a:t>To maintain atomicity, a transaction’s operations are </a:t>
            </a:r>
            <a:r>
              <a:rPr lang="en-US" altLang="en-US" sz="2400" b="1" dirty="0" smtClean="0">
                <a:latin typeface="Times New Roman" pitchFamily="18" charset="0"/>
                <a:cs typeface="Times New Roman" pitchFamily="18" charset="0"/>
              </a:rPr>
              <a:t>redone</a:t>
            </a:r>
            <a:r>
              <a:rPr lang="en-US" altLang="en-US" sz="2400" dirty="0" smtClean="0">
                <a:latin typeface="Times New Roman" pitchFamily="18" charset="0"/>
                <a:cs typeface="Times New Roman" pitchFamily="18" charset="0"/>
              </a:rPr>
              <a:t> or </a:t>
            </a:r>
            <a:r>
              <a:rPr lang="en-US" altLang="en-US" sz="2400" b="1" dirty="0" smtClean="0">
                <a:latin typeface="Times New Roman" pitchFamily="18" charset="0"/>
                <a:cs typeface="Times New Roman" pitchFamily="18" charset="0"/>
              </a:rPr>
              <a:t>undone</a:t>
            </a:r>
            <a:r>
              <a:rPr lang="en-US" altLang="en-US" sz="2400" dirty="0" smtClean="0">
                <a:latin typeface="Times New Roman" pitchFamily="18" charset="0"/>
                <a:cs typeface="Times New Roman" pitchFamily="18" charset="0"/>
              </a:rPr>
              <a:t>.</a:t>
            </a:r>
          </a:p>
          <a:p>
            <a:pPr marL="1028700" lvl="1" indent="-342900" algn="just">
              <a:tabLst>
                <a:tab pos="685800" algn="l"/>
              </a:tabLst>
            </a:pPr>
            <a:r>
              <a:rPr lang="en-US" altLang="en-US" sz="2400" b="1" dirty="0" smtClean="0">
                <a:latin typeface="Times New Roman" pitchFamily="18" charset="0"/>
                <a:cs typeface="Times New Roman" pitchFamily="18" charset="0"/>
              </a:rPr>
              <a:t>Undo</a:t>
            </a:r>
            <a:r>
              <a:rPr lang="en-US" altLang="en-US" sz="2400" dirty="0" smtClean="0">
                <a:latin typeface="Times New Roman" pitchFamily="18" charset="0"/>
                <a:cs typeface="Times New Roman" pitchFamily="18" charset="0"/>
              </a:rPr>
              <a:t>: Restore all BFIMs on to disk (Remove all AFIMs).</a:t>
            </a:r>
          </a:p>
          <a:p>
            <a:pPr marL="1028700" lvl="1" indent="-342900" algn="just">
              <a:tabLst>
                <a:tab pos="685800" algn="l"/>
              </a:tabLst>
            </a:pPr>
            <a:r>
              <a:rPr lang="en-US" altLang="en-US" sz="2400" b="1" dirty="0" smtClean="0">
                <a:latin typeface="Times New Roman" pitchFamily="18" charset="0"/>
                <a:cs typeface="Times New Roman" pitchFamily="18" charset="0"/>
              </a:rPr>
              <a:t>Redo</a:t>
            </a:r>
            <a:r>
              <a:rPr lang="en-US" altLang="en-US" sz="2400" dirty="0" smtClean="0">
                <a:latin typeface="Times New Roman" pitchFamily="18" charset="0"/>
                <a:cs typeface="Times New Roman" pitchFamily="18" charset="0"/>
              </a:rPr>
              <a:t>: Restore all AFIMs on to disk.</a:t>
            </a:r>
          </a:p>
          <a:p>
            <a:pPr marL="1028700" lvl="1" indent="-342900" algn="just">
              <a:tabLst>
                <a:tab pos="685800" algn="l"/>
              </a:tabLst>
            </a:pPr>
            <a:r>
              <a:rPr lang="en-US" altLang="en-US" sz="2400" dirty="0" smtClean="0">
                <a:latin typeface="Times New Roman" pitchFamily="18" charset="0"/>
                <a:cs typeface="Times New Roman" pitchFamily="18" charset="0"/>
              </a:rPr>
              <a:t>Database recovery is achieved either by performing only </a:t>
            </a:r>
            <a:r>
              <a:rPr lang="en-US" altLang="en-US" sz="2400" dirty="0" err="1" smtClean="0">
                <a:latin typeface="Times New Roman" pitchFamily="18" charset="0"/>
                <a:cs typeface="Times New Roman" pitchFamily="18" charset="0"/>
              </a:rPr>
              <a:t>Undos</a:t>
            </a:r>
            <a:r>
              <a:rPr lang="en-US" altLang="en-US" sz="2400" dirty="0" smtClean="0">
                <a:latin typeface="Times New Roman" pitchFamily="18" charset="0"/>
                <a:cs typeface="Times New Roman" pitchFamily="18" charset="0"/>
              </a:rPr>
              <a:t> or only </a:t>
            </a:r>
            <a:r>
              <a:rPr lang="en-US" altLang="en-US" sz="2400" dirty="0" err="1" smtClean="0">
                <a:latin typeface="Times New Roman" pitchFamily="18" charset="0"/>
                <a:cs typeface="Times New Roman" pitchFamily="18" charset="0"/>
              </a:rPr>
              <a:t>Redos</a:t>
            </a:r>
            <a:r>
              <a:rPr lang="en-US" altLang="en-US" sz="2400" dirty="0" smtClean="0">
                <a:latin typeface="Times New Roman" pitchFamily="18" charset="0"/>
                <a:cs typeface="Times New Roman" pitchFamily="18" charset="0"/>
              </a:rPr>
              <a:t> or by a combination of the two.  These operations are recorded in the log as they happen.</a:t>
            </a:r>
          </a:p>
          <a:p>
            <a:pPr marL="685800" lvl="1" indent="0" algn="just" eaLnBrk="1" hangingPunct="1">
              <a:buFontTx/>
              <a:buNone/>
              <a:tabLst>
                <a:tab pos="685800" algn="l"/>
              </a:tabLst>
            </a:pPr>
            <a:endParaRPr lang="en-US" altLang="en-US" sz="2400" dirty="0" smtClean="0">
              <a:cs typeface="Times New Roman" pitchFamily="18" charset="0"/>
            </a:endParaRPr>
          </a:p>
          <a:p>
            <a:pPr marL="685800" lvl="1" indent="0" eaLnBrk="1" hangingPunct="1">
              <a:buFontTx/>
              <a:buChar char="•"/>
              <a:tabLst>
                <a:tab pos="685800" algn="l"/>
              </a:tabLst>
            </a:pPr>
            <a:endParaRPr lang="en-US" altLang="en-US"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7412" name="Rectangle 3"/>
          <p:cNvSpPr>
            <a:spLocks noGrp="1" noChangeArrowheads="1"/>
          </p:cNvSpPr>
          <p:nvPr>
            <p:ph sz="quarter" idx="1"/>
          </p:nvPr>
        </p:nvSpPr>
        <p:spPr/>
        <p:txBody>
          <a:bodyPr>
            <a:normAutofit/>
          </a:bodyPr>
          <a:lstStyle/>
          <a:p>
            <a:pPr marL="0" indent="0" algn="just" eaLnBrk="1" hangingPunct="1">
              <a:buFont typeface="Wingdings" pitchFamily="2" charset="2"/>
              <a:buNone/>
            </a:pPr>
            <a:r>
              <a:rPr lang="en-US" altLang="en-US" sz="2400" b="1" dirty="0" smtClean="0">
                <a:latin typeface="Times New Roman" pitchFamily="18" charset="0"/>
                <a:cs typeface="Times New Roman" pitchFamily="18" charset="0"/>
              </a:rPr>
              <a:t>Roll-back</a:t>
            </a:r>
          </a:p>
          <a:p>
            <a:pPr marL="0" indent="0" algn="just" eaLnBrk="1" hangingPunct="1">
              <a:buFont typeface="Wingdings" pitchFamily="2" charset="2"/>
              <a:buNone/>
            </a:pPr>
            <a:endParaRPr lang="en-US" altLang="en-US" sz="2400" b="1" dirty="0" smtClean="0">
              <a:latin typeface="Times New Roman" pitchFamily="18" charset="0"/>
              <a:cs typeface="Times New Roman" pitchFamily="18" charset="0"/>
            </a:endParaRPr>
          </a:p>
          <a:p>
            <a:pPr marL="0" indent="0" algn="just" eaLnBrk="1" hangingPunct="1">
              <a:lnSpc>
                <a:spcPct val="80000"/>
              </a:lnSpc>
              <a:buFont typeface="Wingdings" pitchFamily="2" charset="2"/>
              <a:buNone/>
            </a:pPr>
            <a:r>
              <a:rPr lang="en-US" altLang="en-US" sz="2400" dirty="0" smtClean="0">
                <a:latin typeface="Times New Roman" pitchFamily="18" charset="0"/>
                <a:cs typeface="Times New Roman" pitchFamily="18" charset="0"/>
              </a:rPr>
              <a:t>We show the process of roll-back with the help of the following three transactions T1, and T2 and T3.</a:t>
            </a:r>
          </a:p>
          <a:p>
            <a:pPr marL="0" indent="0" eaLnBrk="1" hangingPunct="1">
              <a:lnSpc>
                <a:spcPct val="80000"/>
              </a:lnSpc>
              <a:buFont typeface="Wingdings" pitchFamily="2" charset="2"/>
              <a:buNone/>
            </a:pPr>
            <a:endParaRPr lang="en-US" altLang="en-US" sz="2400" dirty="0" smtClean="0">
              <a:cs typeface="Times New Roman" pitchFamily="18" charset="0"/>
            </a:endParaRPr>
          </a:p>
          <a:p>
            <a:pPr marL="0" indent="0" eaLnBrk="1" hangingPunct="1">
              <a:lnSpc>
                <a:spcPct val="80000"/>
              </a:lnSpc>
              <a:buFont typeface="Wingdings" pitchFamily="2" charset="2"/>
              <a:buNone/>
            </a:pPr>
            <a:r>
              <a:rPr lang="en-US" altLang="en-US" sz="700" b="1" dirty="0" smtClean="0">
                <a:cs typeface="Times New Roman" pitchFamily="18" charset="0"/>
              </a:rPr>
              <a:t>	</a:t>
            </a:r>
          </a:p>
          <a:p>
            <a:pPr marL="0" indent="0" eaLnBrk="1" hangingPunct="1">
              <a:lnSpc>
                <a:spcPct val="80000"/>
              </a:lnSpc>
              <a:buFont typeface="Wingdings" pitchFamily="2" charset="2"/>
              <a:buNone/>
            </a:pPr>
            <a:r>
              <a:rPr lang="en-US" altLang="en-US" sz="700" b="1" dirty="0" smtClean="0">
                <a:cs typeface="Times New Roman" pitchFamily="18" charset="0"/>
              </a:rPr>
              <a:t>	</a:t>
            </a:r>
            <a:endParaRPr lang="en-US" altLang="en-US" sz="800" dirty="0" smtClean="0">
              <a:cs typeface="Times New Roman" pitchFamily="18" charset="0"/>
            </a:endParaRPr>
          </a:p>
          <a:p>
            <a:pPr marL="457200" lvl="1" indent="0" eaLnBrk="1" hangingPunct="1">
              <a:lnSpc>
                <a:spcPct val="80000"/>
              </a:lnSpc>
              <a:buFontTx/>
              <a:buChar char="•"/>
            </a:pPr>
            <a:endParaRPr lang="en-US" altLang="en-US" sz="1200" dirty="0" smtClean="0"/>
          </a:p>
        </p:txBody>
      </p:sp>
      <p:sp>
        <p:nvSpPr>
          <p:cNvPr id="17413" name="Rectangle 4"/>
          <p:cNvSpPr>
            <a:spLocks noChangeArrowheads="1"/>
          </p:cNvSpPr>
          <p:nvPr/>
        </p:nvSpPr>
        <p:spPr bwMode="auto">
          <a:xfrm>
            <a:off x="914400" y="3223762"/>
            <a:ext cx="8026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eaLnBrk="1" hangingPunct="1">
              <a:tabLst>
                <a:tab pos="914400" algn="l"/>
                <a:tab pos="2971800" algn="l"/>
                <a:tab pos="5372100" algn="l"/>
              </a:tabLst>
            </a:pPr>
            <a:r>
              <a:rPr lang="en-US" altLang="en-US" sz="2000" b="0" dirty="0"/>
              <a:t>T1		T2	T3</a:t>
            </a:r>
          </a:p>
          <a:p>
            <a:pPr lvl="1" eaLnBrk="1" hangingPunct="1">
              <a:tabLst>
                <a:tab pos="914400" algn="l"/>
                <a:tab pos="2971800" algn="l"/>
                <a:tab pos="5372100" algn="l"/>
              </a:tabLst>
            </a:pPr>
            <a:r>
              <a:rPr lang="en-US" altLang="en-US" sz="2000" b="0" dirty="0" err="1"/>
              <a:t>read_item</a:t>
            </a:r>
            <a:r>
              <a:rPr lang="en-US" altLang="en-US" sz="2000" b="0" dirty="0"/>
              <a:t> (A)	 </a:t>
            </a:r>
            <a:r>
              <a:rPr lang="en-US" altLang="en-US" sz="2000" b="0" dirty="0" err="1"/>
              <a:t>read_item</a:t>
            </a:r>
            <a:r>
              <a:rPr lang="en-US" altLang="en-US" sz="2000" b="0" dirty="0"/>
              <a:t> (B)	 </a:t>
            </a:r>
            <a:r>
              <a:rPr lang="en-US" altLang="en-US" sz="2000" b="0" dirty="0" err="1"/>
              <a:t>read_item</a:t>
            </a:r>
            <a:r>
              <a:rPr lang="en-US" altLang="en-US" sz="2000" b="0" dirty="0"/>
              <a:t> (C)</a:t>
            </a:r>
          </a:p>
          <a:p>
            <a:pPr lvl="1" eaLnBrk="1" hangingPunct="1">
              <a:tabLst>
                <a:tab pos="914400" algn="l"/>
                <a:tab pos="2971800" algn="l"/>
                <a:tab pos="5372100" algn="l"/>
              </a:tabLst>
            </a:pPr>
            <a:r>
              <a:rPr lang="en-US" altLang="en-US" sz="2000" b="0" dirty="0" err="1"/>
              <a:t>read_item</a:t>
            </a:r>
            <a:r>
              <a:rPr lang="en-US" altLang="en-US" sz="2000" b="0" dirty="0"/>
              <a:t> (D)	 </a:t>
            </a:r>
            <a:r>
              <a:rPr lang="en-US" altLang="en-US" sz="2000" b="0" dirty="0" err="1"/>
              <a:t>write_item</a:t>
            </a:r>
            <a:r>
              <a:rPr lang="en-US" altLang="en-US" sz="2000" b="0" dirty="0"/>
              <a:t> (B)	 </a:t>
            </a:r>
            <a:r>
              <a:rPr lang="en-US" altLang="en-US" sz="2000" b="0" dirty="0" err="1"/>
              <a:t>write_item</a:t>
            </a:r>
            <a:r>
              <a:rPr lang="en-US" altLang="en-US" sz="2000" b="0" dirty="0"/>
              <a:t> (B)</a:t>
            </a:r>
          </a:p>
          <a:p>
            <a:pPr lvl="1" eaLnBrk="1" hangingPunct="1">
              <a:tabLst>
                <a:tab pos="914400" algn="l"/>
                <a:tab pos="2971800" algn="l"/>
                <a:tab pos="5372100" algn="l"/>
              </a:tabLst>
            </a:pPr>
            <a:r>
              <a:rPr lang="en-US" altLang="en-US" sz="2000" b="0" dirty="0" err="1"/>
              <a:t>write_item</a:t>
            </a:r>
            <a:r>
              <a:rPr lang="en-US" altLang="en-US" sz="2000" b="0" dirty="0"/>
              <a:t> (D)	 </a:t>
            </a:r>
            <a:r>
              <a:rPr lang="en-US" altLang="en-US" sz="2000" b="0" dirty="0" err="1"/>
              <a:t>read_item</a:t>
            </a:r>
            <a:r>
              <a:rPr lang="en-US" altLang="en-US" sz="2000" b="0" dirty="0"/>
              <a:t> (D)	 </a:t>
            </a:r>
            <a:r>
              <a:rPr lang="en-US" altLang="en-US" sz="2000" b="0" dirty="0" err="1"/>
              <a:t>read_item</a:t>
            </a:r>
            <a:r>
              <a:rPr lang="en-US" altLang="en-US" sz="2000" b="0" dirty="0"/>
              <a:t> (A)</a:t>
            </a:r>
          </a:p>
          <a:p>
            <a:pPr lvl="1" eaLnBrk="1" hangingPunct="1">
              <a:tabLst>
                <a:tab pos="914400" algn="l"/>
                <a:tab pos="2971800" algn="l"/>
                <a:tab pos="5372100" algn="l"/>
              </a:tabLst>
            </a:pPr>
            <a:r>
              <a:rPr lang="en-US" altLang="en-US" sz="2000" b="0" dirty="0"/>
              <a:t>		 </a:t>
            </a:r>
            <a:r>
              <a:rPr lang="en-US" altLang="en-US" sz="2000" b="0" dirty="0" err="1"/>
              <a:t>write_item</a:t>
            </a:r>
            <a:r>
              <a:rPr lang="en-US" altLang="en-US" sz="2000" b="0" dirty="0"/>
              <a:t> (A)		</a:t>
            </a:r>
            <a:r>
              <a:rPr lang="en-US" altLang="en-US" sz="2000" b="0" dirty="0" err="1"/>
              <a:t>write_item</a:t>
            </a:r>
            <a:r>
              <a:rPr lang="en-US" altLang="en-US" sz="2000" b="0" dirty="0"/>
              <a:t> (A)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1284288" y="609600"/>
            <a:ext cx="7173912" cy="9144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8436" name="Rectangle 3"/>
          <p:cNvSpPr>
            <a:spLocks noGrp="1" noChangeArrowheads="1"/>
          </p:cNvSpPr>
          <p:nvPr>
            <p:ph type="body" sz="half" idx="1"/>
          </p:nvPr>
        </p:nvSpPr>
        <p:spPr>
          <a:xfrm>
            <a:off x="381000" y="1320800"/>
            <a:ext cx="8521700" cy="1028700"/>
          </a:xfrm>
        </p:spPr>
        <p:txBody>
          <a:bodyPr>
            <a:normAutofit fontScale="92500" lnSpcReduction="20000"/>
          </a:bodyPr>
          <a:lstStyle/>
          <a:p>
            <a:pPr marL="0" indent="0" eaLnBrk="1" hangingPunct="1">
              <a:buFont typeface="Wingdings" pitchFamily="2" charset="2"/>
              <a:buNone/>
              <a:tabLst>
                <a:tab pos="4521200" algn="l"/>
                <a:tab pos="5257800" algn="l"/>
                <a:tab pos="5943600" algn="l"/>
                <a:tab pos="6629400" algn="l"/>
              </a:tabLst>
            </a:pPr>
            <a:r>
              <a:rPr lang="en-US" altLang="en-US" sz="2400" b="1" smtClean="0">
                <a:cs typeface="Times New Roman" pitchFamily="18" charset="0"/>
              </a:rPr>
              <a:t>Roll-back:  </a:t>
            </a:r>
            <a:r>
              <a:rPr lang="en-US" altLang="en-US" sz="2000" b="1" smtClean="0">
                <a:cs typeface="Times New Roman" pitchFamily="18" charset="0"/>
              </a:rPr>
              <a:t>One execution of T1, T2 and T3 as recorded in the log.</a:t>
            </a:r>
          </a:p>
          <a:p>
            <a:pPr marL="0" indent="0" eaLnBrk="1" hangingPunct="1">
              <a:lnSpc>
                <a:spcPct val="80000"/>
              </a:lnSpc>
              <a:buFont typeface="Wingdings" pitchFamily="2" charset="2"/>
              <a:buNone/>
              <a:tabLst>
                <a:tab pos="4521200" algn="l"/>
                <a:tab pos="5257800" algn="l"/>
                <a:tab pos="5943600" algn="l"/>
                <a:tab pos="6629400" algn="l"/>
              </a:tabLst>
            </a:pPr>
            <a:r>
              <a:rPr lang="en-US" altLang="en-US" sz="2000" b="1" smtClean="0">
                <a:cs typeface="Times New Roman" pitchFamily="18" charset="0"/>
              </a:rPr>
              <a:t>	</a:t>
            </a:r>
            <a:r>
              <a:rPr lang="en-US" altLang="en-US" sz="1800" b="1" smtClean="0"/>
              <a:t>A	B	C	D</a:t>
            </a:r>
          </a:p>
          <a:p>
            <a:pPr marL="0" indent="0" eaLnBrk="1" hangingPunct="1">
              <a:lnSpc>
                <a:spcPct val="80000"/>
              </a:lnSpc>
              <a:buFont typeface="Wingdings" pitchFamily="2" charset="2"/>
              <a:buNone/>
              <a:tabLst>
                <a:tab pos="4521200" algn="l"/>
                <a:tab pos="5257800" algn="l"/>
                <a:tab pos="5943600" algn="l"/>
                <a:tab pos="6629400" algn="l"/>
              </a:tabLst>
            </a:pPr>
            <a:r>
              <a:rPr lang="en-US" altLang="en-US" sz="1800" b="1" smtClean="0"/>
              <a:t>	30	15	40	20</a:t>
            </a:r>
            <a:endParaRPr lang="en-US" altLang="en-US" sz="1800" b="1" smtClean="0">
              <a:cs typeface="Times New Roman" pitchFamily="18" charset="0"/>
            </a:endParaRPr>
          </a:p>
          <a:p>
            <a:pPr marL="0" indent="0" eaLnBrk="1" hangingPunct="1">
              <a:lnSpc>
                <a:spcPct val="80000"/>
              </a:lnSpc>
              <a:buFont typeface="Wingdings" pitchFamily="2" charset="2"/>
              <a:buNone/>
              <a:tabLst>
                <a:tab pos="4521200" algn="l"/>
                <a:tab pos="5257800" algn="l"/>
                <a:tab pos="5943600" algn="l"/>
                <a:tab pos="6629400" algn="l"/>
              </a:tabLst>
            </a:pPr>
            <a:r>
              <a:rPr lang="en-US" altLang="en-US" sz="700" b="1" smtClean="0">
                <a:cs typeface="Times New Roman" pitchFamily="18" charset="0"/>
              </a:rPr>
              <a:t>	</a:t>
            </a:r>
            <a:endParaRPr lang="en-US" altLang="en-US" sz="800" smtClean="0">
              <a:cs typeface="Times New Roman" pitchFamily="18" charset="0"/>
            </a:endParaRPr>
          </a:p>
          <a:p>
            <a:pPr marL="457200" lvl="1" indent="0" eaLnBrk="1" hangingPunct="1">
              <a:lnSpc>
                <a:spcPct val="80000"/>
              </a:lnSpc>
              <a:buFontTx/>
              <a:buChar char="•"/>
              <a:tabLst>
                <a:tab pos="4521200" algn="l"/>
                <a:tab pos="5257800" algn="l"/>
                <a:tab pos="5943600" algn="l"/>
                <a:tab pos="6629400" algn="l"/>
              </a:tabLst>
            </a:pPr>
            <a:endParaRPr lang="en-US" altLang="en-US" sz="1200" smtClean="0"/>
          </a:p>
        </p:txBody>
      </p:sp>
      <p:sp>
        <p:nvSpPr>
          <p:cNvPr id="18437" name="Rectangle 4"/>
          <p:cNvSpPr>
            <a:spLocks noChangeArrowheads="1"/>
          </p:cNvSpPr>
          <p:nvPr/>
        </p:nvSpPr>
        <p:spPr bwMode="auto">
          <a:xfrm>
            <a:off x="723900" y="2349500"/>
            <a:ext cx="8026400" cy="400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indent="-285750" eaLnBrk="1" hangingPunct="1">
              <a:tabLst>
                <a:tab pos="171450" algn="l"/>
                <a:tab pos="4914900" algn="l"/>
                <a:tab pos="5372100" algn="l"/>
              </a:tabLst>
            </a:pPr>
            <a:r>
              <a:rPr lang="en-US" altLang="en-US" sz="1600" dirty="0">
                <a:solidFill>
                  <a:schemeClr val="bg2"/>
                </a:solidFill>
              </a:rPr>
              <a:t>	</a:t>
            </a:r>
            <a:r>
              <a:rPr lang="en-US" altLang="en-US" sz="1600" dirty="0"/>
              <a:t>[</a:t>
            </a:r>
            <a:r>
              <a:rPr lang="en-US" altLang="en-US" sz="1600" dirty="0" err="1"/>
              <a:t>start_transaction</a:t>
            </a:r>
            <a:r>
              <a:rPr lang="en-US" altLang="en-US" sz="1600" dirty="0"/>
              <a:t>, T3]</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T3, C]</a:t>
            </a:r>
          </a:p>
          <a:p>
            <a:pPr lvl="1" indent="-285750" eaLnBrk="1" hangingPunct="1">
              <a:tabLst>
                <a:tab pos="171450" algn="l"/>
                <a:tab pos="4914900" algn="l"/>
                <a:tab pos="5372100" algn="l"/>
              </a:tabLst>
            </a:pPr>
            <a:r>
              <a:rPr lang="en-US" altLang="en-US" sz="1600" dirty="0"/>
              <a:t>*	[</a:t>
            </a:r>
            <a:r>
              <a:rPr lang="en-US" altLang="en-US" sz="1600" dirty="0" err="1"/>
              <a:t>write_item</a:t>
            </a:r>
            <a:r>
              <a:rPr lang="en-US" altLang="en-US" sz="1600" dirty="0"/>
              <a:t>, T3, B, 15, 12]	12</a:t>
            </a:r>
          </a:p>
          <a:p>
            <a:pPr lvl="1" indent="-285750" eaLnBrk="1" hangingPunct="1">
              <a:tabLst>
                <a:tab pos="171450" algn="l"/>
                <a:tab pos="4914900" algn="l"/>
                <a:tab pos="5372100" algn="l"/>
              </a:tabLst>
            </a:pPr>
            <a:r>
              <a:rPr lang="en-US" altLang="en-US" sz="1600" dirty="0"/>
              <a:t>	[start_transaction,T2]</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T2, B]</a:t>
            </a:r>
          </a:p>
          <a:p>
            <a:pPr lvl="1" indent="-285750" eaLnBrk="1" hangingPunct="1">
              <a:tabLst>
                <a:tab pos="171450" algn="l"/>
                <a:tab pos="4914900" algn="l"/>
                <a:tab pos="5372100" algn="l"/>
              </a:tabLst>
            </a:pPr>
            <a:r>
              <a:rPr lang="en-US" altLang="en-US" sz="1600" dirty="0"/>
              <a:t>**	[</a:t>
            </a:r>
            <a:r>
              <a:rPr lang="en-US" altLang="en-US" sz="1600" dirty="0" err="1"/>
              <a:t>write_item</a:t>
            </a:r>
            <a:r>
              <a:rPr lang="en-US" altLang="en-US" sz="1600" dirty="0"/>
              <a:t>, T2, B, 12, 18]	18</a:t>
            </a:r>
          </a:p>
          <a:p>
            <a:pPr lvl="1" indent="-285750" eaLnBrk="1" hangingPunct="1">
              <a:tabLst>
                <a:tab pos="171450" algn="l"/>
                <a:tab pos="4914900" algn="l"/>
                <a:tab pos="5372100" algn="l"/>
              </a:tabLst>
            </a:pPr>
            <a:r>
              <a:rPr lang="en-US" altLang="en-US" sz="1600" dirty="0"/>
              <a:t>	[start_transaction,T1]</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T1, A]</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T1, D]</a:t>
            </a:r>
          </a:p>
          <a:p>
            <a:pPr lvl="1" indent="-285750" eaLnBrk="1" hangingPunct="1">
              <a:tabLst>
                <a:tab pos="171450" algn="l"/>
                <a:tab pos="4914900" algn="l"/>
                <a:tab pos="5372100" algn="l"/>
              </a:tabLst>
            </a:pPr>
            <a:r>
              <a:rPr lang="en-US" altLang="en-US" sz="1600" dirty="0"/>
              <a:t>	[</a:t>
            </a:r>
            <a:r>
              <a:rPr lang="en-US" altLang="en-US" sz="1600" dirty="0" err="1"/>
              <a:t>write_item</a:t>
            </a:r>
            <a:r>
              <a:rPr lang="en-US" altLang="en-US" sz="1600" dirty="0"/>
              <a:t>, T1, D, 20, 25]				25</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T2, D]</a:t>
            </a:r>
          </a:p>
          <a:p>
            <a:pPr lvl="1" indent="-285750" eaLnBrk="1" hangingPunct="1">
              <a:tabLst>
                <a:tab pos="171450" algn="l"/>
                <a:tab pos="4914900" algn="l"/>
                <a:tab pos="5372100" algn="l"/>
              </a:tabLst>
            </a:pPr>
            <a:r>
              <a:rPr lang="en-US" altLang="en-US" sz="1600" dirty="0"/>
              <a:t>**	[</a:t>
            </a:r>
            <a:r>
              <a:rPr lang="en-US" altLang="en-US" sz="1600" dirty="0" err="1"/>
              <a:t>write_item</a:t>
            </a:r>
            <a:r>
              <a:rPr lang="en-US" altLang="en-US" sz="1600" dirty="0"/>
              <a:t>, T2, D, 25, 26]				26</a:t>
            </a:r>
          </a:p>
          <a:p>
            <a:pPr lvl="1" indent="-285750" eaLnBrk="1" hangingPunct="1">
              <a:tabLst>
                <a:tab pos="171450" algn="l"/>
                <a:tab pos="4914900" algn="l"/>
                <a:tab pos="5372100" algn="l"/>
              </a:tabLst>
            </a:pPr>
            <a:r>
              <a:rPr lang="en-US" altLang="en-US" sz="1600" dirty="0"/>
              <a:t>	[</a:t>
            </a:r>
            <a:r>
              <a:rPr lang="en-US" altLang="en-US" sz="1600" dirty="0" err="1"/>
              <a:t>read_item</a:t>
            </a:r>
            <a:r>
              <a:rPr lang="en-US" altLang="en-US" sz="1600" dirty="0"/>
              <a:t>, T3, A]	</a:t>
            </a:r>
          </a:p>
          <a:p>
            <a:pPr lvl="1" indent="-285750" eaLnBrk="1" hangingPunct="1">
              <a:tabLst>
                <a:tab pos="171450" algn="l"/>
                <a:tab pos="4914900" algn="l"/>
                <a:tab pos="5372100" algn="l"/>
              </a:tabLst>
            </a:pPr>
            <a:r>
              <a:rPr lang="en-US" altLang="en-US" sz="1600" dirty="0"/>
              <a:t>	                                                   ---- system crash ----</a:t>
            </a:r>
          </a:p>
          <a:p>
            <a:pPr lvl="1" indent="-285750" eaLnBrk="1" hangingPunct="1">
              <a:tabLst>
                <a:tab pos="171450" algn="l"/>
                <a:tab pos="4914900" algn="l"/>
                <a:tab pos="5372100" algn="l"/>
              </a:tabLst>
            </a:pPr>
            <a:r>
              <a:rPr lang="en-US" altLang="en-US" sz="1600" dirty="0"/>
              <a:t>*   T3 is rolled back because it did not reach its commit point.</a:t>
            </a:r>
          </a:p>
          <a:p>
            <a:pPr lvl="1" indent="-285750" eaLnBrk="1" hangingPunct="1">
              <a:tabLst>
                <a:tab pos="171450" algn="l"/>
                <a:tab pos="4914900" algn="l"/>
                <a:tab pos="5372100" algn="l"/>
              </a:tabLst>
            </a:pPr>
            <a:r>
              <a:rPr lang="en-US" altLang="en-US" sz="1600" dirty="0"/>
              <a:t>** T2 is rolled back because it reads the value of item B written by T3.</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284288" y="609600"/>
            <a:ext cx="7173912" cy="9144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19460" name="Rectangle 3"/>
          <p:cNvSpPr>
            <a:spLocks noGrp="1" noChangeArrowheads="1"/>
          </p:cNvSpPr>
          <p:nvPr>
            <p:ph type="body" sz="half" idx="1"/>
          </p:nvPr>
        </p:nvSpPr>
        <p:spPr>
          <a:xfrm>
            <a:off x="381000" y="1524000"/>
            <a:ext cx="8521700" cy="469900"/>
          </a:xfrm>
        </p:spPr>
        <p:txBody>
          <a:bodyPr>
            <a:noAutofit/>
          </a:bodyPr>
          <a:lstStyle/>
          <a:p>
            <a:pPr marL="0" indent="0" eaLnBrk="1" hangingPunct="1">
              <a:buFont typeface="Wingdings" pitchFamily="2" charset="2"/>
              <a:buNone/>
              <a:tabLst>
                <a:tab pos="4521200" algn="l"/>
                <a:tab pos="5257800" algn="l"/>
                <a:tab pos="5943600" algn="l"/>
                <a:tab pos="6629400" algn="l"/>
              </a:tabLst>
            </a:pPr>
            <a:r>
              <a:rPr lang="en-US" altLang="en-US" sz="2200" b="1" smtClean="0">
                <a:latin typeface="Times New Roman" pitchFamily="18" charset="0"/>
                <a:cs typeface="Times New Roman" pitchFamily="18" charset="0"/>
              </a:rPr>
              <a:t>Roll-back:  One execution of T1, T2 and T3 as recorded in the log.</a:t>
            </a:r>
          </a:p>
          <a:p>
            <a:pPr marL="0" indent="0" eaLnBrk="1" hangingPunct="1">
              <a:lnSpc>
                <a:spcPct val="80000"/>
              </a:lnSpc>
              <a:buFont typeface="Wingdings" pitchFamily="2" charset="2"/>
              <a:buNone/>
              <a:tabLst>
                <a:tab pos="4521200" algn="l"/>
                <a:tab pos="5257800" algn="l"/>
                <a:tab pos="5943600" algn="l"/>
                <a:tab pos="6629400" algn="l"/>
              </a:tabLst>
            </a:pPr>
            <a:r>
              <a:rPr lang="en-US" altLang="en-US" sz="2200" b="1" smtClean="0">
                <a:latin typeface="Times New Roman" pitchFamily="18" charset="0"/>
                <a:cs typeface="Times New Roman" pitchFamily="18" charset="0"/>
              </a:rPr>
              <a:t>		</a:t>
            </a:r>
            <a:endParaRPr lang="en-US" altLang="en-US" sz="2200" smtClean="0">
              <a:latin typeface="Times New Roman" pitchFamily="18" charset="0"/>
              <a:cs typeface="Times New Roman" pitchFamily="18" charset="0"/>
            </a:endParaRPr>
          </a:p>
          <a:p>
            <a:pPr marL="457200" lvl="1" indent="0" eaLnBrk="1" hangingPunct="1">
              <a:lnSpc>
                <a:spcPct val="80000"/>
              </a:lnSpc>
              <a:buFontTx/>
              <a:buChar char="•"/>
              <a:tabLst>
                <a:tab pos="4521200" algn="l"/>
                <a:tab pos="5257800" algn="l"/>
                <a:tab pos="5943600" algn="l"/>
                <a:tab pos="6629400" algn="l"/>
              </a:tabLst>
            </a:pPr>
            <a:endParaRPr lang="en-US" altLang="en-US" sz="2200" smtClean="0">
              <a:latin typeface="Times New Roman" pitchFamily="18" charset="0"/>
              <a:cs typeface="Times New Roman" pitchFamily="18" charset="0"/>
            </a:endParaRPr>
          </a:p>
        </p:txBody>
      </p:sp>
      <p:graphicFrame>
        <p:nvGraphicFramePr>
          <p:cNvPr id="19461" name="Object 14"/>
          <p:cNvGraphicFramePr>
            <a:graphicFrameLocks noGrp="1" noChangeAspect="1"/>
          </p:cNvGraphicFramePr>
          <p:nvPr>
            <p:ph sz="half" idx="2"/>
          </p:nvPr>
        </p:nvGraphicFramePr>
        <p:xfrm>
          <a:off x="514350" y="2728913"/>
          <a:ext cx="8078788" cy="1979612"/>
        </p:xfrm>
        <a:graphic>
          <a:graphicData uri="http://schemas.openxmlformats.org/presentationml/2006/ole">
            <mc:AlternateContent xmlns:mc="http://schemas.openxmlformats.org/markup-compatibility/2006">
              <mc:Choice xmlns:v="urn:schemas-microsoft-com:vml" Requires="v">
                <p:oleObj spid="_x0000_s19515" name="VISIO" r:id="rId3" imgW="10448544" imgH="2560320" progId="Visio.Drawing.6">
                  <p:embed/>
                </p:oleObj>
              </mc:Choice>
              <mc:Fallback>
                <p:oleObj name="VISIO" r:id="rId3" imgW="10448544" imgH="2560320" progId="Visio.Drawing.6">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2728913"/>
                        <a:ext cx="8078788" cy="197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62" name="Rectangle 16"/>
          <p:cNvSpPr>
            <a:spLocks noChangeArrowheads="1"/>
          </p:cNvSpPr>
          <p:nvPr/>
        </p:nvSpPr>
        <p:spPr bwMode="auto">
          <a:xfrm>
            <a:off x="381000" y="5276850"/>
            <a:ext cx="85217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eaLnBrk="1" hangingPunct="1">
              <a:spcBef>
                <a:spcPct val="20000"/>
              </a:spcBef>
              <a:buClr>
                <a:srgbClr val="FF0000"/>
              </a:buClr>
              <a:buFont typeface="Wingdings" pitchFamily="2" charset="2"/>
              <a:buNone/>
              <a:tabLst>
                <a:tab pos="4521200" algn="l"/>
                <a:tab pos="5257800" algn="l"/>
                <a:tab pos="5943600" algn="l"/>
                <a:tab pos="6629400" algn="l"/>
              </a:tabLst>
            </a:pPr>
            <a:r>
              <a:rPr lang="en-US" altLang="en-US" dirty="0">
                <a:cs typeface="Times New Roman" pitchFamily="18" charset="0"/>
              </a:rPr>
              <a:t>Illustrating cascading roll-back</a:t>
            </a:r>
            <a:endParaRPr lang="en-US" altLang="en-US" sz="2000" dirty="0">
              <a:cs typeface="Times New Roman" pitchFamily="18" charset="0"/>
            </a:endParaRPr>
          </a:p>
          <a:p>
            <a:pPr eaLnBrk="1" hangingPunct="1">
              <a:lnSpc>
                <a:spcPct val="80000"/>
              </a:lnSpc>
              <a:spcBef>
                <a:spcPct val="20000"/>
              </a:spcBef>
              <a:buClr>
                <a:srgbClr val="FF0000"/>
              </a:buClr>
              <a:buFont typeface="Wingdings" pitchFamily="2" charset="2"/>
              <a:buNone/>
              <a:tabLst>
                <a:tab pos="4521200" algn="l"/>
                <a:tab pos="5257800" algn="l"/>
                <a:tab pos="5943600" algn="l"/>
                <a:tab pos="6629400" algn="l"/>
              </a:tabLst>
            </a:pPr>
            <a:r>
              <a:rPr lang="en-US" altLang="en-US" sz="2000" dirty="0">
                <a:solidFill>
                  <a:schemeClr val="bg2"/>
                </a:solidFill>
                <a:cs typeface="Times New Roman" pitchFamily="18" charset="0"/>
              </a:rPr>
              <a:t>	</a:t>
            </a:r>
            <a:r>
              <a:rPr lang="en-US" altLang="en-US" sz="700" dirty="0">
                <a:solidFill>
                  <a:schemeClr val="bg2"/>
                </a:solidFill>
                <a:cs typeface="Times New Roman" pitchFamily="18" charset="0"/>
              </a:rPr>
              <a:t>	</a:t>
            </a:r>
            <a:endParaRPr lang="en-US" altLang="en-US" sz="800" b="0" dirty="0">
              <a:solidFill>
                <a:schemeClr val="bg2"/>
              </a:solidFill>
              <a:cs typeface="Times New Roman" pitchFamily="18" charset="0"/>
            </a:endParaRPr>
          </a:p>
          <a:p>
            <a:pPr lvl="1" eaLnBrk="1" hangingPunct="1">
              <a:lnSpc>
                <a:spcPct val="80000"/>
              </a:lnSpc>
              <a:spcBef>
                <a:spcPct val="20000"/>
              </a:spcBef>
              <a:buClr>
                <a:srgbClr val="FF0000"/>
              </a:buClr>
              <a:buFontTx/>
              <a:buChar char="•"/>
              <a:tabLst>
                <a:tab pos="4521200" algn="l"/>
                <a:tab pos="5257800" algn="l"/>
                <a:tab pos="5943600" algn="l"/>
                <a:tab pos="6629400" algn="l"/>
              </a:tabLst>
            </a:pPr>
            <a:endParaRPr lang="en-US" altLang="en-US" sz="1200" b="0" dirty="0">
              <a:solidFill>
                <a:schemeClr val="bg2"/>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normAutofit/>
          </a:bodyPr>
          <a:lstStyle/>
          <a:p>
            <a:pPr eaLnBrk="1" hangingPunct="1"/>
            <a:r>
              <a:rPr lang="en-US" altLang="en-US" sz="3600" b="1" smtClean="0">
                <a:cs typeface="Times New Roman" pitchFamily="18" charset="0"/>
              </a:rPr>
              <a:t>Database Recovery</a:t>
            </a:r>
            <a:endParaRPr lang="en-US" altLang="en-US" sz="3600" b="1" smtClean="0"/>
          </a:p>
        </p:txBody>
      </p:sp>
      <p:sp>
        <p:nvSpPr>
          <p:cNvPr id="20484" name="Rectangle 3"/>
          <p:cNvSpPr>
            <a:spLocks noGrp="1" noChangeArrowheads="1"/>
          </p:cNvSpPr>
          <p:nvPr>
            <p:ph sz="quarter" idx="1"/>
          </p:nvPr>
        </p:nvSpPr>
        <p:spPr/>
        <p:txBody>
          <a:bodyPr>
            <a:normAutofit/>
          </a:bodyPr>
          <a:lstStyle/>
          <a:p>
            <a:pPr marL="3175" indent="0" algn="just" eaLnBrk="1" hangingPunct="1">
              <a:buFont typeface="Wingdings" pitchFamily="2" charset="2"/>
              <a:buNone/>
            </a:pPr>
            <a:r>
              <a:rPr lang="en-US" altLang="en-US" sz="2300" b="1" dirty="0" smtClean="0">
                <a:latin typeface="Times New Roman" pitchFamily="18" charset="0"/>
                <a:cs typeface="Times New Roman" pitchFamily="18" charset="0"/>
              </a:rPr>
              <a:t>Write-Ahead Logging</a:t>
            </a:r>
          </a:p>
          <a:p>
            <a:pPr marL="3175" lvl="1" indent="0" algn="just" eaLnBrk="1" hangingPunct="1">
              <a:buFontTx/>
              <a:buNone/>
            </a:pPr>
            <a:r>
              <a:rPr lang="en-US" altLang="en-US" sz="2300" dirty="0" smtClean="0">
                <a:latin typeface="Times New Roman" pitchFamily="18" charset="0"/>
                <a:cs typeface="Times New Roman" pitchFamily="18" charset="0"/>
              </a:rPr>
              <a:t>When </a:t>
            </a:r>
            <a:r>
              <a:rPr lang="en-US" altLang="en-US" sz="2300" b="1" dirty="0" smtClean="0">
                <a:latin typeface="Times New Roman" pitchFamily="18" charset="0"/>
                <a:cs typeface="Times New Roman" pitchFamily="18" charset="0"/>
              </a:rPr>
              <a:t>in-place</a:t>
            </a:r>
            <a:r>
              <a:rPr lang="en-US" altLang="en-US" sz="2300" dirty="0" smtClean="0">
                <a:latin typeface="Times New Roman" pitchFamily="18" charset="0"/>
                <a:cs typeface="Times New Roman" pitchFamily="18" charset="0"/>
              </a:rPr>
              <a:t> update (immediate or deferred) is used then log is necessary for recovery and it must be available to recovery manager.  This is achieved by </a:t>
            </a:r>
            <a:r>
              <a:rPr lang="en-US" altLang="en-US" sz="2300" b="1" dirty="0" smtClean="0">
                <a:latin typeface="Times New Roman" pitchFamily="18" charset="0"/>
                <a:cs typeface="Times New Roman" pitchFamily="18" charset="0"/>
              </a:rPr>
              <a:t>Write-Ahead Logging</a:t>
            </a:r>
            <a:r>
              <a:rPr lang="en-US" altLang="en-US" sz="2300" dirty="0" smtClean="0">
                <a:latin typeface="Times New Roman" pitchFamily="18" charset="0"/>
                <a:cs typeface="Times New Roman" pitchFamily="18" charset="0"/>
              </a:rPr>
              <a:t> (WAL) protocol.  WAL states that</a:t>
            </a:r>
          </a:p>
          <a:p>
            <a:pPr marL="3175" lvl="1" indent="0" algn="just" eaLnBrk="1" hangingPunct="1">
              <a:buFontTx/>
              <a:buNone/>
            </a:pPr>
            <a:r>
              <a:rPr lang="en-US" altLang="en-US" sz="2300" b="1" dirty="0" smtClean="0">
                <a:latin typeface="Times New Roman" pitchFamily="18" charset="0"/>
                <a:cs typeface="Times New Roman" pitchFamily="18" charset="0"/>
              </a:rPr>
              <a:t>For Undo</a:t>
            </a:r>
            <a:r>
              <a:rPr lang="en-US" altLang="en-US" sz="2300" dirty="0" smtClean="0">
                <a:latin typeface="Times New Roman" pitchFamily="18" charset="0"/>
                <a:cs typeface="Times New Roman" pitchFamily="18" charset="0"/>
              </a:rPr>
              <a:t>: Before a data item’s AFIM is flushed to the database disk (overwriting the BFIM) its BFIM must be written to the log and the log must be saved on a stable store (log disk).</a:t>
            </a:r>
          </a:p>
          <a:p>
            <a:pPr marL="3175" lvl="1" indent="0" algn="just" eaLnBrk="1" hangingPunct="1">
              <a:buFontTx/>
              <a:buNone/>
            </a:pPr>
            <a:r>
              <a:rPr lang="en-US" altLang="en-US" sz="2300" b="1" dirty="0" smtClean="0">
                <a:latin typeface="Times New Roman" pitchFamily="18" charset="0"/>
                <a:cs typeface="Times New Roman" pitchFamily="18" charset="0"/>
              </a:rPr>
              <a:t>For Redo</a:t>
            </a:r>
            <a:r>
              <a:rPr lang="en-US" altLang="en-US" sz="2300" dirty="0" smtClean="0">
                <a:latin typeface="Times New Roman" pitchFamily="18" charset="0"/>
                <a:cs typeface="Times New Roman" pitchFamily="18" charset="0"/>
              </a:rPr>
              <a:t>: Before a transaction executes its commit operation, all its AFIMs must be written to the log and the log must be saved on a stable store.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1508" name="Rectangle 3"/>
          <p:cNvSpPr>
            <a:spLocks noGrp="1" noChangeArrowheads="1"/>
          </p:cNvSpPr>
          <p:nvPr>
            <p:ph sz="quarter" idx="1"/>
          </p:nvPr>
        </p:nvSpPr>
        <p:spPr/>
        <p:txBody>
          <a:bodyPr>
            <a:normAutofit/>
          </a:bodyPr>
          <a:lstStyle/>
          <a:p>
            <a:pPr>
              <a:tabLst>
                <a:tab pos="685800" algn="l"/>
              </a:tabLst>
            </a:pPr>
            <a:r>
              <a:rPr lang="en-US" altLang="en-US" sz="2300" b="1" dirty="0" err="1" smtClean="0">
                <a:latin typeface="Times New Roman" pitchFamily="18" charset="0"/>
                <a:cs typeface="Times New Roman" pitchFamily="18" charset="0"/>
              </a:rPr>
              <a:t>Checkpointing</a:t>
            </a:r>
            <a:endParaRPr lang="en-US" altLang="en-US" sz="2300" b="1" dirty="0">
              <a:latin typeface="Times New Roman" pitchFamily="18" charset="0"/>
              <a:cs typeface="Times New Roman" pitchFamily="18" charset="0"/>
            </a:endParaRPr>
          </a:p>
          <a:p>
            <a:pPr>
              <a:tabLst>
                <a:tab pos="685800" algn="l"/>
              </a:tabLst>
            </a:pPr>
            <a:r>
              <a:rPr lang="en-US" altLang="en-US" sz="2300" dirty="0" smtClean="0">
                <a:latin typeface="Times New Roman" pitchFamily="18" charset="0"/>
                <a:cs typeface="Times New Roman" pitchFamily="18" charset="0"/>
              </a:rPr>
              <a:t>Time to time (randomly or under some criteria) the database flushes its buffer to database disk to minimize the task of recovery.  The following steps defines a checkpoint operation:</a:t>
            </a:r>
          </a:p>
          <a:p>
            <a:pPr lvl="1">
              <a:tabLst>
                <a:tab pos="685800" algn="l"/>
              </a:tabLst>
            </a:pPr>
            <a:r>
              <a:rPr lang="en-US" altLang="en-US" sz="2100" dirty="0" smtClean="0">
                <a:latin typeface="Times New Roman" pitchFamily="18" charset="0"/>
                <a:cs typeface="Times New Roman" pitchFamily="18" charset="0"/>
              </a:rPr>
              <a:t>Suspend execution of transactions temporarily.</a:t>
            </a:r>
          </a:p>
          <a:p>
            <a:pPr lvl="1">
              <a:tabLst>
                <a:tab pos="685800" algn="l"/>
              </a:tabLst>
            </a:pPr>
            <a:r>
              <a:rPr lang="en-US" altLang="en-US" sz="2100" dirty="0" smtClean="0">
                <a:latin typeface="Times New Roman" pitchFamily="18" charset="0"/>
                <a:cs typeface="Times New Roman" pitchFamily="18" charset="0"/>
              </a:rPr>
              <a:t>Force write modified buffer data to disk.</a:t>
            </a:r>
          </a:p>
          <a:p>
            <a:pPr lvl="1">
              <a:tabLst>
                <a:tab pos="685800" algn="l"/>
              </a:tabLst>
            </a:pPr>
            <a:r>
              <a:rPr lang="en-US" altLang="en-US" sz="2100" dirty="0" smtClean="0">
                <a:latin typeface="Times New Roman" pitchFamily="18" charset="0"/>
                <a:cs typeface="Times New Roman" pitchFamily="18" charset="0"/>
              </a:rPr>
              <a:t>Write a [checkpoint] record to the log, save the log to disk.</a:t>
            </a:r>
          </a:p>
          <a:p>
            <a:pPr lvl="1">
              <a:tabLst>
                <a:tab pos="685800" algn="l"/>
              </a:tabLst>
            </a:pPr>
            <a:r>
              <a:rPr lang="en-US" altLang="en-US" sz="2100" dirty="0" smtClean="0">
                <a:latin typeface="Times New Roman" pitchFamily="18" charset="0"/>
                <a:cs typeface="Times New Roman" pitchFamily="18" charset="0"/>
              </a:rPr>
              <a:t>Resume normal transaction execution.</a:t>
            </a:r>
          </a:p>
          <a:p>
            <a:pPr>
              <a:tabLst>
                <a:tab pos="685800" algn="l"/>
              </a:tabLst>
            </a:pPr>
            <a:r>
              <a:rPr lang="en-US" altLang="en-US" sz="2300" dirty="0" smtClean="0">
                <a:latin typeface="Times New Roman" pitchFamily="18" charset="0"/>
                <a:cs typeface="Times New Roman" pitchFamily="18" charset="0"/>
              </a:rPr>
              <a:t>During recovery </a:t>
            </a:r>
            <a:r>
              <a:rPr lang="en-US" altLang="en-US" sz="2300" b="1" dirty="0" smtClean="0">
                <a:latin typeface="Times New Roman" pitchFamily="18" charset="0"/>
                <a:cs typeface="Times New Roman" pitchFamily="18" charset="0"/>
              </a:rPr>
              <a:t>redo</a:t>
            </a:r>
            <a:r>
              <a:rPr lang="en-US" altLang="en-US" sz="2300" dirty="0" smtClean="0">
                <a:latin typeface="Times New Roman" pitchFamily="18" charset="0"/>
                <a:cs typeface="Times New Roman" pitchFamily="18" charset="0"/>
              </a:rPr>
              <a:t> or </a:t>
            </a:r>
            <a:r>
              <a:rPr lang="en-US" altLang="en-US" sz="2300" b="1" dirty="0" smtClean="0">
                <a:latin typeface="Times New Roman" pitchFamily="18" charset="0"/>
                <a:cs typeface="Times New Roman" pitchFamily="18" charset="0"/>
              </a:rPr>
              <a:t>undo</a:t>
            </a:r>
            <a:r>
              <a:rPr lang="en-US" altLang="en-US" sz="2300" dirty="0" smtClean="0">
                <a:latin typeface="Times New Roman" pitchFamily="18" charset="0"/>
                <a:cs typeface="Times New Roman" pitchFamily="18" charset="0"/>
              </a:rPr>
              <a:t> is required to transactions appearing after [checkpoint] record.</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2532" name="Rectangle 3"/>
          <p:cNvSpPr>
            <a:spLocks noGrp="1" noChangeArrowheads="1"/>
          </p:cNvSpPr>
          <p:nvPr>
            <p:ph sz="quarter" idx="1"/>
          </p:nvPr>
        </p:nvSpPr>
        <p:spPr/>
        <p:txBody>
          <a:bodyPr>
            <a:normAutofit/>
          </a:bodyPr>
          <a:lstStyle/>
          <a:p>
            <a:pPr algn="just">
              <a:tabLst>
                <a:tab pos="0" algn="l"/>
              </a:tabLst>
            </a:pPr>
            <a:r>
              <a:rPr lang="en-US" altLang="en-US" sz="2300" b="1" dirty="0" smtClean="0">
                <a:latin typeface="Times New Roman" pitchFamily="18" charset="0"/>
                <a:cs typeface="Times New Roman" pitchFamily="18" charset="0"/>
              </a:rPr>
              <a:t>Steal/No-Steal and Force/No-Force</a:t>
            </a:r>
          </a:p>
          <a:p>
            <a:pPr marL="342900" lvl="1" indent="-342900" algn="just">
              <a:tabLst>
                <a:tab pos="0" algn="l"/>
              </a:tabLst>
            </a:pPr>
            <a:r>
              <a:rPr lang="en-US" altLang="en-US" sz="2300" dirty="0" smtClean="0">
                <a:latin typeface="Times New Roman" pitchFamily="18" charset="0"/>
                <a:cs typeface="Times New Roman" pitchFamily="18" charset="0"/>
              </a:rPr>
              <a:t>Possible ways for flushing database cache to database disk:</a:t>
            </a:r>
          </a:p>
          <a:p>
            <a:pPr marL="342900" lvl="1" indent="-342900" algn="just">
              <a:tabLst>
                <a:tab pos="0" algn="l"/>
              </a:tabLst>
            </a:pPr>
            <a:r>
              <a:rPr lang="en-US" altLang="en-US" sz="2300" b="1" dirty="0" smtClean="0">
                <a:latin typeface="Times New Roman" pitchFamily="18" charset="0"/>
                <a:cs typeface="Times New Roman" pitchFamily="18" charset="0"/>
              </a:rPr>
              <a:t>Steal</a:t>
            </a:r>
            <a:r>
              <a:rPr lang="en-US" altLang="en-US" sz="2300" dirty="0" smtClean="0">
                <a:latin typeface="Times New Roman" pitchFamily="18" charset="0"/>
                <a:cs typeface="Times New Roman" pitchFamily="18" charset="0"/>
              </a:rPr>
              <a:t>: Cache can be flushed before transaction commits.</a:t>
            </a:r>
          </a:p>
          <a:p>
            <a:pPr marL="342900" lvl="1" indent="-342900" algn="just">
              <a:tabLst>
                <a:tab pos="0" algn="l"/>
              </a:tabLst>
            </a:pPr>
            <a:r>
              <a:rPr lang="en-US" altLang="en-US" sz="2300" b="1" dirty="0" smtClean="0">
                <a:latin typeface="Times New Roman" pitchFamily="18" charset="0"/>
                <a:cs typeface="Times New Roman" pitchFamily="18" charset="0"/>
              </a:rPr>
              <a:t>No-Steal</a:t>
            </a:r>
            <a:r>
              <a:rPr lang="en-US" altLang="en-US" sz="2300" dirty="0" smtClean="0">
                <a:latin typeface="Times New Roman" pitchFamily="18" charset="0"/>
                <a:cs typeface="Times New Roman" pitchFamily="18" charset="0"/>
              </a:rPr>
              <a:t>: Cache cannot be flushed before transaction commit.</a:t>
            </a:r>
          </a:p>
          <a:p>
            <a:pPr marL="342900" lvl="1" indent="-342900" algn="just">
              <a:tabLst>
                <a:tab pos="0" algn="l"/>
              </a:tabLst>
            </a:pPr>
            <a:r>
              <a:rPr lang="en-US" altLang="en-US" sz="2300" b="1" dirty="0" smtClean="0">
                <a:latin typeface="Times New Roman" pitchFamily="18" charset="0"/>
                <a:cs typeface="Times New Roman" pitchFamily="18" charset="0"/>
              </a:rPr>
              <a:t>Force</a:t>
            </a:r>
            <a:r>
              <a:rPr lang="en-US" altLang="en-US" sz="2300" dirty="0" smtClean="0">
                <a:latin typeface="Times New Roman" pitchFamily="18" charset="0"/>
                <a:cs typeface="Times New Roman" pitchFamily="18" charset="0"/>
              </a:rPr>
              <a:t>:  Cache is immediately flushed (forced) to disk.</a:t>
            </a:r>
          </a:p>
          <a:p>
            <a:pPr marL="342900" lvl="1" indent="-342900" algn="just">
              <a:tabLst>
                <a:tab pos="0" algn="l"/>
              </a:tabLst>
            </a:pPr>
            <a:r>
              <a:rPr lang="en-US" altLang="en-US" sz="2300" b="1" dirty="0" smtClean="0">
                <a:latin typeface="Times New Roman" pitchFamily="18" charset="0"/>
                <a:cs typeface="Times New Roman" pitchFamily="18" charset="0"/>
              </a:rPr>
              <a:t>No-Force</a:t>
            </a:r>
            <a:r>
              <a:rPr lang="en-US" altLang="en-US" sz="2300" dirty="0" smtClean="0">
                <a:latin typeface="Times New Roman" pitchFamily="18" charset="0"/>
                <a:cs typeface="Times New Roman" pitchFamily="18" charset="0"/>
              </a:rPr>
              <a:t>:  Cache is deferred until transaction commits.</a:t>
            </a:r>
          </a:p>
          <a:p>
            <a:pPr marL="342900" lvl="1" indent="-342900" algn="just">
              <a:tabLst>
                <a:tab pos="0" algn="l"/>
              </a:tabLst>
            </a:pPr>
            <a:r>
              <a:rPr lang="en-US" altLang="en-US" sz="2300" dirty="0" smtClean="0">
                <a:latin typeface="Times New Roman" pitchFamily="18" charset="0"/>
                <a:cs typeface="Times New Roman" pitchFamily="18" charset="0"/>
              </a:rPr>
              <a:t>These give rise to four different ways for handling recovery:</a:t>
            </a:r>
          </a:p>
          <a:p>
            <a:pPr marL="342900" lvl="1" indent="-342900" algn="just">
              <a:tabLst>
                <a:tab pos="0" algn="l"/>
              </a:tabLst>
            </a:pPr>
            <a:r>
              <a:rPr lang="en-US" altLang="en-US" sz="2300" dirty="0" smtClean="0">
                <a:latin typeface="Times New Roman" pitchFamily="18" charset="0"/>
                <a:cs typeface="Times New Roman" pitchFamily="18" charset="0"/>
              </a:rPr>
              <a:t>Steal/No-Force (Undo/Redo), Steal/Force (Undo/No-redo), No-Steal/No-Force (Redo/No-undo) and No-Steal/Force (No-undo/No-redo).</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3556" name="Rectangle 3"/>
          <p:cNvSpPr>
            <a:spLocks noGrp="1" noChangeArrowheads="1"/>
          </p:cNvSpPr>
          <p:nvPr>
            <p:ph sz="quarter" idx="1"/>
          </p:nvPr>
        </p:nvSpPr>
        <p:spPr/>
        <p:txBody>
          <a:bodyPr/>
          <a:lstStyle/>
          <a:p>
            <a:pPr algn="just">
              <a:tabLst>
                <a:tab pos="685800" algn="l"/>
              </a:tabLst>
            </a:pPr>
            <a:r>
              <a:rPr lang="en-US" altLang="en-US" sz="2300" dirty="0">
                <a:latin typeface="Times New Roman" pitchFamily="18" charset="0"/>
                <a:cs typeface="Times New Roman" pitchFamily="18" charset="0"/>
              </a:rPr>
              <a:t>Recovery Scheme </a:t>
            </a:r>
            <a:r>
              <a:rPr lang="en-US" altLang="en-US" sz="2300" b="1" dirty="0" smtClean="0">
                <a:latin typeface="Times New Roman" pitchFamily="18" charset="0"/>
                <a:cs typeface="Times New Roman" pitchFamily="18" charset="0"/>
              </a:rPr>
              <a:t>	</a:t>
            </a:r>
          </a:p>
          <a:p>
            <a:pPr algn="just">
              <a:tabLst>
                <a:tab pos="685800" algn="l"/>
              </a:tabLst>
            </a:pPr>
            <a:r>
              <a:rPr lang="en-US" altLang="en-US" sz="2300" b="1" dirty="0" smtClean="0">
                <a:latin typeface="Times New Roman" pitchFamily="18" charset="0"/>
                <a:cs typeface="Times New Roman" pitchFamily="18" charset="0"/>
              </a:rPr>
              <a:t>Deferred Update (No Undo/Redo)</a:t>
            </a:r>
          </a:p>
          <a:p>
            <a:pPr algn="just">
              <a:tabLst>
                <a:tab pos="685800" algn="l"/>
              </a:tabLst>
            </a:pPr>
            <a:r>
              <a:rPr lang="en-US" altLang="en-US" sz="2300" dirty="0" smtClean="0">
                <a:latin typeface="Times New Roman" pitchFamily="18" charset="0"/>
                <a:cs typeface="Times New Roman" pitchFamily="18" charset="0"/>
              </a:rPr>
              <a:t>The data update goes as follows:</a:t>
            </a:r>
          </a:p>
          <a:p>
            <a:pPr algn="just">
              <a:tabLst>
                <a:tab pos="685800" algn="l"/>
              </a:tabLst>
            </a:pPr>
            <a:r>
              <a:rPr lang="en-US" altLang="en-US" sz="2300" dirty="0" smtClean="0">
                <a:latin typeface="Times New Roman" pitchFamily="18" charset="0"/>
                <a:cs typeface="Times New Roman" pitchFamily="18" charset="0"/>
              </a:rPr>
              <a:t>A set of transactions records their updates in the log.</a:t>
            </a:r>
          </a:p>
          <a:p>
            <a:pPr algn="just">
              <a:tabLst>
                <a:tab pos="685800" algn="l"/>
              </a:tabLst>
            </a:pPr>
            <a:r>
              <a:rPr lang="en-US" altLang="en-US" sz="2300" dirty="0" smtClean="0">
                <a:latin typeface="Times New Roman" pitchFamily="18" charset="0"/>
                <a:cs typeface="Times New Roman" pitchFamily="18" charset="0"/>
              </a:rPr>
              <a:t>At commit point under WAL scheme these updates are saved on database disk.</a:t>
            </a:r>
          </a:p>
          <a:p>
            <a:pPr algn="just">
              <a:tabLst>
                <a:tab pos="685800" algn="l"/>
              </a:tabLst>
            </a:pPr>
            <a:r>
              <a:rPr lang="en-US" altLang="en-US" sz="2300" dirty="0" smtClean="0">
                <a:latin typeface="Times New Roman" pitchFamily="18" charset="0"/>
                <a:cs typeface="Times New Roman" pitchFamily="18" charset="0"/>
              </a:rPr>
              <a:t>After reboot from a failure the log is used to redo all the transactions affected by this failure.  No undo is required because no AFIM is flushed to the disk before a transaction commits.</a:t>
            </a:r>
          </a:p>
          <a:p>
            <a:pPr marL="1143000" lvl="1" indent="-457200" algn="just" eaLnBrk="1" hangingPunct="1">
              <a:buFontTx/>
              <a:buNone/>
              <a:tabLst>
                <a:tab pos="685800" algn="l"/>
              </a:tabLst>
            </a:pPr>
            <a:endParaRPr lang="en-US" alt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4580" name="Rectangle 3"/>
          <p:cNvSpPr>
            <a:spLocks noGrp="1" noChangeArrowheads="1"/>
          </p:cNvSpPr>
          <p:nvPr>
            <p:ph sz="quarter" idx="1"/>
          </p:nvPr>
        </p:nvSpPr>
        <p:spPr/>
        <p:txBody>
          <a:bodyPr>
            <a:normAutofit/>
          </a:bodyPr>
          <a:lstStyle/>
          <a:p>
            <a:pPr algn="just"/>
            <a:r>
              <a:rPr lang="en-US" altLang="en-US" sz="2300" b="1" dirty="0" smtClean="0">
                <a:latin typeface="Times New Roman" pitchFamily="18" charset="0"/>
                <a:cs typeface="Times New Roman" pitchFamily="18" charset="0"/>
              </a:rPr>
              <a:t>Deferred </a:t>
            </a:r>
            <a:r>
              <a:rPr lang="en-US" altLang="en-US" sz="2300" b="1" dirty="0">
                <a:latin typeface="Times New Roman" pitchFamily="18" charset="0"/>
                <a:cs typeface="Times New Roman" pitchFamily="18" charset="0"/>
              </a:rPr>
              <a:t>Update in a single-user system</a:t>
            </a:r>
          </a:p>
          <a:p>
            <a:pPr algn="just"/>
            <a:r>
              <a:rPr lang="en-US" altLang="en-US" sz="2300" dirty="0" smtClean="0">
                <a:latin typeface="Times New Roman" pitchFamily="18" charset="0"/>
                <a:cs typeface="Times New Roman" pitchFamily="18" charset="0"/>
              </a:rPr>
              <a:t>There </a:t>
            </a:r>
            <a:r>
              <a:rPr lang="en-US" altLang="en-US" sz="2300" dirty="0">
                <a:latin typeface="Times New Roman" pitchFamily="18" charset="0"/>
                <a:cs typeface="Times New Roman" pitchFamily="18" charset="0"/>
              </a:rPr>
              <a:t>is no concurrent data sharing in a single user system.  The data update goes as follows:</a:t>
            </a:r>
          </a:p>
          <a:p>
            <a:pPr lvl="1" algn="just"/>
            <a:r>
              <a:rPr lang="en-US" altLang="en-US" sz="2100" dirty="0" smtClean="0">
                <a:latin typeface="Times New Roman" pitchFamily="18" charset="0"/>
                <a:cs typeface="Times New Roman" pitchFamily="18" charset="0"/>
              </a:rPr>
              <a:t>A </a:t>
            </a:r>
            <a:r>
              <a:rPr lang="en-US" altLang="en-US" sz="2100" dirty="0">
                <a:latin typeface="Times New Roman" pitchFamily="18" charset="0"/>
                <a:cs typeface="Times New Roman" pitchFamily="18" charset="0"/>
              </a:rPr>
              <a:t>set of transactions records their updates in the log.</a:t>
            </a:r>
          </a:p>
          <a:p>
            <a:pPr lvl="1" algn="just"/>
            <a:r>
              <a:rPr lang="en-US" altLang="en-US" sz="2100" dirty="0">
                <a:latin typeface="Times New Roman" pitchFamily="18" charset="0"/>
                <a:cs typeface="Times New Roman" pitchFamily="18" charset="0"/>
              </a:rPr>
              <a:t>At commit point under WAL scheme these updates are saved on database disk.</a:t>
            </a:r>
          </a:p>
          <a:p>
            <a:pPr lvl="1" algn="just"/>
            <a:r>
              <a:rPr lang="en-US" altLang="en-US" sz="2100" dirty="0" smtClean="0">
                <a:latin typeface="Times New Roman" pitchFamily="18" charset="0"/>
                <a:cs typeface="Times New Roman" pitchFamily="18" charset="0"/>
              </a:rPr>
              <a:t>After reboot from a failure the log is used to redo all the transactions affected by this failure.  No undo is required because no AFIM is flushed to the disk before a transaction commits.</a:t>
            </a:r>
          </a:p>
          <a:p>
            <a:pPr marL="1143000" lvl="1" indent="-457200" algn="just" eaLnBrk="1" hangingPunct="1">
              <a:buFontTx/>
              <a:buNone/>
              <a:tabLst>
                <a:tab pos="342900" algn="l"/>
                <a:tab pos="1143000" algn="l"/>
              </a:tabLst>
            </a:pPr>
            <a:endParaRPr lang="en-US" altLang="en-US" sz="2400" dirty="0" smtClean="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1284288" y="152400"/>
            <a:ext cx="7173912" cy="9144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5604" name="Rectangle 4"/>
          <p:cNvSpPr>
            <a:spLocks noChangeArrowheads="1"/>
          </p:cNvSpPr>
          <p:nvPr/>
        </p:nvSpPr>
        <p:spPr bwMode="auto">
          <a:xfrm>
            <a:off x="600075" y="1066800"/>
            <a:ext cx="760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Deferred Update in a single-user system</a:t>
            </a:r>
            <a:endParaRPr lang="en-US" altLang="en-US" b="0" dirty="0"/>
          </a:p>
        </p:txBody>
      </p:sp>
      <p:sp>
        <p:nvSpPr>
          <p:cNvPr id="25605" name="Rectangle 5"/>
          <p:cNvSpPr>
            <a:spLocks noChangeArrowheads="1"/>
          </p:cNvSpPr>
          <p:nvPr/>
        </p:nvSpPr>
        <p:spPr bwMode="auto">
          <a:xfrm>
            <a:off x="1103313" y="1524000"/>
            <a:ext cx="7354887"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685800" algn="l"/>
                <a:tab pos="3260725" algn="l"/>
              </a:tabLst>
            </a:pPr>
            <a:r>
              <a:rPr lang="en-US" altLang="en-US" sz="2000" b="0" dirty="0"/>
              <a:t>(a)	      T1		T2</a:t>
            </a:r>
          </a:p>
          <a:p>
            <a:pPr lvl="1" eaLnBrk="1" hangingPunct="1">
              <a:tabLst>
                <a:tab pos="685800" algn="l"/>
                <a:tab pos="3260725" algn="l"/>
              </a:tabLst>
            </a:pPr>
            <a:r>
              <a:rPr lang="en-US" altLang="en-US" sz="2000" b="0" dirty="0"/>
              <a:t>	</a:t>
            </a:r>
            <a:r>
              <a:rPr lang="en-US" altLang="en-US" sz="2000" b="0" dirty="0" err="1"/>
              <a:t>read_item</a:t>
            </a:r>
            <a:r>
              <a:rPr lang="en-US" altLang="en-US" sz="2000" b="0" dirty="0"/>
              <a:t> (A)	</a:t>
            </a:r>
            <a:r>
              <a:rPr lang="en-US" altLang="en-US" sz="2000" b="0" dirty="0" err="1"/>
              <a:t>read_item</a:t>
            </a:r>
            <a:r>
              <a:rPr lang="en-US" altLang="en-US" sz="2000" b="0" dirty="0"/>
              <a:t> (B)</a:t>
            </a:r>
          </a:p>
          <a:p>
            <a:pPr lvl="1" eaLnBrk="1" hangingPunct="1">
              <a:tabLst>
                <a:tab pos="685800" algn="l"/>
                <a:tab pos="3260725" algn="l"/>
              </a:tabLst>
            </a:pPr>
            <a:r>
              <a:rPr lang="en-US" altLang="en-US" sz="2000" b="0" dirty="0"/>
              <a:t>	</a:t>
            </a:r>
            <a:r>
              <a:rPr lang="en-US" altLang="en-US" sz="2000" b="0" dirty="0" err="1"/>
              <a:t>read_item</a:t>
            </a:r>
            <a:r>
              <a:rPr lang="en-US" altLang="en-US" sz="2000" b="0" dirty="0"/>
              <a:t> (D)	</a:t>
            </a:r>
            <a:r>
              <a:rPr lang="en-US" altLang="en-US" sz="2000" b="0" dirty="0" err="1"/>
              <a:t>write_item</a:t>
            </a:r>
            <a:r>
              <a:rPr lang="en-US" altLang="en-US" sz="2000" b="0" dirty="0"/>
              <a:t> (B)</a:t>
            </a:r>
          </a:p>
          <a:p>
            <a:pPr lvl="1" eaLnBrk="1" hangingPunct="1">
              <a:tabLst>
                <a:tab pos="685800" algn="l"/>
                <a:tab pos="3260725" algn="l"/>
              </a:tabLst>
            </a:pPr>
            <a:r>
              <a:rPr lang="en-US" altLang="en-US" sz="2000" b="0" dirty="0"/>
              <a:t>	</a:t>
            </a:r>
            <a:r>
              <a:rPr lang="en-US" altLang="en-US" sz="2000" b="0" dirty="0" err="1"/>
              <a:t>write_item</a:t>
            </a:r>
            <a:r>
              <a:rPr lang="en-US" altLang="en-US" sz="2000" b="0" dirty="0"/>
              <a:t> (D)	</a:t>
            </a:r>
            <a:r>
              <a:rPr lang="en-US" altLang="en-US" sz="2000" b="0" dirty="0" err="1"/>
              <a:t>read_item</a:t>
            </a:r>
            <a:r>
              <a:rPr lang="en-US" altLang="en-US" sz="2000" b="0" dirty="0"/>
              <a:t> (D)</a:t>
            </a:r>
          </a:p>
          <a:p>
            <a:pPr lvl="1" eaLnBrk="1" hangingPunct="1">
              <a:tabLst>
                <a:tab pos="685800" algn="l"/>
                <a:tab pos="3260725" algn="l"/>
              </a:tabLst>
            </a:pPr>
            <a:r>
              <a:rPr lang="en-US" altLang="en-US" sz="2000" b="0" dirty="0"/>
              <a:t>		</a:t>
            </a:r>
            <a:r>
              <a:rPr lang="en-US" altLang="en-US" sz="2000" b="0" dirty="0" err="1"/>
              <a:t>write_item</a:t>
            </a:r>
            <a:r>
              <a:rPr lang="en-US" altLang="en-US" sz="2000" b="0" dirty="0"/>
              <a:t> (A)</a:t>
            </a:r>
          </a:p>
        </p:txBody>
      </p:sp>
      <p:sp>
        <p:nvSpPr>
          <p:cNvPr id="25606" name="Rectangle 7"/>
          <p:cNvSpPr>
            <a:spLocks noChangeArrowheads="1"/>
          </p:cNvSpPr>
          <p:nvPr/>
        </p:nvSpPr>
        <p:spPr bwMode="auto">
          <a:xfrm>
            <a:off x="1103313" y="3140075"/>
            <a:ext cx="7354887"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tabLst>
                <a:tab pos="685800" algn="l"/>
                <a:tab pos="3200400" algn="l"/>
              </a:tabLst>
            </a:pPr>
            <a:r>
              <a:rPr lang="en-US" altLang="en-US" sz="2000" b="0" dirty="0"/>
              <a:t>(b)</a:t>
            </a:r>
          </a:p>
          <a:p>
            <a:pPr lvl="1" eaLnBrk="1" hangingPunct="1">
              <a:tabLst>
                <a:tab pos="685800" algn="l"/>
                <a:tab pos="3200400" algn="l"/>
              </a:tabLst>
            </a:pPr>
            <a:r>
              <a:rPr lang="en-US" altLang="en-US" sz="2000" b="0" dirty="0"/>
              <a:t>	[</a:t>
            </a:r>
            <a:r>
              <a:rPr lang="en-US" altLang="en-US" sz="2000" b="0" dirty="0" err="1"/>
              <a:t>start_transaction</a:t>
            </a:r>
            <a:r>
              <a:rPr lang="en-US" altLang="en-US" sz="2000" b="0" dirty="0"/>
              <a:t>, T1]</a:t>
            </a:r>
          </a:p>
          <a:p>
            <a:pPr lvl="1" eaLnBrk="1" hangingPunct="1">
              <a:tabLst>
                <a:tab pos="685800" algn="l"/>
                <a:tab pos="3200400" algn="l"/>
              </a:tabLst>
            </a:pPr>
            <a:r>
              <a:rPr lang="en-US" altLang="en-US" sz="2000" b="0" dirty="0"/>
              <a:t>	[</a:t>
            </a:r>
            <a:r>
              <a:rPr lang="en-US" altLang="en-US" sz="2000" b="0" dirty="0" err="1"/>
              <a:t>write_item</a:t>
            </a:r>
            <a:r>
              <a:rPr lang="en-US" altLang="en-US" sz="2000" b="0" dirty="0"/>
              <a:t>, T1, D, 20]</a:t>
            </a:r>
          </a:p>
          <a:p>
            <a:pPr lvl="1" eaLnBrk="1" hangingPunct="1">
              <a:tabLst>
                <a:tab pos="685800" algn="l"/>
                <a:tab pos="3200400" algn="l"/>
              </a:tabLst>
            </a:pPr>
            <a:r>
              <a:rPr lang="en-US" altLang="en-US" sz="2000" b="0" dirty="0"/>
              <a:t>	[commit T1]</a:t>
            </a:r>
          </a:p>
          <a:p>
            <a:pPr lvl="1" eaLnBrk="1" hangingPunct="1">
              <a:tabLst>
                <a:tab pos="685800" algn="l"/>
                <a:tab pos="3200400" algn="l"/>
              </a:tabLst>
            </a:pPr>
            <a:r>
              <a:rPr lang="en-US" altLang="en-US" sz="2000" b="0" dirty="0"/>
              <a:t>	[</a:t>
            </a:r>
            <a:r>
              <a:rPr lang="en-US" altLang="en-US" sz="2000" b="0" dirty="0" err="1"/>
              <a:t>start_transaction</a:t>
            </a:r>
            <a:r>
              <a:rPr lang="en-US" altLang="en-US" sz="2000" b="0" dirty="0"/>
              <a:t>, T2]</a:t>
            </a:r>
          </a:p>
          <a:p>
            <a:pPr lvl="1" eaLnBrk="1" hangingPunct="1">
              <a:tabLst>
                <a:tab pos="685800" algn="l"/>
                <a:tab pos="3200400" algn="l"/>
              </a:tabLst>
            </a:pPr>
            <a:r>
              <a:rPr lang="en-US" altLang="en-US" sz="2000" b="0" dirty="0"/>
              <a:t>	[</a:t>
            </a:r>
            <a:r>
              <a:rPr lang="en-US" altLang="en-US" sz="2000" b="0" dirty="0" err="1"/>
              <a:t>write_item</a:t>
            </a:r>
            <a:r>
              <a:rPr lang="en-US" altLang="en-US" sz="2000" b="0" dirty="0"/>
              <a:t>, T2, B, 10]</a:t>
            </a:r>
          </a:p>
          <a:p>
            <a:pPr lvl="1" eaLnBrk="1" hangingPunct="1">
              <a:tabLst>
                <a:tab pos="685800" algn="l"/>
                <a:tab pos="3200400" algn="l"/>
              </a:tabLst>
            </a:pPr>
            <a:r>
              <a:rPr lang="en-US" altLang="en-US" sz="2000" b="0" dirty="0"/>
              <a:t>	[</a:t>
            </a:r>
            <a:r>
              <a:rPr lang="en-US" altLang="en-US" sz="2000" b="0" dirty="0" err="1"/>
              <a:t>write_item</a:t>
            </a:r>
            <a:r>
              <a:rPr lang="en-US" altLang="en-US" sz="2000" b="0" dirty="0"/>
              <a:t>, T2, D, 25] </a:t>
            </a:r>
            <a:r>
              <a:rPr lang="en-US" altLang="en-US" sz="2000" b="0" dirty="0">
                <a:sym typeface="Symbol" pitchFamily="18" charset="2"/>
              </a:rPr>
              <a:t> </a:t>
            </a:r>
            <a:r>
              <a:rPr lang="en-US" altLang="en-US" sz="2000" b="0" dirty="0"/>
              <a:t>system crash</a:t>
            </a:r>
          </a:p>
          <a:p>
            <a:pPr lvl="1" eaLnBrk="1" hangingPunct="1">
              <a:tabLst>
                <a:tab pos="685800" algn="l"/>
                <a:tab pos="3200400" algn="l"/>
              </a:tabLst>
            </a:pPr>
            <a:endParaRPr lang="en-US" altLang="en-US" sz="2000" b="0" dirty="0"/>
          </a:p>
          <a:p>
            <a:pPr lvl="1" eaLnBrk="1" hangingPunct="1">
              <a:tabLst>
                <a:tab pos="685800" algn="l"/>
                <a:tab pos="3200400" algn="l"/>
              </a:tabLst>
            </a:pPr>
            <a:r>
              <a:rPr lang="en-US" altLang="en-US" sz="2000" b="0" dirty="0"/>
              <a:t>The [</a:t>
            </a:r>
            <a:r>
              <a:rPr lang="en-US" altLang="en-US" sz="2000" b="0" dirty="0" err="1"/>
              <a:t>write_item</a:t>
            </a:r>
            <a:r>
              <a:rPr lang="en-US" altLang="en-US" sz="2000" b="0" dirty="0"/>
              <a:t>, …] operations of T1 are redone.</a:t>
            </a:r>
          </a:p>
          <a:p>
            <a:pPr lvl="1" eaLnBrk="1" hangingPunct="1">
              <a:tabLst>
                <a:tab pos="685800" algn="l"/>
                <a:tab pos="3200400" algn="l"/>
              </a:tabLst>
            </a:pPr>
            <a:r>
              <a:rPr lang="en-US" altLang="en-US" sz="2000" b="0" dirty="0"/>
              <a:t>T2 log entries are ignored by the recovery manager.</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a:xfrm>
            <a:off x="1284288" y="400050"/>
            <a:ext cx="7173912" cy="723900"/>
          </a:xfrm>
        </p:spPr>
        <p:txBody>
          <a:bodyPr/>
          <a:lstStyle/>
          <a:p>
            <a:pPr eaLnBrk="1" hangingPunct="1"/>
            <a:r>
              <a:rPr lang="en-US" altLang="en-US" sz="3600" b="1" dirty="0" smtClean="0">
                <a:cs typeface="Times New Roman" pitchFamily="18" charset="0"/>
              </a:rPr>
              <a:t>Database Recovery</a:t>
            </a:r>
            <a:endParaRPr lang="en-US" altLang="en-US" sz="3600" b="1" dirty="0" smtClean="0"/>
          </a:p>
        </p:txBody>
      </p:sp>
      <p:graphicFrame>
        <p:nvGraphicFramePr>
          <p:cNvPr id="26630" name="Object 9"/>
          <p:cNvGraphicFramePr>
            <a:graphicFrameLocks noGrp="1" noChangeAspect="1"/>
          </p:cNvGraphicFramePr>
          <p:nvPr>
            <p:ph sz="quarter" idx="1"/>
            <p:extLst>
              <p:ext uri="{D42A27DB-BD31-4B8C-83A1-F6EECF244321}">
                <p14:modId xmlns:p14="http://schemas.microsoft.com/office/powerpoint/2010/main" val="788123586"/>
              </p:ext>
            </p:extLst>
          </p:nvPr>
        </p:nvGraphicFramePr>
        <p:xfrm>
          <a:off x="1114425" y="3433583"/>
          <a:ext cx="7372350" cy="1690687"/>
        </p:xfrm>
        <a:graphic>
          <a:graphicData uri="http://schemas.openxmlformats.org/presentationml/2006/ole">
            <mc:AlternateContent xmlns:mc="http://schemas.openxmlformats.org/markup-compatibility/2006">
              <mc:Choice xmlns:v="urn:schemas-microsoft-com:vml" Requires="v">
                <p:oleObj spid="_x0000_s26684" name="VISIO" r:id="rId3" imgW="7373112" imgH="1690116" progId="Visio.Drawing.6">
                  <p:embed/>
                </p:oleObj>
              </mc:Choice>
              <mc:Fallback>
                <p:oleObj name="VISIO" r:id="rId3" imgW="7373112" imgH="1690116" progId="Visio.Drawing.6">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425" y="3433583"/>
                        <a:ext cx="7372350" cy="169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8" name="Rectangle 3"/>
          <p:cNvSpPr>
            <a:spLocks noChangeArrowheads="1"/>
          </p:cNvSpPr>
          <p:nvPr/>
        </p:nvSpPr>
        <p:spPr bwMode="auto">
          <a:xfrm>
            <a:off x="695325" y="1123950"/>
            <a:ext cx="760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Deferred Update with concurrent users</a:t>
            </a:r>
            <a:endParaRPr lang="en-US" altLang="en-US" b="0" dirty="0"/>
          </a:p>
        </p:txBody>
      </p:sp>
      <p:sp>
        <p:nvSpPr>
          <p:cNvPr id="26629" name="Rectangle 6"/>
          <p:cNvSpPr>
            <a:spLocks noChangeArrowheads="1"/>
          </p:cNvSpPr>
          <p:nvPr/>
        </p:nvSpPr>
        <p:spPr bwMode="auto">
          <a:xfrm>
            <a:off x="914400" y="1581150"/>
            <a:ext cx="7896225"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r>
              <a:rPr lang="en-US" altLang="en-US" sz="2000" b="0" dirty="0"/>
              <a:t>This environment requires some concurrency control mechanism to guarantee </a:t>
            </a:r>
            <a:r>
              <a:rPr lang="en-US" altLang="en-US" sz="2000" dirty="0"/>
              <a:t>isolation</a:t>
            </a:r>
            <a:r>
              <a:rPr lang="en-US" altLang="en-US" sz="2000" b="0" dirty="0"/>
              <a:t> property of transactions. In a system recovery transactions which were recorded in the log after the last checkpoint were </a:t>
            </a:r>
            <a:r>
              <a:rPr lang="en-US" altLang="en-US" sz="2000" dirty="0"/>
              <a:t>redone</a:t>
            </a:r>
            <a:r>
              <a:rPr lang="en-US" altLang="en-US" sz="2000" b="0" dirty="0"/>
              <a:t>.  The recovery manager may scan some of the transactions recorded before the checkpoint to get the AFIMs.  </a:t>
            </a:r>
          </a:p>
        </p:txBody>
      </p:sp>
      <p:sp>
        <p:nvSpPr>
          <p:cNvPr id="26631" name="Rectangle 10"/>
          <p:cNvSpPr>
            <a:spLocks noChangeArrowheads="1"/>
          </p:cNvSpPr>
          <p:nvPr/>
        </p:nvSpPr>
        <p:spPr bwMode="auto">
          <a:xfrm>
            <a:off x="2198688" y="5749925"/>
            <a:ext cx="50625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sz="2000" dirty="0"/>
              <a:t>Recovery in a concurrent users environment.</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1284288" y="238125"/>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7652" name="Rectangle 3"/>
          <p:cNvSpPr>
            <a:spLocks noChangeArrowheads="1"/>
          </p:cNvSpPr>
          <p:nvPr/>
        </p:nvSpPr>
        <p:spPr bwMode="auto">
          <a:xfrm>
            <a:off x="857250" y="895350"/>
            <a:ext cx="760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Deferred Update with concurrent users</a:t>
            </a:r>
            <a:endParaRPr lang="en-US" altLang="en-US" b="0" dirty="0"/>
          </a:p>
        </p:txBody>
      </p:sp>
      <p:sp>
        <p:nvSpPr>
          <p:cNvPr id="27653" name="Rectangle 9"/>
          <p:cNvSpPr>
            <a:spLocks noChangeArrowheads="1"/>
          </p:cNvSpPr>
          <p:nvPr/>
        </p:nvSpPr>
        <p:spPr bwMode="auto">
          <a:xfrm>
            <a:off x="1284288" y="3028192"/>
            <a:ext cx="7466012"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1" indent="-342900" eaLnBrk="1" hangingPunct="1">
              <a:tabLst>
                <a:tab pos="0" algn="l"/>
                <a:tab pos="4914900" algn="l"/>
                <a:tab pos="5372100" algn="l"/>
              </a:tabLst>
            </a:pPr>
            <a:r>
              <a:rPr lang="en-US" altLang="en-US" sz="1400" dirty="0"/>
              <a:t>(b)	[</a:t>
            </a:r>
            <a:r>
              <a:rPr lang="en-US" altLang="en-US" sz="1400" dirty="0" err="1"/>
              <a:t>start_transaction</a:t>
            </a:r>
            <a:r>
              <a:rPr lang="en-US" altLang="en-US" sz="1400" dirty="0"/>
              <a:t>, T1]</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T1, D, 20]</a:t>
            </a:r>
          </a:p>
          <a:p>
            <a:pPr lvl="1" indent="-342900" eaLnBrk="1" hangingPunct="1">
              <a:tabLst>
                <a:tab pos="0" algn="l"/>
                <a:tab pos="4914900" algn="l"/>
                <a:tab pos="5372100" algn="l"/>
              </a:tabLst>
            </a:pPr>
            <a:r>
              <a:rPr lang="en-US" altLang="en-US" sz="1400" dirty="0"/>
              <a:t>	[commit, T1]	</a:t>
            </a:r>
          </a:p>
          <a:p>
            <a:pPr lvl="1" indent="-342900" eaLnBrk="1" hangingPunct="1">
              <a:tabLst>
                <a:tab pos="0" algn="l"/>
                <a:tab pos="4914900" algn="l"/>
                <a:tab pos="5372100" algn="l"/>
              </a:tabLst>
            </a:pPr>
            <a:r>
              <a:rPr lang="en-US" altLang="en-US" sz="1400" dirty="0"/>
              <a:t>	[checkpoint]</a:t>
            </a:r>
          </a:p>
          <a:p>
            <a:pPr lvl="1" indent="-342900" eaLnBrk="1" hangingPunct="1">
              <a:tabLst>
                <a:tab pos="0" algn="l"/>
                <a:tab pos="4914900" algn="l"/>
                <a:tab pos="5372100" algn="l"/>
              </a:tabLst>
            </a:pPr>
            <a:r>
              <a:rPr lang="en-US" altLang="en-US" sz="1400" dirty="0"/>
              <a:t>	[</a:t>
            </a:r>
            <a:r>
              <a:rPr lang="en-US" altLang="en-US" sz="1400" dirty="0" err="1"/>
              <a:t>start_transaction</a:t>
            </a:r>
            <a:r>
              <a:rPr lang="en-US" altLang="en-US" sz="1400" dirty="0"/>
              <a:t>, T4]</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T4, B, 15]	</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T4, A, 20]</a:t>
            </a:r>
          </a:p>
          <a:p>
            <a:pPr lvl="1" indent="-342900" eaLnBrk="1" hangingPunct="1">
              <a:tabLst>
                <a:tab pos="0" algn="l"/>
                <a:tab pos="4914900" algn="l"/>
                <a:tab pos="5372100" algn="l"/>
              </a:tabLst>
            </a:pPr>
            <a:r>
              <a:rPr lang="en-US" altLang="en-US" sz="1400" dirty="0"/>
              <a:t>	[commit, T4]</a:t>
            </a:r>
          </a:p>
          <a:p>
            <a:pPr lvl="1" indent="-342900" eaLnBrk="1" hangingPunct="1">
              <a:tabLst>
                <a:tab pos="0" algn="l"/>
                <a:tab pos="4914900" algn="l"/>
                <a:tab pos="5372100" algn="l"/>
              </a:tabLst>
            </a:pPr>
            <a:r>
              <a:rPr lang="en-US" altLang="en-US" sz="1400" dirty="0"/>
              <a:t>	[</a:t>
            </a:r>
            <a:r>
              <a:rPr lang="en-US" altLang="en-US" sz="1400" dirty="0" err="1"/>
              <a:t>start_transaction</a:t>
            </a:r>
            <a:r>
              <a:rPr lang="en-US" altLang="en-US" sz="1400" dirty="0"/>
              <a:t> T2]</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T2, B, 12]				</a:t>
            </a:r>
          </a:p>
          <a:p>
            <a:pPr lvl="1" indent="-342900" eaLnBrk="1" hangingPunct="1">
              <a:tabLst>
                <a:tab pos="0" algn="l"/>
                <a:tab pos="4914900" algn="l"/>
                <a:tab pos="5372100" algn="l"/>
              </a:tabLst>
            </a:pPr>
            <a:r>
              <a:rPr lang="en-US" altLang="en-US" sz="1400" dirty="0"/>
              <a:t>	[</a:t>
            </a:r>
            <a:r>
              <a:rPr lang="en-US" altLang="en-US" sz="1400" dirty="0" err="1"/>
              <a:t>start_transaction</a:t>
            </a:r>
            <a:r>
              <a:rPr lang="en-US" altLang="en-US" sz="1400" dirty="0"/>
              <a:t>, T3]</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T3, A, 30]				</a:t>
            </a:r>
          </a:p>
          <a:p>
            <a:pPr lvl="1" indent="-342900" eaLnBrk="1" hangingPunct="1">
              <a:tabLst>
                <a:tab pos="0" algn="l"/>
                <a:tab pos="4914900" algn="l"/>
                <a:tab pos="5372100" algn="l"/>
              </a:tabLst>
            </a:pPr>
            <a:r>
              <a:rPr lang="en-US" altLang="en-US" sz="1400" dirty="0"/>
              <a:t>	[</a:t>
            </a:r>
            <a:r>
              <a:rPr lang="en-US" altLang="en-US" sz="1400" dirty="0" err="1"/>
              <a:t>write_item</a:t>
            </a:r>
            <a:r>
              <a:rPr lang="en-US" altLang="en-US" sz="1400" dirty="0"/>
              <a:t>, T2, D, 25]   </a:t>
            </a:r>
            <a:r>
              <a:rPr lang="en-US" altLang="en-US" sz="1400" dirty="0">
                <a:sym typeface="Symbol" pitchFamily="18" charset="2"/>
              </a:rPr>
              <a:t></a:t>
            </a:r>
            <a:r>
              <a:rPr lang="en-US" altLang="en-US" sz="1400" dirty="0"/>
              <a:t> system crash 	</a:t>
            </a:r>
          </a:p>
          <a:p>
            <a:pPr lvl="1" indent="-342900" eaLnBrk="1" hangingPunct="1">
              <a:tabLst>
                <a:tab pos="0" algn="l"/>
                <a:tab pos="4914900" algn="l"/>
                <a:tab pos="5372100" algn="l"/>
              </a:tabLst>
            </a:pPr>
            <a:r>
              <a:rPr lang="en-US" altLang="en-US" sz="1400" dirty="0"/>
              <a:t>	</a:t>
            </a:r>
          </a:p>
          <a:p>
            <a:pPr lvl="1" indent="-342900" eaLnBrk="1" hangingPunct="1">
              <a:tabLst>
                <a:tab pos="0" algn="l"/>
                <a:tab pos="4914900" algn="l"/>
                <a:tab pos="5372100" algn="l"/>
              </a:tabLst>
            </a:pPr>
            <a:r>
              <a:rPr lang="en-US" altLang="en-US" sz="1400" dirty="0"/>
              <a:t>T2 and T3 are ignored because they did not reach their commit points.</a:t>
            </a:r>
          </a:p>
          <a:p>
            <a:pPr lvl="1" indent="-342900" eaLnBrk="1" hangingPunct="1">
              <a:tabLst>
                <a:tab pos="0" algn="l"/>
                <a:tab pos="4914900" algn="l"/>
                <a:tab pos="5372100" algn="l"/>
              </a:tabLst>
            </a:pPr>
            <a:r>
              <a:rPr lang="en-US" altLang="en-US" sz="1400" dirty="0"/>
              <a:t>T4 is redone because its commit point is after the last checkpoint.</a:t>
            </a:r>
          </a:p>
        </p:txBody>
      </p:sp>
      <p:sp>
        <p:nvSpPr>
          <p:cNvPr id="27654" name="Rectangle 10"/>
          <p:cNvSpPr>
            <a:spLocks noChangeArrowheads="1"/>
          </p:cNvSpPr>
          <p:nvPr/>
        </p:nvSpPr>
        <p:spPr bwMode="auto">
          <a:xfrm>
            <a:off x="857250" y="1352550"/>
            <a:ext cx="789305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hangingPunct="1">
              <a:tabLst>
                <a:tab pos="1943100" algn="l"/>
                <a:tab pos="3657600" algn="l"/>
                <a:tab pos="5486400" algn="l"/>
              </a:tabLst>
            </a:pPr>
            <a:r>
              <a:rPr lang="en-US" altLang="en-US" sz="1400" dirty="0"/>
              <a:t>  (a)   </a:t>
            </a:r>
            <a:r>
              <a:rPr lang="en-US" altLang="en-US" sz="1800" dirty="0"/>
              <a:t>T1	T2	T3	T4</a:t>
            </a:r>
          </a:p>
          <a:p>
            <a:pPr lvl="1" eaLnBrk="1" hangingPunct="1">
              <a:tabLst>
                <a:tab pos="1943100" algn="l"/>
                <a:tab pos="3657600" algn="l"/>
                <a:tab pos="5486400" algn="l"/>
              </a:tabLst>
            </a:pPr>
            <a:r>
              <a:rPr lang="en-US" altLang="en-US" sz="1800" dirty="0" err="1"/>
              <a:t>read_item</a:t>
            </a:r>
            <a:r>
              <a:rPr lang="en-US" altLang="en-US" sz="1800" dirty="0"/>
              <a:t> (A)	</a:t>
            </a:r>
            <a:r>
              <a:rPr lang="en-US" altLang="en-US" sz="1800" dirty="0" err="1"/>
              <a:t>read_item</a:t>
            </a:r>
            <a:r>
              <a:rPr lang="en-US" altLang="en-US" sz="1800" dirty="0"/>
              <a:t> (B)	 </a:t>
            </a:r>
            <a:r>
              <a:rPr lang="en-US" altLang="en-US" sz="1800" dirty="0" err="1"/>
              <a:t>read_item</a:t>
            </a:r>
            <a:r>
              <a:rPr lang="en-US" altLang="en-US" sz="1800" dirty="0"/>
              <a:t> (A)	</a:t>
            </a:r>
            <a:r>
              <a:rPr lang="en-US" altLang="en-US" sz="1800" dirty="0" err="1"/>
              <a:t>read_item</a:t>
            </a:r>
            <a:r>
              <a:rPr lang="en-US" altLang="en-US" sz="1800" dirty="0"/>
              <a:t> (B)</a:t>
            </a:r>
          </a:p>
          <a:p>
            <a:pPr lvl="1" eaLnBrk="1" hangingPunct="1">
              <a:tabLst>
                <a:tab pos="1943100" algn="l"/>
                <a:tab pos="3657600" algn="l"/>
                <a:tab pos="5486400" algn="l"/>
              </a:tabLst>
            </a:pPr>
            <a:r>
              <a:rPr lang="en-US" altLang="en-US" sz="1800" dirty="0" err="1"/>
              <a:t>read_item</a:t>
            </a:r>
            <a:r>
              <a:rPr lang="en-US" altLang="en-US" sz="1800" dirty="0"/>
              <a:t> (D)	</a:t>
            </a:r>
            <a:r>
              <a:rPr lang="en-US" altLang="en-US" sz="1800" dirty="0" err="1"/>
              <a:t>write_item</a:t>
            </a:r>
            <a:r>
              <a:rPr lang="en-US" altLang="en-US" sz="1800" dirty="0"/>
              <a:t> (B)	 </a:t>
            </a:r>
            <a:r>
              <a:rPr lang="en-US" altLang="en-US" sz="1800" dirty="0" err="1"/>
              <a:t>write_item</a:t>
            </a:r>
            <a:r>
              <a:rPr lang="en-US" altLang="en-US" sz="1800" dirty="0"/>
              <a:t> (A)	</a:t>
            </a:r>
            <a:r>
              <a:rPr lang="en-US" altLang="en-US" sz="1800" dirty="0" err="1"/>
              <a:t>write_item</a:t>
            </a:r>
            <a:r>
              <a:rPr lang="en-US" altLang="en-US" sz="1800" dirty="0"/>
              <a:t> (B)</a:t>
            </a:r>
          </a:p>
          <a:p>
            <a:pPr lvl="1" eaLnBrk="1" hangingPunct="1">
              <a:tabLst>
                <a:tab pos="1943100" algn="l"/>
                <a:tab pos="3657600" algn="l"/>
                <a:tab pos="5486400" algn="l"/>
              </a:tabLst>
            </a:pPr>
            <a:r>
              <a:rPr lang="en-US" altLang="en-US" sz="1800" dirty="0" err="1"/>
              <a:t>write_item</a:t>
            </a:r>
            <a:r>
              <a:rPr lang="en-US" altLang="en-US" sz="1800" dirty="0"/>
              <a:t> (D)	</a:t>
            </a:r>
            <a:r>
              <a:rPr lang="en-US" altLang="en-US" sz="1800" dirty="0" err="1"/>
              <a:t>read_item</a:t>
            </a:r>
            <a:r>
              <a:rPr lang="en-US" altLang="en-US" sz="1800" dirty="0"/>
              <a:t> (D)	 </a:t>
            </a:r>
            <a:r>
              <a:rPr lang="en-US" altLang="en-US" sz="1800" dirty="0" err="1"/>
              <a:t>read_item</a:t>
            </a:r>
            <a:r>
              <a:rPr lang="en-US" altLang="en-US" sz="1800" dirty="0"/>
              <a:t> (C)	</a:t>
            </a:r>
            <a:r>
              <a:rPr lang="en-US" altLang="en-US" sz="1800" dirty="0" err="1"/>
              <a:t>read_item</a:t>
            </a:r>
            <a:r>
              <a:rPr lang="en-US" altLang="en-US" sz="1800" dirty="0"/>
              <a:t> (A)</a:t>
            </a:r>
          </a:p>
          <a:p>
            <a:pPr lvl="1" eaLnBrk="1" hangingPunct="1">
              <a:tabLst>
                <a:tab pos="1943100" algn="l"/>
                <a:tab pos="3657600" algn="l"/>
                <a:tab pos="5486400" algn="l"/>
              </a:tabLst>
            </a:pPr>
            <a:r>
              <a:rPr lang="en-US" altLang="en-US" sz="1800" dirty="0"/>
              <a:t>	</a:t>
            </a:r>
            <a:r>
              <a:rPr lang="en-US" altLang="en-US" sz="1800" dirty="0" err="1"/>
              <a:t>write_item</a:t>
            </a:r>
            <a:r>
              <a:rPr lang="en-US" altLang="en-US" sz="1800" dirty="0"/>
              <a:t> (D)	 </a:t>
            </a:r>
            <a:r>
              <a:rPr lang="en-US" altLang="en-US" sz="1800" dirty="0" err="1"/>
              <a:t>write_item</a:t>
            </a:r>
            <a:r>
              <a:rPr lang="en-US" altLang="en-US" sz="1800" dirty="0"/>
              <a:t> (C)	</a:t>
            </a:r>
            <a:r>
              <a:rPr lang="en-US" altLang="en-US" sz="1800" dirty="0" err="1"/>
              <a:t>write_item</a:t>
            </a:r>
            <a:r>
              <a:rPr lang="en-US" altLang="en-US" sz="1800" dirty="0"/>
              <a:t> (A)</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8674"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748C1747-EC7A-4ACC-8C96-11201B35C897}" type="slidenum">
              <a:rPr lang="en-US" altLang="en-US" sz="1600"/>
              <a:pPr/>
              <a:t>19</a:t>
            </a:fld>
            <a:endParaRPr lang="en-US" altLang="en-US" sz="1600"/>
          </a:p>
        </p:txBody>
      </p:sp>
      <p:sp>
        <p:nvSpPr>
          <p:cNvPr id="28676" name="Rectangle 3"/>
          <p:cNvSpPr>
            <a:spLocks noChangeArrowheads="1"/>
          </p:cNvSpPr>
          <p:nvPr/>
        </p:nvSpPr>
        <p:spPr bwMode="auto">
          <a:xfrm>
            <a:off x="666750" y="1123950"/>
            <a:ext cx="760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a:solidFill>
                  <a:schemeClr val="bg2"/>
                </a:solidFill>
              </a:rPr>
              <a:t>Deferred Update with concurrent users</a:t>
            </a:r>
            <a:endParaRPr lang="en-US" altLang="en-US" b="0">
              <a:solidFill>
                <a:schemeClr val="bg2"/>
              </a:solidFill>
            </a:endParaRPr>
          </a:p>
        </p:txBody>
      </p:sp>
      <p:sp>
        <p:nvSpPr>
          <p:cNvPr id="28677" name="Rectangle 4"/>
          <p:cNvSpPr>
            <a:spLocks noChangeArrowheads="1"/>
          </p:cNvSpPr>
          <p:nvPr/>
        </p:nvSpPr>
        <p:spPr bwMode="auto">
          <a:xfrm>
            <a:off x="1065213" y="1581150"/>
            <a:ext cx="7745412"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sz="2000" b="0" dirty="0"/>
              <a:t>Two tables are required for implementing this protocol:</a:t>
            </a:r>
          </a:p>
          <a:p>
            <a:pPr algn="just" eaLnBrk="1" hangingPunct="1"/>
            <a:endParaRPr lang="en-US" altLang="en-US" sz="2000" b="0" dirty="0"/>
          </a:p>
          <a:p>
            <a:pPr algn="just" eaLnBrk="1" hangingPunct="1"/>
            <a:r>
              <a:rPr lang="en-US" altLang="en-US" sz="2000" dirty="0"/>
              <a:t>Active table</a:t>
            </a:r>
            <a:r>
              <a:rPr lang="en-US" altLang="en-US" sz="2000" b="0" dirty="0"/>
              <a:t>:  All active transactions are entered in this table.</a:t>
            </a:r>
          </a:p>
          <a:p>
            <a:pPr algn="just" eaLnBrk="1" hangingPunct="1"/>
            <a:r>
              <a:rPr lang="en-US" altLang="en-US" sz="2000" dirty="0"/>
              <a:t>Commit table</a:t>
            </a:r>
            <a:r>
              <a:rPr lang="en-US" altLang="en-US" sz="2000" b="0" dirty="0"/>
              <a:t>: Transactions to be committed are entered in this table.</a:t>
            </a:r>
          </a:p>
          <a:p>
            <a:pPr algn="just" eaLnBrk="1" hangingPunct="1"/>
            <a:endParaRPr lang="en-US" altLang="en-US" sz="2000" b="0" dirty="0"/>
          </a:p>
          <a:p>
            <a:pPr algn="just" eaLnBrk="1" hangingPunct="1"/>
            <a:r>
              <a:rPr lang="en-US" altLang="en-US" sz="2000" b="0" dirty="0"/>
              <a:t>During recovery, all transactions of the </a:t>
            </a:r>
            <a:r>
              <a:rPr lang="en-US" altLang="en-US" sz="2000" dirty="0"/>
              <a:t>commit</a:t>
            </a:r>
            <a:r>
              <a:rPr lang="en-US" altLang="en-US" sz="2000" b="0" dirty="0"/>
              <a:t> table are redone and all transactions of </a:t>
            </a:r>
            <a:r>
              <a:rPr lang="en-US" altLang="en-US" sz="2000" dirty="0"/>
              <a:t>active</a:t>
            </a:r>
            <a:r>
              <a:rPr lang="en-US" altLang="en-US" sz="2000" b="0" dirty="0"/>
              <a:t> tables are ignored since none of their AFIMs reached the database.  It is possible that a </a:t>
            </a:r>
            <a:r>
              <a:rPr lang="en-US" altLang="en-US" sz="2000" dirty="0"/>
              <a:t>commit</a:t>
            </a:r>
            <a:r>
              <a:rPr lang="en-US" altLang="en-US" sz="2000" b="0" dirty="0"/>
              <a:t> table transaction may be </a:t>
            </a:r>
            <a:r>
              <a:rPr lang="en-US" altLang="en-US" sz="2000" dirty="0"/>
              <a:t>redone</a:t>
            </a:r>
            <a:r>
              <a:rPr lang="en-US" altLang="en-US" sz="2000" b="0" dirty="0"/>
              <a:t> twice but this does not create any inconsistency because of a redone is “</a:t>
            </a:r>
            <a:r>
              <a:rPr lang="en-US" altLang="en-US" sz="2000" dirty="0"/>
              <a:t>idempotent</a:t>
            </a:r>
            <a:r>
              <a:rPr lang="en-US" altLang="en-US" sz="2000" b="0" dirty="0"/>
              <a:t>”, that is, one redone for an AFIM is equivalent to multiple redone for the same AFIM.  </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29698"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A1ACC6E8-275F-4359-918B-BFF6D8EB82A9}" type="slidenum">
              <a:rPr lang="en-US" altLang="en-US" sz="1600"/>
              <a:pPr/>
              <a:t>20</a:t>
            </a:fld>
            <a:endParaRPr lang="en-US" altLang="en-US" sz="1600"/>
          </a:p>
        </p:txBody>
      </p:sp>
      <p:sp>
        <p:nvSpPr>
          <p:cNvPr id="29700" name="Rectangle 3"/>
          <p:cNvSpPr>
            <a:spLocks noChangeArrowheads="1"/>
          </p:cNvSpPr>
          <p:nvPr/>
        </p:nvSpPr>
        <p:spPr bwMode="auto">
          <a:xfrm>
            <a:off x="538163" y="1352550"/>
            <a:ext cx="687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Recovery Techniques Based on Immediate Update</a:t>
            </a:r>
            <a:endParaRPr lang="en-US" altLang="en-US" b="0" dirty="0"/>
          </a:p>
        </p:txBody>
      </p:sp>
      <p:sp>
        <p:nvSpPr>
          <p:cNvPr id="29701" name="Rectangle 4"/>
          <p:cNvSpPr>
            <a:spLocks noChangeArrowheads="1"/>
          </p:cNvSpPr>
          <p:nvPr/>
        </p:nvSpPr>
        <p:spPr bwMode="auto">
          <a:xfrm>
            <a:off x="1065213" y="2949575"/>
            <a:ext cx="7745412"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sz="2000" b="0" dirty="0"/>
              <a:t>In this algorithm AFIMs of a transaction are flushed to the database disk under WAL before it commits.  For this reason the recovery manager </a:t>
            </a:r>
            <a:r>
              <a:rPr lang="en-US" altLang="en-US" sz="2000" dirty="0"/>
              <a:t>undoes</a:t>
            </a:r>
            <a:r>
              <a:rPr lang="en-US" altLang="en-US" sz="2000" b="0" dirty="0"/>
              <a:t> all transactions during recovery.  No transaction is </a:t>
            </a:r>
            <a:r>
              <a:rPr lang="en-US" altLang="en-US" sz="2000" dirty="0"/>
              <a:t>redone</a:t>
            </a:r>
            <a:r>
              <a:rPr lang="en-US" altLang="en-US" sz="2000" b="0" dirty="0"/>
              <a:t>.  It is possible that a transaction might have completed execution and ready to commit but this transaction is also </a:t>
            </a:r>
            <a:r>
              <a:rPr lang="en-US" altLang="en-US" sz="2000" dirty="0"/>
              <a:t>undone</a:t>
            </a:r>
            <a:r>
              <a:rPr lang="en-US" altLang="en-US" sz="2000" b="0" dirty="0"/>
              <a:t>.</a:t>
            </a:r>
          </a:p>
        </p:txBody>
      </p:sp>
      <p:sp>
        <p:nvSpPr>
          <p:cNvPr id="29702" name="Rectangle 5"/>
          <p:cNvSpPr>
            <a:spLocks noChangeArrowheads="1"/>
          </p:cNvSpPr>
          <p:nvPr/>
        </p:nvSpPr>
        <p:spPr bwMode="auto">
          <a:xfrm>
            <a:off x="920750" y="2182813"/>
            <a:ext cx="3690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Undo/No-redo Algorithm</a:t>
            </a:r>
            <a:endParaRPr lang="en-US" altLang="en-US" b="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0722"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399AFCAA-510B-4432-9748-0A4B02F2C93C}" type="slidenum">
              <a:rPr lang="en-US" altLang="en-US" sz="1600"/>
              <a:pPr/>
              <a:t>21</a:t>
            </a:fld>
            <a:endParaRPr lang="en-US" altLang="en-US" sz="1600"/>
          </a:p>
        </p:txBody>
      </p:sp>
      <p:sp>
        <p:nvSpPr>
          <p:cNvPr id="30724" name="Rectangle 3"/>
          <p:cNvSpPr>
            <a:spLocks noChangeArrowheads="1"/>
          </p:cNvSpPr>
          <p:nvPr/>
        </p:nvSpPr>
        <p:spPr bwMode="auto">
          <a:xfrm>
            <a:off x="538163" y="1123950"/>
            <a:ext cx="687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Recovery Techniques Based on Immediate Update</a:t>
            </a:r>
            <a:endParaRPr lang="en-US" altLang="en-US" b="0" dirty="0"/>
          </a:p>
        </p:txBody>
      </p:sp>
      <p:sp>
        <p:nvSpPr>
          <p:cNvPr id="30725" name="Rectangle 4"/>
          <p:cNvSpPr>
            <a:spLocks noChangeArrowheads="1"/>
          </p:cNvSpPr>
          <p:nvPr/>
        </p:nvSpPr>
        <p:spPr bwMode="auto">
          <a:xfrm>
            <a:off x="1065213" y="2625725"/>
            <a:ext cx="7745412"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Recovery schemes of this category apply </a:t>
            </a:r>
            <a:r>
              <a:rPr lang="en-US" altLang="en-US" sz="2000" dirty="0"/>
              <a:t>undo</a:t>
            </a:r>
            <a:r>
              <a:rPr lang="en-US" altLang="en-US" sz="2000" b="0" dirty="0"/>
              <a:t> and also </a:t>
            </a:r>
            <a:r>
              <a:rPr lang="en-US" altLang="en-US" sz="2000" dirty="0"/>
              <a:t>redo</a:t>
            </a:r>
            <a:r>
              <a:rPr lang="en-US" altLang="en-US" sz="2000" b="0" dirty="0"/>
              <a:t> for recovery.  In a single-user environment no concurrency control is required but a log is maintained under WAL. Note that at any time there will be one transaction in the system and it will be either in the commit table or in the active table.  The recovery manager performs:</a:t>
            </a:r>
          </a:p>
          <a:p>
            <a:pPr algn="just" eaLnBrk="1" hangingPunct="1"/>
            <a:endParaRPr lang="en-US" altLang="en-US" sz="2000" b="0" dirty="0"/>
          </a:p>
          <a:p>
            <a:pPr marL="114300" lvl="1" algn="just" eaLnBrk="1" hangingPunct="1">
              <a:buFontTx/>
              <a:buAutoNum type="arabicPeriod"/>
            </a:pPr>
            <a:r>
              <a:rPr lang="en-US" altLang="en-US" sz="2000" b="0" dirty="0"/>
              <a:t>  </a:t>
            </a:r>
            <a:r>
              <a:rPr lang="en-US" altLang="en-US" sz="2000" dirty="0"/>
              <a:t>Undo</a:t>
            </a:r>
            <a:r>
              <a:rPr lang="en-US" altLang="en-US" sz="2000" b="0" dirty="0"/>
              <a:t> of a transaction if it is in the </a:t>
            </a:r>
            <a:r>
              <a:rPr lang="en-US" altLang="en-US" sz="2000" dirty="0"/>
              <a:t>active</a:t>
            </a:r>
            <a:r>
              <a:rPr lang="en-US" altLang="en-US" sz="2000" b="0" dirty="0"/>
              <a:t> table.</a:t>
            </a:r>
          </a:p>
          <a:p>
            <a:pPr marL="114300" lvl="1" algn="just" eaLnBrk="1" hangingPunct="1">
              <a:buFontTx/>
              <a:buAutoNum type="arabicPeriod"/>
            </a:pPr>
            <a:r>
              <a:rPr lang="en-US" altLang="en-US" sz="2000" b="0" dirty="0"/>
              <a:t>  </a:t>
            </a:r>
            <a:r>
              <a:rPr lang="en-US" altLang="en-US" sz="2000" dirty="0"/>
              <a:t>Redo</a:t>
            </a:r>
            <a:r>
              <a:rPr lang="en-US" altLang="en-US" sz="2000" b="0" dirty="0"/>
              <a:t> of a transaction if it is in the </a:t>
            </a:r>
            <a:r>
              <a:rPr lang="en-US" altLang="en-US" sz="2000" dirty="0"/>
              <a:t>commit</a:t>
            </a:r>
            <a:r>
              <a:rPr lang="en-US" altLang="en-US" sz="2000" b="0" dirty="0"/>
              <a:t> table.</a:t>
            </a:r>
          </a:p>
        </p:txBody>
      </p:sp>
      <p:sp>
        <p:nvSpPr>
          <p:cNvPr id="30726" name="Rectangle 5"/>
          <p:cNvSpPr>
            <a:spLocks noChangeArrowheads="1"/>
          </p:cNvSpPr>
          <p:nvPr/>
        </p:nvSpPr>
        <p:spPr bwMode="auto">
          <a:xfrm>
            <a:off x="920750" y="1954213"/>
            <a:ext cx="6829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Undo/Redo Algorithm (Single-user environment)</a:t>
            </a:r>
            <a:endParaRPr lang="en-US" altLang="en-US" b="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1746"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E5878CDC-90B8-4B71-9B78-ADE06DE5D5DF}" type="slidenum">
              <a:rPr lang="en-US" altLang="en-US" sz="1600"/>
              <a:pPr/>
              <a:t>22</a:t>
            </a:fld>
            <a:endParaRPr lang="en-US" altLang="en-US" sz="1600"/>
          </a:p>
        </p:txBody>
      </p:sp>
      <p:sp>
        <p:nvSpPr>
          <p:cNvPr id="31748" name="Rectangle 3"/>
          <p:cNvSpPr>
            <a:spLocks noChangeArrowheads="1"/>
          </p:cNvSpPr>
          <p:nvPr/>
        </p:nvSpPr>
        <p:spPr bwMode="auto">
          <a:xfrm>
            <a:off x="538163" y="1123950"/>
            <a:ext cx="687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Recovery Techniques Based on Immediate Update</a:t>
            </a:r>
            <a:endParaRPr lang="en-US" altLang="en-US" b="0" dirty="0"/>
          </a:p>
        </p:txBody>
      </p:sp>
      <p:sp>
        <p:nvSpPr>
          <p:cNvPr id="31749" name="Rectangle 4"/>
          <p:cNvSpPr>
            <a:spLocks noChangeArrowheads="1"/>
          </p:cNvSpPr>
          <p:nvPr/>
        </p:nvSpPr>
        <p:spPr bwMode="auto">
          <a:xfrm>
            <a:off x="920750" y="2182813"/>
            <a:ext cx="7745413" cy="283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Recovery schemes of this category applies undo and also redo to recover the database from failure.  In concurrent execution environment a concurrency control is required and log is maintained under WAL.  Commit table records transactions to be committed and active table records active transactions.  To minimize the work of the recovery manager </a:t>
            </a:r>
            <a:r>
              <a:rPr lang="en-US" altLang="en-US" sz="2000" b="0" dirty="0" err="1"/>
              <a:t>checkpointing</a:t>
            </a:r>
            <a:r>
              <a:rPr lang="en-US" altLang="en-US" sz="2000" b="0" dirty="0"/>
              <a:t> is used.  The recovery performs:</a:t>
            </a:r>
          </a:p>
          <a:p>
            <a:pPr algn="just" eaLnBrk="1" hangingPunct="1"/>
            <a:endParaRPr lang="en-US" altLang="en-US" sz="2000" b="0" dirty="0"/>
          </a:p>
          <a:p>
            <a:pPr marL="114300" lvl="1" algn="just" eaLnBrk="1" hangingPunct="1">
              <a:buFontTx/>
              <a:buAutoNum type="arabicPeriod"/>
            </a:pPr>
            <a:r>
              <a:rPr lang="en-US" altLang="en-US" sz="2000" b="0" dirty="0"/>
              <a:t>  </a:t>
            </a:r>
            <a:r>
              <a:rPr lang="en-US" altLang="en-US" sz="2000" dirty="0"/>
              <a:t>Undo</a:t>
            </a:r>
            <a:r>
              <a:rPr lang="en-US" altLang="en-US" sz="2000" b="0" dirty="0"/>
              <a:t> of a transaction if it is in the active table.</a:t>
            </a:r>
          </a:p>
          <a:p>
            <a:pPr marL="114300" lvl="1" algn="just" eaLnBrk="1" hangingPunct="1">
              <a:buFontTx/>
              <a:buAutoNum type="arabicPeriod"/>
            </a:pPr>
            <a:r>
              <a:rPr lang="en-US" altLang="en-US" sz="2000" b="0" dirty="0"/>
              <a:t>  </a:t>
            </a:r>
            <a:r>
              <a:rPr lang="en-US" altLang="en-US" sz="2000" dirty="0"/>
              <a:t>Redo</a:t>
            </a:r>
            <a:r>
              <a:rPr lang="en-US" altLang="en-US" sz="2000" b="0" dirty="0"/>
              <a:t> of a transaction if it is in the commit table.</a:t>
            </a:r>
          </a:p>
        </p:txBody>
      </p:sp>
      <p:sp>
        <p:nvSpPr>
          <p:cNvPr id="31750" name="Rectangle 5"/>
          <p:cNvSpPr>
            <a:spLocks noChangeArrowheads="1"/>
          </p:cNvSpPr>
          <p:nvPr/>
        </p:nvSpPr>
        <p:spPr bwMode="auto">
          <a:xfrm>
            <a:off x="920750" y="1725613"/>
            <a:ext cx="6829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Undo/Redo Algorithm (Concurrent execution)</a:t>
            </a:r>
            <a:endParaRPr lang="en-US" altLang="en-US" b="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2770"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A2A4D350-4E7E-426D-8499-910AEA33B6D2}" type="slidenum">
              <a:rPr lang="en-US" altLang="en-US" sz="1600"/>
              <a:pPr/>
              <a:t>23</a:t>
            </a:fld>
            <a:endParaRPr lang="en-US" altLang="en-US" sz="1600"/>
          </a:p>
        </p:txBody>
      </p:sp>
      <p:graphicFrame>
        <p:nvGraphicFramePr>
          <p:cNvPr id="32774" name="Object 6"/>
          <p:cNvGraphicFramePr>
            <a:graphicFrameLocks noGrp="1" noChangeAspect="1"/>
          </p:cNvGraphicFramePr>
          <p:nvPr>
            <p:ph sz="quarter" idx="1"/>
          </p:nvPr>
        </p:nvGraphicFramePr>
        <p:xfrm>
          <a:off x="3448050" y="3152775"/>
          <a:ext cx="2703513" cy="1162050"/>
        </p:xfrm>
        <a:graphic>
          <a:graphicData uri="http://schemas.openxmlformats.org/presentationml/2006/ole">
            <mc:AlternateContent xmlns:mc="http://schemas.openxmlformats.org/markup-compatibility/2006">
              <mc:Choice xmlns:v="urn:schemas-microsoft-com:vml" Requires="v">
                <p:oleObj spid="_x0000_s32828" name="VISIO" r:id="rId3" imgW="2703642" imgH="1162399" progId="Visio.Drawing.6">
                  <p:embed/>
                </p:oleObj>
              </mc:Choice>
              <mc:Fallback>
                <p:oleObj name="VISIO" r:id="rId3" imgW="2703642" imgH="1162399" progId="Visio.Drawing.6">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8050" y="3152775"/>
                        <a:ext cx="2703513" cy="116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772" name="Rectangle 3"/>
          <p:cNvSpPr>
            <a:spLocks noChangeArrowheads="1"/>
          </p:cNvSpPr>
          <p:nvPr/>
        </p:nvSpPr>
        <p:spPr bwMode="auto">
          <a:xfrm>
            <a:off x="538163" y="1123950"/>
            <a:ext cx="2411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Shadow Paging</a:t>
            </a:r>
            <a:endParaRPr lang="en-US" altLang="en-US" b="0" dirty="0"/>
          </a:p>
        </p:txBody>
      </p:sp>
      <p:sp>
        <p:nvSpPr>
          <p:cNvPr id="32773" name="Rectangle 4"/>
          <p:cNvSpPr>
            <a:spLocks noChangeArrowheads="1"/>
          </p:cNvSpPr>
          <p:nvPr/>
        </p:nvSpPr>
        <p:spPr bwMode="auto">
          <a:xfrm>
            <a:off x="920750" y="1687513"/>
            <a:ext cx="77454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The AFIM does not overwrite its BFIM but recorded at another place on the disk.  Thus, at any time a data item has AFIM and BFIM (Shadow copy of the data item) at two different places on the disk.</a:t>
            </a:r>
          </a:p>
        </p:txBody>
      </p:sp>
      <p:sp>
        <p:nvSpPr>
          <p:cNvPr id="32775" name="Rectangle 8"/>
          <p:cNvSpPr>
            <a:spLocks noChangeArrowheads="1"/>
          </p:cNvSpPr>
          <p:nvPr/>
        </p:nvSpPr>
        <p:spPr bwMode="auto">
          <a:xfrm>
            <a:off x="2066925" y="5173663"/>
            <a:ext cx="50495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r>
              <a:rPr lang="en-US" altLang="en-US" b="0" dirty="0"/>
              <a:t>X and Y:  Shadow copies of data items</a:t>
            </a:r>
          </a:p>
          <a:p>
            <a:pPr eaLnBrk="1" hangingPunct="1"/>
            <a:r>
              <a:rPr lang="en-US" altLang="en-US" b="0" dirty="0"/>
              <a:t>X` and Y`: Current copies of data items</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1284288" y="4000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3794"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DE82DA28-1D8D-47C2-A285-26E9477F72EC}" type="slidenum">
              <a:rPr lang="en-US" altLang="en-US" sz="1600"/>
              <a:pPr/>
              <a:t>24</a:t>
            </a:fld>
            <a:endParaRPr lang="en-US" altLang="en-US" sz="1600"/>
          </a:p>
        </p:txBody>
      </p:sp>
      <p:graphicFrame>
        <p:nvGraphicFramePr>
          <p:cNvPr id="33798" name="Object 11"/>
          <p:cNvGraphicFramePr>
            <a:graphicFrameLocks noGrp="1" noChangeAspect="1"/>
          </p:cNvGraphicFramePr>
          <p:nvPr>
            <p:ph sz="quarter" idx="1"/>
            <p:extLst>
              <p:ext uri="{D42A27DB-BD31-4B8C-83A1-F6EECF244321}">
                <p14:modId xmlns:p14="http://schemas.microsoft.com/office/powerpoint/2010/main" val="2654741977"/>
              </p:ext>
            </p:extLst>
          </p:nvPr>
        </p:nvGraphicFramePr>
        <p:xfrm>
          <a:off x="914400" y="2916961"/>
          <a:ext cx="7770813" cy="3025775"/>
        </p:xfrm>
        <a:graphic>
          <a:graphicData uri="http://schemas.openxmlformats.org/presentationml/2006/ole">
            <mc:AlternateContent xmlns:mc="http://schemas.openxmlformats.org/markup-compatibility/2006">
              <mc:Choice xmlns:v="urn:schemas-microsoft-com:vml" Requires="v">
                <p:oleObj spid="_x0000_s33851" name="VISIO" r:id="rId3" imgW="8288937" imgH="3227026" progId="Visio.Drawing.6">
                  <p:embed/>
                </p:oleObj>
              </mc:Choice>
              <mc:Fallback>
                <p:oleObj name="VISIO" r:id="rId3" imgW="8288937" imgH="3227026" progId="Visio.Drawing.6">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916961"/>
                        <a:ext cx="7770813"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6" name="Rectangle 3"/>
          <p:cNvSpPr>
            <a:spLocks noChangeArrowheads="1"/>
          </p:cNvSpPr>
          <p:nvPr/>
        </p:nvSpPr>
        <p:spPr bwMode="auto">
          <a:xfrm>
            <a:off x="538163" y="1123950"/>
            <a:ext cx="2411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Shadow Paging</a:t>
            </a:r>
            <a:endParaRPr lang="en-US" altLang="en-US" b="0" dirty="0"/>
          </a:p>
        </p:txBody>
      </p:sp>
      <p:sp>
        <p:nvSpPr>
          <p:cNvPr id="33797" name="Rectangle 4"/>
          <p:cNvSpPr>
            <a:spLocks noChangeArrowheads="1"/>
          </p:cNvSpPr>
          <p:nvPr/>
        </p:nvSpPr>
        <p:spPr bwMode="auto">
          <a:xfrm>
            <a:off x="920750" y="1687513"/>
            <a:ext cx="7745413"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To manage access of data items by concurrent transactions two directories (current and shadow) are used.  The directory arrangement is illustrated below.  Here a page is a data item.</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5842"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0231951B-80C6-4446-85AC-AE57B30C647A}" type="slidenum">
              <a:rPr lang="en-US" altLang="en-US" sz="1600"/>
              <a:pPr/>
              <a:t>25</a:t>
            </a:fld>
            <a:endParaRPr lang="en-US" altLang="en-US" sz="1600"/>
          </a:p>
        </p:txBody>
      </p:sp>
      <p:sp>
        <p:nvSpPr>
          <p:cNvPr id="35844" name="Rectangle 3"/>
          <p:cNvSpPr>
            <a:spLocks noChangeArrowheads="1"/>
          </p:cNvSpPr>
          <p:nvPr/>
        </p:nvSpPr>
        <p:spPr bwMode="auto">
          <a:xfrm>
            <a:off x="522288" y="12001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9   The ARIES Recovery Algorithm</a:t>
            </a:r>
            <a:endParaRPr lang="en-US" altLang="en-US" b="0" dirty="0"/>
          </a:p>
        </p:txBody>
      </p:sp>
      <p:sp>
        <p:nvSpPr>
          <p:cNvPr id="35845"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35846" name="Rectangle 16"/>
          <p:cNvSpPr>
            <a:spLocks noChangeArrowheads="1"/>
          </p:cNvSpPr>
          <p:nvPr/>
        </p:nvSpPr>
        <p:spPr bwMode="auto">
          <a:xfrm>
            <a:off x="1073150" y="1725613"/>
            <a:ext cx="497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b="0" dirty="0"/>
              <a:t>The ARIES Recovery Algorithm is based on:</a:t>
            </a:r>
          </a:p>
        </p:txBody>
      </p:sp>
      <p:sp>
        <p:nvSpPr>
          <p:cNvPr id="35847" name="Rectangle 17"/>
          <p:cNvSpPr>
            <a:spLocks noChangeArrowheads="1"/>
          </p:cNvSpPr>
          <p:nvPr/>
        </p:nvSpPr>
        <p:spPr bwMode="auto">
          <a:xfrm>
            <a:off x="1073150" y="2335213"/>
            <a:ext cx="7385050"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71500" lvl="1" indent="-457200" eaLnBrk="1" hangingPunct="1">
              <a:spcBef>
                <a:spcPct val="30000"/>
              </a:spcBef>
              <a:spcAft>
                <a:spcPct val="30000"/>
              </a:spcAft>
              <a:buFontTx/>
              <a:buAutoNum type="arabicPeriod"/>
            </a:pPr>
            <a:r>
              <a:rPr lang="en-US" altLang="en-US" sz="2000" b="0" dirty="0"/>
              <a:t>WAL (Write Ahead Logging)</a:t>
            </a:r>
          </a:p>
          <a:p>
            <a:pPr marL="571500" lvl="1" indent="-457200" algn="just" eaLnBrk="1" hangingPunct="1">
              <a:spcBef>
                <a:spcPct val="30000"/>
              </a:spcBef>
              <a:spcAft>
                <a:spcPct val="30000"/>
              </a:spcAft>
              <a:buFontTx/>
              <a:buAutoNum type="arabicPeriod"/>
            </a:pPr>
            <a:r>
              <a:rPr lang="en-US" altLang="en-US" sz="2000" b="0" dirty="0"/>
              <a:t>Repeating history during redo:  ARIES will retrace all actions of the database system prior to the crash to reconstruct the database state when the crash occurred.</a:t>
            </a:r>
          </a:p>
          <a:p>
            <a:pPr marL="571500" lvl="1" indent="-457200" algn="just" eaLnBrk="1" hangingPunct="1">
              <a:spcBef>
                <a:spcPct val="30000"/>
              </a:spcBef>
              <a:spcAft>
                <a:spcPct val="30000"/>
              </a:spcAft>
              <a:buFontTx/>
              <a:buAutoNum type="arabicPeriod"/>
            </a:pPr>
            <a:r>
              <a:rPr lang="en-US" altLang="en-US" sz="2000" b="0" dirty="0"/>
              <a:t>Logging changes during undo:  It will prevent ARIES from repeating the completed undo operations if a failure occurs during recovery, which causes a restart of the recovery process.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6866"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F4671D4F-6762-475C-B32E-09252FF4D74D}" type="slidenum">
              <a:rPr lang="en-US" altLang="en-US" sz="1600"/>
              <a:pPr/>
              <a:t>26</a:t>
            </a:fld>
            <a:endParaRPr lang="en-US" altLang="en-US" sz="1600"/>
          </a:p>
        </p:txBody>
      </p:sp>
      <p:sp>
        <p:nvSpPr>
          <p:cNvPr id="36868"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The ARIES Recovery Algorithm</a:t>
            </a:r>
            <a:endParaRPr lang="en-US" altLang="en-US" b="0" dirty="0"/>
          </a:p>
        </p:txBody>
      </p:sp>
      <p:sp>
        <p:nvSpPr>
          <p:cNvPr id="36869"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36870" name="Rectangle 5"/>
          <p:cNvSpPr>
            <a:spLocks noChangeArrowheads="1"/>
          </p:cNvSpPr>
          <p:nvPr/>
        </p:nvSpPr>
        <p:spPr bwMode="auto">
          <a:xfrm>
            <a:off x="1073150" y="1725613"/>
            <a:ext cx="599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b="0" dirty="0"/>
              <a:t>The ARIES recovery algorithm consists of three steps:</a:t>
            </a:r>
          </a:p>
        </p:txBody>
      </p:sp>
      <p:sp>
        <p:nvSpPr>
          <p:cNvPr id="36871" name="Rectangle 6"/>
          <p:cNvSpPr>
            <a:spLocks noChangeArrowheads="1"/>
          </p:cNvSpPr>
          <p:nvPr/>
        </p:nvSpPr>
        <p:spPr bwMode="auto">
          <a:xfrm>
            <a:off x="1073150" y="2335213"/>
            <a:ext cx="7385050"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571500" lvl="1" indent="-457200" algn="just" eaLnBrk="1" hangingPunct="1">
              <a:spcBef>
                <a:spcPct val="30000"/>
              </a:spcBef>
              <a:spcAft>
                <a:spcPct val="30000"/>
              </a:spcAft>
              <a:buFontTx/>
              <a:buAutoNum type="arabicPeriod"/>
            </a:pPr>
            <a:r>
              <a:rPr lang="en-US" altLang="en-US" sz="2000" dirty="0"/>
              <a:t>Analysis</a:t>
            </a:r>
            <a:r>
              <a:rPr lang="en-US" altLang="en-US" sz="2000" b="0" dirty="0"/>
              <a:t>: step identifies the dirty (updated) pages in the buffer and the set of transactions active at the time of crash.  The appropriate point in the log where redo is to start is also determined. </a:t>
            </a:r>
          </a:p>
          <a:p>
            <a:pPr marL="571500" lvl="1" indent="-457200" algn="just" eaLnBrk="1" hangingPunct="1">
              <a:spcBef>
                <a:spcPct val="30000"/>
              </a:spcBef>
              <a:spcAft>
                <a:spcPct val="30000"/>
              </a:spcAft>
              <a:buFontTx/>
              <a:buAutoNum type="arabicPeriod"/>
            </a:pPr>
            <a:r>
              <a:rPr lang="en-US" altLang="en-US" sz="2000" dirty="0"/>
              <a:t>Redo</a:t>
            </a:r>
            <a:r>
              <a:rPr lang="en-US" altLang="en-US" sz="2000" b="0" dirty="0"/>
              <a:t>:  necessary redo operations are applied.</a:t>
            </a:r>
          </a:p>
          <a:p>
            <a:pPr marL="571500" lvl="1" indent="-457200" algn="just" eaLnBrk="1" hangingPunct="1">
              <a:spcBef>
                <a:spcPct val="30000"/>
              </a:spcBef>
              <a:spcAft>
                <a:spcPct val="30000"/>
              </a:spcAft>
              <a:buFontTx/>
              <a:buAutoNum type="arabicPeriod"/>
            </a:pPr>
            <a:r>
              <a:rPr lang="en-US" altLang="en-US" sz="2000" dirty="0"/>
              <a:t>Undo</a:t>
            </a:r>
            <a:r>
              <a:rPr lang="en-US" altLang="en-US" sz="2000" b="0" dirty="0"/>
              <a:t>: log is scanned backwards and the operations of transactions active at the time of crash are undone in reverse order.</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7890"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E0E459DC-9B9C-4F17-ACC2-F5745EB2C947}" type="slidenum">
              <a:rPr lang="en-US" altLang="en-US" sz="1600"/>
              <a:pPr/>
              <a:t>27</a:t>
            </a:fld>
            <a:endParaRPr lang="en-US" altLang="en-US" sz="1600"/>
          </a:p>
        </p:txBody>
      </p:sp>
      <p:sp>
        <p:nvSpPr>
          <p:cNvPr id="37892"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The ARIES Recovery Algorithm</a:t>
            </a:r>
            <a:endParaRPr lang="en-US" altLang="en-US" b="0" dirty="0"/>
          </a:p>
        </p:txBody>
      </p:sp>
      <p:sp>
        <p:nvSpPr>
          <p:cNvPr id="37893"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37894" name="Rectangle 5"/>
          <p:cNvSpPr>
            <a:spLocks noChangeArrowheads="1"/>
          </p:cNvSpPr>
          <p:nvPr/>
        </p:nvSpPr>
        <p:spPr bwMode="auto">
          <a:xfrm>
            <a:off x="1073150" y="1428750"/>
            <a:ext cx="599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dirty="0"/>
              <a:t>The Log and Log Sequence Number (LSN)</a:t>
            </a:r>
          </a:p>
        </p:txBody>
      </p:sp>
      <p:sp>
        <p:nvSpPr>
          <p:cNvPr id="37895" name="Rectangle 6"/>
          <p:cNvSpPr>
            <a:spLocks noChangeArrowheads="1"/>
          </p:cNvSpPr>
          <p:nvPr/>
        </p:nvSpPr>
        <p:spPr bwMode="auto">
          <a:xfrm>
            <a:off x="1177925" y="1825625"/>
            <a:ext cx="7173913"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sz="2000" b="0" dirty="0"/>
              <a:t>A log record is written for (a) data update, (b) transaction commit, (c) transaction abort, (d) undo, and (e) transaction end.  In the case of undo a compensating log record is written.</a:t>
            </a:r>
          </a:p>
          <a:p>
            <a:pPr algn="just" eaLnBrk="1" hangingPunct="1"/>
            <a:endParaRPr lang="en-US" altLang="en-US" sz="2000" b="0" dirty="0"/>
          </a:p>
          <a:p>
            <a:pPr algn="just" eaLnBrk="1" hangingPunct="1"/>
            <a:r>
              <a:rPr lang="en-US" altLang="en-US" sz="2000" b="0" dirty="0"/>
              <a:t>A unique LSN is associated with every log record.  LSN increases monotonically and indicates the disk address of the log record it is associated with.  In addition, each data page stores the LSN of the latest log record corresponding to a change for that page.</a:t>
            </a:r>
          </a:p>
          <a:p>
            <a:pPr algn="just" eaLnBrk="1" hangingPunct="1"/>
            <a:endParaRPr lang="en-US" altLang="en-US" sz="2000" b="0" dirty="0"/>
          </a:p>
          <a:p>
            <a:pPr algn="just" eaLnBrk="1" hangingPunct="1"/>
            <a:r>
              <a:rPr lang="en-US" altLang="en-US" sz="2000" b="0" dirty="0"/>
              <a:t>A log record stores (a) the previous LSN of that transaction, (b) the transaction ID, and (c) the type of log record. </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8914"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6AD201EC-7779-4E4E-ADAD-245B8067EEF6}" type="slidenum">
              <a:rPr lang="en-US" altLang="en-US" sz="1600"/>
              <a:pPr/>
              <a:t>28</a:t>
            </a:fld>
            <a:endParaRPr lang="en-US" altLang="en-US" sz="1600"/>
          </a:p>
        </p:txBody>
      </p:sp>
      <p:sp>
        <p:nvSpPr>
          <p:cNvPr id="38916"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The ARIES Recovery Algorithm</a:t>
            </a:r>
            <a:endParaRPr lang="en-US" altLang="en-US" b="0" dirty="0"/>
          </a:p>
        </p:txBody>
      </p:sp>
      <p:sp>
        <p:nvSpPr>
          <p:cNvPr id="38917"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38918" name="Rectangle 5"/>
          <p:cNvSpPr>
            <a:spLocks noChangeArrowheads="1"/>
          </p:cNvSpPr>
          <p:nvPr/>
        </p:nvSpPr>
        <p:spPr bwMode="auto">
          <a:xfrm>
            <a:off x="1073150" y="1428750"/>
            <a:ext cx="599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dirty="0"/>
              <a:t>The Log and Log Sequence Number (LSN)</a:t>
            </a:r>
          </a:p>
        </p:txBody>
      </p:sp>
      <p:sp>
        <p:nvSpPr>
          <p:cNvPr id="38919" name="Rectangle 6"/>
          <p:cNvSpPr>
            <a:spLocks noChangeArrowheads="1"/>
          </p:cNvSpPr>
          <p:nvPr/>
        </p:nvSpPr>
        <p:spPr bwMode="auto">
          <a:xfrm>
            <a:off x="1177925" y="1825625"/>
            <a:ext cx="717391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lgn="just" eaLnBrk="1" hangingPunct="1"/>
            <a:r>
              <a:rPr lang="en-US" altLang="en-US" sz="2000" b="0" dirty="0"/>
              <a:t>A log record stores:</a:t>
            </a:r>
          </a:p>
          <a:p>
            <a:pPr marL="457200" indent="-457200" algn="just" eaLnBrk="1" hangingPunct="1">
              <a:buFontTx/>
              <a:buAutoNum type="arabicPeriod"/>
            </a:pPr>
            <a:r>
              <a:rPr lang="en-US" altLang="en-US" sz="2000" b="0" dirty="0"/>
              <a:t>Previous LSN of that transaction:  It links the log record of each transaction.  It is like a back pointer points to the previous record of the same transaction.</a:t>
            </a:r>
          </a:p>
          <a:p>
            <a:pPr marL="457200" indent="-457200" algn="just" eaLnBrk="1" hangingPunct="1">
              <a:buFontTx/>
              <a:buAutoNum type="arabicPeriod"/>
            </a:pPr>
            <a:r>
              <a:rPr lang="en-US" altLang="en-US" sz="2000" b="0" dirty="0"/>
              <a:t>Transaction ID</a:t>
            </a:r>
          </a:p>
          <a:p>
            <a:pPr marL="457200" indent="-457200" algn="just" eaLnBrk="1" hangingPunct="1">
              <a:buFontTx/>
              <a:buAutoNum type="arabicPeriod"/>
            </a:pPr>
            <a:r>
              <a:rPr lang="en-US" altLang="en-US" sz="2000" b="0" dirty="0"/>
              <a:t>Type of log record.</a:t>
            </a:r>
          </a:p>
        </p:txBody>
      </p:sp>
      <p:sp>
        <p:nvSpPr>
          <p:cNvPr id="38920" name="Rectangle 7"/>
          <p:cNvSpPr>
            <a:spLocks noChangeArrowheads="1"/>
          </p:cNvSpPr>
          <p:nvPr/>
        </p:nvSpPr>
        <p:spPr bwMode="auto">
          <a:xfrm>
            <a:off x="1177925" y="3944938"/>
            <a:ext cx="7516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en-US" sz="2000" b="0" dirty="0"/>
              <a:t>For a write operation the following additional information is logged:</a:t>
            </a:r>
          </a:p>
        </p:txBody>
      </p:sp>
      <p:sp>
        <p:nvSpPr>
          <p:cNvPr id="38921" name="Rectangle 8"/>
          <p:cNvSpPr>
            <a:spLocks noChangeArrowheads="1"/>
          </p:cNvSpPr>
          <p:nvPr/>
        </p:nvSpPr>
        <p:spPr bwMode="auto">
          <a:xfrm>
            <a:off x="1177925" y="4448175"/>
            <a:ext cx="7516813"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eaLnBrk="1" hangingPunct="1">
              <a:buFontTx/>
              <a:buAutoNum type="arabicPeriod" startAt="4"/>
            </a:pPr>
            <a:r>
              <a:rPr lang="en-US" altLang="en-US" sz="2000" b="0" dirty="0"/>
              <a:t>Page ID for the page that includes the item</a:t>
            </a:r>
          </a:p>
          <a:p>
            <a:pPr marL="457200" indent="-457200" eaLnBrk="1" hangingPunct="1">
              <a:buFontTx/>
              <a:buAutoNum type="arabicPeriod" startAt="4"/>
            </a:pPr>
            <a:r>
              <a:rPr lang="en-US" altLang="en-US" sz="2000" b="0" dirty="0"/>
              <a:t>Length of the updated item</a:t>
            </a:r>
          </a:p>
          <a:p>
            <a:pPr marL="457200" indent="-457200" eaLnBrk="1" hangingPunct="1">
              <a:buFontTx/>
              <a:buAutoNum type="arabicPeriod" startAt="4"/>
            </a:pPr>
            <a:r>
              <a:rPr lang="en-US" altLang="en-US" sz="2000" b="0" dirty="0"/>
              <a:t>Its offset from the beginning of the page</a:t>
            </a:r>
          </a:p>
          <a:p>
            <a:pPr marL="457200" indent="-457200" eaLnBrk="1" hangingPunct="1">
              <a:buFontTx/>
              <a:buAutoNum type="arabicPeriod" startAt="4"/>
            </a:pPr>
            <a:r>
              <a:rPr lang="en-US" altLang="en-US" sz="2000" b="0" dirty="0"/>
              <a:t>BFIM of the item</a:t>
            </a:r>
          </a:p>
          <a:p>
            <a:pPr marL="457200" indent="-457200" eaLnBrk="1" hangingPunct="1">
              <a:buFontTx/>
              <a:buAutoNum type="arabicPeriod" startAt="4"/>
            </a:pPr>
            <a:r>
              <a:rPr lang="en-US" altLang="en-US" sz="2000" b="0" dirty="0"/>
              <a:t>AFIM of the item</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39938"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A6665657-4BF6-4AC0-9A39-E0EBC732299F}" type="slidenum">
              <a:rPr lang="en-US" altLang="en-US" sz="1600"/>
              <a:pPr/>
              <a:t>29</a:t>
            </a:fld>
            <a:endParaRPr lang="en-US" altLang="en-US" sz="1600"/>
          </a:p>
        </p:txBody>
      </p:sp>
      <p:sp>
        <p:nvSpPr>
          <p:cNvPr id="39940"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The ARIES Recovery Algorithm</a:t>
            </a:r>
            <a:endParaRPr lang="en-US" altLang="en-US" b="0" dirty="0"/>
          </a:p>
        </p:txBody>
      </p:sp>
      <p:sp>
        <p:nvSpPr>
          <p:cNvPr id="39941"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39942" name="Rectangle 5"/>
          <p:cNvSpPr>
            <a:spLocks noChangeArrowheads="1"/>
          </p:cNvSpPr>
          <p:nvPr/>
        </p:nvSpPr>
        <p:spPr bwMode="auto">
          <a:xfrm>
            <a:off x="1073150" y="1428750"/>
            <a:ext cx="599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dirty="0"/>
              <a:t>The Transaction table and the Dirty Page table</a:t>
            </a:r>
          </a:p>
        </p:txBody>
      </p:sp>
      <p:sp>
        <p:nvSpPr>
          <p:cNvPr id="39943" name="Rectangle 9"/>
          <p:cNvSpPr>
            <a:spLocks noChangeArrowheads="1"/>
          </p:cNvSpPr>
          <p:nvPr/>
        </p:nvSpPr>
        <p:spPr bwMode="auto">
          <a:xfrm>
            <a:off x="1073150" y="2024063"/>
            <a:ext cx="7559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For efficient recovery following tables are also stored in the log during </a:t>
            </a:r>
            <a:r>
              <a:rPr lang="en-US" altLang="en-US" sz="2000" b="0" dirty="0" err="1"/>
              <a:t>checkpointing</a:t>
            </a:r>
            <a:r>
              <a:rPr lang="en-US" altLang="en-US" sz="2000" b="0" dirty="0"/>
              <a:t>:</a:t>
            </a:r>
          </a:p>
        </p:txBody>
      </p:sp>
      <p:sp>
        <p:nvSpPr>
          <p:cNvPr id="39944" name="Rectangle 10"/>
          <p:cNvSpPr>
            <a:spLocks noChangeArrowheads="1"/>
          </p:cNvSpPr>
          <p:nvPr/>
        </p:nvSpPr>
        <p:spPr bwMode="auto">
          <a:xfrm>
            <a:off x="1173163" y="2863850"/>
            <a:ext cx="72850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sz="2000" dirty="0"/>
              <a:t>Transaction table</a:t>
            </a:r>
            <a:r>
              <a:rPr lang="en-US" altLang="en-US" sz="2000" b="0" dirty="0"/>
              <a:t>:  Contains an entry for each active transaction, with information such as transaction ID, transaction status and the LSN of the most recent log record for the transaction.</a:t>
            </a:r>
          </a:p>
          <a:p>
            <a:pPr algn="just" eaLnBrk="1" hangingPunct="1"/>
            <a:endParaRPr lang="en-US" altLang="en-US" sz="2000" b="0" dirty="0"/>
          </a:p>
          <a:p>
            <a:pPr algn="just" eaLnBrk="1" hangingPunct="1"/>
            <a:r>
              <a:rPr lang="en-US" altLang="en-US" sz="2000" dirty="0"/>
              <a:t>Dirty Page table</a:t>
            </a:r>
            <a:r>
              <a:rPr lang="en-US" altLang="en-US" sz="2000" b="0" dirty="0"/>
              <a:t>:  Contains an entry for each dirty page in the buffer, which includes the page ID and the LSN corresponding to the earliest update to that page.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40962"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B5E6E88C-0BC1-49AE-B1F1-9C22F479F764}" type="slidenum">
              <a:rPr lang="en-US" altLang="en-US" sz="1600"/>
              <a:pPr/>
              <a:t>30</a:t>
            </a:fld>
            <a:endParaRPr lang="en-US" altLang="en-US" sz="1600"/>
          </a:p>
        </p:txBody>
      </p:sp>
      <p:sp>
        <p:nvSpPr>
          <p:cNvPr id="40964"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dirty="0"/>
              <a:t>The ARIES Recovery Algorithm</a:t>
            </a:r>
            <a:endParaRPr lang="en-US" altLang="en-US" b="0" dirty="0"/>
          </a:p>
        </p:txBody>
      </p:sp>
      <p:sp>
        <p:nvSpPr>
          <p:cNvPr id="40965"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40966" name="Rectangle 5"/>
          <p:cNvSpPr>
            <a:spLocks noChangeArrowheads="1"/>
          </p:cNvSpPr>
          <p:nvPr/>
        </p:nvSpPr>
        <p:spPr bwMode="auto">
          <a:xfrm>
            <a:off x="1073150" y="1428750"/>
            <a:ext cx="599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sz="2000" dirty="0" err="1"/>
              <a:t>Checkpointing</a:t>
            </a:r>
            <a:endParaRPr lang="en-US" altLang="en-US" sz="2000" dirty="0"/>
          </a:p>
        </p:txBody>
      </p:sp>
      <p:sp>
        <p:nvSpPr>
          <p:cNvPr id="40967" name="Rectangle 6"/>
          <p:cNvSpPr>
            <a:spLocks noChangeArrowheads="1"/>
          </p:cNvSpPr>
          <p:nvPr/>
        </p:nvSpPr>
        <p:spPr bwMode="auto">
          <a:xfrm>
            <a:off x="1073150" y="1924050"/>
            <a:ext cx="7559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dirty="0"/>
              <a:t>A </a:t>
            </a:r>
            <a:r>
              <a:rPr lang="en-US" altLang="en-US" sz="2000" b="0" dirty="0" err="1"/>
              <a:t>checkpointing</a:t>
            </a:r>
            <a:r>
              <a:rPr lang="en-US" altLang="en-US" sz="2000" b="0" dirty="0"/>
              <a:t> does the following:</a:t>
            </a:r>
          </a:p>
        </p:txBody>
      </p:sp>
      <p:sp>
        <p:nvSpPr>
          <p:cNvPr id="40968" name="Rectangle 7"/>
          <p:cNvSpPr>
            <a:spLocks noChangeArrowheads="1"/>
          </p:cNvSpPr>
          <p:nvPr/>
        </p:nvSpPr>
        <p:spPr bwMode="auto">
          <a:xfrm>
            <a:off x="1173163" y="2495550"/>
            <a:ext cx="7285037"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lgn="just" eaLnBrk="1" hangingPunct="1">
              <a:buFontTx/>
              <a:buAutoNum type="arabicPeriod"/>
            </a:pPr>
            <a:r>
              <a:rPr lang="en-US" altLang="en-US" sz="2000" b="0" dirty="0"/>
              <a:t>Writes a </a:t>
            </a:r>
            <a:r>
              <a:rPr lang="en-US" altLang="en-US" sz="2000" b="0" i="1" dirty="0" err="1"/>
              <a:t>begin_checkpoint</a:t>
            </a:r>
            <a:r>
              <a:rPr lang="en-US" altLang="en-US" sz="2000" b="0" dirty="0"/>
              <a:t> record in the log</a:t>
            </a:r>
          </a:p>
          <a:p>
            <a:pPr marL="457200" indent="-457200" algn="just" eaLnBrk="1" hangingPunct="1">
              <a:buFontTx/>
              <a:buAutoNum type="arabicPeriod"/>
            </a:pPr>
            <a:r>
              <a:rPr lang="en-US" altLang="en-US" sz="2000" b="0" dirty="0"/>
              <a:t>Writes an </a:t>
            </a:r>
            <a:r>
              <a:rPr lang="en-US" altLang="en-US" sz="2000" b="0" i="1" dirty="0" err="1"/>
              <a:t>end_checkpoint</a:t>
            </a:r>
            <a:r>
              <a:rPr lang="en-US" altLang="en-US" sz="2000" b="0" dirty="0"/>
              <a:t> record in the log.  With this record the contents of transaction table and dirty page table are appended to the end of the log.</a:t>
            </a:r>
          </a:p>
          <a:p>
            <a:pPr marL="457200" indent="-457200" algn="just" eaLnBrk="1" hangingPunct="1">
              <a:buFontTx/>
              <a:buAutoNum type="arabicPeriod"/>
            </a:pPr>
            <a:r>
              <a:rPr lang="en-US" altLang="en-US" sz="2000" b="0" dirty="0"/>
              <a:t>Writes the LSN of the </a:t>
            </a:r>
            <a:r>
              <a:rPr lang="en-US" altLang="en-US" sz="2000" b="0" i="1" dirty="0" err="1"/>
              <a:t>begin_checkpoint</a:t>
            </a:r>
            <a:r>
              <a:rPr lang="en-US" altLang="en-US" sz="2000" b="0" dirty="0"/>
              <a:t> record to a special file.  This special file is accessed during recovery to locate the last checkpoint information.</a:t>
            </a:r>
          </a:p>
        </p:txBody>
      </p:sp>
      <p:sp>
        <p:nvSpPr>
          <p:cNvPr id="40969" name="Rectangle 8"/>
          <p:cNvSpPr>
            <a:spLocks noChangeArrowheads="1"/>
          </p:cNvSpPr>
          <p:nvPr/>
        </p:nvSpPr>
        <p:spPr bwMode="auto">
          <a:xfrm>
            <a:off x="1284288" y="4914900"/>
            <a:ext cx="71739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1" hangingPunct="1"/>
            <a:r>
              <a:rPr lang="en-US" altLang="en-US" sz="2000" b="0" dirty="0"/>
              <a:t>To reduce the cost of </a:t>
            </a:r>
            <a:r>
              <a:rPr lang="en-US" altLang="en-US" sz="2000" b="0" dirty="0" err="1"/>
              <a:t>checkpointing</a:t>
            </a:r>
            <a:r>
              <a:rPr lang="en-US" altLang="en-US" sz="2000" b="0" dirty="0"/>
              <a:t> and allow the system to continue to execute transactions, ARIES uses “fuzzy </a:t>
            </a:r>
            <a:r>
              <a:rPr lang="en-US" altLang="en-US" sz="2000" b="0" dirty="0" err="1"/>
              <a:t>checkpointing</a:t>
            </a:r>
            <a:r>
              <a:rPr lang="en-US" altLang="en-US" sz="2000" b="0" dirty="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41986"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94CAE099-591C-44D2-99B8-C92EE85795BE}" type="slidenum">
              <a:rPr lang="en-US" altLang="en-US" sz="1600"/>
              <a:pPr/>
              <a:t>31</a:t>
            </a:fld>
            <a:endParaRPr lang="en-US" altLang="en-US" sz="1600"/>
          </a:p>
        </p:txBody>
      </p:sp>
      <p:sp>
        <p:nvSpPr>
          <p:cNvPr id="41988" name="Rectangle 3"/>
          <p:cNvSpPr>
            <a:spLocks noChangeArrowheads="1"/>
          </p:cNvSpPr>
          <p:nvPr/>
        </p:nvSpPr>
        <p:spPr bwMode="auto">
          <a:xfrm>
            <a:off x="722313" y="971550"/>
            <a:ext cx="7212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a:solidFill>
                  <a:schemeClr val="bg2"/>
                </a:solidFill>
              </a:rPr>
              <a:t>The ARIES Recovery Algorithm</a:t>
            </a:r>
            <a:endParaRPr lang="en-US" altLang="en-US" b="0">
              <a:solidFill>
                <a:schemeClr val="bg2"/>
              </a:solidFill>
            </a:endParaRPr>
          </a:p>
        </p:txBody>
      </p:sp>
      <p:sp>
        <p:nvSpPr>
          <p:cNvPr id="41989" name="Rectangle 4"/>
          <p:cNvSpPr>
            <a:spLocks noChangeArrowheads="1"/>
          </p:cNvSpPr>
          <p:nvPr/>
        </p:nvSpPr>
        <p:spPr bwMode="auto">
          <a:xfrm>
            <a:off x="1284288" y="1725613"/>
            <a:ext cx="7745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41990" name="Rectangle 6"/>
          <p:cNvSpPr>
            <a:spLocks noChangeArrowheads="1"/>
          </p:cNvSpPr>
          <p:nvPr/>
        </p:nvSpPr>
        <p:spPr bwMode="auto">
          <a:xfrm>
            <a:off x="1073150" y="1428750"/>
            <a:ext cx="5167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a:solidFill>
                  <a:schemeClr val="bg2"/>
                </a:solidFill>
              </a:rPr>
              <a:t>The following steps are performed for recovery</a:t>
            </a:r>
          </a:p>
        </p:txBody>
      </p:sp>
      <p:sp>
        <p:nvSpPr>
          <p:cNvPr id="41991" name="Rectangle 7"/>
          <p:cNvSpPr>
            <a:spLocks noChangeArrowheads="1"/>
          </p:cNvSpPr>
          <p:nvPr/>
        </p:nvSpPr>
        <p:spPr bwMode="auto">
          <a:xfrm>
            <a:off x="1173163" y="1825625"/>
            <a:ext cx="7285037" cy="41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lgn="just" eaLnBrk="1" hangingPunct="1">
              <a:buFontTx/>
              <a:buAutoNum type="arabicPeriod"/>
            </a:pPr>
            <a:r>
              <a:rPr lang="en-US" altLang="en-US" sz="2000">
                <a:solidFill>
                  <a:schemeClr val="bg2"/>
                </a:solidFill>
              </a:rPr>
              <a:t>Analysis phase</a:t>
            </a:r>
            <a:r>
              <a:rPr lang="en-US" altLang="en-US" sz="2000" b="0">
                <a:solidFill>
                  <a:schemeClr val="bg2"/>
                </a:solidFill>
              </a:rPr>
              <a:t>: Start at the begin_checkpoint record and proceed to the end_checkpoint record.  Access transaction table and dirty page table are appended to the end of the log.  Note that during this phase some other log records may be written to the log and transaction table may be modified.  The analysis phase compiles the set of redo and undo to be performed and ends.</a:t>
            </a:r>
          </a:p>
          <a:p>
            <a:pPr marL="457200" indent="-457200" algn="just" eaLnBrk="1" hangingPunct="1">
              <a:buFontTx/>
              <a:buAutoNum type="arabicPeriod"/>
            </a:pPr>
            <a:r>
              <a:rPr lang="en-US" altLang="en-US" sz="2000">
                <a:solidFill>
                  <a:schemeClr val="bg2"/>
                </a:solidFill>
              </a:rPr>
              <a:t>Redo phase</a:t>
            </a:r>
            <a:r>
              <a:rPr lang="en-US" altLang="en-US" sz="2000" b="0">
                <a:solidFill>
                  <a:schemeClr val="bg2"/>
                </a:solidFill>
              </a:rPr>
              <a:t>: Starts from the point in the log up to where all dirty pages have been flushed, and move forward to the end of the log.  Any change that appears in the dirty page table is redone.</a:t>
            </a:r>
          </a:p>
          <a:p>
            <a:pPr marL="457200" indent="-457200" algn="just" eaLnBrk="1" hangingPunct="1">
              <a:buFontTx/>
              <a:buAutoNum type="arabicPeriod"/>
            </a:pPr>
            <a:r>
              <a:rPr lang="en-US" altLang="en-US" sz="2000">
                <a:solidFill>
                  <a:schemeClr val="bg2"/>
                </a:solidFill>
              </a:rPr>
              <a:t>Undo phase</a:t>
            </a:r>
            <a:r>
              <a:rPr lang="en-US" altLang="en-US" sz="2000" b="0">
                <a:solidFill>
                  <a:schemeClr val="bg2"/>
                </a:solidFill>
              </a:rPr>
              <a:t>: Starts from the end of the log and proceeds backward while performing appropriate undo.  For each undo it writes a compensating record in the log.</a:t>
            </a:r>
          </a:p>
          <a:p>
            <a:pPr marL="457200" indent="-457200" algn="just" eaLnBrk="1" hangingPunct="1">
              <a:spcBef>
                <a:spcPct val="30000"/>
              </a:spcBef>
            </a:pPr>
            <a:r>
              <a:rPr lang="en-US" altLang="en-US" sz="2000" b="0">
                <a:solidFill>
                  <a:schemeClr val="bg2"/>
                </a:solidFill>
              </a:rPr>
              <a:t>The recovery completes at the end of undo phase.</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43010"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2C948DFE-5CC5-46F1-983E-CE6AFA2F1803}" type="slidenum">
              <a:rPr lang="en-US" altLang="en-US" sz="1600"/>
              <a:pPr/>
              <a:t>32</a:t>
            </a:fld>
            <a:endParaRPr lang="en-US" altLang="en-US" sz="1600"/>
          </a:p>
        </p:txBody>
      </p:sp>
      <p:graphicFrame>
        <p:nvGraphicFramePr>
          <p:cNvPr id="43014" name="Object 5"/>
          <p:cNvGraphicFramePr>
            <a:graphicFrameLocks noGrp="1" noChangeAspect="1"/>
          </p:cNvGraphicFramePr>
          <p:nvPr>
            <p:ph sz="quarter" idx="1"/>
          </p:nvPr>
        </p:nvGraphicFramePr>
        <p:xfrm>
          <a:off x="1492250" y="1428750"/>
          <a:ext cx="6010275" cy="4870450"/>
        </p:xfrm>
        <a:graphic>
          <a:graphicData uri="http://schemas.openxmlformats.org/presentationml/2006/ole">
            <mc:AlternateContent xmlns:mc="http://schemas.openxmlformats.org/markup-compatibility/2006">
              <mc:Choice xmlns:v="urn:schemas-microsoft-com:vml" Requires="v">
                <p:oleObj spid="_x0000_s43067" name="VISIO" r:id="rId3" imgW="6385585" imgH="5172978" progId="Visio.Drawing.6">
                  <p:embed/>
                </p:oleObj>
              </mc:Choice>
              <mc:Fallback>
                <p:oleObj name="VISIO" r:id="rId3" imgW="6385585" imgH="5172978" progId="Visio.Drawing.6">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2250" y="1428750"/>
                        <a:ext cx="6010275" cy="487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3012" name="Rectangle 3"/>
          <p:cNvSpPr>
            <a:spLocks noChangeArrowheads="1"/>
          </p:cNvSpPr>
          <p:nvPr/>
        </p:nvSpPr>
        <p:spPr bwMode="auto">
          <a:xfrm>
            <a:off x="920750" y="873125"/>
            <a:ext cx="7212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a:solidFill>
                  <a:schemeClr val="bg2"/>
                </a:solidFill>
              </a:rPr>
              <a:t> An example of the working of ARIES scheme</a:t>
            </a:r>
            <a:endParaRPr lang="en-US" altLang="en-US" b="0">
              <a:solidFill>
                <a:schemeClr val="bg2"/>
              </a:solidFill>
            </a:endParaRPr>
          </a:p>
        </p:txBody>
      </p:sp>
      <p:sp>
        <p:nvSpPr>
          <p:cNvPr id="43013" name="Rectangle 4"/>
          <p:cNvSpPr>
            <a:spLocks noChangeArrowheads="1"/>
          </p:cNvSpPr>
          <p:nvPr/>
        </p:nvSpPr>
        <p:spPr bwMode="auto">
          <a:xfrm>
            <a:off x="920750" y="1687513"/>
            <a:ext cx="7745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a:xfrm>
            <a:off x="1284288" y="247650"/>
            <a:ext cx="7173912" cy="723900"/>
          </a:xfrm>
        </p:spPr>
        <p:txBody>
          <a:bodyPr/>
          <a:lstStyle/>
          <a:p>
            <a:pPr eaLnBrk="1" hangingPunct="1"/>
            <a:r>
              <a:rPr lang="en-US" altLang="en-US" sz="3600" b="1" smtClean="0">
                <a:cs typeface="Times New Roman" pitchFamily="18" charset="0"/>
              </a:rPr>
              <a:t>Database Recovery</a:t>
            </a:r>
            <a:endParaRPr lang="en-US" altLang="en-US" sz="3600" b="1" smtClean="0"/>
          </a:p>
        </p:txBody>
      </p:sp>
      <p:sp>
        <p:nvSpPr>
          <p:cNvPr id="44034" name="Slide Number Placeholder 3"/>
          <p:cNvSpPr>
            <a:spLocks noGrp="1"/>
          </p:cNvSpPr>
          <p:nvPr>
            <p:ph type="sldNum" sz="quarter" idx="4294967295"/>
          </p:nvPr>
        </p:nvSpPr>
        <p:spPr>
          <a:xfrm>
            <a:off x="6553200" y="6356350"/>
            <a:ext cx="2133600" cy="3651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a:solidFill>
                  <a:schemeClr val="bg2"/>
                </a:solidFill>
                <a:latin typeface="Times New Roman" pitchFamily="18" charset="0"/>
              </a:defRPr>
            </a:lvl1pPr>
            <a:lvl2pPr>
              <a:defRPr sz="2800">
                <a:solidFill>
                  <a:schemeClr val="bg2"/>
                </a:solidFill>
                <a:latin typeface="Times New Roman" pitchFamily="18" charset="0"/>
              </a:defRPr>
            </a:lvl2pPr>
            <a:lvl3pPr>
              <a:defRPr sz="2400">
                <a:solidFill>
                  <a:schemeClr val="bg2"/>
                </a:solidFill>
                <a:latin typeface="Times New Roman" pitchFamily="18" charset="0"/>
              </a:defRPr>
            </a:lvl3pPr>
            <a:lvl4pPr>
              <a:defRPr sz="2000">
                <a:solidFill>
                  <a:schemeClr val="bg2"/>
                </a:solidFill>
                <a:latin typeface="Times New Roman" pitchFamily="18" charset="0"/>
              </a:defRPr>
            </a:lvl4pPr>
            <a:lvl5pPr>
              <a:defRPr sz="2000">
                <a:solidFill>
                  <a:schemeClr val="bg2"/>
                </a:solidFill>
                <a:latin typeface="Times New Roman" pitchFamily="18" charset="0"/>
              </a:defRPr>
            </a:lvl5pPr>
            <a:lvl6pPr eaLnBrk="0" hangingPunct="0">
              <a:defRPr sz="2000">
                <a:solidFill>
                  <a:schemeClr val="bg2"/>
                </a:solidFill>
                <a:latin typeface="Times New Roman" pitchFamily="18" charset="0"/>
              </a:defRPr>
            </a:lvl6pPr>
            <a:lvl7pPr eaLnBrk="0" hangingPunct="0">
              <a:defRPr sz="2000">
                <a:solidFill>
                  <a:schemeClr val="bg2"/>
                </a:solidFill>
                <a:latin typeface="Times New Roman" pitchFamily="18" charset="0"/>
              </a:defRPr>
            </a:lvl7pPr>
            <a:lvl8pPr eaLnBrk="0" hangingPunct="0">
              <a:defRPr sz="2000">
                <a:solidFill>
                  <a:schemeClr val="bg2"/>
                </a:solidFill>
                <a:latin typeface="Times New Roman" pitchFamily="18" charset="0"/>
              </a:defRPr>
            </a:lvl8pPr>
            <a:lvl9pPr eaLnBrk="0" hangingPunct="0">
              <a:defRPr sz="2000">
                <a:solidFill>
                  <a:schemeClr val="bg2"/>
                </a:solidFill>
                <a:latin typeface="Times New Roman" pitchFamily="18" charset="0"/>
              </a:defRPr>
            </a:lvl9pPr>
          </a:lstStyle>
          <a:p>
            <a:r>
              <a:rPr lang="en-US" altLang="en-US" sz="1600"/>
              <a:t>Chapter 19-</a:t>
            </a:r>
            <a:fld id="{63F566B1-A9F3-464B-9A04-4AF6F3F00EE7}" type="slidenum">
              <a:rPr lang="en-US" altLang="en-US" sz="1600"/>
              <a:pPr/>
              <a:t>33</a:t>
            </a:fld>
            <a:endParaRPr lang="en-US" altLang="en-US" sz="1600"/>
          </a:p>
        </p:txBody>
      </p:sp>
      <p:sp>
        <p:nvSpPr>
          <p:cNvPr id="44036" name="Rectangle 3"/>
          <p:cNvSpPr>
            <a:spLocks noChangeArrowheads="1"/>
          </p:cNvSpPr>
          <p:nvPr/>
        </p:nvSpPr>
        <p:spPr bwMode="auto">
          <a:xfrm>
            <a:off x="558800" y="1101725"/>
            <a:ext cx="5499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eaLnBrk="1" hangingPunct="1"/>
            <a:r>
              <a:rPr lang="en-US" altLang="en-US">
                <a:solidFill>
                  <a:schemeClr val="bg2"/>
                </a:solidFill>
              </a:rPr>
              <a:t> 10   Recovery in multidatabase system</a:t>
            </a:r>
            <a:endParaRPr lang="en-US" altLang="en-US" b="0">
              <a:solidFill>
                <a:schemeClr val="bg2"/>
              </a:solidFill>
            </a:endParaRPr>
          </a:p>
        </p:txBody>
      </p:sp>
      <p:sp>
        <p:nvSpPr>
          <p:cNvPr id="44037" name="Rectangle 4"/>
          <p:cNvSpPr>
            <a:spLocks noChangeArrowheads="1"/>
          </p:cNvSpPr>
          <p:nvPr/>
        </p:nvSpPr>
        <p:spPr bwMode="auto">
          <a:xfrm>
            <a:off x="920750" y="1687513"/>
            <a:ext cx="7745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endParaRPr lang="en-US" altLang="en-US" sz="2000">
              <a:solidFill>
                <a:schemeClr val="bg2"/>
              </a:solidFill>
            </a:endParaRPr>
          </a:p>
        </p:txBody>
      </p:sp>
      <p:sp>
        <p:nvSpPr>
          <p:cNvPr id="44038" name="Rectangle 7"/>
          <p:cNvSpPr>
            <a:spLocks noChangeArrowheads="1"/>
          </p:cNvSpPr>
          <p:nvPr/>
        </p:nvSpPr>
        <p:spPr bwMode="auto">
          <a:xfrm>
            <a:off x="1073150" y="1854200"/>
            <a:ext cx="7212013" cy="344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 lvl="1" algn="just" eaLnBrk="1" hangingPunct="1"/>
            <a:r>
              <a:rPr lang="en-US" altLang="en-US" sz="2000" b="0">
                <a:solidFill>
                  <a:schemeClr val="bg2"/>
                </a:solidFill>
              </a:rPr>
              <a:t>A multidatabase system is a special distributed database system where one node may be running relational database system under Unix, another may be running object-oriented system under window and so on.  A transaction may run in a distributed fashion at multiple nodes.  In this execution scenario the transaction commits only when all these multiple nodes agree to commit individually the part of the transaction they were executing.  This commit scheme is  referred to as “</a:t>
            </a:r>
            <a:r>
              <a:rPr lang="en-US" altLang="en-US" sz="2000" b="0" i="1">
                <a:solidFill>
                  <a:schemeClr val="bg2"/>
                </a:solidFill>
              </a:rPr>
              <a:t>two-phase commit</a:t>
            </a:r>
            <a:r>
              <a:rPr lang="en-US" altLang="en-US" sz="2000" b="0">
                <a:solidFill>
                  <a:schemeClr val="bg2"/>
                </a:solidFill>
              </a:rPr>
              <a:t>” (2PC). If any one of these nodes fails or cannot commit the part of the transaction, then the transaction is aborted.  Each node recovers the transaction under its own recovery protocol.</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8114</TotalTime>
  <Words>2428</Words>
  <Application>Microsoft Office PowerPoint</Application>
  <PresentationFormat>On-screen Show (4:3)</PresentationFormat>
  <Paragraphs>260</Paragraphs>
  <Slides>33</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35" baseType="lpstr">
      <vt:lpstr>Equity</vt:lpstr>
      <vt:lpstr>VISIO</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lpstr>Database Recovery</vt:lpstr>
    </vt:vector>
  </TitlesOfParts>
  <Company>Addsion-Wesley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Database Systems</dc:title>
  <dc:creator>Shamkant B. Navathe</dc:creator>
  <cp:lastModifiedBy>DELL</cp:lastModifiedBy>
  <cp:revision>505</cp:revision>
  <cp:lastPrinted>2001-05-28T10:10:18Z</cp:lastPrinted>
  <dcterms:created xsi:type="dcterms:W3CDTF">1998-07-18T17:10:54Z</dcterms:created>
  <dcterms:modified xsi:type="dcterms:W3CDTF">2024-11-13T03:42:09Z</dcterms:modified>
</cp:coreProperties>
</file>