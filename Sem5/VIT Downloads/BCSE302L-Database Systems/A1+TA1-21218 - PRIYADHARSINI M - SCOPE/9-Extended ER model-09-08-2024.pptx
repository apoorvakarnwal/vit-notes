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57" r:id="rId4"/>
    <p:sldId id="276" r:id="rId5"/>
    <p:sldId id="258" r:id="rId6"/>
    <p:sldId id="277" r:id="rId7"/>
    <p:sldId id="259" r:id="rId8"/>
    <p:sldId id="260" r:id="rId9"/>
    <p:sldId id="287" r:id="rId10"/>
    <p:sldId id="261" r:id="rId11"/>
    <p:sldId id="278" r:id="rId12"/>
    <p:sldId id="262" r:id="rId13"/>
    <p:sldId id="285" r:id="rId14"/>
    <p:sldId id="263" r:id="rId15"/>
    <p:sldId id="264" r:id="rId16"/>
    <p:sldId id="265" r:id="rId17"/>
    <p:sldId id="266" r:id="rId18"/>
    <p:sldId id="268" r:id="rId19"/>
    <p:sldId id="269" r:id="rId20"/>
    <p:sldId id="271" r:id="rId21"/>
    <p:sldId id="272" r:id="rId22"/>
    <p:sldId id="273" r:id="rId23"/>
    <p:sldId id="275" r:id="rId24"/>
    <p:sldId id="286" r:id="rId25"/>
    <p:sldId id="279" r:id="rId26"/>
    <p:sldId id="280" r:id="rId27"/>
    <p:sldId id="281" r:id="rId28"/>
    <p:sldId id="282" r:id="rId29"/>
    <p:sldId id="288" r:id="rId30"/>
    <p:sldId id="289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362" autoAdjust="0"/>
    <p:restoredTop sz="94574" autoAdjust="0"/>
  </p:normalViewPr>
  <p:slideViewPr>
    <p:cSldViewPr>
      <p:cViewPr varScale="1">
        <p:scale>
          <a:sx n="51" d="100"/>
          <a:sy n="51" d="100"/>
        </p:scale>
        <p:origin x="-123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Mapping ER model to Relational </a:t>
            </a:r>
            <a:r>
              <a:rPr lang="en-US" dirty="0" smtClean="0"/>
              <a:t>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NOT NULL Constraint − </a:t>
            </a:r>
            <a:r>
              <a:rPr lang="en-US" dirty="0" smtClean="0"/>
              <a:t>Ensures that a column cannot have NULL value.</a:t>
            </a:r>
          </a:p>
          <a:p>
            <a:r>
              <a:rPr lang="en-US" b="1" dirty="0" smtClean="0"/>
              <a:t>DEFAULT Constraint − </a:t>
            </a:r>
            <a:r>
              <a:rPr lang="en-US" dirty="0" smtClean="0"/>
              <a:t>Provides a default value for a column when none is specified.</a:t>
            </a:r>
          </a:p>
          <a:p>
            <a:r>
              <a:rPr lang="en-US" b="1" dirty="0" smtClean="0"/>
              <a:t>UNIQUE Constraint −</a:t>
            </a:r>
            <a:r>
              <a:rPr lang="en-US" dirty="0" smtClean="0"/>
              <a:t> Ensures that all values in a column are different.</a:t>
            </a:r>
          </a:p>
          <a:p>
            <a:r>
              <a:rPr lang="en-US" b="1" dirty="0" smtClean="0"/>
              <a:t>PRIMARY Key − </a:t>
            </a:r>
            <a:r>
              <a:rPr lang="en-US" dirty="0" smtClean="0"/>
              <a:t>Uniquely identifies each row/record in a database table.</a:t>
            </a:r>
          </a:p>
          <a:p>
            <a:r>
              <a:rPr lang="en-US" b="1" dirty="0" smtClean="0"/>
              <a:t>FOREIGN Key − </a:t>
            </a:r>
            <a:r>
              <a:rPr lang="en-US" dirty="0" smtClean="0"/>
              <a:t>Uniquely identifies a row/record in any of the given database table.</a:t>
            </a:r>
          </a:p>
          <a:p>
            <a:r>
              <a:rPr lang="en-US" b="1" dirty="0" smtClean="0"/>
              <a:t>CHECK Constraint −</a:t>
            </a:r>
            <a:r>
              <a:rPr lang="en-US" dirty="0" smtClean="0"/>
              <a:t> The CHECK constraint ensures that all the values in a column satisfies certain conditions.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 to Relational Schema Mapping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7 Steps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 to Relational Schema Mapping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en-US" dirty="0" smtClean="0"/>
              <a:t>	Step 1: Mapping of Regular Entity Types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Step 2: Mapping of Weak Entity Types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Step 3: Mapping of Binary 1:1 Relation Types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Step 4: Mapping of Binary 1:N Relationship    	       Types.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Step 5: Mapping of Binary M:N Relationship 	       Types.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Step 6: Mapping of Multi valued attributes.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	Step 7: Mapping of N-</a:t>
            </a:r>
            <a:r>
              <a:rPr lang="en-US" dirty="0" err="1" smtClean="0"/>
              <a:t>ary</a:t>
            </a:r>
            <a:r>
              <a:rPr lang="en-US" dirty="0" smtClean="0"/>
              <a:t> Relationship Types.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1: Mapping of Regular Entity Types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1: Mapping of Regular Entity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 smtClean="0"/>
              <a:t>Create a relation R that includes all simple attributes of E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Each entity became a table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Each single value attribute becomes column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Derived attributes are ignored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Composite attribute represented by components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Key attribute became the primary key of the table</a:t>
            </a:r>
          </a:p>
          <a:p>
            <a:pPr>
              <a:lnSpc>
                <a:spcPct val="80000"/>
              </a:lnSpc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1: Mapping of Regular Entity Types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676400"/>
            <a:ext cx="7119938" cy="473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1: Mapping of Regular Entity Types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" y="1732280"/>
          <a:ext cx="8839200" cy="146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73660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RollNo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Hno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Streat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City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PIN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Hostel Name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Room 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Dob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Sex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 l="948" t="14647" r="1704" b="16919"/>
          <a:stretch>
            <a:fillRect/>
          </a:stretch>
        </p:blipFill>
        <p:spPr bwMode="auto">
          <a:xfrm>
            <a:off x="381000" y="0"/>
            <a:ext cx="8051800" cy="424497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2: Mapping of Weak Entity Types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2: Mapping of Weak Entity Types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33450" y="1600200"/>
            <a:ext cx="737235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2: Mapping of Weak Entity Types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19200" y="16764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Course 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Course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Course Credits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24000" y="32004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SectionID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CourseID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Section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 No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" name="Curved Connector 9"/>
          <p:cNvCxnSpPr/>
          <p:nvPr/>
        </p:nvCxnSpPr>
        <p:spPr>
          <a:xfrm>
            <a:off x="2209800" y="2057400"/>
            <a:ext cx="1295400" cy="1143000"/>
          </a:xfrm>
          <a:prstGeom prst="curvedConnector3">
            <a:avLst>
              <a:gd name="adj1" fmla="val 10176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3886200"/>
            <a:ext cx="4038600" cy="2590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create table </a:t>
            </a:r>
            <a:r>
              <a:rPr lang="en-US" dirty="0" smtClean="0"/>
              <a:t>course</a:t>
            </a:r>
          </a:p>
          <a:p>
            <a:r>
              <a:rPr lang="en-US" dirty="0" smtClean="0"/>
              <a:t>(</a:t>
            </a:r>
          </a:p>
          <a:p>
            <a:r>
              <a:rPr lang="en-US" dirty="0" err="1" smtClean="0"/>
              <a:t>attributename</a:t>
            </a:r>
            <a:r>
              <a:rPr lang="en-US" dirty="0" smtClean="0"/>
              <a:t> type  </a:t>
            </a:r>
            <a:r>
              <a:rPr lang="en-US" dirty="0" smtClean="0"/>
              <a:t>primary key,</a:t>
            </a:r>
          </a:p>
          <a:p>
            <a:r>
              <a:rPr lang="en-US" dirty="0" err="1" smtClean="0"/>
              <a:t>attributename</a:t>
            </a:r>
            <a:r>
              <a:rPr lang="en-US" dirty="0" smtClean="0"/>
              <a:t> </a:t>
            </a:r>
            <a:r>
              <a:rPr lang="en-US" dirty="0" smtClean="0"/>
              <a:t>type </a:t>
            </a:r>
            <a:endParaRPr lang="en-US" dirty="0" smtClean="0"/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);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267200" y="3886200"/>
            <a:ext cx="4038600" cy="2590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create table </a:t>
            </a:r>
            <a:r>
              <a:rPr lang="en-US" dirty="0" smtClean="0"/>
              <a:t>section</a:t>
            </a:r>
          </a:p>
          <a:p>
            <a:r>
              <a:rPr lang="en-US" dirty="0" smtClean="0"/>
              <a:t>(</a:t>
            </a:r>
          </a:p>
          <a:p>
            <a:r>
              <a:rPr lang="en-US" dirty="0" err="1" smtClean="0"/>
              <a:t>attributename</a:t>
            </a:r>
            <a:r>
              <a:rPr lang="en-US" dirty="0" smtClean="0"/>
              <a:t> type  </a:t>
            </a:r>
            <a:r>
              <a:rPr lang="en-US" dirty="0" smtClean="0"/>
              <a:t>primary key,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attributename</a:t>
            </a:r>
            <a:r>
              <a:rPr lang="en-US" dirty="0" smtClean="0"/>
              <a:t> type </a:t>
            </a:r>
            <a:r>
              <a:rPr lang="en-US" dirty="0" smtClean="0"/>
              <a:t>, </a:t>
            </a:r>
          </a:p>
          <a:p>
            <a:r>
              <a:rPr lang="en-US" dirty="0" smtClean="0"/>
              <a:t>foreign </a:t>
            </a:r>
            <a:r>
              <a:rPr lang="en-US" dirty="0" smtClean="0"/>
              <a:t>key </a:t>
            </a:r>
            <a:r>
              <a:rPr lang="en-US" dirty="0" smtClean="0"/>
              <a:t>(loan-number) </a:t>
            </a:r>
            <a:r>
              <a:rPr lang="en-US" dirty="0" smtClean="0"/>
              <a:t>references </a:t>
            </a:r>
            <a:r>
              <a:rPr lang="en-US" dirty="0" smtClean="0"/>
              <a:t>course(loan-number)</a:t>
            </a:r>
            <a:endParaRPr lang="en-US" dirty="0" smtClean="0"/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);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allAtOnce" animBg="1"/>
      <p:bldP spid="15" grpId="0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/>
          <a:srcRect l="900" t="27867" r="1082" b="27628"/>
          <a:stretch>
            <a:fillRect/>
          </a:stretch>
        </p:blipFill>
        <p:spPr bwMode="auto">
          <a:xfrm>
            <a:off x="304800" y="838200"/>
            <a:ext cx="8475663" cy="288607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371600" y="3962400"/>
            <a:ext cx="5791200" cy="2590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create table </a:t>
            </a:r>
            <a:r>
              <a:rPr lang="en-US" dirty="0" err="1" smtClean="0"/>
              <a:t>tablename</a:t>
            </a:r>
            <a:endParaRPr lang="en-US" dirty="0" smtClean="0"/>
          </a:p>
          <a:p>
            <a:r>
              <a:rPr lang="en-US" dirty="0" smtClean="0"/>
              <a:t>(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attributename</a:t>
            </a:r>
            <a:r>
              <a:rPr lang="en-US" dirty="0" smtClean="0"/>
              <a:t> type  </a:t>
            </a:r>
            <a:r>
              <a:rPr lang="en-US" dirty="0" smtClean="0"/>
              <a:t>primary key,</a:t>
            </a:r>
          </a:p>
          <a:p>
            <a:r>
              <a:rPr lang="en-US" dirty="0" smtClean="0"/>
              <a:t>	</a:t>
            </a:r>
            <a:r>
              <a:rPr lang="en-US" dirty="0" smtClean="0"/>
              <a:t> </a:t>
            </a:r>
            <a:r>
              <a:rPr lang="en-US" dirty="0" err="1" smtClean="0"/>
              <a:t>attributename</a:t>
            </a:r>
            <a:r>
              <a:rPr lang="en-US" dirty="0" smtClean="0"/>
              <a:t> type </a:t>
            </a:r>
            <a:r>
              <a:rPr lang="en-US" dirty="0" smtClean="0"/>
              <a:t>, </a:t>
            </a:r>
          </a:p>
          <a:p>
            <a:r>
              <a:rPr lang="en-US" dirty="0" smtClean="0"/>
              <a:t>foreign </a:t>
            </a:r>
            <a:r>
              <a:rPr lang="en-US" dirty="0" smtClean="0"/>
              <a:t>key </a:t>
            </a:r>
            <a:r>
              <a:rPr lang="en-US" dirty="0" smtClean="0"/>
              <a:t>(loan-number) </a:t>
            </a:r>
            <a:r>
              <a:rPr lang="en-US" dirty="0" smtClean="0"/>
              <a:t>references </a:t>
            </a:r>
            <a:r>
              <a:rPr lang="en-US" dirty="0" err="1" smtClean="0"/>
              <a:t>Parenttable</a:t>
            </a:r>
            <a:r>
              <a:rPr lang="en-US" dirty="0" smtClean="0"/>
              <a:t>(loan-number),</a:t>
            </a:r>
            <a:endParaRPr lang="en-US" dirty="0" smtClean="0"/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);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3: Mapping of Binary 1:1 Relation Types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600200"/>
            <a:ext cx="7731332" cy="4737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3: Mapping of Binary 1:1 Relation Types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161036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Phone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Age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Teaches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524000" y="305816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Course 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Credit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3: Mapping of Binary 1:1 Relation Types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Employee manages the department</a:t>
            </a:r>
          </a:p>
          <a:p>
            <a:r>
              <a:rPr lang="en-US" dirty="0" smtClean="0"/>
              <a:t>Employee sits on the chair</a:t>
            </a:r>
          </a:p>
          <a:p>
            <a:r>
              <a:rPr lang="en-US" dirty="0" smtClean="0"/>
              <a:t>Chair used by the employee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4: Mapping of Binary 1:N Relationship Types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676400"/>
            <a:ext cx="7079796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41910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Phone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Sex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52600" y="53340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Roomno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Address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Curved Connector 6"/>
          <p:cNvCxnSpPr/>
          <p:nvPr/>
        </p:nvCxnSpPr>
        <p:spPr>
          <a:xfrm rot="10800000">
            <a:off x="3048000" y="4648200"/>
            <a:ext cx="2209800" cy="609600"/>
          </a:xfrm>
          <a:prstGeom prst="curvedConnector3">
            <a:avLst>
              <a:gd name="adj1" fmla="val 10448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4: Mapping of Binary 1:N Relationship Types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Teacher teaches many subjects</a:t>
            </a:r>
          </a:p>
          <a:p>
            <a:r>
              <a:rPr lang="en-US" dirty="0" smtClean="0"/>
              <a:t>Student registered many courses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5: Mapping of Binary M:N Relationship Types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905000"/>
            <a:ext cx="7848600" cy="2225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3434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Roll 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Address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51054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RollNo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CoutseID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43000" y="59436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CourseID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Credit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Curved Connector 7"/>
          <p:cNvCxnSpPr/>
          <p:nvPr/>
        </p:nvCxnSpPr>
        <p:spPr>
          <a:xfrm rot="10800000" flipV="1">
            <a:off x="2057400" y="4724400"/>
            <a:ext cx="1905000" cy="304800"/>
          </a:xfrm>
          <a:prstGeom prst="curvedConnector3">
            <a:avLst>
              <a:gd name="adj1" fmla="val 996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/>
          <p:nvPr/>
        </p:nvCxnSpPr>
        <p:spPr>
          <a:xfrm flipV="1">
            <a:off x="3962400" y="5486400"/>
            <a:ext cx="1447800" cy="457200"/>
          </a:xfrm>
          <a:prstGeom prst="curvedConnector3">
            <a:avLst>
              <a:gd name="adj1" fmla="val 12473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6: Mapping of Multi valued attributes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38262" y="1710530"/>
            <a:ext cx="6816843" cy="4537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6: Mapping of Multi valued attributes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/>
        </p:nvGraphicFramePr>
        <p:xfrm>
          <a:off x="457200" y="2286000"/>
          <a:ext cx="3810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Employee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Emp_ID</a:t>
                      </a:r>
                      <a:r>
                        <a:rPr lang="en-US" dirty="0" smtClean="0"/>
                        <a:t> (PK)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</a:t>
                      </a:r>
                      <a:r>
                        <a:rPr lang="en-US" baseline="0" dirty="0" err="1" smtClean="0"/>
                        <a:t>_First</a:t>
                      </a:r>
                      <a:r>
                        <a:rPr lang="en-US" baseline="0" dirty="0" smtClean="0"/>
                        <a:t> Name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Emp</a:t>
                      </a:r>
                      <a:r>
                        <a:rPr lang="en-US" baseline="0" dirty="0" err="1" smtClean="0"/>
                        <a:t>_Last</a:t>
                      </a:r>
                      <a:r>
                        <a:rPr lang="en-US" baseline="0" dirty="0" smtClean="0"/>
                        <a:t> Name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….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….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57800" y="2819400"/>
          <a:ext cx="27432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Emp-Email_Id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Email_ID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Emp_ID</a:t>
                      </a:r>
                      <a:r>
                        <a:rPr lang="en-US" baseline="0" dirty="0" smtClean="0"/>
                        <a:t> (FK)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7: Mapping of N-</a:t>
            </a:r>
            <a:r>
              <a:rPr lang="en-US" dirty="0" err="1" smtClean="0"/>
              <a:t>ary</a:t>
            </a:r>
            <a:r>
              <a:rPr lang="en-US" dirty="0" smtClean="0"/>
              <a:t> Relationship Types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Doctor prescribed medicine to a patient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7: Mapping of N-</a:t>
            </a:r>
            <a:r>
              <a:rPr lang="en-US" dirty="0" err="1" smtClean="0"/>
              <a:t>ary</a:t>
            </a:r>
            <a:r>
              <a:rPr lang="en-US" dirty="0" smtClean="0"/>
              <a:t> Relationship Types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Doctor prescribed medicine to a patient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590800"/>
          <a:ext cx="2209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Doctor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Doctor_ID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…..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0" y="4495800"/>
          <a:ext cx="23622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Doctor_ID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 smtClean="0"/>
                        <a:t>Medicine_ID</a:t>
                      </a:r>
                      <a:endParaRPr lang="en-US" b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Patient_ID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Next Visit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2590800"/>
          <a:ext cx="228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Medicine</a:t>
                      </a:r>
                      <a:endParaRPr 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err="1" smtClean="0"/>
                        <a:t>Medicine_ID</a:t>
                      </a:r>
                      <a:endParaRPr 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Medicine Name</a:t>
                      </a:r>
                      <a:endParaRPr 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…..</a:t>
                      </a:r>
                      <a:endParaRPr lang="en-US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352800" y="2590800"/>
          <a:ext cx="22098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Patient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Patient_ID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Patient Name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……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 l="1160" t="27061" r="774" b="26804"/>
          <a:stretch>
            <a:fillRect/>
          </a:stretch>
        </p:blipFill>
        <p:spPr bwMode="auto">
          <a:xfrm>
            <a:off x="228600" y="228600"/>
            <a:ext cx="8278813" cy="29210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 referencing 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Employees who are also a couple (1:1)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2514600"/>
          <a:ext cx="8686799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1379"/>
                <a:gridCol w="1353084"/>
                <a:gridCol w="1353084"/>
                <a:gridCol w="1353084"/>
                <a:gridCol w="1353084"/>
                <a:gridCol w="135308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Employee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</a:t>
                      </a:r>
                      <a:r>
                        <a:rPr lang="en-US" dirty="0" smtClean="0"/>
                        <a:t> 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Emp</a:t>
                      </a:r>
                      <a:r>
                        <a:rPr lang="en-US" dirty="0" smtClean="0"/>
                        <a:t> Name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Date</a:t>
                      </a:r>
                      <a:r>
                        <a:rPr lang="en-US" baseline="0" dirty="0" smtClean="0"/>
                        <a:t> of Join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Skill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Spouse ( FK)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 referencing 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Employee, </a:t>
            </a:r>
            <a:r>
              <a:rPr lang="en-US" dirty="0" err="1" smtClean="0"/>
              <a:t>Manager_of</a:t>
            </a:r>
            <a:r>
              <a:rPr lang="en-US" dirty="0" smtClean="0"/>
              <a:t> (1:N)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62200" y="2514600"/>
          <a:ext cx="4038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Employee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</a:t>
                      </a:r>
                      <a:r>
                        <a:rPr lang="en-US" dirty="0" smtClean="0"/>
                        <a:t> ID (PK)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</a:t>
                      </a:r>
                      <a:r>
                        <a:rPr lang="en-US" dirty="0" smtClean="0"/>
                        <a:t> Name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r>
                        <a:rPr lang="en-US" baseline="0" dirty="0" smtClean="0"/>
                        <a:t> of Join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Skill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Mgr ID ( FK)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 referencing 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Employee, </a:t>
            </a:r>
            <a:r>
              <a:rPr lang="en-US" dirty="0" err="1" smtClean="0"/>
              <a:t>Guarantor_of</a:t>
            </a:r>
            <a:r>
              <a:rPr lang="en-US" dirty="0" smtClean="0"/>
              <a:t> (M:N)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667000"/>
          <a:ext cx="25908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Employee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</a:t>
                      </a:r>
                      <a:r>
                        <a:rPr lang="en-US" dirty="0" smtClean="0"/>
                        <a:t> ID (PK)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</a:t>
                      </a:r>
                      <a:r>
                        <a:rPr lang="en-US" dirty="0" smtClean="0"/>
                        <a:t> Name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r>
                        <a:rPr lang="en-US" baseline="0" dirty="0" smtClean="0"/>
                        <a:t> of Join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Skill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…..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0" y="2590800"/>
          <a:ext cx="25908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Guarantor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</a:t>
                      </a:r>
                      <a:r>
                        <a:rPr lang="en-US" dirty="0" smtClean="0"/>
                        <a:t> ID (FK)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 ID (FK)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It Consists of relation name and set of attributes (or) column names.</a:t>
            </a:r>
          </a:p>
          <a:p>
            <a:r>
              <a:rPr lang="en-US" dirty="0" smtClean="0"/>
              <a:t>Each attribute has an associated with domain (set of atomic values, i.e. data type).</a:t>
            </a:r>
          </a:p>
          <a:p>
            <a:r>
              <a:rPr lang="en-US" dirty="0" smtClean="0"/>
              <a:t>Example:</a:t>
            </a:r>
          </a:p>
          <a:p>
            <a:pPr lvl="1">
              <a:buNone/>
            </a:pPr>
            <a:r>
              <a:rPr lang="en-US" dirty="0" smtClean="0"/>
              <a:t>Student { Student name	: 	string</a:t>
            </a:r>
          </a:p>
          <a:p>
            <a:pPr lvl="1">
              <a:buNone/>
            </a:pPr>
            <a:r>
              <a:rPr lang="en-US" dirty="0" smtClean="0"/>
              <a:t>			 Roll Number	: 	string</a:t>
            </a:r>
          </a:p>
          <a:p>
            <a:pPr lvl="1">
              <a:buNone/>
            </a:pPr>
            <a:r>
              <a:rPr lang="en-US" dirty="0" smtClean="0"/>
              <a:t>			 Phone Number	:	integer</a:t>
            </a:r>
          </a:p>
          <a:p>
            <a:pPr lvl="1">
              <a:buNone/>
            </a:pPr>
            <a:r>
              <a:rPr lang="en-US" dirty="0" smtClean="0"/>
              <a:t>			 Year of admission	:	integer</a:t>
            </a:r>
          </a:p>
          <a:p>
            <a:pPr lvl="1">
              <a:buNone/>
            </a:pPr>
            <a:r>
              <a:rPr lang="en-US" dirty="0" smtClean="0"/>
              <a:t>	 		 Branch		:	string  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one to n relationship er diagr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9176129" cy="44958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Key ( Primary Key )</a:t>
            </a:r>
          </a:p>
          <a:p>
            <a:r>
              <a:rPr lang="en-US" dirty="0" smtClean="0"/>
              <a:t>Instances</a:t>
            </a:r>
          </a:p>
          <a:p>
            <a:r>
              <a:rPr lang="en-US" dirty="0" smtClean="0"/>
              <a:t>Examples</a:t>
            </a:r>
          </a:p>
          <a:p>
            <a:pPr lvl="1">
              <a:buNone/>
            </a:pPr>
            <a:r>
              <a:rPr lang="en-US" dirty="0" smtClean="0"/>
              <a:t>Student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Department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Professor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Course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Enrollment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Teaching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5780</TotalTime>
  <Words>588</Words>
  <Application>Microsoft Office PowerPoint</Application>
  <PresentationFormat>On-screen Show (4:3)</PresentationFormat>
  <Paragraphs>187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Mapping ER model to Relational Schema</vt:lpstr>
      <vt:lpstr>Constraint</vt:lpstr>
      <vt:lpstr>ER to Relational Schema Mapping</vt:lpstr>
      <vt:lpstr>ER to Relational Schema Mapping</vt:lpstr>
      <vt:lpstr>Step 1: Mapping of Regular Entity Types</vt:lpstr>
      <vt:lpstr>Step 1: Mapping of Regular Entity Types</vt:lpstr>
      <vt:lpstr>Step 1: Mapping of Regular Entity Types</vt:lpstr>
      <vt:lpstr>Step 1: Mapping of Regular Entity Types</vt:lpstr>
      <vt:lpstr>Slide 9</vt:lpstr>
      <vt:lpstr>Step 2: Mapping of Weak Entity Types</vt:lpstr>
      <vt:lpstr>Step 2: Mapping of Weak Entity Types</vt:lpstr>
      <vt:lpstr>Step 2: Mapping of Weak Entity Types</vt:lpstr>
      <vt:lpstr>Slide 13</vt:lpstr>
      <vt:lpstr>Step 3: Mapping of Binary 1:1 Relation Types</vt:lpstr>
      <vt:lpstr>Step 3: Mapping of Binary 1:1 Relation Types</vt:lpstr>
      <vt:lpstr>Step 3: Mapping of Binary 1:1 Relation Types</vt:lpstr>
      <vt:lpstr>Step 4: Mapping of Binary 1:N Relationship Types</vt:lpstr>
      <vt:lpstr>Step 4: Mapping of Binary 1:N Relationship Types</vt:lpstr>
      <vt:lpstr>Step 5: Mapping of Binary M:N Relationship Types</vt:lpstr>
      <vt:lpstr>Step 6: Mapping of Multi valued attributes</vt:lpstr>
      <vt:lpstr>Step 6: Mapping of Multi valued attributes</vt:lpstr>
      <vt:lpstr>Step 7: Mapping of N-ary Relationship Types</vt:lpstr>
      <vt:lpstr>Step 7: Mapping of N-ary Relationship Types</vt:lpstr>
      <vt:lpstr>Slide 24</vt:lpstr>
      <vt:lpstr>Self referencing Relationship</vt:lpstr>
      <vt:lpstr>Self referencing Relationship</vt:lpstr>
      <vt:lpstr>Self referencing Relationship</vt:lpstr>
      <vt:lpstr>Relational Schema</vt:lpstr>
      <vt:lpstr>Slide 29</vt:lpstr>
      <vt:lpstr>Relational Schema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 to Relational Schema Mapping</dc:title>
  <dc:creator>VIT-Laptop</dc:creator>
  <cp:lastModifiedBy>gopi</cp:lastModifiedBy>
  <cp:revision>67</cp:revision>
  <dcterms:created xsi:type="dcterms:W3CDTF">2006-08-16T00:00:00Z</dcterms:created>
  <dcterms:modified xsi:type="dcterms:W3CDTF">2017-08-07T04:26:43Z</dcterms:modified>
</cp:coreProperties>
</file>