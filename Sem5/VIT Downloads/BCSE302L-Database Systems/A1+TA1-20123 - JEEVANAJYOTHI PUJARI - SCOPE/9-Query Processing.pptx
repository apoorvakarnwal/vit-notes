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85" r:id="rId3"/>
    <p:sldId id="286" r:id="rId4"/>
    <p:sldId id="259" r:id="rId5"/>
    <p:sldId id="257" r:id="rId6"/>
    <p:sldId id="280" r:id="rId7"/>
    <p:sldId id="258" r:id="rId8"/>
    <p:sldId id="260" r:id="rId9"/>
    <p:sldId id="264" r:id="rId10"/>
    <p:sldId id="261" r:id="rId11"/>
    <p:sldId id="263" r:id="rId12"/>
    <p:sldId id="476" r:id="rId13"/>
    <p:sldId id="363" r:id="rId14"/>
    <p:sldId id="309" r:id="rId15"/>
    <p:sldId id="310" r:id="rId16"/>
    <p:sldId id="388" r:id="rId17"/>
    <p:sldId id="311" r:id="rId18"/>
    <p:sldId id="312" r:id="rId19"/>
    <p:sldId id="313" r:id="rId20"/>
    <p:sldId id="461" r:id="rId21"/>
    <p:sldId id="462" r:id="rId22"/>
    <p:sldId id="463" r:id="rId23"/>
    <p:sldId id="262" r:id="rId24"/>
    <p:sldId id="265" r:id="rId25"/>
    <p:sldId id="267" r:id="rId26"/>
    <p:sldId id="281" r:id="rId27"/>
    <p:sldId id="268" r:id="rId28"/>
    <p:sldId id="269" r:id="rId29"/>
    <p:sldId id="273" r:id="rId30"/>
    <p:sldId id="275" r:id="rId31"/>
    <p:sldId id="276" r:id="rId32"/>
    <p:sldId id="277" r:id="rId33"/>
    <p:sldId id="278" r:id="rId34"/>
    <p:sldId id="279" r:id="rId35"/>
    <p:sldId id="283" r:id="rId36"/>
    <p:sldId id="271" r:id="rId37"/>
    <p:sldId id="272" r:id="rId38"/>
    <p:sldId id="274" r:id="rId39"/>
    <p:sldId id="284" r:id="rId40"/>
    <p:sldId id="28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6" d="100"/>
          <a:sy n="66" d="100"/>
        </p:scale>
        <p:origin x="90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55EA55-1DB8-405D-907A-4CA1530337BA}" type="datetimeFigureOut">
              <a:rPr lang="en-IN" smtClean="0"/>
              <a:t>21-06-2023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8BE8E4-B97A-4389-90EA-5D997FA36471}" type="slidenum">
              <a:rPr lang="en-IN" smtClean="0"/>
              <a:t>‹#›</a:t>
            </a:fld>
            <a:endParaRPr lang="en-IN"/>
          </a:p>
        </p:txBody>
      </p:sp>
    </p:spTree>
    <p:extLst>
      <p:ext uri="{BB962C8B-B14F-4D97-AF65-F5344CB8AC3E}">
        <p14:creationId xmlns:p14="http://schemas.microsoft.com/office/powerpoint/2010/main" val="1902431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6A61727-5893-4388-9008-C2143E22BC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DF81E613-5591-4D23-A0A6-D6157730738E}" type="slidenum">
              <a:rPr lang="en-US" altLang="en-US" sz="1300"/>
              <a:pPr>
                <a:spcBef>
                  <a:spcPct val="0"/>
                </a:spcBef>
              </a:pPr>
              <a:t>2</a:t>
            </a:fld>
            <a:endParaRPr lang="en-US" altLang="en-US" sz="1300"/>
          </a:p>
        </p:txBody>
      </p:sp>
      <p:sp>
        <p:nvSpPr>
          <p:cNvPr id="10243" name="Rectangle 2">
            <a:extLst>
              <a:ext uri="{FF2B5EF4-FFF2-40B4-BE49-F238E27FC236}">
                <a16:creationId xmlns:a16="http://schemas.microsoft.com/office/drawing/2014/main" id="{C8BFB265-E11E-47B2-BE6B-C8A9F6A3E1F5}"/>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F62FBC9D-FE5C-4325-9C3D-F324D70ADD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5548085A-D25E-4939-827D-300A7A3392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9029481-F7C6-4D7E-8CCD-B0BD43431326}" type="slidenum">
              <a:rPr lang="en-US" altLang="en-US" sz="1300"/>
              <a:pPr>
                <a:spcBef>
                  <a:spcPct val="0"/>
                </a:spcBef>
              </a:pPr>
              <a:t>3</a:t>
            </a:fld>
            <a:endParaRPr lang="en-US" altLang="en-US" sz="1300"/>
          </a:p>
        </p:txBody>
      </p:sp>
      <p:sp>
        <p:nvSpPr>
          <p:cNvPr id="12291" name="Rectangle 2">
            <a:extLst>
              <a:ext uri="{FF2B5EF4-FFF2-40B4-BE49-F238E27FC236}">
                <a16:creationId xmlns:a16="http://schemas.microsoft.com/office/drawing/2014/main" id="{01124E80-D0DC-4932-B542-DFB399744235}"/>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166882AB-D16E-4B3F-A02D-193DE371DF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DE17B393-09EE-42C6-A794-9E1A41A497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0C90ED3-6162-407E-8955-73C5104A025A}" type="slidenum">
              <a:rPr lang="en-US" altLang="en-US" sz="1300"/>
              <a:pPr>
                <a:spcBef>
                  <a:spcPct val="0"/>
                </a:spcBef>
              </a:pPr>
              <a:t>4</a:t>
            </a:fld>
            <a:endParaRPr lang="en-US" altLang="en-US" sz="1300"/>
          </a:p>
        </p:txBody>
      </p:sp>
      <p:sp>
        <p:nvSpPr>
          <p:cNvPr id="14339" name="Rectangle 2">
            <a:extLst>
              <a:ext uri="{FF2B5EF4-FFF2-40B4-BE49-F238E27FC236}">
                <a16:creationId xmlns:a16="http://schemas.microsoft.com/office/drawing/2014/main" id="{35DAEE99-CE43-408C-877F-41745DB239C8}"/>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AD60ADDD-A532-4486-9CBB-71BEDF5B0C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03F6759-721F-432F-A734-55E1C5F224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DB28228-8DD8-403B-A9BF-0CD8617B2CD0}" type="slidenum">
              <a:rPr lang="en-US" altLang="en-US"/>
              <a:pPr>
                <a:spcBef>
                  <a:spcPct val="0"/>
                </a:spcBef>
              </a:pPr>
              <a:t>12</a:t>
            </a:fld>
            <a:endParaRPr lang="en-US" altLang="en-US"/>
          </a:p>
        </p:txBody>
      </p:sp>
      <p:sp>
        <p:nvSpPr>
          <p:cNvPr id="99331" name="Rectangle 2">
            <a:extLst>
              <a:ext uri="{FF2B5EF4-FFF2-40B4-BE49-F238E27FC236}">
                <a16:creationId xmlns:a16="http://schemas.microsoft.com/office/drawing/2014/main" id="{FCA8C569-269B-4964-A6C4-E112A1C17AD9}"/>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FA955F6C-4161-4C7D-96F2-9FF5E5C913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43027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3152DB3B-E3D4-4EB9-891D-3AFF2DD1D4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217FA94-1851-4A4F-882F-690D434D5664}" type="slidenum">
              <a:rPr lang="en-US" altLang="en-US"/>
              <a:pPr>
                <a:spcBef>
                  <a:spcPct val="0"/>
                </a:spcBef>
              </a:pPr>
              <a:t>13</a:t>
            </a:fld>
            <a:endParaRPr lang="en-US" altLang="en-US"/>
          </a:p>
        </p:txBody>
      </p:sp>
      <p:sp>
        <p:nvSpPr>
          <p:cNvPr id="18435" name="Rectangle 2">
            <a:extLst>
              <a:ext uri="{FF2B5EF4-FFF2-40B4-BE49-F238E27FC236}">
                <a16:creationId xmlns:a16="http://schemas.microsoft.com/office/drawing/2014/main" id="{AAF0C87B-A3AD-4535-996D-565146AFE9C0}"/>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CC7946C1-AA22-4D30-A389-86F48E7982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88A60A3C-83B9-4899-851B-E58271EE25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F2A6619-26FC-4C2B-BBB5-BE9514BF1391}" type="slidenum">
              <a:rPr lang="en-US" altLang="en-US"/>
              <a:pPr>
                <a:spcBef>
                  <a:spcPct val="0"/>
                </a:spcBef>
              </a:pPr>
              <a:t>14</a:t>
            </a:fld>
            <a:endParaRPr lang="en-US" altLang="en-US"/>
          </a:p>
        </p:txBody>
      </p:sp>
      <p:sp>
        <p:nvSpPr>
          <p:cNvPr id="20483" name="Rectangle 2">
            <a:extLst>
              <a:ext uri="{FF2B5EF4-FFF2-40B4-BE49-F238E27FC236}">
                <a16:creationId xmlns:a16="http://schemas.microsoft.com/office/drawing/2014/main" id="{19CE9E0F-6018-43CB-B763-D2A60ACCC8C4}"/>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FE9F0D31-793C-457E-82A5-88A01D82B9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28C1544A-10C5-41D5-BE9F-0F5FFAC90E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B858AEBB-0155-4B61-8D5B-283345223885}" type="slidenum">
              <a:rPr lang="en-US" altLang="en-US"/>
              <a:pPr>
                <a:spcBef>
                  <a:spcPct val="0"/>
                </a:spcBef>
              </a:pPr>
              <a:t>15</a:t>
            </a:fld>
            <a:endParaRPr lang="en-US" altLang="en-US"/>
          </a:p>
        </p:txBody>
      </p:sp>
      <p:sp>
        <p:nvSpPr>
          <p:cNvPr id="22531" name="Rectangle 2">
            <a:extLst>
              <a:ext uri="{FF2B5EF4-FFF2-40B4-BE49-F238E27FC236}">
                <a16:creationId xmlns:a16="http://schemas.microsoft.com/office/drawing/2014/main" id="{D6171361-ED55-4304-B92D-1B39E353D0B6}"/>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731805C8-25FE-4591-82A9-583FCE3F77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E15551B6-F202-41C7-9919-C9D7CFDD0F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C98B507-36CD-452D-B3F8-31AD42CE15FF}" type="slidenum">
              <a:rPr lang="en-US" altLang="en-US"/>
              <a:pPr>
                <a:spcBef>
                  <a:spcPct val="0"/>
                </a:spcBef>
              </a:pPr>
              <a:t>16</a:t>
            </a:fld>
            <a:endParaRPr lang="en-US" altLang="en-US"/>
          </a:p>
        </p:txBody>
      </p:sp>
      <p:sp>
        <p:nvSpPr>
          <p:cNvPr id="24579" name="Rectangle 2">
            <a:extLst>
              <a:ext uri="{FF2B5EF4-FFF2-40B4-BE49-F238E27FC236}">
                <a16:creationId xmlns:a16="http://schemas.microsoft.com/office/drawing/2014/main" id="{A97D8762-D09A-4267-9D70-BE56B46690D3}"/>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C64E75D3-B753-40E5-8669-F958D69C70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B0FCF47F-4348-498B-B820-B9B73C6D58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EF0E0E8-D17B-41A3-B753-2245199CBB30}" type="slidenum">
              <a:rPr lang="en-US" altLang="en-US"/>
              <a:pPr>
                <a:spcBef>
                  <a:spcPct val="0"/>
                </a:spcBef>
              </a:pPr>
              <a:t>17</a:t>
            </a:fld>
            <a:endParaRPr lang="en-US" altLang="en-US"/>
          </a:p>
        </p:txBody>
      </p:sp>
      <p:sp>
        <p:nvSpPr>
          <p:cNvPr id="26627" name="Rectangle 2">
            <a:extLst>
              <a:ext uri="{FF2B5EF4-FFF2-40B4-BE49-F238E27FC236}">
                <a16:creationId xmlns:a16="http://schemas.microsoft.com/office/drawing/2014/main" id="{E6EC2138-3D91-405A-B29F-B1C527799DDB}"/>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77519BCB-959F-4CA7-86A5-A3590C17A1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CBC8D124-B136-42BA-B33A-1DF2378A5F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43A896A-CD88-45BB-883A-A5A6ACCFC261}" type="slidenum">
              <a:rPr lang="en-US" altLang="en-US"/>
              <a:pPr>
                <a:spcBef>
                  <a:spcPct val="0"/>
                </a:spcBef>
              </a:pPr>
              <a:t>18</a:t>
            </a:fld>
            <a:endParaRPr lang="en-US" altLang="en-US"/>
          </a:p>
        </p:txBody>
      </p:sp>
      <p:sp>
        <p:nvSpPr>
          <p:cNvPr id="28675" name="Rectangle 2">
            <a:extLst>
              <a:ext uri="{FF2B5EF4-FFF2-40B4-BE49-F238E27FC236}">
                <a16:creationId xmlns:a16="http://schemas.microsoft.com/office/drawing/2014/main" id="{D0E5C191-44C7-4313-85F7-8BD71D8C9317}"/>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F12ECE34-0B14-4777-B117-F516895DED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B375F6E7-BF43-423E-9E8D-8524F7B1F7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E8B0E96-3F79-4205-B0CE-221B7F97329C}" type="slidenum">
              <a:rPr lang="en-US" altLang="en-US"/>
              <a:pPr>
                <a:spcBef>
                  <a:spcPct val="0"/>
                </a:spcBef>
              </a:pPr>
              <a:t>19</a:t>
            </a:fld>
            <a:endParaRPr lang="en-US" altLang="en-US"/>
          </a:p>
        </p:txBody>
      </p:sp>
      <p:sp>
        <p:nvSpPr>
          <p:cNvPr id="30723" name="Rectangle 2">
            <a:extLst>
              <a:ext uri="{FF2B5EF4-FFF2-40B4-BE49-F238E27FC236}">
                <a16:creationId xmlns:a16="http://schemas.microsoft.com/office/drawing/2014/main" id="{F61EE5A8-966A-41BB-B726-B2C48308DB8E}"/>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C1EC76AA-7316-448A-A891-5E3CEF9330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B375F6E7-BF43-423E-9E8D-8524F7B1F7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E8B0E96-3F79-4205-B0CE-221B7F97329C}" type="slidenum">
              <a:rPr lang="en-US" altLang="en-US"/>
              <a:pPr>
                <a:spcBef>
                  <a:spcPct val="0"/>
                </a:spcBef>
              </a:pPr>
              <a:t>21</a:t>
            </a:fld>
            <a:endParaRPr lang="en-US" altLang="en-US"/>
          </a:p>
        </p:txBody>
      </p:sp>
      <p:sp>
        <p:nvSpPr>
          <p:cNvPr id="30723" name="Rectangle 2">
            <a:extLst>
              <a:ext uri="{FF2B5EF4-FFF2-40B4-BE49-F238E27FC236}">
                <a16:creationId xmlns:a16="http://schemas.microsoft.com/office/drawing/2014/main" id="{F61EE5A8-966A-41BB-B726-B2C48308DB8E}"/>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C1EC76AA-7316-448A-A891-5E3CEF9330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238568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B375F6E7-BF43-423E-9E8D-8524F7B1F7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E8B0E96-3F79-4205-B0CE-221B7F97329C}" type="slidenum">
              <a:rPr lang="en-US" altLang="en-US"/>
              <a:pPr>
                <a:spcBef>
                  <a:spcPct val="0"/>
                </a:spcBef>
              </a:pPr>
              <a:t>22</a:t>
            </a:fld>
            <a:endParaRPr lang="en-US" altLang="en-US"/>
          </a:p>
        </p:txBody>
      </p:sp>
      <p:sp>
        <p:nvSpPr>
          <p:cNvPr id="30723" name="Rectangle 2">
            <a:extLst>
              <a:ext uri="{FF2B5EF4-FFF2-40B4-BE49-F238E27FC236}">
                <a16:creationId xmlns:a16="http://schemas.microsoft.com/office/drawing/2014/main" id="{F61EE5A8-966A-41BB-B726-B2C48308DB8E}"/>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C1EC76AA-7316-448A-A891-5E3CEF9330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How about </a:t>
            </a:r>
            <a:r>
              <a:rPr lang="en-US" altLang="en-US" dirty="0">
                <a:sym typeface="Greek Symbols" pitchFamily="18" charset="2"/>
              </a:rPr>
              <a:t>(r </a:t>
            </a:r>
            <a:r>
              <a:rPr lang="en-IN" dirty="0"/>
              <a:t>⟕ s) ⟕ t  vs </a:t>
            </a:r>
            <a:r>
              <a:rPr lang="en-US" altLang="en-US" dirty="0">
                <a:sym typeface="Greek Symbols" pitchFamily="18" charset="2"/>
              </a:rPr>
              <a:t>(r </a:t>
            </a:r>
            <a:r>
              <a:rPr lang="en-IN" dirty="0"/>
              <a:t>⟕ t) ⟕ s assuming r has common attributes with s and t?  Hint: consider 2 cases where s and t have common attributes and those where they have no common attribute </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096484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9658-5EE9-5B23-81AA-C47D283E08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0C4814B-CBA4-08CC-EAA4-9D6CA4B22F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4A2731-51DF-C6BE-339B-B306D3E3D47A}"/>
              </a:ext>
            </a:extLst>
          </p:cNvPr>
          <p:cNvSpPr>
            <a:spLocks noGrp="1"/>
          </p:cNvSpPr>
          <p:nvPr>
            <p:ph type="dt" sz="half" idx="10"/>
          </p:nvPr>
        </p:nvSpPr>
        <p:spPr/>
        <p:txBody>
          <a:bodyPr/>
          <a:lstStyle/>
          <a:p>
            <a:fld id="{2A2751E4-9E7E-41E2-A49C-E6BAF8CA3567}" type="datetimeFigureOut">
              <a:rPr lang="en-IN" smtClean="0"/>
              <a:t>21-06-2023</a:t>
            </a:fld>
            <a:endParaRPr lang="en-IN"/>
          </a:p>
        </p:txBody>
      </p:sp>
      <p:sp>
        <p:nvSpPr>
          <p:cNvPr id="5" name="Footer Placeholder 4">
            <a:extLst>
              <a:ext uri="{FF2B5EF4-FFF2-40B4-BE49-F238E27FC236}">
                <a16:creationId xmlns:a16="http://schemas.microsoft.com/office/drawing/2014/main" id="{2D27DFF5-7DAF-3FD8-3FF8-9DDDF39A30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25C51B-1F75-E4E3-E690-EFCD8AD438E0}"/>
              </a:ext>
            </a:extLst>
          </p:cNvPr>
          <p:cNvSpPr>
            <a:spLocks noGrp="1"/>
          </p:cNvSpPr>
          <p:nvPr>
            <p:ph type="sldNum" sz="quarter" idx="12"/>
          </p:nvPr>
        </p:nvSpPr>
        <p:spPr/>
        <p:txBody>
          <a:bodyPr/>
          <a:lstStyle/>
          <a:p>
            <a:fld id="{C5C61B6B-D70B-41EA-B474-EFEC0C269536}" type="slidenum">
              <a:rPr lang="en-IN" smtClean="0"/>
              <a:t>‹#›</a:t>
            </a:fld>
            <a:endParaRPr lang="en-IN"/>
          </a:p>
        </p:txBody>
      </p:sp>
    </p:spTree>
    <p:extLst>
      <p:ext uri="{BB962C8B-B14F-4D97-AF65-F5344CB8AC3E}">
        <p14:creationId xmlns:p14="http://schemas.microsoft.com/office/powerpoint/2010/main" val="3825459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6DD9-48BF-3B97-1458-1180980786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7BB9CF-2F9A-5FFC-0025-8380B16F7D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7C081F-935D-84FE-BE8A-4B07B54389BF}"/>
              </a:ext>
            </a:extLst>
          </p:cNvPr>
          <p:cNvSpPr>
            <a:spLocks noGrp="1"/>
          </p:cNvSpPr>
          <p:nvPr>
            <p:ph type="dt" sz="half" idx="10"/>
          </p:nvPr>
        </p:nvSpPr>
        <p:spPr/>
        <p:txBody>
          <a:bodyPr/>
          <a:lstStyle/>
          <a:p>
            <a:fld id="{2A2751E4-9E7E-41E2-A49C-E6BAF8CA3567}" type="datetimeFigureOut">
              <a:rPr lang="en-IN" smtClean="0"/>
              <a:t>21-06-2023</a:t>
            </a:fld>
            <a:endParaRPr lang="en-IN"/>
          </a:p>
        </p:txBody>
      </p:sp>
      <p:sp>
        <p:nvSpPr>
          <p:cNvPr id="5" name="Footer Placeholder 4">
            <a:extLst>
              <a:ext uri="{FF2B5EF4-FFF2-40B4-BE49-F238E27FC236}">
                <a16:creationId xmlns:a16="http://schemas.microsoft.com/office/drawing/2014/main" id="{A0E94C3D-963F-1BD1-7B2B-A9D049BCE5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0B1F18-8000-56D3-F7AF-06FD3F10CDFF}"/>
              </a:ext>
            </a:extLst>
          </p:cNvPr>
          <p:cNvSpPr>
            <a:spLocks noGrp="1"/>
          </p:cNvSpPr>
          <p:nvPr>
            <p:ph type="sldNum" sz="quarter" idx="12"/>
          </p:nvPr>
        </p:nvSpPr>
        <p:spPr/>
        <p:txBody>
          <a:bodyPr/>
          <a:lstStyle/>
          <a:p>
            <a:fld id="{C5C61B6B-D70B-41EA-B474-EFEC0C269536}" type="slidenum">
              <a:rPr lang="en-IN" smtClean="0"/>
              <a:t>‹#›</a:t>
            </a:fld>
            <a:endParaRPr lang="en-IN"/>
          </a:p>
        </p:txBody>
      </p:sp>
    </p:spTree>
    <p:extLst>
      <p:ext uri="{BB962C8B-B14F-4D97-AF65-F5344CB8AC3E}">
        <p14:creationId xmlns:p14="http://schemas.microsoft.com/office/powerpoint/2010/main" val="4005515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74530-2A83-B3C9-F5E0-49311E14BF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7E8B84F-BFB0-8663-69DE-B17BE318B5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B8EE4C-804B-45C7-D713-C0DB5F76CEB0}"/>
              </a:ext>
            </a:extLst>
          </p:cNvPr>
          <p:cNvSpPr>
            <a:spLocks noGrp="1"/>
          </p:cNvSpPr>
          <p:nvPr>
            <p:ph type="dt" sz="half" idx="10"/>
          </p:nvPr>
        </p:nvSpPr>
        <p:spPr/>
        <p:txBody>
          <a:bodyPr/>
          <a:lstStyle/>
          <a:p>
            <a:fld id="{2A2751E4-9E7E-41E2-A49C-E6BAF8CA3567}" type="datetimeFigureOut">
              <a:rPr lang="en-IN" smtClean="0"/>
              <a:t>21-06-2023</a:t>
            </a:fld>
            <a:endParaRPr lang="en-IN"/>
          </a:p>
        </p:txBody>
      </p:sp>
      <p:sp>
        <p:nvSpPr>
          <p:cNvPr id="5" name="Footer Placeholder 4">
            <a:extLst>
              <a:ext uri="{FF2B5EF4-FFF2-40B4-BE49-F238E27FC236}">
                <a16:creationId xmlns:a16="http://schemas.microsoft.com/office/drawing/2014/main" id="{F84A1F1D-E4DA-2D2D-8F4E-F9A406C56B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255299-3219-E94D-18B4-0F155D9AA987}"/>
              </a:ext>
            </a:extLst>
          </p:cNvPr>
          <p:cNvSpPr>
            <a:spLocks noGrp="1"/>
          </p:cNvSpPr>
          <p:nvPr>
            <p:ph type="sldNum" sz="quarter" idx="12"/>
          </p:nvPr>
        </p:nvSpPr>
        <p:spPr/>
        <p:txBody>
          <a:bodyPr/>
          <a:lstStyle/>
          <a:p>
            <a:fld id="{C5C61B6B-D70B-41EA-B474-EFEC0C269536}" type="slidenum">
              <a:rPr lang="en-IN" smtClean="0"/>
              <a:t>‹#›</a:t>
            </a:fld>
            <a:endParaRPr lang="en-IN"/>
          </a:p>
        </p:txBody>
      </p:sp>
    </p:spTree>
    <p:extLst>
      <p:ext uri="{BB962C8B-B14F-4D97-AF65-F5344CB8AC3E}">
        <p14:creationId xmlns:p14="http://schemas.microsoft.com/office/powerpoint/2010/main" val="3774968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BC8F3-C605-6807-FED9-C02B4AB0CFD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287930-FF57-160F-4150-107BC3DFF7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ABFAD7A-D5E4-8210-1018-6A796C533C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10A60DA-2D59-31BA-4719-4FBBFC269586}"/>
              </a:ext>
            </a:extLst>
          </p:cNvPr>
          <p:cNvSpPr>
            <a:spLocks noGrp="1"/>
          </p:cNvSpPr>
          <p:nvPr>
            <p:ph type="dt" sz="half" idx="10"/>
          </p:nvPr>
        </p:nvSpPr>
        <p:spPr/>
        <p:txBody>
          <a:bodyPr/>
          <a:lstStyle/>
          <a:p>
            <a:fld id="{2A2751E4-9E7E-41E2-A49C-E6BAF8CA3567}" type="datetimeFigureOut">
              <a:rPr lang="en-IN" smtClean="0"/>
              <a:t>21-06-2023</a:t>
            </a:fld>
            <a:endParaRPr lang="en-IN"/>
          </a:p>
        </p:txBody>
      </p:sp>
      <p:sp>
        <p:nvSpPr>
          <p:cNvPr id="6" name="Footer Placeholder 5">
            <a:extLst>
              <a:ext uri="{FF2B5EF4-FFF2-40B4-BE49-F238E27FC236}">
                <a16:creationId xmlns:a16="http://schemas.microsoft.com/office/drawing/2014/main" id="{6AC1A39C-AE94-13E7-2CF5-BB675CBBA1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B5D331-300E-8A87-E52A-16F9D6715FDD}"/>
              </a:ext>
            </a:extLst>
          </p:cNvPr>
          <p:cNvSpPr>
            <a:spLocks noGrp="1"/>
          </p:cNvSpPr>
          <p:nvPr>
            <p:ph type="sldNum" sz="quarter" idx="12"/>
          </p:nvPr>
        </p:nvSpPr>
        <p:spPr/>
        <p:txBody>
          <a:bodyPr/>
          <a:lstStyle/>
          <a:p>
            <a:fld id="{C5C61B6B-D70B-41EA-B474-EFEC0C269536}" type="slidenum">
              <a:rPr lang="en-IN" smtClean="0"/>
              <a:t>‹#›</a:t>
            </a:fld>
            <a:endParaRPr lang="en-IN"/>
          </a:p>
        </p:txBody>
      </p:sp>
    </p:spTree>
    <p:extLst>
      <p:ext uri="{BB962C8B-B14F-4D97-AF65-F5344CB8AC3E}">
        <p14:creationId xmlns:p14="http://schemas.microsoft.com/office/powerpoint/2010/main" val="3337601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E2428-1EF5-85F7-87DF-C9E15569028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7B5333-4649-C5BD-B4DE-5F4A1213CF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568D5D-DABB-AD8B-D577-A496D4B441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FFDC98F-8376-619E-16FA-D3C7A73312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58411C-FBD7-010B-9C76-6525517DFB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C73C2B7-0EE6-DAE3-9CF4-C507DC2BAB4D}"/>
              </a:ext>
            </a:extLst>
          </p:cNvPr>
          <p:cNvSpPr>
            <a:spLocks noGrp="1"/>
          </p:cNvSpPr>
          <p:nvPr>
            <p:ph type="dt" sz="half" idx="10"/>
          </p:nvPr>
        </p:nvSpPr>
        <p:spPr/>
        <p:txBody>
          <a:bodyPr/>
          <a:lstStyle/>
          <a:p>
            <a:fld id="{2A2751E4-9E7E-41E2-A49C-E6BAF8CA3567}" type="datetimeFigureOut">
              <a:rPr lang="en-IN" smtClean="0"/>
              <a:t>21-06-2023</a:t>
            </a:fld>
            <a:endParaRPr lang="en-IN"/>
          </a:p>
        </p:txBody>
      </p:sp>
      <p:sp>
        <p:nvSpPr>
          <p:cNvPr id="8" name="Footer Placeholder 7">
            <a:extLst>
              <a:ext uri="{FF2B5EF4-FFF2-40B4-BE49-F238E27FC236}">
                <a16:creationId xmlns:a16="http://schemas.microsoft.com/office/drawing/2014/main" id="{DA29144A-CDF8-267C-502D-92E09ED0EEC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A21FF8-B40F-48B6-911F-EBFDDD471429}"/>
              </a:ext>
            </a:extLst>
          </p:cNvPr>
          <p:cNvSpPr>
            <a:spLocks noGrp="1"/>
          </p:cNvSpPr>
          <p:nvPr>
            <p:ph type="sldNum" sz="quarter" idx="12"/>
          </p:nvPr>
        </p:nvSpPr>
        <p:spPr/>
        <p:txBody>
          <a:bodyPr/>
          <a:lstStyle/>
          <a:p>
            <a:fld id="{C5C61B6B-D70B-41EA-B474-EFEC0C269536}" type="slidenum">
              <a:rPr lang="en-IN" smtClean="0"/>
              <a:t>‹#›</a:t>
            </a:fld>
            <a:endParaRPr lang="en-IN"/>
          </a:p>
        </p:txBody>
      </p:sp>
    </p:spTree>
    <p:extLst>
      <p:ext uri="{BB962C8B-B14F-4D97-AF65-F5344CB8AC3E}">
        <p14:creationId xmlns:p14="http://schemas.microsoft.com/office/powerpoint/2010/main" val="562982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EDEA-9EC2-0B85-D23C-2CF9FEB63C1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B32FD1-1FAC-DB01-BAD9-5145744FD282}"/>
              </a:ext>
            </a:extLst>
          </p:cNvPr>
          <p:cNvSpPr>
            <a:spLocks noGrp="1"/>
          </p:cNvSpPr>
          <p:nvPr>
            <p:ph type="dt" sz="half" idx="10"/>
          </p:nvPr>
        </p:nvSpPr>
        <p:spPr/>
        <p:txBody>
          <a:bodyPr/>
          <a:lstStyle/>
          <a:p>
            <a:fld id="{2A2751E4-9E7E-41E2-A49C-E6BAF8CA3567}" type="datetimeFigureOut">
              <a:rPr lang="en-IN" smtClean="0"/>
              <a:t>21-06-2023</a:t>
            </a:fld>
            <a:endParaRPr lang="en-IN"/>
          </a:p>
        </p:txBody>
      </p:sp>
      <p:sp>
        <p:nvSpPr>
          <p:cNvPr id="4" name="Footer Placeholder 3">
            <a:extLst>
              <a:ext uri="{FF2B5EF4-FFF2-40B4-BE49-F238E27FC236}">
                <a16:creationId xmlns:a16="http://schemas.microsoft.com/office/drawing/2014/main" id="{8427832F-2616-90C9-F0A3-BEB277B645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86CED55-3AD4-6E9B-D0C5-550440335951}"/>
              </a:ext>
            </a:extLst>
          </p:cNvPr>
          <p:cNvSpPr>
            <a:spLocks noGrp="1"/>
          </p:cNvSpPr>
          <p:nvPr>
            <p:ph type="sldNum" sz="quarter" idx="12"/>
          </p:nvPr>
        </p:nvSpPr>
        <p:spPr/>
        <p:txBody>
          <a:bodyPr/>
          <a:lstStyle/>
          <a:p>
            <a:fld id="{C5C61B6B-D70B-41EA-B474-EFEC0C269536}" type="slidenum">
              <a:rPr lang="en-IN" smtClean="0"/>
              <a:t>‹#›</a:t>
            </a:fld>
            <a:endParaRPr lang="en-IN"/>
          </a:p>
        </p:txBody>
      </p:sp>
    </p:spTree>
    <p:extLst>
      <p:ext uri="{BB962C8B-B14F-4D97-AF65-F5344CB8AC3E}">
        <p14:creationId xmlns:p14="http://schemas.microsoft.com/office/powerpoint/2010/main" val="1674931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0EA060-55F1-404B-B2FE-416EC81C158F}"/>
              </a:ext>
            </a:extLst>
          </p:cNvPr>
          <p:cNvSpPr>
            <a:spLocks noGrp="1"/>
          </p:cNvSpPr>
          <p:nvPr>
            <p:ph type="dt" sz="half" idx="10"/>
          </p:nvPr>
        </p:nvSpPr>
        <p:spPr/>
        <p:txBody>
          <a:bodyPr/>
          <a:lstStyle/>
          <a:p>
            <a:fld id="{2A2751E4-9E7E-41E2-A49C-E6BAF8CA3567}" type="datetimeFigureOut">
              <a:rPr lang="en-IN" smtClean="0"/>
              <a:t>21-06-2023</a:t>
            </a:fld>
            <a:endParaRPr lang="en-IN"/>
          </a:p>
        </p:txBody>
      </p:sp>
      <p:sp>
        <p:nvSpPr>
          <p:cNvPr id="3" name="Footer Placeholder 2">
            <a:extLst>
              <a:ext uri="{FF2B5EF4-FFF2-40B4-BE49-F238E27FC236}">
                <a16:creationId xmlns:a16="http://schemas.microsoft.com/office/drawing/2014/main" id="{62023A9C-1FE8-428D-DA57-9473FFD7674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F1DB4E0-FC09-E39A-7720-8BE72F39B6DD}"/>
              </a:ext>
            </a:extLst>
          </p:cNvPr>
          <p:cNvSpPr>
            <a:spLocks noGrp="1"/>
          </p:cNvSpPr>
          <p:nvPr>
            <p:ph type="sldNum" sz="quarter" idx="12"/>
          </p:nvPr>
        </p:nvSpPr>
        <p:spPr/>
        <p:txBody>
          <a:bodyPr/>
          <a:lstStyle/>
          <a:p>
            <a:fld id="{C5C61B6B-D70B-41EA-B474-EFEC0C269536}" type="slidenum">
              <a:rPr lang="en-IN" smtClean="0"/>
              <a:t>‹#›</a:t>
            </a:fld>
            <a:endParaRPr lang="en-IN"/>
          </a:p>
        </p:txBody>
      </p:sp>
    </p:spTree>
    <p:extLst>
      <p:ext uri="{BB962C8B-B14F-4D97-AF65-F5344CB8AC3E}">
        <p14:creationId xmlns:p14="http://schemas.microsoft.com/office/powerpoint/2010/main" val="355006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80A18-5A7E-ECBA-A074-25CF3C7BC8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F4F596A-FF50-43C1-E32B-9937EFB838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26972A-D3F7-8D7F-5248-7BABA7D0AB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14660D-7C91-CB9A-1034-2C89F8DE9E20}"/>
              </a:ext>
            </a:extLst>
          </p:cNvPr>
          <p:cNvSpPr>
            <a:spLocks noGrp="1"/>
          </p:cNvSpPr>
          <p:nvPr>
            <p:ph type="dt" sz="half" idx="10"/>
          </p:nvPr>
        </p:nvSpPr>
        <p:spPr/>
        <p:txBody>
          <a:bodyPr/>
          <a:lstStyle/>
          <a:p>
            <a:fld id="{2A2751E4-9E7E-41E2-A49C-E6BAF8CA3567}" type="datetimeFigureOut">
              <a:rPr lang="en-IN" smtClean="0"/>
              <a:t>21-06-2023</a:t>
            </a:fld>
            <a:endParaRPr lang="en-IN"/>
          </a:p>
        </p:txBody>
      </p:sp>
      <p:sp>
        <p:nvSpPr>
          <p:cNvPr id="6" name="Footer Placeholder 5">
            <a:extLst>
              <a:ext uri="{FF2B5EF4-FFF2-40B4-BE49-F238E27FC236}">
                <a16:creationId xmlns:a16="http://schemas.microsoft.com/office/drawing/2014/main" id="{40A9B3EB-34C1-287F-B219-56959BAD1B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02EF0E-E3C7-175B-02F3-416DA69223D5}"/>
              </a:ext>
            </a:extLst>
          </p:cNvPr>
          <p:cNvSpPr>
            <a:spLocks noGrp="1"/>
          </p:cNvSpPr>
          <p:nvPr>
            <p:ph type="sldNum" sz="quarter" idx="12"/>
          </p:nvPr>
        </p:nvSpPr>
        <p:spPr/>
        <p:txBody>
          <a:bodyPr/>
          <a:lstStyle/>
          <a:p>
            <a:fld id="{C5C61B6B-D70B-41EA-B474-EFEC0C269536}" type="slidenum">
              <a:rPr lang="en-IN" smtClean="0"/>
              <a:t>‹#›</a:t>
            </a:fld>
            <a:endParaRPr lang="en-IN"/>
          </a:p>
        </p:txBody>
      </p:sp>
    </p:spTree>
    <p:extLst>
      <p:ext uri="{BB962C8B-B14F-4D97-AF65-F5344CB8AC3E}">
        <p14:creationId xmlns:p14="http://schemas.microsoft.com/office/powerpoint/2010/main" val="2099015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9EBAB-BD63-7996-C004-62DB280E89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051E984-AD35-CC84-70FA-D88B7D1C7D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57950F-8CD2-736A-434A-B245141C26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725CBC-A23A-8487-14F4-DAE63BEB3DF9}"/>
              </a:ext>
            </a:extLst>
          </p:cNvPr>
          <p:cNvSpPr>
            <a:spLocks noGrp="1"/>
          </p:cNvSpPr>
          <p:nvPr>
            <p:ph type="dt" sz="half" idx="10"/>
          </p:nvPr>
        </p:nvSpPr>
        <p:spPr/>
        <p:txBody>
          <a:bodyPr/>
          <a:lstStyle/>
          <a:p>
            <a:fld id="{2A2751E4-9E7E-41E2-A49C-E6BAF8CA3567}" type="datetimeFigureOut">
              <a:rPr lang="en-IN" smtClean="0"/>
              <a:t>21-06-2023</a:t>
            </a:fld>
            <a:endParaRPr lang="en-IN"/>
          </a:p>
        </p:txBody>
      </p:sp>
      <p:sp>
        <p:nvSpPr>
          <p:cNvPr id="6" name="Footer Placeholder 5">
            <a:extLst>
              <a:ext uri="{FF2B5EF4-FFF2-40B4-BE49-F238E27FC236}">
                <a16:creationId xmlns:a16="http://schemas.microsoft.com/office/drawing/2014/main" id="{27F51348-BE2F-86AB-BDE3-49BBF77650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03F6CD-D56B-7BB3-5D25-A59421E43E5E}"/>
              </a:ext>
            </a:extLst>
          </p:cNvPr>
          <p:cNvSpPr>
            <a:spLocks noGrp="1"/>
          </p:cNvSpPr>
          <p:nvPr>
            <p:ph type="sldNum" sz="quarter" idx="12"/>
          </p:nvPr>
        </p:nvSpPr>
        <p:spPr/>
        <p:txBody>
          <a:bodyPr/>
          <a:lstStyle/>
          <a:p>
            <a:fld id="{C5C61B6B-D70B-41EA-B474-EFEC0C269536}" type="slidenum">
              <a:rPr lang="en-IN" smtClean="0"/>
              <a:t>‹#›</a:t>
            </a:fld>
            <a:endParaRPr lang="en-IN"/>
          </a:p>
        </p:txBody>
      </p:sp>
    </p:spTree>
    <p:extLst>
      <p:ext uri="{BB962C8B-B14F-4D97-AF65-F5344CB8AC3E}">
        <p14:creationId xmlns:p14="http://schemas.microsoft.com/office/powerpoint/2010/main" val="1876040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99984-C517-EC9F-6D2A-395B6D9754A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DD2292-55C9-015A-006F-A4E309038B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763256-138D-93F3-48E0-B8DE5DBAE993}"/>
              </a:ext>
            </a:extLst>
          </p:cNvPr>
          <p:cNvSpPr>
            <a:spLocks noGrp="1"/>
          </p:cNvSpPr>
          <p:nvPr>
            <p:ph type="dt" sz="half" idx="10"/>
          </p:nvPr>
        </p:nvSpPr>
        <p:spPr/>
        <p:txBody>
          <a:bodyPr/>
          <a:lstStyle/>
          <a:p>
            <a:fld id="{2A2751E4-9E7E-41E2-A49C-E6BAF8CA3567}" type="datetimeFigureOut">
              <a:rPr lang="en-IN" smtClean="0"/>
              <a:t>21-06-2023</a:t>
            </a:fld>
            <a:endParaRPr lang="en-IN"/>
          </a:p>
        </p:txBody>
      </p:sp>
      <p:sp>
        <p:nvSpPr>
          <p:cNvPr id="5" name="Footer Placeholder 4">
            <a:extLst>
              <a:ext uri="{FF2B5EF4-FFF2-40B4-BE49-F238E27FC236}">
                <a16:creationId xmlns:a16="http://schemas.microsoft.com/office/drawing/2014/main" id="{2703123E-C54E-A991-CC7B-8853540C9C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2E815B-0426-6033-461F-BE2FEBB8F31B}"/>
              </a:ext>
            </a:extLst>
          </p:cNvPr>
          <p:cNvSpPr>
            <a:spLocks noGrp="1"/>
          </p:cNvSpPr>
          <p:nvPr>
            <p:ph type="sldNum" sz="quarter" idx="12"/>
          </p:nvPr>
        </p:nvSpPr>
        <p:spPr/>
        <p:txBody>
          <a:bodyPr/>
          <a:lstStyle/>
          <a:p>
            <a:fld id="{C5C61B6B-D70B-41EA-B474-EFEC0C269536}" type="slidenum">
              <a:rPr lang="en-IN" smtClean="0"/>
              <a:t>‹#›</a:t>
            </a:fld>
            <a:endParaRPr lang="en-IN"/>
          </a:p>
        </p:txBody>
      </p:sp>
    </p:spTree>
    <p:extLst>
      <p:ext uri="{BB962C8B-B14F-4D97-AF65-F5344CB8AC3E}">
        <p14:creationId xmlns:p14="http://schemas.microsoft.com/office/powerpoint/2010/main" val="967232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FA5365-1CF0-35E9-AC7B-0826A2F3BD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92D7C6-CC4C-CBBF-D76B-0C3506B88E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AEFB7E-146A-E728-3D3B-A7955C99143E}"/>
              </a:ext>
            </a:extLst>
          </p:cNvPr>
          <p:cNvSpPr>
            <a:spLocks noGrp="1"/>
          </p:cNvSpPr>
          <p:nvPr>
            <p:ph type="dt" sz="half" idx="10"/>
          </p:nvPr>
        </p:nvSpPr>
        <p:spPr/>
        <p:txBody>
          <a:bodyPr/>
          <a:lstStyle/>
          <a:p>
            <a:fld id="{2A2751E4-9E7E-41E2-A49C-E6BAF8CA3567}" type="datetimeFigureOut">
              <a:rPr lang="en-IN" smtClean="0"/>
              <a:t>21-06-2023</a:t>
            </a:fld>
            <a:endParaRPr lang="en-IN"/>
          </a:p>
        </p:txBody>
      </p:sp>
      <p:sp>
        <p:nvSpPr>
          <p:cNvPr id="5" name="Footer Placeholder 4">
            <a:extLst>
              <a:ext uri="{FF2B5EF4-FFF2-40B4-BE49-F238E27FC236}">
                <a16:creationId xmlns:a16="http://schemas.microsoft.com/office/drawing/2014/main" id="{0319ACEC-12C8-CA6A-26AC-9A37CFE387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A1DBCF-7D1F-B584-7566-8E4048B3CD9B}"/>
              </a:ext>
            </a:extLst>
          </p:cNvPr>
          <p:cNvSpPr>
            <a:spLocks noGrp="1"/>
          </p:cNvSpPr>
          <p:nvPr>
            <p:ph type="sldNum" sz="quarter" idx="12"/>
          </p:nvPr>
        </p:nvSpPr>
        <p:spPr/>
        <p:txBody>
          <a:bodyPr/>
          <a:lstStyle/>
          <a:p>
            <a:fld id="{C5C61B6B-D70B-41EA-B474-EFEC0C269536}" type="slidenum">
              <a:rPr lang="en-IN" smtClean="0"/>
              <a:t>‹#›</a:t>
            </a:fld>
            <a:endParaRPr lang="en-IN"/>
          </a:p>
        </p:txBody>
      </p:sp>
    </p:spTree>
    <p:extLst>
      <p:ext uri="{BB962C8B-B14F-4D97-AF65-F5344CB8AC3E}">
        <p14:creationId xmlns:p14="http://schemas.microsoft.com/office/powerpoint/2010/main" val="1306993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00F39E-2B8E-B901-2F5C-47087B5578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E06B38-3A63-D85A-D46F-41D1C494B5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286B06-8BD6-DB20-7F30-A2B1131402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2751E4-9E7E-41E2-A49C-E6BAF8CA3567}" type="datetimeFigureOut">
              <a:rPr lang="en-IN" smtClean="0"/>
              <a:t>21-06-2023</a:t>
            </a:fld>
            <a:endParaRPr lang="en-IN"/>
          </a:p>
        </p:txBody>
      </p:sp>
      <p:sp>
        <p:nvSpPr>
          <p:cNvPr id="5" name="Footer Placeholder 4">
            <a:extLst>
              <a:ext uri="{FF2B5EF4-FFF2-40B4-BE49-F238E27FC236}">
                <a16:creationId xmlns:a16="http://schemas.microsoft.com/office/drawing/2014/main" id="{9EA4F030-63DE-27FB-4720-DA9102190A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7DAE26-2150-B12C-5113-0DF509D7CE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C61B6B-D70B-41EA-B474-EFEC0C269536}" type="slidenum">
              <a:rPr lang="en-IN" smtClean="0"/>
              <a:t>‹#›</a:t>
            </a:fld>
            <a:endParaRPr lang="en-IN"/>
          </a:p>
        </p:txBody>
      </p:sp>
    </p:spTree>
    <p:extLst>
      <p:ext uri="{BB962C8B-B14F-4D97-AF65-F5344CB8AC3E}">
        <p14:creationId xmlns:p14="http://schemas.microsoft.com/office/powerpoint/2010/main" val="32642062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37B79-5DAF-AE93-391C-7A9591910295}"/>
              </a:ext>
            </a:extLst>
          </p:cNvPr>
          <p:cNvSpPr>
            <a:spLocks noGrp="1"/>
          </p:cNvSpPr>
          <p:nvPr>
            <p:ph type="ctrTitle"/>
          </p:nvPr>
        </p:nvSpPr>
        <p:spPr/>
        <p:txBody>
          <a:bodyPr>
            <a:normAutofit/>
          </a:bodyPr>
          <a:lstStyle/>
          <a:p>
            <a:r>
              <a:rPr lang="en-IN" sz="4400" b="1" dirty="0"/>
              <a:t>Query Processing and Optimization </a:t>
            </a:r>
          </a:p>
        </p:txBody>
      </p:sp>
    </p:spTree>
    <p:extLst>
      <p:ext uri="{BB962C8B-B14F-4D97-AF65-F5344CB8AC3E}">
        <p14:creationId xmlns:p14="http://schemas.microsoft.com/office/powerpoint/2010/main" val="436566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a:extLst>
              <a:ext uri="{FF2B5EF4-FFF2-40B4-BE49-F238E27FC236}">
                <a16:creationId xmlns:a16="http://schemas.microsoft.com/office/drawing/2014/main" id="{C4F7EECF-E672-4EC7-A229-C16B8BBFB5E7}"/>
              </a:ext>
            </a:extLst>
          </p:cNvPr>
          <p:cNvSpPr>
            <a:spLocks noGrp="1" noChangeArrowheads="1"/>
          </p:cNvSpPr>
          <p:nvPr>
            <p:ph type="title"/>
          </p:nvPr>
        </p:nvSpPr>
        <p:spPr>
          <a:xfrm>
            <a:off x="838200" y="0"/>
            <a:ext cx="10515600" cy="1325563"/>
          </a:xfrm>
        </p:spPr>
        <p:txBody>
          <a:bodyPr/>
          <a:lstStyle/>
          <a:p>
            <a:pPr>
              <a:defRPr/>
            </a:pPr>
            <a:r>
              <a:rPr lang="en-US" altLang="en-US" dirty="0">
                <a:effectLst>
                  <a:outerShdw blurRad="38100" dist="38100" dir="2700000" algn="tl">
                    <a:srgbClr val="C0C0C0"/>
                  </a:outerShdw>
                </a:effectLst>
                <a:ea typeface="MS PGothic" panose="020B0600070205080204" pitchFamily="34" charset="-128"/>
              </a:rPr>
              <a:t>Basic Steps in Query Processing</a:t>
            </a:r>
          </a:p>
        </p:txBody>
      </p:sp>
      <p:sp>
        <p:nvSpPr>
          <p:cNvPr id="9219" name="Rectangle 3">
            <a:extLst>
              <a:ext uri="{FF2B5EF4-FFF2-40B4-BE49-F238E27FC236}">
                <a16:creationId xmlns:a16="http://schemas.microsoft.com/office/drawing/2014/main" id="{2D2522C3-D90D-4FC0-8084-00D0088674AB}"/>
              </a:ext>
            </a:extLst>
          </p:cNvPr>
          <p:cNvSpPr>
            <a:spLocks noGrp="1" noChangeArrowheads="1"/>
          </p:cNvSpPr>
          <p:nvPr>
            <p:ph idx="1"/>
          </p:nvPr>
        </p:nvSpPr>
        <p:spPr>
          <a:xfrm>
            <a:off x="2358501" y="1093789"/>
            <a:ext cx="6925870" cy="1228307"/>
          </a:xfrm>
        </p:spPr>
        <p:txBody>
          <a:bodyPr>
            <a:normAutofit fontScale="92500" lnSpcReduction="20000"/>
          </a:bodyPr>
          <a:lstStyle/>
          <a:p>
            <a:pPr>
              <a:buFont typeface="Monotype Sorts" pitchFamily="-65" charset="2"/>
              <a:buNone/>
            </a:pPr>
            <a:r>
              <a:rPr lang="en-US" altLang="en-US" dirty="0">
                <a:ea typeface="MS PGothic" panose="020B0600070205080204" pitchFamily="34" charset="-128"/>
              </a:rPr>
              <a:t>1.	Parsing and translation</a:t>
            </a:r>
          </a:p>
          <a:p>
            <a:pPr>
              <a:buFont typeface="Monotype Sorts" pitchFamily="-65" charset="2"/>
              <a:buNone/>
            </a:pPr>
            <a:r>
              <a:rPr lang="en-US" altLang="en-US" dirty="0">
                <a:ea typeface="MS PGothic" panose="020B0600070205080204" pitchFamily="34" charset="-128"/>
              </a:rPr>
              <a:t>2.	Optimization</a:t>
            </a:r>
          </a:p>
          <a:p>
            <a:pPr>
              <a:buFont typeface="Monotype Sorts" pitchFamily="-65" charset="2"/>
              <a:buNone/>
            </a:pPr>
            <a:r>
              <a:rPr lang="en-US" altLang="en-US" dirty="0">
                <a:ea typeface="MS PGothic" panose="020B0600070205080204" pitchFamily="34" charset="-128"/>
              </a:rPr>
              <a:t>3.	Evaluation</a:t>
            </a:r>
          </a:p>
        </p:txBody>
      </p:sp>
      <p:pic>
        <p:nvPicPr>
          <p:cNvPr id="9220" name="Picture 11">
            <a:extLst>
              <a:ext uri="{FF2B5EF4-FFF2-40B4-BE49-F238E27FC236}">
                <a16:creationId xmlns:a16="http://schemas.microsoft.com/office/drawing/2014/main" id="{CDACD50C-619F-4E1E-97A1-AEC99C2D45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390" y="2299271"/>
            <a:ext cx="5855786" cy="3516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152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a:extLst>
              <a:ext uri="{FF2B5EF4-FFF2-40B4-BE49-F238E27FC236}">
                <a16:creationId xmlns:a16="http://schemas.microsoft.com/office/drawing/2014/main" id="{4E89BB60-2D0A-430C-B904-1D17058D3C89}"/>
              </a:ext>
            </a:extLst>
          </p:cNvPr>
          <p:cNvSpPr>
            <a:spLocks noGrp="1" noChangeArrowheads="1"/>
          </p:cNvSpPr>
          <p:nvPr>
            <p:ph type="title"/>
          </p:nvPr>
        </p:nvSpPr>
        <p:spPr>
          <a:xfrm>
            <a:off x="678543" y="-174937"/>
            <a:ext cx="10515600" cy="1325563"/>
          </a:xfrm>
        </p:spPr>
        <p:txBody>
          <a:bodyPr/>
          <a:lstStyle/>
          <a:p>
            <a:pPr>
              <a:defRPr/>
            </a:pPr>
            <a:r>
              <a:rPr lang="en-US" altLang="en-US" dirty="0">
                <a:effectLst>
                  <a:outerShdw blurRad="38100" dist="38100" dir="2700000" algn="tl">
                    <a:srgbClr val="C0C0C0"/>
                  </a:outerShdw>
                </a:effectLst>
                <a:ea typeface="MS PGothic" panose="020B0600070205080204" pitchFamily="34" charset="-128"/>
              </a:rPr>
              <a:t>Basic Steps in Query Processing (Cont.)</a:t>
            </a:r>
          </a:p>
        </p:txBody>
      </p:sp>
      <p:sp>
        <p:nvSpPr>
          <p:cNvPr id="11267" name="Rectangle 3">
            <a:extLst>
              <a:ext uri="{FF2B5EF4-FFF2-40B4-BE49-F238E27FC236}">
                <a16:creationId xmlns:a16="http://schemas.microsoft.com/office/drawing/2014/main" id="{6428F809-F71E-403F-A785-3D6B01E4DD03}"/>
              </a:ext>
            </a:extLst>
          </p:cNvPr>
          <p:cNvSpPr>
            <a:spLocks noGrp="1" noChangeArrowheads="1"/>
          </p:cNvSpPr>
          <p:nvPr>
            <p:ph idx="1"/>
          </p:nvPr>
        </p:nvSpPr>
        <p:spPr>
          <a:xfrm>
            <a:off x="2367380" y="1150626"/>
            <a:ext cx="7470445" cy="3433408"/>
          </a:xfrm>
        </p:spPr>
        <p:txBody>
          <a:bodyPr/>
          <a:lstStyle/>
          <a:p>
            <a:r>
              <a:rPr lang="en-US" altLang="en-US" dirty="0">
                <a:ea typeface="MS PGothic" panose="020B0600070205080204" pitchFamily="34" charset="-128"/>
              </a:rPr>
              <a:t>Parsing and translation</a:t>
            </a:r>
          </a:p>
          <a:p>
            <a:pPr lvl="1"/>
            <a:r>
              <a:rPr lang="en-US" altLang="en-US" dirty="0">
                <a:ea typeface="MS PGothic" panose="020B0600070205080204" pitchFamily="34" charset="-128"/>
              </a:rPr>
              <a:t>translate the query into its internal form.  This is then translated into relational algebra.</a:t>
            </a:r>
          </a:p>
          <a:p>
            <a:pPr lvl="1"/>
            <a:r>
              <a:rPr lang="en-US" altLang="en-US" dirty="0">
                <a:ea typeface="MS PGothic" panose="020B0600070205080204" pitchFamily="34" charset="-128"/>
              </a:rPr>
              <a:t>Parser checks syntax, verifies relations</a:t>
            </a:r>
          </a:p>
          <a:p>
            <a:r>
              <a:rPr lang="en-US" altLang="en-US" dirty="0">
                <a:ea typeface="MS PGothic" panose="020B0600070205080204" pitchFamily="34" charset="-128"/>
              </a:rPr>
              <a:t>Evaluation</a:t>
            </a:r>
          </a:p>
          <a:p>
            <a:pPr lvl="1"/>
            <a:r>
              <a:rPr lang="en-US" altLang="en-US" dirty="0">
                <a:ea typeface="MS PGothic" panose="020B0600070205080204" pitchFamily="34" charset="-128"/>
              </a:rPr>
              <a:t>The query-execution engine takes a query-evaluation plan, executes that plan, and returns the answers to the query.</a:t>
            </a:r>
          </a:p>
          <a:p>
            <a:pPr lvl="1"/>
            <a:endParaRPr lang="en-US" altLang="en-US" dirty="0">
              <a:ea typeface="MS PGothic" panose="020B0600070205080204" pitchFamily="34" charset="-128"/>
            </a:endParaRPr>
          </a:p>
        </p:txBody>
      </p:sp>
    </p:spTree>
  </p:cSld>
  <p:clrMapOvr>
    <a:masterClrMapping/>
  </p:clrMapOvr>
  <p:transition advTm="992"/>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701EDBC9-0803-4051-8741-608A2893CB91}"/>
              </a:ext>
            </a:extLst>
          </p:cNvPr>
          <p:cNvSpPr>
            <a:spLocks noGrp="1" noChangeArrowheads="1"/>
          </p:cNvSpPr>
          <p:nvPr>
            <p:ph type="title"/>
          </p:nvPr>
        </p:nvSpPr>
        <p:spPr>
          <a:xfrm>
            <a:off x="2292350" y="387531"/>
            <a:ext cx="8077200" cy="609600"/>
          </a:xfrm>
        </p:spPr>
        <p:txBody>
          <a:bodyPr>
            <a:normAutofit fontScale="90000"/>
          </a:bodyPr>
          <a:lstStyle/>
          <a:p>
            <a:pPr>
              <a:defRPr/>
            </a:pPr>
            <a:r>
              <a:rPr lang="en-US" altLang="en-US" dirty="0">
                <a:effectLst>
                  <a:outerShdw blurRad="38100" dist="38100" dir="2700000" algn="tl">
                    <a:srgbClr val="C0C0C0"/>
                  </a:outerShdw>
                </a:effectLst>
                <a:ea typeface="MS PGothic" panose="020B0600070205080204" pitchFamily="34" charset="-128"/>
              </a:rPr>
              <a:t>Basic Steps in Query Processing: Optimization</a:t>
            </a:r>
          </a:p>
        </p:txBody>
      </p:sp>
      <p:sp>
        <p:nvSpPr>
          <p:cNvPr id="13315" name="Rectangle 3">
            <a:extLst>
              <a:ext uri="{FF2B5EF4-FFF2-40B4-BE49-F238E27FC236}">
                <a16:creationId xmlns:a16="http://schemas.microsoft.com/office/drawing/2014/main" id="{0555D7EF-9E4A-4BE9-B712-A77059F3A004}"/>
              </a:ext>
            </a:extLst>
          </p:cNvPr>
          <p:cNvSpPr>
            <a:spLocks noGrp="1" noChangeArrowheads="1"/>
          </p:cNvSpPr>
          <p:nvPr>
            <p:ph idx="1"/>
          </p:nvPr>
        </p:nvSpPr>
        <p:spPr>
          <a:xfrm>
            <a:off x="2281038" y="1616159"/>
            <a:ext cx="7629923" cy="4137228"/>
          </a:xfrm>
        </p:spPr>
        <p:txBody>
          <a:bodyPr>
            <a:normAutofit fontScale="85000" lnSpcReduction="10000"/>
          </a:bodyPr>
          <a:lstStyle/>
          <a:p>
            <a:r>
              <a:rPr lang="en-US" altLang="en-US" dirty="0">
                <a:ea typeface="MS PGothic" panose="020B0600070205080204" pitchFamily="34" charset="-128"/>
              </a:rPr>
              <a:t>A relational algebra expression may have many equivalent expressions</a:t>
            </a:r>
          </a:p>
          <a:p>
            <a:pPr lvl="1"/>
            <a:r>
              <a:rPr lang="en-US" altLang="en-US" dirty="0">
                <a:ea typeface="MS PGothic" panose="020B0600070205080204" pitchFamily="34" charset="-128"/>
              </a:rPr>
              <a:t>E.g., </a:t>
            </a:r>
            <a:r>
              <a:rPr lang="en-US" altLang="en-US" sz="1900" dirty="0">
                <a:ea typeface="MS PGothic" panose="020B0600070205080204" pitchFamily="34" charset="-128"/>
                <a:sym typeface="Symbol" panose="05050102010706020507" pitchFamily="18" charset="2"/>
              </a:rPr>
              <a:t></a:t>
            </a:r>
            <a:r>
              <a:rPr lang="en-US" altLang="en-US" sz="1900" i="1" baseline="-25000" dirty="0">
                <a:ea typeface="MS PGothic" panose="020B0600070205080204" pitchFamily="34" charset="-128"/>
                <a:sym typeface="Symbol" panose="05050102010706020507" pitchFamily="18" charset="2"/>
              </a:rPr>
              <a:t>salary</a:t>
            </a:r>
            <a:r>
              <a:rPr lang="en-US" altLang="en-US" sz="1900" baseline="-25000" dirty="0">
                <a:ea typeface="MS PGothic" panose="020B0600070205080204" pitchFamily="34" charset="-128"/>
                <a:sym typeface="Symbol" panose="05050102010706020507" pitchFamily="18" charset="2"/>
              </a:rPr>
              <a:t>75000</a:t>
            </a:r>
            <a:r>
              <a:rPr lang="en-US" altLang="en-US" sz="1900" dirty="0">
                <a:ea typeface="MS PGothic" panose="020B0600070205080204" pitchFamily="34" charset="-128"/>
                <a:sym typeface="Symbol" panose="05050102010706020507" pitchFamily="18" charset="2"/>
              </a:rPr>
              <a:t>(</a:t>
            </a:r>
            <a:r>
              <a:rPr lang="en-US" altLang="en-US" sz="1900" i="1" baseline="-25000" dirty="0">
                <a:ea typeface="MS PGothic" panose="020B0600070205080204" pitchFamily="34" charset="-128"/>
                <a:sym typeface="Symbol" panose="05050102010706020507" pitchFamily="18" charset="2"/>
              </a:rPr>
              <a:t>salary</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instructor)) </a:t>
            </a:r>
            <a:r>
              <a:rPr lang="en-US" altLang="en-US" dirty="0">
                <a:ea typeface="MS PGothic" panose="020B0600070205080204" pitchFamily="34" charset="-128"/>
                <a:sym typeface="Symbol" panose="05050102010706020507" pitchFamily="18" charset="2"/>
              </a:rPr>
              <a:t>is equivalent to </a:t>
            </a:r>
            <a:br>
              <a:rPr lang="en-US" altLang="en-US" dirty="0">
                <a:ea typeface="MS PGothic" panose="020B0600070205080204" pitchFamily="34" charset="-128"/>
                <a:sym typeface="Symbol" panose="05050102010706020507" pitchFamily="18" charset="2"/>
              </a:rPr>
            </a:br>
            <a:r>
              <a:rPr lang="en-US" altLang="en-US" dirty="0">
                <a:ea typeface="MS PGothic" panose="020B0600070205080204" pitchFamily="34" charset="-128"/>
                <a:sym typeface="Symbol" panose="05050102010706020507" pitchFamily="18" charset="2"/>
              </a:rPr>
              <a:t>         </a:t>
            </a:r>
            <a:r>
              <a:rPr lang="en-US" altLang="en-US" sz="1900" dirty="0">
                <a:ea typeface="MS PGothic" panose="020B0600070205080204" pitchFamily="34" charset="-128"/>
                <a:sym typeface="Symbol" panose="05050102010706020507" pitchFamily="18" charset="2"/>
              </a:rPr>
              <a:t></a:t>
            </a:r>
            <a:r>
              <a:rPr lang="en-US" altLang="en-US" sz="1900" i="1" baseline="-25000" dirty="0">
                <a:ea typeface="MS PGothic" panose="020B0600070205080204" pitchFamily="34" charset="-128"/>
                <a:sym typeface="Symbol" panose="05050102010706020507" pitchFamily="18" charset="2"/>
              </a:rPr>
              <a:t>salary</a:t>
            </a:r>
            <a:r>
              <a:rPr lang="en-US" altLang="en-US" sz="1900" dirty="0">
                <a:ea typeface="MS PGothic" panose="020B0600070205080204" pitchFamily="34" charset="-128"/>
                <a:sym typeface="Symbol" panose="05050102010706020507" pitchFamily="18" charset="2"/>
              </a:rPr>
              <a:t>(</a:t>
            </a:r>
            <a:r>
              <a:rPr lang="en-US" altLang="en-US" sz="1900" i="1" baseline="-25000" dirty="0">
                <a:ea typeface="MS PGothic" panose="020B0600070205080204" pitchFamily="34" charset="-128"/>
                <a:sym typeface="Symbol" panose="05050102010706020507" pitchFamily="18" charset="2"/>
              </a:rPr>
              <a:t>salary</a:t>
            </a:r>
            <a:r>
              <a:rPr lang="en-US" altLang="en-US" sz="1900" baseline="-25000" dirty="0">
                <a:ea typeface="MS PGothic" panose="020B0600070205080204" pitchFamily="34" charset="-128"/>
                <a:sym typeface="Symbol" panose="05050102010706020507" pitchFamily="18" charset="2"/>
              </a:rPr>
              <a:t>75000</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instructor))</a:t>
            </a:r>
          </a:p>
          <a:p>
            <a:r>
              <a:rPr lang="en-US" altLang="en-US" dirty="0">
                <a:ea typeface="MS PGothic" panose="020B0600070205080204" pitchFamily="34" charset="-128"/>
                <a:sym typeface="Symbol" panose="05050102010706020507" pitchFamily="18" charset="2"/>
              </a:rPr>
              <a:t>Each relational algebra operation can be evaluated using one of several different algorithms</a:t>
            </a:r>
          </a:p>
          <a:p>
            <a:pPr lvl="1"/>
            <a:r>
              <a:rPr lang="en-US" altLang="en-US" dirty="0">
                <a:ea typeface="MS PGothic" panose="020B0600070205080204" pitchFamily="34" charset="-128"/>
                <a:sym typeface="Symbol" panose="05050102010706020507" pitchFamily="18" charset="2"/>
              </a:rPr>
              <a:t>Correspondingly, a relational-algebra expression can be evaluated in many ways. </a:t>
            </a:r>
          </a:p>
          <a:p>
            <a:r>
              <a:rPr lang="en-US" altLang="en-US" dirty="0">
                <a:ea typeface="MS PGothic" panose="020B0600070205080204" pitchFamily="34" charset="-128"/>
                <a:sym typeface="Symbol" panose="05050102010706020507" pitchFamily="18" charset="2"/>
              </a:rPr>
              <a:t>Annotated expression specifying detailed evaluation strategy is called an </a:t>
            </a:r>
            <a:r>
              <a:rPr lang="en-US" altLang="en-US" b="1" dirty="0">
                <a:solidFill>
                  <a:srgbClr val="002060"/>
                </a:solidFill>
                <a:ea typeface="MS PGothic" panose="020B0600070205080204" pitchFamily="34" charset="-128"/>
                <a:sym typeface="Symbol" panose="05050102010706020507" pitchFamily="18" charset="2"/>
              </a:rPr>
              <a:t>evaluation-plan</a:t>
            </a:r>
            <a:r>
              <a:rPr lang="en-US" altLang="en-US" dirty="0">
                <a:ea typeface="MS PGothic" panose="020B0600070205080204" pitchFamily="34" charset="-128"/>
                <a:sym typeface="Symbol" panose="05050102010706020507" pitchFamily="18" charset="2"/>
              </a:rPr>
              <a:t>.  E.g.,:</a:t>
            </a:r>
          </a:p>
          <a:p>
            <a:pPr lvl="1"/>
            <a:r>
              <a:rPr lang="en-US" altLang="en-US" dirty="0">
                <a:ea typeface="MS PGothic" panose="020B0600070205080204" pitchFamily="34" charset="-128"/>
                <a:sym typeface="Symbol" panose="05050102010706020507" pitchFamily="18" charset="2"/>
              </a:rPr>
              <a:t>Use an index on </a:t>
            </a:r>
            <a:r>
              <a:rPr lang="en-US" altLang="en-US" i="1" dirty="0">
                <a:ea typeface="MS PGothic" panose="020B0600070205080204" pitchFamily="34" charset="-128"/>
                <a:sym typeface="Symbol" panose="05050102010706020507" pitchFamily="18" charset="2"/>
              </a:rPr>
              <a:t>salary</a:t>
            </a:r>
            <a:r>
              <a:rPr lang="en-US" altLang="en-US" dirty="0">
                <a:ea typeface="MS PGothic" panose="020B0600070205080204" pitchFamily="34" charset="-128"/>
                <a:sym typeface="Symbol" panose="05050102010706020507" pitchFamily="18" charset="2"/>
              </a:rPr>
              <a:t> to find instructors with salary &lt; 75000,</a:t>
            </a:r>
          </a:p>
          <a:p>
            <a:pPr lvl="1"/>
            <a:r>
              <a:rPr lang="en-US" altLang="en-US" dirty="0">
                <a:ea typeface="MS PGothic" panose="020B0600070205080204" pitchFamily="34" charset="-128"/>
                <a:sym typeface="Symbol" panose="05050102010706020507" pitchFamily="18" charset="2"/>
              </a:rPr>
              <a:t>Or perform complete relation scan and discard instructors with salary  75000</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156034-C923-F3B6-7AD4-2B291DF70DA9}"/>
              </a:ext>
            </a:extLst>
          </p:cNvPr>
          <p:cNvSpPr txBox="1"/>
          <p:nvPr/>
        </p:nvSpPr>
        <p:spPr>
          <a:xfrm>
            <a:off x="756023" y="0"/>
            <a:ext cx="10883153" cy="7171194"/>
          </a:xfrm>
          <a:prstGeom prst="rect">
            <a:avLst/>
          </a:prstGeom>
          <a:noFill/>
        </p:spPr>
        <p:txBody>
          <a:bodyPr wrap="square">
            <a:spAutoFit/>
          </a:bodyPr>
          <a:lstStyle/>
          <a:p>
            <a:pPr algn="just"/>
            <a:r>
              <a:rPr lang="en-US" sz="2000" dirty="0"/>
              <a:t>In this chapter, we discuss the techniques used by a DBMS to process high-level queries. </a:t>
            </a:r>
          </a:p>
          <a:p>
            <a:pPr algn="just"/>
            <a:endParaRPr lang="en-US" sz="2000" dirty="0"/>
          </a:p>
          <a:p>
            <a:pPr algn="just"/>
            <a:r>
              <a:rPr lang="en-US" sz="2000" b="1" dirty="0"/>
              <a:t>Steps of processing a high level query</a:t>
            </a:r>
          </a:p>
          <a:p>
            <a:pPr algn="just"/>
            <a:endParaRPr lang="en-US" sz="2000" dirty="0"/>
          </a:p>
          <a:p>
            <a:pPr algn="just"/>
            <a:r>
              <a:rPr lang="en-US" sz="2000" dirty="0"/>
              <a:t>Figure 18.1 shows the different steps of processing a high-level query. </a:t>
            </a:r>
          </a:p>
          <a:p>
            <a:pPr algn="just"/>
            <a:endParaRPr lang="en-US" sz="2000" dirty="0"/>
          </a:p>
          <a:p>
            <a:pPr algn="just"/>
            <a:r>
              <a:rPr lang="en-US" sz="2000" dirty="0"/>
              <a:t>A query expressed in a high-level query language such as SQL must first be scanned, parsed, and validated.</a:t>
            </a:r>
          </a:p>
          <a:p>
            <a:pPr algn="just"/>
            <a:endParaRPr lang="en-US" sz="2000" dirty="0"/>
          </a:p>
          <a:p>
            <a:pPr algn="just"/>
            <a:r>
              <a:rPr lang="en-US" sz="2000" b="1" dirty="0"/>
              <a:t>The scanner</a:t>
            </a:r>
            <a:r>
              <a:rPr lang="en-US" sz="2000" dirty="0"/>
              <a:t> identifies the query tokens—such as SQL keywords, attribute names, and relation names—that appear in the text of the query.</a:t>
            </a:r>
          </a:p>
          <a:p>
            <a:pPr algn="just"/>
            <a:endParaRPr lang="en-US" sz="2000" dirty="0"/>
          </a:p>
          <a:p>
            <a:pPr algn="just"/>
            <a:r>
              <a:rPr lang="en-US" sz="2000" b="1" dirty="0"/>
              <a:t>The parser </a:t>
            </a:r>
            <a:r>
              <a:rPr lang="en-US" sz="2000" dirty="0"/>
              <a:t>checks the query syntax to determine whether it is formulated according to the syntax rules of the query language. </a:t>
            </a:r>
          </a:p>
          <a:p>
            <a:pPr algn="just"/>
            <a:endParaRPr lang="en-US" sz="2000" dirty="0"/>
          </a:p>
          <a:p>
            <a:pPr algn="just"/>
            <a:r>
              <a:rPr lang="en-US" sz="2000" dirty="0"/>
              <a:t>The query must also be </a:t>
            </a:r>
            <a:r>
              <a:rPr lang="en-US" sz="2000" b="1" dirty="0"/>
              <a:t>validated </a:t>
            </a:r>
            <a:r>
              <a:rPr lang="en-US" sz="2000" dirty="0"/>
              <a:t>by checking that all attribute and relation names are valid and semantically meaningful names in the schema of the particular database being queried. </a:t>
            </a:r>
          </a:p>
          <a:p>
            <a:pPr algn="just"/>
            <a:endParaRPr lang="en-US" sz="2000" dirty="0"/>
          </a:p>
          <a:p>
            <a:pPr algn="just"/>
            <a:r>
              <a:rPr lang="en-US" sz="2000" dirty="0"/>
              <a:t>An internal representation of the query is then created, usually as a tree data structure called a </a:t>
            </a:r>
            <a:r>
              <a:rPr lang="en-US" sz="2000" b="1" dirty="0"/>
              <a:t>query tree. </a:t>
            </a:r>
          </a:p>
          <a:p>
            <a:pPr algn="just"/>
            <a:endParaRPr lang="en-US" sz="2000" dirty="0"/>
          </a:p>
          <a:p>
            <a:pPr algn="just"/>
            <a:r>
              <a:rPr lang="en-US" sz="2000" dirty="0"/>
              <a:t>It is also possible to represent the query using a graph data structure called a query graph, which is generally a directed acyclic graph (DAG). </a:t>
            </a:r>
          </a:p>
        </p:txBody>
      </p:sp>
    </p:spTree>
    <p:extLst>
      <p:ext uri="{BB962C8B-B14F-4D97-AF65-F5344CB8AC3E}">
        <p14:creationId xmlns:p14="http://schemas.microsoft.com/office/powerpoint/2010/main" val="3258727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1B629B-BAA9-7E6E-3900-FC8E6958F871}"/>
              </a:ext>
            </a:extLst>
          </p:cNvPr>
          <p:cNvPicPr>
            <a:picLocks noChangeAspect="1"/>
          </p:cNvPicPr>
          <p:nvPr/>
        </p:nvPicPr>
        <p:blipFill>
          <a:blip r:embed="rId2"/>
          <a:stretch>
            <a:fillRect/>
          </a:stretch>
        </p:blipFill>
        <p:spPr>
          <a:xfrm>
            <a:off x="727190" y="546846"/>
            <a:ext cx="10737620" cy="5871883"/>
          </a:xfrm>
          <a:prstGeom prst="rect">
            <a:avLst/>
          </a:prstGeom>
        </p:spPr>
      </p:pic>
    </p:spTree>
    <p:extLst>
      <p:ext uri="{BB962C8B-B14F-4D97-AF65-F5344CB8AC3E}">
        <p14:creationId xmlns:p14="http://schemas.microsoft.com/office/powerpoint/2010/main" val="1971823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A2FBC5-B46D-A52E-1950-BC8F86FBFD16}"/>
              </a:ext>
            </a:extLst>
          </p:cNvPr>
          <p:cNvSpPr txBox="1"/>
          <p:nvPr/>
        </p:nvSpPr>
        <p:spPr>
          <a:xfrm>
            <a:off x="681317" y="876343"/>
            <a:ext cx="11017624" cy="4832092"/>
          </a:xfrm>
          <a:prstGeom prst="rect">
            <a:avLst/>
          </a:prstGeom>
          <a:noFill/>
        </p:spPr>
        <p:txBody>
          <a:bodyPr wrap="square">
            <a:spAutoFit/>
          </a:bodyPr>
          <a:lstStyle/>
          <a:p>
            <a:pPr algn="just"/>
            <a:r>
              <a:rPr lang="en-US" sz="2200" dirty="0"/>
              <a:t>The DBMS must then devise an execution strategy or query plan for retrieving the results of the query from the database files. </a:t>
            </a:r>
          </a:p>
          <a:p>
            <a:pPr algn="just"/>
            <a:endParaRPr lang="en-US" sz="2200" dirty="0"/>
          </a:p>
          <a:p>
            <a:pPr algn="just"/>
            <a:r>
              <a:rPr lang="en-US" sz="2200" dirty="0"/>
              <a:t>A query has many possible execution strategies, and the process of choosing a suitable one for processing a query is known as </a:t>
            </a:r>
            <a:r>
              <a:rPr lang="en-US" sz="2200" b="1" dirty="0"/>
              <a:t>query optimization</a:t>
            </a:r>
            <a:r>
              <a:rPr lang="en-US" sz="2200" dirty="0"/>
              <a:t>.</a:t>
            </a:r>
            <a:endParaRPr lang="en-IN" sz="2200" dirty="0"/>
          </a:p>
          <a:p>
            <a:pPr algn="just"/>
            <a:endParaRPr lang="en-US" sz="2200" dirty="0"/>
          </a:p>
          <a:p>
            <a:pPr algn="just"/>
            <a:r>
              <a:rPr lang="en-US" sz="2200" dirty="0"/>
              <a:t>The </a:t>
            </a:r>
            <a:r>
              <a:rPr lang="en-US" sz="2200" b="1" dirty="0"/>
              <a:t>query optimizer </a:t>
            </a:r>
            <a:r>
              <a:rPr lang="en-US" sz="2200" dirty="0"/>
              <a:t>module has the task of producing a good execution plan.</a:t>
            </a:r>
          </a:p>
          <a:p>
            <a:pPr algn="just"/>
            <a:endParaRPr lang="en-US" sz="2200" dirty="0"/>
          </a:p>
          <a:p>
            <a:pPr algn="just"/>
            <a:r>
              <a:rPr lang="en-US" sz="2200" dirty="0"/>
              <a:t>The </a:t>
            </a:r>
            <a:r>
              <a:rPr lang="en-US" sz="2200" b="1" dirty="0"/>
              <a:t>code generator</a:t>
            </a:r>
            <a:r>
              <a:rPr lang="en-US" sz="2200" dirty="0"/>
              <a:t> generates the code to execute that plan. </a:t>
            </a:r>
          </a:p>
          <a:p>
            <a:pPr algn="just"/>
            <a:endParaRPr lang="en-US" sz="2200" dirty="0"/>
          </a:p>
          <a:p>
            <a:pPr algn="just"/>
            <a:r>
              <a:rPr lang="en-US" sz="2200" dirty="0"/>
              <a:t>The </a:t>
            </a:r>
            <a:r>
              <a:rPr lang="en-US" sz="2200" b="1" dirty="0"/>
              <a:t>runtime database processor </a:t>
            </a:r>
            <a:r>
              <a:rPr lang="en-US" sz="2200" dirty="0"/>
              <a:t>has the task of running (executing) the query code to produce the query result. </a:t>
            </a:r>
          </a:p>
          <a:p>
            <a:pPr algn="just"/>
            <a:endParaRPr lang="en-US" sz="2200" dirty="0"/>
          </a:p>
          <a:p>
            <a:pPr algn="just"/>
            <a:r>
              <a:rPr lang="en-US" sz="2200" dirty="0"/>
              <a:t>If a runtime error results, an error message is generated by the runtime database processor.</a:t>
            </a:r>
            <a:endParaRPr lang="en-IN" sz="2200" dirty="0"/>
          </a:p>
        </p:txBody>
      </p:sp>
    </p:spTree>
    <p:extLst>
      <p:ext uri="{BB962C8B-B14F-4D97-AF65-F5344CB8AC3E}">
        <p14:creationId xmlns:p14="http://schemas.microsoft.com/office/powerpoint/2010/main" val="3561652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1CDF27-90A6-9277-C5C4-CB7617ACFC4D}"/>
              </a:ext>
            </a:extLst>
          </p:cNvPr>
          <p:cNvSpPr txBox="1"/>
          <p:nvPr/>
        </p:nvSpPr>
        <p:spPr>
          <a:xfrm>
            <a:off x="600636" y="779039"/>
            <a:ext cx="11277600" cy="4832092"/>
          </a:xfrm>
          <a:prstGeom prst="rect">
            <a:avLst/>
          </a:prstGeom>
          <a:noFill/>
        </p:spPr>
        <p:txBody>
          <a:bodyPr wrap="square">
            <a:spAutoFit/>
          </a:bodyPr>
          <a:lstStyle/>
          <a:p>
            <a:r>
              <a:rPr lang="en-US" sz="2200" b="1" dirty="0"/>
              <a:t>Translating SQL Queries into Relational Algebra</a:t>
            </a:r>
          </a:p>
          <a:p>
            <a:endParaRPr lang="en-US" sz="2200" b="1" dirty="0"/>
          </a:p>
          <a:p>
            <a:pPr algn="just"/>
            <a:r>
              <a:rPr lang="en-US" sz="2200" dirty="0"/>
              <a:t>SQL is the query language that is used in most commercial RDBMSs. </a:t>
            </a:r>
          </a:p>
          <a:p>
            <a:pPr algn="just"/>
            <a:endParaRPr lang="en-US" sz="2200" dirty="0"/>
          </a:p>
          <a:p>
            <a:pPr algn="just"/>
            <a:r>
              <a:rPr lang="en-US" sz="2200" dirty="0"/>
              <a:t>SQL queries are decomposed into query blocks that can be translated into the algebraic operators and optimized.</a:t>
            </a:r>
          </a:p>
          <a:p>
            <a:pPr algn="just"/>
            <a:endParaRPr lang="en-US" sz="2200" dirty="0"/>
          </a:p>
          <a:p>
            <a:pPr algn="just"/>
            <a:r>
              <a:rPr lang="en-US" sz="2200" dirty="0"/>
              <a:t>A query block contains a single SELECT-FROM-WHERE expression, as well as GROUP BY and HAVING clauses if these are part of the block.</a:t>
            </a:r>
          </a:p>
          <a:p>
            <a:pPr algn="just"/>
            <a:endParaRPr lang="en-US" sz="2200" dirty="0"/>
          </a:p>
          <a:p>
            <a:pPr algn="just"/>
            <a:r>
              <a:rPr lang="en-US" sz="2200" dirty="0"/>
              <a:t>Nested queries within a query are identified as separate query blocks. </a:t>
            </a:r>
          </a:p>
          <a:p>
            <a:pPr algn="just"/>
            <a:endParaRPr lang="en-US" sz="2200" dirty="0"/>
          </a:p>
          <a:p>
            <a:pPr algn="just"/>
            <a:r>
              <a:rPr lang="en-US" sz="2200" dirty="0"/>
              <a:t>Because SQL includes aggregate operators—such as MAX, MIN, SUM, and COUNT—these operators must also be included in the algebra.</a:t>
            </a:r>
            <a:endParaRPr lang="en-IN" sz="2200" dirty="0"/>
          </a:p>
        </p:txBody>
      </p:sp>
    </p:spTree>
    <p:extLst>
      <p:ext uri="{BB962C8B-B14F-4D97-AF65-F5344CB8AC3E}">
        <p14:creationId xmlns:p14="http://schemas.microsoft.com/office/powerpoint/2010/main" val="3902998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2D64C0E-F0E0-1953-444F-CBFE3C720178}"/>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4483" y="1027906"/>
            <a:ext cx="7575550" cy="4906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3467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C8FC73-AAB2-276B-6D03-972FFB472950}"/>
              </a:ext>
            </a:extLst>
          </p:cNvPr>
          <p:cNvSpPr txBox="1"/>
          <p:nvPr/>
        </p:nvSpPr>
        <p:spPr>
          <a:xfrm>
            <a:off x="569259" y="476561"/>
            <a:ext cx="11053482" cy="5632311"/>
          </a:xfrm>
          <a:prstGeom prst="rect">
            <a:avLst/>
          </a:prstGeom>
          <a:noFill/>
        </p:spPr>
        <p:txBody>
          <a:bodyPr wrap="square">
            <a:spAutoFit/>
          </a:bodyPr>
          <a:lstStyle/>
          <a:p>
            <a:pPr algn="just"/>
            <a:r>
              <a:rPr lang="en-US" dirty="0"/>
              <a:t>Consider the following SQL query on the EMPLOYEE relation shown above: </a:t>
            </a:r>
          </a:p>
          <a:p>
            <a:pPr algn="just"/>
            <a:endParaRPr lang="en-US" dirty="0"/>
          </a:p>
          <a:p>
            <a:pPr algn="just"/>
            <a:r>
              <a:rPr lang="en-US" dirty="0"/>
              <a:t>	SELECT </a:t>
            </a:r>
            <a:r>
              <a:rPr lang="en-US" dirty="0" err="1"/>
              <a:t>Lname</a:t>
            </a:r>
            <a:r>
              <a:rPr lang="en-US" dirty="0"/>
              <a:t>, </a:t>
            </a:r>
            <a:r>
              <a:rPr lang="en-US" dirty="0" err="1"/>
              <a:t>Fname</a:t>
            </a:r>
            <a:r>
              <a:rPr lang="en-US" dirty="0"/>
              <a:t> </a:t>
            </a:r>
          </a:p>
          <a:p>
            <a:pPr algn="just"/>
            <a:r>
              <a:rPr lang="en-US" dirty="0"/>
              <a:t>	FROM EMPLOYEE </a:t>
            </a:r>
          </a:p>
          <a:p>
            <a:pPr algn="just"/>
            <a:r>
              <a:rPr lang="en-US" dirty="0"/>
              <a:t>	WHERE Salary  &gt;   ( 	SELECT MAX (Salary) </a:t>
            </a:r>
          </a:p>
          <a:p>
            <a:pPr algn="just"/>
            <a:r>
              <a:rPr lang="en-US" dirty="0"/>
              <a:t>			FROM EMPLOYEE </a:t>
            </a:r>
          </a:p>
          <a:p>
            <a:pPr algn="just"/>
            <a:r>
              <a:rPr lang="en-US" dirty="0"/>
              <a:t>			WHERE </a:t>
            </a:r>
            <a:r>
              <a:rPr lang="en-US" dirty="0" err="1"/>
              <a:t>Dno</a:t>
            </a:r>
            <a:r>
              <a:rPr lang="en-US" dirty="0"/>
              <a:t>=5 ); </a:t>
            </a:r>
          </a:p>
          <a:p>
            <a:pPr algn="just"/>
            <a:endParaRPr lang="en-US" dirty="0"/>
          </a:p>
          <a:p>
            <a:pPr algn="just"/>
            <a:r>
              <a:rPr lang="en-US" dirty="0"/>
              <a:t>This query retrieves the names of employees (from any department in the company) who earn a salary that is greater than the highest salary in department 5. </a:t>
            </a:r>
          </a:p>
          <a:p>
            <a:pPr algn="just"/>
            <a:endParaRPr lang="en-US" dirty="0"/>
          </a:p>
          <a:p>
            <a:pPr algn="just"/>
            <a:r>
              <a:rPr lang="en-US" dirty="0"/>
              <a:t>The query includes a nested subquery and hence would be decomposed into two blocks. </a:t>
            </a:r>
          </a:p>
          <a:p>
            <a:pPr algn="just"/>
            <a:endParaRPr lang="en-US" dirty="0"/>
          </a:p>
          <a:p>
            <a:pPr algn="just"/>
            <a:r>
              <a:rPr lang="en-US" dirty="0"/>
              <a:t>The inner block is: </a:t>
            </a:r>
          </a:p>
          <a:p>
            <a:pPr algn="just"/>
            <a:r>
              <a:rPr lang="en-US" dirty="0"/>
              <a:t>		( SELECT MAX (Salary) </a:t>
            </a:r>
          </a:p>
          <a:p>
            <a:pPr algn="just"/>
            <a:r>
              <a:rPr lang="en-US" dirty="0"/>
              <a:t>		FROM EMPLOYEE </a:t>
            </a:r>
          </a:p>
          <a:p>
            <a:pPr algn="just"/>
            <a:r>
              <a:rPr lang="en-US" dirty="0"/>
              <a:t>		WHERE </a:t>
            </a:r>
            <a:r>
              <a:rPr lang="en-US" dirty="0" err="1"/>
              <a:t>Dno</a:t>
            </a:r>
            <a:r>
              <a:rPr lang="en-US" dirty="0"/>
              <a:t>=5 ) </a:t>
            </a:r>
          </a:p>
          <a:p>
            <a:pPr algn="just"/>
            <a:endParaRPr lang="en-US" dirty="0"/>
          </a:p>
          <a:p>
            <a:pPr algn="just"/>
            <a:r>
              <a:rPr lang="en-US" dirty="0"/>
              <a:t>This retrieves the highest salary in department 5.</a:t>
            </a:r>
          </a:p>
          <a:p>
            <a:pPr algn="just"/>
            <a:r>
              <a:rPr lang="en-US" dirty="0"/>
              <a:t> </a:t>
            </a:r>
            <a:endParaRPr lang="en-IN" dirty="0"/>
          </a:p>
        </p:txBody>
      </p:sp>
    </p:spTree>
    <p:extLst>
      <p:ext uri="{BB962C8B-B14F-4D97-AF65-F5344CB8AC3E}">
        <p14:creationId xmlns:p14="http://schemas.microsoft.com/office/powerpoint/2010/main" val="3246285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DC89ED-0BBF-525D-5024-FF00D4CD55DD}"/>
              </a:ext>
            </a:extLst>
          </p:cNvPr>
          <p:cNvSpPr txBox="1"/>
          <p:nvPr/>
        </p:nvSpPr>
        <p:spPr>
          <a:xfrm>
            <a:off x="582706" y="512820"/>
            <a:ext cx="11196918" cy="5632311"/>
          </a:xfrm>
          <a:prstGeom prst="rect">
            <a:avLst/>
          </a:prstGeom>
          <a:noFill/>
        </p:spPr>
        <p:txBody>
          <a:bodyPr wrap="square">
            <a:spAutoFit/>
          </a:bodyPr>
          <a:lstStyle/>
          <a:p>
            <a:pPr algn="just"/>
            <a:r>
              <a:rPr lang="en-US" dirty="0"/>
              <a:t>The outer query block is: </a:t>
            </a:r>
          </a:p>
          <a:p>
            <a:pPr algn="just"/>
            <a:r>
              <a:rPr lang="en-US" dirty="0"/>
              <a:t>		SELECT </a:t>
            </a:r>
            <a:r>
              <a:rPr lang="en-US" dirty="0" err="1"/>
              <a:t>Lname</a:t>
            </a:r>
            <a:r>
              <a:rPr lang="en-US" dirty="0"/>
              <a:t>, </a:t>
            </a:r>
            <a:r>
              <a:rPr lang="en-US" dirty="0" err="1"/>
              <a:t>Fname</a:t>
            </a:r>
            <a:r>
              <a:rPr lang="en-US" dirty="0"/>
              <a:t> </a:t>
            </a:r>
          </a:p>
          <a:p>
            <a:pPr algn="just"/>
            <a:r>
              <a:rPr lang="en-US" dirty="0"/>
              <a:t>		FROM EMPLOYEE </a:t>
            </a:r>
          </a:p>
          <a:p>
            <a:pPr algn="just"/>
            <a:r>
              <a:rPr lang="en-US" dirty="0"/>
              <a:t>		WHERE Salary &gt; c </a:t>
            </a:r>
          </a:p>
          <a:p>
            <a:pPr algn="just"/>
            <a:endParaRPr lang="en-US" dirty="0"/>
          </a:p>
          <a:p>
            <a:pPr algn="just"/>
            <a:r>
              <a:rPr lang="en-US" dirty="0"/>
              <a:t>where c represents the result returned from the inner block. </a:t>
            </a:r>
          </a:p>
          <a:p>
            <a:pPr algn="just"/>
            <a:endParaRPr lang="en-US" dirty="0"/>
          </a:p>
          <a:p>
            <a:pPr algn="just"/>
            <a:r>
              <a:rPr lang="en-US" dirty="0"/>
              <a:t>The inner block could be translated into the following relational algebra expression: </a:t>
            </a:r>
          </a:p>
          <a:p>
            <a:pPr algn="just"/>
            <a:r>
              <a:rPr lang="en-US" dirty="0"/>
              <a:t>	</a:t>
            </a:r>
          </a:p>
          <a:p>
            <a:pPr algn="just"/>
            <a:r>
              <a:rPr lang="en-US" dirty="0"/>
              <a:t>		ℑ</a:t>
            </a:r>
            <a:r>
              <a:rPr lang="en-US" baseline="-25000" dirty="0"/>
              <a:t>MAX Salary</a:t>
            </a:r>
            <a:r>
              <a:rPr lang="en-US" dirty="0"/>
              <a:t>(</a:t>
            </a:r>
            <a:r>
              <a:rPr lang="en-US" dirty="0" err="1"/>
              <a:t>σ</a:t>
            </a:r>
            <a:r>
              <a:rPr lang="en-US" baseline="-25000" dirty="0" err="1"/>
              <a:t>Dno</a:t>
            </a:r>
            <a:r>
              <a:rPr lang="en-US" baseline="-25000" dirty="0"/>
              <a:t>=5</a:t>
            </a:r>
            <a:r>
              <a:rPr lang="en-US" dirty="0"/>
              <a:t>(EMPLOYEE)) </a:t>
            </a:r>
          </a:p>
          <a:p>
            <a:pPr algn="just"/>
            <a:endParaRPr lang="en-US" dirty="0"/>
          </a:p>
          <a:p>
            <a:pPr algn="just"/>
            <a:r>
              <a:rPr lang="en-US" dirty="0"/>
              <a:t>and the outer block into the expression: </a:t>
            </a:r>
          </a:p>
          <a:p>
            <a:pPr algn="just"/>
            <a:r>
              <a:rPr lang="en-US" dirty="0"/>
              <a:t>	</a:t>
            </a:r>
          </a:p>
          <a:p>
            <a:pPr algn="just"/>
            <a:r>
              <a:rPr lang="en-US" dirty="0"/>
              <a:t>		π</a:t>
            </a:r>
            <a:r>
              <a:rPr lang="en-US" baseline="-25000" dirty="0" err="1"/>
              <a:t>Lname</a:t>
            </a:r>
            <a:r>
              <a:rPr lang="en-US" baseline="-25000" dirty="0"/>
              <a:t>, </a:t>
            </a:r>
            <a:r>
              <a:rPr lang="en-US" baseline="-25000" dirty="0" err="1"/>
              <a:t>Fname</a:t>
            </a:r>
            <a:r>
              <a:rPr lang="en-US" dirty="0"/>
              <a:t>(</a:t>
            </a:r>
            <a:r>
              <a:rPr lang="en-US" dirty="0" err="1"/>
              <a:t>σ</a:t>
            </a:r>
            <a:r>
              <a:rPr lang="en-US" baseline="-25000" dirty="0" err="1"/>
              <a:t>Salary</a:t>
            </a:r>
            <a:r>
              <a:rPr lang="en-US" baseline="-25000" dirty="0"/>
              <a:t>&gt;c</a:t>
            </a:r>
            <a:r>
              <a:rPr lang="en-US" dirty="0"/>
              <a:t>(EMPLOYEE))</a:t>
            </a:r>
          </a:p>
          <a:p>
            <a:pPr algn="just"/>
            <a:endParaRPr lang="en-US" dirty="0"/>
          </a:p>
          <a:p>
            <a:pPr algn="just"/>
            <a:endParaRPr lang="en-US" dirty="0"/>
          </a:p>
          <a:p>
            <a:pPr algn="just"/>
            <a:r>
              <a:rPr lang="en-US" dirty="0"/>
              <a:t>The query optimizer would then choose an execution plan for each query block. </a:t>
            </a:r>
          </a:p>
          <a:p>
            <a:pPr algn="just"/>
            <a:endParaRPr lang="en-US" dirty="0"/>
          </a:p>
          <a:p>
            <a:pPr algn="just"/>
            <a:r>
              <a:rPr lang="en-US" dirty="0"/>
              <a:t>The inner block needs to be evaluated only once to produce the maximum salary of employees in department 5, which is then used—as the constant c—by the outer block.</a:t>
            </a:r>
            <a:endParaRPr lang="en-IN" dirty="0"/>
          </a:p>
        </p:txBody>
      </p:sp>
    </p:spTree>
    <p:extLst>
      <p:ext uri="{BB962C8B-B14F-4D97-AF65-F5344CB8AC3E}">
        <p14:creationId xmlns:p14="http://schemas.microsoft.com/office/powerpoint/2010/main" val="20426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0919" y="2632801"/>
            <a:ext cx="7194966" cy="523220"/>
          </a:xfrm>
          <a:prstGeom prst="rect">
            <a:avLst/>
          </a:prstGeom>
          <a:noFill/>
        </p:spPr>
        <p:txBody>
          <a:bodyPr wrap="square" rtlCol="0">
            <a:spAutoFit/>
          </a:bodyPr>
          <a:lstStyle/>
          <a:p>
            <a:r>
              <a:rPr kumimoji="1" lang="en-US" altLang="en-US" sz="2800" b="1" dirty="0">
                <a:solidFill>
                  <a:srgbClr val="002060"/>
                </a:solidFill>
                <a:effectLst>
                  <a:outerShdw blurRad="38100" dist="38100" dir="2700000" algn="tl">
                    <a:srgbClr val="C0C0C0"/>
                  </a:outerShdw>
                </a:effectLst>
                <a:latin typeface="+mj-lt"/>
                <a:ea typeface="MS PGothic" charset="0"/>
              </a:rPr>
              <a:t>Generating Equivalent Expressions</a:t>
            </a:r>
            <a:endParaRPr kumimoji="1" lang="en-US" sz="2800" b="1" dirty="0">
              <a:solidFill>
                <a:srgbClr val="002060"/>
              </a:solidFill>
              <a:effectLst>
                <a:outerShdw blurRad="38100" dist="38100" dir="2700000" algn="tl">
                  <a:srgbClr val="C0C0C0"/>
                </a:outerShdw>
              </a:effectLst>
              <a:latin typeface="+mj-lt"/>
              <a:ea typeface="MS PGothic" charset="0"/>
            </a:endParaRPr>
          </a:p>
        </p:txBody>
      </p:sp>
    </p:spTree>
    <p:extLst>
      <p:ext uri="{BB962C8B-B14F-4D97-AF65-F5344CB8AC3E}">
        <p14:creationId xmlns:p14="http://schemas.microsoft.com/office/powerpoint/2010/main" val="1020368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a:extLst>
              <a:ext uri="{FF2B5EF4-FFF2-40B4-BE49-F238E27FC236}">
                <a16:creationId xmlns:a16="http://schemas.microsoft.com/office/drawing/2014/main" id="{C3630E94-546B-44A3-9C2A-A6A0EA10DAB5}"/>
              </a:ext>
            </a:extLst>
          </p:cNvPr>
          <p:cNvSpPr>
            <a:spLocks noGrp="1" noChangeArrowheads="1"/>
          </p:cNvSpPr>
          <p:nvPr>
            <p:ph type="title"/>
          </p:nvPr>
        </p:nvSpPr>
        <p:spPr>
          <a:xfrm>
            <a:off x="2126887" y="82731"/>
            <a:ext cx="8077200" cy="609600"/>
          </a:xfrm>
        </p:spPr>
        <p:txBody>
          <a:bodyPr>
            <a:normAutofit fontScale="90000"/>
          </a:bodyPr>
          <a:lstStyle/>
          <a:p>
            <a:pPr>
              <a:defRPr/>
            </a:pPr>
            <a:r>
              <a:rPr lang="en-US" altLang="en-US" dirty="0">
                <a:effectLst>
                  <a:outerShdw blurRad="38100" dist="38100" dir="2700000" algn="tl">
                    <a:srgbClr val="C0C0C0"/>
                  </a:outerShdw>
                </a:effectLst>
              </a:rPr>
              <a:t>Transformation of Relational Expressions</a:t>
            </a:r>
          </a:p>
        </p:txBody>
      </p:sp>
      <p:sp>
        <p:nvSpPr>
          <p:cNvPr id="17411" name="Rectangle 3">
            <a:extLst>
              <a:ext uri="{FF2B5EF4-FFF2-40B4-BE49-F238E27FC236}">
                <a16:creationId xmlns:a16="http://schemas.microsoft.com/office/drawing/2014/main" id="{DE3790DE-27F5-44AA-ADB0-8D5296161F41}"/>
              </a:ext>
            </a:extLst>
          </p:cNvPr>
          <p:cNvSpPr>
            <a:spLocks noGrp="1" noChangeArrowheads="1"/>
          </p:cNvSpPr>
          <p:nvPr>
            <p:ph idx="1"/>
          </p:nvPr>
        </p:nvSpPr>
        <p:spPr>
          <a:xfrm>
            <a:off x="2217019" y="1102498"/>
            <a:ext cx="7700210" cy="3941141"/>
          </a:xfrm>
        </p:spPr>
        <p:txBody>
          <a:bodyPr>
            <a:normAutofit fontScale="85000" lnSpcReduction="20000"/>
          </a:bodyPr>
          <a:lstStyle/>
          <a:p>
            <a:r>
              <a:rPr lang="en-US" altLang="en-US" dirty="0"/>
              <a:t>Two relational algebra expressions are said to be </a:t>
            </a:r>
            <a:r>
              <a:rPr lang="en-US" altLang="en-US" b="1" dirty="0">
                <a:solidFill>
                  <a:srgbClr val="002060"/>
                </a:solidFill>
              </a:rPr>
              <a:t>equivalent</a:t>
            </a:r>
            <a:r>
              <a:rPr lang="en-US" altLang="en-US" dirty="0"/>
              <a:t> if the two expressions generate the same set of tuples on every </a:t>
            </a:r>
            <a:r>
              <a:rPr lang="en-US" altLang="en-US" i="1" dirty="0"/>
              <a:t>legal</a:t>
            </a:r>
            <a:r>
              <a:rPr lang="en-US" altLang="en-US" dirty="0"/>
              <a:t> database instance</a:t>
            </a:r>
          </a:p>
          <a:p>
            <a:pPr lvl="1"/>
            <a:r>
              <a:rPr lang="en-US" altLang="en-US" dirty="0"/>
              <a:t>Note: order of tuples is irrelevant</a:t>
            </a:r>
          </a:p>
          <a:p>
            <a:pPr lvl="1"/>
            <a:r>
              <a:rPr lang="en-US" altLang="en-US" dirty="0"/>
              <a:t>we don’</a:t>
            </a:r>
            <a:r>
              <a:rPr lang="en-US" altLang="ja-JP" dirty="0"/>
              <a:t>t care if they generate different results on databases that violate integrity constraints</a:t>
            </a:r>
          </a:p>
          <a:p>
            <a:r>
              <a:rPr lang="en-US" altLang="en-US" dirty="0"/>
              <a:t>In SQL, inputs and outputs are multisets of tuples</a:t>
            </a:r>
          </a:p>
          <a:p>
            <a:pPr lvl="1"/>
            <a:r>
              <a:rPr lang="en-US" altLang="en-US" dirty="0"/>
              <a:t>Two expressions in the multiset version of the relational algebra are said to be equivalent if the two expressions generate the same multiset of tuples on every legal database instance. </a:t>
            </a:r>
          </a:p>
          <a:p>
            <a:r>
              <a:rPr lang="en-US" altLang="en-US" dirty="0"/>
              <a:t>An </a:t>
            </a:r>
            <a:r>
              <a:rPr lang="en-US" altLang="en-US" b="1" dirty="0">
                <a:solidFill>
                  <a:srgbClr val="002060"/>
                </a:solidFill>
              </a:rPr>
              <a:t>equivalence rule</a:t>
            </a:r>
            <a:r>
              <a:rPr lang="en-US" altLang="en-US" dirty="0">
                <a:solidFill>
                  <a:srgbClr val="002060"/>
                </a:solidFill>
              </a:rPr>
              <a:t> </a:t>
            </a:r>
            <a:r>
              <a:rPr lang="en-US" altLang="en-US" dirty="0"/>
              <a:t>says that expressions of two forms are equivalent</a:t>
            </a:r>
          </a:p>
          <a:p>
            <a:pPr lvl="1"/>
            <a:r>
              <a:rPr lang="en-US" altLang="en-US" dirty="0"/>
              <a:t>Can replace expression of first form by second, or vice versa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a:extLst>
              <a:ext uri="{FF2B5EF4-FFF2-40B4-BE49-F238E27FC236}">
                <a16:creationId xmlns:a16="http://schemas.microsoft.com/office/drawing/2014/main" id="{95081A04-D8E9-4687-B8DF-F240A7F2C555}"/>
              </a:ext>
            </a:extLst>
          </p:cNvPr>
          <p:cNvSpPr>
            <a:spLocks noGrp="1" noChangeArrowheads="1"/>
          </p:cNvSpPr>
          <p:nvPr>
            <p:ph type="title"/>
          </p:nvPr>
        </p:nvSpPr>
        <p:spPr>
          <a:xfrm>
            <a:off x="838200" y="0"/>
            <a:ext cx="10515600" cy="1325563"/>
          </a:xfrm>
        </p:spPr>
        <p:txBody>
          <a:bodyPr/>
          <a:lstStyle/>
          <a:p>
            <a:pPr>
              <a:defRPr/>
            </a:pPr>
            <a:r>
              <a:rPr lang="en-US" altLang="en-US" dirty="0">
                <a:effectLst>
                  <a:outerShdw blurRad="38100" dist="38100" dir="2700000" algn="tl">
                    <a:srgbClr val="C0C0C0"/>
                  </a:outerShdw>
                </a:effectLst>
              </a:rPr>
              <a:t>Equivalence Rules</a:t>
            </a:r>
          </a:p>
        </p:txBody>
      </p:sp>
      <p:sp>
        <p:nvSpPr>
          <p:cNvPr id="358403" name="Rectangle 3">
            <a:extLst>
              <a:ext uri="{FF2B5EF4-FFF2-40B4-BE49-F238E27FC236}">
                <a16:creationId xmlns:a16="http://schemas.microsoft.com/office/drawing/2014/main" id="{5F88891E-6FB7-4A93-A7DD-19CC40EB4AB2}"/>
              </a:ext>
            </a:extLst>
          </p:cNvPr>
          <p:cNvSpPr>
            <a:spLocks noGrp="1" noChangeArrowheads="1"/>
          </p:cNvSpPr>
          <p:nvPr>
            <p:ph idx="1"/>
          </p:nvPr>
        </p:nvSpPr>
        <p:spPr>
          <a:xfrm>
            <a:off x="2207394" y="1102498"/>
            <a:ext cx="7777212" cy="3729385"/>
          </a:xfrm>
        </p:spPr>
        <p:txBody>
          <a:bodyPr>
            <a:normAutofit fontScale="77500" lnSpcReduction="20000"/>
          </a:bodyPr>
          <a:lstStyle/>
          <a:p>
            <a:pPr marL="381000" indent="-381000">
              <a:buNone/>
            </a:pPr>
            <a:r>
              <a:rPr lang="en-US" altLang="en-US" dirty="0"/>
              <a:t>1.	Conjunctive selection operations can be deconstructed into a sequence of individual selections.</a:t>
            </a:r>
            <a:br>
              <a:rPr lang="en-US" altLang="en-US" dirty="0"/>
            </a:br>
            <a:r>
              <a:rPr lang="en-US" altLang="en-US"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1 </a:t>
            </a:r>
            <a:r>
              <a:rPr lang="en-US" altLang="en-US" baseline="-25000" dirty="0">
                <a:sym typeface="Symbol" panose="05050102010706020507" pitchFamily="18" charset="2"/>
              </a:rPr>
              <a:t> </a:t>
            </a:r>
            <a:r>
              <a:rPr lang="en-US" altLang="en-US" i="1" baseline="-46000" dirty="0">
                <a:sym typeface="Greek Symbols" pitchFamily="18" charset="2"/>
              </a:rPr>
              <a:t>2 </a:t>
            </a:r>
            <a:r>
              <a:rPr lang="en-US" altLang="en-US" dirty="0"/>
              <a:t>(E) </a:t>
            </a:r>
            <a:r>
              <a:rPr lang="en-US" altLang="en-US" baseline="-25000" dirty="0"/>
              <a:t>    </a:t>
            </a:r>
            <a:r>
              <a:rPr lang="en-IN"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baseline="-25000" dirty="0">
                <a:sym typeface="Symbol" panose="05050102010706020507" pitchFamily="18" charset="2"/>
              </a:rPr>
              <a:t> </a:t>
            </a:r>
            <a:r>
              <a:rPr lang="en-IN" dirty="0"/>
              <a:t>(</a:t>
            </a:r>
            <a:r>
              <a:rPr lang="el-GR" dirty="0"/>
              <a:t>σ</a:t>
            </a:r>
            <a:r>
              <a:rPr lang="en-US" altLang="en-US" baseline="-25000" dirty="0">
                <a:sym typeface="Symbol" panose="05050102010706020507" pitchFamily="18" charset="2"/>
              </a:rPr>
              <a:t></a:t>
            </a:r>
            <a:r>
              <a:rPr lang="en-US" altLang="en-US" i="1" baseline="-46000" dirty="0">
                <a:sym typeface="Greek Symbols" pitchFamily="18" charset="2"/>
              </a:rPr>
              <a:t>2 </a:t>
            </a:r>
            <a:r>
              <a:rPr lang="en-US" altLang="en-US" dirty="0"/>
              <a:t>(E))</a:t>
            </a:r>
            <a:r>
              <a:rPr lang="en-US" altLang="en-US" baseline="-25000" dirty="0"/>
              <a:t> </a:t>
            </a:r>
            <a:endParaRPr lang="en-US" altLang="en-US" dirty="0"/>
          </a:p>
          <a:p>
            <a:pPr marL="381000" indent="-381000">
              <a:buNone/>
            </a:pPr>
            <a:r>
              <a:rPr lang="en-US" altLang="en-US" dirty="0"/>
              <a:t>2.	Selection operations are commutative.</a:t>
            </a:r>
            <a:br>
              <a:rPr lang="en-US" altLang="en-US" dirty="0"/>
            </a:br>
            <a:r>
              <a:rPr lang="en-US" altLang="en-US"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1</a:t>
            </a:r>
            <a:r>
              <a:rPr lang="en-IN" dirty="0"/>
              <a:t>(</a:t>
            </a:r>
            <a:r>
              <a:rPr lang="el-GR" dirty="0"/>
              <a:t>σ</a:t>
            </a:r>
            <a:r>
              <a:rPr lang="en-US" altLang="en-US" baseline="-25000" dirty="0">
                <a:sym typeface="Symbol" panose="05050102010706020507" pitchFamily="18" charset="2"/>
              </a:rPr>
              <a:t></a:t>
            </a:r>
            <a:r>
              <a:rPr lang="en-US" altLang="en-US" i="1" baseline="-46000" dirty="0">
                <a:sym typeface="Greek Symbols" pitchFamily="18" charset="2"/>
              </a:rPr>
              <a:t>2</a:t>
            </a:r>
            <a:r>
              <a:rPr lang="en-US" altLang="en-US" dirty="0"/>
              <a:t>(E))</a:t>
            </a:r>
            <a:r>
              <a:rPr lang="en-US" altLang="en-US" baseline="-25000" dirty="0"/>
              <a:t>    </a:t>
            </a:r>
            <a:r>
              <a:rPr lang="en-IN"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baseline="-25000" dirty="0">
                <a:sym typeface="Symbol" panose="05050102010706020507" pitchFamily="18" charset="2"/>
              </a:rPr>
              <a:t> </a:t>
            </a:r>
            <a:r>
              <a:rPr lang="en-IN" dirty="0"/>
              <a:t>(</a:t>
            </a:r>
            <a:r>
              <a:rPr lang="el-GR" dirty="0"/>
              <a:t>σ</a:t>
            </a:r>
            <a:r>
              <a:rPr lang="en-US" altLang="en-US" baseline="-25000" dirty="0">
                <a:sym typeface="Symbol" panose="05050102010706020507" pitchFamily="18" charset="2"/>
              </a:rPr>
              <a:t></a:t>
            </a:r>
            <a:r>
              <a:rPr lang="en-US" altLang="en-US" i="1" baseline="-46000" dirty="0">
                <a:sym typeface="Greek Symbols" pitchFamily="18" charset="2"/>
              </a:rPr>
              <a:t>1</a:t>
            </a:r>
            <a:r>
              <a:rPr lang="en-US" altLang="en-US" dirty="0"/>
              <a:t>(E))</a:t>
            </a:r>
          </a:p>
          <a:p>
            <a:pPr marL="381000" indent="-381000">
              <a:buNone/>
            </a:pPr>
            <a:r>
              <a:rPr lang="en-US" altLang="en-US" dirty="0"/>
              <a:t>3.	Only the last in a sequence of projection operations is needed, the others can be omitted.</a:t>
            </a:r>
            <a:br>
              <a:rPr lang="en-US" altLang="en-US" dirty="0"/>
            </a:br>
            <a:r>
              <a:rPr lang="en-US" altLang="en-US"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dirty="0"/>
              <a:t>(</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2</a:t>
            </a:r>
            <a:r>
              <a:rPr lang="en-IN" dirty="0"/>
              <a:t>(…(</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n</a:t>
            </a:r>
            <a:r>
              <a:rPr lang="en-IN" dirty="0"/>
              <a:t>(E))…))     ≡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dirty="0"/>
              <a:t>(E)</a:t>
            </a:r>
            <a:br>
              <a:rPr lang="en-US" altLang="en-US" dirty="0"/>
            </a:br>
            <a:r>
              <a:rPr lang="en-US" altLang="en-US" dirty="0"/>
              <a:t>where </a:t>
            </a:r>
            <a:r>
              <a:rPr lang="en-US" altLang="en-US" i="1" dirty="0"/>
              <a:t>L</a:t>
            </a:r>
            <a:r>
              <a:rPr lang="en-US" altLang="en-US" i="1" baseline="-25000" dirty="0"/>
              <a:t>1</a:t>
            </a:r>
            <a:r>
              <a:rPr lang="en-US" altLang="en-US" dirty="0"/>
              <a:t> </a:t>
            </a:r>
            <a:r>
              <a:rPr lang="en-IN" dirty="0"/>
              <a:t>⊆</a:t>
            </a:r>
            <a:r>
              <a:rPr lang="en-US" altLang="en-US" dirty="0"/>
              <a:t> </a:t>
            </a:r>
            <a:r>
              <a:rPr lang="en-US" altLang="en-US" i="1" dirty="0"/>
              <a:t>L</a:t>
            </a:r>
            <a:r>
              <a:rPr lang="en-US" altLang="en-US" i="1" baseline="-25000" dirty="0"/>
              <a:t>2</a:t>
            </a:r>
            <a:r>
              <a:rPr lang="en-US" altLang="en-US" dirty="0"/>
              <a:t> … </a:t>
            </a:r>
            <a:r>
              <a:rPr lang="en-IN" dirty="0"/>
              <a:t>⊆</a:t>
            </a:r>
            <a:r>
              <a:rPr lang="en-US" altLang="en-US" dirty="0"/>
              <a:t> </a:t>
            </a:r>
            <a:r>
              <a:rPr lang="en-US" altLang="en-US" i="1" dirty="0"/>
              <a:t>L</a:t>
            </a:r>
            <a:r>
              <a:rPr lang="en-US" altLang="en-US" i="1" baseline="-25000" dirty="0"/>
              <a:t>n</a:t>
            </a:r>
          </a:p>
          <a:p>
            <a:pPr marL="0" indent="0">
              <a:buNone/>
            </a:pPr>
            <a:r>
              <a:rPr lang="en-US" altLang="en-US" dirty="0"/>
              <a:t>4.    Selections can be combined with Cartesian products and theta joins.</a:t>
            </a:r>
          </a:p>
          <a:p>
            <a:pPr marL="800100" lvl="1" indent="-342900">
              <a:buFont typeface="Monotype Sorts" pitchFamily="-65" charset="2"/>
              <a:buAutoNum type="alphaLcPeriod"/>
            </a:pPr>
            <a:r>
              <a:rPr lang="en-US" altLang="en-US" dirty="0">
                <a:sym typeface="Symbol" panose="05050102010706020507" pitchFamily="18" charset="2"/>
              </a:rPr>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 </a:t>
            </a:r>
            <a:r>
              <a:rPr lang="en-US" altLang="en-US" dirty="0"/>
              <a:t>(E</a:t>
            </a:r>
            <a:r>
              <a:rPr lang="en-US" altLang="en-US" baseline="-25000" dirty="0"/>
              <a:t>1</a:t>
            </a:r>
            <a:r>
              <a:rPr lang="en-US" altLang="en-US" dirty="0"/>
              <a:t> x E</a:t>
            </a:r>
            <a:r>
              <a:rPr lang="en-US" altLang="en-US" baseline="-25000" dirty="0"/>
              <a:t>2</a:t>
            </a:r>
            <a:r>
              <a:rPr lang="en-US" altLang="en-US" dirty="0"/>
              <a:t>)</a:t>
            </a:r>
            <a:r>
              <a:rPr lang="en-US" altLang="en-US" baseline="-25000" dirty="0"/>
              <a:t>     </a:t>
            </a:r>
            <a:r>
              <a:rPr lang="en-IN" dirty="0"/>
              <a:t>≡    </a:t>
            </a:r>
            <a:r>
              <a:rPr lang="en-US" altLang="en-US" dirty="0"/>
              <a:t>E</a:t>
            </a:r>
            <a:r>
              <a:rPr lang="en-US" altLang="en-US" baseline="-25000" dirty="0"/>
              <a:t>1</a:t>
            </a:r>
            <a:r>
              <a:rPr lang="en-US" altLang="en-US" dirty="0"/>
              <a:t> </a:t>
            </a:r>
            <a:r>
              <a:rPr lang="en-IN" altLang="en-US" dirty="0"/>
              <a:t>⨝</a:t>
            </a:r>
            <a:r>
              <a:rPr lang="en-US" altLang="en-US" i="1" dirty="0"/>
              <a:t> </a:t>
            </a:r>
            <a:r>
              <a:rPr lang="en-US" altLang="en-US" baseline="-25000" dirty="0">
                <a:sym typeface="Symbol" panose="05050102010706020507" pitchFamily="18" charset="2"/>
              </a:rPr>
              <a:t></a:t>
            </a:r>
            <a:r>
              <a:rPr lang="en-US" altLang="en-US" dirty="0"/>
              <a:t> E</a:t>
            </a:r>
            <a:r>
              <a:rPr lang="en-US" altLang="en-US" baseline="-25000" dirty="0"/>
              <a:t>2</a:t>
            </a:r>
            <a:endParaRPr lang="en-US" altLang="en-US" baseline="-25000" dirty="0">
              <a:sym typeface="Symbol" panose="05050102010706020507" pitchFamily="18" charset="2"/>
            </a:endParaRPr>
          </a:p>
          <a:p>
            <a:pPr marL="800100" lvl="1" indent="-342900">
              <a:buFont typeface="Monotype Sorts" pitchFamily="-65" charset="2"/>
              <a:buAutoNum type="alphaLcPeriod"/>
            </a:pPr>
            <a:r>
              <a:rPr lang="en-US" altLang="en-US" dirty="0">
                <a:sym typeface="Symbol" panose="05050102010706020507" pitchFamily="18" charset="2"/>
              </a:rPr>
              <a:t> </a:t>
            </a:r>
            <a:r>
              <a:rPr lang="el-GR" dirty="0"/>
              <a:t>σ</a:t>
            </a:r>
            <a:r>
              <a:rPr lang="en-US" altLang="en-US" baseline="-25000" dirty="0">
                <a:sym typeface="Symbol" panose="05050102010706020507" pitchFamily="18" charset="2"/>
              </a:rPr>
              <a:t> </a:t>
            </a:r>
            <a:r>
              <a:rPr lang="en-US" altLang="en-US" baseline="-46000" dirty="0">
                <a:sym typeface="Greek Symbols" pitchFamily="18" charset="2"/>
              </a:rPr>
              <a:t>1 </a:t>
            </a:r>
            <a:r>
              <a:rPr lang="en-US" altLang="en-US" dirty="0"/>
              <a:t>(E</a:t>
            </a:r>
            <a:r>
              <a:rPr lang="en-US" altLang="en-US" baseline="-25000" dirty="0"/>
              <a:t>1</a:t>
            </a:r>
            <a:r>
              <a:rPr lang="en-US" altLang="en-US" dirty="0"/>
              <a:t> </a:t>
            </a:r>
            <a:r>
              <a:rPr lang="en-IN" altLang="en-US" dirty="0"/>
              <a:t>⨝</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dirty="0"/>
              <a:t> E</a:t>
            </a:r>
            <a:r>
              <a:rPr lang="en-US" altLang="en-US" baseline="-25000" dirty="0"/>
              <a:t>2</a:t>
            </a:r>
            <a:r>
              <a:rPr lang="en-US" altLang="en-US" dirty="0"/>
              <a:t>)</a:t>
            </a:r>
            <a:r>
              <a:rPr lang="en-US" altLang="en-US" baseline="-25000" dirty="0"/>
              <a:t>     </a:t>
            </a:r>
            <a:r>
              <a:rPr lang="en-IN" dirty="0"/>
              <a:t>≡    </a:t>
            </a:r>
            <a:r>
              <a:rPr lang="en-US" altLang="en-US" dirty="0"/>
              <a:t>E</a:t>
            </a:r>
            <a:r>
              <a:rPr lang="en-US" altLang="en-US" baseline="-25000" dirty="0"/>
              <a:t>1</a:t>
            </a:r>
            <a:r>
              <a:rPr lang="en-US" altLang="en-US" dirty="0"/>
              <a:t> </a:t>
            </a:r>
            <a:r>
              <a:rPr lang="en-IN" altLang="en-US" dirty="0"/>
              <a:t>⨝</a:t>
            </a:r>
            <a:r>
              <a:rPr lang="en-US" altLang="en-US" i="1" dirty="0"/>
              <a:t> </a:t>
            </a:r>
            <a:r>
              <a:rPr lang="en-US" altLang="en-US" baseline="-25000" dirty="0">
                <a:sym typeface="Symbol" panose="05050102010706020507" pitchFamily="18" charset="2"/>
              </a:rPr>
              <a:t></a:t>
            </a:r>
            <a:r>
              <a:rPr lang="en-US" altLang="en-US" baseline="-46000" dirty="0">
                <a:sym typeface="Greek Symbols" pitchFamily="18" charset="2"/>
              </a:rPr>
              <a:t>1</a:t>
            </a:r>
            <a:r>
              <a:rPr lang="en-IN" baseline="-25000" dirty="0"/>
              <a:t>∧</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dirty="0"/>
              <a:t> E</a:t>
            </a:r>
            <a:r>
              <a:rPr lang="en-US" altLang="en-US" baseline="-25000" dirty="0"/>
              <a:t>2</a:t>
            </a:r>
            <a:endParaRPr lang="en-US" altLang="en-US"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584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0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840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840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84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a:extLst>
              <a:ext uri="{FF2B5EF4-FFF2-40B4-BE49-F238E27FC236}">
                <a16:creationId xmlns:a16="http://schemas.microsoft.com/office/drawing/2014/main" id="{8091ABB1-6B13-4524-B9B6-6B007212FB74}"/>
              </a:ext>
            </a:extLst>
          </p:cNvPr>
          <p:cNvSpPr>
            <a:spLocks noGrp="1" noChangeArrowheads="1"/>
          </p:cNvSpPr>
          <p:nvPr>
            <p:ph type="title"/>
          </p:nvPr>
        </p:nvSpPr>
        <p:spPr>
          <a:xfrm>
            <a:off x="838200" y="103868"/>
            <a:ext cx="10515600" cy="1325563"/>
          </a:xfrm>
        </p:spPr>
        <p:txBody>
          <a:bodyPr/>
          <a:lstStyle/>
          <a:p>
            <a:pPr>
              <a:defRPr/>
            </a:pPr>
            <a:r>
              <a:rPr lang="en-US" altLang="en-US" dirty="0">
                <a:effectLst>
                  <a:outerShdw blurRad="38100" dist="38100" dir="2700000" algn="tl">
                    <a:srgbClr val="C0C0C0"/>
                  </a:outerShdw>
                </a:effectLst>
              </a:rPr>
              <a:t>Equivalence Rules (Cont.)</a:t>
            </a:r>
          </a:p>
        </p:txBody>
      </p:sp>
      <p:sp>
        <p:nvSpPr>
          <p:cNvPr id="359427" name="Rectangle 3">
            <a:extLst>
              <a:ext uri="{FF2B5EF4-FFF2-40B4-BE49-F238E27FC236}">
                <a16:creationId xmlns:a16="http://schemas.microsoft.com/office/drawing/2014/main" id="{96C4720A-18C3-455E-B064-C93B8601E27B}"/>
              </a:ext>
            </a:extLst>
          </p:cNvPr>
          <p:cNvSpPr>
            <a:spLocks noGrp="1" noChangeArrowheads="1"/>
          </p:cNvSpPr>
          <p:nvPr>
            <p:ph idx="1"/>
          </p:nvPr>
        </p:nvSpPr>
        <p:spPr>
          <a:xfrm>
            <a:off x="2217019" y="1102497"/>
            <a:ext cx="7469205" cy="5367972"/>
          </a:xfrm>
        </p:spPr>
        <p:txBody>
          <a:bodyPr>
            <a:normAutofit fontScale="92500" lnSpcReduction="10000"/>
          </a:bodyPr>
          <a:lstStyle/>
          <a:p>
            <a:pPr marL="0" indent="0">
              <a:buNone/>
              <a:tabLst>
                <a:tab pos="3376613" algn="ctr"/>
              </a:tabLst>
            </a:pPr>
            <a:r>
              <a:rPr lang="en-US" altLang="en-US" dirty="0"/>
              <a:t>5.  Theta-join operations (and natural joins) are commutative.</a:t>
            </a:r>
            <a:br>
              <a:rPr lang="en-US" altLang="en-US" dirty="0"/>
            </a:br>
            <a:br>
              <a:rPr lang="en-US" altLang="en-US" dirty="0"/>
            </a:br>
            <a:r>
              <a:rPr lang="en-US" altLang="en-US" dirty="0"/>
              <a:t>	          </a:t>
            </a:r>
            <a:r>
              <a:rPr lang="en-US" altLang="en-US" i="1" dirty="0"/>
              <a:t>E</a:t>
            </a:r>
            <a:r>
              <a:rPr lang="en-US" altLang="en-US" baseline="-25000" dirty="0"/>
              <a:t>1</a:t>
            </a:r>
            <a:r>
              <a:rPr lang="en-IN" altLang="en-US" dirty="0"/>
              <a:t> ⨝</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dirty="0"/>
              <a:t>≡    </a:t>
            </a:r>
            <a:r>
              <a:rPr lang="en-US" altLang="en-US" i="1" dirty="0"/>
              <a:t>E</a:t>
            </a:r>
            <a:r>
              <a:rPr lang="en-US" altLang="en-US" baseline="-25000" dirty="0"/>
              <a:t>2</a:t>
            </a:r>
            <a:r>
              <a:rPr lang="en-IN" altLang="en-US" dirty="0"/>
              <a:t> ⨝</a:t>
            </a:r>
            <a:r>
              <a:rPr lang="en-US" altLang="en-US" dirty="0"/>
              <a:t> </a:t>
            </a:r>
            <a:r>
              <a:rPr lang="en-US" altLang="en-US" i="1" dirty="0"/>
              <a:t>E</a:t>
            </a:r>
            <a:r>
              <a:rPr lang="en-US" altLang="en-US" baseline="-25000" dirty="0"/>
              <a:t>1</a:t>
            </a:r>
            <a:br>
              <a:rPr lang="en-US" altLang="en-US" dirty="0"/>
            </a:br>
            <a:endParaRPr lang="en-US" altLang="en-US" baseline="-25000" dirty="0">
              <a:sym typeface="Greek Symbols" pitchFamily="18" charset="2"/>
            </a:endParaRPr>
          </a:p>
          <a:p>
            <a:pPr>
              <a:buNone/>
              <a:tabLst>
                <a:tab pos="3376613" algn="ctr"/>
              </a:tabLst>
            </a:pPr>
            <a:r>
              <a:rPr lang="en-US" altLang="en-US" dirty="0">
                <a:sym typeface="Greek Symbols" pitchFamily="18" charset="2"/>
              </a:rPr>
              <a:t>6.	(a) Natural join operations are associative:</a:t>
            </a:r>
          </a:p>
          <a:p>
            <a:pPr>
              <a:buNone/>
              <a:tabLst>
                <a:tab pos="3376613" algn="ctr"/>
              </a:tabLst>
            </a:pPr>
            <a:r>
              <a:rPr lang="en-US" altLang="en-US" dirty="0">
                <a:sym typeface="Greek Symbols" pitchFamily="18" charset="2"/>
              </a:rPr>
              <a:t>	                </a:t>
            </a:r>
            <a:r>
              <a:rPr lang="en-US" altLang="en-US" dirty="0"/>
              <a:t> </a:t>
            </a:r>
            <a:r>
              <a:rPr lang="en-US" altLang="en-US" dirty="0">
                <a:sym typeface="Greek Symbols" pitchFamily="18" charset="2"/>
              </a:rPr>
              <a:t>(</a:t>
            </a:r>
            <a:r>
              <a:rPr lang="en-US" altLang="en-US" i="1" dirty="0"/>
              <a:t>E</a:t>
            </a:r>
            <a:r>
              <a:rPr lang="en-US" altLang="en-US" baseline="-25000" dirty="0"/>
              <a:t>1</a:t>
            </a:r>
            <a:r>
              <a:rPr lang="en-IN" altLang="en-US" dirty="0"/>
              <a:t> ⨝</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altLang="en-US" dirty="0"/>
              <a:t>⨝</a:t>
            </a:r>
            <a:r>
              <a:rPr lang="en-US" altLang="en-US" baseline="-25000" dirty="0">
                <a:sym typeface="Symbol" panose="05050102010706020507" pitchFamily="18" charset="2"/>
              </a:rPr>
              <a:t> </a:t>
            </a:r>
            <a:r>
              <a:rPr lang="en-US" altLang="en-US" baseline="-46000" dirty="0">
                <a:sym typeface="Greek Symbols" pitchFamily="18" charset="2"/>
              </a:rPr>
              <a:t> </a:t>
            </a:r>
            <a:r>
              <a:rPr lang="en-US" altLang="en-US" i="1" dirty="0"/>
              <a:t>E</a:t>
            </a:r>
            <a:r>
              <a:rPr lang="en-US" altLang="en-US" i="1" baseline="-25000" dirty="0"/>
              <a:t>3</a:t>
            </a:r>
            <a:r>
              <a:rPr lang="en-US" altLang="en-US" i="1" dirty="0"/>
              <a:t>     </a:t>
            </a:r>
            <a:r>
              <a:rPr lang="en-IN" dirty="0"/>
              <a:t>≡     </a:t>
            </a:r>
            <a:r>
              <a:rPr lang="en-US" altLang="en-US" i="1" dirty="0"/>
              <a:t>E</a:t>
            </a:r>
            <a:r>
              <a:rPr lang="en-US" altLang="en-US" baseline="-25000" dirty="0"/>
              <a:t>1</a:t>
            </a:r>
            <a:r>
              <a:rPr lang="en-IN" altLang="en-US" dirty="0"/>
              <a:t> ⨝</a:t>
            </a:r>
            <a:r>
              <a:rPr lang="en-US" altLang="en-US" dirty="0"/>
              <a:t> (</a:t>
            </a:r>
            <a:r>
              <a:rPr lang="en-US" altLang="en-US" i="1" dirty="0"/>
              <a:t>E</a:t>
            </a:r>
            <a:r>
              <a:rPr lang="en-US" altLang="en-US" baseline="-25000" dirty="0"/>
              <a:t>2</a:t>
            </a:r>
            <a:r>
              <a:rPr lang="en-IN" altLang="en-US" dirty="0"/>
              <a:t> ⨝</a:t>
            </a:r>
            <a:r>
              <a:rPr lang="en-US" altLang="en-US" i="1" dirty="0"/>
              <a:t> E</a:t>
            </a:r>
            <a:r>
              <a:rPr lang="en-US" altLang="en-US" baseline="-25000" dirty="0"/>
              <a:t>3</a:t>
            </a:r>
            <a:r>
              <a:rPr lang="en-US" altLang="en-US" dirty="0"/>
              <a:t>)</a:t>
            </a:r>
            <a:br>
              <a:rPr lang="en-US" altLang="en-US" dirty="0"/>
            </a:br>
            <a:br>
              <a:rPr lang="en-US" altLang="en-US" dirty="0"/>
            </a:br>
            <a:r>
              <a:rPr lang="en-US" altLang="en-US" dirty="0"/>
              <a:t>(b) Theta joins are associative in the following manner:</a:t>
            </a:r>
            <a:br>
              <a:rPr lang="en-US" altLang="en-US" dirty="0"/>
            </a:br>
            <a:br>
              <a:rPr lang="en-US" altLang="en-US" dirty="0"/>
            </a:br>
            <a:r>
              <a:rPr lang="en-US" altLang="en-US" dirty="0"/>
              <a:t>	       </a:t>
            </a:r>
            <a:r>
              <a:rPr lang="en-US" altLang="en-US" dirty="0">
                <a:sym typeface="Greek Symbols" pitchFamily="18" charset="2"/>
              </a:rPr>
              <a:t>(</a:t>
            </a:r>
            <a:r>
              <a:rPr lang="en-US" altLang="en-US" i="1" dirty="0"/>
              <a:t>E</a:t>
            </a:r>
            <a:r>
              <a:rPr lang="en-US" altLang="en-US" baseline="-25000" dirty="0"/>
              <a:t>1</a:t>
            </a:r>
            <a:r>
              <a:rPr lang="en-IN" altLang="en-US" dirty="0"/>
              <a:t> ⨝</a:t>
            </a:r>
            <a:r>
              <a:rPr lang="en-US" altLang="en-US" i="1" dirty="0"/>
              <a:t> </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altLang="en-US" dirty="0"/>
              <a:t>⨝</a:t>
            </a:r>
            <a:r>
              <a:rPr lang="en-US" altLang="en-US" baseline="-25000" dirty="0">
                <a:sym typeface="Symbol" panose="05050102010706020507" pitchFamily="18" charset="2"/>
              </a:rPr>
              <a:t> </a:t>
            </a:r>
            <a:r>
              <a:rPr lang="en-US" altLang="en-US" baseline="-46000" dirty="0">
                <a:sym typeface="Greek Symbols" pitchFamily="18" charset="2"/>
              </a:rPr>
              <a:t>2 </a:t>
            </a:r>
            <a:r>
              <a:rPr lang="en-US" altLang="en-US" baseline="-25000" dirty="0">
                <a:sym typeface="Symbol" panose="05050102010706020507" pitchFamily="18" charset="2"/>
              </a:rPr>
              <a:t> </a:t>
            </a:r>
            <a:r>
              <a:rPr lang="en-US" altLang="en-US" baseline="-46000" dirty="0">
                <a:sym typeface="Greek Symbols" pitchFamily="18" charset="2"/>
              </a:rPr>
              <a:t>3 </a:t>
            </a:r>
            <a:r>
              <a:rPr lang="en-US" altLang="en-US" i="1" dirty="0"/>
              <a:t>E</a:t>
            </a:r>
            <a:r>
              <a:rPr lang="en-US" altLang="en-US" i="1" baseline="-25000" dirty="0"/>
              <a:t>3</a:t>
            </a:r>
            <a:r>
              <a:rPr lang="en-US" altLang="en-US" i="1" dirty="0"/>
              <a:t>    </a:t>
            </a:r>
            <a:r>
              <a:rPr lang="en-IN" dirty="0"/>
              <a:t>≡    </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baseline="-46000" dirty="0">
                <a:sym typeface="Greek Symbols" pitchFamily="18" charset="2"/>
              </a:rPr>
              <a:t>1 </a:t>
            </a:r>
            <a:r>
              <a:rPr lang="en-US" altLang="en-US" baseline="-25000" dirty="0">
                <a:sym typeface="Symbol" panose="05050102010706020507" pitchFamily="18" charset="2"/>
              </a:rPr>
              <a:t> </a:t>
            </a:r>
            <a:r>
              <a:rPr lang="en-US" altLang="en-US" baseline="-46000" dirty="0">
                <a:sym typeface="Greek Symbols" pitchFamily="18" charset="2"/>
              </a:rPr>
              <a:t>3</a:t>
            </a:r>
            <a:r>
              <a:rPr lang="en-US" altLang="en-US" dirty="0"/>
              <a:t> (</a:t>
            </a:r>
            <a:r>
              <a:rPr lang="en-US" altLang="en-US" i="1" dirty="0"/>
              <a:t>E</a:t>
            </a:r>
            <a:r>
              <a:rPr lang="en-US" altLang="en-US" baseline="-25000" dirty="0"/>
              <a:t>2</a:t>
            </a:r>
            <a:r>
              <a:rPr lang="en-IN" altLang="en-US" dirty="0"/>
              <a:t> ⨝</a:t>
            </a:r>
            <a:r>
              <a:rPr lang="en-US" altLang="en-US" baseline="-25000" dirty="0">
                <a:sym typeface="Symbol" panose="05050102010706020507" pitchFamily="18" charset="2"/>
              </a:rPr>
              <a:t> </a:t>
            </a:r>
            <a:r>
              <a:rPr lang="en-US" altLang="en-US" baseline="-46000" dirty="0">
                <a:sym typeface="Greek Symbols" pitchFamily="18" charset="2"/>
              </a:rPr>
              <a:t>2</a:t>
            </a:r>
            <a:r>
              <a:rPr lang="en-US" altLang="en-US" i="1" dirty="0"/>
              <a:t> E</a:t>
            </a:r>
            <a:r>
              <a:rPr lang="en-US" altLang="en-US" baseline="-25000" dirty="0"/>
              <a:t>3</a:t>
            </a:r>
            <a:r>
              <a:rPr lang="en-US" altLang="en-US" dirty="0"/>
              <a:t>)</a:t>
            </a:r>
            <a:br>
              <a:rPr lang="en-US" altLang="en-US" dirty="0"/>
            </a:br>
            <a:r>
              <a:rPr lang="en-US" altLang="en-US" dirty="0"/>
              <a:t>     </a:t>
            </a:r>
            <a:br>
              <a:rPr lang="en-US" altLang="en-US" dirty="0"/>
            </a:br>
            <a:r>
              <a:rPr lang="en-US" altLang="en-US" dirty="0"/>
              <a:t>     where </a:t>
            </a:r>
            <a:r>
              <a:rPr lang="en-US" altLang="en-US" dirty="0">
                <a:sym typeface="Symbol" panose="05050102010706020507" pitchFamily="18" charset="2"/>
              </a:rPr>
              <a:t></a:t>
            </a:r>
            <a:r>
              <a:rPr lang="en-US" altLang="en-US" i="1" baseline="-25000" dirty="0">
                <a:sym typeface="Greek Symbols" pitchFamily="18" charset="2"/>
              </a:rPr>
              <a:t>2</a:t>
            </a:r>
            <a:r>
              <a:rPr lang="en-US" altLang="en-US" i="1" dirty="0">
                <a:sym typeface="Greek Symbols" pitchFamily="18" charset="2"/>
              </a:rPr>
              <a:t> </a:t>
            </a:r>
            <a:r>
              <a:rPr lang="en-US" altLang="en-US" dirty="0">
                <a:sym typeface="Greek Symbols" pitchFamily="18" charset="2"/>
              </a:rPr>
              <a:t>involves attributes from only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and </a:t>
            </a:r>
            <a:r>
              <a:rPr lang="en-US" altLang="en-US" i="1" dirty="0">
                <a:sym typeface="Greek Symbols" pitchFamily="18" charset="2"/>
              </a:rPr>
              <a:t>E</a:t>
            </a:r>
            <a:r>
              <a:rPr lang="en-US" altLang="en-US" i="1" baseline="-25000" dirty="0">
                <a:sym typeface="Greek Symbols" pitchFamily="18" charset="2"/>
              </a:rPr>
              <a:t>3</a:t>
            </a:r>
            <a:r>
              <a:rPr lang="en-US" altLang="en-US" i="1" dirty="0">
                <a:sym typeface="Greek Symbols" pitchFamily="18" charset="2"/>
              </a:rPr>
              <a:t>.</a:t>
            </a:r>
          </a:p>
        </p:txBody>
      </p:sp>
      <p:sp>
        <p:nvSpPr>
          <p:cNvPr id="4" name="Object 3">
            <a:extLst>
              <a:ext uri="{FF2B5EF4-FFF2-40B4-BE49-F238E27FC236}">
                <a16:creationId xmlns:a16="http://schemas.microsoft.com/office/drawing/2014/main" id="{84B99422-6334-4E45-9086-F1F2684CA3D1}"/>
              </a:ext>
            </a:extLst>
          </p:cNvPr>
          <p:cNvSpPr txBox="1"/>
          <p:nvPr/>
        </p:nvSpPr>
        <p:spPr bwMode="auto">
          <a:xfrm>
            <a:off x="3171613" y="5188653"/>
            <a:ext cx="2792413" cy="457200"/>
          </a:xfrm>
          <a:prstGeom prst="rect">
            <a:avLst/>
          </a:prstGeom>
          <a:noFill/>
          <a:ln>
            <a:noFill/>
          </a:ln>
          <a:effectLst/>
        </p:spPr>
        <p:txBody>
          <a:bodyPr>
            <a:normAutofit/>
          </a:bodyPr>
          <a:lstStyle/>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594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94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7"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a:extLst>
              <a:ext uri="{FF2B5EF4-FFF2-40B4-BE49-F238E27FC236}">
                <a16:creationId xmlns:a16="http://schemas.microsoft.com/office/drawing/2014/main" id="{13BE5181-BC0D-4E3C-B803-BDBB6753C8E0}"/>
              </a:ext>
            </a:extLst>
          </p:cNvPr>
          <p:cNvSpPr>
            <a:spLocks noGrp="1" noChangeArrowheads="1"/>
          </p:cNvSpPr>
          <p:nvPr>
            <p:ph type="title"/>
          </p:nvPr>
        </p:nvSpPr>
        <p:spPr>
          <a:xfrm>
            <a:off x="2490788" y="55563"/>
            <a:ext cx="8077200" cy="609600"/>
          </a:xfrm>
        </p:spPr>
        <p:txBody>
          <a:bodyPr>
            <a:normAutofit fontScale="90000"/>
          </a:bodyPr>
          <a:lstStyle/>
          <a:p>
            <a:pPr>
              <a:defRPr/>
            </a:pPr>
            <a:r>
              <a:rPr lang="en-US" altLang="en-US">
                <a:effectLst>
                  <a:outerShdw blurRad="38100" dist="38100" dir="2700000" algn="tl">
                    <a:srgbClr val="C0C0C0"/>
                  </a:outerShdw>
                </a:effectLst>
              </a:rPr>
              <a:t>Pictorial Depiction of Equivalence Rules</a:t>
            </a:r>
          </a:p>
        </p:txBody>
      </p:sp>
      <p:pic>
        <p:nvPicPr>
          <p:cNvPr id="3" name="Graphic 2">
            <a:extLst>
              <a:ext uri="{FF2B5EF4-FFF2-40B4-BE49-F238E27FC236}">
                <a16:creationId xmlns:a16="http://schemas.microsoft.com/office/drawing/2014/main" id="{BBF349FB-4CB9-462F-A282-31330CD919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40628" y="1065979"/>
            <a:ext cx="6917843" cy="513314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a:extLst>
              <a:ext uri="{FF2B5EF4-FFF2-40B4-BE49-F238E27FC236}">
                <a16:creationId xmlns:a16="http://schemas.microsoft.com/office/drawing/2014/main" id="{6B49CD74-8487-4512-88D7-665692A992DF}"/>
              </a:ext>
            </a:extLst>
          </p:cNvPr>
          <p:cNvSpPr>
            <a:spLocks noGrp="1" noChangeArrowheads="1"/>
          </p:cNvSpPr>
          <p:nvPr>
            <p:ph type="title"/>
          </p:nvPr>
        </p:nvSpPr>
        <p:spPr>
          <a:xfrm>
            <a:off x="790074" y="-198392"/>
            <a:ext cx="10515600" cy="1325563"/>
          </a:xfrm>
        </p:spPr>
        <p:txBody>
          <a:bodyPr/>
          <a:lstStyle/>
          <a:p>
            <a:pPr>
              <a:defRPr/>
            </a:pPr>
            <a:r>
              <a:rPr lang="en-US" altLang="en-US" dirty="0">
                <a:effectLst>
                  <a:outerShdw blurRad="38100" dist="38100" dir="2700000" algn="tl">
                    <a:srgbClr val="C0C0C0"/>
                  </a:outerShdw>
                </a:effectLst>
              </a:rPr>
              <a:t>Equivalence Rules (Cont.)</a:t>
            </a:r>
          </a:p>
        </p:txBody>
      </p:sp>
      <p:sp>
        <p:nvSpPr>
          <p:cNvPr id="25603" name="Rectangle 3">
            <a:extLst>
              <a:ext uri="{FF2B5EF4-FFF2-40B4-BE49-F238E27FC236}">
                <a16:creationId xmlns:a16="http://schemas.microsoft.com/office/drawing/2014/main" id="{D1631F66-0C00-49F9-97DF-D953852A7E86}"/>
              </a:ext>
            </a:extLst>
          </p:cNvPr>
          <p:cNvSpPr>
            <a:spLocks noGrp="1" noChangeArrowheads="1"/>
          </p:cNvSpPr>
          <p:nvPr>
            <p:ph idx="1"/>
          </p:nvPr>
        </p:nvSpPr>
        <p:spPr>
          <a:xfrm>
            <a:off x="2197769" y="1102497"/>
            <a:ext cx="7700211" cy="5367972"/>
          </a:xfrm>
        </p:spPr>
        <p:txBody>
          <a:bodyPr>
            <a:normAutofit lnSpcReduction="10000"/>
          </a:bodyPr>
          <a:lstStyle/>
          <a:p>
            <a:pPr>
              <a:buNone/>
            </a:pPr>
            <a:r>
              <a:rPr lang="en-US" altLang="en-US" dirty="0"/>
              <a:t>7.	The selection operation distributes over the theta join operation under the following two conditions:</a:t>
            </a:r>
            <a:br>
              <a:rPr lang="en-US" altLang="en-US" dirty="0"/>
            </a:br>
            <a:r>
              <a:rPr lang="en-US" altLang="en-US" dirty="0"/>
              <a:t>(a)  When all the attributes in </a:t>
            </a:r>
            <a:r>
              <a:rPr lang="en-US" altLang="en-US" dirty="0">
                <a:sym typeface="Symbol" panose="05050102010706020507" pitchFamily="18" charset="2"/>
              </a:rPr>
              <a:t></a:t>
            </a:r>
            <a:r>
              <a:rPr lang="en-US" altLang="en-US" baseline="-25000" dirty="0">
                <a:sym typeface="Greek Symbols" pitchFamily="18" charset="2"/>
              </a:rPr>
              <a:t>0 </a:t>
            </a:r>
            <a:r>
              <a:rPr lang="en-US" altLang="en-US" dirty="0">
                <a:sym typeface="Greek Symbols" pitchFamily="18" charset="2"/>
              </a:rPr>
              <a:t> involve only the attributes of one </a:t>
            </a:r>
            <a:br>
              <a:rPr lang="en-US" altLang="en-US" dirty="0">
                <a:sym typeface="Greek Symbols" pitchFamily="18" charset="2"/>
              </a:rPr>
            </a:br>
            <a:r>
              <a:rPr lang="en-US" altLang="en-US" dirty="0">
                <a:sym typeface="Greek Symbols" pitchFamily="18" charset="2"/>
              </a:rPr>
              <a:t>       of the expressions (</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being joined.</a:t>
            </a:r>
            <a:br>
              <a:rPr lang="en-US" altLang="en-US" dirty="0">
                <a:sym typeface="Greek Symbols" pitchFamily="18" charset="2"/>
              </a:rPr>
            </a:br>
            <a:br>
              <a:rPr lang="en-US" altLang="en-US" dirty="0">
                <a:sym typeface="Greek Symbols" pitchFamily="18" charset="2"/>
              </a:rPr>
            </a:br>
            <a:r>
              <a:rPr lang="en-US" altLang="en-US" dirty="0">
                <a:sym typeface="Greek Symbols" pitchFamily="18" charset="2"/>
              </a:rPr>
              <a:t>                </a:t>
            </a:r>
            <a:r>
              <a:rPr lang="en-US" altLang="en-US" dirty="0">
                <a:sym typeface="Symbol" panose="05050102010706020507" pitchFamily="18" charset="2"/>
              </a:rPr>
              <a:t></a:t>
            </a:r>
            <a:r>
              <a:rPr lang="en-US" altLang="en-US" baseline="-25000" dirty="0">
                <a:sym typeface="Symbol" panose="05050102010706020507" pitchFamily="18" charset="2"/>
              </a:rPr>
              <a:t></a:t>
            </a:r>
            <a:r>
              <a:rPr lang="en-US" altLang="en-US" baseline="-46000" dirty="0">
                <a:sym typeface="Greek Symbols" pitchFamily="18" charset="2"/>
              </a:rPr>
              <a:t>0 </a:t>
            </a:r>
            <a:r>
              <a:rPr lang="en-US" altLang="en-US" dirty="0">
                <a:sym typeface="Symbol" panose="05050102010706020507" pitchFamily="18" charset="2"/>
              </a:rPr>
              <a:t>E</a:t>
            </a:r>
            <a:r>
              <a:rPr lang="en-US" altLang="en-US" baseline="-25000" dirty="0">
                <a:sym typeface="Symbol" panose="05050102010706020507" pitchFamily="18" charset="2"/>
              </a:rPr>
              <a:t>1 </a:t>
            </a:r>
            <a:r>
              <a:rPr lang="en-IN" altLang="en-US" dirty="0"/>
              <a:t>⨝</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a:t>
            </a:r>
            <a:r>
              <a:rPr lang="en-IN" dirty="0"/>
              <a:t>≡    </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0</a:t>
            </a:r>
            <a:r>
              <a:rPr lang="en-US" altLang="en-US"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t>
            </a:r>
            <a:r>
              <a:rPr lang="en-IN" altLang="en-US" dirty="0"/>
              <a:t>⨝</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Greek Symbols" pitchFamily="18" charset="2"/>
              </a:rPr>
              <a:t> </a:t>
            </a:r>
            <a:br>
              <a:rPr lang="en-US" altLang="en-US" dirty="0">
                <a:sym typeface="Greek Symbols" pitchFamily="18" charset="2"/>
              </a:rPr>
            </a:br>
            <a:endParaRPr lang="en-US" altLang="en-US" dirty="0">
              <a:sym typeface="Greek Symbols" pitchFamily="18" charset="2"/>
            </a:endParaRPr>
          </a:p>
          <a:p>
            <a:pPr>
              <a:buFont typeface="Monotype Sorts" pitchFamily="-65" charset="2"/>
              <a:buNone/>
            </a:pPr>
            <a:r>
              <a:rPr lang="en-US" altLang="en-US" dirty="0">
                <a:sym typeface="Greek Symbols" pitchFamily="18" charset="2"/>
              </a:rPr>
              <a:t>	(b) When </a:t>
            </a:r>
            <a:r>
              <a:rPr lang="en-US" altLang="en-US" dirty="0">
                <a:sym typeface="Symbol" panose="05050102010706020507" pitchFamily="18" charset="2"/>
              </a:rPr>
              <a:t></a:t>
            </a:r>
            <a:r>
              <a:rPr lang="en-US" altLang="en-US" baseline="-25000" dirty="0">
                <a:sym typeface="Greek Symbols" pitchFamily="18" charset="2"/>
              </a:rPr>
              <a:t>1 </a:t>
            </a:r>
            <a:r>
              <a:rPr lang="en-US" altLang="en-US" dirty="0">
                <a:sym typeface="Greek Symbols" pitchFamily="18" charset="2"/>
              </a:rPr>
              <a:t>involves only the attributes of </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and</a:t>
            </a:r>
            <a:r>
              <a:rPr lang="en-US" altLang="en-US" i="1" dirty="0">
                <a:sym typeface="Greek Symbols" pitchFamily="18" charset="2"/>
              </a:rPr>
              <a:t> </a:t>
            </a:r>
            <a:r>
              <a:rPr lang="en-US" altLang="en-US" dirty="0">
                <a:sym typeface="Symbol" panose="05050102010706020507" pitchFamily="18" charset="2"/>
              </a:rPr>
              <a:t></a:t>
            </a:r>
            <a:r>
              <a:rPr lang="en-US" altLang="en-US" baseline="-25000" dirty="0">
                <a:sym typeface="Greek Symbols" pitchFamily="18" charset="2"/>
              </a:rPr>
              <a:t>2 </a:t>
            </a:r>
            <a:r>
              <a:rPr lang="en-US" altLang="en-US" dirty="0">
                <a:sym typeface="Greek Symbols" pitchFamily="18" charset="2"/>
              </a:rPr>
              <a:t> involves  </a:t>
            </a:r>
            <a:br>
              <a:rPr lang="en-US" altLang="en-US" dirty="0">
                <a:sym typeface="Greek Symbols" pitchFamily="18" charset="2"/>
              </a:rPr>
            </a:br>
            <a:r>
              <a:rPr lang="en-US" altLang="en-US" dirty="0">
                <a:sym typeface="Greek Symbols" pitchFamily="18" charset="2"/>
              </a:rPr>
              <a:t>      only the attributes of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p>
          <a:p>
            <a:pPr>
              <a:buNone/>
            </a:pP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baseline="-25000" dirty="0">
                <a:sym typeface="Symbol" panose="05050102010706020507" pitchFamily="18" charset="2"/>
              </a:rPr>
              <a:t> </a:t>
            </a:r>
            <a:r>
              <a:rPr lang="en-US" altLang="en-US" baseline="-25000" dirty="0">
                <a:sym typeface="Greek Symbols" pitchFamily="18" charset="2"/>
              </a:rPr>
              <a:t> </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t>
            </a:r>
            <a:r>
              <a:rPr lang="en-IN" altLang="en-US" dirty="0"/>
              <a:t>⨝</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a:t>
            </a:r>
            <a:r>
              <a:rPr lang="en-IN" dirty="0"/>
              <a:t>≡</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a:t>
            </a:r>
            <a:r>
              <a:rPr lang="en-IN" altLang="en-US" dirty="0"/>
              <a:t> ⨝</a:t>
            </a:r>
            <a:r>
              <a:rPr lang="en-US" altLang="en-US" baseline="-25000" dirty="0">
                <a:sym typeface="Symbol" panose="05050102010706020507" pitchFamily="18" charset="2"/>
              </a:rPr>
              <a:t></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id="{B646A50B-011F-454A-8351-8C638211E95B}"/>
              </a:ext>
            </a:extLst>
          </p:cNvPr>
          <p:cNvSpPr>
            <a:spLocks noGrp="1" noChangeArrowheads="1"/>
          </p:cNvSpPr>
          <p:nvPr>
            <p:ph idx="1"/>
          </p:nvPr>
        </p:nvSpPr>
        <p:spPr>
          <a:xfrm>
            <a:off x="2207394" y="1102497"/>
            <a:ext cx="7757962" cy="5367972"/>
          </a:xfrm>
        </p:spPr>
        <p:txBody>
          <a:bodyPr>
            <a:normAutofit fontScale="92500" lnSpcReduction="10000"/>
          </a:bodyPr>
          <a:lstStyle/>
          <a:p>
            <a:pPr>
              <a:buNone/>
              <a:tabLst>
                <a:tab pos="3087688" algn="ctr"/>
              </a:tabLst>
            </a:pPr>
            <a:r>
              <a:rPr lang="en-US" altLang="en-US" dirty="0"/>
              <a:t>8.	The projection operation distributes over the theta join operation as follows:</a:t>
            </a:r>
          </a:p>
          <a:p>
            <a:pPr>
              <a:buNone/>
              <a:tabLst>
                <a:tab pos="3087688" algn="ctr"/>
              </a:tabLst>
            </a:pPr>
            <a:r>
              <a:rPr lang="en-US" altLang="en-US" dirty="0"/>
              <a:t>	(a) if </a:t>
            </a:r>
            <a:r>
              <a:rPr kumimoji="0" lang="en-US" altLang="en-US" dirty="0">
                <a:solidFill>
                  <a:srgbClr val="000000"/>
                </a:solidFill>
                <a:sym typeface="Symbol" panose="05050102010706020507" pitchFamily="18" charset="2"/>
              </a:rPr>
              <a:t></a:t>
            </a:r>
            <a:r>
              <a:rPr lang="en-US" altLang="en-US" dirty="0">
                <a:sym typeface="Greek Symbols" pitchFamily="18" charset="2"/>
              </a:rPr>
              <a:t> involves only attributes from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a:t>
            </a:r>
            <a:br>
              <a:rPr lang="en-US" altLang="en-US" dirty="0">
                <a:sym typeface="Symbol" panose="05050102010706020507" pitchFamily="18" charset="2"/>
              </a:rPr>
            </a:br>
            <a:r>
              <a:rPr lang="en-IN" altLang="en-US" dirty="0">
                <a:sym typeface="Symbol" panose="05050102010706020507" pitchFamily="18" charset="2"/>
              </a:rPr>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2</a:t>
            </a:r>
            <a:r>
              <a:rPr lang="en-IN" dirty="0"/>
              <a:t>(</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dirty="0"/>
              <a:t>(</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2</a:t>
            </a:r>
            <a:r>
              <a:rPr lang="en-IN" dirty="0"/>
              <a:t>(</a:t>
            </a:r>
            <a:r>
              <a:rPr lang="en-US" altLang="en-US" i="1" dirty="0"/>
              <a:t>E</a:t>
            </a:r>
            <a:r>
              <a:rPr lang="en-US" altLang="en-US" i="1" baseline="-25000" dirty="0"/>
              <a:t>2</a:t>
            </a:r>
            <a:r>
              <a:rPr lang="en-IN" altLang="en-US" dirty="0"/>
              <a:t>)</a:t>
            </a:r>
            <a:r>
              <a:rPr lang="en-US" altLang="en-US" dirty="0"/>
              <a:t> </a:t>
            </a:r>
            <a:r>
              <a:rPr lang="en-US" altLang="en-US" dirty="0">
                <a:sym typeface="Symbol" panose="05050102010706020507" pitchFamily="18" charset="2"/>
              </a:rPr>
              <a:t>	</a:t>
            </a:r>
          </a:p>
          <a:p>
            <a:pPr>
              <a:buNone/>
              <a:tabLst>
                <a:tab pos="3087688" algn="ctr"/>
              </a:tabLst>
            </a:pPr>
            <a:r>
              <a:rPr lang="en-US" altLang="en-US" dirty="0">
                <a:sym typeface="Symbol" panose="05050102010706020507" pitchFamily="18" charset="2"/>
              </a:rPr>
              <a:t>	(b) In general, consider a join </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sym typeface="Greek Symbols" pitchFamily="18" charset="2"/>
              </a:rPr>
              <a:t>. </a:t>
            </a:r>
          </a:p>
          <a:p>
            <a:pPr lvl="1">
              <a:tabLst>
                <a:tab pos="3087688" algn="ctr"/>
              </a:tabLst>
            </a:pPr>
            <a:r>
              <a:rPr lang="en-US" altLang="en-US" dirty="0">
                <a:sym typeface="Greek Symbols" pitchFamily="18" charset="2"/>
              </a:rPr>
              <a:t> Let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and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 be sets of attributes from </a:t>
            </a:r>
            <a:r>
              <a:rPr lang="en-US" altLang="en-US" i="1"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and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respectively.  </a:t>
            </a:r>
          </a:p>
          <a:p>
            <a:pPr lvl="1">
              <a:tabLst>
                <a:tab pos="3087688" algn="ctr"/>
              </a:tabLst>
            </a:pPr>
            <a:r>
              <a:rPr lang="en-US" altLang="en-US" dirty="0">
                <a:sym typeface="Greek Symbols" pitchFamily="18" charset="2"/>
              </a:rPr>
              <a:t>Let </a:t>
            </a:r>
            <a:r>
              <a:rPr lang="en-US" altLang="en-US" i="1" dirty="0">
                <a:sym typeface="Symbol" panose="05050102010706020507" pitchFamily="18" charset="2"/>
              </a:rPr>
              <a:t>L</a:t>
            </a:r>
            <a:r>
              <a:rPr lang="en-US" altLang="en-US" baseline="-25000" dirty="0">
                <a:sym typeface="Symbol" panose="05050102010706020507" pitchFamily="18" charset="2"/>
              </a:rPr>
              <a:t>3</a:t>
            </a:r>
            <a:r>
              <a:rPr lang="en-US" altLang="en-US" dirty="0">
                <a:sym typeface="Symbol" panose="05050102010706020507" pitchFamily="18" charset="2"/>
              </a:rPr>
              <a:t> be attributes of </a:t>
            </a:r>
            <a:r>
              <a:rPr lang="en-US" altLang="en-US" i="1"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that are involved in join condition </a:t>
            </a:r>
            <a:r>
              <a:rPr lang="en-US" altLang="en-US" i="1" dirty="0">
                <a:sym typeface="Greek Symbols" pitchFamily="18" charset="2"/>
              </a:rPr>
              <a:t>, </a:t>
            </a:r>
            <a:r>
              <a:rPr lang="en-US" altLang="en-US" dirty="0">
                <a:sym typeface="Greek Symbols" pitchFamily="18" charset="2"/>
              </a:rPr>
              <a:t>but are not in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 and</a:t>
            </a:r>
          </a:p>
          <a:p>
            <a:pPr lvl="1">
              <a:tabLst>
                <a:tab pos="3087688" algn="ctr"/>
              </a:tabLst>
            </a:pPr>
            <a:r>
              <a:rPr lang="en-US" altLang="en-US" dirty="0">
                <a:sym typeface="Symbol" panose="05050102010706020507" pitchFamily="18" charset="2"/>
              </a:rPr>
              <a:t> let </a:t>
            </a:r>
            <a:r>
              <a:rPr lang="en-US" altLang="en-US" i="1" dirty="0">
                <a:sym typeface="Greek Symbols" pitchFamily="18" charset="2"/>
              </a:rPr>
              <a:t>L</a:t>
            </a:r>
            <a:r>
              <a:rPr lang="en-US" altLang="en-US" baseline="-25000" dirty="0">
                <a:sym typeface="Greek Symbols" pitchFamily="18" charset="2"/>
              </a:rPr>
              <a:t>4</a:t>
            </a:r>
            <a:r>
              <a:rPr lang="en-US" altLang="en-US" dirty="0">
                <a:sym typeface="Greek Symbols" pitchFamily="18" charset="2"/>
              </a:rPr>
              <a:t> be attributes of </a:t>
            </a:r>
            <a:r>
              <a:rPr lang="en-US" altLang="en-US" i="1" dirty="0">
                <a:sym typeface="Greek Symbols" pitchFamily="18" charset="2"/>
              </a:rPr>
              <a:t>E</a:t>
            </a:r>
            <a:r>
              <a:rPr lang="en-US" altLang="en-US" baseline="-25000" dirty="0">
                <a:sym typeface="Greek Symbols" pitchFamily="18" charset="2"/>
              </a:rPr>
              <a:t>2 </a:t>
            </a:r>
            <a:r>
              <a:rPr lang="en-US" altLang="en-US" dirty="0">
                <a:sym typeface="Greek Symbols" pitchFamily="18" charset="2"/>
              </a:rPr>
              <a:t>that are involved in join condition </a:t>
            </a:r>
            <a:r>
              <a:rPr lang="en-US" altLang="en-US" dirty="0">
                <a:sym typeface="Symbol" panose="05050102010706020507" pitchFamily="18" charset="2"/>
              </a:rPr>
              <a:t></a:t>
            </a:r>
            <a:r>
              <a:rPr lang="en-US" altLang="en-US" dirty="0">
                <a:sym typeface="Greek Symbols" pitchFamily="18" charset="2"/>
              </a:rPr>
              <a:t>, but are not in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a:t>
            </a:r>
            <a:br>
              <a:rPr lang="en-US" altLang="en-US" dirty="0">
                <a:sym typeface="Symbol" panose="05050102010706020507" pitchFamily="18" charset="2"/>
              </a:rPr>
            </a:b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2</a:t>
            </a:r>
            <a:r>
              <a:rPr lang="en-IN" dirty="0"/>
              <a:t>(</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2</a:t>
            </a:r>
            <a:r>
              <a:rPr lang="en-IN" dirty="0"/>
              <a:t>(</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3</a:t>
            </a:r>
            <a:r>
              <a:rPr lang="en-IN" dirty="0"/>
              <a:t>(</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2</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4</a:t>
            </a:r>
            <a:r>
              <a:rPr lang="en-IN" dirty="0"/>
              <a:t>(</a:t>
            </a:r>
            <a:r>
              <a:rPr lang="en-US" altLang="en-US" i="1" dirty="0"/>
              <a:t>E</a:t>
            </a:r>
            <a:r>
              <a:rPr lang="en-US" altLang="en-US" baseline="-25000" dirty="0"/>
              <a:t>2</a:t>
            </a:r>
            <a:r>
              <a:rPr lang="en-IN" altLang="en-US" dirty="0"/>
              <a:t>))</a:t>
            </a:r>
          </a:p>
          <a:p>
            <a:pPr lvl="1">
              <a:tabLst>
                <a:tab pos="3087688" algn="ctr"/>
              </a:tabLst>
            </a:pPr>
            <a:endParaRPr lang="en-IN" altLang="en-US" dirty="0"/>
          </a:p>
          <a:p>
            <a:pPr marL="457200" lvl="1" indent="0">
              <a:buNone/>
              <a:tabLst>
                <a:tab pos="3087688" algn="ctr"/>
              </a:tabLst>
            </a:pPr>
            <a:r>
              <a:rPr lang="en-IN" altLang="en-US" dirty="0"/>
              <a:t>Similar equivalences hold for </a:t>
            </a:r>
            <a:r>
              <a:rPr lang="en-IN" altLang="en-US" dirty="0" err="1"/>
              <a:t>outerjoin</a:t>
            </a:r>
            <a:r>
              <a:rPr lang="en-IN" altLang="en-US" dirty="0"/>
              <a:t> operations: </a:t>
            </a:r>
            <a:r>
              <a:rPr lang="en-IN" dirty="0"/>
              <a:t>⟕, ⟖, and ⟗</a:t>
            </a:r>
            <a:r>
              <a:rPr lang="en-IN" altLang="en-US" dirty="0"/>
              <a:t> </a:t>
            </a:r>
            <a:endParaRPr lang="en-US" altLang="en-US" dirty="0">
              <a:sym typeface="Symbol" panose="05050102010706020507" pitchFamily="18" charset="2"/>
            </a:endParaRPr>
          </a:p>
        </p:txBody>
      </p:sp>
      <p:sp>
        <p:nvSpPr>
          <p:cNvPr id="361474" name="Rectangle 2">
            <a:extLst>
              <a:ext uri="{FF2B5EF4-FFF2-40B4-BE49-F238E27FC236}">
                <a16:creationId xmlns:a16="http://schemas.microsoft.com/office/drawing/2014/main" id="{CC6BF4E4-7BA6-4F5E-9757-648842B6E43F}"/>
              </a:ext>
            </a:extLst>
          </p:cNvPr>
          <p:cNvSpPr>
            <a:spLocks noGrp="1" noChangeArrowheads="1"/>
          </p:cNvSpPr>
          <p:nvPr>
            <p:ph type="title"/>
          </p:nvPr>
        </p:nvSpPr>
        <p:spPr>
          <a:xfrm>
            <a:off x="828575" y="0"/>
            <a:ext cx="10515600" cy="1325563"/>
          </a:xfrm>
        </p:spPr>
        <p:txBody>
          <a:bodyPr/>
          <a:lstStyle/>
          <a:p>
            <a:pPr>
              <a:defRPr/>
            </a:pPr>
            <a:r>
              <a:rPr lang="en-US" altLang="en-US" dirty="0">
                <a:effectLst>
                  <a:outerShdw blurRad="38100" dist="38100" dir="2700000" algn="tl">
                    <a:srgbClr val="C0C0C0"/>
                  </a:outerShdw>
                </a:effectLst>
              </a:rPr>
              <a:t>Equivalence Rules (Cont.)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65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65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651">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6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A280E042-4593-4F00-8739-31BAD978BB0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p>
        </p:txBody>
      </p:sp>
      <mc:AlternateContent xmlns:mc="http://schemas.openxmlformats.org/markup-compatibility/2006">
        <mc:Choice xmlns:a14="http://schemas.microsoft.com/office/drawing/2010/main" Requires="a14">
          <p:sp>
            <p:nvSpPr>
              <p:cNvPr id="362499" name="Rectangle 3">
                <a:extLst>
                  <a:ext uri="{FF2B5EF4-FFF2-40B4-BE49-F238E27FC236}">
                    <a16:creationId xmlns:a16="http://schemas.microsoft.com/office/drawing/2014/main" id="{CD34A2FB-3E13-4F06-8207-CFF2D7389F2B}"/>
                  </a:ext>
                </a:extLst>
              </p:cNvPr>
              <p:cNvSpPr>
                <a:spLocks noGrp="1" noChangeArrowheads="1"/>
              </p:cNvSpPr>
              <p:nvPr>
                <p:ph idx="1"/>
              </p:nvPr>
            </p:nvSpPr>
            <p:spPr>
              <a:xfrm>
                <a:off x="2197768" y="1096160"/>
                <a:ext cx="7401828" cy="4659747"/>
              </a:xfrm>
            </p:spPr>
            <p:txBody>
              <a:bodyPr>
                <a:normAutofit fontScale="77500" lnSpcReduction="20000"/>
              </a:bodyPr>
              <a:lstStyle/>
              <a:p>
                <a:pPr marL="0" indent="0">
                  <a:buNone/>
                  <a:tabLst>
                    <a:tab pos="2279650" algn="l"/>
                  </a:tabLst>
                </a:pPr>
                <a:r>
                  <a:rPr lang="en-US" altLang="en-US" dirty="0">
                    <a:solidFill>
                      <a:srgbClr val="002060"/>
                    </a:solidFill>
                  </a:rPr>
                  <a:t> 9.  </a:t>
                </a:r>
                <a:r>
                  <a:rPr lang="en-US" altLang="en-US" dirty="0"/>
                  <a:t>The set operations union and intersection are commutative</a:t>
                </a:r>
                <a:br>
                  <a:rPr lang="en-US" altLang="en-US" dirty="0"/>
                </a:br>
                <a:r>
                  <a:rPr lang="en-US" altLang="en-US" dirty="0"/>
                  <a:t>               </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baseline="-25000" dirty="0">
                    <a:sym typeface="Symbol" panose="05050102010706020507" pitchFamily="18" charset="2"/>
                  </a:rPr>
                  <a:t> </a:t>
                </a:r>
                <a:r>
                  <a:rPr lang="en-US" altLang="en-US" i="1" dirty="0"/>
                  <a:t>E</a:t>
                </a:r>
                <a:r>
                  <a:rPr lang="en-US" altLang="en-US" baseline="-25000" dirty="0"/>
                  <a:t>2</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1 </a:t>
                </a:r>
                <a:br>
                  <a:rPr lang="en-US" altLang="en-US" baseline="-25000" dirty="0">
                    <a:sym typeface="Symbol" panose="05050102010706020507" pitchFamily="18" charset="2"/>
                  </a:rPr>
                </a:br>
                <a:r>
                  <a:rPr lang="en-US" altLang="en-US" dirty="0"/>
                  <a:t>               </a:t>
                </a:r>
                <a:r>
                  <a:rPr lang="en-US" altLang="en-US" i="1" dirty="0" err="1"/>
                  <a:t>E</a:t>
                </a:r>
                <a:r>
                  <a:rPr lang="en-US" altLang="en-US" baseline="-25000" dirty="0" err="1"/>
                  <a:t>1</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baseline="-25000" dirty="0">
                    <a:sym typeface="Symbol" panose="05050102010706020507" pitchFamily="18" charset="2"/>
                  </a:rPr>
                  <a:t> </a:t>
                </a:r>
                <a:r>
                  <a:rPr lang="en-US" altLang="en-US" i="1" dirty="0"/>
                  <a:t>E</a:t>
                </a:r>
                <a:r>
                  <a:rPr lang="en-US" altLang="en-US" baseline="-25000" dirty="0"/>
                  <a:t>2</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1</a:t>
                </a:r>
                <a:br>
                  <a:rPr lang="en-US" altLang="en-US" dirty="0">
                    <a:sym typeface="Symbol" panose="05050102010706020507" pitchFamily="18" charset="2"/>
                  </a:rPr>
                </a:br>
                <a:r>
                  <a:rPr lang="en-US" altLang="en-US" i="1" dirty="0"/>
                  <a:t>       </a:t>
                </a:r>
                <a:r>
                  <a:rPr lang="en-US" altLang="en-US" dirty="0"/>
                  <a:t>(set difference is not commutative).</a:t>
                </a:r>
                <a:endParaRPr lang="en-US" altLang="en-US" dirty="0">
                  <a:sym typeface="Symbol" panose="05050102010706020507" pitchFamily="18" charset="2"/>
                </a:endParaRPr>
              </a:p>
              <a:p>
                <a:pPr marL="0" indent="0">
                  <a:buNone/>
                  <a:tabLst>
                    <a:tab pos="2279650" algn="l"/>
                  </a:tabLst>
                </a:pPr>
                <a:r>
                  <a:rPr lang="en-US" altLang="en-US" dirty="0">
                    <a:solidFill>
                      <a:srgbClr val="002060"/>
                    </a:solidFill>
                    <a:sym typeface="Symbol" panose="05050102010706020507" pitchFamily="18" charset="2"/>
                  </a:rPr>
                  <a:t>10.  </a:t>
                </a:r>
                <a:r>
                  <a:rPr lang="en-US" altLang="en-US" dirty="0">
                    <a:sym typeface="Symbol" panose="05050102010706020507" pitchFamily="18" charset="2"/>
                  </a:rPr>
                  <a:t>Set union and intersection are associative.</a:t>
                </a:r>
                <a:br>
                  <a:rPr lang="en-US" altLang="en-US" dirty="0">
                    <a:sym typeface="Symbol" panose="05050102010706020507" pitchFamily="18" charset="2"/>
                  </a:rPr>
                </a:br>
                <a:r>
                  <a:rPr lang="en-US" altLang="en-US" dirty="0">
                    <a:sym typeface="Symbol" panose="05050102010706020507" pitchFamily="18" charset="2"/>
                  </a:rPr>
                  <a:t>           </a:t>
                </a:r>
                <a:r>
                  <a:rPr lang="en-US" altLang="en-US" dirty="0"/>
                  <a:t> (</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3    </a:t>
                </a:r>
                <a:r>
                  <a:rPr lang="en-IN" dirty="0"/>
                  <a:t>≡</a:t>
                </a:r>
                <a:r>
                  <a:rPr lang="en-US" altLang="en-US" baseline="-25000" dirty="0">
                    <a:sym typeface="Symbol" panose="05050102010706020507" pitchFamily="18" charset="2"/>
                  </a:rPr>
                  <a:t>    </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dirty="0"/>
                  <a:t>(</a:t>
                </a:r>
                <a:r>
                  <a:rPr lang="en-US" altLang="en-US" i="1"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 </a:t>
                </a:r>
                <a:r>
                  <a:rPr lang="en-US" altLang="en-US" i="1" dirty="0">
                    <a:sym typeface="Symbol" panose="05050102010706020507" pitchFamily="18" charset="2"/>
                  </a:rPr>
                  <a:t>E</a:t>
                </a:r>
                <a:r>
                  <a:rPr lang="en-US" altLang="en-US" baseline="-25000" dirty="0">
                    <a:sym typeface="Symbol" panose="05050102010706020507" pitchFamily="18" charset="2"/>
                  </a:rPr>
                  <a:t>3</a:t>
                </a:r>
                <a:r>
                  <a:rPr lang="en-IN" dirty="0"/>
                  <a:t>)</a:t>
                </a:r>
                <a:r>
                  <a:rPr lang="en-US" altLang="en-US" baseline="-25000" dirty="0">
                    <a:sym typeface="Symbol" panose="05050102010706020507" pitchFamily="18" charset="2"/>
                  </a:rPr>
                  <a:t> </a:t>
                </a:r>
                <a:br>
                  <a:rPr lang="en-US" altLang="en-US" baseline="-25000" dirty="0">
                    <a:sym typeface="Symbol" panose="05050102010706020507" pitchFamily="18" charset="2"/>
                  </a:rPr>
                </a:br>
                <a:r>
                  <a:rPr lang="en-US" altLang="en-US" baseline="-25000" dirty="0">
                    <a:sym typeface="Symbol" panose="05050102010706020507" pitchFamily="18" charset="2"/>
                  </a:rPr>
                  <a:t>              </a:t>
                </a:r>
                <a:r>
                  <a:rPr lang="en-US" altLang="en-US" dirty="0">
                    <a:sym typeface="Symbol" panose="05050102010706020507" pitchFamily="18" charset="2"/>
                  </a:rPr>
                  <a:t>  </a:t>
                </a:r>
                <a:r>
                  <a:rPr lang="en-US" altLang="en-US" dirty="0"/>
                  <a:t> (</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3    </a:t>
                </a:r>
                <a:r>
                  <a:rPr lang="en-IN" dirty="0"/>
                  <a:t>≡   </a:t>
                </a:r>
                <a:r>
                  <a:rPr lang="en-US" altLang="en-US" baseline="-25000" dirty="0">
                    <a:sym typeface="Symbol" panose="05050102010706020507" pitchFamily="18" charset="2"/>
                  </a:rPr>
                  <a:t> </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dirty="0"/>
                  <a:t>(</a:t>
                </a:r>
                <a:r>
                  <a:rPr lang="en-US" altLang="en-US" i="1"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 </a:t>
                </a:r>
                <a:r>
                  <a:rPr lang="en-US" altLang="en-US" i="1" dirty="0">
                    <a:sym typeface="Symbol" panose="05050102010706020507" pitchFamily="18" charset="2"/>
                  </a:rPr>
                  <a:t>E</a:t>
                </a:r>
                <a:r>
                  <a:rPr lang="en-US" altLang="en-US" baseline="-25000" dirty="0">
                    <a:sym typeface="Symbol" panose="05050102010706020507" pitchFamily="18" charset="2"/>
                  </a:rPr>
                  <a:t>3</a:t>
                </a:r>
                <a:r>
                  <a:rPr lang="en-IN" dirty="0"/>
                  <a:t>)</a:t>
                </a:r>
                <a:r>
                  <a:rPr lang="en-US" altLang="en-US" baseline="-25000" dirty="0">
                    <a:sym typeface="Symbol" panose="05050102010706020507" pitchFamily="18" charset="2"/>
                  </a:rPr>
                  <a:t> </a:t>
                </a:r>
                <a:endParaRPr lang="en-US" altLang="en-US" dirty="0">
                  <a:sym typeface="Symbol" panose="05050102010706020507" pitchFamily="18" charset="2"/>
                </a:endParaRPr>
              </a:p>
              <a:p>
                <a:pPr marL="0" indent="0">
                  <a:buNone/>
                  <a:tabLst>
                    <a:tab pos="2279650" algn="l"/>
                  </a:tabLst>
                </a:pPr>
                <a:r>
                  <a:rPr lang="en-US" altLang="en-US" dirty="0">
                    <a:solidFill>
                      <a:srgbClr val="002060"/>
                    </a:solidFill>
                    <a:sym typeface="Symbol" panose="05050102010706020507" pitchFamily="18" charset="2"/>
                  </a:rPr>
                  <a:t>11.  </a:t>
                </a:r>
                <a:r>
                  <a:rPr lang="en-US" altLang="en-US" dirty="0">
                    <a:sym typeface="Symbol" panose="05050102010706020507" pitchFamily="18" charset="2"/>
                  </a:rPr>
                  <a:t>The selection operation distributes over ,  and –. </a:t>
                </a:r>
                <a:br>
                  <a:rPr lang="en-US" altLang="en-US" dirty="0">
                    <a:sym typeface="Symbol" panose="05050102010706020507" pitchFamily="18" charset="2"/>
                  </a:rPr>
                </a:br>
                <a:r>
                  <a:rPr lang="en-IN" altLang="en-US" i="1" dirty="0">
                    <a:latin typeface="Cambria Math" panose="02040503050406030204" pitchFamily="18" charset="0"/>
                  </a:rPr>
                  <a:t> </a:t>
                </a:r>
                <a14:m>
                  <m:oMath xmlns:m="http://schemas.openxmlformats.org/officeDocument/2006/math">
                    <m:r>
                      <m:rPr>
                        <m:nor/>
                      </m:rPr>
                      <a:rPr lang="en-US" altLang="en-US" dirty="0"/>
                      <m:t>	</m:t>
                    </m:r>
                  </m:oMath>
                </a14:m>
                <a:r>
                  <a:rPr lang="en-US" altLang="en-US" dirty="0">
                    <a:sym typeface="Symbol" panose="05050102010706020507" pitchFamily="18" charset="2"/>
                  </a:rPr>
                  <a:t>           a.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b.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c.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d.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br>
                  <a:rPr lang="en-US" altLang="en-US" baseline="-25000" dirty="0">
                    <a:sym typeface="Greek Symbols" pitchFamily="18" charset="2"/>
                  </a:rPr>
                </a:br>
                <a:r>
                  <a:rPr lang="en-US" altLang="en-US" baseline="-25000" dirty="0">
                    <a:sym typeface="Greek Symbols" pitchFamily="18" charset="2"/>
                  </a:rPr>
                  <a:t>                  </a:t>
                </a:r>
                <a:r>
                  <a:rPr lang="en-US" altLang="en-US" dirty="0">
                    <a:sym typeface="Greek Symbols" pitchFamily="18" charset="2"/>
                  </a:rPr>
                  <a:t>e.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 </a:t>
                </a:r>
                <a:r>
                  <a:rPr lang="en-US" altLang="en-US" i="1" dirty="0">
                    <a:sym typeface="Greek Symbols" pitchFamily="18" charset="2"/>
                  </a:rPr>
                  <a:t>E</a:t>
                </a:r>
                <a:r>
                  <a:rPr lang="en-US" altLang="en-US" baseline="-25000" dirty="0">
                    <a:sym typeface="Greek Symbols" pitchFamily="18" charset="2"/>
                  </a:rPr>
                  <a:t>2</a:t>
                </a:r>
                <a:br>
                  <a:rPr lang="en-US" altLang="en-US" dirty="0">
                    <a:sym typeface="Greek Symbols" pitchFamily="18" charset="2"/>
                  </a:rPr>
                </a:br>
                <a:r>
                  <a:rPr lang="en-US" altLang="en-US" dirty="0">
                    <a:sym typeface="Greek Symbols" pitchFamily="18" charset="2"/>
                  </a:rPr>
                  <a:t>        preceding equivalence does not hold for</a:t>
                </a:r>
                <a:r>
                  <a:rPr lang="en-US" altLang="en-US" dirty="0">
                    <a:sym typeface="Symbol" panose="05050102010706020507" pitchFamily="18" charset="2"/>
                  </a:rPr>
                  <a:t> </a:t>
                </a:r>
              </a:p>
              <a:p>
                <a:pPr marL="0" indent="0">
                  <a:buNone/>
                  <a:tabLst>
                    <a:tab pos="2279650" algn="l"/>
                  </a:tabLst>
                </a:pPr>
                <a:r>
                  <a:rPr lang="en-US" altLang="en-US" dirty="0">
                    <a:solidFill>
                      <a:srgbClr val="002060"/>
                    </a:solidFill>
                    <a:sym typeface="Greek Symbols" pitchFamily="18" charset="2"/>
                  </a:rPr>
                  <a:t>12.  </a:t>
                </a:r>
                <a:r>
                  <a:rPr lang="en-US" altLang="en-US" dirty="0">
                    <a:sym typeface="Greek Symbols" pitchFamily="18" charset="2"/>
                  </a:rPr>
                  <a:t>The projection operation distributes over union</a:t>
                </a:r>
                <a:br>
                  <a:rPr lang="en-US" altLang="en-US" dirty="0">
                    <a:sym typeface="Greek Symbols" pitchFamily="18" charset="2"/>
                  </a:rPr>
                </a:br>
                <a:r>
                  <a:rPr lang="en-US" altLang="en-US" dirty="0">
                    <a:sym typeface="Greek Symbols" pitchFamily="18" charset="2"/>
                  </a:rPr>
                  <a:t>        </a:t>
                </a:r>
                <a:r>
                  <a:rPr lang="en-US" altLang="en-US" dirty="0">
                    <a:sym typeface="Symbol" panose="05050102010706020507" pitchFamily="18" charset="2"/>
                  </a:rPr>
                  <a:t></a:t>
                </a:r>
                <a:r>
                  <a:rPr lang="en-US" altLang="en-US" baseline="-25000" dirty="0">
                    <a:sym typeface="Symbol" panose="05050102010706020507" pitchFamily="18" charset="2"/>
                  </a:rPr>
                  <a:t>L</a:t>
                </a:r>
                <a:r>
                  <a:rPr lang="en-US" altLang="en-US" dirty="0">
                    <a:sym typeface="Symbol" panose="05050102010706020507" pitchFamily="18" charset="2"/>
                  </a:rPr>
                  <a:t>(</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a:t>
                </a:r>
                <a:r>
                  <a:rPr lang="en-IN" dirty="0"/>
                  <a:t>≡</a:t>
                </a:r>
                <a:r>
                  <a:rPr lang="en-US" altLang="en-US" dirty="0">
                    <a:sym typeface="Symbol" panose="05050102010706020507" pitchFamily="18" charset="2"/>
                  </a:rPr>
                  <a:t>     (</a:t>
                </a:r>
                <a:r>
                  <a:rPr lang="en-US" altLang="en-US" baseline="-25000" dirty="0">
                    <a:sym typeface="Symbol" panose="05050102010706020507" pitchFamily="18" charset="2"/>
                  </a:rPr>
                  <a:t>L</a:t>
                </a:r>
                <a:r>
                  <a:rPr lang="en-US" altLang="en-US" dirty="0">
                    <a:sym typeface="Symbol" panose="05050102010706020507" pitchFamily="18" charset="2"/>
                  </a:rPr>
                  <a:t>(</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baseline="-25000" dirty="0">
                    <a:sym typeface="Symbol" panose="05050102010706020507" pitchFamily="18" charset="2"/>
                  </a:rPr>
                  <a:t>L</a:t>
                </a:r>
                <a:r>
                  <a:rPr lang="en-US" altLang="en-US" dirty="0">
                    <a:sym typeface="Symbol" panose="05050102010706020507" pitchFamily="18" charset="2"/>
                  </a:rPr>
                  <a:t>(</a:t>
                </a:r>
                <a:r>
                  <a:rPr lang="en-US" altLang="en-US" i="1" dirty="0"/>
                  <a:t>E</a:t>
                </a:r>
                <a:r>
                  <a:rPr lang="en-US" altLang="en-US" baseline="-25000" dirty="0"/>
                  <a:t>2</a:t>
                </a:r>
                <a:r>
                  <a:rPr lang="en-US" altLang="en-US" dirty="0"/>
                  <a:t>)) </a:t>
                </a:r>
                <a:endParaRPr lang="en-US" altLang="en-US" dirty="0">
                  <a:sym typeface="Greek Symbols" pitchFamily="18" charset="2"/>
                </a:endParaRPr>
              </a:p>
              <a:p>
                <a:pPr marL="404813" indent="-404813">
                  <a:buFont typeface="Monotype Sorts" pitchFamily="-65" charset="2"/>
                  <a:buAutoNum type="arabicPeriod" startAt="10"/>
                  <a:tabLst>
                    <a:tab pos="2279650" algn="l"/>
                  </a:tabLst>
                </a:pPr>
                <a:endParaRPr lang="en-US" altLang="en-US" dirty="0">
                  <a:sym typeface="Symbol" panose="05050102010706020507" pitchFamily="18" charset="2"/>
                </a:endParaRPr>
              </a:p>
              <a:p>
                <a:pPr marL="404813" indent="-404813">
                  <a:buNone/>
                  <a:tabLst>
                    <a:tab pos="2279650" algn="l"/>
                  </a:tabLst>
                </a:pPr>
                <a:endParaRPr lang="en-US" altLang="en-US" dirty="0">
                  <a:sym typeface="Symbol" panose="05050102010706020507" pitchFamily="18" charset="2"/>
                </a:endParaRPr>
              </a:p>
            </p:txBody>
          </p:sp>
        </mc:Choice>
        <mc:Fallback>
          <p:sp>
            <p:nvSpPr>
              <p:cNvPr id="362499" name="Rectangle 3">
                <a:extLst>
                  <a:ext uri="{FF2B5EF4-FFF2-40B4-BE49-F238E27FC236}">
                    <a16:creationId xmlns:a16="http://schemas.microsoft.com/office/drawing/2014/main" id="{CD34A2FB-3E13-4F06-8207-CFF2D7389F2B}"/>
                  </a:ext>
                </a:extLst>
              </p:cNvPr>
              <p:cNvSpPr>
                <a:spLocks noGrp="1" noRot="1" noChangeAspect="1" noMove="1" noResize="1" noEditPoints="1" noAdjustHandles="1" noChangeArrowheads="1" noChangeShapeType="1" noTextEdit="1"/>
              </p:cNvSpPr>
              <p:nvPr>
                <p:ph idx="1"/>
              </p:nvPr>
            </p:nvSpPr>
            <p:spPr>
              <a:xfrm>
                <a:off x="2197768" y="1096160"/>
                <a:ext cx="7401828" cy="4659747"/>
              </a:xfrm>
              <a:blipFill>
                <a:blip r:embed="rId3"/>
                <a:stretch>
                  <a:fillRect l="-1071" t="-2749"/>
                </a:stretch>
              </a:blipFill>
            </p:spPr>
            <p:txBody>
              <a:bodyPr/>
              <a:lstStyle/>
              <a:p>
                <a:r>
                  <a:rPr lang="en-IN">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24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4C9F2-F1F2-4A58-B4AD-918290CDF2A2}"/>
              </a:ext>
            </a:extLst>
          </p:cNvPr>
          <p:cNvSpPr>
            <a:spLocks noGrp="1"/>
          </p:cNvSpPr>
          <p:nvPr>
            <p:ph type="title"/>
          </p:nvPr>
        </p:nvSpPr>
        <p:spPr/>
        <p:txBody>
          <a:bodyPr/>
          <a:lstStyle/>
          <a:p>
            <a:pPr>
              <a:defRPr/>
            </a:pPr>
            <a:r>
              <a:rPr lang="en-US" altLang="en-US">
                <a:effectLst>
                  <a:outerShdw blurRad="38100" dist="38100" dir="2700000" algn="tl">
                    <a:srgbClr val="C0C0C0"/>
                  </a:outerShdw>
                </a:effectLst>
              </a:rPr>
              <a:t>Exercise</a:t>
            </a:r>
          </a:p>
        </p:txBody>
      </p:sp>
      <p:sp>
        <p:nvSpPr>
          <p:cNvPr id="3" name="Content Placeholder 2">
            <a:extLst>
              <a:ext uri="{FF2B5EF4-FFF2-40B4-BE49-F238E27FC236}">
                <a16:creationId xmlns:a16="http://schemas.microsoft.com/office/drawing/2014/main" id="{EE7E51B6-D34B-4233-AA00-768E2D4F91A0}"/>
              </a:ext>
            </a:extLst>
          </p:cNvPr>
          <p:cNvSpPr>
            <a:spLocks noGrp="1"/>
          </p:cNvSpPr>
          <p:nvPr>
            <p:ph idx="1"/>
          </p:nvPr>
        </p:nvSpPr>
        <p:spPr>
          <a:xfrm>
            <a:off x="2188143" y="1102498"/>
            <a:ext cx="7796464" cy="4691911"/>
          </a:xfrm>
        </p:spPr>
        <p:txBody>
          <a:bodyPr/>
          <a:lstStyle/>
          <a:p>
            <a:pPr>
              <a:defRPr/>
            </a:pPr>
            <a:r>
              <a:rPr lang="en-US" dirty="0">
                <a:ea typeface="ＭＳ Ｐゴシック" charset="0"/>
              </a:rPr>
              <a:t>Create equivalence rules involving</a:t>
            </a:r>
          </a:p>
          <a:p>
            <a:pPr lvl="1">
              <a:defRPr/>
            </a:pPr>
            <a:r>
              <a:rPr lang="en-US" dirty="0">
                <a:ea typeface="ＭＳ Ｐゴシック" charset="-128"/>
              </a:rPr>
              <a:t>The group by/aggregation operation</a:t>
            </a:r>
          </a:p>
          <a:p>
            <a:pPr lvl="1">
              <a:defRPr/>
            </a:pPr>
            <a:r>
              <a:rPr lang="en-US" dirty="0">
                <a:ea typeface="ＭＳ Ｐゴシック" charset="-128"/>
              </a:rPr>
              <a:t>Left outer join operation</a:t>
            </a:r>
          </a:p>
          <a:p>
            <a:pPr marL="457200" lvl="1" indent="0">
              <a:buNone/>
              <a:defRPr/>
            </a:pPr>
            <a:endParaRPr lang="en-US" dirty="0">
              <a:ea typeface="ＭＳ Ｐゴシック" charset="-128"/>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A280E042-4593-4F00-8739-31BAD978BB0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p>
        </p:txBody>
      </p:sp>
      <p:sp>
        <p:nvSpPr>
          <p:cNvPr id="362499" name="Rectangle 3">
            <a:extLst>
              <a:ext uri="{FF2B5EF4-FFF2-40B4-BE49-F238E27FC236}">
                <a16:creationId xmlns:a16="http://schemas.microsoft.com/office/drawing/2014/main" id="{CD34A2FB-3E13-4F06-8207-CFF2D7389F2B}"/>
              </a:ext>
            </a:extLst>
          </p:cNvPr>
          <p:cNvSpPr>
            <a:spLocks noGrp="1" noChangeArrowheads="1"/>
          </p:cNvSpPr>
          <p:nvPr>
            <p:ph idx="1"/>
          </p:nvPr>
        </p:nvSpPr>
        <p:spPr>
          <a:xfrm>
            <a:off x="2217020" y="932534"/>
            <a:ext cx="7806088" cy="5642002"/>
          </a:xfrm>
        </p:spPr>
        <p:txBody>
          <a:bodyPr>
            <a:normAutofit fontScale="92500" lnSpcReduction="20000"/>
          </a:bodyPr>
          <a:lstStyle/>
          <a:p>
            <a:pPr marL="0" indent="0">
              <a:buNone/>
              <a:tabLst>
                <a:tab pos="2279650" algn="l"/>
              </a:tabLst>
            </a:pPr>
            <a:r>
              <a:rPr lang="en-US" altLang="en-US" dirty="0">
                <a:solidFill>
                  <a:srgbClr val="002060"/>
                </a:solidFill>
                <a:sym typeface="Greek Symbols" pitchFamily="18" charset="2"/>
              </a:rPr>
              <a:t>13.</a:t>
            </a:r>
            <a:r>
              <a:rPr lang="en-US" altLang="en-US" dirty="0">
                <a:sym typeface="Greek Symbols" pitchFamily="18" charset="2"/>
              </a:rPr>
              <a:t>  Selection distributes over aggregation as below</a:t>
            </a:r>
            <a:br>
              <a:rPr lang="en-US" altLang="en-US" dirty="0">
                <a:sym typeface="Greek Symbols" pitchFamily="18" charset="2"/>
              </a:rPr>
            </a:b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baseline="-25000" dirty="0">
                <a:sym typeface="Greek Symbols" pitchFamily="18" charset="2"/>
              </a:rPr>
              <a:t>G</a:t>
            </a:r>
            <a:r>
              <a:rPr lang="en-IN" dirty="0"/>
              <a:t>𝛾</a:t>
            </a:r>
            <a:r>
              <a:rPr lang="en-US" altLang="en-US" baseline="-25000" dirty="0">
                <a:sym typeface="Greek Symbols" pitchFamily="18" charset="2"/>
              </a:rPr>
              <a:t>A</a:t>
            </a:r>
            <a:r>
              <a:rPr lang="en-US" altLang="en-US" dirty="0">
                <a:sym typeface="Greek Symbols" pitchFamily="18" charset="2"/>
              </a:rPr>
              <a:t>(</a:t>
            </a:r>
            <a:r>
              <a:rPr lang="en-US" altLang="en-US" i="1" dirty="0">
                <a:sym typeface="Greek Symbols" pitchFamily="18" charset="2"/>
              </a:rPr>
              <a:t>E</a:t>
            </a:r>
            <a:r>
              <a:rPr lang="en-US" altLang="en-US" dirty="0">
                <a:sym typeface="Greek Symbols" pitchFamily="18" charset="2"/>
              </a:rPr>
              <a:t>))    </a:t>
            </a:r>
            <a:r>
              <a:rPr lang="en-IN" dirty="0"/>
              <a:t>≡   </a:t>
            </a:r>
            <a:r>
              <a:rPr lang="en-US" altLang="en-US" baseline="-25000" dirty="0">
                <a:sym typeface="Greek Symbols" pitchFamily="18" charset="2"/>
              </a:rPr>
              <a:t>G</a:t>
            </a:r>
            <a:r>
              <a:rPr lang="en-IN" dirty="0"/>
              <a:t>𝛾</a:t>
            </a:r>
            <a:r>
              <a:rPr lang="en-US" altLang="en-US" baseline="-25000" dirty="0">
                <a:sym typeface="Greek Symbols" pitchFamily="18" charset="2"/>
              </a:rPr>
              <a:t>A</a:t>
            </a:r>
            <a:r>
              <a:rPr lang="en-US" altLang="en-US" dirty="0">
                <a:sym typeface="Greek Symbols" pitchFamily="18" charset="2"/>
              </a:rPr>
              <a:t>(</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dirty="0">
                <a:sym typeface="Greek Symbols" pitchFamily="18" charset="2"/>
              </a:rPr>
              <a:t>)) </a:t>
            </a:r>
            <a:br>
              <a:rPr lang="en-US" altLang="en-US" dirty="0">
                <a:sym typeface="Greek Symbols" pitchFamily="18" charset="2"/>
              </a:rPr>
            </a:br>
            <a:r>
              <a:rPr lang="en-US" altLang="en-US" dirty="0">
                <a:sym typeface="Greek Symbols" pitchFamily="18" charset="2"/>
              </a:rPr>
              <a:t>       provided </a:t>
            </a:r>
            <a:r>
              <a:rPr lang="en-US" altLang="en-US" dirty="0">
                <a:sym typeface="Symbol" panose="05050102010706020507" pitchFamily="18" charset="2"/>
              </a:rPr>
              <a:t></a:t>
            </a:r>
            <a:r>
              <a:rPr lang="en-US" altLang="en-US" dirty="0">
                <a:sym typeface="Greek Symbols" pitchFamily="18" charset="2"/>
              </a:rPr>
              <a:t> only involves attributes in G</a:t>
            </a:r>
          </a:p>
          <a:p>
            <a:pPr marL="0" indent="0">
              <a:spcBef>
                <a:spcPts val="714"/>
              </a:spcBef>
              <a:buNone/>
              <a:tabLst>
                <a:tab pos="2279650" algn="l"/>
              </a:tabLst>
            </a:pPr>
            <a:r>
              <a:rPr lang="en-US" altLang="en-US" dirty="0">
                <a:solidFill>
                  <a:srgbClr val="002060"/>
                </a:solidFill>
                <a:sym typeface="Greek Symbols" pitchFamily="18" charset="2"/>
              </a:rPr>
              <a:t>14.</a:t>
            </a:r>
            <a:r>
              <a:rPr lang="en-US" altLang="en-US" dirty="0">
                <a:sym typeface="Greek Symbols" pitchFamily="18" charset="2"/>
              </a:rPr>
              <a:t>  a. Full </a:t>
            </a:r>
            <a:r>
              <a:rPr lang="en-US" altLang="en-US" dirty="0" err="1">
                <a:sym typeface="Greek Symbols" pitchFamily="18" charset="2"/>
              </a:rPr>
              <a:t>outerjoin</a:t>
            </a:r>
            <a:r>
              <a:rPr lang="en-US" altLang="en-US" dirty="0">
                <a:sym typeface="Greek Symbols" pitchFamily="18" charset="2"/>
              </a:rPr>
              <a:t> is commutative:</a:t>
            </a:r>
            <a:br>
              <a:rPr lang="en-US" altLang="en-US" dirty="0">
                <a:sym typeface="Greek Symbols" pitchFamily="18" charset="2"/>
              </a:rPr>
            </a:br>
            <a:r>
              <a:rPr lang="en-US" altLang="en-US" dirty="0">
                <a:sym typeface="Greek Symbols" pitchFamily="18" charset="2"/>
              </a:rPr>
              <a:t>            </a:t>
            </a:r>
            <a:r>
              <a:rPr lang="en-US" altLang="en-US" i="1" dirty="0"/>
              <a:t>E</a:t>
            </a:r>
            <a:r>
              <a:rPr lang="en-US" altLang="en-US" baseline="-25000" dirty="0"/>
              <a:t>1</a:t>
            </a:r>
            <a:r>
              <a:rPr lang="en-US" altLang="en-US" dirty="0"/>
              <a:t> </a:t>
            </a:r>
            <a:r>
              <a:rPr lang="en-IN" dirty="0"/>
              <a:t>⟗</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baseline="-25000" dirty="0">
                <a:sym typeface="Symbol" panose="05050102010706020507" pitchFamily="18" charset="2"/>
              </a:rPr>
              <a:t> </a:t>
            </a:r>
            <a:r>
              <a:rPr lang="en-US" altLang="en-US" i="1" dirty="0"/>
              <a:t>E</a:t>
            </a:r>
            <a:r>
              <a:rPr lang="en-US" altLang="en-US" baseline="-25000" dirty="0"/>
              <a:t>2</a:t>
            </a:r>
            <a:r>
              <a:rPr lang="en-US" altLang="en-US" dirty="0"/>
              <a:t> </a:t>
            </a:r>
            <a:r>
              <a:rPr lang="en-IN" dirty="0"/>
              <a:t>⟗</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1 </a:t>
            </a:r>
            <a:br>
              <a:rPr lang="en-US" altLang="en-US" baseline="-25000" dirty="0">
                <a:sym typeface="Symbol" panose="05050102010706020507" pitchFamily="18" charset="2"/>
              </a:rPr>
            </a:br>
            <a:r>
              <a:rPr lang="en-US" altLang="en-US" baseline="-25000" dirty="0">
                <a:sym typeface="Symbol" panose="05050102010706020507" pitchFamily="18" charset="2"/>
              </a:rPr>
              <a:t>           </a:t>
            </a:r>
            <a:r>
              <a:rPr lang="en-US" altLang="en-US" dirty="0">
                <a:sym typeface="Symbol" panose="05050102010706020507" pitchFamily="18" charset="2"/>
              </a:rPr>
              <a:t>b. Left and right </a:t>
            </a:r>
            <a:r>
              <a:rPr lang="en-US" altLang="en-US" dirty="0" err="1">
                <a:sym typeface="Symbol" panose="05050102010706020507" pitchFamily="18" charset="2"/>
              </a:rPr>
              <a:t>outerjoin</a:t>
            </a:r>
            <a:r>
              <a:rPr lang="en-US" altLang="en-US" dirty="0">
                <a:sym typeface="Symbol" panose="05050102010706020507" pitchFamily="18" charset="2"/>
              </a:rPr>
              <a:t> are not commutative, but:</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a:t>E</a:t>
            </a:r>
            <a:r>
              <a:rPr lang="en-US" altLang="en-US" baseline="-25000" dirty="0"/>
              <a:t>1</a:t>
            </a:r>
            <a:r>
              <a:rPr lang="en-US" altLang="en-US" dirty="0"/>
              <a:t> </a:t>
            </a:r>
            <a:r>
              <a:rPr lang="en-IN" dirty="0"/>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baseline="-25000" dirty="0">
                <a:sym typeface="Symbol" panose="05050102010706020507" pitchFamily="18" charset="2"/>
              </a:rPr>
              <a:t> </a:t>
            </a:r>
            <a:r>
              <a:rPr lang="en-US" altLang="en-US" i="1" dirty="0"/>
              <a:t>E</a:t>
            </a:r>
            <a:r>
              <a:rPr lang="en-US" altLang="en-US" baseline="-25000" dirty="0"/>
              <a:t>2</a:t>
            </a:r>
            <a:r>
              <a:rPr lang="en-US" altLang="en-US" dirty="0"/>
              <a:t> </a:t>
            </a:r>
            <a:r>
              <a:rPr lang="en-IN" dirty="0"/>
              <a:t>⟖</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1</a:t>
            </a:r>
            <a:endParaRPr lang="en-US" altLang="en-US" dirty="0">
              <a:sym typeface="Greek Symbols" pitchFamily="18" charset="2"/>
            </a:endParaRPr>
          </a:p>
          <a:p>
            <a:pPr marL="0" indent="0">
              <a:spcBef>
                <a:spcPts val="714"/>
              </a:spcBef>
              <a:buNone/>
              <a:tabLst>
                <a:tab pos="2279650" algn="l"/>
              </a:tabLst>
            </a:pPr>
            <a:r>
              <a:rPr lang="en-US" altLang="en-US" dirty="0">
                <a:solidFill>
                  <a:srgbClr val="002060"/>
                </a:solidFill>
                <a:sym typeface="Greek Symbols" pitchFamily="18" charset="2"/>
              </a:rPr>
              <a:t>15.  </a:t>
            </a:r>
            <a:r>
              <a:rPr lang="en-US" altLang="en-US" dirty="0">
                <a:sym typeface="Greek Symbols" pitchFamily="18" charset="2"/>
              </a:rPr>
              <a:t>Selection distributes over left and right </a:t>
            </a:r>
            <a:r>
              <a:rPr lang="en-US" altLang="en-US" dirty="0" err="1">
                <a:sym typeface="Greek Symbols" pitchFamily="18" charset="2"/>
              </a:rPr>
              <a:t>outerjoins</a:t>
            </a:r>
            <a:r>
              <a:rPr lang="en-US" altLang="en-US" dirty="0">
                <a:sym typeface="Greek Symbols" pitchFamily="18" charset="2"/>
              </a:rPr>
              <a:t> as below, provided </a:t>
            </a:r>
            <a:r>
              <a:rPr lang="en-US" altLang="en-US" dirty="0">
                <a:sym typeface="Symbol" panose="05050102010706020507" pitchFamily="18" charset="2"/>
              </a:rPr>
              <a:t></a:t>
            </a:r>
            <a:r>
              <a:rPr lang="en-US" altLang="en-US" baseline="-25000" dirty="0">
                <a:sym typeface="Symbol" panose="05050102010706020507" pitchFamily="18" charset="2"/>
              </a:rPr>
              <a:t>1</a:t>
            </a:r>
            <a:r>
              <a:rPr lang="en-US" altLang="en-US" dirty="0">
                <a:sym typeface="Greek Symbols" pitchFamily="18" charset="2"/>
              </a:rPr>
              <a:t>             </a:t>
            </a:r>
          </a:p>
          <a:p>
            <a:pPr marL="0" indent="0">
              <a:spcBef>
                <a:spcPts val="0"/>
              </a:spcBef>
              <a:buNone/>
              <a:tabLst>
                <a:tab pos="2279650" algn="l"/>
              </a:tabLst>
            </a:pPr>
            <a:r>
              <a:rPr lang="en-US" altLang="en-US" dirty="0">
                <a:sym typeface="Greek Symbols" pitchFamily="18" charset="2"/>
              </a:rPr>
              <a:t>       only involves attributes of </a:t>
            </a:r>
            <a:r>
              <a:rPr lang="en-US" altLang="en-US" i="1"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a.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br>
              <a:rPr lang="en-US" altLang="en-US" dirty="0">
                <a:sym typeface="Greek Symbols" pitchFamily="18" charset="2"/>
              </a:rPr>
            </a:br>
            <a:r>
              <a:rPr lang="en-US" altLang="en-US" dirty="0">
                <a:sym typeface="Greek Symbols" pitchFamily="18" charset="2"/>
              </a:rPr>
              <a:t>       b.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i="1" dirty="0">
                <a:sym typeface="Greek Symbols" pitchFamily="18" charset="2"/>
              </a:rPr>
              <a:t>E</a:t>
            </a:r>
            <a:r>
              <a:rPr lang="en-US" altLang="en-US" baseline="-25000" dirty="0">
                <a:sym typeface="Greek Symbols" pitchFamily="18" charset="2"/>
              </a:rPr>
              <a:t>2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a:t>
            </a:r>
          </a:p>
          <a:p>
            <a:pPr marL="0" indent="0">
              <a:buNone/>
              <a:tabLst>
                <a:tab pos="2279650" algn="l"/>
              </a:tabLst>
            </a:pPr>
            <a:r>
              <a:rPr lang="en-US" altLang="en-US" dirty="0">
                <a:solidFill>
                  <a:srgbClr val="002060"/>
                </a:solidFill>
                <a:sym typeface="Greek Symbols" pitchFamily="18" charset="2"/>
              </a:rPr>
              <a:t>16.  </a:t>
            </a:r>
            <a:r>
              <a:rPr lang="en-US" altLang="en-US" dirty="0" err="1">
                <a:sym typeface="Greek Symbols" pitchFamily="18" charset="2"/>
              </a:rPr>
              <a:t>Outerjoins</a:t>
            </a:r>
            <a:r>
              <a:rPr lang="en-US" altLang="en-US" dirty="0">
                <a:sym typeface="Greek Symbols" pitchFamily="18" charset="2"/>
              </a:rPr>
              <a:t> can be replaced by inner joins under some conditions</a:t>
            </a:r>
          </a:p>
          <a:p>
            <a:pPr marL="0" indent="0">
              <a:buNone/>
              <a:tabLst>
                <a:tab pos="2279650" algn="l"/>
              </a:tabLst>
            </a:pPr>
            <a:r>
              <a:rPr lang="en-US" altLang="en-US" dirty="0">
                <a:sym typeface="Symbol" panose="05050102010706020507" pitchFamily="18" charset="2"/>
              </a:rPr>
              <a:t>        a.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altLang="en-US"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b.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altLang="en-US"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provided </a:t>
            </a:r>
            <a:r>
              <a:rPr lang="en-US" altLang="en-US" dirty="0">
                <a:sym typeface="Symbol" panose="05050102010706020507" pitchFamily="18" charset="2"/>
              </a:rPr>
              <a:t></a:t>
            </a:r>
            <a:r>
              <a:rPr lang="en-US" altLang="en-US" baseline="-25000" dirty="0">
                <a:sym typeface="Symbol" panose="05050102010706020507" pitchFamily="18" charset="2"/>
              </a:rPr>
              <a:t>1</a:t>
            </a:r>
            <a:r>
              <a:rPr lang="en-US" altLang="en-US" dirty="0">
                <a:sym typeface="Symbol" panose="05050102010706020507" pitchFamily="18" charset="2"/>
              </a:rPr>
              <a:t> is null rejecting on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p>
          <a:p>
            <a:pPr marL="457200" indent="-457200">
              <a:buFont typeface="Monotype Sorts" pitchFamily="-65" charset="2"/>
              <a:buAutoNum type="arabicPeriod" startAt="13"/>
              <a:tabLst>
                <a:tab pos="2279650" algn="l"/>
              </a:tabLst>
            </a:pPr>
            <a:endParaRPr lang="en-US" altLang="en-US" dirty="0">
              <a:sym typeface="Greek Symbols" pitchFamily="18" charset="2"/>
            </a:endParaRPr>
          </a:p>
          <a:p>
            <a:pPr marL="457200" indent="-457200">
              <a:buFont typeface="Monotype Sorts" pitchFamily="-65" charset="2"/>
              <a:buAutoNum type="arabicPeriod" startAt="13"/>
              <a:tabLst>
                <a:tab pos="2279650" algn="l"/>
              </a:tabLst>
            </a:pPr>
            <a:endParaRPr lang="en-US" altLang="en-US" dirty="0">
              <a:sym typeface="Greek Symbols" pitchFamily="18" charset="2"/>
            </a:endParaRPr>
          </a:p>
          <a:p>
            <a:pPr marL="457200" indent="-457200">
              <a:buFont typeface="Monotype Sorts" pitchFamily="-65" charset="2"/>
              <a:buAutoNum type="arabicPeriod" startAt="13"/>
              <a:tabLst>
                <a:tab pos="2279650" algn="l"/>
              </a:tabLst>
            </a:pPr>
            <a:endParaRPr lang="en-US" altLang="en-US" dirty="0">
              <a:sym typeface="Greek Symbols" pitchFamily="18" charset="2"/>
            </a:endParaRPr>
          </a:p>
          <a:p>
            <a:pPr marL="404813" indent="-404813">
              <a:buNone/>
              <a:tabLst>
                <a:tab pos="2279650" algn="l"/>
              </a:tabLst>
            </a:pPr>
            <a:endParaRPr lang="en-US" altLang="en-US" dirty="0">
              <a:sym typeface="Symbol" panose="05050102010706020507" pitchFamily="18" charset="2"/>
            </a:endParaRPr>
          </a:p>
          <a:p>
            <a:pPr marL="404813" indent="-404813">
              <a:buNone/>
              <a:tabLst>
                <a:tab pos="2279650" algn="l"/>
              </a:tabLst>
            </a:pPr>
            <a:endParaRPr lang="en-US" altLang="en-US" dirty="0">
              <a:sym typeface="Symbol" panose="05050102010706020507" pitchFamily="18" charset="2"/>
            </a:endParaRPr>
          </a:p>
        </p:txBody>
      </p:sp>
    </p:spTree>
    <p:extLst>
      <p:ext uri="{BB962C8B-B14F-4D97-AF65-F5344CB8AC3E}">
        <p14:creationId xmlns:p14="http://schemas.microsoft.com/office/powerpoint/2010/main" val="8601067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24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24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24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A280E042-4593-4F00-8739-31BAD978BB0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p>
        </p:txBody>
      </p:sp>
      <p:sp>
        <p:nvSpPr>
          <p:cNvPr id="362499" name="Rectangle 3">
            <a:extLst>
              <a:ext uri="{FF2B5EF4-FFF2-40B4-BE49-F238E27FC236}">
                <a16:creationId xmlns:a16="http://schemas.microsoft.com/office/drawing/2014/main" id="{CD34A2FB-3E13-4F06-8207-CFF2D7389F2B}"/>
              </a:ext>
            </a:extLst>
          </p:cNvPr>
          <p:cNvSpPr>
            <a:spLocks noGrp="1" noChangeArrowheads="1"/>
          </p:cNvSpPr>
          <p:nvPr>
            <p:ph idx="1"/>
          </p:nvPr>
        </p:nvSpPr>
        <p:spPr>
          <a:xfrm>
            <a:off x="2207395" y="932534"/>
            <a:ext cx="7796463" cy="5642002"/>
          </a:xfrm>
        </p:spPr>
        <p:txBody>
          <a:bodyPr/>
          <a:lstStyle/>
          <a:p>
            <a:pPr marL="0" indent="0">
              <a:buNone/>
              <a:tabLst>
                <a:tab pos="2279650" algn="l"/>
              </a:tabLst>
            </a:pPr>
            <a:r>
              <a:rPr lang="en-US" altLang="en-US" dirty="0">
                <a:sym typeface="Greek Symbols" pitchFamily="18" charset="2"/>
              </a:rPr>
              <a:t>Note that several equivalences that hold for joins do not hold for </a:t>
            </a:r>
            <a:r>
              <a:rPr lang="en-US" altLang="en-US" dirty="0" err="1">
                <a:sym typeface="Greek Symbols" pitchFamily="18" charset="2"/>
              </a:rPr>
              <a:t>outerjoins</a:t>
            </a:r>
            <a:endParaRPr lang="en-US" altLang="en-US" dirty="0">
              <a:sym typeface="Greek Symbols" pitchFamily="18" charset="2"/>
            </a:endParaRPr>
          </a:p>
          <a:p>
            <a:pPr>
              <a:tabLst>
                <a:tab pos="2279650" algn="l"/>
              </a:tabLst>
            </a:pPr>
            <a:r>
              <a:rPr lang="en-US" altLang="en-US" i="1" dirty="0">
                <a:sym typeface="Symbol" panose="05050102010706020507" pitchFamily="18" charset="2"/>
              </a:rPr>
              <a:t></a:t>
            </a:r>
            <a:r>
              <a:rPr lang="en-US" altLang="en-US" baseline="-25000" dirty="0">
                <a:sym typeface="Symbol" panose="05050102010706020507" pitchFamily="18" charset="2"/>
              </a:rPr>
              <a:t>year=2017</a:t>
            </a:r>
            <a:r>
              <a:rPr lang="en-US" altLang="en-US" dirty="0">
                <a:sym typeface="Greek Symbols" pitchFamily="18" charset="2"/>
              </a:rPr>
              <a:t>(</a:t>
            </a:r>
            <a:r>
              <a:rPr lang="en-US" altLang="en-US" i="1" dirty="0">
                <a:sym typeface="Greek Symbols" pitchFamily="18" charset="2"/>
              </a:rPr>
              <a:t>instructor</a:t>
            </a:r>
            <a:r>
              <a:rPr lang="en-US" altLang="en-US" dirty="0">
                <a:sym typeface="Greek Symbols" pitchFamily="18" charset="2"/>
              </a:rPr>
              <a:t> </a:t>
            </a:r>
            <a:r>
              <a:rPr lang="en-IN" dirty="0"/>
              <a:t>⟕</a:t>
            </a:r>
            <a:r>
              <a:rPr lang="en-US" altLang="en-US" dirty="0">
                <a:sym typeface="Greek Symbols" pitchFamily="18" charset="2"/>
              </a:rPr>
              <a:t> </a:t>
            </a:r>
            <a:r>
              <a:rPr lang="en-US" altLang="en-US" i="1" dirty="0">
                <a:sym typeface="Greek Symbols" pitchFamily="18" charset="2"/>
              </a:rPr>
              <a:t>teaches</a:t>
            </a:r>
            <a:r>
              <a:rPr lang="en-US" altLang="en-US" dirty="0">
                <a:sym typeface="Greek Symbols" pitchFamily="18" charset="2"/>
              </a:rPr>
              <a:t>)  </a:t>
            </a:r>
            <a:r>
              <a:rPr lang="en-IN" dirty="0"/>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year=2017</a:t>
            </a:r>
            <a:r>
              <a:rPr lang="en-US" altLang="en-US" dirty="0">
                <a:sym typeface="Greek Symbols" pitchFamily="18" charset="2"/>
              </a:rPr>
              <a:t>(</a:t>
            </a:r>
            <a:r>
              <a:rPr lang="en-US" altLang="en-US" i="1" dirty="0">
                <a:sym typeface="Greek Symbols" pitchFamily="18" charset="2"/>
              </a:rPr>
              <a:t>instructor</a:t>
            </a:r>
            <a:r>
              <a:rPr lang="en-US" altLang="en-US" dirty="0">
                <a:sym typeface="Greek Symbols" pitchFamily="18" charset="2"/>
              </a:rPr>
              <a:t> </a:t>
            </a:r>
            <a:r>
              <a:rPr lang="en-IN" altLang="en-US" dirty="0"/>
              <a:t>⨝</a:t>
            </a:r>
            <a:r>
              <a:rPr lang="en-US" altLang="en-US" dirty="0">
                <a:sym typeface="Greek Symbols" pitchFamily="18" charset="2"/>
              </a:rPr>
              <a:t> </a:t>
            </a:r>
            <a:r>
              <a:rPr lang="en-US" altLang="en-US" i="1" dirty="0">
                <a:sym typeface="Greek Symbols" pitchFamily="18" charset="2"/>
              </a:rPr>
              <a:t>teaches</a:t>
            </a:r>
            <a:r>
              <a:rPr lang="en-US" altLang="en-US" dirty="0">
                <a:sym typeface="Greek Symbols" pitchFamily="18" charset="2"/>
              </a:rPr>
              <a:t>)</a:t>
            </a:r>
          </a:p>
          <a:p>
            <a:pPr>
              <a:tabLst>
                <a:tab pos="2279650" algn="l"/>
              </a:tabLst>
            </a:pPr>
            <a:r>
              <a:rPr lang="en-US" altLang="en-US" dirty="0" err="1">
                <a:sym typeface="Greek Symbols" pitchFamily="18" charset="2"/>
              </a:rPr>
              <a:t>Outerjoins</a:t>
            </a:r>
            <a:r>
              <a:rPr lang="en-US" altLang="en-US" dirty="0">
                <a:sym typeface="Greek Symbols" pitchFamily="18" charset="2"/>
              </a:rPr>
              <a:t> are not associative</a:t>
            </a:r>
            <a:br>
              <a:rPr lang="en-US" altLang="en-US" dirty="0">
                <a:sym typeface="Greek Symbols" pitchFamily="18" charset="2"/>
              </a:rPr>
            </a:br>
            <a:r>
              <a:rPr lang="en-US" altLang="en-US" dirty="0">
                <a:sym typeface="Greek Symbols" pitchFamily="18" charset="2"/>
              </a:rPr>
              <a:t>               (r </a:t>
            </a:r>
            <a:r>
              <a:rPr lang="en-IN" dirty="0"/>
              <a:t>⟕ s) ⟕ t     ≢     r ⟕ (s ⟕ t)</a:t>
            </a:r>
          </a:p>
          <a:p>
            <a:pPr lvl="1">
              <a:tabLst>
                <a:tab pos="2279650" algn="l"/>
              </a:tabLst>
            </a:pPr>
            <a:r>
              <a:rPr lang="en-IN" altLang="en-US" dirty="0">
                <a:sym typeface="Greek Symbols" pitchFamily="18" charset="2"/>
              </a:rPr>
              <a:t>e.g. with r(A,B) = {(1,1),    s(B,C) = { (1,1)},   t(A,C) = { }</a:t>
            </a:r>
            <a:endParaRPr lang="en-US" altLang="en-US" dirty="0">
              <a:sym typeface="Greek Symbols" pitchFamily="18" charset="2"/>
            </a:endParaRPr>
          </a:p>
          <a:p>
            <a:pPr marL="457200" indent="-457200">
              <a:buFont typeface="Monotype Sorts" pitchFamily="-65" charset="2"/>
              <a:buAutoNum type="arabicPeriod" startAt="16"/>
              <a:tabLst>
                <a:tab pos="2279650" algn="l"/>
              </a:tabLst>
            </a:pPr>
            <a:endParaRPr lang="en-US" altLang="en-US" dirty="0">
              <a:sym typeface="Greek Symbols" pitchFamily="18" charset="2"/>
            </a:endParaRPr>
          </a:p>
          <a:p>
            <a:pPr marL="404813" indent="-404813">
              <a:buNone/>
              <a:tabLst>
                <a:tab pos="2279650" algn="l"/>
              </a:tabLst>
            </a:pPr>
            <a:endParaRPr lang="en-US" altLang="en-US" dirty="0">
              <a:sym typeface="Symbol" panose="05050102010706020507" pitchFamily="18" charset="2"/>
            </a:endParaRPr>
          </a:p>
          <a:p>
            <a:pPr marL="404813" indent="-404813">
              <a:buNone/>
              <a:tabLst>
                <a:tab pos="2279650" algn="l"/>
              </a:tabLst>
            </a:pPr>
            <a:endParaRPr lang="en-US" altLang="en-US" dirty="0">
              <a:sym typeface="Symbol" panose="05050102010706020507" pitchFamily="18" charset="2"/>
            </a:endParaRPr>
          </a:p>
        </p:txBody>
      </p:sp>
    </p:spTree>
    <p:extLst>
      <p:ext uri="{BB962C8B-B14F-4D97-AF65-F5344CB8AC3E}">
        <p14:creationId xmlns:p14="http://schemas.microsoft.com/office/powerpoint/2010/main" val="23232109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CDD5840-54E1-4F3A-A9DD-80B4656E4B77}"/>
              </a:ext>
            </a:extLst>
          </p:cNvPr>
          <p:cNvSpPr txBox="1"/>
          <p:nvPr/>
        </p:nvSpPr>
        <p:spPr>
          <a:xfrm>
            <a:off x="389964" y="611698"/>
            <a:ext cx="11412071" cy="5355312"/>
          </a:xfrm>
          <a:prstGeom prst="rect">
            <a:avLst/>
          </a:prstGeom>
          <a:noFill/>
        </p:spPr>
        <p:txBody>
          <a:bodyPr wrap="square">
            <a:spAutoFit/>
          </a:bodyPr>
          <a:lstStyle/>
          <a:p>
            <a:r>
              <a:rPr lang="en-IN" b="1" dirty="0"/>
              <a:t>Query Optimization</a:t>
            </a:r>
          </a:p>
          <a:p>
            <a:endParaRPr lang="en-IN" b="1" dirty="0"/>
          </a:p>
          <a:p>
            <a:pPr algn="just"/>
            <a:r>
              <a:rPr lang="en-US" dirty="0"/>
              <a:t>The goal of query optimization is to select the best possible strategy for query evaluation.</a:t>
            </a:r>
          </a:p>
          <a:p>
            <a:pPr algn="just"/>
            <a:endParaRPr lang="en-US" b="1" dirty="0"/>
          </a:p>
          <a:p>
            <a:pPr algn="just"/>
            <a:r>
              <a:rPr lang="en-US" b="1" dirty="0"/>
              <a:t>Query Trees and Heuristics for Query Optimization</a:t>
            </a:r>
          </a:p>
          <a:p>
            <a:pPr algn="just"/>
            <a:endParaRPr lang="en-US" b="1" dirty="0"/>
          </a:p>
          <a:p>
            <a:pPr algn="just"/>
            <a:r>
              <a:rPr lang="en-US" dirty="0"/>
              <a:t>In this section, we discuss optimization techniques that apply heuristic rules to modify the internal representation of a query—which is usually in the form of a query tree or a query graph data structure—to improve its expected performance. </a:t>
            </a:r>
          </a:p>
          <a:p>
            <a:pPr algn="just"/>
            <a:endParaRPr lang="en-US" dirty="0"/>
          </a:p>
          <a:p>
            <a:pPr algn="just"/>
            <a:r>
              <a:rPr lang="en-US" b="1" dirty="0"/>
              <a:t>The scanner and parser </a:t>
            </a:r>
            <a:r>
              <a:rPr lang="en-US" dirty="0"/>
              <a:t>of an SQL query first generate a data structure that corresponds to an initial query representation, which is then optimized according to heuristic rules. </a:t>
            </a:r>
          </a:p>
          <a:p>
            <a:pPr algn="just"/>
            <a:endParaRPr lang="en-US" dirty="0"/>
          </a:p>
          <a:p>
            <a:pPr algn="just"/>
            <a:r>
              <a:rPr lang="en-US" dirty="0"/>
              <a:t>This leads to an optimized query representation, which corresponds to the query execution strategy. </a:t>
            </a:r>
          </a:p>
          <a:p>
            <a:pPr algn="just"/>
            <a:endParaRPr lang="en-US" dirty="0"/>
          </a:p>
          <a:p>
            <a:pPr algn="just"/>
            <a:r>
              <a:rPr lang="en-US" dirty="0"/>
              <a:t>Following that, a query execution plan is generated to execute groups of operations based on the access paths available on the files involved in the query.</a:t>
            </a:r>
            <a:endParaRPr lang="en-US" b="1" dirty="0"/>
          </a:p>
          <a:p>
            <a:pPr algn="just"/>
            <a:endParaRPr lang="en-US" b="1" dirty="0"/>
          </a:p>
          <a:p>
            <a:pPr algn="just"/>
            <a:endParaRPr lang="en-IN" b="1" dirty="0"/>
          </a:p>
        </p:txBody>
      </p:sp>
    </p:spTree>
    <p:extLst>
      <p:ext uri="{BB962C8B-B14F-4D97-AF65-F5344CB8AC3E}">
        <p14:creationId xmlns:p14="http://schemas.microsoft.com/office/powerpoint/2010/main" val="4158632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F5541B-C813-BF68-0113-534B44C7B55D}"/>
              </a:ext>
            </a:extLst>
          </p:cNvPr>
          <p:cNvSpPr txBox="1"/>
          <p:nvPr/>
        </p:nvSpPr>
        <p:spPr>
          <a:xfrm>
            <a:off x="546847" y="599746"/>
            <a:ext cx="11322424" cy="4832092"/>
          </a:xfrm>
          <a:prstGeom prst="rect">
            <a:avLst/>
          </a:prstGeom>
          <a:noFill/>
        </p:spPr>
        <p:txBody>
          <a:bodyPr wrap="square">
            <a:spAutoFit/>
          </a:bodyPr>
          <a:lstStyle/>
          <a:p>
            <a:r>
              <a:rPr lang="en-US" sz="2200" b="1" dirty="0"/>
              <a:t>Query Trees</a:t>
            </a:r>
          </a:p>
          <a:p>
            <a:endParaRPr lang="en-US" sz="2200" b="1" dirty="0"/>
          </a:p>
          <a:p>
            <a:pPr algn="just"/>
            <a:r>
              <a:rPr lang="en-US" sz="2200" b="1" dirty="0"/>
              <a:t>A query tree </a:t>
            </a:r>
            <a:r>
              <a:rPr lang="en-US" sz="2200" dirty="0"/>
              <a:t>is a tree data structure that corresponds to a relational algebra expression. </a:t>
            </a:r>
          </a:p>
          <a:p>
            <a:pPr algn="just"/>
            <a:endParaRPr lang="en-US" sz="2200" dirty="0"/>
          </a:p>
          <a:p>
            <a:pPr algn="just"/>
            <a:r>
              <a:rPr lang="en-US" sz="2200" dirty="0"/>
              <a:t>The input relations of the query are represented as leaf nodes of the tree and the relational algebra operations are represented as internal nodes. </a:t>
            </a:r>
          </a:p>
          <a:p>
            <a:pPr algn="just"/>
            <a:endParaRPr lang="en-US" sz="2200" dirty="0"/>
          </a:p>
          <a:p>
            <a:pPr algn="just"/>
            <a:r>
              <a:rPr lang="en-US" sz="2200" dirty="0"/>
              <a:t>The order of execution of operations starts at the leaf nodes and ends at the root node. </a:t>
            </a:r>
          </a:p>
          <a:p>
            <a:pPr algn="just"/>
            <a:endParaRPr lang="en-US" sz="2200" dirty="0"/>
          </a:p>
          <a:p>
            <a:pPr algn="just"/>
            <a:r>
              <a:rPr lang="en-US" sz="2200" dirty="0"/>
              <a:t>An operation at an internal node is executed whenever its operands are available and then that internal node is replaced by the relation that results from executing the operation. </a:t>
            </a:r>
          </a:p>
          <a:p>
            <a:pPr algn="just"/>
            <a:endParaRPr lang="en-US" sz="2200" dirty="0"/>
          </a:p>
          <a:p>
            <a:pPr algn="just"/>
            <a:r>
              <a:rPr lang="en-US" sz="2200" dirty="0"/>
              <a:t>The execution terminates when the root node operation is executed and produces the result relation for the query. </a:t>
            </a:r>
            <a:endParaRPr lang="en-IN" sz="2200" b="1" dirty="0"/>
          </a:p>
        </p:txBody>
      </p:sp>
    </p:spTree>
    <p:extLst>
      <p:ext uri="{BB962C8B-B14F-4D97-AF65-F5344CB8AC3E}">
        <p14:creationId xmlns:p14="http://schemas.microsoft.com/office/powerpoint/2010/main" val="3309630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1DEEFA-BA0E-86CF-B6D1-F7523F33C3B5}"/>
              </a:ext>
            </a:extLst>
          </p:cNvPr>
          <p:cNvSpPr txBox="1"/>
          <p:nvPr/>
        </p:nvSpPr>
        <p:spPr>
          <a:xfrm>
            <a:off x="573740" y="576480"/>
            <a:ext cx="11214847" cy="5909310"/>
          </a:xfrm>
          <a:prstGeom prst="rect">
            <a:avLst/>
          </a:prstGeom>
          <a:noFill/>
        </p:spPr>
        <p:txBody>
          <a:bodyPr wrap="square">
            <a:spAutoFit/>
          </a:bodyPr>
          <a:lstStyle/>
          <a:p>
            <a:pPr algn="just"/>
            <a:r>
              <a:rPr lang="en-US" dirty="0"/>
              <a:t>Consider the following query on the COMPANY relational schema: </a:t>
            </a:r>
          </a:p>
          <a:p>
            <a:pPr algn="just"/>
            <a:endParaRPr lang="en-US" dirty="0"/>
          </a:p>
          <a:p>
            <a:pPr algn="just"/>
            <a:r>
              <a:rPr lang="en-US" dirty="0"/>
              <a:t>For every project located in ‘Stafford’, retrieve the project number, the controlling department number, and the department manager’s last name, address, and birthdate. </a:t>
            </a:r>
          </a:p>
          <a:p>
            <a:pPr algn="just"/>
            <a:endParaRPr lang="en-US" dirty="0"/>
          </a:p>
          <a:p>
            <a:pPr algn="just"/>
            <a:r>
              <a:rPr lang="en-US" dirty="0"/>
              <a:t>The corresponding SQL query is: </a:t>
            </a:r>
          </a:p>
          <a:p>
            <a:pPr algn="just"/>
            <a:endParaRPr lang="en-US" dirty="0"/>
          </a:p>
          <a:p>
            <a:r>
              <a:rPr lang="en-IN" dirty="0"/>
              <a:t>	SELECT </a:t>
            </a:r>
            <a:r>
              <a:rPr lang="en-IN" dirty="0" err="1"/>
              <a:t>P.Pnumber</a:t>
            </a:r>
            <a:r>
              <a:rPr lang="en-IN" dirty="0"/>
              <a:t>, </a:t>
            </a:r>
            <a:r>
              <a:rPr lang="en-IN" dirty="0" err="1"/>
              <a:t>P.Dnum</a:t>
            </a:r>
            <a:r>
              <a:rPr lang="en-IN" dirty="0"/>
              <a:t>, </a:t>
            </a:r>
            <a:r>
              <a:rPr lang="en-IN" dirty="0" err="1"/>
              <a:t>E.Lname</a:t>
            </a:r>
            <a:r>
              <a:rPr lang="en-IN" dirty="0"/>
              <a:t>, </a:t>
            </a:r>
            <a:r>
              <a:rPr lang="en-IN" dirty="0" err="1"/>
              <a:t>E.Address</a:t>
            </a:r>
            <a:r>
              <a:rPr lang="en-IN" dirty="0"/>
              <a:t>, </a:t>
            </a:r>
            <a:r>
              <a:rPr lang="en-IN" dirty="0" err="1"/>
              <a:t>E.Bdate</a:t>
            </a:r>
            <a:r>
              <a:rPr lang="en-IN" dirty="0"/>
              <a:t> </a:t>
            </a:r>
          </a:p>
          <a:p>
            <a:r>
              <a:rPr lang="en-IN" dirty="0"/>
              <a:t>	FROM PROJECT P, DEPARTMENT D, EMPLOYEE E </a:t>
            </a:r>
          </a:p>
          <a:p>
            <a:r>
              <a:rPr lang="en-IN" dirty="0"/>
              <a:t>	WHERE </a:t>
            </a:r>
            <a:r>
              <a:rPr lang="en-IN" dirty="0" err="1"/>
              <a:t>P.Plocation</a:t>
            </a:r>
            <a:r>
              <a:rPr lang="en-IN" dirty="0"/>
              <a:t>= ‘Stafford’ AND </a:t>
            </a:r>
            <a:r>
              <a:rPr lang="en-IN" dirty="0" err="1"/>
              <a:t>P.Dnum</a:t>
            </a:r>
            <a:r>
              <a:rPr lang="en-IN" dirty="0"/>
              <a:t>=</a:t>
            </a:r>
            <a:r>
              <a:rPr lang="en-IN" dirty="0" err="1"/>
              <a:t>D.Dnumber</a:t>
            </a:r>
            <a:r>
              <a:rPr lang="en-IN" dirty="0"/>
              <a:t> AND </a:t>
            </a:r>
            <a:r>
              <a:rPr lang="en-IN" dirty="0" err="1"/>
              <a:t>D.Mgr_ssn</a:t>
            </a:r>
            <a:r>
              <a:rPr lang="en-IN" dirty="0"/>
              <a:t>=</a:t>
            </a:r>
            <a:r>
              <a:rPr lang="en-IN" dirty="0" err="1"/>
              <a:t>E.Ssn</a:t>
            </a:r>
            <a:r>
              <a:rPr lang="en-IN" dirty="0"/>
              <a:t>;</a:t>
            </a:r>
          </a:p>
          <a:p>
            <a:pPr algn="just"/>
            <a:endParaRPr lang="en-US" dirty="0"/>
          </a:p>
          <a:p>
            <a:pPr algn="just"/>
            <a:r>
              <a:rPr lang="en-US" dirty="0"/>
              <a:t>The corresponding relational algebra expression is:</a:t>
            </a:r>
          </a:p>
          <a:p>
            <a:pPr algn="just"/>
            <a:r>
              <a:rPr lang="en-US" dirty="0"/>
              <a:t> </a:t>
            </a:r>
          </a:p>
          <a:p>
            <a:r>
              <a:rPr lang="en-US" dirty="0"/>
              <a:t>π</a:t>
            </a:r>
            <a:r>
              <a:rPr lang="en-US" baseline="-25000" dirty="0" err="1"/>
              <a:t>Pnumber</a:t>
            </a:r>
            <a:r>
              <a:rPr lang="en-US" baseline="-25000" dirty="0"/>
              <a:t>, </a:t>
            </a:r>
            <a:r>
              <a:rPr lang="en-US" baseline="-25000" dirty="0" err="1"/>
              <a:t>Dnum</a:t>
            </a:r>
            <a:r>
              <a:rPr lang="en-US" baseline="-25000" dirty="0"/>
              <a:t>, </a:t>
            </a:r>
            <a:r>
              <a:rPr lang="en-US" baseline="-25000" dirty="0" err="1"/>
              <a:t>Lname</a:t>
            </a:r>
            <a:r>
              <a:rPr lang="en-US" baseline="-25000" dirty="0"/>
              <a:t>, Address, </a:t>
            </a:r>
            <a:r>
              <a:rPr lang="en-US" baseline="-25000" dirty="0" err="1"/>
              <a:t>Bdate</a:t>
            </a:r>
            <a:r>
              <a:rPr lang="en-US" baseline="-25000" dirty="0"/>
              <a:t> </a:t>
            </a:r>
            <a:r>
              <a:rPr lang="en-US" dirty="0"/>
              <a:t>(((</a:t>
            </a:r>
            <a:r>
              <a:rPr lang="en-US" dirty="0" err="1"/>
              <a:t>σ</a:t>
            </a:r>
            <a:r>
              <a:rPr lang="en-US" baseline="-25000" dirty="0" err="1"/>
              <a:t>Plocation</a:t>
            </a:r>
            <a:r>
              <a:rPr lang="en-US" baseline="-25000" dirty="0"/>
              <a:t>=‘Stafford’</a:t>
            </a:r>
            <a:r>
              <a:rPr lang="en-US" dirty="0"/>
              <a:t>(PROJECT))      </a:t>
            </a:r>
            <a:r>
              <a:rPr lang="en-US" baseline="-25000" dirty="0" err="1"/>
              <a:t>Dnum</a:t>
            </a:r>
            <a:r>
              <a:rPr lang="en-US" baseline="-25000" dirty="0"/>
              <a:t>=</a:t>
            </a:r>
            <a:r>
              <a:rPr lang="en-US" baseline="-25000" dirty="0" err="1"/>
              <a:t>Dnumber</a:t>
            </a:r>
            <a:r>
              <a:rPr lang="en-US" dirty="0"/>
              <a:t>(DEPARTMENT))      </a:t>
            </a:r>
            <a:r>
              <a:rPr lang="en-US" baseline="-25000" dirty="0" err="1"/>
              <a:t>Mgr_ssn</a:t>
            </a:r>
            <a:r>
              <a:rPr lang="en-US" baseline="-25000" dirty="0"/>
              <a:t>=</a:t>
            </a:r>
            <a:r>
              <a:rPr lang="en-US" baseline="-25000" dirty="0" err="1"/>
              <a:t>Ssn</a:t>
            </a:r>
            <a:r>
              <a:rPr lang="en-US" dirty="0"/>
              <a:t>(EMPLOYEE))</a:t>
            </a:r>
          </a:p>
          <a:p>
            <a:endParaRPr lang="en-US" dirty="0"/>
          </a:p>
          <a:p>
            <a:pPr algn="just"/>
            <a:r>
              <a:rPr lang="en-US" dirty="0"/>
              <a:t>Figure 19.1(a) shows a query tree for the above query. The leaf nodes P, D, and E represent the three relations PROJECT, DEPARTMENT, and EMPLOYEE, respectively, and the internal nodes represent the relational algebra operations of the expression. </a:t>
            </a:r>
          </a:p>
          <a:p>
            <a:pPr algn="just"/>
            <a:endParaRPr lang="en-US" dirty="0"/>
          </a:p>
          <a:p>
            <a:pPr algn="just"/>
            <a:r>
              <a:rPr lang="en-US" dirty="0"/>
              <a:t>When this query tree is executed, the node marked (1) in Figure 19.1(a) must begin execution before node (2) because some resulting tuples of operation (1) must be available before we can begin executing operation (2). </a:t>
            </a:r>
            <a:endParaRPr lang="en-IN" dirty="0"/>
          </a:p>
        </p:txBody>
      </p:sp>
      <p:pic>
        <p:nvPicPr>
          <p:cNvPr id="19" name="Picture 18">
            <a:extLst>
              <a:ext uri="{FF2B5EF4-FFF2-40B4-BE49-F238E27FC236}">
                <a16:creationId xmlns:a16="http://schemas.microsoft.com/office/drawing/2014/main" id="{ABC529C2-5266-9F23-5845-97B5424B6EA7}"/>
              </a:ext>
            </a:extLst>
          </p:cNvPr>
          <p:cNvPicPr>
            <a:picLocks noChangeAspect="1"/>
          </p:cNvPicPr>
          <p:nvPr/>
        </p:nvPicPr>
        <p:blipFill>
          <a:blip r:embed="rId2"/>
          <a:stretch>
            <a:fillRect/>
          </a:stretch>
        </p:blipFill>
        <p:spPr>
          <a:xfrm>
            <a:off x="5962086" y="4250949"/>
            <a:ext cx="238125" cy="200025"/>
          </a:xfrm>
          <a:prstGeom prst="rect">
            <a:avLst/>
          </a:prstGeom>
        </p:spPr>
      </p:pic>
      <p:pic>
        <p:nvPicPr>
          <p:cNvPr id="20" name="Picture 19">
            <a:extLst>
              <a:ext uri="{FF2B5EF4-FFF2-40B4-BE49-F238E27FC236}">
                <a16:creationId xmlns:a16="http://schemas.microsoft.com/office/drawing/2014/main" id="{6998F08B-DFE2-00EC-731A-028096FCEDAB}"/>
              </a:ext>
            </a:extLst>
          </p:cNvPr>
          <p:cNvPicPr>
            <a:picLocks noChangeAspect="1"/>
          </p:cNvPicPr>
          <p:nvPr/>
        </p:nvPicPr>
        <p:blipFill>
          <a:blip r:embed="rId2"/>
          <a:stretch>
            <a:fillRect/>
          </a:stretch>
        </p:blipFill>
        <p:spPr>
          <a:xfrm>
            <a:off x="8756273" y="4250948"/>
            <a:ext cx="238125" cy="200025"/>
          </a:xfrm>
          <a:prstGeom prst="rect">
            <a:avLst/>
          </a:prstGeom>
        </p:spPr>
      </p:pic>
    </p:spTree>
    <p:extLst>
      <p:ext uri="{BB962C8B-B14F-4D97-AF65-F5344CB8AC3E}">
        <p14:creationId xmlns:p14="http://schemas.microsoft.com/office/powerpoint/2010/main" val="3148679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02FE619-6F85-A9A5-6CE9-CB68D4A06767}"/>
              </a:ext>
            </a:extLst>
          </p:cNvPr>
          <p:cNvPicPr>
            <a:picLocks noChangeAspect="1"/>
          </p:cNvPicPr>
          <p:nvPr/>
        </p:nvPicPr>
        <p:blipFill>
          <a:blip r:embed="rId2"/>
          <a:stretch>
            <a:fillRect/>
          </a:stretch>
        </p:blipFill>
        <p:spPr>
          <a:xfrm>
            <a:off x="2142566" y="1219200"/>
            <a:ext cx="7458634" cy="5531224"/>
          </a:xfrm>
          <a:prstGeom prst="rect">
            <a:avLst/>
          </a:prstGeom>
        </p:spPr>
      </p:pic>
    </p:spTree>
    <p:extLst>
      <p:ext uri="{BB962C8B-B14F-4D97-AF65-F5344CB8AC3E}">
        <p14:creationId xmlns:p14="http://schemas.microsoft.com/office/powerpoint/2010/main" val="593710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DB6DBF-58AC-63B6-D8A7-9366B655D4A0}"/>
              </a:ext>
            </a:extLst>
          </p:cNvPr>
          <p:cNvSpPr txBox="1"/>
          <p:nvPr/>
        </p:nvSpPr>
        <p:spPr>
          <a:xfrm>
            <a:off x="582705" y="550894"/>
            <a:ext cx="11295529" cy="5355312"/>
          </a:xfrm>
          <a:prstGeom prst="rect">
            <a:avLst/>
          </a:prstGeom>
          <a:noFill/>
        </p:spPr>
        <p:txBody>
          <a:bodyPr wrap="square">
            <a:spAutoFit/>
          </a:bodyPr>
          <a:lstStyle/>
          <a:p>
            <a:pPr algn="just"/>
            <a:r>
              <a:rPr lang="en-US" dirty="0"/>
              <a:t>Similarly, node (2) must begin executing and producing results before node (3) can start execution, and so on.</a:t>
            </a:r>
          </a:p>
          <a:p>
            <a:pPr algn="just"/>
            <a:endParaRPr lang="en-US" dirty="0"/>
          </a:p>
          <a:p>
            <a:pPr algn="just"/>
            <a:r>
              <a:rPr lang="en-US" b="1" dirty="0"/>
              <a:t>Query Graphs</a:t>
            </a:r>
          </a:p>
          <a:p>
            <a:pPr algn="just"/>
            <a:endParaRPr lang="en-US" b="1" dirty="0"/>
          </a:p>
          <a:p>
            <a:pPr algn="just"/>
            <a:r>
              <a:rPr lang="en-US" dirty="0"/>
              <a:t>A more neutral data structure for representation of a query is the query graph notation. </a:t>
            </a:r>
          </a:p>
          <a:p>
            <a:pPr algn="just"/>
            <a:endParaRPr lang="en-US" dirty="0"/>
          </a:p>
          <a:p>
            <a:pPr algn="just"/>
            <a:r>
              <a:rPr lang="en-US" dirty="0"/>
              <a:t>Figure 19.1(c) shows the query graph for the above query. </a:t>
            </a:r>
          </a:p>
          <a:p>
            <a:pPr algn="just"/>
            <a:endParaRPr lang="en-US" dirty="0"/>
          </a:p>
          <a:p>
            <a:pPr algn="just"/>
            <a:r>
              <a:rPr lang="en-US" dirty="0"/>
              <a:t>Relations in the query are represented by relation nodes, which are displayed as single circles. </a:t>
            </a:r>
          </a:p>
          <a:p>
            <a:pPr algn="just"/>
            <a:endParaRPr lang="en-US" dirty="0"/>
          </a:p>
          <a:p>
            <a:pPr algn="just"/>
            <a:r>
              <a:rPr lang="en-US" dirty="0"/>
              <a:t>Constant values, typically from the query selection conditions, are represented by constant nodes, which are displayed as double circles or ovals. </a:t>
            </a:r>
          </a:p>
          <a:p>
            <a:pPr algn="just"/>
            <a:endParaRPr lang="en-US" dirty="0"/>
          </a:p>
          <a:p>
            <a:pPr algn="just"/>
            <a:r>
              <a:rPr lang="en-US" dirty="0"/>
              <a:t>Selection and join conditions are represented by the graph edges, as shown in Figure 19.1(c). </a:t>
            </a:r>
          </a:p>
          <a:p>
            <a:pPr algn="just"/>
            <a:endParaRPr lang="en-US" dirty="0"/>
          </a:p>
          <a:p>
            <a:pPr algn="just"/>
            <a:r>
              <a:rPr lang="en-US" dirty="0"/>
              <a:t>Finally, the attributes to be retrieved from each relation are displayed in square brackets above each relation. </a:t>
            </a:r>
          </a:p>
          <a:p>
            <a:pPr algn="just"/>
            <a:endParaRPr lang="en-US" dirty="0"/>
          </a:p>
          <a:p>
            <a:pPr algn="just"/>
            <a:r>
              <a:rPr lang="en-US" dirty="0"/>
              <a:t>The query graph representation does not indicate an order on which operations to perform first. There is only a single graph corresponding to each query.</a:t>
            </a:r>
            <a:endParaRPr lang="en-IN" dirty="0"/>
          </a:p>
        </p:txBody>
      </p:sp>
    </p:spTree>
    <p:extLst>
      <p:ext uri="{BB962C8B-B14F-4D97-AF65-F5344CB8AC3E}">
        <p14:creationId xmlns:p14="http://schemas.microsoft.com/office/powerpoint/2010/main" val="36325939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CE42C3-C9B8-067E-9976-325C8BF9CB75}"/>
              </a:ext>
            </a:extLst>
          </p:cNvPr>
          <p:cNvSpPr txBox="1"/>
          <p:nvPr/>
        </p:nvSpPr>
        <p:spPr>
          <a:xfrm>
            <a:off x="582706" y="751344"/>
            <a:ext cx="11223812" cy="5909310"/>
          </a:xfrm>
          <a:prstGeom prst="rect">
            <a:avLst/>
          </a:prstGeom>
          <a:noFill/>
        </p:spPr>
        <p:txBody>
          <a:bodyPr wrap="square">
            <a:spAutoFit/>
          </a:bodyPr>
          <a:lstStyle/>
          <a:p>
            <a:pPr algn="just"/>
            <a:r>
              <a:rPr lang="en-US" b="1" dirty="0"/>
              <a:t>Heuristic Optimization of Query Trees</a:t>
            </a:r>
          </a:p>
          <a:p>
            <a:pPr algn="just"/>
            <a:endParaRPr lang="en-US" dirty="0"/>
          </a:p>
          <a:p>
            <a:pPr algn="just"/>
            <a:r>
              <a:rPr lang="en-US" dirty="0"/>
              <a:t>Many different relational algebra expressions—and hence many different query trees—can be generated for the same SQL query.</a:t>
            </a:r>
          </a:p>
          <a:p>
            <a:pPr algn="just"/>
            <a:endParaRPr lang="en-US" dirty="0"/>
          </a:p>
          <a:p>
            <a:pPr algn="just"/>
            <a:r>
              <a:rPr lang="en-US" dirty="0"/>
              <a:t>For an SQL query, the query parser will typically generate a standard initial query tree without doing any optimization. </a:t>
            </a:r>
          </a:p>
          <a:p>
            <a:pPr algn="just"/>
            <a:endParaRPr lang="en-US" dirty="0"/>
          </a:p>
          <a:p>
            <a:pPr algn="just"/>
            <a:r>
              <a:rPr lang="en-US" dirty="0"/>
              <a:t>For example, for a SELECT-PROJECT-JOIN query, the initial tree is shown in Figure 19.1(b). </a:t>
            </a:r>
          </a:p>
          <a:p>
            <a:pPr algn="just"/>
            <a:endParaRPr lang="en-US" dirty="0"/>
          </a:p>
          <a:p>
            <a:pPr algn="just"/>
            <a:r>
              <a:rPr lang="en-US" dirty="0"/>
              <a:t>The CARTESIAN PRODUCT of the relations specified in the FROM clause is first applied; then the selection and join conditions of the WHERE clause are applied, followed by the projection on the SELECT clause attributes. </a:t>
            </a:r>
          </a:p>
          <a:p>
            <a:pPr algn="just"/>
            <a:endParaRPr lang="en-US" dirty="0"/>
          </a:p>
          <a:p>
            <a:pPr algn="just"/>
            <a:r>
              <a:rPr lang="en-US" dirty="0"/>
              <a:t>Such a canonical query tree represents a relational algebra expression that is very inefficient if executed directly, because of the CARTESIAN PRODUCT (×) operations. </a:t>
            </a:r>
          </a:p>
          <a:p>
            <a:pPr algn="just"/>
            <a:endParaRPr lang="en-US" dirty="0"/>
          </a:p>
          <a:p>
            <a:pPr algn="just"/>
            <a:r>
              <a:rPr lang="en-US" dirty="0"/>
              <a:t>For example, if the PROJECT, DEPARTMENT, and EMPLOYEE relations had record sizes of 100, 50, and 150 bytes and contained 100, 20, and 5,000 tuples, respectively, the result of the CARTESIAN PRODUCT would contain 10 million tuples of record size 300 bytes each. </a:t>
            </a:r>
          </a:p>
          <a:p>
            <a:pPr algn="just"/>
            <a:endParaRPr lang="en-US" dirty="0"/>
          </a:p>
          <a:p>
            <a:pPr algn="just"/>
            <a:r>
              <a:rPr lang="en-US" dirty="0"/>
              <a:t>The heuristic query optimizer will transform this initial query tree into an equivalent final query tree that is efficient to execute.</a:t>
            </a:r>
          </a:p>
        </p:txBody>
      </p:sp>
    </p:spTree>
    <p:extLst>
      <p:ext uri="{BB962C8B-B14F-4D97-AF65-F5344CB8AC3E}">
        <p14:creationId xmlns:p14="http://schemas.microsoft.com/office/powerpoint/2010/main" val="11181644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F089D6-136C-8529-F0D9-5562BC31B65E}"/>
              </a:ext>
            </a:extLst>
          </p:cNvPr>
          <p:cNvSpPr txBox="1"/>
          <p:nvPr/>
        </p:nvSpPr>
        <p:spPr>
          <a:xfrm>
            <a:off x="618564" y="758897"/>
            <a:ext cx="11098306" cy="4038029"/>
          </a:xfrm>
          <a:prstGeom prst="rect">
            <a:avLst/>
          </a:prstGeom>
          <a:noFill/>
        </p:spPr>
        <p:txBody>
          <a:bodyPr wrap="square">
            <a:spAutoFit/>
          </a:bodyPr>
          <a:lstStyle/>
          <a:p>
            <a:pPr algn="just"/>
            <a:endParaRPr lang="en-US" dirty="0"/>
          </a:p>
          <a:p>
            <a:pPr algn="just"/>
            <a:r>
              <a:rPr lang="en-US" b="1" dirty="0"/>
              <a:t>General Transformation Rules for Relational Algebra Operations</a:t>
            </a:r>
          </a:p>
          <a:p>
            <a:pPr algn="just"/>
            <a:endParaRPr lang="en-US" b="1" dirty="0"/>
          </a:p>
          <a:p>
            <a:pPr algn="just"/>
            <a:r>
              <a:rPr lang="en-US" dirty="0"/>
              <a:t>Some transformation rules that are useful in query optimization are:</a:t>
            </a:r>
          </a:p>
          <a:p>
            <a:pPr algn="just"/>
            <a:endParaRPr lang="en-US" dirty="0"/>
          </a:p>
          <a:p>
            <a:pPr algn="just">
              <a:lnSpc>
                <a:spcPct val="80000"/>
              </a:lnSpc>
              <a:buFont typeface="Wingdings" panose="05000000000000000000" pitchFamily="2" charset="2"/>
              <a:buNone/>
            </a:pPr>
            <a:r>
              <a:rPr lang="en-US" altLang="en-US" sz="2000" dirty="0"/>
              <a:t>1. </a:t>
            </a:r>
            <a:r>
              <a:rPr lang="en-US" altLang="en-US" sz="2000" b="1" dirty="0"/>
              <a:t>Cascade of </a:t>
            </a:r>
            <a:r>
              <a:rPr lang="en-US" altLang="en-US" sz="2400" b="1" dirty="0">
                <a:latin typeface="Symbol" panose="05050102010706020507" pitchFamily="18" charset="2"/>
              </a:rPr>
              <a:t>s</a:t>
            </a:r>
            <a:r>
              <a:rPr lang="en-US" altLang="en-US" sz="2000" dirty="0"/>
              <a:t>: A conjunctive selection condition can be broken up into a cascade (sequence) of individual </a:t>
            </a:r>
            <a:r>
              <a:rPr lang="en-US" altLang="en-US" sz="2400" dirty="0">
                <a:latin typeface="Symbol" panose="05050102010706020507" pitchFamily="18" charset="2"/>
              </a:rPr>
              <a:t>s</a:t>
            </a:r>
            <a:r>
              <a:rPr lang="en-US" altLang="en-US" sz="2000" dirty="0"/>
              <a:t> operations:</a:t>
            </a:r>
          </a:p>
          <a:p>
            <a:pPr lvl="1">
              <a:lnSpc>
                <a:spcPct val="80000"/>
              </a:lnSpc>
            </a:pPr>
            <a:r>
              <a:rPr lang="en-US" altLang="en-US" sz="2400" dirty="0">
                <a:latin typeface="Symbol" panose="05050102010706020507" pitchFamily="18" charset="2"/>
              </a:rPr>
              <a:t>s</a:t>
            </a:r>
            <a:r>
              <a:rPr lang="en-US" altLang="en-US" sz="2000" dirty="0"/>
              <a:t> </a:t>
            </a:r>
            <a:r>
              <a:rPr lang="en-US" altLang="en-US" sz="2000" baseline="-25000" dirty="0"/>
              <a:t>c1 AND c2 AND ... AND </a:t>
            </a:r>
            <a:r>
              <a:rPr lang="en-US" altLang="en-US" sz="2000" baseline="-25000" dirty="0" err="1"/>
              <a:t>cn</a:t>
            </a:r>
            <a:r>
              <a:rPr lang="en-US" altLang="en-US" sz="2000" dirty="0"/>
              <a:t>(R) = </a:t>
            </a:r>
            <a:r>
              <a:rPr lang="en-US" altLang="en-US" sz="2400" dirty="0">
                <a:latin typeface="Symbol" panose="05050102010706020507" pitchFamily="18" charset="2"/>
              </a:rPr>
              <a:t>s</a:t>
            </a:r>
            <a:r>
              <a:rPr lang="en-US" altLang="en-US" sz="2000" baseline="-25000" dirty="0"/>
              <a:t>c1</a:t>
            </a:r>
            <a:r>
              <a:rPr lang="en-US" altLang="en-US" sz="2000" dirty="0"/>
              <a:t> (</a:t>
            </a:r>
            <a:r>
              <a:rPr lang="en-US" altLang="en-US" sz="2400" dirty="0">
                <a:latin typeface="Symbol" panose="05050102010706020507" pitchFamily="18" charset="2"/>
              </a:rPr>
              <a:t>s</a:t>
            </a:r>
            <a:r>
              <a:rPr lang="en-US" altLang="en-US" sz="2000" baseline="-25000" dirty="0"/>
              <a:t>c2</a:t>
            </a:r>
            <a:r>
              <a:rPr lang="en-US" altLang="en-US" sz="2000" dirty="0"/>
              <a:t> (...(</a:t>
            </a:r>
            <a:r>
              <a:rPr lang="en-US" altLang="en-US" sz="2400" dirty="0" err="1">
                <a:latin typeface="Symbol" panose="05050102010706020507" pitchFamily="18" charset="2"/>
              </a:rPr>
              <a:t>s</a:t>
            </a:r>
            <a:r>
              <a:rPr lang="en-US" altLang="en-US" sz="2000" baseline="-25000" dirty="0" err="1"/>
              <a:t>cn</a:t>
            </a:r>
            <a:r>
              <a:rPr lang="en-US" altLang="en-US" sz="2000" dirty="0"/>
              <a:t>(R))...) ) 	</a:t>
            </a:r>
          </a:p>
          <a:p>
            <a:pPr>
              <a:lnSpc>
                <a:spcPct val="80000"/>
              </a:lnSpc>
              <a:buFont typeface="Wingdings" panose="05000000000000000000" pitchFamily="2" charset="2"/>
              <a:buNone/>
            </a:pPr>
            <a:endParaRPr lang="en-US" altLang="en-US" sz="2000" dirty="0"/>
          </a:p>
          <a:p>
            <a:pPr algn="just">
              <a:lnSpc>
                <a:spcPct val="80000"/>
              </a:lnSpc>
              <a:buFont typeface="Wingdings" panose="05000000000000000000" pitchFamily="2" charset="2"/>
              <a:buNone/>
            </a:pPr>
            <a:r>
              <a:rPr lang="en-US" altLang="en-US" sz="2000" dirty="0"/>
              <a:t>2. </a:t>
            </a:r>
            <a:r>
              <a:rPr lang="en-US" altLang="en-US" sz="2000" b="1" dirty="0"/>
              <a:t>Commutativity of </a:t>
            </a:r>
            <a:r>
              <a:rPr lang="en-US" altLang="en-US" sz="2400" b="1" dirty="0">
                <a:latin typeface="Symbol" panose="05050102010706020507" pitchFamily="18" charset="2"/>
              </a:rPr>
              <a:t>s</a:t>
            </a:r>
            <a:r>
              <a:rPr lang="en-US" altLang="en-US" sz="2000" dirty="0"/>
              <a:t>: The </a:t>
            </a:r>
            <a:r>
              <a:rPr lang="en-US" altLang="en-US" sz="2400" dirty="0">
                <a:latin typeface="Symbol" panose="05050102010706020507" pitchFamily="18" charset="2"/>
              </a:rPr>
              <a:t>s</a:t>
            </a:r>
            <a:r>
              <a:rPr lang="en-US" altLang="en-US" sz="2000" dirty="0"/>
              <a:t> operation is commutative:</a:t>
            </a:r>
          </a:p>
          <a:p>
            <a:pPr lvl="1">
              <a:lnSpc>
                <a:spcPct val="80000"/>
              </a:lnSpc>
            </a:pPr>
            <a:r>
              <a:rPr lang="en-US" altLang="en-US" sz="2400" dirty="0">
                <a:latin typeface="Symbol" panose="05050102010706020507" pitchFamily="18" charset="2"/>
              </a:rPr>
              <a:t>s</a:t>
            </a:r>
            <a:r>
              <a:rPr lang="en-US" altLang="en-US" sz="2000" baseline="-25000" dirty="0"/>
              <a:t>c1</a:t>
            </a:r>
            <a:r>
              <a:rPr lang="en-US" altLang="en-US" sz="2000" dirty="0"/>
              <a:t> (</a:t>
            </a:r>
            <a:r>
              <a:rPr lang="en-US" altLang="en-US" sz="2400" dirty="0">
                <a:latin typeface="Symbol" panose="05050102010706020507" pitchFamily="18" charset="2"/>
              </a:rPr>
              <a:t>s</a:t>
            </a:r>
            <a:r>
              <a:rPr lang="en-US" altLang="en-US" sz="2000" baseline="-25000" dirty="0"/>
              <a:t>c2</a:t>
            </a:r>
            <a:r>
              <a:rPr lang="en-US" altLang="en-US" sz="2000" dirty="0"/>
              <a:t>(R)) = </a:t>
            </a:r>
            <a:r>
              <a:rPr lang="en-US" altLang="en-US" sz="2400" dirty="0">
                <a:latin typeface="Symbol" panose="05050102010706020507" pitchFamily="18" charset="2"/>
              </a:rPr>
              <a:t>s</a:t>
            </a:r>
            <a:r>
              <a:rPr lang="en-US" altLang="en-US" sz="2000" baseline="-25000" dirty="0"/>
              <a:t>c2</a:t>
            </a:r>
            <a:r>
              <a:rPr lang="en-US" altLang="en-US" sz="2000" dirty="0"/>
              <a:t> (</a:t>
            </a:r>
            <a:r>
              <a:rPr lang="en-US" altLang="en-US" sz="2400" dirty="0">
                <a:latin typeface="Symbol" panose="05050102010706020507" pitchFamily="18" charset="2"/>
              </a:rPr>
              <a:t>s</a:t>
            </a:r>
            <a:r>
              <a:rPr lang="en-US" altLang="en-US" sz="2000" baseline="-25000" dirty="0"/>
              <a:t>c1</a:t>
            </a:r>
            <a:r>
              <a:rPr lang="en-US" altLang="en-US" sz="2000" dirty="0"/>
              <a:t>(R)) </a:t>
            </a:r>
          </a:p>
          <a:p>
            <a:pPr lvl="1">
              <a:lnSpc>
                <a:spcPct val="80000"/>
              </a:lnSpc>
            </a:pPr>
            <a:endParaRPr lang="en-US" altLang="en-US" sz="2000" dirty="0"/>
          </a:p>
          <a:p>
            <a:pPr algn="just">
              <a:lnSpc>
                <a:spcPct val="80000"/>
              </a:lnSpc>
              <a:buFont typeface="Wingdings" panose="05000000000000000000" pitchFamily="2" charset="2"/>
              <a:buNone/>
            </a:pPr>
            <a:r>
              <a:rPr lang="en-US" altLang="en-US" sz="2000" dirty="0"/>
              <a:t>3. </a:t>
            </a:r>
            <a:r>
              <a:rPr lang="en-US" altLang="en-US" sz="2000" b="1" dirty="0"/>
              <a:t>Cascade of </a:t>
            </a:r>
            <a:r>
              <a:rPr lang="en-US" altLang="en-US" sz="2400" b="1" dirty="0">
                <a:latin typeface="Symbol" panose="05050102010706020507" pitchFamily="18" charset="2"/>
              </a:rPr>
              <a:t>p</a:t>
            </a:r>
            <a:r>
              <a:rPr lang="en-US" altLang="en-US" sz="2000" dirty="0"/>
              <a:t>: In a cascade (sequence) of </a:t>
            </a:r>
            <a:r>
              <a:rPr lang="en-US" altLang="en-US" sz="2400" dirty="0">
                <a:latin typeface="Symbol" panose="05050102010706020507" pitchFamily="18" charset="2"/>
              </a:rPr>
              <a:t>p</a:t>
            </a:r>
            <a:r>
              <a:rPr lang="en-US" altLang="en-US" sz="2000" dirty="0"/>
              <a:t> operations, all but the last one can be ignored: </a:t>
            </a:r>
          </a:p>
          <a:p>
            <a:pPr lvl="1">
              <a:lnSpc>
                <a:spcPct val="80000"/>
              </a:lnSpc>
            </a:pPr>
            <a:r>
              <a:rPr lang="en-US" altLang="en-US" sz="2400" dirty="0">
                <a:latin typeface="Symbol" panose="05050102010706020507" pitchFamily="18" charset="2"/>
              </a:rPr>
              <a:t>p</a:t>
            </a:r>
            <a:r>
              <a:rPr lang="en-US" altLang="en-US" sz="2000" baseline="-25000" dirty="0"/>
              <a:t>List1</a:t>
            </a:r>
            <a:r>
              <a:rPr lang="en-US" altLang="en-US" sz="2000" dirty="0"/>
              <a:t> (</a:t>
            </a:r>
            <a:r>
              <a:rPr lang="en-US" altLang="en-US" sz="2400" dirty="0">
                <a:latin typeface="Symbol" panose="05050102010706020507" pitchFamily="18" charset="2"/>
              </a:rPr>
              <a:t>p</a:t>
            </a:r>
            <a:r>
              <a:rPr lang="en-US" altLang="en-US" sz="2000" baseline="-25000" dirty="0"/>
              <a:t>List2</a:t>
            </a:r>
            <a:r>
              <a:rPr lang="en-US" altLang="en-US" sz="2000" dirty="0"/>
              <a:t> (...(</a:t>
            </a:r>
            <a:r>
              <a:rPr lang="en-US" altLang="en-US" sz="2400" dirty="0" err="1">
                <a:latin typeface="Symbol" panose="05050102010706020507" pitchFamily="18" charset="2"/>
              </a:rPr>
              <a:t>p</a:t>
            </a:r>
            <a:r>
              <a:rPr lang="en-US" altLang="en-US" sz="2000" baseline="-25000" dirty="0" err="1"/>
              <a:t>Listn</a:t>
            </a:r>
            <a:r>
              <a:rPr lang="en-US" altLang="en-US" sz="2000" dirty="0"/>
              <a:t>(R))...) ) = </a:t>
            </a:r>
            <a:r>
              <a:rPr lang="en-US" altLang="en-US" sz="2400" dirty="0">
                <a:latin typeface="Symbol" panose="05050102010706020507" pitchFamily="18" charset="2"/>
              </a:rPr>
              <a:t>p</a:t>
            </a:r>
            <a:r>
              <a:rPr lang="en-US" altLang="en-US" sz="2000" baseline="-25000" dirty="0"/>
              <a:t>List1</a:t>
            </a:r>
            <a:r>
              <a:rPr lang="en-US" altLang="en-US" sz="2000" dirty="0"/>
              <a:t>(R) </a:t>
            </a:r>
            <a:endParaRPr lang="en-IN" b="1" dirty="0"/>
          </a:p>
        </p:txBody>
      </p:sp>
    </p:spTree>
    <p:extLst>
      <p:ext uri="{BB962C8B-B14F-4D97-AF65-F5344CB8AC3E}">
        <p14:creationId xmlns:p14="http://schemas.microsoft.com/office/powerpoint/2010/main" val="3319897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59D40F-77E6-C8C2-26EC-7E23414E98F7}"/>
              </a:ext>
            </a:extLst>
          </p:cNvPr>
          <p:cNvSpPr txBox="1"/>
          <p:nvPr/>
        </p:nvSpPr>
        <p:spPr>
          <a:xfrm>
            <a:off x="502024" y="484597"/>
            <a:ext cx="11187952" cy="5164491"/>
          </a:xfrm>
          <a:prstGeom prst="rect">
            <a:avLst/>
          </a:prstGeom>
          <a:noFill/>
        </p:spPr>
        <p:txBody>
          <a:bodyPr wrap="square">
            <a:spAutoFit/>
          </a:bodyPr>
          <a:lstStyle/>
          <a:p>
            <a:pPr algn="just">
              <a:lnSpc>
                <a:spcPct val="80000"/>
              </a:lnSpc>
              <a:buFont typeface="Wingdings" panose="05000000000000000000" pitchFamily="2" charset="2"/>
              <a:buNone/>
            </a:pPr>
            <a:r>
              <a:rPr lang="en-US" altLang="en-US" sz="2000" dirty="0"/>
              <a:t>4. </a:t>
            </a:r>
            <a:r>
              <a:rPr lang="en-US" altLang="en-US" sz="2000" b="1" dirty="0"/>
              <a:t>Commuting </a:t>
            </a:r>
            <a:r>
              <a:rPr lang="en-US" altLang="en-US" sz="2400" b="1" dirty="0">
                <a:latin typeface="Symbol" panose="05050102010706020507" pitchFamily="18" charset="2"/>
              </a:rPr>
              <a:t>s</a:t>
            </a:r>
            <a:r>
              <a:rPr lang="en-US" altLang="en-US" sz="2000" b="1" dirty="0"/>
              <a:t> with </a:t>
            </a:r>
            <a:r>
              <a:rPr lang="en-US" altLang="en-US" sz="2400" b="1" dirty="0">
                <a:latin typeface="Symbol" panose="05050102010706020507" pitchFamily="18" charset="2"/>
              </a:rPr>
              <a:t>p</a:t>
            </a:r>
            <a:r>
              <a:rPr lang="en-US" altLang="en-US" sz="2000" dirty="0"/>
              <a:t>: If the selection condition c involves only the attributes A1, ..., An in the projection list, the two operations can be commuted:</a:t>
            </a:r>
          </a:p>
          <a:p>
            <a:pPr lvl="1">
              <a:lnSpc>
                <a:spcPct val="80000"/>
              </a:lnSpc>
            </a:pPr>
            <a:r>
              <a:rPr lang="en-US" altLang="en-US" sz="2400" dirty="0">
                <a:latin typeface="Symbol" panose="05050102010706020507" pitchFamily="18" charset="2"/>
              </a:rPr>
              <a:t>p</a:t>
            </a:r>
            <a:r>
              <a:rPr lang="en-US" altLang="en-US" sz="2000" baseline="-25000" dirty="0"/>
              <a:t>A1, A2, ..., An</a:t>
            </a:r>
            <a:r>
              <a:rPr lang="en-US" altLang="en-US" sz="2000" dirty="0"/>
              <a:t> (</a:t>
            </a:r>
            <a:r>
              <a:rPr lang="en-US" altLang="en-US" sz="2400" dirty="0" err="1">
                <a:latin typeface="Symbol" panose="05050102010706020507" pitchFamily="18" charset="2"/>
              </a:rPr>
              <a:t>s</a:t>
            </a:r>
            <a:r>
              <a:rPr lang="en-US" altLang="en-US" sz="2000" baseline="-25000" dirty="0" err="1"/>
              <a:t>c</a:t>
            </a:r>
            <a:r>
              <a:rPr lang="en-US" altLang="en-US" sz="2000" dirty="0"/>
              <a:t> (R)) = </a:t>
            </a:r>
            <a:r>
              <a:rPr lang="en-US" altLang="en-US" sz="2400" dirty="0" err="1">
                <a:latin typeface="Symbol" panose="05050102010706020507" pitchFamily="18" charset="2"/>
              </a:rPr>
              <a:t>s</a:t>
            </a:r>
            <a:r>
              <a:rPr lang="en-US" altLang="en-US" sz="2000" baseline="-25000" dirty="0" err="1"/>
              <a:t>c</a:t>
            </a:r>
            <a:r>
              <a:rPr lang="en-US" altLang="en-US" sz="2000" dirty="0"/>
              <a:t> (</a:t>
            </a:r>
            <a:r>
              <a:rPr lang="en-US" altLang="en-US" sz="2400" dirty="0">
                <a:latin typeface="Symbol" panose="05050102010706020507" pitchFamily="18" charset="2"/>
              </a:rPr>
              <a:t>p</a:t>
            </a:r>
            <a:r>
              <a:rPr lang="en-US" altLang="en-US" sz="2000" baseline="-25000" dirty="0"/>
              <a:t>A1, A2, ..., An</a:t>
            </a:r>
            <a:r>
              <a:rPr lang="en-US" altLang="en-US" sz="2000" dirty="0"/>
              <a:t> (R)) </a:t>
            </a:r>
          </a:p>
          <a:p>
            <a:pPr lvl="1">
              <a:lnSpc>
                <a:spcPct val="80000"/>
              </a:lnSpc>
            </a:pPr>
            <a:endParaRPr lang="en-US" altLang="en-US" sz="2000" dirty="0"/>
          </a:p>
          <a:p>
            <a:pPr>
              <a:lnSpc>
                <a:spcPct val="90000"/>
              </a:lnSpc>
              <a:buFont typeface="Wingdings" panose="05000000000000000000" pitchFamily="2" charset="2"/>
              <a:buNone/>
            </a:pPr>
            <a:r>
              <a:rPr lang="en-US" altLang="en-US" sz="2000" dirty="0"/>
              <a:t>5. </a:t>
            </a:r>
            <a:r>
              <a:rPr lang="en-US" altLang="en-US" sz="2000" b="1" dirty="0"/>
              <a:t>Commutativity of     (and X )</a:t>
            </a:r>
            <a:r>
              <a:rPr lang="en-US" altLang="en-US" sz="2000" dirty="0"/>
              <a:t>: The      operation is commutative as is the X operation:</a:t>
            </a:r>
          </a:p>
          <a:p>
            <a:pPr lvl="1">
              <a:lnSpc>
                <a:spcPct val="90000"/>
              </a:lnSpc>
            </a:pPr>
            <a:r>
              <a:rPr lang="en-US" altLang="en-US" sz="2000" dirty="0"/>
              <a:t>R    </a:t>
            </a:r>
            <a:r>
              <a:rPr lang="en-US" altLang="en-US" sz="2000" baseline="-25000" dirty="0"/>
              <a:t>C</a:t>
            </a:r>
            <a:r>
              <a:rPr lang="en-US" altLang="en-US" sz="2000" dirty="0"/>
              <a:t> S = S    </a:t>
            </a:r>
            <a:r>
              <a:rPr lang="en-US" altLang="en-US" sz="2000" baseline="-25000" dirty="0"/>
              <a:t>C</a:t>
            </a:r>
            <a:r>
              <a:rPr lang="en-US" altLang="en-US" sz="2000" dirty="0"/>
              <a:t> R;  R x  S = S x  R </a:t>
            </a:r>
          </a:p>
          <a:p>
            <a:pPr lvl="1">
              <a:lnSpc>
                <a:spcPct val="90000"/>
              </a:lnSpc>
            </a:pPr>
            <a:r>
              <a:rPr lang="en-US" altLang="en-US" sz="2000" dirty="0"/>
              <a:t>	</a:t>
            </a:r>
          </a:p>
          <a:p>
            <a:pPr algn="just">
              <a:lnSpc>
                <a:spcPct val="90000"/>
              </a:lnSpc>
              <a:buFont typeface="Wingdings" panose="05000000000000000000" pitchFamily="2" charset="2"/>
              <a:buNone/>
            </a:pPr>
            <a:r>
              <a:rPr lang="en-US" altLang="en-US" sz="2000" dirty="0"/>
              <a:t>6. </a:t>
            </a:r>
            <a:r>
              <a:rPr lang="en-US" altLang="en-US" sz="2000" b="1" dirty="0"/>
              <a:t>Commuting </a:t>
            </a:r>
            <a:r>
              <a:rPr lang="en-US" altLang="en-US" sz="2400" b="1" dirty="0">
                <a:latin typeface="Symbol" panose="05050102010706020507" pitchFamily="18" charset="2"/>
              </a:rPr>
              <a:t>s</a:t>
            </a:r>
            <a:r>
              <a:rPr lang="en-US" altLang="en-US" sz="2000" b="1" dirty="0"/>
              <a:t> with     (or X )</a:t>
            </a:r>
            <a:r>
              <a:rPr lang="en-US" altLang="en-US" sz="2000" dirty="0"/>
              <a:t>: If all the attributes in the selection condition c involve only the attributes of one of the relations being joined—say, R—the two operations can be commuted as follows: </a:t>
            </a:r>
          </a:p>
          <a:p>
            <a:pPr lvl="1">
              <a:lnSpc>
                <a:spcPct val="90000"/>
              </a:lnSpc>
            </a:pPr>
            <a:r>
              <a:rPr lang="en-US" altLang="en-US" sz="2400" dirty="0" err="1">
                <a:latin typeface="Symbol" panose="05050102010706020507" pitchFamily="18" charset="2"/>
              </a:rPr>
              <a:t>s</a:t>
            </a:r>
            <a:r>
              <a:rPr lang="en-US" altLang="en-US" sz="2000" baseline="-25000" dirty="0" err="1"/>
              <a:t>c</a:t>
            </a:r>
            <a:r>
              <a:rPr lang="en-US" altLang="en-US" sz="2000" dirty="0"/>
              <a:t> ( R     S ) =  (</a:t>
            </a:r>
            <a:r>
              <a:rPr lang="en-US" altLang="en-US" sz="2400" dirty="0" err="1">
                <a:latin typeface="Symbol" panose="05050102010706020507" pitchFamily="18" charset="2"/>
              </a:rPr>
              <a:t>s</a:t>
            </a:r>
            <a:r>
              <a:rPr lang="en-US" altLang="en-US" sz="2000" baseline="-25000" dirty="0" err="1"/>
              <a:t>c</a:t>
            </a:r>
            <a:r>
              <a:rPr lang="en-US" altLang="en-US" sz="2000" dirty="0"/>
              <a:t> (R))     S</a:t>
            </a:r>
          </a:p>
          <a:p>
            <a:pPr lvl="1">
              <a:lnSpc>
                <a:spcPct val="90000"/>
              </a:lnSpc>
            </a:pPr>
            <a:endParaRPr lang="en-US" altLang="en-US" sz="2000" dirty="0"/>
          </a:p>
          <a:p>
            <a:pPr algn="just">
              <a:lnSpc>
                <a:spcPct val="90000"/>
              </a:lnSpc>
            </a:pPr>
            <a:r>
              <a:rPr lang="en-US" altLang="en-US" sz="2000" dirty="0"/>
              <a:t>Alternatively, if the selection condition c can be written as (c1 and c2), where condition c1 involves only the attributes of R and condition c2 involves only the attributes of S, the operations commute as follows: </a:t>
            </a:r>
          </a:p>
          <a:p>
            <a:pPr lvl="1">
              <a:lnSpc>
                <a:spcPct val="90000"/>
              </a:lnSpc>
            </a:pPr>
            <a:r>
              <a:rPr lang="en-US" altLang="en-US" sz="2400" dirty="0" err="1">
                <a:latin typeface="Symbol" panose="05050102010706020507" pitchFamily="18" charset="2"/>
              </a:rPr>
              <a:t>s</a:t>
            </a:r>
            <a:r>
              <a:rPr lang="en-US" altLang="en-US" sz="2000" baseline="-25000" dirty="0" err="1"/>
              <a:t>c</a:t>
            </a:r>
            <a:r>
              <a:rPr lang="en-US" altLang="en-US" sz="2000" dirty="0"/>
              <a:t> ( R     S )  =  (</a:t>
            </a:r>
            <a:r>
              <a:rPr lang="en-US" altLang="en-US" sz="2400" dirty="0">
                <a:latin typeface="Symbol" panose="05050102010706020507" pitchFamily="18" charset="2"/>
              </a:rPr>
              <a:t>s</a:t>
            </a:r>
            <a:r>
              <a:rPr lang="en-US" altLang="en-US" sz="2000" baseline="-25000" dirty="0"/>
              <a:t>c1</a:t>
            </a:r>
            <a:r>
              <a:rPr lang="en-US" altLang="en-US" sz="2000" dirty="0"/>
              <a:t> (R))     (</a:t>
            </a:r>
            <a:r>
              <a:rPr lang="en-US" altLang="en-US" sz="2400" dirty="0">
                <a:latin typeface="Symbol" panose="05050102010706020507" pitchFamily="18" charset="2"/>
              </a:rPr>
              <a:t>s</a:t>
            </a:r>
            <a:r>
              <a:rPr lang="en-US" altLang="en-US" sz="2000" baseline="-25000" dirty="0"/>
              <a:t>c2</a:t>
            </a:r>
            <a:r>
              <a:rPr lang="en-US" altLang="en-US" sz="2000" dirty="0"/>
              <a:t> (S)) </a:t>
            </a:r>
          </a:p>
          <a:p>
            <a:pPr lvl="1">
              <a:lnSpc>
                <a:spcPct val="90000"/>
              </a:lnSpc>
            </a:pPr>
            <a:endParaRPr lang="en-US" sz="2000" dirty="0"/>
          </a:p>
          <a:p>
            <a:pPr lvl="1">
              <a:lnSpc>
                <a:spcPct val="90000"/>
              </a:lnSpc>
            </a:pPr>
            <a:r>
              <a:rPr lang="en-US" sz="2000" dirty="0"/>
              <a:t>The same rules apply if the     is replaced by a X operation.</a:t>
            </a:r>
          </a:p>
          <a:p>
            <a:pPr lvl="1">
              <a:lnSpc>
                <a:spcPct val="80000"/>
              </a:lnSpc>
            </a:pPr>
            <a:endParaRPr lang="en-US" altLang="en-US" sz="2000" dirty="0"/>
          </a:p>
          <a:p>
            <a:pPr lvl="1">
              <a:lnSpc>
                <a:spcPct val="80000"/>
              </a:lnSpc>
            </a:pPr>
            <a:endParaRPr lang="en-US" altLang="en-US" sz="2000" dirty="0"/>
          </a:p>
        </p:txBody>
      </p:sp>
      <p:pic>
        <p:nvPicPr>
          <p:cNvPr id="10" name="Picture 9">
            <a:extLst>
              <a:ext uri="{FF2B5EF4-FFF2-40B4-BE49-F238E27FC236}">
                <a16:creationId xmlns:a16="http://schemas.microsoft.com/office/drawing/2014/main" id="{4CAC4744-879D-4BCF-8898-9137CF78140A}"/>
              </a:ext>
            </a:extLst>
          </p:cNvPr>
          <p:cNvPicPr>
            <a:picLocks noChangeAspect="1"/>
          </p:cNvPicPr>
          <p:nvPr/>
        </p:nvPicPr>
        <p:blipFill>
          <a:blip r:embed="rId2"/>
          <a:stretch>
            <a:fillRect/>
          </a:stretch>
        </p:blipFill>
        <p:spPr>
          <a:xfrm>
            <a:off x="2713784" y="1615327"/>
            <a:ext cx="238125" cy="200025"/>
          </a:xfrm>
          <a:prstGeom prst="rect">
            <a:avLst/>
          </a:prstGeom>
        </p:spPr>
      </p:pic>
      <p:pic>
        <p:nvPicPr>
          <p:cNvPr id="12" name="Picture 11">
            <a:extLst>
              <a:ext uri="{FF2B5EF4-FFF2-40B4-BE49-F238E27FC236}">
                <a16:creationId xmlns:a16="http://schemas.microsoft.com/office/drawing/2014/main" id="{C4BBB58A-EEE4-94ED-13BC-0364186DFC54}"/>
              </a:ext>
            </a:extLst>
          </p:cNvPr>
          <p:cNvPicPr>
            <a:picLocks noChangeAspect="1"/>
          </p:cNvPicPr>
          <p:nvPr/>
        </p:nvPicPr>
        <p:blipFill>
          <a:blip r:embed="rId2"/>
          <a:stretch>
            <a:fillRect/>
          </a:stretch>
        </p:blipFill>
        <p:spPr>
          <a:xfrm>
            <a:off x="4354325" y="1615327"/>
            <a:ext cx="238125" cy="200025"/>
          </a:xfrm>
          <a:prstGeom prst="rect">
            <a:avLst/>
          </a:prstGeom>
        </p:spPr>
      </p:pic>
      <p:pic>
        <p:nvPicPr>
          <p:cNvPr id="14" name="Picture 13">
            <a:extLst>
              <a:ext uri="{FF2B5EF4-FFF2-40B4-BE49-F238E27FC236}">
                <a16:creationId xmlns:a16="http://schemas.microsoft.com/office/drawing/2014/main" id="{1027B901-0C31-4220-8CF0-FC47EB801263}"/>
              </a:ext>
            </a:extLst>
          </p:cNvPr>
          <p:cNvPicPr>
            <a:picLocks noChangeAspect="1"/>
          </p:cNvPicPr>
          <p:nvPr/>
        </p:nvPicPr>
        <p:blipFill>
          <a:blip r:embed="rId2"/>
          <a:stretch>
            <a:fillRect/>
          </a:stretch>
        </p:blipFill>
        <p:spPr>
          <a:xfrm>
            <a:off x="1192305" y="1915365"/>
            <a:ext cx="238125" cy="200025"/>
          </a:xfrm>
          <a:prstGeom prst="rect">
            <a:avLst/>
          </a:prstGeom>
        </p:spPr>
      </p:pic>
      <p:pic>
        <p:nvPicPr>
          <p:cNvPr id="16" name="Picture 15">
            <a:extLst>
              <a:ext uri="{FF2B5EF4-FFF2-40B4-BE49-F238E27FC236}">
                <a16:creationId xmlns:a16="http://schemas.microsoft.com/office/drawing/2014/main" id="{D943910D-DC0C-AFCD-2820-3D181B6EE09B}"/>
              </a:ext>
            </a:extLst>
          </p:cNvPr>
          <p:cNvPicPr>
            <a:picLocks noChangeAspect="1"/>
          </p:cNvPicPr>
          <p:nvPr/>
        </p:nvPicPr>
        <p:blipFill>
          <a:blip r:embed="rId2"/>
          <a:stretch>
            <a:fillRect/>
          </a:stretch>
        </p:blipFill>
        <p:spPr>
          <a:xfrm>
            <a:off x="2030503" y="1910882"/>
            <a:ext cx="238125" cy="200025"/>
          </a:xfrm>
          <a:prstGeom prst="rect">
            <a:avLst/>
          </a:prstGeom>
        </p:spPr>
      </p:pic>
      <p:pic>
        <p:nvPicPr>
          <p:cNvPr id="18" name="Picture 17">
            <a:extLst>
              <a:ext uri="{FF2B5EF4-FFF2-40B4-BE49-F238E27FC236}">
                <a16:creationId xmlns:a16="http://schemas.microsoft.com/office/drawing/2014/main" id="{493FB7FA-A85C-CA0E-2C60-B332F0559819}"/>
              </a:ext>
            </a:extLst>
          </p:cNvPr>
          <p:cNvPicPr>
            <a:picLocks noChangeAspect="1"/>
          </p:cNvPicPr>
          <p:nvPr/>
        </p:nvPicPr>
        <p:blipFill>
          <a:blip r:embed="rId2"/>
          <a:stretch>
            <a:fillRect/>
          </a:stretch>
        </p:blipFill>
        <p:spPr>
          <a:xfrm>
            <a:off x="2951909" y="2527066"/>
            <a:ext cx="238125" cy="200025"/>
          </a:xfrm>
          <a:prstGeom prst="rect">
            <a:avLst/>
          </a:prstGeom>
        </p:spPr>
      </p:pic>
      <p:pic>
        <p:nvPicPr>
          <p:cNvPr id="20" name="Picture 19">
            <a:extLst>
              <a:ext uri="{FF2B5EF4-FFF2-40B4-BE49-F238E27FC236}">
                <a16:creationId xmlns:a16="http://schemas.microsoft.com/office/drawing/2014/main" id="{3592E771-940E-3FCC-AF2E-27091E1CA0CF}"/>
              </a:ext>
            </a:extLst>
          </p:cNvPr>
          <p:cNvPicPr>
            <a:picLocks noChangeAspect="1"/>
          </p:cNvPicPr>
          <p:nvPr/>
        </p:nvPicPr>
        <p:blipFill>
          <a:blip r:embed="rId2"/>
          <a:stretch>
            <a:fillRect/>
          </a:stretch>
        </p:blipFill>
        <p:spPr>
          <a:xfrm>
            <a:off x="1665614" y="3115796"/>
            <a:ext cx="238125" cy="200025"/>
          </a:xfrm>
          <a:prstGeom prst="rect">
            <a:avLst/>
          </a:prstGeom>
        </p:spPr>
      </p:pic>
      <p:pic>
        <p:nvPicPr>
          <p:cNvPr id="22" name="Picture 21">
            <a:extLst>
              <a:ext uri="{FF2B5EF4-FFF2-40B4-BE49-F238E27FC236}">
                <a16:creationId xmlns:a16="http://schemas.microsoft.com/office/drawing/2014/main" id="{CDBD8927-884C-720E-5F1E-50B9B163F699}"/>
              </a:ext>
            </a:extLst>
          </p:cNvPr>
          <p:cNvPicPr>
            <a:picLocks noChangeAspect="1"/>
          </p:cNvPicPr>
          <p:nvPr/>
        </p:nvPicPr>
        <p:blipFill>
          <a:blip r:embed="rId2"/>
          <a:stretch>
            <a:fillRect/>
          </a:stretch>
        </p:blipFill>
        <p:spPr>
          <a:xfrm>
            <a:off x="3260626" y="3115796"/>
            <a:ext cx="238125" cy="200025"/>
          </a:xfrm>
          <a:prstGeom prst="rect">
            <a:avLst/>
          </a:prstGeom>
        </p:spPr>
      </p:pic>
      <p:pic>
        <p:nvPicPr>
          <p:cNvPr id="24" name="Picture 23">
            <a:extLst>
              <a:ext uri="{FF2B5EF4-FFF2-40B4-BE49-F238E27FC236}">
                <a16:creationId xmlns:a16="http://schemas.microsoft.com/office/drawing/2014/main" id="{03DC829F-914D-F748-7456-7ED5B50A51F4}"/>
              </a:ext>
            </a:extLst>
          </p:cNvPr>
          <p:cNvPicPr>
            <a:picLocks noChangeAspect="1"/>
          </p:cNvPicPr>
          <p:nvPr/>
        </p:nvPicPr>
        <p:blipFill>
          <a:blip r:embed="rId2"/>
          <a:stretch>
            <a:fillRect/>
          </a:stretch>
        </p:blipFill>
        <p:spPr>
          <a:xfrm>
            <a:off x="1665613" y="4301657"/>
            <a:ext cx="238125" cy="200025"/>
          </a:xfrm>
          <a:prstGeom prst="rect">
            <a:avLst/>
          </a:prstGeom>
        </p:spPr>
      </p:pic>
      <p:pic>
        <p:nvPicPr>
          <p:cNvPr id="26" name="Picture 25">
            <a:extLst>
              <a:ext uri="{FF2B5EF4-FFF2-40B4-BE49-F238E27FC236}">
                <a16:creationId xmlns:a16="http://schemas.microsoft.com/office/drawing/2014/main" id="{A7E17BBE-CFFB-9EED-D7D1-B9E504547459}"/>
              </a:ext>
            </a:extLst>
          </p:cNvPr>
          <p:cNvPicPr>
            <a:picLocks noChangeAspect="1"/>
          </p:cNvPicPr>
          <p:nvPr/>
        </p:nvPicPr>
        <p:blipFill>
          <a:blip r:embed="rId2"/>
          <a:stretch>
            <a:fillRect/>
          </a:stretch>
        </p:blipFill>
        <p:spPr>
          <a:xfrm>
            <a:off x="3379689" y="4301657"/>
            <a:ext cx="238125" cy="200025"/>
          </a:xfrm>
          <a:prstGeom prst="rect">
            <a:avLst/>
          </a:prstGeom>
        </p:spPr>
      </p:pic>
      <p:pic>
        <p:nvPicPr>
          <p:cNvPr id="27" name="Picture 26">
            <a:extLst>
              <a:ext uri="{FF2B5EF4-FFF2-40B4-BE49-F238E27FC236}">
                <a16:creationId xmlns:a16="http://schemas.microsoft.com/office/drawing/2014/main" id="{95408D16-C2ED-7A6F-9580-531CF3203A0D}"/>
              </a:ext>
            </a:extLst>
          </p:cNvPr>
          <p:cNvPicPr>
            <a:picLocks noChangeAspect="1"/>
          </p:cNvPicPr>
          <p:nvPr/>
        </p:nvPicPr>
        <p:blipFill>
          <a:blip r:embed="rId2"/>
          <a:stretch>
            <a:fillRect/>
          </a:stretch>
        </p:blipFill>
        <p:spPr>
          <a:xfrm>
            <a:off x="3872750" y="4826094"/>
            <a:ext cx="238125" cy="200025"/>
          </a:xfrm>
          <a:prstGeom prst="rect">
            <a:avLst/>
          </a:prstGeom>
        </p:spPr>
      </p:pic>
    </p:spTree>
    <p:extLst>
      <p:ext uri="{BB962C8B-B14F-4D97-AF65-F5344CB8AC3E}">
        <p14:creationId xmlns:p14="http://schemas.microsoft.com/office/powerpoint/2010/main" val="4124873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1A5CAC-E3D1-312B-4271-1D6389310658}"/>
              </a:ext>
            </a:extLst>
          </p:cNvPr>
          <p:cNvSpPr txBox="1"/>
          <p:nvPr/>
        </p:nvSpPr>
        <p:spPr>
          <a:xfrm>
            <a:off x="645459" y="578003"/>
            <a:ext cx="11026588" cy="6124754"/>
          </a:xfrm>
          <a:prstGeom prst="rect">
            <a:avLst/>
          </a:prstGeom>
          <a:noFill/>
        </p:spPr>
        <p:txBody>
          <a:bodyPr wrap="square">
            <a:spAutoFit/>
          </a:bodyPr>
          <a:lstStyle/>
          <a:p>
            <a:pPr algn="just">
              <a:buFont typeface="Wingdings" panose="05000000000000000000" pitchFamily="2" charset="2"/>
              <a:buNone/>
            </a:pPr>
            <a:r>
              <a:rPr lang="en-US" altLang="en-US" sz="2000" dirty="0"/>
              <a:t>7. </a:t>
            </a:r>
            <a:r>
              <a:rPr lang="en-US" altLang="en-US" sz="2000" b="1" dirty="0"/>
              <a:t>Commuting </a:t>
            </a:r>
            <a:r>
              <a:rPr lang="el-GR" altLang="en-US" sz="2000" b="1" dirty="0"/>
              <a:t>π</a:t>
            </a:r>
            <a:r>
              <a:rPr lang="en-US" altLang="en-US" sz="3200" b="1" dirty="0">
                <a:latin typeface="Symbol" panose="05050102010706020507" pitchFamily="18" charset="2"/>
              </a:rPr>
              <a:t> </a:t>
            </a:r>
            <a:r>
              <a:rPr lang="en-US" altLang="en-US" sz="2000" b="1" dirty="0"/>
              <a:t>with     (or X): </a:t>
            </a:r>
            <a:r>
              <a:rPr lang="en-US" altLang="en-US" sz="2000" dirty="0"/>
              <a:t>Suppose that the projection list is L = {A1, ..., An, B1, ..., Bm}, where A1, ..., An are attributes of R and B1, ..., Bm are attributes of S. If the join condition c involves only attributes in L, the two operations can be commuted as follows: 	</a:t>
            </a:r>
          </a:p>
          <a:p>
            <a:pPr lvl="1" algn="just"/>
            <a:r>
              <a:rPr lang="el-GR" altLang="en-US" sz="2000" dirty="0"/>
              <a:t>π</a:t>
            </a:r>
            <a:r>
              <a:rPr lang="en-US" altLang="en-US" sz="2000" baseline="-25000" dirty="0"/>
              <a:t>L</a:t>
            </a:r>
            <a:r>
              <a:rPr lang="en-US" altLang="en-US" sz="2000" dirty="0"/>
              <a:t> ( R    </a:t>
            </a:r>
            <a:r>
              <a:rPr lang="en-US" altLang="en-US" sz="2000" baseline="-25000" dirty="0"/>
              <a:t>C</a:t>
            </a:r>
            <a:r>
              <a:rPr lang="en-US" altLang="en-US" sz="2000" dirty="0"/>
              <a:t> S )  = (</a:t>
            </a:r>
            <a:r>
              <a:rPr lang="el-GR" altLang="en-US" sz="2000" dirty="0"/>
              <a:t>π</a:t>
            </a:r>
            <a:r>
              <a:rPr lang="en-US" altLang="en-US" sz="2000" baseline="-25000" dirty="0"/>
              <a:t>A1, ..., An</a:t>
            </a:r>
            <a:r>
              <a:rPr lang="en-US" altLang="en-US" sz="2000" dirty="0"/>
              <a:t> (R))     </a:t>
            </a:r>
            <a:r>
              <a:rPr lang="en-US" altLang="en-US" sz="2000" baseline="-25000" dirty="0"/>
              <a:t>C</a:t>
            </a:r>
            <a:r>
              <a:rPr lang="en-US" altLang="en-US" sz="2000" dirty="0"/>
              <a:t> (</a:t>
            </a:r>
            <a:r>
              <a:rPr lang="el-GR" altLang="en-US" sz="2000" dirty="0"/>
              <a:t>π</a:t>
            </a:r>
            <a:r>
              <a:rPr lang="en-US" altLang="en-US" sz="2000" baseline="-25000" dirty="0"/>
              <a:t>B1, ..., Bm</a:t>
            </a:r>
            <a:r>
              <a:rPr lang="en-US" altLang="en-US" sz="2000" dirty="0"/>
              <a:t> (S))</a:t>
            </a:r>
          </a:p>
          <a:p>
            <a:pPr algn="just"/>
            <a:endParaRPr lang="en-US" altLang="en-US" sz="2000" dirty="0"/>
          </a:p>
          <a:p>
            <a:pPr algn="just"/>
            <a:r>
              <a:rPr lang="en-US" altLang="en-US" sz="2000" dirty="0"/>
              <a:t>If the join condition c contains additional attributes not in L, these must be added to the projection list, and a final </a:t>
            </a:r>
            <a:r>
              <a:rPr lang="el-GR" altLang="en-US" sz="2000" dirty="0"/>
              <a:t>π</a:t>
            </a:r>
            <a:r>
              <a:rPr lang="en-US" altLang="en-US" sz="2000" dirty="0"/>
              <a:t> operation is needed. </a:t>
            </a:r>
            <a:r>
              <a:rPr lang="en-IN" sz="2000" dirty="0"/>
              <a:t>For example, if attributes </a:t>
            </a:r>
            <a:r>
              <a:rPr lang="en-US" sz="2000" dirty="0"/>
              <a:t>An+1, … , </a:t>
            </a:r>
            <a:r>
              <a:rPr lang="en-US" sz="2000" dirty="0" err="1"/>
              <a:t>An+k</a:t>
            </a:r>
            <a:r>
              <a:rPr lang="en-US" sz="2000" dirty="0"/>
              <a:t> of R and Bm+1, … , </a:t>
            </a:r>
            <a:r>
              <a:rPr lang="en-US" sz="2000" dirty="0" err="1"/>
              <a:t>Bm+p</a:t>
            </a:r>
            <a:r>
              <a:rPr lang="en-US" sz="2000" dirty="0"/>
              <a:t> of S are involved in the join condition c but are not in the projection list L, the operations commute as follows: </a:t>
            </a:r>
          </a:p>
          <a:p>
            <a:pPr algn="just"/>
            <a:r>
              <a:rPr lang="en-US" sz="2000" dirty="0"/>
              <a:t>	π</a:t>
            </a:r>
            <a:r>
              <a:rPr lang="en-US" sz="2000" baseline="-25000" dirty="0"/>
              <a:t>L</a:t>
            </a:r>
            <a:r>
              <a:rPr lang="en-US" sz="2000" dirty="0"/>
              <a:t> (R     c S) ≡ π</a:t>
            </a:r>
            <a:r>
              <a:rPr lang="en-US" sz="2000" baseline="-25000" dirty="0"/>
              <a:t>L</a:t>
            </a:r>
            <a:r>
              <a:rPr lang="en-US" sz="2000" dirty="0"/>
              <a:t> ((π</a:t>
            </a:r>
            <a:r>
              <a:rPr lang="en-US" sz="2000" baseline="-25000" dirty="0"/>
              <a:t>A1, … , An, An+1, … , </a:t>
            </a:r>
            <a:r>
              <a:rPr lang="en-US" sz="2000" baseline="-25000" dirty="0" err="1"/>
              <a:t>An+k</a:t>
            </a:r>
            <a:r>
              <a:rPr lang="en-US" sz="2000" dirty="0"/>
              <a:t>(R))     c (π</a:t>
            </a:r>
            <a:r>
              <a:rPr lang="en-US" sz="2000" baseline="-25000" dirty="0"/>
              <a:t>B1, … , Bm, Bm+1, … , </a:t>
            </a:r>
            <a:r>
              <a:rPr lang="en-US" sz="2000" baseline="-25000" dirty="0" err="1"/>
              <a:t>Bm+p</a:t>
            </a:r>
            <a:r>
              <a:rPr lang="en-US" sz="2000" dirty="0"/>
              <a:t> (S))) </a:t>
            </a:r>
          </a:p>
          <a:p>
            <a:pPr algn="just"/>
            <a:endParaRPr lang="en-US" sz="2000" dirty="0"/>
          </a:p>
          <a:p>
            <a:pPr algn="just"/>
            <a:r>
              <a:rPr lang="en-US" sz="2000" dirty="0"/>
              <a:t>For X, there is no condition c, so the first transformation rule always applies by replacing c with X.</a:t>
            </a:r>
          </a:p>
          <a:p>
            <a:pPr algn="just"/>
            <a:endParaRPr lang="en-US" altLang="en-US" sz="2000" dirty="0"/>
          </a:p>
          <a:p>
            <a:pPr algn="just"/>
            <a:r>
              <a:rPr lang="en-US" sz="2000" dirty="0"/>
              <a:t>8. </a:t>
            </a:r>
            <a:r>
              <a:rPr lang="en-US" sz="2000" b="1" dirty="0"/>
              <a:t>Commutativity of set operations:</a:t>
            </a:r>
            <a:r>
              <a:rPr lang="en-US" sz="2000" dirty="0"/>
              <a:t> The set operations ∪ and ∩ are commutative, but − is not. </a:t>
            </a:r>
          </a:p>
          <a:p>
            <a:pPr algn="just"/>
            <a:endParaRPr lang="en-US" sz="2000" dirty="0"/>
          </a:p>
          <a:p>
            <a:pPr algn="just"/>
            <a:r>
              <a:rPr lang="en-US" sz="2000" dirty="0"/>
              <a:t>9. </a:t>
            </a:r>
            <a:r>
              <a:rPr lang="en-US" sz="2000" b="1" dirty="0"/>
              <a:t>Associativity of   , X, ∪, and ∩:</a:t>
            </a:r>
            <a:r>
              <a:rPr lang="en-US" sz="2000" dirty="0"/>
              <a:t> These four operations are individually associative; that is, if both occurrences of θ stand for the same operation that is any one of these four operations (throughout the expression), we have: </a:t>
            </a:r>
          </a:p>
          <a:p>
            <a:pPr algn="just"/>
            <a:r>
              <a:rPr lang="en-US" sz="2000" dirty="0"/>
              <a:t>	(R θ S) θ T ≡ R θ (S θ T) </a:t>
            </a:r>
          </a:p>
        </p:txBody>
      </p:sp>
      <p:pic>
        <p:nvPicPr>
          <p:cNvPr id="4" name="Picture 3">
            <a:extLst>
              <a:ext uri="{FF2B5EF4-FFF2-40B4-BE49-F238E27FC236}">
                <a16:creationId xmlns:a16="http://schemas.microsoft.com/office/drawing/2014/main" id="{DDADC897-35B5-9EC4-C205-C61F800D969B}"/>
              </a:ext>
            </a:extLst>
          </p:cNvPr>
          <p:cNvPicPr>
            <a:picLocks noChangeAspect="1"/>
          </p:cNvPicPr>
          <p:nvPr/>
        </p:nvPicPr>
        <p:blipFill>
          <a:blip r:embed="rId2"/>
          <a:stretch>
            <a:fillRect/>
          </a:stretch>
        </p:blipFill>
        <p:spPr>
          <a:xfrm>
            <a:off x="3091002" y="868176"/>
            <a:ext cx="238125" cy="200025"/>
          </a:xfrm>
          <a:prstGeom prst="rect">
            <a:avLst/>
          </a:prstGeom>
        </p:spPr>
      </p:pic>
      <p:pic>
        <p:nvPicPr>
          <p:cNvPr id="5" name="Picture 4">
            <a:extLst>
              <a:ext uri="{FF2B5EF4-FFF2-40B4-BE49-F238E27FC236}">
                <a16:creationId xmlns:a16="http://schemas.microsoft.com/office/drawing/2014/main" id="{5AAE62DE-424D-E2FA-707C-DB697A6152B8}"/>
              </a:ext>
            </a:extLst>
          </p:cNvPr>
          <p:cNvPicPr>
            <a:picLocks noChangeAspect="1"/>
          </p:cNvPicPr>
          <p:nvPr/>
        </p:nvPicPr>
        <p:blipFill>
          <a:blip r:embed="rId2"/>
          <a:stretch>
            <a:fillRect/>
          </a:stretch>
        </p:blipFill>
        <p:spPr>
          <a:xfrm>
            <a:off x="1728367" y="1791540"/>
            <a:ext cx="238125" cy="200025"/>
          </a:xfrm>
          <a:prstGeom prst="rect">
            <a:avLst/>
          </a:prstGeom>
        </p:spPr>
      </p:pic>
      <p:pic>
        <p:nvPicPr>
          <p:cNvPr id="6" name="Picture 5">
            <a:extLst>
              <a:ext uri="{FF2B5EF4-FFF2-40B4-BE49-F238E27FC236}">
                <a16:creationId xmlns:a16="http://schemas.microsoft.com/office/drawing/2014/main" id="{1990D9C9-DC28-CED0-C732-0EA4CC591FAE}"/>
              </a:ext>
            </a:extLst>
          </p:cNvPr>
          <p:cNvPicPr>
            <a:picLocks noChangeAspect="1"/>
          </p:cNvPicPr>
          <p:nvPr/>
        </p:nvPicPr>
        <p:blipFill>
          <a:blip r:embed="rId2"/>
          <a:stretch>
            <a:fillRect/>
          </a:stretch>
        </p:blipFill>
        <p:spPr>
          <a:xfrm>
            <a:off x="4023332" y="1791540"/>
            <a:ext cx="238125" cy="200025"/>
          </a:xfrm>
          <a:prstGeom prst="rect">
            <a:avLst/>
          </a:prstGeom>
        </p:spPr>
      </p:pic>
      <p:pic>
        <p:nvPicPr>
          <p:cNvPr id="7" name="Picture 6">
            <a:extLst>
              <a:ext uri="{FF2B5EF4-FFF2-40B4-BE49-F238E27FC236}">
                <a16:creationId xmlns:a16="http://schemas.microsoft.com/office/drawing/2014/main" id="{7355CDD8-F4B3-042A-FC13-9FB5CFFBD838}"/>
              </a:ext>
            </a:extLst>
          </p:cNvPr>
          <p:cNvPicPr>
            <a:picLocks noChangeAspect="1"/>
          </p:cNvPicPr>
          <p:nvPr/>
        </p:nvPicPr>
        <p:blipFill>
          <a:blip r:embed="rId2"/>
          <a:stretch>
            <a:fillRect/>
          </a:stretch>
        </p:blipFill>
        <p:spPr>
          <a:xfrm>
            <a:off x="2176603" y="3594243"/>
            <a:ext cx="238125" cy="200025"/>
          </a:xfrm>
          <a:prstGeom prst="rect">
            <a:avLst/>
          </a:prstGeom>
        </p:spPr>
      </p:pic>
      <p:pic>
        <p:nvPicPr>
          <p:cNvPr id="8" name="Picture 7">
            <a:extLst>
              <a:ext uri="{FF2B5EF4-FFF2-40B4-BE49-F238E27FC236}">
                <a16:creationId xmlns:a16="http://schemas.microsoft.com/office/drawing/2014/main" id="{80429DEC-1776-73C5-2A2A-2BEF1C620516}"/>
              </a:ext>
            </a:extLst>
          </p:cNvPr>
          <p:cNvPicPr>
            <a:picLocks noChangeAspect="1"/>
          </p:cNvPicPr>
          <p:nvPr/>
        </p:nvPicPr>
        <p:blipFill>
          <a:blip r:embed="rId2"/>
          <a:stretch>
            <a:fillRect/>
          </a:stretch>
        </p:blipFill>
        <p:spPr>
          <a:xfrm>
            <a:off x="5743854" y="3594243"/>
            <a:ext cx="238125" cy="200025"/>
          </a:xfrm>
          <a:prstGeom prst="rect">
            <a:avLst/>
          </a:prstGeom>
        </p:spPr>
      </p:pic>
      <p:pic>
        <p:nvPicPr>
          <p:cNvPr id="9" name="Picture 8">
            <a:extLst>
              <a:ext uri="{FF2B5EF4-FFF2-40B4-BE49-F238E27FC236}">
                <a16:creationId xmlns:a16="http://schemas.microsoft.com/office/drawing/2014/main" id="{38B03426-992F-D799-7232-02975E91E4F5}"/>
              </a:ext>
            </a:extLst>
          </p:cNvPr>
          <p:cNvPicPr>
            <a:picLocks noChangeAspect="1"/>
          </p:cNvPicPr>
          <p:nvPr/>
        </p:nvPicPr>
        <p:blipFill>
          <a:blip r:embed="rId2"/>
          <a:stretch>
            <a:fillRect/>
          </a:stretch>
        </p:blipFill>
        <p:spPr>
          <a:xfrm>
            <a:off x="2732415" y="5449140"/>
            <a:ext cx="238125" cy="200025"/>
          </a:xfrm>
          <a:prstGeom prst="rect">
            <a:avLst/>
          </a:prstGeom>
        </p:spPr>
      </p:pic>
    </p:spTree>
    <p:extLst>
      <p:ext uri="{BB962C8B-B14F-4D97-AF65-F5344CB8AC3E}">
        <p14:creationId xmlns:p14="http://schemas.microsoft.com/office/powerpoint/2010/main" val="36619719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C6689F-E0A6-ED79-2415-F7EA658DCB64}"/>
              </a:ext>
            </a:extLst>
          </p:cNvPr>
          <p:cNvSpPr txBox="1"/>
          <p:nvPr/>
        </p:nvSpPr>
        <p:spPr>
          <a:xfrm>
            <a:off x="627528" y="574265"/>
            <a:ext cx="11134165" cy="3477875"/>
          </a:xfrm>
          <a:prstGeom prst="rect">
            <a:avLst/>
          </a:prstGeom>
          <a:noFill/>
        </p:spPr>
        <p:txBody>
          <a:bodyPr wrap="square">
            <a:spAutoFit/>
          </a:bodyPr>
          <a:lstStyle/>
          <a:p>
            <a:pPr algn="just"/>
            <a:r>
              <a:rPr lang="en-US" sz="2000" dirty="0"/>
              <a:t>10. </a:t>
            </a:r>
            <a:r>
              <a:rPr lang="en-US" sz="2000" b="1" dirty="0"/>
              <a:t>Commuting σ with set operations:</a:t>
            </a:r>
            <a:r>
              <a:rPr lang="en-US" sz="2000" dirty="0"/>
              <a:t> The σ operation commutes with ∪, ∩, and −. If θ stands for any one of these three operations (throughout the expression), we have: </a:t>
            </a:r>
          </a:p>
          <a:p>
            <a:pPr algn="just"/>
            <a:r>
              <a:rPr lang="en-US" sz="2000" dirty="0"/>
              <a:t>		</a:t>
            </a:r>
            <a:r>
              <a:rPr lang="en-US" sz="2000" dirty="0" err="1"/>
              <a:t>σ</a:t>
            </a:r>
            <a:r>
              <a:rPr lang="en-US" sz="2000" baseline="-25000" dirty="0" err="1"/>
              <a:t>c</a:t>
            </a:r>
            <a:r>
              <a:rPr lang="en-US" sz="2000" dirty="0"/>
              <a:t> (R θ S) ≡ (</a:t>
            </a:r>
            <a:r>
              <a:rPr lang="en-US" sz="2000" dirty="0" err="1"/>
              <a:t>σ</a:t>
            </a:r>
            <a:r>
              <a:rPr lang="en-US" sz="2000" baseline="-25000" dirty="0" err="1"/>
              <a:t>c</a:t>
            </a:r>
            <a:r>
              <a:rPr lang="en-US" sz="2000" dirty="0"/>
              <a:t> (R)) θ (</a:t>
            </a:r>
            <a:r>
              <a:rPr lang="en-US" sz="2000" dirty="0" err="1"/>
              <a:t>σ</a:t>
            </a:r>
            <a:r>
              <a:rPr lang="en-US" sz="2000" baseline="-25000" dirty="0" err="1"/>
              <a:t>c</a:t>
            </a:r>
            <a:r>
              <a:rPr lang="en-US" sz="2000" dirty="0"/>
              <a:t> (S)) </a:t>
            </a:r>
          </a:p>
          <a:p>
            <a:pPr algn="just"/>
            <a:endParaRPr lang="en-US" sz="2000" dirty="0"/>
          </a:p>
          <a:p>
            <a:pPr algn="just"/>
            <a:r>
              <a:rPr lang="en-US" sz="2000" dirty="0"/>
              <a:t>11. </a:t>
            </a:r>
            <a:r>
              <a:rPr lang="en-US" sz="2000" b="1" dirty="0"/>
              <a:t>The π operation commutes with ∪:</a:t>
            </a:r>
            <a:r>
              <a:rPr lang="en-US" sz="2000" dirty="0"/>
              <a:t> </a:t>
            </a:r>
          </a:p>
          <a:p>
            <a:pPr algn="just"/>
            <a:r>
              <a:rPr lang="en-US" sz="2000" dirty="0"/>
              <a:t>		π</a:t>
            </a:r>
            <a:r>
              <a:rPr lang="en-US" sz="2000" baseline="-25000" dirty="0"/>
              <a:t>L</a:t>
            </a:r>
            <a:r>
              <a:rPr lang="en-US" sz="2000" dirty="0"/>
              <a:t> (R ∪ S) ≡ (π</a:t>
            </a:r>
            <a:r>
              <a:rPr lang="en-US" sz="2000" baseline="-25000" dirty="0"/>
              <a:t>L</a:t>
            </a:r>
            <a:r>
              <a:rPr lang="en-US" sz="2000" dirty="0"/>
              <a:t> (R)) ∪ (π</a:t>
            </a:r>
            <a:r>
              <a:rPr lang="en-US" sz="2000" baseline="-25000" dirty="0"/>
              <a:t>L</a:t>
            </a:r>
            <a:r>
              <a:rPr lang="en-US" sz="2000" dirty="0"/>
              <a:t> (S)) </a:t>
            </a:r>
          </a:p>
          <a:p>
            <a:pPr algn="just"/>
            <a:endParaRPr lang="en-US" sz="2000" dirty="0"/>
          </a:p>
          <a:p>
            <a:pPr algn="just"/>
            <a:r>
              <a:rPr lang="en-US" sz="2000" dirty="0"/>
              <a:t>12. </a:t>
            </a:r>
            <a:r>
              <a:rPr lang="en-US" sz="2000" b="1" dirty="0"/>
              <a:t>Converting a (σ, X) sequence into   :</a:t>
            </a:r>
            <a:r>
              <a:rPr lang="en-US" sz="2000" dirty="0"/>
              <a:t> If the condition c of a σ that follows a X corresponds to a join condition, convert the (σ, X) sequence into a     as follows: </a:t>
            </a:r>
          </a:p>
          <a:p>
            <a:pPr algn="just"/>
            <a:r>
              <a:rPr lang="en-US" sz="2000" dirty="0"/>
              <a:t>		(</a:t>
            </a:r>
            <a:r>
              <a:rPr lang="en-US" sz="2000" dirty="0" err="1"/>
              <a:t>σ</a:t>
            </a:r>
            <a:r>
              <a:rPr lang="en-US" sz="2000" baseline="-25000" dirty="0" err="1"/>
              <a:t>c</a:t>
            </a:r>
            <a:r>
              <a:rPr lang="en-US" sz="2000" dirty="0"/>
              <a:t> (R X S)) ≡ (R     c S) </a:t>
            </a:r>
          </a:p>
          <a:p>
            <a:pPr algn="just"/>
            <a:endParaRPr lang="en-US" sz="2000" dirty="0"/>
          </a:p>
        </p:txBody>
      </p:sp>
      <p:pic>
        <p:nvPicPr>
          <p:cNvPr id="4" name="Picture 3">
            <a:extLst>
              <a:ext uri="{FF2B5EF4-FFF2-40B4-BE49-F238E27FC236}">
                <a16:creationId xmlns:a16="http://schemas.microsoft.com/office/drawing/2014/main" id="{2D5DDF72-6E61-476D-5D6A-B1DD2B93EFD4}"/>
              </a:ext>
            </a:extLst>
          </p:cNvPr>
          <p:cNvPicPr>
            <a:picLocks noChangeAspect="1"/>
          </p:cNvPicPr>
          <p:nvPr/>
        </p:nvPicPr>
        <p:blipFill>
          <a:blip r:embed="rId2"/>
          <a:stretch>
            <a:fillRect/>
          </a:stretch>
        </p:blipFill>
        <p:spPr>
          <a:xfrm>
            <a:off x="4740508" y="2831445"/>
            <a:ext cx="238125" cy="200025"/>
          </a:xfrm>
          <a:prstGeom prst="rect">
            <a:avLst/>
          </a:prstGeom>
        </p:spPr>
      </p:pic>
      <p:pic>
        <p:nvPicPr>
          <p:cNvPr id="5" name="Picture 4">
            <a:extLst>
              <a:ext uri="{FF2B5EF4-FFF2-40B4-BE49-F238E27FC236}">
                <a16:creationId xmlns:a16="http://schemas.microsoft.com/office/drawing/2014/main" id="{EE2888DC-EA85-EB14-5CD5-E573B6F48273}"/>
              </a:ext>
            </a:extLst>
          </p:cNvPr>
          <p:cNvPicPr>
            <a:picLocks noChangeAspect="1"/>
          </p:cNvPicPr>
          <p:nvPr/>
        </p:nvPicPr>
        <p:blipFill>
          <a:blip r:embed="rId2"/>
          <a:stretch>
            <a:fillRect/>
          </a:stretch>
        </p:blipFill>
        <p:spPr>
          <a:xfrm>
            <a:off x="4130907" y="3429000"/>
            <a:ext cx="238125" cy="200025"/>
          </a:xfrm>
          <a:prstGeom prst="rect">
            <a:avLst/>
          </a:prstGeom>
        </p:spPr>
      </p:pic>
      <p:pic>
        <p:nvPicPr>
          <p:cNvPr id="6" name="Picture 5">
            <a:extLst>
              <a:ext uri="{FF2B5EF4-FFF2-40B4-BE49-F238E27FC236}">
                <a16:creationId xmlns:a16="http://schemas.microsoft.com/office/drawing/2014/main" id="{C3A89C01-FC8E-571F-3B0D-14DCBE4229E7}"/>
              </a:ext>
            </a:extLst>
          </p:cNvPr>
          <p:cNvPicPr>
            <a:picLocks noChangeAspect="1"/>
          </p:cNvPicPr>
          <p:nvPr/>
        </p:nvPicPr>
        <p:blipFill>
          <a:blip r:embed="rId2"/>
          <a:stretch>
            <a:fillRect/>
          </a:stretch>
        </p:blipFill>
        <p:spPr>
          <a:xfrm>
            <a:off x="5314249" y="3136245"/>
            <a:ext cx="238125" cy="200025"/>
          </a:xfrm>
          <a:prstGeom prst="rect">
            <a:avLst/>
          </a:prstGeom>
        </p:spPr>
      </p:pic>
    </p:spTree>
    <p:extLst>
      <p:ext uri="{BB962C8B-B14F-4D97-AF65-F5344CB8AC3E}">
        <p14:creationId xmlns:p14="http://schemas.microsoft.com/office/powerpoint/2010/main" val="14246492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2FAA5D-F157-445B-8EB0-A8CA9E720223}"/>
              </a:ext>
            </a:extLst>
          </p:cNvPr>
          <p:cNvSpPr txBox="1"/>
          <p:nvPr/>
        </p:nvSpPr>
        <p:spPr>
          <a:xfrm>
            <a:off x="600635" y="864658"/>
            <a:ext cx="11196917" cy="5355312"/>
          </a:xfrm>
          <a:prstGeom prst="rect">
            <a:avLst/>
          </a:prstGeom>
          <a:noFill/>
        </p:spPr>
        <p:txBody>
          <a:bodyPr wrap="square">
            <a:spAutoFit/>
          </a:bodyPr>
          <a:lstStyle/>
          <a:p>
            <a:pPr algn="just"/>
            <a:r>
              <a:rPr lang="en-US" b="1" dirty="0"/>
              <a:t>Outline of a Heuristic Algebraic Optimization Algorithm</a:t>
            </a:r>
          </a:p>
          <a:p>
            <a:pPr algn="just"/>
            <a:endParaRPr lang="en-US" altLang="en-US" b="1" dirty="0"/>
          </a:p>
          <a:p>
            <a:pPr algn="just"/>
            <a:r>
              <a:rPr lang="en-US" dirty="0"/>
              <a:t>We can now outline the steps of an algorithm that utilizes some of the above rules to transform an initial query tree into a final tree that is more efficient to execute.</a:t>
            </a:r>
          </a:p>
          <a:p>
            <a:pPr algn="just"/>
            <a:endParaRPr lang="en-US" dirty="0"/>
          </a:p>
          <a:p>
            <a:pPr algn="just"/>
            <a:r>
              <a:rPr lang="en-US" dirty="0"/>
              <a:t>The steps of the algorithm are as follows: </a:t>
            </a:r>
          </a:p>
          <a:p>
            <a:pPr algn="just"/>
            <a:endParaRPr lang="en-US" altLang="en-US" b="1" dirty="0"/>
          </a:p>
          <a:p>
            <a:pPr algn="just"/>
            <a:r>
              <a:rPr lang="en-US" dirty="0"/>
              <a:t>1. Using Rule 1, </a:t>
            </a:r>
            <a:r>
              <a:rPr lang="en-US" dirty="0">
                <a:solidFill>
                  <a:schemeClr val="accent1"/>
                </a:solidFill>
              </a:rPr>
              <a:t>break up the SELECT operations with conjunctive conditions into a cascade of SELECT operations</a:t>
            </a:r>
            <a:r>
              <a:rPr lang="en-US" dirty="0"/>
              <a:t>. </a:t>
            </a:r>
          </a:p>
          <a:p>
            <a:pPr algn="just"/>
            <a:endParaRPr lang="en-US" dirty="0"/>
          </a:p>
          <a:p>
            <a:pPr algn="just"/>
            <a:r>
              <a:rPr lang="en-US" dirty="0"/>
              <a:t>2. Using Rules 2, 4, 6, and 10 concerning the commutativity of SELECT with other operations, </a:t>
            </a:r>
            <a:r>
              <a:rPr lang="en-US" dirty="0">
                <a:solidFill>
                  <a:schemeClr val="accent1"/>
                </a:solidFill>
              </a:rPr>
              <a:t>move each SELECT operation as far down the query tree as is permitted by the attributes involved in the select condition</a:t>
            </a:r>
            <a:r>
              <a:rPr lang="en-US" dirty="0"/>
              <a:t>. </a:t>
            </a:r>
          </a:p>
          <a:p>
            <a:pPr algn="just"/>
            <a:endParaRPr lang="en-US" dirty="0"/>
          </a:p>
          <a:p>
            <a:pPr algn="just"/>
            <a:r>
              <a:rPr lang="en-US" dirty="0"/>
              <a:t>3. Using Rules 5 and 9 concerning commutativity and associativity of binary operations, </a:t>
            </a:r>
            <a:r>
              <a:rPr lang="en-US" dirty="0">
                <a:solidFill>
                  <a:schemeClr val="accent1"/>
                </a:solidFill>
              </a:rPr>
              <a:t>rearrange the leaf nodes of the tree using the following criteria. Position the leaf node relations with the most restrictive SELECT operations so they are executed first in the query tree representation</a:t>
            </a:r>
            <a:r>
              <a:rPr lang="en-US" dirty="0"/>
              <a:t>. Make sure that the ordering of leaf nodes does not cause CARTESIAN PRODUCT operations. </a:t>
            </a:r>
          </a:p>
          <a:p>
            <a:pPr algn="just"/>
            <a:endParaRPr lang="en-US" dirty="0"/>
          </a:p>
          <a:p>
            <a:pPr algn="just"/>
            <a:r>
              <a:rPr lang="en-US" dirty="0"/>
              <a:t>4. Using Rule 12, </a:t>
            </a:r>
            <a:r>
              <a:rPr lang="en-US" dirty="0">
                <a:solidFill>
                  <a:schemeClr val="accent1"/>
                </a:solidFill>
              </a:rPr>
              <a:t>combine a CARTESIAN PRODUCT operation with a subsequent SELECT operation in the tree into a JOIN operation</a:t>
            </a:r>
            <a:r>
              <a:rPr lang="en-US" dirty="0"/>
              <a:t>, if the condition represents a join condition. </a:t>
            </a:r>
          </a:p>
        </p:txBody>
      </p:sp>
    </p:spTree>
    <p:extLst>
      <p:ext uri="{BB962C8B-B14F-4D97-AF65-F5344CB8AC3E}">
        <p14:creationId xmlns:p14="http://schemas.microsoft.com/office/powerpoint/2010/main" val="16616921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54DA2D-8AF5-9AB6-6DEC-61395503C141}"/>
              </a:ext>
            </a:extLst>
          </p:cNvPr>
          <p:cNvSpPr txBox="1"/>
          <p:nvPr/>
        </p:nvSpPr>
        <p:spPr>
          <a:xfrm>
            <a:off x="564775" y="810870"/>
            <a:ext cx="11295530" cy="3416320"/>
          </a:xfrm>
          <a:prstGeom prst="rect">
            <a:avLst/>
          </a:prstGeom>
          <a:noFill/>
        </p:spPr>
        <p:txBody>
          <a:bodyPr wrap="square">
            <a:spAutoFit/>
          </a:bodyPr>
          <a:lstStyle/>
          <a:p>
            <a:pPr algn="just"/>
            <a:r>
              <a:rPr lang="en-US" dirty="0"/>
              <a:t>5. Using Rules 3, 4, 7, and 11 concerning the cascading of PROJECT and the commuting of PROJECT with other operations, </a:t>
            </a:r>
            <a:r>
              <a:rPr lang="en-US" dirty="0">
                <a:solidFill>
                  <a:schemeClr val="accent1"/>
                </a:solidFill>
              </a:rPr>
              <a:t>break down and move lists of projection attributes down the tree as far as possible by creating new PROJECT operations as needed</a:t>
            </a:r>
            <a:r>
              <a:rPr lang="en-US" dirty="0"/>
              <a:t>. </a:t>
            </a:r>
            <a:endParaRPr lang="en-US" altLang="en-US" b="1" dirty="0"/>
          </a:p>
          <a:p>
            <a:pPr algn="just"/>
            <a:endParaRPr lang="en-US" dirty="0"/>
          </a:p>
          <a:p>
            <a:pPr algn="just"/>
            <a:r>
              <a:rPr lang="en-US" dirty="0"/>
              <a:t>6. Identify subtrees that represent groups of operations that can be executed by a single algorithm.</a:t>
            </a:r>
          </a:p>
          <a:p>
            <a:endParaRPr lang="en-US" dirty="0"/>
          </a:p>
          <a:p>
            <a:endParaRPr lang="en-US" dirty="0"/>
          </a:p>
          <a:p>
            <a:pPr algn="just"/>
            <a:r>
              <a:rPr lang="en-US" dirty="0"/>
              <a:t>In our example, Figure 19.2(b) shows the tree in Figure 19.2(a) after applying steps 1 and 2 of the algorithm; </a:t>
            </a:r>
          </a:p>
          <a:p>
            <a:pPr algn="just"/>
            <a:endParaRPr lang="en-US" dirty="0"/>
          </a:p>
          <a:p>
            <a:pPr algn="just"/>
            <a:r>
              <a:rPr lang="en-US" dirty="0"/>
              <a:t>Figure 19.2(c) shows the tree after step 3; Figure 19.2(d) after step 4; and Figure 19.2(e) after step 5. </a:t>
            </a:r>
          </a:p>
          <a:p>
            <a:pPr algn="just"/>
            <a:endParaRPr lang="en-US" dirty="0"/>
          </a:p>
          <a:p>
            <a:pPr algn="just"/>
            <a:r>
              <a:rPr lang="en-US" dirty="0"/>
              <a:t>In step 6, we may group together the operations in the subtree whose root is the operation π</a:t>
            </a:r>
            <a:r>
              <a:rPr lang="en-US" baseline="-25000" dirty="0" err="1"/>
              <a:t>Essn</a:t>
            </a:r>
            <a:r>
              <a:rPr lang="en-US" dirty="0"/>
              <a:t> into a single algorithm. </a:t>
            </a:r>
          </a:p>
        </p:txBody>
      </p:sp>
    </p:spTree>
    <p:extLst>
      <p:ext uri="{BB962C8B-B14F-4D97-AF65-F5344CB8AC3E}">
        <p14:creationId xmlns:p14="http://schemas.microsoft.com/office/powerpoint/2010/main" val="18473793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EB01EE-AA75-7B2D-AC3B-A293C8C2B621}"/>
              </a:ext>
            </a:extLst>
          </p:cNvPr>
          <p:cNvSpPr txBox="1"/>
          <p:nvPr/>
        </p:nvSpPr>
        <p:spPr>
          <a:xfrm>
            <a:off x="690282" y="695742"/>
            <a:ext cx="11071411" cy="3693319"/>
          </a:xfrm>
          <a:prstGeom prst="rect">
            <a:avLst/>
          </a:prstGeom>
          <a:noFill/>
        </p:spPr>
        <p:txBody>
          <a:bodyPr wrap="square">
            <a:spAutoFit/>
          </a:bodyPr>
          <a:lstStyle/>
          <a:p>
            <a:pPr algn="just"/>
            <a:r>
              <a:rPr lang="en-US" b="1" dirty="0"/>
              <a:t>Example of Transforming a Query</a:t>
            </a:r>
            <a:endParaRPr lang="en-US" dirty="0"/>
          </a:p>
          <a:p>
            <a:pPr algn="just"/>
            <a:endParaRPr lang="en-US" dirty="0"/>
          </a:p>
          <a:p>
            <a:pPr algn="just"/>
            <a:r>
              <a:rPr lang="en-US" dirty="0"/>
              <a:t>Consider the following query Q on the COMPANY database: </a:t>
            </a:r>
          </a:p>
          <a:p>
            <a:pPr algn="just"/>
            <a:endParaRPr lang="en-US" dirty="0"/>
          </a:p>
          <a:p>
            <a:pPr algn="just"/>
            <a:r>
              <a:rPr lang="en-US" dirty="0"/>
              <a:t>Find the last names of employees born after 1957 who work on a project named ‘Aquarius’. </a:t>
            </a:r>
          </a:p>
          <a:p>
            <a:pPr algn="just"/>
            <a:endParaRPr lang="en-US" dirty="0"/>
          </a:p>
          <a:p>
            <a:pPr algn="just"/>
            <a:r>
              <a:rPr lang="en-US" dirty="0"/>
              <a:t>This query can be specified in SQL as follows: </a:t>
            </a:r>
          </a:p>
          <a:p>
            <a:pPr algn="just"/>
            <a:endParaRPr lang="en-US" dirty="0"/>
          </a:p>
          <a:p>
            <a:r>
              <a:rPr lang="en-US" dirty="0"/>
              <a:t>            Q: SELECT </a:t>
            </a:r>
            <a:r>
              <a:rPr lang="en-US" dirty="0" err="1"/>
              <a:t>E.Lname</a:t>
            </a:r>
            <a:r>
              <a:rPr lang="en-US" dirty="0"/>
              <a:t> </a:t>
            </a:r>
          </a:p>
          <a:p>
            <a:r>
              <a:rPr lang="en-US" dirty="0"/>
              <a:t>	FROM EMPLOYEE E, WORKS_ON W, PROJECT P </a:t>
            </a:r>
          </a:p>
          <a:p>
            <a:r>
              <a:rPr lang="en-US" dirty="0"/>
              <a:t>	WHERE </a:t>
            </a:r>
            <a:r>
              <a:rPr lang="en-US" dirty="0" err="1"/>
              <a:t>P.Pname</a:t>
            </a:r>
            <a:r>
              <a:rPr lang="en-US" dirty="0"/>
              <a:t>=‘Aquarius’ AND </a:t>
            </a:r>
            <a:r>
              <a:rPr lang="en-US" dirty="0" err="1"/>
              <a:t>P.Pnumber</a:t>
            </a:r>
            <a:r>
              <a:rPr lang="en-US" dirty="0"/>
              <a:t>=</a:t>
            </a:r>
            <a:r>
              <a:rPr lang="en-US" dirty="0" err="1"/>
              <a:t>W.Pno</a:t>
            </a:r>
            <a:r>
              <a:rPr lang="en-US" dirty="0"/>
              <a:t> AND </a:t>
            </a:r>
            <a:r>
              <a:rPr lang="en-US" dirty="0" err="1"/>
              <a:t>W.Essn</a:t>
            </a:r>
            <a:r>
              <a:rPr lang="en-US" dirty="0"/>
              <a:t>=</a:t>
            </a:r>
            <a:r>
              <a:rPr lang="en-US" dirty="0" err="1"/>
              <a:t>E.Ssn</a:t>
            </a:r>
            <a:r>
              <a:rPr lang="en-US" dirty="0"/>
              <a:t> AND </a:t>
            </a:r>
            <a:r>
              <a:rPr lang="en-US" dirty="0" err="1"/>
              <a:t>E.Bdate</a:t>
            </a:r>
            <a:r>
              <a:rPr lang="en-US" dirty="0"/>
              <a:t> &gt; ‘1957-12-31’; </a:t>
            </a:r>
          </a:p>
          <a:p>
            <a:pPr algn="just"/>
            <a:endParaRPr lang="en-US" dirty="0"/>
          </a:p>
          <a:p>
            <a:pPr algn="just"/>
            <a:r>
              <a:rPr lang="en-US" dirty="0"/>
              <a:t>The initial query tree for Q is shown in Figure 19.2(a). </a:t>
            </a:r>
            <a:endParaRPr lang="en-IN" dirty="0"/>
          </a:p>
        </p:txBody>
      </p:sp>
    </p:spTree>
    <p:extLst>
      <p:ext uri="{BB962C8B-B14F-4D97-AF65-F5344CB8AC3E}">
        <p14:creationId xmlns:p14="http://schemas.microsoft.com/office/powerpoint/2010/main" val="9238762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969977-502E-0BCB-B243-10914AECF56B}"/>
              </a:ext>
            </a:extLst>
          </p:cNvPr>
          <p:cNvPicPr>
            <a:picLocks noChangeAspect="1"/>
          </p:cNvPicPr>
          <p:nvPr/>
        </p:nvPicPr>
        <p:blipFill>
          <a:blip r:embed="rId2"/>
          <a:stretch>
            <a:fillRect/>
          </a:stretch>
        </p:blipFill>
        <p:spPr>
          <a:xfrm>
            <a:off x="2017060" y="537881"/>
            <a:ext cx="7368988" cy="6239437"/>
          </a:xfrm>
          <a:prstGeom prst="rect">
            <a:avLst/>
          </a:prstGeom>
        </p:spPr>
      </p:pic>
    </p:spTree>
    <p:extLst>
      <p:ext uri="{BB962C8B-B14F-4D97-AF65-F5344CB8AC3E}">
        <p14:creationId xmlns:p14="http://schemas.microsoft.com/office/powerpoint/2010/main" val="34929621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991DBB-55DA-920E-D36A-945657041AEF}"/>
              </a:ext>
            </a:extLst>
          </p:cNvPr>
          <p:cNvSpPr txBox="1"/>
          <p:nvPr/>
        </p:nvSpPr>
        <p:spPr>
          <a:xfrm>
            <a:off x="645457" y="824369"/>
            <a:ext cx="11116235" cy="5632311"/>
          </a:xfrm>
          <a:prstGeom prst="rect">
            <a:avLst/>
          </a:prstGeom>
          <a:noFill/>
        </p:spPr>
        <p:txBody>
          <a:bodyPr wrap="square">
            <a:spAutoFit/>
          </a:bodyPr>
          <a:lstStyle/>
          <a:p>
            <a:pPr algn="just"/>
            <a:r>
              <a:rPr lang="en-US" dirty="0"/>
              <a:t>Executing this tree directly first creates a very large file containing the CARTESIAN PRODUCT of the entire EMPLOYEE, WORKS_ON, and PROJECT files. </a:t>
            </a:r>
          </a:p>
          <a:p>
            <a:pPr algn="just"/>
            <a:endParaRPr lang="en-US" dirty="0"/>
          </a:p>
          <a:p>
            <a:pPr algn="just"/>
            <a:r>
              <a:rPr lang="en-US" dirty="0"/>
              <a:t>That is why the initial query tree is never executed, but is transformed into another equivalent tree that is efficient to execute. </a:t>
            </a:r>
          </a:p>
          <a:p>
            <a:pPr algn="just"/>
            <a:endParaRPr lang="en-US" dirty="0"/>
          </a:p>
          <a:p>
            <a:pPr algn="just"/>
            <a:r>
              <a:rPr lang="en-US" dirty="0"/>
              <a:t>This particular query needs only one record from the PROJECT relation— for the ‘Aquarius’ project—and only the EMPLOYEE records whose date of birth is after ‘1957-12-31’. </a:t>
            </a:r>
          </a:p>
          <a:p>
            <a:pPr algn="just"/>
            <a:endParaRPr lang="en-US" dirty="0"/>
          </a:p>
          <a:p>
            <a:pPr algn="just"/>
            <a:r>
              <a:rPr lang="en-US" dirty="0"/>
              <a:t>Figure 19.2(b) shows an improved query tree that first applies the SELECT operations to reduce the number of tuples that appear in the CARTESIAN PRODUCT.</a:t>
            </a:r>
          </a:p>
          <a:p>
            <a:pPr algn="just"/>
            <a:endParaRPr lang="en-US" dirty="0"/>
          </a:p>
          <a:p>
            <a:pPr algn="just"/>
            <a:r>
              <a:rPr lang="en-US" dirty="0"/>
              <a:t>A further improvement is achieved by switching the positions of the EMPLOYEE and PROJECT relations in the tree, as shown in Figure 19.2(c). </a:t>
            </a:r>
          </a:p>
          <a:p>
            <a:pPr algn="just"/>
            <a:endParaRPr lang="en-US" dirty="0"/>
          </a:p>
          <a:p>
            <a:pPr algn="just"/>
            <a:r>
              <a:rPr lang="en-US" dirty="0"/>
              <a:t>This uses the information that </a:t>
            </a:r>
            <a:r>
              <a:rPr lang="en-US" dirty="0" err="1"/>
              <a:t>Pnumber</a:t>
            </a:r>
            <a:r>
              <a:rPr lang="en-US" dirty="0"/>
              <a:t> is a key attribute of the PROJECT relation, and hence the SELECT operation on the PROJECT relation will retrieve a single record only. </a:t>
            </a:r>
          </a:p>
          <a:p>
            <a:pPr algn="just"/>
            <a:endParaRPr lang="en-US" dirty="0"/>
          </a:p>
          <a:p>
            <a:pPr algn="just"/>
            <a:r>
              <a:rPr lang="en-US" dirty="0"/>
              <a:t>We can further improve the query tree by replacing any CARTESIAN PRODUCT operation that is followed by a join condition as a selection with a JOIN operation, as shown in Figure 19.2(d). </a:t>
            </a:r>
          </a:p>
        </p:txBody>
      </p:sp>
    </p:spTree>
    <p:extLst>
      <p:ext uri="{BB962C8B-B14F-4D97-AF65-F5344CB8AC3E}">
        <p14:creationId xmlns:p14="http://schemas.microsoft.com/office/powerpoint/2010/main" val="40598259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CB1C69-BEC0-DD1A-121F-EF39EA2E7233}"/>
              </a:ext>
            </a:extLst>
          </p:cNvPr>
          <p:cNvPicPr>
            <a:picLocks noChangeAspect="1"/>
          </p:cNvPicPr>
          <p:nvPr/>
        </p:nvPicPr>
        <p:blipFill>
          <a:blip r:embed="rId2"/>
          <a:stretch>
            <a:fillRect/>
          </a:stretch>
        </p:blipFill>
        <p:spPr>
          <a:xfrm>
            <a:off x="1809750" y="663388"/>
            <a:ext cx="8572500" cy="5755341"/>
          </a:xfrm>
          <a:prstGeom prst="rect">
            <a:avLst/>
          </a:prstGeom>
        </p:spPr>
      </p:pic>
    </p:spTree>
    <p:extLst>
      <p:ext uri="{BB962C8B-B14F-4D97-AF65-F5344CB8AC3E}">
        <p14:creationId xmlns:p14="http://schemas.microsoft.com/office/powerpoint/2010/main" val="10762224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EE6144-B0B1-12CF-8AD6-5820A8416F14}"/>
              </a:ext>
            </a:extLst>
          </p:cNvPr>
          <p:cNvSpPr txBox="1"/>
          <p:nvPr/>
        </p:nvSpPr>
        <p:spPr>
          <a:xfrm>
            <a:off x="618565" y="607402"/>
            <a:ext cx="11178988" cy="1477328"/>
          </a:xfrm>
          <a:prstGeom prst="rect">
            <a:avLst/>
          </a:prstGeom>
          <a:noFill/>
        </p:spPr>
        <p:txBody>
          <a:bodyPr wrap="square">
            <a:spAutoFit/>
          </a:bodyPr>
          <a:lstStyle/>
          <a:p>
            <a:pPr algn="just"/>
            <a:r>
              <a:rPr lang="en-US" dirty="0"/>
              <a:t>Another improvement is to keep only the attributes needed by subsequent operations in the intermediate relations, by including PROJECT (π) operations as early as possible in the query tree, as shown in Figure 19.2(e). </a:t>
            </a:r>
          </a:p>
          <a:p>
            <a:pPr algn="just"/>
            <a:endParaRPr lang="en-US" dirty="0"/>
          </a:p>
          <a:p>
            <a:pPr algn="just"/>
            <a:r>
              <a:rPr lang="en-US" dirty="0"/>
              <a:t>This reduces the attributes (columns) of the intermediate relations, whereas the SELECT operations reduce the number of tuples (records). </a:t>
            </a:r>
          </a:p>
        </p:txBody>
      </p:sp>
    </p:spTree>
    <p:extLst>
      <p:ext uri="{BB962C8B-B14F-4D97-AF65-F5344CB8AC3E}">
        <p14:creationId xmlns:p14="http://schemas.microsoft.com/office/powerpoint/2010/main" val="32083201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B96448-3417-018B-D46D-15412BECC567}"/>
              </a:ext>
            </a:extLst>
          </p:cNvPr>
          <p:cNvSpPr txBox="1"/>
          <p:nvPr/>
        </p:nvSpPr>
        <p:spPr>
          <a:xfrm>
            <a:off x="663388" y="1256889"/>
            <a:ext cx="11241741" cy="1754326"/>
          </a:xfrm>
          <a:prstGeom prst="rect">
            <a:avLst/>
          </a:prstGeom>
          <a:noFill/>
        </p:spPr>
        <p:txBody>
          <a:bodyPr wrap="square">
            <a:spAutoFit/>
          </a:bodyPr>
          <a:lstStyle/>
          <a:p>
            <a:r>
              <a:rPr lang="en-US" dirty="0"/>
              <a:t>	SELECT </a:t>
            </a:r>
            <a:r>
              <a:rPr lang="en-US" dirty="0" err="1"/>
              <a:t>E.Lname</a:t>
            </a:r>
            <a:r>
              <a:rPr lang="en-US" dirty="0"/>
              <a:t> </a:t>
            </a:r>
          </a:p>
          <a:p>
            <a:r>
              <a:rPr lang="en-US" dirty="0"/>
              <a:t>	FROM EMPLOYEE E, WORKS_ON W, PROJECT P </a:t>
            </a:r>
          </a:p>
          <a:p>
            <a:r>
              <a:rPr lang="en-US" dirty="0"/>
              <a:t>	WHERE </a:t>
            </a:r>
            <a:r>
              <a:rPr lang="en-US" dirty="0" err="1"/>
              <a:t>P.Pname</a:t>
            </a:r>
            <a:r>
              <a:rPr lang="en-US" dirty="0"/>
              <a:t>=‘Aquarius’ AND </a:t>
            </a:r>
            <a:r>
              <a:rPr lang="en-US" dirty="0" err="1"/>
              <a:t>P.Pnumber</a:t>
            </a:r>
            <a:r>
              <a:rPr lang="en-US" dirty="0"/>
              <a:t>=</a:t>
            </a:r>
            <a:r>
              <a:rPr lang="en-US" dirty="0" err="1"/>
              <a:t>W.Pno</a:t>
            </a:r>
            <a:r>
              <a:rPr lang="en-US" dirty="0"/>
              <a:t> AND </a:t>
            </a:r>
            <a:r>
              <a:rPr lang="en-US" dirty="0" err="1"/>
              <a:t>W.Essn</a:t>
            </a:r>
            <a:r>
              <a:rPr lang="en-US" dirty="0"/>
              <a:t>=</a:t>
            </a:r>
            <a:r>
              <a:rPr lang="en-US" dirty="0" err="1"/>
              <a:t>E.Ssn</a:t>
            </a:r>
            <a:r>
              <a:rPr lang="en-US" dirty="0"/>
              <a:t> AND </a:t>
            </a:r>
            <a:r>
              <a:rPr lang="en-US" dirty="0" err="1"/>
              <a:t>E.Bdate</a:t>
            </a:r>
            <a:r>
              <a:rPr lang="en-US" dirty="0"/>
              <a:t> &gt; ‘1957-12-31’; </a:t>
            </a:r>
          </a:p>
          <a:p>
            <a:endParaRPr lang="en-US" dirty="0"/>
          </a:p>
          <a:p>
            <a:endParaRPr lang="en-US" dirty="0"/>
          </a:p>
          <a:p>
            <a:r>
              <a:rPr lang="en-US" dirty="0"/>
              <a:t>π</a:t>
            </a:r>
            <a:r>
              <a:rPr lang="en-US" baseline="-25000" dirty="0" err="1"/>
              <a:t>Lname</a:t>
            </a:r>
            <a:r>
              <a:rPr lang="en-US" baseline="-25000" dirty="0"/>
              <a:t> </a:t>
            </a:r>
            <a:r>
              <a:rPr lang="en-US" dirty="0"/>
              <a:t>((((</a:t>
            </a:r>
            <a:r>
              <a:rPr lang="en-US" dirty="0" err="1"/>
              <a:t>σ</a:t>
            </a:r>
            <a:r>
              <a:rPr lang="en-US" baseline="-25000" dirty="0" err="1"/>
              <a:t>Pname</a:t>
            </a:r>
            <a:r>
              <a:rPr lang="en-US" baseline="-25000" dirty="0"/>
              <a:t>=‘Aquarius’</a:t>
            </a:r>
            <a:r>
              <a:rPr lang="en-US" dirty="0"/>
              <a:t>(PROJECT))      </a:t>
            </a:r>
            <a:r>
              <a:rPr lang="en-US" baseline="-25000" dirty="0" err="1"/>
              <a:t>Pnumber</a:t>
            </a:r>
            <a:r>
              <a:rPr lang="en-US" baseline="-25000" dirty="0"/>
              <a:t>=</a:t>
            </a:r>
            <a:r>
              <a:rPr lang="en-US" baseline="-25000" dirty="0" err="1"/>
              <a:t>Pno</a:t>
            </a:r>
            <a:r>
              <a:rPr lang="en-US" dirty="0"/>
              <a:t>(</a:t>
            </a:r>
            <a:r>
              <a:rPr lang="en-US" dirty="0" err="1"/>
              <a:t>WORKS_on</a:t>
            </a:r>
            <a:r>
              <a:rPr lang="en-US" dirty="0"/>
              <a:t>)))      </a:t>
            </a:r>
            <a:r>
              <a:rPr lang="en-US" baseline="-25000" dirty="0" err="1"/>
              <a:t>Essn</a:t>
            </a:r>
            <a:r>
              <a:rPr lang="en-US" baseline="-25000" dirty="0"/>
              <a:t>=</a:t>
            </a:r>
            <a:r>
              <a:rPr lang="en-US" baseline="-25000" dirty="0" err="1"/>
              <a:t>Ssn</a:t>
            </a:r>
            <a:r>
              <a:rPr lang="en-US" dirty="0"/>
              <a:t>(</a:t>
            </a:r>
            <a:r>
              <a:rPr lang="en-US" dirty="0" err="1"/>
              <a:t>σ</a:t>
            </a:r>
            <a:r>
              <a:rPr lang="en-US" baseline="-25000" dirty="0" err="1"/>
              <a:t>E.Bdate</a:t>
            </a:r>
            <a:r>
              <a:rPr lang="en-US" baseline="-25000" dirty="0"/>
              <a:t>&gt;‘1957-12-31’ </a:t>
            </a:r>
            <a:r>
              <a:rPr lang="en-US" dirty="0"/>
              <a:t>(EMPLOYEE)))</a:t>
            </a:r>
          </a:p>
        </p:txBody>
      </p:sp>
      <p:pic>
        <p:nvPicPr>
          <p:cNvPr id="4" name="Picture 3">
            <a:extLst>
              <a:ext uri="{FF2B5EF4-FFF2-40B4-BE49-F238E27FC236}">
                <a16:creationId xmlns:a16="http://schemas.microsoft.com/office/drawing/2014/main" id="{578EF5BE-4F54-F2AB-728A-47C339719F53}"/>
              </a:ext>
            </a:extLst>
          </p:cNvPr>
          <p:cNvPicPr>
            <a:picLocks noChangeAspect="1"/>
          </p:cNvPicPr>
          <p:nvPr/>
        </p:nvPicPr>
        <p:blipFill>
          <a:blip r:embed="rId2"/>
          <a:stretch>
            <a:fillRect/>
          </a:stretch>
        </p:blipFill>
        <p:spPr>
          <a:xfrm>
            <a:off x="3900204" y="2706393"/>
            <a:ext cx="238125" cy="200025"/>
          </a:xfrm>
          <a:prstGeom prst="rect">
            <a:avLst/>
          </a:prstGeom>
        </p:spPr>
      </p:pic>
      <p:pic>
        <p:nvPicPr>
          <p:cNvPr id="5" name="Picture 4">
            <a:extLst>
              <a:ext uri="{FF2B5EF4-FFF2-40B4-BE49-F238E27FC236}">
                <a16:creationId xmlns:a16="http://schemas.microsoft.com/office/drawing/2014/main" id="{A08272BD-197F-AD5B-9EB7-64EF0CBFFD59}"/>
              </a:ext>
            </a:extLst>
          </p:cNvPr>
          <p:cNvPicPr>
            <a:picLocks noChangeAspect="1"/>
          </p:cNvPicPr>
          <p:nvPr/>
        </p:nvPicPr>
        <p:blipFill>
          <a:blip r:embed="rId2"/>
          <a:stretch>
            <a:fillRect/>
          </a:stretch>
        </p:blipFill>
        <p:spPr>
          <a:xfrm>
            <a:off x="6446180" y="2706393"/>
            <a:ext cx="238125" cy="200025"/>
          </a:xfrm>
          <a:prstGeom prst="rect">
            <a:avLst/>
          </a:prstGeom>
        </p:spPr>
      </p:pic>
      <p:pic>
        <p:nvPicPr>
          <p:cNvPr id="7" name="Picture 6">
            <a:extLst>
              <a:ext uri="{FF2B5EF4-FFF2-40B4-BE49-F238E27FC236}">
                <a16:creationId xmlns:a16="http://schemas.microsoft.com/office/drawing/2014/main" id="{63834DA4-D27A-CD64-6234-5A125750BEDA}"/>
              </a:ext>
            </a:extLst>
          </p:cNvPr>
          <p:cNvPicPr>
            <a:picLocks noChangeAspect="1"/>
          </p:cNvPicPr>
          <p:nvPr/>
        </p:nvPicPr>
        <p:blipFill>
          <a:blip r:embed="rId3"/>
          <a:stretch>
            <a:fillRect/>
          </a:stretch>
        </p:blipFill>
        <p:spPr>
          <a:xfrm>
            <a:off x="3110753" y="3532095"/>
            <a:ext cx="5409359" cy="3133600"/>
          </a:xfrm>
          <a:prstGeom prst="rect">
            <a:avLst/>
          </a:prstGeom>
        </p:spPr>
      </p:pic>
    </p:spTree>
    <p:extLst>
      <p:ext uri="{BB962C8B-B14F-4D97-AF65-F5344CB8AC3E}">
        <p14:creationId xmlns:p14="http://schemas.microsoft.com/office/powerpoint/2010/main" val="1692024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3533</TotalTime>
  <Words>4676</Words>
  <Application>Microsoft Office PowerPoint</Application>
  <PresentationFormat>Widescreen</PresentationFormat>
  <Paragraphs>346</Paragraphs>
  <Slides>40</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Arial</vt:lpstr>
      <vt:lpstr>Calibri</vt:lpstr>
      <vt:lpstr>Calibri Light</vt:lpstr>
      <vt:lpstr>Cambria Math</vt:lpstr>
      <vt:lpstr>Monotype Sorts</vt:lpstr>
      <vt:lpstr>Symbol</vt:lpstr>
      <vt:lpstr>Times New Roman</vt:lpstr>
      <vt:lpstr>Wingdings</vt:lpstr>
      <vt:lpstr>Office Theme</vt:lpstr>
      <vt:lpstr>Query Processing and Optimization </vt:lpstr>
      <vt:lpstr>Basic Steps in Query Processing</vt:lpstr>
      <vt:lpstr>Basic Steps in Query Processing (Cont.)</vt:lpstr>
      <vt:lpstr>Basic Steps in Query Processing: Optimization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Transformation of Relational Expressions</vt:lpstr>
      <vt:lpstr>Equivalence Rules</vt:lpstr>
      <vt:lpstr>Equivalence Rules (Cont.)</vt:lpstr>
      <vt:lpstr>Pictorial Depiction of Equivalence Rules</vt:lpstr>
      <vt:lpstr>Equivalence Rules (Cont.)</vt:lpstr>
      <vt:lpstr>Equivalence Rules (Cont.)</vt:lpstr>
      <vt:lpstr>Equivalence Rules (Cont.)</vt:lpstr>
      <vt:lpstr>Exercise</vt:lpstr>
      <vt:lpstr>Equivalence Rules (Cont.)</vt:lpstr>
      <vt:lpstr>Equivalence Rules (Cont.)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Query Processing and Optimization </dc:title>
  <dc:creator>HP</dc:creator>
  <cp:lastModifiedBy>jeevana jyothi</cp:lastModifiedBy>
  <cp:revision>138</cp:revision>
  <dcterms:created xsi:type="dcterms:W3CDTF">2023-02-27T11:12:28Z</dcterms:created>
  <dcterms:modified xsi:type="dcterms:W3CDTF">2023-06-21T09:41:02Z</dcterms:modified>
</cp:coreProperties>
</file>