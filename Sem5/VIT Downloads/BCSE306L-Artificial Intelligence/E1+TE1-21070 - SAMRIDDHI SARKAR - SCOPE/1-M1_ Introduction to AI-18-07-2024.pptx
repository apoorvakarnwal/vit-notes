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6" r:id="rId2"/>
    <p:sldId id="308" r:id="rId3"/>
    <p:sldId id="309" r:id="rId4"/>
    <p:sldId id="307" r:id="rId5"/>
    <p:sldId id="310" r:id="rId6"/>
    <p:sldId id="262" r:id="rId7"/>
    <p:sldId id="263" r:id="rId8"/>
    <p:sldId id="261" r:id="rId9"/>
    <p:sldId id="258" r:id="rId10"/>
    <p:sldId id="311" r:id="rId11"/>
    <p:sldId id="259" r:id="rId12"/>
    <p:sldId id="260" r:id="rId13"/>
    <p:sldId id="313" r:id="rId14"/>
    <p:sldId id="312" r:id="rId15"/>
    <p:sldId id="314" r:id="rId16"/>
    <p:sldId id="315" r:id="rId17"/>
    <p:sldId id="317" r:id="rId18"/>
    <p:sldId id="316" r:id="rId19"/>
    <p:sldId id="318" r:id="rId20"/>
    <p:sldId id="298" r:id="rId21"/>
    <p:sldId id="319" r:id="rId22"/>
    <p:sldId id="299" r:id="rId23"/>
    <p:sldId id="300" r:id="rId24"/>
    <p:sldId id="301" r:id="rId25"/>
    <p:sldId id="302" r:id="rId26"/>
    <p:sldId id="303" r:id="rId27"/>
    <p:sldId id="304" r:id="rId28"/>
    <p:sldId id="305" r:id="rId29"/>
    <p:sldId id="290" r:id="rId30"/>
    <p:sldId id="291" r:id="rId31"/>
    <p:sldId id="292" r:id="rId32"/>
    <p:sldId id="293" r:id="rId33"/>
    <p:sldId id="294" r:id="rId34"/>
    <p:sldId id="295" r:id="rId35"/>
    <p:sldId id="296" r:id="rId36"/>
    <p:sldId id="297"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180" y="-18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0EAFE58-50AB-4CE7-BAAD-90D4603B1557}" type="datetimeFigureOut">
              <a:rPr lang="en-IN" smtClean="0"/>
              <a:t>15-07-2024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B74614-1044-4CF8-8FD7-F973A9A13253}" type="slidenum">
              <a:rPr lang="en-IN" smtClean="0"/>
              <a:t>‹#›</a:t>
            </a:fld>
            <a:endParaRPr lang="en-IN"/>
          </a:p>
        </p:txBody>
      </p:sp>
    </p:spTree>
    <p:extLst>
      <p:ext uri="{BB962C8B-B14F-4D97-AF65-F5344CB8AC3E}">
        <p14:creationId xmlns:p14="http://schemas.microsoft.com/office/powerpoint/2010/main" val="3497991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0EAFE58-50AB-4CE7-BAAD-90D4603B1557}" type="datetimeFigureOut">
              <a:rPr lang="en-IN" smtClean="0"/>
              <a:t>15-07-2024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B74614-1044-4CF8-8FD7-F973A9A13253}" type="slidenum">
              <a:rPr lang="en-IN" smtClean="0"/>
              <a:t>‹#›</a:t>
            </a:fld>
            <a:endParaRPr lang="en-IN"/>
          </a:p>
        </p:txBody>
      </p:sp>
    </p:spTree>
    <p:extLst>
      <p:ext uri="{BB962C8B-B14F-4D97-AF65-F5344CB8AC3E}">
        <p14:creationId xmlns:p14="http://schemas.microsoft.com/office/powerpoint/2010/main" val="2829480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EAFE58-50AB-4CE7-BAAD-90D4603B1557}" type="datetimeFigureOut">
              <a:rPr lang="en-IN" smtClean="0"/>
              <a:t>15-07-2024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B74614-1044-4CF8-8FD7-F973A9A13253}" type="slidenum">
              <a:rPr lang="en-IN" smtClean="0"/>
              <a:t>‹#›</a:t>
            </a:fld>
            <a:endParaRPr lang="en-IN"/>
          </a:p>
        </p:txBody>
      </p:sp>
    </p:spTree>
    <p:extLst>
      <p:ext uri="{BB962C8B-B14F-4D97-AF65-F5344CB8AC3E}">
        <p14:creationId xmlns:p14="http://schemas.microsoft.com/office/powerpoint/2010/main" val="3864876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0EAFE58-50AB-4CE7-BAAD-90D4603B1557}" type="datetimeFigureOut">
              <a:rPr lang="en-IN" smtClean="0"/>
              <a:t>15-07-2024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4B74614-1044-4CF8-8FD7-F973A9A13253}" type="slidenum">
              <a:rPr lang="en-IN" smtClean="0"/>
              <a:t>‹#›</a:t>
            </a:fld>
            <a:endParaRPr lang="en-IN"/>
          </a:p>
        </p:txBody>
      </p:sp>
    </p:spTree>
    <p:extLst>
      <p:ext uri="{BB962C8B-B14F-4D97-AF65-F5344CB8AC3E}">
        <p14:creationId xmlns:p14="http://schemas.microsoft.com/office/powerpoint/2010/main" val="3018855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EAFE58-50AB-4CE7-BAAD-90D4603B1557}" type="datetimeFigureOut">
              <a:rPr lang="en-IN" smtClean="0"/>
              <a:t>15-07-2024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4B74614-1044-4CF8-8FD7-F973A9A13253}" type="slidenum">
              <a:rPr lang="en-IN" smtClean="0"/>
              <a:t>‹#›</a:t>
            </a:fld>
            <a:endParaRPr lang="en-IN"/>
          </a:p>
        </p:txBody>
      </p:sp>
    </p:spTree>
    <p:extLst>
      <p:ext uri="{BB962C8B-B14F-4D97-AF65-F5344CB8AC3E}">
        <p14:creationId xmlns:p14="http://schemas.microsoft.com/office/powerpoint/2010/main" val="3458361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0EAFE58-50AB-4CE7-BAAD-90D4603B1557}" type="datetimeFigureOut">
              <a:rPr lang="en-IN" smtClean="0"/>
              <a:t>15-07-2024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4B74614-1044-4CF8-8FD7-F973A9A13253}" type="slidenum">
              <a:rPr lang="en-IN" smtClean="0"/>
              <a:t>‹#›</a:t>
            </a:fld>
            <a:endParaRPr lang="en-IN"/>
          </a:p>
        </p:txBody>
      </p:sp>
    </p:spTree>
    <p:extLst>
      <p:ext uri="{BB962C8B-B14F-4D97-AF65-F5344CB8AC3E}">
        <p14:creationId xmlns:p14="http://schemas.microsoft.com/office/powerpoint/2010/main" val="3150244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EAFE58-50AB-4CE7-BAAD-90D4603B1557}" type="datetimeFigureOut">
              <a:rPr lang="en-IN" smtClean="0"/>
              <a:t>15-07-2024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4B74614-1044-4CF8-8FD7-F973A9A13253}" type="slidenum">
              <a:rPr lang="en-IN" smtClean="0"/>
              <a:t>‹#›</a:t>
            </a:fld>
            <a:endParaRPr lang="en-IN"/>
          </a:p>
        </p:txBody>
      </p:sp>
    </p:spTree>
    <p:extLst>
      <p:ext uri="{BB962C8B-B14F-4D97-AF65-F5344CB8AC3E}">
        <p14:creationId xmlns:p14="http://schemas.microsoft.com/office/powerpoint/2010/main" val="55721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EAFE58-50AB-4CE7-BAAD-90D4603B1557}" type="datetimeFigureOut">
              <a:rPr lang="en-IN" smtClean="0"/>
              <a:t>15-07-2024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4B74614-1044-4CF8-8FD7-F973A9A13253}" type="slidenum">
              <a:rPr lang="en-IN" smtClean="0"/>
              <a:t>‹#›</a:t>
            </a:fld>
            <a:endParaRPr lang="en-IN"/>
          </a:p>
        </p:txBody>
      </p:sp>
    </p:spTree>
    <p:extLst>
      <p:ext uri="{BB962C8B-B14F-4D97-AF65-F5344CB8AC3E}">
        <p14:creationId xmlns:p14="http://schemas.microsoft.com/office/powerpoint/2010/main" val="4257087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EAFE58-50AB-4CE7-BAAD-90D4603B1557}" type="datetimeFigureOut">
              <a:rPr lang="en-IN" smtClean="0"/>
              <a:t>15-07-2024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4B74614-1044-4CF8-8FD7-F973A9A13253}" type="slidenum">
              <a:rPr lang="en-IN" smtClean="0"/>
              <a:t>‹#›</a:t>
            </a:fld>
            <a:endParaRPr lang="en-IN"/>
          </a:p>
        </p:txBody>
      </p:sp>
    </p:spTree>
    <p:extLst>
      <p:ext uri="{BB962C8B-B14F-4D97-AF65-F5344CB8AC3E}">
        <p14:creationId xmlns:p14="http://schemas.microsoft.com/office/powerpoint/2010/main" val="3685806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0EAFE58-50AB-4CE7-BAAD-90D4603B1557}" type="datetimeFigureOut">
              <a:rPr lang="en-IN" smtClean="0"/>
              <a:t>15-07-2024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B74614-1044-4CF8-8FD7-F973A9A13253}" type="slidenum">
              <a:rPr lang="en-IN" smtClean="0"/>
              <a:t>‹#›</a:t>
            </a:fld>
            <a:endParaRPr lang="en-IN"/>
          </a:p>
        </p:txBody>
      </p:sp>
    </p:spTree>
    <p:extLst>
      <p:ext uri="{BB962C8B-B14F-4D97-AF65-F5344CB8AC3E}">
        <p14:creationId xmlns:p14="http://schemas.microsoft.com/office/powerpoint/2010/main" val="525005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0EAFE58-50AB-4CE7-BAAD-90D4603B1557}" type="datetimeFigureOut">
              <a:rPr lang="en-IN" smtClean="0"/>
              <a:t>15-07-2024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B74614-1044-4CF8-8FD7-F973A9A13253}" type="slidenum">
              <a:rPr lang="en-IN" smtClean="0"/>
              <a:t>‹#›</a:t>
            </a:fld>
            <a:endParaRPr lang="en-IN"/>
          </a:p>
        </p:txBody>
      </p:sp>
    </p:spTree>
    <p:extLst>
      <p:ext uri="{BB962C8B-B14F-4D97-AF65-F5344CB8AC3E}">
        <p14:creationId xmlns:p14="http://schemas.microsoft.com/office/powerpoint/2010/main" val="3628840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EAFE58-50AB-4CE7-BAAD-90D4603B1557}" type="datetimeFigureOut">
              <a:rPr lang="en-IN" smtClean="0"/>
              <a:t>15-07-2024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B74614-1044-4CF8-8FD7-F973A9A13253}" type="slidenum">
              <a:rPr lang="en-IN" smtClean="0"/>
              <a:t>‹#›</a:t>
            </a:fld>
            <a:endParaRPr lang="en-IN"/>
          </a:p>
        </p:txBody>
      </p:sp>
    </p:spTree>
    <p:extLst>
      <p:ext uri="{BB962C8B-B14F-4D97-AF65-F5344CB8AC3E}">
        <p14:creationId xmlns:p14="http://schemas.microsoft.com/office/powerpoint/2010/main" val="28562393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640A8-6FE9-4D79-5611-A095101E4963}"/>
              </a:ext>
            </a:extLst>
          </p:cNvPr>
          <p:cNvSpPr>
            <a:spLocks noGrp="1"/>
          </p:cNvSpPr>
          <p:nvPr>
            <p:ph type="title"/>
          </p:nvPr>
        </p:nvSpPr>
        <p:spPr>
          <a:xfrm>
            <a:off x="457200" y="274638"/>
            <a:ext cx="8229600" cy="634082"/>
          </a:xfrm>
        </p:spPr>
        <p:txBody>
          <a:bodyPr>
            <a:normAutofit fontScale="90000"/>
          </a:bodyPr>
          <a:lstStyle/>
          <a:p>
            <a:r>
              <a:rPr lang="en-IN" dirty="0"/>
              <a:t>Introduction to Artificial Intelligent</a:t>
            </a:r>
          </a:p>
        </p:txBody>
      </p:sp>
      <p:pic>
        <p:nvPicPr>
          <p:cNvPr id="5" name="Content Placeholder 4">
            <a:extLst>
              <a:ext uri="{FF2B5EF4-FFF2-40B4-BE49-F238E27FC236}">
                <a16:creationId xmlns:a16="http://schemas.microsoft.com/office/drawing/2014/main" id="{27B1999D-AD02-5296-4CF8-EF792EBBE96E}"/>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3568" y="1176710"/>
            <a:ext cx="8229600" cy="3332410"/>
          </a:xfrm>
        </p:spPr>
      </p:pic>
      <p:sp>
        <p:nvSpPr>
          <p:cNvPr id="6" name="TextBox 5">
            <a:extLst>
              <a:ext uri="{FF2B5EF4-FFF2-40B4-BE49-F238E27FC236}">
                <a16:creationId xmlns:a16="http://schemas.microsoft.com/office/drawing/2014/main" id="{80D20F40-478B-479E-C09B-7D22A82FF20D}"/>
              </a:ext>
            </a:extLst>
          </p:cNvPr>
          <p:cNvSpPr txBox="1"/>
          <p:nvPr/>
        </p:nvSpPr>
        <p:spPr>
          <a:xfrm>
            <a:off x="4283968" y="1417638"/>
            <a:ext cx="3193504" cy="369332"/>
          </a:xfrm>
          <a:prstGeom prst="rect">
            <a:avLst/>
          </a:prstGeom>
          <a:noFill/>
        </p:spPr>
        <p:txBody>
          <a:bodyPr wrap="square" rtlCol="0">
            <a:spAutoFit/>
          </a:bodyPr>
          <a:lstStyle/>
          <a:p>
            <a:r>
              <a:rPr lang="en-IN" sz="1800" b="1" i="0" u="none" strike="noStrike" baseline="0" dirty="0">
                <a:latin typeface="Times-Bold"/>
              </a:rPr>
              <a:t>Chapter 1 Introduction</a:t>
            </a:r>
            <a:endParaRPr lang="en-IN" dirty="0"/>
          </a:p>
        </p:txBody>
      </p:sp>
      <p:sp>
        <p:nvSpPr>
          <p:cNvPr id="7" name="TextBox 6">
            <a:extLst>
              <a:ext uri="{FF2B5EF4-FFF2-40B4-BE49-F238E27FC236}">
                <a16:creationId xmlns:a16="http://schemas.microsoft.com/office/drawing/2014/main" id="{8E48CCBA-7F5D-6919-5030-8E405A5512EB}"/>
              </a:ext>
            </a:extLst>
          </p:cNvPr>
          <p:cNvSpPr txBox="1"/>
          <p:nvPr/>
        </p:nvSpPr>
        <p:spPr>
          <a:xfrm>
            <a:off x="4253096" y="1948955"/>
            <a:ext cx="4705345" cy="923330"/>
          </a:xfrm>
          <a:prstGeom prst="rect">
            <a:avLst/>
          </a:prstGeom>
          <a:noFill/>
        </p:spPr>
        <p:txBody>
          <a:bodyPr wrap="square" rtlCol="0">
            <a:spAutoFit/>
          </a:bodyPr>
          <a:lstStyle/>
          <a:p>
            <a:pPr algn="l"/>
            <a:r>
              <a:rPr lang="en-IN" sz="1800" b="1" i="0" u="none" strike="noStrike" baseline="0" dirty="0">
                <a:latin typeface="Times-Roman"/>
              </a:rPr>
              <a:t>Artificial Intelligence, A Modern Approach</a:t>
            </a:r>
          </a:p>
          <a:p>
            <a:pPr algn="l"/>
            <a:r>
              <a:rPr lang="en-IN" sz="1800" b="1" i="1" u="none" strike="noStrike" baseline="0" dirty="0">
                <a:latin typeface="Times-Italic"/>
              </a:rPr>
              <a:t>Third Edition</a:t>
            </a:r>
          </a:p>
          <a:p>
            <a:pPr algn="l"/>
            <a:r>
              <a:rPr lang="en-IN" sz="1800" b="1" i="0" u="none" strike="noStrike" baseline="0" dirty="0">
                <a:latin typeface="Times-Roman"/>
              </a:rPr>
              <a:t>Stuart J. Russell and Peter Norvig</a:t>
            </a:r>
            <a:endParaRPr lang="en-IN" b="1" dirty="0"/>
          </a:p>
        </p:txBody>
      </p:sp>
      <p:sp>
        <p:nvSpPr>
          <p:cNvPr id="8" name="TextBox 7">
            <a:extLst>
              <a:ext uri="{FF2B5EF4-FFF2-40B4-BE49-F238E27FC236}">
                <a16:creationId xmlns:a16="http://schemas.microsoft.com/office/drawing/2014/main" id="{53BB7972-BEBB-5435-A73E-8ADCF131D5F7}"/>
              </a:ext>
            </a:extLst>
          </p:cNvPr>
          <p:cNvSpPr txBox="1"/>
          <p:nvPr/>
        </p:nvSpPr>
        <p:spPr>
          <a:xfrm>
            <a:off x="6660232" y="5157192"/>
            <a:ext cx="2230804" cy="646331"/>
          </a:xfrm>
          <a:prstGeom prst="rect">
            <a:avLst/>
          </a:prstGeom>
          <a:noFill/>
        </p:spPr>
        <p:txBody>
          <a:bodyPr wrap="none" rtlCol="0">
            <a:spAutoFit/>
          </a:bodyPr>
          <a:lstStyle/>
          <a:p>
            <a:r>
              <a:rPr lang="en-IN" dirty="0" err="1">
                <a:solidFill>
                  <a:schemeClr val="tx1">
                    <a:lumMod val="50000"/>
                    <a:lumOff val="50000"/>
                  </a:schemeClr>
                </a:solidFill>
              </a:rPr>
              <a:t>Dr.</a:t>
            </a:r>
            <a:r>
              <a:rPr lang="en-IN" dirty="0">
                <a:solidFill>
                  <a:schemeClr val="tx1">
                    <a:lumMod val="50000"/>
                    <a:lumOff val="50000"/>
                  </a:schemeClr>
                </a:solidFill>
              </a:rPr>
              <a:t> Samriddhi Sarkar</a:t>
            </a:r>
          </a:p>
          <a:p>
            <a:r>
              <a:rPr lang="en-IN" dirty="0">
                <a:solidFill>
                  <a:schemeClr val="tx1">
                    <a:lumMod val="50000"/>
                    <a:lumOff val="50000"/>
                  </a:schemeClr>
                </a:solidFill>
              </a:rPr>
              <a:t>Asst Prof Sr Gr, SCOPE</a:t>
            </a:r>
          </a:p>
        </p:txBody>
      </p:sp>
    </p:spTree>
    <p:extLst>
      <p:ext uri="{BB962C8B-B14F-4D97-AF65-F5344CB8AC3E}">
        <p14:creationId xmlns:p14="http://schemas.microsoft.com/office/powerpoint/2010/main" val="1688172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D5C1F-5585-DCFC-EF82-AA42294A61CE}"/>
              </a:ext>
            </a:extLst>
          </p:cNvPr>
          <p:cNvSpPr>
            <a:spLocks noGrp="1"/>
          </p:cNvSpPr>
          <p:nvPr>
            <p:ph type="title"/>
          </p:nvPr>
        </p:nvSpPr>
        <p:spPr/>
        <p:txBody>
          <a:bodyPr/>
          <a:lstStyle/>
          <a:p>
            <a:r>
              <a:rPr lang="en-IN" dirty="0"/>
              <a:t>Dictionary meaning of Intelligence</a:t>
            </a:r>
          </a:p>
        </p:txBody>
      </p:sp>
      <p:pic>
        <p:nvPicPr>
          <p:cNvPr id="5" name="Content Placeholder 4">
            <a:extLst>
              <a:ext uri="{FF2B5EF4-FFF2-40B4-BE49-F238E27FC236}">
                <a16:creationId xmlns:a16="http://schemas.microsoft.com/office/drawing/2014/main" id="{9A611D7F-8A6A-DD9F-3086-15E22A3D3C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8623" y="2326402"/>
            <a:ext cx="5886753" cy="3073558"/>
          </a:xfrm>
        </p:spPr>
      </p:pic>
    </p:spTree>
    <p:extLst>
      <p:ext uri="{BB962C8B-B14F-4D97-AF65-F5344CB8AC3E}">
        <p14:creationId xmlns:p14="http://schemas.microsoft.com/office/powerpoint/2010/main" val="1086027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18DB2-DB43-6758-A378-B9A72F2F9E48}"/>
              </a:ext>
            </a:extLst>
          </p:cNvPr>
          <p:cNvSpPr>
            <a:spLocks noGrp="1"/>
          </p:cNvSpPr>
          <p:nvPr>
            <p:ph type="title"/>
          </p:nvPr>
        </p:nvSpPr>
        <p:spPr/>
        <p:txBody>
          <a:bodyPr/>
          <a:lstStyle/>
          <a:p>
            <a:r>
              <a:rPr lang="en-IN" dirty="0"/>
              <a:t>What is intelligence?</a:t>
            </a:r>
          </a:p>
        </p:txBody>
      </p:sp>
      <p:pic>
        <p:nvPicPr>
          <p:cNvPr id="5" name="Content Placeholder 4">
            <a:extLst>
              <a:ext uri="{FF2B5EF4-FFF2-40B4-BE49-F238E27FC236}">
                <a16:creationId xmlns:a16="http://schemas.microsoft.com/office/drawing/2014/main" id="{0367C37D-C25F-9F58-CA78-412382E7B5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2384" y="1700808"/>
            <a:ext cx="6439231" cy="4320480"/>
          </a:xfrm>
        </p:spPr>
      </p:pic>
    </p:spTree>
    <p:extLst>
      <p:ext uri="{BB962C8B-B14F-4D97-AF65-F5344CB8AC3E}">
        <p14:creationId xmlns:p14="http://schemas.microsoft.com/office/powerpoint/2010/main" val="4063425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35674-5ED0-9A4C-63DE-088192B816B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C74226B-57F6-DE94-0D98-7FCC481117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0" y="3500604"/>
            <a:ext cx="4431963" cy="3035456"/>
          </a:xfrm>
        </p:spPr>
      </p:pic>
      <p:pic>
        <p:nvPicPr>
          <p:cNvPr id="7" name="Picture 6">
            <a:extLst>
              <a:ext uri="{FF2B5EF4-FFF2-40B4-BE49-F238E27FC236}">
                <a16:creationId xmlns:a16="http://schemas.microsoft.com/office/drawing/2014/main" id="{37D5268E-509D-2112-BB31-7FFC54DA3E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503" y="172879"/>
            <a:ext cx="4616687" cy="3225966"/>
          </a:xfrm>
          <a:prstGeom prst="rect">
            <a:avLst/>
          </a:prstGeom>
        </p:spPr>
      </p:pic>
      <p:sp>
        <p:nvSpPr>
          <p:cNvPr id="8" name="TextBox 7">
            <a:extLst>
              <a:ext uri="{FF2B5EF4-FFF2-40B4-BE49-F238E27FC236}">
                <a16:creationId xmlns:a16="http://schemas.microsoft.com/office/drawing/2014/main" id="{48201649-A83B-4071-EE29-83A5B09EE8E4}"/>
              </a:ext>
            </a:extLst>
          </p:cNvPr>
          <p:cNvSpPr txBox="1"/>
          <p:nvPr/>
        </p:nvSpPr>
        <p:spPr>
          <a:xfrm>
            <a:off x="172771" y="4020116"/>
            <a:ext cx="4367862" cy="646331"/>
          </a:xfrm>
          <a:prstGeom prst="rect">
            <a:avLst/>
          </a:prstGeom>
          <a:noFill/>
        </p:spPr>
        <p:txBody>
          <a:bodyPr wrap="none" rtlCol="0">
            <a:spAutoFit/>
          </a:bodyPr>
          <a:lstStyle/>
          <a:p>
            <a:r>
              <a:rPr lang="en-IN" b="1" dirty="0"/>
              <a:t>AI is a technique of getting the machines to </a:t>
            </a:r>
          </a:p>
          <a:p>
            <a:r>
              <a:rPr lang="en-IN" b="1" dirty="0"/>
              <a:t>work and behave like a human </a:t>
            </a:r>
          </a:p>
        </p:txBody>
      </p:sp>
    </p:spTree>
    <p:extLst>
      <p:ext uri="{BB962C8B-B14F-4D97-AF65-F5344CB8AC3E}">
        <p14:creationId xmlns:p14="http://schemas.microsoft.com/office/powerpoint/2010/main" val="3518000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593C7-DC7E-7C80-839D-0BCD67D74485}"/>
              </a:ext>
            </a:extLst>
          </p:cNvPr>
          <p:cNvSpPr>
            <a:spLocks noGrp="1"/>
          </p:cNvSpPr>
          <p:nvPr>
            <p:ph type="title"/>
          </p:nvPr>
        </p:nvSpPr>
        <p:spPr/>
        <p:txBody>
          <a:bodyPr/>
          <a:lstStyle/>
          <a:p>
            <a:r>
              <a:rPr lang="en-US" altLang="en-US" sz="4400" b="1" dirty="0"/>
              <a:t>Various Definitions of AI </a:t>
            </a:r>
            <a:r>
              <a:rPr lang="en-US" altLang="en-US" sz="4400" b="1" dirty="0" err="1"/>
              <a:t>Cont</a:t>
            </a:r>
            <a:r>
              <a:rPr lang="en-US" altLang="en-US" sz="4400" b="1" dirty="0"/>
              <a:t>…</a:t>
            </a:r>
            <a:endParaRPr lang="en-IN" dirty="0"/>
          </a:p>
        </p:txBody>
      </p:sp>
      <p:pic>
        <p:nvPicPr>
          <p:cNvPr id="5" name="Content Placeholder 4">
            <a:extLst>
              <a:ext uri="{FF2B5EF4-FFF2-40B4-BE49-F238E27FC236}">
                <a16:creationId xmlns:a16="http://schemas.microsoft.com/office/drawing/2014/main" id="{51A6A899-D7CF-7A79-DEEB-696DFED34A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84784"/>
            <a:ext cx="8229600" cy="4392488"/>
          </a:xfrm>
        </p:spPr>
      </p:pic>
    </p:spTree>
    <p:extLst>
      <p:ext uri="{BB962C8B-B14F-4D97-AF65-F5344CB8AC3E}">
        <p14:creationId xmlns:p14="http://schemas.microsoft.com/office/powerpoint/2010/main" val="2849107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2"/>
          <p:cNvSpPr>
            <a:spLocks noGrp="1"/>
          </p:cNvSpPr>
          <p:nvPr>
            <p:ph idx="1"/>
          </p:nvPr>
        </p:nvSpPr>
        <p:spPr>
          <a:xfrm>
            <a:off x="685800" y="1125538"/>
            <a:ext cx="7772400" cy="5111750"/>
          </a:xfrm>
        </p:spPr>
        <p:txBody>
          <a:bodyPr>
            <a:normAutofit lnSpcReduction="10000"/>
          </a:bodyPr>
          <a:lstStyle/>
          <a:p>
            <a:pPr algn="just"/>
            <a:r>
              <a:rPr lang="en-US" altLang="en-US" sz="2800" dirty="0"/>
              <a:t>AI is the study of mental faculties through the use of computational models</a:t>
            </a:r>
          </a:p>
          <a:p>
            <a:pPr algn="just">
              <a:buFontTx/>
              <a:buNone/>
            </a:pPr>
            <a:r>
              <a:rPr lang="en-US" altLang="en-US" sz="2800" dirty="0"/>
              <a:t>				</a:t>
            </a:r>
            <a:r>
              <a:rPr lang="en-US" altLang="en-US" sz="2800" b="1" dirty="0"/>
              <a:t>-</a:t>
            </a:r>
            <a:r>
              <a:rPr lang="en-US" altLang="en-US" sz="2800" b="1" dirty="0" err="1"/>
              <a:t>Charniak</a:t>
            </a:r>
            <a:r>
              <a:rPr lang="en-US" altLang="en-US" sz="2800" b="1" dirty="0"/>
              <a:t> McDermott, 1985</a:t>
            </a:r>
          </a:p>
          <a:p>
            <a:pPr algn="just"/>
            <a:r>
              <a:rPr lang="en-US" altLang="en-US" sz="2800" dirty="0"/>
              <a:t>AI is the art of creating machines that perform functions that require intelligence when performed by people</a:t>
            </a:r>
          </a:p>
          <a:p>
            <a:pPr algn="just">
              <a:buFontTx/>
              <a:buNone/>
            </a:pPr>
            <a:r>
              <a:rPr lang="en-US" altLang="en-US" sz="2800" dirty="0"/>
              <a:t>					</a:t>
            </a:r>
            <a:r>
              <a:rPr lang="en-US" altLang="en-US" sz="2800" b="1" dirty="0"/>
              <a:t>-</a:t>
            </a:r>
            <a:r>
              <a:rPr lang="en-US" altLang="en-US" sz="2800" b="1" dirty="0" err="1"/>
              <a:t>Kurzwell</a:t>
            </a:r>
            <a:r>
              <a:rPr lang="en-US" altLang="en-US" sz="2800" b="1" dirty="0"/>
              <a:t>, 1990</a:t>
            </a:r>
          </a:p>
          <a:p>
            <a:pPr algn="just"/>
            <a:r>
              <a:rPr lang="en-US" altLang="en-US" sz="2800" dirty="0"/>
              <a:t>AI is the study of how to make computers do things at which, at the moment, people are better</a:t>
            </a:r>
          </a:p>
          <a:p>
            <a:pPr algn="just">
              <a:buFontTx/>
              <a:buNone/>
            </a:pPr>
            <a:r>
              <a:rPr lang="en-US" altLang="en-US" sz="2800" dirty="0"/>
              <a:t>					</a:t>
            </a:r>
            <a:r>
              <a:rPr lang="en-US" altLang="en-US" sz="2800" b="1" dirty="0"/>
              <a:t>-Rich and Knight, 1991</a:t>
            </a:r>
          </a:p>
          <a:p>
            <a:pPr algn="just">
              <a:buFontTx/>
              <a:buNone/>
            </a:pPr>
            <a:r>
              <a:rPr lang="en-US" altLang="en-US" sz="2800" dirty="0"/>
              <a:t>					</a:t>
            </a:r>
            <a:endParaRPr lang="en-IN" altLang="en-US" sz="2800" dirty="0"/>
          </a:p>
        </p:txBody>
      </p:sp>
      <p:sp>
        <p:nvSpPr>
          <p:cNvPr id="10243" name="Title 1"/>
          <p:cNvSpPr>
            <a:spLocks noGrp="1"/>
          </p:cNvSpPr>
          <p:nvPr>
            <p:ph type="title"/>
          </p:nvPr>
        </p:nvSpPr>
        <p:spPr>
          <a:xfrm>
            <a:off x="684213" y="260350"/>
            <a:ext cx="7772400" cy="587375"/>
          </a:xfrm>
        </p:spPr>
        <p:txBody>
          <a:bodyPr>
            <a:normAutofit fontScale="90000"/>
          </a:bodyPr>
          <a:lstStyle/>
          <a:p>
            <a:r>
              <a:rPr lang="en-US" altLang="en-US" sz="4000" b="1" dirty="0"/>
              <a:t>Various Definitions of AI </a:t>
            </a:r>
            <a:r>
              <a:rPr lang="en-US" altLang="en-US" sz="4000" b="1" dirty="0" err="1"/>
              <a:t>Cont</a:t>
            </a:r>
            <a:r>
              <a:rPr lang="en-US" altLang="en-US" sz="4000" b="1" dirty="0"/>
              <a:t>…</a:t>
            </a:r>
            <a:endParaRPr lang="en-IN" altLang="en-US" sz="4000" b="1" dirty="0"/>
          </a:p>
        </p:txBody>
      </p:sp>
      <p:sp>
        <p:nvSpPr>
          <p:cNvPr id="10244"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1400"/>
              <a:t>10918</a:t>
            </a:r>
          </a:p>
        </p:txBody>
      </p:sp>
      <p:sp>
        <p:nvSpPr>
          <p:cNvPr id="10245"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fld id="{EC9E5A5A-9A7D-4392-B9D8-720878692E9D}" type="slidenum">
              <a:rPr lang="en-US" altLang="en-US" sz="1400"/>
              <a:pPr>
                <a:spcBef>
                  <a:spcPct val="0"/>
                </a:spcBef>
                <a:buFontTx/>
                <a:buNone/>
              </a:pPr>
              <a:t>6</a:t>
            </a:fld>
            <a:endParaRPr lang="en-US" altLang="en-US" sz="1400"/>
          </a:p>
        </p:txBody>
      </p:sp>
    </p:spTree>
    <p:extLst>
      <p:ext uri="{BB962C8B-B14F-4D97-AF65-F5344CB8AC3E}">
        <p14:creationId xmlns:p14="http://schemas.microsoft.com/office/powerpoint/2010/main" val="799825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p:cNvSpPr>
            <a:spLocks noGrp="1"/>
          </p:cNvSpPr>
          <p:nvPr>
            <p:ph idx="1"/>
          </p:nvPr>
        </p:nvSpPr>
        <p:spPr>
          <a:xfrm>
            <a:off x="684213" y="1484313"/>
            <a:ext cx="7772400" cy="4756150"/>
          </a:xfrm>
        </p:spPr>
        <p:txBody>
          <a:bodyPr/>
          <a:lstStyle/>
          <a:p>
            <a:pPr algn="just"/>
            <a:r>
              <a:rPr lang="en-US" altLang="en-US" sz="2800"/>
              <a:t>AI is the study of the combinations that make it possible to perceive, reason and act</a:t>
            </a:r>
          </a:p>
          <a:p>
            <a:pPr algn="just">
              <a:buFontTx/>
              <a:buNone/>
            </a:pPr>
            <a:r>
              <a:rPr lang="en-US" altLang="en-US" sz="2800"/>
              <a:t>						</a:t>
            </a:r>
            <a:r>
              <a:rPr lang="en-US" altLang="en-US" sz="2800" b="1"/>
              <a:t>-Winston, 1992</a:t>
            </a:r>
          </a:p>
          <a:p>
            <a:pPr algn="just"/>
            <a:r>
              <a:rPr lang="en-US" altLang="en-US" sz="2800"/>
              <a:t>Computational intelligence is the study of the design of intelligent agents</a:t>
            </a:r>
          </a:p>
          <a:p>
            <a:pPr algn="just">
              <a:buFontTx/>
              <a:buNone/>
            </a:pPr>
            <a:r>
              <a:rPr lang="en-US" altLang="en-US" sz="2800"/>
              <a:t>						</a:t>
            </a:r>
            <a:r>
              <a:rPr lang="en-US" altLang="en-US" sz="2800" b="1"/>
              <a:t>-Poole et al., 1998</a:t>
            </a:r>
          </a:p>
          <a:p>
            <a:pPr algn="just"/>
            <a:r>
              <a:rPr lang="en-US" altLang="en-US" sz="2800"/>
              <a:t>AI… is concerned with intelligent behavior in artifacts</a:t>
            </a:r>
          </a:p>
          <a:p>
            <a:pPr algn="just">
              <a:buFontTx/>
              <a:buNone/>
            </a:pPr>
            <a:r>
              <a:rPr lang="en-US" altLang="en-US" sz="2800"/>
              <a:t>						</a:t>
            </a:r>
            <a:r>
              <a:rPr lang="en-US" altLang="en-US" sz="2800" b="1"/>
              <a:t>-Nilsson, 1998</a:t>
            </a:r>
            <a:endParaRPr lang="en-IN" altLang="en-US" sz="2800" b="1"/>
          </a:p>
        </p:txBody>
      </p:sp>
      <p:sp>
        <p:nvSpPr>
          <p:cNvPr id="11267" name="Title 1"/>
          <p:cNvSpPr>
            <a:spLocks noGrp="1"/>
          </p:cNvSpPr>
          <p:nvPr>
            <p:ph type="title"/>
          </p:nvPr>
        </p:nvSpPr>
        <p:spPr>
          <a:xfrm>
            <a:off x="684213" y="260350"/>
            <a:ext cx="7772400" cy="720725"/>
          </a:xfrm>
        </p:spPr>
        <p:txBody>
          <a:bodyPr/>
          <a:lstStyle/>
          <a:p>
            <a:r>
              <a:rPr lang="en-US" altLang="en-US" sz="4000" b="1"/>
              <a:t>Various Definitions of AI Cont…</a:t>
            </a:r>
            <a:endParaRPr lang="en-IN" altLang="en-US" sz="4000" b="1"/>
          </a:p>
        </p:txBody>
      </p:sp>
      <p:sp>
        <p:nvSpPr>
          <p:cNvPr id="11268"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1400"/>
              <a:t>10918</a:t>
            </a:r>
          </a:p>
        </p:txBody>
      </p:sp>
      <p:sp>
        <p:nvSpPr>
          <p:cNvPr id="11269"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fld id="{E68050D0-7C56-46C6-8C4E-F0604F9BE031}" type="slidenum">
              <a:rPr lang="en-US" altLang="en-US" sz="1400"/>
              <a:pPr>
                <a:spcBef>
                  <a:spcPct val="0"/>
                </a:spcBef>
                <a:buFontTx/>
                <a:buNone/>
              </a:pPr>
              <a:t>7</a:t>
            </a:fld>
            <a:endParaRPr lang="en-US" altLang="en-US" sz="1400"/>
          </a:p>
        </p:txBody>
      </p:sp>
    </p:spTree>
    <p:extLst>
      <p:ext uri="{BB962C8B-B14F-4D97-AF65-F5344CB8AC3E}">
        <p14:creationId xmlns:p14="http://schemas.microsoft.com/office/powerpoint/2010/main" val="1537421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684213" y="260350"/>
            <a:ext cx="7772400" cy="587375"/>
          </a:xfrm>
        </p:spPr>
        <p:txBody>
          <a:bodyPr>
            <a:normAutofit fontScale="90000"/>
          </a:bodyPr>
          <a:lstStyle/>
          <a:p>
            <a:r>
              <a:rPr lang="en-US" altLang="en-US" b="1"/>
              <a:t>Various Definitions of AI</a:t>
            </a:r>
            <a:endParaRPr lang="en-IN" altLang="en-US" b="1"/>
          </a:p>
        </p:txBody>
      </p:sp>
      <p:sp>
        <p:nvSpPr>
          <p:cNvPr id="9219" name="Content Placeholder 2"/>
          <p:cNvSpPr>
            <a:spLocks noGrp="1"/>
          </p:cNvSpPr>
          <p:nvPr>
            <p:ph idx="1"/>
          </p:nvPr>
        </p:nvSpPr>
        <p:spPr>
          <a:xfrm>
            <a:off x="685800" y="1052513"/>
            <a:ext cx="7772400" cy="4968875"/>
          </a:xfrm>
        </p:spPr>
        <p:txBody>
          <a:bodyPr/>
          <a:lstStyle/>
          <a:p>
            <a:pPr algn="just"/>
            <a:r>
              <a:rPr lang="en-US" altLang="en-US" sz="2400"/>
              <a:t>AI is the automation of activities that we associate with human thinking, activities such as decision making, problem solving, learning… …</a:t>
            </a:r>
          </a:p>
          <a:p>
            <a:pPr algn="just">
              <a:buFontTx/>
              <a:buNone/>
            </a:pPr>
            <a:r>
              <a:rPr lang="en-US" altLang="en-US" sz="2400"/>
              <a:t>					 -</a:t>
            </a:r>
            <a:r>
              <a:rPr lang="en-US" altLang="en-US" sz="2400" b="1"/>
              <a:t>Bellman, 1978</a:t>
            </a:r>
            <a:endParaRPr lang="en-IN" altLang="en-US" sz="2400" b="1"/>
          </a:p>
          <a:p>
            <a:pPr algn="just"/>
            <a:r>
              <a:rPr lang="en-US" altLang="en-US" sz="2400"/>
              <a:t>AI is concerned with designing intelligent computer systems which exhibit the characteristics we associate with intelligence in human behaviour</a:t>
            </a:r>
          </a:p>
          <a:p>
            <a:pPr algn="just">
              <a:buFontTx/>
              <a:buNone/>
            </a:pPr>
            <a:r>
              <a:rPr lang="en-US" altLang="en-US" sz="2400"/>
              <a:t>			                      </a:t>
            </a:r>
            <a:r>
              <a:rPr lang="en-US" altLang="en-US" sz="2400" b="1"/>
              <a:t>-Barr and Feignenbaum, 1981</a:t>
            </a:r>
          </a:p>
          <a:p>
            <a:pPr algn="just"/>
            <a:r>
              <a:rPr lang="en-US" altLang="en-US" sz="2400"/>
              <a:t>AI is the exciting new effort to make computers think… … machines with minds, in the full and literal sense</a:t>
            </a:r>
          </a:p>
          <a:p>
            <a:pPr algn="just">
              <a:buFontTx/>
              <a:buNone/>
            </a:pPr>
            <a:r>
              <a:rPr lang="en-US" altLang="en-US" sz="2400"/>
              <a:t>					</a:t>
            </a:r>
            <a:r>
              <a:rPr lang="en-US" altLang="en-US" sz="2400" b="1"/>
              <a:t>- Haugeland, 1985</a:t>
            </a:r>
          </a:p>
        </p:txBody>
      </p:sp>
      <p:sp>
        <p:nvSpPr>
          <p:cNvPr id="9220"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1400"/>
              <a:t>10918</a:t>
            </a:r>
          </a:p>
        </p:txBody>
      </p:sp>
      <p:sp>
        <p:nvSpPr>
          <p:cNvPr id="9221"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fld id="{E9C9F39C-1B58-4014-96BA-87B7414BDF91}" type="slidenum">
              <a:rPr lang="en-US" altLang="en-US" sz="1400"/>
              <a:pPr>
                <a:spcBef>
                  <a:spcPct val="0"/>
                </a:spcBef>
                <a:buFontTx/>
                <a:buNone/>
              </a:pPr>
              <a:t>8</a:t>
            </a:fld>
            <a:endParaRPr lang="en-US" altLang="en-US" sz="1400"/>
          </a:p>
        </p:txBody>
      </p:sp>
    </p:spTree>
    <p:extLst>
      <p:ext uri="{BB962C8B-B14F-4D97-AF65-F5344CB8AC3E}">
        <p14:creationId xmlns:p14="http://schemas.microsoft.com/office/powerpoint/2010/main" val="3386856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a:t>Definition</a:t>
            </a:r>
          </a:p>
        </p:txBody>
      </p:sp>
      <p:sp>
        <p:nvSpPr>
          <p:cNvPr id="6147" name="Content Placeholder 2"/>
          <p:cNvSpPr>
            <a:spLocks noGrp="1"/>
          </p:cNvSpPr>
          <p:nvPr>
            <p:ph idx="1"/>
          </p:nvPr>
        </p:nvSpPr>
        <p:spPr>
          <a:xfrm>
            <a:off x="685800" y="1981200"/>
            <a:ext cx="7772400" cy="3392488"/>
          </a:xfrm>
        </p:spPr>
        <p:txBody>
          <a:bodyPr/>
          <a:lstStyle/>
          <a:p>
            <a:pPr algn="just"/>
            <a:r>
              <a:rPr lang="en-US" altLang="en-US" dirty="0"/>
              <a:t>AI is a branch of computer science, aim on building machines and software with intelligence similar to humans so that they can perform similar </a:t>
            </a:r>
            <a:r>
              <a:rPr lang="en-US" altLang="en-US" b="1" dirty="0">
                <a:solidFill>
                  <a:srgbClr val="FF0000"/>
                </a:solidFill>
              </a:rPr>
              <a:t>thinking</a:t>
            </a:r>
            <a:r>
              <a:rPr lang="en-US" altLang="en-US" dirty="0"/>
              <a:t>, </a:t>
            </a:r>
            <a:r>
              <a:rPr lang="en-US" altLang="en-US" b="1" dirty="0">
                <a:solidFill>
                  <a:srgbClr val="FF0000"/>
                </a:solidFill>
              </a:rPr>
              <a:t>reasoning</a:t>
            </a:r>
            <a:r>
              <a:rPr lang="en-US" altLang="en-US" dirty="0"/>
              <a:t>, </a:t>
            </a:r>
            <a:r>
              <a:rPr lang="en-US" altLang="en-US" b="1" dirty="0">
                <a:solidFill>
                  <a:srgbClr val="FF0000"/>
                </a:solidFill>
              </a:rPr>
              <a:t>decision-making</a:t>
            </a:r>
            <a:r>
              <a:rPr lang="en-US" altLang="en-US" dirty="0"/>
              <a:t>, </a:t>
            </a:r>
            <a:r>
              <a:rPr lang="en-US" altLang="en-US" b="1" dirty="0">
                <a:solidFill>
                  <a:srgbClr val="FF0000"/>
                </a:solidFill>
              </a:rPr>
              <a:t>problem solving</a:t>
            </a:r>
            <a:r>
              <a:rPr lang="en-US" altLang="en-US" dirty="0"/>
              <a:t> and </a:t>
            </a:r>
            <a:r>
              <a:rPr lang="en-US" altLang="en-US" b="1" dirty="0">
                <a:solidFill>
                  <a:srgbClr val="FF0000"/>
                </a:solidFill>
              </a:rPr>
              <a:t>natural language processing </a:t>
            </a:r>
            <a:r>
              <a:rPr lang="en-US" altLang="en-US" dirty="0"/>
              <a:t>like human.</a:t>
            </a:r>
          </a:p>
        </p:txBody>
      </p:sp>
      <p:sp>
        <p:nvSpPr>
          <p:cNvPr id="614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1400"/>
              <a:t>10918</a:t>
            </a:r>
          </a:p>
        </p:txBody>
      </p:sp>
      <p:sp>
        <p:nvSpPr>
          <p:cNvPr id="614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fld id="{DE563074-D9E1-4160-9151-6A9160803509}" type="slidenum">
              <a:rPr lang="en-US" altLang="en-US" sz="1400"/>
              <a:pPr>
                <a:spcBef>
                  <a:spcPct val="0"/>
                </a:spcBef>
                <a:buFontTx/>
                <a:buNone/>
              </a:pPr>
              <a:t>9</a:t>
            </a:fld>
            <a:endParaRPr lang="en-US" altLang="en-US" sz="1400"/>
          </a:p>
        </p:txBody>
      </p:sp>
    </p:spTree>
    <p:extLst>
      <p:ext uri="{BB962C8B-B14F-4D97-AF65-F5344CB8AC3E}">
        <p14:creationId xmlns:p14="http://schemas.microsoft.com/office/powerpoint/2010/main" val="3621520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29FCF-899B-32CC-828A-42C5426A86C7}"/>
              </a:ext>
            </a:extLst>
          </p:cNvPr>
          <p:cNvSpPr>
            <a:spLocks noGrp="1"/>
          </p:cNvSpPr>
          <p:nvPr>
            <p:ph type="title"/>
          </p:nvPr>
        </p:nvSpPr>
        <p:spPr>
          <a:xfrm>
            <a:off x="457200" y="274638"/>
            <a:ext cx="8229600" cy="850106"/>
          </a:xfrm>
        </p:spPr>
        <p:txBody>
          <a:bodyPr/>
          <a:lstStyle/>
          <a:p>
            <a:r>
              <a:rPr lang="en-IN" dirty="0"/>
              <a:t>Categories of AI</a:t>
            </a:r>
          </a:p>
        </p:txBody>
      </p:sp>
      <p:pic>
        <p:nvPicPr>
          <p:cNvPr id="5" name="Content Placeholder 4">
            <a:extLst>
              <a:ext uri="{FF2B5EF4-FFF2-40B4-BE49-F238E27FC236}">
                <a16:creationId xmlns:a16="http://schemas.microsoft.com/office/drawing/2014/main" id="{D2EDB07C-0732-9DAD-63DF-52BC7DC1DC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17638"/>
            <a:ext cx="8291264" cy="3283786"/>
          </a:xfrm>
        </p:spPr>
      </p:pic>
    </p:spTree>
    <p:extLst>
      <p:ext uri="{BB962C8B-B14F-4D97-AF65-F5344CB8AC3E}">
        <p14:creationId xmlns:p14="http://schemas.microsoft.com/office/powerpoint/2010/main" val="276778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altLang="en-US"/>
              <a:t>What is AI?</a:t>
            </a:r>
            <a:endParaRPr lang="en-IN" altLang="en-US"/>
          </a:p>
        </p:txBody>
      </p:sp>
      <p:graphicFrame>
        <p:nvGraphicFramePr>
          <p:cNvPr id="4" name="Table 3"/>
          <p:cNvGraphicFramePr>
            <a:graphicFrameLocks noGrp="1"/>
          </p:cNvGraphicFramePr>
          <p:nvPr/>
        </p:nvGraphicFramePr>
        <p:xfrm>
          <a:off x="1258888" y="3141663"/>
          <a:ext cx="7086600" cy="1295400"/>
        </p:xfrm>
        <a:graphic>
          <a:graphicData uri="http://schemas.openxmlformats.org/drawingml/2006/table">
            <a:tbl>
              <a:tblPr/>
              <a:tblGrid>
                <a:gridCol w="33528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Thinking humanly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Thinking rationally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Acting humanly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Acting rationally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182" name="Rectangle 4"/>
          <p:cNvSpPr>
            <a:spLocks noChangeArrowheads="1"/>
          </p:cNvSpPr>
          <p:nvPr/>
        </p:nvSpPr>
        <p:spPr bwMode="auto">
          <a:xfrm>
            <a:off x="1331913" y="2205038"/>
            <a:ext cx="56880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dirty="0"/>
              <a:t>Views of AI fall into four categories:</a:t>
            </a:r>
            <a:endParaRPr lang="en-IN" altLang="en-US" sz="2400" dirty="0"/>
          </a:p>
        </p:txBody>
      </p:sp>
      <p:sp>
        <p:nvSpPr>
          <p:cNvPr id="7183"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1400"/>
              <a:t>10918</a:t>
            </a:r>
          </a:p>
        </p:txBody>
      </p:sp>
      <p:sp>
        <p:nvSpPr>
          <p:cNvPr id="7184"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fld id="{EC368E3E-A451-4421-98B9-2520521B5997}" type="slidenum">
              <a:rPr lang="en-US" altLang="en-US" sz="1400"/>
              <a:pPr>
                <a:spcBef>
                  <a:spcPct val="0"/>
                </a:spcBef>
                <a:buFontTx/>
                <a:buNone/>
              </a:pPr>
              <a:t>11</a:t>
            </a:fld>
            <a:endParaRPr lang="en-US" altLang="en-US" sz="1400"/>
          </a:p>
        </p:txBody>
      </p:sp>
    </p:spTree>
    <p:extLst>
      <p:ext uri="{BB962C8B-B14F-4D97-AF65-F5344CB8AC3E}">
        <p14:creationId xmlns:p14="http://schemas.microsoft.com/office/powerpoint/2010/main" val="2137687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68313" y="188913"/>
            <a:ext cx="7772400" cy="719137"/>
          </a:xfrm>
        </p:spPr>
        <p:txBody>
          <a:bodyPr>
            <a:normAutofit fontScale="90000"/>
          </a:bodyPr>
          <a:lstStyle/>
          <a:p>
            <a:pPr eaLnBrk="1" hangingPunct="1"/>
            <a:r>
              <a:rPr lang="en-IN" altLang="en-US" b="1"/>
              <a:t>What is AI?</a:t>
            </a:r>
            <a:endParaRPr lang="en-IN" altLang="en-US"/>
          </a:p>
        </p:txBody>
      </p:sp>
      <p:sp>
        <p:nvSpPr>
          <p:cNvPr id="8195" name="Content Placeholder 2"/>
          <p:cNvSpPr>
            <a:spLocks noGrp="1"/>
          </p:cNvSpPr>
          <p:nvPr>
            <p:ph idx="1"/>
          </p:nvPr>
        </p:nvSpPr>
        <p:spPr>
          <a:xfrm>
            <a:off x="684213" y="908050"/>
            <a:ext cx="7991475" cy="5616575"/>
          </a:xfrm>
        </p:spPr>
        <p:txBody>
          <a:bodyPr/>
          <a:lstStyle/>
          <a:p>
            <a:pPr eaLnBrk="1">
              <a:lnSpc>
                <a:spcPts val="900"/>
              </a:lnSpc>
              <a:buFontTx/>
              <a:buNone/>
            </a:pPr>
            <a:r>
              <a:rPr lang="en-IN" altLang="en-US" sz="1600" b="1" dirty="0">
                <a:solidFill>
                  <a:srgbClr val="C00000"/>
                </a:solidFill>
              </a:rPr>
              <a:t>Four Categories of Systemic Definitions </a:t>
            </a:r>
            <a:endParaRPr lang="en-IN" altLang="en-US" sz="1600" dirty="0">
              <a:solidFill>
                <a:srgbClr val="C00000"/>
              </a:solidFill>
            </a:endParaRPr>
          </a:p>
          <a:p>
            <a:pPr eaLnBrk="1" hangingPunct="1">
              <a:lnSpc>
                <a:spcPts val="900"/>
              </a:lnSpc>
              <a:buFontTx/>
              <a:buNone/>
            </a:pPr>
            <a:r>
              <a:rPr lang="en-IN" altLang="en-US" sz="1600" dirty="0"/>
              <a:t> </a:t>
            </a:r>
          </a:p>
          <a:p>
            <a:pPr eaLnBrk="1">
              <a:lnSpc>
                <a:spcPts val="900"/>
              </a:lnSpc>
              <a:buFontTx/>
              <a:buAutoNum type="arabicPeriod"/>
            </a:pPr>
            <a:r>
              <a:rPr lang="en-IN" altLang="en-US" sz="1600" b="1" dirty="0"/>
              <a:t>Think like humans 3. Think </a:t>
            </a:r>
            <a:r>
              <a:rPr lang="en-IN" altLang="en-US" sz="1600" b="1" i="1" dirty="0"/>
              <a:t>rationally</a:t>
            </a:r>
            <a:endParaRPr lang="en-IN" altLang="en-US" sz="1600" b="1" dirty="0"/>
          </a:p>
          <a:p>
            <a:pPr>
              <a:lnSpc>
                <a:spcPts val="900"/>
              </a:lnSpc>
              <a:buFontTx/>
              <a:buAutoNum type="arabicPeriod"/>
            </a:pPr>
            <a:r>
              <a:rPr lang="en-IN" altLang="en-US" sz="1600" b="1" dirty="0"/>
              <a:t>Act like humans      4. Act </a:t>
            </a:r>
            <a:r>
              <a:rPr lang="en-IN" altLang="en-US" sz="1600" b="1" i="1" dirty="0"/>
              <a:t>rationally</a:t>
            </a:r>
            <a:r>
              <a:rPr lang="en-IN" altLang="en-US" sz="1600" b="1" dirty="0"/>
              <a:t> </a:t>
            </a:r>
            <a:endParaRPr lang="en-IN" altLang="en-US" sz="1600" dirty="0"/>
          </a:p>
          <a:p>
            <a:pPr>
              <a:lnSpc>
                <a:spcPts val="900"/>
              </a:lnSpc>
              <a:buFontTx/>
              <a:buAutoNum type="arabicPeriod"/>
            </a:pPr>
            <a:endParaRPr lang="en-IN" altLang="en-US" sz="1600" dirty="0"/>
          </a:p>
          <a:p>
            <a:pPr eaLnBrk="1" hangingPunct="1">
              <a:lnSpc>
                <a:spcPts val="900"/>
              </a:lnSpc>
              <a:buFontTx/>
              <a:buNone/>
            </a:pPr>
            <a:r>
              <a:rPr lang="en-IN" altLang="en-US" sz="1600" dirty="0"/>
              <a:t> </a:t>
            </a:r>
          </a:p>
          <a:p>
            <a:pPr eaLnBrk="1">
              <a:lnSpc>
                <a:spcPts val="900"/>
              </a:lnSpc>
              <a:buFontTx/>
              <a:buNone/>
            </a:pPr>
            <a:r>
              <a:rPr lang="en-IN" altLang="en-US" sz="1600" b="1" dirty="0">
                <a:solidFill>
                  <a:srgbClr val="00B050"/>
                </a:solidFill>
              </a:rPr>
              <a:t>Thinking Like Humans </a:t>
            </a:r>
            <a:endParaRPr lang="en-IN" altLang="en-US" sz="1600" dirty="0">
              <a:solidFill>
                <a:srgbClr val="00B050"/>
              </a:solidFill>
            </a:endParaRPr>
          </a:p>
          <a:p>
            <a:pPr eaLnBrk="1" hangingPunct="1">
              <a:lnSpc>
                <a:spcPts val="900"/>
              </a:lnSpc>
              <a:buFontTx/>
              <a:buNone/>
            </a:pPr>
            <a:r>
              <a:rPr lang="en-IN" altLang="en-US" sz="1600" dirty="0"/>
              <a:t> </a:t>
            </a:r>
          </a:p>
          <a:p>
            <a:pPr eaLnBrk="1">
              <a:lnSpc>
                <a:spcPts val="900"/>
              </a:lnSpc>
              <a:buFontTx/>
              <a:buNone/>
            </a:pPr>
            <a:r>
              <a:rPr lang="en-IN" altLang="en-US" sz="1600" b="1" i="1" dirty="0"/>
              <a:t>Machines with minds </a:t>
            </a:r>
            <a:r>
              <a:rPr lang="en-IN" altLang="en-US" sz="1600" b="1" dirty="0"/>
              <a:t>(</a:t>
            </a:r>
            <a:r>
              <a:rPr lang="en-IN" altLang="en-US" sz="1600" b="1" dirty="0" err="1"/>
              <a:t>Haugeland</a:t>
            </a:r>
            <a:r>
              <a:rPr lang="en-IN" altLang="en-US" sz="1600" b="1" dirty="0"/>
              <a:t>, 1985)</a:t>
            </a:r>
            <a:r>
              <a:rPr lang="en-IN" altLang="en-US" sz="1600" b="1" i="1" dirty="0"/>
              <a:t> </a:t>
            </a:r>
            <a:endParaRPr lang="en-IN" altLang="en-US" sz="1600" dirty="0"/>
          </a:p>
          <a:p>
            <a:pPr eaLnBrk="1" hangingPunct="1">
              <a:lnSpc>
                <a:spcPts val="900"/>
              </a:lnSpc>
              <a:buFontTx/>
              <a:buNone/>
            </a:pPr>
            <a:r>
              <a:rPr lang="en-IN" altLang="en-US" sz="1600" dirty="0"/>
              <a:t> </a:t>
            </a:r>
          </a:p>
          <a:p>
            <a:pPr eaLnBrk="1">
              <a:lnSpc>
                <a:spcPts val="900"/>
              </a:lnSpc>
              <a:buFontTx/>
              <a:buNone/>
            </a:pPr>
            <a:r>
              <a:rPr lang="en-IN" altLang="en-US" sz="1600" b="1" u="sng" dirty="0"/>
              <a:t>Automation</a:t>
            </a:r>
            <a:r>
              <a:rPr lang="en-IN" altLang="en-US" sz="1600" b="1" dirty="0"/>
              <a:t> of “decision making, problem solving, learning…” (Bellman, 1978) </a:t>
            </a:r>
            <a:endParaRPr lang="en-IN" altLang="en-US" sz="1600" dirty="0"/>
          </a:p>
          <a:p>
            <a:pPr eaLnBrk="1" hangingPunct="1">
              <a:lnSpc>
                <a:spcPts val="900"/>
              </a:lnSpc>
              <a:buFontTx/>
              <a:buNone/>
            </a:pPr>
            <a:r>
              <a:rPr lang="en-IN" altLang="en-US" sz="1600" dirty="0"/>
              <a:t> </a:t>
            </a:r>
          </a:p>
          <a:p>
            <a:pPr eaLnBrk="1">
              <a:lnSpc>
                <a:spcPts val="900"/>
              </a:lnSpc>
              <a:buFontTx/>
              <a:buNone/>
            </a:pPr>
            <a:r>
              <a:rPr lang="en-IN" altLang="en-US" sz="1600" b="1" dirty="0">
                <a:solidFill>
                  <a:srgbClr val="00B050"/>
                </a:solidFill>
              </a:rPr>
              <a:t>Acting Like Humans </a:t>
            </a:r>
            <a:endParaRPr lang="en-IN" altLang="en-US" sz="1600" dirty="0">
              <a:solidFill>
                <a:srgbClr val="00B050"/>
              </a:solidFill>
            </a:endParaRPr>
          </a:p>
          <a:p>
            <a:pPr eaLnBrk="1" hangingPunct="1">
              <a:lnSpc>
                <a:spcPts val="900"/>
              </a:lnSpc>
              <a:buFontTx/>
              <a:buNone/>
            </a:pPr>
            <a:r>
              <a:rPr lang="en-IN" altLang="en-US" sz="1600" dirty="0"/>
              <a:t> </a:t>
            </a:r>
          </a:p>
          <a:p>
            <a:pPr eaLnBrk="1">
              <a:lnSpc>
                <a:spcPts val="900"/>
              </a:lnSpc>
              <a:buFontTx/>
              <a:buNone/>
            </a:pPr>
            <a:r>
              <a:rPr lang="en-IN" altLang="en-US" sz="1600" b="1" i="1" dirty="0"/>
              <a:t>Functions </a:t>
            </a:r>
            <a:r>
              <a:rPr lang="en-IN" altLang="en-US" sz="1600" b="1" dirty="0"/>
              <a:t>that</a:t>
            </a:r>
            <a:r>
              <a:rPr lang="en-IN" altLang="en-US" sz="1600" b="1" i="1" dirty="0"/>
              <a:t> require intelligence when performed by people </a:t>
            </a:r>
            <a:r>
              <a:rPr lang="en-IN" altLang="en-US" sz="1600" b="1" dirty="0"/>
              <a:t>(Kurzweil, 1990)</a:t>
            </a:r>
            <a:r>
              <a:rPr lang="en-IN" altLang="en-US" sz="1600" b="1" i="1" dirty="0"/>
              <a:t> </a:t>
            </a:r>
            <a:endParaRPr lang="en-IN" altLang="en-US" sz="1600" dirty="0"/>
          </a:p>
          <a:p>
            <a:pPr eaLnBrk="1" hangingPunct="1">
              <a:lnSpc>
                <a:spcPts val="900"/>
              </a:lnSpc>
              <a:buFontTx/>
              <a:buNone/>
            </a:pPr>
            <a:r>
              <a:rPr lang="en-IN" altLang="en-US" sz="1600" dirty="0"/>
              <a:t> </a:t>
            </a:r>
          </a:p>
          <a:p>
            <a:pPr eaLnBrk="1">
              <a:lnSpc>
                <a:spcPts val="900"/>
              </a:lnSpc>
              <a:buFontTx/>
              <a:buNone/>
            </a:pPr>
            <a:r>
              <a:rPr lang="en-IN" altLang="en-US" sz="1600" b="1" dirty="0"/>
              <a:t>Making computers do things </a:t>
            </a:r>
            <a:r>
              <a:rPr lang="en-IN" altLang="en-US" sz="1600" b="1" i="1" dirty="0"/>
              <a:t>people currently do better</a:t>
            </a:r>
            <a:r>
              <a:rPr lang="en-IN" altLang="en-US" sz="1600" b="1" dirty="0"/>
              <a:t> (Rich &amp; Knight, 1991) </a:t>
            </a:r>
            <a:endParaRPr lang="en-IN" altLang="en-US" sz="1600" dirty="0"/>
          </a:p>
          <a:p>
            <a:pPr eaLnBrk="1" hangingPunct="1">
              <a:lnSpc>
                <a:spcPts val="900"/>
              </a:lnSpc>
              <a:buFontTx/>
              <a:buNone/>
            </a:pPr>
            <a:r>
              <a:rPr lang="en-IN" altLang="en-US" sz="1600" dirty="0"/>
              <a:t> </a:t>
            </a:r>
          </a:p>
          <a:p>
            <a:pPr eaLnBrk="1">
              <a:lnSpc>
                <a:spcPts val="900"/>
              </a:lnSpc>
              <a:buFontTx/>
              <a:buNone/>
            </a:pPr>
            <a:r>
              <a:rPr lang="en-IN" altLang="en-US" sz="1600" b="1" dirty="0">
                <a:solidFill>
                  <a:srgbClr val="00B050"/>
                </a:solidFill>
              </a:rPr>
              <a:t>Thinking Rationally</a:t>
            </a:r>
            <a:r>
              <a:rPr lang="en-IN" altLang="en-US" sz="1600" b="1" dirty="0"/>
              <a:t> </a:t>
            </a:r>
            <a:endParaRPr lang="en-IN" altLang="en-US" sz="1600" dirty="0"/>
          </a:p>
          <a:p>
            <a:pPr eaLnBrk="1" hangingPunct="1">
              <a:lnSpc>
                <a:spcPts val="900"/>
              </a:lnSpc>
              <a:buFontTx/>
              <a:buNone/>
            </a:pPr>
            <a:r>
              <a:rPr lang="en-IN" altLang="en-US" sz="1600" dirty="0"/>
              <a:t> </a:t>
            </a:r>
          </a:p>
          <a:p>
            <a:pPr eaLnBrk="1">
              <a:lnSpc>
                <a:spcPts val="900"/>
              </a:lnSpc>
              <a:buFontTx/>
              <a:buNone/>
            </a:pPr>
            <a:r>
              <a:rPr lang="en-IN" altLang="en-US" sz="1600" b="1" dirty="0"/>
              <a:t>Computational models of mental faculties (</a:t>
            </a:r>
            <a:r>
              <a:rPr lang="en-IN" altLang="en-US" sz="1600" b="1" dirty="0" err="1"/>
              <a:t>Charniak</a:t>
            </a:r>
            <a:r>
              <a:rPr lang="en-IN" altLang="en-US" sz="1600" b="1" dirty="0"/>
              <a:t> &amp; McDermott, 1985) </a:t>
            </a:r>
            <a:endParaRPr lang="en-IN" altLang="en-US" sz="1600" dirty="0"/>
          </a:p>
          <a:p>
            <a:pPr eaLnBrk="1" hangingPunct="1">
              <a:lnSpc>
                <a:spcPts val="900"/>
              </a:lnSpc>
              <a:buFontTx/>
              <a:buNone/>
            </a:pPr>
            <a:r>
              <a:rPr lang="en-IN" altLang="en-US" sz="1600" dirty="0"/>
              <a:t> </a:t>
            </a:r>
          </a:p>
          <a:p>
            <a:pPr eaLnBrk="1">
              <a:lnSpc>
                <a:spcPts val="900"/>
              </a:lnSpc>
              <a:buFontTx/>
              <a:buNone/>
            </a:pPr>
            <a:r>
              <a:rPr lang="en-IN" altLang="en-US" sz="1600" b="1" dirty="0"/>
              <a:t>Computations that make it possible to </a:t>
            </a:r>
            <a:r>
              <a:rPr lang="en-IN" altLang="en-US" sz="1600" b="1" i="1" dirty="0"/>
              <a:t>perceive</a:t>
            </a:r>
            <a:r>
              <a:rPr lang="en-IN" altLang="en-US" sz="1600" b="1" dirty="0"/>
              <a:t>, </a:t>
            </a:r>
            <a:r>
              <a:rPr lang="en-IN" altLang="en-US" sz="1600" b="1" i="1" dirty="0"/>
              <a:t>reason</a:t>
            </a:r>
            <a:r>
              <a:rPr lang="en-IN" altLang="en-US" sz="1600" b="1" dirty="0"/>
              <a:t>, and </a:t>
            </a:r>
            <a:r>
              <a:rPr lang="en-IN" altLang="en-US" sz="1600" b="1" i="1" dirty="0"/>
              <a:t>act</a:t>
            </a:r>
            <a:r>
              <a:rPr lang="en-IN" altLang="en-US" sz="1600" b="1" dirty="0"/>
              <a:t> (Winston, </a:t>
            </a:r>
            <a:endParaRPr lang="en-IN" altLang="en-US" sz="1600" dirty="0"/>
          </a:p>
          <a:p>
            <a:pPr eaLnBrk="1" hangingPunct="1">
              <a:lnSpc>
                <a:spcPts val="900"/>
              </a:lnSpc>
              <a:buFontTx/>
              <a:buNone/>
            </a:pPr>
            <a:r>
              <a:rPr lang="en-IN" altLang="en-US" sz="1600" dirty="0"/>
              <a:t> </a:t>
            </a:r>
          </a:p>
          <a:p>
            <a:pPr eaLnBrk="1">
              <a:lnSpc>
                <a:spcPts val="900"/>
              </a:lnSpc>
              <a:buFontTx/>
              <a:buNone/>
            </a:pPr>
            <a:r>
              <a:rPr lang="en-IN" altLang="en-US" sz="1600" b="1" dirty="0"/>
              <a:t>1992) </a:t>
            </a:r>
            <a:endParaRPr lang="en-IN" altLang="en-US" sz="1600" dirty="0"/>
          </a:p>
          <a:p>
            <a:pPr eaLnBrk="1" hangingPunct="1">
              <a:lnSpc>
                <a:spcPts val="900"/>
              </a:lnSpc>
              <a:buFontTx/>
              <a:buNone/>
            </a:pPr>
            <a:r>
              <a:rPr lang="en-IN" altLang="en-US" sz="1600" dirty="0"/>
              <a:t> </a:t>
            </a:r>
          </a:p>
          <a:p>
            <a:pPr eaLnBrk="1">
              <a:lnSpc>
                <a:spcPts val="900"/>
              </a:lnSpc>
              <a:buFontTx/>
              <a:buNone/>
            </a:pPr>
            <a:r>
              <a:rPr lang="en-IN" altLang="en-US" sz="1600" b="1" dirty="0">
                <a:solidFill>
                  <a:srgbClr val="00B050"/>
                </a:solidFill>
              </a:rPr>
              <a:t>Acting Rationally </a:t>
            </a:r>
            <a:endParaRPr lang="en-IN" altLang="en-US" sz="1600" dirty="0">
              <a:solidFill>
                <a:srgbClr val="00B050"/>
              </a:solidFill>
            </a:endParaRPr>
          </a:p>
          <a:p>
            <a:pPr eaLnBrk="1" hangingPunct="1">
              <a:lnSpc>
                <a:spcPts val="900"/>
              </a:lnSpc>
              <a:buFontTx/>
              <a:buNone/>
            </a:pPr>
            <a:r>
              <a:rPr lang="en-IN" altLang="en-US" sz="1600" dirty="0"/>
              <a:t> </a:t>
            </a:r>
          </a:p>
          <a:p>
            <a:pPr eaLnBrk="1">
              <a:lnSpc>
                <a:spcPts val="900"/>
              </a:lnSpc>
              <a:buFontTx/>
              <a:buNone/>
            </a:pPr>
            <a:r>
              <a:rPr lang="en-IN" altLang="en-US" sz="1600" b="1" dirty="0"/>
              <a:t>Explaining, emulating int. </a:t>
            </a:r>
            <a:r>
              <a:rPr lang="en-IN" altLang="en-US" sz="1600" b="1" dirty="0" err="1"/>
              <a:t>behavior</a:t>
            </a:r>
            <a:r>
              <a:rPr lang="en-IN" altLang="en-US" sz="1600" b="1" dirty="0"/>
              <a:t> via computation (</a:t>
            </a:r>
            <a:r>
              <a:rPr lang="en-IN" altLang="en-US" sz="1600" b="1" dirty="0" err="1"/>
              <a:t>Schalkoff</a:t>
            </a:r>
            <a:r>
              <a:rPr lang="en-IN" altLang="en-US" sz="1600" b="1" dirty="0"/>
              <a:t>, 1990) </a:t>
            </a:r>
            <a:endParaRPr lang="en-IN" altLang="en-US" sz="1600" dirty="0"/>
          </a:p>
          <a:p>
            <a:pPr eaLnBrk="1" hangingPunct="1">
              <a:lnSpc>
                <a:spcPts val="900"/>
              </a:lnSpc>
              <a:buFontTx/>
              <a:buNone/>
            </a:pPr>
            <a:r>
              <a:rPr lang="en-IN" altLang="en-US" sz="1600" dirty="0"/>
              <a:t> </a:t>
            </a:r>
          </a:p>
          <a:p>
            <a:pPr eaLnBrk="1" hangingPunct="1">
              <a:lnSpc>
                <a:spcPts val="900"/>
              </a:lnSpc>
              <a:buFontTx/>
              <a:buNone/>
            </a:pPr>
            <a:r>
              <a:rPr lang="en-IN" altLang="en-US" sz="1600" b="1" dirty="0"/>
              <a:t>Branch of CS: automating intelligent </a:t>
            </a:r>
            <a:r>
              <a:rPr lang="en-IN" altLang="en-US" sz="1600" b="1" dirty="0" err="1"/>
              <a:t>behavior</a:t>
            </a:r>
            <a:r>
              <a:rPr lang="en-IN" altLang="en-US" sz="1600" b="1" dirty="0"/>
              <a:t> (Luger, 2005)</a:t>
            </a:r>
            <a:endParaRPr lang="en-IN" altLang="en-US" sz="1600" dirty="0"/>
          </a:p>
          <a:p>
            <a:pPr eaLnBrk="1" hangingPunct="1">
              <a:lnSpc>
                <a:spcPts val="900"/>
              </a:lnSpc>
              <a:buFontTx/>
              <a:buNone/>
            </a:pPr>
            <a:endParaRPr lang="en-IN" altLang="en-US" sz="1600" dirty="0"/>
          </a:p>
        </p:txBody>
      </p:sp>
      <p:sp>
        <p:nvSpPr>
          <p:cNvPr id="8196"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1400"/>
              <a:t>10918</a:t>
            </a:r>
          </a:p>
        </p:txBody>
      </p:sp>
      <p:sp>
        <p:nvSpPr>
          <p:cNvPr id="8197"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fld id="{FF5FE6FB-B4EE-40F3-ACE7-4D45935D929D}" type="slidenum">
              <a:rPr lang="en-US" altLang="en-US" sz="1400"/>
              <a:pPr>
                <a:spcBef>
                  <a:spcPct val="0"/>
                </a:spcBef>
                <a:buFontTx/>
                <a:buNone/>
              </a:pPr>
              <a:t>12</a:t>
            </a:fld>
            <a:endParaRPr lang="en-US" altLang="en-US" sz="1400"/>
          </a:p>
        </p:txBody>
      </p:sp>
    </p:spTree>
    <p:extLst>
      <p:ext uri="{BB962C8B-B14F-4D97-AF65-F5344CB8AC3E}">
        <p14:creationId xmlns:p14="http://schemas.microsoft.com/office/powerpoint/2010/main" val="1136816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DB6B7-6F40-186B-B7C4-68245B4EE8CA}"/>
              </a:ext>
            </a:extLst>
          </p:cNvPr>
          <p:cNvSpPr>
            <a:spLocks noGrp="1"/>
          </p:cNvSpPr>
          <p:nvPr>
            <p:ph type="title"/>
          </p:nvPr>
        </p:nvSpPr>
        <p:spPr>
          <a:xfrm>
            <a:off x="457200" y="274638"/>
            <a:ext cx="8229600" cy="562074"/>
          </a:xfrm>
        </p:spPr>
        <p:txBody>
          <a:bodyPr>
            <a:normAutofit/>
          </a:bodyPr>
          <a:lstStyle/>
          <a:p>
            <a:pPr algn="l"/>
            <a:r>
              <a:rPr lang="en-US" sz="2400" b="1" i="0" u="none" strike="noStrike" baseline="0" dirty="0">
                <a:latin typeface="Times-Bold"/>
              </a:rPr>
              <a:t>Thinking humanly: The cognitive modeling approach</a:t>
            </a:r>
            <a:endParaRPr lang="en-IN" sz="2400" dirty="0"/>
          </a:p>
        </p:txBody>
      </p:sp>
      <p:sp>
        <p:nvSpPr>
          <p:cNvPr id="3" name="Content Placeholder 2">
            <a:extLst>
              <a:ext uri="{FF2B5EF4-FFF2-40B4-BE49-F238E27FC236}">
                <a16:creationId xmlns:a16="http://schemas.microsoft.com/office/drawing/2014/main" id="{FF644085-070A-50A4-CE1F-B9598D475C62}"/>
              </a:ext>
            </a:extLst>
          </p:cNvPr>
          <p:cNvSpPr>
            <a:spLocks noGrp="1"/>
          </p:cNvSpPr>
          <p:nvPr>
            <p:ph idx="1"/>
          </p:nvPr>
        </p:nvSpPr>
        <p:spPr>
          <a:xfrm>
            <a:off x="457200" y="980728"/>
            <a:ext cx="8229600" cy="5145435"/>
          </a:xfrm>
        </p:spPr>
        <p:txBody>
          <a:bodyPr/>
          <a:lstStyle/>
          <a:p>
            <a:pPr marL="0" indent="0" algn="l">
              <a:buNone/>
            </a:pPr>
            <a:r>
              <a:rPr lang="en-US" sz="1800" b="1" i="0" u="none" strike="noStrike" baseline="0" dirty="0">
                <a:solidFill>
                  <a:srgbClr val="C00000"/>
                </a:solidFill>
                <a:latin typeface="Times-Roman"/>
              </a:rPr>
              <a:t>If you say that a given program thinks like a human, we must have some way of </a:t>
            </a:r>
            <a:r>
              <a:rPr lang="en-IN" sz="1800" b="1" i="0" u="none" strike="noStrike" baseline="0" dirty="0">
                <a:solidFill>
                  <a:srgbClr val="C00000"/>
                </a:solidFill>
                <a:latin typeface="Times-Roman"/>
              </a:rPr>
              <a:t>determining how humans think. </a:t>
            </a:r>
            <a:r>
              <a:rPr lang="en-US" sz="1800" dirty="0">
                <a:latin typeface="Times-Roman"/>
              </a:rPr>
              <a:t>The a</a:t>
            </a:r>
            <a:r>
              <a:rPr lang="en-US" sz="1800" b="0" i="0" u="none" strike="noStrike" baseline="0" dirty="0">
                <a:latin typeface="Times-Roman"/>
              </a:rPr>
              <a:t>ctual workings of human minds can be understood in the following ways: </a:t>
            </a:r>
          </a:p>
          <a:p>
            <a:pPr algn="l"/>
            <a:r>
              <a:rPr lang="en-US" sz="1800" b="1" i="0" u="none" strike="noStrike" baseline="0" dirty="0">
                <a:latin typeface="Times-Roman"/>
              </a:rPr>
              <a:t>through introspection</a:t>
            </a:r>
            <a:r>
              <a:rPr lang="en-US" sz="1800" b="0" i="0" u="none" strike="noStrike" baseline="0" dirty="0">
                <a:latin typeface="Times-Roman"/>
              </a:rPr>
              <a:t>—trying to catch our own thoughts as they go by; </a:t>
            </a:r>
          </a:p>
          <a:p>
            <a:pPr algn="l"/>
            <a:r>
              <a:rPr lang="en-US" sz="1800" b="1" i="0" u="none" strike="noStrike" baseline="0" dirty="0">
                <a:latin typeface="Times-Roman"/>
              </a:rPr>
              <a:t>through psychological experiments</a:t>
            </a:r>
            <a:r>
              <a:rPr lang="en-US" sz="1800" b="0" i="0" u="none" strike="noStrike" baseline="0" dirty="0">
                <a:latin typeface="Times-Roman"/>
              </a:rPr>
              <a:t>—observing a person in action; and </a:t>
            </a:r>
          </a:p>
          <a:p>
            <a:pPr algn="l"/>
            <a:r>
              <a:rPr lang="en-US" sz="1800" b="1" i="0" u="none" strike="noStrike" baseline="0" dirty="0">
                <a:latin typeface="Times-Roman"/>
              </a:rPr>
              <a:t>through</a:t>
            </a:r>
            <a:r>
              <a:rPr lang="en-US" sz="1800" b="1" dirty="0">
                <a:latin typeface="Times-Roman"/>
              </a:rPr>
              <a:t> </a:t>
            </a:r>
            <a:r>
              <a:rPr lang="en-US" sz="1800" b="1" i="0" u="none" strike="noStrike" baseline="0" dirty="0">
                <a:latin typeface="Times-Roman"/>
              </a:rPr>
              <a:t>brain imaging</a:t>
            </a:r>
            <a:r>
              <a:rPr lang="en-US" sz="1800" b="0" i="0" u="none" strike="noStrike" baseline="0" dirty="0">
                <a:latin typeface="Times-Roman"/>
              </a:rPr>
              <a:t>—observing the brain in action.</a:t>
            </a:r>
          </a:p>
          <a:p>
            <a:pPr marL="0" indent="0" algn="l">
              <a:buNone/>
            </a:pPr>
            <a:r>
              <a:rPr lang="en-US" sz="1800" b="1" i="0" u="none" strike="noStrike" baseline="0" dirty="0">
                <a:latin typeface="Times-Roman"/>
              </a:rPr>
              <a:t>Once we have a sufficiently precise theory of the mind, it becomes possible to express the theory as a computer program. </a:t>
            </a:r>
            <a:r>
              <a:rPr lang="en-US" sz="1800" b="1" dirty="0">
                <a:latin typeface="Times-Roman"/>
              </a:rPr>
              <a:t>E.g., </a:t>
            </a:r>
            <a:endParaRPr lang="en-US" sz="1800" b="1" i="0" u="none" strike="noStrike" baseline="0" dirty="0">
              <a:latin typeface="Times-Roman"/>
            </a:endParaRPr>
          </a:p>
          <a:p>
            <a:pPr marL="0" indent="0" algn="l">
              <a:buNone/>
            </a:pPr>
            <a:r>
              <a:rPr lang="en-US" sz="1800" b="1" dirty="0">
                <a:solidFill>
                  <a:srgbClr val="FF0000"/>
                </a:solidFill>
                <a:latin typeface="Times-Roman"/>
              </a:rPr>
              <a:t>HOWEVER, for AI, thinking like a human may not be the ideal case!!</a:t>
            </a:r>
          </a:p>
          <a:p>
            <a:pPr marL="0" indent="0" algn="l">
              <a:buNone/>
            </a:pPr>
            <a:endParaRPr lang="en-IN" b="1" dirty="0">
              <a:solidFill>
                <a:srgbClr val="FF0000"/>
              </a:solidFill>
            </a:endParaRPr>
          </a:p>
        </p:txBody>
      </p:sp>
    </p:spTree>
    <p:extLst>
      <p:ext uri="{BB962C8B-B14F-4D97-AF65-F5344CB8AC3E}">
        <p14:creationId xmlns:p14="http://schemas.microsoft.com/office/powerpoint/2010/main" val="1342849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F28F3-1047-3796-5837-CB53D9F7CD54}"/>
              </a:ext>
            </a:extLst>
          </p:cNvPr>
          <p:cNvSpPr>
            <a:spLocks noGrp="1"/>
          </p:cNvSpPr>
          <p:nvPr>
            <p:ph type="title"/>
          </p:nvPr>
        </p:nvSpPr>
        <p:spPr>
          <a:xfrm>
            <a:off x="457200" y="274638"/>
            <a:ext cx="8229600" cy="457199"/>
          </a:xfrm>
        </p:spPr>
        <p:txBody>
          <a:bodyPr>
            <a:noAutofit/>
          </a:bodyPr>
          <a:lstStyle/>
          <a:p>
            <a:pPr algn="l"/>
            <a:r>
              <a:rPr lang="en-US" sz="2400" b="1" i="0" u="none" strike="noStrike" baseline="0" dirty="0">
                <a:latin typeface="Times-Bold"/>
              </a:rPr>
              <a:t>Acting humanly: The Turing Test approach</a:t>
            </a:r>
            <a:endParaRPr lang="en-IN" sz="2400" dirty="0"/>
          </a:p>
        </p:txBody>
      </p:sp>
      <p:pic>
        <p:nvPicPr>
          <p:cNvPr id="5" name="Content Placeholder 4">
            <a:extLst>
              <a:ext uri="{FF2B5EF4-FFF2-40B4-BE49-F238E27FC236}">
                <a16:creationId xmlns:a16="http://schemas.microsoft.com/office/drawing/2014/main" id="{83086DD5-0C6C-AF6A-93A3-B46A2DD72D4E}"/>
              </a:ext>
            </a:extLst>
          </p:cNvPr>
          <p:cNvPicPr>
            <a:picLocks noGrp="1" noChangeAspect="1"/>
          </p:cNvPicPr>
          <p:nvPr>
            <p:ph idx="1"/>
          </p:nvPr>
        </p:nvPicPr>
        <p:blipFill>
          <a:blip r:embed="rId2"/>
          <a:stretch>
            <a:fillRect/>
          </a:stretch>
        </p:blipFill>
        <p:spPr>
          <a:xfrm>
            <a:off x="4283968" y="725494"/>
            <a:ext cx="4626395" cy="2000529"/>
          </a:xfrm>
        </p:spPr>
      </p:pic>
      <p:sp>
        <p:nvSpPr>
          <p:cNvPr id="6" name="TextBox 5">
            <a:extLst>
              <a:ext uri="{FF2B5EF4-FFF2-40B4-BE49-F238E27FC236}">
                <a16:creationId xmlns:a16="http://schemas.microsoft.com/office/drawing/2014/main" id="{4D405241-C152-8A8D-3B05-AAA710B54C33}"/>
              </a:ext>
            </a:extLst>
          </p:cNvPr>
          <p:cNvSpPr txBox="1"/>
          <p:nvPr/>
        </p:nvSpPr>
        <p:spPr>
          <a:xfrm>
            <a:off x="179513" y="908720"/>
            <a:ext cx="3960440" cy="1477328"/>
          </a:xfrm>
          <a:prstGeom prst="rect">
            <a:avLst/>
          </a:prstGeom>
          <a:noFill/>
        </p:spPr>
        <p:txBody>
          <a:bodyPr wrap="square" rtlCol="0">
            <a:spAutoFit/>
          </a:bodyPr>
          <a:lstStyle/>
          <a:p>
            <a:pPr algn="l"/>
            <a:r>
              <a:rPr lang="en-US" sz="1800" b="1" i="0" u="none" strike="noStrike" baseline="0" dirty="0">
                <a:latin typeface="Times-Roman"/>
              </a:rPr>
              <a:t>A computer passes the test if a human interrogator, after asking some written </a:t>
            </a:r>
          </a:p>
          <a:p>
            <a:pPr algn="l"/>
            <a:r>
              <a:rPr lang="en-US" sz="1800" b="1" i="0" u="none" strike="noStrike" baseline="0" dirty="0">
                <a:latin typeface="Times-Roman"/>
              </a:rPr>
              <a:t>questions, cannot tell whether the written responses come from a person</a:t>
            </a:r>
          </a:p>
          <a:p>
            <a:pPr algn="l"/>
            <a:r>
              <a:rPr lang="en-IN" sz="1800" b="1" i="0" u="none" strike="noStrike" baseline="0" dirty="0">
                <a:latin typeface="Times-Roman"/>
              </a:rPr>
              <a:t>or from a computer.</a:t>
            </a:r>
            <a:endParaRPr lang="en-IN" b="1" dirty="0"/>
          </a:p>
        </p:txBody>
      </p:sp>
      <p:sp>
        <p:nvSpPr>
          <p:cNvPr id="7" name="TextBox 6">
            <a:extLst>
              <a:ext uri="{FF2B5EF4-FFF2-40B4-BE49-F238E27FC236}">
                <a16:creationId xmlns:a16="http://schemas.microsoft.com/office/drawing/2014/main" id="{AC3B201F-2365-D793-A317-E62858DB5D7E}"/>
              </a:ext>
            </a:extLst>
          </p:cNvPr>
          <p:cNvSpPr txBox="1"/>
          <p:nvPr/>
        </p:nvSpPr>
        <p:spPr>
          <a:xfrm>
            <a:off x="282679" y="2729455"/>
            <a:ext cx="8537793" cy="3139321"/>
          </a:xfrm>
          <a:prstGeom prst="rect">
            <a:avLst/>
          </a:prstGeom>
          <a:noFill/>
        </p:spPr>
        <p:txBody>
          <a:bodyPr wrap="square" rtlCol="0">
            <a:spAutoFit/>
          </a:bodyPr>
          <a:lstStyle/>
          <a:p>
            <a:pPr algn="l"/>
            <a:r>
              <a:rPr lang="en-US" sz="1800" b="0" i="0" u="none" strike="noStrike" baseline="0" dirty="0">
                <a:latin typeface="Times-Roman"/>
              </a:rPr>
              <a:t>The computer would need to possess the </a:t>
            </a:r>
            <a:r>
              <a:rPr lang="en-IN" sz="1800" b="0" i="0" u="none" strike="noStrike" baseline="0" dirty="0">
                <a:latin typeface="Times-Roman"/>
              </a:rPr>
              <a:t>following capabilities:</a:t>
            </a:r>
          </a:p>
          <a:p>
            <a:pPr marL="285750" indent="-285750" algn="l">
              <a:buFont typeface="Arial" panose="020B0604020202020204" pitchFamily="34" charset="0"/>
              <a:buChar char="•"/>
            </a:pPr>
            <a:r>
              <a:rPr lang="en-US" sz="1800" b="1" i="0" u="none" strike="noStrike" baseline="0" dirty="0">
                <a:latin typeface="Times-Bold"/>
              </a:rPr>
              <a:t>natural language processing </a:t>
            </a:r>
            <a:r>
              <a:rPr lang="en-US" sz="1800" b="0" i="0" u="none" strike="noStrike" baseline="0" dirty="0">
                <a:latin typeface="Times-Roman"/>
              </a:rPr>
              <a:t>to enable it to communicate successfully in English</a:t>
            </a:r>
            <a:endParaRPr lang="en-IN" dirty="0">
              <a:latin typeface="Times-Roman"/>
            </a:endParaRPr>
          </a:p>
          <a:p>
            <a:pPr marL="285750" indent="-285750" algn="l">
              <a:buFont typeface="Arial" panose="020B0604020202020204" pitchFamily="34" charset="0"/>
              <a:buChar char="•"/>
            </a:pPr>
            <a:r>
              <a:rPr lang="en-US" sz="1800" b="1" i="0" u="none" strike="noStrike" baseline="0" dirty="0">
                <a:latin typeface="Times-Bold"/>
              </a:rPr>
              <a:t>knowledge representation </a:t>
            </a:r>
            <a:r>
              <a:rPr lang="en-US" sz="1800" b="0" i="0" u="none" strike="noStrike" baseline="0" dirty="0">
                <a:latin typeface="Times-Roman"/>
              </a:rPr>
              <a:t>to store what it knows or hears;</a:t>
            </a:r>
            <a:endParaRPr lang="en-IN" sz="1800" b="0" i="0" u="none" strike="noStrike" baseline="0" dirty="0">
              <a:latin typeface="Times-Roman"/>
            </a:endParaRPr>
          </a:p>
          <a:p>
            <a:pPr marL="285750" indent="-285750" algn="l">
              <a:buFont typeface="Arial" panose="020B0604020202020204" pitchFamily="34" charset="0"/>
              <a:buChar char="•"/>
            </a:pPr>
            <a:r>
              <a:rPr lang="en-US" sz="1800" b="1" i="0" u="none" strike="noStrike" baseline="0" dirty="0">
                <a:latin typeface="Times-Bold"/>
              </a:rPr>
              <a:t>automated reasoning </a:t>
            </a:r>
            <a:r>
              <a:rPr lang="en-US" sz="1800" b="0" i="0" u="none" strike="noStrike" baseline="0" dirty="0">
                <a:latin typeface="Times-Roman"/>
              </a:rPr>
              <a:t>to use the stored information to answer questions and to draw </a:t>
            </a:r>
            <a:r>
              <a:rPr lang="en-IN" sz="1800" b="0" i="0" u="none" strike="noStrike" baseline="0" dirty="0">
                <a:latin typeface="Times-Roman"/>
              </a:rPr>
              <a:t>new conclusions;</a:t>
            </a:r>
          </a:p>
          <a:p>
            <a:pPr marL="285750" indent="-285750" algn="l">
              <a:buFont typeface="Arial" panose="020B0604020202020204" pitchFamily="34" charset="0"/>
              <a:buChar char="•"/>
            </a:pPr>
            <a:r>
              <a:rPr lang="en-US" sz="1800" b="1" i="0" u="none" strike="noStrike" baseline="0" dirty="0">
                <a:latin typeface="Times-Bold"/>
              </a:rPr>
              <a:t>machine learning </a:t>
            </a:r>
            <a:r>
              <a:rPr lang="en-US" sz="1800" b="0" i="0" u="none" strike="noStrike" baseline="0" dirty="0">
                <a:latin typeface="Times-Roman"/>
              </a:rPr>
              <a:t>to adapt to new circumstances and to detect and extrapolate patterns</a:t>
            </a:r>
            <a:endParaRPr lang="en-IN" dirty="0">
              <a:latin typeface="Times-Roman"/>
            </a:endParaRPr>
          </a:p>
          <a:p>
            <a:pPr marL="285750" indent="-285750" algn="l">
              <a:buFont typeface="Arial" panose="020B0604020202020204" pitchFamily="34" charset="0"/>
              <a:buChar char="•"/>
            </a:pPr>
            <a:r>
              <a:rPr lang="en-US" sz="1800" b="1" i="0" u="none" strike="noStrike" baseline="0" dirty="0">
                <a:latin typeface="Times-Bold"/>
              </a:rPr>
              <a:t>computer vision </a:t>
            </a:r>
            <a:r>
              <a:rPr lang="en-US" sz="1800" b="0" i="0" u="none" strike="noStrike" baseline="0" dirty="0">
                <a:latin typeface="Times-Roman"/>
              </a:rPr>
              <a:t>to perceive objects, and</a:t>
            </a:r>
            <a:endParaRPr lang="en-IN" sz="1800" b="0" i="0" u="none" strike="noStrike" baseline="0" dirty="0">
              <a:latin typeface="Times-Roman"/>
            </a:endParaRPr>
          </a:p>
          <a:p>
            <a:pPr marL="285750" indent="-285750" algn="l">
              <a:buFont typeface="Arial" panose="020B0604020202020204" pitchFamily="34" charset="0"/>
              <a:buChar char="•"/>
            </a:pPr>
            <a:r>
              <a:rPr lang="en-US" sz="1800" b="1" i="0" u="none" strike="noStrike" baseline="0" dirty="0">
                <a:latin typeface="Times-Bold"/>
              </a:rPr>
              <a:t>robotics </a:t>
            </a:r>
            <a:r>
              <a:rPr lang="en-US" sz="1800" b="0" i="0" u="none" strike="noStrike" baseline="0" dirty="0">
                <a:latin typeface="Times-Roman"/>
              </a:rPr>
              <a:t>to manipulate objects and move about.</a:t>
            </a:r>
            <a:endParaRPr lang="en-IN" sz="1800" b="0" i="0" u="none" strike="noStrike" baseline="0" dirty="0">
              <a:latin typeface="Times-Roman"/>
            </a:endParaRPr>
          </a:p>
          <a:p>
            <a:pPr algn="l"/>
            <a:r>
              <a:rPr lang="en-IN" dirty="0">
                <a:solidFill>
                  <a:srgbClr val="C00000"/>
                </a:solidFill>
              </a:rPr>
              <a:t>***the last two capabilities are required to check the perceptual abilities of the machine. Perceptual? all about perceiving, or sensing things. It </a:t>
            </a:r>
            <a:r>
              <a:rPr lang="en-IN" b="1" dirty="0">
                <a:solidFill>
                  <a:srgbClr val="C00000"/>
                </a:solidFill>
              </a:rPr>
              <a:t>allows you to make sense of the world around you by seeing and hearing</a:t>
            </a:r>
            <a:endParaRPr lang="en-IN" dirty="0">
              <a:solidFill>
                <a:srgbClr val="C00000"/>
              </a:solidFill>
            </a:endParaRPr>
          </a:p>
        </p:txBody>
      </p:sp>
    </p:spTree>
    <p:extLst>
      <p:ext uri="{BB962C8B-B14F-4D97-AF65-F5344CB8AC3E}">
        <p14:creationId xmlns:p14="http://schemas.microsoft.com/office/powerpoint/2010/main" val="3655972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999CC-D8FA-3E36-76E8-7EA3FF290624}"/>
              </a:ext>
            </a:extLst>
          </p:cNvPr>
          <p:cNvSpPr>
            <a:spLocks noGrp="1"/>
          </p:cNvSpPr>
          <p:nvPr>
            <p:ph type="title"/>
          </p:nvPr>
        </p:nvSpPr>
        <p:spPr/>
        <p:txBody>
          <a:bodyPr>
            <a:normAutofit fontScale="90000"/>
          </a:bodyPr>
          <a:lstStyle/>
          <a:p>
            <a:r>
              <a:rPr lang="en-US" dirty="0"/>
              <a:t>Thinking rationally: The “laws of thought” approach</a:t>
            </a:r>
            <a:endParaRPr lang="en-IN" dirty="0"/>
          </a:p>
        </p:txBody>
      </p:sp>
      <p:sp>
        <p:nvSpPr>
          <p:cNvPr id="3" name="Content Placeholder 2">
            <a:extLst>
              <a:ext uri="{FF2B5EF4-FFF2-40B4-BE49-F238E27FC236}">
                <a16:creationId xmlns:a16="http://schemas.microsoft.com/office/drawing/2014/main" id="{C02DD698-4035-04AA-E0D4-F7D3C430DD74}"/>
              </a:ext>
            </a:extLst>
          </p:cNvPr>
          <p:cNvSpPr>
            <a:spLocks noGrp="1"/>
          </p:cNvSpPr>
          <p:nvPr>
            <p:ph idx="1"/>
          </p:nvPr>
        </p:nvSpPr>
        <p:spPr/>
        <p:txBody>
          <a:bodyPr/>
          <a:lstStyle/>
          <a:p>
            <a:r>
              <a:rPr lang="en-IN" dirty="0"/>
              <a:t>Thinking should be purposeful, directed towards the goal.</a:t>
            </a:r>
          </a:p>
          <a:p>
            <a:r>
              <a:rPr lang="en-IN" dirty="0"/>
              <a:t>Not every time one needs to think rationally but (s)he should perform sometimes which is called reflex </a:t>
            </a:r>
          </a:p>
          <a:p>
            <a:pPr marL="0" indent="0">
              <a:buNone/>
            </a:pPr>
            <a:r>
              <a:rPr lang="en-IN" dirty="0" err="1"/>
              <a:t>Eg.</a:t>
            </a:r>
            <a:r>
              <a:rPr lang="en-IN" dirty="0"/>
              <a:t> While crossing the road, If I see a truck coming…………….</a:t>
            </a:r>
          </a:p>
        </p:txBody>
      </p:sp>
    </p:spTree>
    <p:extLst>
      <p:ext uri="{BB962C8B-B14F-4D97-AF65-F5344CB8AC3E}">
        <p14:creationId xmlns:p14="http://schemas.microsoft.com/office/powerpoint/2010/main" val="3628942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4FE7C-096F-D586-4DA8-3144E173D6AE}"/>
              </a:ext>
            </a:extLst>
          </p:cNvPr>
          <p:cNvSpPr>
            <a:spLocks noGrp="1"/>
          </p:cNvSpPr>
          <p:nvPr>
            <p:ph type="title"/>
          </p:nvPr>
        </p:nvSpPr>
        <p:spPr>
          <a:xfrm>
            <a:off x="457200" y="274638"/>
            <a:ext cx="8229600" cy="346050"/>
          </a:xfrm>
        </p:spPr>
        <p:txBody>
          <a:bodyPr>
            <a:normAutofit fontScale="90000"/>
          </a:bodyPr>
          <a:lstStyle/>
          <a:p>
            <a:r>
              <a:rPr lang="en-US" sz="3200" b="1" i="0" u="none" strike="noStrike" baseline="0" dirty="0"/>
              <a:t>Acting rationally: The rational agent approach</a:t>
            </a:r>
            <a:endParaRPr lang="en-IN" sz="3200" dirty="0"/>
          </a:p>
        </p:txBody>
      </p:sp>
      <p:sp>
        <p:nvSpPr>
          <p:cNvPr id="3" name="Content Placeholder 2">
            <a:extLst>
              <a:ext uri="{FF2B5EF4-FFF2-40B4-BE49-F238E27FC236}">
                <a16:creationId xmlns:a16="http://schemas.microsoft.com/office/drawing/2014/main" id="{E60442EE-1974-F5C7-F640-3C5A204116BF}"/>
              </a:ext>
            </a:extLst>
          </p:cNvPr>
          <p:cNvSpPr>
            <a:spLocks noGrp="1"/>
          </p:cNvSpPr>
          <p:nvPr>
            <p:ph idx="1"/>
          </p:nvPr>
        </p:nvSpPr>
        <p:spPr>
          <a:xfrm>
            <a:off x="457200" y="764704"/>
            <a:ext cx="8229600" cy="5361459"/>
          </a:xfrm>
        </p:spPr>
        <p:txBody>
          <a:bodyPr>
            <a:normAutofit/>
          </a:bodyPr>
          <a:lstStyle/>
          <a:p>
            <a:pPr marL="0" indent="0" algn="l">
              <a:buNone/>
            </a:pPr>
            <a:r>
              <a:rPr lang="en-US" sz="1800" b="0" i="0" u="none" strike="noStrike" baseline="0" dirty="0">
                <a:latin typeface="Times-Roman"/>
              </a:rPr>
              <a:t>An agent is just something that acts.</a:t>
            </a:r>
          </a:p>
          <a:p>
            <a:pPr algn="l"/>
            <a:r>
              <a:rPr lang="en-US" sz="1800" b="0" i="0" u="none" strike="noStrike" baseline="0" dirty="0">
                <a:latin typeface="Times-Roman"/>
              </a:rPr>
              <a:t>All computer programs do something, but computer agents are expected to do more: </a:t>
            </a:r>
            <a:r>
              <a:rPr lang="en-US" sz="1800" b="0" i="0" u="none" strike="noStrike" baseline="0" dirty="0">
                <a:solidFill>
                  <a:srgbClr val="FF0000"/>
                </a:solidFill>
                <a:latin typeface="Times-Roman"/>
              </a:rPr>
              <a:t>operate autonomously, perceive their environment, persist over a prolonged time period, adapt to change, and create and pursue goals</a:t>
            </a:r>
            <a:r>
              <a:rPr lang="en-US" sz="1800" b="0" i="0" u="none" strike="noStrike" baseline="0" dirty="0">
                <a:latin typeface="Times-Roman"/>
              </a:rPr>
              <a:t>.</a:t>
            </a:r>
          </a:p>
          <a:p>
            <a:pPr marL="0" indent="0" algn="l">
              <a:buNone/>
            </a:pPr>
            <a:r>
              <a:rPr lang="en-US" sz="1800" b="0" i="0" u="none" strike="noStrike" baseline="0" dirty="0">
                <a:latin typeface="Times-Roman"/>
              </a:rPr>
              <a:t>A </a:t>
            </a:r>
            <a:r>
              <a:rPr lang="en-US" sz="1800" b="1" i="0" u="none" strike="noStrike" baseline="0" dirty="0">
                <a:latin typeface="Times-Bold"/>
              </a:rPr>
              <a:t>rational agent </a:t>
            </a:r>
            <a:r>
              <a:rPr lang="en-US" sz="1800" b="0" i="0" u="none" strike="noStrike" baseline="0" dirty="0">
                <a:latin typeface="Times-Roman"/>
              </a:rPr>
              <a:t>is one that acts so as to achieve the best outcome or, when there is uncertainty, the best expected outcome.</a:t>
            </a:r>
          </a:p>
          <a:p>
            <a:pPr marL="0" indent="0" algn="l">
              <a:buNone/>
            </a:pPr>
            <a:r>
              <a:rPr lang="en-US" sz="1800" b="0" i="0" u="none" strike="noStrike" baseline="0" dirty="0">
                <a:solidFill>
                  <a:srgbClr val="FF0000"/>
                </a:solidFill>
                <a:latin typeface="Times-Roman"/>
              </a:rPr>
              <a:t>Making correct inferences</a:t>
            </a:r>
            <a:r>
              <a:rPr lang="en-US" sz="1800" b="0" i="0" u="none" strike="noStrike" baseline="0" dirty="0">
                <a:latin typeface="Times-Roman"/>
              </a:rPr>
              <a:t> is sometimes part of being a rational agent</a:t>
            </a:r>
          </a:p>
        </p:txBody>
      </p:sp>
    </p:spTree>
    <p:extLst>
      <p:ext uri="{BB962C8B-B14F-4D97-AF65-F5344CB8AC3E}">
        <p14:creationId xmlns:p14="http://schemas.microsoft.com/office/powerpoint/2010/main" val="797348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17B68-CE45-6336-E772-62B504C4C0D9}"/>
              </a:ext>
            </a:extLst>
          </p:cNvPr>
          <p:cNvSpPr>
            <a:spLocks noGrp="1"/>
          </p:cNvSpPr>
          <p:nvPr>
            <p:ph type="title"/>
          </p:nvPr>
        </p:nvSpPr>
        <p:spPr>
          <a:xfrm>
            <a:off x="457200" y="274638"/>
            <a:ext cx="8229600" cy="20203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94559DC6-2067-8786-F1F7-27620DD650A9}"/>
              </a:ext>
            </a:extLst>
          </p:cNvPr>
          <p:cNvSpPr>
            <a:spLocks noGrp="1"/>
          </p:cNvSpPr>
          <p:nvPr>
            <p:ph idx="1"/>
          </p:nvPr>
        </p:nvSpPr>
        <p:spPr>
          <a:xfrm>
            <a:off x="457200" y="836712"/>
            <a:ext cx="8229600" cy="5289451"/>
          </a:xfrm>
        </p:spPr>
        <p:txBody>
          <a:bodyPr>
            <a:normAutofit/>
          </a:bodyPr>
          <a:lstStyle/>
          <a:p>
            <a:r>
              <a:rPr lang="en-US" sz="2400" dirty="0"/>
              <a:t>Study of AI involves the development of algorithms and computer programs that can perform tasks that typically require human intelligence such as visual perception, speech recognition, decision-making, and language translation</a:t>
            </a:r>
          </a:p>
          <a:p>
            <a:r>
              <a:rPr lang="en-US" sz="2400" dirty="0"/>
              <a:t>AI has the potential to revolutionize many industries and has a wide range of applications, from virtual personal assistants to self-driving cars</a:t>
            </a:r>
          </a:p>
          <a:p>
            <a:pPr marL="0" indent="0">
              <a:buNone/>
            </a:pPr>
            <a:r>
              <a:rPr lang="en-US" sz="2400" b="1" dirty="0"/>
              <a:t>Intelligence: The ability to learn and solve problems.</a:t>
            </a:r>
          </a:p>
          <a:p>
            <a:pPr>
              <a:buFont typeface="Wingdings" panose="05000000000000000000" pitchFamily="2" charset="2"/>
              <a:buChar char="q"/>
            </a:pPr>
            <a:r>
              <a:rPr lang="en-US" sz="2400" dirty="0">
                <a:solidFill>
                  <a:srgbClr val="FF0000"/>
                </a:solidFill>
              </a:rPr>
              <a:t>Intelligence</a:t>
            </a:r>
            <a:r>
              <a:rPr lang="en-US" sz="2400" dirty="0"/>
              <a:t>, as we know, is the ability to acquire and apply knowledge.</a:t>
            </a:r>
          </a:p>
          <a:p>
            <a:pPr>
              <a:buFont typeface="Wingdings" panose="05000000000000000000" pitchFamily="2" charset="2"/>
              <a:buChar char="q"/>
            </a:pPr>
            <a:r>
              <a:rPr lang="en-US" sz="2400" dirty="0">
                <a:solidFill>
                  <a:srgbClr val="FF0000"/>
                </a:solidFill>
              </a:rPr>
              <a:t>Knowledge </a:t>
            </a:r>
            <a:r>
              <a:rPr lang="en-US" sz="2400" dirty="0"/>
              <a:t>is the information acquired through experience.</a:t>
            </a:r>
          </a:p>
          <a:p>
            <a:pPr>
              <a:buFont typeface="Wingdings" panose="05000000000000000000" pitchFamily="2" charset="2"/>
              <a:buChar char="q"/>
            </a:pPr>
            <a:r>
              <a:rPr lang="en-US" sz="2400" dirty="0">
                <a:solidFill>
                  <a:srgbClr val="FF0000"/>
                </a:solidFill>
              </a:rPr>
              <a:t>Experience</a:t>
            </a:r>
            <a:r>
              <a:rPr lang="en-US" sz="2400" dirty="0"/>
              <a:t> is the knowledge gained through exposure(training).</a:t>
            </a:r>
            <a:endParaRPr lang="en-IN" sz="2400" dirty="0"/>
          </a:p>
        </p:txBody>
      </p:sp>
    </p:spTree>
    <p:extLst>
      <p:ext uri="{BB962C8B-B14F-4D97-AF65-F5344CB8AC3E}">
        <p14:creationId xmlns:p14="http://schemas.microsoft.com/office/powerpoint/2010/main" val="1697811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9E50EC-672F-798B-D2B9-8C20C687CA5E}"/>
              </a:ext>
            </a:extLst>
          </p:cNvPr>
          <p:cNvSpPr>
            <a:spLocks noGrp="1"/>
          </p:cNvSpPr>
          <p:nvPr>
            <p:ph idx="1"/>
          </p:nvPr>
        </p:nvSpPr>
        <p:spPr>
          <a:xfrm>
            <a:off x="457200" y="692696"/>
            <a:ext cx="8229600" cy="5433467"/>
          </a:xfrm>
        </p:spPr>
        <p:txBody>
          <a:bodyPr>
            <a:normAutofit/>
          </a:bodyPr>
          <a:lstStyle/>
          <a:p>
            <a:pPr marL="0" indent="0">
              <a:buNone/>
            </a:pPr>
            <a:r>
              <a:rPr lang="en-IN" sz="2400" dirty="0"/>
              <a:t>Intelligence is composed of: </a:t>
            </a:r>
          </a:p>
          <a:p>
            <a:r>
              <a:rPr lang="en-US" sz="2400" b="1" dirty="0">
                <a:solidFill>
                  <a:srgbClr val="FF0000"/>
                </a:solidFill>
              </a:rPr>
              <a:t>Reasoning</a:t>
            </a:r>
            <a:r>
              <a:rPr lang="en-US" sz="2400" dirty="0"/>
              <a:t>: The process of </a:t>
            </a:r>
            <a:r>
              <a:rPr lang="en-US" sz="2400" dirty="0">
                <a:solidFill>
                  <a:srgbClr val="FF0000"/>
                </a:solidFill>
              </a:rPr>
              <a:t>thinking</a:t>
            </a:r>
            <a:r>
              <a:rPr lang="en-US" sz="2400" dirty="0"/>
              <a:t> about something in a </a:t>
            </a:r>
            <a:r>
              <a:rPr lang="en-US" sz="2400" dirty="0">
                <a:solidFill>
                  <a:srgbClr val="FF0000"/>
                </a:solidFill>
              </a:rPr>
              <a:t>logical way </a:t>
            </a:r>
            <a:r>
              <a:rPr lang="en-US" sz="2400" dirty="0"/>
              <a:t>in order to form a conclusion or judgement</a:t>
            </a:r>
          </a:p>
          <a:p>
            <a:r>
              <a:rPr lang="en-US" sz="2400" b="1" dirty="0">
                <a:solidFill>
                  <a:srgbClr val="FF0000"/>
                </a:solidFill>
              </a:rPr>
              <a:t>Learning</a:t>
            </a:r>
            <a:r>
              <a:rPr lang="en-US" sz="2400" dirty="0"/>
              <a:t>: </a:t>
            </a:r>
            <a:r>
              <a:rPr lang="en-US" sz="2400" dirty="0">
                <a:solidFill>
                  <a:srgbClr val="FF0000"/>
                </a:solidFill>
              </a:rPr>
              <a:t>Knowledge</a:t>
            </a:r>
            <a:r>
              <a:rPr lang="en-US" sz="2400" dirty="0"/>
              <a:t>/Experience that you get from studying/working.</a:t>
            </a:r>
          </a:p>
          <a:p>
            <a:r>
              <a:rPr lang="en-US" sz="2400" b="1" dirty="0">
                <a:solidFill>
                  <a:srgbClr val="FF0000"/>
                </a:solidFill>
              </a:rPr>
              <a:t>Problem-Solving</a:t>
            </a:r>
            <a:r>
              <a:rPr lang="en-US" sz="2400" dirty="0"/>
              <a:t>: Act of defining a problem; determining the cause of the problem; identifying, prioritizing, and selecting alternatives for a solution; and implementing a solution</a:t>
            </a:r>
          </a:p>
          <a:p>
            <a:r>
              <a:rPr lang="en-US" sz="2400" b="1" dirty="0">
                <a:solidFill>
                  <a:srgbClr val="FF0000"/>
                </a:solidFill>
              </a:rPr>
              <a:t>Perception</a:t>
            </a:r>
            <a:r>
              <a:rPr lang="en-US" sz="2400" dirty="0"/>
              <a:t>: Act of perceiving or the </a:t>
            </a:r>
            <a:r>
              <a:rPr lang="en-US" sz="2400" dirty="0">
                <a:solidFill>
                  <a:srgbClr val="FF0000"/>
                </a:solidFill>
              </a:rPr>
              <a:t>ability to perceive</a:t>
            </a:r>
            <a:r>
              <a:rPr lang="en-US" sz="2400" dirty="0"/>
              <a:t>; mental grasp of objects, qualities, etc. by means of the senses; awareness; comprehension.</a:t>
            </a:r>
          </a:p>
          <a:p>
            <a:r>
              <a:rPr lang="en-US" sz="2400" b="1" dirty="0">
                <a:solidFill>
                  <a:srgbClr val="FF0000"/>
                </a:solidFill>
              </a:rPr>
              <a:t>Linguistic Intelligence</a:t>
            </a:r>
            <a:r>
              <a:rPr lang="en-US" sz="2400" dirty="0"/>
              <a:t>: The </a:t>
            </a:r>
            <a:r>
              <a:rPr lang="en-US" sz="2400" dirty="0">
                <a:solidFill>
                  <a:srgbClr val="FF0000"/>
                </a:solidFill>
              </a:rPr>
              <a:t>ability to think in words </a:t>
            </a:r>
            <a:r>
              <a:rPr lang="en-US" sz="2400" dirty="0"/>
              <a:t>and to use language to express and appreciate complex meanings.</a:t>
            </a:r>
            <a:endParaRPr lang="en-IN" sz="2400" dirty="0"/>
          </a:p>
        </p:txBody>
      </p:sp>
    </p:spTree>
    <p:extLst>
      <p:ext uri="{BB962C8B-B14F-4D97-AF65-F5344CB8AC3E}">
        <p14:creationId xmlns:p14="http://schemas.microsoft.com/office/powerpoint/2010/main" val="1812389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7DC3B8-3A1A-83D2-0D37-15350E2A78C9}"/>
              </a:ext>
            </a:extLst>
          </p:cNvPr>
          <p:cNvSpPr>
            <a:spLocks noGrp="1"/>
          </p:cNvSpPr>
          <p:nvPr>
            <p:ph idx="1"/>
          </p:nvPr>
        </p:nvSpPr>
        <p:spPr>
          <a:xfrm>
            <a:off x="457200" y="332656"/>
            <a:ext cx="8229600" cy="5793507"/>
          </a:xfrm>
        </p:spPr>
        <p:txBody>
          <a:bodyPr>
            <a:normAutofit fontScale="85000" lnSpcReduction="20000"/>
          </a:bodyPr>
          <a:lstStyle/>
          <a:p>
            <a:r>
              <a:rPr lang="en-US" dirty="0"/>
              <a:t>Many tools are used in AI, including versions of search and mathematical optimization, logic, and methods based on probability and economics.</a:t>
            </a:r>
          </a:p>
          <a:p>
            <a:r>
              <a:rPr lang="en-US" dirty="0"/>
              <a:t>The AI field draws upon computer science, mathematics, psychology, linguistics, philosophy, neuroscience, artificial psychology, and many others.</a:t>
            </a:r>
          </a:p>
          <a:p>
            <a:r>
              <a:rPr lang="en-US" dirty="0">
                <a:solidFill>
                  <a:srgbClr val="FF0000"/>
                </a:solidFill>
              </a:rPr>
              <a:t>The main focus of artificial intelligence is towards understanding human behavior and performance</a:t>
            </a:r>
            <a:r>
              <a:rPr lang="en-US" dirty="0"/>
              <a:t>.</a:t>
            </a:r>
          </a:p>
          <a:p>
            <a:r>
              <a:rPr lang="en-US" dirty="0"/>
              <a:t>This can be done by creating computers with human-like intelligence and capabilities.</a:t>
            </a:r>
          </a:p>
          <a:p>
            <a:r>
              <a:rPr lang="en-US" dirty="0"/>
              <a:t>This includes natural language processing, facial analysis and robotics.</a:t>
            </a:r>
          </a:p>
          <a:p>
            <a:r>
              <a:rPr lang="en-US" dirty="0">
                <a:solidFill>
                  <a:srgbClr val="FF0000"/>
                </a:solidFill>
              </a:rPr>
              <a:t>The main applications of AI are in military, healthcare, and computing; however, it‘s expected that these applications will start soon and become part of our everyday lives.</a:t>
            </a:r>
            <a:endParaRPr lang="en-IN" dirty="0">
              <a:solidFill>
                <a:srgbClr val="FF0000"/>
              </a:solidFill>
            </a:endParaRPr>
          </a:p>
        </p:txBody>
      </p:sp>
    </p:spTree>
    <p:extLst>
      <p:ext uri="{BB962C8B-B14F-4D97-AF65-F5344CB8AC3E}">
        <p14:creationId xmlns:p14="http://schemas.microsoft.com/office/powerpoint/2010/main" val="3341909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886700" cy="1325563"/>
          </a:xfrm>
        </p:spPr>
        <p:txBody>
          <a:bodyPr>
            <a:normAutofit fontScale="90000"/>
          </a:bodyPr>
          <a:lstStyle/>
          <a:p>
            <a:r>
              <a:rPr lang="en-IN" b="1" dirty="0">
                <a:solidFill>
                  <a:srgbClr val="FF0000"/>
                </a:solidFill>
              </a:rPr>
              <a:t>Applications of AI</a:t>
            </a:r>
            <a:br>
              <a:rPr lang="en-IN"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145693" y="769556"/>
            <a:ext cx="8998307" cy="4351338"/>
          </a:xfrm>
        </p:spPr>
        <p:txBody>
          <a:bodyPr>
            <a:normAutofit/>
          </a:bodyPr>
          <a:lstStyle/>
          <a:p>
            <a:r>
              <a:rPr lang="en-US" sz="2000" b="1" dirty="0"/>
              <a:t>Artificial Intelligence has various applications</a:t>
            </a:r>
          </a:p>
          <a:p>
            <a:pPr marL="0" indent="0">
              <a:buNone/>
            </a:pPr>
            <a:r>
              <a:rPr lang="en-US" sz="2000" b="1" dirty="0"/>
              <a:t>    in today's society. </a:t>
            </a:r>
          </a:p>
          <a:p>
            <a:r>
              <a:rPr lang="en-US" sz="2000" b="1" dirty="0"/>
              <a:t>It is becoming essential for today's time because </a:t>
            </a:r>
          </a:p>
          <a:p>
            <a:pPr marL="0" indent="0">
              <a:buNone/>
            </a:pPr>
            <a:r>
              <a:rPr lang="en-US" sz="2000" b="1" dirty="0"/>
              <a:t>    it can solve complex problems with an efficient </a:t>
            </a:r>
          </a:p>
          <a:p>
            <a:pPr marL="0" indent="0">
              <a:buNone/>
            </a:pPr>
            <a:r>
              <a:rPr lang="en-US" sz="2000" b="1" dirty="0"/>
              <a:t>    way in multiple industries, such as Healthcare, </a:t>
            </a:r>
          </a:p>
          <a:p>
            <a:pPr marL="0" indent="0">
              <a:buNone/>
            </a:pPr>
            <a:r>
              <a:rPr lang="en-US" sz="2000" b="1" dirty="0"/>
              <a:t>    entertainment, finance, education, etc. </a:t>
            </a:r>
          </a:p>
          <a:p>
            <a:r>
              <a:rPr lang="en-US" sz="2000" b="1" dirty="0"/>
              <a:t>AI is making our daily life more comfortable </a:t>
            </a:r>
          </a:p>
          <a:p>
            <a:pPr marL="0" indent="0">
              <a:buNone/>
            </a:pPr>
            <a:r>
              <a:rPr lang="en-US" sz="2000" b="1" dirty="0"/>
              <a:t>    and fast.</a:t>
            </a:r>
          </a:p>
          <a:p>
            <a:r>
              <a:rPr lang="en-US" sz="2000" b="1" dirty="0"/>
              <a:t>Following are some sectors which have</a:t>
            </a:r>
          </a:p>
          <a:p>
            <a:pPr marL="0" indent="0">
              <a:buNone/>
            </a:pPr>
            <a:r>
              <a:rPr lang="en-US" sz="2000" b="1" dirty="0"/>
              <a:t>    the application of Artificial Intelligence:</a:t>
            </a:r>
            <a:endParaRPr lang="en-IN" sz="20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6434" y="247100"/>
            <a:ext cx="4827566" cy="6385520"/>
          </a:xfrm>
          <a:prstGeom prst="rect">
            <a:avLst/>
          </a:prstGeom>
        </p:spPr>
      </p:pic>
    </p:spTree>
    <p:extLst>
      <p:ext uri="{BB962C8B-B14F-4D97-AF65-F5344CB8AC3E}">
        <p14:creationId xmlns:p14="http://schemas.microsoft.com/office/powerpoint/2010/main" val="3268706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2E8604-9DE5-8930-C0C2-FC9880301E7C}"/>
              </a:ext>
            </a:extLst>
          </p:cNvPr>
          <p:cNvSpPr>
            <a:spLocks noGrp="1"/>
          </p:cNvSpPr>
          <p:nvPr>
            <p:ph idx="1"/>
          </p:nvPr>
        </p:nvSpPr>
        <p:spPr>
          <a:xfrm>
            <a:off x="457200" y="476672"/>
            <a:ext cx="8229600" cy="5649491"/>
          </a:xfrm>
        </p:spPr>
        <p:txBody>
          <a:bodyPr>
            <a:normAutofit fontScale="92500" lnSpcReduction="20000"/>
          </a:bodyPr>
          <a:lstStyle/>
          <a:p>
            <a:r>
              <a:rPr lang="en-US" sz="2000" dirty="0"/>
              <a:t>Artificial Intelligence has many practical applications across various industries and domains, including: </a:t>
            </a:r>
          </a:p>
          <a:p>
            <a:endParaRPr lang="en-US" sz="2000" dirty="0"/>
          </a:p>
          <a:p>
            <a:r>
              <a:rPr lang="en-IN" sz="2000" b="1" dirty="0"/>
              <a:t>Healthcare</a:t>
            </a:r>
            <a:r>
              <a:rPr lang="en-IN" sz="2000" dirty="0"/>
              <a:t>: </a:t>
            </a:r>
            <a:r>
              <a:rPr lang="en-US" sz="2000" dirty="0"/>
              <a:t>AI is used for medical diagnosis, drug discovery, and predictive analysis of diseases</a:t>
            </a:r>
          </a:p>
          <a:p>
            <a:r>
              <a:rPr lang="en-IN" sz="2000" b="1" dirty="0"/>
              <a:t>Finance</a:t>
            </a:r>
            <a:r>
              <a:rPr lang="en-US" sz="2000" dirty="0"/>
              <a:t>: AI helps in credit scoring, fraud detection, and financial forecasting.</a:t>
            </a:r>
          </a:p>
          <a:p>
            <a:r>
              <a:rPr lang="en-IN" sz="2000" b="1" dirty="0"/>
              <a:t>Retail</a:t>
            </a:r>
            <a:r>
              <a:rPr lang="en-IN" sz="2000" dirty="0"/>
              <a:t>: </a:t>
            </a:r>
            <a:r>
              <a:rPr lang="en-US" sz="2000" dirty="0"/>
              <a:t>AI is used for product recommendations, price optimization, and supply chain management.</a:t>
            </a:r>
          </a:p>
          <a:p>
            <a:r>
              <a:rPr lang="en-IN" sz="2000" b="1" dirty="0"/>
              <a:t>Manufacturing</a:t>
            </a:r>
            <a:r>
              <a:rPr lang="en-IN" sz="2000" dirty="0"/>
              <a:t>: </a:t>
            </a:r>
            <a:r>
              <a:rPr lang="en-US" sz="2000" dirty="0"/>
              <a:t>AI helps in quality control, predictive maintenance, and production optimization</a:t>
            </a:r>
          </a:p>
          <a:p>
            <a:r>
              <a:rPr lang="en-IN" sz="2000" b="1" dirty="0"/>
              <a:t>Transportation</a:t>
            </a:r>
            <a:r>
              <a:rPr lang="en-IN" sz="2000" dirty="0"/>
              <a:t>: </a:t>
            </a:r>
            <a:r>
              <a:rPr lang="en-US" sz="2000" dirty="0"/>
              <a:t>AI is used for autonomous vehicles, traffic prediction, and route optimization</a:t>
            </a:r>
          </a:p>
          <a:p>
            <a:r>
              <a:rPr lang="en-IN" sz="2000" b="1" dirty="0"/>
              <a:t>Customer service</a:t>
            </a:r>
            <a:r>
              <a:rPr lang="en-IN" sz="2000" dirty="0"/>
              <a:t>: </a:t>
            </a:r>
            <a:r>
              <a:rPr lang="en-US" sz="2000" dirty="0"/>
              <a:t>AI-powered chatbots are used for customer support, answering frequently asked questions, and handling simple requests</a:t>
            </a:r>
          </a:p>
          <a:p>
            <a:r>
              <a:rPr lang="en-US" sz="2000" b="1" dirty="0"/>
              <a:t>Security</a:t>
            </a:r>
            <a:r>
              <a:rPr lang="en-US" sz="2000" dirty="0"/>
              <a:t>: AI is used for facial recognition, intrusion detection, and cybersecurity threat analysis</a:t>
            </a:r>
          </a:p>
          <a:p>
            <a:r>
              <a:rPr lang="en-US" sz="2000" b="1" dirty="0"/>
              <a:t>Marketing</a:t>
            </a:r>
            <a:r>
              <a:rPr lang="en-US" sz="2000" dirty="0"/>
              <a:t>: AI is used for targeted advertising, customer segmentation, and sentiment analysis.</a:t>
            </a:r>
          </a:p>
          <a:p>
            <a:r>
              <a:rPr lang="en-US" sz="2000" b="1" dirty="0"/>
              <a:t>Education</a:t>
            </a:r>
            <a:r>
              <a:rPr lang="en-US" sz="2000" dirty="0"/>
              <a:t>: AI is used for personalized learning, adaptive testing, and intelligent tutoring systems</a:t>
            </a:r>
            <a:endParaRPr lang="en-IN" sz="2000" dirty="0"/>
          </a:p>
        </p:txBody>
      </p:sp>
    </p:spTree>
    <p:extLst>
      <p:ext uri="{BB962C8B-B14F-4D97-AF65-F5344CB8AC3E}">
        <p14:creationId xmlns:p14="http://schemas.microsoft.com/office/powerpoint/2010/main" val="1965191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078" y="0"/>
            <a:ext cx="8991869" cy="6310648"/>
          </a:xfrm>
        </p:spPr>
        <p:txBody>
          <a:bodyPr>
            <a:normAutofit fontScale="92500" lnSpcReduction="20000"/>
          </a:bodyPr>
          <a:lstStyle/>
          <a:p>
            <a:pPr algn="just"/>
            <a:r>
              <a:rPr lang="en-US" b="1" dirty="0">
                <a:solidFill>
                  <a:srgbClr val="FF0000"/>
                </a:solidFill>
              </a:rPr>
              <a:t>1. AI in Astronomy</a:t>
            </a:r>
          </a:p>
          <a:p>
            <a:pPr algn="just"/>
            <a:r>
              <a:rPr lang="en-US" dirty="0"/>
              <a:t>Artificial Intelligence can be very useful to solve complex universe problems. AI technology can be helpful for understanding the universe such as how it works, origin, etc.</a:t>
            </a:r>
          </a:p>
          <a:p>
            <a:pPr marL="0" indent="0" algn="just">
              <a:buNone/>
            </a:pPr>
            <a:endParaRPr lang="en-US" dirty="0"/>
          </a:p>
          <a:p>
            <a:pPr algn="just"/>
            <a:r>
              <a:rPr lang="en-US" b="1" dirty="0">
                <a:solidFill>
                  <a:srgbClr val="FF0000"/>
                </a:solidFill>
              </a:rPr>
              <a:t>2. AI in Healthcare</a:t>
            </a:r>
          </a:p>
          <a:p>
            <a:pPr algn="just"/>
            <a:r>
              <a:rPr lang="en-US" dirty="0"/>
              <a:t>In the last, five to ten years, AI becoming more advantageous for the healthcare industry and going to have a significant impact on this industry.</a:t>
            </a:r>
          </a:p>
          <a:p>
            <a:pPr algn="just"/>
            <a:r>
              <a:rPr lang="en-US" dirty="0"/>
              <a:t>Healthcare Industries are applying AI to make a better and faster diagnosis than humans. </a:t>
            </a:r>
          </a:p>
          <a:p>
            <a:pPr algn="just"/>
            <a:r>
              <a:rPr lang="en-US" dirty="0"/>
              <a:t>AI can help doctors with diagnoses and can inform when patients are worsening so that medical help can reach to the patient before hospitalization.</a:t>
            </a:r>
          </a:p>
          <a:p>
            <a:pPr algn="just"/>
            <a:endParaRPr lang="en-IN" dirty="0"/>
          </a:p>
        </p:txBody>
      </p:sp>
    </p:spTree>
    <p:extLst>
      <p:ext uri="{BB962C8B-B14F-4D97-AF65-F5344CB8AC3E}">
        <p14:creationId xmlns:p14="http://schemas.microsoft.com/office/powerpoint/2010/main" val="5227605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5351" y="280160"/>
            <a:ext cx="8663457" cy="5785790"/>
          </a:xfrm>
        </p:spPr>
        <p:txBody>
          <a:bodyPr>
            <a:normAutofit lnSpcReduction="10000"/>
          </a:bodyPr>
          <a:lstStyle/>
          <a:p>
            <a:pPr algn="just"/>
            <a:r>
              <a:rPr lang="en-US" b="1" dirty="0">
                <a:solidFill>
                  <a:srgbClr val="FF0000"/>
                </a:solidFill>
              </a:rPr>
              <a:t>3. AI in Gaming</a:t>
            </a:r>
          </a:p>
          <a:p>
            <a:pPr algn="just"/>
            <a:r>
              <a:rPr lang="en-US" dirty="0"/>
              <a:t>AI can be used for gaming purpose. The AI machines can play strategic games like chess, where the machine needs to think of a large number of possible places.</a:t>
            </a:r>
          </a:p>
          <a:p>
            <a:pPr marL="0" indent="0" algn="just">
              <a:buNone/>
            </a:pPr>
            <a:endParaRPr lang="en-US" dirty="0"/>
          </a:p>
          <a:p>
            <a:pPr algn="just"/>
            <a:r>
              <a:rPr lang="en-US" b="1" dirty="0">
                <a:solidFill>
                  <a:srgbClr val="FF0000"/>
                </a:solidFill>
              </a:rPr>
              <a:t>4. AI in Finance</a:t>
            </a:r>
          </a:p>
          <a:p>
            <a:pPr algn="just"/>
            <a:r>
              <a:rPr lang="en-US" dirty="0"/>
              <a:t>AI and finance industries are the best matches for each other. The finance industry is implementing automation, </a:t>
            </a:r>
            <a:r>
              <a:rPr lang="en-US" dirty="0" err="1"/>
              <a:t>chatbot</a:t>
            </a:r>
            <a:r>
              <a:rPr lang="en-US" dirty="0"/>
              <a:t>, adaptive intelligence, algorithm trading, and machine learning into financial processes.</a:t>
            </a:r>
          </a:p>
          <a:p>
            <a:endParaRPr lang="en-IN" dirty="0"/>
          </a:p>
        </p:txBody>
      </p:sp>
    </p:spTree>
    <p:extLst>
      <p:ext uri="{BB962C8B-B14F-4D97-AF65-F5344CB8AC3E}">
        <p14:creationId xmlns:p14="http://schemas.microsoft.com/office/powerpoint/2010/main" val="3089308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738" y="241524"/>
            <a:ext cx="8682775" cy="6616476"/>
          </a:xfrm>
        </p:spPr>
        <p:txBody>
          <a:bodyPr>
            <a:normAutofit fontScale="92500" lnSpcReduction="20000"/>
          </a:bodyPr>
          <a:lstStyle/>
          <a:p>
            <a:r>
              <a:rPr lang="en-US" b="1" dirty="0">
                <a:solidFill>
                  <a:srgbClr val="FF0000"/>
                </a:solidFill>
              </a:rPr>
              <a:t>5. AI in Data Security</a:t>
            </a:r>
          </a:p>
          <a:p>
            <a:pPr algn="just"/>
            <a:r>
              <a:rPr lang="en-US" sz="3000" dirty="0"/>
              <a:t>The security of data is crucial for every company and cyber-attacks are growing very rapidly in the digital world. </a:t>
            </a:r>
          </a:p>
          <a:p>
            <a:pPr algn="just"/>
            <a:r>
              <a:rPr lang="en-US" sz="3000" dirty="0"/>
              <a:t>AI can be used to make your data more safe and secure. </a:t>
            </a:r>
          </a:p>
          <a:p>
            <a:pPr algn="just"/>
            <a:r>
              <a:rPr lang="en-US" sz="3000" dirty="0"/>
              <a:t>some examples such as AEG bot, AI2 Platform, are used to determine software bug and cyber-attacks in a better way.</a:t>
            </a:r>
            <a:endParaRPr lang="en-US" dirty="0"/>
          </a:p>
          <a:p>
            <a:pPr marL="0" indent="0">
              <a:buNone/>
            </a:pPr>
            <a:endParaRPr lang="en-US" dirty="0"/>
          </a:p>
          <a:p>
            <a:pPr algn="just"/>
            <a:r>
              <a:rPr lang="en-US" sz="3000" b="1" dirty="0">
                <a:solidFill>
                  <a:srgbClr val="FF0000"/>
                </a:solidFill>
              </a:rPr>
              <a:t>6. AI in Social Media</a:t>
            </a:r>
          </a:p>
          <a:p>
            <a:pPr algn="just"/>
            <a:r>
              <a:rPr lang="en-US" sz="3000" dirty="0"/>
              <a:t>Social Media sites such as Facebook, Twitter, and Snapchat contain billions of user profiles, which need to be stored and managed in a very efficient way. </a:t>
            </a:r>
          </a:p>
          <a:p>
            <a:pPr algn="just"/>
            <a:r>
              <a:rPr lang="en-US" sz="3000" dirty="0"/>
              <a:t>AI can organize and manage massive amounts of data.</a:t>
            </a:r>
          </a:p>
          <a:p>
            <a:pPr algn="just"/>
            <a:r>
              <a:rPr lang="en-US" sz="3000" dirty="0"/>
              <a:t> AI can analyze lots of data to identify the latest trends, hashtag, and requirement of different users.</a:t>
            </a:r>
          </a:p>
          <a:p>
            <a:endParaRPr lang="en-IN" dirty="0"/>
          </a:p>
        </p:txBody>
      </p:sp>
    </p:spTree>
    <p:extLst>
      <p:ext uri="{BB962C8B-B14F-4D97-AF65-F5344CB8AC3E}">
        <p14:creationId xmlns:p14="http://schemas.microsoft.com/office/powerpoint/2010/main" val="3003100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329" y="241523"/>
            <a:ext cx="8769707" cy="6120640"/>
          </a:xfrm>
        </p:spPr>
        <p:txBody>
          <a:bodyPr>
            <a:normAutofit fontScale="77500" lnSpcReduction="20000"/>
          </a:bodyPr>
          <a:lstStyle/>
          <a:p>
            <a:pPr algn="just"/>
            <a:r>
              <a:rPr lang="en-US" b="1" dirty="0">
                <a:solidFill>
                  <a:srgbClr val="FF0000"/>
                </a:solidFill>
              </a:rPr>
              <a:t>7. AI in Travel &amp; Transport</a:t>
            </a:r>
          </a:p>
          <a:p>
            <a:pPr algn="just"/>
            <a:r>
              <a:rPr lang="en-US" dirty="0"/>
              <a:t>AI is becoming highly demanding for travel industries. </a:t>
            </a:r>
          </a:p>
          <a:p>
            <a:pPr algn="just"/>
            <a:r>
              <a:rPr lang="en-US" dirty="0"/>
              <a:t>AI is capable of doing various travel related works such as from making travel arrangement to suggesting the hotels, flights, and best routes to the customers. </a:t>
            </a:r>
          </a:p>
          <a:p>
            <a:pPr algn="just"/>
            <a:r>
              <a:rPr lang="en-US" dirty="0"/>
              <a:t>Travel industries are using AI-powered </a:t>
            </a:r>
            <a:r>
              <a:rPr lang="en-US" dirty="0" err="1"/>
              <a:t>chatbots</a:t>
            </a:r>
            <a:r>
              <a:rPr lang="en-US" dirty="0"/>
              <a:t> which can make human-like interaction with customers for better and fast response.</a:t>
            </a:r>
          </a:p>
          <a:p>
            <a:pPr marL="0" indent="0" algn="just">
              <a:buNone/>
            </a:pPr>
            <a:endParaRPr lang="en-US" dirty="0"/>
          </a:p>
          <a:p>
            <a:pPr algn="just"/>
            <a:r>
              <a:rPr lang="en-US" b="1" dirty="0">
                <a:solidFill>
                  <a:srgbClr val="FF0000"/>
                </a:solidFill>
              </a:rPr>
              <a:t>8. AI in Automotive Industry</a:t>
            </a:r>
          </a:p>
          <a:p>
            <a:pPr algn="just"/>
            <a:r>
              <a:rPr lang="en-US" dirty="0"/>
              <a:t>Some Automotive industries are using AI to provide virtual assistant to their user for better performance. </a:t>
            </a:r>
          </a:p>
          <a:p>
            <a:pPr algn="just"/>
            <a:r>
              <a:rPr lang="en-US" dirty="0"/>
              <a:t>Such as Tesla has introduced </a:t>
            </a:r>
            <a:r>
              <a:rPr lang="en-US" dirty="0" err="1"/>
              <a:t>TeslaBot</a:t>
            </a:r>
            <a:r>
              <a:rPr lang="en-US" dirty="0"/>
              <a:t>, an intelligent virtual assistant.</a:t>
            </a:r>
          </a:p>
          <a:p>
            <a:pPr algn="just"/>
            <a:r>
              <a:rPr lang="en-US" dirty="0"/>
              <a:t>Various Industries are currently working for developing self-driven cars which can make your journey more safe and secure.</a:t>
            </a:r>
          </a:p>
          <a:p>
            <a:endParaRPr lang="en-IN" dirty="0"/>
          </a:p>
        </p:txBody>
      </p:sp>
    </p:spTree>
    <p:extLst>
      <p:ext uri="{BB962C8B-B14F-4D97-AF65-F5344CB8AC3E}">
        <p14:creationId xmlns:p14="http://schemas.microsoft.com/office/powerpoint/2010/main" val="1972412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2965" y="228645"/>
            <a:ext cx="8750390" cy="6507007"/>
          </a:xfrm>
        </p:spPr>
        <p:txBody>
          <a:bodyPr>
            <a:normAutofit fontScale="85000" lnSpcReduction="20000"/>
          </a:bodyPr>
          <a:lstStyle/>
          <a:p>
            <a:r>
              <a:rPr lang="en-US" b="1" dirty="0">
                <a:solidFill>
                  <a:srgbClr val="FF0000"/>
                </a:solidFill>
              </a:rPr>
              <a:t>9. AI in Robotics:</a:t>
            </a:r>
          </a:p>
          <a:p>
            <a:pPr algn="just"/>
            <a:r>
              <a:rPr lang="en-US" dirty="0"/>
              <a:t>Artificial Intelligence has a remarkable role in Robotics.</a:t>
            </a:r>
          </a:p>
          <a:p>
            <a:pPr algn="just"/>
            <a:r>
              <a:rPr lang="en-US" dirty="0"/>
              <a:t>Usually, general robots are programmed such that they can perform some repetitive task, but with the help of AI, we can create intelligent robots which can perform tasks with their own experiences without pre-programmed.</a:t>
            </a:r>
          </a:p>
          <a:p>
            <a:pPr algn="just"/>
            <a:r>
              <a:rPr lang="en-US" dirty="0"/>
              <a:t>Humanoid Robots are best examples for AI in robotics, recently the intelligent Humanoid robot named as Erica and Sophia has been developed which can talk and behave like humans.</a:t>
            </a:r>
          </a:p>
          <a:p>
            <a:pPr marL="0" indent="0" algn="just">
              <a:buNone/>
            </a:pPr>
            <a:endParaRPr lang="en-US" dirty="0"/>
          </a:p>
          <a:p>
            <a:r>
              <a:rPr lang="en-US" b="1" dirty="0">
                <a:solidFill>
                  <a:srgbClr val="FF0000"/>
                </a:solidFill>
              </a:rPr>
              <a:t>10. AI in Entertainment</a:t>
            </a:r>
          </a:p>
          <a:p>
            <a:r>
              <a:rPr lang="en-US" dirty="0"/>
              <a:t>We are currently using some AI based applications in our daily life with some entertainment services such as Netflix or Amazon. </a:t>
            </a:r>
          </a:p>
          <a:p>
            <a:r>
              <a:rPr lang="en-US" dirty="0"/>
              <a:t>With the help of ML/AI algorithms, these services show the recommendations for programs or shows.</a:t>
            </a:r>
          </a:p>
          <a:p>
            <a:endParaRPr lang="en-IN" dirty="0"/>
          </a:p>
        </p:txBody>
      </p:sp>
    </p:spTree>
    <p:extLst>
      <p:ext uri="{BB962C8B-B14F-4D97-AF65-F5344CB8AC3E}">
        <p14:creationId xmlns:p14="http://schemas.microsoft.com/office/powerpoint/2010/main" val="640687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329" y="344553"/>
            <a:ext cx="8769707" cy="6300946"/>
          </a:xfrm>
        </p:spPr>
        <p:txBody>
          <a:bodyPr>
            <a:normAutofit fontScale="85000" lnSpcReduction="10000"/>
          </a:bodyPr>
          <a:lstStyle/>
          <a:p>
            <a:r>
              <a:rPr lang="en-US" b="1" dirty="0">
                <a:solidFill>
                  <a:srgbClr val="FF0000"/>
                </a:solidFill>
              </a:rPr>
              <a:t>11. AI in Agriculture</a:t>
            </a:r>
          </a:p>
          <a:p>
            <a:pPr algn="just"/>
            <a:r>
              <a:rPr lang="en-US" dirty="0"/>
              <a:t>Agriculture is an area which requires various resources, labor, money, and time for best result. </a:t>
            </a:r>
          </a:p>
          <a:p>
            <a:pPr algn="just"/>
            <a:r>
              <a:rPr lang="en-US" dirty="0"/>
              <a:t>Now a day's agriculture is becoming digital, and AI is emerging in this field. Agriculture is applying AI as agriculture robotics, solid and crop monitoring, predictive analysis. </a:t>
            </a:r>
          </a:p>
          <a:p>
            <a:pPr algn="just"/>
            <a:r>
              <a:rPr lang="en-US" dirty="0"/>
              <a:t>AI in agriculture can be very helpful for farmers.</a:t>
            </a:r>
          </a:p>
          <a:p>
            <a:pPr marL="0" indent="0" algn="just">
              <a:buNone/>
            </a:pPr>
            <a:endParaRPr lang="en-US" dirty="0"/>
          </a:p>
          <a:p>
            <a:pPr algn="just"/>
            <a:r>
              <a:rPr lang="en-US" b="1" dirty="0">
                <a:solidFill>
                  <a:srgbClr val="FF0000"/>
                </a:solidFill>
              </a:rPr>
              <a:t>12. AI in E-commerce</a:t>
            </a:r>
          </a:p>
          <a:p>
            <a:pPr algn="just"/>
            <a:r>
              <a:rPr lang="en-US" dirty="0"/>
              <a:t>AI is providing a competitive edge to the e-commerce industry, and it is becoming more demanding in the e-commerce business. </a:t>
            </a:r>
          </a:p>
          <a:p>
            <a:pPr algn="just"/>
            <a:r>
              <a:rPr lang="en-US" dirty="0"/>
              <a:t>AI is helping shoppers to discover associated products with recommended size, color, or even brand.</a:t>
            </a:r>
          </a:p>
          <a:p>
            <a:endParaRPr lang="en-IN" dirty="0"/>
          </a:p>
        </p:txBody>
      </p:sp>
    </p:spTree>
    <p:extLst>
      <p:ext uri="{BB962C8B-B14F-4D97-AF65-F5344CB8AC3E}">
        <p14:creationId xmlns:p14="http://schemas.microsoft.com/office/powerpoint/2010/main" val="1797881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988" y="524859"/>
            <a:ext cx="8615161" cy="5064572"/>
          </a:xfrm>
        </p:spPr>
        <p:txBody>
          <a:bodyPr/>
          <a:lstStyle/>
          <a:p>
            <a:r>
              <a:rPr lang="en-US" b="1" dirty="0">
                <a:solidFill>
                  <a:srgbClr val="FF0000"/>
                </a:solidFill>
              </a:rPr>
              <a:t>13. AI in education:</a:t>
            </a:r>
          </a:p>
          <a:p>
            <a:pPr algn="just"/>
            <a:r>
              <a:rPr lang="en-US" dirty="0"/>
              <a:t>AI can automate grading so that the tutor can have more time to teach. </a:t>
            </a:r>
          </a:p>
          <a:p>
            <a:pPr algn="just"/>
            <a:r>
              <a:rPr lang="en-US" dirty="0"/>
              <a:t>AI </a:t>
            </a:r>
            <a:r>
              <a:rPr lang="en-US" dirty="0" err="1"/>
              <a:t>chatbot</a:t>
            </a:r>
            <a:r>
              <a:rPr lang="en-US" dirty="0"/>
              <a:t> can communicate with students as a teaching assistant.</a:t>
            </a:r>
          </a:p>
          <a:p>
            <a:pPr algn="just"/>
            <a:r>
              <a:rPr lang="en-US" dirty="0"/>
              <a:t>AI in the future can be work as a personal virtual tutor for students, which will be accessible easily at any time and any place.</a:t>
            </a:r>
          </a:p>
          <a:p>
            <a:endParaRPr lang="en-IN" dirty="0"/>
          </a:p>
        </p:txBody>
      </p:sp>
    </p:spTree>
    <p:extLst>
      <p:ext uri="{BB962C8B-B14F-4D97-AF65-F5344CB8AC3E}">
        <p14:creationId xmlns:p14="http://schemas.microsoft.com/office/powerpoint/2010/main" val="414610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44858" y="1"/>
            <a:ext cx="8273951" cy="6655113"/>
          </a:xfrm>
          <a:prstGeom prst="rect">
            <a:avLst/>
          </a:prstGeom>
        </p:spPr>
      </p:pic>
    </p:spTree>
    <p:extLst>
      <p:ext uri="{BB962C8B-B14F-4D97-AF65-F5344CB8AC3E}">
        <p14:creationId xmlns:p14="http://schemas.microsoft.com/office/powerpoint/2010/main" val="41802194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306" y="808194"/>
            <a:ext cx="8682775" cy="5772910"/>
          </a:xfrm>
        </p:spPr>
        <p:txBody>
          <a:bodyPr>
            <a:normAutofit fontScale="92500" lnSpcReduction="20000"/>
          </a:bodyPr>
          <a:lstStyle/>
          <a:p>
            <a:r>
              <a:rPr lang="en-US" b="1" dirty="0">
                <a:solidFill>
                  <a:srgbClr val="FF0000"/>
                </a:solidFill>
              </a:rPr>
              <a:t>Maturation of Artificial Intelligence (1943-1952)</a:t>
            </a:r>
          </a:p>
          <a:p>
            <a:pPr algn="just"/>
            <a:r>
              <a:rPr lang="en-US" b="1" dirty="0"/>
              <a:t>Year 1943:</a:t>
            </a:r>
            <a:r>
              <a:rPr lang="en-US" dirty="0"/>
              <a:t> The first work which is now recognized as AI was done by Warren McCulloch and Walter pits in 1943. They proposed a model of </a:t>
            </a:r>
            <a:r>
              <a:rPr lang="en-US" b="1" dirty="0"/>
              <a:t>artificial neurons</a:t>
            </a:r>
            <a:r>
              <a:rPr lang="en-US" dirty="0"/>
              <a:t>. </a:t>
            </a:r>
          </a:p>
          <a:p>
            <a:pPr algn="just"/>
            <a:r>
              <a:rPr lang="en-US" b="1" dirty="0"/>
              <a:t>Year 1949:</a:t>
            </a:r>
            <a:r>
              <a:rPr lang="en-US" dirty="0"/>
              <a:t> Donald Hebb demonstrated an updating rule for modifying the connection strength between neurons. His rule is now called </a:t>
            </a:r>
            <a:r>
              <a:rPr lang="en-US" b="1" dirty="0" err="1"/>
              <a:t>Hebbian</a:t>
            </a:r>
            <a:r>
              <a:rPr lang="en-US" b="1" dirty="0"/>
              <a:t> learning</a:t>
            </a:r>
            <a:r>
              <a:rPr lang="en-US" dirty="0"/>
              <a:t>.</a:t>
            </a:r>
          </a:p>
          <a:p>
            <a:pPr algn="just"/>
            <a:r>
              <a:rPr lang="en-US" b="1" dirty="0"/>
              <a:t>Year 1950:</a:t>
            </a:r>
            <a:r>
              <a:rPr lang="en-US" dirty="0"/>
              <a:t> The Alan Turing who was an English mathematician and pioneered Machine learning in 1950. Alan Turing publishes </a:t>
            </a:r>
            <a:r>
              <a:rPr lang="en-US" b="1" dirty="0"/>
              <a:t>"Computing Machinery and Intelligence"</a:t>
            </a:r>
            <a:r>
              <a:rPr lang="en-US" dirty="0"/>
              <a:t> in which he proposed a test. The test can check the machine's ability to exhibit intelligent behavior equivalent to human intelligence, called a </a:t>
            </a:r>
            <a:r>
              <a:rPr lang="en-US" b="1" dirty="0"/>
              <a:t>Turing test</a:t>
            </a:r>
            <a:r>
              <a:rPr lang="en-US" dirty="0"/>
              <a:t>.</a:t>
            </a:r>
          </a:p>
          <a:p>
            <a:endParaRPr lang="en-IN" dirty="0"/>
          </a:p>
        </p:txBody>
      </p:sp>
    </p:spTree>
    <p:extLst>
      <p:ext uri="{BB962C8B-B14F-4D97-AF65-F5344CB8AC3E}">
        <p14:creationId xmlns:p14="http://schemas.microsoft.com/office/powerpoint/2010/main" val="22005653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397" y="331676"/>
            <a:ext cx="8769708" cy="5953214"/>
          </a:xfrm>
        </p:spPr>
        <p:txBody>
          <a:bodyPr>
            <a:normAutofit fontScale="92500" lnSpcReduction="20000"/>
          </a:bodyPr>
          <a:lstStyle/>
          <a:p>
            <a:r>
              <a:rPr lang="en-US" b="1" dirty="0">
                <a:solidFill>
                  <a:srgbClr val="FF0000"/>
                </a:solidFill>
              </a:rPr>
              <a:t>The birth of Artificial Intelligence (1952-1956)</a:t>
            </a:r>
          </a:p>
          <a:p>
            <a:pPr algn="just"/>
            <a:r>
              <a:rPr lang="en-US" b="1" dirty="0"/>
              <a:t>Year 1955:</a:t>
            </a:r>
            <a:r>
              <a:rPr lang="en-US" dirty="0"/>
              <a:t> An Allen Newell and Herbert A. Simon created the "first artificial intelligence </a:t>
            </a:r>
            <a:r>
              <a:rPr lang="en-US" dirty="0" err="1"/>
              <a:t>program"Which</a:t>
            </a:r>
            <a:r>
              <a:rPr lang="en-US" dirty="0"/>
              <a:t> was named as </a:t>
            </a:r>
            <a:r>
              <a:rPr lang="en-US" b="1" dirty="0"/>
              <a:t>"Logic Theorist"</a:t>
            </a:r>
            <a:r>
              <a:rPr lang="en-US" dirty="0"/>
              <a:t>. </a:t>
            </a:r>
          </a:p>
          <a:p>
            <a:pPr algn="just"/>
            <a:r>
              <a:rPr lang="en-US" dirty="0"/>
              <a:t>This program had proved 38 of 52 Mathematics theorems, and find new and more elegant proofs for some theorems.</a:t>
            </a:r>
          </a:p>
          <a:p>
            <a:pPr algn="just"/>
            <a:r>
              <a:rPr lang="en-US" b="1" dirty="0"/>
              <a:t>Year 1956:</a:t>
            </a:r>
            <a:r>
              <a:rPr lang="en-US" dirty="0"/>
              <a:t> The word "Artificial Intelligence" first adopted by American Computer scientist John McCarthy at the Dartmouth Conference. </a:t>
            </a:r>
          </a:p>
          <a:p>
            <a:pPr algn="just"/>
            <a:r>
              <a:rPr lang="en-US" dirty="0"/>
              <a:t>For the first time, AI coined as an academic field.</a:t>
            </a:r>
          </a:p>
          <a:p>
            <a:pPr algn="just"/>
            <a:r>
              <a:rPr lang="en-US" dirty="0"/>
              <a:t>At that time high-level computer languages such as FORTRAN, LISP, or COBOL were invented. And the enthusiasm for AI was very high at that time.</a:t>
            </a:r>
          </a:p>
          <a:p>
            <a:pPr algn="just"/>
            <a:endParaRPr lang="en-IN" dirty="0"/>
          </a:p>
        </p:txBody>
      </p:sp>
    </p:spTree>
    <p:extLst>
      <p:ext uri="{BB962C8B-B14F-4D97-AF65-F5344CB8AC3E}">
        <p14:creationId xmlns:p14="http://schemas.microsoft.com/office/powerpoint/2010/main" val="12538015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396" y="138492"/>
            <a:ext cx="9046604" cy="6584280"/>
          </a:xfrm>
        </p:spPr>
        <p:txBody>
          <a:bodyPr>
            <a:normAutofit fontScale="85000" lnSpcReduction="20000"/>
          </a:bodyPr>
          <a:lstStyle/>
          <a:p>
            <a:r>
              <a:rPr lang="en-US" b="1" dirty="0">
                <a:solidFill>
                  <a:srgbClr val="FF0000"/>
                </a:solidFill>
              </a:rPr>
              <a:t>The golden years-Early enthusiasm (1956-1974)</a:t>
            </a:r>
          </a:p>
          <a:p>
            <a:pPr algn="just"/>
            <a:r>
              <a:rPr lang="en-US" b="1" dirty="0"/>
              <a:t>Year 1966:</a:t>
            </a:r>
            <a:r>
              <a:rPr lang="en-US" dirty="0"/>
              <a:t> The researchers emphasized developing algorithms which can solve mathematical problems. </a:t>
            </a:r>
          </a:p>
          <a:p>
            <a:pPr algn="just"/>
            <a:r>
              <a:rPr lang="en-US" dirty="0"/>
              <a:t>Joseph </a:t>
            </a:r>
            <a:r>
              <a:rPr lang="en-US" dirty="0" err="1"/>
              <a:t>Weizenbaum</a:t>
            </a:r>
            <a:r>
              <a:rPr lang="en-US" dirty="0"/>
              <a:t> created the first </a:t>
            </a:r>
            <a:r>
              <a:rPr lang="en-US" dirty="0" err="1"/>
              <a:t>chatbot</a:t>
            </a:r>
            <a:r>
              <a:rPr lang="en-US" dirty="0"/>
              <a:t> in 1966, which was named as ELIZA. </a:t>
            </a:r>
          </a:p>
          <a:p>
            <a:pPr algn="just"/>
            <a:r>
              <a:rPr lang="en-US" b="1" dirty="0"/>
              <a:t>Year 1972:</a:t>
            </a:r>
            <a:r>
              <a:rPr lang="en-US" dirty="0"/>
              <a:t> The first intelligent humanoid robot was built in Japan which was named as WABOT-1.</a:t>
            </a:r>
          </a:p>
          <a:p>
            <a:pPr marL="0" indent="0" algn="just">
              <a:buNone/>
            </a:pPr>
            <a:endParaRPr lang="en-US" dirty="0"/>
          </a:p>
          <a:p>
            <a:pPr algn="just"/>
            <a:r>
              <a:rPr lang="en-US" b="1" dirty="0">
                <a:solidFill>
                  <a:srgbClr val="FF0000"/>
                </a:solidFill>
              </a:rPr>
              <a:t>The first AI winter (1974-1980)</a:t>
            </a:r>
          </a:p>
          <a:p>
            <a:pPr algn="just"/>
            <a:r>
              <a:rPr lang="en-US" dirty="0"/>
              <a:t>The duration between years 1974 to 1980 was the first AI winter duration. </a:t>
            </a:r>
          </a:p>
          <a:p>
            <a:pPr algn="just"/>
            <a:r>
              <a:rPr lang="en-US" dirty="0"/>
              <a:t>AI winter refers to the time period where computer scientist dealt with a </a:t>
            </a:r>
            <a:r>
              <a:rPr lang="en-US" b="1" dirty="0"/>
              <a:t>severe shortage of funding from government for AI researches</a:t>
            </a:r>
            <a:r>
              <a:rPr lang="en-US" dirty="0"/>
              <a:t>. </a:t>
            </a:r>
          </a:p>
          <a:p>
            <a:pPr algn="just"/>
            <a:r>
              <a:rPr lang="en-US" dirty="0"/>
              <a:t>During AI winters, an interest of publicity on artificial intelligence was decreased. </a:t>
            </a:r>
          </a:p>
          <a:p>
            <a:pPr algn="just"/>
            <a:endParaRPr lang="en-IN" dirty="0"/>
          </a:p>
        </p:txBody>
      </p:sp>
    </p:spTree>
    <p:extLst>
      <p:ext uri="{BB962C8B-B14F-4D97-AF65-F5344CB8AC3E}">
        <p14:creationId xmlns:p14="http://schemas.microsoft.com/office/powerpoint/2010/main" val="19194787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419" y="138492"/>
            <a:ext cx="8991868" cy="6326702"/>
          </a:xfrm>
        </p:spPr>
        <p:txBody>
          <a:bodyPr>
            <a:normAutofit fontScale="85000" lnSpcReduction="10000"/>
          </a:bodyPr>
          <a:lstStyle/>
          <a:p>
            <a:r>
              <a:rPr lang="en-US" b="1" dirty="0">
                <a:solidFill>
                  <a:srgbClr val="FF0000"/>
                </a:solidFill>
              </a:rPr>
              <a:t>A boom of AI (1980-1987)</a:t>
            </a:r>
          </a:p>
          <a:p>
            <a:pPr algn="just"/>
            <a:r>
              <a:rPr lang="en-US" b="1" dirty="0"/>
              <a:t>Year 1980:</a:t>
            </a:r>
            <a:r>
              <a:rPr lang="en-US" dirty="0"/>
              <a:t> After AI winter duration, AI came back with "Expert System". Expert systems were programmed that emulate the decision-making ability of a human expert.</a:t>
            </a:r>
          </a:p>
          <a:p>
            <a:pPr algn="just"/>
            <a:r>
              <a:rPr lang="en-US" dirty="0"/>
              <a:t>In the Year 1980, the first national conference of the American Association of Artificial Intelligence </a:t>
            </a:r>
            <a:r>
              <a:rPr lang="en-US" b="1" dirty="0"/>
              <a:t>was held at Stanford University</a:t>
            </a:r>
            <a:r>
              <a:rPr lang="en-US" dirty="0"/>
              <a:t>. </a:t>
            </a:r>
          </a:p>
          <a:p>
            <a:pPr marL="0" indent="0" algn="just">
              <a:buNone/>
            </a:pPr>
            <a:endParaRPr lang="en-US" dirty="0"/>
          </a:p>
          <a:p>
            <a:pPr algn="just"/>
            <a:r>
              <a:rPr lang="en-US" b="1" dirty="0">
                <a:solidFill>
                  <a:srgbClr val="FF0000"/>
                </a:solidFill>
              </a:rPr>
              <a:t>The second AI winter (1987-1993)</a:t>
            </a:r>
          </a:p>
          <a:p>
            <a:pPr algn="just"/>
            <a:r>
              <a:rPr lang="en-US" dirty="0"/>
              <a:t>The duration between the years 1987 to 1993 was the second AI Winter duration.</a:t>
            </a:r>
          </a:p>
          <a:p>
            <a:pPr algn="just"/>
            <a:r>
              <a:rPr lang="en-US" dirty="0">
                <a:solidFill>
                  <a:srgbClr val="FF0000"/>
                </a:solidFill>
              </a:rPr>
              <a:t>Again Investors and government stopped in funding for AI research as due to high cost but not efficient result</a:t>
            </a:r>
            <a:r>
              <a:rPr lang="en-US" dirty="0"/>
              <a:t>. The expert system such as XCON was very cost effective.</a:t>
            </a:r>
          </a:p>
          <a:p>
            <a:endParaRPr lang="en-IN" dirty="0"/>
          </a:p>
        </p:txBody>
      </p:sp>
    </p:spTree>
    <p:extLst>
      <p:ext uri="{BB962C8B-B14F-4D97-AF65-F5344CB8AC3E}">
        <p14:creationId xmlns:p14="http://schemas.microsoft.com/office/powerpoint/2010/main" val="8788211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988" y="331676"/>
            <a:ext cx="8576525" cy="5657000"/>
          </a:xfrm>
        </p:spPr>
        <p:txBody>
          <a:bodyPr>
            <a:normAutofit lnSpcReduction="10000"/>
          </a:bodyPr>
          <a:lstStyle/>
          <a:p>
            <a:r>
              <a:rPr lang="en-US" b="1" dirty="0">
                <a:solidFill>
                  <a:srgbClr val="FF0000"/>
                </a:solidFill>
              </a:rPr>
              <a:t>The emergence of intelligent agents (1993-2011)</a:t>
            </a:r>
          </a:p>
          <a:p>
            <a:pPr algn="just"/>
            <a:r>
              <a:rPr lang="en-US" b="1" dirty="0"/>
              <a:t>Year 1997:</a:t>
            </a:r>
            <a:r>
              <a:rPr lang="en-US" dirty="0"/>
              <a:t> In the year 1997, IBM Deep Blue beats world chess champion, Gary Kasparov, and became the first computer to beat a world chess champion.</a:t>
            </a:r>
          </a:p>
          <a:p>
            <a:pPr algn="just"/>
            <a:r>
              <a:rPr lang="en-US" b="1" dirty="0"/>
              <a:t>Year 2002:</a:t>
            </a:r>
            <a:r>
              <a:rPr lang="en-US" dirty="0"/>
              <a:t> for the first time, AI entered the home in the form of Roomba, a vacuum cleaner.</a:t>
            </a:r>
          </a:p>
          <a:p>
            <a:pPr algn="just"/>
            <a:r>
              <a:rPr lang="en-US" b="1" dirty="0"/>
              <a:t>Year 2006:</a:t>
            </a:r>
            <a:r>
              <a:rPr lang="en-US" dirty="0"/>
              <a:t> AI came in the Business world till the year 2006. Companies like Facebook, Twitter, and Netflix also started using AI. </a:t>
            </a:r>
          </a:p>
          <a:p>
            <a:pPr algn="just"/>
            <a:endParaRPr lang="en-IN" dirty="0"/>
          </a:p>
        </p:txBody>
      </p:sp>
    </p:spTree>
    <p:extLst>
      <p:ext uri="{BB962C8B-B14F-4D97-AF65-F5344CB8AC3E}">
        <p14:creationId xmlns:p14="http://schemas.microsoft.com/office/powerpoint/2010/main" val="39131850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396" y="190008"/>
            <a:ext cx="8779367" cy="5940336"/>
          </a:xfrm>
        </p:spPr>
        <p:txBody>
          <a:bodyPr>
            <a:normAutofit fontScale="70000" lnSpcReduction="20000"/>
          </a:bodyPr>
          <a:lstStyle/>
          <a:p>
            <a:r>
              <a:rPr lang="en-US" b="1" dirty="0">
                <a:solidFill>
                  <a:srgbClr val="FF0000"/>
                </a:solidFill>
              </a:rPr>
              <a:t>Deep learning, big data and artificial general intelligence (2011-present) </a:t>
            </a:r>
          </a:p>
          <a:p>
            <a:pPr algn="just"/>
            <a:r>
              <a:rPr lang="en-US" b="1" dirty="0"/>
              <a:t>Year 2011:</a:t>
            </a:r>
            <a:r>
              <a:rPr lang="en-US" dirty="0"/>
              <a:t> In the year 2011, IBM's Watson won jeopardy, a quiz show, where it had to solve the complex questions as well as riddles. </a:t>
            </a:r>
          </a:p>
          <a:p>
            <a:pPr algn="just"/>
            <a:r>
              <a:rPr lang="en-US" dirty="0"/>
              <a:t>Watson had proved that it could understand natural language and can solve tricky questions quickly.</a:t>
            </a:r>
          </a:p>
          <a:p>
            <a:pPr algn="just"/>
            <a:r>
              <a:rPr lang="en-US" b="1" dirty="0"/>
              <a:t>Year 2012:</a:t>
            </a:r>
            <a:r>
              <a:rPr lang="en-US" dirty="0"/>
              <a:t> Google has launched an Android app feature "Google now", which was able to provide information to the user as a prediction.</a:t>
            </a:r>
          </a:p>
          <a:p>
            <a:pPr algn="just"/>
            <a:r>
              <a:rPr lang="en-US" b="1" dirty="0"/>
              <a:t>Year 2014:</a:t>
            </a:r>
            <a:r>
              <a:rPr lang="en-US" dirty="0"/>
              <a:t> In the year 2014, </a:t>
            </a:r>
            <a:r>
              <a:rPr lang="en-US" dirty="0" err="1"/>
              <a:t>Chatbot</a:t>
            </a:r>
            <a:r>
              <a:rPr lang="en-US" dirty="0"/>
              <a:t> "Eugene </a:t>
            </a:r>
            <a:r>
              <a:rPr lang="en-US" dirty="0" err="1"/>
              <a:t>Goostman</a:t>
            </a:r>
            <a:r>
              <a:rPr lang="en-US" dirty="0"/>
              <a:t>" won a competition in the infamous "Turing test."</a:t>
            </a:r>
          </a:p>
          <a:p>
            <a:pPr algn="just"/>
            <a:r>
              <a:rPr lang="en-US" b="1" dirty="0"/>
              <a:t>Year 2018:</a:t>
            </a:r>
            <a:r>
              <a:rPr lang="en-US" dirty="0"/>
              <a:t> The "Project Debater" from IBM debated on complex topics with two master debaters and also performed extremely well.</a:t>
            </a:r>
          </a:p>
          <a:p>
            <a:pPr algn="just"/>
            <a:r>
              <a:rPr lang="en-US" dirty="0"/>
              <a:t>Google has demonstrated an AI program "Duplex" which was a virtual assistant and which had taken hairdresser appointment on call, and lady on other side didn't notice that she was talking with the machine.</a:t>
            </a:r>
          </a:p>
          <a:p>
            <a:endParaRPr lang="en-IN" dirty="0"/>
          </a:p>
        </p:txBody>
      </p:sp>
    </p:spTree>
    <p:extLst>
      <p:ext uri="{BB962C8B-B14F-4D97-AF65-F5344CB8AC3E}">
        <p14:creationId xmlns:p14="http://schemas.microsoft.com/office/powerpoint/2010/main" val="508145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305918"/>
            <a:ext cx="8944378" cy="5657000"/>
          </a:xfrm>
        </p:spPr>
        <p:txBody>
          <a:bodyPr/>
          <a:lstStyle/>
          <a:p>
            <a:pPr algn="just"/>
            <a:r>
              <a:rPr lang="en-US" dirty="0"/>
              <a:t>Now AI has developed to a remarkable level. </a:t>
            </a:r>
          </a:p>
          <a:p>
            <a:pPr algn="just"/>
            <a:r>
              <a:rPr lang="en-US" dirty="0"/>
              <a:t>The concept of Deep learning, big data, and data science are now trending like a boom. Nowadays companies like Google, Facebook, IBM, and Amazon are working with AI and creating amazing devices. </a:t>
            </a:r>
          </a:p>
          <a:p>
            <a:pPr algn="just"/>
            <a:r>
              <a:rPr lang="en-US" dirty="0"/>
              <a:t>The future of Artificial Intelligence is inspiring and will come with high intelligence. </a:t>
            </a:r>
            <a:endParaRPr lang="en-IN" dirty="0"/>
          </a:p>
        </p:txBody>
      </p:sp>
    </p:spTree>
    <p:extLst>
      <p:ext uri="{BB962C8B-B14F-4D97-AF65-F5344CB8AC3E}">
        <p14:creationId xmlns:p14="http://schemas.microsoft.com/office/powerpoint/2010/main" val="1650660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3974</TotalTime>
  <Words>3063</Words>
  <Application>Microsoft Office PowerPoint</Application>
  <PresentationFormat>On-screen Show (4:3)</PresentationFormat>
  <Paragraphs>245</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Times-Bold</vt:lpstr>
      <vt:lpstr>Times-Italic</vt:lpstr>
      <vt:lpstr>Times-Roman</vt:lpstr>
      <vt:lpstr>Wingdings</vt:lpstr>
      <vt:lpstr>Office Theme</vt:lpstr>
      <vt:lpstr>Introduction to Artificial Intelligent</vt:lpstr>
      <vt:lpstr>Dictionary meaning of Intelligence</vt:lpstr>
      <vt:lpstr>What is intelligence?</vt:lpstr>
      <vt:lpstr>PowerPoint Presentation</vt:lpstr>
      <vt:lpstr>Various Definitions of AI Cont…</vt:lpstr>
      <vt:lpstr>Various Definitions of AI Cont…</vt:lpstr>
      <vt:lpstr>Various Definitions of AI Cont…</vt:lpstr>
      <vt:lpstr>Various Definitions of AI</vt:lpstr>
      <vt:lpstr>Definition</vt:lpstr>
      <vt:lpstr>Categories of AI</vt:lpstr>
      <vt:lpstr>What is AI?</vt:lpstr>
      <vt:lpstr>What is AI?</vt:lpstr>
      <vt:lpstr>Thinking humanly: The cognitive modeling approach</vt:lpstr>
      <vt:lpstr>Acting humanly: The Turing Test approach</vt:lpstr>
      <vt:lpstr>Thinking rationally: The “laws of thought” approach</vt:lpstr>
      <vt:lpstr>Acting rationally: The rational agent approach</vt:lpstr>
      <vt:lpstr>PowerPoint Presentation</vt:lpstr>
      <vt:lpstr>PowerPoint Presentation</vt:lpstr>
      <vt:lpstr>PowerPoint Presentation</vt:lpstr>
      <vt:lpstr>Applications of AI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ARTIFICIAL INTELLIGENCE</dc:title>
  <dc:creator>Admin</dc:creator>
  <cp:lastModifiedBy>Samriddhi Sarkar</cp:lastModifiedBy>
  <cp:revision>12</cp:revision>
  <dcterms:created xsi:type="dcterms:W3CDTF">2024-01-29T05:15:14Z</dcterms:created>
  <dcterms:modified xsi:type="dcterms:W3CDTF">2024-07-18T06:59:35Z</dcterms:modified>
</cp:coreProperties>
</file>