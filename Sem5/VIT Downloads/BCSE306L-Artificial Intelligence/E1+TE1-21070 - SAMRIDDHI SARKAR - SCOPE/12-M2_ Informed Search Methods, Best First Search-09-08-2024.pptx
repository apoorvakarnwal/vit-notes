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29" autoAdjust="0"/>
    <p:restoredTop sz="94660"/>
  </p:normalViewPr>
  <p:slideViewPr>
    <p:cSldViewPr snapToGrid="0">
      <p:cViewPr varScale="1">
        <p:scale>
          <a:sx n="59" d="100"/>
          <a:sy n="59" d="100"/>
        </p:scale>
        <p:origin x="4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1FFE-5354-00F8-5F03-3ECB25CE3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E3B6A-FADA-3CED-74EB-8F29B70CD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85A2B-4F35-35D5-B331-C25B68ED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F3C5E-577F-439C-81D4-581D2C76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FC2A-2218-F0C6-D89E-93C9771B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20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EA3C5-1BF1-25DE-C7B2-2A3B7029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6710-5303-8597-DEE9-7BB16F9B9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505E-BA83-8D59-78F6-21EEA43B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289AC-3D36-4BA0-411B-963F8761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21B10-B136-E6F7-8AB5-80F98DED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15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4686-09CF-AED4-FCEA-58011C95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2B12B-99E4-AA72-8F06-35AC0C10B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0C360-EDCA-C76D-EDD1-B2AEB56F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82C37-57EB-7294-23E7-2C85ABDCC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39F6-8E62-C5F6-4B2B-B9EC7ABB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79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16B8-AEA0-4E8C-BBCA-061D3DB7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6AEE-4A0E-65E1-5927-567F98C42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03782-3A30-3EE9-1336-B7A15B5CF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F1936-A689-F8D8-A1B2-89AE724D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0BBC6-BDB8-9056-FA71-1637B8C5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445A5-690F-C1A2-35AD-A6F57BE9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36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11B6-0FAA-79C4-1AED-9A4BA587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69D1C-B1DA-6C57-727E-B4564E456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75F0D-8BFE-892B-E1B6-958025BCE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C8EB4-1C3A-7E0C-0247-94566F19D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71AC7-8029-4DEB-99C3-032A33750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2B149-D9E0-3AB5-43D2-BFEE898E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67796-55F0-11B6-B7D5-D3B8F754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DA5E90-0FEC-8FDC-CCD9-3F456DD3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18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3533-29DD-87DE-96D7-6EAE630E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28F11-522C-B37D-1604-D3B90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D5122-10C6-E283-656B-A7B8A097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D0AB4-404C-A2AE-DCCA-C73357F0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90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9B497-F3CE-352D-8813-61BEA741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1B484-FBE6-B986-2F7C-9553DB0A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BEF2D-A96F-A835-0E82-F0B08794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01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C507-5902-C5D1-FEF7-F335FD651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EEFFA-9D53-64B6-6602-AA28AA111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68A64-DF8C-815B-7C63-170C159C5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2C218-63BA-E709-82A2-61768C97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51D24-108D-8F67-6E54-73810E7E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2B9CD-99DF-37A9-1B1A-0953EEBE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04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D1D4-8E7B-F570-9FC0-92B8CC19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F2508-9807-8FB2-F9F5-1B2EEA4A2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8B891-513B-91B0-9951-E469F5E60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C151D-0AAB-44DE-58AF-E87698E4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376C8-986E-6F7F-5114-ACCC8378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E0B18-3A9D-CE8F-D77B-A9A9BD15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52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4A69-2A78-F498-8473-3271D0F2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D1D6F-CB21-C99E-D5B6-850D76934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D7FD2-D46E-A912-1B48-A15830DF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A18D-3148-965C-B44C-2C86FB80E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0516E-5775-6EE5-2247-9B3E81D0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26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12090A-BEEC-148F-5B55-4A57F55E9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38C59-6B33-9419-1DC3-679BA438B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0BC97-341D-0380-8E9F-AE7292D2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C7058-135D-C01D-13B3-D9E5C3C1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D179A-80AF-5C05-E7AA-7ED940D8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2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0BBCA-AB3C-DA03-D830-A3F90134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2BCB0-7D14-9175-E3B4-FDA6D9F77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98C48-7259-DBAC-A537-2692D7F68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BF03-BCE4-438A-B832-D3D54F949146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60D66-2F03-4C79-CBCE-6A0BD0B89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6DCF0-19AB-77CF-9709-E9EB8C443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DA5AB-C059-4575-BD95-76A453BD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21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7D6F-F3A8-C26E-C513-D36C90AE3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Module 2</a:t>
            </a:r>
            <a:br>
              <a:rPr lang="en-IN" dirty="0"/>
            </a:br>
            <a:r>
              <a:rPr lang="en-IN" dirty="0"/>
              <a:t>Informed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81BFA-2E41-E2A1-C7EF-4DCB38626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4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5AC8-9523-E53B-59AA-8C081BEB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7618"/>
          </a:xfrm>
        </p:spPr>
        <p:txBody>
          <a:bodyPr/>
          <a:lstStyle/>
          <a:p>
            <a:r>
              <a:rPr lang="en-IN" dirty="0"/>
              <a:t>Informed (Heuristic) Search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851C2-E486-6E12-AB09-A99BF144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algorithms have </a:t>
            </a:r>
            <a:r>
              <a:rPr lang="en-US" dirty="0">
                <a:solidFill>
                  <a:srgbClr val="FF0000"/>
                </a:solidFill>
              </a:rPr>
              <a:t>information of the goal state</a:t>
            </a:r>
            <a:r>
              <a:rPr lang="en-US" dirty="0"/>
              <a:t>, which helps in more efficient searching.</a:t>
            </a:r>
          </a:p>
          <a:p>
            <a:r>
              <a:rPr lang="en-US" dirty="0"/>
              <a:t>This information is obtained by something called a heuristic Search.</a:t>
            </a:r>
          </a:p>
          <a:p>
            <a:r>
              <a:rPr lang="en-US" dirty="0"/>
              <a:t>Informed search algorithm contains an </a:t>
            </a:r>
            <a:r>
              <a:rPr lang="en-US" dirty="0">
                <a:solidFill>
                  <a:srgbClr val="FF0000"/>
                </a:solidFill>
              </a:rPr>
              <a:t>array of knowledge </a:t>
            </a:r>
            <a:r>
              <a:rPr lang="en-US" dirty="0"/>
              <a:t>such as </a:t>
            </a:r>
            <a:r>
              <a:rPr lang="en-US" dirty="0">
                <a:solidFill>
                  <a:srgbClr val="FF0000"/>
                </a:solidFill>
              </a:rPr>
              <a:t>how far we are from the goal, path cost, how to reach to goal node</a:t>
            </a:r>
            <a:r>
              <a:rPr lang="en-US" dirty="0"/>
              <a:t>, etc.</a:t>
            </a:r>
          </a:p>
          <a:p>
            <a:r>
              <a:rPr lang="en-US" dirty="0"/>
              <a:t>This knowledge help agents to </a:t>
            </a:r>
            <a:r>
              <a:rPr lang="en-US" dirty="0">
                <a:solidFill>
                  <a:srgbClr val="FF0000"/>
                </a:solidFill>
              </a:rPr>
              <a:t>explore less to the search space </a:t>
            </a:r>
            <a:r>
              <a:rPr lang="en-US" dirty="0"/>
              <a:t>and find more efficiently the goal node.</a:t>
            </a:r>
          </a:p>
          <a:p>
            <a:r>
              <a:rPr lang="en-US" dirty="0"/>
              <a:t>The informed search algorithm is more useful for large search space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11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6D6A-59F2-B69A-B3EA-9D0BE805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24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Heuristics Function: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51CE3-797B-5FFE-346D-8EC308308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71"/>
            <a:ext cx="10515600" cy="501219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Heuristic is a function which is used in Informed Search, and it finds the most promising path.</a:t>
            </a:r>
          </a:p>
          <a:p>
            <a:r>
              <a:rPr lang="en-US" dirty="0"/>
              <a:t>It takes the </a:t>
            </a:r>
            <a:r>
              <a:rPr lang="en-US" dirty="0">
                <a:solidFill>
                  <a:srgbClr val="FF0000"/>
                </a:solidFill>
              </a:rPr>
              <a:t>current state </a:t>
            </a:r>
            <a:r>
              <a:rPr lang="en-US" dirty="0"/>
              <a:t>of the agent as </a:t>
            </a:r>
            <a:r>
              <a:rPr lang="en-US" dirty="0">
                <a:solidFill>
                  <a:srgbClr val="FF0000"/>
                </a:solidFill>
              </a:rPr>
              <a:t>its input </a:t>
            </a:r>
            <a:r>
              <a:rPr lang="en-US" dirty="0"/>
              <a:t>and produces the estimation of </a:t>
            </a:r>
            <a:r>
              <a:rPr lang="en-US" dirty="0">
                <a:solidFill>
                  <a:srgbClr val="FF0000"/>
                </a:solidFill>
              </a:rPr>
              <a:t>how close agent is from the goal</a:t>
            </a:r>
            <a:r>
              <a:rPr lang="en-US" dirty="0"/>
              <a:t>.</a:t>
            </a:r>
          </a:p>
          <a:p>
            <a:r>
              <a:rPr lang="en-US" dirty="0"/>
              <a:t>The heuristic method, however, might </a:t>
            </a:r>
            <a:r>
              <a:rPr lang="en-US" dirty="0">
                <a:solidFill>
                  <a:srgbClr val="FF0000"/>
                </a:solidFill>
              </a:rPr>
              <a:t>not </a:t>
            </a:r>
            <a:r>
              <a:rPr lang="en-US" dirty="0"/>
              <a:t>always give </a:t>
            </a:r>
            <a:r>
              <a:rPr lang="en-US" dirty="0">
                <a:solidFill>
                  <a:srgbClr val="FF0000"/>
                </a:solidFill>
              </a:rPr>
              <a:t>the best solution</a:t>
            </a:r>
            <a:r>
              <a:rPr lang="en-US" dirty="0"/>
              <a:t>, but it </a:t>
            </a:r>
            <a:r>
              <a:rPr lang="en-US" dirty="0">
                <a:solidFill>
                  <a:srgbClr val="FF0000"/>
                </a:solidFill>
              </a:rPr>
              <a:t>guaranteed to find a good solution in reasonable time</a:t>
            </a:r>
            <a:r>
              <a:rPr lang="en-US" dirty="0"/>
              <a:t>.</a:t>
            </a:r>
          </a:p>
          <a:p>
            <a:r>
              <a:rPr lang="en-US" dirty="0"/>
              <a:t>Heuristic function estimates how close a state is to the goal.</a:t>
            </a:r>
          </a:p>
          <a:p>
            <a:r>
              <a:rPr lang="en-US" dirty="0"/>
              <a:t>It is represented by </a:t>
            </a:r>
            <a:r>
              <a:rPr lang="en-US" i="1" dirty="0">
                <a:solidFill>
                  <a:srgbClr val="FF0000"/>
                </a:solidFill>
              </a:rPr>
              <a:t>h(n)</a:t>
            </a:r>
            <a:r>
              <a:rPr lang="en-US" dirty="0"/>
              <a:t>, and it calculates the cost of an optimal path between the pair of states.</a:t>
            </a:r>
          </a:p>
          <a:p>
            <a:r>
              <a:rPr lang="en-US" dirty="0"/>
              <a:t>The value of the heuristic function is always positive.</a:t>
            </a:r>
          </a:p>
          <a:p>
            <a:r>
              <a:rPr lang="en-US" dirty="0"/>
              <a:t>Admissibility of the heuristic function is given as: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h(n) &lt;= h*(n)</a:t>
            </a:r>
          </a:p>
          <a:p>
            <a:r>
              <a:rPr lang="en-US" dirty="0"/>
              <a:t>Here </a:t>
            </a:r>
            <a:r>
              <a:rPr lang="en-US" i="1" dirty="0">
                <a:solidFill>
                  <a:srgbClr val="FF0000"/>
                </a:solidFill>
              </a:rPr>
              <a:t>h(n)</a:t>
            </a:r>
            <a:r>
              <a:rPr lang="en-US" dirty="0"/>
              <a:t> is heuristic cost, and </a:t>
            </a:r>
            <a:r>
              <a:rPr lang="en-US" i="1" dirty="0">
                <a:solidFill>
                  <a:srgbClr val="FF0000"/>
                </a:solidFill>
              </a:rPr>
              <a:t>h*(n)</a:t>
            </a:r>
            <a:r>
              <a:rPr lang="en-US" dirty="0"/>
              <a:t> is the estimated cost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92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5B52-45EE-14E2-8BD8-D3C14229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813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Pure Heuristic Search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676C7-D745-F82D-8252-788CE32DB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429"/>
            <a:ext cx="10515600" cy="536053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simplest</a:t>
            </a:r>
            <a:r>
              <a:rPr lang="en-US" dirty="0"/>
              <a:t> form of heuristic search algorithms. </a:t>
            </a:r>
          </a:p>
          <a:p>
            <a:r>
              <a:rPr lang="en-US" dirty="0"/>
              <a:t>expands nodes based on their </a:t>
            </a:r>
            <a:r>
              <a:rPr lang="en-US" dirty="0">
                <a:solidFill>
                  <a:srgbClr val="FF0000"/>
                </a:solidFill>
              </a:rPr>
              <a:t>heuristic value </a:t>
            </a:r>
            <a:r>
              <a:rPr lang="en-US" i="1" dirty="0">
                <a:solidFill>
                  <a:srgbClr val="FF0000"/>
                </a:solidFill>
              </a:rPr>
              <a:t>h(n)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/>
              <a:t>It maintains </a:t>
            </a:r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 lists, </a:t>
            </a: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CLOSED</a:t>
            </a:r>
            <a:r>
              <a:rPr lang="en-US" dirty="0"/>
              <a:t> list. In the </a:t>
            </a:r>
            <a:r>
              <a:rPr lang="en-US" dirty="0">
                <a:solidFill>
                  <a:srgbClr val="FF0000"/>
                </a:solidFill>
              </a:rPr>
              <a:t>CLOSED list</a:t>
            </a:r>
            <a:r>
              <a:rPr lang="en-US" dirty="0"/>
              <a:t>, it places those nodes which </a:t>
            </a:r>
            <a:r>
              <a:rPr lang="en-US" dirty="0">
                <a:solidFill>
                  <a:srgbClr val="FF0000"/>
                </a:solidFill>
              </a:rPr>
              <a:t>have already expanded </a:t>
            </a:r>
            <a:r>
              <a:rPr lang="en-US" dirty="0"/>
              <a:t>and in the </a:t>
            </a:r>
            <a:r>
              <a:rPr lang="en-US" dirty="0">
                <a:solidFill>
                  <a:srgbClr val="FF0000"/>
                </a:solidFill>
              </a:rPr>
              <a:t>OPEN list</a:t>
            </a:r>
            <a:r>
              <a:rPr lang="en-US" dirty="0"/>
              <a:t>, it places nodes which </a:t>
            </a:r>
            <a:r>
              <a:rPr lang="en-US" dirty="0">
                <a:solidFill>
                  <a:srgbClr val="FF0000"/>
                </a:solidFill>
              </a:rPr>
              <a:t>have yet not been expanded</a:t>
            </a:r>
            <a:r>
              <a:rPr lang="en-US" dirty="0"/>
              <a:t>.</a:t>
            </a:r>
          </a:p>
          <a:p>
            <a:r>
              <a:rPr lang="en-US" dirty="0"/>
              <a:t>On each iteration, each </a:t>
            </a:r>
            <a:r>
              <a:rPr lang="en-US" dirty="0">
                <a:solidFill>
                  <a:srgbClr val="FF0000"/>
                </a:solidFill>
              </a:rPr>
              <a:t>node </a:t>
            </a:r>
            <a:r>
              <a:rPr lang="en-US" i="1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with the lowest heuristic </a:t>
            </a:r>
            <a:r>
              <a:rPr lang="en-US" dirty="0"/>
              <a:t>value is expanded and generates all its successors and n is placed to the </a:t>
            </a:r>
            <a:r>
              <a:rPr lang="en-US" dirty="0">
                <a:solidFill>
                  <a:srgbClr val="FF0000"/>
                </a:solidFill>
              </a:rPr>
              <a:t>CLOSED</a:t>
            </a:r>
            <a:r>
              <a:rPr lang="en-US" dirty="0"/>
              <a:t> list. The algorithm continues unit a goal state is found</a:t>
            </a:r>
          </a:p>
          <a:p>
            <a:r>
              <a:rPr lang="en-US" dirty="0"/>
              <a:t>In the informed search we will discuss two main algorithms which are given below: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Best First Search Algorithm(Greedy search)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A* Search Algorithm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11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2B40-62D9-22F6-0ECC-42B878E91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/>
          <a:lstStyle/>
          <a:p>
            <a:r>
              <a:rPr lang="en-IN" b="1" dirty="0"/>
              <a:t>Best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76ED6-81A4-FD42-5E1A-32DE2A9F1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Greedy best-first search algorithm always </a:t>
            </a:r>
            <a:r>
              <a:rPr lang="en-US" dirty="0">
                <a:solidFill>
                  <a:srgbClr val="FF0000"/>
                </a:solidFill>
              </a:rPr>
              <a:t>selects </a:t>
            </a:r>
            <a:r>
              <a:rPr lang="en-US" dirty="0"/>
              <a:t>the path which appears </a:t>
            </a:r>
            <a:r>
              <a:rPr lang="en-US" dirty="0">
                <a:solidFill>
                  <a:srgbClr val="FF0000"/>
                </a:solidFill>
              </a:rPr>
              <a:t>best at that moment</a:t>
            </a:r>
            <a:r>
              <a:rPr lang="en-US" dirty="0"/>
              <a:t>.</a:t>
            </a:r>
          </a:p>
          <a:p>
            <a:r>
              <a:rPr lang="en-US" dirty="0"/>
              <a:t>It is the combination of </a:t>
            </a:r>
            <a:r>
              <a:rPr lang="en-US" dirty="0">
                <a:solidFill>
                  <a:srgbClr val="FF0000"/>
                </a:solidFill>
              </a:rPr>
              <a:t>depth-first search and breadth-first search </a:t>
            </a:r>
            <a:r>
              <a:rPr lang="en-US" dirty="0"/>
              <a:t>algorithms.</a:t>
            </a:r>
          </a:p>
          <a:p>
            <a:r>
              <a:rPr lang="en-US" dirty="0"/>
              <a:t>It uses the heuristic function and search.</a:t>
            </a:r>
          </a:p>
          <a:p>
            <a:r>
              <a:rPr lang="en-US" dirty="0"/>
              <a:t>Best-first search allows us to take the advantages of both algorithms.</a:t>
            </a:r>
          </a:p>
          <a:p>
            <a:r>
              <a:rPr lang="en-US" dirty="0"/>
              <a:t>With the help of best-first search, at each step, </a:t>
            </a:r>
            <a:r>
              <a:rPr lang="en-US" dirty="0">
                <a:solidFill>
                  <a:srgbClr val="FF0000"/>
                </a:solidFill>
              </a:rPr>
              <a:t>we can choose the most promising node</a:t>
            </a:r>
            <a:r>
              <a:rPr lang="en-US" dirty="0"/>
              <a:t>.</a:t>
            </a:r>
          </a:p>
          <a:p>
            <a:r>
              <a:rPr lang="en-US" dirty="0"/>
              <a:t>In the best first search algorithm, we expand the node which is closest to the goal node and the closest cost is estimated by heuristic function, i.e.</a:t>
            </a:r>
          </a:p>
          <a:p>
            <a:pPr marL="457200" lvl="1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	f(n)= h(n)</a:t>
            </a:r>
          </a:p>
          <a:p>
            <a:pPr marL="0" indent="0">
              <a:buNone/>
            </a:pPr>
            <a:r>
              <a:rPr lang="en-US" dirty="0"/>
              <a:t>	Where, </a:t>
            </a:r>
            <a:r>
              <a:rPr lang="en-US" dirty="0">
                <a:solidFill>
                  <a:srgbClr val="FF0000"/>
                </a:solidFill>
              </a:rPr>
              <a:t>h(n)= estimated cost from node n to the goal</a:t>
            </a:r>
            <a:r>
              <a:rPr lang="en-US" dirty="0"/>
              <a:t>.</a:t>
            </a:r>
          </a:p>
          <a:p>
            <a:r>
              <a:rPr lang="en-US" dirty="0"/>
              <a:t>The greedy best first algorithm is implemented by the priority queue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27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FC64-6AE5-74E2-8BD5-DA9AAE69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/>
          <a:lstStyle/>
          <a:p>
            <a:r>
              <a:rPr lang="en-IN" b="1" dirty="0"/>
              <a:t>Best First Search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87C21D-C04D-85E4-83EB-391E458FD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654" y="1208314"/>
            <a:ext cx="10434692" cy="4968649"/>
          </a:xfrm>
        </p:spPr>
      </p:pic>
    </p:spTree>
    <p:extLst>
      <p:ext uri="{BB962C8B-B14F-4D97-AF65-F5344CB8AC3E}">
        <p14:creationId xmlns:p14="http://schemas.microsoft.com/office/powerpoint/2010/main" val="241632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3C8B-4E6D-DC7C-237A-2B6D34C0B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2304"/>
          </a:xfrm>
        </p:spPr>
        <p:txBody>
          <a:bodyPr/>
          <a:lstStyle/>
          <a:p>
            <a:r>
              <a:rPr lang="en-IN" b="1" dirty="0"/>
              <a:t>Best First Search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BAC78-86ED-ABC3-2933-DCC45824D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13" y="1317171"/>
            <a:ext cx="10104773" cy="4859792"/>
          </a:xfrm>
        </p:spPr>
      </p:pic>
    </p:spTree>
    <p:extLst>
      <p:ext uri="{BB962C8B-B14F-4D97-AF65-F5344CB8AC3E}">
        <p14:creationId xmlns:p14="http://schemas.microsoft.com/office/powerpoint/2010/main" val="345768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77D4-0D5A-4C07-DC88-AD587C09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C7F4E7-1A93-8241-13B3-656074C14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2077" y="1825625"/>
            <a:ext cx="6747846" cy="4351338"/>
          </a:xfrm>
        </p:spPr>
      </p:pic>
    </p:spTree>
    <p:extLst>
      <p:ext uri="{BB962C8B-B14F-4D97-AF65-F5344CB8AC3E}">
        <p14:creationId xmlns:p14="http://schemas.microsoft.com/office/powerpoint/2010/main" val="429190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4E30-4D00-BEC9-A07F-DC62F3BB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3D47F7-21F9-DB0C-474B-A758ECBE2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8363" y="1825625"/>
            <a:ext cx="5435273" cy="4351338"/>
          </a:xfrm>
        </p:spPr>
      </p:pic>
    </p:spTree>
    <p:extLst>
      <p:ext uri="{BB962C8B-B14F-4D97-AF65-F5344CB8AC3E}">
        <p14:creationId xmlns:p14="http://schemas.microsoft.com/office/powerpoint/2010/main" val="393934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A89B-F8EA-353A-CCEB-CF388EEA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FBEA-5B3F-8AF2-00A4-2CCDED249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dirty="0"/>
              <a:t>Best first search can </a:t>
            </a:r>
            <a:r>
              <a:rPr lang="en-US" dirty="0">
                <a:solidFill>
                  <a:srgbClr val="FF0000"/>
                </a:solidFill>
              </a:rPr>
              <a:t>switch between BFS and DFS </a:t>
            </a:r>
            <a:r>
              <a:rPr lang="en-US" dirty="0"/>
              <a:t>by gaining the advantages of both the algorithms.</a:t>
            </a:r>
          </a:p>
          <a:p>
            <a:r>
              <a:rPr lang="en-US" dirty="0"/>
              <a:t>This algorithm is more efficient than BFS and DFS algorithms.</a:t>
            </a:r>
          </a:p>
          <a:p>
            <a:pPr marL="0" indent="0">
              <a:buNone/>
            </a:pPr>
            <a:r>
              <a:rPr lang="en-US" b="1" dirty="0"/>
              <a:t>Disadvantages:</a:t>
            </a:r>
          </a:p>
          <a:p>
            <a:r>
              <a:rPr lang="en-US" dirty="0"/>
              <a:t>It can behave as an unguided depth-first search in the worst case scenario.</a:t>
            </a:r>
          </a:p>
          <a:p>
            <a:r>
              <a:rPr lang="en-US" dirty="0"/>
              <a:t>It can get stuck in a loop as 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146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4ABD-7F67-BB7B-1501-E33ACD73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Measure of Best First Search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0E53-A740-FCC2-92EB-4B015AA93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</a:t>
            </a:r>
            <a:r>
              <a:rPr lang="en-US" dirty="0"/>
              <a:t>: The worst case time complexity of Greedy best first search is O(</a:t>
            </a:r>
            <a:r>
              <a:rPr lang="en-US" dirty="0" err="1"/>
              <a:t>b^m</a:t>
            </a:r>
            <a:r>
              <a:rPr lang="en-US" dirty="0"/>
              <a:t>).</a:t>
            </a:r>
          </a:p>
          <a:p>
            <a:r>
              <a:rPr lang="en-US" b="1" dirty="0"/>
              <a:t>Space Complexity</a:t>
            </a:r>
            <a:r>
              <a:rPr lang="en-US" dirty="0"/>
              <a:t>: The worst case space complexity of Greedy best first search is O(</a:t>
            </a:r>
            <a:r>
              <a:rPr lang="en-US" dirty="0" err="1"/>
              <a:t>b^m</a:t>
            </a:r>
            <a:r>
              <a:rPr lang="en-US" dirty="0"/>
              <a:t>). Where, m is the maximum depth of the search space.</a:t>
            </a:r>
          </a:p>
          <a:p>
            <a:r>
              <a:rPr lang="en-US" b="1" dirty="0"/>
              <a:t>Complete</a:t>
            </a:r>
            <a:r>
              <a:rPr lang="en-US" dirty="0"/>
              <a:t>: Greedy best-first search is also </a:t>
            </a:r>
            <a:r>
              <a:rPr lang="en-US" dirty="0">
                <a:solidFill>
                  <a:srgbClr val="FF0000"/>
                </a:solidFill>
              </a:rPr>
              <a:t>incomplete</a:t>
            </a:r>
            <a:r>
              <a:rPr lang="en-US" dirty="0"/>
              <a:t>, even if the given state space is finite.</a:t>
            </a:r>
          </a:p>
          <a:p>
            <a:r>
              <a:rPr lang="en-US" b="1" dirty="0"/>
              <a:t>Optimal</a:t>
            </a:r>
            <a:r>
              <a:rPr lang="en-US" dirty="0"/>
              <a:t>: Greedy best first search algorithm is </a:t>
            </a:r>
            <a:r>
              <a:rPr lang="en-US" dirty="0">
                <a:solidFill>
                  <a:srgbClr val="FF0000"/>
                </a:solidFill>
              </a:rPr>
              <a:t>not optimal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81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668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Module 2 Informed Search</vt:lpstr>
      <vt:lpstr>Informed (Heuristic) Search Methods</vt:lpstr>
      <vt:lpstr>Heuristics Function: </vt:lpstr>
      <vt:lpstr>Pure Heuristic Search </vt:lpstr>
      <vt:lpstr>Best First Search</vt:lpstr>
      <vt:lpstr>Best First Search Algorithm</vt:lpstr>
      <vt:lpstr>Best First Search Example</vt:lpstr>
      <vt:lpstr>PowerPoint Presentation</vt:lpstr>
      <vt:lpstr>PowerPoint Presentation</vt:lpstr>
      <vt:lpstr>PowerPoint Presentation</vt:lpstr>
      <vt:lpstr>Performance Measure of Best First 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Samriddhi Sarkar</dc:creator>
  <cp:lastModifiedBy>Samriddhi Sarkar</cp:lastModifiedBy>
  <cp:revision>4</cp:revision>
  <dcterms:created xsi:type="dcterms:W3CDTF">2024-08-05T17:02:09Z</dcterms:created>
  <dcterms:modified xsi:type="dcterms:W3CDTF">2024-08-06T04:08:36Z</dcterms:modified>
</cp:coreProperties>
</file>