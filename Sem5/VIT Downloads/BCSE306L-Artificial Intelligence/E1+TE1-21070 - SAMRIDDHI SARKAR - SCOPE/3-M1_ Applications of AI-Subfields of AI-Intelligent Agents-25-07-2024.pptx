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585" autoAdjust="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1423471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761732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2254095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1514126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1398998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4202178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2862845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2218668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3464017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1196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7159AA-FFF9-464F-B8CA-44ADE382F419}" type="datetimeFigureOut">
              <a:rPr lang="en-IN" smtClean="0"/>
              <a:t>18-01-2024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4FF3D7A-20F4-453B-B3E4-F9E049EB043C}" type="slidenum">
              <a:rPr lang="en-IN" smtClean="0"/>
              <a:t>‹#›</a:t>
            </a:fld>
            <a:endParaRPr lang="en-IN" dirty="0"/>
          </a:p>
        </p:txBody>
      </p:sp>
    </p:spTree>
    <p:extLst>
      <p:ext uri="{BB962C8B-B14F-4D97-AF65-F5344CB8AC3E}">
        <p14:creationId xmlns:p14="http://schemas.microsoft.com/office/powerpoint/2010/main" val="2842430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7159AA-FFF9-464F-B8CA-44ADE382F419}" type="datetimeFigureOut">
              <a:rPr lang="en-IN" smtClean="0"/>
              <a:t>18-01-2024</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FF3D7A-20F4-453B-B3E4-F9E049EB043C}" type="slidenum">
              <a:rPr lang="en-IN" smtClean="0"/>
              <a:t>‹#›</a:t>
            </a:fld>
            <a:endParaRPr lang="en-IN" dirty="0"/>
          </a:p>
        </p:txBody>
      </p:sp>
    </p:spTree>
    <p:extLst>
      <p:ext uri="{BB962C8B-B14F-4D97-AF65-F5344CB8AC3E}">
        <p14:creationId xmlns:p14="http://schemas.microsoft.com/office/powerpoint/2010/main" val="2225024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imes New Roman" panose="02020603050405020304" pitchFamily="18" charset="0"/>
                <a:cs typeface="Times New Roman" panose="02020603050405020304" pitchFamily="18" charset="0"/>
              </a:rPr>
              <a:t>Sub Fields of AI</a:t>
            </a:r>
            <a:endParaRPr lang="en-IN" dirty="0">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41240872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Sub-fields of AI</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algn="just"/>
            <a:r>
              <a:rPr lang="en-US" dirty="0" smtClean="0">
                <a:latin typeface="Times New Roman" panose="02020603050405020304" pitchFamily="18" charset="0"/>
                <a:cs typeface="Times New Roman" panose="02020603050405020304" pitchFamily="18" charset="0"/>
              </a:rPr>
              <a:t>AI consists of many sub-fields, using a variety of technique such as the following: </a:t>
            </a:r>
          </a:p>
          <a:p>
            <a:pPr algn="just"/>
            <a:r>
              <a:rPr lang="en-US" b="1" dirty="0" smtClean="0">
                <a:latin typeface="Times New Roman" panose="02020603050405020304" pitchFamily="18" charset="0"/>
                <a:cs typeface="Times New Roman" panose="02020603050405020304" pitchFamily="18" charset="0"/>
              </a:rPr>
              <a:t>Speech Processing:  </a:t>
            </a:r>
            <a:r>
              <a:rPr lang="en-US" dirty="0" smtClean="0">
                <a:latin typeface="Times New Roman" panose="02020603050405020304" pitchFamily="18" charset="0"/>
                <a:cs typeface="Times New Roman" panose="02020603050405020304" pitchFamily="18" charset="0"/>
              </a:rPr>
              <a:t>To understand speech, speech generation, machine dialog, machine user interface. </a:t>
            </a:r>
          </a:p>
          <a:p>
            <a:pPr algn="just"/>
            <a:r>
              <a:rPr lang="en-US" b="1" dirty="0" smtClean="0">
                <a:latin typeface="Times New Roman" panose="02020603050405020304" pitchFamily="18" charset="0"/>
                <a:cs typeface="Times New Roman" panose="02020603050405020304" pitchFamily="18" charset="0"/>
              </a:rPr>
              <a:t>Natural Language Processing: </a:t>
            </a:r>
            <a:r>
              <a:rPr lang="en-US" dirty="0" smtClean="0">
                <a:latin typeface="Times New Roman" panose="02020603050405020304" pitchFamily="18" charset="0"/>
                <a:cs typeface="Times New Roman" panose="02020603050405020304" pitchFamily="18" charset="0"/>
              </a:rPr>
              <a:t>Information retrieval, Machine translation, Question Answering, summarization. </a:t>
            </a:r>
          </a:p>
          <a:p>
            <a:pPr algn="just"/>
            <a:r>
              <a:rPr lang="en-US" b="1" dirty="0" smtClean="0">
                <a:latin typeface="Times New Roman" panose="02020603050405020304" pitchFamily="18" charset="0"/>
                <a:cs typeface="Times New Roman" panose="02020603050405020304" pitchFamily="18" charset="0"/>
              </a:rPr>
              <a:t>Planning</a:t>
            </a:r>
            <a:r>
              <a:rPr lang="en-US" dirty="0" smtClean="0">
                <a:latin typeface="Times New Roman" panose="02020603050405020304" pitchFamily="18" charset="0"/>
                <a:cs typeface="Times New Roman" panose="02020603050405020304" pitchFamily="18" charset="0"/>
              </a:rPr>
              <a:t>: Scheduling, game playing. </a:t>
            </a:r>
          </a:p>
          <a:p>
            <a:pPr algn="just"/>
            <a:r>
              <a:rPr lang="en-US" b="1" dirty="0" smtClean="0">
                <a:latin typeface="Times New Roman" panose="02020603050405020304" pitchFamily="18" charset="0"/>
                <a:cs typeface="Times New Roman" panose="02020603050405020304" pitchFamily="18" charset="0"/>
              </a:rPr>
              <a:t>Engineering and Expert Systems: </a:t>
            </a:r>
            <a:r>
              <a:rPr lang="en-US" dirty="0" smtClean="0">
                <a:latin typeface="Times New Roman" panose="02020603050405020304" pitchFamily="18" charset="0"/>
                <a:cs typeface="Times New Roman" panose="02020603050405020304" pitchFamily="18" charset="0"/>
              </a:rPr>
              <a:t>Troubleshooting medical diagnosis, Decision Support Systems, teaching systems. </a:t>
            </a:r>
          </a:p>
          <a:p>
            <a:pPr algn="just"/>
            <a:r>
              <a:rPr lang="en-US" b="1" dirty="0" smtClean="0">
                <a:latin typeface="Times New Roman" panose="02020603050405020304" pitchFamily="18" charset="0"/>
                <a:cs typeface="Times New Roman" panose="02020603050405020304" pitchFamily="18" charset="0"/>
              </a:rPr>
              <a:t>Fuzzy Systems: </a:t>
            </a:r>
            <a:r>
              <a:rPr lang="en-US" dirty="0" smtClean="0">
                <a:latin typeface="Times New Roman" panose="02020603050405020304" pitchFamily="18" charset="0"/>
                <a:cs typeface="Times New Roman" panose="02020603050405020304" pitchFamily="18" charset="0"/>
              </a:rPr>
              <a:t>For fuzzy controls.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8305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Sub-fields of AI</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b="1" dirty="0" smtClean="0">
                <a:latin typeface="Times New Roman" panose="02020603050405020304" pitchFamily="18" charset="0"/>
                <a:cs typeface="Times New Roman" panose="02020603050405020304" pitchFamily="18" charset="0"/>
              </a:rPr>
              <a:t>Models of Brain and  Evolutionary: </a:t>
            </a:r>
            <a:r>
              <a:rPr lang="en-US" dirty="0" smtClean="0">
                <a:latin typeface="Times New Roman" panose="02020603050405020304" pitchFamily="18" charset="0"/>
                <a:cs typeface="Times New Roman" panose="02020603050405020304" pitchFamily="18" charset="0"/>
              </a:rPr>
              <a:t>Genetic algorithms, genetic programming, Brain modeling, time series prediction, classification. </a:t>
            </a:r>
          </a:p>
          <a:p>
            <a:pPr algn="just"/>
            <a:r>
              <a:rPr lang="en-US" b="1" dirty="0" smtClean="0">
                <a:latin typeface="Times New Roman" panose="02020603050405020304" pitchFamily="18" charset="0"/>
                <a:cs typeface="Times New Roman" panose="02020603050405020304" pitchFamily="18" charset="0"/>
              </a:rPr>
              <a:t>Machine Vision and Robotics: </a:t>
            </a:r>
            <a:r>
              <a:rPr lang="en-US" dirty="0" smtClean="0">
                <a:latin typeface="Times New Roman" panose="02020603050405020304" pitchFamily="18" charset="0"/>
                <a:cs typeface="Times New Roman" panose="02020603050405020304" pitchFamily="18" charset="0"/>
              </a:rPr>
              <a:t>Object recognition, image understanding, Intelligent control autonomous exploration. </a:t>
            </a:r>
          </a:p>
          <a:p>
            <a:pPr algn="just"/>
            <a:r>
              <a:rPr lang="en-US" b="1" dirty="0" smtClean="0">
                <a:latin typeface="Times New Roman" panose="02020603050405020304" pitchFamily="18" charset="0"/>
                <a:cs typeface="Times New Roman" panose="02020603050405020304" pitchFamily="18" charset="0"/>
              </a:rPr>
              <a:t>Machine Learning: </a:t>
            </a:r>
            <a:r>
              <a:rPr lang="en-US" dirty="0" smtClean="0">
                <a:latin typeface="Times New Roman" panose="02020603050405020304" pitchFamily="18" charset="0"/>
                <a:cs typeface="Times New Roman" panose="02020603050405020304" pitchFamily="18" charset="0"/>
              </a:rPr>
              <a:t>Decision tree learning, version space learning.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17712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Speech Processing</a:t>
            </a:r>
          </a:p>
        </p:txBody>
      </p:sp>
      <p:sp>
        <p:nvSpPr>
          <p:cNvPr id="3" name="Content Placeholder 2"/>
          <p:cNvSpPr>
            <a:spLocks noGrp="1"/>
          </p:cNvSpPr>
          <p:nvPr>
            <p:ph idx="1"/>
          </p:nvPr>
        </p:nvSpPr>
        <p:spPr/>
        <p:txBody>
          <a:bodyPr>
            <a:normAutofit fontScale="92500"/>
          </a:bodyPr>
          <a:lstStyle/>
          <a:p>
            <a:pPr algn="just"/>
            <a:r>
              <a:rPr lang="en-US" dirty="0">
                <a:latin typeface="Times New Roman" panose="02020603050405020304" pitchFamily="18" charset="0"/>
                <a:cs typeface="Times New Roman" panose="02020603050405020304" pitchFamily="18" charset="0"/>
              </a:rPr>
              <a:t>The speech processing and understanding of human speech has number of </a:t>
            </a:r>
            <a:r>
              <a:rPr lang="en-US" dirty="0" smtClean="0">
                <a:latin typeface="Times New Roman" panose="02020603050405020304" pitchFamily="18" charset="0"/>
                <a:cs typeface="Times New Roman" panose="02020603050405020304" pitchFamily="18" charset="0"/>
              </a:rPr>
              <a:t>applications, some of them are </a:t>
            </a:r>
          </a:p>
          <a:p>
            <a:pPr algn="just"/>
            <a:r>
              <a:rPr lang="en-US" dirty="0">
                <a:latin typeface="Times New Roman" panose="02020603050405020304" pitchFamily="18" charset="0"/>
                <a:cs typeface="Times New Roman" panose="02020603050405020304" pitchFamily="18" charset="0"/>
              </a:rPr>
              <a:t>speech recognition for dictation systems,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speech </a:t>
            </a:r>
            <a:r>
              <a:rPr lang="en-US" dirty="0">
                <a:latin typeface="Times New Roman" panose="02020603050405020304" pitchFamily="18" charset="0"/>
                <a:cs typeface="Times New Roman" panose="02020603050405020304" pitchFamily="18" charset="0"/>
              </a:rPr>
              <a:t>production for automated announcements,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voice-activated </a:t>
            </a:r>
            <a:r>
              <a:rPr lang="en-US" dirty="0">
                <a:latin typeface="Times New Roman" panose="02020603050405020304" pitchFamily="18" charset="0"/>
                <a:cs typeface="Times New Roman" panose="02020603050405020304" pitchFamily="18" charset="0"/>
              </a:rPr>
              <a:t>control,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human–computer </a:t>
            </a:r>
            <a:r>
              <a:rPr lang="en-US" dirty="0">
                <a:latin typeface="Times New Roman" panose="02020603050405020304" pitchFamily="18" charset="0"/>
                <a:cs typeface="Times New Roman" panose="02020603050405020304" pitchFamily="18" charset="0"/>
              </a:rPr>
              <a:t>interface (HCI), and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voice-activated transactions.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19025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Speech Processing</a:t>
            </a:r>
            <a:endParaRPr lang="en-IN" dirty="0"/>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One of the primary goals is, how do we get from sound waves to text streams and </a:t>
            </a:r>
            <a:r>
              <a:rPr lang="en-US" sz="2800" dirty="0" smtClean="0">
                <a:latin typeface="Times New Roman" panose="02020603050405020304" pitchFamily="18" charset="0"/>
                <a:cs typeface="Times New Roman" panose="02020603050405020304" pitchFamily="18" charset="0"/>
              </a:rPr>
              <a:t>vice-versa?</a:t>
            </a:r>
          </a:p>
          <a:p>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Fig. </a:t>
            </a:r>
            <a:r>
              <a:rPr lang="en-US" sz="2800" dirty="0" smtClean="0">
                <a:latin typeface="Times New Roman" panose="02020603050405020304" pitchFamily="18" charset="0"/>
                <a:cs typeface="Times New Roman" panose="02020603050405020304" pitchFamily="18" charset="0"/>
              </a:rPr>
              <a:t>1 </a:t>
            </a:r>
            <a:r>
              <a:rPr lang="en-US" sz="2800" dirty="0">
                <a:latin typeface="Times New Roman" panose="02020603050405020304" pitchFamily="18" charset="0"/>
                <a:cs typeface="Times New Roman" panose="02020603050405020304" pitchFamily="18" charset="0"/>
              </a:rPr>
              <a:t>is an example, showing the sound wave pattern for the text “Hello” repeated five times</a:t>
            </a:r>
            <a:endParaRPr lang="en-IN" sz="28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789040"/>
            <a:ext cx="5400600" cy="2082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331640" y="5910086"/>
            <a:ext cx="7812360" cy="36933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Fig. </a:t>
            </a:r>
            <a:r>
              <a:rPr lang="en-US" dirty="0" smtClean="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Sound waves for the text “Hello” repeated five times by a five year child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75535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229600" cy="1143000"/>
          </a:xfrm>
        </p:spPr>
        <p:txBody>
          <a:bodyPr/>
          <a:lstStyle/>
          <a:p>
            <a:r>
              <a:rPr lang="en-US" dirty="0">
                <a:latin typeface="Times New Roman" panose="02020603050405020304" pitchFamily="18" charset="0"/>
                <a:cs typeface="Times New Roman" panose="02020603050405020304" pitchFamily="18" charset="0"/>
              </a:rPr>
              <a:t>Natural language processing</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80728"/>
            <a:ext cx="8686800" cy="5616624"/>
          </a:xfrm>
        </p:spPr>
        <p:txBody>
          <a:bodyPr>
            <a:normAutofit fontScale="25000" lnSpcReduction="20000"/>
          </a:bodyPr>
          <a:lstStyle/>
          <a:p>
            <a:pPr algn="just"/>
            <a:r>
              <a:rPr lang="en-US" sz="11200" dirty="0">
                <a:latin typeface="Times New Roman" panose="02020603050405020304" pitchFamily="18" charset="0"/>
                <a:cs typeface="Times New Roman" panose="02020603050405020304" pitchFamily="18" charset="0"/>
              </a:rPr>
              <a:t>Natural language processing is a subfield of computer science and artificial intelligence. NLP enables a computer system to understand and process human language such as English</a:t>
            </a:r>
            <a:r>
              <a:rPr lang="en-US" sz="11200" dirty="0" smtClean="0">
                <a:latin typeface="Times New Roman" panose="02020603050405020304" pitchFamily="18" charset="0"/>
                <a:cs typeface="Times New Roman" panose="02020603050405020304" pitchFamily="18" charset="0"/>
              </a:rPr>
              <a:t>.</a:t>
            </a:r>
          </a:p>
          <a:p>
            <a:pPr algn="just"/>
            <a:r>
              <a:rPr lang="en-US" sz="11200" dirty="0">
                <a:latin typeface="Times New Roman" panose="02020603050405020304" pitchFamily="18" charset="0"/>
                <a:cs typeface="Times New Roman" panose="02020603050405020304" pitchFamily="18" charset="0"/>
              </a:rPr>
              <a:t>NLP plays an important role in AI as without NLP, AI agent cannot work on human instructions, but with the help of NLP, we can instruct an AI system on our language. Today we are all around AI, and as well as NLP, we can easily ask Siri, Google or Cortana to help us in our language.</a:t>
            </a:r>
          </a:p>
          <a:p>
            <a:pPr algn="just"/>
            <a:r>
              <a:rPr lang="en-US" sz="11200" dirty="0">
                <a:latin typeface="Times New Roman" panose="02020603050405020304" pitchFamily="18" charset="0"/>
                <a:cs typeface="Times New Roman" panose="02020603050405020304" pitchFamily="18" charset="0"/>
              </a:rPr>
              <a:t>Natural language processing application enables a user to communicate with the system in their own words directly.</a:t>
            </a:r>
          </a:p>
          <a:p>
            <a:pPr algn="just"/>
            <a:r>
              <a:rPr lang="en-US" sz="11200" dirty="0">
                <a:latin typeface="Times New Roman" panose="02020603050405020304" pitchFamily="18" charset="0"/>
                <a:cs typeface="Times New Roman" panose="02020603050405020304" pitchFamily="18" charset="0"/>
              </a:rPr>
              <a:t>The Input and output of NLP applications can be in two </a:t>
            </a:r>
            <a:r>
              <a:rPr lang="en-US" sz="11200" dirty="0" smtClean="0">
                <a:latin typeface="Times New Roman" panose="02020603050405020304" pitchFamily="18" charset="0"/>
                <a:cs typeface="Times New Roman" panose="02020603050405020304" pitchFamily="18" charset="0"/>
              </a:rPr>
              <a:t>forms: </a:t>
            </a:r>
            <a:r>
              <a:rPr lang="en-US" sz="11200" b="1" dirty="0" smtClean="0">
                <a:latin typeface="Times New Roman" panose="02020603050405020304" pitchFamily="18" charset="0"/>
                <a:cs typeface="Times New Roman" panose="02020603050405020304" pitchFamily="18" charset="0"/>
              </a:rPr>
              <a:t>Speech and Text</a:t>
            </a:r>
            <a:endParaRPr lang="en-US" sz="112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t/>
            </a:r>
            <a:br>
              <a:rPr lang="en-US" dirty="0"/>
            </a:br>
            <a:endParaRPr lang="en-IN" dirty="0"/>
          </a:p>
        </p:txBody>
      </p:sp>
    </p:spTree>
    <p:extLst>
      <p:ext uri="{BB962C8B-B14F-4D97-AF65-F5344CB8AC3E}">
        <p14:creationId xmlns:p14="http://schemas.microsoft.com/office/powerpoint/2010/main" val="41533336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Natural Language Processing (NLP</a:t>
            </a:r>
            <a:r>
              <a:rPr lang="en-US" dirty="0"/>
              <a:t>)</a:t>
            </a:r>
            <a:endParaRPr lang="en-IN" dirty="0"/>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Some of the common applications of Natural Language Processing (NLP) </a:t>
            </a:r>
            <a:r>
              <a:rPr lang="en-US" dirty="0" smtClean="0">
                <a:latin typeface="Times New Roman" panose="02020603050405020304" pitchFamily="18" charset="0"/>
                <a:cs typeface="Times New Roman" panose="02020603050405020304" pitchFamily="18" charset="0"/>
              </a:rPr>
              <a:t>are</a:t>
            </a:r>
          </a:p>
          <a:p>
            <a:r>
              <a:rPr lang="en-US" dirty="0" smtClean="0">
                <a:latin typeface="Times New Roman" panose="02020603050405020304" pitchFamily="18" charset="0"/>
                <a:cs typeface="Times New Roman" panose="02020603050405020304" pitchFamily="18" charset="0"/>
              </a:rPr>
              <a:t>Word </a:t>
            </a:r>
            <a:r>
              <a:rPr lang="en-US" dirty="0">
                <a:latin typeface="Times New Roman" panose="02020603050405020304" pitchFamily="18" charset="0"/>
                <a:cs typeface="Times New Roman" panose="02020603050405020304" pitchFamily="18" charset="0"/>
              </a:rPr>
              <a:t>Processing and Desktop Publishing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Spell </a:t>
            </a:r>
            <a:r>
              <a:rPr lang="en-US" dirty="0">
                <a:latin typeface="Times New Roman" panose="02020603050405020304" pitchFamily="18" charset="0"/>
                <a:cs typeface="Times New Roman" panose="02020603050405020304" pitchFamily="18" charset="0"/>
              </a:rPr>
              <a:t>check and Correction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Information </a:t>
            </a:r>
            <a:r>
              <a:rPr lang="en-US" dirty="0">
                <a:latin typeface="Times New Roman" panose="02020603050405020304" pitchFamily="18" charset="0"/>
                <a:cs typeface="Times New Roman" panose="02020603050405020304" pitchFamily="18" charset="0"/>
              </a:rPr>
              <a:t>Retrieval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Information </a:t>
            </a:r>
            <a:r>
              <a:rPr lang="en-US" dirty="0">
                <a:latin typeface="Times New Roman" panose="02020603050405020304" pitchFamily="18" charset="0"/>
                <a:cs typeface="Times New Roman" panose="02020603050405020304" pitchFamily="18" charset="0"/>
              </a:rPr>
              <a:t>Extraction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Information </a:t>
            </a:r>
            <a:r>
              <a:rPr lang="en-US" dirty="0">
                <a:latin typeface="Times New Roman" panose="02020603050405020304" pitchFamily="18" charset="0"/>
                <a:cs typeface="Times New Roman" panose="02020603050405020304" pitchFamily="18" charset="0"/>
              </a:rPr>
              <a:t>Categorization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Question-answering </a:t>
            </a:r>
          </a:p>
          <a:p>
            <a:r>
              <a:rPr lang="en-US" dirty="0" smtClean="0">
                <a:latin typeface="Times New Roman" panose="02020603050405020304" pitchFamily="18" charset="0"/>
                <a:cs typeface="Times New Roman" panose="02020603050405020304" pitchFamily="18" charset="0"/>
              </a:rPr>
              <a:t>Information </a:t>
            </a:r>
            <a:r>
              <a:rPr lang="en-US" dirty="0">
                <a:latin typeface="Times New Roman" panose="02020603050405020304" pitchFamily="18" charset="0"/>
                <a:cs typeface="Times New Roman" panose="02020603050405020304" pitchFamily="18" charset="0"/>
              </a:rPr>
              <a:t>summarization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Machine </a:t>
            </a:r>
            <a:r>
              <a:rPr lang="en-US" dirty="0">
                <a:latin typeface="Times New Roman" panose="02020603050405020304" pitchFamily="18" charset="0"/>
                <a:cs typeface="Times New Roman" panose="02020603050405020304" pitchFamily="18" charset="0"/>
              </a:rPr>
              <a:t>Translation.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94305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764704"/>
          </a:xfrm>
        </p:spPr>
        <p:txBody>
          <a:bodyPr/>
          <a:lstStyle/>
          <a:p>
            <a:r>
              <a:rPr lang="en-IN" dirty="0">
                <a:latin typeface="Times New Roman" panose="02020603050405020304" pitchFamily="18" charset="0"/>
                <a:cs typeface="Times New Roman" panose="02020603050405020304" pitchFamily="18" charset="0"/>
              </a:rPr>
              <a:t>Planning</a:t>
            </a:r>
          </a:p>
        </p:txBody>
      </p:sp>
      <p:sp>
        <p:nvSpPr>
          <p:cNvPr id="3" name="Content Placeholder 2"/>
          <p:cNvSpPr>
            <a:spLocks noGrp="1"/>
          </p:cNvSpPr>
          <p:nvPr>
            <p:ph idx="1"/>
          </p:nvPr>
        </p:nvSpPr>
        <p:spPr>
          <a:xfrm>
            <a:off x="539552" y="764704"/>
            <a:ext cx="8229600" cy="5904656"/>
          </a:xfrm>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Any planning, or specifically the robotic planning, is concerned with choosing (computing) the correct sequence of actions to complete a specific task.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requires a convenient and efficient representation of the problem domain.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plan steps are called states defined in formal language, like, in predicate language, or in the form of rules, depending on what type of planning has been used.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plan may be taken as a sequence of operations that transform the initial state into the goal </a:t>
            </a:r>
            <a:r>
              <a:rPr lang="en-US" dirty="0" smtClean="0">
                <a:latin typeface="Times New Roman" panose="02020603050405020304" pitchFamily="18" charset="0"/>
                <a:cs typeface="Times New Roman" panose="02020603050405020304" pitchFamily="18" charset="0"/>
              </a:rPr>
              <a:t>state.</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best planning seeks to explore the best path of states for reaching the goal state.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Hence</a:t>
            </a:r>
            <a:r>
              <a:rPr lang="en-US" dirty="0">
                <a:latin typeface="Times New Roman" panose="02020603050405020304" pitchFamily="18" charset="0"/>
                <a:cs typeface="Times New Roman" panose="02020603050405020304" pitchFamily="18" charset="0"/>
              </a:rPr>
              <a:t>, the best path or an optimum path seeks exploration or searching, to find out the best possible path efficiently, in terms of time and space required for </a:t>
            </a:r>
            <a:r>
              <a:rPr lang="en-US" dirty="0" smtClean="0">
                <a:latin typeface="Times New Roman" panose="02020603050405020304" pitchFamily="18" charset="0"/>
                <a:cs typeface="Times New Roman" panose="02020603050405020304" pitchFamily="18" charset="0"/>
              </a:rPr>
              <a:t>running </a:t>
            </a:r>
            <a:r>
              <a:rPr lang="en-US" dirty="0">
                <a:latin typeface="Times New Roman" panose="02020603050405020304" pitchFamily="18" charset="0"/>
                <a:cs typeface="Times New Roman" panose="02020603050405020304" pitchFamily="18" charset="0"/>
              </a:rPr>
              <a:t>the planning </a:t>
            </a:r>
            <a:r>
              <a:rPr lang="en-US" dirty="0" smtClean="0">
                <a:latin typeface="Times New Roman" panose="02020603050405020304" pitchFamily="18" charset="0"/>
                <a:cs typeface="Times New Roman" panose="02020603050405020304" pitchFamily="18" charset="0"/>
              </a:rPr>
              <a:t>algorithm.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91769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Engineering and Expert Systems</a:t>
            </a:r>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These are primarily based on symbolic processing—which is the main stream of AI.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fundamental problems such as, how to represent knowledge,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Various </a:t>
            </a:r>
            <a:r>
              <a:rPr lang="en-US" dirty="0">
                <a:latin typeface="Times New Roman" panose="02020603050405020304" pitchFamily="18" charset="0"/>
                <a:cs typeface="Times New Roman" panose="02020603050405020304" pitchFamily="18" charset="0"/>
              </a:rPr>
              <a:t>representation schemes are classified into two categories: </a:t>
            </a:r>
            <a:endParaRPr lang="en-US" dirty="0" smtClean="0">
              <a:latin typeface="Times New Roman" panose="02020603050405020304" pitchFamily="18" charset="0"/>
              <a:cs typeface="Times New Roman" panose="02020603050405020304" pitchFamily="18" charset="0"/>
            </a:endParaRPr>
          </a:p>
          <a:p>
            <a:pPr lvl="1" algn="just"/>
            <a:r>
              <a:rPr lang="en-US" dirty="0" smtClean="0">
                <a:latin typeface="Times New Roman" panose="02020603050405020304" pitchFamily="18" charset="0"/>
                <a:cs typeface="Times New Roman" panose="02020603050405020304" pitchFamily="18" charset="0"/>
              </a:rPr>
              <a:t>Symbolic </a:t>
            </a:r>
            <a:r>
              <a:rPr lang="en-US" dirty="0">
                <a:latin typeface="Times New Roman" panose="02020603050405020304" pitchFamily="18" charset="0"/>
                <a:cs typeface="Times New Roman" panose="02020603050405020304" pitchFamily="18" charset="0"/>
              </a:rPr>
              <a:t>representation and </a:t>
            </a:r>
            <a:endParaRPr lang="en-US" dirty="0" smtClean="0">
              <a:latin typeface="Times New Roman" panose="02020603050405020304" pitchFamily="18" charset="0"/>
              <a:cs typeface="Times New Roman" panose="02020603050405020304" pitchFamily="18" charset="0"/>
            </a:endParaRPr>
          </a:p>
          <a:p>
            <a:pPr lvl="1" algn="just"/>
            <a:r>
              <a:rPr lang="en-US" dirty="0" smtClean="0">
                <a:latin typeface="Times New Roman" panose="02020603050405020304" pitchFamily="18" charset="0"/>
                <a:cs typeface="Times New Roman" panose="02020603050405020304" pitchFamily="18" charset="0"/>
              </a:rPr>
              <a:t>Graphical </a:t>
            </a:r>
            <a:r>
              <a:rPr lang="en-US" dirty="0">
                <a:latin typeface="Times New Roman" panose="02020603050405020304" pitchFamily="18" charset="0"/>
                <a:cs typeface="Times New Roman" panose="02020603050405020304" pitchFamily="18" charset="0"/>
              </a:rPr>
              <a:t>representation.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first is propositional and predicate logic based, while the other is graph-based, like—semantic networks, frames, ontologies and conceptual dependencies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74903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Fuzzy Systems</a:t>
            </a:r>
          </a:p>
        </p:txBody>
      </p:sp>
      <p:sp>
        <p:nvSpPr>
          <p:cNvPr id="3" name="Content Placeholder 2"/>
          <p:cNvSpPr>
            <a:spLocks noGrp="1"/>
          </p:cNvSpPr>
          <p:nvPr>
            <p:ph idx="1"/>
          </p:nvPr>
        </p:nvSpPr>
        <p:spPr>
          <a:xfrm>
            <a:off x="457200" y="1412776"/>
            <a:ext cx="8229600" cy="4713387"/>
          </a:xfrm>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The primary aim of fuzzy </a:t>
            </a:r>
            <a:r>
              <a:rPr lang="en-US" dirty="0" smtClean="0">
                <a:latin typeface="Times New Roman" panose="02020603050405020304" pitchFamily="18" charset="0"/>
                <a:cs typeface="Times New Roman" panose="02020603050405020304" pitchFamily="18" charset="0"/>
              </a:rPr>
              <a:t>or soft-computing </a:t>
            </a:r>
            <a:r>
              <a:rPr lang="en-US" dirty="0">
                <a:latin typeface="Times New Roman" panose="02020603050405020304" pitchFamily="18" charset="0"/>
                <a:cs typeface="Times New Roman" panose="02020603050405020304" pitchFamily="18" charset="0"/>
              </a:rPr>
              <a:t>is to exploit the tolerance for imprecision and uncertainty to achieve tractability, robustness, and low cost applications.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Fuzzy </a:t>
            </a:r>
            <a:r>
              <a:rPr lang="en-US" dirty="0">
                <a:latin typeface="Times New Roman" panose="02020603050405020304" pitchFamily="18" charset="0"/>
                <a:cs typeface="Times New Roman" panose="02020603050405020304" pitchFamily="18" charset="0"/>
              </a:rPr>
              <a:t>systems can be integrated with other techniques such as neural networks, and probabilistic reasoning. In fuzzy systems, the membership are partial (fuzzy/unclear).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Examples </a:t>
            </a:r>
            <a:r>
              <a:rPr lang="en-US" dirty="0">
                <a:latin typeface="Times New Roman" panose="02020603050405020304" pitchFamily="18" charset="0"/>
                <a:cs typeface="Times New Roman" panose="02020603050405020304" pitchFamily="18" charset="0"/>
              </a:rPr>
              <a:t>of fuzzy sets are: old, cloudy, high speed, rainy, etc.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in contrast to the classical-based systems, where boundaries are crisp, like, member of computer science class, an Indian national, chair (member of the set of chair), where all three are representing the full membership of each category of the given set.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40125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Models of Brain and Evolution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The models of the human brain and evolution correspond to two major approaches to AI.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AI as a model of the brain corresponds to Symbolic AI, and has remained the major field of AI.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human psychology operates at a symbolic level, as well as the AI programming languages, and early engineered systems fall in this type of AI</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other approach of AI is like human evolution, which is based on low level biological and genetic models of living beings. </a:t>
            </a:r>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neural-based computing (artificial neural networks), and genetic algorithms derived from these concepts from life.</a:t>
            </a:r>
          </a:p>
        </p:txBody>
      </p:sp>
    </p:spTree>
    <p:extLst>
      <p:ext uri="{BB962C8B-B14F-4D97-AF65-F5344CB8AC3E}">
        <p14:creationId xmlns:p14="http://schemas.microsoft.com/office/powerpoint/2010/main" val="37868007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Models of Brain and Evolution</a:t>
            </a:r>
            <a:endParaRPr lang="en-IN" dirty="0"/>
          </a:p>
        </p:txBody>
      </p:sp>
      <p:sp>
        <p:nvSpPr>
          <p:cNvPr id="3" name="Content Placeholder 2"/>
          <p:cNvSpPr>
            <a:spLocks noGrp="1"/>
          </p:cNvSpPr>
          <p:nvPr>
            <p:ph idx="1"/>
          </p:nvPr>
        </p:nvSpPr>
        <p:spPr>
          <a:xfrm>
            <a:off x="457200" y="1412776"/>
            <a:ext cx="8229600" cy="4968552"/>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Neural networks, similar to expert systems, are modeled on the human brain and learn by themselves from patterns.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Thus</a:t>
            </a:r>
            <a:r>
              <a:rPr lang="en-US" dirty="0">
                <a:latin typeface="Times New Roman" panose="02020603050405020304" pitchFamily="18" charset="0"/>
                <a:cs typeface="Times New Roman" panose="02020603050405020304" pitchFamily="18" charset="0"/>
              </a:rPr>
              <a:t>, learning can then be applied to classification, prediction, or control applications.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GAs, are computer models based on genetic and evolution.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Their </a:t>
            </a:r>
            <a:r>
              <a:rPr lang="en-US" dirty="0">
                <a:latin typeface="Times New Roman" panose="02020603050405020304" pitchFamily="18" charset="0"/>
                <a:cs typeface="Times New Roman" panose="02020603050405020304" pitchFamily="18" charset="0"/>
              </a:rPr>
              <a:t>basic idea is that genetic programs work towards finding better and better solutions to problems, just as species evolve to better adapt to their environments.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GAs comprises three basic processes: reproduction of solution based on their fitness, crossover of genes, and mutation for random change of genes. </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599125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975</Words>
  <Application>Microsoft Office PowerPoint</Application>
  <PresentationFormat>On-screen Show (4:3)</PresentationFormat>
  <Paragraphs>71</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Sub Fields of AI</vt:lpstr>
      <vt:lpstr>Sub-fields of AI</vt:lpstr>
      <vt:lpstr>Sub-fields of AI</vt:lpstr>
      <vt:lpstr>Speech Processing</vt:lpstr>
      <vt:lpstr>Speech Processing</vt:lpstr>
      <vt:lpstr>Natural language processing</vt:lpstr>
      <vt:lpstr>Natural Language Processing (NLP)</vt:lpstr>
      <vt:lpstr>Planning</vt:lpstr>
      <vt:lpstr>Engineering and Expert Systems</vt:lpstr>
      <vt:lpstr>Fuzzy Systems</vt:lpstr>
      <vt:lpstr>Models of Brain and Evolution</vt:lpstr>
      <vt:lpstr>Models of Brain and Evolution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 Fields of AI</dc:title>
  <dc:creator>Admin</dc:creator>
  <cp:lastModifiedBy>Admin</cp:lastModifiedBy>
  <cp:revision>8</cp:revision>
  <dcterms:created xsi:type="dcterms:W3CDTF">2024-01-18T05:06:12Z</dcterms:created>
  <dcterms:modified xsi:type="dcterms:W3CDTF">2024-01-18T09:18:16Z</dcterms:modified>
</cp:coreProperties>
</file>