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88" r:id="rId24"/>
    <p:sldId id="277" r:id="rId25"/>
    <p:sldId id="278" r:id="rId26"/>
    <p:sldId id="289" r:id="rId27"/>
    <p:sldId id="279" r:id="rId28"/>
    <p:sldId id="290" r:id="rId29"/>
    <p:sldId id="280" r:id="rId30"/>
    <p:sldId id="281" r:id="rId31"/>
    <p:sldId id="282" r:id="rId32"/>
    <p:sldId id="283" r:id="rId33"/>
    <p:sldId id="284" r:id="rId34"/>
    <p:sldId id="285" r:id="rId35"/>
    <p:sldId id="286"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132" autoAdjust="0"/>
    <p:restoredTop sz="94660"/>
  </p:normalViewPr>
  <p:slideViewPr>
    <p:cSldViewPr>
      <p:cViewPr varScale="1">
        <p:scale>
          <a:sx n="59" d="100"/>
          <a:sy n="59" d="100"/>
        </p:scale>
        <p:origin x="868" y="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21F6420-2ED0-4718-A117-9B1D72525D45}" type="datetimeFigureOut">
              <a:rPr lang="en-IN" smtClean="0"/>
              <a:t>14-11-2024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2878176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21F6420-2ED0-4718-A117-9B1D72525D45}" type="datetimeFigureOut">
              <a:rPr lang="en-IN" smtClean="0"/>
              <a:t>14-11-2024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2592807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1F6420-2ED0-4718-A117-9B1D72525D45}" type="datetimeFigureOut">
              <a:rPr lang="en-IN" smtClean="0"/>
              <a:t>14-11-2024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4160558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21F6420-2ED0-4718-A117-9B1D72525D45}" type="datetimeFigureOut">
              <a:rPr lang="en-IN" smtClean="0"/>
              <a:t>14-11-2024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177985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21F6420-2ED0-4718-A117-9B1D72525D45}" type="datetimeFigureOut">
              <a:rPr lang="en-IN" smtClean="0"/>
              <a:t>14-11-2024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4268679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21F6420-2ED0-4718-A117-9B1D72525D45}" type="datetimeFigureOut">
              <a:rPr lang="en-IN" smtClean="0"/>
              <a:t>14-11-2024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2102021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1F6420-2ED0-4718-A117-9B1D72525D45}" type="datetimeFigureOut">
              <a:rPr lang="en-IN" smtClean="0"/>
              <a:t>14-11-2024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2569060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1F6420-2ED0-4718-A117-9B1D72525D45}" type="datetimeFigureOut">
              <a:rPr lang="en-IN" smtClean="0"/>
              <a:t>14-11-2024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3670541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1F6420-2ED0-4718-A117-9B1D72525D45}" type="datetimeFigureOut">
              <a:rPr lang="en-IN" smtClean="0"/>
              <a:t>14-11-2024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2512918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21F6420-2ED0-4718-A117-9B1D72525D45}" type="datetimeFigureOut">
              <a:rPr lang="en-IN" smtClean="0"/>
              <a:t>14-11-2024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2342369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21F6420-2ED0-4718-A117-9B1D72525D45}" type="datetimeFigureOut">
              <a:rPr lang="en-IN" smtClean="0"/>
              <a:t>14-11-2024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3241770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1F6420-2ED0-4718-A117-9B1D72525D45}" type="datetimeFigureOut">
              <a:rPr lang="en-IN" smtClean="0"/>
              <a:t>14-11-2024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7E25C4-168D-46B1-A879-F1B1DF32CC03}" type="slidenum">
              <a:rPr lang="en-IN" smtClean="0"/>
              <a:t>‹#›</a:t>
            </a:fld>
            <a:endParaRPr lang="en-IN"/>
          </a:p>
        </p:txBody>
      </p:sp>
    </p:spTree>
    <p:extLst>
      <p:ext uri="{BB962C8B-B14F-4D97-AF65-F5344CB8AC3E}">
        <p14:creationId xmlns:p14="http://schemas.microsoft.com/office/powerpoint/2010/main" val="34713355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techtarget.com/searchenterpriseai/definition/natural-language-processing-NLP" TargetMode="External"/><Relationship Id="rId2" Type="http://schemas.openxmlformats.org/officeDocument/2006/relationships/hyperlink" Target="https://www.techtarget.com/searchenterpriseai/definition/AI-Artificial-Intelligence" TargetMode="External"/><Relationship Id="rId1" Type="http://schemas.openxmlformats.org/officeDocument/2006/relationships/slideLayout" Target="../slideLayouts/slideLayout2.xml"/><Relationship Id="rId4" Type="http://schemas.openxmlformats.org/officeDocument/2006/relationships/hyperlink" Target="https://www.techtarget.com/whatis/definition/large-language-model-LL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google.com/search?newwindow=1&amp;sca_esv=bf3933bb65ad3238&amp;sxsrf=ADLYWIKCFhf6o6nNQFhhp5WAwXty2L_4pw:1731561308794&amp;q=wrongly&amp;si=ACC90nypsxZVz3WGK63NbnSPlfCB0WiE8Ua9l1A-o-eDuNlm408umiMyN1wdcw7AbF7wMcLKuMdJ77Y9M8m8KYZVu6sJLidGwQ%3D%3D&amp;expnd=1&amp;sa=X&amp;ved=2ahUKEwiGsd7FiNuJAxWJnK8BHTELBTMQyecJegQIRhAZ"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latin typeface="Times New Roman" panose="02020603050405020304" pitchFamily="18" charset="0"/>
                <a:cs typeface="Times New Roman" panose="02020603050405020304" pitchFamily="18" charset="0"/>
              </a:rPr>
              <a:t>Communicating, Perceiving and Acting</a:t>
            </a:r>
          </a:p>
        </p:txBody>
      </p:sp>
      <p:sp>
        <p:nvSpPr>
          <p:cNvPr id="3" name="Subtitle 2"/>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Module 7</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0099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Language Models</a:t>
            </a:r>
          </a:p>
        </p:txBody>
      </p:sp>
      <p:sp>
        <p:nvSpPr>
          <p:cNvPr id="3" name="Content Placeholder 2"/>
          <p:cNvSpPr>
            <a:spLocks noGrp="1"/>
          </p:cNvSpPr>
          <p:nvPr>
            <p:ph idx="1"/>
          </p:nvPr>
        </p:nvSpPr>
        <p:spPr>
          <a:xfrm>
            <a:off x="457200" y="1268760"/>
            <a:ext cx="8229600" cy="5400600"/>
          </a:xfrm>
        </p:spPr>
        <p:txBody>
          <a:bodyPr>
            <a:normAutofit fontScale="85000" lnSpcReduction="20000"/>
          </a:bodyPr>
          <a:lstStyle/>
          <a:p>
            <a:pPr algn="just"/>
            <a:r>
              <a:rPr lang="en-US" dirty="0">
                <a:solidFill>
                  <a:srgbClr val="FF0000"/>
                </a:solidFill>
                <a:latin typeface="Times New Roman" panose="02020603050405020304" pitchFamily="18" charset="0"/>
                <a:cs typeface="Times New Roman" panose="02020603050405020304" pitchFamily="18" charset="0"/>
              </a:rPr>
              <a:t>Language models: </a:t>
            </a:r>
            <a:r>
              <a:rPr lang="en-US" dirty="0">
                <a:latin typeface="Times New Roman" panose="02020603050405020304" pitchFamily="18" charset="0"/>
                <a:cs typeface="Times New Roman" panose="02020603050405020304" pitchFamily="18" charset="0"/>
              </a:rPr>
              <a:t>models that predict the probability distribution of language expressions.</a:t>
            </a:r>
          </a:p>
          <a:p>
            <a:pPr algn="just"/>
            <a:r>
              <a:rPr lang="en-US" dirty="0">
                <a:solidFill>
                  <a:srgbClr val="FF0000"/>
                </a:solidFill>
                <a:latin typeface="Times New Roman" panose="02020603050405020304" pitchFamily="18" charset="0"/>
                <a:cs typeface="Times New Roman" panose="02020603050405020304" pitchFamily="18" charset="0"/>
              </a:rPr>
              <a:t>Formal languages</a:t>
            </a:r>
            <a:r>
              <a:rPr lang="en-US" dirty="0">
                <a:latin typeface="Times New Roman" panose="02020603050405020304" pitchFamily="18" charset="0"/>
                <a:cs typeface="Times New Roman" panose="02020603050405020304" pitchFamily="18" charset="0"/>
              </a:rPr>
              <a:t>, such as the programming languages Java or Python, have precisely defined </a:t>
            </a:r>
            <a:r>
              <a:rPr lang="en-IN" dirty="0">
                <a:latin typeface="Times New Roman" panose="02020603050405020304" pitchFamily="18" charset="0"/>
                <a:cs typeface="Times New Roman" panose="02020603050405020304" pitchFamily="18" charset="0"/>
              </a:rPr>
              <a:t>language models.</a:t>
            </a:r>
          </a:p>
          <a:p>
            <a:pPr algn="just"/>
            <a:r>
              <a:rPr lang="en-US" dirty="0">
                <a:latin typeface="Times New Roman" panose="02020603050405020304" pitchFamily="18" charset="0"/>
                <a:cs typeface="Times New Roman" panose="02020603050405020304" pitchFamily="18" charset="0"/>
              </a:rPr>
              <a:t>A language can be defined as a set of strings; “print(2 + 2)” is a legal program in the language Python, whereas “2)+(2 print” is not.</a:t>
            </a:r>
          </a:p>
          <a:p>
            <a:pPr algn="just"/>
            <a:r>
              <a:rPr lang="en-US" dirty="0">
                <a:latin typeface="Times New Roman" panose="02020603050405020304" pitchFamily="18" charset="0"/>
                <a:cs typeface="Times New Roman" panose="02020603050405020304" pitchFamily="18" charset="0"/>
              </a:rPr>
              <a:t>So there is a set of rules called a </a:t>
            </a:r>
            <a:r>
              <a:rPr lang="en-US" dirty="0">
                <a:solidFill>
                  <a:srgbClr val="FF0000"/>
                </a:solidFill>
                <a:latin typeface="Times New Roman" panose="02020603050405020304" pitchFamily="18" charset="0"/>
                <a:cs typeface="Times New Roman" panose="02020603050405020304" pitchFamily="18" charset="0"/>
              </a:rPr>
              <a:t>grammar</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Formal languages also have rules that define the meaning or </a:t>
            </a:r>
            <a:r>
              <a:rPr lang="en-IN" dirty="0">
                <a:latin typeface="Times New Roman" panose="02020603050405020304" pitchFamily="18" charset="0"/>
                <a:cs typeface="Times New Roman" panose="02020603050405020304" pitchFamily="18" charset="0"/>
              </a:rPr>
              <a:t>semantics of a program;</a:t>
            </a:r>
          </a:p>
          <a:p>
            <a:pPr algn="just"/>
            <a:r>
              <a:rPr lang="en-US" dirty="0">
                <a:latin typeface="Times New Roman" panose="02020603050405020304" pitchFamily="18" charset="0"/>
                <a:cs typeface="Times New Roman" panose="02020603050405020304" pitchFamily="18" charset="0"/>
              </a:rPr>
              <a:t>for example, the rules say that the “meaning” of “2+2” is 4, and the meaning of “1/0” is that an error is signaled. </a:t>
            </a:r>
          </a:p>
        </p:txBody>
      </p:sp>
    </p:spTree>
    <p:extLst>
      <p:ext uri="{BB962C8B-B14F-4D97-AF65-F5344CB8AC3E}">
        <p14:creationId xmlns:p14="http://schemas.microsoft.com/office/powerpoint/2010/main" val="3706531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657C0-A401-8647-0904-8E3ED7AB2101}"/>
              </a:ext>
            </a:extLst>
          </p:cNvPr>
          <p:cNvSpPr>
            <a:spLocks noGrp="1"/>
          </p:cNvSpPr>
          <p:nvPr>
            <p:ph type="title"/>
          </p:nvPr>
        </p:nvSpPr>
        <p:spPr/>
        <p:txBody>
          <a:bodyPr/>
          <a:lstStyle/>
          <a:p>
            <a:r>
              <a:rPr lang="en-IN" dirty="0"/>
              <a:t>Ambiguous sentence</a:t>
            </a:r>
          </a:p>
        </p:txBody>
      </p:sp>
      <p:pic>
        <p:nvPicPr>
          <p:cNvPr id="5" name="Content Placeholder 4">
            <a:extLst>
              <a:ext uri="{FF2B5EF4-FFF2-40B4-BE49-F238E27FC236}">
                <a16:creationId xmlns:a16="http://schemas.microsoft.com/office/drawing/2014/main" id="{2209D5E3-E68B-930E-09AB-761A527CB816}"/>
              </a:ext>
            </a:extLst>
          </p:cNvPr>
          <p:cNvPicPr>
            <a:picLocks noGrp="1" noChangeAspect="1"/>
          </p:cNvPicPr>
          <p:nvPr>
            <p:ph idx="1"/>
          </p:nvPr>
        </p:nvPicPr>
        <p:blipFill>
          <a:blip r:embed="rId2"/>
          <a:stretch>
            <a:fillRect/>
          </a:stretch>
        </p:blipFill>
        <p:spPr>
          <a:xfrm>
            <a:off x="457200" y="1417638"/>
            <a:ext cx="8229600" cy="1452282"/>
          </a:xfrm>
        </p:spPr>
      </p:pic>
      <p:pic>
        <p:nvPicPr>
          <p:cNvPr id="7" name="Picture 6">
            <a:extLst>
              <a:ext uri="{FF2B5EF4-FFF2-40B4-BE49-F238E27FC236}">
                <a16:creationId xmlns:a16="http://schemas.microsoft.com/office/drawing/2014/main" id="{A9DE1E59-45CC-C4FB-3FF3-1FF40235DBBA}"/>
              </a:ext>
            </a:extLst>
          </p:cNvPr>
          <p:cNvPicPr>
            <a:picLocks noChangeAspect="1"/>
          </p:cNvPicPr>
          <p:nvPr/>
        </p:nvPicPr>
        <p:blipFill>
          <a:blip r:embed="rId3"/>
          <a:stretch>
            <a:fillRect/>
          </a:stretch>
        </p:blipFill>
        <p:spPr>
          <a:xfrm>
            <a:off x="17647" y="2869920"/>
            <a:ext cx="9144000" cy="1625203"/>
          </a:xfrm>
          <a:prstGeom prst="rect">
            <a:avLst/>
          </a:prstGeom>
        </p:spPr>
      </p:pic>
    </p:spTree>
    <p:extLst>
      <p:ext uri="{BB962C8B-B14F-4D97-AF65-F5344CB8AC3E}">
        <p14:creationId xmlns:p14="http://schemas.microsoft.com/office/powerpoint/2010/main" val="23493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Language Models</a:t>
            </a:r>
            <a:endParaRPr lang="en-IN" dirty="0"/>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Natural languages, such as English or Spanish, cannot be characterized as a definitive set of sentences.</a:t>
            </a:r>
          </a:p>
          <a:p>
            <a:pPr algn="just"/>
            <a:r>
              <a:rPr lang="en-US" b="1" dirty="0">
                <a:latin typeface="Times New Roman" panose="02020603050405020304" pitchFamily="18" charset="0"/>
                <a:cs typeface="Times New Roman" panose="02020603050405020304" pitchFamily="18" charset="0"/>
              </a:rPr>
              <a:t>Language modeling</a:t>
            </a:r>
            <a:r>
              <a:rPr lang="en-US" dirty="0">
                <a:latin typeface="Times New Roman" panose="02020603050405020304" pitchFamily="18" charset="0"/>
                <a:cs typeface="Times New Roman" panose="02020603050405020304" pitchFamily="18" charset="0"/>
              </a:rPr>
              <a:t> is a technique that predicts the order of words in a sentence. </a:t>
            </a:r>
          </a:p>
          <a:p>
            <a:pPr algn="just"/>
            <a:r>
              <a:rPr lang="en-US" dirty="0">
                <a:latin typeface="Times New Roman" panose="02020603050405020304" pitchFamily="18" charset="0"/>
                <a:cs typeface="Times New Roman" panose="02020603050405020304" pitchFamily="18" charset="0"/>
              </a:rPr>
              <a:t>Everyone agrees that “Not to be invited is sad” is a sentence of English,</a:t>
            </a:r>
          </a:p>
          <a:p>
            <a:pPr algn="just"/>
            <a:r>
              <a:rPr lang="en-US" dirty="0">
                <a:latin typeface="Times New Roman" panose="02020603050405020304" pitchFamily="18" charset="0"/>
                <a:cs typeface="Times New Roman" panose="02020603050405020304" pitchFamily="18" charset="0"/>
              </a:rPr>
              <a:t>but people disagree on the grammaticality of “To be not invited is sad.”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3687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Language Models</a:t>
            </a:r>
            <a:endParaRPr lang="en-IN" dirty="0"/>
          </a:p>
        </p:txBody>
      </p:sp>
      <p:sp>
        <p:nvSpPr>
          <p:cNvPr id="3" name="Content Placeholder 2"/>
          <p:cNvSpPr>
            <a:spLocks noGrp="1"/>
          </p:cNvSpPr>
          <p:nvPr>
            <p:ph idx="1"/>
          </p:nvPr>
        </p:nvSpPr>
        <p:spPr/>
        <p:txBody>
          <a:bodyPr>
            <a:normAutofit fontScale="85000" lnSpcReduction="10000"/>
          </a:bodyPr>
          <a:lstStyle/>
          <a:p>
            <a:pPr algn="just"/>
            <a:r>
              <a:rPr lang="en-US" dirty="0">
                <a:latin typeface="Times New Roman" panose="02020603050405020304" pitchFamily="18" charset="0"/>
                <a:cs typeface="Times New Roman" panose="02020603050405020304" pitchFamily="18" charset="0"/>
              </a:rPr>
              <a:t>Language modeling is used in artificial intelligence (</a:t>
            </a:r>
            <a:r>
              <a:rPr lang="en-US" dirty="0">
                <a:latin typeface="Times New Roman" panose="02020603050405020304" pitchFamily="18" charset="0"/>
                <a:cs typeface="Times New Roman" panose="02020603050405020304" pitchFamily="18" charset="0"/>
                <a:hlinkClick r:id="rId2"/>
              </a:rPr>
              <a:t>AI</a:t>
            </a:r>
            <a:r>
              <a:rPr lang="en-US" dirty="0">
                <a:latin typeface="Times New Roman" panose="02020603050405020304" pitchFamily="18" charset="0"/>
                <a:cs typeface="Times New Roman" panose="02020603050405020304" pitchFamily="18" charset="0"/>
              </a:rPr>
              <a:t>), natural language processing (</a:t>
            </a:r>
            <a:r>
              <a:rPr lang="en-US" dirty="0">
                <a:latin typeface="Times New Roman" panose="02020603050405020304" pitchFamily="18" charset="0"/>
                <a:cs typeface="Times New Roman" panose="02020603050405020304" pitchFamily="18" charset="0"/>
                <a:hlinkClick r:id="rId3"/>
              </a:rPr>
              <a:t>NLP</a:t>
            </a:r>
            <a:r>
              <a:rPr lang="en-US" dirty="0">
                <a:latin typeface="Times New Roman" panose="02020603050405020304" pitchFamily="18" charset="0"/>
                <a:cs typeface="Times New Roman" panose="02020603050405020304" pitchFamily="18" charset="0"/>
              </a:rPr>
              <a:t>), natural language understanding and natural language generation systems, particularly ones that perform text generation, machine translation and question answering.</a:t>
            </a:r>
          </a:p>
          <a:p>
            <a:pPr algn="just"/>
            <a:r>
              <a:rPr lang="en-US" dirty="0">
                <a:latin typeface="Times New Roman" panose="02020603050405020304" pitchFamily="18" charset="0"/>
                <a:cs typeface="Times New Roman" panose="02020603050405020304" pitchFamily="18" charset="0"/>
              </a:rPr>
              <a:t>Large language models (</a:t>
            </a:r>
            <a:r>
              <a:rPr lang="en-US" dirty="0">
                <a:latin typeface="Times New Roman" panose="02020603050405020304" pitchFamily="18" charset="0"/>
                <a:cs typeface="Times New Roman" panose="02020603050405020304" pitchFamily="18" charset="0"/>
                <a:hlinkClick r:id="rId4"/>
              </a:rPr>
              <a:t>LLMs</a:t>
            </a:r>
            <a:r>
              <a:rPr lang="en-US" dirty="0">
                <a:latin typeface="Times New Roman" panose="02020603050405020304" pitchFamily="18" charset="0"/>
                <a:cs typeface="Times New Roman" panose="02020603050405020304" pitchFamily="18" charset="0"/>
              </a:rPr>
              <a:t>) also use language modeling. </a:t>
            </a:r>
          </a:p>
          <a:p>
            <a:pPr algn="just"/>
            <a:r>
              <a:rPr lang="en-US" dirty="0">
                <a:latin typeface="Times New Roman" panose="02020603050405020304" pitchFamily="18" charset="0"/>
                <a:cs typeface="Times New Roman" panose="02020603050405020304" pitchFamily="18" charset="0"/>
              </a:rPr>
              <a:t>These are advanced language models, such as </a:t>
            </a:r>
            <a:r>
              <a:rPr lang="en-US" dirty="0" err="1">
                <a:latin typeface="Times New Roman" panose="02020603050405020304" pitchFamily="18" charset="0"/>
                <a:cs typeface="Times New Roman" panose="02020603050405020304" pitchFamily="18" charset="0"/>
              </a:rPr>
              <a:t>OpenAI's</a:t>
            </a:r>
            <a:r>
              <a:rPr lang="en-US" dirty="0">
                <a:latin typeface="Times New Roman" panose="02020603050405020304" pitchFamily="18" charset="0"/>
                <a:cs typeface="Times New Roman" panose="02020603050405020304" pitchFamily="18" charset="0"/>
              </a:rPr>
              <a:t> GPT-3 and Google's Palm 2, that handle billions of training data parameters and generate text output.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6788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Language </a:t>
            </a:r>
            <a:r>
              <a:rPr lang="en-IN" b="1" dirty="0" err="1">
                <a:latin typeface="Times New Roman" panose="02020603050405020304" pitchFamily="18" charset="0"/>
                <a:cs typeface="Times New Roman" panose="02020603050405020304" pitchFamily="18" charset="0"/>
              </a:rPr>
              <a:t>modeling</a:t>
            </a:r>
            <a:r>
              <a:rPr lang="en-IN" b="1" dirty="0">
                <a:latin typeface="Times New Roman" panose="02020603050405020304" pitchFamily="18" charset="0"/>
                <a:cs typeface="Times New Roman" panose="02020603050405020304" pitchFamily="18" charset="0"/>
              </a:rPr>
              <a:t> types: </a:t>
            </a:r>
            <a:r>
              <a:rPr lang="en-IN" dirty="0">
                <a:latin typeface="Times New Roman" panose="02020603050405020304" pitchFamily="18" charset="0"/>
                <a:cs typeface="Times New Roman" panose="02020603050405020304" pitchFamily="18" charset="0"/>
              </a:rPr>
              <a:t>N-gram character models</a:t>
            </a:r>
          </a:p>
        </p:txBody>
      </p:sp>
      <p:sp>
        <p:nvSpPr>
          <p:cNvPr id="3" name="Content Placeholder 2"/>
          <p:cNvSpPr>
            <a:spLocks noGrp="1"/>
          </p:cNvSpPr>
          <p:nvPr>
            <p:ph idx="1"/>
          </p:nvPr>
        </p:nvSpPr>
        <p:spPr>
          <a:xfrm>
            <a:off x="457200" y="1600200"/>
            <a:ext cx="8229600" cy="5141168"/>
          </a:xfrm>
        </p:spPr>
        <p:txBody>
          <a:bodyPr>
            <a:normAutofit fontScale="77500" lnSpcReduction="20000"/>
          </a:bodyPr>
          <a:lstStyle/>
          <a:p>
            <a:pPr algn="just"/>
            <a:r>
              <a:rPr lang="en-IN" b="1" dirty="0">
                <a:latin typeface="Times New Roman" panose="02020603050405020304" pitchFamily="18" charset="0"/>
                <a:cs typeface="Times New Roman" panose="02020603050405020304" pitchFamily="18" charset="0"/>
              </a:rPr>
              <a:t>N-gram </a:t>
            </a:r>
            <a:r>
              <a:rPr lang="en-IN" dirty="0">
                <a:latin typeface="Times New Roman" panose="02020603050405020304" pitchFamily="18" charset="0"/>
                <a:cs typeface="Times New Roman" panose="02020603050405020304" pitchFamily="18" charset="0"/>
              </a:rPr>
              <a:t>– </a:t>
            </a:r>
            <a:r>
              <a:rPr lang="en-IN" sz="2600" dirty="0">
                <a:latin typeface="Times New Roman" panose="02020603050405020304" pitchFamily="18" charset="0"/>
                <a:cs typeface="Times New Roman" panose="02020603050405020304" pitchFamily="18" charset="0"/>
              </a:rPr>
              <a:t>T</a:t>
            </a:r>
            <a:r>
              <a:rPr lang="en-US" sz="2600" dirty="0">
                <a:latin typeface="Times New Roman" panose="02020603050405020304" pitchFamily="18" charset="0"/>
                <a:cs typeface="Times New Roman" panose="02020603050405020304" pitchFamily="18" charset="0"/>
              </a:rPr>
              <a:t>his is a simple approach to a language model creates a probability distribution for a </a:t>
            </a:r>
            <a:r>
              <a:rPr lang="en-US" sz="2600" dirty="0">
                <a:solidFill>
                  <a:srgbClr val="FF0000"/>
                </a:solidFill>
                <a:latin typeface="Times New Roman" panose="02020603050405020304" pitchFamily="18" charset="0"/>
                <a:cs typeface="Times New Roman" panose="02020603050405020304" pitchFamily="18" charset="0"/>
              </a:rPr>
              <a:t>sequence of n</a:t>
            </a:r>
            <a:r>
              <a:rPr lang="en-US" sz="2600" dirty="0">
                <a:latin typeface="Times New Roman" panose="02020603050405020304" pitchFamily="18" charset="0"/>
                <a:cs typeface="Times New Roman" panose="02020603050405020304" pitchFamily="18" charset="0"/>
              </a:rPr>
              <a:t>. The n can be any number and defines the size of the </a:t>
            </a:r>
            <a:r>
              <a:rPr lang="en-US" sz="2600" dirty="0">
                <a:solidFill>
                  <a:srgbClr val="FF0000"/>
                </a:solidFill>
                <a:latin typeface="Times New Roman" panose="02020603050405020304" pitchFamily="18" charset="0"/>
                <a:cs typeface="Times New Roman" panose="02020603050405020304" pitchFamily="18" charset="0"/>
              </a:rPr>
              <a:t>gram, or sequence of words</a:t>
            </a:r>
            <a:r>
              <a:rPr lang="en-US" sz="2600" dirty="0">
                <a:latin typeface="Times New Roman" panose="02020603050405020304" pitchFamily="18" charset="0"/>
                <a:cs typeface="Times New Roman" panose="02020603050405020304" pitchFamily="18" charset="0"/>
              </a:rPr>
              <a:t>. This allows the model to accurately predict the next word or variable in a sentence. </a:t>
            </a:r>
            <a:endParaRPr lang="en-IN" sz="2600"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Unigram- </a:t>
            </a:r>
            <a:r>
              <a:rPr lang="en-US" sz="2600" dirty="0">
                <a:latin typeface="Times New Roman" panose="02020603050405020304" pitchFamily="18" charset="0"/>
                <a:cs typeface="Times New Roman" panose="02020603050405020304" pitchFamily="18" charset="0"/>
              </a:rPr>
              <a:t> It evaluates each word or term independently. Unigram models commonly handle language processing tasks such as information retrieval. </a:t>
            </a:r>
            <a:endParaRPr lang="en-IN" sz="2600"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Bidirectional- </a:t>
            </a:r>
            <a:r>
              <a:rPr lang="en-US" dirty="0"/>
              <a:t> </a:t>
            </a:r>
            <a:r>
              <a:rPr lang="en-US" sz="2600" dirty="0">
                <a:latin typeface="Times New Roman" panose="02020603050405020304" pitchFamily="18" charset="0"/>
                <a:cs typeface="Times New Roman" panose="02020603050405020304" pitchFamily="18" charset="0"/>
              </a:rPr>
              <a:t>Unlike n-gram models, which analyze text in one direction, backward, bidirectional models analyze text in both directions, backward and forward. </a:t>
            </a:r>
            <a:endParaRPr lang="en-IN" sz="2600"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Exponential - </a:t>
            </a:r>
            <a:r>
              <a:rPr lang="en-US" sz="2600" dirty="0">
                <a:latin typeface="Times New Roman" panose="02020603050405020304" pitchFamily="18" charset="0"/>
                <a:cs typeface="Times New Roman" panose="02020603050405020304" pitchFamily="18" charset="0"/>
              </a:rPr>
              <a:t>it evaluates text using an equation that combines feature functions and n-grams. </a:t>
            </a:r>
            <a:endParaRPr lang="en-IN" sz="2600" dirty="0">
              <a:latin typeface="Times New Roman" panose="02020603050405020304" pitchFamily="18" charset="0"/>
              <a:cs typeface="Times New Roman" panose="02020603050405020304" pitchFamily="18" charset="0"/>
            </a:endParaRPr>
          </a:p>
          <a:p>
            <a:pPr algn="just"/>
            <a:r>
              <a:rPr lang="en-IN" sz="3100" b="1" dirty="0">
                <a:latin typeface="Times New Roman" panose="02020603050405020304" pitchFamily="18" charset="0"/>
                <a:cs typeface="Times New Roman" panose="02020603050405020304" pitchFamily="18" charset="0"/>
              </a:rPr>
              <a:t>Neural language models </a:t>
            </a:r>
            <a:r>
              <a:rPr lang="en-IN" sz="31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Neural language models use deep learning techniques to overcome the limitations of n-gram models. These models use neural networks, such as recurrent neural networks (RNNs), and transformers to capture complex patterns and dependencies in text. </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9919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N-gram character models</a:t>
            </a:r>
          </a:p>
        </p:txBody>
      </p:sp>
      <p:sp>
        <p:nvSpPr>
          <p:cNvPr id="3" name="Content Placeholder 2"/>
          <p:cNvSpPr>
            <a:spLocks noGrp="1"/>
          </p:cNvSpPr>
          <p:nvPr>
            <p:ph idx="1"/>
          </p:nvPr>
        </p:nvSpPr>
        <p:spPr/>
        <p:txBody>
          <a:bodyPr>
            <a:normAutofit fontScale="92500" lnSpcReduction="20000"/>
          </a:bodyPr>
          <a:lstStyle/>
          <a:p>
            <a:pPr algn="just"/>
            <a:r>
              <a:rPr lang="en-US" dirty="0"/>
              <a:t>A </a:t>
            </a:r>
            <a:r>
              <a:rPr lang="en-US" dirty="0">
                <a:latin typeface="Times New Roman" panose="02020603050405020304" pitchFamily="18" charset="0"/>
                <a:cs typeface="Times New Roman" panose="02020603050405020304" pitchFamily="18" charset="0"/>
              </a:rPr>
              <a:t>written text is composed of characters—letters, digits, punctuation, and spaces in English.</a:t>
            </a:r>
          </a:p>
          <a:p>
            <a:pPr algn="just"/>
            <a:r>
              <a:rPr lang="en-US" dirty="0">
                <a:latin typeface="Times New Roman" panose="02020603050405020304" pitchFamily="18" charset="0"/>
                <a:cs typeface="Times New Roman" panose="02020603050405020304" pitchFamily="18" charset="0"/>
              </a:rPr>
              <a:t>Thus, one of the simplest language models is a </a:t>
            </a:r>
            <a:r>
              <a:rPr lang="en-US" dirty="0">
                <a:solidFill>
                  <a:srgbClr val="FF0000"/>
                </a:solidFill>
                <a:latin typeface="Times New Roman" panose="02020603050405020304" pitchFamily="18" charset="0"/>
                <a:cs typeface="Times New Roman" panose="02020603050405020304" pitchFamily="18" charset="0"/>
              </a:rPr>
              <a:t>probability distribution over sequences of characters</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A sequence of written symbols of length n is called an n-gram , with special case “unigram” for 1-gram, “bigram” for 2-gram, and “trigram” for 3-gram.</a:t>
            </a:r>
          </a:p>
          <a:p>
            <a:pPr algn="just"/>
            <a:r>
              <a:rPr lang="en-IN" dirty="0">
                <a:latin typeface="Times New Roman" panose="02020603050405020304" pitchFamily="18" charset="0"/>
                <a:cs typeface="Times New Roman" panose="02020603050405020304" pitchFamily="18" charset="0"/>
              </a:rPr>
              <a:t>A model of the </a:t>
            </a:r>
            <a:r>
              <a:rPr lang="en-US" dirty="0">
                <a:latin typeface="Times New Roman" panose="02020603050405020304" pitchFamily="18" charset="0"/>
                <a:cs typeface="Times New Roman" panose="02020603050405020304" pitchFamily="18" charset="0"/>
              </a:rPr>
              <a:t>probability distribution of n-letter sequences is thus called an n-gram model.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8758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N-gram character models</a:t>
            </a:r>
            <a:endParaRPr lang="en-IN"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An n-gram model is defined as a Markov chain of order n − 1.</a:t>
            </a:r>
          </a:p>
          <a:p>
            <a:pPr algn="just"/>
            <a:r>
              <a:rPr lang="en-US" dirty="0">
                <a:latin typeface="Times New Roman" panose="02020603050405020304" pitchFamily="18" charset="0"/>
                <a:cs typeface="Times New Roman" panose="02020603050405020304" pitchFamily="18" charset="0"/>
              </a:rPr>
              <a:t>In a Markov chain the probability of character c</a:t>
            </a:r>
            <a:r>
              <a:rPr lang="en-US" sz="2800" dirty="0">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depends only on the immediately preceding characters, </a:t>
            </a:r>
            <a:r>
              <a:rPr lang="en-US" dirty="0">
                <a:latin typeface="Times New Roman" panose="02020603050405020304" pitchFamily="18" charset="0"/>
                <a:cs typeface="Times New Roman" panose="02020603050405020304" pitchFamily="18" charset="0"/>
              </a:rPr>
              <a:t>not on any other characters. </a:t>
            </a:r>
          </a:p>
          <a:p>
            <a:pPr algn="just"/>
            <a:r>
              <a:rPr lang="en-IN" dirty="0">
                <a:latin typeface="Times New Roman" panose="02020603050405020304" pitchFamily="18" charset="0"/>
                <a:cs typeface="Times New Roman" panose="02020603050405020304" pitchFamily="18" charset="0"/>
              </a:rPr>
              <a:t>So in a trigram model we have</a:t>
            </a:r>
          </a:p>
          <a:p>
            <a:pPr algn="just"/>
            <a:endParaRPr lang="en-IN"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4941168"/>
            <a:ext cx="5184576" cy="686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38555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N-gram character models</a:t>
            </a:r>
            <a:endParaRPr lang="en-IN" dirty="0"/>
          </a:p>
        </p:txBody>
      </p:sp>
      <p:sp>
        <p:nvSpPr>
          <p:cNvPr id="3" name="Content Placeholder 2"/>
          <p:cNvSpPr>
            <a:spLocks noGrp="1"/>
          </p:cNvSpPr>
          <p:nvPr>
            <p:ph idx="1"/>
          </p:nvPr>
        </p:nvSpPr>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We can define the probability of a sequence of characters P(c1:N ) under the trigram model by first factoring with the chain rule and then using the Markov assumption:</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For a trigram character model in a language with 100 characters, P(Ci|Ci−2:i−1) has a million entries, and can be accurately estimated by counting character sequences in a body of text of 10 million characters or more.</a:t>
            </a:r>
          </a:p>
          <a:p>
            <a:pPr algn="just"/>
            <a:endParaRPr lang="en-IN" dirty="0">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3356992"/>
            <a:ext cx="6264696"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1407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N-gram character models</a:t>
            </a:r>
            <a:endParaRPr lang="en-IN" dirty="0"/>
          </a:p>
        </p:txBody>
      </p:sp>
      <p:sp>
        <p:nvSpPr>
          <p:cNvPr id="3" name="Content Placeholder 2"/>
          <p:cNvSpPr>
            <a:spLocks noGrp="1"/>
          </p:cNvSpPr>
          <p:nvPr>
            <p:ph idx="1"/>
          </p:nvPr>
        </p:nvSpPr>
        <p:spPr/>
        <p:txBody>
          <a:bodyPr>
            <a:normAutofit fontScale="85000" lnSpcReduction="10000"/>
          </a:bodyPr>
          <a:lstStyle/>
          <a:p>
            <a:r>
              <a:rPr lang="en-IN" b="1" dirty="0">
                <a:latin typeface="Times New Roman" panose="02020603050405020304" pitchFamily="18" charset="0"/>
                <a:cs typeface="Times New Roman" panose="02020603050405020304" pitchFamily="18" charset="0"/>
              </a:rPr>
              <a:t>language identification: </a:t>
            </a:r>
            <a:r>
              <a:rPr lang="en-IN" dirty="0">
                <a:latin typeface="Times New Roman" panose="02020603050405020304" pitchFamily="18" charset="0"/>
                <a:cs typeface="Times New Roman" panose="02020603050405020304" pitchFamily="18" charset="0"/>
              </a:rPr>
              <a:t>with n-gram character models we can identify language </a:t>
            </a:r>
          </a:p>
          <a:p>
            <a:r>
              <a:rPr lang="en-US" dirty="0">
                <a:latin typeface="Times New Roman" panose="02020603050405020304" pitchFamily="18" charset="0"/>
                <a:cs typeface="Times New Roman" panose="02020603050405020304" pitchFamily="18" charset="0"/>
              </a:rPr>
              <a:t>Given a text, determine what natural language it is written in. </a:t>
            </a:r>
          </a:p>
          <a:p>
            <a:pPr algn="just"/>
            <a:r>
              <a:rPr lang="en-US" dirty="0">
                <a:latin typeface="Times New Roman" panose="02020603050405020304" pitchFamily="18" charset="0"/>
                <a:cs typeface="Times New Roman" panose="02020603050405020304" pitchFamily="18" charset="0"/>
              </a:rPr>
              <a:t>This is a relatively easy task; even with short texts such as “Hello, world” or “</a:t>
            </a:r>
            <a:r>
              <a:rPr lang="en-US" dirty="0" err="1">
                <a:latin typeface="Times New Roman" panose="02020603050405020304" pitchFamily="18" charset="0"/>
                <a:cs typeface="Times New Roman" panose="02020603050405020304" pitchFamily="18" charset="0"/>
              </a:rPr>
              <a:t>Wie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geht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dir</a:t>
            </a:r>
            <a:r>
              <a:rPr lang="en-US" dirty="0">
                <a:latin typeface="Times New Roman" panose="02020603050405020304" pitchFamily="18" charset="0"/>
                <a:cs typeface="Times New Roman" panose="02020603050405020304" pitchFamily="18" charset="0"/>
              </a:rPr>
              <a:t>,” it is easy to identify the first as English and the second as German.</a:t>
            </a:r>
          </a:p>
          <a:p>
            <a:pPr algn="just"/>
            <a:r>
              <a:rPr lang="en-US" dirty="0">
                <a:latin typeface="Times New Roman" panose="02020603050405020304" pitchFamily="18" charset="0"/>
                <a:cs typeface="Times New Roman" panose="02020603050405020304" pitchFamily="18" charset="0"/>
              </a:rPr>
              <a:t>Computer systems </a:t>
            </a:r>
            <a:r>
              <a:rPr lang="en-US" dirty="0">
                <a:solidFill>
                  <a:srgbClr val="FF0000"/>
                </a:solidFill>
                <a:latin typeface="Times New Roman" panose="02020603050405020304" pitchFamily="18" charset="0"/>
                <a:cs typeface="Times New Roman" panose="02020603050405020304" pitchFamily="18" charset="0"/>
              </a:rPr>
              <a:t>identify</a:t>
            </a:r>
            <a:r>
              <a:rPr lang="en-US" dirty="0">
                <a:latin typeface="Times New Roman" panose="02020603050405020304" pitchFamily="18" charset="0"/>
                <a:cs typeface="Times New Roman" panose="02020603050405020304" pitchFamily="18" charset="0"/>
              </a:rPr>
              <a:t> languages with greater than </a:t>
            </a:r>
            <a:r>
              <a:rPr lang="en-US" dirty="0">
                <a:solidFill>
                  <a:srgbClr val="FF0000"/>
                </a:solidFill>
                <a:latin typeface="Times New Roman" panose="02020603050405020304" pitchFamily="18" charset="0"/>
                <a:cs typeface="Times New Roman" panose="02020603050405020304" pitchFamily="18" charset="0"/>
              </a:rPr>
              <a:t>99% accuracy</a:t>
            </a:r>
            <a:r>
              <a:rPr lang="en-US" dirty="0">
                <a:latin typeface="Times New Roman" panose="02020603050405020304" pitchFamily="18" charset="0"/>
                <a:cs typeface="Times New Roman" panose="02020603050405020304" pitchFamily="18" charset="0"/>
              </a:rPr>
              <a:t>; occasionally, closely related languages, such as </a:t>
            </a:r>
            <a:r>
              <a:rPr lang="en-US" dirty="0">
                <a:solidFill>
                  <a:srgbClr val="FF0000"/>
                </a:solidFill>
                <a:latin typeface="Times New Roman" panose="02020603050405020304" pitchFamily="18" charset="0"/>
                <a:cs typeface="Times New Roman" panose="02020603050405020304" pitchFamily="18" charset="0"/>
              </a:rPr>
              <a:t>Swedish and Norwegian, are confused</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96101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N-gram character models</a:t>
            </a:r>
            <a:endParaRPr lang="en-IN" dirty="0"/>
          </a:p>
        </p:txBody>
      </p:sp>
      <p:sp>
        <p:nvSpPr>
          <p:cNvPr id="3" name="Content Placeholder 2"/>
          <p:cNvSpPr>
            <a:spLocks noGrp="1"/>
          </p:cNvSpPr>
          <p:nvPr>
            <p:ph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One approach to language identification is to first build a trigram character model of each candidate language,                              where the variable</a:t>
            </a:r>
            <a:r>
              <a:rPr lang="en-US" i="1" dirty="0">
                <a:latin typeface="Times New Roman" panose="02020603050405020304" pitchFamily="18" charset="0"/>
                <a:cs typeface="Times New Roman" panose="02020603050405020304" pitchFamily="18" charset="0"/>
              </a:rPr>
              <a:t> l </a:t>
            </a:r>
            <a:r>
              <a:rPr lang="en-US" dirty="0">
                <a:latin typeface="Times New Roman" panose="02020603050405020304" pitchFamily="18" charset="0"/>
                <a:cs typeface="Times New Roman" panose="02020603050405020304" pitchFamily="18" charset="0"/>
              </a:rPr>
              <a:t>ranges over languages. </a:t>
            </a:r>
            <a:endParaRPr lang="en-IN"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For each </a:t>
            </a:r>
            <a:r>
              <a:rPr lang="en-US" i="1" dirty="0">
                <a:latin typeface="Times New Roman" panose="02020603050405020304" pitchFamily="18" charset="0"/>
                <a:cs typeface="Times New Roman" panose="02020603050405020304" pitchFamily="18" charset="0"/>
              </a:rPr>
              <a:t>l</a:t>
            </a:r>
            <a:r>
              <a:rPr lang="en-US" dirty="0">
                <a:latin typeface="Times New Roman" panose="02020603050405020304" pitchFamily="18" charset="0"/>
                <a:cs typeface="Times New Roman" panose="02020603050405020304" pitchFamily="18" charset="0"/>
              </a:rPr>
              <a:t> the model is built by counting trigrams in a corpus of that language.</a:t>
            </a:r>
          </a:p>
          <a:p>
            <a:pPr algn="just"/>
            <a:r>
              <a:rPr lang="en-US" dirty="0">
                <a:latin typeface="Times New Roman" panose="02020603050405020304" pitchFamily="18" charset="0"/>
                <a:cs typeface="Times New Roman" panose="02020603050405020304" pitchFamily="18" charset="0"/>
              </a:rPr>
              <a:t>That gives us a model of P(Text | Language), but we want to select the most probable language given the text, so we apply Bayes’ rule followed by the Markov assumption to get the most probable language</a:t>
            </a:r>
            <a:endParaRPr lang="en-IN"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7" y="2708920"/>
            <a:ext cx="2765107"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5082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N-gram character models</a:t>
            </a:r>
            <a:endParaRPr lang="en-IN" dirty="0"/>
          </a:p>
        </p:txBody>
      </p:sp>
      <p:sp>
        <p:nvSpPr>
          <p:cNvPr id="3" name="Content Placeholder 2"/>
          <p:cNvSpPr>
            <a:spLocks noGrp="1"/>
          </p:cNvSpPr>
          <p:nvPr>
            <p:ph idx="1"/>
          </p:nvPr>
        </p:nvSpPr>
        <p:spPr/>
        <p:txBody>
          <a:bodyPr/>
          <a:lstStyle/>
          <a:p>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628800"/>
            <a:ext cx="7048935" cy="36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1271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latin typeface="Times New Roman" panose="02020603050405020304" pitchFamily="18" charset="0"/>
                <a:cs typeface="Times New Roman" panose="02020603050405020304" pitchFamily="18" charset="0"/>
              </a:rPr>
              <a:t>Smoothing n-gram models</a:t>
            </a:r>
          </a:p>
        </p:txBody>
      </p:sp>
      <p:sp>
        <p:nvSpPr>
          <p:cNvPr id="3" name="Content Placeholder 2"/>
          <p:cNvSpPr>
            <a:spLocks noGrp="1"/>
          </p:cNvSpPr>
          <p:nvPr>
            <p:ph idx="1"/>
          </p:nvPr>
        </p:nvSpPr>
        <p:spPr/>
        <p:txBody>
          <a:bodyPr>
            <a:normAutofit fontScale="85000" lnSpcReduction="20000"/>
          </a:bodyPr>
          <a:lstStyle/>
          <a:p>
            <a:pPr algn="just"/>
            <a:r>
              <a:rPr lang="en-IN" dirty="0">
                <a:latin typeface="Times New Roman" panose="02020603050405020304" pitchFamily="18" charset="0"/>
                <a:cs typeface="Times New Roman" panose="02020603050405020304" pitchFamily="18" charset="0"/>
              </a:rPr>
              <a:t>The process of </a:t>
            </a:r>
            <a:r>
              <a:rPr lang="en-IN" dirty="0">
                <a:solidFill>
                  <a:srgbClr val="FF0000"/>
                </a:solidFill>
                <a:latin typeface="Times New Roman" panose="02020603050405020304" pitchFamily="18" charset="0"/>
                <a:cs typeface="Times New Roman" panose="02020603050405020304" pitchFamily="18" charset="0"/>
              </a:rPr>
              <a:t>adjusting</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probability of </a:t>
            </a:r>
            <a:r>
              <a:rPr lang="en-US" dirty="0">
                <a:solidFill>
                  <a:srgbClr val="FF0000"/>
                </a:solidFill>
                <a:latin typeface="Times New Roman" panose="02020603050405020304" pitchFamily="18" charset="0"/>
                <a:cs typeface="Times New Roman" panose="02020603050405020304" pitchFamily="18" charset="0"/>
              </a:rPr>
              <a:t>low-frequency</a:t>
            </a:r>
            <a:r>
              <a:rPr lang="en-US" dirty="0">
                <a:latin typeface="Times New Roman" panose="02020603050405020304" pitchFamily="18" charset="0"/>
                <a:cs typeface="Times New Roman" panose="02020603050405020304" pitchFamily="18" charset="0"/>
              </a:rPr>
              <a:t> counts is called smoothing.</a:t>
            </a:r>
          </a:p>
          <a:p>
            <a:pPr algn="just"/>
            <a:r>
              <a:rPr lang="en-US" dirty="0">
                <a:latin typeface="Times New Roman" panose="02020603050405020304" pitchFamily="18" charset="0"/>
                <a:cs typeface="Times New Roman" panose="02020603050405020304" pitchFamily="18" charset="0"/>
              </a:rPr>
              <a:t>The simplest type of smoothing was suggested by Pierre-Simon Laplace in the 18th century: if a random Boolean variable X has been false in all n observations so far then the estimate for P(X = true) should be 1/(n+ 2).</a:t>
            </a:r>
          </a:p>
          <a:p>
            <a:pPr algn="just"/>
            <a:r>
              <a:rPr lang="en-US" dirty="0">
                <a:latin typeface="Times New Roman" panose="02020603050405020304" pitchFamily="18" charset="0"/>
                <a:cs typeface="Times New Roman" panose="02020603050405020304" pitchFamily="18" charset="0"/>
              </a:rPr>
              <a:t>That is, he assumes that </a:t>
            </a:r>
            <a:r>
              <a:rPr lang="en-US" dirty="0">
                <a:solidFill>
                  <a:srgbClr val="FF0000"/>
                </a:solidFill>
                <a:latin typeface="Times New Roman" panose="02020603050405020304" pitchFamily="18" charset="0"/>
                <a:cs typeface="Times New Roman" panose="02020603050405020304" pitchFamily="18" charset="0"/>
              </a:rPr>
              <a:t>with two more trials</a:t>
            </a:r>
            <a:r>
              <a:rPr lang="en-US" dirty="0">
                <a:latin typeface="Times New Roman" panose="02020603050405020304" pitchFamily="18" charset="0"/>
                <a:cs typeface="Times New Roman" panose="02020603050405020304" pitchFamily="18" charset="0"/>
              </a:rPr>
              <a:t>, one might be true and one false.</a:t>
            </a:r>
          </a:p>
          <a:p>
            <a:pPr algn="just"/>
            <a:r>
              <a:rPr lang="en-US" dirty="0">
                <a:latin typeface="Times New Roman" panose="02020603050405020304" pitchFamily="18" charset="0"/>
                <a:cs typeface="Times New Roman" panose="02020603050405020304" pitchFamily="18" charset="0"/>
              </a:rPr>
              <a:t>Laplace smoothing (also called add-one smoothing) is a step in the right direction, but performs relatively poorly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3909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IN" dirty="0">
                <a:latin typeface="Times New Roman" panose="02020603050405020304" pitchFamily="18" charset="0"/>
                <a:cs typeface="Times New Roman" panose="02020603050405020304" pitchFamily="18" charset="0"/>
              </a:rPr>
              <a:t>Smoothing n-gram models</a:t>
            </a:r>
            <a:endParaRPr lang="en-IN" dirty="0"/>
          </a:p>
        </p:txBody>
      </p:sp>
      <p:sp>
        <p:nvSpPr>
          <p:cNvPr id="3" name="Content Placeholder 2"/>
          <p:cNvSpPr>
            <a:spLocks noGrp="1"/>
          </p:cNvSpPr>
          <p:nvPr>
            <p:ph idx="1"/>
          </p:nvPr>
        </p:nvSpPr>
        <p:spPr>
          <a:xfrm>
            <a:off x="457200" y="1124744"/>
            <a:ext cx="8229600" cy="5001419"/>
          </a:xfrm>
        </p:spPr>
        <p:txBody>
          <a:bodyPr>
            <a:normAutofit/>
          </a:bodyPr>
          <a:lstStyle/>
          <a:p>
            <a:pPr algn="just"/>
            <a:r>
              <a:rPr lang="en-US" dirty="0">
                <a:latin typeface="Times New Roman" panose="02020603050405020304" pitchFamily="18" charset="0"/>
                <a:cs typeface="Times New Roman" panose="02020603050405020304" pitchFamily="18" charset="0"/>
              </a:rPr>
              <a:t>A better approach is a back-off model, in which we start by estimating n-gram counts, but for any particular sequence that has a low (or zero) count, we back off to (n − 1)-grams. </a:t>
            </a:r>
          </a:p>
          <a:p>
            <a:pPr algn="just"/>
            <a:r>
              <a:rPr lang="en-US" dirty="0">
                <a:latin typeface="Times New Roman" panose="02020603050405020304" pitchFamily="18" charset="0"/>
                <a:cs typeface="Times New Roman" panose="02020603050405020304" pitchFamily="18" charset="0"/>
              </a:rPr>
              <a:t>Linear interpolation smoothing is a </a:t>
            </a:r>
            <a:r>
              <a:rPr lang="en-US" dirty="0" err="1">
                <a:latin typeface="Times New Roman" panose="02020603050405020304" pitchFamily="18" charset="0"/>
                <a:cs typeface="Times New Roman" panose="02020603050405020304" pitchFamily="18" charset="0"/>
              </a:rPr>
              <a:t>backoff</a:t>
            </a:r>
            <a:r>
              <a:rPr lang="en-US" dirty="0">
                <a:latin typeface="Times New Roman" panose="02020603050405020304" pitchFamily="18" charset="0"/>
                <a:cs typeface="Times New Roman" panose="02020603050405020304" pitchFamily="18" charset="0"/>
              </a:rPr>
              <a:t> model that combines trigram, bigram, and unigram models by linear interpolation. </a:t>
            </a:r>
          </a:p>
          <a:p>
            <a:pPr algn="just"/>
            <a:r>
              <a:rPr lang="en-US" dirty="0">
                <a:latin typeface="Times New Roman" panose="02020603050405020304" pitchFamily="18" charset="0"/>
                <a:cs typeface="Times New Roman" panose="02020603050405020304" pitchFamily="18" charset="0"/>
              </a:rPr>
              <a:t>It defines the probability estimate as</a:t>
            </a:r>
            <a:endParaRPr lang="en-IN" dirty="0">
              <a:latin typeface="Times New Roman" panose="02020603050405020304" pitchFamily="18" charset="0"/>
              <a:cs typeface="Times New Roman" panose="02020603050405020304"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5733256"/>
            <a:ext cx="684076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950" y="6272954"/>
            <a:ext cx="2676922" cy="429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00324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Information retrieval (IR)</a:t>
            </a:r>
          </a:p>
        </p:txBody>
      </p:sp>
      <p:sp>
        <p:nvSpPr>
          <p:cNvPr id="3" name="Content Placeholder 2"/>
          <p:cNvSpPr>
            <a:spLocks noGrp="1"/>
          </p:cNvSpPr>
          <p:nvPr>
            <p:ph idx="1"/>
          </p:nvPr>
        </p:nvSpPr>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Information retrieval is the task of finding </a:t>
            </a:r>
            <a:r>
              <a:rPr lang="en-US" b="1" dirty="0">
                <a:solidFill>
                  <a:srgbClr val="FF0000"/>
                </a:solidFill>
                <a:latin typeface="Times New Roman" panose="02020603050405020304" pitchFamily="18" charset="0"/>
                <a:cs typeface="Times New Roman" panose="02020603050405020304" pitchFamily="18" charset="0"/>
              </a:rPr>
              <a:t>documents</a:t>
            </a:r>
            <a:r>
              <a:rPr lang="en-US" dirty="0">
                <a:latin typeface="Times New Roman" panose="02020603050405020304" pitchFamily="18" charset="0"/>
                <a:cs typeface="Times New Roman" panose="02020603050405020304" pitchFamily="18" charset="0"/>
              </a:rPr>
              <a:t> that are relevant to a user’s need for information. The best-known examples of information retrieval systems are </a:t>
            </a:r>
            <a:r>
              <a:rPr lang="en-US" dirty="0">
                <a:solidFill>
                  <a:srgbClr val="FF0000"/>
                </a:solidFill>
                <a:latin typeface="Times New Roman" panose="02020603050405020304" pitchFamily="18" charset="0"/>
                <a:cs typeface="Times New Roman" panose="02020603050405020304" pitchFamily="18" charset="0"/>
              </a:rPr>
              <a:t>search engines </a:t>
            </a:r>
            <a:r>
              <a:rPr lang="en-US" dirty="0">
                <a:latin typeface="Times New Roman" panose="02020603050405020304" pitchFamily="18" charset="0"/>
                <a:cs typeface="Times New Roman" panose="02020603050405020304" pitchFamily="18" charset="0"/>
              </a:rPr>
              <a:t>on the World Wide Web.</a:t>
            </a:r>
          </a:p>
          <a:p>
            <a:pPr algn="just"/>
            <a:r>
              <a:rPr lang="en-IN" dirty="0">
                <a:latin typeface="Times New Roman" panose="02020603050405020304" pitchFamily="18" charset="0"/>
                <a:cs typeface="Times New Roman" panose="02020603050405020304" pitchFamily="18" charset="0"/>
              </a:rPr>
              <a:t>An  </a:t>
            </a:r>
            <a:r>
              <a:rPr lang="en-US" dirty="0">
                <a:latin typeface="Times New Roman" panose="02020603050405020304" pitchFamily="18" charset="0"/>
                <a:cs typeface="Times New Roman" panose="02020603050405020304" pitchFamily="18" charset="0"/>
              </a:rPr>
              <a:t>information retrieval system can be characterized by:</a:t>
            </a:r>
          </a:p>
          <a:p>
            <a:pPr lvl="1"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A corpus of documents. </a:t>
            </a:r>
            <a:r>
              <a:rPr lang="en-US" dirty="0">
                <a:latin typeface="Times New Roman" panose="02020603050405020304" pitchFamily="18" charset="0"/>
                <a:cs typeface="Times New Roman" panose="02020603050405020304" pitchFamily="18" charset="0"/>
              </a:rPr>
              <a:t>Each system must decide what it wants to treat as a document: a paragraph, a page, or a multipage text.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9149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Information retrieval</a:t>
            </a:r>
            <a:endParaRPr lang="en-IN" dirty="0"/>
          </a:p>
        </p:txBody>
      </p:sp>
      <p:sp>
        <p:nvSpPr>
          <p:cNvPr id="3" name="Content Placeholder 2"/>
          <p:cNvSpPr>
            <a:spLocks noGrp="1"/>
          </p:cNvSpPr>
          <p:nvPr>
            <p:ph idx="1"/>
          </p:nvPr>
        </p:nvSpPr>
        <p:spPr/>
        <p:txBody>
          <a:bodyPr>
            <a:normAutofit fontScale="92500" lnSpcReduction="20000"/>
          </a:bodyPr>
          <a:lstStyle/>
          <a:p>
            <a:pPr lvl="1"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 Queries posed in a query language. </a:t>
            </a:r>
            <a:r>
              <a:rPr lang="en-US" dirty="0">
                <a:latin typeface="Times New Roman" panose="02020603050405020304" pitchFamily="18" charset="0"/>
                <a:cs typeface="Times New Roman" panose="02020603050405020304" pitchFamily="18" charset="0"/>
              </a:rPr>
              <a:t>A query specifies what the user wants to know. The query language can be just a list of words, such as [AI book]; or it can specify a phrase of words that must be adjacent, as in [“AI book”];</a:t>
            </a:r>
          </a:p>
          <a:p>
            <a:pPr lvl="1"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 A result set. </a:t>
            </a:r>
            <a:r>
              <a:rPr lang="en-US" dirty="0">
                <a:latin typeface="Times New Roman" panose="02020603050405020304" pitchFamily="18" charset="0"/>
                <a:cs typeface="Times New Roman" panose="02020603050405020304" pitchFamily="18" charset="0"/>
              </a:rPr>
              <a:t>This is the subset of documents that the IR system judges to be relevant to </a:t>
            </a:r>
            <a:r>
              <a:rPr lang="en-IN" dirty="0">
                <a:latin typeface="Times New Roman" panose="02020603050405020304" pitchFamily="18" charset="0"/>
                <a:cs typeface="Times New Roman" panose="02020603050405020304" pitchFamily="18" charset="0"/>
              </a:rPr>
              <a:t>the query. </a:t>
            </a:r>
          </a:p>
          <a:p>
            <a:pPr lvl="1"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 A presentation of the result set. </a:t>
            </a:r>
            <a:r>
              <a:rPr lang="en-US" dirty="0">
                <a:latin typeface="Times New Roman" panose="02020603050405020304" pitchFamily="18" charset="0"/>
                <a:cs typeface="Times New Roman" panose="02020603050405020304" pitchFamily="18" charset="0"/>
              </a:rPr>
              <a:t>This can be as simple as a </a:t>
            </a:r>
            <a:r>
              <a:rPr lang="en-US" dirty="0">
                <a:solidFill>
                  <a:srgbClr val="FF0000"/>
                </a:solidFill>
                <a:latin typeface="Times New Roman" panose="02020603050405020304" pitchFamily="18" charset="0"/>
                <a:cs typeface="Times New Roman" panose="02020603050405020304" pitchFamily="18" charset="0"/>
              </a:rPr>
              <a:t>ranked list </a:t>
            </a:r>
            <a:r>
              <a:rPr lang="en-US" dirty="0">
                <a:latin typeface="Times New Roman" panose="02020603050405020304" pitchFamily="18" charset="0"/>
                <a:cs typeface="Times New Roman" panose="02020603050405020304" pitchFamily="18" charset="0"/>
              </a:rPr>
              <a:t>of document titles or as complex as a rotating color map of the result set projected onto a three dimensional space, rendered as a two-dimensional display.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2461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latin typeface="Times New Roman" panose="02020603050405020304" pitchFamily="18" charset="0"/>
                <a:cs typeface="Times New Roman" panose="02020603050405020304" pitchFamily="18" charset="0"/>
              </a:rPr>
              <a:t>IR scoring functions</a:t>
            </a:r>
          </a:p>
        </p:txBody>
      </p:sp>
      <p:sp>
        <p:nvSpPr>
          <p:cNvPr id="3" name="Content Placeholder 2"/>
          <p:cNvSpPr>
            <a:spLocks noGrp="1"/>
          </p:cNvSpPr>
          <p:nvPr>
            <p:ph idx="1"/>
          </p:nvPr>
        </p:nvSpPr>
        <p:spPr/>
        <p:txBody>
          <a:bodyPr>
            <a:normAutofit fontScale="85000" lnSpcReduction="10000"/>
          </a:bodyPr>
          <a:lstStyle/>
          <a:p>
            <a:pPr algn="just"/>
            <a:r>
              <a:rPr lang="en-US" dirty="0">
                <a:latin typeface="Times New Roman" panose="02020603050405020304" pitchFamily="18" charset="0"/>
                <a:cs typeface="Times New Roman" panose="02020603050405020304" pitchFamily="18" charset="0"/>
              </a:rPr>
              <a:t>A scoring function takes a document and a query and returns a </a:t>
            </a:r>
            <a:r>
              <a:rPr lang="en-US" dirty="0">
                <a:solidFill>
                  <a:srgbClr val="FF0000"/>
                </a:solidFill>
                <a:latin typeface="Times New Roman" panose="02020603050405020304" pitchFamily="18" charset="0"/>
                <a:cs typeface="Times New Roman" panose="02020603050405020304" pitchFamily="18" charset="0"/>
              </a:rPr>
              <a:t>numeric score</a:t>
            </a:r>
            <a:r>
              <a:rPr lang="en-US" dirty="0">
                <a:latin typeface="Times New Roman" panose="02020603050405020304" pitchFamily="18" charset="0"/>
                <a:cs typeface="Times New Roman" panose="02020603050405020304" pitchFamily="18" charset="0"/>
              </a:rPr>
              <a:t>; the most relevant documents have the highest scores.</a:t>
            </a:r>
          </a:p>
          <a:p>
            <a:pPr algn="just"/>
            <a:r>
              <a:rPr lang="en-US" dirty="0">
                <a:latin typeface="Times New Roman" panose="02020603050405020304" pitchFamily="18" charset="0"/>
                <a:cs typeface="Times New Roman" panose="02020603050405020304" pitchFamily="18" charset="0"/>
              </a:rPr>
              <a:t>In the BM25 function, the score is a linear weighted combination of scores for each of the words that make up the query. </a:t>
            </a:r>
          </a:p>
          <a:p>
            <a:pPr algn="just"/>
            <a:r>
              <a:rPr lang="en-US" dirty="0">
                <a:latin typeface="Times New Roman" panose="02020603050405020304" pitchFamily="18" charset="0"/>
                <a:cs typeface="Times New Roman" panose="02020603050405020304" pitchFamily="18" charset="0"/>
              </a:rPr>
              <a:t>Three factors affect the weight of a query term: First, the frequency with which a query term appears in a document (also known as TF for term frequency). For the query [farming in Kansas], documents that mention “farming” frequently will have higher scores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1758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IR scoring functions</a:t>
            </a:r>
            <a:endParaRPr lang="en-IN" dirty="0"/>
          </a:p>
        </p:txBody>
      </p:sp>
      <p:sp>
        <p:nvSpPr>
          <p:cNvPr id="3" name="Content Placeholder 2"/>
          <p:cNvSpPr>
            <a:spLocks noGrp="1"/>
          </p:cNvSpPr>
          <p:nvPr>
            <p:ph idx="1"/>
          </p:nvPr>
        </p:nvSpPr>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Second, the </a:t>
            </a:r>
            <a:r>
              <a:rPr lang="en-US" dirty="0">
                <a:solidFill>
                  <a:srgbClr val="FF0000"/>
                </a:solidFill>
                <a:latin typeface="Times New Roman" panose="02020603050405020304" pitchFamily="18" charset="0"/>
                <a:cs typeface="Times New Roman" panose="02020603050405020304" pitchFamily="18" charset="0"/>
              </a:rPr>
              <a:t>inverse document frequency </a:t>
            </a:r>
            <a:r>
              <a:rPr lang="en-US" dirty="0">
                <a:latin typeface="Times New Roman" panose="02020603050405020304" pitchFamily="18" charset="0"/>
                <a:cs typeface="Times New Roman" panose="02020603050405020304" pitchFamily="18" charset="0"/>
              </a:rPr>
              <a:t>of the term, or IDF. The word “</a:t>
            </a:r>
            <a:r>
              <a:rPr lang="en-US" dirty="0">
                <a:solidFill>
                  <a:srgbClr val="FF0000"/>
                </a:solidFill>
                <a:latin typeface="Times New Roman" panose="02020603050405020304" pitchFamily="18" charset="0"/>
                <a:cs typeface="Times New Roman" panose="02020603050405020304" pitchFamily="18" charset="0"/>
              </a:rPr>
              <a:t>in</a:t>
            </a:r>
            <a:r>
              <a:rPr lang="en-US" dirty="0">
                <a:latin typeface="Times New Roman" panose="02020603050405020304" pitchFamily="18" charset="0"/>
                <a:cs typeface="Times New Roman" panose="02020603050405020304" pitchFamily="18" charset="0"/>
              </a:rPr>
              <a:t>” appears in almost every document, so it has a high document frequency, and thus a low inverse document frequency, and thus it is not as important to the query as “farming” or “Kansas.” </a:t>
            </a:r>
          </a:p>
          <a:p>
            <a:pPr algn="just"/>
            <a:r>
              <a:rPr lang="en-US" dirty="0">
                <a:latin typeface="Times New Roman" panose="02020603050405020304" pitchFamily="18" charset="0"/>
                <a:cs typeface="Times New Roman" panose="02020603050405020304" pitchFamily="18" charset="0"/>
              </a:rPr>
              <a:t>Third, the </a:t>
            </a:r>
            <a:r>
              <a:rPr lang="en-US" dirty="0">
                <a:solidFill>
                  <a:srgbClr val="FF0000"/>
                </a:solidFill>
                <a:latin typeface="Times New Roman" panose="02020603050405020304" pitchFamily="18" charset="0"/>
                <a:cs typeface="Times New Roman" panose="02020603050405020304" pitchFamily="18" charset="0"/>
              </a:rPr>
              <a:t>length of the document</a:t>
            </a:r>
            <a:r>
              <a:rPr lang="en-US" dirty="0">
                <a:latin typeface="Times New Roman" panose="02020603050405020304" pitchFamily="18" charset="0"/>
                <a:cs typeface="Times New Roman" panose="02020603050405020304" pitchFamily="18" charset="0"/>
              </a:rPr>
              <a:t>. A million-word document will probably mention all the query words, but may not actually be about the query. </a:t>
            </a:r>
            <a:r>
              <a:rPr lang="en-US" dirty="0">
                <a:solidFill>
                  <a:srgbClr val="FF0000"/>
                </a:solidFill>
                <a:latin typeface="Times New Roman" panose="02020603050405020304" pitchFamily="18" charset="0"/>
                <a:cs typeface="Times New Roman" panose="02020603050405020304" pitchFamily="18" charset="0"/>
              </a:rPr>
              <a:t>A short document that mentions all the words is a much better candidate.</a:t>
            </a:r>
            <a:endParaRPr lang="en-IN"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7959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IR scoring functions</a:t>
            </a:r>
            <a:endParaRPr lang="en-IN" dirty="0"/>
          </a:p>
        </p:txBody>
      </p:sp>
      <p:sp>
        <p:nvSpPr>
          <p:cNvPr id="3" name="Content Placeholder 2"/>
          <p:cNvSpPr>
            <a:spLocks noGrp="1"/>
          </p:cNvSpPr>
          <p:nvPr>
            <p:ph idx="1"/>
          </p:nvPr>
        </p:nvSpPr>
        <p:spPr>
          <a:xfrm>
            <a:off x="458797" y="1268760"/>
            <a:ext cx="8229600" cy="4525963"/>
          </a:xfrm>
        </p:spPr>
        <p:txBody>
          <a:bodyPr>
            <a:noAutofit/>
          </a:bodyPr>
          <a:lstStyle/>
          <a:p>
            <a:pPr algn="just"/>
            <a:r>
              <a:rPr lang="en-US" sz="2800" dirty="0">
                <a:latin typeface="Times New Roman" panose="02020603050405020304" pitchFamily="18" charset="0"/>
                <a:cs typeface="Times New Roman" panose="02020603050405020304" pitchFamily="18" charset="0"/>
              </a:rPr>
              <a:t>The BM25 function takes all three of these into account. </a:t>
            </a:r>
          </a:p>
          <a:p>
            <a:pPr algn="just"/>
            <a:r>
              <a:rPr lang="en-US" sz="2800" dirty="0">
                <a:latin typeface="Times New Roman" panose="02020603050405020304" pitchFamily="18" charset="0"/>
                <a:cs typeface="Times New Roman" panose="02020603050405020304" pitchFamily="18" charset="0"/>
              </a:rPr>
              <a:t>We assume we have created an index of the N documents in the corpus so that we can look up </a:t>
            </a:r>
            <a:r>
              <a:rPr lang="en-US" sz="2800" dirty="0">
                <a:solidFill>
                  <a:srgbClr val="FF0000"/>
                </a:solidFill>
                <a:latin typeface="Times New Roman" panose="02020603050405020304" pitchFamily="18" charset="0"/>
                <a:cs typeface="Times New Roman" panose="02020603050405020304" pitchFamily="18" charset="0"/>
              </a:rPr>
              <a:t>TF(qi, </a:t>
            </a:r>
            <a:r>
              <a:rPr lang="en-US" sz="2800" dirty="0" err="1">
                <a:solidFill>
                  <a:srgbClr val="FF0000"/>
                </a:solidFill>
                <a:latin typeface="Times New Roman" panose="02020603050405020304" pitchFamily="18" charset="0"/>
                <a:cs typeface="Times New Roman" panose="02020603050405020304" pitchFamily="18" charset="0"/>
              </a:rPr>
              <a:t>dj</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the count of the number of times word qi appears in document </a:t>
            </a:r>
            <a:r>
              <a:rPr lang="en-US" sz="2800" dirty="0" err="1">
                <a:latin typeface="Times New Roman" panose="02020603050405020304" pitchFamily="18" charset="0"/>
                <a:cs typeface="Times New Roman" panose="02020603050405020304" pitchFamily="18" charset="0"/>
              </a:rPr>
              <a:t>dj</a:t>
            </a:r>
            <a:r>
              <a:rPr lang="en-US" sz="2800" dirty="0">
                <a:latin typeface="Times New Roman" panose="02020603050405020304" pitchFamily="18" charset="0"/>
                <a:cs typeface="Times New Roman" panose="02020603050405020304" pitchFamily="18" charset="0"/>
              </a:rPr>
              <a:t> . </a:t>
            </a:r>
          </a:p>
          <a:p>
            <a:pPr algn="just"/>
            <a:r>
              <a:rPr lang="en-US" sz="2800" dirty="0">
                <a:latin typeface="Times New Roman" panose="02020603050405020304" pitchFamily="18" charset="0"/>
                <a:cs typeface="Times New Roman" panose="02020603050405020304" pitchFamily="18" charset="0"/>
              </a:rPr>
              <a:t>We also assume a table of document frequency counts, </a:t>
            </a:r>
            <a:r>
              <a:rPr lang="en-US" sz="2800" dirty="0">
                <a:solidFill>
                  <a:srgbClr val="FF0000"/>
                </a:solidFill>
                <a:latin typeface="Times New Roman" panose="02020603050405020304" pitchFamily="18" charset="0"/>
                <a:cs typeface="Times New Roman" panose="02020603050405020304" pitchFamily="18" charset="0"/>
              </a:rPr>
              <a:t>DF(qi), </a:t>
            </a:r>
            <a:r>
              <a:rPr lang="en-US" sz="2800" dirty="0">
                <a:latin typeface="Times New Roman" panose="02020603050405020304" pitchFamily="18" charset="0"/>
                <a:cs typeface="Times New Roman" panose="02020603050405020304" pitchFamily="18" charset="0"/>
              </a:rPr>
              <a:t>that gives the number of documents that contain the word qi. </a:t>
            </a:r>
          </a:p>
        </p:txBody>
      </p:sp>
    </p:spTree>
    <p:extLst>
      <p:ext uri="{BB962C8B-B14F-4D97-AF65-F5344CB8AC3E}">
        <p14:creationId xmlns:p14="http://schemas.microsoft.com/office/powerpoint/2010/main" val="838048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IR scoring functions</a:t>
            </a:r>
            <a:endParaRPr lang="en-IN" dirty="0"/>
          </a:p>
        </p:txBody>
      </p:sp>
      <p:sp>
        <p:nvSpPr>
          <p:cNvPr id="3" name="Content Placeholder 2"/>
          <p:cNvSpPr>
            <a:spLocks noGrp="1"/>
          </p:cNvSpPr>
          <p:nvPr>
            <p:ph idx="1"/>
          </p:nvPr>
        </p:nvSpPr>
        <p:spPr/>
        <p:txBody>
          <a:bodyPr>
            <a:normAutofit fontScale="77500" lnSpcReduction="20000"/>
          </a:bodyPr>
          <a:lstStyle/>
          <a:p>
            <a:pPr algn="just"/>
            <a:r>
              <a:rPr lang="en-US" dirty="0">
                <a:latin typeface="Times New Roman" panose="02020603050405020304" pitchFamily="18" charset="0"/>
                <a:cs typeface="Times New Roman" panose="02020603050405020304" pitchFamily="18" charset="0"/>
              </a:rPr>
              <a:t>Then, given a document </a:t>
            </a:r>
            <a:r>
              <a:rPr lang="en-US" dirty="0" err="1">
                <a:latin typeface="Times New Roman" panose="02020603050405020304" pitchFamily="18" charset="0"/>
                <a:cs typeface="Times New Roman" panose="02020603050405020304" pitchFamily="18" charset="0"/>
              </a:rPr>
              <a:t>dj</a:t>
            </a:r>
            <a:r>
              <a:rPr lang="en-US" dirty="0">
                <a:latin typeface="Times New Roman" panose="02020603050405020304" pitchFamily="18" charset="0"/>
                <a:cs typeface="Times New Roman" panose="02020603050405020304" pitchFamily="18" charset="0"/>
              </a:rPr>
              <a:t> and a query consisting of the words q1:N , we have</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where |</a:t>
            </a:r>
            <a:r>
              <a:rPr lang="en-US" dirty="0" err="1">
                <a:latin typeface="Times New Roman" panose="02020603050405020304" pitchFamily="18" charset="0"/>
                <a:cs typeface="Times New Roman" panose="02020603050405020304" pitchFamily="18" charset="0"/>
              </a:rPr>
              <a:t>dj</a:t>
            </a:r>
            <a:r>
              <a:rPr lang="en-US" dirty="0">
                <a:latin typeface="Times New Roman" panose="02020603050405020304" pitchFamily="18" charset="0"/>
                <a:cs typeface="Times New Roman" panose="02020603050405020304" pitchFamily="18" charset="0"/>
              </a:rPr>
              <a:t> | is the length of document </a:t>
            </a:r>
            <a:r>
              <a:rPr lang="en-US" dirty="0" err="1">
                <a:latin typeface="Times New Roman" panose="02020603050405020304" pitchFamily="18" charset="0"/>
                <a:cs typeface="Times New Roman" panose="02020603050405020304" pitchFamily="18" charset="0"/>
              </a:rPr>
              <a:t>dj</a:t>
            </a:r>
            <a:r>
              <a:rPr lang="en-US" dirty="0">
                <a:latin typeface="Times New Roman" panose="02020603050405020304" pitchFamily="18" charset="0"/>
                <a:cs typeface="Times New Roman" panose="02020603050405020304" pitchFamily="18" charset="0"/>
              </a:rPr>
              <a:t> in words, and L is the average document length in the corpus:                .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We have two parameters, k and b, that can be tuned by cross-validation; typical values are k = 2.0 and b = 0.75. IDF(qi) is the inverse document frequency of word qi, given by</a:t>
            </a:r>
            <a:endParaRPr lang="en-IN" dirty="0">
              <a:latin typeface="Times New Roman" panose="02020603050405020304" pitchFamily="18" charset="0"/>
              <a:cs typeface="Times New Roman" panose="02020603050405020304" pitchFamily="18" charset="0"/>
            </a:endParaRPr>
          </a:p>
          <a:p>
            <a:endParaRPr lang="en-IN"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6202" y="2348880"/>
            <a:ext cx="7088187"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3275856" y="4151425"/>
            <a:ext cx="165735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9120" y="5877272"/>
            <a:ext cx="3562350" cy="59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36717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IR system evaluation</a:t>
            </a:r>
          </a:p>
        </p:txBody>
      </p:sp>
      <p:sp>
        <p:nvSpPr>
          <p:cNvPr id="3" name="Content Placeholder 2"/>
          <p:cNvSpPr>
            <a:spLocks noGrp="1"/>
          </p:cNvSpPr>
          <p:nvPr>
            <p:ph idx="1"/>
          </p:nvPr>
        </p:nvSpPr>
        <p:spPr/>
        <p:txBody>
          <a:bodyPr>
            <a:normAutofit/>
          </a:bodyPr>
          <a:lstStyle/>
          <a:p>
            <a:pPr algn="just"/>
            <a:r>
              <a:rPr lang="en-US" sz="2800" dirty="0">
                <a:latin typeface="Times New Roman" panose="02020603050405020304" pitchFamily="18" charset="0"/>
                <a:cs typeface="Times New Roman" panose="02020603050405020304" pitchFamily="18" charset="0"/>
              </a:rPr>
              <a:t>Traditionally, there have been two measures used in the scoring: </a:t>
            </a:r>
            <a:r>
              <a:rPr lang="en-US" sz="2800" dirty="0">
                <a:solidFill>
                  <a:srgbClr val="FF0000"/>
                </a:solidFill>
                <a:latin typeface="Times New Roman" panose="02020603050405020304" pitchFamily="18" charset="0"/>
                <a:cs typeface="Times New Roman" panose="02020603050405020304" pitchFamily="18" charset="0"/>
              </a:rPr>
              <a:t>recall and precision</a:t>
            </a:r>
            <a:r>
              <a:rPr lang="en-US" sz="2800" dirty="0">
                <a:latin typeface="Times New Roman" panose="02020603050405020304" pitchFamily="18" charset="0"/>
                <a:cs typeface="Times New Roman" panose="02020603050405020304" pitchFamily="18" charset="0"/>
              </a:rPr>
              <a:t>. </a:t>
            </a:r>
          </a:p>
          <a:p>
            <a:pPr algn="just"/>
            <a:r>
              <a:rPr lang="en-US" sz="2800" dirty="0">
                <a:latin typeface="Times New Roman" panose="02020603050405020304" pitchFamily="18" charset="0"/>
                <a:cs typeface="Times New Roman" panose="02020603050405020304" pitchFamily="18" charset="0"/>
              </a:rPr>
              <a:t>Imagine that an IR system has returned a result set for a single query, for which we know which documents are and are not relevant, out of a corpus of 100 documents. The document counts in each category are given in the following table:</a:t>
            </a:r>
            <a:endParaRPr lang="en-IN" sz="2800"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330" y="5128965"/>
            <a:ext cx="5466998" cy="112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21911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IR system evaluation</a:t>
            </a:r>
            <a:endParaRPr lang="en-IN" dirty="0"/>
          </a:p>
        </p:txBody>
      </p:sp>
      <p:sp>
        <p:nvSpPr>
          <p:cNvPr id="3" name="Content Placeholder 2"/>
          <p:cNvSpPr>
            <a:spLocks noGrp="1"/>
          </p:cNvSpPr>
          <p:nvPr>
            <p:ph idx="1"/>
          </p:nvPr>
        </p:nvSpPr>
        <p:spPr/>
        <p:txBody>
          <a:bodyPr>
            <a:normAutofit fontScale="77500" lnSpcReduction="20000"/>
          </a:bodyPr>
          <a:lstStyle/>
          <a:p>
            <a:pPr algn="just"/>
            <a:r>
              <a:rPr lang="en-US" dirty="0">
                <a:latin typeface="Times New Roman" panose="02020603050405020304" pitchFamily="18" charset="0"/>
                <a:cs typeface="Times New Roman" panose="02020603050405020304" pitchFamily="18" charset="0"/>
              </a:rPr>
              <a:t>Precision measures the proportion of documents in the result set that are actually relevant. </a:t>
            </a:r>
          </a:p>
          <a:p>
            <a:pPr algn="just"/>
            <a:r>
              <a:rPr lang="en-US" dirty="0">
                <a:latin typeface="Times New Roman" panose="02020603050405020304" pitchFamily="18" charset="0"/>
                <a:cs typeface="Times New Roman" panose="02020603050405020304" pitchFamily="18" charset="0"/>
              </a:rPr>
              <a:t>In our example, the precision is 30/(30 + 10) = .75. The false positive rate is 1 − .75 = .25.</a:t>
            </a:r>
          </a:p>
          <a:p>
            <a:pPr algn="just"/>
            <a:r>
              <a:rPr lang="en-US" dirty="0">
                <a:latin typeface="Times New Roman" panose="02020603050405020304" pitchFamily="18" charset="0"/>
                <a:cs typeface="Times New Roman" panose="02020603050405020304" pitchFamily="18" charset="0"/>
              </a:rPr>
              <a:t>Recall measures the proportion of all the relevant documents in the collection that are in the result set. In our example, recall is 30/(30 + 20) = .60. The false negative rate is 1 − .60 = .40.</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a:t>
            </a:r>
            <a:r>
              <a:rPr lang="en-US" sz="2400" dirty="0">
                <a:effectLst/>
              </a:rPr>
              <a:t> a test result which </a:t>
            </a:r>
            <a:r>
              <a:rPr lang="en-US" sz="2400" dirty="0">
                <a:effectLst/>
                <a:hlinkClick r:id="rId2"/>
              </a:rPr>
              <a:t>wrongly</a:t>
            </a:r>
            <a:r>
              <a:rPr lang="en-US" sz="2400" dirty="0">
                <a:effectLst/>
              </a:rPr>
              <a:t> indicates that a particular condition or attribute is absent.</a:t>
            </a:r>
          </a:p>
          <a:p>
            <a:pPr marL="0" indent="0">
              <a:buNone/>
            </a:pPr>
            <a:r>
              <a:rPr lang="en-US" sz="2400" dirty="0"/>
              <a:t>   "it's possible to have a false negative—the test says you aren’t sick when you are</a:t>
            </a: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0951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380A20-9DF9-860E-630C-6B071C10FB36}"/>
              </a:ext>
            </a:extLst>
          </p:cNvPr>
          <p:cNvPicPr>
            <a:picLocks noChangeAspect="1"/>
          </p:cNvPicPr>
          <p:nvPr/>
        </p:nvPicPr>
        <p:blipFill>
          <a:blip r:embed="rId2"/>
          <a:stretch>
            <a:fillRect/>
          </a:stretch>
        </p:blipFill>
        <p:spPr>
          <a:xfrm>
            <a:off x="0" y="116632"/>
            <a:ext cx="9144000" cy="5598368"/>
          </a:xfrm>
          <a:prstGeom prst="rect">
            <a:avLst/>
          </a:prstGeom>
        </p:spPr>
      </p:pic>
    </p:spTree>
    <p:extLst>
      <p:ext uri="{BB962C8B-B14F-4D97-AF65-F5344CB8AC3E}">
        <p14:creationId xmlns:p14="http://schemas.microsoft.com/office/powerpoint/2010/main" val="35910609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16632"/>
            <a:ext cx="8229600" cy="1143000"/>
          </a:xfrm>
        </p:spPr>
        <p:txBody>
          <a:bodyPr>
            <a:normAutofit fontScale="90000"/>
          </a:bodyPr>
          <a:lstStyle/>
          <a:p>
            <a:r>
              <a:rPr lang="en-IN" dirty="0">
                <a:latin typeface="Times New Roman" panose="02020603050405020304" pitchFamily="18" charset="0"/>
                <a:cs typeface="Times New Roman" panose="02020603050405020304" pitchFamily="18" charset="0"/>
              </a:rPr>
              <a:t>The PageRank algorithm</a:t>
            </a:r>
            <a:br>
              <a:rPr lang="en-IN" dirty="0">
                <a:latin typeface="Times New Roman" panose="02020603050405020304" pitchFamily="18" charset="0"/>
                <a:cs typeface="Times New Roman" panose="02020603050405020304" pitchFamily="18" charset="0"/>
              </a:rPr>
            </a:br>
            <a:r>
              <a:rPr lang="en-US" sz="2000" i="1" dirty="0">
                <a:solidFill>
                  <a:srgbClr val="FF0000"/>
                </a:solidFill>
              </a:rPr>
              <a:t>PageRank</a:t>
            </a:r>
            <a:r>
              <a:rPr lang="en-US" sz="2000" dirty="0">
                <a:solidFill>
                  <a:srgbClr val="FF0000"/>
                </a:solidFill>
              </a:rPr>
              <a:t> (</a:t>
            </a:r>
            <a:r>
              <a:rPr lang="en-US" sz="2000" i="1" dirty="0">
                <a:solidFill>
                  <a:srgbClr val="FF0000"/>
                </a:solidFill>
              </a:rPr>
              <a:t>PR</a:t>
            </a:r>
            <a:r>
              <a:rPr lang="en-US" sz="2000" dirty="0">
                <a:solidFill>
                  <a:srgbClr val="FF0000"/>
                </a:solidFill>
              </a:rPr>
              <a:t>) is an </a:t>
            </a:r>
            <a:r>
              <a:rPr lang="en-US" sz="2000" i="1" dirty="0">
                <a:solidFill>
                  <a:srgbClr val="FF0000"/>
                </a:solidFill>
              </a:rPr>
              <a:t>algorithm</a:t>
            </a:r>
            <a:r>
              <a:rPr lang="en-US" sz="2000" dirty="0">
                <a:solidFill>
                  <a:srgbClr val="FF0000"/>
                </a:solidFill>
              </a:rPr>
              <a:t> used by Google Search to rank websites in their </a:t>
            </a:r>
            <a:r>
              <a:rPr lang="en-US" sz="1800" dirty="0">
                <a:solidFill>
                  <a:srgbClr val="FF0000"/>
                </a:solidFill>
              </a:rPr>
              <a:t>search engine results</a:t>
            </a:r>
            <a:endParaRPr lang="en-IN" sz="1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94123" y="1259632"/>
            <a:ext cx="8229600" cy="4535091"/>
          </a:xfrm>
        </p:spPr>
        <p:txBody>
          <a:bodyPr>
            <a:normAutofit/>
          </a:bodyPr>
          <a:lstStyle/>
          <a:p>
            <a:pPr algn="just"/>
            <a:r>
              <a:rPr lang="en-US" sz="2800" dirty="0">
                <a:latin typeface="Times New Roman" panose="02020603050405020304" pitchFamily="18" charset="0"/>
                <a:cs typeface="Times New Roman" panose="02020603050405020304" pitchFamily="18" charset="0"/>
              </a:rPr>
              <a:t>PageRank was one of the two original ideas that set Google’s search apart from other Web search engines when it was introduced in 1997. [See Russell &amp; Norvig, </a:t>
            </a:r>
            <a:r>
              <a:rPr lang="en-IN" sz="1800" b="0" i="0" u="none" strike="noStrike" baseline="0" dirty="0">
                <a:latin typeface="Times-Roman"/>
              </a:rPr>
              <a:t>Section 22.3. Information Retrieval</a:t>
            </a:r>
            <a:r>
              <a:rPr lang="en-US" sz="2800" dirty="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854" y="2996952"/>
            <a:ext cx="8136904" cy="3528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94951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The PageRank algorithm</a:t>
            </a:r>
            <a:endParaRPr lang="en-IN"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Figure 1 The HITS algorithm for computing hubs and authorities with respect to a query. RELEVANT-PAGES fetches the pages that match the query, and EXPAND-PAGES adds in every page that links to or is linked from one of the relevant pages. NORMALIZE divides each page’s score by the sum of the squares of all pages’ scores (separately for both the authority and hubs scores).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17832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B6F42-E3B8-43D1-1AD4-80E86448882C}"/>
              </a:ext>
            </a:extLst>
          </p:cNvPr>
          <p:cNvSpPr>
            <a:spLocks noGrp="1"/>
          </p:cNvSpPr>
          <p:nvPr>
            <p:ph type="title"/>
          </p:nvPr>
        </p:nvSpPr>
        <p:spPr/>
        <p:txBody>
          <a:bodyPr/>
          <a:lstStyle/>
          <a:p>
            <a:r>
              <a:rPr lang="en-IN" dirty="0"/>
              <a:t>Working principle of PageRank</a:t>
            </a:r>
          </a:p>
        </p:txBody>
      </p:sp>
      <p:sp>
        <p:nvSpPr>
          <p:cNvPr id="3" name="Content Placeholder 2">
            <a:extLst>
              <a:ext uri="{FF2B5EF4-FFF2-40B4-BE49-F238E27FC236}">
                <a16:creationId xmlns:a16="http://schemas.microsoft.com/office/drawing/2014/main" id="{F8D8DF82-0246-C1C5-84D6-7CDF8BB0F7DE}"/>
              </a:ext>
            </a:extLst>
          </p:cNvPr>
          <p:cNvSpPr>
            <a:spLocks noGrp="1"/>
          </p:cNvSpPr>
          <p:nvPr>
            <p:ph idx="1"/>
          </p:nvPr>
        </p:nvSpPr>
        <p:spPr/>
        <p:txBody>
          <a:bodyPr>
            <a:normAutofit/>
          </a:bodyPr>
          <a:lstStyle/>
          <a:p>
            <a:pPr algn="l"/>
            <a:r>
              <a:rPr lang="en-IN" sz="2800" b="0" i="0" u="none" strike="noStrike" baseline="0" dirty="0">
                <a:latin typeface="Times-Roman"/>
              </a:rPr>
              <a:t>Therefore, the PageRank </a:t>
            </a:r>
            <a:r>
              <a:rPr lang="en-US" sz="2800" b="0" i="0" u="none" strike="noStrike" baseline="0" dirty="0">
                <a:latin typeface="Times-Roman"/>
              </a:rPr>
              <a:t>algorithm is designed to weight links from high-quality sites more heavily. What is a high quality</a:t>
            </a:r>
            <a:r>
              <a:rPr lang="en-US" sz="2800" dirty="0">
                <a:latin typeface="Times-Roman"/>
              </a:rPr>
              <a:t> </a:t>
            </a:r>
            <a:r>
              <a:rPr lang="en-US" sz="2800" b="0" i="0" u="none" strike="noStrike" baseline="0" dirty="0">
                <a:latin typeface="Times-Roman"/>
              </a:rPr>
              <a:t>site? One that is linked to by other high-quality sites. The definition is recursive</a:t>
            </a:r>
            <a:endParaRPr lang="en-IN" sz="2800" dirty="0"/>
          </a:p>
        </p:txBody>
      </p:sp>
    </p:spTree>
    <p:extLst>
      <p:ext uri="{BB962C8B-B14F-4D97-AF65-F5344CB8AC3E}">
        <p14:creationId xmlns:p14="http://schemas.microsoft.com/office/powerpoint/2010/main" val="26631546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The PageRank algorithm</a:t>
            </a:r>
            <a:endParaRPr lang="en-IN" dirty="0"/>
          </a:p>
        </p:txBody>
      </p:sp>
      <p:sp>
        <p:nvSpPr>
          <p:cNvPr id="3" name="Content Placeholder 2"/>
          <p:cNvSpPr>
            <a:spLocks noGrp="1"/>
          </p:cNvSpPr>
          <p:nvPr>
            <p:ph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The PageRank for a page p is defined as: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where PR(p) is the PageRank of page p, N is the total number of pages in the corpus, </a:t>
            </a:r>
            <a:r>
              <a:rPr lang="en-US" dirty="0" err="1">
                <a:latin typeface="Times New Roman" panose="02020603050405020304" pitchFamily="18" charset="0"/>
                <a:cs typeface="Times New Roman" panose="02020603050405020304" pitchFamily="18" charset="0"/>
              </a:rPr>
              <a:t>in</a:t>
            </a:r>
            <a:r>
              <a:rPr lang="en-US" sz="2400"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are the pages that link in to p, and C(</a:t>
            </a:r>
            <a:r>
              <a:rPr lang="en-US" dirty="0" err="1">
                <a:latin typeface="Times New Roman" panose="02020603050405020304" pitchFamily="18" charset="0"/>
                <a:cs typeface="Times New Roman" panose="02020603050405020304" pitchFamily="18" charset="0"/>
              </a:rPr>
              <a:t>in</a:t>
            </a:r>
            <a:r>
              <a:rPr lang="en-US" sz="2000"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is the count of the total number of out-links on </a:t>
            </a:r>
            <a:r>
              <a:rPr lang="en-IN" dirty="0">
                <a:latin typeface="Times New Roman" panose="02020603050405020304" pitchFamily="18" charset="0"/>
                <a:cs typeface="Times New Roman" panose="02020603050405020304" pitchFamily="18" charset="0"/>
              </a:rPr>
              <a:t>page </a:t>
            </a:r>
            <a:r>
              <a:rPr lang="en-IN" dirty="0" err="1">
                <a:latin typeface="Times New Roman" panose="02020603050405020304" pitchFamily="18" charset="0"/>
                <a:cs typeface="Times New Roman" panose="02020603050405020304" pitchFamily="18" charset="0"/>
              </a:rPr>
              <a:t>in</a:t>
            </a:r>
            <a:r>
              <a:rPr lang="en-IN" sz="2200"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PageRank can be computed by an iterative procedure: start with all pages having PR(p)=1, and iterate the algorithm, updating ranks until they converge. </a:t>
            </a:r>
          </a:p>
          <a:p>
            <a:pPr algn="just"/>
            <a:endParaRPr lang="en-IN" dirty="0">
              <a:latin typeface="Times New Roman" panose="02020603050405020304" pitchFamily="18" charset="0"/>
              <a:cs typeface="Times New Roman" panose="02020603050405020304"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2403475"/>
            <a:ext cx="4464496"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396989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7EC2A-5647-AD43-2C36-2F61D08EF9C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Information extraction</a:t>
            </a:r>
            <a:endParaRPr lang="en-IN" dirty="0"/>
          </a:p>
        </p:txBody>
      </p:sp>
      <p:sp>
        <p:nvSpPr>
          <p:cNvPr id="3" name="Content Placeholder 2">
            <a:extLst>
              <a:ext uri="{FF2B5EF4-FFF2-40B4-BE49-F238E27FC236}">
                <a16:creationId xmlns:a16="http://schemas.microsoft.com/office/drawing/2014/main" id="{A8193AA3-3975-3960-1704-834CA10FA009}"/>
              </a:ext>
            </a:extLst>
          </p:cNvPr>
          <p:cNvSpPr>
            <a:spLocks noGrp="1"/>
          </p:cNvSpPr>
          <p:nvPr>
            <p:ph idx="1"/>
          </p:nvPr>
        </p:nvSpPr>
        <p:spPr/>
        <p:txBody>
          <a:bodyPr>
            <a:normAutofit fontScale="85000" lnSpcReduction="10000"/>
          </a:bodyPr>
          <a:lstStyle/>
          <a:p>
            <a:r>
              <a:rPr lang="en-US" dirty="0"/>
              <a:t>Information extraction is a process where relevant knowledge is gathered from a text by scanning it to identify specific types of objects (e.g., names, dates, or places) and the relationships between these objects (e.g., a person's association with a company or event). It focuses on extracting structured data from unstructured or semi-structured sources, such as documents or web pages.</a:t>
            </a:r>
          </a:p>
          <a:p>
            <a:r>
              <a:rPr lang="en-US" dirty="0"/>
              <a:t>In short, </a:t>
            </a:r>
            <a:r>
              <a:rPr lang="en-US" dirty="0">
                <a:solidFill>
                  <a:srgbClr val="FF0000"/>
                </a:solidFill>
              </a:rPr>
              <a:t>IE automates the task of finding meaningful information within large volumes of text.</a:t>
            </a:r>
          </a:p>
          <a:p>
            <a:endParaRPr lang="en-IN" dirty="0"/>
          </a:p>
        </p:txBody>
      </p:sp>
    </p:spTree>
    <p:extLst>
      <p:ext uri="{BB962C8B-B14F-4D97-AF65-F5344CB8AC3E}">
        <p14:creationId xmlns:p14="http://schemas.microsoft.com/office/powerpoint/2010/main" val="23112610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Information extraction</a:t>
            </a:r>
            <a:endParaRPr lang="en-IN" b="1" dirty="0"/>
          </a:p>
        </p:txBody>
      </p:sp>
      <p:sp>
        <p:nvSpPr>
          <p:cNvPr id="3" name="Content Placeholder 2"/>
          <p:cNvSpPr>
            <a:spLocks noGrp="1"/>
          </p:cNvSpPr>
          <p:nvPr>
            <p:ph idx="1"/>
          </p:nvPr>
        </p:nvSpPr>
        <p:spPr>
          <a:xfrm>
            <a:off x="457200" y="1417638"/>
            <a:ext cx="8229600" cy="4708525"/>
          </a:xfrm>
        </p:spPr>
        <p:txBody>
          <a:bodyPr>
            <a:normAutofit fontScale="85000" lnSpcReduction="20000"/>
          </a:bodyPr>
          <a:lstStyle/>
          <a:p>
            <a:pPr algn="just"/>
            <a:r>
              <a:rPr lang="en-US" dirty="0">
                <a:solidFill>
                  <a:srgbClr val="FF0000"/>
                </a:solidFill>
                <a:latin typeface="Times New Roman" panose="02020603050405020304" pitchFamily="18" charset="0"/>
                <a:cs typeface="Times New Roman" panose="02020603050405020304" pitchFamily="18" charset="0"/>
              </a:rPr>
              <a:t>Information extraction </a:t>
            </a:r>
            <a:r>
              <a:rPr lang="en-US" dirty="0">
                <a:latin typeface="Times New Roman" panose="02020603050405020304" pitchFamily="18" charset="0"/>
                <a:cs typeface="Times New Roman" panose="02020603050405020304" pitchFamily="18" charset="0"/>
              </a:rPr>
              <a:t>is the process of </a:t>
            </a:r>
            <a:r>
              <a:rPr lang="en-US" dirty="0">
                <a:solidFill>
                  <a:srgbClr val="FF0000"/>
                </a:solidFill>
                <a:latin typeface="Times New Roman" panose="02020603050405020304" pitchFamily="18" charset="0"/>
                <a:cs typeface="Times New Roman" panose="02020603050405020304" pitchFamily="18" charset="0"/>
              </a:rPr>
              <a:t>acquiring knowledge </a:t>
            </a:r>
            <a:r>
              <a:rPr lang="en-US" dirty="0">
                <a:latin typeface="Times New Roman" panose="02020603050405020304" pitchFamily="18" charset="0"/>
                <a:cs typeface="Times New Roman" panose="02020603050405020304" pitchFamily="18" charset="0"/>
              </a:rPr>
              <a:t>by skimming a text and looking for occurrences of a particular class of object and for relationships among objects. </a:t>
            </a:r>
          </a:p>
          <a:p>
            <a:pPr algn="just"/>
            <a:r>
              <a:rPr lang="en-US" dirty="0">
                <a:latin typeface="Times New Roman" panose="02020603050405020304" pitchFamily="18" charset="0"/>
                <a:cs typeface="Times New Roman" panose="02020603050405020304" pitchFamily="18" charset="0"/>
              </a:rPr>
              <a:t>A typical task is to extract instances of addresses from Web pages, with database fields for street, city, state, and zip code; or instances of storms from weather reports, with fields for temperature, wind speed, and precipitation. </a:t>
            </a:r>
          </a:p>
          <a:p>
            <a:pPr algn="just"/>
            <a:r>
              <a:rPr lang="en-US" dirty="0">
                <a:latin typeface="Times New Roman" panose="02020603050405020304" pitchFamily="18" charset="0"/>
                <a:cs typeface="Times New Roman" panose="02020603050405020304" pitchFamily="18" charset="0"/>
              </a:rPr>
              <a:t>In a limited domain, this can be done with high accuracy. As the domain gets more general, more complex linguistic models and more complex learning techniques are necessary.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08696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b="1" dirty="0">
                <a:latin typeface="Times New Roman" panose="02020603050405020304" pitchFamily="18" charset="0"/>
                <a:cs typeface="Times New Roman" panose="02020603050405020304" pitchFamily="18" charset="0"/>
              </a:rPr>
              <a:t>Conditional random fields for information extraction</a:t>
            </a:r>
          </a:p>
        </p:txBody>
      </p:sp>
      <p:sp>
        <p:nvSpPr>
          <p:cNvPr id="3" name="Content Placeholder 2"/>
          <p:cNvSpPr>
            <a:spLocks noGrp="1"/>
          </p:cNvSpPr>
          <p:nvPr>
            <p:ph idx="1"/>
          </p:nvPr>
        </p:nvSpPr>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One issue with HMM (</a:t>
            </a:r>
            <a:r>
              <a:rPr lang="en-IN" sz="1800" b="0" i="0" u="none" strike="noStrike" baseline="0" dirty="0">
                <a:latin typeface="Times-Roman"/>
              </a:rPr>
              <a:t>hidden Markov model</a:t>
            </a:r>
            <a:r>
              <a:rPr lang="en-US" dirty="0">
                <a:latin typeface="Times New Roman" panose="02020603050405020304" pitchFamily="18" charset="0"/>
                <a:cs typeface="Times New Roman" panose="02020603050405020304" pitchFamily="18" charset="0"/>
              </a:rPr>
              <a:t>) for the information extraction task is that they model a lot of probabilities that we don’t really need. </a:t>
            </a:r>
          </a:p>
          <a:p>
            <a:pPr algn="just"/>
            <a:r>
              <a:rPr lang="en-US" dirty="0">
                <a:solidFill>
                  <a:srgbClr val="FF0000"/>
                </a:solidFill>
                <a:latin typeface="Times New Roman" panose="02020603050405020304" pitchFamily="18" charset="0"/>
                <a:cs typeface="Times New Roman" panose="02020603050405020304" pitchFamily="18" charset="0"/>
              </a:rPr>
              <a:t>An HMM is a generative model; it models the full joint probability of observations and hidden states, and thus can be used to generate samples</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That is, we can use the HMM model not only to parse a text and recover the speaker and date, but also to generate a random instance of a text containing a speaker and a date.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64808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Conditional random fields for information extraction</a:t>
            </a:r>
            <a:endParaRPr lang="en-IN"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All we need in order to understand a text is a discriminative model, one that models the conditional probability of the hidden attributes given the observations (the text). </a:t>
            </a:r>
          </a:p>
          <a:p>
            <a:pPr algn="just"/>
            <a:r>
              <a:rPr lang="en-US" dirty="0">
                <a:latin typeface="Times New Roman" panose="02020603050405020304" pitchFamily="18" charset="0"/>
                <a:cs typeface="Times New Roman" panose="02020603050405020304" pitchFamily="18" charset="0"/>
              </a:rPr>
              <a:t>Given a text e1:N , the conditional model finds the hidden state sequence X1:N that maximizes P(X1:N | e1:N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49316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Conditional random fields for information extraction</a:t>
            </a:r>
            <a:endParaRPr lang="en-IN" dirty="0"/>
          </a:p>
        </p:txBody>
      </p:sp>
      <p:sp>
        <p:nvSpPr>
          <p:cNvPr id="3" name="Content Placeholder 2"/>
          <p:cNvSpPr>
            <a:spLocks noGrp="1"/>
          </p:cNvSpPr>
          <p:nvPr>
            <p:ph idx="1"/>
          </p:nvPr>
        </p:nvSpPr>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Modeling this directly gives us some freedom. We don’t need the independence assumptions of the Markov model—we can have an </a:t>
            </a:r>
            <a:r>
              <a:rPr lang="en-US" dirty="0" err="1">
                <a:latin typeface="Times New Roman" panose="02020603050405020304" pitchFamily="18" charset="0"/>
                <a:cs typeface="Times New Roman" panose="02020603050405020304" pitchFamily="18" charset="0"/>
              </a:rPr>
              <a:t>xt</a:t>
            </a:r>
            <a:r>
              <a:rPr lang="en-US" dirty="0">
                <a:latin typeface="Times New Roman" panose="02020603050405020304" pitchFamily="18" charset="0"/>
                <a:cs typeface="Times New Roman" panose="02020603050405020304" pitchFamily="18" charset="0"/>
              </a:rPr>
              <a:t> that is dependent on x1. </a:t>
            </a:r>
          </a:p>
          <a:p>
            <a:pPr algn="just"/>
            <a:r>
              <a:rPr lang="en-US" dirty="0">
                <a:latin typeface="Times New Roman" panose="02020603050405020304" pitchFamily="18" charset="0"/>
                <a:cs typeface="Times New Roman" panose="02020603050405020304" pitchFamily="18" charset="0"/>
              </a:rPr>
              <a:t>A framework for this type of model is the conditional random field, or CRF, which models a conditional probability distribution of a set of target variables given a set of observed variables. </a:t>
            </a:r>
          </a:p>
          <a:p>
            <a:pPr algn="just"/>
            <a:r>
              <a:rPr lang="en-US" dirty="0">
                <a:latin typeface="Times New Roman" panose="02020603050405020304" pitchFamily="18" charset="0"/>
                <a:cs typeface="Times New Roman" panose="02020603050405020304" pitchFamily="18" charset="0"/>
              </a:rPr>
              <a:t>Like Bayesian networks, CRFs can represent many different structures of dependencies among the variables.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41230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Conditional random fields for information extraction</a:t>
            </a:r>
            <a:endParaRPr lang="en-IN" dirty="0"/>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One common structure is the linear-chain conditional random field for representing Markov dependencies among variables in a temporal sequence. </a:t>
            </a:r>
          </a:p>
          <a:p>
            <a:pPr algn="just"/>
            <a:r>
              <a:rPr lang="en-US" dirty="0">
                <a:latin typeface="Times New Roman" panose="02020603050405020304" pitchFamily="18" charset="0"/>
                <a:cs typeface="Times New Roman" panose="02020603050405020304" pitchFamily="18" charset="0"/>
              </a:rPr>
              <a:t>Thus, HMMs are the temporal version of naive Bayes models, and linear-chain CRFs are the temporal version of logistic regression, where the predicted target is an entire state sequence rather than a single binary variable.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46215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Conditional random fields for information extraction</a:t>
            </a:r>
            <a:endParaRPr lang="en-IN"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Let e1:N be the observations (e.g., words in a document), and x1:N be the sequence of hidden states (e.g., the prefix, target, and postfix states). </a:t>
            </a:r>
          </a:p>
          <a:p>
            <a:r>
              <a:rPr lang="en-US" dirty="0">
                <a:latin typeface="Times New Roman" panose="02020603050405020304" pitchFamily="18" charset="0"/>
                <a:cs typeface="Times New Roman" panose="02020603050405020304" pitchFamily="18" charset="0"/>
              </a:rPr>
              <a:t>A linear-chain conditional random field defines a conditional probability distribution:</a:t>
            </a:r>
            <a:endParaRPr lang="en-IN" dirty="0">
              <a:latin typeface="Times New Roman" panose="02020603050405020304" pitchFamily="18" charset="0"/>
              <a:cs typeface="Times New Roman" panose="02020603050405020304" pitchFamily="18"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7" y="4653136"/>
            <a:ext cx="4944549"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23351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Conditional random fields for information extraction</a:t>
            </a:r>
            <a:endParaRPr lang="en-IN" dirty="0"/>
          </a:p>
        </p:txBody>
      </p:sp>
      <p:sp>
        <p:nvSpPr>
          <p:cNvPr id="3" name="Content Placeholder 2"/>
          <p:cNvSpPr>
            <a:spLocks noGrp="1"/>
          </p:cNvSpPr>
          <p:nvPr>
            <p:ph idx="1"/>
          </p:nvPr>
        </p:nvSpPr>
        <p:spPr/>
        <p:txBody>
          <a:bodyPr>
            <a:normAutofit fontScale="77500" lnSpcReduction="20000"/>
          </a:bodyPr>
          <a:lstStyle/>
          <a:p>
            <a:pPr algn="just"/>
            <a:r>
              <a:rPr lang="en-US" dirty="0">
                <a:latin typeface="Times New Roman" panose="02020603050405020304" pitchFamily="18" charset="0"/>
                <a:cs typeface="Times New Roman" panose="02020603050405020304" pitchFamily="18" charset="0"/>
              </a:rPr>
              <a:t>where α is a normalization factor (to make sure the probabilities sum to 1), and F is a feature function defined as the weighted sum of a collection of k component feature functions:</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λk</a:t>
            </a:r>
            <a:r>
              <a:rPr lang="en-US" dirty="0">
                <a:latin typeface="Times New Roman" panose="02020603050405020304" pitchFamily="18" charset="0"/>
                <a:cs typeface="Times New Roman" panose="02020603050405020304" pitchFamily="18" charset="0"/>
              </a:rPr>
              <a:t> parameter values are learned with a MAP (maximum a posteriori) estimation procedure that maximizes the conditional likelihood of the training data. The feature functions are the key components of a CRF. </a:t>
            </a:r>
          </a:p>
          <a:p>
            <a:pPr algn="just"/>
            <a:r>
              <a:rPr lang="en-US" dirty="0">
                <a:latin typeface="Times New Roman" panose="02020603050405020304" pitchFamily="18" charset="0"/>
                <a:cs typeface="Times New Roman" panose="02020603050405020304" pitchFamily="18" charset="0"/>
              </a:rPr>
              <a:t>The function </a:t>
            </a:r>
            <a:r>
              <a:rPr lang="en-US" dirty="0" err="1">
                <a:latin typeface="Times New Roman" panose="02020603050405020304" pitchFamily="18" charset="0"/>
                <a:cs typeface="Times New Roman" panose="02020603050405020304" pitchFamily="18" charset="0"/>
              </a:rPr>
              <a:t>fk</a:t>
            </a:r>
            <a:r>
              <a:rPr lang="en-US" dirty="0">
                <a:latin typeface="Times New Roman" panose="02020603050405020304" pitchFamily="18" charset="0"/>
                <a:cs typeface="Times New Roman" panose="02020603050405020304" pitchFamily="18" charset="0"/>
              </a:rPr>
              <a:t> has access to a pair of adjacent states, xi−1 and xi, but also the entire observation (word) sequence e, and the current position in the temporal sequence,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5912" y="2924944"/>
            <a:ext cx="5424603"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776875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1003</TotalTime>
  <Words>2777</Words>
  <Application>Microsoft Office PowerPoint</Application>
  <PresentationFormat>On-screen Show (4:3)</PresentationFormat>
  <Paragraphs>138</Paragraphs>
  <Slides>35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Times New Roman</vt:lpstr>
      <vt:lpstr>Times-Roman</vt:lpstr>
      <vt:lpstr>Wingdings</vt:lpstr>
      <vt:lpstr>Office Theme</vt:lpstr>
      <vt:lpstr>Communicating, Perceiving and Acting</vt:lpstr>
      <vt:lpstr>Language Models</vt:lpstr>
      <vt:lpstr>Ambiguous sentence</vt:lpstr>
      <vt:lpstr>Language Models</vt:lpstr>
      <vt:lpstr>Language Models</vt:lpstr>
      <vt:lpstr>Language modeling types: N-gram character models</vt:lpstr>
      <vt:lpstr>N-gram character models</vt:lpstr>
      <vt:lpstr>N-gram character models</vt:lpstr>
      <vt:lpstr>N-gram character models</vt:lpstr>
      <vt:lpstr>N-gram character models</vt:lpstr>
      <vt:lpstr>N-gram character models</vt:lpstr>
      <vt:lpstr>N-gram character models</vt:lpstr>
      <vt:lpstr>Smoothing n-gram models</vt:lpstr>
      <vt:lpstr>Smoothing n-gram models</vt:lpstr>
      <vt:lpstr>Information retrieval (IR)</vt:lpstr>
      <vt:lpstr>Information retrieval</vt:lpstr>
      <vt:lpstr>IR scoring functions</vt:lpstr>
      <vt:lpstr>IR scoring functions</vt:lpstr>
      <vt:lpstr>IR scoring functions</vt:lpstr>
      <vt:lpstr>IR scoring functions</vt:lpstr>
      <vt:lpstr>IR system evaluation</vt:lpstr>
      <vt:lpstr>IR system evaluation</vt:lpstr>
      <vt:lpstr>PowerPoint Presentation</vt:lpstr>
      <vt:lpstr>The PageRank algorithm PageRank (PR) is an algorithm used by Google Search to rank websites in their search engine results</vt:lpstr>
      <vt:lpstr>The PageRank algorithm</vt:lpstr>
      <vt:lpstr>Working principle of PageRank</vt:lpstr>
      <vt:lpstr>The PageRank algorithm</vt:lpstr>
      <vt:lpstr>Information extraction</vt:lpstr>
      <vt:lpstr>Information extraction</vt:lpstr>
      <vt:lpstr>Conditional random fields for information extraction</vt:lpstr>
      <vt:lpstr>Conditional random fields for information extraction</vt:lpstr>
      <vt:lpstr>Conditional random fields for information extraction</vt:lpstr>
      <vt:lpstr>Conditional random fields for information extraction</vt:lpstr>
      <vt:lpstr>Conditional random fields for information extraction</vt:lpstr>
      <vt:lpstr>Conditional random fields for information extraction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Communicating, Perceiving and Acting</dc:title>
  <dc:creator>Admin</dc:creator>
  <cp:lastModifiedBy>Samriddhi Sarkar</cp:lastModifiedBy>
  <cp:revision>53</cp:revision>
  <dcterms:created xsi:type="dcterms:W3CDTF">2024-03-24T14:05:12Z</dcterms:created>
  <dcterms:modified xsi:type="dcterms:W3CDTF">2024-11-14T15:20:20Z</dcterms:modified>
</cp:coreProperties>
</file>