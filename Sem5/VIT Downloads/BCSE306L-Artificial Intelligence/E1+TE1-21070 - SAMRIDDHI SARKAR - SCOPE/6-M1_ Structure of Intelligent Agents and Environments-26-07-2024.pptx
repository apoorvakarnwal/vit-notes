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46" autoAdjust="0"/>
    <p:restoredTop sz="94660"/>
  </p:normalViewPr>
  <p:slideViewPr>
    <p:cSldViewPr snapToGrid="0">
      <p:cViewPr>
        <p:scale>
          <a:sx n="100" d="100"/>
          <a:sy n="100" d="100"/>
        </p:scale>
        <p:origin x="-712" y="-11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70D0F5-8E51-49B6-B060-6A712A2C7284}" type="datetimeFigureOut">
              <a:rPr lang="en-IN" smtClean="0"/>
              <a:t>25-07-2024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0DB99A-776D-4625-B5D1-1C612AD2B16A}" type="slidenum">
              <a:rPr lang="en-IN" smtClean="0"/>
              <a:t>‹#›</a:t>
            </a:fld>
            <a:endParaRPr lang="en-IN"/>
          </a:p>
        </p:txBody>
      </p:sp>
    </p:spTree>
    <p:extLst>
      <p:ext uri="{BB962C8B-B14F-4D97-AF65-F5344CB8AC3E}">
        <p14:creationId xmlns:p14="http://schemas.microsoft.com/office/powerpoint/2010/main" val="2596884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30DB99A-776D-4625-B5D1-1C612AD2B16A}" type="slidenum">
              <a:rPr lang="en-IN" smtClean="0"/>
              <a:t>12</a:t>
            </a:fld>
            <a:endParaRPr lang="en-IN"/>
          </a:p>
        </p:txBody>
      </p:sp>
    </p:spTree>
    <p:extLst>
      <p:ext uri="{BB962C8B-B14F-4D97-AF65-F5344CB8AC3E}">
        <p14:creationId xmlns:p14="http://schemas.microsoft.com/office/powerpoint/2010/main" val="12365952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BCF8B-9BBD-A6F2-AA77-7F276CBA4D7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0745E40-3AC7-6575-3DCE-CABACDEDAA2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2F14574-B79C-0A8E-063D-2E9E749EE952}"/>
              </a:ext>
            </a:extLst>
          </p:cNvPr>
          <p:cNvSpPr>
            <a:spLocks noGrp="1"/>
          </p:cNvSpPr>
          <p:nvPr>
            <p:ph type="dt" sz="half" idx="10"/>
          </p:nvPr>
        </p:nvSpPr>
        <p:spPr/>
        <p:txBody>
          <a:bodyPr/>
          <a:lstStyle/>
          <a:p>
            <a:fld id="{388BF910-A9D9-4BB8-8E42-4CE980A38152}" type="datetime1">
              <a:rPr lang="en-IN" smtClean="0"/>
              <a:t>25-07-2024</a:t>
            </a:fld>
            <a:endParaRPr lang="en-IN"/>
          </a:p>
        </p:txBody>
      </p:sp>
      <p:sp>
        <p:nvSpPr>
          <p:cNvPr id="5" name="Footer Placeholder 4">
            <a:extLst>
              <a:ext uri="{FF2B5EF4-FFF2-40B4-BE49-F238E27FC236}">
                <a16:creationId xmlns:a16="http://schemas.microsoft.com/office/drawing/2014/main" id="{C8F08A86-839C-C28A-FA4A-49198775954A}"/>
              </a:ext>
            </a:extLst>
          </p:cNvPr>
          <p:cNvSpPr>
            <a:spLocks noGrp="1"/>
          </p:cNvSpPr>
          <p:nvPr>
            <p:ph type="ftr" sz="quarter" idx="11"/>
          </p:nvPr>
        </p:nvSpPr>
        <p:spPr/>
        <p:txBody>
          <a:bodyPr/>
          <a:lstStyle/>
          <a:p>
            <a:r>
              <a:rPr lang="en-IN"/>
              <a:t>Samriddhi Sarkar, VIT Vellore</a:t>
            </a:r>
          </a:p>
        </p:txBody>
      </p:sp>
      <p:sp>
        <p:nvSpPr>
          <p:cNvPr id="6" name="Slide Number Placeholder 5">
            <a:extLst>
              <a:ext uri="{FF2B5EF4-FFF2-40B4-BE49-F238E27FC236}">
                <a16:creationId xmlns:a16="http://schemas.microsoft.com/office/drawing/2014/main" id="{B53F36CB-D5C8-36AC-972A-83BFDCF2B9F1}"/>
              </a:ext>
            </a:extLst>
          </p:cNvPr>
          <p:cNvSpPr>
            <a:spLocks noGrp="1"/>
          </p:cNvSpPr>
          <p:nvPr>
            <p:ph type="sldNum" sz="quarter" idx="12"/>
          </p:nvPr>
        </p:nvSpPr>
        <p:spPr/>
        <p:txBody>
          <a:bodyPr/>
          <a:lstStyle/>
          <a:p>
            <a:fld id="{0E64BFD0-CEC1-4704-8B7A-8C64C45FD7A3}" type="slidenum">
              <a:rPr lang="en-IN" smtClean="0"/>
              <a:t>‹#›</a:t>
            </a:fld>
            <a:endParaRPr lang="en-IN"/>
          </a:p>
        </p:txBody>
      </p:sp>
    </p:spTree>
    <p:extLst>
      <p:ext uri="{BB962C8B-B14F-4D97-AF65-F5344CB8AC3E}">
        <p14:creationId xmlns:p14="http://schemas.microsoft.com/office/powerpoint/2010/main" val="27593738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40C40-2CF7-964D-CE61-6084D4A634B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B4FC96A-648A-14FA-932F-F770E68CDEE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716A8EF-8DD2-9107-964B-1138D911AAE7}"/>
              </a:ext>
            </a:extLst>
          </p:cNvPr>
          <p:cNvSpPr>
            <a:spLocks noGrp="1"/>
          </p:cNvSpPr>
          <p:nvPr>
            <p:ph type="dt" sz="half" idx="10"/>
          </p:nvPr>
        </p:nvSpPr>
        <p:spPr/>
        <p:txBody>
          <a:bodyPr/>
          <a:lstStyle/>
          <a:p>
            <a:fld id="{AA6024B3-C80F-4909-8CB8-C9B19C3B5014}" type="datetime1">
              <a:rPr lang="en-IN" smtClean="0"/>
              <a:t>25-07-2024</a:t>
            </a:fld>
            <a:endParaRPr lang="en-IN"/>
          </a:p>
        </p:txBody>
      </p:sp>
      <p:sp>
        <p:nvSpPr>
          <p:cNvPr id="5" name="Footer Placeholder 4">
            <a:extLst>
              <a:ext uri="{FF2B5EF4-FFF2-40B4-BE49-F238E27FC236}">
                <a16:creationId xmlns:a16="http://schemas.microsoft.com/office/drawing/2014/main" id="{5953818F-DF8B-E506-72B2-50131396A050}"/>
              </a:ext>
            </a:extLst>
          </p:cNvPr>
          <p:cNvSpPr>
            <a:spLocks noGrp="1"/>
          </p:cNvSpPr>
          <p:nvPr>
            <p:ph type="ftr" sz="quarter" idx="11"/>
          </p:nvPr>
        </p:nvSpPr>
        <p:spPr/>
        <p:txBody>
          <a:bodyPr/>
          <a:lstStyle/>
          <a:p>
            <a:r>
              <a:rPr lang="en-IN"/>
              <a:t>Samriddhi Sarkar, VIT Vellore</a:t>
            </a:r>
          </a:p>
        </p:txBody>
      </p:sp>
      <p:sp>
        <p:nvSpPr>
          <p:cNvPr id="6" name="Slide Number Placeholder 5">
            <a:extLst>
              <a:ext uri="{FF2B5EF4-FFF2-40B4-BE49-F238E27FC236}">
                <a16:creationId xmlns:a16="http://schemas.microsoft.com/office/drawing/2014/main" id="{B2B36714-ACF4-F179-53D5-DC367E6AF591}"/>
              </a:ext>
            </a:extLst>
          </p:cNvPr>
          <p:cNvSpPr>
            <a:spLocks noGrp="1"/>
          </p:cNvSpPr>
          <p:nvPr>
            <p:ph type="sldNum" sz="quarter" idx="12"/>
          </p:nvPr>
        </p:nvSpPr>
        <p:spPr/>
        <p:txBody>
          <a:bodyPr/>
          <a:lstStyle/>
          <a:p>
            <a:fld id="{0E64BFD0-CEC1-4704-8B7A-8C64C45FD7A3}" type="slidenum">
              <a:rPr lang="en-IN" smtClean="0"/>
              <a:t>‹#›</a:t>
            </a:fld>
            <a:endParaRPr lang="en-IN"/>
          </a:p>
        </p:txBody>
      </p:sp>
    </p:spTree>
    <p:extLst>
      <p:ext uri="{BB962C8B-B14F-4D97-AF65-F5344CB8AC3E}">
        <p14:creationId xmlns:p14="http://schemas.microsoft.com/office/powerpoint/2010/main" val="33940779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3A4BA-79B5-D96E-0B50-F124B0CE280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1757C88-A0A2-7A1E-8A01-9B51EBE5572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043A1AD-2F86-6E65-AC4C-553EC82F53D6}"/>
              </a:ext>
            </a:extLst>
          </p:cNvPr>
          <p:cNvSpPr>
            <a:spLocks noGrp="1"/>
          </p:cNvSpPr>
          <p:nvPr>
            <p:ph type="dt" sz="half" idx="10"/>
          </p:nvPr>
        </p:nvSpPr>
        <p:spPr/>
        <p:txBody>
          <a:bodyPr/>
          <a:lstStyle/>
          <a:p>
            <a:fld id="{CD5FE9B4-AB56-4DE6-A964-11EB46CDDDB3}" type="datetime1">
              <a:rPr lang="en-IN" smtClean="0"/>
              <a:t>25-07-2024</a:t>
            </a:fld>
            <a:endParaRPr lang="en-IN"/>
          </a:p>
        </p:txBody>
      </p:sp>
      <p:sp>
        <p:nvSpPr>
          <p:cNvPr id="5" name="Footer Placeholder 4">
            <a:extLst>
              <a:ext uri="{FF2B5EF4-FFF2-40B4-BE49-F238E27FC236}">
                <a16:creationId xmlns:a16="http://schemas.microsoft.com/office/drawing/2014/main" id="{2B958A17-9CD3-C5E1-B0FE-AB596F2D1F61}"/>
              </a:ext>
            </a:extLst>
          </p:cNvPr>
          <p:cNvSpPr>
            <a:spLocks noGrp="1"/>
          </p:cNvSpPr>
          <p:nvPr>
            <p:ph type="ftr" sz="quarter" idx="11"/>
          </p:nvPr>
        </p:nvSpPr>
        <p:spPr/>
        <p:txBody>
          <a:bodyPr/>
          <a:lstStyle/>
          <a:p>
            <a:r>
              <a:rPr lang="en-IN"/>
              <a:t>Samriddhi Sarkar, VIT Vellore</a:t>
            </a:r>
          </a:p>
        </p:txBody>
      </p:sp>
      <p:sp>
        <p:nvSpPr>
          <p:cNvPr id="6" name="Slide Number Placeholder 5">
            <a:extLst>
              <a:ext uri="{FF2B5EF4-FFF2-40B4-BE49-F238E27FC236}">
                <a16:creationId xmlns:a16="http://schemas.microsoft.com/office/drawing/2014/main" id="{4539C082-ADB1-1783-84BC-DC4CF0EF77F3}"/>
              </a:ext>
            </a:extLst>
          </p:cNvPr>
          <p:cNvSpPr>
            <a:spLocks noGrp="1"/>
          </p:cNvSpPr>
          <p:nvPr>
            <p:ph type="sldNum" sz="quarter" idx="12"/>
          </p:nvPr>
        </p:nvSpPr>
        <p:spPr/>
        <p:txBody>
          <a:bodyPr/>
          <a:lstStyle/>
          <a:p>
            <a:fld id="{0E64BFD0-CEC1-4704-8B7A-8C64C45FD7A3}" type="slidenum">
              <a:rPr lang="en-IN" smtClean="0"/>
              <a:t>‹#›</a:t>
            </a:fld>
            <a:endParaRPr lang="en-IN"/>
          </a:p>
        </p:txBody>
      </p:sp>
    </p:spTree>
    <p:extLst>
      <p:ext uri="{BB962C8B-B14F-4D97-AF65-F5344CB8AC3E}">
        <p14:creationId xmlns:p14="http://schemas.microsoft.com/office/powerpoint/2010/main" val="3307500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6C5C6-206F-4639-6F7B-FC74384AEAB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04A2B96-BDBB-DEC9-3B64-4BE8B435BB5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D9B95F4-9667-B582-EC16-677B726F4A7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849DC5B-9434-420E-0A31-D077D8F799A6}"/>
              </a:ext>
            </a:extLst>
          </p:cNvPr>
          <p:cNvSpPr>
            <a:spLocks noGrp="1"/>
          </p:cNvSpPr>
          <p:nvPr>
            <p:ph type="dt" sz="half" idx="10"/>
          </p:nvPr>
        </p:nvSpPr>
        <p:spPr/>
        <p:txBody>
          <a:bodyPr/>
          <a:lstStyle/>
          <a:p>
            <a:fld id="{D866AF68-16B9-4386-9924-338A9D1B4FA5}" type="datetime1">
              <a:rPr lang="en-IN" smtClean="0"/>
              <a:t>25-07-2024</a:t>
            </a:fld>
            <a:endParaRPr lang="en-IN"/>
          </a:p>
        </p:txBody>
      </p:sp>
      <p:sp>
        <p:nvSpPr>
          <p:cNvPr id="6" name="Footer Placeholder 5">
            <a:extLst>
              <a:ext uri="{FF2B5EF4-FFF2-40B4-BE49-F238E27FC236}">
                <a16:creationId xmlns:a16="http://schemas.microsoft.com/office/drawing/2014/main" id="{C06FD0E3-9BA2-A070-FBF0-F05E91E30416}"/>
              </a:ext>
            </a:extLst>
          </p:cNvPr>
          <p:cNvSpPr>
            <a:spLocks noGrp="1"/>
          </p:cNvSpPr>
          <p:nvPr>
            <p:ph type="ftr" sz="quarter" idx="11"/>
          </p:nvPr>
        </p:nvSpPr>
        <p:spPr/>
        <p:txBody>
          <a:bodyPr/>
          <a:lstStyle/>
          <a:p>
            <a:r>
              <a:rPr lang="en-IN"/>
              <a:t>Samriddhi Sarkar, VIT Vellore</a:t>
            </a:r>
          </a:p>
        </p:txBody>
      </p:sp>
      <p:sp>
        <p:nvSpPr>
          <p:cNvPr id="7" name="Slide Number Placeholder 6">
            <a:extLst>
              <a:ext uri="{FF2B5EF4-FFF2-40B4-BE49-F238E27FC236}">
                <a16:creationId xmlns:a16="http://schemas.microsoft.com/office/drawing/2014/main" id="{47CB3116-5A69-DB3D-B822-1D3BD54D9160}"/>
              </a:ext>
            </a:extLst>
          </p:cNvPr>
          <p:cNvSpPr>
            <a:spLocks noGrp="1"/>
          </p:cNvSpPr>
          <p:nvPr>
            <p:ph type="sldNum" sz="quarter" idx="12"/>
          </p:nvPr>
        </p:nvSpPr>
        <p:spPr/>
        <p:txBody>
          <a:bodyPr/>
          <a:lstStyle/>
          <a:p>
            <a:fld id="{0E64BFD0-CEC1-4704-8B7A-8C64C45FD7A3}" type="slidenum">
              <a:rPr lang="en-IN" smtClean="0"/>
              <a:t>‹#›</a:t>
            </a:fld>
            <a:endParaRPr lang="en-IN"/>
          </a:p>
        </p:txBody>
      </p:sp>
    </p:spTree>
    <p:extLst>
      <p:ext uri="{BB962C8B-B14F-4D97-AF65-F5344CB8AC3E}">
        <p14:creationId xmlns:p14="http://schemas.microsoft.com/office/powerpoint/2010/main" val="30432511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D3723-DCD8-3F44-9C3A-426EB517535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209CB9D-403F-522A-933B-DF6F8607BAA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0626E31-6AD1-5ECD-6BEF-C23E9A718AB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14E50D1-90C7-610B-E239-2E57CCCE26B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85ECE14-CE64-0918-89E2-C3321766AB5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775CFDB-688C-E29C-37AA-363A73DE16B4}"/>
              </a:ext>
            </a:extLst>
          </p:cNvPr>
          <p:cNvSpPr>
            <a:spLocks noGrp="1"/>
          </p:cNvSpPr>
          <p:nvPr>
            <p:ph type="dt" sz="half" idx="10"/>
          </p:nvPr>
        </p:nvSpPr>
        <p:spPr/>
        <p:txBody>
          <a:bodyPr/>
          <a:lstStyle/>
          <a:p>
            <a:fld id="{BB0F8F45-5DF4-469E-91DD-09937EB43354}" type="datetime1">
              <a:rPr lang="en-IN" smtClean="0"/>
              <a:t>25-07-2024</a:t>
            </a:fld>
            <a:endParaRPr lang="en-IN"/>
          </a:p>
        </p:txBody>
      </p:sp>
      <p:sp>
        <p:nvSpPr>
          <p:cNvPr id="8" name="Footer Placeholder 7">
            <a:extLst>
              <a:ext uri="{FF2B5EF4-FFF2-40B4-BE49-F238E27FC236}">
                <a16:creationId xmlns:a16="http://schemas.microsoft.com/office/drawing/2014/main" id="{ECCE909B-B169-FF68-E13C-FFD3707D37F1}"/>
              </a:ext>
            </a:extLst>
          </p:cNvPr>
          <p:cNvSpPr>
            <a:spLocks noGrp="1"/>
          </p:cNvSpPr>
          <p:nvPr>
            <p:ph type="ftr" sz="quarter" idx="11"/>
          </p:nvPr>
        </p:nvSpPr>
        <p:spPr/>
        <p:txBody>
          <a:bodyPr/>
          <a:lstStyle/>
          <a:p>
            <a:r>
              <a:rPr lang="en-IN"/>
              <a:t>Samriddhi Sarkar, VIT Vellore</a:t>
            </a:r>
          </a:p>
        </p:txBody>
      </p:sp>
      <p:sp>
        <p:nvSpPr>
          <p:cNvPr id="9" name="Slide Number Placeholder 8">
            <a:extLst>
              <a:ext uri="{FF2B5EF4-FFF2-40B4-BE49-F238E27FC236}">
                <a16:creationId xmlns:a16="http://schemas.microsoft.com/office/drawing/2014/main" id="{9A146EC4-6A68-A3D8-0E85-48E54694F5A4}"/>
              </a:ext>
            </a:extLst>
          </p:cNvPr>
          <p:cNvSpPr>
            <a:spLocks noGrp="1"/>
          </p:cNvSpPr>
          <p:nvPr>
            <p:ph type="sldNum" sz="quarter" idx="12"/>
          </p:nvPr>
        </p:nvSpPr>
        <p:spPr/>
        <p:txBody>
          <a:bodyPr/>
          <a:lstStyle/>
          <a:p>
            <a:fld id="{0E64BFD0-CEC1-4704-8B7A-8C64C45FD7A3}" type="slidenum">
              <a:rPr lang="en-IN" smtClean="0"/>
              <a:t>‹#›</a:t>
            </a:fld>
            <a:endParaRPr lang="en-IN"/>
          </a:p>
        </p:txBody>
      </p:sp>
    </p:spTree>
    <p:extLst>
      <p:ext uri="{BB962C8B-B14F-4D97-AF65-F5344CB8AC3E}">
        <p14:creationId xmlns:p14="http://schemas.microsoft.com/office/powerpoint/2010/main" val="16050279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67AB4-48BA-E2DD-4EAA-03C6E64BE7C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F0417BB-31CF-B8B4-CC40-0179B97301D3}"/>
              </a:ext>
            </a:extLst>
          </p:cNvPr>
          <p:cNvSpPr>
            <a:spLocks noGrp="1"/>
          </p:cNvSpPr>
          <p:nvPr>
            <p:ph type="dt" sz="half" idx="10"/>
          </p:nvPr>
        </p:nvSpPr>
        <p:spPr/>
        <p:txBody>
          <a:bodyPr/>
          <a:lstStyle/>
          <a:p>
            <a:fld id="{53B7BF9A-1CA6-4394-AFCE-279A4DB5DD91}" type="datetime1">
              <a:rPr lang="en-IN" smtClean="0"/>
              <a:t>25-07-2024</a:t>
            </a:fld>
            <a:endParaRPr lang="en-IN"/>
          </a:p>
        </p:txBody>
      </p:sp>
      <p:sp>
        <p:nvSpPr>
          <p:cNvPr id="4" name="Footer Placeholder 3">
            <a:extLst>
              <a:ext uri="{FF2B5EF4-FFF2-40B4-BE49-F238E27FC236}">
                <a16:creationId xmlns:a16="http://schemas.microsoft.com/office/drawing/2014/main" id="{3A4FBEB7-3DD5-C156-3DE0-9A624162F609}"/>
              </a:ext>
            </a:extLst>
          </p:cNvPr>
          <p:cNvSpPr>
            <a:spLocks noGrp="1"/>
          </p:cNvSpPr>
          <p:nvPr>
            <p:ph type="ftr" sz="quarter" idx="11"/>
          </p:nvPr>
        </p:nvSpPr>
        <p:spPr/>
        <p:txBody>
          <a:bodyPr/>
          <a:lstStyle/>
          <a:p>
            <a:r>
              <a:rPr lang="en-IN"/>
              <a:t>Samriddhi Sarkar, VIT Vellore</a:t>
            </a:r>
          </a:p>
        </p:txBody>
      </p:sp>
      <p:sp>
        <p:nvSpPr>
          <p:cNvPr id="5" name="Slide Number Placeholder 4">
            <a:extLst>
              <a:ext uri="{FF2B5EF4-FFF2-40B4-BE49-F238E27FC236}">
                <a16:creationId xmlns:a16="http://schemas.microsoft.com/office/drawing/2014/main" id="{58BD24D7-E07E-CABD-7EF1-E4BC21AD8320}"/>
              </a:ext>
            </a:extLst>
          </p:cNvPr>
          <p:cNvSpPr>
            <a:spLocks noGrp="1"/>
          </p:cNvSpPr>
          <p:nvPr>
            <p:ph type="sldNum" sz="quarter" idx="12"/>
          </p:nvPr>
        </p:nvSpPr>
        <p:spPr/>
        <p:txBody>
          <a:bodyPr/>
          <a:lstStyle/>
          <a:p>
            <a:fld id="{0E64BFD0-CEC1-4704-8B7A-8C64C45FD7A3}" type="slidenum">
              <a:rPr lang="en-IN" smtClean="0"/>
              <a:t>‹#›</a:t>
            </a:fld>
            <a:endParaRPr lang="en-IN"/>
          </a:p>
        </p:txBody>
      </p:sp>
    </p:spTree>
    <p:extLst>
      <p:ext uri="{BB962C8B-B14F-4D97-AF65-F5344CB8AC3E}">
        <p14:creationId xmlns:p14="http://schemas.microsoft.com/office/powerpoint/2010/main" val="37545915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8CB73E7-CC44-0377-B126-A8F8CDA9139E}"/>
              </a:ext>
            </a:extLst>
          </p:cNvPr>
          <p:cNvSpPr>
            <a:spLocks noGrp="1"/>
          </p:cNvSpPr>
          <p:nvPr>
            <p:ph type="dt" sz="half" idx="10"/>
          </p:nvPr>
        </p:nvSpPr>
        <p:spPr/>
        <p:txBody>
          <a:bodyPr/>
          <a:lstStyle/>
          <a:p>
            <a:fld id="{F8091031-BBE3-467F-9130-D654E4DE1A1B}" type="datetime1">
              <a:rPr lang="en-IN" smtClean="0"/>
              <a:t>25-07-2024</a:t>
            </a:fld>
            <a:endParaRPr lang="en-IN"/>
          </a:p>
        </p:txBody>
      </p:sp>
      <p:sp>
        <p:nvSpPr>
          <p:cNvPr id="3" name="Footer Placeholder 2">
            <a:extLst>
              <a:ext uri="{FF2B5EF4-FFF2-40B4-BE49-F238E27FC236}">
                <a16:creationId xmlns:a16="http://schemas.microsoft.com/office/drawing/2014/main" id="{9C744238-5D10-59E2-260E-D32CA2A7185F}"/>
              </a:ext>
            </a:extLst>
          </p:cNvPr>
          <p:cNvSpPr>
            <a:spLocks noGrp="1"/>
          </p:cNvSpPr>
          <p:nvPr>
            <p:ph type="ftr" sz="quarter" idx="11"/>
          </p:nvPr>
        </p:nvSpPr>
        <p:spPr/>
        <p:txBody>
          <a:bodyPr/>
          <a:lstStyle/>
          <a:p>
            <a:r>
              <a:rPr lang="en-IN"/>
              <a:t>Samriddhi Sarkar, VIT Vellore</a:t>
            </a:r>
          </a:p>
        </p:txBody>
      </p:sp>
      <p:sp>
        <p:nvSpPr>
          <p:cNvPr id="4" name="Slide Number Placeholder 3">
            <a:extLst>
              <a:ext uri="{FF2B5EF4-FFF2-40B4-BE49-F238E27FC236}">
                <a16:creationId xmlns:a16="http://schemas.microsoft.com/office/drawing/2014/main" id="{67994492-122A-0EB6-1B48-2D69D5639DBB}"/>
              </a:ext>
            </a:extLst>
          </p:cNvPr>
          <p:cNvSpPr>
            <a:spLocks noGrp="1"/>
          </p:cNvSpPr>
          <p:nvPr>
            <p:ph type="sldNum" sz="quarter" idx="12"/>
          </p:nvPr>
        </p:nvSpPr>
        <p:spPr/>
        <p:txBody>
          <a:bodyPr/>
          <a:lstStyle/>
          <a:p>
            <a:fld id="{0E64BFD0-CEC1-4704-8B7A-8C64C45FD7A3}" type="slidenum">
              <a:rPr lang="en-IN" smtClean="0"/>
              <a:t>‹#›</a:t>
            </a:fld>
            <a:endParaRPr lang="en-IN"/>
          </a:p>
        </p:txBody>
      </p:sp>
    </p:spTree>
    <p:extLst>
      <p:ext uri="{BB962C8B-B14F-4D97-AF65-F5344CB8AC3E}">
        <p14:creationId xmlns:p14="http://schemas.microsoft.com/office/powerpoint/2010/main" val="13022779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AEE93-7812-113F-6A50-3E08C84361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137C622-9079-1CAF-B8F1-A82903C938F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CF3AD37-EF37-B4BA-806C-4F65B7EA3C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C602F5-4BB6-A46B-BACD-52E30603F3A9}"/>
              </a:ext>
            </a:extLst>
          </p:cNvPr>
          <p:cNvSpPr>
            <a:spLocks noGrp="1"/>
          </p:cNvSpPr>
          <p:nvPr>
            <p:ph type="dt" sz="half" idx="10"/>
          </p:nvPr>
        </p:nvSpPr>
        <p:spPr/>
        <p:txBody>
          <a:bodyPr/>
          <a:lstStyle/>
          <a:p>
            <a:fld id="{D2013A4C-42FA-43D9-9A74-F0E9FB727AC7}" type="datetime1">
              <a:rPr lang="en-IN" smtClean="0"/>
              <a:t>25-07-2024</a:t>
            </a:fld>
            <a:endParaRPr lang="en-IN"/>
          </a:p>
        </p:txBody>
      </p:sp>
      <p:sp>
        <p:nvSpPr>
          <p:cNvPr id="6" name="Footer Placeholder 5">
            <a:extLst>
              <a:ext uri="{FF2B5EF4-FFF2-40B4-BE49-F238E27FC236}">
                <a16:creationId xmlns:a16="http://schemas.microsoft.com/office/drawing/2014/main" id="{0FAB5188-6E1A-EDDD-DB54-555C5210E836}"/>
              </a:ext>
            </a:extLst>
          </p:cNvPr>
          <p:cNvSpPr>
            <a:spLocks noGrp="1"/>
          </p:cNvSpPr>
          <p:nvPr>
            <p:ph type="ftr" sz="quarter" idx="11"/>
          </p:nvPr>
        </p:nvSpPr>
        <p:spPr/>
        <p:txBody>
          <a:bodyPr/>
          <a:lstStyle/>
          <a:p>
            <a:r>
              <a:rPr lang="en-IN"/>
              <a:t>Samriddhi Sarkar, VIT Vellore</a:t>
            </a:r>
          </a:p>
        </p:txBody>
      </p:sp>
      <p:sp>
        <p:nvSpPr>
          <p:cNvPr id="7" name="Slide Number Placeholder 6">
            <a:extLst>
              <a:ext uri="{FF2B5EF4-FFF2-40B4-BE49-F238E27FC236}">
                <a16:creationId xmlns:a16="http://schemas.microsoft.com/office/drawing/2014/main" id="{5966D912-6CA6-980E-6856-9AAEE1512093}"/>
              </a:ext>
            </a:extLst>
          </p:cNvPr>
          <p:cNvSpPr>
            <a:spLocks noGrp="1"/>
          </p:cNvSpPr>
          <p:nvPr>
            <p:ph type="sldNum" sz="quarter" idx="12"/>
          </p:nvPr>
        </p:nvSpPr>
        <p:spPr/>
        <p:txBody>
          <a:bodyPr/>
          <a:lstStyle/>
          <a:p>
            <a:fld id="{0E64BFD0-CEC1-4704-8B7A-8C64C45FD7A3}" type="slidenum">
              <a:rPr lang="en-IN" smtClean="0"/>
              <a:t>‹#›</a:t>
            </a:fld>
            <a:endParaRPr lang="en-IN"/>
          </a:p>
        </p:txBody>
      </p:sp>
    </p:spTree>
    <p:extLst>
      <p:ext uri="{BB962C8B-B14F-4D97-AF65-F5344CB8AC3E}">
        <p14:creationId xmlns:p14="http://schemas.microsoft.com/office/powerpoint/2010/main" val="14225144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9DDEB-E3D0-26A6-3805-5770B09993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F6396DC-1E97-C9D3-49B0-DE6A37ACB4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CA7EE4C-29C4-7B59-72DA-E2F65CFABA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558F95-2E3A-93D6-EEBC-6AC9861EBE58}"/>
              </a:ext>
            </a:extLst>
          </p:cNvPr>
          <p:cNvSpPr>
            <a:spLocks noGrp="1"/>
          </p:cNvSpPr>
          <p:nvPr>
            <p:ph type="dt" sz="half" idx="10"/>
          </p:nvPr>
        </p:nvSpPr>
        <p:spPr/>
        <p:txBody>
          <a:bodyPr/>
          <a:lstStyle/>
          <a:p>
            <a:fld id="{79534C58-8777-4B1E-AC80-D90DBB437B99}" type="datetime1">
              <a:rPr lang="en-IN" smtClean="0"/>
              <a:t>25-07-2024</a:t>
            </a:fld>
            <a:endParaRPr lang="en-IN"/>
          </a:p>
        </p:txBody>
      </p:sp>
      <p:sp>
        <p:nvSpPr>
          <p:cNvPr id="6" name="Footer Placeholder 5">
            <a:extLst>
              <a:ext uri="{FF2B5EF4-FFF2-40B4-BE49-F238E27FC236}">
                <a16:creationId xmlns:a16="http://schemas.microsoft.com/office/drawing/2014/main" id="{A5239808-0F0C-AD9F-FB54-CB18C3A824DD}"/>
              </a:ext>
            </a:extLst>
          </p:cNvPr>
          <p:cNvSpPr>
            <a:spLocks noGrp="1"/>
          </p:cNvSpPr>
          <p:nvPr>
            <p:ph type="ftr" sz="quarter" idx="11"/>
          </p:nvPr>
        </p:nvSpPr>
        <p:spPr/>
        <p:txBody>
          <a:bodyPr/>
          <a:lstStyle/>
          <a:p>
            <a:r>
              <a:rPr lang="en-IN"/>
              <a:t>Samriddhi Sarkar, VIT Vellore</a:t>
            </a:r>
          </a:p>
        </p:txBody>
      </p:sp>
      <p:sp>
        <p:nvSpPr>
          <p:cNvPr id="7" name="Slide Number Placeholder 6">
            <a:extLst>
              <a:ext uri="{FF2B5EF4-FFF2-40B4-BE49-F238E27FC236}">
                <a16:creationId xmlns:a16="http://schemas.microsoft.com/office/drawing/2014/main" id="{7EF10C64-DC91-2869-8B6B-8B0655A09A57}"/>
              </a:ext>
            </a:extLst>
          </p:cNvPr>
          <p:cNvSpPr>
            <a:spLocks noGrp="1"/>
          </p:cNvSpPr>
          <p:nvPr>
            <p:ph type="sldNum" sz="quarter" idx="12"/>
          </p:nvPr>
        </p:nvSpPr>
        <p:spPr/>
        <p:txBody>
          <a:bodyPr/>
          <a:lstStyle/>
          <a:p>
            <a:fld id="{0E64BFD0-CEC1-4704-8B7A-8C64C45FD7A3}" type="slidenum">
              <a:rPr lang="en-IN" smtClean="0"/>
              <a:t>‹#›</a:t>
            </a:fld>
            <a:endParaRPr lang="en-IN"/>
          </a:p>
        </p:txBody>
      </p:sp>
    </p:spTree>
    <p:extLst>
      <p:ext uri="{BB962C8B-B14F-4D97-AF65-F5344CB8AC3E}">
        <p14:creationId xmlns:p14="http://schemas.microsoft.com/office/powerpoint/2010/main" val="16703310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3C639-F5D8-9DC3-7724-B34497AAEAF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36CBA49-D173-06DE-FDDF-7D02D17210B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969C2A1-42D5-C830-028D-2DAC1DEA3A19}"/>
              </a:ext>
            </a:extLst>
          </p:cNvPr>
          <p:cNvSpPr>
            <a:spLocks noGrp="1"/>
          </p:cNvSpPr>
          <p:nvPr>
            <p:ph type="dt" sz="half" idx="10"/>
          </p:nvPr>
        </p:nvSpPr>
        <p:spPr/>
        <p:txBody>
          <a:bodyPr/>
          <a:lstStyle/>
          <a:p>
            <a:fld id="{00AAE053-DDE5-4049-A107-321D9FEE7228}" type="datetime1">
              <a:rPr lang="en-IN" smtClean="0"/>
              <a:t>25-07-2024</a:t>
            </a:fld>
            <a:endParaRPr lang="en-IN"/>
          </a:p>
        </p:txBody>
      </p:sp>
      <p:sp>
        <p:nvSpPr>
          <p:cNvPr id="5" name="Footer Placeholder 4">
            <a:extLst>
              <a:ext uri="{FF2B5EF4-FFF2-40B4-BE49-F238E27FC236}">
                <a16:creationId xmlns:a16="http://schemas.microsoft.com/office/drawing/2014/main" id="{2D8BCD2D-BAAD-7605-1982-07CEA43A86C6}"/>
              </a:ext>
            </a:extLst>
          </p:cNvPr>
          <p:cNvSpPr>
            <a:spLocks noGrp="1"/>
          </p:cNvSpPr>
          <p:nvPr>
            <p:ph type="ftr" sz="quarter" idx="11"/>
          </p:nvPr>
        </p:nvSpPr>
        <p:spPr/>
        <p:txBody>
          <a:bodyPr/>
          <a:lstStyle/>
          <a:p>
            <a:r>
              <a:rPr lang="en-IN"/>
              <a:t>Samriddhi Sarkar, VIT Vellore</a:t>
            </a:r>
          </a:p>
        </p:txBody>
      </p:sp>
      <p:sp>
        <p:nvSpPr>
          <p:cNvPr id="6" name="Slide Number Placeholder 5">
            <a:extLst>
              <a:ext uri="{FF2B5EF4-FFF2-40B4-BE49-F238E27FC236}">
                <a16:creationId xmlns:a16="http://schemas.microsoft.com/office/drawing/2014/main" id="{047BFA3E-180A-3760-F339-5CB2423B8D16}"/>
              </a:ext>
            </a:extLst>
          </p:cNvPr>
          <p:cNvSpPr>
            <a:spLocks noGrp="1"/>
          </p:cNvSpPr>
          <p:nvPr>
            <p:ph type="sldNum" sz="quarter" idx="12"/>
          </p:nvPr>
        </p:nvSpPr>
        <p:spPr/>
        <p:txBody>
          <a:bodyPr/>
          <a:lstStyle/>
          <a:p>
            <a:fld id="{0E64BFD0-CEC1-4704-8B7A-8C64C45FD7A3}" type="slidenum">
              <a:rPr lang="en-IN" smtClean="0"/>
              <a:t>‹#›</a:t>
            </a:fld>
            <a:endParaRPr lang="en-IN"/>
          </a:p>
        </p:txBody>
      </p:sp>
    </p:spTree>
    <p:extLst>
      <p:ext uri="{BB962C8B-B14F-4D97-AF65-F5344CB8AC3E}">
        <p14:creationId xmlns:p14="http://schemas.microsoft.com/office/powerpoint/2010/main" val="16806511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3D6E608-6A2E-5016-FDAE-943E089D159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9F936FC-DB08-C6D6-DAFD-94AD78C7EE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06DCE4-7A86-DEB7-F894-1AE8A5292987}"/>
              </a:ext>
            </a:extLst>
          </p:cNvPr>
          <p:cNvSpPr>
            <a:spLocks noGrp="1"/>
          </p:cNvSpPr>
          <p:nvPr>
            <p:ph type="dt" sz="half" idx="10"/>
          </p:nvPr>
        </p:nvSpPr>
        <p:spPr/>
        <p:txBody>
          <a:bodyPr/>
          <a:lstStyle/>
          <a:p>
            <a:fld id="{1591229D-651F-4C10-9D13-694704729F25}" type="datetime1">
              <a:rPr lang="en-IN" smtClean="0"/>
              <a:t>25-07-2024</a:t>
            </a:fld>
            <a:endParaRPr lang="en-IN"/>
          </a:p>
        </p:txBody>
      </p:sp>
      <p:sp>
        <p:nvSpPr>
          <p:cNvPr id="5" name="Footer Placeholder 4">
            <a:extLst>
              <a:ext uri="{FF2B5EF4-FFF2-40B4-BE49-F238E27FC236}">
                <a16:creationId xmlns:a16="http://schemas.microsoft.com/office/drawing/2014/main" id="{A5E218BF-98A1-3C93-7225-AF3C3BC14E65}"/>
              </a:ext>
            </a:extLst>
          </p:cNvPr>
          <p:cNvSpPr>
            <a:spLocks noGrp="1"/>
          </p:cNvSpPr>
          <p:nvPr>
            <p:ph type="ftr" sz="quarter" idx="11"/>
          </p:nvPr>
        </p:nvSpPr>
        <p:spPr/>
        <p:txBody>
          <a:bodyPr/>
          <a:lstStyle/>
          <a:p>
            <a:r>
              <a:rPr lang="en-IN"/>
              <a:t>Samriddhi Sarkar, VIT Vellore</a:t>
            </a:r>
          </a:p>
        </p:txBody>
      </p:sp>
      <p:sp>
        <p:nvSpPr>
          <p:cNvPr id="6" name="Slide Number Placeholder 5">
            <a:extLst>
              <a:ext uri="{FF2B5EF4-FFF2-40B4-BE49-F238E27FC236}">
                <a16:creationId xmlns:a16="http://schemas.microsoft.com/office/drawing/2014/main" id="{778B84AD-08F6-4EA3-42CE-58C151013DDC}"/>
              </a:ext>
            </a:extLst>
          </p:cNvPr>
          <p:cNvSpPr>
            <a:spLocks noGrp="1"/>
          </p:cNvSpPr>
          <p:nvPr>
            <p:ph type="sldNum" sz="quarter" idx="12"/>
          </p:nvPr>
        </p:nvSpPr>
        <p:spPr/>
        <p:txBody>
          <a:bodyPr/>
          <a:lstStyle/>
          <a:p>
            <a:fld id="{0E64BFD0-CEC1-4704-8B7A-8C64C45FD7A3}" type="slidenum">
              <a:rPr lang="en-IN" smtClean="0"/>
              <a:t>‹#›</a:t>
            </a:fld>
            <a:endParaRPr lang="en-IN"/>
          </a:p>
        </p:txBody>
      </p:sp>
    </p:spTree>
    <p:extLst>
      <p:ext uri="{BB962C8B-B14F-4D97-AF65-F5344CB8AC3E}">
        <p14:creationId xmlns:p14="http://schemas.microsoft.com/office/powerpoint/2010/main" val="29942602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AAFAD10-4817-082D-9158-DD02322EC5E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75B7557-CD45-4223-72E2-E450F5AEC8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BBE6C53-C6F0-1E0F-C355-3EBA31E9BD1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4D1899-9E62-4204-ABE8-183714637815}" type="datetime1">
              <a:rPr lang="en-IN" smtClean="0"/>
              <a:t>25-07-2024</a:t>
            </a:fld>
            <a:endParaRPr lang="en-IN"/>
          </a:p>
        </p:txBody>
      </p:sp>
      <p:sp>
        <p:nvSpPr>
          <p:cNvPr id="5" name="Footer Placeholder 4">
            <a:extLst>
              <a:ext uri="{FF2B5EF4-FFF2-40B4-BE49-F238E27FC236}">
                <a16:creationId xmlns:a16="http://schemas.microsoft.com/office/drawing/2014/main" id="{9BEF5473-2800-98D3-9642-FC7F4E0D05F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Samriddhi Sarkar, VIT Vellore</a:t>
            </a:r>
          </a:p>
        </p:txBody>
      </p:sp>
      <p:sp>
        <p:nvSpPr>
          <p:cNvPr id="6" name="Slide Number Placeholder 5">
            <a:extLst>
              <a:ext uri="{FF2B5EF4-FFF2-40B4-BE49-F238E27FC236}">
                <a16:creationId xmlns:a16="http://schemas.microsoft.com/office/drawing/2014/main" id="{19954E36-5C9E-599F-561E-CD3B67BBDB4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E64BFD0-CEC1-4704-8B7A-8C64C45FD7A3}" type="slidenum">
              <a:rPr lang="en-IN" smtClean="0"/>
              <a:t>‹#›</a:t>
            </a:fld>
            <a:endParaRPr lang="en-IN"/>
          </a:p>
        </p:txBody>
      </p:sp>
    </p:spTree>
    <p:extLst>
      <p:ext uri="{BB962C8B-B14F-4D97-AF65-F5344CB8AC3E}">
        <p14:creationId xmlns:p14="http://schemas.microsoft.com/office/powerpoint/2010/main" val="34731625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00305-5850-63B5-BF99-DF0179A65DD9}"/>
              </a:ext>
            </a:extLst>
          </p:cNvPr>
          <p:cNvSpPr>
            <a:spLocks noGrp="1"/>
          </p:cNvSpPr>
          <p:nvPr>
            <p:ph type="ctrTitle"/>
          </p:nvPr>
        </p:nvSpPr>
        <p:spPr/>
        <p:txBody>
          <a:bodyPr/>
          <a:lstStyle/>
          <a:p>
            <a:r>
              <a:rPr lang="en-US" b="1" dirty="0"/>
              <a:t>Types of Environments in AI</a:t>
            </a:r>
            <a:endParaRPr lang="en-IN" b="1" dirty="0"/>
          </a:p>
        </p:txBody>
      </p:sp>
      <p:sp>
        <p:nvSpPr>
          <p:cNvPr id="4" name="TextBox 3">
            <a:extLst>
              <a:ext uri="{FF2B5EF4-FFF2-40B4-BE49-F238E27FC236}">
                <a16:creationId xmlns:a16="http://schemas.microsoft.com/office/drawing/2014/main" id="{D692A6A5-08A3-1CF2-AA68-FDCB19334E8B}"/>
              </a:ext>
            </a:extLst>
          </p:cNvPr>
          <p:cNvSpPr txBox="1"/>
          <p:nvPr/>
        </p:nvSpPr>
        <p:spPr>
          <a:xfrm>
            <a:off x="7772400" y="4865914"/>
            <a:ext cx="3288464" cy="923330"/>
          </a:xfrm>
          <a:prstGeom prst="rect">
            <a:avLst/>
          </a:prstGeom>
          <a:noFill/>
        </p:spPr>
        <p:txBody>
          <a:bodyPr wrap="none" rtlCol="0">
            <a:spAutoFit/>
          </a:bodyPr>
          <a:lstStyle/>
          <a:p>
            <a:r>
              <a:rPr lang="en-IN" b="1" dirty="0" err="1">
                <a:solidFill>
                  <a:schemeClr val="tx1">
                    <a:lumMod val="75000"/>
                    <a:lumOff val="25000"/>
                  </a:schemeClr>
                </a:solidFill>
              </a:rPr>
              <a:t>Dr.</a:t>
            </a:r>
            <a:r>
              <a:rPr lang="en-IN" b="1" dirty="0">
                <a:solidFill>
                  <a:schemeClr val="tx1">
                    <a:lumMod val="75000"/>
                    <a:lumOff val="25000"/>
                  </a:schemeClr>
                </a:solidFill>
              </a:rPr>
              <a:t> Samriddhi Sarkar</a:t>
            </a:r>
          </a:p>
          <a:p>
            <a:r>
              <a:rPr lang="en-IN" b="1" dirty="0">
                <a:solidFill>
                  <a:schemeClr val="tx1">
                    <a:lumMod val="75000"/>
                    <a:lumOff val="25000"/>
                  </a:schemeClr>
                </a:solidFill>
              </a:rPr>
              <a:t>Assistant Professor Senior Grade</a:t>
            </a:r>
          </a:p>
          <a:p>
            <a:r>
              <a:rPr lang="en-IN" b="1" dirty="0">
                <a:solidFill>
                  <a:schemeClr val="tx1">
                    <a:lumMod val="75000"/>
                    <a:lumOff val="25000"/>
                  </a:schemeClr>
                </a:solidFill>
              </a:rPr>
              <a:t>SCOPE, VIT Vellore</a:t>
            </a:r>
          </a:p>
        </p:txBody>
      </p:sp>
      <p:sp>
        <p:nvSpPr>
          <p:cNvPr id="5" name="Footer Placeholder 4">
            <a:extLst>
              <a:ext uri="{FF2B5EF4-FFF2-40B4-BE49-F238E27FC236}">
                <a16:creationId xmlns:a16="http://schemas.microsoft.com/office/drawing/2014/main" id="{5DA71C1A-A614-0676-7D82-1E996A3DB637}"/>
              </a:ext>
            </a:extLst>
          </p:cNvPr>
          <p:cNvSpPr>
            <a:spLocks noGrp="1"/>
          </p:cNvSpPr>
          <p:nvPr>
            <p:ph type="ftr" sz="quarter" idx="11"/>
          </p:nvPr>
        </p:nvSpPr>
        <p:spPr/>
        <p:txBody>
          <a:bodyPr/>
          <a:lstStyle/>
          <a:p>
            <a:r>
              <a:rPr lang="en-IN"/>
              <a:t>Samriddhi Sarkar, VIT Vellore</a:t>
            </a:r>
          </a:p>
        </p:txBody>
      </p:sp>
      <p:sp>
        <p:nvSpPr>
          <p:cNvPr id="6" name="Slide Number Placeholder 5">
            <a:extLst>
              <a:ext uri="{FF2B5EF4-FFF2-40B4-BE49-F238E27FC236}">
                <a16:creationId xmlns:a16="http://schemas.microsoft.com/office/drawing/2014/main" id="{4F3D448B-06E3-87A2-8552-05BD3E57D22D}"/>
              </a:ext>
            </a:extLst>
          </p:cNvPr>
          <p:cNvSpPr>
            <a:spLocks noGrp="1"/>
          </p:cNvSpPr>
          <p:nvPr>
            <p:ph type="sldNum" sz="quarter" idx="12"/>
          </p:nvPr>
        </p:nvSpPr>
        <p:spPr/>
        <p:txBody>
          <a:bodyPr/>
          <a:lstStyle/>
          <a:p>
            <a:fld id="{0E64BFD0-CEC1-4704-8B7A-8C64C45FD7A3}" type="slidenum">
              <a:rPr lang="en-IN" smtClean="0"/>
              <a:t>1</a:t>
            </a:fld>
            <a:endParaRPr lang="en-IN"/>
          </a:p>
        </p:txBody>
      </p:sp>
    </p:spTree>
    <p:extLst>
      <p:ext uri="{BB962C8B-B14F-4D97-AF65-F5344CB8AC3E}">
        <p14:creationId xmlns:p14="http://schemas.microsoft.com/office/powerpoint/2010/main" val="26364249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A4744-D6B1-7996-2D93-244C077D6B37}"/>
              </a:ext>
            </a:extLst>
          </p:cNvPr>
          <p:cNvSpPr>
            <a:spLocks noGrp="1"/>
          </p:cNvSpPr>
          <p:nvPr>
            <p:ph type="title"/>
          </p:nvPr>
        </p:nvSpPr>
        <p:spPr/>
        <p:txBody>
          <a:bodyPr/>
          <a:lstStyle/>
          <a:p>
            <a:r>
              <a:rPr lang="en-IN" b="1" dirty="0"/>
              <a:t>Types of Environments</a:t>
            </a:r>
          </a:p>
        </p:txBody>
      </p:sp>
      <p:sp>
        <p:nvSpPr>
          <p:cNvPr id="3" name="Content Placeholder 2">
            <a:extLst>
              <a:ext uri="{FF2B5EF4-FFF2-40B4-BE49-F238E27FC236}">
                <a16:creationId xmlns:a16="http://schemas.microsoft.com/office/drawing/2014/main" id="{C4FDB96E-30CC-06E3-A481-ADAD385D450C}"/>
              </a:ext>
            </a:extLst>
          </p:cNvPr>
          <p:cNvSpPr>
            <a:spLocks noGrp="1"/>
          </p:cNvSpPr>
          <p:nvPr>
            <p:ph idx="1"/>
          </p:nvPr>
        </p:nvSpPr>
        <p:spPr/>
        <p:txBody>
          <a:bodyPr>
            <a:normAutofit fontScale="92500" lnSpcReduction="10000"/>
          </a:bodyPr>
          <a:lstStyle/>
          <a:p>
            <a:r>
              <a:rPr lang="en-US" dirty="0"/>
              <a:t>An environment in artificial intelligence is the </a:t>
            </a:r>
            <a:r>
              <a:rPr lang="en-US" dirty="0">
                <a:solidFill>
                  <a:srgbClr val="FF0000"/>
                </a:solidFill>
              </a:rPr>
              <a:t>surrounding of the agent</a:t>
            </a:r>
            <a:r>
              <a:rPr lang="en-US" dirty="0"/>
              <a:t>.</a:t>
            </a:r>
          </a:p>
          <a:p>
            <a:r>
              <a:rPr lang="en-US" dirty="0"/>
              <a:t>The agent </a:t>
            </a:r>
            <a:r>
              <a:rPr lang="en-US" dirty="0">
                <a:solidFill>
                  <a:srgbClr val="FF0000"/>
                </a:solidFill>
              </a:rPr>
              <a:t>takes input </a:t>
            </a:r>
            <a:r>
              <a:rPr lang="en-US" dirty="0"/>
              <a:t>from the environment through </a:t>
            </a:r>
            <a:r>
              <a:rPr lang="en-US" dirty="0">
                <a:solidFill>
                  <a:srgbClr val="FF0000"/>
                </a:solidFill>
              </a:rPr>
              <a:t>sensors</a:t>
            </a:r>
            <a:r>
              <a:rPr lang="en-US" dirty="0"/>
              <a:t> and </a:t>
            </a:r>
            <a:r>
              <a:rPr lang="en-US" dirty="0">
                <a:solidFill>
                  <a:srgbClr val="FF0000"/>
                </a:solidFill>
              </a:rPr>
              <a:t>delivers the output</a:t>
            </a:r>
            <a:r>
              <a:rPr lang="en-US" dirty="0"/>
              <a:t> to the environment through </a:t>
            </a:r>
            <a:r>
              <a:rPr lang="en-US" dirty="0">
                <a:solidFill>
                  <a:srgbClr val="FF0000"/>
                </a:solidFill>
              </a:rPr>
              <a:t>actuators</a:t>
            </a:r>
            <a:r>
              <a:rPr lang="en-US" dirty="0"/>
              <a:t>.</a:t>
            </a:r>
          </a:p>
          <a:p>
            <a:r>
              <a:rPr lang="en-US" dirty="0"/>
              <a:t>There are several types of environments:</a:t>
            </a:r>
          </a:p>
          <a:p>
            <a:pPr marL="914400" lvl="1" indent="-457200">
              <a:buFont typeface="+mj-lt"/>
              <a:buAutoNum type="arabicPeriod"/>
            </a:pPr>
            <a:r>
              <a:rPr lang="en-US" dirty="0"/>
              <a:t>Fully Observable vs Partially Observable</a:t>
            </a:r>
          </a:p>
          <a:p>
            <a:pPr marL="914400" lvl="1" indent="-457200">
              <a:buFont typeface="+mj-lt"/>
              <a:buAutoNum type="arabicPeriod"/>
            </a:pPr>
            <a:r>
              <a:rPr lang="en-US" dirty="0"/>
              <a:t>Deterministic vs Stochastic</a:t>
            </a:r>
          </a:p>
          <a:p>
            <a:pPr marL="914400" lvl="1" indent="-457200">
              <a:buFont typeface="+mj-lt"/>
              <a:buAutoNum type="arabicPeriod"/>
            </a:pPr>
            <a:r>
              <a:rPr lang="en-US" dirty="0"/>
              <a:t>Competitive vs Collaborative</a:t>
            </a:r>
          </a:p>
          <a:p>
            <a:pPr marL="914400" lvl="1" indent="-457200">
              <a:buFont typeface="+mj-lt"/>
              <a:buAutoNum type="arabicPeriod"/>
            </a:pPr>
            <a:r>
              <a:rPr lang="en-US" dirty="0"/>
              <a:t>Single-agent vs Multi-agent</a:t>
            </a:r>
          </a:p>
          <a:p>
            <a:pPr marL="914400" lvl="1" indent="-457200">
              <a:buFont typeface="+mj-lt"/>
              <a:buAutoNum type="arabicPeriod"/>
            </a:pPr>
            <a:r>
              <a:rPr lang="en-US" dirty="0"/>
              <a:t>Static vs Dynamic</a:t>
            </a:r>
          </a:p>
          <a:p>
            <a:pPr marL="914400" lvl="1" indent="-457200">
              <a:buFont typeface="+mj-lt"/>
              <a:buAutoNum type="arabicPeriod"/>
            </a:pPr>
            <a:r>
              <a:rPr lang="en-US" dirty="0"/>
              <a:t>Discrete vs Continuous</a:t>
            </a:r>
          </a:p>
          <a:p>
            <a:pPr marL="914400" lvl="1" indent="-457200">
              <a:buFont typeface="+mj-lt"/>
              <a:buAutoNum type="arabicPeriod"/>
            </a:pPr>
            <a:r>
              <a:rPr lang="en-US" dirty="0"/>
              <a:t>Episodic vs Sequential</a:t>
            </a:r>
          </a:p>
          <a:p>
            <a:pPr marL="914400" lvl="1" indent="-457200">
              <a:buFont typeface="+mj-lt"/>
              <a:buAutoNum type="arabicPeriod"/>
            </a:pPr>
            <a:r>
              <a:rPr lang="en-US" dirty="0"/>
              <a:t>Known vs Unknown</a:t>
            </a:r>
            <a:endParaRPr lang="en-IN" dirty="0"/>
          </a:p>
        </p:txBody>
      </p:sp>
      <p:sp>
        <p:nvSpPr>
          <p:cNvPr id="4" name="Footer Placeholder 3">
            <a:extLst>
              <a:ext uri="{FF2B5EF4-FFF2-40B4-BE49-F238E27FC236}">
                <a16:creationId xmlns:a16="http://schemas.microsoft.com/office/drawing/2014/main" id="{94EBA89E-0C1C-9F07-EC6E-7EC46C089528}"/>
              </a:ext>
            </a:extLst>
          </p:cNvPr>
          <p:cNvSpPr>
            <a:spLocks noGrp="1"/>
          </p:cNvSpPr>
          <p:nvPr>
            <p:ph type="ftr" sz="quarter" idx="11"/>
          </p:nvPr>
        </p:nvSpPr>
        <p:spPr/>
        <p:txBody>
          <a:bodyPr/>
          <a:lstStyle/>
          <a:p>
            <a:r>
              <a:rPr lang="en-IN"/>
              <a:t>Samriddhi Sarkar, VIT Vellore</a:t>
            </a:r>
          </a:p>
        </p:txBody>
      </p:sp>
      <p:sp>
        <p:nvSpPr>
          <p:cNvPr id="5" name="Slide Number Placeholder 4">
            <a:extLst>
              <a:ext uri="{FF2B5EF4-FFF2-40B4-BE49-F238E27FC236}">
                <a16:creationId xmlns:a16="http://schemas.microsoft.com/office/drawing/2014/main" id="{0B7D871A-19A0-473C-BA90-5E58BC9677C2}"/>
              </a:ext>
            </a:extLst>
          </p:cNvPr>
          <p:cNvSpPr>
            <a:spLocks noGrp="1"/>
          </p:cNvSpPr>
          <p:nvPr>
            <p:ph type="sldNum" sz="quarter" idx="12"/>
          </p:nvPr>
        </p:nvSpPr>
        <p:spPr/>
        <p:txBody>
          <a:bodyPr/>
          <a:lstStyle/>
          <a:p>
            <a:fld id="{0E64BFD0-CEC1-4704-8B7A-8C64C45FD7A3}" type="slidenum">
              <a:rPr lang="en-IN" smtClean="0"/>
              <a:t>2</a:t>
            </a:fld>
            <a:endParaRPr lang="en-IN"/>
          </a:p>
        </p:txBody>
      </p:sp>
    </p:spTree>
    <p:extLst>
      <p:ext uri="{BB962C8B-B14F-4D97-AF65-F5344CB8AC3E}">
        <p14:creationId xmlns:p14="http://schemas.microsoft.com/office/powerpoint/2010/main" val="10816969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5A8DF-33B1-C054-18E0-59A633264659}"/>
              </a:ext>
            </a:extLst>
          </p:cNvPr>
          <p:cNvSpPr>
            <a:spLocks noGrp="1"/>
          </p:cNvSpPr>
          <p:nvPr>
            <p:ph type="title"/>
          </p:nvPr>
        </p:nvSpPr>
        <p:spPr/>
        <p:txBody>
          <a:bodyPr/>
          <a:lstStyle/>
          <a:p>
            <a:r>
              <a:rPr lang="en-US" b="1" dirty="0"/>
              <a:t>1.Fully Observable vs Partially Observable</a:t>
            </a:r>
            <a:endParaRPr lang="en-IN" b="1" dirty="0"/>
          </a:p>
        </p:txBody>
      </p:sp>
      <p:sp>
        <p:nvSpPr>
          <p:cNvPr id="3" name="Content Placeholder 2">
            <a:extLst>
              <a:ext uri="{FF2B5EF4-FFF2-40B4-BE49-F238E27FC236}">
                <a16:creationId xmlns:a16="http://schemas.microsoft.com/office/drawing/2014/main" id="{EBBAE851-6AD0-CE75-9930-FA9144273712}"/>
              </a:ext>
            </a:extLst>
          </p:cNvPr>
          <p:cNvSpPr>
            <a:spLocks noGrp="1"/>
          </p:cNvSpPr>
          <p:nvPr>
            <p:ph idx="1"/>
          </p:nvPr>
        </p:nvSpPr>
        <p:spPr/>
        <p:txBody>
          <a:bodyPr>
            <a:normAutofit fontScale="92500" lnSpcReduction="10000"/>
          </a:bodyPr>
          <a:lstStyle/>
          <a:p>
            <a:r>
              <a:rPr lang="en-US" dirty="0"/>
              <a:t>When an agent sensor is capable to sense or access the complete state of an agent at each point in time, it is said to be a fully observable environment else it is partially observable.</a:t>
            </a:r>
          </a:p>
          <a:p>
            <a:r>
              <a:rPr lang="en-US" dirty="0"/>
              <a:t>Maintaining a fully observable environment is easy as there is no need to keep track of the history of the surrounding.</a:t>
            </a:r>
          </a:p>
          <a:p>
            <a:r>
              <a:rPr lang="en-US" dirty="0"/>
              <a:t>An environment is called unobservable when the agent has no sensors in all environments.</a:t>
            </a:r>
          </a:p>
          <a:p>
            <a:r>
              <a:rPr lang="en-US" dirty="0"/>
              <a:t>Examples:</a:t>
            </a:r>
          </a:p>
          <a:p>
            <a:r>
              <a:rPr lang="en-US" dirty="0">
                <a:solidFill>
                  <a:srgbClr val="FF0000"/>
                </a:solidFill>
              </a:rPr>
              <a:t>– Chess </a:t>
            </a:r>
            <a:r>
              <a:rPr lang="en-US" dirty="0"/>
              <a:t>– the board is fully observable, and so are the opponent’s moves.</a:t>
            </a:r>
          </a:p>
          <a:p>
            <a:r>
              <a:rPr lang="en-US" dirty="0"/>
              <a:t>– Driving – the environment is partially observable because what’s around the corner is not known.</a:t>
            </a:r>
            <a:endParaRPr lang="en-IN" dirty="0"/>
          </a:p>
        </p:txBody>
      </p:sp>
      <p:sp>
        <p:nvSpPr>
          <p:cNvPr id="4" name="Footer Placeholder 3">
            <a:extLst>
              <a:ext uri="{FF2B5EF4-FFF2-40B4-BE49-F238E27FC236}">
                <a16:creationId xmlns:a16="http://schemas.microsoft.com/office/drawing/2014/main" id="{57FC6D6A-F988-CB3A-685E-D47846C9985A}"/>
              </a:ext>
            </a:extLst>
          </p:cNvPr>
          <p:cNvSpPr>
            <a:spLocks noGrp="1"/>
          </p:cNvSpPr>
          <p:nvPr>
            <p:ph type="ftr" sz="quarter" idx="11"/>
          </p:nvPr>
        </p:nvSpPr>
        <p:spPr/>
        <p:txBody>
          <a:bodyPr/>
          <a:lstStyle/>
          <a:p>
            <a:r>
              <a:rPr lang="en-IN"/>
              <a:t>Samriddhi Sarkar, VIT Vellore</a:t>
            </a:r>
          </a:p>
        </p:txBody>
      </p:sp>
      <p:sp>
        <p:nvSpPr>
          <p:cNvPr id="5" name="Slide Number Placeholder 4">
            <a:extLst>
              <a:ext uri="{FF2B5EF4-FFF2-40B4-BE49-F238E27FC236}">
                <a16:creationId xmlns:a16="http://schemas.microsoft.com/office/drawing/2014/main" id="{109959D2-7118-BFA0-5CF1-75EBD82CBE3C}"/>
              </a:ext>
            </a:extLst>
          </p:cNvPr>
          <p:cNvSpPr>
            <a:spLocks noGrp="1"/>
          </p:cNvSpPr>
          <p:nvPr>
            <p:ph type="sldNum" sz="quarter" idx="12"/>
          </p:nvPr>
        </p:nvSpPr>
        <p:spPr/>
        <p:txBody>
          <a:bodyPr/>
          <a:lstStyle/>
          <a:p>
            <a:fld id="{0E64BFD0-CEC1-4704-8B7A-8C64C45FD7A3}" type="slidenum">
              <a:rPr lang="en-IN" smtClean="0"/>
              <a:t>3</a:t>
            </a:fld>
            <a:endParaRPr lang="en-IN"/>
          </a:p>
        </p:txBody>
      </p:sp>
    </p:spTree>
    <p:extLst>
      <p:ext uri="{BB962C8B-B14F-4D97-AF65-F5344CB8AC3E}">
        <p14:creationId xmlns:p14="http://schemas.microsoft.com/office/powerpoint/2010/main" val="37272844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84B1D-432C-B316-2968-BB022614D935}"/>
              </a:ext>
            </a:extLst>
          </p:cNvPr>
          <p:cNvSpPr>
            <a:spLocks noGrp="1"/>
          </p:cNvSpPr>
          <p:nvPr>
            <p:ph type="title"/>
          </p:nvPr>
        </p:nvSpPr>
        <p:spPr/>
        <p:txBody>
          <a:bodyPr/>
          <a:lstStyle/>
          <a:p>
            <a:r>
              <a:rPr lang="en-IN" b="1" dirty="0"/>
              <a:t>2. Deterministic vs Stochastic</a:t>
            </a:r>
          </a:p>
        </p:txBody>
      </p:sp>
      <p:sp>
        <p:nvSpPr>
          <p:cNvPr id="3" name="Content Placeholder 2">
            <a:extLst>
              <a:ext uri="{FF2B5EF4-FFF2-40B4-BE49-F238E27FC236}">
                <a16:creationId xmlns:a16="http://schemas.microsoft.com/office/drawing/2014/main" id="{8B57306B-B026-3F3A-F941-E478FB594A8F}"/>
              </a:ext>
            </a:extLst>
          </p:cNvPr>
          <p:cNvSpPr>
            <a:spLocks noGrp="1"/>
          </p:cNvSpPr>
          <p:nvPr>
            <p:ph idx="1"/>
          </p:nvPr>
        </p:nvSpPr>
        <p:spPr/>
        <p:txBody>
          <a:bodyPr>
            <a:normAutofit/>
          </a:bodyPr>
          <a:lstStyle/>
          <a:p>
            <a:r>
              <a:rPr lang="en-US" dirty="0"/>
              <a:t>When a uniqueness in the agent’s current state completely determines the next state of the agent, the environment is said to be deterministic.</a:t>
            </a:r>
          </a:p>
          <a:p>
            <a:r>
              <a:rPr lang="en-US" dirty="0"/>
              <a:t>The stochastic environment is random in nature which is not unique and cannot be completely determined by the agent.</a:t>
            </a:r>
          </a:p>
          <a:p>
            <a:r>
              <a:rPr lang="en-US" dirty="0"/>
              <a:t>Examples:</a:t>
            </a:r>
          </a:p>
          <a:p>
            <a:r>
              <a:rPr lang="en-US" dirty="0"/>
              <a:t>– Chess – there would be only a few possible moves for a coin at the current state and these moves can be determined.</a:t>
            </a:r>
          </a:p>
          <a:p>
            <a:r>
              <a:rPr lang="en-US" dirty="0"/>
              <a:t>– Game of dice- there is always 1/6 probability involved</a:t>
            </a:r>
            <a:endParaRPr lang="en-IN" dirty="0"/>
          </a:p>
        </p:txBody>
      </p:sp>
      <p:sp>
        <p:nvSpPr>
          <p:cNvPr id="4" name="Footer Placeholder 3">
            <a:extLst>
              <a:ext uri="{FF2B5EF4-FFF2-40B4-BE49-F238E27FC236}">
                <a16:creationId xmlns:a16="http://schemas.microsoft.com/office/drawing/2014/main" id="{903730AF-85CD-5F6F-4DAB-EED5105402D9}"/>
              </a:ext>
            </a:extLst>
          </p:cNvPr>
          <p:cNvSpPr>
            <a:spLocks noGrp="1"/>
          </p:cNvSpPr>
          <p:nvPr>
            <p:ph type="ftr" sz="quarter" idx="11"/>
          </p:nvPr>
        </p:nvSpPr>
        <p:spPr/>
        <p:txBody>
          <a:bodyPr/>
          <a:lstStyle/>
          <a:p>
            <a:r>
              <a:rPr lang="en-IN"/>
              <a:t>Samriddhi Sarkar, VIT Vellore</a:t>
            </a:r>
          </a:p>
        </p:txBody>
      </p:sp>
      <p:sp>
        <p:nvSpPr>
          <p:cNvPr id="5" name="Slide Number Placeholder 4">
            <a:extLst>
              <a:ext uri="{FF2B5EF4-FFF2-40B4-BE49-F238E27FC236}">
                <a16:creationId xmlns:a16="http://schemas.microsoft.com/office/drawing/2014/main" id="{A80F4CF1-29B9-C1E0-7263-439325B4A409}"/>
              </a:ext>
            </a:extLst>
          </p:cNvPr>
          <p:cNvSpPr>
            <a:spLocks noGrp="1"/>
          </p:cNvSpPr>
          <p:nvPr>
            <p:ph type="sldNum" sz="quarter" idx="12"/>
          </p:nvPr>
        </p:nvSpPr>
        <p:spPr/>
        <p:txBody>
          <a:bodyPr/>
          <a:lstStyle/>
          <a:p>
            <a:fld id="{0E64BFD0-CEC1-4704-8B7A-8C64C45FD7A3}" type="slidenum">
              <a:rPr lang="en-IN" smtClean="0"/>
              <a:t>4</a:t>
            </a:fld>
            <a:endParaRPr lang="en-IN"/>
          </a:p>
        </p:txBody>
      </p:sp>
    </p:spTree>
    <p:extLst>
      <p:ext uri="{BB962C8B-B14F-4D97-AF65-F5344CB8AC3E}">
        <p14:creationId xmlns:p14="http://schemas.microsoft.com/office/powerpoint/2010/main" val="4082037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EB240-311C-A511-D190-1738CBBCD873}"/>
              </a:ext>
            </a:extLst>
          </p:cNvPr>
          <p:cNvSpPr>
            <a:spLocks noGrp="1"/>
          </p:cNvSpPr>
          <p:nvPr>
            <p:ph type="title"/>
          </p:nvPr>
        </p:nvSpPr>
        <p:spPr/>
        <p:txBody>
          <a:bodyPr/>
          <a:lstStyle/>
          <a:p>
            <a:r>
              <a:rPr lang="en-IN" b="1" dirty="0"/>
              <a:t>3. Competitive vs Collaborative</a:t>
            </a:r>
          </a:p>
        </p:txBody>
      </p:sp>
      <p:sp>
        <p:nvSpPr>
          <p:cNvPr id="3" name="Content Placeholder 2">
            <a:extLst>
              <a:ext uri="{FF2B5EF4-FFF2-40B4-BE49-F238E27FC236}">
                <a16:creationId xmlns:a16="http://schemas.microsoft.com/office/drawing/2014/main" id="{5ACB5C9F-BD03-B5A5-1481-853165B07346}"/>
              </a:ext>
            </a:extLst>
          </p:cNvPr>
          <p:cNvSpPr>
            <a:spLocks noGrp="1"/>
          </p:cNvSpPr>
          <p:nvPr>
            <p:ph idx="1"/>
          </p:nvPr>
        </p:nvSpPr>
        <p:spPr>
          <a:xfrm>
            <a:off x="838200" y="1589314"/>
            <a:ext cx="10515600" cy="4587649"/>
          </a:xfrm>
        </p:spPr>
        <p:txBody>
          <a:bodyPr>
            <a:normAutofit/>
          </a:bodyPr>
          <a:lstStyle/>
          <a:p>
            <a:r>
              <a:rPr lang="en-US" dirty="0"/>
              <a:t>An agent is said to be in a competitive environment when it </a:t>
            </a:r>
            <a:r>
              <a:rPr lang="en-US" dirty="0">
                <a:solidFill>
                  <a:srgbClr val="FF0000"/>
                </a:solidFill>
              </a:rPr>
              <a:t>competes against another agent to optimize the output</a:t>
            </a:r>
            <a:r>
              <a:rPr lang="en-US" dirty="0"/>
              <a:t>.</a:t>
            </a:r>
          </a:p>
          <a:p>
            <a:r>
              <a:rPr lang="en-US" dirty="0"/>
              <a:t>The game of </a:t>
            </a:r>
            <a:r>
              <a:rPr lang="en-US" dirty="0">
                <a:solidFill>
                  <a:srgbClr val="FF0000"/>
                </a:solidFill>
              </a:rPr>
              <a:t>chess is competitive </a:t>
            </a:r>
            <a:r>
              <a:rPr lang="en-US" dirty="0"/>
              <a:t>as the agents compete with each other to win the game which is the output.</a:t>
            </a:r>
          </a:p>
          <a:p>
            <a:r>
              <a:rPr lang="en-US" dirty="0"/>
              <a:t>An agent is said to be in a collaborative environment when multiple agents cooperate to produce the desired output.</a:t>
            </a:r>
          </a:p>
          <a:p>
            <a:r>
              <a:rPr lang="en-US" dirty="0"/>
              <a:t>When multiple self-driving cars are found on the roads, they cooperate with each other to avoid collisions and reach their destination which is the output desired.</a:t>
            </a:r>
            <a:endParaRPr lang="en-IN" dirty="0"/>
          </a:p>
        </p:txBody>
      </p:sp>
      <p:sp>
        <p:nvSpPr>
          <p:cNvPr id="4" name="Footer Placeholder 3">
            <a:extLst>
              <a:ext uri="{FF2B5EF4-FFF2-40B4-BE49-F238E27FC236}">
                <a16:creationId xmlns:a16="http://schemas.microsoft.com/office/drawing/2014/main" id="{81C791A2-037B-8447-42E2-45208D8859AD}"/>
              </a:ext>
            </a:extLst>
          </p:cNvPr>
          <p:cNvSpPr>
            <a:spLocks noGrp="1"/>
          </p:cNvSpPr>
          <p:nvPr>
            <p:ph type="ftr" sz="quarter" idx="11"/>
          </p:nvPr>
        </p:nvSpPr>
        <p:spPr/>
        <p:txBody>
          <a:bodyPr/>
          <a:lstStyle/>
          <a:p>
            <a:r>
              <a:rPr lang="en-IN"/>
              <a:t>Samriddhi Sarkar, VIT Vellore</a:t>
            </a:r>
          </a:p>
        </p:txBody>
      </p:sp>
      <p:sp>
        <p:nvSpPr>
          <p:cNvPr id="5" name="Slide Number Placeholder 4">
            <a:extLst>
              <a:ext uri="{FF2B5EF4-FFF2-40B4-BE49-F238E27FC236}">
                <a16:creationId xmlns:a16="http://schemas.microsoft.com/office/drawing/2014/main" id="{936D3383-6ECE-B730-7DBF-AB8C7938A703}"/>
              </a:ext>
            </a:extLst>
          </p:cNvPr>
          <p:cNvSpPr>
            <a:spLocks noGrp="1"/>
          </p:cNvSpPr>
          <p:nvPr>
            <p:ph type="sldNum" sz="quarter" idx="12"/>
          </p:nvPr>
        </p:nvSpPr>
        <p:spPr/>
        <p:txBody>
          <a:bodyPr/>
          <a:lstStyle/>
          <a:p>
            <a:fld id="{0E64BFD0-CEC1-4704-8B7A-8C64C45FD7A3}" type="slidenum">
              <a:rPr lang="en-IN" smtClean="0"/>
              <a:t>5</a:t>
            </a:fld>
            <a:endParaRPr lang="en-IN"/>
          </a:p>
        </p:txBody>
      </p:sp>
    </p:spTree>
    <p:extLst>
      <p:ext uri="{BB962C8B-B14F-4D97-AF65-F5344CB8AC3E}">
        <p14:creationId xmlns:p14="http://schemas.microsoft.com/office/powerpoint/2010/main" val="39804366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A5BB0-C30A-2F9D-B0E6-CD3715F4F6F4}"/>
              </a:ext>
            </a:extLst>
          </p:cNvPr>
          <p:cNvSpPr>
            <a:spLocks noGrp="1"/>
          </p:cNvSpPr>
          <p:nvPr>
            <p:ph type="title"/>
          </p:nvPr>
        </p:nvSpPr>
        <p:spPr/>
        <p:txBody>
          <a:bodyPr/>
          <a:lstStyle/>
          <a:p>
            <a:r>
              <a:rPr lang="en-IN" b="1" dirty="0"/>
              <a:t>4.Single-agent vs Multi-agent</a:t>
            </a:r>
          </a:p>
        </p:txBody>
      </p:sp>
      <p:sp>
        <p:nvSpPr>
          <p:cNvPr id="3" name="Content Placeholder 2">
            <a:extLst>
              <a:ext uri="{FF2B5EF4-FFF2-40B4-BE49-F238E27FC236}">
                <a16:creationId xmlns:a16="http://schemas.microsoft.com/office/drawing/2014/main" id="{74FAE65F-C76D-B8B1-72C1-96989DF2ABAF}"/>
              </a:ext>
            </a:extLst>
          </p:cNvPr>
          <p:cNvSpPr>
            <a:spLocks noGrp="1"/>
          </p:cNvSpPr>
          <p:nvPr>
            <p:ph idx="1"/>
          </p:nvPr>
        </p:nvSpPr>
        <p:spPr/>
        <p:txBody>
          <a:bodyPr/>
          <a:lstStyle/>
          <a:p>
            <a:r>
              <a:rPr lang="en-US" dirty="0"/>
              <a:t>An environment consisting of only one agent is said to be a single-agent environment.</a:t>
            </a:r>
          </a:p>
          <a:p>
            <a:r>
              <a:rPr lang="en-US" dirty="0"/>
              <a:t>A person left alone in a maze is an example of the single-agent system.</a:t>
            </a:r>
          </a:p>
          <a:p>
            <a:r>
              <a:rPr lang="en-US" dirty="0"/>
              <a:t>An environment involving more than one agent is a multi-agent environment.</a:t>
            </a:r>
          </a:p>
          <a:p>
            <a:r>
              <a:rPr lang="en-US" dirty="0"/>
              <a:t>The </a:t>
            </a:r>
            <a:r>
              <a:rPr lang="en-US" dirty="0">
                <a:solidFill>
                  <a:srgbClr val="FF0000"/>
                </a:solidFill>
              </a:rPr>
              <a:t>game of football </a:t>
            </a:r>
            <a:r>
              <a:rPr lang="en-US" dirty="0"/>
              <a:t>is multi-agent as it involves 11 players in each team.</a:t>
            </a:r>
            <a:endParaRPr lang="en-IN" dirty="0"/>
          </a:p>
        </p:txBody>
      </p:sp>
      <p:sp>
        <p:nvSpPr>
          <p:cNvPr id="4" name="Footer Placeholder 3">
            <a:extLst>
              <a:ext uri="{FF2B5EF4-FFF2-40B4-BE49-F238E27FC236}">
                <a16:creationId xmlns:a16="http://schemas.microsoft.com/office/drawing/2014/main" id="{58AB0C25-68C2-115C-AADE-3C84328E7FED}"/>
              </a:ext>
            </a:extLst>
          </p:cNvPr>
          <p:cNvSpPr>
            <a:spLocks noGrp="1"/>
          </p:cNvSpPr>
          <p:nvPr>
            <p:ph type="ftr" sz="quarter" idx="11"/>
          </p:nvPr>
        </p:nvSpPr>
        <p:spPr/>
        <p:txBody>
          <a:bodyPr/>
          <a:lstStyle/>
          <a:p>
            <a:r>
              <a:rPr lang="en-IN"/>
              <a:t>Samriddhi Sarkar, VIT Vellore</a:t>
            </a:r>
          </a:p>
        </p:txBody>
      </p:sp>
      <p:sp>
        <p:nvSpPr>
          <p:cNvPr id="5" name="Slide Number Placeholder 4">
            <a:extLst>
              <a:ext uri="{FF2B5EF4-FFF2-40B4-BE49-F238E27FC236}">
                <a16:creationId xmlns:a16="http://schemas.microsoft.com/office/drawing/2014/main" id="{1F796C00-44D1-ED42-7E81-B31B5A65D221}"/>
              </a:ext>
            </a:extLst>
          </p:cNvPr>
          <p:cNvSpPr>
            <a:spLocks noGrp="1"/>
          </p:cNvSpPr>
          <p:nvPr>
            <p:ph type="sldNum" sz="quarter" idx="12"/>
          </p:nvPr>
        </p:nvSpPr>
        <p:spPr/>
        <p:txBody>
          <a:bodyPr/>
          <a:lstStyle/>
          <a:p>
            <a:fld id="{0E64BFD0-CEC1-4704-8B7A-8C64C45FD7A3}" type="slidenum">
              <a:rPr lang="en-IN" smtClean="0"/>
              <a:t>6</a:t>
            </a:fld>
            <a:endParaRPr lang="en-IN"/>
          </a:p>
        </p:txBody>
      </p:sp>
    </p:spTree>
    <p:extLst>
      <p:ext uri="{BB962C8B-B14F-4D97-AF65-F5344CB8AC3E}">
        <p14:creationId xmlns:p14="http://schemas.microsoft.com/office/powerpoint/2010/main" val="36326306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FC66F-4E83-92C1-DFD9-81E53384CD4D}"/>
              </a:ext>
            </a:extLst>
          </p:cNvPr>
          <p:cNvSpPr>
            <a:spLocks noGrp="1"/>
          </p:cNvSpPr>
          <p:nvPr>
            <p:ph type="title"/>
          </p:nvPr>
        </p:nvSpPr>
        <p:spPr/>
        <p:txBody>
          <a:bodyPr/>
          <a:lstStyle/>
          <a:p>
            <a:r>
              <a:rPr lang="en-IN" b="1" dirty="0"/>
              <a:t>5.Dynamic vs Static</a:t>
            </a:r>
          </a:p>
        </p:txBody>
      </p:sp>
      <p:sp>
        <p:nvSpPr>
          <p:cNvPr id="3" name="Content Placeholder 2">
            <a:extLst>
              <a:ext uri="{FF2B5EF4-FFF2-40B4-BE49-F238E27FC236}">
                <a16:creationId xmlns:a16="http://schemas.microsoft.com/office/drawing/2014/main" id="{49E5A2C2-BA23-6219-3F88-0D5CE1FDD00B}"/>
              </a:ext>
            </a:extLst>
          </p:cNvPr>
          <p:cNvSpPr>
            <a:spLocks noGrp="1"/>
          </p:cNvSpPr>
          <p:nvPr>
            <p:ph idx="1"/>
          </p:nvPr>
        </p:nvSpPr>
        <p:spPr/>
        <p:txBody>
          <a:bodyPr>
            <a:normAutofit/>
          </a:bodyPr>
          <a:lstStyle/>
          <a:p>
            <a:r>
              <a:rPr lang="en-US" dirty="0"/>
              <a:t>An environment that keeps </a:t>
            </a:r>
            <a:r>
              <a:rPr lang="en-US" dirty="0">
                <a:solidFill>
                  <a:srgbClr val="FF0000"/>
                </a:solidFill>
              </a:rPr>
              <a:t>constantly changing itself </a:t>
            </a:r>
            <a:r>
              <a:rPr lang="en-US" dirty="0"/>
              <a:t>when the agent is up with some action is said to be dynamic.</a:t>
            </a:r>
          </a:p>
          <a:p>
            <a:r>
              <a:rPr lang="en-US" dirty="0"/>
              <a:t>A roller coaster ride is dynamic as it is set in motion and the environment keeps changing every instant.</a:t>
            </a:r>
          </a:p>
          <a:p>
            <a:r>
              <a:rPr lang="en-US" dirty="0">
                <a:solidFill>
                  <a:srgbClr val="FF0000"/>
                </a:solidFill>
              </a:rPr>
              <a:t>An idle environment with no change in its state is called a static environment</a:t>
            </a:r>
            <a:r>
              <a:rPr lang="en-US" dirty="0"/>
              <a:t>.</a:t>
            </a:r>
          </a:p>
          <a:p>
            <a:r>
              <a:rPr lang="en-US" dirty="0"/>
              <a:t>An empty house is static as there’s no change in the surroundings when an agent enters.</a:t>
            </a:r>
            <a:endParaRPr lang="en-IN" dirty="0"/>
          </a:p>
        </p:txBody>
      </p:sp>
      <p:sp>
        <p:nvSpPr>
          <p:cNvPr id="4" name="Footer Placeholder 3">
            <a:extLst>
              <a:ext uri="{FF2B5EF4-FFF2-40B4-BE49-F238E27FC236}">
                <a16:creationId xmlns:a16="http://schemas.microsoft.com/office/drawing/2014/main" id="{07A9F9C2-3224-9BBD-75E3-CAB0E581509B}"/>
              </a:ext>
            </a:extLst>
          </p:cNvPr>
          <p:cNvSpPr>
            <a:spLocks noGrp="1"/>
          </p:cNvSpPr>
          <p:nvPr>
            <p:ph type="ftr" sz="quarter" idx="11"/>
          </p:nvPr>
        </p:nvSpPr>
        <p:spPr/>
        <p:txBody>
          <a:bodyPr/>
          <a:lstStyle/>
          <a:p>
            <a:r>
              <a:rPr lang="en-IN"/>
              <a:t>Samriddhi Sarkar, VIT Vellore</a:t>
            </a:r>
          </a:p>
        </p:txBody>
      </p:sp>
      <p:sp>
        <p:nvSpPr>
          <p:cNvPr id="5" name="Slide Number Placeholder 4">
            <a:extLst>
              <a:ext uri="{FF2B5EF4-FFF2-40B4-BE49-F238E27FC236}">
                <a16:creationId xmlns:a16="http://schemas.microsoft.com/office/drawing/2014/main" id="{1668B874-1DEC-4E17-2129-577C1D2A3490}"/>
              </a:ext>
            </a:extLst>
          </p:cNvPr>
          <p:cNvSpPr>
            <a:spLocks noGrp="1"/>
          </p:cNvSpPr>
          <p:nvPr>
            <p:ph type="sldNum" sz="quarter" idx="12"/>
          </p:nvPr>
        </p:nvSpPr>
        <p:spPr/>
        <p:txBody>
          <a:bodyPr/>
          <a:lstStyle/>
          <a:p>
            <a:fld id="{0E64BFD0-CEC1-4704-8B7A-8C64C45FD7A3}" type="slidenum">
              <a:rPr lang="en-IN" smtClean="0"/>
              <a:t>7</a:t>
            </a:fld>
            <a:endParaRPr lang="en-IN"/>
          </a:p>
        </p:txBody>
      </p:sp>
    </p:spTree>
    <p:extLst>
      <p:ext uri="{BB962C8B-B14F-4D97-AF65-F5344CB8AC3E}">
        <p14:creationId xmlns:p14="http://schemas.microsoft.com/office/powerpoint/2010/main" val="35082563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E106E-E478-AF0A-E8E9-BD15F017252F}"/>
              </a:ext>
            </a:extLst>
          </p:cNvPr>
          <p:cNvSpPr>
            <a:spLocks noGrp="1"/>
          </p:cNvSpPr>
          <p:nvPr>
            <p:ph type="title"/>
          </p:nvPr>
        </p:nvSpPr>
        <p:spPr/>
        <p:txBody>
          <a:bodyPr/>
          <a:lstStyle/>
          <a:p>
            <a:r>
              <a:rPr lang="en-IN" b="1" dirty="0"/>
              <a:t>6. Discrete vs Continuous</a:t>
            </a:r>
          </a:p>
        </p:txBody>
      </p:sp>
      <p:sp>
        <p:nvSpPr>
          <p:cNvPr id="3" name="Content Placeholder 2">
            <a:extLst>
              <a:ext uri="{FF2B5EF4-FFF2-40B4-BE49-F238E27FC236}">
                <a16:creationId xmlns:a16="http://schemas.microsoft.com/office/drawing/2014/main" id="{DAAC5964-1FB7-93F4-D213-20427F826CDC}"/>
              </a:ext>
            </a:extLst>
          </p:cNvPr>
          <p:cNvSpPr>
            <a:spLocks noGrp="1"/>
          </p:cNvSpPr>
          <p:nvPr>
            <p:ph idx="1"/>
          </p:nvPr>
        </p:nvSpPr>
        <p:spPr/>
        <p:txBody>
          <a:bodyPr>
            <a:normAutofit/>
          </a:bodyPr>
          <a:lstStyle/>
          <a:p>
            <a:r>
              <a:rPr lang="en-US" dirty="0"/>
              <a:t>If an environment </a:t>
            </a:r>
            <a:r>
              <a:rPr lang="en-US" dirty="0">
                <a:solidFill>
                  <a:srgbClr val="FF0000"/>
                </a:solidFill>
              </a:rPr>
              <a:t>consists of a finite number of actions </a:t>
            </a:r>
            <a:r>
              <a:rPr lang="en-US" dirty="0"/>
              <a:t>that can be deliberated in the environment to obtain the output, it is said to be a discrete environment.</a:t>
            </a:r>
          </a:p>
          <a:p>
            <a:r>
              <a:rPr lang="en-US" dirty="0">
                <a:solidFill>
                  <a:srgbClr val="FF0000"/>
                </a:solidFill>
              </a:rPr>
              <a:t>The game of chess is discrete as it has only a finite number of moves. </a:t>
            </a:r>
            <a:r>
              <a:rPr lang="en-US" dirty="0"/>
              <a:t>The number of moves might vary with every game, but still, it’s finite.</a:t>
            </a:r>
          </a:p>
          <a:p>
            <a:r>
              <a:rPr lang="en-US" dirty="0"/>
              <a:t>The environment in which the actions are performed cannot be numbered i.e. is not discrete, is said to be continuous.</a:t>
            </a:r>
          </a:p>
          <a:p>
            <a:r>
              <a:rPr lang="en-US" dirty="0">
                <a:solidFill>
                  <a:srgbClr val="FF0000"/>
                </a:solidFill>
              </a:rPr>
              <a:t>Self-driving cars </a:t>
            </a:r>
            <a:r>
              <a:rPr lang="en-US" dirty="0"/>
              <a:t>are an example of continuous environments as their actions are driving, parking, etc. </a:t>
            </a:r>
            <a:r>
              <a:rPr lang="en-US" dirty="0">
                <a:solidFill>
                  <a:srgbClr val="FF0000"/>
                </a:solidFill>
              </a:rPr>
              <a:t>which cannot be numbered</a:t>
            </a:r>
            <a:endParaRPr lang="en-IN" dirty="0">
              <a:solidFill>
                <a:srgbClr val="FF0000"/>
              </a:solidFill>
            </a:endParaRPr>
          </a:p>
        </p:txBody>
      </p:sp>
      <p:sp>
        <p:nvSpPr>
          <p:cNvPr id="4" name="Footer Placeholder 3">
            <a:extLst>
              <a:ext uri="{FF2B5EF4-FFF2-40B4-BE49-F238E27FC236}">
                <a16:creationId xmlns:a16="http://schemas.microsoft.com/office/drawing/2014/main" id="{D5D5A164-413A-F7FA-A3D2-CD11D5F03FE5}"/>
              </a:ext>
            </a:extLst>
          </p:cNvPr>
          <p:cNvSpPr>
            <a:spLocks noGrp="1"/>
          </p:cNvSpPr>
          <p:nvPr>
            <p:ph type="ftr" sz="quarter" idx="11"/>
          </p:nvPr>
        </p:nvSpPr>
        <p:spPr/>
        <p:txBody>
          <a:bodyPr/>
          <a:lstStyle/>
          <a:p>
            <a:r>
              <a:rPr lang="en-IN"/>
              <a:t>Samriddhi Sarkar, VIT Vellore</a:t>
            </a:r>
          </a:p>
        </p:txBody>
      </p:sp>
      <p:sp>
        <p:nvSpPr>
          <p:cNvPr id="5" name="Slide Number Placeholder 4">
            <a:extLst>
              <a:ext uri="{FF2B5EF4-FFF2-40B4-BE49-F238E27FC236}">
                <a16:creationId xmlns:a16="http://schemas.microsoft.com/office/drawing/2014/main" id="{9593F240-8E3A-0D7C-AEA9-33853FCD55C9}"/>
              </a:ext>
            </a:extLst>
          </p:cNvPr>
          <p:cNvSpPr>
            <a:spLocks noGrp="1"/>
          </p:cNvSpPr>
          <p:nvPr>
            <p:ph type="sldNum" sz="quarter" idx="12"/>
          </p:nvPr>
        </p:nvSpPr>
        <p:spPr/>
        <p:txBody>
          <a:bodyPr/>
          <a:lstStyle/>
          <a:p>
            <a:fld id="{0E64BFD0-CEC1-4704-8B7A-8C64C45FD7A3}" type="slidenum">
              <a:rPr lang="en-IN" smtClean="0"/>
              <a:t>8</a:t>
            </a:fld>
            <a:endParaRPr lang="en-IN"/>
          </a:p>
        </p:txBody>
      </p:sp>
    </p:spTree>
    <p:extLst>
      <p:ext uri="{BB962C8B-B14F-4D97-AF65-F5344CB8AC3E}">
        <p14:creationId xmlns:p14="http://schemas.microsoft.com/office/powerpoint/2010/main" val="824558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DDC54-70BD-4D6D-20F4-864525BA4443}"/>
              </a:ext>
            </a:extLst>
          </p:cNvPr>
          <p:cNvSpPr>
            <a:spLocks noGrp="1"/>
          </p:cNvSpPr>
          <p:nvPr>
            <p:ph type="title"/>
          </p:nvPr>
        </p:nvSpPr>
        <p:spPr/>
        <p:txBody>
          <a:bodyPr/>
          <a:lstStyle/>
          <a:p>
            <a:r>
              <a:rPr lang="en-IN" b="1" dirty="0"/>
              <a:t>7.Episodic vs Sequential</a:t>
            </a:r>
          </a:p>
        </p:txBody>
      </p:sp>
      <p:sp>
        <p:nvSpPr>
          <p:cNvPr id="3" name="Content Placeholder 2">
            <a:extLst>
              <a:ext uri="{FF2B5EF4-FFF2-40B4-BE49-F238E27FC236}">
                <a16:creationId xmlns:a16="http://schemas.microsoft.com/office/drawing/2014/main" id="{A9B1FB74-A29D-2CD2-87EF-0478A817763D}"/>
              </a:ext>
            </a:extLst>
          </p:cNvPr>
          <p:cNvSpPr>
            <a:spLocks noGrp="1"/>
          </p:cNvSpPr>
          <p:nvPr>
            <p:ph idx="1"/>
          </p:nvPr>
        </p:nvSpPr>
        <p:spPr/>
        <p:txBody>
          <a:bodyPr>
            <a:normAutofit/>
          </a:bodyPr>
          <a:lstStyle/>
          <a:p>
            <a:r>
              <a:rPr lang="en-US" dirty="0"/>
              <a:t>In an </a:t>
            </a:r>
            <a:r>
              <a:rPr lang="en-US" dirty="0">
                <a:solidFill>
                  <a:srgbClr val="FF0000"/>
                </a:solidFill>
              </a:rPr>
              <a:t>Episodic task </a:t>
            </a:r>
            <a:r>
              <a:rPr lang="en-US" dirty="0"/>
              <a:t>environment, each of the agent’s actions </a:t>
            </a:r>
            <a:r>
              <a:rPr lang="en-US" dirty="0">
                <a:solidFill>
                  <a:srgbClr val="FF0000"/>
                </a:solidFill>
              </a:rPr>
              <a:t>is divided into atomic incidents or episodes.</a:t>
            </a:r>
          </a:p>
          <a:p>
            <a:r>
              <a:rPr lang="en-US" dirty="0"/>
              <a:t>There is </a:t>
            </a:r>
            <a:r>
              <a:rPr lang="en-US" dirty="0">
                <a:solidFill>
                  <a:srgbClr val="FF0000"/>
                </a:solidFill>
              </a:rPr>
              <a:t>no dependency between current and previous incidents</a:t>
            </a:r>
            <a:r>
              <a:rPr lang="en-US" dirty="0"/>
              <a:t>.</a:t>
            </a:r>
          </a:p>
          <a:p>
            <a:r>
              <a:rPr lang="en-US" dirty="0"/>
              <a:t>In each incident, an agent receives input from the environment and then performs the corresponding action.</a:t>
            </a:r>
          </a:p>
          <a:p>
            <a:r>
              <a:rPr lang="en-US" dirty="0"/>
              <a:t>Example: Consider an example of Pick and Place robot, which is used to detect defective parts from the conveyor belts. Here, every time robot(agent) will make the decision on the current part i.e. there is no dependency between current and previous decisions</a:t>
            </a:r>
            <a:endParaRPr lang="en-IN" dirty="0"/>
          </a:p>
        </p:txBody>
      </p:sp>
      <p:sp>
        <p:nvSpPr>
          <p:cNvPr id="4" name="Footer Placeholder 3">
            <a:extLst>
              <a:ext uri="{FF2B5EF4-FFF2-40B4-BE49-F238E27FC236}">
                <a16:creationId xmlns:a16="http://schemas.microsoft.com/office/drawing/2014/main" id="{7DBDBA6A-9F40-2183-0285-BC748DFE194E}"/>
              </a:ext>
            </a:extLst>
          </p:cNvPr>
          <p:cNvSpPr>
            <a:spLocks noGrp="1"/>
          </p:cNvSpPr>
          <p:nvPr>
            <p:ph type="ftr" sz="quarter" idx="11"/>
          </p:nvPr>
        </p:nvSpPr>
        <p:spPr/>
        <p:txBody>
          <a:bodyPr/>
          <a:lstStyle/>
          <a:p>
            <a:r>
              <a:rPr lang="en-IN"/>
              <a:t>Samriddhi Sarkar, VIT Vellore</a:t>
            </a:r>
          </a:p>
        </p:txBody>
      </p:sp>
      <p:sp>
        <p:nvSpPr>
          <p:cNvPr id="5" name="Slide Number Placeholder 4">
            <a:extLst>
              <a:ext uri="{FF2B5EF4-FFF2-40B4-BE49-F238E27FC236}">
                <a16:creationId xmlns:a16="http://schemas.microsoft.com/office/drawing/2014/main" id="{9F024245-9C09-5551-B93F-59B6969A95A0}"/>
              </a:ext>
            </a:extLst>
          </p:cNvPr>
          <p:cNvSpPr>
            <a:spLocks noGrp="1"/>
          </p:cNvSpPr>
          <p:nvPr>
            <p:ph type="sldNum" sz="quarter" idx="12"/>
          </p:nvPr>
        </p:nvSpPr>
        <p:spPr/>
        <p:txBody>
          <a:bodyPr/>
          <a:lstStyle/>
          <a:p>
            <a:fld id="{0E64BFD0-CEC1-4704-8B7A-8C64C45FD7A3}" type="slidenum">
              <a:rPr lang="en-IN" smtClean="0"/>
              <a:t>9</a:t>
            </a:fld>
            <a:endParaRPr lang="en-IN"/>
          </a:p>
        </p:txBody>
      </p:sp>
    </p:spTree>
    <p:extLst>
      <p:ext uri="{BB962C8B-B14F-4D97-AF65-F5344CB8AC3E}">
        <p14:creationId xmlns:p14="http://schemas.microsoft.com/office/powerpoint/2010/main" val="40745669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694D1-7C24-108C-E29A-6AB4CBCB457E}"/>
              </a:ext>
            </a:extLst>
          </p:cNvPr>
          <p:cNvSpPr>
            <a:spLocks noGrp="1"/>
          </p:cNvSpPr>
          <p:nvPr>
            <p:ph type="title"/>
          </p:nvPr>
        </p:nvSpPr>
        <p:spPr/>
        <p:txBody>
          <a:bodyPr/>
          <a:lstStyle/>
          <a:p>
            <a:r>
              <a:rPr lang="en-IN" b="1" dirty="0"/>
              <a:t>7.Episodic vs Sequential (</a:t>
            </a:r>
            <a:r>
              <a:rPr lang="en-IN" b="1" dirty="0" err="1"/>
              <a:t>contd</a:t>
            </a:r>
            <a:r>
              <a:rPr lang="en-IN" b="1" dirty="0"/>
              <a:t>…)</a:t>
            </a:r>
          </a:p>
        </p:txBody>
      </p:sp>
      <p:sp>
        <p:nvSpPr>
          <p:cNvPr id="3" name="Content Placeholder 2">
            <a:extLst>
              <a:ext uri="{FF2B5EF4-FFF2-40B4-BE49-F238E27FC236}">
                <a16:creationId xmlns:a16="http://schemas.microsoft.com/office/drawing/2014/main" id="{FDDA0E94-626E-25A8-294B-E793D904C051}"/>
              </a:ext>
            </a:extLst>
          </p:cNvPr>
          <p:cNvSpPr>
            <a:spLocks noGrp="1"/>
          </p:cNvSpPr>
          <p:nvPr>
            <p:ph idx="1"/>
          </p:nvPr>
        </p:nvSpPr>
        <p:spPr/>
        <p:txBody>
          <a:bodyPr/>
          <a:lstStyle/>
          <a:p>
            <a:r>
              <a:rPr lang="en-US" dirty="0"/>
              <a:t>In a </a:t>
            </a:r>
            <a:r>
              <a:rPr lang="en-US" dirty="0">
                <a:solidFill>
                  <a:srgbClr val="FF0000"/>
                </a:solidFill>
              </a:rPr>
              <a:t>Sequential environment, the previous decisions can affect all future decisions</a:t>
            </a:r>
            <a:r>
              <a:rPr lang="en-US" dirty="0"/>
              <a:t>.</a:t>
            </a:r>
          </a:p>
          <a:p>
            <a:r>
              <a:rPr lang="en-US" dirty="0"/>
              <a:t>The next action of the agent depends on what action he has taken previously and what action he is supposed to take in the future.</a:t>
            </a:r>
          </a:p>
          <a:p>
            <a:r>
              <a:rPr lang="en-US" dirty="0"/>
              <a:t>Example:</a:t>
            </a:r>
          </a:p>
          <a:p>
            <a:pPr marL="0" indent="0">
              <a:buNone/>
            </a:pPr>
            <a:r>
              <a:rPr lang="en-US" dirty="0"/>
              <a:t>– Chess- Where the previous move can affect all the following moves.</a:t>
            </a:r>
            <a:endParaRPr lang="en-IN" dirty="0"/>
          </a:p>
        </p:txBody>
      </p:sp>
      <p:sp>
        <p:nvSpPr>
          <p:cNvPr id="4" name="Footer Placeholder 3">
            <a:extLst>
              <a:ext uri="{FF2B5EF4-FFF2-40B4-BE49-F238E27FC236}">
                <a16:creationId xmlns:a16="http://schemas.microsoft.com/office/drawing/2014/main" id="{4E991298-A7ED-4FF7-337A-3455EB0A54B6}"/>
              </a:ext>
            </a:extLst>
          </p:cNvPr>
          <p:cNvSpPr>
            <a:spLocks noGrp="1"/>
          </p:cNvSpPr>
          <p:nvPr>
            <p:ph type="ftr" sz="quarter" idx="11"/>
          </p:nvPr>
        </p:nvSpPr>
        <p:spPr/>
        <p:txBody>
          <a:bodyPr/>
          <a:lstStyle/>
          <a:p>
            <a:r>
              <a:rPr lang="en-IN"/>
              <a:t>Samriddhi Sarkar, VIT Vellore</a:t>
            </a:r>
          </a:p>
        </p:txBody>
      </p:sp>
      <p:sp>
        <p:nvSpPr>
          <p:cNvPr id="5" name="Slide Number Placeholder 4">
            <a:extLst>
              <a:ext uri="{FF2B5EF4-FFF2-40B4-BE49-F238E27FC236}">
                <a16:creationId xmlns:a16="http://schemas.microsoft.com/office/drawing/2014/main" id="{7A0E787B-61D9-03A1-C57D-EC38993501D8}"/>
              </a:ext>
            </a:extLst>
          </p:cNvPr>
          <p:cNvSpPr>
            <a:spLocks noGrp="1"/>
          </p:cNvSpPr>
          <p:nvPr>
            <p:ph type="sldNum" sz="quarter" idx="12"/>
          </p:nvPr>
        </p:nvSpPr>
        <p:spPr/>
        <p:txBody>
          <a:bodyPr/>
          <a:lstStyle/>
          <a:p>
            <a:fld id="{0E64BFD0-CEC1-4704-8B7A-8C64C45FD7A3}" type="slidenum">
              <a:rPr lang="en-IN" smtClean="0"/>
              <a:t>10</a:t>
            </a:fld>
            <a:endParaRPr lang="en-IN"/>
          </a:p>
        </p:txBody>
      </p:sp>
    </p:spTree>
    <p:extLst>
      <p:ext uri="{BB962C8B-B14F-4D97-AF65-F5344CB8AC3E}">
        <p14:creationId xmlns:p14="http://schemas.microsoft.com/office/powerpoint/2010/main" val="11449478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AE714-8715-A7A5-6649-8A960E4FCDDB}"/>
              </a:ext>
            </a:extLst>
          </p:cNvPr>
          <p:cNvSpPr>
            <a:spLocks noGrp="1"/>
          </p:cNvSpPr>
          <p:nvPr>
            <p:ph type="title"/>
          </p:nvPr>
        </p:nvSpPr>
        <p:spPr/>
        <p:txBody>
          <a:bodyPr/>
          <a:lstStyle/>
          <a:p>
            <a:r>
              <a:rPr lang="en-IN" b="1" dirty="0"/>
              <a:t>8. Known vs Unknown</a:t>
            </a:r>
          </a:p>
        </p:txBody>
      </p:sp>
      <p:sp>
        <p:nvSpPr>
          <p:cNvPr id="3" name="Content Placeholder 2">
            <a:extLst>
              <a:ext uri="{FF2B5EF4-FFF2-40B4-BE49-F238E27FC236}">
                <a16:creationId xmlns:a16="http://schemas.microsoft.com/office/drawing/2014/main" id="{38B9FE20-9B64-5DC2-4583-DF8D3FA51E32}"/>
              </a:ext>
            </a:extLst>
          </p:cNvPr>
          <p:cNvSpPr>
            <a:spLocks noGrp="1"/>
          </p:cNvSpPr>
          <p:nvPr>
            <p:ph idx="1"/>
          </p:nvPr>
        </p:nvSpPr>
        <p:spPr/>
        <p:txBody>
          <a:bodyPr/>
          <a:lstStyle/>
          <a:p>
            <a:r>
              <a:rPr lang="en-US" dirty="0"/>
              <a:t>In a known environment, the output for all probable actions is given.</a:t>
            </a:r>
          </a:p>
          <a:p>
            <a:r>
              <a:rPr lang="en-US" dirty="0"/>
              <a:t>Obviously, in case of unknown environment, for an agent to make a decision, it has to gain knowledge about how the environment works</a:t>
            </a:r>
            <a:endParaRPr lang="en-IN" dirty="0"/>
          </a:p>
        </p:txBody>
      </p:sp>
      <p:sp>
        <p:nvSpPr>
          <p:cNvPr id="4" name="Footer Placeholder 3">
            <a:extLst>
              <a:ext uri="{FF2B5EF4-FFF2-40B4-BE49-F238E27FC236}">
                <a16:creationId xmlns:a16="http://schemas.microsoft.com/office/drawing/2014/main" id="{99A9A5C4-7383-EA63-A318-B876E363EC50}"/>
              </a:ext>
            </a:extLst>
          </p:cNvPr>
          <p:cNvSpPr>
            <a:spLocks noGrp="1"/>
          </p:cNvSpPr>
          <p:nvPr>
            <p:ph type="ftr" sz="quarter" idx="11"/>
          </p:nvPr>
        </p:nvSpPr>
        <p:spPr/>
        <p:txBody>
          <a:bodyPr/>
          <a:lstStyle/>
          <a:p>
            <a:r>
              <a:rPr lang="en-IN"/>
              <a:t>Samriddhi Sarkar, VIT Vellore</a:t>
            </a:r>
          </a:p>
        </p:txBody>
      </p:sp>
      <p:sp>
        <p:nvSpPr>
          <p:cNvPr id="5" name="Slide Number Placeholder 4">
            <a:extLst>
              <a:ext uri="{FF2B5EF4-FFF2-40B4-BE49-F238E27FC236}">
                <a16:creationId xmlns:a16="http://schemas.microsoft.com/office/drawing/2014/main" id="{C87D53AE-F3C0-D108-B38C-85CABFC6FE83}"/>
              </a:ext>
            </a:extLst>
          </p:cNvPr>
          <p:cNvSpPr>
            <a:spLocks noGrp="1"/>
          </p:cNvSpPr>
          <p:nvPr>
            <p:ph type="sldNum" sz="quarter" idx="12"/>
          </p:nvPr>
        </p:nvSpPr>
        <p:spPr/>
        <p:txBody>
          <a:bodyPr/>
          <a:lstStyle/>
          <a:p>
            <a:fld id="{0E64BFD0-CEC1-4704-8B7A-8C64C45FD7A3}" type="slidenum">
              <a:rPr lang="en-IN" smtClean="0"/>
              <a:t>11</a:t>
            </a:fld>
            <a:endParaRPr lang="en-IN"/>
          </a:p>
        </p:txBody>
      </p:sp>
    </p:spTree>
    <p:extLst>
      <p:ext uri="{BB962C8B-B14F-4D97-AF65-F5344CB8AC3E}">
        <p14:creationId xmlns:p14="http://schemas.microsoft.com/office/powerpoint/2010/main" val="7827216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6B10F-B2E7-DB88-30A9-DD4E7B302EBF}"/>
              </a:ext>
            </a:extLst>
          </p:cNvPr>
          <p:cNvSpPr>
            <a:spLocks noGrp="1"/>
          </p:cNvSpPr>
          <p:nvPr>
            <p:ph type="title"/>
          </p:nvPr>
        </p:nvSpPr>
        <p:spPr/>
        <p:txBody>
          <a:bodyPr/>
          <a:lstStyle/>
          <a:p>
            <a:r>
              <a:rPr lang="en-IN" b="1" dirty="0"/>
              <a:t>Examples:</a:t>
            </a:r>
          </a:p>
        </p:txBody>
      </p:sp>
      <p:pic>
        <p:nvPicPr>
          <p:cNvPr id="5" name="Content Placeholder 4">
            <a:extLst>
              <a:ext uri="{FF2B5EF4-FFF2-40B4-BE49-F238E27FC236}">
                <a16:creationId xmlns:a16="http://schemas.microsoft.com/office/drawing/2014/main" id="{84291BDA-5D96-4AD3-BA1B-F8F0D76B0CD5}"/>
              </a:ext>
            </a:extLst>
          </p:cNvPr>
          <p:cNvPicPr>
            <a:picLocks noGrp="1" noChangeAspect="1"/>
          </p:cNvPicPr>
          <p:nvPr>
            <p:ph idx="1"/>
          </p:nvPr>
        </p:nvPicPr>
        <p:blipFill>
          <a:blip r:embed="rId3"/>
          <a:stretch>
            <a:fillRect/>
          </a:stretch>
        </p:blipFill>
        <p:spPr>
          <a:xfrm>
            <a:off x="2569916" y="1825625"/>
            <a:ext cx="7052167" cy="4351338"/>
          </a:xfrm>
        </p:spPr>
      </p:pic>
      <p:sp>
        <p:nvSpPr>
          <p:cNvPr id="6" name="Footer Placeholder 5">
            <a:extLst>
              <a:ext uri="{FF2B5EF4-FFF2-40B4-BE49-F238E27FC236}">
                <a16:creationId xmlns:a16="http://schemas.microsoft.com/office/drawing/2014/main" id="{F450B9E1-16F7-8ADE-6EBC-E2CA83A6399C}"/>
              </a:ext>
            </a:extLst>
          </p:cNvPr>
          <p:cNvSpPr>
            <a:spLocks noGrp="1"/>
          </p:cNvSpPr>
          <p:nvPr>
            <p:ph type="ftr" sz="quarter" idx="11"/>
          </p:nvPr>
        </p:nvSpPr>
        <p:spPr/>
        <p:txBody>
          <a:bodyPr/>
          <a:lstStyle/>
          <a:p>
            <a:r>
              <a:rPr lang="en-IN"/>
              <a:t>Samriddhi Sarkar, VIT Vellore</a:t>
            </a:r>
          </a:p>
        </p:txBody>
      </p:sp>
      <p:sp>
        <p:nvSpPr>
          <p:cNvPr id="7" name="Slide Number Placeholder 6">
            <a:extLst>
              <a:ext uri="{FF2B5EF4-FFF2-40B4-BE49-F238E27FC236}">
                <a16:creationId xmlns:a16="http://schemas.microsoft.com/office/drawing/2014/main" id="{949C080D-F455-D2BF-EE15-6BA63D525146}"/>
              </a:ext>
            </a:extLst>
          </p:cNvPr>
          <p:cNvSpPr>
            <a:spLocks noGrp="1"/>
          </p:cNvSpPr>
          <p:nvPr>
            <p:ph type="sldNum" sz="quarter" idx="12"/>
          </p:nvPr>
        </p:nvSpPr>
        <p:spPr/>
        <p:txBody>
          <a:bodyPr/>
          <a:lstStyle/>
          <a:p>
            <a:fld id="{0E64BFD0-CEC1-4704-8B7A-8C64C45FD7A3}" type="slidenum">
              <a:rPr lang="en-IN" smtClean="0"/>
              <a:t>12</a:t>
            </a:fld>
            <a:endParaRPr lang="en-IN"/>
          </a:p>
        </p:txBody>
      </p:sp>
    </p:spTree>
    <p:extLst>
      <p:ext uri="{BB962C8B-B14F-4D97-AF65-F5344CB8AC3E}">
        <p14:creationId xmlns:p14="http://schemas.microsoft.com/office/powerpoint/2010/main" val="7918732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TotalTime>
  <Words>925</Words>
  <Application>Microsoft Office PowerPoint</Application>
  <PresentationFormat>Widescreen</PresentationFormat>
  <Paragraphs>88</Paragraphs>
  <Slides>12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Types of Environments in AI</vt:lpstr>
      <vt:lpstr>Types of Environments</vt:lpstr>
      <vt:lpstr>1.Fully Observable vs Partially Observable</vt:lpstr>
      <vt:lpstr>2. Deterministic vs Stochastic</vt:lpstr>
      <vt:lpstr>3. Competitive vs Collaborative</vt:lpstr>
      <vt:lpstr>4.Single-agent vs Multi-agent</vt:lpstr>
      <vt:lpstr>5.Dynamic vs Static</vt:lpstr>
      <vt:lpstr>6. Discrete vs Continuous</vt:lpstr>
      <vt:lpstr>7.Episodic vs Sequential</vt:lpstr>
      <vt:lpstr>7.Episodic vs Sequential (contd…)</vt:lpstr>
      <vt:lpstr>8. Known vs Unknown</vt:lpstr>
      <vt:lpstr>Examples: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Samriddhi Sarkar</dc:creator>
  <cp:lastModifiedBy>Samriddhi Sarkar</cp:lastModifiedBy>
  <cp:revision>4</cp:revision>
  <dcterms:created xsi:type="dcterms:W3CDTF">2024-07-24T11:36:39Z</dcterms:created>
  <dcterms:modified xsi:type="dcterms:W3CDTF">2024-07-25T06:09:01Z</dcterms:modified>
</cp:coreProperties>
</file>