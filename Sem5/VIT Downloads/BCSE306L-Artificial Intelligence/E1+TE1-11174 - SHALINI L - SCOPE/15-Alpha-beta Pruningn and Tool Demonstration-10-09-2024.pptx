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79" r:id="rId5"/>
    <p:sldId id="281" r:id="rId6"/>
    <p:sldId id="257" r:id="rId7"/>
    <p:sldId id="261" r:id="rId8"/>
    <p:sldId id="258" r:id="rId9"/>
    <p:sldId id="259" r:id="rId10"/>
    <p:sldId id="260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971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88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7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44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82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08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20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50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19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95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11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641D8-F12F-4F9F-B3F6-A207173C931F}" type="datetimeFigureOut">
              <a:rPr lang="en-GB" smtClean="0"/>
              <a:t>15/10/2022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191BA-65C6-4EA4-B488-2CDB59885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88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altLang="en-US" dirty="0" smtClean="0"/>
              <a:t>Module3_Alpha_Beta_Pruning</a:t>
            </a:r>
            <a:endParaRPr lang="en-IN" altLang="en-US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defRPr/>
            </a:pPr>
            <a:r>
              <a:rPr lang="en-IN" dirty="0" smtClean="0"/>
              <a:t>Reference: </a:t>
            </a:r>
            <a:r>
              <a:rPr lang="en-IN" dirty="0"/>
              <a:t>Russell, S. and </a:t>
            </a:r>
            <a:r>
              <a:rPr lang="en-IN" dirty="0" err="1"/>
              <a:t>Norvig</a:t>
            </a:r>
            <a:r>
              <a:rPr lang="en-IN" dirty="0"/>
              <a:t>, P. Artificial Intelligence - A Modern Approach, 4th edition, </a:t>
            </a:r>
            <a:r>
              <a:rPr lang="en-IN" dirty="0" smtClean="0"/>
              <a:t>Prentice Hall</a:t>
            </a:r>
            <a:r>
              <a:rPr lang="en-IN" dirty="0"/>
              <a:t>, </a:t>
            </a:r>
            <a:r>
              <a:rPr lang="en-IN" dirty="0" smtClean="0"/>
              <a:t>2020-Chapter 5, section 5.1 and 5.2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51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Alpha–Beta Pruning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IN" sz="2800" dirty="0" smtClean="0">
                <a:solidFill>
                  <a:srgbClr val="FF0000"/>
                </a:solidFill>
              </a:rPr>
              <a:t>The </a:t>
            </a:r>
            <a:r>
              <a:rPr lang="en-IN" sz="2800" dirty="0">
                <a:solidFill>
                  <a:srgbClr val="FF0000"/>
                </a:solidFill>
              </a:rPr>
              <a:t>number of game states is exponential in the depth of the tree. </a:t>
            </a:r>
            <a:endParaRPr lang="en-IN" sz="2800" dirty="0" smtClean="0">
              <a:solidFill>
                <a:srgbClr val="FF0000"/>
              </a:solidFill>
            </a:endParaRPr>
          </a:p>
          <a:p>
            <a:pPr algn="just">
              <a:lnSpc>
                <a:spcPct val="110000"/>
              </a:lnSpc>
            </a:pPr>
            <a:r>
              <a:rPr lang="en-IN" sz="2800" dirty="0" smtClean="0"/>
              <a:t>No </a:t>
            </a:r>
            <a:r>
              <a:rPr lang="en-IN" sz="2800" dirty="0"/>
              <a:t>algorithm </a:t>
            </a:r>
            <a:r>
              <a:rPr lang="en-IN" sz="2800" dirty="0" smtClean="0"/>
              <a:t>can completely </a:t>
            </a:r>
            <a:r>
              <a:rPr lang="en-IN" sz="2800" dirty="0"/>
              <a:t>eliminate the exponent, but we can sometimes cut it in half, computing </a:t>
            </a:r>
            <a:r>
              <a:rPr lang="en-IN" sz="2800" dirty="0" smtClean="0"/>
              <a:t>the correct </a:t>
            </a:r>
            <a:r>
              <a:rPr lang="en-IN" sz="2800" dirty="0"/>
              <a:t>minimax decision without examining every state by </a:t>
            </a:r>
            <a:r>
              <a:rPr lang="en-IN" sz="2800" b="1" dirty="0"/>
              <a:t>pruning </a:t>
            </a:r>
            <a:r>
              <a:rPr lang="en-IN" sz="2800" dirty="0" smtClean="0"/>
              <a:t>large parts </a:t>
            </a:r>
            <a:r>
              <a:rPr lang="en-IN" sz="2800" dirty="0"/>
              <a:t>of the tree that make no difference to the outcome</a:t>
            </a:r>
            <a:r>
              <a:rPr lang="en-IN" sz="2800" dirty="0" smtClean="0"/>
              <a:t>.</a:t>
            </a:r>
          </a:p>
          <a:p>
            <a:pPr lvl="1" algn="just">
              <a:lnSpc>
                <a:spcPct val="110000"/>
              </a:lnSpc>
            </a:pPr>
            <a:r>
              <a:rPr lang="en-IN" sz="2400" dirty="0" smtClean="0">
                <a:solidFill>
                  <a:srgbClr val="FF0000"/>
                </a:solidFill>
              </a:rPr>
              <a:t>This </a:t>
            </a:r>
            <a:r>
              <a:rPr lang="en-IN" sz="2400" dirty="0">
                <a:solidFill>
                  <a:srgbClr val="FF0000"/>
                </a:solidFill>
              </a:rPr>
              <a:t>particular technique </a:t>
            </a:r>
            <a:r>
              <a:rPr lang="en-IN" sz="2400" dirty="0" smtClean="0">
                <a:solidFill>
                  <a:srgbClr val="FF0000"/>
                </a:solidFill>
              </a:rPr>
              <a:t>is </a:t>
            </a:r>
            <a:r>
              <a:rPr lang="en-IN" sz="2400" dirty="0">
                <a:solidFill>
                  <a:srgbClr val="FF0000"/>
                </a:solidFill>
              </a:rPr>
              <a:t>called </a:t>
            </a:r>
            <a:r>
              <a:rPr lang="en-IN" sz="2400" b="1" dirty="0">
                <a:solidFill>
                  <a:srgbClr val="FF0000"/>
                </a:solidFill>
              </a:rPr>
              <a:t>alpha–beta pruning</a:t>
            </a:r>
            <a:r>
              <a:rPr lang="en-IN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0142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Alpha–Beta Pruning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IN" dirty="0"/>
              <a:t>Consider </a:t>
            </a:r>
            <a:r>
              <a:rPr lang="en-IN" dirty="0" smtClean="0"/>
              <a:t>the </a:t>
            </a:r>
            <a:r>
              <a:rPr lang="en-IN" dirty="0"/>
              <a:t>two-ply game tree from Figure 5.2 . </a:t>
            </a:r>
            <a:endParaRPr lang="en-IN" dirty="0" smtClean="0"/>
          </a:p>
          <a:p>
            <a:pPr>
              <a:lnSpc>
                <a:spcPct val="110000"/>
              </a:lnSpc>
            </a:pPr>
            <a:r>
              <a:rPr lang="en-IN" dirty="0" smtClean="0">
                <a:solidFill>
                  <a:srgbClr val="FF0000"/>
                </a:solidFill>
              </a:rPr>
              <a:t>The </a:t>
            </a:r>
            <a:r>
              <a:rPr lang="en-IN" dirty="0">
                <a:solidFill>
                  <a:srgbClr val="FF0000"/>
                </a:solidFill>
              </a:rPr>
              <a:t>calculation </a:t>
            </a:r>
            <a:r>
              <a:rPr lang="en-IN" dirty="0" smtClean="0">
                <a:solidFill>
                  <a:srgbClr val="FF0000"/>
                </a:solidFill>
              </a:rPr>
              <a:t>of the </a:t>
            </a:r>
            <a:r>
              <a:rPr lang="en-IN" dirty="0">
                <a:solidFill>
                  <a:srgbClr val="FF0000"/>
                </a:solidFill>
              </a:rPr>
              <a:t>optimal decision </a:t>
            </a:r>
            <a:r>
              <a:rPr lang="en-IN" dirty="0" smtClean="0">
                <a:solidFill>
                  <a:srgbClr val="FF0000"/>
                </a:solidFill>
              </a:rPr>
              <a:t>this </a:t>
            </a:r>
            <a:r>
              <a:rPr lang="en-IN" dirty="0">
                <a:solidFill>
                  <a:srgbClr val="FF0000"/>
                </a:solidFill>
              </a:rPr>
              <a:t>time </a:t>
            </a:r>
            <a:r>
              <a:rPr lang="en-IN" dirty="0" smtClean="0">
                <a:solidFill>
                  <a:srgbClr val="FF0000"/>
                </a:solidFill>
              </a:rPr>
              <a:t>pays </a:t>
            </a:r>
            <a:r>
              <a:rPr lang="en-IN" dirty="0">
                <a:solidFill>
                  <a:srgbClr val="FF0000"/>
                </a:solidFill>
              </a:rPr>
              <a:t>careful attention to what we know at </a:t>
            </a:r>
            <a:r>
              <a:rPr lang="en-IN" dirty="0" smtClean="0">
                <a:solidFill>
                  <a:srgbClr val="FF0000"/>
                </a:solidFill>
              </a:rPr>
              <a:t>each point </a:t>
            </a:r>
            <a:r>
              <a:rPr lang="en-IN" dirty="0">
                <a:solidFill>
                  <a:srgbClr val="FF0000"/>
                </a:solidFill>
              </a:rPr>
              <a:t>in the process. </a:t>
            </a:r>
            <a:endParaRPr lang="en-IN" dirty="0" smtClean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en-IN" dirty="0" smtClean="0"/>
              <a:t>The </a:t>
            </a:r>
            <a:r>
              <a:rPr lang="en-IN" dirty="0"/>
              <a:t>steps are explained in Figure 5.5 </a:t>
            </a:r>
            <a:r>
              <a:rPr lang="en-IN" dirty="0" smtClean="0"/>
              <a:t>(next slide). </a:t>
            </a:r>
          </a:p>
          <a:p>
            <a:pPr>
              <a:lnSpc>
                <a:spcPct val="110000"/>
              </a:lnSpc>
            </a:pPr>
            <a:r>
              <a:rPr lang="en-IN" dirty="0" smtClean="0"/>
              <a:t>The </a:t>
            </a:r>
            <a:r>
              <a:rPr lang="en-IN" dirty="0"/>
              <a:t>outcome is that we </a:t>
            </a:r>
            <a:r>
              <a:rPr lang="en-IN" dirty="0" smtClean="0"/>
              <a:t>can </a:t>
            </a:r>
            <a:r>
              <a:rPr lang="en-IN" dirty="0" smtClean="0">
                <a:solidFill>
                  <a:srgbClr val="FF0000"/>
                </a:solidFill>
              </a:rPr>
              <a:t>identify </a:t>
            </a:r>
            <a:r>
              <a:rPr lang="en-IN" dirty="0">
                <a:solidFill>
                  <a:srgbClr val="FF0000"/>
                </a:solidFill>
              </a:rPr>
              <a:t>the minimax decision without ever evaluating two of the leaf nodes.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265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08720"/>
            <a:ext cx="7272808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939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Alpha–Beta Search Algorithm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50970"/>
          </a:xfrm>
        </p:spPr>
        <p:txBody>
          <a:bodyPr>
            <a:normAutofit/>
          </a:bodyPr>
          <a:lstStyle/>
          <a:p>
            <a:r>
              <a:rPr lang="en-IN" sz="2000" dirty="0" smtClean="0">
                <a:solidFill>
                  <a:srgbClr val="FF0000"/>
                </a:solidFill>
              </a:rPr>
              <a:t>Figure 5.7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052736"/>
            <a:ext cx="6316342" cy="557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764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080020" cy="4872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6710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70353"/>
            <a:ext cx="8855504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456" y="-175235"/>
            <a:ext cx="8229600" cy="1143000"/>
          </a:xfrm>
        </p:spPr>
        <p:txBody>
          <a:bodyPr/>
          <a:lstStyle/>
          <a:p>
            <a:r>
              <a:rPr lang="en-IN" dirty="0" smtClean="0"/>
              <a:t>Example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22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20"/>
            <a:ext cx="8970165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44624"/>
            <a:ext cx="8147248" cy="864096"/>
          </a:xfrm>
        </p:spPr>
        <p:txBody>
          <a:bodyPr>
            <a:normAutofit/>
          </a:bodyPr>
          <a:lstStyle/>
          <a:p>
            <a:r>
              <a:rPr lang="en-IN" sz="3600" dirty="0" smtClean="0"/>
              <a:t>Example continued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32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01" y="1196752"/>
            <a:ext cx="8684305" cy="3976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4103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03112"/>
            <a:ext cx="8912433" cy="4574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69847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20"/>
            <a:ext cx="8947749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36689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0" y="908720"/>
            <a:ext cx="8947156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93137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48" y="836712"/>
            <a:ext cx="8994556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007852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908720"/>
            <a:ext cx="8987299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46214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86" y="1266824"/>
            <a:ext cx="8855310" cy="4610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747138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8720"/>
            <a:ext cx="8876493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02027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80728"/>
            <a:ext cx="900943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65723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4" y="620688"/>
            <a:ext cx="9018160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8071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4"/>
            <a:ext cx="8710242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64194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764704"/>
            <a:ext cx="8938055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96063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836712"/>
            <a:ext cx="8887939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922894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823292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540893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548680"/>
            <a:ext cx="8804331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39552" y="44624"/>
            <a:ext cx="8147248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smtClean="0"/>
              <a:t>Example continued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79329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48680"/>
            <a:ext cx="8944095" cy="4924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2283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196</Words>
  <Application>Microsoft Office PowerPoint</Application>
  <PresentationFormat>On-screen Show (4:3)</PresentationFormat>
  <Paragraphs>31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Module3_Alpha_Beta_Pruning</vt:lpstr>
      <vt:lpstr>Alpha–Beta Pruning </vt:lpstr>
      <vt:lpstr>Alpha–Beta Pruning </vt:lpstr>
      <vt:lpstr>Example</vt:lpstr>
      <vt:lpstr> Alpha–Beta Search Algorithm </vt:lpstr>
      <vt:lpstr>PowerPoint Presentation</vt:lpstr>
      <vt:lpstr>Example </vt:lpstr>
      <vt:lpstr>Example continued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Alpha-Beta Pruning</dc:title>
  <dc:creator>Administrator</dc:creator>
  <cp:lastModifiedBy>vijaya sherly</cp:lastModifiedBy>
  <cp:revision>29</cp:revision>
  <dcterms:created xsi:type="dcterms:W3CDTF">2022-02-25T09:46:14Z</dcterms:created>
  <dcterms:modified xsi:type="dcterms:W3CDTF">2022-10-15T04:51:53Z</dcterms:modified>
</cp:coreProperties>
</file>