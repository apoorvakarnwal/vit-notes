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70" r:id="rId14"/>
    <p:sldId id="269" r:id="rId15"/>
    <p:sldId id="271" r:id="rId16"/>
    <p:sldId id="280" r:id="rId17"/>
    <p:sldId id="272" r:id="rId18"/>
    <p:sldId id="279" r:id="rId19"/>
    <p:sldId id="273" r:id="rId20"/>
    <p:sldId id="274" r:id="rId21"/>
    <p:sldId id="275" r:id="rId22"/>
    <p:sldId id="278" r:id="rId23"/>
    <p:sldId id="276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1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9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0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8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31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11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3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3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24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8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B7BDC-451A-45BA-8DCF-596664279483}" type="datetimeFigureOut">
              <a:rPr lang="en-IN" smtClean="0"/>
              <a:t>15-10-2022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B09E4-2EE8-4012-BA0E-72FA8D7BD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altLang="en-US" dirty="0" smtClean="0"/>
              <a:t>Module3_Games_Mini-max_algorithm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defRPr/>
            </a:pPr>
            <a:r>
              <a:rPr lang="en-IN" dirty="0" smtClean="0"/>
              <a:t>Reference: </a:t>
            </a:r>
            <a:r>
              <a:rPr lang="en-IN" dirty="0"/>
              <a:t>Russell, S. and </a:t>
            </a:r>
            <a:r>
              <a:rPr lang="en-IN" dirty="0" err="1"/>
              <a:t>Norvig</a:t>
            </a:r>
            <a:r>
              <a:rPr lang="en-IN" dirty="0"/>
              <a:t>, P. Artificial Intelligence - A Modern Approach, 4th edition, </a:t>
            </a:r>
            <a:r>
              <a:rPr lang="en-IN" dirty="0" smtClean="0"/>
              <a:t>Prentice Hall</a:t>
            </a:r>
            <a:r>
              <a:rPr lang="en-IN" dirty="0"/>
              <a:t>, </a:t>
            </a:r>
            <a:r>
              <a:rPr lang="en-IN" dirty="0" smtClean="0"/>
              <a:t>2020-Chapter 5, section 5.1 and 5.2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24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b="1" dirty="0" smtClean="0">
                <a:solidFill>
                  <a:srgbClr val="FF0000"/>
                </a:solidFill>
              </a:rPr>
              <a:t>In a competitive </a:t>
            </a:r>
            <a:r>
              <a:rPr lang="en-IN" b="1" dirty="0">
                <a:solidFill>
                  <a:srgbClr val="FF0000"/>
                </a:solidFill>
              </a:rPr>
              <a:t>environments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smtClean="0">
                <a:solidFill>
                  <a:srgbClr val="FF0000"/>
                </a:solidFill>
              </a:rPr>
              <a:t>two </a:t>
            </a:r>
            <a:r>
              <a:rPr lang="en-IN" dirty="0">
                <a:solidFill>
                  <a:srgbClr val="FF0000"/>
                </a:solidFill>
              </a:rPr>
              <a:t>or more agents </a:t>
            </a:r>
            <a:r>
              <a:rPr lang="en-IN" dirty="0" smtClean="0">
                <a:solidFill>
                  <a:srgbClr val="FF0000"/>
                </a:solidFill>
              </a:rPr>
              <a:t>have conflicting </a:t>
            </a:r>
            <a:r>
              <a:rPr lang="en-IN" dirty="0">
                <a:solidFill>
                  <a:srgbClr val="FF0000"/>
                </a:solidFill>
              </a:rPr>
              <a:t>goals, giving rise to </a:t>
            </a:r>
            <a:r>
              <a:rPr lang="en-IN" b="1" dirty="0">
                <a:solidFill>
                  <a:srgbClr val="FF0000"/>
                </a:solidFill>
              </a:rPr>
              <a:t>adversarial search </a:t>
            </a:r>
            <a:r>
              <a:rPr lang="en-IN" dirty="0">
                <a:solidFill>
                  <a:srgbClr val="FF0000"/>
                </a:solidFill>
              </a:rPr>
              <a:t>problems. </a:t>
            </a:r>
            <a:endParaRPr lang="en-IN" dirty="0" smtClean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IN" dirty="0" smtClean="0"/>
              <a:t>Rather </a:t>
            </a:r>
            <a:r>
              <a:rPr lang="en-IN" dirty="0"/>
              <a:t>than deal with the </a:t>
            </a:r>
            <a:r>
              <a:rPr lang="en-IN" dirty="0" smtClean="0"/>
              <a:t>chaos of </a:t>
            </a:r>
            <a:r>
              <a:rPr lang="en-IN" dirty="0"/>
              <a:t>real-world skirmishes, we will concentrate on games, such as chess, Go, and poker.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AI researchers take over on </a:t>
            </a:r>
            <a:r>
              <a:rPr lang="en-IN" dirty="0"/>
              <a:t>the simplified nature of these </a:t>
            </a:r>
            <a:r>
              <a:rPr lang="en-IN" dirty="0" smtClean="0"/>
              <a:t>games: </a:t>
            </a:r>
          </a:p>
          <a:p>
            <a:pPr lvl="2"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state of a game is easy </a:t>
            </a:r>
            <a:r>
              <a:rPr lang="en-IN" dirty="0" smtClean="0"/>
              <a:t>to represent</a:t>
            </a:r>
            <a:r>
              <a:rPr lang="en-IN" dirty="0"/>
              <a:t>, and agents are usually restricted to a small number of actions whose effects </a:t>
            </a:r>
            <a:r>
              <a:rPr lang="en-IN" dirty="0" smtClean="0"/>
              <a:t>are defined </a:t>
            </a:r>
            <a:r>
              <a:rPr lang="en-IN" dirty="0"/>
              <a:t>by precise rules. </a:t>
            </a:r>
          </a:p>
        </p:txBody>
      </p:sp>
    </p:spTree>
    <p:extLst>
      <p:ext uri="{BB962C8B-B14F-4D97-AF65-F5344CB8AC3E}">
        <p14:creationId xmlns:p14="http://schemas.microsoft.com/office/powerpoint/2010/main" val="264676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Adversarial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Adversarial search </a:t>
            </a:r>
            <a:r>
              <a:rPr lang="en-US" altLang="en-US" dirty="0">
                <a:solidFill>
                  <a:srgbClr val="202124"/>
                </a:solidFill>
              </a:rPr>
              <a:t>is a search, where we </a:t>
            </a:r>
            <a:r>
              <a:rPr lang="en-US" altLang="en-US" b="1" dirty="0">
                <a:solidFill>
                  <a:srgbClr val="202124"/>
                </a:solidFill>
              </a:rPr>
              <a:t>examine the problem which arises when we try to plan ahead of the world and other agents are planning against us</a:t>
            </a:r>
            <a:r>
              <a:rPr lang="en-US" altLang="en-US" dirty="0">
                <a:solidFill>
                  <a:srgbClr val="202124"/>
                </a:solidFill>
              </a:rPr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altLang="en-US" dirty="0" smtClean="0">
                <a:solidFill>
                  <a:srgbClr val="202124"/>
                </a:solidFill>
              </a:rPr>
              <a:t>It is a</a:t>
            </a:r>
            <a:r>
              <a:rPr lang="en-US" altLang="en-US" dirty="0">
                <a:solidFill>
                  <a:srgbClr val="202124"/>
                </a:solidFill>
              </a:rPr>
              <a:t> </a:t>
            </a:r>
            <a:r>
              <a:rPr lang="en-US" altLang="en-US" b="1" dirty="0">
                <a:solidFill>
                  <a:srgbClr val="FF0000"/>
                </a:solidFill>
              </a:rPr>
              <a:t>search when there is an "enemy" or "opponent" changing the state of the problem </a:t>
            </a:r>
            <a:r>
              <a:rPr lang="en-US" altLang="en-US" b="1" dirty="0" smtClean="0">
                <a:solidFill>
                  <a:srgbClr val="FF0000"/>
                </a:solidFill>
              </a:rPr>
              <a:t>at every </a:t>
            </a:r>
            <a:r>
              <a:rPr lang="en-US" altLang="en-US" b="1" dirty="0">
                <a:solidFill>
                  <a:srgbClr val="FF0000"/>
                </a:solidFill>
              </a:rPr>
              <a:t>step in a direction you do not want</a:t>
            </a:r>
            <a:r>
              <a:rPr lang="en-US" altLang="en-US" dirty="0">
                <a:solidFill>
                  <a:srgbClr val="FF0000"/>
                </a:solidFill>
              </a:rPr>
              <a:t>. 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en-US" altLang="en-US" dirty="0" smtClean="0">
                <a:solidFill>
                  <a:srgbClr val="202124"/>
                </a:solidFill>
              </a:rPr>
              <a:t>Examples</a:t>
            </a:r>
            <a:r>
              <a:rPr lang="en-US" altLang="en-US" dirty="0">
                <a:solidFill>
                  <a:srgbClr val="202124"/>
                </a:solidFill>
              </a:rPr>
              <a:t>: Chess, business, trading, war.</a:t>
            </a:r>
          </a:p>
          <a:p>
            <a:pPr algn="just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Heuristic search </a:t>
            </a:r>
            <a:r>
              <a:rPr lang="en-US" altLang="en-US" dirty="0">
                <a:solidFill>
                  <a:srgbClr val="202124"/>
                </a:solidFill>
              </a:rPr>
              <a:t>refers to </a:t>
            </a:r>
            <a:r>
              <a:rPr lang="en-US" altLang="en-US" b="1" dirty="0">
                <a:solidFill>
                  <a:srgbClr val="202124"/>
                </a:solidFill>
              </a:rPr>
              <a:t>a search strategy that attempts to optimize a problem by iteratively improving the solution based on a given heuristic function or a cost measure</a:t>
            </a:r>
            <a:r>
              <a:rPr lang="en-US" altLang="en-US" dirty="0">
                <a:solidFill>
                  <a:srgbClr val="202124"/>
                </a:solidFill>
              </a:rPr>
              <a:t>. </a:t>
            </a:r>
            <a:r>
              <a:rPr lang="en-US" altLang="en-US" dirty="0" smtClean="0">
                <a:solidFill>
                  <a:srgbClr val="202124"/>
                </a:solidFill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altLang="en-US" dirty="0" smtClean="0">
                <a:solidFill>
                  <a:srgbClr val="202124"/>
                </a:solidFill>
              </a:rPr>
              <a:t>A </a:t>
            </a:r>
            <a:r>
              <a:rPr lang="en-US" altLang="en-US" dirty="0">
                <a:solidFill>
                  <a:srgbClr val="202124"/>
                </a:solidFill>
              </a:rPr>
              <a:t>classic example of applying heuristic search is the traveling salesman problem</a:t>
            </a:r>
            <a:endParaRPr lang="en-IN" altLang="en-US" dirty="0"/>
          </a:p>
          <a:p>
            <a:pPr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05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Game playing is one of the </a:t>
            </a:r>
            <a:r>
              <a:rPr lang="en-IN" alt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oldest sub-field of AI.</a:t>
            </a:r>
          </a:p>
          <a:p>
            <a:pPr algn="just"/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Game playing involves abstract and pure form of </a:t>
            </a:r>
            <a:r>
              <a:rPr lang="en-IN" alt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competition that seems to require </a:t>
            </a:r>
            <a:r>
              <a:rPr lang="en-IN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intelligence.</a:t>
            </a:r>
            <a:endParaRPr lang="en-IN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It is easy to represent the state and actions</a:t>
            </a:r>
          </a:p>
          <a:p>
            <a:pPr algn="just"/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To implement game playing </a:t>
            </a:r>
            <a:r>
              <a:rPr lang="en-IN" altLang="en-US" dirty="0" smtClean="0">
                <a:latin typeface="Times New Roman" pitchFamily="18" charset="0"/>
                <a:cs typeface="Times New Roman" pitchFamily="18" charset="0"/>
              </a:rPr>
              <a:t>one requires </a:t>
            </a:r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very little world knowledge</a:t>
            </a:r>
          </a:p>
          <a:p>
            <a:pPr algn="just"/>
            <a:endParaRPr lang="en-IN" alt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64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altLang="en-US" sz="2800" dirty="0">
                <a:latin typeface="Times New Roman" pitchFamily="18" charset="0"/>
                <a:cs typeface="Times New Roman" pitchFamily="18" charset="0"/>
              </a:rPr>
              <a:t>The most commonly used AI technique in game is search</a:t>
            </a:r>
          </a:p>
          <a:p>
            <a:r>
              <a:rPr lang="en-IN" altLang="en-US" sz="2800" dirty="0">
                <a:latin typeface="Times New Roman" pitchFamily="18" charset="0"/>
                <a:cs typeface="Times New Roman" pitchFamily="18" charset="0"/>
              </a:rPr>
              <a:t>Game playing research has contributed ideas on how to make the best use of time to reach good decisions</a:t>
            </a:r>
          </a:p>
          <a:p>
            <a:r>
              <a:rPr lang="en-IN" altLang="en-US" sz="2800" b="1" i="1" dirty="0">
                <a:latin typeface="Times New Roman" pitchFamily="18" charset="0"/>
                <a:cs typeface="Times New Roman" pitchFamily="18" charset="0"/>
              </a:rPr>
              <a:t>Game playing is a search problem defined by: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Initial state of the game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Operators defining legal moves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Successor function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Terminal test defining end of game states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Goal test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Path cost/ utility/ payoff function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09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Two-player zero-sum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IN" dirty="0"/>
              <a:t>The games most commonly studied within AI (such as chess and Go) are what </a:t>
            </a:r>
            <a:r>
              <a:rPr lang="en-IN" dirty="0" smtClean="0"/>
              <a:t>game theorists </a:t>
            </a:r>
            <a:r>
              <a:rPr lang="en-IN" dirty="0"/>
              <a:t>call </a:t>
            </a:r>
            <a:r>
              <a:rPr lang="en-IN" dirty="0">
                <a:solidFill>
                  <a:srgbClr val="FF0000"/>
                </a:solidFill>
              </a:rPr>
              <a:t>deterministic, two-player, turn-taking, </a:t>
            </a:r>
            <a:r>
              <a:rPr lang="en-IN" b="1" dirty="0">
                <a:solidFill>
                  <a:srgbClr val="FF0000"/>
                </a:solidFill>
              </a:rPr>
              <a:t>perfect information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b="1" dirty="0">
                <a:solidFill>
                  <a:srgbClr val="FF0000"/>
                </a:solidFill>
              </a:rPr>
              <a:t>zero-sum games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IN" dirty="0"/>
              <a:t>“Perfect information” is a synonym for “fully observable</a:t>
            </a:r>
            <a:r>
              <a:rPr lang="en-IN" dirty="0" smtClean="0"/>
              <a:t>,”</a:t>
            </a:r>
          </a:p>
          <a:p>
            <a:pPr lvl="1" algn="just">
              <a:lnSpc>
                <a:spcPct val="120000"/>
              </a:lnSpc>
            </a:pPr>
            <a:r>
              <a:rPr lang="en-IN" dirty="0" smtClean="0"/>
              <a:t>“</a:t>
            </a:r>
            <a:r>
              <a:rPr lang="en-IN" dirty="0"/>
              <a:t>zero-sum” means that </a:t>
            </a:r>
            <a:r>
              <a:rPr lang="en-IN" dirty="0" smtClean="0"/>
              <a:t>what is </a:t>
            </a:r>
            <a:r>
              <a:rPr lang="en-IN" dirty="0"/>
              <a:t>good for one player is just as bad for the other: there is no “win-win” outcome.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/>
              <a:t>For games we </a:t>
            </a:r>
            <a:r>
              <a:rPr lang="en-IN" dirty="0"/>
              <a:t>often use the term </a:t>
            </a:r>
            <a:r>
              <a:rPr lang="en-IN" b="1" dirty="0"/>
              <a:t>move </a:t>
            </a:r>
            <a:r>
              <a:rPr lang="en-IN" dirty="0"/>
              <a:t>as a synonym for “action” and </a:t>
            </a:r>
            <a:r>
              <a:rPr lang="en-IN" b="1" dirty="0"/>
              <a:t>position </a:t>
            </a:r>
            <a:r>
              <a:rPr lang="en-IN" dirty="0"/>
              <a:t>as a synonym </a:t>
            </a:r>
            <a:r>
              <a:rPr lang="en-IN" dirty="0" smtClean="0"/>
              <a:t>for “</a:t>
            </a:r>
            <a:r>
              <a:rPr lang="en-IN" dirty="0"/>
              <a:t>state.”</a:t>
            </a:r>
          </a:p>
        </p:txBody>
      </p:sp>
    </p:spTree>
    <p:extLst>
      <p:ext uri="{BB962C8B-B14F-4D97-AF65-F5344CB8AC3E}">
        <p14:creationId xmlns:p14="http://schemas.microsoft.com/office/powerpoint/2010/main" val="115244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Two-player zero-sum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We will call our </a:t>
            </a:r>
            <a:r>
              <a:rPr lang="en-IN" dirty="0">
                <a:solidFill>
                  <a:srgbClr val="FF0000"/>
                </a:solidFill>
              </a:rPr>
              <a:t>two players MAX and </a:t>
            </a:r>
            <a:r>
              <a:rPr lang="en-IN" dirty="0" smtClean="0">
                <a:solidFill>
                  <a:srgbClr val="FF0000"/>
                </a:solidFill>
              </a:rPr>
              <a:t>MIN</a:t>
            </a:r>
          </a:p>
          <a:p>
            <a:r>
              <a:rPr lang="en-IN" dirty="0" smtClean="0"/>
              <a:t>MAX moves </a:t>
            </a:r>
            <a:r>
              <a:rPr lang="en-IN" dirty="0"/>
              <a:t>first, and then the players take turns moving until the game is over. </a:t>
            </a:r>
            <a:endParaRPr lang="en-IN" dirty="0" smtClean="0"/>
          </a:p>
          <a:p>
            <a:r>
              <a:rPr lang="en-IN" dirty="0" smtClean="0"/>
              <a:t>At </a:t>
            </a:r>
            <a:r>
              <a:rPr lang="en-IN" dirty="0"/>
              <a:t>the end of </a:t>
            </a:r>
            <a:r>
              <a:rPr lang="en-IN" dirty="0" smtClean="0"/>
              <a:t>the game</a:t>
            </a:r>
            <a:r>
              <a:rPr lang="en-IN" dirty="0"/>
              <a:t>, points are awarded to the winning player and penalties are given to the loser. </a:t>
            </a:r>
            <a:endParaRPr lang="en-IN" dirty="0" smtClean="0"/>
          </a:p>
          <a:p>
            <a:r>
              <a:rPr lang="en-IN" dirty="0" smtClean="0"/>
              <a:t>A game can </a:t>
            </a:r>
            <a:r>
              <a:rPr lang="en-IN" dirty="0"/>
              <a:t>be formally defined with the following </a:t>
            </a:r>
            <a:r>
              <a:rPr lang="en-IN" dirty="0" smtClean="0"/>
              <a:t>elements: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The </a:t>
            </a:r>
            <a:r>
              <a:rPr lang="en-IN" b="1" dirty="0">
                <a:solidFill>
                  <a:srgbClr val="FF0000"/>
                </a:solidFill>
              </a:rPr>
              <a:t>initial </a:t>
            </a:r>
            <a:r>
              <a:rPr lang="en-IN" b="1" dirty="0" smtClean="0">
                <a:solidFill>
                  <a:srgbClr val="FF0000"/>
                </a:solidFill>
              </a:rPr>
              <a:t>state S0</a:t>
            </a:r>
            <a:r>
              <a:rPr lang="en-IN" dirty="0" smtClean="0">
                <a:solidFill>
                  <a:srgbClr val="FF0000"/>
                </a:solidFill>
              </a:rPr>
              <a:t>, </a:t>
            </a:r>
            <a:r>
              <a:rPr lang="en-IN" dirty="0">
                <a:solidFill>
                  <a:srgbClr val="FF0000"/>
                </a:solidFill>
              </a:rPr>
              <a:t>which specifies how the game is set up at the start.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TO-MOVE (s) </a:t>
            </a:r>
            <a:r>
              <a:rPr lang="en-IN" dirty="0">
                <a:solidFill>
                  <a:srgbClr val="FF0000"/>
                </a:solidFill>
              </a:rPr>
              <a:t>: The player whose turn it is to move in </a:t>
            </a:r>
            <a:r>
              <a:rPr lang="en-IN" dirty="0" smtClean="0">
                <a:solidFill>
                  <a:srgbClr val="FF0000"/>
                </a:solidFill>
              </a:rPr>
              <a:t>state s 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ACTIONS (s) </a:t>
            </a:r>
            <a:r>
              <a:rPr lang="en-IN" dirty="0">
                <a:solidFill>
                  <a:srgbClr val="FF0000"/>
                </a:solidFill>
              </a:rPr>
              <a:t>: The set of legal moves in state </a:t>
            </a:r>
            <a:r>
              <a:rPr lang="en-IN" dirty="0" smtClean="0">
                <a:solidFill>
                  <a:srgbClr val="FF0000"/>
                </a:solidFill>
              </a:rPr>
              <a:t>s.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IS-TERMINAL(s) : A </a:t>
            </a:r>
            <a:r>
              <a:rPr lang="en-IN" b="1" dirty="0">
                <a:solidFill>
                  <a:srgbClr val="FF0000"/>
                </a:solidFill>
              </a:rPr>
              <a:t>terminal test</a:t>
            </a:r>
            <a:r>
              <a:rPr lang="en-IN" dirty="0">
                <a:solidFill>
                  <a:srgbClr val="FF0000"/>
                </a:solidFill>
              </a:rPr>
              <a:t>, which is true when the game is over and false otherwise.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States where the game has ended are called </a:t>
            </a:r>
            <a:r>
              <a:rPr lang="en-IN" b="1" dirty="0">
                <a:solidFill>
                  <a:srgbClr val="FF0000"/>
                </a:solidFill>
              </a:rPr>
              <a:t>terminal states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RESULT (</a:t>
            </a:r>
            <a:r>
              <a:rPr lang="en-IN" dirty="0" err="1" smtClean="0">
                <a:solidFill>
                  <a:srgbClr val="FF0000"/>
                </a:solidFill>
              </a:rPr>
              <a:t>s,a</a:t>
            </a:r>
            <a:r>
              <a:rPr lang="en-IN" dirty="0" smtClean="0">
                <a:solidFill>
                  <a:srgbClr val="FF0000"/>
                </a:solidFill>
              </a:rPr>
              <a:t>) </a:t>
            </a:r>
            <a:r>
              <a:rPr lang="en-IN" dirty="0">
                <a:solidFill>
                  <a:srgbClr val="FF0000"/>
                </a:solidFill>
              </a:rPr>
              <a:t>: The </a:t>
            </a:r>
            <a:r>
              <a:rPr lang="en-IN" b="1" dirty="0">
                <a:solidFill>
                  <a:srgbClr val="FF0000"/>
                </a:solidFill>
              </a:rPr>
              <a:t>transition model</a:t>
            </a:r>
            <a:r>
              <a:rPr lang="en-IN" dirty="0">
                <a:solidFill>
                  <a:srgbClr val="FF0000"/>
                </a:solidFill>
              </a:rPr>
              <a:t>, which defines the </a:t>
            </a:r>
            <a:r>
              <a:rPr lang="en-IN" dirty="0" smtClean="0">
                <a:solidFill>
                  <a:srgbClr val="FF0000"/>
                </a:solidFill>
              </a:rPr>
              <a:t>state resulting </a:t>
            </a:r>
            <a:r>
              <a:rPr lang="en-IN" dirty="0">
                <a:solidFill>
                  <a:srgbClr val="FF0000"/>
                </a:solidFill>
              </a:rPr>
              <a:t>from taking </a:t>
            </a:r>
            <a:r>
              <a:rPr lang="en-IN" dirty="0" smtClean="0">
                <a:solidFill>
                  <a:srgbClr val="FF0000"/>
                </a:solidFill>
              </a:rPr>
              <a:t>action a in </a:t>
            </a:r>
            <a:r>
              <a:rPr lang="en-IN" dirty="0">
                <a:solidFill>
                  <a:srgbClr val="FF0000"/>
                </a:solidFill>
              </a:rPr>
              <a:t>state </a:t>
            </a:r>
            <a:r>
              <a:rPr lang="en-IN" dirty="0" smtClean="0">
                <a:solidFill>
                  <a:srgbClr val="FF0000"/>
                </a:solidFill>
              </a:rPr>
              <a:t>s.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UTILITY </a:t>
            </a:r>
            <a:r>
              <a:rPr lang="en-IN" dirty="0" smtClean="0">
                <a:solidFill>
                  <a:srgbClr val="FF0000"/>
                </a:solidFill>
              </a:rPr>
              <a:t> (</a:t>
            </a:r>
            <a:r>
              <a:rPr lang="en-IN" dirty="0" err="1" smtClean="0">
                <a:solidFill>
                  <a:srgbClr val="FF0000"/>
                </a:solidFill>
              </a:rPr>
              <a:t>s,p</a:t>
            </a:r>
            <a:r>
              <a:rPr lang="en-IN" dirty="0" smtClean="0">
                <a:solidFill>
                  <a:srgbClr val="FF0000"/>
                </a:solidFill>
              </a:rPr>
              <a:t>): </a:t>
            </a:r>
            <a:r>
              <a:rPr lang="en-IN" dirty="0">
                <a:solidFill>
                  <a:srgbClr val="FF0000"/>
                </a:solidFill>
              </a:rPr>
              <a:t>A </a:t>
            </a:r>
            <a:r>
              <a:rPr lang="en-IN" b="1" dirty="0">
                <a:solidFill>
                  <a:srgbClr val="FF0000"/>
                </a:solidFill>
              </a:rPr>
              <a:t>utility function </a:t>
            </a:r>
            <a:r>
              <a:rPr lang="en-IN" dirty="0">
                <a:solidFill>
                  <a:srgbClr val="FF0000"/>
                </a:solidFill>
              </a:rPr>
              <a:t>(also called an objective function or payoff function</a:t>
            </a:r>
            <a:r>
              <a:rPr lang="en-IN" dirty="0" smtClean="0">
                <a:solidFill>
                  <a:srgbClr val="FF0000"/>
                </a:solidFill>
              </a:rPr>
              <a:t>), which </a:t>
            </a:r>
            <a:r>
              <a:rPr lang="en-IN" dirty="0">
                <a:solidFill>
                  <a:srgbClr val="FF0000"/>
                </a:solidFill>
              </a:rPr>
              <a:t>defines the final numeric value to player </a:t>
            </a:r>
            <a:r>
              <a:rPr lang="en-IN" dirty="0" smtClean="0">
                <a:solidFill>
                  <a:srgbClr val="FF0000"/>
                </a:solidFill>
              </a:rPr>
              <a:t>p when </a:t>
            </a:r>
            <a:r>
              <a:rPr lang="en-IN" dirty="0">
                <a:solidFill>
                  <a:srgbClr val="FF0000"/>
                </a:solidFill>
              </a:rPr>
              <a:t>the game ends in terminal </a:t>
            </a:r>
            <a:r>
              <a:rPr lang="en-IN" dirty="0" smtClean="0">
                <a:solidFill>
                  <a:srgbClr val="FF0000"/>
                </a:solidFill>
              </a:rPr>
              <a:t>state s.</a:t>
            </a:r>
            <a:endParaRPr lang="en-IN" dirty="0">
              <a:solidFill>
                <a:srgbClr val="FF0000"/>
              </a:solidFill>
            </a:endParaRPr>
          </a:p>
          <a:p>
            <a:pPr lvl="2"/>
            <a:r>
              <a:rPr lang="en-IN" dirty="0" smtClean="0">
                <a:solidFill>
                  <a:srgbClr val="FF0000"/>
                </a:solidFill>
              </a:rPr>
              <a:t>In </a:t>
            </a:r>
            <a:r>
              <a:rPr lang="en-IN" dirty="0">
                <a:solidFill>
                  <a:srgbClr val="FF0000"/>
                </a:solidFill>
              </a:rPr>
              <a:t>chess, the outcome is a win, loss, or draw, with values 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0, </a:t>
            </a:r>
            <a:r>
              <a:rPr lang="en-IN" dirty="0" smtClean="0">
                <a:solidFill>
                  <a:srgbClr val="FF0000"/>
                </a:solidFill>
              </a:rPr>
              <a:t>1 or ½.</a:t>
            </a:r>
          </a:p>
          <a:p>
            <a:pPr lvl="2"/>
            <a:r>
              <a:rPr lang="en-IN" dirty="0" smtClean="0">
                <a:solidFill>
                  <a:srgbClr val="FF0000"/>
                </a:solidFill>
              </a:rPr>
              <a:t>Some games </a:t>
            </a:r>
            <a:r>
              <a:rPr lang="en-IN" dirty="0">
                <a:solidFill>
                  <a:srgbClr val="FF0000"/>
                </a:solidFill>
              </a:rPr>
              <a:t>have a wider range of possible outcomes—for example, the payoffs in </a:t>
            </a:r>
            <a:r>
              <a:rPr lang="en-IN" dirty="0" smtClean="0">
                <a:solidFill>
                  <a:srgbClr val="FF0000"/>
                </a:solidFill>
              </a:rPr>
              <a:t>backgammon range </a:t>
            </a:r>
            <a:r>
              <a:rPr lang="en-IN" dirty="0">
                <a:solidFill>
                  <a:srgbClr val="FF0000"/>
                </a:solidFill>
              </a:rPr>
              <a:t>from 0 to </a:t>
            </a:r>
            <a:r>
              <a:rPr lang="en-IN" dirty="0" smtClean="0">
                <a:solidFill>
                  <a:srgbClr val="FF0000"/>
                </a:solidFill>
              </a:rPr>
              <a:t>192.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5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Two-player zero-sum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dirty="0"/>
              <a:t>Chess is considered a “zero-sum” game, even though the sum of </a:t>
            </a:r>
            <a:r>
              <a:rPr lang="en-IN" dirty="0" smtClean="0"/>
              <a:t>the outcomes </a:t>
            </a:r>
            <a:r>
              <a:rPr lang="en-IN" dirty="0"/>
              <a:t>for the two players is </a:t>
            </a:r>
            <a:r>
              <a:rPr lang="en-IN" dirty="0" smtClean="0"/>
              <a:t>+1 for </a:t>
            </a:r>
            <a:r>
              <a:rPr lang="en-IN" dirty="0"/>
              <a:t>each game, not zero.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/>
              <a:t>“</a:t>
            </a:r>
            <a:r>
              <a:rPr lang="en-IN" dirty="0" err="1"/>
              <a:t>Constantsum</a:t>
            </a:r>
            <a:r>
              <a:rPr lang="en-IN" dirty="0" smtClean="0"/>
              <a:t>” would </a:t>
            </a:r>
            <a:r>
              <a:rPr lang="en-IN" dirty="0"/>
              <a:t>have been a more accurate term, but zero-sum is </a:t>
            </a:r>
            <a:r>
              <a:rPr lang="en-IN" dirty="0" smtClean="0"/>
              <a:t>traditional and </a:t>
            </a:r>
            <a:r>
              <a:rPr lang="en-IN" dirty="0"/>
              <a:t>makes sense if </a:t>
            </a:r>
            <a:r>
              <a:rPr lang="en-IN" dirty="0" smtClean="0"/>
              <a:t>one imagines </a:t>
            </a:r>
            <a:r>
              <a:rPr lang="en-IN" dirty="0"/>
              <a:t>each player is charged an entry fee </a:t>
            </a:r>
            <a:r>
              <a:rPr lang="en-IN" dirty="0" smtClean="0"/>
              <a:t>of 1/2.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initial state, ACTIONS function, and RESULT function define </a:t>
            </a:r>
            <a:r>
              <a:rPr lang="en-IN" dirty="0" smtClean="0"/>
              <a:t>the </a:t>
            </a:r>
            <a:r>
              <a:rPr lang="en-IN" b="1" dirty="0" smtClean="0"/>
              <a:t>state </a:t>
            </a:r>
            <a:r>
              <a:rPr lang="en-IN" b="1" dirty="0"/>
              <a:t>space graph</a:t>
            </a:r>
            <a:r>
              <a:rPr lang="en-IN" dirty="0"/>
              <a:t>—a graph where the vertices are states, the edges are moves and a </a:t>
            </a:r>
            <a:r>
              <a:rPr lang="en-IN" dirty="0" smtClean="0"/>
              <a:t>state might </a:t>
            </a:r>
            <a:r>
              <a:rPr lang="en-IN" dirty="0"/>
              <a:t>be reached by multiple paths.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/>
              <a:t>A complete </a:t>
            </a:r>
            <a:r>
              <a:rPr lang="en-IN" b="1" dirty="0">
                <a:solidFill>
                  <a:srgbClr val="FF0000"/>
                </a:solidFill>
              </a:rPr>
              <a:t>game </a:t>
            </a:r>
            <a:r>
              <a:rPr lang="en-IN" b="1" dirty="0" smtClean="0">
                <a:solidFill>
                  <a:srgbClr val="FF0000"/>
                </a:solidFill>
              </a:rPr>
              <a:t>tree is presented as a  </a:t>
            </a:r>
            <a:r>
              <a:rPr lang="en-IN" dirty="0" smtClean="0">
                <a:solidFill>
                  <a:srgbClr val="FF0000"/>
                </a:solidFill>
              </a:rPr>
              <a:t>search </a:t>
            </a:r>
            <a:r>
              <a:rPr lang="en-IN" dirty="0">
                <a:solidFill>
                  <a:srgbClr val="FF0000"/>
                </a:solidFill>
              </a:rPr>
              <a:t>tree that follows every sequence of moves all the way to a terminal state.</a:t>
            </a:r>
            <a:r>
              <a:rPr lang="en-IN" dirty="0"/>
              <a:t>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/>
              <a:t>The game </a:t>
            </a:r>
            <a:r>
              <a:rPr lang="en-IN" dirty="0"/>
              <a:t>tree may be infinite if the state space itself is unbounded or if the rules of the </a:t>
            </a:r>
            <a:r>
              <a:rPr lang="en-IN" dirty="0" smtClean="0"/>
              <a:t>game allow </a:t>
            </a:r>
            <a:r>
              <a:rPr lang="en-IN" dirty="0"/>
              <a:t>for infinitely repeating positions.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31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Game Tree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>
                <a:solidFill>
                  <a:srgbClr val="FF0000"/>
                </a:solidFill>
              </a:rPr>
              <a:t>P</a:t>
            </a:r>
            <a:r>
              <a:rPr lang="en-IN" dirty="0" smtClean="0">
                <a:solidFill>
                  <a:srgbClr val="FF0000"/>
                </a:solidFill>
              </a:rPr>
              <a:t>art </a:t>
            </a:r>
            <a:r>
              <a:rPr lang="en-IN" dirty="0">
                <a:solidFill>
                  <a:srgbClr val="FF0000"/>
                </a:solidFill>
              </a:rPr>
              <a:t>of the game tree for tic-tac-toe (noughts and crosses)</a:t>
            </a:r>
            <a:r>
              <a:rPr lang="en-IN" dirty="0"/>
              <a:t>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From the initial </a:t>
            </a:r>
            <a:r>
              <a:rPr lang="en-IN" dirty="0"/>
              <a:t>state, MAX has nine possible moves.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Play </a:t>
            </a:r>
            <a:r>
              <a:rPr lang="en-IN" dirty="0"/>
              <a:t>alternates between MAX’s placing an X </a:t>
            </a:r>
            <a:r>
              <a:rPr lang="en-IN" dirty="0" smtClean="0"/>
              <a:t>and MIN’s </a:t>
            </a:r>
            <a:r>
              <a:rPr lang="en-IN" dirty="0"/>
              <a:t>placing an O until we reach leaf nodes corresponding to terminal states such that </a:t>
            </a:r>
            <a:r>
              <a:rPr lang="en-IN" dirty="0" smtClean="0"/>
              <a:t>one player </a:t>
            </a:r>
            <a:r>
              <a:rPr lang="en-IN" dirty="0"/>
              <a:t>has three squares in a row or all the squares are filled.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number on each leaf </a:t>
            </a:r>
            <a:r>
              <a:rPr lang="en-IN" dirty="0" smtClean="0"/>
              <a:t>node indicates </a:t>
            </a:r>
            <a:r>
              <a:rPr lang="en-IN" dirty="0"/>
              <a:t>the utility value of the terminal state from the point of view of MAX; high values </a:t>
            </a:r>
            <a:r>
              <a:rPr lang="en-IN" dirty="0" smtClean="0"/>
              <a:t>are good </a:t>
            </a:r>
            <a:r>
              <a:rPr lang="en-IN" dirty="0"/>
              <a:t>for MAX and bad for MIN (which is how the players get their names).</a:t>
            </a:r>
          </a:p>
        </p:txBody>
      </p:sp>
    </p:spTree>
    <p:extLst>
      <p:ext uri="{BB962C8B-B14F-4D97-AF65-F5344CB8AC3E}">
        <p14:creationId xmlns:p14="http://schemas.microsoft.com/office/powerpoint/2010/main" val="157450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Game Tree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687" y="1061078"/>
            <a:ext cx="8686801" cy="5392258"/>
          </a:xfrm>
        </p:spPr>
        <p:txBody>
          <a:bodyPr>
            <a:normAutofit/>
          </a:bodyPr>
          <a:lstStyle/>
          <a:p>
            <a:r>
              <a:rPr lang="en-IN" sz="2400" dirty="0" smtClean="0"/>
              <a:t>Example:</a:t>
            </a:r>
          </a:p>
          <a:p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480326"/>
            <a:ext cx="6200353" cy="497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08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Game Tree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tic-tac-toe the game tree is relatively small—fewer than 9! = </a:t>
            </a:r>
            <a:r>
              <a:rPr lang="en-IN" dirty="0" smtClean="0"/>
              <a:t>362,880 terminal </a:t>
            </a:r>
            <a:r>
              <a:rPr lang="en-IN" dirty="0"/>
              <a:t>nodes </a:t>
            </a:r>
            <a:endParaRPr lang="en-IN" dirty="0" smtClean="0"/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the </a:t>
            </a:r>
            <a:r>
              <a:rPr lang="en-IN" dirty="0">
                <a:solidFill>
                  <a:srgbClr val="FF0000"/>
                </a:solidFill>
              </a:rPr>
              <a:t>game tree is </a:t>
            </a:r>
            <a:r>
              <a:rPr lang="en-IN" dirty="0" smtClean="0">
                <a:solidFill>
                  <a:srgbClr val="FF0000"/>
                </a:solidFill>
              </a:rPr>
              <a:t>best thought </a:t>
            </a:r>
            <a:r>
              <a:rPr lang="en-IN" dirty="0">
                <a:solidFill>
                  <a:srgbClr val="FF0000"/>
                </a:solidFill>
              </a:rPr>
              <a:t>of as a theoretical construct </a:t>
            </a:r>
            <a:r>
              <a:rPr lang="en-IN" dirty="0"/>
              <a:t>that we cannot realize in the physical world.</a:t>
            </a:r>
          </a:p>
        </p:txBody>
      </p:sp>
    </p:spTree>
    <p:extLst>
      <p:ext uri="{BB962C8B-B14F-4D97-AF65-F5344CB8AC3E}">
        <p14:creationId xmlns:p14="http://schemas.microsoft.com/office/powerpoint/2010/main" val="260892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Decisions in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MAX wants to find a sequence of actions leading to a win, but MIN has something to say </a:t>
            </a:r>
            <a:r>
              <a:rPr lang="en-IN" dirty="0" smtClean="0"/>
              <a:t>about it</a:t>
            </a:r>
            <a:r>
              <a:rPr lang="en-IN" dirty="0"/>
              <a:t>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This </a:t>
            </a:r>
            <a:r>
              <a:rPr lang="en-IN" dirty="0"/>
              <a:t>means that MAX’s strategy must be a conditional plan—a contingent </a:t>
            </a:r>
            <a:r>
              <a:rPr lang="en-IN" dirty="0" smtClean="0"/>
              <a:t>strategy specifying </a:t>
            </a:r>
            <a:r>
              <a:rPr lang="en-IN" dirty="0"/>
              <a:t>a response to each of MIN’s possible moves.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In </a:t>
            </a:r>
            <a:r>
              <a:rPr lang="en-IN" dirty="0">
                <a:solidFill>
                  <a:srgbClr val="FF0000"/>
                </a:solidFill>
              </a:rPr>
              <a:t>games that have a binary </a:t>
            </a:r>
            <a:r>
              <a:rPr lang="en-IN" dirty="0" smtClean="0">
                <a:solidFill>
                  <a:srgbClr val="FF0000"/>
                </a:solidFill>
              </a:rPr>
              <a:t>outcome (</a:t>
            </a:r>
            <a:r>
              <a:rPr lang="en-IN" dirty="0">
                <a:solidFill>
                  <a:srgbClr val="FF0000"/>
                </a:solidFill>
              </a:rPr>
              <a:t>win or lose), we could use AND–OR search </a:t>
            </a:r>
            <a:r>
              <a:rPr lang="en-IN" dirty="0" smtClean="0">
                <a:solidFill>
                  <a:srgbClr val="FF0000"/>
                </a:solidFill>
              </a:rPr>
              <a:t>to </a:t>
            </a:r>
            <a:r>
              <a:rPr lang="en-IN" dirty="0">
                <a:solidFill>
                  <a:srgbClr val="FF0000"/>
                </a:solidFill>
              </a:rPr>
              <a:t>generate the conditional plan. </a:t>
            </a:r>
            <a:endParaRPr lang="en-IN" dirty="0" smtClean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IN" dirty="0" smtClean="0"/>
              <a:t>In fact</a:t>
            </a:r>
            <a:r>
              <a:rPr lang="en-IN" dirty="0"/>
              <a:t>, for such games, the definition of a winning strategy for the game is identical to </a:t>
            </a:r>
            <a:r>
              <a:rPr lang="en-IN" dirty="0" smtClean="0"/>
              <a:t>the definition </a:t>
            </a:r>
            <a:r>
              <a:rPr lang="en-IN" dirty="0"/>
              <a:t>of a solution for a nondeterministic planning problem: in both cases the </a:t>
            </a:r>
            <a:r>
              <a:rPr lang="en-IN" dirty="0" smtClean="0"/>
              <a:t>desirable outcome </a:t>
            </a:r>
            <a:r>
              <a:rPr lang="en-IN" dirty="0"/>
              <a:t>must be guaranteed no matter what the “other side” does.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For </a:t>
            </a:r>
            <a:r>
              <a:rPr lang="en-IN" dirty="0">
                <a:solidFill>
                  <a:srgbClr val="FF0000"/>
                </a:solidFill>
              </a:rPr>
              <a:t>games with </a:t>
            </a:r>
            <a:r>
              <a:rPr lang="en-IN" dirty="0" smtClean="0">
                <a:solidFill>
                  <a:srgbClr val="FF0000"/>
                </a:solidFill>
              </a:rPr>
              <a:t>multiple outcome </a:t>
            </a:r>
            <a:r>
              <a:rPr lang="en-IN" dirty="0">
                <a:solidFill>
                  <a:srgbClr val="FF0000"/>
                </a:solidFill>
              </a:rPr>
              <a:t>scores, we need a slightly more general algorithm called </a:t>
            </a:r>
            <a:r>
              <a:rPr lang="en-IN" b="1" dirty="0">
                <a:solidFill>
                  <a:srgbClr val="FF0000"/>
                </a:solidFill>
              </a:rPr>
              <a:t>minimax search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961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IN" dirty="0" smtClean="0"/>
              <a:t>Example: Figure 5.2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88840"/>
            <a:ext cx="7048592" cy="399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cont’d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The </a:t>
            </a:r>
            <a:r>
              <a:rPr lang="en-IN" dirty="0"/>
              <a:t>possible moves for MAX at the root node </a:t>
            </a:r>
            <a:r>
              <a:rPr lang="en-IN" dirty="0" smtClean="0"/>
              <a:t>(as in previous slide) are </a:t>
            </a:r>
            <a:r>
              <a:rPr lang="en-IN" dirty="0" err="1" smtClean="0"/>
              <a:t>labeled</a:t>
            </a:r>
            <a:r>
              <a:rPr lang="en-IN" dirty="0" smtClean="0"/>
              <a:t> a1, a2, </a:t>
            </a:r>
            <a:r>
              <a:rPr lang="en-IN" dirty="0"/>
              <a:t>and </a:t>
            </a:r>
            <a:r>
              <a:rPr lang="en-IN" dirty="0" smtClean="0"/>
              <a:t>a3. </a:t>
            </a:r>
          </a:p>
          <a:p>
            <a:r>
              <a:rPr lang="en-IN" dirty="0" smtClean="0"/>
              <a:t>The </a:t>
            </a:r>
            <a:r>
              <a:rPr lang="en-IN" dirty="0"/>
              <a:t>possible replies </a:t>
            </a:r>
            <a:r>
              <a:rPr lang="en-IN" dirty="0" smtClean="0"/>
              <a:t>to a1 </a:t>
            </a:r>
            <a:r>
              <a:rPr lang="en-IN" dirty="0"/>
              <a:t>for MIN </a:t>
            </a:r>
            <a:r>
              <a:rPr lang="en-IN" dirty="0" smtClean="0"/>
              <a:t>are b1, b2,b3 and </a:t>
            </a:r>
            <a:r>
              <a:rPr lang="en-IN" dirty="0"/>
              <a:t>so on. </a:t>
            </a:r>
            <a:endParaRPr lang="en-IN" dirty="0" smtClean="0"/>
          </a:p>
          <a:p>
            <a:r>
              <a:rPr lang="en-IN" dirty="0" smtClean="0">
                <a:solidFill>
                  <a:srgbClr val="FF0000"/>
                </a:solidFill>
              </a:rPr>
              <a:t>This particular </a:t>
            </a:r>
            <a:r>
              <a:rPr lang="en-IN" dirty="0">
                <a:solidFill>
                  <a:srgbClr val="FF0000"/>
                </a:solidFill>
              </a:rPr>
              <a:t>game ends after one move each by MAX and MIN. 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b="1" dirty="0" smtClean="0"/>
              <a:t>NOTE</a:t>
            </a:r>
            <a:r>
              <a:rPr lang="en-IN" b="1" dirty="0"/>
              <a:t>: </a:t>
            </a:r>
            <a:r>
              <a:rPr lang="en-IN" dirty="0"/>
              <a:t>In some games, the </a:t>
            </a:r>
            <a:r>
              <a:rPr lang="en-IN" dirty="0" smtClean="0"/>
              <a:t>word “</a:t>
            </a:r>
            <a:r>
              <a:rPr lang="en-IN" dirty="0"/>
              <a:t>move” means that both players have taken an action; therefore the word </a:t>
            </a:r>
            <a:r>
              <a:rPr lang="en-IN" b="1" dirty="0">
                <a:solidFill>
                  <a:srgbClr val="FF0000"/>
                </a:solidFill>
              </a:rPr>
              <a:t>ply </a:t>
            </a:r>
            <a:r>
              <a:rPr lang="en-IN" dirty="0">
                <a:solidFill>
                  <a:srgbClr val="FF0000"/>
                </a:solidFill>
              </a:rPr>
              <a:t>is used </a:t>
            </a:r>
            <a:r>
              <a:rPr lang="en-IN" dirty="0" smtClean="0">
                <a:solidFill>
                  <a:srgbClr val="FF0000"/>
                </a:solidFill>
              </a:rPr>
              <a:t>to unambiguously </a:t>
            </a:r>
            <a:r>
              <a:rPr lang="en-IN" dirty="0">
                <a:solidFill>
                  <a:srgbClr val="FF0000"/>
                </a:solidFill>
              </a:rPr>
              <a:t>mean one move by one player, </a:t>
            </a:r>
            <a:r>
              <a:rPr lang="en-IN" dirty="0"/>
              <a:t>bringing us one level deeper in the </a:t>
            </a:r>
            <a:r>
              <a:rPr lang="en-IN" dirty="0" smtClean="0"/>
              <a:t>game tree.</a:t>
            </a:r>
          </a:p>
          <a:p>
            <a:r>
              <a:rPr lang="en-IN" dirty="0" smtClean="0"/>
              <a:t>The </a:t>
            </a:r>
            <a:r>
              <a:rPr lang="en-IN" dirty="0"/>
              <a:t>utilities of the terminal states in this game range from 2 to 14.</a:t>
            </a:r>
          </a:p>
        </p:txBody>
      </p:sp>
    </p:spTree>
    <p:extLst>
      <p:ext uri="{BB962C8B-B14F-4D97-AF65-F5344CB8AC3E}">
        <p14:creationId xmlns:p14="http://schemas.microsoft.com/office/powerpoint/2010/main" val="115593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Decisions in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Autofit/>
          </a:bodyPr>
          <a:lstStyle/>
          <a:p>
            <a:r>
              <a:rPr lang="en-IN" sz="2000" dirty="0"/>
              <a:t>Given a game tree, the optimal strategy can be determined by working out the </a:t>
            </a:r>
            <a:r>
              <a:rPr lang="en-IN" sz="2000" b="1" dirty="0" smtClean="0">
                <a:solidFill>
                  <a:srgbClr val="FF0000"/>
                </a:solidFill>
              </a:rPr>
              <a:t>minimax value </a:t>
            </a:r>
            <a:r>
              <a:rPr lang="en-IN" sz="2000" dirty="0">
                <a:solidFill>
                  <a:srgbClr val="FF0000"/>
                </a:solidFill>
              </a:rPr>
              <a:t>of each state in the tree, which we write as MINIMAX(</a:t>
            </a:r>
            <a:r>
              <a:rPr lang="en-IN" sz="2000" i="1" dirty="0">
                <a:solidFill>
                  <a:srgbClr val="FF0000"/>
                </a:solidFill>
              </a:rPr>
              <a:t>s</a:t>
            </a:r>
            <a:r>
              <a:rPr lang="en-IN" sz="2000" dirty="0">
                <a:solidFill>
                  <a:srgbClr val="FF0000"/>
                </a:solidFill>
              </a:rPr>
              <a:t>). </a:t>
            </a:r>
            <a:endParaRPr lang="en-IN" sz="2000" dirty="0" smtClean="0">
              <a:solidFill>
                <a:srgbClr val="FF0000"/>
              </a:solidFill>
            </a:endParaRPr>
          </a:p>
          <a:p>
            <a:r>
              <a:rPr lang="en-IN" sz="2000" dirty="0" smtClean="0">
                <a:solidFill>
                  <a:srgbClr val="FF0000"/>
                </a:solidFill>
              </a:rPr>
              <a:t>The </a:t>
            </a:r>
            <a:r>
              <a:rPr lang="en-IN" sz="2000" dirty="0">
                <a:solidFill>
                  <a:srgbClr val="FF0000"/>
                </a:solidFill>
              </a:rPr>
              <a:t>minimax value is the </a:t>
            </a:r>
            <a:r>
              <a:rPr lang="en-IN" sz="2000" dirty="0" smtClean="0">
                <a:solidFill>
                  <a:srgbClr val="FF0000"/>
                </a:solidFill>
              </a:rPr>
              <a:t>utility (</a:t>
            </a:r>
            <a:r>
              <a:rPr lang="en-IN" sz="2000" dirty="0">
                <a:solidFill>
                  <a:srgbClr val="FF0000"/>
                </a:solidFill>
              </a:rPr>
              <a:t>for MAX) of being in that state, </a:t>
            </a:r>
            <a:r>
              <a:rPr lang="en-IN" sz="2000" i="1" dirty="0">
                <a:solidFill>
                  <a:srgbClr val="FF0000"/>
                </a:solidFill>
              </a:rPr>
              <a:t>assuming that both players play optimally </a:t>
            </a:r>
            <a:r>
              <a:rPr lang="en-IN" sz="2000" dirty="0">
                <a:solidFill>
                  <a:srgbClr val="FF0000"/>
                </a:solidFill>
              </a:rPr>
              <a:t>from there to the </a:t>
            </a:r>
            <a:r>
              <a:rPr lang="en-IN" sz="2000" dirty="0" smtClean="0">
                <a:solidFill>
                  <a:srgbClr val="FF0000"/>
                </a:solidFill>
              </a:rPr>
              <a:t>end of </a:t>
            </a:r>
            <a:r>
              <a:rPr lang="en-IN" sz="2000" dirty="0">
                <a:solidFill>
                  <a:srgbClr val="FF0000"/>
                </a:solidFill>
              </a:rPr>
              <a:t>the game. </a:t>
            </a:r>
            <a:endParaRPr lang="en-IN" sz="2000" dirty="0" smtClean="0">
              <a:solidFill>
                <a:srgbClr val="FF0000"/>
              </a:solidFill>
            </a:endParaRPr>
          </a:p>
          <a:p>
            <a:r>
              <a:rPr lang="en-IN" sz="2000" dirty="0" smtClean="0"/>
              <a:t>The </a:t>
            </a:r>
            <a:r>
              <a:rPr lang="en-IN" sz="2000" dirty="0"/>
              <a:t>minimax value of a terminal state is just its utility. </a:t>
            </a:r>
            <a:endParaRPr lang="en-IN" sz="2000" dirty="0" smtClean="0"/>
          </a:p>
          <a:p>
            <a:r>
              <a:rPr lang="en-IN" sz="2000" dirty="0" smtClean="0"/>
              <a:t>In </a:t>
            </a:r>
            <a:r>
              <a:rPr lang="en-IN" sz="2000" dirty="0"/>
              <a:t>a non-terminal state</a:t>
            </a:r>
            <a:r>
              <a:rPr lang="en-IN" sz="2000" dirty="0" smtClean="0"/>
              <a:t>, MAX </a:t>
            </a:r>
            <a:r>
              <a:rPr lang="en-IN" sz="2000" dirty="0"/>
              <a:t>prefers to move to a state of maximum value when it is MAX’s turn to move, and </a:t>
            </a:r>
            <a:r>
              <a:rPr lang="en-IN" sz="2000" dirty="0" smtClean="0"/>
              <a:t>MIN prefers </a:t>
            </a:r>
            <a:r>
              <a:rPr lang="en-IN" sz="2000" dirty="0"/>
              <a:t>a state of minimum value (that is, minimum value for MAX and thus maximum </a:t>
            </a:r>
            <a:r>
              <a:rPr lang="en-IN" sz="2000" dirty="0" smtClean="0"/>
              <a:t>value for </a:t>
            </a:r>
            <a:r>
              <a:rPr lang="en-IN" sz="2000" dirty="0"/>
              <a:t>MIN). So we have</a:t>
            </a:r>
            <a:r>
              <a:rPr lang="en-IN" sz="2000" dirty="0" smtClean="0"/>
              <a:t>:</a:t>
            </a:r>
          </a:p>
          <a:p>
            <a:endParaRPr lang="en-IN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58655"/>
            <a:ext cx="47148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258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19256" cy="5400600"/>
          </a:xfrm>
        </p:spPr>
        <p:txBody>
          <a:bodyPr>
            <a:noAutofit/>
          </a:bodyPr>
          <a:lstStyle/>
          <a:p>
            <a:endParaRPr lang="en-IN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5262711"/>
            <a:ext cx="47148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36356"/>
            <a:ext cx="6794360" cy="384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3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Decisions in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Let us apply these definitions to the game tree in Figure 5.2 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terminal nodes on </a:t>
            </a:r>
            <a:r>
              <a:rPr lang="en-IN" dirty="0" smtClean="0"/>
              <a:t>the bottom </a:t>
            </a:r>
            <a:r>
              <a:rPr lang="en-IN" dirty="0"/>
              <a:t>level get their utility values from the game’s UTILITY function.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first MIN </a:t>
            </a:r>
            <a:r>
              <a:rPr lang="en-IN" dirty="0" smtClean="0"/>
              <a:t>node, labelled B, has </a:t>
            </a:r>
            <a:r>
              <a:rPr lang="en-IN" dirty="0"/>
              <a:t>three successor states with values 3, 12, and 8, so its minimax value is 3.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Similarly, the other two MIN nodes have minimax value 2.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root node is a MAX node; </a:t>
            </a:r>
            <a:r>
              <a:rPr lang="en-IN" dirty="0" smtClean="0"/>
              <a:t>its successor </a:t>
            </a:r>
            <a:r>
              <a:rPr lang="en-IN" dirty="0"/>
              <a:t>states have minimax values 3, 2, and 2; so it has a minimax value of 3.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We can also </a:t>
            </a:r>
            <a:r>
              <a:rPr lang="en-IN" dirty="0">
                <a:solidFill>
                  <a:srgbClr val="FF0000"/>
                </a:solidFill>
              </a:rPr>
              <a:t>identify the </a:t>
            </a:r>
            <a:r>
              <a:rPr lang="en-IN" b="1" dirty="0">
                <a:solidFill>
                  <a:srgbClr val="FF0000"/>
                </a:solidFill>
              </a:rPr>
              <a:t>minimax decision </a:t>
            </a:r>
            <a:r>
              <a:rPr lang="en-IN" dirty="0">
                <a:solidFill>
                  <a:srgbClr val="FF0000"/>
                </a:solidFill>
              </a:rPr>
              <a:t>at the root: action </a:t>
            </a:r>
            <a:r>
              <a:rPr lang="en-IN" dirty="0" smtClean="0">
                <a:solidFill>
                  <a:srgbClr val="FF0000"/>
                </a:solidFill>
              </a:rPr>
              <a:t>a1 is </a:t>
            </a:r>
            <a:r>
              <a:rPr lang="en-IN" dirty="0">
                <a:solidFill>
                  <a:srgbClr val="FF0000"/>
                </a:solidFill>
              </a:rPr>
              <a:t>the optimal choice for </a:t>
            </a:r>
            <a:r>
              <a:rPr lang="en-IN" dirty="0" smtClean="0">
                <a:solidFill>
                  <a:srgbClr val="FF0000"/>
                </a:solidFill>
              </a:rPr>
              <a:t>MAX because </a:t>
            </a:r>
            <a:r>
              <a:rPr lang="en-IN" dirty="0">
                <a:solidFill>
                  <a:srgbClr val="FF0000"/>
                </a:solidFill>
              </a:rPr>
              <a:t>it leads to the state with the highest minimax value.</a:t>
            </a:r>
          </a:p>
        </p:txBody>
      </p:sp>
    </p:spTree>
    <p:extLst>
      <p:ext uri="{BB962C8B-B14F-4D97-AF65-F5344CB8AC3E}">
        <p14:creationId xmlns:p14="http://schemas.microsoft.com/office/powerpoint/2010/main" val="32151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Decisions in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96747" y="2406203"/>
            <a:ext cx="6631637" cy="339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2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Decisions in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The </a:t>
            </a:r>
            <a:r>
              <a:rPr lang="en-IN" dirty="0">
                <a:solidFill>
                  <a:srgbClr val="FF0000"/>
                </a:solidFill>
              </a:rPr>
              <a:t>definition of optimal play for MAX assumes that MIN also plays optimally. </a:t>
            </a:r>
            <a:endParaRPr lang="en-IN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IN" dirty="0" smtClean="0"/>
              <a:t>What </a:t>
            </a:r>
            <a:r>
              <a:rPr lang="en-IN" dirty="0"/>
              <a:t>if </a:t>
            </a:r>
            <a:r>
              <a:rPr lang="en-IN" dirty="0" smtClean="0"/>
              <a:t>MIN does </a:t>
            </a:r>
            <a:r>
              <a:rPr lang="en-IN" dirty="0"/>
              <a:t>not play optimally?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Then </a:t>
            </a:r>
            <a:r>
              <a:rPr lang="en-IN" dirty="0"/>
              <a:t>MAX will do at least as well as against an optimal player</a:t>
            </a:r>
            <a:r>
              <a:rPr lang="en-IN" dirty="0" smtClean="0"/>
              <a:t>, possibly </a:t>
            </a:r>
            <a:r>
              <a:rPr lang="en-IN" dirty="0"/>
              <a:t>better.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However</a:t>
            </a:r>
            <a:r>
              <a:rPr lang="en-IN" dirty="0"/>
              <a:t>, that does not mean that it is always best to play the </a:t>
            </a:r>
            <a:r>
              <a:rPr lang="en-IN" dirty="0" smtClean="0"/>
              <a:t>minimax optimal </a:t>
            </a:r>
            <a:r>
              <a:rPr lang="en-IN" dirty="0"/>
              <a:t>move when facing a suboptimal opponent.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Consider </a:t>
            </a:r>
            <a:r>
              <a:rPr lang="en-IN" dirty="0"/>
              <a:t>a situation where optimal </a:t>
            </a:r>
            <a:r>
              <a:rPr lang="en-IN" dirty="0" smtClean="0"/>
              <a:t>play by </a:t>
            </a:r>
            <a:r>
              <a:rPr lang="en-IN" dirty="0"/>
              <a:t>both sides will lead to a draw, but there is one risky move for MAX that leads to a state </a:t>
            </a:r>
            <a:r>
              <a:rPr lang="en-IN" dirty="0" smtClean="0"/>
              <a:t>in which </a:t>
            </a:r>
            <a:r>
              <a:rPr lang="en-IN" dirty="0"/>
              <a:t>there are 10 possible response moves by MIN that all seem reasonable, but 9 of </a:t>
            </a:r>
            <a:r>
              <a:rPr lang="en-IN" dirty="0" smtClean="0"/>
              <a:t>them are </a:t>
            </a:r>
            <a:r>
              <a:rPr lang="en-IN" dirty="0"/>
              <a:t>a loss for MIN and one is a loss for MAX. </a:t>
            </a:r>
            <a:endParaRPr lang="en-IN" dirty="0" smtClean="0"/>
          </a:p>
          <a:p>
            <a:pPr lvl="1">
              <a:lnSpc>
                <a:spcPct val="120000"/>
              </a:lnSpc>
            </a:pPr>
            <a:r>
              <a:rPr lang="en-IN" dirty="0" smtClean="0"/>
              <a:t>If </a:t>
            </a:r>
            <a:r>
              <a:rPr lang="en-IN" dirty="0"/>
              <a:t>MAX believes that MIN does not have </a:t>
            </a:r>
            <a:r>
              <a:rPr lang="en-IN" dirty="0" smtClean="0"/>
              <a:t>sufficient computational </a:t>
            </a:r>
            <a:r>
              <a:rPr lang="en-IN" dirty="0"/>
              <a:t>power to discover the optimal move, MAX might want to try the risky move</a:t>
            </a:r>
            <a:r>
              <a:rPr lang="en-IN" dirty="0" smtClean="0"/>
              <a:t>, on </a:t>
            </a:r>
            <a:r>
              <a:rPr lang="en-IN" dirty="0"/>
              <a:t>the grounds that a 9/10 chance of a win is better than a certain draw.</a:t>
            </a:r>
          </a:p>
        </p:txBody>
      </p:sp>
    </p:spTree>
    <p:extLst>
      <p:ext uri="{BB962C8B-B14F-4D97-AF65-F5344CB8AC3E}">
        <p14:creationId xmlns:p14="http://schemas.microsoft.com/office/powerpoint/2010/main" val="148499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minimax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Now that we can compute MINIMAX(</a:t>
            </a:r>
            <a:r>
              <a:rPr lang="en-IN" i="1" dirty="0"/>
              <a:t>s</a:t>
            </a:r>
            <a:r>
              <a:rPr lang="en-IN" dirty="0"/>
              <a:t>), we can turn that into a search algorithm that finds </a:t>
            </a:r>
            <a:r>
              <a:rPr lang="en-IN" dirty="0" smtClean="0"/>
              <a:t>the best </a:t>
            </a:r>
            <a:r>
              <a:rPr lang="en-IN" dirty="0"/>
              <a:t>move for MAX by trying all actions and choosing the one whose resulting state has </a:t>
            </a:r>
            <a:r>
              <a:rPr lang="en-IN" dirty="0" smtClean="0"/>
              <a:t>the  highest </a:t>
            </a:r>
            <a:r>
              <a:rPr lang="en-IN" dirty="0"/>
              <a:t>MINIMAX value.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Figure </a:t>
            </a:r>
            <a:r>
              <a:rPr lang="en-IN" dirty="0"/>
              <a:t>5.3 shows the algorithm.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It </a:t>
            </a:r>
            <a:r>
              <a:rPr lang="en-IN" dirty="0"/>
              <a:t>is a recursive algorithm </a:t>
            </a:r>
            <a:r>
              <a:rPr lang="en-IN" dirty="0" smtClean="0"/>
              <a:t>that proceeds </a:t>
            </a:r>
            <a:r>
              <a:rPr lang="en-IN" dirty="0"/>
              <a:t>all the way down to the leaves of the tree and then </a:t>
            </a:r>
            <a:r>
              <a:rPr lang="en-IN" b="1" dirty="0"/>
              <a:t>backs up </a:t>
            </a:r>
            <a:r>
              <a:rPr lang="en-IN" dirty="0"/>
              <a:t>the minimax </a:t>
            </a:r>
            <a:r>
              <a:rPr lang="en-IN" dirty="0" smtClean="0"/>
              <a:t>values through </a:t>
            </a:r>
            <a:r>
              <a:rPr lang="en-IN" dirty="0"/>
              <a:t>the tree as the recursion unwinds.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For </a:t>
            </a:r>
            <a:r>
              <a:rPr lang="en-IN" dirty="0"/>
              <a:t>example, in Figure 5.2 , the algorithm </a:t>
            </a:r>
            <a:r>
              <a:rPr lang="en-IN" dirty="0" smtClean="0"/>
              <a:t>first </a:t>
            </a:r>
            <a:r>
              <a:rPr lang="en-IN" dirty="0" err="1" smtClean="0"/>
              <a:t>recurses</a:t>
            </a:r>
            <a:r>
              <a:rPr lang="en-IN" dirty="0" smtClean="0"/>
              <a:t> </a:t>
            </a:r>
            <a:r>
              <a:rPr lang="en-IN" dirty="0"/>
              <a:t>down to the three bottom-left nodes and uses the UTILITY function on them </a:t>
            </a:r>
            <a:r>
              <a:rPr lang="en-IN" dirty="0" smtClean="0"/>
              <a:t>to discover </a:t>
            </a:r>
            <a:r>
              <a:rPr lang="en-IN" dirty="0"/>
              <a:t>that their values are 3, 12, and 8, respectively.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Then </a:t>
            </a:r>
            <a:r>
              <a:rPr lang="en-IN" dirty="0"/>
              <a:t>it takes the minimum of </a:t>
            </a:r>
            <a:r>
              <a:rPr lang="en-IN" dirty="0" smtClean="0"/>
              <a:t>these values</a:t>
            </a:r>
            <a:r>
              <a:rPr lang="en-IN" dirty="0"/>
              <a:t>, 3, and returns it as the backed-up value of node . </a:t>
            </a:r>
            <a:endParaRPr lang="en-IN" dirty="0" smtClean="0"/>
          </a:p>
          <a:p>
            <a:pPr>
              <a:lnSpc>
                <a:spcPct val="120000"/>
              </a:lnSpc>
            </a:pPr>
            <a:r>
              <a:rPr lang="en-IN" dirty="0" smtClean="0"/>
              <a:t>A </a:t>
            </a:r>
            <a:r>
              <a:rPr lang="en-IN" dirty="0"/>
              <a:t>similar process gives </a:t>
            </a:r>
            <a:r>
              <a:rPr lang="en-IN" dirty="0" smtClean="0"/>
              <a:t>the backed-up </a:t>
            </a:r>
            <a:r>
              <a:rPr lang="en-IN" dirty="0"/>
              <a:t>values of 2 for </a:t>
            </a:r>
            <a:r>
              <a:rPr lang="en-IN" dirty="0" smtClean="0"/>
              <a:t>C and </a:t>
            </a:r>
            <a:r>
              <a:rPr lang="en-IN" dirty="0"/>
              <a:t>2 for </a:t>
            </a:r>
            <a:r>
              <a:rPr lang="en-IN" dirty="0" smtClean="0"/>
              <a:t> D. </a:t>
            </a:r>
          </a:p>
          <a:p>
            <a:pPr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Finally</a:t>
            </a:r>
            <a:r>
              <a:rPr lang="en-IN" dirty="0">
                <a:solidFill>
                  <a:srgbClr val="FF0000"/>
                </a:solidFill>
              </a:rPr>
              <a:t>, we take the maximum of 3, 2, and 2 to </a:t>
            </a:r>
            <a:r>
              <a:rPr lang="en-IN" dirty="0" smtClean="0">
                <a:solidFill>
                  <a:srgbClr val="FF0000"/>
                </a:solidFill>
              </a:rPr>
              <a:t>get the </a:t>
            </a:r>
            <a:r>
              <a:rPr lang="en-IN" dirty="0">
                <a:solidFill>
                  <a:srgbClr val="FF0000"/>
                </a:solidFill>
              </a:rPr>
              <a:t>backed-up value of 3 for the root node.</a:t>
            </a:r>
          </a:p>
        </p:txBody>
      </p:sp>
    </p:spTree>
    <p:extLst>
      <p:ext uri="{BB962C8B-B14F-4D97-AF65-F5344CB8AC3E}">
        <p14:creationId xmlns:p14="http://schemas.microsoft.com/office/powerpoint/2010/main" val="293652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706090"/>
          </a:xfrm>
        </p:spPr>
        <p:txBody>
          <a:bodyPr>
            <a:normAutofit fontScale="90000"/>
          </a:bodyPr>
          <a:lstStyle/>
          <a:p>
            <a:r>
              <a:rPr lang="en-IN" dirty="0"/>
              <a:t>The minimax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/>
          </a:bodyPr>
          <a:lstStyle/>
          <a:p>
            <a:r>
              <a:rPr lang="en-IN" sz="2000" dirty="0" smtClean="0"/>
              <a:t>Algorithm:</a:t>
            </a:r>
            <a:endParaRPr lang="en-IN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124743"/>
            <a:ext cx="5400600" cy="5542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97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minimax search 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283288"/>
            <a:ext cx="5400600" cy="5542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76" y="2636912"/>
            <a:ext cx="3167112" cy="179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42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</a:t>
            </a:r>
            <a:r>
              <a:rPr lang="en-IN" dirty="0" smtClean="0"/>
              <a:t>inimax </a:t>
            </a:r>
            <a:r>
              <a:rPr lang="en-IN" dirty="0"/>
              <a:t>search </a:t>
            </a:r>
            <a:r>
              <a:rPr lang="en-IN" dirty="0" smtClean="0"/>
              <a:t>- properties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dirty="0"/>
              <a:t>The minimax algorithm performs a complete depth-first exploration of the game tree.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If the maximum </a:t>
            </a:r>
            <a:r>
              <a:rPr lang="en-IN" dirty="0">
                <a:solidFill>
                  <a:srgbClr val="FF0000"/>
                </a:solidFill>
              </a:rPr>
              <a:t>depth of the tree is </a:t>
            </a:r>
            <a:r>
              <a:rPr lang="en-IN" dirty="0" smtClean="0">
                <a:solidFill>
                  <a:srgbClr val="FF0000"/>
                </a:solidFill>
              </a:rPr>
              <a:t>m and </a:t>
            </a:r>
            <a:r>
              <a:rPr lang="en-IN" dirty="0">
                <a:solidFill>
                  <a:srgbClr val="FF0000"/>
                </a:solidFill>
              </a:rPr>
              <a:t>there are </a:t>
            </a:r>
            <a:r>
              <a:rPr lang="en-IN" dirty="0" smtClean="0">
                <a:solidFill>
                  <a:srgbClr val="FF0000"/>
                </a:solidFill>
              </a:rPr>
              <a:t>b legal </a:t>
            </a:r>
            <a:r>
              <a:rPr lang="en-IN" dirty="0">
                <a:solidFill>
                  <a:srgbClr val="FF0000"/>
                </a:solidFill>
              </a:rPr>
              <a:t>moves at each point, then the </a:t>
            </a:r>
            <a:r>
              <a:rPr lang="en-IN" dirty="0" smtClean="0">
                <a:solidFill>
                  <a:srgbClr val="FF0000"/>
                </a:solidFill>
              </a:rPr>
              <a:t>time complexity </a:t>
            </a:r>
            <a:r>
              <a:rPr lang="en-IN" dirty="0">
                <a:solidFill>
                  <a:srgbClr val="FF0000"/>
                </a:solidFill>
              </a:rPr>
              <a:t>of the minimax algorithm is </a:t>
            </a:r>
            <a:r>
              <a:rPr lang="en-IN" b="1" dirty="0" smtClean="0">
                <a:solidFill>
                  <a:srgbClr val="00B050"/>
                </a:solidFill>
              </a:rPr>
              <a:t>O(</a:t>
            </a:r>
            <a:r>
              <a:rPr lang="en-IN" b="1" dirty="0" err="1" smtClean="0">
                <a:solidFill>
                  <a:srgbClr val="00B050"/>
                </a:solidFill>
              </a:rPr>
              <a:t>b</a:t>
            </a:r>
            <a:r>
              <a:rPr lang="en-IN" b="1" baseline="30000" dirty="0" err="1" smtClean="0">
                <a:solidFill>
                  <a:srgbClr val="00B050"/>
                </a:solidFill>
              </a:rPr>
              <a:t>m</a:t>
            </a:r>
            <a:r>
              <a:rPr lang="en-IN" b="1" dirty="0" smtClean="0">
                <a:solidFill>
                  <a:srgbClr val="00B050"/>
                </a:solidFill>
              </a:rPr>
              <a:t>)</a:t>
            </a:r>
            <a:r>
              <a:rPr lang="en-IN" dirty="0" smtClean="0">
                <a:solidFill>
                  <a:srgbClr val="FF0000"/>
                </a:solidFill>
              </a:rPr>
              <a:t>. </a:t>
            </a:r>
          </a:p>
          <a:p>
            <a:pPr algn="just">
              <a:lnSpc>
                <a:spcPct val="120000"/>
              </a:lnSpc>
            </a:pPr>
            <a:r>
              <a:rPr lang="en-IN" dirty="0" smtClean="0">
                <a:solidFill>
                  <a:srgbClr val="FF0000"/>
                </a:solidFill>
              </a:rPr>
              <a:t>The </a:t>
            </a:r>
            <a:r>
              <a:rPr lang="en-IN" dirty="0">
                <a:solidFill>
                  <a:srgbClr val="FF0000"/>
                </a:solidFill>
              </a:rPr>
              <a:t>space complexity is </a:t>
            </a:r>
            <a:r>
              <a:rPr lang="en-IN" dirty="0" smtClean="0">
                <a:solidFill>
                  <a:srgbClr val="00B050"/>
                </a:solidFill>
              </a:rPr>
              <a:t>O(</a:t>
            </a:r>
            <a:r>
              <a:rPr lang="en-IN" dirty="0" err="1" smtClean="0">
                <a:solidFill>
                  <a:srgbClr val="00B050"/>
                </a:solidFill>
              </a:rPr>
              <a:t>bm</a:t>
            </a:r>
            <a:r>
              <a:rPr lang="en-IN" dirty="0" smtClean="0">
                <a:solidFill>
                  <a:srgbClr val="00B050"/>
                </a:solidFill>
              </a:rPr>
              <a:t>)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dirty="0" smtClean="0"/>
              <a:t>for an algorithm </a:t>
            </a:r>
            <a:r>
              <a:rPr lang="en-IN" dirty="0"/>
              <a:t>that generates all actions at once, or </a:t>
            </a:r>
            <a:r>
              <a:rPr lang="en-IN" dirty="0" smtClean="0"/>
              <a:t>O(m</a:t>
            </a:r>
            <a:r>
              <a:rPr lang="en-IN" dirty="0"/>
              <a:t>) </a:t>
            </a:r>
            <a:r>
              <a:rPr lang="en-IN" dirty="0" smtClean="0"/>
              <a:t>for </a:t>
            </a:r>
            <a:r>
              <a:rPr lang="en-IN" dirty="0"/>
              <a:t>an algorithm that generates </a:t>
            </a:r>
            <a:r>
              <a:rPr lang="en-IN" dirty="0" smtClean="0"/>
              <a:t>actions one </a:t>
            </a:r>
            <a:r>
              <a:rPr lang="en-IN" dirty="0"/>
              <a:t>at a </a:t>
            </a:r>
            <a:r>
              <a:rPr lang="en-IN" dirty="0" smtClean="0"/>
              <a:t>time.</a:t>
            </a:r>
          </a:p>
          <a:p>
            <a:pPr algn="just">
              <a:lnSpc>
                <a:spcPct val="120000"/>
              </a:lnSpc>
            </a:pPr>
            <a:r>
              <a:rPr lang="en-IN" dirty="0" smtClean="0"/>
              <a:t>The </a:t>
            </a:r>
            <a:r>
              <a:rPr lang="en-IN" dirty="0"/>
              <a:t>exponential complexity makes MINIMAX impractical </a:t>
            </a:r>
            <a:r>
              <a:rPr lang="en-IN" dirty="0" smtClean="0"/>
              <a:t>for complex </a:t>
            </a:r>
            <a:r>
              <a:rPr lang="en-IN" dirty="0"/>
              <a:t>games; for example, chess has a branching factor of about 35 and the average </a:t>
            </a:r>
            <a:r>
              <a:rPr lang="en-IN" dirty="0" smtClean="0"/>
              <a:t>game has </a:t>
            </a:r>
            <a:r>
              <a:rPr lang="en-IN" dirty="0"/>
              <a:t>depth of about 80 ply, and it is not feasible to search states. </a:t>
            </a:r>
            <a:endParaRPr lang="en-IN" dirty="0" smtClean="0"/>
          </a:p>
          <a:p>
            <a:pPr algn="just">
              <a:lnSpc>
                <a:spcPct val="120000"/>
              </a:lnSpc>
            </a:pPr>
            <a:r>
              <a:rPr lang="en-IN" dirty="0" smtClean="0"/>
              <a:t>MINIMAX </a:t>
            </a:r>
            <a:r>
              <a:rPr lang="en-IN" dirty="0"/>
              <a:t>does</a:t>
            </a:r>
            <a:r>
              <a:rPr lang="en-IN" dirty="0" smtClean="0"/>
              <a:t>, however</a:t>
            </a:r>
            <a:r>
              <a:rPr lang="en-IN" dirty="0"/>
              <a:t>, </a:t>
            </a:r>
            <a:r>
              <a:rPr lang="en-IN" dirty="0">
                <a:solidFill>
                  <a:srgbClr val="FF0000"/>
                </a:solidFill>
              </a:rPr>
              <a:t>serve as a basis for the mathematical analysis of games</a:t>
            </a:r>
            <a:r>
              <a:rPr lang="en-IN" dirty="0" smtClean="0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IN" dirty="0" smtClean="0"/>
              <a:t>By </a:t>
            </a:r>
            <a:r>
              <a:rPr lang="en-IN" dirty="0"/>
              <a:t>approximating </a:t>
            </a:r>
            <a:r>
              <a:rPr lang="en-IN" dirty="0" smtClean="0"/>
              <a:t>the minimax </a:t>
            </a:r>
            <a:r>
              <a:rPr lang="en-IN" dirty="0"/>
              <a:t>analysis in various ways, we can derive more practical algorithms.</a:t>
            </a:r>
          </a:p>
        </p:txBody>
      </p:sp>
    </p:spTree>
    <p:extLst>
      <p:ext uri="{BB962C8B-B14F-4D97-AF65-F5344CB8AC3E}">
        <p14:creationId xmlns:p14="http://schemas.microsoft.com/office/powerpoint/2010/main" val="160747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Minimax </a:t>
            </a:r>
            <a:r>
              <a:rPr lang="en-IN" dirty="0"/>
              <a:t>search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Complete: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tree is finite)</a:t>
            </a:r>
          </a:p>
          <a:p>
            <a:pPr marL="0" indent="0"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Optimal: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(against an optimal opponent)</a:t>
            </a:r>
          </a:p>
          <a:p>
            <a:pPr marL="0" indent="0"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(depth-first exploration)</a:t>
            </a:r>
          </a:p>
          <a:p>
            <a:pPr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40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4388</TotalTime>
  <Words>1949</Words>
  <Application>Microsoft Office PowerPoint</Application>
  <PresentationFormat>On-screen Show (4:3)</PresentationFormat>
  <Paragraphs>125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Module3_Games_Mini-max_algorithm</vt:lpstr>
      <vt:lpstr>Introduction</vt:lpstr>
      <vt:lpstr>Adversarial search</vt:lpstr>
      <vt:lpstr>Game Theory</vt:lpstr>
      <vt:lpstr>Game Theory</vt:lpstr>
      <vt:lpstr>Two-player zero-sum games</vt:lpstr>
      <vt:lpstr>Two-player zero-sum games</vt:lpstr>
      <vt:lpstr>Two-player zero-sum games</vt:lpstr>
      <vt:lpstr>Game Tree Example</vt:lpstr>
      <vt:lpstr>Game Tree Example</vt:lpstr>
      <vt:lpstr>Game Tree Example</vt:lpstr>
      <vt:lpstr>Optimal Decisions in Games</vt:lpstr>
      <vt:lpstr>Example</vt:lpstr>
      <vt:lpstr>Example cont’d</vt:lpstr>
      <vt:lpstr>Optimal Decisions in Games</vt:lpstr>
      <vt:lpstr>Example</vt:lpstr>
      <vt:lpstr>Optimal Decisions in Games</vt:lpstr>
      <vt:lpstr>Optimal Decisions in Games</vt:lpstr>
      <vt:lpstr>Optimal Decisions in Games</vt:lpstr>
      <vt:lpstr>The minimax search algorithm</vt:lpstr>
      <vt:lpstr>The minimax search algorithm</vt:lpstr>
      <vt:lpstr>The minimax search algorithm</vt:lpstr>
      <vt:lpstr>Minimax search - properties</vt:lpstr>
      <vt:lpstr>Minimax search - properties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Module3_Heuristic Search Strategies</dc:title>
  <dc:creator>vijaya sherly</dc:creator>
  <cp:lastModifiedBy>vijaya sherly</cp:lastModifiedBy>
  <cp:revision>229</cp:revision>
  <dcterms:created xsi:type="dcterms:W3CDTF">2022-08-23T06:45:46Z</dcterms:created>
  <dcterms:modified xsi:type="dcterms:W3CDTF">2022-10-15T04:36:22Z</dcterms:modified>
</cp:coreProperties>
</file>