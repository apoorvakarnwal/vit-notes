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7"/>
  </p:notesMasterIdLst>
  <p:sldIdLst>
    <p:sldId id="355" r:id="rId2"/>
    <p:sldId id="387" r:id="rId3"/>
    <p:sldId id="276" r:id="rId4"/>
    <p:sldId id="277" r:id="rId5"/>
    <p:sldId id="278" r:id="rId6"/>
    <p:sldId id="259" r:id="rId7"/>
    <p:sldId id="280" r:id="rId8"/>
    <p:sldId id="260" r:id="rId9"/>
    <p:sldId id="282" r:id="rId10"/>
    <p:sldId id="281" r:id="rId11"/>
    <p:sldId id="283" r:id="rId12"/>
    <p:sldId id="284" r:id="rId13"/>
    <p:sldId id="285" r:id="rId14"/>
    <p:sldId id="286" r:id="rId15"/>
    <p:sldId id="287" r:id="rId16"/>
    <p:sldId id="288" r:id="rId17"/>
    <p:sldId id="290" r:id="rId18"/>
    <p:sldId id="291" r:id="rId19"/>
    <p:sldId id="292" r:id="rId20"/>
    <p:sldId id="293" r:id="rId21"/>
    <p:sldId id="336" r:id="rId22"/>
    <p:sldId id="385" r:id="rId23"/>
    <p:sldId id="295" r:id="rId24"/>
    <p:sldId id="386" r:id="rId25"/>
    <p:sldId id="298" r:id="rId26"/>
    <p:sldId id="326" r:id="rId27"/>
    <p:sldId id="337" r:id="rId28"/>
    <p:sldId id="327" r:id="rId29"/>
    <p:sldId id="347" r:id="rId30"/>
    <p:sldId id="348" r:id="rId31"/>
    <p:sldId id="349" r:id="rId32"/>
    <p:sldId id="350" r:id="rId33"/>
    <p:sldId id="351" r:id="rId34"/>
    <p:sldId id="352" r:id="rId35"/>
    <p:sldId id="353" r:id="rId36"/>
    <p:sldId id="316" r:id="rId37"/>
    <p:sldId id="317" r:id="rId38"/>
    <p:sldId id="329" r:id="rId39"/>
    <p:sldId id="318" r:id="rId40"/>
    <p:sldId id="328" r:id="rId41"/>
    <p:sldId id="319" r:id="rId42"/>
    <p:sldId id="320" r:id="rId43"/>
    <p:sldId id="321" r:id="rId44"/>
    <p:sldId id="322" r:id="rId45"/>
    <p:sldId id="379" r:id="rId46"/>
    <p:sldId id="345" r:id="rId47"/>
    <p:sldId id="346" r:id="rId48"/>
    <p:sldId id="361" r:id="rId49"/>
    <p:sldId id="324" r:id="rId50"/>
    <p:sldId id="364" r:id="rId51"/>
    <p:sldId id="354" r:id="rId52"/>
    <p:sldId id="359" r:id="rId53"/>
    <p:sldId id="358" r:id="rId54"/>
    <p:sldId id="356" r:id="rId55"/>
    <p:sldId id="362" r:id="rId56"/>
    <p:sldId id="363" r:id="rId57"/>
    <p:sldId id="330" r:id="rId58"/>
    <p:sldId id="365" r:id="rId59"/>
    <p:sldId id="371" r:id="rId60"/>
    <p:sldId id="366" r:id="rId61"/>
    <p:sldId id="369" r:id="rId62"/>
    <p:sldId id="368" r:id="rId63"/>
    <p:sldId id="370" r:id="rId64"/>
    <p:sldId id="367" r:id="rId65"/>
    <p:sldId id="381" r:id="rId66"/>
    <p:sldId id="332" r:id="rId67"/>
    <p:sldId id="382" r:id="rId68"/>
    <p:sldId id="383" r:id="rId69"/>
    <p:sldId id="377" r:id="rId70"/>
    <p:sldId id="378" r:id="rId71"/>
    <p:sldId id="333" r:id="rId72"/>
    <p:sldId id="334" r:id="rId73"/>
    <p:sldId id="372" r:id="rId74"/>
    <p:sldId id="374" r:id="rId75"/>
    <p:sldId id="373" r:id="rId7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06" autoAdjust="0"/>
    <p:restoredTop sz="94662" autoAdjust="0"/>
  </p:normalViewPr>
  <p:slideViewPr>
    <p:cSldViewPr>
      <p:cViewPr varScale="1">
        <p:scale>
          <a:sx n="59" d="100"/>
          <a:sy n="59" d="100"/>
        </p:scale>
        <p:origin x="1500" y="52"/>
      </p:cViewPr>
      <p:guideLst>
        <p:guide orient="horz" pos="2160"/>
        <p:guide pos="2880"/>
      </p:guideLst>
    </p:cSldViewPr>
  </p:slideViewPr>
  <p:outlineViewPr>
    <p:cViewPr>
      <p:scale>
        <a:sx n="33" d="100"/>
        <a:sy n="33" d="100"/>
      </p:scale>
      <p:origin x="0" y="15306"/>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276F65B-C8B0-40B3-A896-598F9396AEE3}" type="datetimeFigureOut">
              <a:rPr lang="en-IN" smtClean="0"/>
              <a:t>26-07-2024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B82CC77-114A-4B43-B681-C6E9910462AC}" type="slidenum">
              <a:rPr lang="en-IN" smtClean="0"/>
              <a:t>‹#›</a:t>
            </a:fld>
            <a:endParaRPr lang="en-IN"/>
          </a:p>
        </p:txBody>
      </p:sp>
    </p:spTree>
    <p:extLst>
      <p:ext uri="{BB962C8B-B14F-4D97-AF65-F5344CB8AC3E}">
        <p14:creationId xmlns:p14="http://schemas.microsoft.com/office/powerpoint/2010/main" val="15739043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p:cNvSpPr>
            <a:spLocks noGrp="1" noRot="1" noChangeAspect="1" noChangeArrowheads="1" noTextEdit="1"/>
          </p:cNvSpPr>
          <p:nvPr>
            <p:ph type="sldImg"/>
          </p:nvPr>
        </p:nvSpPr>
        <p:spPr>
          <a:ln/>
        </p:spPr>
      </p:sp>
      <p:sp>
        <p:nvSpPr>
          <p:cNvPr id="215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IN" altLang="en-US">
              <a:latin typeface="Arial" charset="0"/>
            </a:endParaRPr>
          </a:p>
        </p:txBody>
      </p:sp>
      <p:sp>
        <p:nvSpPr>
          <p:cNvPr id="215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fld id="{31C44D3F-8D1A-43BF-945A-75302E2330B7}" type="slidenum">
              <a:rPr lang="en-US" altLang="en-US">
                <a:latin typeface="Arial" charset="0"/>
              </a:rPr>
              <a:pPr/>
              <a:t>26</a:t>
            </a:fld>
            <a:endParaRPr lang="en-US" altLang="en-US">
              <a:latin typeface="Arial"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CBE4A7A3-38AA-4CEF-8D7A-4649D6560FCC}" type="datetimeFigureOut">
              <a:rPr lang="en-US" smtClean="0"/>
              <a:pPr/>
              <a:t>7/26/2024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790917-7E5E-4D8B-B7C3-CEE9D9F1DB3E}"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BE4A7A3-38AA-4CEF-8D7A-4649D6560FCC}" type="datetimeFigureOut">
              <a:rPr lang="en-US" smtClean="0"/>
              <a:pPr/>
              <a:t>7/26/2024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790917-7E5E-4D8B-B7C3-CEE9D9F1DB3E}"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BE4A7A3-38AA-4CEF-8D7A-4649D6560FCC}" type="datetimeFigureOut">
              <a:rPr lang="en-US" smtClean="0"/>
              <a:pPr/>
              <a:t>7/26/2024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790917-7E5E-4D8B-B7C3-CEE9D9F1DB3E}"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BE4A7A3-38AA-4CEF-8D7A-4649D6560FCC}" type="datetimeFigureOut">
              <a:rPr lang="en-US" smtClean="0"/>
              <a:pPr/>
              <a:t>7/26/2024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D790917-7E5E-4D8B-B7C3-CEE9D9F1DB3E}"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BE4A7A3-38AA-4CEF-8D7A-4649D6560FCC}" type="datetimeFigureOut">
              <a:rPr lang="en-US" smtClean="0"/>
              <a:pPr/>
              <a:t>7/26/2024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D790917-7E5E-4D8B-B7C3-CEE9D9F1DB3E}"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BE4A7A3-38AA-4CEF-8D7A-4649D6560FCC}" type="datetimeFigureOut">
              <a:rPr lang="en-US" smtClean="0"/>
              <a:pPr/>
              <a:t>7/26/2024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D790917-7E5E-4D8B-B7C3-CEE9D9F1DB3E}"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BE4A7A3-38AA-4CEF-8D7A-4649D6560FCC}" type="datetimeFigureOut">
              <a:rPr lang="en-US" smtClean="0"/>
              <a:pPr/>
              <a:t>7/26/2024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D790917-7E5E-4D8B-B7C3-CEE9D9F1DB3E}"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BE4A7A3-38AA-4CEF-8D7A-4649D6560FCC}" type="datetimeFigureOut">
              <a:rPr lang="en-US" smtClean="0"/>
              <a:pPr/>
              <a:t>7/26/2024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D790917-7E5E-4D8B-B7C3-CEE9D9F1DB3E}"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BE4A7A3-38AA-4CEF-8D7A-4649D6560FCC}" type="datetimeFigureOut">
              <a:rPr lang="en-US" smtClean="0"/>
              <a:pPr/>
              <a:t>7/26/2024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D790917-7E5E-4D8B-B7C3-CEE9D9F1DB3E}"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BE4A7A3-38AA-4CEF-8D7A-4649D6560FCC}" type="datetimeFigureOut">
              <a:rPr lang="en-US" smtClean="0"/>
              <a:pPr/>
              <a:t>7/26/2024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790917-7E5E-4D8B-B7C3-CEE9D9F1DB3E}"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BE4A7A3-38AA-4CEF-8D7A-4649D6560FCC}" type="datetimeFigureOut">
              <a:rPr lang="en-US" smtClean="0"/>
              <a:pPr/>
              <a:t>7/26/2024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790917-7E5E-4D8B-B7C3-CEE9D9F1DB3E}"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BE4A7A3-38AA-4CEF-8D7A-4649D6560FCC}" type="datetimeFigureOut">
              <a:rPr lang="en-US" smtClean="0"/>
              <a:pPr/>
              <a:t>7/26/2024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D790917-7E5E-4D8B-B7C3-CEE9D9F1DB3E}"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ctrTitle"/>
          </p:nvPr>
        </p:nvSpPr>
        <p:spPr/>
        <p:txBody>
          <a:bodyPr/>
          <a:lstStyle/>
          <a:p>
            <a:r>
              <a:rPr lang="en-IN" altLang="en-US" dirty="0"/>
              <a:t>Module2_</a:t>
            </a:r>
            <a:r>
              <a:rPr lang="en-US" dirty="0" err="1">
                <a:latin typeface="Times New Roman" pitchFamily="18" charset="0"/>
                <a:cs typeface="Times New Roman" pitchFamily="18" charset="0"/>
              </a:rPr>
              <a:t>Problem_Solving</a:t>
            </a:r>
            <a:endParaRPr lang="en-IN" altLang="en-US" dirty="0"/>
          </a:p>
        </p:txBody>
      </p:sp>
      <p:sp>
        <p:nvSpPr>
          <p:cNvPr id="3" name="Subtitle 2"/>
          <p:cNvSpPr>
            <a:spLocks noGrp="1"/>
          </p:cNvSpPr>
          <p:nvPr>
            <p:ph type="subTitle" idx="1"/>
          </p:nvPr>
        </p:nvSpPr>
        <p:spPr/>
        <p:txBody>
          <a:bodyPr>
            <a:normAutofit fontScale="92500" lnSpcReduction="10000"/>
          </a:bodyPr>
          <a:lstStyle/>
          <a:p>
            <a:pPr algn="l">
              <a:defRPr/>
            </a:pPr>
            <a:r>
              <a:rPr lang="en-IN" dirty="0"/>
              <a:t>Reference: Russell, S. and </a:t>
            </a:r>
            <a:r>
              <a:rPr lang="en-IN" dirty="0" err="1"/>
              <a:t>Norvig</a:t>
            </a:r>
            <a:r>
              <a:rPr lang="en-IN" dirty="0"/>
              <a:t>, P. Artificial Intelligence - A Modern Approach, 4th edition, Prentice Hall, 2020-Chapter 3</a:t>
            </a:r>
          </a:p>
        </p:txBody>
      </p:sp>
    </p:spTree>
    <p:extLst>
      <p:ext uri="{BB962C8B-B14F-4D97-AF65-F5344CB8AC3E}">
        <p14:creationId xmlns:p14="http://schemas.microsoft.com/office/powerpoint/2010/main" val="39449971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D7DEAC-4698-E0CE-E026-15855EE772E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B3134B6-EEB1-688E-B25E-0D3C214BAAF8}"/>
              </a:ext>
            </a:extLst>
          </p:cNvPr>
          <p:cNvSpPr>
            <a:spLocks noGrp="1"/>
          </p:cNvSpPr>
          <p:nvPr>
            <p:ph idx="1"/>
          </p:nvPr>
        </p:nvSpPr>
        <p:spPr/>
        <p:txBody>
          <a:bodyPr>
            <a:normAutofit lnSpcReduction="10000"/>
          </a:bodyPr>
          <a:lstStyle/>
          <a:p>
            <a:r>
              <a:rPr lang="en-IN" dirty="0"/>
              <a:t>Introduction to problem solving by searching methods</a:t>
            </a:r>
          </a:p>
          <a:p>
            <a:r>
              <a:rPr lang="en-IN" dirty="0"/>
              <a:t>State space search</a:t>
            </a:r>
          </a:p>
          <a:p>
            <a:r>
              <a:rPr lang="en-IN" dirty="0"/>
              <a:t>Uninformed search methods</a:t>
            </a:r>
          </a:p>
          <a:p>
            <a:pPr marL="0" indent="0">
              <a:buNone/>
            </a:pPr>
            <a:r>
              <a:rPr lang="en-IN" dirty="0"/>
              <a:t>	Uniform cost  method</a:t>
            </a:r>
          </a:p>
          <a:p>
            <a:pPr marL="0" indent="0">
              <a:buNone/>
            </a:pPr>
            <a:r>
              <a:rPr lang="en-IN" dirty="0"/>
              <a:t>	BFS</a:t>
            </a:r>
          </a:p>
          <a:p>
            <a:pPr marL="0" indent="0">
              <a:buNone/>
            </a:pPr>
            <a:r>
              <a:rPr lang="en-IN" dirty="0"/>
              <a:t>	DFS</a:t>
            </a:r>
          </a:p>
          <a:p>
            <a:pPr marL="0" indent="0">
              <a:buNone/>
            </a:pPr>
            <a:r>
              <a:rPr lang="en-IN" dirty="0"/>
              <a:t>	Depth </a:t>
            </a:r>
            <a:r>
              <a:rPr lang="en-IN"/>
              <a:t>limited search</a:t>
            </a:r>
            <a:endParaRPr lang="en-IN" dirty="0"/>
          </a:p>
        </p:txBody>
      </p:sp>
    </p:spTree>
    <p:extLst>
      <p:ext uri="{BB962C8B-B14F-4D97-AF65-F5344CB8AC3E}">
        <p14:creationId xmlns:p14="http://schemas.microsoft.com/office/powerpoint/2010/main" val="15104258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Introduction</a:t>
            </a:r>
          </a:p>
        </p:txBody>
      </p:sp>
      <p:sp>
        <p:nvSpPr>
          <p:cNvPr id="3" name="Content Placeholder 2"/>
          <p:cNvSpPr>
            <a:spLocks noGrp="1"/>
          </p:cNvSpPr>
          <p:nvPr>
            <p:ph idx="1"/>
          </p:nvPr>
        </p:nvSpPr>
        <p:spPr/>
        <p:txBody>
          <a:bodyPr>
            <a:normAutofit fontScale="92500"/>
          </a:bodyPr>
          <a:lstStyle/>
          <a:p>
            <a:r>
              <a:rPr lang="en-IN" dirty="0">
                <a:solidFill>
                  <a:srgbClr val="FF0000"/>
                </a:solidFill>
                <a:latin typeface="Times New Roman" panose="02020603050405020304" pitchFamily="18" charset="0"/>
                <a:cs typeface="Times New Roman" panose="02020603050405020304" pitchFamily="18" charset="0"/>
              </a:rPr>
              <a:t>Solving Problems by Searching: </a:t>
            </a:r>
            <a:r>
              <a:rPr lang="en-IN" dirty="0">
                <a:latin typeface="Times New Roman" panose="02020603050405020304" pitchFamily="18" charset="0"/>
                <a:cs typeface="Times New Roman" panose="02020603050405020304" pitchFamily="18" charset="0"/>
              </a:rPr>
              <a:t>Concerned with </a:t>
            </a:r>
            <a:r>
              <a:rPr lang="en-IN" dirty="0">
                <a:solidFill>
                  <a:srgbClr val="FF0000"/>
                </a:solidFill>
                <a:latin typeface="Times New Roman" panose="02020603050405020304" pitchFamily="18" charset="0"/>
                <a:cs typeface="Times New Roman" panose="02020603050405020304" pitchFamily="18" charset="0"/>
              </a:rPr>
              <a:t>how an agent can look ahead to find a sequence of actions</a:t>
            </a:r>
            <a:r>
              <a:rPr lang="en-IN" dirty="0">
                <a:latin typeface="Times New Roman" panose="02020603050405020304" pitchFamily="18" charset="0"/>
                <a:cs typeface="Times New Roman" panose="02020603050405020304" pitchFamily="18" charset="0"/>
              </a:rPr>
              <a:t> that will eventually achieve its goal.</a:t>
            </a:r>
          </a:p>
          <a:p>
            <a:pPr lvl="1" algn="just"/>
            <a:r>
              <a:rPr lang="en-IN" dirty="0">
                <a:latin typeface="Times New Roman" panose="02020603050405020304" pitchFamily="18" charset="0"/>
                <a:cs typeface="Times New Roman" panose="02020603050405020304" pitchFamily="18" charset="0"/>
              </a:rPr>
              <a:t>When the correct action to take is not immediately obvious, an agent may need to plan ahead: </a:t>
            </a:r>
          </a:p>
          <a:p>
            <a:pPr lvl="2" algn="just"/>
            <a:r>
              <a:rPr lang="en-IN" dirty="0">
                <a:latin typeface="Times New Roman" panose="02020603050405020304" pitchFamily="18" charset="0"/>
                <a:cs typeface="Times New Roman" panose="02020603050405020304" pitchFamily="18" charset="0"/>
              </a:rPr>
              <a:t>by considering a sequence of actions that form a path to a goal state. </a:t>
            </a:r>
          </a:p>
          <a:p>
            <a:pPr lvl="1" algn="just"/>
            <a:r>
              <a:rPr lang="en-IN" dirty="0">
                <a:latin typeface="Times New Roman" panose="02020603050405020304" pitchFamily="18" charset="0"/>
                <a:cs typeface="Times New Roman" panose="02020603050405020304" pitchFamily="18" charset="0"/>
              </a:rPr>
              <a:t>Such an agent is called a </a:t>
            </a:r>
            <a:r>
              <a:rPr lang="en-IN" b="1" dirty="0">
                <a:solidFill>
                  <a:srgbClr val="FF0000"/>
                </a:solidFill>
                <a:latin typeface="Times New Roman" panose="02020603050405020304" pitchFamily="18" charset="0"/>
                <a:cs typeface="Times New Roman" panose="02020603050405020304" pitchFamily="18" charset="0"/>
              </a:rPr>
              <a:t>problem-solving agent</a:t>
            </a:r>
            <a:r>
              <a:rPr lang="en-IN" dirty="0">
                <a:latin typeface="Times New Roman" panose="02020603050405020304" pitchFamily="18" charset="0"/>
                <a:cs typeface="Times New Roman" panose="02020603050405020304" pitchFamily="18" charset="0"/>
              </a:rPr>
              <a:t>, and the computational process it undertakes is called </a:t>
            </a:r>
            <a:r>
              <a:rPr lang="en-IN" b="1" dirty="0">
                <a:solidFill>
                  <a:srgbClr val="FF0000"/>
                </a:solidFill>
                <a:latin typeface="Times New Roman" panose="02020603050405020304" pitchFamily="18" charset="0"/>
                <a:cs typeface="Times New Roman" panose="02020603050405020304" pitchFamily="18" charset="0"/>
              </a:rPr>
              <a:t>search</a:t>
            </a:r>
            <a:r>
              <a:rPr lang="en-IN"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081206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IN" dirty="0"/>
            </a:br>
            <a:r>
              <a:rPr lang="en-IN" dirty="0"/>
              <a:t>Search algorithms</a:t>
            </a:r>
            <a:br>
              <a:rPr lang="en-IN" dirty="0"/>
            </a:br>
            <a:endParaRPr lang="en-IN" dirty="0"/>
          </a:p>
        </p:txBody>
      </p:sp>
      <p:sp>
        <p:nvSpPr>
          <p:cNvPr id="3" name="Content Placeholder 2"/>
          <p:cNvSpPr>
            <a:spLocks noGrp="1"/>
          </p:cNvSpPr>
          <p:nvPr>
            <p:ph idx="1"/>
          </p:nvPr>
        </p:nvSpPr>
        <p:spPr/>
        <p:txBody>
          <a:bodyPr/>
          <a:lstStyle/>
          <a:p>
            <a:r>
              <a:rPr lang="en-IN" b="1" dirty="0">
                <a:solidFill>
                  <a:srgbClr val="FF0000"/>
                </a:solidFill>
              </a:rPr>
              <a:t>Informed</a:t>
            </a:r>
            <a:r>
              <a:rPr lang="en-IN" b="1" dirty="0"/>
              <a:t> </a:t>
            </a:r>
            <a:r>
              <a:rPr lang="en-IN" dirty="0"/>
              <a:t>algorithms, in which the agent can estimate how far it is from the goal.</a:t>
            </a:r>
          </a:p>
          <a:p>
            <a:r>
              <a:rPr lang="en-IN" b="1" dirty="0">
                <a:solidFill>
                  <a:srgbClr val="FF0000"/>
                </a:solidFill>
              </a:rPr>
              <a:t>Uninformed</a:t>
            </a:r>
            <a:r>
              <a:rPr lang="en-IN" b="1" dirty="0"/>
              <a:t> </a:t>
            </a:r>
            <a:r>
              <a:rPr lang="en-IN" dirty="0"/>
              <a:t>algorithms, where no such estimate is available.</a:t>
            </a:r>
          </a:p>
        </p:txBody>
      </p:sp>
    </p:spTree>
    <p:extLst>
      <p:ext uri="{BB962C8B-B14F-4D97-AF65-F5344CB8AC3E}">
        <p14:creationId xmlns:p14="http://schemas.microsoft.com/office/powerpoint/2010/main" val="29588559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Four-phase problem-solving process</a:t>
            </a: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IN" dirty="0"/>
              <a:t>The agent can follow this four-phase problem-solving process:</a:t>
            </a:r>
          </a:p>
          <a:p>
            <a:pPr lvl="1"/>
            <a:r>
              <a:rPr lang="en-IN" b="1" dirty="0"/>
              <a:t>GOAL FORMULATION</a:t>
            </a:r>
          </a:p>
          <a:p>
            <a:pPr lvl="1"/>
            <a:r>
              <a:rPr lang="en-IN" b="1" dirty="0"/>
              <a:t>PROBLEM FORMULATION</a:t>
            </a:r>
          </a:p>
          <a:p>
            <a:pPr lvl="1"/>
            <a:r>
              <a:rPr lang="en-IN" b="1" dirty="0"/>
              <a:t>SEARCH</a:t>
            </a:r>
          </a:p>
          <a:p>
            <a:pPr lvl="1"/>
            <a:r>
              <a:rPr lang="en-IN" b="1" dirty="0"/>
              <a:t>EXECUTION</a:t>
            </a:r>
            <a:endParaRPr lang="en-IN" dirty="0"/>
          </a:p>
        </p:txBody>
      </p:sp>
    </p:spTree>
    <p:extLst>
      <p:ext uri="{BB962C8B-B14F-4D97-AF65-F5344CB8AC3E}">
        <p14:creationId xmlns:p14="http://schemas.microsoft.com/office/powerpoint/2010/main" val="28952409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Four-phase problem-solving process</a:t>
            </a:r>
            <a:br>
              <a:rPr lang="en-IN" dirty="0">
                <a:latin typeface="Times New Roman" panose="02020603050405020304" pitchFamily="18" charset="0"/>
                <a:cs typeface="Times New Roman" panose="02020603050405020304" pitchFamily="18" charset="0"/>
              </a:rPr>
            </a:b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lgn="just" fontAlgn="base"/>
            <a:endParaRPr lang="en-US" sz="2000" b="1" dirty="0">
              <a:latin typeface="Times New Roman" pitchFamily="18" charset="0"/>
              <a:cs typeface="Times New Roman" pitchFamily="18" charset="0"/>
            </a:endParaRPr>
          </a:p>
          <a:p>
            <a:pPr algn="just" fontAlgn="base"/>
            <a:r>
              <a:rPr lang="en-US" sz="2400" b="1" dirty="0">
                <a:latin typeface="Times New Roman" pitchFamily="18" charset="0"/>
                <a:cs typeface="Times New Roman" pitchFamily="18" charset="0"/>
              </a:rPr>
              <a:t>Goal Formulation: </a:t>
            </a:r>
            <a:r>
              <a:rPr lang="en-US" sz="2400" dirty="0">
                <a:latin typeface="Times New Roman" pitchFamily="18" charset="0"/>
                <a:cs typeface="Times New Roman" pitchFamily="18" charset="0"/>
              </a:rPr>
              <a:t>The first and simple step in problem-solving. It organizes </a:t>
            </a:r>
            <a:r>
              <a:rPr lang="en-US" sz="2400" dirty="0">
                <a:solidFill>
                  <a:srgbClr val="FF0000"/>
                </a:solidFill>
                <a:latin typeface="Times New Roman" pitchFamily="18" charset="0"/>
                <a:cs typeface="Times New Roman" pitchFamily="18" charset="0"/>
              </a:rPr>
              <a:t>finite steps to formulate a target which require some action to achieve the goal.</a:t>
            </a:r>
            <a:r>
              <a:rPr lang="en-US" sz="2400" dirty="0">
                <a:latin typeface="Times New Roman" pitchFamily="18" charset="0"/>
                <a:cs typeface="Times New Roman" pitchFamily="18" charset="0"/>
              </a:rPr>
              <a:t> Today the formulation of the goal is based on AI agents.</a:t>
            </a:r>
          </a:p>
          <a:p>
            <a:pPr algn="just" fontAlgn="base"/>
            <a:endParaRPr lang="en-US" sz="2400" dirty="0">
              <a:latin typeface="Times New Roman" pitchFamily="18" charset="0"/>
              <a:cs typeface="Times New Roman" pitchFamily="18" charset="0"/>
            </a:endParaRPr>
          </a:p>
          <a:p>
            <a:pPr algn="just" fontAlgn="base"/>
            <a:r>
              <a:rPr lang="en-US" sz="2400" b="1" dirty="0">
                <a:latin typeface="Times New Roman" pitchFamily="18" charset="0"/>
                <a:cs typeface="Times New Roman" pitchFamily="18" charset="0"/>
              </a:rPr>
              <a:t>Problem formulation: </a:t>
            </a:r>
            <a:r>
              <a:rPr lang="en-US" sz="2400" dirty="0">
                <a:latin typeface="Times New Roman" pitchFamily="18" charset="0"/>
                <a:cs typeface="Times New Roman" pitchFamily="18" charset="0"/>
              </a:rPr>
              <a:t>It is one of the core steps of problem-solving which </a:t>
            </a:r>
            <a:r>
              <a:rPr lang="en-US" sz="2400" dirty="0">
                <a:solidFill>
                  <a:srgbClr val="FF0000"/>
                </a:solidFill>
                <a:latin typeface="Times New Roman" pitchFamily="18" charset="0"/>
                <a:cs typeface="Times New Roman" pitchFamily="18" charset="0"/>
              </a:rPr>
              <a:t>decides what action should be taken to achieve the formulated goal. </a:t>
            </a:r>
            <a:r>
              <a:rPr lang="en-US" sz="2400" dirty="0">
                <a:latin typeface="Times New Roman" pitchFamily="18" charset="0"/>
                <a:cs typeface="Times New Roman" pitchFamily="18" charset="0"/>
              </a:rPr>
              <a:t>In AI this core part is dependent upon </a:t>
            </a:r>
            <a:r>
              <a:rPr lang="en-US" sz="2400" dirty="0">
                <a:solidFill>
                  <a:srgbClr val="00B050"/>
                </a:solidFill>
                <a:latin typeface="Times New Roman" pitchFamily="18" charset="0"/>
                <a:cs typeface="Times New Roman" pitchFamily="18" charset="0"/>
              </a:rPr>
              <a:t>software agent which consists of various components to formulate the associated problem.</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IN" dirty="0"/>
            </a:br>
            <a:r>
              <a:rPr lang="en-IN" dirty="0"/>
              <a:t>Four-phase problem-solving process</a:t>
            </a:r>
            <a:br>
              <a:rPr lang="en-IN" dirty="0"/>
            </a:b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lnSpcReduction="10000"/>
          </a:bodyPr>
          <a:lstStyle/>
          <a:p>
            <a:pPr algn="just" fontAlgn="base"/>
            <a:r>
              <a:rPr lang="en-US" sz="3000" b="1" dirty="0">
                <a:latin typeface="Times New Roman" pitchFamily="18" charset="0"/>
                <a:cs typeface="Times New Roman" pitchFamily="18" charset="0"/>
              </a:rPr>
              <a:t>Search:</a:t>
            </a:r>
            <a:r>
              <a:rPr lang="en-US" sz="3000" dirty="0">
                <a:latin typeface="Times New Roman" pitchFamily="18" charset="0"/>
                <a:cs typeface="Times New Roman" pitchFamily="18" charset="0"/>
              </a:rPr>
              <a:t> It identifies all the </a:t>
            </a:r>
            <a:r>
              <a:rPr lang="en-US" sz="3000" dirty="0">
                <a:solidFill>
                  <a:srgbClr val="FF0000"/>
                </a:solidFill>
                <a:latin typeface="Times New Roman" pitchFamily="18" charset="0"/>
                <a:cs typeface="Times New Roman" pitchFamily="18" charset="0"/>
              </a:rPr>
              <a:t>best possible sequence of actions to reach the goal state from the current state.</a:t>
            </a:r>
            <a:r>
              <a:rPr lang="en-US" sz="3000" dirty="0">
                <a:latin typeface="Times New Roman" pitchFamily="18" charset="0"/>
                <a:cs typeface="Times New Roman" pitchFamily="18" charset="0"/>
              </a:rPr>
              <a:t> It takes a problem as an input and returns solution as its output.</a:t>
            </a:r>
          </a:p>
          <a:p>
            <a:pPr lvl="1" algn="just" fontAlgn="base"/>
            <a:r>
              <a:rPr lang="en-US" sz="2600" b="1" dirty="0">
                <a:latin typeface="Times New Roman" pitchFamily="18" charset="0"/>
                <a:cs typeface="Times New Roman" pitchFamily="18" charset="0"/>
              </a:rPr>
              <a:t>Solution:</a:t>
            </a:r>
            <a:r>
              <a:rPr lang="en-US" sz="2600" dirty="0">
                <a:latin typeface="Times New Roman" pitchFamily="18" charset="0"/>
                <a:cs typeface="Times New Roman" pitchFamily="18" charset="0"/>
              </a:rPr>
              <a:t> It finds the best algorithm out of various algorithms, which may be proven as the best optimal solution.</a:t>
            </a:r>
          </a:p>
          <a:p>
            <a:pPr algn="just" fontAlgn="base"/>
            <a:r>
              <a:rPr lang="en-US" sz="3000" b="1" dirty="0">
                <a:latin typeface="Times New Roman" pitchFamily="18" charset="0"/>
                <a:cs typeface="Times New Roman" pitchFamily="18" charset="0"/>
              </a:rPr>
              <a:t>Execution:</a:t>
            </a:r>
            <a:r>
              <a:rPr lang="en-US" sz="3000" dirty="0">
                <a:latin typeface="Times New Roman" pitchFamily="18" charset="0"/>
                <a:cs typeface="Times New Roman" pitchFamily="18" charset="0"/>
              </a:rPr>
              <a:t> It </a:t>
            </a:r>
            <a:r>
              <a:rPr lang="en-US" sz="3000" dirty="0">
                <a:solidFill>
                  <a:srgbClr val="FF0000"/>
                </a:solidFill>
                <a:latin typeface="Times New Roman" pitchFamily="18" charset="0"/>
                <a:cs typeface="Times New Roman" pitchFamily="18" charset="0"/>
              </a:rPr>
              <a:t>executes the best optimal solution </a:t>
            </a:r>
            <a:r>
              <a:rPr lang="en-US" sz="3000" dirty="0">
                <a:latin typeface="Times New Roman" pitchFamily="18" charset="0"/>
                <a:cs typeface="Times New Roman" pitchFamily="18" charset="0"/>
              </a:rPr>
              <a:t>from the searching algorithms </a:t>
            </a:r>
            <a:r>
              <a:rPr lang="en-US" sz="3000" dirty="0">
                <a:solidFill>
                  <a:srgbClr val="FF0000"/>
                </a:solidFill>
                <a:latin typeface="Times New Roman" pitchFamily="18" charset="0"/>
                <a:cs typeface="Times New Roman" pitchFamily="18" charset="0"/>
              </a:rPr>
              <a:t>to reach the goal </a:t>
            </a:r>
            <a:r>
              <a:rPr lang="en-US" sz="3000" dirty="0">
                <a:latin typeface="Times New Roman" pitchFamily="18" charset="0"/>
                <a:cs typeface="Times New Roman" pitchFamily="18" charset="0"/>
              </a:rPr>
              <a:t>state from the current state.</a:t>
            </a:r>
          </a:p>
          <a:p>
            <a:endParaRPr lang="en-US" dirty="0"/>
          </a:p>
        </p:txBody>
      </p:sp>
    </p:spTree>
    <p:extLst>
      <p:ext uri="{BB962C8B-B14F-4D97-AF65-F5344CB8AC3E}">
        <p14:creationId xmlns:p14="http://schemas.microsoft.com/office/powerpoint/2010/main" val="30077896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State Space</a:t>
            </a:r>
          </a:p>
        </p:txBody>
      </p:sp>
      <p:sp>
        <p:nvSpPr>
          <p:cNvPr id="3" name="Content Placeholder 2"/>
          <p:cNvSpPr>
            <a:spLocks noGrp="1"/>
          </p:cNvSpPr>
          <p:nvPr>
            <p:ph idx="1"/>
          </p:nvPr>
        </p:nvSpPr>
        <p:spPr/>
        <p:txBody>
          <a:bodyPr>
            <a:normAutofit/>
          </a:bodyPr>
          <a:lstStyle/>
          <a:p>
            <a:pPr algn="just" fontAlgn="base"/>
            <a:r>
              <a:rPr lang="en-IN" sz="2400" b="1" i="1" dirty="0">
                <a:solidFill>
                  <a:srgbClr val="FF0000"/>
                </a:solidFill>
                <a:latin typeface="Times New Roman" panose="02020603050405020304" pitchFamily="18" charset="0"/>
                <a:cs typeface="Times New Roman" panose="02020603050405020304" pitchFamily="18" charset="0"/>
              </a:rPr>
              <a:t>State Space </a:t>
            </a:r>
            <a:r>
              <a:rPr lang="en-IN" sz="2400" dirty="0">
                <a:latin typeface="Times New Roman" panose="02020603050405020304" pitchFamily="18" charset="0"/>
                <a:cs typeface="Times New Roman" panose="02020603050405020304" pitchFamily="18" charset="0"/>
              </a:rPr>
              <a:t>is a set of possible </a:t>
            </a:r>
            <a:r>
              <a:rPr lang="en-IN" sz="2400" b="1" dirty="0">
                <a:latin typeface="Times New Roman" panose="02020603050405020304" pitchFamily="18" charset="0"/>
                <a:cs typeface="Times New Roman" panose="02020603050405020304" pitchFamily="18" charset="0"/>
              </a:rPr>
              <a:t>states </a:t>
            </a:r>
            <a:r>
              <a:rPr lang="en-IN" sz="2400" dirty="0">
                <a:latin typeface="Times New Roman" panose="02020603050405020304" pitchFamily="18" charset="0"/>
                <a:cs typeface="Times New Roman" panose="02020603050405020304" pitchFamily="18" charset="0"/>
              </a:rPr>
              <a:t>that the environment can be in.</a:t>
            </a:r>
          </a:p>
          <a:p>
            <a:pPr algn="just" fontAlgn="base"/>
            <a:r>
              <a:rPr lang="en-US" sz="2400" b="1" dirty="0">
                <a:solidFill>
                  <a:srgbClr val="FF0000"/>
                </a:solidFill>
                <a:latin typeface="Times New Roman" pitchFamily="18" charset="0"/>
                <a:cs typeface="Times New Roman" pitchFamily="18" charset="0"/>
              </a:rPr>
              <a:t>Initial State: </a:t>
            </a:r>
            <a:r>
              <a:rPr lang="en-IN" sz="2400" dirty="0">
                <a:latin typeface="Times New Roman" panose="02020603050405020304" pitchFamily="18" charset="0"/>
                <a:cs typeface="Times New Roman" panose="02020603050405020304" pitchFamily="18" charset="0"/>
              </a:rPr>
              <a:t> The </a:t>
            </a:r>
            <a:r>
              <a:rPr lang="en-IN" sz="2400" b="1" dirty="0">
                <a:latin typeface="Times New Roman" panose="02020603050405020304" pitchFamily="18" charset="0"/>
                <a:cs typeface="Times New Roman" panose="02020603050405020304" pitchFamily="18" charset="0"/>
              </a:rPr>
              <a:t>state </a:t>
            </a:r>
            <a:r>
              <a:rPr lang="en-IN" sz="2400" dirty="0">
                <a:latin typeface="Times New Roman" panose="02020603050405020304" pitchFamily="18" charset="0"/>
                <a:cs typeface="Times New Roman" panose="02020603050405020304" pitchFamily="18" charset="0"/>
              </a:rPr>
              <a:t>that the agent starts in.</a:t>
            </a:r>
            <a:endParaRPr lang="en-US" sz="2400" b="1" dirty="0">
              <a:latin typeface="Times New Roman" pitchFamily="18" charset="0"/>
              <a:cs typeface="Times New Roman" pitchFamily="18" charset="0"/>
            </a:endParaRPr>
          </a:p>
          <a:p>
            <a:pPr lvl="1" algn="just" fontAlgn="base"/>
            <a:r>
              <a:rPr lang="en-US" sz="2000" dirty="0">
                <a:latin typeface="Times New Roman" pitchFamily="18" charset="0"/>
                <a:cs typeface="Times New Roman" pitchFamily="18" charset="0"/>
              </a:rPr>
              <a:t>an initial state for the problem which starts the AI agent towards a specified goal. </a:t>
            </a:r>
          </a:p>
          <a:p>
            <a:r>
              <a:rPr lang="en-IN" sz="2400" b="1" dirty="0">
                <a:solidFill>
                  <a:srgbClr val="FF0000"/>
                </a:solidFill>
                <a:latin typeface="Times New Roman" panose="02020603050405020304" pitchFamily="18" charset="0"/>
                <a:cs typeface="Times New Roman" panose="02020603050405020304" pitchFamily="18" charset="0"/>
              </a:rPr>
              <a:t>Goal State</a:t>
            </a:r>
            <a:r>
              <a:rPr lang="en-IN" sz="2400" dirty="0">
                <a:solidFill>
                  <a:srgbClr val="FF0000"/>
                </a:solidFill>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A set of one or more </a:t>
            </a:r>
            <a:r>
              <a:rPr lang="en-IN" sz="2400" b="1" dirty="0">
                <a:latin typeface="Times New Roman" panose="02020603050405020304" pitchFamily="18" charset="0"/>
                <a:cs typeface="Times New Roman" panose="02020603050405020304" pitchFamily="18" charset="0"/>
              </a:rPr>
              <a:t>goal states</a:t>
            </a:r>
            <a:r>
              <a:rPr lang="en-IN" sz="2400" dirty="0">
                <a:latin typeface="Times New Roman" panose="02020603050405020304" pitchFamily="18" charset="0"/>
                <a:cs typeface="Times New Roman" panose="02020603050405020304" pitchFamily="18" charset="0"/>
              </a:rPr>
              <a:t>. </a:t>
            </a:r>
          </a:p>
          <a:p>
            <a:pPr lvl="1"/>
            <a:r>
              <a:rPr lang="en-IN" sz="2000" dirty="0">
                <a:latin typeface="Times New Roman" panose="02020603050405020304" pitchFamily="18" charset="0"/>
                <a:cs typeface="Times New Roman" panose="02020603050405020304" pitchFamily="18" charset="0"/>
              </a:rPr>
              <a:t>Sometimes there is one goal state. sometimes there is a small set of alternative goal states, and sometimes the goal is defined by a property that applies to many states (potentially an infinite number). </a:t>
            </a:r>
          </a:p>
          <a:p>
            <a:pPr lvl="2"/>
            <a:r>
              <a:rPr lang="en-IN" sz="1600" dirty="0">
                <a:latin typeface="Times New Roman" panose="02020603050405020304" pitchFamily="18" charset="0"/>
                <a:cs typeface="Times New Roman" panose="02020603050405020304" pitchFamily="18" charset="0"/>
              </a:rPr>
              <a:t>Example, in a vacuum-cleaner world, the goal might be to have no dirt in any location, regardless of any other facts about the state. </a:t>
            </a:r>
            <a:endParaRPr lang="en-US" sz="1600" b="1" dirty="0">
              <a:latin typeface="Times New Roman" pitchFamily="18" charset="0"/>
              <a:cs typeface="Times New Roman"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An Example Road Map</a:t>
            </a:r>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90637" y="1691481"/>
            <a:ext cx="6562725" cy="4343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526333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Search Problems and Solution</a:t>
            </a:r>
            <a:endParaRPr lang="en-IN" dirty="0"/>
          </a:p>
        </p:txBody>
      </p:sp>
      <p:sp>
        <p:nvSpPr>
          <p:cNvPr id="3" name="Content Placeholder 2"/>
          <p:cNvSpPr>
            <a:spLocks noGrp="1"/>
          </p:cNvSpPr>
          <p:nvPr>
            <p:ph idx="1"/>
          </p:nvPr>
        </p:nvSpPr>
        <p:spPr/>
        <p:txBody>
          <a:bodyPr>
            <a:normAutofit/>
          </a:bodyPr>
          <a:lstStyle/>
          <a:p>
            <a:r>
              <a:rPr lang="en-US" b="1" dirty="0">
                <a:solidFill>
                  <a:srgbClr val="FF0000"/>
                </a:solidFill>
                <a:latin typeface="Times New Roman" pitchFamily="18" charset="0"/>
                <a:cs typeface="Times New Roman" pitchFamily="18" charset="0"/>
              </a:rPr>
              <a:t>Action:</a:t>
            </a:r>
            <a:r>
              <a:rPr lang="en-US" dirty="0">
                <a:latin typeface="Times New Roman" pitchFamily="18" charset="0"/>
                <a:cs typeface="Times New Roman" pitchFamily="18" charset="0"/>
              </a:rPr>
              <a:t> </a:t>
            </a:r>
            <a:r>
              <a:rPr lang="en-IN" dirty="0">
                <a:latin typeface="Times New Roman" panose="02020603050405020304" pitchFamily="18" charset="0"/>
                <a:cs typeface="Times New Roman" panose="02020603050405020304" pitchFamily="18" charset="0"/>
              </a:rPr>
              <a:t>The </a:t>
            </a:r>
            <a:r>
              <a:rPr lang="en-IN" b="1" dirty="0">
                <a:latin typeface="Times New Roman" panose="02020603050405020304" pitchFamily="18" charset="0"/>
                <a:cs typeface="Times New Roman" panose="02020603050405020304" pitchFamily="18" charset="0"/>
              </a:rPr>
              <a:t>actions </a:t>
            </a:r>
            <a:r>
              <a:rPr lang="en-IN" dirty="0">
                <a:latin typeface="Times New Roman" panose="02020603050405020304" pitchFamily="18" charset="0"/>
                <a:cs typeface="Times New Roman" panose="02020603050405020304" pitchFamily="18" charset="0"/>
              </a:rPr>
              <a:t>available to the agent. </a:t>
            </a:r>
          </a:p>
          <a:p>
            <a:pPr lvl="1"/>
            <a:r>
              <a:rPr lang="en-IN" dirty="0">
                <a:latin typeface="Times New Roman" panose="02020603050405020304" pitchFamily="18" charset="0"/>
                <a:cs typeface="Times New Roman" panose="02020603050405020304" pitchFamily="18" charset="0"/>
              </a:rPr>
              <a:t>Given a state </a:t>
            </a:r>
            <a:r>
              <a:rPr lang="en-IN" i="1" dirty="0">
                <a:solidFill>
                  <a:srgbClr val="FF0000"/>
                </a:solidFill>
                <a:latin typeface="Times New Roman" panose="02020603050405020304" pitchFamily="18" charset="0"/>
                <a:cs typeface="Times New Roman" panose="02020603050405020304" pitchFamily="18" charset="0"/>
              </a:rPr>
              <a:t>s </a:t>
            </a:r>
            <a:r>
              <a:rPr lang="en-IN" dirty="0">
                <a:latin typeface="Times New Roman" panose="02020603050405020304" pitchFamily="18" charset="0"/>
                <a:cs typeface="Times New Roman" panose="02020603050405020304" pitchFamily="18" charset="0"/>
              </a:rPr>
              <a:t>ACTIONS(</a:t>
            </a:r>
            <a:r>
              <a:rPr lang="en-IN" i="1" dirty="0">
                <a:solidFill>
                  <a:srgbClr val="FF0000"/>
                </a:solidFill>
                <a:latin typeface="Times New Roman" panose="02020603050405020304" pitchFamily="18" charset="0"/>
                <a:cs typeface="Times New Roman" panose="02020603050405020304" pitchFamily="18" charset="0"/>
              </a:rPr>
              <a:t>s</a:t>
            </a:r>
            <a:r>
              <a:rPr lang="en-IN" dirty="0">
                <a:latin typeface="Times New Roman" panose="02020603050405020304" pitchFamily="18" charset="0"/>
                <a:cs typeface="Times New Roman" panose="02020603050405020304" pitchFamily="18" charset="0"/>
              </a:rPr>
              <a:t>) returns a finite set of actions that can be executed in </a:t>
            </a:r>
            <a:r>
              <a:rPr lang="en-IN" i="1" dirty="0">
                <a:solidFill>
                  <a:srgbClr val="FF0000"/>
                </a:solidFill>
                <a:latin typeface="Times New Roman" panose="02020603050405020304" pitchFamily="18" charset="0"/>
                <a:cs typeface="Times New Roman" panose="02020603050405020304" pitchFamily="18" charset="0"/>
              </a:rPr>
              <a:t>s.</a:t>
            </a:r>
          </a:p>
          <a:p>
            <a:pPr lvl="1"/>
            <a:r>
              <a:rPr lang="en-IN" dirty="0">
                <a:latin typeface="Times New Roman" panose="02020603050405020304" pitchFamily="18" charset="0"/>
                <a:cs typeface="Times New Roman" panose="02020603050405020304" pitchFamily="18" charset="0"/>
              </a:rPr>
              <a:t>Each of these actions is </a:t>
            </a:r>
            <a:r>
              <a:rPr lang="en-IN" b="1" dirty="0">
                <a:latin typeface="Times New Roman" panose="02020603050405020304" pitchFamily="18" charset="0"/>
                <a:cs typeface="Times New Roman" panose="02020603050405020304" pitchFamily="18" charset="0"/>
              </a:rPr>
              <a:t>applicable </a:t>
            </a:r>
            <a:r>
              <a:rPr lang="en-IN" dirty="0">
                <a:latin typeface="Times New Roman" panose="02020603050405020304" pitchFamily="18" charset="0"/>
                <a:cs typeface="Times New Roman" panose="02020603050405020304" pitchFamily="18" charset="0"/>
              </a:rPr>
              <a:t>in </a:t>
            </a:r>
            <a:r>
              <a:rPr lang="en-IN" i="1" dirty="0">
                <a:solidFill>
                  <a:srgbClr val="FF0000"/>
                </a:solidFill>
                <a:latin typeface="Times New Roman" panose="02020603050405020304" pitchFamily="18" charset="0"/>
                <a:cs typeface="Times New Roman" panose="02020603050405020304" pitchFamily="18" charset="0"/>
              </a:rPr>
              <a:t>s.</a:t>
            </a:r>
            <a:endParaRPr lang="en-IN" dirty="0">
              <a:latin typeface="Times New Roman" panose="02020603050405020304" pitchFamily="18" charset="0"/>
              <a:cs typeface="Times New Roman" panose="02020603050405020304" pitchFamily="18" charset="0"/>
            </a:endParaRPr>
          </a:p>
          <a:p>
            <a:pPr lvl="1" algn="just"/>
            <a:r>
              <a:rPr lang="en-US" dirty="0">
                <a:latin typeface="Times New Roman" pitchFamily="18" charset="0"/>
                <a:cs typeface="Times New Roman" pitchFamily="18" charset="0"/>
              </a:rPr>
              <a:t>This stage of problem formulation works with function with a specific class taken from the initial state and all possible actions done in this stage.</a:t>
            </a:r>
          </a:p>
          <a:p>
            <a:pPr lvl="1"/>
            <a:r>
              <a:rPr lang="en-IN" dirty="0">
                <a:latin typeface="Times New Roman" panose="02020603050405020304" pitchFamily="18" charset="0"/>
                <a:cs typeface="Times New Roman" panose="02020603050405020304" pitchFamily="18" charset="0"/>
              </a:rPr>
              <a:t>An example: </a:t>
            </a:r>
          </a:p>
          <a:p>
            <a:pPr lvl="2"/>
            <a:r>
              <a:rPr lang="en-US" dirty="0">
                <a:solidFill>
                  <a:srgbClr val="FF0000"/>
                </a:solidFill>
                <a:latin typeface="Times New Roman" pitchFamily="18" charset="0"/>
                <a:cs typeface="Times New Roman" pitchFamily="18" charset="0"/>
              </a:rPr>
              <a:t>ACTIONS(Arad) = {</a:t>
            </a:r>
            <a:r>
              <a:rPr lang="en-US" dirty="0" err="1">
                <a:solidFill>
                  <a:srgbClr val="FF0000"/>
                </a:solidFill>
                <a:latin typeface="Times New Roman" pitchFamily="18" charset="0"/>
                <a:cs typeface="Times New Roman" pitchFamily="18" charset="0"/>
              </a:rPr>
              <a:t>ToSibiu</a:t>
            </a:r>
            <a:r>
              <a:rPr lang="en-US" dirty="0">
                <a:solidFill>
                  <a:srgbClr val="FF0000"/>
                </a:solidFill>
                <a:latin typeface="Times New Roman" pitchFamily="18" charset="0"/>
                <a:cs typeface="Times New Roman" pitchFamily="18" charset="0"/>
              </a:rPr>
              <a:t>, </a:t>
            </a:r>
            <a:r>
              <a:rPr lang="en-US" dirty="0" err="1">
                <a:solidFill>
                  <a:srgbClr val="FF0000"/>
                </a:solidFill>
                <a:latin typeface="Times New Roman" pitchFamily="18" charset="0"/>
                <a:cs typeface="Times New Roman" pitchFamily="18" charset="0"/>
              </a:rPr>
              <a:t>ToTimisoara</a:t>
            </a:r>
            <a:r>
              <a:rPr lang="en-US" dirty="0">
                <a:solidFill>
                  <a:srgbClr val="FF0000"/>
                </a:solidFill>
                <a:latin typeface="Times New Roman" pitchFamily="18" charset="0"/>
                <a:cs typeface="Times New Roman" pitchFamily="18" charset="0"/>
              </a:rPr>
              <a:t>, </a:t>
            </a:r>
            <a:r>
              <a:rPr lang="en-US" dirty="0" err="1">
                <a:solidFill>
                  <a:srgbClr val="FF0000"/>
                </a:solidFill>
                <a:latin typeface="Times New Roman" pitchFamily="18" charset="0"/>
                <a:cs typeface="Times New Roman" pitchFamily="18" charset="0"/>
              </a:rPr>
              <a:t>ToZerind</a:t>
            </a:r>
            <a:r>
              <a:rPr lang="en-US" dirty="0">
                <a:solidFill>
                  <a:srgbClr val="FF0000"/>
                </a:solidFill>
                <a:latin typeface="Times New Roman" pitchFamily="18" charset="0"/>
                <a:cs typeface="Times New Roman" pitchFamily="18" charset="0"/>
              </a:rPr>
              <a:t>}</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215832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Times New Roman" pitchFamily="18" charset="0"/>
                <a:cs typeface="Times New Roman" pitchFamily="18" charset="0"/>
              </a:rPr>
              <a:t>Search Problems and Solution</a:t>
            </a:r>
            <a:endParaRPr lang="en-IN" dirty="0"/>
          </a:p>
        </p:txBody>
      </p:sp>
      <p:sp>
        <p:nvSpPr>
          <p:cNvPr id="3" name="Content Placeholder 2"/>
          <p:cNvSpPr>
            <a:spLocks noGrp="1"/>
          </p:cNvSpPr>
          <p:nvPr>
            <p:ph idx="1"/>
          </p:nvPr>
        </p:nvSpPr>
        <p:spPr/>
        <p:txBody>
          <a:bodyPr>
            <a:normAutofit/>
          </a:bodyPr>
          <a:lstStyle/>
          <a:p>
            <a:r>
              <a:rPr lang="en-US" b="1" dirty="0">
                <a:latin typeface="Times New Roman" pitchFamily="18" charset="0"/>
                <a:cs typeface="Times New Roman" pitchFamily="18" charset="0"/>
              </a:rPr>
              <a:t>Transition: </a:t>
            </a:r>
            <a:r>
              <a:rPr lang="en-IN" dirty="0">
                <a:latin typeface="Times New Roman" panose="02020603050405020304" pitchFamily="18" charset="0"/>
                <a:cs typeface="Times New Roman" panose="02020603050405020304" pitchFamily="18" charset="0"/>
              </a:rPr>
              <a:t>A </a:t>
            </a:r>
            <a:r>
              <a:rPr lang="en-IN" b="1" dirty="0">
                <a:latin typeface="Times New Roman" panose="02020603050405020304" pitchFamily="18" charset="0"/>
                <a:cs typeface="Times New Roman" panose="02020603050405020304" pitchFamily="18" charset="0"/>
              </a:rPr>
              <a:t>transition model</a:t>
            </a:r>
            <a:r>
              <a:rPr lang="en-IN" dirty="0">
                <a:latin typeface="Times New Roman" panose="02020603050405020304" pitchFamily="18" charset="0"/>
                <a:cs typeface="Times New Roman" panose="02020603050405020304" pitchFamily="18" charset="0"/>
              </a:rPr>
              <a:t>, which describes what each action does. </a:t>
            </a:r>
          </a:p>
          <a:p>
            <a:pPr lvl="1"/>
            <a:r>
              <a:rPr lang="en-IN" dirty="0">
                <a:latin typeface="Times New Roman" panose="02020603050405020304" pitchFamily="18" charset="0"/>
                <a:cs typeface="Times New Roman" panose="02020603050405020304" pitchFamily="18" charset="0"/>
              </a:rPr>
              <a:t>RESULT (</a:t>
            </a:r>
            <a:r>
              <a:rPr lang="en-IN" i="1" dirty="0" err="1">
                <a:solidFill>
                  <a:srgbClr val="FF0000"/>
                </a:solidFill>
                <a:latin typeface="Times New Roman" panose="02020603050405020304" pitchFamily="18" charset="0"/>
                <a:cs typeface="Times New Roman" panose="02020603050405020304" pitchFamily="18" charset="0"/>
              </a:rPr>
              <a:t>s,a</a:t>
            </a:r>
            <a:r>
              <a:rPr lang="en-IN" dirty="0">
                <a:latin typeface="Times New Roman" panose="02020603050405020304" pitchFamily="18" charset="0"/>
                <a:cs typeface="Times New Roman" panose="02020603050405020304" pitchFamily="18" charset="0"/>
              </a:rPr>
              <a:t>) returns the state that results from doing action </a:t>
            </a:r>
            <a:r>
              <a:rPr lang="en-IN" i="1" dirty="0">
                <a:solidFill>
                  <a:srgbClr val="FF0000"/>
                </a:solidFill>
                <a:latin typeface="Times New Roman" panose="02020603050405020304" pitchFamily="18" charset="0"/>
                <a:cs typeface="Times New Roman" panose="02020603050405020304" pitchFamily="18" charset="0"/>
              </a:rPr>
              <a:t>a </a:t>
            </a:r>
            <a:r>
              <a:rPr lang="en-IN" dirty="0">
                <a:latin typeface="Times New Roman" panose="02020603050405020304" pitchFamily="18" charset="0"/>
                <a:cs typeface="Times New Roman" panose="02020603050405020304" pitchFamily="18" charset="0"/>
              </a:rPr>
              <a:t>in state </a:t>
            </a:r>
            <a:r>
              <a:rPr lang="en-IN" i="1" dirty="0">
                <a:solidFill>
                  <a:srgbClr val="FF0000"/>
                </a:solidFill>
                <a:latin typeface="Times New Roman" panose="02020603050405020304" pitchFamily="18" charset="0"/>
                <a:cs typeface="Times New Roman" panose="02020603050405020304" pitchFamily="18" charset="0"/>
              </a:rPr>
              <a:t>s. </a:t>
            </a:r>
          </a:p>
          <a:p>
            <a:pPr lvl="1"/>
            <a:r>
              <a:rPr lang="en-IN" dirty="0">
                <a:latin typeface="Times New Roman" panose="02020603050405020304" pitchFamily="18" charset="0"/>
                <a:cs typeface="Times New Roman" panose="02020603050405020304" pitchFamily="18" charset="0"/>
              </a:rPr>
              <a:t>For example, </a:t>
            </a:r>
            <a:r>
              <a:rPr lang="en-IN" dirty="0">
                <a:solidFill>
                  <a:srgbClr val="FF0000"/>
                </a:solidFill>
                <a:latin typeface="Times New Roman" panose="02020603050405020304" pitchFamily="18" charset="0"/>
                <a:cs typeface="Times New Roman" panose="02020603050405020304" pitchFamily="18" charset="0"/>
              </a:rPr>
              <a:t>RESULT(Arad, </a:t>
            </a:r>
            <a:r>
              <a:rPr lang="en-IN" dirty="0" err="1">
                <a:solidFill>
                  <a:srgbClr val="FF0000"/>
                </a:solidFill>
                <a:latin typeface="Times New Roman" panose="02020603050405020304" pitchFamily="18" charset="0"/>
                <a:cs typeface="Times New Roman" panose="02020603050405020304" pitchFamily="18" charset="0"/>
              </a:rPr>
              <a:t>ToZerind</a:t>
            </a:r>
            <a:r>
              <a:rPr lang="en-IN" dirty="0">
                <a:solidFill>
                  <a:srgbClr val="FF0000"/>
                </a:solidFill>
                <a:latin typeface="Times New Roman" panose="02020603050405020304" pitchFamily="18" charset="0"/>
                <a:cs typeface="Times New Roman" panose="02020603050405020304" pitchFamily="18" charset="0"/>
              </a:rPr>
              <a:t>) = </a:t>
            </a:r>
            <a:r>
              <a:rPr lang="en-IN" dirty="0" err="1">
                <a:solidFill>
                  <a:srgbClr val="FF0000"/>
                </a:solidFill>
                <a:latin typeface="Times New Roman" panose="02020603050405020304" pitchFamily="18" charset="0"/>
                <a:cs typeface="Times New Roman" panose="02020603050405020304" pitchFamily="18" charset="0"/>
              </a:rPr>
              <a:t>Zerind</a:t>
            </a:r>
            <a:endParaRPr lang="en-US" b="1" dirty="0">
              <a:solidFill>
                <a:srgbClr val="FF0000"/>
              </a:solidFill>
              <a:latin typeface="Times New Roman" pitchFamily="18" charset="0"/>
              <a:cs typeface="Times New Roman" pitchFamily="18" charset="0"/>
            </a:endParaRPr>
          </a:p>
          <a:p>
            <a:pPr lvl="1" algn="just"/>
            <a:r>
              <a:rPr lang="en-US" dirty="0">
                <a:latin typeface="Times New Roman" pitchFamily="18" charset="0"/>
                <a:cs typeface="Times New Roman" pitchFamily="18" charset="0"/>
              </a:rPr>
              <a:t>This stage of problem formulation integrates the actual action done by the previous action stage and collects the final stage to forward it to their next stage.</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84955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Search Problems and Solution</a:t>
            </a:r>
            <a:endParaRPr lang="en-IN" dirty="0"/>
          </a:p>
        </p:txBody>
      </p:sp>
      <p:sp>
        <p:nvSpPr>
          <p:cNvPr id="3" name="Content Placeholder 2"/>
          <p:cNvSpPr>
            <a:spLocks noGrp="1"/>
          </p:cNvSpPr>
          <p:nvPr>
            <p:ph idx="1"/>
          </p:nvPr>
        </p:nvSpPr>
        <p:spPr/>
        <p:txBody>
          <a:bodyPr>
            <a:normAutofit fontScale="85000" lnSpcReduction="20000"/>
          </a:bodyPr>
          <a:lstStyle/>
          <a:p>
            <a:pPr>
              <a:lnSpc>
                <a:spcPct val="120000"/>
              </a:lnSpc>
            </a:pPr>
            <a:r>
              <a:rPr lang="en-IN" dirty="0"/>
              <a:t>An </a:t>
            </a:r>
            <a:r>
              <a:rPr lang="en-IN" b="1" dirty="0"/>
              <a:t>action cost function:</a:t>
            </a:r>
          </a:p>
          <a:p>
            <a:pPr>
              <a:lnSpc>
                <a:spcPct val="120000"/>
              </a:lnSpc>
            </a:pPr>
            <a:r>
              <a:rPr lang="en-IN" dirty="0"/>
              <a:t>An </a:t>
            </a:r>
            <a:r>
              <a:rPr lang="en-IN" b="1" dirty="0"/>
              <a:t>action cost function</a:t>
            </a:r>
            <a:r>
              <a:rPr lang="en-IN" dirty="0"/>
              <a:t>, denoted by </a:t>
            </a:r>
            <a:r>
              <a:rPr lang="en-IN" dirty="0">
                <a:solidFill>
                  <a:srgbClr val="FF0000"/>
                </a:solidFill>
              </a:rPr>
              <a:t>ACTION-COST(</a:t>
            </a:r>
            <a:r>
              <a:rPr lang="en-IN" dirty="0" err="1">
                <a:solidFill>
                  <a:srgbClr val="FF0000"/>
                </a:solidFill>
              </a:rPr>
              <a:t>s,a,s</a:t>
            </a:r>
            <a:r>
              <a:rPr lang="en-IN" dirty="0">
                <a:solidFill>
                  <a:srgbClr val="FF0000"/>
                </a:solidFill>
              </a:rPr>
              <a:t>’) </a:t>
            </a:r>
            <a:r>
              <a:rPr lang="en-IN" dirty="0"/>
              <a:t>when we are programming or </a:t>
            </a:r>
            <a:r>
              <a:rPr lang="en-IN" dirty="0">
                <a:solidFill>
                  <a:srgbClr val="FF0000"/>
                </a:solidFill>
              </a:rPr>
              <a:t>c(</a:t>
            </a:r>
            <a:r>
              <a:rPr lang="en-IN" dirty="0" err="1">
                <a:solidFill>
                  <a:srgbClr val="FF0000"/>
                </a:solidFill>
              </a:rPr>
              <a:t>s,a,s</a:t>
            </a:r>
            <a:r>
              <a:rPr lang="en-IN" dirty="0">
                <a:solidFill>
                  <a:srgbClr val="FF0000"/>
                </a:solidFill>
              </a:rPr>
              <a:t>’) </a:t>
            </a:r>
            <a:r>
              <a:rPr lang="en-IN" dirty="0"/>
              <a:t>when we are doing math, that gives the numeric cost of applying action</a:t>
            </a:r>
            <a:r>
              <a:rPr lang="en-IN" dirty="0">
                <a:solidFill>
                  <a:srgbClr val="FF0000"/>
                </a:solidFill>
              </a:rPr>
              <a:t> a </a:t>
            </a:r>
            <a:r>
              <a:rPr lang="en-IN" dirty="0"/>
              <a:t>in state </a:t>
            </a:r>
            <a:r>
              <a:rPr lang="en-IN" dirty="0">
                <a:solidFill>
                  <a:srgbClr val="FF0000"/>
                </a:solidFill>
              </a:rPr>
              <a:t>s</a:t>
            </a:r>
            <a:r>
              <a:rPr lang="en-IN" dirty="0"/>
              <a:t> to reach state </a:t>
            </a:r>
            <a:r>
              <a:rPr lang="en-IN" dirty="0">
                <a:solidFill>
                  <a:srgbClr val="FF0000"/>
                </a:solidFill>
              </a:rPr>
              <a:t>s’).</a:t>
            </a:r>
          </a:p>
          <a:p>
            <a:pPr lvl="1">
              <a:lnSpc>
                <a:spcPct val="120000"/>
              </a:lnSpc>
            </a:pPr>
            <a:r>
              <a:rPr lang="en-IN" dirty="0"/>
              <a:t>A problem-solving agent should use a cost function that reflects its own performance measure.</a:t>
            </a:r>
          </a:p>
          <a:p>
            <a:pPr lvl="1" algn="just">
              <a:lnSpc>
                <a:spcPct val="120000"/>
              </a:lnSpc>
            </a:pPr>
            <a:r>
              <a:rPr lang="en-IN" dirty="0"/>
              <a:t>Example, for route-finding agents, the cost of an action might be the length in miles or it might be the time it takes to complete the action.</a:t>
            </a:r>
          </a:p>
        </p:txBody>
      </p:sp>
    </p:spTree>
    <p:extLst>
      <p:ext uri="{BB962C8B-B14F-4D97-AF65-F5344CB8AC3E}">
        <p14:creationId xmlns:p14="http://schemas.microsoft.com/office/powerpoint/2010/main" val="826711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Search Problems and Solution</a:t>
            </a:r>
            <a:endParaRPr lang="en-IN" dirty="0"/>
          </a:p>
        </p:txBody>
      </p:sp>
      <p:sp>
        <p:nvSpPr>
          <p:cNvPr id="3" name="Content Placeholder 2"/>
          <p:cNvSpPr>
            <a:spLocks noGrp="1"/>
          </p:cNvSpPr>
          <p:nvPr>
            <p:ph idx="1"/>
          </p:nvPr>
        </p:nvSpPr>
        <p:spPr/>
        <p:txBody>
          <a:bodyPr>
            <a:normAutofit/>
          </a:bodyPr>
          <a:lstStyle/>
          <a:p>
            <a:r>
              <a:rPr lang="en-IN" dirty="0"/>
              <a:t>A sequence of actions forms a </a:t>
            </a:r>
            <a:r>
              <a:rPr lang="en-IN" b="1" dirty="0"/>
              <a:t>path.</a:t>
            </a:r>
          </a:p>
          <a:p>
            <a:r>
              <a:rPr lang="en-IN" b="1" dirty="0">
                <a:solidFill>
                  <a:srgbClr val="FF0000"/>
                </a:solidFill>
              </a:rPr>
              <a:t>Solution </a:t>
            </a:r>
            <a:r>
              <a:rPr lang="en-IN" dirty="0">
                <a:solidFill>
                  <a:srgbClr val="FF0000"/>
                </a:solidFill>
              </a:rPr>
              <a:t>is a path from the initial state to a goal state. </a:t>
            </a:r>
          </a:p>
          <a:p>
            <a:pPr lvl="1" algn="just"/>
            <a:r>
              <a:rPr lang="en-IN" dirty="0"/>
              <a:t>Assume that action costs are additive; that is, the total cost of a path is the sum of the individual action costs. </a:t>
            </a:r>
          </a:p>
          <a:p>
            <a:r>
              <a:rPr lang="en-IN" dirty="0">
                <a:solidFill>
                  <a:srgbClr val="FF0000"/>
                </a:solidFill>
              </a:rPr>
              <a:t>An </a:t>
            </a:r>
            <a:r>
              <a:rPr lang="en-IN" b="1" dirty="0">
                <a:solidFill>
                  <a:srgbClr val="FF0000"/>
                </a:solidFill>
              </a:rPr>
              <a:t>optimal solution </a:t>
            </a:r>
            <a:r>
              <a:rPr lang="en-IN" dirty="0">
                <a:solidFill>
                  <a:srgbClr val="FF0000"/>
                </a:solidFill>
              </a:rPr>
              <a:t>has the lowest path cost among all solutions.</a:t>
            </a:r>
          </a:p>
        </p:txBody>
      </p:sp>
    </p:spTree>
    <p:extLst>
      <p:ext uri="{BB962C8B-B14F-4D97-AF65-F5344CB8AC3E}">
        <p14:creationId xmlns:p14="http://schemas.microsoft.com/office/powerpoint/2010/main" val="13246884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Search Problems and Solution</a:t>
            </a:r>
            <a:endParaRPr lang="en-IN" dirty="0"/>
          </a:p>
        </p:txBody>
      </p:sp>
      <p:sp>
        <p:nvSpPr>
          <p:cNvPr id="3" name="Content Placeholder 2"/>
          <p:cNvSpPr>
            <a:spLocks noGrp="1"/>
          </p:cNvSpPr>
          <p:nvPr>
            <p:ph idx="1"/>
          </p:nvPr>
        </p:nvSpPr>
        <p:spPr/>
        <p:txBody>
          <a:bodyPr/>
          <a:lstStyle/>
          <a:p>
            <a:r>
              <a:rPr lang="en-IN" dirty="0">
                <a:solidFill>
                  <a:srgbClr val="FF0000"/>
                </a:solidFill>
              </a:rPr>
              <a:t>The state space can be represented as a </a:t>
            </a:r>
            <a:r>
              <a:rPr lang="en-IN" b="1" dirty="0">
                <a:solidFill>
                  <a:srgbClr val="FF0000"/>
                </a:solidFill>
              </a:rPr>
              <a:t>graph </a:t>
            </a:r>
            <a:r>
              <a:rPr lang="en-IN" dirty="0"/>
              <a:t>in which the vertices are states and the directed edges between them are actions. </a:t>
            </a:r>
          </a:p>
        </p:txBody>
      </p:sp>
    </p:spTree>
    <p:extLst>
      <p:ext uri="{BB962C8B-B14F-4D97-AF65-F5344CB8AC3E}">
        <p14:creationId xmlns:p14="http://schemas.microsoft.com/office/powerpoint/2010/main" val="12127923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Formulating problems</a:t>
            </a:r>
          </a:p>
        </p:txBody>
      </p:sp>
      <p:sp>
        <p:nvSpPr>
          <p:cNvPr id="3" name="Content Placeholder 2"/>
          <p:cNvSpPr>
            <a:spLocks noGrp="1"/>
          </p:cNvSpPr>
          <p:nvPr>
            <p:ph idx="1"/>
          </p:nvPr>
        </p:nvSpPr>
        <p:spPr>
          <a:xfrm>
            <a:off x="381000" y="1219200"/>
            <a:ext cx="8534400" cy="5486400"/>
          </a:xfrm>
        </p:spPr>
        <p:txBody>
          <a:bodyPr>
            <a:normAutofit fontScale="62500" lnSpcReduction="20000"/>
          </a:bodyPr>
          <a:lstStyle/>
          <a:p>
            <a:pPr algn="just">
              <a:lnSpc>
                <a:spcPct val="120000"/>
              </a:lnSpc>
            </a:pPr>
            <a:r>
              <a:rPr lang="en-IN" dirty="0"/>
              <a:t>Romania Trip Problem: Formulation of the problem of “getting to Bucharest” is a </a:t>
            </a:r>
            <a:r>
              <a:rPr lang="en-IN" b="1" dirty="0"/>
              <a:t>model</a:t>
            </a:r>
            <a:r>
              <a:rPr lang="en-IN" dirty="0"/>
              <a:t>—an abstract mathematical description—and not the real thing. </a:t>
            </a:r>
          </a:p>
          <a:p>
            <a:pPr algn="just">
              <a:lnSpc>
                <a:spcPct val="120000"/>
              </a:lnSpc>
            </a:pPr>
            <a:r>
              <a:rPr lang="en-IN" dirty="0"/>
              <a:t>Compare the simple atomic state description Arad to an actual cross-country trip, where the state of the world includes so many things: the traveling companions, the current radio program, the scenery out of the window, the proximity of law enforcement officers, the distance to the next rest stop, the condition of the road, the weather, the traffic, and so on. </a:t>
            </a:r>
          </a:p>
          <a:p>
            <a:pPr lvl="1" algn="just">
              <a:lnSpc>
                <a:spcPct val="120000"/>
              </a:lnSpc>
            </a:pPr>
            <a:r>
              <a:rPr lang="en-IN" dirty="0"/>
              <a:t>All these considerations are left out of our model because they are irrelevant to the problem of finding a route to Bucharest.</a:t>
            </a:r>
          </a:p>
          <a:p>
            <a:pPr algn="just">
              <a:lnSpc>
                <a:spcPct val="120000"/>
              </a:lnSpc>
            </a:pPr>
            <a:r>
              <a:rPr lang="en-IN" dirty="0">
                <a:solidFill>
                  <a:srgbClr val="FF0000"/>
                </a:solidFill>
              </a:rPr>
              <a:t>The process of removing detail from a representation is called </a:t>
            </a:r>
            <a:r>
              <a:rPr lang="en-IN" b="1" dirty="0">
                <a:solidFill>
                  <a:srgbClr val="FF0000"/>
                </a:solidFill>
              </a:rPr>
              <a:t>abstraction</a:t>
            </a:r>
            <a:r>
              <a:rPr lang="en-IN" dirty="0">
                <a:solidFill>
                  <a:srgbClr val="FF0000"/>
                </a:solidFill>
              </a:rPr>
              <a:t>. </a:t>
            </a:r>
          </a:p>
          <a:p>
            <a:pPr algn="just">
              <a:lnSpc>
                <a:spcPct val="120000"/>
              </a:lnSpc>
            </a:pPr>
            <a:r>
              <a:rPr lang="en-IN" dirty="0">
                <a:solidFill>
                  <a:srgbClr val="FF0000"/>
                </a:solidFill>
              </a:rPr>
              <a:t>A good problem formulation has the right level of detail.</a:t>
            </a:r>
          </a:p>
          <a:p>
            <a:pPr algn="just">
              <a:lnSpc>
                <a:spcPct val="120000"/>
              </a:lnSpc>
            </a:pPr>
            <a:r>
              <a:rPr lang="en-IN" dirty="0"/>
              <a:t>If the actions were at the level of “move the right foot forward a </a:t>
            </a:r>
            <a:r>
              <a:rPr lang="en-IN" dirty="0" err="1"/>
              <a:t>centimeter</a:t>
            </a:r>
            <a:r>
              <a:rPr lang="en-IN" dirty="0"/>
              <a:t>” or “turn the steering wheel one degree left,” the agent would probably never find its way out of the parking lot, let alone to Bucharest.</a:t>
            </a:r>
          </a:p>
          <a:p>
            <a:pPr>
              <a:lnSpc>
                <a:spcPct val="120000"/>
              </a:lnSpc>
            </a:pPr>
            <a:endParaRPr lang="en-IN" dirty="0"/>
          </a:p>
        </p:txBody>
      </p:sp>
    </p:spTree>
    <p:extLst>
      <p:ext uri="{BB962C8B-B14F-4D97-AF65-F5344CB8AC3E}">
        <p14:creationId xmlns:p14="http://schemas.microsoft.com/office/powerpoint/2010/main" val="15995316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Formulating problems</a:t>
            </a:r>
          </a:p>
        </p:txBody>
      </p:sp>
      <p:sp>
        <p:nvSpPr>
          <p:cNvPr id="3" name="Content Placeholder 2"/>
          <p:cNvSpPr>
            <a:spLocks noGrp="1"/>
          </p:cNvSpPr>
          <p:nvPr>
            <p:ph idx="1"/>
          </p:nvPr>
        </p:nvSpPr>
        <p:spPr/>
        <p:txBody>
          <a:bodyPr>
            <a:normAutofit fontScale="85000" lnSpcReduction="20000"/>
          </a:bodyPr>
          <a:lstStyle/>
          <a:p>
            <a:pPr algn="just">
              <a:lnSpc>
                <a:spcPct val="120000"/>
              </a:lnSpc>
            </a:pPr>
            <a:r>
              <a:rPr lang="en-IN" dirty="0"/>
              <a:t>Appropriate </a:t>
            </a:r>
            <a:r>
              <a:rPr lang="en-IN" b="1" dirty="0"/>
              <a:t>level of abstraction</a:t>
            </a:r>
            <a:r>
              <a:rPr lang="en-IN" dirty="0"/>
              <a:t>:</a:t>
            </a:r>
          </a:p>
          <a:p>
            <a:pPr lvl="1" algn="just">
              <a:lnSpc>
                <a:spcPct val="120000"/>
              </a:lnSpc>
            </a:pPr>
            <a:r>
              <a:rPr lang="en-IN" dirty="0"/>
              <a:t>Think of the abstract states and actions we have chosen as corresponding to large sets of </a:t>
            </a:r>
            <a:r>
              <a:rPr lang="en-IN" dirty="0">
                <a:solidFill>
                  <a:srgbClr val="FF0000"/>
                </a:solidFill>
              </a:rPr>
              <a:t>detailed world states and detailed action sequences.</a:t>
            </a:r>
          </a:p>
          <a:p>
            <a:pPr lvl="1">
              <a:lnSpc>
                <a:spcPct val="120000"/>
              </a:lnSpc>
            </a:pPr>
            <a:r>
              <a:rPr lang="en-IN" dirty="0"/>
              <a:t>Now consider a solution to the abstract problem: </a:t>
            </a:r>
            <a:r>
              <a:rPr lang="en-IN" dirty="0">
                <a:solidFill>
                  <a:srgbClr val="FF0000"/>
                </a:solidFill>
              </a:rPr>
              <a:t>for example, the path from Arad to Sibiu to </a:t>
            </a:r>
            <a:r>
              <a:rPr lang="en-IN" dirty="0" err="1">
                <a:solidFill>
                  <a:srgbClr val="FF0000"/>
                </a:solidFill>
              </a:rPr>
              <a:t>Rimnicu</a:t>
            </a:r>
            <a:r>
              <a:rPr lang="en-IN" dirty="0">
                <a:solidFill>
                  <a:srgbClr val="FF0000"/>
                </a:solidFill>
              </a:rPr>
              <a:t> </a:t>
            </a:r>
            <a:r>
              <a:rPr lang="en-IN" dirty="0" err="1">
                <a:solidFill>
                  <a:srgbClr val="FF0000"/>
                </a:solidFill>
              </a:rPr>
              <a:t>Vilcea</a:t>
            </a:r>
            <a:r>
              <a:rPr lang="en-IN" dirty="0">
                <a:solidFill>
                  <a:srgbClr val="FF0000"/>
                </a:solidFill>
              </a:rPr>
              <a:t> to Pitesti to Bucharest. </a:t>
            </a:r>
          </a:p>
          <a:p>
            <a:pPr lvl="1" algn="just">
              <a:lnSpc>
                <a:spcPct val="120000"/>
              </a:lnSpc>
            </a:pPr>
            <a:r>
              <a:rPr lang="en-IN" dirty="0"/>
              <a:t>This abstract solution corresponds to a large number of more detailed paths. </a:t>
            </a:r>
          </a:p>
          <a:p>
            <a:pPr lvl="2">
              <a:lnSpc>
                <a:spcPct val="120000"/>
              </a:lnSpc>
            </a:pPr>
            <a:r>
              <a:rPr lang="en-IN" dirty="0"/>
              <a:t>E.g.: </a:t>
            </a:r>
            <a:r>
              <a:rPr lang="en-IN" dirty="0">
                <a:solidFill>
                  <a:srgbClr val="FF0000"/>
                </a:solidFill>
              </a:rPr>
              <a:t>one could drive with the radio on between Sibiu and </a:t>
            </a:r>
            <a:r>
              <a:rPr lang="en-IN" dirty="0" err="1">
                <a:solidFill>
                  <a:srgbClr val="FF0000"/>
                </a:solidFill>
              </a:rPr>
              <a:t>Rimnicu</a:t>
            </a:r>
            <a:r>
              <a:rPr lang="en-IN" dirty="0">
                <a:solidFill>
                  <a:srgbClr val="FF0000"/>
                </a:solidFill>
              </a:rPr>
              <a:t> </a:t>
            </a:r>
            <a:r>
              <a:rPr lang="en-IN" dirty="0" err="1">
                <a:solidFill>
                  <a:srgbClr val="FF0000"/>
                </a:solidFill>
              </a:rPr>
              <a:t>Vilcea</a:t>
            </a:r>
            <a:r>
              <a:rPr lang="en-IN" dirty="0">
                <a:solidFill>
                  <a:srgbClr val="FF0000"/>
                </a:solidFill>
              </a:rPr>
              <a:t>, and then switch it off for the rest of the trip.</a:t>
            </a:r>
          </a:p>
        </p:txBody>
      </p:sp>
    </p:spTree>
    <p:extLst>
      <p:ext uri="{BB962C8B-B14F-4D97-AF65-F5344CB8AC3E}">
        <p14:creationId xmlns:p14="http://schemas.microsoft.com/office/powerpoint/2010/main" val="1538979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Example Problems</a:t>
            </a:r>
          </a:p>
        </p:txBody>
      </p:sp>
      <p:sp>
        <p:nvSpPr>
          <p:cNvPr id="3" name="Content Placeholder 2"/>
          <p:cNvSpPr>
            <a:spLocks noGrp="1"/>
          </p:cNvSpPr>
          <p:nvPr>
            <p:ph idx="1"/>
          </p:nvPr>
        </p:nvSpPr>
        <p:spPr>
          <a:xfrm>
            <a:off x="457200" y="1524000"/>
            <a:ext cx="8229600" cy="4602163"/>
          </a:xfrm>
        </p:spPr>
        <p:txBody>
          <a:bodyPr>
            <a:normAutofit fontScale="70000" lnSpcReduction="20000"/>
          </a:bodyPr>
          <a:lstStyle/>
          <a:p>
            <a:pPr>
              <a:lnSpc>
                <a:spcPct val="120000"/>
              </a:lnSpc>
            </a:pPr>
            <a:r>
              <a:rPr lang="en-IN" dirty="0"/>
              <a:t>The problem-solving approach has been applied to a vast array of task environments. </a:t>
            </a:r>
          </a:p>
          <a:p>
            <a:pPr lvl="1">
              <a:lnSpc>
                <a:spcPct val="120000"/>
              </a:lnSpc>
            </a:pPr>
            <a:r>
              <a:rPr lang="en-IN" i="1" dirty="0"/>
              <a:t>standardized </a:t>
            </a:r>
            <a:r>
              <a:rPr lang="en-IN" dirty="0"/>
              <a:t>problems</a:t>
            </a:r>
          </a:p>
          <a:p>
            <a:pPr lvl="1">
              <a:lnSpc>
                <a:spcPct val="120000"/>
              </a:lnSpc>
            </a:pPr>
            <a:r>
              <a:rPr lang="en-IN" i="1" dirty="0"/>
              <a:t>real-world </a:t>
            </a:r>
            <a:r>
              <a:rPr lang="en-IN" dirty="0"/>
              <a:t>problems</a:t>
            </a:r>
            <a:endParaRPr lang="en-IN" i="1" dirty="0"/>
          </a:p>
          <a:p>
            <a:pPr marL="342900" lvl="1" indent="-342900">
              <a:lnSpc>
                <a:spcPct val="120000"/>
              </a:lnSpc>
              <a:buFont typeface="Arial" pitchFamily="34" charset="0"/>
              <a:buChar char="•"/>
            </a:pPr>
            <a:r>
              <a:rPr lang="en-IN" dirty="0"/>
              <a:t>A </a:t>
            </a:r>
            <a:r>
              <a:rPr lang="en-IN" b="1" dirty="0"/>
              <a:t>standardized problem </a:t>
            </a:r>
            <a:r>
              <a:rPr lang="en-IN" dirty="0"/>
              <a:t>is intended to </a:t>
            </a:r>
            <a:r>
              <a:rPr lang="en-IN" dirty="0">
                <a:solidFill>
                  <a:srgbClr val="FF0000"/>
                </a:solidFill>
              </a:rPr>
              <a:t>illustrate or exercise various problem solving methods.</a:t>
            </a:r>
          </a:p>
          <a:p>
            <a:pPr lvl="1" algn="just">
              <a:lnSpc>
                <a:spcPct val="120000"/>
              </a:lnSpc>
            </a:pPr>
            <a:r>
              <a:rPr lang="en-IN" dirty="0"/>
              <a:t>It can be given a concise, exact description and hence is suitable as a benchmark for researchers to compare the performance of algorithms. </a:t>
            </a:r>
          </a:p>
          <a:p>
            <a:pPr algn="just">
              <a:lnSpc>
                <a:spcPct val="120000"/>
              </a:lnSpc>
            </a:pPr>
            <a:r>
              <a:rPr lang="en-IN" dirty="0"/>
              <a:t>A </a:t>
            </a:r>
            <a:r>
              <a:rPr lang="en-IN" b="1" dirty="0"/>
              <a:t>real-world problem</a:t>
            </a:r>
            <a:r>
              <a:rPr lang="en-IN" dirty="0"/>
              <a:t>, such as robot navigation, is one whose solutions people actually use, and </a:t>
            </a:r>
            <a:r>
              <a:rPr lang="en-IN" dirty="0">
                <a:solidFill>
                  <a:srgbClr val="FF0000"/>
                </a:solidFill>
              </a:rPr>
              <a:t>whose formulation is idiosyncratic, not standardized</a:t>
            </a:r>
            <a:r>
              <a:rPr lang="en-IN" dirty="0"/>
              <a:t>, because, for example, each robot has different sensors that produce different data.</a:t>
            </a:r>
          </a:p>
        </p:txBody>
      </p:sp>
    </p:spTree>
    <p:extLst>
      <p:ext uri="{BB962C8B-B14F-4D97-AF65-F5344CB8AC3E}">
        <p14:creationId xmlns:p14="http://schemas.microsoft.com/office/powerpoint/2010/main" val="13370819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Standardized problems – Vacuum World problem</a:t>
            </a:r>
          </a:p>
        </p:txBody>
      </p:sp>
      <p:sp>
        <p:nvSpPr>
          <p:cNvPr id="3" name="Content Placeholder 2"/>
          <p:cNvSpPr>
            <a:spLocks noGrp="1"/>
          </p:cNvSpPr>
          <p:nvPr>
            <p:ph idx="1"/>
          </p:nvPr>
        </p:nvSpPr>
        <p:spPr>
          <a:xfrm>
            <a:off x="304800" y="1417638"/>
            <a:ext cx="8686800" cy="5287962"/>
          </a:xfrm>
        </p:spPr>
        <p:txBody>
          <a:bodyPr>
            <a:normAutofit fontScale="70000" lnSpcReduction="20000"/>
          </a:bodyPr>
          <a:lstStyle/>
          <a:p>
            <a:pPr algn="just">
              <a:lnSpc>
                <a:spcPct val="120000"/>
              </a:lnSpc>
            </a:pPr>
            <a:r>
              <a:rPr lang="en-IN" dirty="0"/>
              <a:t>A </a:t>
            </a:r>
            <a:r>
              <a:rPr lang="en-IN" b="1" dirty="0"/>
              <a:t>grid world </a:t>
            </a:r>
            <a:r>
              <a:rPr lang="en-IN" dirty="0"/>
              <a:t>problem is a two-dimensional rectangular array of square cells in which agents can move from cell to cell. </a:t>
            </a:r>
          </a:p>
          <a:p>
            <a:pPr algn="just">
              <a:lnSpc>
                <a:spcPct val="120000"/>
              </a:lnSpc>
            </a:pPr>
            <a:r>
              <a:rPr lang="en-IN" dirty="0"/>
              <a:t>Typically the agent can move to any obstacle-free adjacent cell— horizontally or vertically and in some problems diagonally. Cells can contain objects, which the agent can pick up, push, or otherwise act upon; a wall or other </a:t>
            </a:r>
            <a:r>
              <a:rPr lang="en-IN" dirty="0" err="1"/>
              <a:t>impassible</a:t>
            </a:r>
            <a:r>
              <a:rPr lang="en-IN" dirty="0"/>
              <a:t> obstacle in a cell prevents an agent from moving into that cell. </a:t>
            </a:r>
          </a:p>
          <a:p>
            <a:pPr algn="just">
              <a:lnSpc>
                <a:spcPct val="120000"/>
              </a:lnSpc>
            </a:pPr>
            <a:r>
              <a:rPr lang="en-IN" dirty="0"/>
              <a:t>The </a:t>
            </a:r>
            <a:r>
              <a:rPr lang="en-IN" b="1" dirty="0"/>
              <a:t>vacuum world </a:t>
            </a:r>
            <a:r>
              <a:rPr lang="en-IN" dirty="0"/>
              <a:t>can be formulated as a grid world problem as follows:</a:t>
            </a:r>
          </a:p>
          <a:p>
            <a:pPr lvl="1" algn="just">
              <a:lnSpc>
                <a:spcPct val="120000"/>
              </a:lnSpc>
            </a:pPr>
            <a:r>
              <a:rPr lang="en-IN" b="1" dirty="0"/>
              <a:t>STATES: </a:t>
            </a:r>
            <a:r>
              <a:rPr lang="en-IN" dirty="0"/>
              <a:t>A state of the world says which objects are in which cells. </a:t>
            </a:r>
          </a:p>
          <a:p>
            <a:pPr lvl="1" algn="just">
              <a:lnSpc>
                <a:spcPct val="120000"/>
              </a:lnSpc>
            </a:pPr>
            <a:r>
              <a:rPr lang="en-IN" dirty="0"/>
              <a:t>For the vacuum world, the objects are the agent and any dirt. </a:t>
            </a:r>
          </a:p>
          <a:p>
            <a:pPr lvl="1" algn="just">
              <a:lnSpc>
                <a:spcPct val="120000"/>
              </a:lnSpc>
            </a:pPr>
            <a:r>
              <a:rPr lang="en-IN" dirty="0"/>
              <a:t>In the simple two-cell version, the agent can be in either of the two cells, and each call can either contain dirt or not, so there are 2 * 2 * 2 states.</a:t>
            </a:r>
          </a:p>
          <a:p>
            <a:pPr lvl="1" algn="just">
              <a:lnSpc>
                <a:spcPct val="120000"/>
              </a:lnSpc>
            </a:pPr>
            <a:r>
              <a:rPr lang="en-IN" dirty="0"/>
              <a:t>In general, a vacuum environment with cells has n cells has n * 2</a:t>
            </a:r>
            <a:r>
              <a:rPr lang="en-IN" baseline="30000" dirty="0"/>
              <a:t>n</a:t>
            </a:r>
            <a:r>
              <a:rPr lang="en-IN" dirty="0"/>
              <a:t> states</a:t>
            </a:r>
          </a:p>
          <a:p>
            <a:pPr>
              <a:lnSpc>
                <a:spcPct val="120000"/>
              </a:lnSpc>
            </a:pPr>
            <a:endParaRPr lang="en-IN" dirty="0"/>
          </a:p>
        </p:txBody>
      </p:sp>
    </p:spTree>
    <p:extLst>
      <p:ext uri="{BB962C8B-B14F-4D97-AF65-F5344CB8AC3E}">
        <p14:creationId xmlns:p14="http://schemas.microsoft.com/office/powerpoint/2010/main" val="9620057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Standardized problems – Vacuum World problem</a:t>
            </a:r>
          </a:p>
        </p:txBody>
      </p:sp>
      <p:sp>
        <p:nvSpPr>
          <p:cNvPr id="3" name="Content Placeholder 2"/>
          <p:cNvSpPr>
            <a:spLocks noGrp="1"/>
          </p:cNvSpPr>
          <p:nvPr>
            <p:ph idx="1"/>
          </p:nvPr>
        </p:nvSpPr>
        <p:spPr/>
        <p:txBody>
          <a:bodyPr/>
          <a:lstStyle/>
          <a:p>
            <a:r>
              <a:rPr lang="en-IN" dirty="0"/>
              <a:t>Example:</a:t>
            </a:r>
          </a:p>
          <a:p>
            <a:endParaRPr lang="en-IN"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3037" y="2667000"/>
            <a:ext cx="6257925" cy="3457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214413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Standardized problems – Vacuum World problem</a:t>
            </a:r>
          </a:p>
        </p:txBody>
      </p:sp>
      <p:sp>
        <p:nvSpPr>
          <p:cNvPr id="3" name="Content Placeholder 2"/>
          <p:cNvSpPr>
            <a:spLocks noGrp="1"/>
          </p:cNvSpPr>
          <p:nvPr>
            <p:ph idx="1"/>
          </p:nvPr>
        </p:nvSpPr>
        <p:spPr/>
        <p:txBody>
          <a:bodyPr>
            <a:normAutofit fontScale="62500" lnSpcReduction="20000"/>
          </a:bodyPr>
          <a:lstStyle/>
          <a:p>
            <a:r>
              <a:rPr lang="en-IN" b="1" dirty="0"/>
              <a:t>INITIAL STATE: </a:t>
            </a:r>
            <a:r>
              <a:rPr lang="en-IN" dirty="0"/>
              <a:t>Any state can be designated as the initial state.</a:t>
            </a:r>
          </a:p>
          <a:p>
            <a:r>
              <a:rPr lang="en-IN" b="1" dirty="0"/>
              <a:t>ACTIONS: </a:t>
            </a:r>
            <a:r>
              <a:rPr lang="en-IN" dirty="0"/>
              <a:t>In the two-cell world we defined three actions: </a:t>
            </a:r>
            <a:r>
              <a:rPr lang="en-IN" i="1" dirty="0"/>
              <a:t>Suck</a:t>
            </a:r>
            <a:r>
              <a:rPr lang="en-IN" dirty="0"/>
              <a:t>, move </a:t>
            </a:r>
            <a:r>
              <a:rPr lang="en-IN" i="1" dirty="0"/>
              <a:t>Left</a:t>
            </a:r>
            <a:r>
              <a:rPr lang="en-IN" dirty="0"/>
              <a:t>, and move </a:t>
            </a:r>
            <a:r>
              <a:rPr lang="en-IN" i="1" dirty="0"/>
              <a:t>Right</a:t>
            </a:r>
            <a:r>
              <a:rPr lang="en-IN" dirty="0"/>
              <a:t>. </a:t>
            </a:r>
          </a:p>
          <a:p>
            <a:pPr lvl="1"/>
            <a:r>
              <a:rPr lang="en-IN" dirty="0"/>
              <a:t>In a two-dimensional multi-cell world we need more movement actions. </a:t>
            </a:r>
          </a:p>
          <a:p>
            <a:pPr lvl="1"/>
            <a:r>
              <a:rPr lang="en-IN" dirty="0"/>
              <a:t>We could add </a:t>
            </a:r>
            <a:r>
              <a:rPr lang="en-IN" i="1" dirty="0"/>
              <a:t>Upward </a:t>
            </a:r>
            <a:r>
              <a:rPr lang="en-IN" dirty="0"/>
              <a:t>and </a:t>
            </a:r>
            <a:r>
              <a:rPr lang="en-IN" i="1" dirty="0"/>
              <a:t>Downward</a:t>
            </a:r>
            <a:r>
              <a:rPr lang="en-IN" dirty="0"/>
              <a:t>, giving us four </a:t>
            </a:r>
            <a:r>
              <a:rPr lang="en-IN" b="1" dirty="0"/>
              <a:t>absolute </a:t>
            </a:r>
            <a:r>
              <a:rPr lang="en-IN" dirty="0"/>
              <a:t>movement actions, or we could switch to </a:t>
            </a:r>
            <a:r>
              <a:rPr lang="en-IN" b="1" dirty="0"/>
              <a:t>egocentric actions</a:t>
            </a:r>
            <a:r>
              <a:rPr lang="en-IN" dirty="0"/>
              <a:t>, defined relative to the viewpoint of the agent.</a:t>
            </a:r>
          </a:p>
          <a:p>
            <a:pPr lvl="2"/>
            <a:r>
              <a:rPr lang="en-IN" dirty="0"/>
              <a:t>for example, </a:t>
            </a:r>
            <a:r>
              <a:rPr lang="en-IN" i="1" dirty="0">
                <a:solidFill>
                  <a:srgbClr val="FF0000"/>
                </a:solidFill>
              </a:rPr>
              <a:t>Forward, Backward, </a:t>
            </a:r>
            <a:r>
              <a:rPr lang="en-IN" i="1" dirty="0" err="1">
                <a:solidFill>
                  <a:srgbClr val="FF0000"/>
                </a:solidFill>
              </a:rPr>
              <a:t>TurnRight</a:t>
            </a:r>
            <a:r>
              <a:rPr lang="en-IN" dirty="0">
                <a:solidFill>
                  <a:srgbClr val="FF0000"/>
                </a:solidFill>
              </a:rPr>
              <a:t>, and </a:t>
            </a:r>
            <a:r>
              <a:rPr lang="en-IN" i="1" dirty="0" err="1">
                <a:solidFill>
                  <a:srgbClr val="FF0000"/>
                </a:solidFill>
              </a:rPr>
              <a:t>TurnLeft</a:t>
            </a:r>
            <a:r>
              <a:rPr lang="en-IN" dirty="0">
                <a:solidFill>
                  <a:srgbClr val="FF0000"/>
                </a:solidFill>
              </a:rPr>
              <a:t>.</a:t>
            </a:r>
          </a:p>
          <a:p>
            <a:r>
              <a:rPr lang="en-IN" b="1" dirty="0"/>
              <a:t>TRANSITION MODEL: </a:t>
            </a:r>
            <a:r>
              <a:rPr lang="en-IN" i="1" dirty="0"/>
              <a:t>Suck </a:t>
            </a:r>
            <a:r>
              <a:rPr lang="en-IN" dirty="0"/>
              <a:t>removes any dirt from the agent’s cell; </a:t>
            </a:r>
          </a:p>
          <a:p>
            <a:pPr lvl="1"/>
            <a:r>
              <a:rPr lang="en-IN" i="1" dirty="0">
                <a:solidFill>
                  <a:srgbClr val="FF0000"/>
                </a:solidFill>
              </a:rPr>
              <a:t>Forward</a:t>
            </a:r>
            <a:r>
              <a:rPr lang="en-IN" i="1" dirty="0"/>
              <a:t> </a:t>
            </a:r>
            <a:r>
              <a:rPr lang="en-IN" dirty="0"/>
              <a:t>moves the agent ahead one cell in the direction it is facing, unless it hits a wall, in which case the action has no effect. </a:t>
            </a:r>
          </a:p>
          <a:p>
            <a:pPr lvl="1"/>
            <a:r>
              <a:rPr lang="en-IN" i="1" dirty="0">
                <a:solidFill>
                  <a:srgbClr val="FF0000"/>
                </a:solidFill>
              </a:rPr>
              <a:t>Backward</a:t>
            </a:r>
            <a:r>
              <a:rPr lang="en-IN" i="1" dirty="0"/>
              <a:t> </a:t>
            </a:r>
            <a:r>
              <a:rPr lang="en-IN" dirty="0"/>
              <a:t>moves the agent in the opposite direction, while </a:t>
            </a:r>
            <a:r>
              <a:rPr lang="en-IN" i="1" dirty="0" err="1"/>
              <a:t>TurnRight</a:t>
            </a:r>
            <a:r>
              <a:rPr lang="en-IN" i="1" dirty="0"/>
              <a:t> </a:t>
            </a:r>
            <a:r>
              <a:rPr lang="en-IN" dirty="0"/>
              <a:t>and </a:t>
            </a:r>
            <a:r>
              <a:rPr lang="en-IN" i="1" dirty="0" err="1"/>
              <a:t>TurnLeft</a:t>
            </a:r>
            <a:r>
              <a:rPr lang="en-IN" i="1" dirty="0"/>
              <a:t> </a:t>
            </a:r>
            <a:r>
              <a:rPr lang="en-IN" dirty="0"/>
              <a:t>change the direction it is facing by90 degrees.  </a:t>
            </a:r>
            <a:endParaRPr lang="en-IN" baseline="30000" dirty="0"/>
          </a:p>
          <a:p>
            <a:r>
              <a:rPr lang="en-IN" b="1" dirty="0"/>
              <a:t>GOAL STATES: </a:t>
            </a:r>
            <a:r>
              <a:rPr lang="en-IN" dirty="0"/>
              <a:t>The states in which every cell is clean.</a:t>
            </a:r>
          </a:p>
          <a:p>
            <a:r>
              <a:rPr lang="en-IN" b="1" dirty="0"/>
              <a:t>ACTION COST: </a:t>
            </a:r>
            <a:r>
              <a:rPr lang="en-IN" dirty="0"/>
              <a:t>Each action costs 1.</a:t>
            </a:r>
          </a:p>
        </p:txBody>
      </p:sp>
    </p:spTree>
    <p:extLst>
      <p:ext uri="{BB962C8B-B14F-4D97-AF65-F5344CB8AC3E}">
        <p14:creationId xmlns:p14="http://schemas.microsoft.com/office/powerpoint/2010/main" val="33043980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IN" sz="3600" dirty="0"/>
              <a:t>Standardized problems – Vacuum World problem</a:t>
            </a:r>
          </a:p>
        </p:txBody>
      </p:sp>
      <p:sp>
        <p:nvSpPr>
          <p:cNvPr id="3" name="Content Placeholder 2"/>
          <p:cNvSpPr>
            <a:spLocks noGrp="1"/>
          </p:cNvSpPr>
          <p:nvPr>
            <p:ph idx="1"/>
          </p:nvPr>
        </p:nvSpPr>
        <p:spPr>
          <a:xfrm>
            <a:off x="457200" y="1447800"/>
            <a:ext cx="8229600" cy="4988490"/>
          </a:xfrm>
        </p:spPr>
        <p:txBody>
          <a:bodyPr>
            <a:normAutofit/>
          </a:bodyPr>
          <a:lstStyle/>
          <a:p>
            <a:r>
              <a:rPr lang="en-IN" sz="2800" dirty="0">
                <a:solidFill>
                  <a:srgbClr val="FF0000"/>
                </a:solidFill>
              </a:rPr>
              <a:t>States</a:t>
            </a:r>
            <a:r>
              <a:rPr lang="en-IN" sz="2800" dirty="0"/>
              <a:t>: Based on dirt and robot location </a:t>
            </a:r>
          </a:p>
          <a:p>
            <a:r>
              <a:rPr lang="en-IN" sz="2800" dirty="0">
                <a:solidFill>
                  <a:srgbClr val="FF0000"/>
                </a:solidFill>
              </a:rPr>
              <a:t>Actions</a:t>
            </a:r>
            <a:r>
              <a:rPr lang="en-IN" sz="2800" dirty="0"/>
              <a:t>: Left, Right, Suck</a:t>
            </a:r>
          </a:p>
          <a:p>
            <a:r>
              <a:rPr lang="en-IN" sz="2800" dirty="0">
                <a:solidFill>
                  <a:srgbClr val="FF0000"/>
                </a:solidFill>
              </a:rPr>
              <a:t>Goal state</a:t>
            </a:r>
            <a:r>
              <a:rPr lang="en-IN" sz="2800" dirty="0"/>
              <a:t>: no dirt at all locations</a:t>
            </a:r>
          </a:p>
          <a:p>
            <a:r>
              <a:rPr lang="en-IN" sz="2800" dirty="0">
                <a:solidFill>
                  <a:srgbClr val="FF0000"/>
                </a:solidFill>
              </a:rPr>
              <a:t>Action Cost</a:t>
            </a:r>
            <a:r>
              <a:rPr lang="en-IN" sz="2800" dirty="0"/>
              <a:t>:1 per action</a:t>
            </a:r>
          </a:p>
          <a:p>
            <a:endParaRPr lang="en-IN" sz="2800" dirty="0"/>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5124" y="3740546"/>
            <a:ext cx="4879076" cy="26957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061527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itchFamily="18" charset="0"/>
                <a:cs typeface="Times New Roman" pitchFamily="18" charset="0"/>
              </a:rPr>
              <a:t>8 Puzzle Problem</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lgn="just"/>
            <a:r>
              <a:rPr lang="en-US" sz="2800" b="1" dirty="0">
                <a:latin typeface="Times New Roman" pitchFamily="18" charset="0"/>
                <a:cs typeface="Times New Roman" pitchFamily="18" charset="0"/>
              </a:rPr>
              <a:t>8 Puzzle Problem </a:t>
            </a:r>
            <a:r>
              <a:rPr lang="en-US" sz="2800" dirty="0">
                <a:latin typeface="Times New Roman" pitchFamily="18" charset="0"/>
                <a:cs typeface="Times New Roman" pitchFamily="18" charset="0"/>
              </a:rPr>
              <a:t>is characterized by a</a:t>
            </a:r>
            <a:r>
              <a:rPr lang="en-US" sz="2800" b="1" dirty="0">
                <a:latin typeface="Times New Roman" pitchFamily="18" charset="0"/>
                <a:cs typeface="Times New Roman" pitchFamily="18" charset="0"/>
              </a:rPr>
              <a:t> </a:t>
            </a:r>
            <a:r>
              <a:rPr lang="en-US" sz="2800" dirty="0">
                <a:latin typeface="Times New Roman" pitchFamily="18" charset="0"/>
                <a:cs typeface="Times New Roman" pitchFamily="18" charset="0"/>
              </a:rPr>
              <a:t>3×3 matrix with movable tiles numbered from 1 to 8 with a blank space. The tile adjacent to the blank space can slide into that space. </a:t>
            </a:r>
          </a:p>
          <a:p>
            <a:pPr algn="just"/>
            <a:r>
              <a:rPr lang="en-IN" sz="2800" dirty="0">
                <a:latin typeface="Times New Roman" panose="02020603050405020304" pitchFamily="18" charset="0"/>
                <a:cs typeface="Times New Roman" panose="02020603050405020304" pitchFamily="18" charset="0"/>
              </a:rPr>
              <a:t>A typical instance of the 8-puzzle is in the diagram given below.</a:t>
            </a:r>
          </a:p>
          <a:p>
            <a:endParaRPr lang="en-IN" sz="2800" dirty="0">
              <a:latin typeface="Times New Roman" panose="02020603050405020304" pitchFamily="18" charset="0"/>
              <a:cs typeface="Times New Roman" panose="02020603050405020304" pitchFamily="18" charset="0"/>
            </a:endParaRPr>
          </a:p>
          <a:p>
            <a:pPr algn="just"/>
            <a:endParaRPr lang="en-US" sz="2800" dirty="0">
              <a:latin typeface="Times New Roman" pitchFamily="18" charset="0"/>
              <a:cs typeface="Times New Roman" pitchFamily="18" charset="0"/>
            </a:endParaRPr>
          </a:p>
          <a:p>
            <a:pPr algn="just"/>
            <a:endParaRPr lang="en-US" sz="2800" dirty="0">
              <a:latin typeface="Times New Roman" pitchFamily="18" charset="0"/>
              <a:cs typeface="Times New Roman" pitchFamily="18" charset="0"/>
            </a:endParaRP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57600" y="4119349"/>
            <a:ext cx="3352800" cy="17406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650984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lstStyle/>
          <a:p>
            <a:r>
              <a:rPr lang="en-IN" dirty="0"/>
              <a:t>8-puzzle problem</a:t>
            </a:r>
          </a:p>
        </p:txBody>
      </p:sp>
      <p:sp>
        <p:nvSpPr>
          <p:cNvPr id="3" name="Content Placeholder 2"/>
          <p:cNvSpPr>
            <a:spLocks noGrp="1"/>
          </p:cNvSpPr>
          <p:nvPr>
            <p:ph idx="1"/>
          </p:nvPr>
        </p:nvSpPr>
        <p:spPr>
          <a:xfrm>
            <a:off x="457200" y="1143000"/>
            <a:ext cx="8229600" cy="4983163"/>
          </a:xfrm>
        </p:spPr>
        <p:txBody>
          <a:bodyPr>
            <a:normAutofit fontScale="62500" lnSpcReduction="20000"/>
          </a:bodyPr>
          <a:lstStyle/>
          <a:p>
            <a:r>
              <a:rPr lang="en-IN" b="1" dirty="0"/>
              <a:t>STATES: </a:t>
            </a:r>
            <a:r>
              <a:rPr lang="en-IN" dirty="0"/>
              <a:t>A state description specifies the location of each of the tiles.</a:t>
            </a:r>
          </a:p>
          <a:p>
            <a:r>
              <a:rPr lang="en-IN" b="1" dirty="0"/>
              <a:t>INITIAL STATE: </a:t>
            </a:r>
            <a:r>
              <a:rPr lang="en-IN" dirty="0"/>
              <a:t>Any state can be designated as the initial state</a:t>
            </a:r>
          </a:p>
          <a:p>
            <a:r>
              <a:rPr lang="en-IN" b="1" dirty="0"/>
              <a:t>ACTIONS: </a:t>
            </a:r>
            <a:r>
              <a:rPr lang="en-IN" dirty="0"/>
              <a:t>While in the physical world it is a tile that slides, the simplest way of describing an action is </a:t>
            </a:r>
            <a:r>
              <a:rPr lang="en-IN" dirty="0">
                <a:solidFill>
                  <a:srgbClr val="FF0000"/>
                </a:solidFill>
              </a:rPr>
              <a:t>to think of the blank space moving </a:t>
            </a:r>
            <a:r>
              <a:rPr lang="en-IN" i="1" dirty="0">
                <a:solidFill>
                  <a:srgbClr val="FF0000"/>
                </a:solidFill>
              </a:rPr>
              <a:t>Left, Right, Up</a:t>
            </a:r>
            <a:r>
              <a:rPr lang="en-IN" dirty="0">
                <a:solidFill>
                  <a:srgbClr val="FF0000"/>
                </a:solidFill>
              </a:rPr>
              <a:t>, or </a:t>
            </a:r>
            <a:r>
              <a:rPr lang="en-IN" i="1" dirty="0">
                <a:solidFill>
                  <a:srgbClr val="FF0000"/>
                </a:solidFill>
              </a:rPr>
              <a:t>Down</a:t>
            </a:r>
            <a:r>
              <a:rPr lang="en-IN" dirty="0">
                <a:solidFill>
                  <a:srgbClr val="FF0000"/>
                </a:solidFill>
              </a:rPr>
              <a:t>.</a:t>
            </a:r>
          </a:p>
          <a:p>
            <a:pPr lvl="1"/>
            <a:r>
              <a:rPr lang="en-IN" dirty="0"/>
              <a:t>If the blank is at an edge or corner then not all actions will be applicable.</a:t>
            </a:r>
          </a:p>
          <a:p>
            <a:r>
              <a:rPr lang="en-IN" b="1" dirty="0"/>
              <a:t>TRANSITION MODEL: </a:t>
            </a:r>
            <a:r>
              <a:rPr lang="en-IN" dirty="0"/>
              <a:t>Maps a state and action to a resulting state; for example, </a:t>
            </a:r>
            <a:r>
              <a:rPr lang="en-IN" dirty="0">
                <a:solidFill>
                  <a:srgbClr val="FF0000"/>
                </a:solidFill>
              </a:rPr>
              <a:t>if we apply </a:t>
            </a:r>
            <a:r>
              <a:rPr lang="en-IN" i="1" dirty="0">
                <a:solidFill>
                  <a:srgbClr val="FF0000"/>
                </a:solidFill>
              </a:rPr>
              <a:t>Left </a:t>
            </a:r>
            <a:r>
              <a:rPr lang="en-IN" dirty="0">
                <a:solidFill>
                  <a:srgbClr val="FF0000"/>
                </a:solidFill>
              </a:rPr>
              <a:t>to the start state 5, the resulting state has the 5 and the blank switched.</a:t>
            </a:r>
          </a:p>
          <a:p>
            <a:r>
              <a:rPr lang="en-IN" b="1" dirty="0"/>
              <a:t>GOAL STATE: </a:t>
            </a:r>
            <a:r>
              <a:rPr lang="en-IN" dirty="0"/>
              <a:t>Although any state could be the goal, we typically specify a state with the numbers in order, as given in the below example </a:t>
            </a:r>
          </a:p>
          <a:p>
            <a:r>
              <a:rPr lang="en-IN" b="1" dirty="0"/>
              <a:t>ACTION COST: </a:t>
            </a:r>
            <a:r>
              <a:rPr lang="en-IN" dirty="0"/>
              <a:t>Each action costs 1</a:t>
            </a:r>
          </a:p>
          <a:p>
            <a:pPr algn="just" fontAlgn="base"/>
            <a:r>
              <a:rPr lang="en-US" b="1" dirty="0">
                <a:latin typeface="Times New Roman" pitchFamily="18" charset="0"/>
                <a:cs typeface="Times New Roman" pitchFamily="18" charset="0"/>
              </a:rPr>
              <a:t>Goal test:</a:t>
            </a:r>
            <a:r>
              <a:rPr lang="en-US" dirty="0">
                <a:latin typeface="Times New Roman" pitchFamily="18" charset="0"/>
                <a:cs typeface="Times New Roman" pitchFamily="18" charset="0"/>
              </a:rPr>
              <a:t> It identifies whether we have reached the correct goal-state.</a:t>
            </a:r>
          </a:p>
          <a:p>
            <a:pPr algn="just" fontAlgn="base"/>
            <a:r>
              <a:rPr lang="en-US" b="1" dirty="0">
                <a:latin typeface="Times New Roman" pitchFamily="18" charset="0"/>
                <a:cs typeface="Times New Roman" pitchFamily="18" charset="0"/>
              </a:rPr>
              <a:t>Path cost:</a:t>
            </a:r>
            <a:r>
              <a:rPr lang="en-US" dirty="0">
                <a:latin typeface="Times New Roman" pitchFamily="18" charset="0"/>
                <a:cs typeface="Times New Roman" pitchFamily="18" charset="0"/>
              </a:rPr>
              <a:t> The path cost is the number of steps in the path where the cost of each step is 1.</a:t>
            </a:r>
          </a:p>
          <a:p>
            <a:endParaRPr lang="en-IN" dirty="0"/>
          </a:p>
          <a:p>
            <a:endParaRPr lang="en-IN" dirty="0">
              <a:solidFill>
                <a:srgbClr val="FF0000"/>
              </a:solidFill>
            </a:endParaRPr>
          </a:p>
          <a:p>
            <a:endParaRPr lang="en-IN" dirty="0"/>
          </a:p>
          <a:p>
            <a:endParaRPr lang="en-IN" dirty="0"/>
          </a:p>
          <a:p>
            <a:endParaRPr lang="en-IN" dirty="0"/>
          </a:p>
          <a:p>
            <a:endParaRPr lang="en-IN" dirty="0"/>
          </a:p>
          <a:p>
            <a:endParaRPr lang="en-IN" dirty="0"/>
          </a:p>
          <a:p>
            <a:endParaRPr lang="en-IN" dirty="0"/>
          </a:p>
          <a:p>
            <a:endParaRPr lang="en-IN" dirty="0"/>
          </a:p>
          <a:p>
            <a:endParaRPr lang="en-IN"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33800" y="5181600"/>
            <a:ext cx="2432712" cy="126294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585838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8 Queens problem</a:t>
            </a:r>
          </a:p>
        </p:txBody>
      </p:sp>
      <p:sp>
        <p:nvSpPr>
          <p:cNvPr id="3" name="Content Placeholder 2"/>
          <p:cNvSpPr>
            <a:spLocks noGrp="1"/>
          </p:cNvSpPr>
          <p:nvPr>
            <p:ph idx="1"/>
          </p:nvPr>
        </p:nvSpPr>
        <p:spPr/>
        <p:txBody>
          <a:bodyPr>
            <a:normAutofit/>
          </a:bodyPr>
          <a:lstStyle/>
          <a:p>
            <a:pPr algn="just"/>
            <a:r>
              <a:rPr lang="en-US" sz="2800" dirty="0">
                <a:latin typeface="Times New Roman" pitchFamily="18" charset="0"/>
                <a:cs typeface="Times New Roman" pitchFamily="18" charset="0"/>
              </a:rPr>
              <a:t>The aim of this problem is to place eight queens on a chessboard in an order where no queen may attack another. A queen can attack other queens either </a:t>
            </a:r>
            <a:r>
              <a:rPr lang="en-US" sz="2800" b="1" dirty="0">
                <a:latin typeface="Times New Roman" pitchFamily="18" charset="0"/>
                <a:cs typeface="Times New Roman" pitchFamily="18" charset="0"/>
              </a:rPr>
              <a:t>diagonally or in same row and column.</a:t>
            </a:r>
          </a:p>
          <a:p>
            <a:pPr algn="just"/>
            <a:endParaRPr lang="en-US" sz="2800" dirty="0">
              <a:latin typeface="Times New Roman" pitchFamily="18" charset="0"/>
              <a:cs typeface="Times New Roman" pitchFamily="18" charset="0"/>
            </a:endParaRPr>
          </a:p>
        </p:txBody>
      </p:sp>
      <p:pic>
        <p:nvPicPr>
          <p:cNvPr id="4" name="Picture 2"/>
          <p:cNvPicPr>
            <a:picLocks noChangeAspect="1" noChangeArrowheads="1"/>
          </p:cNvPicPr>
          <p:nvPr/>
        </p:nvPicPr>
        <p:blipFill>
          <a:blip r:embed="rId2"/>
          <a:srcRect/>
          <a:stretch>
            <a:fillRect/>
          </a:stretch>
        </p:blipFill>
        <p:spPr bwMode="auto">
          <a:xfrm>
            <a:off x="1835696" y="3369973"/>
            <a:ext cx="4813920" cy="3259425"/>
          </a:xfrm>
          <a:prstGeom prst="rect">
            <a:avLst/>
          </a:prstGeom>
          <a:noFill/>
          <a:ln w="9525">
            <a:noFill/>
            <a:miter lim="800000"/>
            <a:headEnd/>
            <a:tailEnd/>
          </a:ln>
          <a:effectLst/>
        </p:spPr>
      </p:pic>
    </p:spTree>
    <p:extLst>
      <p:ext uri="{BB962C8B-B14F-4D97-AF65-F5344CB8AC3E}">
        <p14:creationId xmlns:p14="http://schemas.microsoft.com/office/powerpoint/2010/main" val="12748416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fontScale="90000"/>
          </a:bodyPr>
          <a:lstStyle/>
          <a:p>
            <a:r>
              <a:rPr lang="en-IN" dirty="0"/>
              <a:t>Real-world problems : Route-finding algorithms </a:t>
            </a:r>
          </a:p>
        </p:txBody>
      </p:sp>
      <p:sp>
        <p:nvSpPr>
          <p:cNvPr id="3" name="Content Placeholder 2"/>
          <p:cNvSpPr>
            <a:spLocks noGrp="1"/>
          </p:cNvSpPr>
          <p:nvPr>
            <p:ph idx="1"/>
          </p:nvPr>
        </p:nvSpPr>
        <p:spPr>
          <a:xfrm>
            <a:off x="457200" y="1219200"/>
            <a:ext cx="8229600" cy="5257800"/>
          </a:xfrm>
        </p:spPr>
        <p:txBody>
          <a:bodyPr>
            <a:noAutofit/>
          </a:bodyPr>
          <a:lstStyle/>
          <a:p>
            <a:pPr>
              <a:lnSpc>
                <a:spcPct val="120000"/>
              </a:lnSpc>
            </a:pPr>
            <a:r>
              <a:rPr lang="en-IN" sz="1400" dirty="0"/>
              <a:t>Route-finding algorithms are used in a variety of applications. Some, such as Web sites and in-car systems that provide driving directions, are relatively straightforward extensions of the Romania example. (The main complications are varying costs due to traffic-dependent delays, and rerouting due to road closures.) </a:t>
            </a:r>
          </a:p>
          <a:p>
            <a:pPr>
              <a:lnSpc>
                <a:spcPct val="120000"/>
              </a:lnSpc>
            </a:pPr>
            <a:r>
              <a:rPr lang="en-IN" sz="1400" dirty="0"/>
              <a:t>Others, such as routing video streams in computer networks, military operations planning, and airline travel-planning systems, involve much more complex specifications. </a:t>
            </a:r>
          </a:p>
          <a:p>
            <a:pPr>
              <a:lnSpc>
                <a:spcPct val="120000"/>
              </a:lnSpc>
            </a:pPr>
            <a:r>
              <a:rPr lang="en-IN" sz="1400" dirty="0"/>
              <a:t>Consider the airline travel problems that must be solved by a travel-planning Web site:</a:t>
            </a:r>
          </a:p>
          <a:p>
            <a:pPr>
              <a:lnSpc>
                <a:spcPct val="120000"/>
              </a:lnSpc>
            </a:pPr>
            <a:r>
              <a:rPr lang="en-IN" sz="1400" b="1" dirty="0"/>
              <a:t>STATES: </a:t>
            </a:r>
            <a:r>
              <a:rPr lang="en-IN" sz="1400" dirty="0"/>
              <a:t>Each state obviously includes a location (e.g., an airport) and the current time. Furthermore, because the cost of an action (a flight segment) may depend on previous segments, their fare bases, and their status as domestic or international, the state must record extra information about these “historical” aspects.</a:t>
            </a:r>
          </a:p>
          <a:p>
            <a:pPr>
              <a:lnSpc>
                <a:spcPct val="120000"/>
              </a:lnSpc>
            </a:pPr>
            <a:r>
              <a:rPr lang="en-IN" sz="1400" b="1" dirty="0"/>
              <a:t>INITIAL STATE: </a:t>
            </a:r>
            <a:r>
              <a:rPr lang="en-IN" sz="1400" dirty="0"/>
              <a:t>The user’s home airport.</a:t>
            </a:r>
          </a:p>
          <a:p>
            <a:pPr>
              <a:lnSpc>
                <a:spcPct val="120000"/>
              </a:lnSpc>
            </a:pPr>
            <a:r>
              <a:rPr lang="en-IN" sz="1400" b="1" dirty="0"/>
              <a:t>ACTIONS: </a:t>
            </a:r>
            <a:r>
              <a:rPr lang="en-IN" sz="1400" dirty="0"/>
              <a:t>Take any flight from the current location, in any seat class, leaving after the current time, leaving enough time for within-airport transfer if needed.</a:t>
            </a:r>
          </a:p>
          <a:p>
            <a:pPr>
              <a:lnSpc>
                <a:spcPct val="120000"/>
              </a:lnSpc>
            </a:pPr>
            <a:r>
              <a:rPr lang="en-IN" sz="1400" b="1" dirty="0"/>
              <a:t>TRANSITION MODEL: </a:t>
            </a:r>
            <a:r>
              <a:rPr lang="en-IN" sz="1400" dirty="0"/>
              <a:t>The state resulting from taking a flight will have the flight’s destination as the new location and the flight’s arrival time as the new time.</a:t>
            </a:r>
          </a:p>
          <a:p>
            <a:pPr>
              <a:lnSpc>
                <a:spcPct val="120000"/>
              </a:lnSpc>
            </a:pPr>
            <a:r>
              <a:rPr lang="en-IN" sz="1400" b="1" dirty="0"/>
              <a:t>GOAL STATE: </a:t>
            </a:r>
            <a:r>
              <a:rPr lang="en-IN" sz="1400" dirty="0"/>
              <a:t>A destination city. Sometimes the goal can be more complex, such as “arrive at the destination on a nonstop flight.”</a:t>
            </a:r>
          </a:p>
          <a:p>
            <a:pPr>
              <a:lnSpc>
                <a:spcPct val="120000"/>
              </a:lnSpc>
            </a:pPr>
            <a:r>
              <a:rPr lang="en-IN" sz="1400" b="1" dirty="0"/>
              <a:t>ACTION COST: </a:t>
            </a:r>
            <a:r>
              <a:rPr lang="en-IN" sz="1400" dirty="0"/>
              <a:t>A combination of monetary cost, waiting time, flight time, customs and immigration procedures, seat quality, time of day, type of airplane, frequent-flyer reward points, and so on.</a:t>
            </a:r>
          </a:p>
        </p:txBody>
      </p:sp>
    </p:spTree>
    <p:extLst>
      <p:ext uri="{BB962C8B-B14F-4D97-AF65-F5344CB8AC3E}">
        <p14:creationId xmlns:p14="http://schemas.microsoft.com/office/powerpoint/2010/main" val="17858363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990600" y="42863"/>
            <a:ext cx="7793038" cy="1066800"/>
          </a:xfrm>
        </p:spPr>
        <p:txBody>
          <a:bodyPr/>
          <a:lstStyle/>
          <a:p>
            <a:pPr eaLnBrk="1" hangingPunct="1"/>
            <a:r>
              <a:rPr lang="en-US" altLang="en-US" sz="3200" b="1" dirty="0">
                <a:latin typeface="Times New Roman" pitchFamily="18" charset="0"/>
                <a:cs typeface="Times New Roman" pitchFamily="18" charset="0"/>
              </a:rPr>
              <a:t>Example: Shortest path between </a:t>
            </a:r>
            <a:r>
              <a:rPr lang="en-US" altLang="en-US" sz="3200" b="1" dirty="0">
                <a:solidFill>
                  <a:srgbClr val="00B050"/>
                </a:solidFill>
                <a:latin typeface="Times New Roman" pitchFamily="18" charset="0"/>
                <a:cs typeface="Times New Roman" pitchFamily="18" charset="0"/>
              </a:rPr>
              <a:t>VIT Vellore Campus </a:t>
            </a:r>
            <a:r>
              <a:rPr lang="en-US" altLang="en-US" sz="3200" b="1" dirty="0">
                <a:latin typeface="Times New Roman" pitchFamily="18" charset="0"/>
                <a:cs typeface="Times New Roman" pitchFamily="18" charset="0"/>
              </a:rPr>
              <a:t>To </a:t>
            </a:r>
            <a:r>
              <a:rPr lang="en-US" altLang="en-US" sz="3200" b="1" dirty="0">
                <a:solidFill>
                  <a:srgbClr val="C00000"/>
                </a:solidFill>
                <a:latin typeface="Times New Roman" pitchFamily="18" charset="0"/>
                <a:cs typeface="Times New Roman" pitchFamily="18" charset="0"/>
              </a:rPr>
              <a:t>VIT Chennai Campus</a:t>
            </a:r>
          </a:p>
        </p:txBody>
      </p:sp>
      <p:sp>
        <p:nvSpPr>
          <p:cNvPr id="20483" name="Rectangle 3"/>
          <p:cNvSpPr>
            <a:spLocks noGrp="1" noChangeArrowheads="1"/>
          </p:cNvSpPr>
          <p:nvPr>
            <p:ph type="body" idx="1"/>
          </p:nvPr>
        </p:nvSpPr>
        <p:spPr>
          <a:xfrm>
            <a:off x="304800" y="1676400"/>
            <a:ext cx="8650288" cy="4572000"/>
          </a:xfrm>
        </p:spPr>
        <p:txBody>
          <a:bodyPr/>
          <a:lstStyle/>
          <a:p>
            <a:pPr eaLnBrk="1" hangingPunct="1">
              <a:lnSpc>
                <a:spcPct val="90000"/>
              </a:lnSpc>
            </a:pPr>
            <a:r>
              <a:rPr lang="en-US" altLang="en-US" sz="2800">
                <a:latin typeface="Times New Roman" pitchFamily="18" charset="0"/>
                <a:cs typeface="Times New Roman" pitchFamily="18" charset="0"/>
              </a:rPr>
              <a:t>To reach the campus in shortest route as well as cross the minimum number of Toll-gate’s</a:t>
            </a:r>
          </a:p>
          <a:p>
            <a:pPr eaLnBrk="1" hangingPunct="1">
              <a:lnSpc>
                <a:spcPct val="90000"/>
              </a:lnSpc>
            </a:pPr>
            <a:r>
              <a:rPr lang="en-US" altLang="en-US" sz="2800">
                <a:solidFill>
                  <a:schemeClr val="accent2"/>
                </a:solidFill>
                <a:latin typeface="Times New Roman" pitchFamily="18" charset="0"/>
                <a:cs typeface="Times New Roman" pitchFamily="18" charset="0"/>
              </a:rPr>
              <a:t>Formulate goal</a:t>
            </a:r>
            <a:r>
              <a:rPr lang="en-US" altLang="en-US" sz="2800">
                <a:latin typeface="Times New Roman" pitchFamily="18" charset="0"/>
                <a:cs typeface="Times New Roman" pitchFamily="18" charset="0"/>
              </a:rPr>
              <a:t>:</a:t>
            </a:r>
          </a:p>
          <a:p>
            <a:pPr lvl="1" eaLnBrk="1" hangingPunct="1">
              <a:lnSpc>
                <a:spcPct val="90000"/>
              </a:lnSpc>
            </a:pPr>
            <a:r>
              <a:rPr lang="en-US" altLang="en-US" sz="2400">
                <a:latin typeface="Times New Roman" pitchFamily="18" charset="0"/>
                <a:cs typeface="Times New Roman" pitchFamily="18" charset="0"/>
              </a:rPr>
              <a:t>Shortest path</a:t>
            </a:r>
          </a:p>
          <a:p>
            <a:pPr eaLnBrk="1" hangingPunct="1">
              <a:lnSpc>
                <a:spcPct val="90000"/>
              </a:lnSpc>
            </a:pPr>
            <a:r>
              <a:rPr lang="en-US" altLang="en-US" sz="2800">
                <a:solidFill>
                  <a:schemeClr val="accent2"/>
                </a:solidFill>
                <a:latin typeface="Times New Roman" pitchFamily="18" charset="0"/>
                <a:cs typeface="Times New Roman" pitchFamily="18" charset="0"/>
              </a:rPr>
              <a:t>Formulate problem</a:t>
            </a:r>
            <a:r>
              <a:rPr lang="en-US" altLang="en-US" sz="2800">
                <a:latin typeface="Times New Roman" pitchFamily="18" charset="0"/>
                <a:cs typeface="Times New Roman" pitchFamily="18" charset="0"/>
              </a:rPr>
              <a:t>:</a:t>
            </a:r>
          </a:p>
          <a:p>
            <a:pPr lvl="1" eaLnBrk="1" hangingPunct="1">
              <a:lnSpc>
                <a:spcPct val="90000"/>
              </a:lnSpc>
            </a:pPr>
            <a:r>
              <a:rPr lang="en-US" altLang="en-US" sz="2400">
                <a:solidFill>
                  <a:srgbClr val="FF0000"/>
                </a:solidFill>
                <a:latin typeface="Times New Roman" pitchFamily="18" charset="0"/>
                <a:cs typeface="Times New Roman" pitchFamily="18" charset="0"/>
              </a:rPr>
              <a:t>states</a:t>
            </a:r>
            <a:r>
              <a:rPr lang="en-US" altLang="en-US" sz="2400">
                <a:latin typeface="Times New Roman" pitchFamily="18" charset="0"/>
                <a:cs typeface="Times New Roman" pitchFamily="18" charset="0"/>
              </a:rPr>
              <a:t>: various urban areas</a:t>
            </a:r>
          </a:p>
          <a:p>
            <a:pPr lvl="1" eaLnBrk="1" hangingPunct="1">
              <a:lnSpc>
                <a:spcPct val="90000"/>
              </a:lnSpc>
            </a:pPr>
            <a:r>
              <a:rPr lang="en-US" altLang="en-US" sz="2400">
                <a:solidFill>
                  <a:srgbClr val="FF0000"/>
                </a:solidFill>
                <a:latin typeface="Times New Roman" pitchFamily="18" charset="0"/>
                <a:cs typeface="Times New Roman" pitchFamily="18" charset="0"/>
              </a:rPr>
              <a:t>actions</a:t>
            </a:r>
            <a:r>
              <a:rPr lang="en-US" altLang="en-US" sz="2400">
                <a:latin typeface="Times New Roman" pitchFamily="18" charset="0"/>
                <a:cs typeface="Times New Roman" pitchFamily="18" charset="0"/>
              </a:rPr>
              <a:t>: drive between cities</a:t>
            </a:r>
          </a:p>
          <a:p>
            <a:pPr eaLnBrk="1" hangingPunct="1">
              <a:lnSpc>
                <a:spcPct val="90000"/>
              </a:lnSpc>
            </a:pPr>
            <a:r>
              <a:rPr lang="en-US" altLang="en-US" sz="2800">
                <a:solidFill>
                  <a:schemeClr val="accent2"/>
                </a:solidFill>
                <a:latin typeface="Times New Roman" pitchFamily="18" charset="0"/>
                <a:cs typeface="Times New Roman" pitchFamily="18" charset="0"/>
              </a:rPr>
              <a:t>Find solution</a:t>
            </a:r>
            <a:r>
              <a:rPr lang="en-US" altLang="en-US" sz="2800">
                <a:latin typeface="Times New Roman" pitchFamily="18" charset="0"/>
                <a:cs typeface="Times New Roman" pitchFamily="18" charset="0"/>
              </a:rPr>
              <a:t>:</a:t>
            </a:r>
          </a:p>
          <a:p>
            <a:pPr lvl="1" eaLnBrk="1" hangingPunct="1">
              <a:lnSpc>
                <a:spcPct val="90000"/>
              </a:lnSpc>
            </a:pPr>
            <a:r>
              <a:rPr lang="en-US" altLang="en-US" sz="2400">
                <a:latin typeface="Times New Roman" pitchFamily="18" charset="0"/>
                <a:cs typeface="Times New Roman" pitchFamily="18" charset="0"/>
              </a:rPr>
              <a:t>sequence of urban areas, e.g., Kancheepuram, Thambaram, Kelambakkam, Guindy</a:t>
            </a:r>
          </a:p>
        </p:txBody>
      </p:sp>
    </p:spTree>
    <p:extLst>
      <p:ext uri="{BB962C8B-B14F-4D97-AF65-F5344CB8AC3E}">
        <p14:creationId xmlns:p14="http://schemas.microsoft.com/office/powerpoint/2010/main" val="33638142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990600" y="304800"/>
            <a:ext cx="7793038" cy="852488"/>
          </a:xfrm>
        </p:spPr>
        <p:txBody>
          <a:bodyPr>
            <a:noAutofit/>
          </a:bodyPr>
          <a:lstStyle/>
          <a:p>
            <a:r>
              <a:rPr lang="en-US" altLang="en-US" sz="3200" b="1" dirty="0">
                <a:latin typeface="Times New Roman" pitchFamily="18" charset="0"/>
                <a:cs typeface="Times New Roman" pitchFamily="18" charset="0"/>
              </a:rPr>
              <a:t>Example: Shortest path between </a:t>
            </a:r>
            <a:r>
              <a:rPr lang="en-US" altLang="en-US" sz="3200" b="1" dirty="0">
                <a:solidFill>
                  <a:srgbClr val="00B050"/>
                </a:solidFill>
                <a:latin typeface="Times New Roman" pitchFamily="18" charset="0"/>
                <a:cs typeface="Times New Roman" pitchFamily="18" charset="0"/>
              </a:rPr>
              <a:t>VIT Vellore Campus </a:t>
            </a:r>
            <a:r>
              <a:rPr lang="en-US" altLang="en-US" sz="3200" b="1" dirty="0">
                <a:latin typeface="Times New Roman" pitchFamily="18" charset="0"/>
                <a:cs typeface="Times New Roman" pitchFamily="18" charset="0"/>
              </a:rPr>
              <a:t>To </a:t>
            </a:r>
            <a:r>
              <a:rPr lang="en-US" altLang="en-US" sz="3200" b="1" dirty="0">
                <a:solidFill>
                  <a:srgbClr val="C00000"/>
                </a:solidFill>
                <a:latin typeface="Times New Roman" pitchFamily="18" charset="0"/>
                <a:cs typeface="Times New Roman" pitchFamily="18" charset="0"/>
              </a:rPr>
              <a:t>VIT Chennai Campus</a:t>
            </a:r>
            <a:endParaRPr lang="en-US" altLang="en-US" sz="3200" b="1" dirty="0">
              <a:latin typeface="Times New Roman" pitchFamily="18" charset="0"/>
              <a:cs typeface="Times New Roman" pitchFamily="18" charset="0"/>
            </a:endParaRPr>
          </a:p>
        </p:txBody>
      </p:sp>
      <p:sp>
        <p:nvSpPr>
          <p:cNvPr id="25603" name="Rectangle 3"/>
          <p:cNvSpPr>
            <a:spLocks noGrp="1" noChangeArrowheads="1"/>
          </p:cNvSpPr>
          <p:nvPr>
            <p:ph type="body" idx="1"/>
          </p:nvPr>
        </p:nvSpPr>
        <p:spPr/>
        <p:txBody>
          <a:bodyPr>
            <a:normAutofit lnSpcReduction="10000"/>
          </a:bodyPr>
          <a:lstStyle/>
          <a:p>
            <a:pPr marL="381000" indent="-381000" eaLnBrk="1" hangingPunct="1">
              <a:lnSpc>
                <a:spcPct val="80000"/>
              </a:lnSpc>
              <a:buFont typeface="Wingdings" pitchFamily="2" charset="2"/>
              <a:buNone/>
            </a:pPr>
            <a:r>
              <a:rPr lang="en-US" altLang="en-US" sz="2000" dirty="0">
                <a:latin typeface="Times New Roman" pitchFamily="18" charset="0"/>
                <a:cs typeface="Times New Roman" pitchFamily="18" charset="0"/>
              </a:rPr>
              <a:t>A </a:t>
            </a:r>
            <a:r>
              <a:rPr lang="en-US" altLang="en-US" sz="2000" dirty="0">
                <a:solidFill>
                  <a:srgbClr val="FF0000"/>
                </a:solidFill>
                <a:latin typeface="Times New Roman" pitchFamily="18" charset="0"/>
                <a:cs typeface="Times New Roman" pitchFamily="18" charset="0"/>
              </a:rPr>
              <a:t>problem</a:t>
            </a:r>
            <a:r>
              <a:rPr lang="en-US" altLang="en-US" sz="2000" dirty="0">
                <a:latin typeface="Times New Roman" pitchFamily="18" charset="0"/>
                <a:cs typeface="Times New Roman" pitchFamily="18" charset="0"/>
              </a:rPr>
              <a:t> is defined by four items:
</a:t>
            </a:r>
          </a:p>
          <a:p>
            <a:pPr marL="381000" indent="-381000" eaLnBrk="1" hangingPunct="1">
              <a:lnSpc>
                <a:spcPct val="80000"/>
              </a:lnSpc>
              <a:buFontTx/>
              <a:buAutoNum type="arabicPeriod"/>
            </a:pPr>
            <a:r>
              <a:rPr lang="en-US" altLang="en-US" sz="2000" dirty="0">
                <a:solidFill>
                  <a:srgbClr val="FF0000"/>
                </a:solidFill>
                <a:latin typeface="Times New Roman" pitchFamily="18" charset="0"/>
                <a:cs typeface="Times New Roman" pitchFamily="18" charset="0"/>
              </a:rPr>
              <a:t>Initial state </a:t>
            </a:r>
            <a:r>
              <a:rPr lang="en-US" altLang="en-US" sz="2000" dirty="0">
                <a:latin typeface="Times New Roman" pitchFamily="18" charset="0"/>
                <a:cs typeface="Times New Roman" pitchFamily="18" charset="0"/>
              </a:rPr>
              <a:t>e.g., "at </a:t>
            </a:r>
            <a:r>
              <a:rPr lang="en-US" altLang="en-US" sz="2000" dirty="0" err="1">
                <a:latin typeface="Times New Roman" pitchFamily="18" charset="0"/>
                <a:cs typeface="Times New Roman" pitchFamily="18" charset="0"/>
              </a:rPr>
              <a:t>Katpadi</a:t>
            </a:r>
            <a:r>
              <a:rPr lang="en-US" altLang="en-US" sz="2000" dirty="0">
                <a:latin typeface="Times New Roman" pitchFamily="18" charset="0"/>
                <a:cs typeface="Times New Roman" pitchFamily="18" charset="0"/>
              </a:rPr>
              <a:t>"</a:t>
            </a:r>
          </a:p>
          <a:p>
            <a:pPr marL="381000" indent="-381000" eaLnBrk="1" hangingPunct="1">
              <a:lnSpc>
                <a:spcPct val="80000"/>
              </a:lnSpc>
              <a:buFontTx/>
              <a:buAutoNum type="arabicPeriod"/>
            </a:pPr>
            <a:r>
              <a:rPr lang="en-US" altLang="en-US" sz="2000" dirty="0">
                <a:solidFill>
                  <a:srgbClr val="FF0000"/>
                </a:solidFill>
                <a:latin typeface="Times New Roman" pitchFamily="18" charset="0"/>
                <a:cs typeface="Times New Roman" pitchFamily="18" charset="0"/>
              </a:rPr>
              <a:t>Actions  </a:t>
            </a:r>
            <a:r>
              <a:rPr lang="en-US" altLang="en-US" sz="2000" dirty="0">
                <a:latin typeface="Times New Roman" pitchFamily="18" charset="0"/>
                <a:cs typeface="Times New Roman" pitchFamily="18" charset="0"/>
              </a:rPr>
              <a:t>ACTION</a:t>
            </a:r>
            <a:r>
              <a:rPr lang="en-US" altLang="en-US" sz="2000" i="1" dirty="0">
                <a:latin typeface="Times New Roman" pitchFamily="18" charset="0"/>
                <a:cs typeface="Times New Roman" pitchFamily="18" charset="0"/>
              </a:rPr>
              <a:t>S(x)</a:t>
            </a:r>
            <a:r>
              <a:rPr lang="en-US" altLang="en-US" sz="2000" dirty="0">
                <a:latin typeface="Times New Roman" pitchFamily="18" charset="0"/>
                <a:cs typeface="Times New Roman" pitchFamily="18" charset="0"/>
              </a:rPr>
              <a:t> = set of action–state pairs </a:t>
            </a:r>
          </a:p>
          <a:p>
            <a:pPr marL="800100" lvl="1" indent="-342900">
              <a:lnSpc>
                <a:spcPct val="80000"/>
              </a:lnSpc>
            </a:pPr>
            <a:r>
              <a:rPr lang="en-US" altLang="en-US" sz="1800" dirty="0">
                <a:latin typeface="Times New Roman" pitchFamily="18" charset="0"/>
                <a:cs typeface="Times New Roman" pitchFamily="18" charset="0"/>
              </a:rPr>
              <a:t>e.g., ACTION</a:t>
            </a:r>
            <a:r>
              <a:rPr lang="en-US" altLang="en-US" sz="1800" i="1" dirty="0">
                <a:latin typeface="Times New Roman" pitchFamily="18" charset="0"/>
                <a:cs typeface="Times New Roman" pitchFamily="18" charset="0"/>
              </a:rPr>
              <a:t>S(</a:t>
            </a:r>
            <a:r>
              <a:rPr lang="en-US" altLang="en-US" sz="1800" i="1" dirty="0" err="1">
                <a:latin typeface="Times New Roman" pitchFamily="18" charset="0"/>
                <a:cs typeface="Times New Roman" pitchFamily="18" charset="0"/>
              </a:rPr>
              <a:t>Katpadi</a:t>
            </a:r>
            <a:r>
              <a:rPr lang="en-US" altLang="en-US" sz="1800" i="1" dirty="0">
                <a:latin typeface="Times New Roman" pitchFamily="18" charset="0"/>
                <a:cs typeface="Times New Roman" pitchFamily="18" charset="0"/>
              </a:rPr>
              <a:t>) = </a:t>
            </a:r>
            <a:r>
              <a:rPr lang="en-US" altLang="en-US" sz="1800" dirty="0">
                <a:latin typeface="Times New Roman" pitchFamily="18" charset="0"/>
                <a:cs typeface="Times New Roman" pitchFamily="18" charset="0"/>
              </a:rPr>
              <a:t>{</a:t>
            </a:r>
            <a:r>
              <a:rPr lang="en-US" altLang="en-US" sz="1800" i="1" dirty="0" err="1">
                <a:latin typeface="Times New Roman" pitchFamily="18" charset="0"/>
                <a:cs typeface="Times New Roman" pitchFamily="18" charset="0"/>
              </a:rPr>
              <a:t>ToWallaja</a:t>
            </a:r>
            <a:r>
              <a:rPr lang="en-US" altLang="en-US" sz="1800" i="1" dirty="0">
                <a:latin typeface="Times New Roman" pitchFamily="18" charset="0"/>
                <a:cs typeface="Times New Roman" pitchFamily="18" charset="0"/>
              </a:rPr>
              <a:t> </a:t>
            </a:r>
            <a:r>
              <a:rPr lang="en-US" altLang="en-US" sz="1800" i="1" dirty="0">
                <a:latin typeface="Times New Roman" pitchFamily="18" charset="0"/>
                <a:cs typeface="Times New Roman" pitchFamily="18" charset="0"/>
                <a:sym typeface="Wingdings" pitchFamily="2" charset="2"/>
              </a:rPr>
              <a:t>,  </a:t>
            </a:r>
            <a:r>
              <a:rPr lang="en-US" altLang="en-US" sz="1800" i="1" dirty="0" err="1">
                <a:latin typeface="Times New Roman" pitchFamily="18" charset="0"/>
                <a:cs typeface="Times New Roman" pitchFamily="18" charset="0"/>
                <a:sym typeface="Wingdings" pitchFamily="2" charset="2"/>
              </a:rPr>
              <a:t>ToVellore</a:t>
            </a:r>
            <a:r>
              <a:rPr lang="en-US" altLang="en-US" sz="1800" i="1" dirty="0">
                <a:latin typeface="Times New Roman" pitchFamily="18" charset="0"/>
                <a:cs typeface="Times New Roman" pitchFamily="18" charset="0"/>
                <a:sym typeface="Wingdings" pitchFamily="2" charset="2"/>
              </a:rPr>
              <a:t>, </a:t>
            </a:r>
            <a:r>
              <a:rPr lang="en-US" altLang="en-US" sz="1800" i="1" dirty="0">
                <a:latin typeface="Times New Roman" pitchFamily="18" charset="0"/>
                <a:cs typeface="Times New Roman" pitchFamily="18" charset="0"/>
              </a:rPr>
              <a:t>&gt;, … </a:t>
            </a:r>
            <a:r>
              <a:rPr lang="en-US" altLang="en-US" sz="1800" dirty="0">
                <a:latin typeface="Times New Roman" pitchFamily="18" charset="0"/>
                <a:cs typeface="Times New Roman" pitchFamily="18" charset="0"/>
              </a:rPr>
              <a:t>}</a:t>
            </a:r>
          </a:p>
          <a:p>
            <a:pPr marL="800100" lvl="1" indent="-342900" eaLnBrk="1" hangingPunct="1">
              <a:lnSpc>
                <a:spcPct val="80000"/>
              </a:lnSpc>
              <a:buFont typeface="Wingdings" pitchFamily="2" charset="2"/>
              <a:buNone/>
            </a:pPr>
            <a:endParaRPr lang="en-US" altLang="en-US" sz="1800" dirty="0">
              <a:latin typeface="Times New Roman" pitchFamily="18" charset="0"/>
              <a:cs typeface="Times New Roman" pitchFamily="18" charset="0"/>
            </a:endParaRPr>
          </a:p>
          <a:p>
            <a:pPr marL="381000" indent="-381000" eaLnBrk="1" hangingPunct="1">
              <a:lnSpc>
                <a:spcPct val="80000"/>
              </a:lnSpc>
              <a:buFontTx/>
              <a:buAutoNum type="arabicPeriod"/>
            </a:pPr>
            <a:r>
              <a:rPr lang="en-US" altLang="en-US" sz="2000" dirty="0">
                <a:solidFill>
                  <a:srgbClr val="FF0000"/>
                </a:solidFill>
                <a:latin typeface="Times New Roman" pitchFamily="18" charset="0"/>
                <a:cs typeface="Times New Roman" pitchFamily="18" charset="0"/>
              </a:rPr>
              <a:t>Goal</a:t>
            </a:r>
            <a:r>
              <a:rPr lang="en-US" altLang="en-US" sz="2000" dirty="0">
                <a:solidFill>
                  <a:srgbClr val="CC0099"/>
                </a:solidFill>
                <a:latin typeface="Times New Roman" pitchFamily="18" charset="0"/>
                <a:cs typeface="Times New Roman" pitchFamily="18" charset="0"/>
              </a:rPr>
              <a:t> </a:t>
            </a:r>
            <a:r>
              <a:rPr lang="en-US" altLang="en-US" sz="2000" dirty="0">
                <a:latin typeface="Times New Roman" pitchFamily="18" charset="0"/>
                <a:cs typeface="Times New Roman" pitchFamily="18" charset="0"/>
              </a:rPr>
              <a:t>, can be</a:t>
            </a:r>
          </a:p>
          <a:p>
            <a:pPr marL="800100" lvl="1" indent="-342900" eaLnBrk="1" hangingPunct="1">
              <a:lnSpc>
                <a:spcPct val="80000"/>
              </a:lnSpc>
            </a:pPr>
            <a:r>
              <a:rPr lang="en-US" altLang="en-US" sz="1800" dirty="0">
                <a:solidFill>
                  <a:srgbClr val="FF0000"/>
                </a:solidFill>
                <a:latin typeface="Times New Roman" pitchFamily="18" charset="0"/>
                <a:cs typeface="Times New Roman" pitchFamily="18" charset="0"/>
              </a:rPr>
              <a:t>explicit</a:t>
            </a:r>
            <a:r>
              <a:rPr lang="en-US" altLang="en-US" sz="1800" dirty="0">
                <a:latin typeface="Times New Roman" pitchFamily="18" charset="0"/>
                <a:cs typeface="Times New Roman" pitchFamily="18" charset="0"/>
              </a:rPr>
              <a:t>, e.g., </a:t>
            </a:r>
            <a:r>
              <a:rPr lang="en-US" altLang="en-US" sz="1800" i="1" dirty="0">
                <a:latin typeface="Times New Roman" pitchFamily="18" charset="0"/>
                <a:cs typeface="Times New Roman" pitchFamily="18" charset="0"/>
              </a:rPr>
              <a:t>x </a:t>
            </a:r>
            <a:r>
              <a:rPr lang="en-US" altLang="en-US" sz="1800" dirty="0">
                <a:latin typeface="Times New Roman" pitchFamily="18" charset="0"/>
                <a:cs typeface="Times New Roman" pitchFamily="18" charset="0"/>
              </a:rPr>
              <a:t>= "at VIT Chennai"</a:t>
            </a:r>
          </a:p>
          <a:p>
            <a:pPr marL="800100" lvl="1" indent="-342900" eaLnBrk="1" hangingPunct="1">
              <a:lnSpc>
                <a:spcPct val="80000"/>
              </a:lnSpc>
            </a:pPr>
            <a:r>
              <a:rPr lang="en-US" altLang="en-US" sz="1800" dirty="0">
                <a:solidFill>
                  <a:srgbClr val="FF0000"/>
                </a:solidFill>
                <a:latin typeface="Times New Roman" pitchFamily="18" charset="0"/>
                <a:cs typeface="Times New Roman" pitchFamily="18" charset="0"/>
              </a:rPr>
              <a:t>implicit</a:t>
            </a:r>
            <a:r>
              <a:rPr lang="en-US" altLang="en-US" sz="1800" dirty="0">
                <a:latin typeface="Times New Roman" pitchFamily="18" charset="0"/>
                <a:cs typeface="Times New Roman" pitchFamily="18" charset="0"/>
              </a:rPr>
              <a:t>, e.g., Cross-Min no. of Toll-gate or Shortest path</a:t>
            </a:r>
            <a:r>
              <a:rPr lang="en-US" altLang="en-US" sz="1800" i="1" dirty="0">
                <a:latin typeface="Times New Roman" pitchFamily="18" charset="0"/>
                <a:cs typeface="Times New Roman" pitchFamily="18" charset="0"/>
              </a:rPr>
              <a:t>(x)</a:t>
            </a:r>
            <a:endParaRPr lang="en-US" altLang="en-US" sz="1800" dirty="0">
              <a:latin typeface="Times New Roman" pitchFamily="18" charset="0"/>
              <a:cs typeface="Times New Roman" pitchFamily="18" charset="0"/>
            </a:endParaRPr>
          </a:p>
          <a:p>
            <a:pPr marL="800100" lvl="1" indent="-342900" eaLnBrk="1" hangingPunct="1">
              <a:lnSpc>
                <a:spcPct val="80000"/>
              </a:lnSpc>
              <a:buFont typeface="Wingdings" pitchFamily="2" charset="2"/>
              <a:buNone/>
            </a:pPr>
            <a:endParaRPr lang="en-US" altLang="en-US" sz="1800" dirty="0">
              <a:latin typeface="Times New Roman" pitchFamily="18" charset="0"/>
              <a:cs typeface="Times New Roman" pitchFamily="18" charset="0"/>
            </a:endParaRPr>
          </a:p>
          <a:p>
            <a:pPr marL="381000" indent="-381000" eaLnBrk="1" hangingPunct="1">
              <a:lnSpc>
                <a:spcPct val="80000"/>
              </a:lnSpc>
              <a:buFontTx/>
              <a:buAutoNum type="arabicPeriod"/>
            </a:pPr>
            <a:r>
              <a:rPr lang="en-US" altLang="en-US" sz="2000" dirty="0">
                <a:solidFill>
                  <a:srgbClr val="FF0000"/>
                </a:solidFill>
                <a:latin typeface="Times New Roman" pitchFamily="18" charset="0"/>
                <a:cs typeface="Times New Roman" pitchFamily="18" charset="0"/>
              </a:rPr>
              <a:t>Action cost </a:t>
            </a:r>
            <a:r>
              <a:rPr lang="en-US" altLang="en-US" sz="2000" dirty="0">
                <a:latin typeface="Times New Roman" pitchFamily="18" charset="0"/>
                <a:cs typeface="Times New Roman" pitchFamily="18" charset="0"/>
              </a:rPr>
              <a:t>(additive)</a:t>
            </a:r>
          </a:p>
          <a:p>
            <a:pPr marL="800100" lvl="1" indent="-342900" eaLnBrk="1" hangingPunct="1">
              <a:lnSpc>
                <a:spcPct val="80000"/>
              </a:lnSpc>
            </a:pPr>
            <a:r>
              <a:rPr lang="en-US" altLang="en-US" sz="1800" dirty="0">
                <a:latin typeface="Times New Roman" pitchFamily="18" charset="0"/>
                <a:cs typeface="Times New Roman" pitchFamily="18" charset="0"/>
              </a:rPr>
              <a:t>e.g., sum of distances, number of actions executed, etc.</a:t>
            </a:r>
          </a:p>
          <a:p>
            <a:pPr marL="800100" lvl="1" indent="-342900" eaLnBrk="1" hangingPunct="1">
              <a:lnSpc>
                <a:spcPct val="80000"/>
              </a:lnSpc>
            </a:pPr>
            <a:r>
              <a:rPr lang="en-US" altLang="en-US" sz="1800" i="1" dirty="0">
                <a:latin typeface="Times New Roman" pitchFamily="18" charset="0"/>
                <a:cs typeface="Times New Roman" pitchFamily="18" charset="0"/>
              </a:rPr>
              <a:t>c(</a:t>
            </a:r>
            <a:r>
              <a:rPr lang="en-US" altLang="en-US" sz="1800" i="1" dirty="0" err="1">
                <a:latin typeface="Times New Roman" pitchFamily="18" charset="0"/>
                <a:cs typeface="Times New Roman" pitchFamily="18" charset="0"/>
              </a:rPr>
              <a:t>x,a,y</a:t>
            </a:r>
            <a:r>
              <a:rPr lang="en-US" altLang="en-US" sz="1800" i="1" dirty="0">
                <a:latin typeface="Times New Roman" pitchFamily="18" charset="0"/>
                <a:cs typeface="Times New Roman" pitchFamily="18" charset="0"/>
              </a:rPr>
              <a:t>) </a:t>
            </a:r>
            <a:r>
              <a:rPr lang="en-US" altLang="en-US" sz="1800" dirty="0">
                <a:latin typeface="Times New Roman" pitchFamily="18" charset="0"/>
                <a:cs typeface="Times New Roman" pitchFamily="18" charset="0"/>
              </a:rPr>
              <a:t>is the </a:t>
            </a:r>
            <a:r>
              <a:rPr lang="en-US" altLang="en-US" sz="1800" dirty="0">
                <a:solidFill>
                  <a:srgbClr val="FF0000"/>
                </a:solidFill>
                <a:latin typeface="Times New Roman" pitchFamily="18" charset="0"/>
                <a:cs typeface="Times New Roman" pitchFamily="18" charset="0"/>
              </a:rPr>
              <a:t>step cost</a:t>
            </a:r>
            <a:r>
              <a:rPr lang="en-US" altLang="en-US" sz="1800" dirty="0">
                <a:latin typeface="Times New Roman" pitchFamily="18" charset="0"/>
                <a:cs typeface="Times New Roman" pitchFamily="18" charset="0"/>
              </a:rPr>
              <a:t>, assumed to be ≥ 0</a:t>
            </a:r>
          </a:p>
          <a:p>
            <a:pPr marL="381000" indent="-381000" eaLnBrk="1" hangingPunct="1">
              <a:lnSpc>
                <a:spcPct val="80000"/>
              </a:lnSpc>
            </a:pPr>
            <a:endParaRPr lang="en-US" altLang="en-US" sz="2000" dirty="0">
              <a:latin typeface="Times New Roman" pitchFamily="18" charset="0"/>
              <a:cs typeface="Times New Roman" pitchFamily="18" charset="0"/>
            </a:endParaRPr>
          </a:p>
          <a:p>
            <a:pPr marL="381000" indent="-381000" eaLnBrk="1" hangingPunct="1">
              <a:lnSpc>
                <a:spcPct val="80000"/>
              </a:lnSpc>
            </a:pPr>
            <a:r>
              <a:rPr lang="en-US" altLang="en-US" sz="2000" dirty="0">
                <a:latin typeface="Times New Roman" pitchFamily="18" charset="0"/>
                <a:cs typeface="Times New Roman" pitchFamily="18" charset="0"/>
              </a:rPr>
              <a:t>A </a:t>
            </a:r>
            <a:r>
              <a:rPr lang="en-US" altLang="en-US" sz="2000" dirty="0">
                <a:solidFill>
                  <a:srgbClr val="FF0000"/>
                </a:solidFill>
                <a:latin typeface="Times New Roman" pitchFamily="18" charset="0"/>
                <a:cs typeface="Times New Roman" pitchFamily="18" charset="0"/>
              </a:rPr>
              <a:t>solution</a:t>
            </a:r>
            <a:r>
              <a:rPr lang="en-US" altLang="en-US" sz="2000" dirty="0">
                <a:latin typeface="Times New Roman" pitchFamily="18" charset="0"/>
                <a:cs typeface="Times New Roman" pitchFamily="18" charset="0"/>
              </a:rPr>
              <a:t> is a sequence of actions leading from the initial state to a goal state</a:t>
            </a:r>
          </a:p>
        </p:txBody>
      </p:sp>
    </p:spTree>
    <p:extLst>
      <p:ext uri="{BB962C8B-B14F-4D97-AF65-F5344CB8AC3E}">
        <p14:creationId xmlns:p14="http://schemas.microsoft.com/office/powerpoint/2010/main" val="11264746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en-US" altLang="en-US" b="1">
                <a:latin typeface="Georgia" pitchFamily="18" charset="0"/>
              </a:rPr>
              <a:t>Example: Cont…</a:t>
            </a:r>
          </a:p>
        </p:txBody>
      </p:sp>
      <p:pic>
        <p:nvPicPr>
          <p:cNvPr id="22531"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752600"/>
            <a:ext cx="8075613"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759733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Search Algorithms</a:t>
            </a:r>
            <a:br>
              <a:rPr lang="en-IN" dirty="0"/>
            </a:br>
            <a:endParaRPr lang="en-IN" dirty="0"/>
          </a:p>
        </p:txBody>
      </p:sp>
      <p:sp>
        <p:nvSpPr>
          <p:cNvPr id="3" name="Content Placeholder 2"/>
          <p:cNvSpPr>
            <a:spLocks noGrp="1"/>
          </p:cNvSpPr>
          <p:nvPr>
            <p:ph idx="1"/>
          </p:nvPr>
        </p:nvSpPr>
        <p:spPr/>
        <p:txBody>
          <a:bodyPr>
            <a:normAutofit fontScale="77500" lnSpcReduction="20000"/>
          </a:bodyPr>
          <a:lstStyle/>
          <a:p>
            <a:pPr>
              <a:lnSpc>
                <a:spcPct val="120000"/>
              </a:lnSpc>
            </a:pPr>
            <a:r>
              <a:rPr lang="en-IN" dirty="0"/>
              <a:t>A </a:t>
            </a:r>
            <a:r>
              <a:rPr lang="en-IN" b="1" dirty="0"/>
              <a:t>search algorithm </a:t>
            </a:r>
            <a:r>
              <a:rPr lang="en-IN" dirty="0"/>
              <a:t>takes a </a:t>
            </a:r>
            <a:r>
              <a:rPr lang="en-IN" dirty="0">
                <a:solidFill>
                  <a:srgbClr val="FF0000"/>
                </a:solidFill>
              </a:rPr>
              <a:t>search problem as input and returns a solution</a:t>
            </a:r>
            <a:r>
              <a:rPr lang="en-IN" dirty="0"/>
              <a:t>, or an indication of failure.</a:t>
            </a:r>
          </a:p>
          <a:p>
            <a:pPr>
              <a:lnSpc>
                <a:spcPct val="120000"/>
              </a:lnSpc>
            </a:pPr>
            <a:r>
              <a:rPr lang="en-IN" dirty="0"/>
              <a:t>Consider algorithms that superimpose </a:t>
            </a:r>
            <a:r>
              <a:rPr lang="en-IN" dirty="0">
                <a:solidFill>
                  <a:srgbClr val="FF0000"/>
                </a:solidFill>
              </a:rPr>
              <a:t>a </a:t>
            </a:r>
            <a:r>
              <a:rPr lang="en-IN" b="1" dirty="0">
                <a:solidFill>
                  <a:srgbClr val="FF0000"/>
                </a:solidFill>
              </a:rPr>
              <a:t>search tree </a:t>
            </a:r>
            <a:r>
              <a:rPr lang="en-IN" dirty="0">
                <a:solidFill>
                  <a:srgbClr val="FF0000"/>
                </a:solidFill>
              </a:rPr>
              <a:t>over the state-space graph, forming various paths from the initial state, trying to find a path</a:t>
            </a:r>
            <a:r>
              <a:rPr lang="en-IN" dirty="0"/>
              <a:t> that reaches a goal state. </a:t>
            </a:r>
          </a:p>
          <a:p>
            <a:pPr>
              <a:lnSpc>
                <a:spcPct val="120000"/>
              </a:lnSpc>
            </a:pPr>
            <a:r>
              <a:rPr lang="en-IN" dirty="0"/>
              <a:t>Each </a:t>
            </a:r>
            <a:r>
              <a:rPr lang="en-IN" b="1" dirty="0"/>
              <a:t>node </a:t>
            </a:r>
            <a:r>
              <a:rPr lang="en-IN" dirty="0"/>
              <a:t>in the search tree corresponds to a state in the state space and the edges in the search tree correspond to actions. </a:t>
            </a:r>
          </a:p>
          <a:p>
            <a:pPr>
              <a:lnSpc>
                <a:spcPct val="120000"/>
              </a:lnSpc>
            </a:pPr>
            <a:r>
              <a:rPr lang="en-IN" dirty="0"/>
              <a:t>The root of the tree corresponds to the initial state of the problem.</a:t>
            </a:r>
          </a:p>
        </p:txBody>
      </p:sp>
    </p:spTree>
    <p:extLst>
      <p:ext uri="{BB962C8B-B14F-4D97-AF65-F5344CB8AC3E}">
        <p14:creationId xmlns:p14="http://schemas.microsoft.com/office/powerpoint/2010/main" val="40688520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IN" dirty="0"/>
            </a:br>
            <a:r>
              <a:rPr lang="en-IN" dirty="0"/>
              <a:t>Search Algorithms</a:t>
            </a:r>
            <a:br>
              <a:rPr lang="en-IN" dirty="0"/>
            </a:br>
            <a:endParaRPr lang="en-IN" dirty="0"/>
          </a:p>
        </p:txBody>
      </p:sp>
      <p:sp>
        <p:nvSpPr>
          <p:cNvPr id="3" name="Content Placeholder 2"/>
          <p:cNvSpPr>
            <a:spLocks noGrp="1"/>
          </p:cNvSpPr>
          <p:nvPr>
            <p:ph idx="1"/>
          </p:nvPr>
        </p:nvSpPr>
        <p:spPr/>
        <p:txBody>
          <a:bodyPr>
            <a:normAutofit fontScale="92500"/>
          </a:bodyPr>
          <a:lstStyle/>
          <a:p>
            <a:r>
              <a:rPr lang="en-IN" dirty="0"/>
              <a:t>The </a:t>
            </a:r>
            <a:r>
              <a:rPr lang="en-IN" dirty="0">
                <a:solidFill>
                  <a:srgbClr val="FF0000"/>
                </a:solidFill>
              </a:rPr>
              <a:t>state space </a:t>
            </a:r>
            <a:r>
              <a:rPr lang="en-IN" dirty="0"/>
              <a:t>describes the (possibly infinite) set of states in the world, and the actions that allow transitions from one state to another. </a:t>
            </a:r>
          </a:p>
          <a:p>
            <a:r>
              <a:rPr lang="en-IN" dirty="0"/>
              <a:t>The </a:t>
            </a:r>
            <a:r>
              <a:rPr lang="en-IN" dirty="0">
                <a:solidFill>
                  <a:srgbClr val="FF0000"/>
                </a:solidFill>
              </a:rPr>
              <a:t>search tree describes paths </a:t>
            </a:r>
            <a:r>
              <a:rPr lang="en-IN" dirty="0"/>
              <a:t>between these states, reaching towards the goal. </a:t>
            </a:r>
          </a:p>
          <a:p>
            <a:r>
              <a:rPr lang="en-IN" dirty="0"/>
              <a:t>The search tree may have multiple paths to (and thus multiple nodes for) any given state, but each node in the tree has a unique path back to the root.</a:t>
            </a:r>
          </a:p>
        </p:txBody>
      </p:sp>
    </p:spTree>
    <p:extLst>
      <p:ext uri="{BB962C8B-B14F-4D97-AF65-F5344CB8AC3E}">
        <p14:creationId xmlns:p14="http://schemas.microsoft.com/office/powerpoint/2010/main" val="9950233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IN" dirty="0"/>
            </a:br>
            <a:r>
              <a:rPr lang="en-IN" dirty="0"/>
              <a:t>Search Algorithms</a:t>
            </a:r>
            <a:br>
              <a:rPr lang="en-IN" dirty="0"/>
            </a:br>
            <a:endParaRPr lang="en-IN" dirty="0"/>
          </a:p>
        </p:txBody>
      </p:sp>
      <p:sp>
        <p:nvSpPr>
          <p:cNvPr id="3" name="Content Placeholder 2"/>
          <p:cNvSpPr>
            <a:spLocks noGrp="1"/>
          </p:cNvSpPr>
          <p:nvPr>
            <p:ph idx="1"/>
          </p:nvPr>
        </p:nvSpPr>
        <p:spPr/>
        <p:txBody>
          <a:bodyPr/>
          <a:lstStyle/>
          <a:p>
            <a:r>
              <a:rPr lang="en-IN" dirty="0"/>
              <a:t>Steps in finding a path from Arad to Bucharest. </a:t>
            </a:r>
          </a:p>
          <a:p>
            <a:pPr lvl="1"/>
            <a:r>
              <a:rPr lang="en-IN" dirty="0"/>
              <a:t>The root node of the search tree is at the initial state, </a:t>
            </a:r>
            <a:r>
              <a:rPr lang="en-IN" i="1" dirty="0"/>
              <a:t>Arad</a:t>
            </a:r>
            <a:r>
              <a:rPr lang="en-IN" dirty="0"/>
              <a:t>. </a:t>
            </a:r>
          </a:p>
          <a:p>
            <a:pPr lvl="1"/>
            <a:r>
              <a:rPr lang="en-IN" dirty="0"/>
              <a:t>We can </a:t>
            </a:r>
            <a:r>
              <a:rPr lang="en-IN" b="1" dirty="0"/>
              <a:t>expand </a:t>
            </a:r>
            <a:r>
              <a:rPr lang="en-IN" dirty="0"/>
              <a:t>the node, by considering the available ACTIONS for that state, using the RESULT function to see where those actions lead</a:t>
            </a:r>
          </a:p>
        </p:txBody>
      </p:sp>
    </p:spTree>
    <p:extLst>
      <p:ext uri="{BB962C8B-B14F-4D97-AF65-F5344CB8AC3E}">
        <p14:creationId xmlns:p14="http://schemas.microsoft.com/office/powerpoint/2010/main" val="5064154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IN" dirty="0"/>
            </a:br>
            <a:r>
              <a:rPr lang="en-IN" dirty="0"/>
              <a:t>Search Algorithms</a:t>
            </a:r>
            <a:br>
              <a:rPr lang="en-IN" dirty="0"/>
            </a:br>
            <a:endParaRPr lang="en-IN" dirty="0"/>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300179" y="1600200"/>
            <a:ext cx="4543642" cy="45259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568568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Search data structures</a:t>
            </a:r>
          </a:p>
        </p:txBody>
      </p:sp>
      <p:sp>
        <p:nvSpPr>
          <p:cNvPr id="3" name="Content Placeholder 2"/>
          <p:cNvSpPr>
            <a:spLocks noGrp="1"/>
          </p:cNvSpPr>
          <p:nvPr>
            <p:ph idx="1"/>
          </p:nvPr>
        </p:nvSpPr>
        <p:spPr/>
        <p:txBody>
          <a:bodyPr>
            <a:normAutofit fontScale="92500" lnSpcReduction="10000"/>
          </a:bodyPr>
          <a:lstStyle/>
          <a:p>
            <a:r>
              <a:rPr lang="en-IN" sz="2400" dirty="0"/>
              <a:t>Search algorithms require a data structure to keep track of the search tree. </a:t>
            </a:r>
          </a:p>
          <a:p>
            <a:r>
              <a:rPr lang="en-IN" sz="2400" dirty="0"/>
              <a:t>A </a:t>
            </a:r>
            <a:r>
              <a:rPr lang="en-IN" sz="2400" b="1" dirty="0"/>
              <a:t>node </a:t>
            </a:r>
            <a:r>
              <a:rPr lang="en-IN" sz="2400" dirty="0"/>
              <a:t>in the tree is represented by a data structure with four components:</a:t>
            </a:r>
          </a:p>
          <a:p>
            <a:pPr lvl="1"/>
            <a:r>
              <a:rPr lang="en-IN" sz="2000" i="1" dirty="0" err="1">
                <a:solidFill>
                  <a:srgbClr val="FF0000"/>
                </a:solidFill>
              </a:rPr>
              <a:t>node</a:t>
            </a:r>
            <a:r>
              <a:rPr lang="en-IN" sz="2000" dirty="0" err="1">
                <a:solidFill>
                  <a:srgbClr val="FF0000"/>
                </a:solidFill>
              </a:rPr>
              <a:t>.STATE</a:t>
            </a:r>
            <a:r>
              <a:rPr lang="en-IN" sz="2000" dirty="0"/>
              <a:t>: the state to which the node corresponds;</a:t>
            </a:r>
          </a:p>
          <a:p>
            <a:pPr lvl="1"/>
            <a:r>
              <a:rPr lang="en-IN" sz="2000" i="1" dirty="0" err="1">
                <a:solidFill>
                  <a:srgbClr val="FF0000"/>
                </a:solidFill>
              </a:rPr>
              <a:t>node</a:t>
            </a:r>
            <a:r>
              <a:rPr lang="en-IN" sz="2000" dirty="0" err="1">
                <a:solidFill>
                  <a:srgbClr val="FF0000"/>
                </a:solidFill>
              </a:rPr>
              <a:t>.PARENT</a:t>
            </a:r>
            <a:r>
              <a:rPr lang="en-IN" sz="2000" dirty="0">
                <a:solidFill>
                  <a:srgbClr val="FF0000"/>
                </a:solidFill>
              </a:rPr>
              <a:t>:</a:t>
            </a:r>
            <a:r>
              <a:rPr lang="en-IN" sz="2000" dirty="0"/>
              <a:t> the node in the tree that generated this node;</a:t>
            </a:r>
          </a:p>
          <a:p>
            <a:pPr lvl="1"/>
            <a:r>
              <a:rPr lang="en-IN" sz="2000" i="1" dirty="0" err="1">
                <a:solidFill>
                  <a:srgbClr val="FF0000"/>
                </a:solidFill>
              </a:rPr>
              <a:t>node</a:t>
            </a:r>
            <a:r>
              <a:rPr lang="en-IN" sz="2000" dirty="0" err="1">
                <a:solidFill>
                  <a:srgbClr val="FF0000"/>
                </a:solidFill>
              </a:rPr>
              <a:t>.ACTION</a:t>
            </a:r>
            <a:r>
              <a:rPr lang="en-IN" sz="2000" dirty="0">
                <a:solidFill>
                  <a:srgbClr val="FF0000"/>
                </a:solidFill>
              </a:rPr>
              <a:t>:</a:t>
            </a:r>
            <a:r>
              <a:rPr lang="en-IN" sz="2000" dirty="0"/>
              <a:t> the action that was applied to the parent’s state to generate this node;</a:t>
            </a:r>
          </a:p>
          <a:p>
            <a:pPr lvl="1"/>
            <a:r>
              <a:rPr lang="en-IN" sz="2000" i="1" dirty="0" err="1">
                <a:solidFill>
                  <a:srgbClr val="FF0000"/>
                </a:solidFill>
              </a:rPr>
              <a:t>node</a:t>
            </a:r>
            <a:r>
              <a:rPr lang="en-IN" sz="2000" dirty="0" err="1">
                <a:solidFill>
                  <a:srgbClr val="FF0000"/>
                </a:solidFill>
              </a:rPr>
              <a:t>.PATH</a:t>
            </a:r>
            <a:r>
              <a:rPr lang="en-IN" sz="2000" dirty="0">
                <a:solidFill>
                  <a:srgbClr val="FF0000"/>
                </a:solidFill>
              </a:rPr>
              <a:t>-COST</a:t>
            </a:r>
            <a:r>
              <a:rPr lang="en-IN" sz="2000" dirty="0"/>
              <a:t>: the total cost of the path from the initial state to this node. </a:t>
            </a:r>
          </a:p>
          <a:p>
            <a:r>
              <a:rPr lang="en-IN" sz="2400" dirty="0">
                <a:solidFill>
                  <a:srgbClr val="FF0000"/>
                </a:solidFill>
              </a:rPr>
              <a:t>Following the PARENT pointers back from a node allows us to recover the states and actions along the path to that node. </a:t>
            </a:r>
          </a:p>
          <a:p>
            <a:pPr lvl="1"/>
            <a:r>
              <a:rPr lang="en-IN" sz="2000" dirty="0"/>
              <a:t>Doing this from a goal node gives us the solution.</a:t>
            </a:r>
          </a:p>
        </p:txBody>
      </p:sp>
    </p:spTree>
    <p:extLst>
      <p:ext uri="{BB962C8B-B14F-4D97-AF65-F5344CB8AC3E}">
        <p14:creationId xmlns:p14="http://schemas.microsoft.com/office/powerpoint/2010/main" val="29073084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Search data structures</a:t>
            </a:r>
          </a:p>
        </p:txBody>
      </p:sp>
      <p:sp>
        <p:nvSpPr>
          <p:cNvPr id="3" name="Content Placeholder 2"/>
          <p:cNvSpPr>
            <a:spLocks noGrp="1"/>
          </p:cNvSpPr>
          <p:nvPr>
            <p:ph idx="1"/>
          </p:nvPr>
        </p:nvSpPr>
        <p:spPr/>
        <p:txBody>
          <a:bodyPr>
            <a:normAutofit fontScale="92500" lnSpcReduction="10000"/>
          </a:bodyPr>
          <a:lstStyle/>
          <a:p>
            <a:r>
              <a:rPr lang="en-IN" dirty="0"/>
              <a:t>We need a data structure to store the </a:t>
            </a:r>
            <a:r>
              <a:rPr lang="en-IN" b="1" dirty="0"/>
              <a:t>frontier</a:t>
            </a:r>
            <a:r>
              <a:rPr lang="en-IN" dirty="0"/>
              <a:t>. The appropriate choice is a </a:t>
            </a:r>
            <a:r>
              <a:rPr lang="en-IN" b="1" dirty="0"/>
              <a:t>queue </a:t>
            </a:r>
            <a:r>
              <a:rPr lang="en-IN" dirty="0"/>
              <a:t>of some kind, because the operations on a frontier are:</a:t>
            </a:r>
          </a:p>
          <a:p>
            <a:pPr lvl="1"/>
            <a:r>
              <a:rPr lang="en-IN" dirty="0">
                <a:solidFill>
                  <a:srgbClr val="FF0000"/>
                </a:solidFill>
              </a:rPr>
              <a:t>IS-EMPTY(</a:t>
            </a:r>
            <a:r>
              <a:rPr lang="en-IN" i="1" dirty="0">
                <a:solidFill>
                  <a:srgbClr val="FF0000"/>
                </a:solidFill>
              </a:rPr>
              <a:t>frontier</a:t>
            </a:r>
            <a:r>
              <a:rPr lang="en-IN" dirty="0">
                <a:solidFill>
                  <a:srgbClr val="FF0000"/>
                </a:solidFill>
              </a:rPr>
              <a:t>)</a:t>
            </a:r>
            <a:r>
              <a:rPr lang="en-IN" dirty="0"/>
              <a:t> returns true only if there are no nodes in the frontier.</a:t>
            </a:r>
          </a:p>
          <a:p>
            <a:pPr lvl="1"/>
            <a:r>
              <a:rPr lang="en-IN" dirty="0">
                <a:solidFill>
                  <a:srgbClr val="FF0000"/>
                </a:solidFill>
              </a:rPr>
              <a:t>POP(</a:t>
            </a:r>
            <a:r>
              <a:rPr lang="en-IN" i="1" dirty="0">
                <a:solidFill>
                  <a:srgbClr val="FF0000"/>
                </a:solidFill>
              </a:rPr>
              <a:t>frontier</a:t>
            </a:r>
            <a:r>
              <a:rPr lang="en-IN" dirty="0">
                <a:solidFill>
                  <a:srgbClr val="FF0000"/>
                </a:solidFill>
              </a:rPr>
              <a:t>)</a:t>
            </a:r>
            <a:r>
              <a:rPr lang="en-IN" dirty="0"/>
              <a:t> removes the top node from the frontier and returns it.</a:t>
            </a:r>
          </a:p>
          <a:p>
            <a:pPr lvl="1"/>
            <a:r>
              <a:rPr lang="en-IN" dirty="0">
                <a:solidFill>
                  <a:srgbClr val="FF0000"/>
                </a:solidFill>
              </a:rPr>
              <a:t>TOP(</a:t>
            </a:r>
            <a:r>
              <a:rPr lang="en-IN" i="1" dirty="0">
                <a:solidFill>
                  <a:srgbClr val="FF0000"/>
                </a:solidFill>
              </a:rPr>
              <a:t>frontier</a:t>
            </a:r>
            <a:r>
              <a:rPr lang="en-IN" dirty="0">
                <a:solidFill>
                  <a:srgbClr val="FF0000"/>
                </a:solidFill>
              </a:rPr>
              <a:t>)</a:t>
            </a:r>
            <a:r>
              <a:rPr lang="en-IN" dirty="0"/>
              <a:t> returns (but does not remove) the top node of the frontier.</a:t>
            </a:r>
          </a:p>
          <a:p>
            <a:pPr lvl="1"/>
            <a:r>
              <a:rPr lang="en-IN" dirty="0">
                <a:solidFill>
                  <a:srgbClr val="FF0000"/>
                </a:solidFill>
              </a:rPr>
              <a:t>ADD(</a:t>
            </a:r>
            <a:r>
              <a:rPr lang="en-IN" i="1" dirty="0">
                <a:solidFill>
                  <a:srgbClr val="FF0000"/>
                </a:solidFill>
              </a:rPr>
              <a:t>node, frontier</a:t>
            </a:r>
            <a:r>
              <a:rPr lang="en-IN" dirty="0">
                <a:solidFill>
                  <a:srgbClr val="FF0000"/>
                </a:solidFill>
              </a:rPr>
              <a:t>) </a:t>
            </a:r>
            <a:r>
              <a:rPr lang="en-IN" dirty="0"/>
              <a:t>inserts node into its proper place in the queue.</a:t>
            </a:r>
          </a:p>
        </p:txBody>
      </p:sp>
    </p:spTree>
    <p:extLst>
      <p:ext uri="{BB962C8B-B14F-4D97-AF65-F5344CB8AC3E}">
        <p14:creationId xmlns:p14="http://schemas.microsoft.com/office/powerpoint/2010/main" val="41193986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Search data structures</a:t>
            </a:r>
          </a:p>
        </p:txBody>
      </p:sp>
      <p:sp>
        <p:nvSpPr>
          <p:cNvPr id="3" name="Content Placeholder 2"/>
          <p:cNvSpPr>
            <a:spLocks noGrp="1"/>
          </p:cNvSpPr>
          <p:nvPr>
            <p:ph idx="1"/>
          </p:nvPr>
        </p:nvSpPr>
        <p:spPr/>
        <p:txBody>
          <a:bodyPr>
            <a:normAutofit fontScale="92500" lnSpcReduction="10000"/>
          </a:bodyPr>
          <a:lstStyle/>
          <a:p>
            <a:r>
              <a:rPr lang="en-IN" dirty="0"/>
              <a:t>Three kinds of queues are used in search algorithms:</a:t>
            </a:r>
          </a:p>
          <a:p>
            <a:pPr lvl="1"/>
            <a:r>
              <a:rPr lang="en-IN" dirty="0"/>
              <a:t>A </a:t>
            </a:r>
            <a:r>
              <a:rPr lang="en-IN" b="1" dirty="0">
                <a:solidFill>
                  <a:srgbClr val="FF0000"/>
                </a:solidFill>
              </a:rPr>
              <a:t>Priority queue</a:t>
            </a:r>
            <a:r>
              <a:rPr lang="en-IN" b="1" dirty="0"/>
              <a:t> </a:t>
            </a:r>
            <a:r>
              <a:rPr lang="en-IN" dirty="0"/>
              <a:t>first pops the node with the minimum cost according to some evaluation function, It is used in best-first search.</a:t>
            </a:r>
          </a:p>
          <a:p>
            <a:pPr lvl="1"/>
            <a:r>
              <a:rPr lang="en-IN" dirty="0"/>
              <a:t>A </a:t>
            </a:r>
            <a:r>
              <a:rPr lang="en-IN" b="1" dirty="0">
                <a:solidFill>
                  <a:srgbClr val="FF0000"/>
                </a:solidFill>
              </a:rPr>
              <a:t>FIFO queue </a:t>
            </a:r>
            <a:r>
              <a:rPr lang="en-IN" dirty="0"/>
              <a:t>or first-in-first-out queue first pops the node that was added to the queue first; we shall see it is used in breadth-first search.</a:t>
            </a:r>
          </a:p>
          <a:p>
            <a:pPr lvl="1"/>
            <a:r>
              <a:rPr lang="en-IN" dirty="0"/>
              <a:t>A </a:t>
            </a:r>
            <a:r>
              <a:rPr lang="en-IN" b="1" dirty="0">
                <a:solidFill>
                  <a:srgbClr val="FF0000"/>
                </a:solidFill>
              </a:rPr>
              <a:t>LIFO queue</a:t>
            </a:r>
            <a:r>
              <a:rPr lang="en-IN" b="1" dirty="0"/>
              <a:t> </a:t>
            </a:r>
            <a:r>
              <a:rPr lang="en-IN" dirty="0"/>
              <a:t>or last-in-first-out queue (also known as a </a:t>
            </a:r>
            <a:r>
              <a:rPr lang="en-IN" b="1" dirty="0"/>
              <a:t>stack</a:t>
            </a:r>
            <a:r>
              <a:rPr lang="en-IN" dirty="0"/>
              <a:t>) pops first the most recently added node; we shall see it is used in depth-first search.</a:t>
            </a:r>
          </a:p>
        </p:txBody>
      </p:sp>
    </p:spTree>
    <p:extLst>
      <p:ext uri="{BB962C8B-B14F-4D97-AF65-F5344CB8AC3E}">
        <p14:creationId xmlns:p14="http://schemas.microsoft.com/office/powerpoint/2010/main" val="304735913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Measuring problem-solving performance</a:t>
            </a:r>
          </a:p>
        </p:txBody>
      </p:sp>
      <p:sp>
        <p:nvSpPr>
          <p:cNvPr id="3" name="Content Placeholder 2"/>
          <p:cNvSpPr>
            <a:spLocks noGrp="1"/>
          </p:cNvSpPr>
          <p:nvPr>
            <p:ph idx="1"/>
          </p:nvPr>
        </p:nvSpPr>
        <p:spPr/>
        <p:txBody>
          <a:bodyPr>
            <a:normAutofit fontScale="62500" lnSpcReduction="20000"/>
          </a:bodyPr>
          <a:lstStyle/>
          <a:p>
            <a:pPr>
              <a:lnSpc>
                <a:spcPct val="120000"/>
              </a:lnSpc>
            </a:pPr>
            <a:r>
              <a:rPr lang="en-IN" dirty="0"/>
              <a:t>Criteria used to choose among the various search algorithms : We can evaluate an algorithm’s performance in four ways:</a:t>
            </a:r>
          </a:p>
          <a:p>
            <a:pPr lvl="1">
              <a:lnSpc>
                <a:spcPct val="120000"/>
              </a:lnSpc>
            </a:pPr>
            <a:r>
              <a:rPr lang="en-IN" b="1" dirty="0">
                <a:solidFill>
                  <a:srgbClr val="FF0000"/>
                </a:solidFill>
              </a:rPr>
              <a:t>COMPLETENESS</a:t>
            </a:r>
            <a:r>
              <a:rPr lang="en-IN" b="1" dirty="0"/>
              <a:t>: </a:t>
            </a:r>
            <a:r>
              <a:rPr lang="en-IN" dirty="0"/>
              <a:t>Is the algorithm </a:t>
            </a:r>
            <a:r>
              <a:rPr lang="en-IN" b="1" dirty="0">
                <a:solidFill>
                  <a:srgbClr val="00B050"/>
                </a:solidFill>
              </a:rPr>
              <a:t>guaranteed to find a solution </a:t>
            </a:r>
            <a:r>
              <a:rPr lang="en-IN" dirty="0"/>
              <a:t>when there is one, and to correctly report failure when there is not?</a:t>
            </a:r>
          </a:p>
          <a:p>
            <a:pPr lvl="1">
              <a:lnSpc>
                <a:spcPct val="120000"/>
              </a:lnSpc>
            </a:pPr>
            <a:r>
              <a:rPr lang="en-IN" b="1" dirty="0">
                <a:solidFill>
                  <a:srgbClr val="FF0000"/>
                </a:solidFill>
              </a:rPr>
              <a:t>COST</a:t>
            </a:r>
            <a:r>
              <a:rPr lang="en-IN" b="1" dirty="0"/>
              <a:t> </a:t>
            </a:r>
            <a:r>
              <a:rPr lang="en-IN" b="1" dirty="0">
                <a:solidFill>
                  <a:srgbClr val="FF0000"/>
                </a:solidFill>
              </a:rPr>
              <a:t>OPTIMALITY</a:t>
            </a:r>
            <a:r>
              <a:rPr lang="en-IN" b="1" dirty="0"/>
              <a:t>: </a:t>
            </a:r>
            <a:r>
              <a:rPr lang="en-IN" dirty="0"/>
              <a:t>Does it find a solution with </a:t>
            </a:r>
            <a:r>
              <a:rPr lang="en-IN" b="1" dirty="0">
                <a:solidFill>
                  <a:srgbClr val="00B050"/>
                </a:solidFill>
              </a:rPr>
              <a:t>the lowest path cost </a:t>
            </a:r>
            <a:r>
              <a:rPr lang="en-IN" dirty="0"/>
              <a:t>of all solutions?</a:t>
            </a:r>
          </a:p>
          <a:p>
            <a:pPr lvl="2">
              <a:lnSpc>
                <a:spcPct val="120000"/>
              </a:lnSpc>
            </a:pPr>
            <a:r>
              <a:rPr lang="en-IN" dirty="0"/>
              <a:t>Some authors use the term “</a:t>
            </a:r>
            <a:r>
              <a:rPr lang="en-IN" b="1" dirty="0">
                <a:solidFill>
                  <a:srgbClr val="00B050"/>
                </a:solidFill>
              </a:rPr>
              <a:t>admissibility</a:t>
            </a:r>
            <a:r>
              <a:rPr lang="en-IN" dirty="0"/>
              <a:t>” for the property of finding the lowest-cost solution, and some use just “optimality,” but that can be confused with other types of optimality.</a:t>
            </a:r>
          </a:p>
          <a:p>
            <a:pPr lvl="1" algn="just">
              <a:lnSpc>
                <a:spcPct val="120000"/>
              </a:lnSpc>
            </a:pPr>
            <a:r>
              <a:rPr lang="en-IN" b="1" dirty="0">
                <a:solidFill>
                  <a:srgbClr val="FF0000"/>
                </a:solidFill>
              </a:rPr>
              <a:t>TIME</a:t>
            </a:r>
            <a:r>
              <a:rPr lang="en-IN" b="1" dirty="0"/>
              <a:t> </a:t>
            </a:r>
            <a:r>
              <a:rPr lang="en-IN" b="1" dirty="0">
                <a:solidFill>
                  <a:srgbClr val="FF0000"/>
                </a:solidFill>
              </a:rPr>
              <a:t>COMPLEXITY</a:t>
            </a:r>
            <a:r>
              <a:rPr lang="en-IN" b="1" dirty="0"/>
              <a:t>: </a:t>
            </a:r>
            <a:r>
              <a:rPr lang="en-IN" dirty="0"/>
              <a:t>How long does it take to find a solution? This can be measured in seconds, or more abstractly by the number of states and actions considered.</a:t>
            </a:r>
          </a:p>
          <a:p>
            <a:pPr lvl="1">
              <a:lnSpc>
                <a:spcPct val="120000"/>
              </a:lnSpc>
            </a:pPr>
            <a:r>
              <a:rPr lang="en-IN" b="1" dirty="0">
                <a:solidFill>
                  <a:srgbClr val="FF0000"/>
                </a:solidFill>
              </a:rPr>
              <a:t>SPACE</a:t>
            </a:r>
            <a:r>
              <a:rPr lang="en-IN" b="1" dirty="0"/>
              <a:t> </a:t>
            </a:r>
            <a:r>
              <a:rPr lang="en-IN" b="1" dirty="0">
                <a:solidFill>
                  <a:srgbClr val="FF0000"/>
                </a:solidFill>
              </a:rPr>
              <a:t>COMPLEXITY</a:t>
            </a:r>
            <a:r>
              <a:rPr lang="en-IN" b="1" dirty="0"/>
              <a:t>: </a:t>
            </a:r>
            <a:r>
              <a:rPr lang="en-IN" dirty="0"/>
              <a:t>How much memory is needed to perform the search?</a:t>
            </a:r>
          </a:p>
        </p:txBody>
      </p:sp>
    </p:spTree>
    <p:extLst>
      <p:ext uri="{BB962C8B-B14F-4D97-AF65-F5344CB8AC3E}">
        <p14:creationId xmlns:p14="http://schemas.microsoft.com/office/powerpoint/2010/main" val="18803443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Measuring problem-solving performance</a:t>
            </a:r>
          </a:p>
        </p:txBody>
      </p:sp>
      <p:sp>
        <p:nvSpPr>
          <p:cNvPr id="3" name="Content Placeholder 2"/>
          <p:cNvSpPr>
            <a:spLocks noGrp="1"/>
          </p:cNvSpPr>
          <p:nvPr>
            <p:ph idx="1"/>
          </p:nvPr>
        </p:nvSpPr>
        <p:spPr/>
        <p:txBody>
          <a:bodyPr>
            <a:noAutofit/>
          </a:bodyPr>
          <a:lstStyle/>
          <a:p>
            <a:pPr marL="0" indent="0">
              <a:lnSpc>
                <a:spcPct val="120000"/>
              </a:lnSpc>
              <a:buNone/>
            </a:pPr>
            <a:r>
              <a:rPr lang="en-IN" sz="2000" dirty="0">
                <a:solidFill>
                  <a:srgbClr val="FF0000"/>
                </a:solidFill>
              </a:rPr>
              <a:t>Completeness:</a:t>
            </a:r>
          </a:p>
          <a:p>
            <a:pPr>
              <a:lnSpc>
                <a:spcPct val="120000"/>
              </a:lnSpc>
            </a:pPr>
            <a:r>
              <a:rPr lang="en-IN" sz="2000" dirty="0"/>
              <a:t>Consider a search problem with a single goal. </a:t>
            </a:r>
          </a:p>
          <a:p>
            <a:pPr lvl="1">
              <a:lnSpc>
                <a:spcPct val="120000"/>
              </a:lnSpc>
            </a:pPr>
            <a:r>
              <a:rPr lang="en-IN" sz="1600" dirty="0"/>
              <a:t>That goal could be anywhere in the state space;  therefore a complete algorithm must be capable of systematically exploring every state that is reachable from the initial state. </a:t>
            </a:r>
          </a:p>
          <a:p>
            <a:pPr algn="just">
              <a:lnSpc>
                <a:spcPct val="120000"/>
              </a:lnSpc>
            </a:pPr>
            <a:r>
              <a:rPr lang="en-IN" sz="2000" dirty="0"/>
              <a:t>In finite state spaces that is straightforward to achieve: as long as we keep track of paths and cut off ones that are cycles (e.g. Arad to Sibiu to Arad), eventually we will reach every reachable state.</a:t>
            </a:r>
          </a:p>
          <a:p>
            <a:pPr>
              <a:lnSpc>
                <a:spcPct val="120000"/>
              </a:lnSpc>
            </a:pPr>
            <a:endParaRPr lang="en-IN" sz="1800" i="1" dirty="0"/>
          </a:p>
        </p:txBody>
      </p:sp>
    </p:spTree>
    <p:extLst>
      <p:ext uri="{BB962C8B-B14F-4D97-AF65-F5344CB8AC3E}">
        <p14:creationId xmlns:p14="http://schemas.microsoft.com/office/powerpoint/2010/main" val="11195698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Measuring problem-solving performance</a:t>
            </a:r>
          </a:p>
        </p:txBody>
      </p:sp>
      <p:sp>
        <p:nvSpPr>
          <p:cNvPr id="3" name="Content Placeholder 2"/>
          <p:cNvSpPr>
            <a:spLocks noGrp="1"/>
          </p:cNvSpPr>
          <p:nvPr>
            <p:ph idx="1"/>
          </p:nvPr>
        </p:nvSpPr>
        <p:spPr/>
        <p:txBody>
          <a:bodyPr>
            <a:normAutofit fontScale="55000" lnSpcReduction="20000"/>
          </a:bodyPr>
          <a:lstStyle/>
          <a:p>
            <a:pPr>
              <a:lnSpc>
                <a:spcPct val="120000"/>
              </a:lnSpc>
            </a:pPr>
            <a:r>
              <a:rPr lang="en-IN" dirty="0">
                <a:solidFill>
                  <a:srgbClr val="FF0000"/>
                </a:solidFill>
              </a:rPr>
              <a:t>Time and space complexity </a:t>
            </a:r>
            <a:r>
              <a:rPr lang="en-IN" dirty="0"/>
              <a:t>are considered with respect to some measure of the problem difficulty. </a:t>
            </a:r>
          </a:p>
          <a:p>
            <a:pPr>
              <a:lnSpc>
                <a:spcPct val="120000"/>
              </a:lnSpc>
            </a:pPr>
            <a:r>
              <a:rPr lang="en-IN" dirty="0"/>
              <a:t>In theoretical computer science, the typical measure is the </a:t>
            </a:r>
            <a:r>
              <a:rPr lang="en-IN" dirty="0">
                <a:solidFill>
                  <a:srgbClr val="FF0000"/>
                </a:solidFill>
              </a:rPr>
              <a:t>size of the state-space graph</a:t>
            </a:r>
            <a:r>
              <a:rPr lang="en-IN" dirty="0"/>
              <a:t>, |V | + |E|, where |V | is the number of vertices (state nodes) of the graph and |</a:t>
            </a:r>
            <a:r>
              <a:rPr lang="en-IN" dirty="0" err="1"/>
              <a:t>E|is</a:t>
            </a:r>
            <a:r>
              <a:rPr lang="en-IN" dirty="0"/>
              <a:t> the number of edges (distinct state/action pairs). </a:t>
            </a:r>
          </a:p>
          <a:p>
            <a:pPr lvl="1">
              <a:lnSpc>
                <a:spcPct val="120000"/>
              </a:lnSpc>
            </a:pPr>
            <a:r>
              <a:rPr lang="en-IN" dirty="0"/>
              <a:t>This is appropriate when the graph is an </a:t>
            </a:r>
            <a:r>
              <a:rPr lang="en-IN" dirty="0">
                <a:solidFill>
                  <a:srgbClr val="FF0000"/>
                </a:solidFill>
              </a:rPr>
              <a:t>explicit data structure</a:t>
            </a:r>
            <a:r>
              <a:rPr lang="en-IN" dirty="0"/>
              <a:t>, such as the map of Romania. </a:t>
            </a:r>
          </a:p>
          <a:p>
            <a:pPr>
              <a:lnSpc>
                <a:spcPct val="120000"/>
              </a:lnSpc>
            </a:pPr>
            <a:r>
              <a:rPr lang="en-IN" dirty="0"/>
              <a:t>But in many AI problems, </a:t>
            </a:r>
            <a:r>
              <a:rPr lang="en-IN" dirty="0">
                <a:solidFill>
                  <a:srgbClr val="FF0000"/>
                </a:solidFill>
              </a:rPr>
              <a:t>the graph is represented only </a:t>
            </a:r>
            <a:r>
              <a:rPr lang="en-IN" i="1" dirty="0">
                <a:solidFill>
                  <a:srgbClr val="FF0000"/>
                </a:solidFill>
              </a:rPr>
              <a:t>implicitly </a:t>
            </a:r>
            <a:r>
              <a:rPr lang="en-IN" dirty="0"/>
              <a:t>by the initial state, actions, and transition model. </a:t>
            </a:r>
          </a:p>
          <a:p>
            <a:pPr algn="just">
              <a:lnSpc>
                <a:spcPct val="120000"/>
              </a:lnSpc>
            </a:pPr>
            <a:r>
              <a:rPr lang="en-IN" dirty="0"/>
              <a:t>For an implicit state space, </a:t>
            </a:r>
            <a:r>
              <a:rPr lang="en-IN" b="1" dirty="0">
                <a:solidFill>
                  <a:srgbClr val="00B050"/>
                </a:solidFill>
              </a:rPr>
              <a:t>complexity</a:t>
            </a:r>
            <a:r>
              <a:rPr lang="en-IN" dirty="0"/>
              <a:t> can be measured in terms of the </a:t>
            </a:r>
            <a:r>
              <a:rPr lang="en-IN" b="1" dirty="0">
                <a:solidFill>
                  <a:srgbClr val="FF0000"/>
                </a:solidFill>
              </a:rPr>
              <a:t>depth </a:t>
            </a:r>
            <a:r>
              <a:rPr lang="en-IN" dirty="0">
                <a:solidFill>
                  <a:srgbClr val="FF0000"/>
                </a:solidFill>
              </a:rPr>
              <a:t>or number of actions in an optimal solution</a:t>
            </a:r>
            <a:r>
              <a:rPr lang="en-IN" dirty="0"/>
              <a:t>; the maximum number of actions in any path; and </a:t>
            </a:r>
            <a:r>
              <a:rPr lang="en-IN" dirty="0">
                <a:solidFill>
                  <a:srgbClr val="FF0000"/>
                </a:solidFill>
              </a:rPr>
              <a:t>the </a:t>
            </a:r>
            <a:r>
              <a:rPr lang="en-IN" b="1" dirty="0">
                <a:solidFill>
                  <a:srgbClr val="FF0000"/>
                </a:solidFill>
              </a:rPr>
              <a:t>branching factor </a:t>
            </a:r>
            <a:r>
              <a:rPr lang="en-IN" dirty="0">
                <a:solidFill>
                  <a:srgbClr val="FF0000"/>
                </a:solidFill>
              </a:rPr>
              <a:t>or number of successors </a:t>
            </a:r>
            <a:r>
              <a:rPr lang="en-IN" dirty="0"/>
              <a:t>of a node that need to be considered.</a:t>
            </a:r>
          </a:p>
        </p:txBody>
      </p:sp>
    </p:spTree>
    <p:extLst>
      <p:ext uri="{BB962C8B-B14F-4D97-AF65-F5344CB8AC3E}">
        <p14:creationId xmlns:p14="http://schemas.microsoft.com/office/powerpoint/2010/main" val="100209355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Uninformed Search Strategies</a:t>
            </a:r>
          </a:p>
        </p:txBody>
      </p:sp>
      <p:sp>
        <p:nvSpPr>
          <p:cNvPr id="3" name="Content Placeholder 2"/>
          <p:cNvSpPr>
            <a:spLocks noGrp="1"/>
          </p:cNvSpPr>
          <p:nvPr>
            <p:ph idx="1"/>
          </p:nvPr>
        </p:nvSpPr>
        <p:spPr/>
        <p:txBody>
          <a:bodyPr>
            <a:normAutofit fontScale="62500" lnSpcReduction="20000"/>
          </a:bodyPr>
          <a:lstStyle/>
          <a:p>
            <a:pPr>
              <a:lnSpc>
                <a:spcPct val="120000"/>
              </a:lnSpc>
            </a:pPr>
            <a:r>
              <a:rPr lang="en-IN" dirty="0"/>
              <a:t>An uninformed search algorithm is </a:t>
            </a:r>
            <a:r>
              <a:rPr lang="en-IN" dirty="0">
                <a:solidFill>
                  <a:srgbClr val="FF0000"/>
                </a:solidFill>
              </a:rPr>
              <a:t>given no clue about how close a state is to the goal(s).</a:t>
            </a:r>
          </a:p>
          <a:p>
            <a:pPr lvl="1">
              <a:lnSpc>
                <a:spcPct val="120000"/>
              </a:lnSpc>
            </a:pPr>
            <a:r>
              <a:rPr lang="en-IN" dirty="0"/>
              <a:t>For example, consider our </a:t>
            </a:r>
            <a:r>
              <a:rPr lang="en-IN" dirty="0">
                <a:solidFill>
                  <a:srgbClr val="FF0000"/>
                </a:solidFill>
              </a:rPr>
              <a:t>agent in Arad with the goal of reaching Bucharest. </a:t>
            </a:r>
          </a:p>
          <a:p>
            <a:pPr lvl="1">
              <a:lnSpc>
                <a:spcPct val="120000"/>
              </a:lnSpc>
            </a:pPr>
            <a:r>
              <a:rPr lang="en-IN" dirty="0"/>
              <a:t>An uninformed agent with no knowledge of Romanian geography has no clue whether going to </a:t>
            </a:r>
            <a:r>
              <a:rPr lang="en-IN" dirty="0" err="1"/>
              <a:t>Zerind</a:t>
            </a:r>
            <a:r>
              <a:rPr lang="en-IN" dirty="0"/>
              <a:t> or Sibiu is a better first step. </a:t>
            </a:r>
          </a:p>
          <a:p>
            <a:pPr lvl="1">
              <a:lnSpc>
                <a:spcPct val="120000"/>
              </a:lnSpc>
            </a:pPr>
            <a:r>
              <a:rPr lang="en-IN" dirty="0"/>
              <a:t>In contrast, an informed agent who knows the location of each city knows that Sibiu is much closer to Bucharest and thus more likely to be on the shortest path.</a:t>
            </a:r>
          </a:p>
          <a:p>
            <a:pPr algn="just"/>
            <a:r>
              <a:rPr lang="en-US" dirty="0"/>
              <a:t>Uninformed search is a class of </a:t>
            </a:r>
            <a:r>
              <a:rPr lang="en-US" dirty="0">
                <a:solidFill>
                  <a:srgbClr val="FF0000"/>
                </a:solidFill>
              </a:rPr>
              <a:t>general-purpose search </a:t>
            </a:r>
            <a:r>
              <a:rPr lang="en-US" dirty="0"/>
              <a:t>algorithms which operates </a:t>
            </a:r>
            <a:r>
              <a:rPr lang="en-US" dirty="0">
                <a:solidFill>
                  <a:srgbClr val="FF0000"/>
                </a:solidFill>
              </a:rPr>
              <a:t>in brute force-way. </a:t>
            </a:r>
          </a:p>
          <a:p>
            <a:pPr algn="just"/>
            <a:r>
              <a:rPr lang="en-US" dirty="0"/>
              <a:t>It does not contain any </a:t>
            </a:r>
            <a:r>
              <a:rPr lang="en-US" dirty="0">
                <a:solidFill>
                  <a:srgbClr val="FF0000"/>
                </a:solidFill>
              </a:rPr>
              <a:t>domain knowledge such as closeness</a:t>
            </a:r>
            <a:r>
              <a:rPr lang="en-US" dirty="0"/>
              <a:t>, the location of the goal.</a:t>
            </a:r>
          </a:p>
          <a:p>
            <a:pPr algn="just"/>
            <a:r>
              <a:rPr lang="en-US" dirty="0"/>
              <a:t>It does not have additional information about </a:t>
            </a:r>
            <a:r>
              <a:rPr lang="en-US" dirty="0">
                <a:solidFill>
                  <a:srgbClr val="FF0000"/>
                </a:solidFill>
              </a:rPr>
              <a:t>state or search space </a:t>
            </a:r>
            <a:r>
              <a:rPr lang="en-US" dirty="0"/>
              <a:t>other than how to traverse the tree, so it is also called blind search.</a:t>
            </a:r>
          </a:p>
          <a:p>
            <a:pPr algn="just"/>
            <a:r>
              <a:rPr lang="en-US" dirty="0">
                <a:solidFill>
                  <a:srgbClr val="FF0000"/>
                </a:solidFill>
              </a:rPr>
              <a:t>It examines each node of the tree until it achieves the goal node.</a:t>
            </a:r>
          </a:p>
          <a:p>
            <a:pPr>
              <a:lnSpc>
                <a:spcPct val="120000"/>
              </a:lnSpc>
            </a:pPr>
            <a:endParaRPr lang="en-IN" dirty="0"/>
          </a:p>
        </p:txBody>
      </p:sp>
    </p:spTree>
    <p:extLst>
      <p:ext uri="{BB962C8B-B14F-4D97-AF65-F5344CB8AC3E}">
        <p14:creationId xmlns:p14="http://schemas.microsoft.com/office/powerpoint/2010/main" val="343888440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Uninformed Search Strategies</a:t>
            </a:r>
          </a:p>
        </p:txBody>
      </p:sp>
      <p:sp>
        <p:nvSpPr>
          <p:cNvPr id="3" name="Content Placeholder 2"/>
          <p:cNvSpPr>
            <a:spLocks noGrp="1"/>
          </p:cNvSpPr>
          <p:nvPr>
            <p:ph idx="1"/>
          </p:nvPr>
        </p:nvSpPr>
        <p:spPr/>
        <p:txBody>
          <a:bodyPr>
            <a:normAutofit/>
          </a:bodyPr>
          <a:lstStyle/>
          <a:p>
            <a:pPr>
              <a:lnSpc>
                <a:spcPct val="120000"/>
              </a:lnSpc>
            </a:pPr>
            <a:r>
              <a:rPr lang="en-IN" dirty="0"/>
              <a:t>Algorithms:</a:t>
            </a:r>
          </a:p>
          <a:p>
            <a:pPr lvl="1">
              <a:lnSpc>
                <a:spcPct val="120000"/>
              </a:lnSpc>
            </a:pPr>
            <a:r>
              <a:rPr lang="en-IN" dirty="0"/>
              <a:t>Breadth-first search</a:t>
            </a:r>
          </a:p>
          <a:p>
            <a:pPr lvl="1">
              <a:lnSpc>
                <a:spcPct val="120000"/>
              </a:lnSpc>
            </a:pPr>
            <a:r>
              <a:rPr lang="en-IN" dirty="0"/>
              <a:t>Dijkstra’s algorithm or uniform-cost search</a:t>
            </a:r>
          </a:p>
          <a:p>
            <a:pPr lvl="1">
              <a:lnSpc>
                <a:spcPct val="120000"/>
              </a:lnSpc>
            </a:pPr>
            <a:r>
              <a:rPr lang="en-IN" dirty="0"/>
              <a:t>Depth-first search</a:t>
            </a:r>
          </a:p>
          <a:p>
            <a:pPr lvl="1">
              <a:lnSpc>
                <a:spcPct val="120000"/>
              </a:lnSpc>
            </a:pPr>
            <a:r>
              <a:rPr lang="en-IN" dirty="0"/>
              <a:t>Depth-limited and iterative deepening search</a:t>
            </a:r>
          </a:p>
          <a:p>
            <a:pPr lvl="1">
              <a:lnSpc>
                <a:spcPct val="120000"/>
              </a:lnSpc>
            </a:pPr>
            <a:r>
              <a:rPr lang="en-IN" dirty="0"/>
              <a:t>Bidirectional search</a:t>
            </a:r>
          </a:p>
        </p:txBody>
      </p:sp>
    </p:spTree>
    <p:extLst>
      <p:ext uri="{BB962C8B-B14F-4D97-AF65-F5344CB8AC3E}">
        <p14:creationId xmlns:p14="http://schemas.microsoft.com/office/powerpoint/2010/main" val="379381575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Breadth-first search</a:t>
            </a:r>
          </a:p>
        </p:txBody>
      </p:sp>
      <p:sp>
        <p:nvSpPr>
          <p:cNvPr id="3" name="Content Placeholder 2"/>
          <p:cNvSpPr>
            <a:spLocks noGrp="1"/>
          </p:cNvSpPr>
          <p:nvPr>
            <p:ph idx="1"/>
          </p:nvPr>
        </p:nvSpPr>
        <p:spPr/>
        <p:txBody>
          <a:bodyPr>
            <a:normAutofit fontScale="55000" lnSpcReduction="20000"/>
          </a:bodyPr>
          <a:lstStyle/>
          <a:p>
            <a:pPr algn="just">
              <a:lnSpc>
                <a:spcPct val="120000"/>
              </a:lnSpc>
            </a:pPr>
            <a:r>
              <a:rPr lang="en-IN" dirty="0"/>
              <a:t>When </a:t>
            </a:r>
            <a:r>
              <a:rPr lang="en-IN" dirty="0">
                <a:solidFill>
                  <a:srgbClr val="FF0000"/>
                </a:solidFill>
              </a:rPr>
              <a:t>all actions have the same cost</a:t>
            </a:r>
            <a:r>
              <a:rPr lang="en-IN" dirty="0"/>
              <a:t>, an appropriate strategy is </a:t>
            </a:r>
            <a:r>
              <a:rPr lang="en-IN" b="1" dirty="0">
                <a:solidFill>
                  <a:srgbClr val="FF0000"/>
                </a:solidFill>
              </a:rPr>
              <a:t>breadth-first search</a:t>
            </a:r>
            <a:endParaRPr lang="en-IN" dirty="0">
              <a:solidFill>
                <a:srgbClr val="FF0000"/>
              </a:solidFill>
            </a:endParaRPr>
          </a:p>
          <a:p>
            <a:pPr lvl="1">
              <a:lnSpc>
                <a:spcPct val="120000"/>
              </a:lnSpc>
            </a:pPr>
            <a:r>
              <a:rPr lang="en-IN" dirty="0"/>
              <a:t>Root node is expanded first, then all the successors of the root node are expanded next, then </a:t>
            </a:r>
            <a:r>
              <a:rPr lang="en-IN" i="1" dirty="0"/>
              <a:t>their </a:t>
            </a:r>
            <a:r>
              <a:rPr lang="en-IN" dirty="0"/>
              <a:t>successors, and so on. </a:t>
            </a:r>
          </a:p>
          <a:p>
            <a:pPr algn="just">
              <a:lnSpc>
                <a:spcPct val="120000"/>
              </a:lnSpc>
            </a:pPr>
            <a:r>
              <a:rPr lang="en-IN" dirty="0"/>
              <a:t>This is a systematic search strategy that is therefore complete.</a:t>
            </a:r>
          </a:p>
          <a:p>
            <a:pPr algn="just">
              <a:lnSpc>
                <a:spcPct val="120000"/>
              </a:lnSpc>
            </a:pPr>
            <a:r>
              <a:rPr lang="en-US" dirty="0"/>
              <a:t>This algorithm searches </a:t>
            </a:r>
            <a:r>
              <a:rPr lang="en-US" dirty="0">
                <a:solidFill>
                  <a:srgbClr val="FF0000"/>
                </a:solidFill>
              </a:rPr>
              <a:t>breadthwise in a tree or graph</a:t>
            </a:r>
            <a:r>
              <a:rPr lang="en-US" dirty="0"/>
              <a:t>, so it is called breadth-first search.</a:t>
            </a:r>
          </a:p>
          <a:p>
            <a:pPr algn="just">
              <a:lnSpc>
                <a:spcPct val="120000"/>
              </a:lnSpc>
            </a:pPr>
            <a:r>
              <a:rPr lang="en-US" dirty="0"/>
              <a:t>BFS algorithm starts searching from the root node of the tree and </a:t>
            </a:r>
            <a:r>
              <a:rPr lang="en-US" dirty="0">
                <a:solidFill>
                  <a:srgbClr val="FF0000"/>
                </a:solidFill>
              </a:rPr>
              <a:t>expands all successor node at the current level</a:t>
            </a:r>
            <a:r>
              <a:rPr lang="en-US" dirty="0"/>
              <a:t> before moving to nodes of next level.</a:t>
            </a:r>
          </a:p>
          <a:p>
            <a:pPr algn="just">
              <a:lnSpc>
                <a:spcPct val="120000"/>
              </a:lnSpc>
            </a:pPr>
            <a:r>
              <a:rPr lang="en-US" dirty="0"/>
              <a:t>Breadth-first search implemented using </a:t>
            </a:r>
            <a:r>
              <a:rPr lang="en-US" dirty="0">
                <a:solidFill>
                  <a:srgbClr val="FF0000"/>
                </a:solidFill>
              </a:rPr>
              <a:t>FIFO queue data structure</a:t>
            </a:r>
            <a:r>
              <a:rPr lang="en-US" dirty="0"/>
              <a:t>.</a:t>
            </a:r>
          </a:p>
          <a:p>
            <a:pPr marL="0" indent="0">
              <a:lnSpc>
                <a:spcPct val="120000"/>
              </a:lnSpc>
              <a:buNone/>
            </a:pPr>
            <a:r>
              <a:rPr lang="en-US" b="1" dirty="0"/>
              <a:t>Advantages:</a:t>
            </a:r>
            <a:endParaRPr lang="en-US" dirty="0"/>
          </a:p>
          <a:p>
            <a:pPr>
              <a:lnSpc>
                <a:spcPct val="120000"/>
              </a:lnSpc>
            </a:pPr>
            <a:r>
              <a:rPr lang="en-US" dirty="0"/>
              <a:t>BFS will provide a solution </a:t>
            </a:r>
            <a:r>
              <a:rPr lang="en-US" dirty="0">
                <a:solidFill>
                  <a:srgbClr val="FF0000"/>
                </a:solidFill>
              </a:rPr>
              <a:t>if any solution exists</a:t>
            </a:r>
            <a:r>
              <a:rPr lang="en-US" dirty="0"/>
              <a:t>.</a:t>
            </a:r>
          </a:p>
          <a:p>
            <a:pPr>
              <a:lnSpc>
                <a:spcPct val="120000"/>
              </a:lnSpc>
            </a:pPr>
            <a:r>
              <a:rPr lang="en-US" dirty="0"/>
              <a:t>If there are more than </a:t>
            </a:r>
            <a:r>
              <a:rPr lang="en-US" dirty="0">
                <a:solidFill>
                  <a:srgbClr val="FF0000"/>
                </a:solidFill>
              </a:rPr>
              <a:t>one solutions for a given problem</a:t>
            </a:r>
            <a:r>
              <a:rPr lang="en-US" dirty="0"/>
              <a:t>, then BFS will provide the minimal solution which requires the least number of steps.</a:t>
            </a:r>
          </a:p>
          <a:p>
            <a:pPr algn="just">
              <a:lnSpc>
                <a:spcPct val="120000"/>
              </a:lnSpc>
            </a:pPr>
            <a:endParaRPr lang="en-IN" dirty="0"/>
          </a:p>
        </p:txBody>
      </p:sp>
    </p:spTree>
    <p:extLst>
      <p:ext uri="{BB962C8B-B14F-4D97-AF65-F5344CB8AC3E}">
        <p14:creationId xmlns:p14="http://schemas.microsoft.com/office/powerpoint/2010/main" val="352048340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Breadth-first search</a:t>
            </a:r>
          </a:p>
        </p:txBody>
      </p:sp>
      <p:sp>
        <p:nvSpPr>
          <p:cNvPr id="3" name="Content Placeholder 2"/>
          <p:cNvSpPr>
            <a:spLocks noGrp="1"/>
          </p:cNvSpPr>
          <p:nvPr>
            <p:ph sz="half" idx="1"/>
          </p:nvPr>
        </p:nvSpPr>
        <p:spPr>
          <a:xfrm>
            <a:off x="457201" y="1600200"/>
            <a:ext cx="2819400" cy="4525963"/>
          </a:xfrm>
        </p:spPr>
        <p:txBody>
          <a:bodyPr>
            <a:normAutofit fontScale="70000" lnSpcReduction="20000"/>
          </a:bodyPr>
          <a:lstStyle/>
          <a:p>
            <a:pPr>
              <a:lnSpc>
                <a:spcPct val="120000"/>
              </a:lnSpc>
            </a:pPr>
            <a:r>
              <a:rPr lang="en-IN" dirty="0"/>
              <a:t>A </a:t>
            </a:r>
            <a:r>
              <a:rPr lang="en-IN" dirty="0">
                <a:solidFill>
                  <a:srgbClr val="FF0000"/>
                </a:solidFill>
              </a:rPr>
              <a:t>first-in-first-out</a:t>
            </a:r>
            <a:r>
              <a:rPr lang="en-IN" dirty="0"/>
              <a:t> queue will be faster and </a:t>
            </a:r>
            <a:r>
              <a:rPr lang="en-IN" dirty="0">
                <a:solidFill>
                  <a:srgbClr val="FF0000"/>
                </a:solidFill>
              </a:rPr>
              <a:t>will give us the correct order of nodes</a:t>
            </a:r>
            <a:r>
              <a:rPr lang="en-IN" dirty="0"/>
              <a:t>: new nodes (which are always deeper than their parents) go to the back of the queue, and old nodes, which are shallower than the new nodes, get expanded first. </a:t>
            </a:r>
          </a:p>
          <a:p>
            <a:pPr algn="just">
              <a:lnSpc>
                <a:spcPct val="120000"/>
              </a:lnSpc>
            </a:pPr>
            <a:endParaRPr lang="en-IN" dirty="0"/>
          </a:p>
        </p:txBody>
      </p:sp>
      <p:sp>
        <p:nvSpPr>
          <p:cNvPr id="5" name="Content Placeholder 4"/>
          <p:cNvSpPr>
            <a:spLocks noGrp="1"/>
          </p:cNvSpPr>
          <p:nvPr>
            <p:ph sz="half" idx="2"/>
          </p:nvPr>
        </p:nvSpPr>
        <p:spPr>
          <a:xfrm>
            <a:off x="3733800" y="1600200"/>
            <a:ext cx="4953000" cy="4525963"/>
          </a:xfrm>
        </p:spPr>
        <p:txBody>
          <a:bodyPr>
            <a:normAutofit fontScale="70000" lnSpcReduction="20000"/>
          </a:bodyPr>
          <a:lstStyle/>
          <a:p>
            <a:endParaRPr lang="en-IN"/>
          </a:p>
        </p:txBody>
      </p:sp>
      <p:pic>
        <p:nvPicPr>
          <p:cNvPr id="4" name="Picture 2" descr="Breadth First Search (BFS) Algorithm with EXAMPLE"/>
          <p:cNvPicPr>
            <a:picLocks noChangeAspect="1" noChangeArrowheads="1"/>
          </p:cNvPicPr>
          <p:nvPr/>
        </p:nvPicPr>
        <p:blipFill rotWithShape="1">
          <a:blip r:embed="rId2">
            <a:extLst>
              <a:ext uri="{28A0092B-C50C-407E-A947-70E740481C1C}">
                <a14:useLocalDpi xmlns:a14="http://schemas.microsoft.com/office/drawing/2010/main" val="0"/>
              </a:ext>
            </a:extLst>
          </a:blip>
          <a:srcRect b="10109"/>
          <a:stretch/>
        </p:blipFill>
        <p:spPr bwMode="auto">
          <a:xfrm>
            <a:off x="3733800" y="2362200"/>
            <a:ext cx="4607477" cy="24236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972929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lstStyle/>
          <a:p>
            <a:r>
              <a:rPr lang="en-IN" dirty="0"/>
              <a:t>Breadth-first search</a:t>
            </a:r>
          </a:p>
        </p:txBody>
      </p:sp>
      <p:sp>
        <p:nvSpPr>
          <p:cNvPr id="3" name="Content Placeholder 2"/>
          <p:cNvSpPr>
            <a:spLocks noGrp="1"/>
          </p:cNvSpPr>
          <p:nvPr>
            <p:ph idx="1"/>
          </p:nvPr>
        </p:nvSpPr>
        <p:spPr>
          <a:xfrm>
            <a:off x="457200" y="1066800"/>
            <a:ext cx="8229600" cy="5059363"/>
          </a:xfrm>
        </p:spPr>
        <p:txBody>
          <a:bodyPr/>
          <a:lstStyle/>
          <a:p>
            <a:r>
              <a:rPr lang="en-IN" dirty="0"/>
              <a:t>Example:</a:t>
            </a:r>
          </a:p>
          <a:p>
            <a:endParaRPr lang="en-IN" dirty="0"/>
          </a:p>
        </p:txBody>
      </p:sp>
      <p:pic>
        <p:nvPicPr>
          <p:cNvPr id="819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2409825"/>
            <a:ext cx="6400800" cy="1552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0144316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Breadth-first search</a:t>
            </a:r>
          </a:p>
        </p:txBody>
      </p:sp>
      <p:sp>
        <p:nvSpPr>
          <p:cNvPr id="3" name="Content Placeholder 2"/>
          <p:cNvSpPr>
            <a:spLocks noGrp="1"/>
          </p:cNvSpPr>
          <p:nvPr>
            <p:ph idx="1"/>
          </p:nvPr>
        </p:nvSpPr>
        <p:spPr/>
        <p:txBody>
          <a:bodyPr>
            <a:normAutofit fontScale="55000" lnSpcReduction="20000"/>
          </a:bodyPr>
          <a:lstStyle/>
          <a:p>
            <a:pPr algn="just">
              <a:lnSpc>
                <a:spcPct val="120000"/>
              </a:lnSpc>
            </a:pPr>
            <a:r>
              <a:rPr lang="en-IN" dirty="0"/>
              <a:t>Breadth-first search always </a:t>
            </a:r>
            <a:r>
              <a:rPr lang="en-IN" dirty="0">
                <a:solidFill>
                  <a:srgbClr val="FF0000"/>
                </a:solidFill>
              </a:rPr>
              <a:t>finds a solution with a minimal number of actions</a:t>
            </a:r>
            <a:r>
              <a:rPr lang="en-IN" dirty="0"/>
              <a:t>, because when it is generating nodes at depth </a:t>
            </a:r>
            <a:r>
              <a:rPr lang="en-IN" dirty="0">
                <a:solidFill>
                  <a:srgbClr val="FF0000"/>
                </a:solidFill>
              </a:rPr>
              <a:t>d</a:t>
            </a:r>
            <a:r>
              <a:rPr lang="en-IN" dirty="0"/>
              <a:t> it has already generated all the nodes at depth </a:t>
            </a:r>
            <a:r>
              <a:rPr lang="en-IN" dirty="0">
                <a:solidFill>
                  <a:srgbClr val="FF0000"/>
                </a:solidFill>
              </a:rPr>
              <a:t>d-1</a:t>
            </a:r>
            <a:r>
              <a:rPr lang="en-IN" dirty="0"/>
              <a:t> so if one of them were a solution, it would have been found. </a:t>
            </a:r>
          </a:p>
          <a:p>
            <a:pPr algn="just">
              <a:lnSpc>
                <a:spcPct val="120000"/>
              </a:lnSpc>
            </a:pPr>
            <a:r>
              <a:rPr lang="en-IN" dirty="0"/>
              <a:t>That means it is cost-optimal for problems where all actions have the same cost, but not for problems that don’t have that property. </a:t>
            </a:r>
          </a:p>
          <a:p>
            <a:pPr lvl="1" algn="just">
              <a:lnSpc>
                <a:spcPct val="120000"/>
              </a:lnSpc>
            </a:pPr>
            <a:r>
              <a:rPr lang="en-IN" dirty="0">
                <a:solidFill>
                  <a:srgbClr val="FF0000"/>
                </a:solidFill>
              </a:rPr>
              <a:t>It is complete in either case. </a:t>
            </a:r>
          </a:p>
          <a:p>
            <a:pPr algn="just">
              <a:lnSpc>
                <a:spcPct val="120000"/>
              </a:lnSpc>
            </a:pPr>
            <a:r>
              <a:rPr lang="en-IN" dirty="0"/>
              <a:t>In terms of time and space, imagine searching a tree where </a:t>
            </a:r>
            <a:r>
              <a:rPr lang="en-IN" b="1" dirty="0">
                <a:solidFill>
                  <a:srgbClr val="00B050"/>
                </a:solidFill>
              </a:rPr>
              <a:t>every state has </a:t>
            </a:r>
            <a:r>
              <a:rPr lang="en-IN" b="1" dirty="0">
                <a:solidFill>
                  <a:srgbClr val="FF0000"/>
                </a:solidFill>
              </a:rPr>
              <a:t>b</a:t>
            </a:r>
            <a:r>
              <a:rPr lang="en-IN" b="1" dirty="0">
                <a:solidFill>
                  <a:srgbClr val="00B050"/>
                </a:solidFill>
              </a:rPr>
              <a:t> successors. </a:t>
            </a:r>
          </a:p>
          <a:p>
            <a:pPr algn="just">
              <a:lnSpc>
                <a:spcPct val="120000"/>
              </a:lnSpc>
            </a:pPr>
            <a:r>
              <a:rPr lang="en-IN" dirty="0">
                <a:solidFill>
                  <a:srgbClr val="FF0000"/>
                </a:solidFill>
              </a:rPr>
              <a:t>The root of the search tree generates b nodes, each of which generates b more nodes, for a total of b</a:t>
            </a:r>
            <a:r>
              <a:rPr lang="en-IN" baseline="30000" dirty="0">
                <a:solidFill>
                  <a:srgbClr val="FF0000"/>
                </a:solidFill>
              </a:rPr>
              <a:t>2</a:t>
            </a:r>
            <a:r>
              <a:rPr lang="en-IN" dirty="0">
                <a:solidFill>
                  <a:srgbClr val="FF0000"/>
                </a:solidFill>
              </a:rPr>
              <a:t> at the second level. </a:t>
            </a:r>
          </a:p>
          <a:p>
            <a:pPr algn="just">
              <a:lnSpc>
                <a:spcPct val="120000"/>
              </a:lnSpc>
            </a:pPr>
            <a:r>
              <a:rPr lang="en-IN" dirty="0"/>
              <a:t>Each of these generates more nodes, yielding nodes at the third level, and so on.</a:t>
            </a:r>
          </a:p>
          <a:p>
            <a:pPr algn="just">
              <a:lnSpc>
                <a:spcPct val="120000"/>
              </a:lnSpc>
            </a:pPr>
            <a:r>
              <a:rPr lang="en-IN" dirty="0"/>
              <a:t>Now suppose that the solution is at depth </a:t>
            </a:r>
            <a:r>
              <a:rPr lang="en-IN" dirty="0">
                <a:solidFill>
                  <a:srgbClr val="FF0000"/>
                </a:solidFill>
              </a:rPr>
              <a:t>d</a:t>
            </a:r>
            <a:r>
              <a:rPr lang="en-IN" dirty="0"/>
              <a:t>. </a:t>
            </a:r>
          </a:p>
          <a:p>
            <a:pPr algn="just">
              <a:lnSpc>
                <a:spcPct val="120000"/>
              </a:lnSpc>
            </a:pPr>
            <a:r>
              <a:rPr lang="en-IN" dirty="0"/>
              <a:t>Then the total number of nodes generated is</a:t>
            </a:r>
          </a:p>
          <a:p>
            <a:pPr marL="457200" lvl="1" indent="0" algn="just">
              <a:lnSpc>
                <a:spcPct val="120000"/>
              </a:lnSpc>
              <a:buNone/>
            </a:pPr>
            <a:r>
              <a:rPr lang="en-IN" dirty="0"/>
              <a:t>   </a:t>
            </a:r>
            <a:r>
              <a:rPr lang="pl-PL" dirty="0">
                <a:solidFill>
                  <a:srgbClr val="FF0000"/>
                </a:solidFill>
              </a:rPr>
              <a:t>1 + b + b</a:t>
            </a:r>
            <a:r>
              <a:rPr lang="pl-PL" baseline="30000" dirty="0">
                <a:solidFill>
                  <a:srgbClr val="FF0000"/>
                </a:solidFill>
              </a:rPr>
              <a:t>2</a:t>
            </a:r>
            <a:r>
              <a:rPr lang="pl-PL" dirty="0">
                <a:solidFill>
                  <a:srgbClr val="FF0000"/>
                </a:solidFill>
              </a:rPr>
              <a:t> + b</a:t>
            </a:r>
            <a:r>
              <a:rPr lang="pl-PL" baseline="30000" dirty="0">
                <a:solidFill>
                  <a:srgbClr val="FF0000"/>
                </a:solidFill>
              </a:rPr>
              <a:t>3</a:t>
            </a:r>
            <a:r>
              <a:rPr lang="pl-PL" dirty="0">
                <a:solidFill>
                  <a:srgbClr val="FF0000"/>
                </a:solidFill>
              </a:rPr>
              <a:t> +⋯+ b</a:t>
            </a:r>
            <a:r>
              <a:rPr lang="pl-PL" baseline="30000" dirty="0">
                <a:solidFill>
                  <a:srgbClr val="FF0000"/>
                </a:solidFill>
              </a:rPr>
              <a:t>d</a:t>
            </a:r>
            <a:r>
              <a:rPr lang="pl-PL" dirty="0">
                <a:solidFill>
                  <a:srgbClr val="FF0000"/>
                </a:solidFill>
              </a:rPr>
              <a:t> = O(b</a:t>
            </a:r>
            <a:r>
              <a:rPr lang="pl-PL" baseline="30000" dirty="0">
                <a:solidFill>
                  <a:srgbClr val="FF0000"/>
                </a:solidFill>
              </a:rPr>
              <a:t>d</a:t>
            </a:r>
            <a:r>
              <a:rPr lang="pl-PL" dirty="0">
                <a:solidFill>
                  <a:srgbClr val="FF0000"/>
                </a:solidFill>
              </a:rPr>
              <a:t>)</a:t>
            </a:r>
            <a:endParaRPr lang="en-IN" dirty="0">
              <a:solidFill>
                <a:srgbClr val="FF0000"/>
              </a:solidFill>
            </a:endParaRPr>
          </a:p>
        </p:txBody>
      </p:sp>
    </p:spTree>
    <p:extLst>
      <p:ext uri="{BB962C8B-B14F-4D97-AF65-F5344CB8AC3E}">
        <p14:creationId xmlns:p14="http://schemas.microsoft.com/office/powerpoint/2010/main" val="228553036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85800"/>
            <a:ext cx="8229600" cy="1143000"/>
          </a:xfrm>
        </p:spPr>
        <p:txBody>
          <a:bodyPr/>
          <a:lstStyle/>
          <a:p>
            <a:r>
              <a:rPr lang="en-IN" dirty="0"/>
              <a:t>Breadth-first search</a:t>
            </a:r>
          </a:p>
        </p:txBody>
      </p:sp>
      <p:sp>
        <p:nvSpPr>
          <p:cNvPr id="3" name="Content Placeholder 2"/>
          <p:cNvSpPr>
            <a:spLocks noGrp="1"/>
          </p:cNvSpPr>
          <p:nvPr>
            <p:ph idx="1"/>
          </p:nvPr>
        </p:nvSpPr>
        <p:spPr/>
        <p:txBody>
          <a:bodyPr>
            <a:normAutofit fontScale="92500" lnSpcReduction="20000"/>
          </a:bodyPr>
          <a:lstStyle/>
          <a:p>
            <a:pPr marL="0" indent="0">
              <a:buNone/>
            </a:pPr>
            <a:r>
              <a:rPr lang="en-IN" dirty="0"/>
              <a:t>Conclusion:</a:t>
            </a:r>
          </a:p>
          <a:p>
            <a:pPr>
              <a:lnSpc>
                <a:spcPct val="90000"/>
              </a:lnSpc>
            </a:pPr>
            <a:r>
              <a:rPr lang="en-US" altLang="en-US" u="sng" dirty="0">
                <a:solidFill>
                  <a:srgbClr val="FF0000"/>
                </a:solidFill>
                <a:latin typeface="Times New Roman" pitchFamily="18" charset="0"/>
                <a:cs typeface="Times New Roman" pitchFamily="18" charset="0"/>
              </a:rPr>
              <a:t>Complete?</a:t>
            </a:r>
            <a:r>
              <a:rPr lang="en-US" altLang="en-US" dirty="0">
                <a:solidFill>
                  <a:srgbClr val="FF0000"/>
                </a:solidFill>
                <a:latin typeface="Times New Roman" pitchFamily="18" charset="0"/>
                <a:cs typeface="Times New Roman" pitchFamily="18" charset="0"/>
              </a:rPr>
              <a:t> </a:t>
            </a:r>
            <a:r>
              <a:rPr lang="en-US" altLang="en-US" dirty="0">
                <a:latin typeface="Times New Roman" pitchFamily="18" charset="0"/>
                <a:cs typeface="Times New Roman" pitchFamily="18" charset="0"/>
              </a:rPr>
              <a:t>Yes (if </a:t>
            </a:r>
            <a:r>
              <a:rPr lang="en-US" altLang="en-US" i="1" dirty="0">
                <a:latin typeface="Times New Roman" pitchFamily="18" charset="0"/>
                <a:cs typeface="Times New Roman" pitchFamily="18" charset="0"/>
              </a:rPr>
              <a:t>b</a:t>
            </a:r>
            <a:r>
              <a:rPr lang="en-US" altLang="en-US" dirty="0">
                <a:latin typeface="Times New Roman" pitchFamily="18" charset="0"/>
                <a:cs typeface="Times New Roman" pitchFamily="18" charset="0"/>
              </a:rPr>
              <a:t> is finite)</a:t>
            </a:r>
          </a:p>
          <a:p>
            <a:pPr>
              <a:lnSpc>
                <a:spcPct val="90000"/>
              </a:lnSpc>
              <a:buNone/>
            </a:pPr>
            <a:endParaRPr lang="en-US" altLang="en-US" dirty="0">
              <a:latin typeface="Times New Roman" pitchFamily="18" charset="0"/>
              <a:cs typeface="Times New Roman" pitchFamily="18" charset="0"/>
            </a:endParaRPr>
          </a:p>
          <a:p>
            <a:pPr>
              <a:lnSpc>
                <a:spcPct val="90000"/>
              </a:lnSpc>
            </a:pPr>
            <a:r>
              <a:rPr lang="en-US" altLang="en-US" u="sng" dirty="0">
                <a:solidFill>
                  <a:srgbClr val="FF0000"/>
                </a:solidFill>
                <a:latin typeface="Times New Roman" pitchFamily="18" charset="0"/>
                <a:cs typeface="Times New Roman" pitchFamily="18" charset="0"/>
              </a:rPr>
              <a:t>Time</a:t>
            </a:r>
            <a:r>
              <a:rPr lang="en-US" altLang="en-US" u="sng" dirty="0">
                <a:solidFill>
                  <a:srgbClr val="CC0099"/>
                </a:solidFill>
                <a:latin typeface="Times New Roman" pitchFamily="18" charset="0"/>
                <a:cs typeface="Times New Roman" pitchFamily="18" charset="0"/>
              </a:rPr>
              <a:t>?</a:t>
            </a:r>
            <a:r>
              <a:rPr lang="en-US" altLang="en-US" dirty="0">
                <a:latin typeface="Times New Roman" pitchFamily="18" charset="0"/>
                <a:cs typeface="Times New Roman" pitchFamily="18" charset="0"/>
              </a:rPr>
              <a:t> </a:t>
            </a:r>
            <a:r>
              <a:rPr lang="en-US" altLang="en-US" b="1" i="1" dirty="0">
                <a:latin typeface="Times New Roman" pitchFamily="18" charset="0"/>
                <a:cs typeface="Times New Roman" pitchFamily="18" charset="0"/>
              </a:rPr>
              <a:t>O(</a:t>
            </a:r>
            <a:r>
              <a:rPr lang="en-US" altLang="en-US" b="1" i="1" dirty="0" err="1">
                <a:latin typeface="Times New Roman" pitchFamily="18" charset="0"/>
                <a:cs typeface="Times New Roman" pitchFamily="18" charset="0"/>
              </a:rPr>
              <a:t>b</a:t>
            </a:r>
            <a:r>
              <a:rPr lang="en-US" altLang="en-US" b="1" i="1" baseline="30000" dirty="0" err="1">
                <a:latin typeface="Times New Roman" pitchFamily="18" charset="0"/>
                <a:cs typeface="Times New Roman" pitchFamily="18" charset="0"/>
              </a:rPr>
              <a:t>d</a:t>
            </a:r>
            <a:r>
              <a:rPr lang="en-US" altLang="en-US" b="1" i="1" dirty="0">
                <a:latin typeface="Times New Roman" pitchFamily="18" charset="0"/>
                <a:cs typeface="Times New Roman" pitchFamily="18" charset="0"/>
              </a:rPr>
              <a:t>)</a:t>
            </a:r>
          </a:p>
          <a:p>
            <a:pPr>
              <a:lnSpc>
                <a:spcPct val="90000"/>
              </a:lnSpc>
              <a:buNone/>
            </a:pPr>
            <a:endParaRPr lang="en-US" altLang="en-US" dirty="0">
              <a:latin typeface="Times New Roman" pitchFamily="18" charset="0"/>
              <a:cs typeface="Times New Roman" pitchFamily="18" charset="0"/>
            </a:endParaRPr>
          </a:p>
          <a:p>
            <a:pPr>
              <a:lnSpc>
                <a:spcPct val="90000"/>
              </a:lnSpc>
            </a:pPr>
            <a:r>
              <a:rPr lang="en-US" altLang="en-US" u="sng" dirty="0">
                <a:solidFill>
                  <a:srgbClr val="FF0000"/>
                </a:solidFill>
                <a:latin typeface="Times New Roman" pitchFamily="18" charset="0"/>
                <a:cs typeface="Times New Roman" pitchFamily="18" charset="0"/>
              </a:rPr>
              <a:t>Space?</a:t>
            </a:r>
            <a:r>
              <a:rPr lang="en-US" altLang="en-US" dirty="0">
                <a:solidFill>
                  <a:srgbClr val="FF0000"/>
                </a:solidFill>
                <a:latin typeface="Times New Roman" pitchFamily="18" charset="0"/>
                <a:cs typeface="Times New Roman" pitchFamily="18" charset="0"/>
              </a:rPr>
              <a:t> </a:t>
            </a:r>
            <a:r>
              <a:rPr lang="en-US" altLang="en-US" i="1" dirty="0">
                <a:latin typeface="Times New Roman" pitchFamily="18" charset="0"/>
                <a:cs typeface="Times New Roman" pitchFamily="18" charset="0"/>
              </a:rPr>
              <a:t>O(</a:t>
            </a:r>
            <a:r>
              <a:rPr lang="en-US" altLang="en-US" i="1" dirty="0" err="1">
                <a:latin typeface="Times New Roman" pitchFamily="18" charset="0"/>
                <a:cs typeface="Times New Roman" pitchFamily="18" charset="0"/>
              </a:rPr>
              <a:t>b</a:t>
            </a:r>
            <a:r>
              <a:rPr lang="en-US" altLang="en-US" i="1" baseline="30000" dirty="0" err="1">
                <a:latin typeface="Times New Roman" pitchFamily="18" charset="0"/>
                <a:cs typeface="Times New Roman" pitchFamily="18" charset="0"/>
              </a:rPr>
              <a:t>d</a:t>
            </a:r>
            <a:r>
              <a:rPr lang="en-US" altLang="en-US" i="1" dirty="0">
                <a:latin typeface="Times New Roman" pitchFamily="18" charset="0"/>
                <a:cs typeface="Times New Roman" pitchFamily="18" charset="0"/>
              </a:rPr>
              <a:t>)</a:t>
            </a:r>
            <a:r>
              <a:rPr lang="en-US" altLang="en-US" dirty="0">
                <a:latin typeface="Times New Roman" pitchFamily="18" charset="0"/>
                <a:cs typeface="Times New Roman" pitchFamily="18" charset="0"/>
              </a:rPr>
              <a:t> (keeps every node in memory)</a:t>
            </a:r>
          </a:p>
          <a:p>
            <a:pPr>
              <a:lnSpc>
                <a:spcPct val="90000"/>
              </a:lnSpc>
              <a:buNone/>
            </a:pPr>
            <a:endParaRPr lang="en-US" altLang="en-US" dirty="0">
              <a:latin typeface="Times New Roman" pitchFamily="18" charset="0"/>
              <a:cs typeface="Times New Roman" pitchFamily="18" charset="0"/>
            </a:endParaRPr>
          </a:p>
          <a:p>
            <a:pPr>
              <a:lnSpc>
                <a:spcPct val="90000"/>
              </a:lnSpc>
            </a:pPr>
            <a:r>
              <a:rPr lang="en-US" altLang="en-US" u="sng" dirty="0">
                <a:solidFill>
                  <a:srgbClr val="FF0000"/>
                </a:solidFill>
                <a:latin typeface="Times New Roman" pitchFamily="18" charset="0"/>
                <a:cs typeface="Times New Roman" pitchFamily="18" charset="0"/>
              </a:rPr>
              <a:t>Optimal?</a:t>
            </a:r>
            <a:r>
              <a:rPr lang="en-US" altLang="en-US" dirty="0">
                <a:solidFill>
                  <a:srgbClr val="FF0000"/>
                </a:solidFill>
                <a:latin typeface="Times New Roman" pitchFamily="18" charset="0"/>
                <a:cs typeface="Times New Roman" pitchFamily="18" charset="0"/>
              </a:rPr>
              <a:t> </a:t>
            </a:r>
            <a:r>
              <a:rPr lang="en-US" altLang="en-US" dirty="0">
                <a:latin typeface="Times New Roman" pitchFamily="18" charset="0"/>
                <a:cs typeface="Times New Roman" pitchFamily="18" charset="0"/>
              </a:rPr>
              <a:t>Yes (if cost = 1 per step)</a:t>
            </a:r>
          </a:p>
          <a:p>
            <a:pPr>
              <a:lnSpc>
                <a:spcPct val="90000"/>
              </a:lnSpc>
              <a:buNone/>
            </a:pPr>
            <a:endParaRPr lang="en-US" altLang="en-US" dirty="0">
              <a:solidFill>
                <a:srgbClr val="FF0000"/>
              </a:solidFill>
              <a:latin typeface="Times New Roman" pitchFamily="18" charset="0"/>
              <a:cs typeface="Times New Roman" pitchFamily="18" charset="0"/>
            </a:endParaRPr>
          </a:p>
          <a:p>
            <a:pPr>
              <a:lnSpc>
                <a:spcPct val="90000"/>
              </a:lnSpc>
            </a:pPr>
            <a:r>
              <a:rPr lang="en-US" altLang="en-US" dirty="0">
                <a:solidFill>
                  <a:srgbClr val="FF0000"/>
                </a:solidFill>
                <a:latin typeface="Times New Roman" pitchFamily="18" charset="0"/>
                <a:cs typeface="Times New Roman" pitchFamily="18" charset="0"/>
              </a:rPr>
              <a:t>Space</a:t>
            </a:r>
            <a:r>
              <a:rPr lang="en-US" altLang="en-US" dirty="0">
                <a:latin typeface="Times New Roman" pitchFamily="18" charset="0"/>
                <a:cs typeface="Times New Roman" pitchFamily="18" charset="0"/>
              </a:rPr>
              <a:t> is the bigger problem</a:t>
            </a:r>
          </a:p>
          <a:p>
            <a:endParaRPr lang="en-IN" dirty="0"/>
          </a:p>
          <a:p>
            <a:endParaRPr lang="en-IN" dirty="0"/>
          </a:p>
        </p:txBody>
      </p:sp>
    </p:spTree>
    <p:extLst>
      <p:ext uri="{BB962C8B-B14F-4D97-AF65-F5344CB8AC3E}">
        <p14:creationId xmlns:p14="http://schemas.microsoft.com/office/powerpoint/2010/main" val="239308322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Breadth-first search</a:t>
            </a:r>
          </a:p>
        </p:txBody>
      </p:sp>
      <p:sp>
        <p:nvSpPr>
          <p:cNvPr id="3" name="Content Placeholder 2"/>
          <p:cNvSpPr>
            <a:spLocks noGrp="1"/>
          </p:cNvSpPr>
          <p:nvPr>
            <p:ph idx="1"/>
          </p:nvPr>
        </p:nvSpPr>
        <p:spPr/>
        <p:txBody>
          <a:bodyPr/>
          <a:lstStyle/>
          <a:p>
            <a:r>
              <a:rPr lang="en-IN" dirty="0"/>
              <a:t>Algorithm:</a:t>
            </a:r>
          </a:p>
          <a:p>
            <a:endParaRPr lang="en-IN" dirty="0"/>
          </a:p>
        </p:txBody>
      </p:sp>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3116" y="2262188"/>
            <a:ext cx="6711684" cy="36052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2629862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229600" cy="1143000"/>
          </a:xfrm>
        </p:spPr>
        <p:txBody>
          <a:bodyPr/>
          <a:lstStyle/>
          <a:p>
            <a:r>
              <a:rPr lang="en-IN" dirty="0"/>
              <a:t>Breadth-first search</a:t>
            </a:r>
          </a:p>
        </p:txBody>
      </p:sp>
      <p:sp>
        <p:nvSpPr>
          <p:cNvPr id="3" name="Content Placeholder 2"/>
          <p:cNvSpPr>
            <a:spLocks noGrp="1"/>
          </p:cNvSpPr>
          <p:nvPr>
            <p:ph idx="1"/>
          </p:nvPr>
        </p:nvSpPr>
        <p:spPr/>
        <p:txBody>
          <a:bodyPr>
            <a:normAutofit fontScale="92500" lnSpcReduction="20000"/>
          </a:bodyPr>
          <a:lstStyle/>
          <a:p>
            <a:pPr marL="0" indent="0">
              <a:buNone/>
            </a:pPr>
            <a:r>
              <a:rPr lang="en-IN" dirty="0"/>
              <a:t>Conclusion:</a:t>
            </a:r>
          </a:p>
          <a:p>
            <a:pPr>
              <a:lnSpc>
                <a:spcPct val="90000"/>
              </a:lnSpc>
            </a:pPr>
            <a:r>
              <a:rPr lang="en-US" altLang="en-US" u="sng" dirty="0">
                <a:solidFill>
                  <a:srgbClr val="FF0000"/>
                </a:solidFill>
                <a:latin typeface="Times New Roman" pitchFamily="18" charset="0"/>
                <a:cs typeface="Times New Roman" pitchFamily="18" charset="0"/>
              </a:rPr>
              <a:t>Complete?</a:t>
            </a:r>
            <a:r>
              <a:rPr lang="en-US" altLang="en-US" dirty="0">
                <a:solidFill>
                  <a:srgbClr val="FF0000"/>
                </a:solidFill>
                <a:latin typeface="Times New Roman" pitchFamily="18" charset="0"/>
                <a:cs typeface="Times New Roman" pitchFamily="18" charset="0"/>
              </a:rPr>
              <a:t> </a:t>
            </a:r>
            <a:r>
              <a:rPr lang="en-US" altLang="en-US" dirty="0">
                <a:latin typeface="Times New Roman" pitchFamily="18" charset="0"/>
                <a:cs typeface="Times New Roman" pitchFamily="18" charset="0"/>
              </a:rPr>
              <a:t>Yes (if </a:t>
            </a:r>
            <a:r>
              <a:rPr lang="en-US" altLang="en-US" i="1" dirty="0">
                <a:latin typeface="Times New Roman" pitchFamily="18" charset="0"/>
                <a:cs typeface="Times New Roman" pitchFamily="18" charset="0"/>
              </a:rPr>
              <a:t>b</a:t>
            </a:r>
            <a:r>
              <a:rPr lang="en-US" altLang="en-US" dirty="0">
                <a:latin typeface="Times New Roman" pitchFamily="18" charset="0"/>
                <a:cs typeface="Times New Roman" pitchFamily="18" charset="0"/>
              </a:rPr>
              <a:t> is finite)</a:t>
            </a:r>
          </a:p>
          <a:p>
            <a:pPr>
              <a:lnSpc>
                <a:spcPct val="90000"/>
              </a:lnSpc>
              <a:buNone/>
            </a:pPr>
            <a:endParaRPr lang="en-US" altLang="en-US" dirty="0">
              <a:latin typeface="Times New Roman" pitchFamily="18" charset="0"/>
              <a:cs typeface="Times New Roman" pitchFamily="18" charset="0"/>
            </a:endParaRPr>
          </a:p>
          <a:p>
            <a:pPr>
              <a:lnSpc>
                <a:spcPct val="90000"/>
              </a:lnSpc>
            </a:pPr>
            <a:r>
              <a:rPr lang="en-US" altLang="en-US" u="sng" dirty="0">
                <a:solidFill>
                  <a:srgbClr val="FF0000"/>
                </a:solidFill>
                <a:latin typeface="Times New Roman" pitchFamily="18" charset="0"/>
                <a:cs typeface="Times New Roman" pitchFamily="18" charset="0"/>
              </a:rPr>
              <a:t>Time</a:t>
            </a:r>
            <a:r>
              <a:rPr lang="en-US" altLang="en-US" u="sng" dirty="0">
                <a:solidFill>
                  <a:srgbClr val="CC0099"/>
                </a:solidFill>
                <a:latin typeface="Times New Roman" pitchFamily="18" charset="0"/>
                <a:cs typeface="Times New Roman" pitchFamily="18" charset="0"/>
              </a:rPr>
              <a:t>?</a:t>
            </a:r>
            <a:r>
              <a:rPr lang="en-US" altLang="en-US" dirty="0">
                <a:latin typeface="Times New Roman" pitchFamily="18" charset="0"/>
                <a:cs typeface="Times New Roman" pitchFamily="18" charset="0"/>
              </a:rPr>
              <a:t> </a:t>
            </a:r>
            <a:r>
              <a:rPr lang="en-US" altLang="en-US" b="1" i="1" dirty="0">
                <a:latin typeface="Times New Roman" pitchFamily="18" charset="0"/>
                <a:cs typeface="Times New Roman" pitchFamily="18" charset="0"/>
              </a:rPr>
              <a:t>O(</a:t>
            </a:r>
            <a:r>
              <a:rPr lang="en-US" altLang="en-US" b="1" i="1" dirty="0" err="1">
                <a:latin typeface="Times New Roman" pitchFamily="18" charset="0"/>
                <a:cs typeface="Times New Roman" pitchFamily="18" charset="0"/>
              </a:rPr>
              <a:t>b</a:t>
            </a:r>
            <a:r>
              <a:rPr lang="en-US" altLang="en-US" b="1" i="1" baseline="30000" dirty="0" err="1">
                <a:latin typeface="Times New Roman" pitchFamily="18" charset="0"/>
                <a:cs typeface="Times New Roman" pitchFamily="18" charset="0"/>
              </a:rPr>
              <a:t>d</a:t>
            </a:r>
            <a:r>
              <a:rPr lang="en-US" altLang="en-US" b="1" i="1" dirty="0">
                <a:latin typeface="Times New Roman" pitchFamily="18" charset="0"/>
                <a:cs typeface="Times New Roman" pitchFamily="18" charset="0"/>
              </a:rPr>
              <a:t>)</a:t>
            </a:r>
          </a:p>
          <a:p>
            <a:pPr>
              <a:lnSpc>
                <a:spcPct val="90000"/>
              </a:lnSpc>
              <a:buNone/>
            </a:pPr>
            <a:endParaRPr lang="en-US" altLang="en-US" dirty="0">
              <a:latin typeface="Times New Roman" pitchFamily="18" charset="0"/>
              <a:cs typeface="Times New Roman" pitchFamily="18" charset="0"/>
            </a:endParaRPr>
          </a:p>
          <a:p>
            <a:pPr>
              <a:lnSpc>
                <a:spcPct val="90000"/>
              </a:lnSpc>
            </a:pPr>
            <a:r>
              <a:rPr lang="en-US" altLang="en-US" u="sng" dirty="0">
                <a:solidFill>
                  <a:srgbClr val="FF0000"/>
                </a:solidFill>
                <a:latin typeface="Times New Roman" pitchFamily="18" charset="0"/>
                <a:cs typeface="Times New Roman" pitchFamily="18" charset="0"/>
              </a:rPr>
              <a:t>Space?</a:t>
            </a:r>
            <a:r>
              <a:rPr lang="en-US" altLang="en-US" dirty="0">
                <a:solidFill>
                  <a:srgbClr val="FF0000"/>
                </a:solidFill>
                <a:latin typeface="Times New Roman" pitchFamily="18" charset="0"/>
                <a:cs typeface="Times New Roman" pitchFamily="18" charset="0"/>
              </a:rPr>
              <a:t> </a:t>
            </a:r>
            <a:r>
              <a:rPr lang="en-US" altLang="en-US" i="1" dirty="0">
                <a:latin typeface="Times New Roman" pitchFamily="18" charset="0"/>
                <a:cs typeface="Times New Roman" pitchFamily="18" charset="0"/>
              </a:rPr>
              <a:t>O(</a:t>
            </a:r>
            <a:r>
              <a:rPr lang="en-US" altLang="en-US" i="1" dirty="0" err="1">
                <a:latin typeface="Times New Roman" pitchFamily="18" charset="0"/>
                <a:cs typeface="Times New Roman" pitchFamily="18" charset="0"/>
              </a:rPr>
              <a:t>b</a:t>
            </a:r>
            <a:r>
              <a:rPr lang="en-US" altLang="en-US" i="1" baseline="30000" dirty="0" err="1">
                <a:latin typeface="Times New Roman" pitchFamily="18" charset="0"/>
                <a:cs typeface="Times New Roman" pitchFamily="18" charset="0"/>
              </a:rPr>
              <a:t>d</a:t>
            </a:r>
            <a:r>
              <a:rPr lang="en-US" altLang="en-US" i="1" dirty="0">
                <a:latin typeface="Times New Roman" pitchFamily="18" charset="0"/>
                <a:cs typeface="Times New Roman" pitchFamily="18" charset="0"/>
              </a:rPr>
              <a:t>)</a:t>
            </a:r>
            <a:r>
              <a:rPr lang="en-US" altLang="en-US" dirty="0">
                <a:latin typeface="Times New Roman" pitchFamily="18" charset="0"/>
                <a:cs typeface="Times New Roman" pitchFamily="18" charset="0"/>
              </a:rPr>
              <a:t> (keeps every node in memory)</a:t>
            </a:r>
          </a:p>
          <a:p>
            <a:pPr>
              <a:lnSpc>
                <a:spcPct val="90000"/>
              </a:lnSpc>
              <a:buNone/>
            </a:pPr>
            <a:endParaRPr lang="en-US" altLang="en-US" dirty="0">
              <a:latin typeface="Times New Roman" pitchFamily="18" charset="0"/>
              <a:cs typeface="Times New Roman" pitchFamily="18" charset="0"/>
            </a:endParaRPr>
          </a:p>
          <a:p>
            <a:pPr>
              <a:lnSpc>
                <a:spcPct val="90000"/>
              </a:lnSpc>
            </a:pPr>
            <a:r>
              <a:rPr lang="en-US" altLang="en-US" u="sng" dirty="0">
                <a:solidFill>
                  <a:srgbClr val="FF0000"/>
                </a:solidFill>
                <a:latin typeface="Times New Roman" pitchFamily="18" charset="0"/>
                <a:cs typeface="Times New Roman" pitchFamily="18" charset="0"/>
              </a:rPr>
              <a:t>Optimal?</a:t>
            </a:r>
            <a:r>
              <a:rPr lang="en-US" altLang="en-US" dirty="0">
                <a:solidFill>
                  <a:srgbClr val="FF0000"/>
                </a:solidFill>
                <a:latin typeface="Times New Roman" pitchFamily="18" charset="0"/>
                <a:cs typeface="Times New Roman" pitchFamily="18" charset="0"/>
              </a:rPr>
              <a:t> </a:t>
            </a:r>
            <a:r>
              <a:rPr lang="en-US" altLang="en-US" dirty="0">
                <a:latin typeface="Times New Roman" pitchFamily="18" charset="0"/>
                <a:cs typeface="Times New Roman" pitchFamily="18" charset="0"/>
              </a:rPr>
              <a:t>Yes (if cost = 1 per step)</a:t>
            </a:r>
          </a:p>
          <a:p>
            <a:pPr>
              <a:lnSpc>
                <a:spcPct val="90000"/>
              </a:lnSpc>
              <a:buNone/>
            </a:pPr>
            <a:endParaRPr lang="en-US" altLang="en-US" dirty="0">
              <a:solidFill>
                <a:srgbClr val="FF0000"/>
              </a:solidFill>
              <a:latin typeface="Times New Roman" pitchFamily="18" charset="0"/>
              <a:cs typeface="Times New Roman" pitchFamily="18" charset="0"/>
            </a:endParaRPr>
          </a:p>
          <a:p>
            <a:pPr>
              <a:lnSpc>
                <a:spcPct val="90000"/>
              </a:lnSpc>
            </a:pPr>
            <a:r>
              <a:rPr lang="en-US" altLang="en-US" dirty="0">
                <a:solidFill>
                  <a:srgbClr val="FF0000"/>
                </a:solidFill>
                <a:latin typeface="Times New Roman" pitchFamily="18" charset="0"/>
                <a:cs typeface="Times New Roman" pitchFamily="18" charset="0"/>
              </a:rPr>
              <a:t>Space</a:t>
            </a:r>
            <a:r>
              <a:rPr lang="en-US" altLang="en-US" dirty="0">
                <a:latin typeface="Times New Roman" pitchFamily="18" charset="0"/>
                <a:cs typeface="Times New Roman" pitchFamily="18" charset="0"/>
              </a:rPr>
              <a:t> is the bigger problem</a:t>
            </a:r>
          </a:p>
          <a:p>
            <a:endParaRPr lang="en-IN" dirty="0"/>
          </a:p>
          <a:p>
            <a:endParaRPr lang="en-IN" dirty="0"/>
          </a:p>
        </p:txBody>
      </p:sp>
    </p:spTree>
    <p:extLst>
      <p:ext uri="{BB962C8B-B14F-4D97-AF65-F5344CB8AC3E}">
        <p14:creationId xmlns:p14="http://schemas.microsoft.com/office/powerpoint/2010/main" val="117943020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Breadth-first search</a:t>
            </a:r>
          </a:p>
        </p:txBody>
      </p:sp>
      <p:sp>
        <p:nvSpPr>
          <p:cNvPr id="3" name="Content Placeholder 2"/>
          <p:cNvSpPr>
            <a:spLocks noGrp="1"/>
          </p:cNvSpPr>
          <p:nvPr>
            <p:ph idx="1"/>
          </p:nvPr>
        </p:nvSpPr>
        <p:spPr/>
        <p:txBody>
          <a:bodyPr/>
          <a:lstStyle/>
          <a:p>
            <a:r>
              <a:rPr lang="en-IN" dirty="0"/>
              <a:t>Which solution would BFS find to move from node S to node G if run on the graph below?</a:t>
            </a:r>
          </a:p>
        </p:txBody>
      </p:sp>
      <p:pic>
        <p:nvPicPr>
          <p:cNvPr id="4" name="Content Placeholder 3" descr="DFS ques"/>
          <p:cNvPicPr>
            <a:picLocks/>
          </p:cNvPicPr>
          <p:nvPr/>
        </p:nvPicPr>
        <p:blipFill>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2209183" y="3124199"/>
            <a:ext cx="4420217" cy="1991003"/>
          </a:xfrm>
          <a:prstGeom prst="rect">
            <a:avLst/>
          </a:prstGeom>
          <a:noFill/>
          <a:ln>
            <a:noFill/>
          </a:ln>
        </p:spPr>
      </p:pic>
    </p:spTree>
    <p:extLst>
      <p:ext uri="{BB962C8B-B14F-4D97-AF65-F5344CB8AC3E}">
        <p14:creationId xmlns:p14="http://schemas.microsoft.com/office/powerpoint/2010/main" val="318634710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85800"/>
            <a:ext cx="8229600" cy="1143000"/>
          </a:xfrm>
        </p:spPr>
        <p:txBody>
          <a:bodyPr/>
          <a:lstStyle/>
          <a:p>
            <a:r>
              <a:rPr lang="en-IN" dirty="0"/>
              <a:t>Breadth-first search</a:t>
            </a:r>
          </a:p>
        </p:txBody>
      </p:sp>
      <p:sp>
        <p:nvSpPr>
          <p:cNvPr id="3" name="Content Placeholder 2"/>
          <p:cNvSpPr>
            <a:spLocks noGrp="1"/>
          </p:cNvSpPr>
          <p:nvPr>
            <p:ph idx="1"/>
          </p:nvPr>
        </p:nvSpPr>
        <p:spPr/>
        <p:txBody>
          <a:bodyPr>
            <a:normAutofit fontScale="92500" lnSpcReduction="20000"/>
          </a:bodyPr>
          <a:lstStyle/>
          <a:p>
            <a:pPr marL="0" indent="0">
              <a:buNone/>
            </a:pPr>
            <a:r>
              <a:rPr lang="en-IN" dirty="0"/>
              <a:t>Conclusion:</a:t>
            </a:r>
          </a:p>
          <a:p>
            <a:pPr>
              <a:lnSpc>
                <a:spcPct val="90000"/>
              </a:lnSpc>
            </a:pPr>
            <a:r>
              <a:rPr lang="en-US" altLang="en-US" u="sng" dirty="0">
                <a:solidFill>
                  <a:srgbClr val="FF0000"/>
                </a:solidFill>
                <a:latin typeface="Times New Roman" pitchFamily="18" charset="0"/>
                <a:cs typeface="Times New Roman" pitchFamily="18" charset="0"/>
              </a:rPr>
              <a:t>Complete?</a:t>
            </a:r>
            <a:r>
              <a:rPr lang="en-US" altLang="en-US" dirty="0">
                <a:solidFill>
                  <a:srgbClr val="FF0000"/>
                </a:solidFill>
                <a:latin typeface="Times New Roman" pitchFamily="18" charset="0"/>
                <a:cs typeface="Times New Roman" pitchFamily="18" charset="0"/>
              </a:rPr>
              <a:t> </a:t>
            </a:r>
            <a:r>
              <a:rPr lang="en-US" altLang="en-US" dirty="0">
                <a:latin typeface="Times New Roman" pitchFamily="18" charset="0"/>
                <a:cs typeface="Times New Roman" pitchFamily="18" charset="0"/>
              </a:rPr>
              <a:t>Yes (if </a:t>
            </a:r>
            <a:r>
              <a:rPr lang="en-US" altLang="en-US" i="1" dirty="0">
                <a:latin typeface="Times New Roman" pitchFamily="18" charset="0"/>
                <a:cs typeface="Times New Roman" pitchFamily="18" charset="0"/>
              </a:rPr>
              <a:t>b</a:t>
            </a:r>
            <a:r>
              <a:rPr lang="en-US" altLang="en-US" dirty="0">
                <a:latin typeface="Times New Roman" pitchFamily="18" charset="0"/>
                <a:cs typeface="Times New Roman" pitchFamily="18" charset="0"/>
              </a:rPr>
              <a:t> is finite)</a:t>
            </a:r>
          </a:p>
          <a:p>
            <a:pPr>
              <a:lnSpc>
                <a:spcPct val="90000"/>
              </a:lnSpc>
              <a:buNone/>
            </a:pPr>
            <a:endParaRPr lang="en-US" altLang="en-US" dirty="0">
              <a:latin typeface="Times New Roman" pitchFamily="18" charset="0"/>
              <a:cs typeface="Times New Roman" pitchFamily="18" charset="0"/>
            </a:endParaRPr>
          </a:p>
          <a:p>
            <a:pPr>
              <a:lnSpc>
                <a:spcPct val="90000"/>
              </a:lnSpc>
            </a:pPr>
            <a:r>
              <a:rPr lang="en-US" altLang="en-US" u="sng" dirty="0">
                <a:solidFill>
                  <a:srgbClr val="FF0000"/>
                </a:solidFill>
                <a:latin typeface="Times New Roman" pitchFamily="18" charset="0"/>
                <a:cs typeface="Times New Roman" pitchFamily="18" charset="0"/>
              </a:rPr>
              <a:t>Time</a:t>
            </a:r>
            <a:r>
              <a:rPr lang="en-US" altLang="en-US" u="sng" dirty="0">
                <a:solidFill>
                  <a:srgbClr val="CC0099"/>
                </a:solidFill>
                <a:latin typeface="Times New Roman" pitchFamily="18" charset="0"/>
                <a:cs typeface="Times New Roman" pitchFamily="18" charset="0"/>
              </a:rPr>
              <a:t>?</a:t>
            </a:r>
            <a:r>
              <a:rPr lang="en-US" altLang="en-US" dirty="0">
                <a:latin typeface="Times New Roman" pitchFamily="18" charset="0"/>
                <a:cs typeface="Times New Roman" pitchFamily="18" charset="0"/>
              </a:rPr>
              <a:t> </a:t>
            </a:r>
            <a:r>
              <a:rPr lang="en-US" altLang="en-US" b="1" i="1" dirty="0">
                <a:latin typeface="Times New Roman" pitchFamily="18" charset="0"/>
                <a:cs typeface="Times New Roman" pitchFamily="18" charset="0"/>
              </a:rPr>
              <a:t>O(</a:t>
            </a:r>
            <a:r>
              <a:rPr lang="en-US" altLang="en-US" b="1" i="1" dirty="0" err="1">
                <a:latin typeface="Times New Roman" pitchFamily="18" charset="0"/>
                <a:cs typeface="Times New Roman" pitchFamily="18" charset="0"/>
              </a:rPr>
              <a:t>b</a:t>
            </a:r>
            <a:r>
              <a:rPr lang="en-US" altLang="en-US" b="1" i="1" baseline="30000" dirty="0" err="1">
                <a:latin typeface="Times New Roman" pitchFamily="18" charset="0"/>
                <a:cs typeface="Times New Roman" pitchFamily="18" charset="0"/>
              </a:rPr>
              <a:t>d</a:t>
            </a:r>
            <a:r>
              <a:rPr lang="en-US" altLang="en-US" b="1" i="1" dirty="0">
                <a:latin typeface="Times New Roman" pitchFamily="18" charset="0"/>
                <a:cs typeface="Times New Roman" pitchFamily="18" charset="0"/>
              </a:rPr>
              <a:t>)</a:t>
            </a:r>
          </a:p>
          <a:p>
            <a:pPr>
              <a:lnSpc>
                <a:spcPct val="90000"/>
              </a:lnSpc>
              <a:buNone/>
            </a:pPr>
            <a:endParaRPr lang="en-US" altLang="en-US" dirty="0">
              <a:latin typeface="Times New Roman" pitchFamily="18" charset="0"/>
              <a:cs typeface="Times New Roman" pitchFamily="18" charset="0"/>
            </a:endParaRPr>
          </a:p>
          <a:p>
            <a:pPr>
              <a:lnSpc>
                <a:spcPct val="90000"/>
              </a:lnSpc>
            </a:pPr>
            <a:r>
              <a:rPr lang="en-US" altLang="en-US" u="sng" dirty="0">
                <a:solidFill>
                  <a:srgbClr val="FF0000"/>
                </a:solidFill>
                <a:latin typeface="Times New Roman" pitchFamily="18" charset="0"/>
                <a:cs typeface="Times New Roman" pitchFamily="18" charset="0"/>
              </a:rPr>
              <a:t>Space?</a:t>
            </a:r>
            <a:r>
              <a:rPr lang="en-US" altLang="en-US" dirty="0">
                <a:solidFill>
                  <a:srgbClr val="FF0000"/>
                </a:solidFill>
                <a:latin typeface="Times New Roman" pitchFamily="18" charset="0"/>
                <a:cs typeface="Times New Roman" pitchFamily="18" charset="0"/>
              </a:rPr>
              <a:t> </a:t>
            </a:r>
            <a:r>
              <a:rPr lang="en-US" altLang="en-US" i="1" dirty="0">
                <a:latin typeface="Times New Roman" pitchFamily="18" charset="0"/>
                <a:cs typeface="Times New Roman" pitchFamily="18" charset="0"/>
              </a:rPr>
              <a:t>O(</a:t>
            </a:r>
            <a:r>
              <a:rPr lang="en-US" altLang="en-US" i="1" dirty="0" err="1">
                <a:latin typeface="Times New Roman" pitchFamily="18" charset="0"/>
                <a:cs typeface="Times New Roman" pitchFamily="18" charset="0"/>
              </a:rPr>
              <a:t>b</a:t>
            </a:r>
            <a:r>
              <a:rPr lang="en-US" altLang="en-US" i="1" baseline="30000" dirty="0" err="1">
                <a:latin typeface="Times New Roman" pitchFamily="18" charset="0"/>
                <a:cs typeface="Times New Roman" pitchFamily="18" charset="0"/>
              </a:rPr>
              <a:t>d</a:t>
            </a:r>
            <a:r>
              <a:rPr lang="en-US" altLang="en-US" i="1" dirty="0">
                <a:latin typeface="Times New Roman" pitchFamily="18" charset="0"/>
                <a:cs typeface="Times New Roman" pitchFamily="18" charset="0"/>
              </a:rPr>
              <a:t>)</a:t>
            </a:r>
            <a:r>
              <a:rPr lang="en-US" altLang="en-US" dirty="0">
                <a:latin typeface="Times New Roman" pitchFamily="18" charset="0"/>
                <a:cs typeface="Times New Roman" pitchFamily="18" charset="0"/>
              </a:rPr>
              <a:t> (keeps every node in memory)</a:t>
            </a:r>
          </a:p>
          <a:p>
            <a:pPr>
              <a:lnSpc>
                <a:spcPct val="90000"/>
              </a:lnSpc>
              <a:buNone/>
            </a:pPr>
            <a:endParaRPr lang="en-US" altLang="en-US" dirty="0">
              <a:latin typeface="Times New Roman" pitchFamily="18" charset="0"/>
              <a:cs typeface="Times New Roman" pitchFamily="18" charset="0"/>
            </a:endParaRPr>
          </a:p>
          <a:p>
            <a:pPr>
              <a:lnSpc>
                <a:spcPct val="90000"/>
              </a:lnSpc>
            </a:pPr>
            <a:r>
              <a:rPr lang="en-US" altLang="en-US" u="sng" dirty="0">
                <a:solidFill>
                  <a:srgbClr val="FF0000"/>
                </a:solidFill>
                <a:latin typeface="Times New Roman" pitchFamily="18" charset="0"/>
                <a:cs typeface="Times New Roman" pitchFamily="18" charset="0"/>
              </a:rPr>
              <a:t>Optimal?</a:t>
            </a:r>
            <a:r>
              <a:rPr lang="en-US" altLang="en-US" dirty="0">
                <a:solidFill>
                  <a:srgbClr val="FF0000"/>
                </a:solidFill>
                <a:latin typeface="Times New Roman" pitchFamily="18" charset="0"/>
                <a:cs typeface="Times New Roman" pitchFamily="18" charset="0"/>
              </a:rPr>
              <a:t> </a:t>
            </a:r>
            <a:r>
              <a:rPr lang="en-US" altLang="en-US" dirty="0">
                <a:latin typeface="Times New Roman" pitchFamily="18" charset="0"/>
                <a:cs typeface="Times New Roman" pitchFamily="18" charset="0"/>
              </a:rPr>
              <a:t>Yes (if cost = 1 per step)</a:t>
            </a:r>
          </a:p>
          <a:p>
            <a:pPr>
              <a:lnSpc>
                <a:spcPct val="90000"/>
              </a:lnSpc>
              <a:buNone/>
            </a:pPr>
            <a:endParaRPr lang="en-US" altLang="en-US" dirty="0">
              <a:solidFill>
                <a:srgbClr val="FF0000"/>
              </a:solidFill>
              <a:latin typeface="Times New Roman" pitchFamily="18" charset="0"/>
              <a:cs typeface="Times New Roman" pitchFamily="18" charset="0"/>
            </a:endParaRPr>
          </a:p>
          <a:p>
            <a:pPr>
              <a:lnSpc>
                <a:spcPct val="90000"/>
              </a:lnSpc>
            </a:pPr>
            <a:r>
              <a:rPr lang="en-US" altLang="en-US" dirty="0">
                <a:solidFill>
                  <a:srgbClr val="FF0000"/>
                </a:solidFill>
                <a:latin typeface="Times New Roman" pitchFamily="18" charset="0"/>
                <a:cs typeface="Times New Roman" pitchFamily="18" charset="0"/>
              </a:rPr>
              <a:t>Space</a:t>
            </a:r>
            <a:r>
              <a:rPr lang="en-US" altLang="en-US" dirty="0">
                <a:latin typeface="Times New Roman" pitchFamily="18" charset="0"/>
                <a:cs typeface="Times New Roman" pitchFamily="18" charset="0"/>
              </a:rPr>
              <a:t> is the bigger problem</a:t>
            </a:r>
          </a:p>
          <a:p>
            <a:endParaRPr lang="en-IN" dirty="0"/>
          </a:p>
          <a:p>
            <a:endParaRPr lang="en-IN" dirty="0"/>
          </a:p>
        </p:txBody>
      </p:sp>
    </p:spTree>
    <p:extLst>
      <p:ext uri="{BB962C8B-B14F-4D97-AF65-F5344CB8AC3E}">
        <p14:creationId xmlns:p14="http://schemas.microsoft.com/office/powerpoint/2010/main" val="110810753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br>
            <a:r>
              <a:rPr lang="en-US" dirty="0"/>
              <a:t>Uniform-cost Search Algorithm</a:t>
            </a:r>
            <a:br>
              <a:rPr lang="en-US" dirty="0"/>
            </a:br>
            <a:endParaRPr lang="en-IN" dirty="0"/>
          </a:p>
        </p:txBody>
      </p:sp>
      <p:sp>
        <p:nvSpPr>
          <p:cNvPr id="3" name="Content Placeholder 2"/>
          <p:cNvSpPr>
            <a:spLocks noGrp="1"/>
          </p:cNvSpPr>
          <p:nvPr>
            <p:ph idx="1"/>
          </p:nvPr>
        </p:nvSpPr>
        <p:spPr/>
        <p:txBody>
          <a:bodyPr>
            <a:normAutofit fontScale="92500" lnSpcReduction="20000"/>
          </a:bodyPr>
          <a:lstStyle/>
          <a:p>
            <a:pPr algn="just"/>
            <a:r>
              <a:rPr lang="en-IN" dirty="0">
                <a:solidFill>
                  <a:srgbClr val="FF0000"/>
                </a:solidFill>
              </a:rPr>
              <a:t>When actions have different costs</a:t>
            </a:r>
            <a:r>
              <a:rPr lang="en-IN" dirty="0"/>
              <a:t>, an obvious choice is to use best-first search where the evaluation function is the cost of the path from the root to the current node. </a:t>
            </a:r>
          </a:p>
          <a:p>
            <a:pPr algn="just"/>
            <a:r>
              <a:rPr lang="en-IN" dirty="0"/>
              <a:t>This is called Dijkstra’s algorithm by the theoretical computer science community, and </a:t>
            </a:r>
            <a:r>
              <a:rPr lang="en-IN" b="1" dirty="0"/>
              <a:t>uniform-cost search </a:t>
            </a:r>
            <a:r>
              <a:rPr lang="en-IN" dirty="0"/>
              <a:t>by the AI community.</a:t>
            </a:r>
          </a:p>
          <a:p>
            <a:pPr lvl="1" algn="just"/>
            <a:r>
              <a:rPr lang="en-IN" dirty="0"/>
              <a:t>Breadth-first search spreads out in waves of uniform depth—first depth 1, then depth 2, and so on</a:t>
            </a:r>
          </a:p>
          <a:p>
            <a:pPr lvl="1" algn="just"/>
            <a:r>
              <a:rPr lang="en-IN" dirty="0"/>
              <a:t>uniform-cost search spreads out in waves of uniform path-cost.</a:t>
            </a:r>
          </a:p>
        </p:txBody>
      </p:sp>
    </p:spTree>
    <p:extLst>
      <p:ext uri="{BB962C8B-B14F-4D97-AF65-F5344CB8AC3E}">
        <p14:creationId xmlns:p14="http://schemas.microsoft.com/office/powerpoint/2010/main" val="349682879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br>
            <a:r>
              <a:rPr lang="en-US" dirty="0"/>
              <a:t>Uniform-cost Search Algorithm</a:t>
            </a:r>
            <a:br>
              <a:rPr lang="en-US" dirty="0"/>
            </a:br>
            <a:endParaRPr lang="en-IN" dirty="0"/>
          </a:p>
        </p:txBody>
      </p:sp>
      <p:sp>
        <p:nvSpPr>
          <p:cNvPr id="3" name="Content Placeholder 2"/>
          <p:cNvSpPr>
            <a:spLocks noGrp="1"/>
          </p:cNvSpPr>
          <p:nvPr>
            <p:ph idx="1"/>
          </p:nvPr>
        </p:nvSpPr>
        <p:spPr/>
        <p:txBody>
          <a:bodyPr>
            <a:normAutofit fontScale="62500" lnSpcReduction="20000"/>
          </a:bodyPr>
          <a:lstStyle/>
          <a:p>
            <a:pPr algn="just">
              <a:lnSpc>
                <a:spcPct val="120000"/>
              </a:lnSpc>
            </a:pPr>
            <a:r>
              <a:rPr lang="en-US" dirty="0"/>
              <a:t>Uniform-cost search is a searching algorithm used for </a:t>
            </a:r>
            <a:r>
              <a:rPr lang="en-US" dirty="0">
                <a:solidFill>
                  <a:srgbClr val="FF0000"/>
                </a:solidFill>
              </a:rPr>
              <a:t>traversing a weighted tree or graph</a:t>
            </a:r>
            <a:r>
              <a:rPr lang="en-US" dirty="0"/>
              <a:t>.</a:t>
            </a:r>
          </a:p>
          <a:p>
            <a:pPr algn="just">
              <a:lnSpc>
                <a:spcPct val="120000"/>
              </a:lnSpc>
            </a:pPr>
            <a:r>
              <a:rPr lang="en-US" dirty="0"/>
              <a:t>This algorithm shall be used when a different </a:t>
            </a:r>
            <a:r>
              <a:rPr lang="en-US" dirty="0">
                <a:solidFill>
                  <a:srgbClr val="FF0000"/>
                </a:solidFill>
              </a:rPr>
              <a:t>cost is available for each edge</a:t>
            </a:r>
            <a:r>
              <a:rPr lang="en-US" dirty="0"/>
              <a:t>. </a:t>
            </a:r>
          </a:p>
          <a:p>
            <a:pPr algn="just">
              <a:lnSpc>
                <a:spcPct val="120000"/>
              </a:lnSpc>
            </a:pPr>
            <a:r>
              <a:rPr lang="en-US" dirty="0"/>
              <a:t>Goal: To find a path to the goal node which has the </a:t>
            </a:r>
            <a:r>
              <a:rPr lang="en-US" dirty="0">
                <a:solidFill>
                  <a:srgbClr val="FF0000"/>
                </a:solidFill>
              </a:rPr>
              <a:t>lowest cumulative cost</a:t>
            </a:r>
            <a:r>
              <a:rPr lang="en-US" dirty="0"/>
              <a:t>.</a:t>
            </a:r>
          </a:p>
          <a:p>
            <a:pPr algn="just">
              <a:lnSpc>
                <a:spcPct val="120000"/>
              </a:lnSpc>
            </a:pPr>
            <a:r>
              <a:rPr lang="en-US" dirty="0"/>
              <a:t>It expands nodes according to their </a:t>
            </a:r>
            <a:r>
              <a:rPr lang="en-US" dirty="0">
                <a:solidFill>
                  <a:srgbClr val="FF0000"/>
                </a:solidFill>
              </a:rPr>
              <a:t>path costs form the root node</a:t>
            </a:r>
            <a:r>
              <a:rPr lang="en-US" dirty="0"/>
              <a:t>. </a:t>
            </a:r>
          </a:p>
          <a:p>
            <a:pPr algn="just">
              <a:lnSpc>
                <a:spcPct val="120000"/>
              </a:lnSpc>
            </a:pPr>
            <a:r>
              <a:rPr lang="en-US" dirty="0"/>
              <a:t>It can be used to solve any </a:t>
            </a:r>
            <a:r>
              <a:rPr lang="en-US" dirty="0">
                <a:solidFill>
                  <a:srgbClr val="FF0000"/>
                </a:solidFill>
              </a:rPr>
              <a:t>graph/tree where the optimal cost is in demand</a:t>
            </a:r>
            <a:r>
              <a:rPr lang="en-US" dirty="0"/>
              <a:t>. </a:t>
            </a:r>
          </a:p>
          <a:p>
            <a:pPr algn="just">
              <a:lnSpc>
                <a:spcPct val="120000"/>
              </a:lnSpc>
            </a:pPr>
            <a:r>
              <a:rPr lang="en-US" dirty="0"/>
              <a:t>A uniform-cost search algorithm is implemented by the </a:t>
            </a:r>
            <a:r>
              <a:rPr lang="en-US" dirty="0">
                <a:solidFill>
                  <a:srgbClr val="FF0000"/>
                </a:solidFill>
              </a:rPr>
              <a:t>priority queue</a:t>
            </a:r>
            <a:r>
              <a:rPr lang="en-US" dirty="0"/>
              <a:t>. </a:t>
            </a:r>
          </a:p>
          <a:p>
            <a:pPr algn="just">
              <a:lnSpc>
                <a:spcPct val="120000"/>
              </a:lnSpc>
            </a:pPr>
            <a:r>
              <a:rPr lang="en-US" dirty="0"/>
              <a:t>It gives maximum priority to the lowest cumulative cost. </a:t>
            </a:r>
          </a:p>
          <a:p>
            <a:pPr algn="just">
              <a:lnSpc>
                <a:spcPct val="120000"/>
              </a:lnSpc>
            </a:pPr>
            <a:r>
              <a:rPr lang="en-US" dirty="0"/>
              <a:t>Uniform cost search is equivalent to BFS algorithm if the path cost of all edges is the same.</a:t>
            </a:r>
          </a:p>
          <a:p>
            <a:pPr>
              <a:lnSpc>
                <a:spcPct val="120000"/>
              </a:lnSpc>
            </a:pPr>
            <a:endParaRPr lang="en-IN" dirty="0"/>
          </a:p>
        </p:txBody>
      </p:sp>
    </p:spTree>
    <p:extLst>
      <p:ext uri="{BB962C8B-B14F-4D97-AF65-F5344CB8AC3E}">
        <p14:creationId xmlns:p14="http://schemas.microsoft.com/office/powerpoint/2010/main" val="205065055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br>
            <a:r>
              <a:rPr lang="en-US" dirty="0"/>
              <a:t>Uniform-cost Search Algorithm</a:t>
            </a:r>
            <a:br>
              <a:rPr lang="en-US" dirty="0"/>
            </a:br>
            <a:endParaRPr lang="en-IN" dirty="0"/>
          </a:p>
        </p:txBody>
      </p:sp>
      <p:sp>
        <p:nvSpPr>
          <p:cNvPr id="3" name="Content Placeholder 2"/>
          <p:cNvSpPr>
            <a:spLocks noGrp="1"/>
          </p:cNvSpPr>
          <p:nvPr>
            <p:ph idx="1"/>
          </p:nvPr>
        </p:nvSpPr>
        <p:spPr/>
        <p:txBody>
          <a:bodyPr/>
          <a:lstStyle/>
          <a:p>
            <a:r>
              <a:rPr lang="en-IN" dirty="0"/>
              <a:t>Example:</a:t>
            </a:r>
          </a:p>
          <a:p>
            <a:endParaRPr lang="en-IN" dirty="0"/>
          </a:p>
          <a:p>
            <a:endParaRPr lang="en-IN" dirty="0"/>
          </a:p>
          <a:p>
            <a:endParaRPr lang="en-IN" dirty="0"/>
          </a:p>
          <a:p>
            <a:endParaRPr lang="en-IN" dirty="0"/>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8988" y="2746619"/>
            <a:ext cx="5460011" cy="31969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464091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br>
            <a:r>
              <a:rPr lang="en-US" dirty="0"/>
              <a:t>Uniform-cost Search Algorithm</a:t>
            </a:r>
            <a:br>
              <a:rPr lang="en-US" dirty="0"/>
            </a:br>
            <a:endParaRPr lang="en-IN" dirty="0"/>
          </a:p>
        </p:txBody>
      </p:sp>
      <p:sp>
        <p:nvSpPr>
          <p:cNvPr id="3" name="Content Placeholder 2"/>
          <p:cNvSpPr>
            <a:spLocks noGrp="1"/>
          </p:cNvSpPr>
          <p:nvPr>
            <p:ph sz="half" idx="1"/>
          </p:nvPr>
        </p:nvSpPr>
        <p:spPr/>
        <p:txBody>
          <a:bodyPr>
            <a:normAutofit/>
          </a:bodyPr>
          <a:lstStyle/>
          <a:p>
            <a:pPr algn="just"/>
            <a:r>
              <a:rPr lang="en-US" sz="2000" b="1" dirty="0"/>
              <a:t>Advantages: </a:t>
            </a:r>
            <a:r>
              <a:rPr lang="en-US" sz="2000" dirty="0"/>
              <a:t>Uniform cost search is optimal because at every state the path with the least cost is chosen.</a:t>
            </a:r>
          </a:p>
          <a:p>
            <a:pPr algn="just"/>
            <a:r>
              <a:rPr lang="en-US" sz="2000" b="1" dirty="0"/>
              <a:t>Disadvantages: </a:t>
            </a:r>
            <a:r>
              <a:rPr lang="en-US" sz="2000" dirty="0"/>
              <a:t>It does not care about the number of steps involved in searching and only concerned about path cost. Due to which this algorithm may be stuck in an infinite loop.</a:t>
            </a:r>
          </a:p>
          <a:p>
            <a:pPr algn="just"/>
            <a:endParaRPr lang="en-IN" sz="2000" dirty="0"/>
          </a:p>
        </p:txBody>
      </p:sp>
      <p:pic>
        <p:nvPicPr>
          <p:cNvPr id="5" name="Picture 2" descr="Uninformed Search Algorithms"/>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5019476" y="2133600"/>
            <a:ext cx="3667324" cy="29338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000330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br>
            <a:r>
              <a:rPr lang="en-US" dirty="0"/>
              <a:t>Uniform-cost Search Algorithm</a:t>
            </a:r>
            <a:br>
              <a:rPr lang="en-US" dirty="0"/>
            </a:br>
            <a:endParaRPr lang="en-IN" dirty="0"/>
          </a:p>
        </p:txBody>
      </p:sp>
      <p:sp>
        <p:nvSpPr>
          <p:cNvPr id="3" name="Content Placeholder 2"/>
          <p:cNvSpPr>
            <a:spLocks noGrp="1"/>
          </p:cNvSpPr>
          <p:nvPr>
            <p:ph idx="1"/>
          </p:nvPr>
        </p:nvSpPr>
        <p:spPr/>
        <p:txBody>
          <a:bodyPr>
            <a:normAutofit fontScale="70000" lnSpcReduction="20000"/>
          </a:bodyPr>
          <a:lstStyle/>
          <a:p>
            <a:pPr>
              <a:lnSpc>
                <a:spcPct val="120000"/>
              </a:lnSpc>
            </a:pPr>
            <a:r>
              <a:rPr lang="en-US" b="1" dirty="0">
                <a:solidFill>
                  <a:srgbClr val="FF0000"/>
                </a:solidFill>
              </a:rPr>
              <a:t>Completeness</a:t>
            </a:r>
            <a:r>
              <a:rPr lang="en-US" b="1" dirty="0"/>
              <a:t>: </a:t>
            </a:r>
            <a:r>
              <a:rPr lang="en-US" dirty="0"/>
              <a:t>Uniform-cost search is complete, such as if there is a solution, UCS will find it.</a:t>
            </a:r>
          </a:p>
          <a:p>
            <a:pPr>
              <a:lnSpc>
                <a:spcPct val="120000"/>
              </a:lnSpc>
            </a:pPr>
            <a:r>
              <a:rPr lang="en-US" b="1" dirty="0">
                <a:solidFill>
                  <a:srgbClr val="FF0000"/>
                </a:solidFill>
              </a:rPr>
              <a:t>Time Complexity</a:t>
            </a:r>
            <a:r>
              <a:rPr lang="en-US" b="1" dirty="0">
                <a:solidFill>
                  <a:srgbClr val="00B050"/>
                </a:solidFill>
              </a:rPr>
              <a:t>: </a:t>
            </a:r>
            <a:r>
              <a:rPr lang="en-US" dirty="0">
                <a:solidFill>
                  <a:srgbClr val="00B050"/>
                </a:solidFill>
              </a:rPr>
              <a:t>Let C* </a:t>
            </a:r>
            <a:r>
              <a:rPr lang="en-US" b="1" dirty="0">
                <a:solidFill>
                  <a:srgbClr val="00B050"/>
                </a:solidFill>
              </a:rPr>
              <a:t>is Cost of the optimal solution</a:t>
            </a:r>
            <a:r>
              <a:rPr lang="en-US" dirty="0">
                <a:solidFill>
                  <a:srgbClr val="00B050"/>
                </a:solidFill>
              </a:rPr>
              <a:t>, and </a:t>
            </a:r>
            <a:r>
              <a:rPr lang="en-US" b="1" dirty="0">
                <a:solidFill>
                  <a:srgbClr val="00B050"/>
                </a:solidFill>
              </a:rPr>
              <a:t>ε(</a:t>
            </a:r>
            <a:r>
              <a:rPr lang="en-IN" dirty="0">
                <a:solidFill>
                  <a:srgbClr val="00B050"/>
                </a:solidFill>
              </a:rPr>
              <a:t>a lower bound on the cost of each action</a:t>
            </a:r>
            <a:r>
              <a:rPr lang="en-US" b="1" dirty="0">
                <a:solidFill>
                  <a:srgbClr val="00B050"/>
                </a:solidFill>
              </a:rPr>
              <a:t>)</a:t>
            </a:r>
            <a:r>
              <a:rPr lang="en-US" dirty="0"/>
              <a:t> is each step to get closer to the goal node. Then the number of steps is = C*/ε+1. Here we have taken +1, as we start from state 0 and end to C*/ε.</a:t>
            </a:r>
          </a:p>
          <a:p>
            <a:pPr lvl="1">
              <a:lnSpc>
                <a:spcPct val="120000"/>
              </a:lnSpc>
            </a:pPr>
            <a:r>
              <a:rPr lang="en-US" dirty="0"/>
              <a:t>Hence, the worst-case time complexity of Uniform-cost search is </a:t>
            </a:r>
            <a:r>
              <a:rPr lang="en-US" b="1" dirty="0"/>
              <a:t>O(b</a:t>
            </a:r>
            <a:r>
              <a:rPr lang="en-US" b="1" baseline="30000" dirty="0"/>
              <a:t>1 + [C*/ε]</a:t>
            </a:r>
            <a:r>
              <a:rPr lang="en-US" b="1" dirty="0"/>
              <a:t>)</a:t>
            </a:r>
            <a:r>
              <a:rPr lang="en-US" dirty="0"/>
              <a:t>.</a:t>
            </a:r>
          </a:p>
          <a:p>
            <a:pPr>
              <a:lnSpc>
                <a:spcPct val="120000"/>
              </a:lnSpc>
            </a:pPr>
            <a:r>
              <a:rPr lang="en-US" b="1" dirty="0">
                <a:solidFill>
                  <a:srgbClr val="FF0000"/>
                </a:solidFill>
              </a:rPr>
              <a:t>Space Complexity</a:t>
            </a:r>
            <a:r>
              <a:rPr lang="en-US" b="1" dirty="0"/>
              <a:t>: </a:t>
            </a:r>
            <a:r>
              <a:rPr lang="en-US" dirty="0"/>
              <a:t>The same logic is for space complexity so, the worst-case space complexity of Uniform-cost search is </a:t>
            </a:r>
            <a:r>
              <a:rPr lang="en-US" b="1" dirty="0"/>
              <a:t>O(b</a:t>
            </a:r>
            <a:r>
              <a:rPr lang="en-US" b="1" baseline="30000" dirty="0"/>
              <a:t>1 + [C*/ε]</a:t>
            </a:r>
            <a:r>
              <a:rPr lang="en-US" b="1" dirty="0"/>
              <a:t>)</a:t>
            </a:r>
            <a:r>
              <a:rPr lang="en-US" dirty="0"/>
              <a:t>.</a:t>
            </a:r>
          </a:p>
          <a:p>
            <a:pPr>
              <a:lnSpc>
                <a:spcPct val="120000"/>
              </a:lnSpc>
            </a:pPr>
            <a:r>
              <a:rPr lang="en-US" b="1" dirty="0">
                <a:solidFill>
                  <a:srgbClr val="FF0000"/>
                </a:solidFill>
              </a:rPr>
              <a:t>Optimal</a:t>
            </a:r>
            <a:r>
              <a:rPr lang="en-US" b="1" dirty="0"/>
              <a:t>: </a:t>
            </a:r>
            <a:r>
              <a:rPr lang="en-US" dirty="0"/>
              <a:t>Uniform-cost search is always optimal as it only selects a path with the lowest path cost.</a:t>
            </a:r>
          </a:p>
          <a:p>
            <a:pPr>
              <a:lnSpc>
                <a:spcPct val="120000"/>
              </a:lnSpc>
            </a:pPr>
            <a:endParaRPr lang="en-US" dirty="0"/>
          </a:p>
          <a:p>
            <a:pPr>
              <a:lnSpc>
                <a:spcPct val="120000"/>
              </a:lnSpc>
            </a:pPr>
            <a:endParaRPr lang="en-US" dirty="0"/>
          </a:p>
          <a:p>
            <a:pPr>
              <a:lnSpc>
                <a:spcPct val="120000"/>
              </a:lnSpc>
            </a:pPr>
            <a:endParaRPr lang="en-IN" dirty="0"/>
          </a:p>
        </p:txBody>
      </p:sp>
    </p:spTree>
    <p:extLst>
      <p:ext uri="{BB962C8B-B14F-4D97-AF65-F5344CB8AC3E}">
        <p14:creationId xmlns:p14="http://schemas.microsoft.com/office/powerpoint/2010/main" val="330072714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br>
            <a:r>
              <a:rPr lang="en-US" dirty="0"/>
              <a:t>Uniform-cost Search Algorithm</a:t>
            </a:r>
            <a:br>
              <a:rPr lang="en-US" dirty="0"/>
            </a:br>
            <a:endParaRPr lang="en-IN" dirty="0"/>
          </a:p>
        </p:txBody>
      </p:sp>
      <p:sp>
        <p:nvSpPr>
          <p:cNvPr id="3" name="Content Placeholder 2"/>
          <p:cNvSpPr>
            <a:spLocks noGrp="1"/>
          </p:cNvSpPr>
          <p:nvPr>
            <p:ph idx="1"/>
          </p:nvPr>
        </p:nvSpPr>
        <p:spPr/>
        <p:txBody>
          <a:bodyPr/>
          <a:lstStyle/>
          <a:p>
            <a:r>
              <a:rPr lang="en-IN" dirty="0"/>
              <a:t>Which solution would UCS find to move from node S to node G if run on the graph below?</a:t>
            </a:r>
          </a:p>
          <a:p>
            <a:endParaRPr lang="en-IN" dirty="0"/>
          </a:p>
          <a:p>
            <a:endParaRPr lang="en-IN" dirty="0"/>
          </a:p>
        </p:txBody>
      </p:sp>
      <p:pic>
        <p:nvPicPr>
          <p:cNvPr id="4" name="Picture 3" descr="UCS problem"/>
          <p:cNvPicPr/>
          <p:nvPr/>
        </p:nvPicPr>
        <p:blipFill>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2338386" y="3048000"/>
            <a:ext cx="4467225" cy="2247900"/>
          </a:xfrm>
          <a:prstGeom prst="rect">
            <a:avLst/>
          </a:prstGeom>
          <a:noFill/>
          <a:ln>
            <a:noFill/>
          </a:ln>
        </p:spPr>
      </p:pic>
    </p:spTree>
    <p:extLst>
      <p:ext uri="{BB962C8B-B14F-4D97-AF65-F5344CB8AC3E}">
        <p14:creationId xmlns:p14="http://schemas.microsoft.com/office/powerpoint/2010/main" val="270063102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fontScale="90000"/>
          </a:bodyPr>
          <a:lstStyle/>
          <a:p>
            <a:br>
              <a:rPr lang="en-US" dirty="0"/>
            </a:br>
            <a:r>
              <a:rPr lang="en-US" dirty="0"/>
              <a:t>Uniform-cost Search Algorithm</a:t>
            </a:r>
            <a:br>
              <a:rPr lang="en-US" dirty="0"/>
            </a:br>
            <a:endParaRPr lang="en-IN" dirty="0"/>
          </a:p>
        </p:txBody>
      </p:sp>
      <p:sp>
        <p:nvSpPr>
          <p:cNvPr id="3" name="Content Placeholder 2"/>
          <p:cNvSpPr>
            <a:spLocks noGrp="1"/>
          </p:cNvSpPr>
          <p:nvPr>
            <p:ph idx="1"/>
          </p:nvPr>
        </p:nvSpPr>
        <p:spPr>
          <a:xfrm>
            <a:off x="457200" y="914400"/>
            <a:ext cx="8229600" cy="5211763"/>
          </a:xfrm>
        </p:spPr>
        <p:txBody>
          <a:bodyPr/>
          <a:lstStyle/>
          <a:p>
            <a:r>
              <a:rPr lang="en-IN" sz="2800" dirty="0"/>
              <a:t>Algorithm:</a:t>
            </a:r>
          </a:p>
          <a:p>
            <a:endParaRPr lang="en-IN"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44165" y="1390650"/>
            <a:ext cx="5210175" cy="438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98125" y="2133600"/>
            <a:ext cx="5908443" cy="4171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8313536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Depth-first search</a:t>
            </a:r>
            <a:endParaRPr lang="en-IN" dirty="0"/>
          </a:p>
        </p:txBody>
      </p:sp>
      <p:sp>
        <p:nvSpPr>
          <p:cNvPr id="3" name="Content Placeholder 2"/>
          <p:cNvSpPr>
            <a:spLocks noGrp="1"/>
          </p:cNvSpPr>
          <p:nvPr>
            <p:ph idx="1"/>
          </p:nvPr>
        </p:nvSpPr>
        <p:spPr/>
        <p:txBody>
          <a:bodyPr>
            <a:normAutofit/>
          </a:bodyPr>
          <a:lstStyle/>
          <a:p>
            <a:r>
              <a:rPr lang="en-US" dirty="0"/>
              <a:t>Depth-first search is a </a:t>
            </a:r>
            <a:r>
              <a:rPr lang="en-US" dirty="0">
                <a:solidFill>
                  <a:srgbClr val="FF0000"/>
                </a:solidFill>
              </a:rPr>
              <a:t>recursive algorithm </a:t>
            </a:r>
            <a:r>
              <a:rPr lang="en-US" dirty="0"/>
              <a:t>for traversing a tree or graph data structure.</a:t>
            </a:r>
          </a:p>
          <a:p>
            <a:pPr algn="just"/>
            <a:r>
              <a:rPr lang="en-US" dirty="0"/>
              <a:t>It is called the depth-first search because it starts from the root node and </a:t>
            </a:r>
            <a:r>
              <a:rPr lang="en-US" dirty="0">
                <a:solidFill>
                  <a:srgbClr val="FF0000"/>
                </a:solidFill>
              </a:rPr>
              <a:t>follows each path to its greatest depth node before moving to the next path</a:t>
            </a:r>
            <a:r>
              <a:rPr lang="en-US" dirty="0"/>
              <a:t>.</a:t>
            </a:r>
          </a:p>
          <a:p>
            <a:pPr algn="just"/>
            <a:r>
              <a:rPr lang="en-US" dirty="0"/>
              <a:t>DFS uses a </a:t>
            </a:r>
            <a:r>
              <a:rPr lang="en-US" dirty="0">
                <a:solidFill>
                  <a:srgbClr val="FF0000"/>
                </a:solidFill>
              </a:rPr>
              <a:t>stack data structure </a:t>
            </a:r>
            <a:r>
              <a:rPr lang="en-US" dirty="0"/>
              <a:t>for its implementation.</a:t>
            </a:r>
          </a:p>
          <a:p>
            <a:endParaRPr lang="en-IN" dirty="0"/>
          </a:p>
        </p:txBody>
      </p:sp>
    </p:spTree>
    <p:extLst>
      <p:ext uri="{BB962C8B-B14F-4D97-AF65-F5344CB8AC3E}">
        <p14:creationId xmlns:p14="http://schemas.microsoft.com/office/powerpoint/2010/main" val="391667505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Depth-first search</a:t>
            </a:r>
            <a:endParaRPr lang="en-IN" dirty="0"/>
          </a:p>
        </p:txBody>
      </p:sp>
      <p:sp>
        <p:nvSpPr>
          <p:cNvPr id="3" name="Content Placeholder 2"/>
          <p:cNvSpPr>
            <a:spLocks noGrp="1"/>
          </p:cNvSpPr>
          <p:nvPr>
            <p:ph idx="1"/>
          </p:nvPr>
        </p:nvSpPr>
        <p:spPr/>
        <p:txBody>
          <a:bodyPr>
            <a:normAutofit lnSpcReduction="10000"/>
          </a:bodyPr>
          <a:lstStyle/>
          <a:p>
            <a:pPr algn="just"/>
            <a:r>
              <a:rPr lang="en-IN" dirty="0"/>
              <a:t>The search proceeds immediately to the deepest level of the search tree, where the nodes have no successors. </a:t>
            </a:r>
          </a:p>
          <a:p>
            <a:pPr algn="just"/>
            <a:r>
              <a:rPr lang="en-IN" dirty="0"/>
              <a:t>The search then “backs up” to the next deepest node that still has unexpanded successors. </a:t>
            </a:r>
          </a:p>
          <a:p>
            <a:pPr algn="just"/>
            <a:r>
              <a:rPr lang="en-IN" dirty="0">
                <a:solidFill>
                  <a:srgbClr val="FF0000"/>
                </a:solidFill>
              </a:rPr>
              <a:t>Depth-first search is not cost-optimal; it returns the first solution it finds, even if it is not cheapest.</a:t>
            </a:r>
          </a:p>
        </p:txBody>
      </p:sp>
    </p:spTree>
    <p:extLst>
      <p:ext uri="{BB962C8B-B14F-4D97-AF65-F5344CB8AC3E}">
        <p14:creationId xmlns:p14="http://schemas.microsoft.com/office/powerpoint/2010/main" val="248539886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Depth-first search</a:t>
            </a:r>
            <a:endParaRPr lang="en-IN" dirty="0"/>
          </a:p>
        </p:txBody>
      </p:sp>
      <p:sp>
        <p:nvSpPr>
          <p:cNvPr id="3" name="Content Placeholder 2"/>
          <p:cNvSpPr>
            <a:spLocks noGrp="1"/>
          </p:cNvSpPr>
          <p:nvPr>
            <p:ph sz="half" idx="1"/>
          </p:nvPr>
        </p:nvSpPr>
        <p:spPr/>
        <p:txBody>
          <a:bodyPr>
            <a:normAutofit fontScale="85000" lnSpcReduction="10000"/>
          </a:bodyPr>
          <a:lstStyle/>
          <a:p>
            <a:r>
              <a:rPr lang="en-US" dirty="0"/>
              <a:t>Root node---&gt;Left node ----&gt; right node.</a:t>
            </a:r>
          </a:p>
          <a:p>
            <a:pPr algn="just"/>
            <a:r>
              <a:rPr lang="en-US" dirty="0"/>
              <a:t>It will start searching from root node S, and traverse A, then B, then D and E, after traversing E, it will backtrack the tree as E has no other successor and still goal node is not found. After backtracking it will traverse node C and then G, and here it will terminate as it found goal node.</a:t>
            </a:r>
          </a:p>
          <a:p>
            <a:endParaRPr lang="en-US" dirty="0"/>
          </a:p>
        </p:txBody>
      </p:sp>
      <p:pic>
        <p:nvPicPr>
          <p:cNvPr id="6" name="Picture 2" descr="Uninformed Search Algorithms"/>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4648200" y="2247741"/>
            <a:ext cx="4038600" cy="32308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7304561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dirty="0"/>
              <a:t>Depth-first search</a:t>
            </a:r>
            <a:endParaRPr lang="en-IN" dirty="0"/>
          </a:p>
        </p:txBody>
      </p:sp>
      <p:sp>
        <p:nvSpPr>
          <p:cNvPr id="3" name="Content Placeholder 2"/>
          <p:cNvSpPr>
            <a:spLocks noGrp="1"/>
          </p:cNvSpPr>
          <p:nvPr>
            <p:ph idx="1"/>
          </p:nvPr>
        </p:nvSpPr>
        <p:spPr>
          <a:xfrm>
            <a:off x="457200" y="1066800"/>
            <a:ext cx="8229600" cy="5059363"/>
          </a:xfrm>
        </p:spPr>
        <p:txBody>
          <a:bodyPr/>
          <a:lstStyle/>
          <a:p>
            <a:r>
              <a:rPr lang="en-IN" sz="2800" dirty="0"/>
              <a:t>Example:</a:t>
            </a:r>
          </a:p>
          <a:p>
            <a:endParaRPr lang="en-IN"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5963" y="1524000"/>
            <a:ext cx="5172075" cy="5029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5111947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Depth-first search</a:t>
            </a:r>
            <a:endParaRPr lang="en-IN" dirty="0"/>
          </a:p>
        </p:txBody>
      </p:sp>
      <p:sp>
        <p:nvSpPr>
          <p:cNvPr id="3" name="Content Placeholder 2"/>
          <p:cNvSpPr>
            <a:spLocks noGrp="1"/>
          </p:cNvSpPr>
          <p:nvPr>
            <p:ph idx="1"/>
          </p:nvPr>
        </p:nvSpPr>
        <p:spPr/>
        <p:txBody>
          <a:bodyPr/>
          <a:lstStyle/>
          <a:p>
            <a:r>
              <a:rPr lang="en-US" altLang="en-US" sz="2400" u="sng" dirty="0">
                <a:solidFill>
                  <a:srgbClr val="FF0000"/>
                </a:solidFill>
                <a:latin typeface="Times New Roman" pitchFamily="18" charset="0"/>
                <a:cs typeface="Times New Roman" pitchFamily="18" charset="0"/>
              </a:rPr>
              <a:t>Complete?</a:t>
            </a:r>
            <a:r>
              <a:rPr lang="en-US" altLang="en-US" sz="2400" dirty="0">
                <a:latin typeface="Times New Roman" pitchFamily="18" charset="0"/>
                <a:cs typeface="Times New Roman" pitchFamily="18" charset="0"/>
              </a:rPr>
              <a:t> No: fails in infinite-depth spaces, spaces with loops</a:t>
            </a:r>
          </a:p>
          <a:p>
            <a:pPr lvl="1"/>
            <a:r>
              <a:rPr lang="en-US" altLang="en-US" sz="2000" dirty="0">
                <a:latin typeface="Times New Roman" pitchFamily="18" charset="0"/>
                <a:cs typeface="Times New Roman" pitchFamily="18" charset="0"/>
              </a:rPr>
              <a:t>Modify to avoid repeated states along path
</a:t>
            </a:r>
          </a:p>
          <a:p>
            <a:pPr lvl="2">
              <a:buNone/>
            </a:pPr>
            <a:r>
              <a:rPr lang="en-US" altLang="en-US" sz="1800" dirty="0">
                <a:latin typeface="Times New Roman" pitchFamily="18" charset="0"/>
                <a:cs typeface="Times New Roman" pitchFamily="18" charset="0"/>
                <a:sym typeface="Wingdings" pitchFamily="2" charset="2"/>
              </a:rPr>
              <a:t></a:t>
            </a:r>
            <a:r>
              <a:rPr lang="en-US" altLang="en-US" sz="1800" dirty="0">
                <a:latin typeface="Times New Roman" pitchFamily="18" charset="0"/>
                <a:cs typeface="Times New Roman" pitchFamily="18" charset="0"/>
              </a:rPr>
              <a:t> complete in finite spaces
</a:t>
            </a:r>
          </a:p>
          <a:p>
            <a:r>
              <a:rPr lang="en-US" altLang="en-US" sz="2400" u="sng" dirty="0">
                <a:solidFill>
                  <a:srgbClr val="FF0000"/>
                </a:solidFill>
                <a:latin typeface="Times New Roman" pitchFamily="18" charset="0"/>
                <a:cs typeface="Times New Roman" pitchFamily="18" charset="0"/>
              </a:rPr>
              <a:t>Time?</a:t>
            </a:r>
            <a:r>
              <a:rPr lang="en-US" altLang="en-US" sz="2400" dirty="0">
                <a:latin typeface="Times New Roman" pitchFamily="18" charset="0"/>
                <a:cs typeface="Times New Roman" pitchFamily="18" charset="0"/>
              </a:rPr>
              <a:t> </a:t>
            </a:r>
            <a:r>
              <a:rPr lang="en-US" altLang="en-US" sz="2400" i="1" dirty="0">
                <a:latin typeface="Times New Roman" pitchFamily="18" charset="0"/>
                <a:cs typeface="Times New Roman" pitchFamily="18" charset="0"/>
              </a:rPr>
              <a:t>O(</a:t>
            </a:r>
            <a:r>
              <a:rPr lang="en-US" altLang="en-US" sz="2400" i="1" dirty="0" err="1">
                <a:latin typeface="Times New Roman" pitchFamily="18" charset="0"/>
                <a:cs typeface="Times New Roman" pitchFamily="18" charset="0"/>
              </a:rPr>
              <a:t>b</a:t>
            </a:r>
            <a:r>
              <a:rPr lang="en-US" altLang="en-US" sz="2400" i="1" baseline="30000" dirty="0" err="1">
                <a:latin typeface="Times New Roman" pitchFamily="18" charset="0"/>
                <a:cs typeface="Times New Roman" pitchFamily="18" charset="0"/>
              </a:rPr>
              <a:t>m</a:t>
            </a:r>
            <a:r>
              <a:rPr lang="en-US" altLang="en-US" sz="2400" i="1" dirty="0">
                <a:latin typeface="Times New Roman" pitchFamily="18" charset="0"/>
                <a:cs typeface="Times New Roman" pitchFamily="18" charset="0"/>
              </a:rPr>
              <a:t>)</a:t>
            </a:r>
            <a:r>
              <a:rPr lang="en-US" altLang="en-US" sz="2400" dirty="0">
                <a:latin typeface="Times New Roman" pitchFamily="18" charset="0"/>
                <a:cs typeface="Times New Roman" pitchFamily="18" charset="0"/>
              </a:rPr>
              <a:t>: terrible if </a:t>
            </a:r>
            <a:r>
              <a:rPr lang="en-US" altLang="en-US" sz="2400" i="1" dirty="0">
                <a:latin typeface="Times New Roman" pitchFamily="18" charset="0"/>
                <a:cs typeface="Times New Roman" pitchFamily="18" charset="0"/>
              </a:rPr>
              <a:t>m</a:t>
            </a:r>
            <a:r>
              <a:rPr lang="en-US" altLang="en-US" sz="2400" dirty="0">
                <a:latin typeface="Times New Roman" pitchFamily="18" charset="0"/>
                <a:cs typeface="Times New Roman" pitchFamily="18" charset="0"/>
              </a:rPr>
              <a:t> is much larger than </a:t>
            </a:r>
            <a:r>
              <a:rPr lang="en-US" altLang="en-US" sz="2400" i="1" dirty="0">
                <a:latin typeface="Times New Roman" pitchFamily="18" charset="0"/>
                <a:cs typeface="Times New Roman" pitchFamily="18" charset="0"/>
              </a:rPr>
              <a:t>d</a:t>
            </a:r>
          </a:p>
          <a:p>
            <a:pPr lvl="1"/>
            <a:r>
              <a:rPr lang="en-US" altLang="en-US" sz="2000" dirty="0">
                <a:latin typeface="Times New Roman" pitchFamily="18" charset="0"/>
                <a:cs typeface="Times New Roman" pitchFamily="18" charset="0"/>
              </a:rPr>
              <a:t> but if solutions are dense, may be much faster than breadth-first</a:t>
            </a:r>
          </a:p>
          <a:p>
            <a:pPr lvl="1">
              <a:buNone/>
            </a:pPr>
            <a:endParaRPr lang="en-US" altLang="en-US" sz="2000" dirty="0">
              <a:latin typeface="Times New Roman" pitchFamily="18" charset="0"/>
              <a:cs typeface="Times New Roman" pitchFamily="18" charset="0"/>
            </a:endParaRPr>
          </a:p>
          <a:p>
            <a:r>
              <a:rPr lang="en-US" altLang="en-US" sz="2400" u="sng" dirty="0">
                <a:solidFill>
                  <a:srgbClr val="FF0000"/>
                </a:solidFill>
                <a:latin typeface="Times New Roman" pitchFamily="18" charset="0"/>
                <a:cs typeface="Times New Roman" pitchFamily="18" charset="0"/>
              </a:rPr>
              <a:t>Space?</a:t>
            </a:r>
            <a:r>
              <a:rPr lang="en-US" altLang="en-US" sz="2400" dirty="0">
                <a:latin typeface="Times New Roman" pitchFamily="18" charset="0"/>
                <a:cs typeface="Times New Roman" pitchFamily="18" charset="0"/>
              </a:rPr>
              <a:t> </a:t>
            </a:r>
            <a:r>
              <a:rPr lang="en-US" altLang="en-US" sz="2400" i="1" dirty="0">
                <a:latin typeface="Times New Roman" pitchFamily="18" charset="0"/>
                <a:cs typeface="Times New Roman" pitchFamily="18" charset="0"/>
              </a:rPr>
              <a:t>O(</a:t>
            </a:r>
            <a:r>
              <a:rPr lang="en-US" altLang="en-US" sz="2400" i="1" dirty="0" err="1">
                <a:latin typeface="Times New Roman" pitchFamily="18" charset="0"/>
                <a:cs typeface="Times New Roman" pitchFamily="18" charset="0"/>
              </a:rPr>
              <a:t>bm</a:t>
            </a:r>
            <a:r>
              <a:rPr lang="en-US" altLang="en-US" sz="2400" i="1" dirty="0">
                <a:latin typeface="Times New Roman" pitchFamily="18" charset="0"/>
                <a:cs typeface="Times New Roman" pitchFamily="18" charset="0"/>
              </a:rPr>
              <a:t>), </a:t>
            </a:r>
            <a:r>
              <a:rPr lang="en-US" altLang="en-US" sz="2400" dirty="0">
                <a:latin typeface="Times New Roman" pitchFamily="18" charset="0"/>
                <a:cs typeface="Times New Roman" pitchFamily="18" charset="0"/>
              </a:rPr>
              <a:t>i.e., linear space!</a:t>
            </a:r>
          </a:p>
          <a:p>
            <a:pPr>
              <a:buNone/>
            </a:pPr>
            <a:endParaRPr lang="en-US" altLang="en-US" sz="2400" dirty="0">
              <a:latin typeface="Times New Roman" pitchFamily="18" charset="0"/>
              <a:cs typeface="Times New Roman" pitchFamily="18" charset="0"/>
            </a:endParaRPr>
          </a:p>
          <a:p>
            <a:r>
              <a:rPr lang="en-US" altLang="en-US" sz="2400" u="sng" dirty="0">
                <a:solidFill>
                  <a:srgbClr val="FF0000"/>
                </a:solidFill>
                <a:latin typeface="Times New Roman" pitchFamily="18" charset="0"/>
                <a:cs typeface="Times New Roman" pitchFamily="18" charset="0"/>
              </a:rPr>
              <a:t>Optimal?</a:t>
            </a:r>
            <a:r>
              <a:rPr lang="en-US" altLang="en-US" sz="2400" dirty="0">
                <a:latin typeface="Times New Roman" pitchFamily="18" charset="0"/>
                <a:cs typeface="Times New Roman" pitchFamily="18" charset="0"/>
              </a:rPr>
              <a:t> No</a:t>
            </a:r>
          </a:p>
          <a:p>
            <a:endParaRPr lang="en-IN" dirty="0"/>
          </a:p>
        </p:txBody>
      </p:sp>
    </p:spTree>
    <p:extLst>
      <p:ext uri="{BB962C8B-B14F-4D97-AF65-F5344CB8AC3E}">
        <p14:creationId xmlns:p14="http://schemas.microsoft.com/office/powerpoint/2010/main" val="103831451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Depth-limited search</a:t>
            </a:r>
          </a:p>
        </p:txBody>
      </p:sp>
      <p:sp>
        <p:nvSpPr>
          <p:cNvPr id="3" name="Content Placeholder 2"/>
          <p:cNvSpPr>
            <a:spLocks noGrp="1"/>
          </p:cNvSpPr>
          <p:nvPr>
            <p:ph idx="1"/>
          </p:nvPr>
        </p:nvSpPr>
        <p:spPr/>
        <p:txBody>
          <a:bodyPr>
            <a:normAutofit fontScale="62500" lnSpcReduction="20000"/>
          </a:bodyPr>
          <a:lstStyle/>
          <a:p>
            <a:pPr algn="just"/>
            <a:r>
              <a:rPr lang="en-US" dirty="0"/>
              <a:t>A depth-limited search algorithm is similar to </a:t>
            </a:r>
            <a:r>
              <a:rPr lang="en-US" dirty="0">
                <a:solidFill>
                  <a:srgbClr val="FF0000"/>
                </a:solidFill>
              </a:rPr>
              <a:t>depth-first search with a predetermined limit</a:t>
            </a:r>
            <a:r>
              <a:rPr lang="en-US" dirty="0"/>
              <a:t>. </a:t>
            </a:r>
          </a:p>
          <a:p>
            <a:pPr lvl="4">
              <a:buNone/>
            </a:pPr>
            <a:r>
              <a:rPr lang="en-US" altLang="en-US" sz="3600" dirty="0">
                <a:solidFill>
                  <a:srgbClr val="00B050"/>
                </a:solidFill>
                <a:latin typeface="Times New Roman" pitchFamily="18" charset="0"/>
                <a:cs typeface="Times New Roman" pitchFamily="18" charset="0"/>
              </a:rPr>
              <a:t>depth-first search with depth limit </a:t>
            </a:r>
            <a:r>
              <a:rPr lang="en-US" altLang="en-US" sz="3600" i="1" dirty="0">
                <a:solidFill>
                  <a:srgbClr val="00B050"/>
                </a:solidFill>
                <a:latin typeface="Times New Roman" pitchFamily="18" charset="0"/>
                <a:cs typeface="Times New Roman" pitchFamily="18" charset="0"/>
              </a:rPr>
              <a:t>l</a:t>
            </a:r>
            <a:endParaRPr lang="en-US" altLang="en-US" sz="3600" dirty="0">
              <a:solidFill>
                <a:srgbClr val="00B050"/>
              </a:solidFill>
              <a:latin typeface="Times New Roman" pitchFamily="18" charset="0"/>
              <a:cs typeface="Times New Roman" pitchFamily="18" charset="0"/>
            </a:endParaRPr>
          </a:p>
          <a:p>
            <a:pPr algn="just"/>
            <a:r>
              <a:rPr lang="en-US" dirty="0"/>
              <a:t>Depth-limited search can solve the drawback of the </a:t>
            </a:r>
            <a:r>
              <a:rPr lang="en-US" dirty="0">
                <a:solidFill>
                  <a:srgbClr val="FF0000"/>
                </a:solidFill>
              </a:rPr>
              <a:t>infinite path in the Depth-first search</a:t>
            </a:r>
            <a:r>
              <a:rPr lang="en-US" dirty="0"/>
              <a:t>. In this algorithm, the node at the </a:t>
            </a:r>
            <a:r>
              <a:rPr lang="en-US" dirty="0">
                <a:solidFill>
                  <a:srgbClr val="FF0000"/>
                </a:solidFill>
              </a:rPr>
              <a:t>depth limit will treat as it has no successor nodes further</a:t>
            </a:r>
            <a:r>
              <a:rPr lang="en-US" dirty="0"/>
              <a:t>.</a:t>
            </a:r>
          </a:p>
          <a:p>
            <a:pPr algn="just"/>
            <a:r>
              <a:rPr lang="en-US" dirty="0"/>
              <a:t>Depth-limited search can be terminated with </a:t>
            </a:r>
            <a:r>
              <a:rPr lang="en-US" dirty="0">
                <a:solidFill>
                  <a:srgbClr val="FF0000"/>
                </a:solidFill>
              </a:rPr>
              <a:t>two conditions of failure</a:t>
            </a:r>
            <a:r>
              <a:rPr lang="en-US" dirty="0"/>
              <a:t>:</a:t>
            </a:r>
          </a:p>
          <a:p>
            <a:pPr lvl="1" algn="just"/>
            <a:r>
              <a:rPr lang="en-US" dirty="0">
                <a:solidFill>
                  <a:srgbClr val="FF0000"/>
                </a:solidFill>
              </a:rPr>
              <a:t>Standard failure value</a:t>
            </a:r>
            <a:r>
              <a:rPr lang="en-US" dirty="0"/>
              <a:t>: It indicates that </a:t>
            </a:r>
            <a:r>
              <a:rPr lang="en-US" dirty="0">
                <a:solidFill>
                  <a:srgbClr val="FF0000"/>
                </a:solidFill>
              </a:rPr>
              <a:t>problem does not have any solution</a:t>
            </a:r>
            <a:r>
              <a:rPr lang="en-US" dirty="0"/>
              <a:t>.</a:t>
            </a:r>
          </a:p>
          <a:p>
            <a:pPr lvl="1" algn="just"/>
            <a:r>
              <a:rPr lang="en-US" dirty="0">
                <a:solidFill>
                  <a:srgbClr val="FF0000"/>
                </a:solidFill>
              </a:rPr>
              <a:t>Cutoff failure value</a:t>
            </a:r>
            <a:r>
              <a:rPr lang="en-US" dirty="0"/>
              <a:t>: It defines no solution for the problem within a given depth limit.</a:t>
            </a:r>
          </a:p>
          <a:p>
            <a:pPr algn="just"/>
            <a:r>
              <a:rPr lang="en-US" b="1" dirty="0"/>
              <a:t>Advantages:</a:t>
            </a:r>
            <a:endParaRPr lang="en-US" dirty="0"/>
          </a:p>
          <a:p>
            <a:pPr lvl="1" algn="just"/>
            <a:r>
              <a:rPr lang="en-US" dirty="0"/>
              <a:t>Depth-limited search is </a:t>
            </a:r>
            <a:r>
              <a:rPr lang="en-US" dirty="0">
                <a:solidFill>
                  <a:srgbClr val="FF0000"/>
                </a:solidFill>
              </a:rPr>
              <a:t>Memory efficient</a:t>
            </a:r>
            <a:r>
              <a:rPr lang="en-US" dirty="0"/>
              <a:t>.</a:t>
            </a:r>
          </a:p>
          <a:p>
            <a:pPr algn="just"/>
            <a:r>
              <a:rPr lang="en-US" b="1" dirty="0"/>
              <a:t>Disadvantages:</a:t>
            </a:r>
            <a:endParaRPr lang="en-US" dirty="0"/>
          </a:p>
          <a:p>
            <a:pPr lvl="1" algn="just"/>
            <a:r>
              <a:rPr lang="en-US" dirty="0"/>
              <a:t>Depth-limited search also has a disadvantage </a:t>
            </a:r>
            <a:r>
              <a:rPr lang="en-US" dirty="0">
                <a:solidFill>
                  <a:srgbClr val="FF0000"/>
                </a:solidFill>
              </a:rPr>
              <a:t>of incompleteness</a:t>
            </a:r>
            <a:r>
              <a:rPr lang="en-US" dirty="0"/>
              <a:t>.</a:t>
            </a:r>
          </a:p>
          <a:p>
            <a:pPr lvl="1" algn="just"/>
            <a:r>
              <a:rPr lang="en-US" dirty="0"/>
              <a:t>It may </a:t>
            </a:r>
            <a:r>
              <a:rPr lang="en-US" dirty="0">
                <a:solidFill>
                  <a:srgbClr val="FF0000"/>
                </a:solidFill>
              </a:rPr>
              <a:t>not be optimal </a:t>
            </a:r>
            <a:r>
              <a:rPr lang="en-US" dirty="0"/>
              <a:t>if the problem has more than one solution.</a:t>
            </a:r>
          </a:p>
          <a:p>
            <a:endParaRPr lang="en-IN" dirty="0"/>
          </a:p>
        </p:txBody>
      </p:sp>
    </p:spTree>
    <p:extLst>
      <p:ext uri="{BB962C8B-B14F-4D97-AF65-F5344CB8AC3E}">
        <p14:creationId xmlns:p14="http://schemas.microsoft.com/office/powerpoint/2010/main" val="139831889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Depth-limited search</a:t>
            </a:r>
          </a:p>
        </p:txBody>
      </p:sp>
      <p:sp>
        <p:nvSpPr>
          <p:cNvPr id="3" name="Content Placeholder 2"/>
          <p:cNvSpPr>
            <a:spLocks noGrp="1"/>
          </p:cNvSpPr>
          <p:nvPr>
            <p:ph idx="1"/>
          </p:nvPr>
        </p:nvSpPr>
        <p:spPr/>
        <p:txBody>
          <a:bodyPr/>
          <a:lstStyle/>
          <a:p>
            <a:r>
              <a:rPr lang="en-IN" dirty="0"/>
              <a:t>Example:</a:t>
            </a:r>
          </a:p>
          <a:p>
            <a:endParaRPr lang="en-IN" dirty="0"/>
          </a:p>
        </p:txBody>
      </p:sp>
      <p:pic>
        <p:nvPicPr>
          <p:cNvPr id="4" name="Picture 2" descr="Uninformed Search Algorithm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2438400"/>
            <a:ext cx="47625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248837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Depth-limited search</a:t>
            </a:r>
          </a:p>
        </p:txBody>
      </p:sp>
      <p:sp>
        <p:nvSpPr>
          <p:cNvPr id="3" name="Content Placeholder 2"/>
          <p:cNvSpPr>
            <a:spLocks noGrp="1"/>
          </p:cNvSpPr>
          <p:nvPr>
            <p:ph idx="1"/>
          </p:nvPr>
        </p:nvSpPr>
        <p:spPr/>
        <p:txBody>
          <a:bodyPr>
            <a:normAutofit/>
          </a:bodyPr>
          <a:lstStyle/>
          <a:p>
            <a:pPr>
              <a:lnSpc>
                <a:spcPct val="100000"/>
              </a:lnSpc>
            </a:pPr>
            <a:r>
              <a:rPr lang="en-US" b="1" dirty="0">
                <a:solidFill>
                  <a:srgbClr val="FF0000"/>
                </a:solidFill>
              </a:rPr>
              <a:t>Completeness</a:t>
            </a:r>
            <a:r>
              <a:rPr lang="en-US" b="1" dirty="0"/>
              <a:t>:</a:t>
            </a:r>
            <a:r>
              <a:rPr lang="en-US" dirty="0"/>
              <a:t> DLS search algorithm is complete if the solution is above the depth-limit.</a:t>
            </a:r>
          </a:p>
          <a:p>
            <a:pPr>
              <a:lnSpc>
                <a:spcPct val="100000"/>
              </a:lnSpc>
            </a:pPr>
            <a:r>
              <a:rPr lang="en-US" b="1" dirty="0">
                <a:solidFill>
                  <a:srgbClr val="FF0000"/>
                </a:solidFill>
              </a:rPr>
              <a:t>Time Complexity</a:t>
            </a:r>
            <a:r>
              <a:rPr lang="en-US" b="1" dirty="0"/>
              <a:t>:</a:t>
            </a:r>
            <a:r>
              <a:rPr lang="en-US" dirty="0"/>
              <a:t> </a:t>
            </a:r>
            <a:r>
              <a:rPr lang="en-US" b="1" dirty="0"/>
              <a:t>O(b</a:t>
            </a:r>
            <a:r>
              <a:rPr lang="en-US" b="1" baseline="30000" dirty="0"/>
              <a:t>ℓ</a:t>
            </a:r>
            <a:r>
              <a:rPr lang="en-US" b="1" dirty="0"/>
              <a:t>)</a:t>
            </a:r>
            <a:r>
              <a:rPr lang="en-US" dirty="0"/>
              <a:t>.</a:t>
            </a:r>
          </a:p>
          <a:p>
            <a:pPr>
              <a:lnSpc>
                <a:spcPct val="100000"/>
              </a:lnSpc>
            </a:pPr>
            <a:r>
              <a:rPr lang="en-US" b="1" dirty="0">
                <a:solidFill>
                  <a:srgbClr val="FF0000"/>
                </a:solidFill>
              </a:rPr>
              <a:t>Space Complexity</a:t>
            </a:r>
            <a:r>
              <a:rPr lang="en-US" b="1" dirty="0"/>
              <a:t>:</a:t>
            </a:r>
            <a:r>
              <a:rPr lang="en-US" dirty="0"/>
              <a:t> O</a:t>
            </a:r>
            <a:r>
              <a:rPr lang="en-US" b="1" dirty="0"/>
              <a:t>(b×ℓ)</a:t>
            </a:r>
            <a:r>
              <a:rPr lang="en-US" dirty="0"/>
              <a:t>.</a:t>
            </a:r>
          </a:p>
          <a:p>
            <a:pPr>
              <a:lnSpc>
                <a:spcPct val="100000"/>
              </a:lnSpc>
            </a:pPr>
            <a:r>
              <a:rPr lang="en-US" b="1" dirty="0">
                <a:solidFill>
                  <a:srgbClr val="FF0000"/>
                </a:solidFill>
              </a:rPr>
              <a:t>Optimal</a:t>
            </a:r>
            <a:r>
              <a:rPr lang="en-US" b="1" dirty="0"/>
              <a:t>:</a:t>
            </a:r>
            <a:r>
              <a:rPr lang="en-US" dirty="0"/>
              <a:t> Depth-limited search can be viewed as a special case of DFS, and it is also not optimal even if ℓ&gt;d</a:t>
            </a:r>
          </a:p>
          <a:p>
            <a:endParaRPr lang="en-IN" dirty="0"/>
          </a:p>
        </p:txBody>
      </p:sp>
    </p:spTree>
    <p:extLst>
      <p:ext uri="{BB962C8B-B14F-4D97-AF65-F5344CB8AC3E}">
        <p14:creationId xmlns:p14="http://schemas.microsoft.com/office/powerpoint/2010/main" val="311853448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Depth-limited search</a:t>
            </a:r>
          </a:p>
        </p:txBody>
      </p:sp>
      <p:sp>
        <p:nvSpPr>
          <p:cNvPr id="3" name="Content Placeholder 2"/>
          <p:cNvSpPr>
            <a:spLocks noGrp="1"/>
          </p:cNvSpPr>
          <p:nvPr>
            <p:ph idx="1"/>
          </p:nvPr>
        </p:nvSpPr>
        <p:spPr/>
        <p:txBody>
          <a:bodyPr/>
          <a:lstStyle/>
          <a:p>
            <a:r>
              <a:rPr lang="en-IN" dirty="0"/>
              <a:t>Algorithm:</a:t>
            </a:r>
          </a:p>
          <a:p>
            <a:endParaRPr lang="en-IN"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76338" y="2264391"/>
            <a:ext cx="6791325" cy="3390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7089446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dirty="0"/>
              <a:t>Iterative deepening depth-first Search</a:t>
            </a:r>
            <a:br>
              <a:rPr lang="en-US" dirty="0"/>
            </a:br>
            <a:endParaRPr lang="en-IN" dirty="0"/>
          </a:p>
        </p:txBody>
      </p:sp>
      <p:sp>
        <p:nvSpPr>
          <p:cNvPr id="6" name="Content Placeholder 5"/>
          <p:cNvSpPr>
            <a:spLocks noGrp="1"/>
          </p:cNvSpPr>
          <p:nvPr>
            <p:ph idx="1"/>
          </p:nvPr>
        </p:nvSpPr>
        <p:spPr/>
        <p:txBody>
          <a:bodyPr>
            <a:normAutofit fontScale="77500" lnSpcReduction="20000"/>
          </a:bodyPr>
          <a:lstStyle/>
          <a:p>
            <a:pPr algn="just"/>
            <a:r>
              <a:rPr lang="en-US" dirty="0"/>
              <a:t>The iterative deepening algorithm is a combination of </a:t>
            </a:r>
            <a:r>
              <a:rPr lang="en-US" dirty="0">
                <a:solidFill>
                  <a:srgbClr val="FF0000"/>
                </a:solidFill>
              </a:rPr>
              <a:t>DFS and BFS algorithms</a:t>
            </a:r>
            <a:r>
              <a:rPr lang="en-US" dirty="0"/>
              <a:t>. </a:t>
            </a:r>
          </a:p>
          <a:p>
            <a:pPr algn="just"/>
            <a:r>
              <a:rPr lang="en-US" dirty="0"/>
              <a:t>This search algorithm finds out the </a:t>
            </a:r>
            <a:r>
              <a:rPr lang="en-US" dirty="0">
                <a:solidFill>
                  <a:srgbClr val="FF0000"/>
                </a:solidFill>
              </a:rPr>
              <a:t>best depth limit </a:t>
            </a:r>
            <a:r>
              <a:rPr lang="en-US" dirty="0"/>
              <a:t>and does it by gradually </a:t>
            </a:r>
            <a:r>
              <a:rPr lang="en-US" dirty="0">
                <a:solidFill>
                  <a:srgbClr val="FF0000"/>
                </a:solidFill>
              </a:rPr>
              <a:t>increasing the limit until a goal is found.</a:t>
            </a:r>
          </a:p>
          <a:p>
            <a:pPr algn="just"/>
            <a:r>
              <a:rPr lang="en-US" b="1" dirty="0">
                <a:solidFill>
                  <a:srgbClr val="00B050"/>
                </a:solidFill>
              </a:rPr>
              <a:t>This algorithm performs depth-first search up to a certain "depth limit", and it keeps increasing the depth limit after each iteration until the goal node is found.</a:t>
            </a:r>
          </a:p>
          <a:p>
            <a:pPr algn="just"/>
            <a:r>
              <a:rPr lang="en-US" dirty="0"/>
              <a:t>This search algorithm combines the </a:t>
            </a:r>
            <a:r>
              <a:rPr lang="en-US" dirty="0">
                <a:solidFill>
                  <a:srgbClr val="FF0000"/>
                </a:solidFill>
              </a:rPr>
              <a:t>benefits of Breadth-first search's fast search and depth-first search's memory efficiency</a:t>
            </a:r>
            <a:r>
              <a:rPr lang="en-US" dirty="0"/>
              <a:t>.</a:t>
            </a:r>
          </a:p>
          <a:p>
            <a:pPr algn="just"/>
            <a:r>
              <a:rPr lang="en-US" dirty="0"/>
              <a:t>The iterative search algorithm is useful uninformed search </a:t>
            </a:r>
            <a:r>
              <a:rPr lang="en-US" dirty="0">
                <a:solidFill>
                  <a:srgbClr val="FF0000"/>
                </a:solidFill>
              </a:rPr>
              <a:t>when search space is large</a:t>
            </a:r>
            <a:r>
              <a:rPr lang="en-US" dirty="0"/>
              <a:t>, and depth of goal node is unknown.</a:t>
            </a:r>
          </a:p>
          <a:p>
            <a:endParaRPr lang="en-US" dirty="0"/>
          </a:p>
          <a:p>
            <a:endParaRPr lang="en-IN" dirty="0"/>
          </a:p>
        </p:txBody>
      </p:sp>
    </p:spTree>
    <p:extLst>
      <p:ext uri="{BB962C8B-B14F-4D97-AF65-F5344CB8AC3E}">
        <p14:creationId xmlns:p14="http://schemas.microsoft.com/office/powerpoint/2010/main" val="3657339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br>
            <a:r>
              <a:rPr lang="en-US" dirty="0"/>
              <a:t>Iterative deepening depth-first Search</a:t>
            </a:r>
            <a:br>
              <a:rPr lang="en-US" dirty="0"/>
            </a:br>
            <a:endParaRPr lang="en-IN" dirty="0"/>
          </a:p>
        </p:txBody>
      </p:sp>
      <p:sp>
        <p:nvSpPr>
          <p:cNvPr id="3" name="Content Placeholder 2"/>
          <p:cNvSpPr>
            <a:spLocks noGrp="1"/>
          </p:cNvSpPr>
          <p:nvPr>
            <p:ph idx="1"/>
          </p:nvPr>
        </p:nvSpPr>
        <p:spPr/>
        <p:txBody>
          <a:bodyPr/>
          <a:lstStyle/>
          <a:p>
            <a:r>
              <a:rPr lang="en-IN" dirty="0"/>
              <a:t>Algorithm:</a:t>
            </a:r>
          </a:p>
          <a:p>
            <a:endParaRPr lang="en-IN" dirty="0"/>
          </a:p>
        </p:txBody>
      </p:sp>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2209800"/>
            <a:ext cx="6691923" cy="3810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2624582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br>
            <a:r>
              <a:rPr lang="en-US" dirty="0"/>
              <a:t>Iterative deepening depth-first Search</a:t>
            </a:r>
            <a:br>
              <a:rPr lang="en-US" dirty="0"/>
            </a:br>
            <a:endParaRPr lang="en-IN" dirty="0"/>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90800" y="1381609"/>
            <a:ext cx="3809999" cy="516994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5311612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dirty="0"/>
              <a:t>Iterative deepening depth-first Search</a:t>
            </a:r>
            <a:br>
              <a:rPr lang="en-US" dirty="0"/>
            </a:br>
            <a:endParaRPr lang="en-IN" dirty="0"/>
          </a:p>
        </p:txBody>
      </p:sp>
      <p:sp>
        <p:nvSpPr>
          <p:cNvPr id="6" name="Content Placeholder 5"/>
          <p:cNvSpPr>
            <a:spLocks noGrp="1"/>
          </p:cNvSpPr>
          <p:nvPr>
            <p:ph idx="1"/>
          </p:nvPr>
        </p:nvSpPr>
        <p:spPr/>
        <p:txBody>
          <a:bodyPr/>
          <a:lstStyle/>
          <a:p>
            <a:r>
              <a:rPr lang="en-US" altLang="en-US" u="sng" dirty="0">
                <a:solidFill>
                  <a:srgbClr val="FF0000"/>
                </a:solidFill>
                <a:latin typeface="Times New Roman" pitchFamily="18" charset="0"/>
                <a:cs typeface="Times New Roman" pitchFamily="18" charset="0"/>
              </a:rPr>
              <a:t>Complete?</a:t>
            </a:r>
            <a:r>
              <a:rPr lang="en-US" altLang="en-US" dirty="0">
                <a:latin typeface="Times New Roman" pitchFamily="18" charset="0"/>
                <a:cs typeface="Times New Roman" pitchFamily="18" charset="0"/>
              </a:rPr>
              <a:t> Yes</a:t>
            </a:r>
          </a:p>
          <a:p>
            <a:pPr>
              <a:buNone/>
            </a:pPr>
            <a:endParaRPr lang="en-US" altLang="en-US" dirty="0">
              <a:latin typeface="Times New Roman" pitchFamily="18" charset="0"/>
              <a:cs typeface="Times New Roman" pitchFamily="18" charset="0"/>
            </a:endParaRPr>
          </a:p>
          <a:p>
            <a:r>
              <a:rPr lang="en-US" altLang="en-US" u="sng" dirty="0">
                <a:solidFill>
                  <a:srgbClr val="FF0000"/>
                </a:solidFill>
                <a:latin typeface="Times New Roman" pitchFamily="18" charset="0"/>
                <a:cs typeface="Times New Roman" pitchFamily="18" charset="0"/>
              </a:rPr>
              <a:t>Time?</a:t>
            </a:r>
            <a:r>
              <a:rPr lang="en-US" altLang="en-US" dirty="0">
                <a:solidFill>
                  <a:srgbClr val="CC0099"/>
                </a:solidFill>
                <a:latin typeface="Times New Roman" pitchFamily="18" charset="0"/>
                <a:cs typeface="Times New Roman" pitchFamily="18" charset="0"/>
              </a:rPr>
              <a:t> </a:t>
            </a:r>
            <a:r>
              <a:rPr lang="en-US" altLang="en-US" i="1" dirty="0">
                <a:latin typeface="Times New Roman" pitchFamily="18" charset="0"/>
                <a:cs typeface="Times New Roman" pitchFamily="18" charset="0"/>
              </a:rPr>
              <a:t>O(</a:t>
            </a:r>
            <a:r>
              <a:rPr lang="en-US" altLang="en-US" i="1" dirty="0" err="1">
                <a:latin typeface="Times New Roman" pitchFamily="18" charset="0"/>
                <a:cs typeface="Times New Roman" pitchFamily="18" charset="0"/>
              </a:rPr>
              <a:t>b</a:t>
            </a:r>
            <a:r>
              <a:rPr lang="en-US" altLang="en-US" i="1" baseline="30000" dirty="0" err="1">
                <a:latin typeface="Times New Roman" pitchFamily="18" charset="0"/>
                <a:cs typeface="Times New Roman" pitchFamily="18" charset="0"/>
              </a:rPr>
              <a:t>d</a:t>
            </a:r>
            <a:r>
              <a:rPr lang="en-US" altLang="en-US" i="1" dirty="0">
                <a:latin typeface="Times New Roman" pitchFamily="18" charset="0"/>
                <a:cs typeface="Times New Roman" pitchFamily="18" charset="0"/>
              </a:rPr>
              <a:t>)</a:t>
            </a:r>
            <a:endParaRPr lang="en-US" altLang="en-US" dirty="0">
              <a:latin typeface="Times New Roman" pitchFamily="18" charset="0"/>
              <a:cs typeface="Times New Roman" pitchFamily="18" charset="0"/>
            </a:endParaRPr>
          </a:p>
          <a:p>
            <a:pPr>
              <a:buNone/>
            </a:pPr>
            <a:endParaRPr lang="en-US" altLang="en-US" dirty="0">
              <a:latin typeface="Times New Roman" pitchFamily="18" charset="0"/>
              <a:cs typeface="Times New Roman" pitchFamily="18" charset="0"/>
            </a:endParaRPr>
          </a:p>
          <a:p>
            <a:r>
              <a:rPr lang="en-US" altLang="en-US" u="sng" dirty="0">
                <a:solidFill>
                  <a:srgbClr val="FF0000"/>
                </a:solidFill>
                <a:latin typeface="Times New Roman" pitchFamily="18" charset="0"/>
                <a:cs typeface="Times New Roman" pitchFamily="18" charset="0"/>
              </a:rPr>
              <a:t>Space?</a:t>
            </a:r>
            <a:r>
              <a:rPr lang="en-US" altLang="en-US" dirty="0">
                <a:latin typeface="Times New Roman" pitchFamily="18" charset="0"/>
                <a:cs typeface="Times New Roman" pitchFamily="18" charset="0"/>
              </a:rPr>
              <a:t> </a:t>
            </a:r>
            <a:r>
              <a:rPr lang="en-US" altLang="en-US" i="1" dirty="0">
                <a:latin typeface="Times New Roman" pitchFamily="18" charset="0"/>
                <a:cs typeface="Times New Roman" pitchFamily="18" charset="0"/>
              </a:rPr>
              <a:t>O(</a:t>
            </a:r>
            <a:r>
              <a:rPr lang="en-US" altLang="en-US" i="1" dirty="0" err="1">
                <a:latin typeface="Times New Roman" pitchFamily="18" charset="0"/>
                <a:cs typeface="Times New Roman" pitchFamily="18" charset="0"/>
              </a:rPr>
              <a:t>bd</a:t>
            </a:r>
            <a:r>
              <a:rPr lang="en-US" altLang="en-US" i="1" dirty="0">
                <a:latin typeface="Times New Roman" pitchFamily="18" charset="0"/>
                <a:cs typeface="Times New Roman" pitchFamily="18" charset="0"/>
              </a:rPr>
              <a:t>)</a:t>
            </a:r>
            <a:endParaRPr lang="en-US" altLang="en-US" dirty="0">
              <a:latin typeface="Times New Roman" pitchFamily="18" charset="0"/>
              <a:cs typeface="Times New Roman" pitchFamily="18" charset="0"/>
            </a:endParaRPr>
          </a:p>
          <a:p>
            <a:pPr>
              <a:buNone/>
            </a:pPr>
            <a:endParaRPr lang="en-US" altLang="en-US" dirty="0">
              <a:latin typeface="Times New Roman" pitchFamily="18" charset="0"/>
              <a:cs typeface="Times New Roman" pitchFamily="18" charset="0"/>
            </a:endParaRPr>
          </a:p>
          <a:p>
            <a:r>
              <a:rPr lang="en-US" altLang="en-US" u="sng" dirty="0">
                <a:solidFill>
                  <a:srgbClr val="FF0000"/>
                </a:solidFill>
                <a:latin typeface="Times New Roman" pitchFamily="18" charset="0"/>
                <a:cs typeface="Times New Roman" pitchFamily="18" charset="0"/>
              </a:rPr>
              <a:t>Optimal?</a:t>
            </a:r>
            <a:r>
              <a:rPr lang="en-US" altLang="en-US" dirty="0">
                <a:latin typeface="Times New Roman" pitchFamily="18" charset="0"/>
                <a:cs typeface="Times New Roman" pitchFamily="18" charset="0"/>
              </a:rPr>
              <a:t> Yes, if step cost = 1</a:t>
            </a:r>
          </a:p>
          <a:p>
            <a:endParaRPr lang="en-IN" dirty="0"/>
          </a:p>
        </p:txBody>
      </p:sp>
    </p:spTree>
    <p:extLst>
      <p:ext uri="{BB962C8B-B14F-4D97-AF65-F5344CB8AC3E}">
        <p14:creationId xmlns:p14="http://schemas.microsoft.com/office/powerpoint/2010/main" val="418665337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Iterative deepening depth-first Search</a:t>
            </a:r>
            <a:br>
              <a:rPr lang="en-US" dirty="0"/>
            </a:br>
            <a:endParaRPr lang="en-IN" dirty="0"/>
          </a:p>
        </p:txBody>
      </p:sp>
      <p:sp>
        <p:nvSpPr>
          <p:cNvPr id="3" name="Content Placeholder 2"/>
          <p:cNvSpPr>
            <a:spLocks noGrp="1"/>
          </p:cNvSpPr>
          <p:nvPr>
            <p:ph idx="1"/>
          </p:nvPr>
        </p:nvSpPr>
        <p:spPr/>
        <p:txBody>
          <a:bodyPr>
            <a:normAutofit lnSpcReduction="10000"/>
          </a:bodyPr>
          <a:lstStyle/>
          <a:p>
            <a:r>
              <a:rPr lang="en-US" altLang="en-US" u="sng" dirty="0">
                <a:solidFill>
                  <a:srgbClr val="FF0000"/>
                </a:solidFill>
                <a:latin typeface="Times New Roman" pitchFamily="18" charset="0"/>
                <a:cs typeface="Times New Roman" pitchFamily="18" charset="0"/>
              </a:rPr>
              <a:t>Complete?</a:t>
            </a:r>
            <a:r>
              <a:rPr lang="en-US" altLang="en-US" dirty="0">
                <a:latin typeface="Times New Roman" pitchFamily="18" charset="0"/>
                <a:cs typeface="Times New Roman" pitchFamily="18" charset="0"/>
              </a:rPr>
              <a:t> Yes</a:t>
            </a:r>
          </a:p>
          <a:p>
            <a:pPr>
              <a:buNone/>
            </a:pPr>
            <a:endParaRPr lang="en-US" altLang="en-US" dirty="0">
              <a:latin typeface="Times New Roman" pitchFamily="18" charset="0"/>
              <a:cs typeface="Times New Roman" pitchFamily="18" charset="0"/>
            </a:endParaRPr>
          </a:p>
          <a:p>
            <a:r>
              <a:rPr lang="en-US" altLang="en-US" u="sng" dirty="0">
                <a:solidFill>
                  <a:srgbClr val="FF0000"/>
                </a:solidFill>
                <a:latin typeface="Times New Roman" pitchFamily="18" charset="0"/>
                <a:cs typeface="Times New Roman" pitchFamily="18" charset="0"/>
              </a:rPr>
              <a:t>Time?</a:t>
            </a:r>
            <a:r>
              <a:rPr lang="en-US" altLang="en-US" dirty="0">
                <a:solidFill>
                  <a:srgbClr val="CC0099"/>
                </a:solidFill>
                <a:latin typeface="Times New Roman" pitchFamily="18" charset="0"/>
                <a:cs typeface="Times New Roman" pitchFamily="18" charset="0"/>
              </a:rPr>
              <a:t> </a:t>
            </a:r>
            <a:r>
              <a:rPr lang="en-US" altLang="en-US" i="1" dirty="0">
                <a:latin typeface="Times New Roman" pitchFamily="18" charset="0"/>
                <a:cs typeface="Times New Roman" pitchFamily="18" charset="0"/>
              </a:rPr>
              <a:t>(d+1)b</a:t>
            </a:r>
            <a:r>
              <a:rPr lang="en-US" altLang="en-US" i="1" baseline="30000" dirty="0">
                <a:latin typeface="Times New Roman" pitchFamily="18" charset="0"/>
                <a:cs typeface="Times New Roman" pitchFamily="18" charset="0"/>
              </a:rPr>
              <a:t>0</a:t>
            </a:r>
            <a:r>
              <a:rPr lang="en-US" altLang="en-US" i="1" dirty="0">
                <a:latin typeface="Times New Roman" pitchFamily="18" charset="0"/>
                <a:cs typeface="Times New Roman" pitchFamily="18" charset="0"/>
              </a:rPr>
              <a:t> + d b</a:t>
            </a:r>
            <a:r>
              <a:rPr lang="en-US" altLang="en-US" i="1" baseline="30000" dirty="0">
                <a:latin typeface="Times New Roman" pitchFamily="18" charset="0"/>
                <a:cs typeface="Times New Roman" pitchFamily="18" charset="0"/>
              </a:rPr>
              <a:t>1</a:t>
            </a:r>
            <a:r>
              <a:rPr lang="en-US" altLang="en-US" i="1" dirty="0">
                <a:latin typeface="Times New Roman" pitchFamily="18" charset="0"/>
                <a:cs typeface="Times New Roman" pitchFamily="18" charset="0"/>
              </a:rPr>
              <a:t> + (d-1)b</a:t>
            </a:r>
            <a:r>
              <a:rPr lang="en-US" altLang="en-US" i="1" baseline="30000" dirty="0">
                <a:latin typeface="Times New Roman" pitchFamily="18" charset="0"/>
                <a:cs typeface="Times New Roman" pitchFamily="18" charset="0"/>
              </a:rPr>
              <a:t>2</a:t>
            </a:r>
            <a:r>
              <a:rPr lang="en-US" altLang="en-US" i="1" dirty="0">
                <a:latin typeface="Times New Roman" pitchFamily="18" charset="0"/>
                <a:cs typeface="Times New Roman" pitchFamily="18" charset="0"/>
              </a:rPr>
              <a:t> + … + </a:t>
            </a:r>
            <a:r>
              <a:rPr lang="en-US" altLang="en-US" i="1" dirty="0" err="1">
                <a:latin typeface="Times New Roman" pitchFamily="18" charset="0"/>
                <a:cs typeface="Times New Roman" pitchFamily="18" charset="0"/>
              </a:rPr>
              <a:t>b</a:t>
            </a:r>
            <a:r>
              <a:rPr lang="en-US" altLang="en-US" i="1" baseline="30000" dirty="0" err="1">
                <a:latin typeface="Times New Roman" pitchFamily="18" charset="0"/>
                <a:cs typeface="Times New Roman" pitchFamily="18" charset="0"/>
              </a:rPr>
              <a:t>d</a:t>
            </a:r>
            <a:r>
              <a:rPr lang="en-US" altLang="en-US" i="1">
                <a:latin typeface="Times New Roman" pitchFamily="18" charset="0"/>
                <a:cs typeface="Times New Roman" pitchFamily="18" charset="0"/>
              </a:rPr>
              <a:t> =&gt; </a:t>
            </a:r>
            <a:r>
              <a:rPr lang="en-US" altLang="en-US" i="1" dirty="0">
                <a:latin typeface="Times New Roman" pitchFamily="18" charset="0"/>
                <a:cs typeface="Times New Roman" pitchFamily="18" charset="0"/>
              </a:rPr>
              <a:t>O(</a:t>
            </a:r>
            <a:r>
              <a:rPr lang="en-US" altLang="en-US" i="1" dirty="0" err="1">
                <a:latin typeface="Times New Roman" pitchFamily="18" charset="0"/>
                <a:cs typeface="Times New Roman" pitchFamily="18" charset="0"/>
              </a:rPr>
              <a:t>b</a:t>
            </a:r>
            <a:r>
              <a:rPr lang="en-US" altLang="en-US" i="1" baseline="30000" dirty="0" err="1">
                <a:latin typeface="Times New Roman" pitchFamily="18" charset="0"/>
                <a:cs typeface="Times New Roman" pitchFamily="18" charset="0"/>
              </a:rPr>
              <a:t>d</a:t>
            </a:r>
            <a:r>
              <a:rPr lang="en-US" altLang="en-US" i="1" dirty="0">
                <a:latin typeface="Times New Roman" pitchFamily="18" charset="0"/>
                <a:cs typeface="Times New Roman" pitchFamily="18" charset="0"/>
              </a:rPr>
              <a:t>)</a:t>
            </a:r>
            <a:endParaRPr lang="en-US" altLang="en-US" dirty="0">
              <a:latin typeface="Times New Roman" pitchFamily="18" charset="0"/>
              <a:cs typeface="Times New Roman" pitchFamily="18" charset="0"/>
            </a:endParaRPr>
          </a:p>
          <a:p>
            <a:pPr>
              <a:buNone/>
            </a:pPr>
            <a:endParaRPr lang="en-US" altLang="en-US" dirty="0">
              <a:latin typeface="Times New Roman" pitchFamily="18" charset="0"/>
              <a:cs typeface="Times New Roman" pitchFamily="18" charset="0"/>
            </a:endParaRPr>
          </a:p>
          <a:p>
            <a:r>
              <a:rPr lang="en-US" altLang="en-US" u="sng" dirty="0">
                <a:solidFill>
                  <a:srgbClr val="FF0000"/>
                </a:solidFill>
                <a:latin typeface="Times New Roman" pitchFamily="18" charset="0"/>
                <a:cs typeface="Times New Roman" pitchFamily="18" charset="0"/>
              </a:rPr>
              <a:t>Space?</a:t>
            </a:r>
            <a:r>
              <a:rPr lang="en-US" altLang="en-US" dirty="0">
                <a:solidFill>
                  <a:srgbClr val="FF0000"/>
                </a:solidFill>
                <a:latin typeface="Times New Roman" pitchFamily="18" charset="0"/>
                <a:cs typeface="Times New Roman" pitchFamily="18" charset="0"/>
              </a:rPr>
              <a:t> </a:t>
            </a:r>
            <a:r>
              <a:rPr lang="en-US" altLang="en-US" i="1" dirty="0">
                <a:latin typeface="Times New Roman" pitchFamily="18" charset="0"/>
                <a:cs typeface="Times New Roman" pitchFamily="18" charset="0"/>
              </a:rPr>
              <a:t>O(</a:t>
            </a:r>
            <a:r>
              <a:rPr lang="en-US" altLang="en-US" i="1" dirty="0" err="1">
                <a:latin typeface="Times New Roman" pitchFamily="18" charset="0"/>
                <a:cs typeface="Times New Roman" pitchFamily="18" charset="0"/>
              </a:rPr>
              <a:t>bd</a:t>
            </a:r>
            <a:r>
              <a:rPr lang="en-US" altLang="en-US" i="1" dirty="0">
                <a:latin typeface="Times New Roman" pitchFamily="18" charset="0"/>
                <a:cs typeface="Times New Roman" pitchFamily="18" charset="0"/>
              </a:rPr>
              <a:t>)</a:t>
            </a:r>
            <a:endParaRPr lang="en-US" altLang="en-US" dirty="0">
              <a:latin typeface="Times New Roman" pitchFamily="18" charset="0"/>
              <a:cs typeface="Times New Roman" pitchFamily="18" charset="0"/>
            </a:endParaRPr>
          </a:p>
          <a:p>
            <a:pPr>
              <a:buNone/>
            </a:pPr>
            <a:endParaRPr lang="en-US" altLang="en-US" dirty="0">
              <a:latin typeface="Times New Roman" pitchFamily="18" charset="0"/>
              <a:cs typeface="Times New Roman" pitchFamily="18" charset="0"/>
            </a:endParaRPr>
          </a:p>
          <a:p>
            <a:r>
              <a:rPr lang="en-US" altLang="en-US" u="sng" dirty="0">
                <a:solidFill>
                  <a:srgbClr val="FF0000"/>
                </a:solidFill>
                <a:latin typeface="Times New Roman" pitchFamily="18" charset="0"/>
                <a:cs typeface="Times New Roman" pitchFamily="18" charset="0"/>
              </a:rPr>
              <a:t>Optimal?</a:t>
            </a:r>
            <a:r>
              <a:rPr lang="en-US" altLang="en-US" dirty="0">
                <a:solidFill>
                  <a:srgbClr val="FF0000"/>
                </a:solidFill>
                <a:latin typeface="Times New Roman" pitchFamily="18" charset="0"/>
                <a:cs typeface="Times New Roman" pitchFamily="18" charset="0"/>
              </a:rPr>
              <a:t> </a:t>
            </a:r>
            <a:r>
              <a:rPr lang="en-US" altLang="en-US" dirty="0">
                <a:latin typeface="Times New Roman" pitchFamily="18" charset="0"/>
                <a:cs typeface="Times New Roman" pitchFamily="18" charset="0"/>
              </a:rPr>
              <a:t>Yes, if step cost = 1</a:t>
            </a:r>
          </a:p>
          <a:p>
            <a:endParaRPr lang="en-IN" dirty="0"/>
          </a:p>
        </p:txBody>
      </p:sp>
    </p:spTree>
    <p:extLst>
      <p:ext uri="{BB962C8B-B14F-4D97-AF65-F5344CB8AC3E}">
        <p14:creationId xmlns:p14="http://schemas.microsoft.com/office/powerpoint/2010/main" val="272611372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Iterative deepening depth-first Search</a:t>
            </a:r>
            <a:br>
              <a:rPr lang="en-US" dirty="0"/>
            </a:br>
            <a:endParaRPr lang="en-IN" dirty="0"/>
          </a:p>
        </p:txBody>
      </p:sp>
      <p:sp>
        <p:nvSpPr>
          <p:cNvPr id="6" name="Content Placeholder 5"/>
          <p:cNvSpPr>
            <a:spLocks noGrp="1"/>
          </p:cNvSpPr>
          <p:nvPr>
            <p:ph sz="half" idx="1"/>
          </p:nvPr>
        </p:nvSpPr>
        <p:spPr/>
        <p:txBody>
          <a:bodyPr>
            <a:normAutofit/>
          </a:bodyPr>
          <a:lstStyle/>
          <a:p>
            <a:r>
              <a:rPr lang="en-US" sz="1600" dirty="0">
                <a:solidFill>
                  <a:srgbClr val="333333"/>
                </a:solidFill>
                <a:latin typeface="inter-regular"/>
              </a:rPr>
              <a:t>Example:</a:t>
            </a:r>
          </a:p>
          <a:p>
            <a:r>
              <a:rPr lang="en-US" sz="1600" dirty="0">
                <a:solidFill>
                  <a:srgbClr val="333333"/>
                </a:solidFill>
                <a:latin typeface="inter-regular"/>
              </a:rPr>
              <a:t>1'st Iteration-----&gt; A</a:t>
            </a:r>
            <a:br>
              <a:rPr lang="en-US" sz="1600" dirty="0"/>
            </a:br>
            <a:r>
              <a:rPr lang="en-US" sz="1600" dirty="0">
                <a:solidFill>
                  <a:srgbClr val="333333"/>
                </a:solidFill>
                <a:latin typeface="inter-regular"/>
              </a:rPr>
              <a:t>2'nd Iteration----&gt; A, B, C</a:t>
            </a:r>
            <a:br>
              <a:rPr lang="en-US" sz="1600" dirty="0"/>
            </a:br>
            <a:r>
              <a:rPr lang="en-US" sz="1600" dirty="0">
                <a:solidFill>
                  <a:srgbClr val="FF0000"/>
                </a:solidFill>
                <a:latin typeface="inter-regular"/>
              </a:rPr>
              <a:t>3'rd Iteration------&gt;A, B, D, E, C, F, G</a:t>
            </a:r>
            <a:br>
              <a:rPr lang="en-US" sz="1600" dirty="0">
                <a:solidFill>
                  <a:srgbClr val="FF0000"/>
                </a:solidFill>
              </a:rPr>
            </a:br>
            <a:r>
              <a:rPr lang="en-US" sz="1600" dirty="0">
                <a:solidFill>
                  <a:srgbClr val="333333"/>
                </a:solidFill>
                <a:latin typeface="inter-regular"/>
              </a:rPr>
              <a:t>4'th Iteration------&gt;A, B, D, H, I, E, C, F, K, G</a:t>
            </a:r>
            <a:br>
              <a:rPr lang="en-US" sz="1600" dirty="0"/>
            </a:br>
            <a:endParaRPr lang="en-US" sz="1600" dirty="0"/>
          </a:p>
        </p:txBody>
      </p:sp>
      <p:pic>
        <p:nvPicPr>
          <p:cNvPr id="8" name="Picture 2" descr="Uninformed Search Algorithms"/>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4648200" y="1645920"/>
            <a:ext cx="4038600" cy="32308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445424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dirty="0"/>
              <a:t>Bidirectional Search Algorithm</a:t>
            </a:r>
            <a:br>
              <a:rPr lang="en-US" dirty="0"/>
            </a:br>
            <a:endParaRPr lang="en-IN" dirty="0"/>
          </a:p>
        </p:txBody>
      </p:sp>
      <p:sp>
        <p:nvSpPr>
          <p:cNvPr id="6" name="Content Placeholder 5"/>
          <p:cNvSpPr>
            <a:spLocks noGrp="1"/>
          </p:cNvSpPr>
          <p:nvPr>
            <p:ph idx="1"/>
          </p:nvPr>
        </p:nvSpPr>
        <p:spPr/>
        <p:txBody>
          <a:bodyPr>
            <a:normAutofit fontScale="70000" lnSpcReduction="20000"/>
          </a:bodyPr>
          <a:lstStyle/>
          <a:p>
            <a:pPr algn="just"/>
            <a:r>
              <a:rPr lang="en-US" dirty="0"/>
              <a:t>Bidirectional search algorithm runs </a:t>
            </a:r>
            <a:r>
              <a:rPr lang="en-US" dirty="0">
                <a:solidFill>
                  <a:srgbClr val="FF0000"/>
                </a:solidFill>
              </a:rPr>
              <a:t>two simultaneous searches</a:t>
            </a:r>
            <a:r>
              <a:rPr lang="en-US" dirty="0"/>
              <a:t>, one form initial state called as </a:t>
            </a:r>
            <a:r>
              <a:rPr lang="en-US" dirty="0">
                <a:solidFill>
                  <a:srgbClr val="FF0000"/>
                </a:solidFill>
              </a:rPr>
              <a:t>forward-search</a:t>
            </a:r>
            <a:r>
              <a:rPr lang="en-US" dirty="0"/>
              <a:t> and other from goal node called as </a:t>
            </a:r>
            <a:r>
              <a:rPr lang="en-US" dirty="0">
                <a:solidFill>
                  <a:srgbClr val="FF0000"/>
                </a:solidFill>
              </a:rPr>
              <a:t>backward-search</a:t>
            </a:r>
            <a:r>
              <a:rPr lang="en-US" dirty="0"/>
              <a:t>, to find the goal node.</a:t>
            </a:r>
          </a:p>
          <a:p>
            <a:pPr algn="just"/>
            <a:r>
              <a:rPr lang="en-US" dirty="0"/>
              <a:t>Bidirectional search replaces </a:t>
            </a:r>
            <a:r>
              <a:rPr lang="en-US" dirty="0">
                <a:solidFill>
                  <a:srgbClr val="FF0000"/>
                </a:solidFill>
              </a:rPr>
              <a:t>one single search graph </a:t>
            </a:r>
            <a:r>
              <a:rPr lang="en-US" dirty="0"/>
              <a:t>with </a:t>
            </a:r>
            <a:r>
              <a:rPr lang="en-US" dirty="0">
                <a:solidFill>
                  <a:srgbClr val="FF0000"/>
                </a:solidFill>
              </a:rPr>
              <a:t>two small subgraphs </a:t>
            </a:r>
            <a:r>
              <a:rPr lang="en-US" dirty="0"/>
              <a:t>in which one starts the search from an </a:t>
            </a:r>
            <a:r>
              <a:rPr lang="en-US" dirty="0">
                <a:solidFill>
                  <a:srgbClr val="FF0000"/>
                </a:solidFill>
              </a:rPr>
              <a:t>initial vertex </a:t>
            </a:r>
            <a:r>
              <a:rPr lang="en-US" dirty="0"/>
              <a:t>and other starts from </a:t>
            </a:r>
            <a:r>
              <a:rPr lang="en-US" dirty="0">
                <a:solidFill>
                  <a:srgbClr val="FF0000"/>
                </a:solidFill>
              </a:rPr>
              <a:t>goal vertex</a:t>
            </a:r>
            <a:r>
              <a:rPr lang="en-US" dirty="0"/>
              <a:t>. The search stops when these </a:t>
            </a:r>
            <a:r>
              <a:rPr lang="en-US" dirty="0">
                <a:solidFill>
                  <a:srgbClr val="FF0000"/>
                </a:solidFill>
              </a:rPr>
              <a:t>two graphs intersect </a:t>
            </a:r>
            <a:r>
              <a:rPr lang="en-US" dirty="0"/>
              <a:t>each other.</a:t>
            </a:r>
          </a:p>
          <a:p>
            <a:pPr algn="just"/>
            <a:r>
              <a:rPr lang="en-US" dirty="0"/>
              <a:t>Bidirectional search can use search techniques such as BFS, DFS, DLS, etc.</a:t>
            </a:r>
          </a:p>
          <a:p>
            <a:r>
              <a:rPr lang="en-US" b="1" dirty="0"/>
              <a:t>Advantages:</a:t>
            </a:r>
            <a:endParaRPr lang="en-US" dirty="0"/>
          </a:p>
          <a:p>
            <a:pPr lvl="1"/>
            <a:r>
              <a:rPr lang="en-US" dirty="0"/>
              <a:t>Bidirectional search is fast.</a:t>
            </a:r>
          </a:p>
          <a:p>
            <a:pPr lvl="1"/>
            <a:r>
              <a:rPr lang="en-US" dirty="0"/>
              <a:t>Bidirectional search requires less memory</a:t>
            </a:r>
          </a:p>
          <a:p>
            <a:r>
              <a:rPr lang="en-US" b="1" dirty="0"/>
              <a:t>Disadvantages:</a:t>
            </a:r>
            <a:endParaRPr lang="en-US" dirty="0"/>
          </a:p>
          <a:p>
            <a:pPr lvl="1"/>
            <a:r>
              <a:rPr lang="en-US" dirty="0"/>
              <a:t>Implementation of the bidirectional search tree is difficult.</a:t>
            </a:r>
          </a:p>
          <a:p>
            <a:pPr algn="just"/>
            <a:endParaRPr lang="en-US" dirty="0"/>
          </a:p>
          <a:p>
            <a:endParaRPr lang="en-IN" dirty="0"/>
          </a:p>
        </p:txBody>
      </p:sp>
    </p:spTree>
    <p:extLst>
      <p:ext uri="{BB962C8B-B14F-4D97-AF65-F5344CB8AC3E}">
        <p14:creationId xmlns:p14="http://schemas.microsoft.com/office/powerpoint/2010/main" val="407817978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Bidirectional Search Algorithm</a:t>
            </a:r>
            <a:br>
              <a:rPr lang="en-US" dirty="0"/>
            </a:br>
            <a:endParaRPr lang="en-IN" dirty="0"/>
          </a:p>
        </p:txBody>
      </p:sp>
      <p:sp>
        <p:nvSpPr>
          <p:cNvPr id="4" name="Content Placeholder 3"/>
          <p:cNvSpPr>
            <a:spLocks noGrp="1"/>
          </p:cNvSpPr>
          <p:nvPr>
            <p:ph sz="half" idx="1"/>
          </p:nvPr>
        </p:nvSpPr>
        <p:spPr/>
        <p:txBody>
          <a:bodyPr>
            <a:normAutofit fontScale="85000" lnSpcReduction="20000"/>
          </a:bodyPr>
          <a:lstStyle/>
          <a:p>
            <a:r>
              <a:rPr lang="en-US" dirty="0"/>
              <a:t>In the below search tree, bidirectional search algorithm is applied. </a:t>
            </a:r>
          </a:p>
          <a:p>
            <a:r>
              <a:rPr lang="en-US" dirty="0"/>
              <a:t>This algorithm divides one graph/tree into two sub-graphs. </a:t>
            </a:r>
          </a:p>
          <a:p>
            <a:r>
              <a:rPr lang="en-US" dirty="0"/>
              <a:t>It starts traversing from node 1 in the forward direction and starts from goal node 16 in the backward direction.</a:t>
            </a:r>
          </a:p>
          <a:p>
            <a:pPr algn="just"/>
            <a:r>
              <a:rPr lang="en-US" dirty="0"/>
              <a:t>The algorithm terminates at node 9 where two searches meet.</a:t>
            </a:r>
          </a:p>
          <a:p>
            <a:pPr algn="just"/>
            <a:endParaRPr lang="en-US" dirty="0"/>
          </a:p>
          <a:p>
            <a:endParaRPr lang="en-IN" dirty="0"/>
          </a:p>
        </p:txBody>
      </p:sp>
      <p:pic>
        <p:nvPicPr>
          <p:cNvPr id="6" name="Picture 2" descr="Uninformed Search Algorithms"/>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4648200" y="2247741"/>
            <a:ext cx="4038600" cy="32308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247312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Bidirectional Search Algorithm</a:t>
            </a:r>
            <a:br>
              <a:rPr lang="en-US" dirty="0"/>
            </a:br>
            <a:endParaRPr lang="en-IN" dirty="0"/>
          </a:p>
        </p:txBody>
      </p:sp>
      <p:sp>
        <p:nvSpPr>
          <p:cNvPr id="3" name="Content Placeholder 2"/>
          <p:cNvSpPr>
            <a:spLocks noGrp="1"/>
          </p:cNvSpPr>
          <p:nvPr>
            <p:ph idx="1"/>
          </p:nvPr>
        </p:nvSpPr>
        <p:spPr/>
        <p:txBody>
          <a:bodyPr/>
          <a:lstStyle/>
          <a:p>
            <a:r>
              <a:rPr lang="en-US" b="1" dirty="0">
                <a:solidFill>
                  <a:srgbClr val="FF0000"/>
                </a:solidFill>
              </a:rPr>
              <a:t>Completeness</a:t>
            </a:r>
            <a:r>
              <a:rPr lang="en-US" b="1" dirty="0"/>
              <a:t>:</a:t>
            </a:r>
            <a:r>
              <a:rPr lang="en-US" dirty="0"/>
              <a:t> Bidirectional Search is complete if we use BFS in both searches.</a:t>
            </a:r>
          </a:p>
          <a:p>
            <a:r>
              <a:rPr lang="en-US" b="1" dirty="0">
                <a:solidFill>
                  <a:srgbClr val="FF0000"/>
                </a:solidFill>
              </a:rPr>
              <a:t>Time Complexity</a:t>
            </a:r>
            <a:r>
              <a:rPr lang="en-US" b="1" dirty="0"/>
              <a:t>:</a:t>
            </a:r>
            <a:r>
              <a:rPr lang="en-US" dirty="0"/>
              <a:t>  </a:t>
            </a:r>
            <a:r>
              <a:rPr lang="en-US" b="1" dirty="0"/>
              <a:t>O(</a:t>
            </a:r>
            <a:r>
              <a:rPr lang="en-US" b="1" dirty="0" err="1"/>
              <a:t>b</a:t>
            </a:r>
            <a:r>
              <a:rPr lang="en-US" b="1" baseline="30000" dirty="0" err="1"/>
              <a:t>d</a:t>
            </a:r>
            <a:r>
              <a:rPr lang="en-US" b="1" baseline="30000" dirty="0"/>
              <a:t>/2</a:t>
            </a:r>
            <a:r>
              <a:rPr lang="en-US" b="1" dirty="0"/>
              <a:t>)</a:t>
            </a:r>
            <a:r>
              <a:rPr lang="en-US" dirty="0"/>
              <a:t>.</a:t>
            </a:r>
          </a:p>
          <a:p>
            <a:r>
              <a:rPr lang="en-US" b="1" dirty="0">
                <a:solidFill>
                  <a:srgbClr val="FF0000"/>
                </a:solidFill>
              </a:rPr>
              <a:t>Space Complexity</a:t>
            </a:r>
            <a:r>
              <a:rPr lang="en-US" b="1" dirty="0"/>
              <a:t>:</a:t>
            </a:r>
            <a:r>
              <a:rPr lang="en-US" dirty="0"/>
              <a:t> </a:t>
            </a:r>
            <a:r>
              <a:rPr lang="en-US" b="1" dirty="0"/>
              <a:t>O(</a:t>
            </a:r>
            <a:r>
              <a:rPr lang="en-US" b="1" dirty="0" err="1"/>
              <a:t>b</a:t>
            </a:r>
            <a:r>
              <a:rPr lang="en-US" b="1" baseline="30000" dirty="0" err="1"/>
              <a:t>d</a:t>
            </a:r>
            <a:r>
              <a:rPr lang="en-US" b="1" baseline="30000" dirty="0"/>
              <a:t>/2</a:t>
            </a:r>
            <a:r>
              <a:rPr lang="en-US" b="1" dirty="0"/>
              <a:t>)</a:t>
            </a:r>
            <a:r>
              <a:rPr lang="en-US" dirty="0"/>
              <a:t>.</a:t>
            </a:r>
          </a:p>
          <a:p>
            <a:r>
              <a:rPr lang="en-US" b="1" dirty="0">
                <a:solidFill>
                  <a:srgbClr val="FF0000"/>
                </a:solidFill>
              </a:rPr>
              <a:t>Optimal:</a:t>
            </a:r>
            <a:r>
              <a:rPr lang="en-US" dirty="0"/>
              <a:t> Bidirectional search is Optimal.</a:t>
            </a:r>
          </a:p>
          <a:p>
            <a:endParaRPr lang="en-IN" dirty="0"/>
          </a:p>
        </p:txBody>
      </p:sp>
    </p:spTree>
    <p:extLst>
      <p:ext uri="{BB962C8B-B14F-4D97-AF65-F5344CB8AC3E}">
        <p14:creationId xmlns:p14="http://schemas.microsoft.com/office/powerpoint/2010/main" val="96254918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Comparing uninformed search algorithms</a:t>
            </a:r>
          </a:p>
        </p:txBody>
      </p:sp>
      <p:sp>
        <p:nvSpPr>
          <p:cNvPr id="3" name="Content Placeholder 2"/>
          <p:cNvSpPr>
            <a:spLocks noGrp="1"/>
          </p:cNvSpPr>
          <p:nvPr>
            <p:ph idx="1"/>
          </p:nvPr>
        </p:nvSpPr>
        <p:spPr/>
        <p:txBody>
          <a:bodyPr/>
          <a:lstStyle/>
          <a:p>
            <a:r>
              <a:rPr lang="en-IN" dirty="0"/>
              <a:t>Summary</a:t>
            </a:r>
          </a:p>
          <a:p>
            <a:endParaRPr lang="en-IN"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772" y="2362200"/>
            <a:ext cx="7695428" cy="31289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538882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3652</TotalTime>
  <Words>5542</Words>
  <Application>Microsoft Office PowerPoint</Application>
  <PresentationFormat>On-screen Show (4:3)</PresentationFormat>
  <Paragraphs>424</Paragraphs>
  <Slides>75</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75</vt:i4>
      </vt:variant>
    </vt:vector>
  </HeadingPairs>
  <TitlesOfParts>
    <vt:vector size="82" baseType="lpstr">
      <vt:lpstr>Arial</vt:lpstr>
      <vt:lpstr>Calibri</vt:lpstr>
      <vt:lpstr>Georgia</vt:lpstr>
      <vt:lpstr>inter-regular</vt:lpstr>
      <vt:lpstr>Times New Roman</vt:lpstr>
      <vt:lpstr>Wingdings</vt:lpstr>
      <vt:lpstr>Office Theme</vt:lpstr>
      <vt:lpstr>Module2_Problem_Solving</vt:lpstr>
      <vt:lpstr>PowerPoint Presentation</vt:lpstr>
      <vt:lpstr>Introduction</vt:lpstr>
      <vt:lpstr> Search algorithms </vt:lpstr>
      <vt:lpstr> Four-phase problem-solving process </vt:lpstr>
      <vt:lpstr> Four-phase problem-solving process </vt:lpstr>
      <vt:lpstr> Four-phase problem-solving process </vt:lpstr>
      <vt:lpstr>State Space</vt:lpstr>
      <vt:lpstr>An Example Road Map</vt:lpstr>
      <vt:lpstr>Search Problems and Solution</vt:lpstr>
      <vt:lpstr>Search Problems and Solution</vt:lpstr>
      <vt:lpstr>Search Problems and Solution</vt:lpstr>
      <vt:lpstr>Search Problems and Solution</vt:lpstr>
      <vt:lpstr>Search Problems and Solution</vt:lpstr>
      <vt:lpstr>Formulating problems</vt:lpstr>
      <vt:lpstr>Formulating problems</vt:lpstr>
      <vt:lpstr>Example Problems</vt:lpstr>
      <vt:lpstr>Standardized problems – Vacuum World problem</vt:lpstr>
      <vt:lpstr>Standardized problems – Vacuum World problem</vt:lpstr>
      <vt:lpstr>Standardized problems – Vacuum World problem</vt:lpstr>
      <vt:lpstr>Standardized problems – Vacuum World problem</vt:lpstr>
      <vt:lpstr>8 Puzzle Problem</vt:lpstr>
      <vt:lpstr>8-puzzle problem</vt:lpstr>
      <vt:lpstr>8 Queens problem</vt:lpstr>
      <vt:lpstr>Real-world problems : Route-finding algorithms </vt:lpstr>
      <vt:lpstr>Example: Shortest path between VIT Vellore Campus To VIT Chennai Campus</vt:lpstr>
      <vt:lpstr>Example: Shortest path between VIT Vellore Campus To VIT Chennai Campus</vt:lpstr>
      <vt:lpstr>Example: Cont…</vt:lpstr>
      <vt:lpstr>Search Algorithms </vt:lpstr>
      <vt:lpstr> Search Algorithms </vt:lpstr>
      <vt:lpstr> Search Algorithms </vt:lpstr>
      <vt:lpstr> Search Algorithms </vt:lpstr>
      <vt:lpstr>Search data structures</vt:lpstr>
      <vt:lpstr>Search data structures</vt:lpstr>
      <vt:lpstr>Search data structures</vt:lpstr>
      <vt:lpstr>Measuring problem-solving performance</vt:lpstr>
      <vt:lpstr>Measuring problem-solving performance</vt:lpstr>
      <vt:lpstr>Measuring problem-solving performance</vt:lpstr>
      <vt:lpstr>Uninformed Search Strategies</vt:lpstr>
      <vt:lpstr>Uninformed Search Strategies</vt:lpstr>
      <vt:lpstr>Breadth-first search</vt:lpstr>
      <vt:lpstr>Breadth-first search</vt:lpstr>
      <vt:lpstr>Breadth-first search</vt:lpstr>
      <vt:lpstr>Breadth-first search</vt:lpstr>
      <vt:lpstr>Breadth-first search</vt:lpstr>
      <vt:lpstr>Breadth-first search</vt:lpstr>
      <vt:lpstr>Breadth-first search</vt:lpstr>
      <vt:lpstr>Breadth-first search</vt:lpstr>
      <vt:lpstr>Breadth-first search</vt:lpstr>
      <vt:lpstr> Uniform-cost Search Algorithm </vt:lpstr>
      <vt:lpstr> Uniform-cost Search Algorithm </vt:lpstr>
      <vt:lpstr> Uniform-cost Search Algorithm </vt:lpstr>
      <vt:lpstr> Uniform-cost Search Algorithm </vt:lpstr>
      <vt:lpstr> Uniform-cost Search Algorithm </vt:lpstr>
      <vt:lpstr> Uniform-cost Search Algorithm </vt:lpstr>
      <vt:lpstr> Uniform-cost Search Algorithm </vt:lpstr>
      <vt:lpstr>Depth-first search</vt:lpstr>
      <vt:lpstr>Depth-first search</vt:lpstr>
      <vt:lpstr>Depth-first search</vt:lpstr>
      <vt:lpstr>Depth-first search</vt:lpstr>
      <vt:lpstr>Depth-first search</vt:lpstr>
      <vt:lpstr>Depth-limited search</vt:lpstr>
      <vt:lpstr>Depth-limited search</vt:lpstr>
      <vt:lpstr>Depth-limited search</vt:lpstr>
      <vt:lpstr>Depth-limited search</vt:lpstr>
      <vt:lpstr>Iterative deepening depth-first Search </vt:lpstr>
      <vt:lpstr> Iterative deepening depth-first Search </vt:lpstr>
      <vt:lpstr> Iterative deepening depth-first Search </vt:lpstr>
      <vt:lpstr>Iterative deepening depth-first Search </vt:lpstr>
      <vt:lpstr>Iterative deepening depth-first Search </vt:lpstr>
      <vt:lpstr>Iterative deepening depth-first Search </vt:lpstr>
      <vt:lpstr>Bidirectional Search Algorithm </vt:lpstr>
      <vt:lpstr>Bidirectional Search Algorithm </vt:lpstr>
      <vt:lpstr>Bidirectional Search Algorithm </vt:lpstr>
      <vt:lpstr>Comparing uninformed search algorithms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Problem Solving</dc:title>
  <dc:creator>Windows User</dc:creator>
  <cp:lastModifiedBy>SHALINI</cp:lastModifiedBy>
  <cp:revision>196</cp:revision>
  <dcterms:created xsi:type="dcterms:W3CDTF">2021-02-11T14:16:16Z</dcterms:created>
  <dcterms:modified xsi:type="dcterms:W3CDTF">2024-07-26T00:57:12Z</dcterms:modified>
</cp:coreProperties>
</file>