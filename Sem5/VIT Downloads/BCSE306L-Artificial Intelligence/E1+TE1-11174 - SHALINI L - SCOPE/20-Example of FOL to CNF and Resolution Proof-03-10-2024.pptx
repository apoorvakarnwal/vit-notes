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3" autoAdjust="0"/>
    <p:restoredTop sz="94660"/>
  </p:normalViewPr>
  <p:slideViewPr>
    <p:cSldViewPr snapToGrid="0">
      <p:cViewPr varScale="1">
        <p:scale>
          <a:sx n="74" d="100"/>
          <a:sy n="74" d="100"/>
        </p:scale>
        <p:origin x="4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389135C-ADAB-40B0-92AD-A6FFDE8DDA94}" type="datetimeFigureOut">
              <a:rPr lang="en-IN" smtClean="0"/>
              <a:t>05-02-2020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3886928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89135C-ADAB-40B0-92AD-A6FFDE8DDA94}" type="datetimeFigureOut">
              <a:rPr lang="en-IN" smtClean="0"/>
              <a:t>05-02-2020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3715786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89135C-ADAB-40B0-92AD-A6FFDE8DDA94}" type="datetimeFigureOut">
              <a:rPr lang="en-IN" smtClean="0"/>
              <a:t>05-02-2020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289080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389135C-ADAB-40B0-92AD-A6FFDE8DDA94}" type="datetimeFigureOut">
              <a:rPr lang="en-IN" smtClean="0"/>
              <a:t>05-02-2020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60877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389135C-ADAB-40B0-92AD-A6FFDE8DDA94}" type="datetimeFigureOut">
              <a:rPr lang="en-IN" smtClean="0"/>
              <a:t>05-02-2020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2688498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389135C-ADAB-40B0-92AD-A6FFDE8DDA94}" type="datetimeFigureOut">
              <a:rPr lang="en-IN" smtClean="0"/>
              <a:t>05-02-2020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408414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89135C-ADAB-40B0-92AD-A6FFDE8DDA94}" type="datetimeFigureOut">
              <a:rPr lang="en-IN" smtClean="0"/>
              <a:t>05-02-2020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1635069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89135C-ADAB-40B0-92AD-A6FFDE8DDA94}" type="datetimeFigureOut">
              <a:rPr lang="en-IN" smtClean="0"/>
              <a:t>05-02-2020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3845663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89135C-ADAB-40B0-92AD-A6FFDE8DDA94}" type="datetimeFigureOut">
              <a:rPr lang="en-IN" smtClean="0"/>
              <a:t>05-02-2020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4189233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89135C-ADAB-40B0-92AD-A6FFDE8DDA94}" type="datetimeFigureOut">
              <a:rPr lang="en-IN" smtClean="0"/>
              <a:t>05-02-2020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623891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89135C-ADAB-40B0-92AD-A6FFDE8DDA94}" type="datetimeFigureOut">
              <a:rPr lang="en-IN" smtClean="0"/>
              <a:t>05-02-2020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AE1F10-787A-4E56-8132-312D0D45A4D2}" type="slidenum">
              <a:rPr lang="en-IN" smtClean="0"/>
              <a:t>‹#›</a:t>
            </a:fld>
            <a:endParaRPr lang="en-IN"/>
          </a:p>
        </p:txBody>
      </p:sp>
    </p:spTree>
    <p:extLst>
      <p:ext uri="{BB962C8B-B14F-4D97-AF65-F5344CB8AC3E}">
        <p14:creationId xmlns:p14="http://schemas.microsoft.com/office/powerpoint/2010/main" val="2585830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89135C-ADAB-40B0-92AD-A6FFDE8DDA94}" type="datetimeFigureOut">
              <a:rPr lang="en-IN" smtClean="0"/>
              <a:t>05-02-2020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AE1F10-787A-4E56-8132-312D0D45A4D2}" type="slidenum">
              <a:rPr lang="en-IN" smtClean="0"/>
              <a:t>‹#›</a:t>
            </a:fld>
            <a:endParaRPr lang="en-IN"/>
          </a:p>
        </p:txBody>
      </p:sp>
    </p:spTree>
    <p:extLst>
      <p:ext uri="{BB962C8B-B14F-4D97-AF65-F5344CB8AC3E}">
        <p14:creationId xmlns:p14="http://schemas.microsoft.com/office/powerpoint/2010/main" val="3542368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latin typeface="Times New Roman" panose="02020603050405020304" pitchFamily="18" charset="0"/>
                <a:cs typeface="Times New Roman" panose="02020603050405020304" pitchFamily="18" charset="0"/>
              </a:rPr>
              <a:t>Resolution Using Propositional Logic</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29116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b="1" dirty="0">
                <a:latin typeface="Times New Roman" panose="02020603050405020304" pitchFamily="18" charset="0"/>
                <a:cs typeface="Times New Roman" panose="02020603050405020304" pitchFamily="18" charset="0"/>
              </a:rPr>
              <a:t>Proof with </a:t>
            </a:r>
            <a:r>
              <a:rPr lang="en-IN" b="1" dirty="0" smtClean="0">
                <a:latin typeface="Times New Roman" panose="02020603050405020304" pitchFamily="18" charset="0"/>
                <a:cs typeface="Times New Roman" panose="02020603050405020304" pitchFamily="18" charset="0"/>
              </a:rPr>
              <a:t>Resolution (Without Contradiction)</a:t>
            </a:r>
            <a:r>
              <a:rPr lang="en-IN" b="1" dirty="0">
                <a:latin typeface="Times New Roman" panose="02020603050405020304" pitchFamily="18" charset="0"/>
                <a:cs typeface="Times New Roman" panose="02020603050405020304" pitchFamily="18" charset="0"/>
              </a:rPr>
              <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Given the following hypotheses:</a:t>
            </a:r>
          </a:p>
          <a:p>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If it rains, Joe brings his umbrella (r </a:t>
            </a:r>
            <a:r>
              <a:rPr lang="en-US" altLang="en-US" dirty="0" smtClean="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u)</a:t>
            </a:r>
          </a:p>
          <a:p>
            <a:r>
              <a:rPr lang="en-US" dirty="0" smtClean="0">
                <a:latin typeface="Times New Roman" panose="02020603050405020304" pitchFamily="18" charset="0"/>
                <a:cs typeface="Times New Roman" panose="02020603050405020304" pitchFamily="18" charset="0"/>
              </a:rPr>
              <a:t>If Joe has an umbrella, he doesn't get wet (u </a:t>
            </a:r>
            <a:r>
              <a:rPr lang="en-US" altLang="en-US" dirty="0" smtClean="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a:t>
            </a:r>
            <a:r>
              <a:rPr lang="en-US" altLang="en-US" dirty="0" smtClean="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w)</a:t>
            </a:r>
          </a:p>
          <a:p>
            <a:r>
              <a:rPr lang="en-US" dirty="0" smtClean="0">
                <a:latin typeface="Times New Roman" panose="02020603050405020304" pitchFamily="18" charset="0"/>
                <a:cs typeface="Times New Roman" panose="02020603050405020304" pitchFamily="18" charset="0"/>
              </a:rPr>
              <a:t>If it doesn't rain, Joe doesn't get wet (</a:t>
            </a:r>
            <a:r>
              <a:rPr lang="en-US" altLang="en-US" dirty="0" smtClean="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r </a:t>
            </a:r>
            <a:r>
              <a:rPr lang="en-US" altLang="en-US" dirty="0" smtClean="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a:t>
            </a:r>
            <a:r>
              <a:rPr lang="en-US" altLang="en-US" dirty="0" smtClean="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w)</a:t>
            </a:r>
          </a:p>
          <a:p>
            <a:pPr marL="0" indent="0" algn="ctr">
              <a:buNone/>
            </a:pPr>
            <a:r>
              <a:rPr lang="en-US" b="1" dirty="0">
                <a:solidFill>
                  <a:srgbClr val="FF0000"/>
                </a:solidFill>
                <a:latin typeface="Times New Roman" panose="02020603050405020304" pitchFamily="18" charset="0"/>
                <a:cs typeface="Times New Roman" panose="02020603050405020304" pitchFamily="18" charset="0"/>
              </a:rPr>
              <a:t>prove that Joes doesn't get wet </a:t>
            </a:r>
            <a:r>
              <a:rPr lang="en-US" b="1" dirty="0" smtClean="0">
                <a:solidFill>
                  <a:srgbClr val="FF0000"/>
                </a:solidFill>
                <a:latin typeface="Times New Roman" panose="02020603050405020304" pitchFamily="18" charset="0"/>
                <a:cs typeface="Times New Roman" panose="02020603050405020304" pitchFamily="18" charset="0"/>
              </a:rPr>
              <a:t>(</a:t>
            </a:r>
            <a:r>
              <a:rPr lang="en-US" altLang="en-US" b="1" dirty="0" smtClean="0">
                <a:solidFill>
                  <a:srgbClr val="FF0000"/>
                </a:solidFill>
                <a:sym typeface="Symbol" panose="05050102010706020507" pitchFamily="18" charset="2"/>
              </a:rPr>
              <a:t></a:t>
            </a:r>
            <a:r>
              <a:rPr lang="en-US" b="1" dirty="0" smtClean="0">
                <a:solidFill>
                  <a:srgbClr val="FF0000"/>
                </a:solidFill>
                <a:latin typeface="Times New Roman" panose="02020603050405020304" pitchFamily="18" charset="0"/>
                <a:cs typeface="Times New Roman" panose="02020603050405020304" pitchFamily="18" charset="0"/>
              </a:rPr>
              <a:t> </a:t>
            </a:r>
            <a:r>
              <a:rPr lang="en-US" b="1" dirty="0">
                <a:solidFill>
                  <a:srgbClr val="FF0000"/>
                </a:solidFill>
                <a:latin typeface="Times New Roman" panose="02020603050405020304" pitchFamily="18" charset="0"/>
                <a:cs typeface="Times New Roman" panose="02020603050405020304" pitchFamily="18" charset="0"/>
              </a:rPr>
              <a:t>w)</a:t>
            </a:r>
            <a:endParaRPr lang="en-IN"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8399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03613" y="1368424"/>
            <a:ext cx="8714015" cy="4351338"/>
          </a:xfrm>
        </p:spPr>
        <p:txBody>
          <a:bodyPr vert="horz" lIns="91440" tIns="45720" rIns="91440" bIns="45720" rtlCol="0">
            <a:normAutofit/>
          </a:bodyPr>
          <a:lstStyle/>
          <a:p>
            <a:r>
              <a:rPr lang="en-US" sz="4000" dirty="0">
                <a:latin typeface="Times New Roman" panose="02020603050405020304" pitchFamily="18" charset="0"/>
                <a:cs typeface="Times New Roman" panose="02020603050405020304" pitchFamily="18" charset="0"/>
              </a:rPr>
              <a:t>We first put each hypothesis in CNF:</a:t>
            </a:r>
          </a:p>
          <a:p>
            <a:endParaRPr lang="en-US" sz="40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r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u == </a:t>
            </a:r>
            <a:r>
              <a:rPr lang="en-US" sz="4000" dirty="0" smtClean="0">
                <a:latin typeface="Times New Roman" panose="02020603050405020304" pitchFamily="18" charset="0"/>
                <a:cs typeface="Times New Roman" panose="02020603050405020304" pitchFamily="18" charset="0"/>
              </a:rPr>
              <a:t>(</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r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u)</a:t>
            </a:r>
          </a:p>
          <a:p>
            <a:r>
              <a:rPr lang="en-US" sz="4000" dirty="0">
                <a:latin typeface="Times New Roman" panose="02020603050405020304" pitchFamily="18" charset="0"/>
                <a:cs typeface="Times New Roman" panose="02020603050405020304" pitchFamily="18" charset="0"/>
              </a:rPr>
              <a:t>u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w == </a:t>
            </a:r>
            <a:r>
              <a:rPr lang="en-US" sz="4000" dirty="0" smtClean="0">
                <a:latin typeface="Times New Roman" panose="02020603050405020304" pitchFamily="18" charset="0"/>
                <a:cs typeface="Times New Roman" panose="02020603050405020304" pitchFamily="18" charset="0"/>
              </a:rPr>
              <a:t>(</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u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w)</a:t>
            </a:r>
          </a:p>
          <a:p>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r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 </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w == (r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altLang="en-US" sz="4000" dirty="0" smtClean="0">
                <a:latin typeface="Times New Roman" panose="02020603050405020304" pitchFamily="18" charset="0"/>
                <a:cs typeface="Times New Roman" panose="02020603050405020304" pitchFamily="18" charset="0"/>
                <a:sym typeface="Symbol" panose="05050102010706020507" pitchFamily="18" charset="2"/>
              </a:rPr>
              <a:t></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w)</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40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9712" y="440872"/>
            <a:ext cx="10221302" cy="5600699"/>
          </a:xfrm>
        </p:spPr>
        <p:txBody>
          <a:bodyPr>
            <a:noAutofit/>
          </a:bodyPr>
          <a:lstStyle/>
          <a:p>
            <a:r>
              <a:rPr lang="en-US" sz="2400" dirty="0" smtClean="0">
                <a:latin typeface="Times New Roman" panose="02020603050405020304" pitchFamily="18" charset="0"/>
                <a:cs typeface="Times New Roman" panose="02020603050405020304" pitchFamily="18" charset="0"/>
              </a:rPr>
              <a:t>We then use resolution on the hypotheses to derive the conclusion (</a:t>
            </a:r>
            <a:r>
              <a:rPr lang="en-US" altLang="en-US" sz="2400" dirty="0" smtClean="0">
                <a:sym typeface="Symbol" panose="05050102010706020507" pitchFamily="18" charset="2"/>
              </a:rPr>
              <a:t></a:t>
            </a:r>
            <a:r>
              <a:rPr lang="en-US" sz="2400" dirty="0" smtClean="0">
                <a:latin typeface="Times New Roman" panose="02020603050405020304" pitchFamily="18" charset="0"/>
                <a:cs typeface="Times New Roman" panose="02020603050405020304" pitchFamily="18" charset="0"/>
              </a:rPr>
              <a:t> w):</a:t>
            </a:r>
          </a:p>
          <a:p>
            <a:pPr marL="0" indent="0">
              <a:buNone/>
            </a:pPr>
            <a:endParaRPr lang="en-US" sz="2400" dirty="0" smtClean="0">
              <a:latin typeface="Times New Roman" panose="02020603050405020304" pitchFamily="18" charset="0"/>
              <a:cs typeface="Times New Roman" panose="02020603050405020304" pitchFamily="18" charset="0"/>
            </a:endParaRPr>
          </a:p>
          <a:p>
            <a:pPr marL="0" indent="0">
              <a:buNone/>
            </a:pPr>
            <a:r>
              <a:rPr lang="en-US" sz="1800" dirty="0" smtClean="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1.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r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u        		Premise</a:t>
            </a:r>
          </a:p>
          <a:p>
            <a:pPr marL="0" indent="0">
              <a:buNone/>
            </a:pPr>
            <a:r>
              <a:rPr lang="en-US" sz="3200" b="1" dirty="0" smtClean="0">
                <a:latin typeface="Times New Roman" panose="02020603050405020304" pitchFamily="18" charset="0"/>
                <a:cs typeface="Times New Roman" panose="02020603050405020304" pitchFamily="18" charset="0"/>
              </a:rPr>
              <a:t>  2.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u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w    	Premise</a:t>
            </a:r>
          </a:p>
          <a:p>
            <a:pPr marL="0" indent="0">
              <a:buNone/>
            </a:pPr>
            <a:r>
              <a:rPr lang="en-US" sz="3200" b="1" dirty="0" smtClean="0">
                <a:latin typeface="Times New Roman" panose="02020603050405020304" pitchFamily="18" charset="0"/>
                <a:cs typeface="Times New Roman" panose="02020603050405020304" pitchFamily="18" charset="0"/>
              </a:rPr>
              <a:t>  3. r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w        		Premise</a:t>
            </a:r>
          </a:p>
          <a:p>
            <a:pPr marL="0" indent="0">
              <a:buNone/>
            </a:pPr>
            <a:r>
              <a:rPr lang="en-US" sz="3200" b="1" dirty="0" smtClean="0">
                <a:latin typeface="Times New Roman" panose="02020603050405020304" pitchFamily="18" charset="0"/>
                <a:cs typeface="Times New Roman" panose="02020603050405020304" pitchFamily="18" charset="0"/>
              </a:rPr>
              <a:t>  4.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r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w    		L1, L2, resolution</a:t>
            </a:r>
          </a:p>
          <a:p>
            <a:pPr marL="0" indent="0">
              <a:buNone/>
            </a:pPr>
            <a:r>
              <a:rPr lang="en-US" sz="3200" b="1" dirty="0" smtClean="0">
                <a:latin typeface="Times New Roman" panose="02020603050405020304" pitchFamily="18" charset="0"/>
                <a:cs typeface="Times New Roman" panose="02020603050405020304" pitchFamily="18" charset="0"/>
              </a:rPr>
              <a:t>  5.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w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w    	L3, L4, resolution</a:t>
            </a:r>
          </a:p>
          <a:p>
            <a:pPr marL="0" indent="0">
              <a:buNone/>
            </a:pPr>
            <a:r>
              <a:rPr lang="en-US" sz="3200" b="1" dirty="0" smtClean="0">
                <a:latin typeface="Times New Roman" panose="02020603050405020304" pitchFamily="18" charset="0"/>
                <a:cs typeface="Times New Roman" panose="02020603050405020304" pitchFamily="18" charset="0"/>
              </a:rPr>
              <a:t>  6. </a:t>
            </a:r>
            <a:r>
              <a:rPr lang="en-US" altLang="en-US" sz="3200" b="1" dirty="0" smtClean="0">
                <a:sym typeface="Symbol" panose="05050102010706020507" pitchFamily="18" charset="2"/>
              </a:rPr>
              <a:t></a:t>
            </a:r>
            <a:r>
              <a:rPr lang="en-US" sz="3200" b="1" dirty="0" smtClean="0">
                <a:latin typeface="Times New Roman" panose="02020603050405020304" pitchFamily="18" charset="0"/>
                <a:cs typeface="Times New Roman" panose="02020603050405020304" pitchFamily="18" charset="0"/>
              </a:rPr>
              <a:t> w             		L5, idempotence</a:t>
            </a:r>
          </a:p>
          <a:p>
            <a:pPr marL="0" indent="0">
              <a:buNone/>
            </a:pPr>
            <a:r>
              <a:rPr lang="en-US" sz="3200" b="1" dirty="0" smtClean="0">
                <a:latin typeface="Times New Roman" panose="02020603050405020304" pitchFamily="18" charset="0"/>
                <a:cs typeface="Times New Roman" panose="02020603050405020304" pitchFamily="18" charset="0"/>
              </a:rPr>
              <a:t>  7. END</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3964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9518"/>
          </a:xfrm>
        </p:spPr>
        <p:txBody>
          <a:bodyPr/>
          <a:lstStyle/>
          <a:p>
            <a:pPr algn="r"/>
            <a:r>
              <a:rPr lang="en-US" dirty="0" smtClean="0">
                <a:latin typeface="Times New Roman" panose="02020603050405020304" pitchFamily="18" charset="0"/>
                <a:cs typeface="Times New Roman" panose="02020603050405020304" pitchFamily="18" charset="0"/>
              </a:rPr>
              <a:t>Proofs by Contradiction using Resolution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224644"/>
            <a:ext cx="10951029" cy="5633356"/>
          </a:xfrm>
        </p:spPr>
        <p:txBody>
          <a:bodyPr>
            <a:normAutofit/>
          </a:bodyPr>
          <a:lstStyle/>
          <a:p>
            <a:pPr algn="just"/>
            <a:r>
              <a:rPr lang="en-US" dirty="0" smtClean="0">
                <a:latin typeface="Times New Roman" panose="02020603050405020304" pitchFamily="18" charset="0"/>
                <a:cs typeface="Times New Roman" panose="02020603050405020304" pitchFamily="18" charset="0"/>
              </a:rPr>
              <a:t>We can combine resolution with proof by contradiction (where we assert the negation of what we wish to prove, and from that premise derive FALSE) to direct our search towards smaller and smaller clauses, with the goal of producing FALSE.</a:t>
            </a:r>
          </a:p>
          <a:p>
            <a:pPr algn="just"/>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Proof by contradiction:</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altLang="en-US" dirty="0" smtClean="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p </a:t>
            </a:r>
            <a:r>
              <a:rPr lang="en-US" altLang="en-US" dirty="0" smtClean="0">
                <a:latin typeface="Times New Roman" panose="02020603050405020304" pitchFamily="18" charset="0"/>
                <a:cs typeface="Times New Roman" panose="02020603050405020304" pitchFamily="18" charset="0"/>
                <a:sym typeface="Symbol" panose="05050102010706020507" pitchFamily="18" charset="2"/>
              </a:rPr>
              <a:t></a:t>
            </a:r>
            <a:r>
              <a:rPr lang="en-US" dirty="0" smtClean="0">
                <a:latin typeface="Times New Roman" panose="02020603050405020304" pitchFamily="18" charset="0"/>
                <a:cs typeface="Times New Roman" panose="02020603050405020304" pitchFamily="18" charset="0"/>
              </a:rPr>
              <a:t> 0) == p</a:t>
            </a:r>
          </a:p>
          <a:p>
            <a:pPr marL="0" indent="0" algn="just">
              <a:buNone/>
            </a:pP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We use proof by contradiction to drive our search for a proof; we are looking for the smallest possible goal clause (false), so any use of equivalences or resolution that brings us to simpler expressions is working towards that goal.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58285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5155"/>
            <a:ext cx="10183586" cy="5661808"/>
          </a:xfrm>
        </p:spPr>
        <p:txBody>
          <a:bodyPr>
            <a:normAutofit fontScale="62500" lnSpcReduction="20000"/>
          </a:bodyPr>
          <a:lstStyle/>
          <a:p>
            <a:r>
              <a:rPr lang="en-US" b="1" dirty="0" smtClean="0">
                <a:latin typeface="Times New Roman" panose="02020603050405020304" pitchFamily="18" charset="0"/>
                <a:cs typeface="Times New Roman" panose="02020603050405020304" pitchFamily="18" charset="0"/>
              </a:rPr>
              <a:t>We can redo the previous proof (about Joe and his umbrella) using proof by contradiction with resolution:</a:t>
            </a:r>
          </a:p>
          <a:p>
            <a:endParaRPr lang="en-US" b="1"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   1.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r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u        Premise</a:t>
            </a:r>
          </a:p>
          <a:p>
            <a:pPr marL="0" indent="0">
              <a:buNone/>
            </a:pPr>
            <a:r>
              <a:rPr lang="en-US" b="1" dirty="0" smtClean="0">
                <a:latin typeface="Times New Roman" panose="02020603050405020304" pitchFamily="18" charset="0"/>
                <a:cs typeface="Times New Roman" panose="02020603050405020304" pitchFamily="18" charset="0"/>
              </a:rPr>
              <a:t>  </a:t>
            </a:r>
          </a:p>
          <a:p>
            <a:pPr marL="0" indent="0">
              <a:buNone/>
            </a:pPr>
            <a:r>
              <a:rPr lang="en-US" b="1" dirty="0" smtClean="0">
                <a:latin typeface="Times New Roman" panose="02020603050405020304" pitchFamily="18" charset="0"/>
                <a:cs typeface="Times New Roman" panose="02020603050405020304" pitchFamily="18" charset="0"/>
              </a:rPr>
              <a:t>   2.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u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w    Premise</a:t>
            </a:r>
          </a:p>
          <a:p>
            <a:pPr marL="0" indent="0">
              <a:buNone/>
            </a:pPr>
            <a:r>
              <a:rPr lang="en-US" b="1" dirty="0" smtClean="0">
                <a:latin typeface="Times New Roman" panose="02020603050405020304" pitchFamily="18" charset="0"/>
                <a:cs typeface="Times New Roman" panose="02020603050405020304" pitchFamily="18" charset="0"/>
              </a:rPr>
              <a:t>  </a:t>
            </a:r>
          </a:p>
          <a:p>
            <a:pPr marL="0" indent="0">
              <a:buNone/>
            </a:pPr>
            <a:r>
              <a:rPr lang="en-US" b="1" dirty="0" smtClean="0">
                <a:latin typeface="Times New Roman" panose="02020603050405020304" pitchFamily="18" charset="0"/>
                <a:cs typeface="Times New Roman" panose="02020603050405020304" pitchFamily="18" charset="0"/>
              </a:rPr>
              <a:t>   3. r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w        Premise</a:t>
            </a:r>
          </a:p>
          <a:p>
            <a:pPr marL="0" indent="0">
              <a:buNone/>
            </a:pPr>
            <a:r>
              <a:rPr lang="en-US" b="1" dirty="0" smtClean="0">
                <a:latin typeface="Times New Roman" panose="02020603050405020304" pitchFamily="18" charset="0"/>
                <a:cs typeface="Times New Roman" panose="02020603050405020304" pitchFamily="18" charset="0"/>
              </a:rPr>
              <a:t>  </a:t>
            </a:r>
          </a:p>
          <a:p>
            <a:pPr marL="0" indent="0">
              <a:buNone/>
            </a:pPr>
            <a:r>
              <a:rPr lang="en-US" b="1" dirty="0" smtClean="0">
                <a:latin typeface="Times New Roman" panose="02020603050405020304" pitchFamily="18" charset="0"/>
                <a:cs typeface="Times New Roman" panose="02020603050405020304" pitchFamily="18" charset="0"/>
              </a:rPr>
              <a:t>   4. w                 Negation of conclusion</a:t>
            </a:r>
          </a:p>
          <a:p>
            <a:pPr marL="0" indent="0">
              <a:buNone/>
            </a:pPr>
            <a:r>
              <a:rPr lang="en-US" b="1" dirty="0" smtClean="0">
                <a:latin typeface="Times New Roman" panose="02020603050405020304" pitchFamily="18" charset="0"/>
                <a:cs typeface="Times New Roman" panose="02020603050405020304" pitchFamily="18" charset="0"/>
              </a:rPr>
              <a:t>  </a:t>
            </a:r>
          </a:p>
          <a:p>
            <a:pPr marL="0" indent="0">
              <a:buNone/>
            </a:pPr>
            <a:r>
              <a:rPr lang="en-US" b="1" dirty="0" smtClean="0">
                <a:latin typeface="Times New Roman" panose="02020603050405020304" pitchFamily="18" charset="0"/>
                <a:cs typeface="Times New Roman" panose="02020603050405020304" pitchFamily="18" charset="0"/>
              </a:rPr>
              <a:t>   5.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r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w    L1, L2, resolution</a:t>
            </a:r>
          </a:p>
          <a:p>
            <a:pPr marL="0" indent="0">
              <a:buNone/>
            </a:pPr>
            <a:r>
              <a:rPr lang="en-US" b="1" dirty="0" smtClean="0">
                <a:latin typeface="Times New Roman" panose="02020603050405020304" pitchFamily="18" charset="0"/>
                <a:cs typeface="Times New Roman" panose="02020603050405020304" pitchFamily="18" charset="0"/>
              </a:rPr>
              <a:t>  </a:t>
            </a:r>
          </a:p>
          <a:p>
            <a:pPr marL="0" indent="0">
              <a:buNone/>
            </a:pPr>
            <a:r>
              <a:rPr lang="en-US" b="1" dirty="0" smtClean="0">
                <a:latin typeface="Times New Roman" panose="02020603050405020304" pitchFamily="18" charset="0"/>
                <a:cs typeface="Times New Roman" panose="02020603050405020304" pitchFamily="18" charset="0"/>
              </a:rPr>
              <a:t>   6.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w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w    L3, L5, resolution</a:t>
            </a:r>
          </a:p>
          <a:p>
            <a:pPr marL="0" indent="0">
              <a:buNone/>
            </a:pPr>
            <a:r>
              <a:rPr lang="en-US" b="1" dirty="0" smtClean="0">
                <a:latin typeface="Times New Roman" panose="02020603050405020304" pitchFamily="18" charset="0"/>
                <a:cs typeface="Times New Roman" panose="02020603050405020304" pitchFamily="18" charset="0"/>
              </a:rPr>
              <a:t>  </a:t>
            </a:r>
          </a:p>
          <a:p>
            <a:pPr marL="0" indent="0">
              <a:buNone/>
            </a:pPr>
            <a:r>
              <a:rPr lang="en-US" b="1" dirty="0" smtClean="0">
                <a:latin typeface="Times New Roman" panose="02020603050405020304" pitchFamily="18" charset="0"/>
                <a:cs typeface="Times New Roman" panose="02020603050405020304" pitchFamily="18" charset="0"/>
              </a:rPr>
              <a:t>   7. </a:t>
            </a:r>
            <a:r>
              <a:rPr lang="en-US" altLang="en-US" b="1" dirty="0" smtClean="0">
                <a:sym typeface="Symbol" panose="05050102010706020507" pitchFamily="18" charset="2"/>
              </a:rPr>
              <a:t></a:t>
            </a:r>
            <a:r>
              <a:rPr lang="en-US" b="1" dirty="0" smtClean="0">
                <a:latin typeface="Times New Roman" panose="02020603050405020304" pitchFamily="18" charset="0"/>
                <a:cs typeface="Times New Roman" panose="02020603050405020304" pitchFamily="18" charset="0"/>
              </a:rPr>
              <a:t> w             L6, idempotence</a:t>
            </a:r>
          </a:p>
          <a:p>
            <a:pPr marL="0" indent="0">
              <a:buNone/>
            </a:pPr>
            <a:r>
              <a:rPr lang="en-US" b="1" dirty="0" smtClean="0">
                <a:latin typeface="Times New Roman" panose="02020603050405020304" pitchFamily="18" charset="0"/>
                <a:cs typeface="Times New Roman" panose="02020603050405020304" pitchFamily="18" charset="0"/>
              </a:rPr>
              <a:t>  </a:t>
            </a:r>
          </a:p>
          <a:p>
            <a:pPr marL="0" indent="0">
              <a:buNone/>
            </a:pPr>
            <a:r>
              <a:rPr lang="en-US" b="1" dirty="0" smtClean="0">
                <a:latin typeface="Times New Roman" panose="02020603050405020304" pitchFamily="18" charset="0"/>
                <a:cs typeface="Times New Roman" panose="02020603050405020304" pitchFamily="18" charset="0"/>
              </a:rPr>
              <a:t>   8. </a:t>
            </a:r>
            <a:r>
              <a:rPr lang="en-US" b="1" dirty="0" smtClean="0">
                <a:latin typeface="Times New Roman" panose="02020603050405020304" pitchFamily="18" charset="0"/>
                <a:cs typeface="Times New Roman" panose="02020603050405020304" pitchFamily="18" charset="0"/>
              </a:rPr>
              <a:t>NULL (FALSE)             </a:t>
            </a:r>
            <a:r>
              <a:rPr lang="en-US" b="1" dirty="0" smtClean="0">
                <a:latin typeface="Times New Roman" panose="02020603050405020304" pitchFamily="18" charset="0"/>
                <a:cs typeface="Times New Roman" panose="02020603050405020304" pitchFamily="18" charset="0"/>
              </a:rPr>
              <a:t>L4, L7, resolution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421292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294</Words>
  <Application>Microsoft Office PowerPoint</Application>
  <PresentationFormat>Widescreen</PresentationFormat>
  <Paragraphs>46</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Symbol</vt:lpstr>
      <vt:lpstr>Times New Roman</vt:lpstr>
      <vt:lpstr>Office Theme</vt:lpstr>
      <vt:lpstr>Resolution Using Propositional Logic</vt:lpstr>
      <vt:lpstr>Proof with Resolution (Without Contradiction) </vt:lpstr>
      <vt:lpstr>PowerPoint Presentation</vt:lpstr>
      <vt:lpstr>PowerPoint Presentation</vt:lpstr>
      <vt:lpstr>Proofs by Contradiction using Resolution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Resolution Using Propositional Logic</dc:title>
  <dc:creator>Admin</dc:creator>
  <cp:lastModifiedBy>Rajeshkannan Regunathan</cp:lastModifiedBy>
  <cp:revision>16</cp:revision>
  <dcterms:created xsi:type="dcterms:W3CDTF">2019-02-04T10:47:02Z</dcterms:created>
  <dcterms:modified xsi:type="dcterms:W3CDTF">2020-02-05T12:29:50Z</dcterms:modified>
</cp:coreProperties>
</file>