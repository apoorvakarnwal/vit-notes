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03" r:id="rId3"/>
    <p:sldId id="304" r:id="rId4"/>
    <p:sldId id="263" r:id="rId5"/>
    <p:sldId id="330" r:id="rId6"/>
    <p:sldId id="258" r:id="rId7"/>
    <p:sldId id="286" r:id="rId8"/>
    <p:sldId id="287" r:id="rId9"/>
    <p:sldId id="332" r:id="rId10"/>
    <p:sldId id="333" r:id="rId11"/>
    <p:sldId id="334" r:id="rId12"/>
    <p:sldId id="335" r:id="rId13"/>
    <p:sldId id="336" r:id="rId14"/>
    <p:sldId id="264" r:id="rId15"/>
    <p:sldId id="338" r:id="rId16"/>
    <p:sldId id="339" r:id="rId17"/>
    <p:sldId id="272" r:id="rId18"/>
    <p:sldId id="305" r:id="rId19"/>
    <p:sldId id="302" r:id="rId20"/>
    <p:sldId id="301" r:id="rId21"/>
    <p:sldId id="288" r:id="rId22"/>
    <p:sldId id="289" r:id="rId23"/>
    <p:sldId id="290" r:id="rId24"/>
    <p:sldId id="291" r:id="rId25"/>
    <p:sldId id="300" r:id="rId26"/>
    <p:sldId id="306" r:id="rId27"/>
    <p:sldId id="292" r:id="rId28"/>
    <p:sldId id="293" r:id="rId29"/>
    <p:sldId id="294" r:id="rId30"/>
    <p:sldId id="295" r:id="rId31"/>
    <p:sldId id="296" r:id="rId32"/>
    <p:sldId id="340" r:id="rId33"/>
    <p:sldId id="269" r:id="rId34"/>
    <p:sldId id="273" r:id="rId35"/>
    <p:sldId id="274" r:id="rId36"/>
    <p:sldId id="270" r:id="rId37"/>
    <p:sldId id="271" r:id="rId38"/>
    <p:sldId id="321" r:id="rId39"/>
    <p:sldId id="276" r:id="rId40"/>
    <p:sldId id="277" r:id="rId41"/>
    <p:sldId id="280" r:id="rId42"/>
    <p:sldId id="281" r:id="rId43"/>
    <p:sldId id="282" r:id="rId44"/>
    <p:sldId id="307" r:id="rId45"/>
    <p:sldId id="308" r:id="rId46"/>
    <p:sldId id="309" r:id="rId47"/>
    <p:sldId id="310" r:id="rId48"/>
    <p:sldId id="311" r:id="rId49"/>
    <p:sldId id="312" r:id="rId50"/>
    <p:sldId id="314" r:id="rId51"/>
    <p:sldId id="315" r:id="rId52"/>
    <p:sldId id="316" r:id="rId53"/>
    <p:sldId id="317" r:id="rId54"/>
    <p:sldId id="318" r:id="rId55"/>
    <p:sldId id="319" r:id="rId56"/>
    <p:sldId id="327" r:id="rId57"/>
    <p:sldId id="322" r:id="rId58"/>
    <p:sldId id="323" r:id="rId59"/>
    <p:sldId id="324" r:id="rId60"/>
    <p:sldId id="329" r:id="rId61"/>
    <p:sldId id="325" r:id="rId62"/>
    <p:sldId id="326" r:id="rId63"/>
    <p:sldId id="328" r:id="rId64"/>
    <p:sldId id="297" r:id="rId6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9" d="100"/>
          <a:sy n="59" d="100"/>
        </p:scale>
        <p:origin x="1500" y="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4EB7BDC-451A-45BA-8DCF-596664279483}"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359423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EB7BDC-451A-45BA-8DCF-596664279483}"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1848411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4EB7BDC-451A-45BA-8DCF-596664279483}"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16683905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4EB7BDC-451A-45BA-8DCF-596664279483}" type="datetimeFigureOut">
              <a:rPr lang="en-IN" smtClean="0"/>
              <a:t>13-08-2024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627705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4EB7BDC-451A-45BA-8DCF-596664279483}" type="datetimeFigureOut">
              <a:rPr lang="en-IN" smtClean="0"/>
              <a:t>13-08-2024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372386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4EB7BDC-451A-45BA-8DCF-596664279483}" type="datetimeFigureOut">
              <a:rPr lang="en-IN" smtClean="0"/>
              <a:t>13-08-2024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1097310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EB7BDC-451A-45BA-8DCF-596664279483}" type="datetimeFigureOut">
              <a:rPr lang="en-IN" smtClean="0"/>
              <a:t>13-08-2024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3599118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EB7BDC-451A-45BA-8DCF-596664279483}" type="datetimeFigureOut">
              <a:rPr lang="en-IN" smtClean="0"/>
              <a:t>13-08-2024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3098033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4EB7BDC-451A-45BA-8DCF-596664279483}" type="datetimeFigureOut">
              <a:rPr lang="en-IN" smtClean="0"/>
              <a:t>13-08-2024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144237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EB7BDC-451A-45BA-8DCF-596664279483}"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681247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EB7BDC-451A-45BA-8DCF-596664279483}" type="datetimeFigureOut">
              <a:rPr lang="en-IN" smtClean="0"/>
              <a:t>13-08-2024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EEB09E4-2EE8-4012-BA0E-72FA8D7BD16C}" type="slidenum">
              <a:rPr lang="en-IN" smtClean="0"/>
              <a:t>‹#›</a:t>
            </a:fld>
            <a:endParaRPr lang="en-IN"/>
          </a:p>
        </p:txBody>
      </p:sp>
    </p:spTree>
    <p:extLst>
      <p:ext uri="{BB962C8B-B14F-4D97-AF65-F5344CB8AC3E}">
        <p14:creationId xmlns:p14="http://schemas.microsoft.com/office/powerpoint/2010/main" val="12031808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EB7BDC-451A-45BA-8DCF-596664279483}" type="datetimeFigureOut">
              <a:rPr lang="en-IN" smtClean="0"/>
              <a:t>13-08-2024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EB09E4-2EE8-4012-BA0E-72FA8D7BD16C}" type="slidenum">
              <a:rPr lang="en-IN" smtClean="0"/>
              <a:t>‹#›</a:t>
            </a:fld>
            <a:endParaRPr lang="en-IN"/>
          </a:p>
        </p:txBody>
      </p:sp>
    </p:spTree>
    <p:extLst>
      <p:ext uri="{BB962C8B-B14F-4D97-AF65-F5344CB8AC3E}">
        <p14:creationId xmlns:p14="http://schemas.microsoft.com/office/powerpoint/2010/main" val="552811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hyperlink" Target="https://en.wikipedia.org/wiki/Best-first_search"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r>
              <a:rPr lang="en-IN" altLang="en-US" dirty="0"/>
              <a:t>Module2_</a:t>
            </a:r>
            <a:r>
              <a:rPr lang="en-IN" dirty="0"/>
              <a:t>Heuristic Search Strategies</a:t>
            </a:r>
            <a:endParaRPr lang="en-IN" altLang="en-US" dirty="0"/>
          </a:p>
        </p:txBody>
      </p:sp>
      <p:sp>
        <p:nvSpPr>
          <p:cNvPr id="3" name="Subtitle 2"/>
          <p:cNvSpPr>
            <a:spLocks noGrp="1"/>
          </p:cNvSpPr>
          <p:nvPr>
            <p:ph type="subTitle" idx="1"/>
          </p:nvPr>
        </p:nvSpPr>
        <p:spPr/>
        <p:txBody>
          <a:bodyPr>
            <a:normAutofit fontScale="92500" lnSpcReduction="10000"/>
          </a:bodyPr>
          <a:lstStyle/>
          <a:p>
            <a:pPr algn="l">
              <a:defRPr/>
            </a:pPr>
            <a:r>
              <a:rPr lang="en-IN" dirty="0"/>
              <a:t>Reference: Russell, S. and </a:t>
            </a:r>
            <a:r>
              <a:rPr lang="en-IN" dirty="0" err="1"/>
              <a:t>Norvig</a:t>
            </a:r>
            <a:r>
              <a:rPr lang="en-IN" dirty="0"/>
              <a:t>, P. Artificial Intelligence - A Modern Approach, 4th edition, Prentice Hall, 2020-Chapter 3, section 3.5</a:t>
            </a:r>
          </a:p>
        </p:txBody>
      </p:sp>
    </p:spTree>
    <p:extLst>
      <p:ext uri="{BB962C8B-B14F-4D97-AF65-F5344CB8AC3E}">
        <p14:creationId xmlns:p14="http://schemas.microsoft.com/office/powerpoint/2010/main" val="1343244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Heuristic Technique</a:t>
            </a:r>
          </a:p>
        </p:txBody>
      </p:sp>
      <p:sp>
        <p:nvSpPr>
          <p:cNvPr id="3" name="Content Placeholder 2"/>
          <p:cNvSpPr>
            <a:spLocks noGrp="1"/>
          </p:cNvSpPr>
          <p:nvPr>
            <p:ph idx="1"/>
          </p:nvPr>
        </p:nvSpPr>
        <p:spPr/>
        <p:txBody>
          <a:bodyPr>
            <a:normAutofit lnSpcReduction="10000"/>
          </a:bodyPr>
          <a:lstStyle/>
          <a:p>
            <a:pPr algn="just"/>
            <a:r>
              <a:rPr lang="en-IN" dirty="0"/>
              <a:t>A heuristic or heuristic technique, is </a:t>
            </a:r>
            <a:r>
              <a:rPr lang="en-IN" dirty="0">
                <a:solidFill>
                  <a:srgbClr val="FF0000"/>
                </a:solidFill>
              </a:rPr>
              <a:t>any approach to problem solving </a:t>
            </a:r>
            <a:r>
              <a:rPr lang="en-IN" dirty="0"/>
              <a:t>or self-discovery that employs a practical method that is </a:t>
            </a:r>
            <a:r>
              <a:rPr lang="en-IN" dirty="0">
                <a:solidFill>
                  <a:srgbClr val="FF0000"/>
                </a:solidFill>
              </a:rPr>
              <a:t>not guaranteed to be optimal, perfect, or rational</a:t>
            </a:r>
            <a:r>
              <a:rPr lang="en-IN" dirty="0"/>
              <a:t>, but is nevertheless sufficient for reaching an immediate, </a:t>
            </a:r>
            <a:r>
              <a:rPr lang="en-IN" dirty="0">
                <a:solidFill>
                  <a:srgbClr val="FF0000"/>
                </a:solidFill>
              </a:rPr>
              <a:t>short-term goal or approximation. </a:t>
            </a:r>
          </a:p>
          <a:p>
            <a:pPr lvl="1" algn="just"/>
            <a:r>
              <a:rPr lang="en-IN" dirty="0"/>
              <a:t>Where ever finding an optimal solution is impossible or impractical, </a:t>
            </a:r>
            <a:r>
              <a:rPr lang="en-IN" dirty="0">
                <a:solidFill>
                  <a:srgbClr val="FF0000"/>
                </a:solidFill>
              </a:rPr>
              <a:t>heuristic methods can be used to speed up the process of finding a satisfactory solution.</a:t>
            </a:r>
          </a:p>
        </p:txBody>
      </p:sp>
    </p:spTree>
    <p:extLst>
      <p:ext uri="{BB962C8B-B14F-4D97-AF65-F5344CB8AC3E}">
        <p14:creationId xmlns:p14="http://schemas.microsoft.com/office/powerpoint/2010/main" val="3614301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Heuristic Technique</a:t>
            </a:r>
          </a:p>
        </p:txBody>
      </p:sp>
      <p:sp>
        <p:nvSpPr>
          <p:cNvPr id="3" name="Content Placeholder 2"/>
          <p:cNvSpPr>
            <a:spLocks noGrp="1"/>
          </p:cNvSpPr>
          <p:nvPr>
            <p:ph idx="1"/>
          </p:nvPr>
        </p:nvSpPr>
        <p:spPr/>
        <p:txBody>
          <a:bodyPr>
            <a:normAutofit fontScale="92500" lnSpcReduction="20000"/>
          </a:bodyPr>
          <a:lstStyle/>
          <a:p>
            <a:pPr algn="just"/>
            <a:r>
              <a:rPr lang="en-IN" dirty="0"/>
              <a:t>In mathematical optimization and computer science, heuristic is a technique designed</a:t>
            </a:r>
            <a:r>
              <a:rPr lang="en-IN" dirty="0">
                <a:solidFill>
                  <a:srgbClr val="FF0000"/>
                </a:solidFill>
              </a:rPr>
              <a:t> for solving a problem</a:t>
            </a:r>
          </a:p>
          <a:p>
            <a:pPr lvl="1" algn="just"/>
            <a:r>
              <a:rPr lang="en-IN" dirty="0">
                <a:solidFill>
                  <a:srgbClr val="FF0000"/>
                </a:solidFill>
              </a:rPr>
              <a:t>more quickly when classic methods are too slow </a:t>
            </a:r>
            <a:r>
              <a:rPr lang="en-IN" dirty="0"/>
              <a:t>or for finding an approximate solution when classic methods fail to find any exact solution. </a:t>
            </a:r>
          </a:p>
          <a:p>
            <a:pPr lvl="1" algn="just"/>
            <a:r>
              <a:rPr lang="en-IN" dirty="0"/>
              <a:t>This is achieved by trading optimality, completeness, accuracy, or precision for speed. </a:t>
            </a:r>
          </a:p>
          <a:p>
            <a:pPr algn="just"/>
            <a:r>
              <a:rPr lang="en-IN" dirty="0"/>
              <a:t>A heuristic function (a heuristic), is a function that </a:t>
            </a:r>
            <a:r>
              <a:rPr lang="en-IN" dirty="0">
                <a:solidFill>
                  <a:srgbClr val="FF0000"/>
                </a:solidFill>
              </a:rPr>
              <a:t>ranks alternatives in search algorithms at each branching step </a:t>
            </a:r>
            <a:r>
              <a:rPr lang="en-IN" dirty="0"/>
              <a:t>based on available information to decide which branch to follow. </a:t>
            </a:r>
            <a:endParaRPr lang="en-IN" dirty="0">
              <a:solidFill>
                <a:srgbClr val="FF0000"/>
              </a:solidFill>
            </a:endParaRPr>
          </a:p>
        </p:txBody>
      </p:sp>
    </p:spTree>
    <p:extLst>
      <p:ext uri="{BB962C8B-B14F-4D97-AF65-F5344CB8AC3E}">
        <p14:creationId xmlns:p14="http://schemas.microsoft.com/office/powerpoint/2010/main" val="1135406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Informed (Heuristic) Search Strategies</a:t>
            </a:r>
          </a:p>
        </p:txBody>
      </p:sp>
      <p:sp>
        <p:nvSpPr>
          <p:cNvPr id="3" name="Content Placeholder 2"/>
          <p:cNvSpPr>
            <a:spLocks noGrp="1"/>
          </p:cNvSpPr>
          <p:nvPr>
            <p:ph idx="1"/>
          </p:nvPr>
        </p:nvSpPr>
        <p:spPr/>
        <p:txBody>
          <a:bodyPr>
            <a:normAutofit lnSpcReduction="10000"/>
          </a:bodyPr>
          <a:lstStyle/>
          <a:p>
            <a:pPr algn="just"/>
            <a:r>
              <a:rPr lang="en-US" dirty="0"/>
              <a:t>Informed search algorithms use </a:t>
            </a:r>
            <a:r>
              <a:rPr lang="en-US" dirty="0">
                <a:solidFill>
                  <a:srgbClr val="FF0000"/>
                </a:solidFill>
              </a:rPr>
              <a:t>domain knowledge</a:t>
            </a:r>
            <a:r>
              <a:rPr lang="en-US" dirty="0"/>
              <a:t>. </a:t>
            </a:r>
          </a:p>
          <a:p>
            <a:pPr marL="857250" lvl="1" indent="-457200" algn="just">
              <a:buFont typeface="Arial" panose="020B0604020202020204" pitchFamily="34" charset="0"/>
              <a:buChar char="•"/>
            </a:pPr>
            <a:r>
              <a:rPr lang="en-US" dirty="0"/>
              <a:t>In an informed search, problem information is available which </a:t>
            </a:r>
            <a:r>
              <a:rPr lang="en-US" dirty="0">
                <a:solidFill>
                  <a:srgbClr val="FF0000"/>
                </a:solidFill>
              </a:rPr>
              <a:t>can guide the search</a:t>
            </a:r>
            <a:r>
              <a:rPr lang="en-US" dirty="0"/>
              <a:t>. </a:t>
            </a:r>
          </a:p>
          <a:p>
            <a:pPr marL="857250" lvl="1" indent="-457200" algn="just">
              <a:buFont typeface="Arial" panose="020B0604020202020204" pitchFamily="34" charset="0"/>
              <a:buChar char="•"/>
            </a:pPr>
            <a:r>
              <a:rPr lang="en-US" dirty="0"/>
              <a:t>Can find a solution </a:t>
            </a:r>
            <a:r>
              <a:rPr lang="en-US" dirty="0">
                <a:solidFill>
                  <a:srgbClr val="FF0000"/>
                </a:solidFill>
              </a:rPr>
              <a:t>more efficiently than </a:t>
            </a:r>
            <a:r>
              <a:rPr lang="en-US" dirty="0"/>
              <a:t>an uninformed search strategy.</a:t>
            </a:r>
          </a:p>
          <a:p>
            <a:pPr marL="857250" lvl="1" indent="-457200" algn="just">
              <a:buFont typeface="Arial" panose="020B0604020202020204" pitchFamily="34" charset="0"/>
              <a:buChar char="•"/>
            </a:pPr>
            <a:r>
              <a:rPr lang="en-US" dirty="0"/>
              <a:t>It is also called a </a:t>
            </a:r>
            <a:r>
              <a:rPr lang="en-US" dirty="0">
                <a:solidFill>
                  <a:srgbClr val="FF0000"/>
                </a:solidFill>
              </a:rPr>
              <a:t>Heuristic search</a:t>
            </a:r>
            <a:r>
              <a:rPr lang="en-US" dirty="0"/>
              <a:t> in which it might not always be guaranteed for best solutions but </a:t>
            </a:r>
            <a:r>
              <a:rPr lang="en-US" b="1" dirty="0">
                <a:solidFill>
                  <a:srgbClr val="FF0000"/>
                </a:solidFill>
              </a:rPr>
              <a:t>guaranteed to find a good solution in reasonable time.</a:t>
            </a:r>
          </a:p>
          <a:p>
            <a:pPr algn="just"/>
            <a:endParaRPr lang="en-US" b="1" dirty="0"/>
          </a:p>
          <a:p>
            <a:endParaRPr lang="en-IN" dirty="0"/>
          </a:p>
        </p:txBody>
      </p:sp>
    </p:spTree>
    <p:extLst>
      <p:ext uri="{BB962C8B-B14F-4D97-AF65-F5344CB8AC3E}">
        <p14:creationId xmlns:p14="http://schemas.microsoft.com/office/powerpoint/2010/main" val="4036303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C0096-4A00-7C71-D73C-BB14E6C9F82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134CA66-3D1D-7CFC-C3B0-CF24E437BBD2}"/>
              </a:ext>
            </a:extLst>
          </p:cNvPr>
          <p:cNvSpPr>
            <a:spLocks noGrp="1"/>
          </p:cNvSpPr>
          <p:nvPr>
            <p:ph idx="1"/>
          </p:nvPr>
        </p:nvSpPr>
        <p:spPr/>
        <p:txBody>
          <a:bodyPr>
            <a:normAutofit fontScale="92500"/>
          </a:bodyPr>
          <a:lstStyle/>
          <a:p>
            <a:pPr marL="176213" indent="-176213" algn="just">
              <a:buFont typeface="Wingdings" panose="05000000000000000000" pitchFamily="2" charset="2"/>
              <a:buChar char="§"/>
            </a:pPr>
            <a:r>
              <a:rPr lang="en-US" b="0" i="0" dirty="0">
                <a:solidFill>
                  <a:srgbClr val="333333"/>
                </a:solidFill>
                <a:effectLst/>
                <a:latin typeface="inter-regular"/>
              </a:rPr>
              <a:t>In the informed search we will discuss two main algorithms which are given below:</a:t>
            </a:r>
          </a:p>
          <a:p>
            <a:pPr marL="633413" indent="222250" algn="just">
              <a:buFont typeface="Arial" panose="020B0604020202020204" pitchFamily="34" charset="0"/>
              <a:buChar char="•"/>
            </a:pPr>
            <a:r>
              <a:rPr lang="en-US" b="1" i="0" dirty="0">
                <a:solidFill>
                  <a:srgbClr val="000000"/>
                </a:solidFill>
                <a:effectLst/>
                <a:latin typeface="inter-bold"/>
              </a:rPr>
              <a:t>Best First Search Algorithm(Greedy search)</a:t>
            </a:r>
            <a:endParaRPr lang="en-US" b="0" i="0" dirty="0">
              <a:solidFill>
                <a:srgbClr val="000000"/>
              </a:solidFill>
              <a:effectLst/>
              <a:latin typeface="inter-regular"/>
            </a:endParaRPr>
          </a:p>
          <a:p>
            <a:pPr marL="633413" indent="222250" algn="just">
              <a:buFont typeface="Arial" panose="020B0604020202020204" pitchFamily="34" charset="0"/>
              <a:buChar char="•"/>
            </a:pPr>
            <a:r>
              <a:rPr lang="en-US" b="1" i="0" dirty="0">
                <a:solidFill>
                  <a:srgbClr val="000000"/>
                </a:solidFill>
                <a:effectLst/>
                <a:latin typeface="inter-bold"/>
              </a:rPr>
              <a:t>A* Search Algorithm</a:t>
            </a:r>
            <a:endParaRPr lang="en-US" b="0" i="0" dirty="0">
              <a:solidFill>
                <a:srgbClr val="000000"/>
              </a:solidFill>
              <a:effectLst/>
              <a:latin typeface="inter-regular"/>
            </a:endParaRPr>
          </a:p>
          <a:p>
            <a:pPr marL="176213" indent="-176213" algn="just">
              <a:buFont typeface="Wingdings" panose="05000000000000000000" pitchFamily="2" charset="2"/>
              <a:buChar char="§"/>
            </a:pPr>
            <a:r>
              <a:rPr lang="en-US" b="0" i="0" dirty="0">
                <a:solidFill>
                  <a:srgbClr val="333333"/>
                </a:solidFill>
                <a:effectLst/>
                <a:latin typeface="inter-regular"/>
              </a:rPr>
              <a:t>In the informed search we will discuss two main algorithms which are given below:</a:t>
            </a:r>
          </a:p>
          <a:p>
            <a:pPr marL="633413" indent="222250" algn="just">
              <a:buFont typeface="Arial" panose="020B0604020202020204" pitchFamily="34" charset="0"/>
              <a:buChar char="•"/>
            </a:pPr>
            <a:r>
              <a:rPr lang="en-US" b="1" i="0" dirty="0">
                <a:solidFill>
                  <a:srgbClr val="000000"/>
                </a:solidFill>
                <a:effectLst/>
                <a:latin typeface="inter-bold"/>
              </a:rPr>
              <a:t>Best First Search Algorithm(Greedy search)</a:t>
            </a:r>
            <a:endParaRPr lang="en-US" b="0" i="0" dirty="0">
              <a:solidFill>
                <a:srgbClr val="000000"/>
              </a:solidFill>
              <a:effectLst/>
              <a:latin typeface="inter-regular"/>
            </a:endParaRPr>
          </a:p>
          <a:p>
            <a:pPr marL="633413" indent="222250" algn="just">
              <a:buFont typeface="Arial" panose="020B0604020202020204" pitchFamily="34" charset="0"/>
              <a:buChar char="•"/>
            </a:pPr>
            <a:r>
              <a:rPr lang="en-US" b="1" i="0" dirty="0">
                <a:solidFill>
                  <a:srgbClr val="000000"/>
                </a:solidFill>
                <a:effectLst/>
                <a:latin typeface="inter-bold"/>
              </a:rPr>
              <a:t>A* Search Algorithm</a:t>
            </a:r>
            <a:endParaRPr lang="en-US" b="0" i="0" dirty="0">
              <a:solidFill>
                <a:srgbClr val="000000"/>
              </a:solidFill>
              <a:effectLst/>
              <a:latin typeface="inter-regular"/>
            </a:endParaRPr>
          </a:p>
          <a:p>
            <a:endParaRPr lang="en-IN" dirty="0"/>
          </a:p>
        </p:txBody>
      </p:sp>
      <p:pic>
        <p:nvPicPr>
          <p:cNvPr id="4" name="Picture 3">
            <a:extLst>
              <a:ext uri="{FF2B5EF4-FFF2-40B4-BE49-F238E27FC236}">
                <a16:creationId xmlns:a16="http://schemas.microsoft.com/office/drawing/2014/main" id="{66D330F8-4416-58DE-FCDA-DB8CAA5AC469}"/>
              </a:ext>
            </a:extLst>
          </p:cNvPr>
          <p:cNvPicPr>
            <a:picLocks noChangeAspect="1"/>
          </p:cNvPicPr>
          <p:nvPr/>
        </p:nvPicPr>
        <p:blipFill>
          <a:blip r:embed="rId2"/>
          <a:stretch>
            <a:fillRect/>
          </a:stretch>
        </p:blipFill>
        <p:spPr>
          <a:xfrm>
            <a:off x="539552" y="188640"/>
            <a:ext cx="8147248" cy="3456383"/>
          </a:xfrm>
          <a:prstGeom prst="rect">
            <a:avLst/>
          </a:prstGeom>
        </p:spPr>
      </p:pic>
    </p:spTree>
    <p:extLst>
      <p:ext uri="{BB962C8B-B14F-4D97-AF65-F5344CB8AC3E}">
        <p14:creationId xmlns:p14="http://schemas.microsoft.com/office/powerpoint/2010/main" val="3898512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Informed (Heuristic) Search Strategies</a:t>
            </a:r>
          </a:p>
        </p:txBody>
      </p:sp>
      <p:sp>
        <p:nvSpPr>
          <p:cNvPr id="3" name="Content Placeholder 2"/>
          <p:cNvSpPr>
            <a:spLocks noGrp="1"/>
          </p:cNvSpPr>
          <p:nvPr>
            <p:ph idx="1"/>
          </p:nvPr>
        </p:nvSpPr>
        <p:spPr/>
        <p:txBody>
          <a:bodyPr>
            <a:normAutofit fontScale="92500" lnSpcReduction="10000"/>
          </a:bodyPr>
          <a:lstStyle/>
          <a:p>
            <a:pPr algn="just"/>
            <a:r>
              <a:rPr lang="en-IN" b="1" dirty="0"/>
              <a:t>Informed search </a:t>
            </a:r>
            <a:r>
              <a:rPr lang="en-IN" dirty="0"/>
              <a:t>strategy uses domain-specific </a:t>
            </a:r>
            <a:r>
              <a:rPr lang="en-IN" b="1" dirty="0">
                <a:solidFill>
                  <a:srgbClr val="FF0000"/>
                </a:solidFill>
              </a:rPr>
              <a:t>hints about the location of goals</a:t>
            </a:r>
            <a:r>
              <a:rPr lang="en-IN" dirty="0"/>
              <a:t>.</a:t>
            </a:r>
          </a:p>
          <a:p>
            <a:pPr algn="just"/>
            <a:r>
              <a:rPr lang="en-IN" u="sng" dirty="0">
                <a:solidFill>
                  <a:srgbClr val="FF0000"/>
                </a:solidFill>
              </a:rPr>
              <a:t>The hints </a:t>
            </a:r>
            <a:r>
              <a:rPr lang="en-IN" dirty="0">
                <a:solidFill>
                  <a:srgbClr val="FF0000"/>
                </a:solidFill>
              </a:rPr>
              <a:t>come in the form of a </a:t>
            </a:r>
            <a:r>
              <a:rPr lang="en-IN" b="1" u="sng" dirty="0">
                <a:solidFill>
                  <a:srgbClr val="FF0000"/>
                </a:solidFill>
              </a:rPr>
              <a:t>heuristic function</a:t>
            </a:r>
            <a:r>
              <a:rPr lang="en-IN" u="sng" dirty="0">
                <a:solidFill>
                  <a:srgbClr val="FF0000"/>
                </a:solidFill>
              </a:rPr>
              <a:t>, denoted  by h(n).</a:t>
            </a:r>
          </a:p>
          <a:p>
            <a:pPr lvl="1" algn="just"/>
            <a:r>
              <a:rPr lang="en-IN" b="1" i="1" dirty="0">
                <a:solidFill>
                  <a:srgbClr val="FF0000"/>
                </a:solidFill>
              </a:rPr>
              <a:t>h(n) = estimated cost </a:t>
            </a:r>
            <a:r>
              <a:rPr lang="en-IN" dirty="0"/>
              <a:t>of the </a:t>
            </a:r>
            <a:r>
              <a:rPr lang="en-IN" b="1" i="1" dirty="0"/>
              <a:t>cheapest path </a:t>
            </a:r>
            <a:r>
              <a:rPr lang="en-IN" dirty="0"/>
              <a:t>from the state at node </a:t>
            </a:r>
            <a:r>
              <a:rPr lang="en-IN" b="1" i="1" dirty="0"/>
              <a:t>n</a:t>
            </a:r>
            <a:r>
              <a:rPr lang="en-IN" dirty="0"/>
              <a:t> to a </a:t>
            </a:r>
            <a:r>
              <a:rPr lang="en-IN" b="1" i="1" dirty="0"/>
              <a:t>goal state.</a:t>
            </a:r>
          </a:p>
          <a:p>
            <a:pPr lvl="1" algn="just"/>
            <a:r>
              <a:rPr lang="en-IN" dirty="0"/>
              <a:t>For example, in route-finding problems, we can estimate the distance from the current state to a goal by computing the </a:t>
            </a:r>
            <a:r>
              <a:rPr lang="en-IN" b="1" i="1" dirty="0">
                <a:solidFill>
                  <a:srgbClr val="FF0000"/>
                </a:solidFill>
              </a:rPr>
              <a:t>straight-line distance </a:t>
            </a:r>
            <a:r>
              <a:rPr lang="en-IN" dirty="0"/>
              <a:t>on the map between the two points.</a:t>
            </a:r>
          </a:p>
        </p:txBody>
      </p:sp>
    </p:spTree>
    <p:extLst>
      <p:ext uri="{BB962C8B-B14F-4D97-AF65-F5344CB8AC3E}">
        <p14:creationId xmlns:p14="http://schemas.microsoft.com/office/powerpoint/2010/main" val="1655798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Best-first search</a:t>
            </a:r>
          </a:p>
        </p:txBody>
      </p:sp>
      <p:sp>
        <p:nvSpPr>
          <p:cNvPr id="3" name="Content Placeholder 2"/>
          <p:cNvSpPr>
            <a:spLocks noGrp="1"/>
          </p:cNvSpPr>
          <p:nvPr>
            <p:ph idx="1"/>
          </p:nvPr>
        </p:nvSpPr>
        <p:spPr>
          <a:xfrm>
            <a:off x="457200" y="1412776"/>
            <a:ext cx="8229600" cy="4713387"/>
          </a:xfrm>
        </p:spPr>
        <p:txBody>
          <a:bodyPr>
            <a:normAutofit fontScale="77500" lnSpcReduction="20000"/>
          </a:bodyPr>
          <a:lstStyle/>
          <a:p>
            <a:pPr>
              <a:lnSpc>
                <a:spcPct val="120000"/>
              </a:lnSpc>
            </a:pPr>
            <a:r>
              <a:rPr lang="en-IN" dirty="0"/>
              <a:t>Best-first search is a class of search  algorithms, which explore a graph by </a:t>
            </a:r>
            <a:r>
              <a:rPr lang="en-IN" dirty="0">
                <a:solidFill>
                  <a:srgbClr val="FF0000"/>
                </a:solidFill>
              </a:rPr>
              <a:t>expanding the most promising node chosen according to a specified rule.</a:t>
            </a:r>
          </a:p>
          <a:p>
            <a:pPr algn="just">
              <a:lnSpc>
                <a:spcPct val="120000"/>
              </a:lnSpc>
            </a:pPr>
            <a:r>
              <a:rPr lang="en-IN" dirty="0">
                <a:solidFill>
                  <a:srgbClr val="FF0000"/>
                </a:solidFill>
              </a:rPr>
              <a:t>Judea Pearl described the best-first search </a:t>
            </a:r>
            <a:r>
              <a:rPr lang="en-IN" dirty="0"/>
              <a:t>as estimating the promise of </a:t>
            </a:r>
            <a:r>
              <a:rPr lang="en-IN" b="1" i="1" dirty="0"/>
              <a:t>node n</a:t>
            </a:r>
            <a:r>
              <a:rPr lang="en-IN" dirty="0"/>
              <a:t> by a “heuristic evaluation function f(n)” </a:t>
            </a:r>
          </a:p>
          <a:p>
            <a:pPr lvl="1" algn="just">
              <a:lnSpc>
                <a:spcPct val="120000"/>
              </a:lnSpc>
            </a:pPr>
            <a:r>
              <a:rPr lang="en-IN" dirty="0"/>
              <a:t>which, in general, may depend on </a:t>
            </a:r>
          </a:p>
          <a:p>
            <a:pPr lvl="2" algn="just">
              <a:lnSpc>
                <a:spcPct val="120000"/>
              </a:lnSpc>
            </a:pPr>
            <a:r>
              <a:rPr lang="en-IN" dirty="0"/>
              <a:t>the description of n, </a:t>
            </a:r>
          </a:p>
          <a:p>
            <a:pPr lvl="2" algn="just">
              <a:lnSpc>
                <a:spcPct val="120000"/>
              </a:lnSpc>
            </a:pPr>
            <a:r>
              <a:rPr lang="en-IN" dirty="0"/>
              <a:t>the description of the goal, </a:t>
            </a:r>
          </a:p>
          <a:p>
            <a:pPr lvl="2" algn="just">
              <a:lnSpc>
                <a:spcPct val="120000"/>
              </a:lnSpc>
            </a:pPr>
            <a:r>
              <a:rPr lang="en-IN" dirty="0"/>
              <a:t>the information gathered by the search up to that point, </a:t>
            </a:r>
          </a:p>
          <a:p>
            <a:pPr lvl="2" algn="just">
              <a:lnSpc>
                <a:spcPct val="120000"/>
              </a:lnSpc>
            </a:pPr>
            <a:r>
              <a:rPr lang="en-IN" dirty="0"/>
              <a:t>and most importantly, on any extra knowledge about the problem domain.</a:t>
            </a:r>
          </a:p>
        </p:txBody>
      </p:sp>
    </p:spTree>
    <p:extLst>
      <p:ext uri="{BB962C8B-B14F-4D97-AF65-F5344CB8AC3E}">
        <p14:creationId xmlns:p14="http://schemas.microsoft.com/office/powerpoint/2010/main" val="587052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Best-first search</a:t>
            </a:r>
          </a:p>
        </p:txBody>
      </p:sp>
      <p:sp>
        <p:nvSpPr>
          <p:cNvPr id="3" name="Content Placeholder 2"/>
          <p:cNvSpPr>
            <a:spLocks noGrp="1"/>
          </p:cNvSpPr>
          <p:nvPr>
            <p:ph idx="1"/>
          </p:nvPr>
        </p:nvSpPr>
        <p:spPr/>
        <p:txBody>
          <a:bodyPr/>
          <a:lstStyle/>
          <a:p>
            <a:pPr algn="just"/>
            <a:r>
              <a:rPr lang="en-IN" dirty="0"/>
              <a:t>Some authors have used "best-first search" to refer specifically to a </a:t>
            </a:r>
            <a:r>
              <a:rPr lang="en-IN" dirty="0">
                <a:solidFill>
                  <a:srgbClr val="FF0000"/>
                </a:solidFill>
              </a:rPr>
              <a:t>search with a heuristic that attempts to predict how close the end of a path is to a solution (or, goal), </a:t>
            </a:r>
            <a:r>
              <a:rPr lang="en-IN" dirty="0"/>
              <a:t>so that paths which are judged to be closer to a solution (or, goal) are extended first. </a:t>
            </a:r>
          </a:p>
          <a:p>
            <a:pPr lvl="1"/>
            <a:r>
              <a:rPr lang="en-IN" dirty="0"/>
              <a:t>This specific type of search is called </a:t>
            </a:r>
            <a:r>
              <a:rPr lang="en-IN" b="1" dirty="0">
                <a:solidFill>
                  <a:srgbClr val="00B050"/>
                </a:solidFill>
              </a:rPr>
              <a:t>greedy best-first search or pure heuristic search.</a:t>
            </a:r>
          </a:p>
        </p:txBody>
      </p:sp>
    </p:spTree>
    <p:extLst>
      <p:ext uri="{BB962C8B-B14F-4D97-AF65-F5344CB8AC3E}">
        <p14:creationId xmlns:p14="http://schemas.microsoft.com/office/powerpoint/2010/main" val="758987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475E1-7B88-C7ED-173E-354D6444024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4A78F78-4825-D786-8ADF-C34C7DEA6205}"/>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55CA0DFA-BB3C-3851-9155-ABDA095B1977}"/>
              </a:ext>
            </a:extLst>
          </p:cNvPr>
          <p:cNvPicPr>
            <a:picLocks noChangeAspect="1"/>
          </p:cNvPicPr>
          <p:nvPr/>
        </p:nvPicPr>
        <p:blipFill>
          <a:blip r:embed="rId2"/>
          <a:stretch>
            <a:fillRect/>
          </a:stretch>
        </p:blipFill>
        <p:spPr>
          <a:xfrm>
            <a:off x="323528" y="274638"/>
            <a:ext cx="8568952" cy="6308724"/>
          </a:xfrm>
          <a:prstGeom prst="rect">
            <a:avLst/>
          </a:prstGeom>
        </p:spPr>
      </p:pic>
    </p:spTree>
    <p:extLst>
      <p:ext uri="{BB962C8B-B14F-4D97-AF65-F5344CB8AC3E}">
        <p14:creationId xmlns:p14="http://schemas.microsoft.com/office/powerpoint/2010/main" val="1414775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0548-4A36-601D-DFD7-C4DCB380BD55}"/>
              </a:ext>
            </a:extLst>
          </p:cNvPr>
          <p:cNvSpPr>
            <a:spLocks noGrp="1"/>
          </p:cNvSpPr>
          <p:nvPr>
            <p:ph type="title"/>
          </p:nvPr>
        </p:nvSpPr>
        <p:spPr/>
        <p:txBody>
          <a:bodyPr/>
          <a:lstStyle/>
          <a:p>
            <a:r>
              <a:rPr lang="en-IN" dirty="0"/>
              <a:t>Best-first search</a:t>
            </a:r>
          </a:p>
        </p:txBody>
      </p:sp>
      <p:sp>
        <p:nvSpPr>
          <p:cNvPr id="3" name="Content Placeholder 2">
            <a:extLst>
              <a:ext uri="{FF2B5EF4-FFF2-40B4-BE49-F238E27FC236}">
                <a16:creationId xmlns:a16="http://schemas.microsoft.com/office/drawing/2014/main" id="{BED0368F-7AF3-12B1-8594-E26520CC5563}"/>
              </a:ext>
            </a:extLst>
          </p:cNvPr>
          <p:cNvSpPr>
            <a:spLocks noGrp="1"/>
          </p:cNvSpPr>
          <p:nvPr>
            <p:ph idx="1"/>
          </p:nvPr>
        </p:nvSpPr>
        <p:spPr/>
        <p:txBody>
          <a:bodyPr>
            <a:normAutofit fontScale="70000" lnSpcReduction="20000"/>
          </a:bodyPr>
          <a:lstStyle/>
          <a:p>
            <a:pPr algn="just">
              <a:buFont typeface="Arial" panose="020B0604020202020204" pitchFamily="34" charset="0"/>
              <a:buChar char="•"/>
            </a:pPr>
            <a:r>
              <a:rPr lang="en-US" b="1" i="0" dirty="0">
                <a:solidFill>
                  <a:srgbClr val="000000"/>
                </a:solidFill>
                <a:effectLst/>
                <a:latin typeface="inter-bold"/>
              </a:rPr>
              <a:t>Step 1:</a:t>
            </a:r>
            <a:r>
              <a:rPr lang="en-US" b="0" i="0" dirty="0">
                <a:solidFill>
                  <a:srgbClr val="000000"/>
                </a:solidFill>
                <a:effectLst/>
                <a:latin typeface="inter-regular"/>
              </a:rPr>
              <a:t> Place the starting node into the OPEN list.</a:t>
            </a:r>
          </a:p>
          <a:p>
            <a:pPr algn="just">
              <a:buFont typeface="Arial" panose="020B0604020202020204" pitchFamily="34" charset="0"/>
              <a:buChar char="•"/>
            </a:pPr>
            <a:r>
              <a:rPr lang="en-US" b="1" i="0" dirty="0">
                <a:solidFill>
                  <a:srgbClr val="000000"/>
                </a:solidFill>
                <a:effectLst/>
                <a:latin typeface="inter-bold"/>
              </a:rPr>
              <a:t>Step 2:</a:t>
            </a:r>
            <a:r>
              <a:rPr lang="en-US" b="0" i="0" dirty="0">
                <a:solidFill>
                  <a:srgbClr val="000000"/>
                </a:solidFill>
                <a:effectLst/>
                <a:latin typeface="inter-regular"/>
              </a:rPr>
              <a:t> If the OPEN list is empty, Stop and return failure.</a:t>
            </a:r>
          </a:p>
          <a:p>
            <a:pPr algn="just">
              <a:buFont typeface="Arial" panose="020B0604020202020204" pitchFamily="34" charset="0"/>
              <a:buChar char="•"/>
            </a:pPr>
            <a:r>
              <a:rPr lang="en-US" b="1" i="0" dirty="0">
                <a:solidFill>
                  <a:srgbClr val="000000"/>
                </a:solidFill>
                <a:effectLst/>
                <a:latin typeface="inter-bold"/>
              </a:rPr>
              <a:t>Step 3:</a:t>
            </a:r>
            <a:r>
              <a:rPr lang="en-US" b="0" i="0" dirty="0">
                <a:solidFill>
                  <a:srgbClr val="000000"/>
                </a:solidFill>
                <a:effectLst/>
                <a:latin typeface="inter-regular"/>
              </a:rPr>
              <a:t> Remove the node n, from the OPEN list which has the lowest value of h(n), and places it in the CLOSED list.</a:t>
            </a:r>
          </a:p>
          <a:p>
            <a:pPr algn="just">
              <a:buFont typeface="Arial" panose="020B0604020202020204" pitchFamily="34" charset="0"/>
              <a:buChar char="•"/>
            </a:pPr>
            <a:r>
              <a:rPr lang="en-US" b="1" i="0" dirty="0">
                <a:solidFill>
                  <a:srgbClr val="000000"/>
                </a:solidFill>
                <a:effectLst/>
                <a:latin typeface="inter-bold"/>
              </a:rPr>
              <a:t>Step 4:</a:t>
            </a:r>
            <a:r>
              <a:rPr lang="en-US" b="0" i="0" dirty="0">
                <a:solidFill>
                  <a:srgbClr val="000000"/>
                </a:solidFill>
                <a:effectLst/>
                <a:latin typeface="inter-regular"/>
              </a:rPr>
              <a:t> Expand the node n, and generate the successors of node n.</a:t>
            </a:r>
          </a:p>
          <a:p>
            <a:pPr algn="just">
              <a:buFont typeface="Arial" panose="020B0604020202020204" pitchFamily="34" charset="0"/>
              <a:buChar char="•"/>
            </a:pPr>
            <a:r>
              <a:rPr lang="en-US" b="1" i="0" dirty="0">
                <a:solidFill>
                  <a:srgbClr val="000000"/>
                </a:solidFill>
                <a:effectLst/>
                <a:latin typeface="inter-bold"/>
              </a:rPr>
              <a:t>Step 5:</a:t>
            </a:r>
            <a:r>
              <a:rPr lang="en-US" b="0" i="0" dirty="0">
                <a:solidFill>
                  <a:srgbClr val="000000"/>
                </a:solidFill>
                <a:effectLst/>
                <a:latin typeface="inter-regular"/>
              </a:rPr>
              <a:t> Check each successor of node n, and find whether any node is a goal node or not. If any successor node is goal node, then return success and terminate the search, else proceed to Step 6.</a:t>
            </a:r>
          </a:p>
          <a:p>
            <a:pPr algn="just">
              <a:buFont typeface="Arial" panose="020B0604020202020204" pitchFamily="34" charset="0"/>
              <a:buChar char="•"/>
            </a:pPr>
            <a:r>
              <a:rPr lang="en-US" b="1" i="0" dirty="0">
                <a:solidFill>
                  <a:srgbClr val="000000"/>
                </a:solidFill>
                <a:effectLst/>
                <a:latin typeface="inter-bold"/>
              </a:rPr>
              <a:t>Step 6:</a:t>
            </a:r>
            <a:r>
              <a:rPr lang="en-US" b="0" i="0" dirty="0">
                <a:solidFill>
                  <a:srgbClr val="000000"/>
                </a:solidFill>
                <a:effectLst/>
                <a:latin typeface="inter-regular"/>
              </a:rPr>
              <a:t> For each successor node, algorithm checks for evaluation function f(n), and then check if the node has been in either OPEN or CLOSED list. If the node has not been in both list, then add it to the OPEN list.</a:t>
            </a:r>
          </a:p>
          <a:p>
            <a:pPr algn="just">
              <a:buFont typeface="Arial" panose="020B0604020202020204" pitchFamily="34" charset="0"/>
              <a:buChar char="•"/>
            </a:pPr>
            <a:r>
              <a:rPr lang="en-US" b="1" i="0" dirty="0">
                <a:solidFill>
                  <a:srgbClr val="000000"/>
                </a:solidFill>
                <a:effectLst/>
                <a:latin typeface="inter-bold"/>
              </a:rPr>
              <a:t>Step 7:</a:t>
            </a:r>
            <a:r>
              <a:rPr lang="en-US" b="0" i="0" dirty="0">
                <a:solidFill>
                  <a:srgbClr val="000000"/>
                </a:solidFill>
                <a:effectLst/>
                <a:latin typeface="inter-regular"/>
              </a:rPr>
              <a:t> Return to Step 2.</a:t>
            </a:r>
          </a:p>
          <a:p>
            <a:endParaRPr lang="en-IN" dirty="0"/>
          </a:p>
        </p:txBody>
      </p:sp>
    </p:spTree>
    <p:extLst>
      <p:ext uri="{BB962C8B-B14F-4D97-AF65-F5344CB8AC3E}">
        <p14:creationId xmlns:p14="http://schemas.microsoft.com/office/powerpoint/2010/main" val="2796059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CCED6-5C98-6197-3E46-A2B774BA2D04}"/>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4ABE5F93-6146-CD2C-054D-79EF39A75608}"/>
              </a:ext>
            </a:extLst>
          </p:cNvPr>
          <p:cNvPicPr>
            <a:picLocks noGrp="1" noChangeAspect="1"/>
          </p:cNvPicPr>
          <p:nvPr>
            <p:ph idx="1"/>
          </p:nvPr>
        </p:nvPicPr>
        <p:blipFill>
          <a:blip r:embed="rId2"/>
          <a:stretch>
            <a:fillRect/>
          </a:stretch>
        </p:blipFill>
        <p:spPr>
          <a:xfrm>
            <a:off x="224367" y="188640"/>
            <a:ext cx="8596105" cy="6394722"/>
          </a:xfrm>
          <a:prstGeom prst="rect">
            <a:avLst/>
          </a:prstGeom>
        </p:spPr>
      </p:pic>
    </p:spTree>
    <p:extLst>
      <p:ext uri="{BB962C8B-B14F-4D97-AF65-F5344CB8AC3E}">
        <p14:creationId xmlns:p14="http://schemas.microsoft.com/office/powerpoint/2010/main" val="35518721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C4ADF-6540-124F-1AF1-2A3956D52FBF}"/>
              </a:ext>
            </a:extLst>
          </p:cNvPr>
          <p:cNvSpPr>
            <a:spLocks noGrp="1"/>
          </p:cNvSpPr>
          <p:nvPr>
            <p:ph type="title"/>
          </p:nvPr>
        </p:nvSpPr>
        <p:spPr/>
        <p:txBody>
          <a:bodyPr/>
          <a:lstStyle/>
          <a:p>
            <a:r>
              <a:rPr lang="en-US" sz="4400" b="0" i="0" dirty="0">
                <a:solidFill>
                  <a:srgbClr val="610B4B"/>
                </a:solidFill>
                <a:effectLst/>
                <a:latin typeface="erdana"/>
              </a:rPr>
              <a:t>Advantages and Disadvantages</a:t>
            </a:r>
            <a:endParaRPr lang="en-IN" dirty="0"/>
          </a:p>
        </p:txBody>
      </p:sp>
      <p:sp>
        <p:nvSpPr>
          <p:cNvPr id="3" name="Content Placeholder 2">
            <a:extLst>
              <a:ext uri="{FF2B5EF4-FFF2-40B4-BE49-F238E27FC236}">
                <a16:creationId xmlns:a16="http://schemas.microsoft.com/office/drawing/2014/main" id="{527DD42E-55B0-5BDE-FC74-A861EDA80D87}"/>
              </a:ext>
            </a:extLst>
          </p:cNvPr>
          <p:cNvSpPr>
            <a:spLocks noGrp="1"/>
          </p:cNvSpPr>
          <p:nvPr>
            <p:ph idx="1"/>
          </p:nvPr>
        </p:nvSpPr>
        <p:spPr>
          <a:xfrm>
            <a:off x="457200" y="1417638"/>
            <a:ext cx="8229600" cy="4708525"/>
          </a:xfrm>
        </p:spPr>
        <p:txBody>
          <a:bodyPr>
            <a:normAutofit fontScale="92500" lnSpcReduction="20000"/>
          </a:bodyPr>
          <a:lstStyle/>
          <a:p>
            <a:pPr marL="0" indent="0" algn="just">
              <a:buNone/>
            </a:pPr>
            <a:r>
              <a:rPr lang="en-US" sz="3200" b="0" i="0" dirty="0">
                <a:solidFill>
                  <a:srgbClr val="610B4B"/>
                </a:solidFill>
                <a:effectLst/>
                <a:latin typeface="erdana"/>
              </a:rPr>
              <a:t>Advantages:</a:t>
            </a:r>
          </a:p>
          <a:p>
            <a:pPr algn="just">
              <a:buFont typeface="Arial" panose="020B0604020202020204" pitchFamily="34" charset="0"/>
              <a:buChar char="•"/>
            </a:pPr>
            <a:r>
              <a:rPr lang="en-US" sz="3200" b="0" i="0" dirty="0">
                <a:solidFill>
                  <a:srgbClr val="000000"/>
                </a:solidFill>
                <a:effectLst/>
                <a:latin typeface="inter-regular"/>
              </a:rPr>
              <a:t>Best first search can switch between BFS and DFS by gaining the advantages of both the algorithms.</a:t>
            </a:r>
          </a:p>
          <a:p>
            <a:pPr algn="just">
              <a:buFont typeface="Arial" panose="020B0604020202020204" pitchFamily="34" charset="0"/>
              <a:buChar char="•"/>
            </a:pPr>
            <a:r>
              <a:rPr lang="en-US" sz="3200" b="0" i="0" dirty="0">
                <a:solidFill>
                  <a:srgbClr val="000000"/>
                </a:solidFill>
                <a:effectLst/>
                <a:latin typeface="inter-regular"/>
              </a:rPr>
              <a:t>This algorithm is more efficient than BFS and DFS algorithms.</a:t>
            </a:r>
          </a:p>
          <a:p>
            <a:pPr marL="0" indent="0" algn="just">
              <a:buNone/>
            </a:pPr>
            <a:r>
              <a:rPr lang="en-US" sz="3200" b="0" i="0" dirty="0">
                <a:solidFill>
                  <a:srgbClr val="610B4B"/>
                </a:solidFill>
                <a:effectLst/>
                <a:latin typeface="erdana"/>
              </a:rPr>
              <a:t>Disadvantages:</a:t>
            </a:r>
          </a:p>
          <a:p>
            <a:pPr algn="just">
              <a:buFont typeface="Arial" panose="020B0604020202020204" pitchFamily="34" charset="0"/>
              <a:buChar char="•"/>
            </a:pPr>
            <a:r>
              <a:rPr lang="en-US" sz="3200" b="0" i="0" dirty="0">
                <a:solidFill>
                  <a:srgbClr val="000000"/>
                </a:solidFill>
                <a:effectLst/>
                <a:latin typeface="inter-regular"/>
              </a:rPr>
              <a:t>It can behave as an unguided depth-first search in the worst case scenario.</a:t>
            </a:r>
          </a:p>
          <a:p>
            <a:pPr algn="just">
              <a:buFont typeface="Arial" panose="020B0604020202020204" pitchFamily="34" charset="0"/>
              <a:buChar char="•"/>
            </a:pPr>
            <a:r>
              <a:rPr lang="en-US" sz="3200" b="0" i="0" dirty="0">
                <a:solidFill>
                  <a:srgbClr val="000000"/>
                </a:solidFill>
                <a:effectLst/>
                <a:latin typeface="inter-regular"/>
              </a:rPr>
              <a:t>It can get stuck in a loop as DFS.</a:t>
            </a:r>
          </a:p>
          <a:p>
            <a:pPr algn="just">
              <a:buFont typeface="Arial" panose="020B0604020202020204" pitchFamily="34" charset="0"/>
              <a:buChar char="•"/>
            </a:pPr>
            <a:r>
              <a:rPr lang="en-US" sz="3200" b="0" i="0" dirty="0">
                <a:solidFill>
                  <a:srgbClr val="000000"/>
                </a:solidFill>
                <a:effectLst/>
                <a:latin typeface="inter-regular"/>
              </a:rPr>
              <a:t>This algorithm is not optimal.</a:t>
            </a:r>
          </a:p>
          <a:p>
            <a:endParaRPr lang="en-IN" dirty="0"/>
          </a:p>
        </p:txBody>
      </p:sp>
    </p:spTree>
    <p:extLst>
      <p:ext uri="{BB962C8B-B14F-4D97-AF65-F5344CB8AC3E}">
        <p14:creationId xmlns:p14="http://schemas.microsoft.com/office/powerpoint/2010/main" val="601004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ADA3D-0F81-AE2B-8417-D69D147BE2ED}"/>
              </a:ext>
            </a:extLst>
          </p:cNvPr>
          <p:cNvSpPr>
            <a:spLocks noGrp="1"/>
          </p:cNvSpPr>
          <p:nvPr>
            <p:ph type="title"/>
          </p:nvPr>
        </p:nvSpPr>
        <p:spPr/>
        <p:txBody>
          <a:bodyPr/>
          <a:lstStyle/>
          <a:p>
            <a:r>
              <a:rPr lang="en-IN" dirty="0"/>
              <a:t>Analysis</a:t>
            </a:r>
          </a:p>
        </p:txBody>
      </p:sp>
      <p:sp>
        <p:nvSpPr>
          <p:cNvPr id="3" name="Content Placeholder 2">
            <a:extLst>
              <a:ext uri="{FF2B5EF4-FFF2-40B4-BE49-F238E27FC236}">
                <a16:creationId xmlns:a16="http://schemas.microsoft.com/office/drawing/2014/main" id="{FDA7744D-EBBF-4828-75F5-8551D39A61BB}"/>
              </a:ext>
            </a:extLst>
          </p:cNvPr>
          <p:cNvSpPr>
            <a:spLocks noGrp="1"/>
          </p:cNvSpPr>
          <p:nvPr>
            <p:ph idx="1"/>
          </p:nvPr>
        </p:nvSpPr>
        <p:spPr/>
        <p:txBody>
          <a:bodyPr>
            <a:normAutofit fontScale="92500"/>
          </a:bodyPr>
          <a:lstStyle/>
          <a:p>
            <a:pPr algn="just" fontAlgn="base">
              <a:buFont typeface="Arial" panose="020B0604020202020204" pitchFamily="34" charset="0"/>
              <a:buChar char="•"/>
            </a:pPr>
            <a:r>
              <a:rPr lang="en-US" sz="3200" dirty="0">
                <a:solidFill>
                  <a:srgbClr val="273239"/>
                </a:solidFill>
                <a:latin typeface="urw-din"/>
              </a:rPr>
              <a:t>W</a:t>
            </a:r>
            <a:r>
              <a:rPr lang="en-US" sz="3200" b="0" i="0" dirty="0">
                <a:solidFill>
                  <a:srgbClr val="273239"/>
                </a:solidFill>
                <a:effectLst/>
                <a:latin typeface="urw-din"/>
              </a:rPr>
              <a:t>orst case time complexity for Best First Search is O(n * Log n) where n is number of nodes. </a:t>
            </a:r>
          </a:p>
          <a:p>
            <a:pPr algn="just" fontAlgn="base">
              <a:buFont typeface="Arial" panose="020B0604020202020204" pitchFamily="34" charset="0"/>
              <a:buChar char="•"/>
            </a:pPr>
            <a:r>
              <a:rPr lang="en-US" sz="3200" b="0" i="0" dirty="0">
                <a:solidFill>
                  <a:srgbClr val="273239"/>
                </a:solidFill>
                <a:effectLst/>
                <a:latin typeface="urw-din"/>
              </a:rPr>
              <a:t>In worst case, we may </a:t>
            </a:r>
            <a:r>
              <a:rPr lang="en-US" sz="3200" b="0" i="0" dirty="0">
                <a:solidFill>
                  <a:srgbClr val="C00000"/>
                </a:solidFill>
                <a:effectLst/>
                <a:latin typeface="urw-din"/>
              </a:rPr>
              <a:t>have to visit all nodes before we reach goal</a:t>
            </a:r>
            <a:r>
              <a:rPr lang="en-US" sz="3200" b="0" i="0" dirty="0">
                <a:solidFill>
                  <a:srgbClr val="273239"/>
                </a:solidFill>
                <a:effectLst/>
                <a:latin typeface="urw-din"/>
              </a:rPr>
              <a:t>. Note that priority queue is implemented using Min(or Max) Heap, and insert and remove operations take O(log n) time.</a:t>
            </a:r>
          </a:p>
          <a:p>
            <a:pPr algn="just" fontAlgn="base">
              <a:buFont typeface="Arial" panose="020B0604020202020204" pitchFamily="34" charset="0"/>
              <a:buChar char="•"/>
            </a:pPr>
            <a:r>
              <a:rPr lang="en-US" sz="3200" b="0" i="0" dirty="0">
                <a:solidFill>
                  <a:srgbClr val="273239"/>
                </a:solidFill>
                <a:effectLst/>
                <a:latin typeface="urw-din"/>
              </a:rPr>
              <a:t>Performance of the algorithm depends on </a:t>
            </a:r>
            <a:r>
              <a:rPr lang="en-US" sz="3200" b="0" i="0" dirty="0">
                <a:solidFill>
                  <a:srgbClr val="C00000"/>
                </a:solidFill>
                <a:effectLst/>
                <a:latin typeface="urw-din"/>
              </a:rPr>
              <a:t>how well the cost or evaluation function is designed.</a:t>
            </a:r>
          </a:p>
          <a:p>
            <a:endParaRPr lang="en-IN" dirty="0"/>
          </a:p>
        </p:txBody>
      </p:sp>
    </p:spTree>
    <p:extLst>
      <p:ext uri="{BB962C8B-B14F-4D97-AF65-F5344CB8AC3E}">
        <p14:creationId xmlns:p14="http://schemas.microsoft.com/office/powerpoint/2010/main" val="8127438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Greedy best-first search</a:t>
            </a:r>
          </a:p>
        </p:txBody>
      </p:sp>
      <p:sp>
        <p:nvSpPr>
          <p:cNvPr id="3" name="Content Placeholder 2"/>
          <p:cNvSpPr>
            <a:spLocks noGrp="1"/>
          </p:cNvSpPr>
          <p:nvPr>
            <p:ph idx="1"/>
          </p:nvPr>
        </p:nvSpPr>
        <p:spPr>
          <a:xfrm>
            <a:off x="457200" y="1340768"/>
            <a:ext cx="8229600" cy="4785395"/>
          </a:xfrm>
        </p:spPr>
        <p:txBody>
          <a:bodyPr>
            <a:normAutofit fontScale="55000" lnSpcReduction="20000"/>
          </a:bodyPr>
          <a:lstStyle/>
          <a:p>
            <a:pPr algn="just">
              <a:lnSpc>
                <a:spcPct val="120000"/>
              </a:lnSpc>
            </a:pPr>
            <a:r>
              <a:rPr lang="en-IN" b="1" dirty="0"/>
              <a:t>Greedy best-first search </a:t>
            </a:r>
            <a:r>
              <a:rPr lang="en-IN" dirty="0"/>
              <a:t>is a form of best-first search that </a:t>
            </a:r>
            <a:r>
              <a:rPr lang="en-IN" dirty="0">
                <a:solidFill>
                  <a:srgbClr val="FF0000"/>
                </a:solidFill>
              </a:rPr>
              <a:t>expands first the node with the lowest h(n) value</a:t>
            </a:r>
          </a:p>
          <a:p>
            <a:pPr lvl="1" algn="just">
              <a:lnSpc>
                <a:spcPct val="120000"/>
              </a:lnSpc>
            </a:pPr>
            <a:r>
              <a:rPr lang="en-IN" dirty="0"/>
              <a:t>the node that appears to be closest to the goal—on the grounds that this is likely to lead to a solution quickly. </a:t>
            </a:r>
          </a:p>
          <a:p>
            <a:pPr lvl="1" algn="just">
              <a:lnSpc>
                <a:spcPct val="120000"/>
              </a:lnSpc>
            </a:pPr>
            <a:r>
              <a:rPr lang="en-IN" dirty="0">
                <a:solidFill>
                  <a:srgbClr val="FF0000"/>
                </a:solidFill>
              </a:rPr>
              <a:t>So the evaluation function is </a:t>
            </a:r>
            <a:r>
              <a:rPr lang="pt-BR" dirty="0">
                <a:solidFill>
                  <a:srgbClr val="FF0000"/>
                </a:solidFill>
              </a:rPr>
              <a:t> f(n) =h(n).</a:t>
            </a:r>
          </a:p>
          <a:p>
            <a:pPr lvl="1" algn="just">
              <a:lnSpc>
                <a:spcPct val="120000"/>
              </a:lnSpc>
            </a:pPr>
            <a:r>
              <a:rPr lang="en-IN" b="1" dirty="0"/>
              <a:t>h(n) = estimated cost of the cheapest path from the state at node n to a goal state.</a:t>
            </a:r>
          </a:p>
          <a:p>
            <a:pPr algn="just">
              <a:lnSpc>
                <a:spcPct val="120000"/>
              </a:lnSpc>
            </a:pPr>
            <a:endParaRPr lang="en-IN" dirty="0"/>
          </a:p>
          <a:p>
            <a:pPr marL="0" indent="0" algn="just">
              <a:lnSpc>
                <a:spcPct val="120000"/>
              </a:lnSpc>
              <a:buNone/>
            </a:pPr>
            <a:r>
              <a:rPr lang="en-IN" dirty="0"/>
              <a:t> </a:t>
            </a:r>
            <a:r>
              <a:rPr lang="en-IN" b="1" dirty="0"/>
              <a:t>Example: </a:t>
            </a:r>
            <a:r>
              <a:rPr lang="en-IN" dirty="0"/>
              <a:t>Let us see how this works for route-finding problems in Romania; </a:t>
            </a:r>
          </a:p>
          <a:p>
            <a:pPr algn="just">
              <a:lnSpc>
                <a:spcPct val="120000"/>
              </a:lnSpc>
            </a:pPr>
            <a:r>
              <a:rPr lang="en-IN" dirty="0"/>
              <a:t>we use the </a:t>
            </a:r>
            <a:r>
              <a:rPr lang="en-IN" b="1" dirty="0">
                <a:solidFill>
                  <a:srgbClr val="FF0000"/>
                </a:solidFill>
              </a:rPr>
              <a:t>straight-line distance </a:t>
            </a:r>
            <a:r>
              <a:rPr lang="en-IN" dirty="0">
                <a:solidFill>
                  <a:srgbClr val="FF0000"/>
                </a:solidFill>
              </a:rPr>
              <a:t>heuristic</a:t>
            </a:r>
            <a:r>
              <a:rPr lang="en-IN" dirty="0"/>
              <a:t>, which we will call </a:t>
            </a:r>
            <a:r>
              <a:rPr lang="en-IN" dirty="0" err="1">
                <a:solidFill>
                  <a:srgbClr val="FF0000"/>
                </a:solidFill>
              </a:rPr>
              <a:t>h</a:t>
            </a:r>
            <a:r>
              <a:rPr lang="en-IN" baseline="-25000" dirty="0" err="1">
                <a:solidFill>
                  <a:srgbClr val="FF0000"/>
                </a:solidFill>
              </a:rPr>
              <a:t>SLD</a:t>
            </a:r>
            <a:r>
              <a:rPr lang="en-IN" dirty="0">
                <a:solidFill>
                  <a:srgbClr val="FF0000"/>
                </a:solidFill>
              </a:rPr>
              <a:t> </a:t>
            </a:r>
          </a:p>
          <a:p>
            <a:pPr algn="just">
              <a:lnSpc>
                <a:spcPct val="120000"/>
              </a:lnSpc>
            </a:pPr>
            <a:r>
              <a:rPr lang="en-IN" dirty="0"/>
              <a:t>If the goal is Bucharest, we need to know the straight-line distances to Bucharest. </a:t>
            </a:r>
          </a:p>
          <a:p>
            <a:pPr algn="just">
              <a:lnSpc>
                <a:spcPct val="120000"/>
              </a:lnSpc>
            </a:pPr>
            <a:r>
              <a:rPr lang="en-IN" dirty="0"/>
              <a:t>Note: The values of </a:t>
            </a:r>
            <a:r>
              <a:rPr lang="en-IN" dirty="0" err="1">
                <a:solidFill>
                  <a:srgbClr val="FF0000"/>
                </a:solidFill>
              </a:rPr>
              <a:t>h</a:t>
            </a:r>
            <a:r>
              <a:rPr lang="en-IN" baseline="-25000" dirty="0" err="1">
                <a:solidFill>
                  <a:srgbClr val="FF0000"/>
                </a:solidFill>
              </a:rPr>
              <a:t>SLD</a:t>
            </a:r>
            <a:r>
              <a:rPr lang="en-IN" dirty="0">
                <a:solidFill>
                  <a:srgbClr val="FF0000"/>
                </a:solidFill>
              </a:rPr>
              <a:t> </a:t>
            </a:r>
            <a:r>
              <a:rPr lang="en-IN" dirty="0"/>
              <a:t>cannot be computed from the problem description itself (that is, the ACTIONS and RESULT functions). </a:t>
            </a:r>
          </a:p>
          <a:p>
            <a:pPr lvl="1" algn="just">
              <a:lnSpc>
                <a:spcPct val="120000"/>
              </a:lnSpc>
            </a:pPr>
            <a:r>
              <a:rPr lang="en-IN" dirty="0"/>
              <a:t>It takes a certain amount of world knowledge to know that is correlated with actual road distances and is, therefore, a useful heuristic.</a:t>
            </a:r>
          </a:p>
        </p:txBody>
      </p:sp>
    </p:spTree>
    <p:extLst>
      <p:ext uri="{BB962C8B-B14F-4D97-AF65-F5344CB8AC3E}">
        <p14:creationId xmlns:p14="http://schemas.microsoft.com/office/powerpoint/2010/main" val="119248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80C44-4E6F-449A-9382-498597772723}"/>
              </a:ext>
            </a:extLst>
          </p:cNvPr>
          <p:cNvSpPr>
            <a:spLocks noGrp="1"/>
          </p:cNvSpPr>
          <p:nvPr>
            <p:ph type="title"/>
          </p:nvPr>
        </p:nvSpPr>
        <p:spPr/>
        <p:txBody>
          <a:bodyPr/>
          <a:lstStyle/>
          <a:p>
            <a:r>
              <a:rPr lang="en-US" dirty="0"/>
              <a:t>Example : </a:t>
            </a:r>
          </a:p>
        </p:txBody>
      </p:sp>
      <p:sp>
        <p:nvSpPr>
          <p:cNvPr id="3" name="Content Placeholder 2">
            <a:extLst>
              <a:ext uri="{FF2B5EF4-FFF2-40B4-BE49-F238E27FC236}">
                <a16:creationId xmlns:a16="http://schemas.microsoft.com/office/drawing/2014/main" id="{59392D7D-ADC3-4212-BC7E-E1FD643A3FF7}"/>
              </a:ext>
            </a:extLst>
          </p:cNvPr>
          <p:cNvSpPr>
            <a:spLocks noGrp="1"/>
          </p:cNvSpPr>
          <p:nvPr>
            <p:ph idx="1"/>
          </p:nvPr>
        </p:nvSpPr>
        <p:spPr>
          <a:xfrm>
            <a:off x="457200" y="1196752"/>
            <a:ext cx="8229600" cy="4929411"/>
          </a:xfrm>
        </p:spPr>
        <p:txBody>
          <a:bodyPr>
            <a:normAutofit/>
          </a:bodyPr>
          <a:lstStyle/>
          <a:p>
            <a:r>
              <a:rPr lang="en-US" sz="2000" dirty="0">
                <a:solidFill>
                  <a:srgbClr val="333333"/>
                </a:solidFill>
                <a:latin typeface="inter-regular"/>
              </a:rPr>
              <a:t>Consider the below search problem, and we will traverse it using greedy best-first search. At each iteration, each node is expanded using evaluation function f(n)=h(n) , which is given in the below table</a:t>
            </a:r>
            <a:r>
              <a:rPr lang="en-US" sz="1350" dirty="0">
                <a:solidFill>
                  <a:srgbClr val="333333"/>
                </a:solidFill>
                <a:latin typeface="inter-regular"/>
              </a:rPr>
              <a:t>.</a:t>
            </a:r>
            <a:endParaRPr lang="en-US" sz="1350" dirty="0"/>
          </a:p>
        </p:txBody>
      </p:sp>
      <p:pic>
        <p:nvPicPr>
          <p:cNvPr id="1026" name="Picture 2" descr="Informed Search Algorithms">
            <a:extLst>
              <a:ext uri="{FF2B5EF4-FFF2-40B4-BE49-F238E27FC236}">
                <a16:creationId xmlns:a16="http://schemas.microsoft.com/office/drawing/2014/main" id="{627A89E8-2E8C-4B36-B015-53CEA3D7AD6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81" t="7920" r="4899" b="11820"/>
          <a:stretch/>
        </p:blipFill>
        <p:spPr bwMode="auto">
          <a:xfrm>
            <a:off x="232287" y="2792976"/>
            <a:ext cx="4778478" cy="268732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nformed Search Algorithms">
            <a:extLst>
              <a:ext uri="{FF2B5EF4-FFF2-40B4-BE49-F238E27FC236}">
                <a16:creationId xmlns:a16="http://schemas.microsoft.com/office/drawing/2014/main" id="{BC751BF6-4C68-405E-98DF-AC907DDCDC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3651" y="2792976"/>
            <a:ext cx="3527952" cy="2687321"/>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BA8F17F9-1262-4176-B5F4-15032B94CF52}"/>
              </a:ext>
            </a:extLst>
          </p:cNvPr>
          <p:cNvSpPr>
            <a:spLocks noGrp="1"/>
          </p:cNvSpPr>
          <p:nvPr>
            <p:ph type="sldNum" sz="quarter" idx="12"/>
          </p:nvPr>
        </p:nvSpPr>
        <p:spPr/>
        <p:txBody>
          <a:bodyPr/>
          <a:lstStyle/>
          <a:p>
            <a:fld id="{CD8ECE6C-B4D6-4566-A5EB-511AC2F21AF2}" type="slidenum">
              <a:rPr lang="en-US" smtClean="0"/>
              <a:t>15</a:t>
            </a:fld>
            <a:endParaRPr lang="en-US"/>
          </a:p>
        </p:txBody>
      </p:sp>
    </p:spTree>
    <p:extLst>
      <p:ext uri="{BB962C8B-B14F-4D97-AF65-F5344CB8AC3E}">
        <p14:creationId xmlns:p14="http://schemas.microsoft.com/office/powerpoint/2010/main" val="2252551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animEffect transition="in" filter="fade">
                                      <p:cBhvr>
                                        <p:cTn id="7" dur="1000"/>
                                        <p:tgtEl>
                                          <p:spTgt spid="1028"/>
                                        </p:tgtEl>
                                      </p:cBhvr>
                                    </p:animEffect>
                                    <p:anim calcmode="lin" valueType="num">
                                      <p:cBhvr>
                                        <p:cTn id="8" dur="1000" fill="hold"/>
                                        <p:tgtEl>
                                          <p:spTgt spid="1028"/>
                                        </p:tgtEl>
                                        <p:attrNameLst>
                                          <p:attrName>ppt_x</p:attrName>
                                        </p:attrNameLst>
                                      </p:cBhvr>
                                      <p:tavLst>
                                        <p:tav tm="0">
                                          <p:val>
                                            <p:strVal val="#ppt_x"/>
                                          </p:val>
                                        </p:tav>
                                        <p:tav tm="100000">
                                          <p:val>
                                            <p:strVal val="#ppt_x"/>
                                          </p:val>
                                        </p:tav>
                                      </p:tavLst>
                                    </p:anim>
                                    <p:anim calcmode="lin" valueType="num">
                                      <p:cBhvr>
                                        <p:cTn id="9" dur="1000" fill="hold"/>
                                        <p:tgtEl>
                                          <p:spTgt spid="10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83FF1-5FF6-CABB-65B9-C31ECCD6BDD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8E5CF8E-A1C0-7B66-F114-1CB33D68CB0B}"/>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4E7F7568-5FD2-A71F-13B5-721A55E4BD89}"/>
              </a:ext>
            </a:extLst>
          </p:cNvPr>
          <p:cNvPicPr>
            <a:picLocks noChangeAspect="1"/>
          </p:cNvPicPr>
          <p:nvPr/>
        </p:nvPicPr>
        <p:blipFill>
          <a:blip r:embed="rId2"/>
          <a:stretch>
            <a:fillRect/>
          </a:stretch>
        </p:blipFill>
        <p:spPr>
          <a:xfrm>
            <a:off x="195335" y="274638"/>
            <a:ext cx="8229600" cy="6394722"/>
          </a:xfrm>
          <a:prstGeom prst="rect">
            <a:avLst/>
          </a:prstGeom>
        </p:spPr>
      </p:pic>
    </p:spTree>
    <p:extLst>
      <p:ext uri="{BB962C8B-B14F-4D97-AF65-F5344CB8AC3E}">
        <p14:creationId xmlns:p14="http://schemas.microsoft.com/office/powerpoint/2010/main" val="32020041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Greedy best-first search</a:t>
            </a:r>
          </a:p>
        </p:txBody>
      </p:sp>
      <p:sp>
        <p:nvSpPr>
          <p:cNvPr id="3" name="Content Placeholder 2"/>
          <p:cNvSpPr>
            <a:spLocks noGrp="1"/>
          </p:cNvSpPr>
          <p:nvPr>
            <p:ph idx="1"/>
          </p:nvPr>
        </p:nvSpPr>
        <p:spPr/>
        <p:txBody>
          <a:bodyPr/>
          <a:lstStyle/>
          <a:p>
            <a:r>
              <a:rPr lang="en-IN" dirty="0"/>
              <a:t>Example: h(n)</a:t>
            </a:r>
          </a:p>
          <a:p>
            <a:endParaRPr lang="en-IN"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7744" y="2305050"/>
            <a:ext cx="5305468" cy="28521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647335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Greedy best-first search</a:t>
            </a:r>
          </a:p>
        </p:txBody>
      </p:sp>
      <p:sp>
        <p:nvSpPr>
          <p:cNvPr id="3" name="Content Placeholder 2"/>
          <p:cNvSpPr>
            <a:spLocks noGrp="1"/>
          </p:cNvSpPr>
          <p:nvPr>
            <p:ph idx="1"/>
          </p:nvPr>
        </p:nvSpPr>
        <p:spPr/>
        <p:txBody>
          <a:bodyPr/>
          <a:lstStyle/>
          <a:p>
            <a:r>
              <a:rPr lang="en-IN" dirty="0"/>
              <a:t>Example:</a:t>
            </a:r>
          </a:p>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6666" y="2276872"/>
            <a:ext cx="6377628" cy="38514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652967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IN" dirty="0"/>
              <a:t>Greedy best-first search</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91680" y="1052736"/>
            <a:ext cx="5711738" cy="56694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930386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Greedy best-first search</a:t>
            </a:r>
          </a:p>
        </p:txBody>
      </p:sp>
      <p:sp>
        <p:nvSpPr>
          <p:cNvPr id="3" name="Content Placeholder 2"/>
          <p:cNvSpPr>
            <a:spLocks noGrp="1"/>
          </p:cNvSpPr>
          <p:nvPr>
            <p:ph idx="1"/>
          </p:nvPr>
        </p:nvSpPr>
        <p:spPr/>
        <p:txBody>
          <a:bodyPr>
            <a:normAutofit fontScale="55000" lnSpcReduction="20000"/>
          </a:bodyPr>
          <a:lstStyle/>
          <a:p>
            <a:pPr algn="just">
              <a:lnSpc>
                <a:spcPct val="120000"/>
              </a:lnSpc>
            </a:pPr>
            <a:r>
              <a:rPr lang="en-IN" dirty="0"/>
              <a:t>Shows the progress of a greedy best-first search using </a:t>
            </a:r>
            <a:r>
              <a:rPr lang="en-IN" dirty="0" err="1"/>
              <a:t>h</a:t>
            </a:r>
            <a:r>
              <a:rPr lang="en-IN" baseline="-25000" dirty="0" err="1"/>
              <a:t>SLD</a:t>
            </a:r>
            <a:r>
              <a:rPr lang="en-IN" baseline="-25000" dirty="0"/>
              <a:t> </a:t>
            </a:r>
            <a:r>
              <a:rPr lang="en-IN" dirty="0"/>
              <a:t>to find a path from Arad to Bucharest. </a:t>
            </a:r>
          </a:p>
          <a:p>
            <a:pPr algn="just">
              <a:lnSpc>
                <a:spcPct val="120000"/>
              </a:lnSpc>
            </a:pPr>
            <a:r>
              <a:rPr lang="en-IN" dirty="0"/>
              <a:t>The first node to be expanded from Arad will be Sibiu because the heuristic says it is closer to Bucharest than is either </a:t>
            </a:r>
            <a:r>
              <a:rPr lang="en-IN" dirty="0" err="1"/>
              <a:t>Zerind</a:t>
            </a:r>
            <a:r>
              <a:rPr lang="en-IN" dirty="0"/>
              <a:t> or Timisoara. </a:t>
            </a:r>
          </a:p>
          <a:p>
            <a:pPr algn="just">
              <a:lnSpc>
                <a:spcPct val="120000"/>
              </a:lnSpc>
            </a:pPr>
            <a:r>
              <a:rPr lang="en-IN" dirty="0"/>
              <a:t>The next node to be expanded will be </a:t>
            </a:r>
            <a:r>
              <a:rPr lang="en-IN" dirty="0" err="1"/>
              <a:t>Fagaras</a:t>
            </a:r>
            <a:r>
              <a:rPr lang="en-IN" dirty="0"/>
              <a:t> because it is now closest according to the heuristic. </a:t>
            </a:r>
            <a:r>
              <a:rPr lang="en-IN" dirty="0" err="1"/>
              <a:t>Fagaras</a:t>
            </a:r>
            <a:r>
              <a:rPr lang="en-IN" dirty="0"/>
              <a:t> in turn generates Bucharest, which is the goal. </a:t>
            </a:r>
          </a:p>
          <a:p>
            <a:pPr algn="just">
              <a:lnSpc>
                <a:spcPct val="120000"/>
              </a:lnSpc>
            </a:pPr>
            <a:r>
              <a:rPr lang="en-IN" dirty="0"/>
              <a:t>For this particular problem, </a:t>
            </a:r>
            <a:r>
              <a:rPr lang="en-IN" dirty="0">
                <a:solidFill>
                  <a:srgbClr val="FF0000"/>
                </a:solidFill>
              </a:rPr>
              <a:t>greedy best-first search using </a:t>
            </a:r>
            <a:r>
              <a:rPr lang="en-IN" dirty="0" err="1">
                <a:solidFill>
                  <a:srgbClr val="FF0000"/>
                </a:solidFill>
              </a:rPr>
              <a:t>h</a:t>
            </a:r>
            <a:r>
              <a:rPr lang="en-IN" baseline="-25000" dirty="0" err="1">
                <a:solidFill>
                  <a:srgbClr val="FF0000"/>
                </a:solidFill>
              </a:rPr>
              <a:t>SLD</a:t>
            </a:r>
            <a:r>
              <a:rPr lang="en-IN" baseline="-25000" dirty="0">
                <a:solidFill>
                  <a:srgbClr val="FF0000"/>
                </a:solidFill>
              </a:rPr>
              <a:t> </a:t>
            </a:r>
            <a:r>
              <a:rPr lang="en-IN" dirty="0">
                <a:solidFill>
                  <a:srgbClr val="FF0000"/>
                </a:solidFill>
              </a:rPr>
              <a:t>finds a solution without ever expanding a node that is not on the solution path. </a:t>
            </a:r>
          </a:p>
          <a:p>
            <a:pPr algn="just">
              <a:lnSpc>
                <a:spcPct val="120000"/>
              </a:lnSpc>
            </a:pPr>
            <a:r>
              <a:rPr lang="en-IN" dirty="0">
                <a:solidFill>
                  <a:srgbClr val="00B050"/>
                </a:solidFill>
              </a:rPr>
              <a:t>The solution it found does not have optimal cost, however: the path via Sibiu and </a:t>
            </a:r>
            <a:r>
              <a:rPr lang="en-IN" dirty="0" err="1">
                <a:solidFill>
                  <a:srgbClr val="00B050"/>
                </a:solidFill>
              </a:rPr>
              <a:t>Fagaras</a:t>
            </a:r>
            <a:r>
              <a:rPr lang="en-IN" dirty="0">
                <a:solidFill>
                  <a:srgbClr val="00B050"/>
                </a:solidFill>
              </a:rPr>
              <a:t> to Bucharest is 32 miles longer than the path through </a:t>
            </a:r>
            <a:r>
              <a:rPr lang="en-IN" dirty="0" err="1">
                <a:solidFill>
                  <a:srgbClr val="00B050"/>
                </a:solidFill>
              </a:rPr>
              <a:t>Rimnicu</a:t>
            </a:r>
            <a:r>
              <a:rPr lang="en-IN" dirty="0">
                <a:solidFill>
                  <a:srgbClr val="00B050"/>
                </a:solidFill>
              </a:rPr>
              <a:t> </a:t>
            </a:r>
            <a:r>
              <a:rPr lang="en-IN" dirty="0" err="1">
                <a:solidFill>
                  <a:srgbClr val="00B050"/>
                </a:solidFill>
              </a:rPr>
              <a:t>Vilcea</a:t>
            </a:r>
            <a:r>
              <a:rPr lang="en-IN" dirty="0">
                <a:solidFill>
                  <a:srgbClr val="00B050"/>
                </a:solidFill>
              </a:rPr>
              <a:t> and Pitesti.</a:t>
            </a:r>
          </a:p>
          <a:p>
            <a:pPr algn="just">
              <a:lnSpc>
                <a:spcPct val="120000"/>
              </a:lnSpc>
            </a:pPr>
            <a:r>
              <a:rPr lang="en-IN" dirty="0"/>
              <a:t>This is why the algorithm is called “greedy”—</a:t>
            </a:r>
            <a:r>
              <a:rPr lang="en-IN" dirty="0">
                <a:solidFill>
                  <a:srgbClr val="FF0000"/>
                </a:solidFill>
              </a:rPr>
              <a:t>on each iteration it tries to get as close to a goal as it can, but greediness can lead to worse results than being careful.</a:t>
            </a:r>
          </a:p>
        </p:txBody>
      </p:sp>
    </p:spTree>
    <p:extLst>
      <p:ext uri="{BB962C8B-B14F-4D97-AF65-F5344CB8AC3E}">
        <p14:creationId xmlns:p14="http://schemas.microsoft.com/office/powerpoint/2010/main" val="2471881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Greedy b</a:t>
            </a:r>
            <a:r>
              <a:rPr lang="en-US" dirty="0" err="1"/>
              <a:t>est</a:t>
            </a:r>
            <a:r>
              <a:rPr lang="en-US" dirty="0"/>
              <a:t>-first search - Steps</a:t>
            </a:r>
          </a:p>
        </p:txBody>
      </p:sp>
      <p:sp>
        <p:nvSpPr>
          <p:cNvPr id="3" name="Content Placeholder 2"/>
          <p:cNvSpPr>
            <a:spLocks noGrp="1"/>
          </p:cNvSpPr>
          <p:nvPr>
            <p:ph idx="1"/>
          </p:nvPr>
        </p:nvSpPr>
        <p:spPr/>
        <p:txBody>
          <a:bodyPr>
            <a:normAutofit fontScale="70000" lnSpcReduction="20000"/>
          </a:bodyPr>
          <a:lstStyle/>
          <a:p>
            <a:pPr algn="just">
              <a:lnSpc>
                <a:spcPct val="120000"/>
              </a:lnSpc>
            </a:pPr>
            <a:r>
              <a:rPr lang="en-US" dirty="0"/>
              <a:t>Create two empty lists namely open and closed list.</a:t>
            </a:r>
          </a:p>
          <a:p>
            <a:pPr algn="just">
              <a:lnSpc>
                <a:spcPct val="120000"/>
              </a:lnSpc>
            </a:pPr>
            <a:r>
              <a:rPr lang="en-US" dirty="0"/>
              <a:t>Start from the initial node and add it to </a:t>
            </a:r>
            <a:r>
              <a:rPr lang="en-US" dirty="0">
                <a:solidFill>
                  <a:srgbClr val="FF0000"/>
                </a:solidFill>
              </a:rPr>
              <a:t>the ordered open list</a:t>
            </a:r>
          </a:p>
          <a:p>
            <a:pPr algn="just">
              <a:lnSpc>
                <a:spcPct val="120000"/>
              </a:lnSpc>
            </a:pPr>
            <a:r>
              <a:rPr lang="en-US" dirty="0"/>
              <a:t>Repeat until the goal node or endpoint is reached</a:t>
            </a:r>
          </a:p>
          <a:p>
            <a:pPr lvl="1" algn="just">
              <a:lnSpc>
                <a:spcPct val="120000"/>
              </a:lnSpc>
            </a:pPr>
            <a:r>
              <a:rPr lang="en-US" dirty="0"/>
              <a:t>If the open list is empty exit the loop and return False, which says that the final node cannot be reached</a:t>
            </a:r>
          </a:p>
          <a:p>
            <a:pPr lvl="1" algn="just">
              <a:lnSpc>
                <a:spcPct val="120000"/>
              </a:lnSpc>
            </a:pPr>
            <a:r>
              <a:rPr lang="en-US" dirty="0">
                <a:solidFill>
                  <a:srgbClr val="FF0000"/>
                </a:solidFill>
              </a:rPr>
              <a:t>Select the top node/goal node in the open list and move it to the closed list while keeping track of the parent node</a:t>
            </a:r>
          </a:p>
          <a:p>
            <a:pPr lvl="1" algn="just">
              <a:lnSpc>
                <a:spcPct val="120000"/>
              </a:lnSpc>
            </a:pPr>
            <a:r>
              <a:rPr lang="en-US" dirty="0"/>
              <a:t>If the node removed is the endpoint node return True , meaning a path has been found and moving the node to the closed list</a:t>
            </a:r>
          </a:p>
          <a:p>
            <a:pPr lvl="1" algn="just">
              <a:lnSpc>
                <a:spcPct val="120000"/>
              </a:lnSpc>
            </a:pPr>
            <a:r>
              <a:rPr lang="en-US" dirty="0"/>
              <a:t>However if it is not the endpoint node then list down all the neighboring nodes of it and add them to the open list</a:t>
            </a:r>
          </a:p>
          <a:p>
            <a:pPr lvl="1" algn="just">
              <a:lnSpc>
                <a:spcPct val="120000"/>
              </a:lnSpc>
            </a:pPr>
            <a:r>
              <a:rPr lang="en-US" dirty="0"/>
              <a:t>According to the evaluation function re order the nodes.</a:t>
            </a:r>
          </a:p>
        </p:txBody>
      </p:sp>
    </p:spTree>
    <p:extLst>
      <p:ext uri="{BB962C8B-B14F-4D97-AF65-F5344CB8AC3E}">
        <p14:creationId xmlns:p14="http://schemas.microsoft.com/office/powerpoint/2010/main" val="26136043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Greedy b</a:t>
            </a:r>
            <a:r>
              <a:rPr lang="en-US" dirty="0" err="1"/>
              <a:t>est</a:t>
            </a:r>
            <a:r>
              <a:rPr lang="en-US" dirty="0"/>
              <a:t>-first search</a:t>
            </a:r>
          </a:p>
        </p:txBody>
      </p:sp>
      <p:sp>
        <p:nvSpPr>
          <p:cNvPr id="3" name="Content Placeholder 2"/>
          <p:cNvSpPr>
            <a:spLocks noGrp="1"/>
          </p:cNvSpPr>
          <p:nvPr>
            <p:ph idx="1"/>
          </p:nvPr>
        </p:nvSpPr>
        <p:spPr/>
        <p:txBody>
          <a:bodyPr/>
          <a:lstStyle/>
          <a:p>
            <a:r>
              <a:rPr lang="en-US" dirty="0"/>
              <a:t>Example: </a:t>
            </a:r>
            <a:r>
              <a:rPr lang="en-US" dirty="0">
                <a:solidFill>
                  <a:srgbClr val="FF0000"/>
                </a:solidFill>
              </a:rPr>
              <a:t>Start node is ‘S’ and goal/end node is ‘G’</a:t>
            </a:r>
          </a:p>
          <a:p>
            <a:endParaRPr lang="en-US" dirty="0"/>
          </a:p>
          <a:p>
            <a:endParaRPr lang="en-US" dirty="0"/>
          </a:p>
        </p:txBody>
      </p:sp>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872" y="2593887"/>
            <a:ext cx="2502768" cy="270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10133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Greedy b</a:t>
            </a:r>
            <a:r>
              <a:rPr lang="en-US" dirty="0" err="1"/>
              <a:t>est</a:t>
            </a:r>
            <a:r>
              <a:rPr lang="en-US" dirty="0"/>
              <a:t>-first search</a:t>
            </a:r>
          </a:p>
        </p:txBody>
      </p:sp>
      <p:sp>
        <p:nvSpPr>
          <p:cNvPr id="5" name="Content Placeholder 4"/>
          <p:cNvSpPr>
            <a:spLocks noGrp="1"/>
          </p:cNvSpPr>
          <p:nvPr>
            <p:ph sz="half" idx="1"/>
          </p:nvPr>
        </p:nvSpPr>
        <p:spPr/>
        <p:txBody>
          <a:bodyPr>
            <a:normAutofit fontScale="47500" lnSpcReduction="20000"/>
          </a:bodyPr>
          <a:lstStyle/>
          <a:p>
            <a:pPr algn="just">
              <a:lnSpc>
                <a:spcPct val="120000"/>
              </a:lnSpc>
            </a:pPr>
            <a:r>
              <a:rPr lang="en-US" dirty="0"/>
              <a:t>Create two empty lists namely open and closed list.</a:t>
            </a:r>
          </a:p>
          <a:p>
            <a:pPr algn="just">
              <a:lnSpc>
                <a:spcPct val="120000"/>
              </a:lnSpc>
            </a:pPr>
            <a:r>
              <a:rPr lang="en-US" dirty="0"/>
              <a:t>Start from the initial node and add it to </a:t>
            </a:r>
            <a:r>
              <a:rPr lang="en-US" dirty="0">
                <a:solidFill>
                  <a:srgbClr val="FF0000"/>
                </a:solidFill>
              </a:rPr>
              <a:t>the ordered open list</a:t>
            </a:r>
          </a:p>
          <a:p>
            <a:pPr algn="just">
              <a:lnSpc>
                <a:spcPct val="120000"/>
              </a:lnSpc>
            </a:pPr>
            <a:r>
              <a:rPr lang="en-US" dirty="0"/>
              <a:t>Repeat until the goal node or endpoint is reached</a:t>
            </a:r>
          </a:p>
          <a:p>
            <a:pPr lvl="1" algn="just">
              <a:lnSpc>
                <a:spcPct val="120000"/>
              </a:lnSpc>
            </a:pPr>
            <a:r>
              <a:rPr lang="en-US" dirty="0"/>
              <a:t>If the open list is empty exit the loop and return False, which says that the final node cannot be reached</a:t>
            </a:r>
          </a:p>
          <a:p>
            <a:pPr lvl="1" algn="just">
              <a:lnSpc>
                <a:spcPct val="120000"/>
              </a:lnSpc>
            </a:pPr>
            <a:r>
              <a:rPr lang="en-US" dirty="0"/>
              <a:t>Select the top node/goal node in the open list and move it to the closed list while keeping track of the parent node</a:t>
            </a:r>
          </a:p>
          <a:p>
            <a:pPr lvl="1" algn="just">
              <a:lnSpc>
                <a:spcPct val="120000"/>
              </a:lnSpc>
            </a:pPr>
            <a:r>
              <a:rPr lang="en-US" dirty="0"/>
              <a:t>If the node removed is the endpoint node return True , meaning a path has been found and moving the node to the closed list</a:t>
            </a:r>
          </a:p>
          <a:p>
            <a:pPr lvl="1" algn="just">
              <a:lnSpc>
                <a:spcPct val="120000"/>
              </a:lnSpc>
            </a:pPr>
            <a:r>
              <a:rPr lang="en-US" dirty="0"/>
              <a:t>However if it is not the endpoint node then list down all the neighboring nodes of it and add them to the open list</a:t>
            </a:r>
          </a:p>
          <a:p>
            <a:pPr lvl="1" algn="just">
              <a:lnSpc>
                <a:spcPct val="120000"/>
              </a:lnSpc>
            </a:pPr>
            <a:r>
              <a:rPr lang="en-US" dirty="0"/>
              <a:t>According to the evaluation function re order the nodes.</a:t>
            </a:r>
          </a:p>
          <a:p>
            <a:endParaRPr lang="en-US" dirty="0"/>
          </a:p>
        </p:txBody>
      </p:sp>
      <p:sp>
        <p:nvSpPr>
          <p:cNvPr id="6" name="Content Placeholder 5"/>
          <p:cNvSpPr>
            <a:spLocks noGrp="1"/>
          </p:cNvSpPr>
          <p:nvPr>
            <p:ph sz="half" idx="2"/>
          </p:nvPr>
        </p:nvSpPr>
        <p:spPr/>
        <p:txBody>
          <a:bodyPr>
            <a:normAutofit fontScale="47500" lnSpcReduction="20000"/>
          </a:bodyPr>
          <a:lstStyle/>
          <a:p>
            <a:r>
              <a:rPr lang="en-US" dirty="0"/>
              <a:t>Example: </a:t>
            </a:r>
            <a:r>
              <a:rPr lang="en-US" dirty="0">
                <a:solidFill>
                  <a:srgbClr val="FF0000"/>
                </a:solidFill>
              </a:rPr>
              <a:t>Start node is ‘S’ and goal/end node is ‘G’</a:t>
            </a:r>
          </a:p>
          <a:p>
            <a:endParaRPr lang="en-US" dirty="0"/>
          </a:p>
          <a:p>
            <a:endParaRPr lang="en-US" dirty="0"/>
          </a:p>
          <a:p>
            <a:endParaRPr lang="en-US" dirty="0"/>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9592" y="1916832"/>
            <a:ext cx="2502768" cy="270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58667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Greedy b</a:t>
            </a:r>
            <a:r>
              <a:rPr lang="en-US" dirty="0" err="1"/>
              <a:t>est</a:t>
            </a:r>
            <a:r>
              <a:rPr lang="en-US" dirty="0"/>
              <a:t>-first search</a:t>
            </a:r>
          </a:p>
        </p:txBody>
      </p:sp>
      <p:sp>
        <p:nvSpPr>
          <p:cNvPr id="5" name="Content Placeholder 4"/>
          <p:cNvSpPr>
            <a:spLocks noGrp="1"/>
          </p:cNvSpPr>
          <p:nvPr>
            <p:ph sz="half" idx="1"/>
          </p:nvPr>
        </p:nvSpPr>
        <p:spPr>
          <a:xfrm>
            <a:off x="457200" y="1196752"/>
            <a:ext cx="4038600" cy="4929411"/>
          </a:xfrm>
        </p:spPr>
        <p:txBody>
          <a:bodyPr>
            <a:normAutofit fontScale="85000" lnSpcReduction="10000"/>
          </a:bodyPr>
          <a:lstStyle/>
          <a:p>
            <a:r>
              <a:rPr lang="en-US" sz="2000" dirty="0"/>
              <a:t>Example: </a:t>
            </a:r>
            <a:r>
              <a:rPr lang="en-US" sz="2000" dirty="0">
                <a:solidFill>
                  <a:srgbClr val="FF0000"/>
                </a:solidFill>
              </a:rPr>
              <a:t>Start node is ‘S’ and goal/end node is ‘G’</a:t>
            </a:r>
          </a:p>
          <a:p>
            <a:r>
              <a:rPr lang="en-US" sz="2000" dirty="0"/>
              <a:t>Initially only node S is present in the open list and closed is empty.</a:t>
            </a:r>
            <a:br>
              <a:rPr lang="en-US" sz="2000" dirty="0"/>
            </a:br>
            <a:r>
              <a:rPr lang="en-US" sz="2000" dirty="0"/>
              <a:t>Open : [S]</a:t>
            </a:r>
            <a:br>
              <a:rPr lang="en-US" sz="2000" dirty="0"/>
            </a:br>
            <a:r>
              <a:rPr lang="en-US" sz="2000" dirty="0"/>
              <a:t>Closed: []</a:t>
            </a:r>
            <a:endParaRPr lang="en-US" sz="2000" dirty="0">
              <a:solidFill>
                <a:srgbClr val="FF0000"/>
              </a:solidFill>
            </a:endParaRPr>
          </a:p>
          <a:p>
            <a:r>
              <a:rPr lang="en-US" sz="2000" dirty="0">
                <a:solidFill>
                  <a:srgbClr val="FF0000"/>
                </a:solidFill>
              </a:rPr>
              <a:t>Iteration 1</a:t>
            </a:r>
            <a:r>
              <a:rPr lang="en-US" sz="2000" dirty="0"/>
              <a:t>: Remove node S and move it to the closed list and the neighbor nodes of S are added to open</a:t>
            </a:r>
            <a:br>
              <a:rPr lang="en-US" sz="2000" dirty="0"/>
            </a:br>
            <a:r>
              <a:rPr lang="en-US" sz="2000" dirty="0"/>
              <a:t> </a:t>
            </a:r>
            <a:r>
              <a:rPr lang="en-US" sz="2000" dirty="0" err="1"/>
              <a:t>Open</a:t>
            </a:r>
            <a:r>
              <a:rPr lang="en-US" sz="2000" dirty="0"/>
              <a:t>: [A,B], reordered as</a:t>
            </a:r>
          </a:p>
          <a:p>
            <a:pPr marL="0" indent="0">
              <a:buNone/>
            </a:pPr>
            <a:r>
              <a:rPr lang="en-US" sz="2000" dirty="0"/>
              <a:t>       Open: [B,A]</a:t>
            </a:r>
            <a:br>
              <a:rPr lang="en-US" sz="2000" dirty="0"/>
            </a:br>
            <a:r>
              <a:rPr lang="en-US" sz="2000" dirty="0"/>
              <a:t>       Closed: [S]</a:t>
            </a:r>
          </a:p>
          <a:p>
            <a:r>
              <a:rPr lang="en-US" sz="2000" dirty="0">
                <a:solidFill>
                  <a:srgbClr val="FF0000"/>
                </a:solidFill>
              </a:rPr>
              <a:t>Iteration 2</a:t>
            </a:r>
            <a:r>
              <a:rPr lang="en-US" sz="2000" dirty="0"/>
              <a:t>: Remove node B from open and move to the closed list.</a:t>
            </a:r>
          </a:p>
          <a:p>
            <a:pPr marL="0" indent="0">
              <a:buNone/>
            </a:pPr>
            <a:r>
              <a:rPr lang="en-US" sz="2000" dirty="0"/>
              <a:t>       Neighboring nodes of B are pushed          </a:t>
            </a:r>
          </a:p>
          <a:p>
            <a:pPr marL="0" indent="0">
              <a:buNone/>
            </a:pPr>
            <a:r>
              <a:rPr lang="en-US" sz="2000" dirty="0"/>
              <a:t>       to the open list.</a:t>
            </a:r>
            <a:br>
              <a:rPr lang="en-US" sz="2000" dirty="0"/>
            </a:br>
            <a:r>
              <a:rPr lang="en-US" sz="2000" dirty="0"/>
              <a:t>       Open: [E,F,A], reordered as</a:t>
            </a:r>
          </a:p>
          <a:p>
            <a:pPr marL="0" indent="0">
              <a:buNone/>
            </a:pPr>
            <a:r>
              <a:rPr lang="en-US" sz="2000" dirty="0"/>
              <a:t>       Open: [F,A,E]</a:t>
            </a:r>
            <a:br>
              <a:rPr lang="en-US" sz="2000" dirty="0"/>
            </a:br>
            <a:r>
              <a:rPr lang="en-US" sz="2000" dirty="0"/>
              <a:t>       Closed: [S,B]</a:t>
            </a:r>
          </a:p>
          <a:p>
            <a:endParaRPr lang="en-US" sz="2000" dirty="0"/>
          </a:p>
          <a:p>
            <a:endParaRPr lang="en-US" sz="2000" dirty="0"/>
          </a:p>
        </p:txBody>
      </p:sp>
      <p:sp>
        <p:nvSpPr>
          <p:cNvPr id="6" name="Content Placeholder 5"/>
          <p:cNvSpPr>
            <a:spLocks noGrp="1"/>
          </p:cNvSpPr>
          <p:nvPr>
            <p:ph sz="half" idx="2"/>
          </p:nvPr>
        </p:nvSpPr>
        <p:spPr>
          <a:xfrm>
            <a:off x="4648200" y="1268760"/>
            <a:ext cx="4038600" cy="4857403"/>
          </a:xfrm>
        </p:spPr>
        <p:txBody>
          <a:bodyPr>
            <a:normAutofit fontScale="85000" lnSpcReduction="10000"/>
          </a:bodyPr>
          <a:lstStyle/>
          <a:p>
            <a:r>
              <a:rPr lang="en-US" sz="1600" dirty="0">
                <a:solidFill>
                  <a:srgbClr val="FF0000"/>
                </a:solidFill>
              </a:rPr>
              <a:t>Iteration  3</a:t>
            </a:r>
            <a:r>
              <a:rPr lang="en-US" sz="1600" dirty="0"/>
              <a:t>:  Node F is removed and added to the closed list. Neighbors of F are added to the open list.</a:t>
            </a:r>
            <a:br>
              <a:rPr lang="en-US" sz="1600" dirty="0"/>
            </a:br>
            <a:r>
              <a:rPr lang="en-US" sz="1600" dirty="0"/>
              <a:t>Open: [I,G,E,A]</a:t>
            </a:r>
            <a:br>
              <a:rPr lang="en-US" sz="1600" dirty="0"/>
            </a:br>
            <a:r>
              <a:rPr lang="en-US" sz="1600" dirty="0"/>
              <a:t>Closed: [S,B,F]</a:t>
            </a:r>
          </a:p>
          <a:p>
            <a:r>
              <a:rPr lang="en-US" sz="1600" dirty="0">
                <a:solidFill>
                  <a:srgbClr val="FF0000"/>
                </a:solidFill>
              </a:rPr>
              <a:t>Iteration  4:</a:t>
            </a:r>
            <a:r>
              <a:rPr lang="en-US" sz="1600" dirty="0"/>
              <a:t> we have our target node in the open list hence we select that and move it to the closed list. We stop iterating further.</a:t>
            </a:r>
            <a:br>
              <a:rPr lang="en-US" sz="1600" dirty="0"/>
            </a:br>
            <a:r>
              <a:rPr lang="en-US" sz="1600" dirty="0"/>
              <a:t>Open: [I,E,A]</a:t>
            </a:r>
            <a:br>
              <a:rPr lang="en-US" sz="1600" dirty="0"/>
            </a:br>
            <a:r>
              <a:rPr lang="en-US" sz="1600" dirty="0"/>
              <a:t>Closed: [S,B,F,G]</a:t>
            </a:r>
          </a:p>
          <a:p>
            <a:r>
              <a:rPr lang="en-US" sz="1600" dirty="0">
                <a:solidFill>
                  <a:srgbClr val="FF0000"/>
                </a:solidFill>
              </a:rPr>
              <a:t>The path is S-&gt;B-&gt;F-&gt;G</a:t>
            </a:r>
          </a:p>
          <a:p>
            <a:endParaRPr lang="en-US" sz="1600" dirty="0"/>
          </a:p>
          <a:p>
            <a:endParaRPr lang="en-US" sz="1600" dirty="0"/>
          </a:p>
          <a:p>
            <a:endParaRPr lang="en-US" sz="1600" dirty="0"/>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1600" y="3645024"/>
            <a:ext cx="2502768" cy="2707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864270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Greedy best-first search</a:t>
            </a:r>
          </a:p>
        </p:txBody>
      </p:sp>
      <p:sp>
        <p:nvSpPr>
          <p:cNvPr id="3" name="Content Placeholder 2"/>
          <p:cNvSpPr>
            <a:spLocks noGrp="1"/>
          </p:cNvSpPr>
          <p:nvPr>
            <p:ph idx="1"/>
          </p:nvPr>
        </p:nvSpPr>
        <p:spPr/>
        <p:txBody>
          <a:bodyPr/>
          <a:lstStyle/>
          <a:p>
            <a:r>
              <a:rPr lang="en-IN" dirty="0"/>
              <a:t>Greedy best-first graph search is complete in finite state spaces. </a:t>
            </a:r>
          </a:p>
          <a:p>
            <a:r>
              <a:rPr lang="en-IN" dirty="0"/>
              <a:t>The worst-case time and space complexity is O(|V|)</a:t>
            </a:r>
          </a:p>
          <a:p>
            <a:r>
              <a:rPr lang="en-IN" dirty="0"/>
              <a:t>With a good heuristic function, however, the complexity can be reduced substantially, on certain problems reaching O(</a:t>
            </a:r>
            <a:r>
              <a:rPr lang="en-IN" dirty="0" err="1"/>
              <a:t>bm</a:t>
            </a:r>
            <a:r>
              <a:rPr lang="en-IN" dirty="0"/>
              <a:t>)</a:t>
            </a:r>
          </a:p>
        </p:txBody>
      </p:sp>
    </p:spTree>
    <p:extLst>
      <p:ext uri="{BB962C8B-B14F-4D97-AF65-F5344CB8AC3E}">
        <p14:creationId xmlns:p14="http://schemas.microsoft.com/office/powerpoint/2010/main" val="31359526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922114"/>
          </a:xfrm>
        </p:spPr>
        <p:txBody>
          <a:bodyPr/>
          <a:lstStyle/>
          <a:p>
            <a:r>
              <a:rPr lang="en-US" dirty="0"/>
              <a:t>A*  heuristic search</a:t>
            </a:r>
          </a:p>
        </p:txBody>
      </p:sp>
      <p:sp>
        <p:nvSpPr>
          <p:cNvPr id="6" name="Content Placeholder 5"/>
          <p:cNvSpPr>
            <a:spLocks noGrp="1"/>
          </p:cNvSpPr>
          <p:nvPr>
            <p:ph idx="1"/>
          </p:nvPr>
        </p:nvSpPr>
        <p:spPr>
          <a:xfrm>
            <a:off x="457200" y="1340768"/>
            <a:ext cx="8229600" cy="4785395"/>
          </a:xfrm>
        </p:spPr>
        <p:txBody>
          <a:bodyPr>
            <a:noAutofit/>
          </a:bodyPr>
          <a:lstStyle/>
          <a:p>
            <a:pPr algn="just"/>
            <a:r>
              <a:rPr lang="en-US" sz="2800" dirty="0"/>
              <a:t>A* is an informed search strategy that </a:t>
            </a:r>
            <a:r>
              <a:rPr lang="en-US" sz="2800" dirty="0">
                <a:solidFill>
                  <a:srgbClr val="FF0000"/>
                </a:solidFill>
              </a:rPr>
              <a:t>uses best-first search technique.</a:t>
            </a:r>
          </a:p>
          <a:p>
            <a:pPr lvl="1" algn="just"/>
            <a:r>
              <a:rPr lang="en-US" sz="2400" dirty="0"/>
              <a:t>It is formulated in terms of </a:t>
            </a:r>
            <a:r>
              <a:rPr lang="en-US" sz="2400" dirty="0">
                <a:solidFill>
                  <a:srgbClr val="FF0000"/>
                </a:solidFill>
              </a:rPr>
              <a:t>weighted graphs</a:t>
            </a:r>
            <a:r>
              <a:rPr lang="en-US" sz="2400" dirty="0"/>
              <a:t>.</a:t>
            </a:r>
          </a:p>
          <a:p>
            <a:pPr lvl="1" algn="just"/>
            <a:r>
              <a:rPr lang="en-US" sz="2400" dirty="0"/>
              <a:t>Starting from a specific starting node of a graph, </a:t>
            </a:r>
            <a:r>
              <a:rPr lang="en-US" sz="2400" dirty="0">
                <a:solidFill>
                  <a:srgbClr val="FF0000"/>
                </a:solidFill>
              </a:rPr>
              <a:t>it aims to find a path to the given goal node having the smallest cost </a:t>
            </a:r>
            <a:r>
              <a:rPr lang="en-US" sz="2400" dirty="0"/>
              <a:t>(least distance travelled, shortest time, etc.). </a:t>
            </a:r>
          </a:p>
          <a:p>
            <a:pPr lvl="1" algn="just"/>
            <a:r>
              <a:rPr lang="en-US" sz="2400" dirty="0"/>
              <a:t>It does this by </a:t>
            </a:r>
            <a:r>
              <a:rPr lang="en-US" sz="2400" dirty="0">
                <a:solidFill>
                  <a:srgbClr val="FF0000"/>
                </a:solidFill>
              </a:rPr>
              <a:t>maintaining a tree of paths originating at the start node </a:t>
            </a:r>
            <a:r>
              <a:rPr lang="en-US" sz="2400" dirty="0"/>
              <a:t>and extending those paths one edge at a time until its termination criterion is satisfied.</a:t>
            </a:r>
          </a:p>
        </p:txBody>
      </p:sp>
    </p:spTree>
    <p:extLst>
      <p:ext uri="{BB962C8B-B14F-4D97-AF65-F5344CB8AC3E}">
        <p14:creationId xmlns:p14="http://schemas.microsoft.com/office/powerpoint/2010/main" val="5351743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922114"/>
          </a:xfrm>
        </p:spPr>
        <p:txBody>
          <a:bodyPr/>
          <a:lstStyle/>
          <a:p>
            <a:r>
              <a:rPr lang="en-US" dirty="0"/>
              <a:t>A*  heuristic search</a:t>
            </a:r>
          </a:p>
        </p:txBody>
      </p:sp>
      <p:sp>
        <p:nvSpPr>
          <p:cNvPr id="6" name="Content Placeholder 5"/>
          <p:cNvSpPr>
            <a:spLocks noGrp="1"/>
          </p:cNvSpPr>
          <p:nvPr>
            <p:ph idx="1"/>
          </p:nvPr>
        </p:nvSpPr>
        <p:spPr>
          <a:xfrm>
            <a:off x="251520" y="1340768"/>
            <a:ext cx="8892480" cy="4785395"/>
          </a:xfrm>
        </p:spPr>
        <p:txBody>
          <a:bodyPr>
            <a:noAutofit/>
          </a:bodyPr>
          <a:lstStyle/>
          <a:p>
            <a:r>
              <a:rPr lang="en-IN" sz="2400" dirty="0"/>
              <a:t>The most common informed search algorithm is </a:t>
            </a:r>
            <a:r>
              <a:rPr lang="en-IN" sz="2400" b="1" dirty="0"/>
              <a:t>A* search </a:t>
            </a:r>
            <a:r>
              <a:rPr lang="en-IN" sz="2400" dirty="0"/>
              <a:t>(pronounced “A-star search”), a best-first search that uses the evaluation function</a:t>
            </a:r>
          </a:p>
          <a:p>
            <a:pPr lvl="1"/>
            <a:r>
              <a:rPr lang="en-IN" sz="3600" i="1" dirty="0">
                <a:solidFill>
                  <a:srgbClr val="FF0000"/>
                </a:solidFill>
              </a:rPr>
              <a:t>f(n) = g(n) + h(n)</a:t>
            </a:r>
          </a:p>
          <a:p>
            <a:pPr lvl="1"/>
            <a:r>
              <a:rPr lang="en-IN" b="1" i="1" dirty="0">
                <a:solidFill>
                  <a:srgbClr val="FF0000"/>
                </a:solidFill>
              </a:rPr>
              <a:t>g(n)</a:t>
            </a:r>
            <a:r>
              <a:rPr lang="en-IN" dirty="0">
                <a:solidFill>
                  <a:srgbClr val="FF0000"/>
                </a:solidFill>
              </a:rPr>
              <a:t> is </a:t>
            </a:r>
            <a:r>
              <a:rPr lang="en-IN" b="1" dirty="0">
                <a:solidFill>
                  <a:srgbClr val="FF0000"/>
                </a:solidFill>
              </a:rPr>
              <a:t>the </a:t>
            </a:r>
            <a:r>
              <a:rPr lang="en-IN" b="1" u="sng" dirty="0">
                <a:solidFill>
                  <a:srgbClr val="FF0000"/>
                </a:solidFill>
              </a:rPr>
              <a:t>path cost </a:t>
            </a:r>
            <a:r>
              <a:rPr lang="en-IN" dirty="0">
                <a:solidFill>
                  <a:srgbClr val="FF0000"/>
                </a:solidFill>
              </a:rPr>
              <a:t>from the </a:t>
            </a:r>
            <a:r>
              <a:rPr lang="en-IN" b="1" u="sng" dirty="0">
                <a:solidFill>
                  <a:srgbClr val="FF0000"/>
                </a:solidFill>
              </a:rPr>
              <a:t>initial state to node n</a:t>
            </a:r>
            <a:endParaRPr lang="en-IN" b="1" u="sng" dirty="0"/>
          </a:p>
          <a:p>
            <a:pPr lvl="1"/>
            <a:r>
              <a:rPr lang="en-IN" b="1" i="1" dirty="0">
                <a:solidFill>
                  <a:srgbClr val="FF0000"/>
                </a:solidFill>
              </a:rPr>
              <a:t>h(n) </a:t>
            </a:r>
            <a:r>
              <a:rPr lang="en-IN" b="1" dirty="0">
                <a:solidFill>
                  <a:srgbClr val="FF0000"/>
                </a:solidFill>
              </a:rPr>
              <a:t>is </a:t>
            </a:r>
            <a:r>
              <a:rPr lang="en-IN" b="1" u="sng" dirty="0">
                <a:solidFill>
                  <a:srgbClr val="FF0000"/>
                </a:solidFill>
              </a:rPr>
              <a:t>the estimated</a:t>
            </a:r>
            <a:r>
              <a:rPr lang="en-IN" b="1" i="1" u="sng" dirty="0">
                <a:solidFill>
                  <a:srgbClr val="FF0000"/>
                </a:solidFill>
              </a:rPr>
              <a:t> </a:t>
            </a:r>
            <a:r>
              <a:rPr lang="en-IN" b="1" u="sng" dirty="0">
                <a:solidFill>
                  <a:srgbClr val="FF0000"/>
                </a:solidFill>
              </a:rPr>
              <a:t>cost </a:t>
            </a:r>
            <a:r>
              <a:rPr lang="en-IN" dirty="0">
                <a:solidFill>
                  <a:srgbClr val="FF0000"/>
                </a:solidFill>
              </a:rPr>
              <a:t>of the </a:t>
            </a:r>
            <a:r>
              <a:rPr lang="en-IN" b="1" u="sng" dirty="0">
                <a:solidFill>
                  <a:srgbClr val="FF0000"/>
                </a:solidFill>
              </a:rPr>
              <a:t>shortest path from n to a goal state</a:t>
            </a:r>
          </a:p>
          <a:p>
            <a:pPr lvl="1"/>
            <a:r>
              <a:rPr lang="en-IN" b="1" dirty="0">
                <a:solidFill>
                  <a:srgbClr val="00B050"/>
                </a:solidFill>
              </a:rPr>
              <a:t>f(n) = </a:t>
            </a:r>
            <a:r>
              <a:rPr lang="en-IN" b="1" dirty="0">
                <a:solidFill>
                  <a:srgbClr val="FF0000"/>
                </a:solidFill>
              </a:rPr>
              <a:t>estimated cost </a:t>
            </a:r>
            <a:r>
              <a:rPr lang="en-IN" b="1" dirty="0">
                <a:solidFill>
                  <a:srgbClr val="00B050"/>
                </a:solidFill>
              </a:rPr>
              <a:t>of the </a:t>
            </a:r>
            <a:r>
              <a:rPr lang="en-IN" b="1" dirty="0">
                <a:solidFill>
                  <a:srgbClr val="FF0000"/>
                </a:solidFill>
              </a:rPr>
              <a:t>best path </a:t>
            </a:r>
            <a:r>
              <a:rPr lang="en-IN" b="1" dirty="0">
                <a:solidFill>
                  <a:srgbClr val="00B050"/>
                </a:solidFill>
              </a:rPr>
              <a:t>that continues from </a:t>
            </a:r>
            <a:r>
              <a:rPr lang="en-IN" b="1" i="1" dirty="0">
                <a:solidFill>
                  <a:srgbClr val="FF0000"/>
                </a:solidFill>
              </a:rPr>
              <a:t>n</a:t>
            </a:r>
            <a:r>
              <a:rPr lang="en-IN" b="1" dirty="0">
                <a:solidFill>
                  <a:srgbClr val="00B050"/>
                </a:solidFill>
              </a:rPr>
              <a:t> to </a:t>
            </a:r>
            <a:r>
              <a:rPr lang="en-IN" b="1" i="1" dirty="0">
                <a:solidFill>
                  <a:srgbClr val="FF0000"/>
                </a:solidFill>
              </a:rPr>
              <a:t>a goal</a:t>
            </a:r>
            <a:r>
              <a:rPr lang="en-IN" b="1" i="1" dirty="0">
                <a:solidFill>
                  <a:srgbClr val="00B050"/>
                </a:solidFill>
              </a:rPr>
              <a:t>.</a:t>
            </a:r>
          </a:p>
          <a:p>
            <a:pPr lvl="1"/>
            <a:endParaRPr lang="en-IN" sz="2000" dirty="0"/>
          </a:p>
        </p:txBody>
      </p:sp>
    </p:spTree>
    <p:extLst>
      <p:ext uri="{BB962C8B-B14F-4D97-AF65-F5344CB8AC3E}">
        <p14:creationId xmlns:p14="http://schemas.microsoft.com/office/powerpoint/2010/main" val="34801947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922114"/>
          </a:xfrm>
        </p:spPr>
        <p:txBody>
          <a:bodyPr/>
          <a:lstStyle/>
          <a:p>
            <a:r>
              <a:rPr lang="en-US" dirty="0"/>
              <a:t>A*  heuristic search</a:t>
            </a:r>
          </a:p>
        </p:txBody>
      </p:sp>
      <p:sp>
        <p:nvSpPr>
          <p:cNvPr id="6" name="Content Placeholder 5"/>
          <p:cNvSpPr>
            <a:spLocks noGrp="1"/>
          </p:cNvSpPr>
          <p:nvPr>
            <p:ph idx="1"/>
          </p:nvPr>
        </p:nvSpPr>
        <p:spPr>
          <a:xfrm>
            <a:off x="457200" y="1052736"/>
            <a:ext cx="8507288" cy="5530626"/>
          </a:xfrm>
        </p:spPr>
        <p:txBody>
          <a:bodyPr>
            <a:noAutofit/>
          </a:bodyPr>
          <a:lstStyle/>
          <a:p>
            <a:pPr algn="just"/>
            <a:r>
              <a:rPr lang="en-US" sz="2400" dirty="0"/>
              <a:t>At each iteration, A* needs to determine which of its paths to extend. </a:t>
            </a:r>
          </a:p>
          <a:p>
            <a:pPr lvl="1" algn="just"/>
            <a:r>
              <a:rPr lang="en-US" sz="2000" dirty="0"/>
              <a:t>It does so based on the </a:t>
            </a:r>
            <a:r>
              <a:rPr lang="en-US" sz="2000" dirty="0">
                <a:solidFill>
                  <a:srgbClr val="FF0000"/>
                </a:solidFill>
              </a:rPr>
              <a:t>cost of the path and an estimate of the cost required to extend the path all the way to the goal. </a:t>
            </a:r>
          </a:p>
          <a:p>
            <a:pPr lvl="1" algn="just"/>
            <a:r>
              <a:rPr lang="en-US" sz="2000" dirty="0"/>
              <a:t>Specifically, </a:t>
            </a:r>
            <a:r>
              <a:rPr lang="en-US" sz="2000" b="1" i="1" dirty="0">
                <a:solidFill>
                  <a:srgbClr val="FF0000"/>
                </a:solidFill>
              </a:rPr>
              <a:t>A* selects the path </a:t>
            </a:r>
            <a:r>
              <a:rPr lang="en-US" sz="2000" b="1" i="1" u="sng" dirty="0">
                <a:solidFill>
                  <a:srgbClr val="FF0000"/>
                </a:solidFill>
              </a:rPr>
              <a:t>that minimizes  f(n)=g(n)+h(n)</a:t>
            </a:r>
          </a:p>
          <a:p>
            <a:pPr lvl="2" algn="just"/>
            <a:r>
              <a:rPr lang="en-US" sz="1800" dirty="0"/>
              <a:t>where n is the next node on the path</a:t>
            </a:r>
          </a:p>
          <a:p>
            <a:pPr lvl="2" algn="just"/>
            <a:r>
              <a:rPr lang="en-US" sz="1800" dirty="0"/>
              <a:t>g(n) is the cost of the path from the start node to n</a:t>
            </a:r>
          </a:p>
          <a:p>
            <a:pPr lvl="2" algn="just"/>
            <a:r>
              <a:rPr lang="en-US" sz="1800" dirty="0"/>
              <a:t>h(n) is a heuristic function that estimates the cost of the cheapest path from n to the goal. </a:t>
            </a:r>
          </a:p>
          <a:p>
            <a:pPr marL="342900" lvl="2" indent="-342900" algn="just"/>
            <a:endParaRPr lang="en-US" dirty="0"/>
          </a:p>
          <a:p>
            <a:pPr marL="342900" lvl="2" indent="-342900" algn="just"/>
            <a:endParaRPr lang="en-US" dirty="0"/>
          </a:p>
          <a:p>
            <a:pPr marL="342900" lvl="2" indent="-342900" algn="just"/>
            <a:endParaRPr lang="en-US" dirty="0"/>
          </a:p>
          <a:p>
            <a:pPr marL="342900" lvl="2" indent="-342900" algn="just"/>
            <a:r>
              <a:rPr lang="en-US" dirty="0"/>
              <a:t>A* terminates when the path it chooses to extend is a path from start to goal or if there are no paths eligible to be extended.</a:t>
            </a:r>
          </a:p>
          <a:p>
            <a:pPr marL="0" indent="0" algn="just">
              <a:buNone/>
            </a:pPr>
            <a:endParaRPr lang="en-US" sz="18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9792" y="4077072"/>
            <a:ext cx="4968552" cy="15841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733536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heuristic search</a:t>
            </a:r>
          </a:p>
        </p:txBody>
      </p:sp>
      <p:sp>
        <p:nvSpPr>
          <p:cNvPr id="3" name="Content Placeholder 2"/>
          <p:cNvSpPr>
            <a:spLocks noGrp="1"/>
          </p:cNvSpPr>
          <p:nvPr>
            <p:ph idx="1"/>
          </p:nvPr>
        </p:nvSpPr>
        <p:spPr/>
        <p:txBody>
          <a:bodyPr>
            <a:normAutofit/>
          </a:bodyPr>
          <a:lstStyle/>
          <a:p>
            <a:pPr algn="just"/>
            <a:r>
              <a:rPr lang="en-US" sz="2400" dirty="0"/>
              <a:t>Example: S is the starting node and G is the goal node.</a:t>
            </a:r>
          </a:p>
          <a:p>
            <a:pPr algn="just"/>
            <a:endParaRPr lang="en-US" sz="2400" dirty="0"/>
          </a:p>
          <a:p>
            <a:pPr algn="just"/>
            <a:endParaRPr lang="en-US" sz="2400" dirty="0"/>
          </a:p>
          <a:p>
            <a:pPr algn="just"/>
            <a:endParaRPr lang="en-US" sz="2400"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5465" y="2376046"/>
            <a:ext cx="4984768" cy="3933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88144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heuristic search</a:t>
            </a:r>
          </a:p>
        </p:txBody>
      </p:sp>
      <p:sp>
        <p:nvSpPr>
          <p:cNvPr id="3" name="Content Placeholder 2"/>
          <p:cNvSpPr>
            <a:spLocks noGrp="1"/>
          </p:cNvSpPr>
          <p:nvPr>
            <p:ph idx="1"/>
          </p:nvPr>
        </p:nvSpPr>
        <p:spPr/>
        <p:txBody>
          <a:bodyPr>
            <a:normAutofit fontScale="85000" lnSpcReduction="10000"/>
          </a:bodyPr>
          <a:lstStyle/>
          <a:p>
            <a:pPr marL="0" indent="0">
              <a:buNone/>
            </a:pPr>
            <a:r>
              <a:rPr lang="en-US" b="1" dirty="0">
                <a:solidFill>
                  <a:srgbClr val="FF0000"/>
                </a:solidFill>
              </a:rPr>
              <a:t>Example continued:</a:t>
            </a:r>
          </a:p>
          <a:p>
            <a:r>
              <a:rPr lang="en-US" b="1" dirty="0"/>
              <a:t>Initialization:</a:t>
            </a:r>
            <a:r>
              <a:rPr lang="en-US" dirty="0"/>
              <a:t> {(S, 5)}</a:t>
            </a:r>
          </a:p>
          <a:p>
            <a:r>
              <a:rPr lang="en-US" b="1" dirty="0"/>
              <a:t>Iteration1:</a:t>
            </a:r>
            <a:r>
              <a:rPr lang="en-US" dirty="0"/>
              <a:t> {(S--&gt; A, 4), (S--&gt;G, 10)}</a:t>
            </a:r>
          </a:p>
          <a:p>
            <a:r>
              <a:rPr lang="en-US" b="1" dirty="0"/>
              <a:t>Iteration2:</a:t>
            </a:r>
            <a:r>
              <a:rPr lang="en-US" dirty="0"/>
              <a:t> {(S--&gt; A--&gt;C, 4), (S--&gt; A--&gt;B, 7), (S--&gt;G, 10)}</a:t>
            </a:r>
          </a:p>
          <a:p>
            <a:r>
              <a:rPr lang="en-US" b="1" dirty="0"/>
              <a:t>Iteration3:</a:t>
            </a:r>
            <a:r>
              <a:rPr lang="en-US" dirty="0"/>
              <a:t> {(S--&gt; A--&gt;C---&gt;G, 6), (S--&gt; A--&gt;C---&gt;D, 11), (S--&gt; A--&gt;B, 7), (S--&gt;G, 10)}</a:t>
            </a:r>
          </a:p>
          <a:p>
            <a:r>
              <a:rPr lang="en-US" b="1" dirty="0"/>
              <a:t>Iteration 4</a:t>
            </a:r>
            <a:r>
              <a:rPr lang="en-US" dirty="0"/>
              <a:t> will give the final result, as </a:t>
            </a:r>
          </a:p>
          <a:p>
            <a:pPr marL="0" indent="0">
              <a:buNone/>
            </a:pPr>
            <a:r>
              <a:rPr lang="en-US" b="1" dirty="0"/>
              <a:t>               S---&gt;A---&gt;C---&gt;G</a:t>
            </a:r>
            <a:r>
              <a:rPr lang="en-US" dirty="0"/>
              <a:t> </a:t>
            </a:r>
          </a:p>
          <a:p>
            <a:pPr marL="0" indent="0">
              <a:buNone/>
            </a:pPr>
            <a:r>
              <a:rPr lang="en-US" dirty="0"/>
              <a:t>           </a:t>
            </a:r>
          </a:p>
          <a:p>
            <a:pPr marL="0" indent="0">
              <a:buNone/>
            </a:pPr>
            <a:r>
              <a:rPr lang="en-US" dirty="0"/>
              <a:t>         provides the optimal path with cost 6. </a:t>
            </a:r>
          </a:p>
          <a:p>
            <a:endParaRPr lang="en-US" dirty="0"/>
          </a:p>
        </p:txBody>
      </p:sp>
    </p:spTree>
    <p:extLst>
      <p:ext uri="{BB962C8B-B14F-4D97-AF65-F5344CB8AC3E}">
        <p14:creationId xmlns:p14="http://schemas.microsoft.com/office/powerpoint/2010/main" val="1475215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heuristic search</a:t>
            </a:r>
          </a:p>
        </p:txBody>
      </p:sp>
      <p:sp>
        <p:nvSpPr>
          <p:cNvPr id="3" name="Content Placeholder 2"/>
          <p:cNvSpPr>
            <a:spLocks noGrp="1"/>
          </p:cNvSpPr>
          <p:nvPr>
            <p:ph idx="1"/>
          </p:nvPr>
        </p:nvSpPr>
        <p:spPr/>
        <p:txBody>
          <a:bodyPr/>
          <a:lstStyle/>
          <a:p>
            <a:r>
              <a:rPr lang="en-US" b="1" dirty="0">
                <a:solidFill>
                  <a:srgbClr val="FF0000"/>
                </a:solidFill>
              </a:rPr>
              <a:t>Example continued:</a:t>
            </a:r>
            <a:endParaRPr lang="en-US" dirty="0"/>
          </a:p>
          <a:p>
            <a:endParaRPr lang="en-US" dirty="0"/>
          </a:p>
          <a:p>
            <a:endParaRPr lang="en-US" dirty="0"/>
          </a:p>
          <a:p>
            <a:endParaRPr lang="en-US" dirty="0"/>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68" y="2212902"/>
            <a:ext cx="4552719" cy="3592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7060" y="2498179"/>
            <a:ext cx="3861819" cy="3091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814736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EF10B-B871-FDEE-AB81-232B736EB00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BB3954D-6021-3DF4-F684-EDA46505937A}"/>
              </a:ext>
            </a:extLst>
          </p:cNvPr>
          <p:cNvSpPr>
            <a:spLocks noGrp="1"/>
          </p:cNvSpPr>
          <p:nvPr>
            <p:ph idx="1"/>
          </p:nvPr>
        </p:nvSpPr>
        <p:spPr/>
        <p:txBody>
          <a:bodyPr/>
          <a:lstStyle/>
          <a:p>
            <a:pPr marL="0" indent="0" algn="l">
              <a:buNone/>
            </a:pPr>
            <a:r>
              <a:rPr lang="en-US" b="1" i="0" dirty="0">
                <a:effectLst/>
                <a:latin typeface="Arimo"/>
              </a:rPr>
              <a:t>It is important to note that-</a:t>
            </a:r>
          </a:p>
          <a:p>
            <a:pPr algn="l">
              <a:buFont typeface="Arial" panose="020B0604020202020204" pitchFamily="34" charset="0"/>
              <a:buChar char="•"/>
            </a:pPr>
            <a:r>
              <a:rPr lang="en-US" b="1" i="0" dirty="0">
                <a:effectLst/>
                <a:latin typeface="Arimo"/>
              </a:rPr>
              <a:t>A* Algorithm is one of the best path finding algorithms.</a:t>
            </a:r>
          </a:p>
          <a:p>
            <a:pPr algn="l">
              <a:buFont typeface="Arial" panose="020B0604020202020204" pitchFamily="34" charset="0"/>
              <a:buChar char="•"/>
            </a:pPr>
            <a:r>
              <a:rPr lang="en-US" b="1" i="0" dirty="0">
                <a:effectLst/>
                <a:latin typeface="Arimo"/>
              </a:rPr>
              <a:t>But it does not produce the shortest path always.</a:t>
            </a:r>
          </a:p>
          <a:p>
            <a:pPr algn="l">
              <a:buFont typeface="Arial" panose="020B0604020202020204" pitchFamily="34" charset="0"/>
              <a:buChar char="•"/>
            </a:pPr>
            <a:r>
              <a:rPr lang="en-US" b="1" i="0" dirty="0">
                <a:effectLst/>
                <a:latin typeface="Arimo"/>
              </a:rPr>
              <a:t>This is because it heavily depends on heuristics.</a:t>
            </a:r>
          </a:p>
          <a:p>
            <a:pPr algn="l"/>
            <a:r>
              <a:rPr lang="en-US" b="0" i="0" dirty="0">
                <a:solidFill>
                  <a:srgbClr val="C9C2B7"/>
                </a:solidFill>
                <a:effectLst/>
                <a:latin typeface="Arimo"/>
              </a:rPr>
              <a:t> </a:t>
            </a:r>
          </a:p>
          <a:p>
            <a:endParaRPr lang="en-IN" dirty="0"/>
          </a:p>
        </p:txBody>
      </p:sp>
    </p:spTree>
    <p:extLst>
      <p:ext uri="{BB962C8B-B14F-4D97-AF65-F5344CB8AC3E}">
        <p14:creationId xmlns:p14="http://schemas.microsoft.com/office/powerpoint/2010/main" val="8871857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A* search Example</a:t>
            </a:r>
            <a:br>
              <a:rPr lang="en-IN" dirty="0"/>
            </a:br>
            <a:endParaRPr lang="en-IN" dirty="0"/>
          </a:p>
        </p:txBody>
      </p:sp>
      <p:sp>
        <p:nvSpPr>
          <p:cNvPr id="3" name="Content Placeholder 2"/>
          <p:cNvSpPr>
            <a:spLocks noGrp="1"/>
          </p:cNvSpPr>
          <p:nvPr>
            <p:ph idx="1"/>
          </p:nvPr>
        </p:nvSpPr>
        <p:spPr/>
        <p:txBody>
          <a:bodyPr>
            <a:normAutofit fontScale="77500" lnSpcReduction="20000"/>
          </a:bodyPr>
          <a:lstStyle/>
          <a:p>
            <a:r>
              <a:rPr lang="en-IN" dirty="0"/>
              <a:t>Consider the progress of an A* search with the goal of reaching Bucharest.</a:t>
            </a:r>
          </a:p>
          <a:p>
            <a:r>
              <a:rPr lang="en-IN" dirty="0"/>
              <a:t>The values of are computed from the action costs .</a:t>
            </a:r>
          </a:p>
          <a:p>
            <a:pPr algn="just"/>
            <a:r>
              <a:rPr lang="en-IN" dirty="0">
                <a:solidFill>
                  <a:srgbClr val="FF0000"/>
                </a:solidFill>
              </a:rPr>
              <a:t>Notice that Bucharest first appears on the frontier at step (e), but it is not selected for expansion (and thus not detected as a solution) </a:t>
            </a:r>
            <a:r>
              <a:rPr lang="en-IN" dirty="0"/>
              <a:t>because as it is not the lowest-cost node on the frontier—that would be Pitesti, at Another way to say this is that there </a:t>
            </a:r>
            <a:r>
              <a:rPr lang="en-IN" i="1" dirty="0"/>
              <a:t>might </a:t>
            </a:r>
            <a:r>
              <a:rPr lang="en-IN" dirty="0"/>
              <a:t>be a solution through Pitesti whose cost is as low as 417, so the algorithm will not settle for a solution that costs 450. </a:t>
            </a:r>
          </a:p>
          <a:p>
            <a:r>
              <a:rPr lang="en-IN" dirty="0"/>
              <a:t>At step (f), a different path to Bucharest is now the lowest-cost node, at so it is selected and detected as the optimal solution.</a:t>
            </a:r>
          </a:p>
        </p:txBody>
      </p:sp>
    </p:spTree>
    <p:extLst>
      <p:ext uri="{BB962C8B-B14F-4D97-AF65-F5344CB8AC3E}">
        <p14:creationId xmlns:p14="http://schemas.microsoft.com/office/powerpoint/2010/main" val="18259024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fontScale="90000"/>
          </a:bodyPr>
          <a:lstStyle/>
          <a:p>
            <a:r>
              <a:rPr lang="en-IN" dirty="0"/>
              <a:t>A* search Example</a:t>
            </a:r>
            <a:br>
              <a:rPr lang="en-IN" dirty="0"/>
            </a:br>
            <a:endParaRPr lang="en-IN"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03648" y="548681"/>
            <a:ext cx="6048672" cy="55446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655264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A* search Example</a:t>
            </a:r>
            <a:br>
              <a:rPr lang="en-IN" dirty="0"/>
            </a:br>
            <a:endParaRPr lang="en-IN" dirty="0"/>
          </a:p>
        </p:txBody>
      </p:sp>
      <p:sp>
        <p:nvSpPr>
          <p:cNvPr id="3" name="Content Placeholder 2"/>
          <p:cNvSpPr>
            <a:spLocks noGrp="1"/>
          </p:cNvSpPr>
          <p:nvPr>
            <p:ph idx="1"/>
          </p:nvPr>
        </p:nvSpPr>
        <p:spPr/>
        <p:txBody>
          <a:bodyPr/>
          <a:lstStyle/>
          <a:p>
            <a:r>
              <a:rPr lang="en-IN" dirty="0"/>
              <a:t>Example</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7" y="2338388"/>
            <a:ext cx="5396632" cy="29194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206381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dirty="0"/>
              <a:t>A* Search properties</a:t>
            </a:r>
          </a:p>
        </p:txBody>
      </p:sp>
      <p:sp>
        <p:nvSpPr>
          <p:cNvPr id="3" name="Content Placeholder 2"/>
          <p:cNvSpPr>
            <a:spLocks noGrp="1"/>
          </p:cNvSpPr>
          <p:nvPr>
            <p:ph idx="1"/>
          </p:nvPr>
        </p:nvSpPr>
        <p:spPr>
          <a:xfrm>
            <a:off x="457200" y="908720"/>
            <a:ext cx="8229600" cy="5770190"/>
          </a:xfrm>
        </p:spPr>
        <p:txBody>
          <a:bodyPr>
            <a:normAutofit/>
          </a:bodyPr>
          <a:lstStyle/>
          <a:p>
            <a:r>
              <a:rPr lang="en-IN" sz="1800" dirty="0">
                <a:solidFill>
                  <a:srgbClr val="FF0000"/>
                </a:solidFill>
              </a:rPr>
              <a:t>A* search is complete. </a:t>
            </a:r>
          </a:p>
          <a:p>
            <a:r>
              <a:rPr lang="en-IN" sz="1800" dirty="0">
                <a:solidFill>
                  <a:srgbClr val="FF0000"/>
                </a:solidFill>
              </a:rPr>
              <a:t>Whether A* is cost-optimal </a:t>
            </a:r>
            <a:r>
              <a:rPr lang="en-IN" sz="1800" dirty="0"/>
              <a:t>depends on certain properties of the heuristic. </a:t>
            </a:r>
          </a:p>
          <a:p>
            <a:r>
              <a:rPr lang="en-IN" sz="1800" dirty="0">
                <a:solidFill>
                  <a:srgbClr val="FF0000"/>
                </a:solidFill>
              </a:rPr>
              <a:t>A key property is </a:t>
            </a:r>
            <a:r>
              <a:rPr lang="en-IN" sz="1800" b="1" dirty="0">
                <a:solidFill>
                  <a:srgbClr val="FF0000"/>
                </a:solidFill>
              </a:rPr>
              <a:t>admissibility</a:t>
            </a:r>
            <a:r>
              <a:rPr lang="en-IN" sz="1800" dirty="0"/>
              <a:t>: an </a:t>
            </a:r>
            <a:r>
              <a:rPr lang="en-IN" sz="1800" b="1" dirty="0"/>
              <a:t>admissible heuristic </a:t>
            </a:r>
            <a:r>
              <a:rPr lang="en-IN" sz="1800" dirty="0"/>
              <a:t>is one that </a:t>
            </a:r>
            <a:r>
              <a:rPr lang="en-IN" sz="1800" i="1" dirty="0"/>
              <a:t>never overestimates </a:t>
            </a:r>
            <a:r>
              <a:rPr lang="en-IN" sz="1800" dirty="0"/>
              <a:t>the cost to reach a goal. (An admissible heuristic is therefore </a:t>
            </a:r>
            <a:r>
              <a:rPr lang="en-IN" sz="1800" i="1" dirty="0"/>
              <a:t>optimistic</a:t>
            </a:r>
            <a:r>
              <a:rPr lang="en-IN" sz="1800" dirty="0"/>
              <a:t>.) </a:t>
            </a:r>
          </a:p>
          <a:p>
            <a:r>
              <a:rPr lang="en-IN" sz="1800" dirty="0"/>
              <a:t>With an admissible heuristic, A* is cost-optimal, which we can show with a proof by contradiction. </a:t>
            </a:r>
          </a:p>
          <a:p>
            <a:r>
              <a:rPr lang="en-IN" sz="1800" dirty="0"/>
              <a:t>Suppose the optimal path has cost C</a:t>
            </a:r>
            <a:r>
              <a:rPr lang="en-IN" sz="1800" baseline="30000" dirty="0"/>
              <a:t>∗</a:t>
            </a:r>
            <a:r>
              <a:rPr lang="en-IN" sz="1800" dirty="0"/>
              <a:t> but the algorithm returns a path with Cost C &gt; C</a:t>
            </a:r>
            <a:r>
              <a:rPr lang="en-IN" sz="1800" baseline="30000" dirty="0"/>
              <a:t>∗</a:t>
            </a:r>
            <a:r>
              <a:rPr lang="en-IN" sz="1800" dirty="0"/>
              <a:t>.</a:t>
            </a:r>
          </a:p>
          <a:p>
            <a:pPr lvl="1" algn="just"/>
            <a:r>
              <a:rPr lang="en-IN" sz="1400" dirty="0"/>
              <a:t>Then there must be some node n which is on the optimal path and is unexpanded (because if all the nodes on the optimal path had been expanded, then we would have returned that optimal solution). </a:t>
            </a:r>
          </a:p>
          <a:p>
            <a:pPr lvl="1" algn="just"/>
            <a:r>
              <a:rPr lang="en-IN" sz="1400" dirty="0"/>
              <a:t>So then, using the notation to g</a:t>
            </a:r>
            <a:r>
              <a:rPr lang="en-IN" sz="1400" baseline="30000" dirty="0"/>
              <a:t>∗</a:t>
            </a:r>
            <a:r>
              <a:rPr lang="en-IN" sz="1400" dirty="0"/>
              <a:t>(n) mean the cost of the optimal path from the start to n and h</a:t>
            </a:r>
            <a:r>
              <a:rPr lang="en-IN" sz="1400" baseline="30000" dirty="0"/>
              <a:t>∗</a:t>
            </a:r>
            <a:r>
              <a:rPr lang="en-IN" sz="1400" dirty="0"/>
              <a:t>(n) to mean the cost of the optimal path from n to the nearest goal, we have:</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4581128"/>
            <a:ext cx="6984776" cy="22417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408111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lstStyle/>
          <a:p>
            <a:r>
              <a:rPr lang="en-IN" sz="4000" dirty="0"/>
              <a:t>A* Search properties</a:t>
            </a:r>
          </a:p>
        </p:txBody>
      </p:sp>
      <p:sp>
        <p:nvSpPr>
          <p:cNvPr id="3" name="Content Placeholder 2"/>
          <p:cNvSpPr>
            <a:spLocks noGrp="1"/>
          </p:cNvSpPr>
          <p:nvPr>
            <p:ph idx="1"/>
          </p:nvPr>
        </p:nvSpPr>
        <p:spPr>
          <a:xfrm>
            <a:off x="107504" y="980728"/>
            <a:ext cx="8579296" cy="5760640"/>
          </a:xfrm>
        </p:spPr>
        <p:txBody>
          <a:bodyPr>
            <a:normAutofit/>
          </a:bodyPr>
          <a:lstStyle/>
          <a:p>
            <a:r>
              <a:rPr lang="en-IN" sz="1600" dirty="0"/>
              <a:t>i.e.</a:t>
            </a:r>
          </a:p>
          <a:p>
            <a:pPr marL="400050" lvl="1" indent="0">
              <a:buNone/>
            </a:pPr>
            <a:r>
              <a:rPr lang="en-IN" sz="1600" dirty="0"/>
              <a:t>f (n) &gt; C</a:t>
            </a:r>
            <a:r>
              <a:rPr lang="en-IN" sz="1600" baseline="30000" dirty="0"/>
              <a:t>∗</a:t>
            </a:r>
            <a:r>
              <a:rPr lang="en-IN" sz="1600" dirty="0"/>
              <a:t> (otherwise n would have been expanded)</a:t>
            </a:r>
          </a:p>
          <a:p>
            <a:pPr marL="400050" lvl="1" indent="0">
              <a:buNone/>
            </a:pPr>
            <a:r>
              <a:rPr lang="pt-BR" sz="1600" dirty="0"/>
              <a:t>f (n) = g (n) + h (n) (by definition)</a:t>
            </a:r>
          </a:p>
          <a:p>
            <a:pPr marL="400050" lvl="1" indent="0">
              <a:buNone/>
            </a:pPr>
            <a:r>
              <a:rPr lang="en-IN" sz="1600" dirty="0"/>
              <a:t>f (n) = g</a:t>
            </a:r>
            <a:r>
              <a:rPr lang="en-IN" sz="1600" baseline="30000" dirty="0"/>
              <a:t>∗</a:t>
            </a:r>
            <a:r>
              <a:rPr lang="en-IN" sz="1600" dirty="0"/>
              <a:t> (n) + h (n) (because n is on an optimal path)</a:t>
            </a:r>
          </a:p>
          <a:p>
            <a:pPr marL="400050" lvl="1" indent="0">
              <a:buNone/>
            </a:pPr>
            <a:r>
              <a:rPr lang="pt-BR" sz="1600" dirty="0"/>
              <a:t>f (n) ≤ g</a:t>
            </a:r>
            <a:r>
              <a:rPr lang="pt-BR" sz="1600" baseline="30000" dirty="0"/>
              <a:t>∗</a:t>
            </a:r>
            <a:r>
              <a:rPr lang="pt-BR" sz="1600" dirty="0"/>
              <a:t> (n) + h</a:t>
            </a:r>
            <a:r>
              <a:rPr lang="pt-BR" sz="1600" baseline="30000" dirty="0"/>
              <a:t>∗</a:t>
            </a:r>
            <a:r>
              <a:rPr lang="pt-BR" sz="1600" dirty="0"/>
              <a:t> (n) (because of admissibility, h (n) ≤ h</a:t>
            </a:r>
            <a:r>
              <a:rPr lang="pt-BR" sz="1600" baseline="30000" dirty="0"/>
              <a:t>∗</a:t>
            </a:r>
            <a:r>
              <a:rPr lang="pt-BR" sz="1600" dirty="0"/>
              <a:t> (n))</a:t>
            </a:r>
          </a:p>
          <a:p>
            <a:pPr marL="400050" lvl="1" indent="0">
              <a:buNone/>
            </a:pPr>
            <a:r>
              <a:rPr lang="pt-BR" sz="1600" dirty="0"/>
              <a:t>f (n) ≤ C</a:t>
            </a:r>
            <a:r>
              <a:rPr lang="pt-BR" sz="1600" baseline="30000" dirty="0"/>
              <a:t>∗</a:t>
            </a:r>
            <a:r>
              <a:rPr lang="pt-BR" sz="1600" dirty="0"/>
              <a:t> (by definition,C</a:t>
            </a:r>
            <a:r>
              <a:rPr lang="pt-BR" sz="1600" baseline="30000" dirty="0"/>
              <a:t>∗</a:t>
            </a:r>
            <a:r>
              <a:rPr lang="pt-BR" sz="1600" dirty="0"/>
              <a:t> = g</a:t>
            </a:r>
            <a:r>
              <a:rPr lang="pt-BR" sz="1600" baseline="30000" dirty="0"/>
              <a:t>∗ </a:t>
            </a:r>
            <a:r>
              <a:rPr lang="pt-BR" sz="1600" dirty="0"/>
              <a:t>(n) + h</a:t>
            </a:r>
            <a:r>
              <a:rPr lang="pt-BR" sz="1600" baseline="30000" dirty="0"/>
              <a:t>∗</a:t>
            </a:r>
            <a:r>
              <a:rPr lang="pt-BR" sz="1600" dirty="0"/>
              <a:t> (n))</a:t>
            </a:r>
          </a:p>
          <a:p>
            <a:r>
              <a:rPr lang="en-IN" sz="1600" dirty="0">
                <a:solidFill>
                  <a:srgbClr val="FF0000"/>
                </a:solidFill>
              </a:rPr>
              <a:t>The first and last lines form a contradiction,</a:t>
            </a:r>
            <a:r>
              <a:rPr lang="en-IN" sz="1600" dirty="0"/>
              <a:t> so the supposition that the algorithm could return a suboptimal path must be wrong—it must be that A* returns only cost-optimal paths.</a:t>
            </a:r>
          </a:p>
          <a:p>
            <a:r>
              <a:rPr lang="en-IN" sz="1600" dirty="0">
                <a:solidFill>
                  <a:srgbClr val="FF0000"/>
                </a:solidFill>
              </a:rPr>
              <a:t>A slightly stronger property is called </a:t>
            </a:r>
            <a:r>
              <a:rPr lang="en-IN" sz="1600" b="1" dirty="0">
                <a:solidFill>
                  <a:srgbClr val="FF0000"/>
                </a:solidFill>
              </a:rPr>
              <a:t>Consistency(Monotonicity)</a:t>
            </a:r>
            <a:r>
              <a:rPr lang="en-IN" sz="1600" dirty="0">
                <a:solidFill>
                  <a:srgbClr val="FF0000"/>
                </a:solidFill>
              </a:rPr>
              <a:t>. </a:t>
            </a:r>
            <a:r>
              <a:rPr lang="en-IN" sz="1600" dirty="0"/>
              <a:t>A heuristic is consistent if, for every node n and every successor n’ of  n generated by an action a we have:</a:t>
            </a:r>
          </a:p>
          <a:p>
            <a:pPr lvl="1"/>
            <a:r>
              <a:rPr lang="pt-BR" sz="1600" dirty="0"/>
              <a:t>h(n) ≤ c(n, a, n′) + h(n′).</a:t>
            </a:r>
          </a:p>
          <a:p>
            <a:pPr lvl="1"/>
            <a:r>
              <a:rPr lang="en-IN" sz="1600" dirty="0"/>
              <a:t>This is a form of the </a:t>
            </a:r>
            <a:r>
              <a:rPr lang="en-IN" sz="1600" b="1" dirty="0"/>
              <a:t>triangle inequality</a:t>
            </a:r>
            <a:r>
              <a:rPr lang="en-IN" sz="1600" dirty="0"/>
              <a:t>, which stipulates that a side of a triangle cannot be longer than the sum of the other two sides  An example of a consistent heuristic is the straight-line distance that we used in getting to Bucharest</a:t>
            </a:r>
            <a:r>
              <a:rPr lang="en-IN" sz="1800" dirty="0"/>
              <a:t>.</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5145087"/>
            <a:ext cx="5519911" cy="1438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753050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lstStyle/>
          <a:p>
            <a:r>
              <a:rPr lang="en-IN" dirty="0"/>
              <a:t>A* Search properties</a:t>
            </a:r>
          </a:p>
        </p:txBody>
      </p:sp>
      <p:sp>
        <p:nvSpPr>
          <p:cNvPr id="3" name="Content Placeholder 2"/>
          <p:cNvSpPr>
            <a:spLocks noGrp="1"/>
          </p:cNvSpPr>
          <p:nvPr>
            <p:ph idx="1"/>
          </p:nvPr>
        </p:nvSpPr>
        <p:spPr>
          <a:xfrm>
            <a:off x="457200" y="1412776"/>
            <a:ext cx="8219256" cy="5409607"/>
          </a:xfrm>
        </p:spPr>
        <p:txBody>
          <a:bodyPr>
            <a:normAutofit/>
          </a:bodyPr>
          <a:lstStyle/>
          <a:p>
            <a:r>
              <a:rPr lang="en-IN" sz="2800" dirty="0">
                <a:solidFill>
                  <a:srgbClr val="FF0000"/>
                </a:solidFill>
              </a:rPr>
              <a:t>If </a:t>
            </a:r>
            <a:r>
              <a:rPr lang="en-IN" sz="2800" i="1" dirty="0">
                <a:solidFill>
                  <a:srgbClr val="FF0000"/>
                </a:solidFill>
              </a:rPr>
              <a:t>h(n)</a:t>
            </a:r>
            <a:r>
              <a:rPr lang="en-IN" sz="2800" dirty="0">
                <a:solidFill>
                  <a:srgbClr val="FF0000"/>
                </a:solidFill>
              </a:rPr>
              <a:t> is admissible and consistent(monotonic) then A* is </a:t>
            </a:r>
            <a:r>
              <a:rPr lang="en-IN" sz="2800" b="1" i="1" dirty="0">
                <a:solidFill>
                  <a:srgbClr val="FF0000"/>
                </a:solidFill>
              </a:rPr>
              <a:t>optimal</a:t>
            </a:r>
          </a:p>
          <a:p>
            <a:endParaRPr lang="en-IN" sz="2800"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6850" y="2847741"/>
            <a:ext cx="6210300" cy="3981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503433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 Search properties</a:t>
            </a:r>
          </a:p>
        </p:txBody>
      </p:sp>
      <p:sp>
        <p:nvSpPr>
          <p:cNvPr id="3" name="Content Placeholder 2"/>
          <p:cNvSpPr>
            <a:spLocks noGrp="1"/>
          </p:cNvSpPr>
          <p:nvPr>
            <p:ph idx="1"/>
          </p:nvPr>
        </p:nvSpPr>
        <p:spPr/>
        <p:txBody>
          <a:bodyPr>
            <a:normAutofit lnSpcReduction="10000"/>
          </a:bodyPr>
          <a:lstStyle/>
          <a:p>
            <a:r>
              <a:rPr lang="en-IN" dirty="0">
                <a:solidFill>
                  <a:srgbClr val="FF0000"/>
                </a:solidFill>
              </a:rPr>
              <a:t>With an inadmissible heuristic, A* may or may not be cost-optimal. </a:t>
            </a:r>
          </a:p>
          <a:p>
            <a:pPr lvl="1"/>
            <a:r>
              <a:rPr lang="en-IN" dirty="0"/>
              <a:t>Here are two cases : </a:t>
            </a:r>
          </a:p>
          <a:p>
            <a:pPr marL="914400" lvl="2" indent="0">
              <a:buNone/>
            </a:pPr>
            <a:r>
              <a:rPr lang="en-IN" dirty="0" err="1"/>
              <a:t>i</a:t>
            </a:r>
            <a:r>
              <a:rPr lang="en-IN" dirty="0"/>
              <a:t>)If there is even one cost-optimal path on which (h(n) is admissible for all nodes on the path, then that path will be found, no matter what the heuristic says for states off the path. </a:t>
            </a:r>
          </a:p>
          <a:p>
            <a:pPr marL="914400" lvl="2" indent="0" algn="just">
              <a:buNone/>
            </a:pPr>
            <a:r>
              <a:rPr lang="en-IN" dirty="0"/>
              <a:t>ii) If the optimal solution has cost </a:t>
            </a:r>
            <a:r>
              <a:rPr lang="en-IN" dirty="0">
                <a:solidFill>
                  <a:srgbClr val="FF0000"/>
                </a:solidFill>
              </a:rPr>
              <a:t>C* </a:t>
            </a:r>
            <a:r>
              <a:rPr lang="en-IN" dirty="0"/>
              <a:t>and the </a:t>
            </a:r>
            <a:r>
              <a:rPr lang="en-IN" dirty="0">
                <a:solidFill>
                  <a:srgbClr val="FF0000"/>
                </a:solidFill>
              </a:rPr>
              <a:t>second-best has cost C</a:t>
            </a:r>
            <a:r>
              <a:rPr lang="en-IN" baseline="-25000" dirty="0">
                <a:solidFill>
                  <a:srgbClr val="FF0000"/>
                </a:solidFill>
              </a:rPr>
              <a:t>2</a:t>
            </a:r>
            <a:r>
              <a:rPr lang="en-IN" baseline="-25000" dirty="0"/>
              <a:t> </a:t>
            </a:r>
            <a:r>
              <a:rPr lang="en-IN" dirty="0"/>
              <a:t>and if h(n) overestimates some costs, but never by more than </a:t>
            </a:r>
            <a:r>
              <a:rPr lang="en-IN" dirty="0">
                <a:solidFill>
                  <a:srgbClr val="FF0000"/>
                </a:solidFill>
              </a:rPr>
              <a:t>C</a:t>
            </a:r>
            <a:r>
              <a:rPr lang="en-IN" baseline="-25000" dirty="0">
                <a:solidFill>
                  <a:srgbClr val="FF0000"/>
                </a:solidFill>
              </a:rPr>
              <a:t>2 </a:t>
            </a:r>
            <a:r>
              <a:rPr lang="en-IN" dirty="0">
                <a:solidFill>
                  <a:srgbClr val="FF0000"/>
                </a:solidFill>
              </a:rPr>
              <a:t>- C* </a:t>
            </a:r>
            <a:r>
              <a:rPr lang="en-IN" dirty="0"/>
              <a:t>then A* is guaranteed to return cost-optimal solutions.</a:t>
            </a:r>
          </a:p>
        </p:txBody>
      </p:sp>
    </p:spTree>
    <p:extLst>
      <p:ext uri="{BB962C8B-B14F-4D97-AF65-F5344CB8AC3E}">
        <p14:creationId xmlns:p14="http://schemas.microsoft.com/office/powerpoint/2010/main" val="13911686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Search contours</a:t>
            </a:r>
          </a:p>
        </p:txBody>
      </p:sp>
      <p:sp>
        <p:nvSpPr>
          <p:cNvPr id="3" name="Content Placeholder 2"/>
          <p:cNvSpPr>
            <a:spLocks noGrp="1"/>
          </p:cNvSpPr>
          <p:nvPr>
            <p:ph sz="half" idx="1"/>
          </p:nvPr>
        </p:nvSpPr>
        <p:spPr>
          <a:xfrm>
            <a:off x="457200" y="1600200"/>
            <a:ext cx="3826768" cy="4525963"/>
          </a:xfrm>
        </p:spPr>
        <p:txBody>
          <a:bodyPr>
            <a:normAutofit fontScale="85000" lnSpcReduction="10000"/>
          </a:bodyPr>
          <a:lstStyle/>
          <a:p>
            <a:pPr algn="just"/>
            <a:r>
              <a:rPr lang="en-IN" dirty="0">
                <a:solidFill>
                  <a:srgbClr val="FF0000"/>
                </a:solidFill>
              </a:rPr>
              <a:t>A useful way to visualize a search is to draw </a:t>
            </a:r>
            <a:r>
              <a:rPr lang="en-IN" b="1" dirty="0">
                <a:solidFill>
                  <a:srgbClr val="FF0000"/>
                </a:solidFill>
              </a:rPr>
              <a:t>contours </a:t>
            </a:r>
            <a:r>
              <a:rPr lang="en-IN" dirty="0">
                <a:solidFill>
                  <a:srgbClr val="FF0000"/>
                </a:solidFill>
              </a:rPr>
              <a:t>in the state space. </a:t>
            </a:r>
          </a:p>
          <a:p>
            <a:pPr algn="just"/>
            <a:r>
              <a:rPr lang="en-IN" dirty="0"/>
              <a:t>Inside the contour labelled 400, all nodes have </a:t>
            </a:r>
            <a:r>
              <a:rPr lang="en-IN" dirty="0">
                <a:solidFill>
                  <a:srgbClr val="FF0000"/>
                </a:solidFill>
              </a:rPr>
              <a:t>f(n) = g(n) + h(n) ≤ 400</a:t>
            </a:r>
            <a:r>
              <a:rPr lang="en-IN" dirty="0"/>
              <a:t>,and so on. </a:t>
            </a:r>
          </a:p>
          <a:p>
            <a:pPr lvl="1" algn="just"/>
            <a:r>
              <a:rPr lang="en-IN" dirty="0"/>
              <a:t>Because A* expands the frontier node of lowest -cost, we can see that an A* search fans out from the start node, adding nodes in concentric bands of increasing -cost.</a:t>
            </a:r>
          </a:p>
        </p:txBody>
      </p:sp>
      <p:pic>
        <p:nvPicPr>
          <p:cNvPr id="5" name="Picture 2"/>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4325047" y="1916832"/>
            <a:ext cx="4361753" cy="36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786488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Search contours</a:t>
            </a:r>
          </a:p>
        </p:txBody>
      </p:sp>
      <p:sp>
        <p:nvSpPr>
          <p:cNvPr id="3" name="Content Placeholder 2"/>
          <p:cNvSpPr>
            <a:spLocks noGrp="1"/>
          </p:cNvSpPr>
          <p:nvPr>
            <p:ph idx="1"/>
          </p:nvPr>
        </p:nvSpPr>
        <p:spPr/>
        <p:txBody>
          <a:bodyPr>
            <a:normAutofit fontScale="92500"/>
          </a:bodyPr>
          <a:lstStyle/>
          <a:p>
            <a:pPr algn="just"/>
            <a:r>
              <a:rPr lang="en-IN" dirty="0"/>
              <a:t>With A* search using a good heuristic, </a:t>
            </a:r>
            <a:r>
              <a:rPr lang="en-IN" dirty="0">
                <a:solidFill>
                  <a:srgbClr val="FF0000"/>
                </a:solidFill>
              </a:rPr>
              <a:t>the bands will stretch toward a goal state and become more narrowly focused around an optimal path.</a:t>
            </a:r>
          </a:p>
          <a:p>
            <a:r>
              <a:rPr lang="en-IN" dirty="0"/>
              <a:t>As </a:t>
            </a:r>
            <a:r>
              <a:rPr lang="en-IN" b="1" dirty="0"/>
              <a:t>we extend a path</a:t>
            </a:r>
            <a:r>
              <a:rPr lang="en-IN" dirty="0"/>
              <a:t>, </a:t>
            </a:r>
            <a:r>
              <a:rPr lang="en-IN" b="1" i="1" dirty="0">
                <a:solidFill>
                  <a:srgbClr val="FF0000"/>
                </a:solidFill>
              </a:rPr>
              <a:t>the costs are monotonic: </a:t>
            </a:r>
            <a:r>
              <a:rPr lang="en-IN" dirty="0"/>
              <a:t>the path cost always increases as you go along a path, because action costs are always positive. </a:t>
            </a:r>
          </a:p>
          <a:p>
            <a:r>
              <a:rPr lang="en-IN" dirty="0"/>
              <a:t>The path’s cost will be monotonically increasing if and only if </a:t>
            </a:r>
            <a:r>
              <a:rPr lang="pt-BR" dirty="0"/>
              <a:t>h(n) ≤ c(n, a, n′) + h(n′).</a:t>
            </a:r>
          </a:p>
          <a:p>
            <a:pPr lvl="1"/>
            <a:r>
              <a:rPr lang="en-IN" dirty="0" err="1"/>
              <a:t>i.e</a:t>
            </a:r>
            <a:r>
              <a:rPr lang="en-IN" dirty="0"/>
              <a:t> If and only if the heuristic is consistent.</a:t>
            </a:r>
          </a:p>
        </p:txBody>
      </p:sp>
    </p:spTree>
    <p:extLst>
      <p:ext uri="{BB962C8B-B14F-4D97-AF65-F5344CB8AC3E}">
        <p14:creationId xmlns:p14="http://schemas.microsoft.com/office/powerpoint/2010/main" val="36809840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 Search properties</a:t>
            </a:r>
          </a:p>
        </p:txBody>
      </p:sp>
      <p:sp>
        <p:nvSpPr>
          <p:cNvPr id="3" name="Content Placeholder 2"/>
          <p:cNvSpPr>
            <a:spLocks noGrp="1"/>
          </p:cNvSpPr>
          <p:nvPr>
            <p:ph idx="1"/>
          </p:nvPr>
        </p:nvSpPr>
        <p:spPr/>
        <p:txBody>
          <a:bodyPr>
            <a:normAutofit fontScale="77500" lnSpcReduction="20000"/>
          </a:bodyPr>
          <a:lstStyle/>
          <a:p>
            <a:r>
              <a:rPr lang="en-IN" dirty="0"/>
              <a:t>If C* is the cost of the optimal solution path, then we can say the following:</a:t>
            </a:r>
          </a:p>
          <a:p>
            <a:pPr lvl="1"/>
            <a:r>
              <a:rPr lang="en-IN" dirty="0"/>
              <a:t>A* expands all nodes that can be reached from the initial state on a path where every node on the path has f(n) &lt; C* . We say these are </a:t>
            </a:r>
            <a:r>
              <a:rPr lang="en-IN" b="1" dirty="0">
                <a:solidFill>
                  <a:srgbClr val="FF0000"/>
                </a:solidFill>
              </a:rPr>
              <a:t>surely expanded nodes</a:t>
            </a:r>
            <a:r>
              <a:rPr lang="en-IN" dirty="0">
                <a:solidFill>
                  <a:srgbClr val="FF0000"/>
                </a:solidFill>
              </a:rPr>
              <a:t>.</a:t>
            </a:r>
          </a:p>
          <a:p>
            <a:pPr lvl="1"/>
            <a:r>
              <a:rPr lang="en-IN" dirty="0"/>
              <a:t>A* might then expand some of the nodes right on the “goal contour”  before selecting a goal node. </a:t>
            </a:r>
          </a:p>
          <a:p>
            <a:pPr lvl="1"/>
            <a:r>
              <a:rPr lang="en-IN" dirty="0"/>
              <a:t>A* expands no nodes with f(n)  &gt;  C* </a:t>
            </a:r>
          </a:p>
          <a:p>
            <a:r>
              <a:rPr lang="en-IN" dirty="0"/>
              <a:t>A* with a consistent heuristic is </a:t>
            </a:r>
            <a:r>
              <a:rPr lang="en-IN" b="1" dirty="0">
                <a:solidFill>
                  <a:srgbClr val="FF0000"/>
                </a:solidFill>
              </a:rPr>
              <a:t>optimally efficient </a:t>
            </a:r>
            <a:r>
              <a:rPr lang="en-IN" dirty="0"/>
              <a:t>in the sense that any algorithm that extends search paths from the initial state, and uses the same heuristic information, must expand all nodes that are surely expanded by A* </a:t>
            </a:r>
          </a:p>
          <a:p>
            <a:r>
              <a:rPr lang="en-IN" dirty="0">
                <a:solidFill>
                  <a:srgbClr val="FF0000"/>
                </a:solidFill>
              </a:rPr>
              <a:t>A* is efficient because it </a:t>
            </a:r>
            <a:r>
              <a:rPr lang="en-IN" b="1" dirty="0">
                <a:solidFill>
                  <a:srgbClr val="FF0000"/>
                </a:solidFill>
              </a:rPr>
              <a:t>prunes </a:t>
            </a:r>
            <a:r>
              <a:rPr lang="en-IN" dirty="0">
                <a:solidFill>
                  <a:srgbClr val="FF0000"/>
                </a:solidFill>
              </a:rPr>
              <a:t>away search tree nodes that are not necessary for finding an optimal solution.</a:t>
            </a:r>
          </a:p>
        </p:txBody>
      </p:sp>
    </p:spTree>
    <p:extLst>
      <p:ext uri="{BB962C8B-B14F-4D97-AF65-F5344CB8AC3E}">
        <p14:creationId xmlns:p14="http://schemas.microsoft.com/office/powerpoint/2010/main" val="5566254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 Search properties</a:t>
            </a:r>
          </a:p>
        </p:txBody>
      </p:sp>
      <p:sp>
        <p:nvSpPr>
          <p:cNvPr id="3" name="Content Placeholder 2"/>
          <p:cNvSpPr>
            <a:spLocks noGrp="1"/>
          </p:cNvSpPr>
          <p:nvPr>
            <p:ph idx="1"/>
          </p:nvPr>
        </p:nvSpPr>
        <p:spPr/>
        <p:txBody>
          <a:bodyPr>
            <a:normAutofit fontScale="92500" lnSpcReduction="20000"/>
          </a:bodyPr>
          <a:lstStyle/>
          <a:p>
            <a:pPr algn="just"/>
            <a:r>
              <a:rPr lang="en-IN" dirty="0"/>
              <a:t>The concept of pruning—eliminating possibilities from consideration without having to examine them—is important for many areas of AI.</a:t>
            </a:r>
          </a:p>
          <a:p>
            <a:r>
              <a:rPr lang="en-IN" dirty="0"/>
              <a:t>A* search is </a:t>
            </a:r>
            <a:r>
              <a:rPr lang="en-IN" dirty="0">
                <a:solidFill>
                  <a:srgbClr val="FF0000"/>
                </a:solidFill>
              </a:rPr>
              <a:t>complete, cost-optimal, and optimally efficient </a:t>
            </a:r>
            <a:r>
              <a:rPr lang="en-IN" dirty="0"/>
              <a:t>among all such algorithms is rather satisfying. </a:t>
            </a:r>
          </a:p>
          <a:p>
            <a:pPr lvl="1"/>
            <a:r>
              <a:rPr lang="en-IN" dirty="0"/>
              <a:t>Unfortunately, it does not mean that A* is the answer to all our searching needs. </a:t>
            </a:r>
          </a:p>
          <a:p>
            <a:pPr lvl="1"/>
            <a:r>
              <a:rPr lang="en-IN" dirty="0"/>
              <a:t>The catch is that for many problems, the number of nodes expanded can be exponential in the length of the solution.</a:t>
            </a:r>
          </a:p>
        </p:txBody>
      </p:sp>
    </p:spTree>
    <p:extLst>
      <p:ext uri="{BB962C8B-B14F-4D97-AF65-F5344CB8AC3E}">
        <p14:creationId xmlns:p14="http://schemas.microsoft.com/office/powerpoint/2010/main" val="34849194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Autofit/>
          </a:bodyPr>
          <a:lstStyle/>
          <a:p>
            <a:r>
              <a:rPr lang="en-IN" sz="2400" dirty="0"/>
              <a:t>Satisficing search: Inadmissible heuristics and </a:t>
            </a:r>
            <a:r>
              <a:rPr lang="en-IN" sz="2400" dirty="0">
                <a:solidFill>
                  <a:srgbClr val="FF0000"/>
                </a:solidFill>
              </a:rPr>
              <a:t>weighted A*</a:t>
            </a:r>
          </a:p>
        </p:txBody>
      </p:sp>
      <p:sp>
        <p:nvSpPr>
          <p:cNvPr id="3" name="Content Placeholder 2"/>
          <p:cNvSpPr>
            <a:spLocks noGrp="1"/>
          </p:cNvSpPr>
          <p:nvPr>
            <p:ph idx="1"/>
          </p:nvPr>
        </p:nvSpPr>
        <p:spPr>
          <a:xfrm>
            <a:off x="457200" y="1052736"/>
            <a:ext cx="8229600" cy="5073427"/>
          </a:xfrm>
        </p:spPr>
        <p:txBody>
          <a:bodyPr>
            <a:noAutofit/>
          </a:bodyPr>
          <a:lstStyle/>
          <a:p>
            <a:r>
              <a:rPr lang="en-IN" sz="2400" dirty="0"/>
              <a:t>A* search has many good qualities, but </a:t>
            </a:r>
            <a:r>
              <a:rPr lang="en-IN" sz="2400" dirty="0">
                <a:solidFill>
                  <a:srgbClr val="FF0000"/>
                </a:solidFill>
              </a:rPr>
              <a:t>it expands a lot of nodes. </a:t>
            </a:r>
          </a:p>
          <a:p>
            <a:pPr lvl="1"/>
            <a:r>
              <a:rPr lang="en-IN" sz="1800" dirty="0"/>
              <a:t>We can explore fewer nodes (taking less time and space) </a:t>
            </a:r>
            <a:r>
              <a:rPr lang="en-IN" sz="1800" dirty="0">
                <a:solidFill>
                  <a:srgbClr val="FF0000"/>
                </a:solidFill>
              </a:rPr>
              <a:t>if we are willing to accept solutions that are suboptimal, </a:t>
            </a:r>
            <a:r>
              <a:rPr lang="en-IN" sz="1800" dirty="0"/>
              <a:t>but are “good enough”—what we call </a:t>
            </a:r>
            <a:r>
              <a:rPr lang="en-IN" sz="1800" dirty="0">
                <a:solidFill>
                  <a:srgbClr val="00B050"/>
                </a:solidFill>
              </a:rPr>
              <a:t>satisficing solutions. </a:t>
            </a:r>
          </a:p>
          <a:p>
            <a:pPr lvl="1"/>
            <a:r>
              <a:rPr lang="en-IN" sz="1800" dirty="0"/>
              <a:t>If we </a:t>
            </a:r>
            <a:r>
              <a:rPr lang="en-IN" sz="1800" dirty="0">
                <a:solidFill>
                  <a:srgbClr val="FF0000"/>
                </a:solidFill>
              </a:rPr>
              <a:t>allow A* search to use an </a:t>
            </a:r>
            <a:r>
              <a:rPr lang="en-IN" sz="1800" b="1" dirty="0">
                <a:solidFill>
                  <a:srgbClr val="FF0000"/>
                </a:solidFill>
              </a:rPr>
              <a:t>inadmissible heuristic</a:t>
            </a:r>
            <a:r>
              <a:rPr lang="en-IN" sz="1800" dirty="0">
                <a:solidFill>
                  <a:srgbClr val="FF0000"/>
                </a:solidFill>
              </a:rPr>
              <a:t>—</a:t>
            </a:r>
            <a:r>
              <a:rPr lang="en-IN" sz="1800" dirty="0"/>
              <a:t>one that may overestimate—then we risk missing the optimal solution, but the heuristic can potentially be more accurate, thereby reducing the number of nodes expanded. </a:t>
            </a:r>
          </a:p>
          <a:p>
            <a:pPr lvl="1"/>
            <a:r>
              <a:rPr lang="en-IN" sz="1800" dirty="0"/>
              <a:t>For example, </a:t>
            </a:r>
            <a:r>
              <a:rPr lang="en-IN" sz="1800" dirty="0">
                <a:solidFill>
                  <a:srgbClr val="FF0000"/>
                </a:solidFill>
              </a:rPr>
              <a:t>road engineers know the concept of a </a:t>
            </a:r>
            <a:r>
              <a:rPr lang="en-IN" sz="1800" b="1" dirty="0">
                <a:solidFill>
                  <a:srgbClr val="FF0000"/>
                </a:solidFill>
              </a:rPr>
              <a:t>detour index</a:t>
            </a:r>
            <a:r>
              <a:rPr lang="en-IN" sz="1800" dirty="0"/>
              <a:t>, which is a multiplier applied to the straight-line distance to account for the typical curvature of roads.</a:t>
            </a:r>
          </a:p>
          <a:p>
            <a:pPr lvl="2"/>
            <a:r>
              <a:rPr lang="en-IN" sz="1400" dirty="0"/>
              <a:t>A detour index of 1.3 means that if two cities are 10 miles apart in straight-line distance, a good estimate of the best path between them is 13 miles. </a:t>
            </a:r>
          </a:p>
          <a:p>
            <a:pPr lvl="2"/>
            <a:r>
              <a:rPr lang="en-IN" sz="1400" dirty="0"/>
              <a:t>For most localities, the detour index ranges between 1.2 and 1.6.</a:t>
            </a:r>
          </a:p>
          <a:p>
            <a:pPr lvl="1"/>
            <a:r>
              <a:rPr lang="en-IN" sz="1800" dirty="0"/>
              <a:t>We can apply this idea to any problem, not just ones involving roads, with an approach called </a:t>
            </a:r>
            <a:r>
              <a:rPr lang="en-IN" sz="1800" b="1" dirty="0"/>
              <a:t>weighted A* search</a:t>
            </a:r>
            <a:endParaRPr lang="en-IN" sz="1800" dirty="0"/>
          </a:p>
        </p:txBody>
      </p:sp>
    </p:spTree>
    <p:extLst>
      <p:ext uri="{BB962C8B-B14F-4D97-AF65-F5344CB8AC3E}">
        <p14:creationId xmlns:p14="http://schemas.microsoft.com/office/powerpoint/2010/main" val="24780921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Weighted A*</a:t>
            </a:r>
            <a:r>
              <a:rPr lang="pt-BR" dirty="0"/>
              <a:t>search</a:t>
            </a:r>
            <a:endParaRPr lang="en-IN" dirty="0"/>
          </a:p>
        </p:txBody>
      </p:sp>
      <p:sp>
        <p:nvSpPr>
          <p:cNvPr id="3" name="Content Placeholder 2"/>
          <p:cNvSpPr>
            <a:spLocks noGrp="1"/>
          </p:cNvSpPr>
          <p:nvPr>
            <p:ph idx="1"/>
          </p:nvPr>
        </p:nvSpPr>
        <p:spPr/>
        <p:txBody>
          <a:bodyPr>
            <a:normAutofit/>
          </a:bodyPr>
          <a:lstStyle/>
          <a:p>
            <a:pPr>
              <a:lnSpc>
                <a:spcPct val="120000"/>
              </a:lnSpc>
            </a:pPr>
            <a:r>
              <a:rPr lang="en-IN" dirty="0"/>
              <a:t>We can apply this idea to any problem, not just ones involving roads, with an approach  called </a:t>
            </a:r>
            <a:r>
              <a:rPr lang="en-IN" b="1" dirty="0"/>
              <a:t>weighted A* search </a:t>
            </a:r>
            <a:r>
              <a:rPr lang="en-IN" dirty="0"/>
              <a:t>where we weight the heuristic value more heavily, giving us the </a:t>
            </a:r>
            <a:r>
              <a:rPr lang="en-IN" dirty="0">
                <a:solidFill>
                  <a:srgbClr val="FF0000"/>
                </a:solidFill>
              </a:rPr>
              <a:t>evaluation function </a:t>
            </a:r>
          </a:p>
          <a:p>
            <a:pPr marL="0" indent="0">
              <a:lnSpc>
                <a:spcPct val="120000"/>
              </a:lnSpc>
              <a:buNone/>
            </a:pPr>
            <a:r>
              <a:rPr lang="pt-BR" dirty="0">
                <a:solidFill>
                  <a:srgbClr val="FF0000"/>
                </a:solidFill>
              </a:rPr>
              <a:t>        f(n) = g(n) +W × h(n), </a:t>
            </a:r>
            <a:r>
              <a:rPr lang="en-IN" dirty="0">
                <a:solidFill>
                  <a:srgbClr val="FF0000"/>
                </a:solidFill>
              </a:rPr>
              <a:t>for some </a:t>
            </a:r>
            <a:r>
              <a:rPr lang="pt-BR" dirty="0">
                <a:solidFill>
                  <a:srgbClr val="FF0000"/>
                </a:solidFill>
              </a:rPr>
              <a:t>W &gt; 1</a:t>
            </a:r>
            <a:endParaRPr lang="en-IN" dirty="0">
              <a:solidFill>
                <a:srgbClr val="FF0000"/>
              </a:solidFill>
            </a:endParaRPr>
          </a:p>
        </p:txBody>
      </p:sp>
    </p:spTree>
    <p:extLst>
      <p:ext uri="{BB962C8B-B14F-4D97-AF65-F5344CB8AC3E}">
        <p14:creationId xmlns:p14="http://schemas.microsoft.com/office/powerpoint/2010/main" val="5518965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Weighted A*</a:t>
            </a:r>
            <a:r>
              <a:rPr lang="pt-BR" dirty="0"/>
              <a:t>search</a:t>
            </a:r>
            <a:endParaRPr lang="en-IN" dirty="0"/>
          </a:p>
        </p:txBody>
      </p:sp>
      <p:sp>
        <p:nvSpPr>
          <p:cNvPr id="3" name="Content Placeholder 2"/>
          <p:cNvSpPr>
            <a:spLocks noGrp="1"/>
          </p:cNvSpPr>
          <p:nvPr>
            <p:ph idx="1"/>
          </p:nvPr>
        </p:nvSpPr>
        <p:spPr/>
        <p:txBody>
          <a:bodyPr/>
          <a:lstStyle/>
          <a:p>
            <a:r>
              <a:rPr lang="en-IN" dirty="0"/>
              <a:t>Example</a:t>
            </a: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9795" y="1628800"/>
            <a:ext cx="6197005" cy="494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183907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Weighted A*</a:t>
            </a:r>
            <a:r>
              <a:rPr lang="pt-BR" dirty="0"/>
              <a:t>search</a:t>
            </a:r>
            <a:endParaRPr lang="en-IN" dirty="0"/>
          </a:p>
        </p:txBody>
      </p:sp>
      <p:sp>
        <p:nvSpPr>
          <p:cNvPr id="3" name="Content Placeholder 2"/>
          <p:cNvSpPr>
            <a:spLocks noGrp="1"/>
          </p:cNvSpPr>
          <p:nvPr>
            <p:ph idx="1"/>
          </p:nvPr>
        </p:nvSpPr>
        <p:spPr/>
        <p:txBody>
          <a:bodyPr>
            <a:normAutofit/>
          </a:bodyPr>
          <a:lstStyle/>
          <a:p>
            <a:r>
              <a:rPr lang="en-IN" dirty="0"/>
              <a:t>We have considered searches that evaluate states by combining g and h in various ways;</a:t>
            </a:r>
          </a:p>
          <a:p>
            <a:r>
              <a:rPr lang="en-IN" dirty="0"/>
              <a:t>Weighted A* can be seen as a generalization of the others:</a:t>
            </a:r>
          </a:p>
          <a:p>
            <a:pPr lvl="1"/>
            <a:r>
              <a:rPr lang="pt-BR" dirty="0"/>
              <a:t>A* search: g(n) + h(n) (W = 1)</a:t>
            </a:r>
          </a:p>
          <a:p>
            <a:pPr lvl="1"/>
            <a:r>
              <a:rPr lang="en-IN" dirty="0"/>
              <a:t>Uniform-cost search: g(n) (W = 0)</a:t>
            </a:r>
          </a:p>
          <a:p>
            <a:pPr lvl="1"/>
            <a:r>
              <a:rPr lang="en-IN" dirty="0"/>
              <a:t>Greedy best-first search: h(n) (W = ∞)</a:t>
            </a:r>
          </a:p>
          <a:p>
            <a:pPr lvl="1"/>
            <a:r>
              <a:rPr lang="en-IN" dirty="0"/>
              <a:t>Weighted A* search: g(n) +W × h(n) (1 &lt; W &lt; ∞)</a:t>
            </a:r>
          </a:p>
        </p:txBody>
      </p:sp>
    </p:spTree>
    <p:extLst>
      <p:ext uri="{BB962C8B-B14F-4D97-AF65-F5344CB8AC3E}">
        <p14:creationId xmlns:p14="http://schemas.microsoft.com/office/powerpoint/2010/main" val="18994063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Weighted A*</a:t>
            </a:r>
            <a:r>
              <a:rPr lang="pt-BR" dirty="0"/>
              <a:t>search</a:t>
            </a:r>
            <a:endParaRPr lang="en-IN" dirty="0"/>
          </a:p>
        </p:txBody>
      </p:sp>
      <p:sp>
        <p:nvSpPr>
          <p:cNvPr id="3" name="Content Placeholder 2"/>
          <p:cNvSpPr>
            <a:spLocks noGrp="1"/>
          </p:cNvSpPr>
          <p:nvPr>
            <p:ph idx="1"/>
          </p:nvPr>
        </p:nvSpPr>
        <p:spPr>
          <a:xfrm>
            <a:off x="251520" y="1124744"/>
            <a:ext cx="8784976" cy="5733256"/>
          </a:xfrm>
        </p:spPr>
        <p:txBody>
          <a:bodyPr>
            <a:normAutofit/>
          </a:bodyPr>
          <a:lstStyle/>
          <a:p>
            <a:pPr algn="just">
              <a:lnSpc>
                <a:spcPct val="120000"/>
              </a:lnSpc>
            </a:pPr>
            <a:r>
              <a:rPr lang="en-IN" sz="1600" dirty="0"/>
              <a:t>Weighted A* is “somewhat-greedy search”: like greedy best-first search, it focuses the search towards a goal; on the other hand, it won’t ignore the path cost completely, and will suspend a path that is making little progress at great cost.</a:t>
            </a:r>
          </a:p>
          <a:p>
            <a:pPr algn="just">
              <a:lnSpc>
                <a:spcPct val="120000"/>
              </a:lnSpc>
            </a:pPr>
            <a:r>
              <a:rPr lang="en-IN" sz="1600" dirty="0"/>
              <a:t>There are a variety of suboptimal search algorithms, which can be characterized by the  </a:t>
            </a:r>
            <a:r>
              <a:rPr lang="en-IN" sz="1600" dirty="0" err="1"/>
              <a:t>riteria</a:t>
            </a:r>
            <a:r>
              <a:rPr lang="en-IN" sz="1600" dirty="0"/>
              <a:t> for what counts as “good enough”.</a:t>
            </a:r>
          </a:p>
          <a:p>
            <a:pPr algn="just">
              <a:lnSpc>
                <a:spcPct val="120000"/>
              </a:lnSpc>
            </a:pPr>
            <a:r>
              <a:rPr lang="en-IN" sz="1600" dirty="0"/>
              <a:t>In </a:t>
            </a:r>
            <a:r>
              <a:rPr lang="en-IN" sz="1600" b="1" dirty="0">
                <a:solidFill>
                  <a:srgbClr val="FF0000"/>
                </a:solidFill>
              </a:rPr>
              <a:t>bounded suboptimal search</a:t>
            </a:r>
            <a:r>
              <a:rPr lang="en-IN" sz="1600" dirty="0"/>
              <a:t>, we look for a  solution that is guaranteed to be within a constant factor of the optimal cost. </a:t>
            </a:r>
          </a:p>
          <a:p>
            <a:pPr lvl="1" algn="just">
              <a:lnSpc>
                <a:spcPct val="120000"/>
              </a:lnSpc>
            </a:pPr>
            <a:r>
              <a:rPr lang="en-IN" sz="1600" dirty="0"/>
              <a:t>Weighted A* provides this guarantee. </a:t>
            </a:r>
          </a:p>
          <a:p>
            <a:pPr algn="just">
              <a:lnSpc>
                <a:spcPct val="120000"/>
              </a:lnSpc>
            </a:pPr>
            <a:r>
              <a:rPr lang="en-IN" sz="1600" dirty="0"/>
              <a:t>In </a:t>
            </a:r>
            <a:r>
              <a:rPr lang="en-IN" sz="1600" b="1" dirty="0">
                <a:solidFill>
                  <a:srgbClr val="FF0000"/>
                </a:solidFill>
              </a:rPr>
              <a:t>bounded-cost search</a:t>
            </a:r>
            <a:r>
              <a:rPr lang="en-IN" sz="1600" dirty="0">
                <a:solidFill>
                  <a:srgbClr val="FF0000"/>
                </a:solidFill>
              </a:rPr>
              <a:t>,</a:t>
            </a:r>
            <a:r>
              <a:rPr lang="en-IN" sz="1600" dirty="0"/>
              <a:t> we look for a solution whose cost is less than some constant C </a:t>
            </a:r>
          </a:p>
          <a:p>
            <a:pPr lvl="1" algn="just">
              <a:lnSpc>
                <a:spcPct val="120000"/>
              </a:lnSpc>
            </a:pPr>
            <a:r>
              <a:rPr lang="en-IN" sz="1600" dirty="0"/>
              <a:t>And in </a:t>
            </a:r>
            <a:r>
              <a:rPr lang="en-IN" sz="1600" b="1" dirty="0">
                <a:solidFill>
                  <a:srgbClr val="FF0000"/>
                </a:solidFill>
              </a:rPr>
              <a:t>unbounded-cost search</a:t>
            </a:r>
            <a:r>
              <a:rPr lang="en-IN" sz="1600" dirty="0"/>
              <a:t>, we accept a solution of any cost, as long as we can find it quickly.</a:t>
            </a:r>
          </a:p>
          <a:p>
            <a:pPr algn="just">
              <a:lnSpc>
                <a:spcPct val="120000"/>
              </a:lnSpc>
            </a:pPr>
            <a:r>
              <a:rPr lang="en-IN" sz="1600" dirty="0"/>
              <a:t>An example of an unbounded-cost search algorithm is </a:t>
            </a:r>
            <a:r>
              <a:rPr lang="en-IN" sz="1600" b="1" dirty="0">
                <a:solidFill>
                  <a:srgbClr val="FF0000"/>
                </a:solidFill>
              </a:rPr>
              <a:t>speedy search</a:t>
            </a:r>
            <a:r>
              <a:rPr lang="en-IN" sz="1600" dirty="0"/>
              <a:t>, which is a version of greedy best-first search that uses as a heuristic </a:t>
            </a:r>
            <a:r>
              <a:rPr lang="en-IN" sz="1600" dirty="0">
                <a:solidFill>
                  <a:srgbClr val="FF0000"/>
                </a:solidFill>
              </a:rPr>
              <a:t>the estimated number of actions required to reach a goal, regardless of the cost of those actions</a:t>
            </a:r>
            <a:r>
              <a:rPr lang="en-IN" sz="1600" dirty="0"/>
              <a:t>. </a:t>
            </a:r>
          </a:p>
          <a:p>
            <a:pPr lvl="1" algn="just">
              <a:lnSpc>
                <a:spcPct val="120000"/>
              </a:lnSpc>
            </a:pPr>
            <a:r>
              <a:rPr lang="en-IN" sz="1600" dirty="0"/>
              <a:t>Thus, for problems where all actions  have the same cost it is the same as greedy best-first search, but when actions have different costs, it tends to lead the search to find a solution quickly, even if it might have a high cost.</a:t>
            </a:r>
          </a:p>
        </p:txBody>
      </p:sp>
    </p:spTree>
    <p:extLst>
      <p:ext uri="{BB962C8B-B14F-4D97-AF65-F5344CB8AC3E}">
        <p14:creationId xmlns:p14="http://schemas.microsoft.com/office/powerpoint/2010/main" val="31611456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Memory-bounded search</a:t>
            </a:r>
            <a:br>
              <a:rPr lang="en-IN" dirty="0"/>
            </a:br>
            <a:endParaRPr lang="en-IN" dirty="0"/>
          </a:p>
        </p:txBody>
      </p:sp>
      <p:sp>
        <p:nvSpPr>
          <p:cNvPr id="3" name="Content Placeholder 2"/>
          <p:cNvSpPr>
            <a:spLocks noGrp="1"/>
          </p:cNvSpPr>
          <p:nvPr>
            <p:ph idx="1"/>
          </p:nvPr>
        </p:nvSpPr>
        <p:spPr/>
        <p:txBody>
          <a:bodyPr>
            <a:normAutofit/>
          </a:bodyPr>
          <a:lstStyle/>
          <a:p>
            <a:r>
              <a:rPr lang="en-IN" dirty="0"/>
              <a:t>The main issue with A* is its use of memory.</a:t>
            </a:r>
          </a:p>
          <a:p>
            <a:r>
              <a:rPr lang="en-IN" dirty="0"/>
              <a:t>Memory is split between the </a:t>
            </a:r>
            <a:r>
              <a:rPr lang="en-IN" i="1" dirty="0"/>
              <a:t>frontier </a:t>
            </a:r>
            <a:r>
              <a:rPr lang="en-IN" dirty="0"/>
              <a:t>and the </a:t>
            </a:r>
            <a:r>
              <a:rPr lang="en-IN" i="1" dirty="0"/>
              <a:t>reached </a:t>
            </a:r>
            <a:r>
              <a:rPr lang="en-IN" dirty="0"/>
              <a:t>states</a:t>
            </a:r>
          </a:p>
          <a:p>
            <a:r>
              <a:rPr lang="en-IN" dirty="0"/>
              <a:t>Algorithms for efficient memory </a:t>
            </a:r>
            <a:r>
              <a:rPr lang="en-IN" dirty="0" err="1"/>
              <a:t>ulitization</a:t>
            </a:r>
            <a:endParaRPr lang="en-IN" dirty="0"/>
          </a:p>
          <a:p>
            <a:pPr lvl="1"/>
            <a:r>
              <a:rPr lang="en-IN" dirty="0"/>
              <a:t>Beam Search </a:t>
            </a:r>
          </a:p>
          <a:p>
            <a:pPr lvl="1"/>
            <a:r>
              <a:rPr lang="en-IN" dirty="0"/>
              <a:t>Iterative Deepening A*</a:t>
            </a:r>
          </a:p>
        </p:txBody>
      </p:sp>
    </p:spTree>
    <p:extLst>
      <p:ext uri="{BB962C8B-B14F-4D97-AF65-F5344CB8AC3E}">
        <p14:creationId xmlns:p14="http://schemas.microsoft.com/office/powerpoint/2010/main" val="6235569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Beam search</a:t>
            </a:r>
            <a:endParaRPr lang="en-IN" dirty="0"/>
          </a:p>
        </p:txBody>
      </p:sp>
      <p:sp>
        <p:nvSpPr>
          <p:cNvPr id="3" name="Content Placeholder 2"/>
          <p:cNvSpPr>
            <a:spLocks noGrp="1"/>
          </p:cNvSpPr>
          <p:nvPr>
            <p:ph idx="1"/>
          </p:nvPr>
        </p:nvSpPr>
        <p:spPr/>
        <p:txBody>
          <a:bodyPr>
            <a:normAutofit fontScale="77500" lnSpcReduction="20000"/>
          </a:bodyPr>
          <a:lstStyle/>
          <a:p>
            <a:pPr>
              <a:lnSpc>
                <a:spcPct val="120000"/>
              </a:lnSpc>
            </a:pPr>
            <a:r>
              <a:rPr lang="en-IN" b="1" dirty="0"/>
              <a:t>Beam search </a:t>
            </a:r>
            <a:r>
              <a:rPr lang="en-IN" dirty="0"/>
              <a:t>limits the size of the frontier. </a:t>
            </a:r>
          </a:p>
          <a:p>
            <a:pPr>
              <a:lnSpc>
                <a:spcPct val="120000"/>
              </a:lnSpc>
            </a:pPr>
            <a:r>
              <a:rPr lang="en-IN" dirty="0">
                <a:solidFill>
                  <a:srgbClr val="FF0000"/>
                </a:solidFill>
              </a:rPr>
              <a:t>The easiest approach is to keep only the nodes with the best f-scores, discarding any other expanded nodes. </a:t>
            </a:r>
          </a:p>
          <a:p>
            <a:pPr lvl="1">
              <a:lnSpc>
                <a:spcPct val="120000"/>
              </a:lnSpc>
            </a:pPr>
            <a:r>
              <a:rPr lang="en-IN" dirty="0"/>
              <a:t>This of course makes the search incomplete and suboptimal, but we can choose to make good use of available memory, and the algorithm executes fast because it expands fewer nodes. </a:t>
            </a:r>
          </a:p>
          <a:p>
            <a:pPr lvl="1">
              <a:lnSpc>
                <a:spcPct val="120000"/>
              </a:lnSpc>
            </a:pPr>
            <a:r>
              <a:rPr lang="en-IN" dirty="0"/>
              <a:t>For many problems it can find good near-optimal solutions. </a:t>
            </a:r>
          </a:p>
          <a:p>
            <a:pPr>
              <a:lnSpc>
                <a:spcPct val="120000"/>
              </a:lnSpc>
            </a:pPr>
            <a:r>
              <a:rPr lang="en-IN" dirty="0"/>
              <a:t>An alternative version of beam search doesn’t keep a strict limit on the size of the frontier but instead keeps every node whose f-score is within </a:t>
            </a:r>
            <a:r>
              <a:rPr lang="el-GR" dirty="0"/>
              <a:t>δ</a:t>
            </a:r>
            <a:r>
              <a:rPr lang="en-IN" dirty="0"/>
              <a:t> of best  f-score. </a:t>
            </a:r>
          </a:p>
        </p:txBody>
      </p:sp>
    </p:spTree>
    <p:extLst>
      <p:ext uri="{BB962C8B-B14F-4D97-AF65-F5344CB8AC3E}">
        <p14:creationId xmlns:p14="http://schemas.microsoft.com/office/powerpoint/2010/main" val="16765257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Iterative-deepening A* search</a:t>
            </a:r>
            <a:endParaRPr lang="en-IN" dirty="0"/>
          </a:p>
        </p:txBody>
      </p:sp>
      <p:sp>
        <p:nvSpPr>
          <p:cNvPr id="3" name="Content Placeholder 2"/>
          <p:cNvSpPr>
            <a:spLocks noGrp="1"/>
          </p:cNvSpPr>
          <p:nvPr>
            <p:ph idx="1"/>
          </p:nvPr>
        </p:nvSpPr>
        <p:spPr/>
        <p:txBody>
          <a:bodyPr>
            <a:normAutofit fontScale="92500"/>
          </a:bodyPr>
          <a:lstStyle/>
          <a:p>
            <a:r>
              <a:rPr lang="en-IN" b="1" dirty="0"/>
              <a:t>Iterative-deepening A* search </a:t>
            </a:r>
            <a:r>
              <a:rPr lang="en-IN" dirty="0"/>
              <a:t>(IDA*) is to A* what iterative-deepening search is to depth first</a:t>
            </a:r>
          </a:p>
          <a:p>
            <a:r>
              <a:rPr lang="en-IN" dirty="0"/>
              <a:t>IDA* gives us the benefits of A* without the requirement to </a:t>
            </a:r>
            <a:r>
              <a:rPr lang="en-IN" dirty="0">
                <a:solidFill>
                  <a:srgbClr val="FF0000"/>
                </a:solidFill>
              </a:rPr>
              <a:t>keep all reached states in memory, at a cost of visiting some states multiple times. </a:t>
            </a:r>
          </a:p>
          <a:p>
            <a:r>
              <a:rPr lang="en-IN" dirty="0"/>
              <a:t>It is a very important and commonly used algorithm for problems that do not fit in memory.</a:t>
            </a:r>
          </a:p>
        </p:txBody>
      </p:sp>
    </p:spTree>
    <p:extLst>
      <p:ext uri="{BB962C8B-B14F-4D97-AF65-F5344CB8AC3E}">
        <p14:creationId xmlns:p14="http://schemas.microsoft.com/office/powerpoint/2010/main" val="13899934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Iterative-deepening A* search</a:t>
            </a:r>
            <a:endParaRPr lang="en-IN" dirty="0"/>
          </a:p>
        </p:txBody>
      </p:sp>
      <p:sp>
        <p:nvSpPr>
          <p:cNvPr id="3" name="Content Placeholder 2"/>
          <p:cNvSpPr>
            <a:spLocks noGrp="1"/>
          </p:cNvSpPr>
          <p:nvPr>
            <p:ph idx="1"/>
          </p:nvPr>
        </p:nvSpPr>
        <p:spPr/>
        <p:txBody>
          <a:bodyPr>
            <a:normAutofit/>
          </a:bodyPr>
          <a:lstStyle/>
          <a:p>
            <a:pPr>
              <a:lnSpc>
                <a:spcPct val="120000"/>
              </a:lnSpc>
            </a:pPr>
            <a:r>
              <a:rPr lang="en-IN" dirty="0"/>
              <a:t>In standard iterative deepening the </a:t>
            </a:r>
            <a:r>
              <a:rPr lang="en-IN" dirty="0" err="1"/>
              <a:t>cutoff</a:t>
            </a:r>
            <a:r>
              <a:rPr lang="en-IN" dirty="0"/>
              <a:t> is the depth, which is increased by one each iteration. </a:t>
            </a:r>
          </a:p>
          <a:p>
            <a:pPr lvl="1">
              <a:lnSpc>
                <a:spcPct val="120000"/>
              </a:lnSpc>
            </a:pPr>
            <a:r>
              <a:rPr lang="en-IN" dirty="0"/>
              <a:t>In IDA* the </a:t>
            </a:r>
            <a:r>
              <a:rPr lang="en-IN" dirty="0" err="1"/>
              <a:t>cutoff</a:t>
            </a:r>
            <a:r>
              <a:rPr lang="en-IN" dirty="0"/>
              <a:t> is the </a:t>
            </a:r>
            <a:r>
              <a:rPr lang="en-IN" dirty="0" err="1">
                <a:solidFill>
                  <a:srgbClr val="FF0000"/>
                </a:solidFill>
              </a:rPr>
              <a:t>fcost</a:t>
            </a:r>
            <a:r>
              <a:rPr lang="en-IN" dirty="0">
                <a:solidFill>
                  <a:srgbClr val="FF0000"/>
                </a:solidFill>
              </a:rPr>
              <a:t> (</a:t>
            </a:r>
            <a:r>
              <a:rPr lang="en-IN" dirty="0" err="1">
                <a:solidFill>
                  <a:srgbClr val="FF0000"/>
                </a:solidFill>
              </a:rPr>
              <a:t>g+h</a:t>
            </a:r>
            <a:r>
              <a:rPr lang="en-IN" dirty="0">
                <a:solidFill>
                  <a:srgbClr val="FF0000"/>
                </a:solidFill>
              </a:rPr>
              <a:t>); </a:t>
            </a:r>
            <a:r>
              <a:rPr lang="en-IN" dirty="0"/>
              <a:t>at each iteration, the </a:t>
            </a:r>
            <a:r>
              <a:rPr lang="en-IN" dirty="0" err="1"/>
              <a:t>cutoff</a:t>
            </a:r>
            <a:r>
              <a:rPr lang="en-IN" dirty="0"/>
              <a:t> value is the smallest </a:t>
            </a:r>
            <a:r>
              <a:rPr lang="en-IN" dirty="0" err="1"/>
              <a:t>fcost</a:t>
            </a:r>
            <a:r>
              <a:rPr lang="en-IN" dirty="0"/>
              <a:t> of any node that exceeded the </a:t>
            </a:r>
            <a:r>
              <a:rPr lang="en-IN" dirty="0" err="1"/>
              <a:t>cutoff</a:t>
            </a:r>
            <a:r>
              <a:rPr lang="en-IN" dirty="0"/>
              <a:t> on the previous iteration. </a:t>
            </a:r>
          </a:p>
        </p:txBody>
      </p:sp>
    </p:spTree>
    <p:extLst>
      <p:ext uri="{BB962C8B-B14F-4D97-AF65-F5344CB8AC3E}">
        <p14:creationId xmlns:p14="http://schemas.microsoft.com/office/powerpoint/2010/main" val="333434894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normAutofit fontScale="90000"/>
          </a:bodyPr>
          <a:lstStyle/>
          <a:p>
            <a:r>
              <a:rPr lang="en-IN" b="1" dirty="0"/>
              <a:t>Recursive best-first search </a:t>
            </a:r>
            <a:r>
              <a:rPr lang="en-IN" dirty="0"/>
              <a:t>(RBFS)</a:t>
            </a:r>
          </a:p>
        </p:txBody>
      </p:sp>
      <p:sp>
        <p:nvSpPr>
          <p:cNvPr id="3" name="Content Placeholder 2"/>
          <p:cNvSpPr>
            <a:spLocks noGrp="1"/>
          </p:cNvSpPr>
          <p:nvPr>
            <p:ph idx="1"/>
          </p:nvPr>
        </p:nvSpPr>
        <p:spPr>
          <a:xfrm>
            <a:off x="107504" y="1196752"/>
            <a:ext cx="8764858" cy="5328592"/>
          </a:xfrm>
        </p:spPr>
        <p:txBody>
          <a:bodyPr>
            <a:noAutofit/>
          </a:bodyPr>
          <a:lstStyle/>
          <a:p>
            <a:pPr algn="just"/>
            <a:r>
              <a:rPr lang="en-IN" sz="2800" b="1" dirty="0"/>
              <a:t>Recursive best-first search </a:t>
            </a:r>
            <a:r>
              <a:rPr lang="en-IN" sz="2800" dirty="0"/>
              <a:t>(RBFS) attempts to mimic the operation of standard best-first search, </a:t>
            </a:r>
          </a:p>
          <a:p>
            <a:pPr lvl="1" algn="just"/>
            <a:r>
              <a:rPr lang="en-IN" sz="2400" dirty="0"/>
              <a:t>In a linear space. </a:t>
            </a:r>
          </a:p>
          <a:p>
            <a:pPr algn="just"/>
            <a:r>
              <a:rPr lang="en-IN" sz="2800" dirty="0">
                <a:solidFill>
                  <a:srgbClr val="FF0000"/>
                </a:solidFill>
              </a:rPr>
              <a:t>RBFS resembles a recursive depth first search, but rather than continuing indefinitely down the current path.</a:t>
            </a:r>
          </a:p>
          <a:p>
            <a:pPr lvl="1" algn="just"/>
            <a:r>
              <a:rPr lang="en-IN" sz="2000" dirty="0"/>
              <a:t>It uses the </a:t>
            </a:r>
            <a:r>
              <a:rPr lang="en-IN" sz="2000" dirty="0" err="1">
                <a:solidFill>
                  <a:srgbClr val="FF0000"/>
                </a:solidFill>
              </a:rPr>
              <a:t>f</a:t>
            </a:r>
            <a:r>
              <a:rPr lang="en-IN" sz="2000" i="1" dirty="0" err="1">
                <a:solidFill>
                  <a:srgbClr val="FF0000"/>
                </a:solidFill>
              </a:rPr>
              <a:t>_limit</a:t>
            </a:r>
            <a:r>
              <a:rPr lang="en-IN" sz="2000" i="1" dirty="0">
                <a:solidFill>
                  <a:srgbClr val="FF0000"/>
                </a:solidFill>
              </a:rPr>
              <a:t> </a:t>
            </a:r>
            <a:r>
              <a:rPr lang="en-IN" sz="2000" dirty="0">
                <a:solidFill>
                  <a:srgbClr val="FF0000"/>
                </a:solidFill>
              </a:rPr>
              <a:t>variable </a:t>
            </a:r>
            <a:r>
              <a:rPr lang="en-IN" sz="2000" dirty="0"/>
              <a:t>to keep track of the </a:t>
            </a:r>
            <a:r>
              <a:rPr lang="en-IN" sz="2000" dirty="0">
                <a:solidFill>
                  <a:srgbClr val="FF0000"/>
                </a:solidFill>
              </a:rPr>
              <a:t>f-value of the best </a:t>
            </a:r>
            <a:r>
              <a:rPr lang="en-IN" sz="2000" i="1" dirty="0">
                <a:solidFill>
                  <a:srgbClr val="FF0000"/>
                </a:solidFill>
              </a:rPr>
              <a:t>alternative </a:t>
            </a:r>
            <a:r>
              <a:rPr lang="en-IN" sz="2000" dirty="0">
                <a:solidFill>
                  <a:srgbClr val="FF0000"/>
                </a:solidFill>
              </a:rPr>
              <a:t>path </a:t>
            </a:r>
            <a:r>
              <a:rPr lang="en-IN" sz="2000" dirty="0"/>
              <a:t>available from any ancestor of the current node.</a:t>
            </a:r>
          </a:p>
          <a:p>
            <a:pPr lvl="1" algn="just"/>
            <a:r>
              <a:rPr lang="en-IN" sz="2000" dirty="0"/>
              <a:t>If the current node exceeds this limit, the </a:t>
            </a:r>
            <a:r>
              <a:rPr lang="en-IN" sz="2000" dirty="0">
                <a:solidFill>
                  <a:srgbClr val="FF0000"/>
                </a:solidFill>
              </a:rPr>
              <a:t>recursion unwinds back to the alternative path. </a:t>
            </a:r>
          </a:p>
          <a:p>
            <a:pPr lvl="1" algn="just"/>
            <a:r>
              <a:rPr lang="en-IN" sz="2000" dirty="0"/>
              <a:t>As the recursion unwinds, RBFS replaces the f-value of each node along the path with </a:t>
            </a:r>
            <a:r>
              <a:rPr lang="en-IN" sz="2000" b="1" dirty="0">
                <a:solidFill>
                  <a:srgbClr val="00B050"/>
                </a:solidFill>
              </a:rPr>
              <a:t>a backed-up value—the best f-value of its children.</a:t>
            </a:r>
            <a:r>
              <a:rPr lang="en-IN" sz="2000" dirty="0"/>
              <a:t> </a:t>
            </a:r>
          </a:p>
          <a:p>
            <a:pPr lvl="1" algn="just"/>
            <a:r>
              <a:rPr lang="en-IN" sz="2000" dirty="0"/>
              <a:t>In this way, RBFS remembers the f-value of the best leaf in the forgotten subtree and can therefore </a:t>
            </a:r>
            <a:r>
              <a:rPr lang="en-IN" sz="2000" dirty="0">
                <a:solidFill>
                  <a:srgbClr val="FF0000"/>
                </a:solidFill>
              </a:rPr>
              <a:t>decide whether it’s worth </a:t>
            </a:r>
            <a:r>
              <a:rPr lang="en-IN" sz="2000" dirty="0" err="1">
                <a:solidFill>
                  <a:srgbClr val="FF0000"/>
                </a:solidFill>
              </a:rPr>
              <a:t>reexpanding</a:t>
            </a:r>
            <a:r>
              <a:rPr lang="en-IN" sz="2000" dirty="0">
                <a:solidFill>
                  <a:srgbClr val="FF0000"/>
                </a:solidFill>
              </a:rPr>
              <a:t> the subtree at some later time. </a:t>
            </a:r>
          </a:p>
        </p:txBody>
      </p:sp>
    </p:spTree>
    <p:extLst>
      <p:ext uri="{BB962C8B-B14F-4D97-AF65-F5344CB8AC3E}">
        <p14:creationId xmlns:p14="http://schemas.microsoft.com/office/powerpoint/2010/main" val="26056542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IN" b="1" dirty="0"/>
              <a:t>Recursive best-first search </a:t>
            </a:r>
            <a:r>
              <a:rPr lang="en-IN" dirty="0"/>
              <a:t>(RBFS)</a:t>
            </a:r>
          </a:p>
        </p:txBody>
      </p:sp>
      <p:sp>
        <p:nvSpPr>
          <p:cNvPr id="3" name="Content Placeholder 2"/>
          <p:cNvSpPr>
            <a:spLocks noGrp="1"/>
          </p:cNvSpPr>
          <p:nvPr>
            <p:ph idx="1"/>
          </p:nvPr>
        </p:nvSpPr>
        <p:spPr>
          <a:xfrm>
            <a:off x="395536" y="1196752"/>
            <a:ext cx="8291264" cy="5256584"/>
          </a:xfrm>
        </p:spPr>
        <p:txBody>
          <a:bodyPr>
            <a:normAutofit/>
          </a:bodyPr>
          <a:lstStyle/>
          <a:p>
            <a:r>
              <a:rPr lang="en-IN" sz="2800" dirty="0"/>
              <a:t>Algorithm</a:t>
            </a:r>
          </a:p>
          <a:p>
            <a:endParaRPr lang="en-IN" sz="28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543" y="1700808"/>
            <a:ext cx="8160937" cy="46173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954745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7931224" cy="792088"/>
          </a:xfrm>
        </p:spPr>
        <p:txBody>
          <a:bodyPr>
            <a:noAutofit/>
          </a:bodyPr>
          <a:lstStyle/>
          <a:p>
            <a:r>
              <a:rPr lang="en-IN" sz="3200" b="1" dirty="0"/>
              <a:t>Recursive best-first search </a:t>
            </a:r>
            <a:r>
              <a:rPr lang="en-IN" sz="3200" dirty="0"/>
              <a:t>(RBFS) Example</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051721" y="1063277"/>
            <a:ext cx="4646840" cy="49449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1" y="6021288"/>
            <a:ext cx="4896544" cy="8277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351731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Simplified Memory-bounded A*(</a:t>
            </a:r>
            <a:r>
              <a:rPr lang="en-IN" sz="3600" b="1" dirty="0"/>
              <a:t>SMA*)</a:t>
            </a:r>
            <a:endParaRPr lang="en-IN" sz="3600" dirty="0"/>
          </a:p>
        </p:txBody>
      </p:sp>
      <p:sp>
        <p:nvSpPr>
          <p:cNvPr id="3" name="Content Placeholder 2"/>
          <p:cNvSpPr>
            <a:spLocks noGrp="1"/>
          </p:cNvSpPr>
          <p:nvPr>
            <p:ph idx="1"/>
          </p:nvPr>
        </p:nvSpPr>
        <p:spPr/>
        <p:txBody>
          <a:bodyPr>
            <a:normAutofit fontScale="62500" lnSpcReduction="20000"/>
          </a:bodyPr>
          <a:lstStyle/>
          <a:p>
            <a:pPr>
              <a:lnSpc>
                <a:spcPct val="120000"/>
              </a:lnSpc>
            </a:pPr>
            <a:r>
              <a:rPr lang="en-IN" b="1" dirty="0"/>
              <a:t>IDA* and RBFS regenerates many node.</a:t>
            </a:r>
          </a:p>
          <a:p>
            <a:pPr>
              <a:lnSpc>
                <a:spcPct val="120000"/>
              </a:lnSpc>
            </a:pPr>
            <a:r>
              <a:rPr lang="en-IN" b="1" dirty="0"/>
              <a:t>MA* </a:t>
            </a:r>
            <a:r>
              <a:rPr lang="en-IN" dirty="0"/>
              <a:t>(memory-bounded A*) and </a:t>
            </a:r>
            <a:r>
              <a:rPr lang="en-IN" b="1" dirty="0"/>
              <a:t>SMA* </a:t>
            </a:r>
            <a:r>
              <a:rPr lang="en-IN" dirty="0"/>
              <a:t>(simplified MA*)</a:t>
            </a:r>
          </a:p>
          <a:p>
            <a:pPr lvl="1">
              <a:lnSpc>
                <a:spcPct val="120000"/>
              </a:lnSpc>
            </a:pPr>
            <a:r>
              <a:rPr lang="en-IN" b="1" dirty="0">
                <a:solidFill>
                  <a:srgbClr val="FF0000"/>
                </a:solidFill>
              </a:rPr>
              <a:t>SMA* </a:t>
            </a:r>
            <a:r>
              <a:rPr lang="en-IN" dirty="0">
                <a:solidFill>
                  <a:srgbClr val="FF0000"/>
                </a:solidFill>
              </a:rPr>
              <a:t>proceeds just like A*, expanding the best leaf until memory is full. </a:t>
            </a:r>
          </a:p>
          <a:p>
            <a:pPr lvl="1">
              <a:lnSpc>
                <a:spcPct val="120000"/>
              </a:lnSpc>
            </a:pPr>
            <a:r>
              <a:rPr lang="en-IN" dirty="0"/>
              <a:t>At this point, it cannot add a new node to the search tree without dropping an old one. </a:t>
            </a:r>
          </a:p>
          <a:p>
            <a:pPr lvl="1">
              <a:lnSpc>
                <a:spcPct val="120000"/>
              </a:lnSpc>
            </a:pPr>
            <a:r>
              <a:rPr lang="en-IN" dirty="0">
                <a:solidFill>
                  <a:srgbClr val="FF0000"/>
                </a:solidFill>
              </a:rPr>
              <a:t>SMA* always drops the </a:t>
            </a:r>
            <a:r>
              <a:rPr lang="en-IN" i="1" dirty="0">
                <a:solidFill>
                  <a:srgbClr val="FF0000"/>
                </a:solidFill>
              </a:rPr>
              <a:t>worst </a:t>
            </a:r>
            <a:r>
              <a:rPr lang="en-IN" dirty="0">
                <a:solidFill>
                  <a:srgbClr val="FF0000"/>
                </a:solidFill>
              </a:rPr>
              <a:t>leaf node</a:t>
            </a:r>
            <a:r>
              <a:rPr lang="en-IN" dirty="0"/>
              <a:t>—the one with the highest -value. </a:t>
            </a:r>
          </a:p>
          <a:p>
            <a:pPr lvl="1">
              <a:lnSpc>
                <a:spcPct val="120000"/>
              </a:lnSpc>
            </a:pPr>
            <a:r>
              <a:rPr lang="en-IN" dirty="0"/>
              <a:t>Like RBFS, SMA* then backs up the value of the forgotten node to its parent. </a:t>
            </a:r>
          </a:p>
          <a:p>
            <a:pPr lvl="1">
              <a:lnSpc>
                <a:spcPct val="120000"/>
              </a:lnSpc>
            </a:pPr>
            <a:r>
              <a:rPr lang="en-IN" dirty="0"/>
              <a:t>In this way, the ancestor of a forgotten subtree knows the quality of the best path in that subtree. </a:t>
            </a:r>
          </a:p>
          <a:p>
            <a:pPr lvl="1">
              <a:lnSpc>
                <a:spcPct val="120000"/>
              </a:lnSpc>
            </a:pPr>
            <a:r>
              <a:rPr lang="en-IN" dirty="0"/>
              <a:t>With this information, SMA* regenerates the subtree only when all other paths have been shown to look worse than the path it has forgotten.</a:t>
            </a:r>
          </a:p>
        </p:txBody>
      </p:sp>
    </p:spTree>
    <p:extLst>
      <p:ext uri="{BB962C8B-B14F-4D97-AF65-F5344CB8AC3E}">
        <p14:creationId xmlns:p14="http://schemas.microsoft.com/office/powerpoint/2010/main" val="88507701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Bidirectional heuristic search</a:t>
            </a:r>
          </a:p>
        </p:txBody>
      </p:sp>
      <p:sp>
        <p:nvSpPr>
          <p:cNvPr id="3" name="Content Placeholder 2"/>
          <p:cNvSpPr>
            <a:spLocks noGrp="1"/>
          </p:cNvSpPr>
          <p:nvPr>
            <p:ph idx="1"/>
          </p:nvPr>
        </p:nvSpPr>
        <p:spPr/>
        <p:txBody>
          <a:bodyPr>
            <a:noAutofit/>
          </a:bodyPr>
          <a:lstStyle/>
          <a:p>
            <a:pPr>
              <a:lnSpc>
                <a:spcPct val="120000"/>
              </a:lnSpc>
            </a:pPr>
            <a:r>
              <a:rPr lang="en-IN" sz="1600" dirty="0"/>
              <a:t>With </a:t>
            </a:r>
            <a:r>
              <a:rPr lang="en-IN" sz="1600" dirty="0">
                <a:solidFill>
                  <a:srgbClr val="FF0000"/>
                </a:solidFill>
              </a:rPr>
              <a:t>unidirectional best-first search</a:t>
            </a:r>
            <a:r>
              <a:rPr lang="en-IN" sz="1600" dirty="0"/>
              <a:t>, we saw that using as the </a:t>
            </a:r>
            <a:r>
              <a:rPr lang="en-IN" sz="1600" dirty="0">
                <a:solidFill>
                  <a:srgbClr val="FF0000"/>
                </a:solidFill>
              </a:rPr>
              <a:t>evaluation f(n) = g(n) + h(n) </a:t>
            </a:r>
            <a:r>
              <a:rPr lang="en-IN" sz="1600" dirty="0"/>
              <a:t>function gives us an A* search that is guaranteed to find optimal-cost solutions (assuming h an admissible ) while being optimally efficient in the number of nodes expanded.</a:t>
            </a:r>
          </a:p>
          <a:p>
            <a:pPr>
              <a:lnSpc>
                <a:spcPct val="120000"/>
              </a:lnSpc>
            </a:pPr>
            <a:r>
              <a:rPr lang="en-IN" sz="1600" dirty="0"/>
              <a:t>With bidirectional best-first search we could also try using but unfortunately there is no guarantee that this would lead to an optimal-cost solution, nor that it would be optimally efficient, even with an admissible heuristic. </a:t>
            </a:r>
          </a:p>
          <a:p>
            <a:pPr>
              <a:lnSpc>
                <a:spcPct val="120000"/>
              </a:lnSpc>
            </a:pPr>
            <a:r>
              <a:rPr lang="en-IN" sz="1600" dirty="0"/>
              <a:t>With bidirectional search, it turns out that </a:t>
            </a:r>
            <a:r>
              <a:rPr lang="en-IN" sz="1600" dirty="0">
                <a:solidFill>
                  <a:srgbClr val="FF0000"/>
                </a:solidFill>
              </a:rPr>
              <a:t>it is not individual nodes but rather </a:t>
            </a:r>
            <a:r>
              <a:rPr lang="en-IN" sz="1600" i="1" dirty="0">
                <a:solidFill>
                  <a:srgbClr val="FF0000"/>
                </a:solidFill>
              </a:rPr>
              <a:t>pairs </a:t>
            </a:r>
            <a:r>
              <a:rPr lang="en-IN" sz="1600" dirty="0">
                <a:solidFill>
                  <a:srgbClr val="FF0000"/>
                </a:solidFill>
              </a:rPr>
              <a:t>of nodes (one from each frontier) </a:t>
            </a:r>
            <a:r>
              <a:rPr lang="en-IN" sz="1600" dirty="0"/>
              <a:t>that can be proved to be surely expanded, so any proof of efficiency will have to consider pairs of nodes</a:t>
            </a:r>
          </a:p>
          <a:p>
            <a:pPr lvl="1">
              <a:lnSpc>
                <a:spcPct val="120000"/>
              </a:lnSpc>
            </a:pPr>
            <a:r>
              <a:rPr lang="en-IN" sz="1400" dirty="0">
                <a:solidFill>
                  <a:srgbClr val="FF0000"/>
                </a:solidFill>
              </a:rPr>
              <a:t>We use </a:t>
            </a:r>
            <a:r>
              <a:rPr lang="pt-BR" sz="1400" dirty="0">
                <a:solidFill>
                  <a:srgbClr val="FF0000"/>
                </a:solidFill>
              </a:rPr>
              <a:t>f</a:t>
            </a:r>
            <a:r>
              <a:rPr lang="pt-BR" sz="1400" baseline="-25000" dirty="0">
                <a:solidFill>
                  <a:srgbClr val="FF0000"/>
                </a:solidFill>
              </a:rPr>
              <a:t>F</a:t>
            </a:r>
            <a:r>
              <a:rPr lang="pt-BR" sz="1400" dirty="0">
                <a:solidFill>
                  <a:srgbClr val="FF0000"/>
                </a:solidFill>
              </a:rPr>
              <a:t> (n) = g</a:t>
            </a:r>
            <a:r>
              <a:rPr lang="pt-BR" sz="1400" baseline="-25000" dirty="0">
                <a:solidFill>
                  <a:srgbClr val="FF0000"/>
                </a:solidFill>
              </a:rPr>
              <a:t>F</a:t>
            </a:r>
            <a:r>
              <a:rPr lang="pt-BR" sz="1400" dirty="0">
                <a:solidFill>
                  <a:srgbClr val="FF0000"/>
                </a:solidFill>
              </a:rPr>
              <a:t> (n) + h</a:t>
            </a:r>
            <a:r>
              <a:rPr lang="pt-BR" sz="1400" baseline="-25000" dirty="0">
                <a:solidFill>
                  <a:srgbClr val="FF0000"/>
                </a:solidFill>
              </a:rPr>
              <a:t>F</a:t>
            </a:r>
            <a:r>
              <a:rPr lang="pt-BR" sz="1400" dirty="0">
                <a:solidFill>
                  <a:srgbClr val="FF0000"/>
                </a:solidFill>
              </a:rPr>
              <a:t> (n)</a:t>
            </a:r>
            <a:r>
              <a:rPr lang="en-IN" sz="1400" dirty="0">
                <a:solidFill>
                  <a:srgbClr val="FF0000"/>
                </a:solidFill>
              </a:rPr>
              <a:t>, for nodes going in the forward direction  (with the initial state as root) and </a:t>
            </a:r>
          </a:p>
          <a:p>
            <a:pPr lvl="1">
              <a:lnSpc>
                <a:spcPct val="120000"/>
              </a:lnSpc>
            </a:pPr>
            <a:r>
              <a:rPr lang="en-IN" sz="1400" dirty="0">
                <a:solidFill>
                  <a:srgbClr val="FF0000"/>
                </a:solidFill>
              </a:rPr>
              <a:t>for nodes in the backward direction </a:t>
            </a:r>
            <a:r>
              <a:rPr lang="en-IN" sz="1400" dirty="0" err="1">
                <a:solidFill>
                  <a:srgbClr val="FF0000"/>
                </a:solidFill>
              </a:rPr>
              <a:t>f</a:t>
            </a:r>
            <a:r>
              <a:rPr lang="en-IN" sz="1400" baseline="-25000" dirty="0" err="1">
                <a:solidFill>
                  <a:srgbClr val="FF0000"/>
                </a:solidFill>
              </a:rPr>
              <a:t>B</a:t>
            </a:r>
            <a:r>
              <a:rPr lang="en-IN" sz="1400" dirty="0">
                <a:solidFill>
                  <a:srgbClr val="FF0000"/>
                </a:solidFill>
              </a:rPr>
              <a:t>(n) = </a:t>
            </a:r>
            <a:r>
              <a:rPr lang="en-IN" sz="1400" dirty="0" err="1">
                <a:solidFill>
                  <a:srgbClr val="FF0000"/>
                </a:solidFill>
              </a:rPr>
              <a:t>g</a:t>
            </a:r>
            <a:r>
              <a:rPr lang="en-IN" sz="1400" baseline="-25000" dirty="0" err="1">
                <a:solidFill>
                  <a:srgbClr val="FF0000"/>
                </a:solidFill>
              </a:rPr>
              <a:t>B</a:t>
            </a:r>
            <a:r>
              <a:rPr lang="en-IN" sz="1400" dirty="0">
                <a:solidFill>
                  <a:srgbClr val="FF0000"/>
                </a:solidFill>
              </a:rPr>
              <a:t>(n) + </a:t>
            </a:r>
            <a:r>
              <a:rPr lang="en-IN" sz="1400" dirty="0" err="1">
                <a:solidFill>
                  <a:srgbClr val="FF0000"/>
                </a:solidFill>
              </a:rPr>
              <a:t>h</a:t>
            </a:r>
            <a:r>
              <a:rPr lang="en-IN" sz="1400" baseline="-25000" dirty="0" err="1">
                <a:solidFill>
                  <a:srgbClr val="FF0000"/>
                </a:solidFill>
              </a:rPr>
              <a:t>B</a:t>
            </a:r>
            <a:r>
              <a:rPr lang="en-IN" sz="1400" dirty="0">
                <a:solidFill>
                  <a:srgbClr val="FF0000"/>
                </a:solidFill>
              </a:rPr>
              <a:t>(n) (with a goal state as root). </a:t>
            </a:r>
          </a:p>
          <a:p>
            <a:pPr algn="just">
              <a:lnSpc>
                <a:spcPct val="120000"/>
              </a:lnSpc>
            </a:pPr>
            <a:r>
              <a:rPr lang="en-IN" sz="1600" dirty="0"/>
              <a:t>Although both forward and backward searches are solving the same problem, they have different evaluation functions because, for example, </a:t>
            </a:r>
            <a:r>
              <a:rPr lang="en-IN" sz="1600" dirty="0">
                <a:solidFill>
                  <a:srgbClr val="FF0000"/>
                </a:solidFill>
              </a:rPr>
              <a:t>the heuristics are different depending on whether we are striving for the goal or for the initial state. </a:t>
            </a:r>
          </a:p>
        </p:txBody>
      </p:sp>
    </p:spTree>
    <p:extLst>
      <p:ext uri="{BB962C8B-B14F-4D97-AF65-F5344CB8AC3E}">
        <p14:creationId xmlns:p14="http://schemas.microsoft.com/office/powerpoint/2010/main" val="36557062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Bidirectional heuristic search</a:t>
            </a:r>
          </a:p>
        </p:txBody>
      </p:sp>
      <p:sp>
        <p:nvSpPr>
          <p:cNvPr id="3" name="Content Placeholder 2"/>
          <p:cNvSpPr>
            <a:spLocks noGrp="1"/>
          </p:cNvSpPr>
          <p:nvPr>
            <p:ph idx="1"/>
          </p:nvPr>
        </p:nvSpPr>
        <p:spPr/>
        <p:txBody>
          <a:bodyPr>
            <a:normAutofit fontScale="77500" lnSpcReduction="20000"/>
          </a:bodyPr>
          <a:lstStyle/>
          <a:p>
            <a:pPr>
              <a:lnSpc>
                <a:spcPct val="120000"/>
              </a:lnSpc>
            </a:pPr>
            <a:r>
              <a:rPr lang="en-IN" dirty="0">
                <a:solidFill>
                  <a:srgbClr val="FF0000"/>
                </a:solidFill>
              </a:rPr>
              <a:t>Consider a forward path from the initial state to a node m and a backward path from the goal to a node n. </a:t>
            </a:r>
          </a:p>
          <a:p>
            <a:pPr>
              <a:lnSpc>
                <a:spcPct val="120000"/>
              </a:lnSpc>
            </a:pPr>
            <a:r>
              <a:rPr lang="en-IN" dirty="0"/>
              <a:t>We can </a:t>
            </a:r>
            <a:r>
              <a:rPr lang="en-IN" dirty="0">
                <a:solidFill>
                  <a:srgbClr val="FF0000"/>
                </a:solidFill>
              </a:rPr>
              <a:t>define a lower bound on the cost of a solution </a:t>
            </a:r>
            <a:r>
              <a:rPr lang="en-IN" dirty="0"/>
              <a:t>that follows the path from the initial state to m then somehow gets to n, then follows the path to the goal as</a:t>
            </a:r>
          </a:p>
          <a:p>
            <a:pPr marL="0" indent="0">
              <a:lnSpc>
                <a:spcPct val="120000"/>
              </a:lnSpc>
              <a:buNone/>
            </a:pPr>
            <a:r>
              <a:rPr lang="pt-BR" dirty="0"/>
              <a:t>	</a:t>
            </a:r>
            <a:r>
              <a:rPr lang="pt-BR" dirty="0">
                <a:solidFill>
                  <a:srgbClr val="FF0000"/>
                </a:solidFill>
              </a:rPr>
              <a:t>lb(m, n) = max(g</a:t>
            </a:r>
            <a:r>
              <a:rPr lang="pt-BR" baseline="-25000" dirty="0">
                <a:solidFill>
                  <a:srgbClr val="FF0000"/>
                </a:solidFill>
              </a:rPr>
              <a:t>F</a:t>
            </a:r>
            <a:r>
              <a:rPr lang="pt-BR" dirty="0">
                <a:solidFill>
                  <a:srgbClr val="FF0000"/>
                </a:solidFill>
              </a:rPr>
              <a:t> (m) + g</a:t>
            </a:r>
            <a:r>
              <a:rPr lang="pt-BR" baseline="-25000" dirty="0">
                <a:solidFill>
                  <a:srgbClr val="FF0000"/>
                </a:solidFill>
              </a:rPr>
              <a:t>B</a:t>
            </a:r>
            <a:r>
              <a:rPr lang="pt-BR" dirty="0">
                <a:solidFill>
                  <a:srgbClr val="FF0000"/>
                </a:solidFill>
              </a:rPr>
              <a:t>(n), f</a:t>
            </a:r>
            <a:r>
              <a:rPr lang="pt-BR" baseline="-25000" dirty="0">
                <a:solidFill>
                  <a:srgbClr val="FF0000"/>
                </a:solidFill>
              </a:rPr>
              <a:t>F</a:t>
            </a:r>
            <a:r>
              <a:rPr lang="pt-BR" dirty="0">
                <a:solidFill>
                  <a:srgbClr val="FF0000"/>
                </a:solidFill>
              </a:rPr>
              <a:t> (m), f</a:t>
            </a:r>
            <a:r>
              <a:rPr lang="pt-BR" baseline="-25000" dirty="0">
                <a:solidFill>
                  <a:srgbClr val="FF0000"/>
                </a:solidFill>
              </a:rPr>
              <a:t>B</a:t>
            </a:r>
            <a:r>
              <a:rPr lang="pt-BR" dirty="0">
                <a:solidFill>
                  <a:srgbClr val="FF0000"/>
                </a:solidFill>
              </a:rPr>
              <a:t>(n))</a:t>
            </a:r>
            <a:endParaRPr lang="en-IN" dirty="0">
              <a:solidFill>
                <a:srgbClr val="FF0000"/>
              </a:solidFill>
            </a:endParaRPr>
          </a:p>
          <a:p>
            <a:pPr lvl="1">
              <a:lnSpc>
                <a:spcPct val="120000"/>
              </a:lnSpc>
            </a:pPr>
            <a:r>
              <a:rPr lang="en-IN" dirty="0"/>
              <a:t>cost of such a path must be at least as large as the sum of the path costs of the two parts and </a:t>
            </a:r>
          </a:p>
          <a:p>
            <a:pPr lvl="1">
              <a:lnSpc>
                <a:spcPct val="120000"/>
              </a:lnSpc>
            </a:pPr>
            <a:r>
              <a:rPr lang="en-IN" dirty="0"/>
              <a:t>the cost must also be at least as much as the estimated cost of either part (because the heuristic estimates are optimistic). </a:t>
            </a:r>
          </a:p>
        </p:txBody>
      </p:sp>
    </p:spTree>
    <p:extLst>
      <p:ext uri="{BB962C8B-B14F-4D97-AF65-F5344CB8AC3E}">
        <p14:creationId xmlns:p14="http://schemas.microsoft.com/office/powerpoint/2010/main" val="28290846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Bidirectional heuristic search</a:t>
            </a:r>
          </a:p>
        </p:txBody>
      </p:sp>
      <p:sp>
        <p:nvSpPr>
          <p:cNvPr id="3" name="Content Placeholder 2"/>
          <p:cNvSpPr>
            <a:spLocks noGrp="1"/>
          </p:cNvSpPr>
          <p:nvPr>
            <p:ph idx="1"/>
          </p:nvPr>
        </p:nvSpPr>
        <p:spPr/>
        <p:txBody>
          <a:bodyPr>
            <a:normAutofit fontScale="62500" lnSpcReduction="20000"/>
          </a:bodyPr>
          <a:lstStyle/>
          <a:p>
            <a:pPr>
              <a:lnSpc>
                <a:spcPct val="120000"/>
              </a:lnSpc>
            </a:pPr>
            <a:r>
              <a:rPr lang="en-IN" dirty="0"/>
              <a:t>Given that, the theorem is that </a:t>
            </a:r>
            <a:r>
              <a:rPr lang="en-IN" dirty="0">
                <a:solidFill>
                  <a:srgbClr val="FF0000"/>
                </a:solidFill>
              </a:rPr>
              <a:t>for any pair of nodes m, n with lb(m, n) less than the optimal cost C</a:t>
            </a:r>
            <a:r>
              <a:rPr lang="en-IN" baseline="30000" dirty="0">
                <a:solidFill>
                  <a:srgbClr val="FF0000"/>
                </a:solidFill>
              </a:rPr>
              <a:t>*</a:t>
            </a:r>
            <a:r>
              <a:rPr lang="en-IN" dirty="0">
                <a:solidFill>
                  <a:srgbClr val="FF0000"/>
                </a:solidFill>
              </a:rPr>
              <a:t> </a:t>
            </a:r>
            <a:r>
              <a:rPr lang="en-IN" dirty="0"/>
              <a:t>we must expand either m or n because the path that goes through both of them is a potential optimal solution. </a:t>
            </a:r>
          </a:p>
          <a:p>
            <a:pPr>
              <a:lnSpc>
                <a:spcPct val="120000"/>
              </a:lnSpc>
            </a:pPr>
            <a:r>
              <a:rPr lang="en-IN" dirty="0"/>
              <a:t>The difficulty is that we don’t know for sure which node is best to expand, and therefore </a:t>
            </a:r>
            <a:r>
              <a:rPr lang="en-IN" dirty="0">
                <a:solidFill>
                  <a:srgbClr val="FF0000"/>
                </a:solidFill>
              </a:rPr>
              <a:t>no bidirectional search algorithm can be guaranteed to be optimally efficient</a:t>
            </a:r>
          </a:p>
          <a:p>
            <a:pPr lvl="1">
              <a:lnSpc>
                <a:spcPct val="120000"/>
              </a:lnSpc>
            </a:pPr>
            <a:r>
              <a:rPr lang="en-IN" dirty="0"/>
              <a:t>Any algorithm might </a:t>
            </a:r>
            <a:r>
              <a:rPr lang="en-IN" dirty="0">
                <a:solidFill>
                  <a:srgbClr val="FF0000"/>
                </a:solidFill>
              </a:rPr>
              <a:t>expand up to twice the minimum number of nodes </a:t>
            </a:r>
            <a:r>
              <a:rPr lang="en-IN" dirty="0"/>
              <a:t>if it always chooses the wrong member of a pair to expand first. </a:t>
            </a:r>
          </a:p>
          <a:p>
            <a:pPr>
              <a:lnSpc>
                <a:spcPct val="120000"/>
              </a:lnSpc>
            </a:pPr>
            <a:r>
              <a:rPr lang="en-IN" dirty="0"/>
              <a:t>Some bidirectional heuristic search algorithms explicitly manage a queue of pairs.</a:t>
            </a:r>
          </a:p>
          <a:p>
            <a:pPr lvl="1">
              <a:lnSpc>
                <a:spcPct val="120000"/>
              </a:lnSpc>
            </a:pPr>
            <a:r>
              <a:rPr lang="en-IN" dirty="0"/>
              <a:t>But with bidirectional best-first search which has two frontier priority queues, and give it an </a:t>
            </a:r>
            <a:r>
              <a:rPr lang="en-IN" dirty="0">
                <a:solidFill>
                  <a:srgbClr val="FF0000"/>
                </a:solidFill>
              </a:rPr>
              <a:t>evaluation function that mimics the criteria:</a:t>
            </a:r>
          </a:p>
          <a:p>
            <a:pPr marL="0" indent="0">
              <a:lnSpc>
                <a:spcPct val="120000"/>
              </a:lnSpc>
              <a:buNone/>
            </a:pPr>
            <a:r>
              <a:rPr lang="en-IN" dirty="0"/>
              <a:t>		f</a:t>
            </a:r>
            <a:r>
              <a:rPr lang="en-IN" baseline="-25000" dirty="0"/>
              <a:t>2</a:t>
            </a:r>
            <a:r>
              <a:rPr lang="en-IN" dirty="0"/>
              <a:t>(n) = max(2g(n), g(n) + h(n))</a:t>
            </a:r>
          </a:p>
        </p:txBody>
      </p:sp>
    </p:spTree>
    <p:extLst>
      <p:ext uri="{BB962C8B-B14F-4D97-AF65-F5344CB8AC3E}">
        <p14:creationId xmlns:p14="http://schemas.microsoft.com/office/powerpoint/2010/main" val="233887065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Bidirectional heuristic search</a:t>
            </a:r>
          </a:p>
        </p:txBody>
      </p:sp>
      <p:sp>
        <p:nvSpPr>
          <p:cNvPr id="3" name="Content Placeholder 2"/>
          <p:cNvSpPr>
            <a:spLocks noGrp="1"/>
          </p:cNvSpPr>
          <p:nvPr>
            <p:ph idx="1"/>
          </p:nvPr>
        </p:nvSpPr>
        <p:spPr/>
        <p:txBody>
          <a:bodyPr>
            <a:normAutofit fontScale="92500"/>
          </a:bodyPr>
          <a:lstStyle/>
          <a:p>
            <a:r>
              <a:rPr lang="en-IN" dirty="0"/>
              <a:t>Given f</a:t>
            </a:r>
            <a:r>
              <a:rPr lang="en-IN" baseline="-25000" dirty="0"/>
              <a:t>2</a:t>
            </a:r>
            <a:r>
              <a:rPr lang="en-IN" dirty="0"/>
              <a:t>(n) = max(2g(n), g(n) + h(n))</a:t>
            </a:r>
          </a:p>
          <a:p>
            <a:pPr lvl="1"/>
            <a:r>
              <a:rPr lang="en-IN" dirty="0"/>
              <a:t>The node to expand next will be the one that minimizes this f</a:t>
            </a:r>
            <a:r>
              <a:rPr lang="en-IN" baseline="-25000" dirty="0"/>
              <a:t>2</a:t>
            </a:r>
            <a:r>
              <a:rPr lang="en-IN" dirty="0"/>
              <a:t>value</a:t>
            </a:r>
          </a:p>
          <a:p>
            <a:pPr lvl="1"/>
            <a:r>
              <a:rPr lang="en-IN" dirty="0"/>
              <a:t>the node can come from either frontier. </a:t>
            </a:r>
          </a:p>
          <a:p>
            <a:pPr lvl="1"/>
            <a:r>
              <a:rPr lang="en-IN" dirty="0">
                <a:solidFill>
                  <a:srgbClr val="FF0000"/>
                </a:solidFill>
              </a:rPr>
              <a:t>This f</a:t>
            </a:r>
            <a:r>
              <a:rPr lang="en-IN" baseline="-25000" dirty="0">
                <a:solidFill>
                  <a:srgbClr val="FF0000"/>
                </a:solidFill>
              </a:rPr>
              <a:t>2</a:t>
            </a:r>
            <a:r>
              <a:rPr lang="en-IN" dirty="0">
                <a:solidFill>
                  <a:srgbClr val="FF0000"/>
                </a:solidFill>
              </a:rPr>
              <a:t>function guarantees that we will never expand a node with g(n) &gt;  C</a:t>
            </a:r>
            <a:r>
              <a:rPr lang="en-IN" baseline="30000" dirty="0">
                <a:solidFill>
                  <a:srgbClr val="FF0000"/>
                </a:solidFill>
              </a:rPr>
              <a:t>*</a:t>
            </a:r>
            <a:r>
              <a:rPr lang="en-IN" dirty="0">
                <a:solidFill>
                  <a:srgbClr val="FF0000"/>
                </a:solidFill>
              </a:rPr>
              <a:t>/2</a:t>
            </a:r>
            <a:r>
              <a:rPr lang="en-IN" dirty="0"/>
              <a:t>(from either frontier) </a:t>
            </a:r>
          </a:p>
          <a:p>
            <a:pPr lvl="1"/>
            <a:r>
              <a:rPr lang="en-IN" dirty="0"/>
              <a:t>We say the </a:t>
            </a:r>
            <a:r>
              <a:rPr lang="en-IN" dirty="0">
                <a:solidFill>
                  <a:srgbClr val="FF0000"/>
                </a:solidFill>
              </a:rPr>
              <a:t>two halves of the search “meet in the middle” </a:t>
            </a:r>
            <a:r>
              <a:rPr lang="en-IN" dirty="0"/>
              <a:t>in the sense that when the two frontiers touch, no node inside of either frontier has a path cost greater than the bound</a:t>
            </a:r>
          </a:p>
        </p:txBody>
      </p:sp>
    </p:spTree>
    <p:extLst>
      <p:ext uri="{BB962C8B-B14F-4D97-AF65-F5344CB8AC3E}">
        <p14:creationId xmlns:p14="http://schemas.microsoft.com/office/powerpoint/2010/main" val="262321360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Bidirectional heuristic search</a:t>
            </a:r>
          </a:p>
        </p:txBody>
      </p:sp>
      <p:sp>
        <p:nvSpPr>
          <p:cNvPr id="3" name="Content Placeholder 2"/>
          <p:cNvSpPr>
            <a:spLocks noGrp="1"/>
          </p:cNvSpPr>
          <p:nvPr>
            <p:ph idx="1"/>
          </p:nvPr>
        </p:nvSpPr>
        <p:spPr>
          <a:xfrm>
            <a:off x="457200" y="1340768"/>
            <a:ext cx="8229600" cy="4785395"/>
          </a:xfrm>
        </p:spPr>
        <p:txBody>
          <a:bodyPr>
            <a:normAutofit/>
          </a:bodyPr>
          <a:lstStyle/>
          <a:p>
            <a:r>
              <a:rPr lang="en-IN" sz="2800" dirty="0"/>
              <a:t>Example:</a:t>
            </a:r>
          </a:p>
          <a:p>
            <a:endParaRPr lang="en-IN" sz="28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6525" y="1844824"/>
            <a:ext cx="6823702" cy="42484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403926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Bidirectional heuristic search</a:t>
            </a:r>
          </a:p>
        </p:txBody>
      </p:sp>
      <p:sp>
        <p:nvSpPr>
          <p:cNvPr id="3" name="Content Placeholder 2"/>
          <p:cNvSpPr>
            <a:spLocks noGrp="1"/>
          </p:cNvSpPr>
          <p:nvPr>
            <p:ph idx="1"/>
          </p:nvPr>
        </p:nvSpPr>
        <p:spPr/>
        <p:txBody>
          <a:bodyPr>
            <a:noAutofit/>
          </a:bodyPr>
          <a:lstStyle/>
          <a:p>
            <a:pPr>
              <a:lnSpc>
                <a:spcPct val="120000"/>
              </a:lnSpc>
            </a:pPr>
            <a:r>
              <a:rPr lang="en-IN" sz="2000" dirty="0"/>
              <a:t>We have described an approach where the heuristic estimates the distance to the goal (or, when the problem has multiple goal states, the distance to the closest goal) and  estimates the distance to the start. </a:t>
            </a:r>
          </a:p>
          <a:p>
            <a:pPr lvl="1">
              <a:lnSpc>
                <a:spcPct val="120000"/>
              </a:lnSpc>
            </a:pPr>
            <a:r>
              <a:rPr lang="en-IN" sz="2000" dirty="0"/>
              <a:t>This is called a </a:t>
            </a:r>
            <a:r>
              <a:rPr lang="en-IN" sz="2000" b="1" dirty="0">
                <a:solidFill>
                  <a:srgbClr val="FF0000"/>
                </a:solidFill>
              </a:rPr>
              <a:t>front-to-end </a:t>
            </a:r>
            <a:r>
              <a:rPr lang="en-IN" sz="2000" dirty="0">
                <a:solidFill>
                  <a:srgbClr val="FF0000"/>
                </a:solidFill>
              </a:rPr>
              <a:t>search</a:t>
            </a:r>
            <a:r>
              <a:rPr lang="en-IN" sz="2000" dirty="0"/>
              <a:t>. </a:t>
            </a:r>
          </a:p>
          <a:p>
            <a:pPr marL="342900" lvl="1" indent="-342900">
              <a:lnSpc>
                <a:spcPct val="120000"/>
              </a:lnSpc>
              <a:buFont typeface="Arial" panose="020B0604020202020204" pitchFamily="34" charset="0"/>
              <a:buChar char="•"/>
            </a:pPr>
            <a:r>
              <a:rPr lang="en-IN" sz="2000" dirty="0"/>
              <a:t>An alternative, called </a:t>
            </a:r>
            <a:r>
              <a:rPr lang="en-IN" sz="2000" b="1" dirty="0">
                <a:solidFill>
                  <a:srgbClr val="FF0000"/>
                </a:solidFill>
              </a:rPr>
              <a:t>front-to-front </a:t>
            </a:r>
            <a:r>
              <a:rPr lang="en-IN" sz="2000" dirty="0">
                <a:solidFill>
                  <a:srgbClr val="FF0000"/>
                </a:solidFill>
              </a:rPr>
              <a:t>search, attempts to estimate the distance to the other frontier. </a:t>
            </a:r>
          </a:p>
          <a:p>
            <a:pPr marL="742950" lvl="2" indent="-342900">
              <a:lnSpc>
                <a:spcPct val="120000"/>
              </a:lnSpc>
            </a:pPr>
            <a:r>
              <a:rPr lang="en-IN" sz="1600" dirty="0"/>
              <a:t>Clearly, if a frontier has millions of nodes, it would be inefficient to apply the heuristic function to every one of them and take the minimum. </a:t>
            </a:r>
          </a:p>
          <a:p>
            <a:pPr marL="742950" lvl="2" indent="-342900">
              <a:lnSpc>
                <a:spcPct val="120000"/>
              </a:lnSpc>
            </a:pPr>
            <a:r>
              <a:rPr lang="en-IN" sz="1600" dirty="0"/>
              <a:t>But it can work to sample a few nodes from the frontier.</a:t>
            </a:r>
          </a:p>
          <a:p>
            <a:pPr lvl="1">
              <a:lnSpc>
                <a:spcPct val="120000"/>
              </a:lnSpc>
            </a:pPr>
            <a:r>
              <a:rPr lang="en-IN" sz="1600" dirty="0"/>
              <a:t>In certain specific problem domains it is possible to </a:t>
            </a:r>
            <a:r>
              <a:rPr lang="en-IN" sz="1600" i="1" dirty="0">
                <a:solidFill>
                  <a:srgbClr val="FF0000"/>
                </a:solidFill>
              </a:rPr>
              <a:t>summarize </a:t>
            </a:r>
            <a:r>
              <a:rPr lang="en-IN" sz="1600" dirty="0">
                <a:solidFill>
                  <a:srgbClr val="FF0000"/>
                </a:solidFill>
              </a:rPr>
              <a:t>the frontier</a:t>
            </a:r>
            <a:r>
              <a:rPr lang="en-IN" sz="1600" dirty="0"/>
              <a:t>—for example, in a grid search problem, we can incrementally compute a bounding box of the frontier, and use as a heuristic ,the distance to the bounding box.</a:t>
            </a:r>
          </a:p>
        </p:txBody>
      </p:sp>
    </p:spTree>
    <p:extLst>
      <p:ext uri="{BB962C8B-B14F-4D97-AF65-F5344CB8AC3E}">
        <p14:creationId xmlns:p14="http://schemas.microsoft.com/office/powerpoint/2010/main" val="32778376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Bidirectional heuristic search</a:t>
            </a:r>
          </a:p>
        </p:txBody>
      </p:sp>
      <p:sp>
        <p:nvSpPr>
          <p:cNvPr id="3" name="Content Placeholder 2"/>
          <p:cNvSpPr>
            <a:spLocks noGrp="1"/>
          </p:cNvSpPr>
          <p:nvPr>
            <p:ph idx="1"/>
          </p:nvPr>
        </p:nvSpPr>
        <p:spPr/>
        <p:txBody>
          <a:bodyPr>
            <a:noAutofit/>
          </a:bodyPr>
          <a:lstStyle/>
          <a:p>
            <a:pPr>
              <a:lnSpc>
                <a:spcPct val="120000"/>
              </a:lnSpc>
            </a:pPr>
            <a:r>
              <a:rPr lang="en-IN" sz="2000" dirty="0"/>
              <a:t>Bidirectional search is sometimes more efficient than unidirectional search, sometimes not.</a:t>
            </a:r>
          </a:p>
          <a:p>
            <a:pPr>
              <a:lnSpc>
                <a:spcPct val="120000"/>
              </a:lnSpc>
            </a:pPr>
            <a:r>
              <a:rPr lang="en-IN" sz="2000" dirty="0"/>
              <a:t>In general, </a:t>
            </a:r>
          </a:p>
          <a:p>
            <a:pPr lvl="1">
              <a:lnSpc>
                <a:spcPct val="120000"/>
              </a:lnSpc>
            </a:pPr>
            <a:r>
              <a:rPr lang="en-IN" sz="1600" dirty="0">
                <a:solidFill>
                  <a:srgbClr val="FF0000"/>
                </a:solidFill>
              </a:rPr>
              <a:t>if we have a very good heuristic, then A* search produces search contours that are focused on the goal, and adding bidirectional search does not help much. </a:t>
            </a:r>
          </a:p>
          <a:p>
            <a:pPr lvl="1">
              <a:lnSpc>
                <a:spcPct val="120000"/>
              </a:lnSpc>
            </a:pPr>
            <a:r>
              <a:rPr lang="en-IN" sz="1600" dirty="0"/>
              <a:t>With an average heuristic, bidirectional search that meets in the middle tends to expand fewer nodes and is preferred. </a:t>
            </a:r>
          </a:p>
          <a:p>
            <a:pPr lvl="1">
              <a:lnSpc>
                <a:spcPct val="120000"/>
              </a:lnSpc>
            </a:pPr>
            <a:r>
              <a:rPr lang="en-IN" sz="1600" dirty="0">
                <a:solidFill>
                  <a:srgbClr val="FF0000"/>
                </a:solidFill>
              </a:rPr>
              <a:t>In the worst case of a poor heuristic, the search is no longer focused on the goal, and bidirectional search has the same asymptotic complexity as A*.</a:t>
            </a:r>
            <a:r>
              <a:rPr lang="en-IN" sz="1600" dirty="0"/>
              <a:t> </a:t>
            </a:r>
          </a:p>
          <a:p>
            <a:pPr>
              <a:lnSpc>
                <a:spcPct val="120000"/>
              </a:lnSpc>
            </a:pPr>
            <a:r>
              <a:rPr lang="en-IN" sz="2000" dirty="0"/>
              <a:t>Bidirectional search with the evaluation function and an admissible heuristic is complete and optimal.</a:t>
            </a:r>
          </a:p>
        </p:txBody>
      </p:sp>
    </p:spTree>
    <p:extLst>
      <p:ext uri="{BB962C8B-B14F-4D97-AF65-F5344CB8AC3E}">
        <p14:creationId xmlns:p14="http://schemas.microsoft.com/office/powerpoint/2010/main" val="38804646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Other References</a:t>
            </a:r>
          </a:p>
        </p:txBody>
      </p:sp>
      <p:sp>
        <p:nvSpPr>
          <p:cNvPr id="3" name="Content Placeholder 2"/>
          <p:cNvSpPr>
            <a:spLocks noGrp="1"/>
          </p:cNvSpPr>
          <p:nvPr>
            <p:ph idx="1"/>
          </p:nvPr>
        </p:nvSpPr>
        <p:spPr/>
        <p:txBody>
          <a:bodyPr>
            <a:normAutofit/>
          </a:bodyPr>
          <a:lstStyle/>
          <a:p>
            <a:endParaRPr lang="en-IN" dirty="0"/>
          </a:p>
          <a:p>
            <a:pPr algn="just"/>
            <a:r>
              <a:rPr lang="en-IN" dirty="0">
                <a:hlinkClick r:id="rId2"/>
              </a:rPr>
              <a:t>https://en.wikipedia.org/wiki/Best-first_search</a:t>
            </a:r>
            <a:endParaRPr lang="en-IN" dirty="0"/>
          </a:p>
          <a:p>
            <a:pPr algn="just"/>
            <a:r>
              <a:rPr lang="en-IN" dirty="0"/>
              <a:t>https://www.javatpoint.com/ai-informed-search-algorithms</a:t>
            </a:r>
          </a:p>
        </p:txBody>
      </p:sp>
    </p:spTree>
    <p:extLst>
      <p:ext uri="{BB962C8B-B14F-4D97-AF65-F5344CB8AC3E}">
        <p14:creationId xmlns:p14="http://schemas.microsoft.com/office/powerpoint/2010/main" val="37382423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2354</TotalTime>
  <Words>5759</Words>
  <Application>Microsoft Office PowerPoint</Application>
  <PresentationFormat>On-screen Show (4:3)</PresentationFormat>
  <Paragraphs>334</Paragraphs>
  <Slides>64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64</vt:i4>
      </vt:variant>
    </vt:vector>
  </HeadingPairs>
  <TitlesOfParts>
    <vt:vector size="73" baseType="lpstr">
      <vt:lpstr>Arial</vt:lpstr>
      <vt:lpstr>Arimo</vt:lpstr>
      <vt:lpstr>Calibri</vt:lpstr>
      <vt:lpstr>erdana</vt:lpstr>
      <vt:lpstr>inter-bold</vt:lpstr>
      <vt:lpstr>inter-regular</vt:lpstr>
      <vt:lpstr>urw-din</vt:lpstr>
      <vt:lpstr>Wingdings</vt:lpstr>
      <vt:lpstr>Office Theme</vt:lpstr>
      <vt:lpstr>Module2_Heuristic Search Strategies</vt:lpstr>
      <vt:lpstr>Heuristic Technique</vt:lpstr>
      <vt:lpstr>Heuristic Technique</vt:lpstr>
      <vt:lpstr>Informed (Heuristic) Search Strategies</vt:lpstr>
      <vt:lpstr>PowerPoint Presentation</vt:lpstr>
      <vt:lpstr>Informed (Heuristic) Search Strategies</vt:lpstr>
      <vt:lpstr>Best-first search</vt:lpstr>
      <vt:lpstr>Best-first search</vt:lpstr>
      <vt:lpstr>PowerPoint Presentation</vt:lpstr>
      <vt:lpstr>Best-first search</vt:lpstr>
      <vt:lpstr>PowerPoint Presentation</vt:lpstr>
      <vt:lpstr>Advantages and Disadvantages</vt:lpstr>
      <vt:lpstr>Analysis</vt:lpstr>
      <vt:lpstr>Greedy best-first search</vt:lpstr>
      <vt:lpstr>Example : </vt:lpstr>
      <vt:lpstr>PowerPoint Presentation</vt:lpstr>
      <vt:lpstr>Greedy best-first search</vt:lpstr>
      <vt:lpstr>Greedy best-first search</vt:lpstr>
      <vt:lpstr>Greedy best-first search</vt:lpstr>
      <vt:lpstr>Greedy best-first search</vt:lpstr>
      <vt:lpstr>Greedy best-first search - Steps</vt:lpstr>
      <vt:lpstr>Greedy best-first search</vt:lpstr>
      <vt:lpstr>Greedy best-first search</vt:lpstr>
      <vt:lpstr>Greedy best-first search</vt:lpstr>
      <vt:lpstr>Greedy best-first search</vt:lpstr>
      <vt:lpstr>A*  heuristic search</vt:lpstr>
      <vt:lpstr>A*  heuristic search</vt:lpstr>
      <vt:lpstr>A*  heuristic search</vt:lpstr>
      <vt:lpstr>A*  heuristic search</vt:lpstr>
      <vt:lpstr>A*  heuristic search</vt:lpstr>
      <vt:lpstr>A*  heuristic search</vt:lpstr>
      <vt:lpstr>PowerPoint Presentation</vt:lpstr>
      <vt:lpstr>A* search Example </vt:lpstr>
      <vt:lpstr>A* search Example </vt:lpstr>
      <vt:lpstr>A* search Example </vt:lpstr>
      <vt:lpstr>A* Search properties</vt:lpstr>
      <vt:lpstr>A* Search properties</vt:lpstr>
      <vt:lpstr>A* Search properties</vt:lpstr>
      <vt:lpstr>A* Search properties</vt:lpstr>
      <vt:lpstr>Search contours</vt:lpstr>
      <vt:lpstr>Search contours</vt:lpstr>
      <vt:lpstr>A* Search properties</vt:lpstr>
      <vt:lpstr>A* Search properties</vt:lpstr>
      <vt:lpstr>Satisficing search: Inadmissible heuristics and weighted A*</vt:lpstr>
      <vt:lpstr>Weighted A*search</vt:lpstr>
      <vt:lpstr>Weighted A*search</vt:lpstr>
      <vt:lpstr>Weighted A*search</vt:lpstr>
      <vt:lpstr>Weighted A*search</vt:lpstr>
      <vt:lpstr>Memory-bounded search </vt:lpstr>
      <vt:lpstr>Beam search</vt:lpstr>
      <vt:lpstr>Iterative-deepening A* search</vt:lpstr>
      <vt:lpstr>Iterative-deepening A* search</vt:lpstr>
      <vt:lpstr>Recursive best-first search (RBFS)</vt:lpstr>
      <vt:lpstr>Recursive best-first search (RBFS)</vt:lpstr>
      <vt:lpstr>Recursive best-first search (RBFS) Example</vt:lpstr>
      <vt:lpstr>Simplified Memory-bounded A*(SMA*)</vt:lpstr>
      <vt:lpstr>Bidirectional heuristic search</vt:lpstr>
      <vt:lpstr>Bidirectional heuristic search</vt:lpstr>
      <vt:lpstr>Bidirectional heuristic search</vt:lpstr>
      <vt:lpstr>Bidirectional heuristic search</vt:lpstr>
      <vt:lpstr>Bidirectional heuristic search</vt:lpstr>
      <vt:lpstr>Bidirectional heuristic search</vt:lpstr>
      <vt:lpstr>Bidirectional heuristic search</vt:lpstr>
      <vt:lpstr>Other References</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Module3_Heuristic Search Strategies</dc:title>
  <dc:creator>vijaya sherly</dc:creator>
  <cp:lastModifiedBy>SHALINI</cp:lastModifiedBy>
  <cp:revision>173</cp:revision>
  <dcterms:created xsi:type="dcterms:W3CDTF">2022-08-23T06:45:46Z</dcterms:created>
  <dcterms:modified xsi:type="dcterms:W3CDTF">2024-08-13T04:20:55Z</dcterms:modified>
</cp:coreProperties>
</file>