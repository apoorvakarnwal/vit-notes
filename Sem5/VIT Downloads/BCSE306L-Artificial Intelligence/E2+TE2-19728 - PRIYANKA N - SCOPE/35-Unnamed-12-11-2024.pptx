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70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21"/>
    <p:restoredTop sz="93701"/>
  </p:normalViewPr>
  <p:slideViewPr>
    <p:cSldViewPr>
      <p:cViewPr varScale="1">
        <p:scale>
          <a:sx n="148" d="100"/>
          <a:sy n="148" d="100"/>
        </p:scale>
        <p:origin x="158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88B301-726D-60DB-7768-26BA0DEBFB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AFA65-4279-55DB-0BAD-3F22442240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D04F7D8-A111-2546-844B-37446782C32E}" type="datetime1">
              <a:rPr lang="en-US" altLang="en-US"/>
              <a:pPr>
                <a:defRPr/>
              </a:pPr>
              <a:t>11/14/24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28D94-5A71-5AB4-BF74-033FA8446F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810C6-4456-911D-0ACA-3CFF41E236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D910017-0A82-BA46-BCA7-5EE5A54015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F1B750F-6799-A5D8-ED2B-5895232E59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02329B5-C67F-2AB7-2ADF-7FF638C8FFA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FFC0C33-BE01-4636-0D92-1457498D0CA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FF3871E8-AA82-8834-FC05-5C01392D181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5C5F979C-AE01-C15B-54B6-D2A151E7447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1D67703B-F1FA-47A5-2699-310CF3DCC9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B216135-CEBA-554D-9E6E-C811FEDF529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6EF94-4B15-ED85-A283-4CEE9DBF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739D0-DB97-7B41-B587-248FE8EC471C}" type="datetimeFigureOut">
              <a:rPr lang="en-US"/>
              <a:pPr>
                <a:defRPr/>
              </a:pPr>
              <a:t>11/14/24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AFD7B-64D2-C7F4-2584-902808445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Angel: Interactive Computer Graphics5E © Addison-Wesley 2009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0B59F-9677-9AD6-2CA7-5A64DA63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DB2E0375-D01F-1048-A0F3-FB715873C494}" type="slidenum">
              <a:rPr lang="es-ES" altLang="en-US"/>
              <a:pPr lvl="1"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631535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C5E12-A130-FF7E-5CE5-1F43EC51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F330D-599D-F040-81BD-F5D0DB500D1D}" type="datetimeFigureOut">
              <a:rPr lang="en-US"/>
              <a:pPr>
                <a:defRPr/>
              </a:pPr>
              <a:t>11/14/24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A57C3-2F97-C4E8-7AD4-BD5C19832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Angel: Interactive Computer Graphics5E © Addison-Wesley 2009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25CF2-FF23-B343-BE6A-06D419F5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DC0EE16-950B-A044-A4C7-0F0A01A8702F}" type="slidenum">
              <a:rPr lang="es-ES" altLang="en-US"/>
              <a:pPr lvl="1"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50486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1D76C-A4A4-9146-10B7-CEF062D9C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B62DA-9FC6-7F4D-BB71-CC75819250F1}" type="datetimeFigureOut">
              <a:rPr lang="en-US"/>
              <a:pPr>
                <a:defRPr/>
              </a:pPr>
              <a:t>11/14/24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D76F0-8E2A-D061-97E7-23AB85E0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Angel: Interactive Computer Graphics5E © Addison-Wesley 2009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1AE3B-01D9-485A-2030-DE0C2980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B31649B-EEB9-3F4F-9859-22A5F9F429E7}" type="slidenum">
              <a:rPr lang="es-ES" altLang="en-US"/>
              <a:pPr lvl="1"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8581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89791D8-A964-F176-7FAF-0F6BC2E96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51873-D74A-394D-B148-4B6A19271BE7}" type="datetimeFigureOut">
              <a:rPr lang="en-US"/>
              <a:pPr>
                <a:defRPr/>
              </a:pPr>
              <a:t>11/14/24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64D2BC-E2A8-2D97-B602-3CEA77946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Angel: Interactive Computer Graphics5E © Addison-Wesley 2009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66E564B-D5F2-ABFF-EF2B-EA52B43D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330D7B44-9F7D-3442-AC1F-6C2EBE5FBABB}" type="slidenum">
              <a:rPr lang="es-ES" altLang="en-US"/>
              <a:pPr lvl="1"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411616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96D859F-9DD5-0EEA-1427-DC4ECD8AA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F5CAB-EE36-6A4A-838D-B6B6DDDC65C2}" type="datetimeFigureOut">
              <a:rPr lang="en-US"/>
              <a:pPr>
                <a:defRPr/>
              </a:pPr>
              <a:t>11/14/24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E27E1CC-5926-22EC-769B-AAF3B313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Angel: Interactive Computer Graphics5E © Addison-Wesley 2009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497D70-B4DF-E66C-14AC-59D76780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5D360FA7-FC0B-9F4A-B86B-EDCF91DD594A}" type="slidenum">
              <a:rPr lang="es-ES" altLang="en-US"/>
              <a:pPr lvl="1"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53776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6F1871-13F1-55AA-CBE4-CFB5B2E2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CDA93-5F27-894E-BAB0-D73794C52724}" type="datetimeFigureOut">
              <a:rPr lang="en-US"/>
              <a:pPr>
                <a:defRPr/>
              </a:pPr>
              <a:t>11/14/24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707187C-11A6-F9BF-1765-DD127B9D8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Angel: Interactive Computer Graphics5E © Addison-Wesley 2009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1D52BC-3675-DA1B-ED02-B608DCBC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73B8BACB-64E3-D048-BACD-71562FD2C5E1}" type="slidenum">
              <a:rPr lang="es-ES" altLang="en-US"/>
              <a:pPr lvl="1"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62788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24E548E-7F04-E323-1DB7-C6D23B14E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DED34-E9CE-364D-AE36-D8DF51157342}" type="datetimeFigureOut">
              <a:rPr lang="en-US"/>
              <a:pPr>
                <a:defRPr/>
              </a:pPr>
              <a:t>11/14/24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778B03D-2437-D306-9661-4D1856341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Angel: Interactive Computer Graphics5E © Addison-Wesley 2009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19BA54A-1E0B-843C-8E0C-11B4494F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8EA6EB2B-4105-1A43-AB69-38C347D6D9EF}" type="slidenum">
              <a:rPr lang="es-ES" altLang="en-US"/>
              <a:pPr lvl="1"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70846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B726139-4C70-BB92-E356-94F58FB7A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10401-8837-4245-9B69-9E73B629D3A2}" type="datetimeFigureOut">
              <a:rPr lang="en-US"/>
              <a:pPr>
                <a:defRPr/>
              </a:pPr>
              <a:t>11/14/24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86E34ED-F7EA-4D17-EADE-931A27140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Angel: Interactive Computer Graphics5E © Addison-Wesley 2009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76273F-3D7F-943B-8045-37BB2170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C595068-198E-E842-9550-129DC31CD5E1}" type="slidenum">
              <a:rPr lang="es-ES" altLang="en-US"/>
              <a:pPr lvl="1"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27380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8CBDC3C-A780-2E12-7A2F-7A3445C9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7FB93-2036-E641-A129-2EF3D2D59CA0}" type="datetimeFigureOut">
              <a:rPr lang="en-US"/>
              <a:pPr>
                <a:defRPr/>
              </a:pPr>
              <a:t>11/14/24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7CF86DD-0BAA-01EC-7A48-CBE2DCEFC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Angel: Interactive Computer Graphics5E © Addison-Wesley 2009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58BD1E-1082-40E3-64A8-77CE9B16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F3FA4D18-E555-1646-927E-0839A2A0AC78}" type="slidenum">
              <a:rPr lang="es-ES" altLang="en-US"/>
              <a:pPr lvl="1"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1361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F9D24-A7BE-AA45-254F-93BDDEE9C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218CC-633C-A74E-A98B-0B69A3F1FB2F}" type="datetimeFigureOut">
              <a:rPr lang="en-US"/>
              <a:pPr>
                <a:defRPr/>
              </a:pPr>
              <a:t>11/14/24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0AED4-95AF-CE48-F577-E95E7540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Angel: Interactive Computer Graphics5E © Addison-Wesley 2009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45C89-2DF7-BB87-963A-849E8C03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7A963369-569A-914F-8EB4-B78F1B84E905}" type="slidenum">
              <a:rPr lang="es-ES" altLang="en-US"/>
              <a:pPr lvl="1"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9803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901DE-3E59-1590-3670-36620F40A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6B6535-7C62-5446-8C0D-7F4CE0104253}" type="datetimeFigureOut">
              <a:rPr lang="en-US"/>
              <a:pPr>
                <a:defRPr/>
              </a:pPr>
              <a:t>11/14/24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0EA24-E3AE-908D-72F8-289D70BC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Angel: Interactive Computer Graphics5E © Addison-Wesley 2009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302E8-443C-3F6F-DD30-84CF8C3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6AF29317-4775-3841-A41D-76025624EC45}" type="slidenum">
              <a:rPr lang="es-ES" altLang="en-US"/>
              <a:pPr lvl="1"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72035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C3871EC-6CBC-40A1-EE8D-FB5737C7DD6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EDCF4-64F3-A412-2977-FE0D0FA93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FCFA8-E8ED-912C-63C3-5CFCE2117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3D50D03-D1E8-9248-8F78-EF8470740B28}" type="datetimeFigureOut">
              <a:rPr lang="en-US"/>
              <a:pPr>
                <a:defRPr/>
              </a:pPr>
              <a:t>11/14/24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B5E90-197A-9899-2DD1-EC22AD1E7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Angel: Interactive Computer Graphics5E © Addison-Wesley 2009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9AD70-8A71-3527-3B96-3993E9D30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>
              <a:defRPr/>
            </a:lvl2pPr>
          </a:lstStyle>
          <a:p>
            <a:pPr lvl="1"/>
            <a:fld id="{98D78D4B-EBC9-6546-A06C-CC5D805C0F41}" type="slidenum">
              <a:rPr lang="es-ES" altLang="en-US"/>
              <a:pPr lvl="1"/>
              <a:t>‹#›</a:t>
            </a:fld>
            <a:endParaRPr lang="es-E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dt="0"/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4DBEF3F-57AF-6985-C7D2-763C8C62FF8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7200" y="2057400"/>
            <a:ext cx="7772400" cy="1143000"/>
          </a:xfrm>
        </p:spPr>
        <p:txBody>
          <a:bodyPr/>
          <a:lstStyle/>
          <a:p>
            <a:r>
              <a:rPr lang="en-US" altLang="en-US" sz="7200" b="1" dirty="0">
                <a:solidFill>
                  <a:srgbClr val="002060"/>
                </a:solidFill>
              </a:rPr>
              <a:t>Image Formation</a:t>
            </a:r>
          </a:p>
        </p:txBody>
      </p:sp>
      <p:sp>
        <p:nvSpPr>
          <p:cNvPr id="4099" name="Slide Number Placeholder 3">
            <a:extLst>
              <a:ext uri="{FF2B5EF4-FFF2-40B4-BE49-F238E27FC236}">
                <a16:creationId xmlns:a16="http://schemas.microsoft.com/office/drawing/2014/main" id="{931F5395-FB68-35D9-3E48-6E9095E8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EDD91DC9-A57D-4840-A569-98C0D7878C7E}" type="slidenum">
              <a:rPr lang="es-ES" altLang="en-US" sz="1000">
                <a:latin typeface="Arial" panose="020B0604020202020204" pitchFamily="34" charset="0"/>
              </a:rPr>
              <a:pPr lvl="1"/>
              <a:t>1</a:t>
            </a:fld>
            <a:endParaRPr lang="es-ES" altLang="en-US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98088AD-4CF1-C97F-A07E-C83067F30F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6248400" cy="10668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C709445-7B69-BE05-5EF6-15E2F17AD4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" y="1600200"/>
            <a:ext cx="7886700" cy="4351338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3600" dirty="0"/>
              <a:t>Fundamental imaging notions</a:t>
            </a:r>
          </a:p>
          <a:p>
            <a:r>
              <a:rPr lang="en-US" altLang="en-US" sz="3600" dirty="0"/>
              <a:t>Physical basis for image formation</a:t>
            </a:r>
          </a:p>
          <a:p>
            <a:pPr lvl="1"/>
            <a:r>
              <a:rPr lang="en-US" altLang="en-US" sz="3600" dirty="0">
                <a:ea typeface="ＭＳ Ｐゴシック" panose="020B0600070205080204" pitchFamily="34" charset="-128"/>
              </a:rPr>
              <a:t>Light</a:t>
            </a:r>
          </a:p>
          <a:p>
            <a:pPr lvl="1"/>
            <a:r>
              <a:rPr lang="en-US" altLang="en-US" sz="3600" dirty="0">
                <a:ea typeface="ＭＳ Ｐゴシック" panose="020B0600070205080204" pitchFamily="34" charset="-128"/>
              </a:rPr>
              <a:t>Color</a:t>
            </a:r>
          </a:p>
          <a:p>
            <a:pPr lvl="1"/>
            <a:r>
              <a:rPr lang="en-US" altLang="en-US" sz="3600" dirty="0">
                <a:ea typeface="ＭＳ Ｐゴシック" panose="020B0600070205080204" pitchFamily="34" charset="-128"/>
              </a:rPr>
              <a:t>Perception</a:t>
            </a:r>
          </a:p>
          <a:p>
            <a:r>
              <a:rPr lang="en-US" altLang="en-US" sz="3600" dirty="0"/>
              <a:t>Synthetic camera model</a:t>
            </a:r>
          </a:p>
          <a:p>
            <a:r>
              <a:rPr lang="en-US" altLang="en-US" sz="3600" dirty="0"/>
              <a:t>Other models</a:t>
            </a:r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6C719498-9AA6-DFB0-3A0C-BD6B6062C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170DB169-99F7-C746-B407-B970DDA9F6E9}" type="slidenum">
              <a:rPr lang="es-ES" altLang="en-US" sz="1000">
                <a:latin typeface="Arial" panose="020B0604020202020204" pitchFamily="34" charset="0"/>
              </a:rPr>
              <a:pPr lvl="1"/>
              <a:t>2</a:t>
            </a:fld>
            <a:endParaRPr lang="es-ES" altLang="en-US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230A50E-E927-5FFC-C362-82D40956E4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930275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Image Formation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35CDAC7-4129-6EF2-872E-1B5440F518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24000"/>
            <a:ext cx="8534400" cy="4351338"/>
          </a:xfr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3600" dirty="0"/>
              <a:t>In computer graphics, we form </a:t>
            </a:r>
            <a:r>
              <a:rPr lang="en-US" altLang="en-US" sz="3600" dirty="0">
                <a:solidFill>
                  <a:srgbClr val="C00000"/>
                </a:solidFill>
              </a:rPr>
              <a:t>images which are generally two dimensional using a process analogous </a:t>
            </a:r>
            <a:r>
              <a:rPr lang="en-US" altLang="en-US" sz="3600" dirty="0"/>
              <a:t>to how images are formed by physical imaging systems</a:t>
            </a:r>
          </a:p>
          <a:p>
            <a:pPr lvl="1"/>
            <a:r>
              <a:rPr lang="en-US" altLang="en-US" sz="3600" dirty="0">
                <a:ea typeface="ＭＳ Ｐゴシック" panose="020B0600070205080204" pitchFamily="34" charset="-128"/>
              </a:rPr>
              <a:t>Cameras</a:t>
            </a:r>
          </a:p>
          <a:p>
            <a:pPr lvl="1"/>
            <a:r>
              <a:rPr lang="en-US" altLang="en-US" sz="3600" dirty="0">
                <a:ea typeface="ＭＳ Ｐゴシック" panose="020B0600070205080204" pitchFamily="34" charset="-128"/>
              </a:rPr>
              <a:t>Microscopes</a:t>
            </a:r>
          </a:p>
          <a:p>
            <a:pPr lvl="1"/>
            <a:r>
              <a:rPr lang="en-US" altLang="en-US" sz="3600" dirty="0">
                <a:ea typeface="ＭＳ Ｐゴシック" panose="020B0600070205080204" pitchFamily="34" charset="-128"/>
              </a:rPr>
              <a:t>Telescopes</a:t>
            </a:r>
          </a:p>
          <a:p>
            <a:pPr lvl="1"/>
            <a:r>
              <a:rPr lang="en-US" altLang="en-US" sz="3600" dirty="0">
                <a:ea typeface="ＭＳ Ｐゴシック" panose="020B0600070205080204" pitchFamily="34" charset="-128"/>
              </a:rPr>
              <a:t>Human visual system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15D0C336-49BB-AB50-F261-396E43136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C76B8557-FF4F-C640-A7DC-F8D823438F39}" type="slidenum">
              <a:rPr lang="es-ES" altLang="en-US" sz="1000">
                <a:latin typeface="Arial" panose="020B0604020202020204" pitchFamily="34" charset="0"/>
              </a:rPr>
              <a:pPr lvl="1"/>
              <a:t>3</a:t>
            </a:fld>
            <a:endParaRPr lang="es-ES" altLang="en-US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5430967-CCCF-CDA4-419A-D70659B78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66700"/>
            <a:ext cx="7772400" cy="10668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Elements of Image Formation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18B902F-CCD9-2343-5173-DD684D04C8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24000"/>
            <a:ext cx="7772400" cy="47244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Objects</a:t>
            </a:r>
          </a:p>
          <a:p>
            <a:r>
              <a:rPr lang="en-US" altLang="en-US" dirty="0"/>
              <a:t>Viewer</a:t>
            </a:r>
          </a:p>
          <a:p>
            <a:r>
              <a:rPr lang="en-US" altLang="en-US" dirty="0"/>
              <a:t>Light source(s)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Attributes that govern how light interacts with the materials in the scene</a:t>
            </a:r>
          </a:p>
          <a:p>
            <a:r>
              <a:rPr lang="en-US" altLang="en-US" dirty="0"/>
              <a:t>Note the independence of the objects, the viewer, and the light source(s)</a:t>
            </a:r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B3DD68EC-F3DD-C7BF-20F6-501E075D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9350689B-B0E9-824B-8F99-1235862AE48D}" type="slidenum">
              <a:rPr lang="es-ES" altLang="en-US" sz="1000">
                <a:latin typeface="Arial" panose="020B0604020202020204" pitchFamily="34" charset="0"/>
              </a:rPr>
              <a:pPr lvl="1"/>
              <a:t>4</a:t>
            </a:fld>
            <a:endParaRPr lang="es-ES" altLang="en-US" sz="1000">
              <a:latin typeface="Arial" panose="020B0604020202020204" pitchFamily="34" charset="0"/>
            </a:endParaRPr>
          </a:p>
        </p:txBody>
      </p:sp>
      <p:pic>
        <p:nvPicPr>
          <p:cNvPr id="7173" name="Picture 5" descr="ftp://ftp.cs.unm.edu/pub/angel/BOOK/SECOND_EDITION/FIGURES/JPEG/an01f07.jpg">
            <a:extLst>
              <a:ext uri="{FF2B5EF4-FFF2-40B4-BE49-F238E27FC236}">
                <a16:creationId xmlns:a16="http://schemas.microsoft.com/office/drawing/2014/main" id="{33BC0222-2C92-2F8B-DD73-655CB2453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143000"/>
            <a:ext cx="4116664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EDF2E9C-CE32-6C8E-7546-3752364EA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36525"/>
            <a:ext cx="7886700" cy="930275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Light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CBC17A0-6888-2CF7-C963-105A0642E5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371600"/>
            <a:ext cx="8458200" cy="4351338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en-US" altLang="en-US" sz="2800" i="1" dirty="0"/>
              <a:t>Light</a:t>
            </a:r>
            <a:r>
              <a:rPr lang="en-US" altLang="en-US" sz="2800" dirty="0"/>
              <a:t> is the </a:t>
            </a:r>
            <a:r>
              <a:rPr lang="en-US" altLang="en-US" sz="2800" dirty="0">
                <a:solidFill>
                  <a:srgbClr val="C00000"/>
                </a:solidFill>
              </a:rPr>
              <a:t>part of the electromagnetic spectrum </a:t>
            </a:r>
            <a:r>
              <a:rPr lang="en-US" altLang="en-US" sz="2800" dirty="0"/>
              <a:t>that causes a reaction in our visual systems</a:t>
            </a:r>
          </a:p>
          <a:p>
            <a:pPr algn="just"/>
            <a:r>
              <a:rPr lang="en-US" altLang="en-US" sz="2800" dirty="0"/>
              <a:t>Generally, these are </a:t>
            </a:r>
            <a:r>
              <a:rPr lang="en-US" altLang="en-US" sz="2800" dirty="0">
                <a:solidFill>
                  <a:srgbClr val="C00000"/>
                </a:solidFill>
              </a:rPr>
              <a:t>wavelengths in the range of about 350-750 nm (nanometers)</a:t>
            </a:r>
          </a:p>
          <a:p>
            <a:pPr algn="just"/>
            <a:r>
              <a:rPr lang="en-US" altLang="en-US" sz="2800" dirty="0">
                <a:solidFill>
                  <a:srgbClr val="C00000"/>
                </a:solidFill>
              </a:rPr>
              <a:t>Long wavelengths appear as reds </a:t>
            </a:r>
            <a:r>
              <a:rPr lang="en-US" altLang="en-US" sz="2800" dirty="0"/>
              <a:t>and </a:t>
            </a:r>
            <a:r>
              <a:rPr lang="en-US" altLang="en-US" sz="2800" dirty="0">
                <a:solidFill>
                  <a:srgbClr val="C00000"/>
                </a:solidFill>
              </a:rPr>
              <a:t>short wavelengths as blues</a:t>
            </a: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D02EF2D4-FAB0-E29B-34DE-31802FD7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5B1ABABA-92BB-7C4C-8461-24CC521302BC}" type="slidenum">
              <a:rPr lang="es-ES" altLang="en-US" sz="1000">
                <a:latin typeface="Arial" panose="020B0604020202020204" pitchFamily="34" charset="0"/>
              </a:rPr>
              <a:pPr lvl="1"/>
              <a:t>5</a:t>
            </a:fld>
            <a:endParaRPr lang="es-ES" altLang="en-US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A5BC937-B2AD-B4F6-114E-5B4435CCD4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1980" y="436563"/>
            <a:ext cx="7677150" cy="10668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Ray Tracing and Geometric Optics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EAFC0AC-B3B7-42EC-1EA9-AF851DE798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7767" y="1600200"/>
            <a:ext cx="4832433" cy="4351338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en-US" altLang="en-US" sz="2900" dirty="0"/>
              <a:t>One way to form an image is to </a:t>
            </a:r>
            <a:r>
              <a:rPr lang="en-US" altLang="en-US" sz="2900" b="1" dirty="0">
                <a:solidFill>
                  <a:srgbClr val="C00000"/>
                </a:solidFill>
              </a:rPr>
              <a:t>follow rays of light from a point source finding which rays enter the lens of the camera. </a:t>
            </a:r>
          </a:p>
          <a:p>
            <a:pPr algn="just"/>
            <a:r>
              <a:rPr lang="en-US" altLang="en-US" sz="2900" dirty="0"/>
              <a:t>However, each </a:t>
            </a:r>
            <a:r>
              <a:rPr lang="en-US" altLang="en-US" sz="2900" b="1" dirty="0">
                <a:solidFill>
                  <a:srgbClr val="C00000"/>
                </a:solidFill>
              </a:rPr>
              <a:t>ray of light may have  multiple interactions</a:t>
            </a:r>
            <a:r>
              <a:rPr lang="en-US" altLang="en-US" sz="2900" dirty="0"/>
              <a:t> with objects before being absorbed or going to infinity.</a:t>
            </a: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8AA0490A-AA61-ABE2-D8E6-7F4385A9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C3D29A7C-B713-D34A-B783-7A272F8EB76A}" type="slidenum">
              <a:rPr lang="es-ES" altLang="en-US" sz="1000">
                <a:latin typeface="Arial" panose="020B0604020202020204" pitchFamily="34" charset="0"/>
              </a:rPr>
              <a:pPr lvl="1"/>
              <a:t>6</a:t>
            </a:fld>
            <a:endParaRPr lang="es-ES" altLang="en-US" sz="1000">
              <a:latin typeface="Arial" panose="020B0604020202020204" pitchFamily="34" charset="0"/>
            </a:endParaRPr>
          </a:p>
        </p:txBody>
      </p:sp>
      <p:pic>
        <p:nvPicPr>
          <p:cNvPr id="9221" name="Picture 5" descr="an01f10">
            <a:extLst>
              <a:ext uri="{FF2B5EF4-FFF2-40B4-BE49-F238E27FC236}">
                <a16:creationId xmlns:a16="http://schemas.microsoft.com/office/drawing/2014/main" id="{22415986-C980-DE54-90CC-56A8F3258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890712"/>
            <a:ext cx="3398044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3D7DCAD-1339-8C0F-57C1-3EB1FA26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010400" cy="10668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Luminance and Color Images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FD4C953-D6F9-9D12-D074-72E40BA2AA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2544" y="1447800"/>
            <a:ext cx="8496656" cy="4953000"/>
          </a:xfr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3200" dirty="0">
                <a:solidFill>
                  <a:srgbClr val="7030A0"/>
                </a:solidFill>
              </a:rPr>
              <a:t>Luminance Image</a:t>
            </a:r>
          </a:p>
          <a:p>
            <a:pPr lvl="1"/>
            <a:r>
              <a:rPr lang="en-US" altLang="en-US" sz="3200" dirty="0">
                <a:ea typeface="ＭＳ Ｐゴシック" panose="020B0600070205080204" pitchFamily="34" charset="-128"/>
              </a:rPr>
              <a:t>Monochromatic </a:t>
            </a:r>
          </a:p>
          <a:p>
            <a:pPr lvl="1"/>
            <a:r>
              <a:rPr lang="en-US" altLang="en-US" sz="3200" dirty="0">
                <a:ea typeface="ＭＳ Ｐゴシック" panose="020B0600070205080204" pitchFamily="34" charset="-128"/>
              </a:rPr>
              <a:t>Values are gray levels</a:t>
            </a:r>
          </a:p>
          <a:p>
            <a:pPr lvl="1"/>
            <a:r>
              <a:rPr lang="en-US" altLang="en-US" sz="3200" dirty="0">
                <a:ea typeface="ＭＳ Ｐゴシック" panose="020B0600070205080204" pitchFamily="34" charset="-128"/>
              </a:rPr>
              <a:t>Analogous to working with black and white film or television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3200" dirty="0">
                <a:solidFill>
                  <a:srgbClr val="7030A0"/>
                </a:solidFill>
              </a:rPr>
              <a:t>Color Image</a:t>
            </a:r>
          </a:p>
          <a:p>
            <a:pPr lvl="1"/>
            <a:r>
              <a:rPr lang="en-US" altLang="en-US" sz="3200" dirty="0">
                <a:ea typeface="ＭＳ Ｐゴシック" panose="020B0600070205080204" pitchFamily="34" charset="-128"/>
              </a:rPr>
              <a:t>Has perceptional attributes of hue, saturation, and lightness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3D9B2EAF-31BC-3C97-26C0-BD300E62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5746DA91-8572-B94C-B227-C0180298A264}" type="slidenum">
              <a:rPr lang="es-ES" altLang="en-US" sz="1000">
                <a:latin typeface="Arial" panose="020B0604020202020204" pitchFamily="34" charset="0"/>
              </a:rPr>
              <a:pPr lvl="1"/>
              <a:t>7</a:t>
            </a:fld>
            <a:endParaRPr lang="es-ES" altLang="en-US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E617E47-6E73-6BE5-5C94-EB89BFF5C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09403"/>
            <a:ext cx="7886700" cy="681185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Three-Color Theory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AA1BC3E-C582-5425-A617-0ECE3CEE20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990600"/>
            <a:ext cx="8763000" cy="5486401"/>
          </a:xfrm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r>
              <a:rPr lang="en-US" altLang="en-US" sz="3600" dirty="0"/>
              <a:t>Human visual system has two types of sensors</a:t>
            </a:r>
          </a:p>
          <a:p>
            <a:pPr lvl="1"/>
            <a:r>
              <a:rPr lang="en-US" altLang="en-US" sz="2800" dirty="0">
                <a:solidFill>
                  <a:srgbClr val="7030A0"/>
                </a:solidFill>
              </a:rPr>
              <a:t>Rods: </a:t>
            </a:r>
            <a:r>
              <a:rPr lang="en-US" altLang="en-US" sz="2800" dirty="0"/>
              <a:t>monochromatic, night vision</a:t>
            </a:r>
          </a:p>
          <a:p>
            <a:pPr lvl="1"/>
            <a:r>
              <a:rPr lang="en-US" altLang="en-US" sz="2800" dirty="0">
                <a:solidFill>
                  <a:srgbClr val="7030A0"/>
                </a:solidFill>
              </a:rPr>
              <a:t>Cones</a:t>
            </a:r>
          </a:p>
          <a:p>
            <a:pPr lvl="2"/>
            <a:r>
              <a:rPr lang="en-US" altLang="en-US" sz="2500" dirty="0"/>
              <a:t>Color sensitive</a:t>
            </a:r>
          </a:p>
          <a:p>
            <a:pPr lvl="2"/>
            <a:r>
              <a:rPr lang="en-US" sz="2500" dirty="0"/>
              <a:t>The three types of cones in the human eye are:</a:t>
            </a:r>
          </a:p>
          <a:p>
            <a:pPr lvl="3">
              <a:buFont typeface="Wingdings" pitchFamily="2" charset="2"/>
              <a:buChar char="ü"/>
            </a:pPr>
            <a:r>
              <a:rPr lang="en-US" sz="2500" b="1" dirty="0">
                <a:solidFill>
                  <a:srgbClr val="7030A0"/>
                </a:solidFill>
              </a:rPr>
              <a:t>Red or long wavelength sensitive cones: </a:t>
            </a:r>
            <a:r>
              <a:rPr lang="en-US" sz="2500" dirty="0"/>
              <a:t>Also known as L-cones</a:t>
            </a:r>
          </a:p>
          <a:p>
            <a:pPr lvl="3">
              <a:buFont typeface="Wingdings" pitchFamily="2" charset="2"/>
              <a:buChar char="ü"/>
            </a:pPr>
            <a:r>
              <a:rPr lang="en-US" sz="2500" b="1" dirty="0">
                <a:solidFill>
                  <a:srgbClr val="7030A0"/>
                </a:solidFill>
              </a:rPr>
              <a:t>Green or medium wavelength cones: </a:t>
            </a:r>
            <a:r>
              <a:rPr lang="en-US" sz="2500" dirty="0"/>
              <a:t>Also known as M-cones</a:t>
            </a:r>
          </a:p>
          <a:p>
            <a:pPr lvl="3">
              <a:buFont typeface="Wingdings" pitchFamily="2" charset="2"/>
              <a:buChar char="ü"/>
            </a:pPr>
            <a:r>
              <a:rPr lang="en-US" sz="2500" b="1" dirty="0">
                <a:solidFill>
                  <a:srgbClr val="7030A0"/>
                </a:solidFill>
              </a:rPr>
              <a:t>Blue or short wavelength cones: </a:t>
            </a:r>
            <a:r>
              <a:rPr lang="en-US" sz="2500" dirty="0"/>
              <a:t>Also known as S-cones</a:t>
            </a:r>
          </a:p>
          <a:p>
            <a:pPr lvl="2" algn="just"/>
            <a:r>
              <a:rPr lang="en-US" sz="2500" dirty="0"/>
              <a:t>These </a:t>
            </a:r>
            <a:r>
              <a:rPr lang="en-US" sz="2500" b="1" dirty="0">
                <a:solidFill>
                  <a:srgbClr val="C00000"/>
                </a:solidFill>
              </a:rPr>
              <a:t>cones are responsible for color vision in humans. </a:t>
            </a:r>
          </a:p>
          <a:p>
            <a:pPr lvl="2" algn="just"/>
            <a:r>
              <a:rPr lang="en-US" sz="2500" dirty="0"/>
              <a:t>The </a:t>
            </a:r>
            <a:r>
              <a:rPr lang="en-US" sz="2500" b="1" dirty="0">
                <a:solidFill>
                  <a:srgbClr val="C00000"/>
                </a:solidFill>
              </a:rPr>
              <a:t>brain combines signals from these cones to distinguish thousands of colors</a:t>
            </a:r>
            <a:endParaRPr lang="en-US" altLang="en-US" sz="2500" b="1" dirty="0">
              <a:solidFill>
                <a:srgbClr val="C00000"/>
              </a:solidFill>
            </a:endParaRPr>
          </a:p>
          <a:p>
            <a:pPr lvl="2" algn="just"/>
            <a:r>
              <a:rPr lang="en-US" altLang="en-US" sz="2500" b="1" dirty="0">
                <a:solidFill>
                  <a:srgbClr val="C00000"/>
                </a:solidFill>
              </a:rPr>
              <a:t>Only three values (the tristimulus values) are sent to the brain</a:t>
            </a:r>
          </a:p>
          <a:p>
            <a:r>
              <a:rPr lang="en-US" altLang="en-US" sz="3600" dirty="0"/>
              <a:t>Need </a:t>
            </a:r>
            <a:r>
              <a:rPr lang="en-US" altLang="en-US" sz="3600" b="1" dirty="0">
                <a:solidFill>
                  <a:srgbClr val="C00000"/>
                </a:solidFill>
              </a:rPr>
              <a:t>only match these three values</a:t>
            </a:r>
          </a:p>
          <a:p>
            <a:r>
              <a:rPr lang="en-US" altLang="en-US" sz="3600" b="1" dirty="0">
                <a:solidFill>
                  <a:srgbClr val="C00000"/>
                </a:solidFill>
              </a:rPr>
              <a:t>Need only three primary colors</a:t>
            </a: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A90C86F6-4B87-432B-3575-13417C3C1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993721D8-B096-344B-A371-A996E3EE3B23}" type="slidenum">
              <a:rPr lang="es-ES" altLang="en-US" sz="1000">
                <a:latin typeface="Arial" panose="020B0604020202020204" pitchFamily="34" charset="0"/>
              </a:rPr>
              <a:pPr lvl="1"/>
              <a:t>8</a:t>
            </a:fld>
            <a:endParaRPr lang="es-ES" altLang="en-US" sz="1000">
              <a:latin typeface="Arial" panose="020B0604020202020204" pitchFamily="34" charset="0"/>
            </a:endParaRPr>
          </a:p>
        </p:txBody>
      </p:sp>
      <p:pic>
        <p:nvPicPr>
          <p:cNvPr id="11269" name="Picture 5" descr="ftp://ftp.cs.unm.edu/pub/angel/BOOK/SECOND_EDITION/FIGURES/JPEG/an01f11.jpg">
            <a:extLst>
              <a:ext uri="{FF2B5EF4-FFF2-40B4-BE49-F238E27FC236}">
                <a16:creationId xmlns:a16="http://schemas.microsoft.com/office/drawing/2014/main" id="{6A0EA32A-C2A4-A1E6-61B0-B66D0E9C2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0"/>
            <a:ext cx="132749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>
            <a:extLst>
              <a:ext uri="{FF2B5EF4-FFF2-40B4-BE49-F238E27FC236}">
                <a16:creationId xmlns:a16="http://schemas.microsoft.com/office/drawing/2014/main" id="{09B6A6A3-88B0-7CE2-AC9D-1180E7AC3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Shadow Mask CRT</a:t>
            </a: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E7595CDE-6AE1-D79D-2B1A-4F269E5F5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7EFB7DE5-406B-8641-9AC6-F3727365612E}" type="slidenum">
              <a:rPr lang="es-ES" altLang="en-US" sz="1000">
                <a:latin typeface="Arial" panose="020B0604020202020204" pitchFamily="34" charset="0"/>
              </a:rPr>
              <a:pPr lvl="1"/>
              <a:t>9</a:t>
            </a:fld>
            <a:endParaRPr lang="es-ES" altLang="en-US" sz="1000">
              <a:latin typeface="Arial" panose="020B0604020202020204" pitchFamily="34" charset="0"/>
            </a:endParaRPr>
          </a:p>
        </p:txBody>
      </p:sp>
      <p:pic>
        <p:nvPicPr>
          <p:cNvPr id="12293" name="Picture 1029" descr="ftp://ftp.cs.unm.edu/pub/angel/BOOK/SECOND_EDITION/FIGURES/JPEG/an01f04.jpg">
            <a:extLst>
              <a:ext uri="{FF2B5EF4-FFF2-40B4-BE49-F238E27FC236}">
                <a16:creationId xmlns:a16="http://schemas.microsoft.com/office/drawing/2014/main" id="{015408C3-24C9-E93C-0B0E-E0F7A3096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2205996"/>
            <a:ext cx="7543800" cy="4112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96977DD-C590-40F6-F265-CB1618F4A5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7315200" cy="1066800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Additive and Subtractive Color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3DE8A1A-3769-449E-65D8-F22EF3E8B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524000"/>
            <a:ext cx="8686800" cy="4953000"/>
          </a:xfr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2800" dirty="0">
                <a:solidFill>
                  <a:srgbClr val="7030A0"/>
                </a:solidFill>
              </a:rPr>
              <a:t>Additive color</a:t>
            </a:r>
          </a:p>
          <a:p>
            <a:pPr lvl="1"/>
            <a:r>
              <a:rPr lang="en-US" altLang="en-US" sz="2800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Form a color by adding amounts of three primaries</a:t>
            </a:r>
          </a:p>
          <a:p>
            <a:pPr lvl="2"/>
            <a:r>
              <a:rPr lang="en-US" altLang="en-US" sz="2800" dirty="0">
                <a:ea typeface="ＭＳ Ｐゴシック" panose="020B0600070205080204" pitchFamily="34" charset="-128"/>
              </a:rPr>
              <a:t>CRTs, projection systems, positive film</a:t>
            </a:r>
          </a:p>
          <a:p>
            <a:pPr lvl="1"/>
            <a:r>
              <a:rPr lang="en-US" altLang="en-US" sz="2800" dirty="0">
                <a:ea typeface="ＭＳ Ｐゴシック" panose="020B0600070205080204" pitchFamily="34" charset="-128"/>
              </a:rPr>
              <a:t>Primaries are Red (R), Green (G), Blue (B)</a:t>
            </a:r>
          </a:p>
          <a:p>
            <a:r>
              <a:rPr lang="en-US" altLang="en-US" sz="2800" dirty="0">
                <a:solidFill>
                  <a:srgbClr val="7030A0"/>
                </a:solidFill>
              </a:rPr>
              <a:t>Subtractive color</a:t>
            </a:r>
          </a:p>
          <a:p>
            <a:pPr lvl="1"/>
            <a:r>
              <a:rPr lang="en-US" altLang="en-US" sz="2800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Form a color by filtering white light with cyan (C), Magenta (M), and Yellow (Y) filters</a:t>
            </a:r>
          </a:p>
          <a:p>
            <a:pPr lvl="2"/>
            <a:r>
              <a:rPr lang="en-US" altLang="en-US" sz="2800" dirty="0">
                <a:ea typeface="ＭＳ Ｐゴシック" panose="020B0600070205080204" pitchFamily="34" charset="-128"/>
              </a:rPr>
              <a:t>Light-material interactions</a:t>
            </a:r>
          </a:p>
          <a:p>
            <a:pPr lvl="2"/>
            <a:r>
              <a:rPr lang="en-US" altLang="en-US" sz="2800" dirty="0">
                <a:ea typeface="ＭＳ Ｐゴシック" panose="020B0600070205080204" pitchFamily="34" charset="-128"/>
              </a:rPr>
              <a:t>Printing</a:t>
            </a:r>
          </a:p>
          <a:p>
            <a:pPr lvl="2"/>
            <a:r>
              <a:rPr lang="en-US" altLang="en-US" sz="2800" dirty="0">
                <a:ea typeface="ＭＳ Ｐゴシック" panose="020B0600070205080204" pitchFamily="34" charset="-128"/>
              </a:rPr>
              <a:t>Negative film</a:t>
            </a: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70B3BFD4-1994-12C0-433B-A192BB8D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17A9E0D8-9667-C545-B5AD-FCF145E7E69B}" type="slidenum">
              <a:rPr lang="es-ES" altLang="en-US" sz="1000">
                <a:latin typeface="Arial" panose="020B0604020202020204" pitchFamily="34" charset="0"/>
              </a:rPr>
              <a:pPr lvl="1"/>
              <a:t>10</a:t>
            </a:fld>
            <a:endParaRPr lang="es-ES" altLang="en-US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C6BCB8A-17EE-AF1D-AB3D-9A39AC837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51618"/>
            <a:ext cx="7886700" cy="1325563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Pinhole Camera</a:t>
            </a:r>
          </a:p>
        </p:txBody>
      </p:sp>
      <p:sp>
        <p:nvSpPr>
          <p:cNvPr id="14339" name="Slide Number Placeholder 3">
            <a:extLst>
              <a:ext uri="{FF2B5EF4-FFF2-40B4-BE49-F238E27FC236}">
                <a16:creationId xmlns:a16="http://schemas.microsoft.com/office/drawing/2014/main" id="{CA7A6C37-EDFE-499A-B468-39364C01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BDD9939C-E1CC-3B4A-9F61-6022CFCA1DA4}" type="slidenum">
              <a:rPr lang="es-ES" altLang="en-US" sz="1000">
                <a:latin typeface="Arial" panose="020B0604020202020204" pitchFamily="34" charset="0"/>
              </a:rPr>
              <a:pPr lvl="1"/>
              <a:t>11</a:t>
            </a:fld>
            <a:endParaRPr lang="es-ES" altLang="en-US" sz="1000">
              <a:latin typeface="Arial" panose="020B0604020202020204" pitchFamily="34" charset="0"/>
            </a:endParaRPr>
          </a:p>
        </p:txBody>
      </p:sp>
      <p:pic>
        <p:nvPicPr>
          <p:cNvPr id="14340" name="Picture 5" descr="ftp://ftp.cs.unm.edu/pub/angel/BOOK/SECOND_EDITION/FIGURES/JPEG/an01f14.jpg">
            <a:extLst>
              <a:ext uri="{FF2B5EF4-FFF2-40B4-BE49-F238E27FC236}">
                <a16:creationId xmlns:a16="http://schemas.microsoft.com/office/drawing/2014/main" id="{30740D6B-F323-F7E9-71BF-C503A450E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00200"/>
            <a:ext cx="4054475" cy="213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Text Box 6">
            <a:extLst>
              <a:ext uri="{FF2B5EF4-FFF2-40B4-BE49-F238E27FC236}">
                <a16:creationId xmlns:a16="http://schemas.microsoft.com/office/drawing/2014/main" id="{51DF0241-2E04-50BE-B664-28742599B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648200"/>
            <a:ext cx="1379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i="1"/>
              <a:t>x</a:t>
            </a:r>
            <a:r>
              <a:rPr lang="en-US" altLang="en-US" i="1" baseline="-25000"/>
              <a:t>p</a:t>
            </a:r>
            <a:r>
              <a:rPr lang="en-US" altLang="en-US" i="1"/>
              <a:t>= -x/z/d</a:t>
            </a:r>
          </a:p>
        </p:txBody>
      </p:sp>
      <p:sp>
        <p:nvSpPr>
          <p:cNvPr id="14342" name="Text Box 9">
            <a:extLst>
              <a:ext uri="{FF2B5EF4-FFF2-40B4-BE49-F238E27FC236}">
                <a16:creationId xmlns:a16="http://schemas.microsoft.com/office/drawing/2014/main" id="{D13D5E3B-B68B-8BB1-9CD4-DB69DAF3D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648200"/>
            <a:ext cx="1379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i="1"/>
              <a:t>y</a:t>
            </a:r>
            <a:r>
              <a:rPr lang="en-US" altLang="en-US" i="1" baseline="-25000"/>
              <a:t>p</a:t>
            </a:r>
            <a:r>
              <a:rPr lang="en-US" altLang="en-US" i="1"/>
              <a:t>= -y/z/d</a:t>
            </a:r>
          </a:p>
        </p:txBody>
      </p:sp>
      <p:sp>
        <p:nvSpPr>
          <p:cNvPr id="14343" name="Text Box 11">
            <a:extLst>
              <a:ext uri="{FF2B5EF4-FFF2-40B4-BE49-F238E27FC236}">
                <a16:creationId xmlns:a16="http://schemas.microsoft.com/office/drawing/2014/main" id="{5415B312-3480-9500-6FC6-173B9D038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038600"/>
            <a:ext cx="671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dirty="0"/>
              <a:t>Use trigonometry to find projection of point at (</a:t>
            </a:r>
            <a:r>
              <a:rPr lang="en-US" altLang="en-US" dirty="0" err="1"/>
              <a:t>x,y,z</a:t>
            </a:r>
            <a:r>
              <a:rPr lang="en-US" altLang="en-US" dirty="0"/>
              <a:t>)</a:t>
            </a:r>
          </a:p>
        </p:txBody>
      </p:sp>
      <p:sp>
        <p:nvSpPr>
          <p:cNvPr id="14344" name="Text Box 12">
            <a:extLst>
              <a:ext uri="{FF2B5EF4-FFF2-40B4-BE49-F238E27FC236}">
                <a16:creationId xmlns:a16="http://schemas.microsoft.com/office/drawing/2014/main" id="{5DA59235-5D91-2FD9-8CAF-035743B43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486400"/>
            <a:ext cx="5281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These are equations of simple perspective</a:t>
            </a:r>
          </a:p>
        </p:txBody>
      </p:sp>
      <p:sp>
        <p:nvSpPr>
          <p:cNvPr id="14345" name="Text Box 13">
            <a:extLst>
              <a:ext uri="{FF2B5EF4-FFF2-40B4-BE49-F238E27FC236}">
                <a16:creationId xmlns:a16="http://schemas.microsoft.com/office/drawing/2014/main" id="{4D9243FF-8748-95B5-B7FB-B4925A70E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648200"/>
            <a:ext cx="839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i="1"/>
              <a:t>z</a:t>
            </a:r>
            <a:r>
              <a:rPr lang="en-US" altLang="en-US" i="1" baseline="-25000"/>
              <a:t>p</a:t>
            </a:r>
            <a:r>
              <a:rPr lang="en-US" altLang="en-US" i="1"/>
              <a:t>= 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3E85276-8666-5783-C907-B39767CA4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13519"/>
            <a:ext cx="7886700" cy="1325563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Synthetic Camera Model</a:t>
            </a:r>
          </a:p>
        </p:txBody>
      </p:sp>
      <p:sp>
        <p:nvSpPr>
          <p:cNvPr id="15363" name="Slide Number Placeholder 3">
            <a:extLst>
              <a:ext uri="{FF2B5EF4-FFF2-40B4-BE49-F238E27FC236}">
                <a16:creationId xmlns:a16="http://schemas.microsoft.com/office/drawing/2014/main" id="{75CD06FE-CE13-17BA-F726-1ED0531A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8247D67A-D9E9-EA4D-B816-B2A97436A5C1}" type="slidenum">
              <a:rPr lang="es-ES" altLang="en-US" sz="1000">
                <a:latin typeface="Arial" panose="020B0604020202020204" pitchFamily="34" charset="0"/>
              </a:rPr>
              <a:pPr lvl="1"/>
              <a:t>12</a:t>
            </a:fld>
            <a:endParaRPr lang="es-ES" altLang="en-US" sz="1000">
              <a:latin typeface="Arial" panose="020B0604020202020204" pitchFamily="34" charset="0"/>
            </a:endParaRPr>
          </a:p>
        </p:txBody>
      </p:sp>
      <p:pic>
        <p:nvPicPr>
          <p:cNvPr id="15364" name="Picture 5" descr="ftp://ftp.cs.unm.edu/pub/angel/BOOK/SECOND_EDITION/FIGURES/JPEG/an01f19.jpg">
            <a:extLst>
              <a:ext uri="{FF2B5EF4-FFF2-40B4-BE49-F238E27FC236}">
                <a16:creationId xmlns:a16="http://schemas.microsoft.com/office/drawing/2014/main" id="{7C1FCC29-FEDC-FE22-2954-67ABC3712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76400"/>
            <a:ext cx="4467225" cy="347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6">
            <a:extLst>
              <a:ext uri="{FF2B5EF4-FFF2-40B4-BE49-F238E27FC236}">
                <a16:creationId xmlns:a16="http://schemas.microsoft.com/office/drawing/2014/main" id="{8EA679B5-876D-BEFA-CEDB-44973D1AB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419600"/>
            <a:ext cx="2566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center of projection</a:t>
            </a:r>
          </a:p>
        </p:txBody>
      </p:sp>
      <p:sp>
        <p:nvSpPr>
          <p:cNvPr id="15366" name="Text Box 7">
            <a:extLst>
              <a:ext uri="{FF2B5EF4-FFF2-40B4-BE49-F238E27FC236}">
                <a16:creationId xmlns:a16="http://schemas.microsoft.com/office/drawing/2014/main" id="{6F84C256-662D-C425-F5CB-9C742C234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733800"/>
            <a:ext cx="1662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image plane</a:t>
            </a:r>
          </a:p>
        </p:txBody>
      </p:sp>
      <p:sp>
        <p:nvSpPr>
          <p:cNvPr id="15367" name="Text Box 8">
            <a:extLst>
              <a:ext uri="{FF2B5EF4-FFF2-40B4-BE49-F238E27FC236}">
                <a16:creationId xmlns:a16="http://schemas.microsoft.com/office/drawing/2014/main" id="{53A220FF-D728-D019-CE4E-0704CD68C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905000"/>
            <a:ext cx="1282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projector</a:t>
            </a:r>
          </a:p>
        </p:txBody>
      </p:sp>
      <p:sp>
        <p:nvSpPr>
          <p:cNvPr id="15368" name="Line 9">
            <a:extLst>
              <a:ext uri="{FF2B5EF4-FFF2-40B4-BE49-F238E27FC236}">
                <a16:creationId xmlns:a16="http://schemas.microsoft.com/office/drawing/2014/main" id="{A3FB7C20-CD07-FEBD-0429-4DEF6946E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362200"/>
            <a:ext cx="609600" cy="106680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en-US"/>
          </a:p>
        </p:txBody>
      </p:sp>
      <p:sp>
        <p:nvSpPr>
          <p:cNvPr id="15369" name="Line 10">
            <a:extLst>
              <a:ext uri="{FF2B5EF4-FFF2-40B4-BE49-F238E27FC236}">
                <a16:creationId xmlns:a16="http://schemas.microsoft.com/office/drawing/2014/main" id="{9FC426EA-9C5E-F6F0-363C-49EBE1D3CD2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91000" y="3352800"/>
            <a:ext cx="838200" cy="60960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en-US"/>
          </a:p>
        </p:txBody>
      </p:sp>
      <p:sp>
        <p:nvSpPr>
          <p:cNvPr id="15370" name="Line 11">
            <a:extLst>
              <a:ext uri="{FF2B5EF4-FFF2-40B4-BE49-F238E27FC236}">
                <a16:creationId xmlns:a16="http://schemas.microsoft.com/office/drawing/2014/main" id="{7C9596DB-06C2-0941-3C3E-BE362D4610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00400" y="4191000"/>
            <a:ext cx="381000" cy="45720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en-US"/>
          </a:p>
        </p:txBody>
      </p:sp>
      <p:sp>
        <p:nvSpPr>
          <p:cNvPr id="15371" name="Text Box 12">
            <a:extLst>
              <a:ext uri="{FF2B5EF4-FFF2-40B4-BE49-F238E27FC236}">
                <a16:creationId xmlns:a16="http://schemas.microsoft.com/office/drawing/2014/main" id="{436FB10F-658E-F03E-440B-BB450073C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429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b="1"/>
              <a:t>p</a:t>
            </a:r>
          </a:p>
        </p:txBody>
      </p:sp>
      <p:sp>
        <p:nvSpPr>
          <p:cNvPr id="15372" name="Line 13">
            <a:extLst>
              <a:ext uri="{FF2B5EF4-FFF2-40B4-BE49-F238E27FC236}">
                <a16:creationId xmlns:a16="http://schemas.microsoft.com/office/drawing/2014/main" id="{356AA6B4-3B1D-D953-5208-B1B8B3EE67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1600" y="3276600"/>
            <a:ext cx="381000" cy="38100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en-US"/>
          </a:p>
        </p:txBody>
      </p:sp>
      <p:sp>
        <p:nvSpPr>
          <p:cNvPr id="15373" name="Text Box 14">
            <a:extLst>
              <a:ext uri="{FF2B5EF4-FFF2-40B4-BE49-F238E27FC236}">
                <a16:creationId xmlns:a16="http://schemas.microsoft.com/office/drawing/2014/main" id="{5E1C6C0C-DB8A-A1E6-96F2-5BFADB476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8538" y="4114800"/>
            <a:ext cx="1993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projection of </a:t>
            </a:r>
            <a:r>
              <a:rPr lang="en-US" altLang="en-US" b="1"/>
              <a:t>p</a:t>
            </a:r>
          </a:p>
        </p:txBody>
      </p:sp>
      <p:sp>
        <p:nvSpPr>
          <p:cNvPr id="15374" name="Line 15">
            <a:extLst>
              <a:ext uri="{FF2B5EF4-FFF2-40B4-BE49-F238E27FC236}">
                <a16:creationId xmlns:a16="http://schemas.microsoft.com/office/drawing/2014/main" id="{0BEBC454-EF53-5240-7207-C86A656D1D8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38600" y="3581400"/>
            <a:ext cx="685800" cy="76200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6E25505-A228-A3E0-7673-07531319C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0662"/>
            <a:ext cx="7886700" cy="777875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Advantages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520F8ED-4CFD-3B73-C725-B8B7C80F36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6700" y="1352275"/>
            <a:ext cx="8610600" cy="4724400"/>
          </a:xfr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altLang="en-US" sz="3600" dirty="0"/>
              <a:t>Separation of </a:t>
            </a:r>
            <a:r>
              <a:rPr lang="en-US" altLang="en-US" sz="3600" dirty="0">
                <a:solidFill>
                  <a:srgbClr val="C00000"/>
                </a:solidFill>
              </a:rPr>
              <a:t>objects, viewer, light sources</a:t>
            </a:r>
          </a:p>
          <a:p>
            <a:pPr algn="just"/>
            <a:r>
              <a:rPr lang="en-US" altLang="en-US" sz="3600" dirty="0"/>
              <a:t>Two-dimensional graphics is a </a:t>
            </a:r>
            <a:r>
              <a:rPr lang="en-US" altLang="en-US" sz="3600" dirty="0">
                <a:solidFill>
                  <a:srgbClr val="C00000"/>
                </a:solidFill>
              </a:rPr>
              <a:t>special case </a:t>
            </a:r>
            <a:r>
              <a:rPr lang="en-US" altLang="en-US" sz="3600" dirty="0"/>
              <a:t>of three-dimensional graphics</a:t>
            </a:r>
          </a:p>
          <a:p>
            <a:pPr algn="just"/>
            <a:r>
              <a:rPr lang="en-US" altLang="en-US" sz="3600" dirty="0"/>
              <a:t>Leads to simple software API</a:t>
            </a:r>
          </a:p>
          <a:p>
            <a:pPr lvl="1" algn="just"/>
            <a:r>
              <a:rPr lang="en-US" altLang="en-US" sz="3600" dirty="0">
                <a:ea typeface="ＭＳ Ｐゴシック" panose="020B0600070205080204" pitchFamily="34" charset="-128"/>
              </a:rPr>
              <a:t>Specify objects, lights, camera, attributes</a:t>
            </a:r>
          </a:p>
          <a:p>
            <a:pPr lvl="1" algn="just"/>
            <a:r>
              <a:rPr lang="en-US" altLang="en-US" sz="3600" dirty="0">
                <a:ea typeface="ＭＳ Ｐゴシック" panose="020B0600070205080204" pitchFamily="34" charset="-128"/>
              </a:rPr>
              <a:t>Let implementation determine image</a:t>
            </a:r>
          </a:p>
          <a:p>
            <a:pPr algn="just"/>
            <a:r>
              <a:rPr lang="en-US" altLang="en-US" sz="3600" dirty="0"/>
              <a:t>Leads to </a:t>
            </a:r>
            <a:r>
              <a:rPr lang="en-US" altLang="en-US" sz="3600" dirty="0">
                <a:solidFill>
                  <a:srgbClr val="C00000"/>
                </a:solidFill>
              </a:rPr>
              <a:t>fast hardware implementation 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415AEEB0-BBE5-2927-5FBC-9C0F623A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8D7843EE-E428-8444-B0E5-2293A38F8DE3}" type="slidenum">
              <a:rPr lang="es-ES" altLang="en-US" sz="1000">
                <a:latin typeface="Arial" panose="020B0604020202020204" pitchFamily="34" charset="0"/>
              </a:rPr>
              <a:pPr lvl="1"/>
              <a:t>13</a:t>
            </a:fld>
            <a:endParaRPr lang="es-ES" altLang="en-US" sz="10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1F366D7-1A5B-8EE8-3F56-2B98D3023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19251"/>
            <a:ext cx="7886700" cy="747549"/>
          </a:xfrm>
        </p:spPr>
        <p:txBody>
          <a:bodyPr/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Global vs Local Lighting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EFA632D-ADFD-502C-0080-272B1170DD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219200"/>
            <a:ext cx="8210550" cy="52578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en-US" altLang="en-US" sz="2800" dirty="0"/>
              <a:t>Cannot compute color or shade of each object independently</a:t>
            </a:r>
          </a:p>
          <a:p>
            <a:pPr lvl="1" algn="just"/>
            <a:r>
              <a:rPr lang="en-US" altLang="en-US" sz="2800" dirty="0">
                <a:ea typeface="ＭＳ Ｐゴシック" panose="020B0600070205080204" pitchFamily="34" charset="-128"/>
              </a:rPr>
              <a:t>Some objects are blocked from light</a:t>
            </a:r>
          </a:p>
          <a:p>
            <a:pPr lvl="1" algn="just"/>
            <a:r>
              <a:rPr lang="en-US" altLang="en-US" sz="2800" dirty="0">
                <a:ea typeface="ＭＳ Ｐゴシック" panose="020B0600070205080204" pitchFamily="34" charset="-128"/>
              </a:rPr>
              <a:t>Light can reflect from object to object</a:t>
            </a:r>
          </a:p>
          <a:p>
            <a:pPr lvl="1" algn="just"/>
            <a:r>
              <a:rPr lang="en-US" altLang="en-US" sz="2800" dirty="0">
                <a:ea typeface="ＭＳ Ｐゴシック" panose="020B0600070205080204" pitchFamily="34" charset="-128"/>
              </a:rPr>
              <a:t>Some objects might be translucent</a:t>
            </a: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BC8841D2-B823-A164-8D15-91EE8042A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B2ED9250-8C68-1649-935C-0DD9BD4D9A09}" type="slidenum">
              <a:rPr lang="es-ES" altLang="en-US" sz="1000">
                <a:latin typeface="Arial" panose="020B0604020202020204" pitchFamily="34" charset="0"/>
              </a:rPr>
              <a:pPr lvl="1"/>
              <a:t>14</a:t>
            </a:fld>
            <a:endParaRPr lang="es-ES" altLang="en-US" sz="1000">
              <a:latin typeface="Arial" panose="020B0604020202020204" pitchFamily="34" charset="0"/>
            </a:endParaRPr>
          </a:p>
        </p:txBody>
      </p:sp>
      <p:pic>
        <p:nvPicPr>
          <p:cNvPr id="17413" name="Picture 5" descr="ftp://ftp.cs.unm.edu/pub/angel/BOOK/SECOND_EDITION/FIGURES/JPEG/an01f09.jpg">
            <a:extLst>
              <a:ext uri="{FF2B5EF4-FFF2-40B4-BE49-F238E27FC236}">
                <a16:creationId xmlns:a16="http://schemas.microsoft.com/office/drawing/2014/main" id="{474A8896-29A5-1932-14C1-0B901262E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962400"/>
            <a:ext cx="2986088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3681</TotalTime>
  <Words>533</Words>
  <Application>Microsoft Macintosh PowerPoint</Application>
  <PresentationFormat>On-screen Show (4:3)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ＭＳ Ｐゴシック</vt:lpstr>
      <vt:lpstr>Arial</vt:lpstr>
      <vt:lpstr>Calibri</vt:lpstr>
      <vt:lpstr>Calibri Light</vt:lpstr>
      <vt:lpstr>Times New Roman</vt:lpstr>
      <vt:lpstr>Wingdings</vt:lpstr>
      <vt:lpstr>Office Theme</vt:lpstr>
      <vt:lpstr>Image Formation</vt:lpstr>
      <vt:lpstr>Objectives</vt:lpstr>
      <vt:lpstr>Image Formation</vt:lpstr>
      <vt:lpstr>Elements of Image Formation</vt:lpstr>
      <vt:lpstr>Light</vt:lpstr>
      <vt:lpstr>Ray Tracing and Geometric Optics</vt:lpstr>
      <vt:lpstr>Luminance and Color Images</vt:lpstr>
      <vt:lpstr>Three-Color Theory</vt:lpstr>
      <vt:lpstr>Shadow Mask CRT</vt:lpstr>
      <vt:lpstr>Additive and Subtractive Color</vt:lpstr>
      <vt:lpstr>Pinhole Camera</vt:lpstr>
      <vt:lpstr>Synthetic Camera Model</vt:lpstr>
      <vt:lpstr>Advantages</vt:lpstr>
      <vt:lpstr>Global vs Local Lighting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 Angel</dc:creator>
  <cp:lastModifiedBy>Priyanka N 19728</cp:lastModifiedBy>
  <cp:revision>24</cp:revision>
  <dcterms:created xsi:type="dcterms:W3CDTF">2002-08-02T19:17:07Z</dcterms:created>
  <dcterms:modified xsi:type="dcterms:W3CDTF">2024-11-14T15:22:32Z</dcterms:modified>
</cp:coreProperties>
</file>