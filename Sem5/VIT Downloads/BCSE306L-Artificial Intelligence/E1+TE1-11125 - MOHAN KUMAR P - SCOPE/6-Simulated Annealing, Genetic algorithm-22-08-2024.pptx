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-546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F15531-75C2-3FBA-5590-BBBC06F5A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1602C-4763-87A6-AF64-58324C79E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D46E9C-CDD7-AF99-2FA5-B1AC6520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CE069B-7256-1702-E94A-A83526A1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E28E3E-B33B-00D1-C2D3-1DAA3E0F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21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043E56-E39B-E986-5436-B4D532E8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6AEAD4-7AF6-0AAD-D782-6BBF73C03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4B749C-9A05-3328-D612-F7829033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423263-E2A2-FCD4-8311-BF6CE312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F20058E-B850-E59B-3234-27C4EC20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03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DFA9D6-3C7C-C2E3-A64C-9AC2D0E6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E93F24-9300-6BAA-0388-6D7F9CDA2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60B67C-FA42-6853-38E7-7297B68C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7F2F8E-9C13-AA4C-D1A5-65ADF06F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CA0811-AC47-CFD8-DB06-616DF830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23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D7BEAB-AA80-B459-14EE-3E0806A9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A1A4AD3-6072-5608-8F36-71C982FB4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77895D9-B61D-356A-2640-63BDC1AC0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45185D7-5015-DC29-E538-C33D9AF16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8268D51-3768-281B-3EA0-DB5AFB68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7213D1A-D589-6383-D695-B097C2F2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0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1D69E8-0C3E-2195-542C-D442E5C10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C46136-C49F-1937-2710-F3FDFE282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0D71CA-F7B5-A39D-8398-F89B5903D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2B996FD1-1A25-3283-F15F-27B887084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384FDA3-D54F-883D-1612-5D0613C9F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D7F639E-0FC5-3C3F-5F2D-90B2E8758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70A0DE4-FC41-0368-620F-AE028303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6D870DE-125C-639F-C2D7-8A61C9442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8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C1B209-791D-FAC7-FF32-85E1FAB2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CC274C0-F63A-1AD7-A4FF-81AAC691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6D644DF-25A8-82CB-993B-80F539F7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14E1372-D275-2740-5091-5FAD2527B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6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4C77F3F-1165-FA0B-8EEA-54923271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96E744B-8D9C-B88A-1FC7-ABA90502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69E930C-521C-69FA-D0D7-6D15984C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34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A1914E-CB74-CF4A-74D3-DF805F48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C4F4A3-C23D-ECEF-3151-02B83062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3C17E7D-6A03-CD30-654A-1959B8D52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3BF4E01-D38F-3538-80CE-2002CA51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FDF9F68-410A-D42B-9BF2-FD79D12BE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20D234E-6F47-C6F1-3188-30D30F63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1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31BF3-3BE0-204B-E45F-95D71A77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0EA5DD-6117-35F8-30E1-69C35B650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55FFCCA-399C-CE6E-E537-18CEBF09E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446E9F-A68B-4B07-5095-99F30762D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A10AFD-5A87-BC90-377A-75FAF8F5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E7E082F-DE3D-0A09-04FB-49904DF9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9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9EDB3F-CCBB-C0F2-924A-86A96EAEC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37D20B6-079B-8DA3-994D-19F6BF1DA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8C1370-2C60-4CBF-01E9-65F9887EB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24EF3C-0E3F-D700-C1C6-E9123AA8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C058E8-5C8C-DD77-AEE6-7666679BE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849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E0BF326-928D-7E55-C8EC-DE7B280C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BDB1455-D772-1A1E-F089-07A13464E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3E652C-6986-5A74-D658-E98829B4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28DB21-104C-E40E-D1A5-E1C31AB41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B29750-4D8B-6A93-7152-213B19C7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88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0561279-F440-A89C-823C-19710262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F18574-8069-0369-A031-90C9D0FED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FE70BB-8401-A225-5EA3-E9FFA96EA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E1986-B19C-4822-ABAC-CA51A15A1D2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28FD3A3-3D95-1B11-8D24-1A326670F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978AAE8-BA8A-009A-F5E7-FB2516AEF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49A9A-624F-4B5D-9B56-4095BC008D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D33E6E-2DA8-DE9D-DF5A-E1B6721EA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Search Algorithms</a:t>
            </a:r>
            <a:br>
              <a:rPr lang="en-US" dirty="0"/>
            </a:br>
            <a:r>
              <a:rPr lang="en-US" dirty="0"/>
              <a:t>Hill Climbing Search, Simulated Annealing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2AC5C02-C0D3-B063-CF15-61F161D157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709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05D2C7-F59F-7863-E0A0-A0AAD4F87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91" y="0"/>
            <a:ext cx="10515600" cy="558702"/>
          </a:xfrm>
        </p:spPr>
        <p:txBody>
          <a:bodyPr>
            <a:normAutofit fontScale="90000"/>
          </a:bodyPr>
          <a:lstStyle/>
          <a:p>
            <a:r>
              <a:rPr lang="en-US" dirty="0"/>
              <a:t>Local Search Algorithms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03B484-9230-A7CB-6BCC-08F3AD394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079" y="558702"/>
            <a:ext cx="10515600" cy="5905893"/>
          </a:xfrm>
        </p:spPr>
        <p:txBody>
          <a:bodyPr>
            <a:normAutofit fontScale="77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200" b="0" i="0" u="none" strike="noStrike" baseline="0" dirty="0">
                <a:latin typeface="Times-Roman"/>
              </a:rPr>
              <a:t>PERFORM PURELY </a:t>
            </a:r>
            <a:r>
              <a:rPr lang="en-US" sz="2200" b="1" i="0" u="none" strike="noStrike" baseline="0" dirty="0">
                <a:latin typeface="Times-Bold"/>
              </a:rPr>
              <a:t>LOCAL SEARCH </a:t>
            </a:r>
            <a:r>
              <a:rPr lang="en-US" sz="2200" b="0" i="0" u="none" strike="noStrike" baseline="0" dirty="0">
                <a:latin typeface="Times-Roman"/>
              </a:rPr>
              <a:t>IN THE STATE SPACE, </a:t>
            </a:r>
          </a:p>
          <a:p>
            <a:pPr lvl="1">
              <a:lnSpc>
                <a:spcPct val="150000"/>
              </a:lnSpc>
            </a:pPr>
            <a:r>
              <a:rPr lang="en-US" sz="2200" b="0" i="0" u="none" strike="noStrike" baseline="0" dirty="0">
                <a:latin typeface="Times-Roman"/>
              </a:rPr>
              <a:t>EVALUATING AND MODIFYING ONE OR MORE CURRENT STATES RATHER THAN SYSTEMATICALLY EXPLORING PATHS FROM AN INITIAL STATE.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-Roman"/>
              </a:rPr>
              <a:t>FOCUSSES MORE ON REACHING THE GOAL STATE RATHER THAN ON THE PATH COST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-Roman"/>
              </a:rPr>
              <a:t>SUITABLE FOR OPTIMISATION PROBLEMS 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-Roman"/>
              </a:rPr>
              <a:t>OPTIMISATION FUNCTION – STATE-SPACE LANDSCAPE WITH LOCAL AND GLOBAL MINIMA AND MAXIMA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-Roman"/>
              </a:rPr>
              <a:t>ADVANTAGES</a:t>
            </a:r>
          </a:p>
          <a:p>
            <a:pPr lvl="1" algn="just"/>
            <a:r>
              <a:rPr lang="en-US" b="0" i="0" u="none" strike="noStrike" baseline="0" dirty="0">
                <a:latin typeface="Times-Roman"/>
              </a:rPr>
              <a:t>They use very little memory—usually a constant amount</a:t>
            </a:r>
            <a:endParaRPr lang="en-US" dirty="0">
              <a:latin typeface="Times-Roman"/>
            </a:endParaRPr>
          </a:p>
          <a:p>
            <a:pPr lvl="1" algn="just"/>
            <a:r>
              <a:rPr lang="en-US" dirty="0">
                <a:latin typeface="Times-Roman"/>
              </a:rPr>
              <a:t>T</a:t>
            </a:r>
            <a:r>
              <a:rPr lang="en-US" b="0" i="0" u="none" strike="noStrike" baseline="0" dirty="0">
                <a:latin typeface="Times-Roman"/>
              </a:rPr>
              <a:t>hey can often find reasonable solutions in large or infinite (continuous) state spaces for which systematic algorithms are unsuitable.</a:t>
            </a:r>
            <a:endParaRPr lang="en-US" dirty="0">
              <a:latin typeface="Times-Roman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-Roman"/>
              </a:rPr>
              <a:t>EXAMPLES </a:t>
            </a:r>
          </a:p>
          <a:p>
            <a:pPr lvl="1"/>
            <a:r>
              <a:rPr lang="en-US" dirty="0">
                <a:latin typeface="Times-Roman"/>
              </a:rPr>
              <a:t>PROBLEMS - </a:t>
            </a:r>
            <a:r>
              <a:rPr lang="en-IN" b="0" i="0" u="none" strike="noStrike" baseline="0" dirty="0">
                <a:latin typeface="Times-Roman"/>
              </a:rPr>
              <a:t>integrated-circuit design, </a:t>
            </a:r>
            <a:r>
              <a:rPr lang="en-US" b="0" i="0" u="none" strike="noStrike" baseline="0" dirty="0">
                <a:latin typeface="Times-Roman"/>
              </a:rPr>
              <a:t>factory-floor layout, job-shop scheduling, automatic programming, telecommunications network optimization, vehicle routing, and portfolio management.</a:t>
            </a:r>
            <a:endParaRPr lang="en-US" dirty="0">
              <a:latin typeface="Times-Roman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-Roman"/>
              </a:rPr>
              <a:t>Algorithms - HILL CLIMBING SEARCH, GENETIC ALGORITHM, SIMULATED ANNEALING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09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9E0CC1-3BEF-EBC2-127B-653D870E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Hill Climbing Search (Steepest – Ascent version)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C2344EB-5576-2725-FEDE-71AFD5466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556" b="1449"/>
          <a:stretch/>
        </p:blipFill>
        <p:spPr>
          <a:xfrm>
            <a:off x="374101" y="1847655"/>
            <a:ext cx="11551170" cy="354447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19BD180-99CF-BE96-E92E-135D9FA8E14B}"/>
              </a:ext>
            </a:extLst>
          </p:cNvPr>
          <p:cNvSpPr txBox="1"/>
          <p:nvPr/>
        </p:nvSpPr>
        <p:spPr>
          <a:xfrm>
            <a:off x="2231180" y="5657671"/>
            <a:ext cx="9231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Also called Greedy Search</a:t>
            </a:r>
          </a:p>
          <a:p>
            <a:pPr algn="ctr"/>
            <a:r>
              <a:rPr lang="en-US" sz="3600" dirty="0"/>
              <a:t>Hill climbing = generate and test + heuristics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224129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73303C-E99B-5638-23BA-4682599D3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8D7815-33F6-6CB5-913B-36E2A904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D6AC8C-F300-FD46-5BE6-00B5F1BF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17" y="637751"/>
            <a:ext cx="9374051" cy="5539212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14874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2972A5-AA4B-F032-E40A-56CCC3BC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C3B17D-3175-9470-E2CE-A03ECF401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Hill climbing cannot reach the optimal/best state (global maximum) if it enters one of the following regions:</a:t>
            </a:r>
          </a:p>
          <a:p>
            <a:pPr lvl="1"/>
            <a:r>
              <a:rPr lang="en-US" sz="2000" dirty="0"/>
              <a:t>Local maximum:</a:t>
            </a:r>
          </a:p>
          <a:p>
            <a:pPr lvl="2"/>
            <a:r>
              <a:rPr lang="en-US" b="0" i="0" u="none" strike="noStrike" baseline="0" dirty="0">
                <a:latin typeface="Times-Roman"/>
              </a:rPr>
              <a:t>a peak that is higher than each of its neighboring states but lower than the global maximum. </a:t>
            </a:r>
          </a:p>
          <a:p>
            <a:pPr lvl="2"/>
            <a:r>
              <a:rPr lang="en-US" b="0" i="0" u="none" strike="noStrike" baseline="0" dirty="0">
                <a:latin typeface="Times-Roman"/>
              </a:rPr>
              <a:t>Hill-climbing algorithms that reach the vicinity of a local maximum will be drawn upward toward the peak but will then be stuck with nowhere else to go.</a:t>
            </a:r>
            <a:endParaRPr lang="en-US" dirty="0"/>
          </a:p>
          <a:p>
            <a:pPr lvl="1"/>
            <a:r>
              <a:rPr lang="en-US" sz="2000" dirty="0"/>
              <a:t>Plateaus	</a:t>
            </a:r>
          </a:p>
          <a:p>
            <a:pPr lvl="2"/>
            <a:r>
              <a:rPr lang="en-US" b="0" i="0" u="none" strike="noStrike" baseline="0" dirty="0">
                <a:latin typeface="Times-Roman"/>
              </a:rPr>
              <a:t>a flat area of the state-space landscape. It can be a flat local </a:t>
            </a:r>
            <a:r>
              <a:rPr lang="en-US" b="0" i="0" u="none" strike="noStrike" baseline="0" dirty="0">
                <a:latin typeface="Helvetica-Narrow"/>
              </a:rPr>
              <a:t>SHOULDER </a:t>
            </a:r>
            <a:r>
              <a:rPr lang="en-US" b="0" i="0" u="none" strike="noStrike" baseline="0" dirty="0">
                <a:latin typeface="Times-Roman"/>
              </a:rPr>
              <a:t>maximum, from which no uphill exit exists, or a </a:t>
            </a:r>
            <a:r>
              <a:rPr lang="en-US" b="1" i="0" u="none" strike="noStrike" baseline="0" dirty="0">
                <a:latin typeface="Times-Bold"/>
              </a:rPr>
              <a:t>shoulder</a:t>
            </a:r>
            <a:r>
              <a:rPr lang="en-US" b="0" i="0" u="none" strike="noStrike" baseline="0" dirty="0">
                <a:latin typeface="Times-Roman"/>
              </a:rPr>
              <a:t>, from which progress is A hill-climbing search might get lost on the plateau.</a:t>
            </a:r>
            <a:endParaRPr lang="en-US" dirty="0"/>
          </a:p>
          <a:p>
            <a:pPr lvl="1"/>
            <a:r>
              <a:rPr lang="en-US" sz="2000" dirty="0"/>
              <a:t>Ridges</a:t>
            </a:r>
          </a:p>
          <a:p>
            <a:pPr lvl="2"/>
            <a:r>
              <a:rPr lang="en-US" b="0" i="0" u="none" strike="noStrike" baseline="0" dirty="0">
                <a:latin typeface="Times-Roman"/>
              </a:rPr>
              <a:t>Ridges result in a sequence of local maxima that is very difficult for greedy algorithms to navigate.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12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DA595F-576F-5E51-3321-2B6DF347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C34D2E-CA74-1478-53C2-CFA6421ED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73734CE-52F0-5F16-7F9D-6518F9EE1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76" y="1960563"/>
            <a:ext cx="7469306" cy="47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6D9707-FAA0-CB2C-8C0F-52C4D006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Local Maximum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1B09833-1823-F718-B97F-2DAAA8CA7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F353C52-DAE6-D4D5-A9A6-B8BBBC189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636497" cy="50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54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B0653-7BD2-6807-7083-F62E59E8C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of Steepest Ascent Hill Climbing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F20403-7EFF-DFF7-1F5E-63188A302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8-queens with a random initial board with 8 queens and a </a:t>
            </a:r>
            <a:r>
              <a:rPr lang="en-US" dirty="0" err="1"/>
              <a:t>optimisation</a:t>
            </a:r>
            <a:r>
              <a:rPr lang="en-US" dirty="0"/>
              <a:t> function/heuristic function – number of non attacking queens – the algorithm gets stuck 86 percent of time (14%success)</a:t>
            </a:r>
          </a:p>
          <a:p>
            <a:r>
              <a:rPr lang="en-US" dirty="0"/>
              <a:t>Hill Climbing algorithm – halts on encountering a plateau</a:t>
            </a:r>
          </a:p>
          <a:p>
            <a:r>
              <a:rPr lang="en-US" dirty="0"/>
              <a:t>Solution of challenge by plateau</a:t>
            </a:r>
          </a:p>
          <a:p>
            <a:pPr lvl="1"/>
            <a:r>
              <a:rPr lang="en-US" dirty="0"/>
              <a:t>Allowing sideways move (successor state with same value as the current state)</a:t>
            </a:r>
          </a:p>
          <a:p>
            <a:pPr lvl="1"/>
            <a:r>
              <a:rPr lang="en-IN" dirty="0"/>
              <a:t>Drawback – Infinite loop on a flat local maxima. </a:t>
            </a:r>
          </a:p>
          <a:p>
            <a:pPr lvl="1"/>
            <a:r>
              <a:rPr lang="en-IN" dirty="0"/>
              <a:t>Solution – Limit of the consecutive sideways moves</a:t>
            </a:r>
          </a:p>
          <a:p>
            <a:pPr lvl="1"/>
            <a:r>
              <a:rPr lang="en-IN" dirty="0"/>
              <a:t>With the solution – success percent raised to 94% (21 steps for successful instance and 64 moves for failure instances)</a:t>
            </a:r>
          </a:p>
        </p:txBody>
      </p:sp>
    </p:spTree>
    <p:extLst>
      <p:ext uri="{BB962C8B-B14F-4D97-AF65-F5344CB8AC3E}">
        <p14:creationId xmlns:p14="http://schemas.microsoft.com/office/powerpoint/2010/main" val="80483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427D87-1437-7BF7-3702-77AEC87D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hill climbing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923271-21FB-57F1-1AEF-9DAC5B0F5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Incomplete algorithms</a:t>
            </a:r>
          </a:p>
          <a:p>
            <a:pPr lvl="1"/>
            <a:r>
              <a:rPr lang="en-US" sz="2500" dirty="0"/>
              <a:t>Stochastic hill climbing</a:t>
            </a:r>
          </a:p>
          <a:p>
            <a:pPr lvl="2"/>
            <a:r>
              <a:rPr lang="en-IN" sz="2500" b="0" i="0" u="none" strike="noStrike" baseline="0" dirty="0">
                <a:latin typeface="Times-Roman"/>
              </a:rPr>
              <a:t>Chooses at </a:t>
            </a:r>
            <a:r>
              <a:rPr lang="en-US" sz="2500" b="0" i="0" u="none" strike="noStrike" baseline="0" dirty="0">
                <a:latin typeface="Times-Roman"/>
              </a:rPr>
              <a:t>random from among the uphill moves; the probability of selection can vary with the steepness of the uphill move. This usually converges more slowly than steepest ascent, but in some state landscapes, it finds better solutions.</a:t>
            </a:r>
            <a:endParaRPr lang="en-US" sz="2500" dirty="0"/>
          </a:p>
          <a:p>
            <a:pPr lvl="1"/>
            <a:r>
              <a:rPr lang="en-US" sz="2500" dirty="0"/>
              <a:t>First-choice hill climbing</a:t>
            </a:r>
          </a:p>
          <a:p>
            <a:pPr lvl="2"/>
            <a:r>
              <a:rPr lang="en-IN" sz="2500" b="0" i="0" u="none" strike="noStrike" baseline="0" dirty="0">
                <a:latin typeface="Times-Roman"/>
              </a:rPr>
              <a:t>Implements stochastic </a:t>
            </a:r>
            <a:r>
              <a:rPr lang="en-US" sz="2500" b="0" i="0" u="none" strike="noStrike" baseline="0" dirty="0">
                <a:latin typeface="Times-Roman"/>
              </a:rPr>
              <a:t>hill climbing by generating successors randomly until one is generated that is better than the current state. This is a good strategy when a state has many (e.g., thousands) of successors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958461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7FDBCF-6289-BC42-5DA1-FAFB5B34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Hill Climbing </a:t>
            </a:r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7B51A6-59BA-0475-173A-012494E65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Random restart Hill Climbing</a:t>
            </a:r>
          </a:p>
          <a:p>
            <a:pPr lvl="1"/>
            <a:r>
              <a:rPr lang="en-IN" sz="2500" b="0" i="0" u="none" strike="noStrike" baseline="0" dirty="0">
                <a:latin typeface="Times-Roman"/>
              </a:rPr>
              <a:t>Con</a:t>
            </a:r>
            <a:r>
              <a:rPr lang="en-US" sz="2500" b="0" i="0" u="none" strike="noStrike" baseline="0" dirty="0">
                <a:latin typeface="Times-Roman"/>
              </a:rPr>
              <a:t>ducts a series of hill-climbing searches from randomly generated initial states,</a:t>
            </a:r>
            <a:r>
              <a:rPr lang="en-US" sz="2500" dirty="0">
                <a:latin typeface="Times-Roman"/>
              </a:rPr>
              <a:t> </a:t>
            </a:r>
            <a:r>
              <a:rPr lang="en-US" sz="2500" b="0" i="0" u="none" strike="noStrike" baseline="0" dirty="0">
                <a:latin typeface="Times-Roman"/>
              </a:rPr>
              <a:t>until a goal </a:t>
            </a:r>
            <a:r>
              <a:rPr lang="en-IN" sz="2500" b="0" i="0" u="none" strike="noStrike" baseline="0" dirty="0">
                <a:latin typeface="Times-Roman"/>
              </a:rPr>
              <a:t>is found.</a:t>
            </a:r>
          </a:p>
          <a:p>
            <a:pPr lvl="1"/>
            <a:r>
              <a:rPr lang="en-IN" sz="2500" dirty="0">
                <a:latin typeface="Times-Roman"/>
              </a:rPr>
              <a:t>Trivially complete – eventually generating a goal node as the initial state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44935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7CD0EE-F685-36E6-617F-1B82193B7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Rate Vs State-space Landscape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0A7112-3E37-F6B2-38F6-09089B02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-Roman"/>
              </a:rPr>
              <a:t>Few local maxima and </a:t>
            </a:r>
            <a:r>
              <a:rPr lang="en-US" b="0" i="0" u="none" strike="noStrike" baseline="0" dirty="0" err="1">
                <a:latin typeface="Times-Roman"/>
              </a:rPr>
              <a:t>plateaux</a:t>
            </a:r>
            <a:r>
              <a:rPr lang="en-US" b="0" i="0" u="none" strike="noStrike" baseline="0" dirty="0">
                <a:latin typeface="Times-Roman"/>
              </a:rPr>
              <a:t>, random-restart hill climbing will find a good solution very quickly. </a:t>
            </a:r>
          </a:p>
          <a:p>
            <a:pPr algn="l"/>
            <a:r>
              <a:rPr lang="en-US" b="0" i="0" u="none" strike="noStrike" baseline="0" dirty="0">
                <a:latin typeface="Times-Roman"/>
              </a:rPr>
              <a:t>Real problems have a landscape have an exponential number of local maxima to get stuck on. Despite this, a reasonably good local maximum can often be found after a small number of restarts.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11412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DD594D-44B4-60CD-1006-2EF3F0448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6409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Simulated Annealing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205E56-BDB5-742F-ED00-C9CB639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16" y="639999"/>
            <a:ext cx="12051383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Combination of random walk and hill climbing (Random walk – choosing a successor states uniformly at random)</a:t>
            </a:r>
          </a:p>
          <a:p>
            <a:pPr algn="just"/>
            <a:r>
              <a:rPr lang="en-US" dirty="0"/>
              <a:t>Annealing - </a:t>
            </a:r>
            <a:r>
              <a:rPr lang="en-US" b="0" i="0" u="none" strike="noStrike" baseline="0" dirty="0">
                <a:latin typeface="Times-Roman"/>
              </a:rPr>
              <a:t>process used to temper or harden metals and glass by heating them to a high temperature and then gradually cooling them where they reach a low energy crystalline state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815D42A-45E1-A96E-290C-667A277B9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633" y="2815668"/>
            <a:ext cx="7186366" cy="4042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6522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DE1E81-00AA-58CE-71E4-7AF353683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60A712-F6C3-093C-DBA3-E95B2E56F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DD1965-4C69-4BEC-2B7E-728169C27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" y="145726"/>
            <a:ext cx="12007370" cy="653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3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577</Words>
  <Application>Microsoft Office PowerPoint</Application>
  <PresentationFormat>Custom</PresentationFormat>
  <Paragraphs>50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Local Search Algorithms Hill Climbing Search, Simulated Annealing</vt:lpstr>
      <vt:lpstr>Local Search Algorithms</vt:lpstr>
      <vt:lpstr>Hill Climbing Search (Steepest – Ascent version)</vt:lpstr>
      <vt:lpstr>PowerPoint Presentation</vt:lpstr>
      <vt:lpstr>Limitations</vt:lpstr>
      <vt:lpstr>PowerPoint Presentation</vt:lpstr>
      <vt:lpstr>Example – Local Maximum</vt:lpstr>
      <vt:lpstr>Performance of Steepest Ascent Hill Climbing</vt:lpstr>
      <vt:lpstr>Variants of hill climbing</vt:lpstr>
      <vt:lpstr>Variants of Hill Climbing contd…</vt:lpstr>
      <vt:lpstr>Success Rate Vs State-space Landscape</vt:lpstr>
      <vt:lpstr>Simulated Annealing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Search Algorithms Hill Climbing Search</dc:title>
  <dc:creator>Deepak JM</dc:creator>
  <cp:lastModifiedBy>Admin</cp:lastModifiedBy>
  <cp:revision>8</cp:revision>
  <dcterms:created xsi:type="dcterms:W3CDTF">2024-01-30T05:59:11Z</dcterms:created>
  <dcterms:modified xsi:type="dcterms:W3CDTF">2024-07-30T06:27:39Z</dcterms:modified>
</cp:coreProperties>
</file>