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03" r:id="rId2"/>
    <p:sldId id="304" r:id="rId3"/>
    <p:sldId id="305" r:id="rId4"/>
    <p:sldId id="306" r:id="rId5"/>
    <p:sldId id="307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FF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FFB8F2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1" autoAdjust="0"/>
    <p:restoredTop sz="92269" autoAdjust="0"/>
  </p:normalViewPr>
  <p:slideViewPr>
    <p:cSldViewPr>
      <p:cViewPr varScale="1">
        <p:scale>
          <a:sx n="94" d="100"/>
          <a:sy n="94" d="100"/>
        </p:scale>
        <p:origin x="40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FBF99-E6E2-45AC-967F-424D3300F3B9}" type="datetimeFigureOut">
              <a:rPr lang="en-US" smtClean="0"/>
              <a:t>8/21/2024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C2125-8E98-4A82-B6E0-5E01E26E3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3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example of 5 and -5 in 1s</a:t>
            </a:r>
            <a:r>
              <a:rPr lang="en-US" baseline="0" dirty="0"/>
              <a:t> and 2s complement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through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C2125-8E98-4A82-B6E0-5E01E26E3B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4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7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047750"/>
            <a:ext cx="5715000" cy="3581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585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65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228600" y="1276350"/>
            <a:ext cx="5715000" cy="335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935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09550"/>
            <a:ext cx="8686800" cy="85725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Introduction to Computer Networks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85800" y="1657350"/>
            <a:ext cx="5257800" cy="1524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/>
          <p:cNvSpPr>
            <a:spLocks/>
          </p:cNvSpPr>
          <p:nvPr userDrawn="1"/>
        </p:nvSpPr>
        <p:spPr>
          <a:xfrm>
            <a:off x="5943600" y="1755340"/>
            <a:ext cx="2743200" cy="2057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762000" y="2876550"/>
            <a:ext cx="4525887" cy="936190"/>
            <a:chOff x="1204264" y="3301954"/>
            <a:chExt cx="4525887" cy="936190"/>
          </a:xfrm>
        </p:grpSpPr>
        <p:pic>
          <p:nvPicPr>
            <p:cNvPr id="10" name="Picture 6" descr="http://www.engr.washington.edu/sites/default/files/mycoe/marcom/uw/signature_left/UW.Signature_left_small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264" y="3892522"/>
              <a:ext cx="4425649" cy="3456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/>
            <p:cNvSpPr txBox="1"/>
            <p:nvPr/>
          </p:nvSpPr>
          <p:spPr>
            <a:xfrm>
              <a:off x="1726234" y="3301954"/>
              <a:ext cx="4003917" cy="623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1600" dirty="0">
                  <a:latin typeface="Calibri" pitchFamily="34" charset="0"/>
                  <a:cs typeface="Calibri" pitchFamily="34" charset="0"/>
                </a:rPr>
                <a:t>David Wetherall  (djw@uw.edu)</a:t>
              </a:r>
            </a:p>
            <a:p>
              <a:pPr>
                <a:spcAft>
                  <a:spcPts val="300"/>
                </a:spcAft>
              </a:pPr>
              <a:r>
                <a:rPr lang="en-US" sz="1600" dirty="0">
                  <a:latin typeface="Calibri" pitchFamily="34" charset="0"/>
                  <a:cs typeface="Calibri" pitchFamily="34" charset="0"/>
                </a:rPr>
                <a:t>Professor of Computer Science &amp; Engineering</a:t>
              </a:r>
            </a:p>
          </p:txBody>
        </p:sp>
        <p:pic>
          <p:nvPicPr>
            <p:cNvPr id="12" name="Picture 8" descr="http://www.cs.washington.edu/images/logo/CSElogo2_144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4264" y="3362118"/>
              <a:ext cx="502920" cy="502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itle 1"/>
          <p:cNvSpPr txBox="1">
            <a:spLocks/>
          </p:cNvSpPr>
          <p:nvPr userDrawn="1"/>
        </p:nvSpPr>
        <p:spPr>
          <a:xfrm>
            <a:off x="228600" y="209550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rgbClr val="FF0000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</a:lstStyle>
          <a:p>
            <a:r>
              <a:rPr lang="en-US" sz="4400" dirty="0"/>
              <a:t>Introduction to Computer Networks</a:t>
            </a:r>
          </a:p>
        </p:txBody>
      </p:sp>
    </p:spTree>
    <p:extLst>
      <p:ext uri="{BB962C8B-B14F-4D97-AF65-F5344CB8AC3E}">
        <p14:creationId xmlns:p14="http://schemas.microsoft.com/office/powerpoint/2010/main" val="39595546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76350"/>
            <a:ext cx="8686800" cy="3200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4631436"/>
            <a:ext cx="9144000" cy="512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Extent of subtitles</a:t>
            </a:r>
          </a:p>
        </p:txBody>
      </p:sp>
    </p:spTree>
    <p:extLst>
      <p:ext uri="{BB962C8B-B14F-4D97-AF65-F5344CB8AC3E}">
        <p14:creationId xmlns:p14="http://schemas.microsoft.com/office/powerpoint/2010/main" val="56594202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2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9142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76350"/>
            <a:ext cx="8686800" cy="3200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90892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0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94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20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CSE 461 University of Washington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48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81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5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42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248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7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205979"/>
            <a:ext cx="86868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1082278"/>
            <a:ext cx="86868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4781550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CSE 461 University of Washington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29400" y="4781550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A9478-788D-42C7-BC35-88005760C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3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  <p:sldLayoutId id="2147483662" r:id="rId3"/>
    <p:sldLayoutId id="2147483664" r:id="rId4"/>
    <p:sldLayoutId id="2147483661" r:id="rId5"/>
    <p:sldLayoutId id="2147483666" r:id="rId6"/>
    <p:sldLayoutId id="2147483649" r:id="rId7"/>
    <p:sldLayoutId id="2147483650" r:id="rId8"/>
    <p:sldLayoutId id="2147483663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0000"/>
          </a:solidFill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–"/>
        <a:defRPr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Sum is defined in 1s complement arithmetic (must add back carries)</a:t>
            </a:r>
          </a:p>
          <a:p>
            <a:pPr lvl="1"/>
            <a:r>
              <a:rPr lang="en-US" sz="2400" dirty="0"/>
              <a:t>And it’s the negative sum</a:t>
            </a:r>
          </a:p>
          <a:p>
            <a:r>
              <a:rPr lang="en-US" sz="2400" dirty="0"/>
              <a:t>“</a:t>
            </a:r>
            <a:r>
              <a:rPr lang="en-US" sz="2400" i="1" dirty="0"/>
              <a:t>The checksum field is the 16 bit one's complement of the one's complement sum of all 16 bit words …</a:t>
            </a:r>
            <a:r>
              <a:rPr lang="en-US" sz="2400" dirty="0"/>
              <a:t>” – RFC 791</a:t>
            </a:r>
          </a:p>
        </p:txBody>
      </p:sp>
    </p:spTree>
    <p:extLst>
      <p:ext uri="{BB962C8B-B14F-4D97-AF65-F5344CB8AC3E}">
        <p14:creationId xmlns:p14="http://schemas.microsoft.com/office/powerpoint/2010/main" val="185944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(2)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dirty="0"/>
              <a:t>Sending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/>
              <a:t>Arrange data in 16-bit words</a:t>
            </a:r>
            <a:endParaRPr lang="en-US" sz="1300" dirty="0"/>
          </a:p>
          <a:p>
            <a:pPr>
              <a:buFont typeface="+mj-lt"/>
              <a:buAutoNum type="arabicPeriod"/>
            </a:pPr>
            <a:r>
              <a:rPr lang="en-US" dirty="0"/>
              <a:t>Put zero in checksum position, add</a:t>
            </a:r>
          </a:p>
          <a:p>
            <a:pPr marL="914400" lvl="2" indent="0"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Add any carryover back to get 16 bits</a:t>
            </a:r>
          </a:p>
          <a:p>
            <a:pPr lvl="3">
              <a:buFont typeface="+mj-lt"/>
              <a:buAutoNum type="arabicPeriod"/>
            </a:pPr>
            <a:endParaRPr lang="en-US" dirty="0"/>
          </a:p>
          <a:p>
            <a:pPr lvl="4"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Negate (complement) to get sum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48400" y="1089720"/>
            <a:ext cx="1261949" cy="3539430"/>
            <a:chOff x="6309134" y="1489896"/>
            <a:chExt cx="1261949" cy="3539430"/>
          </a:xfrm>
        </p:grpSpPr>
        <p:sp>
          <p:nvSpPr>
            <p:cNvPr id="7" name="TextBox 6"/>
            <p:cNvSpPr txBox="1"/>
            <p:nvPr/>
          </p:nvSpPr>
          <p:spPr>
            <a:xfrm>
              <a:off x="6309134" y="1489896"/>
              <a:ext cx="1261949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+(0000)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2ddf0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ddf0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ddf2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220d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6961914" y="3241671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7010400" y="4458401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9" name="Rectangle 18"/>
          <p:cNvSpPr/>
          <p:nvPr/>
        </p:nvSpPr>
        <p:spPr>
          <a:xfrm>
            <a:off x="6248400" y="2114550"/>
            <a:ext cx="1261949" cy="2514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(3)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Sending</a:t>
            </a:r>
            <a:r>
              <a:rPr lang="en-US" sz="24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2700" dirty="0"/>
              <a:t>Arrange data in 16-bit words</a:t>
            </a:r>
          </a:p>
          <a:p>
            <a:pPr>
              <a:buFont typeface="+mj-lt"/>
              <a:buAutoNum type="arabicPeriod"/>
            </a:pPr>
            <a:r>
              <a:rPr lang="en-US" sz="2700" dirty="0"/>
              <a:t>Put zero in checksum position, add</a:t>
            </a:r>
          </a:p>
          <a:p>
            <a:pPr marL="628650" indent="-514350">
              <a:buFont typeface="+mj-lt"/>
              <a:buAutoNum type="arabicPeriod"/>
            </a:pPr>
            <a:endParaRPr lang="en-US" sz="2800" dirty="0"/>
          </a:p>
          <a:p>
            <a:pPr>
              <a:buFont typeface="+mj-lt"/>
              <a:buAutoNum type="arabicPeriod"/>
            </a:pPr>
            <a:r>
              <a:rPr lang="en-US" sz="2700" dirty="0"/>
              <a:t>Add any carryover back to get 16 bits</a:t>
            </a:r>
          </a:p>
          <a:p>
            <a:pPr>
              <a:buFont typeface="+mj-lt"/>
              <a:buAutoNum type="arabicPeriod"/>
            </a:pPr>
            <a:endParaRPr lang="en-US" sz="2700" dirty="0"/>
          </a:p>
          <a:p>
            <a:pPr>
              <a:buFont typeface="+mj-lt"/>
              <a:buAutoNum type="arabicPeriod"/>
            </a:pPr>
            <a:r>
              <a:rPr lang="en-US" sz="2700" dirty="0"/>
              <a:t>Negate (complement) to get sum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248400" y="1089720"/>
            <a:ext cx="1261949" cy="3539430"/>
            <a:chOff x="6040345" y="1489896"/>
            <a:chExt cx="1261949" cy="3539430"/>
          </a:xfrm>
        </p:grpSpPr>
        <p:sp>
          <p:nvSpPr>
            <p:cNvPr id="7" name="TextBox 6"/>
            <p:cNvSpPr txBox="1"/>
            <p:nvPr/>
          </p:nvSpPr>
          <p:spPr>
            <a:xfrm>
              <a:off x="6040345" y="1489896"/>
              <a:ext cx="1261949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+(0000)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2ddf0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ddf0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ddf2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220d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6677659" y="3241671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6726145" y="4458401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1635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400800" y="4248150"/>
            <a:ext cx="838200" cy="341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(4)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Receiving</a:t>
            </a:r>
            <a:r>
              <a:rPr lang="en-US" sz="2400" dirty="0"/>
              <a:t>: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Arrange data in 16-bit words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Checksum will be non-zero, add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Add any carryover back to get 16 bits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Negate the result and check it is 0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975563" y="1089720"/>
            <a:ext cx="1415837" cy="3539430"/>
            <a:chOff x="6477000" y="971550"/>
            <a:chExt cx="1415837" cy="3539430"/>
          </a:xfrm>
        </p:grpSpPr>
        <p:sp>
          <p:nvSpPr>
            <p:cNvPr id="11" name="TextBox 10"/>
            <p:cNvSpPr txBox="1"/>
            <p:nvPr/>
          </p:nvSpPr>
          <p:spPr>
            <a:xfrm>
              <a:off x="6477000" y="971550"/>
              <a:ext cx="1415837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+ 220d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2fffd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fffd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ffff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  0000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7315200" y="2724150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7363686" y="3940880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9" name="Rectangle 28"/>
          <p:cNvSpPr/>
          <p:nvPr/>
        </p:nvSpPr>
        <p:spPr>
          <a:xfrm>
            <a:off x="6096000" y="2532822"/>
            <a:ext cx="1261949" cy="2133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94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400800" y="4248150"/>
            <a:ext cx="838200" cy="341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CSE 461 University of Washington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CA9478-788D-42C7-BC35-88005760C6D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Checksum (5)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Receiving</a:t>
            </a:r>
            <a:r>
              <a:rPr lang="en-US" sz="2400" dirty="0"/>
              <a:t>: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Arrange data in 16-bit words</a:t>
            </a:r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Checksum will be non-zero, add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Add any carryover back to get 16 bits</a:t>
            </a:r>
          </a:p>
          <a:p>
            <a:pPr marL="288925" lvl="1" indent="-288925">
              <a:buFont typeface="+mj-lt"/>
              <a:buAutoNum type="arabicPeriod"/>
            </a:pPr>
            <a:endParaRPr lang="en-US" sz="2700" dirty="0"/>
          </a:p>
          <a:p>
            <a:pPr marL="288925" indent="-288925">
              <a:buFont typeface="+mj-lt"/>
              <a:buAutoNum type="arabicPeriod"/>
            </a:pPr>
            <a:r>
              <a:rPr lang="en-US" sz="2700" dirty="0"/>
              <a:t>Negate the result and check it is 0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5975563" y="1089720"/>
            <a:ext cx="1415837" cy="3539430"/>
            <a:chOff x="6477000" y="971550"/>
            <a:chExt cx="1415837" cy="3539430"/>
          </a:xfrm>
        </p:grpSpPr>
        <p:sp>
          <p:nvSpPr>
            <p:cNvPr id="11" name="TextBox 10"/>
            <p:cNvSpPr txBox="1"/>
            <p:nvPr/>
          </p:nvSpPr>
          <p:spPr>
            <a:xfrm>
              <a:off x="6477000" y="971550"/>
              <a:ext cx="1415837" cy="35394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0001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f203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f4f5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f6f7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+ 220d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2fffd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fffd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+    2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------ </a:t>
              </a:r>
            </a:p>
            <a:p>
              <a:pPr algn="r">
                <a:lnSpc>
                  <a:spcPct val="80000"/>
                </a:lnSpc>
              </a:pPr>
              <a:r>
                <a:rPr lang="en-US" sz="2000" b="1" dirty="0" err="1">
                  <a:latin typeface="Courier New" pitchFamily="49" charset="0"/>
                  <a:cs typeface="Courier New" pitchFamily="49" charset="0"/>
                </a:rPr>
                <a:t>ffff</a:t>
              </a: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pPr algn="r">
                <a:lnSpc>
                  <a:spcPct val="80000"/>
                </a:lnSpc>
              </a:pPr>
              <a:endParaRPr lang="en-US" sz="2000" b="1" dirty="0">
                <a:latin typeface="Courier New" pitchFamily="49" charset="0"/>
                <a:cs typeface="Courier New" pitchFamily="49" charset="0"/>
              </a:endParaRPr>
            </a:p>
            <a:p>
              <a:pPr algn="r">
                <a:lnSpc>
                  <a:spcPct val="80000"/>
                </a:lnSpc>
              </a:pPr>
              <a:r>
                <a:rPr lang="en-US" sz="2000" b="1" dirty="0">
                  <a:latin typeface="Courier New" pitchFamily="49" charset="0"/>
                  <a:cs typeface="Courier New" pitchFamily="49" charset="0"/>
                </a:rPr>
                <a:t>   0000 </a:t>
              </a:r>
              <a:endParaRPr lang="en-US" sz="2000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7315200" y="2724150"/>
              <a:ext cx="0" cy="2484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7363686" y="3940880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3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182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28487</TotalTime>
  <Words>295</Words>
  <Application>Microsoft Office PowerPoint</Application>
  <PresentationFormat>On-screen Show (16:9)</PresentationFormat>
  <Paragraphs>111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Internet Checksum</vt:lpstr>
      <vt:lpstr>Internet Checksum (2)</vt:lpstr>
      <vt:lpstr>Internet Checksum (3)</vt:lpstr>
      <vt:lpstr>Internet Checksum (4)</vt:lpstr>
      <vt:lpstr>Internet Checksum (5)</vt:lpstr>
    </vt:vector>
  </TitlesOfParts>
  <Company>UW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CSE</dc:creator>
  <cp:lastModifiedBy>Sreethar S</cp:lastModifiedBy>
  <cp:revision>176</cp:revision>
  <dcterms:created xsi:type="dcterms:W3CDTF">2012-10-22T20:55:18Z</dcterms:created>
  <dcterms:modified xsi:type="dcterms:W3CDTF">2024-08-21T17:02:34Z</dcterms:modified>
</cp:coreProperties>
</file>