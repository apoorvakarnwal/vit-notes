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07" r:id="rId2"/>
    <p:sldId id="309" r:id="rId3"/>
    <p:sldId id="322" r:id="rId4"/>
    <p:sldId id="310" r:id="rId5"/>
    <p:sldId id="311" r:id="rId6"/>
    <p:sldId id="323" r:id="rId7"/>
    <p:sldId id="315" r:id="rId8"/>
    <p:sldId id="316" r:id="rId9"/>
    <p:sldId id="324" r:id="rId10"/>
    <p:sldId id="317" r:id="rId11"/>
    <p:sldId id="325" r:id="rId12"/>
    <p:sldId id="312" r:id="rId13"/>
    <p:sldId id="31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4641" autoAdjust="0"/>
  </p:normalViewPr>
  <p:slideViewPr>
    <p:cSldViewPr snapToGrid="0">
      <p:cViewPr varScale="1">
        <p:scale>
          <a:sx n="61" d="100"/>
          <a:sy n="61" d="100"/>
        </p:scale>
        <p:origin x="15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1D2730-DAC7-46B7-9779-A26E464BD50D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E1741-AB58-4BC3-BF9C-FBA5756B23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70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 1. </a:t>
            </a:r>
            <a:r>
              <a:rPr lang="en-US" b="0" i="0" dirty="0">
                <a:solidFill>
                  <a:srgbClr val="1F1F1F"/>
                </a:solidFill>
                <a:effectLst/>
                <a:latin typeface="Google Sans"/>
              </a:rPr>
              <a:t>Transmission impairment is the degradation of a signal as it travels through a transmission medium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20035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003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999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93106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8154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962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4255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543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506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1055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181B-C6D5-4233-9BCB-A332674AF48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911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871F-D2DF-D59B-18A4-6479E1404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107444-0881-443F-1B3B-4E83A6BB3B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93AD4-9D49-4BE9-D05E-9415A3D05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24170-FFBA-404B-E720-CC3A59253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A287F-8BD2-50D4-5BA9-B8119550D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336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3243-7F50-BF7A-8EB5-BFFCAFE84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2F5A1-9305-2593-AE4C-CECA9ED4FF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C6E8E-C8DE-CA59-58C3-9B4915E8F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C36EC-FB4B-E62C-DB72-28509200C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30E1E-8AC0-DE0B-EBDD-1EE49A5A7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6590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7007C-2EA8-5122-AEB1-A2A773B9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73134-4F9C-629D-9E29-6D57CB4A6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95EEB4-7E28-87B6-C567-500F0DB90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7FE893-1FEE-83D6-BD86-3BCEC161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29F01-63AB-3923-9E15-E23C12FE6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761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5C5F-DD64-DA7C-D383-51671677F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BC2D5-5581-170D-B23B-819ECE070E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C76B92-E774-2FB8-5799-7F943F2C8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43105-4632-7455-F88E-97BE9E6BC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C0337-A38D-018F-4761-A8CBA40F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C7F88-3896-AB96-6BD4-6AD6F2DBD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5194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545E-7BBB-4C60-1599-9D6A7B1D5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DEC2B-F41D-FFFC-ECE3-F4973828E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12C4BB-F471-750A-B734-BE69188ACE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A438B-1D3C-047C-C147-C0F09C88D3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7E85E-0F08-36AC-BB6A-4CCD486F88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92E22-0C77-57FA-601D-B7E522CAA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9C06F9-7581-1971-1923-9002E48C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5250BC-7A67-E0F1-AFC5-52267A090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753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CEF7C-C903-95FB-6029-6FFD3F0E9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19C6AD-36BE-0EF0-2352-C2FF08586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24EA4D-C5DF-FBAA-3818-453E4112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75936-F5E7-808E-0B76-60E7FFA4C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7628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E1A353-ABB0-701D-0D9A-A4EBABD94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F7595D-D6DB-5092-F8D2-5AE0FA231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A22E9-16EC-53AA-AD69-BDCCADCEC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2317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89915-FD53-9383-C3BD-6AB5B8C20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C63D3-F9A3-9797-31E5-67CCE8855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2E1DB-9543-4090-63F7-1ABB01AB7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3378C-DBE5-0368-3DD0-023E9602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00426F-8B6D-AAA4-E767-76D38207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BD6FD7-1183-AB21-6D1B-6F2D877D8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6637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3FD1-F393-F91F-1236-FB720AD06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D9B68A-264F-B449-E885-006F657BDB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030F6-B43C-46E2-69C2-A1619C88A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E917E-44F4-335F-EBF7-33118810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AAA0CE-C4B0-7A26-9F04-1B87739A3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CDBC-EE1B-2F24-83BD-8E490A7F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074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CD9E-F143-9DD2-F9EC-E64C23171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F8B090-BA97-04F7-2BE1-A74C75A1D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F8323C-075C-90A5-AE8E-260E05ADA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0B7D3D-BF16-CC51-B672-6D9CF6B66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3AF1-FE89-A7FF-4825-8F0F698E6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830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796179-D21D-0ACC-AD61-CABEE26AAD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1BB08F-AED3-BB1C-57D3-4B9B4EABA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99B51-5547-C220-3A1E-A72FD4DE4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4FBFE-19D4-628B-19DC-AD1320FB5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384FD-686D-C354-D4C3-AA3B8FA29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377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C1CFD-57BE-1076-F764-2090AA2AA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80331A-DEA3-B587-683E-45D069C4A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E109E8-6490-4C35-5F39-31BE58952E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A3F5-4A1C-4E32-95FB-4F8842C948E5}" type="datetimeFigureOut">
              <a:rPr lang="en-IN" smtClean="0"/>
              <a:t>21-08-2024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B1A02E-8895-82E8-A83A-3BBBE70BDF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0B767-02AC-ADAB-08C0-EB0839BBBE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2C1CD2-3820-49B7-A530-B692528D46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7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3713" y="526874"/>
            <a:ext cx="4618572" cy="43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27" b="1" dirty="0">
                <a:latin typeface="Book Antiqua" panose="02040602050305030304" pitchFamily="18" charset="0"/>
              </a:rPr>
              <a:t>TRANSMISSION IMPAIRMENT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702504" y="1130360"/>
            <a:ext cx="8427241" cy="28079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942" indent="-310942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14" dirty="0">
                <a:latin typeface="Book Antiqua" panose="02040602050305030304" pitchFamily="18" charset="0"/>
              </a:rPr>
              <a:t>Signals travel through transmission media, which are not perfect. </a:t>
            </a:r>
          </a:p>
          <a:p>
            <a:pPr marL="310942" indent="-310942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14" dirty="0">
                <a:latin typeface="Book Antiqua" panose="02040602050305030304" pitchFamily="18" charset="0"/>
              </a:rPr>
              <a:t>The imperfection causes signal impairment. </a:t>
            </a:r>
          </a:p>
          <a:p>
            <a:pPr marL="310942" indent="-310942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14" dirty="0">
                <a:latin typeface="Book Antiqua" panose="02040602050305030304" pitchFamily="18" charset="0"/>
              </a:rPr>
              <a:t>This means that the signal at the beginning of the medium is not the same as the signal at the end of the medium. </a:t>
            </a:r>
          </a:p>
          <a:p>
            <a:pPr marL="310942" indent="-310942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14" dirty="0">
                <a:latin typeface="Book Antiqua" panose="02040602050305030304" pitchFamily="18" charset="0"/>
              </a:rPr>
              <a:t>What is sent is not what is received.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6683" y="3992489"/>
            <a:ext cx="6093051" cy="2617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29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81008" y="450275"/>
            <a:ext cx="1754006" cy="43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27" b="1" dirty="0">
                <a:latin typeface="Book Antiqua" panose="02040602050305030304" pitchFamily="18" charset="0"/>
              </a:rPr>
              <a:t>Attenuation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6033" y="1263364"/>
            <a:ext cx="7579933" cy="3353242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921330-BE86-976F-6870-FFD3BE356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9437" y="5625251"/>
            <a:ext cx="8673125" cy="536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176" dirty="0">
                <a:latin typeface="Book Antiqua" panose="02040602050305030304" pitchFamily="18" charset="0"/>
              </a:rPr>
              <a:t>P1 and P2 are power of signal at different points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98A260-A808-57D1-E15F-74B3277C46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5541" y="4303747"/>
            <a:ext cx="3360916" cy="1312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729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E48D21-121A-EEFB-19C0-133E86FA63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0721" y="1217856"/>
            <a:ext cx="8291788" cy="221114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2EEDB1-BAAB-4D9D-1A48-ED05959DF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204" y="4119983"/>
            <a:ext cx="8291788" cy="158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68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11909" y="595972"/>
            <a:ext cx="1529586" cy="4350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27" b="1" dirty="0">
                <a:latin typeface="Book Antiqua" panose="02040602050305030304" pitchFamily="18" charset="0"/>
              </a:rPr>
              <a:t>Distortion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5517" y="1494250"/>
            <a:ext cx="9190065" cy="4560483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937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19204" y="526874"/>
            <a:ext cx="1175322" cy="5389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902" b="1" dirty="0">
                <a:latin typeface="Book Antiqua" panose="02040602050305030304" pitchFamily="18" charset="0"/>
              </a:rPr>
              <a:t>Noise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713" y="1572852"/>
            <a:ext cx="9045089" cy="350011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FF7BFA-0FFB-134C-E398-4E8AB52AEE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3955" y="5156949"/>
            <a:ext cx="4675648" cy="138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90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1CDB23D-0078-7BB9-8004-7FB35E0A7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591" y="1010562"/>
            <a:ext cx="9055789" cy="4422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00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41581" y="457776"/>
            <a:ext cx="1645002" cy="483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39" b="1" dirty="0">
                <a:latin typeface="Book Antiqua" panose="02040602050305030304" pitchFamily="18" charset="0"/>
              </a:rPr>
              <a:t>Data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5668" y="1253158"/>
            <a:ext cx="8528765" cy="2051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IN" altLang="en-US" sz="2176" dirty="0">
                <a:latin typeface="Book Antiqua" panose="02040602050305030304" pitchFamily="18" charset="0"/>
              </a:rPr>
              <a:t>Data rate depends on 3 factors:</a:t>
            </a:r>
          </a:p>
          <a:p>
            <a:pPr marL="414589" indent="-414589" algn="just">
              <a:lnSpc>
                <a:spcPct val="150000"/>
              </a:lnSpc>
              <a:buFontTx/>
              <a:buAutoNum type="arabicPeriod"/>
            </a:pPr>
            <a:r>
              <a:rPr lang="en-IN" altLang="en-US" sz="2176" dirty="0">
                <a:latin typeface="Book Antiqua" panose="02040602050305030304" pitchFamily="18" charset="0"/>
              </a:rPr>
              <a:t>The </a:t>
            </a:r>
            <a:r>
              <a:rPr lang="en-IN" altLang="en-US" sz="2176" b="1" dirty="0">
                <a:latin typeface="Book Antiqua" panose="02040602050305030304" pitchFamily="18" charset="0"/>
              </a:rPr>
              <a:t>bandwidth </a:t>
            </a:r>
            <a:r>
              <a:rPr lang="en-IN" altLang="en-US" sz="2176" dirty="0">
                <a:latin typeface="Book Antiqua" panose="02040602050305030304" pitchFamily="18" charset="0"/>
              </a:rPr>
              <a:t>available</a:t>
            </a:r>
          </a:p>
          <a:p>
            <a:pPr marL="414589" indent="-414589" algn="just">
              <a:lnSpc>
                <a:spcPct val="150000"/>
              </a:lnSpc>
              <a:buFontTx/>
              <a:buAutoNum type="arabicPeriod"/>
            </a:pPr>
            <a:r>
              <a:rPr lang="en-IN" altLang="en-US" sz="2176" dirty="0">
                <a:latin typeface="Book Antiqua" panose="02040602050305030304" pitchFamily="18" charset="0"/>
              </a:rPr>
              <a:t>The </a:t>
            </a:r>
            <a:r>
              <a:rPr lang="en-IN" altLang="en-US" sz="2176" b="1" dirty="0">
                <a:latin typeface="Book Antiqua" panose="02040602050305030304" pitchFamily="18" charset="0"/>
              </a:rPr>
              <a:t>level of signals </a:t>
            </a:r>
            <a:r>
              <a:rPr lang="en-IN" altLang="en-US" sz="2176" dirty="0">
                <a:latin typeface="Book Antiqua" panose="02040602050305030304" pitchFamily="18" charset="0"/>
              </a:rPr>
              <a:t>we use</a:t>
            </a:r>
          </a:p>
          <a:p>
            <a:pPr marL="414589" indent="-414589" algn="just">
              <a:lnSpc>
                <a:spcPct val="150000"/>
              </a:lnSpc>
              <a:buFontTx/>
              <a:buAutoNum type="arabicPeriod"/>
            </a:pPr>
            <a:r>
              <a:rPr lang="en-IN" altLang="en-US" sz="2176" dirty="0">
                <a:latin typeface="Book Antiqua" panose="02040602050305030304" pitchFamily="18" charset="0"/>
              </a:rPr>
              <a:t>The </a:t>
            </a:r>
            <a:r>
              <a:rPr lang="en-IN" altLang="en-US" sz="2176" b="1" dirty="0">
                <a:latin typeface="Book Antiqua" panose="02040602050305030304" pitchFamily="18" charset="0"/>
              </a:rPr>
              <a:t>quality of the channel </a:t>
            </a:r>
            <a:r>
              <a:rPr lang="en-IN" altLang="en-US" sz="2176" dirty="0">
                <a:latin typeface="Book Antiqua" panose="02040602050305030304" pitchFamily="18" charset="0"/>
              </a:rPr>
              <a:t>(the level of noise)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1696954" y="3671452"/>
            <a:ext cx="8382271" cy="19632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Two theoretical formulas were developed to calculate the data rate</a:t>
            </a:r>
          </a:p>
          <a:p>
            <a:pPr marL="310942" indent="-31094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76" dirty="0">
                <a:latin typeface="Book Antiqua" panose="02040602050305030304" pitchFamily="18" charset="0"/>
              </a:rPr>
              <a:t>One by </a:t>
            </a:r>
            <a:r>
              <a:rPr lang="en-US" sz="2176" b="1" dirty="0">
                <a:latin typeface="Book Antiqua" panose="02040602050305030304" pitchFamily="18" charset="0"/>
              </a:rPr>
              <a:t>Nyquist</a:t>
            </a:r>
            <a:r>
              <a:rPr lang="en-US" sz="2176" dirty="0">
                <a:latin typeface="Book Antiqua" panose="02040602050305030304" pitchFamily="18" charset="0"/>
              </a:rPr>
              <a:t> for noiseless channel</a:t>
            </a:r>
          </a:p>
          <a:p>
            <a:pPr marL="310942" indent="-31094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76" dirty="0">
                <a:latin typeface="Book Antiqua" panose="02040602050305030304" pitchFamily="18" charset="0"/>
              </a:rPr>
              <a:t>Another by </a:t>
            </a:r>
            <a:r>
              <a:rPr lang="en-US" sz="2176" b="1" dirty="0">
                <a:latin typeface="Book Antiqua" panose="02040602050305030304" pitchFamily="18" charset="0"/>
              </a:rPr>
              <a:t>Shannon</a:t>
            </a:r>
            <a:r>
              <a:rPr lang="en-US" sz="2176" dirty="0">
                <a:latin typeface="Book Antiqua" panose="02040602050305030304" pitchFamily="18" charset="0"/>
              </a:rPr>
              <a:t> for a noisy channel</a:t>
            </a:r>
          </a:p>
          <a:p>
            <a:pPr>
              <a:lnSpc>
                <a:spcPct val="150000"/>
              </a:lnSpc>
            </a:pPr>
            <a:endParaRPr lang="en-US" sz="1750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464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21427" y="826729"/>
            <a:ext cx="4758034" cy="4350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27" b="1" dirty="0">
                <a:latin typeface="Book Antiqua" panose="02040602050305030304" pitchFamily="18" charset="0"/>
              </a:rPr>
              <a:t>Noiseless channel: Nyquist Bit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1427" y="1253158"/>
            <a:ext cx="8528765" cy="104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IN" altLang="en-US" sz="2176" dirty="0">
                <a:latin typeface="Book Antiqua" panose="02040602050305030304" pitchFamily="18" charset="0"/>
              </a:rPr>
              <a:t>For a noiseless channel, the Nyquist bit rate formula defines the theoretical maximum bit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721427" y="3657589"/>
            <a:ext cx="9004155" cy="2967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Bandwidth – Bandwidth of the channel</a:t>
            </a:r>
          </a:p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L – No. of signal levels used to represent data</a:t>
            </a:r>
          </a:p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Bit rate – Bit rate in bits per second</a:t>
            </a:r>
          </a:p>
          <a:p>
            <a:pPr>
              <a:lnSpc>
                <a:spcPct val="150000"/>
              </a:lnSpc>
            </a:pPr>
            <a:endParaRPr lang="en-US" sz="2176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176" b="1" dirty="0">
                <a:latin typeface="Book Antiqua" panose="02040602050305030304" pitchFamily="18" charset="0"/>
              </a:rPr>
              <a:t>Increasing the level of signal may reduce the reliability of the system</a:t>
            </a:r>
          </a:p>
          <a:p>
            <a:pPr>
              <a:lnSpc>
                <a:spcPct val="150000"/>
              </a:lnSpc>
            </a:pPr>
            <a:endParaRPr lang="en-US" sz="1750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066A00-3F6F-5386-6403-658F0659B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839" y="2514497"/>
            <a:ext cx="6413330" cy="103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365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F5A72-C387-9C4C-9DFA-DB3C56762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9377" y="665070"/>
            <a:ext cx="9350613" cy="5804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6767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21427" y="478403"/>
            <a:ext cx="5218095" cy="483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39" b="1" dirty="0">
                <a:latin typeface="Book Antiqua" panose="02040602050305030304" pitchFamily="18" charset="0"/>
              </a:rPr>
              <a:t>Noisy channel: Shannon Capacity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21427" y="1253158"/>
            <a:ext cx="8528765" cy="10473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IN" altLang="en-US" sz="2176" dirty="0">
                <a:latin typeface="Book Antiqua" panose="02040602050305030304" pitchFamily="18" charset="0"/>
              </a:rPr>
              <a:t>In reality, we cannot have noiseless channel</a:t>
            </a:r>
          </a:p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IN" altLang="en-US" sz="2176" dirty="0">
                <a:latin typeface="Book Antiqua" panose="02040602050305030304" pitchFamily="18" charset="0"/>
              </a:rPr>
              <a:t>To determine the theoretical highest rate for noisy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737261" y="3358297"/>
            <a:ext cx="4802918" cy="15495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Bandwidth – Bandwidth of channel</a:t>
            </a:r>
          </a:p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SNR – Signal to noise ratio</a:t>
            </a:r>
          </a:p>
          <a:p>
            <a:pPr>
              <a:lnSpc>
                <a:spcPct val="150000"/>
              </a:lnSpc>
            </a:pPr>
            <a:r>
              <a:rPr lang="en-US" sz="2176" dirty="0">
                <a:latin typeface="Book Antiqua" panose="02040602050305030304" pitchFamily="18" charset="0"/>
              </a:rPr>
              <a:t>Capacity – capacity of channel in BPS</a:t>
            </a:r>
            <a:endParaRPr lang="en-US" sz="1750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2A77AB8-C408-7BF4-3277-FA34646B8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874" y="2429848"/>
            <a:ext cx="6381913" cy="79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239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C7A8A0-A600-2738-7F47-E641AB5758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784" y="803267"/>
            <a:ext cx="9462433" cy="5251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0991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21428" y="388678"/>
            <a:ext cx="2068195" cy="4830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539" b="1" dirty="0">
                <a:latin typeface="Book Antiqua" panose="02040602050305030304" pitchFamily="18" charset="0"/>
              </a:rP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19987" y="1010562"/>
            <a:ext cx="8528765" cy="15495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buClrTx/>
              <a:buFontTx/>
              <a:buNone/>
            </a:pPr>
            <a:r>
              <a:rPr lang="en-IN" altLang="en-US" sz="2176" dirty="0">
                <a:latin typeface="Book Antiqua" panose="02040602050305030304" pitchFamily="18" charset="0"/>
              </a:rPr>
              <a:t>One important issue in networking is the performance of the network—how good is it?  quality of service, an overall measurement of network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719987" y="2723059"/>
            <a:ext cx="13111282" cy="42234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10942" indent="-31094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176" b="1" dirty="0">
                <a:latin typeface="Book Antiqua" panose="02040602050305030304" pitchFamily="18" charset="0"/>
              </a:rPr>
              <a:t>Bandwidth</a:t>
            </a:r>
            <a:r>
              <a:rPr lang="en-US" altLang="en-US" sz="2176" dirty="0">
                <a:latin typeface="Book Antiqua" panose="02040602050305030304" pitchFamily="18" charset="0"/>
              </a:rPr>
              <a:t> - capacity of the system</a:t>
            </a:r>
          </a:p>
          <a:p>
            <a:pPr marL="725531" lvl="1" indent="-31094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176" dirty="0">
                <a:latin typeface="Book Antiqua" panose="02040602050305030304" pitchFamily="18" charset="0"/>
              </a:rPr>
              <a:t>Bandwidth in Hz</a:t>
            </a:r>
          </a:p>
          <a:p>
            <a:pPr marL="725531" lvl="1" indent="-31094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176" dirty="0">
                <a:latin typeface="Book Antiqua" panose="02040602050305030304" pitchFamily="18" charset="0"/>
              </a:rPr>
              <a:t>Bandwidth in BPS</a:t>
            </a:r>
          </a:p>
          <a:p>
            <a:pPr marL="310942" indent="-310942">
              <a:lnSpc>
                <a:spcPct val="150000"/>
              </a:lnSpc>
              <a:buSzPct val="117000"/>
              <a:buFont typeface="Wingdings" panose="05000000000000000000" pitchFamily="2" charset="2"/>
              <a:buChar char="§"/>
            </a:pPr>
            <a:r>
              <a:rPr lang="fr-FR" altLang="en-US" sz="2176" b="1" dirty="0">
                <a:latin typeface="Book Antiqua" panose="02040602050305030304" pitchFamily="18" charset="0"/>
              </a:rPr>
              <a:t>Throughput</a:t>
            </a:r>
            <a:r>
              <a:rPr lang="fr-FR" altLang="en-US" sz="2176" dirty="0">
                <a:latin typeface="Book Antiqua" panose="02040602050305030304" pitchFamily="18" charset="0"/>
              </a:rPr>
              <a:t> – How fast data can be send through a network</a:t>
            </a:r>
          </a:p>
          <a:p>
            <a:pPr marL="310942" indent="-310942">
              <a:lnSpc>
                <a:spcPct val="150000"/>
              </a:lnSpc>
              <a:buSzPct val="117000"/>
              <a:buFont typeface="Wingdings" panose="05000000000000000000" pitchFamily="2" charset="2"/>
              <a:buChar char="§"/>
            </a:pPr>
            <a:r>
              <a:rPr lang="fr-FR" altLang="en-US" sz="2176" dirty="0">
                <a:latin typeface="Book Antiqua" panose="02040602050305030304" pitchFamily="18" charset="0"/>
              </a:rPr>
              <a:t> </a:t>
            </a:r>
            <a:r>
              <a:rPr lang="en-US" altLang="en-US" sz="2176" b="1" dirty="0">
                <a:latin typeface="Book Antiqua" panose="02040602050305030304" pitchFamily="18" charset="0"/>
              </a:rPr>
              <a:t>Latency (Delay) </a:t>
            </a:r>
            <a:r>
              <a:rPr lang="en-US" altLang="en-US" sz="2176" dirty="0">
                <a:latin typeface="Book Antiqua" panose="02040602050305030304" pitchFamily="18" charset="0"/>
              </a:rPr>
              <a:t>– How long data take for an entire message to </a:t>
            </a:r>
          </a:p>
          <a:p>
            <a:pPr>
              <a:lnSpc>
                <a:spcPct val="150000"/>
              </a:lnSpc>
              <a:buSzPct val="117000"/>
            </a:pPr>
            <a:r>
              <a:rPr lang="en-US" altLang="en-US" sz="2176" dirty="0">
                <a:latin typeface="Book Antiqua" panose="02040602050305030304" pitchFamily="18" charset="0"/>
              </a:rPr>
              <a:t>						  completely arrive at the destination from source		</a:t>
            </a:r>
          </a:p>
          <a:p>
            <a:pPr algn="ctr">
              <a:lnSpc>
                <a:spcPct val="150000"/>
              </a:lnSpc>
              <a:buSzPct val="117000"/>
            </a:pPr>
            <a:endParaRPr lang="en-US" altLang="en-US" sz="1088" b="1" dirty="0">
              <a:latin typeface="Book Antiqua" panose="02040602050305030304" pitchFamily="18" charset="0"/>
            </a:endParaRPr>
          </a:p>
          <a:p>
            <a:pPr algn="ctr">
              <a:lnSpc>
                <a:spcPct val="150000"/>
              </a:lnSpc>
              <a:buSzPct val="117000"/>
            </a:pPr>
            <a:r>
              <a:rPr lang="en-US" altLang="en-US" sz="2176" b="1" dirty="0">
                <a:latin typeface="Book Antiqua" panose="02040602050305030304" pitchFamily="18" charset="0"/>
              </a:rPr>
              <a:t>Latency = PT + TT + QT + PD</a:t>
            </a:r>
          </a:p>
          <a:p>
            <a:pPr>
              <a:lnSpc>
                <a:spcPct val="150000"/>
              </a:lnSpc>
              <a:buSzPct val="117000"/>
            </a:pPr>
            <a:endParaRPr lang="en-US" sz="1750" dirty="0">
              <a:latin typeface="Book Antiqua" panose="02040602050305030304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721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0855" y="990198"/>
            <a:ext cx="8032906" cy="435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ClrTx/>
              <a:buFontTx/>
              <a:buNone/>
            </a:pPr>
            <a:r>
              <a:rPr lang="en-US" altLang="en-US" sz="2227" b="1" dirty="0">
                <a:latin typeface="Book Antiqua" panose="02040602050305030304" pitchFamily="18" charset="0"/>
              </a:rPr>
              <a:t>In networking,  the term bandwidth is used in two contexts.</a:t>
            </a:r>
          </a:p>
        </p:txBody>
      </p:sp>
      <p:sp>
        <p:nvSpPr>
          <p:cNvPr id="3" name="Rectangle 2"/>
          <p:cNvSpPr/>
          <p:nvPr/>
        </p:nvSpPr>
        <p:spPr>
          <a:xfrm>
            <a:off x="1467989" y="1541188"/>
            <a:ext cx="8484688" cy="1668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72727" indent="-27272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750" dirty="0">
                <a:latin typeface="Book Antiqua" panose="02040602050305030304" pitchFamily="18" charset="0"/>
              </a:rPr>
              <a:t>The first, </a:t>
            </a:r>
            <a:r>
              <a:rPr lang="en-US" altLang="en-US" sz="1750" b="1" dirty="0">
                <a:latin typeface="Book Antiqua" panose="02040602050305030304" pitchFamily="18" charset="0"/>
              </a:rPr>
              <a:t>bandwidth in hertz</a:t>
            </a:r>
            <a:r>
              <a:rPr lang="en-US" altLang="en-US" sz="1750" dirty="0">
                <a:latin typeface="Book Antiqua" panose="02040602050305030304" pitchFamily="18" charset="0"/>
              </a:rPr>
              <a:t>, refers to the range of frequencies in a composite signal or </a:t>
            </a:r>
            <a:r>
              <a:rPr lang="en-US" altLang="en-US" sz="1750" b="1" dirty="0">
                <a:latin typeface="Book Antiqua" panose="02040602050305030304" pitchFamily="18" charset="0"/>
              </a:rPr>
              <a:t>the range of frequencies that a channel can pass</a:t>
            </a:r>
            <a:r>
              <a:rPr lang="en-US" altLang="en-US" sz="1750" dirty="0">
                <a:latin typeface="Book Antiqua" panose="02040602050305030304" pitchFamily="18" charset="0"/>
              </a:rPr>
              <a:t>.</a:t>
            </a:r>
          </a:p>
          <a:p>
            <a:pPr marL="272727" indent="-272727"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en-US" sz="1750" dirty="0">
                <a:latin typeface="Book Antiqua" panose="02040602050305030304" pitchFamily="18" charset="0"/>
              </a:rPr>
              <a:t>The second</a:t>
            </a:r>
            <a:r>
              <a:rPr lang="en-US" altLang="en-US" sz="1750" b="1" dirty="0">
                <a:latin typeface="Book Antiqua" panose="02040602050305030304" pitchFamily="18" charset="0"/>
              </a:rPr>
              <a:t>, bandwidth in bits per second</a:t>
            </a:r>
            <a:r>
              <a:rPr lang="en-US" altLang="en-US" sz="1750" dirty="0">
                <a:latin typeface="Book Antiqua" panose="02040602050305030304" pitchFamily="18" charset="0"/>
              </a:rPr>
              <a:t>, refers to the </a:t>
            </a:r>
            <a:r>
              <a:rPr lang="en-US" altLang="en-US" sz="1750" b="1" dirty="0">
                <a:latin typeface="Book Antiqua" panose="02040602050305030304" pitchFamily="18" charset="0"/>
              </a:rPr>
              <a:t>speed of bit transmission in a channel </a:t>
            </a:r>
            <a:r>
              <a:rPr lang="en-US" altLang="en-US" sz="1750" dirty="0">
                <a:latin typeface="Book Antiqua" panose="02040602050305030304" pitchFamily="18" charset="0"/>
              </a:rPr>
              <a:t>or link. Often referred to as Capacity.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467989" y="3803974"/>
            <a:ext cx="8484688" cy="20722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3333CC"/>
              </a:buClr>
              <a:buSzPct val="60000"/>
              <a:tabLst>
                <a:tab pos="270202" algn="l"/>
                <a:tab pos="353535" algn="l"/>
                <a:tab pos="710859" algn="l"/>
                <a:tab pos="1068180" algn="l"/>
                <a:tab pos="1425504" algn="l"/>
                <a:tab pos="1782827" algn="l"/>
                <a:tab pos="2140150" algn="l"/>
                <a:tab pos="2497472" algn="l"/>
                <a:tab pos="2854795" algn="l"/>
                <a:tab pos="3212118" algn="l"/>
                <a:tab pos="3569441" algn="l"/>
                <a:tab pos="3926763" algn="l"/>
                <a:tab pos="4284087" algn="l"/>
                <a:tab pos="4641410" algn="l"/>
                <a:tab pos="4998732" algn="l"/>
                <a:tab pos="5356055" algn="l"/>
                <a:tab pos="5713378" algn="l"/>
                <a:tab pos="6070700" algn="l"/>
                <a:tab pos="6428024" algn="l"/>
                <a:tab pos="6785346" algn="l"/>
                <a:tab pos="7142670" algn="l"/>
              </a:tabLst>
            </a:pPr>
            <a:r>
              <a:rPr lang="en-US" altLang="en-US" sz="1750" b="1" dirty="0">
                <a:latin typeface="Book Antiqua" panose="02040602050305030304" pitchFamily="18" charset="0"/>
              </a:rPr>
              <a:t>Propagation speed </a:t>
            </a:r>
            <a:r>
              <a:rPr lang="en-US" altLang="en-US" sz="1750" dirty="0">
                <a:latin typeface="Book Antiqua" panose="02040602050305030304" pitchFamily="18" charset="0"/>
              </a:rPr>
              <a:t>- speed at which a bit travels though the medium from source to destination.</a:t>
            </a:r>
          </a:p>
          <a:p>
            <a:pPr>
              <a:lnSpc>
                <a:spcPct val="150000"/>
              </a:lnSpc>
              <a:buClr>
                <a:srgbClr val="3333CC"/>
              </a:buClr>
              <a:buSzPct val="60000"/>
              <a:tabLst>
                <a:tab pos="270202" algn="l"/>
                <a:tab pos="353535" algn="l"/>
                <a:tab pos="710859" algn="l"/>
                <a:tab pos="1068180" algn="l"/>
                <a:tab pos="1425504" algn="l"/>
                <a:tab pos="1782827" algn="l"/>
                <a:tab pos="2140150" algn="l"/>
                <a:tab pos="2497472" algn="l"/>
                <a:tab pos="2854795" algn="l"/>
                <a:tab pos="3212118" algn="l"/>
                <a:tab pos="3569441" algn="l"/>
                <a:tab pos="3926763" algn="l"/>
                <a:tab pos="4284087" algn="l"/>
                <a:tab pos="4641410" algn="l"/>
                <a:tab pos="4998732" algn="l"/>
                <a:tab pos="5356055" algn="l"/>
                <a:tab pos="5713378" algn="l"/>
                <a:tab pos="6070700" algn="l"/>
                <a:tab pos="6428024" algn="l"/>
                <a:tab pos="6785346" algn="l"/>
                <a:tab pos="7142670" algn="l"/>
              </a:tabLst>
            </a:pPr>
            <a:r>
              <a:rPr lang="en-US" altLang="en-US" sz="1750" b="1" dirty="0">
                <a:latin typeface="Book Antiqua" panose="02040602050305030304" pitchFamily="18" charset="0"/>
              </a:rPr>
              <a:t>Transmission speed </a:t>
            </a:r>
            <a:r>
              <a:rPr lang="en-US" altLang="en-US" sz="1750" dirty="0">
                <a:latin typeface="Book Antiqua" panose="02040602050305030304" pitchFamily="18" charset="0"/>
              </a:rPr>
              <a:t>- the speed at which all the bits in a message arrive at the destination. (difference in arrival time of first and last bit)</a:t>
            </a:r>
          </a:p>
          <a:p>
            <a:pPr>
              <a:lnSpc>
                <a:spcPct val="150000"/>
              </a:lnSpc>
              <a:buClr>
                <a:srgbClr val="3333CC"/>
              </a:buClr>
              <a:buSzPct val="60000"/>
              <a:tabLst>
                <a:tab pos="270202" algn="l"/>
                <a:tab pos="353535" algn="l"/>
                <a:tab pos="710859" algn="l"/>
                <a:tab pos="1068180" algn="l"/>
                <a:tab pos="1425504" algn="l"/>
                <a:tab pos="1782827" algn="l"/>
                <a:tab pos="2140150" algn="l"/>
                <a:tab pos="2497472" algn="l"/>
                <a:tab pos="2854795" algn="l"/>
                <a:tab pos="3212118" algn="l"/>
                <a:tab pos="3569441" algn="l"/>
                <a:tab pos="3926763" algn="l"/>
                <a:tab pos="4284087" algn="l"/>
                <a:tab pos="4641410" algn="l"/>
                <a:tab pos="4998732" algn="l"/>
                <a:tab pos="5356055" algn="l"/>
                <a:tab pos="5713378" algn="l"/>
                <a:tab pos="6070700" algn="l"/>
                <a:tab pos="6428024" algn="l"/>
                <a:tab pos="6785346" algn="l"/>
                <a:tab pos="7142670" algn="l"/>
              </a:tabLst>
            </a:pPr>
            <a:endParaRPr lang="en-US" altLang="en-US" sz="1750" dirty="0">
              <a:latin typeface="Book Antiqua" panose="02040602050305030304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82918" tIns="41459" rIns="82918" bIns="41459" rtlCol="0" anchor="ctr"/>
          <a:lstStyle>
            <a:defPPr>
              <a:defRPr lang="en-US"/>
            </a:defPPr>
            <a:lvl1pPr marL="0" algn="r" defTabSz="829178" rtl="0" eaLnBrk="1" latinLnBrk="0" hangingPunct="1">
              <a:defRPr sz="1088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14589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29178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43767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58356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72945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87534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02123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316712" algn="l" defTabSz="829178" rtl="0" eaLnBrk="1" latinLnBrk="0" hangingPunct="1">
              <a:defRPr sz="163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5418B4-7F8B-4384-94FB-175520CCF42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050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463</Words>
  <Application>Microsoft Office PowerPoint</Application>
  <PresentationFormat>Widescreen</PresentationFormat>
  <Paragraphs>67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Book Antiqua</vt:lpstr>
      <vt:lpstr>Calibri</vt:lpstr>
      <vt:lpstr>Calibri Light</vt:lpstr>
      <vt:lpstr>Google Sans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Chandru Vignesh</dc:creator>
  <cp:lastModifiedBy>Chandru Vignesh</cp:lastModifiedBy>
  <cp:revision>1</cp:revision>
  <dcterms:created xsi:type="dcterms:W3CDTF">2024-08-21T16:31:44Z</dcterms:created>
  <dcterms:modified xsi:type="dcterms:W3CDTF">2024-08-21T16:32:48Z</dcterms:modified>
</cp:coreProperties>
</file>