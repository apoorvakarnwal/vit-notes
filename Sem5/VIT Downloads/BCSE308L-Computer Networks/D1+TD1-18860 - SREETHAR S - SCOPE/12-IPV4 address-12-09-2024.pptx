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358" r:id="rId2"/>
    <p:sldId id="359" r:id="rId3"/>
    <p:sldId id="360" r:id="rId4"/>
    <p:sldId id="361" r:id="rId5"/>
    <p:sldId id="362" r:id="rId6"/>
    <p:sldId id="363" r:id="rId7"/>
    <p:sldId id="365" r:id="rId8"/>
    <p:sldId id="366" r:id="rId9"/>
    <p:sldId id="408" r:id="rId10"/>
    <p:sldId id="367" r:id="rId11"/>
    <p:sldId id="409" r:id="rId12"/>
    <p:sldId id="410" r:id="rId13"/>
    <p:sldId id="411" r:id="rId14"/>
    <p:sldId id="412" r:id="rId15"/>
    <p:sldId id="368" r:id="rId16"/>
    <p:sldId id="369" r:id="rId17"/>
    <p:sldId id="370" r:id="rId18"/>
    <p:sldId id="419" r:id="rId19"/>
    <p:sldId id="420" r:id="rId20"/>
    <p:sldId id="413" r:id="rId21"/>
    <p:sldId id="414" r:id="rId22"/>
    <p:sldId id="415" r:id="rId23"/>
    <p:sldId id="421" r:id="rId24"/>
    <p:sldId id="416" r:id="rId25"/>
    <p:sldId id="418" r:id="rId26"/>
    <p:sldId id="417" r:id="rId27"/>
    <p:sldId id="371" r:id="rId28"/>
    <p:sldId id="372" r:id="rId29"/>
    <p:sldId id="422" r:id="rId30"/>
    <p:sldId id="423" r:id="rId31"/>
    <p:sldId id="424" r:id="rId32"/>
    <p:sldId id="426" r:id="rId33"/>
    <p:sldId id="373" r:id="rId34"/>
    <p:sldId id="374" r:id="rId35"/>
    <p:sldId id="375" r:id="rId36"/>
    <p:sldId id="376" r:id="rId37"/>
    <p:sldId id="377" r:id="rId38"/>
    <p:sldId id="378" r:id="rId39"/>
    <p:sldId id="379" r:id="rId40"/>
    <p:sldId id="380" r:id="rId41"/>
    <p:sldId id="381" r:id="rId42"/>
    <p:sldId id="382" r:id="rId43"/>
    <p:sldId id="383" r:id="rId44"/>
    <p:sldId id="385" r:id="rId4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108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B8B02A-0170-4E64-96F1-4A3F764CC5B9}" type="datetimeFigureOut">
              <a:rPr lang="en-US" smtClean="0"/>
              <a:pPr/>
              <a:t>6/16/2023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266530-ECAB-42FD-A393-68310108F15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A23B98-B66D-42CB-8059-487D73EFDCDC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E48B0E4-8E4C-482A-88F5-7BCAA33135B3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C3AD9-11C9-40B6-BA1C-E8616E3C93E3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A89E899-1E81-430A-BF2D-33BF00224D7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B00FEAE-CB93-4757-965E-0713451F9052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E3E16E7-E504-4E67-951D-9FB7726ED7AD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5F0DF6D-E437-4E42-A5FF-4E3AA4D6F814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22371B0-A59E-4D62-8432-DCB94FD00DB0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8DA5A09-CAE9-4C15-B777-7B53C4474A51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7EFE2E3-44CD-4324-B1D1-EF1346B13750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BD95649-13FD-4917-8E2B-93B08AF5F38A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E3D8AD2-7215-4EC0-9D14-579BB0F38BDC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F0B065C-F263-4BFF-B354-1CF47374C72A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E9ABF00-AF22-4FEF-9E1E-7CB41A11FA11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3AE78CD-A669-4B86-805C-E8F3889B016D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07C8425-CABA-438C-BD5B-49CDA3594D36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BDACE3E-B622-4242-BF56-82F4E7B8B584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418945-E86B-4C70-A90C-A7D6D8DC9F31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0D43F47-1678-4338-98D9-AF2C2D2132E3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835F709-A010-4AB4-AA7D-08D3244792B3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0CB353E-9BFD-4ADC-A3D7-7C15CC1B0913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69F8604-4107-4659-BB82-AABD8DB9ABA9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138A64F-EB86-42C1-B2B6-D424EFE9CCFA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256C72E-429B-4690-BBC3-CEC269F1264F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1EB3FBF-F24C-4AF9-B382-BD12EAD060A2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F33F800-441F-45B1-88EE-FB4B5BDC791F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719263"/>
            <a:ext cx="8229600" cy="4411662"/>
          </a:xfrm>
          <a:prstGeom prst="rect">
            <a:avLst/>
          </a:prstGeom>
        </p:spPr>
        <p:txBody>
          <a:bodyPr/>
          <a:lstStyle/>
          <a:p>
            <a:pPr lvl="0"/>
            <a:endParaRPr lang="en-IN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AU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AU" altLang="en-US"/>
              <a:t>IPv6 Packet Format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0DA869-207D-4BA7-8BA6-C83E1856ED4E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250" name="Rectangle 2"/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baseline="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565251" name="Text Box 3"/>
          <p:cNvSpPr txBox="1">
            <a:spLocks noChangeArrowheads="1"/>
          </p:cNvSpPr>
          <p:nvPr/>
        </p:nvSpPr>
        <p:spPr bwMode="auto">
          <a:xfrm>
            <a:off x="2438400" y="381000"/>
            <a:ext cx="473078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4800" baseline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IPv4 ADDRESSES</a:t>
            </a:r>
          </a:p>
        </p:txBody>
      </p:sp>
      <p:sp>
        <p:nvSpPr>
          <p:cNvPr id="6149" name="Text Box 4"/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 sz="1800" baseline="0">
              <a:latin typeface="Times New Roman" pitchFamily="18" charset="0"/>
            </a:endParaRPr>
          </a:p>
        </p:txBody>
      </p:sp>
      <p:sp>
        <p:nvSpPr>
          <p:cNvPr id="565253" name="Rectangle 5"/>
          <p:cNvSpPr>
            <a:spLocks noChangeArrowheads="1"/>
          </p:cNvSpPr>
          <p:nvPr/>
        </p:nvSpPr>
        <p:spPr bwMode="auto">
          <a:xfrm>
            <a:off x="304800" y="1600200"/>
            <a:ext cx="8229600" cy="1373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just" eaLnBrk="1" hangingPunct="1">
              <a:defRPr/>
            </a:pPr>
            <a:r>
              <a:rPr lang="en-US" sz="2800" i="1" baseline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An </a:t>
            </a:r>
            <a:r>
              <a:rPr lang="en-US" sz="2800" i="1" baseline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IPv4 address</a:t>
            </a:r>
            <a:r>
              <a:rPr lang="en-US" sz="2800" i="1" baseline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is a </a:t>
            </a:r>
            <a:r>
              <a:rPr lang="en-US" sz="2800" i="1" baseline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32-bit</a:t>
            </a:r>
            <a:r>
              <a:rPr lang="en-US" sz="2800" i="1" baseline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address that uniquely and universally defines the connection of a device (for example, a computer or a router) to the Internet.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7172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7173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7174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7175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7176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7177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7178" name="Line 9"/>
          <p:cNvSpPr>
            <a:spLocks noChangeShapeType="1"/>
          </p:cNvSpPr>
          <p:nvPr/>
        </p:nvSpPr>
        <p:spPr bwMode="auto">
          <a:xfrm>
            <a:off x="457200" y="3124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79" name="Line 10"/>
          <p:cNvSpPr>
            <a:spLocks noChangeShapeType="1"/>
          </p:cNvSpPr>
          <p:nvPr/>
        </p:nvSpPr>
        <p:spPr bwMode="auto">
          <a:xfrm>
            <a:off x="458788" y="3886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180" name="Rectangle 11"/>
          <p:cNvSpPr>
            <a:spLocks noChangeArrowheads="1"/>
          </p:cNvSpPr>
          <p:nvPr/>
        </p:nvSpPr>
        <p:spPr bwMode="auto">
          <a:xfrm>
            <a:off x="495300" y="3216275"/>
            <a:ext cx="8077200" cy="579438"/>
          </a:xfrm>
          <a:prstGeom prst="rect">
            <a:avLst/>
          </a:prstGeom>
          <a:solidFill>
            <a:srgbClr val="99FF33"/>
          </a:solidFill>
          <a:ln w="762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3200" baseline="0" dirty="0"/>
              <a:t>An IPv4 address is 32 bits long.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8196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8197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8198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8199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8200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8201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8202" name="Line 9"/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3" name="Line 10"/>
          <p:cNvSpPr>
            <a:spLocks noChangeShapeType="1"/>
          </p:cNvSpPr>
          <p:nvPr/>
        </p:nvSpPr>
        <p:spPr bwMode="auto">
          <a:xfrm>
            <a:off x="458788" y="3886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4" name="Rectangle 11"/>
          <p:cNvSpPr>
            <a:spLocks noChangeArrowheads="1"/>
          </p:cNvSpPr>
          <p:nvPr/>
        </p:nvSpPr>
        <p:spPr bwMode="auto">
          <a:xfrm>
            <a:off x="495300" y="2759075"/>
            <a:ext cx="8077200" cy="1200329"/>
          </a:xfrm>
          <a:prstGeom prst="rect">
            <a:avLst/>
          </a:prstGeom>
          <a:solidFill>
            <a:srgbClr val="99FF33"/>
          </a:solidFill>
          <a:ln w="762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3600" baseline="0" dirty="0"/>
              <a:t>The IPv4 addresses are unique </a:t>
            </a:r>
            <a:br>
              <a:rPr lang="en-US" sz="3600" baseline="0" dirty="0"/>
            </a:br>
            <a:r>
              <a:rPr lang="en-US" sz="3600" baseline="0" dirty="0"/>
              <a:t>and universal.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9220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9221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9222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9223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9224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9225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9226" name="Line 9"/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27" name="Line 10"/>
          <p:cNvSpPr>
            <a:spLocks noChangeShapeType="1"/>
          </p:cNvSpPr>
          <p:nvPr/>
        </p:nvSpPr>
        <p:spPr bwMode="auto">
          <a:xfrm>
            <a:off x="458788" y="3886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28" name="Rectangle 11"/>
          <p:cNvSpPr>
            <a:spLocks noChangeArrowheads="1"/>
          </p:cNvSpPr>
          <p:nvPr/>
        </p:nvSpPr>
        <p:spPr bwMode="auto">
          <a:xfrm>
            <a:off x="495300" y="2759075"/>
            <a:ext cx="8077200" cy="1200329"/>
          </a:xfrm>
          <a:prstGeom prst="rect">
            <a:avLst/>
          </a:prstGeom>
          <a:solidFill>
            <a:srgbClr val="99FF33"/>
          </a:solidFill>
          <a:ln w="762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3600" baseline="0" dirty="0"/>
              <a:t>The address space of IPv4 is </a:t>
            </a:r>
            <a:br>
              <a:rPr lang="en-US" sz="3600" baseline="0" dirty="0"/>
            </a:br>
            <a:r>
              <a:rPr lang="en-US" sz="3600" baseline="0" dirty="0"/>
              <a:t>2</a:t>
            </a:r>
            <a:r>
              <a:rPr lang="en-US" sz="3600" baseline="30000" dirty="0"/>
              <a:t>32</a:t>
            </a:r>
            <a:r>
              <a:rPr lang="en-US" sz="3600" baseline="0" dirty="0"/>
              <a:t>  or  4,294,967,296.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Line 2"/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44" name="Line 3"/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45" name="Text Box 4"/>
          <p:cNvSpPr txBox="1">
            <a:spLocks noChangeArrowheads="1"/>
          </p:cNvSpPr>
          <p:nvPr/>
        </p:nvSpPr>
        <p:spPr bwMode="auto">
          <a:xfrm>
            <a:off x="0" y="381000"/>
            <a:ext cx="687572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i="1" baseline="0" dirty="0">
                <a:latin typeface="Times New Roman" pitchFamily="18" charset="0"/>
              </a:rPr>
              <a:t>Dotted-decimal notation and binary notation for an IPv4 address</a:t>
            </a:r>
          </a:p>
        </p:txBody>
      </p:sp>
      <p:sp>
        <p:nvSpPr>
          <p:cNvPr id="10246" name="Line 5"/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8200" y="2286000"/>
            <a:ext cx="7777354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1600200" y="990601"/>
            <a:ext cx="59436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</a:rPr>
              <a:t>Binary notation (base 2), 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</a:rPr>
              <a:t>Dotted-decimal notation (base 256),</a:t>
            </a:r>
          </a:p>
          <a:p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057400" y="5181600"/>
            <a:ext cx="5486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10000001 00001011 00001011 11101111</a:t>
            </a:r>
          </a:p>
          <a:p>
            <a:pPr algn="ctr"/>
            <a:r>
              <a:rPr lang="en-US" sz="2400" b="1" dirty="0">
                <a:solidFill>
                  <a:srgbClr val="0070C0"/>
                </a:solidFill>
              </a:rPr>
              <a:t>0X</a:t>
            </a:r>
            <a:r>
              <a:rPr lang="en-US" sz="2400" dirty="0">
                <a:solidFill>
                  <a:srgbClr val="FF0000"/>
                </a:solidFill>
              </a:rPr>
              <a:t>810B0BEF or 810B0BEF16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4648200"/>
            <a:ext cx="5181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Hexadecimal notation (base 16).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11268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11269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11270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11271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11272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11273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11274" name="Rectangle 9"/>
          <p:cNvSpPr>
            <a:spLocks noChangeArrowheads="1"/>
          </p:cNvSpPr>
          <p:nvPr/>
        </p:nvSpPr>
        <p:spPr bwMode="auto">
          <a:xfrm>
            <a:off x="228600" y="1143000"/>
            <a:ext cx="8686800" cy="9461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US" sz="2800" i="1" baseline="0">
                <a:latin typeface="Times New Roman" pitchFamily="18" charset="0"/>
              </a:rPr>
              <a:t>Change the following IPv4 addresses from binary notation to dotted-decimal notation.</a:t>
            </a:r>
          </a:p>
        </p:txBody>
      </p:sp>
      <p:sp>
        <p:nvSpPr>
          <p:cNvPr id="11275" name="Text Box 10"/>
          <p:cNvSpPr txBox="1">
            <a:spLocks noChangeArrowheads="1"/>
          </p:cNvSpPr>
          <p:nvPr/>
        </p:nvSpPr>
        <p:spPr bwMode="auto">
          <a:xfrm>
            <a:off x="1143000" y="0"/>
            <a:ext cx="116570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 baseline="0" dirty="0">
                <a:solidFill>
                  <a:schemeClr val="hlink"/>
                </a:solidFill>
                <a:latin typeface="Times New Roman" pitchFamily="18" charset="0"/>
              </a:rPr>
              <a:t>Example 1</a:t>
            </a:r>
          </a:p>
        </p:txBody>
      </p:sp>
      <p:pic>
        <p:nvPicPr>
          <p:cNvPr id="11276" name="Picture 1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2362200"/>
            <a:ext cx="7715250" cy="97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77" name="Rectangle 13"/>
          <p:cNvSpPr>
            <a:spLocks noChangeArrowheads="1"/>
          </p:cNvSpPr>
          <p:nvPr/>
        </p:nvSpPr>
        <p:spPr bwMode="auto">
          <a:xfrm>
            <a:off x="228600" y="3581400"/>
            <a:ext cx="8686800" cy="180022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US" sz="2800" i="1" baseline="0">
                <a:solidFill>
                  <a:schemeClr val="hlink"/>
                </a:solidFill>
                <a:latin typeface="Times New Roman" pitchFamily="18" charset="0"/>
              </a:rPr>
              <a:t>Solution</a:t>
            </a:r>
          </a:p>
          <a:p>
            <a:pPr algn="just"/>
            <a:r>
              <a:rPr lang="en-US" sz="2800" i="1" baseline="0">
                <a:latin typeface="Times New Roman" pitchFamily="18" charset="0"/>
              </a:rPr>
              <a:t>We replace each group of 8 bits with its equivalent decimal number (see Appendix B) and add dots for separation.</a:t>
            </a:r>
          </a:p>
        </p:txBody>
      </p:sp>
      <p:pic>
        <p:nvPicPr>
          <p:cNvPr id="11278" name="Picture 1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04800" y="5486400"/>
            <a:ext cx="3071813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13316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13317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13318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13319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13320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13321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13324" name="Rectangle 11"/>
          <p:cNvSpPr>
            <a:spLocks noChangeArrowheads="1"/>
          </p:cNvSpPr>
          <p:nvPr/>
        </p:nvSpPr>
        <p:spPr bwMode="auto">
          <a:xfrm>
            <a:off x="609600" y="1143000"/>
            <a:ext cx="8077200" cy="1077218"/>
          </a:xfrm>
          <a:prstGeom prst="rect">
            <a:avLst/>
          </a:prstGeom>
          <a:solidFill>
            <a:srgbClr val="99FF33"/>
          </a:solidFill>
          <a:ln w="762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baseline="0" dirty="0"/>
              <a:t>In </a:t>
            </a:r>
            <a:r>
              <a:rPr lang="en-US" sz="3200" baseline="0" dirty="0" err="1">
                <a:solidFill>
                  <a:srgbClr val="FF0000"/>
                </a:solidFill>
              </a:rPr>
              <a:t>Classful</a:t>
            </a:r>
            <a:r>
              <a:rPr lang="en-US" sz="3200" baseline="0" dirty="0">
                <a:solidFill>
                  <a:srgbClr val="FF0000"/>
                </a:solidFill>
              </a:rPr>
              <a:t> addressing</a:t>
            </a:r>
            <a:r>
              <a:rPr lang="en-US" baseline="0" dirty="0"/>
              <a:t>, the address space is divided into five classes:</a:t>
            </a:r>
          </a:p>
          <a:p>
            <a:pPr algn="ctr"/>
            <a:r>
              <a:rPr lang="en-US" sz="3200" baseline="0" dirty="0">
                <a:solidFill>
                  <a:srgbClr val="FF0000"/>
                </a:solidFill>
              </a:rPr>
              <a:t>A, B, C, D, and E.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6366" y="2438400"/>
            <a:ext cx="8757634" cy="3097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Line 2"/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40" name="Line 3"/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41" name="Text Box 4"/>
          <p:cNvSpPr txBox="1">
            <a:spLocks noChangeArrowheads="1"/>
          </p:cNvSpPr>
          <p:nvPr/>
        </p:nvSpPr>
        <p:spPr bwMode="auto">
          <a:xfrm>
            <a:off x="304800" y="381000"/>
            <a:ext cx="612218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i="1" baseline="0" dirty="0">
                <a:latin typeface="Times New Roman" pitchFamily="18" charset="0"/>
              </a:rPr>
              <a:t>Finding the classes in binary and dotted-decimal notation</a:t>
            </a:r>
          </a:p>
        </p:txBody>
      </p:sp>
      <p:sp>
        <p:nvSpPr>
          <p:cNvPr id="14342" name="Line 5"/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14343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" y="1371600"/>
            <a:ext cx="8226425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Finding the address class using continuous checking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1828800"/>
            <a:ext cx="8450262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15364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15365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15366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15367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15368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15369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15370" name="Rectangle 9"/>
          <p:cNvSpPr>
            <a:spLocks noChangeArrowheads="1"/>
          </p:cNvSpPr>
          <p:nvPr/>
        </p:nvSpPr>
        <p:spPr bwMode="auto">
          <a:xfrm>
            <a:off x="228600" y="1143000"/>
            <a:ext cx="8686800" cy="22272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US" sz="2800" i="1" baseline="0" dirty="0">
                <a:latin typeface="Times New Roman" pitchFamily="18" charset="0"/>
              </a:rPr>
              <a:t>Find the class of each address.</a:t>
            </a:r>
          </a:p>
          <a:p>
            <a:pPr algn="just"/>
            <a:r>
              <a:rPr lang="en-US" sz="2800" i="1" baseline="0" dirty="0">
                <a:solidFill>
                  <a:schemeClr val="hlink"/>
                </a:solidFill>
                <a:latin typeface="Times New Roman" pitchFamily="18" charset="0"/>
              </a:rPr>
              <a:t>a.</a:t>
            </a:r>
            <a:r>
              <a:rPr lang="en-US" sz="2800" i="1" baseline="0" dirty="0">
                <a:latin typeface="Times New Roman" pitchFamily="18" charset="0"/>
              </a:rPr>
              <a:t>   </a:t>
            </a:r>
            <a:r>
              <a:rPr lang="en-US" sz="2800" u="sng" baseline="0" dirty="0">
                <a:solidFill>
                  <a:srgbClr val="009900"/>
                </a:solidFill>
                <a:latin typeface="Times New Roman" pitchFamily="18" charset="0"/>
              </a:rPr>
              <a:t>0</a:t>
            </a:r>
            <a:r>
              <a:rPr lang="en-US" sz="2800" b="0" baseline="0" dirty="0">
                <a:latin typeface="Times New Roman" pitchFamily="18" charset="0"/>
              </a:rPr>
              <a:t>0000001 00001011 00001011 11101111</a:t>
            </a:r>
          </a:p>
          <a:p>
            <a:pPr algn="just"/>
            <a:r>
              <a:rPr lang="en-US" sz="2800" i="1" baseline="0" dirty="0">
                <a:solidFill>
                  <a:schemeClr val="hlink"/>
                </a:solidFill>
                <a:latin typeface="Times New Roman" pitchFamily="18" charset="0"/>
              </a:rPr>
              <a:t>b.</a:t>
            </a:r>
            <a:r>
              <a:rPr lang="en-US" sz="2800" i="1" baseline="0" dirty="0">
                <a:latin typeface="Times New Roman" pitchFamily="18" charset="0"/>
              </a:rPr>
              <a:t>   </a:t>
            </a:r>
            <a:r>
              <a:rPr lang="en-US" sz="2800" u="sng" baseline="0" dirty="0">
                <a:solidFill>
                  <a:srgbClr val="009900"/>
                </a:solidFill>
                <a:latin typeface="Times New Roman" pitchFamily="18" charset="0"/>
              </a:rPr>
              <a:t>110</a:t>
            </a:r>
            <a:r>
              <a:rPr lang="en-US" sz="2800" b="0" baseline="0" dirty="0">
                <a:latin typeface="Times New Roman" pitchFamily="18" charset="0"/>
              </a:rPr>
              <a:t>00001 10000011 00011011 11111111</a:t>
            </a:r>
          </a:p>
          <a:p>
            <a:pPr algn="just"/>
            <a:r>
              <a:rPr lang="en-US" sz="2800" i="1" baseline="0" dirty="0">
                <a:solidFill>
                  <a:schemeClr val="hlink"/>
                </a:solidFill>
                <a:latin typeface="Times New Roman" pitchFamily="18" charset="0"/>
              </a:rPr>
              <a:t>c.</a:t>
            </a:r>
            <a:r>
              <a:rPr lang="en-US" sz="2800" i="1" baseline="0" dirty="0">
                <a:latin typeface="Times New Roman" pitchFamily="18" charset="0"/>
              </a:rPr>
              <a:t>   </a:t>
            </a:r>
            <a:r>
              <a:rPr lang="en-US" sz="2800" u="sng" baseline="0" dirty="0">
                <a:solidFill>
                  <a:srgbClr val="009900"/>
                </a:solidFill>
                <a:latin typeface="Times New Roman" pitchFamily="18" charset="0"/>
              </a:rPr>
              <a:t>14</a:t>
            </a:r>
            <a:r>
              <a:rPr lang="en-US" sz="2800" b="0" baseline="0" dirty="0">
                <a:latin typeface="Times New Roman" pitchFamily="18" charset="0"/>
              </a:rPr>
              <a:t>.23.120.8</a:t>
            </a:r>
          </a:p>
          <a:p>
            <a:pPr algn="just"/>
            <a:r>
              <a:rPr lang="en-US" sz="2800" i="1" baseline="0" dirty="0">
                <a:solidFill>
                  <a:schemeClr val="hlink"/>
                </a:solidFill>
                <a:latin typeface="Times New Roman" pitchFamily="18" charset="0"/>
              </a:rPr>
              <a:t>d.</a:t>
            </a:r>
            <a:r>
              <a:rPr lang="en-US" sz="2800" i="1" baseline="0" dirty="0">
                <a:latin typeface="Times New Roman" pitchFamily="18" charset="0"/>
              </a:rPr>
              <a:t>   </a:t>
            </a:r>
            <a:r>
              <a:rPr lang="en-US" sz="2800" u="sng" baseline="0" dirty="0">
                <a:solidFill>
                  <a:srgbClr val="009900"/>
                </a:solidFill>
                <a:latin typeface="Times New Roman" pitchFamily="18" charset="0"/>
              </a:rPr>
              <a:t>252</a:t>
            </a:r>
            <a:r>
              <a:rPr lang="en-US" sz="2800" b="0" baseline="0" dirty="0">
                <a:latin typeface="Times New Roman" pitchFamily="18" charset="0"/>
              </a:rPr>
              <a:t>.5.15.111</a:t>
            </a:r>
          </a:p>
        </p:txBody>
      </p:sp>
      <p:sp>
        <p:nvSpPr>
          <p:cNvPr id="15371" name="Text Box 10"/>
          <p:cNvSpPr txBox="1">
            <a:spLocks noChangeArrowheads="1"/>
          </p:cNvSpPr>
          <p:nvPr/>
        </p:nvSpPr>
        <p:spPr bwMode="auto">
          <a:xfrm>
            <a:off x="1143000" y="0"/>
            <a:ext cx="116570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 baseline="0" dirty="0">
                <a:solidFill>
                  <a:schemeClr val="hlink"/>
                </a:solidFill>
                <a:latin typeface="Times New Roman" pitchFamily="18" charset="0"/>
              </a:rPr>
              <a:t>Example 2</a:t>
            </a:r>
          </a:p>
        </p:txBody>
      </p:sp>
      <p:sp>
        <p:nvSpPr>
          <p:cNvPr id="15372" name="Rectangle 11"/>
          <p:cNvSpPr>
            <a:spLocks noChangeArrowheads="1"/>
          </p:cNvSpPr>
          <p:nvPr/>
        </p:nvSpPr>
        <p:spPr bwMode="auto">
          <a:xfrm>
            <a:off x="152400" y="3657600"/>
            <a:ext cx="8686800" cy="26543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 i="1" baseline="0">
                <a:latin typeface="Times New Roman" pitchFamily="18" charset="0"/>
              </a:rPr>
              <a:t>Solution</a:t>
            </a:r>
          </a:p>
          <a:p>
            <a:r>
              <a:rPr lang="en-US" sz="2800" i="1" baseline="0">
                <a:solidFill>
                  <a:schemeClr val="hlink"/>
                </a:solidFill>
                <a:latin typeface="Times New Roman" pitchFamily="18" charset="0"/>
              </a:rPr>
              <a:t>a.</a:t>
            </a:r>
            <a:r>
              <a:rPr lang="en-US" sz="2800" i="1" baseline="0">
                <a:latin typeface="Times New Roman" pitchFamily="18" charset="0"/>
              </a:rPr>
              <a:t> The first bit is 0. This is a class A address.</a:t>
            </a:r>
          </a:p>
          <a:p>
            <a:r>
              <a:rPr lang="en-US" sz="2800" i="1" baseline="0">
                <a:solidFill>
                  <a:schemeClr val="hlink"/>
                </a:solidFill>
                <a:latin typeface="Times New Roman" pitchFamily="18" charset="0"/>
              </a:rPr>
              <a:t>b.</a:t>
            </a:r>
            <a:r>
              <a:rPr lang="en-US" sz="2800" i="1" baseline="0">
                <a:latin typeface="Times New Roman" pitchFamily="18" charset="0"/>
              </a:rPr>
              <a:t> The first 2 bits are 1; the third bit is 0. This is a class C</a:t>
            </a:r>
            <a:br>
              <a:rPr lang="en-US" sz="2800" i="1" baseline="0">
                <a:latin typeface="Times New Roman" pitchFamily="18" charset="0"/>
              </a:rPr>
            </a:br>
            <a:r>
              <a:rPr lang="en-US" sz="2800" i="1" baseline="0">
                <a:latin typeface="Times New Roman" pitchFamily="18" charset="0"/>
              </a:rPr>
              <a:t>     address.</a:t>
            </a:r>
          </a:p>
          <a:p>
            <a:r>
              <a:rPr lang="en-US" sz="2800" i="1" baseline="0">
                <a:solidFill>
                  <a:schemeClr val="hlink"/>
                </a:solidFill>
                <a:latin typeface="Times New Roman" pitchFamily="18" charset="0"/>
              </a:rPr>
              <a:t>c.</a:t>
            </a:r>
            <a:r>
              <a:rPr lang="en-US" sz="2800" i="1" baseline="0">
                <a:latin typeface="Times New Roman" pitchFamily="18" charset="0"/>
              </a:rPr>
              <a:t> The first byte is 14; the class is A.</a:t>
            </a:r>
          </a:p>
          <a:p>
            <a:r>
              <a:rPr lang="en-US" sz="2800" i="1" baseline="0">
                <a:solidFill>
                  <a:schemeClr val="hlink"/>
                </a:solidFill>
                <a:latin typeface="Times New Roman" pitchFamily="18" charset="0"/>
              </a:rPr>
              <a:t>d.</a:t>
            </a:r>
            <a:r>
              <a:rPr lang="en-US" sz="2800" i="1" baseline="0">
                <a:latin typeface="Times New Roman" pitchFamily="18" charset="0"/>
              </a:rPr>
              <a:t> The first byte is 252; the class is 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Netid</a:t>
            </a:r>
            <a:r>
              <a:rPr lang="en-US" dirty="0"/>
              <a:t> and </a:t>
            </a:r>
            <a:r>
              <a:rPr lang="en-US" dirty="0" err="1"/>
              <a:t>hostid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89025" y="2351088"/>
            <a:ext cx="6964363" cy="2449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3"/>
          <p:cNvSpPr/>
          <p:nvPr/>
        </p:nvSpPr>
        <p:spPr>
          <a:xfrm>
            <a:off x="381000" y="1219200"/>
            <a:ext cx="84582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In </a:t>
            </a:r>
            <a:r>
              <a:rPr lang="en-US" sz="2800" dirty="0" err="1"/>
              <a:t>classful</a:t>
            </a:r>
            <a:r>
              <a:rPr lang="en-US" sz="2800" dirty="0"/>
              <a:t> addressing, an IP address in classes A, B, and C is divided into </a:t>
            </a:r>
            <a:r>
              <a:rPr lang="en-US" sz="2800" dirty="0" err="1">
                <a:solidFill>
                  <a:srgbClr val="FF0000"/>
                </a:solidFill>
              </a:rPr>
              <a:t>netid</a:t>
            </a:r>
            <a:r>
              <a:rPr lang="en-US" sz="2800" dirty="0">
                <a:solidFill>
                  <a:srgbClr val="FF0000"/>
                </a:solidFill>
              </a:rPr>
              <a:t> and </a:t>
            </a:r>
            <a:r>
              <a:rPr lang="en-US" sz="2800" dirty="0" err="1">
                <a:solidFill>
                  <a:srgbClr val="FF0000"/>
                </a:solidFill>
              </a:rPr>
              <a:t>hostid</a:t>
            </a:r>
            <a:endParaRPr lang="en-US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Classes and Blocks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0947" y="1066800"/>
            <a:ext cx="8923053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1763" y="2819400"/>
            <a:ext cx="9012237" cy="183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93687" y="4572000"/>
            <a:ext cx="8850313" cy="165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1752600"/>
            <a:ext cx="7038474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3400" y="3886200"/>
            <a:ext cx="7551351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33400" y="1828800"/>
            <a:ext cx="82296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3600" dirty="0"/>
              <a:t>Millions of </a:t>
            </a:r>
            <a:r>
              <a:rPr lang="en-US" sz="3600" dirty="0">
                <a:solidFill>
                  <a:srgbClr val="C00000"/>
                </a:solidFill>
              </a:rPr>
              <a:t>class A </a:t>
            </a:r>
            <a:r>
              <a:rPr lang="en-US" sz="3600" dirty="0"/>
              <a:t>addresses are wasted.</a:t>
            </a:r>
          </a:p>
          <a:p>
            <a:pPr>
              <a:buFont typeface="Arial" pitchFamily="34" charset="0"/>
              <a:buChar char="•"/>
            </a:pPr>
            <a:r>
              <a:rPr lang="en-US" sz="3600" dirty="0"/>
              <a:t>Many </a:t>
            </a:r>
            <a:r>
              <a:rPr lang="en-US" sz="3600" dirty="0">
                <a:solidFill>
                  <a:srgbClr val="C00000"/>
                </a:solidFill>
              </a:rPr>
              <a:t>class B </a:t>
            </a:r>
            <a:r>
              <a:rPr lang="en-US" sz="3600" dirty="0"/>
              <a:t>addresses are wasted.</a:t>
            </a:r>
          </a:p>
          <a:p>
            <a:pPr>
              <a:buFont typeface="Arial" pitchFamily="34" charset="0"/>
              <a:buChar char="•"/>
            </a:pPr>
            <a:r>
              <a:rPr lang="en-US" sz="3600" dirty="0"/>
              <a:t>Not so many organizations are so small to have a </a:t>
            </a:r>
            <a:r>
              <a:rPr lang="en-US" sz="3600" dirty="0">
                <a:solidFill>
                  <a:srgbClr val="C00000"/>
                </a:solidFill>
              </a:rPr>
              <a:t>class C </a:t>
            </a:r>
            <a:r>
              <a:rPr lang="en-US" sz="3600" dirty="0"/>
              <a:t>block. </a:t>
            </a:r>
          </a:p>
          <a:p>
            <a:pPr>
              <a:buFont typeface="Arial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</a:rPr>
              <a:t>Class D </a:t>
            </a:r>
            <a:r>
              <a:rPr lang="en-US" sz="3600" dirty="0"/>
              <a:t>addresses are made of one block, used for multicasting.</a:t>
            </a:r>
          </a:p>
          <a:p>
            <a:pPr>
              <a:buFont typeface="Arial" pitchFamily="34" charset="0"/>
              <a:buChar char="•"/>
            </a:pPr>
            <a:r>
              <a:rPr lang="en-US" sz="3600" dirty="0"/>
              <a:t>The only block of </a:t>
            </a:r>
            <a:r>
              <a:rPr lang="en-US" sz="3600" dirty="0">
                <a:solidFill>
                  <a:srgbClr val="C00000"/>
                </a:solidFill>
              </a:rPr>
              <a:t>class E </a:t>
            </a:r>
            <a:r>
              <a:rPr lang="en-US" sz="3600" dirty="0"/>
              <a:t>addresses was reserved for future purposes.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Text Box 2"/>
          <p:cNvSpPr txBox="1">
            <a:spLocks noChangeArrowheads="1"/>
          </p:cNvSpPr>
          <p:nvPr/>
        </p:nvSpPr>
        <p:spPr bwMode="auto">
          <a:xfrm>
            <a:off x="533400" y="1828800"/>
            <a:ext cx="634192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i="1" baseline="0" dirty="0">
                <a:latin typeface="Times New Roman" pitchFamily="18" charset="0"/>
              </a:rPr>
              <a:t>Number of blocks and block size in </a:t>
            </a:r>
            <a:r>
              <a:rPr lang="en-US" sz="2000" i="1" baseline="0" dirty="0" err="1">
                <a:latin typeface="Times New Roman" pitchFamily="18" charset="0"/>
              </a:rPr>
              <a:t>classful</a:t>
            </a:r>
            <a:r>
              <a:rPr lang="en-US" sz="2000" i="1" baseline="0" dirty="0">
                <a:latin typeface="Times New Roman" pitchFamily="18" charset="0"/>
              </a:rPr>
              <a:t> IPv4 addressing</a:t>
            </a:r>
          </a:p>
        </p:txBody>
      </p:sp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8000" y="2293938"/>
            <a:ext cx="8026400" cy="2354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17412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17413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17414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17415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17416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17417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17418" name="Line 9"/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19" name="Line 10"/>
          <p:cNvSpPr>
            <a:spLocks noChangeShapeType="1"/>
          </p:cNvSpPr>
          <p:nvPr/>
        </p:nvSpPr>
        <p:spPr bwMode="auto">
          <a:xfrm>
            <a:off x="458788" y="3962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20" name="Rectangle 11"/>
          <p:cNvSpPr>
            <a:spLocks noChangeArrowheads="1"/>
          </p:cNvSpPr>
          <p:nvPr/>
        </p:nvSpPr>
        <p:spPr bwMode="auto">
          <a:xfrm>
            <a:off x="495300" y="2759075"/>
            <a:ext cx="8077200" cy="1200329"/>
          </a:xfrm>
          <a:prstGeom prst="rect">
            <a:avLst/>
          </a:prstGeom>
          <a:solidFill>
            <a:srgbClr val="99FF33"/>
          </a:solidFill>
          <a:ln w="762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3600" baseline="0" dirty="0"/>
              <a:t>In </a:t>
            </a:r>
            <a:r>
              <a:rPr lang="en-US" sz="3600" baseline="0" dirty="0" err="1">
                <a:solidFill>
                  <a:srgbClr val="FF0000"/>
                </a:solidFill>
              </a:rPr>
              <a:t>classful</a:t>
            </a:r>
            <a:r>
              <a:rPr lang="en-US" sz="3600" baseline="0" dirty="0">
                <a:solidFill>
                  <a:srgbClr val="FF0000"/>
                </a:solidFill>
              </a:rPr>
              <a:t> addressing</a:t>
            </a:r>
            <a:r>
              <a:rPr lang="en-US" sz="3600" baseline="0" dirty="0"/>
              <a:t>, a large part of the available addresses were wasted</a:t>
            </a:r>
            <a:r>
              <a:rPr lang="en-US" baseline="0" dirty="0"/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Text Box 2"/>
          <p:cNvSpPr txBox="1">
            <a:spLocks noChangeArrowheads="1"/>
          </p:cNvSpPr>
          <p:nvPr/>
        </p:nvSpPr>
        <p:spPr bwMode="auto">
          <a:xfrm>
            <a:off x="533400" y="2209800"/>
            <a:ext cx="402879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i="1" baseline="0" dirty="0">
                <a:latin typeface="Times New Roman" pitchFamily="18" charset="0"/>
              </a:rPr>
              <a:t>Default masks for </a:t>
            </a:r>
            <a:r>
              <a:rPr lang="en-US" sz="2000" i="1" baseline="0" dirty="0" err="1">
                <a:latin typeface="Times New Roman" pitchFamily="18" charset="0"/>
              </a:rPr>
              <a:t>classful</a:t>
            </a:r>
            <a:r>
              <a:rPr lang="en-US" sz="2000" i="1" baseline="0" dirty="0">
                <a:latin typeface="Times New Roman" pitchFamily="18" charset="0"/>
              </a:rPr>
              <a:t> addressing</a:t>
            </a:r>
          </a:p>
        </p:txBody>
      </p:sp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5288" y="2722563"/>
            <a:ext cx="8291512" cy="1620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address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0850" y="1365250"/>
            <a:ext cx="8240713" cy="413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33400" y="1981200"/>
            <a:ext cx="7467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600" dirty="0"/>
              <a:t>A network mask or a default mask in </a:t>
            </a:r>
            <a:r>
              <a:rPr lang="en-US" sz="3600" dirty="0" err="1"/>
              <a:t>classful</a:t>
            </a:r>
            <a:r>
              <a:rPr lang="en-US" sz="3600" dirty="0"/>
              <a:t> addressing is a 32-bit number with </a:t>
            </a:r>
            <a:r>
              <a:rPr lang="en-US" sz="3600" dirty="0">
                <a:solidFill>
                  <a:srgbClr val="FF0000"/>
                </a:solidFill>
              </a:rPr>
              <a:t>n leftmost bits all set to 1s </a:t>
            </a:r>
            <a:r>
              <a:rPr lang="en-US" sz="3600" dirty="0"/>
              <a:t>and </a:t>
            </a:r>
            <a:r>
              <a:rPr lang="en-US" sz="3600" dirty="0">
                <a:solidFill>
                  <a:srgbClr val="FF0000"/>
                </a:solidFill>
              </a:rPr>
              <a:t>(32 − n) rightmost bits all set to 0s</a:t>
            </a:r>
            <a:r>
              <a:rPr lang="en-US" sz="3600" dirty="0"/>
              <a:t>.</a:t>
            </a:r>
          </a:p>
        </p:txBody>
      </p:sp>
      <p:sp>
        <p:nvSpPr>
          <p:cNvPr id="8" name="Table Placeholder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 mask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Information extraction in </a:t>
            </a:r>
            <a:r>
              <a:rPr lang="en-US" dirty="0" err="1"/>
              <a:t>classful</a:t>
            </a:r>
            <a:r>
              <a:rPr lang="en-US" dirty="0"/>
              <a:t> addressing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6050" y="1984374"/>
            <a:ext cx="8850313" cy="342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935162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Example </a:t>
            </a:r>
            <a:r>
              <a:rPr lang="en-US" sz="3200" dirty="0"/>
              <a:t>: An address in a block is given as </a:t>
            </a:r>
            <a:r>
              <a:rPr lang="en-US" sz="3200" dirty="0">
                <a:solidFill>
                  <a:srgbClr val="C00000"/>
                </a:solidFill>
              </a:rPr>
              <a:t>73.22.17.25. </a:t>
            </a:r>
            <a:r>
              <a:rPr lang="en-US" sz="3200" dirty="0"/>
              <a:t>Find the number of addresses in the block, the first address, and the last address.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2057400"/>
            <a:ext cx="784860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1.The number of addresses in this block is </a:t>
            </a:r>
          </a:p>
          <a:p>
            <a:r>
              <a:rPr lang="en-US" sz="3200" dirty="0"/>
              <a:t>N = 2</a:t>
            </a:r>
            <a:r>
              <a:rPr lang="en-US" sz="3200" baseline="30000" dirty="0"/>
              <a:t>32−n</a:t>
            </a:r>
            <a:r>
              <a:rPr lang="en-US" sz="3200" dirty="0"/>
              <a:t> = 2</a:t>
            </a:r>
            <a:r>
              <a:rPr lang="en-US" sz="3200" baseline="30000" dirty="0"/>
              <a:t>32−8</a:t>
            </a:r>
            <a:r>
              <a:rPr lang="en-US" sz="3200" dirty="0"/>
              <a:t> = 2</a:t>
            </a:r>
            <a:r>
              <a:rPr lang="en-US" sz="3200" baseline="30000" dirty="0"/>
              <a:t>24</a:t>
            </a:r>
            <a:r>
              <a:rPr lang="en-US" sz="3200" dirty="0"/>
              <a:t> = 16,777,216.</a:t>
            </a:r>
          </a:p>
          <a:p>
            <a:r>
              <a:rPr lang="en-US" sz="3200" dirty="0">
                <a:solidFill>
                  <a:srgbClr val="C00000"/>
                </a:solidFill>
              </a:rPr>
              <a:t>2.To find the first address</a:t>
            </a:r>
            <a:r>
              <a:rPr lang="en-US" sz="3200" dirty="0"/>
              <a:t>, we keep the leftmost 8 bits and set the rightmost 24 bits all to 0s.</a:t>
            </a:r>
          </a:p>
          <a:p>
            <a:r>
              <a:rPr lang="en-US" sz="3200" dirty="0"/>
              <a:t>The first address is </a:t>
            </a:r>
            <a:r>
              <a:rPr lang="en-US" sz="3200" dirty="0">
                <a:solidFill>
                  <a:srgbClr val="C00000"/>
                </a:solidFill>
              </a:rPr>
              <a:t>73.0.0.0/8</a:t>
            </a:r>
            <a:r>
              <a:rPr lang="en-US" sz="3200" dirty="0"/>
              <a:t> in which 8 is the value of n.</a:t>
            </a:r>
          </a:p>
          <a:p>
            <a:r>
              <a:rPr lang="en-US" sz="3200" dirty="0"/>
              <a:t>3.To find the </a:t>
            </a:r>
            <a:r>
              <a:rPr lang="en-US" sz="3200" dirty="0">
                <a:solidFill>
                  <a:srgbClr val="C00000"/>
                </a:solidFill>
              </a:rPr>
              <a:t>last address</a:t>
            </a:r>
            <a:r>
              <a:rPr lang="en-US" sz="3200" dirty="0"/>
              <a:t>, we keep the leftmost 8 bits and set the rightmost 24 bits all to 1s. The last address is </a:t>
            </a:r>
            <a:r>
              <a:rPr lang="en-US" sz="3200" dirty="0">
                <a:solidFill>
                  <a:srgbClr val="C00000"/>
                </a:solidFill>
              </a:rPr>
              <a:t>73.255.255.255.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0838" y="1965324"/>
            <a:ext cx="8440737" cy="359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Finding a network address using the default mask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3738" y="2332038"/>
            <a:ext cx="7754937" cy="3459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364162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Example 2: </a:t>
            </a:r>
            <a:r>
              <a:rPr lang="en-US" dirty="0"/>
              <a:t>An address in a block is given as 180.8.17.9. Find the number of addresses in the block, the first address, and the last address.</a:t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</a:rPr>
              <a:t> Example3:</a:t>
            </a:r>
            <a:r>
              <a:rPr lang="en-US" dirty="0"/>
              <a:t>An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address in a block is given as 200.11.8.45. Find the number of addresses in the block, the first address, and the last address.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5575" y="1960563"/>
            <a:ext cx="8831263" cy="3297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3"/>
          <p:cNvSpPr/>
          <p:nvPr/>
        </p:nvSpPr>
        <p:spPr>
          <a:xfrm>
            <a:off x="609600" y="5410200"/>
            <a:ext cx="7772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The number of addresses in this block is N = 2</a:t>
            </a:r>
            <a:r>
              <a:rPr lang="en-US" sz="2400" baseline="30000" dirty="0"/>
              <a:t>32−n </a:t>
            </a:r>
            <a:r>
              <a:rPr lang="en-US" sz="2400"/>
              <a:t>= 2</a:t>
            </a:r>
            <a:r>
              <a:rPr lang="en-US" sz="2400" baseline="30000"/>
              <a:t>16</a:t>
            </a:r>
            <a:r>
              <a:rPr lang="en-US" sz="2400"/>
              <a:t> </a:t>
            </a:r>
            <a:r>
              <a:rPr lang="en-US" sz="2400" dirty="0"/>
              <a:t>= 65,536</a:t>
            </a:r>
            <a:r>
              <a:rPr lang="en-US" dirty="0"/>
              <a:t>.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2514600"/>
            <a:ext cx="8535987" cy="296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19460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19461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19462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19463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19464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19465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19466" name="Line 9"/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67" name="Line 10"/>
          <p:cNvSpPr>
            <a:spLocks noChangeShapeType="1"/>
          </p:cNvSpPr>
          <p:nvPr/>
        </p:nvSpPr>
        <p:spPr bwMode="auto">
          <a:xfrm>
            <a:off x="458788" y="4419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68" name="Rectangle 11"/>
          <p:cNvSpPr>
            <a:spLocks noChangeArrowheads="1"/>
          </p:cNvSpPr>
          <p:nvPr/>
        </p:nvSpPr>
        <p:spPr bwMode="auto">
          <a:xfrm>
            <a:off x="495300" y="2759075"/>
            <a:ext cx="8077200" cy="954107"/>
          </a:xfrm>
          <a:prstGeom prst="rect">
            <a:avLst/>
          </a:prstGeom>
          <a:solidFill>
            <a:srgbClr val="99FF33"/>
          </a:solidFill>
          <a:ln w="762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800" baseline="0" dirty="0" err="1"/>
              <a:t>Classful</a:t>
            </a:r>
            <a:r>
              <a:rPr lang="en-US" sz="2800" baseline="0" dirty="0"/>
              <a:t> addressing, which is almost obsolete, is replaced with classless addressing.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0484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0485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0486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0487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0488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0489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0490" name="Line 9"/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491" name="Line 10"/>
          <p:cNvSpPr>
            <a:spLocks noChangeShapeType="1"/>
          </p:cNvSpPr>
          <p:nvPr/>
        </p:nvSpPr>
        <p:spPr bwMode="auto">
          <a:xfrm>
            <a:off x="458788" y="5410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492" name="Rectangle 11"/>
          <p:cNvSpPr>
            <a:spLocks noChangeArrowheads="1"/>
          </p:cNvSpPr>
          <p:nvPr/>
        </p:nvSpPr>
        <p:spPr bwMode="auto">
          <a:xfrm>
            <a:off x="495300" y="2759075"/>
            <a:ext cx="8077200" cy="2554545"/>
          </a:xfrm>
          <a:prstGeom prst="rect">
            <a:avLst/>
          </a:prstGeom>
          <a:solidFill>
            <a:srgbClr val="99FF33"/>
          </a:solidFill>
          <a:ln w="762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3200" baseline="0" dirty="0"/>
              <a:t>In IPv4 addressing, a block of </a:t>
            </a:r>
            <a:br>
              <a:rPr lang="en-US" sz="3200" baseline="0" dirty="0"/>
            </a:br>
            <a:r>
              <a:rPr lang="en-US" sz="3200" baseline="0" dirty="0"/>
              <a:t>addresses can be defined as</a:t>
            </a:r>
          </a:p>
          <a:p>
            <a:pPr algn="ctr"/>
            <a:r>
              <a:rPr lang="en-US" sz="3200" baseline="0" dirty="0" err="1">
                <a:solidFill>
                  <a:srgbClr val="FF0000"/>
                </a:solidFill>
              </a:rPr>
              <a:t>x.y.z.t</a:t>
            </a:r>
            <a:r>
              <a:rPr lang="en-US" sz="3200" baseline="0" dirty="0">
                <a:solidFill>
                  <a:srgbClr val="FF0000"/>
                </a:solidFill>
              </a:rPr>
              <a:t> /</a:t>
            </a:r>
            <a:r>
              <a:rPr lang="en-US" sz="3200" i="1" baseline="0" dirty="0">
                <a:solidFill>
                  <a:srgbClr val="FF0000"/>
                </a:solidFill>
              </a:rPr>
              <a:t>n</a:t>
            </a:r>
          </a:p>
          <a:p>
            <a:pPr algn="ctr"/>
            <a:r>
              <a:rPr lang="en-US" sz="3200" baseline="0" dirty="0"/>
              <a:t>in which </a:t>
            </a:r>
            <a:r>
              <a:rPr lang="en-US" sz="3200" baseline="0" dirty="0" err="1"/>
              <a:t>x.y.z.t</a:t>
            </a:r>
            <a:r>
              <a:rPr lang="en-US" sz="3200" baseline="0" dirty="0"/>
              <a:t> defines one of the addresses and the</a:t>
            </a:r>
            <a:r>
              <a:rPr lang="en-US" sz="3200" baseline="0" dirty="0">
                <a:solidFill>
                  <a:srgbClr val="FF0000"/>
                </a:solidFill>
              </a:rPr>
              <a:t> /</a:t>
            </a:r>
            <a:r>
              <a:rPr lang="en-US" sz="3200" i="1" baseline="0" dirty="0">
                <a:solidFill>
                  <a:srgbClr val="FF0000"/>
                </a:solidFill>
              </a:rPr>
              <a:t>n</a:t>
            </a:r>
            <a:r>
              <a:rPr lang="en-US" sz="3200" baseline="0" dirty="0">
                <a:solidFill>
                  <a:srgbClr val="FF0000"/>
                </a:solidFill>
              </a:rPr>
              <a:t> </a:t>
            </a:r>
            <a:r>
              <a:rPr lang="en-US" sz="3200" baseline="0" dirty="0"/>
              <a:t>defines the mask.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9981A1-6A5D-4AF9-BCD3-F4F88A28DF00}"/>
              </a:ext>
            </a:extLst>
          </p:cNvPr>
          <p:cNvSpPr txBox="1"/>
          <p:nvPr/>
        </p:nvSpPr>
        <p:spPr>
          <a:xfrm>
            <a:off x="2971800" y="767556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Classless Addressing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CF5BA0-E2BE-4662-88FF-115141E1B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1248" y="1981200"/>
            <a:ext cx="5813552" cy="18986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8326A50-16D5-4365-9853-E1FA7A3AFD9C}"/>
              </a:ext>
            </a:extLst>
          </p:cNvPr>
          <p:cNvSpPr txBox="1"/>
          <p:nvPr/>
        </p:nvSpPr>
        <p:spPr>
          <a:xfrm>
            <a:off x="2146082" y="76200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Slash notation (CIDR)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90F108-4BB9-4DC2-BBBD-874060A09CAB}"/>
              </a:ext>
            </a:extLst>
          </p:cNvPr>
          <p:cNvSpPr txBox="1"/>
          <p:nvPr/>
        </p:nvSpPr>
        <p:spPr>
          <a:xfrm>
            <a:off x="381000" y="3657600"/>
            <a:ext cx="8610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The number of addresses in the block is found as N = 2(32−n) .  </a:t>
            </a:r>
          </a:p>
          <a:p>
            <a:r>
              <a:rPr lang="en-US" sz="2800" dirty="0"/>
              <a:t>To find the first address, we keep the n leftmost bits and set the (32 − n) rightmost bits all to 0s. </a:t>
            </a:r>
          </a:p>
          <a:p>
            <a:r>
              <a:rPr lang="en-US" sz="2800" dirty="0"/>
              <a:t>To find the last address, we keep the n leftmost bits and set the (32 − n) rightmost bits all to 1s.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1233896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62F204-6C34-4713-9809-815DA3058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85800"/>
            <a:ext cx="7635733" cy="240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9181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23BF2E-D9D7-4EB7-BAC3-2861CC080EA5}"/>
              </a:ext>
            </a:extLst>
          </p:cNvPr>
          <p:cNvSpPr txBox="1"/>
          <p:nvPr/>
        </p:nvSpPr>
        <p:spPr>
          <a:xfrm>
            <a:off x="1295400" y="609600"/>
            <a:ext cx="754380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A classless address is given as 167.199.170.82/27. We can find the above three pieces of information</a:t>
            </a:r>
          </a:p>
          <a:p>
            <a:r>
              <a:rPr lang="en-US" sz="2400" dirty="0"/>
              <a:t>The number of addresses in the network is 2(32 − n) = 2(5) = 32 addresses.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1528B7-E5F6-45BB-8621-79706E0139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590800"/>
            <a:ext cx="8246829" cy="2498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6190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294D40-2F9B-4D53-A1D6-7F4227E929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714" y="838200"/>
            <a:ext cx="7589265" cy="4784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5363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1508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1509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1510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1511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1512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1513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1514" name="Line 9"/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15" name="Line 10"/>
          <p:cNvSpPr>
            <a:spLocks noChangeShapeType="1"/>
          </p:cNvSpPr>
          <p:nvPr/>
        </p:nvSpPr>
        <p:spPr bwMode="auto">
          <a:xfrm>
            <a:off x="458788" y="4419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516" name="Rectangle 11"/>
          <p:cNvSpPr>
            <a:spLocks noChangeArrowheads="1"/>
          </p:cNvSpPr>
          <p:nvPr/>
        </p:nvSpPr>
        <p:spPr bwMode="auto">
          <a:xfrm>
            <a:off x="495300" y="2759075"/>
            <a:ext cx="8077200" cy="1569660"/>
          </a:xfrm>
          <a:prstGeom prst="rect">
            <a:avLst/>
          </a:prstGeom>
          <a:solidFill>
            <a:srgbClr val="99FF33"/>
          </a:solidFill>
          <a:ln w="762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3200" baseline="0" dirty="0"/>
              <a:t>The first address in the block can be found by setting the rightmost </a:t>
            </a:r>
            <a:br>
              <a:rPr lang="en-US" sz="3200" baseline="0" dirty="0"/>
            </a:br>
            <a:r>
              <a:rPr lang="en-US" sz="3200" baseline="0" dirty="0"/>
              <a:t>32 − </a:t>
            </a:r>
            <a:r>
              <a:rPr lang="en-US" sz="3200" i="1" baseline="0" dirty="0"/>
              <a:t>n</a:t>
            </a:r>
            <a:r>
              <a:rPr lang="en-US" sz="3200" baseline="0" dirty="0"/>
              <a:t> bits to 0s.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2532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2533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2534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2535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2536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2537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2538" name="Rectangle 9"/>
          <p:cNvSpPr>
            <a:spLocks noChangeArrowheads="1"/>
          </p:cNvSpPr>
          <p:nvPr/>
        </p:nvSpPr>
        <p:spPr bwMode="auto">
          <a:xfrm>
            <a:off x="228600" y="1143000"/>
            <a:ext cx="8686800" cy="483209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US" sz="2800" i="1" baseline="0" dirty="0">
                <a:latin typeface="Times New Roman" pitchFamily="18" charset="0"/>
              </a:rPr>
              <a:t>A block of addresses is granted to a small organization. We know that one of the addresses is 205.16.37.39/28. What is the first address in the block?</a:t>
            </a:r>
          </a:p>
          <a:p>
            <a:pPr algn="just"/>
            <a:endParaRPr lang="en-US" sz="2800" i="1" baseline="0" dirty="0">
              <a:latin typeface="Times New Roman" pitchFamily="18" charset="0"/>
            </a:endParaRPr>
          </a:p>
          <a:p>
            <a:pPr algn="just"/>
            <a:r>
              <a:rPr lang="en-US" sz="2800" i="1" baseline="0" dirty="0">
                <a:solidFill>
                  <a:schemeClr val="hlink"/>
                </a:solidFill>
                <a:latin typeface="Times New Roman" pitchFamily="18" charset="0"/>
              </a:rPr>
              <a:t>Solution</a:t>
            </a:r>
          </a:p>
          <a:p>
            <a:pPr algn="just"/>
            <a:r>
              <a:rPr lang="en-US" sz="2800" i="1" baseline="0" dirty="0">
                <a:latin typeface="Times New Roman" pitchFamily="18" charset="0"/>
              </a:rPr>
              <a:t>The binary representation of the given address is</a:t>
            </a:r>
          </a:p>
          <a:p>
            <a:pPr algn="ctr"/>
            <a:r>
              <a:rPr lang="en-US" sz="2800" i="1" baseline="0" dirty="0">
                <a:solidFill>
                  <a:schemeClr val="folHlink"/>
                </a:solidFill>
                <a:latin typeface="Times New Roman" pitchFamily="18" charset="0"/>
              </a:rPr>
              <a:t>11001101   00010000   00100101   00100111</a:t>
            </a:r>
          </a:p>
          <a:p>
            <a:r>
              <a:rPr lang="en-US" sz="2800" i="1" baseline="0" dirty="0">
                <a:latin typeface="Times New Roman" pitchFamily="18" charset="0"/>
              </a:rPr>
              <a:t>If we set 32−28 rightmost bits to 0, we get </a:t>
            </a:r>
          </a:p>
          <a:p>
            <a:pPr algn="ctr"/>
            <a:r>
              <a:rPr lang="en-US" sz="2800" i="1" baseline="0" dirty="0">
                <a:solidFill>
                  <a:schemeClr val="folHlink"/>
                </a:solidFill>
                <a:latin typeface="Times New Roman" pitchFamily="18" charset="0"/>
              </a:rPr>
              <a:t>11001101    00010000    00100101   0010000</a:t>
            </a:r>
            <a:r>
              <a:rPr lang="en-US" sz="2800" i="1" baseline="0" dirty="0">
                <a:latin typeface="Times New Roman" pitchFamily="18" charset="0"/>
              </a:rPr>
              <a:t> </a:t>
            </a:r>
          </a:p>
          <a:p>
            <a:pPr algn="ctr"/>
            <a:r>
              <a:rPr lang="en-US" sz="2800" i="1" baseline="0" dirty="0">
                <a:latin typeface="Times New Roman" pitchFamily="18" charset="0"/>
              </a:rPr>
              <a:t>or </a:t>
            </a:r>
            <a:br>
              <a:rPr lang="en-US" sz="2800" i="1" baseline="0" dirty="0">
                <a:latin typeface="Times New Roman" pitchFamily="18" charset="0"/>
              </a:rPr>
            </a:br>
            <a:r>
              <a:rPr lang="en-US" sz="2800" i="1" baseline="0" dirty="0">
                <a:solidFill>
                  <a:schemeClr val="folHlink"/>
                </a:solidFill>
                <a:latin typeface="Times New Roman" pitchFamily="18" charset="0"/>
              </a:rPr>
              <a:t>205.16.37.32</a:t>
            </a:r>
            <a:r>
              <a:rPr lang="en-US" sz="2800" i="1" baseline="0" dirty="0">
                <a:latin typeface="Times New Roman" pitchFamily="18" charset="0"/>
              </a:rPr>
              <a:t>. </a:t>
            </a:r>
          </a:p>
        </p:txBody>
      </p:sp>
      <p:sp>
        <p:nvSpPr>
          <p:cNvPr id="22539" name="Text Box 10"/>
          <p:cNvSpPr txBox="1">
            <a:spLocks noChangeArrowheads="1"/>
          </p:cNvSpPr>
          <p:nvPr/>
        </p:nvSpPr>
        <p:spPr bwMode="auto">
          <a:xfrm>
            <a:off x="1143000" y="0"/>
            <a:ext cx="99257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 baseline="0" dirty="0">
                <a:solidFill>
                  <a:schemeClr val="hlink"/>
                </a:solidFill>
                <a:latin typeface="Times New Roman" pitchFamily="18" charset="0"/>
              </a:rPr>
              <a:t>Example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3556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3557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3558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3559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3560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3561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3562" name="Line 9"/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63" name="Line 10"/>
          <p:cNvSpPr>
            <a:spLocks noChangeShapeType="1"/>
          </p:cNvSpPr>
          <p:nvPr/>
        </p:nvSpPr>
        <p:spPr bwMode="auto">
          <a:xfrm>
            <a:off x="458788" y="4419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3564" name="Rectangle 11"/>
          <p:cNvSpPr>
            <a:spLocks noChangeArrowheads="1"/>
          </p:cNvSpPr>
          <p:nvPr/>
        </p:nvSpPr>
        <p:spPr bwMode="auto">
          <a:xfrm>
            <a:off x="495300" y="2759075"/>
            <a:ext cx="8077200" cy="1938992"/>
          </a:xfrm>
          <a:prstGeom prst="rect">
            <a:avLst/>
          </a:prstGeom>
          <a:solidFill>
            <a:srgbClr val="99FF33"/>
          </a:solidFill>
          <a:ln w="762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4000" baseline="0" dirty="0"/>
              <a:t>The last address in the block can be found by setting the rightmost </a:t>
            </a:r>
            <a:br>
              <a:rPr lang="en-US" sz="4000" baseline="0" dirty="0"/>
            </a:br>
            <a:r>
              <a:rPr lang="en-US" sz="4000" baseline="0" dirty="0"/>
              <a:t>32 − n bits to 1s.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4580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4581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4582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4583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4584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4585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4586" name="Rectangle 9"/>
          <p:cNvSpPr>
            <a:spLocks noChangeArrowheads="1"/>
          </p:cNvSpPr>
          <p:nvPr/>
        </p:nvSpPr>
        <p:spPr bwMode="auto">
          <a:xfrm>
            <a:off x="228600" y="1143000"/>
            <a:ext cx="8686800" cy="397031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US" sz="2800" i="1" baseline="0" dirty="0">
                <a:latin typeface="Times New Roman" pitchFamily="18" charset="0"/>
              </a:rPr>
              <a:t>Find the last address for the block .</a:t>
            </a:r>
          </a:p>
          <a:p>
            <a:pPr algn="just"/>
            <a:endParaRPr lang="en-US" sz="2800" i="1" baseline="0" dirty="0">
              <a:latin typeface="Times New Roman" pitchFamily="18" charset="0"/>
            </a:endParaRPr>
          </a:p>
          <a:p>
            <a:r>
              <a:rPr lang="en-US" sz="2800" i="1" baseline="0" dirty="0">
                <a:solidFill>
                  <a:schemeClr val="hlink"/>
                </a:solidFill>
                <a:latin typeface="Times New Roman" pitchFamily="18" charset="0"/>
              </a:rPr>
              <a:t>Solution</a:t>
            </a:r>
          </a:p>
          <a:p>
            <a:r>
              <a:rPr lang="en-US" sz="2800" i="1" baseline="0" dirty="0">
                <a:latin typeface="Times New Roman" pitchFamily="18" charset="0"/>
              </a:rPr>
              <a:t>The binary representation of the given address is</a:t>
            </a:r>
          </a:p>
          <a:p>
            <a:pPr algn="ctr"/>
            <a:r>
              <a:rPr lang="en-US" sz="2800" i="1" baseline="0" dirty="0">
                <a:solidFill>
                  <a:schemeClr val="folHlink"/>
                </a:solidFill>
                <a:latin typeface="Times New Roman" pitchFamily="18" charset="0"/>
              </a:rPr>
              <a:t>11001101    00010000    00100101    00100111</a:t>
            </a:r>
          </a:p>
          <a:p>
            <a:r>
              <a:rPr lang="en-US" sz="2800" i="1" baseline="0" dirty="0">
                <a:latin typeface="Times New Roman" pitchFamily="18" charset="0"/>
              </a:rPr>
              <a:t>If we set 32 − 28 rightmost bits to 1, we get </a:t>
            </a:r>
          </a:p>
          <a:p>
            <a:pPr algn="ctr"/>
            <a:r>
              <a:rPr lang="en-US" sz="2800" i="1" baseline="0" dirty="0">
                <a:solidFill>
                  <a:schemeClr val="folHlink"/>
                </a:solidFill>
                <a:latin typeface="Times New Roman" pitchFamily="18" charset="0"/>
              </a:rPr>
              <a:t>11001101 00010000 00100101 00101111</a:t>
            </a:r>
            <a:r>
              <a:rPr lang="en-US" sz="2800" i="1" baseline="0" dirty="0">
                <a:latin typeface="Times New Roman" pitchFamily="18" charset="0"/>
              </a:rPr>
              <a:t> </a:t>
            </a:r>
          </a:p>
          <a:p>
            <a:pPr algn="ctr"/>
            <a:r>
              <a:rPr lang="en-US" sz="2800" i="1" baseline="0" dirty="0">
                <a:latin typeface="Times New Roman" pitchFamily="18" charset="0"/>
              </a:rPr>
              <a:t>or </a:t>
            </a:r>
          </a:p>
          <a:p>
            <a:pPr algn="ctr"/>
            <a:r>
              <a:rPr lang="en-US" sz="2800" i="1" baseline="0" dirty="0">
                <a:solidFill>
                  <a:schemeClr val="folHlink"/>
                </a:solidFill>
                <a:latin typeface="Times New Roman" pitchFamily="18" charset="0"/>
              </a:rPr>
              <a:t>205.16.37.47</a:t>
            </a:r>
          </a:p>
        </p:txBody>
      </p:sp>
      <p:sp>
        <p:nvSpPr>
          <p:cNvPr id="24587" name="Text Box 10"/>
          <p:cNvSpPr txBox="1">
            <a:spLocks noChangeArrowheads="1"/>
          </p:cNvSpPr>
          <p:nvPr/>
        </p:nvSpPr>
        <p:spPr bwMode="auto">
          <a:xfrm>
            <a:off x="1143000" y="0"/>
            <a:ext cx="99257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 baseline="0" dirty="0">
                <a:solidFill>
                  <a:schemeClr val="hlink"/>
                </a:solidFill>
                <a:latin typeface="Times New Roman" pitchFamily="18" charset="0"/>
              </a:rPr>
              <a:t>Example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5604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5605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5606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5607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5608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5609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5610" name="Line 9"/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611" name="Line 10"/>
          <p:cNvSpPr>
            <a:spLocks noChangeShapeType="1"/>
          </p:cNvSpPr>
          <p:nvPr/>
        </p:nvSpPr>
        <p:spPr bwMode="auto">
          <a:xfrm>
            <a:off x="458788" y="4419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5612" name="Rectangle 11"/>
          <p:cNvSpPr>
            <a:spLocks noChangeArrowheads="1"/>
          </p:cNvSpPr>
          <p:nvPr/>
        </p:nvSpPr>
        <p:spPr bwMode="auto">
          <a:xfrm>
            <a:off x="495300" y="2759075"/>
            <a:ext cx="8077200" cy="1569660"/>
          </a:xfrm>
          <a:prstGeom prst="rect">
            <a:avLst/>
          </a:prstGeom>
          <a:solidFill>
            <a:srgbClr val="99FF33"/>
          </a:solidFill>
          <a:ln w="762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3200" baseline="0" dirty="0"/>
              <a:t>The number of addresses in the block can be found by using the formula </a:t>
            </a:r>
            <a:br>
              <a:rPr lang="en-US" sz="3200" baseline="0" dirty="0"/>
            </a:br>
            <a:r>
              <a:rPr lang="en-US" sz="3200" baseline="0" dirty="0"/>
              <a:t>2</a:t>
            </a:r>
            <a:r>
              <a:rPr lang="en-US" sz="3200" baseline="30000" dirty="0"/>
              <a:t>32−n</a:t>
            </a:r>
            <a:r>
              <a:rPr lang="en-US" sz="3200" baseline="0" dirty="0"/>
              <a:t>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6628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6629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6630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6631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6632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6633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6634" name="Rectangle 9"/>
          <p:cNvSpPr>
            <a:spLocks noChangeArrowheads="1"/>
          </p:cNvSpPr>
          <p:nvPr/>
        </p:nvSpPr>
        <p:spPr bwMode="auto">
          <a:xfrm>
            <a:off x="0" y="1143000"/>
            <a:ext cx="8686800" cy="5191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US" sz="2800" i="1" baseline="0" dirty="0">
                <a:latin typeface="Times New Roman" pitchFamily="18" charset="0"/>
              </a:rPr>
              <a:t>Find the number of addresses</a:t>
            </a:r>
          </a:p>
        </p:txBody>
      </p:sp>
      <p:sp>
        <p:nvSpPr>
          <p:cNvPr id="26635" name="Text Box 10"/>
          <p:cNvSpPr txBox="1">
            <a:spLocks noChangeArrowheads="1"/>
          </p:cNvSpPr>
          <p:nvPr/>
        </p:nvSpPr>
        <p:spPr bwMode="auto">
          <a:xfrm>
            <a:off x="1143000" y="0"/>
            <a:ext cx="99257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 baseline="0" dirty="0">
                <a:solidFill>
                  <a:schemeClr val="hlink"/>
                </a:solidFill>
                <a:latin typeface="Times New Roman" pitchFamily="18" charset="0"/>
              </a:rPr>
              <a:t>Example</a:t>
            </a:r>
          </a:p>
        </p:txBody>
      </p:sp>
      <p:sp>
        <p:nvSpPr>
          <p:cNvPr id="26636" name="Rectangle 11"/>
          <p:cNvSpPr>
            <a:spLocks noChangeArrowheads="1"/>
          </p:cNvSpPr>
          <p:nvPr/>
        </p:nvSpPr>
        <p:spPr bwMode="auto">
          <a:xfrm>
            <a:off x="228600" y="2057400"/>
            <a:ext cx="8686800" cy="13731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US" sz="2800" i="1" baseline="0" dirty="0">
                <a:solidFill>
                  <a:schemeClr val="hlink"/>
                </a:solidFill>
                <a:latin typeface="Times New Roman" pitchFamily="18" charset="0"/>
              </a:rPr>
              <a:t>Solution</a:t>
            </a:r>
          </a:p>
          <a:p>
            <a:pPr algn="just"/>
            <a:r>
              <a:rPr lang="en-US" sz="2800" i="1" baseline="0" dirty="0">
                <a:latin typeface="Times New Roman" pitchFamily="18" charset="0"/>
              </a:rPr>
              <a:t>The value of n is 28, which means that number</a:t>
            </a:r>
            <a:br>
              <a:rPr lang="en-US" sz="2800" i="1" baseline="0" dirty="0">
                <a:latin typeface="Times New Roman" pitchFamily="18" charset="0"/>
              </a:rPr>
            </a:br>
            <a:r>
              <a:rPr lang="en-US" sz="2800" i="1" baseline="0" dirty="0">
                <a:latin typeface="Times New Roman" pitchFamily="18" charset="0"/>
              </a:rPr>
              <a:t>of addresses is 2 </a:t>
            </a:r>
            <a:r>
              <a:rPr lang="en-US" sz="2800" i="1" baseline="30000" dirty="0">
                <a:latin typeface="Times New Roman" pitchFamily="18" charset="0"/>
              </a:rPr>
              <a:t>32−28</a:t>
            </a:r>
            <a:r>
              <a:rPr lang="en-US" sz="2800" i="1" baseline="0" dirty="0">
                <a:latin typeface="Times New Roman" pitchFamily="18" charset="0"/>
              </a:rPr>
              <a:t> or 16.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7652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7653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7654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7655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7656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7657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7658" name="Rectangle 9"/>
          <p:cNvSpPr>
            <a:spLocks noChangeArrowheads="1"/>
          </p:cNvSpPr>
          <p:nvPr/>
        </p:nvSpPr>
        <p:spPr bwMode="auto">
          <a:xfrm>
            <a:off x="228600" y="914400"/>
            <a:ext cx="8686800" cy="56435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US" sz="2800" i="1" baseline="0" dirty="0">
                <a:latin typeface="Times New Roman" pitchFamily="18" charset="0"/>
              </a:rPr>
              <a:t>Another way to find the first address, the last address, and the number of addresses is to represent the mask as a 32-bit binary (or 8-digit hexadecimal) number. This is particularly useful when we are writing a program to find these pieces of information. In </a:t>
            </a:r>
            <a:r>
              <a:rPr lang="en-US" sz="2800" i="1" dirty="0">
                <a:latin typeface="Times New Roman" pitchFamily="18" charset="0"/>
              </a:rPr>
              <a:t>205.16.37.39/28 </a:t>
            </a:r>
            <a:r>
              <a:rPr lang="en-US" sz="2800" i="1" baseline="0" dirty="0">
                <a:latin typeface="Times New Roman" pitchFamily="18" charset="0"/>
              </a:rPr>
              <a:t>the /28 can be represented as </a:t>
            </a:r>
          </a:p>
          <a:p>
            <a:pPr algn="ctr"/>
            <a:r>
              <a:rPr lang="en-US" sz="2800" i="1" baseline="0" dirty="0">
                <a:solidFill>
                  <a:schemeClr val="folHlink"/>
                </a:solidFill>
                <a:latin typeface="Times New Roman" pitchFamily="18" charset="0"/>
              </a:rPr>
              <a:t>11111111  11111111  11111111  11110000</a:t>
            </a:r>
            <a:r>
              <a:rPr lang="en-US" sz="2800" i="1" baseline="0" dirty="0">
                <a:latin typeface="Times New Roman" pitchFamily="18" charset="0"/>
              </a:rPr>
              <a:t> </a:t>
            </a:r>
          </a:p>
          <a:p>
            <a:pPr algn="just"/>
            <a:r>
              <a:rPr lang="en-US" sz="2800" i="1" baseline="0" dirty="0">
                <a:latin typeface="Times New Roman" pitchFamily="18" charset="0"/>
              </a:rPr>
              <a:t>(twenty-eight 1s and four 0s). </a:t>
            </a:r>
          </a:p>
          <a:p>
            <a:pPr algn="just"/>
            <a:endParaRPr lang="en-US" sz="2800" i="1" baseline="0" dirty="0">
              <a:latin typeface="Times New Roman" pitchFamily="18" charset="0"/>
            </a:endParaRPr>
          </a:p>
          <a:p>
            <a:pPr algn="just"/>
            <a:r>
              <a:rPr lang="en-US" sz="2800" i="1" baseline="0" dirty="0">
                <a:latin typeface="Times New Roman" pitchFamily="18" charset="0"/>
              </a:rPr>
              <a:t>Find</a:t>
            </a:r>
          </a:p>
          <a:p>
            <a:pPr algn="just"/>
            <a:r>
              <a:rPr lang="en-US" sz="2800" i="1" baseline="0" dirty="0">
                <a:solidFill>
                  <a:schemeClr val="hlink"/>
                </a:solidFill>
                <a:latin typeface="Times New Roman" pitchFamily="18" charset="0"/>
              </a:rPr>
              <a:t>a.</a:t>
            </a:r>
            <a:r>
              <a:rPr lang="en-US" sz="2800" i="1" baseline="0" dirty="0">
                <a:latin typeface="Times New Roman" pitchFamily="18" charset="0"/>
              </a:rPr>
              <a:t> The first address</a:t>
            </a:r>
          </a:p>
          <a:p>
            <a:pPr algn="just"/>
            <a:r>
              <a:rPr lang="en-US" sz="2800" i="1" baseline="0" dirty="0">
                <a:solidFill>
                  <a:schemeClr val="hlink"/>
                </a:solidFill>
                <a:latin typeface="Times New Roman" pitchFamily="18" charset="0"/>
              </a:rPr>
              <a:t>b.</a:t>
            </a:r>
            <a:r>
              <a:rPr lang="en-US" sz="2800" i="1" baseline="0" dirty="0">
                <a:latin typeface="Times New Roman" pitchFamily="18" charset="0"/>
              </a:rPr>
              <a:t> The last address</a:t>
            </a:r>
          </a:p>
          <a:p>
            <a:pPr algn="just"/>
            <a:r>
              <a:rPr lang="en-US" sz="2800" i="1" baseline="0" dirty="0">
                <a:solidFill>
                  <a:schemeClr val="hlink"/>
                </a:solidFill>
                <a:latin typeface="Times New Roman" pitchFamily="18" charset="0"/>
              </a:rPr>
              <a:t>c.</a:t>
            </a:r>
            <a:r>
              <a:rPr lang="en-US" sz="2800" i="1" baseline="0" dirty="0">
                <a:latin typeface="Times New Roman" pitchFamily="18" charset="0"/>
              </a:rPr>
              <a:t> The number of addresses.</a:t>
            </a:r>
          </a:p>
        </p:txBody>
      </p:sp>
      <p:sp>
        <p:nvSpPr>
          <p:cNvPr id="27659" name="Text Box 10"/>
          <p:cNvSpPr txBox="1">
            <a:spLocks noChangeArrowheads="1"/>
          </p:cNvSpPr>
          <p:nvPr/>
        </p:nvSpPr>
        <p:spPr bwMode="auto">
          <a:xfrm>
            <a:off x="1143000" y="0"/>
            <a:ext cx="99257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 baseline="0" dirty="0">
                <a:solidFill>
                  <a:schemeClr val="hlink"/>
                </a:solidFill>
                <a:latin typeface="Times New Roman" pitchFamily="18" charset="0"/>
              </a:rPr>
              <a:t>Example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8676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8677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8678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8679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8680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8681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8682" name="Rectangle 9"/>
          <p:cNvSpPr>
            <a:spLocks noChangeArrowheads="1"/>
          </p:cNvSpPr>
          <p:nvPr/>
        </p:nvSpPr>
        <p:spPr bwMode="auto">
          <a:xfrm>
            <a:off x="228600" y="1295400"/>
            <a:ext cx="8686800" cy="22272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US" sz="2800" i="1" baseline="0">
                <a:solidFill>
                  <a:schemeClr val="hlink"/>
                </a:solidFill>
                <a:latin typeface="Times New Roman" pitchFamily="18" charset="0"/>
              </a:rPr>
              <a:t>Solution</a:t>
            </a:r>
          </a:p>
          <a:p>
            <a:pPr algn="just"/>
            <a:r>
              <a:rPr lang="en-US" sz="2800" i="1" baseline="0">
                <a:solidFill>
                  <a:schemeClr val="hlink"/>
                </a:solidFill>
                <a:latin typeface="Times New Roman" pitchFamily="18" charset="0"/>
              </a:rPr>
              <a:t>a.</a:t>
            </a:r>
            <a:r>
              <a:rPr lang="en-US" sz="2800" i="1" baseline="0">
                <a:latin typeface="Times New Roman" pitchFamily="18" charset="0"/>
              </a:rPr>
              <a:t> The first address can be found by ANDing the given</a:t>
            </a:r>
            <a:br>
              <a:rPr lang="en-US" sz="2800" i="1" baseline="0">
                <a:latin typeface="Times New Roman" pitchFamily="18" charset="0"/>
              </a:rPr>
            </a:br>
            <a:r>
              <a:rPr lang="en-US" sz="2800" i="1" baseline="0">
                <a:latin typeface="Times New Roman" pitchFamily="18" charset="0"/>
              </a:rPr>
              <a:t>     addresses with the mask. ANDing here is done bit by</a:t>
            </a:r>
            <a:br>
              <a:rPr lang="en-US" sz="2800" i="1" baseline="0">
                <a:latin typeface="Times New Roman" pitchFamily="18" charset="0"/>
              </a:rPr>
            </a:br>
            <a:r>
              <a:rPr lang="en-US" sz="2800" i="1" baseline="0">
                <a:latin typeface="Times New Roman" pitchFamily="18" charset="0"/>
              </a:rPr>
              <a:t>     bit. The result of ANDing 2 bits is 1 if both bits are 1s;</a:t>
            </a:r>
            <a:br>
              <a:rPr lang="en-US" sz="2800" i="1" baseline="0">
                <a:latin typeface="Times New Roman" pitchFamily="18" charset="0"/>
              </a:rPr>
            </a:br>
            <a:r>
              <a:rPr lang="en-US" sz="2800" i="1" baseline="0">
                <a:latin typeface="Times New Roman" pitchFamily="18" charset="0"/>
              </a:rPr>
              <a:t>     the result is 0 otherwise.</a:t>
            </a:r>
          </a:p>
        </p:txBody>
      </p:sp>
      <p:sp>
        <p:nvSpPr>
          <p:cNvPr id="28683" name="Text Box 10"/>
          <p:cNvSpPr txBox="1">
            <a:spLocks noChangeArrowheads="1"/>
          </p:cNvSpPr>
          <p:nvPr/>
        </p:nvSpPr>
        <p:spPr bwMode="auto">
          <a:xfrm>
            <a:off x="1143000" y="0"/>
            <a:ext cx="211468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 baseline="0" dirty="0">
                <a:solidFill>
                  <a:schemeClr val="hlink"/>
                </a:solidFill>
                <a:latin typeface="Times New Roman" pitchFamily="18" charset="0"/>
              </a:rPr>
              <a:t>Example (continued)</a:t>
            </a:r>
          </a:p>
        </p:txBody>
      </p:sp>
      <p:pic>
        <p:nvPicPr>
          <p:cNvPr id="28684" name="Picture 1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28663" y="3857625"/>
            <a:ext cx="8034337" cy="1323975"/>
          </a:xfrm>
          <a:prstGeom prst="rect">
            <a:avLst/>
          </a:prstGeom>
          <a:noFill/>
          <a:ln w="57150" cmpd="thickThin">
            <a:solidFill>
              <a:schemeClr val="folHlink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9700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9701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9702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9703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9704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9705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29706" name="Rectangle 9"/>
          <p:cNvSpPr>
            <a:spLocks noChangeArrowheads="1"/>
          </p:cNvSpPr>
          <p:nvPr/>
        </p:nvSpPr>
        <p:spPr bwMode="auto">
          <a:xfrm>
            <a:off x="228600" y="1143000"/>
            <a:ext cx="8686800" cy="26543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US" sz="2800" i="1" baseline="0" dirty="0">
                <a:solidFill>
                  <a:schemeClr val="hlink"/>
                </a:solidFill>
                <a:latin typeface="Times New Roman" pitchFamily="18" charset="0"/>
              </a:rPr>
              <a:t>b.</a:t>
            </a:r>
            <a:r>
              <a:rPr lang="en-US" sz="2800" i="1" baseline="0" dirty="0">
                <a:latin typeface="Times New Roman" pitchFamily="18" charset="0"/>
              </a:rPr>
              <a:t> The last address can be found by </a:t>
            </a:r>
            <a:r>
              <a:rPr lang="en-US" sz="2800" i="1" baseline="0" dirty="0" err="1">
                <a:latin typeface="Times New Roman" pitchFamily="18" charset="0"/>
              </a:rPr>
              <a:t>ORing</a:t>
            </a:r>
            <a:r>
              <a:rPr lang="en-US" sz="2800" i="1" baseline="0" dirty="0">
                <a:latin typeface="Times New Roman" pitchFamily="18" charset="0"/>
              </a:rPr>
              <a:t> the given</a:t>
            </a:r>
            <a:br>
              <a:rPr lang="en-US" sz="2800" i="1" baseline="0" dirty="0">
                <a:latin typeface="Times New Roman" pitchFamily="18" charset="0"/>
              </a:rPr>
            </a:br>
            <a:r>
              <a:rPr lang="en-US" sz="2800" i="1" baseline="0" dirty="0">
                <a:latin typeface="Times New Roman" pitchFamily="18" charset="0"/>
              </a:rPr>
              <a:t>     addresses with the complement of the mask. </a:t>
            </a:r>
            <a:r>
              <a:rPr lang="en-US" sz="2800" i="1" baseline="0" dirty="0" err="1">
                <a:latin typeface="Times New Roman" pitchFamily="18" charset="0"/>
              </a:rPr>
              <a:t>ORing</a:t>
            </a:r>
            <a:br>
              <a:rPr lang="en-US" sz="2800" i="1" baseline="0" dirty="0">
                <a:latin typeface="Times New Roman" pitchFamily="18" charset="0"/>
              </a:rPr>
            </a:br>
            <a:r>
              <a:rPr lang="en-US" sz="2800" i="1" baseline="0" dirty="0">
                <a:latin typeface="Times New Roman" pitchFamily="18" charset="0"/>
              </a:rPr>
              <a:t>     here is done bit by bit. The result of </a:t>
            </a:r>
            <a:r>
              <a:rPr lang="en-US" sz="2800" i="1" baseline="0" dirty="0" err="1">
                <a:latin typeface="Times New Roman" pitchFamily="18" charset="0"/>
              </a:rPr>
              <a:t>ORing</a:t>
            </a:r>
            <a:r>
              <a:rPr lang="en-US" sz="2800" i="1" baseline="0" dirty="0">
                <a:latin typeface="Times New Roman" pitchFamily="18" charset="0"/>
              </a:rPr>
              <a:t> 2 bits is 0 if</a:t>
            </a:r>
            <a:br>
              <a:rPr lang="en-US" sz="2800" i="1" baseline="0" dirty="0">
                <a:latin typeface="Times New Roman" pitchFamily="18" charset="0"/>
              </a:rPr>
            </a:br>
            <a:r>
              <a:rPr lang="en-US" sz="2800" i="1" baseline="0" dirty="0">
                <a:latin typeface="Times New Roman" pitchFamily="18" charset="0"/>
              </a:rPr>
              <a:t>     both bits are 0s; the result is 1 otherwise. The</a:t>
            </a:r>
            <a:br>
              <a:rPr lang="en-US" sz="2800" i="1" baseline="0" dirty="0">
                <a:latin typeface="Times New Roman" pitchFamily="18" charset="0"/>
              </a:rPr>
            </a:br>
            <a:r>
              <a:rPr lang="en-US" sz="2800" i="1" baseline="0" dirty="0">
                <a:latin typeface="Times New Roman" pitchFamily="18" charset="0"/>
              </a:rPr>
              <a:t>     complement of a number is found by changing each 1</a:t>
            </a:r>
            <a:br>
              <a:rPr lang="en-US" sz="2800" i="1" baseline="0" dirty="0">
                <a:latin typeface="Times New Roman" pitchFamily="18" charset="0"/>
              </a:rPr>
            </a:br>
            <a:r>
              <a:rPr lang="en-US" sz="2800" i="1" baseline="0" dirty="0">
                <a:latin typeface="Times New Roman" pitchFamily="18" charset="0"/>
              </a:rPr>
              <a:t>     to 0 and each 0 to 1.</a:t>
            </a:r>
          </a:p>
        </p:txBody>
      </p:sp>
      <p:sp>
        <p:nvSpPr>
          <p:cNvPr id="29707" name="Text Box 10"/>
          <p:cNvSpPr txBox="1">
            <a:spLocks noChangeArrowheads="1"/>
          </p:cNvSpPr>
          <p:nvPr/>
        </p:nvSpPr>
        <p:spPr bwMode="auto">
          <a:xfrm>
            <a:off x="1143000" y="0"/>
            <a:ext cx="99257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i="1" baseline="0" dirty="0">
                <a:solidFill>
                  <a:schemeClr val="hlink"/>
                </a:solidFill>
                <a:latin typeface="Times New Roman" pitchFamily="18" charset="0"/>
              </a:rPr>
              <a:t>Example</a:t>
            </a:r>
          </a:p>
        </p:txBody>
      </p:sp>
      <p:pic>
        <p:nvPicPr>
          <p:cNvPr id="29708" name="Picture 1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" y="4086225"/>
            <a:ext cx="8702675" cy="1323975"/>
          </a:xfrm>
          <a:prstGeom prst="rect">
            <a:avLst/>
          </a:prstGeom>
          <a:noFill/>
          <a:ln w="57150" cmpd="thickThin">
            <a:solidFill>
              <a:schemeClr val="folHlink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Line 2"/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724" name="Line 3"/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0725" name="Text Box 4"/>
          <p:cNvSpPr txBox="1">
            <a:spLocks noChangeArrowheads="1"/>
          </p:cNvSpPr>
          <p:nvPr/>
        </p:nvSpPr>
        <p:spPr bwMode="auto">
          <a:xfrm>
            <a:off x="304800" y="381000"/>
            <a:ext cx="577933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i="1" baseline="0" dirty="0">
                <a:latin typeface="Times New Roman" pitchFamily="18" charset="0"/>
              </a:rPr>
              <a:t>A network configuration for the block 205.16.37.32/28</a:t>
            </a:r>
          </a:p>
        </p:txBody>
      </p:sp>
      <p:sp>
        <p:nvSpPr>
          <p:cNvPr id="30726" name="Line 5"/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30727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" y="2286000"/>
            <a:ext cx="8016875" cy="227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31748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31749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31750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31751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31752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31753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31754" name="Line 9"/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1755" name="Line 10"/>
          <p:cNvSpPr>
            <a:spLocks noChangeShapeType="1"/>
          </p:cNvSpPr>
          <p:nvPr/>
        </p:nvSpPr>
        <p:spPr bwMode="auto">
          <a:xfrm>
            <a:off x="458788" y="5410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1756" name="Rectangle 11"/>
          <p:cNvSpPr>
            <a:spLocks noChangeArrowheads="1"/>
          </p:cNvSpPr>
          <p:nvPr/>
        </p:nvSpPr>
        <p:spPr bwMode="auto">
          <a:xfrm>
            <a:off x="495300" y="2759075"/>
            <a:ext cx="8077200" cy="2554545"/>
          </a:xfrm>
          <a:prstGeom prst="rect">
            <a:avLst/>
          </a:prstGeom>
          <a:solidFill>
            <a:srgbClr val="99FF33"/>
          </a:solidFill>
          <a:ln w="762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3200" baseline="0" dirty="0"/>
              <a:t>The first address in a block is </a:t>
            </a:r>
            <a:br>
              <a:rPr lang="en-US" sz="3200" baseline="0" dirty="0"/>
            </a:br>
            <a:r>
              <a:rPr lang="en-US" sz="3200" baseline="0" dirty="0"/>
              <a:t>normally not assigned to any device; </a:t>
            </a:r>
            <a:br>
              <a:rPr lang="en-US" sz="3200" baseline="0" dirty="0"/>
            </a:br>
            <a:r>
              <a:rPr lang="en-US" sz="3200" baseline="0" dirty="0"/>
              <a:t>it is used as the </a:t>
            </a:r>
            <a:r>
              <a:rPr lang="en-US" sz="3200" baseline="0" dirty="0">
                <a:solidFill>
                  <a:srgbClr val="FF0000"/>
                </a:solidFill>
              </a:rPr>
              <a:t>network address </a:t>
            </a:r>
            <a:r>
              <a:rPr lang="en-US" sz="3200" baseline="0" dirty="0"/>
              <a:t>that represents the organization </a:t>
            </a:r>
            <a:br>
              <a:rPr lang="en-US" sz="3200" baseline="0" dirty="0"/>
            </a:br>
            <a:r>
              <a:rPr lang="en-US" sz="3200" baseline="0" dirty="0"/>
              <a:t>to the rest of the world.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33796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33797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33798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33799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33800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33801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en-US" sz="2400" b="0" baseline="0">
              <a:latin typeface="Tahoma" pitchFamily="34" charset="0"/>
            </a:endParaRPr>
          </a:p>
        </p:txBody>
      </p:sp>
      <p:sp>
        <p:nvSpPr>
          <p:cNvPr id="33802" name="Line 9"/>
          <p:cNvSpPr>
            <a:spLocks noChangeShapeType="1"/>
          </p:cNvSpPr>
          <p:nvPr/>
        </p:nvSpPr>
        <p:spPr bwMode="auto">
          <a:xfrm>
            <a:off x="457200" y="2133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803" name="Line 10"/>
          <p:cNvSpPr>
            <a:spLocks noChangeShapeType="1"/>
          </p:cNvSpPr>
          <p:nvPr/>
        </p:nvSpPr>
        <p:spPr bwMode="auto">
          <a:xfrm>
            <a:off x="458788" y="5791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3804" name="Rectangle 11"/>
          <p:cNvSpPr>
            <a:spLocks noChangeArrowheads="1"/>
          </p:cNvSpPr>
          <p:nvPr/>
        </p:nvSpPr>
        <p:spPr bwMode="auto">
          <a:xfrm>
            <a:off x="495300" y="2225675"/>
            <a:ext cx="8077200" cy="3539430"/>
          </a:xfrm>
          <a:prstGeom prst="rect">
            <a:avLst/>
          </a:prstGeom>
          <a:solidFill>
            <a:srgbClr val="99FF33"/>
          </a:solidFill>
          <a:ln w="762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3200" baseline="0" dirty="0"/>
              <a:t>Each address in the block can be considered as a two-level </a:t>
            </a:r>
            <a:br>
              <a:rPr lang="en-US" sz="3200" baseline="0" dirty="0"/>
            </a:br>
            <a:r>
              <a:rPr lang="en-US" sz="3200" baseline="0" dirty="0"/>
              <a:t>hierarchical structure: </a:t>
            </a:r>
            <a:br>
              <a:rPr lang="en-US" sz="3200" baseline="0" dirty="0"/>
            </a:br>
            <a:r>
              <a:rPr lang="en-US" sz="3200" baseline="0" dirty="0"/>
              <a:t>the leftmost </a:t>
            </a:r>
            <a:r>
              <a:rPr lang="en-US" sz="3200" i="1" baseline="0" dirty="0">
                <a:solidFill>
                  <a:srgbClr val="FF0000"/>
                </a:solidFill>
              </a:rPr>
              <a:t>n</a:t>
            </a:r>
            <a:r>
              <a:rPr lang="en-US" sz="3200" baseline="0" dirty="0">
                <a:solidFill>
                  <a:srgbClr val="FF0000"/>
                </a:solidFill>
              </a:rPr>
              <a:t> bits (prefix) define </a:t>
            </a:r>
            <a:br>
              <a:rPr lang="en-US" sz="3200" baseline="0" dirty="0">
                <a:solidFill>
                  <a:srgbClr val="FF0000"/>
                </a:solidFill>
              </a:rPr>
            </a:br>
            <a:r>
              <a:rPr lang="en-US" sz="3200" baseline="0" dirty="0">
                <a:solidFill>
                  <a:srgbClr val="FF0000"/>
                </a:solidFill>
              </a:rPr>
              <a:t>the network</a:t>
            </a:r>
            <a:r>
              <a:rPr lang="en-US" sz="3200" baseline="0" dirty="0"/>
              <a:t>;</a:t>
            </a:r>
          </a:p>
          <a:p>
            <a:pPr algn="ctr"/>
            <a:r>
              <a:rPr lang="en-US" sz="3200" baseline="0" dirty="0"/>
              <a:t>the rightmost </a:t>
            </a:r>
            <a:r>
              <a:rPr lang="en-US" sz="3200" baseline="0" dirty="0">
                <a:solidFill>
                  <a:srgbClr val="FF0000"/>
                </a:solidFill>
              </a:rPr>
              <a:t>32 − n bits define </a:t>
            </a:r>
            <a:br>
              <a:rPr lang="en-US" sz="3200" baseline="0" dirty="0">
                <a:solidFill>
                  <a:srgbClr val="FF0000"/>
                </a:solidFill>
              </a:rPr>
            </a:br>
            <a:r>
              <a:rPr lang="en-US" sz="3200" baseline="0" dirty="0">
                <a:solidFill>
                  <a:srgbClr val="FF0000"/>
                </a:solidFill>
              </a:rPr>
              <a:t>the host</a:t>
            </a:r>
            <a:r>
              <a:rPr lang="en-US" sz="3200" baseline="0"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2783</TotalTime>
  <Words>1327</Words>
  <Application>Microsoft Office PowerPoint</Application>
  <PresentationFormat>On-screen Show (4:3)</PresentationFormat>
  <Paragraphs>135</Paragraphs>
  <Slides>44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0" baseType="lpstr">
      <vt:lpstr>Arial</vt:lpstr>
      <vt:lpstr>Calibri</vt:lpstr>
      <vt:lpstr>Tahoma</vt:lpstr>
      <vt:lpstr>Times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Finding the address class using continuous checking</vt:lpstr>
      <vt:lpstr>PowerPoint Presentation</vt:lpstr>
      <vt:lpstr>Netid and hostid</vt:lpstr>
      <vt:lpstr>Classes and Blocks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Network address</vt:lpstr>
      <vt:lpstr>Default mask</vt:lpstr>
      <vt:lpstr>Information extraction in classful addressing</vt:lpstr>
      <vt:lpstr>Example : An address in a block is given as 73.22.17.25. Find the number of addresses in the block, the first address, and the last address.</vt:lpstr>
      <vt:lpstr>PowerPoint Presentation</vt:lpstr>
      <vt:lpstr>Finding a network address using the default mask</vt:lpstr>
      <vt:lpstr>Example 2: An address in a block is given as 180.8.17.9. Find the number of addresses in the block, the first address, and the last address.  Example3:An address in a block is given as 200.11.8.45. Find the number of addresses in the block, the first address, and the last address.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ELCOT</dc:creator>
  <cp:lastModifiedBy>sreethar Sree Krishnan</cp:lastModifiedBy>
  <cp:revision>222</cp:revision>
  <dcterms:created xsi:type="dcterms:W3CDTF">2006-08-16T00:00:00Z</dcterms:created>
  <dcterms:modified xsi:type="dcterms:W3CDTF">2023-06-16T09:01:16Z</dcterms:modified>
</cp:coreProperties>
</file>